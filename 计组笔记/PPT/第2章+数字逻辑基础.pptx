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3" showSpecialPlsOnTitleSld="0">
  <p:sldMasterIdLst>
    <p:sldMasterId id="2147483648" r:id="rId1"/>
  </p:sldMasterIdLst>
  <p:notesMasterIdLst>
    <p:notesMasterId r:id="rId5"/>
  </p:notesMasterIdLst>
  <p:handoutMasterIdLst>
    <p:handoutMasterId r:id="rId81"/>
  </p:handoutMasterIdLst>
  <p:sldIdLst>
    <p:sldId id="256" r:id="rId3"/>
    <p:sldId id="651" r:id="rId4"/>
    <p:sldId id="724" r:id="rId6"/>
    <p:sldId id="959" r:id="rId7"/>
    <p:sldId id="951" r:id="rId8"/>
    <p:sldId id="952" r:id="rId9"/>
    <p:sldId id="571" r:id="rId10"/>
    <p:sldId id="686" r:id="rId11"/>
    <p:sldId id="687" r:id="rId12"/>
    <p:sldId id="722" r:id="rId13"/>
    <p:sldId id="545" r:id="rId14"/>
    <p:sldId id="672" r:id="rId15"/>
    <p:sldId id="960" r:id="rId16"/>
    <p:sldId id="962" r:id="rId17"/>
    <p:sldId id="323" r:id="rId18"/>
    <p:sldId id="746" r:id="rId19"/>
    <p:sldId id="963" r:id="rId20"/>
    <p:sldId id="324" r:id="rId21"/>
    <p:sldId id="325" r:id="rId22"/>
    <p:sldId id="327" r:id="rId23"/>
    <p:sldId id="574" r:id="rId24"/>
    <p:sldId id="332" r:id="rId25"/>
    <p:sldId id="329" r:id="rId26"/>
    <p:sldId id="330" r:id="rId27"/>
    <p:sldId id="331" r:id="rId28"/>
    <p:sldId id="333" r:id="rId29"/>
    <p:sldId id="965" r:id="rId30"/>
    <p:sldId id="660" r:id="rId31"/>
    <p:sldId id="747" r:id="rId32"/>
    <p:sldId id="684" r:id="rId33"/>
    <p:sldId id="975" r:id="rId34"/>
    <p:sldId id="691" r:id="rId35"/>
    <p:sldId id="692" r:id="rId36"/>
    <p:sldId id="693" r:id="rId37"/>
    <p:sldId id="953" r:id="rId38"/>
    <p:sldId id="283" r:id="rId39"/>
    <p:sldId id="454" r:id="rId40"/>
    <p:sldId id="455" r:id="rId41"/>
    <p:sldId id="553" r:id="rId42"/>
    <p:sldId id="554" r:id="rId43"/>
    <p:sldId id="555" r:id="rId44"/>
    <p:sldId id="556" r:id="rId45"/>
    <p:sldId id="557" r:id="rId46"/>
    <p:sldId id="558" r:id="rId47"/>
    <p:sldId id="467" r:id="rId48"/>
    <p:sldId id="297" r:id="rId49"/>
    <p:sldId id="296" r:id="rId50"/>
    <p:sldId id="957" r:id="rId51"/>
    <p:sldId id="973" r:id="rId52"/>
    <p:sldId id="472" r:id="rId53"/>
    <p:sldId id="471" r:id="rId54"/>
    <p:sldId id="305" r:id="rId55"/>
    <p:sldId id="559" r:id="rId56"/>
    <p:sldId id="473" r:id="rId57"/>
    <p:sldId id="966" r:id="rId58"/>
    <p:sldId id="561" r:id="rId59"/>
    <p:sldId id="485" r:id="rId60"/>
    <p:sldId id="543" r:id="rId61"/>
    <p:sldId id="635" r:id="rId62"/>
    <p:sldId id="535" r:id="rId63"/>
    <p:sldId id="967" r:id="rId64"/>
    <p:sldId id="563" r:id="rId65"/>
    <p:sldId id="634" r:id="rId66"/>
    <p:sldId id="564" r:id="rId67"/>
    <p:sldId id="968" r:id="rId68"/>
    <p:sldId id="738" r:id="rId69"/>
    <p:sldId id="626" r:id="rId70"/>
    <p:sldId id="627" r:id="rId71"/>
    <p:sldId id="628" r:id="rId72"/>
    <p:sldId id="622" r:id="rId73"/>
    <p:sldId id="629" r:id="rId74"/>
    <p:sldId id="630" r:id="rId75"/>
    <p:sldId id="631" r:id="rId76"/>
    <p:sldId id="969" r:id="rId77"/>
    <p:sldId id="970" r:id="rId78"/>
    <p:sldId id="971" r:id="rId79"/>
    <p:sldId id="972" r:id="rId80"/>
  </p:sldIdLst>
  <p:sldSz cx="9144000" cy="6858000" type="screen4x3"/>
  <p:notesSz cx="6858000" cy="9144000"/>
  <p:defaultTextStyle>
    <a:defPPr>
      <a:defRPr lang="en-US"/>
    </a:defPPr>
    <a:lvl1pPr algn="l" rtl="0" eaLnBrk="0" fontAlgn="base" hangingPunct="0">
      <a:spcBef>
        <a:spcPct val="0"/>
      </a:spcBef>
      <a:spcAft>
        <a:spcPct val="0"/>
      </a:spcAft>
      <a:defRPr sz="1600" b="1"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16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16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16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16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6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16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16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1600" b="1" kern="1200">
        <a:solidFill>
          <a:schemeClr val="tx1"/>
        </a:solidFill>
        <a:latin typeface="Times New Roman" panose="02020603050405020304" pitchFamily="18"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E3FD"/>
    <a:srgbClr val="FFF5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浅色样式 1 - 强调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058" autoAdjust="0"/>
    <p:restoredTop sz="88142" autoAdjust="0"/>
  </p:normalViewPr>
  <p:slideViewPr>
    <p:cSldViewPr snapToGrid="0">
      <p:cViewPr varScale="1">
        <p:scale>
          <a:sx n="52" d="100"/>
          <a:sy n="52" d="100"/>
        </p:scale>
        <p:origin x="68" y="696"/>
      </p:cViewPr>
      <p:guideLst/>
    </p:cSldViewPr>
  </p:slideViewPr>
  <p:notesTextViewPr>
    <p:cViewPr>
      <p:scale>
        <a:sx n="1" d="1"/>
        <a:sy n="1" d="1"/>
      </p:scale>
      <p:origin x="0" y="0"/>
    </p:cViewPr>
  </p:notesTextViewPr>
  <p:notesViewPr>
    <p:cSldViewPr snapToGrid="0">
      <p:cViewPr varScale="1">
        <p:scale>
          <a:sx n="72" d="100"/>
          <a:sy n="72" d="100"/>
        </p:scale>
        <p:origin x="3524" y="7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4" Type="http://schemas.openxmlformats.org/officeDocument/2006/relationships/tableStyles" Target="tableStyles.xml"/><Relationship Id="rId83" Type="http://schemas.openxmlformats.org/officeDocument/2006/relationships/viewProps" Target="viewProps.xml"/><Relationship Id="rId82" Type="http://schemas.openxmlformats.org/officeDocument/2006/relationships/presProps" Target="presProps.xml"/><Relationship Id="rId81" Type="http://schemas.openxmlformats.org/officeDocument/2006/relationships/handoutMaster" Target="handoutMasters/handoutMaster1.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0.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image" Target="../media/image62.png"/></Relationships>
</file>

<file path=ppt/drawings/_rels/vmlDrawing5.v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image" Target="../media/image67.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0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EDA53CD-E16A-419A-9569-8258BBB3DA43}"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E508385-4203-44FF-B7F7-FCCF76D6A270}"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89B277-5710-419B-B361-DE5191FE99C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62BEBF-96A3-450B-A772-FAEFF39FE49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9" Type="http://schemas.openxmlformats.org/officeDocument/2006/relationships/hyperlink" Target="https://zh.wikipedia.org/wiki/%E8%81%AF%E9%9B%86" TargetMode="External"/><Relationship Id="rId8" Type="http://schemas.openxmlformats.org/officeDocument/2006/relationships/hyperlink" Target="https://zh.wikipedia.org/wiki/%E9%80%BB%E8%BE%91%E4%B8%8E" TargetMode="External"/><Relationship Id="rId7" Type="http://schemas.openxmlformats.org/officeDocument/2006/relationships/hyperlink" Target="https://zh.wikipedia.org/wiki/%E4%BA%A4%E9%9B%86" TargetMode="External"/><Relationship Id="rId6" Type="http://schemas.openxmlformats.org/officeDocument/2006/relationships/hyperlink" Target="https://zh.wikipedia.org/w/index.php?title=%E7%9C%9F_(%E9%82%8F%E8%BC%AF)&amp;action=edit&amp;redlink=1" TargetMode="External"/><Relationship Id="rId5" Type="http://schemas.openxmlformats.org/officeDocument/2006/relationships/hyperlink" Target="https://zh.wikipedia.org/wiki/%E5%85%A8%E9%9B%86" TargetMode="External"/><Relationship Id="rId4" Type="http://schemas.openxmlformats.org/officeDocument/2006/relationships/hyperlink" Target="https://zh.wikipedia.org/w/index.php?title=%E5%81%87_(%E9%82%8F%E8%BC%AF)&amp;action=edit&amp;redlink=1" TargetMode="External"/><Relationship Id="rId3" Type="http://schemas.openxmlformats.org/officeDocument/2006/relationships/hyperlink" Target="https://zh.wikipedia.org/wiki/%E7%A9%BA%E9%9B%86" TargetMode="External"/><Relationship Id="rId20" Type="http://schemas.openxmlformats.org/officeDocument/2006/relationships/hyperlink" Target="https://zh.wikipedia.org/wiki/%E9%80%BB%E8%BE%91%E6%88%96%E9%9D%9E" TargetMode="External"/><Relationship Id="rId2" Type="http://schemas.openxmlformats.org/officeDocument/2006/relationships/notesMaster" Target="../notesMasters/notesMaster1.xml"/><Relationship Id="rId19" Type="http://schemas.openxmlformats.org/officeDocument/2006/relationships/hyperlink" Target="https://zh.wikipedia.org/wiki/%E9%80%BB%E8%BE%91%E4%B8%8E%E9%9D%9E" TargetMode="External"/><Relationship Id="rId18" Type="http://schemas.openxmlformats.org/officeDocument/2006/relationships/hyperlink" Target="https://zh.wikipedia.org/wiki/%E8%B0%A2%E8%B4%B9%E5%B0%94%E7%AB%96%E7%BA%BF" TargetMode="External"/><Relationship Id="rId17" Type="http://schemas.openxmlformats.org/officeDocument/2006/relationships/hyperlink" Target="https://zh.wikipedia.org/wiki/%E5%BD%93%E4%B8%94%E4%BB%85%E5%BD%93" TargetMode="External"/><Relationship Id="rId16" Type="http://schemas.openxmlformats.org/officeDocument/2006/relationships/hyperlink" Target="https://zh.wikipedia.org/wiki/%E5%AE%9E%E8%B4%A8%E6%9D%A1%E4%BB%B6" TargetMode="External"/><Relationship Id="rId15" Type="http://schemas.openxmlformats.org/officeDocument/2006/relationships/hyperlink" Target="https://zh.wikipedia.org/wiki/%E9%80%BB%E8%BE%91%E5%BC%82%E6%88%96" TargetMode="External"/><Relationship Id="rId14" Type="http://schemas.openxmlformats.org/officeDocument/2006/relationships/hyperlink" Target="https://zh.wikipedia.org/wiki/%E5%AF%B9%E7%A7%B0%E5%B7%AE" TargetMode="External"/><Relationship Id="rId13" Type="http://schemas.openxmlformats.org/officeDocument/2006/relationships/hyperlink" Target="https://zh.wikipedia.org/wiki/%E5%B7%AE%E9%9B%86" TargetMode="External"/><Relationship Id="rId12" Type="http://schemas.openxmlformats.org/officeDocument/2006/relationships/hyperlink" Target="https://zh.wikipedia.org/wiki/%E9%80%BB%E8%BE%91%E9%9D%9E" TargetMode="External"/><Relationship Id="rId11" Type="http://schemas.openxmlformats.org/officeDocument/2006/relationships/hyperlink" Target="https://zh.wikipedia.org/wiki/%E8%A1%A5%E9%9B%86" TargetMode="External"/><Relationship Id="rId10" Type="http://schemas.openxmlformats.org/officeDocument/2006/relationships/hyperlink" Target="https://zh.wikipedia.org/wiki/%E9%80%BB%E8%BE%91%E6%88%96" TargetMode="External"/><Relationship Id="rId1"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762BEBF-96A3-450B-A772-FAEFF39FE49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sz="2800" dirty="0">
                <a:latin typeface="Verdana" panose="020B0604030504040204" pitchFamily="34" charset="0"/>
              </a:rPr>
              <a:t>能够构建任何组合数字逻辑电路，需要</a:t>
            </a:r>
            <a:r>
              <a:rPr lang="en-US" altLang="zh-CN" sz="2800" dirty="0">
                <a:latin typeface="Verdana" panose="020B0604030504040204" pitchFamily="34" charset="0"/>
              </a:rPr>
              <a:t>3</a:t>
            </a:r>
            <a:r>
              <a:rPr lang="zh-CN" altLang="en-US" sz="2800" dirty="0">
                <a:latin typeface="Verdana" panose="020B0604030504040204" pitchFamily="34" charset="0"/>
              </a:rPr>
              <a:t>种基本逻辑函数。</a:t>
            </a:r>
            <a:endParaRPr lang="en-US" altLang="zh-CN" sz="2800" dirty="0">
              <a:latin typeface="Verdana" panose="020B0604030504040204" pitchFamily="34" charset="0"/>
            </a:endParaRPr>
          </a:p>
          <a:p>
            <a:pPr lvl="1"/>
            <a:r>
              <a:rPr lang="zh-CN" altLang="en-US" sz="2400" dirty="0">
                <a:latin typeface="Verdana" panose="020B0604030504040204" pitchFamily="34" charset="0"/>
              </a:rPr>
              <a:t>与门 </a:t>
            </a:r>
            <a:r>
              <a:rPr lang="en-US" altLang="zh-CN" sz="2400" dirty="0">
                <a:latin typeface="Verdana" panose="020B0604030504040204" pitchFamily="34" charset="0"/>
              </a:rPr>
              <a:t>AND</a:t>
            </a:r>
            <a:r>
              <a:rPr lang="zh-CN" altLang="en-US" sz="2400" dirty="0">
                <a:latin typeface="Verdana" panose="020B0604030504040204" pitchFamily="34" charset="0"/>
              </a:rPr>
              <a:t>：当且仅当所有输入值为</a:t>
            </a:r>
            <a:r>
              <a:rPr lang="en-US" altLang="zh-CN" sz="2400" dirty="0">
                <a:latin typeface="Verdana" panose="020B0604030504040204" pitchFamily="34" charset="0"/>
              </a:rPr>
              <a:t>1</a:t>
            </a:r>
            <a:r>
              <a:rPr lang="zh-CN" altLang="en-US" sz="2400" dirty="0">
                <a:latin typeface="Verdana" panose="020B0604030504040204" pitchFamily="34" charset="0"/>
              </a:rPr>
              <a:t>时，输出才为</a:t>
            </a:r>
            <a:r>
              <a:rPr lang="en-US" altLang="zh-CN" sz="2400" dirty="0">
                <a:latin typeface="Verdana" panose="020B0604030504040204" pitchFamily="34" charset="0"/>
              </a:rPr>
              <a:t>1</a:t>
            </a:r>
            <a:r>
              <a:rPr lang="zh-CN" altLang="en-US" sz="2400" dirty="0">
                <a:latin typeface="Verdana" panose="020B0604030504040204" pitchFamily="34" charset="0"/>
              </a:rPr>
              <a:t>。</a:t>
            </a:r>
            <a:endParaRPr lang="en-US" altLang="zh-CN" sz="2400" dirty="0">
              <a:latin typeface="Verdana" panose="020B0604030504040204" pitchFamily="34" charset="0"/>
            </a:endParaRPr>
          </a:p>
          <a:p>
            <a:pPr lvl="1"/>
            <a:r>
              <a:rPr lang="zh-CN" altLang="en-US" sz="2400" dirty="0">
                <a:latin typeface="Verdana" panose="020B0604030504040204" pitchFamily="34" charset="0"/>
              </a:rPr>
              <a:t>或门 </a:t>
            </a:r>
            <a:r>
              <a:rPr lang="en-US" altLang="zh-CN" sz="2400" dirty="0">
                <a:latin typeface="Verdana" panose="020B0604030504040204" pitchFamily="34" charset="0"/>
              </a:rPr>
              <a:t>OR</a:t>
            </a:r>
            <a:r>
              <a:rPr lang="zh-CN" altLang="en-US" sz="2400" dirty="0">
                <a:latin typeface="Verdana" panose="020B0604030504040204" pitchFamily="34" charset="0"/>
              </a:rPr>
              <a:t>：只需有一个输值入为</a:t>
            </a:r>
            <a:r>
              <a:rPr lang="en-US" altLang="zh-CN" sz="2400" dirty="0">
                <a:latin typeface="Verdana" panose="020B0604030504040204" pitchFamily="34" charset="0"/>
              </a:rPr>
              <a:t>1</a:t>
            </a:r>
            <a:r>
              <a:rPr lang="zh-CN" altLang="en-US" sz="2400" dirty="0">
                <a:latin typeface="Verdana" panose="020B0604030504040204" pitchFamily="34" charset="0"/>
              </a:rPr>
              <a:t>时，输出就为</a:t>
            </a:r>
            <a:r>
              <a:rPr lang="en-US" altLang="zh-CN" sz="2400" dirty="0">
                <a:latin typeface="Verdana" panose="020B0604030504040204" pitchFamily="34" charset="0"/>
              </a:rPr>
              <a:t>1</a:t>
            </a:r>
            <a:r>
              <a:rPr lang="zh-CN" altLang="en-US" sz="2400" dirty="0">
                <a:latin typeface="Verdana" panose="020B0604030504040204" pitchFamily="34" charset="0"/>
              </a:rPr>
              <a:t>。</a:t>
            </a:r>
            <a:endParaRPr lang="zh-CN" altLang="en-US" sz="2400" dirty="0"/>
          </a:p>
          <a:p>
            <a:pPr lvl="1"/>
            <a:r>
              <a:rPr lang="zh-CN" altLang="en-US" sz="2400" dirty="0">
                <a:latin typeface="Verdana" panose="020B0604030504040204" pitchFamily="34" charset="0"/>
              </a:rPr>
              <a:t>非门 </a:t>
            </a:r>
            <a:r>
              <a:rPr lang="en-US" altLang="zh-CN" sz="2400" dirty="0">
                <a:latin typeface="Verdana" panose="020B0604030504040204" pitchFamily="34" charset="0"/>
              </a:rPr>
              <a:t>NOT</a:t>
            </a:r>
            <a:r>
              <a:rPr lang="zh-CN" altLang="en-US" sz="2400" dirty="0">
                <a:latin typeface="Verdana" panose="020B0604030504040204" pitchFamily="34" charset="0"/>
              </a:rPr>
              <a:t>：产生一个与输入值相反的输出，亦称为反相器</a:t>
            </a:r>
            <a:r>
              <a:rPr lang="en-US" altLang="zh-CN" sz="2400" dirty="0">
                <a:latin typeface="Verdana" panose="020B0604030504040204" pitchFamily="34" charset="0"/>
              </a:rPr>
              <a:t>inverter</a:t>
            </a:r>
            <a:r>
              <a:rPr lang="zh-CN" altLang="en-US" sz="2400" dirty="0">
                <a:latin typeface="Verdana" panose="020B0604030504040204" pitchFamily="34" charset="0"/>
              </a:rPr>
              <a:t>。</a:t>
            </a:r>
            <a:endParaRPr lang="zh-CN" altLang="en-US" sz="2400" dirty="0"/>
          </a:p>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sz="2800" dirty="0">
                <a:latin typeface="Verdana" panose="020B0604030504040204" pitchFamily="34" charset="0"/>
              </a:rPr>
              <a:t>能够构建任何组合数字逻辑电路，需要</a:t>
            </a:r>
            <a:r>
              <a:rPr lang="en-US" altLang="zh-CN" sz="2800" dirty="0">
                <a:latin typeface="Verdana" panose="020B0604030504040204" pitchFamily="34" charset="0"/>
              </a:rPr>
              <a:t>3</a:t>
            </a:r>
            <a:r>
              <a:rPr lang="zh-CN" altLang="en-US" sz="2800" dirty="0">
                <a:latin typeface="Verdana" panose="020B0604030504040204" pitchFamily="34" charset="0"/>
              </a:rPr>
              <a:t>种基本逻辑函数。</a:t>
            </a:r>
            <a:endParaRPr lang="en-US" altLang="zh-CN" sz="2800" dirty="0">
              <a:latin typeface="Verdana" panose="020B0604030504040204" pitchFamily="34" charset="0"/>
            </a:endParaRPr>
          </a:p>
          <a:p>
            <a:pPr lvl="1"/>
            <a:r>
              <a:rPr lang="zh-CN" altLang="en-US" sz="2400" dirty="0">
                <a:latin typeface="Verdana" panose="020B0604030504040204" pitchFamily="34" charset="0"/>
              </a:rPr>
              <a:t>与门 </a:t>
            </a:r>
            <a:r>
              <a:rPr lang="en-US" altLang="zh-CN" sz="2400" dirty="0">
                <a:latin typeface="Verdana" panose="020B0604030504040204" pitchFamily="34" charset="0"/>
              </a:rPr>
              <a:t>AND</a:t>
            </a:r>
            <a:r>
              <a:rPr lang="zh-CN" altLang="en-US" sz="2400" dirty="0">
                <a:latin typeface="Verdana" panose="020B0604030504040204" pitchFamily="34" charset="0"/>
              </a:rPr>
              <a:t>：当且仅当所有输入值为</a:t>
            </a:r>
            <a:r>
              <a:rPr lang="en-US" altLang="zh-CN" sz="2400" dirty="0">
                <a:latin typeface="Verdana" panose="020B0604030504040204" pitchFamily="34" charset="0"/>
              </a:rPr>
              <a:t>1</a:t>
            </a:r>
            <a:r>
              <a:rPr lang="zh-CN" altLang="en-US" sz="2400" dirty="0">
                <a:latin typeface="Verdana" panose="020B0604030504040204" pitchFamily="34" charset="0"/>
              </a:rPr>
              <a:t>时，输出才为</a:t>
            </a:r>
            <a:r>
              <a:rPr lang="en-US" altLang="zh-CN" sz="2400" dirty="0">
                <a:latin typeface="Verdana" panose="020B0604030504040204" pitchFamily="34" charset="0"/>
              </a:rPr>
              <a:t>1</a:t>
            </a:r>
            <a:r>
              <a:rPr lang="zh-CN" altLang="en-US" sz="2400" dirty="0">
                <a:latin typeface="Verdana" panose="020B0604030504040204" pitchFamily="34" charset="0"/>
              </a:rPr>
              <a:t>。</a:t>
            </a:r>
            <a:endParaRPr lang="en-US" altLang="zh-CN" sz="2400" dirty="0">
              <a:latin typeface="Verdana" panose="020B0604030504040204" pitchFamily="34" charset="0"/>
            </a:endParaRPr>
          </a:p>
          <a:p>
            <a:pPr lvl="1"/>
            <a:r>
              <a:rPr lang="zh-CN" altLang="en-US" sz="2400" dirty="0">
                <a:latin typeface="Verdana" panose="020B0604030504040204" pitchFamily="34" charset="0"/>
              </a:rPr>
              <a:t>或门 </a:t>
            </a:r>
            <a:r>
              <a:rPr lang="en-US" altLang="zh-CN" sz="2400" dirty="0">
                <a:latin typeface="Verdana" panose="020B0604030504040204" pitchFamily="34" charset="0"/>
              </a:rPr>
              <a:t>OR</a:t>
            </a:r>
            <a:r>
              <a:rPr lang="zh-CN" altLang="en-US" sz="2400" dirty="0">
                <a:latin typeface="Verdana" panose="020B0604030504040204" pitchFamily="34" charset="0"/>
              </a:rPr>
              <a:t>：只需有一个输值入为</a:t>
            </a:r>
            <a:r>
              <a:rPr lang="en-US" altLang="zh-CN" sz="2400" dirty="0">
                <a:latin typeface="Verdana" panose="020B0604030504040204" pitchFamily="34" charset="0"/>
              </a:rPr>
              <a:t>1</a:t>
            </a:r>
            <a:r>
              <a:rPr lang="zh-CN" altLang="en-US" sz="2400" dirty="0">
                <a:latin typeface="Verdana" panose="020B0604030504040204" pitchFamily="34" charset="0"/>
              </a:rPr>
              <a:t>时，输出就为</a:t>
            </a:r>
            <a:r>
              <a:rPr lang="en-US" altLang="zh-CN" sz="2400" dirty="0">
                <a:latin typeface="Verdana" panose="020B0604030504040204" pitchFamily="34" charset="0"/>
              </a:rPr>
              <a:t>1</a:t>
            </a:r>
            <a:r>
              <a:rPr lang="zh-CN" altLang="en-US" sz="2400" dirty="0">
                <a:latin typeface="Verdana" panose="020B0604030504040204" pitchFamily="34" charset="0"/>
              </a:rPr>
              <a:t>。</a:t>
            </a:r>
            <a:endParaRPr lang="zh-CN" altLang="en-US" sz="2400" dirty="0"/>
          </a:p>
          <a:p>
            <a:pPr lvl="1"/>
            <a:r>
              <a:rPr lang="zh-CN" altLang="en-US" sz="2400" dirty="0">
                <a:latin typeface="Verdana" panose="020B0604030504040204" pitchFamily="34" charset="0"/>
              </a:rPr>
              <a:t>非门 </a:t>
            </a:r>
            <a:r>
              <a:rPr lang="en-US" altLang="zh-CN" sz="2400" dirty="0">
                <a:latin typeface="Verdana" panose="020B0604030504040204" pitchFamily="34" charset="0"/>
              </a:rPr>
              <a:t>NOT</a:t>
            </a:r>
            <a:r>
              <a:rPr lang="zh-CN" altLang="en-US" sz="2400" dirty="0">
                <a:latin typeface="Verdana" panose="020B0604030504040204" pitchFamily="34" charset="0"/>
              </a:rPr>
              <a:t>：产生一个与输入值相反的输出，亦称为反相器</a:t>
            </a:r>
            <a:r>
              <a:rPr lang="en-US" altLang="zh-CN" sz="2400" dirty="0">
                <a:latin typeface="Verdana" panose="020B0604030504040204" pitchFamily="34" charset="0"/>
              </a:rPr>
              <a:t>inverter</a:t>
            </a:r>
            <a:r>
              <a:rPr lang="zh-CN" altLang="en-US" sz="2400" dirty="0">
                <a:latin typeface="Verdana" panose="020B0604030504040204" pitchFamily="34" charset="0"/>
              </a:rPr>
              <a:t>。</a:t>
            </a:r>
            <a:endParaRPr lang="zh-CN" altLang="en-US" sz="2400" dirty="0"/>
          </a:p>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en-US" altLang="zh-CN" dirty="0"/>
              <a:t>ANSI/IEEE Std 91-1984</a:t>
            </a:r>
            <a:r>
              <a:rPr lang="zh-CN" altLang="en-US" dirty="0"/>
              <a:t>允许两种逻辑符号表示方式：特色形状的符号和矩形符号。</a:t>
            </a:r>
            <a:endParaRPr lang="en-US" altLang="zh-CN" dirty="0"/>
          </a:p>
          <a:p>
            <a:r>
              <a:rPr lang="zh-CN" altLang="en-US" sz="1200" b="0" i="0" u="none" strike="noStrike" kern="1200" baseline="0" dirty="0">
                <a:solidFill>
                  <a:schemeClr val="tx1"/>
                </a:solidFill>
                <a:latin typeface="+mn-lt"/>
                <a:ea typeface="+mn-ea"/>
                <a:cs typeface="+mn-cs"/>
              </a:rPr>
              <a:t>非门图形符号输出端的小圆圈称为反相圈，在逻辑门的符号中，表示“反相”特性，逻辑变量值取反。将反相圈和与门、或门输出端相结合，则得到另外两个常用的逻辑门：与非门和或非门。</a:t>
            </a: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896265BD-27AC-41F9-B4DA-540A1E1A50BA}"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TextEdit="1"/>
          </p:cNvSpPr>
          <p:nvPr>
            <p:ph type="sldImg"/>
          </p:nvPr>
        </p:nvSpPr>
        <p:spPr>
          <a:xfrm>
            <a:off x="992188" y="768350"/>
            <a:ext cx="5114925" cy="3836988"/>
          </a:xfrm>
        </p:spPr>
      </p:sp>
      <p:sp>
        <p:nvSpPr>
          <p:cNvPr id="491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ea typeface="宋体" panose="02010600030101010101" pitchFamily="2" charset="-122"/>
              </a:rPr>
              <a:t>用于格雷码、奇偶校验等</a:t>
            </a:r>
            <a:endParaRPr lang="en-US" altLang="zh-CN" dirty="0">
              <a:ea typeface="宋体" panose="02010600030101010101" pitchFamily="2" charset="-122"/>
            </a:endParaRPr>
          </a:p>
          <a:p>
            <a:r>
              <a:rPr lang="en-US" altLang="zh-CN" dirty="0" err="1">
                <a:ea typeface="宋体" panose="02010600030101010101" pitchFamily="2" charset="-122"/>
              </a:rPr>
              <a:t>exclusice</a:t>
            </a:r>
            <a:r>
              <a:rPr lang="en-US" altLang="zh-CN" dirty="0">
                <a:ea typeface="宋体" panose="02010600030101010101" pitchFamily="2" charset="-122"/>
              </a:rPr>
              <a:t> OR XOR</a:t>
            </a:r>
            <a:endParaRPr lang="zh-CN" altLang="en-US" dirty="0">
              <a:ea typeface="宋体" panose="02010600030101010101" pitchFamily="2" charset="-122"/>
            </a:endParaRPr>
          </a:p>
        </p:txBody>
      </p:sp>
      <p:sp>
        <p:nvSpPr>
          <p:cNvPr id="4915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a:solidFill>
                  <a:schemeClr val="tx1"/>
                </a:solidFill>
                <a:latin typeface="Arial" panose="020B0604020202020204" pitchFamily="34" charset="0"/>
                <a:ea typeface="宋体" panose="02010600030101010101" pitchFamily="2" charset="-122"/>
              </a:defRPr>
            </a:lvl1pPr>
            <a:lvl2pPr marL="742950" indent="-285750" defTabSz="990600" eaLnBrk="0" hangingPunct="0">
              <a:defRPr>
                <a:solidFill>
                  <a:schemeClr val="tx1"/>
                </a:solidFill>
                <a:latin typeface="Arial" panose="020B0604020202020204" pitchFamily="34" charset="0"/>
                <a:ea typeface="宋体" panose="02010600030101010101" pitchFamily="2" charset="-122"/>
              </a:defRPr>
            </a:lvl2pPr>
            <a:lvl3pPr marL="1143000" indent="-228600" defTabSz="990600" eaLnBrk="0" hangingPunct="0">
              <a:defRPr>
                <a:solidFill>
                  <a:schemeClr val="tx1"/>
                </a:solidFill>
                <a:latin typeface="Arial" panose="020B0604020202020204" pitchFamily="34" charset="0"/>
                <a:ea typeface="宋体" panose="02010600030101010101" pitchFamily="2" charset="-122"/>
              </a:defRPr>
            </a:lvl3pPr>
            <a:lvl4pPr marL="1600200" indent="-228600" defTabSz="990600" eaLnBrk="0" hangingPunct="0">
              <a:defRPr>
                <a:solidFill>
                  <a:schemeClr val="tx1"/>
                </a:solidFill>
                <a:latin typeface="Arial" panose="020B0604020202020204" pitchFamily="34" charset="0"/>
                <a:ea typeface="宋体" panose="02010600030101010101" pitchFamily="2" charset="-122"/>
              </a:defRPr>
            </a:lvl4pPr>
            <a:lvl5pPr marL="2057400" indent="-228600" defTabSz="990600" eaLnBrk="0" hangingPunct="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7297864-D1B4-4D4F-B908-F7A64CF47C77}"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a:solidFill>
                  <a:schemeClr val="tx1"/>
                </a:solidFill>
                <a:latin typeface="Arial" panose="020B0604020202020204" pitchFamily="34" charset="0"/>
                <a:ea typeface="宋体" panose="02010600030101010101" pitchFamily="2" charset="-122"/>
              </a:defRPr>
            </a:lvl1pPr>
            <a:lvl2pPr marL="742950" indent="-285750" defTabSz="990600" eaLnBrk="0" hangingPunct="0">
              <a:defRPr>
                <a:solidFill>
                  <a:schemeClr val="tx1"/>
                </a:solidFill>
                <a:latin typeface="Arial" panose="020B0604020202020204" pitchFamily="34" charset="0"/>
                <a:ea typeface="宋体" panose="02010600030101010101" pitchFamily="2" charset="-122"/>
              </a:defRPr>
            </a:lvl2pPr>
            <a:lvl3pPr marL="1143000" indent="-228600" defTabSz="990600" eaLnBrk="0" hangingPunct="0">
              <a:defRPr>
                <a:solidFill>
                  <a:schemeClr val="tx1"/>
                </a:solidFill>
                <a:latin typeface="Arial" panose="020B0604020202020204" pitchFamily="34" charset="0"/>
                <a:ea typeface="宋体" panose="02010600030101010101" pitchFamily="2" charset="-122"/>
              </a:defRPr>
            </a:lvl3pPr>
            <a:lvl4pPr marL="1600200" indent="-228600" defTabSz="990600" eaLnBrk="0" hangingPunct="0">
              <a:defRPr>
                <a:solidFill>
                  <a:schemeClr val="tx1"/>
                </a:solidFill>
                <a:latin typeface="Arial" panose="020B0604020202020204" pitchFamily="34" charset="0"/>
                <a:ea typeface="宋体" panose="02010600030101010101" pitchFamily="2" charset="-122"/>
              </a:defRPr>
            </a:lvl4pPr>
            <a:lvl5pPr marL="2057400" indent="-228600" defTabSz="990600" eaLnBrk="0" hangingPunct="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6AF2A5A-940A-4D4F-93EA-512BD4B05891}" type="slidenum">
              <a:rPr lang="en-US" altLang="zh-CN" smtClean="0"/>
            </a:fld>
            <a:endParaRPr lang="en-US" altLang="zh-CN"/>
          </a:p>
        </p:txBody>
      </p:sp>
      <p:sp>
        <p:nvSpPr>
          <p:cNvPr id="91139" name="Rectangle 2"/>
          <p:cNvSpPr>
            <a:spLocks noGrp="1" noRot="1" noChangeAspect="1" noChangeArrowheads="1" noTextEdit="1"/>
          </p:cNvSpPr>
          <p:nvPr>
            <p:ph type="sldImg"/>
          </p:nvPr>
        </p:nvSpPr>
        <p:spPr>
          <a:xfrm>
            <a:off x="992188" y="768350"/>
            <a:ext cx="5114925" cy="3836988"/>
          </a:xfrm>
        </p:spPr>
      </p:sp>
      <p:sp>
        <p:nvSpPr>
          <p:cNvPr id="911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模拟量 </a:t>
            </a:r>
            <a:r>
              <a:rPr lang="en-US" altLang="zh-CN" dirty="0">
                <a:latin typeface="Arial" panose="020B0604020202020204" pitchFamily="34" charset="0"/>
              </a:rPr>
              <a:t>Analog Value</a:t>
            </a:r>
            <a:r>
              <a:rPr lang="zh-CN" altLang="en-US" dirty="0">
                <a:latin typeface="Arial" panose="020B0604020202020204" pitchFamily="34" charset="0"/>
              </a:rPr>
              <a:t>：连续的物理量</a:t>
            </a:r>
            <a:endParaRPr lang="zh-CN" altLang="en-US" dirty="0">
              <a:latin typeface="Arial" panose="020B0604020202020204" pitchFamily="34" charset="0"/>
            </a:endParaRPr>
          </a:p>
          <a:p>
            <a:r>
              <a:rPr lang="zh-CN" altLang="en-US" dirty="0">
                <a:latin typeface="Arial" panose="020B0604020202020204" pitchFamily="34" charset="0"/>
              </a:rPr>
              <a:t>三极管的开关特性：开</a:t>
            </a:r>
            <a:r>
              <a:rPr lang="en-US" altLang="zh-CN" dirty="0">
                <a:latin typeface="Arial" panose="020B0604020202020204" pitchFamily="34" charset="0"/>
              </a:rPr>
              <a:t>—</a:t>
            </a:r>
            <a:r>
              <a:rPr lang="zh-CN" altLang="en-US" dirty="0">
                <a:latin typeface="Arial" panose="020B0604020202020204" pitchFamily="34" charset="0"/>
              </a:rPr>
              <a:t>饱和</a:t>
            </a:r>
            <a:r>
              <a:rPr lang="en-US" altLang="zh-CN" dirty="0">
                <a:latin typeface="Arial" panose="020B0604020202020204" pitchFamily="34" charset="0"/>
              </a:rPr>
              <a:t>/</a:t>
            </a:r>
            <a:r>
              <a:rPr lang="zh-CN" altLang="en-US" dirty="0">
                <a:latin typeface="Arial" panose="020B0604020202020204" pitchFamily="34" charset="0"/>
              </a:rPr>
              <a:t>关</a:t>
            </a:r>
            <a:r>
              <a:rPr lang="en-US" altLang="zh-CN" dirty="0">
                <a:latin typeface="Arial" panose="020B0604020202020204" pitchFamily="34" charset="0"/>
              </a:rPr>
              <a:t>—</a:t>
            </a:r>
            <a:r>
              <a:rPr lang="zh-CN" altLang="en-US" dirty="0">
                <a:latin typeface="Arial" panose="020B0604020202020204" pitchFamily="34" charset="0"/>
              </a:rPr>
              <a:t>不导通</a:t>
            </a:r>
            <a:endParaRPr lang="zh-CN" altLang="en-US" dirty="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lvl="2"/>
            <a:r>
              <a:rPr lang="zh-CN" altLang="en-US" sz="2500" dirty="0"/>
              <a:t>更多的灵活性，更快，更精确的计算</a:t>
            </a:r>
            <a:endParaRPr lang="zh-CN" altLang="en-US" sz="2500" dirty="0"/>
          </a:p>
          <a:p>
            <a:pPr lvl="2"/>
            <a:r>
              <a:rPr lang="zh-CN" altLang="en-US" sz="2500" dirty="0"/>
              <a:t>容易实现存储设备</a:t>
            </a:r>
            <a:endParaRPr lang="zh-CN" altLang="en-US" sz="2500" dirty="0"/>
          </a:p>
          <a:p>
            <a:pPr lvl="2"/>
            <a:r>
              <a:rPr lang="zh-CN" altLang="en-US" sz="2500" dirty="0"/>
              <a:t>误差监测和修正</a:t>
            </a:r>
            <a:endParaRPr lang="zh-CN" altLang="en-US" sz="2500" dirty="0"/>
          </a:p>
          <a:p>
            <a:pPr lvl="2"/>
            <a:r>
              <a:rPr lang="zh-CN" altLang="en-US" sz="2500" dirty="0"/>
              <a:t>容易最小化</a:t>
            </a:r>
            <a:endParaRPr lang="zh-CN" altLang="en-US" sz="2500" dirty="0"/>
          </a:p>
          <a:p>
            <a:pPr marL="0" lvl="1">
              <a:spcBef>
                <a:spcPts val="0"/>
              </a:spcBef>
            </a:pPr>
            <a:endParaRPr lang="en-US" altLang="zh-CN" sz="2800" dirty="0"/>
          </a:p>
          <a:p>
            <a:pPr marL="0" lvl="1">
              <a:spcBef>
                <a:spcPts val="0"/>
              </a:spcBef>
            </a:pPr>
            <a:r>
              <a:rPr lang="zh-CN" altLang="en-US" sz="2800" dirty="0"/>
              <a:t>真实的数字在深层次上也是</a:t>
            </a:r>
            <a:r>
              <a:rPr lang="zh-CN" altLang="en-US" sz="2800" dirty="0">
                <a:solidFill>
                  <a:srgbClr val="FF0000"/>
                </a:solidFill>
              </a:rPr>
              <a:t>模拟的</a:t>
            </a:r>
            <a:endParaRPr lang="en-US" altLang="zh-CN" sz="2800" dirty="0">
              <a:solidFill>
                <a:srgbClr val="FF0000"/>
              </a:solidFill>
            </a:endParaRPr>
          </a:p>
          <a:p>
            <a:pPr marL="0" lvl="2">
              <a:spcBef>
                <a:spcPts val="0"/>
              </a:spcBef>
            </a:pPr>
            <a:r>
              <a:rPr lang="zh-CN" altLang="en-US" sz="2000" dirty="0"/>
              <a:t>在数字逻辑电路课程中要记住这个事实</a:t>
            </a:r>
            <a:endParaRPr lang="zh-CN" altLang="en-US" sz="2000" dirty="0"/>
          </a:p>
          <a:p>
            <a:pPr marL="0" lvl="2">
              <a:spcBef>
                <a:spcPts val="0"/>
              </a:spcBef>
            </a:pPr>
            <a:r>
              <a:rPr lang="zh-CN" altLang="en-US" sz="2000" dirty="0"/>
              <a:t>某些时候，在设计数字电路时，还需考虑模拟的特性</a:t>
            </a:r>
            <a:endParaRPr lang="en-US" altLang="zh-CN" sz="2000" dirty="0"/>
          </a:p>
          <a:p>
            <a:pPr marL="0" lvl="2">
              <a:spcBef>
                <a:spcPts val="0"/>
              </a:spcBef>
            </a:pPr>
            <a:endParaRPr lang="en-US" altLang="zh-CN" sz="2000" dirty="0"/>
          </a:p>
          <a:p>
            <a:pPr marL="0" lvl="1">
              <a:spcBef>
                <a:spcPts val="0"/>
              </a:spcBef>
            </a:pPr>
            <a:r>
              <a:rPr lang="zh-CN" altLang="en-US" sz="2800" dirty="0"/>
              <a:t>疯狂的数字</a:t>
            </a:r>
            <a:endParaRPr lang="en-US" altLang="zh-CN" sz="2800" dirty="0"/>
          </a:p>
          <a:p>
            <a:pPr marL="0" lvl="2">
              <a:spcBef>
                <a:spcPts val="0"/>
              </a:spcBef>
            </a:pPr>
            <a:r>
              <a:rPr lang="zh-CN" altLang="en-US" sz="2000" dirty="0"/>
              <a:t>音乐：</a:t>
            </a:r>
            <a:r>
              <a:rPr lang="en-US" altLang="zh-CN" sz="2000" dirty="0"/>
              <a:t>CD, MP3</a:t>
            </a:r>
            <a:endParaRPr lang="en-US" altLang="zh-CN" sz="2000" dirty="0"/>
          </a:p>
          <a:p>
            <a:pPr marL="0" lvl="2">
              <a:spcBef>
                <a:spcPts val="0"/>
              </a:spcBef>
            </a:pPr>
            <a:r>
              <a:rPr lang="zh-CN" altLang="en-US" sz="2000" dirty="0"/>
              <a:t>电影：</a:t>
            </a:r>
            <a:r>
              <a:rPr lang="en-US" altLang="zh-CN" sz="2000" dirty="0"/>
              <a:t>MPEG, RM, DVD</a:t>
            </a:r>
            <a:endParaRPr lang="en-US" altLang="zh-CN" sz="2000" dirty="0"/>
          </a:p>
          <a:p>
            <a:pPr marL="0" lvl="2">
              <a:spcBef>
                <a:spcPts val="0"/>
              </a:spcBef>
            </a:pPr>
            <a:r>
              <a:rPr lang="zh-CN" altLang="en-US" sz="2000" dirty="0"/>
              <a:t>数字电视</a:t>
            </a:r>
            <a:endParaRPr lang="zh-CN" altLang="en-US" sz="2000" dirty="0"/>
          </a:p>
          <a:p>
            <a:pPr marL="0" lvl="2">
              <a:spcBef>
                <a:spcPts val="0"/>
              </a:spcBef>
            </a:pPr>
            <a:r>
              <a:rPr lang="zh-CN" altLang="en-US" sz="2000" dirty="0"/>
              <a:t>数字照相机</a:t>
            </a:r>
            <a:endParaRPr lang="zh-CN" altLang="en-US" sz="2000" dirty="0"/>
          </a:p>
          <a:p>
            <a:pPr marL="0" lvl="2">
              <a:spcBef>
                <a:spcPts val="0"/>
              </a:spcBef>
            </a:pPr>
            <a:r>
              <a:rPr lang="zh-CN" altLang="en-US" sz="2000" dirty="0"/>
              <a:t>数字摄影机</a:t>
            </a:r>
            <a:endParaRPr lang="zh-CN" altLang="en-US" sz="2000" dirty="0"/>
          </a:p>
          <a:p>
            <a:pPr marL="0" lvl="2">
              <a:spcBef>
                <a:spcPts val="0"/>
              </a:spcBef>
            </a:pPr>
            <a:r>
              <a:rPr lang="zh-CN" altLang="en-US" sz="2000" dirty="0"/>
              <a:t>手机</a:t>
            </a:r>
            <a:endParaRPr lang="zh-CN" altLang="en-US" sz="2000" dirty="0"/>
          </a:p>
          <a:p>
            <a:pPr marL="0" lvl="2">
              <a:spcBef>
                <a:spcPts val="0"/>
              </a:spcBef>
            </a:pPr>
            <a:endParaRPr lang="zh-CN" altLang="en-US" dirty="0"/>
          </a:p>
        </p:txBody>
      </p:sp>
      <p:sp>
        <p:nvSpPr>
          <p:cNvPr id="4" name="灯片编号占位符 3"/>
          <p:cNvSpPr>
            <a:spLocks noGrp="1"/>
          </p:cNvSpPr>
          <p:nvPr>
            <p:ph type="sldNum" sz="quarter" idx="10"/>
          </p:nvPr>
        </p:nvSpPr>
        <p:spPr/>
        <p:txBody>
          <a:bodyPr/>
          <a:lstStyle/>
          <a:p>
            <a:pPr>
              <a:defRPr/>
            </a:pPr>
            <a:fld id="{896265BD-27AC-41F9-B4DA-540A1E1A50BA}"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en-US" altLang="zh-CN" dirty="0"/>
              <a:t>The HIGH range typically corresponds to binary 1 and LOW range to binary 0. The threshold region is a range of voltages</a:t>
            </a:r>
            <a:endParaRPr lang="en-US" altLang="zh-CN" dirty="0"/>
          </a:p>
          <a:p>
            <a:r>
              <a:rPr lang="en-US" altLang="zh-CN" dirty="0"/>
              <a:t>for which the input voltage value cannot be interpreted reliably as either a 0 or a 1.</a:t>
            </a:r>
            <a:endParaRPr lang="en-US" altLang="zh-CN" dirty="0"/>
          </a:p>
          <a:p>
            <a:r>
              <a:rPr lang="zh-CN" altLang="en-US" dirty="0"/>
              <a:t>同一个逻辑电路，在不同的逻辑假定下，其逻辑功能是不同的。</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79ACC2B-7DDE-43DD-810A-998AAA989F9D}" type="slidenum">
              <a:rPr lang="en-US" altLang="zh-CN"/>
            </a:fld>
            <a:endParaRPr lang="en-US" altLang="zh-CN"/>
          </a:p>
        </p:txBody>
      </p:sp>
      <p:sp>
        <p:nvSpPr>
          <p:cNvPr id="230402" name="Rectangle 2"/>
          <p:cNvSpPr>
            <a:spLocks noGrp="1" noRot="1" noChangeAspect="1" noChangeArrowheads="1" noTextEdit="1"/>
          </p:cNvSpPr>
          <p:nvPr>
            <p:ph type="sldImg"/>
          </p:nvPr>
        </p:nvSpPr>
        <p:spPr>
          <a:xfrm>
            <a:off x="992188" y="768350"/>
            <a:ext cx="5114925" cy="3836988"/>
          </a:xfrm>
        </p:spPr>
      </p:sp>
      <p:sp>
        <p:nvSpPr>
          <p:cNvPr id="230403" name="Rectangle 3"/>
          <p:cNvSpPr>
            <a:spLocks noGrp="1" noChangeArrowheads="1"/>
          </p:cNvSpPr>
          <p:nvPr>
            <p:ph type="body" idx="1"/>
          </p:nvPr>
        </p:nvSpPr>
        <p:spPr/>
        <p:txBody>
          <a:bodyPr/>
          <a:lstStyle/>
          <a:p>
            <a:r>
              <a:rPr lang="en-US" altLang="zh-CN"/>
              <a:t>The HIGH range typically corresponds to binary 1 and LOW range to binary 0. The threshold region is a range of voltages</a:t>
            </a:r>
            <a:endParaRPr lang="en-US" altLang="zh-CN"/>
          </a:p>
          <a:p>
            <a:r>
              <a:rPr lang="en-US" altLang="zh-CN"/>
              <a:t>for which the input voltage value cannot be interpreted reliably as either a 0 or a 1.</a:t>
            </a:r>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kumimoji="0" lang="en-US" altLang="zh-CN" dirty="0">
                <a:solidFill>
                  <a:srgbClr val="CC3300"/>
                </a:solidFill>
              </a:rPr>
              <a:t>AB</a:t>
            </a:r>
            <a:r>
              <a:rPr kumimoji="0" lang="zh-CN" altLang="en-US" dirty="0">
                <a:solidFill>
                  <a:srgbClr val="CC3300"/>
                </a:solidFill>
              </a:rPr>
              <a:t>段</a:t>
            </a:r>
            <a:r>
              <a:rPr kumimoji="0" lang="zh-CN" altLang="en-US" dirty="0"/>
              <a:t>：</a:t>
            </a:r>
            <a:r>
              <a:rPr kumimoji="0" lang="en-US" altLang="zh-CN" i="1" dirty="0" err="1"/>
              <a:t>v</a:t>
            </a:r>
            <a:r>
              <a:rPr kumimoji="0" lang="en-US" altLang="zh-CN" baseline="-30000" dirty="0" err="1"/>
              <a:t>I</a:t>
            </a:r>
            <a:r>
              <a:rPr kumimoji="0" lang="zh-CN" altLang="en-US" dirty="0"/>
              <a:t>＜</a:t>
            </a:r>
            <a:r>
              <a:rPr kumimoji="0" lang="en-US" altLang="zh-CN" dirty="0"/>
              <a:t>1.5V</a:t>
            </a:r>
            <a:r>
              <a:rPr kumimoji="0" lang="zh-CN" altLang="en-US" dirty="0"/>
              <a:t>， </a:t>
            </a:r>
            <a:r>
              <a:rPr kumimoji="0" lang="en-US" altLang="zh-CN" dirty="0"/>
              <a:t>VT</a:t>
            </a:r>
            <a:r>
              <a:rPr kumimoji="0" lang="en-US" altLang="zh-CN" baseline="-25000" dirty="0"/>
              <a:t>N</a:t>
            </a:r>
            <a:r>
              <a:rPr kumimoji="0" lang="zh-CN" altLang="en-US" dirty="0"/>
              <a:t>截止， </a:t>
            </a:r>
            <a:r>
              <a:rPr kumimoji="0" lang="en-US" altLang="zh-CN" dirty="0"/>
              <a:t>VT</a:t>
            </a:r>
            <a:r>
              <a:rPr kumimoji="0" lang="en-US" altLang="zh-CN" baseline="-25000" dirty="0"/>
              <a:t>P</a:t>
            </a:r>
            <a:r>
              <a:rPr kumimoji="0" lang="zh-CN" altLang="en-US" dirty="0"/>
              <a:t>导通，输出电压</a:t>
            </a:r>
            <a:r>
              <a:rPr kumimoji="0" lang="en-US" altLang="zh-CN" i="1" dirty="0" err="1"/>
              <a:t>v</a:t>
            </a:r>
            <a:r>
              <a:rPr kumimoji="0" lang="en-US" altLang="zh-CN" baseline="-30000" dirty="0" err="1"/>
              <a:t>O</a:t>
            </a:r>
            <a:r>
              <a:rPr kumimoji="0" lang="en-US" altLang="zh-CN" dirty="0" err="1"/>
              <a:t>≈V</a:t>
            </a:r>
            <a:r>
              <a:rPr kumimoji="0" lang="en-US" altLang="zh-CN" baseline="-30000" dirty="0" err="1"/>
              <a:t>DD</a:t>
            </a:r>
            <a:r>
              <a:rPr kumimoji="0" lang="en-US" altLang="zh-CN" b="0" dirty="0"/>
              <a:t> </a:t>
            </a:r>
            <a:endParaRPr kumimoji="0" lang="en-US" altLang="zh-CN" b="0" dirty="0"/>
          </a:p>
          <a:p>
            <a:pPr marL="0" marR="0" indent="0" algn="l" defTabSz="914400" rtl="0" eaLnBrk="0" fontAlgn="base" latinLnBrk="0" hangingPunct="0">
              <a:lnSpc>
                <a:spcPct val="100000"/>
              </a:lnSpc>
              <a:spcBef>
                <a:spcPct val="30000"/>
              </a:spcBef>
              <a:spcAft>
                <a:spcPct val="0"/>
              </a:spcAft>
              <a:buClrTx/>
              <a:buSzTx/>
              <a:buFontTx/>
              <a:buNone/>
              <a:defRPr/>
            </a:pPr>
            <a:r>
              <a:rPr kumimoji="0" lang="en-US" altLang="zh-CN" dirty="0">
                <a:solidFill>
                  <a:srgbClr val="CC3300"/>
                </a:solidFill>
              </a:rPr>
              <a:t>CD</a:t>
            </a:r>
            <a:r>
              <a:rPr kumimoji="0" lang="zh-CN" altLang="en-US" dirty="0">
                <a:solidFill>
                  <a:srgbClr val="CC3300"/>
                </a:solidFill>
              </a:rPr>
              <a:t>段</a:t>
            </a:r>
            <a:r>
              <a:rPr kumimoji="0" lang="zh-CN" altLang="en-US" dirty="0"/>
              <a:t>：</a:t>
            </a:r>
            <a:r>
              <a:rPr kumimoji="0" lang="en-US" altLang="zh-CN" i="1" dirty="0" err="1"/>
              <a:t>v</a:t>
            </a:r>
            <a:r>
              <a:rPr kumimoji="0" lang="en-US" altLang="zh-CN" baseline="-30000" dirty="0" err="1"/>
              <a:t>I</a:t>
            </a:r>
            <a:r>
              <a:rPr kumimoji="0" lang="zh-CN" altLang="en-US" dirty="0"/>
              <a:t>＞</a:t>
            </a:r>
            <a:r>
              <a:rPr kumimoji="0" lang="en-US" altLang="zh-CN" dirty="0"/>
              <a:t>3.5V</a:t>
            </a:r>
            <a:r>
              <a:rPr kumimoji="0" lang="zh-CN" altLang="en-US" dirty="0"/>
              <a:t>， </a:t>
            </a:r>
            <a:r>
              <a:rPr kumimoji="0" lang="en-US" altLang="zh-CN" dirty="0"/>
              <a:t>VT</a:t>
            </a:r>
            <a:r>
              <a:rPr kumimoji="0" lang="en-US" altLang="zh-CN" baseline="-25000" dirty="0"/>
              <a:t>N</a:t>
            </a:r>
            <a:r>
              <a:rPr kumimoji="0" lang="zh-CN" altLang="en-US" dirty="0"/>
              <a:t>导通， </a:t>
            </a:r>
            <a:r>
              <a:rPr kumimoji="0" lang="en-US" altLang="zh-CN" dirty="0"/>
              <a:t>VT</a:t>
            </a:r>
            <a:r>
              <a:rPr kumimoji="0" lang="en-US" altLang="zh-CN" baseline="-25000" dirty="0"/>
              <a:t>P</a:t>
            </a:r>
            <a:r>
              <a:rPr kumimoji="0" lang="zh-CN" altLang="en-US" dirty="0"/>
              <a:t>截止，输出电压</a:t>
            </a:r>
            <a:r>
              <a:rPr kumimoji="0" lang="en-US" altLang="zh-CN" i="1" dirty="0"/>
              <a:t>v</a:t>
            </a:r>
            <a:r>
              <a:rPr kumimoji="0" lang="en-US" altLang="zh-CN" baseline="-30000" dirty="0"/>
              <a:t>O</a:t>
            </a:r>
            <a:r>
              <a:rPr kumimoji="0" lang="en-US" altLang="zh-CN" dirty="0"/>
              <a:t>≈0V</a:t>
            </a:r>
            <a:r>
              <a:rPr kumimoji="0" lang="en-US" altLang="zh-CN" b="0" dirty="0"/>
              <a:t> </a:t>
            </a:r>
            <a:endParaRPr kumimoji="0" lang="en-US" altLang="zh-CN" b="0" dirty="0"/>
          </a:p>
          <a:p>
            <a:pPr marL="0" marR="0" indent="0" algn="l" defTabSz="914400" rtl="0" eaLnBrk="0" fontAlgn="base" latinLnBrk="0" hangingPunct="0">
              <a:lnSpc>
                <a:spcPct val="100000"/>
              </a:lnSpc>
              <a:spcBef>
                <a:spcPct val="30000"/>
              </a:spcBef>
              <a:spcAft>
                <a:spcPct val="0"/>
              </a:spcAft>
              <a:buClrTx/>
              <a:buSzTx/>
              <a:buFontTx/>
              <a:buNone/>
              <a:defRPr/>
            </a:pPr>
            <a:r>
              <a:rPr kumimoji="0" lang="en-US" altLang="zh-CN" dirty="0">
                <a:solidFill>
                  <a:srgbClr val="CC3300"/>
                </a:solidFill>
              </a:rPr>
              <a:t>BC</a:t>
            </a:r>
            <a:r>
              <a:rPr kumimoji="0" lang="zh-CN" altLang="en-US" dirty="0">
                <a:solidFill>
                  <a:srgbClr val="CC3300"/>
                </a:solidFill>
              </a:rPr>
              <a:t>段</a:t>
            </a:r>
            <a:r>
              <a:rPr kumimoji="0" lang="zh-CN" altLang="en-US" dirty="0"/>
              <a:t>：</a:t>
            </a:r>
            <a:r>
              <a:rPr kumimoji="0" lang="en-US" altLang="zh-CN" dirty="0"/>
              <a:t>1.5V≤</a:t>
            </a:r>
            <a:r>
              <a:rPr kumimoji="0" lang="en-US" altLang="zh-CN" i="1" dirty="0"/>
              <a:t>v</a:t>
            </a:r>
            <a:r>
              <a:rPr kumimoji="0" lang="en-US" altLang="zh-CN" baseline="-30000" dirty="0"/>
              <a:t>I</a:t>
            </a:r>
            <a:r>
              <a:rPr kumimoji="0" lang="en-US" altLang="zh-CN" dirty="0"/>
              <a:t>≤3.5V </a:t>
            </a:r>
            <a:r>
              <a:rPr kumimoji="0" lang="zh-CN" altLang="en-US" dirty="0"/>
              <a:t>，</a:t>
            </a:r>
            <a:r>
              <a:rPr kumimoji="0" lang="en-US" altLang="zh-CN" dirty="0"/>
              <a:t>VT</a:t>
            </a:r>
            <a:r>
              <a:rPr kumimoji="0" lang="en-US" altLang="zh-CN" baseline="-25000" dirty="0"/>
              <a:t>P</a:t>
            </a:r>
            <a:r>
              <a:rPr kumimoji="0" lang="zh-CN" altLang="en-US" dirty="0"/>
              <a:t>、</a:t>
            </a:r>
            <a:r>
              <a:rPr kumimoji="0" lang="en-US" altLang="zh-CN" dirty="0"/>
              <a:t>VT</a:t>
            </a:r>
            <a:r>
              <a:rPr kumimoji="0" lang="en-US" altLang="zh-CN" baseline="-25000" dirty="0"/>
              <a:t>N</a:t>
            </a:r>
            <a:r>
              <a:rPr kumimoji="0" lang="zh-CN" altLang="en-US" dirty="0"/>
              <a:t>均导通。当</a:t>
            </a:r>
            <a:r>
              <a:rPr kumimoji="0" lang="en-US" altLang="zh-CN" i="1" dirty="0" err="1"/>
              <a:t>v</a:t>
            </a:r>
            <a:r>
              <a:rPr kumimoji="0" lang="en-US" altLang="zh-CN" baseline="-30000" dirty="0" err="1"/>
              <a:t>I</a:t>
            </a:r>
            <a:r>
              <a:rPr kumimoji="0" lang="en-US" altLang="zh-CN" dirty="0"/>
              <a:t> =V</a:t>
            </a:r>
            <a:r>
              <a:rPr kumimoji="0" lang="en-US" altLang="zh-CN" baseline="-30000" dirty="0"/>
              <a:t>DD</a:t>
            </a:r>
            <a:r>
              <a:rPr kumimoji="0" lang="zh-CN" altLang="en-US" dirty="0"/>
              <a:t>／</a:t>
            </a:r>
            <a:r>
              <a:rPr kumimoji="0" lang="en-US" altLang="zh-CN" dirty="0"/>
              <a:t>2</a:t>
            </a:r>
            <a:r>
              <a:rPr kumimoji="0" lang="zh-CN" altLang="en-US" dirty="0"/>
              <a:t>时， </a:t>
            </a:r>
            <a:r>
              <a:rPr kumimoji="0" lang="en-US" altLang="zh-CN" dirty="0"/>
              <a:t>VT</a:t>
            </a:r>
            <a:r>
              <a:rPr kumimoji="0" lang="en-US" altLang="zh-CN" baseline="-25000" dirty="0"/>
              <a:t>P</a:t>
            </a:r>
            <a:r>
              <a:rPr kumimoji="0" lang="zh-CN" altLang="en-US" dirty="0"/>
              <a:t>和</a:t>
            </a:r>
            <a:r>
              <a:rPr kumimoji="0" lang="en-US" altLang="zh-CN" dirty="0"/>
              <a:t>VT</a:t>
            </a:r>
            <a:r>
              <a:rPr kumimoji="0" lang="en-US" altLang="zh-CN" baseline="-25000" dirty="0"/>
              <a:t>N</a:t>
            </a:r>
            <a:r>
              <a:rPr kumimoji="0" lang="en-US" altLang="zh-CN" sz="1400" b="0" dirty="0"/>
              <a:t> </a:t>
            </a:r>
            <a:r>
              <a:rPr kumimoji="0" lang="zh-CN" altLang="en-US" dirty="0"/>
              <a:t>导通程度相当。</a:t>
            </a:r>
            <a:endParaRPr kumimoji="0" lang="zh-CN" altLang="en-US" dirty="0"/>
          </a:p>
          <a:p>
            <a:endParaRPr lang="zh-CN" altLang="en-US" dirty="0"/>
          </a:p>
          <a:p>
            <a:r>
              <a:rPr lang="en-US" altLang="zh-CN" dirty="0"/>
              <a:t>4.5V,0.45V</a:t>
            </a:r>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err="1"/>
              <a:t>V</a:t>
            </a:r>
            <a:r>
              <a:rPr lang="en-US" altLang="zh-CN" sz="1200" baseline="-25000" dirty="0" err="1"/>
              <a:t>OHmin</a:t>
            </a:r>
            <a:r>
              <a:rPr lang="en-US" altLang="zh-CN" sz="1200" dirty="0" err="1"/>
              <a:t>-V</a:t>
            </a:r>
            <a:r>
              <a:rPr lang="en-US" altLang="zh-CN" sz="1200" baseline="-25000" dirty="0" err="1"/>
              <a:t>IHmin</a:t>
            </a:r>
            <a:r>
              <a:rPr lang="zh-CN" altLang="en-US" sz="1200" dirty="0"/>
              <a:t> </a:t>
            </a:r>
            <a:r>
              <a:rPr lang="en-US" altLang="zh-CN" sz="1200" dirty="0"/>
              <a:t>=4.4-3.15=1.25V</a:t>
            </a:r>
            <a:endParaRPr lang="zh-CN" altLang="en-US" sz="1200"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err="1"/>
              <a:t>V</a:t>
            </a:r>
            <a:r>
              <a:rPr lang="en-US" altLang="zh-CN" sz="1200" baseline="-25000" dirty="0" err="1"/>
              <a:t>ILmax</a:t>
            </a:r>
            <a:r>
              <a:rPr lang="en-US" altLang="zh-CN" sz="1200" dirty="0"/>
              <a:t>- </a:t>
            </a:r>
            <a:r>
              <a:rPr lang="en-US" altLang="zh-CN" sz="1200" dirty="0" err="1"/>
              <a:t>V</a:t>
            </a:r>
            <a:r>
              <a:rPr lang="en-US" altLang="zh-CN" sz="1200" baseline="-25000" dirty="0" err="1"/>
              <a:t>OLmax</a:t>
            </a:r>
            <a:r>
              <a:rPr lang="en-US" altLang="zh-CN" sz="1200" baseline="-25000" dirty="0"/>
              <a:t>  </a:t>
            </a:r>
            <a:r>
              <a:rPr lang="en-US" altLang="zh-CN" sz="1200" dirty="0"/>
              <a:t>=1.35-0.1=1.25V</a:t>
            </a:r>
            <a:endParaRPr lang="zh-CN" altLang="en-US" sz="1200" dirty="0"/>
          </a:p>
          <a:p>
            <a:endParaRPr lang="zh-CN" altLang="en-US" dirty="0"/>
          </a:p>
        </p:txBody>
      </p:sp>
      <p:sp>
        <p:nvSpPr>
          <p:cNvPr id="4" name="灯片编号占位符 3"/>
          <p:cNvSpPr>
            <a:spLocks noGrp="1"/>
          </p:cNvSpPr>
          <p:nvPr>
            <p:ph type="sldNum" sz="quarter" idx="5"/>
          </p:nvPr>
        </p:nvSpPr>
        <p:spPr/>
        <p:txBody>
          <a:bodyPr/>
          <a:lstStyle/>
          <a:p>
            <a:fld id="{B762BEBF-96A3-450B-A772-FAEFF39FE495}"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eaLnBrk="1" hangingPunct="1">
              <a:lnSpc>
                <a:spcPct val="90000"/>
              </a:lnSpc>
            </a:pPr>
            <a:r>
              <a:rPr lang="zh-CN" altLang="en-US" sz="3200" dirty="0"/>
              <a:t>半导体中参与导电的实体</a:t>
            </a:r>
            <a:r>
              <a:rPr lang="en-US" altLang="zh-CN" sz="3200" dirty="0">
                <a:latin typeface="Arial" panose="020B0604020202020204" pitchFamily="34" charset="0"/>
              </a:rPr>
              <a:t>—</a:t>
            </a:r>
            <a:r>
              <a:rPr lang="zh-CN" altLang="en-US" sz="3200" b="1" dirty="0"/>
              <a:t>载流子</a:t>
            </a:r>
            <a:r>
              <a:rPr lang="en-US" altLang="zh-CN" sz="3200" dirty="0"/>
              <a:t>(Carrier)</a:t>
            </a:r>
            <a:r>
              <a:rPr lang="zh-CN" altLang="en-US" sz="3200" dirty="0"/>
              <a:t>，有</a:t>
            </a:r>
            <a:r>
              <a:rPr lang="zh-CN" altLang="en-US" sz="3200" b="1" dirty="0">
                <a:solidFill>
                  <a:srgbClr val="FF0000"/>
                </a:solidFill>
              </a:rPr>
              <a:t>电子</a:t>
            </a:r>
            <a:r>
              <a:rPr lang="en-US" altLang="zh-CN" sz="3200" dirty="0">
                <a:ea typeface="宋体" panose="02010600030101010101" pitchFamily="2" charset="-122"/>
              </a:rPr>
              <a:t>electron</a:t>
            </a:r>
            <a:r>
              <a:rPr lang="zh-CN" altLang="en-US" sz="3200" dirty="0"/>
              <a:t>和</a:t>
            </a:r>
            <a:r>
              <a:rPr lang="zh-CN" altLang="en-US" sz="3200" b="1" dirty="0">
                <a:solidFill>
                  <a:srgbClr val="FF0000"/>
                </a:solidFill>
              </a:rPr>
              <a:t>空穴</a:t>
            </a:r>
            <a:r>
              <a:rPr lang="en-US" altLang="zh-CN" sz="3200" dirty="0"/>
              <a:t>hole</a:t>
            </a:r>
            <a:r>
              <a:rPr lang="zh-CN" altLang="en-US" sz="3200" dirty="0"/>
              <a:t>两种，通过改变载流子的数量，可以改变半导体的导电特性。</a:t>
            </a:r>
            <a:endParaRPr lang="en-US" altLang="zh-CN" sz="3200" dirty="0"/>
          </a:p>
          <a:p>
            <a:r>
              <a:rPr lang="zh-CN" altLang="en-US" sz="3200" dirty="0"/>
              <a:t>硅</a:t>
            </a:r>
            <a:r>
              <a:rPr lang="en-US" altLang="zh-CN" sz="3200" dirty="0">
                <a:ea typeface="宋体" panose="02010600030101010101" pitchFamily="2" charset="-122"/>
              </a:rPr>
              <a:t> silicon</a:t>
            </a:r>
            <a:r>
              <a:rPr lang="zh-CN" altLang="en-US" sz="3200" dirty="0">
                <a:ea typeface="宋体" panose="02010600030101010101" pitchFamily="2" charset="-122"/>
              </a:rPr>
              <a:t>，属于半导体，纯硅没有多余的</a:t>
            </a:r>
            <a:r>
              <a:rPr lang="zh-CN" altLang="en-US" sz="3200" dirty="0"/>
              <a:t>载流子，导电性能差。</a:t>
            </a:r>
            <a:endParaRPr lang="en-US" altLang="zh-CN" sz="3200" dirty="0"/>
          </a:p>
          <a:p>
            <a:pPr lvl="1"/>
            <a:r>
              <a:rPr lang="zh-CN" altLang="en-US" sz="2800" dirty="0"/>
              <a:t>添加杂质增强导电性</a:t>
            </a:r>
            <a:endParaRPr lang="en-US" altLang="zh-CN" sz="2800" dirty="0"/>
          </a:p>
          <a:p>
            <a:pPr lvl="2" eaLnBrk="1" hangingPunct="1">
              <a:lnSpc>
                <a:spcPct val="90000"/>
              </a:lnSpc>
            </a:pPr>
            <a:r>
              <a:rPr lang="zh-CN" altLang="en-US" sz="2800" dirty="0"/>
              <a:t>加入三价元素杂质，例如硼或者铟，增加</a:t>
            </a:r>
            <a:r>
              <a:rPr lang="zh-CN" altLang="en-US" sz="2800" dirty="0">
                <a:solidFill>
                  <a:srgbClr val="FF0000"/>
                </a:solidFill>
              </a:rPr>
              <a:t>空穴</a:t>
            </a:r>
            <a:r>
              <a:rPr lang="zh-CN" altLang="en-US" sz="2800" dirty="0"/>
              <a:t>的数量，属于</a:t>
            </a:r>
            <a:r>
              <a:rPr lang="en-US" altLang="zh-CN" sz="2800" dirty="0"/>
              <a:t>P</a:t>
            </a:r>
            <a:r>
              <a:rPr lang="zh-CN" altLang="en-US" sz="2800" dirty="0"/>
              <a:t>型掺杂</a:t>
            </a:r>
            <a:r>
              <a:rPr lang="en-US" altLang="zh-CN" sz="2800" dirty="0"/>
              <a:t>Positive</a:t>
            </a:r>
            <a:endParaRPr lang="en-US" altLang="zh-CN" sz="2800" dirty="0"/>
          </a:p>
          <a:p>
            <a:pPr lvl="2" eaLnBrk="1" hangingPunct="1">
              <a:lnSpc>
                <a:spcPct val="90000"/>
              </a:lnSpc>
            </a:pPr>
            <a:r>
              <a:rPr lang="zh-CN" altLang="en-US" sz="2800" dirty="0"/>
              <a:t>加入五价元素杂质，例如磷、砷或锑，增加</a:t>
            </a:r>
            <a:r>
              <a:rPr lang="zh-CN" altLang="en-US" sz="2800" dirty="0">
                <a:solidFill>
                  <a:srgbClr val="FF0000"/>
                </a:solidFill>
              </a:rPr>
              <a:t>自由电子</a:t>
            </a:r>
            <a:r>
              <a:rPr lang="zh-CN" altLang="en-US" sz="2800" dirty="0"/>
              <a:t>的数量</a:t>
            </a:r>
            <a:r>
              <a:rPr lang="en-US" altLang="zh-CN" sz="2800" dirty="0"/>
              <a:t>,</a:t>
            </a:r>
            <a:r>
              <a:rPr lang="zh-CN" altLang="en-US" sz="2800" dirty="0"/>
              <a:t>属于</a:t>
            </a:r>
            <a:r>
              <a:rPr lang="en-US" altLang="zh-CN" sz="2800" dirty="0"/>
              <a:t>N</a:t>
            </a:r>
            <a:r>
              <a:rPr lang="zh-CN" altLang="en-US" sz="2800" dirty="0"/>
              <a:t>型掺杂</a:t>
            </a:r>
            <a:r>
              <a:rPr lang="en-US" altLang="zh-CN" sz="2800" dirty="0"/>
              <a:t>Negative</a:t>
            </a:r>
            <a:endParaRPr lang="zh-CN" altLang="en-US" sz="2800" dirty="0"/>
          </a:p>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342900" indent="-342900">
              <a:buFont typeface="Arial" panose="020B0604020202020204" pitchFamily="34" charset="0"/>
              <a:buChar char="•"/>
            </a:pPr>
            <a:r>
              <a:rPr lang="zh-CN" altLang="en-US" sz="1200" dirty="0"/>
              <a:t>输入电压阈值主要由两种晶体管的开关阈值电压决定。</a:t>
            </a:r>
            <a:endParaRPr lang="en-US" altLang="zh-CN" sz="1200" dirty="0"/>
          </a:p>
          <a:p>
            <a:pPr marL="342900" indent="-342900">
              <a:buFont typeface="Arial" panose="020B0604020202020204" pitchFamily="34" charset="0"/>
              <a:buChar char="•"/>
            </a:pPr>
            <a:r>
              <a:rPr lang="en-US" altLang="zh-CN" sz="1200" dirty="0"/>
              <a:t>V</a:t>
            </a:r>
            <a:r>
              <a:rPr lang="en-US" altLang="zh-CN" sz="1200" baseline="-25000" dirty="0"/>
              <a:t>IN</a:t>
            </a:r>
            <a:r>
              <a:rPr lang="zh-CN" altLang="en-US" sz="1200" dirty="0"/>
              <a:t>由</a:t>
            </a:r>
            <a:r>
              <a:rPr lang="en-US" altLang="zh-CN" sz="1200" dirty="0"/>
              <a:t>0V</a:t>
            </a:r>
            <a:r>
              <a:rPr lang="zh-CN" altLang="en-US" sz="1200" dirty="0"/>
              <a:t>向</a:t>
            </a:r>
            <a:r>
              <a:rPr lang="en-US" altLang="zh-CN" sz="1200" dirty="0" err="1"/>
              <a:t>Vcc</a:t>
            </a:r>
            <a:r>
              <a:rPr lang="zh-CN" altLang="en-US" sz="1200" dirty="0"/>
              <a:t>逐渐增大，</a:t>
            </a:r>
            <a:r>
              <a:rPr lang="en-US" altLang="zh-CN" sz="1200" dirty="0" err="1"/>
              <a:t>pMOS</a:t>
            </a:r>
            <a:r>
              <a:rPr lang="zh-CN" altLang="en-US" sz="1200" dirty="0"/>
              <a:t>由导通转换成截止状态，触发截止状态时的输入电压称为</a:t>
            </a:r>
            <a:r>
              <a:rPr lang="en-US" altLang="zh-CN" sz="1200" dirty="0" err="1"/>
              <a:t>V</a:t>
            </a:r>
            <a:r>
              <a:rPr lang="en-US" altLang="zh-CN" sz="1200" baseline="-25000" dirty="0" err="1"/>
              <a:t>ILmax</a:t>
            </a:r>
            <a:r>
              <a:rPr lang="zh-CN" altLang="en-US" sz="1200" dirty="0"/>
              <a:t>，输出电压称为</a:t>
            </a:r>
            <a:r>
              <a:rPr lang="en-US" altLang="zh-CN" sz="1200" dirty="0" err="1"/>
              <a:t>V</a:t>
            </a:r>
            <a:r>
              <a:rPr lang="en-US" altLang="zh-CN" sz="1200" baseline="-25000" dirty="0" err="1"/>
              <a:t>OHmin</a:t>
            </a:r>
            <a:r>
              <a:rPr lang="zh-CN" altLang="en-US" sz="1200" dirty="0"/>
              <a:t>。</a:t>
            </a:r>
            <a:r>
              <a:rPr lang="en-US" altLang="zh-CN" sz="1200" dirty="0"/>
              <a:t>VIN</a:t>
            </a:r>
            <a:r>
              <a:rPr lang="zh-CN" altLang="en-US" sz="1200" dirty="0"/>
              <a:t>继续增加，当</a:t>
            </a:r>
            <a:r>
              <a:rPr lang="en-US" altLang="zh-CN" sz="1200" dirty="0" err="1"/>
              <a:t>nMOS</a:t>
            </a:r>
            <a:r>
              <a:rPr lang="zh-CN" altLang="en-US" sz="1200" dirty="0"/>
              <a:t>管导通时，输入电压称为</a:t>
            </a:r>
            <a:r>
              <a:rPr lang="en-US" altLang="zh-CN" sz="1200" dirty="0" err="1"/>
              <a:t>V</a:t>
            </a:r>
            <a:r>
              <a:rPr lang="en-US" altLang="zh-CN" sz="1200" baseline="-25000" dirty="0" err="1"/>
              <a:t>IHmin</a:t>
            </a:r>
            <a:r>
              <a:rPr lang="zh-CN" altLang="en-US" sz="1200" dirty="0"/>
              <a:t>，输出电压称为</a:t>
            </a:r>
            <a:r>
              <a:rPr lang="en-US" altLang="zh-CN" sz="1200" dirty="0" err="1"/>
              <a:t>V</a:t>
            </a:r>
            <a:r>
              <a:rPr lang="en-US" altLang="zh-CN" sz="1200" baseline="-25000" dirty="0" err="1"/>
              <a:t>OLmax</a:t>
            </a:r>
            <a:r>
              <a:rPr lang="zh-CN" altLang="en-US" sz="1200" dirty="0"/>
              <a:t>。</a:t>
            </a:r>
            <a:endParaRPr lang="en-US" altLang="zh-CN" sz="1200" dirty="0"/>
          </a:p>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normAutofit/>
          </a:bodyPr>
          <a:lstStyle/>
          <a:p>
            <a:r>
              <a:rPr lang="en-US" altLang="zh-CN" dirty="0"/>
              <a:t>n</a:t>
            </a:r>
            <a:r>
              <a:rPr lang="zh-CN" altLang="en-US" dirty="0"/>
              <a:t>沟道晶体管的导通电阻比</a:t>
            </a:r>
            <a:r>
              <a:rPr lang="en-US" altLang="zh-CN" dirty="0"/>
              <a:t>p</a:t>
            </a:r>
            <a:r>
              <a:rPr lang="zh-CN" altLang="en-US" dirty="0"/>
              <a:t>沟道晶体管的导通电阻要低，</a:t>
            </a:r>
            <a:r>
              <a:rPr lang="en-US" altLang="zh-CN" dirty="0"/>
              <a:t>k</a:t>
            </a:r>
            <a:r>
              <a:rPr lang="zh-CN" altLang="en-US" dirty="0"/>
              <a:t>输入的与非门要比或非门的速度快。</a:t>
            </a:r>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dirty="0"/>
              <a:t>扇入系数</a:t>
            </a:r>
            <a:r>
              <a:rPr lang="en-US" altLang="zh-CN" sz="1200" dirty="0"/>
              <a:t>NI</a:t>
            </a:r>
            <a:r>
              <a:rPr lang="zh-CN" altLang="en-US" sz="1200" dirty="0"/>
              <a:t>：门电路允许的输入端的数目，称为该门电路的扇入系数。</a:t>
            </a:r>
            <a:endParaRPr lang="en-US" altLang="zh-CN" sz="1200" dirty="0"/>
          </a:p>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一般</a:t>
            </a:r>
            <a:r>
              <a:rPr lang="en-US" altLang="zh-CN" dirty="0"/>
              <a:t>NI≤5</a:t>
            </a:r>
            <a:r>
              <a:rPr lang="zh-CN" altLang="en-US" dirty="0"/>
              <a:t>，最多不超过</a:t>
            </a:r>
            <a:r>
              <a:rPr lang="en-US" altLang="zh-CN" dirty="0"/>
              <a:t>8</a:t>
            </a:r>
            <a:r>
              <a:rPr lang="zh-CN" altLang="en-US" dirty="0"/>
              <a:t>。实际应用中若要求门电路的输入端数目超过它的扇入系数，可使用与扩展器或者或扩展器来增加输入端数目，也可改用分级实现的方法。典型门电路的扇入系数对</a:t>
            </a:r>
            <a:r>
              <a:rPr lang="en-US" altLang="zh-CN" dirty="0"/>
              <a:t>NOR</a:t>
            </a:r>
            <a:r>
              <a:rPr lang="zh-CN" altLang="en-US" dirty="0"/>
              <a:t>为</a:t>
            </a:r>
            <a:r>
              <a:rPr lang="en-US" altLang="zh-CN" dirty="0"/>
              <a:t>4</a:t>
            </a:r>
            <a:r>
              <a:rPr lang="zh-CN" altLang="en-US" dirty="0"/>
              <a:t>，对</a:t>
            </a:r>
            <a:r>
              <a:rPr lang="en-US" altLang="zh-CN" dirty="0"/>
              <a:t>NAND</a:t>
            </a:r>
            <a:r>
              <a:rPr lang="zh-CN" altLang="en-US" dirty="0"/>
              <a:t>为</a:t>
            </a:r>
            <a:r>
              <a:rPr lang="en-US" altLang="zh-CN" dirty="0"/>
              <a:t>6</a:t>
            </a:r>
            <a:r>
              <a:rPr lang="zh-CN" altLang="en-US" dirty="0"/>
              <a:t>。实际应用中若要求门电路的输入端数目小与它的扇入系数，可将多余的输入端接高电平或低电平，这取决于门电路的逻辑功能。 </a:t>
            </a:r>
            <a:r>
              <a:rPr lang="en-US" altLang="zh-CN" dirty="0"/>
              <a:t>[1] </a:t>
            </a:r>
            <a:endParaRPr lang="en-US" altLang="zh-CN" dirty="0"/>
          </a:p>
          <a:p>
            <a:r>
              <a:rPr lang="zh-CN" altLang="en-US" dirty="0"/>
              <a:t>门电路输入端的增加，会使串联的</a:t>
            </a:r>
            <a:r>
              <a:rPr lang="en-US" altLang="zh-CN" dirty="0"/>
              <a:t>MOS</a:t>
            </a:r>
            <a:r>
              <a:rPr lang="zh-CN" altLang="en-US" dirty="0"/>
              <a:t>管的总的等效电阻增加，会使输出电压偏离电源电压或地电平。</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normAutofit/>
          </a:bodyPr>
          <a:lstStyle/>
          <a:p>
            <a:r>
              <a:rPr lang="zh-CN" altLang="en-US" dirty="0"/>
              <a:t>与非门比与门速度快。</a:t>
            </a:r>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延迟时间短</a:t>
            </a:r>
            <a:endParaRPr lang="en-US" altLang="zh-CN" dirty="0"/>
          </a:p>
          <a:p>
            <a:r>
              <a:rPr lang="zh-CN" altLang="en-US"/>
              <a:t>硬件描述语言自动生成。</a:t>
            </a:r>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normAutofit/>
          </a:bodyPr>
          <a:lstStyle/>
          <a:p>
            <a:r>
              <a:rPr lang="zh-CN" altLang="en-US" sz="1200" dirty="0">
                <a:latin typeface="+mn-ea"/>
              </a:rPr>
              <a:t>速度取决于两个特性，即</a:t>
            </a:r>
            <a:r>
              <a:rPr lang="zh-CN" altLang="en-US" sz="1200" b="1" dirty="0">
                <a:solidFill>
                  <a:srgbClr val="FF0000"/>
                </a:solidFill>
                <a:latin typeface="+mn-ea"/>
              </a:rPr>
              <a:t>转换时间</a:t>
            </a:r>
            <a:r>
              <a:rPr lang="zh-CN" altLang="en-US" sz="1200" dirty="0">
                <a:latin typeface="+mn-ea"/>
              </a:rPr>
              <a:t>和</a:t>
            </a:r>
            <a:r>
              <a:rPr lang="zh-CN" altLang="en-US" sz="1200" b="1" dirty="0">
                <a:solidFill>
                  <a:srgbClr val="FF0000"/>
                </a:solidFill>
                <a:latin typeface="+mn-ea"/>
              </a:rPr>
              <a:t>传播延迟</a:t>
            </a:r>
            <a:r>
              <a:rPr lang="zh-CN" altLang="en-US" sz="1200" dirty="0">
                <a:latin typeface="+mn-ea"/>
              </a:rPr>
              <a:t>。</a:t>
            </a:r>
            <a:endParaRPr lang="en-US" altLang="zh-CN" sz="1200" dirty="0">
              <a:latin typeface="+mn-ea"/>
            </a:endParaRPr>
          </a:p>
          <a:p>
            <a:r>
              <a:rPr lang="en-US" altLang="zh-CN" sz="1200" dirty="0">
                <a:latin typeface="+mn-ea"/>
              </a:rPr>
              <a:t>CMOS</a:t>
            </a:r>
            <a:r>
              <a:rPr lang="zh-CN" altLang="en-US" sz="1200" dirty="0">
                <a:latin typeface="+mn-ea"/>
              </a:rPr>
              <a:t>输入端、封装和内部连线间存在相当大的</a:t>
            </a:r>
            <a:r>
              <a:rPr lang="zh-CN" altLang="en-US" sz="1200" b="1" dirty="0">
                <a:solidFill>
                  <a:srgbClr val="FF0000"/>
                </a:solidFill>
                <a:latin typeface="+mn-ea"/>
              </a:rPr>
              <a:t>电容</a:t>
            </a:r>
            <a:endParaRPr lang="zh-CN" altLang="en-US" sz="1200" b="1" dirty="0">
              <a:solidFill>
                <a:srgbClr val="FF0000"/>
              </a:solidFill>
              <a:latin typeface="+mn-ea"/>
            </a:endParaRPr>
          </a:p>
          <a:p>
            <a:r>
              <a:rPr lang="zh-CN" altLang="en-US" sz="1200" b="1" dirty="0">
                <a:solidFill>
                  <a:srgbClr val="FF0000"/>
                </a:solidFill>
                <a:latin typeface="+mn-ea"/>
              </a:rPr>
              <a:t>电容充放电时间</a:t>
            </a:r>
            <a:r>
              <a:rPr lang="zh-CN" altLang="en-US" sz="1200" dirty="0">
                <a:latin typeface="+mn-ea"/>
              </a:rPr>
              <a:t>是构成电路</a:t>
            </a:r>
            <a:r>
              <a:rPr lang="en-US" altLang="zh-CN" sz="1200" dirty="0">
                <a:latin typeface="+mn-ea"/>
              </a:rPr>
              <a:t>/</a:t>
            </a:r>
            <a:r>
              <a:rPr lang="zh-CN" altLang="en-US" sz="1200" dirty="0">
                <a:latin typeface="+mn-ea"/>
              </a:rPr>
              <a:t>器件时延的主要因素之一。</a:t>
            </a:r>
            <a:endParaRPr lang="zh-CN" altLang="en-US" sz="1200" dirty="0">
              <a:latin typeface="+mn-ea"/>
            </a:endParaRPr>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normAutofit/>
          </a:bodyPr>
          <a:lstStyle/>
          <a:p>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传播延迟</a:t>
            </a:r>
            <a:r>
              <a:rPr lang="en-US" altLang="zh-CN" sz="1200" kern="1200" baseline="0" dirty="0">
                <a:solidFill>
                  <a:schemeClr val="tx1"/>
                </a:solidFill>
                <a:latin typeface="Arial" panose="020B0604020202020204" pitchFamily="34" charset="0"/>
                <a:ea typeface="宋体" panose="02010600030101010101" pitchFamily="2" charset="-122"/>
                <a:cs typeface="+mn-cs"/>
              </a:rPr>
              <a:t>(Propagation delays)</a:t>
            </a:r>
            <a:endParaRPr lang="en-US" altLang="zh-CN"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􀂄需要考虑的数字电路的物理特性</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􀂄传播延迟</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􀂄门的扇入</a:t>
            </a:r>
            <a:r>
              <a:rPr lang="en-US" altLang="zh-CN" sz="1200" kern="1200" baseline="0" dirty="0">
                <a:solidFill>
                  <a:schemeClr val="tx1"/>
                </a:solidFill>
                <a:latin typeface="Arial" panose="020B0604020202020204" pitchFamily="34" charset="0"/>
                <a:ea typeface="宋体" panose="02010600030101010101" pitchFamily="2" charset="-122"/>
                <a:cs typeface="+mn-cs"/>
              </a:rPr>
              <a:t>(fan-in)</a:t>
            </a:r>
            <a:r>
              <a:rPr lang="zh-CN" altLang="en-US" sz="1200" kern="1200" baseline="0" dirty="0">
                <a:solidFill>
                  <a:schemeClr val="tx1"/>
                </a:solidFill>
                <a:latin typeface="Arial" panose="020B0604020202020204" pitchFamily="34" charset="0"/>
                <a:ea typeface="宋体" panose="02010600030101010101" pitchFamily="2" charset="-122"/>
                <a:cs typeface="+mn-cs"/>
              </a:rPr>
              <a:t>和扇出</a:t>
            </a:r>
            <a:r>
              <a:rPr lang="en-US" altLang="zh-CN" sz="1200" kern="1200" baseline="0" dirty="0">
                <a:solidFill>
                  <a:schemeClr val="tx1"/>
                </a:solidFill>
                <a:latin typeface="Arial" panose="020B0604020202020204" pitchFamily="34" charset="0"/>
                <a:ea typeface="宋体" panose="02010600030101010101" pitchFamily="2" charset="-122"/>
                <a:cs typeface="+mn-cs"/>
              </a:rPr>
              <a:t>(fan-out)</a:t>
            </a:r>
            <a:r>
              <a:rPr lang="zh-CN" altLang="en-US" sz="1200" kern="1200" baseline="0" dirty="0">
                <a:solidFill>
                  <a:schemeClr val="tx1"/>
                </a:solidFill>
                <a:latin typeface="Arial" panose="020B0604020202020204" pitchFamily="34" charset="0"/>
                <a:ea typeface="宋体" panose="02010600030101010101" pitchFamily="2" charset="-122"/>
                <a:cs typeface="+mn-cs"/>
              </a:rPr>
              <a:t>限制</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􀂄功耗</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􀂄规模和重量</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􀂄传播延迟：输入变化和相应输出变化时间的延迟</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􀂄电路复杂性</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􀂄工艺</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􀂄门的扇出</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􀂄温度</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r>
              <a:rPr lang="zh-CN" altLang="en-US" sz="1200" kern="1200" baseline="0" dirty="0">
                <a:solidFill>
                  <a:schemeClr val="tx1"/>
                </a:solidFill>
                <a:latin typeface="Arial" panose="020B0604020202020204" pitchFamily="34" charset="0"/>
                <a:ea typeface="宋体" panose="02010600030101010101" pitchFamily="2" charset="-122"/>
                <a:cs typeface="+mn-cs"/>
              </a:rPr>
              <a:t>􀂄芯片电压等等</a:t>
            </a:r>
            <a:endParaRPr lang="zh-CN" altLang="en-US" sz="1200" kern="1200" baseline="0" dirty="0">
              <a:solidFill>
                <a:schemeClr val="tx1"/>
              </a:solidFill>
              <a:latin typeface="Arial" panose="020B0604020202020204" pitchFamily="34"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defRPr/>
            </a:pPr>
            <a:r>
              <a:rPr lang="en-US" altLang="zh-CN" dirty="0">
                <a:ea typeface="宋体" panose="02010600030101010101" pitchFamily="2" charset="-122"/>
              </a:rPr>
              <a:t>Voltage waveforms for logic gates.</a:t>
            </a:r>
            <a:endParaRPr lang="en-US" altLang="zh-CN" dirty="0">
              <a:ea typeface="宋体" panose="02010600030101010101" pitchFamily="2" charset="-122"/>
            </a:endParaRPr>
          </a:p>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sz="1200" b="0" i="0" u="none" strike="noStrike" kern="1200" baseline="0" dirty="0">
                <a:solidFill>
                  <a:schemeClr val="tx1"/>
                </a:solidFill>
                <a:latin typeface="Arial" panose="020B0604020202020204" pitchFamily="34" charset="0"/>
                <a:ea typeface="宋体" panose="02010600030101010101" pitchFamily="2" charset="-122"/>
                <a:cs typeface="+mn-cs"/>
              </a:rPr>
              <a:t>静态功率与频率无关（</a:t>
            </a:r>
            <a:r>
              <a:rPr lang="en-US" altLang="zh-CN" sz="1200" b="0" i="0" u="none" strike="noStrike" kern="1200" baseline="0" dirty="0">
                <a:solidFill>
                  <a:schemeClr val="tx1"/>
                </a:solidFill>
                <a:latin typeface="Arial" panose="020B0604020202020204" pitchFamily="34" charset="0"/>
                <a:ea typeface="宋体" panose="02010600030101010101" pitchFamily="2" charset="-122"/>
                <a:cs typeface="+mn-cs"/>
              </a:rPr>
              <a:t>f=1/T</a:t>
            </a:r>
            <a:r>
              <a:rPr lang="zh-CN" altLang="en-US" sz="1200" b="0" i="0" u="none" strike="noStrike" kern="1200" baseline="0" dirty="0">
                <a:solidFill>
                  <a:schemeClr val="tx1"/>
                </a:solidFill>
                <a:latin typeface="Arial" panose="020B0604020202020204" pitchFamily="34" charset="0"/>
                <a:ea typeface="宋体" panose="02010600030101010101" pitchFamily="2" charset="-122"/>
                <a:cs typeface="+mn-cs"/>
              </a:rPr>
              <a:t>），动态功率与频率以及电源电压</a:t>
            </a:r>
            <a:r>
              <a:rPr lang="en-US" altLang="zh-CN" sz="1200" b="0" i="0" u="none" strike="noStrike" kern="1200" baseline="0" dirty="0" err="1">
                <a:solidFill>
                  <a:schemeClr val="tx1"/>
                </a:solidFill>
                <a:latin typeface="Arial" panose="020B0604020202020204" pitchFamily="34" charset="0"/>
                <a:ea typeface="宋体" panose="02010600030101010101" pitchFamily="2" charset="-122"/>
                <a:cs typeface="+mn-cs"/>
              </a:rPr>
              <a:t>Vc</a:t>
            </a:r>
            <a:r>
              <a:rPr lang="zh-CN" altLang="en-US" sz="1200" b="0" i="0" u="none" strike="noStrike" kern="1200" baseline="0">
                <a:solidFill>
                  <a:schemeClr val="tx1"/>
                </a:solidFill>
                <a:latin typeface="Arial" panose="020B0604020202020204" pitchFamily="34" charset="0"/>
                <a:ea typeface="宋体" panose="02010600030101010101" pitchFamily="2" charset="-122"/>
                <a:cs typeface="+mn-cs"/>
              </a:rPr>
              <a:t>成正比。 </a:t>
            </a:r>
            <a:endParaRPr lang="zh-CN" altLang="en-US"/>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normAutofit fontScale="70000" lnSpcReduction="20000"/>
          </a:bodyPr>
          <a:lstStyle/>
          <a:p>
            <a:pPr marL="0" marR="0" lvl="0" indent="0" algn="l" defTabSz="914400" rtl="0" eaLnBrk="1" fontAlgn="base" latinLnBrk="0" hangingPunct="1">
              <a:lnSpc>
                <a:spcPct val="100000"/>
              </a:lnSpc>
              <a:spcBef>
                <a:spcPct val="30000"/>
              </a:spcBef>
              <a:spcAft>
                <a:spcPct val="0"/>
              </a:spcAft>
              <a:buClrTx/>
              <a:buSzTx/>
              <a:buFontTx/>
              <a:buNone/>
              <a:defRPr/>
            </a:pPr>
            <a:r>
              <a:rPr lang="zh-CN" altLang="en-US" sz="2800" dirty="0"/>
              <a:t>运算</a:t>
            </a:r>
            <a:r>
              <a:rPr lang="en-US" altLang="zh-CN" sz="2800" dirty="0"/>
              <a:t>/</a:t>
            </a:r>
            <a:r>
              <a:rPr lang="zh-CN" altLang="en-US" sz="2800" dirty="0"/>
              <a:t>符号布尔代数集合论逻辑学</a:t>
            </a:r>
            <a:r>
              <a:rPr lang="en-US" altLang="zh-CN" sz="2800" dirty="0">
                <a:effectLst/>
              </a:rPr>
              <a:t>0</a:t>
            </a:r>
            <a:r>
              <a:rPr lang="zh-CN" altLang="en-US" sz="2800" dirty="0">
                <a:effectLst/>
              </a:rPr>
              <a:t>底</a:t>
            </a:r>
            <a:r>
              <a:rPr lang="zh-CN" altLang="en-US" sz="2800" u="none" strike="noStrike" kern="1200" dirty="0">
                <a:solidFill>
                  <a:schemeClr val="tx1"/>
                </a:solidFill>
                <a:effectLst/>
                <a:latin typeface="Arial" panose="020B0604020202020204" pitchFamily="34" charset="0"/>
                <a:ea typeface="宋体" panose="02010600030101010101" pitchFamily="2" charset="-122"/>
                <a:cs typeface="+mn-cs"/>
                <a:hlinkClick r:id="rId3" tooltip="空集"/>
              </a:rPr>
              <a:t>空集</a:t>
            </a:r>
            <a:r>
              <a:rPr lang="zh-CN" altLang="en-US" sz="2800" u="none" strike="noStrike" kern="1200" dirty="0">
                <a:solidFill>
                  <a:schemeClr val="tx1"/>
                </a:solidFill>
                <a:effectLst/>
                <a:latin typeface="Arial" panose="020B0604020202020204" pitchFamily="34" charset="0"/>
                <a:ea typeface="宋体" panose="02010600030101010101" pitchFamily="2" charset="-122"/>
                <a:cs typeface="+mn-cs"/>
                <a:hlinkClick r:id="rId4" tooltip="假 (逻辑)（页面不存在）"/>
              </a:rPr>
              <a:t>假</a:t>
            </a:r>
            <a:r>
              <a:rPr lang="en-US" altLang="zh-CN" sz="2800" dirty="0">
                <a:effectLst/>
              </a:rPr>
              <a:t>1</a:t>
            </a:r>
            <a:r>
              <a:rPr lang="zh-CN" altLang="en-US" sz="2800" dirty="0">
                <a:effectLst/>
              </a:rPr>
              <a:t>顶</a:t>
            </a:r>
            <a:r>
              <a:rPr lang="zh-CN" altLang="en-US" sz="2800" u="none" strike="noStrike" kern="1200" dirty="0">
                <a:solidFill>
                  <a:schemeClr val="tx1"/>
                </a:solidFill>
                <a:effectLst/>
                <a:latin typeface="Arial" panose="020B0604020202020204" pitchFamily="34" charset="0"/>
                <a:ea typeface="宋体" panose="02010600030101010101" pitchFamily="2" charset="-122"/>
                <a:cs typeface="+mn-cs"/>
                <a:hlinkClick r:id="rId5" tooltip="全集"/>
              </a:rPr>
              <a:t>全集</a:t>
            </a:r>
            <a:r>
              <a:rPr lang="zh-CN" altLang="en-US" sz="2800" u="none" strike="noStrike" kern="1200" dirty="0">
                <a:solidFill>
                  <a:schemeClr val="tx1"/>
                </a:solidFill>
                <a:effectLst/>
                <a:latin typeface="Arial" panose="020B0604020202020204" pitchFamily="34" charset="0"/>
                <a:ea typeface="宋体" panose="02010600030101010101" pitchFamily="2" charset="-122"/>
                <a:cs typeface="+mn-cs"/>
                <a:hlinkClick r:id="rId6" tooltip="真 (逻辑)（页面不存在）"/>
              </a:rPr>
              <a:t>真</a:t>
            </a:r>
            <a:r>
              <a:rPr lang="zh-CN" altLang="en-US" sz="2800" dirty="0">
                <a:effectLst/>
              </a:rPr>
              <a:t>∧或∩下确界</a:t>
            </a:r>
            <a:r>
              <a:rPr lang="zh-CN" altLang="en-US" sz="2800" u="none" strike="noStrike" kern="1200" dirty="0">
                <a:solidFill>
                  <a:schemeClr val="tx1"/>
                </a:solidFill>
                <a:effectLst/>
                <a:latin typeface="Arial" panose="020B0604020202020204" pitchFamily="34" charset="0"/>
                <a:ea typeface="宋体" panose="02010600030101010101" pitchFamily="2" charset="-122"/>
                <a:cs typeface="+mn-cs"/>
                <a:hlinkClick r:id="rId7" tooltip="交集"/>
              </a:rPr>
              <a:t>交集</a:t>
            </a:r>
            <a:r>
              <a:rPr lang="zh-CN" altLang="en-US" sz="2800" u="none" strike="noStrike" kern="1200" dirty="0">
                <a:solidFill>
                  <a:schemeClr val="tx1"/>
                </a:solidFill>
                <a:effectLst/>
                <a:latin typeface="Arial" panose="020B0604020202020204" pitchFamily="34" charset="0"/>
                <a:ea typeface="宋体" panose="02010600030101010101" pitchFamily="2" charset="-122"/>
                <a:cs typeface="+mn-cs"/>
                <a:hlinkClick r:id="rId8" tooltip="逻辑与"/>
              </a:rPr>
              <a:t>与</a:t>
            </a:r>
            <a:r>
              <a:rPr lang="zh-CN" altLang="en-US" sz="2800" dirty="0">
                <a:effectLst/>
              </a:rPr>
              <a:t>∨或∪上确界</a:t>
            </a:r>
            <a:r>
              <a:rPr lang="zh-CN" altLang="en-US" sz="2800" u="none" strike="noStrike" kern="1200" dirty="0">
                <a:solidFill>
                  <a:schemeClr val="tx1"/>
                </a:solidFill>
                <a:effectLst/>
                <a:latin typeface="Arial" panose="020B0604020202020204" pitchFamily="34" charset="0"/>
                <a:ea typeface="宋体" panose="02010600030101010101" pitchFamily="2" charset="-122"/>
                <a:cs typeface="+mn-cs"/>
                <a:hlinkClick r:id="rId9" tooltip="联集"/>
              </a:rPr>
              <a:t>联集</a:t>
            </a:r>
            <a:r>
              <a:rPr lang="zh-CN" altLang="en-US" sz="2800" u="none" strike="noStrike" kern="1200" dirty="0">
                <a:solidFill>
                  <a:schemeClr val="tx1"/>
                </a:solidFill>
                <a:effectLst/>
                <a:latin typeface="Arial" panose="020B0604020202020204" pitchFamily="34" charset="0"/>
                <a:ea typeface="宋体" panose="02010600030101010101" pitchFamily="2" charset="-122"/>
                <a:cs typeface="+mn-cs"/>
                <a:hlinkClick r:id="rId10" tooltip="逻辑或"/>
              </a:rPr>
              <a:t>或</a:t>
            </a:r>
            <a:r>
              <a:rPr lang="en-US" altLang="zh-CN" sz="2800" dirty="0">
                <a:effectLst/>
              </a:rPr>
              <a:t>¬</a:t>
            </a:r>
            <a:r>
              <a:rPr lang="zh-CN" altLang="en-US" sz="2800" dirty="0">
                <a:effectLst/>
              </a:rPr>
              <a:t>或</a:t>
            </a:r>
            <a:r>
              <a:rPr lang="en-US" altLang="zh-CN" sz="2800" dirty="0">
                <a:effectLst/>
              </a:rPr>
              <a:t>'</a:t>
            </a:r>
            <a:r>
              <a:rPr lang="zh-CN" altLang="en-US" sz="2800" dirty="0">
                <a:effectLst/>
              </a:rPr>
              <a:t>或</a:t>
            </a:r>
            <a:r>
              <a:rPr lang="en-US" altLang="zh-CN" sz="2800" baseline="30000" dirty="0">
                <a:effectLst/>
              </a:rPr>
              <a:t>c</a:t>
            </a:r>
            <a:r>
              <a:rPr lang="zh-CN" altLang="en-US" sz="2800" dirty="0">
                <a:effectLst/>
              </a:rPr>
              <a:t>补</a:t>
            </a:r>
            <a:r>
              <a:rPr lang="zh-CN" altLang="en-US" sz="2800" u="none" strike="noStrike" kern="1200" dirty="0">
                <a:solidFill>
                  <a:schemeClr val="tx1"/>
                </a:solidFill>
                <a:effectLst/>
                <a:latin typeface="Arial" panose="020B0604020202020204" pitchFamily="34" charset="0"/>
                <a:ea typeface="宋体" panose="02010600030101010101" pitchFamily="2" charset="-122"/>
                <a:cs typeface="+mn-cs"/>
                <a:hlinkClick r:id="rId11" tooltip="补集"/>
              </a:rPr>
              <a:t>补集</a:t>
            </a:r>
            <a:r>
              <a:rPr lang="zh-CN" altLang="en-US" sz="2800" u="none" strike="noStrike" kern="1200" dirty="0">
                <a:solidFill>
                  <a:schemeClr val="tx1"/>
                </a:solidFill>
                <a:effectLst/>
                <a:latin typeface="Arial" panose="020B0604020202020204" pitchFamily="34" charset="0"/>
                <a:ea typeface="宋体" panose="02010600030101010101" pitchFamily="2" charset="-122"/>
                <a:cs typeface="+mn-cs"/>
                <a:hlinkClick r:id="rId12" tooltip="逻辑非"/>
              </a:rPr>
              <a:t>非</a:t>
            </a:r>
            <a:r>
              <a:rPr lang="en-US" altLang="zh-CN" sz="2800" dirty="0">
                <a:effectLst/>
              </a:rPr>
              <a:t>-</a:t>
            </a:r>
            <a:r>
              <a:rPr lang="zh-CN" altLang="en-US" sz="2800" dirty="0">
                <a:effectLst/>
              </a:rPr>
              <a:t>减</a:t>
            </a:r>
            <a:r>
              <a:rPr lang="zh-CN" altLang="en-US" sz="2800" u="none" strike="noStrike" kern="1200" dirty="0">
                <a:solidFill>
                  <a:schemeClr val="tx1"/>
                </a:solidFill>
                <a:effectLst/>
                <a:latin typeface="Arial" panose="020B0604020202020204" pitchFamily="34" charset="0"/>
                <a:ea typeface="宋体" panose="02010600030101010101" pitchFamily="2" charset="-122"/>
                <a:cs typeface="+mn-cs"/>
                <a:hlinkClick r:id="rId13" tooltip="差集"/>
              </a:rPr>
              <a:t>差集</a:t>
            </a:r>
            <a:r>
              <a:rPr lang="en-US" altLang="zh-CN" sz="2800" dirty="0">
                <a:effectLst/>
              </a:rPr>
              <a:t>+</a:t>
            </a:r>
            <a:r>
              <a:rPr lang="zh-CN" altLang="en-US" sz="2800" dirty="0">
                <a:effectLst/>
              </a:rPr>
              <a:t>或</a:t>
            </a:r>
            <a:r>
              <a:rPr lang="en-US" altLang="zh-CN" sz="2800" dirty="0">
                <a:effectLst/>
              </a:rPr>
              <a:t>Δ</a:t>
            </a:r>
            <a:r>
              <a:rPr lang="zh-CN" altLang="en-US" sz="2800" u="none" strike="noStrike" kern="1200" dirty="0">
                <a:solidFill>
                  <a:schemeClr val="tx1"/>
                </a:solidFill>
                <a:effectLst/>
                <a:latin typeface="Arial" panose="020B0604020202020204" pitchFamily="34" charset="0"/>
                <a:ea typeface="宋体" panose="02010600030101010101" pitchFamily="2" charset="-122"/>
                <a:cs typeface="+mn-cs"/>
                <a:hlinkClick r:id="rId14" tooltip="对称差"/>
              </a:rPr>
              <a:t>对称差</a:t>
            </a:r>
            <a:r>
              <a:rPr lang="zh-CN" altLang="en-US" sz="2800" dirty="0">
                <a:effectLst/>
              </a:rPr>
              <a:t>对称差</a:t>
            </a:r>
            <a:r>
              <a:rPr lang="zh-CN" altLang="en-US" sz="2800" u="none" strike="noStrike" kern="1200" dirty="0">
                <a:solidFill>
                  <a:schemeClr val="tx1"/>
                </a:solidFill>
                <a:effectLst/>
                <a:latin typeface="Arial" panose="020B0604020202020204" pitchFamily="34" charset="0"/>
                <a:ea typeface="宋体" panose="02010600030101010101" pitchFamily="2" charset="-122"/>
                <a:cs typeface="+mn-cs"/>
                <a:hlinkClick r:id="rId15" tooltip="逻辑异或"/>
              </a:rPr>
              <a:t>异或</a:t>
            </a:r>
            <a:r>
              <a:rPr lang="zh-CN" altLang="en-US" sz="2800" dirty="0">
                <a:effectLst/>
              </a:rPr>
              <a:t>→条件</a:t>
            </a:r>
            <a:r>
              <a:rPr lang="zh-CN" altLang="en-US" sz="2800" u="none" strike="noStrike" kern="1200" dirty="0">
                <a:solidFill>
                  <a:schemeClr val="tx1"/>
                </a:solidFill>
                <a:effectLst/>
                <a:latin typeface="Arial" panose="020B0604020202020204" pitchFamily="34" charset="0"/>
                <a:ea typeface="宋体" panose="02010600030101010101" pitchFamily="2" charset="-122"/>
                <a:cs typeface="+mn-cs"/>
                <a:hlinkClick r:id="rId16" tooltip="实质条件"/>
              </a:rPr>
              <a:t>条件</a:t>
            </a:r>
            <a:r>
              <a:rPr lang="zh-CN" altLang="en-US" sz="2800" dirty="0">
                <a:effectLst/>
              </a:rPr>
              <a:t>↔双向条件</a:t>
            </a:r>
            <a:r>
              <a:rPr lang="zh-CN" altLang="en-US" sz="2800" u="none" strike="noStrike" kern="1200" dirty="0">
                <a:solidFill>
                  <a:schemeClr val="tx1"/>
                </a:solidFill>
                <a:effectLst/>
                <a:latin typeface="Arial" panose="020B0604020202020204" pitchFamily="34" charset="0"/>
                <a:ea typeface="宋体" panose="02010600030101010101" pitchFamily="2" charset="-122"/>
                <a:cs typeface="+mn-cs"/>
                <a:hlinkClick r:id="rId17" tooltip="当且仅当"/>
              </a:rPr>
              <a:t>双条件</a:t>
            </a:r>
            <a:r>
              <a:rPr lang="en-US" altLang="zh-CN" sz="2800" dirty="0">
                <a:effectLst/>
              </a:rPr>
              <a:t>|</a:t>
            </a:r>
            <a:r>
              <a:rPr lang="zh-CN" altLang="en-US" sz="2800" dirty="0">
                <a:effectLst/>
              </a:rPr>
              <a:t>或↑</a:t>
            </a:r>
            <a:r>
              <a:rPr lang="zh-CN" altLang="en-US" sz="2800" u="none" strike="noStrike" kern="1200" dirty="0">
                <a:solidFill>
                  <a:schemeClr val="tx1"/>
                </a:solidFill>
                <a:effectLst/>
                <a:latin typeface="Arial" panose="020B0604020202020204" pitchFamily="34" charset="0"/>
                <a:ea typeface="宋体" panose="02010600030101010101" pitchFamily="2" charset="-122"/>
                <a:cs typeface="+mn-cs"/>
                <a:hlinkClick r:id="rId18" tooltip="谢费尔竖线"/>
              </a:rPr>
              <a:t>谢费尔竖线</a:t>
            </a:r>
            <a:r>
              <a:rPr lang="zh-CN" altLang="en-US" sz="2800" u="none" strike="noStrike" kern="1200" dirty="0">
                <a:solidFill>
                  <a:schemeClr val="tx1"/>
                </a:solidFill>
                <a:effectLst/>
                <a:latin typeface="Arial" panose="020B0604020202020204" pitchFamily="34" charset="0"/>
                <a:ea typeface="宋体" panose="02010600030101010101" pitchFamily="2" charset="-122"/>
                <a:cs typeface="+mn-cs"/>
                <a:hlinkClick r:id="rId19" tooltip="逻辑与非"/>
              </a:rPr>
              <a:t>与非</a:t>
            </a:r>
            <a:r>
              <a:rPr lang="zh-CN" altLang="en-US" sz="2800" dirty="0">
                <a:effectLst/>
              </a:rPr>
              <a:t>⊕或↓皮尔斯箭头</a:t>
            </a:r>
            <a:r>
              <a:rPr lang="zh-CN" altLang="en-US" sz="2800" u="none" strike="noStrike" kern="1200" dirty="0">
                <a:solidFill>
                  <a:schemeClr val="tx1"/>
                </a:solidFill>
                <a:effectLst/>
                <a:latin typeface="Arial" panose="020B0604020202020204" pitchFamily="34" charset="0"/>
                <a:ea typeface="宋体" panose="02010600030101010101" pitchFamily="2" charset="-122"/>
                <a:cs typeface="+mn-cs"/>
                <a:hlinkClick r:id="rId20" tooltip="逻辑或非"/>
              </a:rPr>
              <a:t>或非</a:t>
            </a:r>
            <a:br>
              <a:rPr lang="zh-CN" altLang="en-US" sz="2800" dirty="0"/>
            </a:br>
            <a:endParaRPr lang="zh-CN" altLang="en-US" sz="2800" dirty="0"/>
          </a:p>
          <a:p>
            <a:pPr eaLnBrk="1" hangingPunct="1"/>
            <a:endParaRPr lang="en-US" altLang="zh-CN" sz="2800" dirty="0"/>
          </a:p>
          <a:p>
            <a:pPr eaLnBrk="1" hangingPunct="1"/>
            <a:r>
              <a:rPr lang="en-US" altLang="zh-CN" sz="2800" dirty="0"/>
              <a:t>1938</a:t>
            </a:r>
            <a:r>
              <a:rPr lang="zh-CN" altLang="en-US" sz="2800" dirty="0"/>
              <a:t>年，香农</a:t>
            </a:r>
            <a:r>
              <a:rPr lang="en-US" altLang="zh-CN" sz="2800" dirty="0"/>
              <a:t>(Shannon)</a:t>
            </a:r>
            <a:endParaRPr lang="en-US" altLang="zh-CN" sz="2800" dirty="0"/>
          </a:p>
          <a:p>
            <a:pPr lvl="1" eaLnBrk="1" hangingPunct="1"/>
            <a:r>
              <a:rPr lang="en-US" altLang="zh-CN" sz="2400" dirty="0"/>
              <a:t> </a:t>
            </a:r>
            <a:r>
              <a:rPr lang="en-US" altLang="zh-CN" sz="2400" b="1" i="1" dirty="0">
                <a:solidFill>
                  <a:srgbClr val="FF0000"/>
                </a:solidFill>
                <a:latin typeface="Times New Roman" panose="02020603050405020304" pitchFamily="18" charset="0"/>
              </a:rPr>
              <a:t>A Symbolic Analysis of Relay and Switching Circuits</a:t>
            </a:r>
            <a:r>
              <a:rPr lang="en-US" altLang="zh-CN" sz="2400" i="1" dirty="0"/>
              <a:t>,</a:t>
            </a:r>
            <a:r>
              <a:rPr lang="zh-CN" altLang="en-US" sz="2400" dirty="0"/>
              <a:t>硕士论文</a:t>
            </a:r>
            <a:endParaRPr lang="zh-CN" altLang="en-US" sz="2400" dirty="0"/>
          </a:p>
          <a:p>
            <a:pPr lvl="1" eaLnBrk="1" hangingPunct="1"/>
            <a:r>
              <a:rPr lang="zh-CN" altLang="en-US" sz="2400" dirty="0"/>
              <a:t>提出将布尔代数用于分析和优化继电器逻辑电路。</a:t>
            </a:r>
            <a:endParaRPr lang="zh-CN" altLang="en-US" sz="2400" dirty="0"/>
          </a:p>
          <a:p>
            <a:pPr eaLnBrk="1" hangingPunct="1">
              <a:lnSpc>
                <a:spcPct val="80000"/>
              </a:lnSpc>
              <a:buFont typeface="Wingdings" panose="05000000000000000000" pitchFamily="2" charset="2"/>
              <a:buNone/>
            </a:pPr>
            <a:endParaRPr lang="en-US" altLang="zh-CN" sz="1600" dirty="0">
              <a:latin typeface="Times New Roman" panose="02020603050405020304" pitchFamily="18" charset="0"/>
            </a:endParaRPr>
          </a:p>
          <a:p>
            <a:pPr eaLnBrk="1" hangingPunct="1">
              <a:lnSpc>
                <a:spcPct val="80000"/>
              </a:lnSpc>
              <a:buFont typeface="Wingdings" panose="05000000000000000000" pitchFamily="2" charset="2"/>
              <a:buNone/>
            </a:pPr>
            <a:r>
              <a:rPr lang="en-US" altLang="zh-CN" sz="1600" dirty="0">
                <a:latin typeface="Times New Roman" panose="02020603050405020304" pitchFamily="18" charset="0"/>
              </a:rPr>
              <a:t>Nature and Design of this Work</a:t>
            </a:r>
            <a:endParaRPr lang="en-US" altLang="zh-CN" sz="1200" dirty="0">
              <a:latin typeface="Times New Roman" panose="02020603050405020304" pitchFamily="18" charset="0"/>
            </a:endParaRPr>
          </a:p>
          <a:p>
            <a:pPr eaLnBrk="1" hangingPunct="1">
              <a:lnSpc>
                <a:spcPct val="80000"/>
              </a:lnSpc>
            </a:pPr>
            <a:endParaRPr lang="en-US" altLang="zh-CN" sz="1200" dirty="0">
              <a:latin typeface="Times New Roman" panose="02020603050405020304" pitchFamily="18" charset="0"/>
            </a:endParaRPr>
          </a:p>
          <a:p>
            <a:pPr eaLnBrk="1" hangingPunct="1">
              <a:lnSpc>
                <a:spcPct val="80000"/>
              </a:lnSpc>
            </a:pPr>
            <a:r>
              <a:rPr lang="en-US" altLang="zh-CN" sz="1200" dirty="0">
                <a:latin typeface="Times New Roman" panose="02020603050405020304" pitchFamily="18" charset="0"/>
              </a:rPr>
              <a:t>The design of the following treatise is to </a:t>
            </a:r>
            <a:r>
              <a:rPr lang="en-US" altLang="zh-CN" sz="1200" b="1" dirty="0">
                <a:solidFill>
                  <a:schemeClr val="accent2"/>
                </a:solidFill>
                <a:latin typeface="Times New Roman" panose="02020603050405020304" pitchFamily="18" charset="0"/>
              </a:rPr>
              <a:t>investigate the fundamental laws of those operations of the mind</a:t>
            </a:r>
            <a:r>
              <a:rPr lang="en-US" altLang="zh-CN" sz="1200" dirty="0">
                <a:latin typeface="Times New Roman" panose="02020603050405020304" pitchFamily="18" charset="0"/>
              </a:rPr>
              <a:t> by which reasoning is performed;…to collect from the various elements of truth brought to view in the course of these inquiries </a:t>
            </a:r>
            <a:r>
              <a:rPr lang="en-US" altLang="zh-CN" sz="1200" b="1" dirty="0">
                <a:solidFill>
                  <a:schemeClr val="accent2"/>
                </a:solidFill>
                <a:latin typeface="Times New Roman" panose="02020603050405020304" pitchFamily="18" charset="0"/>
              </a:rPr>
              <a:t>some probable intimations concerning the nature and constitution of the human mind</a:t>
            </a:r>
            <a:r>
              <a:rPr lang="en-US" altLang="zh-CN" sz="1200" dirty="0">
                <a:latin typeface="Times New Roman" panose="02020603050405020304" pitchFamily="18" charset="0"/>
              </a:rPr>
              <a:t>.</a:t>
            </a:r>
            <a:endParaRPr lang="en-US" altLang="zh-CN" sz="1200" dirty="0">
              <a:latin typeface="Times New Roman" panose="02020603050405020304" pitchFamily="18" charset="0"/>
            </a:endParaRPr>
          </a:p>
          <a:p>
            <a:pPr eaLnBrk="1" hangingPunct="1">
              <a:lnSpc>
                <a:spcPct val="80000"/>
              </a:lnSpc>
            </a:pPr>
            <a:r>
              <a:rPr lang="en-US" altLang="zh-CN" sz="1200" dirty="0">
                <a:latin typeface="Times New Roman" panose="02020603050405020304" pitchFamily="18" charset="0"/>
              </a:rPr>
              <a:t>“the operations of the mind are in a certain real sense subject to laws, and that a science of the mind is therefore possible.”</a:t>
            </a:r>
            <a:endParaRPr lang="en-US" altLang="zh-CN" sz="1200" dirty="0">
              <a:latin typeface="Times New Roman" panose="02020603050405020304" pitchFamily="18" charset="0"/>
            </a:endParaRPr>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离散数学中称为合取</a:t>
            </a:r>
            <a:r>
              <a:rPr lang="zh-CN" altLang="en-US" sz="1200" dirty="0">
                <a:solidFill>
                  <a:schemeClr val="tx2"/>
                </a:solidFill>
              </a:rPr>
              <a:t>∧和</a:t>
            </a:r>
            <a:r>
              <a:rPr lang="zh-CN" altLang="en-US" dirty="0"/>
              <a:t>析取</a:t>
            </a:r>
            <a:r>
              <a:rPr lang="zh-CN" altLang="en-US" sz="1200" dirty="0">
                <a:solidFill>
                  <a:schemeClr val="tx2"/>
                </a:solidFill>
              </a:rPr>
              <a:t>∨操作。</a:t>
            </a:r>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mc:AlternateContent xmlns:mc="http://schemas.openxmlformats.org/markup-compatibility/2006">
        <mc:Choice xmlns:a14="http://schemas.microsoft.com/office/drawing/2010/main" Requires="a14">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dirty="0"/>
                  <a:t>证明方法：用其它公理或定理来证明，完备归纳法</a:t>
                </a:r>
                <a:endParaRPr lang="zh-CN" altLang="en-US" sz="1200" dirty="0"/>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sz="1200" dirty="0"/>
                  <a:t>Y·Z</a:t>
                </a:r>
                <a:r>
                  <a:rPr lang="zh-CN" altLang="en-US" sz="1200" dirty="0"/>
                  <a:t>称为一致项</a:t>
                </a:r>
                <a:r>
                  <a:rPr lang="en-US" altLang="zh-CN" sz="1200" dirty="0"/>
                  <a:t>/</a:t>
                </a:r>
                <a:r>
                  <a:rPr lang="zh-CN" altLang="en-US" sz="1200" dirty="0"/>
                  <a:t>冗余项，若</a:t>
                </a:r>
                <a:r>
                  <a:rPr lang="en-US" altLang="zh-CN" sz="1200" dirty="0"/>
                  <a:t>Y·Z</a:t>
                </a:r>
                <a:r>
                  <a:rPr lang="zh-CN" altLang="en-US" sz="1200" dirty="0"/>
                  <a:t>为</a:t>
                </a:r>
                <a:r>
                  <a:rPr lang="en-US" altLang="zh-CN" sz="1200" dirty="0"/>
                  <a:t>1</a:t>
                </a:r>
                <a:r>
                  <a:rPr lang="zh-CN" altLang="en-US" sz="1200" dirty="0"/>
                  <a:t>，则</a:t>
                </a:r>
                <a:r>
                  <a:rPr lang="en-US" altLang="zh-CN" sz="1200" dirty="0"/>
                  <a:t>X·Y</a:t>
                </a:r>
                <a:r>
                  <a:rPr lang="zh-CN" altLang="en-US" sz="1200" dirty="0"/>
                  <a:t>和</a:t>
                </a:r>
                <a14:m>
                  <m:oMath xmlns:m="http://schemas.openxmlformats.org/officeDocument/2006/math">
                    <m:acc>
                      <m:accPr>
                        <m:chr m:val="̅"/>
                        <m:ctrlPr>
                          <a:rPr lang="en-US" altLang="zh-CN" sz="1200" i="1">
                            <a:latin typeface="Cambria Math" panose="02040503050406030204" pitchFamily="18" charset="0"/>
                            <a:ea typeface="Cambria Math" panose="02040503050406030204" pitchFamily="18" charset="0"/>
                          </a:rPr>
                        </m:ctrlPr>
                      </m:accPr>
                      <m:e>
                        <m:r>
                          <a:rPr lang="en-US" altLang="zh-CN" sz="1200" i="1">
                            <a:latin typeface="Cambria Math" panose="02040503050406030204" pitchFamily="18" charset="0"/>
                            <a:ea typeface="Cambria Math" panose="02040503050406030204" pitchFamily="18" charset="0"/>
                          </a:rPr>
                          <m:t>𝑋</m:t>
                        </m:r>
                      </m:e>
                    </m:acc>
                  </m:oMath>
                </a14:m>
                <a:r>
                  <a:rPr lang="en-US" altLang="zh-CN" sz="1200" dirty="0"/>
                  <a:t>·Z</a:t>
                </a:r>
                <a:r>
                  <a:rPr lang="zh-CN" altLang="en-US" sz="1200" dirty="0"/>
                  <a:t>必有一个为</a:t>
                </a:r>
                <a:r>
                  <a:rPr lang="en-US" altLang="zh-CN" sz="1200" dirty="0"/>
                  <a:t>1</a:t>
                </a:r>
                <a:endParaRPr lang="zh-CN" altLang="en-US" sz="1200" dirty="0"/>
              </a:p>
              <a:p>
                <a:endParaRPr lang="zh-CN" altLang="en-US" dirty="0"/>
              </a:p>
            </p:txBody>
          </p:sp>
        </mc:Choice>
        <mc:Fallback>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证明</a:t>
            </a:r>
            <a:r>
              <a:rPr lang="en-US" altLang="zh-CN" dirty="0"/>
              <a:t>5</a:t>
            </a:r>
            <a:r>
              <a:rPr lang="zh-CN" altLang="en-US" dirty="0"/>
              <a:t>（</a:t>
            </a:r>
            <a:r>
              <a:rPr lang="en-US" altLang="zh-CN" dirty="0"/>
              <a:t>a</a:t>
            </a:r>
            <a:r>
              <a:rPr lang="zh-CN" altLang="en-US" dirty="0"/>
              <a:t>） </a:t>
            </a:r>
            <a:r>
              <a:rPr lang="en-US" altLang="zh-CN" dirty="0" err="1"/>
              <a:t>x+x’y</a:t>
            </a:r>
            <a:r>
              <a:rPr lang="en-US" altLang="zh-CN" dirty="0"/>
              <a:t>=</a:t>
            </a:r>
            <a:r>
              <a:rPr lang="en-US" altLang="zh-CN" dirty="0" err="1"/>
              <a:t>x+xy+x’y</a:t>
            </a:r>
            <a:r>
              <a:rPr lang="en-US" altLang="zh-CN" dirty="0"/>
              <a:t> =x+(</a:t>
            </a:r>
            <a:r>
              <a:rPr lang="en-US" altLang="zh-CN" dirty="0" err="1"/>
              <a:t>x+x</a:t>
            </a:r>
            <a:r>
              <a:rPr lang="en-US" altLang="zh-CN" dirty="0"/>
              <a:t>’)y=</a:t>
            </a:r>
            <a:r>
              <a:rPr lang="en-US" altLang="zh-CN" dirty="0" err="1"/>
              <a:t>x+y</a:t>
            </a:r>
            <a:r>
              <a:rPr lang="en-US" altLang="zh-CN" dirty="0"/>
              <a:t> </a:t>
            </a:r>
            <a:r>
              <a:rPr lang="zh-CN" altLang="en-US" dirty="0"/>
              <a:t>定理</a:t>
            </a:r>
            <a:r>
              <a:rPr lang="en-US" altLang="zh-CN" dirty="0"/>
              <a:t>4</a:t>
            </a:r>
            <a:r>
              <a:rPr lang="zh-CN" altLang="en-US" dirty="0"/>
              <a:t>（</a:t>
            </a:r>
            <a:r>
              <a:rPr lang="en-US" altLang="zh-CN" dirty="0"/>
              <a:t>a)</a:t>
            </a:r>
            <a:endParaRPr lang="en-US" altLang="zh-CN" dirty="0"/>
          </a:p>
          <a:p>
            <a:r>
              <a:rPr lang="zh-CN" altLang="en-US" dirty="0"/>
              <a:t>第</a:t>
            </a:r>
            <a:r>
              <a:rPr lang="en-US" altLang="zh-CN" dirty="0"/>
              <a:t>2</a:t>
            </a:r>
            <a:r>
              <a:rPr lang="zh-CN" altLang="en-US" dirty="0"/>
              <a:t>中方法</a:t>
            </a:r>
            <a:r>
              <a:rPr lang="zh-CN" altLang="en-US" baseline="0" dirty="0"/>
              <a:t> 利用公理</a:t>
            </a:r>
            <a:r>
              <a:rPr lang="en-US" altLang="zh-CN" baseline="0" dirty="0"/>
              <a:t>5</a:t>
            </a:r>
            <a:r>
              <a:rPr lang="zh-CN" altLang="en-US" baseline="0" dirty="0"/>
              <a:t>，分配律</a:t>
            </a:r>
            <a:r>
              <a:rPr lang="en-US" altLang="zh-CN" baseline="0" dirty="0" err="1"/>
              <a:t>x+x’y</a:t>
            </a:r>
            <a:r>
              <a:rPr lang="en-US" altLang="zh-CN" baseline="0" dirty="0"/>
              <a:t>=(</a:t>
            </a:r>
            <a:r>
              <a:rPr lang="en-US" altLang="zh-CN" baseline="0" dirty="0" err="1"/>
              <a:t>x+x</a:t>
            </a:r>
            <a:r>
              <a:rPr lang="en-US" altLang="zh-CN" baseline="0" dirty="0"/>
              <a:t>’)(</a:t>
            </a:r>
            <a:r>
              <a:rPr lang="en-US" altLang="zh-CN" baseline="0" dirty="0" err="1"/>
              <a:t>x+y</a:t>
            </a:r>
            <a:r>
              <a:rPr lang="en-US" altLang="zh-CN" baseline="0" dirty="0"/>
              <a:t>)=</a:t>
            </a:r>
            <a:r>
              <a:rPr lang="en-US" altLang="zh-CN" baseline="0" dirty="0" err="1"/>
              <a:t>x+y</a:t>
            </a:r>
            <a:endParaRPr lang="en-US" altLang="zh-CN" sz="2400" dirty="0">
              <a:latin typeface="Cambria Math" panose="02040503050406030204" pitchFamily="18" charset="0"/>
              <a:ea typeface="Cambria Math" panose="02040503050406030204" pitchFamily="18" charset="0"/>
            </a:endParaRPr>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特别是在</a:t>
            </a:r>
            <a:r>
              <a:rPr lang="en-US" altLang="zh-CN" dirty="0"/>
              <a:t>LUT</a:t>
            </a:r>
            <a:r>
              <a:rPr lang="zh-CN" altLang="en-US" dirty="0"/>
              <a:t>中，函数的变量数是有上限的，例如</a:t>
            </a:r>
            <a:r>
              <a:rPr lang="en-US" altLang="zh-CN" dirty="0"/>
              <a:t>6</a:t>
            </a:r>
            <a:r>
              <a:rPr lang="zh-CN" altLang="en-US" dirty="0"/>
              <a:t>个变量，则</a:t>
            </a:r>
            <a:r>
              <a:rPr lang="en-US" altLang="zh-CN" dirty="0"/>
              <a:t>7</a:t>
            </a:r>
            <a:r>
              <a:rPr lang="zh-CN" altLang="en-US" dirty="0"/>
              <a:t>、</a:t>
            </a:r>
            <a:r>
              <a:rPr lang="en-US" altLang="zh-CN" dirty="0"/>
              <a:t>8</a:t>
            </a:r>
            <a:r>
              <a:rPr lang="zh-CN" altLang="en-US" dirty="0"/>
              <a:t>个变量的函数则可以利用</a:t>
            </a:r>
            <a:r>
              <a:rPr lang="en-US" altLang="zh-CN" dirty="0"/>
              <a:t>6</a:t>
            </a:r>
            <a:r>
              <a:rPr lang="zh-CN" altLang="en-US" dirty="0"/>
              <a:t>个变量的</a:t>
            </a:r>
            <a:r>
              <a:rPr lang="en-US" altLang="zh-CN" dirty="0"/>
              <a:t>LUT</a:t>
            </a:r>
            <a:r>
              <a:rPr lang="zh-CN" altLang="en-US" dirty="0"/>
              <a:t>组合电路来实现</a:t>
            </a:r>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在逻辑电路图中广泛应用。</a:t>
            </a:r>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最小项和最大项互为反函数，反函数的反函数等于自身</a:t>
            </a:r>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en-US" altLang="zh-CN" dirty="0"/>
              <a:t>3</a:t>
            </a:r>
            <a:r>
              <a:rPr lang="zh-CN" altLang="en-US" dirty="0"/>
              <a:t>个输入变量可能的函数有</a:t>
            </a:r>
            <a:r>
              <a:rPr lang="en-US" altLang="zh-CN" dirty="0"/>
              <a:t>2^8=256</a:t>
            </a:r>
            <a:r>
              <a:rPr lang="zh-CN" altLang="en-US" dirty="0"/>
              <a:t>种</a:t>
            </a:r>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lang="en-US" altLang="zh-CN" sz="1200" dirty="0"/>
              <a:t>1</a:t>
            </a:r>
            <a:r>
              <a:rPr lang="zh-CN" altLang="en-US" sz="1200" dirty="0"/>
              <a:t>对应逻辑</a:t>
            </a:r>
            <a:r>
              <a:rPr lang="zh-CN" altLang="en-US" sz="1200" dirty="0">
                <a:solidFill>
                  <a:srgbClr val="FF0000"/>
                </a:solidFill>
              </a:rPr>
              <a:t>真</a:t>
            </a:r>
            <a:r>
              <a:rPr lang="zh-CN" altLang="en-US" sz="1200" dirty="0"/>
              <a:t>；</a:t>
            </a:r>
            <a:r>
              <a:rPr lang="en-US" altLang="zh-CN" sz="1200" dirty="0"/>
              <a:t>0</a:t>
            </a:r>
            <a:r>
              <a:rPr lang="zh-CN" altLang="en-US" sz="1200" dirty="0"/>
              <a:t>对应逻辑</a:t>
            </a:r>
            <a:r>
              <a:rPr lang="zh-CN" altLang="en-US" sz="1200" dirty="0">
                <a:solidFill>
                  <a:srgbClr val="FF0000"/>
                </a:solidFill>
              </a:rPr>
              <a:t>假</a:t>
            </a:r>
            <a:endParaRPr lang="zh-CN" altLang="en-US" sz="1200" dirty="0"/>
          </a:p>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定时图</a:t>
            </a:r>
            <a:r>
              <a:rPr lang="en-US" altLang="zh-CN" dirty="0"/>
              <a:t>/</a:t>
            </a:r>
            <a:r>
              <a:rPr lang="zh-CN" altLang="en-US" dirty="0"/>
              <a:t>时序图</a:t>
            </a:r>
            <a:r>
              <a:rPr lang="en-US" altLang="zh-CN" dirty="0"/>
              <a:t>timing diagram</a:t>
            </a:r>
            <a:endParaRPr lang="en-US" altLang="zh-CN" dirty="0"/>
          </a:p>
          <a:p>
            <a:r>
              <a:rPr lang="zh-CN" altLang="en-US" dirty="0"/>
              <a:t>逻辑</a:t>
            </a:r>
            <a:r>
              <a:rPr lang="en-US" altLang="zh-CN" dirty="0"/>
              <a:t>0</a:t>
            </a:r>
            <a:r>
              <a:rPr lang="zh-CN" altLang="en-US" dirty="0"/>
              <a:t>和</a:t>
            </a:r>
            <a:r>
              <a:rPr lang="en-US" altLang="zh-CN" dirty="0"/>
              <a:t>1</a:t>
            </a:r>
            <a:r>
              <a:rPr lang="zh-CN" altLang="en-US" dirty="0"/>
              <a:t>之间的变化不是立即变化，输出对输入变化的响应会有一点延迟。</a:t>
            </a:r>
            <a:endParaRPr lang="en-US" altLang="zh-CN" dirty="0"/>
          </a:p>
          <a:p>
            <a:r>
              <a:rPr lang="zh-CN" altLang="en-US" dirty="0"/>
              <a:t>忽略模拟定时特性</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t>标准项中每个变量可以以原变量或反变量的形式出现。对于非标准项，可利用布尔代数的互补律扩充缺失的逻辑变量从而转换为标准项。</a:t>
            </a:r>
            <a:endParaRPr lang="en-US" altLang="zh-CN" sz="1200" dirty="0"/>
          </a:p>
          <a:p>
            <a:endParaRPr lang="zh-CN" altLang="en-US" dirty="0"/>
          </a:p>
        </p:txBody>
      </p:sp>
      <p:sp>
        <p:nvSpPr>
          <p:cNvPr id="4" name="灯片编号占位符 3"/>
          <p:cNvSpPr>
            <a:spLocks noGrp="1"/>
          </p:cNvSpPr>
          <p:nvPr>
            <p:ph type="sldNum" sz="quarter" idx="5"/>
          </p:nvPr>
        </p:nvSpPr>
        <p:spPr/>
        <p:txBody>
          <a:bodyPr/>
          <a:lstStyle/>
          <a:p>
            <a:fld id="{B762BEBF-96A3-450B-A772-FAEFF39FE495}"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DA836D4F-C92A-4654-8958-E5F14232A201}" type="slidenum">
              <a:rPr lang="en-US" altLang="zh-CN"/>
            </a:fld>
            <a:endParaRPr lang="en-US" altLang="zh-CN"/>
          </a:p>
        </p:txBody>
      </p:sp>
      <p:sp>
        <p:nvSpPr>
          <p:cNvPr id="112642" name="Rectangle 2"/>
          <p:cNvSpPr>
            <a:spLocks noGrp="1" noRot="1" noChangeAspect="1" noChangeArrowheads="1" noTextEdit="1"/>
          </p:cNvSpPr>
          <p:nvPr>
            <p:ph type="sldImg"/>
          </p:nvPr>
        </p:nvSpPr>
        <p:spPr>
          <a:xfrm>
            <a:off x="992188" y="768350"/>
            <a:ext cx="5114925" cy="3836988"/>
          </a:xfrm>
        </p:spPr>
      </p:sp>
      <p:sp>
        <p:nvSpPr>
          <p:cNvPr id="112643" name="Rectangle 3"/>
          <p:cNvSpPr>
            <a:spLocks noGrp="1" noChangeArrowheads="1"/>
          </p:cNvSpPr>
          <p:nvPr>
            <p:ph type="body" idx="1"/>
          </p:nvPr>
        </p:nvSpPr>
        <p:spPr/>
        <p:txBody>
          <a:bodyPr/>
          <a:lstStyle/>
          <a:p>
            <a:r>
              <a:rPr lang="zh-CN" altLang="en-US" sz="1200" kern="1200" dirty="0">
                <a:solidFill>
                  <a:schemeClr val="tx1"/>
                </a:solidFill>
                <a:latin typeface="+mn-ea"/>
                <a:ea typeface="宋体" panose="02010600030101010101" pitchFamily="2" charset="-122"/>
                <a:cs typeface="+mn-cs"/>
              </a:rPr>
              <a:t>对于任何一个逻辑函数，它的真值表是唯一的，因而它的最小项</a:t>
            </a:r>
            <a:r>
              <a:rPr lang="zh-CN" altLang="en-US" sz="1200" kern="1200" dirty="0">
                <a:solidFill>
                  <a:schemeClr val="tx2"/>
                </a:solidFill>
                <a:latin typeface="+mn-ea"/>
                <a:ea typeface="宋体" panose="02010600030101010101" pitchFamily="2" charset="-122"/>
                <a:cs typeface="+mn-cs"/>
              </a:rPr>
              <a:t>表达式</a:t>
            </a:r>
            <a:r>
              <a:rPr lang="zh-CN" altLang="en-US" sz="1200" kern="1200" dirty="0">
                <a:solidFill>
                  <a:schemeClr val="tx1"/>
                </a:solidFill>
                <a:latin typeface="+mn-ea"/>
                <a:ea typeface="宋体" panose="02010600030101010101" pitchFamily="2" charset="-122"/>
                <a:cs typeface="+mn-cs"/>
              </a:rPr>
              <a:t>也是唯一的。</a:t>
            </a:r>
            <a:endParaRPr lang="zh-CN" altLang="en-US" sz="1200" kern="1200" dirty="0">
              <a:solidFill>
                <a:schemeClr val="tx1"/>
              </a:solidFill>
              <a:latin typeface="+mn-ea"/>
              <a:ea typeface="宋体" panose="02010600030101010101" pitchFamily="2" charset="-122"/>
              <a:cs typeface="+mn-c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en-US" altLang="zh-CN" dirty="0"/>
              <a:t>ABCD</a:t>
            </a:r>
            <a:r>
              <a:rPr lang="zh-CN" altLang="en-US" dirty="0"/>
              <a:t>组合成二进制数进行比较，最小项和最大项程序等价</a:t>
            </a:r>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一般采用两级电路</a:t>
            </a:r>
            <a:r>
              <a:rPr lang="en-US" altLang="zh-CN" dirty="0"/>
              <a:t>(Two-level Circuits),</a:t>
            </a:r>
            <a:r>
              <a:rPr lang="zh-CN" altLang="en-US" dirty="0"/>
              <a:t>输入信号通过两级门到达输出信号</a:t>
            </a:r>
            <a:r>
              <a:rPr lang="en-US" altLang="zh-CN" dirty="0"/>
              <a:t>,</a:t>
            </a:r>
            <a:r>
              <a:rPr lang="zh-CN" altLang="en-US" dirty="0"/>
              <a:t>采用多于两级是基于扇入</a:t>
            </a:r>
            <a:r>
              <a:rPr lang="en-US" altLang="zh-CN" dirty="0"/>
              <a:t>(Fan-in)</a:t>
            </a:r>
            <a:r>
              <a:rPr lang="zh-CN" altLang="en-US" dirty="0"/>
              <a:t>限制或电路速度方面的考虑。</a:t>
            </a:r>
            <a:endParaRPr lang="zh-CN" altLang="en-US" dirty="0"/>
          </a:p>
          <a:p>
            <a:r>
              <a:rPr lang="zh-CN" altLang="en-US" sz="1200" dirty="0"/>
              <a:t>在多数系统中，“与非门”和“或非门”的速度比“与门”和“或门”速度</a:t>
            </a:r>
            <a:r>
              <a:rPr lang="zh-CN" altLang="en-US" sz="1200" b="1" dirty="0">
                <a:solidFill>
                  <a:srgbClr val="FF0000"/>
                </a:solidFill>
              </a:rPr>
              <a:t>快</a:t>
            </a:r>
            <a:r>
              <a:rPr lang="zh-CN" altLang="en-US" sz="1200" dirty="0"/>
              <a:t>。可用与非门替代与门</a:t>
            </a:r>
            <a:endParaRPr lang="zh-CN" altLang="en-US" dirty="0"/>
          </a:p>
          <a:p>
            <a:r>
              <a:rPr lang="zh-CN" altLang="en-US" dirty="0">
                <a:solidFill>
                  <a:srgbClr val="FF0000"/>
                </a:solidFill>
              </a:rPr>
              <a:t>减少输入变量的数目</a:t>
            </a:r>
            <a:endParaRPr lang="en-US" altLang="zh-CN" dirty="0">
              <a:solidFill>
                <a:srgbClr val="FF0000"/>
              </a:solidFill>
            </a:endParaRPr>
          </a:p>
          <a:p>
            <a:pPr lvl="1"/>
            <a:r>
              <a:rPr lang="zh-CN" altLang="en-US" dirty="0"/>
              <a:t>输入变量</a:t>
            </a:r>
            <a:endParaRPr lang="en-US" altLang="zh-CN" dirty="0"/>
          </a:p>
          <a:p>
            <a:pPr lvl="2"/>
            <a:r>
              <a:rPr lang="zh-CN" altLang="en-US" dirty="0"/>
              <a:t>大概估计一个输入变量</a:t>
            </a:r>
            <a:r>
              <a:rPr lang="en-US" altLang="zh-CN" dirty="0"/>
              <a:t>2</a:t>
            </a:r>
            <a:r>
              <a:rPr lang="zh-CN" altLang="en-US" dirty="0"/>
              <a:t>个晶体管</a:t>
            </a:r>
            <a:endParaRPr lang="zh-CN" altLang="en-US" dirty="0"/>
          </a:p>
          <a:p>
            <a:pPr lvl="2"/>
            <a:r>
              <a:rPr lang="zh-CN" altLang="en-US" dirty="0"/>
              <a:t>为什么不算非门？</a:t>
            </a:r>
            <a:endParaRPr lang="zh-CN" altLang="en-US" dirty="0"/>
          </a:p>
          <a:p>
            <a:pPr lvl="1"/>
            <a:r>
              <a:rPr lang="zh-CN" altLang="en-US" dirty="0"/>
              <a:t>较少的输入变量意味着较少的晶体管</a:t>
            </a:r>
            <a:endParaRPr lang="en-US" altLang="zh-CN" dirty="0"/>
          </a:p>
          <a:p>
            <a:pPr lvl="2"/>
            <a:r>
              <a:rPr lang="zh-CN" altLang="en-US" dirty="0"/>
              <a:t>更小的电路</a:t>
            </a:r>
            <a:endParaRPr lang="zh-CN" altLang="en-US" dirty="0"/>
          </a:p>
          <a:p>
            <a:pPr lvl="1"/>
            <a:r>
              <a:rPr lang="zh-CN" altLang="en-US" dirty="0"/>
              <a:t>较少的输入意味着较快的门</a:t>
            </a:r>
            <a:endParaRPr lang="en-US" altLang="zh-CN" dirty="0"/>
          </a:p>
          <a:p>
            <a:pPr lvl="2"/>
            <a:r>
              <a:rPr lang="zh-CN" altLang="en-US" dirty="0"/>
              <a:t>门越小越快</a:t>
            </a:r>
            <a:endParaRPr lang="zh-CN" altLang="en-US" dirty="0"/>
          </a:p>
          <a:p>
            <a:pPr lvl="1"/>
            <a:r>
              <a:rPr lang="zh-CN" altLang="en-US" dirty="0"/>
              <a:t>扇入</a:t>
            </a:r>
            <a:r>
              <a:rPr lang="en-US" altLang="zh-CN" dirty="0"/>
              <a:t>fan-ins </a:t>
            </a:r>
            <a:r>
              <a:rPr lang="zh-CN" altLang="en-US" dirty="0"/>
              <a:t>（门的输入数）由所采用的工艺限制</a:t>
            </a:r>
            <a:endParaRPr lang="zh-CN" altLang="en-US" dirty="0"/>
          </a:p>
          <a:p>
            <a:r>
              <a:rPr lang="zh-CN" altLang="en-US" dirty="0">
                <a:solidFill>
                  <a:srgbClr val="FF0000"/>
                </a:solidFill>
              </a:rPr>
              <a:t>减少门的数目</a:t>
            </a:r>
            <a:endParaRPr lang="en-US" altLang="zh-CN" dirty="0">
              <a:solidFill>
                <a:srgbClr val="FF0000"/>
              </a:solidFill>
            </a:endParaRPr>
          </a:p>
          <a:p>
            <a:pPr lvl="1"/>
            <a:r>
              <a:rPr lang="zh-CN" altLang="en-US" dirty="0"/>
              <a:t>较少的门数意味着更小的电路</a:t>
            </a:r>
            <a:endParaRPr lang="en-US" altLang="zh-CN" dirty="0"/>
          </a:p>
          <a:p>
            <a:pPr lvl="2"/>
            <a:r>
              <a:rPr lang="zh-CN" altLang="en-US" dirty="0"/>
              <a:t>直接影响制造成本</a:t>
            </a: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41786DB-640E-4636-A79B-E79079B8C1DD}" type="slidenum">
              <a:rPr lang="en-US" altLang="zh-CN"/>
            </a:fld>
            <a:endParaRPr lang="en-US" altLang="zh-CN"/>
          </a:p>
        </p:txBody>
      </p:sp>
      <p:sp>
        <p:nvSpPr>
          <p:cNvPr id="91138" name="Rectangle 2"/>
          <p:cNvSpPr>
            <a:spLocks noGrp="1" noRot="1" noChangeAspect="1" noChangeArrowheads="1" noTextEdit="1"/>
          </p:cNvSpPr>
          <p:nvPr>
            <p:ph type="sldImg"/>
          </p:nvPr>
        </p:nvSpPr>
        <p:spPr>
          <a:xfrm>
            <a:off x="992188" y="768350"/>
            <a:ext cx="5114925" cy="3836988"/>
          </a:xfrm>
        </p:spPr>
      </p:sp>
      <p:sp>
        <p:nvSpPr>
          <p:cNvPr id="91139" name="Rectangle 3"/>
          <p:cNvSpPr>
            <a:spLocks noGrp="1" noChangeArrowheads="1"/>
          </p:cNvSpPr>
          <p:nvPr>
            <p:ph type="body" idx="1"/>
          </p:nvPr>
        </p:nvSpPr>
        <p:spPr/>
        <p:txBody>
          <a:bodyPr/>
          <a:lstStyle/>
          <a:p>
            <a:r>
              <a:rPr lang="zh-CN" altLang="en-US"/>
              <a:t>切勿死记这些方法。</a:t>
            </a:r>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marL="0" marR="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后</a:t>
            </a:r>
            <a:r>
              <a:rPr lang="en-US" altLang="zh-CN" dirty="0">
                <a:sym typeface="+mn-ea"/>
              </a:rPr>
              <a:t>3</a:t>
            </a:r>
            <a:r>
              <a:rPr lang="zh-CN" altLang="en-US" dirty="0">
                <a:sym typeface="+mn-ea"/>
              </a:rPr>
              <a:t>项提取</a:t>
            </a:r>
            <a:r>
              <a:rPr lang="en-US" altLang="zh-CN" dirty="0">
                <a:sym typeface="+mn-ea"/>
              </a:rPr>
              <a:t>W’</a:t>
            </a:r>
            <a:r>
              <a:rPr lang="zh-CN" altLang="en-US" dirty="0">
                <a:sym typeface="+mn-ea"/>
              </a:rPr>
              <a:t>得到</a:t>
            </a:r>
            <a:r>
              <a:rPr lang="en-US" altLang="zh-CN" dirty="0" err="1">
                <a:sym typeface="+mn-ea"/>
              </a:rPr>
              <a:t>yz+y’z+xyz</a:t>
            </a:r>
            <a:r>
              <a:rPr lang="en-US" altLang="zh-CN" dirty="0">
                <a:sym typeface="+mn-ea"/>
              </a:rPr>
              <a:t>’=</a:t>
            </a:r>
            <a:r>
              <a:rPr lang="en-US" altLang="zh-CN" dirty="0" err="1">
                <a:sym typeface="+mn-ea"/>
              </a:rPr>
              <a:t>z+xyz</a:t>
            </a:r>
            <a:r>
              <a:rPr lang="en-US" altLang="zh-CN" dirty="0">
                <a:sym typeface="+mn-ea"/>
              </a:rPr>
              <a:t>’=</a:t>
            </a:r>
            <a:r>
              <a:rPr lang="en-US" altLang="zh-CN" dirty="0" err="1">
                <a:sym typeface="+mn-ea"/>
              </a:rPr>
              <a:t>z+xy</a:t>
            </a:r>
            <a:r>
              <a:rPr lang="zh-CN" altLang="en-US" dirty="0">
                <a:sym typeface="+mn-ea"/>
              </a:rPr>
              <a:t>，完整表示为</a:t>
            </a:r>
            <a:r>
              <a:rPr lang="en-US" altLang="zh-CN" dirty="0" err="1">
                <a:sym typeface="+mn-ea"/>
              </a:rPr>
              <a:t>w’z+w’xy</a:t>
            </a:r>
            <a:r>
              <a:rPr lang="zh-CN" altLang="en-US" dirty="0">
                <a:sym typeface="+mn-ea"/>
              </a:rPr>
              <a:t>。</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defRPr/>
            </a:pPr>
            <a:r>
              <a:rPr lang="en-US" altLang="zh-CN" dirty="0">
                <a:sym typeface="+mn-ea"/>
              </a:rPr>
              <a:t>=</a:t>
            </a:r>
            <a:r>
              <a:rPr lang="en-US" altLang="zh-CN" dirty="0" err="1">
                <a:sym typeface="+mn-ea"/>
              </a:rPr>
              <a:t>w’z+wx+xy</a:t>
            </a:r>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如何比较 有时间就介绍</a:t>
            </a:r>
            <a:r>
              <a:rPr lang="en-US" altLang="zh-CN" dirty="0"/>
              <a:t>Logisim</a:t>
            </a: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00A8151-409E-4DDB-8655-B27FF5831872}" type="slidenum">
              <a:rPr lang="en-US" altLang="zh-CN"/>
            </a:fld>
            <a:endParaRPr lang="en-US" altLang="zh-CN"/>
          </a:p>
        </p:txBody>
      </p:sp>
      <p:sp>
        <p:nvSpPr>
          <p:cNvPr id="101378" name="Rectangle 2"/>
          <p:cNvSpPr>
            <a:spLocks noGrp="1" noRot="1" noChangeAspect="1" noChangeArrowheads="1" noTextEdit="1"/>
          </p:cNvSpPr>
          <p:nvPr>
            <p:ph type="sldImg"/>
          </p:nvPr>
        </p:nvSpPr>
        <p:spPr>
          <a:xfrm>
            <a:off x="992188" y="768350"/>
            <a:ext cx="5114925" cy="3836988"/>
          </a:xfrm>
        </p:spPr>
      </p:sp>
      <p:sp>
        <p:nvSpPr>
          <p:cNvPr id="101379" name="Rectangle 3"/>
          <p:cNvSpPr>
            <a:spLocks noGrp="1" noChangeArrowheads="1"/>
          </p:cNvSpPr>
          <p:nvPr>
            <p:ph type="body" idx="1"/>
          </p:nvPr>
        </p:nvSpPr>
        <p:spPr/>
        <p:txBody>
          <a:bodyPr/>
          <a:lstStyle/>
          <a:p>
            <a:r>
              <a:rPr lang="en-US" altLang="zh-CN" dirty="0"/>
              <a:t>*</a:t>
            </a:r>
            <a:r>
              <a:rPr lang="zh-CN" altLang="en-US" dirty="0"/>
              <a:t>注：也有最大项卡诺图。最小项：</a:t>
            </a:r>
            <a:r>
              <a:rPr lang="en-US" altLang="zh-CN" dirty="0" err="1"/>
              <a:t>minterm</a:t>
            </a:r>
            <a:r>
              <a:rPr lang="zh-CN" altLang="en-US" dirty="0"/>
              <a:t>。</a:t>
            </a:r>
            <a:endParaRPr lang="zh-CN" altLang="en-US" dirty="0"/>
          </a:p>
          <a:p>
            <a:endParaRPr lang="zh-CN" altLang="en-US" dirty="0"/>
          </a:p>
          <a:p>
            <a:r>
              <a:rPr lang="zh-CN" altLang="en-US" dirty="0"/>
              <a:t>将</a:t>
            </a:r>
            <a:r>
              <a:rPr lang="en-US" altLang="zh-CN" dirty="0"/>
              <a:t>n</a:t>
            </a:r>
            <a:r>
              <a:rPr lang="zh-CN" altLang="en-US" dirty="0"/>
              <a:t>个变量的全部最小项分别用一个个小方格表示，并使具有逻辑相邻性的最小项在几何位置上也相邻地排列，所得的图形被称为（全称）</a:t>
            </a:r>
            <a:r>
              <a:rPr lang="en-US" altLang="zh-CN" dirty="0"/>
              <a:t>n</a:t>
            </a:r>
            <a:r>
              <a:rPr lang="zh-CN" altLang="en-US" dirty="0"/>
              <a:t>变量最小项卡诺图。</a:t>
            </a:r>
            <a:endParaRPr lang="zh-CN" alt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00A8151-409E-4DDB-8655-B27FF5831872}" type="slidenum">
              <a:rPr lang="en-US" altLang="zh-CN"/>
            </a:fld>
            <a:endParaRPr lang="en-US" altLang="zh-CN"/>
          </a:p>
        </p:txBody>
      </p:sp>
      <p:sp>
        <p:nvSpPr>
          <p:cNvPr id="101378" name="Rectangle 2"/>
          <p:cNvSpPr>
            <a:spLocks noGrp="1" noRot="1" noChangeAspect="1" noChangeArrowheads="1" noTextEdit="1"/>
          </p:cNvSpPr>
          <p:nvPr>
            <p:ph type="sldImg"/>
          </p:nvPr>
        </p:nvSpPr>
        <p:spPr>
          <a:xfrm>
            <a:off x="992188" y="768350"/>
            <a:ext cx="5114925" cy="3836988"/>
          </a:xfrm>
        </p:spPr>
      </p:sp>
      <p:sp>
        <p:nvSpPr>
          <p:cNvPr id="101379" name="Rectangle 3"/>
          <p:cNvSpPr>
            <a:spLocks noGrp="1" noChangeArrowheads="1"/>
          </p:cNvSpPr>
          <p:nvPr>
            <p:ph type="body" idx="1"/>
          </p:nvPr>
        </p:nvSpPr>
        <p:spPr/>
        <p:txBody>
          <a:bodyPr/>
          <a:lstStyle/>
          <a:p>
            <a:r>
              <a:rPr lang="en-US" altLang="zh-CN" dirty="0"/>
              <a:t>*</a:t>
            </a:r>
            <a:r>
              <a:rPr lang="zh-CN" altLang="en-US" dirty="0"/>
              <a:t>注：也有最大项卡诺图。最小项：</a:t>
            </a:r>
            <a:r>
              <a:rPr lang="en-US" altLang="zh-CN" dirty="0" err="1"/>
              <a:t>minterm</a:t>
            </a:r>
            <a:r>
              <a:rPr lang="zh-CN" altLang="en-US" dirty="0"/>
              <a:t>。</a:t>
            </a:r>
            <a:endParaRPr lang="zh-CN" altLang="en-US" dirty="0"/>
          </a:p>
          <a:p>
            <a:endParaRPr lang="zh-CN" altLang="en-US" dirty="0"/>
          </a:p>
          <a:p>
            <a:r>
              <a:rPr lang="zh-CN" altLang="en-US" dirty="0"/>
              <a:t>将</a:t>
            </a:r>
            <a:r>
              <a:rPr lang="en-US" altLang="zh-CN" dirty="0"/>
              <a:t>n</a:t>
            </a:r>
            <a:r>
              <a:rPr lang="zh-CN" altLang="en-US" dirty="0"/>
              <a:t>个变量的全部最小项分别用一个个小方格表示，并使具有逻辑相邻性的最小项在几何位置上也相邻地排列，所得的图形被称为（全称）</a:t>
            </a:r>
            <a:r>
              <a:rPr lang="en-US" altLang="zh-CN" dirty="0"/>
              <a:t>n</a:t>
            </a:r>
            <a:r>
              <a:rPr lang="zh-CN" altLang="en-US" dirty="0"/>
              <a:t>变量最小项卡诺图。</a:t>
            </a:r>
            <a:endParaRPr lang="zh-CN" alt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a:lnSpc>
                <a:spcPct val="120000"/>
              </a:lnSpc>
              <a:spcBef>
                <a:spcPts val="0"/>
              </a:spcBef>
            </a:pPr>
            <a:r>
              <a:rPr lang="zh-CN" altLang="en-US" sz="3200" dirty="0">
                <a:solidFill>
                  <a:srgbClr val="FF0000"/>
                </a:solidFill>
              </a:rPr>
              <a:t>奇异“</a:t>
            </a:r>
            <a:r>
              <a:rPr lang="en-US" altLang="zh-CN" sz="3200" dirty="0">
                <a:solidFill>
                  <a:srgbClr val="FF0000"/>
                </a:solidFill>
              </a:rPr>
              <a:t>1</a:t>
            </a:r>
            <a:r>
              <a:rPr lang="zh-CN" altLang="en-US" sz="3200" dirty="0">
                <a:solidFill>
                  <a:srgbClr val="FF0000"/>
                </a:solidFill>
              </a:rPr>
              <a:t>”单元</a:t>
            </a:r>
            <a:r>
              <a:rPr lang="en-US" altLang="zh-CN" sz="3200" dirty="0">
                <a:solidFill>
                  <a:srgbClr val="FF0000"/>
                </a:solidFill>
              </a:rPr>
              <a:t>(distinguished 1-cell)</a:t>
            </a:r>
            <a:r>
              <a:rPr lang="zh-CN" altLang="en-US" sz="3200" dirty="0"/>
              <a:t>：仅被一个实质蕴含项覆盖的最小项。</a:t>
            </a:r>
            <a:endParaRPr lang="zh-CN" altLang="en-US" sz="3200" dirty="0"/>
          </a:p>
          <a:p>
            <a:r>
              <a:rPr lang="zh-CN" altLang="en-US" sz="3200" dirty="0"/>
              <a:t>如何化简逻辑函数</a:t>
            </a:r>
            <a:r>
              <a:rPr lang="en-US" altLang="zh-CN" sz="3200" dirty="0"/>
              <a:t>——</a:t>
            </a:r>
            <a:r>
              <a:rPr lang="zh-CN" altLang="en-US" sz="3200" dirty="0"/>
              <a:t>最小化</a:t>
            </a:r>
            <a:r>
              <a:rPr lang="en-US" altLang="zh-CN" sz="3200" dirty="0"/>
              <a:t>(Minimize)</a:t>
            </a:r>
            <a:endParaRPr lang="en-US" altLang="zh-CN" sz="3200" dirty="0"/>
          </a:p>
          <a:p>
            <a:pPr lvl="1"/>
            <a:r>
              <a:rPr lang="zh-CN" altLang="en-US" sz="2800" dirty="0"/>
              <a:t> </a:t>
            </a:r>
            <a:r>
              <a:rPr lang="en-US" altLang="zh-CN" sz="2800" dirty="0"/>
              <a:t>(</a:t>
            </a:r>
            <a:r>
              <a:rPr lang="zh-CN" altLang="en-US" sz="2800" dirty="0"/>
              <a:t>主蕴涵项</a:t>
            </a:r>
            <a:r>
              <a:rPr lang="en-US" altLang="zh-CN" sz="2800" dirty="0"/>
              <a:t>)</a:t>
            </a:r>
            <a:r>
              <a:rPr lang="zh-CN" altLang="en-US" sz="2800" dirty="0"/>
              <a:t>定理：最简“积之和”是主蕴涵项之和</a:t>
            </a:r>
            <a:endParaRPr lang="zh-CN" altLang="en-US" sz="2800" dirty="0"/>
          </a:p>
          <a:p>
            <a:r>
              <a:rPr lang="zh-CN" altLang="en-US" sz="3200" dirty="0"/>
              <a:t> 蕴涵项</a:t>
            </a:r>
            <a:r>
              <a:rPr lang="en-US" altLang="zh-CN" sz="3200" dirty="0"/>
              <a:t>(</a:t>
            </a:r>
            <a:r>
              <a:rPr lang="en-US" altLang="zh-CN" sz="3200" dirty="0" err="1"/>
              <a:t>Implicant</a:t>
            </a:r>
            <a:r>
              <a:rPr lang="en-US" altLang="zh-CN" sz="3200" dirty="0"/>
              <a:t>)</a:t>
            </a:r>
            <a:endParaRPr lang="en-US" altLang="zh-CN" sz="3200" dirty="0"/>
          </a:p>
          <a:p>
            <a:pPr lvl="1"/>
            <a:r>
              <a:rPr lang="zh-CN" altLang="en-US" sz="2800" dirty="0"/>
              <a:t> 任何积项都称为蕴涵项，与卡诺图中的圈对应</a:t>
            </a:r>
            <a:endParaRPr lang="zh-CN" altLang="en-US" sz="2800" dirty="0"/>
          </a:p>
          <a:p>
            <a:r>
              <a:rPr lang="zh-CN" altLang="en-US" sz="3200" dirty="0"/>
              <a:t> 主蕴涵项</a:t>
            </a:r>
            <a:r>
              <a:rPr lang="en-US" altLang="zh-CN" sz="3200" dirty="0"/>
              <a:t>(Prime </a:t>
            </a:r>
            <a:r>
              <a:rPr lang="en-US" altLang="zh-CN" sz="3200" dirty="0" err="1"/>
              <a:t>implicant</a:t>
            </a:r>
            <a:r>
              <a:rPr lang="en-US" altLang="zh-CN" sz="3200" dirty="0"/>
              <a:t>)</a:t>
            </a:r>
            <a:endParaRPr lang="en-US" altLang="zh-CN" sz="3200" dirty="0"/>
          </a:p>
          <a:p>
            <a:pPr lvl="1"/>
            <a:r>
              <a:rPr lang="zh-CN" altLang="en-US" sz="2800" dirty="0"/>
              <a:t> 也称“本原蕴涵项”或“素项”</a:t>
            </a:r>
            <a:endParaRPr lang="zh-CN" altLang="en-US" sz="2800" dirty="0"/>
          </a:p>
          <a:p>
            <a:pPr lvl="1"/>
            <a:r>
              <a:rPr lang="zh-CN" altLang="en-US" sz="2800" dirty="0"/>
              <a:t> 定义若逻辑函数的积项</a:t>
            </a:r>
            <a:r>
              <a:rPr lang="en-US" altLang="zh-CN" sz="2800" dirty="0"/>
              <a:t>P</a:t>
            </a:r>
            <a:r>
              <a:rPr lang="zh-CN" altLang="en-US" sz="2800" dirty="0"/>
              <a:t>再也不能同其它积项合并以组成变量个数更少的积项，则称</a:t>
            </a:r>
            <a:r>
              <a:rPr lang="en-US" altLang="zh-CN" sz="2800" dirty="0"/>
              <a:t>P</a:t>
            </a:r>
            <a:r>
              <a:rPr lang="zh-CN" altLang="en-US" sz="2800" dirty="0"/>
              <a:t>为主蕴涵项</a:t>
            </a:r>
            <a:endParaRPr lang="zh-CN" altLang="en-US" sz="2800" dirty="0"/>
          </a:p>
          <a:p>
            <a:pPr lvl="1"/>
            <a:r>
              <a:rPr lang="zh-CN" altLang="en-US" sz="2800" dirty="0"/>
              <a:t> 对应卡诺图中</a:t>
            </a:r>
            <a:r>
              <a:rPr lang="zh-CN" altLang="en-US" sz="2800" dirty="0">
                <a:solidFill>
                  <a:srgbClr val="FF0000"/>
                </a:solidFill>
              </a:rPr>
              <a:t>最大的圈</a:t>
            </a:r>
            <a:endParaRPr lang="zh-CN" altLang="en-US" sz="2800" dirty="0">
              <a:solidFill>
                <a:srgbClr val="FF0000"/>
              </a:solidFill>
            </a:endParaRPr>
          </a:p>
          <a:p>
            <a:r>
              <a:rPr lang="zh-CN" altLang="en-US" sz="2800" dirty="0">
                <a:solidFill>
                  <a:srgbClr val="FF0000"/>
                </a:solidFill>
              </a:rPr>
              <a:t>质</a:t>
            </a:r>
            <a:r>
              <a:rPr lang="zh-CN" altLang="en-US" sz="2800" dirty="0"/>
              <a:t>主蕴涵项</a:t>
            </a:r>
            <a:r>
              <a:rPr lang="en-US" altLang="zh-CN" sz="2800" dirty="0"/>
              <a:t>(Essential prime </a:t>
            </a:r>
            <a:r>
              <a:rPr lang="en-US" altLang="zh-CN" sz="2800" dirty="0" err="1"/>
              <a:t>implicant</a:t>
            </a:r>
            <a:r>
              <a:rPr lang="en-US" altLang="zh-CN" sz="2800" dirty="0"/>
              <a:t>)</a:t>
            </a:r>
            <a:endParaRPr lang="en-US" altLang="zh-CN" sz="2800" dirty="0"/>
          </a:p>
          <a:p>
            <a:pPr lvl="1"/>
            <a:r>
              <a:rPr lang="zh-CN" altLang="en-US" sz="2400" dirty="0"/>
              <a:t> 定义：不能被其它蕴涵项代替的主蕴涵项；至少包含一个不能被其它任何主蕴涵项所覆盖的最小项</a:t>
            </a:r>
            <a:endParaRPr lang="zh-CN" altLang="en-US" sz="2400" dirty="0"/>
          </a:p>
          <a:p>
            <a:pPr lvl="1"/>
            <a:r>
              <a:rPr lang="zh-CN" altLang="en-US" sz="2400" dirty="0"/>
              <a:t> 也称“必要素项”，对应卡诺图中</a:t>
            </a:r>
            <a:r>
              <a:rPr lang="zh-CN" altLang="en-US" sz="2400" dirty="0">
                <a:solidFill>
                  <a:srgbClr val="FF0000"/>
                </a:solidFill>
              </a:rPr>
              <a:t>必不可少</a:t>
            </a:r>
            <a:r>
              <a:rPr lang="zh-CN" altLang="en-US" sz="2400" dirty="0"/>
              <a:t>的最大圈</a:t>
            </a:r>
            <a:endParaRPr lang="zh-CN" altLang="en-US" sz="2400" dirty="0"/>
          </a:p>
          <a:p>
            <a:r>
              <a:rPr lang="zh-CN" altLang="en-US" sz="2800" dirty="0"/>
              <a:t> 覆盖</a:t>
            </a:r>
            <a:r>
              <a:rPr lang="en-US" altLang="zh-CN" sz="2800" dirty="0"/>
              <a:t>(Cover)</a:t>
            </a:r>
            <a:endParaRPr lang="en-US" altLang="zh-CN" sz="2800" dirty="0"/>
          </a:p>
          <a:p>
            <a:pPr lvl="1"/>
            <a:r>
              <a:rPr lang="zh-CN" altLang="en-US" sz="2400" dirty="0"/>
              <a:t> 若逻辑函数的所有最小项被</a:t>
            </a:r>
            <a:r>
              <a:rPr lang="en-US" altLang="zh-CN" sz="2400" dirty="0"/>
              <a:t>1</a:t>
            </a:r>
            <a:r>
              <a:rPr lang="zh-CN" altLang="en-US" sz="2400" dirty="0"/>
              <a:t>组蕴涵项所包含，则该组蕴涵项称为函数的</a:t>
            </a:r>
            <a:r>
              <a:rPr lang="en-US" altLang="zh-CN" sz="2400" dirty="0"/>
              <a:t>1</a:t>
            </a:r>
            <a:r>
              <a:rPr lang="zh-CN" altLang="en-US" sz="2400" dirty="0"/>
              <a:t>个覆盖</a:t>
            </a:r>
            <a:endParaRPr lang="zh-CN" altLang="en-US" sz="2400" dirty="0"/>
          </a:p>
          <a:p>
            <a:r>
              <a:rPr lang="zh-CN" altLang="en-US" sz="2800" dirty="0"/>
              <a:t> 最小覆盖</a:t>
            </a:r>
            <a:r>
              <a:rPr lang="en-US" altLang="zh-CN" sz="2800" dirty="0"/>
              <a:t>(Minimal cover)</a:t>
            </a:r>
            <a:endParaRPr lang="en-US" altLang="zh-CN" sz="2800" dirty="0"/>
          </a:p>
          <a:p>
            <a:pPr lvl="1"/>
            <a:r>
              <a:rPr lang="zh-CN" altLang="en-US" sz="2400" dirty="0"/>
              <a:t> 是</a:t>
            </a:r>
            <a:r>
              <a:rPr lang="en-US" altLang="zh-CN" sz="2400" dirty="0"/>
              <a:t>1</a:t>
            </a:r>
            <a:r>
              <a:rPr lang="zh-CN" altLang="en-US" sz="2400" dirty="0"/>
              <a:t>个包含最少主蕴涵项和最少符号数的覆盖</a:t>
            </a:r>
            <a:endParaRPr lang="zh-CN" altLang="en-US" sz="2400" dirty="0"/>
          </a:p>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与教材上卡诺图最小项分布不同，结果相同</a:t>
            </a:r>
            <a:endParaRPr lang="en-US" altLang="zh-CN" dirty="0"/>
          </a:p>
          <a:p>
            <a:r>
              <a:rPr lang="zh-CN" altLang="en-US" dirty="0"/>
              <a:t>讲解生成蕴含项的过程，写出变量组合</a:t>
            </a:r>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质蕴涵项：尽可能找最大的卡诺圈</a:t>
            </a:r>
            <a:endParaRPr lang="en-US" altLang="zh-CN" dirty="0"/>
          </a:p>
          <a:p>
            <a:pPr lvl="1"/>
            <a:r>
              <a:rPr lang="zh-CN" altLang="en-US" dirty="0"/>
              <a:t>附加的知识：</a:t>
            </a:r>
            <a:endParaRPr lang="zh-CN" altLang="en-US" dirty="0"/>
          </a:p>
          <a:p>
            <a:pPr lvl="1"/>
            <a:r>
              <a:rPr lang="zh-CN" altLang="en-US" dirty="0"/>
              <a:t>完备的步骤是</a:t>
            </a:r>
            <a:endParaRPr lang="zh-CN" altLang="en-US" dirty="0"/>
          </a:p>
          <a:p>
            <a:pPr lvl="1"/>
            <a:r>
              <a:rPr lang="en-US" altLang="zh-CN" dirty="0"/>
              <a:t>Step 1. </a:t>
            </a:r>
            <a:r>
              <a:rPr lang="zh-CN" altLang="en-US" dirty="0"/>
              <a:t>建立逻辑函数的卡诺图；</a:t>
            </a:r>
            <a:endParaRPr lang="zh-CN" altLang="en-US" dirty="0"/>
          </a:p>
          <a:p>
            <a:pPr lvl="1"/>
            <a:r>
              <a:rPr lang="en-US" altLang="zh-CN" dirty="0"/>
              <a:t>Step 2. </a:t>
            </a:r>
            <a:r>
              <a:rPr lang="zh-CN" altLang="en-US" dirty="0"/>
              <a:t>圈出所有的本源蕴涵项（素项）</a:t>
            </a:r>
            <a:r>
              <a:rPr lang="en-US" altLang="zh-CN" dirty="0"/>
              <a:t>—— </a:t>
            </a:r>
            <a:r>
              <a:rPr lang="zh-CN" altLang="en-US" dirty="0"/>
              <a:t>最大合并范围的卡诺圈所圈定的合并项；</a:t>
            </a:r>
            <a:endParaRPr lang="zh-CN" altLang="en-US" dirty="0"/>
          </a:p>
          <a:p>
            <a:pPr lvl="1"/>
            <a:r>
              <a:rPr lang="en-US" altLang="zh-CN" dirty="0"/>
              <a:t>Step 3. </a:t>
            </a:r>
            <a:r>
              <a:rPr lang="zh-CN" altLang="en-US" dirty="0"/>
              <a:t>确定实质蕴涵项 </a:t>
            </a:r>
            <a:r>
              <a:rPr lang="en-US" altLang="zh-CN" dirty="0"/>
              <a:t>—— </a:t>
            </a:r>
            <a:r>
              <a:rPr lang="zh-CN" altLang="en-US" dirty="0"/>
              <a:t>逻辑函数的表达式为最简时的蕴涵项叫作实质蕴涵项，实质素项的特点是至少包含一个实质最小项，所谓实质最小项是指只被合并了一次的最小项；</a:t>
            </a:r>
            <a:endParaRPr lang="zh-CN" altLang="en-US" dirty="0"/>
          </a:p>
          <a:p>
            <a:pPr lvl="1"/>
            <a:r>
              <a:rPr lang="en-US" altLang="zh-CN" dirty="0"/>
              <a:t>Step 4. </a:t>
            </a:r>
            <a:r>
              <a:rPr lang="zh-CN" altLang="en-US" dirty="0"/>
              <a:t>写出函数的最简逻辑表达式 </a:t>
            </a:r>
            <a:r>
              <a:rPr lang="en-US" altLang="zh-CN" dirty="0"/>
              <a:t>—— </a:t>
            </a:r>
            <a:r>
              <a:rPr lang="zh-CN" altLang="en-US" dirty="0"/>
              <a:t>最小实质素项集。</a:t>
            </a:r>
            <a:endParaRPr lang="zh-CN" altLang="en-US" dirty="0"/>
          </a:p>
          <a:p>
            <a:pPr lvl="1"/>
            <a:endParaRPr lang="zh-CN" altLang="en-US" dirty="0"/>
          </a:p>
          <a:p>
            <a:pPr lvl="1"/>
            <a:endParaRPr lang="zh-CN" altLang="en-US" dirty="0"/>
          </a:p>
          <a:p>
            <a:pPr lvl="1"/>
            <a:r>
              <a:rPr lang="zh-CN" altLang="en-US" dirty="0"/>
              <a:t>注：与项 是 升蕴涵项，</a:t>
            </a:r>
            <a:endParaRPr lang="zh-CN" altLang="en-US" dirty="0"/>
          </a:p>
          <a:p>
            <a:r>
              <a:rPr lang="zh-CN" altLang="en-US" dirty="0"/>
              <a:t>所谓“</a:t>
            </a:r>
            <a:r>
              <a:rPr lang="en-US" altLang="zh-CN" dirty="0"/>
              <a:t>1”</a:t>
            </a:r>
            <a:r>
              <a:rPr lang="zh-CN" altLang="en-US" dirty="0"/>
              <a:t>格不能漏圈</a:t>
            </a:r>
            <a:r>
              <a:rPr lang="en-US" altLang="zh-CN" dirty="0"/>
              <a:t>——</a:t>
            </a:r>
            <a:r>
              <a:rPr lang="zh-CN" altLang="en-US" dirty="0"/>
              <a:t>卡诺圈应覆盖卡诺图中所有的“</a:t>
            </a:r>
            <a:r>
              <a:rPr lang="en-US" altLang="zh-CN" dirty="0"/>
              <a:t>1”</a:t>
            </a:r>
            <a:r>
              <a:rPr lang="zh-CN" altLang="en-US" dirty="0"/>
              <a:t>格。</a:t>
            </a:r>
            <a:endParaRPr lang="zh-CN" altLang="en-US" dirty="0"/>
          </a:p>
          <a:p>
            <a:endParaRPr lang="zh-CN" altLang="en-US" dirty="0"/>
          </a:p>
          <a:p>
            <a:r>
              <a:rPr lang="zh-CN" altLang="en-US" dirty="0"/>
              <a:t>圈的面积尽可能大</a:t>
            </a:r>
            <a:r>
              <a:rPr lang="en-US" altLang="zh-CN" dirty="0"/>
              <a:t>——“ the largest circle of power 2 cells ”</a:t>
            </a:r>
            <a:endParaRPr lang="en-US" altLang="zh-CN" dirty="0"/>
          </a:p>
          <a:p>
            <a:r>
              <a:rPr lang="en-US" altLang="zh-CN" dirty="0"/>
              <a:t>“</a:t>
            </a:r>
            <a:r>
              <a:rPr lang="zh-CN" altLang="en-US" dirty="0"/>
              <a:t>格” </a:t>
            </a:r>
            <a:r>
              <a:rPr lang="en-US" altLang="zh-CN" dirty="0"/>
              <a:t>-- cell</a:t>
            </a:r>
            <a:endParaRPr lang="en-US" altLang="zh-CN" dirty="0"/>
          </a:p>
          <a:p>
            <a:endParaRPr lang="en-US" altLang="zh-CN" dirty="0"/>
          </a:p>
          <a:p>
            <a:r>
              <a:rPr lang="zh-CN" altLang="en-US" dirty="0"/>
              <a:t>含有“实质最小项”的素项就是实质蕴涵项。</a:t>
            </a:r>
            <a:endParaRPr lang="en-US" altLang="zh-CN" dirty="0"/>
          </a:p>
          <a:p>
            <a:pPr marL="0" marR="0" lvl="2" indent="0" algn="l" defTabSz="914400" rtl="0" eaLnBrk="0" fontAlgn="base" latinLnBrk="0" hangingPunct="0">
              <a:lnSpc>
                <a:spcPct val="100000"/>
              </a:lnSpc>
              <a:spcBef>
                <a:spcPct val="30000"/>
              </a:spcBef>
              <a:spcAft>
                <a:spcPct val="0"/>
              </a:spcAft>
              <a:buClrTx/>
              <a:buSzTx/>
              <a:buFontTx/>
              <a:buNone/>
              <a:defRPr/>
            </a:pPr>
            <a:r>
              <a:rPr lang="zh-CN" altLang="en-US" sz="2000" dirty="0"/>
              <a:t>“唯一的</a:t>
            </a:r>
            <a:r>
              <a:rPr lang="zh-CN" altLang="en-US" sz="2000" dirty="0">
                <a:solidFill>
                  <a:srgbClr val="FF0000"/>
                </a:solidFill>
                <a:latin typeface="Times New Roman" panose="02020603050405020304" pitchFamily="18" charset="0"/>
              </a:rPr>
              <a:t>‘</a:t>
            </a:r>
            <a:r>
              <a:rPr lang="en-US" altLang="zh-CN" sz="2000" dirty="0">
                <a:solidFill>
                  <a:srgbClr val="FF0000"/>
                </a:solidFill>
                <a:latin typeface="Times New Roman" panose="02020603050405020304" pitchFamily="18" charset="0"/>
              </a:rPr>
              <a:t>1</a:t>
            </a:r>
            <a:r>
              <a:rPr lang="zh-CN" altLang="en-US" sz="2000" dirty="0">
                <a:solidFill>
                  <a:srgbClr val="FF0000"/>
                </a:solidFill>
              </a:rPr>
              <a:t>格</a:t>
            </a:r>
            <a:r>
              <a:rPr lang="zh-CN" altLang="en-US" sz="2000" dirty="0">
                <a:solidFill>
                  <a:srgbClr val="FF0000"/>
                </a:solidFill>
                <a:latin typeface="Times New Roman" panose="02020603050405020304" pitchFamily="18" charset="0"/>
              </a:rPr>
              <a:t>’</a:t>
            </a:r>
            <a:r>
              <a:rPr lang="zh-CN" altLang="en-US" sz="2000" dirty="0"/>
              <a:t>”</a:t>
            </a:r>
            <a:r>
              <a:rPr lang="en-US" altLang="zh-CN" sz="2000" dirty="0"/>
              <a:t>——</a:t>
            </a:r>
            <a:r>
              <a:rPr lang="zh-CN" altLang="en-US" sz="2000" dirty="0"/>
              <a:t>学名“实质最小项”</a:t>
            </a:r>
            <a:endParaRPr lang="zh-CN" altLang="en-US"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和前面布尔代数法化简对比</a:t>
            </a:r>
            <a:endParaRPr lang="zh-CN" altLang="en-US" dirty="0"/>
          </a:p>
        </p:txBody>
      </p:sp>
      <p:sp>
        <p:nvSpPr>
          <p:cNvPr id="4" name="灯片编号占位符 3"/>
          <p:cNvSpPr>
            <a:spLocks noGrp="1"/>
          </p:cNvSpPr>
          <p:nvPr>
            <p:ph type="sldNum" sz="quarter" idx="5"/>
          </p:nvPr>
        </p:nvSpPr>
        <p:spPr/>
        <p:txBody>
          <a:bodyPr/>
          <a:lstStyle/>
          <a:p>
            <a:pPr>
              <a:defRPr/>
            </a:pPr>
            <a:fld id="{B641ABC4-95DD-415B-A5DD-26797A8ABBCC}" type="slidenum">
              <a:rPr lang="en-US" altLang="zh-CN" smtClean="0"/>
            </a:fld>
            <a:endParaRPr lang="en-US"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B2ACD34-2073-4FEA-A2F5-BB20415E92F6}" type="slidenum">
              <a:rPr lang="en-US" altLang="zh-CN"/>
            </a:fld>
            <a:endParaRPr lang="en-US" altLang="zh-CN"/>
          </a:p>
        </p:txBody>
      </p:sp>
      <p:sp>
        <p:nvSpPr>
          <p:cNvPr id="180226" name="Rectangle 2"/>
          <p:cNvSpPr>
            <a:spLocks noGrp="1" noRot="1" noChangeAspect="1" noChangeArrowheads="1" noTextEdit="1"/>
          </p:cNvSpPr>
          <p:nvPr>
            <p:ph type="sldImg"/>
          </p:nvPr>
        </p:nvSpPr>
        <p:spPr>
          <a:xfrm>
            <a:off x="992188" y="768350"/>
            <a:ext cx="5114925" cy="3836988"/>
          </a:xfrm>
        </p:spPr>
      </p:sp>
      <p:sp>
        <p:nvSpPr>
          <p:cNvPr id="18022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ea typeface="宋体" panose="02010600030101010101" pitchFamily="2" charset="-122"/>
              </a:rPr>
              <a:t>只要将反相圈移到输入端，同时将与门和或门互换。</a:t>
            </a:r>
            <a:endParaRPr lang="zh-CN" altLang="en-US" dirty="0"/>
          </a:p>
        </p:txBody>
      </p:sp>
      <p:sp>
        <p:nvSpPr>
          <p:cNvPr id="4" name="灯片编号占位符 3"/>
          <p:cNvSpPr>
            <a:spLocks noGrp="1"/>
          </p:cNvSpPr>
          <p:nvPr>
            <p:ph type="sldNum" sz="quarter" idx="5"/>
          </p:nvPr>
        </p:nvSpPr>
        <p:spPr/>
        <p:txBody>
          <a:bodyPr/>
          <a:lstStyle/>
          <a:p>
            <a:fld id="{B762BEBF-96A3-450B-A772-FAEFF39FE495}"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t>利用与非门和或非门来构建数字系统通常速度更快。</a:t>
            </a:r>
            <a:endParaRPr lang="en-US" altLang="zh-CN" sz="1200" dirty="0"/>
          </a:p>
        </p:txBody>
      </p:sp>
      <p:sp>
        <p:nvSpPr>
          <p:cNvPr id="4" name="灯片编号占位符 3"/>
          <p:cNvSpPr>
            <a:spLocks noGrp="1"/>
          </p:cNvSpPr>
          <p:nvPr>
            <p:ph type="sldNum" sz="quarter" idx="5"/>
          </p:nvPr>
        </p:nvSpPr>
        <p:spPr/>
        <p:txBody>
          <a:bodyPr/>
          <a:lstStyle/>
          <a:p>
            <a:fld id="{B762BEBF-96A3-450B-A772-FAEFF39FE495}"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t>利用与非门和或非门来构建数字系统通常速度更快。</a:t>
            </a:r>
            <a:endParaRPr lang="en-US" altLang="zh-CN" sz="1200" dirty="0"/>
          </a:p>
        </p:txBody>
      </p:sp>
      <p:sp>
        <p:nvSpPr>
          <p:cNvPr id="4" name="灯片编号占位符 3"/>
          <p:cNvSpPr>
            <a:spLocks noGrp="1"/>
          </p:cNvSpPr>
          <p:nvPr>
            <p:ph type="sldNum" sz="quarter" idx="5"/>
          </p:nvPr>
        </p:nvSpPr>
        <p:spPr/>
        <p:txBody>
          <a:bodyPr/>
          <a:lstStyle/>
          <a:p>
            <a:fld id="{B762BEBF-96A3-450B-A772-FAEFF39FE495}"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t>利用与非门和或非门来构建数字系统通常速度更快。</a:t>
            </a:r>
            <a:endParaRPr lang="en-US" altLang="zh-CN" sz="1200" dirty="0"/>
          </a:p>
        </p:txBody>
      </p:sp>
      <p:sp>
        <p:nvSpPr>
          <p:cNvPr id="4" name="灯片编号占位符 3"/>
          <p:cNvSpPr>
            <a:spLocks noGrp="1"/>
          </p:cNvSpPr>
          <p:nvPr>
            <p:ph type="sldNum" sz="quarter" idx="5"/>
          </p:nvPr>
        </p:nvSpPr>
        <p:spPr/>
        <p:txBody>
          <a:bodyPr/>
          <a:lstStyle/>
          <a:p>
            <a:fld id="{B762BEBF-96A3-450B-A772-FAEFF39FE49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586827"/>
          </a:xfrm>
        </p:spPr>
        <p:txBody>
          <a:bodyPr/>
          <a:lstStyle>
            <a:lvl1pPr algn="ctr">
              <a:defRPr sz="4000">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371600" y="3886200"/>
            <a:ext cx="6400800" cy="595419"/>
          </a:xfrm>
        </p:spPr>
        <p:txBody>
          <a:bodyPr/>
          <a:lstStyle>
            <a:lvl1pPr marL="0" indent="0" algn="ctr">
              <a:buNone/>
              <a:defRPr sz="3200">
                <a:latin typeface="微软雅黑 Light" panose="020B0502040204020203" pitchFamily="34" charset="-122"/>
                <a:ea typeface="微软雅黑 Light" panose="020B0502040204020203" pitchFamily="34" charset="-122"/>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dirty="0"/>
              <a:t>单击此处编辑母版副标题样式</a:t>
            </a:r>
            <a:endParaRPr lang="zh-CN" altLang="en-US" dirty="0"/>
          </a:p>
        </p:txBody>
      </p:sp>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00100" y="190500"/>
            <a:ext cx="6073775" cy="479747"/>
          </a:xfrm>
        </p:spPr>
        <p:txBody>
          <a:bodyPr/>
          <a:lstStyle>
            <a:lvl1pPr>
              <a:defRPr b="1">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3" name="内容占位符 2"/>
          <p:cNvSpPr>
            <a:spLocks noGrp="1"/>
          </p:cNvSpPr>
          <p:nvPr>
            <p:ph idx="1" hasCustomPrompt="1"/>
          </p:nvPr>
        </p:nvSpPr>
        <p:spPr>
          <a:xfrm>
            <a:off x="284773" y="915505"/>
            <a:ext cx="8523654" cy="1999522"/>
          </a:xfrm>
        </p:spPr>
        <p:txBody>
          <a:bodyPr/>
          <a:lstStyle>
            <a:lvl1pPr>
              <a:defRPr sz="2400" b="1" baseline="0">
                <a:latin typeface="微软雅黑" panose="020B0503020204020204" pitchFamily="34" charset="-122"/>
                <a:ea typeface="微软雅黑" panose="020B0503020204020204" pitchFamily="34" charset="-122"/>
              </a:defRPr>
            </a:lvl1pPr>
            <a:lvl2pPr>
              <a:defRPr sz="2200" b="1">
                <a:latin typeface="微软雅黑" panose="020B0503020204020204" pitchFamily="34" charset="-122"/>
                <a:ea typeface="微软雅黑" panose="020B0503020204020204" pitchFamily="34" charset="-122"/>
              </a:defRPr>
            </a:lvl2pPr>
            <a:lvl3pPr>
              <a:defRPr sz="2000" b="1">
                <a:latin typeface="微软雅黑" panose="020B0503020204020204" pitchFamily="34" charset="-122"/>
                <a:ea typeface="微软雅黑" panose="020B0503020204020204" pitchFamily="34" charset="-122"/>
              </a:defRPr>
            </a:lvl3pPr>
            <a:lvl4pPr>
              <a:defRPr sz="1800" b="1">
                <a:latin typeface="微软雅黑" panose="020B0503020204020204" pitchFamily="34" charset="-122"/>
                <a:ea typeface="微软雅黑" panose="020B0503020204020204" pitchFamily="34" charset="-122"/>
              </a:defRPr>
            </a:lvl4pPr>
            <a:lvl5pPr>
              <a:defRPr sz="1800" b="1">
                <a:latin typeface="微软雅黑 Light" panose="020B0502040204020203" pitchFamily="34" charset="-122"/>
                <a:ea typeface="微软雅黑 Light" panose="020B0502040204020203"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Line 6"/>
          <p:cNvSpPr>
            <a:spLocks noChangeShapeType="1"/>
          </p:cNvSpPr>
          <p:nvPr userDrawn="1"/>
        </p:nvSpPr>
        <p:spPr bwMode="auto">
          <a:xfrm>
            <a:off x="317500" y="673100"/>
            <a:ext cx="8458200" cy="0"/>
          </a:xfrm>
          <a:prstGeom prst="line">
            <a:avLst/>
          </a:prstGeom>
          <a:noFill/>
          <a:ln w="12700">
            <a:solidFill>
              <a:schemeClr val="accent1"/>
            </a:solidFill>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00100" y="190500"/>
            <a:ext cx="6073775" cy="479747"/>
          </a:xfrm>
        </p:spPr>
        <p:txBody>
          <a:bodyPr/>
          <a:lstStyle>
            <a:lvl1pPr>
              <a:defRPr sz="3200">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2" name="Line 6"/>
          <p:cNvSpPr>
            <a:spLocks noChangeShapeType="1"/>
          </p:cNvSpPr>
          <p:nvPr userDrawn="1"/>
        </p:nvSpPr>
        <p:spPr bwMode="auto">
          <a:xfrm>
            <a:off x="317500" y="673100"/>
            <a:ext cx="8458200" cy="0"/>
          </a:xfrm>
          <a:prstGeom prst="line">
            <a:avLst/>
          </a:prstGeom>
          <a:noFill/>
          <a:ln w="12700">
            <a:solidFill>
              <a:schemeClr val="accent1"/>
            </a:solidFill>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00100" y="190500"/>
            <a:ext cx="6073775" cy="479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63500" tIns="25400" rIns="63500" bIns="25400" numCol="1" anchor="t" anchorCtr="0" compatLnSpc="1">
            <a:spAutoFit/>
          </a:bodyPr>
          <a:lstStyle/>
          <a:p>
            <a:pPr lvl="0"/>
            <a:r>
              <a:rPr lang="en-US" altLang="zh-CN" dirty="0"/>
              <a:t>Title</a:t>
            </a:r>
            <a:endParaRPr lang="en-US" altLang="zh-CN" dirty="0"/>
          </a:p>
        </p:txBody>
      </p:sp>
      <p:sp>
        <p:nvSpPr>
          <p:cNvPr id="1028" name="Rectangle 5"/>
          <p:cNvSpPr>
            <a:spLocks noGrp="1" noChangeArrowheads="1"/>
          </p:cNvSpPr>
          <p:nvPr>
            <p:ph type="body" idx="1"/>
          </p:nvPr>
        </p:nvSpPr>
        <p:spPr bwMode="auto">
          <a:xfrm>
            <a:off x="444500" y="889000"/>
            <a:ext cx="8191500" cy="2392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63500" tIns="25400" rIns="63500" bIns="25400" numCol="1" anchor="t" anchorCtr="0" compatLnSpc="1">
            <a:spAutoFit/>
          </a:bodyPr>
          <a:lstStyle/>
          <a:p>
            <a:pPr lvl="0"/>
            <a:r>
              <a:rPr lang="en-US" altLang="zh-CN" dirty="0"/>
              <a:t>This is our 1st Level Bullet</a:t>
            </a:r>
            <a:endParaRPr lang="en-US" altLang="zh-CN" dirty="0"/>
          </a:p>
          <a:p>
            <a:pPr lvl="1"/>
            <a:r>
              <a:rPr lang="en-US" altLang="zh-CN" dirty="0"/>
              <a:t>This is our 2nd level bullet</a:t>
            </a:r>
            <a:endParaRPr lang="en-US" altLang="zh-CN" dirty="0"/>
          </a:p>
          <a:p>
            <a:pPr lvl="2"/>
            <a:r>
              <a:rPr lang="en-US" altLang="zh-CN" dirty="0"/>
              <a:t>This is our 3rd level bullet</a:t>
            </a:r>
            <a:endParaRPr lang="en-US" altLang="zh-CN" dirty="0"/>
          </a:p>
          <a:p>
            <a:pPr lvl="0"/>
            <a:r>
              <a:rPr lang="en-US" altLang="zh-CN" dirty="0"/>
              <a:t>This is our next 1st Level Bullet</a:t>
            </a:r>
            <a:endParaRPr lang="en-US" altLang="zh-CN" dirty="0"/>
          </a:p>
          <a:p>
            <a:pPr lvl="1"/>
            <a:r>
              <a:rPr lang="en-US" altLang="zh-CN" dirty="0"/>
              <a:t>This is our 2nd level bullet</a:t>
            </a:r>
            <a:endParaRPr lang="en-US" altLang="zh-CN" dirty="0"/>
          </a:p>
          <a:p>
            <a:pPr lvl="2"/>
            <a:r>
              <a:rPr lang="en-US" altLang="zh-CN" dirty="0"/>
              <a:t>This is our 3rd level bullet</a:t>
            </a:r>
            <a:endParaRPr lang="en-US" altLang="zh-CN" dirty="0"/>
          </a:p>
        </p:txBody>
      </p:sp>
      <p:sp>
        <p:nvSpPr>
          <p:cNvPr id="1029" name="Line 6"/>
          <p:cNvSpPr>
            <a:spLocks noChangeShapeType="1"/>
          </p:cNvSpPr>
          <p:nvPr/>
        </p:nvSpPr>
        <p:spPr bwMode="auto">
          <a:xfrm>
            <a:off x="317500" y="673100"/>
            <a:ext cx="8458200" cy="0"/>
          </a:xfrm>
          <a:prstGeom prst="line">
            <a:avLst/>
          </a:prstGeom>
          <a:noFill/>
          <a:ln w="12700">
            <a:solidFill>
              <a:schemeClr val="accent1"/>
            </a:solidFill>
            <a:round/>
          </a:ln>
          <a:extLst>
            <a:ext uri="{909E8E84-426E-40DD-AFC4-6F175D3DCCD1}">
              <a14:hiddenFill xmlns:a14="http://schemas.microsoft.com/office/drawing/2010/main">
                <a:noFill/>
              </a14:hiddenFill>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spd="med">
    <p:fade/>
  </p:transition>
  <p:hf hdr="0" ftr="0" dt="0"/>
  <p:txStyles>
    <p:titleStyle>
      <a:lvl1pPr algn="l" rtl="0" eaLnBrk="1" fontAlgn="base" hangingPunct="1">
        <a:lnSpc>
          <a:spcPct val="87000"/>
        </a:lnSpc>
        <a:spcBef>
          <a:spcPct val="0"/>
        </a:spcBef>
        <a:spcAft>
          <a:spcPct val="0"/>
        </a:spcAft>
        <a:defRPr sz="3200" b="1">
          <a:solidFill>
            <a:srgbClr val="CC0000"/>
          </a:solidFill>
          <a:latin typeface="微软雅黑" panose="020B0503020204020204" pitchFamily="34" charset="-122"/>
          <a:ea typeface="微软雅黑" panose="020B0503020204020204" pitchFamily="34" charset="-122"/>
          <a:cs typeface="+mj-cs"/>
        </a:defRPr>
      </a:lvl1pPr>
      <a:lvl2pPr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2pPr>
      <a:lvl3pPr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3pPr>
      <a:lvl4pPr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4pPr>
      <a:lvl5pPr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5pPr>
      <a:lvl6pPr marL="457200"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6pPr>
      <a:lvl7pPr marL="914400"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7pPr>
      <a:lvl8pPr marL="1371600"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8pPr>
      <a:lvl9pPr marL="1828800"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9pPr>
    </p:titleStyle>
    <p:bodyStyle>
      <a:lvl1pPr marL="203200" indent="-203200" algn="l" rtl="0" eaLnBrk="1" fontAlgn="base" hangingPunct="1">
        <a:lnSpc>
          <a:spcPct val="120000"/>
        </a:lnSpc>
        <a:spcBef>
          <a:spcPct val="10000"/>
        </a:spcBef>
        <a:spcAft>
          <a:spcPct val="0"/>
        </a:spcAft>
        <a:buClr>
          <a:schemeClr val="tx1"/>
        </a:buClr>
        <a:buSzPct val="60000"/>
        <a:buFont typeface="Wingdings" panose="05000000000000000000" pitchFamily="2" charset="2"/>
        <a:buChar char="u"/>
        <a:defRPr sz="2200" b="1">
          <a:solidFill>
            <a:schemeClr val="tx1"/>
          </a:solidFill>
          <a:latin typeface="+mn-lt"/>
          <a:ea typeface="+mn-ea"/>
          <a:cs typeface="+mn-cs"/>
        </a:defRPr>
      </a:lvl1pPr>
      <a:lvl2pPr marL="685800" indent="-190500" algn="l" rtl="0" eaLnBrk="1" fontAlgn="base" hangingPunct="1">
        <a:lnSpc>
          <a:spcPct val="120000"/>
        </a:lnSpc>
        <a:spcBef>
          <a:spcPct val="10000"/>
        </a:spcBef>
        <a:spcAft>
          <a:spcPct val="0"/>
        </a:spcAft>
        <a:buSzPct val="100000"/>
        <a:buChar char="•"/>
        <a:defRPr sz="2000" b="1">
          <a:solidFill>
            <a:srgbClr val="0000FF"/>
          </a:solidFill>
          <a:latin typeface="+mn-lt"/>
          <a:ea typeface="+mn-ea"/>
        </a:defRPr>
      </a:lvl2pPr>
      <a:lvl3pPr marL="1257300" indent="-342900" algn="l" rtl="0" eaLnBrk="1" fontAlgn="base" hangingPunct="1">
        <a:lnSpc>
          <a:spcPct val="120000"/>
        </a:lnSpc>
        <a:spcBef>
          <a:spcPct val="10000"/>
        </a:spcBef>
        <a:spcAft>
          <a:spcPct val="0"/>
        </a:spcAft>
        <a:buSzPct val="100000"/>
        <a:buChar char="-"/>
        <a:defRPr b="1">
          <a:solidFill>
            <a:schemeClr val="tx1"/>
          </a:solidFill>
          <a:latin typeface="+mn-lt"/>
          <a:ea typeface="+mn-ea"/>
        </a:defRPr>
      </a:lvl3pPr>
      <a:lvl4pPr marL="17145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4pPr>
      <a:lvl5pPr marL="21717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5pPr>
      <a:lvl6pPr marL="26289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6pPr>
      <a:lvl7pPr marL="30861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7pPr>
      <a:lvl8pPr marL="35433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8pPr>
      <a:lvl9pPr marL="4000500" indent="-342900" algn="l" rtl="0" eaLnBrk="1" fontAlgn="base" hangingPunct="1">
        <a:spcBef>
          <a:spcPct val="20000"/>
        </a:spcBef>
        <a:spcAft>
          <a:spcPct val="0"/>
        </a:spcAft>
        <a:buChar char="»"/>
        <a:defRPr sz="2000">
          <a:solidFill>
            <a:schemeClr val="tx1"/>
          </a:solidFill>
          <a:latin typeface="Times New Roman" panose="02020603050405020304" pitchFamily="18" charset="0"/>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image" Target="../media/image6.png"/><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image" Target="../media/image7.jpe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17.jpeg"/><Relationship Id="rId1" Type="http://schemas.openxmlformats.org/officeDocument/2006/relationships/image" Target="../media/image16.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8.emf"/></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9.emf"/></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20.wmf"/><Relationship Id="rId1"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22.jpeg"/><Relationship Id="rId1" Type="http://schemas.openxmlformats.org/officeDocument/2006/relationships/image" Target="../media/image21.pn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image" Target="../media/image23.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image" Target="../media/image27.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29.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2.xml"/><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xml"/><Relationship Id="rId2" Type="http://schemas.openxmlformats.org/officeDocument/2006/relationships/image" Target="../media/image35.png"/><Relationship Id="rId1"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36.wmf"/></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37.wmf"/></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2.xml"/><Relationship Id="rId2" Type="http://schemas.openxmlformats.org/officeDocument/2006/relationships/image" Target="../media/image39.png"/><Relationship Id="rId1" Type="http://schemas.openxmlformats.org/officeDocument/2006/relationships/image" Target="../media/image38.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40.jpe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2.xml"/><Relationship Id="rId2" Type="http://schemas.openxmlformats.org/officeDocument/2006/relationships/image" Target="../media/image43.jpeg"/><Relationship Id="rId1" Type="http://schemas.openxmlformats.org/officeDocument/2006/relationships/image" Target="../media/image42.jpe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5.jpeg"/><Relationship Id="rId1" Type="http://schemas.openxmlformats.org/officeDocument/2006/relationships/image" Target="../media/image44.jpe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46.jpe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53.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54.pn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2.xml"/><Relationship Id="rId2" Type="http://schemas.openxmlformats.org/officeDocument/2006/relationships/image" Target="../media/image56.jpeg"/><Relationship Id="rId1" Type="http://schemas.openxmlformats.org/officeDocument/2006/relationships/image" Target="../media/image55.jpe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57.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5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59.emf"/><Relationship Id="rId1" Type="http://schemas.openxmlformats.org/officeDocument/2006/relationships/oleObject" Target="../embeddings/oleObject2.bin"/></Relationships>
</file>

<file path=ppt/slides/_rels/slide50.xml.rels><?xml version="1.0" encoding="UTF-8" standalone="yes"?>
<Relationships xmlns="http://schemas.openxmlformats.org/package/2006/relationships"><Relationship Id="rId5" Type="http://schemas.openxmlformats.org/officeDocument/2006/relationships/notesSlide" Target="../notesSlides/notesSlide39.xml"/><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60.emf"/><Relationship Id="rId1" Type="http://schemas.openxmlformats.org/officeDocument/2006/relationships/oleObject" Target="../embeddings/oleObject3.bin"/></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61.png"/></Relationships>
</file>

<file path=ppt/slides/_rels/slide52.xml.rels><?xml version="1.0" encoding="UTF-8" standalone="yes"?>
<Relationships xmlns="http://schemas.openxmlformats.org/package/2006/relationships"><Relationship Id="rId7" Type="http://schemas.openxmlformats.org/officeDocument/2006/relationships/notesSlide" Target="../notesSlides/notesSlide41.xml"/><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image" Target="../media/image63.png"/><Relationship Id="rId3" Type="http://schemas.openxmlformats.org/officeDocument/2006/relationships/oleObject" Target="../embeddings/oleObject5.bin"/><Relationship Id="rId2" Type="http://schemas.openxmlformats.org/officeDocument/2006/relationships/image" Target="../media/image62.png"/><Relationship Id="rId1" Type="http://schemas.openxmlformats.org/officeDocument/2006/relationships/oleObject" Target="../embeddings/oleObject4.bin"/></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4.png"/></Relationships>
</file>

<file path=ppt/slides/_rels/slide54.xml.rels><?xml version="1.0" encoding="UTF-8" standalone="yes"?>
<Relationships xmlns="http://schemas.openxmlformats.org/package/2006/relationships"><Relationship Id="rId9" Type="http://schemas.openxmlformats.org/officeDocument/2006/relationships/notesSlide" Target="../notesSlides/notesSlide42.xml"/><Relationship Id="rId8" Type="http://schemas.openxmlformats.org/officeDocument/2006/relationships/vmlDrawing" Target="../drawings/vmlDrawing5.vml"/><Relationship Id="rId7"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oleObject" Target="../embeddings/oleObject7.bin"/><Relationship Id="rId4" Type="http://schemas.openxmlformats.org/officeDocument/2006/relationships/image" Target="../media/image67.png"/><Relationship Id="rId3" Type="http://schemas.openxmlformats.org/officeDocument/2006/relationships/oleObject" Target="../embeddings/oleObject6.bin"/><Relationship Id="rId2" Type="http://schemas.openxmlformats.org/officeDocument/2006/relationships/image" Target="../media/image66.png"/><Relationship Id="rId1" Type="http://schemas.openxmlformats.org/officeDocument/2006/relationships/image" Target="../media/image65.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image" Target="../media/image69.png"/></Relationships>
</file>

<file path=ppt/slides/_rels/slide56.xml.rels><?xml version="1.0" encoding="UTF-8" standalone="yes"?>
<Relationships xmlns="http://schemas.openxmlformats.org/package/2006/relationships"><Relationship Id="rId9" Type="http://schemas.openxmlformats.org/officeDocument/2006/relationships/image" Target="../media/image78.png"/><Relationship Id="rId8" Type="http://schemas.openxmlformats.org/officeDocument/2006/relationships/image" Target="../media/image77.png"/><Relationship Id="rId7" Type="http://schemas.openxmlformats.org/officeDocument/2006/relationships/image" Target="../media/image76.png"/><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 Id="rId3" Type="http://schemas.openxmlformats.org/officeDocument/2006/relationships/image" Target="../media/image72.png"/><Relationship Id="rId20" Type="http://schemas.openxmlformats.org/officeDocument/2006/relationships/notesSlide" Target="../notesSlides/notesSlide44.xml"/><Relationship Id="rId2" Type="http://schemas.openxmlformats.org/officeDocument/2006/relationships/image" Target="../media/image71.png"/><Relationship Id="rId19" Type="http://schemas.openxmlformats.org/officeDocument/2006/relationships/slideLayout" Target="../slideLayouts/slideLayout4.xml"/><Relationship Id="rId18" Type="http://schemas.openxmlformats.org/officeDocument/2006/relationships/image" Target="../media/image87.png"/><Relationship Id="rId17" Type="http://schemas.openxmlformats.org/officeDocument/2006/relationships/image" Target="../media/image86.png"/><Relationship Id="rId16" Type="http://schemas.openxmlformats.org/officeDocument/2006/relationships/image" Target="../media/image85.png"/><Relationship Id="rId15" Type="http://schemas.openxmlformats.org/officeDocument/2006/relationships/image" Target="../media/image84.png"/><Relationship Id="rId14" Type="http://schemas.openxmlformats.org/officeDocument/2006/relationships/image" Target="../media/image83.png"/><Relationship Id="rId13" Type="http://schemas.openxmlformats.org/officeDocument/2006/relationships/image" Target="../media/image82.png"/><Relationship Id="rId12" Type="http://schemas.openxmlformats.org/officeDocument/2006/relationships/image" Target="../media/image81.png"/><Relationship Id="rId11" Type="http://schemas.openxmlformats.org/officeDocument/2006/relationships/image" Target="../media/image80.png"/><Relationship Id="rId10" Type="http://schemas.openxmlformats.org/officeDocument/2006/relationships/image" Target="../media/image79.png"/><Relationship Id="rId1" Type="http://schemas.openxmlformats.org/officeDocument/2006/relationships/image" Target="../media/image70.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image" Target="../media/image88.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image" Target="../media/image89.png"/></Relationships>
</file>

<file path=ppt/slides/_rels/slide62.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2.xml"/><Relationship Id="rId2" Type="http://schemas.openxmlformats.org/officeDocument/2006/relationships/image" Target="../media/image91.png"/><Relationship Id="rId1" Type="http://schemas.openxmlformats.org/officeDocument/2006/relationships/image" Target="../media/image90.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5" Type="http://schemas.openxmlformats.org/officeDocument/2006/relationships/notesSlide" Target="../notesSlides/notesSlide51.xml"/><Relationship Id="rId4" Type="http://schemas.openxmlformats.org/officeDocument/2006/relationships/slideLayout" Target="../slideLayouts/slideLayout2.xml"/><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image" Target="../media/image92.png"/></Relationships>
</file>

<file path=ppt/slides/_rels/slide65.xml.rels><?xml version="1.0" encoding="UTF-8" standalone="yes"?>
<Relationships xmlns="http://schemas.openxmlformats.org/package/2006/relationships"><Relationship Id="rId7" Type="http://schemas.openxmlformats.org/officeDocument/2006/relationships/notesSlide" Target="../notesSlides/notesSlide52.xml"/><Relationship Id="rId6" Type="http://schemas.openxmlformats.org/officeDocument/2006/relationships/vmlDrawing" Target="../drawings/vmlDrawing6.vml"/><Relationship Id="rId5" Type="http://schemas.openxmlformats.org/officeDocument/2006/relationships/slideLayout" Target="../slideLayouts/slideLayout2.xml"/><Relationship Id="rId4" Type="http://schemas.openxmlformats.org/officeDocument/2006/relationships/image" Target="../media/image97.png"/><Relationship Id="rId3" Type="http://schemas.openxmlformats.org/officeDocument/2006/relationships/image" Target="../media/image96.wmf"/><Relationship Id="rId2" Type="http://schemas.openxmlformats.org/officeDocument/2006/relationships/oleObject" Target="../embeddings/oleObject8.bin"/><Relationship Id="rId1" Type="http://schemas.openxmlformats.org/officeDocument/2006/relationships/image" Target="../media/image95.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2.xml"/><Relationship Id="rId2" Type="http://schemas.openxmlformats.org/officeDocument/2006/relationships/image" Target="../media/image99.png"/><Relationship Id="rId1" Type="http://schemas.openxmlformats.org/officeDocument/2006/relationships/image" Target="../media/image98.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6" Type="http://schemas.openxmlformats.org/officeDocument/2006/relationships/notesSlide" Target="../notesSlides/notesSlide56.xml"/><Relationship Id="rId5" Type="http://schemas.openxmlformats.org/officeDocument/2006/relationships/slideLayout" Target="../slideLayouts/slideLayout2.xml"/><Relationship Id="rId4" Type="http://schemas.openxmlformats.org/officeDocument/2006/relationships/image" Target="../media/image103.png"/><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image" Target="../media/image100.png"/></Relationships>
</file>

<file path=ppt/slides/_rels/slide70.xml.rels><?xml version="1.0" encoding="UTF-8" standalone="yes"?>
<Relationships xmlns="http://schemas.openxmlformats.org/package/2006/relationships"><Relationship Id="rId6" Type="http://schemas.openxmlformats.org/officeDocument/2006/relationships/notesSlide" Target="../notesSlides/notesSlide57.xml"/><Relationship Id="rId5" Type="http://schemas.openxmlformats.org/officeDocument/2006/relationships/vmlDrawing" Target="../drawings/vmlDrawing7.vml"/><Relationship Id="rId4" Type="http://schemas.openxmlformats.org/officeDocument/2006/relationships/slideLayout" Target="../slideLayouts/slideLayout4.xml"/><Relationship Id="rId3" Type="http://schemas.openxmlformats.org/officeDocument/2006/relationships/image" Target="../media/image105.png"/><Relationship Id="rId2" Type="http://schemas.openxmlformats.org/officeDocument/2006/relationships/image" Target="../media/image104.wmf"/><Relationship Id="rId1" Type="http://schemas.openxmlformats.org/officeDocument/2006/relationships/oleObject" Target="../embeddings/oleObject9.bin"/></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6.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7.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image" Target="../media/image108.png"/></Relationships>
</file>

<file path=ppt/slides/_rels/slide75.xml.rels><?xml version="1.0" encoding="UTF-8" standalone="yes"?>
<Relationships xmlns="http://schemas.openxmlformats.org/package/2006/relationships"><Relationship Id="rId4" Type="http://schemas.openxmlformats.org/officeDocument/2006/relationships/notesSlide" Target="../notesSlides/notesSlide59.xml"/><Relationship Id="rId3" Type="http://schemas.openxmlformats.org/officeDocument/2006/relationships/slideLayout" Target="../slideLayouts/slideLayout2.xml"/><Relationship Id="rId2" Type="http://schemas.openxmlformats.org/officeDocument/2006/relationships/image" Target="../media/image110.png"/><Relationship Id="rId1" Type="http://schemas.openxmlformats.org/officeDocument/2006/relationships/image" Target="../media/image109.pn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image" Target="../media/image111.png"/></Relationships>
</file>

<file path=ppt/slides/_rels/slide77.xml.rels><?xml version="1.0" encoding="UTF-8" standalone="yes"?>
<Relationships xmlns="http://schemas.openxmlformats.org/package/2006/relationships"><Relationship Id="rId9" Type="http://schemas.openxmlformats.org/officeDocument/2006/relationships/notesSlide" Target="../notesSlides/notesSlide61.xml"/><Relationship Id="rId8" Type="http://schemas.openxmlformats.org/officeDocument/2006/relationships/slideLayout" Target="../slideLayouts/slideLayout2.xml"/><Relationship Id="rId7" Type="http://schemas.openxmlformats.org/officeDocument/2006/relationships/image" Target="../media/image118.png"/><Relationship Id="rId6" Type="http://schemas.openxmlformats.org/officeDocument/2006/relationships/image" Target="../media/image117.jpeg"/><Relationship Id="rId5" Type="http://schemas.openxmlformats.org/officeDocument/2006/relationships/image" Target="../media/image116.png"/><Relationship Id="rId4" Type="http://schemas.openxmlformats.org/officeDocument/2006/relationships/image" Target="../media/image115.png"/><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image" Target="../media/image112.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第</a:t>
            </a:r>
            <a:r>
              <a:rPr lang="en-US" altLang="zh-CN" dirty="0"/>
              <a:t>2</a:t>
            </a:r>
            <a:r>
              <a:rPr lang="zh-CN" altLang="en-US" dirty="0"/>
              <a:t>章 数字逻辑基础</a:t>
            </a:r>
            <a:endParaRPr lang="zh-CN" altLang="en-US" dirty="0"/>
          </a:p>
        </p:txBody>
      </p:sp>
      <p:sp>
        <p:nvSpPr>
          <p:cNvPr id="3" name="副标题 2"/>
          <p:cNvSpPr>
            <a:spLocks noGrp="1"/>
          </p:cNvSpPr>
          <p:nvPr>
            <p:ph type="subTitle" idx="1"/>
          </p:nvPr>
        </p:nvSpPr>
        <p:spPr>
          <a:xfrm>
            <a:off x="2561574" y="3303741"/>
            <a:ext cx="4340268" cy="2075825"/>
          </a:xfrm>
        </p:spPr>
        <p:txBody>
          <a:bodyPr/>
          <a:lstStyle/>
          <a:p>
            <a:pPr algn="l" eaLnBrk="0" hangingPunct="0">
              <a:lnSpc>
                <a:spcPts val="4000"/>
              </a:lnSpc>
              <a:spcBef>
                <a:spcPct val="0"/>
              </a:spcBef>
              <a:defRPr/>
            </a:pPr>
            <a:r>
              <a:rPr lang="zh-CN" altLang="en-US" sz="2600" kern="1200" dirty="0">
                <a:latin typeface="+mj-ea"/>
                <a:ea typeface="+mj-ea"/>
              </a:rPr>
              <a:t>第一讲  逻辑门和数字抽象</a:t>
            </a:r>
            <a:endParaRPr lang="en-US" altLang="zh-CN" sz="2600" kern="1200" dirty="0">
              <a:latin typeface="+mj-ea"/>
              <a:ea typeface="+mj-ea"/>
            </a:endParaRPr>
          </a:p>
          <a:p>
            <a:pPr algn="l" eaLnBrk="0" hangingPunct="0">
              <a:lnSpc>
                <a:spcPts val="4000"/>
              </a:lnSpc>
              <a:spcBef>
                <a:spcPct val="0"/>
              </a:spcBef>
              <a:defRPr/>
            </a:pPr>
            <a:r>
              <a:rPr lang="zh-CN" altLang="en-US" sz="2600" kern="1200" dirty="0">
                <a:latin typeface="+mj-ea"/>
                <a:ea typeface="+mj-ea"/>
              </a:rPr>
              <a:t>第二讲  布尔代数</a:t>
            </a:r>
            <a:endParaRPr lang="en-US" altLang="zh-CN" sz="2600" kern="1200" dirty="0">
              <a:latin typeface="+mj-ea"/>
              <a:ea typeface="+mj-ea"/>
            </a:endParaRPr>
          </a:p>
          <a:p>
            <a:pPr algn="l" eaLnBrk="0" hangingPunct="0">
              <a:lnSpc>
                <a:spcPts val="4000"/>
              </a:lnSpc>
              <a:spcBef>
                <a:spcPct val="0"/>
              </a:spcBef>
              <a:defRPr/>
            </a:pPr>
            <a:r>
              <a:rPr lang="zh-CN" altLang="en-US" sz="2600" kern="1200" dirty="0">
                <a:latin typeface="+mj-ea"/>
                <a:ea typeface="+mj-ea"/>
              </a:rPr>
              <a:t>第三讲  逻辑关系描述</a:t>
            </a:r>
            <a:endParaRPr lang="en-US" altLang="zh-CN" sz="2600" kern="1200" dirty="0">
              <a:latin typeface="+mj-ea"/>
              <a:ea typeface="+mj-ea"/>
            </a:endParaRPr>
          </a:p>
          <a:p>
            <a:pPr algn="l" eaLnBrk="0" hangingPunct="0">
              <a:lnSpc>
                <a:spcPts val="4000"/>
              </a:lnSpc>
              <a:spcBef>
                <a:spcPct val="0"/>
              </a:spcBef>
              <a:defRPr/>
            </a:pPr>
            <a:r>
              <a:rPr lang="zh-CN" altLang="en-US" sz="2600" kern="1200" dirty="0">
                <a:latin typeface="+mj-ea"/>
                <a:ea typeface="+mj-ea"/>
              </a:rPr>
              <a:t>第四讲  逻辑函数化简</a:t>
            </a:r>
            <a:endParaRPr lang="zh-CN" altLang="en-US" sz="2600" kern="1200" dirty="0">
              <a:latin typeface="+mj-ea"/>
              <a:ea typeface="+mj-ea"/>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标题 6"/>
          <p:cNvSpPr>
            <a:spLocks noGrp="1"/>
          </p:cNvSpPr>
          <p:nvPr>
            <p:ph type="ctrTitle"/>
          </p:nvPr>
        </p:nvSpPr>
        <p:spPr>
          <a:xfrm>
            <a:off x="497910" y="1071975"/>
            <a:ext cx="7772400" cy="533288"/>
          </a:xfrm>
        </p:spPr>
        <p:txBody>
          <a:bodyPr/>
          <a:lstStyle/>
          <a:p>
            <a:r>
              <a:rPr lang="zh-CN" altLang="en-US" sz="3600" dirty="0"/>
              <a:t>第一讲</a:t>
            </a:r>
            <a:r>
              <a:rPr lang="en-US" altLang="zh-CN" sz="3600" dirty="0"/>
              <a:t> </a:t>
            </a:r>
            <a:r>
              <a:rPr lang="zh-CN" altLang="en-US" sz="3600" dirty="0"/>
              <a:t>逻辑门和数字抽象</a:t>
            </a:r>
            <a:endParaRPr lang="en-US" altLang="zh-CN" sz="3600" dirty="0"/>
          </a:p>
        </p:txBody>
      </p:sp>
      <p:sp>
        <p:nvSpPr>
          <p:cNvPr id="4" name="Rectangle 3"/>
          <p:cNvSpPr txBox="1">
            <a:spLocks noChangeArrowheads="1"/>
          </p:cNvSpPr>
          <p:nvPr/>
        </p:nvSpPr>
        <p:spPr bwMode="auto">
          <a:xfrm>
            <a:off x="2279432" y="1992116"/>
            <a:ext cx="5474179" cy="432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63500" tIns="25400" rIns="63500" bIns="25400" numCol="1" anchor="t" anchorCtr="0" compatLnSpc="1">
            <a:spAutoFit/>
          </a:bodyPr>
          <a:lstStyle>
            <a:lvl1pPr marL="0" indent="0" algn="ctr" rtl="0" eaLnBrk="1" fontAlgn="base" hangingPunct="1">
              <a:lnSpc>
                <a:spcPct val="120000"/>
              </a:lnSpc>
              <a:spcBef>
                <a:spcPct val="10000"/>
              </a:spcBef>
              <a:spcAft>
                <a:spcPct val="0"/>
              </a:spcAft>
              <a:buClr>
                <a:schemeClr val="tx1"/>
              </a:buClr>
              <a:buSzPct val="60000"/>
              <a:buFont typeface="Wingdings" panose="05000000000000000000" pitchFamily="2" charset="2"/>
              <a:buNone/>
              <a:defRPr sz="3200" b="1">
                <a:solidFill>
                  <a:schemeClr val="tx1"/>
                </a:solidFill>
                <a:latin typeface="微软雅黑 Light" panose="020B0502040204020203" pitchFamily="34" charset="-122"/>
                <a:ea typeface="微软雅黑 Light" panose="020B0502040204020203" pitchFamily="34" charset="-122"/>
                <a:cs typeface="+mn-cs"/>
              </a:defRPr>
            </a:lvl1pPr>
            <a:lvl2pPr marL="457200" indent="0" algn="ctr" rtl="0" eaLnBrk="1" fontAlgn="base" hangingPunct="1">
              <a:lnSpc>
                <a:spcPct val="120000"/>
              </a:lnSpc>
              <a:spcBef>
                <a:spcPct val="10000"/>
              </a:spcBef>
              <a:spcAft>
                <a:spcPct val="0"/>
              </a:spcAft>
              <a:buSzPct val="100000"/>
              <a:buNone/>
              <a:defRPr sz="2000" b="1">
                <a:solidFill>
                  <a:srgbClr val="0000FF"/>
                </a:solidFill>
                <a:latin typeface="+mn-lt"/>
                <a:ea typeface="+mn-ea"/>
              </a:defRPr>
            </a:lvl2pPr>
            <a:lvl3pPr marL="914400" indent="0" algn="ctr" rtl="0" eaLnBrk="1" fontAlgn="base" hangingPunct="1">
              <a:lnSpc>
                <a:spcPct val="120000"/>
              </a:lnSpc>
              <a:spcBef>
                <a:spcPct val="10000"/>
              </a:spcBef>
              <a:spcAft>
                <a:spcPct val="0"/>
              </a:spcAft>
              <a:buSzPct val="100000"/>
              <a:buNone/>
              <a:defRPr b="1">
                <a:solidFill>
                  <a:schemeClr val="tx1"/>
                </a:solidFill>
                <a:latin typeface="+mn-lt"/>
                <a:ea typeface="+mn-ea"/>
              </a:defRPr>
            </a:lvl3pPr>
            <a:lvl4pPr marL="1371600" indent="0" algn="ctr" rtl="0" eaLnBrk="1" fontAlgn="base" hangingPunct="1">
              <a:spcBef>
                <a:spcPct val="20000"/>
              </a:spcBef>
              <a:spcAft>
                <a:spcPct val="0"/>
              </a:spcAft>
              <a:buNone/>
              <a:defRPr sz="2000">
                <a:solidFill>
                  <a:schemeClr val="tx1"/>
                </a:solidFill>
                <a:latin typeface="Times New Roman" panose="02020603050405020304" pitchFamily="18" charset="0"/>
                <a:ea typeface="+mn-ea"/>
              </a:defRPr>
            </a:lvl4pPr>
            <a:lvl5pPr marL="1828800" indent="0" algn="ctr" rtl="0" eaLnBrk="1" fontAlgn="base" hangingPunct="1">
              <a:spcBef>
                <a:spcPct val="20000"/>
              </a:spcBef>
              <a:spcAft>
                <a:spcPct val="0"/>
              </a:spcAft>
              <a:buNone/>
              <a:defRPr sz="2000">
                <a:solidFill>
                  <a:schemeClr val="tx1"/>
                </a:solidFill>
                <a:latin typeface="Times New Roman" panose="02020603050405020304" pitchFamily="18" charset="0"/>
                <a:ea typeface="+mn-ea"/>
              </a:defRPr>
            </a:lvl5pPr>
            <a:lvl6pPr marL="2286000" indent="0" algn="ctr" rtl="0" eaLnBrk="1" fontAlgn="base" hangingPunct="1">
              <a:spcBef>
                <a:spcPct val="20000"/>
              </a:spcBef>
              <a:spcAft>
                <a:spcPct val="0"/>
              </a:spcAft>
              <a:buNone/>
              <a:defRPr sz="2000">
                <a:solidFill>
                  <a:schemeClr val="tx1"/>
                </a:solidFill>
                <a:latin typeface="Times New Roman" panose="02020603050405020304" pitchFamily="18" charset="0"/>
                <a:ea typeface="+mn-ea"/>
              </a:defRPr>
            </a:lvl6pPr>
            <a:lvl7pPr marL="2743200" indent="0" algn="ctr" rtl="0" eaLnBrk="1" fontAlgn="base" hangingPunct="1">
              <a:spcBef>
                <a:spcPct val="20000"/>
              </a:spcBef>
              <a:spcAft>
                <a:spcPct val="0"/>
              </a:spcAft>
              <a:buNone/>
              <a:defRPr sz="2000">
                <a:solidFill>
                  <a:schemeClr val="tx1"/>
                </a:solidFill>
                <a:latin typeface="Times New Roman" panose="02020603050405020304" pitchFamily="18" charset="0"/>
                <a:ea typeface="+mn-ea"/>
              </a:defRPr>
            </a:lvl7pPr>
            <a:lvl8pPr marL="3200400" indent="0" algn="ctr" rtl="0" eaLnBrk="1" fontAlgn="base" hangingPunct="1">
              <a:spcBef>
                <a:spcPct val="20000"/>
              </a:spcBef>
              <a:spcAft>
                <a:spcPct val="0"/>
              </a:spcAft>
              <a:buNone/>
              <a:defRPr sz="2000">
                <a:solidFill>
                  <a:schemeClr val="tx1"/>
                </a:solidFill>
                <a:latin typeface="Times New Roman" panose="02020603050405020304" pitchFamily="18" charset="0"/>
                <a:ea typeface="+mn-ea"/>
              </a:defRPr>
            </a:lvl8pPr>
            <a:lvl9pPr marL="3657600" indent="0" algn="ctr" rtl="0" eaLnBrk="1" fontAlgn="base" hangingPunct="1">
              <a:spcBef>
                <a:spcPct val="20000"/>
              </a:spcBef>
              <a:spcAft>
                <a:spcPct val="0"/>
              </a:spcAft>
              <a:buNone/>
              <a:defRPr sz="2000">
                <a:solidFill>
                  <a:schemeClr val="tx1"/>
                </a:solidFill>
                <a:latin typeface="Times New Roman" panose="02020603050405020304" pitchFamily="18" charset="0"/>
                <a:ea typeface="+mn-ea"/>
              </a:defRPr>
            </a:lvl9pPr>
          </a:lstStyle>
          <a:p>
            <a:pPr marL="203200" indent="-203200" algn="l" eaLnBrk="0" hangingPunct="0">
              <a:spcBef>
                <a:spcPts val="600"/>
              </a:spcBef>
              <a:buFont typeface="Wingdings" panose="05000000000000000000" pitchFamily="2" charset="2"/>
              <a:buChar char="u"/>
            </a:pPr>
            <a:r>
              <a:rPr lang="zh-CN" altLang="en-US" sz="2200" dirty="0">
                <a:latin typeface="微软雅黑" panose="020B0503020204020204" pitchFamily="34" charset="-122"/>
                <a:ea typeface="微软雅黑" panose="020B0503020204020204" pitchFamily="34" charset="-122"/>
              </a:rPr>
              <a:t>逻辑门</a:t>
            </a:r>
            <a:endParaRPr lang="en-US" altLang="zh-CN" sz="2200" dirty="0">
              <a:latin typeface="微软雅黑" panose="020B0503020204020204" pitchFamily="34" charset="-122"/>
              <a:ea typeface="微软雅黑" panose="020B0503020204020204" pitchFamily="34" charset="-122"/>
            </a:endParaRPr>
          </a:p>
          <a:p>
            <a:pPr marL="685800" lvl="1" indent="-190500" algn="l" eaLnBrk="0" hangingPunct="0">
              <a:spcBef>
                <a:spcPts val="600"/>
              </a:spcBef>
              <a:buChar char="•"/>
            </a:pPr>
            <a:r>
              <a:rPr lang="zh-CN" altLang="en-US" sz="2200" dirty="0">
                <a:latin typeface="微软雅黑" panose="020B0503020204020204" pitchFamily="34" charset="-122"/>
                <a:ea typeface="微软雅黑" panose="020B0503020204020204" pitchFamily="34" charset="-122"/>
              </a:rPr>
              <a:t>逻辑关系、真值表、逻辑门符号</a:t>
            </a:r>
            <a:endParaRPr lang="zh-CN" altLang="en-US" sz="2200" dirty="0">
              <a:latin typeface="微软雅黑" panose="020B0503020204020204" pitchFamily="34" charset="-122"/>
              <a:ea typeface="微软雅黑" panose="020B0503020204020204" pitchFamily="34" charset="-122"/>
            </a:endParaRPr>
          </a:p>
          <a:p>
            <a:pPr marL="203200" indent="-203200" algn="l" eaLnBrk="0" hangingPunct="0">
              <a:spcBef>
                <a:spcPts val="600"/>
              </a:spcBef>
              <a:buFont typeface="Wingdings" panose="05000000000000000000" pitchFamily="2" charset="2"/>
              <a:buChar char="u"/>
            </a:pPr>
            <a:r>
              <a:rPr lang="zh-CN" altLang="en-US" sz="2200" dirty="0">
                <a:latin typeface="微软雅黑" panose="020B0503020204020204" pitchFamily="34" charset="-122"/>
                <a:ea typeface="微软雅黑" panose="020B0503020204020204" pitchFamily="34" charset="-122"/>
              </a:rPr>
              <a:t>数字抽象</a:t>
            </a:r>
            <a:endParaRPr lang="en-US" altLang="zh-CN" sz="2200" dirty="0">
              <a:latin typeface="微软雅黑" panose="020B0503020204020204" pitchFamily="34" charset="-122"/>
              <a:ea typeface="微软雅黑" panose="020B0503020204020204" pitchFamily="34" charset="-122"/>
            </a:endParaRPr>
          </a:p>
          <a:p>
            <a:pPr marL="685800" lvl="1" indent="-190500" algn="l" eaLnBrk="0" hangingPunct="0">
              <a:spcBef>
                <a:spcPts val="600"/>
              </a:spcBef>
              <a:buChar char="•"/>
            </a:pPr>
            <a:r>
              <a:rPr lang="zh-CN" altLang="en-US" sz="2200" dirty="0">
                <a:latin typeface="微软雅黑" panose="020B0503020204020204" pitchFamily="34" charset="-122"/>
                <a:ea typeface="微软雅黑" panose="020B0503020204020204" pitchFamily="34" charset="-122"/>
              </a:rPr>
              <a:t>模拟信号与数字信号</a:t>
            </a:r>
            <a:endParaRPr lang="en-US" altLang="zh-CN" sz="2200" dirty="0">
              <a:latin typeface="微软雅黑" panose="020B0503020204020204" pitchFamily="34" charset="-122"/>
              <a:ea typeface="微软雅黑" panose="020B0503020204020204" pitchFamily="34" charset="-122"/>
            </a:endParaRPr>
          </a:p>
          <a:p>
            <a:pPr marL="685800" lvl="1" indent="-190500" algn="l" eaLnBrk="0" hangingPunct="0">
              <a:spcBef>
                <a:spcPts val="600"/>
              </a:spcBef>
              <a:buChar char="•"/>
            </a:pPr>
            <a:r>
              <a:rPr lang="zh-CN" altLang="en-US" sz="2200" dirty="0">
                <a:latin typeface="微软雅黑" panose="020B0503020204020204" pitchFamily="34" charset="-122"/>
                <a:ea typeface="微软雅黑" panose="020B0503020204020204" pitchFamily="34" charset="-122"/>
              </a:rPr>
              <a:t>直流噪声容限</a:t>
            </a:r>
            <a:endParaRPr lang="en-US" altLang="zh-CN" sz="2200" dirty="0">
              <a:latin typeface="微软雅黑" panose="020B0503020204020204" pitchFamily="34" charset="-122"/>
              <a:ea typeface="微软雅黑" panose="020B0503020204020204" pitchFamily="34" charset="-122"/>
            </a:endParaRPr>
          </a:p>
          <a:p>
            <a:pPr marL="203200" indent="-203200" algn="l" eaLnBrk="0" hangingPunct="0">
              <a:spcBef>
                <a:spcPts val="600"/>
              </a:spcBef>
              <a:buFont typeface="Wingdings" panose="05000000000000000000" pitchFamily="2" charset="2"/>
              <a:buChar char="u"/>
            </a:pPr>
            <a:r>
              <a:rPr lang="en-US" altLang="zh-CN" sz="2200" dirty="0">
                <a:latin typeface="微软雅黑" panose="020B0503020204020204" pitchFamily="34" charset="-122"/>
                <a:ea typeface="微软雅黑" panose="020B0503020204020204" pitchFamily="34" charset="-122"/>
              </a:rPr>
              <a:t>CMOS</a:t>
            </a:r>
            <a:r>
              <a:rPr lang="zh-CN" altLang="en-US" sz="2200" kern="0" dirty="0">
                <a:latin typeface="微软雅黑" panose="020B0503020204020204" pitchFamily="34" charset="-122"/>
                <a:ea typeface="微软雅黑" panose="020B0503020204020204" pitchFamily="34" charset="-122"/>
              </a:rPr>
              <a:t>晶体管</a:t>
            </a:r>
            <a:endParaRPr lang="zh-CN" altLang="en-US" sz="2200" dirty="0">
              <a:latin typeface="微软雅黑" panose="020B0503020204020204" pitchFamily="34" charset="-122"/>
              <a:ea typeface="微软雅黑" panose="020B0503020204020204" pitchFamily="34" charset="-122"/>
            </a:endParaRPr>
          </a:p>
          <a:p>
            <a:pPr marL="685800" lvl="1" indent="-190500" algn="l" eaLnBrk="0" hangingPunct="0">
              <a:spcBef>
                <a:spcPts val="600"/>
              </a:spcBef>
              <a:buChar char="•"/>
            </a:pPr>
            <a:r>
              <a:rPr lang="en-US" altLang="zh-CN" sz="2200" dirty="0">
                <a:latin typeface="微软雅黑" panose="020B0503020204020204" pitchFamily="34" charset="-122"/>
                <a:ea typeface="微软雅黑" panose="020B0503020204020204" pitchFamily="34" charset="-122"/>
              </a:rPr>
              <a:t>PMOS</a:t>
            </a:r>
            <a:r>
              <a:rPr lang="zh-CN" altLang="en-US" sz="2200" dirty="0">
                <a:latin typeface="微软雅黑" panose="020B0503020204020204" pitchFamily="34" charset="-122"/>
                <a:ea typeface="微软雅黑" panose="020B0503020204020204" pitchFamily="34" charset="-122"/>
              </a:rPr>
              <a:t>和</a:t>
            </a:r>
            <a:r>
              <a:rPr lang="en-US" altLang="zh-CN" sz="2200" dirty="0">
                <a:latin typeface="微软雅黑" panose="020B0503020204020204" pitchFamily="34" charset="-122"/>
                <a:ea typeface="微软雅黑" panose="020B0503020204020204" pitchFamily="34" charset="-122"/>
              </a:rPr>
              <a:t>NMOS</a:t>
            </a:r>
            <a:endParaRPr lang="en-US" altLang="zh-CN" sz="2200" dirty="0">
              <a:latin typeface="微软雅黑" panose="020B0503020204020204" pitchFamily="34" charset="-122"/>
              <a:ea typeface="微软雅黑" panose="020B0503020204020204" pitchFamily="34" charset="-122"/>
            </a:endParaRPr>
          </a:p>
          <a:p>
            <a:pPr marL="685800" lvl="1" indent="-190500" algn="l" eaLnBrk="0" hangingPunct="0">
              <a:spcBef>
                <a:spcPts val="600"/>
              </a:spcBef>
              <a:buChar char="•"/>
            </a:pPr>
            <a:r>
              <a:rPr lang="zh-CN" altLang="en-US" sz="2200" dirty="0">
                <a:latin typeface="微软雅黑" panose="020B0503020204020204" pitchFamily="34" charset="-122"/>
                <a:ea typeface="微软雅黑" panose="020B0503020204020204" pitchFamily="34" charset="-122"/>
              </a:rPr>
              <a:t>常用</a:t>
            </a:r>
            <a:r>
              <a:rPr lang="en-US" altLang="zh-CN" sz="2200" dirty="0">
                <a:latin typeface="微软雅黑" panose="020B0503020204020204" pitchFamily="34" charset="-122"/>
                <a:ea typeface="微软雅黑" panose="020B0503020204020204" pitchFamily="34" charset="-122"/>
              </a:rPr>
              <a:t>CMOS</a:t>
            </a:r>
            <a:r>
              <a:rPr lang="zh-CN" altLang="en-US" sz="2200" dirty="0">
                <a:latin typeface="微软雅黑" panose="020B0503020204020204" pitchFamily="34" charset="-122"/>
                <a:ea typeface="微软雅黑" panose="020B0503020204020204" pitchFamily="34" charset="-122"/>
              </a:rPr>
              <a:t>门电路</a:t>
            </a:r>
            <a:endParaRPr lang="en-US" altLang="zh-CN" sz="2200" dirty="0">
              <a:latin typeface="微软雅黑" panose="020B0503020204020204" pitchFamily="34" charset="-122"/>
              <a:ea typeface="微软雅黑" panose="020B0503020204020204" pitchFamily="34" charset="-122"/>
            </a:endParaRPr>
          </a:p>
          <a:p>
            <a:pPr marL="203200" indent="-203200" algn="l" eaLnBrk="0" hangingPunct="0">
              <a:spcBef>
                <a:spcPts val="600"/>
              </a:spcBef>
              <a:buFont typeface="Wingdings" panose="05000000000000000000" pitchFamily="2" charset="2"/>
              <a:buChar char="u"/>
            </a:pPr>
            <a:r>
              <a:rPr lang="en-US" altLang="zh-CN" sz="2200" dirty="0">
                <a:latin typeface="微软雅黑" panose="020B0503020204020204" pitchFamily="34" charset="-122"/>
                <a:ea typeface="微软雅黑" panose="020B0503020204020204" pitchFamily="34" charset="-122"/>
              </a:rPr>
              <a:t>CMOS</a:t>
            </a:r>
            <a:r>
              <a:rPr lang="zh-CN" altLang="en-US" sz="2200" kern="0" dirty="0">
                <a:latin typeface="微软雅黑" panose="020B0503020204020204" pitchFamily="34" charset="-122"/>
                <a:ea typeface="微软雅黑" panose="020B0503020204020204" pitchFamily="34" charset="-122"/>
              </a:rPr>
              <a:t>电路电气特性</a:t>
            </a:r>
            <a:endParaRPr lang="zh-CN" altLang="en-US" sz="2200" dirty="0">
              <a:latin typeface="微软雅黑" panose="020B0503020204020204" pitchFamily="34" charset="-122"/>
              <a:ea typeface="微软雅黑" panose="020B0503020204020204" pitchFamily="34" charset="-122"/>
            </a:endParaRP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00103" y="185722"/>
            <a:ext cx="6447967" cy="742951"/>
          </a:xfrm>
        </p:spPr>
        <p:txBody>
          <a:bodyPr/>
          <a:lstStyle/>
          <a:p>
            <a:r>
              <a:rPr lang="en-US" altLang="zh-CN" dirty="0"/>
              <a:t>1.1 </a:t>
            </a:r>
            <a:r>
              <a:rPr lang="zh-CN" altLang="en-US" dirty="0"/>
              <a:t>逻辑门</a:t>
            </a:r>
            <a:endParaRPr lang="zh-CN" altLang="en-US" dirty="0"/>
          </a:p>
        </p:txBody>
      </p:sp>
      <p:sp>
        <p:nvSpPr>
          <p:cNvPr id="3" name="内容占位符 2"/>
          <p:cNvSpPr>
            <a:spLocks noGrp="1"/>
          </p:cNvSpPr>
          <p:nvPr>
            <p:ph idx="1"/>
          </p:nvPr>
        </p:nvSpPr>
        <p:spPr>
          <a:xfrm>
            <a:off x="251520" y="852488"/>
            <a:ext cx="8892480" cy="4806059"/>
          </a:xfrm>
        </p:spPr>
        <p:txBody>
          <a:bodyPr/>
          <a:lstStyle/>
          <a:p>
            <a:r>
              <a:rPr lang="zh-CN" altLang="en-US" sz="2200" b="1" dirty="0"/>
              <a:t>逻辑门电路</a:t>
            </a:r>
            <a:r>
              <a:rPr lang="en-US" altLang="zh-CN" sz="2200" b="1" dirty="0"/>
              <a:t>(logic gate)</a:t>
            </a:r>
            <a:r>
              <a:rPr lang="zh-CN" altLang="en-US" sz="2200" dirty="0"/>
              <a:t>是最基础的数字电路，具有</a:t>
            </a:r>
            <a:r>
              <a:rPr lang="zh-CN" altLang="en-US" sz="2200" dirty="0">
                <a:solidFill>
                  <a:srgbClr val="FF0000"/>
                </a:solidFill>
              </a:rPr>
              <a:t>允许</a:t>
            </a:r>
            <a:r>
              <a:rPr lang="zh-CN" altLang="en-US" sz="2200" dirty="0"/>
              <a:t>或</a:t>
            </a:r>
            <a:r>
              <a:rPr lang="zh-CN" altLang="en-US" sz="2200" dirty="0">
                <a:solidFill>
                  <a:srgbClr val="FF0000"/>
                </a:solidFill>
              </a:rPr>
              <a:t>禁止</a:t>
            </a:r>
            <a:r>
              <a:rPr lang="zh-CN" altLang="en-US" sz="2200" dirty="0"/>
              <a:t>信号传输的功能，也称为门电路。</a:t>
            </a:r>
            <a:endParaRPr lang="en-US" altLang="zh-CN" sz="2200" dirty="0"/>
          </a:p>
          <a:p>
            <a:pPr lvl="1"/>
            <a:r>
              <a:rPr lang="zh-CN" altLang="en-US" dirty="0"/>
              <a:t>一个或多个输入信号</a:t>
            </a:r>
            <a:endParaRPr lang="en-US" altLang="zh-CN" dirty="0"/>
          </a:p>
          <a:p>
            <a:pPr lvl="1"/>
            <a:r>
              <a:rPr lang="zh-CN" altLang="en-US" dirty="0"/>
              <a:t>一个输出信号：表明输入信号之间的</a:t>
            </a:r>
            <a:r>
              <a:rPr lang="zh-CN" altLang="en-US" dirty="0">
                <a:solidFill>
                  <a:srgbClr val="FF0000"/>
                </a:solidFill>
              </a:rPr>
              <a:t>逻辑关系</a:t>
            </a:r>
            <a:r>
              <a:rPr lang="zh-CN" altLang="en-US" dirty="0"/>
              <a:t>。</a:t>
            </a:r>
            <a:endParaRPr lang="en-US" altLang="zh-CN" dirty="0"/>
          </a:p>
          <a:p>
            <a:r>
              <a:rPr lang="zh-CN" altLang="en-US" sz="2200" dirty="0"/>
              <a:t>逻辑门都有自己特有的</a:t>
            </a:r>
            <a:r>
              <a:rPr lang="zh-CN" altLang="en-US" sz="2200" dirty="0">
                <a:solidFill>
                  <a:srgbClr val="FF0000"/>
                </a:solidFill>
              </a:rPr>
              <a:t>图形符号</a:t>
            </a:r>
            <a:endParaRPr lang="en-US" altLang="zh-CN" sz="2200" dirty="0"/>
          </a:p>
          <a:p>
            <a:pPr lvl="1"/>
            <a:r>
              <a:rPr lang="zh-CN" altLang="en-US" dirty="0"/>
              <a:t>左边：输入信号</a:t>
            </a:r>
            <a:endParaRPr lang="en-US" altLang="zh-CN" dirty="0"/>
          </a:p>
          <a:p>
            <a:pPr lvl="1"/>
            <a:r>
              <a:rPr lang="zh-CN" altLang="en-US" dirty="0"/>
              <a:t>右边：输出信号</a:t>
            </a:r>
            <a:endParaRPr lang="en-US" altLang="zh-CN" dirty="0"/>
          </a:p>
          <a:p>
            <a:pPr lvl="1"/>
            <a:r>
              <a:rPr lang="zh-CN" altLang="en-US" dirty="0"/>
              <a:t>使用标识符来命名输入和输出信号，如</a:t>
            </a:r>
            <a:r>
              <a:rPr lang="en-US" altLang="zh-CN" dirty="0"/>
              <a:t>X</a:t>
            </a:r>
            <a:r>
              <a:rPr lang="zh-CN" altLang="en-US" dirty="0"/>
              <a:t>、</a:t>
            </a:r>
            <a:r>
              <a:rPr lang="en-US" altLang="zh-CN" dirty="0"/>
              <a:t>Y</a:t>
            </a:r>
            <a:r>
              <a:rPr lang="zh-CN" altLang="en-US" dirty="0"/>
              <a:t>、</a:t>
            </a:r>
            <a:r>
              <a:rPr lang="en-US" altLang="zh-CN" dirty="0"/>
              <a:t>Z</a:t>
            </a:r>
            <a:r>
              <a:rPr lang="zh-CN" altLang="en-US" dirty="0"/>
              <a:t>、</a:t>
            </a:r>
            <a:r>
              <a:rPr lang="en-US" altLang="zh-CN" dirty="0"/>
              <a:t>INPUT </a:t>
            </a:r>
            <a:r>
              <a:rPr lang="zh-CN" altLang="en-US" dirty="0"/>
              <a:t>等。</a:t>
            </a:r>
            <a:endParaRPr lang="en-US" altLang="zh-CN" dirty="0"/>
          </a:p>
          <a:p>
            <a:r>
              <a:rPr lang="zh-CN" altLang="en-US" sz="2200" dirty="0"/>
              <a:t>输入信号、输出信号称为</a:t>
            </a:r>
            <a:r>
              <a:rPr lang="zh-CN" altLang="en-US" sz="2200" b="1" dirty="0"/>
              <a:t>逻辑变量</a:t>
            </a:r>
            <a:r>
              <a:rPr lang="zh-CN" altLang="en-US" sz="2200" dirty="0"/>
              <a:t>。</a:t>
            </a:r>
            <a:endParaRPr lang="en-US" altLang="zh-CN" sz="2200" dirty="0"/>
          </a:p>
          <a:p>
            <a:r>
              <a:rPr lang="zh-CN" altLang="en-US" sz="2200" dirty="0"/>
              <a:t>输入信号的取值是</a:t>
            </a:r>
            <a:r>
              <a:rPr lang="en-US" altLang="zh-CN" sz="2200" dirty="0">
                <a:solidFill>
                  <a:srgbClr val="FF0000"/>
                </a:solidFill>
              </a:rPr>
              <a:t>0</a:t>
            </a:r>
            <a:r>
              <a:rPr lang="zh-CN" altLang="en-US" sz="2200" dirty="0"/>
              <a:t>或</a:t>
            </a:r>
            <a:r>
              <a:rPr lang="en-US" altLang="zh-CN" sz="2200" dirty="0">
                <a:solidFill>
                  <a:srgbClr val="FF0000"/>
                </a:solidFill>
              </a:rPr>
              <a:t>1</a:t>
            </a:r>
            <a:r>
              <a:rPr lang="zh-CN" altLang="en-US" sz="2200" dirty="0"/>
              <a:t>，逻辑运算的结果也是</a:t>
            </a:r>
            <a:r>
              <a:rPr lang="en-US" altLang="zh-CN" sz="2200" dirty="0">
                <a:solidFill>
                  <a:srgbClr val="FF0000"/>
                </a:solidFill>
              </a:rPr>
              <a:t>0</a:t>
            </a:r>
            <a:r>
              <a:rPr lang="zh-CN" altLang="en-US" sz="2200" dirty="0"/>
              <a:t>或</a:t>
            </a:r>
            <a:r>
              <a:rPr lang="en-US" altLang="zh-CN" sz="2200" dirty="0">
                <a:solidFill>
                  <a:srgbClr val="FF0000"/>
                </a:solidFill>
              </a:rPr>
              <a:t>1</a:t>
            </a:r>
            <a:r>
              <a:rPr lang="zh-CN" altLang="en-US" sz="2200" dirty="0"/>
              <a:t>。</a:t>
            </a:r>
            <a:endParaRPr lang="en-US" altLang="zh-CN" sz="2200" dirty="0"/>
          </a:p>
          <a:p>
            <a:endParaRPr lang="en-US" altLang="zh-CN" sz="2400" dirty="0">
              <a:latin typeface="+mn-ea"/>
            </a:endParaRPr>
          </a:p>
        </p:txBody>
      </p:sp>
      <p:sp>
        <p:nvSpPr>
          <p:cNvPr id="6" name="灯片编号占位符 5"/>
          <p:cNvSpPr>
            <a:spLocks noGrp="1"/>
          </p:cNvSpPr>
          <p:nvPr>
            <p:ph type="sldNum" sz="quarter" idx="4294967295"/>
          </p:nvPr>
        </p:nvSpPr>
        <p:spPr>
          <a:xfrm>
            <a:off x="8642350" y="6458385"/>
            <a:ext cx="501650" cy="333375"/>
          </a:xfrm>
          <a:prstGeom prst="rect">
            <a:avLst/>
          </a:prstGeom>
        </p:spPr>
        <p:txBody>
          <a:bodyPr/>
          <a:lstStyle/>
          <a:p>
            <a:pPr>
              <a:defRPr/>
            </a:pPr>
            <a:fld id="{F38CFDAA-5283-40C9-80A4-C3781C02EB22}" type="slidenum">
              <a:rPr lang="en-US" altLang="zh-CN" smtClean="0"/>
            </a:fld>
            <a:endParaRPr lang="en-US" altLang="zh-CN" dirty="0"/>
          </a:p>
        </p:txBody>
      </p:sp>
      <p:pic>
        <p:nvPicPr>
          <p:cNvPr id="357378" name="Picture 2" descr="http://www.jpgushi.com/d/file/m/m/201012/f292ccd6c6a2d2d6a31dd1145ab80338.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82552" y="5227546"/>
            <a:ext cx="1839519" cy="1054223"/>
          </a:xfrm>
          <a:prstGeom prst="rect">
            <a:avLst/>
          </a:prstGeom>
          <a:noFill/>
          <a:extLst>
            <a:ext uri="{909E8E84-426E-40DD-AFC4-6F175D3DCCD1}">
              <a14:hiddenFill xmlns:a14="http://schemas.microsoft.com/office/drawing/2010/main">
                <a:solidFill>
                  <a:srgbClr val="FFFFFF"/>
                </a:solidFill>
              </a14:hiddenFill>
            </a:ext>
          </a:extLst>
        </p:spPr>
      </p:pic>
      <p:pic>
        <p:nvPicPr>
          <p:cNvPr id="357380" name="Picture 4" descr="http://www.chinabaike.com/uploads/allimg/110102/0R63212P-4.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5153103" y="5244218"/>
            <a:ext cx="1789733" cy="10375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737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738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00103" y="185722"/>
            <a:ext cx="6447967" cy="742951"/>
          </a:xfrm>
        </p:spPr>
        <p:txBody>
          <a:bodyPr/>
          <a:lstStyle/>
          <a:p>
            <a:r>
              <a:rPr lang="en-US" altLang="zh-CN" dirty="0"/>
              <a:t>1.1 </a:t>
            </a:r>
            <a:r>
              <a:rPr lang="zh-CN" altLang="en-US" dirty="0"/>
              <a:t>逻辑门</a:t>
            </a:r>
            <a:endParaRPr lang="zh-CN" altLang="en-US" dirty="0"/>
          </a:p>
        </p:txBody>
      </p:sp>
      <p:sp>
        <p:nvSpPr>
          <p:cNvPr id="3" name="内容占位符 2"/>
          <p:cNvSpPr>
            <a:spLocks noGrp="1"/>
          </p:cNvSpPr>
          <p:nvPr>
            <p:ph idx="1"/>
          </p:nvPr>
        </p:nvSpPr>
        <p:spPr>
          <a:xfrm>
            <a:off x="383043" y="987681"/>
            <a:ext cx="8390830" cy="5502019"/>
          </a:xfrm>
        </p:spPr>
        <p:txBody>
          <a:bodyPr/>
          <a:lstStyle/>
          <a:p>
            <a:pPr>
              <a:spcBef>
                <a:spcPts val="600"/>
              </a:spcBef>
            </a:pPr>
            <a:r>
              <a:rPr lang="zh-CN" altLang="en-US" dirty="0">
                <a:latin typeface="+mn-ea"/>
              </a:rPr>
              <a:t>输入信号和输出信号之间的逻辑关系使用</a:t>
            </a:r>
            <a:r>
              <a:rPr lang="zh-CN" altLang="en-US" dirty="0">
                <a:solidFill>
                  <a:srgbClr val="FF0000"/>
                </a:solidFill>
                <a:latin typeface="+mn-ea"/>
              </a:rPr>
              <a:t>真值表</a:t>
            </a:r>
            <a:r>
              <a:rPr lang="zh-CN" altLang="en-US" dirty="0">
                <a:latin typeface="+mn-ea"/>
              </a:rPr>
              <a:t>或者</a:t>
            </a:r>
            <a:r>
              <a:rPr lang="zh-CN" altLang="en-US" dirty="0">
                <a:solidFill>
                  <a:srgbClr val="FF0000"/>
                </a:solidFill>
                <a:latin typeface="+mn-ea"/>
              </a:rPr>
              <a:t>逻辑表达式</a:t>
            </a:r>
            <a:r>
              <a:rPr lang="zh-CN" altLang="en-US" dirty="0">
                <a:latin typeface="+mn-ea"/>
              </a:rPr>
              <a:t>来描述。</a:t>
            </a:r>
            <a:endParaRPr lang="en-US" altLang="zh-CN" dirty="0">
              <a:latin typeface="+mn-ea"/>
            </a:endParaRPr>
          </a:p>
          <a:p>
            <a:pPr>
              <a:spcBef>
                <a:spcPts val="600"/>
              </a:spcBef>
            </a:pPr>
            <a:r>
              <a:rPr lang="zh-CN" altLang="en-US" b="1" dirty="0">
                <a:solidFill>
                  <a:srgbClr val="FF0000"/>
                </a:solidFill>
                <a:latin typeface="+mn-ea"/>
              </a:rPr>
              <a:t>真值表</a:t>
            </a:r>
            <a:r>
              <a:rPr lang="zh-CN" altLang="en-US" dirty="0">
                <a:latin typeface="+mn-ea"/>
              </a:rPr>
              <a:t>是一个</a:t>
            </a:r>
            <a:r>
              <a:rPr lang="zh-CN" altLang="en-US" dirty="0">
                <a:solidFill>
                  <a:srgbClr val="FF0000"/>
                </a:solidFill>
                <a:latin typeface="+mn-ea"/>
              </a:rPr>
              <a:t>二维表</a:t>
            </a:r>
            <a:endParaRPr lang="en-US" altLang="zh-CN" dirty="0">
              <a:latin typeface="+mn-ea"/>
            </a:endParaRPr>
          </a:p>
          <a:p>
            <a:pPr lvl="1">
              <a:spcBef>
                <a:spcPts val="600"/>
              </a:spcBef>
            </a:pPr>
            <a:r>
              <a:rPr lang="zh-CN" altLang="en-US" sz="2400" dirty="0">
                <a:latin typeface="+mn-ea"/>
              </a:rPr>
              <a:t>表头左侧是输入信号，右侧是输出信号；</a:t>
            </a:r>
            <a:endParaRPr lang="en-US" altLang="zh-CN" sz="2400" dirty="0">
              <a:latin typeface="+mn-ea"/>
            </a:endParaRPr>
          </a:p>
          <a:p>
            <a:pPr lvl="1">
              <a:spcBef>
                <a:spcPts val="600"/>
              </a:spcBef>
            </a:pPr>
            <a:r>
              <a:rPr lang="zh-CN" altLang="en-US" sz="2400" dirty="0">
                <a:latin typeface="+mn-ea"/>
              </a:rPr>
              <a:t>按顺序列出</a:t>
            </a:r>
            <a:r>
              <a:rPr lang="zh-CN" altLang="en-US" sz="2400" dirty="0">
                <a:solidFill>
                  <a:srgbClr val="FF0000"/>
                </a:solidFill>
                <a:latin typeface="+mn-ea"/>
              </a:rPr>
              <a:t>所有可能</a:t>
            </a:r>
            <a:r>
              <a:rPr lang="zh-CN" altLang="en-US" sz="2400" dirty="0">
                <a:latin typeface="+mn-ea"/>
              </a:rPr>
              <a:t>的输入组合和该输入组合</a:t>
            </a:r>
            <a:r>
              <a:rPr lang="zh-CN" altLang="en-US" sz="2400" dirty="0">
                <a:solidFill>
                  <a:srgbClr val="FF0000"/>
                </a:solidFill>
                <a:latin typeface="+mn-ea"/>
              </a:rPr>
              <a:t>对应</a:t>
            </a:r>
            <a:r>
              <a:rPr lang="zh-CN" altLang="en-US" sz="2400" dirty="0">
                <a:latin typeface="+mn-ea"/>
              </a:rPr>
              <a:t>的输出信号值。</a:t>
            </a:r>
            <a:endParaRPr lang="en-US" altLang="zh-CN" sz="2400" dirty="0">
              <a:latin typeface="+mn-ea"/>
            </a:endParaRPr>
          </a:p>
          <a:p>
            <a:pPr>
              <a:spcBef>
                <a:spcPts val="600"/>
              </a:spcBef>
            </a:pPr>
            <a:r>
              <a:rPr lang="zh-CN" altLang="en-US" dirty="0">
                <a:latin typeface="+mn-ea"/>
              </a:rPr>
              <a:t>最基本的逻辑运算是</a:t>
            </a:r>
            <a:r>
              <a:rPr lang="zh-CN" altLang="en-US" dirty="0">
                <a:solidFill>
                  <a:srgbClr val="FF0000"/>
                </a:solidFill>
                <a:latin typeface="+mn-ea"/>
              </a:rPr>
              <a:t>与</a:t>
            </a:r>
            <a:r>
              <a:rPr lang="zh-CN" altLang="en-US" dirty="0">
                <a:latin typeface="+mn-ea"/>
              </a:rPr>
              <a:t>、</a:t>
            </a:r>
            <a:r>
              <a:rPr lang="zh-CN" altLang="en-US" dirty="0">
                <a:solidFill>
                  <a:srgbClr val="FF0000"/>
                </a:solidFill>
                <a:latin typeface="+mn-ea"/>
              </a:rPr>
              <a:t>或</a:t>
            </a:r>
            <a:r>
              <a:rPr lang="zh-CN" altLang="en-US" dirty="0">
                <a:latin typeface="+mn-ea"/>
              </a:rPr>
              <a:t>、</a:t>
            </a:r>
            <a:r>
              <a:rPr lang="zh-CN" altLang="en-US" dirty="0">
                <a:solidFill>
                  <a:srgbClr val="FF0000"/>
                </a:solidFill>
                <a:latin typeface="+mn-ea"/>
              </a:rPr>
              <a:t>非</a:t>
            </a:r>
            <a:r>
              <a:rPr lang="zh-CN" altLang="en-US" dirty="0">
                <a:latin typeface="+mn-ea"/>
              </a:rPr>
              <a:t>三种运算</a:t>
            </a:r>
            <a:endParaRPr lang="en-US" altLang="zh-CN" dirty="0">
              <a:latin typeface="+mn-ea"/>
            </a:endParaRPr>
          </a:p>
          <a:p>
            <a:pPr lvl="1">
              <a:spcBef>
                <a:spcPts val="600"/>
              </a:spcBef>
            </a:pPr>
            <a:r>
              <a:rPr lang="zh-CN" altLang="en-US" sz="2400" dirty="0">
                <a:latin typeface="+mn-ea"/>
              </a:rPr>
              <a:t>这三种运算可以表示任意组合逻辑关系。</a:t>
            </a:r>
            <a:endParaRPr lang="en-US" altLang="zh-CN" sz="2400" dirty="0">
              <a:latin typeface="+mn-ea"/>
            </a:endParaRPr>
          </a:p>
          <a:p>
            <a:pPr lvl="1">
              <a:spcBef>
                <a:spcPts val="600"/>
              </a:spcBef>
            </a:pPr>
            <a:r>
              <a:rPr lang="zh-CN" altLang="en-US" sz="2400" dirty="0">
                <a:latin typeface="+mn-ea"/>
              </a:rPr>
              <a:t>逻辑门分别称为与门、或门和非门，统称为基本逻辑门。</a:t>
            </a:r>
            <a:endParaRPr lang="en-US" altLang="zh-CN" sz="2400" dirty="0">
              <a:latin typeface="+mn-ea"/>
            </a:endParaRPr>
          </a:p>
          <a:p>
            <a:pPr>
              <a:spcBef>
                <a:spcPts val="600"/>
              </a:spcBef>
            </a:pPr>
            <a:r>
              <a:rPr lang="zh-CN" altLang="en-US" b="1" dirty="0">
                <a:solidFill>
                  <a:srgbClr val="FF0000"/>
                </a:solidFill>
                <a:latin typeface="+mn-ea"/>
              </a:rPr>
              <a:t>逻辑表达式</a:t>
            </a:r>
            <a:r>
              <a:rPr lang="zh-CN" altLang="en-US" dirty="0">
                <a:latin typeface="+mn-ea"/>
              </a:rPr>
              <a:t>就是用</a:t>
            </a:r>
            <a:r>
              <a:rPr lang="zh-CN" altLang="en-US" dirty="0">
                <a:solidFill>
                  <a:srgbClr val="0070C0"/>
                </a:solidFill>
                <a:latin typeface="+mn-ea"/>
              </a:rPr>
              <a:t>逻辑运算符</a:t>
            </a:r>
            <a:r>
              <a:rPr lang="zh-CN" altLang="en-US" dirty="0">
                <a:latin typeface="+mn-ea"/>
              </a:rPr>
              <a:t>来连接</a:t>
            </a:r>
            <a:r>
              <a:rPr lang="zh-CN" altLang="en-US" dirty="0">
                <a:solidFill>
                  <a:srgbClr val="0070C0"/>
                </a:solidFill>
                <a:latin typeface="+mn-ea"/>
              </a:rPr>
              <a:t>逻辑变量</a:t>
            </a:r>
            <a:r>
              <a:rPr lang="zh-CN" altLang="en-US" dirty="0">
                <a:latin typeface="+mn-ea"/>
              </a:rPr>
              <a:t>。</a:t>
            </a:r>
            <a:endParaRPr lang="en-US" altLang="zh-CN" dirty="0">
              <a:latin typeface="+mn-ea"/>
            </a:endParaRPr>
          </a:p>
          <a:p>
            <a:pPr marL="0" indent="0">
              <a:buNone/>
            </a:pPr>
            <a:endParaRPr lang="en-US" altLang="zh-CN" dirty="0">
              <a:latin typeface="+mn-ea"/>
            </a:endParaRPr>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 </a:t>
            </a:r>
            <a:r>
              <a:rPr lang="zh-CN" altLang="en-US" dirty="0"/>
              <a:t>逻辑门</a:t>
            </a:r>
            <a:endParaRPr lang="zh-CN" altLang="en-US" dirty="0"/>
          </a:p>
        </p:txBody>
      </p:sp>
      <p:sp>
        <p:nvSpPr>
          <p:cNvPr id="15" name="内容占位符 14"/>
          <p:cNvSpPr>
            <a:spLocks noGrp="1"/>
          </p:cNvSpPr>
          <p:nvPr>
            <p:ph idx="1"/>
          </p:nvPr>
        </p:nvSpPr>
        <p:spPr>
          <a:xfrm>
            <a:off x="347981" y="739761"/>
            <a:ext cx="8712844" cy="3433761"/>
          </a:xfrm>
        </p:spPr>
        <p:txBody>
          <a:bodyPr/>
          <a:lstStyle/>
          <a:p>
            <a:r>
              <a:rPr lang="zh-CN" altLang="en-US" dirty="0"/>
              <a:t>基本逻辑门</a:t>
            </a:r>
            <a:endParaRPr lang="en-US" altLang="zh-CN" dirty="0"/>
          </a:p>
          <a:p>
            <a:pPr lvl="1"/>
            <a:r>
              <a:rPr lang="zh-CN" altLang="en-US" dirty="0">
                <a:latin typeface="微软雅黑" panose="020B0503020204020204" pitchFamily="34" charset="-122"/>
                <a:ea typeface="微软雅黑" panose="020B0503020204020204" pitchFamily="34" charset="-122"/>
              </a:rPr>
              <a:t>与门</a:t>
            </a:r>
            <a:r>
              <a:rPr lang="en-US" altLang="zh-CN" dirty="0">
                <a:latin typeface="微软雅黑" panose="020B0503020204020204" pitchFamily="34" charset="-122"/>
                <a:ea typeface="微软雅黑" panose="020B0503020204020204" pitchFamily="34" charset="-122"/>
              </a:rPr>
              <a:t>AND</a:t>
            </a:r>
            <a:r>
              <a:rPr lang="zh-CN" altLang="en-US" dirty="0">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当且仅当</a:t>
            </a:r>
            <a:r>
              <a:rPr lang="zh-CN" altLang="en-US" dirty="0">
                <a:latin typeface="微软雅黑" panose="020B0503020204020204" pitchFamily="34" charset="-122"/>
                <a:ea typeface="微软雅黑" panose="020B0503020204020204" pitchFamily="34" charset="-122"/>
              </a:rPr>
              <a:t>所有输入信号</a:t>
            </a:r>
            <a:r>
              <a:rPr lang="zh-CN" altLang="en-US" dirty="0">
                <a:solidFill>
                  <a:srgbClr val="FF0000"/>
                </a:solidFill>
                <a:latin typeface="微软雅黑" panose="020B0503020204020204" pitchFamily="34" charset="-122"/>
                <a:ea typeface="微软雅黑" panose="020B0503020204020204" pitchFamily="34" charset="-122"/>
              </a:rPr>
              <a:t>为</a:t>
            </a:r>
            <a:r>
              <a:rPr lang="en-US" altLang="zh-CN" dirty="0">
                <a:solidFill>
                  <a:srgbClr val="FF0000"/>
                </a:solidFill>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时，输出信号才为</a:t>
            </a:r>
            <a:r>
              <a:rPr lang="en-US" altLang="zh-CN" dirty="0">
                <a:solidFill>
                  <a:srgbClr val="FF0000"/>
                </a:solidFill>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，运算符用乘点号“</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”表示，称为与运算或者逻辑乘运算。</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或门</a:t>
            </a:r>
            <a:r>
              <a:rPr lang="en-US" altLang="zh-CN" dirty="0">
                <a:latin typeface="微软雅黑" panose="020B0503020204020204" pitchFamily="34" charset="-122"/>
                <a:ea typeface="微软雅黑" panose="020B0503020204020204" pitchFamily="34" charset="-122"/>
              </a:rPr>
              <a:t>OR</a:t>
            </a:r>
            <a:r>
              <a:rPr lang="zh-CN" altLang="en-US" dirty="0">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只要</a:t>
            </a:r>
            <a:r>
              <a:rPr lang="zh-CN" altLang="en-US" dirty="0">
                <a:latin typeface="微软雅黑" panose="020B0503020204020204" pitchFamily="34" charset="-122"/>
                <a:ea typeface="微软雅黑" panose="020B0503020204020204" pitchFamily="34" charset="-122"/>
              </a:rPr>
              <a:t>有一个输入信号</a:t>
            </a:r>
            <a:r>
              <a:rPr lang="zh-CN" altLang="en-US" dirty="0">
                <a:solidFill>
                  <a:srgbClr val="FF0000"/>
                </a:solidFill>
                <a:latin typeface="微软雅黑" panose="020B0503020204020204" pitchFamily="34" charset="-122"/>
                <a:ea typeface="微软雅黑" panose="020B0503020204020204" pitchFamily="34" charset="-122"/>
              </a:rPr>
              <a:t>为</a:t>
            </a:r>
            <a:r>
              <a:rPr lang="en-US" altLang="zh-CN" dirty="0">
                <a:solidFill>
                  <a:srgbClr val="FF0000"/>
                </a:solidFill>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时，输出信号就为</a:t>
            </a:r>
            <a:r>
              <a:rPr lang="en-US" altLang="zh-CN" dirty="0">
                <a:solidFill>
                  <a:srgbClr val="FF0000"/>
                </a:solidFill>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。运算符用加号“ </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表示，称为或运算或者逻辑加运算。</a:t>
            </a:r>
            <a:endParaRPr lang="zh-CN" altLang="en-US"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非门</a:t>
            </a:r>
            <a:r>
              <a:rPr lang="en-US" altLang="zh-CN" dirty="0">
                <a:latin typeface="微软雅黑" panose="020B0503020204020204" pitchFamily="34" charset="-122"/>
                <a:ea typeface="微软雅黑" panose="020B0503020204020204" pitchFamily="34" charset="-122"/>
              </a:rPr>
              <a:t>NOT </a:t>
            </a:r>
            <a:r>
              <a:rPr lang="zh-CN" altLang="en-US" dirty="0">
                <a:latin typeface="微软雅黑" panose="020B0503020204020204" pitchFamily="34" charset="-122"/>
                <a:ea typeface="微软雅黑" panose="020B0503020204020204" pitchFamily="34" charset="-122"/>
              </a:rPr>
              <a:t>：输出信号是输入信号的</a:t>
            </a:r>
            <a:r>
              <a:rPr lang="zh-CN" altLang="en-US" dirty="0">
                <a:solidFill>
                  <a:srgbClr val="FF0000"/>
                </a:solidFill>
                <a:latin typeface="微软雅黑" panose="020B0503020204020204" pitchFamily="34" charset="-122"/>
                <a:ea typeface="微软雅黑" panose="020B0503020204020204" pitchFamily="34" charset="-122"/>
              </a:rPr>
              <a:t>相反值</a:t>
            </a:r>
            <a:r>
              <a:rPr lang="zh-CN" altLang="en-US" dirty="0">
                <a:latin typeface="微软雅黑" panose="020B0503020204020204" pitchFamily="34" charset="-122"/>
                <a:ea typeface="微软雅黑" panose="020B0503020204020204" pitchFamily="34" charset="-122"/>
              </a:rPr>
              <a:t>，也称反相器。运算符用上横线“</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表示，称为非运算或者取反运算。</a:t>
            </a:r>
            <a:endParaRPr lang="zh-CN" altLang="en-US" dirty="0">
              <a:latin typeface="微软雅黑" panose="020B0503020204020204" pitchFamily="34" charset="-122"/>
              <a:ea typeface="微软雅黑" panose="020B0503020204020204" pitchFamily="34" charset="-122"/>
            </a:endParaRPr>
          </a:p>
          <a:p>
            <a:endParaRPr lang="zh-CN" altLang="en-US" sz="2000" dirty="0"/>
          </a:p>
        </p:txBody>
      </p:sp>
      <p:sp>
        <p:nvSpPr>
          <p:cNvPr id="6" name="灯片编号占位符 5"/>
          <p:cNvSpPr>
            <a:spLocks noGrp="1"/>
          </p:cNvSpPr>
          <p:nvPr>
            <p:ph type="sldNum" sz="quarter" idx="4294967295"/>
          </p:nvPr>
        </p:nvSpPr>
        <p:spPr>
          <a:xfrm>
            <a:off x="8642350" y="6521015"/>
            <a:ext cx="501650" cy="333375"/>
          </a:xfrm>
          <a:prstGeom prst="rect">
            <a:avLst/>
          </a:prstGeom>
        </p:spPr>
        <p:txBody>
          <a:bodyPr/>
          <a:lstStyle/>
          <a:p>
            <a:pPr>
              <a:defRPr/>
            </a:pPr>
            <a:fld id="{3B78F852-FEB5-4FC6-8012-DF6F33E7AD00}" type="slidenum">
              <a:rPr lang="en-US" altLang="zh-CN" smtClean="0"/>
            </a:fld>
            <a:endParaRPr lang="en-US" altLang="zh-CN"/>
          </a:p>
        </p:txBody>
      </p:sp>
      <p:pic>
        <p:nvPicPr>
          <p:cNvPr id="16" name="Picture 3" descr="Three diagrams show the logic gate symbols for AND, OR, and NOT gates. Part ay. The symbol for the AND gate is a half oval. Lines for inputs X and Y attached to the flat edge of the oval, and the line for output X AND Y or X dot Y extends from the opposite curved edge of the shape, parallel to the input lines. The corresponding truth table has columns with the following headings from left to right. X, Y, X AND Y. The row entries are as follows. Row 1, 0 0 0. Row 2, 0 1 0. Row 3, 1 0 0. Row 4, 1 1 1. Part b. The symbol for the OR gate is a rounded arrowhead pointing toward the output. The lines for inputs X and Y connect to the concave edge at the back of the arrowhead. Two convex edges converge on a point at the front end of the arrowhead, and the line for X OR Y, or X + Y, extends from the point, parallel to the input lines. Part c. The symbol for the NOT gate, or inverter, is a triangle with a small circle, or inversion bubble, at one vertex. The line for input X connects to the side opposite the bubble, perpendicular to it, and the output line for NOT X, or X prime, extends from the bubble, collinear to the input line."/>
          <p:cNvPicPr>
            <a:picLocks noChangeAspect="1"/>
          </p:cNvPicPr>
          <p:nvPr/>
        </p:nvPicPr>
        <p:blipFill rotWithShape="1">
          <a:blip r:embed="rId1" cstate="print">
            <a:extLst>
              <a:ext uri="{28A0092B-C50C-407E-A947-70E740481C1C}">
                <a14:useLocalDpi xmlns:a14="http://schemas.microsoft.com/office/drawing/2010/main" val="0"/>
              </a:ext>
            </a:extLst>
          </a:blip>
          <a:srcRect/>
          <a:stretch>
            <a:fillRect/>
          </a:stretch>
        </p:blipFill>
        <p:spPr bwMode="auto">
          <a:xfrm>
            <a:off x="1947643" y="3958225"/>
            <a:ext cx="2191586" cy="258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3" descr="Three diagrams show the logic gate symbols for AND, OR, and NOT gates. Part ay. The symbol for the AND gate is a half oval. Lines for inputs X and Y attached to the flat edge of the oval, and the line for output X AND Y or X dot Y extends from the opposite curved edge of the shape, parallel to the input lines. The corresponding truth table has columns with the following headings from left to right. X, Y, X AND Y. The row entries are as follows. Row 1, 0 0 0. Row 2, 0 1 0. Row 3, 1 0 0. Row 4, 1 1 1. Part b. The symbol for the OR gate is a rounded arrowhead pointing toward the output. The lines for inputs X and Y connect to the concave edge at the back of the arrowhead. Two convex edges converge on a point at the front end of the arrowhead, and the line for X OR Y, or X + Y, extends from the point, parallel to the input lines. Part c. The symbol for the NOT gate, or inverter, is a triangle with a small circle, or inversion bubble, at one vertex. The line for input X connects to the side opposite the bubble, perpendicular to it, and the output line for NOT X, or X prime, extends from the bubble, collinear to the input line."/>
          <p:cNvPicPr>
            <a:picLocks noChangeAspect="1"/>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4452911" y="3958225"/>
            <a:ext cx="2325999" cy="2626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3" descr="Three diagrams show the logic gate symbols for AND, OR, and NOT gates. Part ay. The symbol for the AND gate is a half oval. Lines for inputs X and Y attached to the flat edge of the oval, and the line for output X AND Y or X dot Y extends from the opposite curved edge of the shape, parallel to the input lines. The corresponding truth table has columns with the following headings from left to right. X, Y, X AND Y. The row entries are as follows. Row 1, 0 0 0. Row 2, 0 1 0. Row 3, 1 0 0. Row 4, 1 1 1. Part b. The symbol for the OR gate is a rounded arrowhead pointing toward the output. The lines for inputs X and Y connect to the concave edge at the back of the arrowhead. Two convex edges converge on a point at the front end of the arrowhead, and the line for X OR Y, or X + Y, extends from the point, parallel to the input lines. Part c. The symbol for the NOT gate, or inverter, is a triangle with a small circle, or inversion bubble, at one vertex. The line for input X connects to the side opposite the bubble, perpendicular to it, and the output line for NOT X, or X prime, extends from the bubble, collinear to the input line."/>
          <p:cNvPicPr>
            <a:picLocks noChangeAspect="1"/>
          </p:cNvPicPr>
          <p:nvPr/>
        </p:nvPicPr>
        <p:blipFill rotWithShape="1">
          <a:blip r:embed="rId3" cstate="print">
            <a:extLst>
              <a:ext uri="{28A0092B-C50C-407E-A947-70E740481C1C}">
                <a14:useLocalDpi xmlns:a14="http://schemas.microsoft.com/office/drawing/2010/main" val="0"/>
              </a:ext>
            </a:extLst>
          </a:blip>
          <a:srcRect/>
          <a:stretch>
            <a:fillRect/>
          </a:stretch>
        </p:blipFill>
        <p:spPr bwMode="auto">
          <a:xfrm>
            <a:off x="6904033" y="3958225"/>
            <a:ext cx="2018614" cy="2662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圆角矩形标注 2"/>
          <p:cNvSpPr/>
          <p:nvPr/>
        </p:nvSpPr>
        <p:spPr>
          <a:xfrm>
            <a:off x="7106176" y="6196616"/>
            <a:ext cx="1213792" cy="455123"/>
          </a:xfrm>
          <a:prstGeom prst="wedgeRoundRectCallout">
            <a:avLst>
              <a:gd name="adj1" fmla="val 25451"/>
              <a:gd name="adj2" fmla="val -426934"/>
              <a:gd name="adj3" fmla="val 16667"/>
            </a:avLst>
          </a:prstGeom>
          <a:noFill/>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400" dirty="0">
                <a:solidFill>
                  <a:srgbClr val="FF0000"/>
                </a:solidFill>
              </a:rPr>
              <a:t>反相圈</a:t>
            </a:r>
            <a:endParaRPr lang="zh-CN" altLang="en-US" sz="2400" dirty="0">
              <a:solidFill>
                <a:srgbClr val="FF0000"/>
              </a:solidFill>
            </a:endParaRPr>
          </a:p>
        </p:txBody>
      </p:sp>
      <mc:AlternateContent xmlns:mc="http://schemas.openxmlformats.org/markup-compatibility/2006">
        <mc:Choice xmlns:a14="http://schemas.microsoft.com/office/drawing/2010/main" Requires="a14">
          <p:sp>
            <p:nvSpPr>
              <p:cNvPr id="41" name="文本框 40"/>
              <p:cNvSpPr txBox="1"/>
              <p:nvPr/>
            </p:nvSpPr>
            <p:spPr>
              <a:xfrm>
                <a:off x="8172400" y="4496252"/>
                <a:ext cx="514400" cy="461665"/>
              </a:xfrm>
              <a:prstGeom prst="rect">
                <a:avLst/>
              </a:prstGeom>
              <a:solidFill>
                <a:schemeClr val="bg1"/>
              </a:solidFill>
            </p:spPr>
            <p:txBody>
              <a:bodyPr wrap="square" rtlCol="0">
                <a:spAutoFit/>
              </a:bodyPr>
              <a:lstStyle/>
              <a:p>
                <a14:m>
                  <m:oMathPara xmlns:m="http://schemas.openxmlformats.org/officeDocument/2006/math">
                    <m:oMathParaPr>
                      <m:jc m:val="centerGroup"/>
                    </m:oMathParaPr>
                    <m:oMath xmlns:m="http://schemas.openxmlformats.org/officeDocument/2006/math">
                      <m:acc>
                        <m:accPr>
                          <m:chr m:val="̅"/>
                          <m:ctrlPr>
                            <a:rPr lang="zh-CN" altLang="en-US" sz="2400" i="1">
                              <a:solidFill>
                                <a:srgbClr val="00B0F0"/>
                              </a:solidFill>
                              <a:latin typeface="Cambria Math" panose="02040503050406030204" pitchFamily="18" charset="0"/>
                            </a:rPr>
                          </m:ctrlPr>
                        </m:accPr>
                        <m:e>
                          <m:r>
                            <a:rPr lang="en-US" altLang="zh-CN" sz="2400" i="1">
                              <a:solidFill>
                                <a:srgbClr val="00B0F0"/>
                              </a:solidFill>
                              <a:latin typeface="Cambria Math" panose="02040503050406030204" pitchFamily="18" charset="0"/>
                            </a:rPr>
                            <m:t>𝑋</m:t>
                          </m:r>
                        </m:e>
                      </m:acc>
                    </m:oMath>
                  </m:oMathPara>
                </a14:m>
                <a:endParaRPr lang="zh-CN" altLang="en-US" sz="2400" dirty="0">
                  <a:solidFill>
                    <a:srgbClr val="00B0F0"/>
                  </a:solidFill>
                </a:endParaRPr>
              </a:p>
            </p:txBody>
          </p:sp>
        </mc:Choice>
        <mc:Fallback>
          <p:sp>
            <p:nvSpPr>
              <p:cNvPr id="41" name="文本框 40"/>
              <p:cNvSpPr txBox="1">
                <a:spLocks noRot="1" noChangeAspect="1" noMove="1" noResize="1" noEditPoints="1" noAdjustHandles="1" noChangeArrowheads="1" noChangeShapeType="1" noTextEdit="1"/>
              </p:cNvSpPr>
              <p:nvPr/>
            </p:nvSpPr>
            <p:spPr>
              <a:xfrm>
                <a:off x="8172400" y="4496252"/>
                <a:ext cx="514400" cy="461665"/>
              </a:xfrm>
              <a:prstGeom prst="rect">
                <a:avLst/>
              </a:prstGeom>
              <a:blipFill rotWithShape="1">
                <a:blip r:embed="rId4"/>
                <a:stretch>
                  <a:fillRect l="-114" t="-98" b="102"/>
                </a:stretch>
              </a:blipFill>
            </p:spPr>
            <p:txBody>
              <a:bodyPr/>
              <a:lstStyle/>
              <a:p>
                <a:r>
                  <a:rPr lang="zh-CN" altLang="en-US">
                    <a:noFill/>
                  </a:rPr>
                  <a:t> </a:t>
                </a:r>
              </a:p>
            </p:txBody>
          </p:sp>
        </mc:Fallback>
      </mc:AlternateContent>
      <p:sp>
        <p:nvSpPr>
          <p:cNvPr id="3" name="对话气泡: 圆角矩形 2"/>
          <p:cNvSpPr/>
          <p:nvPr/>
        </p:nvSpPr>
        <p:spPr>
          <a:xfrm>
            <a:off x="163801" y="4206287"/>
            <a:ext cx="1269585" cy="457179"/>
          </a:xfrm>
          <a:prstGeom prst="wedgeRoundRectCallout">
            <a:avLst>
              <a:gd name="adj1" fmla="val 91146"/>
              <a:gd name="adj2" fmla="val -14164"/>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000" dirty="0">
                <a:latin typeface="微软雅黑" panose="020B0503020204020204" pitchFamily="34" charset="-122"/>
                <a:ea typeface="微软雅黑" panose="020B0503020204020204" pitchFamily="34" charset="-122"/>
              </a:rPr>
              <a:t>逻辑符号</a:t>
            </a:r>
            <a:endParaRPr lang="zh-CN" altLang="en-US" sz="2000" dirty="0">
              <a:latin typeface="微软雅黑" panose="020B0503020204020204" pitchFamily="34" charset="-122"/>
              <a:ea typeface="微软雅黑" panose="020B0503020204020204" pitchFamily="34" charset="-122"/>
            </a:endParaRPr>
          </a:p>
        </p:txBody>
      </p:sp>
      <p:sp>
        <p:nvSpPr>
          <p:cNvPr id="19" name="对话气泡: 圆角矩形 18"/>
          <p:cNvSpPr/>
          <p:nvPr/>
        </p:nvSpPr>
        <p:spPr>
          <a:xfrm>
            <a:off x="131248" y="4928589"/>
            <a:ext cx="1554397" cy="587330"/>
          </a:xfrm>
          <a:prstGeom prst="wedgeRoundRectCallout">
            <a:avLst>
              <a:gd name="adj1" fmla="val 180237"/>
              <a:gd name="adj2" fmla="val -98435"/>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000" dirty="0">
                <a:latin typeface="微软雅黑" panose="020B0503020204020204" pitchFamily="34" charset="-122"/>
                <a:ea typeface="微软雅黑" panose="020B0503020204020204" pitchFamily="34" charset="-122"/>
              </a:rPr>
              <a:t>逻辑表达式</a:t>
            </a:r>
            <a:endParaRPr lang="zh-CN" altLang="en-US" sz="2000" dirty="0">
              <a:latin typeface="微软雅黑" panose="020B0503020204020204" pitchFamily="34" charset="-122"/>
              <a:ea typeface="微软雅黑" panose="020B0503020204020204" pitchFamily="34" charset="-122"/>
            </a:endParaRPr>
          </a:p>
        </p:txBody>
      </p:sp>
      <p:sp>
        <p:nvSpPr>
          <p:cNvPr id="20" name="对话气泡: 圆角矩形 19"/>
          <p:cNvSpPr/>
          <p:nvPr/>
        </p:nvSpPr>
        <p:spPr>
          <a:xfrm>
            <a:off x="276548" y="5902335"/>
            <a:ext cx="1269585" cy="457179"/>
          </a:xfrm>
          <a:prstGeom prst="wedgeRoundRectCallout">
            <a:avLst>
              <a:gd name="adj1" fmla="val 97199"/>
              <a:gd name="adj2" fmla="val -147892"/>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000" dirty="0">
                <a:latin typeface="微软雅黑" panose="020B0503020204020204" pitchFamily="34" charset="-122"/>
                <a:ea typeface="微软雅黑" panose="020B0503020204020204" pitchFamily="34" charset="-122"/>
              </a:rPr>
              <a:t>真值表</a:t>
            </a:r>
            <a:endParaRPr lang="zh-CN" altLang="en-US" sz="2000" dirty="0">
              <a:latin typeface="微软雅黑" panose="020B0503020204020204" pitchFamily="34" charset="-122"/>
              <a:ea typeface="微软雅黑" panose="020B0503020204020204" pitchFamily="34" charset="-122"/>
            </a:endParaRPr>
          </a:p>
        </p:txBody>
      </p:sp>
      <p:cxnSp>
        <p:nvCxnSpPr>
          <p:cNvPr id="8" name="直接连接符 7"/>
          <p:cNvCxnSpPr>
            <a:endCxn id="16" idx="2"/>
          </p:cNvCxnSpPr>
          <p:nvPr/>
        </p:nvCxnSpPr>
        <p:spPr>
          <a:xfrm>
            <a:off x="3014443" y="4957917"/>
            <a:ext cx="28993" cy="1589083"/>
          </a:xfrm>
          <a:prstGeom prst="line">
            <a:avLst/>
          </a:prstGeom>
          <a:ln w="28575">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24" name="直接连接符 23"/>
          <p:cNvCxnSpPr>
            <a:endCxn id="22" idx="2"/>
          </p:cNvCxnSpPr>
          <p:nvPr/>
        </p:nvCxnSpPr>
        <p:spPr>
          <a:xfrm>
            <a:off x="5575236" y="5031275"/>
            <a:ext cx="40675" cy="1553078"/>
          </a:xfrm>
          <a:prstGeom prst="line">
            <a:avLst/>
          </a:prstGeom>
          <a:ln w="28575">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620000" y="5031275"/>
            <a:ext cx="0" cy="979921"/>
          </a:xfrm>
          <a:prstGeom prst="line">
            <a:avLst/>
          </a:prstGeom>
          <a:ln w="28575">
            <a:solidFill>
              <a:srgbClr val="00B0F0"/>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P spid="3" grpId="0" animBg="1"/>
      <p:bldP spid="19" grpId="0" animBg="1"/>
      <p:bldP spid="2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 </a:t>
            </a:r>
            <a:r>
              <a:rPr lang="zh-CN" altLang="en-US" dirty="0"/>
              <a:t>逻辑门</a:t>
            </a:r>
            <a:endParaRPr lang="zh-CN" altLang="en-US" dirty="0"/>
          </a:p>
        </p:txBody>
      </p:sp>
      <p:sp>
        <p:nvSpPr>
          <p:cNvPr id="3" name="内容占位符 2"/>
          <p:cNvSpPr>
            <a:spLocks noGrp="1"/>
          </p:cNvSpPr>
          <p:nvPr>
            <p:ph idx="1"/>
          </p:nvPr>
        </p:nvSpPr>
        <p:spPr>
          <a:xfrm>
            <a:off x="413359" y="872301"/>
            <a:ext cx="8686800" cy="3067506"/>
          </a:xfrm>
        </p:spPr>
        <p:txBody>
          <a:bodyPr/>
          <a:lstStyle/>
          <a:p>
            <a:r>
              <a:rPr lang="zh-CN" altLang="en-US" dirty="0"/>
              <a:t>与非门 </a:t>
            </a:r>
            <a:r>
              <a:rPr lang="en-US" altLang="zh-CN" dirty="0"/>
              <a:t>NAND</a:t>
            </a:r>
            <a:endParaRPr lang="en-US" altLang="zh-CN" dirty="0"/>
          </a:p>
          <a:p>
            <a:pPr lvl="1"/>
            <a:r>
              <a:rPr lang="zh-CN" altLang="en-US" dirty="0">
                <a:latin typeface="Verdana" panose="020B0604030504040204" pitchFamily="34" charset="0"/>
              </a:rPr>
              <a:t>只要有一个输入信号为</a:t>
            </a:r>
            <a:r>
              <a:rPr lang="en-US" altLang="zh-CN" dirty="0">
                <a:solidFill>
                  <a:srgbClr val="FF0000"/>
                </a:solidFill>
                <a:latin typeface="Verdana" panose="020B0604030504040204" pitchFamily="34" charset="0"/>
              </a:rPr>
              <a:t>0</a:t>
            </a:r>
            <a:r>
              <a:rPr lang="zh-CN" altLang="en-US" dirty="0">
                <a:latin typeface="Verdana" panose="020B0604030504040204" pitchFamily="34" charset="0"/>
              </a:rPr>
              <a:t>，输出信号就为</a:t>
            </a:r>
            <a:r>
              <a:rPr lang="en-US" altLang="zh-CN" dirty="0">
                <a:solidFill>
                  <a:srgbClr val="FF0000"/>
                </a:solidFill>
                <a:latin typeface="Verdana" panose="020B0604030504040204" pitchFamily="34" charset="0"/>
              </a:rPr>
              <a:t>1</a:t>
            </a:r>
            <a:r>
              <a:rPr lang="zh-CN" altLang="en-US" dirty="0">
                <a:latin typeface="Verdana" panose="020B0604030504040204" pitchFamily="34" charset="0"/>
              </a:rPr>
              <a:t>。</a:t>
            </a:r>
            <a:r>
              <a:rPr lang="zh-CN" altLang="en-US" dirty="0"/>
              <a:t>逻辑表达式用与运算加上横线来表示。</a:t>
            </a:r>
            <a:endParaRPr lang="en-US" altLang="zh-CN" dirty="0">
              <a:solidFill>
                <a:srgbClr val="FF0000"/>
              </a:solidFill>
              <a:latin typeface="Verdana" panose="020B0604030504040204" pitchFamily="34" charset="0"/>
            </a:endParaRPr>
          </a:p>
          <a:p>
            <a:pPr>
              <a:defRPr/>
            </a:pPr>
            <a:r>
              <a:rPr lang="zh-CN" altLang="en-US" dirty="0"/>
              <a:t>或非门 </a:t>
            </a:r>
            <a:r>
              <a:rPr lang="en-US" altLang="zh-CN" dirty="0"/>
              <a:t>NOR</a:t>
            </a:r>
            <a:endParaRPr lang="en-US" altLang="zh-CN" dirty="0"/>
          </a:p>
          <a:p>
            <a:pPr lvl="1">
              <a:defRPr/>
            </a:pPr>
            <a:r>
              <a:rPr lang="zh-CN" altLang="en-US" dirty="0"/>
              <a:t>当且仅当所有输入信号为</a:t>
            </a:r>
            <a:r>
              <a:rPr lang="en-US" altLang="zh-CN" dirty="0">
                <a:solidFill>
                  <a:srgbClr val="FF0000"/>
                </a:solidFill>
              </a:rPr>
              <a:t>0</a:t>
            </a:r>
            <a:r>
              <a:rPr lang="zh-CN" altLang="en-US" dirty="0"/>
              <a:t>时，输信号出才为</a:t>
            </a:r>
            <a:r>
              <a:rPr lang="en-US" altLang="zh-CN" dirty="0">
                <a:solidFill>
                  <a:srgbClr val="FF0000"/>
                </a:solidFill>
              </a:rPr>
              <a:t>1</a:t>
            </a:r>
            <a:r>
              <a:rPr lang="zh-CN" altLang="en-US" dirty="0"/>
              <a:t>。逻辑表达式用或运算加上横线来表示。</a:t>
            </a:r>
            <a:endParaRPr lang="zh-CN" altLang="en-US" dirty="0"/>
          </a:p>
          <a:p>
            <a:endParaRPr lang="zh-CN" altLang="en-US" sz="2000"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3B78F852-FEB5-4FC6-8012-DF6F33E7AD00}" type="slidenum">
              <a:rPr lang="en-US" altLang="zh-CN" smtClean="0"/>
            </a:fld>
            <a:endParaRPr lang="en-US" altLang="zh-CN"/>
          </a:p>
        </p:txBody>
      </p:sp>
      <p:pic>
        <p:nvPicPr>
          <p:cNvPr id="7" name="Picture 3" descr="Part ay. The NAND gate is an AND gate with an inversion bubble at the output. The gate receives inputs X and Y and sends output X NAND Y, or (X dot Y) prime. The corresponding truth table has columns with the following headings from left to right. X, Y, X NAND Y. The row entries are as follows. Row 1, 0 0 1. Row 2, 0 1 1. Row 3, 1 0 1. Row 4, 1 1 0. Part b. The NOR gate is an OR gate with an inversion bubble at the output. The gate receives inputs X and Y and sends output X NOR Y, or (X + Y) prime. The corresponding truth table has columns with the following headings from left to right. X, Y, X NOR Y. The row entries are as follows. Row 1, 0 0 1. Row 2, 0 1 0. Row 3, 1 0 0. Row 4, 1 1 0."/>
          <p:cNvPicPr>
            <a:picLocks noChangeAspect="1"/>
          </p:cNvPicPr>
          <p:nvPr/>
        </p:nvPicPr>
        <p:blipFill rotWithShape="1">
          <a:blip r:embed="rId1" cstate="print">
            <a:extLst>
              <a:ext uri="{28A0092B-C50C-407E-A947-70E740481C1C}">
                <a14:useLocalDpi xmlns:a14="http://schemas.microsoft.com/office/drawing/2010/main" val="0"/>
              </a:ext>
            </a:extLst>
          </a:blip>
          <a:srcRect/>
          <a:stretch>
            <a:fillRect/>
          </a:stretch>
        </p:blipFill>
        <p:spPr bwMode="auto">
          <a:xfrm>
            <a:off x="1096599" y="4016194"/>
            <a:ext cx="2808313" cy="259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descr="Part ay. The NAND gate is an AND gate with an inversion bubble at the output. The gate receives inputs X and Y and sends output X NAND Y, or (X dot Y) prime. The corresponding truth table has columns with the following headings from left to right. X, Y, X NAND Y. The row entries are as follows. Row 1, 0 0 1. Row 2, 0 1 1. Row 3, 1 0 1. Row 4, 1 1 0. Part b. The NOR gate is an OR gate with an inversion bubble at the output. The gate receives inputs X and Y and sends output X NOR Y, or (X + Y) prime. The corresponding truth table has columns with the following headings from left to right. X, Y, X NOR Y. The row entries are as follows. Row 1, 0 0 1. Row 2, 0 1 0. Row 3, 1 0 0. Row 4, 1 1 0."/>
          <p:cNvPicPr>
            <a:picLocks noChangeAspect="1"/>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5633103" y="4032274"/>
            <a:ext cx="2808313" cy="259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a14="http://schemas.microsoft.com/office/drawing/2010/main" Requires="a14">
          <p:sp>
            <p:nvSpPr>
              <p:cNvPr id="15" name="文本框 14"/>
              <p:cNvSpPr txBox="1"/>
              <p:nvPr/>
            </p:nvSpPr>
            <p:spPr>
              <a:xfrm>
                <a:off x="7354868" y="4495767"/>
                <a:ext cx="864096" cy="461665"/>
              </a:xfrm>
              <a:prstGeom prst="rect">
                <a:avLst/>
              </a:prstGeom>
              <a:solidFill>
                <a:schemeClr val="bg1"/>
              </a:solidFill>
            </p:spPr>
            <p:txBody>
              <a:bodyPr wrap="square" rtlCol="0">
                <a:spAutoFit/>
              </a:bodyPr>
              <a:lstStyle/>
              <a:p>
                <a14:m>
                  <m:oMathPara xmlns:m="http://schemas.openxmlformats.org/officeDocument/2006/math">
                    <m:oMathParaPr>
                      <m:jc m:val="centerGroup"/>
                    </m:oMathParaPr>
                    <m:oMath xmlns:m="http://schemas.openxmlformats.org/officeDocument/2006/math">
                      <m:acc>
                        <m:accPr>
                          <m:chr m:val="̅"/>
                          <m:ctrlPr>
                            <a:rPr lang="zh-CN" altLang="en-US" sz="2400" i="1">
                              <a:solidFill>
                                <a:srgbClr val="00B0F0"/>
                              </a:solidFill>
                              <a:latin typeface="Cambria Math" panose="02040503050406030204" pitchFamily="18" charset="0"/>
                            </a:rPr>
                          </m:ctrlPr>
                        </m:accPr>
                        <m:e>
                          <m:r>
                            <a:rPr lang="en-US" altLang="zh-CN" sz="2400" i="1">
                              <a:solidFill>
                                <a:srgbClr val="00B0F0"/>
                              </a:solidFill>
                              <a:latin typeface="Cambria Math" panose="02040503050406030204" pitchFamily="18" charset="0"/>
                            </a:rPr>
                            <m:t>𝑋</m:t>
                          </m:r>
                          <m:r>
                            <a:rPr lang="en-US" altLang="zh-CN" sz="2400" i="1">
                              <a:solidFill>
                                <a:srgbClr val="00B0F0"/>
                              </a:solidFill>
                              <a:latin typeface="Cambria Math" panose="02040503050406030204" pitchFamily="18" charset="0"/>
                            </a:rPr>
                            <m:t>+</m:t>
                          </m:r>
                          <m:r>
                            <a:rPr lang="en-US" altLang="zh-CN" sz="2400" i="1">
                              <a:solidFill>
                                <a:srgbClr val="00B0F0"/>
                              </a:solidFill>
                              <a:latin typeface="Cambria Math" panose="02040503050406030204" pitchFamily="18" charset="0"/>
                            </a:rPr>
                            <m:t>𝑌</m:t>
                          </m:r>
                        </m:e>
                      </m:acc>
                    </m:oMath>
                  </m:oMathPara>
                </a14:m>
                <a:endParaRPr lang="zh-CN" altLang="en-US" sz="2400" dirty="0">
                  <a:solidFill>
                    <a:srgbClr val="00B0F0"/>
                  </a:solidFill>
                </a:endParaRPr>
              </a:p>
            </p:txBody>
          </p:sp>
        </mc:Choice>
        <mc:Fallback>
          <p:sp>
            <p:nvSpPr>
              <p:cNvPr id="15" name="文本框 14"/>
              <p:cNvSpPr txBox="1">
                <a:spLocks noRot="1" noChangeAspect="1" noMove="1" noResize="1" noEditPoints="1" noAdjustHandles="1" noChangeArrowheads="1" noChangeShapeType="1" noTextEdit="1"/>
              </p:cNvSpPr>
              <p:nvPr/>
            </p:nvSpPr>
            <p:spPr>
              <a:xfrm>
                <a:off x="7354868" y="4495767"/>
                <a:ext cx="864096" cy="461665"/>
              </a:xfrm>
              <a:prstGeom prst="rect">
                <a:avLst/>
              </a:prstGeom>
              <a:blipFill rotWithShape="1">
                <a:blip r:embed="rId3"/>
                <a:stretch>
                  <a:fillRect l="-34" t="-130" r="18" b="13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文本框 15"/>
              <p:cNvSpPr txBox="1"/>
              <p:nvPr/>
            </p:nvSpPr>
            <p:spPr>
              <a:xfrm>
                <a:off x="2690283" y="4438137"/>
                <a:ext cx="864096" cy="461665"/>
              </a:xfrm>
              <a:prstGeom prst="rect">
                <a:avLst/>
              </a:prstGeom>
              <a:solidFill>
                <a:schemeClr val="bg1"/>
              </a:solidFill>
            </p:spPr>
            <p:txBody>
              <a:bodyPr wrap="square" rtlCol="0">
                <a:spAutoFit/>
              </a:bodyPr>
              <a:lstStyle/>
              <a:p>
                <a14:m>
                  <m:oMathPara xmlns:m="http://schemas.openxmlformats.org/officeDocument/2006/math">
                    <m:oMathParaPr>
                      <m:jc m:val="centerGroup"/>
                    </m:oMathParaPr>
                    <m:oMath xmlns:m="http://schemas.openxmlformats.org/officeDocument/2006/math">
                      <m:acc>
                        <m:accPr>
                          <m:chr m:val="̅"/>
                          <m:ctrlPr>
                            <a:rPr lang="zh-CN" altLang="en-US" sz="2400" i="1">
                              <a:solidFill>
                                <a:srgbClr val="00B0F0"/>
                              </a:solidFill>
                              <a:latin typeface="Cambria Math" panose="02040503050406030204" pitchFamily="18" charset="0"/>
                            </a:rPr>
                          </m:ctrlPr>
                        </m:accPr>
                        <m:e>
                          <m:r>
                            <a:rPr lang="en-US" altLang="zh-CN" sz="2400" i="1" smtClean="0">
                              <a:solidFill>
                                <a:srgbClr val="00B0F0"/>
                              </a:solidFill>
                              <a:latin typeface="Cambria Math" panose="02040503050406030204" pitchFamily="18" charset="0"/>
                            </a:rPr>
                            <m:t>𝑋</m:t>
                          </m:r>
                          <m:r>
                            <a:rPr lang="en-US" altLang="zh-CN" sz="2400" i="1">
                              <a:solidFill>
                                <a:srgbClr val="00B0F0"/>
                              </a:solidFill>
                              <a:latin typeface="Cambria Math" panose="02040503050406030204" pitchFamily="18" charset="0"/>
                              <a:sym typeface="Wingdings" panose="05000000000000000000" pitchFamily="2" charset="2"/>
                            </a:rPr>
                            <m:t></m:t>
                          </m:r>
                          <m:r>
                            <a:rPr lang="en-US" altLang="zh-CN" sz="2400" i="1">
                              <a:solidFill>
                                <a:srgbClr val="00B0F0"/>
                              </a:solidFill>
                              <a:latin typeface="Cambria Math" panose="02040503050406030204" pitchFamily="18" charset="0"/>
                            </a:rPr>
                            <m:t>𝑌</m:t>
                          </m:r>
                        </m:e>
                      </m:acc>
                    </m:oMath>
                  </m:oMathPara>
                </a14:m>
                <a:endParaRPr lang="zh-CN" altLang="en-US" sz="2400" dirty="0">
                  <a:solidFill>
                    <a:srgbClr val="00B0F0"/>
                  </a:solidFill>
                </a:endParaRPr>
              </a:p>
            </p:txBody>
          </p:sp>
        </mc:Choice>
        <mc:Fallback>
          <p:sp>
            <p:nvSpPr>
              <p:cNvPr id="16" name="文本框 15"/>
              <p:cNvSpPr txBox="1">
                <a:spLocks noRot="1" noChangeAspect="1" noMove="1" noResize="1" noEditPoints="1" noAdjustHandles="1" noChangeArrowheads="1" noChangeShapeType="1" noTextEdit="1"/>
              </p:cNvSpPr>
              <p:nvPr/>
            </p:nvSpPr>
            <p:spPr>
              <a:xfrm>
                <a:off x="2690283" y="4438137"/>
                <a:ext cx="864096" cy="461665"/>
              </a:xfrm>
              <a:prstGeom prst="rect">
                <a:avLst/>
              </a:prstGeom>
              <a:blipFill rotWithShape="1">
                <a:blip r:embed="rId4"/>
                <a:stretch>
                  <a:fillRect l="-49" t="-26" r="33" b="31"/>
                </a:stretch>
              </a:blipFill>
            </p:spPr>
            <p:txBody>
              <a:bodyPr/>
              <a:lstStyle/>
              <a:p>
                <a:r>
                  <a:rPr lang="zh-CN" altLang="en-US">
                    <a:noFill/>
                  </a:rPr>
                  <a:t> </a:t>
                </a:r>
              </a:p>
            </p:txBody>
          </p:sp>
        </mc:Fallback>
      </mc:AlternateContent>
      <p:cxnSp>
        <p:nvCxnSpPr>
          <p:cNvPr id="13" name="直接连接符 12"/>
          <p:cNvCxnSpPr/>
          <p:nvPr/>
        </p:nvCxnSpPr>
        <p:spPr>
          <a:xfrm>
            <a:off x="2414512" y="5019400"/>
            <a:ext cx="0" cy="1589085"/>
          </a:xfrm>
          <a:prstGeom prst="line">
            <a:avLst/>
          </a:prstGeom>
          <a:ln w="28575">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7073260" y="5035479"/>
            <a:ext cx="0" cy="1589085"/>
          </a:xfrm>
          <a:prstGeom prst="line">
            <a:avLst/>
          </a:prstGeom>
          <a:ln w="28575">
            <a:solidFill>
              <a:srgbClr val="00B0F0"/>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en-US" altLang="zh-CN" dirty="0"/>
              <a:t>1.1 </a:t>
            </a:r>
            <a:r>
              <a:rPr lang="zh-CN" altLang="en-US" dirty="0"/>
              <a:t>逻辑门</a:t>
            </a:r>
            <a:endParaRPr lang="zh-CN" altLang="en-US" dirty="0"/>
          </a:p>
        </p:txBody>
      </p:sp>
      <p:sp>
        <p:nvSpPr>
          <p:cNvPr id="5123" name="内容占位符 2"/>
          <p:cNvSpPr>
            <a:spLocks noGrp="1"/>
          </p:cNvSpPr>
          <p:nvPr>
            <p:ph idx="1"/>
          </p:nvPr>
        </p:nvSpPr>
        <p:spPr>
          <a:xfrm>
            <a:off x="360342" y="838508"/>
            <a:ext cx="8661758" cy="3261406"/>
          </a:xfrm>
        </p:spPr>
        <p:txBody>
          <a:bodyPr/>
          <a:lstStyle/>
          <a:p>
            <a:r>
              <a:rPr lang="zh-CN" altLang="en-US" dirty="0"/>
              <a:t>异或门</a:t>
            </a:r>
            <a:r>
              <a:rPr lang="en-US" altLang="zh-CN" dirty="0"/>
              <a:t>XOR</a:t>
            </a:r>
            <a:endParaRPr lang="en-US" altLang="zh-CN" dirty="0"/>
          </a:p>
          <a:p>
            <a:pPr lvl="1"/>
            <a:r>
              <a:rPr lang="zh-CN" altLang="en-US" sz="2400" dirty="0"/>
              <a:t>当两个输入</a:t>
            </a:r>
            <a:r>
              <a:rPr lang="zh-CN" altLang="en-US" sz="2400" b="1" dirty="0">
                <a:solidFill>
                  <a:srgbClr val="FF0000"/>
                </a:solidFill>
              </a:rPr>
              <a:t>不同</a:t>
            </a:r>
            <a:r>
              <a:rPr lang="zh-CN" altLang="en-US" sz="2400" dirty="0"/>
              <a:t>时，输出为</a:t>
            </a:r>
            <a:r>
              <a:rPr lang="en-US" altLang="zh-CN" sz="2400" dirty="0">
                <a:solidFill>
                  <a:srgbClr val="FF0000"/>
                </a:solidFill>
              </a:rPr>
              <a:t>1</a:t>
            </a:r>
            <a:r>
              <a:rPr lang="en-US" altLang="zh-CN" sz="2400" dirty="0"/>
              <a:t>。</a:t>
            </a:r>
            <a:r>
              <a:rPr lang="zh-CN" altLang="en-US" sz="2400" dirty="0"/>
              <a:t>运算符用“⊕”表示，逻辑表达式：</a:t>
            </a:r>
            <a:endParaRPr lang="en-US" altLang="zh-CN" sz="2400" dirty="0"/>
          </a:p>
          <a:p>
            <a:r>
              <a:rPr lang="zh-CN" altLang="en-US" dirty="0"/>
              <a:t>同或门</a:t>
            </a:r>
            <a:r>
              <a:rPr lang="en-US" altLang="zh-CN" dirty="0"/>
              <a:t>NXOR</a:t>
            </a:r>
            <a:endParaRPr lang="en-US" altLang="zh-CN" dirty="0"/>
          </a:p>
          <a:p>
            <a:pPr lvl="1"/>
            <a:r>
              <a:rPr lang="zh-CN" altLang="en-US" sz="2400" dirty="0"/>
              <a:t>当两个输入</a:t>
            </a:r>
            <a:r>
              <a:rPr lang="zh-CN" altLang="en-US" sz="2400" b="1" dirty="0">
                <a:solidFill>
                  <a:srgbClr val="FF0000"/>
                </a:solidFill>
              </a:rPr>
              <a:t>相同</a:t>
            </a:r>
            <a:r>
              <a:rPr lang="zh-CN" altLang="en-US" sz="2400" dirty="0"/>
              <a:t>时，输出为</a:t>
            </a:r>
            <a:r>
              <a:rPr lang="en-US" altLang="zh-CN" sz="2400" dirty="0">
                <a:solidFill>
                  <a:srgbClr val="FF0000"/>
                </a:solidFill>
              </a:rPr>
              <a:t>1</a:t>
            </a:r>
            <a:r>
              <a:rPr lang="en-US" altLang="zh-CN" sz="2400" dirty="0"/>
              <a:t>。</a:t>
            </a:r>
            <a:r>
              <a:rPr lang="zh-CN" altLang="en-US" sz="2400" dirty="0"/>
              <a:t>也称为异或非门或等价关系门。运算符用“⊙”表示。</a:t>
            </a:r>
            <a:endParaRPr lang="en-US" altLang="zh-CN" sz="2400" dirty="0"/>
          </a:p>
          <a:p>
            <a:pPr marL="495300" lvl="1" indent="0">
              <a:buNone/>
            </a:pPr>
            <a:endParaRPr lang="en-US" altLang="zh-CN" sz="2200" i="1" kern="1200" dirty="0">
              <a:solidFill>
                <a:srgbClr val="000000"/>
              </a:solidFill>
              <a:latin typeface="Cambria Math" panose="02040503050406030204" pitchFamily="18" charset="0"/>
              <a:ea typeface="宋体" panose="02010600030101010101" pitchFamily="2" charset="-122"/>
              <a:cs typeface="+mn-cs"/>
            </a:endParaRPr>
          </a:p>
        </p:txBody>
      </p:sp>
      <p:sp>
        <p:nvSpPr>
          <p:cNvPr id="5125" name="灯片编号占位符 4"/>
          <p:cNvSpPr>
            <a:spLocks noGrp="1"/>
          </p:cNvSpPr>
          <p:nvPr>
            <p:ph type="sldNum" sz="quarter" idx="4294967295"/>
          </p:nvPr>
        </p:nvSpPr>
        <p:spPr>
          <a:xfrm>
            <a:off x="8642350" y="6489700"/>
            <a:ext cx="501650" cy="3333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760EFA2-C065-401B-BB3A-F0E612F5A789}" type="slidenum">
              <a:rPr lang="en-US" altLang="zh-CN" smtClean="0"/>
            </a:fld>
            <a:endParaRPr lang="en-US" altLang="zh-CN"/>
          </a:p>
        </p:txBody>
      </p:sp>
      <mc:AlternateContent xmlns:mc="http://schemas.openxmlformats.org/markup-compatibility/2006">
        <mc:Choice xmlns:a14="http://schemas.microsoft.com/office/drawing/2010/main" Requires="a14">
          <p:sp>
            <p:nvSpPr>
              <p:cNvPr id="13" name="Object 6"/>
              <p:cNvSpPr txBox="1"/>
              <p:nvPr/>
            </p:nvSpPr>
            <p:spPr bwMode="auto">
              <a:xfrm>
                <a:off x="2164102" y="1752410"/>
                <a:ext cx="3073865" cy="527994"/>
              </a:xfrm>
              <a:prstGeom prst="rect">
                <a:avLst/>
              </a:prstGeom>
              <a:noFill/>
              <a:ln>
                <a:noFill/>
              </a:ln>
              <a:effectLst/>
            </p:spPr>
            <p:txBody>
              <a:bodyPr>
                <a:normAutofit/>
              </a:bodyPr>
              <a:lstStyle/>
              <a:p>
                <a14:m>
                  <m:oMathPara xmlns:m="http://schemas.openxmlformats.org/officeDocument/2006/math">
                    <m:oMathParaPr>
                      <m:jc m:val="centerGroup"/>
                    </m:oMathParaPr>
                    <m:oMath xmlns:m="http://schemas.openxmlformats.org/officeDocument/2006/math">
                      <m:r>
                        <a:rPr lang="zh-CN" altLang="en-US" sz="2200" b="1" i="1">
                          <a:solidFill>
                            <a:srgbClr val="000000"/>
                          </a:solidFill>
                          <a:latin typeface="Cambria Math" panose="02040503050406030204" pitchFamily="18" charset="0"/>
                        </a:rPr>
                        <m:t>𝑿</m:t>
                      </m:r>
                      <m:r>
                        <a:rPr lang="zh-CN" altLang="en-US" sz="2200" b="1" i="1">
                          <a:solidFill>
                            <a:srgbClr val="000000"/>
                          </a:solidFill>
                          <a:latin typeface="Cambria Math" panose="02040503050406030204" pitchFamily="18" charset="0"/>
                        </a:rPr>
                        <m:t>⊕</m:t>
                      </m:r>
                      <m:r>
                        <a:rPr lang="zh-CN" altLang="en-US" sz="2200" b="1" i="1">
                          <a:solidFill>
                            <a:srgbClr val="000000"/>
                          </a:solidFill>
                          <a:latin typeface="Cambria Math" panose="02040503050406030204" pitchFamily="18" charset="0"/>
                        </a:rPr>
                        <m:t>𝒀</m:t>
                      </m:r>
                      <m:r>
                        <a:rPr lang="zh-CN" altLang="en-US" sz="2200" b="1" i="1">
                          <a:solidFill>
                            <a:srgbClr val="000000"/>
                          </a:solidFill>
                          <a:latin typeface="Cambria Math" panose="02040503050406030204" pitchFamily="18" charset="0"/>
                        </a:rPr>
                        <m:t>=</m:t>
                      </m:r>
                      <m:bar>
                        <m:barPr>
                          <m:pos m:val="top"/>
                          <m:ctrlPr>
                            <a:rPr lang="zh-CN" altLang="en-US" sz="2200" i="1">
                              <a:solidFill>
                                <a:srgbClr val="000000"/>
                              </a:solidFill>
                              <a:latin typeface="Cambria Math" panose="02040503050406030204" pitchFamily="18" charset="0"/>
                            </a:rPr>
                          </m:ctrlPr>
                        </m:barPr>
                        <m:e>
                          <m:r>
                            <a:rPr lang="zh-CN" altLang="en-US" sz="2200" b="1" i="1">
                              <a:solidFill>
                                <a:srgbClr val="000000"/>
                              </a:solidFill>
                              <a:latin typeface="Cambria Math" panose="02040503050406030204" pitchFamily="18" charset="0"/>
                            </a:rPr>
                            <m:t>𝑿</m:t>
                          </m:r>
                        </m:e>
                      </m:bar>
                      <m:r>
                        <a:rPr lang="zh-CN" altLang="en-US" sz="2200" b="1" i="1">
                          <a:solidFill>
                            <a:srgbClr val="000000"/>
                          </a:solidFill>
                          <a:latin typeface="Cambria Math" panose="02040503050406030204" pitchFamily="18" charset="0"/>
                        </a:rPr>
                        <m:t>⋅</m:t>
                      </m:r>
                      <m:r>
                        <a:rPr lang="zh-CN" altLang="en-US" sz="2200" b="1" i="1">
                          <a:solidFill>
                            <a:srgbClr val="000000"/>
                          </a:solidFill>
                          <a:latin typeface="Cambria Math" panose="02040503050406030204" pitchFamily="18" charset="0"/>
                        </a:rPr>
                        <m:t>𝒀</m:t>
                      </m:r>
                      <m:r>
                        <a:rPr lang="zh-CN" altLang="en-US" sz="2200" b="1" i="1">
                          <a:solidFill>
                            <a:srgbClr val="000000"/>
                          </a:solidFill>
                          <a:latin typeface="Cambria Math" panose="02040503050406030204" pitchFamily="18" charset="0"/>
                        </a:rPr>
                        <m:t>+</m:t>
                      </m:r>
                      <m:r>
                        <a:rPr lang="zh-CN" altLang="en-US" sz="2200" b="1" i="1">
                          <a:solidFill>
                            <a:srgbClr val="000000"/>
                          </a:solidFill>
                          <a:latin typeface="Cambria Math" panose="02040503050406030204" pitchFamily="18" charset="0"/>
                        </a:rPr>
                        <m:t>𝑿</m:t>
                      </m:r>
                      <m:r>
                        <a:rPr lang="zh-CN" altLang="en-US" sz="2200" b="1" i="1">
                          <a:solidFill>
                            <a:srgbClr val="000000"/>
                          </a:solidFill>
                          <a:latin typeface="Cambria Math" panose="02040503050406030204" pitchFamily="18" charset="0"/>
                        </a:rPr>
                        <m:t>⋅</m:t>
                      </m:r>
                      <m:bar>
                        <m:barPr>
                          <m:pos m:val="top"/>
                          <m:ctrlPr>
                            <a:rPr lang="zh-CN" altLang="en-US" sz="2200" i="1">
                              <a:solidFill>
                                <a:srgbClr val="000000"/>
                              </a:solidFill>
                              <a:latin typeface="Cambria Math" panose="02040503050406030204" pitchFamily="18" charset="0"/>
                            </a:rPr>
                          </m:ctrlPr>
                        </m:barPr>
                        <m:e>
                          <m:r>
                            <a:rPr lang="zh-CN" altLang="en-US" sz="2200" b="1" i="1">
                              <a:solidFill>
                                <a:srgbClr val="000000"/>
                              </a:solidFill>
                              <a:latin typeface="Cambria Math" panose="02040503050406030204" pitchFamily="18" charset="0"/>
                            </a:rPr>
                            <m:t>𝒀</m:t>
                          </m:r>
                        </m:e>
                      </m:bar>
                    </m:oMath>
                  </m:oMathPara>
                </a14:m>
                <a:endParaRPr lang="zh-CN" altLang="en-US" sz="2200" dirty="0">
                  <a:latin typeface="微软雅黑" panose="020B0503020204020204" pitchFamily="34" charset="-122"/>
                  <a:ea typeface="微软雅黑" panose="020B0503020204020204" pitchFamily="34" charset="-122"/>
                </a:endParaRPr>
              </a:p>
            </p:txBody>
          </p:sp>
        </mc:Choice>
        <mc:Fallback>
          <p:sp>
            <p:nvSpPr>
              <p:cNvPr id="13" name="Object 6"/>
              <p:cNvSpPr txBox="1">
                <a:spLocks noRot="1" noChangeAspect="1" noMove="1" noResize="1" noEditPoints="1" noAdjustHandles="1" noChangeArrowheads="1" noChangeShapeType="1" noTextEdit="1"/>
              </p:cNvSpPr>
              <p:nvPr/>
            </p:nvSpPr>
            <p:spPr bwMode="auto">
              <a:xfrm>
                <a:off x="2164102" y="1752410"/>
                <a:ext cx="3073865" cy="527994"/>
              </a:xfrm>
              <a:prstGeom prst="rect">
                <a:avLst/>
              </a:prstGeom>
              <a:blipFill rotWithShape="1">
                <a:blip r:embed="rId1"/>
                <a:stretch>
                  <a:fillRect l="-1" t="-84" r="16" b="23"/>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Object 8"/>
              <p:cNvSpPr txBox="1"/>
              <p:nvPr/>
            </p:nvSpPr>
            <p:spPr bwMode="auto">
              <a:xfrm>
                <a:off x="4820342" y="3194306"/>
                <a:ext cx="3161860" cy="527994"/>
              </a:xfrm>
              <a:prstGeom prst="rect">
                <a:avLst/>
              </a:prstGeom>
              <a:noFill/>
              <a:ln>
                <a:noFill/>
              </a:ln>
              <a:effectLst/>
            </p:spPr>
            <p:txBody>
              <a:bodyPr>
                <a:normAutofit/>
              </a:bodyPr>
              <a:lstStyle/>
              <a:p>
                <a14:m>
                  <m:oMathPara xmlns:m="http://schemas.openxmlformats.org/officeDocument/2006/math">
                    <m:oMathParaPr>
                      <m:jc m:val="centerGroup"/>
                    </m:oMathParaPr>
                    <m:oMath xmlns:m="http://schemas.openxmlformats.org/officeDocument/2006/math">
                      <m:r>
                        <a:rPr lang="zh-CN" altLang="en-US" sz="2200" b="1" i="1">
                          <a:solidFill>
                            <a:srgbClr val="000000"/>
                          </a:solidFill>
                          <a:latin typeface="Cambria Math" panose="02040503050406030204" pitchFamily="18" charset="0"/>
                        </a:rPr>
                        <m:t>𝑿</m:t>
                      </m:r>
                      <m:r>
                        <a:rPr lang="zh-CN" altLang="en-US" sz="2200" b="1" i="1">
                          <a:solidFill>
                            <a:srgbClr val="000000"/>
                          </a:solidFill>
                          <a:latin typeface="Cambria Math" panose="02040503050406030204" pitchFamily="18" charset="0"/>
                        </a:rPr>
                        <m:t> ⊙ </m:t>
                      </m:r>
                      <m:r>
                        <a:rPr lang="zh-CN" altLang="en-US" sz="2200" b="1" i="1">
                          <a:solidFill>
                            <a:srgbClr val="000000"/>
                          </a:solidFill>
                          <a:latin typeface="Cambria Math" panose="02040503050406030204" pitchFamily="18" charset="0"/>
                        </a:rPr>
                        <m:t>𝒀</m:t>
                      </m:r>
                      <m:r>
                        <a:rPr lang="zh-CN" altLang="en-US" sz="2200" b="1" i="1">
                          <a:solidFill>
                            <a:srgbClr val="000000"/>
                          </a:solidFill>
                          <a:latin typeface="Cambria Math" panose="02040503050406030204" pitchFamily="18" charset="0"/>
                        </a:rPr>
                        <m:t>=</m:t>
                      </m:r>
                      <m:bar>
                        <m:barPr>
                          <m:pos m:val="top"/>
                          <m:ctrlPr>
                            <a:rPr lang="zh-CN" altLang="en-US" sz="2200" i="1">
                              <a:solidFill>
                                <a:srgbClr val="000000"/>
                              </a:solidFill>
                              <a:latin typeface="Cambria Math" panose="02040503050406030204" pitchFamily="18" charset="0"/>
                            </a:rPr>
                          </m:ctrlPr>
                        </m:barPr>
                        <m:e>
                          <m:r>
                            <a:rPr lang="zh-CN" altLang="en-US" sz="2200" b="1" i="1">
                              <a:solidFill>
                                <a:srgbClr val="000000"/>
                              </a:solidFill>
                              <a:latin typeface="Cambria Math" panose="02040503050406030204" pitchFamily="18" charset="0"/>
                            </a:rPr>
                            <m:t>𝑿</m:t>
                          </m:r>
                        </m:e>
                      </m:bar>
                      <m:r>
                        <a:rPr lang="zh-CN" altLang="en-US" sz="2200" b="1" i="1">
                          <a:solidFill>
                            <a:srgbClr val="000000"/>
                          </a:solidFill>
                          <a:latin typeface="Cambria Math" panose="02040503050406030204" pitchFamily="18" charset="0"/>
                        </a:rPr>
                        <m:t>⋅</m:t>
                      </m:r>
                      <m:bar>
                        <m:barPr>
                          <m:pos m:val="top"/>
                          <m:ctrlPr>
                            <a:rPr lang="zh-CN" altLang="en-US" sz="2200" i="1">
                              <a:solidFill>
                                <a:srgbClr val="000000"/>
                              </a:solidFill>
                              <a:latin typeface="Cambria Math" panose="02040503050406030204" pitchFamily="18" charset="0"/>
                            </a:rPr>
                          </m:ctrlPr>
                        </m:barPr>
                        <m:e>
                          <m:r>
                            <a:rPr lang="zh-CN" altLang="en-US" sz="2200" b="1" i="1">
                              <a:solidFill>
                                <a:srgbClr val="000000"/>
                              </a:solidFill>
                              <a:latin typeface="Cambria Math" panose="02040503050406030204" pitchFamily="18" charset="0"/>
                            </a:rPr>
                            <m:t>𝒀</m:t>
                          </m:r>
                        </m:e>
                      </m:bar>
                      <m:r>
                        <a:rPr lang="zh-CN" altLang="en-US" sz="2200" b="1" i="1">
                          <a:solidFill>
                            <a:srgbClr val="000000"/>
                          </a:solidFill>
                          <a:latin typeface="Cambria Math" panose="02040503050406030204" pitchFamily="18" charset="0"/>
                        </a:rPr>
                        <m:t>+</m:t>
                      </m:r>
                      <m:r>
                        <a:rPr lang="zh-CN" altLang="en-US" sz="2200" b="1" i="1">
                          <a:solidFill>
                            <a:srgbClr val="000000"/>
                          </a:solidFill>
                          <a:latin typeface="Cambria Math" panose="02040503050406030204" pitchFamily="18" charset="0"/>
                        </a:rPr>
                        <m:t>𝑿</m:t>
                      </m:r>
                      <m:r>
                        <a:rPr lang="zh-CN" altLang="en-US" sz="2200" b="1" i="1">
                          <a:solidFill>
                            <a:srgbClr val="000000"/>
                          </a:solidFill>
                          <a:latin typeface="Cambria Math" panose="02040503050406030204" pitchFamily="18" charset="0"/>
                        </a:rPr>
                        <m:t>⋅</m:t>
                      </m:r>
                      <m:r>
                        <a:rPr lang="zh-CN" altLang="en-US" sz="2200" b="1" i="1">
                          <a:solidFill>
                            <a:srgbClr val="000000"/>
                          </a:solidFill>
                          <a:latin typeface="Cambria Math" panose="02040503050406030204" pitchFamily="18" charset="0"/>
                        </a:rPr>
                        <m:t>𝒀</m:t>
                      </m:r>
                    </m:oMath>
                  </m:oMathPara>
                </a14:m>
                <a:endParaRPr lang="zh-CN" altLang="en-US" sz="2200" i="1" dirty="0">
                  <a:solidFill>
                    <a:srgbClr val="000000"/>
                  </a:solidFill>
                  <a:latin typeface="Cambria Math" panose="02040503050406030204" pitchFamily="18" charset="0"/>
                </a:endParaRPr>
              </a:p>
            </p:txBody>
          </p:sp>
        </mc:Choice>
        <mc:Fallback>
          <p:sp>
            <p:nvSpPr>
              <p:cNvPr id="15" name="Object 8"/>
              <p:cNvSpPr txBox="1">
                <a:spLocks noRot="1" noChangeAspect="1" noMove="1" noResize="1" noEditPoints="1" noAdjustHandles="1" noChangeArrowheads="1" noChangeShapeType="1" noTextEdit="1"/>
              </p:cNvSpPr>
              <p:nvPr/>
            </p:nvSpPr>
            <p:spPr bwMode="auto">
              <a:xfrm>
                <a:off x="4820342" y="3194306"/>
                <a:ext cx="3161860" cy="527994"/>
              </a:xfrm>
              <a:prstGeom prst="rect">
                <a:avLst/>
              </a:prstGeom>
              <a:blipFill rotWithShape="1">
                <a:blip r:embed="rId2"/>
                <a:stretch>
                  <a:fillRect l="-2" t="-48" r="8" b="107"/>
                </a:stretch>
              </a:blipFill>
              <a:ln>
                <a:noFill/>
              </a:ln>
              <a:effectLst/>
            </p:spPr>
            <p:txBody>
              <a:bodyPr/>
              <a:lstStyle/>
              <a:p>
                <a:r>
                  <a:rPr lang="zh-CN" altLang="en-US">
                    <a:noFill/>
                  </a:rPr>
                  <a:t> </a:t>
                </a:r>
              </a:p>
            </p:txBody>
          </p:sp>
        </mc:Fallback>
      </mc:AlternateContent>
      <p:sp>
        <p:nvSpPr>
          <p:cNvPr id="6" name="矩形 5"/>
          <p:cNvSpPr/>
          <p:nvPr/>
        </p:nvSpPr>
        <p:spPr>
          <a:xfrm>
            <a:off x="8272061" y="5895984"/>
            <a:ext cx="619540" cy="369332"/>
          </a:xfrm>
          <a:prstGeom prst="rect">
            <a:avLst/>
          </a:prstGeom>
        </p:spPr>
        <p:txBody>
          <a:bodyPr wrap="square">
            <a:spAutoFit/>
          </a:bodyPr>
          <a:lstStyle/>
          <a:p>
            <a:r>
              <a:rPr lang="en-US" altLang="zh-CN" dirty="0"/>
              <a:t> </a:t>
            </a:r>
            <a:endParaRPr lang="zh-CN" altLang="en-US" dirty="0"/>
          </a:p>
        </p:txBody>
      </p:sp>
      <p:pic>
        <p:nvPicPr>
          <p:cNvPr id="18" name="图片 17"/>
          <p:cNvPicPr/>
          <p:nvPr/>
        </p:nvPicPr>
        <p:blipFill>
          <a:blip r:embed="rId3">
            <a:extLst>
              <a:ext uri="{28A0092B-C50C-407E-A947-70E740481C1C}">
                <a14:useLocalDpi xmlns:a14="http://schemas.microsoft.com/office/drawing/2010/main" val="0"/>
              </a:ext>
            </a:extLst>
          </a:blip>
          <a:srcRect/>
          <a:stretch>
            <a:fillRect/>
          </a:stretch>
        </p:blipFill>
        <p:spPr bwMode="auto">
          <a:xfrm>
            <a:off x="1394778" y="3902128"/>
            <a:ext cx="6851128" cy="2785359"/>
          </a:xfrm>
          <a:prstGeom prst="rect">
            <a:avLst/>
          </a:prstGeom>
          <a:noFill/>
          <a:ln>
            <a:noFill/>
          </a:ln>
        </p:spPr>
      </p:pic>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5" name="Rectangle 3"/>
          <p:cNvSpPr>
            <a:spLocks noGrp="1" noChangeArrowheads="1"/>
          </p:cNvSpPr>
          <p:nvPr>
            <p:ph type="title"/>
          </p:nvPr>
        </p:nvSpPr>
        <p:spPr>
          <a:xfrm>
            <a:off x="1000917" y="158443"/>
            <a:ext cx="5048200" cy="852488"/>
          </a:xfrm>
        </p:spPr>
        <p:txBody>
          <a:bodyPr/>
          <a:lstStyle/>
          <a:p>
            <a:r>
              <a:rPr lang="en-US" altLang="zh-CN" dirty="0"/>
              <a:t>1.2 </a:t>
            </a:r>
            <a:r>
              <a:rPr lang="zh-CN" altLang="en-US" dirty="0"/>
              <a:t>数字抽象</a:t>
            </a:r>
            <a:endParaRPr lang="zh-CN" altLang="en-US" dirty="0"/>
          </a:p>
        </p:txBody>
      </p:sp>
      <p:sp>
        <p:nvSpPr>
          <p:cNvPr id="10246" name="内容占位符 7"/>
          <p:cNvSpPr>
            <a:spLocks noGrp="1"/>
          </p:cNvSpPr>
          <p:nvPr>
            <p:ph idx="1"/>
          </p:nvPr>
        </p:nvSpPr>
        <p:spPr>
          <a:xfrm>
            <a:off x="306887" y="1530761"/>
            <a:ext cx="8686800" cy="4384214"/>
          </a:xfrm>
        </p:spPr>
        <p:txBody>
          <a:bodyPr/>
          <a:lstStyle/>
          <a:p>
            <a:r>
              <a:rPr lang="zh-CN" altLang="en-US" sz="2200" dirty="0">
                <a:solidFill>
                  <a:srgbClr val="FF0000"/>
                </a:solidFill>
              </a:rPr>
              <a:t>模拟信号</a:t>
            </a:r>
            <a:endParaRPr lang="en-US" altLang="zh-CN" sz="2200" dirty="0">
              <a:solidFill>
                <a:srgbClr val="FF0000"/>
              </a:solidFill>
            </a:endParaRPr>
          </a:p>
          <a:p>
            <a:pPr lvl="1"/>
            <a:r>
              <a:rPr lang="zh-CN" altLang="en-US" dirty="0"/>
              <a:t>连续的</a:t>
            </a:r>
            <a:endParaRPr lang="en-US" altLang="zh-CN" dirty="0"/>
          </a:p>
          <a:p>
            <a:pPr lvl="2"/>
            <a:r>
              <a:rPr lang="zh-CN" altLang="en-US" sz="2200" b="1" dirty="0">
                <a:solidFill>
                  <a:srgbClr val="FF0000"/>
                </a:solidFill>
              </a:rPr>
              <a:t>时间</a:t>
            </a:r>
            <a:r>
              <a:rPr lang="zh-CN" altLang="en-US" sz="2200" b="1" dirty="0">
                <a:solidFill>
                  <a:schemeClr val="tx2"/>
                </a:solidFill>
              </a:rPr>
              <a:t>上</a:t>
            </a:r>
            <a:r>
              <a:rPr lang="zh-CN" altLang="en-US" sz="2200" dirty="0"/>
              <a:t>的</a:t>
            </a:r>
            <a:r>
              <a:rPr lang="zh-CN" altLang="en-US" sz="2200" b="1" dirty="0"/>
              <a:t>连续</a:t>
            </a:r>
            <a:r>
              <a:rPr lang="en-US" altLang="zh-CN" sz="2200" dirty="0"/>
              <a:t>: </a:t>
            </a:r>
            <a:r>
              <a:rPr lang="zh-CN" altLang="en-US" sz="2200" dirty="0"/>
              <a:t>任意时刻有一个相对的值</a:t>
            </a:r>
            <a:endParaRPr lang="zh-CN" altLang="en-US" sz="2200" dirty="0"/>
          </a:p>
          <a:p>
            <a:pPr lvl="2"/>
            <a:r>
              <a:rPr lang="zh-CN" altLang="en-US" sz="2200" b="1" dirty="0">
                <a:solidFill>
                  <a:srgbClr val="FF0000"/>
                </a:solidFill>
              </a:rPr>
              <a:t>数值</a:t>
            </a:r>
            <a:r>
              <a:rPr lang="zh-CN" altLang="en-US" sz="2200" b="1" dirty="0">
                <a:solidFill>
                  <a:schemeClr val="tx2"/>
                </a:solidFill>
              </a:rPr>
              <a:t>上</a:t>
            </a:r>
            <a:r>
              <a:rPr lang="zh-CN" altLang="en-US" sz="2200" dirty="0"/>
              <a:t>的</a:t>
            </a:r>
            <a:r>
              <a:rPr lang="zh-CN" altLang="en-US" sz="2200" b="1" dirty="0"/>
              <a:t>连续</a:t>
            </a:r>
            <a:r>
              <a:rPr lang="en-US" altLang="zh-CN" sz="2200" dirty="0"/>
              <a:t>: </a:t>
            </a:r>
            <a:r>
              <a:rPr lang="zh-CN" altLang="en-US" sz="2200" dirty="0"/>
              <a:t>任意时刻可以是在一定范围内的任意值</a:t>
            </a:r>
            <a:endParaRPr lang="zh-CN" altLang="en-US" sz="2200" dirty="0"/>
          </a:p>
          <a:p>
            <a:pPr lvl="1"/>
            <a:r>
              <a:rPr lang="zh-CN" altLang="en-US" dirty="0"/>
              <a:t>例如：电压，电流，温度，亮度，颜色等</a:t>
            </a:r>
            <a:endParaRPr lang="zh-CN" altLang="en-US" dirty="0"/>
          </a:p>
          <a:p>
            <a:pPr lvl="1"/>
            <a:r>
              <a:rPr lang="zh-CN" altLang="en-US" dirty="0"/>
              <a:t>缺点</a:t>
            </a:r>
            <a:endParaRPr lang="en-US" altLang="zh-CN" dirty="0"/>
          </a:p>
          <a:p>
            <a:pPr lvl="2"/>
            <a:r>
              <a:rPr lang="zh-CN" altLang="en-US" sz="2200" dirty="0"/>
              <a:t>精度受限，很难度量</a:t>
            </a:r>
            <a:endParaRPr lang="zh-CN" altLang="en-US" sz="2200" dirty="0"/>
          </a:p>
          <a:p>
            <a:pPr lvl="2"/>
            <a:r>
              <a:rPr lang="zh-CN" altLang="en-US" sz="2200" dirty="0"/>
              <a:t>不稳定，容易受噪声的干扰</a:t>
            </a:r>
            <a:endParaRPr lang="zh-CN" altLang="en-US" sz="2200" dirty="0"/>
          </a:p>
          <a:p>
            <a:pPr lvl="2"/>
            <a:r>
              <a:rPr lang="zh-CN" altLang="en-US" sz="2200" dirty="0"/>
              <a:t>难以保存</a:t>
            </a:r>
            <a:endParaRPr lang="en-US" altLang="zh-CN" sz="2200" dirty="0"/>
          </a:p>
          <a:p>
            <a:pPr lvl="1"/>
            <a:r>
              <a:rPr lang="zh-CN" altLang="en-US" dirty="0"/>
              <a:t>优点：表示事物比较准确</a:t>
            </a:r>
            <a:endParaRPr lang="zh-CN" altLang="en-US" dirty="0"/>
          </a:p>
        </p:txBody>
      </p:sp>
      <p:sp>
        <p:nvSpPr>
          <p:cNvPr id="10244" name="灯片编号占位符 5"/>
          <p:cNvSpPr>
            <a:spLocks noGrp="1"/>
          </p:cNvSpPr>
          <p:nvPr>
            <p:ph type="sldNum" sz="quarter" idx="4294967295"/>
          </p:nvPr>
        </p:nvSpPr>
        <p:spPr>
          <a:xfrm>
            <a:off x="8642350" y="6489700"/>
            <a:ext cx="501650" cy="3333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C23CBD1-DD17-4EC0-882D-DF2E5A3D45A1}" type="slidenum">
              <a:rPr lang="en-US" altLang="zh-CN" smtClean="0"/>
            </a:fld>
            <a:endParaRPr lang="en-US" altLang="zh-CN" dirty="0"/>
          </a:p>
        </p:txBody>
      </p:sp>
      <p:sp>
        <p:nvSpPr>
          <p:cNvPr id="2" name="矩形 1"/>
          <p:cNvSpPr/>
          <p:nvPr/>
        </p:nvSpPr>
        <p:spPr>
          <a:xfrm>
            <a:off x="4888282" y="5391755"/>
            <a:ext cx="3438395" cy="5232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zh-CN" altLang="en-US" sz="2800" b="1" dirty="0">
                <a:solidFill>
                  <a:srgbClr val="FF0000"/>
                </a:solidFill>
              </a:rPr>
              <a:t>自然世界是模拟的！</a:t>
            </a:r>
            <a:endParaRPr lang="zh-CN" altLang="en-US" sz="2800" b="1" dirty="0">
              <a:solidFill>
                <a:srgbClr val="FF0000"/>
              </a:solidFill>
            </a:endParaRPr>
          </a:p>
        </p:txBody>
      </p:sp>
      <p:pic>
        <p:nvPicPr>
          <p:cNvPr id="8" name="Picture 2" descr="C:\Users\WuHaijun\AppData\Local\Microsoft\Windows\Temporary Internet Files\Content.IE5\26U0SL1U\20091215064620-1065461554[1].jpg"/>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a:stretch>
            <a:fillRect/>
          </a:stretch>
        </p:blipFill>
        <p:spPr bwMode="auto">
          <a:xfrm>
            <a:off x="3858018" y="219834"/>
            <a:ext cx="5229616" cy="194404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00102" y="185722"/>
            <a:ext cx="6147830" cy="742951"/>
          </a:xfrm>
        </p:spPr>
        <p:txBody>
          <a:bodyPr/>
          <a:lstStyle/>
          <a:p>
            <a:r>
              <a:rPr lang="en-US" altLang="zh-CN" dirty="0"/>
              <a:t>1.2 </a:t>
            </a:r>
            <a:r>
              <a:rPr lang="zh-CN" altLang="en-US" dirty="0"/>
              <a:t>数字抽象</a:t>
            </a:r>
            <a:endParaRPr lang="zh-CN" altLang="en-US" sz="4000" dirty="0"/>
          </a:p>
        </p:txBody>
      </p:sp>
      <p:sp>
        <p:nvSpPr>
          <p:cNvPr id="3" name="内容占位符 2"/>
          <p:cNvSpPr>
            <a:spLocks noGrp="1"/>
          </p:cNvSpPr>
          <p:nvPr>
            <p:ph idx="1"/>
          </p:nvPr>
        </p:nvSpPr>
        <p:spPr>
          <a:xfrm>
            <a:off x="165867" y="773127"/>
            <a:ext cx="3585679" cy="5704575"/>
          </a:xfrm>
        </p:spPr>
        <p:txBody>
          <a:bodyPr/>
          <a:lstStyle/>
          <a:p>
            <a:pPr>
              <a:spcBef>
                <a:spcPts val="0"/>
              </a:spcBef>
            </a:pPr>
            <a:r>
              <a:rPr lang="zh-CN" altLang="en-US" sz="2200" dirty="0">
                <a:solidFill>
                  <a:srgbClr val="FF0000"/>
                </a:solidFill>
              </a:rPr>
              <a:t>数字信号</a:t>
            </a:r>
            <a:endParaRPr lang="en-US" altLang="zh-CN" sz="2200" dirty="0">
              <a:solidFill>
                <a:srgbClr val="FF0000"/>
              </a:solidFill>
            </a:endParaRPr>
          </a:p>
          <a:p>
            <a:pPr lvl="1">
              <a:spcBef>
                <a:spcPts val="0"/>
              </a:spcBef>
            </a:pPr>
            <a:r>
              <a:rPr lang="zh-CN" altLang="en-US" dirty="0"/>
              <a:t>非连续（离散）</a:t>
            </a:r>
            <a:endParaRPr lang="en-US" altLang="zh-CN" dirty="0"/>
          </a:p>
          <a:p>
            <a:pPr lvl="2">
              <a:spcBef>
                <a:spcPts val="0"/>
              </a:spcBef>
            </a:pPr>
            <a:r>
              <a:rPr lang="zh-CN" altLang="en-US" sz="2200" dirty="0"/>
              <a:t>时间上离散</a:t>
            </a:r>
            <a:endParaRPr lang="en-US" altLang="zh-CN" sz="2200" dirty="0"/>
          </a:p>
          <a:p>
            <a:pPr marL="914400" lvl="2" indent="0">
              <a:spcBef>
                <a:spcPts val="0"/>
              </a:spcBef>
              <a:buNone/>
            </a:pPr>
            <a:r>
              <a:rPr lang="zh-CN" altLang="en-US" sz="2200" dirty="0">
                <a:solidFill>
                  <a:srgbClr val="C00000"/>
                </a:solidFill>
              </a:rPr>
              <a:t>只在某些时刻有定义</a:t>
            </a:r>
            <a:endParaRPr lang="zh-CN" altLang="en-US" sz="2200" dirty="0">
              <a:solidFill>
                <a:srgbClr val="C00000"/>
              </a:solidFill>
            </a:endParaRPr>
          </a:p>
          <a:p>
            <a:pPr lvl="2">
              <a:spcBef>
                <a:spcPts val="0"/>
              </a:spcBef>
            </a:pPr>
            <a:r>
              <a:rPr lang="zh-CN" altLang="en-US" sz="2200" dirty="0"/>
              <a:t>数值上离散</a:t>
            </a:r>
            <a:endParaRPr lang="en-US" altLang="zh-CN" sz="2200" dirty="0"/>
          </a:p>
          <a:p>
            <a:pPr marL="914400" lvl="2" indent="0">
              <a:spcBef>
                <a:spcPts val="0"/>
              </a:spcBef>
              <a:buNone/>
            </a:pPr>
            <a:r>
              <a:rPr lang="zh-CN" altLang="en-US" sz="2200" dirty="0">
                <a:solidFill>
                  <a:srgbClr val="C00000"/>
                </a:solidFill>
              </a:rPr>
              <a:t>只能是有限集合中的一个值</a:t>
            </a:r>
            <a:endParaRPr lang="zh-CN" altLang="en-US" sz="2200" dirty="0">
              <a:solidFill>
                <a:srgbClr val="C00000"/>
              </a:solidFill>
            </a:endParaRPr>
          </a:p>
          <a:p>
            <a:pPr lvl="1">
              <a:spcBef>
                <a:spcPts val="0"/>
              </a:spcBef>
            </a:pPr>
            <a:r>
              <a:rPr lang="zh-CN" altLang="en-US" dirty="0"/>
              <a:t>如数字声音、图像、视频、电影特技等</a:t>
            </a:r>
            <a:endParaRPr lang="en-US" altLang="zh-CN" dirty="0"/>
          </a:p>
          <a:p>
            <a:pPr lvl="1">
              <a:spcBef>
                <a:spcPts val="0"/>
              </a:spcBef>
            </a:pPr>
            <a:r>
              <a:rPr lang="zh-CN" altLang="en-US" dirty="0"/>
              <a:t>优点</a:t>
            </a:r>
            <a:endParaRPr lang="en-US" altLang="zh-CN" dirty="0"/>
          </a:p>
          <a:p>
            <a:pPr lvl="2">
              <a:spcBef>
                <a:spcPts val="0"/>
              </a:spcBef>
            </a:pPr>
            <a:r>
              <a:rPr lang="zh-CN" altLang="en-US" sz="2200" dirty="0"/>
              <a:t>结果重复</a:t>
            </a:r>
            <a:endParaRPr lang="en-US" altLang="zh-CN" sz="2200" dirty="0"/>
          </a:p>
          <a:p>
            <a:pPr lvl="2">
              <a:spcBef>
                <a:spcPts val="0"/>
              </a:spcBef>
            </a:pPr>
            <a:r>
              <a:rPr lang="zh-CN" altLang="en-US" sz="2200" dirty="0"/>
              <a:t>设计简单</a:t>
            </a:r>
            <a:endParaRPr lang="en-US" altLang="zh-CN" sz="2200" dirty="0"/>
          </a:p>
          <a:p>
            <a:pPr lvl="2">
              <a:spcBef>
                <a:spcPts val="0"/>
              </a:spcBef>
            </a:pPr>
            <a:r>
              <a:rPr lang="zh-CN" altLang="en-US" sz="2200" dirty="0"/>
              <a:t>功能灵活</a:t>
            </a:r>
            <a:endParaRPr lang="en-US" altLang="zh-CN" sz="2200" dirty="0"/>
          </a:p>
          <a:p>
            <a:pPr lvl="2">
              <a:spcBef>
                <a:spcPts val="0"/>
              </a:spcBef>
            </a:pPr>
            <a:r>
              <a:rPr lang="zh-CN" altLang="en-US" sz="2200" dirty="0"/>
              <a:t>可编程</a:t>
            </a:r>
            <a:r>
              <a:rPr lang="en-US" altLang="zh-CN" sz="2200" dirty="0"/>
              <a:t>HDL</a:t>
            </a:r>
            <a:endParaRPr lang="zh-CN" altLang="en-US" sz="2200" dirty="0"/>
          </a:p>
        </p:txBody>
      </p:sp>
      <p:sp>
        <p:nvSpPr>
          <p:cNvPr id="6" name="灯片编号占位符 5"/>
          <p:cNvSpPr>
            <a:spLocks noGrp="1"/>
          </p:cNvSpPr>
          <p:nvPr>
            <p:ph type="sldNum" sz="quarter" idx="4294967295"/>
          </p:nvPr>
        </p:nvSpPr>
        <p:spPr>
          <a:xfrm>
            <a:off x="8453961" y="6414657"/>
            <a:ext cx="501650" cy="333375"/>
          </a:xfrm>
          <a:prstGeom prst="rect">
            <a:avLst/>
          </a:prstGeom>
        </p:spPr>
        <p:txBody>
          <a:bodyPr/>
          <a:lstStyle/>
          <a:p>
            <a:pPr>
              <a:defRPr/>
            </a:pPr>
            <a:fld id="{3B78F852-FEB5-4FC6-8012-DF6F33E7AD00}" type="slidenum">
              <a:rPr lang="en-US" altLang="zh-CN" smtClean="0"/>
            </a:fld>
            <a:endParaRPr lang="en-US" altLang="zh-CN" dirty="0"/>
          </a:p>
        </p:txBody>
      </p:sp>
      <p:sp>
        <p:nvSpPr>
          <p:cNvPr id="7" name="矩形 6"/>
          <p:cNvSpPr/>
          <p:nvPr/>
        </p:nvSpPr>
        <p:spPr>
          <a:xfrm>
            <a:off x="3338191" y="4238835"/>
            <a:ext cx="5696272" cy="523220"/>
          </a:xfrm>
          <a:prstGeom prst="rect">
            <a:avLst/>
          </a:prstGeom>
          <a:solidFill>
            <a:schemeClr val="accent5">
              <a:lumMod val="20000"/>
              <a:lumOff val="80000"/>
            </a:schemeClr>
          </a:solidFill>
          <a:ln>
            <a:solidFill>
              <a:schemeClr val="accent1">
                <a:shade val="50000"/>
              </a:schemeClr>
            </a:solidFill>
          </a:ln>
        </p:spPr>
        <p:txBody>
          <a:bodyPr wrap="square">
            <a:spAutoFit/>
          </a:bodyPr>
          <a:lstStyle/>
          <a:p>
            <a:pPr marL="0" lvl="1"/>
            <a:r>
              <a:rPr lang="zh-CN" altLang="en-US" sz="2400" dirty="0">
                <a:latin typeface="微软雅黑" panose="020B0503020204020204" pitchFamily="34" charset="-122"/>
                <a:ea typeface="微软雅黑" panose="020B0503020204020204" pitchFamily="34" charset="-122"/>
              </a:rPr>
              <a:t>数字系统在底层实现时是</a:t>
            </a:r>
            <a:r>
              <a:rPr lang="zh-CN" altLang="en-US" sz="2400" dirty="0">
                <a:solidFill>
                  <a:srgbClr val="FF0000"/>
                </a:solidFill>
                <a:latin typeface="微软雅黑" panose="020B0503020204020204" pitchFamily="34" charset="-122"/>
                <a:ea typeface="微软雅黑" panose="020B0503020204020204" pitchFamily="34" charset="-122"/>
              </a:rPr>
              <a:t>模拟信号</a:t>
            </a:r>
            <a:r>
              <a:rPr lang="zh-CN" altLang="en-US" sz="2800" dirty="0">
                <a:solidFill>
                  <a:srgbClr val="FF0000"/>
                </a:solidFill>
              </a:rPr>
              <a:t>！</a:t>
            </a:r>
            <a:endParaRPr lang="en-US" altLang="zh-CN" sz="2800" dirty="0">
              <a:solidFill>
                <a:srgbClr val="FF0000"/>
              </a:solidFill>
            </a:endParaRPr>
          </a:p>
        </p:txBody>
      </p:sp>
      <p:sp>
        <p:nvSpPr>
          <p:cNvPr id="8" name="矩形 7"/>
          <p:cNvSpPr/>
          <p:nvPr/>
        </p:nvSpPr>
        <p:spPr>
          <a:xfrm>
            <a:off x="4572000" y="3567226"/>
            <a:ext cx="3271192" cy="430887"/>
          </a:xfrm>
          <a:prstGeom prst="rect">
            <a:avLst/>
          </a:prstGeom>
          <a:solidFill>
            <a:schemeClr val="accent5">
              <a:lumMod val="20000"/>
              <a:lumOff val="80000"/>
            </a:schemeClr>
          </a:solidFill>
          <a:ln>
            <a:solidFill>
              <a:schemeClr val="accent1">
                <a:shade val="50000"/>
              </a:schemeClr>
            </a:solidFill>
          </a:ln>
        </p:spPr>
        <p:txBody>
          <a:bodyPr wrap="square">
            <a:spAutoFit/>
          </a:bodyPr>
          <a:lstStyle/>
          <a:p>
            <a:pPr marL="0" lvl="1"/>
            <a:r>
              <a:rPr lang="zh-CN" altLang="en-US" sz="2200" dirty="0">
                <a:solidFill>
                  <a:srgbClr val="002060"/>
                </a:solidFill>
                <a:latin typeface="微软雅黑" panose="020B0503020204020204" pitchFamily="34" charset="-122"/>
                <a:ea typeface="微软雅黑" panose="020B0503020204020204" pitchFamily="34" charset="-122"/>
              </a:rPr>
              <a:t>数字系统随处可见！</a:t>
            </a:r>
            <a:endParaRPr lang="en-US" altLang="zh-CN" sz="2200" dirty="0">
              <a:solidFill>
                <a:srgbClr val="002060"/>
              </a:solidFill>
              <a:latin typeface="微软雅黑" panose="020B0503020204020204" pitchFamily="34" charset="-122"/>
              <a:ea typeface="微软雅黑" panose="020B0503020204020204" pitchFamily="34" charset="-122"/>
            </a:endParaRPr>
          </a:p>
        </p:txBody>
      </p:sp>
      <p:pic>
        <p:nvPicPr>
          <p:cNvPr id="9" name="Picture 2" descr="C:\Users\WuHaijun\AppData\Local\Microsoft\Windows\Temporary Internet Files\Content.IE5\26U0SL1U\20091215064620-1065461554[1].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46179" y="444245"/>
            <a:ext cx="5288244" cy="2930767"/>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3212428" y="5576446"/>
            <a:ext cx="1359572" cy="43088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0" lvl="1"/>
            <a:r>
              <a:rPr lang="zh-CN" altLang="en-US" sz="2200" dirty="0">
                <a:latin typeface="微软雅黑" panose="020B0503020204020204" pitchFamily="34" charset="-122"/>
                <a:ea typeface="微软雅黑" panose="020B0503020204020204" pitchFamily="34" charset="-122"/>
              </a:rPr>
              <a:t>模拟信号</a:t>
            </a:r>
            <a:endParaRPr lang="zh-CN" altLang="en-US" sz="2200" dirty="0">
              <a:latin typeface="微软雅黑" panose="020B0503020204020204" pitchFamily="34" charset="-122"/>
              <a:ea typeface="微软雅黑" panose="020B0503020204020204" pitchFamily="34" charset="-122"/>
            </a:endParaRPr>
          </a:p>
        </p:txBody>
      </p:sp>
      <p:sp>
        <p:nvSpPr>
          <p:cNvPr id="11" name="矩形 10"/>
          <p:cNvSpPr/>
          <p:nvPr/>
        </p:nvSpPr>
        <p:spPr>
          <a:xfrm>
            <a:off x="7544641" y="5570210"/>
            <a:ext cx="1329551" cy="43088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0" lvl="1"/>
            <a:r>
              <a:rPr lang="zh-CN" altLang="en-US" sz="2200" dirty="0">
                <a:latin typeface="微软雅黑" panose="020B0503020204020204" pitchFamily="34" charset="-122"/>
                <a:ea typeface="微软雅黑" panose="020B0503020204020204" pitchFamily="34" charset="-122"/>
              </a:rPr>
              <a:t>数字信号</a:t>
            </a:r>
            <a:endParaRPr lang="zh-CN" altLang="en-US" sz="2200" dirty="0">
              <a:latin typeface="微软雅黑" panose="020B0503020204020204" pitchFamily="34" charset="-122"/>
              <a:ea typeface="微软雅黑" panose="020B0503020204020204" pitchFamily="34" charset="-122"/>
            </a:endParaRPr>
          </a:p>
        </p:txBody>
      </p:sp>
      <p:sp>
        <p:nvSpPr>
          <p:cNvPr id="12" name="箭头: 右 11"/>
          <p:cNvSpPr/>
          <p:nvPr/>
        </p:nvSpPr>
        <p:spPr>
          <a:xfrm>
            <a:off x="4603315" y="5480065"/>
            <a:ext cx="2895600" cy="653484"/>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400" dirty="0"/>
              <a:t>采样、量化、编码</a:t>
            </a:r>
            <a:endParaRPr lang="zh-CN" altLang="en-US" sz="2400" dirty="0"/>
          </a:p>
        </p:txBody>
      </p:sp>
      <p:sp>
        <p:nvSpPr>
          <p:cNvPr id="13" name="矩形 12"/>
          <p:cNvSpPr/>
          <p:nvPr/>
        </p:nvSpPr>
        <p:spPr>
          <a:xfrm>
            <a:off x="3332783" y="4850391"/>
            <a:ext cx="5696272" cy="461665"/>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marL="0" lvl="1"/>
            <a:r>
              <a:rPr lang="zh-CN" altLang="en-US" sz="2400" dirty="0">
                <a:latin typeface="微软雅黑" panose="020B0503020204020204" pitchFamily="34" charset="-122"/>
                <a:ea typeface="微软雅黑" panose="020B0503020204020204" pitchFamily="34" charset="-122"/>
              </a:rPr>
              <a:t>核心：知道何时需考虑</a:t>
            </a:r>
            <a:r>
              <a:rPr lang="zh-CN" altLang="en-US" sz="2400" dirty="0">
                <a:solidFill>
                  <a:srgbClr val="FF0000"/>
                </a:solidFill>
                <a:latin typeface="微软雅黑" panose="020B0503020204020204" pitchFamily="34" charset="-122"/>
                <a:ea typeface="微软雅黑" panose="020B0503020204020204" pitchFamily="34" charset="-122"/>
              </a:rPr>
              <a:t>模拟特性！</a:t>
            </a:r>
            <a:endParaRPr lang="en-US" altLang="zh-CN" sz="24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arn(inVertical)">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2" grpId="0" animBg="1"/>
      <p:bldP spid="1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00102" y="185722"/>
            <a:ext cx="6524228" cy="742951"/>
          </a:xfrm>
        </p:spPr>
        <p:txBody>
          <a:bodyPr/>
          <a:lstStyle/>
          <a:p>
            <a:r>
              <a:rPr lang="en-US" altLang="zh-CN" dirty="0"/>
              <a:t>1.2 </a:t>
            </a:r>
            <a:r>
              <a:rPr lang="zh-CN" altLang="en-US" dirty="0"/>
              <a:t>数字抽象</a:t>
            </a:r>
            <a:endParaRPr lang="zh-CN" altLang="en-US" dirty="0"/>
          </a:p>
        </p:txBody>
      </p:sp>
      <p:sp>
        <p:nvSpPr>
          <p:cNvPr id="3" name="内容占位符 2"/>
          <p:cNvSpPr>
            <a:spLocks noGrp="1"/>
          </p:cNvSpPr>
          <p:nvPr>
            <p:ph idx="1"/>
          </p:nvPr>
        </p:nvSpPr>
        <p:spPr>
          <a:xfrm>
            <a:off x="488946" y="1011869"/>
            <a:ext cx="8498910" cy="2060500"/>
          </a:xfrm>
        </p:spPr>
        <p:txBody>
          <a:bodyPr/>
          <a:lstStyle/>
          <a:p>
            <a:pPr>
              <a:spcBef>
                <a:spcPts val="1200"/>
              </a:spcBef>
            </a:pPr>
            <a:r>
              <a:rPr lang="zh-CN" altLang="en-US" sz="2300" dirty="0"/>
              <a:t>逻辑采样：将物理量实际值的无穷集映射为两个子集，对应于两个</a:t>
            </a:r>
            <a:r>
              <a:rPr lang="zh-CN" altLang="en-US" sz="2300" dirty="0">
                <a:solidFill>
                  <a:srgbClr val="FF0000"/>
                </a:solidFill>
              </a:rPr>
              <a:t>状态</a:t>
            </a:r>
            <a:r>
              <a:rPr lang="zh-CN" altLang="en-US" sz="2300" dirty="0"/>
              <a:t>或两个逻辑值</a:t>
            </a:r>
            <a:r>
              <a:rPr lang="en-US" altLang="zh-CN" sz="2300" dirty="0">
                <a:solidFill>
                  <a:srgbClr val="FF0000"/>
                </a:solidFill>
              </a:rPr>
              <a:t>0</a:t>
            </a:r>
            <a:r>
              <a:rPr lang="zh-CN" altLang="en-US" sz="2300" dirty="0"/>
              <a:t>和</a:t>
            </a:r>
            <a:r>
              <a:rPr lang="en-US" altLang="zh-CN" sz="2300" dirty="0">
                <a:solidFill>
                  <a:srgbClr val="FF0000"/>
                </a:solidFill>
              </a:rPr>
              <a:t>1</a:t>
            </a:r>
            <a:r>
              <a:rPr lang="zh-CN" altLang="en-US" sz="2300" dirty="0"/>
              <a:t>，从而隐藏模拟量的物理特性。</a:t>
            </a:r>
            <a:endParaRPr lang="en-US" altLang="zh-CN" sz="2300" dirty="0"/>
          </a:p>
          <a:p>
            <a:pPr>
              <a:spcBef>
                <a:spcPts val="1200"/>
              </a:spcBef>
            </a:pPr>
            <a:r>
              <a:rPr lang="zh-CN" altLang="en-US" sz="2300" dirty="0"/>
              <a:t>物理量如何明确可靠地检测出</a:t>
            </a:r>
            <a:r>
              <a:rPr lang="en-US" altLang="zh-CN" sz="2300" dirty="0"/>
              <a:t>0</a:t>
            </a:r>
            <a:r>
              <a:rPr lang="zh-CN" altLang="en-US" sz="2300" dirty="0"/>
              <a:t>、</a:t>
            </a:r>
            <a:r>
              <a:rPr lang="en-US" altLang="zh-CN" sz="2300" dirty="0"/>
              <a:t>1</a:t>
            </a:r>
            <a:r>
              <a:rPr lang="zh-CN" altLang="en-US" sz="2300" dirty="0"/>
              <a:t>状态？</a:t>
            </a:r>
            <a:endParaRPr lang="en-US" altLang="zh-CN" sz="2300" dirty="0"/>
          </a:p>
          <a:p>
            <a:pPr lvl="1">
              <a:spcBef>
                <a:spcPts val="1200"/>
              </a:spcBef>
            </a:pPr>
            <a:r>
              <a:rPr lang="zh-CN" altLang="en-US" dirty="0"/>
              <a:t>设定</a:t>
            </a:r>
            <a:r>
              <a:rPr lang="zh-CN" altLang="en-US" b="1" dirty="0">
                <a:solidFill>
                  <a:srgbClr val="FF0000"/>
                </a:solidFill>
              </a:rPr>
              <a:t>阈值范围</a:t>
            </a:r>
            <a:r>
              <a:rPr lang="en-US" altLang="zh-CN" dirty="0"/>
              <a:t>/</a:t>
            </a:r>
            <a:r>
              <a:rPr lang="zh-CN" altLang="en-US" dirty="0"/>
              <a:t>未定义区。</a:t>
            </a:r>
            <a:endParaRPr lang="en-US" altLang="zh-CN" dirty="0"/>
          </a:p>
        </p:txBody>
      </p:sp>
      <p:sp>
        <p:nvSpPr>
          <p:cNvPr id="6" name="灯片编号占位符 5"/>
          <p:cNvSpPr>
            <a:spLocks noGrp="1"/>
          </p:cNvSpPr>
          <p:nvPr>
            <p:ph type="sldNum" sz="quarter" idx="4294967295"/>
          </p:nvPr>
        </p:nvSpPr>
        <p:spPr>
          <a:xfrm>
            <a:off x="8542142" y="6107656"/>
            <a:ext cx="501650" cy="333375"/>
          </a:xfrm>
          <a:prstGeom prst="rect">
            <a:avLst/>
          </a:prstGeom>
        </p:spPr>
        <p:txBody>
          <a:bodyPr/>
          <a:lstStyle/>
          <a:p>
            <a:pPr>
              <a:defRPr/>
            </a:pPr>
            <a:fld id="{F38CFDAA-5283-40C9-80A4-C3781C02EB22}" type="slidenum">
              <a:rPr lang="en-US" altLang="zh-CN" smtClean="0"/>
            </a:fld>
            <a:endParaRPr lang="en-US" altLang="zh-CN" dirty="0"/>
          </a:p>
        </p:txBody>
      </p:sp>
      <p:graphicFrame>
        <p:nvGraphicFramePr>
          <p:cNvPr id="7" name="表格 6"/>
          <p:cNvGraphicFramePr>
            <a:graphicFrameLocks noGrp="1"/>
          </p:cNvGraphicFramePr>
          <p:nvPr/>
        </p:nvGraphicFramePr>
        <p:xfrm>
          <a:off x="905191" y="3767039"/>
          <a:ext cx="7466004" cy="1737361"/>
        </p:xfrm>
        <a:graphic>
          <a:graphicData uri="http://schemas.openxmlformats.org/drawingml/2006/table">
            <a:tbl>
              <a:tblPr firstRow="1" bandRow="1">
                <a:tableStyleId>{68D230F3-CF80-4859-8CE7-A43EE81993B5}</a:tableStyleId>
              </a:tblPr>
              <a:tblGrid>
                <a:gridCol w="1440161"/>
                <a:gridCol w="2808312"/>
                <a:gridCol w="3217531"/>
              </a:tblGrid>
              <a:tr h="822961">
                <a:tc>
                  <a:txBody>
                    <a:bodyPr/>
                    <a:lstStyle/>
                    <a:p>
                      <a:pPr algn="ctr"/>
                      <a:r>
                        <a:rPr lang="en-US" altLang="zh-CN" sz="2400" dirty="0"/>
                        <a:t>   </a:t>
                      </a:r>
                      <a:r>
                        <a:rPr lang="zh-CN" altLang="en-US" sz="2400" dirty="0"/>
                        <a:t>逻辑值</a:t>
                      </a:r>
                      <a:endParaRPr lang="zh-CN" altLang="en-US" sz="2400" b="1" dirty="0"/>
                    </a:p>
                  </a:txBody>
                  <a:tcPr>
                    <a:cell3D prstMaterial="dkEdge">
                      <a:bevel/>
                      <a:lightRig rig="flood" dir="t"/>
                    </a:cell3D>
                  </a:tcPr>
                </a:tc>
                <a:tc>
                  <a:txBody>
                    <a:bodyPr/>
                    <a:lstStyle/>
                    <a:p>
                      <a:pPr algn="ctr"/>
                      <a:r>
                        <a:rPr lang="en-US" altLang="zh-CN" sz="2400" dirty="0">
                          <a:solidFill>
                            <a:srgbClr val="FF0000"/>
                          </a:solidFill>
                        </a:rPr>
                        <a:t>  </a:t>
                      </a:r>
                      <a:r>
                        <a:rPr lang="zh-CN" altLang="en-US" sz="2400" dirty="0">
                          <a:solidFill>
                            <a:srgbClr val="FF0000"/>
                          </a:solidFill>
                        </a:rPr>
                        <a:t>正逻辑</a:t>
                      </a:r>
                      <a:endParaRPr lang="en-US" altLang="zh-CN" sz="2400" dirty="0">
                        <a:solidFill>
                          <a:srgbClr val="FF0000"/>
                        </a:solidFill>
                      </a:endParaRPr>
                    </a:p>
                    <a:p>
                      <a:pPr algn="ctr"/>
                      <a:r>
                        <a:rPr lang="en-US" altLang="zh-CN" sz="2400" dirty="0" err="1">
                          <a:solidFill>
                            <a:srgbClr val="FF0000"/>
                          </a:solidFill>
                        </a:rPr>
                        <a:t>Postitive</a:t>
                      </a:r>
                      <a:r>
                        <a:rPr lang="en-US" altLang="zh-CN" sz="2400" baseline="0" dirty="0">
                          <a:solidFill>
                            <a:srgbClr val="FF0000"/>
                          </a:solidFill>
                        </a:rPr>
                        <a:t> Logic</a:t>
                      </a:r>
                      <a:endParaRPr lang="zh-CN" altLang="en-US" sz="2400" b="1" dirty="0">
                        <a:solidFill>
                          <a:srgbClr val="FF0000"/>
                        </a:solidFill>
                      </a:endParaRPr>
                    </a:p>
                  </a:txBody>
                  <a:tcPr>
                    <a:cell3D prstMaterial="dkEdge">
                      <a:bevel/>
                      <a:lightRig rig="flood" dir="t"/>
                    </a:cell3D>
                  </a:tcPr>
                </a:tc>
                <a:tc>
                  <a:txBody>
                    <a:bodyPr/>
                    <a:lstStyle/>
                    <a:p>
                      <a:pPr algn="ctr"/>
                      <a:r>
                        <a:rPr lang="zh-CN" altLang="en-US" sz="2400" dirty="0"/>
                        <a:t>负逻辑</a:t>
                      </a:r>
                      <a:endParaRPr lang="en-US" altLang="zh-CN" sz="2400" dirty="0"/>
                    </a:p>
                    <a:p>
                      <a:pPr algn="ctr"/>
                      <a:r>
                        <a:rPr lang="en-US" altLang="zh-CN" sz="2400" dirty="0"/>
                        <a:t>Negative Logic</a:t>
                      </a:r>
                      <a:endParaRPr lang="zh-CN" altLang="en-US" sz="2400" b="1" dirty="0">
                        <a:solidFill>
                          <a:srgbClr val="FF0000"/>
                        </a:solidFill>
                      </a:endParaRPr>
                    </a:p>
                  </a:txBody>
                  <a:tcPr>
                    <a:cell3D prstMaterial="dkEdge">
                      <a:bevel/>
                      <a:lightRig rig="flood" dir="t"/>
                    </a:cell3D>
                  </a:tcPr>
                </a:tc>
              </a:tr>
              <a:tr h="457200">
                <a:tc>
                  <a:txBody>
                    <a:bodyPr/>
                    <a:lstStyle/>
                    <a:p>
                      <a:pPr algn="ctr"/>
                      <a:r>
                        <a:rPr lang="en-US" altLang="zh-CN" sz="2400" dirty="0"/>
                        <a:t>0</a:t>
                      </a:r>
                      <a:endParaRPr lang="zh-CN" altLang="en-US" sz="2400" dirty="0"/>
                    </a:p>
                  </a:txBody>
                  <a:tcPr>
                    <a:cell3D prstMaterial="dkEdge">
                      <a:bevel/>
                      <a:lightRig rig="flood" dir="t"/>
                    </a:cell3D>
                  </a:tcPr>
                </a:tc>
                <a:tc>
                  <a:txBody>
                    <a:bodyPr/>
                    <a:lstStyle/>
                    <a:p>
                      <a:pPr algn="ctr"/>
                      <a:r>
                        <a:rPr lang="zh-CN" altLang="en-US" sz="2400" dirty="0">
                          <a:solidFill>
                            <a:srgbClr val="FF0000"/>
                          </a:solidFill>
                        </a:rPr>
                        <a:t>低电平</a:t>
                      </a:r>
                      <a:r>
                        <a:rPr lang="en-US" altLang="zh-CN" sz="2400" dirty="0">
                          <a:solidFill>
                            <a:srgbClr val="FF0000"/>
                          </a:solidFill>
                        </a:rPr>
                        <a:t>L</a:t>
                      </a:r>
                      <a:endParaRPr lang="zh-CN" altLang="en-US" sz="2400" dirty="0">
                        <a:solidFill>
                          <a:srgbClr val="FF0000"/>
                        </a:solidFill>
                      </a:endParaRPr>
                    </a:p>
                  </a:txBody>
                  <a:tcPr>
                    <a:cell3D prstMaterial="dkEdge">
                      <a:bevel/>
                      <a:lightRig rig="flood" dir="t"/>
                    </a:cell3D>
                  </a:tcPr>
                </a:tc>
                <a:tc>
                  <a:txBody>
                    <a:bodyPr/>
                    <a:lstStyle/>
                    <a:p>
                      <a:pPr algn="ctr"/>
                      <a:r>
                        <a:rPr lang="zh-CN" altLang="en-US" sz="2400" dirty="0"/>
                        <a:t>高电平</a:t>
                      </a:r>
                      <a:r>
                        <a:rPr lang="en-US" altLang="zh-CN" sz="2400" dirty="0"/>
                        <a:t>H</a:t>
                      </a:r>
                      <a:endParaRPr lang="zh-CN" altLang="en-US" sz="2400" dirty="0"/>
                    </a:p>
                  </a:txBody>
                  <a:tcPr>
                    <a:cell3D prstMaterial="dkEdge">
                      <a:bevel/>
                      <a:lightRig rig="flood" dir="t"/>
                    </a:cell3D>
                  </a:tcPr>
                </a:tc>
              </a:tr>
              <a:tr h="457200">
                <a:tc>
                  <a:txBody>
                    <a:bodyPr/>
                    <a:lstStyle/>
                    <a:p>
                      <a:pPr algn="ctr"/>
                      <a:r>
                        <a:rPr lang="en-US" altLang="zh-CN" sz="2400" dirty="0"/>
                        <a:t>1</a:t>
                      </a:r>
                      <a:endParaRPr lang="zh-CN" altLang="en-US" sz="2400" dirty="0"/>
                    </a:p>
                  </a:txBody>
                  <a:tcPr>
                    <a:cell3D prstMaterial="dkEdge">
                      <a:bevel/>
                      <a:lightRig rig="flood" dir="t"/>
                    </a:cell3D>
                  </a:tcPr>
                </a:tc>
                <a:tc>
                  <a:txBody>
                    <a:bodyPr/>
                    <a:lstStyle/>
                    <a:p>
                      <a:pPr algn="ctr"/>
                      <a:r>
                        <a:rPr lang="zh-CN" altLang="en-US" sz="2400" dirty="0">
                          <a:solidFill>
                            <a:srgbClr val="FF0000"/>
                          </a:solidFill>
                        </a:rPr>
                        <a:t>高电平</a:t>
                      </a:r>
                      <a:r>
                        <a:rPr lang="en-US" altLang="zh-CN" sz="2400" dirty="0">
                          <a:solidFill>
                            <a:srgbClr val="FF0000"/>
                          </a:solidFill>
                        </a:rPr>
                        <a:t>H</a:t>
                      </a:r>
                      <a:endParaRPr lang="zh-CN" altLang="en-US" sz="2400" dirty="0">
                        <a:solidFill>
                          <a:srgbClr val="FF0000"/>
                        </a:solidFill>
                      </a:endParaRPr>
                    </a:p>
                  </a:txBody>
                  <a:tcPr>
                    <a:cell3D prstMaterial="dkEdge">
                      <a:bevel/>
                      <a:lightRig rig="flood" dir="t"/>
                    </a:cell3D>
                  </a:tcPr>
                </a:tc>
                <a:tc>
                  <a:txBody>
                    <a:bodyPr/>
                    <a:lstStyle/>
                    <a:p>
                      <a:pPr algn="ctr"/>
                      <a:r>
                        <a:rPr lang="zh-CN" altLang="en-US" sz="2400" dirty="0"/>
                        <a:t>低电平</a:t>
                      </a:r>
                      <a:r>
                        <a:rPr lang="en-US" altLang="zh-CN" sz="2400" dirty="0"/>
                        <a:t>L</a:t>
                      </a:r>
                      <a:endParaRPr lang="zh-CN" altLang="en-US" sz="2400" dirty="0"/>
                    </a:p>
                  </a:txBody>
                  <a:tcPr>
                    <a:cell3D prstMaterial="dkEdge">
                      <a:bevel/>
                      <a:lightRig rig="flood" dir="t"/>
                    </a:cell3D>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arn(inVertical)">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2" descr="The coordinate plane is divided into three regions for outputs, noise margin, and inputs from left to right. For outputs, the region for logic 1 is above the region for logic 0. The logic 1 and logic 0 regions for the inputs are similarly positioned. However, each individual region represents a wider range of voltage "/>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139952" y="2066716"/>
            <a:ext cx="4608512" cy="3638986"/>
          </a:xfrm>
          <a:prstGeom prst="rect">
            <a:avLst/>
          </a:prstGeom>
        </p:spPr>
      </p:pic>
      <p:sp>
        <p:nvSpPr>
          <p:cNvPr id="139266" name="Rectangle 1026"/>
          <p:cNvSpPr>
            <a:spLocks noGrp="1" noChangeArrowheads="1"/>
          </p:cNvSpPr>
          <p:nvPr>
            <p:ph type="title"/>
          </p:nvPr>
        </p:nvSpPr>
        <p:spPr>
          <a:xfrm>
            <a:off x="996926" y="228600"/>
            <a:ext cx="6527402" cy="479747"/>
          </a:xfrm>
        </p:spPr>
        <p:txBody>
          <a:bodyPr/>
          <a:lstStyle/>
          <a:p>
            <a:r>
              <a:rPr lang="en-US" altLang="zh-CN" dirty="0"/>
              <a:t>1.2 </a:t>
            </a:r>
            <a:r>
              <a:rPr lang="zh-CN" altLang="en-US" dirty="0"/>
              <a:t>数字抽象</a:t>
            </a:r>
            <a:endParaRPr lang="en-US" altLang="zh-CN" dirty="0"/>
          </a:p>
        </p:txBody>
      </p:sp>
      <p:sp>
        <p:nvSpPr>
          <p:cNvPr id="7" name="灯片编号占位符 6"/>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139286" name="Text Box 1046"/>
          <p:cNvSpPr txBox="1">
            <a:spLocks noChangeArrowheads="1"/>
          </p:cNvSpPr>
          <p:nvPr/>
        </p:nvSpPr>
        <p:spPr bwMode="auto">
          <a:xfrm>
            <a:off x="6210984" y="5881920"/>
            <a:ext cx="1559164"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spcBef>
                <a:spcPct val="50000"/>
              </a:spcBef>
              <a:buFontTx/>
              <a:buNone/>
            </a:pPr>
            <a:r>
              <a:rPr lang="zh-CN" altLang="en-US" sz="2400" dirty="0">
                <a:solidFill>
                  <a:schemeClr val="tx1"/>
                </a:solidFill>
                <a:latin typeface="微软雅黑" panose="020B0503020204020204" pitchFamily="34" charset="-122"/>
                <a:ea typeface="微软雅黑" panose="020B0503020204020204" pitchFamily="34" charset="-122"/>
              </a:rPr>
              <a:t>未定义区</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
        <p:nvSpPr>
          <p:cNvPr id="139287" name="Line 1047"/>
          <p:cNvSpPr>
            <a:spLocks noChangeShapeType="1"/>
          </p:cNvSpPr>
          <p:nvPr/>
        </p:nvSpPr>
        <p:spPr bwMode="auto">
          <a:xfrm rot="26012979" flipH="1" flipV="1">
            <a:off x="6606323" y="4100504"/>
            <a:ext cx="1584941" cy="1522669"/>
          </a:xfrm>
          <a:prstGeom prst="line">
            <a:avLst/>
          </a:prstGeom>
          <a:noFill/>
          <a:ln w="38100">
            <a:solidFill>
              <a:srgbClr val="FF0000"/>
            </a:solidFill>
            <a:round/>
            <a:tailEnd type="triangle" w="med" len="med"/>
          </a:ln>
          <a:effectLst/>
        </p:spPr>
        <p:txBody>
          <a:bodyPr/>
          <a:lstStyle/>
          <a:p>
            <a:endParaRPr lang="zh-CN" altLang="en-US"/>
          </a:p>
        </p:txBody>
      </p:sp>
      <p:sp>
        <p:nvSpPr>
          <p:cNvPr id="9" name="Line 1047"/>
          <p:cNvSpPr>
            <a:spLocks noChangeShapeType="1"/>
          </p:cNvSpPr>
          <p:nvPr/>
        </p:nvSpPr>
        <p:spPr bwMode="auto">
          <a:xfrm rot="26012979" flipH="1">
            <a:off x="5101895" y="4603852"/>
            <a:ext cx="2388091" cy="246788"/>
          </a:xfrm>
          <a:prstGeom prst="line">
            <a:avLst/>
          </a:prstGeom>
          <a:noFill/>
          <a:ln w="38100">
            <a:solidFill>
              <a:srgbClr val="FF0000"/>
            </a:solidFill>
            <a:round/>
            <a:tailEnd type="triangle" w="med" len="med"/>
          </a:ln>
          <a:effectLst/>
        </p:spPr>
        <p:txBody>
          <a:bodyPr/>
          <a:lstStyle/>
          <a:p>
            <a:endParaRPr lang="zh-CN" altLang="en-US"/>
          </a:p>
        </p:txBody>
      </p:sp>
      <p:sp>
        <p:nvSpPr>
          <p:cNvPr id="3" name="矩形 2"/>
          <p:cNvSpPr/>
          <p:nvPr/>
        </p:nvSpPr>
        <p:spPr>
          <a:xfrm>
            <a:off x="107504" y="1262912"/>
            <a:ext cx="5688632" cy="461665"/>
          </a:xfrm>
          <a:prstGeom prst="rect">
            <a:avLst/>
          </a:prstGeom>
        </p:spPr>
        <p:txBody>
          <a:bodyPr wrap="square">
            <a:spAutoFit/>
          </a:bodyPr>
          <a:lstStyle/>
          <a:p>
            <a:pPr marL="457200" indent="-457200">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rPr>
              <a:t>输入、输出电平的逻辑采样</a:t>
            </a:r>
            <a:endParaRPr lang="zh-CN" altLang="en-US" sz="2400" b="1" dirty="0">
              <a:latin typeface="微软雅黑" panose="020B0503020204020204" pitchFamily="34" charset="-122"/>
              <a:ea typeface="微软雅黑" panose="020B0503020204020204" pitchFamily="34" charset="-122"/>
            </a:endParaRPr>
          </a:p>
        </p:txBody>
      </p:sp>
      <p:pic>
        <p:nvPicPr>
          <p:cNvPr id="12" name="Picture 2" descr="CMOS logic circuits have two logic levels defined by voltage. Logic 0 or low from 0.0 to 1.5 volts, and logic 1 or high from 3.5 to 5.0 volts. The interval from 1.5 to 3.5 volts is the undefined logic level."/>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473" y="2270656"/>
            <a:ext cx="3962479" cy="3435046"/>
          </a:xfrm>
          <a:prstGeom prst="rect">
            <a:avLst/>
          </a:prstGeom>
        </p:spPr>
      </p:pic>
      <p:sp>
        <p:nvSpPr>
          <p:cNvPr id="13" name="Text Box 1046"/>
          <p:cNvSpPr txBox="1">
            <a:spLocks noChangeArrowheads="1"/>
          </p:cNvSpPr>
          <p:nvPr/>
        </p:nvSpPr>
        <p:spPr bwMode="auto">
          <a:xfrm>
            <a:off x="3304538" y="3450002"/>
            <a:ext cx="1267462" cy="83099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spcBef>
                <a:spcPct val="50000"/>
              </a:spcBef>
              <a:buFontTx/>
              <a:buNone/>
            </a:pPr>
            <a:r>
              <a:rPr lang="zh-CN" altLang="en-US" sz="2400" dirty="0">
                <a:solidFill>
                  <a:schemeClr val="tx1"/>
                </a:solidFill>
                <a:latin typeface="微软雅黑" panose="020B0503020204020204" pitchFamily="34" charset="-122"/>
                <a:ea typeface="微软雅黑" panose="020B0503020204020204" pitchFamily="34" charset="-122"/>
              </a:rPr>
              <a:t>不确定状态</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928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928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86" grpId="0" animBg="1"/>
      <p:bldP spid="139287" grpId="0" animBg="1"/>
      <p:bldP spid="9" grpId="0" animBg="1"/>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1.2 </a:t>
            </a:r>
            <a:r>
              <a:rPr lang="zh-CN" altLang="en-US" dirty="0"/>
              <a:t>数字抽象</a:t>
            </a:r>
            <a:endParaRPr lang="zh-CN" altLang="en-US" dirty="0"/>
          </a:p>
        </p:txBody>
      </p:sp>
      <p:sp>
        <p:nvSpPr>
          <p:cNvPr id="8" name="内容占位符 7"/>
          <p:cNvSpPr>
            <a:spLocks noGrp="1"/>
          </p:cNvSpPr>
          <p:nvPr>
            <p:ph idx="1"/>
          </p:nvPr>
        </p:nvSpPr>
        <p:spPr>
          <a:xfrm>
            <a:off x="418009" y="895373"/>
            <a:ext cx="7415408" cy="937051"/>
          </a:xfrm>
        </p:spPr>
        <p:txBody>
          <a:bodyPr/>
          <a:lstStyle/>
          <a:p>
            <a:r>
              <a:rPr lang="zh-CN" altLang="en-US" dirty="0"/>
              <a:t>逻辑门电路的输出电压受到</a:t>
            </a:r>
            <a:r>
              <a:rPr lang="zh-CN" altLang="en-US" dirty="0">
                <a:solidFill>
                  <a:srgbClr val="FF0000"/>
                </a:solidFill>
              </a:rPr>
              <a:t>负载</a:t>
            </a:r>
            <a:r>
              <a:rPr lang="zh-CN" altLang="en-US" dirty="0"/>
              <a:t>及</a:t>
            </a:r>
            <a:r>
              <a:rPr lang="zh-CN" altLang="en-US" dirty="0">
                <a:solidFill>
                  <a:srgbClr val="FF0000"/>
                </a:solidFill>
              </a:rPr>
              <a:t>噪声</a:t>
            </a:r>
            <a:r>
              <a:rPr lang="zh-CN" altLang="en-US" dirty="0"/>
              <a:t>的影响。</a:t>
            </a:r>
            <a:endParaRPr lang="en-US" altLang="zh-CN" dirty="0"/>
          </a:p>
          <a:p>
            <a:r>
              <a:rPr lang="zh-CN" altLang="en-US" dirty="0"/>
              <a:t>输出电压必须能够被其他逻辑门的输入端</a:t>
            </a:r>
            <a:r>
              <a:rPr lang="zh-CN" altLang="en-US" dirty="0">
                <a:solidFill>
                  <a:srgbClr val="FF0000"/>
                </a:solidFill>
              </a:rPr>
              <a:t>准确识别</a:t>
            </a:r>
            <a:r>
              <a:rPr lang="zh-CN" altLang="en-US" dirty="0"/>
              <a:t>。</a:t>
            </a:r>
            <a:endParaRPr lang="en-US" altLang="zh-CN"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pic>
        <p:nvPicPr>
          <p:cNvPr id="9" name="图片 8"/>
          <p:cNvPicPr>
            <a:picLocks noChangeAspect="1"/>
          </p:cNvPicPr>
          <p:nvPr/>
        </p:nvPicPr>
        <p:blipFill>
          <a:blip r:embed="rId1"/>
          <a:stretch>
            <a:fillRect/>
          </a:stretch>
        </p:blipFill>
        <p:spPr>
          <a:xfrm>
            <a:off x="1569399" y="1802349"/>
            <a:ext cx="6264018" cy="4603405"/>
          </a:xfrm>
          <a:prstGeom prst="rect">
            <a:avLst/>
          </a:prstGeom>
        </p:spPr>
      </p:pic>
      <p:sp>
        <p:nvSpPr>
          <p:cNvPr id="10" name="矩形 9"/>
          <p:cNvSpPr/>
          <p:nvPr/>
        </p:nvSpPr>
        <p:spPr>
          <a:xfrm>
            <a:off x="2091847" y="6405754"/>
            <a:ext cx="3970749" cy="400110"/>
          </a:xfrm>
          <a:prstGeom prst="rect">
            <a:avLst/>
          </a:prstGeom>
        </p:spPr>
        <p:txBody>
          <a:bodyPr wrap="square">
            <a:spAutoFit/>
          </a:bodyPr>
          <a:lstStyle/>
          <a:p>
            <a:r>
              <a:rPr lang="zh-CN" altLang="en-US" sz="2000" dirty="0">
                <a:latin typeface="微软雅黑" panose="020B0503020204020204" pitchFamily="34" charset="-122"/>
                <a:ea typeface="微软雅黑" panose="020B0503020204020204" pitchFamily="34" charset="-122"/>
              </a:rPr>
              <a:t>非门典型的输入</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输出传输特性图</a:t>
            </a:r>
            <a:endParaRPr lang="zh-CN" altLang="en-US" sz="2000" dirty="0">
              <a:latin typeface="微软雅黑" panose="020B0503020204020204" pitchFamily="34" charset="-122"/>
              <a:ea typeface="微软雅黑" panose="020B0503020204020204" pitchFamily="34" charset="-122"/>
            </a:endParaRPr>
          </a:p>
        </p:txBody>
      </p:sp>
      <p:sp>
        <p:nvSpPr>
          <p:cNvPr id="3" name="矩形 2"/>
          <p:cNvSpPr/>
          <p:nvPr/>
        </p:nvSpPr>
        <p:spPr bwMode="auto">
          <a:xfrm>
            <a:off x="2849671" y="3012510"/>
            <a:ext cx="3638811" cy="2542784"/>
          </a:xfrm>
          <a:prstGeom prst="rect">
            <a:avLst/>
          </a:prstGeom>
          <a:solidFill>
            <a:srgbClr val="FFF5E0">
              <a:alpha val="54118"/>
            </a:srgbClr>
          </a:solid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600" b="1" i="0" u="none" strike="noStrike" cap="none" normalizeH="0" baseline="0">
              <a:ln>
                <a:noFill/>
              </a:ln>
              <a:solidFill>
                <a:schemeClr val="tx1"/>
              </a:solidFill>
              <a:effectLst/>
              <a:latin typeface="Times New Roman" panose="02020603050405020304" pitchFamily="18" charset="0"/>
            </a:endParaRPr>
          </a:p>
        </p:txBody>
      </p:sp>
      <p:sp>
        <p:nvSpPr>
          <p:cNvPr id="11" name="矩形 10"/>
          <p:cNvSpPr/>
          <p:nvPr/>
        </p:nvSpPr>
        <p:spPr bwMode="auto">
          <a:xfrm>
            <a:off x="3851754" y="2655518"/>
            <a:ext cx="1396651" cy="3006246"/>
          </a:xfrm>
          <a:prstGeom prst="rect">
            <a:avLst/>
          </a:prstGeom>
          <a:solidFill>
            <a:srgbClr val="00B050">
              <a:alpha val="41176"/>
            </a:srgbClr>
          </a:solid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600" b="1" i="0" u="none" strike="noStrike" cap="none" normalizeH="0" baseline="0">
              <a:ln>
                <a:noFill/>
              </a:ln>
              <a:solidFill>
                <a:schemeClr val="tx1"/>
              </a:solidFill>
              <a:effectLst/>
              <a:latin typeface="Times New Roman" panose="02020603050405020304" pitchFamily="18" charset="0"/>
            </a:endParaRP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1.2 </a:t>
            </a:r>
            <a:r>
              <a:rPr lang="zh-CN" altLang="en-US" dirty="0"/>
              <a:t>数字抽象</a:t>
            </a:r>
            <a:endParaRPr lang="en-US" altLang="zh-CN" sz="4000" dirty="0"/>
          </a:p>
        </p:txBody>
      </p:sp>
      <p:sp>
        <p:nvSpPr>
          <p:cNvPr id="3" name="内容占位符 2"/>
          <p:cNvSpPr>
            <a:spLocks noGrp="1"/>
          </p:cNvSpPr>
          <p:nvPr>
            <p:ph idx="1"/>
          </p:nvPr>
        </p:nvSpPr>
        <p:spPr>
          <a:xfrm>
            <a:off x="121430" y="843725"/>
            <a:ext cx="8840943" cy="6265305"/>
          </a:xfrm>
        </p:spPr>
        <p:txBody>
          <a:bodyPr/>
          <a:lstStyle/>
          <a:p>
            <a:r>
              <a:rPr lang="zh-CN" altLang="zh-CN" sz="2200" b="1" dirty="0"/>
              <a:t>输入电压</a:t>
            </a:r>
            <a:r>
              <a:rPr lang="zh-CN" altLang="zh-CN" sz="2200" dirty="0"/>
              <a:t>主要由晶体管的</a:t>
            </a:r>
            <a:r>
              <a:rPr lang="zh-CN" altLang="zh-CN" sz="2200" dirty="0">
                <a:solidFill>
                  <a:srgbClr val="FF0000"/>
                </a:solidFill>
              </a:rPr>
              <a:t>开关阈值电压</a:t>
            </a:r>
            <a:r>
              <a:rPr lang="zh-CN" altLang="zh-CN" sz="2200" dirty="0"/>
              <a:t>决定，而</a:t>
            </a:r>
            <a:r>
              <a:rPr lang="zh-CN" altLang="zh-CN" sz="2200" b="1" dirty="0"/>
              <a:t>输出电压</a:t>
            </a:r>
            <a:r>
              <a:rPr lang="zh-CN" altLang="zh-CN" sz="2200" dirty="0"/>
              <a:t>则主要由晶体管</a:t>
            </a:r>
            <a:r>
              <a:rPr lang="zh-CN" altLang="zh-CN" sz="2200" dirty="0">
                <a:solidFill>
                  <a:srgbClr val="FF0000"/>
                </a:solidFill>
              </a:rPr>
              <a:t>导通时的电阻</a:t>
            </a:r>
            <a:r>
              <a:rPr lang="zh-CN" altLang="zh-CN" sz="2200" dirty="0"/>
              <a:t>决定。</a:t>
            </a:r>
            <a:endParaRPr lang="zh-CN" altLang="zh-CN" sz="2200" dirty="0"/>
          </a:p>
          <a:p>
            <a:pPr lvl="1"/>
            <a:r>
              <a:rPr lang="en-US" altLang="zh-CN" sz="2000" dirty="0" err="1"/>
              <a:t>V</a:t>
            </a:r>
            <a:r>
              <a:rPr lang="en-US" altLang="zh-CN" sz="2000" baseline="-25000" dirty="0" err="1"/>
              <a:t>OHmin</a:t>
            </a:r>
            <a:r>
              <a:rPr lang="zh-CN" altLang="en-US" sz="2000" dirty="0"/>
              <a:t>：输出为高态时的最小输出电压值。</a:t>
            </a:r>
            <a:endParaRPr lang="en-US" altLang="zh-CN" sz="2000" dirty="0"/>
          </a:p>
          <a:p>
            <a:pPr lvl="1"/>
            <a:r>
              <a:rPr lang="en-US" altLang="zh-CN" sz="2000" dirty="0" err="1"/>
              <a:t>V</a:t>
            </a:r>
            <a:r>
              <a:rPr lang="en-US" altLang="zh-CN" sz="2000" baseline="-25000" dirty="0" err="1"/>
              <a:t>OLmax</a:t>
            </a:r>
            <a:r>
              <a:rPr lang="zh-CN" altLang="en-US" sz="2000" dirty="0"/>
              <a:t>：输出为低态时的最大输出电压值。</a:t>
            </a:r>
            <a:endParaRPr lang="en-US" altLang="zh-CN" sz="2000" dirty="0"/>
          </a:p>
          <a:p>
            <a:pPr lvl="1"/>
            <a:r>
              <a:rPr lang="en-US" altLang="zh-CN" sz="2000" dirty="0" err="1"/>
              <a:t>V</a:t>
            </a:r>
            <a:r>
              <a:rPr lang="en-US" altLang="zh-CN" sz="2000" baseline="-25000" dirty="0" err="1"/>
              <a:t>IHmin</a:t>
            </a:r>
            <a:r>
              <a:rPr lang="zh-CN" altLang="en-US" sz="2000" dirty="0"/>
              <a:t>：确保能被识别为高态的最小输入电压值。</a:t>
            </a:r>
            <a:endParaRPr lang="en-US" altLang="zh-CN" sz="2000" dirty="0"/>
          </a:p>
          <a:p>
            <a:pPr lvl="1"/>
            <a:r>
              <a:rPr lang="en-US" altLang="zh-CN" sz="2000" dirty="0" err="1"/>
              <a:t>V</a:t>
            </a:r>
            <a:r>
              <a:rPr lang="en-US" altLang="zh-CN" sz="2000" baseline="-25000" dirty="0" err="1"/>
              <a:t>ILmax</a:t>
            </a:r>
            <a:r>
              <a:rPr lang="zh-CN" altLang="en-US" sz="2000" dirty="0"/>
              <a:t>：确保能被识别为低态的最大输入电压值。</a:t>
            </a:r>
            <a:endParaRPr lang="en-US" altLang="zh-CN" sz="2000" dirty="0"/>
          </a:p>
          <a:p>
            <a:pPr lvl="1"/>
            <a:endParaRPr lang="en-US" altLang="zh-CN" sz="2000" dirty="0"/>
          </a:p>
          <a:p>
            <a:r>
              <a:rPr lang="en-US" altLang="zh-CN" sz="2200" dirty="0"/>
              <a:t>V</a:t>
            </a:r>
            <a:r>
              <a:rPr lang="en-US" altLang="zh-CN" sz="2200" baseline="-25000" dirty="0"/>
              <a:t>CC</a:t>
            </a:r>
            <a:r>
              <a:rPr lang="en-US" altLang="zh-CN" sz="2200" dirty="0"/>
              <a:t>/V</a:t>
            </a:r>
            <a:r>
              <a:rPr lang="en-US" altLang="zh-CN" sz="2200" baseline="-25000" dirty="0"/>
              <a:t>DD</a:t>
            </a:r>
            <a:r>
              <a:rPr lang="zh-CN" altLang="en-US" sz="2200" dirty="0"/>
              <a:t>称为</a:t>
            </a:r>
            <a:r>
              <a:rPr lang="zh-CN" altLang="zh-CN" sz="2200" b="1" dirty="0"/>
              <a:t>电源电压</a:t>
            </a:r>
            <a:r>
              <a:rPr lang="zh-CN" altLang="en-US" sz="2200" dirty="0"/>
              <a:t>，典型值为</a:t>
            </a:r>
            <a:r>
              <a:rPr lang="en-US" altLang="zh-CN" sz="2200" dirty="0"/>
              <a:t>5.0V±10%</a:t>
            </a:r>
            <a:endParaRPr lang="en-US" altLang="zh-CN" sz="2200" dirty="0"/>
          </a:p>
          <a:p>
            <a:r>
              <a:rPr lang="en-US" altLang="zh-CN" sz="2200" dirty="0"/>
              <a:t>GND</a:t>
            </a:r>
            <a:r>
              <a:rPr lang="zh-CN" altLang="en-US" sz="2200" dirty="0"/>
              <a:t>称为</a:t>
            </a:r>
            <a:r>
              <a:rPr lang="zh-CN" altLang="zh-CN" sz="2200" dirty="0"/>
              <a:t>地线。</a:t>
            </a:r>
            <a:endParaRPr lang="en-US" altLang="zh-CN" sz="2200" dirty="0"/>
          </a:p>
          <a:p>
            <a:r>
              <a:rPr lang="zh-CN" altLang="zh-CN" sz="2200" dirty="0"/>
              <a:t>电路电平参数的</a:t>
            </a:r>
            <a:r>
              <a:rPr lang="zh-CN" altLang="en-US" sz="2200" dirty="0"/>
              <a:t>典型数值如下：</a:t>
            </a:r>
            <a:endParaRPr lang="zh-CN" altLang="zh-CN" sz="2200" dirty="0"/>
          </a:p>
          <a:p>
            <a:pPr lvl="1"/>
            <a:r>
              <a:rPr lang="en-US" altLang="zh-CN" sz="2000" dirty="0" err="1"/>
              <a:t>V</a:t>
            </a:r>
            <a:r>
              <a:rPr lang="en-US" altLang="zh-CN" sz="2000" baseline="-25000" dirty="0" err="1"/>
              <a:t>OHmin</a:t>
            </a:r>
            <a:r>
              <a:rPr lang="zh-CN" altLang="zh-CN" sz="2000" dirty="0"/>
              <a:t>：</a:t>
            </a:r>
            <a:r>
              <a:rPr lang="en-US" altLang="zh-CN" sz="2000" dirty="0"/>
              <a:t>V</a:t>
            </a:r>
            <a:r>
              <a:rPr lang="en-US" altLang="zh-CN" sz="2000" baseline="-25000" dirty="0"/>
              <a:t>CC</a:t>
            </a:r>
            <a:r>
              <a:rPr lang="en-US" altLang="zh-CN" sz="2000" dirty="0"/>
              <a:t>-0.1V</a:t>
            </a:r>
            <a:r>
              <a:rPr lang="zh-CN" altLang="zh-CN" sz="2000" dirty="0"/>
              <a:t>，</a:t>
            </a:r>
            <a:r>
              <a:rPr lang="en-US" altLang="zh-CN" sz="2000" dirty="0"/>
              <a:t>V</a:t>
            </a:r>
            <a:r>
              <a:rPr lang="en-US" altLang="zh-CN" sz="2000" baseline="-25000" dirty="0"/>
              <a:t>CC</a:t>
            </a:r>
            <a:r>
              <a:rPr lang="zh-CN" altLang="zh-CN" sz="2000" dirty="0"/>
              <a:t>最小值是</a:t>
            </a:r>
            <a:r>
              <a:rPr lang="en-US" altLang="zh-CN" sz="2000" dirty="0"/>
              <a:t>4.5V</a:t>
            </a:r>
            <a:r>
              <a:rPr lang="zh-CN" altLang="zh-CN" sz="2000" dirty="0"/>
              <a:t>，减去</a:t>
            </a:r>
            <a:r>
              <a:rPr lang="en-US" altLang="zh-CN" sz="2000" dirty="0"/>
              <a:t>0.1V</a:t>
            </a:r>
            <a:r>
              <a:rPr lang="zh-CN" altLang="zh-CN" sz="2000" dirty="0"/>
              <a:t>，得到</a:t>
            </a:r>
            <a:r>
              <a:rPr lang="en-US" altLang="zh-CN" sz="2000" dirty="0"/>
              <a:t>4.4V</a:t>
            </a:r>
            <a:r>
              <a:rPr lang="zh-CN" altLang="zh-CN" sz="2000" dirty="0"/>
              <a:t>。</a:t>
            </a:r>
            <a:endParaRPr lang="zh-CN" altLang="zh-CN" sz="2000" dirty="0"/>
          </a:p>
          <a:p>
            <a:pPr lvl="1"/>
            <a:r>
              <a:rPr lang="en-US" altLang="zh-CN" sz="2000" dirty="0" err="1"/>
              <a:t>V</a:t>
            </a:r>
            <a:r>
              <a:rPr lang="en-US" altLang="zh-CN" sz="2000" baseline="-25000" dirty="0" err="1"/>
              <a:t>OLmax</a:t>
            </a:r>
            <a:r>
              <a:rPr lang="zh-CN" altLang="zh-CN" sz="2000" dirty="0"/>
              <a:t>：地线</a:t>
            </a:r>
            <a:r>
              <a:rPr lang="en-US" altLang="zh-CN" sz="2000" dirty="0"/>
              <a:t>GND</a:t>
            </a:r>
            <a:r>
              <a:rPr lang="zh-CN" altLang="zh-CN" sz="2000" dirty="0"/>
              <a:t>（</a:t>
            </a:r>
            <a:r>
              <a:rPr lang="en-US" altLang="zh-CN" sz="2000" dirty="0"/>
              <a:t>0V</a:t>
            </a:r>
            <a:r>
              <a:rPr lang="zh-CN" altLang="zh-CN" sz="2000" dirty="0"/>
              <a:t>）</a:t>
            </a:r>
            <a:r>
              <a:rPr lang="en-US" altLang="zh-CN" sz="2000" dirty="0"/>
              <a:t>+0.1V</a:t>
            </a:r>
            <a:r>
              <a:rPr lang="zh-CN" altLang="zh-CN" sz="2000" dirty="0"/>
              <a:t>。</a:t>
            </a:r>
            <a:endParaRPr lang="zh-CN" altLang="zh-CN" sz="2000" dirty="0"/>
          </a:p>
          <a:p>
            <a:pPr lvl="1"/>
            <a:r>
              <a:rPr lang="en-US" altLang="zh-CN" sz="2000" dirty="0" err="1"/>
              <a:t>V</a:t>
            </a:r>
            <a:r>
              <a:rPr lang="en-US" altLang="zh-CN" sz="2000" baseline="-25000" dirty="0" err="1"/>
              <a:t>IHmin</a:t>
            </a:r>
            <a:r>
              <a:rPr lang="zh-CN" altLang="zh-CN" sz="2000" dirty="0"/>
              <a:t>：</a:t>
            </a:r>
            <a:r>
              <a:rPr lang="en-US" altLang="zh-CN" sz="2000" dirty="0"/>
              <a:t>V</a:t>
            </a:r>
            <a:r>
              <a:rPr lang="en-US" altLang="zh-CN" sz="2000" baseline="-25000" dirty="0"/>
              <a:t>CC</a:t>
            </a:r>
            <a:r>
              <a:rPr lang="zh-CN" altLang="zh-CN" sz="2000" dirty="0"/>
              <a:t>的</a:t>
            </a:r>
            <a:r>
              <a:rPr lang="en-US" altLang="zh-CN" sz="2000" dirty="0"/>
              <a:t>70%</a:t>
            </a:r>
            <a:r>
              <a:rPr lang="zh-CN" altLang="zh-CN" sz="2000" dirty="0"/>
              <a:t>，约为</a:t>
            </a:r>
            <a:r>
              <a:rPr lang="en-US" altLang="zh-CN" sz="2000" dirty="0"/>
              <a:t>3.15V</a:t>
            </a:r>
            <a:r>
              <a:rPr lang="zh-CN" altLang="zh-CN" sz="2000" dirty="0"/>
              <a:t>。</a:t>
            </a:r>
            <a:endParaRPr lang="zh-CN" altLang="zh-CN" sz="2000" dirty="0"/>
          </a:p>
          <a:p>
            <a:pPr lvl="1"/>
            <a:r>
              <a:rPr lang="en-US" altLang="zh-CN" sz="2000" dirty="0" err="1"/>
              <a:t>V</a:t>
            </a:r>
            <a:r>
              <a:rPr lang="en-US" altLang="zh-CN" sz="2000" baseline="-25000" dirty="0" err="1"/>
              <a:t>ILmax</a:t>
            </a:r>
            <a:r>
              <a:rPr lang="zh-CN" altLang="zh-CN" sz="2000" dirty="0"/>
              <a:t>：</a:t>
            </a:r>
            <a:r>
              <a:rPr lang="en-US" altLang="zh-CN" sz="2000" dirty="0"/>
              <a:t>V</a:t>
            </a:r>
            <a:r>
              <a:rPr lang="en-US" altLang="zh-CN" sz="2000" baseline="-25000" dirty="0"/>
              <a:t>CC</a:t>
            </a:r>
            <a:r>
              <a:rPr lang="zh-CN" altLang="zh-CN" sz="2000" dirty="0"/>
              <a:t>的</a:t>
            </a:r>
            <a:r>
              <a:rPr lang="en-US" altLang="zh-CN" sz="2000" dirty="0"/>
              <a:t>30%</a:t>
            </a:r>
            <a:r>
              <a:rPr lang="zh-CN" altLang="zh-CN" sz="2000" dirty="0"/>
              <a:t>，约为</a:t>
            </a:r>
            <a:r>
              <a:rPr lang="en-US" altLang="zh-CN" sz="2000" dirty="0"/>
              <a:t>1.35V</a:t>
            </a:r>
            <a:r>
              <a:rPr lang="zh-CN" altLang="zh-CN" sz="2000" dirty="0"/>
              <a:t>。</a:t>
            </a:r>
            <a:endParaRPr lang="zh-CN" altLang="zh-CN" sz="2000" dirty="0"/>
          </a:p>
          <a:p>
            <a:pPr lvl="1"/>
            <a:endParaRPr lang="zh-CN" altLang="en-US" sz="2400"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dirty="0"/>
          </a:p>
        </p:txBody>
      </p:sp>
      <p:sp>
        <p:nvSpPr>
          <p:cNvPr id="7" name="Rectangle 2"/>
          <p:cNvSpPr>
            <a:spLocks noChangeArrowheads="1"/>
          </p:cNvSpPr>
          <p:nvPr/>
        </p:nvSpPr>
        <p:spPr bwMode="auto">
          <a:xfrm>
            <a:off x="2828157" y="374705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2" name="图片 11"/>
          <p:cNvPicPr>
            <a:picLocks noChangeAspect="1"/>
          </p:cNvPicPr>
          <p:nvPr/>
        </p:nvPicPr>
        <p:blipFill rotWithShape="1">
          <a:blip r:embed="rId1"/>
          <a:srcRect r="26321"/>
          <a:stretch>
            <a:fillRect/>
          </a:stretch>
        </p:blipFill>
        <p:spPr>
          <a:xfrm>
            <a:off x="6156543" y="1102290"/>
            <a:ext cx="2862198" cy="3913214"/>
          </a:xfrm>
          <a:prstGeom prst="rect">
            <a:avLst/>
          </a:prstGeom>
        </p:spPr>
      </p:pic>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1.2 </a:t>
            </a:r>
            <a:r>
              <a:rPr lang="zh-CN" altLang="en-US" dirty="0"/>
              <a:t>数字抽象</a:t>
            </a:r>
            <a:endParaRPr lang="zh-CN" altLang="en-US" dirty="0"/>
          </a:p>
        </p:txBody>
      </p:sp>
      <p:sp>
        <p:nvSpPr>
          <p:cNvPr id="3" name="内容占位符 2"/>
          <p:cNvSpPr>
            <a:spLocks noGrp="1"/>
          </p:cNvSpPr>
          <p:nvPr>
            <p:ph idx="1"/>
          </p:nvPr>
        </p:nvSpPr>
        <p:spPr>
          <a:xfrm>
            <a:off x="578126" y="884248"/>
            <a:ext cx="8379912" cy="2106602"/>
          </a:xfrm>
        </p:spPr>
        <p:txBody>
          <a:bodyPr/>
          <a:lstStyle/>
          <a:p>
            <a:r>
              <a:rPr lang="zh-CN" altLang="en-US" sz="2200" b="1" dirty="0">
                <a:solidFill>
                  <a:srgbClr val="FF0000"/>
                </a:solidFill>
              </a:rPr>
              <a:t>直流噪声容限</a:t>
            </a:r>
            <a:r>
              <a:rPr lang="en-US" altLang="zh-CN" sz="2200" b="1" dirty="0">
                <a:solidFill>
                  <a:srgbClr val="FF0000"/>
                </a:solidFill>
              </a:rPr>
              <a:t>DC noise margin</a:t>
            </a:r>
            <a:r>
              <a:rPr lang="zh-CN" altLang="en-US" sz="2200" dirty="0"/>
              <a:t>是一种对噪声程度的度量</a:t>
            </a:r>
            <a:r>
              <a:rPr lang="en-US" altLang="zh-CN" sz="2200" dirty="0"/>
              <a:t>,</a:t>
            </a:r>
            <a:r>
              <a:rPr lang="zh-CN" altLang="en-US" sz="2200" dirty="0"/>
              <a:t>表示多大的噪声会使最差输出电压被破坏，成为不可被输入端识别的值。</a:t>
            </a:r>
            <a:endParaRPr lang="en-US" altLang="zh-CN" sz="2200" dirty="0"/>
          </a:p>
          <a:p>
            <a:pPr lvl="1"/>
            <a:r>
              <a:rPr lang="zh-CN" altLang="zh-CN" sz="2000" dirty="0"/>
              <a:t>高态直流噪声容限</a:t>
            </a:r>
            <a:r>
              <a:rPr lang="en-US" altLang="zh-CN" sz="2000" dirty="0"/>
              <a:t>NM</a:t>
            </a:r>
            <a:r>
              <a:rPr lang="en-US" altLang="zh-CN" sz="2000" baseline="-25000" dirty="0"/>
              <a:t>H</a:t>
            </a:r>
            <a:r>
              <a:rPr lang="en-US" altLang="zh-CN" sz="2000" dirty="0"/>
              <a:t>=</a:t>
            </a:r>
            <a:r>
              <a:rPr lang="en-US" altLang="zh-CN" sz="2000" dirty="0" err="1"/>
              <a:t>V</a:t>
            </a:r>
            <a:r>
              <a:rPr lang="en-US" altLang="zh-CN" sz="2000" baseline="-25000" dirty="0" err="1"/>
              <a:t>OHmin</a:t>
            </a:r>
            <a:r>
              <a:rPr lang="en-US" altLang="zh-CN" sz="2000" dirty="0" err="1"/>
              <a:t>-V</a:t>
            </a:r>
            <a:r>
              <a:rPr lang="en-US" altLang="zh-CN" sz="2000" baseline="-25000" dirty="0" err="1"/>
              <a:t>IHmin</a:t>
            </a:r>
            <a:endParaRPr lang="en-US" altLang="zh-CN" sz="2000" dirty="0"/>
          </a:p>
          <a:p>
            <a:pPr lvl="1"/>
            <a:r>
              <a:rPr lang="zh-CN" altLang="zh-CN" sz="2000" dirty="0"/>
              <a:t>低态直流噪声容限</a:t>
            </a:r>
            <a:r>
              <a:rPr lang="en-US" altLang="zh-CN" sz="2000" dirty="0"/>
              <a:t>NM</a:t>
            </a:r>
            <a:r>
              <a:rPr lang="en-US" altLang="zh-CN" sz="2000" baseline="-25000" dirty="0"/>
              <a:t>L</a:t>
            </a:r>
            <a:r>
              <a:rPr lang="en-US" altLang="zh-CN" sz="2000" dirty="0"/>
              <a:t>=</a:t>
            </a:r>
            <a:r>
              <a:rPr lang="en-US" altLang="zh-CN" sz="2000" dirty="0" err="1"/>
              <a:t>V</a:t>
            </a:r>
            <a:r>
              <a:rPr lang="en-US" altLang="zh-CN" sz="2000" baseline="-25000" dirty="0" err="1"/>
              <a:t>ILmax</a:t>
            </a:r>
            <a:r>
              <a:rPr lang="en-US" altLang="zh-CN" sz="2000" dirty="0"/>
              <a:t>- </a:t>
            </a:r>
            <a:r>
              <a:rPr lang="en-US" altLang="zh-CN" sz="2000" dirty="0" err="1"/>
              <a:t>V</a:t>
            </a:r>
            <a:r>
              <a:rPr lang="en-US" altLang="zh-CN" sz="2000" baseline="-25000" dirty="0" err="1"/>
              <a:t>OLmax</a:t>
            </a:r>
            <a:endParaRPr lang="en-US" altLang="zh-CN" sz="2000" dirty="0"/>
          </a:p>
          <a:p>
            <a:endParaRPr lang="zh-CN" altLang="en-US" dirty="0"/>
          </a:p>
        </p:txBody>
      </p:sp>
      <p:sp>
        <p:nvSpPr>
          <p:cNvPr id="7" name="灯片编号占位符 6"/>
          <p:cNvSpPr>
            <a:spLocks noGrp="1"/>
          </p:cNvSpPr>
          <p:nvPr>
            <p:ph type="sldNum" sz="quarter" idx="4294967295"/>
          </p:nvPr>
        </p:nvSpPr>
        <p:spPr>
          <a:xfrm>
            <a:off x="8642350" y="6489700"/>
            <a:ext cx="501650" cy="333375"/>
          </a:xfrm>
          <a:prstGeom prst="rect">
            <a:avLst/>
          </a:prstGeom>
        </p:spPr>
        <p:txBody>
          <a:bodyPr/>
          <a:lstStyle/>
          <a:p>
            <a:fld id="{C1ECEEFF-59F7-41BB-B9A9-13867E2BF01F}" type="slidenum">
              <a:rPr lang="zh-CN" altLang="en-US" smtClean="0"/>
            </a:fld>
            <a:endParaRPr lang="zh-CN" altLang="en-US"/>
          </a:p>
        </p:txBody>
      </p:sp>
      <p:grpSp>
        <p:nvGrpSpPr>
          <p:cNvPr id="4" name="组合 3"/>
          <p:cNvGrpSpPr/>
          <p:nvPr/>
        </p:nvGrpSpPr>
        <p:grpSpPr>
          <a:xfrm>
            <a:off x="578126" y="2787041"/>
            <a:ext cx="7920784" cy="3782860"/>
            <a:chOff x="1541907" y="3429000"/>
            <a:chExt cx="6677819" cy="2744301"/>
          </a:xfrm>
        </p:grpSpPr>
        <p:graphicFrame>
          <p:nvGraphicFramePr>
            <p:cNvPr id="5" name="Object 2"/>
            <p:cNvGraphicFramePr>
              <a:graphicFrameLocks noChangeAspect="1"/>
            </p:cNvGraphicFramePr>
            <p:nvPr/>
          </p:nvGraphicFramePr>
          <p:xfrm>
            <a:off x="1541907" y="3429000"/>
            <a:ext cx="6677819" cy="2744301"/>
          </p:xfrm>
          <a:graphic>
            <a:graphicData uri="http://schemas.openxmlformats.org/presentationml/2006/ole">
              <mc:AlternateContent xmlns:mc="http://schemas.openxmlformats.org/markup-compatibility/2006">
                <mc:Choice xmlns:v="urn:schemas-microsoft-com:vml" Requires="v">
                  <p:oleObj spid="_x0000_s15560" name="VISIO" r:id="rId1" imgW="4032250" imgH="1917065" progId="Visio.Drawing.11">
                    <p:embed/>
                  </p:oleObj>
                </mc:Choice>
                <mc:Fallback>
                  <p:oleObj name="VISIO" r:id="rId1" imgW="4032250" imgH="1917065" progId="Visio.Drawing.11">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1907" y="3429000"/>
                          <a:ext cx="6677819" cy="2744301"/>
                        </a:xfrm>
                        <a:prstGeom prst="rect">
                          <a:avLst/>
                        </a:prstGeom>
                        <a:noFill/>
                        <a:ln>
                          <a:noFill/>
                        </a:ln>
                        <a:effectLst/>
                      </p:spPr>
                    </p:pic>
                  </p:oleObj>
                </mc:Fallback>
              </mc:AlternateContent>
            </a:graphicData>
          </a:graphic>
        </p:graphicFrame>
        <p:sp>
          <p:nvSpPr>
            <p:cNvPr id="8" name="文本框 7"/>
            <p:cNvSpPr txBox="1"/>
            <p:nvPr/>
          </p:nvSpPr>
          <p:spPr>
            <a:xfrm>
              <a:off x="1552467" y="4209643"/>
              <a:ext cx="1133476" cy="468885"/>
            </a:xfrm>
            <a:prstGeom prst="rect">
              <a:avLst/>
            </a:prstGeom>
            <a:solidFill>
              <a:schemeClr val="bg1"/>
            </a:solidFill>
          </p:spPr>
          <p:txBody>
            <a:bodyPr wrap="square" rtlCol="0">
              <a:spAutoFit/>
            </a:bodyPr>
            <a:lstStyle/>
            <a:p>
              <a:pPr algn="ctr"/>
              <a:r>
                <a:rPr lang="zh-CN" altLang="en-US" sz="1800" dirty="0">
                  <a:latin typeface="微软雅黑" panose="020B0503020204020204" pitchFamily="34" charset="-122"/>
                  <a:ea typeface="微软雅黑" panose="020B0503020204020204" pitchFamily="34" charset="-122"/>
                </a:rPr>
                <a:t>输出高电平范围</a:t>
              </a:r>
              <a:endParaRPr lang="zh-CN" altLang="en-US" sz="1800" dirty="0">
                <a:latin typeface="微软雅黑" panose="020B0503020204020204" pitchFamily="34" charset="-122"/>
                <a:ea typeface="微软雅黑" panose="020B0503020204020204" pitchFamily="34" charset="-122"/>
              </a:endParaRPr>
            </a:p>
          </p:txBody>
        </p:sp>
        <p:sp>
          <p:nvSpPr>
            <p:cNvPr id="9" name="文本框 8"/>
            <p:cNvSpPr txBox="1"/>
            <p:nvPr/>
          </p:nvSpPr>
          <p:spPr>
            <a:xfrm>
              <a:off x="1552467" y="5438775"/>
              <a:ext cx="1133475" cy="468885"/>
            </a:xfrm>
            <a:prstGeom prst="rect">
              <a:avLst/>
            </a:prstGeom>
            <a:solidFill>
              <a:schemeClr val="bg1"/>
            </a:solidFill>
          </p:spPr>
          <p:txBody>
            <a:bodyPr wrap="square" rtlCol="0">
              <a:spAutoFit/>
            </a:bodyPr>
            <a:lstStyle/>
            <a:p>
              <a:pPr algn="ctr"/>
              <a:r>
                <a:rPr lang="zh-CN" altLang="en-US" sz="1800" dirty="0">
                  <a:latin typeface="微软雅黑" panose="020B0503020204020204" pitchFamily="34" charset="-122"/>
                  <a:ea typeface="微软雅黑" panose="020B0503020204020204" pitchFamily="34" charset="-122"/>
                </a:rPr>
                <a:t>输出低电平范围</a:t>
              </a:r>
              <a:endParaRPr lang="zh-CN" altLang="en-US" sz="1800"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6468620" y="4305300"/>
              <a:ext cx="1133475" cy="468885"/>
            </a:xfrm>
            <a:prstGeom prst="rect">
              <a:avLst/>
            </a:prstGeom>
            <a:solidFill>
              <a:schemeClr val="bg1"/>
            </a:solidFill>
          </p:spPr>
          <p:txBody>
            <a:bodyPr wrap="square" rtlCol="0">
              <a:spAutoFit/>
            </a:bodyPr>
            <a:lstStyle/>
            <a:p>
              <a:pPr algn="ctr"/>
              <a:r>
                <a:rPr lang="zh-CN" altLang="en-US" sz="1800" dirty="0">
                  <a:latin typeface="微软雅黑" panose="020B0503020204020204" pitchFamily="34" charset="-122"/>
                  <a:ea typeface="微软雅黑" panose="020B0503020204020204" pitchFamily="34" charset="-122"/>
                </a:rPr>
                <a:t>输入高电平范围</a:t>
              </a:r>
              <a:endParaRPr lang="zh-CN" altLang="en-US" sz="1800"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6468620" y="5294995"/>
              <a:ext cx="1133475" cy="468885"/>
            </a:xfrm>
            <a:prstGeom prst="rect">
              <a:avLst/>
            </a:prstGeom>
            <a:solidFill>
              <a:schemeClr val="bg1"/>
            </a:solidFill>
          </p:spPr>
          <p:txBody>
            <a:bodyPr wrap="square" rtlCol="0">
              <a:spAutoFit/>
            </a:bodyPr>
            <a:lstStyle/>
            <a:p>
              <a:pPr algn="ctr"/>
              <a:r>
                <a:rPr lang="zh-CN" altLang="en-US" sz="1800" dirty="0">
                  <a:latin typeface="微软雅黑" panose="020B0503020204020204" pitchFamily="34" charset="-122"/>
                  <a:ea typeface="微软雅黑" panose="020B0503020204020204" pitchFamily="34" charset="-122"/>
                </a:rPr>
                <a:t>输入低电平范围</a:t>
              </a:r>
              <a:endParaRPr lang="zh-CN" altLang="en-US" sz="1800" dirty="0">
                <a:latin typeface="微软雅黑" panose="020B0503020204020204" pitchFamily="34" charset="-122"/>
                <a:ea typeface="微软雅黑" panose="020B0503020204020204" pitchFamily="34" charset="-122"/>
              </a:endParaRPr>
            </a:p>
          </p:txBody>
        </p:sp>
      </p:gr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pPr algn="just"/>
            <a:r>
              <a:rPr lang="en-US" altLang="zh-CN" dirty="0"/>
              <a:t>1.3 CMOS</a:t>
            </a:r>
            <a:r>
              <a:rPr lang="zh-CN" altLang="en-US" dirty="0"/>
              <a:t>晶体管</a:t>
            </a:r>
            <a:endParaRPr lang="zh-CN" altLang="en-US" dirty="0"/>
          </a:p>
        </p:txBody>
      </p:sp>
      <p:sp>
        <p:nvSpPr>
          <p:cNvPr id="9" name="内容占位符 8"/>
          <p:cNvSpPr>
            <a:spLocks noGrp="1"/>
          </p:cNvSpPr>
          <p:nvPr>
            <p:ph idx="1"/>
          </p:nvPr>
        </p:nvSpPr>
        <p:spPr>
          <a:xfrm>
            <a:off x="284773" y="915505"/>
            <a:ext cx="8523654" cy="5991384"/>
          </a:xfrm>
        </p:spPr>
        <p:txBody>
          <a:bodyPr/>
          <a:lstStyle/>
          <a:p>
            <a:r>
              <a:rPr lang="zh-CN" altLang="en-US" sz="2200" dirty="0"/>
              <a:t>基于金属氧化物半导体场效应晶体管的</a:t>
            </a:r>
            <a:r>
              <a:rPr lang="en-US" altLang="zh-CN" sz="2200" dirty="0"/>
              <a:t>CMOS</a:t>
            </a:r>
            <a:r>
              <a:rPr lang="zh-CN" altLang="en-US" sz="2200" dirty="0"/>
              <a:t>（</a:t>
            </a:r>
            <a:r>
              <a:rPr lang="en-US" altLang="zh-CN" sz="2200" dirty="0"/>
              <a:t>Complementary Metal-Oxide Semiconductor</a:t>
            </a:r>
            <a:r>
              <a:rPr lang="zh-CN" altLang="en-US" sz="2200" dirty="0"/>
              <a:t>）</a:t>
            </a:r>
            <a:endParaRPr lang="en-US" altLang="zh-CN" sz="2200" dirty="0"/>
          </a:p>
          <a:p>
            <a:r>
              <a:rPr lang="en-US" altLang="zh-CN" sz="2200" dirty="0"/>
              <a:t>MOS</a:t>
            </a:r>
            <a:r>
              <a:rPr lang="zh-CN" altLang="en-US" sz="2200" dirty="0"/>
              <a:t>晶体管三极：</a:t>
            </a:r>
            <a:endParaRPr lang="en-US" altLang="zh-CN" sz="2200" dirty="0"/>
          </a:p>
          <a:p>
            <a:pPr lvl="1"/>
            <a:r>
              <a:rPr lang="zh-CN" altLang="en-US" sz="2000" dirty="0"/>
              <a:t>栅极</a:t>
            </a:r>
            <a:r>
              <a:rPr lang="en-US" altLang="zh-CN" sz="2000" dirty="0"/>
              <a:t>gate</a:t>
            </a:r>
            <a:endParaRPr lang="en-US" altLang="zh-CN" sz="2000" dirty="0"/>
          </a:p>
          <a:p>
            <a:pPr lvl="1"/>
            <a:r>
              <a:rPr lang="zh-CN" altLang="en-US" sz="2000" dirty="0"/>
              <a:t>源极</a:t>
            </a:r>
            <a:r>
              <a:rPr lang="en-US" altLang="zh-CN" sz="2000" dirty="0"/>
              <a:t>source</a:t>
            </a:r>
            <a:endParaRPr lang="en-US" altLang="zh-CN" sz="2000" dirty="0"/>
          </a:p>
          <a:p>
            <a:pPr lvl="1"/>
            <a:r>
              <a:rPr lang="zh-CN" altLang="en-US" sz="2000" dirty="0"/>
              <a:t>漏极</a:t>
            </a:r>
            <a:r>
              <a:rPr lang="en-US" altLang="zh-CN" sz="2000" dirty="0"/>
              <a:t>drain</a:t>
            </a:r>
            <a:endParaRPr lang="en-US" altLang="zh-CN" sz="2000" dirty="0"/>
          </a:p>
          <a:p>
            <a:pPr lvl="1"/>
            <a:endParaRPr lang="en-US" altLang="zh-CN" sz="2000" dirty="0"/>
          </a:p>
          <a:p>
            <a:endParaRPr lang="en-US" altLang="zh-CN" sz="2200" dirty="0"/>
          </a:p>
          <a:p>
            <a:r>
              <a:rPr lang="en-US" altLang="zh-CN" sz="2200" dirty="0"/>
              <a:t>MOS</a:t>
            </a:r>
            <a:r>
              <a:rPr lang="zh-CN" altLang="en-US" sz="2200" dirty="0"/>
              <a:t>晶体管可被模型化为一种</a:t>
            </a:r>
            <a:r>
              <a:rPr lang="en-US" altLang="zh-CN" sz="2200" dirty="0"/>
              <a:t>3</a:t>
            </a:r>
            <a:r>
              <a:rPr lang="zh-CN" altLang="en-US" sz="2200" dirty="0"/>
              <a:t>端子压控电阻导体，将电压加到一个端子，来控制其他两个端子间的电阻。</a:t>
            </a:r>
            <a:endParaRPr lang="en-US" altLang="zh-CN" sz="2200" dirty="0"/>
          </a:p>
          <a:p>
            <a:r>
              <a:rPr lang="en-US" altLang="zh-CN" sz="2200" dirty="0"/>
              <a:t>MOS</a:t>
            </a:r>
            <a:r>
              <a:rPr lang="zh-CN" altLang="en-US" sz="2200" dirty="0"/>
              <a:t>晶体管分为：</a:t>
            </a:r>
            <a:endParaRPr lang="en-US" altLang="zh-CN" sz="2200" dirty="0"/>
          </a:p>
          <a:p>
            <a:pPr lvl="1"/>
            <a:r>
              <a:rPr lang="en-US" altLang="zh-CN" sz="2000" dirty="0"/>
              <a:t>n</a:t>
            </a:r>
            <a:r>
              <a:rPr lang="zh-CN" altLang="en-US" sz="2000" dirty="0"/>
              <a:t>沟道型</a:t>
            </a:r>
            <a:r>
              <a:rPr lang="en-US" altLang="zh-CN" sz="2000" dirty="0"/>
              <a:t>NMOS</a:t>
            </a:r>
            <a:r>
              <a:rPr lang="zh-CN" altLang="en-US" sz="2000" dirty="0"/>
              <a:t>，</a:t>
            </a:r>
            <a:r>
              <a:rPr lang="en-US" altLang="zh-CN" sz="2000" dirty="0"/>
              <a:t>N</a:t>
            </a:r>
            <a:r>
              <a:rPr lang="zh-CN" altLang="en-US" sz="2000" dirty="0"/>
              <a:t>型杂质有磷或者锑</a:t>
            </a:r>
            <a:endParaRPr lang="en-US" altLang="zh-CN" sz="2000" dirty="0"/>
          </a:p>
          <a:p>
            <a:pPr lvl="1"/>
            <a:r>
              <a:rPr lang="en-US" altLang="zh-CN" sz="2000" dirty="0"/>
              <a:t>p</a:t>
            </a:r>
            <a:r>
              <a:rPr lang="zh-CN" altLang="en-US" sz="2000" dirty="0"/>
              <a:t>沟道型</a:t>
            </a:r>
            <a:r>
              <a:rPr lang="en-US" altLang="zh-CN" sz="2000" dirty="0"/>
              <a:t>PMOS</a:t>
            </a:r>
            <a:r>
              <a:rPr lang="zh-CN" altLang="en-US" sz="2000" dirty="0"/>
              <a:t>，</a:t>
            </a:r>
            <a:r>
              <a:rPr lang="en-US" altLang="zh-CN" sz="2000" dirty="0"/>
              <a:t>P</a:t>
            </a:r>
            <a:r>
              <a:rPr lang="zh-CN" altLang="en-US" sz="2000" dirty="0"/>
              <a:t>型杂质有硼或者铟</a:t>
            </a:r>
            <a:endParaRPr lang="en-US" altLang="zh-CN" sz="2000" dirty="0"/>
          </a:p>
          <a:p>
            <a:endParaRPr lang="zh-CN" altLang="en-US" sz="2800" dirty="0"/>
          </a:p>
        </p:txBody>
      </p:sp>
      <p:sp>
        <p:nvSpPr>
          <p:cNvPr id="10" name="灯片编号占位符 9"/>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pic>
        <p:nvPicPr>
          <p:cNvPr id="7" name="Picture 2" descr="Structure of an NMOS transisto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306871" y="1396653"/>
            <a:ext cx="5335480" cy="276198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The MOS transistor can be represented by a standard variable resistor symbol, consisting of a zigzag crossed by a diagonal arrow. V sub in is connected to the zigzag by a dashed line segment, perpendicular to i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62389" y="4718767"/>
            <a:ext cx="2411261" cy="1937620"/>
          </a:xfrm>
          <a:prstGeom prst="rect">
            <a:avLst/>
          </a:prstGeom>
        </p:spPr>
      </p:pic>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1.3 CMOS</a:t>
            </a:r>
            <a:r>
              <a:rPr lang="zh-CN" altLang="en-US" dirty="0"/>
              <a:t>晶体管</a:t>
            </a:r>
            <a:endParaRPr lang="zh-CN" altLang="en-US" dirty="0"/>
          </a:p>
        </p:txBody>
      </p:sp>
      <p:sp>
        <p:nvSpPr>
          <p:cNvPr id="3" name="内容占位符 2"/>
          <p:cNvSpPr>
            <a:spLocks noGrp="1"/>
          </p:cNvSpPr>
          <p:nvPr>
            <p:ph idx="1"/>
          </p:nvPr>
        </p:nvSpPr>
        <p:spPr>
          <a:xfrm>
            <a:off x="385965" y="1026007"/>
            <a:ext cx="8167020" cy="452945"/>
          </a:xfrm>
        </p:spPr>
        <p:txBody>
          <a:bodyPr/>
          <a:lstStyle/>
          <a:p>
            <a:r>
              <a:rPr lang="zh-CN" altLang="en-US" dirty="0"/>
              <a:t>栅极和源极之间电压</a:t>
            </a:r>
            <a:r>
              <a:rPr lang="en-US" altLang="zh-CN" dirty="0" err="1"/>
              <a:t>V</a:t>
            </a:r>
            <a:r>
              <a:rPr lang="en-US" altLang="zh-CN" baseline="-25000" dirty="0" err="1"/>
              <a:t>gs</a:t>
            </a:r>
            <a:r>
              <a:rPr lang="zh-CN" altLang="en-US" dirty="0"/>
              <a:t>控制源极和漏极间电阻</a:t>
            </a:r>
            <a:r>
              <a:rPr lang="en-US" altLang="zh-CN" dirty="0" err="1"/>
              <a:t>R</a:t>
            </a:r>
            <a:r>
              <a:rPr lang="en-US" altLang="zh-CN" baseline="-25000" dirty="0" err="1"/>
              <a:t>ds</a:t>
            </a:r>
            <a:r>
              <a:rPr lang="zh-CN" altLang="en-US" dirty="0"/>
              <a:t>的大小</a:t>
            </a:r>
            <a:endParaRPr lang="zh-CN" altLang="en-US" dirty="0"/>
          </a:p>
        </p:txBody>
      </p:sp>
      <p:sp>
        <p:nvSpPr>
          <p:cNvPr id="6" name="灯片编号占位符 5"/>
          <p:cNvSpPr>
            <a:spLocks noGrp="1"/>
          </p:cNvSpPr>
          <p:nvPr>
            <p:ph type="sldNum" sz="quarter" idx="4294967295"/>
          </p:nvPr>
        </p:nvSpPr>
        <p:spPr>
          <a:xfrm>
            <a:off x="8552985" y="6354998"/>
            <a:ext cx="501650" cy="333375"/>
          </a:xfrm>
          <a:prstGeom prst="rect">
            <a:avLst/>
          </a:prstGeom>
        </p:spPr>
        <p:txBody>
          <a:bodyPr/>
          <a:lstStyle/>
          <a:p>
            <a:pPr>
              <a:defRPr/>
            </a:pPr>
            <a:fld id="{F38CFDAA-5283-40C9-80A4-C3781C02EB22}" type="slidenum">
              <a:rPr lang="en-US" altLang="zh-CN" smtClean="0"/>
            </a:fld>
            <a:endParaRPr lang="en-US" altLang="zh-CN" dirty="0"/>
          </a:p>
        </p:txBody>
      </p:sp>
      <p:sp>
        <p:nvSpPr>
          <p:cNvPr id="9" name="Text Box 8"/>
          <p:cNvSpPr txBox="1">
            <a:spLocks noChangeArrowheads="1"/>
          </p:cNvSpPr>
          <p:nvPr/>
        </p:nvSpPr>
        <p:spPr bwMode="auto">
          <a:xfrm>
            <a:off x="144049" y="4887255"/>
            <a:ext cx="4033381" cy="938719"/>
          </a:xfrm>
          <a:prstGeom prst="rect">
            <a:avLst/>
          </a:prstGeom>
          <a:noFill/>
          <a:ln w="9525">
            <a:noFill/>
            <a:miter lim="800000"/>
          </a:ln>
        </p:spPr>
        <p:txBody>
          <a:bodyPr wrap="square">
            <a:spAutoFit/>
          </a:bodyPr>
          <a:lstStyle/>
          <a:p>
            <a:pPr>
              <a:spcBef>
                <a:spcPct val="50000"/>
              </a:spcBef>
            </a:pPr>
            <a:r>
              <a:rPr lang="en-US" altLang="zh-CN" sz="2200" dirty="0">
                <a:latin typeface="+mj-ea"/>
                <a:ea typeface="+mj-ea"/>
              </a:rPr>
              <a:t>NMOS</a:t>
            </a:r>
            <a:r>
              <a:rPr lang="zh-CN" altLang="en-US" sz="2200" dirty="0">
                <a:latin typeface="+mj-ea"/>
                <a:ea typeface="+mj-ea"/>
              </a:rPr>
              <a:t>：增大</a:t>
            </a:r>
            <a:r>
              <a:rPr lang="en-US" altLang="zh-CN" sz="2200" dirty="0" err="1">
                <a:latin typeface="+mj-ea"/>
                <a:ea typeface="+mj-ea"/>
              </a:rPr>
              <a:t>V</a:t>
            </a:r>
            <a:r>
              <a:rPr lang="en-US" altLang="zh-CN" sz="2200" baseline="-25000" dirty="0" err="1">
                <a:latin typeface="+mj-ea"/>
                <a:ea typeface="+mj-ea"/>
              </a:rPr>
              <a:t>gs</a:t>
            </a:r>
            <a:r>
              <a:rPr lang="en-US" altLang="zh-CN" sz="2200" baseline="-25000" dirty="0">
                <a:latin typeface="+mj-ea"/>
                <a:ea typeface="+mj-ea"/>
              </a:rPr>
              <a:t> </a:t>
            </a:r>
            <a:r>
              <a:rPr lang="zh-CN" altLang="en-US" sz="2200" dirty="0">
                <a:latin typeface="+mj-ea"/>
                <a:ea typeface="+mj-ea"/>
              </a:rPr>
              <a:t>，则</a:t>
            </a:r>
            <a:r>
              <a:rPr lang="en-US" altLang="zh-CN" sz="2200" dirty="0" err="1">
                <a:latin typeface="+mj-ea"/>
                <a:ea typeface="+mj-ea"/>
              </a:rPr>
              <a:t>R</a:t>
            </a:r>
            <a:r>
              <a:rPr lang="en-US" altLang="zh-CN" sz="2200" baseline="-25000" dirty="0" err="1">
                <a:latin typeface="+mj-ea"/>
                <a:ea typeface="+mj-ea"/>
              </a:rPr>
              <a:t>ds</a:t>
            </a:r>
            <a:r>
              <a:rPr lang="zh-CN" altLang="en-US" sz="2200" dirty="0">
                <a:latin typeface="+mj-ea"/>
                <a:ea typeface="+mj-ea"/>
              </a:rPr>
              <a:t>下</a:t>
            </a:r>
            <a:r>
              <a:rPr lang="zh-CN" altLang="zh-CN" sz="2200" dirty="0">
                <a:latin typeface="+mj-ea"/>
                <a:ea typeface="+mj-ea"/>
              </a:rPr>
              <a:t>降</a:t>
            </a:r>
            <a:endParaRPr lang="en-US" altLang="zh-CN" sz="2200" dirty="0">
              <a:latin typeface="+mj-ea"/>
              <a:ea typeface="+mj-ea"/>
            </a:endParaRPr>
          </a:p>
          <a:p>
            <a:pPr>
              <a:spcBef>
                <a:spcPct val="50000"/>
              </a:spcBef>
            </a:pPr>
            <a:r>
              <a:rPr lang="zh-CN" altLang="en-US" sz="2200" dirty="0">
                <a:latin typeface="+mj-ea"/>
                <a:ea typeface="+mj-ea"/>
              </a:rPr>
              <a:t>通常</a:t>
            </a:r>
            <a:r>
              <a:rPr lang="en-US" altLang="zh-CN" sz="2200" dirty="0" err="1">
                <a:latin typeface="+mj-ea"/>
                <a:ea typeface="+mj-ea"/>
              </a:rPr>
              <a:t>V</a:t>
            </a:r>
            <a:r>
              <a:rPr lang="en-US" altLang="zh-CN" sz="2200" baseline="-25000" dirty="0" err="1">
                <a:latin typeface="+mj-ea"/>
                <a:ea typeface="+mj-ea"/>
              </a:rPr>
              <a:t>gs</a:t>
            </a:r>
            <a:r>
              <a:rPr lang="zh-CN" altLang="en-US" sz="2200" dirty="0">
                <a:latin typeface="+mj-ea"/>
                <a:ea typeface="+mj-ea"/>
              </a:rPr>
              <a:t>≥</a:t>
            </a:r>
            <a:r>
              <a:rPr lang="en-US" altLang="zh-CN" sz="2200" dirty="0">
                <a:latin typeface="+mj-ea"/>
                <a:ea typeface="+mj-ea"/>
              </a:rPr>
              <a:t>0</a:t>
            </a:r>
            <a:endParaRPr lang="en-US" altLang="zh-CN" sz="2200" dirty="0">
              <a:latin typeface="+mj-ea"/>
              <a:ea typeface="+mj-ea"/>
            </a:endParaRPr>
          </a:p>
        </p:txBody>
      </p:sp>
      <p:sp>
        <p:nvSpPr>
          <p:cNvPr id="10" name="Text Box 8"/>
          <p:cNvSpPr txBox="1">
            <a:spLocks noChangeArrowheads="1"/>
          </p:cNvSpPr>
          <p:nvPr/>
        </p:nvSpPr>
        <p:spPr bwMode="auto">
          <a:xfrm>
            <a:off x="4908433" y="4843413"/>
            <a:ext cx="3930883" cy="938719"/>
          </a:xfrm>
          <a:prstGeom prst="rect">
            <a:avLst/>
          </a:prstGeom>
          <a:noFill/>
          <a:ln w="9525">
            <a:noFill/>
            <a:miter lim="800000"/>
          </a:ln>
        </p:spPr>
        <p:txBody>
          <a:bodyPr wrap="square">
            <a:spAutoFit/>
          </a:bodyPr>
          <a:lstStyle/>
          <a:p>
            <a:pPr>
              <a:spcBef>
                <a:spcPct val="50000"/>
              </a:spcBef>
            </a:pPr>
            <a:r>
              <a:rPr lang="en-US" altLang="zh-CN" sz="2200" dirty="0">
                <a:latin typeface="微软雅黑" panose="020B0503020204020204" pitchFamily="34" charset="-122"/>
                <a:ea typeface="微软雅黑" panose="020B0503020204020204" pitchFamily="34" charset="-122"/>
              </a:rPr>
              <a:t>PMOS</a:t>
            </a:r>
            <a:r>
              <a:rPr lang="zh-CN" altLang="en-US" sz="2200" dirty="0">
                <a:latin typeface="微软雅黑" panose="020B0503020204020204" pitchFamily="34" charset="-122"/>
                <a:ea typeface="微软雅黑" panose="020B0503020204020204" pitchFamily="34" charset="-122"/>
              </a:rPr>
              <a:t>：减低</a:t>
            </a:r>
            <a:r>
              <a:rPr lang="en-US" altLang="zh-CN" sz="2200" dirty="0" err="1">
                <a:latin typeface="微软雅黑" panose="020B0503020204020204" pitchFamily="34" charset="-122"/>
                <a:ea typeface="微软雅黑" panose="020B0503020204020204" pitchFamily="34" charset="-122"/>
              </a:rPr>
              <a:t>V</a:t>
            </a:r>
            <a:r>
              <a:rPr lang="en-US" altLang="zh-CN" sz="2200" baseline="-25000" dirty="0" err="1">
                <a:latin typeface="微软雅黑" panose="020B0503020204020204" pitchFamily="34" charset="-122"/>
                <a:ea typeface="微软雅黑" panose="020B0503020204020204" pitchFamily="34" charset="-122"/>
              </a:rPr>
              <a:t>gs</a:t>
            </a:r>
            <a:r>
              <a:rPr lang="en-US" altLang="zh-CN" sz="2200" baseline="-250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，则</a:t>
            </a:r>
            <a:r>
              <a:rPr lang="en-US" altLang="zh-CN" sz="2200" dirty="0" err="1">
                <a:latin typeface="微软雅黑" panose="020B0503020204020204" pitchFamily="34" charset="-122"/>
                <a:ea typeface="微软雅黑" panose="020B0503020204020204" pitchFamily="34" charset="-122"/>
              </a:rPr>
              <a:t>R</a:t>
            </a:r>
            <a:r>
              <a:rPr lang="en-US" altLang="zh-CN" sz="2200" baseline="-25000" dirty="0" err="1">
                <a:latin typeface="微软雅黑" panose="020B0503020204020204" pitchFamily="34" charset="-122"/>
                <a:ea typeface="微软雅黑" panose="020B0503020204020204" pitchFamily="34" charset="-122"/>
              </a:rPr>
              <a:t>ds</a:t>
            </a:r>
            <a:r>
              <a:rPr lang="zh-CN" altLang="en-US" sz="2200" dirty="0">
                <a:latin typeface="微软雅黑" panose="020B0503020204020204" pitchFamily="34" charset="-122"/>
                <a:ea typeface="微软雅黑" panose="020B0503020204020204" pitchFamily="34" charset="-122"/>
              </a:rPr>
              <a:t>下</a:t>
            </a:r>
            <a:r>
              <a:rPr lang="zh-CN" altLang="zh-CN" sz="2200" dirty="0">
                <a:latin typeface="微软雅黑" panose="020B0503020204020204" pitchFamily="34" charset="-122"/>
                <a:ea typeface="微软雅黑" panose="020B0503020204020204" pitchFamily="34" charset="-122"/>
              </a:rPr>
              <a:t>降</a:t>
            </a:r>
            <a:endParaRPr lang="en-US" altLang="zh-CN" sz="2200" dirty="0">
              <a:latin typeface="微软雅黑" panose="020B0503020204020204" pitchFamily="34" charset="-122"/>
              <a:ea typeface="微软雅黑" panose="020B0503020204020204" pitchFamily="34" charset="-122"/>
            </a:endParaRPr>
          </a:p>
          <a:p>
            <a:pPr>
              <a:spcBef>
                <a:spcPct val="50000"/>
              </a:spcBef>
            </a:pPr>
            <a:r>
              <a:rPr lang="zh-CN" altLang="en-US" sz="2200" dirty="0">
                <a:latin typeface="微软雅黑" panose="020B0503020204020204" pitchFamily="34" charset="-122"/>
                <a:ea typeface="微软雅黑" panose="020B0503020204020204" pitchFamily="34" charset="-122"/>
              </a:rPr>
              <a:t>通常</a:t>
            </a:r>
            <a:r>
              <a:rPr lang="en-US" altLang="zh-CN" sz="2200" dirty="0">
                <a:latin typeface="微软雅黑" panose="020B0503020204020204" pitchFamily="34" charset="-122"/>
                <a:ea typeface="微软雅黑" panose="020B0503020204020204" pitchFamily="34" charset="-122"/>
              </a:rPr>
              <a:t> </a:t>
            </a:r>
            <a:r>
              <a:rPr lang="en-US" altLang="zh-CN" sz="2200" dirty="0" err="1">
                <a:latin typeface="微软雅黑" panose="020B0503020204020204" pitchFamily="34" charset="-122"/>
                <a:ea typeface="微软雅黑" panose="020B0503020204020204" pitchFamily="34" charset="-122"/>
              </a:rPr>
              <a:t>V</a:t>
            </a:r>
            <a:r>
              <a:rPr lang="en-US" altLang="zh-CN" sz="2200" baseline="-25000" dirty="0" err="1">
                <a:latin typeface="微软雅黑" panose="020B0503020204020204" pitchFamily="34" charset="-122"/>
                <a:ea typeface="微软雅黑" panose="020B0503020204020204" pitchFamily="34" charset="-122"/>
              </a:rPr>
              <a:t>gs</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0</a:t>
            </a:r>
            <a:endParaRPr lang="en-US" altLang="zh-CN" sz="2200" dirty="0">
              <a:latin typeface="微软雅黑" panose="020B0503020204020204" pitchFamily="34" charset="-122"/>
              <a:ea typeface="微软雅黑" panose="020B0503020204020204" pitchFamily="34" charset="-122"/>
            </a:endParaRPr>
          </a:p>
        </p:txBody>
      </p:sp>
      <p:pic>
        <p:nvPicPr>
          <p:cNvPr id="14" name="Picture 2" descr="The central portion of the symbol is a pair of side by side vertical line segments, with the shorter segment on the left. Three pins are connected to the vertical segments by wire lines. The first wire line extends rightward from the gate to the midpoint of the left vertical segment. The second wire line extends rightward and then upward from the top of the longer vertical segment to the drain. The third wire line extends rightward and then downward from the bottom of the longer vertical segment to the source. V sub g s is between the positive gate and the negative source. Voltage-controlled resistance means that an increase in v sub g s means a decrease in R sub d s. Note, normally V sub g s is greater than or equal to 0."/>
          <p:cNvPicPr>
            <a:picLocks noChangeAspect="1"/>
          </p:cNvPicPr>
          <p:nvPr/>
        </p:nvPicPr>
        <p:blipFill rotWithShape="1">
          <a:blip r:embed="rId1">
            <a:extLst>
              <a:ext uri="{28A0092B-C50C-407E-A947-70E740481C1C}">
                <a14:useLocalDpi xmlns:a14="http://schemas.microsoft.com/office/drawing/2010/main" val="0"/>
              </a:ext>
            </a:extLst>
          </a:blip>
          <a:srcRect r="61018"/>
          <a:stretch>
            <a:fillRect/>
          </a:stretch>
        </p:blipFill>
        <p:spPr>
          <a:xfrm>
            <a:off x="144049" y="2185791"/>
            <a:ext cx="2054269" cy="2132749"/>
          </a:xfrm>
          <a:prstGeom prst="rect">
            <a:avLst/>
          </a:prstGeom>
        </p:spPr>
      </p:pic>
      <p:pic>
        <p:nvPicPr>
          <p:cNvPr id="15" name="Picture 2" descr="The symbol is the same as the N MOS symbol, with the following alterations. The gate wire attaches to an inversion bubble on the shorter vertical line segment. The positions of the source and drain are reversed, and v sub g s is between the positive gate and the negative source. Due to voltage-controlled resistance, a decrease in v sub g s leads to a decrease in R sub d s. Note, normally V sub g s is less than or equal to 0."/>
          <p:cNvPicPr>
            <a:picLocks noChangeAspect="1"/>
          </p:cNvPicPr>
          <p:nvPr/>
        </p:nvPicPr>
        <p:blipFill rotWithShape="1">
          <a:blip r:embed="rId2">
            <a:extLst>
              <a:ext uri="{28A0092B-C50C-407E-A947-70E740481C1C}">
                <a14:useLocalDpi xmlns:a14="http://schemas.microsoft.com/office/drawing/2010/main" val="0"/>
              </a:ext>
            </a:extLst>
          </a:blip>
          <a:srcRect r="61594"/>
          <a:stretch>
            <a:fillRect/>
          </a:stretch>
        </p:blipFill>
        <p:spPr>
          <a:xfrm>
            <a:off x="6948812" y="1840477"/>
            <a:ext cx="1997903" cy="2109221"/>
          </a:xfrm>
          <a:prstGeom prst="rect">
            <a:avLst/>
          </a:prstGeom>
        </p:spPr>
      </p:pic>
      <p:pic>
        <p:nvPicPr>
          <p:cNvPr id="4" name="图片 3"/>
          <p:cNvPicPr>
            <a:picLocks noChangeAspect="1"/>
          </p:cNvPicPr>
          <p:nvPr/>
        </p:nvPicPr>
        <p:blipFill>
          <a:blip r:embed="rId3"/>
          <a:stretch>
            <a:fillRect/>
          </a:stretch>
        </p:blipFill>
        <p:spPr>
          <a:xfrm>
            <a:off x="4746147" y="1734854"/>
            <a:ext cx="2127728" cy="2736937"/>
          </a:xfrm>
          <a:prstGeom prst="rect">
            <a:avLst/>
          </a:prstGeom>
        </p:spPr>
      </p:pic>
      <p:pic>
        <p:nvPicPr>
          <p:cNvPr id="5" name="图片 4"/>
          <p:cNvPicPr>
            <a:picLocks noChangeAspect="1"/>
          </p:cNvPicPr>
          <p:nvPr/>
        </p:nvPicPr>
        <p:blipFill>
          <a:blip r:embed="rId4"/>
          <a:stretch>
            <a:fillRect/>
          </a:stretch>
        </p:blipFill>
        <p:spPr>
          <a:xfrm>
            <a:off x="2404115" y="1918001"/>
            <a:ext cx="1952625" cy="24574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pPr algn="just"/>
            <a:r>
              <a:rPr lang="en-US" altLang="zh-CN" dirty="0"/>
              <a:t>1.3 CMOS</a:t>
            </a:r>
            <a:r>
              <a:rPr lang="zh-CN" altLang="en-US" dirty="0"/>
              <a:t>晶体管</a:t>
            </a:r>
            <a:endParaRPr lang="zh-CN" altLang="en-US" dirty="0"/>
          </a:p>
        </p:txBody>
      </p:sp>
      <p:sp>
        <p:nvSpPr>
          <p:cNvPr id="9" name="内容占位符 8"/>
          <p:cNvSpPr>
            <a:spLocks noGrp="1"/>
          </p:cNvSpPr>
          <p:nvPr>
            <p:ph idx="1"/>
          </p:nvPr>
        </p:nvSpPr>
        <p:spPr>
          <a:xfrm>
            <a:off x="284773" y="915505"/>
            <a:ext cx="8523654" cy="5012654"/>
          </a:xfrm>
        </p:spPr>
        <p:txBody>
          <a:bodyPr/>
          <a:lstStyle/>
          <a:p>
            <a:pPr>
              <a:spcBef>
                <a:spcPts val="600"/>
              </a:spcBef>
              <a:spcAft>
                <a:spcPts val="600"/>
              </a:spcAft>
            </a:pPr>
            <a:r>
              <a:rPr lang="en-US" altLang="zh-CN" sz="2200" dirty="0"/>
              <a:t>CMOS </a:t>
            </a:r>
            <a:r>
              <a:rPr lang="zh-CN" altLang="en-US" sz="2200" dirty="0"/>
              <a:t>晶体管以互补的形式共用一对</a:t>
            </a:r>
            <a:r>
              <a:rPr lang="en-US" altLang="zh-CN" sz="2200" dirty="0"/>
              <a:t>NMOS </a:t>
            </a:r>
            <a:r>
              <a:rPr lang="zh-CN" altLang="en-US" sz="2200" dirty="0"/>
              <a:t>和</a:t>
            </a:r>
            <a:r>
              <a:rPr lang="en-US" altLang="zh-CN" sz="2200" dirty="0"/>
              <a:t>PMOS </a:t>
            </a:r>
            <a:r>
              <a:rPr lang="zh-CN" altLang="en-US" sz="2200" dirty="0"/>
              <a:t>晶体管</a:t>
            </a:r>
            <a:endParaRPr lang="en-US" altLang="zh-CN" sz="2200" dirty="0"/>
          </a:p>
          <a:p>
            <a:pPr>
              <a:spcBef>
                <a:spcPts val="600"/>
              </a:spcBef>
              <a:spcAft>
                <a:spcPts val="600"/>
              </a:spcAft>
            </a:pPr>
            <a:r>
              <a:rPr lang="zh-CN" altLang="zh-CN" sz="2200" dirty="0">
                <a:solidFill>
                  <a:srgbClr val="FF0000"/>
                </a:solidFill>
              </a:rPr>
              <a:t>栅极</a:t>
            </a:r>
            <a:r>
              <a:rPr lang="zh-CN" altLang="zh-CN" sz="2200" dirty="0"/>
              <a:t>和</a:t>
            </a:r>
            <a:r>
              <a:rPr lang="zh-CN" altLang="zh-CN" sz="2200" dirty="0">
                <a:solidFill>
                  <a:srgbClr val="00B0F0"/>
                </a:solidFill>
              </a:rPr>
              <a:t>漏极</a:t>
            </a:r>
            <a:r>
              <a:rPr lang="zh-CN" altLang="zh-CN" sz="2200" dirty="0"/>
              <a:t>共用</a:t>
            </a:r>
            <a:r>
              <a:rPr lang="zh-CN" altLang="en-US" sz="2200" dirty="0"/>
              <a:t>，分别连接到</a:t>
            </a:r>
            <a:r>
              <a:rPr lang="zh-CN" altLang="en-US" sz="2200" dirty="0">
                <a:solidFill>
                  <a:srgbClr val="FF0000"/>
                </a:solidFill>
              </a:rPr>
              <a:t>输入</a:t>
            </a:r>
            <a:r>
              <a:rPr lang="zh-CN" altLang="en-US" sz="2200" dirty="0"/>
              <a:t>和</a:t>
            </a:r>
            <a:r>
              <a:rPr lang="zh-CN" altLang="en-US" sz="2200" dirty="0">
                <a:solidFill>
                  <a:srgbClr val="00B0F0"/>
                </a:solidFill>
              </a:rPr>
              <a:t>输出</a:t>
            </a:r>
            <a:r>
              <a:rPr lang="zh-CN" altLang="en-US" sz="2200" dirty="0"/>
              <a:t>信号。</a:t>
            </a:r>
            <a:endParaRPr lang="en-US" altLang="zh-CN" sz="2200" dirty="0"/>
          </a:p>
          <a:p>
            <a:pPr lvl="1">
              <a:spcBef>
                <a:spcPts val="600"/>
              </a:spcBef>
              <a:spcAft>
                <a:spcPts val="600"/>
              </a:spcAft>
            </a:pPr>
            <a:r>
              <a:rPr lang="en-US" altLang="zh-CN" dirty="0"/>
              <a:t>NMOS </a:t>
            </a:r>
            <a:r>
              <a:rPr lang="zh-CN" altLang="en-US" dirty="0"/>
              <a:t>晶体管的</a:t>
            </a:r>
            <a:r>
              <a:rPr lang="zh-CN" altLang="en-US" dirty="0">
                <a:solidFill>
                  <a:srgbClr val="FF0000"/>
                </a:solidFill>
              </a:rPr>
              <a:t>源极</a:t>
            </a:r>
            <a:r>
              <a:rPr lang="zh-CN" altLang="en-US" dirty="0"/>
              <a:t>连接地线</a:t>
            </a:r>
            <a:r>
              <a:rPr lang="en-US" altLang="zh-CN" dirty="0"/>
              <a:t>GND</a:t>
            </a:r>
            <a:endParaRPr lang="en-US" altLang="zh-CN" dirty="0"/>
          </a:p>
          <a:p>
            <a:pPr lvl="1">
              <a:spcBef>
                <a:spcPts val="600"/>
              </a:spcBef>
              <a:spcAft>
                <a:spcPts val="600"/>
              </a:spcAft>
            </a:pPr>
            <a:r>
              <a:rPr lang="en-US" altLang="zh-CN" dirty="0"/>
              <a:t>PMOS </a:t>
            </a:r>
            <a:r>
              <a:rPr lang="zh-CN" altLang="en-US" dirty="0"/>
              <a:t>晶体管的</a:t>
            </a:r>
            <a:r>
              <a:rPr lang="zh-CN" altLang="en-US" dirty="0">
                <a:solidFill>
                  <a:srgbClr val="FF0000"/>
                </a:solidFill>
              </a:rPr>
              <a:t>源极</a:t>
            </a:r>
            <a:r>
              <a:rPr lang="zh-CN" altLang="en-US" dirty="0"/>
              <a:t>连接电源电压</a:t>
            </a:r>
            <a:r>
              <a:rPr lang="en-US" altLang="zh-CN" i="1" dirty="0"/>
              <a:t>V</a:t>
            </a:r>
            <a:r>
              <a:rPr lang="en-US" altLang="zh-CN" baseline="-25000" dirty="0"/>
              <a:t>DD</a:t>
            </a:r>
            <a:endParaRPr lang="en-US" altLang="zh-CN" baseline="-25000" dirty="0"/>
          </a:p>
          <a:p>
            <a:pPr lvl="1">
              <a:spcBef>
                <a:spcPts val="600"/>
              </a:spcBef>
              <a:spcAft>
                <a:spcPts val="600"/>
              </a:spcAft>
            </a:pPr>
            <a:r>
              <a:rPr lang="zh-CN" altLang="en-US" dirty="0"/>
              <a:t>通过改变栅极的输入电压值，从而改变漏极的输出电压值。</a:t>
            </a:r>
            <a:endParaRPr lang="en-US" altLang="zh-CN" dirty="0"/>
          </a:p>
          <a:p>
            <a:pPr lvl="1">
              <a:spcBef>
                <a:spcPts val="600"/>
              </a:spcBef>
              <a:spcAft>
                <a:spcPts val="600"/>
              </a:spcAft>
            </a:pPr>
            <a:r>
              <a:rPr lang="zh-CN" altLang="en-US" dirty="0"/>
              <a:t>可以看成电压控制开关</a:t>
            </a:r>
            <a:endParaRPr lang="zh-CN" altLang="en-US" dirty="0"/>
          </a:p>
          <a:p>
            <a:pPr eaLnBrk="1" hangingPunct="1">
              <a:spcBef>
                <a:spcPts val="600"/>
              </a:spcBef>
              <a:spcAft>
                <a:spcPts val="600"/>
              </a:spcAft>
            </a:pPr>
            <a:r>
              <a:rPr lang="zh-CN" altLang="en-US" dirty="0"/>
              <a:t>常用</a:t>
            </a:r>
            <a:r>
              <a:rPr lang="en-US" altLang="zh-CN" dirty="0"/>
              <a:t>CMOS</a:t>
            </a:r>
            <a:r>
              <a:rPr lang="zh-CN" altLang="en-US" dirty="0"/>
              <a:t>门电路</a:t>
            </a:r>
            <a:endParaRPr lang="zh-CN" altLang="en-US" dirty="0"/>
          </a:p>
          <a:p>
            <a:pPr lvl="1" eaLnBrk="1" hangingPunct="1">
              <a:spcBef>
                <a:spcPts val="600"/>
              </a:spcBef>
              <a:spcAft>
                <a:spcPts val="600"/>
              </a:spcAft>
            </a:pPr>
            <a:r>
              <a:rPr lang="zh-CN" altLang="en-US" dirty="0"/>
              <a:t>反相器 </a:t>
            </a:r>
            <a:r>
              <a:rPr lang="en-US" altLang="zh-CN" dirty="0"/>
              <a:t>/ </a:t>
            </a:r>
            <a:r>
              <a:rPr lang="zh-CN" altLang="en-US" dirty="0"/>
              <a:t>与非门 </a:t>
            </a:r>
            <a:r>
              <a:rPr lang="en-US" altLang="zh-CN" dirty="0"/>
              <a:t>/ </a:t>
            </a:r>
            <a:r>
              <a:rPr lang="zh-CN" altLang="en-US" dirty="0"/>
              <a:t>或非门 </a:t>
            </a:r>
            <a:r>
              <a:rPr lang="en-US" altLang="zh-CN" dirty="0"/>
              <a:t>/ </a:t>
            </a:r>
            <a:r>
              <a:rPr lang="zh-CN" altLang="en-US" dirty="0"/>
              <a:t>与或非门 </a:t>
            </a:r>
            <a:r>
              <a:rPr lang="en-US" altLang="zh-CN" dirty="0"/>
              <a:t>/ </a:t>
            </a:r>
            <a:r>
              <a:rPr lang="zh-CN" altLang="en-US" dirty="0"/>
              <a:t>或与非门</a:t>
            </a:r>
            <a:endParaRPr lang="zh-CN" altLang="en-US" dirty="0"/>
          </a:p>
          <a:p>
            <a:pPr>
              <a:spcBef>
                <a:spcPts val="600"/>
              </a:spcBef>
              <a:spcAft>
                <a:spcPts val="600"/>
              </a:spcAft>
            </a:pPr>
            <a:endParaRPr lang="zh-CN" altLang="en-US" dirty="0"/>
          </a:p>
        </p:txBody>
      </p:sp>
      <p:sp>
        <p:nvSpPr>
          <p:cNvPr id="10" name="灯片编号占位符 9"/>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p:txBody>
          <a:bodyPr/>
          <a:lstStyle/>
          <a:p>
            <a:r>
              <a:rPr lang="en-US" altLang="zh-CN" dirty="0"/>
              <a:t>1.3 CMOS</a:t>
            </a:r>
            <a:r>
              <a:rPr lang="zh-CN" altLang="en-US" dirty="0"/>
              <a:t>晶体管</a:t>
            </a:r>
            <a:endParaRPr lang="zh-CN" altLang="en-US" dirty="0"/>
          </a:p>
        </p:txBody>
      </p:sp>
      <p:pic>
        <p:nvPicPr>
          <p:cNvPr id="46" name="Picture 8"/>
          <p:cNvPicPr>
            <a:picLocks noGrp="1" noChangeAspect="1" noChangeArrowheads="1"/>
          </p:cNvPicPr>
          <p:nvPr>
            <p:ph idx="1"/>
          </p:nvPr>
        </p:nvPicPr>
        <p:blipFill rotWithShape="1">
          <a:blip r:embed="rId1" cstate="print"/>
          <a:srcRect r="23794"/>
          <a:stretch>
            <a:fillRect/>
          </a:stretch>
        </p:blipFill>
        <p:spPr>
          <a:xfrm>
            <a:off x="206272" y="1803712"/>
            <a:ext cx="4151413" cy="4409524"/>
          </a:xfrm>
          <a:noFill/>
        </p:spPr>
      </p:pic>
      <p:sp>
        <p:nvSpPr>
          <p:cNvPr id="8" name="灯片编号占位符 7"/>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pic>
        <p:nvPicPr>
          <p:cNvPr id="37" name="Picture 8"/>
          <p:cNvPicPr>
            <a:picLocks noChangeAspect="1" noChangeArrowheads="1"/>
          </p:cNvPicPr>
          <p:nvPr/>
        </p:nvPicPr>
        <p:blipFill>
          <a:blip r:embed="rId2" cstate="print"/>
          <a:srcRect r="52619"/>
          <a:stretch>
            <a:fillRect/>
          </a:stretch>
        </p:blipFill>
        <p:spPr bwMode="auto">
          <a:xfrm>
            <a:off x="6350696" y="995847"/>
            <a:ext cx="2775453" cy="2764921"/>
          </a:xfrm>
          <a:prstGeom prst="rect">
            <a:avLst/>
          </a:prstGeom>
          <a:noFill/>
          <a:ln w="9525">
            <a:noFill/>
            <a:miter lim="800000"/>
            <a:headEnd/>
            <a:tailEnd/>
          </a:ln>
        </p:spPr>
      </p:pic>
      <p:pic>
        <p:nvPicPr>
          <p:cNvPr id="38" name="Picture 8"/>
          <p:cNvPicPr>
            <a:picLocks noChangeAspect="1" noChangeArrowheads="1"/>
          </p:cNvPicPr>
          <p:nvPr/>
        </p:nvPicPr>
        <p:blipFill>
          <a:blip r:embed="rId2" cstate="print"/>
          <a:srcRect l="53572"/>
          <a:stretch>
            <a:fillRect/>
          </a:stretch>
        </p:blipFill>
        <p:spPr bwMode="auto">
          <a:xfrm>
            <a:off x="6450775" y="3645528"/>
            <a:ext cx="2652842" cy="2641527"/>
          </a:xfrm>
          <a:prstGeom prst="rect">
            <a:avLst/>
          </a:prstGeom>
          <a:noFill/>
          <a:ln w="9525">
            <a:noFill/>
            <a:miter lim="800000"/>
            <a:headEnd/>
            <a:tailEnd/>
          </a:ln>
        </p:spPr>
      </p:pic>
      <p:sp>
        <p:nvSpPr>
          <p:cNvPr id="40" name="矩形 39"/>
          <p:cNvSpPr/>
          <p:nvPr/>
        </p:nvSpPr>
        <p:spPr>
          <a:xfrm>
            <a:off x="5838845" y="4669226"/>
            <a:ext cx="447667" cy="385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5136717" y="1996489"/>
            <a:ext cx="1643075" cy="1323439"/>
          </a:xfrm>
          <a:prstGeom prst="rect">
            <a:avLst/>
          </a:prstGeom>
        </p:spPr>
        <p:txBody>
          <a:bodyPr wrap="square">
            <a:spAutoFit/>
          </a:bodyPr>
          <a:lstStyle/>
          <a:p>
            <a:pPr>
              <a:spcBef>
                <a:spcPct val="50000"/>
              </a:spcBef>
            </a:pPr>
            <a:r>
              <a:rPr lang="en-US" altLang="zh-CN" sz="2000" dirty="0">
                <a:solidFill>
                  <a:srgbClr val="FF0000"/>
                </a:solidFill>
                <a:latin typeface="微软雅黑" panose="020B0503020204020204" pitchFamily="34" charset="-122"/>
                <a:ea typeface="微软雅黑" panose="020B0503020204020204" pitchFamily="34" charset="-122"/>
              </a:rPr>
              <a:t>V</a:t>
            </a:r>
            <a:r>
              <a:rPr lang="en-US" altLang="zh-CN" sz="2000" baseline="-25000" dirty="0">
                <a:solidFill>
                  <a:srgbClr val="FF0000"/>
                </a:solidFill>
                <a:latin typeface="微软雅黑" panose="020B0503020204020204" pitchFamily="34" charset="-122"/>
                <a:ea typeface="微软雅黑" panose="020B0503020204020204" pitchFamily="34" charset="-122"/>
              </a:rPr>
              <a:t>IN</a:t>
            </a:r>
            <a:r>
              <a:rPr lang="en-US" altLang="zh-CN" sz="2000" dirty="0">
                <a:solidFill>
                  <a:srgbClr val="FF0000"/>
                </a:solidFill>
                <a:latin typeface="微软雅黑" panose="020B0503020204020204" pitchFamily="34" charset="-122"/>
                <a:ea typeface="微软雅黑" panose="020B0503020204020204" pitchFamily="34" charset="-122"/>
              </a:rPr>
              <a:t>=L</a:t>
            </a:r>
            <a:endParaRPr lang="en-US" altLang="zh-CN" sz="2000" dirty="0">
              <a:solidFill>
                <a:srgbClr val="FF0000"/>
              </a:solidFill>
              <a:latin typeface="微软雅黑" panose="020B0503020204020204" pitchFamily="34" charset="-122"/>
              <a:ea typeface="微软雅黑" panose="020B0503020204020204" pitchFamily="34" charset="-122"/>
            </a:endParaRPr>
          </a:p>
          <a:p>
            <a:pPr>
              <a:spcBef>
                <a:spcPct val="50000"/>
              </a:spcBef>
            </a:pPr>
            <a:r>
              <a:rPr lang="en-US" altLang="zh-CN" sz="2000" dirty="0">
                <a:solidFill>
                  <a:srgbClr val="FF0000"/>
                </a:solidFill>
                <a:latin typeface="微软雅黑" panose="020B0503020204020204" pitchFamily="34" charset="-122"/>
                <a:ea typeface="微软雅黑" panose="020B0503020204020204" pitchFamily="34" charset="-122"/>
              </a:rPr>
              <a:t>V</a:t>
            </a:r>
            <a:r>
              <a:rPr lang="en-US" altLang="zh-CN" sz="2000" baseline="-25000" dirty="0">
                <a:solidFill>
                  <a:srgbClr val="FF0000"/>
                </a:solidFill>
                <a:latin typeface="+mj-ea"/>
                <a:ea typeface="+mj-ea"/>
              </a:rPr>
              <a:t>gs1</a:t>
            </a:r>
            <a:r>
              <a:rPr lang="en-US" altLang="zh-CN" sz="2000" dirty="0">
                <a:solidFill>
                  <a:srgbClr val="FF0000"/>
                </a:solidFill>
                <a:latin typeface="微软雅黑" panose="020B0503020204020204" pitchFamily="34" charset="-122"/>
                <a:ea typeface="微软雅黑" panose="020B0503020204020204" pitchFamily="34" charset="-122"/>
              </a:rPr>
              <a:t> = 0</a:t>
            </a:r>
            <a:endParaRPr lang="en-US" altLang="zh-CN" sz="2000" dirty="0">
              <a:solidFill>
                <a:srgbClr val="FF0000"/>
              </a:solidFill>
              <a:latin typeface="微软雅黑" panose="020B0503020204020204" pitchFamily="34" charset="-122"/>
              <a:ea typeface="微软雅黑" panose="020B0503020204020204" pitchFamily="34" charset="-122"/>
            </a:endParaRPr>
          </a:p>
          <a:p>
            <a:pPr>
              <a:spcBef>
                <a:spcPct val="50000"/>
              </a:spcBef>
            </a:pPr>
            <a:r>
              <a:rPr lang="en-US" altLang="zh-CN" sz="2000" dirty="0">
                <a:solidFill>
                  <a:srgbClr val="FF0000"/>
                </a:solidFill>
                <a:latin typeface="微软雅黑" panose="020B0503020204020204" pitchFamily="34" charset="-122"/>
                <a:ea typeface="微软雅黑" panose="020B0503020204020204" pitchFamily="34" charset="-122"/>
              </a:rPr>
              <a:t>V</a:t>
            </a:r>
            <a:r>
              <a:rPr lang="en-US" altLang="zh-CN" sz="2000" baseline="-25000" dirty="0">
                <a:solidFill>
                  <a:srgbClr val="FF0000"/>
                </a:solidFill>
                <a:latin typeface="+mj-ea"/>
                <a:ea typeface="+mj-ea"/>
              </a:rPr>
              <a:t>gs2</a:t>
            </a:r>
            <a:r>
              <a:rPr lang="en-US" altLang="zh-CN" sz="2000" dirty="0">
                <a:solidFill>
                  <a:srgbClr val="FF0000"/>
                </a:solidFill>
                <a:latin typeface="微软雅黑" panose="020B0503020204020204" pitchFamily="34" charset="-122"/>
                <a:ea typeface="微软雅黑" panose="020B0503020204020204" pitchFamily="34" charset="-122"/>
              </a:rPr>
              <a:t> =</a:t>
            </a:r>
            <a:r>
              <a:rPr lang="en-US" altLang="zh-CN" sz="2000" b="1" dirty="0">
                <a:solidFill>
                  <a:srgbClr val="FF0000"/>
                </a:solidFill>
                <a:latin typeface="微软雅黑" panose="020B0503020204020204" pitchFamily="34" charset="-122"/>
                <a:ea typeface="微软雅黑" panose="020B0503020204020204" pitchFamily="34" charset="-122"/>
              </a:rPr>
              <a:t>-</a:t>
            </a:r>
            <a:r>
              <a:rPr lang="en-US" altLang="zh-CN" sz="2000" dirty="0">
                <a:solidFill>
                  <a:srgbClr val="FF0000"/>
                </a:solidFill>
                <a:latin typeface="微软雅黑" panose="020B0503020204020204" pitchFamily="34" charset="-122"/>
                <a:ea typeface="微软雅黑" panose="020B0503020204020204" pitchFamily="34" charset="-122"/>
              </a:rPr>
              <a:t>5V</a:t>
            </a:r>
            <a:endParaRPr lang="en-US" altLang="zh-CN" sz="2000" dirty="0">
              <a:solidFill>
                <a:srgbClr val="FF0000"/>
              </a:solidFill>
              <a:latin typeface="微软雅黑" panose="020B0503020204020204" pitchFamily="34" charset="-122"/>
              <a:ea typeface="微软雅黑" panose="020B0503020204020204" pitchFamily="34" charset="-122"/>
            </a:endParaRPr>
          </a:p>
        </p:txBody>
      </p:sp>
      <p:sp>
        <p:nvSpPr>
          <p:cNvPr id="45" name="矩形 44"/>
          <p:cNvSpPr/>
          <p:nvPr/>
        </p:nvSpPr>
        <p:spPr>
          <a:xfrm>
            <a:off x="5097075" y="4524894"/>
            <a:ext cx="1643075" cy="1323439"/>
          </a:xfrm>
          <a:prstGeom prst="rect">
            <a:avLst/>
          </a:prstGeom>
        </p:spPr>
        <p:txBody>
          <a:bodyPr wrap="square">
            <a:spAutoFit/>
          </a:bodyPr>
          <a:lstStyle/>
          <a:p>
            <a:pPr>
              <a:spcBef>
                <a:spcPct val="50000"/>
              </a:spcBef>
            </a:pPr>
            <a:r>
              <a:rPr lang="en-US" altLang="zh-CN" sz="2000" dirty="0">
                <a:solidFill>
                  <a:srgbClr val="FF0000"/>
                </a:solidFill>
                <a:latin typeface="微软雅黑" panose="020B0503020204020204" pitchFamily="34" charset="-122"/>
                <a:ea typeface="微软雅黑" panose="020B0503020204020204" pitchFamily="34" charset="-122"/>
              </a:rPr>
              <a:t>V</a:t>
            </a:r>
            <a:r>
              <a:rPr lang="en-US" altLang="zh-CN" sz="2000" baseline="-25000" dirty="0">
                <a:solidFill>
                  <a:srgbClr val="FF0000"/>
                </a:solidFill>
                <a:latin typeface="微软雅黑" panose="020B0503020204020204" pitchFamily="34" charset="-122"/>
                <a:ea typeface="微软雅黑" panose="020B0503020204020204" pitchFamily="34" charset="-122"/>
              </a:rPr>
              <a:t>IN</a:t>
            </a:r>
            <a:r>
              <a:rPr lang="en-US" altLang="zh-CN" sz="2000" dirty="0">
                <a:solidFill>
                  <a:srgbClr val="FF0000"/>
                </a:solidFill>
                <a:latin typeface="微软雅黑" panose="020B0503020204020204" pitchFamily="34" charset="-122"/>
                <a:ea typeface="微软雅黑" panose="020B0503020204020204" pitchFamily="34" charset="-122"/>
              </a:rPr>
              <a:t>=H</a:t>
            </a:r>
            <a:endParaRPr lang="en-US" altLang="zh-CN" sz="2000" dirty="0">
              <a:solidFill>
                <a:srgbClr val="FF0000"/>
              </a:solidFill>
              <a:latin typeface="微软雅黑" panose="020B0503020204020204" pitchFamily="34" charset="-122"/>
              <a:ea typeface="微软雅黑" panose="020B0503020204020204" pitchFamily="34" charset="-122"/>
            </a:endParaRPr>
          </a:p>
          <a:p>
            <a:pPr>
              <a:spcBef>
                <a:spcPct val="50000"/>
              </a:spcBef>
            </a:pPr>
            <a:r>
              <a:rPr lang="en-US" altLang="zh-CN" sz="2000" dirty="0">
                <a:solidFill>
                  <a:srgbClr val="FF0000"/>
                </a:solidFill>
                <a:latin typeface="微软雅黑" panose="020B0503020204020204" pitchFamily="34" charset="-122"/>
                <a:ea typeface="微软雅黑" panose="020B0503020204020204" pitchFamily="34" charset="-122"/>
              </a:rPr>
              <a:t>V</a:t>
            </a:r>
            <a:r>
              <a:rPr lang="en-US" altLang="zh-CN" sz="2000" baseline="-25000" dirty="0">
                <a:solidFill>
                  <a:srgbClr val="FF0000"/>
                </a:solidFill>
                <a:latin typeface="+mj-ea"/>
                <a:ea typeface="+mj-ea"/>
              </a:rPr>
              <a:t>gs1</a:t>
            </a:r>
            <a:r>
              <a:rPr lang="en-US" altLang="zh-CN" sz="2000" dirty="0">
                <a:solidFill>
                  <a:srgbClr val="FF0000"/>
                </a:solidFill>
                <a:latin typeface="微软雅黑" panose="020B0503020204020204" pitchFamily="34" charset="-122"/>
                <a:ea typeface="微软雅黑" panose="020B0503020204020204" pitchFamily="34" charset="-122"/>
              </a:rPr>
              <a:t> =5V</a:t>
            </a:r>
            <a:endParaRPr lang="en-US" altLang="zh-CN" sz="2000" dirty="0">
              <a:solidFill>
                <a:srgbClr val="FF0000"/>
              </a:solidFill>
              <a:latin typeface="微软雅黑" panose="020B0503020204020204" pitchFamily="34" charset="-122"/>
              <a:ea typeface="微软雅黑" panose="020B0503020204020204" pitchFamily="34" charset="-122"/>
            </a:endParaRPr>
          </a:p>
          <a:p>
            <a:pPr>
              <a:spcBef>
                <a:spcPct val="50000"/>
              </a:spcBef>
            </a:pPr>
            <a:r>
              <a:rPr lang="en-US" altLang="zh-CN" sz="2000" dirty="0">
                <a:solidFill>
                  <a:srgbClr val="FF0000"/>
                </a:solidFill>
                <a:latin typeface="微软雅黑" panose="020B0503020204020204" pitchFamily="34" charset="-122"/>
                <a:ea typeface="微软雅黑" panose="020B0503020204020204" pitchFamily="34" charset="-122"/>
              </a:rPr>
              <a:t>V</a:t>
            </a:r>
            <a:r>
              <a:rPr lang="en-US" altLang="zh-CN" sz="2000" baseline="-25000" dirty="0">
                <a:solidFill>
                  <a:srgbClr val="FF0000"/>
                </a:solidFill>
                <a:latin typeface="+mj-ea"/>
                <a:ea typeface="+mj-ea"/>
              </a:rPr>
              <a:t>gs2</a:t>
            </a:r>
            <a:r>
              <a:rPr lang="en-US" altLang="zh-CN" sz="2000" dirty="0">
                <a:solidFill>
                  <a:srgbClr val="FF0000"/>
                </a:solidFill>
                <a:latin typeface="微软雅黑" panose="020B0503020204020204" pitchFamily="34" charset="-122"/>
                <a:ea typeface="微软雅黑" panose="020B0503020204020204" pitchFamily="34" charset="-122"/>
              </a:rPr>
              <a:t> = 0</a:t>
            </a:r>
            <a:endParaRPr lang="en-US" altLang="zh-CN" sz="2000" dirty="0">
              <a:solidFill>
                <a:srgbClr val="FF0000"/>
              </a:solidFill>
              <a:latin typeface="微软雅黑" panose="020B0503020204020204" pitchFamily="34" charset="-122"/>
              <a:ea typeface="微软雅黑" panose="020B0503020204020204" pitchFamily="34" charset="-122"/>
            </a:endParaRPr>
          </a:p>
        </p:txBody>
      </p:sp>
      <p:sp>
        <p:nvSpPr>
          <p:cNvPr id="26" name="Text Box 65"/>
          <p:cNvSpPr txBox="1">
            <a:spLocks noChangeArrowheads="1"/>
          </p:cNvSpPr>
          <p:nvPr/>
        </p:nvSpPr>
        <p:spPr bwMode="auto">
          <a:xfrm>
            <a:off x="3163842" y="5822814"/>
            <a:ext cx="1408157" cy="338554"/>
          </a:xfrm>
          <a:prstGeom prst="rect">
            <a:avLst/>
          </a:prstGeom>
          <a:solidFill>
            <a:schemeClr val="accent5">
              <a:lumMod val="20000"/>
              <a:lumOff val="80000"/>
            </a:schemeClr>
          </a:solidFill>
          <a:ln w="9525">
            <a:solidFill>
              <a:schemeClr val="accent1"/>
            </a:solidFill>
            <a:miter lim="800000"/>
          </a:ln>
        </p:spPr>
        <p:txBody>
          <a:bodyPr wrap="square">
            <a:spAutoFit/>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源极接地</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0V</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27" name="直接箭头连接符 26"/>
          <p:cNvCxnSpPr>
            <a:stCxn id="26" idx="1"/>
          </p:cNvCxnSpPr>
          <p:nvPr/>
        </p:nvCxnSpPr>
        <p:spPr>
          <a:xfrm flipH="1">
            <a:off x="2578676" y="5992091"/>
            <a:ext cx="585166" cy="14081"/>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3" name="矩形 42"/>
          <p:cNvSpPr/>
          <p:nvPr/>
        </p:nvSpPr>
        <p:spPr>
          <a:xfrm>
            <a:off x="156179" y="5514146"/>
            <a:ext cx="1895542" cy="400110"/>
          </a:xfrm>
          <a:prstGeom prst="rect">
            <a:avLst/>
          </a:prstGeom>
          <a:solidFill>
            <a:schemeClr val="accent5">
              <a:lumMod val="20000"/>
              <a:lumOff val="80000"/>
            </a:schemeClr>
          </a:solidFill>
        </p:spPr>
        <p:txBody>
          <a:bodyPr wrap="square">
            <a:spAutoFit/>
          </a:bodyPr>
          <a:lstStyle/>
          <a:p>
            <a:pPr>
              <a:spcBef>
                <a:spcPct val="50000"/>
              </a:spcBef>
            </a:pPr>
            <a:r>
              <a:rPr lang="en-US" altLang="zh-CN" sz="2000" dirty="0" err="1">
                <a:solidFill>
                  <a:srgbClr val="FF0000"/>
                </a:solidFill>
                <a:latin typeface="+mj-ea"/>
                <a:ea typeface="+mj-ea"/>
              </a:rPr>
              <a:t>V</a:t>
            </a:r>
            <a:r>
              <a:rPr lang="en-US" altLang="zh-CN" sz="2000" baseline="-25000" dirty="0" err="1">
                <a:solidFill>
                  <a:srgbClr val="FF0000"/>
                </a:solidFill>
                <a:latin typeface="+mj-ea"/>
                <a:ea typeface="+mj-ea"/>
              </a:rPr>
              <a:t>gs</a:t>
            </a:r>
            <a:r>
              <a:rPr lang="en-US" altLang="zh-CN" sz="2000" dirty="0">
                <a:solidFill>
                  <a:srgbClr val="FF0000"/>
                </a:solidFill>
                <a:latin typeface="+mj-ea"/>
                <a:ea typeface="+mj-ea"/>
              </a:rPr>
              <a:t> &gt; 0,</a:t>
            </a:r>
            <a:r>
              <a:rPr lang="zh-CN" altLang="en-US" sz="2000" dirty="0">
                <a:solidFill>
                  <a:srgbClr val="FF0000"/>
                </a:solidFill>
                <a:latin typeface="+mj-ea"/>
                <a:ea typeface="+mj-ea"/>
              </a:rPr>
              <a:t>导通</a:t>
            </a:r>
            <a:endParaRPr lang="en-US" altLang="zh-CN" sz="2000" dirty="0">
              <a:solidFill>
                <a:srgbClr val="FF0000"/>
              </a:solidFill>
              <a:latin typeface="+mj-ea"/>
              <a:ea typeface="+mj-ea"/>
            </a:endParaRPr>
          </a:p>
        </p:txBody>
      </p:sp>
      <p:sp>
        <p:nvSpPr>
          <p:cNvPr id="44" name="矩形 43"/>
          <p:cNvSpPr/>
          <p:nvPr/>
        </p:nvSpPr>
        <p:spPr>
          <a:xfrm>
            <a:off x="156178" y="2605726"/>
            <a:ext cx="1833239" cy="400110"/>
          </a:xfrm>
          <a:prstGeom prst="rect">
            <a:avLst/>
          </a:prstGeom>
          <a:solidFill>
            <a:schemeClr val="accent3">
              <a:lumMod val="95000"/>
            </a:schemeClr>
          </a:solidFill>
        </p:spPr>
        <p:txBody>
          <a:bodyPr wrap="square">
            <a:spAutoFit/>
          </a:bodyPr>
          <a:lstStyle/>
          <a:p>
            <a:pPr>
              <a:spcBef>
                <a:spcPct val="50000"/>
              </a:spcBef>
            </a:pPr>
            <a:r>
              <a:rPr lang="en-US" altLang="zh-CN" sz="2000" dirty="0" err="1">
                <a:solidFill>
                  <a:srgbClr val="FF0000"/>
                </a:solidFill>
                <a:latin typeface="+mj-ea"/>
                <a:ea typeface="+mj-ea"/>
              </a:rPr>
              <a:t>V</a:t>
            </a:r>
            <a:r>
              <a:rPr lang="en-US" altLang="zh-CN" sz="2000" baseline="-25000" dirty="0" err="1">
                <a:solidFill>
                  <a:srgbClr val="FF0000"/>
                </a:solidFill>
                <a:latin typeface="+mj-ea"/>
                <a:ea typeface="+mj-ea"/>
              </a:rPr>
              <a:t>gs</a:t>
            </a:r>
            <a:r>
              <a:rPr lang="en-US" altLang="zh-CN" sz="2000" dirty="0">
                <a:solidFill>
                  <a:srgbClr val="FF0000"/>
                </a:solidFill>
                <a:latin typeface="+mj-ea"/>
                <a:ea typeface="+mj-ea"/>
              </a:rPr>
              <a:t> &lt; 0,</a:t>
            </a:r>
            <a:r>
              <a:rPr lang="zh-CN" altLang="en-US" sz="2000" dirty="0">
                <a:solidFill>
                  <a:srgbClr val="FF0000"/>
                </a:solidFill>
                <a:latin typeface="+mj-ea"/>
                <a:ea typeface="+mj-ea"/>
              </a:rPr>
              <a:t>导通</a:t>
            </a:r>
            <a:endParaRPr lang="en-US" altLang="zh-CN" sz="2000" dirty="0">
              <a:solidFill>
                <a:srgbClr val="FF0000"/>
              </a:solidFill>
              <a:latin typeface="+mj-ea"/>
              <a:ea typeface="+mj-ea"/>
            </a:endParaRPr>
          </a:p>
        </p:txBody>
      </p:sp>
      <p:sp>
        <p:nvSpPr>
          <p:cNvPr id="3" name="矩形 2"/>
          <p:cNvSpPr/>
          <p:nvPr/>
        </p:nvSpPr>
        <p:spPr>
          <a:xfrm>
            <a:off x="7376395" y="6274101"/>
            <a:ext cx="1210588" cy="400110"/>
          </a:xfrm>
          <a:prstGeom prst="rect">
            <a:avLst/>
          </a:prstGeom>
        </p:spPr>
        <p:txBody>
          <a:bodyPr wrap="none">
            <a:spAutoFit/>
          </a:bodyPr>
          <a:lstStyle/>
          <a:p>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开关模型</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 name="矩形 28"/>
          <p:cNvSpPr/>
          <p:nvPr/>
        </p:nvSpPr>
        <p:spPr>
          <a:xfrm>
            <a:off x="1994096" y="6287055"/>
            <a:ext cx="954107" cy="400110"/>
          </a:xfrm>
          <a:prstGeom prst="rect">
            <a:avLst/>
          </a:prstGeom>
        </p:spPr>
        <p:txBody>
          <a:bodyPr wrap="none">
            <a:spAutoFit/>
          </a:bodyPr>
          <a:lstStyle/>
          <a:p>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原理</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图</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2" name="Text Box 65"/>
          <p:cNvSpPr txBox="1">
            <a:spLocks noChangeArrowheads="1"/>
          </p:cNvSpPr>
          <p:nvPr/>
        </p:nvSpPr>
        <p:spPr bwMode="auto">
          <a:xfrm>
            <a:off x="3012704" y="2172012"/>
            <a:ext cx="1811358" cy="338554"/>
          </a:xfrm>
          <a:prstGeom prst="rect">
            <a:avLst/>
          </a:prstGeom>
          <a:solidFill>
            <a:schemeClr val="accent5">
              <a:lumMod val="20000"/>
              <a:lumOff val="80000"/>
            </a:schemeClr>
          </a:solidFill>
          <a:ln w="9525">
            <a:solidFill>
              <a:schemeClr val="accent1"/>
            </a:solidFill>
            <a:miter lim="800000"/>
          </a:ln>
        </p:spPr>
        <p:txBody>
          <a:bodyPr wrap="square">
            <a:spAutoFit/>
          </a:bodyPr>
          <a:lstStyle/>
          <a:p>
            <a:pPr>
              <a:spcBef>
                <a:spcPct val="50000"/>
              </a:spcBef>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源极接电源电压</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33" name="直接箭头连接符 32"/>
          <p:cNvCxnSpPr>
            <a:stCxn id="32" idx="1"/>
          </p:cNvCxnSpPr>
          <p:nvPr/>
        </p:nvCxnSpPr>
        <p:spPr>
          <a:xfrm flipH="1">
            <a:off x="2427538" y="2341289"/>
            <a:ext cx="585166" cy="14081"/>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5" name="Text Box 65"/>
          <p:cNvSpPr txBox="1">
            <a:spLocks noChangeArrowheads="1"/>
          </p:cNvSpPr>
          <p:nvPr/>
        </p:nvSpPr>
        <p:spPr bwMode="auto">
          <a:xfrm>
            <a:off x="74568" y="3641037"/>
            <a:ext cx="1336500" cy="584775"/>
          </a:xfrm>
          <a:prstGeom prst="rect">
            <a:avLst/>
          </a:prstGeom>
          <a:solidFill>
            <a:schemeClr val="accent5">
              <a:lumMod val="20000"/>
              <a:lumOff val="80000"/>
            </a:schemeClr>
          </a:solidFill>
          <a:ln w="9525">
            <a:solidFill>
              <a:schemeClr val="accent1"/>
            </a:solidFill>
            <a:miter lim="800000"/>
          </a:ln>
        </p:spPr>
        <p:txBody>
          <a:bodyPr wrap="square">
            <a:spAutoFit/>
          </a:bodyPr>
          <a:lstStyle/>
          <a:p>
            <a:pPr>
              <a:spcBef>
                <a:spcPct val="50000"/>
              </a:spcBef>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栅极共用，接输入信号</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6" name="Text Box 65"/>
          <p:cNvSpPr txBox="1">
            <a:spLocks noChangeArrowheads="1"/>
          </p:cNvSpPr>
          <p:nvPr/>
        </p:nvSpPr>
        <p:spPr bwMode="auto">
          <a:xfrm>
            <a:off x="3353572" y="3158664"/>
            <a:ext cx="1336500" cy="584775"/>
          </a:xfrm>
          <a:prstGeom prst="rect">
            <a:avLst/>
          </a:prstGeom>
          <a:solidFill>
            <a:schemeClr val="accent5">
              <a:lumMod val="20000"/>
              <a:lumOff val="80000"/>
            </a:schemeClr>
          </a:solidFill>
          <a:ln w="9525">
            <a:solidFill>
              <a:schemeClr val="accent1"/>
            </a:solidFill>
            <a:miter lim="800000"/>
          </a:ln>
        </p:spPr>
        <p:txBody>
          <a:bodyPr wrap="square">
            <a:spAutoFit/>
          </a:bodyPr>
          <a:lstStyle/>
          <a:p>
            <a:pPr>
              <a:spcBef>
                <a:spcPct val="50000"/>
              </a:spcBef>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漏极共用，接输出信号</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矩形 10"/>
          <p:cNvSpPr/>
          <p:nvPr/>
        </p:nvSpPr>
        <p:spPr>
          <a:xfrm>
            <a:off x="3508513" y="4522363"/>
            <a:ext cx="899265" cy="2586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内容占位符 2"/>
          <p:cNvSpPr txBox="1"/>
          <p:nvPr/>
        </p:nvSpPr>
        <p:spPr bwMode="auto">
          <a:xfrm>
            <a:off x="369206" y="905073"/>
            <a:ext cx="8641731" cy="945801"/>
          </a:xfrm>
          <a:prstGeom prst="rect">
            <a:avLst/>
          </a:prstGeom>
          <a:noFill/>
          <a:ln>
            <a:noFill/>
          </a:ln>
        </p:spPr>
        <p:txBody>
          <a:bodyPr vert="horz" wrap="square" lIns="91440" tIns="45720" rIns="91440" bIns="45720" numCol="1" anchor="t" anchorCtr="0" compatLnSpc="1"/>
          <a:lstStyle>
            <a:lvl1pPr marL="447675" indent="-447675" algn="l" rtl="0" eaLnBrk="1" fontAlgn="base" hangingPunct="1">
              <a:spcBef>
                <a:spcPts val="300"/>
              </a:spcBef>
              <a:spcAft>
                <a:spcPct val="0"/>
              </a:spcAft>
              <a:buClr>
                <a:srgbClr val="CC6600"/>
              </a:buClr>
              <a:buSzPct val="70000"/>
              <a:buFont typeface="Wingdings" panose="05000000000000000000" charset="0"/>
              <a:buChar char="n"/>
              <a:defRPr sz="2800" b="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defRPr>
            </a:lvl1pPr>
            <a:lvl2pPr marL="889000" indent="-440055" algn="l" rtl="0" eaLnBrk="1" fontAlgn="base" hangingPunct="1">
              <a:spcBef>
                <a:spcPts val="300"/>
              </a:spcBef>
              <a:spcAft>
                <a:spcPct val="0"/>
              </a:spcAft>
              <a:buClr>
                <a:schemeClr val="hlink"/>
              </a:buClr>
              <a:buSzPct val="65000"/>
              <a:buFont typeface="Wingdings" panose="05000000000000000000" charset="0"/>
              <a:buChar char="¡"/>
              <a:defRPr sz="2400" b="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2pPr>
            <a:lvl3pPr marL="1294130" indent="-403225" algn="l" rtl="0" eaLnBrk="1" fontAlgn="base" hangingPunct="1">
              <a:spcBef>
                <a:spcPts val="300"/>
              </a:spcBef>
              <a:spcAft>
                <a:spcPct val="0"/>
              </a:spcAft>
              <a:buClr>
                <a:schemeClr val="accent1"/>
              </a:buClr>
              <a:buSzPct val="70000"/>
              <a:buFont typeface="Wingdings" panose="05000000000000000000" pitchFamily="2" charset="2"/>
              <a:buChar char="u"/>
              <a:defRPr kumimoji="1" sz="20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3pPr>
            <a:lvl4pPr marL="1681480" indent="-386080" algn="l" rtl="0" eaLnBrk="1" fontAlgn="base" hangingPunct="1">
              <a:spcBef>
                <a:spcPts val="300"/>
              </a:spcBef>
              <a:spcAft>
                <a:spcPct val="0"/>
              </a:spcAft>
              <a:buClr>
                <a:schemeClr val="hlink"/>
              </a:buClr>
              <a:buSzPct val="75000"/>
              <a:buFont typeface="Wingdings" panose="05000000000000000000" pitchFamily="2" charset="2"/>
              <a:buChar char="p"/>
              <a:defRPr kumimoji="1" sz="18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4pPr>
            <a:lvl5pPr marL="2070100" indent="-387350" algn="l" rtl="0" eaLnBrk="1" fontAlgn="base" hangingPunct="1">
              <a:spcBef>
                <a:spcPts val="300"/>
              </a:spcBef>
              <a:spcAft>
                <a:spcPct val="0"/>
              </a:spcAft>
              <a:buClr>
                <a:schemeClr val="accent1"/>
              </a:buClr>
              <a:buSzPct val="70000"/>
              <a:buFont typeface="Wingdings" panose="05000000000000000000" pitchFamily="2" charset="2"/>
              <a:buChar char="Ø"/>
              <a:defRPr kumimoji="1" sz="1600" b="0">
                <a:solidFill>
                  <a:schemeClr val="tx1"/>
                </a:solidFill>
                <a:latin typeface="Times New Roman" panose="02020603050405020304" pitchFamily="18" charset="0"/>
                <a:ea typeface="仿宋" panose="02010609060101010101" pitchFamily="49" charset="-122"/>
                <a:cs typeface="Times New Roman" panose="02020603050405020304" pitchFamily="18" charset="0"/>
              </a:defRPr>
            </a:lvl5pPr>
            <a:lvl6pPr marL="25273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r>
              <a:rPr lang="zh-CN" altLang="en-US" sz="2200" b="1" dirty="0">
                <a:solidFill>
                  <a:srgbClr val="FF0000"/>
                </a:solidFill>
              </a:rPr>
              <a:t>非门</a:t>
            </a:r>
            <a:r>
              <a:rPr lang="zh-CN" altLang="en-US" sz="2200" b="1" dirty="0"/>
              <a:t>使用一对</a:t>
            </a:r>
            <a:r>
              <a:rPr lang="en-US" altLang="zh-CN" sz="2200" b="1" dirty="0"/>
              <a:t>CMOS </a:t>
            </a:r>
            <a:r>
              <a:rPr lang="zh-CN" altLang="en-US" sz="2200" b="1" dirty="0"/>
              <a:t>晶体管实现</a:t>
            </a:r>
            <a:endParaRPr lang="zh-CN" altLang="en-US" sz="2200" b="1" kern="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44"/>
                                        </p:tgtEl>
                                        <p:attrNameLst>
                                          <p:attrName>style.visibility</p:attrName>
                                        </p:attrNameLst>
                                      </p:cBhvr>
                                      <p:to>
                                        <p:strVal val="visible"/>
                                      </p:to>
                                    </p:set>
                                    <p:anim calcmode="lin" valueType="num">
                                      <p:cBhvr additive="base">
                                        <p:cTn id="27" dur="500" fill="hold"/>
                                        <p:tgtEl>
                                          <p:spTgt spid="44"/>
                                        </p:tgtEl>
                                        <p:attrNameLst>
                                          <p:attrName>ppt_x</p:attrName>
                                        </p:attrNameLst>
                                      </p:cBhvr>
                                      <p:tavLst>
                                        <p:tav tm="0">
                                          <p:val>
                                            <p:strVal val="#ppt_x"/>
                                          </p:val>
                                        </p:tav>
                                        <p:tav tm="100000">
                                          <p:val>
                                            <p:strVal val="#ppt_x"/>
                                          </p:val>
                                        </p:tav>
                                      </p:tavLst>
                                    </p:anim>
                                    <p:anim calcmode="lin" valueType="num">
                                      <p:cBhvr additive="base">
                                        <p:cTn id="28"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43"/>
                                        </p:tgtEl>
                                        <p:attrNameLst>
                                          <p:attrName>style.visibility</p:attrName>
                                        </p:attrNameLst>
                                      </p:cBhvr>
                                      <p:to>
                                        <p:strVal val="visible"/>
                                      </p:to>
                                    </p:set>
                                    <p:anim calcmode="lin" valueType="num">
                                      <p:cBhvr additive="base">
                                        <p:cTn id="33" dur="500" fill="hold"/>
                                        <p:tgtEl>
                                          <p:spTgt spid="43"/>
                                        </p:tgtEl>
                                        <p:attrNameLst>
                                          <p:attrName>ppt_x</p:attrName>
                                        </p:attrNameLst>
                                      </p:cBhvr>
                                      <p:tavLst>
                                        <p:tav tm="0">
                                          <p:val>
                                            <p:strVal val="#ppt_x"/>
                                          </p:val>
                                        </p:tav>
                                        <p:tav tm="100000">
                                          <p:val>
                                            <p:strVal val="#ppt_x"/>
                                          </p:val>
                                        </p:tav>
                                      </p:tavLst>
                                    </p:anim>
                                    <p:anim calcmode="lin" valueType="num">
                                      <p:cBhvr additive="base">
                                        <p:cTn id="34"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42"/>
                                        </p:tgtEl>
                                        <p:attrNameLst>
                                          <p:attrName>style.visibility</p:attrName>
                                        </p:attrNameLst>
                                      </p:cBhvr>
                                      <p:to>
                                        <p:strVal val="visible"/>
                                      </p:to>
                                    </p:set>
                                    <p:anim calcmode="lin" valueType="num">
                                      <p:cBhvr additive="base">
                                        <p:cTn id="39" dur="500" fill="hold"/>
                                        <p:tgtEl>
                                          <p:spTgt spid="42"/>
                                        </p:tgtEl>
                                        <p:attrNameLst>
                                          <p:attrName>ppt_x</p:attrName>
                                        </p:attrNameLst>
                                      </p:cBhvr>
                                      <p:tavLst>
                                        <p:tav tm="0">
                                          <p:val>
                                            <p:strVal val="#ppt_x"/>
                                          </p:val>
                                        </p:tav>
                                        <p:tav tm="100000">
                                          <p:val>
                                            <p:strVal val="#ppt_x"/>
                                          </p:val>
                                        </p:tav>
                                      </p:tavLst>
                                    </p:anim>
                                    <p:anim calcmode="lin" valueType="num">
                                      <p:cBhvr additive="base">
                                        <p:cTn id="40"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37"/>
                                        </p:tgtEl>
                                        <p:attrNameLst>
                                          <p:attrName>style.visibility</p:attrName>
                                        </p:attrNameLst>
                                      </p:cBhvr>
                                      <p:to>
                                        <p:strVal val="visible"/>
                                      </p:to>
                                    </p:set>
                                    <p:animEffect transition="in" filter="blinds(horizontal)">
                                      <p:cBhvr>
                                        <p:cTn id="45" dur="500"/>
                                        <p:tgtEl>
                                          <p:spTgt spid="37"/>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45"/>
                                        </p:tgtEl>
                                        <p:attrNameLst>
                                          <p:attrName>style.visibility</p:attrName>
                                        </p:attrNameLst>
                                      </p:cBhvr>
                                      <p:to>
                                        <p:strVal val="visible"/>
                                      </p:to>
                                    </p:set>
                                    <p:anim calcmode="lin" valueType="num">
                                      <p:cBhvr additive="base">
                                        <p:cTn id="50" dur="500" fill="hold"/>
                                        <p:tgtEl>
                                          <p:spTgt spid="45"/>
                                        </p:tgtEl>
                                        <p:attrNameLst>
                                          <p:attrName>ppt_x</p:attrName>
                                        </p:attrNameLst>
                                      </p:cBhvr>
                                      <p:tavLst>
                                        <p:tav tm="0">
                                          <p:val>
                                            <p:strVal val="#ppt_x"/>
                                          </p:val>
                                        </p:tav>
                                        <p:tav tm="100000">
                                          <p:val>
                                            <p:strVal val="#ppt_x"/>
                                          </p:val>
                                        </p:tav>
                                      </p:tavLst>
                                    </p:anim>
                                    <p:anim calcmode="lin" valueType="num">
                                      <p:cBhvr additive="base">
                                        <p:cTn id="51"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nodeType="clickEffect">
                                  <p:stCondLst>
                                    <p:cond delay="0"/>
                                  </p:stCondLst>
                                  <p:childTnLst>
                                    <p:set>
                                      <p:cBhvr>
                                        <p:cTn id="55" dur="1" fill="hold">
                                          <p:stCondLst>
                                            <p:cond delay="0"/>
                                          </p:stCondLst>
                                        </p:cTn>
                                        <p:tgtEl>
                                          <p:spTgt spid="38"/>
                                        </p:tgtEl>
                                        <p:attrNameLst>
                                          <p:attrName>style.visibility</p:attrName>
                                        </p:attrNameLst>
                                      </p:cBhvr>
                                      <p:to>
                                        <p:strVal val="visible"/>
                                      </p:to>
                                    </p:set>
                                    <p:animEffect transition="in" filter="blinds(horizontal)">
                                      <p:cBhvr>
                                        <p:cTn id="56" dur="500"/>
                                        <p:tgtEl>
                                          <p:spTgt spid="38"/>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5" grpId="0"/>
      <p:bldP spid="26" grpId="0" animBg="1"/>
      <p:bldP spid="43" grpId="0" animBg="1"/>
      <p:bldP spid="44" grpId="0" animBg="1"/>
      <p:bldP spid="3" grpId="0"/>
      <p:bldP spid="32" grpId="0" animBg="1"/>
      <p:bldP spid="35" grpId="0" animBg="1"/>
      <p:bldP spid="3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r>
              <a:rPr lang="en-US" altLang="zh-CN" dirty="0"/>
              <a:t>1.3 CMOS</a:t>
            </a:r>
            <a:r>
              <a:rPr lang="zh-CN" altLang="en-US" dirty="0"/>
              <a:t>晶体管</a:t>
            </a:r>
            <a:endParaRPr lang="zh-CN" altLang="en-US" dirty="0"/>
          </a:p>
        </p:txBody>
      </p:sp>
      <p:sp>
        <p:nvSpPr>
          <p:cNvPr id="8" name="灯片编号占位符 7"/>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pic>
        <p:nvPicPr>
          <p:cNvPr id="11" name="Picture 10"/>
          <p:cNvPicPr>
            <a:picLocks noChangeAspect="1" noChangeArrowheads="1"/>
          </p:cNvPicPr>
          <p:nvPr/>
        </p:nvPicPr>
        <p:blipFill>
          <a:blip r:embed="rId1" cstate="print"/>
          <a:srcRect l="46786" t="18022" b="12452"/>
          <a:stretch>
            <a:fillRect/>
          </a:stretch>
        </p:blipFill>
        <p:spPr bwMode="auto">
          <a:xfrm>
            <a:off x="320190" y="1685923"/>
            <a:ext cx="3816424" cy="3949687"/>
          </a:xfrm>
          <a:prstGeom prst="rect">
            <a:avLst/>
          </a:prstGeom>
          <a:noFill/>
          <a:ln w="9525">
            <a:noFill/>
            <a:miter lim="800000"/>
            <a:headEnd/>
            <a:tailEnd/>
          </a:ln>
        </p:spPr>
      </p:pic>
      <p:pic>
        <p:nvPicPr>
          <p:cNvPr id="10" name="图片 9"/>
          <p:cNvPicPr>
            <a:picLocks noChangeAspect="1"/>
          </p:cNvPicPr>
          <p:nvPr/>
        </p:nvPicPr>
        <p:blipFill>
          <a:blip r:embed="rId2"/>
          <a:stretch>
            <a:fillRect/>
          </a:stretch>
        </p:blipFill>
        <p:spPr>
          <a:xfrm>
            <a:off x="4783953" y="1614185"/>
            <a:ext cx="4259686" cy="4223356"/>
          </a:xfrm>
          <a:prstGeom prst="rect">
            <a:avLst/>
          </a:prstGeom>
        </p:spPr>
      </p:pic>
      <p:sp>
        <p:nvSpPr>
          <p:cNvPr id="12" name="矩形 11"/>
          <p:cNvSpPr/>
          <p:nvPr/>
        </p:nvSpPr>
        <p:spPr>
          <a:xfrm>
            <a:off x="1789820" y="3910529"/>
            <a:ext cx="954107" cy="400110"/>
          </a:xfrm>
          <a:prstGeom prst="rect">
            <a:avLst/>
          </a:prstGeom>
        </p:spPr>
        <p:txBody>
          <a:bodyPr wrap="none">
            <a:spAutoFit/>
          </a:bodyPr>
          <a:lstStyle/>
          <a:p>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功能表</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 name="矩形 12"/>
          <p:cNvSpPr/>
          <p:nvPr/>
        </p:nvSpPr>
        <p:spPr>
          <a:xfrm>
            <a:off x="1783941" y="5652875"/>
            <a:ext cx="1210588" cy="400110"/>
          </a:xfrm>
          <a:prstGeom prst="rect">
            <a:avLst/>
          </a:prstGeom>
        </p:spPr>
        <p:txBody>
          <a:bodyPr wrap="none">
            <a:spAutoFit/>
          </a:bodyPr>
          <a:lstStyle/>
          <a:p>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逻辑符号</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p:txBody>
          <a:bodyPr/>
          <a:lstStyle/>
          <a:p>
            <a:r>
              <a:rPr lang="en-US" altLang="zh-CN" dirty="0"/>
              <a:t>1.3 CMOS</a:t>
            </a:r>
            <a:r>
              <a:rPr lang="zh-CN" altLang="en-US" dirty="0"/>
              <a:t>晶体管</a:t>
            </a:r>
            <a:endParaRPr lang="zh-CN" altLang="en-US" dirty="0"/>
          </a:p>
        </p:txBody>
      </p:sp>
      <p:pic>
        <p:nvPicPr>
          <p:cNvPr id="30724" name="Picture 9"/>
          <p:cNvPicPr>
            <a:picLocks noGrp="1" noChangeAspect="1" noChangeArrowheads="1"/>
          </p:cNvPicPr>
          <p:nvPr>
            <p:ph idx="1"/>
          </p:nvPr>
        </p:nvPicPr>
        <p:blipFill rotWithShape="1">
          <a:blip r:embed="rId1" cstate="print"/>
          <a:srcRect r="50202"/>
          <a:stretch>
            <a:fillRect/>
          </a:stretch>
        </p:blipFill>
        <p:spPr>
          <a:xfrm>
            <a:off x="93765" y="1899501"/>
            <a:ext cx="3714288" cy="4319672"/>
          </a:xfrm>
          <a:noFill/>
        </p:spPr>
      </p:pic>
      <p:sp>
        <p:nvSpPr>
          <p:cNvPr id="8" name="灯片编号占位符 7"/>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pic>
        <p:nvPicPr>
          <p:cNvPr id="13" name="Picture 8"/>
          <p:cNvPicPr>
            <a:picLocks noChangeAspect="1" noChangeArrowheads="1"/>
          </p:cNvPicPr>
          <p:nvPr/>
        </p:nvPicPr>
        <p:blipFill>
          <a:blip r:embed="rId2" cstate="print"/>
          <a:srcRect/>
          <a:stretch>
            <a:fillRect/>
          </a:stretch>
        </p:blipFill>
        <p:spPr bwMode="auto">
          <a:xfrm>
            <a:off x="6788919" y="1727990"/>
            <a:ext cx="2310605" cy="4375244"/>
          </a:xfrm>
          <a:prstGeom prst="rect">
            <a:avLst/>
          </a:prstGeom>
          <a:noFill/>
          <a:ln w="9525">
            <a:noFill/>
            <a:miter lim="800000"/>
            <a:headEnd/>
            <a:tailEnd/>
          </a:ln>
        </p:spPr>
      </p:pic>
      <p:pic>
        <p:nvPicPr>
          <p:cNvPr id="11" name="Picture 9"/>
          <p:cNvPicPr>
            <a:picLocks noChangeAspect="1" noChangeArrowheads="1"/>
          </p:cNvPicPr>
          <p:nvPr/>
        </p:nvPicPr>
        <p:blipFill>
          <a:blip r:embed="rId3" cstate="print"/>
          <a:srcRect/>
          <a:stretch>
            <a:fillRect/>
          </a:stretch>
        </p:blipFill>
        <p:spPr bwMode="auto">
          <a:xfrm>
            <a:off x="4198488" y="1835366"/>
            <a:ext cx="2675387" cy="4267868"/>
          </a:xfrm>
          <a:prstGeom prst="rect">
            <a:avLst/>
          </a:prstGeom>
          <a:noFill/>
          <a:ln w="9525">
            <a:noFill/>
            <a:miter lim="800000"/>
            <a:headEnd/>
            <a:tailEnd/>
          </a:ln>
        </p:spPr>
      </p:pic>
      <p:sp>
        <p:nvSpPr>
          <p:cNvPr id="14" name="矩形 13"/>
          <p:cNvSpPr/>
          <p:nvPr/>
        </p:nvSpPr>
        <p:spPr>
          <a:xfrm>
            <a:off x="1598940" y="6287055"/>
            <a:ext cx="954107" cy="400110"/>
          </a:xfrm>
          <a:prstGeom prst="rect">
            <a:avLst/>
          </a:prstGeom>
        </p:spPr>
        <p:txBody>
          <a:bodyPr wrap="none">
            <a:spAutoFit/>
          </a:bodyPr>
          <a:lstStyle/>
          <a:p>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原理</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图</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 name="矩形 14"/>
          <p:cNvSpPr/>
          <p:nvPr/>
        </p:nvSpPr>
        <p:spPr>
          <a:xfrm>
            <a:off x="6506779" y="6287055"/>
            <a:ext cx="1210588" cy="400110"/>
          </a:xfrm>
          <a:prstGeom prst="rect">
            <a:avLst/>
          </a:prstGeom>
        </p:spPr>
        <p:txBody>
          <a:bodyPr wrap="none">
            <a:spAutoFit/>
          </a:bodyPr>
          <a:lstStyle/>
          <a:p>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开关模型</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 name="Text Box 65"/>
          <p:cNvSpPr txBox="1">
            <a:spLocks noChangeArrowheads="1"/>
          </p:cNvSpPr>
          <p:nvPr/>
        </p:nvSpPr>
        <p:spPr bwMode="auto">
          <a:xfrm>
            <a:off x="3020318" y="2223097"/>
            <a:ext cx="1374036" cy="338554"/>
          </a:xfrm>
          <a:prstGeom prst="rect">
            <a:avLst/>
          </a:prstGeom>
          <a:solidFill>
            <a:schemeClr val="accent5">
              <a:lumMod val="20000"/>
              <a:lumOff val="80000"/>
            </a:schemeClr>
          </a:solidFill>
          <a:ln w="9525">
            <a:solidFill>
              <a:schemeClr val="accent1"/>
            </a:solidFill>
            <a:miter lim="800000"/>
          </a:ln>
        </p:spPr>
        <p:txBody>
          <a:bodyPr wrap="square">
            <a:spAutoFit/>
          </a:bodyPr>
          <a:lstStyle/>
          <a:p>
            <a:pPr>
              <a:spcBef>
                <a:spcPct val="50000"/>
              </a:spcBef>
            </a:pPr>
            <a:r>
              <a:rPr lang="en-US" altLang="zh-CN" dirty="0">
                <a:latin typeface="微软雅黑" panose="020B0503020204020204" pitchFamily="34" charset="-122"/>
                <a:ea typeface="微软雅黑" panose="020B0503020204020204" pitchFamily="34" charset="-122"/>
              </a:rPr>
              <a:t>PMOS</a:t>
            </a:r>
            <a:r>
              <a:rPr lang="zh-CN" altLang="en-US" dirty="0">
                <a:latin typeface="微软雅黑" panose="020B0503020204020204" pitchFamily="34" charset="-122"/>
                <a:ea typeface="微软雅黑" panose="020B0503020204020204" pitchFamily="34" charset="-122"/>
              </a:rPr>
              <a:t>并联</a:t>
            </a:r>
            <a:endParaRPr lang="zh-CN" altLang="en-US" dirty="0">
              <a:latin typeface="微软雅黑" panose="020B0503020204020204" pitchFamily="34" charset="-122"/>
              <a:ea typeface="微软雅黑" panose="020B0503020204020204" pitchFamily="34" charset="-122"/>
            </a:endParaRPr>
          </a:p>
        </p:txBody>
      </p:sp>
      <p:cxnSp>
        <p:nvCxnSpPr>
          <p:cNvPr id="17" name="直接箭头连接符 16"/>
          <p:cNvCxnSpPr/>
          <p:nvPr/>
        </p:nvCxnSpPr>
        <p:spPr>
          <a:xfrm flipH="1">
            <a:off x="3175348" y="2493714"/>
            <a:ext cx="531988" cy="33949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 name="Text Box 65"/>
          <p:cNvSpPr txBox="1">
            <a:spLocks noChangeArrowheads="1"/>
          </p:cNvSpPr>
          <p:nvPr/>
        </p:nvSpPr>
        <p:spPr bwMode="auto">
          <a:xfrm>
            <a:off x="2420659" y="5819571"/>
            <a:ext cx="1374036" cy="338554"/>
          </a:xfrm>
          <a:prstGeom prst="rect">
            <a:avLst/>
          </a:prstGeom>
          <a:solidFill>
            <a:schemeClr val="accent5">
              <a:lumMod val="20000"/>
              <a:lumOff val="80000"/>
            </a:schemeClr>
          </a:solidFill>
          <a:ln w="9525">
            <a:solidFill>
              <a:schemeClr val="accent1"/>
            </a:solidFill>
            <a:miter lim="800000"/>
          </a:ln>
        </p:spPr>
        <p:txBody>
          <a:bodyPr wrap="square">
            <a:spAutoFit/>
          </a:bodyPr>
          <a:lstStyle/>
          <a:p>
            <a:pPr>
              <a:spcBef>
                <a:spcPct val="50000"/>
              </a:spcBef>
            </a:pPr>
            <a:r>
              <a:rPr lang="en-US" altLang="zh-CN" dirty="0">
                <a:latin typeface="微软雅黑" panose="020B0503020204020204" pitchFamily="34" charset="-122"/>
                <a:ea typeface="微软雅黑" panose="020B0503020204020204" pitchFamily="34" charset="-122"/>
              </a:rPr>
              <a:t>NMOS</a:t>
            </a:r>
            <a:r>
              <a:rPr lang="zh-CN" altLang="en-US" dirty="0">
                <a:latin typeface="微软雅黑" panose="020B0503020204020204" pitchFamily="34" charset="-122"/>
                <a:ea typeface="微软雅黑" panose="020B0503020204020204" pitchFamily="34" charset="-122"/>
              </a:rPr>
              <a:t>串联</a:t>
            </a:r>
            <a:endParaRPr lang="zh-CN" altLang="en-US" dirty="0">
              <a:latin typeface="微软雅黑" panose="020B0503020204020204" pitchFamily="34" charset="-122"/>
              <a:ea typeface="微软雅黑" panose="020B0503020204020204" pitchFamily="34" charset="-122"/>
            </a:endParaRPr>
          </a:p>
        </p:txBody>
      </p:sp>
      <p:cxnSp>
        <p:nvCxnSpPr>
          <p:cNvPr id="19" name="直接箭头连接符 18"/>
          <p:cNvCxnSpPr/>
          <p:nvPr/>
        </p:nvCxnSpPr>
        <p:spPr>
          <a:xfrm flipH="1" flipV="1">
            <a:off x="2065379" y="4872625"/>
            <a:ext cx="1109969" cy="94694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0" name="内容占位符 2"/>
          <p:cNvSpPr txBox="1"/>
          <p:nvPr/>
        </p:nvSpPr>
        <p:spPr bwMode="auto">
          <a:xfrm>
            <a:off x="431013" y="741401"/>
            <a:ext cx="7865752" cy="1356410"/>
          </a:xfrm>
          <a:prstGeom prst="rect">
            <a:avLst/>
          </a:prstGeom>
          <a:noFill/>
          <a:ln>
            <a:noFill/>
          </a:ln>
        </p:spPr>
        <p:txBody>
          <a:bodyPr vert="horz" wrap="square" lIns="91440" tIns="45720" rIns="91440" bIns="45720" numCol="1" anchor="t" anchorCtr="0" compatLnSpc="1"/>
          <a:lstStyle>
            <a:lvl1pPr marL="447675" indent="-447675" algn="l" rtl="0" eaLnBrk="1" fontAlgn="base" hangingPunct="1">
              <a:spcBef>
                <a:spcPts val="300"/>
              </a:spcBef>
              <a:spcAft>
                <a:spcPct val="0"/>
              </a:spcAft>
              <a:buClr>
                <a:srgbClr val="CC6600"/>
              </a:buClr>
              <a:buSzPct val="70000"/>
              <a:buFont typeface="Wingdings" panose="05000000000000000000" charset="0"/>
              <a:buChar char="n"/>
              <a:defRPr sz="2800" b="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defRPr>
            </a:lvl1pPr>
            <a:lvl2pPr marL="889000" indent="-440055" algn="l" rtl="0" eaLnBrk="1" fontAlgn="base" hangingPunct="1">
              <a:spcBef>
                <a:spcPts val="300"/>
              </a:spcBef>
              <a:spcAft>
                <a:spcPct val="0"/>
              </a:spcAft>
              <a:buClr>
                <a:schemeClr val="hlink"/>
              </a:buClr>
              <a:buSzPct val="65000"/>
              <a:buFont typeface="Wingdings" panose="05000000000000000000" charset="0"/>
              <a:buChar char="¡"/>
              <a:defRPr sz="2400" b="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2pPr>
            <a:lvl3pPr marL="1294130" indent="-403225" algn="l" rtl="0" eaLnBrk="1" fontAlgn="base" hangingPunct="1">
              <a:spcBef>
                <a:spcPts val="300"/>
              </a:spcBef>
              <a:spcAft>
                <a:spcPct val="0"/>
              </a:spcAft>
              <a:buClr>
                <a:schemeClr val="accent1"/>
              </a:buClr>
              <a:buSzPct val="70000"/>
              <a:buFont typeface="Wingdings" panose="05000000000000000000" pitchFamily="2" charset="2"/>
              <a:buChar char="u"/>
              <a:defRPr kumimoji="1" sz="20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3pPr>
            <a:lvl4pPr marL="1681480" indent="-386080" algn="l" rtl="0" eaLnBrk="1" fontAlgn="base" hangingPunct="1">
              <a:spcBef>
                <a:spcPts val="300"/>
              </a:spcBef>
              <a:spcAft>
                <a:spcPct val="0"/>
              </a:spcAft>
              <a:buClr>
                <a:schemeClr val="hlink"/>
              </a:buClr>
              <a:buSzPct val="75000"/>
              <a:buFont typeface="Wingdings" panose="05000000000000000000" pitchFamily="2" charset="2"/>
              <a:buChar char="p"/>
              <a:defRPr kumimoji="1" sz="18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4pPr>
            <a:lvl5pPr marL="2070100" indent="-387350" algn="l" rtl="0" eaLnBrk="1" fontAlgn="base" hangingPunct="1">
              <a:spcBef>
                <a:spcPts val="300"/>
              </a:spcBef>
              <a:spcAft>
                <a:spcPct val="0"/>
              </a:spcAft>
              <a:buClr>
                <a:schemeClr val="accent1"/>
              </a:buClr>
              <a:buSzPct val="70000"/>
              <a:buFont typeface="Wingdings" panose="05000000000000000000" pitchFamily="2" charset="2"/>
              <a:buChar char="Ø"/>
              <a:defRPr kumimoji="1" sz="1600" b="0">
                <a:solidFill>
                  <a:schemeClr val="tx1"/>
                </a:solidFill>
                <a:latin typeface="Times New Roman" panose="02020603050405020304" pitchFamily="18" charset="0"/>
                <a:ea typeface="仿宋" panose="02010609060101010101" pitchFamily="49" charset="-122"/>
                <a:cs typeface="Times New Roman" panose="02020603050405020304" pitchFamily="18" charset="0"/>
              </a:defRPr>
            </a:lvl5pPr>
            <a:lvl6pPr marL="25273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r>
              <a:rPr lang="en-US" altLang="zh-CN" sz="2200" b="1" dirty="0">
                <a:latin typeface="+mj-ea"/>
                <a:ea typeface="+mj-ea"/>
              </a:rPr>
              <a:t>2</a:t>
            </a:r>
            <a:r>
              <a:rPr lang="zh-CN" altLang="zh-CN" sz="2200" b="1" dirty="0">
                <a:latin typeface="+mj-ea"/>
                <a:ea typeface="+mj-ea"/>
              </a:rPr>
              <a:t>输入</a:t>
            </a:r>
            <a:r>
              <a:rPr lang="zh-CN" altLang="zh-CN" sz="2200" b="1" dirty="0">
                <a:solidFill>
                  <a:srgbClr val="FF0000"/>
                </a:solidFill>
                <a:latin typeface="+mj-ea"/>
                <a:ea typeface="+mj-ea"/>
              </a:rPr>
              <a:t>与非门</a:t>
            </a:r>
            <a:r>
              <a:rPr lang="zh-CN" altLang="en-US" sz="2200" b="1" dirty="0">
                <a:latin typeface="+mj-ea"/>
                <a:ea typeface="+mj-ea"/>
              </a:rPr>
              <a:t>使用</a:t>
            </a:r>
            <a:r>
              <a:rPr lang="zh-CN" altLang="zh-CN" sz="2200" b="1" dirty="0">
                <a:latin typeface="+mj-ea"/>
                <a:ea typeface="+mj-ea"/>
              </a:rPr>
              <a:t>两对</a:t>
            </a:r>
            <a:r>
              <a:rPr lang="en-US" altLang="zh-CN" sz="2200" b="1" dirty="0">
                <a:latin typeface="+mj-ea"/>
                <a:ea typeface="+mj-ea"/>
              </a:rPr>
              <a:t>CMOS</a:t>
            </a:r>
            <a:r>
              <a:rPr lang="zh-CN" altLang="zh-CN" sz="2200" b="1" dirty="0">
                <a:latin typeface="+mj-ea"/>
                <a:ea typeface="+mj-ea"/>
              </a:rPr>
              <a:t>晶体管</a:t>
            </a:r>
            <a:r>
              <a:rPr lang="zh-CN" altLang="en-US" sz="2200" b="1" dirty="0">
                <a:latin typeface="+mj-ea"/>
                <a:ea typeface="+mj-ea"/>
              </a:rPr>
              <a:t>实现</a:t>
            </a:r>
            <a:endParaRPr lang="en-US" altLang="zh-CN" sz="2200" b="1" dirty="0">
              <a:latin typeface="+mj-ea"/>
              <a:ea typeface="+mj-ea"/>
            </a:endParaRPr>
          </a:p>
          <a:p>
            <a:pPr lvl="1"/>
            <a:r>
              <a:rPr lang="en-US" altLang="zh-CN" sz="2200" b="1" dirty="0">
                <a:solidFill>
                  <a:schemeClr val="accent2"/>
                </a:solidFill>
                <a:latin typeface="+mj-ea"/>
                <a:ea typeface="+mj-ea"/>
              </a:rPr>
              <a:t>NMOS</a:t>
            </a:r>
            <a:r>
              <a:rPr lang="zh-CN" altLang="zh-CN" sz="2200" b="1" dirty="0">
                <a:solidFill>
                  <a:schemeClr val="accent2"/>
                </a:solidFill>
                <a:latin typeface="+mj-ea"/>
                <a:ea typeface="+mj-ea"/>
              </a:rPr>
              <a:t>管串联</a:t>
            </a:r>
            <a:endParaRPr lang="en-US" altLang="zh-CN" sz="2200" b="1" dirty="0">
              <a:solidFill>
                <a:schemeClr val="accent2"/>
              </a:solidFill>
              <a:latin typeface="+mj-ea"/>
              <a:ea typeface="+mj-ea"/>
            </a:endParaRPr>
          </a:p>
          <a:p>
            <a:pPr lvl="1"/>
            <a:r>
              <a:rPr lang="en-US" altLang="zh-CN" sz="2200" b="1" dirty="0">
                <a:solidFill>
                  <a:schemeClr val="accent2"/>
                </a:solidFill>
                <a:latin typeface="+mj-ea"/>
                <a:ea typeface="+mj-ea"/>
              </a:rPr>
              <a:t>PMOS</a:t>
            </a:r>
            <a:r>
              <a:rPr lang="zh-CN" altLang="zh-CN" sz="2200" b="1" dirty="0">
                <a:solidFill>
                  <a:schemeClr val="accent2"/>
                </a:solidFill>
                <a:latin typeface="+mj-ea"/>
                <a:ea typeface="+mj-ea"/>
              </a:rPr>
              <a:t>管并联</a:t>
            </a:r>
            <a:endParaRPr lang="zh-CN" altLang="en-US" sz="2200" b="1" kern="0" dirty="0">
              <a:solidFill>
                <a:schemeClr val="accent2"/>
              </a:solidFill>
              <a:latin typeface="+mj-ea"/>
              <a:ea typeface="+mj-e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ppt_x"/>
                                          </p:val>
                                        </p:tav>
                                        <p:tav tm="100000">
                                          <p:val>
                                            <p:strVal val="#ppt_x"/>
                                          </p:val>
                                        </p:tav>
                                      </p:tavLst>
                                    </p:anim>
                                    <p:anim calcmode="lin" valueType="num">
                                      <p:cBhvr additive="base">
                                        <p:cTn id="2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p:txBody>
          <a:bodyPr/>
          <a:lstStyle/>
          <a:p>
            <a:r>
              <a:rPr lang="en-US" altLang="zh-CN" dirty="0"/>
              <a:t>1.3 CMOS</a:t>
            </a:r>
            <a:r>
              <a:rPr lang="zh-CN" altLang="en-US" dirty="0"/>
              <a:t>晶体管</a:t>
            </a:r>
            <a:endParaRPr lang="zh-CN" altLang="en-US" dirty="0"/>
          </a:p>
        </p:txBody>
      </p:sp>
      <p:pic>
        <p:nvPicPr>
          <p:cNvPr id="30724" name="Picture 9"/>
          <p:cNvPicPr>
            <a:picLocks noGrp="1" noChangeAspect="1" noChangeArrowheads="1"/>
          </p:cNvPicPr>
          <p:nvPr>
            <p:ph idx="1"/>
          </p:nvPr>
        </p:nvPicPr>
        <p:blipFill rotWithShape="1">
          <a:blip r:embed="rId1" cstate="print"/>
          <a:srcRect l="61751" t="15935" b="12034"/>
          <a:stretch>
            <a:fillRect/>
          </a:stretch>
        </p:blipFill>
        <p:spPr>
          <a:xfrm>
            <a:off x="179512" y="1268760"/>
            <a:ext cx="4104456" cy="4764050"/>
          </a:xfrm>
          <a:noFill/>
        </p:spPr>
      </p:pic>
      <p:sp>
        <p:nvSpPr>
          <p:cNvPr id="8" name="灯片编号占位符 7"/>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graphicFrame>
        <p:nvGraphicFramePr>
          <p:cNvPr id="10" name="Group 47"/>
          <p:cNvGraphicFramePr>
            <a:graphicFrameLocks noGrp="1"/>
          </p:cNvGraphicFramePr>
          <p:nvPr/>
        </p:nvGraphicFramePr>
        <p:xfrm>
          <a:off x="5784676" y="2255371"/>
          <a:ext cx="2171700" cy="2790827"/>
        </p:xfrm>
        <a:graphic>
          <a:graphicData uri="http://schemas.openxmlformats.org/drawingml/2006/table">
            <a:tbl>
              <a:tblPr/>
              <a:tblGrid>
                <a:gridCol w="723900"/>
                <a:gridCol w="723900"/>
                <a:gridCol w="723900"/>
              </a:tblGrid>
              <a:tr h="557213">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a:t>
                      </a:r>
                      <a:endPar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B</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Z</a:t>
                      </a:r>
                      <a:endPar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561975">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0</a:t>
                      </a:r>
                      <a:endPar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0</a:t>
                      </a:r>
                      <a:endPar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400" b="1" i="0" u="none" strike="noStrike" cap="none" normalizeH="0" baseline="0" dirty="0">
                          <a:ln>
                            <a:noFill/>
                          </a:ln>
                          <a:solidFill>
                            <a:srgbClr val="6666FF"/>
                          </a:solidFill>
                          <a:effectLst/>
                          <a:latin typeface="Arial" panose="020B0604020202020204" pitchFamily="34" charset="0"/>
                        </a:rPr>
                        <a:t>  1</a:t>
                      </a:r>
                      <a:endParaRPr kumimoji="0" lang="zh-CN" altLang="zh-CN" sz="2400" b="1" i="0" u="none" strike="noStrike" cap="none" normalizeH="0" baseline="0" dirty="0">
                        <a:ln>
                          <a:noFill/>
                        </a:ln>
                        <a:solidFill>
                          <a:srgbClr val="6666FF"/>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7213">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0</a:t>
                      </a:r>
                      <a:endPar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a:t>
                      </a:r>
                      <a:endPar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400" b="0" i="0" u="none" strike="noStrike" cap="none" normalizeH="0" baseline="0" dirty="0">
                          <a:ln>
                            <a:noFill/>
                          </a:ln>
                          <a:solidFill>
                            <a:srgbClr val="6666FF"/>
                          </a:solidFill>
                          <a:effectLst/>
                          <a:latin typeface="Arial" panose="020B0604020202020204" pitchFamily="34" charset="0"/>
                        </a:rPr>
                        <a:t>  1</a:t>
                      </a:r>
                      <a:endParaRPr kumimoji="0" lang="zh-CN" altLang="zh-CN" sz="2400" b="0" i="0" u="none" strike="noStrike" cap="none" normalizeH="0" baseline="0" dirty="0">
                        <a:ln>
                          <a:noFill/>
                        </a:ln>
                        <a:solidFill>
                          <a:srgbClr val="6666FF"/>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7213">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0</a:t>
                      </a:r>
                      <a:endPar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400" b="0" i="0" u="none" strike="noStrike" cap="none" normalizeH="0" baseline="0" dirty="0">
                          <a:ln>
                            <a:noFill/>
                          </a:ln>
                          <a:solidFill>
                            <a:srgbClr val="6666FF"/>
                          </a:solidFill>
                          <a:effectLst/>
                          <a:latin typeface="Arial" panose="020B0604020202020204" pitchFamily="34" charset="0"/>
                        </a:rPr>
                        <a:t>  1</a:t>
                      </a:r>
                      <a:endParaRPr kumimoji="0" lang="zh-CN" altLang="zh-CN" sz="2400" b="0" i="0" u="none" strike="noStrike" cap="none" normalizeH="0" baseline="0" dirty="0">
                        <a:ln>
                          <a:noFill/>
                        </a:ln>
                        <a:solidFill>
                          <a:srgbClr val="6666FF"/>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7213">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a:t>
                      </a:r>
                      <a:endPar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400" b="0" i="0" u="none" strike="noStrike" cap="none" normalizeH="0" baseline="0" dirty="0">
                          <a:ln>
                            <a:noFill/>
                          </a:ln>
                          <a:solidFill>
                            <a:srgbClr val="6666FF"/>
                          </a:solidFill>
                          <a:effectLst/>
                          <a:latin typeface="Arial" panose="020B0604020202020204" pitchFamily="34" charset="0"/>
                        </a:rPr>
                        <a:t>  0</a:t>
                      </a:r>
                      <a:endParaRPr kumimoji="0" lang="zh-CN" altLang="zh-CN" sz="2400" b="0" i="0" u="none" strike="noStrike" cap="none" normalizeH="0" baseline="0" dirty="0">
                        <a:ln>
                          <a:noFill/>
                        </a:ln>
                        <a:solidFill>
                          <a:srgbClr val="6666FF"/>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1" name="矩形 10"/>
          <p:cNvSpPr/>
          <p:nvPr/>
        </p:nvSpPr>
        <p:spPr>
          <a:xfrm>
            <a:off x="1680220" y="4097895"/>
            <a:ext cx="954107" cy="400110"/>
          </a:xfrm>
          <a:prstGeom prst="rect">
            <a:avLst/>
          </a:prstGeom>
        </p:spPr>
        <p:txBody>
          <a:bodyPr wrap="none">
            <a:spAutoFit/>
          </a:bodyPr>
          <a:lstStyle/>
          <a:p>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功能表</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矩形 11"/>
          <p:cNvSpPr/>
          <p:nvPr/>
        </p:nvSpPr>
        <p:spPr>
          <a:xfrm>
            <a:off x="1524000" y="6023531"/>
            <a:ext cx="1210588" cy="400110"/>
          </a:xfrm>
          <a:prstGeom prst="rect">
            <a:avLst/>
          </a:prstGeom>
        </p:spPr>
        <p:txBody>
          <a:bodyPr wrap="none">
            <a:spAutoFit/>
          </a:bodyPr>
          <a:lstStyle/>
          <a:p>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逻辑符号</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矩形 1"/>
          <p:cNvSpPr/>
          <p:nvPr/>
        </p:nvSpPr>
        <p:spPr>
          <a:xfrm>
            <a:off x="5676474" y="1759907"/>
            <a:ext cx="2452917" cy="400110"/>
          </a:xfrm>
          <a:prstGeom prst="rect">
            <a:avLst/>
          </a:prstGeom>
        </p:spPr>
        <p:txBody>
          <a:bodyPr wrap="square">
            <a:spAutoFit/>
          </a:bodyPr>
          <a:lstStyle/>
          <a:p>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输入与非门真值表</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p:txBody>
          <a:bodyPr/>
          <a:lstStyle/>
          <a:p>
            <a:r>
              <a:rPr lang="en-US" altLang="zh-CN" dirty="0"/>
              <a:t>1.3 CMOS</a:t>
            </a:r>
            <a:r>
              <a:rPr lang="zh-CN" altLang="en-US" dirty="0"/>
              <a:t>晶体管</a:t>
            </a:r>
            <a:endParaRPr lang="zh-CN" altLang="en-US" dirty="0"/>
          </a:p>
        </p:txBody>
      </p:sp>
      <p:pic>
        <p:nvPicPr>
          <p:cNvPr id="35844" name="Picture 9"/>
          <p:cNvPicPr>
            <a:picLocks noGrp="1" noChangeAspect="1" noChangeArrowheads="1"/>
          </p:cNvPicPr>
          <p:nvPr>
            <p:ph idx="1"/>
          </p:nvPr>
        </p:nvPicPr>
        <p:blipFill>
          <a:blip r:embed="rId1" cstate="print"/>
          <a:srcRect/>
          <a:stretch>
            <a:fillRect/>
          </a:stretch>
        </p:blipFill>
        <p:spPr>
          <a:xfrm>
            <a:off x="546004" y="2004164"/>
            <a:ext cx="7310413" cy="4062460"/>
          </a:xfrm>
        </p:spPr>
      </p:pic>
      <p:sp>
        <p:nvSpPr>
          <p:cNvPr id="9" name="灯片编号占位符 8"/>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27655" name="Text Box 7"/>
          <p:cNvSpPr txBox="1">
            <a:spLocks noChangeArrowheads="1"/>
          </p:cNvSpPr>
          <p:nvPr/>
        </p:nvSpPr>
        <p:spPr bwMode="auto">
          <a:xfrm>
            <a:off x="5218112" y="6114689"/>
            <a:ext cx="3311525" cy="396875"/>
          </a:xfrm>
          <a:prstGeom prst="rect">
            <a:avLst/>
          </a:prstGeom>
          <a:solidFill>
            <a:schemeClr val="folHlink"/>
          </a:solidFill>
          <a:ln w="9525">
            <a:noFill/>
            <a:miter lim="800000"/>
          </a:ln>
        </p:spPr>
        <p:txBody>
          <a:bodyPr>
            <a:spAutoFit/>
          </a:bodyPr>
          <a:lstStyle/>
          <a:p>
            <a:pPr>
              <a:spcBef>
                <a:spcPct val="50000"/>
              </a:spcBef>
            </a:pPr>
            <a:r>
              <a:rPr lang="en-US" altLang="zh-CN" sz="2000" dirty="0">
                <a:solidFill>
                  <a:schemeClr val="accent2"/>
                </a:solidFill>
                <a:latin typeface="微软雅黑" panose="020B0503020204020204" pitchFamily="34" charset="-122"/>
                <a:ea typeface="微软雅黑" panose="020B0503020204020204" pitchFamily="34" charset="-122"/>
              </a:rPr>
              <a:t>CMOS</a:t>
            </a:r>
            <a:r>
              <a:rPr lang="zh-CN" altLang="en-US" sz="2000" dirty="0">
                <a:solidFill>
                  <a:schemeClr val="accent2"/>
                </a:solidFill>
                <a:latin typeface="微软雅黑" panose="020B0503020204020204" pitchFamily="34" charset="-122"/>
                <a:ea typeface="微软雅黑" panose="020B0503020204020204" pitchFamily="34" charset="-122"/>
              </a:rPr>
              <a:t>的或门如何得到？</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
        <p:nvSpPr>
          <p:cNvPr id="11" name="矩形 10"/>
          <p:cNvSpPr/>
          <p:nvPr/>
        </p:nvSpPr>
        <p:spPr>
          <a:xfrm>
            <a:off x="2083476" y="6120368"/>
            <a:ext cx="954107" cy="400110"/>
          </a:xfrm>
          <a:prstGeom prst="rect">
            <a:avLst/>
          </a:prstGeom>
        </p:spPr>
        <p:txBody>
          <a:bodyPr wrap="none">
            <a:spAutoFit/>
          </a:bodyPr>
          <a:lstStyle/>
          <a:p>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原理</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图</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矩形 11"/>
          <p:cNvSpPr/>
          <p:nvPr/>
        </p:nvSpPr>
        <p:spPr>
          <a:xfrm>
            <a:off x="5959978" y="1763231"/>
            <a:ext cx="954107" cy="400110"/>
          </a:xfrm>
          <a:prstGeom prst="rect">
            <a:avLst/>
          </a:prstGeom>
        </p:spPr>
        <p:txBody>
          <a:bodyPr wrap="none">
            <a:spAutoFit/>
          </a:bodyPr>
          <a:lstStyle/>
          <a:p>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功能表</a:t>
            </a:r>
            <a:endParaRPr lang="zh-CN" altLang="en-US" sz="2000" dirty="0">
              <a:latin typeface="微软雅黑" panose="020B0503020204020204" pitchFamily="34" charset="-122"/>
              <a:ea typeface="微软雅黑" panose="020B0503020204020204" pitchFamily="34" charset="-122"/>
            </a:endParaRPr>
          </a:p>
        </p:txBody>
      </p:sp>
      <p:sp>
        <p:nvSpPr>
          <p:cNvPr id="13" name="矩形 12"/>
          <p:cNvSpPr/>
          <p:nvPr/>
        </p:nvSpPr>
        <p:spPr>
          <a:xfrm>
            <a:off x="5831738" y="5490492"/>
            <a:ext cx="1210588" cy="400110"/>
          </a:xfrm>
          <a:prstGeom prst="rect">
            <a:avLst/>
          </a:prstGeom>
        </p:spPr>
        <p:txBody>
          <a:bodyPr wrap="none">
            <a:spAutoFit/>
          </a:bodyPr>
          <a:lstStyle/>
          <a:p>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逻辑符号</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 name="内容占位符 2"/>
          <p:cNvSpPr txBox="1"/>
          <p:nvPr/>
        </p:nvSpPr>
        <p:spPr bwMode="auto">
          <a:xfrm>
            <a:off x="401427" y="873657"/>
            <a:ext cx="5773906" cy="1356410"/>
          </a:xfrm>
          <a:prstGeom prst="rect">
            <a:avLst/>
          </a:prstGeom>
          <a:noFill/>
          <a:ln>
            <a:noFill/>
          </a:ln>
        </p:spPr>
        <p:txBody>
          <a:bodyPr vert="horz" wrap="square" lIns="91440" tIns="45720" rIns="91440" bIns="45720" numCol="1" anchor="t" anchorCtr="0" compatLnSpc="1"/>
          <a:lstStyle>
            <a:lvl1pPr marL="447675" indent="-447675" algn="l" rtl="0" eaLnBrk="1" fontAlgn="base" hangingPunct="1">
              <a:spcBef>
                <a:spcPts val="300"/>
              </a:spcBef>
              <a:spcAft>
                <a:spcPct val="0"/>
              </a:spcAft>
              <a:buClr>
                <a:srgbClr val="CC6600"/>
              </a:buClr>
              <a:buSzPct val="70000"/>
              <a:buFont typeface="Wingdings" panose="05000000000000000000" charset="0"/>
              <a:buChar char="n"/>
              <a:defRPr sz="2800" b="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defRPr>
            </a:lvl1pPr>
            <a:lvl2pPr marL="889000" indent="-440055" algn="l" rtl="0" eaLnBrk="1" fontAlgn="base" hangingPunct="1">
              <a:spcBef>
                <a:spcPts val="300"/>
              </a:spcBef>
              <a:spcAft>
                <a:spcPct val="0"/>
              </a:spcAft>
              <a:buClr>
                <a:schemeClr val="hlink"/>
              </a:buClr>
              <a:buSzPct val="65000"/>
              <a:buFont typeface="Wingdings" panose="05000000000000000000" charset="0"/>
              <a:buChar char="¡"/>
              <a:defRPr sz="2400" b="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2pPr>
            <a:lvl3pPr marL="1294130" indent="-403225" algn="l" rtl="0" eaLnBrk="1" fontAlgn="base" hangingPunct="1">
              <a:spcBef>
                <a:spcPts val="300"/>
              </a:spcBef>
              <a:spcAft>
                <a:spcPct val="0"/>
              </a:spcAft>
              <a:buClr>
                <a:schemeClr val="accent1"/>
              </a:buClr>
              <a:buSzPct val="70000"/>
              <a:buFont typeface="Wingdings" panose="05000000000000000000" pitchFamily="2" charset="2"/>
              <a:buChar char="u"/>
              <a:defRPr kumimoji="1" sz="20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3pPr>
            <a:lvl4pPr marL="1681480" indent="-386080" algn="l" rtl="0" eaLnBrk="1" fontAlgn="base" hangingPunct="1">
              <a:spcBef>
                <a:spcPts val="300"/>
              </a:spcBef>
              <a:spcAft>
                <a:spcPct val="0"/>
              </a:spcAft>
              <a:buClr>
                <a:schemeClr val="hlink"/>
              </a:buClr>
              <a:buSzPct val="75000"/>
              <a:buFont typeface="Wingdings" panose="05000000000000000000" pitchFamily="2" charset="2"/>
              <a:buChar char="p"/>
              <a:defRPr kumimoji="1" sz="18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4pPr>
            <a:lvl5pPr marL="2070100" indent="-387350" algn="l" rtl="0" eaLnBrk="1" fontAlgn="base" hangingPunct="1">
              <a:spcBef>
                <a:spcPts val="300"/>
              </a:spcBef>
              <a:spcAft>
                <a:spcPct val="0"/>
              </a:spcAft>
              <a:buClr>
                <a:schemeClr val="accent1"/>
              </a:buClr>
              <a:buSzPct val="70000"/>
              <a:buFont typeface="Wingdings" panose="05000000000000000000" pitchFamily="2" charset="2"/>
              <a:buChar char="Ø"/>
              <a:defRPr kumimoji="1" sz="1600" b="0">
                <a:solidFill>
                  <a:schemeClr val="tx1"/>
                </a:solidFill>
                <a:latin typeface="Times New Roman" panose="02020603050405020304" pitchFamily="18" charset="0"/>
                <a:ea typeface="仿宋" panose="02010609060101010101" pitchFamily="49" charset="-122"/>
                <a:cs typeface="Times New Roman" panose="02020603050405020304" pitchFamily="18" charset="0"/>
              </a:defRPr>
            </a:lvl5pPr>
            <a:lvl6pPr marL="25273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r>
              <a:rPr lang="en-US" altLang="zh-CN" sz="2200" b="1" dirty="0">
                <a:latin typeface="+mj-ea"/>
                <a:ea typeface="+mj-ea"/>
              </a:rPr>
              <a:t>2</a:t>
            </a:r>
            <a:r>
              <a:rPr lang="zh-CN" altLang="zh-CN" sz="2200" b="1" dirty="0">
                <a:latin typeface="+mj-ea"/>
                <a:ea typeface="+mj-ea"/>
              </a:rPr>
              <a:t>输入</a:t>
            </a:r>
            <a:r>
              <a:rPr lang="zh-CN" altLang="en-US" sz="2200" b="1" dirty="0">
                <a:solidFill>
                  <a:srgbClr val="FF0000"/>
                </a:solidFill>
                <a:latin typeface="+mj-ea"/>
                <a:ea typeface="+mj-ea"/>
              </a:rPr>
              <a:t>或</a:t>
            </a:r>
            <a:r>
              <a:rPr lang="zh-CN" altLang="zh-CN" sz="2200" b="1" dirty="0">
                <a:solidFill>
                  <a:srgbClr val="FF0000"/>
                </a:solidFill>
                <a:latin typeface="+mj-ea"/>
                <a:ea typeface="+mj-ea"/>
              </a:rPr>
              <a:t>非门</a:t>
            </a:r>
            <a:r>
              <a:rPr lang="zh-CN" altLang="en-US" sz="2200" b="1" dirty="0">
                <a:latin typeface="+mj-ea"/>
                <a:ea typeface="+mj-ea"/>
              </a:rPr>
              <a:t>使用</a:t>
            </a:r>
            <a:r>
              <a:rPr lang="zh-CN" altLang="zh-CN" sz="2200" b="1" dirty="0">
                <a:latin typeface="+mj-ea"/>
                <a:ea typeface="+mj-ea"/>
              </a:rPr>
              <a:t>两对</a:t>
            </a:r>
            <a:r>
              <a:rPr lang="en-US" altLang="zh-CN" sz="2200" b="1" dirty="0">
                <a:latin typeface="+mj-ea"/>
                <a:ea typeface="+mj-ea"/>
              </a:rPr>
              <a:t>CMOS</a:t>
            </a:r>
            <a:r>
              <a:rPr lang="zh-CN" altLang="zh-CN" sz="2200" b="1" dirty="0">
                <a:latin typeface="+mj-ea"/>
                <a:ea typeface="+mj-ea"/>
              </a:rPr>
              <a:t>晶体管</a:t>
            </a:r>
            <a:r>
              <a:rPr lang="zh-CN" altLang="en-US" sz="2200" b="1" dirty="0">
                <a:latin typeface="+mj-ea"/>
                <a:ea typeface="+mj-ea"/>
              </a:rPr>
              <a:t>实现</a:t>
            </a:r>
            <a:endParaRPr lang="en-US" altLang="zh-CN" sz="2200" b="1" dirty="0">
              <a:latin typeface="+mj-ea"/>
              <a:ea typeface="+mj-ea"/>
            </a:endParaRPr>
          </a:p>
          <a:p>
            <a:pPr lvl="1"/>
            <a:r>
              <a:rPr lang="en-US" altLang="zh-CN" sz="2200" b="1" dirty="0">
                <a:solidFill>
                  <a:schemeClr val="accent2"/>
                </a:solidFill>
                <a:latin typeface="+mj-ea"/>
                <a:ea typeface="+mj-ea"/>
              </a:rPr>
              <a:t>NMOS</a:t>
            </a:r>
            <a:r>
              <a:rPr lang="zh-CN" altLang="zh-CN" sz="2200" b="1" dirty="0">
                <a:solidFill>
                  <a:schemeClr val="accent2"/>
                </a:solidFill>
                <a:latin typeface="+mj-ea"/>
                <a:ea typeface="+mj-ea"/>
              </a:rPr>
              <a:t>管</a:t>
            </a:r>
            <a:r>
              <a:rPr lang="zh-CN" altLang="en-US" sz="2200" b="1" dirty="0">
                <a:solidFill>
                  <a:schemeClr val="accent2"/>
                </a:solidFill>
                <a:latin typeface="+mj-ea"/>
                <a:ea typeface="+mj-ea"/>
              </a:rPr>
              <a:t>并</a:t>
            </a:r>
            <a:r>
              <a:rPr lang="zh-CN" altLang="zh-CN" sz="2200" b="1" dirty="0">
                <a:solidFill>
                  <a:schemeClr val="accent2"/>
                </a:solidFill>
                <a:latin typeface="+mj-ea"/>
                <a:ea typeface="+mj-ea"/>
              </a:rPr>
              <a:t>联</a:t>
            </a:r>
            <a:endParaRPr lang="en-US" altLang="zh-CN" sz="2200" b="1" dirty="0">
              <a:solidFill>
                <a:schemeClr val="accent2"/>
              </a:solidFill>
              <a:latin typeface="+mj-ea"/>
              <a:ea typeface="+mj-ea"/>
            </a:endParaRPr>
          </a:p>
          <a:p>
            <a:pPr lvl="1"/>
            <a:r>
              <a:rPr lang="en-US" altLang="zh-CN" sz="2200" b="1" dirty="0">
                <a:solidFill>
                  <a:schemeClr val="accent2"/>
                </a:solidFill>
                <a:latin typeface="+mj-ea"/>
                <a:ea typeface="+mj-ea"/>
              </a:rPr>
              <a:t>PMOS</a:t>
            </a:r>
            <a:r>
              <a:rPr lang="zh-CN" altLang="zh-CN" sz="2200" b="1" dirty="0">
                <a:solidFill>
                  <a:schemeClr val="accent2"/>
                </a:solidFill>
                <a:latin typeface="+mj-ea"/>
                <a:ea typeface="+mj-ea"/>
              </a:rPr>
              <a:t>管</a:t>
            </a:r>
            <a:r>
              <a:rPr lang="zh-CN" altLang="en-US" sz="2200" b="1" dirty="0">
                <a:solidFill>
                  <a:schemeClr val="accent2"/>
                </a:solidFill>
                <a:latin typeface="+mj-ea"/>
                <a:ea typeface="+mj-ea"/>
              </a:rPr>
              <a:t>串</a:t>
            </a:r>
            <a:r>
              <a:rPr lang="zh-CN" altLang="zh-CN" sz="2200" b="1" dirty="0">
                <a:solidFill>
                  <a:schemeClr val="accent2"/>
                </a:solidFill>
                <a:latin typeface="+mj-ea"/>
                <a:ea typeface="+mj-ea"/>
              </a:rPr>
              <a:t>联</a:t>
            </a:r>
            <a:endParaRPr lang="zh-CN" altLang="en-US" sz="2200" b="1" kern="0" dirty="0">
              <a:solidFill>
                <a:schemeClr val="accent2"/>
              </a:solidFill>
              <a:latin typeface="+mj-ea"/>
              <a:ea typeface="+mj-ea"/>
            </a:endParaRPr>
          </a:p>
        </p:txBody>
      </p:sp>
      <p:pic>
        <p:nvPicPr>
          <p:cNvPr id="2" name="图片 1"/>
          <p:cNvPicPr>
            <a:picLocks noChangeAspect="1"/>
          </p:cNvPicPr>
          <p:nvPr/>
        </p:nvPicPr>
        <p:blipFill>
          <a:blip r:embed="rId2"/>
          <a:stretch>
            <a:fillRect/>
          </a:stretch>
        </p:blipFill>
        <p:spPr>
          <a:xfrm>
            <a:off x="4388929" y="2187373"/>
            <a:ext cx="4541520" cy="2410826"/>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655"/>
                                        </p:tgtEl>
                                        <p:attrNameLst>
                                          <p:attrName>style.visibility</p:attrName>
                                        </p:attrNameLst>
                                      </p:cBhvr>
                                      <p:to>
                                        <p:strVal val="visible"/>
                                      </p:to>
                                    </p:set>
                                    <p:animEffect transition="in" filter="blinds(horizontal)">
                                      <p:cBhvr>
                                        <p:cTn id="7" dur="500"/>
                                        <p:tgtEl>
                                          <p:spTgt spid="276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p:txBody>
          <a:bodyPr/>
          <a:lstStyle/>
          <a:p>
            <a:r>
              <a:rPr lang="en-US" altLang="zh-CN" dirty="0"/>
              <a:t>1.3 CMOS</a:t>
            </a:r>
            <a:r>
              <a:rPr lang="zh-CN" altLang="en-US" dirty="0"/>
              <a:t>晶体管</a:t>
            </a:r>
            <a:endParaRPr lang="zh-CN" altLang="en-US" dirty="0"/>
          </a:p>
        </p:txBody>
      </p:sp>
      <p:pic>
        <p:nvPicPr>
          <p:cNvPr id="32772" name="Picture 5" descr="cmos3nd"/>
          <p:cNvPicPr>
            <a:picLocks noGrp="1" noChangeAspect="1" noChangeArrowheads="1"/>
          </p:cNvPicPr>
          <p:nvPr>
            <p:ph idx="1"/>
          </p:nvPr>
        </p:nvPicPr>
        <p:blipFill>
          <a:blip r:embed="rId1" cstate="print"/>
          <a:stretch>
            <a:fillRect/>
          </a:stretch>
        </p:blipFill>
        <p:spPr>
          <a:xfrm>
            <a:off x="313744" y="2046057"/>
            <a:ext cx="8592800" cy="4375921"/>
          </a:xfrm>
          <a:noFill/>
        </p:spPr>
      </p:pic>
      <p:sp>
        <p:nvSpPr>
          <p:cNvPr id="10" name="灯片编号占位符 9"/>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2" name="矩形 1"/>
          <p:cNvSpPr/>
          <p:nvPr/>
        </p:nvSpPr>
        <p:spPr>
          <a:xfrm>
            <a:off x="6111667" y="6097679"/>
            <a:ext cx="2843808" cy="3920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399902" y="6421978"/>
            <a:ext cx="1702710" cy="400110"/>
          </a:xfrm>
          <a:prstGeom prst="rect">
            <a:avLst/>
          </a:prstGeom>
        </p:spPr>
        <p:txBody>
          <a:bodyPr wrap="none">
            <a:spAutoFit/>
          </a:bodyPr>
          <a:lstStyle/>
          <a:p>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3 </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输入与非门</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内容占位符 2"/>
          <p:cNvSpPr txBox="1"/>
          <p:nvPr/>
        </p:nvSpPr>
        <p:spPr bwMode="auto">
          <a:xfrm>
            <a:off x="313744" y="894035"/>
            <a:ext cx="8641731" cy="1356410"/>
          </a:xfrm>
          <a:prstGeom prst="rect">
            <a:avLst/>
          </a:prstGeom>
          <a:noFill/>
          <a:ln>
            <a:noFill/>
          </a:ln>
        </p:spPr>
        <p:txBody>
          <a:bodyPr vert="horz" wrap="square" lIns="91440" tIns="45720" rIns="91440" bIns="45720" numCol="1" anchor="t" anchorCtr="0" compatLnSpc="1"/>
          <a:lstStyle>
            <a:lvl1pPr marL="447675" indent="-447675" algn="l" rtl="0" eaLnBrk="1" fontAlgn="base" hangingPunct="1">
              <a:spcBef>
                <a:spcPts val="300"/>
              </a:spcBef>
              <a:spcAft>
                <a:spcPct val="0"/>
              </a:spcAft>
              <a:buClr>
                <a:srgbClr val="CC6600"/>
              </a:buClr>
              <a:buSzPct val="70000"/>
              <a:buFont typeface="Wingdings" panose="05000000000000000000" charset="0"/>
              <a:buChar char="n"/>
              <a:defRPr sz="2800" b="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defRPr>
            </a:lvl1pPr>
            <a:lvl2pPr marL="889000" indent="-440055" algn="l" rtl="0" eaLnBrk="1" fontAlgn="base" hangingPunct="1">
              <a:spcBef>
                <a:spcPts val="300"/>
              </a:spcBef>
              <a:spcAft>
                <a:spcPct val="0"/>
              </a:spcAft>
              <a:buClr>
                <a:schemeClr val="hlink"/>
              </a:buClr>
              <a:buSzPct val="65000"/>
              <a:buFont typeface="Wingdings" panose="05000000000000000000" charset="0"/>
              <a:buChar char="¡"/>
              <a:defRPr sz="2400" b="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2pPr>
            <a:lvl3pPr marL="1294130" indent="-403225" algn="l" rtl="0" eaLnBrk="1" fontAlgn="base" hangingPunct="1">
              <a:spcBef>
                <a:spcPts val="300"/>
              </a:spcBef>
              <a:spcAft>
                <a:spcPct val="0"/>
              </a:spcAft>
              <a:buClr>
                <a:schemeClr val="accent1"/>
              </a:buClr>
              <a:buSzPct val="70000"/>
              <a:buFont typeface="Wingdings" panose="05000000000000000000" pitchFamily="2" charset="2"/>
              <a:buChar char="u"/>
              <a:defRPr kumimoji="1" sz="20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3pPr>
            <a:lvl4pPr marL="1681480" indent="-386080" algn="l" rtl="0" eaLnBrk="1" fontAlgn="base" hangingPunct="1">
              <a:spcBef>
                <a:spcPts val="300"/>
              </a:spcBef>
              <a:spcAft>
                <a:spcPct val="0"/>
              </a:spcAft>
              <a:buClr>
                <a:schemeClr val="hlink"/>
              </a:buClr>
              <a:buSzPct val="75000"/>
              <a:buFont typeface="Wingdings" panose="05000000000000000000" pitchFamily="2" charset="2"/>
              <a:buChar char="p"/>
              <a:defRPr kumimoji="1" sz="18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4pPr>
            <a:lvl5pPr marL="2070100" indent="-387350" algn="l" rtl="0" eaLnBrk="1" fontAlgn="base" hangingPunct="1">
              <a:spcBef>
                <a:spcPts val="300"/>
              </a:spcBef>
              <a:spcAft>
                <a:spcPct val="0"/>
              </a:spcAft>
              <a:buClr>
                <a:schemeClr val="accent1"/>
              </a:buClr>
              <a:buSzPct val="70000"/>
              <a:buFont typeface="Wingdings" panose="05000000000000000000" pitchFamily="2" charset="2"/>
              <a:buChar char="Ø"/>
              <a:defRPr kumimoji="1" sz="1600" b="0">
                <a:solidFill>
                  <a:schemeClr val="tx1"/>
                </a:solidFill>
                <a:latin typeface="Times New Roman" panose="02020603050405020304" pitchFamily="18" charset="0"/>
                <a:ea typeface="仿宋" panose="02010609060101010101" pitchFamily="49" charset="-122"/>
                <a:cs typeface="Times New Roman" panose="02020603050405020304" pitchFamily="18" charset="0"/>
              </a:defRPr>
            </a:lvl5pPr>
            <a:lvl6pPr marL="25273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r>
              <a:rPr lang="zh-CN" altLang="zh-CN" sz="2200" b="1" dirty="0"/>
              <a:t>使用</a:t>
            </a:r>
            <a:r>
              <a:rPr lang="en-US" altLang="zh-CN" sz="2200" b="1" dirty="0">
                <a:solidFill>
                  <a:srgbClr val="00B0F0"/>
                </a:solidFill>
              </a:rPr>
              <a:t>k</a:t>
            </a:r>
            <a:r>
              <a:rPr lang="zh-CN" altLang="zh-CN" sz="2200" b="1" dirty="0"/>
              <a:t>对</a:t>
            </a:r>
            <a:r>
              <a:rPr lang="en-US" altLang="zh-CN" sz="2200" b="1" dirty="0"/>
              <a:t>NMOS</a:t>
            </a:r>
            <a:r>
              <a:rPr lang="zh-CN" altLang="zh-CN" sz="2200" b="1" dirty="0"/>
              <a:t>和</a:t>
            </a:r>
            <a:r>
              <a:rPr lang="en-US" altLang="zh-CN" sz="2200" b="1" dirty="0"/>
              <a:t>PMOS</a:t>
            </a:r>
            <a:r>
              <a:rPr lang="zh-CN" altLang="zh-CN" sz="2200" b="1" dirty="0"/>
              <a:t>晶体管通过串</a:t>
            </a:r>
            <a:r>
              <a:rPr lang="en-US" altLang="zh-CN" sz="2200" b="1" dirty="0"/>
              <a:t>-</a:t>
            </a:r>
            <a:r>
              <a:rPr lang="zh-CN" altLang="zh-CN" sz="2200" b="1" dirty="0"/>
              <a:t>并联结构构造一个</a:t>
            </a:r>
            <a:r>
              <a:rPr lang="en-US" altLang="zh-CN" sz="2200" b="1" dirty="0">
                <a:solidFill>
                  <a:srgbClr val="00B0F0"/>
                </a:solidFill>
              </a:rPr>
              <a:t>k</a:t>
            </a:r>
            <a:r>
              <a:rPr lang="zh-CN" altLang="zh-CN" sz="2200" b="1" dirty="0"/>
              <a:t>输入</a:t>
            </a:r>
            <a:r>
              <a:rPr lang="en-US" altLang="zh-CN" sz="2200" b="1" dirty="0"/>
              <a:t>CMOS</a:t>
            </a:r>
            <a:r>
              <a:rPr lang="zh-CN" altLang="zh-CN" sz="2200" b="1" dirty="0"/>
              <a:t>与非门</a:t>
            </a:r>
            <a:r>
              <a:rPr lang="en-US" altLang="zh-CN" sz="2200" b="1" dirty="0"/>
              <a:t>/</a:t>
            </a:r>
            <a:r>
              <a:rPr lang="zh-CN" altLang="zh-CN" sz="2200" b="1" dirty="0"/>
              <a:t>或非门</a:t>
            </a:r>
            <a:endParaRPr lang="en-US" altLang="zh-CN" sz="2200" b="1" dirty="0"/>
          </a:p>
          <a:p>
            <a:r>
              <a:rPr lang="en-US" altLang="zh-CN" sz="2200" b="1" dirty="0"/>
              <a:t>3</a:t>
            </a:r>
            <a:r>
              <a:rPr lang="zh-CN" altLang="zh-CN" sz="2200" b="1" dirty="0"/>
              <a:t>输入</a:t>
            </a:r>
            <a:r>
              <a:rPr lang="zh-CN" altLang="zh-CN" sz="2200" b="1" dirty="0">
                <a:solidFill>
                  <a:srgbClr val="FF0000"/>
                </a:solidFill>
              </a:rPr>
              <a:t>与非门</a:t>
            </a:r>
            <a:r>
              <a:rPr lang="zh-CN" altLang="zh-CN" sz="2200" b="1" dirty="0"/>
              <a:t>包含</a:t>
            </a:r>
            <a:r>
              <a:rPr lang="en-US" altLang="zh-CN" sz="2200" b="1" dirty="0"/>
              <a:t>3</a:t>
            </a:r>
            <a:r>
              <a:rPr lang="zh-CN" altLang="zh-CN" sz="2200" b="1" dirty="0"/>
              <a:t>对</a:t>
            </a:r>
            <a:r>
              <a:rPr lang="en-US" altLang="zh-CN" sz="2200" b="1" dirty="0"/>
              <a:t>CMOS</a:t>
            </a:r>
            <a:r>
              <a:rPr lang="zh-CN" altLang="zh-CN" sz="2200" b="1" dirty="0"/>
              <a:t>晶体管</a:t>
            </a:r>
            <a:endParaRPr lang="zh-CN" altLang="en-US" sz="2200" b="1" kern="0" dirty="0"/>
          </a:p>
          <a:p>
            <a:pPr lvl="1"/>
            <a:endParaRPr lang="zh-CN" altLang="en-US" sz="1600" kern="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p:txBody>
          <a:bodyPr/>
          <a:lstStyle/>
          <a:p>
            <a:r>
              <a:rPr lang="en-US" altLang="zh-CN" dirty="0"/>
              <a:t>1.3 CMOS</a:t>
            </a:r>
            <a:r>
              <a:rPr lang="zh-CN" altLang="en-US" dirty="0"/>
              <a:t>晶体管</a:t>
            </a:r>
            <a:endParaRPr lang="zh-CN" altLang="en-US" dirty="0"/>
          </a:p>
        </p:txBody>
      </p:sp>
      <p:pic>
        <p:nvPicPr>
          <p:cNvPr id="33796" name="Picture 5" descr="cmos8nd"/>
          <p:cNvPicPr>
            <a:picLocks noGrp="1" noChangeAspect="1" noChangeArrowheads="1"/>
          </p:cNvPicPr>
          <p:nvPr>
            <p:ph idx="1"/>
          </p:nvPr>
        </p:nvPicPr>
        <p:blipFill rotWithShape="1">
          <a:blip r:embed="rId1" cstate="print"/>
          <a:srcRect b="13722"/>
          <a:stretch>
            <a:fillRect/>
          </a:stretch>
        </p:blipFill>
        <p:spPr>
          <a:xfrm>
            <a:off x="269311" y="2641424"/>
            <a:ext cx="8473856" cy="3327227"/>
          </a:xfrm>
          <a:noFill/>
        </p:spPr>
      </p:pic>
      <p:sp>
        <p:nvSpPr>
          <p:cNvPr id="8" name="灯片编号占位符 7"/>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11" name="矩形 10"/>
          <p:cNvSpPr/>
          <p:nvPr/>
        </p:nvSpPr>
        <p:spPr>
          <a:xfrm>
            <a:off x="4278377" y="6089590"/>
            <a:ext cx="1702710" cy="400110"/>
          </a:xfrm>
          <a:prstGeom prst="rect">
            <a:avLst/>
          </a:prstGeom>
        </p:spPr>
        <p:txBody>
          <a:bodyPr wrap="none">
            <a:spAutoFit/>
          </a:bodyPr>
          <a:lstStyle/>
          <a:p>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8 </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输入与非门</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内容占位符 2"/>
          <p:cNvSpPr txBox="1"/>
          <p:nvPr/>
        </p:nvSpPr>
        <p:spPr bwMode="auto">
          <a:xfrm>
            <a:off x="338796" y="856456"/>
            <a:ext cx="8692470" cy="1784969"/>
          </a:xfrm>
          <a:prstGeom prst="rect">
            <a:avLst/>
          </a:prstGeom>
          <a:noFill/>
          <a:ln>
            <a:noFill/>
          </a:ln>
        </p:spPr>
        <p:txBody>
          <a:bodyPr vert="horz" wrap="square" lIns="91440" tIns="45720" rIns="91440" bIns="45720" numCol="1" anchor="t" anchorCtr="0" compatLnSpc="1"/>
          <a:lstStyle>
            <a:lvl1pPr marL="447675" indent="-447675" algn="l" rtl="0" eaLnBrk="1" fontAlgn="base" hangingPunct="1">
              <a:spcBef>
                <a:spcPts val="300"/>
              </a:spcBef>
              <a:spcAft>
                <a:spcPct val="0"/>
              </a:spcAft>
              <a:buClr>
                <a:srgbClr val="CC6600"/>
              </a:buClr>
              <a:buSzPct val="70000"/>
              <a:buFont typeface="Wingdings" panose="05000000000000000000" charset="0"/>
              <a:buChar char="n"/>
              <a:defRPr sz="2800" b="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defRPr>
            </a:lvl1pPr>
            <a:lvl2pPr marL="889000" indent="-440055" algn="l" rtl="0" eaLnBrk="1" fontAlgn="base" hangingPunct="1">
              <a:spcBef>
                <a:spcPts val="300"/>
              </a:spcBef>
              <a:spcAft>
                <a:spcPct val="0"/>
              </a:spcAft>
              <a:buClr>
                <a:schemeClr val="hlink"/>
              </a:buClr>
              <a:buSzPct val="65000"/>
              <a:buFont typeface="Wingdings" panose="05000000000000000000" charset="0"/>
              <a:buChar char="¡"/>
              <a:defRPr sz="2400" b="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2pPr>
            <a:lvl3pPr marL="1294130" indent="-403225" algn="l" rtl="0" eaLnBrk="1" fontAlgn="base" hangingPunct="1">
              <a:spcBef>
                <a:spcPts val="300"/>
              </a:spcBef>
              <a:spcAft>
                <a:spcPct val="0"/>
              </a:spcAft>
              <a:buClr>
                <a:schemeClr val="accent1"/>
              </a:buClr>
              <a:buSzPct val="70000"/>
              <a:buFont typeface="Wingdings" panose="05000000000000000000" pitchFamily="2" charset="2"/>
              <a:buChar char="u"/>
              <a:defRPr kumimoji="1" sz="20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3pPr>
            <a:lvl4pPr marL="1681480" indent="-386080" algn="l" rtl="0" eaLnBrk="1" fontAlgn="base" hangingPunct="1">
              <a:spcBef>
                <a:spcPts val="300"/>
              </a:spcBef>
              <a:spcAft>
                <a:spcPct val="0"/>
              </a:spcAft>
              <a:buClr>
                <a:schemeClr val="hlink"/>
              </a:buClr>
              <a:buSzPct val="75000"/>
              <a:buFont typeface="Wingdings" panose="05000000000000000000" pitchFamily="2" charset="2"/>
              <a:buChar char="p"/>
              <a:defRPr kumimoji="1" sz="18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4pPr>
            <a:lvl5pPr marL="2070100" indent="-387350" algn="l" rtl="0" eaLnBrk="1" fontAlgn="base" hangingPunct="1">
              <a:spcBef>
                <a:spcPts val="300"/>
              </a:spcBef>
              <a:spcAft>
                <a:spcPct val="0"/>
              </a:spcAft>
              <a:buClr>
                <a:schemeClr val="accent1"/>
              </a:buClr>
              <a:buSzPct val="70000"/>
              <a:buFont typeface="Wingdings" panose="05000000000000000000" pitchFamily="2" charset="2"/>
              <a:buChar char="Ø"/>
              <a:defRPr kumimoji="1" sz="1600" b="0">
                <a:solidFill>
                  <a:schemeClr val="tx1"/>
                </a:solidFill>
                <a:latin typeface="Times New Roman" panose="02020603050405020304" pitchFamily="18" charset="0"/>
                <a:ea typeface="仿宋" panose="02010609060101010101" pitchFamily="49" charset="-122"/>
                <a:cs typeface="Times New Roman" panose="02020603050405020304" pitchFamily="18" charset="0"/>
              </a:defRPr>
            </a:lvl5pPr>
            <a:lvl6pPr marL="25273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r>
              <a:rPr lang="zh-CN" altLang="en-US" sz="2200" b="1" dirty="0"/>
              <a:t>受扇入系数等电气特性的限制，输入端不能无限制增加。</a:t>
            </a:r>
            <a:endParaRPr lang="en-US" altLang="zh-CN" sz="2200" b="1" dirty="0"/>
          </a:p>
          <a:p>
            <a:r>
              <a:rPr lang="zh-CN" altLang="en-US" sz="2200" b="1" dirty="0"/>
              <a:t>一般输入端数目不超过</a:t>
            </a:r>
            <a:r>
              <a:rPr lang="en-US" altLang="zh-CN" sz="2200" b="1" dirty="0">
                <a:solidFill>
                  <a:srgbClr val="FF0000"/>
                </a:solidFill>
              </a:rPr>
              <a:t>8</a:t>
            </a:r>
            <a:r>
              <a:rPr lang="en-US" altLang="zh-CN" sz="2200" b="1" dirty="0"/>
              <a:t> </a:t>
            </a:r>
            <a:r>
              <a:rPr lang="zh-CN" altLang="en-US" sz="2200" b="1" dirty="0"/>
              <a:t>个。</a:t>
            </a:r>
            <a:endParaRPr lang="en-US" altLang="zh-CN" sz="2200" b="1" dirty="0"/>
          </a:p>
          <a:p>
            <a:r>
              <a:rPr lang="zh-CN" altLang="en-US" sz="2200" b="1" dirty="0"/>
              <a:t>输入端较多的门电路可用输入端较少的门电路</a:t>
            </a:r>
            <a:r>
              <a:rPr lang="zh-CN" altLang="en-US" sz="2200" b="1" dirty="0">
                <a:solidFill>
                  <a:srgbClr val="FF0000"/>
                </a:solidFill>
              </a:rPr>
              <a:t>级联</a:t>
            </a:r>
            <a:r>
              <a:rPr lang="zh-CN" altLang="en-US" sz="2200" b="1" dirty="0"/>
              <a:t>而构成，速度更快、体积更小</a:t>
            </a:r>
            <a:endParaRPr lang="zh-CN" altLang="en-US" sz="2200" b="1" kern="0" dirty="0"/>
          </a:p>
          <a:p>
            <a:pPr lvl="1"/>
            <a:endParaRPr lang="zh-CN" altLang="en-US" sz="1600" kern="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lstStyle/>
          <a:p>
            <a:r>
              <a:rPr lang="en-US" altLang="zh-CN" dirty="0"/>
              <a:t>1.3 CMOS</a:t>
            </a:r>
            <a:r>
              <a:rPr lang="zh-CN" altLang="en-US" dirty="0"/>
              <a:t>晶体管</a:t>
            </a:r>
            <a:endParaRPr lang="zh-CN" altLang="en-US" dirty="0"/>
          </a:p>
        </p:txBody>
      </p:sp>
      <p:sp>
        <p:nvSpPr>
          <p:cNvPr id="11" name="灯片编号占位符 10"/>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2" name="矩形 1"/>
          <p:cNvSpPr/>
          <p:nvPr/>
        </p:nvSpPr>
        <p:spPr>
          <a:xfrm>
            <a:off x="6426641" y="5943725"/>
            <a:ext cx="1446230" cy="400110"/>
          </a:xfrm>
          <a:prstGeom prst="rect">
            <a:avLst/>
          </a:prstGeom>
        </p:spPr>
        <p:txBody>
          <a:bodyPr wrap="none">
            <a:spAutoFit/>
          </a:bodyPr>
          <a:lstStyle/>
          <a:p>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2 </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输入与门</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 name="内容占位符 2"/>
          <p:cNvSpPr txBox="1"/>
          <p:nvPr/>
        </p:nvSpPr>
        <p:spPr bwMode="auto">
          <a:xfrm>
            <a:off x="420216" y="796373"/>
            <a:ext cx="7132980" cy="1009206"/>
          </a:xfrm>
          <a:prstGeom prst="rect">
            <a:avLst/>
          </a:prstGeom>
          <a:noFill/>
          <a:ln>
            <a:noFill/>
          </a:ln>
        </p:spPr>
        <p:txBody>
          <a:bodyPr vert="horz" wrap="square" lIns="91440" tIns="45720" rIns="91440" bIns="45720" numCol="1" anchor="t" anchorCtr="0" compatLnSpc="1"/>
          <a:lstStyle>
            <a:lvl1pPr marL="447675" indent="-447675" algn="l" rtl="0" eaLnBrk="1" fontAlgn="base" hangingPunct="1">
              <a:spcBef>
                <a:spcPts val="300"/>
              </a:spcBef>
              <a:spcAft>
                <a:spcPct val="0"/>
              </a:spcAft>
              <a:buClr>
                <a:srgbClr val="CC6600"/>
              </a:buClr>
              <a:buSzPct val="70000"/>
              <a:buFont typeface="Wingdings" panose="05000000000000000000" charset="0"/>
              <a:buChar char="n"/>
              <a:defRPr sz="2800" b="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defRPr>
            </a:lvl1pPr>
            <a:lvl2pPr marL="889000" indent="-440055" algn="l" rtl="0" eaLnBrk="1" fontAlgn="base" hangingPunct="1">
              <a:spcBef>
                <a:spcPts val="300"/>
              </a:spcBef>
              <a:spcAft>
                <a:spcPct val="0"/>
              </a:spcAft>
              <a:buClr>
                <a:schemeClr val="hlink"/>
              </a:buClr>
              <a:buSzPct val="65000"/>
              <a:buFont typeface="Wingdings" panose="05000000000000000000" charset="0"/>
              <a:buChar char="¡"/>
              <a:defRPr sz="2400" b="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2pPr>
            <a:lvl3pPr marL="1294130" indent="-403225" algn="l" rtl="0" eaLnBrk="1" fontAlgn="base" hangingPunct="1">
              <a:spcBef>
                <a:spcPts val="300"/>
              </a:spcBef>
              <a:spcAft>
                <a:spcPct val="0"/>
              </a:spcAft>
              <a:buClr>
                <a:schemeClr val="accent1"/>
              </a:buClr>
              <a:buSzPct val="70000"/>
              <a:buFont typeface="Wingdings" panose="05000000000000000000" pitchFamily="2" charset="2"/>
              <a:buChar char="u"/>
              <a:defRPr kumimoji="1" sz="20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3pPr>
            <a:lvl4pPr marL="1681480" indent="-386080" algn="l" rtl="0" eaLnBrk="1" fontAlgn="base" hangingPunct="1">
              <a:spcBef>
                <a:spcPts val="300"/>
              </a:spcBef>
              <a:spcAft>
                <a:spcPct val="0"/>
              </a:spcAft>
              <a:buClr>
                <a:schemeClr val="hlink"/>
              </a:buClr>
              <a:buSzPct val="75000"/>
              <a:buFont typeface="Wingdings" panose="05000000000000000000" pitchFamily="2" charset="2"/>
              <a:buChar char="p"/>
              <a:defRPr kumimoji="1" sz="18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4pPr>
            <a:lvl5pPr marL="2070100" indent="-387350" algn="l" rtl="0" eaLnBrk="1" fontAlgn="base" hangingPunct="1">
              <a:spcBef>
                <a:spcPts val="300"/>
              </a:spcBef>
              <a:spcAft>
                <a:spcPct val="0"/>
              </a:spcAft>
              <a:buClr>
                <a:schemeClr val="accent1"/>
              </a:buClr>
              <a:buSzPct val="70000"/>
              <a:buFont typeface="Wingdings" panose="05000000000000000000" pitchFamily="2" charset="2"/>
              <a:buChar char="Ø"/>
              <a:defRPr kumimoji="1" sz="1600" b="0">
                <a:solidFill>
                  <a:schemeClr val="tx1"/>
                </a:solidFill>
                <a:latin typeface="Times New Roman" panose="02020603050405020304" pitchFamily="18" charset="0"/>
                <a:ea typeface="仿宋" panose="02010609060101010101" pitchFamily="49" charset="-122"/>
                <a:cs typeface="Times New Roman" panose="02020603050405020304" pitchFamily="18" charset="0"/>
              </a:defRPr>
            </a:lvl5pPr>
            <a:lvl6pPr marL="25273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r>
              <a:rPr lang="zh-CN" altLang="en-US" sz="2200" b="1" dirty="0"/>
              <a:t>通过与非门级联非门实现</a:t>
            </a:r>
            <a:r>
              <a:rPr lang="zh-CN" altLang="en-US" sz="2200" b="1" dirty="0">
                <a:solidFill>
                  <a:srgbClr val="FF0000"/>
                </a:solidFill>
              </a:rPr>
              <a:t>与门</a:t>
            </a:r>
            <a:r>
              <a:rPr lang="zh-CN" altLang="en-US" sz="2200" b="1" dirty="0"/>
              <a:t>。</a:t>
            </a:r>
            <a:endParaRPr lang="en-US" altLang="zh-CN" sz="2200" b="1" dirty="0"/>
          </a:p>
          <a:p>
            <a:r>
              <a:rPr lang="en-US" altLang="zh-CN" sz="2200" b="1" kern="0" dirty="0"/>
              <a:t>2</a:t>
            </a:r>
            <a:r>
              <a:rPr lang="zh-CN" altLang="en-US" sz="2200" b="1" kern="0" dirty="0"/>
              <a:t>输入与门使用了</a:t>
            </a:r>
            <a:r>
              <a:rPr lang="en-US" altLang="zh-CN" sz="2200" b="1" kern="0" dirty="0">
                <a:solidFill>
                  <a:srgbClr val="FF0000"/>
                </a:solidFill>
              </a:rPr>
              <a:t>3</a:t>
            </a:r>
            <a:r>
              <a:rPr lang="zh-CN" altLang="en-US" sz="2200" b="1" kern="0" dirty="0"/>
              <a:t>对</a:t>
            </a:r>
            <a:r>
              <a:rPr lang="en-US" altLang="zh-CN" sz="2200" b="1" kern="0" dirty="0"/>
              <a:t>CMOS</a:t>
            </a:r>
            <a:r>
              <a:rPr lang="zh-CN" altLang="en-US" sz="2200" b="1" kern="0" dirty="0"/>
              <a:t>晶体管。</a:t>
            </a:r>
            <a:endParaRPr lang="zh-CN" altLang="en-US" sz="2200" b="1" kern="0" dirty="0"/>
          </a:p>
        </p:txBody>
      </p:sp>
      <p:pic>
        <p:nvPicPr>
          <p:cNvPr id="4" name="图片 3"/>
          <p:cNvPicPr>
            <a:picLocks noChangeAspect="1"/>
          </p:cNvPicPr>
          <p:nvPr/>
        </p:nvPicPr>
        <p:blipFill>
          <a:blip r:embed="rId1"/>
          <a:stretch>
            <a:fillRect/>
          </a:stretch>
        </p:blipFill>
        <p:spPr>
          <a:xfrm>
            <a:off x="484459" y="1615857"/>
            <a:ext cx="4291367" cy="4213812"/>
          </a:xfrm>
          <a:prstGeom prst="rect">
            <a:avLst/>
          </a:prstGeom>
        </p:spPr>
      </p:pic>
      <p:sp>
        <p:nvSpPr>
          <p:cNvPr id="13" name="矩形标注 12"/>
          <p:cNvSpPr/>
          <p:nvPr/>
        </p:nvSpPr>
        <p:spPr>
          <a:xfrm>
            <a:off x="204736" y="5764347"/>
            <a:ext cx="1162072" cy="579488"/>
          </a:xfrm>
          <a:prstGeom prst="wedgeRectCallout">
            <a:avLst>
              <a:gd name="adj1" fmla="val 45410"/>
              <a:gd name="adj2" fmla="val -133528"/>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0000"/>
                </a:solidFill>
              </a:rPr>
              <a:t>与非门</a:t>
            </a:r>
            <a:endParaRPr lang="zh-CN" altLang="en-US" dirty="0">
              <a:solidFill>
                <a:srgbClr val="FF0000"/>
              </a:solidFill>
            </a:endParaRPr>
          </a:p>
        </p:txBody>
      </p:sp>
      <p:sp>
        <p:nvSpPr>
          <p:cNvPr id="14" name="矩形标注 13"/>
          <p:cNvSpPr/>
          <p:nvPr/>
        </p:nvSpPr>
        <p:spPr>
          <a:xfrm>
            <a:off x="3836987" y="5654345"/>
            <a:ext cx="1162072" cy="579488"/>
          </a:xfrm>
          <a:prstGeom prst="wedgeRectCallout">
            <a:avLst>
              <a:gd name="adj1" fmla="val -39102"/>
              <a:gd name="adj2" fmla="val -118156"/>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0000"/>
                </a:solidFill>
              </a:rPr>
              <a:t>非门</a:t>
            </a:r>
            <a:endParaRPr lang="zh-CN" altLang="en-US" dirty="0">
              <a:solidFill>
                <a:srgbClr val="FF0000"/>
              </a:solidFill>
            </a:endParaRPr>
          </a:p>
        </p:txBody>
      </p:sp>
      <p:pic>
        <p:nvPicPr>
          <p:cNvPr id="5" name="图片 4"/>
          <p:cNvPicPr>
            <a:picLocks noChangeAspect="1"/>
          </p:cNvPicPr>
          <p:nvPr/>
        </p:nvPicPr>
        <p:blipFill>
          <a:blip r:embed="rId2"/>
          <a:stretch>
            <a:fillRect/>
          </a:stretch>
        </p:blipFill>
        <p:spPr>
          <a:xfrm>
            <a:off x="4911377" y="1881601"/>
            <a:ext cx="4126028" cy="34607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linds(horizontal)">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4"/>
          <p:cNvSpPr>
            <a:spLocks noGrp="1" noChangeArrowheads="1"/>
          </p:cNvSpPr>
          <p:nvPr>
            <p:ph type="title"/>
          </p:nvPr>
        </p:nvSpPr>
        <p:spPr/>
        <p:txBody>
          <a:bodyPr/>
          <a:lstStyle/>
          <a:p>
            <a:r>
              <a:rPr lang="en-US" altLang="zh-CN" dirty="0"/>
              <a:t>1.3 CMOS</a:t>
            </a:r>
            <a:r>
              <a:rPr lang="zh-CN" altLang="en-US" dirty="0"/>
              <a:t>晶体管</a:t>
            </a:r>
            <a:endParaRPr lang="zh-CN" altLang="en-US" dirty="0"/>
          </a:p>
        </p:txBody>
      </p:sp>
      <p:pic>
        <p:nvPicPr>
          <p:cNvPr id="11" name="Picture 2" descr="Part ay. The circuit consists of 2 parallel series of 2 transistors. Each series consists of a PMOS unit and an NMOS unit connected via a drain line, with V sub D D = 5 volts at the source terminal of each PMOS unit. The first pair has NMOS Q 1 and PMOS Q 2, with input Ay at each gate. The drain line of the pair is then wired to the gates of NMOS Q 3 and PMOS Q 4 in the second pair, and output Z emerged from the second pair's drain line. Part b. A table. The table has 2 rows and 6 columns. The columns have the following headings from left to right. Ay, Q 1, Q 2, Q 3, Q 4, Z. The row entries are as follows. Row 1. Ay, L. Q 1, off. Q 2, on. Q 3, off. Q 4, on. Z, L. Row 2. Ay, H. Q 1, on. Q 2, off. Q 3, on. Q 4, off. Z, H. Part c. The logic diagram shows a buffer receiving input ay and sending output Z."/>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262744" y="1835050"/>
            <a:ext cx="8630431" cy="4322195"/>
          </a:xfrm>
          <a:prstGeom prst="rect">
            <a:avLst/>
          </a:prstGeom>
        </p:spPr>
      </p:pic>
      <p:sp>
        <p:nvSpPr>
          <p:cNvPr id="8" name="灯片编号占位符 7"/>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12" name="矩形 11"/>
          <p:cNvSpPr/>
          <p:nvPr/>
        </p:nvSpPr>
        <p:spPr>
          <a:xfrm>
            <a:off x="4791184" y="6211089"/>
            <a:ext cx="954107" cy="400110"/>
          </a:xfrm>
          <a:prstGeom prst="rect">
            <a:avLst/>
          </a:prstGeom>
        </p:spPr>
        <p:txBody>
          <a:bodyPr wrap="none">
            <a:spAutoFit/>
          </a:bodyPr>
          <a:lstStyle/>
          <a:p>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缓冲器</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 name="内容占位符 2"/>
          <p:cNvSpPr txBox="1"/>
          <p:nvPr/>
        </p:nvSpPr>
        <p:spPr bwMode="auto">
          <a:xfrm>
            <a:off x="345059" y="862720"/>
            <a:ext cx="8641731" cy="1009206"/>
          </a:xfrm>
          <a:prstGeom prst="rect">
            <a:avLst/>
          </a:prstGeom>
          <a:noFill/>
          <a:ln>
            <a:noFill/>
          </a:ln>
        </p:spPr>
        <p:txBody>
          <a:bodyPr vert="horz" wrap="square" lIns="91440" tIns="45720" rIns="91440" bIns="45720" numCol="1" anchor="t" anchorCtr="0" compatLnSpc="1"/>
          <a:lstStyle>
            <a:lvl1pPr marL="447675" indent="-447675" algn="l" rtl="0" eaLnBrk="1" fontAlgn="base" hangingPunct="1">
              <a:spcBef>
                <a:spcPts val="300"/>
              </a:spcBef>
              <a:spcAft>
                <a:spcPct val="0"/>
              </a:spcAft>
              <a:buClr>
                <a:srgbClr val="CC6600"/>
              </a:buClr>
              <a:buSzPct val="70000"/>
              <a:buFont typeface="Wingdings" panose="05000000000000000000" charset="0"/>
              <a:buChar char="n"/>
              <a:defRPr sz="2800" b="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defRPr>
            </a:lvl1pPr>
            <a:lvl2pPr marL="889000" indent="-440055" algn="l" rtl="0" eaLnBrk="1" fontAlgn="base" hangingPunct="1">
              <a:spcBef>
                <a:spcPts val="300"/>
              </a:spcBef>
              <a:spcAft>
                <a:spcPct val="0"/>
              </a:spcAft>
              <a:buClr>
                <a:schemeClr val="hlink"/>
              </a:buClr>
              <a:buSzPct val="65000"/>
              <a:buFont typeface="Wingdings" panose="05000000000000000000" charset="0"/>
              <a:buChar char="¡"/>
              <a:defRPr sz="2400" b="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2pPr>
            <a:lvl3pPr marL="1294130" indent="-403225" algn="l" rtl="0" eaLnBrk="1" fontAlgn="base" hangingPunct="1">
              <a:spcBef>
                <a:spcPts val="300"/>
              </a:spcBef>
              <a:spcAft>
                <a:spcPct val="0"/>
              </a:spcAft>
              <a:buClr>
                <a:schemeClr val="accent1"/>
              </a:buClr>
              <a:buSzPct val="70000"/>
              <a:buFont typeface="Wingdings" panose="05000000000000000000" pitchFamily="2" charset="2"/>
              <a:buChar char="u"/>
              <a:defRPr kumimoji="1" sz="20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3pPr>
            <a:lvl4pPr marL="1681480" indent="-386080" algn="l" rtl="0" eaLnBrk="1" fontAlgn="base" hangingPunct="1">
              <a:spcBef>
                <a:spcPts val="300"/>
              </a:spcBef>
              <a:spcAft>
                <a:spcPct val="0"/>
              </a:spcAft>
              <a:buClr>
                <a:schemeClr val="hlink"/>
              </a:buClr>
              <a:buSzPct val="75000"/>
              <a:buFont typeface="Wingdings" panose="05000000000000000000" pitchFamily="2" charset="2"/>
              <a:buChar char="p"/>
              <a:defRPr kumimoji="1" sz="18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4pPr>
            <a:lvl5pPr marL="2070100" indent="-387350" algn="l" rtl="0" eaLnBrk="1" fontAlgn="base" hangingPunct="1">
              <a:spcBef>
                <a:spcPts val="300"/>
              </a:spcBef>
              <a:spcAft>
                <a:spcPct val="0"/>
              </a:spcAft>
              <a:buClr>
                <a:schemeClr val="accent1"/>
              </a:buClr>
              <a:buSzPct val="70000"/>
              <a:buFont typeface="Wingdings" panose="05000000000000000000" pitchFamily="2" charset="2"/>
              <a:buChar char="Ø"/>
              <a:defRPr kumimoji="1" sz="1600" b="0">
                <a:solidFill>
                  <a:schemeClr val="tx1"/>
                </a:solidFill>
                <a:latin typeface="Times New Roman" panose="02020603050405020304" pitchFamily="18" charset="0"/>
                <a:ea typeface="仿宋" panose="02010609060101010101" pitchFamily="49" charset="-122"/>
                <a:cs typeface="Times New Roman" panose="02020603050405020304" pitchFamily="18" charset="0"/>
              </a:defRPr>
            </a:lvl5pPr>
            <a:lvl6pPr marL="25273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r>
              <a:rPr lang="zh-CN" altLang="en-US" sz="2200" b="1" dirty="0"/>
              <a:t>两级非门实现</a:t>
            </a:r>
            <a:r>
              <a:rPr lang="zh-CN" altLang="en-US" sz="2200" b="1" dirty="0">
                <a:solidFill>
                  <a:srgbClr val="FF0000"/>
                </a:solidFill>
              </a:rPr>
              <a:t>缓冲器</a:t>
            </a:r>
            <a:r>
              <a:rPr lang="zh-CN" altLang="en-US" sz="2200" b="1" dirty="0"/>
              <a:t>，将一个“弱”信号转换为具有相同逻辑值的“强”信号</a:t>
            </a:r>
            <a:endParaRPr lang="zh-CN" altLang="en-US" sz="2200" b="1" kern="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1.3 CMOS</a:t>
            </a:r>
            <a:r>
              <a:rPr lang="zh-CN" altLang="en-US" dirty="0"/>
              <a:t>晶体管</a:t>
            </a:r>
            <a:endParaRPr lang="zh-CN" altLang="en-US" dirty="0"/>
          </a:p>
        </p:txBody>
      </p:sp>
      <p:sp>
        <p:nvSpPr>
          <p:cNvPr id="3" name="内容占位符 2"/>
          <p:cNvSpPr>
            <a:spLocks noGrp="1"/>
          </p:cNvSpPr>
          <p:nvPr>
            <p:ph idx="1"/>
          </p:nvPr>
        </p:nvSpPr>
        <p:spPr>
          <a:xfrm>
            <a:off x="400833" y="896210"/>
            <a:ext cx="8473857" cy="2150332"/>
          </a:xfrm>
        </p:spPr>
        <p:txBody>
          <a:bodyPr/>
          <a:lstStyle/>
          <a:p>
            <a:r>
              <a:rPr lang="zh-CN" altLang="en-US" sz="2200" dirty="0">
                <a:solidFill>
                  <a:srgbClr val="FF0000"/>
                </a:solidFill>
              </a:rPr>
              <a:t>传输门</a:t>
            </a:r>
            <a:r>
              <a:rPr lang="zh-CN" altLang="en-US" sz="2200" dirty="0"/>
              <a:t>（</a:t>
            </a:r>
            <a:r>
              <a:rPr lang="en-US" altLang="zh-CN" sz="2200" dirty="0"/>
              <a:t>transmission gate</a:t>
            </a:r>
            <a:r>
              <a:rPr lang="zh-CN" altLang="en-US" sz="2200" dirty="0"/>
              <a:t>）由一对</a:t>
            </a:r>
            <a:r>
              <a:rPr lang="en-US" altLang="zh-CN" sz="2200" dirty="0"/>
              <a:t>CMOS </a:t>
            </a:r>
            <a:r>
              <a:rPr lang="zh-CN" altLang="en-US" sz="2200" dirty="0"/>
              <a:t>晶体管以及控制信号</a:t>
            </a:r>
            <a:r>
              <a:rPr lang="en-US" altLang="zh-CN" sz="2200" dirty="0"/>
              <a:t>EN</a:t>
            </a:r>
            <a:r>
              <a:rPr lang="zh-CN" altLang="en-US" sz="2200" dirty="0"/>
              <a:t>构成。</a:t>
            </a:r>
            <a:endParaRPr lang="en-US" altLang="zh-CN" sz="2200" dirty="0"/>
          </a:p>
          <a:p>
            <a:pPr lvl="1"/>
            <a:r>
              <a:rPr lang="zh-CN" altLang="en-US" dirty="0"/>
              <a:t>信号</a:t>
            </a:r>
            <a:r>
              <a:rPr lang="en-US" altLang="zh-CN" dirty="0"/>
              <a:t>EN</a:t>
            </a:r>
            <a:r>
              <a:rPr lang="zh-CN" altLang="en-US" dirty="0"/>
              <a:t>用于控制晶体管的导通与截止</a:t>
            </a:r>
            <a:r>
              <a:rPr lang="en-US" altLang="zh-CN" dirty="0"/>
              <a:t>, </a:t>
            </a:r>
            <a:r>
              <a:rPr lang="zh-CN" altLang="en-US" sz="2200" dirty="0"/>
              <a:t>其功能相当于一个逻辑控制开关。</a:t>
            </a:r>
            <a:endParaRPr lang="en-US" altLang="zh-CN" sz="2200" dirty="0"/>
          </a:p>
          <a:p>
            <a:r>
              <a:rPr lang="zh-CN" altLang="en-US" sz="2200" dirty="0"/>
              <a:t>传输门的传播延迟非常短、电路简单，可双向传输。</a:t>
            </a:r>
            <a:endParaRPr lang="zh-CN" altLang="en-US" sz="2200" dirty="0"/>
          </a:p>
        </p:txBody>
      </p:sp>
      <p:sp>
        <p:nvSpPr>
          <p:cNvPr id="9" name="灯片编号占位符 8"/>
          <p:cNvSpPr>
            <a:spLocks noGrp="1"/>
          </p:cNvSpPr>
          <p:nvPr>
            <p:ph type="sldNum" sz="quarter" idx="4294967295"/>
          </p:nvPr>
        </p:nvSpPr>
        <p:spPr>
          <a:xfrm>
            <a:off x="8642350" y="6489700"/>
            <a:ext cx="501650" cy="333375"/>
          </a:xfrm>
          <a:prstGeom prst="rect">
            <a:avLst/>
          </a:prstGeom>
        </p:spPr>
        <p:txBody>
          <a:bodyPr/>
          <a:lstStyle/>
          <a:p>
            <a:fld id="{C1ECEEFF-59F7-41BB-B9A9-13867E2BF01F}" type="slidenum">
              <a:rPr lang="zh-CN" altLang="en-US" smtClean="0"/>
            </a:fld>
            <a:endParaRPr lang="zh-CN" altLang="en-US"/>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2046390" y="3374143"/>
            <a:ext cx="4827485" cy="2387845"/>
          </a:xfrm>
          <a:prstGeom prst="rect">
            <a:avLst/>
          </a:prstGeom>
          <a:noFill/>
          <a:ln>
            <a:noFill/>
          </a:ln>
        </p:spPr>
      </p:pic>
      <p:sp>
        <p:nvSpPr>
          <p:cNvPr id="5" name="矩形 4"/>
          <p:cNvSpPr/>
          <p:nvPr/>
        </p:nvSpPr>
        <p:spPr>
          <a:xfrm>
            <a:off x="3916822" y="6089590"/>
            <a:ext cx="954107" cy="400110"/>
          </a:xfrm>
          <a:prstGeom prst="rect">
            <a:avLst/>
          </a:prstGeom>
        </p:spPr>
        <p:txBody>
          <a:bodyPr wrap="none">
            <a:spAutoFit/>
          </a:bodyPr>
          <a:lstStyle/>
          <a:p>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传输门</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1.3 CMOS</a:t>
            </a:r>
            <a:r>
              <a:rPr lang="zh-CN" altLang="en-US" dirty="0"/>
              <a:t>晶体管*</a:t>
            </a:r>
            <a:endParaRPr lang="zh-CN" altLang="en-US" dirty="0"/>
          </a:p>
        </p:txBody>
      </p:sp>
      <p:sp>
        <p:nvSpPr>
          <p:cNvPr id="3" name="内容占位符 2"/>
          <p:cNvSpPr>
            <a:spLocks noGrp="1"/>
          </p:cNvSpPr>
          <p:nvPr>
            <p:ph idx="1"/>
          </p:nvPr>
        </p:nvSpPr>
        <p:spPr>
          <a:xfrm>
            <a:off x="382044" y="758680"/>
            <a:ext cx="8686800" cy="423129"/>
          </a:xfrm>
        </p:spPr>
        <p:txBody>
          <a:bodyPr/>
          <a:lstStyle/>
          <a:p>
            <a:r>
              <a:rPr lang="zh-CN" altLang="en-US" sz="2200" dirty="0"/>
              <a:t>用单级晶体管实现两级逻辑与或非门。</a:t>
            </a:r>
            <a:endParaRPr lang="zh-CN" altLang="en-US" sz="2200"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11" name="矩形 10"/>
          <p:cNvSpPr/>
          <p:nvPr/>
        </p:nvSpPr>
        <p:spPr>
          <a:xfrm>
            <a:off x="509575" y="5825076"/>
            <a:ext cx="3817565" cy="830997"/>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zh-CN" altLang="en-US" sz="2400" dirty="0">
                <a:solidFill>
                  <a:srgbClr val="FF0000"/>
                </a:solidFill>
              </a:rPr>
              <a:t>任何输入组合下，</a:t>
            </a:r>
            <a:r>
              <a:rPr lang="en-US" altLang="zh-CN" sz="2400" dirty="0">
                <a:solidFill>
                  <a:srgbClr val="FF0000"/>
                </a:solidFill>
              </a:rPr>
              <a:t>Z</a:t>
            </a:r>
            <a:r>
              <a:rPr lang="zh-CN" altLang="en-US" sz="2400" dirty="0">
                <a:solidFill>
                  <a:srgbClr val="FF0000"/>
                </a:solidFill>
              </a:rPr>
              <a:t>都不能同时与</a:t>
            </a:r>
            <a:r>
              <a:rPr lang="en-US" altLang="zh-CN" sz="2400" dirty="0">
                <a:solidFill>
                  <a:srgbClr val="FF0000"/>
                </a:solidFill>
              </a:rPr>
              <a:t>V</a:t>
            </a:r>
            <a:r>
              <a:rPr lang="en-US" altLang="zh-CN" sz="2400" baseline="-25000" dirty="0">
                <a:solidFill>
                  <a:srgbClr val="FF0000"/>
                </a:solidFill>
              </a:rPr>
              <a:t>DD</a:t>
            </a:r>
            <a:r>
              <a:rPr lang="zh-CN" altLang="en-US" sz="2400" dirty="0">
                <a:solidFill>
                  <a:srgbClr val="FF0000"/>
                </a:solidFill>
              </a:rPr>
              <a:t>和地线相连。</a:t>
            </a:r>
            <a:endParaRPr lang="zh-CN" altLang="en-US" sz="2400" dirty="0">
              <a:solidFill>
                <a:srgbClr val="FF0000"/>
              </a:solidFill>
            </a:endParaRPr>
          </a:p>
        </p:txBody>
      </p:sp>
      <p:pic>
        <p:nvPicPr>
          <p:cNvPr id="12" name="Picture 2" descr="Part ay. The circuit consists of two parallel series of transistors. Each series has a PMOS gate wired to V sub D D, and for each series, the following list provides the gate inputs received by each transistor in the direction away from V sub D D. First series. PMOS Q 2, Ay. PMOS Q 6, C. NMOS, Q 5, C. NMOS Q 7, D. Second series. PMOS Q 4, B. PMOS Q 8, D. NMOS Q 3, B. NMOS Q 1, Ay. Additional wiring also connects the series as follows. Q 2 to Q 6 line connects to Q 4 to Q 8 line. Q 6 to Q 5 line connected to Q 8 to Q 3 line. Part b. A table. The table has 15 rows and 13 columns. The columns have the following headings from left to right. Ay, B, C, D, Q 1, Q 2, Q 3, Q 4, Q 5, Q 6, Q 7, Q 8, Z. The row entries are as follows. Row 1. Ay, L. B, L. C, L. D, L. Q 1, off. Q 2, on. Q 3, off. Q 4, on. Q 5, off. Q 6, on. Q 7, off. Q 8, on. Z, H. Row 2. Ay, L. B, L. C, L. D, H. Q 1, off. Q 2, on. Q 3, off. Q 4, on. Q 5, off. Q 6, on. Q 7, on. Q 8, off. Z, H. Row 3. Ay, L. B, L. C, H. D, L. Q 1, off. Q 2, on. Q 3, off. Q 4, on. Q 5, on. Q 6, off. Q 7, off. Q 8, on. Z, H. Row 4. Ay, L. B, L. C, H. D, H. Q 1, off. Q 2, on. Q 3, off. Q 4, on. Q 5, on. Q 6, off. Q 7, on. Q 8, off. Z, L. Row 5. Ay, L. B, H. C, L. D, L. Q 1, off. Q 2, on. Q 3, on. Q 4, off. Q 5, off. Q 6, on. Q 7, off. Q 8, on. Z, H. Row 6. Ay, L. B, H. C, L. D, H. Q 1, off. Q 2, on. Q 3, on. Q 4, off. Q 5, off. Q 6, on. Q 7, on. Q 8, off. Z, H. Row 7. Ay, L. B, H. C, H. D, L. Q 1, off. Q 2, on. Q 3, on. Q 4, off. Q 5, on. Q 6, off. Q 7, off. Q 8, on. Z, H. Row 8. Ay, H. B, H. C, H. D, H. Q 1, on. Q 2, on. Q 3, on. Q 4, off. Q 5, on. Q 6, off. Q 7, on. Q 8, off. Z, L. Row 9. Ay, H. B, L. C, L. D, L. Q 1, on. Q 2, on. Q 3, off. Q 4, on. Q 5, off. Q 6, on. Q 7, off. Q 8, on. Z, H. Row 10. Ay, H. B, L. C, L. D, H. Q 1, on. Q 2, off. Q 3, off. Q 4, on. Q 5, off. Q 6, on. Q 7, on. Q 8, off. Z, H. Row 11. Ay, H. B, L. C, H. D, L. Q 1, on. Q 2, off. Q 3, off. Q 4, on. Q 5, on. Q 6, off. Q 7, off. Q 8, on. Z, H. Row 12. Ay, H. B, L. C, H. D, H. Q 1, on. Q 2, off. Q 3, off. Q 4, on. Q 5, on. Q 6, off. Q 7, on. Q 8, off. Z, L. Row 13. Ay, H. B, H. C, L. D, L. Q 1, on. Q 2, off. Q 3, on. Q 4, off. Q 5, off. Q 6, on. Q 7, off. Q 8, on. Z, L. Row 14. Ay, H. B, H. C, L. D, H. Q 1, on. Q 2, off. Q 3, on. Q 4, off. Q 5, off. Q 6, on. Q 7, on. Q 8, off. Z, L. Row 15. Ay, H. B, H. C, H. D, L. Q 1, on. Q 2, off. Q 3, on. Q 4, off. Q 5, on. Q 6, off. Q 7, off. Q 8, on. Z, L."/>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43982" y="1128576"/>
            <a:ext cx="8486383" cy="4391232"/>
          </a:xfrm>
          <a:prstGeom prst="rect">
            <a:avLst/>
          </a:prstGeom>
        </p:spPr>
      </p:pic>
      <p:pic>
        <p:nvPicPr>
          <p:cNvPr id="13" name="Picture 2" descr="A 2-level circuit. The first level consists on 2 2-input AND gates. The gates receives inputs Ay and B, and C and C, respectively. The second level consists of a single NOR gate. The NOR gate receives the outputs from the level-1 AND gates, and it sends Z."/>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8614" y="5278502"/>
            <a:ext cx="3055866" cy="1438376"/>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1.3 CMOS</a:t>
            </a:r>
            <a:r>
              <a:rPr lang="zh-CN" altLang="en-US" dirty="0"/>
              <a:t>晶体管*</a:t>
            </a:r>
            <a:endParaRPr lang="zh-CN" altLang="en-US" dirty="0"/>
          </a:p>
        </p:txBody>
      </p:sp>
      <p:sp>
        <p:nvSpPr>
          <p:cNvPr id="9" name="内容占位符 2"/>
          <p:cNvSpPr>
            <a:spLocks noGrp="1"/>
          </p:cNvSpPr>
          <p:nvPr>
            <p:ph idx="1"/>
          </p:nvPr>
        </p:nvSpPr>
        <p:spPr>
          <a:xfrm>
            <a:off x="457200" y="837567"/>
            <a:ext cx="8686800" cy="423129"/>
          </a:xfrm>
        </p:spPr>
        <p:txBody>
          <a:bodyPr/>
          <a:lstStyle/>
          <a:p>
            <a:r>
              <a:rPr lang="zh-CN" altLang="en-US" sz="2200" dirty="0"/>
              <a:t>用单级晶体管实现两级逻辑或与非门。</a:t>
            </a:r>
            <a:endParaRPr lang="zh-CN" altLang="en-US" sz="2200"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pic>
        <p:nvPicPr>
          <p:cNvPr id="7" name="Picture 2" descr="Part ay. The circuit consists of two parallel series of transistors. Each series starts with a PMOS wired to V sub D D, and for each series, the following list provides the gate input for each transistor. First series. PMOS Q 2, Ay. PMOS Q 4, B. NMOS Q 5, C. NMOS Q 1, Ay. Second series. PMOS Q 6, C. PMOS Q 8, D. NMOS Q 7, D. NMOS Q 3, B. The series as also connected as follows. Q 4 to Q 5 line connected to Q 8 to Q 7 line. Q 5 to Q 1 line connected to Q 7 to Q 3 line. Part b. A table. The table has 16 rows and 13 columns. The columns have the following headings from left to right. Ay, B, C, D, Q 1, Q 2, Q 3, Q 4, Q 5, Q 6, Q 7, Q 8, Z. The row entries are as follows. Row 1. Ay, L. B, L. C, L. D, L. Q 1, off. Q 2, on. Q 3, off. Q 4, on. Q 5, off. Q 6, on. Q 7, off. Q 8, on. Z, H. Row 2. Ay, L. B, L. C, L. D, H. Q 1, off. Q 2, on. Q 3, off. Q 4, on. Q 5, off. Q 6, on. Q 7, on. Q 8, off. Z, H. Row 3. Ay, L. B, L. C, H. D, L. Q 1, off. Q 2, on. Q 3, off. Q 4, on. Q 5, on. Q 6, off. Q 7, off. Q 8, on. Z, H. Row 4. Ay, L. B, L. C, H. D, H. Q 1, off. Q 2, on. Q 3, off. Q 4, on. Q 5, on. Q 6, off. Q 7, on. Q 8, off. Z, H. Row 5. Ay, L. B, H. C, L. D, L. Q 1, off. Q 2, on. Q 3, on. Q 4, off. Q 5, off. Q 6, on. Q 7, off. Q 8, on. Z, H. Row 6. Ay, L. B, H. C, L. D, H. Q 1, off. Q 2, on. Q 3, on. Q 4, off. Q 5, off. Q 6, on. Q 7, on. Q 8, off. Z, L. Row 7. Ay, L. B, H. C, H. D, L. Q 1, off. Q 2, on. Q 3, on. Q 4, off. Q 5, on. Q 6, off. Q 7, off. Q 8, on. Z, L. Row 8. Ay, H. B, H. C, H. D, H. Q 1, on. Q 2, on. Q 3, on. Q 4, off. Q 5, on. Q 6, off. Q 7, on. Q 8, off. Z, L. Row 9. Ay, H. B, L. C, L. D, L. Q 1, on. Q 2, on. Q 3, off. Q 4, on. Q 5, off. Q 6, on. Q 7, off. Q 8, on. Z, H. Row 10. Ay, H. B, L. C, L. D, H. Q 1, on. Q 2, off. Q 3, off. Q 4, on. Q 5, off. Q 6, on. Q 7, on. Q 8, off. Z, L. Row 11. Ay, H. B, L. C, H. D, L. Q 1, on. Q 2, off. Q 3, off. Q 4, on. Q 5, on. Q 6, off. Q 7, off. Q 8, on. Z, L. Row 12. Ay, H. B, L. C, H. D, H. Q 1, on. Q 2, off. Q 3, off. Q 4, on. Q 5, on. Q 6, off. Q 7, on. Q 8, off. Z, L. Row 13. Ay, H. B, H. C, L. D, L. Q 1, on. Q 2, off. Q 3, on. Q 4, off. Q 5, off. Q 6, on. Q 7, off. Q 8, on. Z, H. Row 14. Ay, H. B, H. C, L. D, H. Q 1, on. Q 2, off. Q 3, on. Q 4, off. Q 5, off. Q 6, on. Q 7, on. Q 8, off. Z, L. Row 15. Ay, H. B, H. C, H. D, L. Q 1, on. Q 2, off. Q 3, on. Q 4, off. Q 5, on. Q 6, off. Q 7, off. Q 8, on. Z, L. Row 16. Ay, H. B, H. C, H. D, H. Q 1, on. Q 2, off. Q 3, on. Q 4, off. Q 5, on. Q 6, off. Q 7, on. Q 8, off. Z, L."/>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20690" y="1815656"/>
            <a:ext cx="8390553" cy="4766153"/>
          </a:xfrm>
          <a:prstGeom prst="rect">
            <a:avLst/>
          </a:prstGeom>
        </p:spPr>
      </p:pic>
      <p:pic>
        <p:nvPicPr>
          <p:cNvPr id="8" name="Picture 2" descr="The circuit has 2 levels. The first level consists of 2 OR gates receiving inputs Ay and B, and C and D, respectively. The second level consists of a single NAND gate. The NAND gate receives the outputs of the OR gates, and it sends Z."/>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87186" y="190500"/>
            <a:ext cx="3287922" cy="1717265"/>
          </a:xfrm>
          <a:prstGeom prst="rect">
            <a:avLst/>
          </a:prstGeom>
        </p:spPr>
      </p:pic>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altLang="zh-CN" dirty="0"/>
              <a:t>1.4 CMOS</a:t>
            </a:r>
            <a:r>
              <a:rPr lang="zh-CN" altLang="en-US" dirty="0"/>
              <a:t>电路电气特性</a:t>
            </a:r>
            <a:endParaRPr lang="zh-CN" altLang="en-US" dirty="0"/>
          </a:p>
        </p:txBody>
      </p:sp>
      <p:sp>
        <p:nvSpPr>
          <p:cNvPr id="9" name="内容占位符 8"/>
          <p:cNvSpPr>
            <a:spLocks noGrp="1"/>
          </p:cNvSpPr>
          <p:nvPr>
            <p:ph idx="1"/>
          </p:nvPr>
        </p:nvSpPr>
        <p:spPr>
          <a:xfrm>
            <a:off x="382044" y="864058"/>
            <a:ext cx="8442542" cy="1744067"/>
          </a:xfrm>
        </p:spPr>
        <p:txBody>
          <a:bodyPr/>
          <a:lstStyle/>
          <a:p>
            <a:r>
              <a:rPr lang="zh-CN" altLang="en-US" sz="2200" dirty="0"/>
              <a:t>转换时间</a:t>
            </a:r>
            <a:r>
              <a:rPr lang="en-US" altLang="zh-CN" sz="2200" dirty="0"/>
              <a:t>transition time </a:t>
            </a:r>
            <a:r>
              <a:rPr lang="zh-CN" altLang="en-US" sz="2200" dirty="0"/>
              <a:t>：逻辑电路的</a:t>
            </a:r>
            <a:r>
              <a:rPr lang="zh-CN" altLang="en-US" sz="2200" b="1" dirty="0">
                <a:solidFill>
                  <a:srgbClr val="FF0000"/>
                </a:solidFill>
              </a:rPr>
              <a:t>输出信号</a:t>
            </a:r>
            <a:r>
              <a:rPr lang="zh-CN" altLang="en-US" sz="2200" dirty="0"/>
              <a:t>从一种状态转换到另一种状态所需的时间</a:t>
            </a:r>
            <a:endParaRPr lang="en-US" altLang="zh-CN" sz="2200" dirty="0"/>
          </a:p>
          <a:p>
            <a:pPr lvl="1"/>
            <a:r>
              <a:rPr lang="zh-CN" altLang="en-US" dirty="0"/>
              <a:t>上升时间</a:t>
            </a:r>
            <a:r>
              <a:rPr lang="en-US" altLang="zh-CN" dirty="0"/>
              <a:t>rise time t</a:t>
            </a:r>
            <a:r>
              <a:rPr lang="en-US" altLang="zh-CN" baseline="-25000" dirty="0"/>
              <a:t>r</a:t>
            </a:r>
            <a:r>
              <a:rPr lang="zh-CN" altLang="en-US" dirty="0"/>
              <a:t>：从低态到高态。</a:t>
            </a:r>
            <a:endParaRPr lang="en-US" altLang="zh-CN" dirty="0"/>
          </a:p>
          <a:p>
            <a:pPr lvl="1"/>
            <a:r>
              <a:rPr lang="zh-CN" altLang="en-US" dirty="0"/>
              <a:t>下降时间</a:t>
            </a:r>
            <a:r>
              <a:rPr lang="en-US" altLang="zh-CN" dirty="0"/>
              <a:t>fall time </a:t>
            </a:r>
            <a:r>
              <a:rPr lang="en-US" altLang="zh-CN" dirty="0" err="1"/>
              <a:t>t</a:t>
            </a:r>
            <a:r>
              <a:rPr lang="en-US" altLang="zh-CN" baseline="-25000" dirty="0" err="1"/>
              <a:t>f</a:t>
            </a:r>
            <a:r>
              <a:rPr lang="zh-CN" altLang="en-US" dirty="0"/>
              <a:t> ：从高态到低态。</a:t>
            </a:r>
            <a:endParaRPr lang="zh-CN" altLang="en-US" dirty="0"/>
          </a:p>
        </p:txBody>
      </p:sp>
      <p:sp>
        <p:nvSpPr>
          <p:cNvPr id="7" name="灯片编号占位符 6"/>
          <p:cNvSpPr>
            <a:spLocks noGrp="1"/>
          </p:cNvSpPr>
          <p:nvPr>
            <p:ph type="sldNum" sz="quarter" idx="4294967295"/>
          </p:nvPr>
        </p:nvSpPr>
        <p:spPr>
          <a:xfrm>
            <a:off x="8642350" y="6489700"/>
            <a:ext cx="501650" cy="333375"/>
          </a:xfrm>
          <a:prstGeom prst="rect">
            <a:avLst/>
          </a:prstGeom>
        </p:spPr>
        <p:txBody>
          <a:bodyPr/>
          <a:lstStyle/>
          <a:p>
            <a:fld id="{5D56AAF9-5CA4-47C1-A250-364EA598F13C}" type="slidenum">
              <a:rPr lang="zh-CN" altLang="en-US" smtClean="0"/>
            </a:fld>
            <a:endParaRPr lang="en-US" altLang="zh-CN"/>
          </a:p>
        </p:txBody>
      </p:sp>
      <p:pic>
        <p:nvPicPr>
          <p:cNvPr id="10" name="Picture 2" descr="Each graph shows a low high low pulse. Part ay. The signal is represented by a square wave form. Part b. The pulse is trapezoidal with diagonal rising and falling edges. The horizontal distance between the ends of the rising edge is t sub r, and the horizontal distance between ends of the falling edge is t sub f. Part c. The actual plot for the signal represent by part b is rounded, with its highest segment at, high, above V sub I H min and its lowest segments, at low, below V sub I L max. t sub r corresponds to the segment of the rising edge between V sub I L max and V sub I H min, and t sub f corresponds to the segment of the falling edge between the same V values."/>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31741" y="2767504"/>
            <a:ext cx="7632848" cy="3486895"/>
          </a:xfrm>
          <a:prstGeom prst="rect">
            <a:avLst/>
          </a:prstGeom>
        </p:spPr>
      </p:pic>
      <p:sp>
        <p:nvSpPr>
          <p:cNvPr id="2" name="矩形 1"/>
          <p:cNvSpPr/>
          <p:nvPr/>
        </p:nvSpPr>
        <p:spPr>
          <a:xfrm>
            <a:off x="2234765" y="6365992"/>
            <a:ext cx="5938467" cy="400110"/>
          </a:xfrm>
          <a:prstGeom prst="rect">
            <a:avLst/>
          </a:prstGeom>
        </p:spPr>
        <p:txBody>
          <a:bodyPr wrap="square">
            <a:spAutoFit/>
          </a:bodyPr>
          <a:lstStyle/>
          <a:p>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转换时间 </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(a)</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理想状态 </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(b)</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近似状态 </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(c)</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实际状态</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1.4 CMOS</a:t>
            </a:r>
            <a:r>
              <a:rPr lang="zh-CN" altLang="en-US" dirty="0"/>
              <a:t>电路电气特性</a:t>
            </a:r>
            <a:endParaRPr lang="zh-CN" altLang="en-US" dirty="0"/>
          </a:p>
        </p:txBody>
      </p:sp>
      <p:sp>
        <p:nvSpPr>
          <p:cNvPr id="3" name="内容占位符 2"/>
          <p:cNvSpPr>
            <a:spLocks noGrp="1"/>
          </p:cNvSpPr>
          <p:nvPr>
            <p:ph idx="1"/>
          </p:nvPr>
        </p:nvSpPr>
        <p:spPr>
          <a:xfrm>
            <a:off x="315843" y="740287"/>
            <a:ext cx="4546600" cy="3910238"/>
          </a:xfrm>
        </p:spPr>
        <p:txBody>
          <a:bodyPr/>
          <a:lstStyle/>
          <a:p>
            <a:r>
              <a:rPr lang="zh-CN" altLang="en-US" sz="2200" dirty="0"/>
              <a:t>影响转换时间的因素</a:t>
            </a:r>
            <a:endParaRPr lang="zh-CN" altLang="en-US" sz="2200" dirty="0"/>
          </a:p>
          <a:p>
            <a:pPr lvl="1"/>
            <a:r>
              <a:rPr lang="zh-CN" altLang="en-US" dirty="0">
                <a:solidFill>
                  <a:srgbClr val="FF0000"/>
                </a:solidFill>
              </a:rPr>
              <a:t>晶体管的导通电阻</a:t>
            </a:r>
            <a:endParaRPr lang="zh-CN" altLang="en-US" dirty="0">
              <a:solidFill>
                <a:srgbClr val="FF0000"/>
              </a:solidFill>
            </a:endParaRPr>
          </a:p>
          <a:p>
            <a:pPr lvl="1"/>
            <a:r>
              <a:rPr lang="zh-CN" altLang="en-US" dirty="0">
                <a:solidFill>
                  <a:srgbClr val="FF0000"/>
                </a:solidFill>
              </a:rPr>
              <a:t>负载电容</a:t>
            </a:r>
            <a:endParaRPr lang="zh-CN" altLang="en-US" dirty="0">
              <a:solidFill>
                <a:srgbClr val="FF0000"/>
              </a:solidFill>
            </a:endParaRPr>
          </a:p>
          <a:p>
            <a:r>
              <a:rPr lang="zh-CN" altLang="en-US" sz="2200" dirty="0"/>
              <a:t>寄生电容的来源</a:t>
            </a:r>
            <a:endParaRPr lang="zh-CN" altLang="en-US" sz="2200" dirty="0"/>
          </a:p>
          <a:p>
            <a:pPr lvl="1"/>
            <a:r>
              <a:rPr lang="zh-CN" altLang="en-US" dirty="0"/>
              <a:t>输出电路，</a:t>
            </a:r>
            <a:r>
              <a:rPr lang="en-US" altLang="zh-CN" dirty="0"/>
              <a:t>2-10pF</a:t>
            </a:r>
            <a:endParaRPr lang="en-US" altLang="zh-CN" dirty="0"/>
          </a:p>
          <a:p>
            <a:pPr lvl="1"/>
            <a:r>
              <a:rPr lang="zh-CN" altLang="en-US" dirty="0"/>
              <a:t>输出和其它输入的连线电容，</a:t>
            </a:r>
            <a:r>
              <a:rPr lang="en-US" altLang="zh-CN" dirty="0"/>
              <a:t>1pF/</a:t>
            </a:r>
            <a:r>
              <a:rPr lang="zh-CN" altLang="en-US" dirty="0"/>
              <a:t>英寸或更多</a:t>
            </a:r>
            <a:endParaRPr lang="zh-CN" altLang="en-US" dirty="0"/>
          </a:p>
          <a:p>
            <a:pPr lvl="1"/>
            <a:r>
              <a:rPr lang="zh-CN" altLang="en-US" dirty="0"/>
              <a:t>输入电路，</a:t>
            </a:r>
            <a:r>
              <a:rPr lang="en-US" altLang="zh-CN" dirty="0"/>
              <a:t>2-15pF</a:t>
            </a:r>
            <a:endParaRPr lang="en-US" altLang="zh-CN" dirty="0"/>
          </a:p>
          <a:p>
            <a:r>
              <a:rPr lang="zh-CN" altLang="en-US" sz="2200" dirty="0"/>
              <a:t>称电容负载或交流负载</a:t>
            </a:r>
            <a:endParaRPr lang="zh-CN" altLang="en-US" sz="2200" dirty="0"/>
          </a:p>
        </p:txBody>
      </p:sp>
      <p:pic>
        <p:nvPicPr>
          <p:cNvPr id="4" name="Picture 7"/>
          <p:cNvPicPr>
            <a:picLocks noChangeAspect="1" noChangeArrowheads="1"/>
          </p:cNvPicPr>
          <p:nvPr/>
        </p:nvPicPr>
        <p:blipFill>
          <a:blip r:embed="rId1" cstate="print"/>
          <a:srcRect/>
          <a:stretch>
            <a:fillRect/>
          </a:stretch>
        </p:blipFill>
        <p:spPr bwMode="auto">
          <a:xfrm>
            <a:off x="4568170" y="989059"/>
            <a:ext cx="4438044" cy="3217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5" name="Rectangle 10"/>
          <p:cNvSpPr>
            <a:spLocks noChangeArrowheads="1"/>
          </p:cNvSpPr>
          <p:nvPr/>
        </p:nvSpPr>
        <p:spPr bwMode="auto">
          <a:xfrm>
            <a:off x="7101705" y="989827"/>
            <a:ext cx="1655762" cy="574675"/>
          </a:xfrm>
          <a:prstGeom prst="rect">
            <a:avLst/>
          </a:prstGeom>
          <a:solidFill>
            <a:schemeClr val="bg1"/>
          </a:solidFill>
          <a:ln w="9525">
            <a:noFill/>
            <a:miter lim="800000"/>
          </a:ln>
        </p:spPr>
        <p:txBody>
          <a:bodyPr wrap="none" anchor="ctr"/>
          <a:lstStyle/>
          <a:p>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转换时间分析的</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p>
            <a:pPr algn="ct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等效电路</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6" name="组合 5"/>
          <p:cNvGrpSpPr/>
          <p:nvPr/>
        </p:nvGrpSpPr>
        <p:grpSpPr>
          <a:xfrm>
            <a:off x="7180540" y="3143248"/>
            <a:ext cx="1210588" cy="1919468"/>
            <a:chOff x="7180540" y="3143248"/>
            <a:chExt cx="1210588" cy="1919468"/>
          </a:xfrm>
        </p:grpSpPr>
        <p:sp>
          <p:nvSpPr>
            <p:cNvPr id="7" name="矩形 6"/>
            <p:cNvSpPr/>
            <p:nvPr/>
          </p:nvSpPr>
          <p:spPr>
            <a:xfrm>
              <a:off x="7180540" y="4662606"/>
              <a:ext cx="1210588" cy="400110"/>
            </a:xfrm>
            <a:prstGeom prst="rect">
              <a:avLst/>
            </a:prstGeom>
          </p:spPr>
          <p:txBody>
            <a:bodyPr wrap="none">
              <a:spAutoFit/>
            </a:bodyPr>
            <a:lstStyle/>
            <a:p>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直流负载</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8" name="直接箭头连接符 7"/>
            <p:cNvCxnSpPr>
              <a:stCxn id="7" idx="0"/>
            </p:cNvCxnSpPr>
            <p:nvPr/>
          </p:nvCxnSpPr>
          <p:spPr>
            <a:xfrm flipV="1">
              <a:off x="7785834" y="3143248"/>
              <a:ext cx="143752" cy="151935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a:stCxn id="7" idx="0"/>
            </p:cNvCxnSpPr>
            <p:nvPr/>
          </p:nvCxnSpPr>
          <p:spPr>
            <a:xfrm flipV="1">
              <a:off x="7785834" y="3571876"/>
              <a:ext cx="358066" cy="109073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5366028" y="3571876"/>
            <a:ext cx="1814512" cy="1490840"/>
            <a:chOff x="5366028" y="3571876"/>
            <a:chExt cx="1814512" cy="1490840"/>
          </a:xfrm>
        </p:grpSpPr>
        <p:sp>
          <p:nvSpPr>
            <p:cNvPr id="11" name="矩形 10"/>
            <p:cNvSpPr/>
            <p:nvPr/>
          </p:nvSpPr>
          <p:spPr>
            <a:xfrm>
              <a:off x="5366028" y="4662606"/>
              <a:ext cx="1210588" cy="400110"/>
            </a:xfrm>
            <a:prstGeom prst="rect">
              <a:avLst/>
            </a:prstGeom>
          </p:spPr>
          <p:txBody>
            <a:bodyPr wrap="none">
              <a:spAutoFit/>
            </a:bodyPr>
            <a:lstStyle/>
            <a:p>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交流负载</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12" name="直接箭头连接符 11"/>
            <p:cNvCxnSpPr/>
            <p:nvPr/>
          </p:nvCxnSpPr>
          <p:spPr>
            <a:xfrm rot="5400000" flipH="1" flipV="1">
              <a:off x="6169105" y="3651171"/>
              <a:ext cx="1090730" cy="932140"/>
            </a:xfrm>
            <a:prstGeom prst="straightConnector1">
              <a:avLst/>
            </a:prstGeom>
            <a:ln w="25400">
              <a:solidFill>
                <a:srgbClr val="002060"/>
              </a:solidFill>
              <a:tailEnd type="arrow"/>
            </a:ln>
          </p:spPr>
          <p:style>
            <a:lnRef idx="1">
              <a:schemeClr val="accent1"/>
            </a:lnRef>
            <a:fillRef idx="0">
              <a:schemeClr val="accent1"/>
            </a:fillRef>
            <a:effectRef idx="0">
              <a:schemeClr val="accent1"/>
            </a:effectRef>
            <a:fontRef idx="minor">
              <a:schemeClr val="tx1"/>
            </a:fontRef>
          </p:style>
        </p:cxnSp>
      </p:grpSp>
      <p:sp>
        <p:nvSpPr>
          <p:cNvPr id="13" name="矩形 12"/>
          <p:cNvSpPr/>
          <p:nvPr/>
        </p:nvSpPr>
        <p:spPr>
          <a:xfrm>
            <a:off x="4342686" y="5172030"/>
            <a:ext cx="4576894" cy="400110"/>
          </a:xfrm>
          <a:prstGeom prst="rect">
            <a:avLst/>
          </a:prstGeom>
        </p:spPr>
        <p:txBody>
          <a:bodyPr wrap="none">
            <a:spAutoFit/>
          </a:bodyPr>
          <a:lstStyle/>
          <a:p>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只驱动</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CMOS</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输入时，直流负载可忽略</a:t>
            </a:r>
            <a:endParaRPr lang="en-US" altLang="zh-CN" sz="2000" dirty="0"/>
          </a:p>
        </p:txBody>
      </p:sp>
      <p:sp>
        <p:nvSpPr>
          <p:cNvPr id="14" name="矩形 13"/>
          <p:cNvSpPr/>
          <p:nvPr/>
        </p:nvSpPr>
        <p:spPr>
          <a:xfrm>
            <a:off x="862859" y="5829360"/>
            <a:ext cx="6317681" cy="769441"/>
          </a:xfrm>
          <a:prstGeom prst="rect">
            <a:avLst/>
          </a:prstGeom>
        </p:spPr>
        <p:txBody>
          <a:bodyPr wrap="square">
            <a:spAutoFit/>
          </a:bodyPr>
          <a:lstStyle/>
          <a:p>
            <a:r>
              <a:rPr lang="zh-CN" altLang="en-US" sz="2200" dirty="0">
                <a:solidFill>
                  <a:schemeClr val="accent2"/>
                </a:solidFill>
                <a:latin typeface="微软雅黑" panose="020B0503020204020204" pitchFamily="34" charset="-122"/>
                <a:ea typeface="微软雅黑" panose="020B0503020204020204" pitchFamily="34" charset="-122"/>
              </a:rPr>
              <a:t>交流负载决定了输出状态转换时的电压和电流，以及从一个状态转换到另一个状态所需的时间。</a:t>
            </a:r>
            <a:endParaRPr lang="en-US" altLang="zh-CN" sz="2200"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linds(horizontal)">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blinds(horizontal)">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box(in)">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blinds(horizontal)">
                                      <p:cBhvr>
                                        <p:cTn id="3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3" grpId="0"/>
      <p:bldP spid="1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800100" y="190500"/>
            <a:ext cx="6073775" cy="479747"/>
          </a:xfrm>
        </p:spPr>
        <p:txBody>
          <a:bodyPr/>
          <a:lstStyle/>
          <a:p>
            <a:r>
              <a:rPr lang="en-US" altLang="zh-CN" dirty="0"/>
              <a:t>1.4 CMOS</a:t>
            </a:r>
            <a:r>
              <a:rPr lang="zh-CN" altLang="en-US" dirty="0"/>
              <a:t>电路电气特性</a:t>
            </a:r>
            <a:endParaRPr lang="zh-CN" altLang="en-US" dirty="0"/>
          </a:p>
        </p:txBody>
      </p:sp>
      <p:sp>
        <p:nvSpPr>
          <p:cNvPr id="9" name="内容占位符 8"/>
          <p:cNvSpPr>
            <a:spLocks noGrp="1"/>
          </p:cNvSpPr>
          <p:nvPr>
            <p:ph idx="1"/>
          </p:nvPr>
        </p:nvSpPr>
        <p:spPr>
          <a:xfrm>
            <a:off x="382043" y="889110"/>
            <a:ext cx="8686800" cy="2556021"/>
          </a:xfrm>
        </p:spPr>
        <p:txBody>
          <a:bodyPr/>
          <a:lstStyle/>
          <a:p>
            <a:r>
              <a:rPr lang="zh-CN" altLang="en-US" sz="2200" b="1" dirty="0">
                <a:solidFill>
                  <a:srgbClr val="FF0000"/>
                </a:solidFill>
              </a:rPr>
              <a:t>传播延迟</a:t>
            </a:r>
            <a:r>
              <a:rPr lang="en-US" altLang="zh-CN" sz="2200" dirty="0"/>
              <a:t>(</a:t>
            </a:r>
            <a:r>
              <a:rPr lang="en-US" altLang="zh-CN" sz="2200" dirty="0" err="1"/>
              <a:t>t</a:t>
            </a:r>
            <a:r>
              <a:rPr lang="en-US" altLang="zh-CN" sz="2200" baseline="-25000" dirty="0" err="1"/>
              <a:t>p</a:t>
            </a:r>
            <a:r>
              <a:rPr lang="zh-CN" altLang="en-US" sz="2200" dirty="0"/>
              <a:t>，</a:t>
            </a:r>
            <a:r>
              <a:rPr lang="en-US" altLang="zh-CN" sz="2200" dirty="0"/>
              <a:t>propagation delay)</a:t>
            </a:r>
            <a:r>
              <a:rPr lang="zh-CN" altLang="en-US" sz="2200" dirty="0"/>
              <a:t>是指从输入信号变化到产生输出信号变化所需的时间。</a:t>
            </a:r>
            <a:endParaRPr lang="en-US" altLang="zh-CN" sz="2200" dirty="0"/>
          </a:p>
          <a:p>
            <a:r>
              <a:rPr lang="zh-CN" altLang="en-US" sz="2200" dirty="0">
                <a:solidFill>
                  <a:srgbClr val="FF0000"/>
                </a:solidFill>
              </a:rPr>
              <a:t>信号通路</a:t>
            </a:r>
            <a:r>
              <a:rPr lang="en-US" altLang="zh-CN" sz="2200" dirty="0"/>
              <a:t>signal path</a:t>
            </a:r>
            <a:r>
              <a:rPr lang="zh-CN" altLang="en-US" sz="2200" dirty="0"/>
              <a:t>：是指一个特定</a:t>
            </a:r>
            <a:r>
              <a:rPr lang="zh-CN" altLang="en-US" sz="2200" dirty="0">
                <a:solidFill>
                  <a:srgbClr val="FF0000"/>
                </a:solidFill>
              </a:rPr>
              <a:t>输入</a:t>
            </a:r>
            <a:r>
              <a:rPr lang="zh-CN" altLang="en-US" sz="2200" dirty="0"/>
              <a:t>信号到逻辑元件的特定</a:t>
            </a:r>
            <a:r>
              <a:rPr lang="zh-CN" altLang="en-US" sz="2200" dirty="0">
                <a:solidFill>
                  <a:srgbClr val="FF0000"/>
                </a:solidFill>
              </a:rPr>
              <a:t>输出</a:t>
            </a:r>
            <a:r>
              <a:rPr lang="zh-CN" altLang="en-US" sz="2200" dirty="0"/>
              <a:t>信号所经历的电气通路。</a:t>
            </a:r>
            <a:endParaRPr lang="en-US" altLang="zh-CN" sz="2200" dirty="0"/>
          </a:p>
          <a:p>
            <a:r>
              <a:rPr lang="en-US" altLang="zh-CN" sz="2200" dirty="0" err="1"/>
              <a:t>t</a:t>
            </a:r>
            <a:r>
              <a:rPr lang="en-US" altLang="zh-CN" sz="2200" baseline="-25000" dirty="0" err="1"/>
              <a:t>pHL</a:t>
            </a:r>
            <a:r>
              <a:rPr lang="zh-CN" altLang="en-US" sz="2200" dirty="0"/>
              <a:t>：输入变化引起相应输出从高到低变化的时间。</a:t>
            </a:r>
            <a:endParaRPr lang="en-US" altLang="zh-CN" sz="2200" dirty="0"/>
          </a:p>
          <a:p>
            <a:r>
              <a:rPr lang="en-US" altLang="zh-CN" sz="2200" dirty="0" err="1"/>
              <a:t>t</a:t>
            </a:r>
            <a:r>
              <a:rPr lang="en-US" altLang="zh-CN" sz="2200" baseline="-25000" dirty="0" err="1"/>
              <a:t>pLH</a:t>
            </a:r>
            <a:r>
              <a:rPr lang="zh-CN" altLang="en-US" sz="2200" dirty="0"/>
              <a:t>：输入变化引起相应输出低到高变化的时间。</a:t>
            </a:r>
            <a:endParaRPr lang="zh-CN" altLang="en-US" sz="2200" dirty="0"/>
          </a:p>
        </p:txBody>
      </p:sp>
      <p:sp>
        <p:nvSpPr>
          <p:cNvPr id="12" name="灯片编号占位符 11"/>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pic>
        <p:nvPicPr>
          <p:cNvPr id="10" name="Picture 2"/>
          <p:cNvPicPr>
            <a:picLocks noChangeAspect="1" noChangeArrowheads="1"/>
          </p:cNvPicPr>
          <p:nvPr/>
        </p:nvPicPr>
        <p:blipFill>
          <a:blip r:embed="rId1" cstate="print"/>
          <a:srcRect/>
          <a:stretch>
            <a:fillRect/>
          </a:stretch>
        </p:blipFill>
        <p:spPr bwMode="auto">
          <a:xfrm>
            <a:off x="382043" y="3861015"/>
            <a:ext cx="8027231" cy="2387799"/>
          </a:xfrm>
          <a:prstGeom prst="rect">
            <a:avLst/>
          </a:prstGeom>
          <a:noFill/>
          <a:ln w="9525">
            <a:noFill/>
            <a:miter lim="800000"/>
            <a:headEnd/>
            <a:tailEnd/>
          </a:ln>
        </p:spPr>
      </p:pic>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00100" y="190500"/>
            <a:ext cx="6073775" cy="479747"/>
          </a:xfrm>
        </p:spPr>
        <p:txBody>
          <a:bodyPr/>
          <a:lstStyle/>
          <a:p>
            <a:r>
              <a:rPr lang="en-US" altLang="zh-CN" dirty="0"/>
              <a:t>1.4 CMOS</a:t>
            </a:r>
            <a:r>
              <a:rPr lang="zh-CN" altLang="en-US" dirty="0"/>
              <a:t>电路电气特性</a:t>
            </a:r>
            <a:endParaRPr lang="zh-CN" altLang="en-US"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232451" name="AutoShape 3"/>
          <p:cNvSpPr>
            <a:spLocks noChangeAspect="1" noChangeArrowheads="1" noTextEdit="1"/>
          </p:cNvSpPr>
          <p:nvPr/>
        </p:nvSpPr>
        <p:spPr bwMode="auto">
          <a:xfrm>
            <a:off x="714375" y="1403350"/>
            <a:ext cx="8124825" cy="4740275"/>
          </a:xfrm>
          <a:prstGeom prst="rect">
            <a:avLst/>
          </a:prstGeom>
          <a:noFill/>
          <a:ln w="9525">
            <a:noFill/>
            <a:miter lim="800000"/>
          </a:ln>
        </p:spPr>
        <p:txBody>
          <a:bodyPr vert="horz" wrap="square" lIns="91440" tIns="45720" rIns="91440" bIns="45720" numCol="1" anchor="t" anchorCtr="0" compatLnSpc="1"/>
          <a:lstStyle/>
          <a:p>
            <a:endParaRPr lang="zh-CN" altLang="en-US"/>
          </a:p>
        </p:txBody>
      </p:sp>
      <p:sp>
        <p:nvSpPr>
          <p:cNvPr id="232453" name="Rectangle 5"/>
          <p:cNvSpPr>
            <a:spLocks noChangeArrowheads="1"/>
          </p:cNvSpPr>
          <p:nvPr/>
        </p:nvSpPr>
        <p:spPr bwMode="auto">
          <a:xfrm>
            <a:off x="3367088" y="5292725"/>
            <a:ext cx="15875" cy="33338"/>
          </a:xfrm>
          <a:prstGeom prst="rect">
            <a:avLst/>
          </a:prstGeom>
          <a:solidFill>
            <a:srgbClr val="00FFFF"/>
          </a:solidFill>
          <a:ln w="9525">
            <a:noFill/>
            <a:miter lim="800000"/>
          </a:ln>
        </p:spPr>
        <p:txBody>
          <a:bodyPr vert="horz" wrap="square" lIns="91440" tIns="45720" rIns="91440" bIns="45720" numCol="1" anchor="t" anchorCtr="0" compatLnSpc="1"/>
          <a:lstStyle/>
          <a:p>
            <a:endParaRPr lang="zh-CN" altLang="en-US"/>
          </a:p>
        </p:txBody>
      </p:sp>
      <p:sp>
        <p:nvSpPr>
          <p:cNvPr id="232454" name="Freeform 6"/>
          <p:cNvSpPr/>
          <p:nvPr/>
        </p:nvSpPr>
        <p:spPr bwMode="auto">
          <a:xfrm>
            <a:off x="3382963" y="4025900"/>
            <a:ext cx="2076450" cy="1300163"/>
          </a:xfrm>
          <a:custGeom>
            <a:avLst/>
            <a:gdLst/>
            <a:ahLst/>
            <a:cxnLst>
              <a:cxn ang="0">
                <a:pos x="642" y="1595"/>
              </a:cxn>
              <a:cxn ang="0">
                <a:pos x="642" y="1595"/>
              </a:cxn>
              <a:cxn ang="0">
                <a:pos x="1130" y="1595"/>
              </a:cxn>
              <a:cxn ang="0">
                <a:pos x="1258" y="1583"/>
              </a:cxn>
              <a:cxn ang="0">
                <a:pos x="1251" y="1588"/>
              </a:cxn>
              <a:cxn ang="0">
                <a:pos x="1299" y="1562"/>
              </a:cxn>
              <a:cxn ang="0">
                <a:pos x="1359" y="1501"/>
              </a:cxn>
              <a:cxn ang="0">
                <a:pos x="1359" y="1501"/>
              </a:cxn>
              <a:cxn ang="0">
                <a:pos x="1541" y="1272"/>
              </a:cxn>
              <a:cxn ang="0">
                <a:pos x="1852" y="811"/>
              </a:cxn>
              <a:cxn ang="0">
                <a:pos x="1852" y="811"/>
              </a:cxn>
              <a:cxn ang="0">
                <a:pos x="2170" y="338"/>
              </a:cxn>
              <a:cxn ang="0">
                <a:pos x="2352" y="101"/>
              </a:cxn>
              <a:cxn ang="0">
                <a:pos x="2352" y="101"/>
              </a:cxn>
              <a:cxn ang="0">
                <a:pos x="2420" y="48"/>
              </a:cxn>
              <a:cxn ang="0">
                <a:pos x="2474" y="21"/>
              </a:cxn>
              <a:cxn ang="0">
                <a:pos x="2482" y="14"/>
              </a:cxn>
              <a:cxn ang="0">
                <a:pos x="2610" y="41"/>
              </a:cxn>
              <a:cxn ang="0">
                <a:pos x="2617" y="41"/>
              </a:cxn>
              <a:cxn ang="0">
                <a:pos x="2487" y="55"/>
              </a:cxn>
              <a:cxn ang="0">
                <a:pos x="2441" y="82"/>
              </a:cxn>
              <a:cxn ang="0">
                <a:pos x="2441" y="75"/>
              </a:cxn>
              <a:cxn ang="0">
                <a:pos x="2380" y="129"/>
              </a:cxn>
              <a:cxn ang="0">
                <a:pos x="2204" y="366"/>
              </a:cxn>
              <a:cxn ang="0">
                <a:pos x="2204" y="366"/>
              </a:cxn>
              <a:cxn ang="0">
                <a:pos x="1886" y="832"/>
              </a:cxn>
              <a:cxn ang="0">
                <a:pos x="1575" y="1291"/>
              </a:cxn>
              <a:cxn ang="0">
                <a:pos x="1575" y="1291"/>
              </a:cxn>
              <a:cxn ang="0">
                <a:pos x="1393" y="1528"/>
              </a:cxn>
              <a:cxn ang="0">
                <a:pos x="1325" y="1588"/>
              </a:cxn>
              <a:cxn ang="0">
                <a:pos x="1325" y="1595"/>
              </a:cxn>
              <a:cxn ang="0">
                <a:pos x="1270" y="1622"/>
              </a:cxn>
              <a:cxn ang="0">
                <a:pos x="1135" y="1636"/>
              </a:cxn>
              <a:cxn ang="0">
                <a:pos x="1130" y="1636"/>
              </a:cxn>
              <a:cxn ang="0">
                <a:pos x="642" y="1636"/>
              </a:cxn>
              <a:cxn ang="0">
                <a:pos x="0" y="1636"/>
              </a:cxn>
            </a:cxnLst>
            <a:rect l="0" t="0" r="r" b="b"/>
            <a:pathLst>
              <a:path w="2617" h="1636">
                <a:moveTo>
                  <a:pt x="0" y="1595"/>
                </a:moveTo>
                <a:lnTo>
                  <a:pt x="642" y="1595"/>
                </a:lnTo>
                <a:lnTo>
                  <a:pt x="642" y="1595"/>
                </a:lnTo>
                <a:lnTo>
                  <a:pt x="642" y="1595"/>
                </a:lnTo>
                <a:lnTo>
                  <a:pt x="1130" y="1595"/>
                </a:lnTo>
                <a:lnTo>
                  <a:pt x="1130" y="1595"/>
                </a:lnTo>
                <a:lnTo>
                  <a:pt x="1130" y="1595"/>
                </a:lnTo>
                <a:lnTo>
                  <a:pt x="1258" y="1583"/>
                </a:lnTo>
                <a:lnTo>
                  <a:pt x="1251" y="1588"/>
                </a:lnTo>
                <a:lnTo>
                  <a:pt x="1251" y="1588"/>
                </a:lnTo>
                <a:lnTo>
                  <a:pt x="1304" y="1562"/>
                </a:lnTo>
                <a:lnTo>
                  <a:pt x="1299" y="1562"/>
                </a:lnTo>
                <a:lnTo>
                  <a:pt x="1299" y="1562"/>
                </a:lnTo>
                <a:lnTo>
                  <a:pt x="1359" y="1501"/>
                </a:lnTo>
                <a:lnTo>
                  <a:pt x="1359" y="1501"/>
                </a:lnTo>
                <a:lnTo>
                  <a:pt x="1359" y="1501"/>
                </a:lnTo>
                <a:lnTo>
                  <a:pt x="1541" y="1264"/>
                </a:lnTo>
                <a:lnTo>
                  <a:pt x="1541" y="1272"/>
                </a:lnTo>
                <a:lnTo>
                  <a:pt x="1541" y="1272"/>
                </a:lnTo>
                <a:lnTo>
                  <a:pt x="1852" y="811"/>
                </a:lnTo>
                <a:lnTo>
                  <a:pt x="1852" y="811"/>
                </a:lnTo>
                <a:lnTo>
                  <a:pt x="1852" y="811"/>
                </a:lnTo>
                <a:lnTo>
                  <a:pt x="2170" y="345"/>
                </a:lnTo>
                <a:lnTo>
                  <a:pt x="2170" y="338"/>
                </a:lnTo>
                <a:lnTo>
                  <a:pt x="2170" y="338"/>
                </a:lnTo>
                <a:lnTo>
                  <a:pt x="2352" y="101"/>
                </a:lnTo>
                <a:lnTo>
                  <a:pt x="2352" y="101"/>
                </a:lnTo>
                <a:lnTo>
                  <a:pt x="2352" y="101"/>
                </a:lnTo>
                <a:lnTo>
                  <a:pt x="2414" y="48"/>
                </a:lnTo>
                <a:lnTo>
                  <a:pt x="2420" y="48"/>
                </a:lnTo>
                <a:lnTo>
                  <a:pt x="2420" y="48"/>
                </a:lnTo>
                <a:lnTo>
                  <a:pt x="2474" y="21"/>
                </a:lnTo>
                <a:lnTo>
                  <a:pt x="2482" y="14"/>
                </a:lnTo>
                <a:lnTo>
                  <a:pt x="2482" y="14"/>
                </a:lnTo>
                <a:lnTo>
                  <a:pt x="2610" y="0"/>
                </a:lnTo>
                <a:lnTo>
                  <a:pt x="2610" y="41"/>
                </a:lnTo>
                <a:lnTo>
                  <a:pt x="2610" y="0"/>
                </a:lnTo>
                <a:lnTo>
                  <a:pt x="2617" y="41"/>
                </a:lnTo>
                <a:lnTo>
                  <a:pt x="2487" y="55"/>
                </a:lnTo>
                <a:lnTo>
                  <a:pt x="2487" y="55"/>
                </a:lnTo>
                <a:lnTo>
                  <a:pt x="2494" y="55"/>
                </a:lnTo>
                <a:lnTo>
                  <a:pt x="2441" y="82"/>
                </a:lnTo>
                <a:lnTo>
                  <a:pt x="2441" y="82"/>
                </a:lnTo>
                <a:lnTo>
                  <a:pt x="2441" y="75"/>
                </a:lnTo>
                <a:lnTo>
                  <a:pt x="2380" y="129"/>
                </a:lnTo>
                <a:lnTo>
                  <a:pt x="2380" y="129"/>
                </a:lnTo>
                <a:lnTo>
                  <a:pt x="2386" y="129"/>
                </a:lnTo>
                <a:lnTo>
                  <a:pt x="2204" y="366"/>
                </a:lnTo>
                <a:lnTo>
                  <a:pt x="2204" y="366"/>
                </a:lnTo>
                <a:lnTo>
                  <a:pt x="2204" y="366"/>
                </a:lnTo>
                <a:lnTo>
                  <a:pt x="1886" y="832"/>
                </a:lnTo>
                <a:lnTo>
                  <a:pt x="1886" y="832"/>
                </a:lnTo>
                <a:lnTo>
                  <a:pt x="1886" y="832"/>
                </a:lnTo>
                <a:lnTo>
                  <a:pt x="1575" y="1291"/>
                </a:lnTo>
                <a:lnTo>
                  <a:pt x="1575" y="1291"/>
                </a:lnTo>
                <a:lnTo>
                  <a:pt x="1575" y="1291"/>
                </a:lnTo>
                <a:lnTo>
                  <a:pt x="1393" y="1528"/>
                </a:lnTo>
                <a:lnTo>
                  <a:pt x="1393" y="1528"/>
                </a:lnTo>
                <a:lnTo>
                  <a:pt x="1386" y="1528"/>
                </a:lnTo>
                <a:lnTo>
                  <a:pt x="1325" y="1588"/>
                </a:lnTo>
                <a:lnTo>
                  <a:pt x="1325" y="1588"/>
                </a:lnTo>
                <a:lnTo>
                  <a:pt x="1325" y="1595"/>
                </a:lnTo>
                <a:lnTo>
                  <a:pt x="1270" y="1622"/>
                </a:lnTo>
                <a:lnTo>
                  <a:pt x="1270" y="1622"/>
                </a:lnTo>
                <a:lnTo>
                  <a:pt x="1265" y="1622"/>
                </a:lnTo>
                <a:lnTo>
                  <a:pt x="1135" y="1636"/>
                </a:lnTo>
                <a:lnTo>
                  <a:pt x="1135" y="1636"/>
                </a:lnTo>
                <a:lnTo>
                  <a:pt x="1130" y="1636"/>
                </a:lnTo>
                <a:lnTo>
                  <a:pt x="642" y="1636"/>
                </a:lnTo>
                <a:lnTo>
                  <a:pt x="642" y="1636"/>
                </a:lnTo>
                <a:lnTo>
                  <a:pt x="642" y="1636"/>
                </a:lnTo>
                <a:lnTo>
                  <a:pt x="0" y="1636"/>
                </a:lnTo>
                <a:lnTo>
                  <a:pt x="0" y="1595"/>
                </a:lnTo>
                <a:close/>
              </a:path>
            </a:pathLst>
          </a:custGeom>
          <a:solidFill>
            <a:srgbClr val="00FFFF"/>
          </a:solidFill>
          <a:ln w="9525">
            <a:noFill/>
            <a:round/>
          </a:ln>
        </p:spPr>
        <p:txBody>
          <a:bodyPr vert="horz" wrap="square" lIns="91440" tIns="45720" rIns="91440" bIns="45720" numCol="1" anchor="t" anchorCtr="0" compatLnSpc="1"/>
          <a:lstStyle/>
          <a:p>
            <a:endParaRPr lang="zh-CN" altLang="en-US"/>
          </a:p>
        </p:txBody>
      </p:sp>
      <p:sp>
        <p:nvSpPr>
          <p:cNvPr id="232455" name="Freeform 7"/>
          <p:cNvSpPr/>
          <p:nvPr/>
        </p:nvSpPr>
        <p:spPr bwMode="auto">
          <a:xfrm>
            <a:off x="5394325" y="4025900"/>
            <a:ext cx="58738" cy="33338"/>
          </a:xfrm>
          <a:custGeom>
            <a:avLst/>
            <a:gdLst/>
            <a:ahLst/>
            <a:cxnLst>
              <a:cxn ang="0">
                <a:pos x="75" y="41"/>
              </a:cxn>
              <a:cxn ang="0">
                <a:pos x="0" y="41"/>
              </a:cxn>
              <a:cxn ang="0">
                <a:pos x="0" y="0"/>
              </a:cxn>
              <a:cxn ang="0">
                <a:pos x="0" y="41"/>
              </a:cxn>
              <a:cxn ang="0">
                <a:pos x="0" y="0"/>
              </a:cxn>
              <a:cxn ang="0">
                <a:pos x="75" y="0"/>
              </a:cxn>
              <a:cxn ang="0">
                <a:pos x="75" y="41"/>
              </a:cxn>
            </a:cxnLst>
            <a:rect l="0" t="0" r="r" b="b"/>
            <a:pathLst>
              <a:path w="75" h="41">
                <a:moveTo>
                  <a:pt x="75" y="41"/>
                </a:moveTo>
                <a:lnTo>
                  <a:pt x="0" y="41"/>
                </a:lnTo>
                <a:lnTo>
                  <a:pt x="0" y="0"/>
                </a:lnTo>
                <a:lnTo>
                  <a:pt x="0" y="41"/>
                </a:lnTo>
                <a:lnTo>
                  <a:pt x="0" y="0"/>
                </a:lnTo>
                <a:lnTo>
                  <a:pt x="75" y="0"/>
                </a:lnTo>
                <a:lnTo>
                  <a:pt x="75" y="41"/>
                </a:lnTo>
                <a:close/>
              </a:path>
            </a:pathLst>
          </a:custGeom>
          <a:solidFill>
            <a:srgbClr val="00FFFF"/>
          </a:solidFill>
          <a:ln w="9525">
            <a:noFill/>
            <a:round/>
          </a:ln>
        </p:spPr>
        <p:txBody>
          <a:bodyPr vert="horz" wrap="square" lIns="91440" tIns="45720" rIns="91440" bIns="45720" numCol="1" anchor="t" anchorCtr="0" compatLnSpc="1"/>
          <a:lstStyle/>
          <a:p>
            <a:endParaRPr lang="zh-CN" altLang="en-US"/>
          </a:p>
        </p:txBody>
      </p:sp>
      <p:sp>
        <p:nvSpPr>
          <p:cNvPr id="232456" name="Rectangle 8"/>
          <p:cNvSpPr>
            <a:spLocks noChangeArrowheads="1"/>
          </p:cNvSpPr>
          <p:nvPr/>
        </p:nvSpPr>
        <p:spPr bwMode="auto">
          <a:xfrm>
            <a:off x="6735763" y="4025900"/>
            <a:ext cx="15875" cy="33338"/>
          </a:xfrm>
          <a:prstGeom prst="rect">
            <a:avLst/>
          </a:prstGeom>
          <a:solidFill>
            <a:srgbClr val="00FFFF"/>
          </a:solidFill>
          <a:ln w="9525">
            <a:noFill/>
            <a:miter lim="800000"/>
          </a:ln>
        </p:spPr>
        <p:txBody>
          <a:bodyPr vert="horz" wrap="square" lIns="91440" tIns="45720" rIns="91440" bIns="45720" numCol="1" anchor="t" anchorCtr="0" compatLnSpc="1"/>
          <a:lstStyle/>
          <a:p>
            <a:endParaRPr lang="zh-CN" altLang="en-US"/>
          </a:p>
        </p:txBody>
      </p:sp>
      <p:sp>
        <p:nvSpPr>
          <p:cNvPr id="232457" name="Rectangle 9"/>
          <p:cNvSpPr>
            <a:spLocks noChangeArrowheads="1"/>
          </p:cNvSpPr>
          <p:nvPr/>
        </p:nvSpPr>
        <p:spPr bwMode="auto">
          <a:xfrm>
            <a:off x="5394325" y="4025900"/>
            <a:ext cx="1341438" cy="33338"/>
          </a:xfrm>
          <a:prstGeom prst="rect">
            <a:avLst/>
          </a:prstGeom>
          <a:solidFill>
            <a:srgbClr val="00FFFF"/>
          </a:solidFill>
          <a:ln w="9525">
            <a:noFill/>
            <a:miter lim="800000"/>
          </a:ln>
        </p:spPr>
        <p:txBody>
          <a:bodyPr vert="horz" wrap="square" lIns="91440" tIns="45720" rIns="91440" bIns="45720" numCol="1" anchor="t" anchorCtr="0" compatLnSpc="1"/>
          <a:lstStyle/>
          <a:p>
            <a:endParaRPr lang="zh-CN" altLang="en-US"/>
          </a:p>
        </p:txBody>
      </p:sp>
      <p:sp>
        <p:nvSpPr>
          <p:cNvPr id="232458" name="Rectangle 10"/>
          <p:cNvSpPr>
            <a:spLocks noChangeArrowheads="1"/>
          </p:cNvSpPr>
          <p:nvPr/>
        </p:nvSpPr>
        <p:spPr bwMode="auto">
          <a:xfrm>
            <a:off x="7615238" y="1549400"/>
            <a:ext cx="17463" cy="31750"/>
          </a:xfrm>
          <a:prstGeom prst="rect">
            <a:avLst/>
          </a:prstGeom>
          <a:solidFill>
            <a:srgbClr val="00FFFF"/>
          </a:solidFill>
          <a:ln w="9525">
            <a:noFill/>
            <a:miter lim="800000"/>
          </a:ln>
        </p:spPr>
        <p:txBody>
          <a:bodyPr vert="horz" wrap="square" lIns="91440" tIns="45720" rIns="91440" bIns="45720" numCol="1" anchor="t" anchorCtr="0" compatLnSpc="1"/>
          <a:lstStyle/>
          <a:p>
            <a:endParaRPr lang="zh-CN" altLang="en-US"/>
          </a:p>
        </p:txBody>
      </p:sp>
      <p:sp>
        <p:nvSpPr>
          <p:cNvPr id="232459" name="Freeform 11"/>
          <p:cNvSpPr/>
          <p:nvPr/>
        </p:nvSpPr>
        <p:spPr bwMode="auto">
          <a:xfrm>
            <a:off x="5486400" y="1549400"/>
            <a:ext cx="2128838" cy="1296988"/>
          </a:xfrm>
          <a:custGeom>
            <a:avLst/>
            <a:gdLst/>
            <a:ahLst/>
            <a:cxnLst>
              <a:cxn ang="0">
                <a:pos x="2007" y="41"/>
              </a:cxn>
              <a:cxn ang="0">
                <a:pos x="2007" y="41"/>
              </a:cxn>
              <a:cxn ang="0">
                <a:pos x="1488" y="41"/>
              </a:cxn>
              <a:cxn ang="0">
                <a:pos x="1358" y="54"/>
              </a:cxn>
              <a:cxn ang="0">
                <a:pos x="1365" y="54"/>
              </a:cxn>
              <a:cxn ang="0">
                <a:pos x="1311" y="75"/>
              </a:cxn>
              <a:cxn ang="0">
                <a:pos x="1251" y="135"/>
              </a:cxn>
              <a:cxn ang="0">
                <a:pos x="1257" y="135"/>
              </a:cxn>
              <a:cxn ang="0">
                <a:pos x="1075" y="372"/>
              </a:cxn>
              <a:cxn ang="0">
                <a:pos x="757" y="831"/>
              </a:cxn>
              <a:cxn ang="0">
                <a:pos x="757" y="831"/>
              </a:cxn>
              <a:cxn ang="0">
                <a:pos x="445" y="1291"/>
              </a:cxn>
              <a:cxn ang="0">
                <a:pos x="264" y="1528"/>
              </a:cxn>
              <a:cxn ang="0">
                <a:pos x="257" y="1528"/>
              </a:cxn>
              <a:cxn ang="0">
                <a:pos x="196" y="1596"/>
              </a:cxn>
              <a:cxn ang="0">
                <a:pos x="141" y="1622"/>
              </a:cxn>
              <a:cxn ang="0">
                <a:pos x="136" y="1622"/>
              </a:cxn>
              <a:cxn ang="0">
                <a:pos x="0" y="1596"/>
              </a:cxn>
              <a:cxn ang="0">
                <a:pos x="0" y="1596"/>
              </a:cxn>
              <a:cxn ang="0">
                <a:pos x="129" y="1581"/>
              </a:cxn>
              <a:cxn ang="0">
                <a:pos x="175" y="1562"/>
              </a:cxn>
              <a:cxn ang="0">
                <a:pos x="169" y="1562"/>
              </a:cxn>
              <a:cxn ang="0">
                <a:pos x="230" y="1500"/>
              </a:cxn>
              <a:cxn ang="0">
                <a:pos x="412" y="1263"/>
              </a:cxn>
              <a:cxn ang="0">
                <a:pos x="412" y="1270"/>
              </a:cxn>
              <a:cxn ang="0">
                <a:pos x="723" y="811"/>
              </a:cxn>
              <a:cxn ang="0">
                <a:pos x="1041" y="351"/>
              </a:cxn>
              <a:cxn ang="0">
                <a:pos x="1041" y="345"/>
              </a:cxn>
              <a:cxn ang="0">
                <a:pos x="1223" y="108"/>
              </a:cxn>
              <a:cxn ang="0">
                <a:pos x="1285" y="47"/>
              </a:cxn>
              <a:cxn ang="0">
                <a:pos x="1290" y="47"/>
              </a:cxn>
              <a:cxn ang="0">
                <a:pos x="1345" y="20"/>
              </a:cxn>
              <a:cxn ang="0">
                <a:pos x="1480" y="0"/>
              </a:cxn>
              <a:cxn ang="0">
                <a:pos x="1480" y="0"/>
              </a:cxn>
              <a:cxn ang="0">
                <a:pos x="2007" y="0"/>
              </a:cxn>
              <a:cxn ang="0">
                <a:pos x="2683" y="0"/>
              </a:cxn>
            </a:cxnLst>
            <a:rect l="0" t="0" r="r" b="b"/>
            <a:pathLst>
              <a:path w="2683" h="1635">
                <a:moveTo>
                  <a:pt x="2683" y="41"/>
                </a:moveTo>
                <a:lnTo>
                  <a:pt x="2007" y="41"/>
                </a:lnTo>
                <a:lnTo>
                  <a:pt x="2007" y="41"/>
                </a:lnTo>
                <a:lnTo>
                  <a:pt x="2007" y="41"/>
                </a:lnTo>
                <a:lnTo>
                  <a:pt x="1480" y="41"/>
                </a:lnTo>
                <a:lnTo>
                  <a:pt x="1488" y="41"/>
                </a:lnTo>
                <a:lnTo>
                  <a:pt x="1488" y="41"/>
                </a:lnTo>
                <a:lnTo>
                  <a:pt x="1358" y="54"/>
                </a:lnTo>
                <a:lnTo>
                  <a:pt x="1365" y="54"/>
                </a:lnTo>
                <a:lnTo>
                  <a:pt x="1365" y="54"/>
                </a:lnTo>
                <a:lnTo>
                  <a:pt x="1311" y="80"/>
                </a:lnTo>
                <a:lnTo>
                  <a:pt x="1311" y="75"/>
                </a:lnTo>
                <a:lnTo>
                  <a:pt x="1311" y="75"/>
                </a:lnTo>
                <a:lnTo>
                  <a:pt x="1251" y="135"/>
                </a:lnTo>
                <a:lnTo>
                  <a:pt x="1257" y="135"/>
                </a:lnTo>
                <a:lnTo>
                  <a:pt x="1257" y="135"/>
                </a:lnTo>
                <a:lnTo>
                  <a:pt x="1075" y="372"/>
                </a:lnTo>
                <a:lnTo>
                  <a:pt x="1075" y="372"/>
                </a:lnTo>
                <a:lnTo>
                  <a:pt x="1075" y="372"/>
                </a:lnTo>
                <a:lnTo>
                  <a:pt x="757" y="831"/>
                </a:lnTo>
                <a:lnTo>
                  <a:pt x="757" y="831"/>
                </a:lnTo>
                <a:lnTo>
                  <a:pt x="757" y="831"/>
                </a:lnTo>
                <a:lnTo>
                  <a:pt x="445" y="1291"/>
                </a:lnTo>
                <a:lnTo>
                  <a:pt x="445" y="1291"/>
                </a:lnTo>
                <a:lnTo>
                  <a:pt x="445" y="1291"/>
                </a:lnTo>
                <a:lnTo>
                  <a:pt x="264" y="1528"/>
                </a:lnTo>
                <a:lnTo>
                  <a:pt x="257" y="1528"/>
                </a:lnTo>
                <a:lnTo>
                  <a:pt x="257" y="1528"/>
                </a:lnTo>
                <a:lnTo>
                  <a:pt x="196" y="1588"/>
                </a:lnTo>
                <a:lnTo>
                  <a:pt x="196" y="1596"/>
                </a:lnTo>
                <a:lnTo>
                  <a:pt x="196" y="1596"/>
                </a:lnTo>
                <a:lnTo>
                  <a:pt x="141" y="1622"/>
                </a:lnTo>
                <a:lnTo>
                  <a:pt x="136" y="1622"/>
                </a:lnTo>
                <a:lnTo>
                  <a:pt x="136" y="1622"/>
                </a:lnTo>
                <a:lnTo>
                  <a:pt x="6" y="1635"/>
                </a:lnTo>
                <a:lnTo>
                  <a:pt x="0" y="1596"/>
                </a:lnTo>
                <a:lnTo>
                  <a:pt x="0" y="1635"/>
                </a:lnTo>
                <a:lnTo>
                  <a:pt x="0" y="1596"/>
                </a:lnTo>
                <a:lnTo>
                  <a:pt x="129" y="1581"/>
                </a:lnTo>
                <a:lnTo>
                  <a:pt x="129" y="1581"/>
                </a:lnTo>
                <a:lnTo>
                  <a:pt x="122" y="1588"/>
                </a:lnTo>
                <a:lnTo>
                  <a:pt x="175" y="1562"/>
                </a:lnTo>
                <a:lnTo>
                  <a:pt x="175" y="1562"/>
                </a:lnTo>
                <a:lnTo>
                  <a:pt x="169" y="1562"/>
                </a:lnTo>
                <a:lnTo>
                  <a:pt x="230" y="1500"/>
                </a:lnTo>
                <a:lnTo>
                  <a:pt x="230" y="1500"/>
                </a:lnTo>
                <a:lnTo>
                  <a:pt x="230" y="1500"/>
                </a:lnTo>
                <a:lnTo>
                  <a:pt x="412" y="1263"/>
                </a:lnTo>
                <a:lnTo>
                  <a:pt x="412" y="1263"/>
                </a:lnTo>
                <a:lnTo>
                  <a:pt x="412" y="1270"/>
                </a:lnTo>
                <a:lnTo>
                  <a:pt x="723" y="811"/>
                </a:lnTo>
                <a:lnTo>
                  <a:pt x="723" y="811"/>
                </a:lnTo>
                <a:lnTo>
                  <a:pt x="723" y="811"/>
                </a:lnTo>
                <a:lnTo>
                  <a:pt x="1041" y="351"/>
                </a:lnTo>
                <a:lnTo>
                  <a:pt x="1041" y="351"/>
                </a:lnTo>
                <a:lnTo>
                  <a:pt x="1041" y="345"/>
                </a:lnTo>
                <a:lnTo>
                  <a:pt x="1223" y="108"/>
                </a:lnTo>
                <a:lnTo>
                  <a:pt x="1223" y="108"/>
                </a:lnTo>
                <a:lnTo>
                  <a:pt x="1223" y="108"/>
                </a:lnTo>
                <a:lnTo>
                  <a:pt x="1285" y="47"/>
                </a:lnTo>
                <a:lnTo>
                  <a:pt x="1285" y="47"/>
                </a:lnTo>
                <a:lnTo>
                  <a:pt x="1290" y="47"/>
                </a:lnTo>
                <a:lnTo>
                  <a:pt x="1345" y="20"/>
                </a:lnTo>
                <a:lnTo>
                  <a:pt x="1345" y="20"/>
                </a:lnTo>
                <a:lnTo>
                  <a:pt x="1352" y="13"/>
                </a:lnTo>
                <a:lnTo>
                  <a:pt x="1480" y="0"/>
                </a:lnTo>
                <a:lnTo>
                  <a:pt x="1480" y="0"/>
                </a:lnTo>
                <a:lnTo>
                  <a:pt x="1480" y="0"/>
                </a:lnTo>
                <a:lnTo>
                  <a:pt x="2007" y="0"/>
                </a:lnTo>
                <a:lnTo>
                  <a:pt x="2007" y="0"/>
                </a:lnTo>
                <a:lnTo>
                  <a:pt x="2007" y="0"/>
                </a:lnTo>
                <a:lnTo>
                  <a:pt x="2683" y="0"/>
                </a:lnTo>
                <a:lnTo>
                  <a:pt x="2683" y="41"/>
                </a:lnTo>
                <a:close/>
              </a:path>
            </a:pathLst>
          </a:custGeom>
          <a:solidFill>
            <a:srgbClr val="00FFFF"/>
          </a:solidFill>
          <a:ln w="9525">
            <a:noFill/>
            <a:round/>
          </a:ln>
        </p:spPr>
        <p:txBody>
          <a:bodyPr vert="horz" wrap="square" lIns="91440" tIns="45720" rIns="91440" bIns="45720" numCol="1" anchor="t" anchorCtr="0" compatLnSpc="1"/>
          <a:lstStyle/>
          <a:p>
            <a:endParaRPr lang="zh-CN" altLang="en-US"/>
          </a:p>
        </p:txBody>
      </p:sp>
      <p:sp>
        <p:nvSpPr>
          <p:cNvPr id="232460" name="Freeform 12"/>
          <p:cNvSpPr/>
          <p:nvPr/>
        </p:nvSpPr>
        <p:spPr bwMode="auto">
          <a:xfrm>
            <a:off x="5486400" y="2814638"/>
            <a:ext cx="57150" cy="31750"/>
          </a:xfrm>
          <a:custGeom>
            <a:avLst/>
            <a:gdLst/>
            <a:ahLst/>
            <a:cxnLst>
              <a:cxn ang="0">
                <a:pos x="0" y="0"/>
              </a:cxn>
              <a:cxn ang="0">
                <a:pos x="74" y="0"/>
              </a:cxn>
              <a:cxn ang="0">
                <a:pos x="74" y="39"/>
              </a:cxn>
              <a:cxn ang="0">
                <a:pos x="74" y="0"/>
              </a:cxn>
              <a:cxn ang="0">
                <a:pos x="74" y="39"/>
              </a:cxn>
              <a:cxn ang="0">
                <a:pos x="0" y="39"/>
              </a:cxn>
              <a:cxn ang="0">
                <a:pos x="0" y="0"/>
              </a:cxn>
            </a:cxnLst>
            <a:rect l="0" t="0" r="r" b="b"/>
            <a:pathLst>
              <a:path w="74" h="39">
                <a:moveTo>
                  <a:pt x="0" y="0"/>
                </a:moveTo>
                <a:lnTo>
                  <a:pt x="74" y="0"/>
                </a:lnTo>
                <a:lnTo>
                  <a:pt x="74" y="39"/>
                </a:lnTo>
                <a:lnTo>
                  <a:pt x="74" y="0"/>
                </a:lnTo>
                <a:lnTo>
                  <a:pt x="74" y="39"/>
                </a:lnTo>
                <a:lnTo>
                  <a:pt x="0" y="39"/>
                </a:lnTo>
                <a:lnTo>
                  <a:pt x="0" y="0"/>
                </a:lnTo>
                <a:close/>
              </a:path>
            </a:pathLst>
          </a:custGeom>
          <a:solidFill>
            <a:srgbClr val="00FFFF"/>
          </a:solidFill>
          <a:ln w="9525">
            <a:noFill/>
            <a:round/>
          </a:ln>
        </p:spPr>
        <p:txBody>
          <a:bodyPr vert="horz" wrap="square" lIns="91440" tIns="45720" rIns="91440" bIns="45720" numCol="1" anchor="t" anchorCtr="0" compatLnSpc="1"/>
          <a:lstStyle/>
          <a:p>
            <a:endParaRPr lang="zh-CN" altLang="en-US"/>
          </a:p>
        </p:txBody>
      </p:sp>
      <p:sp>
        <p:nvSpPr>
          <p:cNvPr id="232461" name="Rectangle 13"/>
          <p:cNvSpPr>
            <a:spLocks noChangeArrowheads="1"/>
          </p:cNvSpPr>
          <p:nvPr/>
        </p:nvSpPr>
        <p:spPr bwMode="auto">
          <a:xfrm>
            <a:off x="4187825" y="2814638"/>
            <a:ext cx="14288" cy="31750"/>
          </a:xfrm>
          <a:prstGeom prst="rect">
            <a:avLst/>
          </a:prstGeom>
          <a:solidFill>
            <a:srgbClr val="00FFFF"/>
          </a:solidFill>
          <a:ln w="9525">
            <a:noFill/>
            <a:miter lim="800000"/>
          </a:ln>
        </p:spPr>
        <p:txBody>
          <a:bodyPr vert="horz" wrap="square" lIns="91440" tIns="45720" rIns="91440" bIns="45720" numCol="1" anchor="t" anchorCtr="0" compatLnSpc="1"/>
          <a:lstStyle/>
          <a:p>
            <a:endParaRPr lang="zh-CN" altLang="en-US"/>
          </a:p>
        </p:txBody>
      </p:sp>
      <p:sp>
        <p:nvSpPr>
          <p:cNvPr id="232462" name="Rectangle 14"/>
          <p:cNvSpPr>
            <a:spLocks noChangeArrowheads="1"/>
          </p:cNvSpPr>
          <p:nvPr/>
        </p:nvSpPr>
        <p:spPr bwMode="auto">
          <a:xfrm>
            <a:off x="4202113" y="2814638"/>
            <a:ext cx="1341438" cy="31750"/>
          </a:xfrm>
          <a:prstGeom prst="rect">
            <a:avLst/>
          </a:prstGeom>
          <a:solidFill>
            <a:srgbClr val="00FFFF"/>
          </a:solidFill>
          <a:ln w="9525">
            <a:noFill/>
            <a:miter lim="800000"/>
          </a:ln>
        </p:spPr>
        <p:txBody>
          <a:bodyPr vert="horz" wrap="square" lIns="91440" tIns="45720" rIns="91440" bIns="45720" numCol="1" anchor="t" anchorCtr="0" compatLnSpc="1"/>
          <a:lstStyle/>
          <a:p>
            <a:endParaRPr lang="zh-CN" altLang="en-US"/>
          </a:p>
        </p:txBody>
      </p:sp>
      <p:sp>
        <p:nvSpPr>
          <p:cNvPr id="232463" name="Rectangle 15"/>
          <p:cNvSpPr>
            <a:spLocks noChangeArrowheads="1"/>
          </p:cNvSpPr>
          <p:nvPr/>
        </p:nvSpPr>
        <p:spPr bwMode="auto">
          <a:xfrm>
            <a:off x="2159000" y="1549400"/>
            <a:ext cx="15875" cy="31750"/>
          </a:xfrm>
          <a:prstGeom prst="rect">
            <a:avLst/>
          </a:prstGeom>
          <a:solidFill>
            <a:srgbClr val="00FFFF"/>
          </a:solidFill>
          <a:ln w="9525">
            <a:noFill/>
            <a:miter lim="800000"/>
          </a:ln>
        </p:spPr>
        <p:txBody>
          <a:bodyPr vert="horz" wrap="square" lIns="91440" tIns="45720" rIns="91440" bIns="45720" numCol="1" anchor="t" anchorCtr="0" compatLnSpc="1"/>
          <a:lstStyle/>
          <a:p>
            <a:endParaRPr lang="zh-CN" altLang="en-US"/>
          </a:p>
        </p:txBody>
      </p:sp>
      <p:sp>
        <p:nvSpPr>
          <p:cNvPr id="232464" name="Freeform 16"/>
          <p:cNvSpPr/>
          <p:nvPr/>
        </p:nvSpPr>
        <p:spPr bwMode="auto">
          <a:xfrm>
            <a:off x="2174875" y="1549400"/>
            <a:ext cx="2071688" cy="1296988"/>
          </a:xfrm>
          <a:custGeom>
            <a:avLst/>
            <a:gdLst/>
            <a:ahLst/>
            <a:cxnLst>
              <a:cxn ang="0">
                <a:pos x="643" y="0"/>
              </a:cxn>
              <a:cxn ang="0">
                <a:pos x="643" y="0"/>
              </a:cxn>
              <a:cxn ang="0">
                <a:pos x="1135" y="0"/>
              </a:cxn>
              <a:cxn ang="0">
                <a:pos x="1265" y="13"/>
              </a:cxn>
              <a:cxn ang="0">
                <a:pos x="1271" y="20"/>
              </a:cxn>
              <a:cxn ang="0">
                <a:pos x="1326" y="47"/>
              </a:cxn>
              <a:cxn ang="0">
                <a:pos x="1386" y="108"/>
              </a:cxn>
              <a:cxn ang="0">
                <a:pos x="1393" y="108"/>
              </a:cxn>
              <a:cxn ang="0">
                <a:pos x="1575" y="351"/>
              </a:cxn>
              <a:cxn ang="0">
                <a:pos x="1886" y="811"/>
              </a:cxn>
              <a:cxn ang="0">
                <a:pos x="1886" y="811"/>
              </a:cxn>
              <a:cxn ang="0">
                <a:pos x="2204" y="1263"/>
              </a:cxn>
              <a:cxn ang="0">
                <a:pos x="2386" y="1500"/>
              </a:cxn>
              <a:cxn ang="0">
                <a:pos x="2380" y="1500"/>
              </a:cxn>
              <a:cxn ang="0">
                <a:pos x="2441" y="1562"/>
              </a:cxn>
              <a:cxn ang="0">
                <a:pos x="2494" y="1588"/>
              </a:cxn>
              <a:cxn ang="0">
                <a:pos x="2487" y="1581"/>
              </a:cxn>
              <a:cxn ang="0">
                <a:pos x="2603" y="1635"/>
              </a:cxn>
              <a:cxn ang="0">
                <a:pos x="2603" y="1635"/>
              </a:cxn>
              <a:cxn ang="0">
                <a:pos x="2482" y="1622"/>
              </a:cxn>
              <a:cxn ang="0">
                <a:pos x="2420" y="1596"/>
              </a:cxn>
              <a:cxn ang="0">
                <a:pos x="2414" y="1588"/>
              </a:cxn>
              <a:cxn ang="0">
                <a:pos x="2352" y="1528"/>
              </a:cxn>
              <a:cxn ang="0">
                <a:pos x="2170" y="1291"/>
              </a:cxn>
              <a:cxn ang="0">
                <a:pos x="2170" y="1291"/>
              </a:cxn>
              <a:cxn ang="0">
                <a:pos x="1852" y="831"/>
              </a:cxn>
              <a:cxn ang="0">
                <a:pos x="1541" y="372"/>
              </a:cxn>
              <a:cxn ang="0">
                <a:pos x="1541" y="372"/>
              </a:cxn>
              <a:cxn ang="0">
                <a:pos x="1359" y="135"/>
              </a:cxn>
              <a:cxn ang="0">
                <a:pos x="1299" y="75"/>
              </a:cxn>
              <a:cxn ang="0">
                <a:pos x="1304" y="80"/>
              </a:cxn>
              <a:cxn ang="0">
                <a:pos x="1251" y="54"/>
              </a:cxn>
              <a:cxn ang="0">
                <a:pos x="1130" y="41"/>
              </a:cxn>
              <a:cxn ang="0">
                <a:pos x="1130" y="41"/>
              </a:cxn>
              <a:cxn ang="0">
                <a:pos x="643" y="41"/>
              </a:cxn>
              <a:cxn ang="0">
                <a:pos x="0" y="41"/>
              </a:cxn>
            </a:cxnLst>
            <a:rect l="0" t="0" r="r" b="b"/>
            <a:pathLst>
              <a:path w="2610" h="1635">
                <a:moveTo>
                  <a:pt x="0" y="0"/>
                </a:moveTo>
                <a:lnTo>
                  <a:pt x="643" y="0"/>
                </a:lnTo>
                <a:lnTo>
                  <a:pt x="643" y="0"/>
                </a:lnTo>
                <a:lnTo>
                  <a:pt x="643" y="0"/>
                </a:lnTo>
                <a:lnTo>
                  <a:pt x="1130" y="0"/>
                </a:lnTo>
                <a:lnTo>
                  <a:pt x="1135" y="0"/>
                </a:lnTo>
                <a:lnTo>
                  <a:pt x="1135" y="0"/>
                </a:lnTo>
                <a:lnTo>
                  <a:pt x="1265" y="13"/>
                </a:lnTo>
                <a:lnTo>
                  <a:pt x="1271" y="20"/>
                </a:lnTo>
                <a:lnTo>
                  <a:pt x="1271" y="20"/>
                </a:lnTo>
                <a:lnTo>
                  <a:pt x="1326" y="47"/>
                </a:lnTo>
                <a:lnTo>
                  <a:pt x="1326" y="47"/>
                </a:lnTo>
                <a:lnTo>
                  <a:pt x="1326" y="47"/>
                </a:lnTo>
                <a:lnTo>
                  <a:pt x="1386" y="108"/>
                </a:lnTo>
                <a:lnTo>
                  <a:pt x="1393" y="108"/>
                </a:lnTo>
                <a:lnTo>
                  <a:pt x="1393" y="108"/>
                </a:lnTo>
                <a:lnTo>
                  <a:pt x="1575" y="345"/>
                </a:lnTo>
                <a:lnTo>
                  <a:pt x="1575" y="351"/>
                </a:lnTo>
                <a:lnTo>
                  <a:pt x="1575" y="351"/>
                </a:lnTo>
                <a:lnTo>
                  <a:pt x="1886" y="811"/>
                </a:lnTo>
                <a:lnTo>
                  <a:pt x="1886" y="811"/>
                </a:lnTo>
                <a:lnTo>
                  <a:pt x="1886" y="811"/>
                </a:lnTo>
                <a:lnTo>
                  <a:pt x="2204" y="1270"/>
                </a:lnTo>
                <a:lnTo>
                  <a:pt x="2204" y="1263"/>
                </a:lnTo>
                <a:lnTo>
                  <a:pt x="2204" y="1263"/>
                </a:lnTo>
                <a:lnTo>
                  <a:pt x="2386" y="1500"/>
                </a:lnTo>
                <a:lnTo>
                  <a:pt x="2380" y="1500"/>
                </a:lnTo>
                <a:lnTo>
                  <a:pt x="2380" y="1500"/>
                </a:lnTo>
                <a:lnTo>
                  <a:pt x="2441" y="1562"/>
                </a:lnTo>
                <a:lnTo>
                  <a:pt x="2441" y="1562"/>
                </a:lnTo>
                <a:lnTo>
                  <a:pt x="2441" y="1562"/>
                </a:lnTo>
                <a:lnTo>
                  <a:pt x="2494" y="1588"/>
                </a:lnTo>
                <a:lnTo>
                  <a:pt x="2487" y="1581"/>
                </a:lnTo>
                <a:lnTo>
                  <a:pt x="2487" y="1581"/>
                </a:lnTo>
                <a:lnTo>
                  <a:pt x="2610" y="1596"/>
                </a:lnTo>
                <a:lnTo>
                  <a:pt x="2603" y="1635"/>
                </a:lnTo>
                <a:lnTo>
                  <a:pt x="2603" y="1596"/>
                </a:lnTo>
                <a:lnTo>
                  <a:pt x="2603" y="1635"/>
                </a:lnTo>
                <a:lnTo>
                  <a:pt x="2482" y="1622"/>
                </a:lnTo>
                <a:lnTo>
                  <a:pt x="2482" y="1622"/>
                </a:lnTo>
                <a:lnTo>
                  <a:pt x="2475" y="1622"/>
                </a:lnTo>
                <a:lnTo>
                  <a:pt x="2420" y="1596"/>
                </a:lnTo>
                <a:lnTo>
                  <a:pt x="2420" y="1596"/>
                </a:lnTo>
                <a:lnTo>
                  <a:pt x="2414" y="1588"/>
                </a:lnTo>
                <a:lnTo>
                  <a:pt x="2352" y="1528"/>
                </a:lnTo>
                <a:lnTo>
                  <a:pt x="2352" y="1528"/>
                </a:lnTo>
                <a:lnTo>
                  <a:pt x="2352" y="1528"/>
                </a:lnTo>
                <a:lnTo>
                  <a:pt x="2170" y="1291"/>
                </a:lnTo>
                <a:lnTo>
                  <a:pt x="2170" y="1291"/>
                </a:lnTo>
                <a:lnTo>
                  <a:pt x="2170" y="1291"/>
                </a:lnTo>
                <a:lnTo>
                  <a:pt x="1852" y="831"/>
                </a:lnTo>
                <a:lnTo>
                  <a:pt x="1852" y="831"/>
                </a:lnTo>
                <a:lnTo>
                  <a:pt x="1852" y="831"/>
                </a:lnTo>
                <a:lnTo>
                  <a:pt x="1541" y="372"/>
                </a:lnTo>
                <a:lnTo>
                  <a:pt x="1541" y="372"/>
                </a:lnTo>
                <a:lnTo>
                  <a:pt x="1541" y="372"/>
                </a:lnTo>
                <a:lnTo>
                  <a:pt x="1359" y="135"/>
                </a:lnTo>
                <a:lnTo>
                  <a:pt x="1359" y="135"/>
                </a:lnTo>
                <a:lnTo>
                  <a:pt x="1359" y="135"/>
                </a:lnTo>
                <a:lnTo>
                  <a:pt x="1299" y="75"/>
                </a:lnTo>
                <a:lnTo>
                  <a:pt x="1299" y="75"/>
                </a:lnTo>
                <a:lnTo>
                  <a:pt x="1304" y="80"/>
                </a:lnTo>
                <a:lnTo>
                  <a:pt x="1251" y="54"/>
                </a:lnTo>
                <a:lnTo>
                  <a:pt x="1251" y="54"/>
                </a:lnTo>
                <a:lnTo>
                  <a:pt x="1258" y="54"/>
                </a:lnTo>
                <a:lnTo>
                  <a:pt x="1130" y="41"/>
                </a:lnTo>
                <a:lnTo>
                  <a:pt x="1130" y="41"/>
                </a:lnTo>
                <a:lnTo>
                  <a:pt x="1130" y="41"/>
                </a:lnTo>
                <a:lnTo>
                  <a:pt x="643" y="41"/>
                </a:lnTo>
                <a:lnTo>
                  <a:pt x="643" y="41"/>
                </a:lnTo>
                <a:lnTo>
                  <a:pt x="643" y="41"/>
                </a:lnTo>
                <a:lnTo>
                  <a:pt x="0" y="41"/>
                </a:lnTo>
                <a:lnTo>
                  <a:pt x="0" y="0"/>
                </a:lnTo>
                <a:close/>
              </a:path>
            </a:pathLst>
          </a:custGeom>
          <a:solidFill>
            <a:srgbClr val="00FFFF"/>
          </a:solidFill>
          <a:ln w="9525">
            <a:noFill/>
            <a:round/>
          </a:ln>
        </p:spPr>
        <p:txBody>
          <a:bodyPr vert="horz" wrap="square" lIns="91440" tIns="45720" rIns="91440" bIns="45720" numCol="1" anchor="t" anchorCtr="0" compatLnSpc="1"/>
          <a:lstStyle/>
          <a:p>
            <a:endParaRPr lang="zh-CN" altLang="en-US"/>
          </a:p>
        </p:txBody>
      </p:sp>
      <p:sp>
        <p:nvSpPr>
          <p:cNvPr id="232465" name="Freeform 17"/>
          <p:cNvSpPr/>
          <p:nvPr/>
        </p:nvSpPr>
        <p:spPr bwMode="auto">
          <a:xfrm>
            <a:off x="4187825" y="2814638"/>
            <a:ext cx="52388" cy="31750"/>
          </a:xfrm>
          <a:custGeom>
            <a:avLst/>
            <a:gdLst/>
            <a:ahLst/>
            <a:cxnLst>
              <a:cxn ang="0">
                <a:pos x="68" y="39"/>
              </a:cxn>
              <a:cxn ang="0">
                <a:pos x="0" y="39"/>
              </a:cxn>
              <a:cxn ang="0">
                <a:pos x="0" y="0"/>
              </a:cxn>
              <a:cxn ang="0">
                <a:pos x="0" y="39"/>
              </a:cxn>
              <a:cxn ang="0">
                <a:pos x="0" y="0"/>
              </a:cxn>
              <a:cxn ang="0">
                <a:pos x="68" y="0"/>
              </a:cxn>
              <a:cxn ang="0">
                <a:pos x="68" y="39"/>
              </a:cxn>
            </a:cxnLst>
            <a:rect l="0" t="0" r="r" b="b"/>
            <a:pathLst>
              <a:path w="68" h="39">
                <a:moveTo>
                  <a:pt x="68" y="39"/>
                </a:moveTo>
                <a:lnTo>
                  <a:pt x="0" y="39"/>
                </a:lnTo>
                <a:lnTo>
                  <a:pt x="0" y="0"/>
                </a:lnTo>
                <a:lnTo>
                  <a:pt x="0" y="39"/>
                </a:lnTo>
                <a:lnTo>
                  <a:pt x="0" y="0"/>
                </a:lnTo>
                <a:lnTo>
                  <a:pt x="68" y="0"/>
                </a:lnTo>
                <a:lnTo>
                  <a:pt x="68" y="39"/>
                </a:lnTo>
                <a:close/>
              </a:path>
            </a:pathLst>
          </a:custGeom>
          <a:solidFill>
            <a:srgbClr val="00FFFF"/>
          </a:solidFill>
          <a:ln w="9525">
            <a:noFill/>
            <a:round/>
          </a:ln>
        </p:spPr>
        <p:txBody>
          <a:bodyPr vert="horz" wrap="square" lIns="91440" tIns="45720" rIns="91440" bIns="45720" numCol="1" anchor="t" anchorCtr="0" compatLnSpc="1"/>
          <a:lstStyle/>
          <a:p>
            <a:endParaRPr lang="zh-CN" altLang="en-US"/>
          </a:p>
        </p:txBody>
      </p:sp>
      <p:sp>
        <p:nvSpPr>
          <p:cNvPr id="232466" name="Rectangle 18"/>
          <p:cNvSpPr>
            <a:spLocks noChangeArrowheads="1"/>
          </p:cNvSpPr>
          <p:nvPr/>
        </p:nvSpPr>
        <p:spPr bwMode="auto">
          <a:xfrm>
            <a:off x="5527675" y="2814638"/>
            <a:ext cx="15875" cy="31750"/>
          </a:xfrm>
          <a:prstGeom prst="rect">
            <a:avLst/>
          </a:prstGeom>
          <a:solidFill>
            <a:srgbClr val="00FFFF"/>
          </a:solidFill>
          <a:ln w="9525">
            <a:noFill/>
            <a:miter lim="800000"/>
          </a:ln>
        </p:spPr>
        <p:txBody>
          <a:bodyPr vert="horz" wrap="square" lIns="91440" tIns="45720" rIns="91440" bIns="45720" numCol="1" anchor="t" anchorCtr="0" compatLnSpc="1"/>
          <a:lstStyle/>
          <a:p>
            <a:endParaRPr lang="zh-CN" altLang="en-US"/>
          </a:p>
        </p:txBody>
      </p:sp>
      <p:sp>
        <p:nvSpPr>
          <p:cNvPr id="232467" name="Rectangle 19"/>
          <p:cNvSpPr>
            <a:spLocks noChangeArrowheads="1"/>
          </p:cNvSpPr>
          <p:nvPr/>
        </p:nvSpPr>
        <p:spPr bwMode="auto">
          <a:xfrm>
            <a:off x="4187825" y="2814638"/>
            <a:ext cx="1339850" cy="31750"/>
          </a:xfrm>
          <a:prstGeom prst="rect">
            <a:avLst/>
          </a:prstGeom>
          <a:solidFill>
            <a:srgbClr val="00FFFF"/>
          </a:solidFill>
          <a:ln w="9525">
            <a:noFill/>
            <a:miter lim="800000"/>
          </a:ln>
        </p:spPr>
        <p:txBody>
          <a:bodyPr vert="horz" wrap="square" lIns="91440" tIns="45720" rIns="91440" bIns="45720" numCol="1" anchor="t" anchorCtr="0" compatLnSpc="1"/>
          <a:lstStyle/>
          <a:p>
            <a:endParaRPr lang="zh-CN" altLang="en-US"/>
          </a:p>
        </p:txBody>
      </p:sp>
      <p:sp>
        <p:nvSpPr>
          <p:cNvPr id="232468" name="Rectangle 20"/>
          <p:cNvSpPr>
            <a:spLocks noChangeArrowheads="1"/>
          </p:cNvSpPr>
          <p:nvPr/>
        </p:nvSpPr>
        <p:spPr bwMode="auto">
          <a:xfrm>
            <a:off x="8821738" y="5292725"/>
            <a:ext cx="17463" cy="33338"/>
          </a:xfrm>
          <a:prstGeom prst="rect">
            <a:avLst/>
          </a:prstGeom>
          <a:solidFill>
            <a:srgbClr val="00FFFF"/>
          </a:solidFill>
          <a:ln w="9525">
            <a:noFill/>
            <a:miter lim="800000"/>
          </a:ln>
        </p:spPr>
        <p:txBody>
          <a:bodyPr vert="horz" wrap="square" lIns="91440" tIns="45720" rIns="91440" bIns="45720" numCol="1" anchor="t" anchorCtr="0" compatLnSpc="1"/>
          <a:lstStyle/>
          <a:p>
            <a:endParaRPr lang="zh-CN" altLang="en-US"/>
          </a:p>
        </p:txBody>
      </p:sp>
      <p:sp>
        <p:nvSpPr>
          <p:cNvPr id="232469" name="Freeform 21"/>
          <p:cNvSpPr/>
          <p:nvPr/>
        </p:nvSpPr>
        <p:spPr bwMode="auto">
          <a:xfrm>
            <a:off x="6692900" y="4025900"/>
            <a:ext cx="2128838" cy="1300163"/>
          </a:xfrm>
          <a:custGeom>
            <a:avLst/>
            <a:gdLst/>
            <a:ahLst/>
            <a:cxnLst>
              <a:cxn ang="0">
                <a:pos x="2007" y="1636"/>
              </a:cxn>
              <a:cxn ang="0">
                <a:pos x="2007" y="1636"/>
              </a:cxn>
              <a:cxn ang="0">
                <a:pos x="1480" y="1636"/>
              </a:cxn>
              <a:cxn ang="0">
                <a:pos x="1352" y="1622"/>
              </a:cxn>
              <a:cxn ang="0">
                <a:pos x="1345" y="1622"/>
              </a:cxn>
              <a:cxn ang="0">
                <a:pos x="1285" y="1588"/>
              </a:cxn>
              <a:cxn ang="0">
                <a:pos x="1223" y="1528"/>
              </a:cxn>
              <a:cxn ang="0">
                <a:pos x="1223" y="1528"/>
              </a:cxn>
              <a:cxn ang="0">
                <a:pos x="1041" y="1291"/>
              </a:cxn>
              <a:cxn ang="0">
                <a:pos x="730" y="832"/>
              </a:cxn>
              <a:cxn ang="0">
                <a:pos x="730" y="832"/>
              </a:cxn>
              <a:cxn ang="0">
                <a:pos x="411" y="366"/>
              </a:cxn>
              <a:cxn ang="0">
                <a:pos x="230" y="129"/>
              </a:cxn>
              <a:cxn ang="0">
                <a:pos x="230" y="129"/>
              </a:cxn>
              <a:cxn ang="0">
                <a:pos x="175" y="82"/>
              </a:cxn>
              <a:cxn ang="0">
                <a:pos x="121" y="55"/>
              </a:cxn>
              <a:cxn ang="0">
                <a:pos x="128" y="55"/>
              </a:cxn>
              <a:cxn ang="0">
                <a:pos x="0" y="0"/>
              </a:cxn>
              <a:cxn ang="0">
                <a:pos x="6" y="0"/>
              </a:cxn>
              <a:cxn ang="0">
                <a:pos x="135" y="14"/>
              </a:cxn>
              <a:cxn ang="0">
                <a:pos x="196" y="48"/>
              </a:cxn>
              <a:cxn ang="0">
                <a:pos x="196" y="48"/>
              </a:cxn>
              <a:cxn ang="0">
                <a:pos x="257" y="101"/>
              </a:cxn>
              <a:cxn ang="0">
                <a:pos x="445" y="338"/>
              </a:cxn>
              <a:cxn ang="0">
                <a:pos x="445" y="345"/>
              </a:cxn>
              <a:cxn ang="0">
                <a:pos x="764" y="811"/>
              </a:cxn>
              <a:cxn ang="0">
                <a:pos x="1075" y="1272"/>
              </a:cxn>
              <a:cxn ang="0">
                <a:pos x="1075" y="1264"/>
              </a:cxn>
              <a:cxn ang="0">
                <a:pos x="1256" y="1501"/>
              </a:cxn>
              <a:cxn ang="0">
                <a:pos x="1311" y="1562"/>
              </a:cxn>
              <a:cxn ang="0">
                <a:pos x="1311" y="1562"/>
              </a:cxn>
              <a:cxn ang="0">
                <a:pos x="1365" y="1588"/>
              </a:cxn>
              <a:cxn ang="0">
                <a:pos x="1487" y="1595"/>
              </a:cxn>
              <a:cxn ang="0">
                <a:pos x="1480" y="1595"/>
              </a:cxn>
              <a:cxn ang="0">
                <a:pos x="2007" y="1595"/>
              </a:cxn>
              <a:cxn ang="0">
                <a:pos x="2683" y="1595"/>
              </a:cxn>
            </a:cxnLst>
            <a:rect l="0" t="0" r="r" b="b"/>
            <a:pathLst>
              <a:path w="2683" h="1636">
                <a:moveTo>
                  <a:pt x="2683" y="1636"/>
                </a:moveTo>
                <a:lnTo>
                  <a:pt x="2007" y="1636"/>
                </a:lnTo>
                <a:lnTo>
                  <a:pt x="2007" y="1636"/>
                </a:lnTo>
                <a:lnTo>
                  <a:pt x="2007" y="1636"/>
                </a:lnTo>
                <a:lnTo>
                  <a:pt x="1480" y="1636"/>
                </a:lnTo>
                <a:lnTo>
                  <a:pt x="1480" y="1636"/>
                </a:lnTo>
                <a:lnTo>
                  <a:pt x="1480" y="1636"/>
                </a:lnTo>
                <a:lnTo>
                  <a:pt x="1352" y="1622"/>
                </a:lnTo>
                <a:lnTo>
                  <a:pt x="1345" y="1622"/>
                </a:lnTo>
                <a:lnTo>
                  <a:pt x="1345" y="1622"/>
                </a:lnTo>
                <a:lnTo>
                  <a:pt x="1290" y="1595"/>
                </a:lnTo>
                <a:lnTo>
                  <a:pt x="1285" y="1588"/>
                </a:lnTo>
                <a:lnTo>
                  <a:pt x="1285" y="1588"/>
                </a:lnTo>
                <a:lnTo>
                  <a:pt x="1223" y="1528"/>
                </a:lnTo>
                <a:lnTo>
                  <a:pt x="1223" y="1528"/>
                </a:lnTo>
                <a:lnTo>
                  <a:pt x="1223" y="1528"/>
                </a:lnTo>
                <a:lnTo>
                  <a:pt x="1041" y="1291"/>
                </a:lnTo>
                <a:lnTo>
                  <a:pt x="1041" y="1291"/>
                </a:lnTo>
                <a:lnTo>
                  <a:pt x="1041" y="1291"/>
                </a:lnTo>
                <a:lnTo>
                  <a:pt x="730" y="832"/>
                </a:lnTo>
                <a:lnTo>
                  <a:pt x="730" y="832"/>
                </a:lnTo>
                <a:lnTo>
                  <a:pt x="730" y="832"/>
                </a:lnTo>
                <a:lnTo>
                  <a:pt x="411" y="366"/>
                </a:lnTo>
                <a:lnTo>
                  <a:pt x="411" y="366"/>
                </a:lnTo>
                <a:lnTo>
                  <a:pt x="411" y="366"/>
                </a:lnTo>
                <a:lnTo>
                  <a:pt x="230" y="129"/>
                </a:lnTo>
                <a:lnTo>
                  <a:pt x="230" y="129"/>
                </a:lnTo>
                <a:lnTo>
                  <a:pt x="230" y="129"/>
                </a:lnTo>
                <a:lnTo>
                  <a:pt x="169" y="75"/>
                </a:lnTo>
                <a:lnTo>
                  <a:pt x="175" y="82"/>
                </a:lnTo>
                <a:lnTo>
                  <a:pt x="175" y="82"/>
                </a:lnTo>
                <a:lnTo>
                  <a:pt x="121" y="55"/>
                </a:lnTo>
                <a:lnTo>
                  <a:pt x="128" y="55"/>
                </a:lnTo>
                <a:lnTo>
                  <a:pt x="128" y="55"/>
                </a:lnTo>
                <a:lnTo>
                  <a:pt x="0" y="41"/>
                </a:lnTo>
                <a:lnTo>
                  <a:pt x="0" y="0"/>
                </a:lnTo>
                <a:lnTo>
                  <a:pt x="0" y="41"/>
                </a:lnTo>
                <a:lnTo>
                  <a:pt x="6" y="0"/>
                </a:lnTo>
                <a:lnTo>
                  <a:pt x="135" y="14"/>
                </a:lnTo>
                <a:lnTo>
                  <a:pt x="135" y="14"/>
                </a:lnTo>
                <a:lnTo>
                  <a:pt x="141" y="21"/>
                </a:lnTo>
                <a:lnTo>
                  <a:pt x="196" y="48"/>
                </a:lnTo>
                <a:lnTo>
                  <a:pt x="196" y="48"/>
                </a:lnTo>
                <a:lnTo>
                  <a:pt x="196" y="48"/>
                </a:lnTo>
                <a:lnTo>
                  <a:pt x="257" y="101"/>
                </a:lnTo>
                <a:lnTo>
                  <a:pt x="257" y="101"/>
                </a:lnTo>
                <a:lnTo>
                  <a:pt x="264" y="101"/>
                </a:lnTo>
                <a:lnTo>
                  <a:pt x="445" y="338"/>
                </a:lnTo>
                <a:lnTo>
                  <a:pt x="445" y="338"/>
                </a:lnTo>
                <a:lnTo>
                  <a:pt x="445" y="345"/>
                </a:lnTo>
                <a:lnTo>
                  <a:pt x="764" y="811"/>
                </a:lnTo>
                <a:lnTo>
                  <a:pt x="764" y="811"/>
                </a:lnTo>
                <a:lnTo>
                  <a:pt x="764" y="811"/>
                </a:lnTo>
                <a:lnTo>
                  <a:pt x="1075" y="1272"/>
                </a:lnTo>
                <a:lnTo>
                  <a:pt x="1075" y="1272"/>
                </a:lnTo>
                <a:lnTo>
                  <a:pt x="1075" y="1264"/>
                </a:lnTo>
                <a:lnTo>
                  <a:pt x="1256" y="1501"/>
                </a:lnTo>
                <a:lnTo>
                  <a:pt x="1256" y="1501"/>
                </a:lnTo>
                <a:lnTo>
                  <a:pt x="1251" y="1501"/>
                </a:lnTo>
                <a:lnTo>
                  <a:pt x="1311" y="1562"/>
                </a:lnTo>
                <a:lnTo>
                  <a:pt x="1311" y="1562"/>
                </a:lnTo>
                <a:lnTo>
                  <a:pt x="1311" y="1562"/>
                </a:lnTo>
                <a:lnTo>
                  <a:pt x="1365" y="1588"/>
                </a:lnTo>
                <a:lnTo>
                  <a:pt x="1365" y="1588"/>
                </a:lnTo>
                <a:lnTo>
                  <a:pt x="1358" y="1583"/>
                </a:lnTo>
                <a:lnTo>
                  <a:pt x="1487" y="1595"/>
                </a:lnTo>
                <a:lnTo>
                  <a:pt x="1487" y="1595"/>
                </a:lnTo>
                <a:lnTo>
                  <a:pt x="1480" y="1595"/>
                </a:lnTo>
                <a:lnTo>
                  <a:pt x="2007" y="1595"/>
                </a:lnTo>
                <a:lnTo>
                  <a:pt x="2007" y="1595"/>
                </a:lnTo>
                <a:lnTo>
                  <a:pt x="2007" y="1595"/>
                </a:lnTo>
                <a:lnTo>
                  <a:pt x="2683" y="1595"/>
                </a:lnTo>
                <a:lnTo>
                  <a:pt x="2683" y="1636"/>
                </a:lnTo>
                <a:close/>
              </a:path>
            </a:pathLst>
          </a:custGeom>
          <a:solidFill>
            <a:srgbClr val="00FFFF"/>
          </a:solidFill>
          <a:ln w="9525">
            <a:noFill/>
            <a:round/>
          </a:ln>
        </p:spPr>
        <p:txBody>
          <a:bodyPr vert="horz" wrap="square" lIns="91440" tIns="45720" rIns="91440" bIns="45720" numCol="1" anchor="t" anchorCtr="0" compatLnSpc="1"/>
          <a:lstStyle/>
          <a:p>
            <a:endParaRPr lang="zh-CN" altLang="en-US"/>
          </a:p>
        </p:txBody>
      </p:sp>
      <p:sp>
        <p:nvSpPr>
          <p:cNvPr id="232470" name="Freeform 22"/>
          <p:cNvSpPr/>
          <p:nvPr/>
        </p:nvSpPr>
        <p:spPr bwMode="auto">
          <a:xfrm>
            <a:off x="6692900" y="4025900"/>
            <a:ext cx="58738" cy="33338"/>
          </a:xfrm>
          <a:custGeom>
            <a:avLst/>
            <a:gdLst/>
            <a:ahLst/>
            <a:cxnLst>
              <a:cxn ang="0">
                <a:pos x="0" y="0"/>
              </a:cxn>
              <a:cxn ang="0">
                <a:pos x="74" y="0"/>
              </a:cxn>
              <a:cxn ang="0">
                <a:pos x="74" y="41"/>
              </a:cxn>
              <a:cxn ang="0">
                <a:pos x="74" y="0"/>
              </a:cxn>
              <a:cxn ang="0">
                <a:pos x="74" y="41"/>
              </a:cxn>
              <a:cxn ang="0">
                <a:pos x="0" y="41"/>
              </a:cxn>
              <a:cxn ang="0">
                <a:pos x="0" y="0"/>
              </a:cxn>
            </a:cxnLst>
            <a:rect l="0" t="0" r="r" b="b"/>
            <a:pathLst>
              <a:path w="74" h="41">
                <a:moveTo>
                  <a:pt x="0" y="0"/>
                </a:moveTo>
                <a:lnTo>
                  <a:pt x="74" y="0"/>
                </a:lnTo>
                <a:lnTo>
                  <a:pt x="74" y="41"/>
                </a:lnTo>
                <a:lnTo>
                  <a:pt x="74" y="0"/>
                </a:lnTo>
                <a:lnTo>
                  <a:pt x="74" y="41"/>
                </a:lnTo>
                <a:lnTo>
                  <a:pt x="0" y="41"/>
                </a:lnTo>
                <a:lnTo>
                  <a:pt x="0" y="0"/>
                </a:lnTo>
                <a:close/>
              </a:path>
            </a:pathLst>
          </a:custGeom>
          <a:solidFill>
            <a:srgbClr val="00FFFF"/>
          </a:solidFill>
          <a:ln w="9525">
            <a:noFill/>
            <a:round/>
          </a:ln>
        </p:spPr>
        <p:txBody>
          <a:bodyPr vert="horz" wrap="square" lIns="91440" tIns="45720" rIns="91440" bIns="45720" numCol="1" anchor="t" anchorCtr="0" compatLnSpc="1"/>
          <a:lstStyle/>
          <a:p>
            <a:endParaRPr lang="zh-CN" altLang="en-US"/>
          </a:p>
        </p:txBody>
      </p:sp>
      <p:sp>
        <p:nvSpPr>
          <p:cNvPr id="232471" name="Rectangle 23"/>
          <p:cNvSpPr>
            <a:spLocks noChangeArrowheads="1"/>
          </p:cNvSpPr>
          <p:nvPr/>
        </p:nvSpPr>
        <p:spPr bwMode="auto">
          <a:xfrm>
            <a:off x="5394325" y="4025900"/>
            <a:ext cx="15875" cy="33338"/>
          </a:xfrm>
          <a:prstGeom prst="rect">
            <a:avLst/>
          </a:prstGeom>
          <a:solidFill>
            <a:srgbClr val="00FFFF"/>
          </a:solidFill>
          <a:ln w="9525">
            <a:noFill/>
            <a:miter lim="800000"/>
          </a:ln>
        </p:spPr>
        <p:txBody>
          <a:bodyPr vert="horz" wrap="square" lIns="91440" tIns="45720" rIns="91440" bIns="45720" numCol="1" anchor="t" anchorCtr="0" compatLnSpc="1"/>
          <a:lstStyle/>
          <a:p>
            <a:endParaRPr lang="zh-CN" altLang="en-US"/>
          </a:p>
        </p:txBody>
      </p:sp>
      <p:sp>
        <p:nvSpPr>
          <p:cNvPr id="232472" name="Rectangle 24"/>
          <p:cNvSpPr>
            <a:spLocks noChangeArrowheads="1"/>
          </p:cNvSpPr>
          <p:nvPr/>
        </p:nvSpPr>
        <p:spPr bwMode="auto">
          <a:xfrm>
            <a:off x="5410200" y="4025900"/>
            <a:ext cx="1341438" cy="33338"/>
          </a:xfrm>
          <a:prstGeom prst="rect">
            <a:avLst/>
          </a:prstGeom>
          <a:solidFill>
            <a:srgbClr val="00FFFF"/>
          </a:solidFill>
          <a:ln w="9525">
            <a:noFill/>
            <a:miter lim="800000"/>
          </a:ln>
        </p:spPr>
        <p:txBody>
          <a:bodyPr vert="horz" wrap="square" lIns="91440" tIns="45720" rIns="91440" bIns="45720" numCol="1" anchor="t" anchorCtr="0" compatLnSpc="1"/>
          <a:lstStyle/>
          <a:p>
            <a:endParaRPr lang="zh-CN" altLang="en-US"/>
          </a:p>
        </p:txBody>
      </p:sp>
      <p:sp>
        <p:nvSpPr>
          <p:cNvPr id="232473" name="Rectangle 25"/>
          <p:cNvSpPr>
            <a:spLocks noChangeArrowheads="1"/>
          </p:cNvSpPr>
          <p:nvPr/>
        </p:nvSpPr>
        <p:spPr bwMode="auto">
          <a:xfrm>
            <a:off x="5105400" y="4032250"/>
            <a:ext cx="4763" cy="17463"/>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474" name="Rectangle 26"/>
          <p:cNvSpPr>
            <a:spLocks noChangeArrowheads="1"/>
          </p:cNvSpPr>
          <p:nvPr/>
        </p:nvSpPr>
        <p:spPr bwMode="auto">
          <a:xfrm>
            <a:off x="1493838" y="4032250"/>
            <a:ext cx="4763" cy="17463"/>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475" name="Rectangle 27"/>
          <p:cNvSpPr>
            <a:spLocks noChangeArrowheads="1"/>
          </p:cNvSpPr>
          <p:nvPr/>
        </p:nvSpPr>
        <p:spPr bwMode="auto">
          <a:xfrm>
            <a:off x="1498600" y="4032250"/>
            <a:ext cx="3606800" cy="17463"/>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476" name="Rectangle 28"/>
          <p:cNvSpPr>
            <a:spLocks noChangeArrowheads="1"/>
          </p:cNvSpPr>
          <p:nvPr/>
        </p:nvSpPr>
        <p:spPr bwMode="auto">
          <a:xfrm>
            <a:off x="3930650" y="2825750"/>
            <a:ext cx="3175" cy="15875"/>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477" name="Rectangle 29"/>
          <p:cNvSpPr>
            <a:spLocks noChangeArrowheads="1"/>
          </p:cNvSpPr>
          <p:nvPr/>
        </p:nvSpPr>
        <p:spPr bwMode="auto">
          <a:xfrm>
            <a:off x="1493838" y="2825750"/>
            <a:ext cx="4763" cy="15875"/>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478" name="Rectangle 30"/>
          <p:cNvSpPr>
            <a:spLocks noChangeArrowheads="1"/>
          </p:cNvSpPr>
          <p:nvPr/>
        </p:nvSpPr>
        <p:spPr bwMode="auto">
          <a:xfrm>
            <a:off x="1498600" y="2825750"/>
            <a:ext cx="2432050" cy="15875"/>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479" name="Rectangle 31"/>
          <p:cNvSpPr>
            <a:spLocks noChangeArrowheads="1"/>
          </p:cNvSpPr>
          <p:nvPr/>
        </p:nvSpPr>
        <p:spPr bwMode="auto">
          <a:xfrm>
            <a:off x="1949450" y="1549400"/>
            <a:ext cx="6350" cy="14288"/>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480" name="Rectangle 32"/>
          <p:cNvSpPr>
            <a:spLocks noChangeArrowheads="1"/>
          </p:cNvSpPr>
          <p:nvPr/>
        </p:nvSpPr>
        <p:spPr bwMode="auto">
          <a:xfrm>
            <a:off x="1493838" y="1549400"/>
            <a:ext cx="4763" cy="14288"/>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481" name="Rectangle 33"/>
          <p:cNvSpPr>
            <a:spLocks noChangeArrowheads="1"/>
          </p:cNvSpPr>
          <p:nvPr/>
        </p:nvSpPr>
        <p:spPr bwMode="auto">
          <a:xfrm>
            <a:off x="1744886" y="1549400"/>
            <a:ext cx="450850" cy="14288"/>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482" name="Rectangle 34"/>
          <p:cNvSpPr>
            <a:spLocks noChangeArrowheads="1"/>
          </p:cNvSpPr>
          <p:nvPr/>
        </p:nvSpPr>
        <p:spPr bwMode="auto">
          <a:xfrm>
            <a:off x="3189288" y="5303838"/>
            <a:ext cx="4763" cy="15875"/>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483" name="Rectangle 35"/>
          <p:cNvSpPr>
            <a:spLocks noChangeArrowheads="1"/>
          </p:cNvSpPr>
          <p:nvPr/>
        </p:nvSpPr>
        <p:spPr bwMode="auto">
          <a:xfrm>
            <a:off x="1493838" y="5303838"/>
            <a:ext cx="4763" cy="15875"/>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484" name="Rectangle 36"/>
          <p:cNvSpPr>
            <a:spLocks noChangeArrowheads="1"/>
          </p:cNvSpPr>
          <p:nvPr/>
        </p:nvSpPr>
        <p:spPr bwMode="auto">
          <a:xfrm>
            <a:off x="1657176" y="5303838"/>
            <a:ext cx="1690688" cy="15875"/>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485" name="Rectangle 37"/>
          <p:cNvSpPr>
            <a:spLocks noChangeArrowheads="1"/>
          </p:cNvSpPr>
          <p:nvPr/>
        </p:nvSpPr>
        <p:spPr bwMode="auto">
          <a:xfrm>
            <a:off x="4044165" y="3140273"/>
            <a:ext cx="513548" cy="369332"/>
          </a:xfrm>
          <a:prstGeom prst="rect">
            <a:avLst/>
          </a:prstGeom>
          <a:noFill/>
          <a:ln w="9525">
            <a:noFill/>
            <a:miter lim="800000"/>
          </a:ln>
        </p:spPr>
        <p:txBody>
          <a:bodyPr vert="horz" wrap="squar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lang="en-US" altLang="zh-CN" sz="2400" dirty="0" err="1">
                <a:solidFill>
                  <a:srgbClr val="000000"/>
                </a:solidFill>
                <a:latin typeface="Times-Roman" charset="0"/>
                <a:cs typeface="宋体" panose="02010600030101010101" pitchFamily="2" charset="-122"/>
              </a:rPr>
              <a:t>t</a:t>
            </a:r>
            <a:r>
              <a:rPr lang="en-US" altLang="zh-CN" sz="2400" baseline="-25000" dirty="0" err="1">
                <a:solidFill>
                  <a:srgbClr val="000000"/>
                </a:solidFill>
                <a:latin typeface="Times-Roman" charset="0"/>
                <a:cs typeface="宋体" panose="02010600030101010101" pitchFamily="2" charset="-122"/>
              </a:rPr>
              <a:t>pLH</a:t>
            </a:r>
            <a:r>
              <a:rPr kumimoji="0" lang="zh-CN" altLang="zh-CN" sz="2400" b="0" i="0" u="none" strike="noStrike" cap="none" normalizeH="0" baseline="0" dirty="0">
                <a:ln>
                  <a:noFill/>
                </a:ln>
                <a:solidFill>
                  <a:srgbClr val="000000"/>
                </a:solidFill>
                <a:effectLst/>
                <a:latin typeface="Times-Roman" charset="0"/>
                <a:ea typeface="宋体" panose="02010600030101010101" pitchFamily="2" charset="-122"/>
                <a:cs typeface="宋体" panose="02010600030101010101" pitchFamily="2" charset="-122"/>
              </a:rPr>
              <a:t> </a:t>
            </a:r>
            <a:endParaRPr kumimoji="0" lang="zh-CN" altLang="zh-CN" sz="2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2486" name="Rectangle 38"/>
          <p:cNvSpPr>
            <a:spLocks noChangeArrowheads="1"/>
          </p:cNvSpPr>
          <p:nvPr/>
        </p:nvSpPr>
        <p:spPr bwMode="auto">
          <a:xfrm>
            <a:off x="1033463" y="1420813"/>
            <a:ext cx="257175" cy="271463"/>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600" b="0" i="1" u="none" strike="noStrike" cap="none" normalizeH="0" baseline="0">
                <a:ln>
                  <a:noFill/>
                </a:ln>
                <a:solidFill>
                  <a:srgbClr val="000000"/>
                </a:solidFill>
                <a:effectLst/>
                <a:latin typeface="Times-Roman" charset="0"/>
                <a:ea typeface="宋体" panose="02010600030101010101" pitchFamily="2" charset="-122"/>
                <a:cs typeface="宋体" panose="02010600030101010101" pitchFamily="2" charset="-122"/>
              </a:rPr>
              <a:t>V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2487" name="Rectangle 39"/>
          <p:cNvSpPr>
            <a:spLocks noChangeArrowheads="1"/>
          </p:cNvSpPr>
          <p:nvPr/>
        </p:nvSpPr>
        <p:spPr bwMode="auto">
          <a:xfrm>
            <a:off x="1155700" y="1506538"/>
            <a:ext cx="240450" cy="200055"/>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lang="en-US" altLang="zh-CN" sz="1300" i="1" dirty="0">
                <a:solidFill>
                  <a:srgbClr val="000000"/>
                </a:solidFill>
                <a:latin typeface="Times-Roman" charset="0"/>
                <a:cs typeface="宋体" panose="02010600030101010101" pitchFamily="2" charset="-122"/>
              </a:rPr>
              <a:t>CC</a:t>
            </a:r>
            <a:endParaRPr kumimoji="0" lang="zh-CN"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2488" name="Rectangle 40"/>
          <p:cNvSpPr>
            <a:spLocks noChangeArrowheads="1"/>
          </p:cNvSpPr>
          <p:nvPr/>
        </p:nvSpPr>
        <p:spPr bwMode="auto">
          <a:xfrm>
            <a:off x="1033463" y="3914775"/>
            <a:ext cx="257175" cy="271463"/>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600" b="0" i="1" u="none" strike="noStrike" cap="none" normalizeH="0" baseline="0">
                <a:ln>
                  <a:noFill/>
                </a:ln>
                <a:solidFill>
                  <a:srgbClr val="000000"/>
                </a:solidFill>
                <a:effectLst/>
                <a:latin typeface="Times-Roman" charset="0"/>
                <a:ea typeface="宋体" panose="02010600030101010101" pitchFamily="2" charset="-122"/>
                <a:cs typeface="宋体" panose="02010600030101010101" pitchFamily="2" charset="-122"/>
              </a:rPr>
              <a:t>V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2489" name="Rectangle 41"/>
          <p:cNvSpPr>
            <a:spLocks noChangeArrowheads="1"/>
          </p:cNvSpPr>
          <p:nvPr/>
        </p:nvSpPr>
        <p:spPr bwMode="auto">
          <a:xfrm>
            <a:off x="1155700" y="3995738"/>
            <a:ext cx="240450" cy="200055"/>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lang="en-US" altLang="zh-CN" sz="1300" i="1" dirty="0">
                <a:solidFill>
                  <a:srgbClr val="000000"/>
                </a:solidFill>
                <a:latin typeface="Times-Roman" charset="0"/>
                <a:cs typeface="宋体" panose="02010600030101010101" pitchFamily="2" charset="-122"/>
              </a:rPr>
              <a:t>CC</a:t>
            </a:r>
            <a:endParaRPr kumimoji="0" lang="zh-CN"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2490" name="Rectangle 42"/>
          <p:cNvSpPr>
            <a:spLocks noChangeArrowheads="1"/>
          </p:cNvSpPr>
          <p:nvPr/>
        </p:nvSpPr>
        <p:spPr bwMode="auto">
          <a:xfrm>
            <a:off x="1036638" y="2692400"/>
            <a:ext cx="482600" cy="271463"/>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600" b="0" i="1" u="none" strike="noStrike" cap="none" normalizeH="0" baseline="0">
                <a:ln>
                  <a:noFill/>
                </a:ln>
                <a:solidFill>
                  <a:srgbClr val="000000"/>
                </a:solidFill>
                <a:effectLst/>
                <a:latin typeface="Times-Roman" charset="0"/>
                <a:ea typeface="宋体" panose="02010600030101010101" pitchFamily="2" charset="-122"/>
                <a:cs typeface="宋体" panose="02010600030101010101" pitchFamily="2" charset="-122"/>
              </a:rPr>
              <a:t>Gnd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2491" name="Rectangle 43"/>
          <p:cNvSpPr>
            <a:spLocks noChangeArrowheads="1"/>
          </p:cNvSpPr>
          <p:nvPr/>
        </p:nvSpPr>
        <p:spPr bwMode="auto">
          <a:xfrm>
            <a:off x="1036638" y="5181600"/>
            <a:ext cx="482600" cy="271463"/>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600" b="0" i="1" u="none" strike="noStrike" cap="none" normalizeH="0" baseline="0">
                <a:ln>
                  <a:noFill/>
                </a:ln>
                <a:solidFill>
                  <a:srgbClr val="000000"/>
                </a:solidFill>
                <a:effectLst/>
                <a:latin typeface="Times-Roman" charset="0"/>
                <a:ea typeface="宋体" panose="02010600030101010101" pitchFamily="2" charset="-122"/>
                <a:cs typeface="宋体" panose="02010600030101010101" pitchFamily="2" charset="-122"/>
              </a:rPr>
              <a:t>Gnd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2492" name="Rectangle 44"/>
          <p:cNvSpPr>
            <a:spLocks noChangeArrowheads="1"/>
          </p:cNvSpPr>
          <p:nvPr/>
        </p:nvSpPr>
        <p:spPr bwMode="auto">
          <a:xfrm>
            <a:off x="765175" y="1984375"/>
            <a:ext cx="257175" cy="271463"/>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600" b="0" i="1" u="none" strike="noStrike" cap="none" normalizeH="0" baseline="0">
                <a:ln>
                  <a:noFill/>
                </a:ln>
                <a:solidFill>
                  <a:srgbClr val="000000"/>
                </a:solidFill>
                <a:effectLst/>
                <a:latin typeface="Times-Roman" charset="0"/>
                <a:ea typeface="宋体" panose="02010600030101010101" pitchFamily="2" charset="-122"/>
                <a:cs typeface="宋体" panose="02010600030101010101" pitchFamily="2" charset="-122"/>
              </a:rPr>
              <a:t>V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2493" name="Rectangle 45"/>
          <p:cNvSpPr>
            <a:spLocks noChangeArrowheads="1"/>
          </p:cNvSpPr>
          <p:nvPr/>
        </p:nvSpPr>
        <p:spPr bwMode="auto">
          <a:xfrm>
            <a:off x="887413" y="2065338"/>
            <a:ext cx="213200" cy="200055"/>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lang="en-US" altLang="zh-CN" sz="1300" i="1" dirty="0">
                <a:solidFill>
                  <a:srgbClr val="000000"/>
                </a:solidFill>
                <a:latin typeface="Times-Roman" charset="0"/>
                <a:cs typeface="宋体" panose="02010600030101010101" pitchFamily="2" charset="-122"/>
              </a:rPr>
              <a:t>IN</a:t>
            </a:r>
            <a:r>
              <a:rPr kumimoji="0" lang="zh-CN" altLang="zh-CN" sz="1300" b="0" i="1" u="none" strike="noStrike" cap="none" normalizeH="0" baseline="0" dirty="0">
                <a:ln>
                  <a:noFill/>
                </a:ln>
                <a:solidFill>
                  <a:srgbClr val="000000"/>
                </a:solidFill>
                <a:effectLst/>
                <a:latin typeface="Times-Roman" charset="0"/>
                <a:ea typeface="宋体" panose="02010600030101010101" pitchFamily="2" charset="-122"/>
                <a:cs typeface="宋体" panose="02010600030101010101" pitchFamily="2" charset="-122"/>
              </a:rPr>
              <a:t> </a:t>
            </a:r>
            <a:endParaRPr kumimoji="0" lang="zh-CN"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2494" name="Rectangle 46"/>
          <p:cNvSpPr>
            <a:spLocks noChangeArrowheads="1"/>
          </p:cNvSpPr>
          <p:nvPr/>
        </p:nvSpPr>
        <p:spPr bwMode="auto">
          <a:xfrm>
            <a:off x="754063" y="4543425"/>
            <a:ext cx="257175" cy="271463"/>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600" b="0" i="1" u="none" strike="noStrike" cap="none" normalizeH="0" baseline="0" dirty="0">
                <a:ln>
                  <a:noFill/>
                </a:ln>
                <a:solidFill>
                  <a:srgbClr val="000000"/>
                </a:solidFill>
                <a:effectLst/>
                <a:latin typeface="Times-Roman" charset="0"/>
                <a:ea typeface="宋体" panose="02010600030101010101" pitchFamily="2" charset="-122"/>
                <a:cs typeface="宋体" panose="02010600030101010101" pitchFamily="2" charset="-122"/>
              </a:rPr>
              <a:t>V </a:t>
            </a:r>
            <a:endParaRPr kumimoji="0" lang="zh-CN"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2495" name="Rectangle 47"/>
          <p:cNvSpPr>
            <a:spLocks noChangeArrowheads="1"/>
          </p:cNvSpPr>
          <p:nvPr/>
        </p:nvSpPr>
        <p:spPr bwMode="auto">
          <a:xfrm>
            <a:off x="3495675" y="2192338"/>
            <a:ext cx="4763" cy="15875"/>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496" name="Rectangle 48"/>
          <p:cNvSpPr>
            <a:spLocks noChangeArrowheads="1"/>
          </p:cNvSpPr>
          <p:nvPr/>
        </p:nvSpPr>
        <p:spPr bwMode="auto">
          <a:xfrm>
            <a:off x="3817938" y="2192338"/>
            <a:ext cx="4763" cy="15875"/>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497" name="Rectangle 49"/>
          <p:cNvSpPr>
            <a:spLocks noChangeArrowheads="1"/>
          </p:cNvSpPr>
          <p:nvPr/>
        </p:nvSpPr>
        <p:spPr bwMode="auto">
          <a:xfrm>
            <a:off x="3500438" y="2192338"/>
            <a:ext cx="317500" cy="15875"/>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498" name="Rectangle 50"/>
          <p:cNvSpPr>
            <a:spLocks noChangeArrowheads="1"/>
          </p:cNvSpPr>
          <p:nvPr/>
        </p:nvSpPr>
        <p:spPr bwMode="auto">
          <a:xfrm>
            <a:off x="3651250" y="2025650"/>
            <a:ext cx="14288" cy="6350"/>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499" name="Rectangle 51"/>
          <p:cNvSpPr>
            <a:spLocks noChangeArrowheads="1"/>
          </p:cNvSpPr>
          <p:nvPr/>
        </p:nvSpPr>
        <p:spPr bwMode="auto">
          <a:xfrm>
            <a:off x="3651250" y="3721100"/>
            <a:ext cx="14288" cy="6350"/>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00" name="Rectangle 52"/>
          <p:cNvSpPr>
            <a:spLocks noChangeArrowheads="1"/>
          </p:cNvSpPr>
          <p:nvPr/>
        </p:nvSpPr>
        <p:spPr bwMode="auto">
          <a:xfrm>
            <a:off x="3651250" y="2032000"/>
            <a:ext cx="14288" cy="1689100"/>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01" name="Rectangle 53"/>
          <p:cNvSpPr>
            <a:spLocks noChangeArrowheads="1"/>
          </p:cNvSpPr>
          <p:nvPr/>
        </p:nvSpPr>
        <p:spPr bwMode="auto">
          <a:xfrm>
            <a:off x="866775" y="4622800"/>
            <a:ext cx="487313" cy="276999"/>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OUT</a:t>
            </a:r>
            <a:endParaRPr kumimoji="0" lang="zh-CN"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2502" name="Rectangle 54"/>
          <p:cNvSpPr>
            <a:spLocks noChangeArrowheads="1"/>
          </p:cNvSpPr>
          <p:nvPr/>
        </p:nvSpPr>
        <p:spPr bwMode="auto">
          <a:xfrm>
            <a:off x="5903913" y="2192338"/>
            <a:ext cx="6350" cy="15875"/>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03" name="Rectangle 55"/>
          <p:cNvSpPr>
            <a:spLocks noChangeArrowheads="1"/>
          </p:cNvSpPr>
          <p:nvPr/>
        </p:nvSpPr>
        <p:spPr bwMode="auto">
          <a:xfrm>
            <a:off x="6226175" y="2192338"/>
            <a:ext cx="4763" cy="15875"/>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04" name="Rectangle 56"/>
          <p:cNvSpPr>
            <a:spLocks noChangeArrowheads="1"/>
          </p:cNvSpPr>
          <p:nvPr/>
        </p:nvSpPr>
        <p:spPr bwMode="auto">
          <a:xfrm>
            <a:off x="5910263" y="2192338"/>
            <a:ext cx="315913" cy="15875"/>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05" name="Rectangle 57"/>
          <p:cNvSpPr>
            <a:spLocks noChangeArrowheads="1"/>
          </p:cNvSpPr>
          <p:nvPr/>
        </p:nvSpPr>
        <p:spPr bwMode="auto">
          <a:xfrm>
            <a:off x="3081338" y="2101850"/>
            <a:ext cx="506413" cy="273050"/>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a:ln>
                  <a:noFill/>
                </a:ln>
                <a:solidFill>
                  <a:srgbClr val="000000"/>
                </a:solidFill>
                <a:effectLst/>
                <a:latin typeface="Times-Roman" charset="0"/>
                <a:ea typeface="宋体" panose="02010600030101010101" pitchFamily="2" charset="-122"/>
                <a:cs typeface="宋体" panose="02010600030101010101" pitchFamily="2" charset="-122"/>
              </a:rPr>
              <a:t>50%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2506" name="Rectangle 58"/>
          <p:cNvSpPr>
            <a:spLocks noChangeArrowheads="1"/>
          </p:cNvSpPr>
          <p:nvPr/>
        </p:nvSpPr>
        <p:spPr bwMode="auto">
          <a:xfrm>
            <a:off x="5475288" y="2101850"/>
            <a:ext cx="506413" cy="273050"/>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a:ln>
                  <a:noFill/>
                </a:ln>
                <a:solidFill>
                  <a:srgbClr val="000000"/>
                </a:solidFill>
                <a:effectLst/>
                <a:latin typeface="Times-Roman" charset="0"/>
                <a:ea typeface="宋体" panose="02010600030101010101" pitchFamily="2" charset="-122"/>
                <a:cs typeface="宋体" panose="02010600030101010101" pitchFamily="2" charset="-122"/>
              </a:rPr>
              <a:t>50%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2507" name="Rectangle 59"/>
          <p:cNvSpPr>
            <a:spLocks noChangeArrowheads="1"/>
          </p:cNvSpPr>
          <p:nvPr/>
        </p:nvSpPr>
        <p:spPr bwMode="auto">
          <a:xfrm>
            <a:off x="5281613" y="4227513"/>
            <a:ext cx="506413" cy="273050"/>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a:ln>
                  <a:noFill/>
                </a:ln>
                <a:solidFill>
                  <a:srgbClr val="000000"/>
                </a:solidFill>
                <a:effectLst/>
                <a:latin typeface="Times-Roman" charset="0"/>
                <a:ea typeface="宋体" panose="02010600030101010101" pitchFamily="2" charset="-122"/>
                <a:cs typeface="宋体" panose="02010600030101010101" pitchFamily="2" charset="-122"/>
              </a:rPr>
              <a:t>90%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2509" name="Rectangle 61"/>
          <p:cNvSpPr>
            <a:spLocks noChangeArrowheads="1"/>
          </p:cNvSpPr>
          <p:nvPr/>
        </p:nvSpPr>
        <p:spPr bwMode="auto">
          <a:xfrm>
            <a:off x="4557713" y="5262563"/>
            <a:ext cx="506413" cy="273050"/>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a:ln>
                  <a:noFill/>
                </a:ln>
                <a:solidFill>
                  <a:srgbClr val="000000"/>
                </a:solidFill>
                <a:effectLst/>
                <a:latin typeface="Times-Roman" charset="0"/>
                <a:ea typeface="宋体" panose="02010600030101010101" pitchFamily="2" charset="-122"/>
                <a:cs typeface="宋体" panose="02010600030101010101" pitchFamily="2" charset="-122"/>
              </a:rPr>
              <a:t>10%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2510" name="Rectangle 62"/>
          <p:cNvSpPr>
            <a:spLocks noChangeArrowheads="1"/>
          </p:cNvSpPr>
          <p:nvPr/>
        </p:nvSpPr>
        <p:spPr bwMode="auto">
          <a:xfrm>
            <a:off x="4799013" y="5895975"/>
            <a:ext cx="190500" cy="271463"/>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600" b="0" i="1" u="none" strike="noStrike" cap="none" normalizeH="0" baseline="0">
                <a:ln>
                  <a:noFill/>
                </a:ln>
                <a:solidFill>
                  <a:srgbClr val="000000"/>
                </a:solidFill>
                <a:effectLst/>
                <a:latin typeface="Times-Roman" charset="0"/>
                <a:ea typeface="宋体" panose="02010600030101010101" pitchFamily="2" charset="-122"/>
                <a:cs typeface="宋体" panose="02010600030101010101" pitchFamily="2" charset="-122"/>
              </a:rPr>
              <a:t>t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2511" name="Freeform 63"/>
          <p:cNvSpPr/>
          <p:nvPr/>
        </p:nvSpPr>
        <p:spPr bwMode="auto">
          <a:xfrm>
            <a:off x="4546600" y="5770563"/>
            <a:ext cx="123825" cy="76200"/>
          </a:xfrm>
          <a:custGeom>
            <a:avLst/>
            <a:gdLst/>
            <a:ahLst/>
            <a:cxnLst>
              <a:cxn ang="0">
                <a:pos x="155" y="48"/>
              </a:cxn>
              <a:cxn ang="0">
                <a:pos x="155" y="74"/>
              </a:cxn>
              <a:cxn ang="0">
                <a:pos x="155" y="95"/>
              </a:cxn>
              <a:cxn ang="0">
                <a:pos x="135" y="88"/>
              </a:cxn>
              <a:cxn ang="0">
                <a:pos x="0" y="62"/>
              </a:cxn>
              <a:cxn ang="0">
                <a:pos x="0" y="33"/>
              </a:cxn>
              <a:cxn ang="0">
                <a:pos x="0" y="33"/>
              </a:cxn>
              <a:cxn ang="0">
                <a:pos x="135" y="7"/>
              </a:cxn>
              <a:cxn ang="0">
                <a:pos x="155" y="0"/>
              </a:cxn>
              <a:cxn ang="0">
                <a:pos x="155" y="21"/>
              </a:cxn>
              <a:cxn ang="0">
                <a:pos x="140" y="33"/>
              </a:cxn>
              <a:cxn ang="0">
                <a:pos x="5" y="62"/>
              </a:cxn>
              <a:cxn ang="0">
                <a:pos x="5" y="62"/>
              </a:cxn>
              <a:cxn ang="0">
                <a:pos x="5" y="33"/>
              </a:cxn>
              <a:cxn ang="0">
                <a:pos x="140" y="62"/>
              </a:cxn>
              <a:cxn ang="0">
                <a:pos x="135" y="88"/>
              </a:cxn>
              <a:cxn ang="0">
                <a:pos x="128" y="74"/>
              </a:cxn>
              <a:cxn ang="0">
                <a:pos x="128" y="48"/>
              </a:cxn>
              <a:cxn ang="0">
                <a:pos x="155" y="48"/>
              </a:cxn>
            </a:cxnLst>
            <a:rect l="0" t="0" r="r" b="b"/>
            <a:pathLst>
              <a:path w="155" h="95">
                <a:moveTo>
                  <a:pt x="155" y="48"/>
                </a:moveTo>
                <a:lnTo>
                  <a:pt x="155" y="74"/>
                </a:lnTo>
                <a:lnTo>
                  <a:pt x="155" y="95"/>
                </a:lnTo>
                <a:lnTo>
                  <a:pt x="135" y="88"/>
                </a:lnTo>
                <a:lnTo>
                  <a:pt x="0" y="62"/>
                </a:lnTo>
                <a:lnTo>
                  <a:pt x="0" y="33"/>
                </a:lnTo>
                <a:lnTo>
                  <a:pt x="0" y="33"/>
                </a:lnTo>
                <a:lnTo>
                  <a:pt x="135" y="7"/>
                </a:lnTo>
                <a:lnTo>
                  <a:pt x="155" y="0"/>
                </a:lnTo>
                <a:lnTo>
                  <a:pt x="155" y="21"/>
                </a:lnTo>
                <a:lnTo>
                  <a:pt x="140" y="33"/>
                </a:lnTo>
                <a:lnTo>
                  <a:pt x="5" y="62"/>
                </a:lnTo>
                <a:lnTo>
                  <a:pt x="5" y="62"/>
                </a:lnTo>
                <a:lnTo>
                  <a:pt x="5" y="33"/>
                </a:lnTo>
                <a:lnTo>
                  <a:pt x="140" y="62"/>
                </a:lnTo>
                <a:lnTo>
                  <a:pt x="135" y="88"/>
                </a:lnTo>
                <a:lnTo>
                  <a:pt x="128" y="74"/>
                </a:lnTo>
                <a:lnTo>
                  <a:pt x="128" y="48"/>
                </a:lnTo>
                <a:lnTo>
                  <a:pt x="155" y="48"/>
                </a:lnTo>
                <a:close/>
              </a:path>
            </a:pathLst>
          </a:custGeom>
          <a:solidFill>
            <a:srgbClr val="000000"/>
          </a:solidFill>
          <a:ln w="9525">
            <a:noFill/>
            <a:round/>
          </a:ln>
        </p:spPr>
        <p:txBody>
          <a:bodyPr vert="horz" wrap="square" lIns="91440" tIns="45720" rIns="91440" bIns="45720" numCol="1" anchor="t" anchorCtr="0" compatLnSpc="1"/>
          <a:lstStyle/>
          <a:p>
            <a:endParaRPr lang="zh-CN" altLang="en-US"/>
          </a:p>
        </p:txBody>
      </p:sp>
      <p:sp>
        <p:nvSpPr>
          <p:cNvPr id="232512" name="Freeform 64"/>
          <p:cNvSpPr/>
          <p:nvPr/>
        </p:nvSpPr>
        <p:spPr bwMode="auto">
          <a:xfrm>
            <a:off x="4648200" y="5786438"/>
            <a:ext cx="22225" cy="22225"/>
          </a:xfrm>
          <a:custGeom>
            <a:avLst/>
            <a:gdLst/>
            <a:ahLst/>
            <a:cxnLst>
              <a:cxn ang="0">
                <a:pos x="27" y="0"/>
              </a:cxn>
              <a:cxn ang="0">
                <a:pos x="27" y="27"/>
              </a:cxn>
              <a:cxn ang="0">
                <a:pos x="0" y="27"/>
              </a:cxn>
              <a:cxn ang="0">
                <a:pos x="0" y="27"/>
              </a:cxn>
              <a:cxn ang="0">
                <a:pos x="0" y="27"/>
              </a:cxn>
              <a:cxn ang="0">
                <a:pos x="0" y="0"/>
              </a:cxn>
              <a:cxn ang="0">
                <a:pos x="27" y="0"/>
              </a:cxn>
            </a:cxnLst>
            <a:rect l="0" t="0" r="r" b="b"/>
            <a:pathLst>
              <a:path w="27" h="27">
                <a:moveTo>
                  <a:pt x="27" y="0"/>
                </a:moveTo>
                <a:lnTo>
                  <a:pt x="27" y="27"/>
                </a:lnTo>
                <a:lnTo>
                  <a:pt x="0" y="27"/>
                </a:lnTo>
                <a:lnTo>
                  <a:pt x="0" y="27"/>
                </a:lnTo>
                <a:lnTo>
                  <a:pt x="0" y="27"/>
                </a:lnTo>
                <a:lnTo>
                  <a:pt x="0" y="0"/>
                </a:lnTo>
                <a:lnTo>
                  <a:pt x="27" y="0"/>
                </a:lnTo>
                <a:close/>
              </a:path>
            </a:pathLst>
          </a:custGeom>
          <a:solidFill>
            <a:srgbClr val="000000"/>
          </a:solidFill>
          <a:ln w="9525">
            <a:noFill/>
            <a:round/>
          </a:ln>
        </p:spPr>
        <p:txBody>
          <a:bodyPr vert="horz" wrap="square" lIns="91440" tIns="45720" rIns="91440" bIns="45720" numCol="1" anchor="t" anchorCtr="0" compatLnSpc="1"/>
          <a:lstStyle/>
          <a:p>
            <a:endParaRPr lang="zh-CN" altLang="en-US"/>
          </a:p>
        </p:txBody>
      </p:sp>
      <p:sp>
        <p:nvSpPr>
          <p:cNvPr id="232513" name="Freeform 65"/>
          <p:cNvSpPr/>
          <p:nvPr/>
        </p:nvSpPr>
        <p:spPr bwMode="auto">
          <a:xfrm>
            <a:off x="4551363" y="5786438"/>
            <a:ext cx="107950" cy="42863"/>
          </a:xfrm>
          <a:custGeom>
            <a:avLst/>
            <a:gdLst/>
            <a:ahLst/>
            <a:cxnLst>
              <a:cxn ang="0">
                <a:pos x="135" y="27"/>
              </a:cxn>
              <a:cxn ang="0">
                <a:pos x="135" y="53"/>
              </a:cxn>
              <a:cxn ang="0">
                <a:pos x="0" y="27"/>
              </a:cxn>
              <a:cxn ang="0">
                <a:pos x="135" y="0"/>
              </a:cxn>
              <a:cxn ang="0">
                <a:pos x="135" y="27"/>
              </a:cxn>
            </a:cxnLst>
            <a:rect l="0" t="0" r="r" b="b"/>
            <a:pathLst>
              <a:path w="135" h="53">
                <a:moveTo>
                  <a:pt x="135" y="27"/>
                </a:moveTo>
                <a:lnTo>
                  <a:pt x="135" y="53"/>
                </a:lnTo>
                <a:lnTo>
                  <a:pt x="0" y="27"/>
                </a:lnTo>
                <a:lnTo>
                  <a:pt x="135" y="0"/>
                </a:lnTo>
                <a:lnTo>
                  <a:pt x="135" y="27"/>
                </a:lnTo>
                <a:close/>
              </a:path>
            </a:pathLst>
          </a:custGeom>
          <a:solidFill>
            <a:srgbClr val="000000"/>
          </a:solidFill>
          <a:ln w="9525">
            <a:noFill/>
            <a:round/>
          </a:ln>
        </p:spPr>
        <p:txBody>
          <a:bodyPr vert="horz" wrap="square" lIns="91440" tIns="45720" rIns="91440" bIns="45720" numCol="1" anchor="t" anchorCtr="0" compatLnSpc="1"/>
          <a:lstStyle/>
          <a:p>
            <a:endParaRPr lang="zh-CN" altLang="en-US"/>
          </a:p>
        </p:txBody>
      </p:sp>
      <p:sp>
        <p:nvSpPr>
          <p:cNvPr id="232514" name="Freeform 66"/>
          <p:cNvSpPr/>
          <p:nvPr/>
        </p:nvSpPr>
        <p:spPr bwMode="auto">
          <a:xfrm>
            <a:off x="5051425" y="5770563"/>
            <a:ext cx="122238" cy="76200"/>
          </a:xfrm>
          <a:custGeom>
            <a:avLst/>
            <a:gdLst/>
            <a:ahLst/>
            <a:cxnLst>
              <a:cxn ang="0">
                <a:pos x="0" y="48"/>
              </a:cxn>
              <a:cxn ang="0">
                <a:pos x="0" y="21"/>
              </a:cxn>
              <a:cxn ang="0">
                <a:pos x="0" y="0"/>
              </a:cxn>
              <a:cxn ang="0">
                <a:pos x="19" y="7"/>
              </a:cxn>
              <a:cxn ang="0">
                <a:pos x="155" y="33"/>
              </a:cxn>
              <a:cxn ang="0">
                <a:pos x="155" y="62"/>
              </a:cxn>
              <a:cxn ang="0">
                <a:pos x="155" y="62"/>
              </a:cxn>
              <a:cxn ang="0">
                <a:pos x="19" y="88"/>
              </a:cxn>
              <a:cxn ang="0">
                <a:pos x="0" y="95"/>
              </a:cxn>
              <a:cxn ang="0">
                <a:pos x="0" y="74"/>
              </a:cxn>
              <a:cxn ang="0">
                <a:pos x="12" y="62"/>
              </a:cxn>
              <a:cxn ang="0">
                <a:pos x="148" y="33"/>
              </a:cxn>
              <a:cxn ang="0">
                <a:pos x="148" y="33"/>
              </a:cxn>
              <a:cxn ang="0">
                <a:pos x="148" y="62"/>
              </a:cxn>
              <a:cxn ang="0">
                <a:pos x="12" y="33"/>
              </a:cxn>
              <a:cxn ang="0">
                <a:pos x="19" y="7"/>
              </a:cxn>
              <a:cxn ang="0">
                <a:pos x="26" y="21"/>
              </a:cxn>
              <a:cxn ang="0">
                <a:pos x="26" y="48"/>
              </a:cxn>
              <a:cxn ang="0">
                <a:pos x="0" y="48"/>
              </a:cxn>
            </a:cxnLst>
            <a:rect l="0" t="0" r="r" b="b"/>
            <a:pathLst>
              <a:path w="155" h="95">
                <a:moveTo>
                  <a:pt x="0" y="48"/>
                </a:moveTo>
                <a:lnTo>
                  <a:pt x="0" y="21"/>
                </a:lnTo>
                <a:lnTo>
                  <a:pt x="0" y="0"/>
                </a:lnTo>
                <a:lnTo>
                  <a:pt x="19" y="7"/>
                </a:lnTo>
                <a:lnTo>
                  <a:pt x="155" y="33"/>
                </a:lnTo>
                <a:lnTo>
                  <a:pt x="155" y="62"/>
                </a:lnTo>
                <a:lnTo>
                  <a:pt x="155" y="62"/>
                </a:lnTo>
                <a:lnTo>
                  <a:pt x="19" y="88"/>
                </a:lnTo>
                <a:lnTo>
                  <a:pt x="0" y="95"/>
                </a:lnTo>
                <a:lnTo>
                  <a:pt x="0" y="74"/>
                </a:lnTo>
                <a:lnTo>
                  <a:pt x="12" y="62"/>
                </a:lnTo>
                <a:lnTo>
                  <a:pt x="148" y="33"/>
                </a:lnTo>
                <a:lnTo>
                  <a:pt x="148" y="33"/>
                </a:lnTo>
                <a:lnTo>
                  <a:pt x="148" y="62"/>
                </a:lnTo>
                <a:lnTo>
                  <a:pt x="12" y="33"/>
                </a:lnTo>
                <a:lnTo>
                  <a:pt x="19" y="7"/>
                </a:lnTo>
                <a:lnTo>
                  <a:pt x="26" y="21"/>
                </a:lnTo>
                <a:lnTo>
                  <a:pt x="26" y="48"/>
                </a:lnTo>
                <a:lnTo>
                  <a:pt x="0" y="48"/>
                </a:lnTo>
                <a:close/>
              </a:path>
            </a:pathLst>
          </a:custGeom>
          <a:solidFill>
            <a:srgbClr val="000000"/>
          </a:solidFill>
          <a:ln w="9525">
            <a:noFill/>
            <a:round/>
          </a:ln>
        </p:spPr>
        <p:txBody>
          <a:bodyPr vert="horz" wrap="square" lIns="91440" tIns="45720" rIns="91440" bIns="45720" numCol="1" anchor="t" anchorCtr="0" compatLnSpc="1"/>
          <a:lstStyle/>
          <a:p>
            <a:endParaRPr lang="zh-CN" altLang="en-US"/>
          </a:p>
        </p:txBody>
      </p:sp>
      <p:sp>
        <p:nvSpPr>
          <p:cNvPr id="232515" name="Freeform 67"/>
          <p:cNvSpPr/>
          <p:nvPr/>
        </p:nvSpPr>
        <p:spPr bwMode="auto">
          <a:xfrm>
            <a:off x="5051425" y="5808663"/>
            <a:ext cx="20638" cy="20638"/>
          </a:xfrm>
          <a:custGeom>
            <a:avLst/>
            <a:gdLst/>
            <a:ahLst/>
            <a:cxnLst>
              <a:cxn ang="0">
                <a:pos x="0" y="26"/>
              </a:cxn>
              <a:cxn ang="0">
                <a:pos x="0" y="0"/>
              </a:cxn>
              <a:cxn ang="0">
                <a:pos x="26" y="0"/>
              </a:cxn>
              <a:cxn ang="0">
                <a:pos x="26" y="0"/>
              </a:cxn>
              <a:cxn ang="0">
                <a:pos x="26" y="0"/>
              </a:cxn>
              <a:cxn ang="0">
                <a:pos x="26" y="26"/>
              </a:cxn>
              <a:cxn ang="0">
                <a:pos x="0" y="26"/>
              </a:cxn>
            </a:cxnLst>
            <a:rect l="0" t="0" r="r" b="b"/>
            <a:pathLst>
              <a:path w="26" h="26">
                <a:moveTo>
                  <a:pt x="0" y="26"/>
                </a:moveTo>
                <a:lnTo>
                  <a:pt x="0" y="0"/>
                </a:lnTo>
                <a:lnTo>
                  <a:pt x="26" y="0"/>
                </a:lnTo>
                <a:lnTo>
                  <a:pt x="26" y="0"/>
                </a:lnTo>
                <a:lnTo>
                  <a:pt x="26" y="0"/>
                </a:lnTo>
                <a:lnTo>
                  <a:pt x="26" y="26"/>
                </a:lnTo>
                <a:lnTo>
                  <a:pt x="0" y="26"/>
                </a:lnTo>
                <a:close/>
              </a:path>
            </a:pathLst>
          </a:custGeom>
          <a:solidFill>
            <a:srgbClr val="000000"/>
          </a:solidFill>
          <a:ln w="9525">
            <a:noFill/>
            <a:round/>
          </a:ln>
        </p:spPr>
        <p:txBody>
          <a:bodyPr vert="horz" wrap="square" lIns="91440" tIns="45720" rIns="91440" bIns="45720" numCol="1" anchor="t" anchorCtr="0" compatLnSpc="1"/>
          <a:lstStyle/>
          <a:p>
            <a:endParaRPr lang="zh-CN" altLang="en-US"/>
          </a:p>
        </p:txBody>
      </p:sp>
      <p:sp>
        <p:nvSpPr>
          <p:cNvPr id="232516" name="Freeform 68"/>
          <p:cNvSpPr/>
          <p:nvPr/>
        </p:nvSpPr>
        <p:spPr bwMode="auto">
          <a:xfrm>
            <a:off x="5060950" y="5786438"/>
            <a:ext cx="107950" cy="42863"/>
          </a:xfrm>
          <a:custGeom>
            <a:avLst/>
            <a:gdLst/>
            <a:ahLst/>
            <a:cxnLst>
              <a:cxn ang="0">
                <a:pos x="0" y="27"/>
              </a:cxn>
              <a:cxn ang="0">
                <a:pos x="0" y="0"/>
              </a:cxn>
              <a:cxn ang="0">
                <a:pos x="136" y="27"/>
              </a:cxn>
              <a:cxn ang="0">
                <a:pos x="0" y="53"/>
              </a:cxn>
              <a:cxn ang="0">
                <a:pos x="0" y="27"/>
              </a:cxn>
            </a:cxnLst>
            <a:rect l="0" t="0" r="r" b="b"/>
            <a:pathLst>
              <a:path w="136" h="53">
                <a:moveTo>
                  <a:pt x="0" y="27"/>
                </a:moveTo>
                <a:lnTo>
                  <a:pt x="0" y="0"/>
                </a:lnTo>
                <a:lnTo>
                  <a:pt x="136" y="27"/>
                </a:lnTo>
                <a:lnTo>
                  <a:pt x="0" y="53"/>
                </a:lnTo>
                <a:lnTo>
                  <a:pt x="0" y="27"/>
                </a:lnTo>
                <a:close/>
              </a:path>
            </a:pathLst>
          </a:custGeom>
          <a:solidFill>
            <a:srgbClr val="000000"/>
          </a:solidFill>
          <a:ln w="9525">
            <a:noFill/>
            <a:round/>
          </a:ln>
        </p:spPr>
        <p:txBody>
          <a:bodyPr vert="horz" wrap="square" lIns="91440" tIns="45720" rIns="91440" bIns="45720" numCol="1" anchor="t" anchorCtr="0" compatLnSpc="1"/>
          <a:lstStyle/>
          <a:p>
            <a:endParaRPr lang="zh-CN" altLang="en-US"/>
          </a:p>
        </p:txBody>
      </p:sp>
      <p:sp>
        <p:nvSpPr>
          <p:cNvPr id="232517" name="Rectangle 69"/>
          <p:cNvSpPr>
            <a:spLocks noChangeArrowheads="1"/>
          </p:cNvSpPr>
          <p:nvPr/>
        </p:nvSpPr>
        <p:spPr bwMode="auto">
          <a:xfrm>
            <a:off x="4664075" y="5802313"/>
            <a:ext cx="6350" cy="17463"/>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18" name="Rectangle 70"/>
          <p:cNvSpPr>
            <a:spLocks noChangeArrowheads="1"/>
          </p:cNvSpPr>
          <p:nvPr/>
        </p:nvSpPr>
        <p:spPr bwMode="auto">
          <a:xfrm>
            <a:off x="5051425" y="5802313"/>
            <a:ext cx="4763" cy="17463"/>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19" name="Rectangle 71"/>
          <p:cNvSpPr>
            <a:spLocks noChangeArrowheads="1"/>
          </p:cNvSpPr>
          <p:nvPr/>
        </p:nvSpPr>
        <p:spPr bwMode="auto">
          <a:xfrm>
            <a:off x="4670425" y="5802313"/>
            <a:ext cx="381000" cy="17463"/>
          </a:xfrm>
          <a:prstGeom prst="rect">
            <a:avLst/>
          </a:prstGeom>
          <a:solidFill>
            <a:srgbClr val="002060"/>
          </a:solidFill>
          <a:ln w="9525">
            <a:noFill/>
            <a:miter lim="800000"/>
          </a:ln>
        </p:spPr>
        <p:txBody>
          <a:bodyPr vert="horz" wrap="square" lIns="91440" tIns="45720" rIns="91440" bIns="45720" numCol="1" anchor="t" anchorCtr="0" compatLnSpc="1"/>
          <a:lstStyle/>
          <a:p>
            <a:endParaRPr lang="zh-CN" altLang="en-US"/>
          </a:p>
        </p:txBody>
      </p:sp>
      <p:sp>
        <p:nvSpPr>
          <p:cNvPr id="232520" name="Rectangle 72"/>
          <p:cNvSpPr>
            <a:spLocks noChangeArrowheads="1"/>
          </p:cNvSpPr>
          <p:nvPr/>
        </p:nvSpPr>
        <p:spPr bwMode="auto">
          <a:xfrm>
            <a:off x="4702175" y="4670425"/>
            <a:ext cx="6350" cy="17463"/>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21" name="Rectangle 73"/>
          <p:cNvSpPr>
            <a:spLocks noChangeArrowheads="1"/>
          </p:cNvSpPr>
          <p:nvPr/>
        </p:nvSpPr>
        <p:spPr bwMode="auto">
          <a:xfrm>
            <a:off x="5024438" y="4670425"/>
            <a:ext cx="4763" cy="17463"/>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22" name="Rectangle 74"/>
          <p:cNvSpPr>
            <a:spLocks noChangeArrowheads="1"/>
          </p:cNvSpPr>
          <p:nvPr/>
        </p:nvSpPr>
        <p:spPr bwMode="auto">
          <a:xfrm>
            <a:off x="4708525" y="4670425"/>
            <a:ext cx="315913" cy="17463"/>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23" name="Rectangle 75"/>
          <p:cNvSpPr>
            <a:spLocks noChangeArrowheads="1"/>
          </p:cNvSpPr>
          <p:nvPr/>
        </p:nvSpPr>
        <p:spPr bwMode="auto">
          <a:xfrm>
            <a:off x="4864100" y="4789488"/>
            <a:ext cx="14288" cy="4763"/>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24" name="Rectangle 76"/>
          <p:cNvSpPr>
            <a:spLocks noChangeArrowheads="1"/>
          </p:cNvSpPr>
          <p:nvPr/>
        </p:nvSpPr>
        <p:spPr bwMode="auto">
          <a:xfrm>
            <a:off x="4864100" y="3448050"/>
            <a:ext cx="14288" cy="4763"/>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25" name="Rectangle 77"/>
          <p:cNvSpPr>
            <a:spLocks noChangeArrowheads="1"/>
          </p:cNvSpPr>
          <p:nvPr/>
        </p:nvSpPr>
        <p:spPr bwMode="auto">
          <a:xfrm>
            <a:off x="4864100" y="3452813"/>
            <a:ext cx="14288" cy="1336675"/>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26" name="Rectangle 78"/>
          <p:cNvSpPr>
            <a:spLocks noChangeArrowheads="1"/>
          </p:cNvSpPr>
          <p:nvPr/>
        </p:nvSpPr>
        <p:spPr bwMode="auto">
          <a:xfrm>
            <a:off x="4857750" y="5975350"/>
            <a:ext cx="171450" cy="228600"/>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300" b="0" i="1" u="none" strike="noStrike" cap="none" normalizeH="0" baseline="0">
                <a:ln>
                  <a:noFill/>
                </a:ln>
                <a:solidFill>
                  <a:srgbClr val="000000"/>
                </a:solidFill>
                <a:effectLst/>
                <a:latin typeface="Times-Roman" charset="0"/>
                <a:ea typeface="宋体" panose="02010600030101010101" pitchFamily="2" charset="-122"/>
                <a:cs typeface="宋体" panose="02010600030101010101" pitchFamily="2" charset="-122"/>
              </a:rPr>
              <a:t>r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2527" name="Rectangle 79"/>
          <p:cNvSpPr>
            <a:spLocks noChangeArrowheads="1"/>
          </p:cNvSpPr>
          <p:nvPr/>
        </p:nvSpPr>
        <p:spPr bwMode="auto">
          <a:xfrm>
            <a:off x="4332288" y="5191125"/>
            <a:ext cx="4763" cy="15875"/>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28" name="Rectangle 80"/>
          <p:cNvSpPr>
            <a:spLocks noChangeArrowheads="1"/>
          </p:cNvSpPr>
          <p:nvPr/>
        </p:nvSpPr>
        <p:spPr bwMode="auto">
          <a:xfrm>
            <a:off x="4654550" y="5191125"/>
            <a:ext cx="4763" cy="15875"/>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29" name="Rectangle 81"/>
          <p:cNvSpPr>
            <a:spLocks noChangeArrowheads="1"/>
          </p:cNvSpPr>
          <p:nvPr/>
        </p:nvSpPr>
        <p:spPr bwMode="auto">
          <a:xfrm>
            <a:off x="4337050" y="5191125"/>
            <a:ext cx="317500" cy="15875"/>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30" name="Rectangle 82"/>
          <p:cNvSpPr>
            <a:spLocks noChangeArrowheads="1"/>
          </p:cNvSpPr>
          <p:nvPr/>
        </p:nvSpPr>
        <p:spPr bwMode="auto">
          <a:xfrm>
            <a:off x="4494213" y="5030788"/>
            <a:ext cx="14288" cy="4763"/>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31" name="Rectangle 83"/>
          <p:cNvSpPr>
            <a:spLocks noChangeArrowheads="1"/>
          </p:cNvSpPr>
          <p:nvPr/>
        </p:nvSpPr>
        <p:spPr bwMode="auto">
          <a:xfrm>
            <a:off x="4494213" y="5991225"/>
            <a:ext cx="14288" cy="4763"/>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32" name="Rectangle 84"/>
          <p:cNvSpPr>
            <a:spLocks noChangeArrowheads="1"/>
          </p:cNvSpPr>
          <p:nvPr/>
        </p:nvSpPr>
        <p:spPr bwMode="auto">
          <a:xfrm>
            <a:off x="4494213" y="5035550"/>
            <a:ext cx="14288" cy="955675"/>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33" name="Rectangle 85"/>
          <p:cNvSpPr>
            <a:spLocks noChangeArrowheads="1"/>
          </p:cNvSpPr>
          <p:nvPr/>
        </p:nvSpPr>
        <p:spPr bwMode="auto">
          <a:xfrm>
            <a:off x="5060950" y="4160838"/>
            <a:ext cx="6350" cy="17463"/>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34" name="Rectangle 86"/>
          <p:cNvSpPr>
            <a:spLocks noChangeArrowheads="1"/>
          </p:cNvSpPr>
          <p:nvPr/>
        </p:nvSpPr>
        <p:spPr bwMode="auto">
          <a:xfrm>
            <a:off x="5383213" y="4160838"/>
            <a:ext cx="4763" cy="17463"/>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35" name="Rectangle 87"/>
          <p:cNvSpPr>
            <a:spLocks noChangeArrowheads="1"/>
          </p:cNvSpPr>
          <p:nvPr/>
        </p:nvSpPr>
        <p:spPr bwMode="auto">
          <a:xfrm>
            <a:off x="5067300" y="4160838"/>
            <a:ext cx="315913" cy="17463"/>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36" name="Rectangle 88"/>
          <p:cNvSpPr>
            <a:spLocks noChangeArrowheads="1"/>
          </p:cNvSpPr>
          <p:nvPr/>
        </p:nvSpPr>
        <p:spPr bwMode="auto">
          <a:xfrm>
            <a:off x="5218113" y="4000500"/>
            <a:ext cx="15875" cy="4763"/>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37" name="Rectangle 89"/>
          <p:cNvSpPr>
            <a:spLocks noChangeArrowheads="1"/>
          </p:cNvSpPr>
          <p:nvPr/>
        </p:nvSpPr>
        <p:spPr bwMode="auto">
          <a:xfrm>
            <a:off x="5218113" y="5995988"/>
            <a:ext cx="15875" cy="6350"/>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38" name="Rectangle 90"/>
          <p:cNvSpPr>
            <a:spLocks noChangeArrowheads="1"/>
          </p:cNvSpPr>
          <p:nvPr/>
        </p:nvSpPr>
        <p:spPr bwMode="auto">
          <a:xfrm>
            <a:off x="5218113" y="4005263"/>
            <a:ext cx="15875" cy="1990725"/>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39" name="Rectangle 91"/>
          <p:cNvSpPr>
            <a:spLocks noChangeArrowheads="1"/>
          </p:cNvSpPr>
          <p:nvPr/>
        </p:nvSpPr>
        <p:spPr bwMode="auto">
          <a:xfrm>
            <a:off x="6751638" y="4160838"/>
            <a:ext cx="4763" cy="17463"/>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40" name="Rectangle 92"/>
          <p:cNvSpPr>
            <a:spLocks noChangeArrowheads="1"/>
          </p:cNvSpPr>
          <p:nvPr/>
        </p:nvSpPr>
        <p:spPr bwMode="auto">
          <a:xfrm>
            <a:off x="7073900" y="4160838"/>
            <a:ext cx="4763" cy="17463"/>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41" name="Rectangle 93"/>
          <p:cNvSpPr>
            <a:spLocks noChangeArrowheads="1"/>
          </p:cNvSpPr>
          <p:nvPr/>
        </p:nvSpPr>
        <p:spPr bwMode="auto">
          <a:xfrm>
            <a:off x="6756400" y="4160838"/>
            <a:ext cx="317500" cy="17463"/>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42" name="Rectangle 94"/>
          <p:cNvSpPr>
            <a:spLocks noChangeArrowheads="1"/>
          </p:cNvSpPr>
          <p:nvPr/>
        </p:nvSpPr>
        <p:spPr bwMode="auto">
          <a:xfrm>
            <a:off x="4289425" y="4575175"/>
            <a:ext cx="506413" cy="273050"/>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a:ln>
                  <a:noFill/>
                </a:ln>
                <a:solidFill>
                  <a:srgbClr val="000000"/>
                </a:solidFill>
                <a:effectLst/>
                <a:latin typeface="Times-Roman" charset="0"/>
                <a:ea typeface="宋体" panose="02010600030101010101" pitchFamily="2" charset="-122"/>
                <a:cs typeface="宋体" panose="02010600030101010101" pitchFamily="2" charset="-122"/>
              </a:rPr>
              <a:t>50%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2543" name="Rectangle 95"/>
          <p:cNvSpPr>
            <a:spLocks noChangeArrowheads="1"/>
          </p:cNvSpPr>
          <p:nvPr/>
        </p:nvSpPr>
        <p:spPr bwMode="auto">
          <a:xfrm>
            <a:off x="7110413" y="4670425"/>
            <a:ext cx="6350" cy="17463"/>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44" name="Rectangle 96"/>
          <p:cNvSpPr>
            <a:spLocks noChangeArrowheads="1"/>
          </p:cNvSpPr>
          <p:nvPr/>
        </p:nvSpPr>
        <p:spPr bwMode="auto">
          <a:xfrm>
            <a:off x="7432675" y="4670425"/>
            <a:ext cx="6350" cy="17463"/>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45" name="Rectangle 97"/>
          <p:cNvSpPr>
            <a:spLocks noChangeArrowheads="1"/>
          </p:cNvSpPr>
          <p:nvPr/>
        </p:nvSpPr>
        <p:spPr bwMode="auto">
          <a:xfrm>
            <a:off x="7116763" y="4670425"/>
            <a:ext cx="315913" cy="17463"/>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46" name="Rectangle 98"/>
          <p:cNvSpPr>
            <a:spLocks noChangeArrowheads="1"/>
          </p:cNvSpPr>
          <p:nvPr/>
        </p:nvSpPr>
        <p:spPr bwMode="auto">
          <a:xfrm>
            <a:off x="6505575" y="4227513"/>
            <a:ext cx="506413" cy="273050"/>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a:ln>
                  <a:noFill/>
                </a:ln>
                <a:solidFill>
                  <a:srgbClr val="000000"/>
                </a:solidFill>
                <a:effectLst/>
                <a:latin typeface="Times-Roman" charset="0"/>
                <a:ea typeface="宋体" panose="02010600030101010101" pitchFamily="2" charset="-122"/>
                <a:cs typeface="宋体" panose="02010600030101010101" pitchFamily="2" charset="-122"/>
              </a:rPr>
              <a:t>90%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2547" name="Rectangle 99"/>
          <p:cNvSpPr>
            <a:spLocks noChangeArrowheads="1"/>
          </p:cNvSpPr>
          <p:nvPr/>
        </p:nvSpPr>
        <p:spPr bwMode="auto">
          <a:xfrm>
            <a:off x="7481888" y="5191125"/>
            <a:ext cx="4763" cy="15875"/>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48" name="Rectangle 100"/>
          <p:cNvSpPr>
            <a:spLocks noChangeArrowheads="1"/>
          </p:cNvSpPr>
          <p:nvPr/>
        </p:nvSpPr>
        <p:spPr bwMode="auto">
          <a:xfrm>
            <a:off x="7802563" y="5191125"/>
            <a:ext cx="6350" cy="15875"/>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49" name="Rectangle 101"/>
          <p:cNvSpPr>
            <a:spLocks noChangeArrowheads="1"/>
          </p:cNvSpPr>
          <p:nvPr/>
        </p:nvSpPr>
        <p:spPr bwMode="auto">
          <a:xfrm>
            <a:off x="7486650" y="5191125"/>
            <a:ext cx="315913" cy="15875"/>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50" name="Rectangle 102"/>
          <p:cNvSpPr>
            <a:spLocks noChangeArrowheads="1"/>
          </p:cNvSpPr>
          <p:nvPr/>
        </p:nvSpPr>
        <p:spPr bwMode="auto">
          <a:xfrm>
            <a:off x="7486650" y="4575175"/>
            <a:ext cx="506413" cy="273050"/>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a:ln>
                  <a:noFill/>
                </a:ln>
                <a:solidFill>
                  <a:srgbClr val="000000"/>
                </a:solidFill>
                <a:effectLst/>
                <a:latin typeface="Times-Roman" charset="0"/>
                <a:ea typeface="宋体" panose="02010600030101010101" pitchFamily="2" charset="-122"/>
                <a:cs typeface="宋体" panose="02010600030101010101" pitchFamily="2" charset="-122"/>
              </a:rPr>
              <a:t>50%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2551" name="Rectangle 103"/>
          <p:cNvSpPr>
            <a:spLocks noChangeArrowheads="1"/>
          </p:cNvSpPr>
          <p:nvPr/>
        </p:nvSpPr>
        <p:spPr bwMode="auto">
          <a:xfrm>
            <a:off x="7239000" y="5262563"/>
            <a:ext cx="506413" cy="273050"/>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a:ln>
                  <a:noFill/>
                </a:ln>
                <a:solidFill>
                  <a:srgbClr val="000000"/>
                </a:solidFill>
                <a:effectLst/>
                <a:latin typeface="Times-Roman" charset="0"/>
                <a:ea typeface="宋体" panose="02010600030101010101" pitchFamily="2" charset="-122"/>
                <a:cs typeface="宋体" panose="02010600030101010101" pitchFamily="2" charset="-122"/>
              </a:rPr>
              <a:t>10%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2552" name="Rectangle 104"/>
          <p:cNvSpPr>
            <a:spLocks noChangeArrowheads="1"/>
          </p:cNvSpPr>
          <p:nvPr/>
        </p:nvSpPr>
        <p:spPr bwMode="auto">
          <a:xfrm>
            <a:off x="7229475" y="5895975"/>
            <a:ext cx="190500" cy="271463"/>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600" b="0" i="1" u="none" strike="noStrike" cap="none" normalizeH="0" baseline="0">
                <a:ln>
                  <a:noFill/>
                </a:ln>
                <a:solidFill>
                  <a:srgbClr val="000000"/>
                </a:solidFill>
                <a:effectLst/>
                <a:latin typeface="Times-Roman" charset="0"/>
                <a:ea typeface="宋体" panose="02010600030101010101" pitchFamily="2" charset="-122"/>
                <a:cs typeface="宋体" panose="02010600030101010101" pitchFamily="2" charset="-122"/>
              </a:rPr>
              <a:t>t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2553" name="Freeform 105"/>
          <p:cNvSpPr/>
          <p:nvPr/>
        </p:nvSpPr>
        <p:spPr bwMode="auto">
          <a:xfrm>
            <a:off x="7470775" y="5770563"/>
            <a:ext cx="123825" cy="76200"/>
          </a:xfrm>
          <a:custGeom>
            <a:avLst/>
            <a:gdLst/>
            <a:ahLst/>
            <a:cxnLst>
              <a:cxn ang="0">
                <a:pos x="0" y="48"/>
              </a:cxn>
              <a:cxn ang="0">
                <a:pos x="0" y="21"/>
              </a:cxn>
              <a:cxn ang="0">
                <a:pos x="0" y="0"/>
              </a:cxn>
              <a:cxn ang="0">
                <a:pos x="20" y="7"/>
              </a:cxn>
              <a:cxn ang="0">
                <a:pos x="155" y="33"/>
              </a:cxn>
              <a:cxn ang="0">
                <a:pos x="155" y="62"/>
              </a:cxn>
              <a:cxn ang="0">
                <a:pos x="155" y="62"/>
              </a:cxn>
              <a:cxn ang="0">
                <a:pos x="20" y="88"/>
              </a:cxn>
              <a:cxn ang="0">
                <a:pos x="0" y="95"/>
              </a:cxn>
              <a:cxn ang="0">
                <a:pos x="0" y="74"/>
              </a:cxn>
              <a:cxn ang="0">
                <a:pos x="13" y="62"/>
              </a:cxn>
              <a:cxn ang="0">
                <a:pos x="148" y="33"/>
              </a:cxn>
              <a:cxn ang="0">
                <a:pos x="148" y="33"/>
              </a:cxn>
              <a:cxn ang="0">
                <a:pos x="148" y="62"/>
              </a:cxn>
              <a:cxn ang="0">
                <a:pos x="13" y="33"/>
              </a:cxn>
              <a:cxn ang="0">
                <a:pos x="20" y="7"/>
              </a:cxn>
              <a:cxn ang="0">
                <a:pos x="27" y="21"/>
              </a:cxn>
              <a:cxn ang="0">
                <a:pos x="27" y="48"/>
              </a:cxn>
              <a:cxn ang="0">
                <a:pos x="0" y="48"/>
              </a:cxn>
            </a:cxnLst>
            <a:rect l="0" t="0" r="r" b="b"/>
            <a:pathLst>
              <a:path w="155" h="95">
                <a:moveTo>
                  <a:pt x="0" y="48"/>
                </a:moveTo>
                <a:lnTo>
                  <a:pt x="0" y="21"/>
                </a:lnTo>
                <a:lnTo>
                  <a:pt x="0" y="0"/>
                </a:lnTo>
                <a:lnTo>
                  <a:pt x="20" y="7"/>
                </a:lnTo>
                <a:lnTo>
                  <a:pt x="155" y="33"/>
                </a:lnTo>
                <a:lnTo>
                  <a:pt x="155" y="62"/>
                </a:lnTo>
                <a:lnTo>
                  <a:pt x="155" y="62"/>
                </a:lnTo>
                <a:lnTo>
                  <a:pt x="20" y="88"/>
                </a:lnTo>
                <a:lnTo>
                  <a:pt x="0" y="95"/>
                </a:lnTo>
                <a:lnTo>
                  <a:pt x="0" y="74"/>
                </a:lnTo>
                <a:lnTo>
                  <a:pt x="13" y="62"/>
                </a:lnTo>
                <a:lnTo>
                  <a:pt x="148" y="33"/>
                </a:lnTo>
                <a:lnTo>
                  <a:pt x="148" y="33"/>
                </a:lnTo>
                <a:lnTo>
                  <a:pt x="148" y="62"/>
                </a:lnTo>
                <a:lnTo>
                  <a:pt x="13" y="33"/>
                </a:lnTo>
                <a:lnTo>
                  <a:pt x="20" y="7"/>
                </a:lnTo>
                <a:lnTo>
                  <a:pt x="27" y="21"/>
                </a:lnTo>
                <a:lnTo>
                  <a:pt x="27" y="48"/>
                </a:lnTo>
                <a:lnTo>
                  <a:pt x="0" y="48"/>
                </a:lnTo>
                <a:close/>
              </a:path>
            </a:pathLst>
          </a:custGeom>
          <a:solidFill>
            <a:srgbClr val="000000"/>
          </a:solidFill>
          <a:ln w="9525">
            <a:noFill/>
            <a:round/>
          </a:ln>
        </p:spPr>
        <p:txBody>
          <a:bodyPr vert="horz" wrap="square" lIns="91440" tIns="45720" rIns="91440" bIns="45720" numCol="1" anchor="t" anchorCtr="0" compatLnSpc="1"/>
          <a:lstStyle/>
          <a:p>
            <a:endParaRPr lang="zh-CN" altLang="en-US"/>
          </a:p>
        </p:txBody>
      </p:sp>
      <p:sp>
        <p:nvSpPr>
          <p:cNvPr id="232554" name="Freeform 106"/>
          <p:cNvSpPr/>
          <p:nvPr/>
        </p:nvSpPr>
        <p:spPr bwMode="auto">
          <a:xfrm>
            <a:off x="7470775" y="5808663"/>
            <a:ext cx="22225" cy="20638"/>
          </a:xfrm>
          <a:custGeom>
            <a:avLst/>
            <a:gdLst/>
            <a:ahLst/>
            <a:cxnLst>
              <a:cxn ang="0">
                <a:pos x="0" y="26"/>
              </a:cxn>
              <a:cxn ang="0">
                <a:pos x="0" y="0"/>
              </a:cxn>
              <a:cxn ang="0">
                <a:pos x="27" y="0"/>
              </a:cxn>
              <a:cxn ang="0">
                <a:pos x="27" y="0"/>
              </a:cxn>
              <a:cxn ang="0">
                <a:pos x="27" y="0"/>
              </a:cxn>
              <a:cxn ang="0">
                <a:pos x="27" y="26"/>
              </a:cxn>
              <a:cxn ang="0">
                <a:pos x="0" y="26"/>
              </a:cxn>
            </a:cxnLst>
            <a:rect l="0" t="0" r="r" b="b"/>
            <a:pathLst>
              <a:path w="27" h="26">
                <a:moveTo>
                  <a:pt x="0" y="26"/>
                </a:moveTo>
                <a:lnTo>
                  <a:pt x="0" y="0"/>
                </a:lnTo>
                <a:lnTo>
                  <a:pt x="27" y="0"/>
                </a:lnTo>
                <a:lnTo>
                  <a:pt x="27" y="0"/>
                </a:lnTo>
                <a:lnTo>
                  <a:pt x="27" y="0"/>
                </a:lnTo>
                <a:lnTo>
                  <a:pt x="27" y="26"/>
                </a:lnTo>
                <a:lnTo>
                  <a:pt x="0" y="26"/>
                </a:lnTo>
                <a:close/>
              </a:path>
            </a:pathLst>
          </a:custGeom>
          <a:solidFill>
            <a:srgbClr val="000000"/>
          </a:solidFill>
          <a:ln w="9525">
            <a:noFill/>
            <a:round/>
          </a:ln>
        </p:spPr>
        <p:txBody>
          <a:bodyPr vert="horz" wrap="square" lIns="91440" tIns="45720" rIns="91440" bIns="45720" numCol="1" anchor="t" anchorCtr="0" compatLnSpc="1"/>
          <a:lstStyle/>
          <a:p>
            <a:endParaRPr lang="zh-CN" altLang="en-US"/>
          </a:p>
        </p:txBody>
      </p:sp>
      <p:sp>
        <p:nvSpPr>
          <p:cNvPr id="232555" name="Freeform 107"/>
          <p:cNvSpPr/>
          <p:nvPr/>
        </p:nvSpPr>
        <p:spPr bwMode="auto">
          <a:xfrm>
            <a:off x="7481888" y="5786438"/>
            <a:ext cx="106363" cy="42863"/>
          </a:xfrm>
          <a:custGeom>
            <a:avLst/>
            <a:gdLst/>
            <a:ahLst/>
            <a:cxnLst>
              <a:cxn ang="0">
                <a:pos x="0" y="27"/>
              </a:cxn>
              <a:cxn ang="0">
                <a:pos x="0" y="0"/>
              </a:cxn>
              <a:cxn ang="0">
                <a:pos x="135" y="27"/>
              </a:cxn>
              <a:cxn ang="0">
                <a:pos x="0" y="53"/>
              </a:cxn>
              <a:cxn ang="0">
                <a:pos x="0" y="27"/>
              </a:cxn>
            </a:cxnLst>
            <a:rect l="0" t="0" r="r" b="b"/>
            <a:pathLst>
              <a:path w="135" h="53">
                <a:moveTo>
                  <a:pt x="0" y="27"/>
                </a:moveTo>
                <a:lnTo>
                  <a:pt x="0" y="0"/>
                </a:lnTo>
                <a:lnTo>
                  <a:pt x="135" y="27"/>
                </a:lnTo>
                <a:lnTo>
                  <a:pt x="0" y="53"/>
                </a:lnTo>
                <a:lnTo>
                  <a:pt x="0" y="27"/>
                </a:lnTo>
                <a:close/>
              </a:path>
            </a:pathLst>
          </a:custGeom>
          <a:solidFill>
            <a:srgbClr val="000000"/>
          </a:solidFill>
          <a:ln w="9525">
            <a:noFill/>
            <a:round/>
          </a:ln>
        </p:spPr>
        <p:txBody>
          <a:bodyPr vert="horz" wrap="square" lIns="91440" tIns="45720" rIns="91440" bIns="45720" numCol="1" anchor="t" anchorCtr="0" compatLnSpc="1"/>
          <a:lstStyle/>
          <a:p>
            <a:endParaRPr lang="zh-CN" altLang="en-US"/>
          </a:p>
        </p:txBody>
      </p:sp>
      <p:sp>
        <p:nvSpPr>
          <p:cNvPr id="232556" name="Freeform 108"/>
          <p:cNvSpPr/>
          <p:nvPr/>
        </p:nvSpPr>
        <p:spPr bwMode="auto">
          <a:xfrm>
            <a:off x="6965950" y="5770563"/>
            <a:ext cx="123825" cy="76200"/>
          </a:xfrm>
          <a:custGeom>
            <a:avLst/>
            <a:gdLst/>
            <a:ahLst/>
            <a:cxnLst>
              <a:cxn ang="0">
                <a:pos x="156" y="48"/>
              </a:cxn>
              <a:cxn ang="0">
                <a:pos x="156" y="74"/>
              </a:cxn>
              <a:cxn ang="0">
                <a:pos x="156" y="95"/>
              </a:cxn>
              <a:cxn ang="0">
                <a:pos x="135" y="88"/>
              </a:cxn>
              <a:cxn ang="0">
                <a:pos x="0" y="62"/>
              </a:cxn>
              <a:cxn ang="0">
                <a:pos x="0" y="33"/>
              </a:cxn>
              <a:cxn ang="0">
                <a:pos x="0" y="33"/>
              </a:cxn>
              <a:cxn ang="0">
                <a:pos x="135" y="7"/>
              </a:cxn>
              <a:cxn ang="0">
                <a:pos x="156" y="0"/>
              </a:cxn>
              <a:cxn ang="0">
                <a:pos x="156" y="21"/>
              </a:cxn>
              <a:cxn ang="0">
                <a:pos x="142" y="33"/>
              </a:cxn>
              <a:cxn ang="0">
                <a:pos x="7" y="62"/>
              </a:cxn>
              <a:cxn ang="0">
                <a:pos x="7" y="62"/>
              </a:cxn>
              <a:cxn ang="0">
                <a:pos x="7" y="33"/>
              </a:cxn>
              <a:cxn ang="0">
                <a:pos x="142" y="62"/>
              </a:cxn>
              <a:cxn ang="0">
                <a:pos x="135" y="88"/>
              </a:cxn>
              <a:cxn ang="0">
                <a:pos x="129" y="74"/>
              </a:cxn>
              <a:cxn ang="0">
                <a:pos x="129" y="48"/>
              </a:cxn>
              <a:cxn ang="0">
                <a:pos x="156" y="48"/>
              </a:cxn>
            </a:cxnLst>
            <a:rect l="0" t="0" r="r" b="b"/>
            <a:pathLst>
              <a:path w="156" h="95">
                <a:moveTo>
                  <a:pt x="156" y="48"/>
                </a:moveTo>
                <a:lnTo>
                  <a:pt x="156" y="74"/>
                </a:lnTo>
                <a:lnTo>
                  <a:pt x="156" y="95"/>
                </a:lnTo>
                <a:lnTo>
                  <a:pt x="135" y="88"/>
                </a:lnTo>
                <a:lnTo>
                  <a:pt x="0" y="62"/>
                </a:lnTo>
                <a:lnTo>
                  <a:pt x="0" y="33"/>
                </a:lnTo>
                <a:lnTo>
                  <a:pt x="0" y="33"/>
                </a:lnTo>
                <a:lnTo>
                  <a:pt x="135" y="7"/>
                </a:lnTo>
                <a:lnTo>
                  <a:pt x="156" y="0"/>
                </a:lnTo>
                <a:lnTo>
                  <a:pt x="156" y="21"/>
                </a:lnTo>
                <a:lnTo>
                  <a:pt x="142" y="33"/>
                </a:lnTo>
                <a:lnTo>
                  <a:pt x="7" y="62"/>
                </a:lnTo>
                <a:lnTo>
                  <a:pt x="7" y="62"/>
                </a:lnTo>
                <a:lnTo>
                  <a:pt x="7" y="33"/>
                </a:lnTo>
                <a:lnTo>
                  <a:pt x="142" y="62"/>
                </a:lnTo>
                <a:lnTo>
                  <a:pt x="135" y="88"/>
                </a:lnTo>
                <a:lnTo>
                  <a:pt x="129" y="74"/>
                </a:lnTo>
                <a:lnTo>
                  <a:pt x="129" y="48"/>
                </a:lnTo>
                <a:lnTo>
                  <a:pt x="156" y="48"/>
                </a:lnTo>
                <a:close/>
              </a:path>
            </a:pathLst>
          </a:custGeom>
          <a:solidFill>
            <a:srgbClr val="000000"/>
          </a:solidFill>
          <a:ln w="9525">
            <a:noFill/>
            <a:round/>
          </a:ln>
        </p:spPr>
        <p:txBody>
          <a:bodyPr vert="horz" wrap="square" lIns="91440" tIns="45720" rIns="91440" bIns="45720" numCol="1" anchor="t" anchorCtr="0" compatLnSpc="1"/>
          <a:lstStyle/>
          <a:p>
            <a:endParaRPr lang="zh-CN" altLang="en-US"/>
          </a:p>
        </p:txBody>
      </p:sp>
      <p:sp>
        <p:nvSpPr>
          <p:cNvPr id="232557" name="Freeform 109"/>
          <p:cNvSpPr/>
          <p:nvPr/>
        </p:nvSpPr>
        <p:spPr bwMode="auto">
          <a:xfrm>
            <a:off x="7069138" y="5786438"/>
            <a:ext cx="20638" cy="22225"/>
          </a:xfrm>
          <a:custGeom>
            <a:avLst/>
            <a:gdLst/>
            <a:ahLst/>
            <a:cxnLst>
              <a:cxn ang="0">
                <a:pos x="27" y="0"/>
              </a:cxn>
              <a:cxn ang="0">
                <a:pos x="27" y="27"/>
              </a:cxn>
              <a:cxn ang="0">
                <a:pos x="0" y="27"/>
              </a:cxn>
              <a:cxn ang="0">
                <a:pos x="0" y="27"/>
              </a:cxn>
              <a:cxn ang="0">
                <a:pos x="0" y="27"/>
              </a:cxn>
              <a:cxn ang="0">
                <a:pos x="0" y="0"/>
              </a:cxn>
              <a:cxn ang="0">
                <a:pos x="27" y="0"/>
              </a:cxn>
            </a:cxnLst>
            <a:rect l="0" t="0" r="r" b="b"/>
            <a:pathLst>
              <a:path w="27" h="27">
                <a:moveTo>
                  <a:pt x="27" y="0"/>
                </a:moveTo>
                <a:lnTo>
                  <a:pt x="27" y="27"/>
                </a:lnTo>
                <a:lnTo>
                  <a:pt x="0" y="27"/>
                </a:lnTo>
                <a:lnTo>
                  <a:pt x="0" y="27"/>
                </a:lnTo>
                <a:lnTo>
                  <a:pt x="0" y="27"/>
                </a:lnTo>
                <a:lnTo>
                  <a:pt x="0" y="0"/>
                </a:lnTo>
                <a:lnTo>
                  <a:pt x="27" y="0"/>
                </a:lnTo>
                <a:close/>
              </a:path>
            </a:pathLst>
          </a:custGeom>
          <a:solidFill>
            <a:srgbClr val="000000"/>
          </a:solidFill>
          <a:ln w="9525">
            <a:noFill/>
            <a:round/>
          </a:ln>
        </p:spPr>
        <p:txBody>
          <a:bodyPr vert="horz" wrap="square" lIns="91440" tIns="45720" rIns="91440" bIns="45720" numCol="1" anchor="t" anchorCtr="0" compatLnSpc="1"/>
          <a:lstStyle/>
          <a:p>
            <a:endParaRPr lang="zh-CN" altLang="en-US"/>
          </a:p>
        </p:txBody>
      </p:sp>
      <p:sp>
        <p:nvSpPr>
          <p:cNvPr id="232558" name="Freeform 110"/>
          <p:cNvSpPr/>
          <p:nvPr/>
        </p:nvSpPr>
        <p:spPr bwMode="auto">
          <a:xfrm>
            <a:off x="6970713" y="5786438"/>
            <a:ext cx="107950" cy="42863"/>
          </a:xfrm>
          <a:custGeom>
            <a:avLst/>
            <a:gdLst/>
            <a:ahLst/>
            <a:cxnLst>
              <a:cxn ang="0">
                <a:pos x="135" y="27"/>
              </a:cxn>
              <a:cxn ang="0">
                <a:pos x="135" y="53"/>
              </a:cxn>
              <a:cxn ang="0">
                <a:pos x="0" y="27"/>
              </a:cxn>
              <a:cxn ang="0">
                <a:pos x="135" y="0"/>
              </a:cxn>
              <a:cxn ang="0">
                <a:pos x="135" y="27"/>
              </a:cxn>
            </a:cxnLst>
            <a:rect l="0" t="0" r="r" b="b"/>
            <a:pathLst>
              <a:path w="135" h="53">
                <a:moveTo>
                  <a:pt x="135" y="27"/>
                </a:moveTo>
                <a:lnTo>
                  <a:pt x="135" y="53"/>
                </a:lnTo>
                <a:lnTo>
                  <a:pt x="0" y="27"/>
                </a:lnTo>
                <a:lnTo>
                  <a:pt x="135" y="0"/>
                </a:lnTo>
                <a:lnTo>
                  <a:pt x="135" y="27"/>
                </a:lnTo>
                <a:close/>
              </a:path>
            </a:pathLst>
          </a:custGeom>
          <a:solidFill>
            <a:srgbClr val="000000"/>
          </a:solidFill>
          <a:ln w="9525">
            <a:noFill/>
            <a:round/>
          </a:ln>
        </p:spPr>
        <p:txBody>
          <a:bodyPr vert="horz" wrap="square" lIns="91440" tIns="45720" rIns="91440" bIns="45720" numCol="1" anchor="t" anchorCtr="0" compatLnSpc="1"/>
          <a:lstStyle/>
          <a:p>
            <a:endParaRPr lang="zh-CN" altLang="en-US"/>
          </a:p>
        </p:txBody>
      </p:sp>
      <p:sp>
        <p:nvSpPr>
          <p:cNvPr id="232559" name="Rectangle 111"/>
          <p:cNvSpPr>
            <a:spLocks noChangeArrowheads="1"/>
          </p:cNvSpPr>
          <p:nvPr/>
        </p:nvSpPr>
        <p:spPr bwMode="auto">
          <a:xfrm>
            <a:off x="7470775" y="5802313"/>
            <a:ext cx="4763" cy="17463"/>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60" name="Rectangle 112"/>
          <p:cNvSpPr>
            <a:spLocks noChangeArrowheads="1"/>
          </p:cNvSpPr>
          <p:nvPr/>
        </p:nvSpPr>
        <p:spPr bwMode="auto">
          <a:xfrm>
            <a:off x="7085013" y="5802313"/>
            <a:ext cx="4763" cy="17463"/>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61" name="Rectangle 113"/>
          <p:cNvSpPr>
            <a:spLocks noChangeArrowheads="1"/>
          </p:cNvSpPr>
          <p:nvPr/>
        </p:nvSpPr>
        <p:spPr bwMode="auto">
          <a:xfrm>
            <a:off x="7089775" y="5802313"/>
            <a:ext cx="381000" cy="17463"/>
          </a:xfrm>
          <a:prstGeom prst="rect">
            <a:avLst/>
          </a:prstGeom>
          <a:solidFill>
            <a:srgbClr val="002060"/>
          </a:solidFill>
          <a:ln w="9525">
            <a:noFill/>
            <a:miter lim="800000"/>
          </a:ln>
        </p:spPr>
        <p:txBody>
          <a:bodyPr vert="horz" wrap="square" lIns="91440" tIns="45720" rIns="91440" bIns="45720" numCol="1" anchor="t" anchorCtr="0" compatLnSpc="1"/>
          <a:lstStyle/>
          <a:p>
            <a:endParaRPr lang="zh-CN" altLang="en-US"/>
          </a:p>
        </p:txBody>
      </p:sp>
      <p:sp>
        <p:nvSpPr>
          <p:cNvPr id="232562" name="Rectangle 114"/>
          <p:cNvSpPr>
            <a:spLocks noChangeArrowheads="1"/>
          </p:cNvSpPr>
          <p:nvPr/>
        </p:nvSpPr>
        <p:spPr bwMode="auto">
          <a:xfrm>
            <a:off x="7635875" y="5030788"/>
            <a:ext cx="17463" cy="4763"/>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63" name="Rectangle 115"/>
          <p:cNvSpPr>
            <a:spLocks noChangeArrowheads="1"/>
          </p:cNvSpPr>
          <p:nvPr/>
        </p:nvSpPr>
        <p:spPr bwMode="auto">
          <a:xfrm>
            <a:off x="7635875" y="5991225"/>
            <a:ext cx="17463" cy="4763"/>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64" name="Rectangle 116"/>
          <p:cNvSpPr>
            <a:spLocks noChangeArrowheads="1"/>
          </p:cNvSpPr>
          <p:nvPr/>
        </p:nvSpPr>
        <p:spPr bwMode="auto">
          <a:xfrm>
            <a:off x="7635875" y="5035550"/>
            <a:ext cx="17463" cy="955675"/>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65" name="Rectangle 117"/>
          <p:cNvSpPr>
            <a:spLocks noChangeArrowheads="1"/>
          </p:cNvSpPr>
          <p:nvPr/>
        </p:nvSpPr>
        <p:spPr bwMode="auto">
          <a:xfrm>
            <a:off x="6911975" y="4000500"/>
            <a:ext cx="17463" cy="4763"/>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66" name="Rectangle 118"/>
          <p:cNvSpPr>
            <a:spLocks noChangeArrowheads="1"/>
          </p:cNvSpPr>
          <p:nvPr/>
        </p:nvSpPr>
        <p:spPr bwMode="auto">
          <a:xfrm>
            <a:off x="6911975" y="5995988"/>
            <a:ext cx="17463" cy="6350"/>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67" name="Rectangle 119"/>
          <p:cNvSpPr>
            <a:spLocks noChangeArrowheads="1"/>
          </p:cNvSpPr>
          <p:nvPr/>
        </p:nvSpPr>
        <p:spPr bwMode="auto">
          <a:xfrm>
            <a:off x="6911975" y="4005263"/>
            <a:ext cx="17463" cy="1990725"/>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68" name="Rectangle 120"/>
          <p:cNvSpPr>
            <a:spLocks noChangeArrowheads="1"/>
          </p:cNvSpPr>
          <p:nvPr/>
        </p:nvSpPr>
        <p:spPr bwMode="auto">
          <a:xfrm>
            <a:off x="7272338" y="4821238"/>
            <a:ext cx="15875" cy="6350"/>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69" name="Rectangle 121"/>
          <p:cNvSpPr>
            <a:spLocks noChangeArrowheads="1"/>
          </p:cNvSpPr>
          <p:nvPr/>
        </p:nvSpPr>
        <p:spPr bwMode="auto">
          <a:xfrm>
            <a:off x="7272338" y="3448050"/>
            <a:ext cx="15875" cy="4763"/>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70" name="Rectangle 122"/>
          <p:cNvSpPr>
            <a:spLocks noChangeArrowheads="1"/>
          </p:cNvSpPr>
          <p:nvPr/>
        </p:nvSpPr>
        <p:spPr bwMode="auto">
          <a:xfrm>
            <a:off x="7272338" y="3452813"/>
            <a:ext cx="15875" cy="1368425"/>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71" name="Rectangle 123"/>
          <p:cNvSpPr>
            <a:spLocks noChangeArrowheads="1"/>
          </p:cNvSpPr>
          <p:nvPr/>
        </p:nvSpPr>
        <p:spPr bwMode="auto">
          <a:xfrm>
            <a:off x="6059488" y="2025650"/>
            <a:ext cx="15875" cy="6350"/>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72" name="Rectangle 124"/>
          <p:cNvSpPr>
            <a:spLocks noChangeArrowheads="1"/>
          </p:cNvSpPr>
          <p:nvPr/>
        </p:nvSpPr>
        <p:spPr bwMode="auto">
          <a:xfrm>
            <a:off x="6059488" y="3721100"/>
            <a:ext cx="15875" cy="6350"/>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73" name="Rectangle 125"/>
          <p:cNvSpPr>
            <a:spLocks noChangeArrowheads="1"/>
          </p:cNvSpPr>
          <p:nvPr/>
        </p:nvSpPr>
        <p:spPr bwMode="auto">
          <a:xfrm>
            <a:off x="6059488" y="2032000"/>
            <a:ext cx="15875" cy="1689100"/>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74" name="Freeform 126"/>
          <p:cNvSpPr/>
          <p:nvPr/>
        </p:nvSpPr>
        <p:spPr bwMode="auto">
          <a:xfrm>
            <a:off x="3703638" y="3516313"/>
            <a:ext cx="128588" cy="80963"/>
          </a:xfrm>
          <a:custGeom>
            <a:avLst/>
            <a:gdLst/>
            <a:ahLst/>
            <a:cxnLst>
              <a:cxn ang="0">
                <a:pos x="162" y="55"/>
              </a:cxn>
              <a:cxn ang="0">
                <a:pos x="162" y="82"/>
              </a:cxn>
              <a:cxn ang="0">
                <a:pos x="162" y="101"/>
              </a:cxn>
              <a:cxn ang="0">
                <a:pos x="142" y="96"/>
              </a:cxn>
              <a:cxn ang="0">
                <a:pos x="0" y="67"/>
              </a:cxn>
              <a:cxn ang="0">
                <a:pos x="0" y="41"/>
              </a:cxn>
              <a:cxn ang="0">
                <a:pos x="0" y="41"/>
              </a:cxn>
              <a:cxn ang="0">
                <a:pos x="142" y="7"/>
              </a:cxn>
              <a:cxn ang="0">
                <a:pos x="162" y="0"/>
              </a:cxn>
              <a:cxn ang="0">
                <a:pos x="162" y="21"/>
              </a:cxn>
              <a:cxn ang="0">
                <a:pos x="149" y="34"/>
              </a:cxn>
              <a:cxn ang="0">
                <a:pos x="7" y="67"/>
              </a:cxn>
              <a:cxn ang="0">
                <a:pos x="7" y="67"/>
              </a:cxn>
              <a:cxn ang="0">
                <a:pos x="7" y="41"/>
              </a:cxn>
              <a:cxn ang="0">
                <a:pos x="149" y="67"/>
              </a:cxn>
              <a:cxn ang="0">
                <a:pos x="142" y="96"/>
              </a:cxn>
              <a:cxn ang="0">
                <a:pos x="135" y="82"/>
              </a:cxn>
              <a:cxn ang="0">
                <a:pos x="135" y="55"/>
              </a:cxn>
              <a:cxn ang="0">
                <a:pos x="162" y="55"/>
              </a:cxn>
            </a:cxnLst>
            <a:rect l="0" t="0" r="r" b="b"/>
            <a:pathLst>
              <a:path w="162" h="101">
                <a:moveTo>
                  <a:pt x="162" y="55"/>
                </a:moveTo>
                <a:lnTo>
                  <a:pt x="162" y="82"/>
                </a:lnTo>
                <a:lnTo>
                  <a:pt x="162" y="101"/>
                </a:lnTo>
                <a:lnTo>
                  <a:pt x="142" y="96"/>
                </a:lnTo>
                <a:lnTo>
                  <a:pt x="0" y="67"/>
                </a:lnTo>
                <a:lnTo>
                  <a:pt x="0" y="41"/>
                </a:lnTo>
                <a:lnTo>
                  <a:pt x="0" y="41"/>
                </a:lnTo>
                <a:lnTo>
                  <a:pt x="142" y="7"/>
                </a:lnTo>
                <a:lnTo>
                  <a:pt x="162" y="0"/>
                </a:lnTo>
                <a:lnTo>
                  <a:pt x="162" y="21"/>
                </a:lnTo>
                <a:lnTo>
                  <a:pt x="149" y="34"/>
                </a:lnTo>
                <a:lnTo>
                  <a:pt x="7" y="67"/>
                </a:lnTo>
                <a:lnTo>
                  <a:pt x="7" y="67"/>
                </a:lnTo>
                <a:lnTo>
                  <a:pt x="7" y="41"/>
                </a:lnTo>
                <a:lnTo>
                  <a:pt x="149" y="67"/>
                </a:lnTo>
                <a:lnTo>
                  <a:pt x="142" y="96"/>
                </a:lnTo>
                <a:lnTo>
                  <a:pt x="135" y="82"/>
                </a:lnTo>
                <a:lnTo>
                  <a:pt x="135" y="55"/>
                </a:lnTo>
                <a:lnTo>
                  <a:pt x="162" y="55"/>
                </a:lnTo>
                <a:close/>
              </a:path>
            </a:pathLst>
          </a:custGeom>
          <a:solidFill>
            <a:srgbClr val="000000"/>
          </a:solidFill>
          <a:ln w="9525">
            <a:noFill/>
            <a:round/>
          </a:ln>
        </p:spPr>
        <p:txBody>
          <a:bodyPr vert="horz" wrap="square" lIns="91440" tIns="45720" rIns="91440" bIns="45720" numCol="1" anchor="t" anchorCtr="0" compatLnSpc="1"/>
          <a:lstStyle/>
          <a:p>
            <a:endParaRPr lang="zh-CN" altLang="en-US"/>
          </a:p>
        </p:txBody>
      </p:sp>
      <p:sp>
        <p:nvSpPr>
          <p:cNvPr id="232575" name="Freeform 127"/>
          <p:cNvSpPr/>
          <p:nvPr/>
        </p:nvSpPr>
        <p:spPr bwMode="auto">
          <a:xfrm>
            <a:off x="3811588" y="3533775"/>
            <a:ext cx="20638" cy="26988"/>
          </a:xfrm>
          <a:custGeom>
            <a:avLst/>
            <a:gdLst/>
            <a:ahLst/>
            <a:cxnLst>
              <a:cxn ang="0">
                <a:pos x="27" y="0"/>
              </a:cxn>
              <a:cxn ang="0">
                <a:pos x="27" y="34"/>
              </a:cxn>
              <a:cxn ang="0">
                <a:pos x="0" y="34"/>
              </a:cxn>
              <a:cxn ang="0">
                <a:pos x="0" y="34"/>
              </a:cxn>
              <a:cxn ang="0">
                <a:pos x="0" y="34"/>
              </a:cxn>
              <a:cxn ang="0">
                <a:pos x="0" y="0"/>
              </a:cxn>
              <a:cxn ang="0">
                <a:pos x="27" y="0"/>
              </a:cxn>
            </a:cxnLst>
            <a:rect l="0" t="0" r="r" b="b"/>
            <a:pathLst>
              <a:path w="27" h="34">
                <a:moveTo>
                  <a:pt x="27" y="0"/>
                </a:moveTo>
                <a:lnTo>
                  <a:pt x="27" y="34"/>
                </a:lnTo>
                <a:lnTo>
                  <a:pt x="0" y="34"/>
                </a:lnTo>
                <a:lnTo>
                  <a:pt x="0" y="34"/>
                </a:lnTo>
                <a:lnTo>
                  <a:pt x="0" y="34"/>
                </a:lnTo>
                <a:lnTo>
                  <a:pt x="0" y="0"/>
                </a:lnTo>
                <a:lnTo>
                  <a:pt x="27" y="0"/>
                </a:lnTo>
                <a:close/>
              </a:path>
            </a:pathLst>
          </a:custGeom>
          <a:solidFill>
            <a:srgbClr val="000000"/>
          </a:solidFill>
          <a:ln w="9525">
            <a:noFill/>
            <a:round/>
          </a:ln>
        </p:spPr>
        <p:txBody>
          <a:bodyPr vert="horz" wrap="square" lIns="91440" tIns="45720" rIns="91440" bIns="45720" numCol="1" anchor="t" anchorCtr="0" compatLnSpc="1"/>
          <a:lstStyle/>
          <a:p>
            <a:endParaRPr lang="zh-CN" altLang="en-US"/>
          </a:p>
        </p:txBody>
      </p:sp>
      <p:sp>
        <p:nvSpPr>
          <p:cNvPr id="232576" name="Freeform 128"/>
          <p:cNvSpPr/>
          <p:nvPr/>
        </p:nvSpPr>
        <p:spPr bwMode="auto">
          <a:xfrm>
            <a:off x="3709988" y="3533775"/>
            <a:ext cx="112713" cy="47625"/>
          </a:xfrm>
          <a:custGeom>
            <a:avLst/>
            <a:gdLst/>
            <a:ahLst/>
            <a:cxnLst>
              <a:cxn ang="0">
                <a:pos x="142" y="34"/>
              </a:cxn>
              <a:cxn ang="0">
                <a:pos x="142" y="61"/>
              </a:cxn>
              <a:cxn ang="0">
                <a:pos x="0" y="34"/>
              </a:cxn>
              <a:cxn ang="0">
                <a:pos x="142" y="0"/>
              </a:cxn>
              <a:cxn ang="0">
                <a:pos x="142" y="34"/>
              </a:cxn>
            </a:cxnLst>
            <a:rect l="0" t="0" r="r" b="b"/>
            <a:pathLst>
              <a:path w="142" h="61">
                <a:moveTo>
                  <a:pt x="142" y="34"/>
                </a:moveTo>
                <a:lnTo>
                  <a:pt x="142" y="61"/>
                </a:lnTo>
                <a:lnTo>
                  <a:pt x="0" y="34"/>
                </a:lnTo>
                <a:lnTo>
                  <a:pt x="142" y="0"/>
                </a:lnTo>
                <a:lnTo>
                  <a:pt x="142" y="34"/>
                </a:lnTo>
                <a:close/>
              </a:path>
            </a:pathLst>
          </a:custGeom>
          <a:solidFill>
            <a:srgbClr val="000000"/>
          </a:solidFill>
          <a:ln w="9525">
            <a:noFill/>
            <a:round/>
          </a:ln>
        </p:spPr>
        <p:txBody>
          <a:bodyPr vert="horz" wrap="square" lIns="91440" tIns="45720" rIns="91440" bIns="45720" numCol="1" anchor="t" anchorCtr="0" compatLnSpc="1"/>
          <a:lstStyle/>
          <a:p>
            <a:endParaRPr lang="zh-CN" altLang="en-US"/>
          </a:p>
        </p:txBody>
      </p:sp>
      <p:sp>
        <p:nvSpPr>
          <p:cNvPr id="232577" name="Freeform 129"/>
          <p:cNvSpPr/>
          <p:nvPr/>
        </p:nvSpPr>
        <p:spPr bwMode="auto">
          <a:xfrm>
            <a:off x="4691063" y="3516313"/>
            <a:ext cx="128588" cy="80963"/>
          </a:xfrm>
          <a:custGeom>
            <a:avLst/>
            <a:gdLst/>
            <a:ahLst/>
            <a:cxnLst>
              <a:cxn ang="0">
                <a:pos x="0" y="55"/>
              </a:cxn>
              <a:cxn ang="0">
                <a:pos x="0" y="21"/>
              </a:cxn>
              <a:cxn ang="0">
                <a:pos x="0" y="0"/>
              </a:cxn>
              <a:cxn ang="0">
                <a:pos x="21" y="7"/>
              </a:cxn>
              <a:cxn ang="0">
                <a:pos x="162" y="41"/>
              </a:cxn>
              <a:cxn ang="0">
                <a:pos x="162" y="67"/>
              </a:cxn>
              <a:cxn ang="0">
                <a:pos x="162" y="67"/>
              </a:cxn>
              <a:cxn ang="0">
                <a:pos x="21" y="96"/>
              </a:cxn>
              <a:cxn ang="0">
                <a:pos x="0" y="101"/>
              </a:cxn>
              <a:cxn ang="0">
                <a:pos x="0" y="82"/>
              </a:cxn>
              <a:cxn ang="0">
                <a:pos x="14" y="67"/>
              </a:cxn>
              <a:cxn ang="0">
                <a:pos x="157" y="41"/>
              </a:cxn>
              <a:cxn ang="0">
                <a:pos x="157" y="41"/>
              </a:cxn>
              <a:cxn ang="0">
                <a:pos x="157" y="67"/>
              </a:cxn>
              <a:cxn ang="0">
                <a:pos x="14" y="34"/>
              </a:cxn>
              <a:cxn ang="0">
                <a:pos x="21" y="7"/>
              </a:cxn>
              <a:cxn ang="0">
                <a:pos x="27" y="21"/>
              </a:cxn>
              <a:cxn ang="0">
                <a:pos x="27" y="55"/>
              </a:cxn>
              <a:cxn ang="0">
                <a:pos x="0" y="55"/>
              </a:cxn>
            </a:cxnLst>
            <a:rect l="0" t="0" r="r" b="b"/>
            <a:pathLst>
              <a:path w="162" h="101">
                <a:moveTo>
                  <a:pt x="0" y="55"/>
                </a:moveTo>
                <a:lnTo>
                  <a:pt x="0" y="21"/>
                </a:lnTo>
                <a:lnTo>
                  <a:pt x="0" y="0"/>
                </a:lnTo>
                <a:lnTo>
                  <a:pt x="21" y="7"/>
                </a:lnTo>
                <a:lnTo>
                  <a:pt x="162" y="41"/>
                </a:lnTo>
                <a:lnTo>
                  <a:pt x="162" y="67"/>
                </a:lnTo>
                <a:lnTo>
                  <a:pt x="162" y="67"/>
                </a:lnTo>
                <a:lnTo>
                  <a:pt x="21" y="96"/>
                </a:lnTo>
                <a:lnTo>
                  <a:pt x="0" y="101"/>
                </a:lnTo>
                <a:lnTo>
                  <a:pt x="0" y="82"/>
                </a:lnTo>
                <a:lnTo>
                  <a:pt x="14" y="67"/>
                </a:lnTo>
                <a:lnTo>
                  <a:pt x="157" y="41"/>
                </a:lnTo>
                <a:lnTo>
                  <a:pt x="157" y="41"/>
                </a:lnTo>
                <a:lnTo>
                  <a:pt x="157" y="67"/>
                </a:lnTo>
                <a:lnTo>
                  <a:pt x="14" y="34"/>
                </a:lnTo>
                <a:lnTo>
                  <a:pt x="21" y="7"/>
                </a:lnTo>
                <a:lnTo>
                  <a:pt x="27" y="21"/>
                </a:lnTo>
                <a:lnTo>
                  <a:pt x="27" y="55"/>
                </a:lnTo>
                <a:lnTo>
                  <a:pt x="0" y="55"/>
                </a:lnTo>
                <a:close/>
              </a:path>
            </a:pathLst>
          </a:custGeom>
          <a:solidFill>
            <a:srgbClr val="000000"/>
          </a:solidFill>
          <a:ln w="9525">
            <a:noFill/>
            <a:round/>
          </a:ln>
        </p:spPr>
        <p:txBody>
          <a:bodyPr vert="horz" wrap="square" lIns="91440" tIns="45720" rIns="91440" bIns="45720" numCol="1" anchor="t" anchorCtr="0" compatLnSpc="1"/>
          <a:lstStyle/>
          <a:p>
            <a:endParaRPr lang="zh-CN" altLang="en-US"/>
          </a:p>
        </p:txBody>
      </p:sp>
      <p:sp>
        <p:nvSpPr>
          <p:cNvPr id="232578" name="Freeform 130"/>
          <p:cNvSpPr/>
          <p:nvPr/>
        </p:nvSpPr>
        <p:spPr bwMode="auto">
          <a:xfrm>
            <a:off x="4691063" y="3560763"/>
            <a:ext cx="22225" cy="20638"/>
          </a:xfrm>
          <a:custGeom>
            <a:avLst/>
            <a:gdLst/>
            <a:ahLst/>
            <a:cxnLst>
              <a:cxn ang="0">
                <a:pos x="0" y="27"/>
              </a:cxn>
              <a:cxn ang="0">
                <a:pos x="0" y="0"/>
              </a:cxn>
              <a:cxn ang="0">
                <a:pos x="27" y="0"/>
              </a:cxn>
              <a:cxn ang="0">
                <a:pos x="27" y="0"/>
              </a:cxn>
              <a:cxn ang="0">
                <a:pos x="27" y="0"/>
              </a:cxn>
              <a:cxn ang="0">
                <a:pos x="27" y="27"/>
              </a:cxn>
              <a:cxn ang="0">
                <a:pos x="0" y="27"/>
              </a:cxn>
            </a:cxnLst>
            <a:rect l="0" t="0" r="r" b="b"/>
            <a:pathLst>
              <a:path w="27" h="27">
                <a:moveTo>
                  <a:pt x="0" y="27"/>
                </a:moveTo>
                <a:lnTo>
                  <a:pt x="0" y="0"/>
                </a:lnTo>
                <a:lnTo>
                  <a:pt x="27" y="0"/>
                </a:lnTo>
                <a:lnTo>
                  <a:pt x="27" y="0"/>
                </a:lnTo>
                <a:lnTo>
                  <a:pt x="27" y="0"/>
                </a:lnTo>
                <a:lnTo>
                  <a:pt x="27" y="27"/>
                </a:lnTo>
                <a:lnTo>
                  <a:pt x="0" y="27"/>
                </a:lnTo>
                <a:close/>
              </a:path>
            </a:pathLst>
          </a:custGeom>
          <a:solidFill>
            <a:srgbClr val="000000"/>
          </a:solidFill>
          <a:ln w="9525">
            <a:noFill/>
            <a:round/>
          </a:ln>
        </p:spPr>
        <p:txBody>
          <a:bodyPr vert="horz" wrap="square" lIns="91440" tIns="45720" rIns="91440" bIns="45720" numCol="1" anchor="t" anchorCtr="0" compatLnSpc="1"/>
          <a:lstStyle/>
          <a:p>
            <a:endParaRPr lang="zh-CN" altLang="en-US"/>
          </a:p>
        </p:txBody>
      </p:sp>
      <p:sp>
        <p:nvSpPr>
          <p:cNvPr id="232579" name="Freeform 131"/>
          <p:cNvSpPr/>
          <p:nvPr/>
        </p:nvSpPr>
        <p:spPr bwMode="auto">
          <a:xfrm>
            <a:off x="4702175" y="3533775"/>
            <a:ext cx="112713" cy="47625"/>
          </a:xfrm>
          <a:custGeom>
            <a:avLst/>
            <a:gdLst/>
            <a:ahLst/>
            <a:cxnLst>
              <a:cxn ang="0">
                <a:pos x="0" y="34"/>
              </a:cxn>
              <a:cxn ang="0">
                <a:pos x="0" y="0"/>
              </a:cxn>
              <a:cxn ang="0">
                <a:pos x="143" y="34"/>
              </a:cxn>
              <a:cxn ang="0">
                <a:pos x="0" y="61"/>
              </a:cxn>
              <a:cxn ang="0">
                <a:pos x="0" y="34"/>
              </a:cxn>
            </a:cxnLst>
            <a:rect l="0" t="0" r="r" b="b"/>
            <a:pathLst>
              <a:path w="143" h="61">
                <a:moveTo>
                  <a:pt x="0" y="34"/>
                </a:moveTo>
                <a:lnTo>
                  <a:pt x="0" y="0"/>
                </a:lnTo>
                <a:lnTo>
                  <a:pt x="143" y="34"/>
                </a:lnTo>
                <a:lnTo>
                  <a:pt x="0" y="61"/>
                </a:lnTo>
                <a:lnTo>
                  <a:pt x="0" y="34"/>
                </a:lnTo>
                <a:close/>
              </a:path>
            </a:pathLst>
          </a:custGeom>
          <a:solidFill>
            <a:srgbClr val="000000"/>
          </a:solidFill>
          <a:ln w="9525">
            <a:noFill/>
            <a:round/>
          </a:ln>
        </p:spPr>
        <p:txBody>
          <a:bodyPr vert="horz" wrap="square" lIns="91440" tIns="45720" rIns="91440" bIns="45720" numCol="1" anchor="t" anchorCtr="0" compatLnSpc="1"/>
          <a:lstStyle/>
          <a:p>
            <a:endParaRPr lang="zh-CN" altLang="en-US"/>
          </a:p>
        </p:txBody>
      </p:sp>
      <p:sp>
        <p:nvSpPr>
          <p:cNvPr id="232580" name="Rectangle 132"/>
          <p:cNvSpPr>
            <a:spLocks noChangeArrowheads="1"/>
          </p:cNvSpPr>
          <p:nvPr/>
        </p:nvSpPr>
        <p:spPr bwMode="auto">
          <a:xfrm>
            <a:off x="3827463" y="3554413"/>
            <a:ext cx="4763" cy="15875"/>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81" name="Rectangle 133"/>
          <p:cNvSpPr>
            <a:spLocks noChangeArrowheads="1"/>
          </p:cNvSpPr>
          <p:nvPr/>
        </p:nvSpPr>
        <p:spPr bwMode="auto">
          <a:xfrm>
            <a:off x="4691063" y="3554413"/>
            <a:ext cx="6350" cy="15875"/>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82" name="Rectangle 134"/>
          <p:cNvSpPr>
            <a:spLocks noChangeArrowheads="1"/>
          </p:cNvSpPr>
          <p:nvPr/>
        </p:nvSpPr>
        <p:spPr bwMode="auto">
          <a:xfrm>
            <a:off x="3832225" y="3554413"/>
            <a:ext cx="858838" cy="15875"/>
          </a:xfrm>
          <a:prstGeom prst="rect">
            <a:avLst/>
          </a:prstGeom>
          <a:solidFill>
            <a:srgbClr val="FF0000"/>
          </a:solidFill>
          <a:ln w="9525">
            <a:noFill/>
            <a:miter lim="800000"/>
          </a:ln>
        </p:spPr>
        <p:txBody>
          <a:bodyPr vert="horz" wrap="square" lIns="91440" tIns="45720" rIns="91440" bIns="45720" numCol="1" anchor="t" anchorCtr="0" compatLnSpc="1"/>
          <a:lstStyle/>
          <a:p>
            <a:endParaRPr lang="zh-CN" altLang="en-US"/>
          </a:p>
        </p:txBody>
      </p:sp>
      <p:sp>
        <p:nvSpPr>
          <p:cNvPr id="232583" name="Freeform 135"/>
          <p:cNvSpPr/>
          <p:nvPr/>
        </p:nvSpPr>
        <p:spPr bwMode="auto">
          <a:xfrm>
            <a:off x="6113463" y="3516313"/>
            <a:ext cx="123825" cy="80963"/>
          </a:xfrm>
          <a:custGeom>
            <a:avLst/>
            <a:gdLst/>
            <a:ahLst/>
            <a:cxnLst>
              <a:cxn ang="0">
                <a:pos x="157" y="55"/>
              </a:cxn>
              <a:cxn ang="0">
                <a:pos x="157" y="82"/>
              </a:cxn>
              <a:cxn ang="0">
                <a:pos x="157" y="101"/>
              </a:cxn>
              <a:cxn ang="0">
                <a:pos x="136" y="96"/>
              </a:cxn>
              <a:cxn ang="0">
                <a:pos x="0" y="67"/>
              </a:cxn>
              <a:cxn ang="0">
                <a:pos x="0" y="41"/>
              </a:cxn>
              <a:cxn ang="0">
                <a:pos x="0" y="41"/>
              </a:cxn>
              <a:cxn ang="0">
                <a:pos x="136" y="7"/>
              </a:cxn>
              <a:cxn ang="0">
                <a:pos x="157" y="0"/>
              </a:cxn>
              <a:cxn ang="0">
                <a:pos x="157" y="21"/>
              </a:cxn>
              <a:cxn ang="0">
                <a:pos x="143" y="34"/>
              </a:cxn>
              <a:cxn ang="0">
                <a:pos x="8" y="67"/>
              </a:cxn>
              <a:cxn ang="0">
                <a:pos x="8" y="67"/>
              </a:cxn>
              <a:cxn ang="0">
                <a:pos x="8" y="41"/>
              </a:cxn>
              <a:cxn ang="0">
                <a:pos x="143" y="67"/>
              </a:cxn>
              <a:cxn ang="0">
                <a:pos x="136" y="96"/>
              </a:cxn>
              <a:cxn ang="0">
                <a:pos x="129" y="82"/>
              </a:cxn>
              <a:cxn ang="0">
                <a:pos x="129" y="55"/>
              </a:cxn>
              <a:cxn ang="0">
                <a:pos x="157" y="55"/>
              </a:cxn>
            </a:cxnLst>
            <a:rect l="0" t="0" r="r" b="b"/>
            <a:pathLst>
              <a:path w="157" h="101">
                <a:moveTo>
                  <a:pt x="157" y="55"/>
                </a:moveTo>
                <a:lnTo>
                  <a:pt x="157" y="82"/>
                </a:lnTo>
                <a:lnTo>
                  <a:pt x="157" y="101"/>
                </a:lnTo>
                <a:lnTo>
                  <a:pt x="136" y="96"/>
                </a:lnTo>
                <a:lnTo>
                  <a:pt x="0" y="67"/>
                </a:lnTo>
                <a:lnTo>
                  <a:pt x="0" y="41"/>
                </a:lnTo>
                <a:lnTo>
                  <a:pt x="0" y="41"/>
                </a:lnTo>
                <a:lnTo>
                  <a:pt x="136" y="7"/>
                </a:lnTo>
                <a:lnTo>
                  <a:pt x="157" y="0"/>
                </a:lnTo>
                <a:lnTo>
                  <a:pt x="157" y="21"/>
                </a:lnTo>
                <a:lnTo>
                  <a:pt x="143" y="34"/>
                </a:lnTo>
                <a:lnTo>
                  <a:pt x="8" y="67"/>
                </a:lnTo>
                <a:lnTo>
                  <a:pt x="8" y="67"/>
                </a:lnTo>
                <a:lnTo>
                  <a:pt x="8" y="41"/>
                </a:lnTo>
                <a:lnTo>
                  <a:pt x="143" y="67"/>
                </a:lnTo>
                <a:lnTo>
                  <a:pt x="136" y="96"/>
                </a:lnTo>
                <a:lnTo>
                  <a:pt x="129" y="82"/>
                </a:lnTo>
                <a:lnTo>
                  <a:pt x="129" y="55"/>
                </a:lnTo>
                <a:lnTo>
                  <a:pt x="157" y="55"/>
                </a:lnTo>
                <a:close/>
              </a:path>
            </a:pathLst>
          </a:custGeom>
          <a:solidFill>
            <a:srgbClr val="000000"/>
          </a:solidFill>
          <a:ln w="9525">
            <a:noFill/>
            <a:round/>
          </a:ln>
        </p:spPr>
        <p:txBody>
          <a:bodyPr vert="horz" wrap="square" lIns="91440" tIns="45720" rIns="91440" bIns="45720" numCol="1" anchor="t" anchorCtr="0" compatLnSpc="1"/>
          <a:lstStyle/>
          <a:p>
            <a:endParaRPr lang="zh-CN" altLang="en-US"/>
          </a:p>
        </p:txBody>
      </p:sp>
      <p:sp>
        <p:nvSpPr>
          <p:cNvPr id="232584" name="Freeform 136"/>
          <p:cNvSpPr/>
          <p:nvPr/>
        </p:nvSpPr>
        <p:spPr bwMode="auto">
          <a:xfrm>
            <a:off x="6215063" y="3533775"/>
            <a:ext cx="22225" cy="26988"/>
          </a:xfrm>
          <a:custGeom>
            <a:avLst/>
            <a:gdLst/>
            <a:ahLst/>
            <a:cxnLst>
              <a:cxn ang="0">
                <a:pos x="28" y="0"/>
              </a:cxn>
              <a:cxn ang="0">
                <a:pos x="28" y="34"/>
              </a:cxn>
              <a:cxn ang="0">
                <a:pos x="0" y="34"/>
              </a:cxn>
              <a:cxn ang="0">
                <a:pos x="0" y="34"/>
              </a:cxn>
              <a:cxn ang="0">
                <a:pos x="0" y="34"/>
              </a:cxn>
              <a:cxn ang="0">
                <a:pos x="0" y="0"/>
              </a:cxn>
              <a:cxn ang="0">
                <a:pos x="28" y="0"/>
              </a:cxn>
            </a:cxnLst>
            <a:rect l="0" t="0" r="r" b="b"/>
            <a:pathLst>
              <a:path w="28" h="34">
                <a:moveTo>
                  <a:pt x="28" y="0"/>
                </a:moveTo>
                <a:lnTo>
                  <a:pt x="28" y="34"/>
                </a:lnTo>
                <a:lnTo>
                  <a:pt x="0" y="34"/>
                </a:lnTo>
                <a:lnTo>
                  <a:pt x="0" y="34"/>
                </a:lnTo>
                <a:lnTo>
                  <a:pt x="0" y="34"/>
                </a:lnTo>
                <a:lnTo>
                  <a:pt x="0" y="0"/>
                </a:lnTo>
                <a:lnTo>
                  <a:pt x="28" y="0"/>
                </a:lnTo>
                <a:close/>
              </a:path>
            </a:pathLst>
          </a:custGeom>
          <a:solidFill>
            <a:srgbClr val="000000"/>
          </a:solidFill>
          <a:ln w="9525">
            <a:noFill/>
            <a:round/>
          </a:ln>
        </p:spPr>
        <p:txBody>
          <a:bodyPr vert="horz" wrap="square" lIns="91440" tIns="45720" rIns="91440" bIns="45720" numCol="1" anchor="t" anchorCtr="0" compatLnSpc="1"/>
          <a:lstStyle/>
          <a:p>
            <a:endParaRPr lang="zh-CN" altLang="en-US"/>
          </a:p>
        </p:txBody>
      </p:sp>
      <p:sp>
        <p:nvSpPr>
          <p:cNvPr id="232585" name="Freeform 137"/>
          <p:cNvSpPr/>
          <p:nvPr/>
        </p:nvSpPr>
        <p:spPr bwMode="auto">
          <a:xfrm>
            <a:off x="6118225" y="3533775"/>
            <a:ext cx="107950" cy="47625"/>
          </a:xfrm>
          <a:custGeom>
            <a:avLst/>
            <a:gdLst/>
            <a:ahLst/>
            <a:cxnLst>
              <a:cxn ang="0">
                <a:pos x="135" y="34"/>
              </a:cxn>
              <a:cxn ang="0">
                <a:pos x="135" y="61"/>
              </a:cxn>
              <a:cxn ang="0">
                <a:pos x="0" y="34"/>
              </a:cxn>
              <a:cxn ang="0">
                <a:pos x="135" y="0"/>
              </a:cxn>
              <a:cxn ang="0">
                <a:pos x="135" y="34"/>
              </a:cxn>
            </a:cxnLst>
            <a:rect l="0" t="0" r="r" b="b"/>
            <a:pathLst>
              <a:path w="135" h="61">
                <a:moveTo>
                  <a:pt x="135" y="34"/>
                </a:moveTo>
                <a:lnTo>
                  <a:pt x="135" y="61"/>
                </a:lnTo>
                <a:lnTo>
                  <a:pt x="0" y="34"/>
                </a:lnTo>
                <a:lnTo>
                  <a:pt x="135" y="0"/>
                </a:lnTo>
                <a:lnTo>
                  <a:pt x="135" y="34"/>
                </a:lnTo>
                <a:close/>
              </a:path>
            </a:pathLst>
          </a:custGeom>
          <a:solidFill>
            <a:srgbClr val="000000"/>
          </a:solidFill>
          <a:ln w="9525">
            <a:noFill/>
            <a:round/>
          </a:ln>
        </p:spPr>
        <p:txBody>
          <a:bodyPr vert="horz" wrap="square" lIns="91440" tIns="45720" rIns="91440" bIns="45720" numCol="1" anchor="t" anchorCtr="0" compatLnSpc="1"/>
          <a:lstStyle/>
          <a:p>
            <a:endParaRPr lang="zh-CN" altLang="en-US"/>
          </a:p>
        </p:txBody>
      </p:sp>
      <p:sp>
        <p:nvSpPr>
          <p:cNvPr id="232586" name="Freeform 138"/>
          <p:cNvSpPr/>
          <p:nvPr/>
        </p:nvSpPr>
        <p:spPr bwMode="auto">
          <a:xfrm>
            <a:off x="7096125" y="3516313"/>
            <a:ext cx="128588" cy="80963"/>
          </a:xfrm>
          <a:custGeom>
            <a:avLst/>
            <a:gdLst/>
            <a:ahLst/>
            <a:cxnLst>
              <a:cxn ang="0">
                <a:pos x="0" y="55"/>
              </a:cxn>
              <a:cxn ang="0">
                <a:pos x="0" y="21"/>
              </a:cxn>
              <a:cxn ang="0">
                <a:pos x="0" y="0"/>
              </a:cxn>
              <a:cxn ang="0">
                <a:pos x="20" y="7"/>
              </a:cxn>
              <a:cxn ang="0">
                <a:pos x="162" y="41"/>
              </a:cxn>
              <a:cxn ang="0">
                <a:pos x="162" y="67"/>
              </a:cxn>
              <a:cxn ang="0">
                <a:pos x="162" y="67"/>
              </a:cxn>
              <a:cxn ang="0">
                <a:pos x="20" y="96"/>
              </a:cxn>
              <a:cxn ang="0">
                <a:pos x="0" y="101"/>
              </a:cxn>
              <a:cxn ang="0">
                <a:pos x="0" y="82"/>
              </a:cxn>
              <a:cxn ang="0">
                <a:pos x="13" y="67"/>
              </a:cxn>
              <a:cxn ang="0">
                <a:pos x="155" y="41"/>
              </a:cxn>
              <a:cxn ang="0">
                <a:pos x="155" y="41"/>
              </a:cxn>
              <a:cxn ang="0">
                <a:pos x="155" y="67"/>
              </a:cxn>
              <a:cxn ang="0">
                <a:pos x="13" y="34"/>
              </a:cxn>
              <a:cxn ang="0">
                <a:pos x="20" y="7"/>
              </a:cxn>
              <a:cxn ang="0">
                <a:pos x="27" y="21"/>
              </a:cxn>
              <a:cxn ang="0">
                <a:pos x="27" y="55"/>
              </a:cxn>
              <a:cxn ang="0">
                <a:pos x="0" y="55"/>
              </a:cxn>
            </a:cxnLst>
            <a:rect l="0" t="0" r="r" b="b"/>
            <a:pathLst>
              <a:path w="162" h="101">
                <a:moveTo>
                  <a:pt x="0" y="55"/>
                </a:moveTo>
                <a:lnTo>
                  <a:pt x="0" y="21"/>
                </a:lnTo>
                <a:lnTo>
                  <a:pt x="0" y="0"/>
                </a:lnTo>
                <a:lnTo>
                  <a:pt x="20" y="7"/>
                </a:lnTo>
                <a:lnTo>
                  <a:pt x="162" y="41"/>
                </a:lnTo>
                <a:lnTo>
                  <a:pt x="162" y="67"/>
                </a:lnTo>
                <a:lnTo>
                  <a:pt x="162" y="67"/>
                </a:lnTo>
                <a:lnTo>
                  <a:pt x="20" y="96"/>
                </a:lnTo>
                <a:lnTo>
                  <a:pt x="0" y="101"/>
                </a:lnTo>
                <a:lnTo>
                  <a:pt x="0" y="82"/>
                </a:lnTo>
                <a:lnTo>
                  <a:pt x="13" y="67"/>
                </a:lnTo>
                <a:lnTo>
                  <a:pt x="155" y="41"/>
                </a:lnTo>
                <a:lnTo>
                  <a:pt x="155" y="41"/>
                </a:lnTo>
                <a:lnTo>
                  <a:pt x="155" y="67"/>
                </a:lnTo>
                <a:lnTo>
                  <a:pt x="13" y="34"/>
                </a:lnTo>
                <a:lnTo>
                  <a:pt x="20" y="7"/>
                </a:lnTo>
                <a:lnTo>
                  <a:pt x="27" y="21"/>
                </a:lnTo>
                <a:lnTo>
                  <a:pt x="27" y="55"/>
                </a:lnTo>
                <a:lnTo>
                  <a:pt x="0" y="55"/>
                </a:lnTo>
                <a:close/>
              </a:path>
            </a:pathLst>
          </a:custGeom>
          <a:solidFill>
            <a:srgbClr val="000000"/>
          </a:solidFill>
          <a:ln w="9525">
            <a:noFill/>
            <a:round/>
          </a:ln>
        </p:spPr>
        <p:txBody>
          <a:bodyPr vert="horz" wrap="square" lIns="91440" tIns="45720" rIns="91440" bIns="45720" numCol="1" anchor="t" anchorCtr="0" compatLnSpc="1"/>
          <a:lstStyle/>
          <a:p>
            <a:endParaRPr lang="zh-CN" altLang="en-US"/>
          </a:p>
        </p:txBody>
      </p:sp>
      <p:sp>
        <p:nvSpPr>
          <p:cNvPr id="232587" name="Freeform 139"/>
          <p:cNvSpPr/>
          <p:nvPr/>
        </p:nvSpPr>
        <p:spPr bwMode="auto">
          <a:xfrm>
            <a:off x="7096125" y="3560763"/>
            <a:ext cx="20638" cy="20638"/>
          </a:xfrm>
          <a:custGeom>
            <a:avLst/>
            <a:gdLst/>
            <a:ahLst/>
            <a:cxnLst>
              <a:cxn ang="0">
                <a:pos x="0" y="27"/>
              </a:cxn>
              <a:cxn ang="0">
                <a:pos x="0" y="0"/>
              </a:cxn>
              <a:cxn ang="0">
                <a:pos x="27" y="0"/>
              </a:cxn>
              <a:cxn ang="0">
                <a:pos x="27" y="0"/>
              </a:cxn>
              <a:cxn ang="0">
                <a:pos x="27" y="0"/>
              </a:cxn>
              <a:cxn ang="0">
                <a:pos x="27" y="27"/>
              </a:cxn>
              <a:cxn ang="0">
                <a:pos x="0" y="27"/>
              </a:cxn>
            </a:cxnLst>
            <a:rect l="0" t="0" r="r" b="b"/>
            <a:pathLst>
              <a:path w="27" h="27">
                <a:moveTo>
                  <a:pt x="0" y="27"/>
                </a:moveTo>
                <a:lnTo>
                  <a:pt x="0" y="0"/>
                </a:lnTo>
                <a:lnTo>
                  <a:pt x="27" y="0"/>
                </a:lnTo>
                <a:lnTo>
                  <a:pt x="27" y="0"/>
                </a:lnTo>
                <a:lnTo>
                  <a:pt x="27" y="0"/>
                </a:lnTo>
                <a:lnTo>
                  <a:pt x="27" y="27"/>
                </a:lnTo>
                <a:lnTo>
                  <a:pt x="0" y="27"/>
                </a:lnTo>
                <a:close/>
              </a:path>
            </a:pathLst>
          </a:custGeom>
          <a:solidFill>
            <a:srgbClr val="000000"/>
          </a:solidFill>
          <a:ln w="9525">
            <a:noFill/>
            <a:round/>
          </a:ln>
        </p:spPr>
        <p:txBody>
          <a:bodyPr vert="horz" wrap="square" lIns="91440" tIns="45720" rIns="91440" bIns="45720" numCol="1" anchor="t" anchorCtr="0" compatLnSpc="1"/>
          <a:lstStyle/>
          <a:p>
            <a:endParaRPr lang="zh-CN" altLang="en-US"/>
          </a:p>
        </p:txBody>
      </p:sp>
      <p:sp>
        <p:nvSpPr>
          <p:cNvPr id="232588" name="Freeform 140"/>
          <p:cNvSpPr/>
          <p:nvPr/>
        </p:nvSpPr>
        <p:spPr bwMode="auto">
          <a:xfrm>
            <a:off x="7105650" y="3533775"/>
            <a:ext cx="112713" cy="47625"/>
          </a:xfrm>
          <a:custGeom>
            <a:avLst/>
            <a:gdLst/>
            <a:ahLst/>
            <a:cxnLst>
              <a:cxn ang="0">
                <a:pos x="0" y="34"/>
              </a:cxn>
              <a:cxn ang="0">
                <a:pos x="0" y="0"/>
              </a:cxn>
              <a:cxn ang="0">
                <a:pos x="142" y="34"/>
              </a:cxn>
              <a:cxn ang="0">
                <a:pos x="0" y="61"/>
              </a:cxn>
              <a:cxn ang="0">
                <a:pos x="0" y="34"/>
              </a:cxn>
            </a:cxnLst>
            <a:rect l="0" t="0" r="r" b="b"/>
            <a:pathLst>
              <a:path w="142" h="61">
                <a:moveTo>
                  <a:pt x="0" y="34"/>
                </a:moveTo>
                <a:lnTo>
                  <a:pt x="0" y="0"/>
                </a:lnTo>
                <a:lnTo>
                  <a:pt x="142" y="34"/>
                </a:lnTo>
                <a:lnTo>
                  <a:pt x="0" y="61"/>
                </a:lnTo>
                <a:lnTo>
                  <a:pt x="0" y="34"/>
                </a:lnTo>
                <a:close/>
              </a:path>
            </a:pathLst>
          </a:custGeom>
          <a:solidFill>
            <a:srgbClr val="000000"/>
          </a:solidFill>
          <a:ln w="9525">
            <a:noFill/>
            <a:round/>
          </a:ln>
        </p:spPr>
        <p:txBody>
          <a:bodyPr vert="horz" wrap="square" lIns="91440" tIns="45720" rIns="91440" bIns="45720" numCol="1" anchor="t" anchorCtr="0" compatLnSpc="1"/>
          <a:lstStyle/>
          <a:p>
            <a:endParaRPr lang="zh-CN" altLang="en-US"/>
          </a:p>
        </p:txBody>
      </p:sp>
      <p:sp>
        <p:nvSpPr>
          <p:cNvPr id="232589" name="Rectangle 141"/>
          <p:cNvSpPr>
            <a:spLocks noChangeArrowheads="1"/>
          </p:cNvSpPr>
          <p:nvPr/>
        </p:nvSpPr>
        <p:spPr bwMode="auto">
          <a:xfrm>
            <a:off x="6230938" y="3554413"/>
            <a:ext cx="6350" cy="15875"/>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90" name="Rectangle 142"/>
          <p:cNvSpPr>
            <a:spLocks noChangeArrowheads="1"/>
          </p:cNvSpPr>
          <p:nvPr/>
        </p:nvSpPr>
        <p:spPr bwMode="auto">
          <a:xfrm>
            <a:off x="7096125" y="3554413"/>
            <a:ext cx="3175" cy="15875"/>
          </a:xfrm>
          <a:prstGeom prst="rect">
            <a:avLst/>
          </a:prstGeom>
          <a:solidFill>
            <a:srgbClr val="000000"/>
          </a:solidFill>
          <a:ln w="9525">
            <a:noFill/>
            <a:miter lim="800000"/>
          </a:ln>
        </p:spPr>
        <p:txBody>
          <a:bodyPr vert="horz" wrap="square" lIns="91440" tIns="45720" rIns="91440" bIns="45720" numCol="1" anchor="t" anchorCtr="0" compatLnSpc="1"/>
          <a:lstStyle/>
          <a:p>
            <a:endParaRPr lang="zh-CN" altLang="en-US"/>
          </a:p>
        </p:txBody>
      </p:sp>
      <p:sp>
        <p:nvSpPr>
          <p:cNvPr id="232591" name="Rectangle 143"/>
          <p:cNvSpPr>
            <a:spLocks noChangeArrowheads="1"/>
          </p:cNvSpPr>
          <p:nvPr/>
        </p:nvSpPr>
        <p:spPr bwMode="auto">
          <a:xfrm>
            <a:off x="6237288" y="3554413"/>
            <a:ext cx="858838" cy="15875"/>
          </a:xfrm>
          <a:prstGeom prst="rect">
            <a:avLst/>
          </a:prstGeom>
          <a:solidFill>
            <a:srgbClr val="FF0000"/>
          </a:solidFill>
          <a:ln w="9525">
            <a:noFill/>
            <a:miter lim="800000"/>
          </a:ln>
        </p:spPr>
        <p:txBody>
          <a:bodyPr vert="horz" wrap="square" lIns="91440" tIns="45720" rIns="91440" bIns="45720" numCol="1" anchor="t" anchorCtr="0" compatLnSpc="1"/>
          <a:lstStyle/>
          <a:p>
            <a:endParaRPr lang="zh-CN" altLang="en-US"/>
          </a:p>
        </p:txBody>
      </p:sp>
      <p:sp>
        <p:nvSpPr>
          <p:cNvPr id="232592" name="Rectangle 144"/>
          <p:cNvSpPr>
            <a:spLocks noChangeArrowheads="1"/>
          </p:cNvSpPr>
          <p:nvPr/>
        </p:nvSpPr>
        <p:spPr bwMode="auto">
          <a:xfrm>
            <a:off x="7288213" y="5975350"/>
            <a:ext cx="152400" cy="228600"/>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300" b="0" i="1" u="none" strike="noStrike" cap="none" normalizeH="0" baseline="0">
                <a:ln>
                  <a:noFill/>
                </a:ln>
                <a:solidFill>
                  <a:srgbClr val="000000"/>
                </a:solidFill>
                <a:effectLst/>
                <a:latin typeface="Times-Roman" charset="0"/>
                <a:ea typeface="宋体" panose="02010600030101010101" pitchFamily="2" charset="-122"/>
                <a:cs typeface="宋体" panose="02010600030101010101" pitchFamily="2" charset="-122"/>
              </a:rPr>
              <a:t>f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50" name="Rectangle 37"/>
          <p:cNvSpPr>
            <a:spLocks noChangeArrowheads="1"/>
          </p:cNvSpPr>
          <p:nvPr/>
        </p:nvSpPr>
        <p:spPr bwMode="auto">
          <a:xfrm>
            <a:off x="6398427" y="3146981"/>
            <a:ext cx="513548" cy="369332"/>
          </a:xfrm>
          <a:prstGeom prst="rect">
            <a:avLst/>
          </a:prstGeom>
          <a:noFill/>
          <a:ln w="9525">
            <a:noFill/>
            <a:miter lim="800000"/>
          </a:ln>
        </p:spPr>
        <p:txBody>
          <a:bodyPr vert="horz" wrap="squar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lang="en-US" altLang="zh-CN" sz="2400" dirty="0" err="1">
                <a:solidFill>
                  <a:srgbClr val="000000"/>
                </a:solidFill>
                <a:latin typeface="Times-Roman" charset="0"/>
                <a:cs typeface="宋体" panose="02010600030101010101" pitchFamily="2" charset="-122"/>
              </a:rPr>
              <a:t>t</a:t>
            </a:r>
            <a:r>
              <a:rPr lang="en-US" altLang="zh-CN" sz="2400" baseline="-25000" dirty="0" err="1">
                <a:solidFill>
                  <a:srgbClr val="000000"/>
                </a:solidFill>
                <a:latin typeface="Times-Roman" charset="0"/>
                <a:cs typeface="宋体" panose="02010600030101010101" pitchFamily="2" charset="-122"/>
              </a:rPr>
              <a:t>pHL</a:t>
            </a:r>
            <a:r>
              <a:rPr kumimoji="0" lang="zh-CN" altLang="zh-CN" sz="2400" b="0" i="0" u="none" strike="noStrike" cap="none" normalizeH="0" baseline="0" dirty="0">
                <a:ln>
                  <a:noFill/>
                </a:ln>
                <a:solidFill>
                  <a:srgbClr val="000000"/>
                </a:solidFill>
                <a:effectLst/>
                <a:latin typeface="Times-Roman" charset="0"/>
                <a:ea typeface="宋体" panose="02010600030101010101" pitchFamily="2" charset="-122"/>
                <a:cs typeface="宋体" panose="02010600030101010101" pitchFamily="2" charset="-122"/>
              </a:rPr>
              <a:t> </a:t>
            </a:r>
            <a:endParaRPr kumimoji="0" lang="zh-CN" altLang="zh-CN" sz="2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800100" y="190500"/>
            <a:ext cx="6073775" cy="479747"/>
          </a:xfrm>
        </p:spPr>
        <p:txBody>
          <a:bodyPr/>
          <a:lstStyle/>
          <a:p>
            <a:r>
              <a:rPr lang="en-US" altLang="zh-CN" dirty="0"/>
              <a:t>1.4 CMOS</a:t>
            </a:r>
            <a:r>
              <a:rPr lang="zh-CN" altLang="en-US" dirty="0"/>
              <a:t>电路电气特性</a:t>
            </a:r>
            <a:endParaRPr lang="zh-CN" altLang="en-US" dirty="0"/>
          </a:p>
        </p:txBody>
      </p:sp>
      <p:sp>
        <p:nvSpPr>
          <p:cNvPr id="20483" name="Rectangle 3"/>
          <p:cNvSpPr>
            <a:spLocks noGrp="1" noChangeArrowheads="1"/>
          </p:cNvSpPr>
          <p:nvPr>
            <p:ph idx="1"/>
          </p:nvPr>
        </p:nvSpPr>
        <p:spPr>
          <a:xfrm>
            <a:off x="457200" y="1072916"/>
            <a:ext cx="8686800" cy="3721340"/>
          </a:xfrm>
        </p:spPr>
        <p:txBody>
          <a:bodyPr/>
          <a:lstStyle/>
          <a:p>
            <a:pPr>
              <a:spcBef>
                <a:spcPts val="600"/>
              </a:spcBef>
            </a:pPr>
            <a:r>
              <a:rPr lang="zh-CN" altLang="en-US" sz="2200" dirty="0"/>
              <a:t>数字电路在输出信号保持不变时的功率损耗称为</a:t>
            </a:r>
            <a:r>
              <a:rPr lang="zh-CN" altLang="en-US" sz="2200" b="1" dirty="0">
                <a:solidFill>
                  <a:srgbClr val="FF0000"/>
                </a:solidFill>
              </a:rPr>
              <a:t>静态功耗</a:t>
            </a:r>
            <a:r>
              <a:rPr lang="zh-CN" altLang="en-US" sz="2200" dirty="0"/>
              <a:t>，通常</a:t>
            </a:r>
            <a:r>
              <a:rPr lang="en-US" altLang="zh-CN" sz="2200" dirty="0"/>
              <a:t>CMOS</a:t>
            </a:r>
            <a:r>
              <a:rPr lang="zh-CN" altLang="en-US" sz="2200" dirty="0"/>
              <a:t>电路的静态功耗很低</a:t>
            </a:r>
            <a:r>
              <a:rPr lang="zh-CN" altLang="en-US" sz="2200" dirty="0">
                <a:sym typeface="Wingdings" panose="05000000000000000000" pitchFamily="2" charset="2"/>
              </a:rPr>
              <a:t>，常忽略。</a:t>
            </a:r>
            <a:endParaRPr lang="zh-CN" altLang="en-US" sz="2200" dirty="0"/>
          </a:p>
          <a:p>
            <a:pPr>
              <a:spcBef>
                <a:spcPts val="600"/>
              </a:spcBef>
            </a:pPr>
            <a:r>
              <a:rPr lang="zh-CN" altLang="zh-CN" sz="2200" dirty="0"/>
              <a:t>在输出信号高低状态转换时的功率损耗称为</a:t>
            </a:r>
            <a:r>
              <a:rPr lang="zh-CN" altLang="zh-CN" sz="2200" b="1" dirty="0">
                <a:solidFill>
                  <a:srgbClr val="FF0000"/>
                </a:solidFill>
              </a:rPr>
              <a:t>动态功耗</a:t>
            </a:r>
            <a:r>
              <a:rPr lang="zh-CN" altLang="zh-CN" sz="2200" dirty="0"/>
              <a:t>。主要来源</a:t>
            </a:r>
            <a:r>
              <a:rPr lang="zh-CN" altLang="en-US" sz="2200" dirty="0"/>
              <a:t>：</a:t>
            </a:r>
            <a:endParaRPr lang="en-US" altLang="zh-CN" sz="2200" dirty="0"/>
          </a:p>
          <a:p>
            <a:pPr lvl="1">
              <a:spcBef>
                <a:spcPts val="600"/>
              </a:spcBef>
            </a:pPr>
            <a:r>
              <a:rPr lang="zh-CN" altLang="zh-CN" dirty="0"/>
              <a:t>输出端上的电容性负载</a:t>
            </a:r>
            <a:r>
              <a:rPr lang="en-US" altLang="zh-CN" dirty="0"/>
              <a:t>C</a:t>
            </a:r>
            <a:r>
              <a:rPr lang="en-US" altLang="zh-CN" baseline="-25000" dirty="0"/>
              <a:t>L</a:t>
            </a:r>
            <a:endParaRPr lang="en-US" altLang="zh-CN" dirty="0"/>
          </a:p>
          <a:p>
            <a:pPr lvl="1">
              <a:spcBef>
                <a:spcPts val="600"/>
              </a:spcBef>
            </a:pPr>
            <a:r>
              <a:rPr lang="en-US" altLang="zh-CN" dirty="0"/>
              <a:t>CMOS</a:t>
            </a:r>
            <a:r>
              <a:rPr lang="zh-CN" altLang="zh-CN" dirty="0"/>
              <a:t>电路内部</a:t>
            </a:r>
            <a:r>
              <a:rPr lang="zh-CN" altLang="en-US" dirty="0"/>
              <a:t>的</a:t>
            </a:r>
            <a:r>
              <a:rPr lang="zh-CN" altLang="zh-CN" dirty="0"/>
              <a:t>功耗电容</a:t>
            </a:r>
            <a:r>
              <a:rPr lang="en-US" altLang="zh-CN" dirty="0"/>
              <a:t>C</a:t>
            </a:r>
            <a:r>
              <a:rPr lang="en-US" altLang="zh-CN" baseline="-25000" dirty="0"/>
              <a:t>PD</a:t>
            </a:r>
            <a:endParaRPr lang="en-US" altLang="zh-CN" dirty="0"/>
          </a:p>
          <a:p>
            <a:pPr>
              <a:spcBef>
                <a:spcPts val="600"/>
              </a:spcBef>
            </a:pPr>
            <a:r>
              <a:rPr lang="zh-CN" altLang="en-US" sz="2200" dirty="0"/>
              <a:t>动态功耗：</a:t>
            </a:r>
            <a:r>
              <a:rPr lang="en-US" altLang="zh-CN" sz="2200" dirty="0"/>
              <a:t>P</a:t>
            </a:r>
            <a:r>
              <a:rPr lang="en-US" altLang="zh-CN" sz="2200" baseline="-25000" dirty="0"/>
              <a:t>D</a:t>
            </a:r>
            <a:r>
              <a:rPr lang="en-US" altLang="zh-CN" sz="2200" dirty="0"/>
              <a:t>=(C</a:t>
            </a:r>
            <a:r>
              <a:rPr lang="en-US" altLang="zh-CN" sz="2200" baseline="-25000" dirty="0"/>
              <a:t>L </a:t>
            </a:r>
            <a:r>
              <a:rPr lang="en-US" altLang="zh-CN" sz="2200" dirty="0"/>
              <a:t>+C</a:t>
            </a:r>
            <a:r>
              <a:rPr lang="en-US" altLang="zh-CN" sz="2200" baseline="-25000" dirty="0"/>
              <a:t>PD</a:t>
            </a:r>
            <a:r>
              <a:rPr lang="en-US" altLang="zh-CN" sz="2200" dirty="0"/>
              <a:t>)</a:t>
            </a:r>
            <a:r>
              <a:rPr lang="en-US" altLang="zh-CN" sz="2200" dirty="0">
                <a:cs typeface="Arial" panose="020B0604020202020204" pitchFamily="34" charset="0"/>
              </a:rPr>
              <a:t>×V</a:t>
            </a:r>
            <a:r>
              <a:rPr lang="en-US" altLang="zh-CN" sz="2200" baseline="-25000" dirty="0">
                <a:cs typeface="Arial" panose="020B0604020202020204" pitchFamily="34" charset="0"/>
              </a:rPr>
              <a:t>CC</a:t>
            </a:r>
            <a:r>
              <a:rPr lang="en-US" altLang="zh-CN" sz="2200" baseline="30000" dirty="0">
                <a:cs typeface="Arial" panose="020B0604020202020204" pitchFamily="34" charset="0"/>
              </a:rPr>
              <a:t>2</a:t>
            </a:r>
            <a:r>
              <a:rPr lang="en-US" altLang="zh-CN" sz="2200" dirty="0">
                <a:cs typeface="Arial" panose="020B0604020202020204" pitchFamily="34" charset="0"/>
              </a:rPr>
              <a:t>×f</a:t>
            </a:r>
            <a:r>
              <a:rPr lang="zh-CN" altLang="en-US" sz="2200" dirty="0">
                <a:cs typeface="Arial" panose="020B0604020202020204" pitchFamily="34" charset="0"/>
              </a:rPr>
              <a:t>，</a:t>
            </a:r>
            <a:r>
              <a:rPr lang="en-US" altLang="zh-CN" sz="2200" dirty="0">
                <a:cs typeface="Arial" panose="020B0604020202020204" pitchFamily="34" charset="0"/>
              </a:rPr>
              <a:t>f</a:t>
            </a:r>
            <a:r>
              <a:rPr lang="zh-CN" altLang="en-US" sz="2200" dirty="0"/>
              <a:t> 为输出信号转换的频率</a:t>
            </a:r>
            <a:endParaRPr lang="en-US" altLang="zh-CN" sz="2200" dirty="0"/>
          </a:p>
          <a:p>
            <a:pPr>
              <a:spcBef>
                <a:spcPts val="600"/>
              </a:spcBef>
            </a:pPr>
            <a:r>
              <a:rPr lang="zh-CN" altLang="en-US" sz="2200" dirty="0"/>
              <a:t>在</a:t>
            </a:r>
            <a:r>
              <a:rPr lang="en-US" altLang="zh-CN" sz="2200" dirty="0"/>
              <a:t>CMOS</a:t>
            </a:r>
            <a:r>
              <a:rPr lang="zh-CN" altLang="en-US" sz="2200" dirty="0"/>
              <a:t>电路的应用中， </a:t>
            </a:r>
            <a:r>
              <a:rPr lang="en-US" altLang="zh-CN" sz="2200" dirty="0"/>
              <a:t>CV</a:t>
            </a:r>
            <a:r>
              <a:rPr lang="en-US" altLang="zh-CN" sz="2200" baseline="30000" dirty="0"/>
              <a:t>2</a:t>
            </a:r>
            <a:r>
              <a:rPr lang="en-US" altLang="zh-CN" sz="2200" dirty="0"/>
              <a:t>f</a:t>
            </a:r>
            <a:r>
              <a:rPr lang="zh-CN" altLang="en-US" sz="2200" dirty="0"/>
              <a:t>功率是总功率的主要成分</a:t>
            </a:r>
            <a:endParaRPr lang="zh-CN" altLang="en-US" sz="2200" dirty="0"/>
          </a:p>
          <a:p>
            <a:endParaRPr lang="en-US" altLang="zh-CN" sz="2400" dirty="0">
              <a:latin typeface="Times New Roman" panose="02020603050405020304" pitchFamily="18" charset="0"/>
            </a:endParaRPr>
          </a:p>
        </p:txBody>
      </p:sp>
      <p:sp>
        <p:nvSpPr>
          <p:cNvPr id="5" name="灯片编号占位符 4"/>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标题 3"/>
          <p:cNvSpPr>
            <a:spLocks noGrp="1"/>
          </p:cNvSpPr>
          <p:nvPr>
            <p:ph type="ctrTitle"/>
          </p:nvPr>
        </p:nvSpPr>
        <p:spPr>
          <a:xfrm>
            <a:off x="391439" y="1717066"/>
            <a:ext cx="7772400" cy="533288"/>
          </a:xfrm>
        </p:spPr>
        <p:txBody>
          <a:bodyPr/>
          <a:lstStyle/>
          <a:p>
            <a:r>
              <a:rPr lang="zh-CN" altLang="en-US" sz="3600" dirty="0"/>
              <a:t>第二讲</a:t>
            </a:r>
            <a:r>
              <a:rPr lang="en-US" altLang="zh-CN" sz="3600" dirty="0"/>
              <a:t> </a:t>
            </a:r>
            <a:r>
              <a:rPr lang="zh-CN" altLang="en-US" sz="3600" dirty="0"/>
              <a:t>布尔代数</a:t>
            </a:r>
            <a:endParaRPr lang="zh-CN" altLang="en-US" sz="3600" dirty="0"/>
          </a:p>
        </p:txBody>
      </p:sp>
      <p:sp useBgFill="1">
        <p:nvSpPr>
          <p:cNvPr id="6" name="Rectangle 3"/>
          <p:cNvSpPr txBox="1">
            <a:spLocks noChangeArrowheads="1"/>
          </p:cNvSpPr>
          <p:nvPr/>
        </p:nvSpPr>
        <p:spPr bwMode="auto">
          <a:xfrm>
            <a:off x="3187569" y="3038041"/>
            <a:ext cx="3206967" cy="2054922"/>
          </a:xfrm>
          <a:prstGeom prst="rect">
            <a:avLst/>
          </a:prstGeom>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63500" tIns="25400" rIns="63500" bIns="25400" numCol="1" anchor="t" anchorCtr="0" compatLnSpc="1">
            <a:spAutoFit/>
          </a:bodyPr>
          <a:lstStyle>
            <a:lvl1pPr marL="0" indent="0" algn="ctr" rtl="0" eaLnBrk="1" fontAlgn="base" hangingPunct="1">
              <a:lnSpc>
                <a:spcPct val="120000"/>
              </a:lnSpc>
              <a:spcBef>
                <a:spcPct val="10000"/>
              </a:spcBef>
              <a:spcAft>
                <a:spcPct val="0"/>
              </a:spcAft>
              <a:buClr>
                <a:schemeClr val="tx1"/>
              </a:buClr>
              <a:buSzPct val="60000"/>
              <a:buFont typeface="Wingdings" panose="05000000000000000000" pitchFamily="2" charset="2"/>
              <a:buNone/>
              <a:defRPr sz="3200" b="1">
                <a:solidFill>
                  <a:schemeClr val="tx1"/>
                </a:solidFill>
                <a:latin typeface="微软雅黑 Light" panose="020B0502040204020203" pitchFamily="34" charset="-122"/>
                <a:ea typeface="微软雅黑 Light" panose="020B0502040204020203" pitchFamily="34" charset="-122"/>
                <a:cs typeface="+mn-cs"/>
              </a:defRPr>
            </a:lvl1pPr>
            <a:lvl2pPr marL="457200" indent="0" algn="ctr" rtl="0" eaLnBrk="1" fontAlgn="base" hangingPunct="1">
              <a:lnSpc>
                <a:spcPct val="120000"/>
              </a:lnSpc>
              <a:spcBef>
                <a:spcPct val="10000"/>
              </a:spcBef>
              <a:spcAft>
                <a:spcPct val="0"/>
              </a:spcAft>
              <a:buSzPct val="100000"/>
              <a:buNone/>
              <a:defRPr sz="2000" b="1">
                <a:solidFill>
                  <a:srgbClr val="0000FF"/>
                </a:solidFill>
                <a:latin typeface="+mn-lt"/>
                <a:ea typeface="+mn-ea"/>
              </a:defRPr>
            </a:lvl2pPr>
            <a:lvl3pPr marL="914400" indent="0" algn="ctr" rtl="0" eaLnBrk="1" fontAlgn="base" hangingPunct="1">
              <a:lnSpc>
                <a:spcPct val="120000"/>
              </a:lnSpc>
              <a:spcBef>
                <a:spcPct val="10000"/>
              </a:spcBef>
              <a:spcAft>
                <a:spcPct val="0"/>
              </a:spcAft>
              <a:buSzPct val="100000"/>
              <a:buNone/>
              <a:defRPr b="1">
                <a:solidFill>
                  <a:schemeClr val="tx1"/>
                </a:solidFill>
                <a:latin typeface="+mn-lt"/>
                <a:ea typeface="+mn-ea"/>
              </a:defRPr>
            </a:lvl3pPr>
            <a:lvl4pPr marL="1371600" indent="0" algn="ctr" rtl="0" eaLnBrk="1" fontAlgn="base" hangingPunct="1">
              <a:spcBef>
                <a:spcPct val="20000"/>
              </a:spcBef>
              <a:spcAft>
                <a:spcPct val="0"/>
              </a:spcAft>
              <a:buNone/>
              <a:defRPr sz="2000">
                <a:solidFill>
                  <a:schemeClr val="tx1"/>
                </a:solidFill>
                <a:latin typeface="Times New Roman" panose="02020603050405020304" pitchFamily="18" charset="0"/>
                <a:ea typeface="+mn-ea"/>
              </a:defRPr>
            </a:lvl4pPr>
            <a:lvl5pPr marL="1828800" indent="0" algn="ctr" rtl="0" eaLnBrk="1" fontAlgn="base" hangingPunct="1">
              <a:spcBef>
                <a:spcPct val="20000"/>
              </a:spcBef>
              <a:spcAft>
                <a:spcPct val="0"/>
              </a:spcAft>
              <a:buNone/>
              <a:defRPr sz="2000">
                <a:solidFill>
                  <a:schemeClr val="tx1"/>
                </a:solidFill>
                <a:latin typeface="Times New Roman" panose="02020603050405020304" pitchFamily="18" charset="0"/>
                <a:ea typeface="+mn-ea"/>
              </a:defRPr>
            </a:lvl5pPr>
            <a:lvl6pPr marL="2286000" indent="0" algn="ctr" rtl="0" eaLnBrk="1" fontAlgn="base" hangingPunct="1">
              <a:spcBef>
                <a:spcPct val="20000"/>
              </a:spcBef>
              <a:spcAft>
                <a:spcPct val="0"/>
              </a:spcAft>
              <a:buNone/>
              <a:defRPr sz="2000">
                <a:solidFill>
                  <a:schemeClr val="tx1"/>
                </a:solidFill>
                <a:latin typeface="Times New Roman" panose="02020603050405020304" pitchFamily="18" charset="0"/>
                <a:ea typeface="+mn-ea"/>
              </a:defRPr>
            </a:lvl6pPr>
            <a:lvl7pPr marL="2743200" indent="0" algn="ctr" rtl="0" eaLnBrk="1" fontAlgn="base" hangingPunct="1">
              <a:spcBef>
                <a:spcPct val="20000"/>
              </a:spcBef>
              <a:spcAft>
                <a:spcPct val="0"/>
              </a:spcAft>
              <a:buNone/>
              <a:defRPr sz="2000">
                <a:solidFill>
                  <a:schemeClr val="tx1"/>
                </a:solidFill>
                <a:latin typeface="Times New Roman" panose="02020603050405020304" pitchFamily="18" charset="0"/>
                <a:ea typeface="+mn-ea"/>
              </a:defRPr>
            </a:lvl7pPr>
            <a:lvl8pPr marL="3200400" indent="0" algn="ctr" rtl="0" eaLnBrk="1" fontAlgn="base" hangingPunct="1">
              <a:spcBef>
                <a:spcPct val="20000"/>
              </a:spcBef>
              <a:spcAft>
                <a:spcPct val="0"/>
              </a:spcAft>
              <a:buNone/>
              <a:defRPr sz="2000">
                <a:solidFill>
                  <a:schemeClr val="tx1"/>
                </a:solidFill>
                <a:latin typeface="Times New Roman" panose="02020603050405020304" pitchFamily="18" charset="0"/>
                <a:ea typeface="+mn-ea"/>
              </a:defRPr>
            </a:lvl8pPr>
            <a:lvl9pPr marL="3657600" indent="0" algn="ctr" rtl="0" eaLnBrk="1" fontAlgn="base" hangingPunct="1">
              <a:spcBef>
                <a:spcPct val="20000"/>
              </a:spcBef>
              <a:spcAft>
                <a:spcPct val="0"/>
              </a:spcAft>
              <a:buNone/>
              <a:defRPr sz="2000">
                <a:solidFill>
                  <a:schemeClr val="tx1"/>
                </a:solidFill>
                <a:latin typeface="Times New Roman" panose="02020603050405020304" pitchFamily="18" charset="0"/>
                <a:ea typeface="+mn-ea"/>
              </a:defRPr>
            </a:lvl9pPr>
          </a:lstStyle>
          <a:p>
            <a:pPr marL="203200" indent="-203200" algn="l" eaLnBrk="0" hangingPunct="0">
              <a:spcBef>
                <a:spcPts val="600"/>
              </a:spcBef>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rPr>
              <a:t>公理系统</a:t>
            </a:r>
            <a:endParaRPr lang="en-US" altLang="zh-CN" sz="2400" dirty="0">
              <a:latin typeface="微软雅黑" panose="020B0503020204020204" pitchFamily="34" charset="-122"/>
              <a:ea typeface="微软雅黑" panose="020B0503020204020204" pitchFamily="34" charset="-122"/>
            </a:endParaRPr>
          </a:p>
          <a:p>
            <a:pPr marL="203200" indent="-203200" algn="l" eaLnBrk="0" hangingPunct="0">
              <a:spcBef>
                <a:spcPts val="600"/>
              </a:spcBef>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rPr>
              <a:t>定理</a:t>
            </a:r>
            <a:endParaRPr lang="en-US" altLang="zh-CN" sz="2400" dirty="0">
              <a:latin typeface="微软雅黑" panose="020B0503020204020204" pitchFamily="34" charset="-122"/>
              <a:ea typeface="微软雅黑" panose="020B0503020204020204" pitchFamily="34" charset="-122"/>
            </a:endParaRPr>
          </a:p>
          <a:p>
            <a:pPr marL="203200" indent="-203200" algn="l" eaLnBrk="0" hangingPunct="0">
              <a:spcBef>
                <a:spcPts val="600"/>
              </a:spcBef>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rPr>
              <a:t>对偶定律</a:t>
            </a:r>
            <a:endParaRPr lang="en-US" altLang="zh-CN" sz="2400" dirty="0">
              <a:latin typeface="微软雅黑" panose="020B0503020204020204" pitchFamily="34" charset="-122"/>
              <a:ea typeface="微软雅黑" panose="020B0503020204020204" pitchFamily="34" charset="-122"/>
            </a:endParaRPr>
          </a:p>
          <a:p>
            <a:pPr marL="203200" indent="-203200" algn="l" eaLnBrk="0" hangingPunct="0">
              <a:spcBef>
                <a:spcPts val="600"/>
              </a:spcBef>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rPr>
              <a:t>反演定律</a:t>
            </a:r>
            <a:endParaRPr lang="en-US" altLang="zh-CN" sz="2400" dirty="0">
              <a:latin typeface="微软雅黑" panose="020B0503020204020204" pitchFamily="34" charset="-122"/>
              <a:ea typeface="微软雅黑" panose="020B0503020204020204" pitchFamily="34" charset="-122"/>
            </a:endParaRPr>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ltLang="zh-CN" dirty="0"/>
              <a:t>2 </a:t>
            </a:r>
            <a:r>
              <a:rPr lang="zh-CN" altLang="en-US" dirty="0"/>
              <a:t>布尔代数</a:t>
            </a:r>
            <a:endParaRPr lang="zh-CN" altLang="en-US" dirty="0"/>
          </a:p>
        </p:txBody>
      </p:sp>
      <p:sp>
        <p:nvSpPr>
          <p:cNvPr id="21507" name="Rectangle 3"/>
          <p:cNvSpPr>
            <a:spLocks noGrp="1" noChangeArrowheads="1"/>
          </p:cNvSpPr>
          <p:nvPr>
            <p:ph idx="1"/>
          </p:nvPr>
        </p:nvSpPr>
        <p:spPr>
          <a:xfrm>
            <a:off x="284773" y="1021976"/>
            <a:ext cx="8523654" cy="3904082"/>
          </a:xfrm>
        </p:spPr>
        <p:txBody>
          <a:bodyPr/>
          <a:lstStyle/>
          <a:p>
            <a:pPr>
              <a:spcBef>
                <a:spcPts val="600"/>
              </a:spcBef>
            </a:pPr>
            <a:r>
              <a:rPr lang="zh-CN" altLang="en-US" sz="2200" dirty="0"/>
              <a:t>乔治</a:t>
            </a:r>
            <a:r>
              <a:rPr lang="en-US" altLang="zh-CN" sz="2200" dirty="0"/>
              <a:t>•</a:t>
            </a:r>
            <a:r>
              <a:rPr lang="zh-CN" altLang="en-US" sz="2200" dirty="0"/>
              <a:t>布尔</a:t>
            </a:r>
            <a:r>
              <a:rPr lang="en-US" altLang="zh-CN" sz="2200" dirty="0"/>
              <a:t>George Boole</a:t>
            </a:r>
            <a:r>
              <a:rPr lang="zh-CN" altLang="en-US" sz="2200" dirty="0"/>
              <a:t>（</a:t>
            </a:r>
            <a:r>
              <a:rPr lang="en-US" altLang="zh-CN" sz="2200" dirty="0"/>
              <a:t>1815–1864</a:t>
            </a:r>
            <a:r>
              <a:rPr lang="zh-CN" altLang="en-US" sz="2200" dirty="0"/>
              <a:t>），英国数学家，</a:t>
            </a:r>
            <a:r>
              <a:rPr lang="en-US" altLang="zh-CN" sz="2200" dirty="0"/>
              <a:t>1854</a:t>
            </a:r>
            <a:r>
              <a:rPr lang="zh-CN" altLang="en-US" sz="2200" dirty="0"/>
              <a:t>年发明了一种二值代数系统，称为</a:t>
            </a:r>
            <a:r>
              <a:rPr lang="zh-CN" altLang="en-US" sz="2200" dirty="0">
                <a:solidFill>
                  <a:schemeClr val="accent2"/>
                </a:solidFill>
              </a:rPr>
              <a:t>开关代数</a:t>
            </a:r>
            <a:r>
              <a:rPr lang="zh-CN" altLang="en-US" sz="2200" dirty="0"/>
              <a:t>或</a:t>
            </a:r>
            <a:r>
              <a:rPr lang="zh-CN" altLang="en-US" sz="2200" dirty="0">
                <a:solidFill>
                  <a:schemeClr val="accent2"/>
                </a:solidFill>
              </a:rPr>
              <a:t>布尔代数</a:t>
            </a:r>
            <a:endParaRPr lang="en-US" altLang="zh-CN" sz="2200" dirty="0">
              <a:solidFill>
                <a:schemeClr val="accent2"/>
              </a:solidFill>
            </a:endParaRPr>
          </a:p>
          <a:p>
            <a:pPr lvl="1" eaLnBrk="1" hangingPunct="1">
              <a:spcBef>
                <a:spcPts val="600"/>
              </a:spcBef>
            </a:pPr>
            <a:r>
              <a:rPr lang="zh-CN" altLang="en-US" b="1" i="1" dirty="0">
                <a:solidFill>
                  <a:schemeClr val="accent2"/>
                </a:solidFill>
              </a:rPr>
              <a:t> </a:t>
            </a:r>
            <a:r>
              <a:rPr lang="en-US" altLang="zh-CN" i="1" dirty="0">
                <a:solidFill>
                  <a:srgbClr val="FF0000"/>
                </a:solidFill>
              </a:rPr>
              <a:t>An Investigation of the Laws of Thought</a:t>
            </a:r>
            <a:r>
              <a:rPr lang="zh-CN" altLang="en-US" dirty="0">
                <a:solidFill>
                  <a:srgbClr val="FF0000"/>
                </a:solidFill>
              </a:rPr>
              <a:t>，</a:t>
            </a:r>
            <a:r>
              <a:rPr lang="zh-CN" altLang="zh-CN" i="1" dirty="0">
                <a:solidFill>
                  <a:srgbClr val="FF0000"/>
                </a:solidFill>
              </a:rPr>
              <a:t>on which are Founded the Mathematical Theories of Logic and Probabilities</a:t>
            </a:r>
            <a:endParaRPr lang="en-US" altLang="zh-CN" dirty="0">
              <a:solidFill>
                <a:srgbClr val="FF0000"/>
              </a:solidFill>
            </a:endParaRPr>
          </a:p>
          <a:p>
            <a:pPr lvl="1" eaLnBrk="1" hangingPunct="1">
              <a:spcBef>
                <a:spcPts val="600"/>
              </a:spcBef>
            </a:pPr>
            <a:r>
              <a:rPr lang="zh-CN" altLang="en-US" dirty="0"/>
              <a:t>“基于人类逻辑思考的本性”，将人类思想转换成符号，并指出这些符号只需要两个值：</a:t>
            </a:r>
            <a:r>
              <a:rPr lang="zh-CN" altLang="en-US" dirty="0">
                <a:solidFill>
                  <a:srgbClr val="FF0000"/>
                </a:solidFill>
              </a:rPr>
              <a:t>真</a:t>
            </a:r>
            <a:r>
              <a:rPr lang="zh-CN" altLang="en-US" dirty="0"/>
              <a:t>、</a:t>
            </a:r>
            <a:r>
              <a:rPr lang="zh-CN" altLang="en-US" dirty="0">
                <a:solidFill>
                  <a:srgbClr val="FF0000"/>
                </a:solidFill>
              </a:rPr>
              <a:t>假</a:t>
            </a:r>
            <a:endParaRPr lang="en-US" altLang="zh-CN" dirty="0">
              <a:solidFill>
                <a:srgbClr val="FF0000"/>
              </a:solidFill>
            </a:endParaRPr>
          </a:p>
          <a:p>
            <a:pPr eaLnBrk="1" hangingPunct="1">
              <a:spcBef>
                <a:spcPts val="600"/>
              </a:spcBef>
            </a:pPr>
            <a:r>
              <a:rPr lang="zh-CN" altLang="en-US" sz="2200" dirty="0"/>
              <a:t>布尔代数在代数学（代数结构）、逻辑演算、集合论、拓扑空间理论、测度论、概率论、泛函分析等数学分支中均有应用。</a:t>
            </a:r>
            <a:endParaRPr lang="en-US" altLang="zh-CN" sz="2200" dirty="0"/>
          </a:p>
        </p:txBody>
      </p:sp>
      <p:sp>
        <p:nvSpPr>
          <p:cNvPr id="21508" name="灯片编号占位符 3"/>
          <p:cNvSpPr>
            <a:spLocks noGrp="1"/>
          </p:cNvSpPr>
          <p:nvPr>
            <p:ph type="sldNum" sz="quarter" idx="4294967295"/>
          </p:nvPr>
        </p:nvSpPr>
        <p:spPr>
          <a:xfrm>
            <a:off x="8642350" y="6489700"/>
            <a:ext cx="501650" cy="333375"/>
          </a:xfrm>
          <a:prstGeom prst="rect">
            <a:avLst/>
          </a:prstGeom>
          <a:noFill/>
        </p:spPr>
        <p:txBody>
          <a:bodyPr/>
          <a:lstStyle/>
          <a:p>
            <a:fld id="{96CAB49D-8D64-4E82-BEE5-21C5B6307E78}" type="slidenum">
              <a:rPr lang="en-US" altLang="zh-CN" smtClean="0">
                <a:ea typeface="宋体" panose="02010600030101010101" pitchFamily="2" charset="-122"/>
              </a:rPr>
            </a:fld>
            <a:endParaRPr lang="en-US" altLang="zh-CN">
              <a:ea typeface="宋体" panose="02010600030101010101" pitchFamily="2" charset="-122"/>
            </a:endParaRPr>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00100" y="190500"/>
            <a:ext cx="6073775" cy="479747"/>
          </a:xfrm>
        </p:spPr>
        <p:txBody>
          <a:bodyPr/>
          <a:lstStyle/>
          <a:p>
            <a:r>
              <a:rPr lang="en-US" altLang="zh-CN" dirty="0"/>
              <a:t>2 </a:t>
            </a:r>
            <a:r>
              <a:rPr lang="zh-CN" altLang="en-US" dirty="0"/>
              <a:t>布尔代数</a:t>
            </a:r>
            <a:endParaRPr lang="zh-CN" altLang="en-US" dirty="0"/>
          </a:p>
        </p:txBody>
      </p:sp>
      <p:sp>
        <p:nvSpPr>
          <p:cNvPr id="3" name="内容占位符 2"/>
          <p:cNvSpPr>
            <a:spLocks noGrp="1"/>
          </p:cNvSpPr>
          <p:nvPr>
            <p:ph idx="1"/>
          </p:nvPr>
        </p:nvSpPr>
        <p:spPr>
          <a:xfrm>
            <a:off x="284773" y="915505"/>
            <a:ext cx="8523654" cy="4350358"/>
          </a:xfrm>
        </p:spPr>
        <p:txBody>
          <a:bodyPr/>
          <a:lstStyle/>
          <a:p>
            <a:r>
              <a:rPr lang="zh-CN" altLang="en-US" sz="2200" b="1" dirty="0"/>
              <a:t>逻辑量：</a:t>
            </a:r>
            <a:r>
              <a:rPr lang="zh-CN" altLang="en-US" sz="2200" dirty="0"/>
              <a:t>逻辑变量和逻辑常量</a:t>
            </a:r>
            <a:r>
              <a:rPr lang="en-US" altLang="zh-CN" sz="2200" dirty="0"/>
              <a:t>{0,1}</a:t>
            </a:r>
            <a:r>
              <a:rPr lang="zh-CN" altLang="en-US" sz="2200" dirty="0"/>
              <a:t>。</a:t>
            </a:r>
            <a:endParaRPr lang="zh-CN" altLang="en-US" sz="2200" dirty="0"/>
          </a:p>
          <a:p>
            <a:r>
              <a:rPr lang="zh-CN" altLang="en-US" sz="2200" b="1" dirty="0"/>
              <a:t>逻辑变量</a:t>
            </a:r>
            <a:r>
              <a:rPr lang="zh-CN" altLang="en-US" sz="2200" dirty="0"/>
              <a:t>：在</a:t>
            </a:r>
            <a:r>
              <a:rPr lang="zh-CN" altLang="en-US" sz="2200" b="1" dirty="0"/>
              <a:t>数字系统中</a:t>
            </a:r>
            <a:r>
              <a:rPr lang="zh-CN" altLang="en-US" sz="2200" dirty="0"/>
              <a:t>表示某个状态。</a:t>
            </a:r>
            <a:endParaRPr lang="zh-CN" altLang="en-US" sz="2200" dirty="0">
              <a:solidFill>
                <a:schemeClr val="accent2"/>
              </a:solidFill>
            </a:endParaRPr>
          </a:p>
          <a:p>
            <a:pPr lvl="1"/>
            <a:r>
              <a:rPr lang="zh-CN" altLang="en-US" dirty="0"/>
              <a:t>通常用</a:t>
            </a:r>
            <a:r>
              <a:rPr lang="zh-CN" altLang="en-US" dirty="0">
                <a:solidFill>
                  <a:srgbClr val="FF0000"/>
                </a:solidFill>
              </a:rPr>
              <a:t>字母</a:t>
            </a:r>
            <a:r>
              <a:rPr lang="zh-CN" altLang="en-US" dirty="0">
                <a:latin typeface="Times New Roman" panose="02020603050405020304" pitchFamily="18" charset="0"/>
              </a:rPr>
              <a:t>或</a:t>
            </a:r>
            <a:r>
              <a:rPr lang="zh-CN" altLang="en-US" dirty="0">
                <a:solidFill>
                  <a:srgbClr val="FF0000"/>
                </a:solidFill>
                <a:latin typeface="Times New Roman" panose="02020603050405020304" pitchFamily="18" charset="0"/>
              </a:rPr>
              <a:t>字符串</a:t>
            </a:r>
            <a:r>
              <a:rPr lang="zh-CN" altLang="en-US" dirty="0">
                <a:latin typeface="Times New Roman" panose="02020603050405020304" pitchFamily="18" charset="0"/>
              </a:rPr>
              <a:t>来</a:t>
            </a:r>
            <a:r>
              <a:rPr lang="zh-CN" altLang="en-US" dirty="0"/>
              <a:t>表示；</a:t>
            </a:r>
            <a:endParaRPr lang="zh-CN" altLang="en-US" dirty="0"/>
          </a:p>
          <a:p>
            <a:pPr lvl="1"/>
            <a:r>
              <a:rPr lang="zh-CN" altLang="en-US" dirty="0"/>
              <a:t>只有两种取值：“</a:t>
            </a:r>
            <a:r>
              <a:rPr lang="zh-CN" altLang="en-US" dirty="0">
                <a:solidFill>
                  <a:srgbClr val="FF0000"/>
                </a:solidFill>
              </a:rPr>
              <a:t>真</a:t>
            </a:r>
            <a:r>
              <a:rPr lang="zh-CN" altLang="en-US" dirty="0"/>
              <a:t>”或“</a:t>
            </a:r>
            <a:r>
              <a:rPr lang="zh-CN" altLang="en-US" dirty="0">
                <a:solidFill>
                  <a:srgbClr val="FF0000"/>
                </a:solidFill>
              </a:rPr>
              <a:t>假</a:t>
            </a:r>
            <a:r>
              <a:rPr lang="zh-CN" altLang="en-US" dirty="0"/>
              <a:t>” ；</a:t>
            </a:r>
            <a:endParaRPr lang="zh-CN" altLang="en-US" dirty="0"/>
          </a:p>
          <a:p>
            <a:pPr lvl="2"/>
            <a:r>
              <a:rPr lang="zh-CN" altLang="en-US" sz="2200" dirty="0"/>
              <a:t>“真”记作</a:t>
            </a:r>
            <a:r>
              <a:rPr lang="zh-CN" altLang="en-US" sz="2200" dirty="0">
                <a:solidFill>
                  <a:schemeClr val="accent2"/>
                </a:solidFill>
              </a:rPr>
              <a:t>“</a:t>
            </a:r>
            <a:r>
              <a:rPr lang="en-US" altLang="zh-CN" sz="2200" dirty="0">
                <a:solidFill>
                  <a:srgbClr val="FF0000"/>
                </a:solidFill>
              </a:rPr>
              <a:t>1</a:t>
            </a:r>
            <a:r>
              <a:rPr lang="en-US" altLang="zh-CN" sz="2200" dirty="0">
                <a:solidFill>
                  <a:schemeClr val="accent2"/>
                </a:solidFill>
              </a:rPr>
              <a:t>”</a:t>
            </a:r>
            <a:r>
              <a:rPr lang="zh-CN" altLang="en-US" sz="2200" dirty="0"/>
              <a:t>，数字电路中表示为</a:t>
            </a:r>
            <a:r>
              <a:rPr lang="zh-CN" altLang="en-US" sz="2200" dirty="0">
                <a:solidFill>
                  <a:srgbClr val="FF0000"/>
                </a:solidFill>
              </a:rPr>
              <a:t>高电平</a:t>
            </a:r>
            <a:r>
              <a:rPr lang="zh-CN" altLang="en-US" sz="2200" dirty="0"/>
              <a:t>；</a:t>
            </a:r>
            <a:endParaRPr lang="en-US" altLang="zh-CN" sz="2200" dirty="0"/>
          </a:p>
          <a:p>
            <a:pPr lvl="2"/>
            <a:r>
              <a:rPr lang="zh-CN" altLang="en-US" sz="2200" dirty="0"/>
              <a:t>“假”记作</a:t>
            </a:r>
            <a:r>
              <a:rPr lang="zh-CN" altLang="en-US" sz="2200" dirty="0">
                <a:solidFill>
                  <a:schemeClr val="accent2"/>
                </a:solidFill>
              </a:rPr>
              <a:t>“</a:t>
            </a:r>
            <a:r>
              <a:rPr lang="en-US" altLang="zh-CN" sz="2200" dirty="0">
                <a:solidFill>
                  <a:srgbClr val="FF0000"/>
                </a:solidFill>
              </a:rPr>
              <a:t>0</a:t>
            </a:r>
            <a:r>
              <a:rPr lang="en-US" altLang="zh-CN" sz="2200" dirty="0">
                <a:solidFill>
                  <a:schemeClr val="accent2"/>
                </a:solidFill>
              </a:rPr>
              <a:t>”</a:t>
            </a:r>
            <a:r>
              <a:rPr lang="zh-CN" altLang="en-US" sz="2200" dirty="0"/>
              <a:t>，数字电路中表示为</a:t>
            </a:r>
            <a:r>
              <a:rPr lang="zh-CN" altLang="en-US" sz="2200" dirty="0">
                <a:solidFill>
                  <a:srgbClr val="FF0000"/>
                </a:solidFill>
              </a:rPr>
              <a:t>低电平</a:t>
            </a:r>
            <a:r>
              <a:rPr lang="zh-CN" altLang="en-US" sz="2200" dirty="0"/>
              <a:t>；</a:t>
            </a:r>
            <a:endParaRPr lang="zh-CN" altLang="en-US" sz="2200" dirty="0"/>
          </a:p>
          <a:p>
            <a:pPr lvl="1"/>
            <a:r>
              <a:rPr lang="en-US" altLang="zh-CN" dirty="0">
                <a:solidFill>
                  <a:srgbClr val="FF0000"/>
                </a:solidFill>
              </a:rPr>
              <a:t>0</a:t>
            </a:r>
            <a:r>
              <a:rPr lang="zh-CN" altLang="en-US" dirty="0"/>
              <a:t>和</a:t>
            </a:r>
            <a:r>
              <a:rPr lang="en-US" altLang="zh-CN" dirty="0">
                <a:solidFill>
                  <a:srgbClr val="FF0000"/>
                </a:solidFill>
              </a:rPr>
              <a:t>1</a:t>
            </a:r>
            <a:r>
              <a:rPr lang="zh-CN" altLang="en-US" dirty="0"/>
              <a:t>不表示</a:t>
            </a:r>
            <a:r>
              <a:rPr lang="zh-CN" altLang="en-US" dirty="0">
                <a:solidFill>
                  <a:srgbClr val="00B0F0"/>
                </a:solidFill>
              </a:rPr>
              <a:t>数值的大小</a:t>
            </a:r>
            <a:r>
              <a:rPr lang="zh-CN" altLang="en-US" dirty="0"/>
              <a:t>，只表示</a:t>
            </a:r>
            <a:r>
              <a:rPr lang="zh-CN" altLang="en-US" dirty="0">
                <a:solidFill>
                  <a:srgbClr val="00B0F0"/>
                </a:solidFill>
              </a:rPr>
              <a:t>完全相反</a:t>
            </a:r>
            <a:r>
              <a:rPr lang="zh-CN" altLang="en-US" dirty="0"/>
              <a:t>的两种状态。</a:t>
            </a:r>
            <a:endParaRPr lang="zh-CN" altLang="en-US" dirty="0"/>
          </a:p>
          <a:p>
            <a:r>
              <a:rPr lang="zh-CN" altLang="en-US" sz="2200" b="1" dirty="0"/>
              <a:t>逻辑表达式</a:t>
            </a:r>
            <a:r>
              <a:rPr lang="zh-CN" altLang="en-US" sz="2200" dirty="0"/>
              <a:t>：用</a:t>
            </a:r>
            <a:r>
              <a:rPr lang="zh-CN" altLang="en-US" sz="2200" dirty="0">
                <a:solidFill>
                  <a:srgbClr val="FF0000"/>
                </a:solidFill>
              </a:rPr>
              <a:t>逻辑运算符</a:t>
            </a:r>
            <a:r>
              <a:rPr lang="zh-CN" altLang="en-US" sz="2200" dirty="0"/>
              <a:t>将</a:t>
            </a:r>
            <a:r>
              <a:rPr lang="zh-CN" altLang="en-US" sz="2200" dirty="0">
                <a:solidFill>
                  <a:srgbClr val="FF0000"/>
                </a:solidFill>
              </a:rPr>
              <a:t>逻辑量</a:t>
            </a:r>
            <a:r>
              <a:rPr lang="zh-CN" altLang="en-US" sz="2200" dirty="0"/>
              <a:t>连接起来的代数式。其运算结果是一个逻辑值。</a:t>
            </a:r>
            <a:endParaRPr lang="en-US" altLang="zh-CN" sz="2200" dirty="0"/>
          </a:p>
          <a:p>
            <a:r>
              <a:rPr lang="zh-CN" altLang="en-US" sz="2200" b="1" dirty="0">
                <a:solidFill>
                  <a:srgbClr val="FF0000"/>
                </a:solidFill>
              </a:rPr>
              <a:t>逻辑函数</a:t>
            </a:r>
            <a:r>
              <a:rPr lang="zh-CN" altLang="en-US" sz="2200" b="1" dirty="0"/>
              <a:t>：表明</a:t>
            </a:r>
            <a:r>
              <a:rPr lang="zh-CN" altLang="en-US" sz="2200" dirty="0"/>
              <a:t>输入和输出变量之间的逻辑关系。</a:t>
            </a:r>
            <a:endParaRPr lang="zh-CN" altLang="en-US" sz="2200"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 </a:t>
            </a:r>
            <a:r>
              <a:rPr lang="zh-CN" altLang="en-US" dirty="0"/>
              <a:t>布尔代数</a:t>
            </a:r>
            <a:endParaRPr lang="zh-CN" altLang="en-US" dirty="0"/>
          </a:p>
        </p:txBody>
      </p:sp>
      <p:sp>
        <p:nvSpPr>
          <p:cNvPr id="3" name="内容占位符 2"/>
          <p:cNvSpPr>
            <a:spLocks noGrp="1"/>
          </p:cNvSpPr>
          <p:nvPr>
            <p:ph idx="1"/>
          </p:nvPr>
        </p:nvSpPr>
        <p:spPr>
          <a:xfrm>
            <a:off x="413359" y="924774"/>
            <a:ext cx="8686800" cy="1181050"/>
          </a:xfrm>
        </p:spPr>
        <p:txBody>
          <a:bodyPr/>
          <a:lstStyle/>
          <a:p>
            <a:r>
              <a:rPr lang="zh-CN" altLang="en-US" dirty="0"/>
              <a:t>逻辑运算：在布尔代数中，有</a:t>
            </a:r>
            <a:r>
              <a:rPr lang="zh-CN" altLang="en-US" dirty="0">
                <a:solidFill>
                  <a:srgbClr val="FF0000"/>
                </a:solidFill>
              </a:rPr>
              <a:t>与</a:t>
            </a:r>
            <a:r>
              <a:rPr lang="zh-CN" altLang="en-US" dirty="0"/>
              <a:t>、</a:t>
            </a:r>
            <a:r>
              <a:rPr lang="zh-CN" altLang="en-US" dirty="0">
                <a:solidFill>
                  <a:srgbClr val="FF0000"/>
                </a:solidFill>
              </a:rPr>
              <a:t>或</a:t>
            </a:r>
            <a:r>
              <a:rPr lang="zh-CN" altLang="en-US" dirty="0"/>
              <a:t>、</a:t>
            </a:r>
            <a:r>
              <a:rPr lang="zh-CN" altLang="en-US" dirty="0">
                <a:solidFill>
                  <a:srgbClr val="FF0000"/>
                </a:solidFill>
              </a:rPr>
              <a:t>非</a:t>
            </a:r>
            <a:r>
              <a:rPr lang="zh-CN" altLang="en-US" dirty="0"/>
              <a:t>三种基本逻辑运算。</a:t>
            </a:r>
            <a:endParaRPr lang="zh-CN" altLang="en-US"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7" name="Text Box 6"/>
          <p:cNvSpPr txBox="1">
            <a:spLocks noChangeArrowheads="1"/>
          </p:cNvSpPr>
          <p:nvPr/>
        </p:nvSpPr>
        <p:spPr bwMode="auto">
          <a:xfrm>
            <a:off x="553386" y="1639871"/>
            <a:ext cx="8282694" cy="461665"/>
          </a:xfrm>
          <a:prstGeom prst="rect">
            <a:avLst/>
          </a:prstGeom>
          <a:noFill/>
          <a:ln w="9525">
            <a:noFill/>
            <a:miter lim="800000"/>
          </a:ln>
        </p:spPr>
        <p:txBody>
          <a:bodyPr wrap="square">
            <a:spAutoFit/>
          </a:bodyPr>
          <a:lstStyle/>
          <a:p>
            <a:r>
              <a:rPr lang="zh-CN" altLang="en-US" sz="2200" dirty="0">
                <a:solidFill>
                  <a:schemeClr val="tx2"/>
                </a:solidFill>
                <a:latin typeface="+mj-ea"/>
                <a:ea typeface="+mj-ea"/>
              </a:rPr>
              <a:t>与运算：合取、</a:t>
            </a:r>
            <a:r>
              <a:rPr lang="zh-CN" altLang="en-US" sz="2200" dirty="0">
                <a:solidFill>
                  <a:srgbClr val="FF0000"/>
                </a:solidFill>
                <a:latin typeface="+mj-ea"/>
                <a:ea typeface="+mj-ea"/>
              </a:rPr>
              <a:t>逻辑乘</a:t>
            </a:r>
            <a:r>
              <a:rPr lang="zh-CN" altLang="en-US" sz="2200" dirty="0">
                <a:solidFill>
                  <a:schemeClr val="tx2"/>
                </a:solidFill>
                <a:latin typeface="+mj-ea"/>
                <a:ea typeface="+mj-ea"/>
              </a:rPr>
              <a:t>，符号“</a:t>
            </a:r>
            <a:r>
              <a:rPr lang="en-US" altLang="zh-CN" sz="2200" dirty="0">
                <a:solidFill>
                  <a:srgbClr val="FF0000"/>
                </a:solidFill>
                <a:latin typeface="+mj-ea"/>
                <a:ea typeface="+mj-ea"/>
              </a:rPr>
              <a:t>•</a:t>
            </a:r>
            <a:r>
              <a:rPr lang="zh-CN" altLang="en-US" sz="2200" dirty="0">
                <a:solidFill>
                  <a:schemeClr val="tx2"/>
                </a:solidFill>
                <a:latin typeface="+mj-ea"/>
                <a:ea typeface="+mj-ea"/>
              </a:rPr>
              <a:t>”、“∧”</a:t>
            </a:r>
            <a:r>
              <a:rPr lang="en-US" altLang="zh-CN" sz="2200" dirty="0">
                <a:solidFill>
                  <a:schemeClr val="tx2"/>
                </a:solidFill>
                <a:latin typeface="+mj-ea"/>
                <a:ea typeface="+mj-ea"/>
              </a:rPr>
              <a:t>,Verilog</a:t>
            </a:r>
            <a:r>
              <a:rPr lang="zh-CN" altLang="en-US" sz="2200" dirty="0">
                <a:solidFill>
                  <a:schemeClr val="tx2"/>
                </a:solidFill>
                <a:latin typeface="+mj-ea"/>
                <a:ea typeface="+mj-ea"/>
              </a:rPr>
              <a:t>：</a:t>
            </a:r>
            <a:r>
              <a:rPr lang="zh-CN" altLang="en-US" sz="2400" dirty="0">
                <a:solidFill>
                  <a:schemeClr val="tx2"/>
                </a:solidFill>
                <a:latin typeface="+mj-ea"/>
                <a:ea typeface="+mj-ea"/>
              </a:rPr>
              <a:t>“</a:t>
            </a:r>
            <a:r>
              <a:rPr lang="en-US" altLang="zh-CN" sz="2400" dirty="0">
                <a:solidFill>
                  <a:schemeClr val="tx2"/>
                </a:solidFill>
                <a:latin typeface="+mj-ea"/>
                <a:ea typeface="+mj-ea"/>
              </a:rPr>
              <a:t>&amp;</a:t>
            </a:r>
            <a:r>
              <a:rPr lang="zh-CN" altLang="en-US" sz="2400" dirty="0">
                <a:solidFill>
                  <a:schemeClr val="tx2"/>
                </a:solidFill>
                <a:latin typeface="+mj-ea"/>
                <a:ea typeface="+mj-ea"/>
              </a:rPr>
              <a:t>”</a:t>
            </a:r>
            <a:endParaRPr lang="zh-CN" altLang="en-US" sz="2400" dirty="0">
              <a:solidFill>
                <a:schemeClr val="tx2"/>
              </a:solidFill>
              <a:latin typeface="+mj-ea"/>
              <a:ea typeface="+mj-ea"/>
            </a:endParaRPr>
          </a:p>
        </p:txBody>
      </p:sp>
      <p:sp>
        <p:nvSpPr>
          <p:cNvPr id="8" name="Text Box 6"/>
          <p:cNvSpPr txBox="1">
            <a:spLocks noChangeArrowheads="1"/>
          </p:cNvSpPr>
          <p:nvPr/>
        </p:nvSpPr>
        <p:spPr bwMode="auto">
          <a:xfrm>
            <a:off x="534336" y="2293610"/>
            <a:ext cx="8301744" cy="430887"/>
          </a:xfrm>
          <a:prstGeom prst="rect">
            <a:avLst/>
          </a:prstGeom>
          <a:noFill/>
          <a:ln w="9525">
            <a:noFill/>
            <a:miter lim="800000"/>
          </a:ln>
        </p:spPr>
        <p:txBody>
          <a:bodyPr wrap="square">
            <a:spAutoFit/>
          </a:bodyPr>
          <a:lstStyle/>
          <a:p>
            <a:r>
              <a:rPr lang="zh-CN" altLang="en-US" sz="2200" dirty="0">
                <a:solidFill>
                  <a:schemeClr val="tx2"/>
                </a:solidFill>
                <a:latin typeface="+mj-ea"/>
                <a:ea typeface="+mj-ea"/>
              </a:rPr>
              <a:t>或运算：析取、</a:t>
            </a:r>
            <a:r>
              <a:rPr lang="zh-CN" altLang="en-US" sz="2200" dirty="0">
                <a:solidFill>
                  <a:srgbClr val="FF0000"/>
                </a:solidFill>
                <a:latin typeface="+mj-ea"/>
                <a:ea typeface="+mj-ea"/>
              </a:rPr>
              <a:t>逻辑加</a:t>
            </a:r>
            <a:r>
              <a:rPr lang="zh-CN" altLang="en-US" sz="2200" dirty="0">
                <a:solidFill>
                  <a:schemeClr val="tx2"/>
                </a:solidFill>
                <a:latin typeface="+mj-ea"/>
                <a:ea typeface="+mj-ea"/>
              </a:rPr>
              <a:t>，符号“</a:t>
            </a:r>
            <a:r>
              <a:rPr lang="en-US" altLang="zh-CN" sz="2200" b="1" dirty="0">
                <a:solidFill>
                  <a:srgbClr val="FF0000"/>
                </a:solidFill>
                <a:latin typeface="+mj-ea"/>
                <a:ea typeface="+mj-ea"/>
              </a:rPr>
              <a:t>+</a:t>
            </a:r>
            <a:r>
              <a:rPr lang="zh-CN" altLang="en-US" sz="2200" dirty="0">
                <a:solidFill>
                  <a:schemeClr val="tx2"/>
                </a:solidFill>
                <a:latin typeface="+mj-ea"/>
                <a:ea typeface="+mj-ea"/>
              </a:rPr>
              <a:t>”、“∨”</a:t>
            </a:r>
            <a:r>
              <a:rPr lang="en-US" altLang="zh-CN" sz="2200" dirty="0">
                <a:solidFill>
                  <a:schemeClr val="tx2"/>
                </a:solidFill>
                <a:latin typeface="+mj-ea"/>
                <a:ea typeface="+mj-ea"/>
              </a:rPr>
              <a:t> ,Verilog</a:t>
            </a:r>
            <a:r>
              <a:rPr lang="zh-CN" altLang="en-US" sz="2200" dirty="0">
                <a:solidFill>
                  <a:schemeClr val="tx2"/>
                </a:solidFill>
                <a:latin typeface="+mj-ea"/>
                <a:ea typeface="+mj-ea"/>
              </a:rPr>
              <a:t>：“</a:t>
            </a:r>
            <a:r>
              <a:rPr lang="en-US" altLang="zh-CN" sz="2200" dirty="0">
                <a:solidFill>
                  <a:schemeClr val="tx2"/>
                </a:solidFill>
                <a:latin typeface="+mj-ea"/>
                <a:ea typeface="+mj-ea"/>
              </a:rPr>
              <a:t>|</a:t>
            </a:r>
            <a:r>
              <a:rPr lang="zh-CN" altLang="en-US" sz="2200" dirty="0">
                <a:solidFill>
                  <a:schemeClr val="tx2"/>
                </a:solidFill>
                <a:latin typeface="+mj-ea"/>
                <a:ea typeface="+mj-ea"/>
              </a:rPr>
              <a:t>”</a:t>
            </a:r>
            <a:endParaRPr lang="zh-CN" altLang="en-US" sz="2200" dirty="0">
              <a:solidFill>
                <a:schemeClr val="tx2"/>
              </a:solidFill>
              <a:latin typeface="+mj-ea"/>
              <a:ea typeface="+mj-ea"/>
            </a:endParaRPr>
          </a:p>
        </p:txBody>
      </p:sp>
      <p:sp>
        <p:nvSpPr>
          <p:cNvPr id="9" name="Text Box 6"/>
          <p:cNvSpPr txBox="1">
            <a:spLocks noChangeArrowheads="1"/>
          </p:cNvSpPr>
          <p:nvPr/>
        </p:nvSpPr>
        <p:spPr bwMode="auto">
          <a:xfrm>
            <a:off x="468823" y="2968233"/>
            <a:ext cx="8432770" cy="430887"/>
          </a:xfrm>
          <a:prstGeom prst="rect">
            <a:avLst/>
          </a:prstGeom>
          <a:noFill/>
          <a:ln w="9525">
            <a:noFill/>
            <a:miter lim="800000"/>
          </a:ln>
        </p:spPr>
        <p:txBody>
          <a:bodyPr wrap="square">
            <a:spAutoFit/>
          </a:bodyPr>
          <a:lstStyle/>
          <a:p>
            <a:r>
              <a:rPr lang="zh-CN" altLang="en-US" sz="2200" dirty="0">
                <a:solidFill>
                  <a:schemeClr val="tx2"/>
                </a:solidFill>
                <a:latin typeface="+mj-ea"/>
                <a:ea typeface="+mj-ea"/>
              </a:rPr>
              <a:t>非运算：否定、</a:t>
            </a:r>
            <a:r>
              <a:rPr lang="zh-CN" altLang="en-US" sz="2200" dirty="0">
                <a:solidFill>
                  <a:srgbClr val="FF0000"/>
                </a:solidFill>
                <a:latin typeface="+mj-ea"/>
                <a:ea typeface="+mj-ea"/>
              </a:rPr>
              <a:t>取反</a:t>
            </a:r>
            <a:r>
              <a:rPr lang="zh-CN" altLang="en-US" sz="2200" dirty="0">
                <a:solidFill>
                  <a:schemeClr val="tx2"/>
                </a:solidFill>
                <a:latin typeface="+mj-ea"/>
                <a:ea typeface="+mj-ea"/>
              </a:rPr>
              <a:t>，符号“ </a:t>
            </a:r>
            <a:r>
              <a:rPr lang="en-US" altLang="zh-CN" sz="2200" dirty="0">
                <a:solidFill>
                  <a:srgbClr val="FF0000"/>
                </a:solidFill>
                <a:latin typeface="+mj-ea"/>
                <a:ea typeface="+mj-ea"/>
              </a:rPr>
              <a:t>¯ </a:t>
            </a:r>
            <a:r>
              <a:rPr lang="zh-CN" altLang="en-US" sz="2200" dirty="0">
                <a:solidFill>
                  <a:schemeClr val="tx2"/>
                </a:solidFill>
                <a:latin typeface="+mj-ea"/>
                <a:ea typeface="+mj-ea"/>
              </a:rPr>
              <a:t>”、“</a:t>
            </a:r>
            <a:r>
              <a:rPr lang="en-US" altLang="zh-CN" sz="2200" dirty="0">
                <a:solidFill>
                  <a:schemeClr val="tx2"/>
                </a:solidFill>
                <a:latin typeface="+mj-ea"/>
                <a:ea typeface="+mj-ea"/>
              </a:rPr>
              <a:t>¯/~/¬</a:t>
            </a:r>
            <a:r>
              <a:rPr lang="zh-CN" altLang="en-US" sz="2200" dirty="0">
                <a:solidFill>
                  <a:schemeClr val="tx2"/>
                </a:solidFill>
                <a:latin typeface="+mj-ea"/>
                <a:ea typeface="+mj-ea"/>
              </a:rPr>
              <a:t>”</a:t>
            </a:r>
            <a:r>
              <a:rPr lang="en-US" altLang="zh-CN" sz="2200" dirty="0">
                <a:solidFill>
                  <a:schemeClr val="tx2"/>
                </a:solidFill>
                <a:latin typeface="+mj-ea"/>
                <a:ea typeface="+mj-ea"/>
              </a:rPr>
              <a:t> ,Verilog</a:t>
            </a:r>
            <a:r>
              <a:rPr lang="zh-CN" altLang="en-US" sz="2200" dirty="0">
                <a:solidFill>
                  <a:schemeClr val="tx2"/>
                </a:solidFill>
                <a:latin typeface="+mj-ea"/>
                <a:ea typeface="+mj-ea"/>
              </a:rPr>
              <a:t>：“</a:t>
            </a:r>
            <a:r>
              <a:rPr lang="en-US" altLang="zh-CN" sz="2200" dirty="0">
                <a:solidFill>
                  <a:schemeClr val="tx2"/>
                </a:solidFill>
                <a:latin typeface="+mj-ea"/>
                <a:ea typeface="+mj-ea"/>
              </a:rPr>
              <a:t>~</a:t>
            </a:r>
            <a:r>
              <a:rPr lang="zh-CN" altLang="en-US" sz="2200" dirty="0">
                <a:solidFill>
                  <a:schemeClr val="tx2"/>
                </a:solidFill>
                <a:latin typeface="+mj-ea"/>
                <a:ea typeface="+mj-ea"/>
              </a:rPr>
              <a:t>”</a:t>
            </a:r>
            <a:endParaRPr lang="zh-CN" altLang="en-US" sz="2200" dirty="0">
              <a:solidFill>
                <a:schemeClr val="tx2"/>
              </a:solidFill>
              <a:latin typeface="+mj-ea"/>
              <a:ea typeface="+mj-ea"/>
            </a:endParaRPr>
          </a:p>
        </p:txBody>
      </p:sp>
      <p:sp>
        <p:nvSpPr>
          <p:cNvPr id="14" name="TextBox 13"/>
          <p:cNvSpPr txBox="1"/>
          <p:nvPr/>
        </p:nvSpPr>
        <p:spPr>
          <a:xfrm>
            <a:off x="413359" y="3734135"/>
            <a:ext cx="4608512" cy="1785104"/>
          </a:xfrm>
          <a:prstGeom prst="rect">
            <a:avLst/>
          </a:prstGeom>
          <a:noFill/>
        </p:spPr>
        <p:txBody>
          <a:bodyPr wrap="square" rtlCol="0">
            <a:spAutoFit/>
          </a:bodyPr>
          <a:lstStyle/>
          <a:p>
            <a:r>
              <a:rPr lang="zh-CN" altLang="en-US" sz="2200" dirty="0">
                <a:latin typeface="微软雅黑" panose="020B0503020204020204" pitchFamily="34" charset="-122"/>
                <a:ea typeface="微软雅黑" panose="020B0503020204020204" pitchFamily="34" charset="-122"/>
              </a:rPr>
              <a:t>运算优先顺序：</a:t>
            </a:r>
            <a:endParaRPr lang="zh-CN" altLang="en-US" sz="2200" dirty="0">
              <a:latin typeface="微软雅黑" panose="020B0503020204020204" pitchFamily="34" charset="-122"/>
              <a:ea typeface="微软雅黑" panose="020B0503020204020204" pitchFamily="34" charset="-122"/>
            </a:endParaRPr>
          </a:p>
          <a:p>
            <a:pPr lvl="1"/>
            <a:r>
              <a:rPr lang="zh-CN" altLang="en-US" sz="2200" dirty="0">
                <a:latin typeface="微软雅黑" panose="020B0503020204020204" pitchFamily="34" charset="-122"/>
                <a:ea typeface="微软雅黑" panose="020B0503020204020204" pitchFamily="34" charset="-122"/>
              </a:rPr>
              <a:t>  （</a:t>
            </a:r>
            <a:r>
              <a:rPr lang="en-US" altLang="zh-CN" sz="2200" dirty="0">
                <a:latin typeface="微软雅黑" panose="020B0503020204020204" pitchFamily="34" charset="-122"/>
                <a:ea typeface="微软雅黑" panose="020B0503020204020204" pitchFamily="34" charset="-122"/>
              </a:rPr>
              <a:t>1</a:t>
            </a:r>
            <a:r>
              <a:rPr lang="zh-CN" altLang="en-US" sz="2200" dirty="0">
                <a:latin typeface="微软雅黑" panose="020B0503020204020204" pitchFamily="34" charset="-122"/>
                <a:ea typeface="微软雅黑" panose="020B0503020204020204" pitchFamily="34" charset="-122"/>
              </a:rPr>
              <a:t>）圆括号</a:t>
            </a:r>
            <a:endParaRPr lang="zh-CN" altLang="en-US" sz="2200" dirty="0">
              <a:latin typeface="微软雅黑" panose="020B0503020204020204" pitchFamily="34" charset="-122"/>
              <a:ea typeface="微软雅黑" panose="020B0503020204020204" pitchFamily="34" charset="-122"/>
            </a:endParaRPr>
          </a:p>
          <a:p>
            <a:pPr lvl="1"/>
            <a:r>
              <a:rPr lang="zh-CN" altLang="en-US" sz="2200" dirty="0">
                <a:latin typeface="微软雅黑" panose="020B0503020204020204" pitchFamily="34" charset="-122"/>
                <a:ea typeface="微软雅黑" panose="020B0503020204020204" pitchFamily="34" charset="-122"/>
              </a:rPr>
              <a:t>  （</a:t>
            </a:r>
            <a:r>
              <a:rPr lang="en-US" altLang="zh-CN" sz="2200" dirty="0">
                <a:latin typeface="微软雅黑" panose="020B0503020204020204" pitchFamily="34" charset="-122"/>
                <a:ea typeface="微软雅黑" panose="020B0503020204020204" pitchFamily="34" charset="-122"/>
              </a:rPr>
              <a:t>2</a:t>
            </a:r>
            <a:r>
              <a:rPr lang="zh-CN" altLang="en-US" sz="2200" dirty="0">
                <a:latin typeface="微软雅黑" panose="020B0503020204020204" pitchFamily="34" charset="-122"/>
                <a:ea typeface="微软雅黑" panose="020B0503020204020204" pitchFamily="34" charset="-122"/>
              </a:rPr>
              <a:t>）</a:t>
            </a:r>
            <a:r>
              <a:rPr lang="zh-CN" altLang="en-US" sz="2200" dirty="0">
                <a:solidFill>
                  <a:srgbClr val="FF0000"/>
                </a:solidFill>
                <a:latin typeface="微软雅黑" panose="020B0503020204020204" pitchFamily="34" charset="-122"/>
                <a:ea typeface="微软雅黑" panose="020B0503020204020204" pitchFamily="34" charset="-122"/>
              </a:rPr>
              <a:t>非</a:t>
            </a:r>
            <a:r>
              <a:rPr lang="zh-CN" altLang="en-US" sz="2200" dirty="0">
                <a:latin typeface="微软雅黑" panose="020B0503020204020204" pitchFamily="34" charset="-122"/>
                <a:ea typeface="微软雅黑" panose="020B0503020204020204" pitchFamily="34" charset="-122"/>
              </a:rPr>
              <a:t>运算：一元运算</a:t>
            </a:r>
            <a:endParaRPr lang="zh-CN" altLang="en-US" sz="2200" dirty="0">
              <a:latin typeface="微软雅黑" panose="020B0503020204020204" pitchFamily="34" charset="-122"/>
              <a:ea typeface="微软雅黑" panose="020B0503020204020204" pitchFamily="34" charset="-122"/>
            </a:endParaRPr>
          </a:p>
          <a:p>
            <a:pPr lvl="1"/>
            <a:r>
              <a:rPr lang="zh-CN" altLang="en-US" sz="2200" dirty="0">
                <a:latin typeface="微软雅黑" panose="020B0503020204020204" pitchFamily="34" charset="-122"/>
                <a:ea typeface="微软雅黑" panose="020B0503020204020204" pitchFamily="34" charset="-122"/>
              </a:rPr>
              <a:t>  （</a:t>
            </a:r>
            <a:r>
              <a:rPr lang="en-US" altLang="zh-CN" sz="2200" dirty="0">
                <a:latin typeface="微软雅黑" panose="020B0503020204020204" pitchFamily="34" charset="-122"/>
                <a:ea typeface="微软雅黑" panose="020B0503020204020204" pitchFamily="34" charset="-122"/>
              </a:rPr>
              <a:t>3</a:t>
            </a:r>
            <a:r>
              <a:rPr lang="zh-CN" altLang="en-US" sz="2200" dirty="0">
                <a:latin typeface="微软雅黑" panose="020B0503020204020204" pitchFamily="34" charset="-122"/>
                <a:ea typeface="微软雅黑" panose="020B0503020204020204" pitchFamily="34" charset="-122"/>
              </a:rPr>
              <a:t>）</a:t>
            </a:r>
            <a:r>
              <a:rPr lang="zh-CN" altLang="en-US" sz="2200" dirty="0">
                <a:solidFill>
                  <a:srgbClr val="FF0000"/>
                </a:solidFill>
                <a:latin typeface="微软雅黑" panose="020B0503020204020204" pitchFamily="34" charset="-122"/>
                <a:ea typeface="微软雅黑" panose="020B0503020204020204" pitchFamily="34" charset="-122"/>
              </a:rPr>
              <a:t>与</a:t>
            </a:r>
            <a:r>
              <a:rPr lang="zh-CN" altLang="en-US" sz="2200" dirty="0">
                <a:latin typeface="微软雅黑" panose="020B0503020204020204" pitchFamily="34" charset="-122"/>
                <a:ea typeface="微软雅黑" panose="020B0503020204020204" pitchFamily="34" charset="-122"/>
              </a:rPr>
              <a:t>运算：二元运算</a:t>
            </a:r>
            <a:endParaRPr lang="en-US" altLang="zh-CN" sz="2200" dirty="0">
              <a:latin typeface="微软雅黑" panose="020B0503020204020204" pitchFamily="34" charset="-122"/>
              <a:ea typeface="微软雅黑" panose="020B0503020204020204" pitchFamily="34" charset="-122"/>
            </a:endParaRPr>
          </a:p>
          <a:p>
            <a:pPr lvl="1"/>
            <a:r>
              <a:rPr lang="en-US" altLang="zh-CN"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4</a:t>
            </a:r>
            <a:r>
              <a:rPr lang="zh-CN" altLang="en-US" sz="2200" dirty="0">
                <a:latin typeface="微软雅黑" panose="020B0503020204020204" pitchFamily="34" charset="-122"/>
                <a:ea typeface="微软雅黑" panose="020B0503020204020204" pitchFamily="34" charset="-122"/>
              </a:rPr>
              <a:t>）</a:t>
            </a:r>
            <a:r>
              <a:rPr lang="zh-CN" altLang="en-US" sz="2200" dirty="0">
                <a:solidFill>
                  <a:srgbClr val="FF0000"/>
                </a:solidFill>
                <a:latin typeface="微软雅黑" panose="020B0503020204020204" pitchFamily="34" charset="-122"/>
                <a:ea typeface="微软雅黑" panose="020B0503020204020204" pitchFamily="34" charset="-122"/>
              </a:rPr>
              <a:t>或</a:t>
            </a:r>
            <a:r>
              <a:rPr lang="zh-CN" altLang="en-US" sz="2200" dirty="0">
                <a:latin typeface="微软雅黑" panose="020B0503020204020204" pitchFamily="34" charset="-122"/>
                <a:ea typeface="微软雅黑" panose="020B0503020204020204" pitchFamily="34" charset="-122"/>
              </a:rPr>
              <a:t>运算：二元运算</a:t>
            </a:r>
            <a:endParaRPr lang="zh-CN" altLang="en-US" sz="2200" dirty="0">
              <a:latin typeface="微软雅黑" panose="020B0503020204020204" pitchFamily="34" charset="-122"/>
              <a:ea typeface="微软雅黑" panose="020B0503020204020204" pitchFamily="34" charset="-122"/>
            </a:endParaRPr>
          </a:p>
        </p:txBody>
      </p:sp>
      <p:sp>
        <p:nvSpPr>
          <p:cNvPr id="12" name="矩形 11"/>
          <p:cNvSpPr/>
          <p:nvPr/>
        </p:nvSpPr>
        <p:spPr>
          <a:xfrm>
            <a:off x="4694733" y="4242477"/>
            <a:ext cx="4163888" cy="861774"/>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zh-CN" altLang="en-US" sz="2200" b="1" dirty="0">
                <a:latin typeface="微软雅黑" panose="020B0503020204020204" pitchFamily="34" charset="-122"/>
                <a:ea typeface="微软雅黑" panose="020B0503020204020204" pitchFamily="34" charset="-122"/>
              </a:rPr>
              <a:t>逻辑乘的符号在单符号变量中可省略“</a:t>
            </a:r>
            <a:r>
              <a:rPr lang="en-US" altLang="zh-CN" sz="2800" b="1"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2200" b="1" dirty="0">
                <a:latin typeface="微软雅黑" panose="020B0503020204020204" pitchFamily="34" charset="-122"/>
                <a:ea typeface="微软雅黑" panose="020B0503020204020204" pitchFamily="34" charset="-122"/>
              </a:rPr>
              <a:t>”，不建议省略</a:t>
            </a:r>
            <a:r>
              <a:rPr lang="zh-CN" altLang="en-US" sz="2800" b="1" dirty="0"/>
              <a:t>。</a:t>
            </a:r>
            <a:endParaRPr lang="zh-CN" altLang="en-US" sz="2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blinds(horizontal)">
                                      <p:cBhvr>
                                        <p:cTn id="19" dur="500"/>
                                        <p:tgtEl>
                                          <p:spTgt spid="14"/>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4" grpId="0"/>
      <p:bldP spid="1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2.1 </a:t>
            </a:r>
            <a:r>
              <a:rPr lang="zh-CN" altLang="en-US" dirty="0"/>
              <a:t>公理系统</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579135" y="990661"/>
                <a:ext cx="7969879" cy="4603953"/>
              </a:xfrm>
            </p:spPr>
            <p:txBody>
              <a:bodyPr/>
              <a:lstStyle/>
              <a:p>
                <a:r>
                  <a:rPr lang="zh-CN" altLang="en-US" sz="2200" dirty="0"/>
                  <a:t>用符号</a:t>
                </a:r>
                <a:r>
                  <a:rPr lang="en-US" altLang="zh-CN" sz="2200" dirty="0"/>
                  <a:t>X</a:t>
                </a:r>
                <a:r>
                  <a:rPr lang="zh-CN" altLang="en-US" sz="2200" dirty="0"/>
                  <a:t>、</a:t>
                </a:r>
                <a:r>
                  <a:rPr lang="en-US" altLang="zh-CN" sz="2200" dirty="0"/>
                  <a:t>Y</a:t>
                </a:r>
                <a:r>
                  <a:rPr lang="zh-CN" altLang="en-US" sz="2200" dirty="0"/>
                  <a:t>、</a:t>
                </a:r>
                <a:r>
                  <a:rPr lang="en-US" altLang="zh-CN" sz="2200" dirty="0"/>
                  <a:t>Z</a:t>
                </a:r>
                <a:r>
                  <a:rPr lang="zh-CN" altLang="en-US" sz="2200" dirty="0"/>
                  <a:t>表示逻辑变量的状态。</a:t>
                </a:r>
                <a:endParaRPr lang="en-US" altLang="zh-CN" sz="2200" dirty="0"/>
              </a:p>
              <a:p>
                <a:r>
                  <a:rPr lang="zh-CN" altLang="en-US" sz="2200" dirty="0"/>
                  <a:t>公理</a:t>
                </a:r>
                <a:r>
                  <a:rPr lang="en-US" altLang="zh-CN" sz="2200" dirty="0"/>
                  <a:t>1</a:t>
                </a:r>
                <a:r>
                  <a:rPr lang="zh-CN" altLang="en-US" sz="2200" dirty="0"/>
                  <a:t>：</a:t>
                </a:r>
                <a:endParaRPr lang="en-US" altLang="zh-CN" sz="2200" dirty="0"/>
              </a:p>
              <a:p>
                <a:pPr lvl="1"/>
                <a:r>
                  <a:rPr lang="en-US" altLang="zh-CN" dirty="0"/>
                  <a:t>(A1)</a:t>
                </a:r>
                <a:r>
                  <a:rPr lang="zh-CN" altLang="en-US" dirty="0"/>
                  <a:t>如果</a:t>
                </a:r>
                <a:r>
                  <a:rPr lang="en-US" altLang="zh-CN" dirty="0"/>
                  <a:t>x≠1</a:t>
                </a:r>
                <a:r>
                  <a:rPr lang="zh-CN" altLang="en-US" dirty="0"/>
                  <a:t>，则</a:t>
                </a:r>
                <a:r>
                  <a:rPr lang="en-US" altLang="zh-CN" dirty="0"/>
                  <a:t>x=0</a:t>
                </a:r>
                <a:r>
                  <a:rPr lang="zh-CN" altLang="en-US" dirty="0"/>
                  <a:t>；</a:t>
                </a:r>
                <a:r>
                  <a:rPr lang="en-US" altLang="zh-CN" dirty="0"/>
                  <a:t>  (A1D)</a:t>
                </a:r>
                <a:r>
                  <a:rPr lang="zh-CN" altLang="en-US" dirty="0"/>
                  <a:t>如果</a:t>
                </a:r>
                <a:r>
                  <a:rPr lang="en-US" altLang="zh-CN" dirty="0"/>
                  <a:t>x≠0</a:t>
                </a:r>
                <a:r>
                  <a:rPr lang="zh-CN" altLang="en-US" dirty="0"/>
                  <a:t>，则</a:t>
                </a:r>
                <a:r>
                  <a:rPr lang="en-US" altLang="zh-CN" dirty="0"/>
                  <a:t>x=1</a:t>
                </a:r>
                <a:endParaRPr lang="en-US" altLang="zh-CN" dirty="0"/>
              </a:p>
              <a:p>
                <a:r>
                  <a:rPr lang="zh-CN" altLang="en-US" sz="2200" dirty="0"/>
                  <a:t>公理</a:t>
                </a:r>
                <a:r>
                  <a:rPr lang="en-US" altLang="zh-CN" sz="2200" dirty="0"/>
                  <a:t>2</a:t>
                </a:r>
                <a:r>
                  <a:rPr lang="zh-CN" altLang="en-US" sz="2200" dirty="0"/>
                  <a:t>：</a:t>
                </a:r>
                <a:endParaRPr lang="en-US" altLang="zh-CN" sz="2200" dirty="0"/>
              </a:p>
              <a:p>
                <a:pPr lvl="1"/>
                <a:r>
                  <a:rPr lang="en-US" altLang="zh-CN" dirty="0"/>
                  <a:t>(A2)</a:t>
                </a:r>
                <a:r>
                  <a:rPr lang="zh-CN" altLang="en-US" dirty="0"/>
                  <a:t>如果</a:t>
                </a:r>
                <a:r>
                  <a:rPr lang="en-US" altLang="zh-CN" dirty="0"/>
                  <a:t>x=0</a:t>
                </a:r>
                <a:r>
                  <a:rPr lang="zh-CN" altLang="en-US" dirty="0"/>
                  <a:t>，则</a:t>
                </a:r>
                <a14:m>
                  <m:oMath xmlns:m="http://schemas.openxmlformats.org/officeDocument/2006/math">
                    <m:acc>
                      <m:accPr>
                        <m:chr m:val="̅"/>
                        <m:ctrlPr>
                          <a:rPr lang="es-ES" altLang="zh-CN" sz="3000" i="1">
                            <a:latin typeface="Cambria Math" panose="02040503050406030204" pitchFamily="18" charset="0"/>
                            <a:ea typeface="Cambria Math" panose="02040503050406030204" pitchFamily="18" charset="0"/>
                          </a:rPr>
                        </m:ctrlPr>
                      </m:accPr>
                      <m:e>
                        <m:r>
                          <m:rPr>
                            <m:sty m:val="p"/>
                          </m:rPr>
                          <a:rPr lang="en-US" altLang="zh-CN" sz="3000" b="0" i="0" smtClean="0">
                            <a:latin typeface="Cambria Math" panose="02040503050406030204" pitchFamily="18" charset="0"/>
                            <a:ea typeface="Cambria Math" panose="02040503050406030204" pitchFamily="18" charset="0"/>
                          </a:rPr>
                          <m:t>x</m:t>
                        </m:r>
                      </m:e>
                    </m:acc>
                    <m:r>
                      <a:rPr lang="en-US" altLang="zh-CN" sz="3000" i="1">
                        <a:latin typeface="Cambria Math" panose="02040503050406030204" pitchFamily="18" charset="0"/>
                        <a:ea typeface="Cambria Math" panose="02040503050406030204" pitchFamily="18" charset="0"/>
                      </a:rPr>
                      <m:t> </m:t>
                    </m:r>
                  </m:oMath>
                </a14:m>
                <a:r>
                  <a:rPr lang="en-US" altLang="zh-CN" dirty="0"/>
                  <a:t>=1</a:t>
                </a:r>
                <a:r>
                  <a:rPr lang="zh-CN" altLang="en-US" dirty="0"/>
                  <a:t>；</a:t>
                </a:r>
                <a:r>
                  <a:rPr lang="en-US" altLang="zh-CN" dirty="0"/>
                  <a:t> (A2D)</a:t>
                </a:r>
                <a:r>
                  <a:rPr lang="zh-CN" altLang="en-US" dirty="0"/>
                  <a:t>如果</a:t>
                </a:r>
                <a:r>
                  <a:rPr lang="en-US" altLang="zh-CN" dirty="0"/>
                  <a:t>x=1</a:t>
                </a:r>
                <a:r>
                  <a:rPr lang="zh-CN" altLang="en-US" dirty="0"/>
                  <a:t>，则</a:t>
                </a:r>
                <a14:m>
                  <m:oMath xmlns:m="http://schemas.openxmlformats.org/officeDocument/2006/math">
                    <m:acc>
                      <m:accPr>
                        <m:chr m:val="̅"/>
                        <m:ctrlPr>
                          <a:rPr lang="es-ES" altLang="zh-CN" sz="3200" i="1">
                            <a:latin typeface="Cambria Math" panose="02040503050406030204" pitchFamily="18" charset="0"/>
                            <a:ea typeface="Cambria Math" panose="02040503050406030204" pitchFamily="18" charset="0"/>
                          </a:rPr>
                        </m:ctrlPr>
                      </m:accPr>
                      <m:e>
                        <m:r>
                          <m:rPr>
                            <m:sty m:val="p"/>
                          </m:rPr>
                          <a:rPr lang="en-US" altLang="zh-CN" sz="3200" b="0" i="0" smtClean="0">
                            <a:latin typeface="Cambria Math" panose="02040503050406030204" pitchFamily="18" charset="0"/>
                            <a:ea typeface="Cambria Math" panose="02040503050406030204" pitchFamily="18" charset="0"/>
                          </a:rPr>
                          <m:t>x</m:t>
                        </m:r>
                      </m:e>
                    </m:acc>
                    <m:r>
                      <a:rPr lang="en-US" altLang="zh-CN" sz="3200" i="1">
                        <a:latin typeface="Cambria Math" panose="02040503050406030204" pitchFamily="18" charset="0"/>
                        <a:ea typeface="Cambria Math" panose="02040503050406030204" pitchFamily="18" charset="0"/>
                      </a:rPr>
                      <m:t> </m:t>
                    </m:r>
                  </m:oMath>
                </a14:m>
                <a:r>
                  <a:rPr lang="en-US" altLang="zh-CN" dirty="0"/>
                  <a:t>=0</a:t>
                </a:r>
                <a:endParaRPr lang="en-US" altLang="zh-CN" dirty="0"/>
              </a:p>
              <a:p>
                <a:r>
                  <a:rPr lang="zh-CN" altLang="en-US" sz="2200" dirty="0"/>
                  <a:t>常量运算公理</a:t>
                </a:r>
                <a:endParaRPr lang="en-US" altLang="zh-CN" sz="2200" dirty="0"/>
              </a:p>
              <a:p>
                <a:pPr lvl="1"/>
                <a:r>
                  <a:rPr lang="en-US" altLang="zh-CN" dirty="0"/>
                  <a:t>0•0 = 0         (A3)       1+1=1           (A3D)</a:t>
                </a:r>
                <a:endParaRPr lang="zh-CN" altLang="en-US" dirty="0"/>
              </a:p>
              <a:p>
                <a:pPr lvl="1"/>
                <a:r>
                  <a:rPr lang="en-US" altLang="zh-CN" dirty="0"/>
                  <a:t>1•1 = 1         (A4)       0+0=0            (A4D)</a:t>
                </a:r>
                <a:endParaRPr lang="zh-CN" altLang="en-US" dirty="0"/>
              </a:p>
              <a:p>
                <a:pPr lvl="1"/>
                <a:r>
                  <a:rPr lang="en-US" altLang="zh-CN" dirty="0"/>
                  <a:t>0•1 =1•0=0  (A5)       1+0=0+1=1  (A5D)</a:t>
                </a:r>
                <a:endParaRPr lang="zh-CN" altLang="en-US" dirty="0"/>
              </a:p>
              <a:p>
                <a:pPr lvl="1"/>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579135" y="990661"/>
                <a:ext cx="7969879" cy="4603953"/>
              </a:xfrm>
              <a:blipFill rotWithShape="1">
                <a:blip r:embed="rId1"/>
                <a:stretch>
                  <a:fillRect t="-1" b="6"/>
                </a:stretch>
              </a:blipFill>
            </p:spPr>
            <p:txBody>
              <a:bodyPr/>
              <a:lstStyle/>
              <a:p>
                <a:r>
                  <a:rPr lang="zh-CN" altLang="en-US">
                    <a:noFill/>
                  </a:rPr>
                  <a:t> </a:t>
                </a:r>
              </a:p>
            </p:txBody>
          </p:sp>
        </mc:Fallback>
      </mc:AlternateContent>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定理</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284773" y="915505"/>
                <a:ext cx="8523654" cy="3723005"/>
              </a:xfrm>
            </p:spPr>
            <p:txBody>
              <a:bodyPr/>
              <a:lstStyle/>
              <a:p>
                <a:r>
                  <a:rPr lang="zh-CN" altLang="en-US" sz="2200" dirty="0"/>
                  <a:t>单变量定理</a:t>
                </a:r>
                <a:endParaRPr lang="en-US" altLang="zh-CN" sz="2200" dirty="0"/>
              </a:p>
              <a:p>
                <a:pPr lvl="1"/>
                <a:r>
                  <a:rPr lang="zh-CN" altLang="en-US" dirty="0"/>
                  <a:t>一致性  </a:t>
                </a:r>
                <a:r>
                  <a:rPr lang="en-US" altLang="zh-CN" dirty="0"/>
                  <a:t>(T1)  X+</a:t>
                </a:r>
                <a:r>
                  <a:rPr lang="en-US" altLang="zh-CN" b="1" dirty="0"/>
                  <a:t>0 = 0 	   </a:t>
                </a:r>
                <a:r>
                  <a:rPr lang="en-US" altLang="zh-CN" dirty="0"/>
                  <a:t>(T1D)</a:t>
                </a:r>
                <a:r>
                  <a:rPr lang="en-US" altLang="zh-CN" b="1" dirty="0"/>
                  <a:t>  </a:t>
                </a:r>
                <a:r>
                  <a:rPr lang="en-US" altLang="zh-CN" dirty="0"/>
                  <a:t>X•</a:t>
                </a:r>
                <a:r>
                  <a:rPr lang="en-US" altLang="zh-CN" b="1" dirty="0"/>
                  <a:t>1 = </a:t>
                </a:r>
                <a:r>
                  <a:rPr lang="en-US" altLang="zh-CN" dirty="0"/>
                  <a:t>X</a:t>
                </a:r>
                <a:endParaRPr lang="en-US" altLang="zh-CN" dirty="0"/>
              </a:p>
              <a:p>
                <a:pPr lvl="1"/>
                <a:r>
                  <a:rPr lang="zh-CN" altLang="en-US" dirty="0"/>
                  <a:t>空元素 </a:t>
                </a:r>
                <a:r>
                  <a:rPr lang="en-US" altLang="zh-CN" dirty="0"/>
                  <a:t>(T2) X+ 1 = 1         (T2D) X•0 = 0</a:t>
                </a:r>
                <a:endParaRPr lang="en-US" altLang="zh-CN" dirty="0"/>
              </a:p>
              <a:p>
                <a:pPr lvl="1"/>
                <a:r>
                  <a:rPr lang="zh-CN" altLang="en-US" dirty="0"/>
                  <a:t>同一律 </a:t>
                </a:r>
                <a:r>
                  <a:rPr lang="en-US" altLang="zh-CN" dirty="0"/>
                  <a:t>(T3) X+ X = X        (T3D) X •X= X</a:t>
                </a:r>
                <a:endParaRPr lang="en-US" altLang="zh-CN" dirty="0"/>
              </a:p>
              <a:p>
                <a:pPr lvl="1"/>
                <a:r>
                  <a:rPr lang="zh-CN" altLang="en-US" dirty="0"/>
                  <a:t>还原律 </a:t>
                </a:r>
                <a:r>
                  <a:rPr lang="en-US" altLang="zh-CN" dirty="0"/>
                  <a:t>(T4) </a:t>
                </a:r>
                <a14:m>
                  <m:oMath xmlns:m="http://schemas.openxmlformats.org/officeDocument/2006/math">
                    <m:r>
                      <a:rPr lang="en-US" altLang="zh-CN" sz="2400">
                        <a:latin typeface="Cambria Math" panose="02040503050406030204" pitchFamily="18" charset="0"/>
                      </a:rPr>
                      <m:t> </m:t>
                    </m:r>
                    <m:acc>
                      <m:accPr>
                        <m:chr m:val="̿"/>
                        <m:ctrlPr>
                          <a:rPr lang="en-US" altLang="zh-CN" sz="2400" i="1">
                            <a:latin typeface="Cambria Math" panose="02040503050406030204" pitchFamily="18" charset="0"/>
                          </a:rPr>
                        </m:ctrlPr>
                      </m:accPr>
                      <m:e>
                        <m:r>
                          <a:rPr lang="en-US" altLang="zh-CN" sz="2400">
                            <a:latin typeface="Cambria Math" panose="02040503050406030204" pitchFamily="18" charset="0"/>
                          </a:rPr>
                          <m:t>𝐗</m:t>
                        </m:r>
                      </m:e>
                    </m:acc>
                  </m:oMath>
                </a14:m>
                <a:r>
                  <a:rPr lang="en-US" altLang="zh-CN" dirty="0"/>
                  <a:t> = X</a:t>
                </a:r>
                <a:endParaRPr lang="en-US" altLang="zh-CN" dirty="0"/>
              </a:p>
              <a:p>
                <a:pPr lvl="1"/>
                <a:r>
                  <a:rPr lang="zh-CN" altLang="en-US" dirty="0"/>
                  <a:t>互补律 </a:t>
                </a:r>
                <a:r>
                  <a:rPr lang="en-US" altLang="zh-CN" dirty="0"/>
                  <a:t>(T5) X+ </a:t>
                </a:r>
                <a14:m>
                  <m:oMath xmlns:m="http://schemas.openxmlformats.org/officeDocument/2006/math">
                    <m:acc>
                      <m:accPr>
                        <m:chr m:val="̅"/>
                        <m:ctrlPr>
                          <a:rPr lang="pt-BR" altLang="zh-CN" b="1" i="1" smtClean="0">
                            <a:latin typeface="Cambria Math" panose="02040503050406030204" pitchFamily="18" charset="0"/>
                          </a:rPr>
                        </m:ctrlPr>
                      </m:accPr>
                      <m:e>
                        <m:r>
                          <a:rPr lang="en-US" altLang="zh-CN" b="1" i="0" smtClean="0">
                            <a:latin typeface="Cambria Math" panose="02040503050406030204" pitchFamily="18" charset="0"/>
                          </a:rPr>
                          <m:t>𝐗</m:t>
                        </m:r>
                      </m:e>
                    </m:acc>
                  </m:oMath>
                </a14:m>
                <a:r>
                  <a:rPr lang="en-US" altLang="zh-CN" dirty="0"/>
                  <a:t>= 1         (T5D) X•</a:t>
                </a:r>
                <a14:m>
                  <m:oMath xmlns:m="http://schemas.openxmlformats.org/officeDocument/2006/math">
                    <m:acc>
                      <m:accPr>
                        <m:chr m:val="̅"/>
                        <m:ctrlPr>
                          <a:rPr lang="pt-BR" altLang="zh-CN" b="1" i="1">
                            <a:latin typeface="Cambria Math" panose="02040503050406030204" pitchFamily="18" charset="0"/>
                          </a:rPr>
                        </m:ctrlPr>
                      </m:accPr>
                      <m:e>
                        <m:r>
                          <a:rPr lang="en-US" altLang="zh-CN" b="1" i="0" smtClean="0">
                            <a:latin typeface="Cambria Math" panose="02040503050406030204" pitchFamily="18" charset="0"/>
                          </a:rPr>
                          <m:t>𝐗</m:t>
                        </m:r>
                      </m:e>
                    </m:acc>
                  </m:oMath>
                </a14:m>
                <a:r>
                  <a:rPr lang="en-US" altLang="zh-CN" dirty="0"/>
                  <a:t>= 0</a:t>
                </a:r>
                <a:endParaRPr lang="en-US" altLang="zh-CN" dirty="0"/>
              </a:p>
              <a:p>
                <a:endParaRPr lang="en-US" altLang="zh-CN" dirty="0"/>
              </a:p>
              <a:p>
                <a:r>
                  <a:rPr lang="zh-CN" altLang="en-US" dirty="0"/>
                  <a:t>可用完备归纳法证明</a:t>
                </a:r>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284773" y="915505"/>
                <a:ext cx="8523654" cy="3723005"/>
              </a:xfrm>
              <a:blipFill rotWithShape="1">
                <a:blip r:embed="rId1"/>
                <a:stretch>
                  <a:fillRect l="-3" t="-13" r="4" b="13"/>
                </a:stretch>
              </a:blipFill>
            </p:spPr>
            <p:txBody>
              <a:bodyPr/>
              <a:lstStyle/>
              <a:p>
                <a:r>
                  <a:rPr lang="zh-CN" altLang="en-US">
                    <a:noFill/>
                  </a:rPr>
                  <a:t> </a:t>
                </a:r>
              </a:p>
            </p:txBody>
          </p:sp>
        </mc:Fallback>
      </mc:AlternateContent>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定理</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247195" y="826641"/>
                <a:ext cx="8523654" cy="4858766"/>
              </a:xfrm>
            </p:spPr>
            <p:txBody>
              <a:bodyPr/>
              <a:lstStyle/>
              <a:p>
                <a:r>
                  <a:rPr lang="zh-CN" altLang="en-US" sz="2200" dirty="0"/>
                  <a:t>二变量和三变量定理</a:t>
                </a:r>
                <a:endParaRPr lang="en-US" altLang="zh-CN" sz="2200" dirty="0"/>
              </a:p>
              <a:p>
                <a:pPr lvl="1"/>
                <a:r>
                  <a:rPr lang="zh-CN" altLang="en-US" dirty="0"/>
                  <a:t>交换律 </a:t>
                </a:r>
                <a:r>
                  <a:rPr lang="en-US" altLang="zh-CN" dirty="0"/>
                  <a:t>(T6)  X+Y=Y+X           (T6D) X•Y=Y•X</a:t>
                </a:r>
                <a:endParaRPr lang="en-US" altLang="zh-CN" dirty="0"/>
              </a:p>
              <a:p>
                <a:pPr lvl="1"/>
                <a:r>
                  <a:rPr lang="zh-CN" altLang="en-US" dirty="0"/>
                  <a:t>结合律 </a:t>
                </a:r>
                <a:r>
                  <a:rPr lang="en-US" altLang="zh-CN" dirty="0"/>
                  <a:t>(T7)  (X+Y)+Z=X+(Y+Z) </a:t>
                </a:r>
                <a:endParaRPr lang="en-US" altLang="zh-CN" dirty="0"/>
              </a:p>
              <a:p>
                <a:pPr marL="344170" lvl="1" indent="0">
                  <a:buNone/>
                </a:pPr>
                <a:r>
                  <a:rPr lang="en-US" altLang="zh-CN" dirty="0"/>
                  <a:t>               (T7D)  (X•Y) •Z=X•(Y•Z)</a:t>
                </a:r>
                <a:endParaRPr lang="en-US" altLang="zh-CN" dirty="0"/>
              </a:p>
              <a:p>
                <a:pPr lvl="1"/>
                <a:r>
                  <a:rPr lang="zh-CN" altLang="en-US" dirty="0"/>
                  <a:t>分配律 </a:t>
                </a:r>
                <a:r>
                  <a:rPr lang="en-US" altLang="zh-CN" dirty="0"/>
                  <a:t>(T8)  X•Y +X•Z=X •(Y+Z)</a:t>
                </a:r>
                <a:endParaRPr lang="en-US" altLang="zh-CN" dirty="0"/>
              </a:p>
              <a:p>
                <a:pPr marL="344170" lvl="1" indent="0">
                  <a:buNone/>
                </a:pPr>
                <a:r>
                  <a:rPr lang="en-US" altLang="zh-CN" dirty="0"/>
                  <a:t>                (T8D) (X+Y) •(X+Z)=X+Y•Z</a:t>
                </a:r>
                <a:endParaRPr lang="en-US" altLang="zh-CN" dirty="0"/>
              </a:p>
              <a:p>
                <a:pPr lvl="1"/>
                <a:r>
                  <a:rPr lang="zh-CN" altLang="en-US" dirty="0"/>
                  <a:t>吸收律 </a:t>
                </a:r>
                <a:r>
                  <a:rPr lang="en-US" altLang="zh-CN" dirty="0"/>
                  <a:t>(T9)  X+ X•Y =X       (T9D) X•(X+Y)=X</a:t>
                </a:r>
                <a:endParaRPr lang="en-US" altLang="zh-CN" dirty="0"/>
              </a:p>
              <a:p>
                <a:pPr lvl="1"/>
                <a:r>
                  <a:rPr lang="zh-CN" altLang="en-US" dirty="0"/>
                  <a:t>组合律 </a:t>
                </a:r>
                <a:r>
                  <a:rPr lang="en-US" altLang="zh-CN" dirty="0"/>
                  <a:t>(T10) X•Y + X•</a:t>
                </a:r>
                <a14:m>
                  <m:oMath xmlns:m="http://schemas.openxmlformats.org/officeDocument/2006/math">
                    <m:acc>
                      <m:accPr>
                        <m:chr m:val="̅"/>
                        <m:ctrlPr>
                          <a:rPr lang="pt-BR" altLang="zh-CN" b="1" i="1">
                            <a:latin typeface="Cambria Math" panose="02040503050406030204" pitchFamily="18" charset="0"/>
                          </a:rPr>
                        </m:ctrlPr>
                      </m:accPr>
                      <m:e>
                        <m:r>
                          <a:rPr lang="en-US" altLang="zh-CN" b="1" i="1" smtClean="0">
                            <a:latin typeface="Cambria Math" panose="02040503050406030204" pitchFamily="18" charset="0"/>
                          </a:rPr>
                          <m:t>𝒀</m:t>
                        </m:r>
                      </m:e>
                    </m:acc>
                  </m:oMath>
                </a14:m>
                <a:r>
                  <a:rPr lang="en-US" altLang="zh-CN" dirty="0"/>
                  <a:t> =X  (T10D) (X+Y) •( X+</a:t>
                </a:r>
                <a14:m>
                  <m:oMath xmlns:m="http://schemas.openxmlformats.org/officeDocument/2006/math">
                    <m:acc>
                      <m:accPr>
                        <m:chr m:val="̅"/>
                        <m:ctrlPr>
                          <a:rPr lang="pt-BR" altLang="zh-CN" b="1" i="1">
                            <a:latin typeface="Cambria Math" panose="02040503050406030204" pitchFamily="18" charset="0"/>
                          </a:rPr>
                        </m:ctrlPr>
                      </m:accPr>
                      <m:e>
                        <m:r>
                          <a:rPr lang="en-US" altLang="zh-CN" b="1" i="0">
                            <a:latin typeface="Cambria Math" panose="02040503050406030204" pitchFamily="18" charset="0"/>
                          </a:rPr>
                          <m:t>𝐘</m:t>
                        </m:r>
                      </m:e>
                    </m:acc>
                  </m:oMath>
                </a14:m>
                <a:r>
                  <a:rPr lang="en-US" altLang="zh-CN" dirty="0"/>
                  <a:t>) =X </a:t>
                </a:r>
                <a:endParaRPr lang="en-US" altLang="zh-CN" dirty="0"/>
              </a:p>
              <a:p>
                <a:pPr lvl="1"/>
                <a:r>
                  <a:rPr lang="zh-CN" altLang="en-US" dirty="0"/>
                  <a:t>一致律  </a:t>
                </a:r>
                <a:r>
                  <a:rPr lang="en-US" altLang="zh-CN" dirty="0"/>
                  <a:t>(T11) X•Y+</a:t>
                </a:r>
                <a:r>
                  <a:rPr lang="pt-BR" altLang="zh-CN" b="1" dirty="0"/>
                  <a:t> </a:t>
                </a:r>
                <a14:m>
                  <m:oMath xmlns:m="http://schemas.openxmlformats.org/officeDocument/2006/math">
                    <m:acc>
                      <m:accPr>
                        <m:chr m:val="̅"/>
                        <m:ctrlPr>
                          <a:rPr lang="pt-BR" altLang="zh-CN" b="1" i="1">
                            <a:latin typeface="Cambria Math" panose="02040503050406030204" pitchFamily="18" charset="0"/>
                          </a:rPr>
                        </m:ctrlPr>
                      </m:accPr>
                      <m:e>
                        <m:r>
                          <a:rPr lang="en-US" altLang="zh-CN" b="1" i="0" smtClean="0">
                            <a:latin typeface="Cambria Math" panose="02040503050406030204" pitchFamily="18" charset="0"/>
                          </a:rPr>
                          <m:t>𝐗</m:t>
                        </m:r>
                      </m:e>
                    </m:acc>
                    <m:r>
                      <a:rPr lang="en-US" altLang="zh-CN" b="1" i="1">
                        <a:latin typeface="Cambria Math" panose="02040503050406030204" pitchFamily="18" charset="0"/>
                      </a:rPr>
                      <m:t> </m:t>
                    </m:r>
                  </m:oMath>
                </a14:m>
                <a:r>
                  <a:rPr lang="en-US" altLang="zh-CN" dirty="0"/>
                  <a:t>• Z+Y • Z =X • Y+</a:t>
                </a:r>
                <a:r>
                  <a:rPr lang="pt-BR" altLang="zh-CN" b="1" dirty="0"/>
                  <a:t> </a:t>
                </a:r>
                <a14:m>
                  <m:oMath xmlns:m="http://schemas.openxmlformats.org/officeDocument/2006/math">
                    <m:acc>
                      <m:accPr>
                        <m:chr m:val="̅"/>
                        <m:ctrlPr>
                          <a:rPr lang="pt-BR" altLang="zh-CN" b="1" i="1">
                            <a:latin typeface="Cambria Math" panose="02040503050406030204" pitchFamily="18" charset="0"/>
                          </a:rPr>
                        </m:ctrlPr>
                      </m:accPr>
                      <m:e>
                        <m:r>
                          <a:rPr lang="en-US" altLang="zh-CN" b="1" i="0">
                            <a:latin typeface="Cambria Math" panose="02040503050406030204" pitchFamily="18" charset="0"/>
                          </a:rPr>
                          <m:t>𝐗</m:t>
                        </m:r>
                      </m:e>
                    </m:acc>
                    <m:r>
                      <a:rPr lang="en-US" altLang="zh-CN" b="1" i="1">
                        <a:latin typeface="Cambria Math" panose="02040503050406030204" pitchFamily="18" charset="0"/>
                      </a:rPr>
                      <m:t> </m:t>
                    </m:r>
                  </m:oMath>
                </a14:m>
                <a:r>
                  <a:rPr lang="en-US" altLang="zh-CN" dirty="0"/>
                  <a:t>• Z</a:t>
                </a:r>
                <a:endParaRPr lang="en-US" altLang="zh-CN" dirty="0"/>
              </a:p>
              <a:p>
                <a:pPr marL="344170" lvl="1" indent="0">
                  <a:buNone/>
                </a:pPr>
                <a:r>
                  <a:rPr lang="en-US" altLang="zh-CN" dirty="0"/>
                  <a:t>                 (T11D) (X+Y) •(</a:t>
                </a:r>
                <a14:m>
                  <m:oMath xmlns:m="http://schemas.openxmlformats.org/officeDocument/2006/math">
                    <m:acc>
                      <m:accPr>
                        <m:chr m:val="̅"/>
                        <m:ctrlPr>
                          <a:rPr lang="pt-BR" altLang="zh-CN" b="1" i="1">
                            <a:latin typeface="Cambria Math" panose="02040503050406030204" pitchFamily="18" charset="0"/>
                          </a:rPr>
                        </m:ctrlPr>
                      </m:accPr>
                      <m:e>
                        <m:r>
                          <a:rPr lang="en-US" altLang="zh-CN" b="1" i="0">
                            <a:latin typeface="Cambria Math" panose="02040503050406030204" pitchFamily="18" charset="0"/>
                          </a:rPr>
                          <m:t>𝐗</m:t>
                        </m:r>
                      </m:e>
                    </m:acc>
                    <m:r>
                      <a:rPr lang="en-US" altLang="zh-CN" b="1" i="1">
                        <a:latin typeface="Cambria Math" panose="02040503050406030204" pitchFamily="18" charset="0"/>
                      </a:rPr>
                      <m:t> </m:t>
                    </m:r>
                  </m:oMath>
                </a14:m>
                <a:r>
                  <a:rPr lang="en-US" altLang="zh-CN" dirty="0"/>
                  <a:t>+Z) •(Y+Z)=(X+Y) •(</a:t>
                </a:r>
                <a14:m>
                  <m:oMath xmlns:m="http://schemas.openxmlformats.org/officeDocument/2006/math">
                    <m:acc>
                      <m:accPr>
                        <m:chr m:val="̅"/>
                        <m:ctrlPr>
                          <a:rPr lang="pt-BR" altLang="zh-CN" b="1" i="1">
                            <a:latin typeface="Cambria Math" panose="02040503050406030204" pitchFamily="18" charset="0"/>
                          </a:rPr>
                        </m:ctrlPr>
                      </m:accPr>
                      <m:e>
                        <m:r>
                          <a:rPr lang="en-US" altLang="zh-CN" b="1" i="0">
                            <a:latin typeface="Cambria Math" panose="02040503050406030204" pitchFamily="18" charset="0"/>
                          </a:rPr>
                          <m:t>𝐗</m:t>
                        </m:r>
                      </m:e>
                    </m:acc>
                    <m:r>
                      <a:rPr lang="en-US" altLang="zh-CN" b="1" i="1">
                        <a:latin typeface="Cambria Math" panose="02040503050406030204" pitchFamily="18" charset="0"/>
                      </a:rPr>
                      <m:t> </m:t>
                    </m:r>
                  </m:oMath>
                </a14:m>
                <a:r>
                  <a:rPr lang="en-US" altLang="zh-CN" dirty="0"/>
                  <a:t>+Z)</a:t>
                </a:r>
                <a:endParaRPr lang="en-US" altLang="zh-CN" dirty="0"/>
              </a:p>
              <a:p>
                <a:pPr marL="0" indent="0">
                  <a:buNone/>
                </a:pPr>
                <a:endParaRPr lang="en-US" altLang="zh-CN" sz="2200"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247195" y="826641"/>
                <a:ext cx="8523654" cy="4858766"/>
              </a:xfrm>
              <a:blipFill rotWithShape="1">
                <a:blip r:embed="rId1"/>
                <a:stretch>
                  <a:fillRect l="-2" t="-10" r="3" b="5"/>
                </a:stretch>
              </a:blipFill>
            </p:spPr>
            <p:txBody>
              <a:bodyPr/>
              <a:lstStyle/>
              <a:p>
                <a:r>
                  <a:rPr lang="zh-CN" altLang="en-US">
                    <a:noFill/>
                  </a:rPr>
                  <a:t> </a:t>
                </a:r>
              </a:p>
            </p:txBody>
          </p:sp>
        </mc:Fallback>
      </mc:AlternateContent>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7" name="矩形标注 6"/>
          <p:cNvSpPr/>
          <p:nvPr/>
        </p:nvSpPr>
        <p:spPr>
          <a:xfrm>
            <a:off x="6216398" y="2463936"/>
            <a:ext cx="1814317" cy="792088"/>
          </a:xfrm>
          <a:prstGeom prst="wedgeRectCallout">
            <a:avLst>
              <a:gd name="adj1" fmla="val -68512"/>
              <a:gd name="adj2" fmla="val 37053"/>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FF0000"/>
                </a:solidFill>
              </a:rPr>
              <a:t>与算术运算规则不同！</a:t>
            </a:r>
            <a:endParaRPr lang="zh-CN" altLang="en-US" sz="2400" dirty="0">
              <a:solidFill>
                <a:srgbClr val="FF0000"/>
              </a:solidFill>
            </a:endParaRPr>
          </a:p>
        </p:txBody>
      </p:sp>
      <p:sp>
        <p:nvSpPr>
          <p:cNvPr id="8" name="文本框 7"/>
          <p:cNvSpPr txBox="1"/>
          <p:nvPr/>
        </p:nvSpPr>
        <p:spPr>
          <a:xfrm>
            <a:off x="1000100" y="6206480"/>
            <a:ext cx="2895600"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zh-CN" altLang="en-US" sz="2400" dirty="0">
                <a:latin typeface="微软雅黑" panose="020B0503020204020204" pitchFamily="34" charset="-122"/>
                <a:ea typeface="微软雅黑" panose="020B0503020204020204" pitchFamily="34" charset="-122"/>
              </a:rPr>
              <a:t>称为一致项</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冗余项</a:t>
            </a:r>
            <a:endParaRPr lang="zh-CN" altLang="en-US" sz="2400" dirty="0">
              <a:latin typeface="微软雅黑" panose="020B0503020204020204" pitchFamily="34" charset="-122"/>
              <a:ea typeface="微软雅黑" panose="020B0503020204020204" pitchFamily="34" charset="-122"/>
            </a:endParaRPr>
          </a:p>
        </p:txBody>
      </p:sp>
      <p:cxnSp>
        <p:nvCxnSpPr>
          <p:cNvPr id="9" name="直接箭头连接符 8"/>
          <p:cNvCxnSpPr/>
          <p:nvPr/>
        </p:nvCxnSpPr>
        <p:spPr>
          <a:xfrm flipV="1">
            <a:off x="3253631" y="4710162"/>
            <a:ext cx="1488566" cy="1496319"/>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flipV="1">
            <a:off x="3895700" y="5144209"/>
            <a:ext cx="1692995" cy="1062271"/>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3887046" y="6206480"/>
            <a:ext cx="4524369"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zh-CN" altLang="en-US" sz="2400" dirty="0">
                <a:solidFill>
                  <a:srgbClr val="FF0000"/>
                </a:solidFill>
                <a:latin typeface="微软雅黑 Light" panose="020B0502040204020203" pitchFamily="34" charset="-122"/>
                <a:ea typeface="微软雅黑 Light" panose="020B0502040204020203" pitchFamily="34" charset="-122"/>
              </a:rPr>
              <a:t>在组合电路用来消除时序冒险。</a:t>
            </a:r>
            <a:endParaRPr lang="zh-CN" altLang="en-US" sz="2400" dirty="0">
              <a:solidFill>
                <a:srgbClr val="FF0000"/>
              </a:solidFill>
              <a:latin typeface="微软雅黑 Light" panose="020B0502040204020203" pitchFamily="34" charset="-122"/>
              <a:ea typeface="微软雅黑 Light" panose="020B0502040204020203" pitchFamily="34" charset="-122"/>
            </a:endParaRPr>
          </a:p>
        </p:txBody>
      </p:sp>
      <p:cxnSp>
        <p:nvCxnSpPr>
          <p:cNvPr id="11" name="直接连接符 10"/>
          <p:cNvCxnSpPr/>
          <p:nvPr/>
        </p:nvCxnSpPr>
        <p:spPr bwMode="auto">
          <a:xfrm>
            <a:off x="4421688" y="4716237"/>
            <a:ext cx="701457" cy="0"/>
          </a:xfrm>
          <a:prstGeom prst="line">
            <a:avLst/>
          </a:prstGeom>
          <a:noFill/>
          <a:ln w="28575" cap="flat" cmpd="sng" algn="ctr">
            <a:solidFill>
              <a:srgbClr val="FF0000"/>
            </a:solidFill>
            <a:prstDash val="solid"/>
            <a:round/>
            <a:headEnd type="none" w="med" len="med"/>
            <a:tailEnd type="none" w="med" len="med"/>
          </a:ln>
          <a:effectLst/>
        </p:spPr>
      </p:cxnSp>
      <p:cxnSp>
        <p:nvCxnSpPr>
          <p:cNvPr id="16" name="直接连接符 15"/>
          <p:cNvCxnSpPr/>
          <p:nvPr/>
        </p:nvCxnSpPr>
        <p:spPr bwMode="auto">
          <a:xfrm>
            <a:off x="5237967" y="5144209"/>
            <a:ext cx="701457" cy="0"/>
          </a:xfrm>
          <a:prstGeom prst="line">
            <a:avLst/>
          </a:prstGeom>
          <a:noFill/>
          <a:ln w="28575" cap="flat" cmpd="sng" algn="ctr">
            <a:solidFill>
              <a:srgbClr val="FF0000"/>
            </a:solidFill>
            <a:prstDash val="solid"/>
            <a:round/>
            <a:headEnd type="none" w="med" len="med"/>
            <a:tailEnd type="none" w="med" len="med"/>
          </a:ln>
          <a:effectLst/>
        </p:spPr>
      </p:cxn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定理</a:t>
            </a:r>
            <a:endParaRPr lang="zh-CN" altLang="en-US" dirty="0"/>
          </a:p>
        </p:txBody>
      </p:sp>
      <p:sp>
        <p:nvSpPr>
          <p:cNvPr id="3" name="内容占位符 2"/>
          <p:cNvSpPr>
            <a:spLocks noGrp="1"/>
          </p:cNvSpPr>
          <p:nvPr>
            <p:ph idx="1"/>
          </p:nvPr>
        </p:nvSpPr>
        <p:spPr>
          <a:xfrm>
            <a:off x="457200" y="1026896"/>
            <a:ext cx="6300592" cy="3843103"/>
          </a:xfrm>
        </p:spPr>
        <p:txBody>
          <a:bodyPr/>
          <a:lstStyle/>
          <a:p>
            <a:r>
              <a:rPr lang="zh-CN" altLang="en-US" sz="2200" dirty="0"/>
              <a:t>证明定理</a:t>
            </a:r>
            <a:r>
              <a:rPr lang="en-US" altLang="zh-CN" sz="2200" dirty="0"/>
              <a:t>T9</a:t>
            </a:r>
            <a:r>
              <a:rPr lang="zh-CN" altLang="en-US" sz="2200" dirty="0"/>
              <a:t>（方法有多种）</a:t>
            </a:r>
            <a:endParaRPr lang="en-US" altLang="zh-CN" sz="2200" dirty="0"/>
          </a:p>
          <a:p>
            <a:pPr marL="938530" lvl="3" indent="0">
              <a:buNone/>
            </a:pPr>
            <a:r>
              <a:rPr lang="es-ES" altLang="zh-CN" sz="2200" dirty="0"/>
              <a:t>X+X</a:t>
            </a:r>
            <a:r>
              <a:rPr lang="en-US" altLang="zh-CN" sz="2200" dirty="0"/>
              <a:t> • </a:t>
            </a:r>
            <a:r>
              <a:rPr lang="es-ES" altLang="zh-CN" sz="2200" dirty="0"/>
              <a:t>Y = X</a:t>
            </a:r>
            <a:r>
              <a:rPr lang="en-US" altLang="zh-CN" sz="2200" dirty="0"/>
              <a:t> • </a:t>
            </a:r>
            <a:r>
              <a:rPr lang="es-ES" altLang="zh-CN" sz="2200" dirty="0"/>
              <a:t>1+X</a:t>
            </a:r>
            <a:r>
              <a:rPr lang="en-US" altLang="zh-CN" sz="2200" dirty="0"/>
              <a:t> • </a:t>
            </a:r>
            <a:r>
              <a:rPr lang="es-ES" altLang="zh-CN" sz="2200" dirty="0"/>
              <a:t>Y</a:t>
            </a:r>
            <a:endParaRPr lang="es-ES" altLang="zh-CN" sz="2200" dirty="0"/>
          </a:p>
          <a:p>
            <a:pPr marL="2170430" lvl="6" indent="0">
              <a:buNone/>
            </a:pPr>
            <a:r>
              <a:rPr lang="en-US" altLang="zh-CN" sz="2200" b="1" dirty="0">
                <a:latin typeface="微软雅黑" panose="020B0503020204020204" pitchFamily="34" charset="-122"/>
                <a:ea typeface="微软雅黑" panose="020B0503020204020204" pitchFamily="34" charset="-122"/>
              </a:rPr>
              <a:t>= X • (1+Y)</a:t>
            </a:r>
            <a:endParaRPr lang="en-US" altLang="zh-CN" sz="2200" b="1" dirty="0">
              <a:latin typeface="微软雅黑" panose="020B0503020204020204" pitchFamily="34" charset="-122"/>
              <a:ea typeface="微软雅黑" panose="020B0503020204020204" pitchFamily="34" charset="-122"/>
            </a:endParaRPr>
          </a:p>
          <a:p>
            <a:pPr marL="2170430" lvl="6" indent="0">
              <a:buNone/>
            </a:pPr>
            <a:r>
              <a:rPr lang="en-US" altLang="zh-CN" sz="2200" b="1" dirty="0">
                <a:latin typeface="微软雅黑" panose="020B0503020204020204" pitchFamily="34" charset="-122"/>
                <a:ea typeface="微软雅黑" panose="020B0503020204020204" pitchFamily="34" charset="-122"/>
              </a:rPr>
              <a:t>= X • 1</a:t>
            </a:r>
            <a:endParaRPr lang="en-US" altLang="zh-CN" sz="2200" b="1" dirty="0">
              <a:latin typeface="微软雅黑" panose="020B0503020204020204" pitchFamily="34" charset="-122"/>
              <a:ea typeface="微软雅黑" panose="020B0503020204020204" pitchFamily="34" charset="-122"/>
            </a:endParaRPr>
          </a:p>
          <a:p>
            <a:pPr marL="2170430" lvl="6" indent="0">
              <a:buNone/>
            </a:pPr>
            <a:r>
              <a:rPr lang="en-US" altLang="zh-CN" sz="2200" b="1" dirty="0">
                <a:latin typeface="微软雅黑" panose="020B0503020204020204" pitchFamily="34" charset="-122"/>
                <a:ea typeface="微软雅黑" panose="020B0503020204020204" pitchFamily="34" charset="-122"/>
              </a:rPr>
              <a:t>=X</a:t>
            </a:r>
            <a:endParaRPr lang="en-US" altLang="zh-CN" sz="2200" b="1" dirty="0">
              <a:latin typeface="微软雅黑" panose="020B0503020204020204" pitchFamily="34" charset="-122"/>
              <a:ea typeface="微软雅黑" panose="020B0503020204020204" pitchFamily="34" charset="-122"/>
            </a:endParaRPr>
          </a:p>
          <a:p>
            <a:r>
              <a:rPr lang="zh-CN" altLang="en-US" sz="2200" dirty="0"/>
              <a:t>证明</a:t>
            </a:r>
            <a:r>
              <a:rPr lang="en-US" altLang="zh-CN" sz="2200" dirty="0"/>
              <a:t>T9D</a:t>
            </a:r>
            <a:r>
              <a:rPr lang="zh-CN" altLang="en-US" sz="2200" dirty="0"/>
              <a:t> </a:t>
            </a:r>
            <a:endParaRPr lang="en-US" altLang="zh-CN" sz="2200" dirty="0"/>
          </a:p>
          <a:p>
            <a:pPr marL="0" indent="0">
              <a:buNone/>
            </a:pPr>
            <a:r>
              <a:rPr lang="en-US" altLang="zh-CN" sz="2200" dirty="0"/>
              <a:t>	</a:t>
            </a:r>
            <a:r>
              <a:rPr lang="es-ES" altLang="zh-CN" sz="2200" dirty="0"/>
              <a:t>X</a:t>
            </a:r>
            <a:r>
              <a:rPr lang="en-US" altLang="zh-CN" sz="2200" dirty="0"/>
              <a:t> • </a:t>
            </a:r>
            <a:r>
              <a:rPr lang="es-ES" altLang="zh-CN" sz="2200" dirty="0"/>
              <a:t>(X+ Y) = X</a:t>
            </a:r>
            <a:r>
              <a:rPr lang="en-US" altLang="zh-CN" sz="2200" dirty="0"/>
              <a:t> • </a:t>
            </a:r>
            <a:r>
              <a:rPr lang="es-ES" altLang="zh-CN" sz="2200" dirty="0"/>
              <a:t>X+X</a:t>
            </a:r>
            <a:r>
              <a:rPr lang="en-US" altLang="zh-CN" sz="2200" dirty="0"/>
              <a:t> • </a:t>
            </a:r>
            <a:r>
              <a:rPr lang="es-ES" altLang="zh-CN" sz="2200" dirty="0"/>
              <a:t>Y</a:t>
            </a:r>
            <a:endParaRPr lang="es-ES" altLang="zh-CN" sz="2200" dirty="0"/>
          </a:p>
          <a:p>
            <a:pPr marL="0" indent="0">
              <a:buNone/>
            </a:pPr>
            <a:r>
              <a:rPr lang="es-ES" altLang="zh-CN" sz="2200" b="1" dirty="0">
                <a:latin typeface="微软雅黑" panose="020B0503020204020204" pitchFamily="34" charset="-122"/>
                <a:ea typeface="微软雅黑" panose="020B0503020204020204" pitchFamily="34" charset="-122"/>
              </a:rPr>
              <a:t>                             </a:t>
            </a:r>
            <a:r>
              <a:rPr lang="en-US" altLang="zh-CN" sz="2200" b="1" dirty="0">
                <a:latin typeface="微软雅黑" panose="020B0503020204020204" pitchFamily="34" charset="-122"/>
                <a:ea typeface="微软雅黑" panose="020B0503020204020204" pitchFamily="34" charset="-122"/>
              </a:rPr>
              <a:t>= X+ X •Y</a:t>
            </a:r>
            <a:endParaRPr lang="en-US" altLang="zh-CN" sz="2200" b="1" dirty="0">
              <a:latin typeface="微软雅黑" panose="020B0503020204020204" pitchFamily="34" charset="-122"/>
              <a:ea typeface="微软雅黑" panose="020B0503020204020204" pitchFamily="34" charset="-122"/>
            </a:endParaRPr>
          </a:p>
          <a:p>
            <a:pPr marL="0" indent="0">
              <a:buNone/>
            </a:pPr>
            <a:r>
              <a:rPr lang="en-US" altLang="zh-CN" sz="2200" dirty="0"/>
              <a:t>  		       </a:t>
            </a:r>
            <a:r>
              <a:rPr lang="en-US" altLang="zh-CN" sz="2200" b="1" dirty="0">
                <a:latin typeface="微软雅黑" panose="020B0503020204020204" pitchFamily="34" charset="-122"/>
                <a:ea typeface="微软雅黑" panose="020B0503020204020204" pitchFamily="34" charset="-122"/>
              </a:rPr>
              <a:t>= X</a:t>
            </a:r>
            <a:endParaRPr lang="zh-CN" altLang="en-US" sz="2200" b="1" dirty="0">
              <a:latin typeface="微软雅黑" panose="020B0503020204020204" pitchFamily="34" charset="-122"/>
              <a:ea typeface="微软雅黑" panose="020B0503020204020204" pitchFamily="34" charset="-122"/>
            </a:endParaRPr>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mc:AlternateContent xmlns:mc="http://schemas.openxmlformats.org/markup-compatibility/2006">
        <mc:Choice xmlns:a14="http://schemas.microsoft.com/office/drawing/2010/main" Requires="a14">
          <p:sp>
            <p:nvSpPr>
              <p:cNvPr id="9" name="矩形 8"/>
              <p:cNvSpPr/>
              <p:nvPr/>
            </p:nvSpPr>
            <p:spPr>
              <a:xfrm>
                <a:off x="489773" y="4950437"/>
                <a:ext cx="4572000" cy="1107996"/>
              </a:xfrm>
              <a:prstGeom prst="rect">
                <a:avLst/>
              </a:prstGeom>
            </p:spPr>
            <p:txBody>
              <a:bodyPr>
                <a:spAutoFit/>
              </a:bodyPr>
              <a:lstStyle/>
              <a:p>
                <a:pPr lvl="1"/>
                <a:r>
                  <a:rPr lang="zh-CN" altLang="en-US" sz="2200" dirty="0">
                    <a:solidFill>
                      <a:schemeClr val="accent2"/>
                    </a:solidFill>
                    <a:latin typeface="微软雅黑" panose="020B0503020204020204" pitchFamily="34" charset="-122"/>
                    <a:ea typeface="微软雅黑" panose="020B0503020204020204" pitchFamily="34" charset="-122"/>
                  </a:rPr>
                  <a:t>请证明以下公式：</a:t>
                </a:r>
                <a:endParaRPr lang="es-ES" altLang="zh-CN" sz="2200" dirty="0">
                  <a:solidFill>
                    <a:schemeClr val="accent2"/>
                  </a:solidFill>
                  <a:latin typeface="微软雅黑" panose="020B0503020204020204" pitchFamily="34" charset="-122"/>
                  <a:ea typeface="微软雅黑" panose="020B0503020204020204" pitchFamily="34" charset="-122"/>
                </a:endParaRPr>
              </a:p>
              <a:p>
                <a:pPr lvl="1"/>
                <a:r>
                  <a:rPr lang="es-ES" altLang="zh-CN" sz="2200" dirty="0">
                    <a:solidFill>
                      <a:schemeClr val="accent2"/>
                    </a:solidFill>
                    <a:latin typeface="微软雅黑" panose="020B0503020204020204" pitchFamily="34" charset="-122"/>
                    <a:ea typeface="微软雅黑" panose="020B0503020204020204" pitchFamily="34" charset="-122"/>
                  </a:rPr>
                  <a:t>    (a) X + </a:t>
                </a:r>
                <a14:m>
                  <m:oMath xmlns:m="http://schemas.openxmlformats.org/officeDocument/2006/math">
                    <m:acc>
                      <m:accPr>
                        <m:chr m:val="̅"/>
                        <m:ctrlPr>
                          <a:rPr lang="es-ES" altLang="zh-CN" sz="2200" i="1">
                            <a:solidFill>
                              <a:schemeClr val="accent2"/>
                            </a:solidFill>
                            <a:latin typeface="Cambria Math" panose="02040503050406030204" pitchFamily="18" charset="0"/>
                            <a:ea typeface="Cambria Math" panose="02040503050406030204" pitchFamily="18" charset="0"/>
                          </a:rPr>
                        </m:ctrlPr>
                      </m:accPr>
                      <m:e>
                        <m:r>
                          <m:rPr>
                            <m:sty m:val="p"/>
                          </m:rPr>
                          <a:rPr lang="en-US" altLang="zh-CN" sz="2200" i="0">
                            <a:solidFill>
                              <a:schemeClr val="accent2"/>
                            </a:solidFill>
                            <a:latin typeface="Cambria Math" panose="02040503050406030204" pitchFamily="18" charset="0"/>
                            <a:ea typeface="Cambria Math" panose="02040503050406030204" pitchFamily="18" charset="0"/>
                          </a:rPr>
                          <m:t>X</m:t>
                        </m:r>
                      </m:e>
                    </m:acc>
                  </m:oMath>
                </a14:m>
                <a:r>
                  <a:rPr lang="en-US" altLang="zh-CN" sz="2200" dirty="0">
                    <a:solidFill>
                      <a:schemeClr val="accent2"/>
                    </a:solidFill>
                    <a:latin typeface="微软雅黑" panose="020B0503020204020204" pitchFamily="34" charset="-122"/>
                    <a:ea typeface="微软雅黑" panose="020B0503020204020204" pitchFamily="34" charset="-122"/>
                  </a:rPr>
                  <a:t>•</a:t>
                </a:r>
                <a:r>
                  <a:rPr lang="es-ES" altLang="zh-CN" sz="2200" dirty="0">
                    <a:solidFill>
                      <a:schemeClr val="accent2"/>
                    </a:solidFill>
                    <a:latin typeface="微软雅黑" panose="020B0503020204020204" pitchFamily="34" charset="-122"/>
                    <a:ea typeface="微软雅黑" panose="020B0503020204020204" pitchFamily="34" charset="-122"/>
                  </a:rPr>
                  <a:t>Y= X+Y</a:t>
                </a:r>
                <a:endParaRPr lang="es-ES" altLang="zh-CN" sz="2200" dirty="0">
                  <a:solidFill>
                    <a:schemeClr val="accent2"/>
                  </a:solidFill>
                  <a:latin typeface="微软雅黑" panose="020B0503020204020204" pitchFamily="34" charset="-122"/>
                  <a:ea typeface="微软雅黑" panose="020B0503020204020204" pitchFamily="34" charset="-122"/>
                </a:endParaRPr>
              </a:p>
              <a:p>
                <a:pPr lvl="1"/>
                <a:r>
                  <a:rPr lang="en-US" altLang="zh-CN" sz="2200" dirty="0">
                    <a:solidFill>
                      <a:schemeClr val="accent2"/>
                    </a:solidFill>
                    <a:latin typeface="微软雅黑" panose="020B0503020204020204" pitchFamily="34" charset="-122"/>
                    <a:ea typeface="微软雅黑" panose="020B0503020204020204" pitchFamily="34" charset="-122"/>
                  </a:rPr>
                  <a:t>    (b) X•(</a:t>
                </a:r>
                <a14:m>
                  <m:oMath xmlns:m="http://schemas.openxmlformats.org/officeDocument/2006/math">
                    <m:acc>
                      <m:accPr>
                        <m:chr m:val="̅"/>
                        <m:ctrlPr>
                          <a:rPr lang="es-ES" altLang="zh-CN" sz="2200" i="1">
                            <a:solidFill>
                              <a:schemeClr val="accent2"/>
                            </a:solidFill>
                            <a:latin typeface="Cambria Math" panose="02040503050406030204" pitchFamily="18" charset="0"/>
                            <a:ea typeface="Cambria Math" panose="02040503050406030204" pitchFamily="18" charset="0"/>
                          </a:rPr>
                        </m:ctrlPr>
                      </m:accPr>
                      <m:e>
                        <m:r>
                          <m:rPr>
                            <m:sty m:val="p"/>
                          </m:rPr>
                          <a:rPr lang="en-US" altLang="zh-CN" sz="2200" i="0">
                            <a:solidFill>
                              <a:schemeClr val="accent2"/>
                            </a:solidFill>
                            <a:latin typeface="Cambria Math" panose="02040503050406030204" pitchFamily="18" charset="0"/>
                            <a:ea typeface="Cambria Math" panose="02040503050406030204" pitchFamily="18" charset="0"/>
                          </a:rPr>
                          <m:t>X</m:t>
                        </m:r>
                      </m:e>
                    </m:acc>
                  </m:oMath>
                </a14:m>
                <a:r>
                  <a:rPr lang="en-US" altLang="zh-CN" sz="2200" dirty="0">
                    <a:solidFill>
                      <a:schemeClr val="accent2"/>
                    </a:solidFill>
                    <a:latin typeface="微软雅黑" panose="020B0503020204020204" pitchFamily="34" charset="-122"/>
                    <a:ea typeface="微软雅黑" panose="020B0503020204020204" pitchFamily="34" charset="-122"/>
                  </a:rPr>
                  <a:t>+ Y) = X•Y</a:t>
                </a:r>
                <a:endParaRPr lang="en-US" altLang="zh-CN" sz="2200" dirty="0">
                  <a:solidFill>
                    <a:schemeClr val="accent2"/>
                  </a:solidFill>
                  <a:latin typeface="微软雅黑" panose="020B0503020204020204" pitchFamily="34" charset="-122"/>
                  <a:ea typeface="微软雅黑" panose="020B0503020204020204" pitchFamily="34" charset="-122"/>
                </a:endParaRPr>
              </a:p>
            </p:txBody>
          </p:sp>
        </mc:Choice>
        <mc:Fallback>
          <p:sp>
            <p:nvSpPr>
              <p:cNvPr id="9" name="矩形 8"/>
              <p:cNvSpPr>
                <a:spLocks noRot="1" noChangeAspect="1" noMove="1" noResize="1" noEditPoints="1" noAdjustHandles="1" noChangeArrowheads="1" noChangeShapeType="1" noTextEdit="1"/>
              </p:cNvSpPr>
              <p:nvPr/>
            </p:nvSpPr>
            <p:spPr>
              <a:xfrm>
                <a:off x="489773" y="4950437"/>
                <a:ext cx="4572000" cy="1107996"/>
              </a:xfrm>
              <a:prstGeom prst="rect">
                <a:avLst/>
              </a:prstGeom>
              <a:blipFill rotWithShape="1">
                <a:blip r:embed="rId1"/>
                <a:stretch>
                  <a:fillRect l="-4" t="-55" r="4" b="48"/>
                </a:stretch>
              </a:blipFill>
            </p:spPr>
            <p:txBody>
              <a:bodyPr/>
              <a:lstStyle/>
              <a:p>
                <a:r>
                  <a:rPr lang="zh-CN" altLang="en-US">
                    <a:noFill/>
                  </a:rPr>
                  <a:t> </a:t>
                </a:r>
              </a:p>
            </p:txBody>
          </p:sp>
        </mc:Fallback>
      </mc:AlternateContent>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定理</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284773" y="915505"/>
                <a:ext cx="8523654" cy="5332229"/>
              </a:xfrm>
            </p:spPr>
            <p:txBody>
              <a:bodyPr/>
              <a:lstStyle/>
              <a:p>
                <a:r>
                  <a:rPr lang="en-US" altLang="zh-CN" sz="2200" dirty="0">
                    <a:latin typeface="+mj-ea"/>
                    <a:ea typeface="+mj-ea"/>
                  </a:rPr>
                  <a:t>n</a:t>
                </a:r>
                <a:r>
                  <a:rPr lang="zh-CN" altLang="en-US" sz="2200" dirty="0">
                    <a:latin typeface="+mj-ea"/>
                    <a:ea typeface="+mj-ea"/>
                  </a:rPr>
                  <a:t>变量定理</a:t>
                </a:r>
                <a:endParaRPr lang="en-US" altLang="zh-CN" sz="2200" dirty="0">
                  <a:latin typeface="+mj-ea"/>
                  <a:ea typeface="+mj-ea"/>
                </a:endParaRPr>
              </a:p>
              <a:p>
                <a:pPr lvl="1"/>
                <a:r>
                  <a:rPr lang="zh-CN" altLang="en-US" dirty="0">
                    <a:latin typeface="+mj-ea"/>
                    <a:ea typeface="+mj-ea"/>
                  </a:rPr>
                  <a:t>广义同一律 </a:t>
                </a:r>
                <a:r>
                  <a:rPr lang="en-US" altLang="zh-CN" dirty="0">
                    <a:latin typeface="+mj-ea"/>
                    <a:ea typeface="+mj-ea"/>
                  </a:rPr>
                  <a:t>(T12)      X+X+…+X=X</a:t>
                </a:r>
                <a:endParaRPr lang="en-US" altLang="zh-CN" dirty="0">
                  <a:latin typeface="+mj-ea"/>
                  <a:ea typeface="+mj-ea"/>
                </a:endParaRPr>
              </a:p>
              <a:p>
                <a:pPr marL="344170" lvl="1" indent="0">
                  <a:buNone/>
                </a:pPr>
                <a:r>
                  <a:rPr lang="en-US" altLang="zh-CN" dirty="0">
                    <a:latin typeface="+mj-ea"/>
                    <a:ea typeface="+mj-ea"/>
                  </a:rPr>
                  <a:t>                      (T12D)   X •X • …•X = X</a:t>
                </a:r>
                <a:endParaRPr lang="en-US" altLang="zh-CN" dirty="0">
                  <a:latin typeface="+mj-ea"/>
                  <a:ea typeface="+mj-ea"/>
                </a:endParaRPr>
              </a:p>
              <a:p>
                <a:pPr lvl="1"/>
                <a:r>
                  <a:rPr lang="zh-CN" altLang="en-US" dirty="0">
                    <a:latin typeface="+mj-ea"/>
                    <a:ea typeface="+mj-ea"/>
                  </a:rPr>
                  <a:t>德</a:t>
                </a:r>
                <a:r>
                  <a:rPr lang="en-US" altLang="zh-CN" dirty="0">
                    <a:latin typeface="+mj-ea"/>
                    <a:ea typeface="+mj-ea"/>
                  </a:rPr>
                  <a:t>•</a:t>
                </a:r>
                <a:r>
                  <a:rPr lang="zh-CN" altLang="en-US" dirty="0">
                    <a:latin typeface="+mj-ea"/>
                    <a:ea typeface="+mj-ea"/>
                  </a:rPr>
                  <a:t>摩根定理</a:t>
                </a:r>
                <a:r>
                  <a:rPr lang="en-US" altLang="zh-CN" dirty="0">
                    <a:latin typeface="+mj-ea"/>
                    <a:ea typeface="+mj-ea"/>
                  </a:rPr>
                  <a:t>De Morgan’s Theorem</a:t>
                </a:r>
                <a:endParaRPr lang="en-US" altLang="zh-CN" dirty="0">
                  <a:latin typeface="+mj-ea"/>
                  <a:ea typeface="+mj-ea"/>
                </a:endParaRPr>
              </a:p>
              <a:p>
                <a:pPr marL="344170" lvl="1" indent="0">
                  <a:buNone/>
                </a:pPr>
                <a:r>
                  <a:rPr lang="en-US" altLang="zh-CN" dirty="0">
                    <a:latin typeface="+mj-ea"/>
                    <a:ea typeface="+mj-ea"/>
                  </a:rPr>
                  <a:t>     (T13)     </a:t>
                </a:r>
                <a14:m>
                  <m:oMath xmlns:m="http://schemas.openxmlformats.org/officeDocument/2006/math">
                    <m:acc>
                      <m:accPr>
                        <m:chr m:val="̅"/>
                        <m:ctrlPr>
                          <a:rPr lang="en-US" altLang="zh-CN" i="1">
                            <a:latin typeface="Cambria Math" panose="02040503050406030204" pitchFamily="18" charset="0"/>
                            <a:ea typeface="+mj-ea"/>
                          </a:rPr>
                        </m:ctrlPr>
                      </m:accPr>
                      <m:e>
                        <m:sSub>
                          <m:sSubPr>
                            <m:ctrlPr>
                              <a:rPr lang="en-US" altLang="zh-CN" i="1">
                                <a:latin typeface="Cambria Math" panose="02040503050406030204" pitchFamily="18" charset="0"/>
                                <a:ea typeface="+mj-ea"/>
                              </a:rPr>
                            </m:ctrlPr>
                          </m:sSubPr>
                          <m:e>
                            <m:r>
                              <m:rPr>
                                <m:sty m:val="p"/>
                              </m:rPr>
                              <a:rPr lang="en-US" altLang="zh-CN" i="0">
                                <a:latin typeface="Cambria Math" panose="02040503050406030204" pitchFamily="18" charset="0"/>
                                <a:ea typeface="+mj-ea"/>
                              </a:rPr>
                              <m:t>X</m:t>
                            </m:r>
                          </m:e>
                          <m:sub>
                            <m:r>
                              <a:rPr lang="en-US" altLang="zh-CN" i="0">
                                <a:latin typeface="Cambria Math" panose="02040503050406030204" pitchFamily="18" charset="0"/>
                                <a:ea typeface="+mj-ea"/>
                              </a:rPr>
                              <m:t>1</m:t>
                            </m:r>
                          </m:sub>
                        </m:sSub>
                        <m:r>
                          <a:rPr lang="en-US" altLang="zh-CN" i="0">
                            <a:latin typeface="Cambria Math" panose="02040503050406030204" pitchFamily="18" charset="0"/>
                            <a:ea typeface="+mj-ea"/>
                          </a:rPr>
                          <m:t>∙</m:t>
                        </m:r>
                        <m:sSub>
                          <m:sSubPr>
                            <m:ctrlPr>
                              <a:rPr lang="en-US" altLang="zh-CN" i="1">
                                <a:latin typeface="Cambria Math" panose="02040503050406030204" pitchFamily="18" charset="0"/>
                                <a:ea typeface="+mj-ea"/>
                              </a:rPr>
                            </m:ctrlPr>
                          </m:sSubPr>
                          <m:e>
                            <m:r>
                              <m:rPr>
                                <m:sty m:val="p"/>
                              </m:rPr>
                              <a:rPr lang="en-US" altLang="zh-CN" i="0">
                                <a:latin typeface="Cambria Math" panose="02040503050406030204" pitchFamily="18" charset="0"/>
                                <a:ea typeface="+mj-ea"/>
                              </a:rPr>
                              <m:t>X</m:t>
                            </m:r>
                          </m:e>
                          <m:sub>
                            <m:r>
                              <a:rPr lang="en-US" altLang="zh-CN" i="0">
                                <a:latin typeface="Cambria Math" panose="02040503050406030204" pitchFamily="18" charset="0"/>
                                <a:ea typeface="+mj-ea"/>
                              </a:rPr>
                              <m:t>2</m:t>
                            </m:r>
                          </m:sub>
                        </m:sSub>
                        <m:r>
                          <a:rPr lang="en-US" altLang="zh-CN" i="0">
                            <a:latin typeface="Cambria Math" panose="02040503050406030204" pitchFamily="18" charset="0"/>
                            <a:ea typeface="+mj-ea"/>
                          </a:rPr>
                          <m:t>∙⋯∙</m:t>
                        </m:r>
                        <m:sSub>
                          <m:sSubPr>
                            <m:ctrlPr>
                              <a:rPr lang="en-US" altLang="zh-CN" i="1">
                                <a:latin typeface="Cambria Math" panose="02040503050406030204" pitchFamily="18" charset="0"/>
                                <a:ea typeface="+mj-ea"/>
                              </a:rPr>
                            </m:ctrlPr>
                          </m:sSubPr>
                          <m:e>
                            <m:r>
                              <m:rPr>
                                <m:sty m:val="p"/>
                              </m:rPr>
                              <a:rPr lang="en-US" altLang="zh-CN" i="0">
                                <a:latin typeface="Cambria Math" panose="02040503050406030204" pitchFamily="18" charset="0"/>
                                <a:ea typeface="+mj-ea"/>
                              </a:rPr>
                              <m:t>X</m:t>
                            </m:r>
                          </m:e>
                          <m:sub>
                            <m:r>
                              <m:rPr>
                                <m:sty m:val="p"/>
                              </m:rPr>
                              <a:rPr lang="en-US" altLang="zh-CN" i="0">
                                <a:latin typeface="Cambria Math" panose="02040503050406030204" pitchFamily="18" charset="0"/>
                                <a:ea typeface="+mj-ea"/>
                              </a:rPr>
                              <m:t>n</m:t>
                            </m:r>
                          </m:sub>
                        </m:sSub>
                      </m:e>
                    </m:acc>
                    <m:r>
                      <a:rPr lang="en-US" altLang="zh-CN">
                        <a:latin typeface="Cambria Math" panose="02040503050406030204" pitchFamily="18" charset="0"/>
                        <a:ea typeface="+mj-ea"/>
                      </a:rPr>
                      <m:t>=</m:t>
                    </m:r>
                    <m:acc>
                      <m:accPr>
                        <m:chr m:val="̅"/>
                        <m:ctrlPr>
                          <a:rPr lang="en-US" altLang="zh-CN" i="1">
                            <a:latin typeface="Cambria Math" panose="02040503050406030204" pitchFamily="18" charset="0"/>
                            <a:ea typeface="+mj-ea"/>
                          </a:rPr>
                        </m:ctrlPr>
                      </m:accPr>
                      <m:e>
                        <m:sSub>
                          <m:sSubPr>
                            <m:ctrlPr>
                              <a:rPr lang="en-US" altLang="zh-CN" i="1">
                                <a:latin typeface="Cambria Math" panose="02040503050406030204" pitchFamily="18" charset="0"/>
                                <a:ea typeface="+mj-ea"/>
                              </a:rPr>
                            </m:ctrlPr>
                          </m:sSubPr>
                          <m:e>
                            <m:r>
                              <m:rPr>
                                <m:sty m:val="p"/>
                              </m:rPr>
                              <a:rPr lang="en-US" altLang="zh-CN" i="0">
                                <a:latin typeface="Cambria Math" panose="02040503050406030204" pitchFamily="18" charset="0"/>
                                <a:ea typeface="+mj-ea"/>
                              </a:rPr>
                              <m:t>X</m:t>
                            </m:r>
                          </m:e>
                          <m:sub>
                            <m:r>
                              <a:rPr lang="en-US" altLang="zh-CN" i="0">
                                <a:latin typeface="Cambria Math" panose="02040503050406030204" pitchFamily="18" charset="0"/>
                                <a:ea typeface="+mj-ea"/>
                              </a:rPr>
                              <m:t>1</m:t>
                            </m:r>
                          </m:sub>
                        </m:sSub>
                      </m:e>
                    </m:acc>
                    <m:r>
                      <a:rPr lang="en-US" altLang="zh-CN" i="0">
                        <a:latin typeface="Cambria Math" panose="02040503050406030204" pitchFamily="18" charset="0"/>
                        <a:ea typeface="+mj-ea"/>
                      </a:rPr>
                      <m:t>+</m:t>
                    </m:r>
                    <m:acc>
                      <m:accPr>
                        <m:chr m:val="̅"/>
                        <m:ctrlPr>
                          <a:rPr lang="en-US" altLang="zh-CN" i="1">
                            <a:latin typeface="Cambria Math" panose="02040503050406030204" pitchFamily="18" charset="0"/>
                            <a:ea typeface="+mj-ea"/>
                          </a:rPr>
                        </m:ctrlPr>
                      </m:accPr>
                      <m:e>
                        <m:sSub>
                          <m:sSubPr>
                            <m:ctrlPr>
                              <a:rPr lang="en-US" altLang="zh-CN" i="1">
                                <a:latin typeface="Cambria Math" panose="02040503050406030204" pitchFamily="18" charset="0"/>
                                <a:ea typeface="+mj-ea"/>
                              </a:rPr>
                            </m:ctrlPr>
                          </m:sSubPr>
                          <m:e>
                            <m:r>
                              <m:rPr>
                                <m:sty m:val="p"/>
                              </m:rPr>
                              <a:rPr lang="en-US" altLang="zh-CN" i="0">
                                <a:latin typeface="Cambria Math" panose="02040503050406030204" pitchFamily="18" charset="0"/>
                                <a:ea typeface="+mj-ea"/>
                              </a:rPr>
                              <m:t>X</m:t>
                            </m:r>
                          </m:e>
                          <m:sub>
                            <m:r>
                              <a:rPr lang="en-US" altLang="zh-CN" i="0">
                                <a:latin typeface="Cambria Math" panose="02040503050406030204" pitchFamily="18" charset="0"/>
                                <a:ea typeface="+mj-ea"/>
                              </a:rPr>
                              <m:t>2</m:t>
                            </m:r>
                          </m:sub>
                        </m:sSub>
                      </m:e>
                    </m:acc>
                    <m:r>
                      <a:rPr lang="en-US" altLang="zh-CN" i="0">
                        <a:latin typeface="Cambria Math" panose="02040503050406030204" pitchFamily="18" charset="0"/>
                        <a:ea typeface="+mj-ea"/>
                      </a:rPr>
                      <m:t>+⋯+</m:t>
                    </m:r>
                    <m:acc>
                      <m:accPr>
                        <m:chr m:val="̅"/>
                        <m:ctrlPr>
                          <a:rPr lang="en-US" altLang="zh-CN" i="1">
                            <a:latin typeface="Cambria Math" panose="02040503050406030204" pitchFamily="18" charset="0"/>
                            <a:ea typeface="+mj-ea"/>
                          </a:rPr>
                        </m:ctrlPr>
                      </m:accPr>
                      <m:e>
                        <m:sSub>
                          <m:sSubPr>
                            <m:ctrlPr>
                              <a:rPr lang="en-US" altLang="zh-CN" i="1">
                                <a:latin typeface="Cambria Math" panose="02040503050406030204" pitchFamily="18" charset="0"/>
                                <a:ea typeface="+mj-ea"/>
                              </a:rPr>
                            </m:ctrlPr>
                          </m:sSubPr>
                          <m:e>
                            <m:r>
                              <m:rPr>
                                <m:sty m:val="p"/>
                              </m:rPr>
                              <a:rPr lang="en-US" altLang="zh-CN" i="0">
                                <a:latin typeface="Cambria Math" panose="02040503050406030204" pitchFamily="18" charset="0"/>
                                <a:ea typeface="+mj-ea"/>
                              </a:rPr>
                              <m:t>X</m:t>
                            </m:r>
                          </m:e>
                          <m:sub>
                            <m:r>
                              <m:rPr>
                                <m:sty m:val="p"/>
                              </m:rPr>
                              <a:rPr lang="en-US" altLang="zh-CN" i="0">
                                <a:latin typeface="Cambria Math" panose="02040503050406030204" pitchFamily="18" charset="0"/>
                                <a:ea typeface="+mj-ea"/>
                              </a:rPr>
                              <m:t>n</m:t>
                            </m:r>
                          </m:sub>
                        </m:sSub>
                      </m:e>
                    </m:acc>
                  </m:oMath>
                </a14:m>
                <a:endParaRPr lang="en-US" altLang="zh-CN" dirty="0">
                  <a:latin typeface="+mj-ea"/>
                  <a:ea typeface="+mj-ea"/>
                </a:endParaRPr>
              </a:p>
              <a:p>
                <a:pPr marL="344170" lvl="1" indent="0">
                  <a:buNone/>
                </a:pPr>
                <a:r>
                  <a:rPr lang="en-US" altLang="zh-CN" dirty="0">
                    <a:latin typeface="+mj-ea"/>
                    <a:ea typeface="+mj-ea"/>
                  </a:rPr>
                  <a:t>     (T13D)   </a:t>
                </a:r>
                <a14:m>
                  <m:oMath xmlns:m="http://schemas.openxmlformats.org/officeDocument/2006/math">
                    <m:acc>
                      <m:accPr>
                        <m:chr m:val="̅"/>
                        <m:ctrlPr>
                          <a:rPr lang="en-US" altLang="zh-CN" i="1">
                            <a:latin typeface="Cambria Math" panose="02040503050406030204" pitchFamily="18" charset="0"/>
                            <a:ea typeface="+mj-ea"/>
                          </a:rPr>
                        </m:ctrlPr>
                      </m:accPr>
                      <m:e>
                        <m:sSub>
                          <m:sSubPr>
                            <m:ctrlPr>
                              <a:rPr lang="en-US" altLang="zh-CN" i="1">
                                <a:latin typeface="Cambria Math" panose="02040503050406030204" pitchFamily="18" charset="0"/>
                                <a:ea typeface="+mj-ea"/>
                              </a:rPr>
                            </m:ctrlPr>
                          </m:sSubPr>
                          <m:e>
                            <m:r>
                              <m:rPr>
                                <m:sty m:val="p"/>
                              </m:rPr>
                              <a:rPr lang="en-US" altLang="zh-CN" i="0">
                                <a:latin typeface="Cambria Math" panose="02040503050406030204" pitchFamily="18" charset="0"/>
                                <a:ea typeface="+mj-ea"/>
                              </a:rPr>
                              <m:t>X</m:t>
                            </m:r>
                          </m:e>
                          <m:sub>
                            <m:r>
                              <a:rPr lang="en-US" altLang="zh-CN" i="0">
                                <a:latin typeface="Cambria Math" panose="02040503050406030204" pitchFamily="18" charset="0"/>
                                <a:ea typeface="+mj-ea"/>
                              </a:rPr>
                              <m:t>1</m:t>
                            </m:r>
                          </m:sub>
                        </m:sSub>
                        <m:r>
                          <a:rPr lang="en-US" altLang="zh-CN" i="0">
                            <a:latin typeface="Cambria Math" panose="02040503050406030204" pitchFamily="18" charset="0"/>
                            <a:ea typeface="+mj-ea"/>
                          </a:rPr>
                          <m:t>+</m:t>
                        </m:r>
                        <m:sSub>
                          <m:sSubPr>
                            <m:ctrlPr>
                              <a:rPr lang="en-US" altLang="zh-CN" i="1">
                                <a:latin typeface="Cambria Math" panose="02040503050406030204" pitchFamily="18" charset="0"/>
                                <a:ea typeface="+mj-ea"/>
                              </a:rPr>
                            </m:ctrlPr>
                          </m:sSubPr>
                          <m:e>
                            <m:r>
                              <m:rPr>
                                <m:sty m:val="p"/>
                              </m:rPr>
                              <a:rPr lang="en-US" altLang="zh-CN" i="0">
                                <a:latin typeface="Cambria Math" panose="02040503050406030204" pitchFamily="18" charset="0"/>
                                <a:ea typeface="+mj-ea"/>
                              </a:rPr>
                              <m:t>X</m:t>
                            </m:r>
                          </m:e>
                          <m:sub>
                            <m:r>
                              <a:rPr lang="en-US" altLang="zh-CN" i="0">
                                <a:latin typeface="Cambria Math" panose="02040503050406030204" pitchFamily="18" charset="0"/>
                                <a:ea typeface="+mj-ea"/>
                              </a:rPr>
                              <m:t>2</m:t>
                            </m:r>
                          </m:sub>
                        </m:sSub>
                        <m:r>
                          <a:rPr lang="en-US" altLang="zh-CN" i="0">
                            <a:latin typeface="Cambria Math" panose="02040503050406030204" pitchFamily="18" charset="0"/>
                            <a:ea typeface="+mj-ea"/>
                          </a:rPr>
                          <m:t>+⋯+</m:t>
                        </m:r>
                        <m:sSub>
                          <m:sSubPr>
                            <m:ctrlPr>
                              <a:rPr lang="en-US" altLang="zh-CN" i="1">
                                <a:latin typeface="Cambria Math" panose="02040503050406030204" pitchFamily="18" charset="0"/>
                                <a:ea typeface="+mj-ea"/>
                              </a:rPr>
                            </m:ctrlPr>
                          </m:sSubPr>
                          <m:e>
                            <m:r>
                              <m:rPr>
                                <m:sty m:val="p"/>
                              </m:rPr>
                              <a:rPr lang="en-US" altLang="zh-CN" i="0">
                                <a:latin typeface="Cambria Math" panose="02040503050406030204" pitchFamily="18" charset="0"/>
                                <a:ea typeface="+mj-ea"/>
                              </a:rPr>
                              <m:t>X</m:t>
                            </m:r>
                          </m:e>
                          <m:sub>
                            <m:r>
                              <m:rPr>
                                <m:sty m:val="p"/>
                              </m:rPr>
                              <a:rPr lang="en-US" altLang="zh-CN" i="0">
                                <a:latin typeface="Cambria Math" panose="02040503050406030204" pitchFamily="18" charset="0"/>
                                <a:ea typeface="+mj-ea"/>
                              </a:rPr>
                              <m:t>n</m:t>
                            </m:r>
                          </m:sub>
                        </m:sSub>
                      </m:e>
                    </m:acc>
                    <m:r>
                      <a:rPr lang="en-US" altLang="zh-CN" i="0">
                        <a:latin typeface="Cambria Math" panose="02040503050406030204" pitchFamily="18" charset="0"/>
                        <a:ea typeface="+mj-ea"/>
                      </a:rPr>
                      <m:t>=</m:t>
                    </m:r>
                    <m:acc>
                      <m:accPr>
                        <m:chr m:val="̅"/>
                        <m:ctrlPr>
                          <a:rPr lang="en-US" altLang="zh-CN" i="1">
                            <a:latin typeface="Cambria Math" panose="02040503050406030204" pitchFamily="18" charset="0"/>
                            <a:ea typeface="+mj-ea"/>
                          </a:rPr>
                        </m:ctrlPr>
                      </m:accPr>
                      <m:e>
                        <m:sSub>
                          <m:sSubPr>
                            <m:ctrlPr>
                              <a:rPr lang="en-US" altLang="zh-CN" i="1">
                                <a:latin typeface="Cambria Math" panose="02040503050406030204" pitchFamily="18" charset="0"/>
                                <a:ea typeface="+mj-ea"/>
                              </a:rPr>
                            </m:ctrlPr>
                          </m:sSubPr>
                          <m:e>
                            <m:r>
                              <m:rPr>
                                <m:sty m:val="p"/>
                              </m:rPr>
                              <a:rPr lang="en-US" altLang="zh-CN" i="0">
                                <a:latin typeface="Cambria Math" panose="02040503050406030204" pitchFamily="18" charset="0"/>
                                <a:ea typeface="+mj-ea"/>
                              </a:rPr>
                              <m:t>X</m:t>
                            </m:r>
                          </m:e>
                          <m:sub>
                            <m:r>
                              <a:rPr lang="en-US" altLang="zh-CN" i="0">
                                <a:latin typeface="Cambria Math" panose="02040503050406030204" pitchFamily="18" charset="0"/>
                                <a:ea typeface="+mj-ea"/>
                              </a:rPr>
                              <m:t>1</m:t>
                            </m:r>
                          </m:sub>
                        </m:sSub>
                      </m:e>
                    </m:acc>
                    <m:r>
                      <a:rPr lang="en-US" altLang="zh-CN" i="0">
                        <a:latin typeface="Cambria Math" panose="02040503050406030204" pitchFamily="18" charset="0"/>
                        <a:ea typeface="+mj-ea"/>
                      </a:rPr>
                      <m:t>∙</m:t>
                    </m:r>
                    <m:acc>
                      <m:accPr>
                        <m:chr m:val="̅"/>
                        <m:ctrlPr>
                          <a:rPr lang="en-US" altLang="zh-CN" i="1">
                            <a:latin typeface="Cambria Math" panose="02040503050406030204" pitchFamily="18" charset="0"/>
                            <a:ea typeface="+mj-ea"/>
                          </a:rPr>
                        </m:ctrlPr>
                      </m:accPr>
                      <m:e>
                        <m:sSub>
                          <m:sSubPr>
                            <m:ctrlPr>
                              <a:rPr lang="en-US" altLang="zh-CN" i="1">
                                <a:latin typeface="Cambria Math" panose="02040503050406030204" pitchFamily="18" charset="0"/>
                                <a:ea typeface="+mj-ea"/>
                              </a:rPr>
                            </m:ctrlPr>
                          </m:sSubPr>
                          <m:e>
                            <m:r>
                              <m:rPr>
                                <m:sty m:val="p"/>
                              </m:rPr>
                              <a:rPr lang="en-US" altLang="zh-CN" i="0">
                                <a:latin typeface="Cambria Math" panose="02040503050406030204" pitchFamily="18" charset="0"/>
                                <a:ea typeface="+mj-ea"/>
                              </a:rPr>
                              <m:t>X</m:t>
                            </m:r>
                          </m:e>
                          <m:sub>
                            <m:r>
                              <a:rPr lang="en-US" altLang="zh-CN" i="0">
                                <a:latin typeface="Cambria Math" panose="02040503050406030204" pitchFamily="18" charset="0"/>
                                <a:ea typeface="+mj-ea"/>
                              </a:rPr>
                              <m:t>2</m:t>
                            </m:r>
                          </m:sub>
                        </m:sSub>
                      </m:e>
                    </m:acc>
                    <m:r>
                      <a:rPr lang="en-US" altLang="zh-CN" i="0">
                        <a:latin typeface="Cambria Math" panose="02040503050406030204" pitchFamily="18" charset="0"/>
                        <a:ea typeface="+mj-ea"/>
                      </a:rPr>
                      <m:t>∙⋯∙</m:t>
                    </m:r>
                    <m:acc>
                      <m:accPr>
                        <m:chr m:val="̅"/>
                        <m:ctrlPr>
                          <a:rPr lang="en-US" altLang="zh-CN" i="1">
                            <a:latin typeface="Cambria Math" panose="02040503050406030204" pitchFamily="18" charset="0"/>
                            <a:ea typeface="+mj-ea"/>
                          </a:rPr>
                        </m:ctrlPr>
                      </m:accPr>
                      <m:e>
                        <m:sSub>
                          <m:sSubPr>
                            <m:ctrlPr>
                              <a:rPr lang="en-US" altLang="zh-CN" i="1">
                                <a:latin typeface="Cambria Math" panose="02040503050406030204" pitchFamily="18" charset="0"/>
                                <a:ea typeface="+mj-ea"/>
                              </a:rPr>
                            </m:ctrlPr>
                          </m:sSubPr>
                          <m:e>
                            <m:r>
                              <m:rPr>
                                <m:sty m:val="p"/>
                              </m:rPr>
                              <a:rPr lang="en-US" altLang="zh-CN" i="0">
                                <a:latin typeface="Cambria Math" panose="02040503050406030204" pitchFamily="18" charset="0"/>
                                <a:ea typeface="+mj-ea"/>
                              </a:rPr>
                              <m:t>X</m:t>
                            </m:r>
                          </m:e>
                          <m:sub>
                            <m:r>
                              <m:rPr>
                                <m:sty m:val="p"/>
                              </m:rPr>
                              <a:rPr lang="en-US" altLang="zh-CN" i="0">
                                <a:latin typeface="Cambria Math" panose="02040503050406030204" pitchFamily="18" charset="0"/>
                                <a:ea typeface="+mj-ea"/>
                              </a:rPr>
                              <m:t>n</m:t>
                            </m:r>
                          </m:sub>
                        </m:sSub>
                      </m:e>
                    </m:acc>
                  </m:oMath>
                </a14:m>
                <a:endParaRPr lang="zh-CN" altLang="en-US" dirty="0">
                  <a:latin typeface="+mj-ea"/>
                  <a:ea typeface="+mj-ea"/>
                </a:endParaRPr>
              </a:p>
              <a:p>
                <a:pPr lvl="1"/>
                <a:r>
                  <a:rPr lang="zh-CN" altLang="en-US" dirty="0"/>
                  <a:t>广义德</a:t>
                </a:r>
                <a:r>
                  <a:rPr lang="en-US" altLang="zh-CN" dirty="0">
                    <a:latin typeface="Arial Narrow" panose="020B0606020202030204" pitchFamily="34" charset="0"/>
                  </a:rPr>
                  <a:t>•</a:t>
                </a:r>
                <a:r>
                  <a:rPr lang="zh-CN" altLang="en-US" dirty="0"/>
                  <a:t>摩根定理</a:t>
                </a:r>
                <a:endParaRPr lang="en-US" altLang="zh-CN" dirty="0"/>
              </a:p>
              <a:p>
                <a:pPr marL="344170" lvl="1" indent="0">
                  <a:buNone/>
                </a:pPr>
                <a:r>
                  <a:rPr lang="en-US" altLang="zh-CN" dirty="0">
                    <a:latin typeface="Arial Narrow" panose="020B0606020202030204" pitchFamily="34" charset="0"/>
                  </a:rPr>
                  <a:t>     (T14)     </a:t>
                </a:r>
                <a14:m>
                  <m:oMath xmlns:m="http://schemas.openxmlformats.org/officeDocument/2006/math">
                    <m:acc>
                      <m:accPr>
                        <m:chr m:val="̅"/>
                        <m:ctrlPr>
                          <a:rPr lang="en-US" altLang="zh-CN" i="1">
                            <a:latin typeface="Cambria Math" panose="02040503050406030204" pitchFamily="18" charset="0"/>
                          </a:rPr>
                        </m:ctrlPr>
                      </m:accPr>
                      <m:e>
                        <m:r>
                          <m:rPr>
                            <m:sty m:val="p"/>
                          </m:rPr>
                          <a:rPr lang="en-US" altLang="zh-CN" i="0">
                            <a:latin typeface="Cambria Math" panose="02040503050406030204" pitchFamily="18" charset="0"/>
                          </a:rPr>
                          <m:t>F</m:t>
                        </m:r>
                        <m:r>
                          <a:rPr lang="en-US" altLang="zh-CN" i="0">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i="0">
                                <a:latin typeface="Cambria Math" panose="02040503050406030204" pitchFamily="18" charset="0"/>
                              </a:rPr>
                              <m:t>X</m:t>
                            </m:r>
                          </m:e>
                          <m:sub>
                            <m:r>
                              <a:rPr lang="en-US" altLang="zh-CN" i="0">
                                <a:latin typeface="Cambria Math" panose="02040503050406030204" pitchFamily="18" charset="0"/>
                              </a:rPr>
                              <m:t>1</m:t>
                            </m:r>
                          </m:sub>
                        </m:sSub>
                        <m:r>
                          <a:rPr lang="en-US" altLang="zh-CN" i="0">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i="0">
                                <a:latin typeface="Cambria Math" panose="02040503050406030204" pitchFamily="18" charset="0"/>
                              </a:rPr>
                              <m:t>X</m:t>
                            </m:r>
                          </m:e>
                          <m:sub>
                            <m:r>
                              <a:rPr lang="en-US" altLang="zh-CN" i="0">
                                <a:latin typeface="Cambria Math" panose="02040503050406030204" pitchFamily="18" charset="0"/>
                              </a:rPr>
                              <m:t>2</m:t>
                            </m:r>
                          </m:sub>
                        </m:sSub>
                        <m:r>
                          <a:rPr lang="en-US" altLang="zh-CN" i="0">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i="0">
                                <a:latin typeface="Cambria Math" panose="02040503050406030204" pitchFamily="18" charset="0"/>
                              </a:rPr>
                              <m:t>X</m:t>
                            </m:r>
                          </m:e>
                          <m:sub>
                            <m:r>
                              <m:rPr>
                                <m:sty m:val="p"/>
                              </m:rPr>
                              <a:rPr lang="en-US" altLang="zh-CN" i="0">
                                <a:latin typeface="Cambria Math" panose="02040503050406030204" pitchFamily="18" charset="0"/>
                              </a:rPr>
                              <m:t>n</m:t>
                            </m:r>
                          </m:sub>
                        </m:sSub>
                        <m:r>
                          <a:rPr lang="zh-CN" altLang="en-US" i="0">
                            <a:latin typeface="Cambria Math" panose="02040503050406030204" pitchFamily="18" charset="0"/>
                          </a:rPr>
                          <m:t>，</m:t>
                        </m:r>
                        <m:r>
                          <a:rPr lang="en-US" altLang="zh-CN" i="0">
                            <a:latin typeface="Cambria Math" panose="02040503050406030204" pitchFamily="18" charset="0"/>
                          </a:rPr>
                          <m:t>+</m:t>
                        </m:r>
                        <m:r>
                          <a:rPr lang="zh-CN" altLang="en-US" i="0">
                            <a:latin typeface="Cambria Math" panose="02040503050406030204" pitchFamily="18" charset="0"/>
                          </a:rPr>
                          <m:t>，</m:t>
                        </m:r>
                        <m:r>
                          <a:rPr lang="zh-CN" altLang="en-US" i="0">
                            <a:latin typeface="Cambria Math" panose="02040503050406030204" pitchFamily="18" charset="0"/>
                          </a:rPr>
                          <m:t>∙</m:t>
                        </m:r>
                        <m:r>
                          <a:rPr lang="zh-CN" altLang="en-US" i="0">
                            <a:latin typeface="Cambria Math" panose="02040503050406030204" pitchFamily="18" charset="0"/>
                          </a:rPr>
                          <m:t>）</m:t>
                        </m:r>
                      </m:e>
                    </m:acc>
                    <m:r>
                      <a:rPr lang="en-US" altLang="zh-CN" i="0">
                        <a:latin typeface="Cambria Math" panose="02040503050406030204" pitchFamily="18" charset="0"/>
                      </a:rPr>
                      <m:t>=</m:t>
                    </m:r>
                  </m:oMath>
                </a14:m>
                <a:r>
                  <a:rPr lang="en-US" altLang="zh-CN" dirty="0">
                    <a:latin typeface="Arial Narrow" panose="020B0606020202030204" pitchFamily="34" charset="0"/>
                  </a:rPr>
                  <a:t>F(</a:t>
                </a:r>
                <a14:m>
                  <m:oMath xmlns:m="http://schemas.openxmlformats.org/officeDocument/2006/math">
                    <m:acc>
                      <m:accPr>
                        <m:chr m:val="̅"/>
                        <m:ctrlPr>
                          <a:rPr lang="en-US" altLang="zh-CN" i="1">
                            <a:latin typeface="Cambria Math" panose="02040503050406030204" pitchFamily="18" charset="0"/>
                          </a:rPr>
                        </m:ctrlPr>
                      </m:accPr>
                      <m:e>
                        <m:sSub>
                          <m:sSubPr>
                            <m:ctrlPr>
                              <a:rPr lang="en-US" altLang="zh-CN" i="1">
                                <a:latin typeface="Cambria Math" panose="02040503050406030204" pitchFamily="18" charset="0"/>
                              </a:rPr>
                            </m:ctrlPr>
                          </m:sSubPr>
                          <m:e>
                            <m:r>
                              <m:rPr>
                                <m:sty m:val="p"/>
                              </m:rPr>
                              <a:rPr lang="en-US" altLang="zh-CN" i="0">
                                <a:latin typeface="Cambria Math" panose="02040503050406030204" pitchFamily="18" charset="0"/>
                              </a:rPr>
                              <m:t>X</m:t>
                            </m:r>
                          </m:e>
                          <m:sub>
                            <m:r>
                              <a:rPr lang="en-US" altLang="zh-CN" i="0">
                                <a:latin typeface="Cambria Math" panose="02040503050406030204" pitchFamily="18" charset="0"/>
                              </a:rPr>
                              <m:t>1</m:t>
                            </m:r>
                          </m:sub>
                        </m:sSub>
                      </m:e>
                    </m:acc>
                    <m:r>
                      <a:rPr lang="en-US" altLang="zh-CN" i="0">
                        <a:latin typeface="Cambria Math" panose="02040503050406030204" pitchFamily="18" charset="0"/>
                      </a:rPr>
                      <m:t>,</m:t>
                    </m:r>
                    <m:acc>
                      <m:accPr>
                        <m:chr m:val="̅"/>
                        <m:ctrlPr>
                          <a:rPr lang="en-US" altLang="zh-CN" i="1">
                            <a:latin typeface="Cambria Math" panose="02040503050406030204" pitchFamily="18" charset="0"/>
                          </a:rPr>
                        </m:ctrlPr>
                      </m:accPr>
                      <m:e>
                        <m:sSub>
                          <m:sSubPr>
                            <m:ctrlPr>
                              <a:rPr lang="en-US" altLang="zh-CN" i="1">
                                <a:latin typeface="Cambria Math" panose="02040503050406030204" pitchFamily="18" charset="0"/>
                              </a:rPr>
                            </m:ctrlPr>
                          </m:sSubPr>
                          <m:e>
                            <m:r>
                              <m:rPr>
                                <m:sty m:val="p"/>
                              </m:rPr>
                              <a:rPr lang="en-US" altLang="zh-CN" i="0">
                                <a:latin typeface="Cambria Math" panose="02040503050406030204" pitchFamily="18" charset="0"/>
                              </a:rPr>
                              <m:t>X</m:t>
                            </m:r>
                          </m:e>
                          <m:sub>
                            <m:r>
                              <a:rPr lang="en-US" altLang="zh-CN" i="0">
                                <a:latin typeface="Cambria Math" panose="02040503050406030204" pitchFamily="18" charset="0"/>
                              </a:rPr>
                              <m:t>2</m:t>
                            </m:r>
                          </m:sub>
                        </m:sSub>
                      </m:e>
                    </m:acc>
                    <m:r>
                      <a:rPr lang="en-US" altLang="zh-CN" i="0">
                        <a:latin typeface="Cambria Math" panose="02040503050406030204" pitchFamily="18" charset="0"/>
                      </a:rPr>
                      <m:t>,⋯,</m:t>
                    </m:r>
                    <m:acc>
                      <m:accPr>
                        <m:chr m:val="̅"/>
                        <m:ctrlPr>
                          <a:rPr lang="en-US" altLang="zh-CN" i="1">
                            <a:latin typeface="Cambria Math" panose="02040503050406030204" pitchFamily="18" charset="0"/>
                          </a:rPr>
                        </m:ctrlPr>
                      </m:accPr>
                      <m:e>
                        <m:sSub>
                          <m:sSubPr>
                            <m:ctrlPr>
                              <a:rPr lang="en-US" altLang="zh-CN" i="1">
                                <a:latin typeface="Cambria Math" panose="02040503050406030204" pitchFamily="18" charset="0"/>
                              </a:rPr>
                            </m:ctrlPr>
                          </m:sSubPr>
                          <m:e>
                            <m:r>
                              <m:rPr>
                                <m:sty m:val="p"/>
                              </m:rPr>
                              <a:rPr lang="en-US" altLang="zh-CN" i="0">
                                <a:latin typeface="Cambria Math" panose="02040503050406030204" pitchFamily="18" charset="0"/>
                              </a:rPr>
                              <m:t>X</m:t>
                            </m:r>
                          </m:e>
                          <m:sub>
                            <m:r>
                              <m:rPr>
                                <m:sty m:val="p"/>
                              </m:rPr>
                              <a:rPr lang="en-US" altLang="zh-CN" i="0">
                                <a:latin typeface="Cambria Math" panose="02040503050406030204" pitchFamily="18" charset="0"/>
                              </a:rPr>
                              <m:t>n</m:t>
                            </m:r>
                          </m:sub>
                        </m:sSub>
                      </m:e>
                    </m:acc>
                  </m:oMath>
                </a14:m>
                <a:r>
                  <a:rPr lang="en-US" altLang="zh-CN" dirty="0">
                    <a:latin typeface="Arial Narrow" panose="020B0606020202030204" pitchFamily="34" charset="0"/>
                  </a:rPr>
                  <a:t>, </a:t>
                </a:r>
                <a:r>
                  <a:rPr lang="en-US" altLang="zh-CN" dirty="0">
                    <a:latin typeface="Arial Narrow" panose="020B0606020202030204" pitchFamily="34" charset="0"/>
                    <a:sym typeface="Wingdings" panose="05000000000000000000" pitchFamily="2" charset="2"/>
                  </a:rPr>
                  <a:t>,+)</a:t>
                </a:r>
                <a:endParaRPr lang="en-US" altLang="zh-CN" dirty="0">
                  <a:latin typeface="Arial Narrow" panose="020B0606020202030204" pitchFamily="34" charset="0"/>
                </a:endParaRPr>
              </a:p>
              <a:p>
                <a:pPr lvl="1"/>
                <a:r>
                  <a:rPr lang="zh-CN" altLang="en-US" dirty="0"/>
                  <a:t>香农定理</a:t>
                </a:r>
                <a:endParaRPr lang="en-US" altLang="zh-CN" dirty="0"/>
              </a:p>
              <a:p>
                <a:pPr marL="344170" lvl="1" indent="0">
                  <a:buNone/>
                </a:pPr>
                <a:r>
                  <a:rPr lang="en-US" altLang="zh-CN" dirty="0">
                    <a:latin typeface="Arial Narrow" panose="020B0606020202030204" pitchFamily="34" charset="0"/>
                  </a:rPr>
                  <a:t>      (T15)    F(X</a:t>
                </a:r>
                <a:r>
                  <a:rPr lang="en-US" altLang="zh-CN" baseline="-25000" dirty="0">
                    <a:latin typeface="Arial Narrow" panose="020B0606020202030204" pitchFamily="34" charset="0"/>
                  </a:rPr>
                  <a:t>1</a:t>
                </a:r>
                <a:r>
                  <a:rPr lang="en-US" altLang="zh-CN" dirty="0">
                    <a:latin typeface="Arial Narrow" panose="020B0606020202030204" pitchFamily="34" charset="0"/>
                  </a:rPr>
                  <a:t>,X</a:t>
                </a:r>
                <a:r>
                  <a:rPr lang="en-US" altLang="zh-CN" baseline="-25000" dirty="0">
                    <a:latin typeface="Arial Narrow" panose="020B0606020202030204" pitchFamily="34" charset="0"/>
                  </a:rPr>
                  <a:t>2</a:t>
                </a:r>
                <a:r>
                  <a:rPr lang="en-US" altLang="zh-CN" dirty="0">
                    <a:latin typeface="Arial Narrow" panose="020B0606020202030204" pitchFamily="34" charset="0"/>
                  </a:rPr>
                  <a:t>,</a:t>
                </a:r>
                <a14:m>
                  <m:oMath xmlns:m="http://schemas.openxmlformats.org/officeDocument/2006/math">
                    <m:r>
                      <a:rPr lang="en-US" altLang="zh-CN" i="1">
                        <a:latin typeface="Cambria Math" panose="02040503050406030204" pitchFamily="18" charset="0"/>
                        <a:ea typeface="Cambria Math" panose="02040503050406030204" pitchFamily="18" charset="0"/>
                      </a:rPr>
                      <m:t>⋯,</m:t>
                    </m:r>
                    <m:r>
                      <m:rPr>
                        <m:sty m:val="p"/>
                      </m:rPr>
                      <a:rPr lang="en-US" altLang="zh-CN" b="0" i="0" smtClean="0">
                        <a:latin typeface="Cambria Math" panose="02040503050406030204" pitchFamily="18" charset="0"/>
                        <a:ea typeface="Cambria Math" panose="02040503050406030204" pitchFamily="18" charset="0"/>
                      </a:rPr>
                      <m:t>X</m:t>
                    </m:r>
                    <m:r>
                      <m:rPr>
                        <m:sty m:val="p"/>
                      </m:rPr>
                      <a:rPr lang="en-US" altLang="zh-CN" i="1" baseline="-25000">
                        <a:latin typeface="Cambria Math" panose="02040503050406030204" pitchFamily="18" charset="0"/>
                        <a:ea typeface="Cambria Math" panose="02040503050406030204" pitchFamily="18" charset="0"/>
                      </a:rPr>
                      <m:t>n</m:t>
                    </m:r>
                  </m:oMath>
                </a14:m>
                <a:r>
                  <a:rPr lang="en-US" altLang="zh-CN" dirty="0">
                    <a:latin typeface="Arial Narrow" panose="020B0606020202030204" pitchFamily="34" charset="0"/>
                    <a:sym typeface="Wingdings" panose="05000000000000000000" pitchFamily="2" charset="2"/>
                  </a:rPr>
                  <a:t>)=X</a:t>
                </a:r>
                <a:r>
                  <a:rPr lang="en-US" altLang="zh-CN" baseline="-25000" dirty="0">
                    <a:latin typeface="Arial Narrow" panose="020B0606020202030204" pitchFamily="34" charset="0"/>
                    <a:sym typeface="Wingdings" panose="05000000000000000000" pitchFamily="2" charset="2"/>
                  </a:rPr>
                  <a:t>1</a:t>
                </a:r>
                <a:r>
                  <a:rPr lang="en-US" altLang="zh-CN" dirty="0">
                    <a:latin typeface="Arial Narrow" panose="020B0606020202030204" pitchFamily="34" charset="0"/>
                  </a:rPr>
                  <a:t> • </a:t>
                </a:r>
                <a:r>
                  <a:rPr lang="en-US" altLang="zh-CN" dirty="0">
                    <a:latin typeface="Arial Narrow" panose="020B0606020202030204" pitchFamily="34" charset="0"/>
                    <a:sym typeface="Wingdings" panose="05000000000000000000" pitchFamily="2" charset="2"/>
                  </a:rPr>
                  <a:t>F(1,X</a:t>
                </a:r>
                <a:r>
                  <a:rPr lang="en-US" altLang="zh-CN" baseline="-25000" dirty="0">
                    <a:latin typeface="Arial Narrow" panose="020B0606020202030204" pitchFamily="34" charset="0"/>
                    <a:sym typeface="Wingdings" panose="05000000000000000000" pitchFamily="2" charset="2"/>
                  </a:rPr>
                  <a:t>2</a:t>
                </a:r>
                <a:r>
                  <a:rPr lang="en-US" altLang="zh-CN" dirty="0">
                    <a:latin typeface="Arial Narrow" panose="020B0606020202030204" pitchFamily="34" charset="0"/>
                    <a:sym typeface="Wingdings" panose="05000000000000000000" pitchFamily="2" charset="2"/>
                  </a:rPr>
                  <a:t>,</a:t>
                </a:r>
                <a:r>
                  <a:rPr lang="en-US" altLang="zh-CN" dirty="0">
                    <a:latin typeface="Arial Narrow" panose="020B0606020202030204" pitchFamily="34" charset="0"/>
                  </a:rPr>
                  <a:t> …</a:t>
                </a:r>
                <a:r>
                  <a:rPr lang="en-US" altLang="zh-CN" dirty="0">
                    <a:latin typeface="Arial Narrow" panose="020B0606020202030204" pitchFamily="34" charset="0"/>
                    <a:sym typeface="Wingdings" panose="05000000000000000000" pitchFamily="2" charset="2"/>
                  </a:rPr>
                  <a:t>,X</a:t>
                </a:r>
                <a:r>
                  <a:rPr lang="en-US" altLang="zh-CN" baseline="-25000" dirty="0">
                    <a:latin typeface="Arial Narrow" panose="020B0606020202030204" pitchFamily="34" charset="0"/>
                    <a:sym typeface="Wingdings" panose="05000000000000000000" pitchFamily="2" charset="2"/>
                  </a:rPr>
                  <a:t>n</a:t>
                </a:r>
                <a:r>
                  <a:rPr lang="en-US" altLang="zh-CN" dirty="0">
                    <a:latin typeface="Arial Narrow" panose="020B0606020202030204" pitchFamily="34" charset="0"/>
                    <a:sym typeface="Wingdings" panose="05000000000000000000" pitchFamily="2" charset="2"/>
                  </a:rPr>
                  <a:t>)+</a:t>
                </a:r>
                <a:r>
                  <a:rPr lang="en-US" altLang="zh-CN" dirty="0"/>
                  <a:t> </a:t>
                </a:r>
                <a14:m>
                  <m:oMath xmlns:m="http://schemas.openxmlformats.org/officeDocument/2006/math">
                    <m:acc>
                      <m:accPr>
                        <m:chr m:val="̅"/>
                        <m:ctrlPr>
                          <a:rPr lang="en-US" altLang="zh-CN" i="1">
                            <a:latin typeface="Cambria Math" panose="02040503050406030204" pitchFamily="18" charset="0"/>
                          </a:rPr>
                        </m:ctrlPr>
                      </m:accPr>
                      <m:e>
                        <m:sSub>
                          <m:sSubPr>
                            <m:ctrlPr>
                              <a:rPr lang="en-US" altLang="zh-CN" i="1">
                                <a:latin typeface="Cambria Math" panose="02040503050406030204" pitchFamily="18" charset="0"/>
                              </a:rPr>
                            </m:ctrlPr>
                          </m:sSubPr>
                          <m:e>
                            <m:r>
                              <m:rPr>
                                <m:sty m:val="p"/>
                              </m:rPr>
                              <a:rPr lang="en-US" altLang="zh-CN" i="0">
                                <a:latin typeface="Cambria Math" panose="02040503050406030204" pitchFamily="18" charset="0"/>
                              </a:rPr>
                              <m:t>X</m:t>
                            </m:r>
                          </m:e>
                          <m:sub>
                            <m:r>
                              <a:rPr lang="en-US" altLang="zh-CN">
                                <a:latin typeface="Cambria Math" panose="02040503050406030204" pitchFamily="18" charset="0"/>
                              </a:rPr>
                              <m:t>1</m:t>
                            </m:r>
                          </m:sub>
                        </m:sSub>
                      </m:e>
                    </m:acc>
                  </m:oMath>
                </a14:m>
                <a:r>
                  <a:rPr lang="en-US" altLang="zh-CN" dirty="0">
                    <a:latin typeface="Arial Narrow" panose="020B0606020202030204" pitchFamily="34" charset="0"/>
                  </a:rPr>
                  <a:t> • </a:t>
                </a:r>
                <a:r>
                  <a:rPr lang="en-US" altLang="zh-CN" dirty="0">
                    <a:latin typeface="Arial Narrow" panose="020B0606020202030204" pitchFamily="34" charset="0"/>
                    <a:sym typeface="Wingdings" panose="05000000000000000000" pitchFamily="2" charset="2"/>
                  </a:rPr>
                  <a:t>F(0,X</a:t>
                </a:r>
                <a:r>
                  <a:rPr lang="en-US" altLang="zh-CN" baseline="-25000" dirty="0">
                    <a:latin typeface="Arial Narrow" panose="020B0606020202030204" pitchFamily="34" charset="0"/>
                    <a:sym typeface="Wingdings" panose="05000000000000000000" pitchFamily="2" charset="2"/>
                  </a:rPr>
                  <a:t>2</a:t>
                </a:r>
                <a:r>
                  <a:rPr lang="en-US" altLang="zh-CN" dirty="0">
                    <a:latin typeface="Arial Narrow" panose="020B0606020202030204" pitchFamily="34" charset="0"/>
                    <a:sym typeface="Wingdings" panose="05000000000000000000" pitchFamily="2" charset="2"/>
                  </a:rPr>
                  <a:t>,</a:t>
                </a:r>
                <a:r>
                  <a:rPr lang="en-US" altLang="zh-CN" dirty="0">
                    <a:latin typeface="Arial Narrow" panose="020B0606020202030204" pitchFamily="34" charset="0"/>
                  </a:rPr>
                  <a:t> …</a:t>
                </a:r>
                <a:r>
                  <a:rPr lang="en-US" altLang="zh-CN" dirty="0">
                    <a:latin typeface="Arial Narrow" panose="020B0606020202030204" pitchFamily="34" charset="0"/>
                    <a:sym typeface="Wingdings" panose="05000000000000000000" pitchFamily="2" charset="2"/>
                  </a:rPr>
                  <a:t>,</a:t>
                </a:r>
                <a:r>
                  <a:rPr lang="en-US" altLang="zh-CN" dirty="0" err="1">
                    <a:latin typeface="Arial Narrow" panose="020B0606020202030204" pitchFamily="34" charset="0"/>
                    <a:sym typeface="Wingdings" panose="05000000000000000000" pitchFamily="2" charset="2"/>
                  </a:rPr>
                  <a:t>X</a:t>
                </a:r>
                <a:r>
                  <a:rPr lang="en-US" altLang="zh-CN" baseline="-25000" dirty="0" err="1">
                    <a:latin typeface="Arial Narrow" panose="020B0606020202030204" pitchFamily="34" charset="0"/>
                    <a:sym typeface="Wingdings" panose="05000000000000000000" pitchFamily="2" charset="2"/>
                  </a:rPr>
                  <a:t>n</a:t>
                </a:r>
                <a:r>
                  <a:rPr lang="en-US" altLang="zh-CN" dirty="0">
                    <a:latin typeface="Arial Narrow" panose="020B0606020202030204" pitchFamily="34" charset="0"/>
                    <a:sym typeface="Wingdings" panose="05000000000000000000" pitchFamily="2" charset="2"/>
                  </a:rPr>
                  <a:t>)</a:t>
                </a:r>
                <a:endParaRPr lang="en-US" altLang="zh-CN" dirty="0">
                  <a:latin typeface="Arial Narrow" panose="020B0606020202030204" pitchFamily="34" charset="0"/>
                  <a:sym typeface="Wingdings" panose="05000000000000000000" pitchFamily="2" charset="2"/>
                </a:endParaRPr>
              </a:p>
              <a:p>
                <a:pPr marL="344170" lvl="1" indent="0">
                  <a:buNone/>
                </a:pPr>
                <a:r>
                  <a:rPr lang="en-US" altLang="zh-CN" dirty="0">
                    <a:latin typeface="Arial Narrow" panose="020B0606020202030204" pitchFamily="34" charset="0"/>
                  </a:rPr>
                  <a:t>      (T15D) F(X</a:t>
                </a:r>
                <a:r>
                  <a:rPr lang="en-US" altLang="zh-CN" baseline="-25000" dirty="0">
                    <a:latin typeface="Arial Narrow" panose="020B0606020202030204" pitchFamily="34" charset="0"/>
                  </a:rPr>
                  <a:t>1</a:t>
                </a:r>
                <a:r>
                  <a:rPr lang="en-US" altLang="zh-CN" dirty="0">
                    <a:latin typeface="Arial Narrow" panose="020B0606020202030204" pitchFamily="34" charset="0"/>
                  </a:rPr>
                  <a:t>,X</a:t>
                </a:r>
                <a:r>
                  <a:rPr lang="en-US" altLang="zh-CN" baseline="-25000" dirty="0">
                    <a:latin typeface="Arial Narrow" panose="020B0606020202030204" pitchFamily="34" charset="0"/>
                  </a:rPr>
                  <a:t>2</a:t>
                </a:r>
                <a:r>
                  <a:rPr lang="en-US" altLang="zh-CN" dirty="0">
                    <a:latin typeface="Arial Narrow" panose="020B0606020202030204" pitchFamily="34" charset="0"/>
                  </a:rPr>
                  <a:t>,</a:t>
                </a:r>
                <a14:m>
                  <m:oMath xmlns:m="http://schemas.openxmlformats.org/officeDocument/2006/math">
                    <m:r>
                      <a:rPr lang="en-US" altLang="zh-CN" i="1">
                        <a:latin typeface="Cambria Math" panose="02040503050406030204" pitchFamily="18" charset="0"/>
                        <a:ea typeface="Cambria Math" panose="02040503050406030204" pitchFamily="18" charset="0"/>
                      </a:rPr>
                      <m:t>⋯,</m:t>
                    </m:r>
                    <m:r>
                      <m:rPr>
                        <m:sty m:val="p"/>
                      </m:rPr>
                      <a:rPr lang="en-US" altLang="zh-CN" i="0">
                        <a:latin typeface="Cambria Math" panose="02040503050406030204" pitchFamily="18" charset="0"/>
                        <a:ea typeface="Cambria Math" panose="02040503050406030204" pitchFamily="18" charset="0"/>
                      </a:rPr>
                      <m:t>X</m:t>
                    </m:r>
                    <m:r>
                      <m:rPr>
                        <m:sty m:val="p"/>
                      </m:rPr>
                      <a:rPr lang="en-US" altLang="zh-CN" i="1" baseline="-25000">
                        <a:latin typeface="Cambria Math" panose="02040503050406030204" pitchFamily="18" charset="0"/>
                        <a:ea typeface="Cambria Math" panose="02040503050406030204" pitchFamily="18" charset="0"/>
                      </a:rPr>
                      <m:t>n</m:t>
                    </m:r>
                  </m:oMath>
                </a14:m>
                <a:r>
                  <a:rPr lang="en-US" altLang="zh-CN" dirty="0">
                    <a:latin typeface="Arial Narrow" panose="020B0606020202030204" pitchFamily="34" charset="0"/>
                    <a:sym typeface="Wingdings" panose="05000000000000000000" pitchFamily="2" charset="2"/>
                  </a:rPr>
                  <a:t>)=[X</a:t>
                </a:r>
                <a:r>
                  <a:rPr lang="en-US" altLang="zh-CN" baseline="-25000" dirty="0">
                    <a:latin typeface="Arial Narrow" panose="020B0606020202030204" pitchFamily="34" charset="0"/>
                    <a:sym typeface="Wingdings" panose="05000000000000000000" pitchFamily="2" charset="2"/>
                  </a:rPr>
                  <a:t>1</a:t>
                </a:r>
                <a:r>
                  <a:rPr lang="en-US" altLang="zh-CN" dirty="0">
                    <a:latin typeface="Arial Narrow" panose="020B0606020202030204" pitchFamily="34" charset="0"/>
                  </a:rPr>
                  <a:t> + </a:t>
                </a:r>
                <a:r>
                  <a:rPr lang="en-US" altLang="zh-CN" dirty="0">
                    <a:latin typeface="Arial Narrow" panose="020B0606020202030204" pitchFamily="34" charset="0"/>
                    <a:sym typeface="Wingdings" panose="05000000000000000000" pitchFamily="2" charset="2"/>
                  </a:rPr>
                  <a:t>F(0,X</a:t>
                </a:r>
                <a:r>
                  <a:rPr lang="en-US" altLang="zh-CN" baseline="-25000" dirty="0">
                    <a:latin typeface="Arial Narrow" panose="020B0606020202030204" pitchFamily="34" charset="0"/>
                    <a:sym typeface="Wingdings" panose="05000000000000000000" pitchFamily="2" charset="2"/>
                  </a:rPr>
                  <a:t>2</a:t>
                </a:r>
                <a:r>
                  <a:rPr lang="en-US" altLang="zh-CN" dirty="0">
                    <a:latin typeface="Arial Narrow" panose="020B0606020202030204" pitchFamily="34" charset="0"/>
                    <a:sym typeface="Wingdings" panose="05000000000000000000" pitchFamily="2" charset="2"/>
                  </a:rPr>
                  <a:t>,</a:t>
                </a:r>
                <a:r>
                  <a:rPr lang="en-US" altLang="zh-CN" dirty="0">
                    <a:latin typeface="Arial Narrow" panose="020B0606020202030204" pitchFamily="34" charset="0"/>
                  </a:rPr>
                  <a:t> …</a:t>
                </a:r>
                <a:r>
                  <a:rPr lang="en-US" altLang="zh-CN" dirty="0">
                    <a:latin typeface="Arial Narrow" panose="020B0606020202030204" pitchFamily="34" charset="0"/>
                    <a:sym typeface="Wingdings" panose="05000000000000000000" pitchFamily="2" charset="2"/>
                  </a:rPr>
                  <a:t>,</a:t>
                </a:r>
                <a:r>
                  <a:rPr lang="en-US" altLang="zh-CN" dirty="0" err="1">
                    <a:latin typeface="Arial Narrow" panose="020B0606020202030204" pitchFamily="34" charset="0"/>
                    <a:sym typeface="Wingdings" panose="05000000000000000000" pitchFamily="2" charset="2"/>
                  </a:rPr>
                  <a:t>X</a:t>
                </a:r>
                <a:r>
                  <a:rPr lang="en-US" altLang="zh-CN" baseline="-25000" dirty="0" err="1">
                    <a:latin typeface="Arial Narrow" panose="020B0606020202030204" pitchFamily="34" charset="0"/>
                    <a:sym typeface="Wingdings" panose="05000000000000000000" pitchFamily="2" charset="2"/>
                  </a:rPr>
                  <a:t>n</a:t>
                </a:r>
                <a:r>
                  <a:rPr lang="en-US" altLang="zh-CN" dirty="0">
                    <a:latin typeface="Arial Narrow" panose="020B0606020202030204" pitchFamily="34" charset="0"/>
                    <a:sym typeface="Wingdings" panose="05000000000000000000" pitchFamily="2" charset="2"/>
                  </a:rPr>
                  <a:t>)]</a:t>
                </a:r>
                <a:r>
                  <a:rPr lang="en-US" altLang="zh-CN" dirty="0">
                    <a:latin typeface="Arial Narrow" panose="020B0606020202030204" pitchFamily="34" charset="0"/>
                  </a:rPr>
                  <a:t> •[</a:t>
                </a:r>
                <a:r>
                  <a:rPr lang="en-US" altLang="zh-CN" dirty="0"/>
                  <a:t> </a:t>
                </a:r>
                <a14:m>
                  <m:oMath xmlns:m="http://schemas.openxmlformats.org/officeDocument/2006/math">
                    <m:acc>
                      <m:accPr>
                        <m:chr m:val="̅"/>
                        <m:ctrlPr>
                          <a:rPr lang="en-US" altLang="zh-CN" i="1">
                            <a:latin typeface="Cambria Math" panose="02040503050406030204" pitchFamily="18" charset="0"/>
                          </a:rPr>
                        </m:ctrlPr>
                      </m:accPr>
                      <m:e>
                        <m:sSub>
                          <m:sSubPr>
                            <m:ctrlPr>
                              <a:rPr lang="en-US" altLang="zh-CN" i="1">
                                <a:latin typeface="Cambria Math" panose="02040503050406030204" pitchFamily="18" charset="0"/>
                              </a:rPr>
                            </m:ctrlPr>
                          </m:sSubPr>
                          <m:e>
                            <m:r>
                              <m:rPr>
                                <m:sty m:val="p"/>
                              </m:rPr>
                              <a:rPr lang="en-US" altLang="zh-CN" i="0">
                                <a:latin typeface="Cambria Math" panose="02040503050406030204" pitchFamily="18" charset="0"/>
                              </a:rPr>
                              <m:t>X</m:t>
                            </m:r>
                          </m:e>
                          <m:sub>
                            <m:r>
                              <a:rPr lang="en-US" altLang="zh-CN">
                                <a:latin typeface="Cambria Math" panose="02040503050406030204" pitchFamily="18" charset="0"/>
                              </a:rPr>
                              <m:t>1</m:t>
                            </m:r>
                          </m:sub>
                        </m:sSub>
                      </m:e>
                    </m:acc>
                  </m:oMath>
                </a14:m>
                <a:r>
                  <a:rPr lang="en-US" altLang="zh-CN" dirty="0">
                    <a:latin typeface="Arial Narrow" panose="020B0606020202030204" pitchFamily="34" charset="0"/>
                  </a:rPr>
                  <a:t> + </a:t>
                </a:r>
                <a:r>
                  <a:rPr lang="en-US" altLang="zh-CN" dirty="0">
                    <a:latin typeface="Arial Narrow" panose="020B0606020202030204" pitchFamily="34" charset="0"/>
                    <a:sym typeface="Wingdings" panose="05000000000000000000" pitchFamily="2" charset="2"/>
                  </a:rPr>
                  <a:t>F(1,X</a:t>
                </a:r>
                <a:r>
                  <a:rPr lang="en-US" altLang="zh-CN" baseline="-25000" dirty="0">
                    <a:latin typeface="Arial Narrow" panose="020B0606020202030204" pitchFamily="34" charset="0"/>
                    <a:sym typeface="Wingdings" panose="05000000000000000000" pitchFamily="2" charset="2"/>
                  </a:rPr>
                  <a:t>2</a:t>
                </a:r>
                <a:r>
                  <a:rPr lang="en-US" altLang="zh-CN" dirty="0">
                    <a:latin typeface="Arial Narrow" panose="020B0606020202030204" pitchFamily="34" charset="0"/>
                    <a:sym typeface="Wingdings" panose="05000000000000000000" pitchFamily="2" charset="2"/>
                  </a:rPr>
                  <a:t>,</a:t>
                </a:r>
                <a:r>
                  <a:rPr lang="en-US" altLang="zh-CN" dirty="0">
                    <a:latin typeface="Arial Narrow" panose="020B0606020202030204" pitchFamily="34" charset="0"/>
                  </a:rPr>
                  <a:t> …</a:t>
                </a:r>
                <a:r>
                  <a:rPr lang="en-US" altLang="zh-CN" dirty="0">
                    <a:latin typeface="Arial Narrow" panose="020B0606020202030204" pitchFamily="34" charset="0"/>
                    <a:sym typeface="Wingdings" panose="05000000000000000000" pitchFamily="2" charset="2"/>
                  </a:rPr>
                  <a:t>,</a:t>
                </a:r>
                <a:r>
                  <a:rPr lang="en-US" altLang="zh-CN" dirty="0" err="1">
                    <a:latin typeface="Arial Narrow" panose="020B0606020202030204" pitchFamily="34" charset="0"/>
                    <a:sym typeface="Wingdings" panose="05000000000000000000" pitchFamily="2" charset="2"/>
                  </a:rPr>
                  <a:t>X</a:t>
                </a:r>
                <a:r>
                  <a:rPr lang="en-US" altLang="zh-CN" baseline="-25000" dirty="0" err="1">
                    <a:latin typeface="Arial Narrow" panose="020B0606020202030204" pitchFamily="34" charset="0"/>
                    <a:sym typeface="Wingdings" panose="05000000000000000000" pitchFamily="2" charset="2"/>
                  </a:rPr>
                  <a:t>n</a:t>
                </a:r>
                <a:r>
                  <a:rPr lang="en-US" altLang="zh-CN" dirty="0">
                    <a:latin typeface="Arial Narrow" panose="020B0606020202030204" pitchFamily="34" charset="0"/>
                    <a:sym typeface="Wingdings" panose="05000000000000000000" pitchFamily="2" charset="2"/>
                  </a:rPr>
                  <a:t>)]</a:t>
                </a:r>
                <a:endParaRPr lang="en-US" altLang="zh-CN" dirty="0">
                  <a:latin typeface="Arial Narrow" panose="020B0606020202030204" pitchFamily="34" charset="0"/>
                </a:endParaRPr>
              </a:p>
              <a:p>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284773" y="915505"/>
                <a:ext cx="8523654" cy="5332229"/>
              </a:xfrm>
              <a:blipFill rotWithShape="1">
                <a:blip r:embed="rId1"/>
                <a:stretch>
                  <a:fillRect l="-3" t="-9" r="4" b="-7396"/>
                </a:stretch>
              </a:blipFill>
            </p:spPr>
            <p:txBody>
              <a:bodyPr/>
              <a:lstStyle/>
              <a:p>
                <a:r>
                  <a:rPr lang="zh-CN" altLang="en-US">
                    <a:noFill/>
                  </a:rPr>
                  <a:t> </a:t>
                </a:r>
              </a:p>
            </p:txBody>
          </p:sp>
        </mc:Fallback>
      </mc:AlternateContent>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7" name="文本框 6"/>
          <p:cNvSpPr txBox="1"/>
          <p:nvPr/>
        </p:nvSpPr>
        <p:spPr>
          <a:xfrm>
            <a:off x="2617940" y="4487749"/>
            <a:ext cx="3049222" cy="43088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sz="2200" dirty="0">
                <a:solidFill>
                  <a:srgbClr val="FF0000"/>
                </a:solidFill>
                <a:latin typeface="+mj-ea"/>
                <a:ea typeface="+mj-ea"/>
              </a:rPr>
              <a:t>用于多变量函数的实现</a:t>
            </a:r>
            <a:endParaRPr lang="zh-CN" altLang="en-US" sz="2800" dirty="0">
              <a:solidFill>
                <a:srgbClr val="FF0000"/>
              </a:solidFill>
              <a:latin typeface="+mj-ea"/>
              <a:ea typeface="+mj-ea"/>
            </a:endParaRPr>
          </a:p>
        </p:txBody>
      </p:sp>
      <p:sp>
        <p:nvSpPr>
          <p:cNvPr id="8" name="文本框 7"/>
          <p:cNvSpPr txBox="1"/>
          <p:nvPr/>
        </p:nvSpPr>
        <p:spPr>
          <a:xfrm>
            <a:off x="984794" y="6318398"/>
            <a:ext cx="1411660" cy="43088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altLang="zh-CN" sz="2200" dirty="0"/>
              <a:t>n</a:t>
            </a:r>
            <a:r>
              <a:rPr lang="zh-CN" altLang="en-US" sz="2200" dirty="0"/>
              <a:t>个变量</a:t>
            </a:r>
            <a:endParaRPr lang="zh-CN" altLang="en-US" sz="2200" dirty="0"/>
          </a:p>
        </p:txBody>
      </p:sp>
      <p:cxnSp>
        <p:nvCxnSpPr>
          <p:cNvPr id="9" name="直接箭头连接符 8"/>
          <p:cNvCxnSpPr/>
          <p:nvPr/>
        </p:nvCxnSpPr>
        <p:spPr>
          <a:xfrm flipV="1">
            <a:off x="1979712" y="5733257"/>
            <a:ext cx="297891" cy="585141"/>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3583189" y="6303008"/>
            <a:ext cx="1602519" cy="43088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altLang="zh-CN" sz="2200" dirty="0"/>
              <a:t>n-1</a:t>
            </a:r>
            <a:r>
              <a:rPr lang="zh-CN" altLang="en-US" sz="2200" dirty="0"/>
              <a:t>个变量</a:t>
            </a:r>
            <a:endParaRPr lang="zh-CN" altLang="en-US" sz="2200" dirty="0"/>
          </a:p>
        </p:txBody>
      </p:sp>
      <p:cxnSp>
        <p:nvCxnSpPr>
          <p:cNvPr id="15" name="直接箭头连接符 14"/>
          <p:cNvCxnSpPr/>
          <p:nvPr/>
        </p:nvCxnSpPr>
        <p:spPr>
          <a:xfrm flipV="1">
            <a:off x="4546600" y="5722465"/>
            <a:ext cx="297891" cy="585141"/>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定理</a:t>
            </a:r>
            <a:endParaRPr lang="zh-CN" altLang="en-US" dirty="0"/>
          </a:p>
        </p:txBody>
      </p:sp>
      <p:sp>
        <p:nvSpPr>
          <p:cNvPr id="3" name="内容占位符 2"/>
          <p:cNvSpPr>
            <a:spLocks noGrp="1"/>
          </p:cNvSpPr>
          <p:nvPr>
            <p:ph idx="1"/>
          </p:nvPr>
        </p:nvSpPr>
        <p:spPr>
          <a:xfrm>
            <a:off x="457200" y="1239839"/>
            <a:ext cx="8686800" cy="973921"/>
          </a:xfrm>
        </p:spPr>
        <p:txBody>
          <a:bodyPr/>
          <a:lstStyle/>
          <a:p>
            <a:r>
              <a:rPr lang="zh-CN" altLang="en-US" sz="2200" dirty="0"/>
              <a:t>德</a:t>
            </a:r>
            <a:r>
              <a:rPr lang="en-US" altLang="zh-CN" sz="2200" dirty="0"/>
              <a:t>•</a:t>
            </a:r>
            <a:r>
              <a:rPr lang="zh-CN" altLang="en-US" sz="2200" dirty="0"/>
              <a:t>摩根定理的应用</a:t>
            </a:r>
            <a:endParaRPr lang="zh-CN" altLang="en-US" sz="2200" dirty="0"/>
          </a:p>
          <a:p>
            <a:endParaRPr lang="zh-CN" altLang="en-US" sz="2800"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pic>
        <p:nvPicPr>
          <p:cNvPr id="7" name="Picture 3" descr="Part a. Inputs X and Y enter an OR gate, which then sends signal X + Y to an inverter. The inverter sends final output Z = (X + Y) prime. Part b. Inputs X and Y enter separate inverters, which then send signals X prime and Y prime to the same AND gate. The AND gate sends final output Z = X prime + Y prime. Part d. Inputs X and Y enter an AND gate with inversion bubbles at the inputs. The AND gate sends final output Z = X prime + Y prime."/>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88102" y="4340269"/>
            <a:ext cx="8195984" cy="1866674"/>
          </a:xfrm>
          <a:prstGeom prst="rect">
            <a:avLst/>
          </a:prstGeom>
        </p:spPr>
      </p:pic>
      <p:pic>
        <p:nvPicPr>
          <p:cNvPr id="8" name="Picture 3" descr="Part a. Inputs X and Y enter an AND gate, which sends output X dot Y to an inverter. The inverter sends final output Z = (X dot Y) prime. Part b. Inputs X and Y enter separate inverters, which send signals X prime and Y prime to the same OR gate. The OR gate sends final output Z = X prime + Y prime. Part c. Inputs X and Y enter a NAND gate, which consists of an AND gate with an inversion bubble at the output. The NAND gate sends Z = (X dot Y) prime. Part d. Inputs X and Y enter an OR gate with inversion bubbles at the inputs. The OR gate sends output Z = X prime + Y prim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1009" y="1863128"/>
            <a:ext cx="8186574" cy="1887940"/>
          </a:xfrm>
          <a:prstGeom prst="rect">
            <a:avLst/>
          </a:prstGeom>
        </p:spPr>
      </p:pic>
      <p:sp>
        <p:nvSpPr>
          <p:cNvPr id="9" name="矩形 8"/>
          <p:cNvSpPr/>
          <p:nvPr/>
        </p:nvSpPr>
        <p:spPr>
          <a:xfrm>
            <a:off x="321008" y="3751068"/>
            <a:ext cx="8463078" cy="369332"/>
          </a:xfrm>
          <a:prstGeom prst="rect">
            <a:avLst/>
          </a:prstGeom>
        </p:spPr>
        <p:txBody>
          <a:bodyPr wrap="square">
            <a:spAutoFit/>
          </a:bodyPr>
          <a:lstStyle/>
          <a:p>
            <a:pPr eaLnBrk="1" hangingPunct="1"/>
            <a:r>
              <a:rPr lang="zh-CN" altLang="en-US" sz="1800" dirty="0">
                <a:latin typeface="+mj-ea"/>
                <a:ea typeface="+mj-ea"/>
              </a:rPr>
              <a:t>根据</a:t>
            </a:r>
            <a:r>
              <a:rPr lang="en-US" altLang="zh-CN" sz="1800" dirty="0">
                <a:latin typeface="+mj-ea"/>
                <a:ea typeface="+mj-ea"/>
              </a:rPr>
              <a:t>T13</a:t>
            </a:r>
            <a:r>
              <a:rPr lang="zh-CN" altLang="en-US" sz="1800" dirty="0">
                <a:latin typeface="+mj-ea"/>
                <a:ea typeface="+mj-ea"/>
              </a:rPr>
              <a:t>的等效电路，</a:t>
            </a:r>
            <a:r>
              <a:rPr lang="en-US" altLang="zh-CN" sz="1800" dirty="0">
                <a:latin typeface="+mj-ea"/>
                <a:ea typeface="+mj-ea"/>
              </a:rPr>
              <a:t>a) </a:t>
            </a:r>
            <a:r>
              <a:rPr lang="zh-CN" altLang="en-US" sz="1800" dirty="0">
                <a:latin typeface="+mj-ea"/>
                <a:ea typeface="+mj-ea"/>
              </a:rPr>
              <a:t>与</a:t>
            </a:r>
            <a:r>
              <a:rPr lang="en-US" altLang="zh-CN" sz="1800" dirty="0">
                <a:latin typeface="+mj-ea"/>
                <a:ea typeface="+mj-ea"/>
              </a:rPr>
              <a:t>-</a:t>
            </a:r>
            <a:r>
              <a:rPr lang="zh-CN" altLang="en-US" sz="1800" dirty="0">
                <a:latin typeface="+mj-ea"/>
                <a:ea typeface="+mj-ea"/>
              </a:rPr>
              <a:t>非  </a:t>
            </a:r>
            <a:r>
              <a:rPr lang="en-US" altLang="zh-CN" sz="1800" dirty="0">
                <a:latin typeface="+mj-ea"/>
                <a:ea typeface="+mj-ea"/>
              </a:rPr>
              <a:t>b) </a:t>
            </a:r>
            <a:r>
              <a:rPr lang="zh-CN" altLang="en-US" sz="1800" dirty="0">
                <a:latin typeface="+mj-ea"/>
                <a:ea typeface="+mj-ea"/>
              </a:rPr>
              <a:t>非</a:t>
            </a:r>
            <a:r>
              <a:rPr lang="en-US" altLang="zh-CN" sz="1800" dirty="0">
                <a:latin typeface="+mj-ea"/>
                <a:ea typeface="+mj-ea"/>
              </a:rPr>
              <a:t>-</a:t>
            </a:r>
            <a:r>
              <a:rPr lang="zh-CN" altLang="en-US" sz="1800" dirty="0">
                <a:latin typeface="+mj-ea"/>
                <a:ea typeface="+mj-ea"/>
              </a:rPr>
              <a:t>或  </a:t>
            </a:r>
            <a:r>
              <a:rPr lang="en-US" altLang="zh-CN" sz="1800" dirty="0">
                <a:latin typeface="+mj-ea"/>
                <a:ea typeface="+mj-ea"/>
              </a:rPr>
              <a:t>c) </a:t>
            </a:r>
            <a:r>
              <a:rPr lang="zh-CN" altLang="en-US" sz="1800" dirty="0">
                <a:latin typeface="+mj-ea"/>
                <a:ea typeface="+mj-ea"/>
              </a:rPr>
              <a:t>与非门逻辑符号  </a:t>
            </a:r>
            <a:r>
              <a:rPr lang="en-US" altLang="zh-CN" sz="1800" dirty="0">
                <a:latin typeface="+mj-ea"/>
                <a:ea typeface="+mj-ea"/>
              </a:rPr>
              <a:t>d)</a:t>
            </a:r>
            <a:r>
              <a:rPr lang="zh-CN" altLang="en-US" sz="1800" dirty="0">
                <a:latin typeface="+mj-ea"/>
                <a:ea typeface="+mj-ea"/>
              </a:rPr>
              <a:t>与非门等效电路</a:t>
            </a:r>
            <a:endParaRPr lang="en-US" altLang="zh-CN" sz="1800" dirty="0">
              <a:latin typeface="+mj-ea"/>
              <a:ea typeface="+mj-ea"/>
            </a:endParaRPr>
          </a:p>
        </p:txBody>
      </p:sp>
      <p:sp>
        <p:nvSpPr>
          <p:cNvPr id="10" name="矩形 9"/>
          <p:cNvSpPr/>
          <p:nvPr/>
        </p:nvSpPr>
        <p:spPr>
          <a:xfrm>
            <a:off x="473091" y="6219469"/>
            <a:ext cx="8732388" cy="369332"/>
          </a:xfrm>
          <a:prstGeom prst="rect">
            <a:avLst/>
          </a:prstGeom>
        </p:spPr>
        <p:txBody>
          <a:bodyPr wrap="square">
            <a:spAutoFit/>
          </a:bodyPr>
          <a:lstStyle/>
          <a:p>
            <a:pPr eaLnBrk="1" hangingPunct="1"/>
            <a:r>
              <a:rPr lang="zh-CN" altLang="en-US" sz="1800" dirty="0">
                <a:latin typeface="+mj-ea"/>
                <a:ea typeface="+mj-ea"/>
              </a:rPr>
              <a:t>根据</a:t>
            </a:r>
            <a:r>
              <a:rPr lang="en-US" altLang="zh-CN" sz="1800" dirty="0">
                <a:latin typeface="+mj-ea"/>
                <a:ea typeface="+mj-ea"/>
              </a:rPr>
              <a:t>T13D</a:t>
            </a:r>
            <a:r>
              <a:rPr lang="zh-CN" altLang="en-US" sz="1800" dirty="0">
                <a:latin typeface="+mj-ea"/>
                <a:ea typeface="+mj-ea"/>
              </a:rPr>
              <a:t>的等效电路，</a:t>
            </a:r>
            <a:r>
              <a:rPr lang="en-US" altLang="zh-CN" sz="1800" dirty="0">
                <a:latin typeface="+mj-ea"/>
                <a:ea typeface="+mj-ea"/>
              </a:rPr>
              <a:t>a) </a:t>
            </a:r>
            <a:r>
              <a:rPr lang="zh-CN" altLang="en-US" sz="1800" dirty="0">
                <a:latin typeface="+mj-ea"/>
                <a:ea typeface="+mj-ea"/>
              </a:rPr>
              <a:t>或</a:t>
            </a:r>
            <a:r>
              <a:rPr lang="en-US" altLang="zh-CN" sz="1800" dirty="0">
                <a:latin typeface="+mj-ea"/>
                <a:ea typeface="+mj-ea"/>
              </a:rPr>
              <a:t>-</a:t>
            </a:r>
            <a:r>
              <a:rPr lang="zh-CN" altLang="en-US" sz="1800" dirty="0">
                <a:latin typeface="+mj-ea"/>
                <a:ea typeface="+mj-ea"/>
              </a:rPr>
              <a:t>非  </a:t>
            </a:r>
            <a:r>
              <a:rPr lang="en-US" altLang="zh-CN" sz="1800" dirty="0">
                <a:latin typeface="+mj-ea"/>
                <a:ea typeface="+mj-ea"/>
              </a:rPr>
              <a:t>b) </a:t>
            </a:r>
            <a:r>
              <a:rPr lang="zh-CN" altLang="en-US" sz="1800" dirty="0">
                <a:latin typeface="+mj-ea"/>
                <a:ea typeface="+mj-ea"/>
              </a:rPr>
              <a:t>非</a:t>
            </a:r>
            <a:r>
              <a:rPr lang="en-US" altLang="zh-CN" sz="1800" dirty="0">
                <a:latin typeface="+mj-ea"/>
                <a:ea typeface="+mj-ea"/>
              </a:rPr>
              <a:t>-</a:t>
            </a:r>
            <a:r>
              <a:rPr lang="zh-CN" altLang="en-US" sz="1800" dirty="0">
                <a:latin typeface="+mj-ea"/>
                <a:ea typeface="+mj-ea"/>
              </a:rPr>
              <a:t>与  </a:t>
            </a:r>
            <a:r>
              <a:rPr lang="en-US" altLang="zh-CN" sz="1800" dirty="0">
                <a:latin typeface="+mj-ea"/>
                <a:ea typeface="+mj-ea"/>
              </a:rPr>
              <a:t>c) </a:t>
            </a:r>
            <a:r>
              <a:rPr lang="zh-CN" altLang="en-US" sz="1800" dirty="0">
                <a:latin typeface="+mj-ea"/>
                <a:ea typeface="+mj-ea"/>
              </a:rPr>
              <a:t>或非门逻辑符号  </a:t>
            </a:r>
            <a:r>
              <a:rPr lang="en-US" altLang="zh-CN" sz="1800" dirty="0">
                <a:latin typeface="+mj-ea"/>
                <a:ea typeface="+mj-ea"/>
              </a:rPr>
              <a:t>d)</a:t>
            </a:r>
            <a:r>
              <a:rPr lang="zh-CN" altLang="en-US" sz="1800" dirty="0">
                <a:latin typeface="+mj-ea"/>
                <a:ea typeface="+mj-ea"/>
              </a:rPr>
              <a:t>或非门等效电路</a:t>
            </a:r>
            <a:endParaRPr lang="en-US" altLang="zh-CN" sz="1800" dirty="0">
              <a:latin typeface="+mj-ea"/>
              <a:ea typeface="+mj-ea"/>
            </a:endParaRPr>
          </a:p>
        </p:txBody>
      </p:sp>
      <p:sp>
        <p:nvSpPr>
          <p:cNvPr id="11" name="矩形 10"/>
          <p:cNvSpPr/>
          <p:nvPr/>
        </p:nvSpPr>
        <p:spPr>
          <a:xfrm>
            <a:off x="4093951" y="855118"/>
            <a:ext cx="4499992" cy="76944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sz="2200" dirty="0">
                <a:solidFill>
                  <a:srgbClr val="FF0000"/>
                </a:solidFill>
                <a:latin typeface="+mj-ea"/>
                <a:ea typeface="+mj-ea"/>
              </a:rPr>
              <a:t>注意</a:t>
            </a:r>
            <a:r>
              <a:rPr lang="zh-CN" altLang="en-US" sz="2200" dirty="0">
                <a:latin typeface="+mj-ea"/>
                <a:ea typeface="+mj-ea"/>
              </a:rPr>
              <a:t>反相圈的位置，逻辑门的符号和逻辑门的名称之间的关系。</a:t>
            </a:r>
            <a:endParaRPr lang="zh-CN" altLang="en-US" sz="2200" dirty="0">
              <a:latin typeface="+mj-ea"/>
              <a:ea typeface="+mj-ea"/>
            </a:endParaRPr>
          </a:p>
        </p:txBody>
      </p:sp>
      <p:sp>
        <p:nvSpPr>
          <p:cNvPr id="12" name="矩形 11"/>
          <p:cNvSpPr/>
          <p:nvPr/>
        </p:nvSpPr>
        <p:spPr>
          <a:xfrm>
            <a:off x="3836987" y="2384595"/>
            <a:ext cx="4474032"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sz="2200" dirty="0">
                <a:solidFill>
                  <a:srgbClr val="FF0000"/>
                </a:solidFill>
                <a:latin typeface="+mj-ea"/>
                <a:ea typeface="+mj-ea"/>
              </a:rPr>
              <a:t>这里表达式中的</a:t>
            </a:r>
            <a:r>
              <a:rPr lang="en-US" altLang="zh-CN" sz="2200" dirty="0">
                <a:solidFill>
                  <a:srgbClr val="FF0000"/>
                </a:solidFill>
                <a:latin typeface="+mj-ea"/>
                <a:ea typeface="+mj-ea"/>
              </a:rPr>
              <a:t>’</a:t>
            </a:r>
            <a:r>
              <a:rPr lang="zh-CN" altLang="en-US" sz="2200" dirty="0">
                <a:solidFill>
                  <a:srgbClr val="FF0000"/>
                </a:solidFill>
                <a:latin typeface="+mj-ea"/>
                <a:ea typeface="+mj-ea"/>
              </a:rPr>
              <a:t>表示取反</a:t>
            </a:r>
            <a:endParaRPr lang="zh-CN" altLang="en-US" sz="2200" dirty="0">
              <a:latin typeface="+mj-ea"/>
              <a:ea typeface="+mj-e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6" presetClass="entr" presetSubtype="16"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circle(in)">
                                      <p:cBhvr>
                                        <p:cTn id="16" dur="20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animBg="1"/>
      <p:bldP spid="1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a:t>2.2 </a:t>
            </a:r>
            <a:r>
              <a:rPr lang="zh-CN" altLang="en-US" sz="3600" dirty="0"/>
              <a:t>定理</a:t>
            </a:r>
            <a:endParaRPr lang="zh-CN" altLang="en-US" dirty="0"/>
          </a:p>
        </p:txBody>
      </p:sp>
      <p:sp>
        <p:nvSpPr>
          <p:cNvPr id="3" name="内容占位符 2"/>
          <p:cNvSpPr>
            <a:spLocks noGrp="1"/>
          </p:cNvSpPr>
          <p:nvPr>
            <p:ph idx="1"/>
          </p:nvPr>
        </p:nvSpPr>
        <p:spPr>
          <a:xfrm>
            <a:off x="422362" y="1012559"/>
            <a:ext cx="8229600" cy="423129"/>
          </a:xfrm>
        </p:spPr>
        <p:txBody>
          <a:bodyPr/>
          <a:lstStyle/>
          <a:p>
            <a:r>
              <a:rPr lang="zh-CN" altLang="en-US" sz="2200" dirty="0"/>
              <a:t>德</a:t>
            </a:r>
            <a:r>
              <a:rPr lang="en-US" altLang="zh-CN" sz="2200" dirty="0"/>
              <a:t>•</a:t>
            </a:r>
            <a:r>
              <a:rPr lang="zh-CN" altLang="en-US" sz="2200" dirty="0"/>
              <a:t>摩根定理的应用例</a:t>
            </a:r>
            <a:endParaRPr lang="zh-CN" altLang="en-US" sz="2200"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pic>
        <p:nvPicPr>
          <p:cNvPr id="30617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89349" y="1721633"/>
            <a:ext cx="6795369" cy="4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800100" y="109698"/>
            <a:ext cx="6073775" cy="533288"/>
          </a:xfrm>
        </p:spPr>
        <p:txBody>
          <a:bodyPr/>
          <a:lstStyle/>
          <a:p>
            <a:r>
              <a:rPr lang="en-US" altLang="zh-CN" sz="3600" dirty="0"/>
              <a:t>2.3 </a:t>
            </a:r>
            <a:r>
              <a:rPr lang="zh-CN" altLang="en-US" sz="3600" dirty="0"/>
              <a:t>对偶定律</a:t>
            </a:r>
            <a:endParaRPr lang="zh-CN" altLang="en-US" dirty="0"/>
          </a:p>
        </p:txBody>
      </p:sp>
      <p:sp>
        <p:nvSpPr>
          <p:cNvPr id="9" name="内容占位符 8"/>
          <p:cNvSpPr>
            <a:spLocks noGrp="1"/>
          </p:cNvSpPr>
          <p:nvPr>
            <p:ph idx="1"/>
          </p:nvPr>
        </p:nvSpPr>
        <p:spPr>
          <a:xfrm>
            <a:off x="457200" y="1051948"/>
            <a:ext cx="8686800" cy="2014911"/>
          </a:xfrm>
        </p:spPr>
        <p:txBody>
          <a:bodyPr/>
          <a:lstStyle/>
          <a:p>
            <a:pPr>
              <a:spcBef>
                <a:spcPct val="50000"/>
              </a:spcBef>
            </a:pPr>
            <a:r>
              <a:rPr lang="zh-CN" altLang="en-US" sz="2200" dirty="0"/>
              <a:t>对于任何一个逻辑表达式</a:t>
            </a:r>
            <a:r>
              <a:rPr lang="en-US" altLang="zh-CN" sz="2200" dirty="0"/>
              <a:t>Y</a:t>
            </a:r>
            <a:r>
              <a:rPr lang="zh-CN" altLang="en-US" sz="2200" dirty="0"/>
              <a:t>，若将其中的</a:t>
            </a:r>
            <a:r>
              <a:rPr lang="zh-CN" altLang="en-US" sz="2200" dirty="0">
                <a:solidFill>
                  <a:srgbClr val="0070C0"/>
                </a:solidFill>
              </a:rPr>
              <a:t>“</a:t>
            </a:r>
            <a:r>
              <a:rPr lang="en-US" altLang="zh-CN" sz="2200" dirty="0">
                <a:solidFill>
                  <a:srgbClr val="FF0000"/>
                </a:solidFill>
              </a:rPr>
              <a:t>·</a:t>
            </a:r>
            <a:r>
              <a:rPr lang="en-US" altLang="zh-CN" sz="2200" dirty="0">
                <a:solidFill>
                  <a:srgbClr val="0070C0"/>
                </a:solidFill>
              </a:rPr>
              <a:t>”</a:t>
            </a:r>
            <a:r>
              <a:rPr lang="zh-CN" altLang="en-US" sz="2200" dirty="0">
                <a:solidFill>
                  <a:srgbClr val="0070C0"/>
                </a:solidFill>
              </a:rPr>
              <a:t>与“</a:t>
            </a:r>
            <a:r>
              <a:rPr lang="en-US" altLang="zh-CN" sz="2200" dirty="0">
                <a:solidFill>
                  <a:srgbClr val="FF0000"/>
                </a:solidFill>
              </a:rPr>
              <a:t>+</a:t>
            </a:r>
            <a:r>
              <a:rPr lang="en-US" altLang="zh-CN" sz="2200" dirty="0">
                <a:solidFill>
                  <a:srgbClr val="0070C0"/>
                </a:solidFill>
              </a:rPr>
              <a:t>”</a:t>
            </a:r>
            <a:r>
              <a:rPr lang="zh-CN" altLang="en-US" sz="2200" dirty="0">
                <a:solidFill>
                  <a:srgbClr val="0070C0"/>
                </a:solidFill>
              </a:rPr>
              <a:t>互换，“</a:t>
            </a:r>
            <a:r>
              <a:rPr lang="en-US" altLang="zh-CN" sz="2200" dirty="0">
                <a:solidFill>
                  <a:srgbClr val="FF0000"/>
                </a:solidFill>
              </a:rPr>
              <a:t>0</a:t>
            </a:r>
            <a:r>
              <a:rPr lang="en-US" altLang="zh-CN" sz="2200" dirty="0">
                <a:solidFill>
                  <a:srgbClr val="0070C0"/>
                </a:solidFill>
              </a:rPr>
              <a:t>”</a:t>
            </a:r>
            <a:r>
              <a:rPr lang="zh-CN" altLang="en-US" sz="2200" dirty="0">
                <a:solidFill>
                  <a:srgbClr val="0070C0"/>
                </a:solidFill>
              </a:rPr>
              <a:t>和“</a:t>
            </a:r>
            <a:r>
              <a:rPr lang="en-US" altLang="zh-CN" sz="2200" dirty="0">
                <a:solidFill>
                  <a:srgbClr val="FF0000"/>
                </a:solidFill>
              </a:rPr>
              <a:t>1</a:t>
            </a:r>
            <a:r>
              <a:rPr lang="zh-CN" altLang="en-US" sz="2200" dirty="0">
                <a:solidFill>
                  <a:srgbClr val="0070C0"/>
                </a:solidFill>
              </a:rPr>
              <a:t>”互换</a:t>
            </a:r>
            <a:r>
              <a:rPr lang="zh-CN" altLang="en-US" sz="2200" dirty="0"/>
              <a:t>，则得到</a:t>
            </a:r>
            <a:r>
              <a:rPr lang="en-US" altLang="zh-CN" sz="2200" dirty="0"/>
              <a:t>Y</a:t>
            </a:r>
            <a:r>
              <a:rPr lang="zh-CN" altLang="en-US" sz="2200" dirty="0"/>
              <a:t>的对偶式</a:t>
            </a:r>
            <a:r>
              <a:rPr lang="en-US" altLang="zh-CN" sz="2200" dirty="0"/>
              <a:t>Y</a:t>
            </a:r>
            <a:r>
              <a:rPr lang="en-US" altLang="zh-CN" sz="2200" baseline="30000" dirty="0"/>
              <a:t>D</a:t>
            </a:r>
            <a:r>
              <a:rPr lang="zh-CN" altLang="en-US" sz="2200" dirty="0"/>
              <a:t>，称</a:t>
            </a:r>
            <a:r>
              <a:rPr lang="en-US" altLang="zh-CN" sz="2200" dirty="0"/>
              <a:t>Y</a:t>
            </a:r>
            <a:r>
              <a:rPr lang="zh-CN" altLang="en-US" sz="2200" dirty="0"/>
              <a:t>与</a:t>
            </a:r>
            <a:r>
              <a:rPr lang="en-US" altLang="zh-CN" sz="2200" dirty="0"/>
              <a:t>Y</a:t>
            </a:r>
            <a:r>
              <a:rPr lang="en-US" altLang="zh-CN" sz="2200" baseline="30000" dirty="0"/>
              <a:t>D</a:t>
            </a:r>
            <a:r>
              <a:rPr lang="zh-CN" altLang="en-US" sz="2200" dirty="0"/>
              <a:t>互为</a:t>
            </a:r>
            <a:r>
              <a:rPr lang="zh-CN" altLang="en-US" sz="2200" dirty="0">
                <a:solidFill>
                  <a:srgbClr val="FF0000"/>
                </a:solidFill>
              </a:rPr>
              <a:t>对偶式</a:t>
            </a:r>
            <a:r>
              <a:rPr lang="zh-CN" altLang="en-US" sz="2200" dirty="0"/>
              <a:t>。</a:t>
            </a:r>
            <a:endParaRPr lang="en-US" altLang="zh-CN" sz="2200" dirty="0"/>
          </a:p>
          <a:p>
            <a:pPr>
              <a:spcBef>
                <a:spcPct val="50000"/>
              </a:spcBef>
            </a:pPr>
            <a:r>
              <a:rPr lang="zh-CN" altLang="en-US" sz="2200" dirty="0">
                <a:solidFill>
                  <a:srgbClr val="FF0000"/>
                </a:solidFill>
              </a:rPr>
              <a:t>对偶定律：</a:t>
            </a:r>
            <a:r>
              <a:rPr lang="zh-CN" altLang="en-US" sz="2200" dirty="0">
                <a:solidFill>
                  <a:srgbClr val="7030A0"/>
                </a:solidFill>
              </a:rPr>
              <a:t>若两个逻辑表达式相等，则它们的对偶式也相等。</a:t>
            </a:r>
            <a:endParaRPr lang="zh-CN" altLang="en-US" sz="2200" dirty="0">
              <a:solidFill>
                <a:srgbClr val="FF0000"/>
              </a:solidFill>
            </a:endParaRPr>
          </a:p>
          <a:p>
            <a:pPr lvl="1">
              <a:spcBef>
                <a:spcPct val="50000"/>
              </a:spcBef>
            </a:pPr>
            <a:r>
              <a:rPr lang="zh-CN" altLang="en-US" dirty="0"/>
              <a:t>在保持</a:t>
            </a:r>
            <a:r>
              <a:rPr lang="zh-CN" altLang="en-US" dirty="0">
                <a:solidFill>
                  <a:srgbClr val="FF0000"/>
                </a:solidFill>
              </a:rPr>
              <a:t>运算优先次序</a:t>
            </a:r>
            <a:r>
              <a:rPr lang="zh-CN" altLang="en-US" dirty="0"/>
              <a:t>不变的前提下</a:t>
            </a:r>
            <a:endParaRPr lang="zh-CN" altLang="en-US" dirty="0"/>
          </a:p>
        </p:txBody>
      </p:sp>
      <p:sp>
        <p:nvSpPr>
          <p:cNvPr id="5" name="灯片编号占位符 4"/>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7" name="TextBox 6"/>
          <p:cNvSpPr txBox="1"/>
          <p:nvPr/>
        </p:nvSpPr>
        <p:spPr>
          <a:xfrm>
            <a:off x="1322262" y="3680148"/>
            <a:ext cx="1864568" cy="523220"/>
          </a:xfrm>
          <a:prstGeom prst="rect">
            <a:avLst/>
          </a:prstGeom>
          <a:noFill/>
        </p:spPr>
        <p:txBody>
          <a:bodyPr wrap="square" rtlCol="0">
            <a:spAutoFit/>
          </a:bodyPr>
          <a:lstStyle/>
          <a:p>
            <a:r>
              <a:rPr lang="en-US" altLang="zh-CN" sz="2800" dirty="0"/>
              <a:t>X+X·Y=X</a:t>
            </a:r>
            <a:endParaRPr lang="zh-CN" altLang="en-US" sz="2800" dirty="0"/>
          </a:p>
        </p:txBody>
      </p:sp>
      <p:sp>
        <p:nvSpPr>
          <p:cNvPr id="10" name="TextBox 9"/>
          <p:cNvSpPr txBox="1"/>
          <p:nvPr/>
        </p:nvSpPr>
        <p:spPr>
          <a:xfrm>
            <a:off x="5127536" y="3687407"/>
            <a:ext cx="2375553" cy="523220"/>
          </a:xfrm>
          <a:prstGeom prst="rect">
            <a:avLst/>
          </a:prstGeom>
          <a:noFill/>
        </p:spPr>
        <p:txBody>
          <a:bodyPr wrap="square" rtlCol="0">
            <a:spAutoFit/>
          </a:bodyPr>
          <a:lstStyle/>
          <a:p>
            <a:r>
              <a:rPr lang="en-US" altLang="zh-CN" sz="2800" dirty="0"/>
              <a:t>X·(X+Y)=X</a:t>
            </a:r>
            <a:endParaRPr lang="zh-CN" altLang="en-US" sz="2800" dirty="0"/>
          </a:p>
        </p:txBody>
      </p:sp>
      <p:sp>
        <p:nvSpPr>
          <p:cNvPr id="11" name="右箭头 10"/>
          <p:cNvSpPr/>
          <p:nvPr/>
        </p:nvSpPr>
        <p:spPr>
          <a:xfrm>
            <a:off x="3476300" y="3534386"/>
            <a:ext cx="1233486" cy="829262"/>
          </a:xfrm>
          <a:prstGeom prst="rightArrow">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srgbClr val="FF0000"/>
                </a:solidFill>
                <a:latin typeface="+mj-ea"/>
                <a:ea typeface="+mj-ea"/>
              </a:rPr>
              <a:t>对偶式</a:t>
            </a:r>
            <a:endParaRPr lang="zh-CN" altLang="en-US" sz="1800" dirty="0">
              <a:solidFill>
                <a:srgbClr val="FF0000"/>
              </a:solidFill>
              <a:latin typeface="+mj-ea"/>
              <a:ea typeface="+mj-e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1"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03474" y="126489"/>
            <a:ext cx="6905625" cy="533288"/>
          </a:xfrm>
        </p:spPr>
        <p:txBody>
          <a:bodyPr/>
          <a:lstStyle/>
          <a:p>
            <a:r>
              <a:rPr lang="en-US" altLang="zh-CN" sz="3600" dirty="0"/>
              <a:t>2.4 </a:t>
            </a:r>
            <a:r>
              <a:rPr lang="zh-CN" altLang="en-US" sz="3600" dirty="0"/>
              <a:t>反演定律*</a:t>
            </a:r>
            <a:endParaRPr lang="zh-CN" altLang="en-US" sz="3600" dirty="0"/>
          </a:p>
        </p:txBody>
      </p:sp>
      <mc:AlternateContent xmlns:mc="http://schemas.openxmlformats.org/markup-compatibility/2006">
        <mc:Choice xmlns:a14="http://schemas.microsoft.com/office/drawing/2010/main" Requires="a14">
          <p:sp>
            <p:nvSpPr>
              <p:cNvPr id="6" name="内容占位符 5"/>
              <p:cNvSpPr>
                <a:spLocks noGrp="1"/>
              </p:cNvSpPr>
              <p:nvPr>
                <p:ph idx="1"/>
              </p:nvPr>
            </p:nvSpPr>
            <p:spPr>
              <a:xfrm>
                <a:off x="457200" y="1141564"/>
                <a:ext cx="8354860" cy="2996718"/>
              </a:xfrm>
            </p:spPr>
            <p:txBody>
              <a:bodyPr/>
              <a:lstStyle/>
              <a:p>
                <a:pPr marL="514350" indent="-514350">
                  <a:spcBef>
                    <a:spcPct val="50000"/>
                  </a:spcBef>
                </a:pPr>
                <a:r>
                  <a:rPr lang="zh-CN" altLang="en-US" sz="2200" b="1" dirty="0">
                    <a:solidFill>
                      <a:srgbClr val="FF0000"/>
                    </a:solidFill>
                  </a:rPr>
                  <a:t>反演定律</a:t>
                </a:r>
                <a:r>
                  <a:rPr lang="zh-CN" altLang="en-US" sz="2200" dirty="0">
                    <a:solidFill>
                      <a:srgbClr val="FF0000"/>
                    </a:solidFill>
                  </a:rPr>
                  <a:t>：</a:t>
                </a:r>
                <a:r>
                  <a:rPr lang="zh-CN" altLang="en-US" sz="2200" dirty="0"/>
                  <a:t>对于任意一个逻辑表达式</a:t>
                </a:r>
                <a:r>
                  <a:rPr lang="en-US" altLang="zh-CN" sz="2200" dirty="0"/>
                  <a:t>Y</a:t>
                </a:r>
                <a:r>
                  <a:rPr lang="zh-CN" altLang="en-US" sz="2200" dirty="0"/>
                  <a:t>，若将其中所有的</a:t>
                </a:r>
                <a:r>
                  <a:rPr lang="zh-CN" altLang="en-US" sz="2200" dirty="0">
                    <a:solidFill>
                      <a:srgbClr val="0070C0"/>
                    </a:solidFill>
                  </a:rPr>
                  <a:t>“</a:t>
                </a:r>
                <a:r>
                  <a:rPr lang="en-US" altLang="zh-CN" sz="2200" dirty="0">
                    <a:solidFill>
                      <a:srgbClr val="FF0000"/>
                    </a:solidFill>
                  </a:rPr>
                  <a:t>·</a:t>
                </a:r>
                <a:r>
                  <a:rPr lang="en-US" altLang="zh-CN" sz="2200" dirty="0">
                    <a:solidFill>
                      <a:srgbClr val="0070C0"/>
                    </a:solidFill>
                  </a:rPr>
                  <a:t>”</a:t>
                </a:r>
                <a:r>
                  <a:rPr lang="zh-CN" altLang="en-US" sz="2200" dirty="0">
                    <a:solidFill>
                      <a:srgbClr val="0070C0"/>
                    </a:solidFill>
                  </a:rPr>
                  <a:t>与“</a:t>
                </a:r>
                <a:r>
                  <a:rPr lang="en-US" altLang="zh-CN" sz="2200" dirty="0">
                    <a:solidFill>
                      <a:srgbClr val="FF0000"/>
                    </a:solidFill>
                  </a:rPr>
                  <a:t>+</a:t>
                </a:r>
                <a:r>
                  <a:rPr lang="en-US" altLang="zh-CN" sz="2200" dirty="0">
                    <a:solidFill>
                      <a:srgbClr val="0070C0"/>
                    </a:solidFill>
                  </a:rPr>
                  <a:t>”</a:t>
                </a:r>
                <a:r>
                  <a:rPr lang="zh-CN" altLang="en-US" sz="2200" dirty="0">
                    <a:solidFill>
                      <a:srgbClr val="0070C0"/>
                    </a:solidFill>
                  </a:rPr>
                  <a:t>互换，“</a:t>
                </a:r>
                <a:r>
                  <a:rPr lang="en-US" altLang="zh-CN" sz="2200" dirty="0">
                    <a:solidFill>
                      <a:srgbClr val="FF0000"/>
                    </a:solidFill>
                  </a:rPr>
                  <a:t>0</a:t>
                </a:r>
                <a:r>
                  <a:rPr lang="en-US" altLang="zh-CN" sz="2200" dirty="0">
                    <a:solidFill>
                      <a:srgbClr val="0070C0"/>
                    </a:solidFill>
                  </a:rPr>
                  <a:t>”</a:t>
                </a:r>
                <a:r>
                  <a:rPr lang="zh-CN" altLang="en-US" sz="2200" dirty="0">
                    <a:solidFill>
                      <a:srgbClr val="0070C0"/>
                    </a:solidFill>
                  </a:rPr>
                  <a:t>和“</a:t>
                </a:r>
                <a:r>
                  <a:rPr lang="en-US" altLang="zh-CN" sz="2200" dirty="0">
                    <a:solidFill>
                      <a:srgbClr val="FF0000"/>
                    </a:solidFill>
                  </a:rPr>
                  <a:t>1</a:t>
                </a:r>
                <a:r>
                  <a:rPr lang="en-US" altLang="zh-CN" sz="2200" dirty="0">
                    <a:solidFill>
                      <a:srgbClr val="0070C0"/>
                    </a:solidFill>
                  </a:rPr>
                  <a:t>”</a:t>
                </a:r>
                <a:r>
                  <a:rPr lang="zh-CN" altLang="en-US" sz="2200" dirty="0">
                    <a:solidFill>
                      <a:srgbClr val="0070C0"/>
                    </a:solidFill>
                  </a:rPr>
                  <a:t>互换，</a:t>
                </a:r>
                <a:r>
                  <a:rPr lang="zh-CN" altLang="en-US" sz="2200" dirty="0">
                    <a:solidFill>
                      <a:srgbClr val="FF0000"/>
                    </a:solidFill>
                  </a:rPr>
                  <a:t>原</a:t>
                </a:r>
                <a:r>
                  <a:rPr lang="zh-CN" altLang="en-US" sz="2200" dirty="0">
                    <a:solidFill>
                      <a:srgbClr val="0070C0"/>
                    </a:solidFill>
                  </a:rPr>
                  <a:t>变量与</a:t>
                </a:r>
                <a:r>
                  <a:rPr lang="zh-CN" altLang="en-US" sz="2200" dirty="0">
                    <a:solidFill>
                      <a:srgbClr val="FF0000"/>
                    </a:solidFill>
                  </a:rPr>
                  <a:t>反</a:t>
                </a:r>
                <a:r>
                  <a:rPr lang="zh-CN" altLang="en-US" sz="2200" dirty="0">
                    <a:solidFill>
                      <a:srgbClr val="0070C0"/>
                    </a:solidFill>
                  </a:rPr>
                  <a:t>变量互换</a:t>
                </a:r>
                <a:r>
                  <a:rPr lang="zh-CN" altLang="en-US" sz="2200" dirty="0"/>
                  <a:t>，则得到的结果就是原函数的</a:t>
                </a:r>
                <a:r>
                  <a:rPr lang="zh-CN" altLang="en-US" sz="2200" dirty="0">
                    <a:solidFill>
                      <a:srgbClr val="FF0000"/>
                    </a:solidFill>
                  </a:rPr>
                  <a:t>反函数</a:t>
                </a:r>
                <a14:m>
                  <m:oMath xmlns:m="http://schemas.openxmlformats.org/officeDocument/2006/math">
                    <m:acc>
                      <m:accPr>
                        <m:chr m:val="̅"/>
                        <m:ctrlPr>
                          <a:rPr lang="en-US" altLang="zh-CN" sz="2200" i="1" dirty="0" smtClean="0">
                            <a:latin typeface="Cambria Math" panose="02040503050406030204" pitchFamily="18" charset="0"/>
                          </a:rPr>
                        </m:ctrlPr>
                      </m:accPr>
                      <m:e>
                        <m:r>
                          <a:rPr lang="en-US" altLang="zh-CN" sz="2200" b="1" i="0" dirty="0" smtClean="0">
                            <a:solidFill>
                              <a:srgbClr val="FF0000"/>
                            </a:solidFill>
                            <a:latin typeface="Cambria Math" panose="02040503050406030204" pitchFamily="18" charset="0"/>
                          </a:rPr>
                          <m:t>𝐘</m:t>
                        </m:r>
                      </m:e>
                    </m:acc>
                  </m:oMath>
                </a14:m>
                <a:r>
                  <a:rPr lang="zh-CN" altLang="en-US" sz="2200" dirty="0"/>
                  <a:t>  。</a:t>
                </a:r>
                <a:endParaRPr lang="en-US" altLang="zh-CN" sz="2200" dirty="0"/>
              </a:p>
              <a:p>
                <a:pPr marL="955675" lvl="1" indent="-514350">
                  <a:spcBef>
                    <a:spcPct val="50000"/>
                  </a:spcBef>
                </a:pPr>
                <a:r>
                  <a:rPr lang="zh-CN" altLang="en-US" dirty="0"/>
                  <a:t>需遵守“先</a:t>
                </a:r>
                <a:r>
                  <a:rPr lang="zh-CN" altLang="en-US" dirty="0">
                    <a:solidFill>
                      <a:srgbClr val="FF0000"/>
                    </a:solidFill>
                  </a:rPr>
                  <a:t>括号</a:t>
                </a:r>
                <a:r>
                  <a:rPr lang="zh-CN" altLang="en-US" dirty="0"/>
                  <a:t>，然后</a:t>
                </a:r>
                <a:r>
                  <a:rPr lang="zh-CN" altLang="en-US" dirty="0">
                    <a:solidFill>
                      <a:srgbClr val="FF0000"/>
                    </a:solidFill>
                  </a:rPr>
                  <a:t>与</a:t>
                </a:r>
                <a:r>
                  <a:rPr lang="zh-CN" altLang="en-US" dirty="0"/>
                  <a:t>，最后</a:t>
                </a:r>
                <a:r>
                  <a:rPr lang="zh-CN" altLang="en-US" dirty="0">
                    <a:solidFill>
                      <a:srgbClr val="FF0000"/>
                    </a:solidFill>
                  </a:rPr>
                  <a:t>或</a:t>
                </a:r>
                <a:r>
                  <a:rPr lang="zh-CN" altLang="en-US" dirty="0"/>
                  <a:t>”的运算优先次序</a:t>
                </a:r>
                <a:endParaRPr lang="en-US" altLang="zh-CN" dirty="0"/>
              </a:p>
              <a:p>
                <a:pPr marL="955675" lvl="1" indent="-514350">
                  <a:spcBef>
                    <a:spcPct val="50000"/>
                  </a:spcBef>
                </a:pPr>
                <a:r>
                  <a:rPr lang="zh-CN" altLang="en-US" dirty="0"/>
                  <a:t>不属于单个变量上的取反运算保留不变</a:t>
                </a:r>
                <a:endParaRPr lang="en-US" altLang="zh-CN" dirty="0"/>
              </a:p>
              <a:p>
                <a:pPr marL="955675" lvl="1" indent="-514350">
                  <a:spcBef>
                    <a:spcPct val="50000"/>
                  </a:spcBef>
                </a:pPr>
                <a:r>
                  <a:rPr lang="en-US" altLang="zh-CN" dirty="0" err="1"/>
                  <a:t>DeMorgan</a:t>
                </a:r>
                <a:r>
                  <a:rPr lang="zh-CN" altLang="en-US" dirty="0"/>
                  <a:t>定理是反演定理的一个特例</a:t>
                </a:r>
                <a:endParaRPr lang="zh-CN" altLang="en-US" dirty="0"/>
              </a:p>
            </p:txBody>
          </p:sp>
        </mc:Choice>
        <mc:Fallback>
          <p:sp>
            <p:nvSpPr>
              <p:cNvPr id="6" name="内容占位符 5"/>
              <p:cNvSpPr>
                <a:spLocks noRot="1" noChangeAspect="1" noMove="1" noResize="1" noEditPoints="1" noAdjustHandles="1" noChangeArrowheads="1" noChangeShapeType="1" noTextEdit="1"/>
              </p:cNvSpPr>
              <p:nvPr>
                <p:ph idx="1"/>
              </p:nvPr>
            </p:nvSpPr>
            <p:spPr>
              <a:xfrm>
                <a:off x="457200" y="1141564"/>
                <a:ext cx="8354860" cy="2996718"/>
              </a:xfrm>
              <a:blipFill rotWithShape="1">
                <a:blip r:embed="rId1"/>
                <a:stretch>
                  <a:fillRect t="-16" r="2" b="21"/>
                </a:stretch>
              </a:blipFill>
            </p:spPr>
            <p:txBody>
              <a:bodyPr/>
              <a:lstStyle/>
              <a:p>
                <a:r>
                  <a:rPr lang="zh-CN" altLang="en-US">
                    <a:noFill/>
                  </a:rPr>
                  <a:t> </a:t>
                </a:r>
              </a:p>
            </p:txBody>
          </p:sp>
        </mc:Fallback>
      </mc:AlternateContent>
      <p:sp>
        <p:nvSpPr>
          <p:cNvPr id="7" name="灯片编号占位符 6"/>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2" name="TextBox 1"/>
          <p:cNvSpPr txBox="1"/>
          <p:nvPr/>
        </p:nvSpPr>
        <p:spPr>
          <a:xfrm>
            <a:off x="1284104" y="4620069"/>
            <a:ext cx="4997699" cy="83099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sz="2400" dirty="0">
                <a:solidFill>
                  <a:srgbClr val="FF0000"/>
                </a:solidFill>
                <a:latin typeface="微软雅黑" panose="020B0503020204020204" pitchFamily="34" charset="-122"/>
                <a:ea typeface="微软雅黑" panose="020B0503020204020204" pitchFamily="34" charset="-122"/>
              </a:rPr>
              <a:t>注意：</a:t>
            </a:r>
            <a:r>
              <a:rPr lang="zh-CN" altLang="en-US" sz="2400" dirty="0">
                <a:latin typeface="微软雅黑" panose="020B0503020204020204" pitchFamily="34" charset="-122"/>
                <a:ea typeface="微软雅黑" panose="020B0503020204020204" pitchFamily="34" charset="-122"/>
              </a:rPr>
              <a:t>与数学概念中的“反函数”有区别，也有人称之为补函数。</a:t>
            </a:r>
            <a:endParaRPr lang="zh-CN" altLang="en-US" sz="2400" dirty="0">
              <a:latin typeface="微软雅黑" panose="020B0503020204020204" pitchFamily="34" charset="-122"/>
              <a:ea typeface="微软雅黑" panose="020B0503020204020204" pitchFamily="34" charset="-122"/>
            </a:endParaRPr>
          </a:p>
        </p:txBody>
      </p:sp>
      <p:cxnSp>
        <p:nvCxnSpPr>
          <p:cNvPr id="4" name="直接连接符 3"/>
          <p:cNvCxnSpPr/>
          <p:nvPr/>
        </p:nvCxnSpPr>
        <p:spPr bwMode="auto">
          <a:xfrm>
            <a:off x="4941517" y="2041742"/>
            <a:ext cx="216000" cy="0"/>
          </a:xfrm>
          <a:prstGeom prst="line">
            <a:avLst/>
          </a:prstGeom>
          <a:noFill/>
          <a:ln w="38100" cap="flat" cmpd="sng" algn="ctr">
            <a:solidFill>
              <a:srgbClr val="FF0000"/>
            </a:solidFill>
            <a:prstDash val="solid"/>
            <a:round/>
            <a:headEnd type="none" w="med" len="med"/>
            <a:tailEnd type="none" w="med" len="med"/>
          </a:ln>
          <a:effectLst/>
        </p:spPr>
      </p:cxn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fld id="{C1ECEEFF-59F7-41BB-B9A9-13867E2BF01F}" type="slidenum">
              <a:rPr lang="zh-CN" altLang="en-US" smtClean="0"/>
            </a:fld>
            <a:endParaRPr lang="zh-CN" altLang="en-US"/>
          </a:p>
        </p:txBody>
      </p:sp>
      <p:sp>
        <p:nvSpPr>
          <p:cNvPr id="7" name="内容占位符 2"/>
          <p:cNvSpPr>
            <a:spLocks noGrp="1"/>
          </p:cNvSpPr>
          <p:nvPr>
            <p:ph idx="1"/>
          </p:nvPr>
        </p:nvSpPr>
        <p:spPr>
          <a:xfrm>
            <a:off x="3153233" y="2681676"/>
            <a:ext cx="2840471" cy="1977336"/>
          </a:xfrm>
        </p:spPr>
        <p:txBody>
          <a:bodyPr/>
          <a:lstStyle/>
          <a:p>
            <a:pPr eaLnBrk="0" hangingPunct="0">
              <a:spcBef>
                <a:spcPts val="600"/>
              </a:spcBef>
            </a:pPr>
            <a:r>
              <a:rPr lang="zh-CN" altLang="en-US" kern="1200" dirty="0"/>
              <a:t>逻辑函数</a:t>
            </a:r>
            <a:endParaRPr lang="en-US" altLang="zh-CN" kern="1200" dirty="0"/>
          </a:p>
          <a:p>
            <a:pPr eaLnBrk="0" hangingPunct="0">
              <a:spcBef>
                <a:spcPts val="600"/>
              </a:spcBef>
            </a:pPr>
            <a:r>
              <a:rPr lang="zh-CN" altLang="zh-CN" kern="1200" dirty="0"/>
              <a:t>真值表</a:t>
            </a:r>
            <a:r>
              <a:rPr lang="zh-CN" altLang="en-US" kern="1200" dirty="0"/>
              <a:t>与波形图</a:t>
            </a:r>
            <a:endParaRPr lang="en-US" altLang="zh-CN" kern="1200" dirty="0"/>
          </a:p>
          <a:p>
            <a:pPr eaLnBrk="0" hangingPunct="0">
              <a:spcBef>
                <a:spcPts val="600"/>
              </a:spcBef>
            </a:pPr>
            <a:r>
              <a:rPr lang="zh-CN" altLang="en-US" kern="1200" dirty="0"/>
              <a:t>标准范式表示</a:t>
            </a:r>
            <a:endParaRPr lang="en-US" altLang="zh-CN" kern="1200" dirty="0"/>
          </a:p>
          <a:p>
            <a:endParaRPr lang="zh-CN" altLang="en-US" dirty="0"/>
          </a:p>
        </p:txBody>
      </p:sp>
      <p:sp>
        <p:nvSpPr>
          <p:cNvPr id="9" name="标题 6"/>
          <p:cNvSpPr txBox="1"/>
          <p:nvPr/>
        </p:nvSpPr>
        <p:spPr bwMode="auto">
          <a:xfrm>
            <a:off x="573066" y="1391389"/>
            <a:ext cx="7772400" cy="53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63500" tIns="25400" rIns="63500" bIns="25400" numCol="1" anchor="t" anchorCtr="0" compatLnSpc="1">
            <a:spAutoFit/>
          </a:bodyPr>
          <a:lstStyle>
            <a:lvl1pPr algn="l" rtl="0" eaLnBrk="1" fontAlgn="base" hangingPunct="1">
              <a:lnSpc>
                <a:spcPct val="87000"/>
              </a:lnSpc>
              <a:spcBef>
                <a:spcPct val="0"/>
              </a:spcBef>
              <a:spcAft>
                <a:spcPct val="0"/>
              </a:spcAft>
              <a:defRPr sz="3200" b="1">
                <a:solidFill>
                  <a:srgbClr val="CC0000"/>
                </a:solidFill>
                <a:latin typeface="微软雅黑" panose="020B0503020204020204" pitchFamily="34" charset="-122"/>
                <a:ea typeface="微软雅黑" panose="020B0503020204020204" pitchFamily="34" charset="-122"/>
                <a:cs typeface="+mj-cs"/>
              </a:defRPr>
            </a:lvl1pPr>
            <a:lvl2pPr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2pPr>
            <a:lvl3pPr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3pPr>
            <a:lvl4pPr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4pPr>
            <a:lvl5pPr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5pPr>
            <a:lvl6pPr marL="457200"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6pPr>
            <a:lvl7pPr marL="914400"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7pPr>
            <a:lvl8pPr marL="1371600"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8pPr>
            <a:lvl9pPr marL="1828800" algn="l" rtl="0" eaLnBrk="1" fontAlgn="base" hangingPunct="1">
              <a:lnSpc>
                <a:spcPct val="87000"/>
              </a:lnSpc>
              <a:spcBef>
                <a:spcPct val="0"/>
              </a:spcBef>
              <a:spcAft>
                <a:spcPct val="0"/>
              </a:spcAft>
              <a:defRPr sz="3200" b="1">
                <a:solidFill>
                  <a:srgbClr val="CC0000"/>
                </a:solidFill>
                <a:latin typeface="Arial" panose="020B0604020202020204" pitchFamily="34" charset="0"/>
                <a:ea typeface="黑体" panose="02010609060101010101" pitchFamily="49" charset="-122"/>
              </a:defRPr>
            </a:lvl9pPr>
          </a:lstStyle>
          <a:p>
            <a:pPr algn="ctr"/>
            <a:r>
              <a:rPr lang="zh-CN" altLang="en-US" sz="3600" kern="0" dirty="0"/>
              <a:t>第三讲</a:t>
            </a:r>
            <a:r>
              <a:rPr lang="en-US" altLang="zh-CN" sz="3600" kern="0" dirty="0"/>
              <a:t> </a:t>
            </a:r>
            <a:r>
              <a:rPr lang="zh-CN" altLang="en-US" sz="3600" kern="0" dirty="0"/>
              <a:t>逻辑关系描述</a:t>
            </a:r>
            <a:endParaRPr lang="zh-CN" altLang="en-US" sz="3600" kern="0" dirty="0"/>
          </a:p>
        </p:txBody>
      </p:sp>
    </p:spTree>
  </p:cSld>
  <p:clrMapOvr>
    <a:masterClrMapping/>
  </p:clrMapOvr>
  <p:transition spd="med">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3.1 </a:t>
            </a:r>
            <a:r>
              <a:rPr lang="zh-CN" altLang="en-US" dirty="0"/>
              <a:t>逻辑函数</a:t>
            </a:r>
            <a:endParaRPr lang="zh-CN" altLang="en-US" dirty="0"/>
          </a:p>
        </p:txBody>
      </p:sp>
      <p:sp>
        <p:nvSpPr>
          <p:cNvPr id="3" name="内容占位符 2"/>
          <p:cNvSpPr>
            <a:spLocks noGrp="1"/>
          </p:cNvSpPr>
          <p:nvPr>
            <p:ph idx="1"/>
          </p:nvPr>
        </p:nvSpPr>
        <p:spPr>
          <a:xfrm>
            <a:off x="177479" y="939935"/>
            <a:ext cx="8709737" cy="1340880"/>
          </a:xfrm>
        </p:spPr>
        <p:txBody>
          <a:bodyPr/>
          <a:lstStyle/>
          <a:p>
            <a:r>
              <a:rPr lang="zh-CN" altLang="en-US" b="1" dirty="0">
                <a:solidFill>
                  <a:srgbClr val="FF0000"/>
                </a:solidFill>
              </a:rPr>
              <a:t>逻辑函数</a:t>
            </a:r>
            <a:r>
              <a:rPr lang="zh-CN" altLang="en-US" dirty="0"/>
              <a:t>是反映输入变量和输出变量之间逻辑关系的表达式。</a:t>
            </a:r>
            <a:endParaRPr lang="en-US" altLang="zh-CN" dirty="0"/>
          </a:p>
          <a:p>
            <a:pPr lvl="1"/>
            <a:r>
              <a:rPr lang="zh-CN" altLang="en-US" dirty="0"/>
              <a:t>将一组取值范围在</a:t>
            </a:r>
            <a:r>
              <a:rPr lang="en-US" altLang="zh-CN" dirty="0"/>
              <a:t>{0</a:t>
            </a:r>
            <a:r>
              <a:rPr lang="zh-CN" altLang="en-US" dirty="0"/>
              <a:t>，</a:t>
            </a:r>
            <a:r>
              <a:rPr lang="en-US" altLang="zh-CN" dirty="0"/>
              <a:t>1} </a:t>
            </a:r>
            <a:r>
              <a:rPr lang="zh-CN" altLang="en-US" dirty="0"/>
              <a:t>之中的输入变量唯一映射到在同样取值范围中的输出变量。</a:t>
            </a:r>
            <a:endParaRPr lang="zh-CN" altLang="en-US" sz="2800" dirty="0"/>
          </a:p>
        </p:txBody>
      </p:sp>
      <p:sp>
        <p:nvSpPr>
          <p:cNvPr id="4" name="灯片编号占位符 3"/>
          <p:cNvSpPr>
            <a:spLocks noGrp="1"/>
          </p:cNvSpPr>
          <p:nvPr>
            <p:ph type="sldNum" sz="quarter" idx="4294967295"/>
          </p:nvPr>
        </p:nvSpPr>
        <p:spPr>
          <a:xfrm>
            <a:off x="8642350" y="6489700"/>
            <a:ext cx="501650" cy="333375"/>
          </a:xfrm>
          <a:prstGeom prst="rect">
            <a:avLst/>
          </a:prstGeom>
        </p:spPr>
        <p:txBody>
          <a:bodyPr/>
          <a:lstStyle/>
          <a:p>
            <a:fld id="{C1ECEEFF-59F7-41BB-B9A9-13867E2BF01F}" type="slidenum">
              <a:rPr lang="zh-CN" altLang="en-US" smtClean="0"/>
            </a:fld>
            <a:endParaRPr lang="zh-CN" altLang="en-US"/>
          </a:p>
        </p:txBody>
      </p:sp>
      <p:graphicFrame>
        <p:nvGraphicFramePr>
          <p:cNvPr id="5" name="对象 4"/>
          <p:cNvGraphicFramePr>
            <a:graphicFrameLocks noChangeAspect="1"/>
          </p:cNvGraphicFramePr>
          <p:nvPr/>
        </p:nvGraphicFramePr>
        <p:xfrm>
          <a:off x="4126295" y="2134246"/>
          <a:ext cx="4579293" cy="3953403"/>
        </p:xfrm>
        <a:graphic>
          <a:graphicData uri="http://schemas.openxmlformats.org/presentationml/2006/ole">
            <mc:AlternateContent xmlns:mc="http://schemas.openxmlformats.org/markup-compatibility/2006">
              <mc:Choice xmlns:v="urn:schemas-microsoft-com:vml" Requires="v">
                <p:oleObj spid="_x0000_s20634" name="Visio" r:id="rId1" imgW="1697990" imgH="1393190" progId="Visio.Drawing.15">
                  <p:embed/>
                </p:oleObj>
              </mc:Choice>
              <mc:Fallback>
                <p:oleObj name="Visio" r:id="rId1" imgW="1697990" imgH="1393190" progId="Visio.Drawing.15">
                  <p:embed/>
                  <p:pic>
                    <p:nvPicPr>
                      <p:cNvPr id="0" name="对象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26295" y="2134246"/>
                        <a:ext cx="4579293" cy="3953403"/>
                      </a:xfrm>
                      <a:prstGeom prst="rect">
                        <a:avLst/>
                      </a:prstGeom>
                      <a:noFill/>
                    </p:spPr>
                  </p:pic>
                </p:oleObj>
              </mc:Fallback>
            </mc:AlternateContent>
          </a:graphicData>
        </a:graphic>
      </p:graphicFrame>
      <p:sp>
        <p:nvSpPr>
          <p:cNvPr id="6" name="内容占位符 2"/>
          <p:cNvSpPr txBox="1"/>
          <p:nvPr/>
        </p:nvSpPr>
        <p:spPr bwMode="auto">
          <a:xfrm>
            <a:off x="177479" y="2550503"/>
            <a:ext cx="3740075" cy="2505675"/>
          </a:xfrm>
          <a:prstGeom prst="rect">
            <a:avLst/>
          </a:prstGeom>
          <a:noFill/>
          <a:ln>
            <a:noFill/>
          </a:ln>
        </p:spPr>
        <p:txBody>
          <a:bodyPr vert="horz" wrap="square" lIns="91440" tIns="45720" rIns="91440" bIns="45720" numCol="1" anchor="t" anchorCtr="0" compatLnSpc="1"/>
          <a:lstStyle>
            <a:lvl1pPr marL="447675" indent="-447675" algn="l" rtl="0" eaLnBrk="1" fontAlgn="base" hangingPunct="1">
              <a:spcBef>
                <a:spcPts val="300"/>
              </a:spcBef>
              <a:spcAft>
                <a:spcPct val="0"/>
              </a:spcAft>
              <a:buClr>
                <a:srgbClr val="CC6600"/>
              </a:buClr>
              <a:buSzPct val="70000"/>
              <a:buFont typeface="Wingdings" panose="05000000000000000000" charset="0"/>
              <a:buChar char="n"/>
              <a:defRPr sz="2800" b="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defRPr>
            </a:lvl1pPr>
            <a:lvl2pPr marL="889000" indent="-440055" algn="l" rtl="0" eaLnBrk="1" fontAlgn="base" hangingPunct="1">
              <a:spcBef>
                <a:spcPts val="300"/>
              </a:spcBef>
              <a:spcAft>
                <a:spcPct val="0"/>
              </a:spcAft>
              <a:buClr>
                <a:schemeClr val="hlink"/>
              </a:buClr>
              <a:buSzPct val="65000"/>
              <a:buFont typeface="Wingdings" panose="05000000000000000000" charset="0"/>
              <a:buChar char="¡"/>
              <a:defRPr sz="2400" b="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2pPr>
            <a:lvl3pPr marL="1294130" indent="-403225" algn="l" rtl="0" eaLnBrk="1" fontAlgn="base" hangingPunct="1">
              <a:spcBef>
                <a:spcPts val="300"/>
              </a:spcBef>
              <a:spcAft>
                <a:spcPct val="0"/>
              </a:spcAft>
              <a:buClr>
                <a:schemeClr val="accent1"/>
              </a:buClr>
              <a:buSzPct val="70000"/>
              <a:buFont typeface="Wingdings" panose="05000000000000000000" pitchFamily="2" charset="2"/>
              <a:buChar char="u"/>
              <a:defRPr kumimoji="1" sz="20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3pPr>
            <a:lvl4pPr marL="1681480" indent="-386080" algn="l" rtl="0" eaLnBrk="1" fontAlgn="base" hangingPunct="1">
              <a:spcBef>
                <a:spcPts val="300"/>
              </a:spcBef>
              <a:spcAft>
                <a:spcPct val="0"/>
              </a:spcAft>
              <a:buClr>
                <a:schemeClr val="hlink"/>
              </a:buClr>
              <a:buSzPct val="75000"/>
              <a:buFont typeface="Wingdings" panose="05000000000000000000" pitchFamily="2" charset="2"/>
              <a:buChar char="p"/>
              <a:defRPr kumimoji="1" sz="1800" b="0">
                <a:solidFill>
                  <a:schemeClr val="tx1"/>
                </a:solidFill>
                <a:latin typeface="仿宋" panose="02010609060101010101" pitchFamily="49" charset="-122"/>
                <a:ea typeface="仿宋" panose="02010609060101010101" pitchFamily="49" charset="-122"/>
                <a:cs typeface="Times New Roman" panose="02020603050405020304" pitchFamily="18" charset="0"/>
              </a:defRPr>
            </a:lvl4pPr>
            <a:lvl5pPr marL="2070100" indent="-387350" algn="l" rtl="0" eaLnBrk="1" fontAlgn="base" hangingPunct="1">
              <a:spcBef>
                <a:spcPts val="300"/>
              </a:spcBef>
              <a:spcAft>
                <a:spcPct val="0"/>
              </a:spcAft>
              <a:buClr>
                <a:schemeClr val="accent1"/>
              </a:buClr>
              <a:buSzPct val="70000"/>
              <a:buFont typeface="Wingdings" panose="05000000000000000000" pitchFamily="2" charset="2"/>
              <a:buChar char="Ø"/>
              <a:defRPr kumimoji="1" sz="1600" b="0">
                <a:solidFill>
                  <a:schemeClr val="tx1"/>
                </a:solidFill>
                <a:latin typeface="Times New Roman" panose="02020603050405020304" pitchFamily="18" charset="0"/>
                <a:ea typeface="仿宋" panose="02010609060101010101" pitchFamily="49" charset="-122"/>
                <a:cs typeface="Times New Roman" panose="02020603050405020304" pitchFamily="18" charset="0"/>
              </a:defRPr>
            </a:lvl5pPr>
            <a:lvl6pPr marL="25273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pPr marL="7620" indent="0">
              <a:lnSpc>
                <a:spcPct val="140000"/>
              </a:lnSpc>
              <a:buNone/>
            </a:pPr>
            <a:r>
              <a:rPr lang="zh-CN" altLang="en-US" sz="2200" b="1" kern="0" dirty="0">
                <a:latin typeface="微软雅黑" panose="020B0503020204020204" pitchFamily="34" charset="-122"/>
                <a:ea typeface="微软雅黑" panose="020B0503020204020204" pitchFamily="34" charset="-122"/>
              </a:rPr>
              <a:t>设</a:t>
            </a:r>
            <a:r>
              <a:rPr lang="en-US" altLang="zh-CN" sz="2200" b="1" kern="0" dirty="0">
                <a:latin typeface="微软雅黑" panose="020B0503020204020204" pitchFamily="34" charset="-122"/>
                <a:ea typeface="微软雅黑" panose="020B0503020204020204" pitchFamily="34" charset="-122"/>
              </a:rPr>
              <a:t>X</a:t>
            </a:r>
            <a:r>
              <a:rPr lang="en-US" altLang="zh-CN" sz="2200" b="1" kern="0" baseline="-25000" dirty="0">
                <a:latin typeface="微软雅黑" panose="020B0503020204020204" pitchFamily="34" charset="-122"/>
                <a:ea typeface="微软雅黑" panose="020B0503020204020204" pitchFamily="34" charset="-122"/>
              </a:rPr>
              <a:t>1</a:t>
            </a:r>
            <a:r>
              <a:rPr lang="en-US" altLang="zh-CN" sz="2200" b="1" kern="0" dirty="0">
                <a:latin typeface="微软雅黑" panose="020B0503020204020204" pitchFamily="34" charset="-122"/>
                <a:ea typeface="微软雅黑" panose="020B0503020204020204" pitchFamily="34" charset="-122"/>
              </a:rPr>
              <a:t>, X</a:t>
            </a:r>
            <a:r>
              <a:rPr lang="en-US" altLang="zh-CN" sz="2200" b="1" kern="0" baseline="-25000" dirty="0">
                <a:latin typeface="微软雅黑" panose="020B0503020204020204" pitchFamily="34" charset="-122"/>
                <a:ea typeface="微软雅黑" panose="020B0503020204020204" pitchFamily="34" charset="-122"/>
              </a:rPr>
              <a:t>2</a:t>
            </a:r>
            <a:r>
              <a:rPr lang="en-US" altLang="zh-CN" sz="2200" b="1" kern="0" dirty="0">
                <a:latin typeface="微软雅黑" panose="020B0503020204020204" pitchFamily="34" charset="-122"/>
                <a:ea typeface="微软雅黑" panose="020B0503020204020204" pitchFamily="34" charset="-122"/>
              </a:rPr>
              <a:t>, </a:t>
            </a:r>
            <a:r>
              <a:rPr lang="en-US" altLang="zh-CN" sz="2200" b="1" kern="0" dirty="0">
                <a:latin typeface="+mn-ea"/>
                <a:ea typeface="+mn-ea"/>
              </a:rPr>
              <a:t>…</a:t>
            </a:r>
            <a:r>
              <a:rPr lang="en-US" altLang="zh-CN" sz="2200" b="1" kern="0" dirty="0">
                <a:latin typeface="微软雅黑" panose="020B0503020204020204" pitchFamily="34" charset="-122"/>
                <a:ea typeface="微软雅黑" panose="020B0503020204020204" pitchFamily="34" charset="-122"/>
              </a:rPr>
              <a:t>, </a:t>
            </a:r>
            <a:r>
              <a:rPr lang="en-US" altLang="zh-CN" sz="2200" b="1" kern="0" dirty="0" err="1">
                <a:latin typeface="微软雅黑" panose="020B0503020204020204" pitchFamily="34" charset="-122"/>
                <a:ea typeface="微软雅黑" panose="020B0503020204020204" pitchFamily="34" charset="-122"/>
              </a:rPr>
              <a:t>X</a:t>
            </a:r>
            <a:r>
              <a:rPr lang="en-US" altLang="zh-CN" sz="2200" b="1" kern="0" baseline="-25000" dirty="0" err="1">
                <a:latin typeface="微软雅黑" panose="020B0503020204020204" pitchFamily="34" charset="-122"/>
                <a:ea typeface="微软雅黑" panose="020B0503020204020204" pitchFamily="34" charset="-122"/>
              </a:rPr>
              <a:t>n</a:t>
            </a:r>
            <a:r>
              <a:rPr lang="zh-CN" altLang="en-US" sz="2200" b="1" kern="0" dirty="0">
                <a:latin typeface="微软雅黑" panose="020B0503020204020204" pitchFamily="34" charset="-122"/>
                <a:ea typeface="微软雅黑" panose="020B0503020204020204" pitchFamily="34" charset="-122"/>
              </a:rPr>
              <a:t>是</a:t>
            </a:r>
            <a:r>
              <a:rPr lang="en-US" altLang="zh-CN" sz="2200" b="1" kern="0" dirty="0">
                <a:latin typeface="微软雅黑" panose="020B0503020204020204" pitchFamily="34" charset="-122"/>
                <a:ea typeface="微软雅黑" panose="020B0503020204020204" pitchFamily="34" charset="-122"/>
              </a:rPr>
              <a:t>n</a:t>
            </a:r>
            <a:r>
              <a:rPr lang="zh-CN" altLang="en-US" sz="2200" b="1" kern="0" dirty="0">
                <a:latin typeface="微软雅黑" panose="020B0503020204020204" pitchFamily="34" charset="-122"/>
                <a:ea typeface="微软雅黑" panose="020B0503020204020204" pitchFamily="34" charset="-122"/>
              </a:rPr>
              <a:t>个变量，每个变量取值</a:t>
            </a:r>
            <a:r>
              <a:rPr lang="en-US" altLang="zh-CN" sz="2200" b="1" kern="0" dirty="0">
                <a:latin typeface="微软雅黑" panose="020B0503020204020204" pitchFamily="34" charset="-122"/>
                <a:ea typeface="微软雅黑" panose="020B0503020204020204" pitchFamily="34" charset="-122"/>
              </a:rPr>
              <a:t>0 </a:t>
            </a:r>
            <a:r>
              <a:rPr lang="zh-CN" altLang="en-US" sz="2200" b="1" kern="0" dirty="0">
                <a:latin typeface="微软雅黑" panose="020B0503020204020204" pitchFamily="34" charset="-122"/>
                <a:ea typeface="微软雅黑" panose="020B0503020204020204" pitchFamily="34" charset="-122"/>
              </a:rPr>
              <a:t>或者取值</a:t>
            </a:r>
            <a:r>
              <a:rPr lang="en-US" altLang="zh-CN" sz="2200" b="1" kern="0" dirty="0">
                <a:latin typeface="微软雅黑" panose="020B0503020204020204" pitchFamily="34" charset="-122"/>
                <a:ea typeface="微软雅黑" panose="020B0503020204020204" pitchFamily="34" charset="-122"/>
              </a:rPr>
              <a:t>1</a:t>
            </a:r>
            <a:r>
              <a:rPr lang="zh-CN" altLang="en-US" sz="2200" b="1" kern="0" dirty="0">
                <a:latin typeface="微软雅黑" panose="020B0503020204020204" pitchFamily="34" charset="-122"/>
                <a:ea typeface="微软雅黑" panose="020B0503020204020204" pitchFamily="34" charset="-122"/>
              </a:rPr>
              <a:t>。</a:t>
            </a:r>
            <a:endParaRPr lang="en-US" altLang="zh-CN" sz="2200" b="1" kern="0" dirty="0">
              <a:latin typeface="微软雅黑" panose="020B0503020204020204" pitchFamily="34" charset="-122"/>
              <a:ea typeface="微软雅黑" panose="020B0503020204020204" pitchFamily="34" charset="-122"/>
            </a:endParaRPr>
          </a:p>
          <a:p>
            <a:pPr marL="7620" indent="0">
              <a:lnSpc>
                <a:spcPct val="140000"/>
              </a:lnSpc>
              <a:buNone/>
            </a:pPr>
            <a:endParaRPr lang="en-US" altLang="zh-CN" sz="2200" b="1" kern="0" dirty="0">
              <a:latin typeface="微软雅黑" panose="020B0503020204020204" pitchFamily="34" charset="-122"/>
              <a:ea typeface="微软雅黑" panose="020B0503020204020204" pitchFamily="34" charset="-122"/>
            </a:endParaRPr>
          </a:p>
          <a:p>
            <a:pPr marL="7620" indent="0">
              <a:lnSpc>
                <a:spcPct val="140000"/>
              </a:lnSpc>
              <a:buNone/>
            </a:pPr>
            <a:r>
              <a:rPr lang="en-US" altLang="zh-CN" sz="2200" b="1" kern="0" dirty="0">
                <a:latin typeface="微软雅黑" panose="020B0503020204020204" pitchFamily="34" charset="-122"/>
                <a:ea typeface="微软雅黑" panose="020B0503020204020204" pitchFamily="34" charset="-122"/>
              </a:rPr>
              <a:t>F(X</a:t>
            </a:r>
            <a:r>
              <a:rPr lang="en-US" altLang="zh-CN" sz="2200" b="1" kern="0" baseline="-25000" dirty="0">
                <a:latin typeface="微软雅黑" panose="020B0503020204020204" pitchFamily="34" charset="-122"/>
                <a:ea typeface="微软雅黑" panose="020B0503020204020204" pitchFamily="34" charset="-122"/>
              </a:rPr>
              <a:t>1</a:t>
            </a:r>
            <a:r>
              <a:rPr lang="en-US" altLang="zh-CN" sz="2200" b="1" kern="0" dirty="0">
                <a:latin typeface="微软雅黑" panose="020B0503020204020204" pitchFamily="34" charset="-122"/>
                <a:ea typeface="微软雅黑" panose="020B0503020204020204" pitchFamily="34" charset="-122"/>
              </a:rPr>
              <a:t>, X</a:t>
            </a:r>
            <a:r>
              <a:rPr lang="en-US" altLang="zh-CN" sz="2200" b="1" kern="0" baseline="-25000" dirty="0">
                <a:latin typeface="微软雅黑" panose="020B0503020204020204" pitchFamily="34" charset="-122"/>
                <a:ea typeface="微软雅黑" panose="020B0503020204020204" pitchFamily="34" charset="-122"/>
              </a:rPr>
              <a:t>2</a:t>
            </a:r>
            <a:r>
              <a:rPr lang="en-US" altLang="zh-CN" sz="2200" b="1" kern="0" dirty="0">
                <a:latin typeface="微软雅黑" panose="020B0503020204020204" pitchFamily="34" charset="-122"/>
                <a:ea typeface="微软雅黑" panose="020B0503020204020204" pitchFamily="34" charset="-122"/>
              </a:rPr>
              <a:t>, </a:t>
            </a:r>
            <a:r>
              <a:rPr lang="en-US" altLang="zh-CN" sz="2200" b="1" kern="0" dirty="0">
                <a:latin typeface="+mn-ea"/>
                <a:ea typeface="+mn-ea"/>
              </a:rPr>
              <a:t>…</a:t>
            </a:r>
            <a:r>
              <a:rPr lang="en-US" altLang="zh-CN" sz="2200" b="1" kern="0" dirty="0">
                <a:latin typeface="微软雅黑" panose="020B0503020204020204" pitchFamily="34" charset="-122"/>
                <a:ea typeface="微软雅黑" panose="020B0503020204020204" pitchFamily="34" charset="-122"/>
              </a:rPr>
              <a:t>, </a:t>
            </a:r>
            <a:r>
              <a:rPr lang="en-US" altLang="zh-CN" sz="2200" b="1" kern="0" dirty="0" err="1">
                <a:latin typeface="微软雅黑" panose="020B0503020204020204" pitchFamily="34" charset="-122"/>
                <a:ea typeface="微软雅黑" panose="020B0503020204020204" pitchFamily="34" charset="-122"/>
              </a:rPr>
              <a:t>X</a:t>
            </a:r>
            <a:r>
              <a:rPr lang="en-US" altLang="zh-CN" sz="2200" b="1" kern="0" baseline="-25000" dirty="0" err="1">
                <a:latin typeface="微软雅黑" panose="020B0503020204020204" pitchFamily="34" charset="-122"/>
                <a:ea typeface="微软雅黑" panose="020B0503020204020204" pitchFamily="34" charset="-122"/>
              </a:rPr>
              <a:t>n</a:t>
            </a:r>
            <a:r>
              <a:rPr lang="en-US" altLang="zh-CN" sz="2200" b="1" kern="0" dirty="0">
                <a:latin typeface="微软雅黑" panose="020B0503020204020204" pitchFamily="34" charset="-122"/>
                <a:ea typeface="微软雅黑" panose="020B0503020204020204" pitchFamily="34" charset="-122"/>
              </a:rPr>
              <a:t>) </a:t>
            </a:r>
            <a:r>
              <a:rPr lang="zh-CN" altLang="en-US" sz="2200" b="1" kern="0" dirty="0">
                <a:latin typeface="微软雅黑" panose="020B0503020204020204" pitchFamily="34" charset="-122"/>
                <a:ea typeface="微软雅黑" panose="020B0503020204020204" pitchFamily="34" charset="-122"/>
              </a:rPr>
              <a:t>是</a:t>
            </a:r>
            <a:r>
              <a:rPr lang="en-US" altLang="zh-CN" sz="2200" b="1" kern="0" dirty="0">
                <a:latin typeface="微软雅黑" panose="020B0503020204020204" pitchFamily="34" charset="-122"/>
                <a:ea typeface="微软雅黑" panose="020B0503020204020204" pitchFamily="34" charset="-122"/>
              </a:rPr>
              <a:t>X</a:t>
            </a:r>
            <a:r>
              <a:rPr lang="en-US" altLang="zh-CN" sz="2200" b="1" kern="0" baseline="-25000" dirty="0">
                <a:latin typeface="微软雅黑" panose="020B0503020204020204" pitchFamily="34" charset="-122"/>
                <a:ea typeface="微软雅黑" panose="020B0503020204020204" pitchFamily="34" charset="-122"/>
              </a:rPr>
              <a:t>1</a:t>
            </a:r>
            <a:r>
              <a:rPr lang="en-US" altLang="zh-CN" sz="2200" b="1" kern="0" dirty="0">
                <a:latin typeface="微软雅黑" panose="020B0503020204020204" pitchFamily="34" charset="-122"/>
                <a:ea typeface="微软雅黑" panose="020B0503020204020204" pitchFamily="34" charset="-122"/>
              </a:rPr>
              <a:t>, X</a:t>
            </a:r>
            <a:r>
              <a:rPr lang="en-US" altLang="zh-CN" sz="2200" b="1" kern="0" baseline="-25000" dirty="0">
                <a:latin typeface="微软雅黑" panose="020B0503020204020204" pitchFamily="34" charset="-122"/>
                <a:ea typeface="微软雅黑" panose="020B0503020204020204" pitchFamily="34" charset="-122"/>
              </a:rPr>
              <a:t>2</a:t>
            </a:r>
            <a:r>
              <a:rPr lang="en-US" altLang="zh-CN" sz="2200" b="1" kern="0" dirty="0">
                <a:latin typeface="微软雅黑" panose="020B0503020204020204" pitchFamily="34" charset="-122"/>
                <a:ea typeface="微软雅黑" panose="020B0503020204020204" pitchFamily="34" charset="-122"/>
              </a:rPr>
              <a:t>, </a:t>
            </a:r>
            <a:r>
              <a:rPr lang="en-US" altLang="zh-CN" sz="2200" b="1" kern="0" dirty="0">
                <a:latin typeface="+mn-ea"/>
                <a:ea typeface="+mn-ea"/>
              </a:rPr>
              <a:t>…</a:t>
            </a:r>
            <a:r>
              <a:rPr lang="en-US" altLang="zh-CN" sz="2200" b="1" kern="0" dirty="0">
                <a:latin typeface="微软雅黑" panose="020B0503020204020204" pitchFamily="34" charset="-122"/>
                <a:ea typeface="微软雅黑" panose="020B0503020204020204" pitchFamily="34" charset="-122"/>
              </a:rPr>
              <a:t>, </a:t>
            </a:r>
            <a:r>
              <a:rPr lang="en-US" altLang="zh-CN" sz="2200" b="1" kern="0" dirty="0" err="1">
                <a:latin typeface="微软雅黑" panose="020B0503020204020204" pitchFamily="34" charset="-122"/>
                <a:ea typeface="微软雅黑" panose="020B0503020204020204" pitchFamily="34" charset="-122"/>
              </a:rPr>
              <a:t>X</a:t>
            </a:r>
            <a:r>
              <a:rPr lang="en-US" altLang="zh-CN" sz="2200" b="1" kern="0" baseline="-25000" dirty="0" err="1">
                <a:latin typeface="微软雅黑" panose="020B0503020204020204" pitchFamily="34" charset="-122"/>
                <a:ea typeface="微软雅黑" panose="020B0503020204020204" pitchFamily="34" charset="-122"/>
              </a:rPr>
              <a:t>n</a:t>
            </a:r>
            <a:r>
              <a:rPr lang="zh-CN" altLang="en-US" sz="2200" b="1" kern="0" dirty="0">
                <a:latin typeface="微软雅黑" panose="020B0503020204020204" pitchFamily="34" charset="-122"/>
                <a:ea typeface="微软雅黑" panose="020B0503020204020204" pitchFamily="34" charset="-122"/>
              </a:rPr>
              <a:t>的一个逻辑函数，</a:t>
            </a:r>
            <a:r>
              <a:rPr lang="zh-CN" altLang="en-US" sz="2200" b="1" kern="0" dirty="0"/>
              <a:t>其</a:t>
            </a:r>
            <a:r>
              <a:rPr lang="zh-CN" altLang="en-US" sz="2200" b="1" kern="0" dirty="0">
                <a:latin typeface="微软雅黑" panose="020B0503020204020204" pitchFamily="34" charset="-122"/>
                <a:ea typeface="微软雅黑" panose="020B0503020204020204" pitchFamily="34" charset="-122"/>
              </a:rPr>
              <a:t>取值由</a:t>
            </a:r>
            <a:r>
              <a:rPr lang="en-US" altLang="zh-CN" sz="2200" b="1" kern="0" dirty="0">
                <a:latin typeface="微软雅黑" panose="020B0503020204020204" pitchFamily="34" charset="-122"/>
                <a:ea typeface="微软雅黑" panose="020B0503020204020204" pitchFamily="34" charset="-122"/>
              </a:rPr>
              <a:t>X</a:t>
            </a:r>
            <a:r>
              <a:rPr lang="en-US" altLang="zh-CN" sz="2200" b="1" kern="0" baseline="-25000" dirty="0">
                <a:latin typeface="微软雅黑" panose="020B0503020204020204" pitchFamily="34" charset="-122"/>
                <a:ea typeface="微软雅黑" panose="020B0503020204020204" pitchFamily="34" charset="-122"/>
              </a:rPr>
              <a:t>1</a:t>
            </a:r>
            <a:r>
              <a:rPr lang="en-US" altLang="zh-CN" sz="2200" b="1" kern="0" dirty="0">
                <a:latin typeface="微软雅黑" panose="020B0503020204020204" pitchFamily="34" charset="-122"/>
                <a:ea typeface="微软雅黑" panose="020B0503020204020204" pitchFamily="34" charset="-122"/>
              </a:rPr>
              <a:t>, X</a:t>
            </a:r>
            <a:r>
              <a:rPr lang="en-US" altLang="zh-CN" sz="2200" b="1" kern="0" baseline="-25000" dirty="0">
                <a:latin typeface="微软雅黑" panose="020B0503020204020204" pitchFamily="34" charset="-122"/>
                <a:ea typeface="微软雅黑" panose="020B0503020204020204" pitchFamily="34" charset="-122"/>
              </a:rPr>
              <a:t>2</a:t>
            </a:r>
            <a:r>
              <a:rPr lang="en-US" altLang="zh-CN" sz="2200" b="1" kern="0" dirty="0">
                <a:latin typeface="微软雅黑" panose="020B0503020204020204" pitchFamily="34" charset="-122"/>
                <a:ea typeface="微软雅黑" panose="020B0503020204020204" pitchFamily="34" charset="-122"/>
              </a:rPr>
              <a:t>, </a:t>
            </a:r>
            <a:r>
              <a:rPr lang="en-US" altLang="zh-CN" sz="2200" b="1" kern="0" dirty="0">
                <a:latin typeface="+mn-ea"/>
                <a:ea typeface="+mn-ea"/>
              </a:rPr>
              <a:t>…</a:t>
            </a:r>
            <a:r>
              <a:rPr lang="en-US" altLang="zh-CN" sz="2200" b="1" kern="0" dirty="0">
                <a:latin typeface="微软雅黑" panose="020B0503020204020204" pitchFamily="34" charset="-122"/>
                <a:ea typeface="微软雅黑" panose="020B0503020204020204" pitchFamily="34" charset="-122"/>
              </a:rPr>
              <a:t>, </a:t>
            </a:r>
            <a:r>
              <a:rPr lang="en-US" altLang="zh-CN" sz="2200" b="1" kern="0" dirty="0" err="1">
                <a:latin typeface="微软雅黑" panose="020B0503020204020204" pitchFamily="34" charset="-122"/>
                <a:ea typeface="微软雅黑" panose="020B0503020204020204" pitchFamily="34" charset="-122"/>
              </a:rPr>
              <a:t>X</a:t>
            </a:r>
            <a:r>
              <a:rPr lang="en-US" altLang="zh-CN" sz="2200" b="1" kern="0" baseline="-25000" dirty="0" err="1">
                <a:latin typeface="微软雅黑" panose="020B0503020204020204" pitchFamily="34" charset="-122"/>
                <a:ea typeface="微软雅黑" panose="020B0503020204020204" pitchFamily="34" charset="-122"/>
              </a:rPr>
              <a:t>n</a:t>
            </a:r>
            <a:r>
              <a:rPr lang="zh-CN" altLang="en-US" sz="2200" b="1" kern="0" dirty="0">
                <a:latin typeface="微软雅黑" panose="020B0503020204020204" pitchFamily="34" charset="-122"/>
                <a:ea typeface="微软雅黑" panose="020B0503020204020204" pitchFamily="34" charset="-122"/>
              </a:rPr>
              <a:t>的取值决定。</a:t>
            </a:r>
            <a:endParaRPr lang="zh-CN" altLang="en-US" sz="2200" b="1" kern="0" dirty="0">
              <a:latin typeface="微软雅黑" panose="020B0503020204020204" pitchFamily="34" charset="-122"/>
              <a:ea typeface="微软雅黑" panose="020B0503020204020204" pitchFamily="34" charset="-122"/>
            </a:endParaRPr>
          </a:p>
          <a:p>
            <a:endParaRPr lang="zh-CN" altLang="en-US" kern="0" dirty="0"/>
          </a:p>
        </p:txBody>
      </p:sp>
    </p:spTree>
  </p:cSld>
  <p:clrMapOvr>
    <a:masterClrMapping/>
  </p:clrMapOvr>
  <p:transition spd="med">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3.1 </a:t>
            </a:r>
            <a:r>
              <a:rPr lang="zh-CN" altLang="en-US" dirty="0"/>
              <a:t>逻辑函数</a:t>
            </a:r>
            <a:endParaRPr lang="zh-CN" altLang="en-US" dirty="0"/>
          </a:p>
        </p:txBody>
      </p:sp>
      <p:sp>
        <p:nvSpPr>
          <p:cNvPr id="3" name="内容占位符 2"/>
          <p:cNvSpPr>
            <a:spLocks noGrp="1"/>
          </p:cNvSpPr>
          <p:nvPr>
            <p:ph idx="1"/>
          </p:nvPr>
        </p:nvSpPr>
        <p:spPr>
          <a:xfrm>
            <a:off x="363255" y="833342"/>
            <a:ext cx="8686800" cy="1337802"/>
          </a:xfrm>
        </p:spPr>
        <p:txBody>
          <a:bodyPr/>
          <a:lstStyle/>
          <a:p>
            <a:r>
              <a:rPr lang="zh-CN" altLang="zh-CN" sz="2200" dirty="0"/>
              <a:t>每一组输入组合都有一个确定的输出值</a:t>
            </a:r>
            <a:endParaRPr lang="en-US" altLang="zh-CN" sz="2200" dirty="0"/>
          </a:p>
          <a:p>
            <a:r>
              <a:rPr lang="zh-CN" altLang="zh-CN" sz="2200" dirty="0"/>
              <a:t>每个逻辑函数都有一组确定的输出</a:t>
            </a:r>
            <a:endParaRPr lang="en-US" altLang="zh-CN" sz="2200" dirty="0"/>
          </a:p>
          <a:p>
            <a:r>
              <a:rPr lang="zh-CN" altLang="en-US" sz="2200" dirty="0"/>
              <a:t>两个输入变量的函数</a:t>
            </a:r>
            <a:r>
              <a:rPr lang="en-US" altLang="zh-CN" sz="2200" dirty="0"/>
              <a:t>F(</a:t>
            </a:r>
            <a:r>
              <a:rPr lang="en-US" altLang="zh-CN" sz="2200" dirty="0" err="1"/>
              <a:t>x,y</a:t>
            </a:r>
            <a:r>
              <a:rPr lang="en-US" altLang="zh-CN" sz="2200" dirty="0"/>
              <a:t>)</a:t>
            </a:r>
            <a:r>
              <a:rPr lang="zh-CN" altLang="en-US" sz="2200" dirty="0"/>
              <a:t>可能的输出值如下：</a:t>
            </a:r>
            <a:endParaRPr lang="zh-CN" altLang="en-US" sz="2200"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8" name="内容占位符 2"/>
          <p:cNvSpPr txBox="1"/>
          <p:nvPr/>
        </p:nvSpPr>
        <p:spPr bwMode="auto">
          <a:xfrm>
            <a:off x="949997" y="5120623"/>
            <a:ext cx="6677049" cy="503955"/>
          </a:xfrm>
          <a:prstGeom prst="rect">
            <a:avLst/>
          </a:prstGeom>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marL="0" indent="0">
              <a:buNone/>
            </a:pPr>
            <a:r>
              <a:rPr lang="zh-CN" altLang="en-US" sz="2400" dirty="0">
                <a:latin typeface="微软雅黑" panose="020B0503020204020204" pitchFamily="34" charset="-122"/>
                <a:ea typeface="微软雅黑" panose="020B0503020204020204" pitchFamily="34" charset="-122"/>
              </a:rPr>
              <a:t>三个输入变量有多少种可能的逻辑函数</a:t>
            </a:r>
            <a:r>
              <a:rPr lang="en-US" altLang="zh-CN" sz="2400" dirty="0">
                <a:latin typeface="微软雅黑" panose="020B0503020204020204" pitchFamily="34" charset="-122"/>
                <a:ea typeface="微软雅黑" panose="020B0503020204020204" pitchFamily="34" charset="-122"/>
              </a:rPr>
              <a:t>f(</a:t>
            </a:r>
            <a:r>
              <a:rPr lang="en-US" altLang="zh-CN" sz="2400" dirty="0" err="1">
                <a:latin typeface="微软雅黑" panose="020B0503020204020204" pitchFamily="34" charset="-122"/>
                <a:ea typeface="微软雅黑" panose="020B0503020204020204" pitchFamily="34" charset="-122"/>
              </a:rPr>
              <a:t>x,y,z</a:t>
            </a:r>
            <a:r>
              <a:rPr lang="en-US" altLang="zh-CN"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
        <p:nvSpPr>
          <p:cNvPr id="7" name="Rectangle 2"/>
          <p:cNvSpPr>
            <a:spLocks noChangeArrowheads="1"/>
          </p:cNvSpPr>
          <p:nvPr/>
        </p:nvSpPr>
        <p:spPr bwMode="auto">
          <a:xfrm>
            <a:off x="1000101" y="2519961"/>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9" name="对象 8"/>
          <p:cNvGraphicFramePr>
            <a:graphicFrameLocks noChangeAspect="1"/>
          </p:cNvGraphicFramePr>
          <p:nvPr/>
        </p:nvGraphicFramePr>
        <p:xfrm>
          <a:off x="1219307" y="2290344"/>
          <a:ext cx="6239942" cy="2363075"/>
        </p:xfrm>
        <a:graphic>
          <a:graphicData uri="http://schemas.openxmlformats.org/presentationml/2006/ole">
            <mc:AlternateContent xmlns:mc="http://schemas.openxmlformats.org/markup-compatibility/2006">
              <mc:Choice xmlns:v="urn:schemas-microsoft-com:vml" Requires="v">
                <p:oleObj spid="_x0000_s19625" name="Visio" r:id="rId1" imgW="2238375" imgH="692150" progId="Visio.Drawing.15">
                  <p:embed/>
                </p:oleObj>
              </mc:Choice>
              <mc:Fallback>
                <p:oleObj name="Visio" r:id="rId1" imgW="2238375" imgH="692150" progId="Visio.Drawing.15">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307" y="2290344"/>
                        <a:ext cx="6239942" cy="2363075"/>
                      </a:xfrm>
                      <a:prstGeom prst="rect">
                        <a:avLst/>
                      </a:prstGeom>
                      <a:noFill/>
                    </p:spPr>
                  </p:pic>
                </p:oleObj>
              </mc:Fallback>
            </mc:AlternateContent>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 </a:t>
            </a:r>
            <a:r>
              <a:rPr lang="zh-CN" altLang="en-US" dirty="0"/>
              <a:t>真值表与波形图</a:t>
            </a:r>
            <a:endParaRPr lang="zh-CN" altLang="en-US" dirty="0">
              <a:solidFill>
                <a:schemeClr val="tx1"/>
              </a:solidFill>
            </a:endParaRPr>
          </a:p>
        </p:txBody>
      </p:sp>
      <p:sp>
        <p:nvSpPr>
          <p:cNvPr id="3" name="内容占位符 2"/>
          <p:cNvSpPr>
            <a:spLocks noGrp="1"/>
          </p:cNvSpPr>
          <p:nvPr>
            <p:ph idx="1"/>
          </p:nvPr>
        </p:nvSpPr>
        <p:spPr>
          <a:xfrm>
            <a:off x="419549" y="1468673"/>
            <a:ext cx="5780835" cy="4125553"/>
          </a:xfrm>
        </p:spPr>
        <p:txBody>
          <a:bodyPr/>
          <a:lstStyle/>
          <a:p>
            <a:pPr>
              <a:spcBef>
                <a:spcPts val="600"/>
              </a:spcBef>
            </a:pPr>
            <a:r>
              <a:rPr lang="zh-CN" altLang="en-US" sz="2200" dirty="0">
                <a:solidFill>
                  <a:srgbClr val="FF0000"/>
                </a:solidFill>
              </a:rPr>
              <a:t>真值表 </a:t>
            </a:r>
            <a:r>
              <a:rPr lang="en-US" altLang="zh-CN" sz="2200" dirty="0">
                <a:solidFill>
                  <a:srgbClr val="FF0000"/>
                </a:solidFill>
              </a:rPr>
              <a:t>true table</a:t>
            </a:r>
            <a:r>
              <a:rPr lang="zh-CN" altLang="en-US" sz="2200" dirty="0"/>
              <a:t>：用二维表的形式列出逻辑函数所有的输入组合和对应的输出值。</a:t>
            </a:r>
            <a:endParaRPr lang="en-US" altLang="zh-CN" sz="2200" dirty="0"/>
          </a:p>
          <a:p>
            <a:pPr>
              <a:spcBef>
                <a:spcPts val="600"/>
              </a:spcBef>
            </a:pPr>
            <a:r>
              <a:rPr lang="zh-CN" altLang="en-US" sz="2200" dirty="0"/>
              <a:t>标题栏左侧为输入组合，右侧对应输出。</a:t>
            </a:r>
            <a:endParaRPr lang="en-US" altLang="zh-CN" sz="2200" dirty="0"/>
          </a:p>
          <a:p>
            <a:pPr>
              <a:spcBef>
                <a:spcPts val="600"/>
              </a:spcBef>
            </a:pPr>
            <a:r>
              <a:rPr lang="zh-CN" altLang="en-US" sz="2200" dirty="0"/>
              <a:t>输入组合通常按照</a:t>
            </a:r>
            <a:r>
              <a:rPr lang="zh-CN" altLang="en-US" sz="2200" dirty="0">
                <a:solidFill>
                  <a:srgbClr val="FF0000"/>
                </a:solidFill>
              </a:rPr>
              <a:t>递增</a:t>
            </a:r>
            <a:r>
              <a:rPr lang="zh-CN" altLang="en-US" sz="2200" dirty="0"/>
              <a:t>顺序排列，输出写在相邻的列中。</a:t>
            </a:r>
            <a:endParaRPr lang="en-US" altLang="zh-CN" sz="2200" dirty="0"/>
          </a:p>
          <a:p>
            <a:pPr>
              <a:spcBef>
                <a:spcPts val="600"/>
              </a:spcBef>
            </a:pPr>
            <a:r>
              <a:rPr lang="en-US" altLang="zh-CN" sz="2200" dirty="0"/>
              <a:t>n</a:t>
            </a:r>
            <a:r>
              <a:rPr lang="zh-CN" altLang="en-US" sz="2200" dirty="0"/>
              <a:t>个</a:t>
            </a:r>
            <a:r>
              <a:rPr lang="zh-CN" altLang="zh-CN" sz="2200" dirty="0"/>
              <a:t>输入变量逻辑函数的真值表有</a:t>
            </a:r>
            <a:r>
              <a:rPr lang="en-US" altLang="zh-CN" sz="2200" dirty="0"/>
              <a:t>2</a:t>
            </a:r>
            <a:r>
              <a:rPr lang="en-US" altLang="zh-CN" sz="2200" baseline="30000" dirty="0"/>
              <a:t>n</a:t>
            </a:r>
            <a:r>
              <a:rPr lang="zh-CN" altLang="zh-CN" sz="2200" dirty="0"/>
              <a:t>行</a:t>
            </a:r>
            <a:r>
              <a:rPr lang="zh-CN" altLang="en-US" sz="2200" dirty="0"/>
              <a:t>。</a:t>
            </a:r>
            <a:endParaRPr lang="en-US" altLang="zh-CN" sz="2200" dirty="0"/>
          </a:p>
          <a:p>
            <a:pPr>
              <a:spcBef>
                <a:spcPts val="600"/>
              </a:spcBef>
            </a:pPr>
            <a:r>
              <a:rPr lang="zh-CN" altLang="zh-CN" sz="2200" dirty="0"/>
              <a:t>当</a:t>
            </a:r>
            <a:r>
              <a:rPr lang="en-US" altLang="zh-CN" sz="2200" dirty="0"/>
              <a:t>n</a:t>
            </a:r>
            <a:r>
              <a:rPr lang="zh-CN" altLang="zh-CN" sz="2200" dirty="0"/>
              <a:t>较大时，真值表将变得十分巨大而失去使用价值。</a:t>
            </a:r>
            <a:endParaRPr lang="en-US" altLang="zh-CN" sz="2200" dirty="0"/>
          </a:p>
          <a:p>
            <a:endParaRPr lang="zh-CN" altLang="en-US" sz="2800" b="0"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mc:AlternateContent xmlns:mc="http://schemas.openxmlformats.org/markup-compatibility/2006">
        <mc:Choice xmlns:a14="http://schemas.microsoft.com/office/drawing/2010/main" Requires="a14">
          <p:sp>
            <p:nvSpPr>
              <p:cNvPr id="8" name="Object 5"/>
              <p:cNvSpPr txBox="1"/>
              <p:nvPr/>
            </p:nvSpPr>
            <p:spPr bwMode="auto">
              <a:xfrm>
                <a:off x="5578997" y="6019800"/>
                <a:ext cx="3565003" cy="584623"/>
              </a:xfrm>
              <a:prstGeom prst="rect">
                <a:avLst/>
              </a:prstGeom>
              <a:noFill/>
              <a:ln>
                <a:noFill/>
              </a:ln>
              <a:effectLst/>
            </p:spPr>
            <p:txBody>
              <a:bodyPr>
                <a:normAutofit/>
              </a:bodyPr>
              <a:lstStyle/>
              <a:p>
                <a14:m>
                  <m:oMathPara xmlns:m="http://schemas.openxmlformats.org/officeDocument/2006/math">
                    <m:oMathParaPr>
                      <m:jc m:val="centerGroup"/>
                    </m:oMathParaPr>
                    <m:oMath xmlns:m="http://schemas.openxmlformats.org/officeDocument/2006/math">
                      <m:r>
                        <m:rPr>
                          <m:sty m:val="p"/>
                        </m:rPr>
                        <a:rPr lang="zh-CN" altLang="en-US" sz="2400" i="0">
                          <a:solidFill>
                            <a:srgbClr val="000000"/>
                          </a:solidFill>
                          <a:latin typeface="Cambria Math" panose="02040503050406030204" pitchFamily="18" charset="0"/>
                        </a:rPr>
                        <m:t>Y</m:t>
                      </m:r>
                      <m:r>
                        <a:rPr lang="zh-CN" altLang="en-US" sz="2400" i="0">
                          <a:solidFill>
                            <a:srgbClr val="000000"/>
                          </a:solidFill>
                          <a:latin typeface="Cambria Math" panose="02040503050406030204" pitchFamily="18" charset="0"/>
                        </a:rPr>
                        <m:t>=</m:t>
                      </m:r>
                      <m:r>
                        <m:rPr>
                          <m:sty m:val="p"/>
                        </m:rPr>
                        <a:rPr lang="zh-CN" altLang="en-US" sz="2400" i="0">
                          <a:solidFill>
                            <a:srgbClr val="000000"/>
                          </a:solidFill>
                          <a:latin typeface="Cambria Math" panose="02040503050406030204" pitchFamily="18" charset="0"/>
                        </a:rPr>
                        <m:t>A</m:t>
                      </m:r>
                      <m:r>
                        <a:rPr lang="zh-CN" altLang="en-US" sz="2400" i="0" smtClean="0">
                          <a:solidFill>
                            <a:srgbClr val="000000"/>
                          </a:solidFill>
                          <a:latin typeface="Cambria Math" panose="02040503050406030204" pitchFamily="18" charset="0"/>
                        </a:rPr>
                        <m:t>∙</m:t>
                      </m:r>
                      <m:r>
                        <m:rPr>
                          <m:sty m:val="p"/>
                        </m:rPr>
                        <a:rPr lang="zh-CN" altLang="en-US" sz="2400" i="0">
                          <a:solidFill>
                            <a:srgbClr val="000000"/>
                          </a:solidFill>
                          <a:latin typeface="Cambria Math" panose="02040503050406030204" pitchFamily="18" charset="0"/>
                        </a:rPr>
                        <m:t>B</m:t>
                      </m:r>
                      <m:r>
                        <a:rPr lang="zh-CN" altLang="en-US" sz="2400" i="0">
                          <a:solidFill>
                            <a:srgbClr val="000000"/>
                          </a:solidFill>
                          <a:latin typeface="Cambria Math" panose="02040503050406030204" pitchFamily="18" charset="0"/>
                        </a:rPr>
                        <m:t>+</m:t>
                      </m:r>
                      <m:r>
                        <m:rPr>
                          <m:sty m:val="p"/>
                        </m:rPr>
                        <a:rPr lang="zh-CN" altLang="en-US" sz="2400" i="0">
                          <a:solidFill>
                            <a:srgbClr val="000000"/>
                          </a:solidFill>
                          <a:latin typeface="Cambria Math" panose="02040503050406030204" pitchFamily="18" charset="0"/>
                        </a:rPr>
                        <m:t>B</m:t>
                      </m:r>
                      <m:r>
                        <a:rPr lang="zh-CN" altLang="en-US" sz="2400" i="0">
                          <a:solidFill>
                            <a:srgbClr val="000000"/>
                          </a:solidFill>
                          <a:latin typeface="Cambria Math" panose="02040503050406030204" pitchFamily="18" charset="0"/>
                        </a:rPr>
                        <m:t>∙</m:t>
                      </m:r>
                      <m:r>
                        <m:rPr>
                          <m:sty m:val="p"/>
                        </m:rPr>
                        <a:rPr lang="zh-CN" altLang="en-US" sz="2400" i="0">
                          <a:solidFill>
                            <a:srgbClr val="000000"/>
                          </a:solidFill>
                          <a:latin typeface="Cambria Math" panose="02040503050406030204" pitchFamily="18" charset="0"/>
                        </a:rPr>
                        <m:t>C</m:t>
                      </m:r>
                      <m:r>
                        <a:rPr lang="zh-CN" altLang="en-US" sz="2400" i="0">
                          <a:solidFill>
                            <a:srgbClr val="000000"/>
                          </a:solidFill>
                          <a:latin typeface="Cambria Math" panose="02040503050406030204" pitchFamily="18" charset="0"/>
                        </a:rPr>
                        <m:t>+</m:t>
                      </m:r>
                      <m:r>
                        <m:rPr>
                          <m:sty m:val="p"/>
                        </m:rPr>
                        <a:rPr lang="zh-CN" altLang="en-US" sz="2400" i="0">
                          <a:solidFill>
                            <a:srgbClr val="000000"/>
                          </a:solidFill>
                          <a:latin typeface="Cambria Math" panose="02040503050406030204" pitchFamily="18" charset="0"/>
                        </a:rPr>
                        <m:t>A</m:t>
                      </m:r>
                      <m:r>
                        <a:rPr lang="zh-CN" altLang="en-US" sz="2400" i="0">
                          <a:solidFill>
                            <a:srgbClr val="000000"/>
                          </a:solidFill>
                          <a:latin typeface="Cambria Math" panose="02040503050406030204" pitchFamily="18" charset="0"/>
                        </a:rPr>
                        <m:t>∙</m:t>
                      </m:r>
                      <m:r>
                        <m:rPr>
                          <m:sty m:val="p"/>
                        </m:rPr>
                        <a:rPr lang="zh-CN" altLang="en-US" sz="2400" i="0">
                          <a:solidFill>
                            <a:srgbClr val="000000"/>
                          </a:solidFill>
                          <a:latin typeface="Cambria Math" panose="02040503050406030204" pitchFamily="18" charset="0"/>
                        </a:rPr>
                        <m:t>C</m:t>
                      </m:r>
                    </m:oMath>
                  </m:oMathPara>
                </a14:m>
                <a:endParaRPr lang="zh-CN" altLang="en-US" sz="2400" dirty="0">
                  <a:latin typeface="隶书" panose="02010509060101010101" pitchFamily="49" charset="-122"/>
                  <a:ea typeface="隶书" panose="02010509060101010101" pitchFamily="49" charset="-122"/>
                </a:endParaRPr>
              </a:p>
            </p:txBody>
          </p:sp>
        </mc:Choice>
        <mc:Fallback>
          <p:sp>
            <p:nvSpPr>
              <p:cNvPr id="8" name="Object 5"/>
              <p:cNvSpPr txBox="1">
                <a:spLocks noRot="1" noChangeAspect="1" noMove="1" noResize="1" noEditPoints="1" noAdjustHandles="1" noChangeArrowheads="1" noChangeShapeType="1" noTextEdit="1"/>
              </p:cNvSpPr>
              <p:nvPr/>
            </p:nvSpPr>
            <p:spPr bwMode="auto">
              <a:xfrm>
                <a:off x="5578997" y="6019800"/>
                <a:ext cx="3565003" cy="584623"/>
              </a:xfrm>
              <a:prstGeom prst="rect">
                <a:avLst/>
              </a:prstGeom>
              <a:blipFill rotWithShape="1">
                <a:blip r:embed="rId1"/>
                <a:stretch>
                  <a:fillRect l="-15" b="72"/>
                </a:stretch>
              </a:blipFill>
              <a:ln>
                <a:noFill/>
              </a:ln>
              <a:effectLst/>
            </p:spPr>
            <p:txBody>
              <a:bodyPr/>
              <a:lstStyle/>
              <a:p>
                <a:r>
                  <a:rPr lang="zh-CN" altLang="en-US">
                    <a:noFill/>
                  </a:rPr>
                  <a:t> </a:t>
                </a:r>
              </a:p>
            </p:txBody>
          </p:sp>
        </mc:Fallback>
      </mc:AlternateContent>
      <p:graphicFrame>
        <p:nvGraphicFramePr>
          <p:cNvPr id="9" name="Group 3"/>
          <p:cNvGraphicFramePr>
            <a:graphicFrameLocks noGrp="1"/>
          </p:cNvGraphicFramePr>
          <p:nvPr/>
        </p:nvGraphicFramePr>
        <p:xfrm>
          <a:off x="6667500" y="1704530"/>
          <a:ext cx="2074920" cy="4207419"/>
        </p:xfrm>
        <a:graphic>
          <a:graphicData uri="http://schemas.openxmlformats.org/drawingml/2006/table">
            <a:tbl>
              <a:tblPr/>
              <a:tblGrid>
                <a:gridCol w="1257300"/>
                <a:gridCol w="817620"/>
              </a:tblGrid>
              <a:tr h="467491">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en-US" altLang="zh-CN" sz="2400" b="0" i="0" u="none" strike="noStrike" cap="none" normalizeH="0" baseline="0" dirty="0">
                          <a:ln>
                            <a:noFill/>
                          </a:ln>
                          <a:solidFill>
                            <a:srgbClr val="FF0000"/>
                          </a:solidFill>
                          <a:effectLst/>
                          <a:latin typeface="Tahoma" panose="020B0604030504040204" pitchFamily="34" charset="0"/>
                          <a:ea typeface="黑体" panose="02010609060101010101" pitchFamily="49" charset="-122"/>
                        </a:rPr>
                        <a:t>ABC</a:t>
                      </a:r>
                      <a:endParaRPr kumimoji="1" lang="en-US" altLang="zh-CN" sz="2400" b="0" i="0" u="none" strike="noStrike" cap="none" normalizeH="0" baseline="0" dirty="0">
                        <a:ln>
                          <a:noFill/>
                        </a:ln>
                        <a:solidFill>
                          <a:srgbClr val="FF0000"/>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en-US" altLang="zh-CN" sz="2400" b="0" i="0" u="none" strike="noStrike" cap="none" normalizeH="0" baseline="0" dirty="0">
                          <a:ln>
                            <a:noFill/>
                          </a:ln>
                          <a:solidFill>
                            <a:srgbClr val="FF0000"/>
                          </a:solidFill>
                          <a:effectLst/>
                          <a:latin typeface="Tahoma" panose="020B0604030504040204" pitchFamily="34" charset="0"/>
                          <a:ea typeface="黑体" panose="02010609060101010101" pitchFamily="49" charset="-122"/>
                        </a:rPr>
                        <a:t>Y</a:t>
                      </a:r>
                      <a:endParaRPr kumimoji="1" lang="en-US" altLang="zh-CN" sz="2400" b="0" i="0" u="none" strike="noStrike" cap="none" normalizeH="0" baseline="0" dirty="0">
                        <a:ln>
                          <a:noFill/>
                        </a:ln>
                        <a:solidFill>
                          <a:srgbClr val="FF0000"/>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7491">
                <a:tc>
                  <a:txBody>
                    <a:bodyPr/>
                    <a:lstStyle/>
                    <a:p>
                      <a:endParaRPr lang="zh-CN" altLang="en-US"/>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zh-CN" altLang="en-US"/>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7491">
                <a:tc>
                  <a:txBody>
                    <a:bodyPr/>
                    <a:lstStyle/>
                    <a:p>
                      <a:endParaRPr lang="zh-CN" altLang="en-US"/>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zh-CN" altLang="en-US"/>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7491">
                <a:tc>
                  <a:txBody>
                    <a:bodyPr/>
                    <a:lstStyle/>
                    <a:p>
                      <a:endParaRPr lang="zh-CN" altLang="en-US"/>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zh-CN" altLang="en-US"/>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7491">
                <a:tc>
                  <a:txBody>
                    <a:bodyPr/>
                    <a:lstStyle/>
                    <a:p>
                      <a:endParaRPr lang="zh-CN" altLang="en-US"/>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zh-CN" altLang="en-US"/>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7491">
                <a:tc>
                  <a:txBody>
                    <a:bodyPr/>
                    <a:lstStyle/>
                    <a:p>
                      <a:endParaRPr lang="zh-CN" altLang="en-US"/>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zh-CN" altLang="en-US"/>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7491">
                <a:tc>
                  <a:txBody>
                    <a:bodyPr/>
                    <a:lstStyle/>
                    <a:p>
                      <a:endParaRPr lang="zh-CN" altLang="en-US"/>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zh-CN" altLang="en-US"/>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7491">
                <a:tc>
                  <a:txBody>
                    <a:bodyPr/>
                    <a:lstStyle/>
                    <a:p>
                      <a:endParaRPr lang="zh-CN" altLang="en-US"/>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zh-CN" altLang="en-US"/>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7491">
                <a:tc>
                  <a:txBody>
                    <a:bodyPr/>
                    <a:lstStyle/>
                    <a:p>
                      <a:endParaRPr lang="zh-CN" altLang="en-US" dirty="0"/>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zh-CN" altLang="en-US" dirty="0"/>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0" name="矩形 9"/>
          <p:cNvSpPr/>
          <p:nvPr/>
        </p:nvSpPr>
        <p:spPr>
          <a:xfrm>
            <a:off x="6959722" y="1130500"/>
            <a:ext cx="1107996" cy="461665"/>
          </a:xfrm>
          <a:prstGeom prst="rect">
            <a:avLst/>
          </a:prstGeom>
        </p:spPr>
        <p:txBody>
          <a:bodyPr wrap="none">
            <a:spAutoFit/>
          </a:bodyPr>
          <a:lstStyle/>
          <a:p>
            <a:r>
              <a:rPr lang="zh-CN" altLang="en-US" sz="2400" b="1" dirty="0"/>
              <a:t>真值表</a:t>
            </a:r>
            <a:endParaRPr lang="zh-CN" altLang="en-US" sz="2400" b="1" dirty="0"/>
          </a:p>
        </p:txBody>
      </p:sp>
      <p:graphicFrame>
        <p:nvGraphicFramePr>
          <p:cNvPr id="7" name="表格 6"/>
          <p:cNvGraphicFramePr>
            <a:graphicFrameLocks noGrp="1"/>
          </p:cNvGraphicFramePr>
          <p:nvPr/>
        </p:nvGraphicFramePr>
        <p:xfrm>
          <a:off x="6658516" y="2172021"/>
          <a:ext cx="1242717" cy="3739928"/>
        </p:xfrm>
        <a:graphic>
          <a:graphicData uri="http://schemas.openxmlformats.org/drawingml/2006/table">
            <a:tbl>
              <a:tblPr/>
              <a:tblGrid>
                <a:gridCol w="1242717"/>
              </a:tblGrid>
              <a:tr h="467491">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rPr>
                        <a:t>000</a:t>
                      </a:r>
                      <a:endPar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7491">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rPr>
                        <a:t>001</a:t>
                      </a:r>
                      <a:endPar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7491">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rPr>
                        <a:t>010</a:t>
                      </a:r>
                      <a:endPar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7491">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rPr>
                        <a:t>011</a:t>
                      </a:r>
                      <a:endPar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7491">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rPr>
                        <a:t>100</a:t>
                      </a:r>
                      <a:endPar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7491">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rPr>
                        <a:t>101</a:t>
                      </a:r>
                      <a:endPar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7491">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rPr>
                        <a:t>110</a:t>
                      </a:r>
                      <a:endPar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7491">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rPr>
                        <a:t>111</a:t>
                      </a:r>
                      <a:endPar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1" name="表格 10"/>
          <p:cNvGraphicFramePr>
            <a:graphicFrameLocks noGrp="1"/>
          </p:cNvGraphicFramePr>
          <p:nvPr/>
        </p:nvGraphicFramePr>
        <p:xfrm>
          <a:off x="7905725" y="2162928"/>
          <a:ext cx="845679" cy="3739928"/>
        </p:xfrm>
        <a:graphic>
          <a:graphicData uri="http://schemas.openxmlformats.org/drawingml/2006/table">
            <a:tbl>
              <a:tblPr/>
              <a:tblGrid>
                <a:gridCol w="845679"/>
              </a:tblGrid>
              <a:tr h="467491">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rPr>
                        <a:t>0</a:t>
                      </a:r>
                      <a:endPar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7491">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rPr>
                        <a:t>0</a:t>
                      </a:r>
                      <a:endPar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7491">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rPr>
                        <a:t>0</a:t>
                      </a:r>
                      <a:endPar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7491">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rPr>
                        <a:t>1</a:t>
                      </a:r>
                      <a:endPar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7491">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rPr>
                        <a:t>0</a:t>
                      </a:r>
                      <a:endPar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7491">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rPr>
                        <a:t>1</a:t>
                      </a:r>
                      <a:endPar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7491">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rPr>
                        <a:t>1</a:t>
                      </a:r>
                      <a:endPar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7491">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rPr>
                        <a:t>1</a:t>
                      </a:r>
                      <a:endPar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00101" y="185722"/>
            <a:ext cx="7686700" cy="742951"/>
          </a:xfrm>
        </p:spPr>
        <p:txBody>
          <a:bodyPr/>
          <a:lstStyle/>
          <a:p>
            <a:r>
              <a:rPr lang="en-US" altLang="zh-CN" dirty="0"/>
              <a:t>3.2 </a:t>
            </a:r>
            <a:r>
              <a:rPr lang="zh-CN" altLang="en-US" dirty="0"/>
              <a:t>真值表与波形图</a:t>
            </a:r>
            <a:endParaRPr lang="zh-CN" altLang="en-US" dirty="0"/>
          </a:p>
        </p:txBody>
      </p:sp>
      <p:sp>
        <p:nvSpPr>
          <p:cNvPr id="3" name="内容占位符 2"/>
          <p:cNvSpPr>
            <a:spLocks noGrp="1"/>
          </p:cNvSpPr>
          <p:nvPr>
            <p:ph idx="1"/>
          </p:nvPr>
        </p:nvSpPr>
        <p:spPr>
          <a:xfrm>
            <a:off x="228602" y="857245"/>
            <a:ext cx="8807897" cy="2184188"/>
          </a:xfrm>
        </p:spPr>
        <p:txBody>
          <a:bodyPr/>
          <a:lstStyle/>
          <a:p>
            <a:r>
              <a:rPr lang="zh-CN" altLang="en-US" sz="2200" b="1" dirty="0">
                <a:solidFill>
                  <a:srgbClr val="FF0000"/>
                </a:solidFill>
              </a:rPr>
              <a:t>波形图</a:t>
            </a:r>
            <a:r>
              <a:rPr lang="zh-CN" altLang="en-US" sz="2200" dirty="0"/>
              <a:t>描绘了逻辑函数输出变量对于输入变量的变化所产生的响应。在理想状态下，忽略时间延迟。</a:t>
            </a:r>
            <a:endParaRPr lang="zh-CN" altLang="en-US" sz="2200" dirty="0"/>
          </a:p>
          <a:p>
            <a:pPr lvl="1"/>
            <a:r>
              <a:rPr lang="zh-CN" altLang="en-US" dirty="0"/>
              <a:t>横轴表示时间</a:t>
            </a:r>
            <a:endParaRPr lang="en-US" altLang="zh-CN" dirty="0"/>
          </a:p>
          <a:p>
            <a:pPr lvl="1"/>
            <a:r>
              <a:rPr lang="zh-CN" altLang="en-US" dirty="0"/>
              <a:t>纵向用横线的高低来表示逻辑值大小</a:t>
            </a:r>
            <a:endParaRPr lang="en-US" altLang="zh-CN" dirty="0"/>
          </a:p>
          <a:p>
            <a:r>
              <a:rPr lang="zh-CN" altLang="en-US" sz="2200" dirty="0"/>
              <a:t>完整的波形图至少需要列出所有的输入组合和所对应的输出值</a:t>
            </a:r>
            <a:endParaRPr lang="zh-CN" altLang="en-US" sz="2200"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dirty="0"/>
          </a:p>
        </p:txBody>
      </p:sp>
      <p:graphicFrame>
        <p:nvGraphicFramePr>
          <p:cNvPr id="9" name="Object 1"/>
          <p:cNvGraphicFramePr>
            <a:graphicFrameLocks noChangeAspect="1"/>
          </p:cNvGraphicFramePr>
          <p:nvPr/>
        </p:nvGraphicFramePr>
        <p:xfrm>
          <a:off x="871539" y="3254637"/>
          <a:ext cx="6557983" cy="1332673"/>
        </p:xfrm>
        <a:graphic>
          <a:graphicData uri="http://schemas.openxmlformats.org/presentationml/2006/ole">
            <mc:AlternateContent xmlns:mc="http://schemas.openxmlformats.org/markup-compatibility/2006">
              <mc:Choice xmlns:v="urn:schemas-microsoft-com:vml" Requires="v">
                <p:oleObj spid="_x0000_s16720" name="BMP 图像" r:id="rId1" imgW="4505325" imgH="695325" progId="PBrush">
                  <p:embed/>
                </p:oleObj>
              </mc:Choice>
              <mc:Fallback>
                <p:oleObj name="BMP 图像" r:id="rId1" imgW="4505325" imgH="695325" progId="PBrush">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1539" y="3254637"/>
                        <a:ext cx="6557983" cy="1332673"/>
                      </a:xfrm>
                      <a:prstGeom prst="rect">
                        <a:avLst/>
                      </a:prstGeom>
                      <a:noFill/>
                    </p:spPr>
                  </p:pic>
                </p:oleObj>
              </mc:Fallback>
            </mc:AlternateContent>
          </a:graphicData>
        </a:graphic>
      </p:graphicFrame>
      <p:graphicFrame>
        <p:nvGraphicFramePr>
          <p:cNvPr id="10" name="Object 3"/>
          <p:cNvGraphicFramePr>
            <a:graphicFrameLocks noChangeAspect="1"/>
          </p:cNvGraphicFramePr>
          <p:nvPr/>
        </p:nvGraphicFramePr>
        <p:xfrm>
          <a:off x="900635" y="5154194"/>
          <a:ext cx="6528887" cy="1342987"/>
        </p:xfrm>
        <a:graphic>
          <a:graphicData uri="http://schemas.openxmlformats.org/presentationml/2006/ole">
            <mc:AlternateContent xmlns:mc="http://schemas.openxmlformats.org/markup-compatibility/2006">
              <mc:Choice xmlns:v="urn:schemas-microsoft-com:vml" Requires="v">
                <p:oleObj spid="_x0000_s16721" name="BMP 图像" r:id="rId3" imgW="4514850" imgH="704850" progId="PBrush">
                  <p:embed/>
                </p:oleObj>
              </mc:Choice>
              <mc:Fallback>
                <p:oleObj name="BMP 图像" r:id="rId3" imgW="4514850" imgH="704850" progId="PBrush">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635" y="5154194"/>
                        <a:ext cx="6528887" cy="1342987"/>
                      </a:xfrm>
                      <a:prstGeom prst="rect">
                        <a:avLst/>
                      </a:prstGeom>
                      <a:noFill/>
                    </p:spPr>
                  </p:pic>
                </p:oleObj>
              </mc:Fallback>
            </mc:AlternateContent>
          </a:graphicData>
        </a:graphic>
      </p:graphicFrame>
      <p:sp>
        <p:nvSpPr>
          <p:cNvPr id="11" name="文本框 10"/>
          <p:cNvSpPr txBox="1"/>
          <p:nvPr/>
        </p:nvSpPr>
        <p:spPr>
          <a:xfrm>
            <a:off x="3835769" y="4613999"/>
            <a:ext cx="1048364" cy="369332"/>
          </a:xfrm>
          <a:prstGeom prst="rect">
            <a:avLst/>
          </a:prstGeom>
          <a:noFill/>
        </p:spPr>
        <p:txBody>
          <a:bodyPr wrap="none" lIns="0" tIns="0" rIns="0" bIns="0" rtlCol="0">
            <a:spAutoFit/>
          </a:bodyPr>
          <a:lstStyle/>
          <a:p>
            <a:r>
              <a:rPr lang="en-US" altLang="zh-CN" sz="2400" dirty="0">
                <a:solidFill>
                  <a:srgbClr val="FF0000"/>
                </a:solidFill>
              </a:rPr>
              <a:t>Y=A</a:t>
            </a:r>
            <a:r>
              <a:rPr lang="en-US" altLang="zh-CN" sz="2400" dirty="0">
                <a:solidFill>
                  <a:srgbClr val="FF0000"/>
                </a:solidFill>
                <a:latin typeface="宋体" panose="02010600030101010101" pitchFamily="2" charset="-122"/>
              </a:rPr>
              <a:t>·</a:t>
            </a:r>
            <a:r>
              <a:rPr lang="en-US" altLang="zh-CN" sz="2400" dirty="0">
                <a:solidFill>
                  <a:srgbClr val="FF0000"/>
                </a:solidFill>
              </a:rPr>
              <a:t>B</a:t>
            </a:r>
            <a:endParaRPr lang="zh-CN" altLang="en-US" sz="2400" dirty="0">
              <a:solidFill>
                <a:srgbClr val="FF0000"/>
              </a:solidFill>
            </a:endParaRPr>
          </a:p>
        </p:txBody>
      </p:sp>
      <p:sp>
        <p:nvSpPr>
          <p:cNvPr id="12" name="文本框 11"/>
          <p:cNvSpPr txBox="1"/>
          <p:nvPr/>
        </p:nvSpPr>
        <p:spPr>
          <a:xfrm>
            <a:off x="3938361" y="6497181"/>
            <a:ext cx="945772" cy="369332"/>
          </a:xfrm>
          <a:prstGeom prst="rect">
            <a:avLst/>
          </a:prstGeom>
          <a:noFill/>
        </p:spPr>
        <p:txBody>
          <a:bodyPr wrap="none" lIns="0" tIns="0" rIns="0" bIns="0" rtlCol="0">
            <a:spAutoFit/>
          </a:bodyPr>
          <a:lstStyle/>
          <a:p>
            <a:r>
              <a:rPr lang="en-US" altLang="zh-CN" sz="2400" dirty="0">
                <a:solidFill>
                  <a:srgbClr val="FF0000"/>
                </a:solidFill>
              </a:rPr>
              <a:t>Y=A+B</a:t>
            </a:r>
            <a:endParaRPr lang="zh-CN" altLang="en-US" sz="2400" dirty="0">
              <a:solidFill>
                <a:srgbClr val="FF0000"/>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blinds(horizontal)">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 </a:t>
            </a:r>
            <a:r>
              <a:rPr lang="zh-CN" altLang="en-US" dirty="0"/>
              <a:t>逻辑函数的标准表示</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369521" y="1078344"/>
                <a:ext cx="8523654" cy="3763081"/>
              </a:xfrm>
            </p:spPr>
            <p:txBody>
              <a:bodyPr/>
              <a:lstStyle/>
              <a:p>
                <a:pPr>
                  <a:spcBef>
                    <a:spcPts val="1200"/>
                  </a:spcBef>
                </a:pPr>
                <a:r>
                  <a:rPr lang="zh-CN" altLang="zh-CN" sz="2200" b="1" dirty="0">
                    <a:solidFill>
                      <a:srgbClr val="FF0000"/>
                    </a:solidFill>
                  </a:rPr>
                  <a:t>乘积项</a:t>
                </a:r>
                <a:r>
                  <a:rPr lang="zh-CN" altLang="en-US" sz="2200" b="1" dirty="0"/>
                  <a:t>：</a:t>
                </a:r>
                <a:r>
                  <a:rPr lang="zh-CN" altLang="zh-CN" sz="2200" dirty="0"/>
                  <a:t>包含</a:t>
                </a:r>
                <a:r>
                  <a:rPr lang="en-US" altLang="zh-CN" sz="2200" dirty="0"/>
                  <a:t>1</a:t>
                </a:r>
                <a:r>
                  <a:rPr lang="zh-CN" altLang="zh-CN" sz="2200" dirty="0"/>
                  <a:t>个或</a:t>
                </a:r>
                <a:r>
                  <a:rPr lang="en-US" altLang="zh-CN" sz="2200" dirty="0"/>
                  <a:t>1</a:t>
                </a:r>
                <a:r>
                  <a:rPr lang="zh-CN" altLang="zh-CN" sz="2200" dirty="0"/>
                  <a:t>个以上逻辑变量的与项。例如，</a:t>
                </a:r>
                <a:r>
                  <a:rPr lang="en-US" altLang="zh-CN" sz="2200" dirty="0"/>
                  <a:t>X</a:t>
                </a:r>
                <a:r>
                  <a:rPr lang="zh-CN" altLang="zh-CN" sz="2200" dirty="0"/>
                  <a:t>、</a:t>
                </a:r>
                <a:r>
                  <a:rPr lang="en-US" altLang="zh-CN" sz="2200" dirty="0"/>
                  <a:t>X</a:t>
                </a:r>
                <a14:m>
                  <m:oMath xmlns:m="http://schemas.openxmlformats.org/officeDocument/2006/math">
                    <m:r>
                      <a:rPr lang="en-US" altLang="zh-CN" sz="2200" i="1">
                        <a:latin typeface="Cambria Math" panose="02040503050406030204" pitchFamily="18" charset="0"/>
                        <a:ea typeface="+mj-ea"/>
                      </a:rPr>
                      <m:t>∙</m:t>
                    </m:r>
                    <m:r>
                      <a:rPr lang="en-US" altLang="zh-CN" sz="2200" i="1">
                        <a:latin typeface="Cambria Math" panose="02040503050406030204" pitchFamily="18" charset="0"/>
                        <a:ea typeface="+mj-ea"/>
                      </a:rPr>
                      <m:t>𝑌</m:t>
                    </m:r>
                    <m:r>
                      <a:rPr lang="zh-CN" altLang="zh-CN" sz="2200" i="1">
                        <a:latin typeface="Cambria Math" panose="02040503050406030204" pitchFamily="18" charset="0"/>
                        <a:ea typeface="+mj-ea"/>
                      </a:rPr>
                      <m:t>和</m:t>
                    </m:r>
                    <m:acc>
                      <m:accPr>
                        <m:chr m:val="̅"/>
                        <m:ctrlPr>
                          <a:rPr lang="zh-CN" altLang="zh-CN" sz="2200" i="1">
                            <a:latin typeface="Cambria Math" panose="02040503050406030204" pitchFamily="18" charset="0"/>
                            <a:ea typeface="+mj-ea"/>
                          </a:rPr>
                        </m:ctrlPr>
                      </m:accPr>
                      <m:e>
                        <m:r>
                          <a:rPr lang="en-US" altLang="zh-CN" sz="2200" i="1">
                            <a:latin typeface="Cambria Math" panose="02040503050406030204" pitchFamily="18" charset="0"/>
                            <a:ea typeface="+mj-ea"/>
                          </a:rPr>
                          <m:t>𝑋</m:t>
                        </m:r>
                      </m:e>
                    </m:acc>
                    <m:r>
                      <a:rPr lang="en-US" altLang="zh-CN" sz="2200" i="1">
                        <a:latin typeface="Cambria Math" panose="02040503050406030204" pitchFamily="18" charset="0"/>
                        <a:ea typeface="+mj-ea"/>
                      </a:rPr>
                      <m:t>∙</m:t>
                    </m:r>
                    <m:acc>
                      <m:accPr>
                        <m:chr m:val="̅"/>
                        <m:ctrlPr>
                          <a:rPr lang="zh-CN" altLang="zh-CN" sz="2200" i="1">
                            <a:latin typeface="Cambria Math" panose="02040503050406030204" pitchFamily="18" charset="0"/>
                            <a:ea typeface="+mj-ea"/>
                          </a:rPr>
                        </m:ctrlPr>
                      </m:accPr>
                      <m:e>
                        <m:r>
                          <a:rPr lang="en-US" altLang="zh-CN" sz="2200" i="1">
                            <a:latin typeface="Cambria Math" panose="02040503050406030204" pitchFamily="18" charset="0"/>
                            <a:ea typeface="+mj-ea"/>
                          </a:rPr>
                          <m:t>𝑌</m:t>
                        </m:r>
                      </m:e>
                    </m:acc>
                    <m:r>
                      <a:rPr lang="en-US" altLang="zh-CN" sz="2200" i="1">
                        <a:latin typeface="Cambria Math" panose="02040503050406030204" pitchFamily="18" charset="0"/>
                        <a:ea typeface="+mj-ea"/>
                      </a:rPr>
                      <m:t>∙</m:t>
                    </m:r>
                    <m:r>
                      <a:rPr lang="en-US" altLang="zh-CN" sz="2200" i="1">
                        <a:latin typeface="Cambria Math" panose="02040503050406030204" pitchFamily="18" charset="0"/>
                        <a:ea typeface="+mj-ea"/>
                      </a:rPr>
                      <m:t>𝑍</m:t>
                    </m:r>
                  </m:oMath>
                </a14:m>
                <a:r>
                  <a:rPr lang="zh-CN" altLang="zh-CN" sz="2200" dirty="0"/>
                  <a:t>都是乘积项</a:t>
                </a:r>
                <a:r>
                  <a:rPr lang="zh-CN" altLang="zh-CN" sz="2200" b="1" dirty="0"/>
                  <a:t>。</a:t>
                </a:r>
                <a:endParaRPr lang="en-US" altLang="zh-CN" sz="2200" b="1" dirty="0"/>
              </a:p>
              <a:p>
                <a:pPr>
                  <a:spcBef>
                    <a:spcPts val="1200"/>
                  </a:spcBef>
                </a:pPr>
                <a:r>
                  <a:rPr lang="zh-CN" altLang="zh-CN" sz="2200" b="1" dirty="0">
                    <a:solidFill>
                      <a:srgbClr val="FF0000"/>
                    </a:solidFill>
                  </a:rPr>
                  <a:t>求和项</a:t>
                </a:r>
                <a:r>
                  <a:rPr lang="zh-CN" altLang="en-US" sz="2200" b="1" dirty="0"/>
                  <a:t>：</a:t>
                </a:r>
                <a:r>
                  <a:rPr lang="zh-CN" altLang="zh-CN" sz="2200" dirty="0"/>
                  <a:t>包含</a:t>
                </a:r>
                <a:r>
                  <a:rPr lang="en-US" altLang="zh-CN" sz="2200" dirty="0"/>
                  <a:t>1</a:t>
                </a:r>
                <a:r>
                  <a:rPr lang="zh-CN" altLang="zh-CN" sz="2200" dirty="0"/>
                  <a:t>个或</a:t>
                </a:r>
                <a:r>
                  <a:rPr lang="en-US" altLang="zh-CN" sz="2200" dirty="0"/>
                  <a:t>1</a:t>
                </a:r>
                <a:r>
                  <a:rPr lang="zh-CN" altLang="zh-CN" sz="2200" dirty="0"/>
                  <a:t>个以上逻辑变量的或项。例如，</a:t>
                </a:r>
                <a:r>
                  <a:rPr lang="en-US" altLang="zh-CN" sz="2200" dirty="0"/>
                  <a:t>X</a:t>
                </a:r>
                <a:r>
                  <a:rPr lang="zh-CN" altLang="zh-CN" sz="2200" dirty="0"/>
                  <a:t>、</a:t>
                </a:r>
                <a:r>
                  <a:rPr lang="en-US" altLang="zh-CN" sz="2200" dirty="0"/>
                  <a:t>X+</a:t>
                </a:r>
                <a14:m>
                  <m:oMath xmlns:m="http://schemas.openxmlformats.org/officeDocument/2006/math">
                    <m:r>
                      <m:rPr>
                        <m:sty m:val="p"/>
                      </m:rPr>
                      <a:rPr lang="en-US" altLang="zh-CN" sz="2200" i="0">
                        <a:latin typeface="Cambria Math" panose="02040503050406030204" pitchFamily="18" charset="0"/>
                        <a:ea typeface="+mj-ea"/>
                      </a:rPr>
                      <m:t>Y</m:t>
                    </m:r>
                    <m:r>
                      <a:rPr lang="zh-CN" altLang="zh-CN" sz="2200" i="0">
                        <a:latin typeface="Cambria Math" panose="02040503050406030204" pitchFamily="18" charset="0"/>
                        <a:ea typeface="+mj-ea"/>
                      </a:rPr>
                      <m:t>和</m:t>
                    </m:r>
                    <m:acc>
                      <m:accPr>
                        <m:chr m:val="̅"/>
                        <m:ctrlPr>
                          <a:rPr lang="zh-CN" altLang="zh-CN" sz="2200" i="1">
                            <a:latin typeface="Cambria Math" panose="02040503050406030204" pitchFamily="18" charset="0"/>
                            <a:ea typeface="+mj-ea"/>
                          </a:rPr>
                        </m:ctrlPr>
                      </m:accPr>
                      <m:e>
                        <m:r>
                          <m:rPr>
                            <m:sty m:val="p"/>
                          </m:rPr>
                          <a:rPr lang="en-US" altLang="zh-CN" sz="2200" i="0">
                            <a:latin typeface="Cambria Math" panose="02040503050406030204" pitchFamily="18" charset="0"/>
                            <a:ea typeface="+mj-ea"/>
                          </a:rPr>
                          <m:t>X</m:t>
                        </m:r>
                      </m:e>
                    </m:acc>
                    <m:r>
                      <a:rPr lang="en-US" altLang="zh-CN" sz="2200" i="0">
                        <a:latin typeface="Cambria Math" panose="02040503050406030204" pitchFamily="18" charset="0"/>
                        <a:ea typeface="+mj-ea"/>
                      </a:rPr>
                      <m:t>+</m:t>
                    </m:r>
                    <m:acc>
                      <m:accPr>
                        <m:chr m:val="̅"/>
                        <m:ctrlPr>
                          <a:rPr lang="zh-CN" altLang="zh-CN" sz="2200" i="1">
                            <a:latin typeface="Cambria Math" panose="02040503050406030204" pitchFamily="18" charset="0"/>
                            <a:ea typeface="+mj-ea"/>
                          </a:rPr>
                        </m:ctrlPr>
                      </m:accPr>
                      <m:e>
                        <m:r>
                          <m:rPr>
                            <m:sty m:val="p"/>
                          </m:rPr>
                          <a:rPr lang="en-US" altLang="zh-CN" sz="2200" i="0">
                            <a:latin typeface="Cambria Math" panose="02040503050406030204" pitchFamily="18" charset="0"/>
                            <a:ea typeface="+mj-ea"/>
                          </a:rPr>
                          <m:t>Y</m:t>
                        </m:r>
                      </m:e>
                    </m:acc>
                    <m:r>
                      <a:rPr lang="en-US" altLang="zh-CN" sz="2200" i="0">
                        <a:latin typeface="Cambria Math" panose="02040503050406030204" pitchFamily="18" charset="0"/>
                        <a:ea typeface="+mj-ea"/>
                      </a:rPr>
                      <m:t>+</m:t>
                    </m:r>
                    <m:r>
                      <m:rPr>
                        <m:sty m:val="p"/>
                      </m:rPr>
                      <a:rPr lang="en-US" altLang="zh-CN" sz="2200" i="0">
                        <a:latin typeface="Cambria Math" panose="02040503050406030204" pitchFamily="18" charset="0"/>
                        <a:ea typeface="+mj-ea"/>
                      </a:rPr>
                      <m:t>Z</m:t>
                    </m:r>
                  </m:oMath>
                </a14:m>
                <a:r>
                  <a:rPr lang="zh-CN" altLang="zh-CN" sz="2200" dirty="0"/>
                  <a:t>都是求和项</a:t>
                </a:r>
                <a:r>
                  <a:rPr lang="zh-CN" altLang="zh-CN" sz="2200" b="1" dirty="0"/>
                  <a:t>。</a:t>
                </a:r>
                <a:endParaRPr lang="zh-CN" altLang="zh-CN" sz="2200" dirty="0"/>
              </a:p>
              <a:p>
                <a:pPr>
                  <a:spcBef>
                    <a:spcPts val="1200"/>
                  </a:spcBef>
                </a:pPr>
                <a:r>
                  <a:rPr lang="zh-CN" altLang="zh-CN" sz="2200" b="1" dirty="0">
                    <a:solidFill>
                      <a:srgbClr val="FF0000"/>
                    </a:solidFill>
                  </a:rPr>
                  <a:t>“与</a:t>
                </a:r>
                <a:r>
                  <a:rPr lang="en-US" altLang="zh-CN" sz="2200" b="1" dirty="0">
                    <a:solidFill>
                      <a:srgbClr val="FF0000"/>
                    </a:solidFill>
                  </a:rPr>
                  <a:t>-</a:t>
                </a:r>
                <a:r>
                  <a:rPr lang="zh-CN" altLang="zh-CN" sz="2200" b="1" dirty="0">
                    <a:solidFill>
                      <a:srgbClr val="FF0000"/>
                    </a:solidFill>
                  </a:rPr>
                  <a:t>或”表达式</a:t>
                </a:r>
                <a:r>
                  <a:rPr lang="zh-CN" altLang="zh-CN" sz="2200" dirty="0"/>
                  <a:t>或</a:t>
                </a:r>
                <a:r>
                  <a:rPr lang="zh-CN" altLang="zh-CN" sz="2200" b="1" dirty="0">
                    <a:solidFill>
                      <a:srgbClr val="FF0000"/>
                    </a:solidFill>
                  </a:rPr>
                  <a:t>积之和表达式</a:t>
                </a:r>
                <a:r>
                  <a:rPr lang="en-US" altLang="zh-CN" sz="2200" dirty="0"/>
                  <a:t>(Sum of Product</a:t>
                </a:r>
                <a:r>
                  <a:rPr lang="zh-CN" altLang="zh-CN" sz="2200" dirty="0"/>
                  <a:t>，</a:t>
                </a:r>
                <a:r>
                  <a:rPr lang="en-US" altLang="zh-CN" sz="2200" dirty="0"/>
                  <a:t>SOP)</a:t>
                </a:r>
                <a:r>
                  <a:rPr lang="zh-CN" altLang="en-US" sz="2200" dirty="0"/>
                  <a:t>：</a:t>
                </a:r>
                <a:r>
                  <a:rPr lang="zh-CN" altLang="zh-CN" sz="2200" dirty="0"/>
                  <a:t>多个乘积项的或运算</a:t>
                </a:r>
                <a:r>
                  <a:rPr lang="zh-CN" altLang="en-US" sz="2200" dirty="0"/>
                  <a:t>。例如：</a:t>
                </a:r>
                <a:r>
                  <a:rPr lang="en-US" altLang="zh-CN" sz="2200" dirty="0"/>
                  <a:t>X</a:t>
                </a:r>
                <a14:m>
                  <m:oMath xmlns:m="http://schemas.openxmlformats.org/officeDocument/2006/math">
                    <m:r>
                      <a:rPr lang="en-US" altLang="zh-CN" sz="2200">
                        <a:latin typeface="Cambria Math" panose="02040503050406030204" pitchFamily="18" charset="0"/>
                      </a:rPr>
                      <m:t>∙</m:t>
                    </m:r>
                    <m:r>
                      <m:rPr>
                        <m:sty m:val="p"/>
                      </m:rPr>
                      <a:rPr lang="en-US" altLang="zh-CN" sz="2200" i="0">
                        <a:latin typeface="Cambria Math" panose="02040503050406030204" pitchFamily="18" charset="0"/>
                      </a:rPr>
                      <m:t>Y</m:t>
                    </m:r>
                    <m:r>
                      <a:rPr lang="en-US" altLang="zh-CN" sz="2200" i="0">
                        <a:latin typeface="Cambria Math" panose="02040503050406030204" pitchFamily="18" charset="0"/>
                      </a:rPr>
                      <m:t>+</m:t>
                    </m:r>
                  </m:oMath>
                </a14:m>
                <a:r>
                  <a:rPr lang="en-US" altLang="zh-CN" sz="2200" b="1" dirty="0"/>
                  <a:t> </a:t>
                </a:r>
                <a14:m>
                  <m:oMath xmlns:m="http://schemas.openxmlformats.org/officeDocument/2006/math">
                    <m:acc>
                      <m:accPr>
                        <m:chr m:val="̅"/>
                        <m:ctrlPr>
                          <a:rPr lang="zh-CN" altLang="zh-CN" sz="2200" i="1">
                            <a:latin typeface="Cambria Math" panose="02040503050406030204" pitchFamily="18" charset="0"/>
                          </a:rPr>
                        </m:ctrlPr>
                      </m:accPr>
                      <m:e>
                        <m:r>
                          <m:rPr>
                            <m:sty m:val="p"/>
                          </m:rPr>
                          <a:rPr lang="en-US" altLang="zh-CN" sz="2200" i="0">
                            <a:latin typeface="Cambria Math" panose="02040503050406030204" pitchFamily="18" charset="0"/>
                          </a:rPr>
                          <m:t>X</m:t>
                        </m:r>
                      </m:e>
                    </m:acc>
                    <m:r>
                      <a:rPr lang="en-US" altLang="zh-CN" sz="2200" i="0">
                        <a:latin typeface="Cambria Math" panose="02040503050406030204" pitchFamily="18" charset="0"/>
                      </a:rPr>
                      <m:t>∙</m:t>
                    </m:r>
                    <m:acc>
                      <m:accPr>
                        <m:chr m:val="̅"/>
                        <m:ctrlPr>
                          <a:rPr lang="zh-CN" altLang="zh-CN" sz="2200" i="1">
                            <a:latin typeface="Cambria Math" panose="02040503050406030204" pitchFamily="18" charset="0"/>
                          </a:rPr>
                        </m:ctrlPr>
                      </m:accPr>
                      <m:e>
                        <m:r>
                          <m:rPr>
                            <m:sty m:val="p"/>
                          </m:rPr>
                          <a:rPr lang="en-US" altLang="zh-CN" sz="2200" i="0">
                            <a:latin typeface="Cambria Math" panose="02040503050406030204" pitchFamily="18" charset="0"/>
                          </a:rPr>
                          <m:t>Y</m:t>
                        </m:r>
                      </m:e>
                    </m:acc>
                    <m:r>
                      <a:rPr lang="en-US" altLang="zh-CN" sz="2200" i="0">
                        <a:latin typeface="Cambria Math" panose="02040503050406030204" pitchFamily="18" charset="0"/>
                      </a:rPr>
                      <m:t>∙</m:t>
                    </m:r>
                    <m:r>
                      <m:rPr>
                        <m:sty m:val="p"/>
                      </m:rPr>
                      <a:rPr lang="en-US" altLang="zh-CN" sz="2200" i="0">
                        <a:latin typeface="Cambria Math" panose="02040503050406030204" pitchFamily="18" charset="0"/>
                      </a:rPr>
                      <m:t>Z</m:t>
                    </m:r>
                  </m:oMath>
                </a14:m>
                <a:r>
                  <a:rPr lang="zh-CN" altLang="zh-CN" sz="2200" dirty="0"/>
                  <a:t>。</a:t>
                </a:r>
                <a:endParaRPr lang="zh-CN" altLang="zh-CN" sz="2200" dirty="0"/>
              </a:p>
              <a:p>
                <a:pPr>
                  <a:spcBef>
                    <a:spcPts val="1200"/>
                  </a:spcBef>
                </a:pPr>
                <a:r>
                  <a:rPr lang="zh-CN" altLang="zh-CN" sz="2200" b="1" dirty="0">
                    <a:solidFill>
                      <a:srgbClr val="FF0000"/>
                    </a:solidFill>
                  </a:rPr>
                  <a:t>“或</a:t>
                </a:r>
                <a:r>
                  <a:rPr lang="en-US" altLang="zh-CN" sz="2200" b="1" dirty="0">
                    <a:solidFill>
                      <a:srgbClr val="FF0000"/>
                    </a:solidFill>
                  </a:rPr>
                  <a:t>-</a:t>
                </a:r>
                <a:r>
                  <a:rPr lang="zh-CN" altLang="zh-CN" sz="2200" b="1" dirty="0">
                    <a:solidFill>
                      <a:srgbClr val="FF0000"/>
                    </a:solidFill>
                  </a:rPr>
                  <a:t>与”表达式</a:t>
                </a:r>
                <a:r>
                  <a:rPr lang="zh-CN" altLang="zh-CN" sz="2200" dirty="0"/>
                  <a:t>或</a:t>
                </a:r>
                <a:r>
                  <a:rPr lang="zh-CN" altLang="zh-CN" sz="2200" b="1" dirty="0">
                    <a:solidFill>
                      <a:srgbClr val="FF0000"/>
                    </a:solidFill>
                  </a:rPr>
                  <a:t>和之积表达式</a:t>
                </a:r>
                <a:r>
                  <a:rPr lang="en-US" altLang="zh-CN" sz="2200" dirty="0"/>
                  <a:t>(Product of Sum</a:t>
                </a:r>
                <a:r>
                  <a:rPr lang="zh-CN" altLang="zh-CN" sz="2200" dirty="0"/>
                  <a:t>，</a:t>
                </a:r>
                <a:r>
                  <a:rPr lang="en-US" altLang="zh-CN" sz="2200" dirty="0"/>
                  <a:t>POS</a:t>
                </a:r>
                <a:r>
                  <a:rPr lang="zh-CN" altLang="zh-CN" sz="2200" dirty="0"/>
                  <a:t>）</a:t>
                </a:r>
                <a:r>
                  <a:rPr lang="zh-CN" altLang="en-US" sz="2200" dirty="0"/>
                  <a:t>：</a:t>
                </a:r>
                <a:r>
                  <a:rPr lang="zh-CN" altLang="zh-CN" sz="2200" dirty="0"/>
                  <a:t>多个求和项的与运算。</a:t>
                </a:r>
                <a:r>
                  <a:rPr lang="zh-CN" altLang="en-US" sz="2200" dirty="0"/>
                  <a:t>例如：</a:t>
                </a:r>
                <a:r>
                  <a:rPr lang="zh-CN" altLang="zh-CN" sz="2200" dirty="0"/>
                  <a:t> </a:t>
                </a:r>
                <a:r>
                  <a:rPr lang="en-US" altLang="zh-CN" sz="2200" dirty="0"/>
                  <a:t>(X+</a:t>
                </a:r>
                <a14:m>
                  <m:oMath xmlns:m="http://schemas.openxmlformats.org/officeDocument/2006/math">
                    <m:r>
                      <m:rPr>
                        <m:sty m:val="p"/>
                      </m:rPr>
                      <a:rPr lang="en-US" altLang="zh-CN" sz="2200">
                        <a:latin typeface="Cambria Math" panose="02040503050406030204" pitchFamily="18" charset="0"/>
                      </a:rPr>
                      <m:t>Y</m:t>
                    </m:r>
                    <m:r>
                      <a:rPr lang="en-US" altLang="zh-CN" sz="2200">
                        <a:latin typeface="Cambria Math" panose="02040503050406030204" pitchFamily="18" charset="0"/>
                      </a:rPr>
                      <m:t>)∙(</m:t>
                    </m:r>
                    <m:acc>
                      <m:accPr>
                        <m:chr m:val="̅"/>
                        <m:ctrlPr>
                          <a:rPr lang="zh-CN" altLang="zh-CN" sz="2200" i="1">
                            <a:latin typeface="Cambria Math" panose="02040503050406030204" pitchFamily="18" charset="0"/>
                          </a:rPr>
                        </m:ctrlPr>
                      </m:accPr>
                      <m:e>
                        <m:r>
                          <m:rPr>
                            <m:sty m:val="p"/>
                          </m:rPr>
                          <a:rPr lang="en-US" altLang="zh-CN" sz="2200">
                            <a:latin typeface="Cambria Math" panose="02040503050406030204" pitchFamily="18" charset="0"/>
                          </a:rPr>
                          <m:t>X</m:t>
                        </m:r>
                      </m:e>
                    </m:acc>
                    <m:r>
                      <a:rPr lang="en-US" altLang="zh-CN" sz="2200">
                        <a:latin typeface="Cambria Math" panose="02040503050406030204" pitchFamily="18" charset="0"/>
                      </a:rPr>
                      <m:t>+</m:t>
                    </m:r>
                    <m:acc>
                      <m:accPr>
                        <m:chr m:val="̅"/>
                        <m:ctrlPr>
                          <a:rPr lang="zh-CN" altLang="zh-CN" sz="2200" i="1">
                            <a:latin typeface="Cambria Math" panose="02040503050406030204" pitchFamily="18" charset="0"/>
                          </a:rPr>
                        </m:ctrlPr>
                      </m:accPr>
                      <m:e>
                        <m:r>
                          <m:rPr>
                            <m:sty m:val="p"/>
                          </m:rPr>
                          <a:rPr lang="en-US" altLang="zh-CN" sz="2200">
                            <a:latin typeface="Cambria Math" panose="02040503050406030204" pitchFamily="18" charset="0"/>
                          </a:rPr>
                          <m:t>Y</m:t>
                        </m:r>
                      </m:e>
                    </m:acc>
                    <m:r>
                      <a:rPr lang="en-US" altLang="zh-CN" sz="2200">
                        <a:latin typeface="Cambria Math" panose="02040503050406030204" pitchFamily="18" charset="0"/>
                      </a:rPr>
                      <m:t>+</m:t>
                    </m:r>
                    <m:r>
                      <m:rPr>
                        <m:sty m:val="p"/>
                      </m:rPr>
                      <a:rPr lang="en-US" altLang="zh-CN" sz="2200">
                        <a:latin typeface="Cambria Math" panose="02040503050406030204" pitchFamily="18" charset="0"/>
                      </a:rPr>
                      <m:t>Z</m:t>
                    </m:r>
                    <m:r>
                      <a:rPr lang="en-US" altLang="zh-CN" sz="2200">
                        <a:latin typeface="Cambria Math" panose="02040503050406030204" pitchFamily="18" charset="0"/>
                      </a:rPr>
                      <m:t>)</m:t>
                    </m:r>
                  </m:oMath>
                </a14:m>
                <a:r>
                  <a:rPr lang="zh-CN" altLang="zh-CN" sz="2200" dirty="0"/>
                  <a:t>。</a:t>
                </a:r>
                <a:endParaRPr lang="zh-CN" altLang="zh-CN" sz="2200"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369521" y="1078344"/>
                <a:ext cx="8523654" cy="3763081"/>
              </a:xfrm>
              <a:blipFill rotWithShape="1">
                <a:blip r:embed="rId1"/>
                <a:stretch>
                  <a:fillRect l="-7" t="-3" b="5"/>
                </a:stretch>
              </a:blipFill>
            </p:spPr>
            <p:txBody>
              <a:bodyPr/>
              <a:lstStyle/>
              <a:p>
                <a:r>
                  <a:rPr lang="zh-CN" altLang="en-US">
                    <a:noFill/>
                  </a:rPr>
                  <a:t> </a:t>
                </a:r>
              </a:p>
            </p:txBody>
          </p:sp>
        </mc:Fallback>
      </mc:AlternateContent>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 </a:t>
            </a:r>
            <a:r>
              <a:rPr lang="zh-CN" altLang="en-US" dirty="0"/>
              <a:t>逻辑函数的标准表示</a:t>
            </a:r>
            <a:endParaRPr lang="zh-CN" altLang="en-US" dirty="0"/>
          </a:p>
        </p:txBody>
      </p:sp>
      <p:sp>
        <p:nvSpPr>
          <p:cNvPr id="3" name="内容占位符 2"/>
          <p:cNvSpPr>
            <a:spLocks noGrp="1"/>
          </p:cNvSpPr>
          <p:nvPr>
            <p:ph idx="1"/>
          </p:nvPr>
        </p:nvSpPr>
        <p:spPr>
          <a:xfrm>
            <a:off x="206375" y="1086099"/>
            <a:ext cx="8686800" cy="3218317"/>
          </a:xfrm>
        </p:spPr>
        <p:txBody>
          <a:bodyPr/>
          <a:lstStyle/>
          <a:p>
            <a:r>
              <a:rPr lang="zh-CN" altLang="en-US" sz="2200" dirty="0">
                <a:solidFill>
                  <a:srgbClr val="FF0000"/>
                </a:solidFill>
              </a:rPr>
              <a:t>与</a:t>
            </a:r>
            <a:r>
              <a:rPr lang="en-US" altLang="zh-CN" sz="2200" dirty="0">
                <a:solidFill>
                  <a:srgbClr val="FF0000"/>
                </a:solidFill>
              </a:rPr>
              <a:t>-</a:t>
            </a:r>
            <a:r>
              <a:rPr lang="zh-CN" altLang="en-US" sz="2200" dirty="0">
                <a:solidFill>
                  <a:srgbClr val="FF0000"/>
                </a:solidFill>
              </a:rPr>
              <a:t>或表达式</a:t>
            </a:r>
            <a:r>
              <a:rPr lang="zh-CN" altLang="en-US" sz="2200" dirty="0"/>
              <a:t>：积之和表达式</a:t>
            </a:r>
            <a:r>
              <a:rPr lang="en-US" altLang="zh-CN" sz="2200" dirty="0"/>
              <a:t>SOP</a:t>
            </a:r>
            <a:endParaRPr lang="en-US" altLang="zh-CN" sz="2200" dirty="0"/>
          </a:p>
          <a:p>
            <a:pPr marL="0" indent="0">
              <a:buNone/>
            </a:pPr>
            <a:r>
              <a:rPr lang="en-US" altLang="zh-CN" sz="2200" dirty="0"/>
              <a:t>   </a:t>
            </a:r>
            <a:endParaRPr lang="en-US" altLang="zh-CN" sz="2200" dirty="0"/>
          </a:p>
          <a:p>
            <a:pPr marL="0" indent="0">
              <a:buNone/>
            </a:pPr>
            <a:r>
              <a:rPr lang="en-US" altLang="zh-CN" sz="2200" dirty="0"/>
              <a:t>                            </a:t>
            </a:r>
            <a:r>
              <a:rPr lang="zh-CN" altLang="en-US" sz="2200" dirty="0">
                <a:solidFill>
                  <a:schemeClr val="accent6"/>
                </a:solidFill>
              </a:rPr>
              <a:t>与项             </a:t>
            </a:r>
            <a:endParaRPr lang="en-US" altLang="zh-CN" sz="2200" dirty="0">
              <a:solidFill>
                <a:schemeClr val="accent6"/>
              </a:solidFill>
            </a:endParaRPr>
          </a:p>
          <a:p>
            <a:pPr marL="0" indent="0">
              <a:buNone/>
            </a:pPr>
            <a:r>
              <a:rPr lang="en-US" altLang="zh-CN" sz="2200" dirty="0">
                <a:solidFill>
                  <a:schemeClr val="accent6"/>
                </a:solidFill>
              </a:rPr>
              <a:t>		    </a:t>
            </a:r>
            <a:r>
              <a:rPr lang="zh-CN" altLang="en-US" sz="2200" dirty="0">
                <a:solidFill>
                  <a:schemeClr val="accent6"/>
                </a:solidFill>
              </a:rPr>
              <a:t>乘积项</a:t>
            </a:r>
            <a:endParaRPr lang="en-US" altLang="zh-CN" sz="2200" dirty="0">
              <a:solidFill>
                <a:schemeClr val="accent6"/>
              </a:solidFill>
            </a:endParaRPr>
          </a:p>
          <a:p>
            <a:endParaRPr lang="en-US" altLang="zh-CN" sz="2200" dirty="0">
              <a:solidFill>
                <a:srgbClr val="FF0000"/>
              </a:solidFill>
            </a:endParaRPr>
          </a:p>
          <a:p>
            <a:r>
              <a:rPr lang="zh-CN" altLang="en-US" sz="2200" dirty="0">
                <a:solidFill>
                  <a:srgbClr val="FF0000"/>
                </a:solidFill>
              </a:rPr>
              <a:t>或</a:t>
            </a:r>
            <a:r>
              <a:rPr lang="en-US" altLang="zh-CN" sz="2200" dirty="0">
                <a:solidFill>
                  <a:srgbClr val="FF0000"/>
                </a:solidFill>
              </a:rPr>
              <a:t>-</a:t>
            </a:r>
            <a:r>
              <a:rPr lang="zh-CN" altLang="en-US" sz="2200" dirty="0">
                <a:solidFill>
                  <a:srgbClr val="FF0000"/>
                </a:solidFill>
              </a:rPr>
              <a:t>与表达式</a:t>
            </a:r>
            <a:r>
              <a:rPr lang="zh-CN" altLang="en-US" sz="2200" dirty="0"/>
              <a:t>：和之积表达式</a:t>
            </a:r>
            <a:r>
              <a:rPr lang="en-US" altLang="zh-CN" sz="2200" dirty="0"/>
              <a:t>POS</a:t>
            </a:r>
            <a:endParaRPr lang="zh-CN" altLang="en-US" sz="2200" dirty="0"/>
          </a:p>
          <a:p>
            <a:endParaRPr lang="zh-CN" altLang="en-US" sz="2800" b="0"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mc:AlternateContent xmlns:mc="http://schemas.openxmlformats.org/markup-compatibility/2006">
        <mc:Choice xmlns:a14="http://schemas.microsoft.com/office/drawing/2010/main" Requires="a14">
          <p:sp>
            <p:nvSpPr>
              <p:cNvPr id="7" name="对象 6"/>
              <p:cNvSpPr txBox="1"/>
              <p:nvPr/>
            </p:nvSpPr>
            <p:spPr>
              <a:xfrm>
                <a:off x="417231" y="1581287"/>
                <a:ext cx="5895975" cy="528637"/>
              </a:xfrm>
              <a:prstGeom prst="rect">
                <a:avLst/>
              </a:prstGeom>
            </p:spPr>
            <p:txBody>
              <a:bodyPr>
                <a:normAutofit/>
              </a:bodyPr>
              <a:lstStyle/>
              <a:p>
                <a14:m>
                  <m:oMathPara xmlns:m="http://schemas.openxmlformats.org/officeDocument/2006/math">
                    <m:oMathParaPr>
                      <m:jc m:val="centerGroup"/>
                    </m:oMathParaPr>
                    <m:oMath xmlns:m="http://schemas.openxmlformats.org/officeDocument/2006/math">
                      <m:r>
                        <a:rPr lang="zh-CN" altLang="en-US" sz="2400" i="1">
                          <a:solidFill>
                            <a:srgbClr val="000000"/>
                          </a:solidFill>
                          <a:latin typeface="Cambria Math" panose="02040503050406030204" pitchFamily="18" charset="0"/>
                        </a:rPr>
                        <m:t>𝑓</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𝐴</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𝐵</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𝐶</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𝐴</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𝐵</m:t>
                      </m:r>
                      <m:r>
                        <a:rPr lang="zh-CN" altLang="en-US" sz="2400" i="1">
                          <a:solidFill>
                            <a:srgbClr val="000000"/>
                          </a:solidFill>
                          <a:latin typeface="Cambria Math" panose="02040503050406030204" pitchFamily="18" charset="0"/>
                        </a:rPr>
                        <m:t>+</m:t>
                      </m:r>
                      <m:bar>
                        <m:barPr>
                          <m:pos m:val="top"/>
                          <m:ctrlPr>
                            <a:rPr lang="zh-CN" altLang="en-US" sz="2400" i="1">
                              <a:solidFill>
                                <a:srgbClr val="000000"/>
                              </a:solidFill>
                              <a:latin typeface="Cambria Math" panose="02040503050406030204" pitchFamily="18" charset="0"/>
                            </a:rPr>
                          </m:ctrlPr>
                        </m:barPr>
                        <m:e>
                          <m:r>
                            <a:rPr lang="zh-CN" altLang="en-US" sz="2400" i="1">
                              <a:solidFill>
                                <a:srgbClr val="000000"/>
                              </a:solidFill>
                              <a:latin typeface="Cambria Math" panose="02040503050406030204" pitchFamily="18" charset="0"/>
                            </a:rPr>
                            <m:t>𝐴</m:t>
                          </m:r>
                        </m:e>
                      </m:ba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𝐶</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𝐴</m:t>
                      </m:r>
                      <m:r>
                        <a:rPr lang="zh-CN" altLang="en-US" sz="2400" i="1">
                          <a:solidFill>
                            <a:srgbClr val="000000"/>
                          </a:solidFill>
                          <a:latin typeface="Cambria Math" panose="02040503050406030204" pitchFamily="18" charset="0"/>
                        </a:rPr>
                        <m:t>•</m:t>
                      </m:r>
                      <m:bar>
                        <m:barPr>
                          <m:pos m:val="top"/>
                          <m:ctrlPr>
                            <a:rPr lang="zh-CN" altLang="en-US" sz="2400" i="1">
                              <a:solidFill>
                                <a:srgbClr val="000000"/>
                              </a:solidFill>
                              <a:latin typeface="Cambria Math" panose="02040503050406030204" pitchFamily="18" charset="0"/>
                            </a:rPr>
                          </m:ctrlPr>
                        </m:barPr>
                        <m:e>
                          <m:r>
                            <a:rPr lang="zh-CN" altLang="en-US" sz="2400" i="1">
                              <a:solidFill>
                                <a:srgbClr val="000000"/>
                              </a:solidFill>
                              <a:latin typeface="Cambria Math" panose="02040503050406030204" pitchFamily="18" charset="0"/>
                            </a:rPr>
                            <m:t>𝐵</m:t>
                          </m:r>
                        </m:e>
                      </m:bar>
                      <m:r>
                        <a:rPr lang="zh-CN" altLang="en-US" sz="2400" i="1">
                          <a:solidFill>
                            <a:srgbClr val="000000"/>
                          </a:solidFill>
                          <a:latin typeface="Cambria Math" panose="02040503050406030204" pitchFamily="18" charset="0"/>
                        </a:rPr>
                        <m:t>•</m:t>
                      </m:r>
                      <m:bar>
                        <m:barPr>
                          <m:pos m:val="top"/>
                          <m:ctrlPr>
                            <a:rPr lang="zh-CN" altLang="en-US" sz="2400" i="1">
                              <a:solidFill>
                                <a:srgbClr val="000000"/>
                              </a:solidFill>
                              <a:latin typeface="Cambria Math" panose="02040503050406030204" pitchFamily="18" charset="0"/>
                            </a:rPr>
                          </m:ctrlPr>
                        </m:barPr>
                        <m:e>
                          <m:r>
                            <a:rPr lang="zh-CN" altLang="en-US" sz="2400" i="1">
                              <a:solidFill>
                                <a:srgbClr val="000000"/>
                              </a:solidFill>
                              <a:latin typeface="Cambria Math" panose="02040503050406030204" pitchFamily="18" charset="0"/>
                            </a:rPr>
                            <m:t>𝐶</m:t>
                          </m:r>
                        </m:e>
                      </m:bar>
                    </m:oMath>
                  </m:oMathPara>
                </a14:m>
                <a:endParaRPr lang="zh-CN" altLang="en-US" sz="2400" dirty="0"/>
              </a:p>
            </p:txBody>
          </p:sp>
        </mc:Choice>
        <mc:Fallback>
          <p:sp>
            <p:nvSpPr>
              <p:cNvPr id="7" name="对象 6"/>
              <p:cNvSpPr txBox="1">
                <a:spLocks noRot="1" noChangeAspect="1" noMove="1" noResize="1" noEditPoints="1" noAdjustHandles="1" noChangeArrowheads="1" noChangeShapeType="1" noTextEdit="1"/>
              </p:cNvSpPr>
              <p:nvPr/>
            </p:nvSpPr>
            <p:spPr>
              <a:xfrm>
                <a:off x="417231" y="1581287"/>
                <a:ext cx="5895975" cy="528637"/>
              </a:xfrm>
              <a:prstGeom prst="rect">
                <a:avLst/>
              </a:prstGeom>
              <a:blipFill rotWithShape="1">
                <a:blip r:embed="rId1"/>
                <a:stretch>
                  <a:fillRect l="-1" t="-26" r="1" b="8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4" name="对象 23"/>
              <p:cNvSpPr txBox="1"/>
              <p:nvPr/>
            </p:nvSpPr>
            <p:spPr bwMode="auto">
              <a:xfrm>
                <a:off x="417231" y="3849877"/>
                <a:ext cx="6619875" cy="528637"/>
              </a:xfrm>
              <a:prstGeom prst="rect">
                <a:avLst/>
              </a:prstGeom>
              <a:noFill/>
              <a:ln>
                <a:noFill/>
              </a:ln>
            </p:spPr>
            <p:txBody>
              <a:bodyPr>
                <a:normAutofit/>
              </a:bodyPr>
              <a:lstStyle/>
              <a:p>
                <a14:m>
                  <m:oMathPara xmlns:m="http://schemas.openxmlformats.org/officeDocument/2006/math">
                    <m:oMathParaPr>
                      <m:jc m:val="centerGroup"/>
                    </m:oMathParaPr>
                    <m:oMath xmlns:m="http://schemas.openxmlformats.org/officeDocument/2006/math">
                      <m:r>
                        <a:rPr lang="zh-CN" altLang="en-US" sz="2400" i="1">
                          <a:solidFill>
                            <a:srgbClr val="000000"/>
                          </a:solidFill>
                          <a:latin typeface="Cambria Math" panose="02040503050406030204" pitchFamily="18" charset="0"/>
                        </a:rPr>
                        <m:t>𝑓</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𝐴</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𝐵</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𝐶</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𝐴</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𝐵</m:t>
                      </m:r>
                      <m:r>
                        <a:rPr lang="zh-CN" altLang="en-US" sz="2400" i="1">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𝐴</m:t>
                      </m:r>
                      <m:r>
                        <a:rPr lang="zh-CN" altLang="en-US" sz="2400" i="1">
                          <a:solidFill>
                            <a:srgbClr val="000000"/>
                          </a:solidFill>
                          <a:latin typeface="Cambria Math" panose="02040503050406030204" pitchFamily="18" charset="0"/>
                        </a:rPr>
                        <m:t>+</m:t>
                      </m:r>
                      <m:bar>
                        <m:barPr>
                          <m:pos m:val="top"/>
                          <m:ctrlPr>
                            <a:rPr lang="zh-CN" altLang="en-US" sz="2400" i="1">
                              <a:solidFill>
                                <a:srgbClr val="000000"/>
                              </a:solidFill>
                              <a:latin typeface="Cambria Math" panose="02040503050406030204" pitchFamily="18" charset="0"/>
                            </a:rPr>
                          </m:ctrlPr>
                        </m:barPr>
                        <m:e>
                          <m:r>
                            <a:rPr lang="zh-CN" altLang="en-US" sz="2400" i="1">
                              <a:solidFill>
                                <a:srgbClr val="000000"/>
                              </a:solidFill>
                              <a:latin typeface="Cambria Math" panose="02040503050406030204" pitchFamily="18" charset="0"/>
                            </a:rPr>
                            <m:t>𝐶</m:t>
                          </m:r>
                        </m:e>
                      </m:bar>
                      <m:r>
                        <a:rPr lang="zh-CN" altLang="en-US" sz="2400" i="1">
                          <a:solidFill>
                            <a:srgbClr val="000000"/>
                          </a:solidFill>
                          <a:latin typeface="Cambria Math" panose="02040503050406030204" pitchFamily="18" charset="0"/>
                        </a:rPr>
                        <m:t>)•(</m:t>
                      </m:r>
                      <m:bar>
                        <m:barPr>
                          <m:pos m:val="top"/>
                          <m:ctrlPr>
                            <a:rPr lang="zh-CN" altLang="en-US" sz="2400" i="1">
                              <a:solidFill>
                                <a:srgbClr val="000000"/>
                              </a:solidFill>
                              <a:latin typeface="Cambria Math" panose="02040503050406030204" pitchFamily="18" charset="0"/>
                            </a:rPr>
                          </m:ctrlPr>
                        </m:barPr>
                        <m:e>
                          <m:r>
                            <a:rPr lang="zh-CN" altLang="en-US" sz="2400" i="1">
                              <a:solidFill>
                                <a:srgbClr val="000000"/>
                              </a:solidFill>
                              <a:latin typeface="Cambria Math" panose="02040503050406030204" pitchFamily="18" charset="0"/>
                            </a:rPr>
                            <m:t>𝐴</m:t>
                          </m:r>
                        </m:e>
                      </m:ba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𝐵</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𝐶</m:t>
                      </m:r>
                      <m:r>
                        <a:rPr lang="zh-CN" altLang="en-US" sz="2400" i="1">
                          <a:solidFill>
                            <a:srgbClr val="000000"/>
                          </a:solidFill>
                          <a:latin typeface="Cambria Math" panose="02040503050406030204" pitchFamily="18" charset="0"/>
                        </a:rPr>
                        <m:t>)</m:t>
                      </m:r>
                    </m:oMath>
                  </m:oMathPara>
                </a14:m>
                <a:endParaRPr lang="zh-CN" altLang="en-US" sz="2400" dirty="0"/>
              </a:p>
            </p:txBody>
          </p:sp>
        </mc:Choice>
        <mc:Fallback>
          <p:sp>
            <p:nvSpPr>
              <p:cNvPr id="24" name="对象 23"/>
              <p:cNvSpPr txBox="1">
                <a:spLocks noRot="1" noChangeAspect="1" noMove="1" noResize="1" noEditPoints="1" noAdjustHandles="1" noChangeArrowheads="1" noChangeShapeType="1" noTextEdit="1"/>
              </p:cNvSpPr>
              <p:nvPr/>
            </p:nvSpPr>
            <p:spPr bwMode="auto">
              <a:xfrm>
                <a:off x="417231" y="3849877"/>
                <a:ext cx="6619875" cy="528637"/>
              </a:xfrm>
              <a:prstGeom prst="rect">
                <a:avLst/>
              </a:prstGeom>
              <a:blipFill rotWithShape="1">
                <a:blip r:embed="rId2"/>
                <a:stretch>
                  <a:fillRect l="-1" t="-96" r="1" b="36"/>
                </a:stretch>
              </a:blipFill>
              <a:ln>
                <a:noFill/>
              </a:ln>
            </p:spPr>
            <p:txBody>
              <a:bodyPr/>
              <a:lstStyle/>
              <a:p>
                <a:r>
                  <a:rPr lang="zh-CN" altLang="en-US">
                    <a:noFill/>
                  </a:rPr>
                  <a:t> </a:t>
                </a:r>
              </a:p>
            </p:txBody>
          </p:sp>
        </mc:Fallback>
      </mc:AlternateContent>
      <p:graphicFrame>
        <p:nvGraphicFramePr>
          <p:cNvPr id="16" name="Object 4"/>
          <p:cNvGraphicFramePr>
            <a:graphicFrameLocks noChangeAspect="1"/>
          </p:cNvGraphicFramePr>
          <p:nvPr/>
        </p:nvGraphicFramePr>
        <p:xfrm>
          <a:off x="6053202" y="1639592"/>
          <a:ext cx="2970070" cy="2002359"/>
        </p:xfrm>
        <a:graphic>
          <a:graphicData uri="http://schemas.openxmlformats.org/presentationml/2006/ole">
            <mc:AlternateContent xmlns:mc="http://schemas.openxmlformats.org/markup-compatibility/2006">
              <mc:Choice xmlns:v="urn:schemas-microsoft-com:vml" Requires="v">
                <p:oleObj spid="_x0000_s8616" name="Artwork" r:id="rId3" imgW="4648200" imgH="1238250" progId="">
                  <p:embed/>
                </p:oleObj>
              </mc:Choice>
              <mc:Fallback>
                <p:oleObj name="Artwork" r:id="rId3" imgW="4648200" imgH="1238250" progId="">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l="59836"/>
                      <a:stretch>
                        <a:fillRect/>
                      </a:stretch>
                    </p:blipFill>
                    <p:spPr bwMode="auto">
                      <a:xfrm>
                        <a:off x="6053202" y="1639592"/>
                        <a:ext cx="2970070" cy="2002359"/>
                      </a:xfrm>
                      <a:prstGeom prst="rect">
                        <a:avLst/>
                      </a:prstGeom>
                      <a:noFill/>
                      <a:ln>
                        <a:noFill/>
                      </a:ln>
                      <a:effectLst/>
                    </p:spPr>
                  </p:pic>
                </p:oleObj>
              </mc:Fallback>
            </mc:AlternateContent>
          </a:graphicData>
        </a:graphic>
      </p:graphicFrame>
      <p:graphicFrame>
        <p:nvGraphicFramePr>
          <p:cNvPr id="18" name="Object 4"/>
          <p:cNvGraphicFramePr>
            <a:graphicFrameLocks noChangeAspect="1"/>
          </p:cNvGraphicFramePr>
          <p:nvPr/>
        </p:nvGraphicFramePr>
        <p:xfrm>
          <a:off x="2522661" y="4540685"/>
          <a:ext cx="2897440" cy="1962511"/>
        </p:xfrm>
        <a:graphic>
          <a:graphicData uri="http://schemas.openxmlformats.org/presentationml/2006/ole">
            <mc:AlternateContent xmlns:mc="http://schemas.openxmlformats.org/markup-compatibility/2006">
              <mc:Choice xmlns:v="urn:schemas-microsoft-com:vml" Requires="v">
                <p:oleObj spid="_x0000_s8617" name="Artwork" r:id="rId5" imgW="1828800" imgH="1238250" progId="">
                  <p:embed/>
                </p:oleObj>
              </mc:Choice>
              <mc:Fallback>
                <p:oleObj name="Artwork" r:id="rId5" imgW="1828800" imgH="1238250" progId="">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22661" y="4540685"/>
                        <a:ext cx="2897440" cy="1962511"/>
                      </a:xfrm>
                      <a:prstGeom prst="rect">
                        <a:avLst/>
                      </a:prstGeom>
                      <a:noFill/>
                      <a:ln>
                        <a:noFill/>
                      </a:ln>
                      <a:effectLst/>
                    </p:spPr>
                  </p:pic>
                </p:oleObj>
              </mc:Fallback>
            </mc:AlternateContent>
          </a:graphicData>
        </a:graphic>
      </p:graphicFrame>
      <p:sp>
        <p:nvSpPr>
          <p:cNvPr id="4" name="矩形 3"/>
          <p:cNvSpPr/>
          <p:nvPr/>
        </p:nvSpPr>
        <p:spPr>
          <a:xfrm>
            <a:off x="5505189" y="4304416"/>
            <a:ext cx="1096027" cy="430887"/>
          </a:xfrm>
          <a:prstGeom prst="rect">
            <a:avLst/>
          </a:prstGeom>
        </p:spPr>
        <p:txBody>
          <a:bodyPr wrap="square">
            <a:spAutoFit/>
          </a:bodyPr>
          <a:lstStyle/>
          <a:p>
            <a:r>
              <a:rPr lang="zh-CN" altLang="en-US" sz="2200" dirty="0">
                <a:solidFill>
                  <a:schemeClr val="accent6"/>
                </a:solidFill>
                <a:latin typeface="微软雅黑" panose="020B0503020204020204" pitchFamily="34" charset="-122"/>
                <a:ea typeface="微软雅黑" panose="020B0503020204020204" pitchFamily="34" charset="-122"/>
              </a:rPr>
              <a:t>求和项</a:t>
            </a:r>
            <a:r>
              <a:rPr lang="en-US" altLang="zh-CN" dirty="0">
                <a:solidFill>
                  <a:schemeClr val="accent6"/>
                </a:solidFill>
              </a:rPr>
              <a:t> </a:t>
            </a:r>
            <a:endParaRPr lang="zh-CN" altLang="en-US" dirty="0">
              <a:solidFill>
                <a:schemeClr val="accent6"/>
              </a:solidFill>
            </a:endParaRPr>
          </a:p>
        </p:txBody>
      </p:sp>
      <p:sp>
        <p:nvSpPr>
          <p:cNvPr id="5" name="矩形 4"/>
          <p:cNvSpPr/>
          <p:nvPr/>
        </p:nvSpPr>
        <p:spPr>
          <a:xfrm>
            <a:off x="5714965" y="4648878"/>
            <a:ext cx="748923" cy="430887"/>
          </a:xfrm>
          <a:prstGeom prst="rect">
            <a:avLst/>
          </a:prstGeom>
        </p:spPr>
        <p:txBody>
          <a:bodyPr wrap="none">
            <a:spAutoFit/>
          </a:bodyPr>
          <a:lstStyle/>
          <a:p>
            <a:r>
              <a:rPr lang="zh-CN" altLang="en-US" sz="2200" dirty="0">
                <a:solidFill>
                  <a:schemeClr val="accent6"/>
                </a:solidFill>
                <a:latin typeface="微软雅黑" panose="020B0503020204020204" pitchFamily="34" charset="-122"/>
                <a:ea typeface="微软雅黑" panose="020B0503020204020204" pitchFamily="34" charset="-122"/>
              </a:rPr>
              <a:t>或项</a:t>
            </a:r>
            <a:endParaRPr lang="zh-CN" altLang="en-US" sz="2200" dirty="0">
              <a:solidFill>
                <a:schemeClr val="accent6"/>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 </a:t>
            </a:r>
            <a:r>
              <a:rPr lang="zh-CN" altLang="en-US" dirty="0"/>
              <a:t>逻辑函数的标准表示</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284773" y="915505"/>
                <a:ext cx="8523654" cy="5357172"/>
              </a:xfrm>
            </p:spPr>
            <p:txBody>
              <a:bodyPr/>
              <a:lstStyle/>
              <a:p>
                <a:pPr>
                  <a:spcBef>
                    <a:spcPts val="600"/>
                  </a:spcBef>
                </a:pPr>
                <a:r>
                  <a:rPr lang="zh-CN" altLang="en-US" sz="2200" dirty="0">
                    <a:solidFill>
                      <a:srgbClr val="FF0000"/>
                    </a:solidFill>
                  </a:rPr>
                  <a:t>标准乘积项</a:t>
                </a:r>
                <a:r>
                  <a:rPr lang="zh-CN" altLang="en-US" sz="2200" dirty="0">
                    <a:solidFill>
                      <a:schemeClr val="accent6"/>
                    </a:solidFill>
                  </a:rPr>
                  <a:t>（标准求和项）</a:t>
                </a:r>
                <a:r>
                  <a:rPr lang="zh-CN" altLang="en-US" sz="2200" dirty="0"/>
                  <a:t>：每个逻辑变量出现且仅出现一次的乘积项</a:t>
                </a:r>
                <a:r>
                  <a:rPr lang="zh-CN" altLang="en-US" sz="2200" dirty="0">
                    <a:solidFill>
                      <a:schemeClr val="accent6"/>
                    </a:solidFill>
                  </a:rPr>
                  <a:t>（求和项）</a:t>
                </a:r>
                <a:r>
                  <a:rPr lang="zh-CN" altLang="en-US" sz="2200" dirty="0"/>
                  <a:t>。</a:t>
                </a:r>
                <a:r>
                  <a:rPr lang="en-US" altLang="zh-CN" sz="2200" dirty="0"/>
                  <a:t> n </a:t>
                </a:r>
                <a:r>
                  <a:rPr lang="zh-CN" altLang="en-US" sz="2200" dirty="0"/>
                  <a:t>个变量的标准项共有</a:t>
                </a:r>
                <a:r>
                  <a:rPr lang="en-US" altLang="zh-CN" sz="2200" dirty="0"/>
                  <a:t>2</a:t>
                </a:r>
                <a:r>
                  <a:rPr lang="en-US" altLang="zh-CN" sz="2200" baseline="30000" dirty="0"/>
                  <a:t>n</a:t>
                </a:r>
                <a:r>
                  <a:rPr lang="en-US" altLang="zh-CN" sz="2200" dirty="0"/>
                  <a:t> </a:t>
                </a:r>
                <a:r>
                  <a:rPr lang="zh-CN" altLang="en-US" sz="2200" dirty="0"/>
                  <a:t>个。</a:t>
                </a:r>
                <a:endParaRPr lang="en-US" altLang="zh-CN" sz="2200" dirty="0"/>
              </a:p>
              <a:p>
                <a:pPr>
                  <a:spcBef>
                    <a:spcPts val="600"/>
                  </a:spcBef>
                </a:pPr>
                <a:r>
                  <a:rPr lang="zh-CN" altLang="en-US" sz="2200" dirty="0"/>
                  <a:t>标准乘积项也称为</a:t>
                </a:r>
                <a:r>
                  <a:rPr lang="zh-CN" altLang="en-US" sz="2200" dirty="0">
                    <a:solidFill>
                      <a:srgbClr val="FF0000"/>
                    </a:solidFill>
                  </a:rPr>
                  <a:t>最小项</a:t>
                </a:r>
                <a:r>
                  <a:rPr lang="zh-CN" altLang="en-US" sz="2200" dirty="0"/>
                  <a:t>，每个最小项都对应真值表中的一个输入组合，赋值该输入组合后，最小项的运算结果为</a:t>
                </a:r>
                <a:r>
                  <a:rPr lang="en-US" altLang="zh-CN" sz="2200" dirty="0">
                    <a:solidFill>
                      <a:srgbClr val="FF0000"/>
                    </a:solidFill>
                  </a:rPr>
                  <a:t>1</a:t>
                </a:r>
                <a:r>
                  <a:rPr lang="zh-CN" altLang="en-US" sz="2200" dirty="0"/>
                  <a:t>。</a:t>
                </a:r>
                <a:endParaRPr lang="en-US" altLang="zh-CN" sz="2200" dirty="0"/>
              </a:p>
              <a:p>
                <a:pPr>
                  <a:spcBef>
                    <a:spcPts val="600"/>
                  </a:spcBef>
                </a:pPr>
                <a:r>
                  <a:rPr lang="zh-CN" altLang="en-US" sz="2200" dirty="0"/>
                  <a:t>将该输入组合对应的</a:t>
                </a:r>
                <a:r>
                  <a:rPr lang="en-US" altLang="zh-CN" sz="2200" dirty="0"/>
                  <a:t>0/1</a:t>
                </a:r>
                <a:r>
                  <a:rPr lang="zh-CN" altLang="en-US" sz="2200" dirty="0"/>
                  <a:t>序列看成序号</a:t>
                </a:r>
                <a:r>
                  <a:rPr lang="en-US" altLang="zh-CN" sz="2200" dirty="0" err="1"/>
                  <a:t>i</a:t>
                </a:r>
                <a:r>
                  <a:rPr lang="zh-CN" altLang="en-US" sz="2200" dirty="0"/>
                  <a:t>，则可用</a:t>
                </a:r>
                <a:r>
                  <a:rPr lang="en-US" altLang="zh-CN" sz="2200" dirty="0"/>
                  <a:t>m</a:t>
                </a:r>
                <a:r>
                  <a:rPr lang="en-US" altLang="zh-CN" sz="2200" baseline="-25000" dirty="0"/>
                  <a:t>i</a:t>
                </a:r>
                <a:r>
                  <a:rPr lang="en-US" altLang="zh-CN" sz="2200" dirty="0"/>
                  <a:t> </a:t>
                </a:r>
                <a:r>
                  <a:rPr lang="zh-CN" altLang="en-US" sz="2200" dirty="0"/>
                  <a:t>表示该最小项，</a:t>
                </a:r>
                <a:r>
                  <a:rPr lang="en-US" altLang="zh-CN" sz="2200" dirty="0" err="1"/>
                  <a:t>i</a:t>
                </a:r>
                <a:r>
                  <a:rPr lang="en-US" altLang="zh-CN" sz="2200" dirty="0"/>
                  <a:t> </a:t>
                </a:r>
                <a:r>
                  <a:rPr lang="zh-CN" altLang="en-US" sz="2200" dirty="0"/>
                  <a:t>称为该最小项的编号。</a:t>
                </a:r>
                <a:endParaRPr lang="en-US" altLang="zh-CN" sz="2200" dirty="0"/>
              </a:p>
              <a:p>
                <a:pPr lvl="1" indent="-342900">
                  <a:spcBef>
                    <a:spcPts val="600"/>
                  </a:spcBef>
                </a:pPr>
                <a:r>
                  <a:rPr lang="zh-CN" altLang="en-US" b="1" dirty="0"/>
                  <a:t>如</a:t>
                </a:r>
                <a14:m>
                  <m:oMath xmlns:m="http://schemas.openxmlformats.org/officeDocument/2006/math">
                    <m:r>
                      <a:rPr lang="zh-CN" altLang="en-US" b="1" i="1">
                        <a:latin typeface="Cambria Math" panose="02040503050406030204" pitchFamily="18" charset="0"/>
                        <a:ea typeface="+mj-ea"/>
                      </a:rPr>
                      <m:t>：</m:t>
                    </m:r>
                    <m:acc>
                      <m:accPr>
                        <m:chr m:val="̅"/>
                        <m:ctrlPr>
                          <a:rPr lang="en-US" altLang="zh-CN" b="1" i="1">
                            <a:latin typeface="Cambria Math" panose="02040503050406030204" pitchFamily="18" charset="0"/>
                            <a:ea typeface="+mj-ea"/>
                          </a:rPr>
                        </m:ctrlPr>
                      </m:accPr>
                      <m:e>
                        <m:r>
                          <a:rPr lang="en-US" altLang="zh-CN" b="1" i="1">
                            <a:latin typeface="Cambria Math" panose="02040503050406030204" pitchFamily="18" charset="0"/>
                            <a:ea typeface="+mj-ea"/>
                          </a:rPr>
                          <m:t>𝑨</m:t>
                        </m:r>
                      </m:e>
                    </m:acc>
                    <m:r>
                      <a:rPr lang="zh-CN" altLang="en-US" i="1">
                        <a:solidFill>
                          <a:srgbClr val="000000"/>
                        </a:solidFill>
                        <a:latin typeface="Cambria Math" panose="02040503050406030204" pitchFamily="18" charset="0"/>
                        <a:ea typeface="+mj-ea"/>
                      </a:rPr>
                      <m:t>•</m:t>
                    </m:r>
                    <m:acc>
                      <m:accPr>
                        <m:chr m:val="̅"/>
                        <m:ctrlPr>
                          <a:rPr lang="en-US" altLang="zh-CN" b="1" i="1">
                            <a:latin typeface="Cambria Math" panose="02040503050406030204" pitchFamily="18" charset="0"/>
                            <a:ea typeface="+mj-ea"/>
                          </a:rPr>
                        </m:ctrlPr>
                      </m:accPr>
                      <m:e>
                        <m:r>
                          <a:rPr lang="en-US" altLang="zh-CN" b="1" i="1">
                            <a:latin typeface="Cambria Math" panose="02040503050406030204" pitchFamily="18" charset="0"/>
                            <a:ea typeface="+mj-ea"/>
                          </a:rPr>
                          <m:t>𝑩</m:t>
                        </m:r>
                      </m:e>
                    </m:acc>
                    <m:r>
                      <a:rPr lang="zh-CN" altLang="en-US" i="1">
                        <a:solidFill>
                          <a:srgbClr val="000000"/>
                        </a:solidFill>
                        <a:latin typeface="Cambria Math" panose="02040503050406030204" pitchFamily="18" charset="0"/>
                        <a:ea typeface="+mj-ea"/>
                      </a:rPr>
                      <m:t>•</m:t>
                    </m:r>
                    <m:r>
                      <a:rPr lang="en-US" altLang="zh-CN" b="1" i="1">
                        <a:latin typeface="Cambria Math" panose="02040503050406030204" pitchFamily="18" charset="0"/>
                        <a:ea typeface="+mj-ea"/>
                      </a:rPr>
                      <m:t>𝑪</m:t>
                    </m:r>
                    <m:r>
                      <a:rPr lang="zh-CN" altLang="en-US" b="1" i="1">
                        <a:latin typeface="Cambria Math" panose="02040503050406030204" pitchFamily="18" charset="0"/>
                        <a:ea typeface="+mj-ea"/>
                      </a:rPr>
                      <m:t>只有</m:t>
                    </m:r>
                    <m:r>
                      <a:rPr lang="zh-CN" altLang="en-US" i="1">
                        <a:latin typeface="Cambria Math" panose="02040503050406030204" pitchFamily="18" charset="0"/>
                        <a:ea typeface="+mj-ea"/>
                      </a:rPr>
                      <m:t>当输入</m:t>
                    </m:r>
                    <m:r>
                      <a:rPr lang="en-US" altLang="zh-CN" i="1" smtClean="0">
                        <a:solidFill>
                          <a:srgbClr val="FF0000"/>
                        </a:solidFill>
                        <a:latin typeface="Cambria Math" panose="02040503050406030204" pitchFamily="18" charset="0"/>
                        <a:ea typeface="+mj-ea"/>
                      </a:rPr>
                      <m:t>001</m:t>
                    </m:r>
                    <m:r>
                      <a:rPr lang="zh-CN" altLang="en-US" i="1">
                        <a:latin typeface="Cambria Math" panose="02040503050406030204" pitchFamily="18" charset="0"/>
                        <a:ea typeface="+mj-ea"/>
                      </a:rPr>
                      <m:t>时，结果为</m:t>
                    </m:r>
                    <m:r>
                      <a:rPr lang="en-US" altLang="zh-CN" i="1">
                        <a:latin typeface="Cambria Math" panose="02040503050406030204" pitchFamily="18" charset="0"/>
                        <a:ea typeface="+mj-ea"/>
                      </a:rPr>
                      <m:t>1</m:t>
                    </m:r>
                    <m:r>
                      <a:rPr lang="zh-CN" altLang="en-US" i="1">
                        <a:latin typeface="Cambria Math" panose="02040503050406030204" pitchFamily="18" charset="0"/>
                        <a:ea typeface="+mj-ea"/>
                      </a:rPr>
                      <m:t>，最小项编号为</m:t>
                    </m:r>
                    <m:r>
                      <a:rPr lang="en-US" altLang="zh-CN" i="1">
                        <a:latin typeface="Cambria Math" panose="02040503050406030204" pitchFamily="18" charset="0"/>
                        <a:ea typeface="+mj-ea"/>
                      </a:rPr>
                      <m:t>𝑚</m:t>
                    </m:r>
                    <m:r>
                      <a:rPr lang="en-US" altLang="zh-CN" i="1" baseline="-25000" smtClean="0">
                        <a:solidFill>
                          <a:srgbClr val="FF0000"/>
                        </a:solidFill>
                        <a:latin typeface="Cambria Math" panose="02040503050406030204" pitchFamily="18" charset="0"/>
                        <a:ea typeface="+mj-ea"/>
                      </a:rPr>
                      <m:t>1</m:t>
                    </m:r>
                  </m:oMath>
                </a14:m>
                <a:endParaRPr lang="en-US" altLang="zh-CN" dirty="0">
                  <a:latin typeface="+mj-ea"/>
                  <a:ea typeface="+mj-ea"/>
                </a:endParaRPr>
              </a:p>
              <a:p>
                <a:pPr>
                  <a:spcBef>
                    <a:spcPts val="600"/>
                  </a:spcBef>
                </a:pPr>
                <a:r>
                  <a:rPr lang="zh-CN" altLang="en-US" sz="2200" dirty="0">
                    <a:solidFill>
                      <a:schemeClr val="accent6"/>
                    </a:solidFill>
                  </a:rPr>
                  <a:t>标准求和项</a:t>
                </a:r>
                <a:r>
                  <a:rPr lang="zh-CN" altLang="en-US" sz="2200" dirty="0"/>
                  <a:t>也称为</a:t>
                </a:r>
                <a:r>
                  <a:rPr lang="zh-CN" altLang="en-US" sz="2200" dirty="0">
                    <a:solidFill>
                      <a:srgbClr val="FF0000"/>
                    </a:solidFill>
                  </a:rPr>
                  <a:t>最大项</a:t>
                </a:r>
                <a:r>
                  <a:rPr lang="zh-CN" altLang="en-US" sz="2200" dirty="0"/>
                  <a:t>，每个最大项都对应真值表中的一个输入组合，赋值该输入组合后，最大项的运算结果为</a:t>
                </a:r>
                <a:r>
                  <a:rPr lang="en-US" altLang="zh-CN" sz="2200" dirty="0">
                    <a:solidFill>
                      <a:srgbClr val="FF0000"/>
                    </a:solidFill>
                  </a:rPr>
                  <a:t>0</a:t>
                </a:r>
                <a:r>
                  <a:rPr lang="zh-CN" altLang="en-US" sz="2200" dirty="0"/>
                  <a:t>。</a:t>
                </a:r>
                <a:endParaRPr lang="en-US" altLang="zh-CN" sz="2200" dirty="0"/>
              </a:p>
              <a:p>
                <a:pPr>
                  <a:spcBef>
                    <a:spcPts val="600"/>
                  </a:spcBef>
                </a:pPr>
                <a:r>
                  <a:rPr lang="zh-CN" altLang="en-US" sz="2200" dirty="0"/>
                  <a:t>将该输入组合对应的</a:t>
                </a:r>
                <a:r>
                  <a:rPr lang="en-US" altLang="zh-CN" sz="2200" dirty="0"/>
                  <a:t>0/1</a:t>
                </a:r>
                <a:r>
                  <a:rPr lang="zh-CN" altLang="en-US" sz="2200" dirty="0"/>
                  <a:t>序列编码看成序号</a:t>
                </a:r>
                <a:r>
                  <a:rPr lang="en-US" altLang="zh-CN" sz="2200" dirty="0" err="1"/>
                  <a:t>i</a:t>
                </a:r>
                <a:r>
                  <a:rPr lang="zh-CN" altLang="en-US" sz="2200" dirty="0"/>
                  <a:t>，则可用</a:t>
                </a:r>
                <a:r>
                  <a:rPr lang="en-US" altLang="zh-CN" sz="2200" dirty="0"/>
                  <a:t>M</a:t>
                </a:r>
                <a:r>
                  <a:rPr lang="en-US" altLang="zh-CN" sz="2200" baseline="-25000" dirty="0"/>
                  <a:t>i</a:t>
                </a:r>
                <a:r>
                  <a:rPr lang="en-US" altLang="zh-CN" sz="2200" dirty="0"/>
                  <a:t> </a:t>
                </a:r>
                <a:r>
                  <a:rPr lang="zh-CN" altLang="en-US" sz="2200" dirty="0"/>
                  <a:t>表示该最大项，</a:t>
                </a:r>
                <a:r>
                  <a:rPr lang="en-US" altLang="zh-CN" sz="2200" dirty="0" err="1"/>
                  <a:t>i</a:t>
                </a:r>
                <a:r>
                  <a:rPr lang="en-US" altLang="zh-CN" sz="2200" dirty="0"/>
                  <a:t> </a:t>
                </a:r>
                <a:r>
                  <a:rPr lang="zh-CN" altLang="en-US" sz="2200" dirty="0"/>
                  <a:t>称为该最大项的编号。</a:t>
                </a:r>
                <a:endParaRPr lang="en-US" altLang="zh-CN" sz="2200" dirty="0"/>
              </a:p>
              <a:p>
                <a:pPr lvl="1">
                  <a:spcBef>
                    <a:spcPts val="600"/>
                  </a:spcBef>
                </a:pPr>
                <a:r>
                  <a:rPr lang="zh-CN" altLang="en-US" b="1" dirty="0"/>
                  <a:t>如</a:t>
                </a:r>
                <a14:m>
                  <m:oMath xmlns:m="http://schemas.openxmlformats.org/officeDocument/2006/math">
                    <m:r>
                      <a:rPr lang="zh-CN" altLang="en-US" b="1" i="1">
                        <a:latin typeface="Cambria Math" panose="02040503050406030204" pitchFamily="18" charset="0"/>
                      </a:rPr>
                      <m:t>：</m:t>
                    </m:r>
                    <m:acc>
                      <m:accPr>
                        <m:chr m:val="̅"/>
                        <m:ctrlPr>
                          <a:rPr lang="en-US" altLang="zh-CN" b="1" i="1">
                            <a:latin typeface="Cambria Math" panose="02040503050406030204" pitchFamily="18" charset="0"/>
                          </a:rPr>
                        </m:ctrlPr>
                      </m:accPr>
                      <m:e>
                        <m:r>
                          <a:rPr lang="en-US" altLang="zh-CN" b="1" i="1">
                            <a:latin typeface="Cambria Math" panose="02040503050406030204" pitchFamily="18" charset="0"/>
                          </a:rPr>
                          <m:t>𝑨</m:t>
                        </m:r>
                      </m:e>
                    </m:acc>
                    <m:r>
                      <a:rPr lang="en-US" altLang="zh-CN" b="1" i="1">
                        <a:latin typeface="Cambria Math" panose="02040503050406030204" pitchFamily="18" charset="0"/>
                      </a:rPr>
                      <m:t>+</m:t>
                    </m:r>
                    <m:acc>
                      <m:accPr>
                        <m:chr m:val="̅"/>
                        <m:ctrlPr>
                          <a:rPr lang="en-US" altLang="zh-CN" b="1" i="1">
                            <a:latin typeface="Cambria Math" panose="02040503050406030204" pitchFamily="18" charset="0"/>
                          </a:rPr>
                        </m:ctrlPr>
                      </m:accPr>
                      <m:e>
                        <m:r>
                          <a:rPr lang="en-US" altLang="zh-CN" b="1" i="1">
                            <a:latin typeface="Cambria Math" panose="02040503050406030204" pitchFamily="18" charset="0"/>
                          </a:rPr>
                          <m:t>𝑩</m:t>
                        </m:r>
                      </m:e>
                    </m:acc>
                    <m:r>
                      <a:rPr lang="en-US" altLang="zh-CN" b="1" i="1">
                        <a:latin typeface="Cambria Math" panose="02040503050406030204" pitchFamily="18" charset="0"/>
                      </a:rPr>
                      <m:t>+</m:t>
                    </m:r>
                    <m:r>
                      <a:rPr lang="en-US" altLang="zh-CN" b="1" i="1">
                        <a:latin typeface="Cambria Math" panose="02040503050406030204" pitchFamily="18" charset="0"/>
                      </a:rPr>
                      <m:t>𝑪</m:t>
                    </m:r>
                    <m:r>
                      <a:rPr lang="en-US" altLang="zh-CN" b="1" i="1">
                        <a:latin typeface="Cambria Math" panose="02040503050406030204" pitchFamily="18" charset="0"/>
                      </a:rPr>
                      <m:t> </m:t>
                    </m:r>
                    <m:r>
                      <a:rPr lang="zh-CN" altLang="en-US" i="1">
                        <a:latin typeface="Cambria Math" panose="02040503050406030204" pitchFamily="18" charset="0"/>
                      </a:rPr>
                      <m:t>只有输入</m:t>
                    </m:r>
                    <m:r>
                      <a:rPr lang="en-US" altLang="zh-CN" i="1" smtClean="0">
                        <a:solidFill>
                          <a:srgbClr val="FF0000"/>
                        </a:solidFill>
                        <a:latin typeface="Cambria Math" panose="02040503050406030204" pitchFamily="18" charset="0"/>
                      </a:rPr>
                      <m:t>110</m:t>
                    </m:r>
                    <m:r>
                      <a:rPr lang="zh-CN" altLang="en-US" i="1">
                        <a:latin typeface="Cambria Math" panose="02040503050406030204" pitchFamily="18" charset="0"/>
                      </a:rPr>
                      <m:t>时，结果为</m:t>
                    </m:r>
                    <m:r>
                      <a:rPr lang="en-US" altLang="zh-CN" i="1">
                        <a:latin typeface="Cambria Math" panose="02040503050406030204" pitchFamily="18" charset="0"/>
                      </a:rPr>
                      <m:t>0</m:t>
                    </m:r>
                    <m:r>
                      <a:rPr lang="zh-CN" altLang="en-US" i="1">
                        <a:latin typeface="Cambria Math" panose="02040503050406030204" pitchFamily="18" charset="0"/>
                      </a:rPr>
                      <m:t>，最大项编号为</m:t>
                    </m:r>
                    <m:r>
                      <a:rPr lang="en-US" altLang="zh-CN" i="1">
                        <a:latin typeface="Cambria Math" panose="02040503050406030204" pitchFamily="18" charset="0"/>
                      </a:rPr>
                      <m:t>𝑀</m:t>
                    </m:r>
                    <m:r>
                      <a:rPr lang="en-US" altLang="zh-CN" i="1" baseline="-25000" smtClean="0">
                        <a:solidFill>
                          <a:srgbClr val="FF0000"/>
                        </a:solidFill>
                        <a:latin typeface="Cambria Math" panose="02040503050406030204" pitchFamily="18" charset="0"/>
                      </a:rPr>
                      <m:t>6</m:t>
                    </m:r>
                  </m:oMath>
                </a14:m>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284773" y="915505"/>
                <a:ext cx="8523654" cy="5357172"/>
              </a:xfrm>
              <a:blipFill rotWithShape="1">
                <a:blip r:embed="rId1"/>
                <a:stretch>
                  <a:fillRect l="-3" t="-9" r="4" b="-5604"/>
                </a:stretch>
              </a:blipFill>
            </p:spPr>
            <p:txBody>
              <a:bodyPr/>
              <a:lstStyle/>
              <a:p>
                <a:r>
                  <a:rPr lang="zh-CN" altLang="en-US">
                    <a:noFill/>
                  </a:rPr>
                  <a:t> </a:t>
                </a:r>
              </a:p>
            </p:txBody>
          </p:sp>
        </mc:Fallback>
      </mc:AlternateContent>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9"/>
          <p:cNvSpPr>
            <a:spLocks noGrp="1"/>
          </p:cNvSpPr>
          <p:nvPr>
            <p:ph type="sldNum" sz="quarter" idx="4294967295"/>
          </p:nvPr>
        </p:nvSpPr>
        <p:spPr>
          <a:xfrm>
            <a:off x="8642350" y="6489700"/>
            <a:ext cx="501650" cy="333375"/>
          </a:xfrm>
          <a:prstGeom prst="rect">
            <a:avLst/>
          </a:prstGeom>
        </p:spPr>
        <p:txBody>
          <a:bodyPr/>
          <a:lstStyle/>
          <a:p>
            <a:pPr>
              <a:defRPr/>
            </a:pPr>
            <a:fld id="{FDFDDDCF-CC0E-4CF3-A497-3FEE434E7AE7}" type="slidenum">
              <a:rPr lang="en-US" altLang="zh-CN" smtClean="0"/>
            </a:fld>
            <a:endParaRPr lang="en-US" altLang="zh-CN"/>
          </a:p>
        </p:txBody>
      </p:sp>
      <p:sp>
        <p:nvSpPr>
          <p:cNvPr id="111618" name="Rectangle 2"/>
          <p:cNvSpPr>
            <a:spLocks noGrp="1" noChangeArrowheads="1"/>
          </p:cNvSpPr>
          <p:nvPr>
            <p:ph type="title" idx="4294967295"/>
          </p:nvPr>
        </p:nvSpPr>
        <p:spPr>
          <a:xfrm>
            <a:off x="2143125" y="84138"/>
            <a:ext cx="7000875" cy="914400"/>
          </a:xfrm>
        </p:spPr>
        <p:txBody>
          <a:bodyPr/>
          <a:lstStyle/>
          <a:p>
            <a:r>
              <a:rPr lang="en-US" altLang="zh-CN" sz="3600" dirty="0"/>
              <a:t>3.3 </a:t>
            </a:r>
            <a:r>
              <a:rPr lang="zh-CN" altLang="en-US" sz="3600" dirty="0"/>
              <a:t>逻辑函数的标准表示</a:t>
            </a:r>
            <a:endParaRPr lang="zh-CN" altLang="en-US" dirty="0"/>
          </a:p>
        </p:txBody>
      </p:sp>
      <p:graphicFrame>
        <p:nvGraphicFramePr>
          <p:cNvPr id="111619" name="Group 3"/>
          <p:cNvGraphicFramePr>
            <a:graphicFrameLocks noGrp="1"/>
          </p:cNvGraphicFramePr>
          <p:nvPr/>
        </p:nvGraphicFramePr>
        <p:xfrm>
          <a:off x="338126" y="1594955"/>
          <a:ext cx="4521906" cy="4114800"/>
        </p:xfrm>
        <a:graphic>
          <a:graphicData uri="http://schemas.openxmlformats.org/drawingml/2006/table">
            <a:tbl>
              <a:tblPr/>
              <a:tblGrid>
                <a:gridCol w="1497570"/>
                <a:gridCol w="641478"/>
                <a:gridCol w="1090061"/>
                <a:gridCol w="1292797"/>
              </a:tblGrid>
              <a:tr h="390525">
                <a:tc>
                  <a:txBody>
                    <a:bodyPr/>
                    <a:lstStyle/>
                    <a:p>
                      <a:pPr marL="0" marR="0" lvl="0" indent="0" algn="ctr" defTabSz="914400" rtl="0" eaLnBrk="1" fontAlgn="base" latinLnBrk="0" hangingPunct="1">
                        <a:lnSpc>
                          <a:spcPct val="100000"/>
                        </a:lnSpc>
                        <a:spcBef>
                          <a:spcPts val="0"/>
                        </a:spcBef>
                        <a:spcAft>
                          <a:spcPct val="0"/>
                        </a:spcAft>
                        <a:buClr>
                          <a:schemeClr val="accent1"/>
                        </a:buClr>
                        <a:buSzPct val="80000"/>
                        <a:buFont typeface="Wingdings" panose="05000000000000000000" pitchFamily="2" charset="2"/>
                        <a:buNone/>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     ABC</a:t>
                      </a:r>
                      <a:endPar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en-US" altLang="zh-CN" sz="2400" b="1"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Y</a:t>
                      </a:r>
                      <a:endParaRPr kumimoji="1" lang="en-US" altLang="zh-CN" sz="2400" b="1"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mn-ea"/>
                          <a:ea typeface="+mn-ea"/>
                        </a:rPr>
                        <a:t>最小项</a:t>
                      </a:r>
                      <a:endParaRPr kumimoji="1" lang="en-US" altLang="zh-CN" sz="2000" b="0" i="0" u="none" strike="noStrike" cap="none" normalizeH="0" baseline="0" dirty="0">
                        <a:ln>
                          <a:noFill/>
                        </a:ln>
                        <a:solidFill>
                          <a:schemeClr val="tx1"/>
                        </a:solidFill>
                        <a:effectLst/>
                        <a:latin typeface="+mn-ea"/>
                        <a:ea typeface="+mn-ea"/>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zh-CN" altLang="en-US" sz="2400" b="0" i="0" u="none" strike="noStrike" cap="none" normalizeH="0" baseline="0" dirty="0">
                          <a:ln>
                            <a:noFill/>
                          </a:ln>
                          <a:solidFill>
                            <a:schemeClr val="tx1"/>
                          </a:solidFill>
                          <a:effectLst/>
                          <a:latin typeface="+mn-ea"/>
                          <a:ea typeface="+mn-ea"/>
                        </a:rPr>
                        <a:t>最大项</a:t>
                      </a:r>
                      <a:endParaRPr kumimoji="1" lang="en-US" altLang="zh-CN" sz="2400" b="0" i="0" u="none" strike="noStrike" cap="none" normalizeH="0" baseline="0" dirty="0">
                        <a:ln>
                          <a:noFill/>
                        </a:ln>
                        <a:solidFill>
                          <a:schemeClr val="tx1"/>
                        </a:solidFill>
                        <a:effectLst/>
                        <a:latin typeface="+mn-ea"/>
                        <a:ea typeface="+mn-ea"/>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558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宋体" panose="02010600030101010101" pitchFamily="2" charset="-122"/>
                          <a:ea typeface="黑体" panose="02010609060101010101" pitchFamily="49" charset="-122"/>
                        </a:rPr>
                        <a:t>  000</a:t>
                      </a:r>
                      <a:endParaRPr kumimoji="1" lang="en-US" altLang="zh-CN" sz="2400" b="0" i="0" u="none" strike="noStrike" cap="none" normalizeH="0" baseline="0" dirty="0">
                        <a:ln>
                          <a:noFill/>
                        </a:ln>
                        <a:solidFill>
                          <a:schemeClr val="tx1"/>
                        </a:solidFill>
                        <a:effectLst/>
                        <a:latin typeface="宋体" panose="02010600030101010101" pitchFamily="2" charset="-122"/>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rPr>
                        <a:t>1</a:t>
                      </a:r>
                      <a:endPar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endPar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endPar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463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宋体" panose="02010600030101010101" pitchFamily="2" charset="-122"/>
                          <a:ea typeface="黑体" panose="02010609060101010101" pitchFamily="49" charset="-122"/>
                        </a:rPr>
                        <a:t>  001</a:t>
                      </a:r>
                      <a:endParaRPr kumimoji="1" lang="en-US" altLang="zh-CN" sz="2400" b="0" i="0" u="none" strike="noStrike" cap="none" normalizeH="0" baseline="0" dirty="0">
                        <a:ln>
                          <a:noFill/>
                        </a:ln>
                        <a:solidFill>
                          <a:schemeClr val="tx1"/>
                        </a:solidFill>
                        <a:effectLst/>
                        <a:latin typeface="宋体" panose="02010600030101010101" pitchFamily="2" charset="-122"/>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en-US" altLang="zh-CN" sz="2400" b="0" i="0" u="none" strike="noStrike" cap="none" normalizeH="0" baseline="0">
                          <a:ln>
                            <a:noFill/>
                          </a:ln>
                          <a:solidFill>
                            <a:schemeClr val="tx1"/>
                          </a:solidFill>
                          <a:effectLst/>
                          <a:latin typeface="Tahoma" panose="020B0604030504040204" pitchFamily="34" charset="0"/>
                          <a:ea typeface="黑体" panose="02010609060101010101" pitchFamily="49" charset="-122"/>
                        </a:rPr>
                        <a:t>0</a:t>
                      </a:r>
                      <a:endParaRPr kumimoji="1" lang="en-US" altLang="zh-CN" sz="2400" b="0" i="0" u="none" strike="noStrike" cap="none" normalizeH="0" baseline="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endParaRPr kumimoji="1" lang="en-US" altLang="zh-CN" sz="2400" b="0" i="0" u="none" strike="noStrike" cap="none" normalizeH="0" baseline="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endParaRPr kumimoji="1" lang="en-US" altLang="zh-CN" sz="2400" b="0" i="0" u="none" strike="noStrike" cap="none" normalizeH="0" baseline="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305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宋体" panose="02010600030101010101" pitchFamily="2" charset="-122"/>
                          <a:ea typeface="黑体" panose="02010609060101010101" pitchFamily="49" charset="-122"/>
                        </a:rPr>
                        <a:t>  010</a:t>
                      </a:r>
                      <a:endParaRPr kumimoji="1" lang="en-US" altLang="zh-CN" sz="2400" b="0" i="0" u="none" strike="noStrike" cap="none" normalizeH="0" baseline="0" dirty="0">
                        <a:ln>
                          <a:noFill/>
                        </a:ln>
                        <a:solidFill>
                          <a:schemeClr val="tx1"/>
                        </a:solidFill>
                        <a:effectLst/>
                        <a:latin typeface="宋体" panose="02010600030101010101" pitchFamily="2" charset="-122"/>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en-US" altLang="zh-CN" sz="2400" b="0" i="0" u="none" strike="noStrike" cap="none" normalizeH="0" baseline="0">
                          <a:ln>
                            <a:noFill/>
                          </a:ln>
                          <a:solidFill>
                            <a:schemeClr val="tx1"/>
                          </a:solidFill>
                          <a:effectLst/>
                          <a:latin typeface="Tahoma" panose="020B0604030504040204" pitchFamily="34" charset="0"/>
                          <a:ea typeface="黑体" panose="02010609060101010101" pitchFamily="49" charset="-122"/>
                        </a:rPr>
                        <a:t>0</a:t>
                      </a:r>
                      <a:endParaRPr kumimoji="1" lang="en-US" altLang="zh-CN" sz="2400" b="0" i="0" u="none" strike="noStrike" cap="none" normalizeH="0" baseline="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endParaRPr kumimoji="1" lang="en-US" altLang="zh-CN" sz="2400" b="0" i="0" u="none" strike="noStrike" cap="none" normalizeH="0" baseline="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endPar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5083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宋体" panose="02010600030101010101" pitchFamily="2" charset="-122"/>
                          <a:ea typeface="黑体" panose="02010609060101010101" pitchFamily="49" charset="-122"/>
                        </a:rPr>
                        <a:t>  011</a:t>
                      </a:r>
                      <a:endParaRPr kumimoji="1" lang="en-US" altLang="zh-CN" sz="2400" b="0" i="0" u="none" strike="noStrike" cap="none" normalizeH="0" baseline="0" dirty="0">
                        <a:ln>
                          <a:noFill/>
                        </a:ln>
                        <a:solidFill>
                          <a:schemeClr val="tx1"/>
                        </a:solidFill>
                        <a:effectLst/>
                        <a:latin typeface="宋体" panose="02010600030101010101" pitchFamily="2" charset="-122"/>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rPr>
                        <a:t>0</a:t>
                      </a:r>
                      <a:endPar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endPar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endPar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48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宋体" panose="02010600030101010101" pitchFamily="2" charset="-122"/>
                          <a:ea typeface="黑体" panose="02010609060101010101" pitchFamily="49" charset="-122"/>
                        </a:rPr>
                        <a:t>  100</a:t>
                      </a:r>
                      <a:endParaRPr kumimoji="1" lang="en-US" altLang="zh-CN" sz="2400" b="0" i="0" u="none" strike="noStrike" cap="none" normalizeH="0" baseline="0" dirty="0">
                        <a:ln>
                          <a:noFill/>
                        </a:ln>
                        <a:solidFill>
                          <a:schemeClr val="tx1"/>
                        </a:solidFill>
                        <a:effectLst/>
                        <a:latin typeface="宋体" panose="02010600030101010101" pitchFamily="2" charset="-122"/>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en-US" altLang="zh-CN" sz="2400" b="0" i="0" u="none" strike="noStrike" cap="none" normalizeH="0" baseline="0">
                          <a:ln>
                            <a:noFill/>
                          </a:ln>
                          <a:solidFill>
                            <a:schemeClr val="tx1"/>
                          </a:solidFill>
                          <a:effectLst/>
                          <a:latin typeface="Tahoma" panose="020B0604030504040204" pitchFamily="34" charset="0"/>
                          <a:ea typeface="黑体" panose="02010609060101010101" pitchFamily="49" charset="-122"/>
                        </a:rPr>
                        <a:t>0</a:t>
                      </a:r>
                      <a:endParaRPr kumimoji="1" lang="en-US" altLang="zh-CN" sz="2400" b="0" i="0" u="none" strike="noStrike" cap="none" normalizeH="0" baseline="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endParaRPr kumimoji="1" lang="en-US" altLang="zh-CN" sz="2400" b="0" i="0" u="none" strike="noStrike" cap="none" normalizeH="0" baseline="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endParaRPr kumimoji="1" lang="en-US" altLang="zh-CN" sz="2400" b="0" i="0" u="none" strike="noStrike" cap="none" normalizeH="0" baseline="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337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宋体" panose="02010600030101010101" pitchFamily="2" charset="-122"/>
                          <a:ea typeface="黑体" panose="02010609060101010101" pitchFamily="49" charset="-122"/>
                        </a:rPr>
                        <a:t>  101</a:t>
                      </a:r>
                      <a:endParaRPr kumimoji="1" lang="en-US" altLang="zh-CN" sz="2400" b="0" i="0" u="none" strike="noStrike" cap="none" normalizeH="0" baseline="0" dirty="0">
                        <a:ln>
                          <a:noFill/>
                        </a:ln>
                        <a:solidFill>
                          <a:schemeClr val="tx1"/>
                        </a:solidFill>
                        <a:effectLst/>
                        <a:latin typeface="宋体" panose="02010600030101010101" pitchFamily="2" charset="-122"/>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rPr>
                        <a:t>0</a:t>
                      </a:r>
                      <a:endPar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endPar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endPar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9368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宋体" panose="02010600030101010101" pitchFamily="2" charset="-122"/>
                          <a:ea typeface="黑体" panose="02010609060101010101" pitchFamily="49" charset="-122"/>
                        </a:rPr>
                        <a:t>  110</a:t>
                      </a:r>
                      <a:endParaRPr kumimoji="1" lang="en-US" altLang="zh-CN" sz="2400" b="0" i="0" u="none" strike="noStrike" cap="none" normalizeH="0" baseline="0" dirty="0">
                        <a:ln>
                          <a:noFill/>
                        </a:ln>
                        <a:solidFill>
                          <a:schemeClr val="tx1"/>
                        </a:solidFill>
                        <a:effectLst/>
                        <a:latin typeface="宋体" panose="02010600030101010101" pitchFamily="2" charset="-122"/>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en-US" altLang="zh-CN" sz="2400" b="0" i="0" u="none" strike="noStrike" cap="none" normalizeH="0" baseline="0">
                          <a:ln>
                            <a:noFill/>
                          </a:ln>
                          <a:solidFill>
                            <a:schemeClr val="tx1"/>
                          </a:solidFill>
                          <a:effectLst/>
                          <a:latin typeface="Tahoma" panose="020B0604030504040204" pitchFamily="34" charset="0"/>
                          <a:ea typeface="黑体" panose="02010609060101010101" pitchFamily="49" charset="-122"/>
                        </a:rPr>
                        <a:t>1</a:t>
                      </a:r>
                      <a:endParaRPr kumimoji="1" lang="en-US" altLang="zh-CN" sz="2400" b="0" i="0" u="none" strike="noStrike" cap="none" normalizeH="0" baseline="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endParaRPr kumimoji="1" lang="en-US" altLang="zh-CN" sz="2400" b="0" i="0" u="none" strike="noStrike" cap="none" normalizeH="0" baseline="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endParaRPr kumimoji="1" lang="en-US" altLang="zh-CN" sz="2400" b="0" i="0" u="none" strike="noStrike" cap="none" normalizeH="0" baseline="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098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宋体" panose="02010600030101010101" pitchFamily="2" charset="-122"/>
                          <a:ea typeface="黑体" panose="02010609060101010101" pitchFamily="49" charset="-122"/>
                        </a:rPr>
                        <a:t>  111</a:t>
                      </a:r>
                      <a:endParaRPr kumimoji="1" lang="en-US" altLang="zh-CN" sz="2400" b="0" i="0" u="none" strike="noStrike" cap="none" normalizeH="0" baseline="0" dirty="0">
                        <a:ln>
                          <a:noFill/>
                        </a:ln>
                        <a:solidFill>
                          <a:schemeClr val="tx1"/>
                        </a:solidFill>
                        <a:effectLst/>
                        <a:latin typeface="宋体" panose="02010600030101010101" pitchFamily="2" charset="-122"/>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rPr>
                        <a:t>1</a:t>
                      </a:r>
                      <a:endPar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endPar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pPr>
                      <a:endParaRPr kumimoji="1" lang="en-US"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11652" name="Line 36"/>
          <p:cNvSpPr>
            <a:spLocks noChangeShapeType="1"/>
          </p:cNvSpPr>
          <p:nvPr/>
        </p:nvSpPr>
        <p:spPr bwMode="auto">
          <a:xfrm>
            <a:off x="899592" y="1571554"/>
            <a:ext cx="0" cy="4114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endParaRPr lang="zh-CN" altLang="en-US" dirty="0"/>
          </a:p>
        </p:txBody>
      </p:sp>
      <mc:AlternateContent xmlns:mc="http://schemas.openxmlformats.org/markup-compatibility/2006">
        <mc:Choice xmlns:a14="http://schemas.microsoft.com/office/drawing/2010/main" Requires="a14">
          <p:sp>
            <p:nvSpPr>
              <p:cNvPr id="111672" name="Object 56"/>
              <p:cNvSpPr txBox="1"/>
              <p:nvPr/>
            </p:nvSpPr>
            <p:spPr bwMode="auto">
              <a:xfrm>
                <a:off x="5277482" y="4757328"/>
                <a:ext cx="3579063" cy="1119944"/>
              </a:xfrm>
              <a:prstGeom prst="rect">
                <a:avLst/>
              </a:prstGeom>
              <a:noFill/>
              <a:ln>
                <a:noFill/>
              </a:ln>
              <a:effectLst/>
            </p:spPr>
            <p:txBody>
              <a:bodyPr>
                <a:noAutofit/>
              </a:bodyPr>
              <a:lstStyle/>
              <a:p>
                <a14:m>
                  <m:oMath xmlns:m="http://schemas.openxmlformats.org/officeDocument/2006/math">
                    <m:r>
                      <a:rPr lang="zh-CN" altLang="en-US" sz="2000" i="1" smtClean="0">
                        <a:solidFill>
                          <a:srgbClr val="000000"/>
                        </a:solidFill>
                        <a:latin typeface="Cambria Math" panose="02040503050406030204" pitchFamily="18" charset="0"/>
                      </a:rPr>
                      <m:t>𝑌</m:t>
                    </m:r>
                    <m:r>
                      <a:rPr lang="zh-CN" altLang="en-US" sz="2000" i="1" smtClean="0">
                        <a:solidFill>
                          <a:srgbClr val="000000"/>
                        </a:solidFill>
                        <a:latin typeface="Cambria Math" panose="02040503050406030204" pitchFamily="18" charset="0"/>
                      </a:rPr>
                      <m:t>=</m:t>
                    </m:r>
                  </m:oMath>
                </a14:m>
                <a:r>
                  <a:rPr lang="en-US" altLang="zh-CN" sz="2000" i="1" dirty="0">
                    <a:solidFill>
                      <a:srgbClr val="000000"/>
                    </a:solidFill>
                    <a:latin typeface="Cambria Math" panose="02040503050406030204" pitchFamily="18" charset="0"/>
                  </a:rPr>
                  <a:t>(</a:t>
                </a:r>
                <a14:m>
                  <m:oMath xmlns:m="http://schemas.openxmlformats.org/officeDocument/2006/math">
                    <m:r>
                      <a:rPr lang="zh-CN" altLang="en-US" sz="2000" i="1">
                        <a:solidFill>
                          <a:srgbClr val="000000"/>
                        </a:solidFill>
                        <a:latin typeface="Cambria Math" panose="02040503050406030204" pitchFamily="18" charset="0"/>
                      </a:rPr>
                      <m:t>𝐴</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𝐵</m:t>
                    </m:r>
                    <m:r>
                      <a:rPr lang="zh-CN" altLang="en-US" sz="2000" i="1">
                        <a:solidFill>
                          <a:srgbClr val="000000"/>
                        </a:solidFill>
                        <a:latin typeface="Cambria Math" panose="02040503050406030204" pitchFamily="18" charset="0"/>
                      </a:rPr>
                      <m:t>+</m:t>
                    </m:r>
                    <m:bar>
                      <m:barPr>
                        <m:pos m:val="top"/>
                        <m:ctrlPr>
                          <a:rPr lang="zh-CN" altLang="en-US" sz="2000" i="1">
                            <a:solidFill>
                              <a:srgbClr val="000000"/>
                            </a:solidFill>
                            <a:latin typeface="Cambria Math" panose="02040503050406030204" pitchFamily="18" charset="0"/>
                          </a:rPr>
                        </m:ctrlPr>
                      </m:barPr>
                      <m:e>
                        <m:r>
                          <a:rPr lang="zh-CN" altLang="en-US" sz="2000" i="1">
                            <a:solidFill>
                              <a:srgbClr val="000000"/>
                            </a:solidFill>
                            <a:latin typeface="Cambria Math" panose="02040503050406030204" pitchFamily="18" charset="0"/>
                          </a:rPr>
                          <m:t>𝐶</m:t>
                        </m:r>
                      </m:e>
                    </m:bar>
                  </m:oMath>
                </a14:m>
                <a:r>
                  <a:rPr lang="en-US" altLang="zh-CN" sz="2000" dirty="0"/>
                  <a:t>)</a:t>
                </a:r>
                <a:r>
                  <a:rPr lang="zh-CN" altLang="en-US" sz="2000" dirty="0">
                    <a:solidFill>
                      <a:srgbClr val="000000"/>
                    </a:solidFill>
                  </a:rPr>
                  <a:t> </a:t>
                </a:r>
                <a14:m>
                  <m:oMath xmlns:m="http://schemas.openxmlformats.org/officeDocument/2006/math">
                    <m:r>
                      <a:rPr lang="zh-CN" altLang="en-US" sz="2000" i="1">
                        <a:solidFill>
                          <a:srgbClr val="000000"/>
                        </a:solidFill>
                        <a:latin typeface="Cambria Math" panose="02040503050406030204" pitchFamily="18" charset="0"/>
                      </a:rPr>
                      <m:t>•</m:t>
                    </m:r>
                  </m:oMath>
                </a14:m>
                <a:r>
                  <a:rPr lang="en-US" altLang="zh-CN" sz="2000" dirty="0"/>
                  <a:t>(</a:t>
                </a:r>
                <a14:m>
                  <m:oMath xmlns:m="http://schemas.openxmlformats.org/officeDocument/2006/math">
                    <m:r>
                      <a:rPr lang="zh-CN" altLang="en-US" sz="2000" i="1">
                        <a:solidFill>
                          <a:srgbClr val="000000"/>
                        </a:solidFill>
                        <a:latin typeface="Cambria Math" panose="02040503050406030204" pitchFamily="18" charset="0"/>
                      </a:rPr>
                      <m:t>𝐴</m:t>
                    </m:r>
                    <m:r>
                      <a:rPr lang="zh-CN" altLang="en-US" sz="2000" i="1">
                        <a:solidFill>
                          <a:srgbClr val="000000"/>
                        </a:solidFill>
                        <a:latin typeface="Cambria Math" panose="02040503050406030204" pitchFamily="18" charset="0"/>
                      </a:rPr>
                      <m:t>+</m:t>
                    </m:r>
                    <m:bar>
                      <m:barPr>
                        <m:pos m:val="top"/>
                        <m:ctrlPr>
                          <a:rPr lang="zh-CN" altLang="en-US" sz="2000" i="1">
                            <a:solidFill>
                              <a:srgbClr val="000000"/>
                            </a:solidFill>
                            <a:latin typeface="Cambria Math" panose="02040503050406030204" pitchFamily="18" charset="0"/>
                          </a:rPr>
                        </m:ctrlPr>
                      </m:barPr>
                      <m:e>
                        <m:r>
                          <a:rPr lang="zh-CN" altLang="en-US" sz="2000" i="1">
                            <a:solidFill>
                              <a:srgbClr val="000000"/>
                            </a:solidFill>
                            <a:latin typeface="Cambria Math" panose="02040503050406030204" pitchFamily="18" charset="0"/>
                          </a:rPr>
                          <m:t>𝐵</m:t>
                        </m:r>
                      </m:e>
                    </m:ba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𝐶</m:t>
                    </m:r>
                  </m:oMath>
                </a14:m>
                <a:r>
                  <a:rPr lang="en-US" altLang="zh-CN" sz="2000" dirty="0"/>
                  <a:t>)</a:t>
                </a:r>
                <a:r>
                  <a:rPr lang="zh-CN" altLang="en-US" sz="2000" dirty="0">
                    <a:solidFill>
                      <a:srgbClr val="000000"/>
                    </a:solidFill>
                  </a:rPr>
                  <a:t> </a:t>
                </a:r>
                <a14:m>
                  <m:oMath xmlns:m="http://schemas.openxmlformats.org/officeDocument/2006/math">
                    <m:r>
                      <a:rPr lang="zh-CN" altLang="en-US" sz="2000" i="1">
                        <a:solidFill>
                          <a:srgbClr val="000000"/>
                        </a:solidFill>
                        <a:latin typeface="Cambria Math" panose="02040503050406030204" pitchFamily="18" charset="0"/>
                      </a:rPr>
                      <m:t>•</m:t>
                    </m:r>
                  </m:oMath>
                </a14:m>
                <a:r>
                  <a:rPr lang="en-US" altLang="zh-CN" sz="2000" dirty="0"/>
                  <a:t>(</a:t>
                </a:r>
                <a14:m>
                  <m:oMath xmlns:m="http://schemas.openxmlformats.org/officeDocument/2006/math">
                    <m:r>
                      <a:rPr lang="zh-CN" altLang="en-US" sz="2000" i="1">
                        <a:solidFill>
                          <a:srgbClr val="000000"/>
                        </a:solidFill>
                        <a:latin typeface="Cambria Math" panose="02040503050406030204" pitchFamily="18" charset="0"/>
                      </a:rPr>
                      <m:t>𝐴</m:t>
                    </m:r>
                    <m:r>
                      <a:rPr lang="zh-CN" altLang="en-US" sz="2000" i="1">
                        <a:solidFill>
                          <a:srgbClr val="000000"/>
                        </a:solidFill>
                        <a:latin typeface="Cambria Math" panose="02040503050406030204" pitchFamily="18" charset="0"/>
                      </a:rPr>
                      <m:t>+</m:t>
                    </m:r>
                    <m:bar>
                      <m:barPr>
                        <m:pos m:val="top"/>
                        <m:ctrlPr>
                          <a:rPr lang="zh-CN" altLang="en-US" sz="2000" i="1">
                            <a:solidFill>
                              <a:srgbClr val="000000"/>
                            </a:solidFill>
                            <a:latin typeface="Cambria Math" panose="02040503050406030204" pitchFamily="18" charset="0"/>
                          </a:rPr>
                        </m:ctrlPr>
                      </m:barPr>
                      <m:e>
                        <m:r>
                          <a:rPr lang="zh-CN" altLang="en-US" sz="2000" i="1">
                            <a:solidFill>
                              <a:srgbClr val="000000"/>
                            </a:solidFill>
                            <a:latin typeface="Cambria Math" panose="02040503050406030204" pitchFamily="18" charset="0"/>
                          </a:rPr>
                          <m:t>𝐵</m:t>
                        </m:r>
                      </m:e>
                    </m:bar>
                    <m:r>
                      <a:rPr lang="zh-CN" altLang="en-US" sz="2000" i="1">
                        <a:solidFill>
                          <a:srgbClr val="000000"/>
                        </a:solidFill>
                        <a:latin typeface="Cambria Math" panose="02040503050406030204" pitchFamily="18" charset="0"/>
                      </a:rPr>
                      <m:t>+</m:t>
                    </m:r>
                    <m:bar>
                      <m:barPr>
                        <m:pos m:val="top"/>
                        <m:ctrlPr>
                          <a:rPr lang="zh-CN" altLang="en-US" sz="2000" i="1">
                            <a:solidFill>
                              <a:srgbClr val="000000"/>
                            </a:solidFill>
                            <a:latin typeface="Cambria Math" panose="02040503050406030204" pitchFamily="18" charset="0"/>
                          </a:rPr>
                        </m:ctrlPr>
                      </m:barPr>
                      <m:e>
                        <m:r>
                          <a:rPr lang="zh-CN" altLang="en-US" sz="2000" i="1">
                            <a:solidFill>
                              <a:srgbClr val="000000"/>
                            </a:solidFill>
                            <a:latin typeface="Cambria Math" panose="02040503050406030204" pitchFamily="18" charset="0"/>
                          </a:rPr>
                          <m:t>𝐶</m:t>
                        </m:r>
                      </m:e>
                    </m:bar>
                  </m:oMath>
                </a14:m>
                <a:r>
                  <a:rPr lang="en-US" altLang="zh-CN" sz="2000" dirty="0"/>
                  <a:t>)</a:t>
                </a:r>
                <a:r>
                  <a:rPr lang="zh-CN" altLang="en-US" sz="2000" dirty="0">
                    <a:solidFill>
                      <a:srgbClr val="000000"/>
                    </a:solidFill>
                  </a:rPr>
                  <a:t> </a:t>
                </a:r>
                <a14:m>
                  <m:oMath xmlns:m="http://schemas.openxmlformats.org/officeDocument/2006/math">
                    <m:r>
                      <a:rPr lang="zh-CN" altLang="en-US" sz="2000" i="1">
                        <a:solidFill>
                          <a:srgbClr val="000000"/>
                        </a:solidFill>
                        <a:latin typeface="Cambria Math" panose="02040503050406030204" pitchFamily="18" charset="0"/>
                      </a:rPr>
                      <m:t>•</m:t>
                    </m:r>
                  </m:oMath>
                </a14:m>
                <a:r>
                  <a:rPr lang="en-US" altLang="zh-CN" sz="2000" dirty="0"/>
                  <a:t>(</a:t>
                </a:r>
                <a14:m>
                  <m:oMath xmlns:m="http://schemas.openxmlformats.org/officeDocument/2006/math">
                    <m:bar>
                      <m:barPr>
                        <m:pos m:val="top"/>
                        <m:ctrlPr>
                          <a:rPr lang="zh-CN" altLang="en-US" sz="2000" i="1">
                            <a:solidFill>
                              <a:srgbClr val="000000"/>
                            </a:solidFill>
                            <a:latin typeface="Cambria Math" panose="02040503050406030204" pitchFamily="18" charset="0"/>
                          </a:rPr>
                        </m:ctrlPr>
                      </m:barPr>
                      <m:e>
                        <m:r>
                          <a:rPr lang="zh-CN" altLang="en-US" sz="2000" i="1">
                            <a:solidFill>
                              <a:srgbClr val="000000"/>
                            </a:solidFill>
                            <a:latin typeface="Cambria Math" panose="02040503050406030204" pitchFamily="18" charset="0"/>
                          </a:rPr>
                          <m:t>𝐴</m:t>
                        </m:r>
                      </m:e>
                    </m:ba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𝐵</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𝐶</m:t>
                    </m:r>
                  </m:oMath>
                </a14:m>
                <a:r>
                  <a:rPr lang="en-US" altLang="zh-CN" sz="2000" dirty="0"/>
                  <a:t>)</a:t>
                </a:r>
                <a:r>
                  <a:rPr lang="zh-CN" altLang="en-US" sz="2000" dirty="0">
                    <a:solidFill>
                      <a:srgbClr val="000000"/>
                    </a:solidFill>
                  </a:rPr>
                  <a:t> </a:t>
                </a:r>
                <a14:m>
                  <m:oMath xmlns:m="http://schemas.openxmlformats.org/officeDocument/2006/math">
                    <m:r>
                      <a:rPr lang="zh-CN" altLang="en-US" sz="2000" i="1">
                        <a:solidFill>
                          <a:srgbClr val="000000"/>
                        </a:solidFill>
                        <a:latin typeface="Cambria Math" panose="02040503050406030204" pitchFamily="18" charset="0"/>
                      </a:rPr>
                      <m:t>•</m:t>
                    </m:r>
                  </m:oMath>
                </a14:m>
                <a:r>
                  <a:rPr lang="en-US" altLang="zh-CN" sz="2000" dirty="0"/>
                  <a:t>(</a:t>
                </a:r>
                <a14:m>
                  <m:oMath xmlns:m="http://schemas.openxmlformats.org/officeDocument/2006/math">
                    <m:bar>
                      <m:barPr>
                        <m:pos m:val="top"/>
                        <m:ctrlPr>
                          <a:rPr lang="zh-CN" altLang="en-US" sz="2000" i="1">
                            <a:solidFill>
                              <a:srgbClr val="000000"/>
                            </a:solidFill>
                            <a:latin typeface="Cambria Math" panose="02040503050406030204" pitchFamily="18" charset="0"/>
                          </a:rPr>
                        </m:ctrlPr>
                      </m:barPr>
                      <m:e>
                        <m:r>
                          <a:rPr lang="zh-CN" altLang="en-US" sz="2000" i="1">
                            <a:solidFill>
                              <a:srgbClr val="000000"/>
                            </a:solidFill>
                            <a:latin typeface="Cambria Math" panose="02040503050406030204" pitchFamily="18" charset="0"/>
                          </a:rPr>
                          <m:t>𝐴</m:t>
                        </m:r>
                      </m:e>
                    </m:ba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𝐵</m:t>
                    </m:r>
                    <m:r>
                      <a:rPr lang="zh-CN" altLang="en-US" sz="2000" i="1">
                        <a:solidFill>
                          <a:srgbClr val="000000"/>
                        </a:solidFill>
                        <a:latin typeface="Cambria Math" panose="02040503050406030204" pitchFamily="18" charset="0"/>
                      </a:rPr>
                      <m:t>+</m:t>
                    </m:r>
                    <m:bar>
                      <m:barPr>
                        <m:pos m:val="top"/>
                        <m:ctrlPr>
                          <a:rPr lang="zh-CN" altLang="en-US" sz="2000" i="1">
                            <a:solidFill>
                              <a:srgbClr val="000000"/>
                            </a:solidFill>
                            <a:latin typeface="Cambria Math" panose="02040503050406030204" pitchFamily="18" charset="0"/>
                          </a:rPr>
                        </m:ctrlPr>
                      </m:barPr>
                      <m:e>
                        <m:r>
                          <a:rPr lang="zh-CN" altLang="en-US" sz="2000" i="1">
                            <a:solidFill>
                              <a:srgbClr val="000000"/>
                            </a:solidFill>
                            <a:latin typeface="Cambria Math" panose="02040503050406030204" pitchFamily="18" charset="0"/>
                          </a:rPr>
                          <m:t>𝐶</m:t>
                        </m:r>
                      </m:e>
                    </m:bar>
                  </m:oMath>
                </a14:m>
                <a:r>
                  <a:rPr lang="zh-CN" altLang="en-US" sz="2000" dirty="0"/>
                  <a:t>）</a:t>
                </a:r>
                <a:r>
                  <a:rPr lang="en-US" altLang="zh-CN" sz="2000" dirty="0"/>
                  <a:t>=</a:t>
                </a:r>
                <a14:m>
                  <m:oMath xmlns:m="http://schemas.openxmlformats.org/officeDocument/2006/math">
                    <m:nary>
                      <m:naryPr>
                        <m:chr m:val="∏"/>
                        <m:subHide m:val="on"/>
                        <m:supHide m:val="on"/>
                        <m:ctrlPr>
                          <a:rPr lang="zh-CN" altLang="en-US" sz="2000" i="1">
                            <a:solidFill>
                              <a:srgbClr val="000000"/>
                            </a:solidFill>
                            <a:latin typeface="Cambria Math" panose="02040503050406030204" pitchFamily="18" charset="0"/>
                          </a:rPr>
                        </m:ctrlPr>
                      </m:naryPr>
                      <m:sub/>
                      <m:sup/>
                      <m:e>
                        <m:r>
                          <a:rPr lang="zh-CN" altLang="en-US" sz="2000" i="1">
                            <a:solidFill>
                              <a:srgbClr val="000000"/>
                            </a:solidFill>
                            <a:latin typeface="Cambria Math" panose="02040503050406030204" pitchFamily="18" charset="0"/>
                          </a:rPr>
                          <m:t>𝑀</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1</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2</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3</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4</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5</m:t>
                        </m:r>
                        <m:r>
                          <a:rPr lang="zh-CN" altLang="en-US" sz="2000" i="1">
                            <a:solidFill>
                              <a:srgbClr val="000000"/>
                            </a:solidFill>
                            <a:latin typeface="Cambria Math" panose="02040503050406030204" pitchFamily="18" charset="0"/>
                          </a:rPr>
                          <m:t>)</m:t>
                        </m:r>
                      </m:e>
                    </m:nary>
                  </m:oMath>
                </a14:m>
                <a:endParaRPr lang="zh-CN" altLang="en-US" sz="2000" dirty="0"/>
              </a:p>
            </p:txBody>
          </p:sp>
        </mc:Choice>
        <mc:Fallback>
          <p:sp>
            <p:nvSpPr>
              <p:cNvPr id="111672" name="Object 56"/>
              <p:cNvSpPr txBox="1">
                <a:spLocks noRot="1" noChangeAspect="1" noMove="1" noResize="1" noEditPoints="1" noAdjustHandles="1" noChangeArrowheads="1" noChangeShapeType="1" noTextEdit="1"/>
              </p:cNvSpPr>
              <p:nvPr/>
            </p:nvSpPr>
            <p:spPr bwMode="auto">
              <a:xfrm>
                <a:off x="5277482" y="4757328"/>
                <a:ext cx="3579063" cy="1119944"/>
              </a:xfrm>
              <a:prstGeom prst="rect">
                <a:avLst/>
              </a:prstGeom>
              <a:blipFill rotWithShape="1">
                <a:blip r:embed="rId1"/>
                <a:stretch>
                  <a:fillRect l="-18" t="-48" r="6" b="31"/>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对象 4"/>
              <p:cNvSpPr txBox="1"/>
              <p:nvPr/>
            </p:nvSpPr>
            <p:spPr bwMode="auto">
              <a:xfrm>
                <a:off x="4973152" y="2461801"/>
                <a:ext cx="4170848" cy="1190554"/>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2000" i="1" smtClean="0">
                          <a:solidFill>
                            <a:srgbClr val="000000"/>
                          </a:solidFill>
                          <a:latin typeface="Cambria Math" panose="02040503050406030204" pitchFamily="18" charset="0"/>
                        </a:rPr>
                        <m:t>𝑌</m:t>
                      </m:r>
                      <m:r>
                        <a:rPr lang="zh-CN" altLang="en-US" sz="2000" i="1" smtClean="0">
                          <a:solidFill>
                            <a:srgbClr val="000000"/>
                          </a:solidFill>
                          <a:latin typeface="Cambria Math" panose="02040503050406030204" pitchFamily="18" charset="0"/>
                        </a:rPr>
                        <m:t>=</m:t>
                      </m:r>
                      <m:bar>
                        <m:barPr>
                          <m:pos m:val="top"/>
                          <m:ctrlPr>
                            <a:rPr lang="zh-CN" altLang="en-US" sz="2000" i="1">
                              <a:solidFill>
                                <a:srgbClr val="000000"/>
                              </a:solidFill>
                              <a:latin typeface="Cambria Math" panose="02040503050406030204" pitchFamily="18" charset="0"/>
                            </a:rPr>
                          </m:ctrlPr>
                        </m:barPr>
                        <m:e>
                          <m:r>
                            <a:rPr lang="zh-CN" altLang="en-US" sz="2000" i="1">
                              <a:solidFill>
                                <a:srgbClr val="000000"/>
                              </a:solidFill>
                              <a:latin typeface="Cambria Math" panose="02040503050406030204" pitchFamily="18" charset="0"/>
                            </a:rPr>
                            <m:t>𝐴</m:t>
                          </m:r>
                        </m:e>
                      </m:bar>
                      <m:r>
                        <a:rPr lang="zh-CN" altLang="en-US" sz="2000" i="1">
                          <a:solidFill>
                            <a:srgbClr val="000000"/>
                          </a:solidFill>
                          <a:latin typeface="Cambria Math" panose="02040503050406030204" pitchFamily="18" charset="0"/>
                        </a:rPr>
                        <m:t>•</m:t>
                      </m:r>
                      <m:bar>
                        <m:barPr>
                          <m:pos m:val="top"/>
                          <m:ctrlPr>
                            <a:rPr lang="zh-CN" altLang="en-US" sz="2000" i="1">
                              <a:solidFill>
                                <a:srgbClr val="000000"/>
                              </a:solidFill>
                              <a:latin typeface="Cambria Math" panose="02040503050406030204" pitchFamily="18" charset="0"/>
                            </a:rPr>
                          </m:ctrlPr>
                        </m:barPr>
                        <m:e>
                          <m:r>
                            <a:rPr lang="zh-CN" altLang="en-US" sz="2000" i="1">
                              <a:solidFill>
                                <a:srgbClr val="000000"/>
                              </a:solidFill>
                              <a:latin typeface="Cambria Math" panose="02040503050406030204" pitchFamily="18" charset="0"/>
                            </a:rPr>
                            <m:t>𝐵</m:t>
                          </m:r>
                        </m:e>
                      </m:bar>
                      <m:r>
                        <a:rPr lang="zh-CN" altLang="en-US" sz="2000" i="1">
                          <a:solidFill>
                            <a:srgbClr val="000000"/>
                          </a:solidFill>
                          <a:latin typeface="Cambria Math" panose="02040503050406030204" pitchFamily="18" charset="0"/>
                        </a:rPr>
                        <m:t>•</m:t>
                      </m:r>
                      <m:bar>
                        <m:barPr>
                          <m:pos m:val="top"/>
                          <m:ctrlPr>
                            <a:rPr lang="zh-CN" altLang="en-US" sz="2000" i="1">
                              <a:solidFill>
                                <a:srgbClr val="000000"/>
                              </a:solidFill>
                              <a:latin typeface="Cambria Math" panose="02040503050406030204" pitchFamily="18" charset="0"/>
                            </a:rPr>
                          </m:ctrlPr>
                        </m:barPr>
                        <m:e>
                          <m:r>
                            <a:rPr lang="zh-CN" altLang="en-US" sz="2000" i="1">
                              <a:solidFill>
                                <a:srgbClr val="000000"/>
                              </a:solidFill>
                              <a:latin typeface="Cambria Math" panose="02040503050406030204" pitchFamily="18" charset="0"/>
                            </a:rPr>
                            <m:t>𝐶</m:t>
                          </m:r>
                        </m:e>
                      </m:bar>
                      <m:r>
                        <a:rPr lang="en-US" altLang="zh-CN"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𝐴</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𝐵</m:t>
                      </m:r>
                      <m:r>
                        <a:rPr lang="zh-CN" altLang="en-US" sz="2000" i="1">
                          <a:solidFill>
                            <a:srgbClr val="000000"/>
                          </a:solidFill>
                          <a:latin typeface="Cambria Math" panose="02040503050406030204" pitchFamily="18" charset="0"/>
                        </a:rPr>
                        <m:t>•</m:t>
                      </m:r>
                      <m:bar>
                        <m:barPr>
                          <m:pos m:val="top"/>
                          <m:ctrlPr>
                            <a:rPr lang="zh-CN" altLang="en-US" sz="2000" i="1">
                              <a:solidFill>
                                <a:srgbClr val="000000"/>
                              </a:solidFill>
                              <a:latin typeface="Cambria Math" panose="02040503050406030204" pitchFamily="18" charset="0"/>
                            </a:rPr>
                          </m:ctrlPr>
                        </m:barPr>
                        <m:e>
                          <m:r>
                            <a:rPr lang="zh-CN" altLang="en-US" sz="2000" i="1">
                              <a:solidFill>
                                <a:srgbClr val="000000"/>
                              </a:solidFill>
                              <a:latin typeface="Cambria Math" panose="02040503050406030204" pitchFamily="18" charset="0"/>
                            </a:rPr>
                            <m:t>𝐶</m:t>
                          </m:r>
                        </m:e>
                      </m:bar>
                      <m:r>
                        <a:rPr lang="en-US" altLang="zh-CN" sz="2000" b="0" i="1" smtClean="0">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𝐴</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𝐵</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𝐶</m:t>
                      </m:r>
                    </m:oMath>
                  </m:oMathPara>
                </a14:m>
                <a:endParaRPr lang="en-US" altLang="zh-CN" sz="2000" i="1" dirty="0">
                  <a:solidFill>
                    <a:srgbClr val="000000"/>
                  </a:solidFill>
                  <a:latin typeface="Arial Narrow" panose="020B0606020202030204" pitchFamily="34" charset="0"/>
                </a:endParaRPr>
              </a:p>
              <a:p>
                <a14:m>
                  <m:oMathPara xmlns:m="http://schemas.openxmlformats.org/officeDocument/2006/math">
                    <m:oMathParaPr>
                      <m:jc m:val="left"/>
                    </m:oMathParaPr>
                    <m:oMath xmlns:m="http://schemas.openxmlformats.org/officeDocument/2006/math">
                      <m:r>
                        <a:rPr lang="en-US" altLang="zh-CN" sz="2000" b="0" i="1" smtClean="0">
                          <a:solidFill>
                            <a:srgbClr val="000000"/>
                          </a:solidFill>
                          <a:latin typeface="Cambria Math" panose="02040503050406030204" pitchFamily="18" charset="0"/>
                        </a:rPr>
                        <m:t>   =∑</m:t>
                      </m:r>
                      <m:r>
                        <a:rPr lang="en-US" altLang="zh-CN" sz="2000" b="0" i="1" smtClean="0">
                          <a:solidFill>
                            <a:srgbClr val="000000"/>
                          </a:solidFill>
                          <a:latin typeface="Cambria Math" panose="02040503050406030204" pitchFamily="18" charset="0"/>
                        </a:rPr>
                        <m:t>𝑚</m:t>
                      </m:r>
                      <m:r>
                        <a:rPr lang="zh-CN" altLang="en-US" sz="2000" i="1" smtClean="0">
                          <a:solidFill>
                            <a:srgbClr val="000000"/>
                          </a:solidFill>
                          <a:latin typeface="Cambria Math" panose="02040503050406030204" pitchFamily="18" charset="0"/>
                        </a:rPr>
                        <m:t> </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0</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6</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7</m:t>
                      </m:r>
                      <m:r>
                        <a:rPr lang="zh-CN" altLang="en-US" sz="2000" i="1">
                          <a:solidFill>
                            <a:srgbClr val="000000"/>
                          </a:solidFill>
                          <a:latin typeface="Cambria Math" panose="02040503050406030204" pitchFamily="18" charset="0"/>
                        </a:rPr>
                        <m:t>)</m:t>
                      </m:r>
                    </m:oMath>
                  </m:oMathPara>
                </a14:m>
                <a:endParaRPr lang="zh-CN" altLang="en-US" sz="2000" dirty="0">
                  <a:latin typeface="Arial Narrow" panose="020B0606020202030204" pitchFamily="34" charset="0"/>
                </a:endParaRPr>
              </a:p>
            </p:txBody>
          </p:sp>
        </mc:Choice>
        <mc:Fallback>
          <p:sp>
            <p:nvSpPr>
              <p:cNvPr id="5" name="对象 4"/>
              <p:cNvSpPr txBox="1">
                <a:spLocks noRot="1" noChangeAspect="1" noMove="1" noResize="1" noEditPoints="1" noAdjustHandles="1" noChangeArrowheads="1" noChangeShapeType="1" noTextEdit="1"/>
              </p:cNvSpPr>
              <p:nvPr/>
            </p:nvSpPr>
            <p:spPr bwMode="auto">
              <a:xfrm>
                <a:off x="4973152" y="2461801"/>
                <a:ext cx="4170848" cy="1190554"/>
              </a:xfrm>
              <a:prstGeom prst="rect">
                <a:avLst/>
              </a:prstGeom>
              <a:blipFill rotWithShape="1">
                <a:blip r:embed="rId2"/>
                <a:stretch>
                  <a:fillRect l="-11" t="-45" b="39"/>
                </a:stretch>
              </a:blipFill>
              <a:ln>
                <a:noFill/>
              </a:ln>
              <a:effectLst/>
            </p:spPr>
            <p:txBody>
              <a:bodyPr/>
              <a:lstStyle/>
              <a:p>
                <a:r>
                  <a:rPr lang="zh-CN" altLang="en-US">
                    <a:noFill/>
                  </a:rPr>
                  <a:t> </a:t>
                </a:r>
              </a:p>
            </p:txBody>
          </p:sp>
        </mc:Fallback>
      </mc:AlternateContent>
      <p:sp>
        <p:nvSpPr>
          <p:cNvPr id="20" name="TextBox 19"/>
          <p:cNvSpPr txBox="1"/>
          <p:nvPr/>
        </p:nvSpPr>
        <p:spPr>
          <a:xfrm>
            <a:off x="5092948" y="1156871"/>
            <a:ext cx="3856899" cy="769441"/>
          </a:xfrm>
          <a:prstGeom prst="rect">
            <a:avLst/>
          </a:prstGeom>
          <a:noFill/>
        </p:spPr>
        <p:txBody>
          <a:bodyPr wrap="square" rtlCol="0">
            <a:spAutoFit/>
          </a:bodyPr>
          <a:lstStyle/>
          <a:p>
            <a:r>
              <a:rPr lang="zh-CN" altLang="en-US" sz="2200" b="1" dirty="0">
                <a:latin typeface="+mj-ea"/>
                <a:ea typeface="+mj-ea"/>
              </a:rPr>
              <a:t>标准和</a:t>
            </a:r>
            <a:r>
              <a:rPr lang="en-US" altLang="zh-CN" sz="2200" b="1" dirty="0">
                <a:latin typeface="+mj-ea"/>
                <a:ea typeface="+mj-ea"/>
              </a:rPr>
              <a:t>/</a:t>
            </a:r>
            <a:r>
              <a:rPr lang="zh-CN" altLang="en-US" sz="2200" b="1" dirty="0">
                <a:solidFill>
                  <a:srgbClr val="FF0000"/>
                </a:solidFill>
                <a:latin typeface="+mj-ea"/>
                <a:ea typeface="+mj-ea"/>
              </a:rPr>
              <a:t>最小项列表</a:t>
            </a:r>
            <a:r>
              <a:rPr lang="zh-CN" altLang="en-US" sz="2200" dirty="0">
                <a:latin typeface="+mj-ea"/>
                <a:ea typeface="+mj-ea"/>
              </a:rPr>
              <a:t>：使得函数输出为</a:t>
            </a:r>
            <a:r>
              <a:rPr lang="en-US" altLang="zh-CN" sz="2200" dirty="0">
                <a:latin typeface="+mj-ea"/>
                <a:ea typeface="+mj-ea"/>
              </a:rPr>
              <a:t>1</a:t>
            </a:r>
            <a:r>
              <a:rPr lang="zh-CN" altLang="en-US" sz="2200" dirty="0">
                <a:latin typeface="+mj-ea"/>
                <a:ea typeface="+mj-ea"/>
              </a:rPr>
              <a:t>的最小项之和。</a:t>
            </a:r>
            <a:endParaRPr lang="zh-CN" altLang="en-US" sz="2200" dirty="0">
              <a:latin typeface="+mj-ea"/>
              <a:ea typeface="+mj-ea"/>
            </a:endParaRPr>
          </a:p>
        </p:txBody>
      </p:sp>
      <p:sp>
        <p:nvSpPr>
          <p:cNvPr id="21" name="TextBox 20"/>
          <p:cNvSpPr txBox="1"/>
          <p:nvPr/>
        </p:nvSpPr>
        <p:spPr>
          <a:xfrm>
            <a:off x="5225604" y="4010334"/>
            <a:ext cx="3792310" cy="769441"/>
          </a:xfrm>
          <a:prstGeom prst="rect">
            <a:avLst/>
          </a:prstGeom>
          <a:noFill/>
        </p:spPr>
        <p:txBody>
          <a:bodyPr wrap="square" rtlCol="0">
            <a:spAutoFit/>
          </a:bodyPr>
          <a:lstStyle/>
          <a:p>
            <a:r>
              <a:rPr lang="zh-CN" altLang="en-US" sz="2200" b="1" dirty="0">
                <a:latin typeface="微软雅黑" panose="020B0503020204020204" pitchFamily="34" charset="-122"/>
                <a:ea typeface="微软雅黑" panose="020B0503020204020204" pitchFamily="34" charset="-122"/>
              </a:rPr>
              <a:t>标准积</a:t>
            </a:r>
            <a:r>
              <a:rPr lang="en-US" altLang="zh-CN" sz="2200" b="1" dirty="0">
                <a:latin typeface="微软雅黑" panose="020B0503020204020204" pitchFamily="34" charset="-122"/>
                <a:ea typeface="微软雅黑" panose="020B0503020204020204" pitchFamily="34" charset="-122"/>
              </a:rPr>
              <a:t>/</a:t>
            </a:r>
            <a:r>
              <a:rPr lang="zh-CN" altLang="en-US" sz="2200" b="1" dirty="0">
                <a:solidFill>
                  <a:srgbClr val="FF0000"/>
                </a:solidFill>
                <a:latin typeface="微软雅黑" panose="020B0503020204020204" pitchFamily="34" charset="-122"/>
                <a:ea typeface="微软雅黑" panose="020B0503020204020204" pitchFamily="34" charset="-122"/>
              </a:rPr>
              <a:t>最大项列表</a:t>
            </a:r>
            <a:r>
              <a:rPr lang="zh-CN" altLang="en-US" sz="2200" dirty="0">
                <a:latin typeface="微软雅黑" panose="020B0503020204020204" pitchFamily="34" charset="-122"/>
                <a:ea typeface="微软雅黑" panose="020B0503020204020204" pitchFamily="34" charset="-122"/>
              </a:rPr>
              <a:t>：使得函数输出为</a:t>
            </a:r>
            <a:r>
              <a:rPr lang="en-US" altLang="zh-CN" sz="2200" dirty="0">
                <a:latin typeface="微软雅黑" panose="020B0503020204020204" pitchFamily="34" charset="-122"/>
                <a:ea typeface="微软雅黑" panose="020B0503020204020204" pitchFamily="34" charset="-122"/>
              </a:rPr>
              <a:t>0</a:t>
            </a:r>
            <a:r>
              <a:rPr lang="zh-CN" altLang="en-US" sz="2200" dirty="0">
                <a:latin typeface="微软雅黑" panose="020B0503020204020204" pitchFamily="34" charset="-122"/>
                <a:ea typeface="微软雅黑" panose="020B0503020204020204" pitchFamily="34" charset="-122"/>
              </a:rPr>
              <a:t>的最大项之积。</a:t>
            </a:r>
            <a:endParaRPr lang="zh-CN" altLang="en-US" sz="2200" dirty="0">
              <a:latin typeface="微软雅黑" panose="020B0503020204020204" pitchFamily="34" charset="-122"/>
              <a:ea typeface="微软雅黑" panose="020B0503020204020204" pitchFamily="34" charset="-122"/>
            </a:endParaRPr>
          </a:p>
        </p:txBody>
      </p:sp>
      <p:sp>
        <p:nvSpPr>
          <p:cNvPr id="7"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6" name="椭圆 15"/>
          <p:cNvSpPr/>
          <p:nvPr/>
        </p:nvSpPr>
        <p:spPr>
          <a:xfrm>
            <a:off x="1935018" y="2089980"/>
            <a:ext cx="404734" cy="35976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1935018" y="4772745"/>
            <a:ext cx="404734" cy="35976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1935018" y="5265193"/>
            <a:ext cx="404734" cy="35976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AutoShape 70"/>
          <p:cNvSpPr>
            <a:spLocks noChangeArrowheads="1"/>
          </p:cNvSpPr>
          <p:nvPr/>
        </p:nvSpPr>
        <p:spPr bwMode="auto">
          <a:xfrm>
            <a:off x="1848342" y="2546142"/>
            <a:ext cx="563418" cy="304800"/>
          </a:xfrm>
          <a:prstGeom prst="roundRect">
            <a:avLst>
              <a:gd name="adj" fmla="val 16667"/>
            </a:avLst>
          </a:prstGeom>
          <a:noFill/>
          <a:ln w="952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AutoShape 70"/>
          <p:cNvSpPr>
            <a:spLocks noChangeArrowheads="1"/>
          </p:cNvSpPr>
          <p:nvPr/>
        </p:nvSpPr>
        <p:spPr bwMode="auto">
          <a:xfrm>
            <a:off x="1848342" y="3001109"/>
            <a:ext cx="563418" cy="304800"/>
          </a:xfrm>
          <a:prstGeom prst="roundRect">
            <a:avLst>
              <a:gd name="adj" fmla="val 16667"/>
            </a:avLst>
          </a:prstGeom>
          <a:noFill/>
          <a:ln w="952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AutoShape 70"/>
          <p:cNvSpPr>
            <a:spLocks noChangeArrowheads="1"/>
          </p:cNvSpPr>
          <p:nvPr/>
        </p:nvSpPr>
        <p:spPr bwMode="auto">
          <a:xfrm>
            <a:off x="1848342" y="3447596"/>
            <a:ext cx="563418" cy="304800"/>
          </a:xfrm>
          <a:prstGeom prst="roundRect">
            <a:avLst>
              <a:gd name="adj" fmla="val 16667"/>
            </a:avLst>
          </a:prstGeom>
          <a:noFill/>
          <a:ln w="952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AutoShape 70"/>
          <p:cNvSpPr>
            <a:spLocks noChangeArrowheads="1"/>
          </p:cNvSpPr>
          <p:nvPr/>
        </p:nvSpPr>
        <p:spPr bwMode="auto">
          <a:xfrm>
            <a:off x="1848342" y="3928862"/>
            <a:ext cx="563418" cy="304800"/>
          </a:xfrm>
          <a:prstGeom prst="roundRect">
            <a:avLst>
              <a:gd name="adj" fmla="val 16667"/>
            </a:avLst>
          </a:prstGeom>
          <a:noFill/>
          <a:ln w="952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AutoShape 70"/>
          <p:cNvSpPr>
            <a:spLocks noChangeArrowheads="1"/>
          </p:cNvSpPr>
          <p:nvPr/>
        </p:nvSpPr>
        <p:spPr bwMode="auto">
          <a:xfrm>
            <a:off x="1848342" y="4365361"/>
            <a:ext cx="563418" cy="304800"/>
          </a:xfrm>
          <a:prstGeom prst="roundRect">
            <a:avLst>
              <a:gd name="adj" fmla="val 16667"/>
            </a:avLst>
          </a:prstGeom>
          <a:noFill/>
          <a:ln w="952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矩形 25"/>
          <p:cNvSpPr/>
          <p:nvPr/>
        </p:nvSpPr>
        <p:spPr>
          <a:xfrm>
            <a:off x="2123728" y="1167066"/>
            <a:ext cx="1107996" cy="461665"/>
          </a:xfrm>
          <a:prstGeom prst="rect">
            <a:avLst/>
          </a:prstGeom>
        </p:spPr>
        <p:txBody>
          <a:bodyPr wrap="none">
            <a:spAutoFit/>
          </a:bodyPr>
          <a:lstStyle/>
          <a:p>
            <a:r>
              <a:rPr lang="zh-CN" altLang="en-US" sz="2400" b="1" dirty="0"/>
              <a:t>真值表</a:t>
            </a:r>
            <a:endParaRPr lang="zh-CN" altLang="en-US" sz="2400" b="1" dirty="0"/>
          </a:p>
        </p:txBody>
      </p:sp>
      <p:grpSp>
        <p:nvGrpSpPr>
          <p:cNvPr id="30" name="Group 57"/>
          <p:cNvGrpSpPr/>
          <p:nvPr/>
        </p:nvGrpSpPr>
        <p:grpSpPr bwMode="auto">
          <a:xfrm>
            <a:off x="2483404" y="2089980"/>
            <a:ext cx="1140513" cy="3581748"/>
            <a:chOff x="810" y="1494"/>
            <a:chExt cx="726" cy="2313"/>
          </a:xfrm>
        </p:grpSpPr>
        <mc:AlternateContent xmlns:mc="http://schemas.openxmlformats.org/markup-compatibility/2006">
          <mc:Choice xmlns:a14="http://schemas.microsoft.com/office/drawing/2010/main" Requires="a14">
            <p:sp>
              <p:nvSpPr>
                <p:cNvPr id="31" name="Object 58"/>
                <p:cNvSpPr txBox="1"/>
                <p:nvPr/>
              </p:nvSpPr>
              <p:spPr bwMode="auto">
                <a:xfrm>
                  <a:off x="840" y="1494"/>
                  <a:ext cx="696" cy="347"/>
                </a:xfrm>
                <a:prstGeom prst="rect">
                  <a:avLst/>
                </a:prstGeom>
                <a:noFill/>
                <a:ln>
                  <a:noFill/>
                </a:ln>
                <a:effectLst/>
              </p:spPr>
              <p:txBody>
                <a:bodyPr>
                  <a:normAutofit/>
                </a:bodyPr>
                <a:lstStyle/>
                <a:p>
                  <a14:m>
                    <m:oMathPara xmlns:m="http://schemas.openxmlformats.org/officeDocument/2006/math">
                      <m:oMathParaPr>
                        <m:jc m:val="centerGroup"/>
                      </m:oMathParaPr>
                      <m:oMath xmlns:m="http://schemas.openxmlformats.org/officeDocument/2006/math">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oMath>
                    </m:oMathPara>
                  </a14:m>
                  <a:endParaRPr lang="zh-CN" altLang="en-US" dirty="0"/>
                </a:p>
              </p:txBody>
            </p:sp>
          </mc:Choice>
          <mc:Fallback>
            <p:sp>
              <p:nvSpPr>
                <p:cNvPr id="31" name="Object 58"/>
                <p:cNvSpPr txBox="1">
                  <a:spLocks noRot="1" noChangeAspect="1" noMove="1" noResize="1" noEditPoints="1" noAdjustHandles="1" noChangeArrowheads="1" noChangeShapeType="1" noTextEdit="1"/>
                </p:cNvSpPr>
                <p:nvPr/>
              </p:nvSpPr>
              <p:spPr bwMode="auto">
                <a:xfrm>
                  <a:off x="840" y="1494"/>
                  <a:ext cx="696" cy="347"/>
                </a:xfrm>
                <a:prstGeom prst="rect">
                  <a:avLst/>
                </a:prstGeom>
                <a:blipFill rotWithShape="1">
                  <a:blip r:embed="rId3"/>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2" name="Object 59"/>
                <p:cNvSpPr txBox="1"/>
                <p:nvPr/>
              </p:nvSpPr>
              <p:spPr bwMode="auto">
                <a:xfrm>
                  <a:off x="859" y="1782"/>
                  <a:ext cx="677" cy="364"/>
                </a:xfrm>
                <a:prstGeom prst="rect">
                  <a:avLst/>
                </a:prstGeom>
                <a:noFill/>
                <a:ln>
                  <a:noFill/>
                </a:ln>
                <a:effectLst/>
              </p:spPr>
              <p:txBody>
                <a:bodyPr>
                  <a:normAutofit/>
                </a:bodyPr>
                <a:lstStyle/>
                <a:p>
                  <a14:m>
                    <m:oMathPara xmlns:m="http://schemas.openxmlformats.org/officeDocument/2006/math">
                      <m:oMathParaPr>
                        <m:jc m:val="centerGroup"/>
                      </m:oMathParaPr>
                      <m:oMath xmlns:m="http://schemas.openxmlformats.org/officeDocument/2006/math">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oMath>
                    </m:oMathPara>
                  </a14:m>
                  <a:endParaRPr lang="zh-CN" altLang="en-US" dirty="0"/>
                </a:p>
              </p:txBody>
            </p:sp>
          </mc:Choice>
          <mc:Fallback>
            <p:sp>
              <p:nvSpPr>
                <p:cNvPr id="32" name="Object 59"/>
                <p:cNvSpPr txBox="1">
                  <a:spLocks noRot="1" noChangeAspect="1" noMove="1" noResize="1" noEditPoints="1" noAdjustHandles="1" noChangeArrowheads="1" noChangeShapeType="1" noTextEdit="1"/>
                </p:cNvSpPr>
                <p:nvPr/>
              </p:nvSpPr>
              <p:spPr bwMode="auto">
                <a:xfrm>
                  <a:off x="859" y="1782"/>
                  <a:ext cx="677" cy="364"/>
                </a:xfrm>
                <a:prstGeom prst="rect">
                  <a:avLst/>
                </a:prstGeom>
                <a:blipFill rotWithShape="1">
                  <a:blip r:embed="rId4"/>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 name="Object 60"/>
                <p:cNvSpPr txBox="1"/>
                <p:nvPr/>
              </p:nvSpPr>
              <p:spPr bwMode="auto">
                <a:xfrm>
                  <a:off x="839" y="2080"/>
                  <a:ext cx="671" cy="315"/>
                </a:xfrm>
                <a:prstGeom prst="rect">
                  <a:avLst/>
                </a:prstGeom>
                <a:noFill/>
                <a:ln>
                  <a:noFill/>
                </a:ln>
                <a:effectLst/>
              </p:spPr>
              <p:txBody>
                <a:bodyPr>
                  <a:normAutofit/>
                </a:bodyPr>
                <a:lstStyle/>
                <a:p>
                  <a14:m>
                    <m:oMathPara xmlns:m="http://schemas.openxmlformats.org/officeDocument/2006/math">
                      <m:oMathParaPr>
                        <m:jc m:val="centerGroup"/>
                      </m:oMathParaPr>
                      <m:oMath xmlns:m="http://schemas.openxmlformats.org/officeDocument/2006/math">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oMath>
                    </m:oMathPara>
                  </a14:m>
                  <a:endParaRPr lang="zh-CN" altLang="en-US" dirty="0"/>
                </a:p>
              </p:txBody>
            </p:sp>
          </mc:Choice>
          <mc:Fallback>
            <p:sp>
              <p:nvSpPr>
                <p:cNvPr id="33" name="Object 60"/>
                <p:cNvSpPr txBox="1">
                  <a:spLocks noRot="1" noChangeAspect="1" noMove="1" noResize="1" noEditPoints="1" noAdjustHandles="1" noChangeArrowheads="1" noChangeShapeType="1" noTextEdit="1"/>
                </p:cNvSpPr>
                <p:nvPr/>
              </p:nvSpPr>
              <p:spPr bwMode="auto">
                <a:xfrm>
                  <a:off x="839" y="2080"/>
                  <a:ext cx="671" cy="315"/>
                </a:xfrm>
                <a:prstGeom prst="rect">
                  <a:avLst/>
                </a:prstGeom>
                <a:blipFill rotWithShape="1">
                  <a:blip r:embed="rId5"/>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4" name="Object 61"/>
                <p:cNvSpPr txBox="1"/>
                <p:nvPr/>
              </p:nvSpPr>
              <p:spPr bwMode="auto">
                <a:xfrm>
                  <a:off x="842" y="2369"/>
                  <a:ext cx="671" cy="316"/>
                </a:xfrm>
                <a:prstGeom prst="rect">
                  <a:avLst/>
                </a:prstGeom>
                <a:noFill/>
                <a:ln>
                  <a:noFill/>
                </a:ln>
                <a:effectLst/>
              </p:spPr>
              <p:txBody>
                <a:bodyPr>
                  <a:normAutofit/>
                </a:bodyPr>
                <a:lstStyle/>
                <a:p>
                  <a14:m>
                    <m:oMathPara xmlns:m="http://schemas.openxmlformats.org/officeDocument/2006/math">
                      <m:oMathParaPr>
                        <m:jc m:val="centerGroup"/>
                      </m:oMathParaPr>
                      <m:oMath xmlns:m="http://schemas.openxmlformats.org/officeDocument/2006/math">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oMath>
                    </m:oMathPara>
                  </a14:m>
                  <a:endParaRPr lang="zh-CN" altLang="en-US" dirty="0"/>
                </a:p>
              </p:txBody>
            </p:sp>
          </mc:Choice>
          <mc:Fallback>
            <p:sp>
              <p:nvSpPr>
                <p:cNvPr id="34" name="Object 61"/>
                <p:cNvSpPr txBox="1">
                  <a:spLocks noRot="1" noChangeAspect="1" noMove="1" noResize="1" noEditPoints="1" noAdjustHandles="1" noChangeArrowheads="1" noChangeShapeType="1" noTextEdit="1"/>
                </p:cNvSpPr>
                <p:nvPr/>
              </p:nvSpPr>
              <p:spPr bwMode="auto">
                <a:xfrm>
                  <a:off x="842" y="2369"/>
                  <a:ext cx="671" cy="316"/>
                </a:xfrm>
                <a:prstGeom prst="rect">
                  <a:avLst/>
                </a:prstGeom>
                <a:blipFill rotWithShape="1">
                  <a:blip r:embed="rId6"/>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5" name="Object 62"/>
                <p:cNvSpPr txBox="1"/>
                <p:nvPr/>
              </p:nvSpPr>
              <p:spPr bwMode="auto">
                <a:xfrm>
                  <a:off x="810" y="2637"/>
                  <a:ext cx="693" cy="358"/>
                </a:xfrm>
                <a:prstGeom prst="rect">
                  <a:avLst/>
                </a:prstGeom>
                <a:noFill/>
                <a:ln>
                  <a:noFill/>
                </a:ln>
                <a:effectLst/>
              </p:spPr>
              <p:txBody>
                <a:bodyPr>
                  <a:normAutofit/>
                </a:bodyPr>
                <a:lstStyle/>
                <a:p>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oMath>
                    </m:oMathPara>
                  </a14:m>
                  <a:endParaRPr lang="zh-CN" altLang="en-US" dirty="0"/>
                </a:p>
              </p:txBody>
            </p:sp>
          </mc:Choice>
          <mc:Fallback>
            <p:sp>
              <p:nvSpPr>
                <p:cNvPr id="35" name="Object 62"/>
                <p:cNvSpPr txBox="1">
                  <a:spLocks noRot="1" noChangeAspect="1" noMove="1" noResize="1" noEditPoints="1" noAdjustHandles="1" noChangeArrowheads="1" noChangeShapeType="1" noTextEdit="1"/>
                </p:cNvSpPr>
                <p:nvPr/>
              </p:nvSpPr>
              <p:spPr bwMode="auto">
                <a:xfrm>
                  <a:off x="810" y="2637"/>
                  <a:ext cx="693" cy="358"/>
                </a:xfrm>
                <a:prstGeom prst="rect">
                  <a:avLst/>
                </a:prstGeom>
                <a:blipFill rotWithShape="1">
                  <a:blip r:embed="rId7"/>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6" name="Object 63"/>
                <p:cNvSpPr txBox="1"/>
                <p:nvPr/>
              </p:nvSpPr>
              <p:spPr bwMode="auto">
                <a:xfrm>
                  <a:off x="835" y="2944"/>
                  <a:ext cx="671" cy="315"/>
                </a:xfrm>
                <a:prstGeom prst="rect">
                  <a:avLst/>
                </a:prstGeom>
                <a:noFill/>
                <a:ln>
                  <a:noFill/>
                </a:ln>
                <a:effectLst/>
              </p:spPr>
              <p:txBody>
                <a:bodyPr>
                  <a:normAutofit/>
                </a:bodyPr>
                <a:lstStyle/>
                <a:p>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oMath>
                    </m:oMathPara>
                  </a14:m>
                  <a:endParaRPr lang="zh-CN" altLang="en-US" dirty="0"/>
                </a:p>
              </p:txBody>
            </p:sp>
          </mc:Choice>
          <mc:Fallback>
            <p:sp>
              <p:nvSpPr>
                <p:cNvPr id="36" name="Object 63"/>
                <p:cNvSpPr txBox="1">
                  <a:spLocks noRot="1" noChangeAspect="1" noMove="1" noResize="1" noEditPoints="1" noAdjustHandles="1" noChangeArrowheads="1" noChangeShapeType="1" noTextEdit="1"/>
                </p:cNvSpPr>
                <p:nvPr/>
              </p:nvSpPr>
              <p:spPr bwMode="auto">
                <a:xfrm>
                  <a:off x="835" y="2944"/>
                  <a:ext cx="671" cy="315"/>
                </a:xfrm>
                <a:prstGeom prst="rect">
                  <a:avLst/>
                </a:prstGeom>
                <a:blipFill rotWithShape="1">
                  <a:blip r:embed="rId8"/>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7" name="Object 64"/>
                <p:cNvSpPr txBox="1"/>
                <p:nvPr/>
              </p:nvSpPr>
              <p:spPr bwMode="auto">
                <a:xfrm>
                  <a:off x="830" y="3231"/>
                  <a:ext cx="671" cy="316"/>
                </a:xfrm>
                <a:prstGeom prst="rect">
                  <a:avLst/>
                </a:prstGeom>
                <a:noFill/>
                <a:ln>
                  <a:noFill/>
                </a:ln>
                <a:effectLst/>
              </p:spPr>
              <p:txBody>
                <a:bodyPr>
                  <a:normAutofit/>
                </a:bodyPr>
                <a:lstStyle/>
                <a:p>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oMath>
                    </m:oMathPara>
                  </a14:m>
                  <a:endParaRPr lang="zh-CN" altLang="en-US" dirty="0"/>
                </a:p>
              </p:txBody>
            </p:sp>
          </mc:Choice>
          <mc:Fallback>
            <p:sp>
              <p:nvSpPr>
                <p:cNvPr id="37" name="Object 64"/>
                <p:cNvSpPr txBox="1">
                  <a:spLocks noRot="1" noChangeAspect="1" noMove="1" noResize="1" noEditPoints="1" noAdjustHandles="1" noChangeArrowheads="1" noChangeShapeType="1" noTextEdit="1"/>
                </p:cNvSpPr>
                <p:nvPr/>
              </p:nvSpPr>
              <p:spPr bwMode="auto">
                <a:xfrm>
                  <a:off x="830" y="3231"/>
                  <a:ext cx="671" cy="316"/>
                </a:xfrm>
                <a:prstGeom prst="rect">
                  <a:avLst/>
                </a:prstGeom>
                <a:blipFill rotWithShape="1">
                  <a:blip r:embed="rId9"/>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8" name="Object 65"/>
                <p:cNvSpPr txBox="1"/>
                <p:nvPr/>
              </p:nvSpPr>
              <p:spPr bwMode="auto">
                <a:xfrm>
                  <a:off x="826" y="3547"/>
                  <a:ext cx="671" cy="260"/>
                </a:xfrm>
                <a:prstGeom prst="rect">
                  <a:avLst/>
                </a:prstGeom>
                <a:noFill/>
                <a:ln>
                  <a:noFill/>
                </a:ln>
                <a:effectLst/>
              </p:spPr>
              <p:txBody>
                <a:bodyPr>
                  <a:normAutofit/>
                </a:bodyPr>
                <a:lstStyle/>
                <a:p>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oMath>
                    </m:oMathPara>
                  </a14:m>
                  <a:endParaRPr lang="zh-CN" altLang="en-US" dirty="0"/>
                </a:p>
              </p:txBody>
            </p:sp>
          </mc:Choice>
          <mc:Fallback>
            <p:sp>
              <p:nvSpPr>
                <p:cNvPr id="38" name="Object 65"/>
                <p:cNvSpPr txBox="1">
                  <a:spLocks noRot="1" noChangeAspect="1" noMove="1" noResize="1" noEditPoints="1" noAdjustHandles="1" noChangeArrowheads="1" noChangeShapeType="1" noTextEdit="1"/>
                </p:cNvSpPr>
                <p:nvPr/>
              </p:nvSpPr>
              <p:spPr bwMode="auto">
                <a:xfrm>
                  <a:off x="826" y="3547"/>
                  <a:ext cx="671" cy="260"/>
                </a:xfrm>
                <a:prstGeom prst="rect">
                  <a:avLst/>
                </a:prstGeom>
                <a:blipFill rotWithShape="1">
                  <a:blip r:embed="rId10"/>
                </a:blipFill>
                <a:ln>
                  <a:noFill/>
                </a:ln>
                <a:effectLst/>
              </p:spPr>
              <p:txBody>
                <a:bodyPr/>
                <a:lstStyle/>
                <a:p>
                  <a:r>
                    <a:rPr lang="zh-CN" altLang="en-US">
                      <a:noFill/>
                    </a:rPr>
                    <a:t> </a:t>
                  </a:r>
                </a:p>
              </p:txBody>
            </p:sp>
          </mc:Fallback>
        </mc:AlternateContent>
      </p:grpSp>
      <p:grpSp>
        <p:nvGrpSpPr>
          <p:cNvPr id="39" name="Group 66"/>
          <p:cNvGrpSpPr/>
          <p:nvPr/>
        </p:nvGrpSpPr>
        <p:grpSpPr bwMode="auto">
          <a:xfrm>
            <a:off x="3526904" y="2089980"/>
            <a:ext cx="1407736" cy="3654276"/>
            <a:chOff x="637" y="1660"/>
            <a:chExt cx="1248" cy="2352"/>
          </a:xfrm>
        </p:grpSpPr>
        <mc:AlternateContent xmlns:mc="http://schemas.openxmlformats.org/markup-compatibility/2006">
          <mc:Choice xmlns:a14="http://schemas.microsoft.com/office/drawing/2010/main" Requires="a14">
            <p:sp>
              <p:nvSpPr>
                <p:cNvPr id="40" name="Object 67"/>
                <p:cNvSpPr txBox="1"/>
                <p:nvPr/>
              </p:nvSpPr>
              <p:spPr bwMode="auto">
                <a:xfrm>
                  <a:off x="687" y="1660"/>
                  <a:ext cx="1198" cy="260"/>
                </a:xfrm>
                <a:prstGeom prst="rect">
                  <a:avLst/>
                </a:prstGeom>
                <a:noFill/>
                <a:ln>
                  <a:noFill/>
                </a:ln>
                <a:effectLst/>
              </p:spPr>
              <p:txBody>
                <a:bodyPr>
                  <a:normAutofit/>
                </a:bodyPr>
                <a:lstStyle/>
                <a:p>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oMath>
                    </m:oMathPara>
                  </a14:m>
                  <a:endParaRPr lang="zh-CN" altLang="en-US" dirty="0"/>
                </a:p>
              </p:txBody>
            </p:sp>
          </mc:Choice>
          <mc:Fallback>
            <p:sp>
              <p:nvSpPr>
                <p:cNvPr id="40" name="Object 67"/>
                <p:cNvSpPr txBox="1">
                  <a:spLocks noRot="1" noChangeAspect="1" noMove="1" noResize="1" noEditPoints="1" noAdjustHandles="1" noChangeArrowheads="1" noChangeShapeType="1" noTextEdit="1"/>
                </p:cNvSpPr>
                <p:nvPr/>
              </p:nvSpPr>
              <p:spPr bwMode="auto">
                <a:xfrm>
                  <a:off x="687" y="1660"/>
                  <a:ext cx="1198" cy="260"/>
                </a:xfrm>
                <a:prstGeom prst="rect">
                  <a:avLst/>
                </a:prstGeom>
                <a:blipFill rotWithShape="1">
                  <a:blip r:embed="rId11"/>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1" name="Object 68"/>
                <p:cNvSpPr txBox="1"/>
                <p:nvPr/>
              </p:nvSpPr>
              <p:spPr bwMode="auto">
                <a:xfrm>
                  <a:off x="655" y="1940"/>
                  <a:ext cx="1198" cy="316"/>
                </a:xfrm>
                <a:prstGeom prst="rect">
                  <a:avLst/>
                </a:prstGeom>
                <a:noFill/>
                <a:ln>
                  <a:noFill/>
                </a:ln>
                <a:effectLst/>
              </p:spPr>
              <p:txBody>
                <a:bodyPr>
                  <a:normAutofit/>
                </a:bodyPr>
                <a:lstStyle/>
                <a:p>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oMath>
                    </m:oMathPara>
                  </a14:m>
                  <a:endParaRPr lang="zh-CN" altLang="en-US" dirty="0"/>
                </a:p>
              </p:txBody>
            </p:sp>
          </mc:Choice>
          <mc:Fallback>
            <p:sp>
              <p:nvSpPr>
                <p:cNvPr id="41" name="Object 68"/>
                <p:cNvSpPr txBox="1">
                  <a:spLocks noRot="1" noChangeAspect="1" noMove="1" noResize="1" noEditPoints="1" noAdjustHandles="1" noChangeArrowheads="1" noChangeShapeType="1" noTextEdit="1"/>
                </p:cNvSpPr>
                <p:nvPr/>
              </p:nvSpPr>
              <p:spPr bwMode="auto">
                <a:xfrm>
                  <a:off x="655" y="1940"/>
                  <a:ext cx="1198" cy="316"/>
                </a:xfrm>
                <a:prstGeom prst="rect">
                  <a:avLst/>
                </a:prstGeom>
                <a:blipFill rotWithShape="1">
                  <a:blip r:embed="rId12"/>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2" name="Object 69"/>
                <p:cNvSpPr txBox="1"/>
                <p:nvPr/>
              </p:nvSpPr>
              <p:spPr bwMode="auto">
                <a:xfrm>
                  <a:off x="641" y="2229"/>
                  <a:ext cx="1198" cy="315"/>
                </a:xfrm>
                <a:prstGeom prst="rect">
                  <a:avLst/>
                </a:prstGeom>
                <a:noFill/>
                <a:ln>
                  <a:noFill/>
                </a:ln>
                <a:effectLst/>
              </p:spPr>
              <p:txBody>
                <a:bodyPr>
                  <a:normAutofit/>
                </a:bodyPr>
                <a:lstStyle/>
                <a:p>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oMath>
                    </m:oMathPara>
                  </a14:m>
                  <a:endParaRPr lang="zh-CN" altLang="en-US" dirty="0"/>
                </a:p>
              </p:txBody>
            </p:sp>
          </mc:Choice>
          <mc:Fallback>
            <p:sp>
              <p:nvSpPr>
                <p:cNvPr id="42" name="Object 69"/>
                <p:cNvSpPr txBox="1">
                  <a:spLocks noRot="1" noChangeAspect="1" noMove="1" noResize="1" noEditPoints="1" noAdjustHandles="1" noChangeArrowheads="1" noChangeShapeType="1" noTextEdit="1"/>
                </p:cNvSpPr>
                <p:nvPr/>
              </p:nvSpPr>
              <p:spPr bwMode="auto">
                <a:xfrm>
                  <a:off x="641" y="2229"/>
                  <a:ext cx="1198" cy="315"/>
                </a:xfrm>
                <a:prstGeom prst="rect">
                  <a:avLst/>
                </a:prstGeom>
                <a:blipFill rotWithShape="1">
                  <a:blip r:embed="rId13"/>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3" name="Object 70"/>
                <p:cNvSpPr txBox="1"/>
                <p:nvPr/>
              </p:nvSpPr>
              <p:spPr bwMode="auto">
                <a:xfrm>
                  <a:off x="637" y="2516"/>
                  <a:ext cx="1198" cy="316"/>
                </a:xfrm>
                <a:prstGeom prst="rect">
                  <a:avLst/>
                </a:prstGeom>
                <a:noFill/>
                <a:ln>
                  <a:noFill/>
                </a:ln>
                <a:effectLst/>
              </p:spPr>
              <p:txBody>
                <a:bodyPr>
                  <a:normAutofit/>
                </a:bodyPr>
                <a:lstStyle/>
                <a:p>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oMath>
                    </m:oMathPara>
                  </a14:m>
                  <a:endParaRPr lang="zh-CN" altLang="en-US" dirty="0"/>
                </a:p>
              </p:txBody>
            </p:sp>
          </mc:Choice>
          <mc:Fallback>
            <p:sp>
              <p:nvSpPr>
                <p:cNvPr id="43" name="Object 70"/>
                <p:cNvSpPr txBox="1">
                  <a:spLocks noRot="1" noChangeAspect="1" noMove="1" noResize="1" noEditPoints="1" noAdjustHandles="1" noChangeArrowheads="1" noChangeShapeType="1" noTextEdit="1"/>
                </p:cNvSpPr>
                <p:nvPr/>
              </p:nvSpPr>
              <p:spPr bwMode="auto">
                <a:xfrm>
                  <a:off x="637" y="2516"/>
                  <a:ext cx="1198" cy="316"/>
                </a:xfrm>
                <a:prstGeom prst="rect">
                  <a:avLst/>
                </a:prstGeom>
                <a:blipFill rotWithShape="1">
                  <a:blip r:embed="rId14"/>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4" name="Object 71"/>
                <p:cNvSpPr txBox="1"/>
                <p:nvPr/>
              </p:nvSpPr>
              <p:spPr bwMode="auto">
                <a:xfrm>
                  <a:off x="651" y="2804"/>
                  <a:ext cx="1198" cy="316"/>
                </a:xfrm>
                <a:prstGeom prst="rect">
                  <a:avLst/>
                </a:prstGeom>
                <a:noFill/>
                <a:ln>
                  <a:noFill/>
                </a:ln>
                <a:effectLst/>
              </p:spPr>
              <p:txBody>
                <a:bodyPr>
                  <a:normAutofit/>
                </a:bodyPr>
                <a:lstStyle/>
                <a:p>
                  <a14:m>
                    <m:oMathPara xmlns:m="http://schemas.openxmlformats.org/officeDocument/2006/math">
                      <m:oMathParaPr>
                        <m:jc m:val="centerGroup"/>
                      </m:oMathParaPr>
                      <m:oMath xmlns:m="http://schemas.openxmlformats.org/officeDocument/2006/math">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oMath>
                    </m:oMathPara>
                  </a14:m>
                  <a:endParaRPr lang="zh-CN" altLang="en-US" dirty="0"/>
                </a:p>
              </p:txBody>
            </p:sp>
          </mc:Choice>
          <mc:Fallback>
            <p:sp>
              <p:nvSpPr>
                <p:cNvPr id="44" name="Object 71"/>
                <p:cNvSpPr txBox="1">
                  <a:spLocks noRot="1" noChangeAspect="1" noMove="1" noResize="1" noEditPoints="1" noAdjustHandles="1" noChangeArrowheads="1" noChangeShapeType="1" noTextEdit="1"/>
                </p:cNvSpPr>
                <p:nvPr/>
              </p:nvSpPr>
              <p:spPr bwMode="auto">
                <a:xfrm>
                  <a:off x="651" y="2804"/>
                  <a:ext cx="1198" cy="316"/>
                </a:xfrm>
                <a:prstGeom prst="rect">
                  <a:avLst/>
                </a:prstGeom>
                <a:blipFill rotWithShape="1">
                  <a:blip r:embed="rId15"/>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5" name="Object 72"/>
                <p:cNvSpPr txBox="1"/>
                <p:nvPr/>
              </p:nvSpPr>
              <p:spPr bwMode="auto">
                <a:xfrm>
                  <a:off x="655" y="3093"/>
                  <a:ext cx="1198" cy="315"/>
                </a:xfrm>
                <a:prstGeom prst="rect">
                  <a:avLst/>
                </a:prstGeom>
                <a:noFill/>
                <a:ln>
                  <a:noFill/>
                </a:ln>
                <a:effectLst/>
              </p:spPr>
              <p:txBody>
                <a:bodyPr>
                  <a:normAutofit/>
                </a:bodyPr>
                <a:lstStyle/>
                <a:p>
                  <a14:m>
                    <m:oMathPara xmlns:m="http://schemas.openxmlformats.org/officeDocument/2006/math">
                      <m:oMathParaPr>
                        <m:jc m:val="centerGroup"/>
                      </m:oMathParaPr>
                      <m:oMath xmlns:m="http://schemas.openxmlformats.org/officeDocument/2006/math">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oMath>
                    </m:oMathPara>
                  </a14:m>
                  <a:endParaRPr lang="zh-CN" altLang="en-US" dirty="0"/>
                </a:p>
              </p:txBody>
            </p:sp>
          </mc:Choice>
          <mc:Fallback>
            <p:sp>
              <p:nvSpPr>
                <p:cNvPr id="45" name="Object 72"/>
                <p:cNvSpPr txBox="1">
                  <a:spLocks noRot="1" noChangeAspect="1" noMove="1" noResize="1" noEditPoints="1" noAdjustHandles="1" noChangeArrowheads="1" noChangeShapeType="1" noTextEdit="1"/>
                </p:cNvSpPr>
                <p:nvPr/>
              </p:nvSpPr>
              <p:spPr bwMode="auto">
                <a:xfrm>
                  <a:off x="655" y="3093"/>
                  <a:ext cx="1198" cy="315"/>
                </a:xfrm>
                <a:prstGeom prst="rect">
                  <a:avLst/>
                </a:prstGeom>
                <a:blipFill rotWithShape="1">
                  <a:blip r:embed="rId16"/>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6" name="Object 73"/>
                <p:cNvSpPr txBox="1"/>
                <p:nvPr/>
              </p:nvSpPr>
              <p:spPr bwMode="auto">
                <a:xfrm>
                  <a:off x="641" y="3380"/>
                  <a:ext cx="1198" cy="316"/>
                </a:xfrm>
                <a:prstGeom prst="rect">
                  <a:avLst/>
                </a:prstGeom>
                <a:noFill/>
                <a:ln>
                  <a:noFill/>
                </a:ln>
                <a:effectLst/>
              </p:spPr>
              <p:txBody>
                <a:bodyPr>
                  <a:normAutofit/>
                </a:bodyPr>
                <a:lstStyle/>
                <a:p>
                  <a14:m>
                    <m:oMathPara xmlns:m="http://schemas.openxmlformats.org/officeDocument/2006/math">
                      <m:oMathParaPr>
                        <m:jc m:val="centerGroup"/>
                      </m:oMathParaPr>
                      <m:oMath xmlns:m="http://schemas.openxmlformats.org/officeDocument/2006/math">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oMath>
                    </m:oMathPara>
                  </a14:m>
                  <a:endParaRPr lang="zh-CN" altLang="en-US"/>
                </a:p>
              </p:txBody>
            </p:sp>
          </mc:Choice>
          <mc:Fallback>
            <p:sp>
              <p:nvSpPr>
                <p:cNvPr id="46" name="Object 73"/>
                <p:cNvSpPr txBox="1">
                  <a:spLocks noRot="1" noChangeAspect="1" noMove="1" noResize="1" noEditPoints="1" noAdjustHandles="1" noChangeArrowheads="1" noChangeShapeType="1" noTextEdit="1"/>
                </p:cNvSpPr>
                <p:nvPr/>
              </p:nvSpPr>
              <p:spPr bwMode="auto">
                <a:xfrm>
                  <a:off x="641" y="3380"/>
                  <a:ext cx="1198" cy="316"/>
                </a:xfrm>
                <a:prstGeom prst="rect">
                  <a:avLst/>
                </a:prstGeom>
                <a:blipFill rotWithShape="1">
                  <a:blip r:embed="rId17"/>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7" name="Object 74"/>
                <p:cNvSpPr txBox="1"/>
                <p:nvPr/>
              </p:nvSpPr>
              <p:spPr bwMode="auto">
                <a:xfrm>
                  <a:off x="646" y="3696"/>
                  <a:ext cx="1198" cy="316"/>
                </a:xfrm>
                <a:prstGeom prst="rect">
                  <a:avLst/>
                </a:prstGeom>
                <a:noFill/>
                <a:ln>
                  <a:noFill/>
                </a:ln>
                <a:effectLst/>
              </p:spPr>
              <p:txBody>
                <a:bodyPr>
                  <a:normAutofit/>
                </a:bodyPr>
                <a:lstStyle/>
                <a:p>
                  <a14:m>
                    <m:oMathPara xmlns:m="http://schemas.openxmlformats.org/officeDocument/2006/math">
                      <m:oMathParaPr>
                        <m:jc m:val="centerGroup"/>
                      </m:oMathParaPr>
                      <m:oMath xmlns:m="http://schemas.openxmlformats.org/officeDocument/2006/math">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oMath>
                    </m:oMathPara>
                  </a14:m>
                  <a:endParaRPr lang="zh-CN" altLang="en-US"/>
                </a:p>
              </p:txBody>
            </p:sp>
          </mc:Choice>
          <mc:Fallback>
            <p:sp>
              <p:nvSpPr>
                <p:cNvPr id="47" name="Object 74"/>
                <p:cNvSpPr txBox="1">
                  <a:spLocks noRot="1" noChangeAspect="1" noMove="1" noResize="1" noEditPoints="1" noAdjustHandles="1" noChangeArrowheads="1" noChangeShapeType="1" noTextEdit="1"/>
                </p:cNvSpPr>
                <p:nvPr/>
              </p:nvSpPr>
              <p:spPr bwMode="auto">
                <a:xfrm>
                  <a:off x="646" y="3696"/>
                  <a:ext cx="1198" cy="316"/>
                </a:xfrm>
                <a:prstGeom prst="rect">
                  <a:avLst/>
                </a:prstGeom>
                <a:blipFill rotWithShape="1">
                  <a:blip r:embed="rId18"/>
                </a:blipFill>
                <a:ln>
                  <a:noFill/>
                </a:ln>
                <a:effectLst/>
              </p:spPr>
              <p:txBody>
                <a:bodyPr/>
                <a:lstStyle/>
                <a:p>
                  <a:r>
                    <a:rPr lang="zh-CN" altLang="en-US">
                      <a:noFill/>
                    </a:rPr>
                    <a:t> </a:t>
                  </a:r>
                </a:p>
              </p:txBody>
            </p:sp>
          </mc:Fallback>
        </mc:AlternateContent>
      </p:grpSp>
      <p:sp>
        <p:nvSpPr>
          <p:cNvPr id="48" name="矩形 47"/>
          <p:cNvSpPr/>
          <p:nvPr/>
        </p:nvSpPr>
        <p:spPr>
          <a:xfrm>
            <a:off x="312448" y="6020898"/>
            <a:ext cx="8466511" cy="461665"/>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marL="0" lvl="2"/>
            <a:r>
              <a:rPr lang="zh-CN" altLang="en-US" sz="2400" dirty="0"/>
              <a:t>真值表的表示是</a:t>
            </a:r>
            <a:r>
              <a:rPr lang="zh-CN" altLang="en-US" sz="2400" dirty="0">
                <a:solidFill>
                  <a:srgbClr val="FF0000"/>
                </a:solidFill>
              </a:rPr>
              <a:t>唯一</a:t>
            </a:r>
            <a:r>
              <a:rPr lang="zh-CN" altLang="en-US" sz="2400" dirty="0">
                <a:solidFill>
                  <a:schemeClr val="tx1"/>
                </a:solidFill>
              </a:rPr>
              <a:t>的</a:t>
            </a:r>
            <a:r>
              <a:rPr lang="zh-CN" altLang="en-US" sz="2400" dirty="0"/>
              <a:t>，因此标准项列表的表示也是</a:t>
            </a:r>
            <a:r>
              <a:rPr lang="zh-CN" altLang="en-US" sz="2400" dirty="0">
                <a:solidFill>
                  <a:srgbClr val="FF0000"/>
                </a:solidFill>
              </a:rPr>
              <a:t>唯一</a:t>
            </a:r>
            <a:r>
              <a:rPr lang="zh-CN" altLang="en-US" sz="2400" dirty="0"/>
              <a:t>的。</a:t>
            </a:r>
            <a:endParaRPr lang="en-US" altLang="zh-CN" sz="2400" dirty="0"/>
          </a:p>
        </p:txBody>
      </p:sp>
      <p:grpSp>
        <p:nvGrpSpPr>
          <p:cNvPr id="8" name="组合 7"/>
          <p:cNvGrpSpPr/>
          <p:nvPr/>
        </p:nvGrpSpPr>
        <p:grpSpPr>
          <a:xfrm>
            <a:off x="2522678" y="2089980"/>
            <a:ext cx="2985426" cy="445976"/>
            <a:chOff x="2522678" y="2089980"/>
            <a:chExt cx="2985426" cy="445976"/>
          </a:xfrm>
        </p:grpSpPr>
        <p:sp>
          <p:nvSpPr>
            <p:cNvPr id="3" name="矩形: 圆角 2"/>
            <p:cNvSpPr/>
            <p:nvPr/>
          </p:nvSpPr>
          <p:spPr>
            <a:xfrm>
              <a:off x="2522678" y="2089980"/>
              <a:ext cx="1060626" cy="371821"/>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箭头连接符 5"/>
            <p:cNvCxnSpPr>
              <a:stCxn id="40" idx="1"/>
            </p:cNvCxnSpPr>
            <p:nvPr/>
          </p:nvCxnSpPr>
          <p:spPr>
            <a:xfrm>
              <a:off x="3583304" y="2291960"/>
              <a:ext cx="1924800" cy="24399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9" name="组合 48"/>
          <p:cNvGrpSpPr/>
          <p:nvPr/>
        </p:nvGrpSpPr>
        <p:grpSpPr>
          <a:xfrm>
            <a:off x="2452591" y="2797161"/>
            <a:ext cx="4639689" cy="2371812"/>
            <a:chOff x="2522678" y="89989"/>
            <a:chExt cx="4639689" cy="2371812"/>
          </a:xfrm>
        </p:grpSpPr>
        <p:sp>
          <p:nvSpPr>
            <p:cNvPr id="50" name="矩形: 圆角 49"/>
            <p:cNvSpPr/>
            <p:nvPr/>
          </p:nvSpPr>
          <p:spPr>
            <a:xfrm>
              <a:off x="2522678" y="2089980"/>
              <a:ext cx="1060626" cy="371821"/>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1" name="直接箭头连接符 50"/>
            <p:cNvCxnSpPr/>
            <p:nvPr/>
          </p:nvCxnSpPr>
          <p:spPr>
            <a:xfrm flipV="1">
              <a:off x="3583304" y="89989"/>
              <a:ext cx="3579063" cy="220197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3" name="组合 52"/>
          <p:cNvGrpSpPr/>
          <p:nvPr/>
        </p:nvGrpSpPr>
        <p:grpSpPr>
          <a:xfrm>
            <a:off x="2577647" y="2814881"/>
            <a:ext cx="5976664" cy="2837562"/>
            <a:chOff x="2522678" y="-375761"/>
            <a:chExt cx="5976664" cy="2837562"/>
          </a:xfrm>
        </p:grpSpPr>
        <p:sp>
          <p:nvSpPr>
            <p:cNvPr id="54" name="矩形: 圆角 53"/>
            <p:cNvSpPr/>
            <p:nvPr/>
          </p:nvSpPr>
          <p:spPr>
            <a:xfrm>
              <a:off x="2522678" y="2089980"/>
              <a:ext cx="1060626" cy="371821"/>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5" name="直接箭头连接符 54"/>
            <p:cNvCxnSpPr/>
            <p:nvPr/>
          </p:nvCxnSpPr>
          <p:spPr>
            <a:xfrm flipV="1">
              <a:off x="3583304" y="-375761"/>
              <a:ext cx="4916038" cy="266772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6" name="组合 55"/>
          <p:cNvGrpSpPr/>
          <p:nvPr/>
        </p:nvGrpSpPr>
        <p:grpSpPr>
          <a:xfrm>
            <a:off x="3612148" y="2560360"/>
            <a:ext cx="2234711" cy="2413693"/>
            <a:chOff x="2459517" y="2089980"/>
            <a:chExt cx="2195108" cy="2279399"/>
          </a:xfrm>
        </p:grpSpPr>
        <p:sp>
          <p:nvSpPr>
            <p:cNvPr id="57" name="矩形: 圆角 56"/>
            <p:cNvSpPr/>
            <p:nvPr/>
          </p:nvSpPr>
          <p:spPr>
            <a:xfrm>
              <a:off x="2459517" y="2089980"/>
              <a:ext cx="1207934" cy="2140075"/>
            </a:xfrm>
            <a:prstGeom prst="round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8" name="直接箭头连接符 57"/>
            <p:cNvCxnSpPr/>
            <p:nvPr/>
          </p:nvCxnSpPr>
          <p:spPr>
            <a:xfrm>
              <a:off x="3647703" y="3039396"/>
              <a:ext cx="1006922" cy="1329983"/>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sp>
        <p:nvSpPr>
          <p:cNvPr id="14" name="文本框 13"/>
          <p:cNvSpPr txBox="1"/>
          <p:nvPr/>
        </p:nvSpPr>
        <p:spPr>
          <a:xfrm>
            <a:off x="390035" y="1515320"/>
            <a:ext cx="276641" cy="4216539"/>
          </a:xfrm>
          <a:prstGeom prst="rect">
            <a:avLst/>
          </a:prstGeom>
          <a:noFill/>
        </p:spPr>
        <p:txBody>
          <a:bodyPr wrap="square" rtlCol="0">
            <a:spAutoFit/>
          </a:bodyPr>
          <a:lstStyle/>
          <a:p>
            <a:r>
              <a:rPr lang="zh-CN" altLang="en-US" dirty="0"/>
              <a:t>序号</a:t>
            </a:r>
            <a:endParaRPr lang="en-US" altLang="zh-CN" dirty="0"/>
          </a:p>
          <a:p>
            <a:pPr>
              <a:spcBef>
                <a:spcPts val="600"/>
              </a:spcBef>
            </a:pPr>
            <a:r>
              <a:rPr lang="en-US" altLang="zh-CN" sz="2400" dirty="0"/>
              <a:t>0</a:t>
            </a:r>
            <a:endParaRPr lang="en-US" altLang="zh-CN" sz="2400" dirty="0"/>
          </a:p>
          <a:p>
            <a:pPr>
              <a:spcBef>
                <a:spcPts val="600"/>
              </a:spcBef>
            </a:pPr>
            <a:r>
              <a:rPr lang="en-US" altLang="zh-CN" sz="2400" dirty="0"/>
              <a:t>1</a:t>
            </a:r>
            <a:endParaRPr lang="en-US" altLang="zh-CN" sz="2400" dirty="0"/>
          </a:p>
          <a:p>
            <a:pPr>
              <a:spcBef>
                <a:spcPts val="600"/>
              </a:spcBef>
            </a:pPr>
            <a:r>
              <a:rPr lang="en-US" altLang="zh-CN" sz="2400" dirty="0"/>
              <a:t>2</a:t>
            </a:r>
            <a:endParaRPr lang="en-US" altLang="zh-CN" sz="2400" dirty="0"/>
          </a:p>
          <a:p>
            <a:pPr>
              <a:spcBef>
                <a:spcPts val="600"/>
              </a:spcBef>
            </a:pPr>
            <a:r>
              <a:rPr lang="en-US" altLang="zh-CN" sz="2400" dirty="0"/>
              <a:t>3</a:t>
            </a:r>
            <a:endParaRPr lang="en-US" altLang="zh-CN" sz="2400" dirty="0"/>
          </a:p>
          <a:p>
            <a:pPr>
              <a:spcBef>
                <a:spcPts val="600"/>
              </a:spcBef>
            </a:pPr>
            <a:r>
              <a:rPr lang="en-US" altLang="zh-CN" sz="2400" dirty="0"/>
              <a:t>4</a:t>
            </a:r>
            <a:endParaRPr lang="en-US" altLang="zh-CN" sz="2400" dirty="0"/>
          </a:p>
          <a:p>
            <a:pPr>
              <a:spcBef>
                <a:spcPts val="600"/>
              </a:spcBef>
            </a:pPr>
            <a:r>
              <a:rPr lang="en-US" altLang="zh-CN" sz="2400" dirty="0"/>
              <a:t>5</a:t>
            </a:r>
            <a:endParaRPr lang="en-US" altLang="zh-CN" sz="2400" dirty="0"/>
          </a:p>
          <a:p>
            <a:pPr>
              <a:spcBef>
                <a:spcPts val="600"/>
              </a:spcBef>
            </a:pPr>
            <a:r>
              <a:rPr lang="en-US" altLang="zh-CN" sz="2400" dirty="0"/>
              <a:t>6</a:t>
            </a:r>
            <a:endParaRPr lang="en-US" altLang="zh-CN" sz="2400" dirty="0"/>
          </a:p>
          <a:p>
            <a:pPr>
              <a:spcBef>
                <a:spcPts val="600"/>
              </a:spcBef>
            </a:pPr>
            <a:r>
              <a:rPr lang="en-US" altLang="zh-CN" sz="2400" dirty="0"/>
              <a:t>7</a:t>
            </a:r>
            <a:endParaRPr lang="en-US" altLang="zh-CN"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anim calcmode="lin" valueType="num">
                                      <p:cBhvr additive="base">
                                        <p:cTn id="15" dur="500" fill="hold"/>
                                        <p:tgtEl>
                                          <p:spTgt spid="20"/>
                                        </p:tgtEl>
                                        <p:attrNameLst>
                                          <p:attrName>ppt_x</p:attrName>
                                        </p:attrNameLst>
                                      </p:cBhvr>
                                      <p:tavLst>
                                        <p:tav tm="0">
                                          <p:val>
                                            <p:strVal val="#ppt_x"/>
                                          </p:val>
                                        </p:tav>
                                        <p:tav tm="100000">
                                          <p:val>
                                            <p:strVal val="#ppt_x"/>
                                          </p:val>
                                        </p:tav>
                                      </p:tavLst>
                                    </p:anim>
                                    <p:anim calcmode="lin" valueType="num">
                                      <p:cBhvr additive="base">
                                        <p:cTn id="16"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anim calcmode="lin" valueType="num">
                                      <p:cBhvr additive="base">
                                        <p:cTn id="45" dur="500" fill="hold"/>
                                        <p:tgtEl>
                                          <p:spTgt spid="21"/>
                                        </p:tgtEl>
                                        <p:attrNameLst>
                                          <p:attrName>ppt_x</p:attrName>
                                        </p:attrNameLst>
                                      </p:cBhvr>
                                      <p:tavLst>
                                        <p:tav tm="0">
                                          <p:val>
                                            <p:strVal val="#ppt_x"/>
                                          </p:val>
                                        </p:tav>
                                        <p:tav tm="100000">
                                          <p:val>
                                            <p:strVal val="#ppt_x"/>
                                          </p:val>
                                        </p:tav>
                                      </p:tavLst>
                                    </p:anim>
                                    <p:anim calcmode="lin" valueType="num">
                                      <p:cBhvr additive="base">
                                        <p:cTn id="46"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1167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48"/>
                                        </p:tgtEl>
                                        <p:attrNameLst>
                                          <p:attrName>style.visibility</p:attrName>
                                        </p:attrNameLst>
                                      </p:cBhvr>
                                      <p:to>
                                        <p:strVal val="visible"/>
                                      </p:to>
                                    </p:set>
                                    <p:anim calcmode="lin" valueType="num">
                                      <p:cBhvr additive="base">
                                        <p:cTn id="71" dur="500" fill="hold"/>
                                        <p:tgtEl>
                                          <p:spTgt spid="48"/>
                                        </p:tgtEl>
                                        <p:attrNameLst>
                                          <p:attrName>ppt_x</p:attrName>
                                        </p:attrNameLst>
                                      </p:cBhvr>
                                      <p:tavLst>
                                        <p:tav tm="0">
                                          <p:val>
                                            <p:strVal val="#ppt_x"/>
                                          </p:val>
                                        </p:tav>
                                        <p:tav tm="100000">
                                          <p:val>
                                            <p:strVal val="#ppt_x"/>
                                          </p:val>
                                        </p:tav>
                                      </p:tavLst>
                                    </p:anim>
                                    <p:anim calcmode="lin" valueType="num">
                                      <p:cBhvr additive="base">
                                        <p:cTn id="72"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72" grpId="0"/>
      <p:bldP spid="20" grpId="0"/>
      <p:bldP spid="21" grpId="0"/>
      <p:bldP spid="16" grpId="0" animBg="1"/>
      <p:bldP spid="17" grpId="0" animBg="1"/>
      <p:bldP spid="18" grpId="0" animBg="1"/>
      <p:bldP spid="19" grpId="0" animBg="1"/>
      <p:bldP spid="22" grpId="0" animBg="1"/>
      <p:bldP spid="23" grpId="0" animBg="1"/>
      <p:bldP spid="24" grpId="0" animBg="1"/>
      <p:bldP spid="25" grpId="0" animBg="1"/>
      <p:bldP spid="48"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00100" y="185720"/>
            <a:ext cx="7532340" cy="742950"/>
          </a:xfrm>
        </p:spPr>
        <p:txBody>
          <a:bodyPr/>
          <a:lstStyle/>
          <a:p>
            <a:r>
              <a:rPr lang="en-US" altLang="zh-CN" dirty="0"/>
              <a:t>3.3 </a:t>
            </a:r>
            <a:r>
              <a:rPr lang="zh-CN" altLang="en-US" dirty="0"/>
              <a:t>逻辑函数的标准表示</a:t>
            </a:r>
            <a:endParaRPr lang="zh-CN" altLang="en-US" dirty="0"/>
          </a:p>
        </p:txBody>
      </p:sp>
      <p:sp>
        <p:nvSpPr>
          <p:cNvPr id="3" name="内容占位符 2"/>
          <p:cNvSpPr>
            <a:spLocks noGrp="1"/>
          </p:cNvSpPr>
          <p:nvPr>
            <p:ph idx="1"/>
          </p:nvPr>
        </p:nvSpPr>
        <p:spPr>
          <a:xfrm>
            <a:off x="430520" y="1285875"/>
            <a:ext cx="8686800" cy="4070858"/>
          </a:xfrm>
        </p:spPr>
        <p:txBody>
          <a:bodyPr/>
          <a:lstStyle/>
          <a:p>
            <a:pPr>
              <a:spcBef>
                <a:spcPts val="600"/>
              </a:spcBef>
              <a:spcAft>
                <a:spcPts val="600"/>
              </a:spcAft>
            </a:pPr>
            <a:r>
              <a:rPr lang="zh-CN" altLang="en-US" sz="2200" dirty="0"/>
              <a:t>函数的最小项列表和最大项列表</a:t>
            </a:r>
            <a:r>
              <a:rPr lang="zh-CN" altLang="en-US" sz="2200" dirty="0">
                <a:solidFill>
                  <a:srgbClr val="FF0000"/>
                </a:solidFill>
              </a:rPr>
              <a:t>等价</a:t>
            </a:r>
            <a:r>
              <a:rPr lang="zh-CN" altLang="en-US" sz="2200" dirty="0"/>
              <a:t>且可</a:t>
            </a:r>
            <a:r>
              <a:rPr lang="zh-CN" altLang="en-US" sz="2200" dirty="0">
                <a:solidFill>
                  <a:srgbClr val="FF0000"/>
                </a:solidFill>
              </a:rPr>
              <a:t>相互转换</a:t>
            </a:r>
            <a:r>
              <a:rPr lang="zh-CN" altLang="en-US" sz="2200" dirty="0"/>
              <a:t>。</a:t>
            </a:r>
            <a:endParaRPr lang="en-US" altLang="zh-CN" sz="2200" dirty="0"/>
          </a:p>
          <a:p>
            <a:pPr>
              <a:spcBef>
                <a:spcPts val="600"/>
              </a:spcBef>
              <a:spcAft>
                <a:spcPts val="600"/>
              </a:spcAft>
            </a:pPr>
            <a:r>
              <a:rPr lang="en-US" altLang="zh-CN" sz="2200" dirty="0"/>
              <a:t>n </a:t>
            </a:r>
            <a:r>
              <a:rPr lang="zh-CN" altLang="en-US" sz="2200" dirty="0"/>
              <a:t>个变量的逻辑函数其最小项列表编号集合与最大项列表编号集合之并集为</a:t>
            </a:r>
            <a:r>
              <a:rPr lang="en-US" altLang="zh-CN" sz="2200" dirty="0"/>
              <a:t>n</a:t>
            </a:r>
            <a:r>
              <a:rPr lang="zh-CN" altLang="en-US" sz="2200" dirty="0"/>
              <a:t>位编号全集</a:t>
            </a:r>
            <a:r>
              <a:rPr lang="en-US" altLang="zh-CN" sz="2200" dirty="0"/>
              <a:t>{0</a:t>
            </a:r>
            <a:r>
              <a:rPr lang="zh-CN" altLang="en-US" sz="2200" dirty="0"/>
              <a:t>，</a:t>
            </a:r>
            <a:r>
              <a:rPr lang="en-US" altLang="zh-CN" sz="2200" dirty="0"/>
              <a:t>1</a:t>
            </a:r>
            <a:r>
              <a:rPr lang="zh-CN" altLang="en-US" sz="2200" dirty="0"/>
              <a:t>，</a:t>
            </a:r>
            <a:r>
              <a:rPr lang="en-US" altLang="zh-CN" sz="2200" dirty="0"/>
              <a:t>…</a:t>
            </a:r>
            <a:r>
              <a:rPr lang="zh-CN" altLang="en-US" sz="2200" dirty="0"/>
              <a:t>，</a:t>
            </a:r>
            <a:r>
              <a:rPr lang="en-US" altLang="zh-CN" sz="2200" dirty="0"/>
              <a:t>2</a:t>
            </a:r>
            <a:r>
              <a:rPr lang="en-US" altLang="zh-CN" sz="2200" baseline="30000" dirty="0"/>
              <a:t>n-1</a:t>
            </a:r>
            <a:r>
              <a:rPr lang="en-US" altLang="zh-CN" sz="2200" dirty="0"/>
              <a:t>}</a:t>
            </a:r>
            <a:r>
              <a:rPr lang="zh-CN" altLang="en-US" sz="2200" dirty="0"/>
              <a:t>，且这两个集合之交集为</a:t>
            </a:r>
            <a:r>
              <a:rPr lang="en-US" altLang="zh-CN" sz="2200" dirty="0"/>
              <a:t>0</a:t>
            </a:r>
            <a:r>
              <a:rPr lang="zh-CN" altLang="en-US" sz="2200" dirty="0"/>
              <a:t>，它们为</a:t>
            </a:r>
            <a:r>
              <a:rPr lang="zh-CN" altLang="en-US" sz="2200" dirty="0">
                <a:solidFill>
                  <a:srgbClr val="FF0000"/>
                </a:solidFill>
              </a:rPr>
              <a:t>互补</a:t>
            </a:r>
            <a:r>
              <a:rPr lang="zh-CN" altLang="en-US" sz="2200" dirty="0"/>
              <a:t>关系。</a:t>
            </a:r>
            <a:endParaRPr lang="en-US" altLang="zh-CN" sz="2200" dirty="0"/>
          </a:p>
          <a:p>
            <a:pPr>
              <a:spcBef>
                <a:spcPts val="600"/>
              </a:spcBef>
              <a:spcAft>
                <a:spcPts val="600"/>
              </a:spcAft>
            </a:pPr>
            <a:r>
              <a:rPr lang="zh-CN" altLang="en-US" sz="2200" dirty="0"/>
              <a:t>两个列表之间可方便转换，只需对相应的编号集合</a:t>
            </a:r>
            <a:r>
              <a:rPr lang="zh-CN" altLang="en-US" sz="2200" dirty="0">
                <a:solidFill>
                  <a:srgbClr val="FF0000"/>
                </a:solidFill>
              </a:rPr>
              <a:t>求补</a:t>
            </a:r>
            <a:r>
              <a:rPr lang="zh-CN" altLang="en-US" sz="2200" dirty="0"/>
              <a:t>即可。</a:t>
            </a:r>
            <a:endParaRPr lang="en-US" altLang="zh-CN" sz="2200" dirty="0"/>
          </a:p>
          <a:p>
            <a:pPr lvl="1">
              <a:spcBef>
                <a:spcPts val="600"/>
              </a:spcBef>
              <a:spcAft>
                <a:spcPts val="600"/>
              </a:spcAft>
            </a:pPr>
            <a:r>
              <a:rPr lang="en-US" altLang="zh-CN" dirty="0"/>
              <a:t>f(A,B,C)</a:t>
            </a:r>
            <a:r>
              <a:rPr lang="en-US" altLang="zh-CN" dirty="0">
                <a:latin typeface="Times New Roman" panose="02020603050405020304" pitchFamily="18" charset="0"/>
                <a:cs typeface="Times New Roman" panose="02020603050405020304" pitchFamily="18" charset="0"/>
              </a:rPr>
              <a:t>=</a:t>
            </a:r>
            <a:r>
              <a:rPr lang="en-US" altLang="zh-CN" dirty="0">
                <a:latin typeface="Symbol" panose="05050102010706020507" pitchFamily="18" charset="2"/>
              </a:rPr>
              <a:t>S</a:t>
            </a:r>
            <a:r>
              <a:rPr lang="en-US" altLang="zh-CN" dirty="0"/>
              <a:t> m (0,1,2,3) = </a:t>
            </a:r>
            <a:r>
              <a:rPr lang="en-US" altLang="zh-CN" dirty="0">
                <a:latin typeface="Symbol" panose="05050102010706020507" pitchFamily="18" charset="2"/>
              </a:rPr>
              <a:t>P </a:t>
            </a:r>
            <a:r>
              <a:rPr lang="en-US" altLang="zh-CN" dirty="0"/>
              <a:t>M(4,5,6,7) </a:t>
            </a:r>
            <a:endParaRPr lang="en-US" altLang="zh-CN" dirty="0"/>
          </a:p>
          <a:p>
            <a:pPr lvl="1">
              <a:spcBef>
                <a:spcPts val="600"/>
              </a:spcBef>
              <a:spcAft>
                <a:spcPts val="600"/>
              </a:spcAft>
            </a:pPr>
            <a:r>
              <a:rPr lang="en-US" altLang="zh-CN" dirty="0"/>
              <a:t>f(X,Y) = </a:t>
            </a:r>
            <a:r>
              <a:rPr lang="en-US" altLang="zh-CN" dirty="0">
                <a:latin typeface="Symbol" panose="05050102010706020507" pitchFamily="18" charset="2"/>
              </a:rPr>
              <a:t>S</a:t>
            </a:r>
            <a:r>
              <a:rPr lang="en-US" altLang="zh-CN" dirty="0"/>
              <a:t> m (1) = </a:t>
            </a:r>
            <a:r>
              <a:rPr lang="en-US" altLang="zh-CN" dirty="0">
                <a:latin typeface="Symbol" panose="05050102010706020507" pitchFamily="18" charset="2"/>
              </a:rPr>
              <a:t>P </a:t>
            </a:r>
            <a:r>
              <a:rPr lang="en-US" altLang="zh-CN" dirty="0"/>
              <a:t>M(0,2,3)</a:t>
            </a:r>
            <a:endParaRPr lang="zh-CN" altLang="en-US" dirty="0"/>
          </a:p>
          <a:p>
            <a:pPr lvl="1">
              <a:spcBef>
                <a:spcPts val="600"/>
              </a:spcBef>
              <a:spcAft>
                <a:spcPts val="600"/>
              </a:spcAft>
            </a:pPr>
            <a:r>
              <a:rPr lang="en-US" altLang="zh-CN" dirty="0"/>
              <a:t>f(A,B,C) = </a:t>
            </a:r>
            <a:r>
              <a:rPr lang="en-US" altLang="zh-CN" dirty="0">
                <a:latin typeface="Symbol" panose="05050102010706020507" pitchFamily="18" charset="2"/>
              </a:rPr>
              <a:t>S</a:t>
            </a:r>
            <a:r>
              <a:rPr lang="en-US" altLang="zh-CN" dirty="0"/>
              <a:t> m (0,6,7) = </a:t>
            </a:r>
            <a:r>
              <a:rPr lang="en-US" altLang="zh-CN" dirty="0">
                <a:latin typeface="Symbol" panose="05050102010706020507" pitchFamily="18" charset="2"/>
              </a:rPr>
              <a:t>P </a:t>
            </a:r>
            <a:r>
              <a:rPr lang="en-US" altLang="zh-CN" dirty="0"/>
              <a:t>M(1,2,3,4,5) </a:t>
            </a:r>
            <a:endParaRPr lang="en-US" altLang="zh-CN"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1805890" y="1912829"/>
            <a:ext cx="6073775" cy="479747"/>
          </a:xfrm>
        </p:spPr>
        <p:txBody>
          <a:bodyPr/>
          <a:lstStyle/>
          <a:p>
            <a:r>
              <a:rPr lang="zh-CN" altLang="en-US" dirty="0"/>
              <a:t>第四讲 </a:t>
            </a:r>
            <a:r>
              <a:rPr lang="en-US" altLang="zh-CN" dirty="0"/>
              <a:t> </a:t>
            </a:r>
            <a:r>
              <a:rPr lang="zh-CN" altLang="en-US" dirty="0"/>
              <a:t>逻辑函数的化简与变换</a:t>
            </a:r>
            <a:endParaRPr lang="zh-CN" altLang="en-US" dirty="0"/>
          </a:p>
        </p:txBody>
      </p:sp>
      <p:sp>
        <p:nvSpPr>
          <p:cNvPr id="3" name="内容占位符 2"/>
          <p:cNvSpPr>
            <a:spLocks noGrp="1"/>
          </p:cNvSpPr>
          <p:nvPr>
            <p:ph idx="1"/>
          </p:nvPr>
        </p:nvSpPr>
        <p:spPr>
          <a:xfrm>
            <a:off x="3510225" y="2825724"/>
            <a:ext cx="3260093" cy="1897314"/>
          </a:xfrm>
        </p:spPr>
        <p:txBody>
          <a:bodyPr/>
          <a:lstStyle/>
          <a:p>
            <a:r>
              <a:rPr lang="zh-CN" altLang="en-US" dirty="0"/>
              <a:t>代数法化简</a:t>
            </a:r>
            <a:endParaRPr lang="en-US" altLang="zh-CN" dirty="0"/>
          </a:p>
          <a:p>
            <a:r>
              <a:rPr lang="zh-CN" altLang="en-US" dirty="0"/>
              <a:t>卡诺图化简</a:t>
            </a:r>
            <a:endParaRPr lang="en-US" altLang="zh-CN" dirty="0"/>
          </a:p>
          <a:p>
            <a:r>
              <a:rPr lang="zh-CN" altLang="en-US" dirty="0"/>
              <a:t>等效逻辑符号表示</a:t>
            </a:r>
            <a:endParaRPr lang="en-US" altLang="zh-CN" dirty="0"/>
          </a:p>
          <a:p>
            <a:r>
              <a:rPr lang="zh-CN" altLang="en-US" dirty="0"/>
              <a:t>逻辑函数变换</a:t>
            </a:r>
            <a:endParaRPr lang="zh-CN" altLang="en-US"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 </a:t>
            </a:r>
            <a:r>
              <a:rPr lang="zh-CN" altLang="en-US" dirty="0"/>
              <a:t>逻辑函数的化简与变换</a:t>
            </a:r>
            <a:endParaRPr lang="zh-CN" altLang="en-US" dirty="0"/>
          </a:p>
        </p:txBody>
      </p:sp>
      <p:sp>
        <p:nvSpPr>
          <p:cNvPr id="3" name="内容占位符 2"/>
          <p:cNvSpPr>
            <a:spLocks noGrp="1"/>
          </p:cNvSpPr>
          <p:nvPr>
            <p:ph idx="1"/>
          </p:nvPr>
        </p:nvSpPr>
        <p:spPr>
          <a:xfrm>
            <a:off x="284773" y="915505"/>
            <a:ext cx="8523654" cy="5255221"/>
          </a:xfrm>
        </p:spPr>
        <p:txBody>
          <a:bodyPr/>
          <a:lstStyle/>
          <a:p>
            <a:pPr>
              <a:spcBef>
                <a:spcPts val="600"/>
              </a:spcBef>
            </a:pPr>
            <a:r>
              <a:rPr lang="zh-CN" altLang="en-US" sz="2200" dirty="0">
                <a:solidFill>
                  <a:srgbClr val="FF0000"/>
                </a:solidFill>
              </a:rPr>
              <a:t>减少输入变量的数目</a:t>
            </a:r>
            <a:endParaRPr lang="en-US" altLang="zh-CN" sz="2200" dirty="0">
              <a:solidFill>
                <a:srgbClr val="FF0000"/>
              </a:solidFill>
            </a:endParaRPr>
          </a:p>
          <a:p>
            <a:pPr lvl="1">
              <a:spcBef>
                <a:spcPts val="600"/>
              </a:spcBef>
            </a:pPr>
            <a:r>
              <a:rPr lang="zh-CN" altLang="en-US" dirty="0"/>
              <a:t>最小项和最大项的数目随变量数呈指数级增长</a:t>
            </a:r>
            <a:endParaRPr lang="en-US" altLang="zh-CN" dirty="0"/>
          </a:p>
          <a:p>
            <a:pPr>
              <a:spcBef>
                <a:spcPts val="600"/>
              </a:spcBef>
            </a:pPr>
            <a:r>
              <a:rPr lang="zh-CN" altLang="en-US" sz="2200" dirty="0">
                <a:solidFill>
                  <a:srgbClr val="FF0000"/>
                </a:solidFill>
              </a:rPr>
              <a:t>减少门的数目</a:t>
            </a:r>
            <a:endParaRPr lang="en-US" altLang="zh-CN" sz="2200" dirty="0">
              <a:solidFill>
                <a:srgbClr val="FF0000"/>
              </a:solidFill>
            </a:endParaRPr>
          </a:p>
          <a:p>
            <a:pPr lvl="1">
              <a:spcBef>
                <a:spcPts val="600"/>
              </a:spcBef>
            </a:pPr>
            <a:r>
              <a:rPr lang="zh-CN" altLang="en-US" dirty="0"/>
              <a:t>可以使用更小的集成电路器件</a:t>
            </a:r>
            <a:endParaRPr lang="en-US" altLang="zh-CN" dirty="0"/>
          </a:p>
          <a:p>
            <a:pPr>
              <a:spcBef>
                <a:spcPts val="600"/>
              </a:spcBef>
            </a:pPr>
            <a:r>
              <a:rPr lang="zh-CN" altLang="en-US" sz="2200" dirty="0">
                <a:solidFill>
                  <a:srgbClr val="FF0000"/>
                </a:solidFill>
              </a:rPr>
              <a:t>减少</a:t>
            </a:r>
            <a:r>
              <a:rPr lang="zh-CN" altLang="en-US" sz="2200">
                <a:solidFill>
                  <a:srgbClr val="FF0000"/>
                </a:solidFill>
              </a:rPr>
              <a:t>电路的规模</a:t>
            </a:r>
            <a:endParaRPr lang="en-US" altLang="zh-CN" sz="2200" dirty="0">
              <a:solidFill>
                <a:srgbClr val="FF0000"/>
              </a:solidFill>
            </a:endParaRPr>
          </a:p>
          <a:p>
            <a:pPr lvl="1">
              <a:spcBef>
                <a:spcPts val="600"/>
              </a:spcBef>
            </a:pPr>
            <a:r>
              <a:rPr lang="zh-CN" altLang="en-US" dirty="0"/>
              <a:t>门越小速度越快；可以减少电路层级数。</a:t>
            </a:r>
            <a:endParaRPr lang="en-US" altLang="zh-CN" dirty="0"/>
          </a:p>
          <a:p>
            <a:pPr lvl="1">
              <a:spcBef>
                <a:spcPts val="600"/>
              </a:spcBef>
            </a:pPr>
            <a:endParaRPr lang="en-US" altLang="zh-CN" dirty="0"/>
          </a:p>
          <a:p>
            <a:pPr lvl="1">
              <a:spcBef>
                <a:spcPts val="600"/>
              </a:spcBef>
            </a:pPr>
            <a:endParaRPr lang="zh-CN" altLang="en-US" dirty="0"/>
          </a:p>
          <a:p>
            <a:pPr>
              <a:spcBef>
                <a:spcPts val="600"/>
              </a:spcBef>
            </a:pPr>
            <a:r>
              <a:rPr lang="zh-CN" altLang="en-US" sz="2200" dirty="0">
                <a:solidFill>
                  <a:srgbClr val="002060"/>
                </a:solidFill>
              </a:rPr>
              <a:t>数字系统辅助设计工具</a:t>
            </a:r>
            <a:r>
              <a:rPr lang="en-US" altLang="zh-CN" sz="2200" dirty="0">
                <a:solidFill>
                  <a:srgbClr val="002060"/>
                </a:solidFill>
              </a:rPr>
              <a:t>EDA</a:t>
            </a:r>
            <a:r>
              <a:rPr lang="zh-CN" altLang="en-US" sz="2200" dirty="0">
                <a:solidFill>
                  <a:srgbClr val="002060"/>
                </a:solidFill>
              </a:rPr>
              <a:t>中都包含最小化程序</a:t>
            </a:r>
            <a:endParaRPr lang="en-US" altLang="zh-CN" sz="2200" dirty="0">
              <a:solidFill>
                <a:srgbClr val="002060"/>
              </a:solidFill>
            </a:endParaRPr>
          </a:p>
          <a:p>
            <a:pPr lvl="1">
              <a:spcBef>
                <a:spcPts val="600"/>
              </a:spcBef>
            </a:pPr>
            <a:r>
              <a:rPr lang="en-US" altLang="zh-CN" dirty="0"/>
              <a:t>FPGA</a:t>
            </a:r>
            <a:r>
              <a:rPr lang="zh-CN" altLang="en-US" dirty="0"/>
              <a:t>、</a:t>
            </a:r>
            <a:r>
              <a:rPr lang="en-US" altLang="zh-CN" dirty="0"/>
              <a:t>PLD</a:t>
            </a:r>
            <a:r>
              <a:rPr lang="zh-CN" altLang="en-US" dirty="0"/>
              <a:t>的资源毕竟是有限的</a:t>
            </a:r>
            <a:endParaRPr lang="en-US" altLang="zh-CN" dirty="0"/>
          </a:p>
          <a:p>
            <a:pPr lvl="1">
              <a:spcBef>
                <a:spcPts val="600"/>
              </a:spcBef>
            </a:pPr>
            <a:r>
              <a:rPr lang="en-US" altLang="zh-CN" dirty="0"/>
              <a:t>ASIC</a:t>
            </a:r>
            <a:r>
              <a:rPr lang="zh-CN" altLang="en-US" dirty="0"/>
              <a:t>门电路的输入端的数量也是有限的</a:t>
            </a:r>
            <a:endParaRPr lang="zh-CN" altLang="en-US"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7" name="矩形 6"/>
          <p:cNvSpPr/>
          <p:nvPr/>
        </p:nvSpPr>
        <p:spPr>
          <a:xfrm>
            <a:off x="995786" y="3843774"/>
            <a:ext cx="5041759" cy="830997"/>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marL="0" lvl="1">
              <a:buClr>
                <a:schemeClr val="tx2"/>
              </a:buClr>
            </a:pPr>
            <a:r>
              <a:rPr lang="en-US" altLang="zh-CN" sz="2200" dirty="0"/>
              <a:t>1. </a:t>
            </a:r>
            <a:r>
              <a:rPr lang="zh-CN" altLang="en-US" sz="2200" dirty="0"/>
              <a:t>通常不考虑输入反相器的成本。</a:t>
            </a:r>
            <a:endParaRPr lang="en-US" altLang="zh-CN" sz="2200" dirty="0"/>
          </a:p>
          <a:p>
            <a:pPr marL="0" lvl="1">
              <a:buClr>
                <a:schemeClr val="tx2"/>
              </a:buClr>
            </a:pPr>
            <a:r>
              <a:rPr lang="en-US" altLang="zh-CN" sz="2200" dirty="0"/>
              <a:t>2. </a:t>
            </a:r>
            <a:r>
              <a:rPr lang="zh-CN" altLang="en-US" sz="2200" dirty="0"/>
              <a:t>通常从真值表或标准范式开始化简</a:t>
            </a:r>
            <a:r>
              <a:rPr lang="zh-CN" altLang="en-US" sz="2400" dirty="0"/>
              <a:t>。</a:t>
            </a:r>
            <a:endParaRPr lang="zh-CN" altLang="en-US" sz="2400" b="1"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en-US" altLang="zh-CN" dirty="0"/>
              <a:t>4.1 </a:t>
            </a:r>
            <a:r>
              <a:rPr lang="zh-CN" altLang="en-US" dirty="0"/>
              <a:t>代数法化简</a:t>
            </a:r>
            <a:endParaRPr lang="zh-CN" altLang="en-US" dirty="0"/>
          </a:p>
        </p:txBody>
      </p:sp>
      <mc:AlternateContent xmlns:mc="http://schemas.openxmlformats.org/markup-compatibility/2006">
        <mc:Choice xmlns:a14="http://schemas.microsoft.com/office/drawing/2010/main" Requires="a14">
          <p:sp>
            <p:nvSpPr>
              <p:cNvPr id="90115" name="Rectangle 3"/>
              <p:cNvSpPr>
                <a:spLocks noGrp="1" noChangeArrowheads="1"/>
              </p:cNvSpPr>
              <p:nvPr>
                <p:ph idx="1"/>
              </p:nvPr>
            </p:nvSpPr>
            <p:spPr>
              <a:xfrm>
                <a:off x="284773" y="915505"/>
                <a:ext cx="8523654" cy="4331763"/>
              </a:xfrm>
            </p:spPr>
            <p:txBody>
              <a:bodyPr/>
              <a:lstStyle/>
              <a:p>
                <a:r>
                  <a:rPr lang="zh-CN" altLang="en-US" sz="2200" dirty="0"/>
                  <a:t>利用布尔代数的</a:t>
                </a:r>
                <a:r>
                  <a:rPr lang="zh-CN" altLang="en-US" sz="2200" dirty="0">
                    <a:solidFill>
                      <a:srgbClr val="002060"/>
                    </a:solidFill>
                  </a:rPr>
                  <a:t>公理、定理、定律</a:t>
                </a:r>
                <a:r>
                  <a:rPr lang="zh-CN" altLang="en-US" sz="2200" dirty="0"/>
                  <a:t>等，消去逻辑表达式式中</a:t>
                </a:r>
                <a:r>
                  <a:rPr lang="zh-CN" altLang="en-US" sz="2200" dirty="0">
                    <a:solidFill>
                      <a:srgbClr val="FF0000"/>
                    </a:solidFill>
                  </a:rPr>
                  <a:t>多余的乘积项或多余的因子</a:t>
                </a:r>
                <a:r>
                  <a:rPr lang="zh-CN" altLang="en-US" sz="2200" dirty="0"/>
                  <a:t>，进行化简。</a:t>
                </a:r>
                <a:endParaRPr lang="en-US" altLang="zh-CN" sz="2200" dirty="0"/>
              </a:p>
              <a:p>
                <a:pPr lvl="1"/>
                <a:r>
                  <a:rPr lang="zh-CN" altLang="en-US" dirty="0"/>
                  <a:t>利用互补律</a:t>
                </a:r>
                <a:r>
                  <a:rPr lang="en-US" altLang="zh-CN" dirty="0"/>
                  <a:t>T5</a:t>
                </a:r>
                <a:r>
                  <a:rPr lang="zh-CN" altLang="en-US" dirty="0"/>
                  <a:t>：</a:t>
                </a:r>
                <a:r>
                  <a:rPr lang="zh-CN" altLang="en-US" dirty="0">
                    <a:solidFill>
                      <a:srgbClr val="000000"/>
                    </a:solidFill>
                  </a:rPr>
                  <a:t> </a:t>
                </a:r>
                <a14:m>
                  <m:oMath xmlns:m="http://schemas.openxmlformats.org/officeDocument/2006/math">
                    <m:bar>
                      <m:barPr>
                        <m:pos m:val="top"/>
                        <m:ctrlPr>
                          <a:rPr lang="zh-CN" altLang="en-US" i="1" smtClean="0">
                            <a:solidFill>
                              <a:schemeClr val="accent2"/>
                            </a:solidFill>
                            <a:latin typeface="Cambria Math" panose="02040503050406030204" pitchFamily="18" charset="0"/>
                          </a:rPr>
                        </m:ctrlPr>
                      </m:barPr>
                      <m:e>
                        <m:r>
                          <a:rPr lang="en-US" altLang="zh-CN" b="1" i="1">
                            <a:solidFill>
                              <a:schemeClr val="accent2"/>
                            </a:solidFill>
                            <a:latin typeface="Cambria Math" panose="02040503050406030204" pitchFamily="18" charset="0"/>
                          </a:rPr>
                          <m:t>𝑿</m:t>
                        </m:r>
                      </m:e>
                    </m:bar>
                    <m:r>
                      <a:rPr lang="zh-CN" altLang="en-US" b="1" i="1">
                        <a:solidFill>
                          <a:schemeClr val="accent2"/>
                        </a:solidFill>
                        <a:latin typeface="Cambria Math" panose="02040503050406030204" pitchFamily="18" charset="0"/>
                      </a:rPr>
                      <m:t>+</m:t>
                    </m:r>
                    <m:r>
                      <a:rPr lang="en-US" altLang="zh-CN" b="1" i="1">
                        <a:solidFill>
                          <a:schemeClr val="accent2"/>
                        </a:solidFill>
                        <a:latin typeface="Cambria Math" panose="02040503050406030204" pitchFamily="18" charset="0"/>
                      </a:rPr>
                      <m:t>𝑿</m:t>
                    </m:r>
                    <m:r>
                      <a:rPr lang="zh-CN" altLang="en-US" b="1" i="1">
                        <a:solidFill>
                          <a:schemeClr val="accent2"/>
                        </a:solidFill>
                        <a:latin typeface="Cambria Math" panose="02040503050406030204" pitchFamily="18" charset="0"/>
                      </a:rPr>
                      <m:t>=</m:t>
                    </m:r>
                    <m:r>
                      <a:rPr lang="zh-CN" altLang="en-US" b="1" i="1">
                        <a:solidFill>
                          <a:schemeClr val="accent2"/>
                        </a:solidFill>
                        <a:latin typeface="Cambria Math" panose="02040503050406030204" pitchFamily="18" charset="0"/>
                      </a:rPr>
                      <m:t>𝟏</m:t>
                    </m:r>
                    <m:r>
                      <a:rPr lang="zh-CN" altLang="en-US" b="1" i="1">
                        <a:solidFill>
                          <a:schemeClr val="accent2"/>
                        </a:solidFill>
                        <a:latin typeface="Cambria Math" panose="02040503050406030204" pitchFamily="18" charset="0"/>
                      </a:rPr>
                      <m:t> </m:t>
                    </m:r>
                  </m:oMath>
                </a14:m>
                <a:r>
                  <a:rPr lang="zh-CN" altLang="en-US" dirty="0"/>
                  <a:t>，可消去一个变量。</a:t>
                </a:r>
                <a:endParaRPr lang="zh-CN" altLang="en-US" dirty="0"/>
              </a:p>
              <a:p>
                <a:pPr lvl="1"/>
                <a:r>
                  <a:rPr lang="zh-CN" altLang="en-US" dirty="0"/>
                  <a:t>利用吸收律</a:t>
                </a:r>
                <a:r>
                  <a:rPr lang="en-US" altLang="zh-CN" dirty="0"/>
                  <a:t>T9</a:t>
                </a:r>
                <a:r>
                  <a:rPr lang="zh-CN" altLang="en-US" dirty="0"/>
                  <a:t>：</a:t>
                </a:r>
                <a:r>
                  <a:rPr lang="en-US" altLang="zh-CN" dirty="0"/>
                  <a:t>X+X•Y=X </a:t>
                </a:r>
                <a:r>
                  <a:rPr lang="zh-CN" altLang="en-US" dirty="0"/>
                  <a:t>和 </a:t>
                </a:r>
                <a:r>
                  <a:rPr lang="es-ES" altLang="zh-CN" dirty="0">
                    <a:latin typeface="Cambria Math" panose="02040503050406030204" pitchFamily="18" charset="0"/>
                    <a:ea typeface="Cambria Math" panose="02040503050406030204" pitchFamily="18" charset="0"/>
                  </a:rPr>
                  <a:t>X + </a:t>
                </a:r>
                <a14:m>
                  <m:oMath xmlns:m="http://schemas.openxmlformats.org/officeDocument/2006/math">
                    <m:acc>
                      <m:accPr>
                        <m:chr m:val="̅"/>
                        <m:ctrlPr>
                          <a:rPr lang="es-ES" altLang="zh-CN" i="1">
                            <a:latin typeface="Cambria Math" panose="02040503050406030204" pitchFamily="18" charset="0"/>
                            <a:ea typeface="Cambria Math" panose="02040503050406030204" pitchFamily="18" charset="0"/>
                          </a:rPr>
                        </m:ctrlPr>
                      </m:accPr>
                      <m:e>
                        <m:r>
                          <a:rPr lang="en-US" altLang="zh-CN" b="1" i="1">
                            <a:latin typeface="Cambria Math" panose="02040503050406030204" pitchFamily="18" charset="0"/>
                            <a:ea typeface="Cambria Math" panose="02040503050406030204" pitchFamily="18" charset="0"/>
                          </a:rPr>
                          <m:t>𝑿</m:t>
                        </m:r>
                      </m:e>
                    </m:acc>
                  </m:oMath>
                </a14:m>
                <a:r>
                  <a:rPr lang="zh-CN" altLang="en-US" dirty="0">
                    <a:solidFill>
                      <a:srgbClr val="000000"/>
                    </a:solidFill>
                  </a:rPr>
                  <a:t> </a:t>
                </a:r>
                <a14:m>
                  <m:oMath xmlns:m="http://schemas.openxmlformats.org/officeDocument/2006/math">
                    <m:r>
                      <a:rPr lang="zh-CN" altLang="en-US" b="1" i="1" smtClean="0">
                        <a:solidFill>
                          <a:schemeClr val="accent2"/>
                        </a:solidFill>
                        <a:latin typeface="Cambria Math" panose="02040503050406030204" pitchFamily="18" charset="0"/>
                      </a:rPr>
                      <m:t>•</m:t>
                    </m:r>
                    <m:r>
                      <a:rPr lang="zh-CN" altLang="en-US" b="1" i="1">
                        <a:solidFill>
                          <a:srgbClr val="000000"/>
                        </a:solidFill>
                        <a:latin typeface="Cambria Math" panose="02040503050406030204" pitchFamily="18" charset="0"/>
                      </a:rPr>
                      <m:t> </m:t>
                    </m:r>
                  </m:oMath>
                </a14:m>
                <a:r>
                  <a:rPr lang="es-ES" altLang="zh-CN" dirty="0">
                    <a:latin typeface="Cambria Math" panose="02040503050406030204" pitchFamily="18" charset="0"/>
                    <a:ea typeface="Cambria Math" panose="02040503050406030204" pitchFamily="18" charset="0"/>
                  </a:rPr>
                  <a:t>Y= X+Y</a:t>
                </a:r>
                <a:r>
                  <a:rPr lang="zh-CN" altLang="en-US" dirty="0"/>
                  <a:t>，可消去乘积项中一个因子。</a:t>
                </a:r>
                <a:endParaRPr lang="zh-CN" altLang="en-US" dirty="0"/>
              </a:p>
              <a:p>
                <a:pPr lvl="1"/>
                <a:r>
                  <a:rPr lang="zh-CN" altLang="en-US" dirty="0"/>
                  <a:t>利用组合律</a:t>
                </a:r>
                <a:r>
                  <a:rPr lang="en-US" altLang="zh-CN" dirty="0"/>
                  <a:t>T10</a:t>
                </a:r>
                <a:r>
                  <a:rPr lang="zh-CN" altLang="en-US" dirty="0"/>
                  <a:t>：</a:t>
                </a:r>
                <a:r>
                  <a:rPr lang="en-US" altLang="zh-CN" dirty="0"/>
                  <a:t>X•Y+X •</a:t>
                </a:r>
                <a:r>
                  <a:rPr lang="es-ES" altLang="zh-CN" dirty="0">
                    <a:ea typeface="Cambria Math" panose="02040503050406030204" pitchFamily="18" charset="0"/>
                  </a:rPr>
                  <a:t> </a:t>
                </a:r>
                <a14:m>
                  <m:oMath xmlns:m="http://schemas.openxmlformats.org/officeDocument/2006/math">
                    <m:acc>
                      <m:accPr>
                        <m:chr m:val="̅"/>
                        <m:ctrlPr>
                          <a:rPr lang="es-ES" altLang="zh-CN" i="1">
                            <a:latin typeface="Cambria Math" panose="02040503050406030204" pitchFamily="18" charset="0"/>
                            <a:ea typeface="Cambria Math" panose="02040503050406030204" pitchFamily="18" charset="0"/>
                          </a:rPr>
                        </m:ctrlPr>
                      </m:accPr>
                      <m:e>
                        <m:r>
                          <m:rPr>
                            <m:sty m:val="p"/>
                          </m:rPr>
                          <a:rPr lang="en-US" altLang="zh-CN" b="0" i="0" smtClean="0">
                            <a:latin typeface="Cambria Math" panose="02040503050406030204" pitchFamily="18" charset="0"/>
                            <a:ea typeface="Cambria Math" panose="02040503050406030204" pitchFamily="18" charset="0"/>
                          </a:rPr>
                          <m:t>Y</m:t>
                        </m:r>
                      </m:e>
                    </m:acc>
                  </m:oMath>
                </a14:m>
                <a:r>
                  <a:rPr lang="zh-CN" altLang="en-US" dirty="0">
                    <a:solidFill>
                      <a:srgbClr val="000000"/>
                    </a:solidFill>
                  </a:rPr>
                  <a:t> </a:t>
                </a:r>
                <a:r>
                  <a:rPr lang="en-US" altLang="zh-CN" dirty="0">
                    <a:solidFill>
                      <a:schemeClr val="accent2"/>
                    </a:solidFill>
                  </a:rPr>
                  <a:t>=</a:t>
                </a:r>
                <a:r>
                  <a:rPr lang="en-US" altLang="zh-CN" dirty="0"/>
                  <a:t>X </a:t>
                </a:r>
                <a:r>
                  <a:rPr lang="zh-CN" altLang="en-US" dirty="0"/>
                  <a:t>和 </a:t>
                </a:r>
                <a:r>
                  <a:rPr lang="en-US" altLang="zh-CN" dirty="0"/>
                  <a:t>(X+Y)•(X+</a:t>
                </a:r>
                <a:r>
                  <a:rPr lang="es-ES" altLang="zh-CN" dirty="0">
                    <a:ea typeface="Cambria Math" panose="02040503050406030204" pitchFamily="18" charset="0"/>
                  </a:rPr>
                  <a:t> </a:t>
                </a:r>
                <a14:m>
                  <m:oMath xmlns:m="http://schemas.openxmlformats.org/officeDocument/2006/math">
                    <m:acc>
                      <m:accPr>
                        <m:chr m:val="̅"/>
                        <m:ctrlPr>
                          <a:rPr lang="es-ES" altLang="zh-CN" i="1">
                            <a:latin typeface="Cambria Math" panose="02040503050406030204" pitchFamily="18" charset="0"/>
                            <a:ea typeface="Cambria Math" panose="02040503050406030204" pitchFamily="18" charset="0"/>
                          </a:rPr>
                        </m:ctrlPr>
                      </m:accPr>
                      <m:e>
                        <m:r>
                          <m:rPr>
                            <m:sty m:val="p"/>
                          </m:rPr>
                          <a:rPr lang="en-US" altLang="zh-CN" i="0">
                            <a:latin typeface="Cambria Math" panose="02040503050406030204" pitchFamily="18" charset="0"/>
                            <a:ea typeface="Cambria Math" panose="02040503050406030204" pitchFamily="18" charset="0"/>
                          </a:rPr>
                          <m:t>Y</m:t>
                        </m:r>
                      </m:e>
                    </m:acc>
                    <m:r>
                      <a:rPr lang="en-US" altLang="zh-CN" i="1">
                        <a:latin typeface="Cambria Math" panose="02040503050406030204" pitchFamily="18" charset="0"/>
                        <a:ea typeface="Cambria Math" panose="02040503050406030204" pitchFamily="18" charset="0"/>
                      </a:rPr>
                      <m:t> </m:t>
                    </m:r>
                  </m:oMath>
                </a14:m>
                <a:r>
                  <a:rPr lang="en-US" altLang="zh-CN" dirty="0"/>
                  <a:t>)=X</a:t>
                </a:r>
                <a:r>
                  <a:rPr lang="zh-CN" altLang="en-US" dirty="0"/>
                  <a:t>，可消去一个变量。</a:t>
                </a:r>
                <a:endParaRPr lang="zh-CN" altLang="en-US" dirty="0"/>
              </a:p>
              <a:p>
                <a:pPr lvl="1"/>
                <a:r>
                  <a:rPr lang="zh-CN" altLang="en-US" dirty="0"/>
                  <a:t>利用一致律</a:t>
                </a:r>
                <a:r>
                  <a:rPr lang="en-US" altLang="zh-CN" dirty="0"/>
                  <a:t>T11</a:t>
                </a:r>
                <a:r>
                  <a:rPr lang="zh-CN" altLang="en-US" dirty="0"/>
                  <a:t>，可消去冗余的乘积项。</a:t>
                </a:r>
                <a:endParaRPr lang="zh-CN" altLang="en-US" dirty="0"/>
              </a:p>
              <a:p>
                <a:r>
                  <a:rPr lang="zh-CN" altLang="zh-CN" sz="2200" dirty="0"/>
                  <a:t>如果表达式的层级超过了两级，则先转换为两级</a:t>
                </a:r>
                <a:r>
                  <a:rPr lang="zh-CN" altLang="en-US" sz="2200" dirty="0"/>
                  <a:t>。</a:t>
                </a:r>
                <a:endParaRPr lang="en-US" altLang="zh-CN" sz="2200" dirty="0"/>
              </a:p>
              <a:p>
                <a:r>
                  <a:rPr lang="zh-CN" altLang="en-US" sz="2200" dirty="0"/>
                  <a:t>如有整体取反运算，则先转换为单变量取反运算。</a:t>
                </a:r>
                <a:endParaRPr lang="zh-CN" altLang="en-US" sz="2200" dirty="0"/>
              </a:p>
            </p:txBody>
          </p:sp>
        </mc:Choice>
        <mc:Fallback>
          <p:sp>
            <p:nvSpPr>
              <p:cNvPr id="90115" name="Rectangle 3"/>
              <p:cNvSpPr>
                <a:spLocks noRot="1" noChangeAspect="1" noMove="1" noResize="1" noEditPoints="1" noAdjustHandles="1" noChangeArrowheads="1" noChangeShapeType="1" noTextEdit="1"/>
              </p:cNvSpPr>
              <p:nvPr>
                <p:ph idx="1"/>
              </p:nvPr>
            </p:nvSpPr>
            <p:spPr>
              <a:xfrm>
                <a:off x="284773" y="915505"/>
                <a:ext cx="8523654" cy="4331763"/>
              </a:xfrm>
              <a:blipFill rotWithShape="1">
                <a:blip r:embed="rId1"/>
                <a:stretch>
                  <a:fillRect l="-3" t="-11" r="4" b="-97"/>
                </a:stretch>
              </a:blipFill>
            </p:spPr>
            <p:txBody>
              <a:bodyPr/>
              <a:lstStyle/>
              <a:p>
                <a:r>
                  <a:rPr lang="zh-CN" altLang="en-US">
                    <a:noFill/>
                  </a:rPr>
                  <a:t> </a:t>
                </a:r>
              </a:p>
            </p:txBody>
          </p:sp>
        </mc:Fallback>
      </mc:AlternateContent>
      <p:sp>
        <p:nvSpPr>
          <p:cNvPr id="4" name="灯片编号占位符 4"/>
          <p:cNvSpPr>
            <a:spLocks noGrp="1"/>
          </p:cNvSpPr>
          <p:nvPr>
            <p:ph type="sldNum" sz="quarter" idx="4294967295"/>
          </p:nvPr>
        </p:nvSpPr>
        <p:spPr>
          <a:xfrm>
            <a:off x="6248400" y="6415088"/>
            <a:ext cx="2895600" cy="268287"/>
          </a:xfrm>
          <a:prstGeom prst="rect">
            <a:avLst/>
          </a:prstGeom>
        </p:spPr>
        <p:txBody>
          <a:bodyPr/>
          <a:lstStyle/>
          <a:p>
            <a:fld id="{14E5B4D6-5EB3-4844-A473-3538FBB19D50}" type="slidenum">
              <a:rPr lang="en-US" altLang="zh-CN"/>
            </a:fld>
            <a:endParaRPr lang="en-US" altLang="zh-CN"/>
          </a:p>
        </p:txBody>
      </p:sp>
    </p:spTree>
  </p:cSld>
  <p:clrMapOvr>
    <a:masterClrMapping/>
  </p:clrMapOvr>
  <p:transition spd="med">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 </a:t>
            </a:r>
            <a:r>
              <a:rPr lang="zh-CN" altLang="en-US" dirty="0"/>
              <a:t>代数法化简</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284773" y="915505"/>
                <a:ext cx="8523654" cy="4007485"/>
              </a:xfrm>
            </p:spPr>
            <p:txBody>
              <a:bodyPr/>
              <a:lstStyle/>
              <a:p>
                <a:r>
                  <a:rPr lang="zh-CN" altLang="zh-CN" b="1" dirty="0"/>
                  <a:t> </a:t>
                </a:r>
                <a:r>
                  <a:rPr lang="zh-CN" altLang="zh-CN" sz="2200" dirty="0"/>
                  <a:t>化简</a:t>
                </a:r>
                <a:r>
                  <a:rPr lang="zh-CN" altLang="en-US" sz="2200" dirty="0"/>
                  <a:t>：</a:t>
                </a:r>
                <a:r>
                  <a:rPr lang="en-US" altLang="zh-CN" sz="2200" dirty="0"/>
                  <a:t>F(</a:t>
                </a:r>
                <a:r>
                  <a:rPr lang="en-US" altLang="zh-CN" sz="2200" dirty="0" err="1"/>
                  <a:t>w,x,y,z</a:t>
                </a:r>
                <a:r>
                  <a:rPr lang="en-US" altLang="zh-CN" sz="2200" dirty="0"/>
                  <a:t>)=w</a:t>
                </a:r>
                <a14:m>
                  <m:oMath xmlns:m="http://schemas.openxmlformats.org/officeDocument/2006/math">
                    <m:r>
                      <a:rPr lang="en-US" altLang="zh-CN" sz="2200" i="1">
                        <a:latin typeface="Cambria Math" panose="02040503050406030204" pitchFamily="18" charset="0"/>
                      </a:rPr>
                      <m:t>∙</m:t>
                    </m:r>
                  </m:oMath>
                </a14:m>
                <a:r>
                  <a:rPr lang="en-US" altLang="zh-CN" sz="2200" dirty="0" err="1"/>
                  <a:t>x+w</a:t>
                </a:r>
                <a14:m>
                  <m:oMath xmlns:m="http://schemas.openxmlformats.org/officeDocument/2006/math">
                    <m:r>
                      <a:rPr lang="en-US" altLang="zh-CN" sz="2200" i="1">
                        <a:latin typeface="Cambria Math" panose="02040503050406030204" pitchFamily="18" charset="0"/>
                      </a:rPr>
                      <m:t>∙</m:t>
                    </m:r>
                  </m:oMath>
                </a14:m>
                <a:r>
                  <a:rPr lang="en-US" altLang="zh-CN" sz="2200" dirty="0"/>
                  <a:t>x</a:t>
                </a:r>
                <a14:m>
                  <m:oMath xmlns:m="http://schemas.openxmlformats.org/officeDocument/2006/math">
                    <m:r>
                      <a:rPr lang="en-US" altLang="zh-CN" sz="2200" i="1">
                        <a:latin typeface="Cambria Math" panose="02040503050406030204" pitchFamily="18" charset="0"/>
                      </a:rPr>
                      <m:t>∙</m:t>
                    </m:r>
                  </m:oMath>
                </a14:m>
                <a:r>
                  <a:rPr lang="en-US" altLang="zh-CN" sz="2200" dirty="0"/>
                  <a:t>y+</a:t>
                </a:r>
                <a14:m>
                  <m:oMath xmlns:m="http://schemas.openxmlformats.org/officeDocument/2006/math">
                    <m:acc>
                      <m:accPr>
                        <m:chr m:val="̅"/>
                        <m:ctrlPr>
                          <a:rPr lang="zh-CN" altLang="zh-CN" sz="2200" i="1">
                            <a:latin typeface="Cambria Math" panose="02040503050406030204" pitchFamily="18" charset="0"/>
                          </a:rPr>
                        </m:ctrlPr>
                      </m:accPr>
                      <m:e>
                        <m:r>
                          <a:rPr lang="en-US" altLang="zh-CN" sz="2200" i="1">
                            <a:latin typeface="Cambria Math" panose="02040503050406030204" pitchFamily="18" charset="0"/>
                          </a:rPr>
                          <m:t>𝑤</m:t>
                        </m:r>
                      </m:e>
                    </m:acc>
                    <m:r>
                      <a:rPr lang="en-US" altLang="zh-CN" sz="2200" i="1">
                        <a:latin typeface="Cambria Math" panose="02040503050406030204" pitchFamily="18" charset="0"/>
                      </a:rPr>
                      <m:t>∙</m:t>
                    </m:r>
                  </m:oMath>
                </a14:m>
                <a:r>
                  <a:rPr lang="en-US" altLang="zh-CN" sz="2200" dirty="0"/>
                  <a:t>y</a:t>
                </a:r>
                <a14:m>
                  <m:oMath xmlns:m="http://schemas.openxmlformats.org/officeDocument/2006/math">
                    <m:r>
                      <a:rPr lang="en-US" altLang="zh-CN" sz="2200" i="1">
                        <a:latin typeface="Cambria Math" panose="02040503050406030204" pitchFamily="18" charset="0"/>
                      </a:rPr>
                      <m:t>∙</m:t>
                    </m:r>
                  </m:oMath>
                </a14:m>
                <a:r>
                  <a:rPr lang="en-US" altLang="zh-CN" sz="2200" dirty="0"/>
                  <a:t>z+</a:t>
                </a:r>
                <a14:m>
                  <m:oMath xmlns:m="http://schemas.openxmlformats.org/officeDocument/2006/math">
                    <m:acc>
                      <m:accPr>
                        <m:chr m:val="̅"/>
                        <m:ctrlPr>
                          <a:rPr lang="zh-CN" altLang="zh-CN" sz="2200" i="1">
                            <a:latin typeface="Cambria Math" panose="02040503050406030204" pitchFamily="18" charset="0"/>
                          </a:rPr>
                        </m:ctrlPr>
                      </m:accPr>
                      <m:e>
                        <m:r>
                          <a:rPr lang="en-US" altLang="zh-CN" sz="2200" i="1">
                            <a:latin typeface="Cambria Math" panose="02040503050406030204" pitchFamily="18" charset="0"/>
                          </a:rPr>
                          <m:t>𝑤</m:t>
                        </m:r>
                      </m:e>
                    </m:acc>
                    <m:r>
                      <a:rPr lang="en-US" altLang="zh-CN" sz="2200" i="1">
                        <a:latin typeface="Cambria Math" panose="02040503050406030204" pitchFamily="18" charset="0"/>
                      </a:rPr>
                      <m:t>∙</m:t>
                    </m:r>
                    <m:acc>
                      <m:accPr>
                        <m:chr m:val="̅"/>
                        <m:ctrlPr>
                          <a:rPr lang="zh-CN" altLang="zh-CN" sz="2200" i="1">
                            <a:latin typeface="Cambria Math" panose="02040503050406030204" pitchFamily="18" charset="0"/>
                          </a:rPr>
                        </m:ctrlPr>
                      </m:accPr>
                      <m:e>
                        <m:r>
                          <a:rPr lang="en-US" altLang="zh-CN" sz="2200" i="1">
                            <a:latin typeface="Cambria Math" panose="02040503050406030204" pitchFamily="18" charset="0"/>
                          </a:rPr>
                          <m:t>𝑦</m:t>
                        </m:r>
                      </m:e>
                    </m:acc>
                    <m:r>
                      <a:rPr lang="en-US" altLang="zh-CN" sz="2200" i="1">
                        <a:latin typeface="Cambria Math" panose="02040503050406030204" pitchFamily="18" charset="0"/>
                      </a:rPr>
                      <m:t>∙</m:t>
                    </m:r>
                  </m:oMath>
                </a14:m>
                <a:r>
                  <a:rPr lang="en-US" altLang="zh-CN" sz="2200" dirty="0"/>
                  <a:t>z+</a:t>
                </a:r>
                <a14:m>
                  <m:oMath xmlns:m="http://schemas.openxmlformats.org/officeDocument/2006/math">
                    <m:acc>
                      <m:accPr>
                        <m:chr m:val="̅"/>
                        <m:ctrlPr>
                          <a:rPr lang="zh-CN" altLang="zh-CN" sz="2200" i="1">
                            <a:latin typeface="Cambria Math" panose="02040503050406030204" pitchFamily="18" charset="0"/>
                          </a:rPr>
                        </m:ctrlPr>
                      </m:accPr>
                      <m:e>
                        <m:r>
                          <a:rPr lang="en-US" altLang="zh-CN" sz="2200" i="1">
                            <a:latin typeface="Cambria Math" panose="02040503050406030204" pitchFamily="18" charset="0"/>
                          </a:rPr>
                          <m:t>𝑤</m:t>
                        </m:r>
                      </m:e>
                    </m:acc>
                    <m:r>
                      <a:rPr lang="en-US" altLang="zh-CN" sz="2200" i="1">
                        <a:latin typeface="Cambria Math" panose="02040503050406030204" pitchFamily="18" charset="0"/>
                      </a:rPr>
                      <m:t>∙</m:t>
                    </m:r>
                  </m:oMath>
                </a14:m>
                <a:r>
                  <a:rPr lang="en-US" altLang="zh-CN" sz="2200" dirty="0"/>
                  <a:t>x</a:t>
                </a:r>
                <a14:m>
                  <m:oMath xmlns:m="http://schemas.openxmlformats.org/officeDocument/2006/math">
                    <m:r>
                      <a:rPr lang="en-US" altLang="zh-CN" sz="2200" i="1">
                        <a:latin typeface="Cambria Math" panose="02040503050406030204" pitchFamily="18" charset="0"/>
                      </a:rPr>
                      <m:t>∙</m:t>
                    </m:r>
                  </m:oMath>
                </a14:m>
                <a:r>
                  <a:rPr lang="en-US" altLang="zh-CN" sz="2200" dirty="0"/>
                  <a:t>y</a:t>
                </a:r>
                <a14:m>
                  <m:oMath xmlns:m="http://schemas.openxmlformats.org/officeDocument/2006/math">
                    <m:r>
                      <a:rPr lang="en-US" altLang="zh-CN" sz="2200" i="1">
                        <a:latin typeface="Cambria Math" panose="02040503050406030204" pitchFamily="18" charset="0"/>
                      </a:rPr>
                      <m:t>∙</m:t>
                    </m:r>
                    <m:acc>
                      <m:accPr>
                        <m:chr m:val="̅"/>
                        <m:ctrlPr>
                          <a:rPr lang="zh-CN" altLang="zh-CN" sz="2200" i="1">
                            <a:latin typeface="Cambria Math" panose="02040503050406030204" pitchFamily="18" charset="0"/>
                          </a:rPr>
                        </m:ctrlPr>
                      </m:accPr>
                      <m:e>
                        <m:r>
                          <a:rPr lang="en-US" altLang="zh-CN" sz="2200" i="1">
                            <a:latin typeface="Cambria Math" panose="02040503050406030204" pitchFamily="18" charset="0"/>
                          </a:rPr>
                          <m:t>𝑧</m:t>
                        </m:r>
                      </m:e>
                    </m:acc>
                  </m:oMath>
                </a14:m>
                <a:r>
                  <a:rPr lang="zh-CN" altLang="zh-CN" sz="2200" dirty="0"/>
                  <a:t>。</a:t>
                </a:r>
                <a:endParaRPr lang="en-US" altLang="zh-CN" sz="2200" dirty="0"/>
              </a:p>
              <a:p>
                <a:pPr marL="0" indent="0">
                  <a:buNone/>
                </a:pPr>
                <a:r>
                  <a:rPr lang="en-US" altLang="zh-CN" sz="2200" dirty="0"/>
                  <a:t>         =</a:t>
                </a:r>
                <a:r>
                  <a:rPr lang="en-US" altLang="zh-CN" sz="2200" dirty="0" err="1"/>
                  <a:t>w∙x+</a:t>
                </a:r>
                <a14:m>
                  <m:oMath xmlns:m="http://schemas.openxmlformats.org/officeDocument/2006/math">
                    <m:acc>
                      <m:accPr>
                        <m:chr m:val="̅"/>
                        <m:ctrlPr>
                          <a:rPr lang="zh-CN" altLang="zh-CN" sz="2200" i="1">
                            <a:latin typeface="Cambria Math" panose="02040503050406030204" pitchFamily="18" charset="0"/>
                          </a:rPr>
                        </m:ctrlPr>
                      </m:accPr>
                      <m:e>
                        <m:r>
                          <a:rPr lang="en-US" altLang="zh-CN" sz="2200" i="1">
                            <a:latin typeface="Cambria Math" panose="02040503050406030204" pitchFamily="18" charset="0"/>
                          </a:rPr>
                          <m:t>𝑤</m:t>
                        </m:r>
                      </m:e>
                    </m:acc>
                  </m:oMath>
                </a14:m>
                <a:r>
                  <a:rPr lang="en-US" altLang="zh-CN" sz="2200" dirty="0"/>
                  <a:t>(</a:t>
                </a:r>
                <a:r>
                  <a:rPr lang="en-US" altLang="zh-CN" sz="2200" dirty="0" err="1"/>
                  <a:t>y∙z+</a:t>
                </a:r>
                <a14:m>
                  <m:oMath xmlns:m="http://schemas.openxmlformats.org/officeDocument/2006/math">
                    <m:acc>
                      <m:accPr>
                        <m:chr m:val="̅"/>
                        <m:ctrlPr>
                          <a:rPr lang="zh-CN" altLang="zh-CN" sz="2200" i="1">
                            <a:latin typeface="Cambria Math" panose="02040503050406030204" pitchFamily="18" charset="0"/>
                          </a:rPr>
                        </m:ctrlPr>
                      </m:accPr>
                      <m:e>
                        <m:r>
                          <a:rPr lang="en-US" altLang="zh-CN" sz="2200" i="1">
                            <a:latin typeface="Cambria Math" panose="02040503050406030204" pitchFamily="18" charset="0"/>
                          </a:rPr>
                          <m:t>𝑦</m:t>
                        </m:r>
                      </m:e>
                    </m:acc>
                  </m:oMath>
                </a14:m>
                <a:r>
                  <a:rPr lang="en-US" altLang="zh-CN" sz="2200" dirty="0" err="1"/>
                  <a:t>∙z+x∙y∙</a:t>
                </a:r>
                <a14:m>
                  <m:oMath xmlns:m="http://schemas.openxmlformats.org/officeDocument/2006/math">
                    <m:acc>
                      <m:accPr>
                        <m:chr m:val="̅"/>
                        <m:ctrlPr>
                          <a:rPr lang="zh-CN" altLang="zh-CN" sz="2200" i="1">
                            <a:latin typeface="Cambria Math" panose="02040503050406030204" pitchFamily="18" charset="0"/>
                          </a:rPr>
                        </m:ctrlPr>
                      </m:accPr>
                      <m:e>
                        <m:r>
                          <a:rPr lang="en-US" altLang="zh-CN" sz="2200" i="1">
                            <a:latin typeface="Cambria Math" panose="02040503050406030204" pitchFamily="18" charset="0"/>
                          </a:rPr>
                          <m:t>𝑧</m:t>
                        </m:r>
                      </m:e>
                    </m:acc>
                  </m:oMath>
                </a14:m>
                <a:r>
                  <a:rPr lang="en-US" altLang="zh-CN" sz="2200" dirty="0"/>
                  <a:t>)        (</a:t>
                </a:r>
                <a:r>
                  <a:rPr lang="zh-CN" altLang="en-US" sz="2200" dirty="0"/>
                  <a:t>根据</a:t>
                </a:r>
                <a:r>
                  <a:rPr lang="en-US" altLang="zh-CN" sz="2200" dirty="0"/>
                  <a:t>T8</a:t>
                </a:r>
                <a:r>
                  <a:rPr lang="zh-CN" altLang="en-US" sz="2200" dirty="0"/>
                  <a:t>和</a:t>
                </a:r>
                <a:r>
                  <a:rPr lang="en-US" altLang="zh-CN" sz="2200" dirty="0"/>
                  <a:t>T9)</a:t>
                </a:r>
                <a:endParaRPr lang="en-US" altLang="zh-CN" sz="2200" dirty="0"/>
              </a:p>
              <a:p>
                <a:pPr marL="0" indent="0">
                  <a:buNone/>
                </a:pPr>
                <a:r>
                  <a:rPr lang="en-US" altLang="zh-CN" sz="2200" dirty="0"/>
                  <a:t>          =</a:t>
                </a:r>
                <a:r>
                  <a:rPr lang="en-US" altLang="zh-CN" sz="2200" dirty="0" err="1"/>
                  <a:t>w∙x+</a:t>
                </a:r>
                <a14:m>
                  <m:oMath xmlns:m="http://schemas.openxmlformats.org/officeDocument/2006/math">
                    <m:acc>
                      <m:accPr>
                        <m:chr m:val="̅"/>
                        <m:ctrlPr>
                          <a:rPr lang="zh-CN" altLang="zh-CN" sz="2200" i="1">
                            <a:latin typeface="Cambria Math" panose="02040503050406030204" pitchFamily="18" charset="0"/>
                          </a:rPr>
                        </m:ctrlPr>
                      </m:accPr>
                      <m:e>
                        <m:r>
                          <a:rPr lang="en-US" altLang="zh-CN" sz="2200" i="1">
                            <a:latin typeface="Cambria Math" panose="02040503050406030204" pitchFamily="18" charset="0"/>
                          </a:rPr>
                          <m:t>𝑤</m:t>
                        </m:r>
                      </m:e>
                    </m:acc>
                  </m:oMath>
                </a14:m>
                <a:r>
                  <a:rPr lang="en-US" altLang="zh-CN" sz="2200" dirty="0"/>
                  <a:t>(</a:t>
                </a:r>
                <a:r>
                  <a:rPr lang="en-US" altLang="zh-CN" sz="2200" dirty="0" err="1"/>
                  <a:t>z+x∙y∙</a:t>
                </a:r>
                <a14:m>
                  <m:oMath xmlns:m="http://schemas.openxmlformats.org/officeDocument/2006/math">
                    <m:acc>
                      <m:accPr>
                        <m:chr m:val="̅"/>
                        <m:ctrlPr>
                          <a:rPr lang="zh-CN" altLang="zh-CN" sz="2200" i="1">
                            <a:latin typeface="Cambria Math" panose="02040503050406030204" pitchFamily="18" charset="0"/>
                          </a:rPr>
                        </m:ctrlPr>
                      </m:accPr>
                      <m:e>
                        <m:r>
                          <a:rPr lang="en-US" altLang="zh-CN" sz="2200" i="1">
                            <a:latin typeface="Cambria Math" panose="02040503050406030204" pitchFamily="18" charset="0"/>
                          </a:rPr>
                          <m:t>𝑧</m:t>
                        </m:r>
                      </m:e>
                    </m:acc>
                  </m:oMath>
                </a14:m>
                <a:r>
                  <a:rPr lang="en-US" altLang="zh-CN" sz="2200" dirty="0"/>
                  <a:t>)                 (</a:t>
                </a:r>
                <a:r>
                  <a:rPr lang="zh-CN" altLang="en-US" sz="2200" dirty="0"/>
                  <a:t>根据</a:t>
                </a:r>
                <a:r>
                  <a:rPr lang="en-US" altLang="zh-CN" sz="2200" dirty="0"/>
                  <a:t>T10)</a:t>
                </a:r>
                <a:endParaRPr lang="en-US" altLang="zh-CN" sz="2200" dirty="0"/>
              </a:p>
              <a:p>
                <a:pPr marL="0" indent="0">
                  <a:buNone/>
                </a:pPr>
                <a:r>
                  <a:rPr lang="en-US" altLang="zh-CN" sz="2200" dirty="0"/>
                  <a:t>          =</a:t>
                </a:r>
                <a:r>
                  <a:rPr lang="en-US" altLang="zh-CN" sz="2200" dirty="0" err="1"/>
                  <a:t>w∙x+</a:t>
                </a:r>
                <a14:m>
                  <m:oMath xmlns:m="http://schemas.openxmlformats.org/officeDocument/2006/math">
                    <m:acc>
                      <m:accPr>
                        <m:chr m:val="̅"/>
                        <m:ctrlPr>
                          <a:rPr lang="zh-CN" altLang="zh-CN" sz="2200" i="1">
                            <a:latin typeface="Cambria Math" panose="02040503050406030204" pitchFamily="18" charset="0"/>
                          </a:rPr>
                        </m:ctrlPr>
                      </m:accPr>
                      <m:e>
                        <m:r>
                          <a:rPr lang="en-US" altLang="zh-CN" sz="2200" i="1">
                            <a:latin typeface="Cambria Math" panose="02040503050406030204" pitchFamily="18" charset="0"/>
                          </a:rPr>
                          <m:t>𝑤</m:t>
                        </m:r>
                      </m:e>
                    </m:acc>
                  </m:oMath>
                </a14:m>
                <a:r>
                  <a:rPr lang="en-US" altLang="zh-CN" sz="2200" dirty="0"/>
                  <a:t>(</a:t>
                </a:r>
                <a:r>
                  <a:rPr lang="en-US" altLang="zh-CN" sz="2200" dirty="0" err="1"/>
                  <a:t>z+x∙y</a:t>
                </a:r>
                <a:r>
                  <a:rPr lang="en-US" altLang="zh-CN" sz="2200" dirty="0"/>
                  <a:t>)                    (</a:t>
                </a:r>
                <a:r>
                  <a:rPr lang="zh-CN" altLang="en-US" sz="2200" dirty="0"/>
                  <a:t>根据</a:t>
                </a:r>
                <a:r>
                  <a:rPr lang="en-US" altLang="zh-CN" sz="2200" dirty="0"/>
                  <a:t>T9)</a:t>
                </a:r>
                <a:endParaRPr lang="en-US" altLang="zh-CN" sz="2200" dirty="0"/>
              </a:p>
              <a:p>
                <a:pPr marL="0" indent="0">
                  <a:buNone/>
                </a:pPr>
                <a:r>
                  <a:rPr lang="en-US" altLang="zh-CN" sz="2200" dirty="0"/>
                  <a:t>          =</a:t>
                </a:r>
                <a:r>
                  <a:rPr lang="en-US" altLang="zh-CN" sz="2200" dirty="0" err="1"/>
                  <a:t>w∙x+</a:t>
                </a:r>
                <a14:m>
                  <m:oMath xmlns:m="http://schemas.openxmlformats.org/officeDocument/2006/math">
                    <m:acc>
                      <m:accPr>
                        <m:chr m:val="̅"/>
                        <m:ctrlPr>
                          <a:rPr lang="zh-CN" altLang="zh-CN" sz="2200" i="1">
                            <a:latin typeface="Cambria Math" panose="02040503050406030204" pitchFamily="18" charset="0"/>
                          </a:rPr>
                        </m:ctrlPr>
                      </m:accPr>
                      <m:e>
                        <m:r>
                          <a:rPr lang="en-US" altLang="zh-CN" sz="2200" i="1">
                            <a:latin typeface="Cambria Math" panose="02040503050406030204" pitchFamily="18" charset="0"/>
                          </a:rPr>
                          <m:t>𝑤</m:t>
                        </m:r>
                      </m:e>
                    </m:acc>
                  </m:oMath>
                </a14:m>
                <a:r>
                  <a:rPr lang="en-US" altLang="zh-CN" sz="2200" dirty="0" err="1"/>
                  <a:t>∙z+</a:t>
                </a:r>
                <a14:m>
                  <m:oMath xmlns:m="http://schemas.openxmlformats.org/officeDocument/2006/math">
                    <m:acc>
                      <m:accPr>
                        <m:chr m:val="̅"/>
                        <m:ctrlPr>
                          <a:rPr lang="zh-CN" altLang="zh-CN" sz="2200" i="1">
                            <a:latin typeface="Cambria Math" panose="02040503050406030204" pitchFamily="18" charset="0"/>
                          </a:rPr>
                        </m:ctrlPr>
                      </m:accPr>
                      <m:e>
                        <m:r>
                          <a:rPr lang="en-US" altLang="zh-CN" sz="2200" i="1">
                            <a:latin typeface="Cambria Math" panose="02040503050406030204" pitchFamily="18" charset="0"/>
                          </a:rPr>
                          <m:t>𝑤</m:t>
                        </m:r>
                      </m:e>
                    </m:acc>
                  </m:oMath>
                </a14:m>
                <a:r>
                  <a:rPr lang="en-US" altLang="zh-CN" sz="2200" dirty="0" err="1"/>
                  <a:t>∙x∙y</a:t>
                </a:r>
                <a:r>
                  <a:rPr lang="en-US" altLang="zh-CN" sz="2200" dirty="0"/>
                  <a:t>                  (</a:t>
                </a:r>
                <a:r>
                  <a:rPr lang="zh-CN" altLang="en-US" sz="2200" dirty="0"/>
                  <a:t>根据</a:t>
                </a:r>
                <a:r>
                  <a:rPr lang="en-US" altLang="zh-CN" sz="2200" dirty="0"/>
                  <a:t>T9)</a:t>
                </a:r>
                <a:endParaRPr lang="en-US" altLang="zh-CN" sz="2200" dirty="0"/>
              </a:p>
              <a:p>
                <a:pPr marL="0" indent="0">
                  <a:buNone/>
                </a:pPr>
                <a:r>
                  <a:rPr lang="en-US" altLang="zh-CN" sz="2200" dirty="0"/>
                  <a:t>          =(</a:t>
                </a:r>
                <a:r>
                  <a:rPr lang="en-US" altLang="zh-CN" sz="2200" dirty="0" err="1"/>
                  <a:t>w+</a:t>
                </a:r>
                <a14:m>
                  <m:oMath xmlns:m="http://schemas.openxmlformats.org/officeDocument/2006/math">
                    <m:acc>
                      <m:accPr>
                        <m:chr m:val="̅"/>
                        <m:ctrlPr>
                          <a:rPr lang="zh-CN" altLang="zh-CN" sz="2200" i="1">
                            <a:latin typeface="Cambria Math" panose="02040503050406030204" pitchFamily="18" charset="0"/>
                          </a:rPr>
                        </m:ctrlPr>
                      </m:accPr>
                      <m:e>
                        <m:r>
                          <a:rPr lang="en-US" altLang="zh-CN" sz="2200" i="1">
                            <a:latin typeface="Cambria Math" panose="02040503050406030204" pitchFamily="18" charset="0"/>
                          </a:rPr>
                          <m:t>𝑤</m:t>
                        </m:r>
                      </m:e>
                    </m:acc>
                  </m:oMath>
                </a14:m>
                <a:r>
                  <a:rPr lang="en-US" altLang="zh-CN" sz="2200" dirty="0" err="1"/>
                  <a:t>∙y</a:t>
                </a:r>
                <a:r>
                  <a:rPr lang="en-US" altLang="zh-CN" sz="2200" dirty="0"/>
                  <a:t>)∙</a:t>
                </a:r>
                <a:r>
                  <a:rPr lang="en-US" altLang="zh-CN" sz="2200" dirty="0" err="1"/>
                  <a:t>x+</a:t>
                </a:r>
                <a14:m>
                  <m:oMath xmlns:m="http://schemas.openxmlformats.org/officeDocument/2006/math">
                    <m:acc>
                      <m:accPr>
                        <m:chr m:val="̅"/>
                        <m:ctrlPr>
                          <a:rPr lang="zh-CN" altLang="zh-CN" sz="2200" i="1">
                            <a:latin typeface="Cambria Math" panose="02040503050406030204" pitchFamily="18" charset="0"/>
                          </a:rPr>
                        </m:ctrlPr>
                      </m:accPr>
                      <m:e>
                        <m:r>
                          <a:rPr lang="en-US" altLang="zh-CN" sz="2200" i="1">
                            <a:latin typeface="Cambria Math" panose="02040503050406030204" pitchFamily="18" charset="0"/>
                          </a:rPr>
                          <m:t>𝑤</m:t>
                        </m:r>
                      </m:e>
                    </m:acc>
                  </m:oMath>
                </a14:m>
                <a:r>
                  <a:rPr lang="en-US" altLang="zh-CN" sz="2200" dirty="0" err="1"/>
                  <a:t>∙z</a:t>
                </a:r>
                <a:r>
                  <a:rPr lang="en-US" altLang="zh-CN" sz="2200" dirty="0"/>
                  <a:t>                  (</a:t>
                </a:r>
                <a:r>
                  <a:rPr lang="zh-CN" altLang="en-US" sz="2200" dirty="0"/>
                  <a:t>根据</a:t>
                </a:r>
                <a:r>
                  <a:rPr lang="en-US" altLang="zh-CN" sz="2200" dirty="0"/>
                  <a:t>T8)</a:t>
                </a:r>
                <a:endParaRPr lang="en-US" altLang="zh-CN" sz="2200" dirty="0"/>
              </a:p>
              <a:p>
                <a:pPr marL="0" indent="0">
                  <a:buNone/>
                </a:pPr>
                <a:r>
                  <a:rPr lang="en-US" altLang="zh-CN" sz="2200" dirty="0"/>
                  <a:t>          =(</a:t>
                </a:r>
                <a:r>
                  <a:rPr lang="en-US" altLang="zh-CN" sz="2200" dirty="0" err="1"/>
                  <a:t>w+y</a:t>
                </a:r>
                <a:r>
                  <a:rPr lang="en-US" altLang="zh-CN" sz="2200" dirty="0"/>
                  <a:t>)∙</a:t>
                </a:r>
                <a:r>
                  <a:rPr lang="en-US" altLang="zh-CN" sz="2200" dirty="0" err="1"/>
                  <a:t>x+</a:t>
                </a:r>
                <a14:m>
                  <m:oMath xmlns:m="http://schemas.openxmlformats.org/officeDocument/2006/math">
                    <m:acc>
                      <m:accPr>
                        <m:chr m:val="̅"/>
                        <m:ctrlPr>
                          <a:rPr lang="zh-CN" altLang="zh-CN" sz="2200" i="1">
                            <a:latin typeface="Cambria Math" panose="02040503050406030204" pitchFamily="18" charset="0"/>
                          </a:rPr>
                        </m:ctrlPr>
                      </m:accPr>
                      <m:e>
                        <m:r>
                          <a:rPr lang="en-US" altLang="zh-CN" sz="2200" i="1">
                            <a:latin typeface="Cambria Math" panose="02040503050406030204" pitchFamily="18" charset="0"/>
                          </a:rPr>
                          <m:t>𝑤</m:t>
                        </m:r>
                      </m:e>
                    </m:acc>
                  </m:oMath>
                </a14:m>
                <a:r>
                  <a:rPr lang="en-US" altLang="zh-CN" sz="2200" dirty="0" err="1"/>
                  <a:t>∙z</a:t>
                </a:r>
                <a:r>
                  <a:rPr lang="en-US" altLang="zh-CN" sz="2200" dirty="0"/>
                  <a:t>                      (</a:t>
                </a:r>
                <a:r>
                  <a:rPr lang="zh-CN" altLang="en-US" sz="2200" dirty="0"/>
                  <a:t>根据</a:t>
                </a:r>
                <a:r>
                  <a:rPr lang="en-US" altLang="zh-CN" sz="2200" dirty="0"/>
                  <a:t>T9)</a:t>
                </a:r>
                <a:endParaRPr lang="en-US" altLang="zh-CN" sz="2200" dirty="0"/>
              </a:p>
              <a:p>
                <a:pPr marL="0" indent="0">
                  <a:buNone/>
                </a:pPr>
                <a:r>
                  <a:rPr lang="en-US" altLang="zh-CN" sz="2200" dirty="0"/>
                  <a:t>          =</a:t>
                </a:r>
                <a:r>
                  <a:rPr lang="en-US" altLang="zh-CN" sz="2200" dirty="0" err="1"/>
                  <a:t>w∙x+x∙y+</a:t>
                </a:r>
                <a14:m>
                  <m:oMath xmlns:m="http://schemas.openxmlformats.org/officeDocument/2006/math">
                    <m:acc>
                      <m:accPr>
                        <m:chr m:val="̅"/>
                        <m:ctrlPr>
                          <a:rPr lang="zh-CN" altLang="zh-CN" sz="2200" i="1">
                            <a:latin typeface="Cambria Math" panose="02040503050406030204" pitchFamily="18" charset="0"/>
                          </a:rPr>
                        </m:ctrlPr>
                      </m:accPr>
                      <m:e>
                        <m:r>
                          <a:rPr lang="en-US" altLang="zh-CN" sz="2200" i="1">
                            <a:latin typeface="Cambria Math" panose="02040503050406030204" pitchFamily="18" charset="0"/>
                          </a:rPr>
                          <m:t>𝑤</m:t>
                        </m:r>
                      </m:e>
                    </m:acc>
                  </m:oMath>
                </a14:m>
                <a:r>
                  <a:rPr lang="en-US" altLang="zh-CN" sz="2200" dirty="0" err="1"/>
                  <a:t>∙z</a:t>
                </a:r>
                <a:r>
                  <a:rPr lang="en-US" altLang="zh-CN" sz="2200" dirty="0"/>
                  <a:t>                     (</a:t>
                </a:r>
                <a:r>
                  <a:rPr lang="zh-CN" altLang="en-US" sz="2200" dirty="0"/>
                  <a:t>根据</a:t>
                </a:r>
                <a:r>
                  <a:rPr lang="en-US" altLang="zh-CN" sz="2200" dirty="0"/>
                  <a:t>T8)</a:t>
                </a:r>
                <a:endParaRPr lang="en-US" altLang="zh-CN" sz="2200" dirty="0"/>
              </a:p>
              <a:p>
                <a:r>
                  <a:rPr lang="zh-CN" altLang="en-US" sz="2200" dirty="0"/>
                  <a:t>和原表达式相比，化简后减少了</a:t>
                </a:r>
                <a:r>
                  <a:rPr lang="en-US" altLang="zh-CN" sz="2200" dirty="0"/>
                  <a:t>2</a:t>
                </a:r>
                <a:r>
                  <a:rPr lang="zh-CN" altLang="en-US" sz="2200" dirty="0"/>
                  <a:t>个与门、</a:t>
                </a:r>
                <a:r>
                  <a:rPr lang="en-US" altLang="zh-CN" sz="2200" dirty="0"/>
                  <a:t>11</a:t>
                </a:r>
                <a:r>
                  <a:rPr lang="zh-CN" altLang="en-US" sz="2200" dirty="0"/>
                  <a:t>个输入端。</a:t>
                </a:r>
                <a:endParaRPr lang="zh-CN" altLang="en-US" sz="2200"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284773" y="915505"/>
                <a:ext cx="8523654" cy="4007485"/>
              </a:xfrm>
              <a:blipFill rotWithShape="1">
                <a:blip r:embed="rId1"/>
                <a:stretch>
                  <a:fillRect l="-3" t="-12" r="4" b="12"/>
                </a:stretch>
              </a:blipFill>
            </p:spPr>
            <p:txBody>
              <a:bodyPr/>
              <a:lstStyle/>
              <a:p>
                <a:r>
                  <a:rPr lang="zh-CN" altLang="en-US">
                    <a:noFill/>
                  </a:rPr>
                  <a:t> </a:t>
                </a:r>
              </a:p>
            </p:txBody>
          </p:sp>
        </mc:Fallback>
      </mc:AlternateContent>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fld id="{C1ECEEFF-59F7-41BB-B9A9-13867E2BF01F}" type="slidenum">
              <a:rPr lang="zh-CN" altLang="en-US" smtClean="0"/>
            </a:fld>
            <a:endParaRPr lang="zh-CN" altLang="en-US"/>
          </a:p>
        </p:txBody>
      </p:sp>
    </p:spTree>
  </p:cSld>
  <p:clrMapOvr>
    <a:masterClrMapping/>
  </p:clrMapOvr>
  <p:transition spd="med">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 </a:t>
            </a:r>
            <a:r>
              <a:rPr lang="zh-CN" altLang="en-US" dirty="0"/>
              <a:t>代数法化简</a:t>
            </a:r>
            <a:endParaRPr lang="zh-CN" altLang="en-US" dirty="0"/>
          </a:p>
        </p:txBody>
      </p:sp>
      <mc:AlternateContent xmlns:mc="http://schemas.openxmlformats.org/markup-compatibility/2006">
        <mc:Choice xmlns:a14="http://schemas.microsoft.com/office/drawing/2010/main" Requires="a14">
          <p:sp>
            <p:nvSpPr>
              <p:cNvPr id="7" name="对象 7"/>
              <p:cNvSpPr txBox="1">
                <a:spLocks noGrp="1"/>
              </p:cNvSpPr>
              <p:nvPr>
                <p:ph idx="1"/>
              </p:nvPr>
            </p:nvSpPr>
            <p:spPr bwMode="auto">
              <a:xfrm>
                <a:off x="311732" y="797441"/>
                <a:ext cx="8625985" cy="5564667"/>
              </a:xfrm>
              <a:prstGeom prst="rect">
                <a:avLst/>
              </a:prstGeom>
              <a:noFill/>
            </p:spPr>
            <p:txBody>
              <a:bodyPr>
                <a:normAutofit/>
              </a:bodyPr>
              <a:lstStyle/>
              <a:p>
                <a:r>
                  <a:rPr lang="zh-CN" altLang="en-US" dirty="0"/>
                  <a:t>化简</a:t>
                </a:r>
                <a14:m>
                  <m:oMath xmlns:m="http://schemas.openxmlformats.org/officeDocument/2006/math">
                    <m:r>
                      <a:rPr lang="en-US" altLang="zh-CN" b="0" i="0" dirty="0" smtClean="0">
                        <a:latin typeface="Cambria Math" panose="02040503050406030204" pitchFamily="18" charset="0"/>
                      </a:rPr>
                      <m:t> </m:t>
                    </m:r>
                    <m:r>
                      <m:rPr>
                        <m:nor/>
                      </m:rPr>
                      <a:rPr lang="en-US" altLang="zh-CN" i="1" dirty="0">
                        <a:latin typeface="Cambria Math" panose="02040503050406030204" pitchFamily="18" charset="0"/>
                      </a:rPr>
                      <m:t>f</m:t>
                    </m:r>
                    <m:r>
                      <m:rPr>
                        <m:nor/>
                      </m:rPr>
                      <a:rPr lang="en-US" altLang="zh-CN" i="1" dirty="0">
                        <a:latin typeface="Cambria Math" panose="02040503050406030204" pitchFamily="18" charset="0"/>
                      </a:rPr>
                      <m:t>(</m:t>
                    </m:r>
                    <m:r>
                      <m:rPr>
                        <m:nor/>
                      </m:rPr>
                      <a:rPr lang="en-US" altLang="zh-CN" i="1" dirty="0">
                        <a:latin typeface="Cambria Math" panose="02040503050406030204" pitchFamily="18" charset="0"/>
                      </a:rPr>
                      <m:t>A</m:t>
                    </m:r>
                    <m:r>
                      <m:rPr>
                        <m:nor/>
                      </m:rPr>
                      <a:rPr lang="en-US" altLang="zh-CN" i="1" dirty="0">
                        <a:latin typeface="Cambria Math" panose="02040503050406030204" pitchFamily="18" charset="0"/>
                      </a:rPr>
                      <m:t>,</m:t>
                    </m:r>
                    <m:r>
                      <m:rPr>
                        <m:nor/>
                      </m:rPr>
                      <a:rPr lang="en-US" altLang="zh-CN" i="1" dirty="0">
                        <a:latin typeface="Cambria Math" panose="02040503050406030204" pitchFamily="18" charset="0"/>
                      </a:rPr>
                      <m:t>B</m:t>
                    </m:r>
                    <m:r>
                      <m:rPr>
                        <m:nor/>
                      </m:rPr>
                      <a:rPr lang="en-US" altLang="zh-CN" i="1" dirty="0">
                        <a:latin typeface="Cambria Math" panose="02040503050406030204" pitchFamily="18" charset="0"/>
                      </a:rPr>
                      <m:t>,</m:t>
                    </m:r>
                    <m:r>
                      <m:rPr>
                        <m:nor/>
                      </m:rPr>
                      <a:rPr lang="en-US" altLang="zh-CN" i="1" dirty="0">
                        <a:latin typeface="Cambria Math" panose="02040503050406030204" pitchFamily="18" charset="0"/>
                      </a:rPr>
                      <m:t>C</m:t>
                    </m:r>
                    <m:r>
                      <m:rPr>
                        <m:nor/>
                      </m:rPr>
                      <a:rPr lang="en-US" altLang="zh-CN" i="1" dirty="0">
                        <a:latin typeface="Cambria Math" panose="02040503050406030204" pitchFamily="18" charset="0"/>
                      </a:rPr>
                      <m:t>,</m:t>
                    </m:r>
                    <m:r>
                      <m:rPr>
                        <m:nor/>
                      </m:rPr>
                      <a:rPr lang="en-US" altLang="zh-CN" i="1" dirty="0">
                        <a:latin typeface="Cambria Math" panose="02040503050406030204" pitchFamily="18" charset="0"/>
                      </a:rPr>
                      <m:t>D</m:t>
                    </m:r>
                    <m:r>
                      <m:rPr>
                        <m:nor/>
                      </m:rPr>
                      <a:rPr lang="en-US" altLang="zh-CN" i="1" dirty="0">
                        <a:latin typeface="Cambria Math" panose="02040503050406030204" pitchFamily="18" charset="0"/>
                      </a:rPr>
                      <m:t>) = ∑</m:t>
                    </m:r>
                    <m:r>
                      <m:rPr>
                        <m:nor/>
                      </m:rPr>
                      <a:rPr lang="en-US" altLang="zh-CN" i="1" dirty="0">
                        <a:latin typeface="Cambria Math" panose="02040503050406030204" pitchFamily="18" charset="0"/>
                      </a:rPr>
                      <m:t>m</m:t>
                    </m:r>
                    <m:r>
                      <m:rPr>
                        <m:nor/>
                      </m:rPr>
                      <a:rPr lang="en-US" altLang="zh-CN" dirty="0">
                        <a:latin typeface="Cambria Math" panose="02040503050406030204" pitchFamily="18" charset="0"/>
                      </a:rPr>
                      <m:t>(</m:t>
                    </m:r>
                    <m:r>
                      <m:rPr>
                        <m:nor/>
                      </m:rPr>
                      <a:rPr lang="en-US" altLang="zh-CN" dirty="0">
                        <a:latin typeface="Cambria Math" panose="02040503050406030204" pitchFamily="18" charset="0"/>
                      </a:rPr>
                      <m:t>1</m:t>
                    </m:r>
                    <m:r>
                      <m:rPr>
                        <m:nor/>
                      </m:rPr>
                      <a:rPr lang="en-US" altLang="zh-CN" dirty="0">
                        <a:latin typeface="Cambria Math" panose="02040503050406030204" pitchFamily="18" charset="0"/>
                      </a:rPr>
                      <m:t>,</m:t>
                    </m:r>
                    <m:r>
                      <m:rPr>
                        <m:nor/>
                      </m:rPr>
                      <a:rPr lang="en-US" altLang="zh-CN" dirty="0">
                        <a:latin typeface="Cambria Math" panose="02040503050406030204" pitchFamily="18" charset="0"/>
                      </a:rPr>
                      <m:t>2</m:t>
                    </m:r>
                    <m:r>
                      <m:rPr>
                        <m:nor/>
                      </m:rPr>
                      <a:rPr lang="en-US" altLang="zh-CN" dirty="0">
                        <a:latin typeface="Cambria Math" panose="02040503050406030204" pitchFamily="18" charset="0"/>
                      </a:rPr>
                      <m:t>,</m:t>
                    </m:r>
                    <m:r>
                      <m:rPr>
                        <m:nor/>
                      </m:rPr>
                      <a:rPr lang="en-US" altLang="zh-CN" dirty="0">
                        <a:latin typeface="Cambria Math" panose="02040503050406030204" pitchFamily="18" charset="0"/>
                      </a:rPr>
                      <m:t>5</m:t>
                    </m:r>
                    <m:r>
                      <m:rPr>
                        <m:nor/>
                      </m:rPr>
                      <a:rPr lang="en-US" altLang="zh-CN" dirty="0">
                        <a:latin typeface="Cambria Math" panose="02040503050406030204" pitchFamily="18" charset="0"/>
                      </a:rPr>
                      <m:t>,</m:t>
                    </m:r>
                    <m:r>
                      <m:rPr>
                        <m:nor/>
                      </m:rPr>
                      <a:rPr lang="en-US" altLang="zh-CN" dirty="0">
                        <a:latin typeface="Cambria Math" panose="02040503050406030204" pitchFamily="18" charset="0"/>
                      </a:rPr>
                      <m:t>7</m:t>
                    </m:r>
                    <m:r>
                      <m:rPr>
                        <m:nor/>
                      </m:rPr>
                      <a:rPr lang="en-US" altLang="zh-CN" dirty="0">
                        <a:latin typeface="Cambria Math" panose="02040503050406030204" pitchFamily="18" charset="0"/>
                      </a:rPr>
                      <m:t>,</m:t>
                    </m:r>
                    <m:r>
                      <m:rPr>
                        <m:nor/>
                      </m:rPr>
                      <a:rPr lang="en-US" altLang="zh-CN" dirty="0">
                        <a:latin typeface="Cambria Math" panose="02040503050406030204" pitchFamily="18" charset="0"/>
                      </a:rPr>
                      <m:t>8</m:t>
                    </m:r>
                    <m:r>
                      <m:rPr>
                        <m:nor/>
                      </m:rPr>
                      <a:rPr lang="en-US" altLang="zh-CN" dirty="0">
                        <a:latin typeface="Cambria Math" panose="02040503050406030204" pitchFamily="18" charset="0"/>
                      </a:rPr>
                      <m:t>,</m:t>
                    </m:r>
                    <m:r>
                      <m:rPr>
                        <m:nor/>
                      </m:rPr>
                      <a:rPr lang="en-US" altLang="zh-CN" dirty="0">
                        <a:latin typeface="Cambria Math" panose="02040503050406030204" pitchFamily="18" charset="0"/>
                      </a:rPr>
                      <m:t>10</m:t>
                    </m:r>
                    <m:r>
                      <m:rPr>
                        <m:nor/>
                      </m:rPr>
                      <a:rPr lang="en-US" altLang="zh-CN" dirty="0">
                        <a:latin typeface="Cambria Math" panose="02040503050406030204" pitchFamily="18" charset="0"/>
                      </a:rPr>
                      <m:t>,</m:t>
                    </m:r>
                    <m:r>
                      <m:rPr>
                        <m:nor/>
                      </m:rPr>
                      <a:rPr lang="en-US" altLang="zh-CN" dirty="0">
                        <a:latin typeface="Cambria Math" panose="02040503050406030204" pitchFamily="18" charset="0"/>
                      </a:rPr>
                      <m:t>12</m:t>
                    </m:r>
                    <m:r>
                      <m:rPr>
                        <m:nor/>
                      </m:rPr>
                      <a:rPr lang="en-US" altLang="zh-CN" dirty="0">
                        <a:latin typeface="Cambria Math" panose="02040503050406030204" pitchFamily="18" charset="0"/>
                      </a:rPr>
                      <m:t>,</m:t>
                    </m:r>
                    <m:r>
                      <m:rPr>
                        <m:nor/>
                      </m:rPr>
                      <a:rPr lang="en-US" altLang="zh-CN" dirty="0">
                        <a:latin typeface="Cambria Math" panose="02040503050406030204" pitchFamily="18" charset="0"/>
                      </a:rPr>
                      <m:t>13</m:t>
                    </m:r>
                    <m:r>
                      <m:rPr>
                        <m:nor/>
                      </m:rPr>
                      <a:rPr lang="en-US" altLang="zh-CN" dirty="0">
                        <a:latin typeface="Cambria Math" panose="02040503050406030204" pitchFamily="18" charset="0"/>
                      </a:rPr>
                      <m:t>,</m:t>
                    </m:r>
                    <m:r>
                      <m:rPr>
                        <m:nor/>
                      </m:rPr>
                      <a:rPr lang="en-US" altLang="zh-CN" dirty="0">
                        <a:latin typeface="Cambria Math" panose="02040503050406030204" pitchFamily="18" charset="0"/>
                      </a:rPr>
                      <m:t>15</m:t>
                    </m:r>
                    <m:r>
                      <m:rPr>
                        <m:nor/>
                      </m:rPr>
                      <a:rPr lang="en-US" altLang="zh-CN" dirty="0">
                        <a:latin typeface="Cambria Math" panose="02040503050406030204" pitchFamily="18" charset="0"/>
                      </a:rPr>
                      <m:t>)</m:t>
                    </m:r>
                  </m:oMath>
                </a14:m>
                <a:endParaRPr lang="en-US" altLang="zh-CN" dirty="0"/>
              </a:p>
              <a:p>
                <a:endParaRPr lang="zh-CN" altLang="en-US" sz="1100" dirty="0"/>
              </a:p>
              <a:p>
                <a:pPr marL="349250" lvl="1" indent="0">
                  <a:buNone/>
                </a:pPr>
                <a:r>
                  <a:rPr lang="en-US" altLang="zh-CN" sz="2400" dirty="0"/>
                  <a:t> =</a:t>
                </a:r>
                <a14:m>
                  <m:oMath xmlns:m="http://schemas.openxmlformats.org/officeDocument/2006/math">
                    <m:acc>
                      <m:accPr>
                        <m:chr m:val="̅"/>
                        <m:ctrlPr>
                          <a:rPr lang="en-US" altLang="zh-CN" sz="2400" i="1" smtClean="0">
                            <a:latin typeface="Cambria Math" panose="02040503050406030204" pitchFamily="18" charset="0"/>
                          </a:rPr>
                        </m:ctrlPr>
                      </m:accPr>
                      <m:e>
                        <m:r>
                          <m:rPr>
                            <m:sty m:val="p"/>
                          </m:rPr>
                          <a:rPr lang="en-US" altLang="zh-CN" sz="2400" i="1">
                            <a:latin typeface="Cambria Math" panose="02040503050406030204" pitchFamily="18" charset="0"/>
                          </a:rPr>
                          <m:t>A</m:t>
                        </m:r>
                      </m:e>
                    </m:acc>
                    <m:r>
                      <a:rPr lang="en-US" altLang="zh-CN" sz="2400" i="1" smtClean="0">
                        <a:latin typeface="Cambria Math" panose="02040503050406030204" pitchFamily="18" charset="0"/>
                        <a:ea typeface="Cambria Math" panose="02040503050406030204" pitchFamily="18" charset="0"/>
                      </a:rPr>
                      <m:t>∙</m:t>
                    </m:r>
                    <m:acc>
                      <m:accPr>
                        <m:chr m:val="̅"/>
                        <m:ctrlPr>
                          <a:rPr lang="en-US" altLang="zh-CN" sz="2400" i="1" smtClean="0">
                            <a:latin typeface="Cambria Math" panose="02040503050406030204" pitchFamily="18" charset="0"/>
                            <a:ea typeface="Cambria Math" panose="02040503050406030204" pitchFamily="18" charset="0"/>
                          </a:rPr>
                        </m:ctrlPr>
                      </m:accPr>
                      <m:e>
                        <m:r>
                          <a:rPr lang="en-US" altLang="zh-CN" sz="2400" b="0" i="1" smtClean="0">
                            <a:latin typeface="Cambria Math" panose="02040503050406030204" pitchFamily="18" charset="0"/>
                            <a:ea typeface="Cambria Math" panose="02040503050406030204" pitchFamily="18" charset="0"/>
                          </a:rPr>
                          <m:t>𝐵</m:t>
                        </m:r>
                      </m:e>
                    </m:acc>
                    <m:r>
                      <a:rPr lang="en-US" altLang="zh-CN" sz="2400" i="1" smtClean="0">
                        <a:latin typeface="Cambria Math" panose="02040503050406030204" pitchFamily="18" charset="0"/>
                        <a:ea typeface="Cambria Math" panose="02040503050406030204" pitchFamily="18" charset="0"/>
                      </a:rPr>
                      <m:t>∙</m:t>
                    </m:r>
                    <m:acc>
                      <m:accPr>
                        <m:chr m:val="̅"/>
                        <m:ctrlPr>
                          <a:rPr lang="en-US" altLang="zh-CN" sz="2400" i="1" smtClean="0">
                            <a:latin typeface="Cambria Math" panose="02040503050406030204" pitchFamily="18" charset="0"/>
                            <a:ea typeface="Cambria Math" panose="02040503050406030204" pitchFamily="18" charset="0"/>
                          </a:rPr>
                        </m:ctrlPr>
                      </m:accPr>
                      <m:e>
                        <m:r>
                          <a:rPr lang="en-US" altLang="zh-CN" sz="2400" b="0" i="1" smtClean="0">
                            <a:latin typeface="Cambria Math" panose="02040503050406030204" pitchFamily="18" charset="0"/>
                            <a:ea typeface="Cambria Math" panose="02040503050406030204" pitchFamily="18" charset="0"/>
                          </a:rPr>
                          <m:t>𝐶</m:t>
                        </m:r>
                      </m:e>
                    </m:acc>
                    <m:r>
                      <a:rPr lang="en-US" altLang="zh-CN" sz="240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𝐷</m:t>
                    </m:r>
                    <m:r>
                      <a:rPr lang="en-US" altLang="zh-CN" sz="2400" b="0" i="1" smtClean="0">
                        <a:latin typeface="Cambria Math" panose="02040503050406030204" pitchFamily="18" charset="0"/>
                        <a:ea typeface="Cambria Math" panose="02040503050406030204" pitchFamily="18" charset="0"/>
                      </a:rPr>
                      <m:t>+</m:t>
                    </m:r>
                    <m:acc>
                      <m:accPr>
                        <m:chr m:val="̅"/>
                        <m:ctrlPr>
                          <a:rPr lang="en-US" altLang="zh-CN" sz="2400" i="1">
                            <a:latin typeface="Cambria Math" panose="02040503050406030204" pitchFamily="18" charset="0"/>
                          </a:rPr>
                        </m:ctrlPr>
                      </m:accPr>
                      <m:e>
                        <m:r>
                          <m:rPr>
                            <m:sty m:val="p"/>
                          </m:rPr>
                          <a:rPr lang="en-US" altLang="zh-CN" sz="2400" i="1">
                            <a:latin typeface="Cambria Math" panose="02040503050406030204" pitchFamily="18" charset="0"/>
                          </a:rPr>
                          <m:t>A</m:t>
                        </m:r>
                      </m:e>
                    </m:acc>
                    <m:r>
                      <a:rPr lang="en-US" altLang="zh-CN" sz="2400" i="1">
                        <a:latin typeface="Cambria Math" panose="02040503050406030204" pitchFamily="18" charset="0"/>
                        <a:ea typeface="Cambria Math" panose="02040503050406030204" pitchFamily="18" charset="0"/>
                      </a:rPr>
                      <m:t>∙</m:t>
                    </m:r>
                    <m:acc>
                      <m:accPr>
                        <m:chr m:val="̅"/>
                        <m:ctrlPr>
                          <a:rPr lang="en-US" altLang="zh-CN" sz="2400" i="1">
                            <a:latin typeface="Cambria Math" panose="02040503050406030204" pitchFamily="18" charset="0"/>
                            <a:ea typeface="Cambria Math" panose="02040503050406030204" pitchFamily="18" charset="0"/>
                          </a:rPr>
                        </m:ctrlPr>
                      </m:accPr>
                      <m:e>
                        <m:r>
                          <a:rPr lang="en-US" altLang="zh-CN" sz="2400" i="1">
                            <a:latin typeface="Cambria Math" panose="02040503050406030204" pitchFamily="18" charset="0"/>
                            <a:ea typeface="Cambria Math" panose="02040503050406030204" pitchFamily="18" charset="0"/>
                          </a:rPr>
                          <m:t>𝐵</m:t>
                        </m:r>
                      </m:e>
                    </m:acc>
                    <m:r>
                      <a:rPr lang="en-US" altLang="zh-CN" sz="2400" i="1">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𝐶</m:t>
                    </m:r>
                    <m:r>
                      <a:rPr lang="en-US" altLang="zh-CN" sz="2400" b="0" i="1" smtClean="0">
                        <a:latin typeface="Cambria Math" panose="02040503050406030204" pitchFamily="18" charset="0"/>
                        <a:ea typeface="Cambria Math" panose="02040503050406030204" pitchFamily="18" charset="0"/>
                      </a:rPr>
                      <m:t>∙</m:t>
                    </m:r>
                    <m:acc>
                      <m:accPr>
                        <m:chr m:val="̅"/>
                        <m:ctrlPr>
                          <a:rPr lang="en-US" altLang="zh-CN" sz="2400" b="0" i="1" smtClean="0">
                            <a:latin typeface="Cambria Math" panose="02040503050406030204" pitchFamily="18" charset="0"/>
                            <a:ea typeface="Cambria Math" panose="02040503050406030204" pitchFamily="18" charset="0"/>
                          </a:rPr>
                        </m:ctrlPr>
                      </m:accPr>
                      <m:e>
                        <m:r>
                          <a:rPr lang="en-US" altLang="zh-CN" sz="2400" b="0" i="1" smtClean="0">
                            <a:latin typeface="Cambria Math" panose="02040503050406030204" pitchFamily="18" charset="0"/>
                            <a:ea typeface="Cambria Math" panose="02040503050406030204" pitchFamily="18" charset="0"/>
                          </a:rPr>
                          <m:t>𝐷</m:t>
                        </m:r>
                      </m:e>
                    </m:acc>
                    <m:r>
                      <a:rPr lang="en-US" altLang="zh-CN" sz="2400" b="0" i="1" smtClean="0">
                        <a:latin typeface="Cambria Math" panose="02040503050406030204" pitchFamily="18" charset="0"/>
                      </a:rPr>
                      <m:t>+</m:t>
                    </m:r>
                    <m:acc>
                      <m:accPr>
                        <m:chr m:val="̅"/>
                        <m:ctrlPr>
                          <a:rPr lang="en-US" altLang="zh-CN" sz="2400" b="0" i="1" smtClean="0">
                            <a:latin typeface="Cambria Math" panose="02040503050406030204" pitchFamily="18" charset="0"/>
                          </a:rPr>
                        </m:ctrlPr>
                      </m:accPr>
                      <m:e>
                        <m:r>
                          <a:rPr lang="en-US" altLang="zh-CN" sz="2400" b="0" i="1" smtClean="0">
                            <a:latin typeface="Cambria Math" panose="02040503050406030204" pitchFamily="18" charset="0"/>
                          </a:rPr>
                          <m:t>𝐴</m:t>
                        </m:r>
                      </m:e>
                    </m:acc>
                    <m:r>
                      <a:rPr lang="en-US" altLang="zh-CN" sz="240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𝐵</m:t>
                    </m:r>
                    <m:r>
                      <a:rPr lang="en-US" altLang="zh-CN" sz="2400" b="0" i="1" smtClean="0">
                        <a:latin typeface="Cambria Math" panose="02040503050406030204" pitchFamily="18" charset="0"/>
                        <a:ea typeface="Cambria Math" panose="02040503050406030204" pitchFamily="18" charset="0"/>
                      </a:rPr>
                      <m:t>∙</m:t>
                    </m:r>
                    <m:acc>
                      <m:accPr>
                        <m:chr m:val="̅"/>
                        <m:ctrlPr>
                          <a:rPr lang="en-US" altLang="zh-CN" sz="2400" b="0" i="1" smtClean="0">
                            <a:latin typeface="Cambria Math" panose="02040503050406030204" pitchFamily="18" charset="0"/>
                            <a:ea typeface="Cambria Math" panose="02040503050406030204" pitchFamily="18" charset="0"/>
                          </a:rPr>
                        </m:ctrlPr>
                      </m:accPr>
                      <m:e>
                        <m:r>
                          <a:rPr lang="en-US" altLang="zh-CN" sz="2400" b="0" i="1" smtClean="0">
                            <a:latin typeface="Cambria Math" panose="02040503050406030204" pitchFamily="18" charset="0"/>
                            <a:ea typeface="Cambria Math" panose="02040503050406030204" pitchFamily="18" charset="0"/>
                          </a:rPr>
                          <m:t>𝐶</m:t>
                        </m:r>
                      </m:e>
                    </m:acc>
                    <m:r>
                      <a:rPr lang="en-US" altLang="zh-CN" sz="240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𝐷</m:t>
                    </m:r>
                    <m:r>
                      <a:rPr lang="en-US" altLang="zh-CN" sz="2400" b="0" i="1" smtClean="0">
                        <a:latin typeface="Cambria Math" panose="02040503050406030204" pitchFamily="18" charset="0"/>
                        <a:ea typeface="Cambria Math" panose="02040503050406030204" pitchFamily="18" charset="0"/>
                      </a:rPr>
                      <m:t>+</m:t>
                    </m:r>
                    <m:acc>
                      <m:accPr>
                        <m:chr m:val="̅"/>
                        <m:ctrlPr>
                          <a:rPr lang="en-US" altLang="zh-CN" sz="2400" b="0" i="1" smtClean="0">
                            <a:latin typeface="Cambria Math" panose="02040503050406030204" pitchFamily="18" charset="0"/>
                            <a:ea typeface="Cambria Math" panose="02040503050406030204" pitchFamily="18" charset="0"/>
                          </a:rPr>
                        </m:ctrlPr>
                      </m:accPr>
                      <m:e>
                        <m:r>
                          <a:rPr lang="en-US" altLang="zh-CN" sz="2400" b="0" i="1" smtClean="0">
                            <a:latin typeface="Cambria Math" panose="02040503050406030204" pitchFamily="18" charset="0"/>
                            <a:ea typeface="Cambria Math" panose="02040503050406030204" pitchFamily="18" charset="0"/>
                          </a:rPr>
                          <m:t>𝐴</m:t>
                        </m:r>
                      </m:e>
                    </m:acc>
                    <m:r>
                      <a:rPr lang="en-US" altLang="zh-CN" sz="240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𝐵</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𝐶</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𝐷</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𝐴</m:t>
                    </m:r>
                    <m:r>
                      <a:rPr lang="en-US" altLang="zh-CN" sz="2400" b="0" i="1" smtClean="0">
                        <a:latin typeface="Cambria Math" panose="02040503050406030204" pitchFamily="18" charset="0"/>
                        <a:ea typeface="Cambria Math" panose="02040503050406030204" pitchFamily="18" charset="0"/>
                      </a:rPr>
                      <m:t>∙</m:t>
                    </m:r>
                    <m:acc>
                      <m:accPr>
                        <m:chr m:val="̅"/>
                        <m:ctrlPr>
                          <a:rPr lang="en-US" altLang="zh-CN" sz="2400" b="0" i="1" smtClean="0">
                            <a:latin typeface="Cambria Math" panose="02040503050406030204" pitchFamily="18" charset="0"/>
                            <a:ea typeface="Cambria Math" panose="02040503050406030204" pitchFamily="18" charset="0"/>
                          </a:rPr>
                        </m:ctrlPr>
                      </m:accPr>
                      <m:e>
                        <m:r>
                          <a:rPr lang="en-US" altLang="zh-CN" sz="2400" b="0" i="1" smtClean="0">
                            <a:latin typeface="Cambria Math" panose="02040503050406030204" pitchFamily="18" charset="0"/>
                            <a:ea typeface="Cambria Math" panose="02040503050406030204" pitchFamily="18" charset="0"/>
                          </a:rPr>
                          <m:t>𝐵</m:t>
                        </m:r>
                      </m:e>
                    </m:acc>
                    <m:r>
                      <a:rPr lang="en-US" altLang="zh-CN" sz="2400" i="1" smtClean="0">
                        <a:latin typeface="Cambria Math" panose="02040503050406030204" pitchFamily="18" charset="0"/>
                        <a:ea typeface="Cambria Math" panose="02040503050406030204" pitchFamily="18" charset="0"/>
                      </a:rPr>
                      <m:t>∙</m:t>
                    </m:r>
                    <m:acc>
                      <m:accPr>
                        <m:chr m:val="̅"/>
                        <m:ctrlPr>
                          <a:rPr lang="en-US" altLang="zh-CN" sz="2400" i="1" smtClean="0">
                            <a:latin typeface="Cambria Math" panose="02040503050406030204" pitchFamily="18" charset="0"/>
                            <a:ea typeface="Cambria Math" panose="02040503050406030204" pitchFamily="18" charset="0"/>
                          </a:rPr>
                        </m:ctrlPr>
                      </m:accPr>
                      <m:e>
                        <m:r>
                          <a:rPr lang="en-US" altLang="zh-CN" sz="2400" b="0" i="1" smtClean="0">
                            <a:latin typeface="Cambria Math" panose="02040503050406030204" pitchFamily="18" charset="0"/>
                            <a:ea typeface="Cambria Math" panose="02040503050406030204" pitchFamily="18" charset="0"/>
                          </a:rPr>
                          <m:t>𝐶</m:t>
                        </m:r>
                      </m:e>
                    </m:acc>
                    <m:r>
                      <a:rPr lang="en-US" altLang="zh-CN" sz="2400" i="1" smtClean="0">
                        <a:latin typeface="Cambria Math" panose="02040503050406030204" pitchFamily="18" charset="0"/>
                        <a:ea typeface="Cambria Math" panose="02040503050406030204" pitchFamily="18" charset="0"/>
                      </a:rPr>
                      <m:t>∙</m:t>
                    </m:r>
                    <m:acc>
                      <m:accPr>
                        <m:chr m:val="̅"/>
                        <m:ctrlPr>
                          <a:rPr lang="en-US" altLang="zh-CN" sz="2400" i="1" smtClean="0">
                            <a:latin typeface="Cambria Math" panose="02040503050406030204" pitchFamily="18" charset="0"/>
                            <a:ea typeface="Cambria Math" panose="02040503050406030204" pitchFamily="18" charset="0"/>
                          </a:rPr>
                        </m:ctrlPr>
                      </m:accPr>
                      <m:e>
                        <m:r>
                          <a:rPr lang="en-US" altLang="zh-CN" sz="2400" b="0" i="1" smtClean="0">
                            <a:latin typeface="Cambria Math" panose="02040503050406030204" pitchFamily="18" charset="0"/>
                            <a:ea typeface="Cambria Math" panose="02040503050406030204" pitchFamily="18" charset="0"/>
                          </a:rPr>
                          <m:t>𝐷</m:t>
                        </m:r>
                      </m:e>
                    </m:acc>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𝐴</m:t>
                    </m:r>
                    <m:r>
                      <a:rPr lang="en-US" altLang="zh-CN" sz="2400" b="0" i="1" smtClean="0">
                        <a:latin typeface="Cambria Math" panose="02040503050406030204" pitchFamily="18" charset="0"/>
                        <a:ea typeface="Cambria Math" panose="02040503050406030204" pitchFamily="18" charset="0"/>
                      </a:rPr>
                      <m:t>∙</m:t>
                    </m:r>
                    <m:acc>
                      <m:accPr>
                        <m:chr m:val="̅"/>
                        <m:ctrlPr>
                          <a:rPr lang="en-US" altLang="zh-CN" sz="2400" b="0" i="1" smtClean="0">
                            <a:latin typeface="Cambria Math" panose="02040503050406030204" pitchFamily="18" charset="0"/>
                            <a:ea typeface="Cambria Math" panose="02040503050406030204" pitchFamily="18" charset="0"/>
                          </a:rPr>
                        </m:ctrlPr>
                      </m:accPr>
                      <m:e>
                        <m:r>
                          <a:rPr lang="en-US" altLang="zh-CN" sz="2400" b="0" i="1" smtClean="0">
                            <a:latin typeface="Cambria Math" panose="02040503050406030204" pitchFamily="18" charset="0"/>
                            <a:ea typeface="Cambria Math" panose="02040503050406030204" pitchFamily="18" charset="0"/>
                          </a:rPr>
                          <m:t>𝐵</m:t>
                        </m:r>
                      </m:e>
                    </m:acc>
                    <m:r>
                      <a:rPr lang="en-US" altLang="zh-CN" sz="240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𝐶</m:t>
                    </m:r>
                    <m:r>
                      <a:rPr lang="en-US" altLang="zh-CN" sz="2400" b="0" i="1" smtClean="0">
                        <a:latin typeface="Cambria Math" panose="02040503050406030204" pitchFamily="18" charset="0"/>
                        <a:ea typeface="Cambria Math" panose="02040503050406030204" pitchFamily="18" charset="0"/>
                      </a:rPr>
                      <m:t>∙</m:t>
                    </m:r>
                    <m:acc>
                      <m:accPr>
                        <m:chr m:val="̅"/>
                        <m:ctrlPr>
                          <a:rPr lang="en-US" altLang="zh-CN" sz="2400" b="0" i="1" smtClean="0">
                            <a:latin typeface="Cambria Math" panose="02040503050406030204" pitchFamily="18" charset="0"/>
                            <a:ea typeface="Cambria Math" panose="02040503050406030204" pitchFamily="18" charset="0"/>
                          </a:rPr>
                        </m:ctrlPr>
                      </m:accPr>
                      <m:e>
                        <m:r>
                          <a:rPr lang="en-US" altLang="zh-CN" sz="2400" b="0" i="1" smtClean="0">
                            <a:latin typeface="Cambria Math" panose="02040503050406030204" pitchFamily="18" charset="0"/>
                            <a:ea typeface="Cambria Math" panose="02040503050406030204" pitchFamily="18" charset="0"/>
                          </a:rPr>
                          <m:t>𝐷</m:t>
                        </m:r>
                      </m:e>
                    </m:acc>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𝐴</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𝐵</m:t>
                    </m:r>
                    <m:r>
                      <a:rPr lang="en-US" altLang="zh-CN" sz="2400" b="0" i="1" smtClean="0">
                        <a:latin typeface="Cambria Math" panose="02040503050406030204" pitchFamily="18" charset="0"/>
                        <a:ea typeface="Cambria Math" panose="02040503050406030204" pitchFamily="18" charset="0"/>
                      </a:rPr>
                      <m:t>∙</m:t>
                    </m:r>
                    <m:acc>
                      <m:accPr>
                        <m:chr m:val="̅"/>
                        <m:ctrlPr>
                          <a:rPr lang="en-US" altLang="zh-CN" sz="2400" b="0" i="1" smtClean="0">
                            <a:latin typeface="Cambria Math" panose="02040503050406030204" pitchFamily="18" charset="0"/>
                            <a:ea typeface="Cambria Math" panose="02040503050406030204" pitchFamily="18" charset="0"/>
                          </a:rPr>
                        </m:ctrlPr>
                      </m:accPr>
                      <m:e>
                        <m:r>
                          <a:rPr lang="en-US" altLang="zh-CN" sz="2400" b="0" i="1" smtClean="0">
                            <a:latin typeface="Cambria Math" panose="02040503050406030204" pitchFamily="18" charset="0"/>
                            <a:ea typeface="Cambria Math" panose="02040503050406030204" pitchFamily="18" charset="0"/>
                          </a:rPr>
                          <m:t>𝐶</m:t>
                        </m:r>
                      </m:e>
                    </m:acc>
                    <m:r>
                      <a:rPr lang="en-US" altLang="zh-CN" sz="2400" i="1" smtClean="0">
                        <a:latin typeface="Cambria Math" panose="02040503050406030204" pitchFamily="18" charset="0"/>
                        <a:ea typeface="Cambria Math" panose="02040503050406030204" pitchFamily="18" charset="0"/>
                      </a:rPr>
                      <m:t>∙</m:t>
                    </m:r>
                    <m:acc>
                      <m:accPr>
                        <m:chr m:val="̅"/>
                        <m:ctrlPr>
                          <a:rPr lang="en-US" altLang="zh-CN" sz="2400" i="1" smtClean="0">
                            <a:latin typeface="Cambria Math" panose="02040503050406030204" pitchFamily="18" charset="0"/>
                            <a:ea typeface="Cambria Math" panose="02040503050406030204" pitchFamily="18" charset="0"/>
                          </a:rPr>
                        </m:ctrlPr>
                      </m:accPr>
                      <m:e>
                        <m:r>
                          <a:rPr lang="en-US" altLang="zh-CN" sz="2400" b="0" i="1" smtClean="0">
                            <a:latin typeface="Cambria Math" panose="02040503050406030204" pitchFamily="18" charset="0"/>
                            <a:ea typeface="Cambria Math" panose="02040503050406030204" pitchFamily="18" charset="0"/>
                          </a:rPr>
                          <m:t>𝐷</m:t>
                        </m:r>
                      </m:e>
                    </m:acc>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𝐴</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𝐵</m:t>
                    </m:r>
                    <m:r>
                      <a:rPr lang="en-US" altLang="zh-CN" sz="2400" b="0" i="1" smtClean="0">
                        <a:latin typeface="Cambria Math" panose="02040503050406030204" pitchFamily="18" charset="0"/>
                        <a:ea typeface="Cambria Math" panose="02040503050406030204" pitchFamily="18" charset="0"/>
                      </a:rPr>
                      <m:t>∙</m:t>
                    </m:r>
                    <m:acc>
                      <m:accPr>
                        <m:chr m:val="̅"/>
                        <m:ctrlPr>
                          <a:rPr lang="en-US" altLang="zh-CN" sz="2400" b="0" i="1" smtClean="0">
                            <a:latin typeface="Cambria Math" panose="02040503050406030204" pitchFamily="18" charset="0"/>
                            <a:ea typeface="Cambria Math" panose="02040503050406030204" pitchFamily="18" charset="0"/>
                          </a:rPr>
                        </m:ctrlPr>
                      </m:accPr>
                      <m:e>
                        <m:r>
                          <a:rPr lang="en-US" altLang="zh-CN" sz="2400" b="0" i="1" smtClean="0">
                            <a:latin typeface="Cambria Math" panose="02040503050406030204" pitchFamily="18" charset="0"/>
                            <a:ea typeface="Cambria Math" panose="02040503050406030204" pitchFamily="18" charset="0"/>
                          </a:rPr>
                          <m:t>𝐶</m:t>
                        </m:r>
                      </m:e>
                    </m:acc>
                    <m:r>
                      <a:rPr lang="en-US" altLang="zh-CN" sz="240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𝐷</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𝐴</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𝐵</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𝐶</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𝐷</m:t>
                    </m:r>
                  </m:oMath>
                </a14:m>
                <a:endParaRPr lang="en-US" altLang="zh-CN" sz="2400" b="0" dirty="0">
                  <a:ea typeface="Cambria Math" panose="02040503050406030204" pitchFamily="18" charset="0"/>
                </a:endParaRPr>
              </a:p>
              <a:p>
                <a:pPr marL="349250" lvl="1" indent="0">
                  <a:buNone/>
                </a:pPr>
                <a:r>
                  <a:rPr lang="en-US" altLang="zh-CN" sz="2400" dirty="0"/>
                  <a:t>=</a:t>
                </a:r>
                <a14:m>
                  <m:oMath xmlns:m="http://schemas.openxmlformats.org/officeDocument/2006/math">
                    <m:acc>
                      <m:accPr>
                        <m:chr m:val="̅"/>
                        <m:ctrlPr>
                          <a:rPr lang="en-US" altLang="zh-CN" sz="2400" i="1" smtClean="0">
                            <a:latin typeface="Cambria Math" panose="02040503050406030204" pitchFamily="18" charset="0"/>
                          </a:rPr>
                        </m:ctrlPr>
                      </m:accPr>
                      <m:e>
                        <m:r>
                          <a:rPr lang="en-US" altLang="zh-CN" sz="2400" b="0" i="1" smtClean="0">
                            <a:latin typeface="Cambria Math" panose="02040503050406030204" pitchFamily="18" charset="0"/>
                          </a:rPr>
                          <m:t>𝐴</m:t>
                        </m:r>
                      </m:e>
                    </m:acc>
                    <m:r>
                      <a:rPr lang="en-US" altLang="zh-CN" sz="2400" i="1" smtClean="0">
                        <a:latin typeface="Cambria Math" panose="02040503050406030204" pitchFamily="18" charset="0"/>
                        <a:ea typeface="Cambria Math" panose="02040503050406030204" pitchFamily="18" charset="0"/>
                      </a:rPr>
                      <m:t>∙</m:t>
                    </m:r>
                    <m:acc>
                      <m:accPr>
                        <m:chr m:val="̅"/>
                        <m:ctrlPr>
                          <a:rPr lang="en-US" altLang="zh-CN" sz="2400" i="1" smtClean="0">
                            <a:latin typeface="Cambria Math" panose="02040503050406030204" pitchFamily="18" charset="0"/>
                            <a:ea typeface="Cambria Math" panose="02040503050406030204" pitchFamily="18" charset="0"/>
                          </a:rPr>
                        </m:ctrlPr>
                      </m:accPr>
                      <m:e>
                        <m:r>
                          <a:rPr lang="en-US" altLang="zh-CN" sz="2400" b="0" i="1" smtClean="0">
                            <a:latin typeface="Cambria Math" panose="02040503050406030204" pitchFamily="18" charset="0"/>
                            <a:ea typeface="Cambria Math" panose="02040503050406030204" pitchFamily="18" charset="0"/>
                          </a:rPr>
                          <m:t>𝐶</m:t>
                        </m:r>
                      </m:e>
                    </m:acc>
                    <m:r>
                      <a:rPr lang="en-US" altLang="zh-CN" sz="240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𝐷</m:t>
                    </m:r>
                    <m:r>
                      <a:rPr lang="en-US" altLang="zh-CN" sz="2400" b="0" i="1" smtClean="0">
                        <a:latin typeface="Cambria Math" panose="02040503050406030204" pitchFamily="18" charset="0"/>
                        <a:ea typeface="Cambria Math" panose="02040503050406030204" pitchFamily="18" charset="0"/>
                      </a:rPr>
                      <m:t>+</m:t>
                    </m:r>
                    <m:acc>
                      <m:accPr>
                        <m:chr m:val="̅"/>
                        <m:ctrlPr>
                          <a:rPr lang="en-US" altLang="zh-CN" sz="2400" b="0" i="1" smtClean="0">
                            <a:latin typeface="Cambria Math" panose="02040503050406030204" pitchFamily="18" charset="0"/>
                            <a:ea typeface="Cambria Math" panose="02040503050406030204" pitchFamily="18" charset="0"/>
                          </a:rPr>
                        </m:ctrlPr>
                      </m:accPr>
                      <m:e>
                        <m:r>
                          <a:rPr lang="en-US" altLang="zh-CN" sz="2400" b="0" i="1" smtClean="0">
                            <a:latin typeface="Cambria Math" panose="02040503050406030204" pitchFamily="18" charset="0"/>
                            <a:ea typeface="Cambria Math" panose="02040503050406030204" pitchFamily="18" charset="0"/>
                          </a:rPr>
                          <m:t>𝐵</m:t>
                        </m:r>
                      </m:e>
                    </m:acc>
                    <m:r>
                      <a:rPr lang="en-US" altLang="zh-CN" sz="240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𝐶</m:t>
                    </m:r>
                    <m:r>
                      <a:rPr lang="en-US" altLang="zh-CN" sz="2400" b="0" i="1" smtClean="0">
                        <a:latin typeface="Cambria Math" panose="02040503050406030204" pitchFamily="18" charset="0"/>
                        <a:ea typeface="Cambria Math" panose="02040503050406030204" pitchFamily="18" charset="0"/>
                      </a:rPr>
                      <m:t>∙</m:t>
                    </m:r>
                    <m:acc>
                      <m:accPr>
                        <m:chr m:val="̅"/>
                        <m:ctrlPr>
                          <a:rPr lang="en-US" altLang="zh-CN" sz="2400" b="0" i="1" smtClean="0">
                            <a:latin typeface="Cambria Math" panose="02040503050406030204" pitchFamily="18" charset="0"/>
                            <a:ea typeface="Cambria Math" panose="02040503050406030204" pitchFamily="18" charset="0"/>
                          </a:rPr>
                        </m:ctrlPr>
                      </m:accPr>
                      <m:e>
                        <m:r>
                          <a:rPr lang="en-US" altLang="zh-CN" sz="2400" b="0" i="1" smtClean="0">
                            <a:latin typeface="Cambria Math" panose="02040503050406030204" pitchFamily="18" charset="0"/>
                            <a:ea typeface="Cambria Math" panose="02040503050406030204" pitchFamily="18" charset="0"/>
                          </a:rPr>
                          <m:t>𝐷</m:t>
                        </m:r>
                      </m:e>
                    </m:acc>
                    <m:r>
                      <a:rPr lang="en-US" altLang="zh-CN" sz="2400" b="0" i="1" smtClean="0">
                        <a:latin typeface="Cambria Math" panose="02040503050406030204" pitchFamily="18" charset="0"/>
                      </a:rPr>
                      <m:t>+</m:t>
                    </m:r>
                    <m:acc>
                      <m:accPr>
                        <m:chr m:val="̅"/>
                        <m:ctrlPr>
                          <a:rPr lang="en-US" altLang="zh-CN" sz="2400" b="0" i="1" smtClean="0">
                            <a:latin typeface="Cambria Math" panose="02040503050406030204" pitchFamily="18" charset="0"/>
                          </a:rPr>
                        </m:ctrlPr>
                      </m:accPr>
                      <m:e>
                        <m:r>
                          <a:rPr lang="en-US" altLang="zh-CN" sz="2400" b="0" i="1" smtClean="0">
                            <a:latin typeface="Cambria Math" panose="02040503050406030204" pitchFamily="18" charset="0"/>
                          </a:rPr>
                          <m:t>𝐴</m:t>
                        </m:r>
                      </m:e>
                    </m:acc>
                    <m:r>
                      <a:rPr lang="en-US" altLang="zh-CN" sz="240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𝐵</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𝐷</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𝐵</m:t>
                    </m:r>
                    <m:r>
                      <a:rPr lang="en-US" altLang="zh-CN" sz="2400" b="0" i="1" smtClean="0">
                        <a:latin typeface="Cambria Math" panose="02040503050406030204" pitchFamily="18" charset="0"/>
                        <a:ea typeface="Cambria Math" panose="02040503050406030204" pitchFamily="18" charset="0"/>
                      </a:rPr>
                      <m:t>∙</m:t>
                    </m:r>
                    <m:acc>
                      <m:accPr>
                        <m:chr m:val="̅"/>
                        <m:ctrlPr>
                          <a:rPr lang="en-US" altLang="zh-CN" sz="2400" b="0" i="1" smtClean="0">
                            <a:latin typeface="Cambria Math" panose="02040503050406030204" pitchFamily="18" charset="0"/>
                            <a:ea typeface="Cambria Math" panose="02040503050406030204" pitchFamily="18" charset="0"/>
                          </a:rPr>
                        </m:ctrlPr>
                      </m:accPr>
                      <m:e>
                        <m:r>
                          <a:rPr lang="en-US" altLang="zh-CN" sz="2400" b="0" i="1" smtClean="0">
                            <a:latin typeface="Cambria Math" panose="02040503050406030204" pitchFamily="18" charset="0"/>
                            <a:ea typeface="Cambria Math" panose="02040503050406030204" pitchFamily="18" charset="0"/>
                          </a:rPr>
                          <m:t>𝐶</m:t>
                        </m:r>
                      </m:e>
                    </m:acc>
                    <m:r>
                      <a:rPr lang="en-US" altLang="zh-CN" sz="240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𝐷</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rPr>
                      <m:t>𝐵</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𝐶</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𝐷</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𝐴</m:t>
                    </m:r>
                    <m:r>
                      <a:rPr lang="en-US" altLang="zh-CN" sz="2400" b="0" i="1" smtClean="0">
                        <a:latin typeface="Cambria Math" panose="02040503050406030204" pitchFamily="18" charset="0"/>
                        <a:ea typeface="Cambria Math" panose="02040503050406030204" pitchFamily="18" charset="0"/>
                      </a:rPr>
                      <m:t>∙</m:t>
                    </m:r>
                    <m:acc>
                      <m:accPr>
                        <m:chr m:val="̅"/>
                        <m:ctrlPr>
                          <a:rPr lang="en-US" altLang="zh-CN" sz="2400" b="0" i="1" smtClean="0">
                            <a:latin typeface="Cambria Math" panose="02040503050406030204" pitchFamily="18" charset="0"/>
                            <a:ea typeface="Cambria Math" panose="02040503050406030204" pitchFamily="18" charset="0"/>
                          </a:rPr>
                        </m:ctrlPr>
                      </m:accPr>
                      <m:e>
                        <m:r>
                          <a:rPr lang="en-US" altLang="zh-CN" sz="2400" b="0" i="1" smtClean="0">
                            <a:latin typeface="Cambria Math" panose="02040503050406030204" pitchFamily="18" charset="0"/>
                            <a:ea typeface="Cambria Math" panose="02040503050406030204" pitchFamily="18" charset="0"/>
                          </a:rPr>
                          <m:t>𝐵</m:t>
                        </m:r>
                      </m:e>
                    </m:acc>
                    <m:r>
                      <a:rPr lang="en-US" altLang="zh-CN" sz="2400" i="1" smtClean="0">
                        <a:latin typeface="Cambria Math" panose="02040503050406030204" pitchFamily="18" charset="0"/>
                        <a:ea typeface="Cambria Math" panose="02040503050406030204" pitchFamily="18" charset="0"/>
                      </a:rPr>
                      <m:t>∙</m:t>
                    </m:r>
                    <m:acc>
                      <m:accPr>
                        <m:chr m:val="̅"/>
                        <m:ctrlPr>
                          <a:rPr lang="en-US" altLang="zh-CN" sz="2400" i="1" smtClean="0">
                            <a:latin typeface="Cambria Math" panose="02040503050406030204" pitchFamily="18" charset="0"/>
                            <a:ea typeface="Cambria Math" panose="02040503050406030204" pitchFamily="18" charset="0"/>
                          </a:rPr>
                        </m:ctrlPr>
                      </m:accPr>
                      <m:e>
                        <m:r>
                          <a:rPr lang="en-US" altLang="zh-CN" sz="2400" b="0" i="1" smtClean="0">
                            <a:latin typeface="Cambria Math" panose="02040503050406030204" pitchFamily="18" charset="0"/>
                            <a:ea typeface="Cambria Math" panose="02040503050406030204" pitchFamily="18" charset="0"/>
                          </a:rPr>
                          <m:t>𝐷</m:t>
                        </m:r>
                      </m:e>
                    </m:acc>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𝐴</m:t>
                    </m:r>
                    <m:r>
                      <a:rPr lang="en-US" altLang="zh-CN" sz="2400" b="0" i="1" smtClean="0">
                        <a:latin typeface="Cambria Math" panose="02040503050406030204" pitchFamily="18" charset="0"/>
                        <a:ea typeface="Cambria Math" panose="02040503050406030204" pitchFamily="18" charset="0"/>
                      </a:rPr>
                      <m:t>∙</m:t>
                    </m:r>
                    <m:acc>
                      <m:accPr>
                        <m:chr m:val="̅"/>
                        <m:ctrlPr>
                          <a:rPr lang="en-US" altLang="zh-CN" sz="2400" b="0" i="1" smtClean="0">
                            <a:latin typeface="Cambria Math" panose="02040503050406030204" pitchFamily="18" charset="0"/>
                            <a:ea typeface="Cambria Math" panose="02040503050406030204" pitchFamily="18" charset="0"/>
                          </a:rPr>
                        </m:ctrlPr>
                      </m:accPr>
                      <m:e>
                        <m:r>
                          <a:rPr lang="en-US" altLang="zh-CN" sz="2400" b="0" i="1" smtClean="0">
                            <a:latin typeface="Cambria Math" panose="02040503050406030204" pitchFamily="18" charset="0"/>
                            <a:ea typeface="Cambria Math" panose="02040503050406030204" pitchFamily="18" charset="0"/>
                          </a:rPr>
                          <m:t>𝐶</m:t>
                        </m:r>
                      </m:e>
                    </m:acc>
                    <m:r>
                      <a:rPr lang="en-US" altLang="zh-CN" sz="2400" i="1" smtClean="0">
                        <a:latin typeface="Cambria Math" panose="02040503050406030204" pitchFamily="18" charset="0"/>
                        <a:ea typeface="Cambria Math" panose="02040503050406030204" pitchFamily="18" charset="0"/>
                      </a:rPr>
                      <m:t>∙</m:t>
                    </m:r>
                    <m:acc>
                      <m:accPr>
                        <m:chr m:val="̅"/>
                        <m:ctrlPr>
                          <a:rPr lang="en-US" altLang="zh-CN" sz="2400" i="1" smtClean="0">
                            <a:latin typeface="Cambria Math" panose="02040503050406030204" pitchFamily="18" charset="0"/>
                            <a:ea typeface="Cambria Math" panose="02040503050406030204" pitchFamily="18" charset="0"/>
                          </a:rPr>
                        </m:ctrlPr>
                      </m:accPr>
                      <m:e>
                        <m:r>
                          <a:rPr lang="en-US" altLang="zh-CN" sz="2400" b="0" i="1" smtClean="0">
                            <a:latin typeface="Cambria Math" panose="02040503050406030204" pitchFamily="18" charset="0"/>
                            <a:ea typeface="Cambria Math" panose="02040503050406030204" pitchFamily="18" charset="0"/>
                          </a:rPr>
                          <m:t>𝐷</m:t>
                        </m:r>
                      </m:e>
                    </m:acc>
                    <m:r>
                      <a:rPr lang="en-US" altLang="zh-CN" sz="2400" b="0" i="1" smtClean="0">
                        <a:latin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𝐴</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𝐵</m:t>
                    </m:r>
                    <m:r>
                      <a:rPr lang="en-US" altLang="zh-CN" sz="2400" b="0" i="1" smtClean="0">
                        <a:latin typeface="Cambria Math" panose="02040503050406030204" pitchFamily="18" charset="0"/>
                        <a:ea typeface="Cambria Math" panose="02040503050406030204" pitchFamily="18" charset="0"/>
                      </a:rPr>
                      <m:t>∙</m:t>
                    </m:r>
                    <m:acc>
                      <m:accPr>
                        <m:chr m:val="̅"/>
                        <m:ctrlPr>
                          <a:rPr lang="en-US" altLang="zh-CN" sz="2400" b="0" i="1" smtClean="0">
                            <a:latin typeface="Cambria Math" panose="02040503050406030204" pitchFamily="18" charset="0"/>
                            <a:ea typeface="Cambria Math" panose="02040503050406030204" pitchFamily="18" charset="0"/>
                          </a:rPr>
                        </m:ctrlPr>
                      </m:accPr>
                      <m:e>
                        <m:r>
                          <a:rPr lang="en-US" altLang="zh-CN" sz="2400" b="0" i="1" smtClean="0">
                            <a:latin typeface="Cambria Math" panose="02040503050406030204" pitchFamily="18" charset="0"/>
                            <a:ea typeface="Cambria Math" panose="02040503050406030204" pitchFamily="18" charset="0"/>
                          </a:rPr>
                          <m:t>𝐶</m:t>
                        </m:r>
                      </m:e>
                    </m:acc>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𝐴</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𝐵</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𝐷</m:t>
                    </m:r>
                  </m:oMath>
                </a14:m>
                <a:endParaRPr lang="en-US" altLang="zh-CN" sz="2400" dirty="0"/>
              </a:p>
              <a:p>
                <a:pPr marL="349250" lvl="1" indent="0">
                  <a:buNone/>
                </a:pPr>
                <a:r>
                  <a:rPr lang="en-US" altLang="zh-CN" sz="2400" dirty="0"/>
                  <a:t>=</a:t>
                </a:r>
                <a14:m>
                  <m:oMath xmlns:m="http://schemas.openxmlformats.org/officeDocument/2006/math">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m:t>
                        </m:r>
                      </m:e>
                    </m:acc>
                    <m:r>
                      <a:rPr lang="en-US" altLang="zh-CN" sz="2400" i="1">
                        <a:latin typeface="Cambria Math" panose="02040503050406030204" pitchFamily="18" charset="0"/>
                        <a:ea typeface="Cambria Math" panose="02040503050406030204" pitchFamily="18" charset="0"/>
                      </a:rPr>
                      <m:t>∙</m:t>
                    </m:r>
                    <m:acc>
                      <m:accPr>
                        <m:chr m:val="̅"/>
                        <m:ctrlPr>
                          <a:rPr lang="en-US" altLang="zh-CN" sz="2400" i="1">
                            <a:latin typeface="Cambria Math" panose="02040503050406030204" pitchFamily="18" charset="0"/>
                            <a:ea typeface="Cambria Math" panose="02040503050406030204" pitchFamily="18" charset="0"/>
                          </a:rPr>
                        </m:ctrlPr>
                      </m:accPr>
                      <m:e>
                        <m:r>
                          <a:rPr lang="en-US" altLang="zh-CN" sz="2400" i="1">
                            <a:latin typeface="Cambria Math" panose="02040503050406030204" pitchFamily="18" charset="0"/>
                            <a:ea typeface="Cambria Math" panose="02040503050406030204" pitchFamily="18" charset="0"/>
                          </a:rPr>
                          <m:t>𝐶</m:t>
                        </m:r>
                      </m:e>
                    </m:acc>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𝐷</m:t>
                    </m:r>
                    <m:r>
                      <a:rPr lang="en-US" altLang="zh-CN" sz="2400" i="1">
                        <a:latin typeface="Cambria Math" panose="02040503050406030204" pitchFamily="18" charset="0"/>
                        <a:ea typeface="Cambria Math" panose="02040503050406030204" pitchFamily="18" charset="0"/>
                      </a:rPr>
                      <m:t>+</m:t>
                    </m:r>
                    <m:acc>
                      <m:accPr>
                        <m:chr m:val="̅"/>
                        <m:ctrlPr>
                          <a:rPr lang="en-US" altLang="zh-CN" sz="2400" i="1">
                            <a:latin typeface="Cambria Math" panose="02040503050406030204" pitchFamily="18" charset="0"/>
                            <a:ea typeface="Cambria Math" panose="02040503050406030204" pitchFamily="18" charset="0"/>
                          </a:rPr>
                        </m:ctrlPr>
                      </m:accPr>
                      <m:e>
                        <m:r>
                          <a:rPr lang="en-US" altLang="zh-CN" sz="2400" i="1">
                            <a:latin typeface="Cambria Math" panose="02040503050406030204" pitchFamily="18" charset="0"/>
                            <a:ea typeface="Cambria Math" panose="02040503050406030204" pitchFamily="18" charset="0"/>
                          </a:rPr>
                          <m:t>𝐵</m:t>
                        </m:r>
                      </m:e>
                    </m:acc>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𝐶</m:t>
                    </m:r>
                    <m:r>
                      <a:rPr lang="en-US" altLang="zh-CN" sz="2400" i="1">
                        <a:latin typeface="Cambria Math" panose="02040503050406030204" pitchFamily="18" charset="0"/>
                        <a:ea typeface="Cambria Math" panose="02040503050406030204" pitchFamily="18" charset="0"/>
                      </a:rPr>
                      <m:t>∙</m:t>
                    </m:r>
                    <m:acc>
                      <m:accPr>
                        <m:chr m:val="̅"/>
                        <m:ctrlPr>
                          <a:rPr lang="en-US" altLang="zh-CN" sz="2400" i="1">
                            <a:latin typeface="Cambria Math" panose="02040503050406030204" pitchFamily="18" charset="0"/>
                            <a:ea typeface="Cambria Math" panose="02040503050406030204" pitchFamily="18" charset="0"/>
                          </a:rPr>
                        </m:ctrlPr>
                      </m:accPr>
                      <m:e>
                        <m:r>
                          <a:rPr lang="en-US" altLang="zh-CN" sz="2400" i="1">
                            <a:latin typeface="Cambria Math" panose="02040503050406030204" pitchFamily="18" charset="0"/>
                            <a:ea typeface="Cambria Math" panose="02040503050406030204" pitchFamily="18" charset="0"/>
                          </a:rPr>
                          <m:t>𝐷</m:t>
                        </m:r>
                      </m:e>
                    </m:acc>
                    <m:r>
                      <a:rPr lang="en-US" altLang="zh-CN" sz="2400" i="1">
                        <a:latin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𝐵</m:t>
                    </m:r>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𝐷</m:t>
                    </m:r>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𝐴</m:t>
                    </m:r>
                    <m:r>
                      <a:rPr lang="en-US" altLang="zh-CN" sz="2400" i="1">
                        <a:latin typeface="Cambria Math" panose="02040503050406030204" pitchFamily="18" charset="0"/>
                        <a:ea typeface="Cambria Math" panose="02040503050406030204" pitchFamily="18" charset="0"/>
                      </a:rPr>
                      <m:t>∙</m:t>
                    </m:r>
                    <m:acc>
                      <m:accPr>
                        <m:chr m:val="̅"/>
                        <m:ctrlPr>
                          <a:rPr lang="en-US" altLang="zh-CN" sz="2400" i="1">
                            <a:latin typeface="Cambria Math" panose="02040503050406030204" pitchFamily="18" charset="0"/>
                            <a:ea typeface="Cambria Math" panose="02040503050406030204" pitchFamily="18" charset="0"/>
                          </a:rPr>
                        </m:ctrlPr>
                      </m:accPr>
                      <m:e>
                        <m:r>
                          <a:rPr lang="en-US" altLang="zh-CN" sz="2400" i="1">
                            <a:latin typeface="Cambria Math" panose="02040503050406030204" pitchFamily="18" charset="0"/>
                            <a:ea typeface="Cambria Math" panose="02040503050406030204" pitchFamily="18" charset="0"/>
                          </a:rPr>
                          <m:t>𝐵</m:t>
                        </m:r>
                      </m:e>
                    </m:acc>
                    <m:r>
                      <a:rPr lang="en-US" altLang="zh-CN" sz="2400" i="1">
                        <a:latin typeface="Cambria Math" panose="02040503050406030204" pitchFamily="18" charset="0"/>
                        <a:ea typeface="Cambria Math" panose="02040503050406030204" pitchFamily="18" charset="0"/>
                      </a:rPr>
                      <m:t>∙</m:t>
                    </m:r>
                    <m:acc>
                      <m:accPr>
                        <m:chr m:val="̅"/>
                        <m:ctrlPr>
                          <a:rPr lang="en-US" altLang="zh-CN" sz="2400" i="1">
                            <a:latin typeface="Cambria Math" panose="02040503050406030204" pitchFamily="18" charset="0"/>
                            <a:ea typeface="Cambria Math" panose="02040503050406030204" pitchFamily="18" charset="0"/>
                          </a:rPr>
                        </m:ctrlPr>
                      </m:accPr>
                      <m:e>
                        <m:r>
                          <a:rPr lang="en-US" altLang="zh-CN" sz="2400" i="1">
                            <a:latin typeface="Cambria Math" panose="02040503050406030204" pitchFamily="18" charset="0"/>
                            <a:ea typeface="Cambria Math" panose="02040503050406030204" pitchFamily="18" charset="0"/>
                          </a:rPr>
                          <m:t>𝐷</m:t>
                        </m:r>
                      </m:e>
                    </m:acc>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𝐴</m:t>
                    </m:r>
                    <m:r>
                      <a:rPr lang="en-US" altLang="zh-CN" sz="2400" i="1">
                        <a:latin typeface="Cambria Math" panose="02040503050406030204" pitchFamily="18" charset="0"/>
                        <a:ea typeface="Cambria Math" panose="02040503050406030204" pitchFamily="18" charset="0"/>
                      </a:rPr>
                      <m:t>∙</m:t>
                    </m:r>
                    <m:acc>
                      <m:accPr>
                        <m:chr m:val="̅"/>
                        <m:ctrlPr>
                          <a:rPr lang="en-US" altLang="zh-CN" sz="2400" i="1">
                            <a:latin typeface="Cambria Math" panose="02040503050406030204" pitchFamily="18" charset="0"/>
                            <a:ea typeface="Cambria Math" panose="02040503050406030204" pitchFamily="18" charset="0"/>
                          </a:rPr>
                        </m:ctrlPr>
                      </m:accPr>
                      <m:e>
                        <m:r>
                          <a:rPr lang="en-US" altLang="zh-CN" sz="2400" i="1">
                            <a:latin typeface="Cambria Math" panose="02040503050406030204" pitchFamily="18" charset="0"/>
                            <a:ea typeface="Cambria Math" panose="02040503050406030204" pitchFamily="18" charset="0"/>
                          </a:rPr>
                          <m:t>𝐶</m:t>
                        </m:r>
                      </m:e>
                    </m:acc>
                    <m:r>
                      <a:rPr lang="en-US" altLang="zh-CN" sz="2400" i="1">
                        <a:latin typeface="Cambria Math" panose="02040503050406030204" pitchFamily="18" charset="0"/>
                        <a:ea typeface="Cambria Math" panose="02040503050406030204" pitchFamily="18" charset="0"/>
                      </a:rPr>
                      <m:t>∙</m:t>
                    </m:r>
                    <m:acc>
                      <m:accPr>
                        <m:chr m:val="̅"/>
                        <m:ctrlPr>
                          <a:rPr lang="en-US" altLang="zh-CN" sz="2400" i="1">
                            <a:latin typeface="Cambria Math" panose="02040503050406030204" pitchFamily="18" charset="0"/>
                            <a:ea typeface="Cambria Math" panose="02040503050406030204" pitchFamily="18" charset="0"/>
                          </a:rPr>
                        </m:ctrlPr>
                      </m:accPr>
                      <m:e>
                        <m:r>
                          <a:rPr lang="en-US" altLang="zh-CN" sz="2400" i="1">
                            <a:latin typeface="Cambria Math" panose="02040503050406030204" pitchFamily="18" charset="0"/>
                            <a:ea typeface="Cambria Math" panose="02040503050406030204" pitchFamily="18" charset="0"/>
                          </a:rPr>
                          <m:t>𝐷</m:t>
                        </m:r>
                      </m:e>
                    </m:acc>
                    <m:r>
                      <a:rPr lang="en-US" altLang="zh-CN" sz="2400" i="1">
                        <a:latin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𝐴</m:t>
                    </m:r>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𝐵</m:t>
                    </m:r>
                    <m:r>
                      <a:rPr lang="en-US" altLang="zh-CN" sz="2400" i="1">
                        <a:latin typeface="Cambria Math" panose="02040503050406030204" pitchFamily="18" charset="0"/>
                        <a:ea typeface="Cambria Math" panose="02040503050406030204" pitchFamily="18" charset="0"/>
                      </a:rPr>
                      <m:t>∙</m:t>
                    </m:r>
                    <m:acc>
                      <m:accPr>
                        <m:chr m:val="̅"/>
                        <m:ctrlPr>
                          <a:rPr lang="en-US" altLang="zh-CN" sz="2400" i="1">
                            <a:latin typeface="Cambria Math" panose="02040503050406030204" pitchFamily="18" charset="0"/>
                            <a:ea typeface="Cambria Math" panose="02040503050406030204" pitchFamily="18" charset="0"/>
                          </a:rPr>
                        </m:ctrlPr>
                      </m:accPr>
                      <m:e>
                        <m:r>
                          <a:rPr lang="en-US" altLang="zh-CN" sz="2400" i="1">
                            <a:latin typeface="Cambria Math" panose="02040503050406030204" pitchFamily="18" charset="0"/>
                            <a:ea typeface="Cambria Math" panose="02040503050406030204" pitchFamily="18" charset="0"/>
                          </a:rPr>
                          <m:t>𝐶</m:t>
                        </m:r>
                      </m:e>
                    </m:acc>
                  </m:oMath>
                </a14:m>
                <a:endParaRPr lang="en-US" altLang="zh-CN" sz="2400" dirty="0"/>
              </a:p>
              <a:p>
                <a:pPr marL="349250" lvl="1" indent="0">
                  <a:buNone/>
                </a:pPr>
                <a:endParaRPr lang="en-US" altLang="zh-CN" sz="2400" dirty="0"/>
              </a:p>
              <a:p>
                <a:pPr marL="349250" lvl="1" indent="0">
                  <a:buNone/>
                </a:pPr>
                <a:r>
                  <a:rPr lang="en-US" altLang="zh-CN" sz="2400" dirty="0"/>
                  <a:t>=</a:t>
                </a:r>
                <a14:m>
                  <m:oMath xmlns:m="http://schemas.openxmlformats.org/officeDocument/2006/math">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m:t>
                        </m:r>
                      </m:e>
                    </m:acc>
                    <m:r>
                      <a:rPr lang="en-US" altLang="zh-CN" sz="2400" i="1">
                        <a:latin typeface="Cambria Math" panose="02040503050406030204" pitchFamily="18" charset="0"/>
                        <a:ea typeface="Cambria Math" panose="02040503050406030204" pitchFamily="18" charset="0"/>
                      </a:rPr>
                      <m:t>∙</m:t>
                    </m:r>
                    <m:acc>
                      <m:accPr>
                        <m:chr m:val="̅"/>
                        <m:ctrlPr>
                          <a:rPr lang="en-US" altLang="zh-CN" sz="2400" i="1">
                            <a:latin typeface="Cambria Math" panose="02040503050406030204" pitchFamily="18" charset="0"/>
                            <a:ea typeface="Cambria Math" panose="02040503050406030204" pitchFamily="18" charset="0"/>
                          </a:rPr>
                        </m:ctrlPr>
                      </m:accPr>
                      <m:e>
                        <m:r>
                          <a:rPr lang="en-US" altLang="zh-CN" sz="2400" i="1">
                            <a:latin typeface="Cambria Math" panose="02040503050406030204" pitchFamily="18" charset="0"/>
                            <a:ea typeface="Cambria Math" panose="02040503050406030204" pitchFamily="18" charset="0"/>
                          </a:rPr>
                          <m:t>𝐶</m:t>
                        </m:r>
                      </m:e>
                    </m:acc>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𝐷</m:t>
                    </m:r>
                    <m:r>
                      <a:rPr lang="en-US" altLang="zh-CN" sz="2400" i="1">
                        <a:latin typeface="Cambria Math" panose="02040503050406030204" pitchFamily="18" charset="0"/>
                        <a:ea typeface="Cambria Math" panose="02040503050406030204" pitchFamily="18" charset="0"/>
                      </a:rPr>
                      <m:t>+</m:t>
                    </m:r>
                    <m:acc>
                      <m:accPr>
                        <m:chr m:val="̅"/>
                        <m:ctrlPr>
                          <a:rPr lang="en-US" altLang="zh-CN" sz="2400" i="1">
                            <a:latin typeface="Cambria Math" panose="02040503050406030204" pitchFamily="18" charset="0"/>
                            <a:ea typeface="Cambria Math" panose="02040503050406030204" pitchFamily="18" charset="0"/>
                          </a:rPr>
                        </m:ctrlPr>
                      </m:accPr>
                      <m:e>
                        <m:r>
                          <a:rPr lang="en-US" altLang="zh-CN" sz="2400" i="1">
                            <a:latin typeface="Cambria Math" panose="02040503050406030204" pitchFamily="18" charset="0"/>
                            <a:ea typeface="Cambria Math" panose="02040503050406030204" pitchFamily="18" charset="0"/>
                          </a:rPr>
                          <m:t>𝐵</m:t>
                        </m:r>
                      </m:e>
                    </m:acc>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𝐶</m:t>
                    </m:r>
                    <m:r>
                      <a:rPr lang="en-US" altLang="zh-CN" sz="2400" i="1">
                        <a:latin typeface="Cambria Math" panose="02040503050406030204" pitchFamily="18" charset="0"/>
                        <a:ea typeface="Cambria Math" panose="02040503050406030204" pitchFamily="18" charset="0"/>
                      </a:rPr>
                      <m:t>∙</m:t>
                    </m:r>
                    <m:acc>
                      <m:accPr>
                        <m:chr m:val="̅"/>
                        <m:ctrlPr>
                          <a:rPr lang="en-US" altLang="zh-CN" sz="2400" i="1">
                            <a:latin typeface="Cambria Math" panose="02040503050406030204" pitchFamily="18" charset="0"/>
                            <a:ea typeface="Cambria Math" panose="02040503050406030204" pitchFamily="18" charset="0"/>
                          </a:rPr>
                        </m:ctrlPr>
                      </m:accPr>
                      <m:e>
                        <m:r>
                          <a:rPr lang="en-US" altLang="zh-CN" sz="2400" i="1">
                            <a:latin typeface="Cambria Math" panose="02040503050406030204" pitchFamily="18" charset="0"/>
                            <a:ea typeface="Cambria Math" panose="02040503050406030204" pitchFamily="18" charset="0"/>
                          </a:rPr>
                          <m:t>𝐷</m:t>
                        </m:r>
                      </m:e>
                    </m:acc>
                    <m:r>
                      <a:rPr lang="en-US" altLang="zh-CN" sz="2400" i="1">
                        <a:latin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𝐵</m:t>
                    </m:r>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𝐷</m:t>
                    </m:r>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𝐴</m:t>
                    </m:r>
                    <m:r>
                      <a:rPr lang="en-US" altLang="zh-CN" sz="2400" i="1">
                        <a:latin typeface="Cambria Math" panose="02040503050406030204" pitchFamily="18" charset="0"/>
                        <a:ea typeface="Cambria Math" panose="02040503050406030204" pitchFamily="18" charset="0"/>
                      </a:rPr>
                      <m:t>∙</m:t>
                    </m:r>
                    <m:acc>
                      <m:accPr>
                        <m:chr m:val="̅"/>
                        <m:ctrlPr>
                          <a:rPr lang="en-US" altLang="zh-CN" sz="2400" i="1">
                            <a:latin typeface="Cambria Math" panose="02040503050406030204" pitchFamily="18" charset="0"/>
                            <a:ea typeface="Cambria Math" panose="02040503050406030204" pitchFamily="18" charset="0"/>
                          </a:rPr>
                        </m:ctrlPr>
                      </m:accPr>
                      <m:e>
                        <m:r>
                          <a:rPr lang="en-US" altLang="zh-CN" sz="2400" i="1">
                            <a:latin typeface="Cambria Math" panose="02040503050406030204" pitchFamily="18" charset="0"/>
                            <a:ea typeface="Cambria Math" panose="02040503050406030204" pitchFamily="18" charset="0"/>
                          </a:rPr>
                          <m:t>𝐵</m:t>
                        </m:r>
                      </m:e>
                    </m:acc>
                    <m:r>
                      <a:rPr lang="en-US" altLang="zh-CN" sz="2400" i="1">
                        <a:latin typeface="Cambria Math" panose="02040503050406030204" pitchFamily="18" charset="0"/>
                        <a:ea typeface="Cambria Math" panose="02040503050406030204" pitchFamily="18" charset="0"/>
                      </a:rPr>
                      <m:t>∙</m:t>
                    </m:r>
                    <m:acc>
                      <m:accPr>
                        <m:chr m:val="̅"/>
                        <m:ctrlPr>
                          <a:rPr lang="en-US" altLang="zh-CN" sz="2400" i="1">
                            <a:latin typeface="Cambria Math" panose="02040503050406030204" pitchFamily="18" charset="0"/>
                            <a:ea typeface="Cambria Math" panose="02040503050406030204" pitchFamily="18" charset="0"/>
                          </a:rPr>
                        </m:ctrlPr>
                      </m:accPr>
                      <m:e>
                        <m:r>
                          <a:rPr lang="en-US" altLang="zh-CN" sz="2400" i="1">
                            <a:latin typeface="Cambria Math" panose="02040503050406030204" pitchFamily="18" charset="0"/>
                            <a:ea typeface="Cambria Math" panose="02040503050406030204" pitchFamily="18" charset="0"/>
                          </a:rPr>
                          <m:t>𝐷</m:t>
                        </m:r>
                      </m:e>
                    </m:acc>
                    <m:r>
                      <a:rPr lang="en-US" altLang="zh-CN" sz="2400" i="1">
                        <a:latin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𝐴</m:t>
                    </m:r>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𝐵</m:t>
                    </m:r>
                    <m:r>
                      <a:rPr lang="en-US" altLang="zh-CN" sz="2400" i="1">
                        <a:latin typeface="Cambria Math" panose="02040503050406030204" pitchFamily="18" charset="0"/>
                        <a:ea typeface="Cambria Math" panose="02040503050406030204" pitchFamily="18" charset="0"/>
                      </a:rPr>
                      <m:t>∙</m:t>
                    </m:r>
                    <m:acc>
                      <m:accPr>
                        <m:chr m:val="̅"/>
                        <m:ctrlPr>
                          <a:rPr lang="en-US" altLang="zh-CN" sz="2400" i="1">
                            <a:latin typeface="Cambria Math" panose="02040503050406030204" pitchFamily="18" charset="0"/>
                            <a:ea typeface="Cambria Math" panose="02040503050406030204" pitchFamily="18" charset="0"/>
                          </a:rPr>
                        </m:ctrlPr>
                      </m:accPr>
                      <m:e>
                        <m:r>
                          <a:rPr lang="en-US" altLang="zh-CN" sz="2400" i="1">
                            <a:latin typeface="Cambria Math" panose="02040503050406030204" pitchFamily="18" charset="0"/>
                            <a:ea typeface="Cambria Math" panose="02040503050406030204" pitchFamily="18" charset="0"/>
                          </a:rPr>
                          <m:t>𝐶</m:t>
                        </m:r>
                      </m:e>
                    </m:acc>
                  </m:oMath>
                </a14:m>
                <a:endParaRPr lang="zh-CN" altLang="en-US" sz="2400" dirty="0"/>
              </a:p>
              <a:p>
                <a:pPr marL="349250" lvl="1" indent="0">
                  <a:buNone/>
                </a:pPr>
                <a:endParaRPr lang="zh-CN" altLang="en-US" sz="2400" dirty="0"/>
              </a:p>
            </p:txBody>
          </p:sp>
        </mc:Choice>
        <mc:Fallback>
          <p:sp>
            <p:nvSpPr>
              <p:cNvPr id="7" name="对象 7"/>
              <p:cNvSpPr txBox="1">
                <a:spLocks noRot="1" noChangeAspect="1" noMove="1" noResize="1" noEditPoints="1" noAdjustHandles="1" noChangeArrowheads="1" noChangeShapeType="1" noTextEdit="1"/>
              </p:cNvSpPr>
              <p:nvPr>
                <p:ph idx="1"/>
              </p:nvPr>
            </p:nvSpPr>
            <p:spPr bwMode="auto">
              <a:xfrm>
                <a:off x="311732" y="797441"/>
                <a:ext cx="8625985" cy="5564667"/>
              </a:xfrm>
              <a:prstGeom prst="rect">
                <a:avLst/>
              </a:prstGeom>
              <a:blipFill rotWithShape="1">
                <a:blip r:embed="rId1"/>
                <a:stretch>
                  <a:fillRect l="-7" t="-9" r="1" b="1"/>
                </a:stretch>
              </a:blipFill>
            </p:spPr>
            <p:txBody>
              <a:bodyPr/>
              <a:lstStyle/>
              <a:p>
                <a:r>
                  <a:rPr lang="zh-CN" altLang="en-US">
                    <a:noFill/>
                  </a:rPr>
                  <a:t> </a:t>
                </a:r>
              </a:p>
            </p:txBody>
          </p:sp>
        </mc:Fallback>
      </mc:AlternateContent>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mc:AlternateContent xmlns:mc="http://schemas.openxmlformats.org/markup-compatibility/2006">
        <mc:Choice xmlns:a14="http://schemas.microsoft.com/office/drawing/2010/main" Requires="a14">
          <p:sp>
            <p:nvSpPr>
              <p:cNvPr id="3" name="矩形 2"/>
              <p:cNvSpPr/>
              <p:nvPr/>
            </p:nvSpPr>
            <p:spPr>
              <a:xfrm>
                <a:off x="4302245" y="4233642"/>
                <a:ext cx="4608512" cy="461665"/>
              </a:xfrm>
              <a:prstGeom prst="rect">
                <a:avLst/>
              </a:prstGeom>
            </p:spPr>
            <p:txBody>
              <a:bodyPr wrap="square">
                <a:spAutoFit/>
              </a:bodyPr>
              <a:lstStyle/>
              <a:p>
                <a:pPr marL="0" lvl="1"/>
                <a:r>
                  <a:rPr lang="en-US" altLang="zh-CN" sz="2400" dirty="0"/>
                  <a:t>X•Y+</a:t>
                </a:r>
                <a:r>
                  <a:rPr lang="pt-BR" altLang="zh-CN" sz="2400" b="1" dirty="0"/>
                  <a:t> </a:t>
                </a:r>
                <a14:m>
                  <m:oMath xmlns:m="http://schemas.openxmlformats.org/officeDocument/2006/math">
                    <m:acc>
                      <m:accPr>
                        <m:chr m:val="̅"/>
                        <m:ctrlPr>
                          <a:rPr lang="pt-BR" altLang="zh-CN" sz="2400" b="1" i="1">
                            <a:latin typeface="Cambria Math" panose="02040503050406030204" pitchFamily="18" charset="0"/>
                          </a:rPr>
                        </m:ctrlPr>
                      </m:accPr>
                      <m:e>
                        <m:r>
                          <a:rPr lang="en-US" altLang="zh-CN" sz="2400" b="1" i="1">
                            <a:latin typeface="Cambria Math" panose="02040503050406030204" pitchFamily="18" charset="0"/>
                          </a:rPr>
                          <m:t>𝑿</m:t>
                        </m:r>
                      </m:e>
                    </m:acc>
                    <m:r>
                      <a:rPr lang="en-US" altLang="zh-CN" sz="2400" b="1" i="1">
                        <a:latin typeface="Cambria Math" panose="02040503050406030204" pitchFamily="18" charset="0"/>
                      </a:rPr>
                      <m:t> </m:t>
                    </m:r>
                  </m:oMath>
                </a14:m>
                <a:r>
                  <a:rPr lang="en-US" altLang="zh-CN" sz="2400" dirty="0"/>
                  <a:t>• Z+Y • Z =X • Y+</a:t>
                </a:r>
                <a:r>
                  <a:rPr lang="pt-BR" altLang="zh-CN" sz="2400" b="1" dirty="0"/>
                  <a:t> </a:t>
                </a:r>
                <a14:m>
                  <m:oMath xmlns:m="http://schemas.openxmlformats.org/officeDocument/2006/math">
                    <m:acc>
                      <m:accPr>
                        <m:chr m:val="̅"/>
                        <m:ctrlPr>
                          <a:rPr lang="pt-BR" altLang="zh-CN" sz="2400" b="1" i="1">
                            <a:latin typeface="Cambria Math" panose="02040503050406030204" pitchFamily="18" charset="0"/>
                          </a:rPr>
                        </m:ctrlPr>
                      </m:accPr>
                      <m:e>
                        <m:r>
                          <a:rPr lang="en-US" altLang="zh-CN" sz="2400" b="1" i="1">
                            <a:latin typeface="Cambria Math" panose="02040503050406030204" pitchFamily="18" charset="0"/>
                          </a:rPr>
                          <m:t>𝑿</m:t>
                        </m:r>
                      </m:e>
                    </m:acc>
                    <m:r>
                      <a:rPr lang="en-US" altLang="zh-CN" sz="2400" b="1" i="1">
                        <a:latin typeface="Cambria Math" panose="02040503050406030204" pitchFamily="18" charset="0"/>
                      </a:rPr>
                      <m:t> </m:t>
                    </m:r>
                  </m:oMath>
                </a14:m>
                <a:r>
                  <a:rPr lang="en-US" altLang="zh-CN" sz="2400" dirty="0"/>
                  <a:t>• Z</a:t>
                </a:r>
                <a:endParaRPr lang="en-US" altLang="zh-CN" sz="2400" dirty="0"/>
              </a:p>
            </p:txBody>
          </p:sp>
        </mc:Choice>
        <mc:Fallback>
          <p:sp>
            <p:nvSpPr>
              <p:cNvPr id="3" name="矩形 2"/>
              <p:cNvSpPr>
                <a:spLocks noRot="1" noChangeAspect="1" noMove="1" noResize="1" noEditPoints="1" noAdjustHandles="1" noChangeArrowheads="1" noChangeShapeType="1" noTextEdit="1"/>
              </p:cNvSpPr>
              <p:nvPr/>
            </p:nvSpPr>
            <p:spPr>
              <a:xfrm>
                <a:off x="4302245" y="4233642"/>
                <a:ext cx="4608512" cy="461665"/>
              </a:xfrm>
              <a:prstGeom prst="rect">
                <a:avLst/>
              </a:prstGeom>
              <a:blipFill rotWithShape="1">
                <a:blip r:embed="rId2"/>
                <a:stretch>
                  <a:fillRect l="-3" t="-21" r="9" b="25"/>
                </a:stretch>
              </a:blipFill>
            </p:spPr>
            <p:txBody>
              <a:bodyPr/>
              <a:lstStyle/>
              <a:p>
                <a:r>
                  <a:rPr lang="zh-CN" altLang="en-US">
                    <a:noFill/>
                  </a:rPr>
                  <a:t> </a:t>
                </a:r>
              </a:p>
            </p:txBody>
          </p:sp>
        </mc:Fallback>
      </mc:AlternateContent>
      <p:sp>
        <p:nvSpPr>
          <p:cNvPr id="27" name="矩形 26"/>
          <p:cNvSpPr/>
          <p:nvPr/>
        </p:nvSpPr>
        <p:spPr>
          <a:xfrm>
            <a:off x="2258285" y="5236983"/>
            <a:ext cx="3465843" cy="584775"/>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zh-CN" altLang="en-US" sz="3200" dirty="0">
                <a:solidFill>
                  <a:srgbClr val="FF0000"/>
                </a:solidFill>
              </a:rPr>
              <a:t>是最简表达式吗？</a:t>
            </a:r>
            <a:endParaRPr lang="zh-CN" altLang="en-US" sz="3200" dirty="0">
              <a:solidFill>
                <a:srgbClr val="FF0000"/>
              </a:solidFill>
            </a:endParaRPr>
          </a:p>
        </p:txBody>
      </p:sp>
      <p:cxnSp>
        <p:nvCxnSpPr>
          <p:cNvPr id="11" name="直接连接符 10"/>
          <p:cNvCxnSpPr/>
          <p:nvPr/>
        </p:nvCxnSpPr>
        <p:spPr>
          <a:xfrm>
            <a:off x="3923928" y="3311065"/>
            <a:ext cx="936104"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4302245" y="3717032"/>
            <a:ext cx="936104"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5386503" y="3311065"/>
            <a:ext cx="936104"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6792909" y="3311065"/>
            <a:ext cx="936104"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5292080" y="4149080"/>
            <a:ext cx="62824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6732240" y="4149080"/>
            <a:ext cx="62824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8014101" y="4149080"/>
            <a:ext cx="62824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7"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 </a:t>
            </a:r>
            <a:r>
              <a:rPr lang="zh-CN" altLang="en-US" dirty="0"/>
              <a:t>代数法化简</a:t>
            </a:r>
            <a:endParaRPr lang="zh-CN" altLang="en-US" dirty="0"/>
          </a:p>
        </p:txBody>
      </p:sp>
      <p:sp>
        <p:nvSpPr>
          <p:cNvPr id="3" name="内容占位符 2"/>
          <p:cNvSpPr>
            <a:spLocks noGrp="1"/>
          </p:cNvSpPr>
          <p:nvPr>
            <p:ph idx="1"/>
          </p:nvPr>
        </p:nvSpPr>
        <p:spPr>
          <a:xfrm>
            <a:off x="444500" y="889000"/>
            <a:ext cx="8523654" cy="4938788"/>
          </a:xfrm>
        </p:spPr>
        <p:txBody>
          <a:bodyPr/>
          <a:lstStyle/>
          <a:p>
            <a:r>
              <a:rPr lang="zh-CN" altLang="en-US" sz="2200" b="1" dirty="0">
                <a:solidFill>
                  <a:srgbClr val="993300"/>
                </a:solidFill>
              </a:rPr>
              <a:t>优点</a:t>
            </a:r>
            <a:endParaRPr lang="en-US" altLang="zh-CN" sz="2200" b="1" dirty="0">
              <a:solidFill>
                <a:srgbClr val="993300"/>
              </a:solidFill>
            </a:endParaRPr>
          </a:p>
          <a:p>
            <a:pPr lvl="1"/>
            <a:r>
              <a:rPr lang="zh-CN" altLang="en-US" dirty="0">
                <a:solidFill>
                  <a:srgbClr val="FF0000"/>
                </a:solidFill>
              </a:rPr>
              <a:t>不受变量数目的限制</a:t>
            </a:r>
            <a:endParaRPr lang="en-US" altLang="zh-CN" dirty="0">
              <a:solidFill>
                <a:srgbClr val="FF0000"/>
              </a:solidFill>
            </a:endParaRPr>
          </a:p>
          <a:p>
            <a:pPr lvl="1"/>
            <a:r>
              <a:rPr lang="zh-CN" altLang="en-US" dirty="0">
                <a:solidFill>
                  <a:srgbClr val="FF0000"/>
                </a:solidFill>
              </a:rPr>
              <a:t>化简比较直观</a:t>
            </a:r>
            <a:endParaRPr lang="en-US" altLang="zh-CN" dirty="0">
              <a:solidFill>
                <a:srgbClr val="FF0000"/>
              </a:solidFill>
            </a:endParaRPr>
          </a:p>
          <a:p>
            <a:r>
              <a:rPr lang="zh-CN" altLang="en-US" sz="2200" b="1" dirty="0">
                <a:solidFill>
                  <a:srgbClr val="993300"/>
                </a:solidFill>
              </a:rPr>
              <a:t>缺点</a:t>
            </a:r>
            <a:endParaRPr lang="en-US" altLang="zh-CN" sz="2200" b="1" dirty="0">
              <a:solidFill>
                <a:srgbClr val="993300"/>
              </a:solidFill>
            </a:endParaRPr>
          </a:p>
          <a:p>
            <a:pPr lvl="1"/>
            <a:r>
              <a:rPr lang="zh-CN" altLang="en-US" dirty="0">
                <a:solidFill>
                  <a:srgbClr val="FF0000"/>
                </a:solidFill>
              </a:rPr>
              <a:t>没有一定的规律和步骤，技巧性很强</a:t>
            </a:r>
            <a:endParaRPr lang="en-US" altLang="zh-CN" dirty="0">
              <a:solidFill>
                <a:srgbClr val="FF0000"/>
              </a:solidFill>
            </a:endParaRPr>
          </a:p>
          <a:p>
            <a:pPr lvl="1"/>
            <a:r>
              <a:rPr lang="zh-CN" altLang="en-US" dirty="0">
                <a:solidFill>
                  <a:srgbClr val="FF0000"/>
                </a:solidFill>
              </a:rPr>
              <a:t>难以判断化简结果是否最简</a:t>
            </a:r>
            <a:endParaRPr lang="en-US" altLang="zh-CN" dirty="0">
              <a:solidFill>
                <a:srgbClr val="FF0000"/>
              </a:solidFill>
            </a:endParaRPr>
          </a:p>
          <a:p>
            <a:pPr lvl="1"/>
            <a:endParaRPr lang="en-US" altLang="zh-CN" sz="2400" dirty="0">
              <a:solidFill>
                <a:srgbClr val="FF0000"/>
              </a:solidFill>
              <a:latin typeface="微软雅黑" panose="020B0503020204020204" pitchFamily="34" charset="-122"/>
              <a:ea typeface="微软雅黑" panose="020B0503020204020204" pitchFamily="34" charset="-122"/>
            </a:endParaRPr>
          </a:p>
          <a:p>
            <a:pPr lvl="1"/>
            <a:endParaRPr lang="en-US" altLang="zh-CN" sz="2400" dirty="0">
              <a:solidFill>
                <a:srgbClr val="FF0000"/>
              </a:solidFill>
              <a:latin typeface="微软雅黑" panose="020B0503020204020204" pitchFamily="34" charset="-122"/>
              <a:ea typeface="微软雅黑" panose="020B0503020204020204" pitchFamily="34" charset="-122"/>
            </a:endParaRPr>
          </a:p>
          <a:p>
            <a:r>
              <a:rPr lang="zh-CN" altLang="en-US" sz="2200" dirty="0"/>
              <a:t>判别逻辑表达式是否为最小化</a:t>
            </a:r>
            <a:endParaRPr lang="zh-CN" altLang="en-US" sz="2200" dirty="0"/>
          </a:p>
          <a:p>
            <a:pPr lvl="1"/>
            <a:r>
              <a:rPr lang="zh-CN" altLang="en-US" dirty="0"/>
              <a:t>乘积项（与项）最少</a:t>
            </a:r>
            <a:endParaRPr lang="zh-CN" altLang="en-US" dirty="0"/>
          </a:p>
          <a:p>
            <a:pPr lvl="1"/>
            <a:r>
              <a:rPr lang="zh-CN" altLang="en-US" dirty="0"/>
              <a:t>每个乘积项中因子（逻辑变量）最少</a:t>
            </a:r>
            <a:endParaRPr lang="zh-CN" altLang="en-US"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7" name="矩形 6"/>
          <p:cNvSpPr/>
          <p:nvPr/>
        </p:nvSpPr>
        <p:spPr>
          <a:xfrm>
            <a:off x="1024819" y="3698487"/>
            <a:ext cx="4833995" cy="461665"/>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zh-CN" altLang="en-US" sz="2400" dirty="0">
                <a:solidFill>
                  <a:schemeClr val="tx1"/>
                </a:solidFill>
              </a:rPr>
              <a:t>如何证明是最简表达式？</a:t>
            </a:r>
            <a:endParaRPr lang="zh-CN" altLang="en-US" sz="2400" dirty="0">
              <a:solidFill>
                <a:schemeClr val="tx1"/>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en-US" altLang="zh-CN" dirty="0"/>
              <a:t>4.2 </a:t>
            </a:r>
            <a:r>
              <a:rPr lang="zh-CN" altLang="en-US" dirty="0"/>
              <a:t>卡诺图化简</a:t>
            </a:r>
            <a:endParaRPr lang="zh-CN" altLang="en-US" dirty="0"/>
          </a:p>
        </p:txBody>
      </p:sp>
      <p:sp>
        <p:nvSpPr>
          <p:cNvPr id="100355" name="Rectangle 3"/>
          <p:cNvSpPr>
            <a:spLocks noGrp="1" noChangeArrowheads="1"/>
          </p:cNvSpPr>
          <p:nvPr>
            <p:ph idx="1"/>
          </p:nvPr>
        </p:nvSpPr>
        <p:spPr>
          <a:xfrm>
            <a:off x="284773" y="915505"/>
            <a:ext cx="8523654" cy="3612271"/>
          </a:xfrm>
        </p:spPr>
        <p:txBody>
          <a:bodyPr/>
          <a:lstStyle/>
          <a:p>
            <a:pPr>
              <a:spcBef>
                <a:spcPts val="1200"/>
              </a:spcBef>
            </a:pPr>
            <a:r>
              <a:rPr lang="zh-CN" altLang="en-US" sz="2200" dirty="0">
                <a:solidFill>
                  <a:srgbClr val="FF0000"/>
                </a:solidFill>
              </a:rPr>
              <a:t>卡诺图</a:t>
            </a:r>
            <a:r>
              <a:rPr lang="zh-CN" altLang="en-US" sz="2200" dirty="0"/>
              <a:t>（</a:t>
            </a:r>
            <a:r>
              <a:rPr lang="en-US" altLang="zh-CN" sz="2200" dirty="0"/>
              <a:t>Karnaugh map</a:t>
            </a:r>
            <a:r>
              <a:rPr lang="zh-CN" altLang="en-US" sz="2200" dirty="0"/>
              <a:t>）</a:t>
            </a:r>
            <a:r>
              <a:rPr lang="en-US" altLang="zh-CN" sz="2200" dirty="0"/>
              <a:t>:  </a:t>
            </a:r>
            <a:r>
              <a:rPr lang="zh-CN" altLang="en-US" sz="2200" dirty="0"/>
              <a:t>真值表的图形化表示，把能化简的最小项通过</a:t>
            </a:r>
            <a:r>
              <a:rPr lang="zh-CN" altLang="en-US" sz="2200" dirty="0">
                <a:solidFill>
                  <a:srgbClr val="C00000"/>
                </a:solidFill>
              </a:rPr>
              <a:t>相邻项合并</a:t>
            </a:r>
            <a:r>
              <a:rPr lang="zh-CN" altLang="en-US" sz="2200" dirty="0"/>
              <a:t>的可视化方式标识出来。</a:t>
            </a:r>
            <a:endParaRPr lang="en-US" altLang="zh-CN" sz="2200" dirty="0"/>
          </a:p>
          <a:p>
            <a:pPr lvl="1">
              <a:spcBef>
                <a:spcPts val="1200"/>
              </a:spcBef>
            </a:pPr>
            <a:r>
              <a:rPr lang="en-US" altLang="zh-CN" dirty="0"/>
              <a:t>n</a:t>
            </a:r>
            <a:r>
              <a:rPr lang="zh-CN" altLang="en-US" dirty="0"/>
              <a:t>个变量的卡诺图是一个含有</a:t>
            </a:r>
            <a:r>
              <a:rPr lang="en-US" altLang="zh-CN" dirty="0">
                <a:solidFill>
                  <a:srgbClr val="FF0000"/>
                </a:solidFill>
              </a:rPr>
              <a:t>2</a:t>
            </a:r>
            <a:r>
              <a:rPr lang="en-US" altLang="zh-CN" baseline="30000" dirty="0">
                <a:solidFill>
                  <a:srgbClr val="FF0000"/>
                </a:solidFill>
              </a:rPr>
              <a:t>n</a:t>
            </a:r>
            <a:r>
              <a:rPr lang="zh-CN" altLang="en-US" dirty="0"/>
              <a:t>个单元的矩阵图</a:t>
            </a:r>
            <a:endParaRPr lang="en-US" altLang="zh-CN" dirty="0"/>
          </a:p>
          <a:p>
            <a:pPr lvl="1">
              <a:lnSpc>
                <a:spcPct val="90000"/>
              </a:lnSpc>
              <a:spcBef>
                <a:spcPts val="1200"/>
              </a:spcBef>
            </a:pPr>
            <a:r>
              <a:rPr lang="zh-CN" altLang="en-US" dirty="0">
                <a:solidFill>
                  <a:srgbClr val="FF0000"/>
                </a:solidFill>
              </a:rPr>
              <a:t>每一行</a:t>
            </a:r>
            <a:r>
              <a:rPr lang="zh-CN" altLang="en-US" dirty="0"/>
              <a:t>和</a:t>
            </a:r>
            <a:r>
              <a:rPr lang="zh-CN" altLang="en-US" dirty="0">
                <a:solidFill>
                  <a:srgbClr val="FF0000"/>
                </a:solidFill>
              </a:rPr>
              <a:t>每一列的编号</a:t>
            </a:r>
            <a:r>
              <a:rPr lang="zh-CN" altLang="en-US" dirty="0"/>
              <a:t>对应逻辑变量的输入组合，</a:t>
            </a:r>
            <a:r>
              <a:rPr lang="en-US" altLang="zh-CN" dirty="0"/>
              <a:t>0 </a:t>
            </a:r>
            <a:r>
              <a:rPr lang="zh-CN" altLang="en-US" dirty="0"/>
              <a:t>表示反变量，</a:t>
            </a:r>
            <a:r>
              <a:rPr lang="en-US" altLang="zh-CN" dirty="0"/>
              <a:t>1 </a:t>
            </a:r>
            <a:r>
              <a:rPr lang="zh-CN" altLang="en-US" dirty="0"/>
              <a:t>表示原变量</a:t>
            </a:r>
            <a:endParaRPr lang="en-US" altLang="zh-CN" dirty="0"/>
          </a:p>
          <a:p>
            <a:pPr lvl="1">
              <a:lnSpc>
                <a:spcPct val="90000"/>
              </a:lnSpc>
              <a:spcBef>
                <a:spcPts val="1200"/>
              </a:spcBef>
            </a:pPr>
            <a:r>
              <a:rPr lang="zh-CN" altLang="en-US" dirty="0"/>
              <a:t>编号按照</a:t>
            </a:r>
            <a:r>
              <a:rPr lang="zh-CN" altLang="en-US" b="1" dirty="0">
                <a:solidFill>
                  <a:srgbClr val="FF0000"/>
                </a:solidFill>
              </a:rPr>
              <a:t>格雷码</a:t>
            </a:r>
            <a:r>
              <a:rPr lang="zh-CN" altLang="en-US" dirty="0"/>
              <a:t>的顺序排列，即相邻编号只有</a:t>
            </a:r>
            <a:r>
              <a:rPr lang="en-US" altLang="zh-CN" dirty="0">
                <a:solidFill>
                  <a:srgbClr val="FF0000"/>
                </a:solidFill>
              </a:rPr>
              <a:t>1</a:t>
            </a:r>
            <a:r>
              <a:rPr lang="zh-CN" altLang="en-US" dirty="0"/>
              <a:t>位不同</a:t>
            </a:r>
            <a:endParaRPr lang="en-US" altLang="zh-CN" dirty="0"/>
          </a:p>
          <a:p>
            <a:pPr lvl="1">
              <a:spcBef>
                <a:spcPts val="1200"/>
              </a:spcBef>
            </a:pPr>
            <a:r>
              <a:rPr lang="zh-CN" altLang="en-US" dirty="0"/>
              <a:t>根据格雷码的规则，空间位置上（</a:t>
            </a:r>
            <a:r>
              <a:rPr lang="zh-CN" altLang="en-US" dirty="0">
                <a:solidFill>
                  <a:srgbClr val="00B0F0"/>
                </a:solidFill>
              </a:rPr>
              <a:t>上下、左右或</a:t>
            </a:r>
            <a:r>
              <a:rPr lang="zh-CN" altLang="en-US" b="1" dirty="0">
                <a:solidFill>
                  <a:srgbClr val="00B0F0"/>
                </a:solidFill>
              </a:rPr>
              <a:t>首尾</a:t>
            </a:r>
            <a:r>
              <a:rPr lang="zh-CN" altLang="en-US" dirty="0"/>
              <a:t>）</a:t>
            </a:r>
            <a:r>
              <a:rPr lang="zh-CN" altLang="en-US" b="1" dirty="0">
                <a:solidFill>
                  <a:srgbClr val="FF0000"/>
                </a:solidFill>
                <a:effectLst>
                  <a:outerShdw blurRad="38100" dist="38100" dir="2700000" algn="tl">
                    <a:srgbClr val="C0C0C0"/>
                  </a:outerShdw>
                </a:effectLst>
              </a:rPr>
              <a:t>相邻</a:t>
            </a:r>
            <a:r>
              <a:rPr lang="zh-CN" altLang="en-US" dirty="0"/>
              <a:t>的小方格具有</a:t>
            </a:r>
            <a:r>
              <a:rPr lang="zh-CN" altLang="en-US" dirty="0">
                <a:solidFill>
                  <a:srgbClr val="FF0000"/>
                </a:solidFill>
              </a:rPr>
              <a:t>逻辑相邻性</a:t>
            </a:r>
            <a:endParaRPr lang="en-US" altLang="zh-CN" dirty="0"/>
          </a:p>
        </p:txBody>
      </p:sp>
      <p:sp>
        <p:nvSpPr>
          <p:cNvPr id="7" name="灯片编号占位符 6"/>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grpSp>
        <p:nvGrpSpPr>
          <p:cNvPr id="5" name="Group 26"/>
          <p:cNvGrpSpPr/>
          <p:nvPr/>
        </p:nvGrpSpPr>
        <p:grpSpPr bwMode="auto">
          <a:xfrm>
            <a:off x="4207166" y="4331269"/>
            <a:ext cx="4085063" cy="2451993"/>
            <a:chOff x="3211" y="437"/>
            <a:chExt cx="1781" cy="1339"/>
          </a:xfrm>
        </p:grpSpPr>
        <p:sp>
          <p:nvSpPr>
            <p:cNvPr id="6" name="Rectangle 27"/>
            <p:cNvSpPr>
              <a:spLocks noChangeArrowheads="1"/>
            </p:cNvSpPr>
            <p:nvPr/>
          </p:nvSpPr>
          <p:spPr bwMode="auto">
            <a:xfrm>
              <a:off x="4464" y="1490"/>
              <a:ext cx="28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10</a:t>
              </a:r>
              <a:endParaRPr lang="en-US" altLang="zh-CN" sz="2000" dirty="0"/>
            </a:p>
          </p:txBody>
        </p:sp>
        <p:sp>
          <p:nvSpPr>
            <p:cNvPr id="8" name="Rectangle 28"/>
            <p:cNvSpPr>
              <a:spLocks noChangeArrowheads="1"/>
            </p:cNvSpPr>
            <p:nvPr/>
          </p:nvSpPr>
          <p:spPr bwMode="auto">
            <a:xfrm>
              <a:off x="4464" y="1248"/>
              <a:ext cx="288"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14</a:t>
              </a:r>
              <a:endParaRPr lang="en-US" altLang="zh-CN" sz="2000" dirty="0"/>
            </a:p>
          </p:txBody>
        </p:sp>
        <p:sp>
          <p:nvSpPr>
            <p:cNvPr id="9" name="Rectangle 29"/>
            <p:cNvSpPr>
              <a:spLocks noChangeArrowheads="1"/>
            </p:cNvSpPr>
            <p:nvPr/>
          </p:nvSpPr>
          <p:spPr bwMode="auto">
            <a:xfrm>
              <a:off x="4464" y="100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6</a:t>
              </a:r>
              <a:endParaRPr lang="en-US" altLang="zh-CN" sz="2000"/>
            </a:p>
          </p:txBody>
        </p:sp>
        <p:sp>
          <p:nvSpPr>
            <p:cNvPr id="10" name="Rectangle 30"/>
            <p:cNvSpPr>
              <a:spLocks noChangeArrowheads="1"/>
            </p:cNvSpPr>
            <p:nvPr/>
          </p:nvSpPr>
          <p:spPr bwMode="auto">
            <a:xfrm>
              <a:off x="4464" y="76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2</a:t>
              </a:r>
              <a:endParaRPr lang="en-US" altLang="zh-CN" sz="2000"/>
            </a:p>
          </p:txBody>
        </p:sp>
        <p:sp>
          <p:nvSpPr>
            <p:cNvPr id="11" name="Rectangle 31"/>
            <p:cNvSpPr>
              <a:spLocks noChangeArrowheads="1"/>
            </p:cNvSpPr>
            <p:nvPr/>
          </p:nvSpPr>
          <p:spPr bwMode="auto">
            <a:xfrm>
              <a:off x="3888" y="1490"/>
              <a:ext cx="28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9</a:t>
              </a:r>
              <a:endParaRPr lang="en-US" altLang="zh-CN" sz="2000" dirty="0"/>
            </a:p>
          </p:txBody>
        </p:sp>
        <p:sp>
          <p:nvSpPr>
            <p:cNvPr id="12" name="Rectangle 32"/>
            <p:cNvSpPr>
              <a:spLocks noChangeArrowheads="1"/>
            </p:cNvSpPr>
            <p:nvPr/>
          </p:nvSpPr>
          <p:spPr bwMode="auto">
            <a:xfrm>
              <a:off x="3888" y="1248"/>
              <a:ext cx="288"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13</a:t>
              </a:r>
              <a:endParaRPr lang="en-US" altLang="zh-CN" sz="2000" dirty="0"/>
            </a:p>
          </p:txBody>
        </p:sp>
        <p:sp>
          <p:nvSpPr>
            <p:cNvPr id="13" name="Rectangle 33"/>
            <p:cNvSpPr>
              <a:spLocks noChangeArrowheads="1"/>
            </p:cNvSpPr>
            <p:nvPr/>
          </p:nvSpPr>
          <p:spPr bwMode="auto">
            <a:xfrm>
              <a:off x="3888" y="100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5</a:t>
              </a:r>
              <a:endParaRPr lang="en-US" altLang="zh-CN" sz="2000"/>
            </a:p>
          </p:txBody>
        </p:sp>
        <p:sp>
          <p:nvSpPr>
            <p:cNvPr id="14" name="Rectangle 34"/>
            <p:cNvSpPr>
              <a:spLocks noChangeArrowheads="1"/>
            </p:cNvSpPr>
            <p:nvPr/>
          </p:nvSpPr>
          <p:spPr bwMode="auto">
            <a:xfrm>
              <a:off x="3888" y="76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1</a:t>
              </a:r>
              <a:endParaRPr lang="en-US" altLang="zh-CN" sz="2000"/>
            </a:p>
          </p:txBody>
        </p:sp>
        <p:sp>
          <p:nvSpPr>
            <p:cNvPr id="15" name="Rectangle 35"/>
            <p:cNvSpPr>
              <a:spLocks noChangeArrowheads="1"/>
            </p:cNvSpPr>
            <p:nvPr/>
          </p:nvSpPr>
          <p:spPr bwMode="auto">
            <a:xfrm>
              <a:off x="4176" y="1490"/>
              <a:ext cx="28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11</a:t>
              </a:r>
              <a:endParaRPr lang="en-US" altLang="zh-CN" sz="2000" dirty="0"/>
            </a:p>
          </p:txBody>
        </p:sp>
        <p:sp>
          <p:nvSpPr>
            <p:cNvPr id="16" name="Rectangle 36"/>
            <p:cNvSpPr>
              <a:spLocks noChangeArrowheads="1"/>
            </p:cNvSpPr>
            <p:nvPr/>
          </p:nvSpPr>
          <p:spPr bwMode="auto">
            <a:xfrm>
              <a:off x="4176" y="1248"/>
              <a:ext cx="288"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15</a:t>
              </a:r>
              <a:endParaRPr lang="en-US" altLang="zh-CN" sz="2000" dirty="0"/>
            </a:p>
          </p:txBody>
        </p:sp>
        <p:sp>
          <p:nvSpPr>
            <p:cNvPr id="17" name="Rectangle 37"/>
            <p:cNvSpPr>
              <a:spLocks noChangeArrowheads="1"/>
            </p:cNvSpPr>
            <p:nvPr/>
          </p:nvSpPr>
          <p:spPr bwMode="auto">
            <a:xfrm>
              <a:off x="4176" y="100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7</a:t>
              </a:r>
              <a:endParaRPr lang="en-US" altLang="zh-CN" sz="2000"/>
            </a:p>
          </p:txBody>
        </p:sp>
        <p:sp>
          <p:nvSpPr>
            <p:cNvPr id="18" name="Rectangle 38"/>
            <p:cNvSpPr>
              <a:spLocks noChangeArrowheads="1"/>
            </p:cNvSpPr>
            <p:nvPr/>
          </p:nvSpPr>
          <p:spPr bwMode="auto">
            <a:xfrm>
              <a:off x="4176" y="76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3</a:t>
              </a:r>
              <a:endParaRPr lang="en-US" altLang="zh-CN" sz="2000"/>
            </a:p>
          </p:txBody>
        </p:sp>
        <p:sp>
          <p:nvSpPr>
            <p:cNvPr id="19" name="Rectangle 39"/>
            <p:cNvSpPr>
              <a:spLocks noChangeArrowheads="1"/>
            </p:cNvSpPr>
            <p:nvPr/>
          </p:nvSpPr>
          <p:spPr bwMode="auto">
            <a:xfrm>
              <a:off x="3600" y="1490"/>
              <a:ext cx="28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8</a:t>
              </a:r>
              <a:endParaRPr lang="en-US" altLang="zh-CN" sz="2000"/>
            </a:p>
          </p:txBody>
        </p:sp>
        <p:sp>
          <p:nvSpPr>
            <p:cNvPr id="20" name="Rectangle 40"/>
            <p:cNvSpPr>
              <a:spLocks noChangeArrowheads="1"/>
            </p:cNvSpPr>
            <p:nvPr/>
          </p:nvSpPr>
          <p:spPr bwMode="auto">
            <a:xfrm>
              <a:off x="3600" y="100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4</a:t>
              </a:r>
              <a:endParaRPr lang="en-US" altLang="zh-CN" sz="2000"/>
            </a:p>
          </p:txBody>
        </p:sp>
        <p:sp>
          <p:nvSpPr>
            <p:cNvPr id="21" name="Rectangle 41"/>
            <p:cNvSpPr>
              <a:spLocks noChangeArrowheads="1"/>
            </p:cNvSpPr>
            <p:nvPr/>
          </p:nvSpPr>
          <p:spPr bwMode="auto">
            <a:xfrm>
              <a:off x="3600" y="1248"/>
              <a:ext cx="288"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12</a:t>
              </a:r>
              <a:endParaRPr lang="en-US" altLang="zh-CN" sz="2000" dirty="0"/>
            </a:p>
          </p:txBody>
        </p:sp>
        <p:sp>
          <p:nvSpPr>
            <p:cNvPr id="22" name="Rectangle 42"/>
            <p:cNvSpPr>
              <a:spLocks noChangeArrowheads="1"/>
            </p:cNvSpPr>
            <p:nvPr/>
          </p:nvSpPr>
          <p:spPr bwMode="auto">
            <a:xfrm>
              <a:off x="3600" y="76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0</a:t>
              </a:r>
              <a:endParaRPr lang="en-US" altLang="zh-CN" sz="2000" dirty="0"/>
            </a:p>
          </p:txBody>
        </p:sp>
        <p:sp>
          <p:nvSpPr>
            <p:cNvPr id="23" name="Line 43"/>
            <p:cNvSpPr>
              <a:spLocks noChangeShapeType="1"/>
            </p:cNvSpPr>
            <p:nvPr/>
          </p:nvSpPr>
          <p:spPr bwMode="auto">
            <a:xfrm>
              <a:off x="3600" y="768"/>
              <a:ext cx="1152"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44"/>
            <p:cNvSpPr>
              <a:spLocks noChangeShapeType="1"/>
            </p:cNvSpPr>
            <p:nvPr/>
          </p:nvSpPr>
          <p:spPr bwMode="auto">
            <a:xfrm>
              <a:off x="3600" y="1776"/>
              <a:ext cx="1152"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Line 45"/>
            <p:cNvSpPr>
              <a:spLocks noChangeShapeType="1"/>
            </p:cNvSpPr>
            <p:nvPr/>
          </p:nvSpPr>
          <p:spPr bwMode="auto">
            <a:xfrm>
              <a:off x="3600" y="768"/>
              <a:ext cx="0" cy="1008"/>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Line 46"/>
            <p:cNvSpPr>
              <a:spLocks noChangeShapeType="1"/>
            </p:cNvSpPr>
            <p:nvPr/>
          </p:nvSpPr>
          <p:spPr bwMode="auto">
            <a:xfrm>
              <a:off x="4752" y="768"/>
              <a:ext cx="0" cy="1008"/>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Line 47"/>
            <p:cNvSpPr>
              <a:spLocks noChangeShapeType="1"/>
            </p:cNvSpPr>
            <p:nvPr/>
          </p:nvSpPr>
          <p:spPr bwMode="auto">
            <a:xfrm>
              <a:off x="3600" y="1248"/>
              <a:ext cx="115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28" name="Line 48"/>
            <p:cNvSpPr>
              <a:spLocks noChangeShapeType="1"/>
            </p:cNvSpPr>
            <p:nvPr/>
          </p:nvSpPr>
          <p:spPr bwMode="auto">
            <a:xfrm>
              <a:off x="3600" y="1008"/>
              <a:ext cx="115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Line 49"/>
            <p:cNvSpPr>
              <a:spLocks noChangeShapeType="1"/>
            </p:cNvSpPr>
            <p:nvPr/>
          </p:nvSpPr>
          <p:spPr bwMode="auto">
            <a:xfrm>
              <a:off x="3600" y="1490"/>
              <a:ext cx="115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Line 50"/>
            <p:cNvSpPr>
              <a:spLocks noChangeShapeType="1"/>
            </p:cNvSpPr>
            <p:nvPr/>
          </p:nvSpPr>
          <p:spPr bwMode="auto">
            <a:xfrm>
              <a:off x="4176" y="768"/>
              <a:ext cx="0" cy="10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Line 51"/>
            <p:cNvSpPr>
              <a:spLocks noChangeShapeType="1"/>
            </p:cNvSpPr>
            <p:nvPr/>
          </p:nvSpPr>
          <p:spPr bwMode="auto">
            <a:xfrm>
              <a:off x="3888" y="768"/>
              <a:ext cx="0" cy="10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Line 52"/>
            <p:cNvSpPr>
              <a:spLocks noChangeShapeType="1"/>
            </p:cNvSpPr>
            <p:nvPr/>
          </p:nvSpPr>
          <p:spPr bwMode="auto">
            <a:xfrm>
              <a:off x="4464" y="768"/>
              <a:ext cx="0" cy="10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Line 53"/>
            <p:cNvSpPr>
              <a:spLocks noChangeShapeType="1"/>
            </p:cNvSpPr>
            <p:nvPr/>
          </p:nvSpPr>
          <p:spPr bwMode="auto">
            <a:xfrm>
              <a:off x="3360" y="528"/>
              <a:ext cx="240" cy="24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Text Box 54"/>
            <p:cNvSpPr txBox="1">
              <a:spLocks noChangeArrowheads="1"/>
            </p:cNvSpPr>
            <p:nvPr/>
          </p:nvSpPr>
          <p:spPr bwMode="auto">
            <a:xfrm>
              <a:off x="3211" y="603"/>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i="1" dirty="0"/>
                <a:t>AB</a:t>
              </a:r>
              <a:endParaRPr lang="en-US" altLang="zh-CN" sz="1800" i="1" dirty="0"/>
            </a:p>
          </p:txBody>
        </p:sp>
        <p:sp>
          <p:nvSpPr>
            <p:cNvPr id="35" name="Text Box 55"/>
            <p:cNvSpPr txBox="1">
              <a:spLocks noChangeArrowheads="1"/>
            </p:cNvSpPr>
            <p:nvPr/>
          </p:nvSpPr>
          <p:spPr bwMode="auto">
            <a:xfrm>
              <a:off x="3408" y="437"/>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i="1" dirty="0"/>
                <a:t>CD</a:t>
              </a:r>
              <a:endParaRPr lang="en-US" altLang="zh-CN" sz="1800" i="1" dirty="0"/>
            </a:p>
          </p:txBody>
        </p:sp>
        <p:sp>
          <p:nvSpPr>
            <p:cNvPr id="36" name="Text Box 56"/>
            <p:cNvSpPr txBox="1">
              <a:spLocks noChangeArrowheads="1"/>
            </p:cNvSpPr>
            <p:nvPr/>
          </p:nvSpPr>
          <p:spPr bwMode="auto">
            <a:xfrm>
              <a:off x="3379" y="807"/>
              <a:ext cx="288" cy="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ts val="1400"/>
                </a:spcBef>
              </a:pPr>
              <a:r>
                <a:rPr lang="en-US" altLang="zh-CN" sz="1600" dirty="0">
                  <a:latin typeface="微软雅黑" panose="020B0503020204020204" pitchFamily="34" charset="-122"/>
                  <a:ea typeface="微软雅黑" panose="020B0503020204020204" pitchFamily="34" charset="-122"/>
                </a:rPr>
                <a:t>00</a:t>
              </a:r>
              <a:endParaRPr lang="en-US" altLang="zh-CN" sz="1600" dirty="0">
                <a:latin typeface="微软雅黑" panose="020B0503020204020204" pitchFamily="34" charset="-122"/>
                <a:ea typeface="微软雅黑" panose="020B0503020204020204" pitchFamily="34" charset="-122"/>
              </a:endParaRPr>
            </a:p>
            <a:p>
              <a:pPr>
                <a:spcBef>
                  <a:spcPts val="1400"/>
                </a:spcBef>
              </a:pPr>
              <a:r>
                <a:rPr lang="en-US" altLang="zh-CN" sz="1600" dirty="0">
                  <a:latin typeface="微软雅黑" panose="020B0503020204020204" pitchFamily="34" charset="-122"/>
                  <a:ea typeface="微软雅黑" panose="020B0503020204020204" pitchFamily="34" charset="-122"/>
                </a:rPr>
                <a:t>01</a:t>
              </a:r>
              <a:endParaRPr lang="en-US" altLang="zh-CN" sz="1600" dirty="0">
                <a:latin typeface="微软雅黑" panose="020B0503020204020204" pitchFamily="34" charset="-122"/>
                <a:ea typeface="微软雅黑" panose="020B0503020204020204" pitchFamily="34" charset="-122"/>
              </a:endParaRPr>
            </a:p>
            <a:p>
              <a:pPr>
                <a:spcBef>
                  <a:spcPts val="1400"/>
                </a:spcBef>
              </a:pPr>
              <a:r>
                <a:rPr lang="en-US" altLang="zh-CN" sz="1600" dirty="0">
                  <a:solidFill>
                    <a:srgbClr val="FF0000"/>
                  </a:solidFill>
                  <a:latin typeface="微软雅黑" panose="020B0503020204020204" pitchFamily="34" charset="-122"/>
                  <a:ea typeface="微软雅黑" panose="020B0503020204020204" pitchFamily="34" charset="-122"/>
                </a:rPr>
                <a:t>11</a:t>
              </a:r>
              <a:endParaRPr lang="en-US" altLang="zh-CN" sz="1600" dirty="0">
                <a:solidFill>
                  <a:srgbClr val="FF0000"/>
                </a:solidFill>
                <a:latin typeface="微软雅黑" panose="020B0503020204020204" pitchFamily="34" charset="-122"/>
                <a:ea typeface="微软雅黑" panose="020B0503020204020204" pitchFamily="34" charset="-122"/>
              </a:endParaRPr>
            </a:p>
            <a:p>
              <a:pPr>
                <a:spcBef>
                  <a:spcPts val="1400"/>
                </a:spcBef>
              </a:pPr>
              <a:r>
                <a:rPr lang="en-US" altLang="zh-CN" sz="1600" dirty="0">
                  <a:latin typeface="微软雅黑" panose="020B0503020204020204" pitchFamily="34" charset="-122"/>
                  <a:ea typeface="微软雅黑" panose="020B0503020204020204" pitchFamily="34" charset="-122"/>
                </a:rPr>
                <a:t>10</a:t>
              </a:r>
              <a:endParaRPr lang="en-US" altLang="zh-CN" sz="1600" dirty="0">
                <a:latin typeface="微软雅黑" panose="020B0503020204020204" pitchFamily="34" charset="-122"/>
                <a:ea typeface="微软雅黑" panose="020B0503020204020204" pitchFamily="34" charset="-122"/>
              </a:endParaRPr>
            </a:p>
          </p:txBody>
        </p:sp>
        <p:sp>
          <p:nvSpPr>
            <p:cNvPr id="37" name="Text Box 57"/>
            <p:cNvSpPr txBox="1">
              <a:spLocks noChangeArrowheads="1"/>
            </p:cNvSpPr>
            <p:nvPr/>
          </p:nvSpPr>
          <p:spPr bwMode="auto">
            <a:xfrm>
              <a:off x="3600" y="576"/>
              <a:ext cx="1392" cy="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dirty="0">
                  <a:latin typeface="微软雅黑" panose="020B0503020204020204" pitchFamily="34" charset="-122"/>
                  <a:ea typeface="微软雅黑" panose="020B0503020204020204" pitchFamily="34" charset="-122"/>
                </a:rPr>
                <a:t>00         01      </a:t>
              </a:r>
              <a:r>
                <a:rPr lang="en-US" altLang="zh-CN" sz="1600" dirty="0">
                  <a:solidFill>
                    <a:srgbClr val="FF0000"/>
                  </a:solidFill>
                  <a:latin typeface="微软雅黑" panose="020B0503020204020204" pitchFamily="34" charset="-122"/>
                  <a:ea typeface="微软雅黑" panose="020B0503020204020204" pitchFamily="34" charset="-122"/>
                </a:rPr>
                <a:t>11</a:t>
              </a:r>
              <a:r>
                <a:rPr lang="en-US" altLang="zh-CN" sz="1600" dirty="0">
                  <a:latin typeface="微软雅黑" panose="020B0503020204020204" pitchFamily="34" charset="-122"/>
                  <a:ea typeface="微软雅黑" panose="020B0503020204020204" pitchFamily="34" charset="-122"/>
                </a:rPr>
                <a:t>       10</a:t>
              </a:r>
              <a:endParaRPr lang="en-US" altLang="zh-CN" sz="1600" dirty="0">
                <a:latin typeface="微软雅黑" panose="020B0503020204020204" pitchFamily="34" charset="-122"/>
                <a:ea typeface="微软雅黑" panose="020B0503020204020204" pitchFamily="34" charset="-122"/>
              </a:endParaRPr>
            </a:p>
          </p:txBody>
        </p:sp>
      </p:grpSp>
      <p:grpSp>
        <p:nvGrpSpPr>
          <p:cNvPr id="38" name="Group 58"/>
          <p:cNvGrpSpPr/>
          <p:nvPr/>
        </p:nvGrpSpPr>
        <p:grpSpPr bwMode="auto">
          <a:xfrm>
            <a:off x="413978" y="4846755"/>
            <a:ext cx="3352800" cy="1447800"/>
            <a:chOff x="288" y="1440"/>
            <a:chExt cx="2112" cy="912"/>
          </a:xfrm>
        </p:grpSpPr>
        <p:sp>
          <p:nvSpPr>
            <p:cNvPr id="39" name="Line 59"/>
            <p:cNvSpPr>
              <a:spLocks noChangeShapeType="1"/>
            </p:cNvSpPr>
            <p:nvPr/>
          </p:nvSpPr>
          <p:spPr bwMode="auto">
            <a:xfrm>
              <a:off x="1776" y="1824"/>
              <a:ext cx="576"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Line 60"/>
            <p:cNvSpPr>
              <a:spLocks noChangeShapeType="1"/>
            </p:cNvSpPr>
            <p:nvPr/>
          </p:nvSpPr>
          <p:spPr bwMode="auto">
            <a:xfrm>
              <a:off x="1776" y="2352"/>
              <a:ext cx="576"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 name="Line 61"/>
            <p:cNvSpPr>
              <a:spLocks noChangeShapeType="1"/>
            </p:cNvSpPr>
            <p:nvPr/>
          </p:nvSpPr>
          <p:spPr bwMode="auto">
            <a:xfrm>
              <a:off x="1776" y="1824"/>
              <a:ext cx="0" cy="528"/>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Line 62"/>
            <p:cNvSpPr>
              <a:spLocks noChangeShapeType="1"/>
            </p:cNvSpPr>
            <p:nvPr/>
          </p:nvSpPr>
          <p:spPr bwMode="auto">
            <a:xfrm>
              <a:off x="2352" y="1824"/>
              <a:ext cx="0" cy="528"/>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Line 63"/>
            <p:cNvSpPr>
              <a:spLocks noChangeShapeType="1"/>
            </p:cNvSpPr>
            <p:nvPr/>
          </p:nvSpPr>
          <p:spPr bwMode="auto">
            <a:xfrm>
              <a:off x="1776" y="2088"/>
              <a:ext cx="57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64"/>
            <p:cNvSpPr>
              <a:spLocks noChangeShapeType="1"/>
            </p:cNvSpPr>
            <p:nvPr/>
          </p:nvSpPr>
          <p:spPr bwMode="auto">
            <a:xfrm>
              <a:off x="2064" y="1824"/>
              <a:ext cx="0" cy="52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Line 65"/>
            <p:cNvSpPr>
              <a:spLocks noChangeShapeType="1"/>
            </p:cNvSpPr>
            <p:nvPr/>
          </p:nvSpPr>
          <p:spPr bwMode="auto">
            <a:xfrm>
              <a:off x="1536" y="1584"/>
              <a:ext cx="240" cy="24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Rectangle 66"/>
            <p:cNvSpPr>
              <a:spLocks noChangeArrowheads="1"/>
            </p:cNvSpPr>
            <p:nvPr/>
          </p:nvSpPr>
          <p:spPr bwMode="auto">
            <a:xfrm>
              <a:off x="2064" y="2054"/>
              <a:ext cx="288"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1600" i="1"/>
                <a:t>m</a:t>
              </a:r>
              <a:r>
                <a:rPr lang="en-US" altLang="zh-CN" sz="1600" baseline="-25000"/>
                <a:t>3</a:t>
              </a:r>
              <a:endParaRPr lang="en-US" altLang="zh-CN" sz="1600" baseline="-25000"/>
            </a:p>
          </p:txBody>
        </p:sp>
        <p:sp>
          <p:nvSpPr>
            <p:cNvPr id="47" name="Rectangle 67"/>
            <p:cNvSpPr>
              <a:spLocks noChangeArrowheads="1"/>
            </p:cNvSpPr>
            <p:nvPr/>
          </p:nvSpPr>
          <p:spPr bwMode="auto">
            <a:xfrm>
              <a:off x="2064" y="1824"/>
              <a:ext cx="288"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1600" i="1" dirty="0"/>
                <a:t>m</a:t>
              </a:r>
              <a:r>
                <a:rPr lang="en-US" altLang="zh-CN" sz="1600" baseline="-25000" dirty="0"/>
                <a:t>1</a:t>
              </a:r>
              <a:endParaRPr lang="en-US" altLang="zh-CN" sz="1600" baseline="-25000" dirty="0"/>
            </a:p>
          </p:txBody>
        </p:sp>
        <p:sp>
          <p:nvSpPr>
            <p:cNvPr id="48" name="Rectangle 68"/>
            <p:cNvSpPr>
              <a:spLocks noChangeArrowheads="1"/>
            </p:cNvSpPr>
            <p:nvPr/>
          </p:nvSpPr>
          <p:spPr bwMode="auto">
            <a:xfrm>
              <a:off x="1776" y="2054"/>
              <a:ext cx="288"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1600" i="1" dirty="0"/>
                <a:t>m</a:t>
              </a:r>
              <a:r>
                <a:rPr lang="en-US" altLang="zh-CN" sz="1600" baseline="-25000" dirty="0"/>
                <a:t>2</a:t>
              </a:r>
              <a:endParaRPr lang="en-US" altLang="zh-CN" sz="1600" baseline="-25000" dirty="0"/>
            </a:p>
          </p:txBody>
        </p:sp>
        <p:sp>
          <p:nvSpPr>
            <p:cNvPr id="49" name="Rectangle 69"/>
            <p:cNvSpPr>
              <a:spLocks noChangeArrowheads="1"/>
            </p:cNvSpPr>
            <p:nvPr/>
          </p:nvSpPr>
          <p:spPr bwMode="auto">
            <a:xfrm>
              <a:off x="1776" y="1824"/>
              <a:ext cx="288"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1600" i="1" dirty="0"/>
                <a:t>m</a:t>
              </a:r>
              <a:r>
                <a:rPr lang="en-US" altLang="zh-CN" sz="1600" baseline="-25000" dirty="0"/>
                <a:t>0</a:t>
              </a:r>
              <a:endParaRPr lang="en-US" altLang="zh-CN" sz="1600" baseline="-25000" dirty="0"/>
            </a:p>
          </p:txBody>
        </p:sp>
        <p:sp>
          <p:nvSpPr>
            <p:cNvPr id="50" name="Text Box 70"/>
            <p:cNvSpPr txBox="1">
              <a:spLocks noChangeArrowheads="1"/>
            </p:cNvSpPr>
            <p:nvPr/>
          </p:nvSpPr>
          <p:spPr bwMode="auto">
            <a:xfrm>
              <a:off x="1584" y="1488"/>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i="1"/>
                <a:t>B</a:t>
              </a:r>
              <a:endParaRPr lang="en-US" altLang="zh-CN" sz="1800" i="1"/>
            </a:p>
          </p:txBody>
        </p:sp>
        <p:sp>
          <p:nvSpPr>
            <p:cNvPr id="51" name="Text Box 71"/>
            <p:cNvSpPr txBox="1">
              <a:spLocks noChangeArrowheads="1"/>
            </p:cNvSpPr>
            <p:nvPr/>
          </p:nvSpPr>
          <p:spPr bwMode="auto">
            <a:xfrm>
              <a:off x="1392" y="1584"/>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i="1"/>
                <a:t>A</a:t>
              </a:r>
              <a:endParaRPr lang="en-US" altLang="zh-CN" sz="1800" i="1"/>
            </a:p>
          </p:txBody>
        </p:sp>
        <p:sp>
          <p:nvSpPr>
            <p:cNvPr id="52" name="Text Box 72"/>
            <p:cNvSpPr txBox="1">
              <a:spLocks noChangeArrowheads="1"/>
            </p:cNvSpPr>
            <p:nvPr/>
          </p:nvSpPr>
          <p:spPr bwMode="auto">
            <a:xfrm>
              <a:off x="1824" y="1632"/>
              <a:ext cx="57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0       1</a:t>
              </a:r>
              <a:endParaRPr lang="en-US" altLang="zh-CN" sz="1600"/>
            </a:p>
          </p:txBody>
        </p:sp>
        <p:sp>
          <p:nvSpPr>
            <p:cNvPr id="53" name="Text Box 73"/>
            <p:cNvSpPr txBox="1">
              <a:spLocks noChangeArrowheads="1"/>
            </p:cNvSpPr>
            <p:nvPr/>
          </p:nvSpPr>
          <p:spPr bwMode="auto">
            <a:xfrm>
              <a:off x="1584" y="1824"/>
              <a:ext cx="192" cy="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0</a:t>
              </a:r>
              <a:endParaRPr lang="en-US" altLang="zh-CN" sz="1600"/>
            </a:p>
            <a:p>
              <a:pPr>
                <a:spcBef>
                  <a:spcPct val="50000"/>
                </a:spcBef>
              </a:pPr>
              <a:r>
                <a:rPr lang="en-US" altLang="zh-CN" sz="1600"/>
                <a:t>1</a:t>
              </a:r>
              <a:endParaRPr lang="en-US" altLang="zh-CN" sz="1600"/>
            </a:p>
          </p:txBody>
        </p:sp>
        <p:sp>
          <p:nvSpPr>
            <p:cNvPr id="54" name="Line 74"/>
            <p:cNvSpPr>
              <a:spLocks noChangeShapeType="1"/>
            </p:cNvSpPr>
            <p:nvPr/>
          </p:nvSpPr>
          <p:spPr bwMode="auto">
            <a:xfrm>
              <a:off x="672" y="1776"/>
              <a:ext cx="576"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Line 75"/>
            <p:cNvSpPr>
              <a:spLocks noChangeShapeType="1"/>
            </p:cNvSpPr>
            <p:nvPr/>
          </p:nvSpPr>
          <p:spPr bwMode="auto">
            <a:xfrm>
              <a:off x="672" y="2352"/>
              <a:ext cx="576"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 name="Line 76"/>
            <p:cNvSpPr>
              <a:spLocks noChangeShapeType="1"/>
            </p:cNvSpPr>
            <p:nvPr/>
          </p:nvSpPr>
          <p:spPr bwMode="auto">
            <a:xfrm>
              <a:off x="672" y="1776"/>
              <a:ext cx="0" cy="576"/>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 name="Line 77"/>
            <p:cNvSpPr>
              <a:spLocks noChangeShapeType="1"/>
            </p:cNvSpPr>
            <p:nvPr/>
          </p:nvSpPr>
          <p:spPr bwMode="auto">
            <a:xfrm>
              <a:off x="1248" y="1776"/>
              <a:ext cx="0" cy="576"/>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 name="Line 78"/>
            <p:cNvSpPr>
              <a:spLocks noChangeShapeType="1"/>
            </p:cNvSpPr>
            <p:nvPr/>
          </p:nvSpPr>
          <p:spPr bwMode="auto">
            <a:xfrm>
              <a:off x="672" y="2064"/>
              <a:ext cx="57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 name="Line 79"/>
            <p:cNvSpPr>
              <a:spLocks noChangeShapeType="1"/>
            </p:cNvSpPr>
            <p:nvPr/>
          </p:nvSpPr>
          <p:spPr bwMode="auto">
            <a:xfrm>
              <a:off x="960" y="1776"/>
              <a:ext cx="0" cy="57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 name="Line 80"/>
            <p:cNvSpPr>
              <a:spLocks noChangeShapeType="1"/>
            </p:cNvSpPr>
            <p:nvPr/>
          </p:nvSpPr>
          <p:spPr bwMode="auto">
            <a:xfrm>
              <a:off x="432" y="1536"/>
              <a:ext cx="240" cy="24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 name="Rectangle 81"/>
            <p:cNvSpPr>
              <a:spLocks noChangeArrowheads="1"/>
            </p:cNvSpPr>
            <p:nvPr/>
          </p:nvSpPr>
          <p:spPr bwMode="auto">
            <a:xfrm>
              <a:off x="960" y="2122"/>
              <a:ext cx="288"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p>
              <a:pPr algn="ctr"/>
              <a:r>
                <a:rPr lang="en-US" altLang="zh-CN" sz="1800" dirty="0"/>
                <a:t>AB</a:t>
              </a:r>
              <a:endParaRPr lang="en-US" altLang="zh-CN" sz="1800" dirty="0"/>
            </a:p>
          </p:txBody>
        </p:sp>
        <p:sp>
          <p:nvSpPr>
            <p:cNvPr id="62" name="Rectangle 82"/>
            <p:cNvSpPr>
              <a:spLocks noChangeArrowheads="1"/>
            </p:cNvSpPr>
            <p:nvPr/>
          </p:nvSpPr>
          <p:spPr bwMode="auto">
            <a:xfrm>
              <a:off x="960" y="1776"/>
              <a:ext cx="288"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63" name="Rectangle 83"/>
            <p:cNvSpPr>
              <a:spLocks noChangeArrowheads="1"/>
            </p:cNvSpPr>
            <p:nvPr/>
          </p:nvSpPr>
          <p:spPr bwMode="auto">
            <a:xfrm>
              <a:off x="672" y="2006"/>
              <a:ext cx="288"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64" name="Rectangle 84"/>
            <p:cNvSpPr>
              <a:spLocks noChangeArrowheads="1"/>
            </p:cNvSpPr>
            <p:nvPr/>
          </p:nvSpPr>
          <p:spPr bwMode="auto">
            <a:xfrm>
              <a:off x="672" y="1776"/>
              <a:ext cx="288"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1600" i="1"/>
            </a:p>
          </p:txBody>
        </p:sp>
        <p:sp>
          <p:nvSpPr>
            <p:cNvPr id="65" name="Text Box 85"/>
            <p:cNvSpPr txBox="1">
              <a:spLocks noChangeArrowheads="1"/>
            </p:cNvSpPr>
            <p:nvPr/>
          </p:nvSpPr>
          <p:spPr bwMode="auto">
            <a:xfrm>
              <a:off x="480" y="144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i="1" dirty="0"/>
                <a:t>B</a:t>
              </a:r>
              <a:endParaRPr lang="en-US" altLang="zh-CN" sz="1800" i="1" dirty="0"/>
            </a:p>
          </p:txBody>
        </p:sp>
        <p:sp>
          <p:nvSpPr>
            <p:cNvPr id="66" name="Text Box 86"/>
            <p:cNvSpPr txBox="1">
              <a:spLocks noChangeArrowheads="1"/>
            </p:cNvSpPr>
            <p:nvPr/>
          </p:nvSpPr>
          <p:spPr bwMode="auto">
            <a:xfrm>
              <a:off x="288" y="1536"/>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i="1"/>
                <a:t>A</a:t>
              </a:r>
              <a:endParaRPr lang="en-US" altLang="zh-CN" sz="1800" i="1"/>
            </a:p>
          </p:txBody>
        </p:sp>
        <p:sp>
          <p:nvSpPr>
            <p:cNvPr id="67" name="Text Box 87"/>
            <p:cNvSpPr txBox="1">
              <a:spLocks noChangeArrowheads="1"/>
            </p:cNvSpPr>
            <p:nvPr/>
          </p:nvSpPr>
          <p:spPr bwMode="auto">
            <a:xfrm>
              <a:off x="720" y="1584"/>
              <a:ext cx="57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dirty="0"/>
                <a:t>0       1</a:t>
              </a:r>
              <a:endParaRPr lang="en-US" altLang="zh-CN" sz="1600" dirty="0"/>
            </a:p>
          </p:txBody>
        </p:sp>
        <p:sp>
          <p:nvSpPr>
            <p:cNvPr id="68" name="Text Box 88"/>
            <p:cNvSpPr txBox="1">
              <a:spLocks noChangeArrowheads="1"/>
            </p:cNvSpPr>
            <p:nvPr/>
          </p:nvSpPr>
          <p:spPr bwMode="auto">
            <a:xfrm>
              <a:off x="480" y="1776"/>
              <a:ext cx="192" cy="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0</a:t>
              </a:r>
              <a:endParaRPr lang="en-US" altLang="zh-CN" sz="1600"/>
            </a:p>
            <a:p>
              <a:pPr>
                <a:spcBef>
                  <a:spcPct val="50000"/>
                </a:spcBef>
              </a:pPr>
              <a:r>
                <a:rPr lang="en-US" altLang="zh-CN" sz="1600"/>
                <a:t>1</a:t>
              </a:r>
              <a:endParaRPr lang="en-US" altLang="zh-CN" sz="1600"/>
            </a:p>
          </p:txBody>
        </p:sp>
        <mc:AlternateContent xmlns:mc="http://schemas.openxmlformats.org/markup-compatibility/2006">
          <mc:Choice xmlns:a14="http://schemas.microsoft.com/office/drawing/2010/main" Requires="a14">
            <p:sp>
              <p:nvSpPr>
                <p:cNvPr id="69" name="Object 89"/>
                <p:cNvSpPr txBox="1"/>
                <p:nvPr/>
              </p:nvSpPr>
              <p:spPr bwMode="auto">
                <a:xfrm>
                  <a:off x="672" y="1836"/>
                  <a:ext cx="257" cy="252"/>
                </a:xfrm>
                <a:prstGeom prst="rect">
                  <a:avLst/>
                </a:prstGeom>
                <a:noFill/>
                <a:ln>
                  <a:noFill/>
                </a:ln>
                <a:effectLst/>
              </p:spPr>
              <p:txBody>
                <a:bodyPr>
                  <a:normAutofit/>
                </a:bodyPr>
                <a:lstStyle/>
                <a:p>
                  <a14:m>
                    <m:oMathPara xmlns:m="http://schemas.openxmlformats.org/officeDocument/2006/math">
                      <m:oMathParaPr>
                        <m:jc m:val="centerGroup"/>
                      </m:oMathParaPr>
                      <m:oMath xmlns:m="http://schemas.openxmlformats.org/officeDocument/2006/math">
                        <m:bar>
                          <m:barPr>
                            <m:pos m:val="top"/>
                            <m:ctrlPr>
                              <a:rPr lang="zh-CN" altLang="en-US" sz="1800" i="1">
                                <a:solidFill>
                                  <a:srgbClr val="000000"/>
                                </a:solidFill>
                                <a:latin typeface="Cambria Math" panose="02040503050406030204" pitchFamily="18" charset="0"/>
                              </a:rPr>
                            </m:ctrlPr>
                          </m:barPr>
                          <m:e>
                            <m:r>
                              <a:rPr lang="zh-CN" altLang="en-US" sz="1800" b="1" i="0">
                                <a:solidFill>
                                  <a:srgbClr val="000000"/>
                                </a:solidFill>
                                <a:latin typeface="Cambria Math" panose="02040503050406030204" pitchFamily="18" charset="0"/>
                              </a:rPr>
                              <m:t>𝐀</m:t>
                            </m:r>
                          </m:e>
                        </m:bar>
                        <m:bar>
                          <m:barPr>
                            <m:pos m:val="top"/>
                            <m:ctrlPr>
                              <a:rPr lang="zh-CN" altLang="en-US" sz="1800" i="1">
                                <a:solidFill>
                                  <a:srgbClr val="000000"/>
                                </a:solidFill>
                                <a:latin typeface="Cambria Math" panose="02040503050406030204" pitchFamily="18" charset="0"/>
                              </a:rPr>
                            </m:ctrlPr>
                          </m:barPr>
                          <m:e>
                            <m:r>
                              <a:rPr lang="zh-CN" altLang="en-US" sz="1800" b="1" i="0">
                                <a:solidFill>
                                  <a:srgbClr val="000000"/>
                                </a:solidFill>
                                <a:latin typeface="Cambria Math" panose="02040503050406030204" pitchFamily="18" charset="0"/>
                              </a:rPr>
                              <m:t>𝐁</m:t>
                            </m:r>
                          </m:e>
                        </m:bar>
                      </m:oMath>
                    </m:oMathPara>
                  </a14:m>
                  <a:endParaRPr lang="zh-CN" altLang="en-US" sz="1800" dirty="0"/>
                </a:p>
              </p:txBody>
            </p:sp>
          </mc:Choice>
          <mc:Fallback>
            <p:sp>
              <p:nvSpPr>
                <p:cNvPr id="69" name="Object 89"/>
                <p:cNvSpPr txBox="1">
                  <a:spLocks noRot="1" noChangeAspect="1" noMove="1" noResize="1" noEditPoints="1" noAdjustHandles="1" noChangeArrowheads="1" noChangeShapeType="1" noTextEdit="1"/>
                </p:cNvSpPr>
                <p:nvPr/>
              </p:nvSpPr>
              <p:spPr bwMode="auto">
                <a:xfrm>
                  <a:off x="672" y="1836"/>
                  <a:ext cx="257" cy="252"/>
                </a:xfrm>
                <a:prstGeom prst="rect">
                  <a:avLst/>
                </a:prstGeom>
                <a:blipFill rotWithShape="1">
                  <a:blip r:embed="rId1"/>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0" name="Object 90"/>
                <p:cNvSpPr txBox="1"/>
                <p:nvPr/>
              </p:nvSpPr>
              <p:spPr bwMode="auto">
                <a:xfrm>
                  <a:off x="988" y="1836"/>
                  <a:ext cx="248" cy="263"/>
                </a:xfrm>
                <a:prstGeom prst="rect">
                  <a:avLst/>
                </a:prstGeom>
                <a:noFill/>
                <a:ln>
                  <a:noFill/>
                </a:ln>
                <a:effectLst/>
              </p:spPr>
              <p:txBody>
                <a:bodyPr>
                  <a:normAutofit/>
                </a:bodyPr>
                <a:lstStyle/>
                <a:p>
                  <a14:m>
                    <m:oMathPara xmlns:m="http://schemas.openxmlformats.org/officeDocument/2006/math">
                      <m:oMathParaPr>
                        <m:jc m:val="centerGroup"/>
                      </m:oMathParaPr>
                      <m:oMath xmlns:m="http://schemas.openxmlformats.org/officeDocument/2006/math">
                        <m:bar>
                          <m:barPr>
                            <m:pos m:val="top"/>
                            <m:ctrlPr>
                              <a:rPr lang="zh-CN" altLang="en-US" i="1">
                                <a:solidFill>
                                  <a:srgbClr val="000000"/>
                                </a:solidFill>
                                <a:latin typeface="Cambria Math" panose="02040503050406030204" pitchFamily="18" charset="0"/>
                              </a:rPr>
                            </m:ctrlPr>
                          </m:barPr>
                          <m:e>
                            <m:r>
                              <a:rPr lang="zh-CN" altLang="en-US" b="1" i="0">
                                <a:solidFill>
                                  <a:srgbClr val="000000"/>
                                </a:solidFill>
                                <a:latin typeface="Cambria Math" panose="02040503050406030204" pitchFamily="18" charset="0"/>
                              </a:rPr>
                              <m:t>𝐀</m:t>
                            </m:r>
                          </m:e>
                        </m:bar>
                        <m:r>
                          <a:rPr lang="zh-CN" altLang="en-US" b="1" i="0">
                            <a:solidFill>
                              <a:srgbClr val="000000"/>
                            </a:solidFill>
                            <a:latin typeface="Cambria Math" panose="02040503050406030204" pitchFamily="18" charset="0"/>
                          </a:rPr>
                          <m:t>𝐁</m:t>
                        </m:r>
                      </m:oMath>
                    </m:oMathPara>
                  </a14:m>
                  <a:endParaRPr lang="zh-CN" altLang="en-US" dirty="0"/>
                </a:p>
              </p:txBody>
            </p:sp>
          </mc:Choice>
          <mc:Fallback>
            <p:sp>
              <p:nvSpPr>
                <p:cNvPr id="70" name="Object 90"/>
                <p:cNvSpPr txBox="1">
                  <a:spLocks noRot="1" noChangeAspect="1" noMove="1" noResize="1" noEditPoints="1" noAdjustHandles="1" noChangeArrowheads="1" noChangeShapeType="1" noTextEdit="1"/>
                </p:cNvSpPr>
                <p:nvPr/>
              </p:nvSpPr>
              <p:spPr bwMode="auto">
                <a:xfrm>
                  <a:off x="988" y="1836"/>
                  <a:ext cx="248" cy="263"/>
                </a:xfrm>
                <a:prstGeom prst="rect">
                  <a:avLst/>
                </a:prstGeom>
                <a:blipFill rotWithShape="1">
                  <a:blip r:embed="rId2"/>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1" name="Object 91"/>
                <p:cNvSpPr txBox="1"/>
                <p:nvPr/>
              </p:nvSpPr>
              <p:spPr bwMode="auto">
                <a:xfrm>
                  <a:off x="660" y="2099"/>
                  <a:ext cx="257" cy="245"/>
                </a:xfrm>
                <a:prstGeom prst="rect">
                  <a:avLst/>
                </a:prstGeom>
                <a:noFill/>
                <a:ln>
                  <a:noFill/>
                </a:ln>
                <a:effectLst/>
              </p:spPr>
              <p:txBody>
                <a:bodyPr>
                  <a:normAutofit fontScale="92500"/>
                </a:bodyPr>
                <a:lstStyle/>
                <a:p>
                  <a14:m>
                    <m:oMathPara xmlns:m="http://schemas.openxmlformats.org/officeDocument/2006/math">
                      <m:oMathParaPr>
                        <m:jc m:val="centerGroup"/>
                      </m:oMathParaPr>
                      <m:oMath xmlns:m="http://schemas.openxmlformats.org/officeDocument/2006/math">
                        <m:r>
                          <a:rPr lang="zh-CN" altLang="en-US" sz="1800" b="1" i="0">
                            <a:solidFill>
                              <a:srgbClr val="000000"/>
                            </a:solidFill>
                            <a:latin typeface="Cambria Math" panose="02040503050406030204" pitchFamily="18" charset="0"/>
                          </a:rPr>
                          <m:t>𝐀</m:t>
                        </m:r>
                        <m:bar>
                          <m:barPr>
                            <m:pos m:val="top"/>
                            <m:ctrlPr>
                              <a:rPr lang="zh-CN" altLang="en-US" sz="1800" i="1">
                                <a:solidFill>
                                  <a:srgbClr val="000000"/>
                                </a:solidFill>
                                <a:latin typeface="Cambria Math" panose="02040503050406030204" pitchFamily="18" charset="0"/>
                              </a:rPr>
                            </m:ctrlPr>
                          </m:barPr>
                          <m:e>
                            <m:r>
                              <a:rPr lang="zh-CN" altLang="en-US" sz="1800" b="1" i="0">
                                <a:solidFill>
                                  <a:srgbClr val="000000"/>
                                </a:solidFill>
                                <a:latin typeface="Cambria Math" panose="02040503050406030204" pitchFamily="18" charset="0"/>
                              </a:rPr>
                              <m:t>𝐁</m:t>
                            </m:r>
                          </m:e>
                        </m:bar>
                      </m:oMath>
                    </m:oMathPara>
                  </a14:m>
                  <a:endParaRPr lang="zh-CN" altLang="en-US" sz="1800" dirty="0"/>
                </a:p>
              </p:txBody>
            </p:sp>
          </mc:Choice>
          <mc:Fallback>
            <p:sp>
              <p:nvSpPr>
                <p:cNvPr id="71" name="Object 91"/>
                <p:cNvSpPr txBox="1">
                  <a:spLocks noRot="1" noChangeAspect="1" noMove="1" noResize="1" noEditPoints="1" noAdjustHandles="1" noChangeArrowheads="1" noChangeShapeType="1" noTextEdit="1"/>
                </p:cNvSpPr>
                <p:nvPr/>
              </p:nvSpPr>
              <p:spPr bwMode="auto">
                <a:xfrm>
                  <a:off x="660" y="2099"/>
                  <a:ext cx="257" cy="245"/>
                </a:xfrm>
                <a:prstGeom prst="rect">
                  <a:avLst/>
                </a:prstGeom>
                <a:blipFill rotWithShape="1">
                  <a:blip r:embed="rId3"/>
                </a:blipFill>
                <a:ln>
                  <a:noFill/>
                </a:ln>
                <a:effectLst/>
              </p:spPr>
              <p:txBody>
                <a:bodyPr/>
                <a:lstStyle/>
                <a:p>
                  <a:r>
                    <a:rPr lang="zh-CN" altLang="en-US">
                      <a:noFill/>
                    </a:rPr>
                    <a:t> </a:t>
                  </a:r>
                </a:p>
              </p:txBody>
            </p:sp>
          </mc:Fallback>
        </mc:AlternateContent>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35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035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035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035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035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0-#ppt_w/2"/>
                                          </p:val>
                                        </p:tav>
                                        <p:tav tm="100000">
                                          <p:val>
                                            <p:strVal val="#ppt_x"/>
                                          </p:val>
                                        </p:tav>
                                      </p:tavLst>
                                    </p:anim>
                                    <p:anim calcmode="lin" valueType="num">
                                      <p:cBhvr additive="base">
                                        <p:cTn id="20"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5"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en-US" altLang="zh-CN" dirty="0"/>
              <a:t>4.2 </a:t>
            </a:r>
            <a:r>
              <a:rPr lang="zh-CN" altLang="en-US" dirty="0"/>
              <a:t>卡诺图化简</a:t>
            </a:r>
            <a:endParaRPr lang="zh-CN" altLang="en-US" dirty="0"/>
          </a:p>
        </p:txBody>
      </p:sp>
      <p:sp>
        <p:nvSpPr>
          <p:cNvPr id="100355" name="Rectangle 3"/>
          <p:cNvSpPr>
            <a:spLocks noGrp="1" noChangeArrowheads="1"/>
          </p:cNvSpPr>
          <p:nvPr>
            <p:ph idx="1"/>
          </p:nvPr>
        </p:nvSpPr>
        <p:spPr>
          <a:xfrm>
            <a:off x="64501" y="789082"/>
            <a:ext cx="4796611" cy="5767130"/>
          </a:xfrm>
        </p:spPr>
        <p:txBody>
          <a:bodyPr/>
          <a:lstStyle/>
          <a:p>
            <a:r>
              <a:rPr lang="zh-CN" altLang="en-US" sz="2100" dirty="0"/>
              <a:t>卡诺图每个单元对应一个最小项，其中标注该最小项在</a:t>
            </a:r>
            <a:r>
              <a:rPr lang="zh-CN" altLang="en-US" sz="2100" dirty="0">
                <a:solidFill>
                  <a:srgbClr val="FF0000"/>
                </a:solidFill>
              </a:rPr>
              <a:t>真值表</a:t>
            </a:r>
            <a:r>
              <a:rPr lang="zh-CN" altLang="en-US" sz="2100" dirty="0"/>
              <a:t>中的输出值，如果输出为</a:t>
            </a:r>
            <a:r>
              <a:rPr lang="en-US" altLang="zh-CN" sz="2100" dirty="0"/>
              <a:t>1</a:t>
            </a:r>
            <a:r>
              <a:rPr lang="zh-CN" altLang="en-US" sz="2100" dirty="0"/>
              <a:t>，则称为“</a:t>
            </a:r>
            <a:r>
              <a:rPr lang="en-US" altLang="zh-CN" sz="2100" dirty="0">
                <a:solidFill>
                  <a:srgbClr val="FF0000"/>
                </a:solidFill>
              </a:rPr>
              <a:t>1</a:t>
            </a:r>
            <a:r>
              <a:rPr lang="zh-CN" altLang="en-US" sz="2100" dirty="0">
                <a:solidFill>
                  <a:srgbClr val="FF0000"/>
                </a:solidFill>
              </a:rPr>
              <a:t>单元</a:t>
            </a:r>
            <a:r>
              <a:rPr lang="zh-CN" altLang="en-US" sz="2100" dirty="0"/>
              <a:t>”</a:t>
            </a:r>
            <a:endParaRPr lang="en-US" altLang="zh-CN" sz="2100" dirty="0"/>
          </a:p>
          <a:p>
            <a:r>
              <a:rPr lang="zh-CN" altLang="en-US" sz="2100" dirty="0"/>
              <a:t>若两个“</a:t>
            </a:r>
            <a:r>
              <a:rPr lang="en-US" altLang="zh-CN" sz="2100" dirty="0"/>
              <a:t>1</a:t>
            </a:r>
            <a:r>
              <a:rPr lang="zh-CN" altLang="en-US" sz="2100" dirty="0"/>
              <a:t>单元”</a:t>
            </a:r>
            <a:r>
              <a:rPr lang="zh-CN" altLang="en-US" sz="2100" dirty="0">
                <a:solidFill>
                  <a:srgbClr val="FF0000"/>
                </a:solidFill>
              </a:rPr>
              <a:t>相邻</a:t>
            </a:r>
            <a:r>
              <a:rPr lang="zh-CN" altLang="en-US" sz="2100" dirty="0"/>
              <a:t>，则表示两个最小项仅</a:t>
            </a:r>
            <a:r>
              <a:rPr lang="en-US" altLang="zh-CN" sz="2100" dirty="0"/>
              <a:t>1</a:t>
            </a:r>
            <a:r>
              <a:rPr lang="zh-CN" altLang="en-US" sz="2100" dirty="0"/>
              <a:t>个变量不同，该变量在一个方格中为原变量，在另一个方格中则为反变量。根据</a:t>
            </a:r>
            <a:r>
              <a:rPr lang="en-US" altLang="zh-CN" sz="2100" dirty="0"/>
              <a:t>T10</a:t>
            </a:r>
            <a:r>
              <a:rPr lang="zh-CN" altLang="en-US" sz="2100" dirty="0"/>
              <a:t>，这两个最小项可合并为</a:t>
            </a:r>
            <a:r>
              <a:rPr lang="zh-CN" altLang="en-US" sz="2100" dirty="0">
                <a:solidFill>
                  <a:srgbClr val="FF0000"/>
                </a:solidFill>
              </a:rPr>
              <a:t>一个乘积项</a:t>
            </a:r>
            <a:r>
              <a:rPr lang="zh-CN" altLang="en-US" sz="2100" dirty="0"/>
              <a:t>，并消去</a:t>
            </a:r>
            <a:r>
              <a:rPr lang="zh-CN" altLang="en-US" sz="2100" dirty="0">
                <a:solidFill>
                  <a:srgbClr val="FF0000"/>
                </a:solidFill>
              </a:rPr>
              <a:t>那个</a:t>
            </a:r>
            <a:r>
              <a:rPr lang="zh-CN" altLang="en-US" sz="2100" dirty="0"/>
              <a:t>不相同的变量</a:t>
            </a:r>
            <a:endParaRPr lang="en-US" altLang="zh-CN" sz="2100" dirty="0"/>
          </a:p>
          <a:p>
            <a:r>
              <a:rPr lang="zh-CN" altLang="en-US" sz="2100" dirty="0"/>
              <a:t>相邻单元数越多可消去的变量数越多</a:t>
            </a:r>
            <a:endParaRPr lang="en-US" altLang="zh-CN" sz="2100" dirty="0"/>
          </a:p>
          <a:p>
            <a:r>
              <a:rPr lang="zh-CN" altLang="en-US" sz="2100" dirty="0"/>
              <a:t>相邻</a:t>
            </a:r>
            <a:r>
              <a:rPr lang="en-US" altLang="zh-CN" sz="2100" dirty="0">
                <a:solidFill>
                  <a:srgbClr val="FF0000"/>
                </a:solidFill>
              </a:rPr>
              <a:t>2</a:t>
            </a:r>
            <a:r>
              <a:rPr lang="en-US" altLang="zh-CN" sz="2100" baseline="30000" dirty="0">
                <a:solidFill>
                  <a:srgbClr val="FF0000"/>
                </a:solidFill>
              </a:rPr>
              <a:t>i</a:t>
            </a:r>
            <a:r>
              <a:rPr lang="zh-CN" altLang="en-US" sz="2100" dirty="0"/>
              <a:t>个</a:t>
            </a:r>
            <a:r>
              <a:rPr lang="zh-CN" altLang="en-US" sz="2100" dirty="0">
                <a:solidFill>
                  <a:schemeClr val="accent2"/>
                </a:solidFill>
              </a:rPr>
              <a:t>“</a:t>
            </a:r>
            <a:r>
              <a:rPr lang="en-US" altLang="zh-CN" sz="2100" dirty="0">
                <a:solidFill>
                  <a:srgbClr val="FF0000"/>
                </a:solidFill>
              </a:rPr>
              <a:t>1</a:t>
            </a:r>
            <a:r>
              <a:rPr lang="zh-CN" altLang="en-US" sz="2100" dirty="0">
                <a:solidFill>
                  <a:srgbClr val="FF0000"/>
                </a:solidFill>
              </a:rPr>
              <a:t>单元</a:t>
            </a:r>
            <a:r>
              <a:rPr lang="zh-CN" altLang="en-US" sz="2100" dirty="0">
                <a:solidFill>
                  <a:schemeClr val="accent2"/>
                </a:solidFill>
              </a:rPr>
              <a:t>” </a:t>
            </a:r>
            <a:r>
              <a:rPr lang="zh-CN" altLang="en-US" sz="2100" dirty="0"/>
              <a:t>的最小项可以合并成一个乘积项，并消去</a:t>
            </a:r>
            <a:r>
              <a:rPr lang="en-US" altLang="zh-CN" sz="2100" dirty="0" err="1">
                <a:solidFill>
                  <a:srgbClr val="FF0000"/>
                </a:solidFill>
              </a:rPr>
              <a:t>i</a:t>
            </a:r>
            <a:r>
              <a:rPr lang="zh-CN" altLang="en-US" sz="2100" dirty="0"/>
              <a:t>个不同的变量</a:t>
            </a:r>
            <a:endParaRPr lang="en-US" altLang="zh-CN" sz="2100" dirty="0"/>
          </a:p>
          <a:p>
            <a:r>
              <a:rPr lang="zh-CN" altLang="en-US" sz="2100" dirty="0"/>
              <a:t>使用一个方框来标注可以合并的“</a:t>
            </a:r>
            <a:r>
              <a:rPr lang="en-US" altLang="zh-CN" sz="2100" dirty="0"/>
              <a:t>1</a:t>
            </a:r>
            <a:r>
              <a:rPr lang="zh-CN" altLang="en-US" sz="2100" dirty="0"/>
              <a:t>单元” ，这个方框称为</a:t>
            </a:r>
            <a:r>
              <a:rPr lang="zh-CN" altLang="en-US" sz="2100" dirty="0">
                <a:solidFill>
                  <a:srgbClr val="FF0000"/>
                </a:solidFill>
              </a:rPr>
              <a:t>卡诺圈</a:t>
            </a:r>
            <a:endParaRPr lang="zh-CN" altLang="en-US" sz="2100" dirty="0"/>
          </a:p>
        </p:txBody>
      </p:sp>
      <p:sp>
        <p:nvSpPr>
          <p:cNvPr id="7" name="灯片编号占位符 6"/>
          <p:cNvSpPr>
            <a:spLocks noGrp="1"/>
          </p:cNvSpPr>
          <p:nvPr>
            <p:ph type="sldNum" sz="quarter" idx="4294967295"/>
          </p:nvPr>
        </p:nvSpPr>
        <p:spPr>
          <a:xfrm>
            <a:off x="8590497" y="6473606"/>
            <a:ext cx="501650" cy="333375"/>
          </a:xfrm>
          <a:prstGeom prst="rect">
            <a:avLst/>
          </a:prstGeom>
        </p:spPr>
        <p:txBody>
          <a:bodyPr/>
          <a:lstStyle/>
          <a:p>
            <a:pPr>
              <a:defRPr/>
            </a:pPr>
            <a:fld id="{F38CFDAA-5283-40C9-80A4-C3781C02EB22}" type="slidenum">
              <a:rPr lang="en-US" altLang="zh-CN" smtClean="0"/>
            </a:fld>
            <a:endParaRPr lang="en-US" altLang="zh-CN"/>
          </a:p>
        </p:txBody>
      </p:sp>
      <p:sp>
        <p:nvSpPr>
          <p:cNvPr id="5" name="AutoShape 7"/>
          <p:cNvSpPr>
            <a:spLocks noChangeArrowheads="1"/>
          </p:cNvSpPr>
          <p:nvPr/>
        </p:nvSpPr>
        <p:spPr bwMode="auto">
          <a:xfrm>
            <a:off x="6539623" y="702271"/>
            <a:ext cx="381000" cy="823912"/>
          </a:xfrm>
          <a:prstGeom prst="flowChartAlternateProcess">
            <a:avLst/>
          </a:prstGeom>
          <a:solidFill>
            <a:schemeClr val="bg1"/>
          </a:solidFill>
          <a:ln w="19050">
            <a:solidFill>
              <a:srgbClr val="CC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 name="Group 8"/>
          <p:cNvGrpSpPr/>
          <p:nvPr/>
        </p:nvGrpSpPr>
        <p:grpSpPr bwMode="auto">
          <a:xfrm>
            <a:off x="5320423" y="49808"/>
            <a:ext cx="2895600" cy="1524000"/>
            <a:chOff x="144" y="2304"/>
            <a:chExt cx="1824" cy="960"/>
          </a:xfrm>
        </p:grpSpPr>
        <p:sp>
          <p:nvSpPr>
            <p:cNvPr id="8" name="Rectangle 9"/>
            <p:cNvSpPr>
              <a:spLocks noChangeArrowheads="1"/>
            </p:cNvSpPr>
            <p:nvPr/>
          </p:nvSpPr>
          <p:spPr bwMode="auto">
            <a:xfrm>
              <a:off x="1536" y="2976"/>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9" name="Rectangle 10"/>
            <p:cNvSpPr>
              <a:spLocks noChangeArrowheads="1"/>
            </p:cNvSpPr>
            <p:nvPr/>
          </p:nvSpPr>
          <p:spPr bwMode="auto">
            <a:xfrm>
              <a:off x="1536" y="268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10" name="Rectangle 11"/>
            <p:cNvSpPr>
              <a:spLocks noChangeArrowheads="1"/>
            </p:cNvSpPr>
            <p:nvPr/>
          </p:nvSpPr>
          <p:spPr bwMode="auto">
            <a:xfrm>
              <a:off x="864" y="2976"/>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1</a:t>
              </a:r>
              <a:endParaRPr lang="en-US" altLang="zh-CN" sz="2000"/>
            </a:p>
          </p:txBody>
        </p:sp>
        <p:sp>
          <p:nvSpPr>
            <p:cNvPr id="11" name="Rectangle 12"/>
            <p:cNvSpPr>
              <a:spLocks noChangeArrowheads="1"/>
            </p:cNvSpPr>
            <p:nvPr/>
          </p:nvSpPr>
          <p:spPr bwMode="auto">
            <a:xfrm>
              <a:off x="864" y="268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1</a:t>
              </a:r>
              <a:endParaRPr lang="en-US" altLang="zh-CN" sz="2000"/>
            </a:p>
          </p:txBody>
        </p:sp>
        <p:sp>
          <p:nvSpPr>
            <p:cNvPr id="12" name="Rectangle 13"/>
            <p:cNvSpPr>
              <a:spLocks noChangeArrowheads="1"/>
            </p:cNvSpPr>
            <p:nvPr/>
          </p:nvSpPr>
          <p:spPr bwMode="auto">
            <a:xfrm>
              <a:off x="1200" y="2976"/>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13" name="Rectangle 14"/>
            <p:cNvSpPr>
              <a:spLocks noChangeArrowheads="1"/>
            </p:cNvSpPr>
            <p:nvPr/>
          </p:nvSpPr>
          <p:spPr bwMode="auto">
            <a:xfrm>
              <a:off x="1200" y="268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14" name="Rectangle 15"/>
            <p:cNvSpPr>
              <a:spLocks noChangeArrowheads="1"/>
            </p:cNvSpPr>
            <p:nvPr/>
          </p:nvSpPr>
          <p:spPr bwMode="auto">
            <a:xfrm>
              <a:off x="528" y="2976"/>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15" name="Rectangle 16"/>
            <p:cNvSpPr>
              <a:spLocks noChangeArrowheads="1"/>
            </p:cNvSpPr>
            <p:nvPr/>
          </p:nvSpPr>
          <p:spPr bwMode="auto">
            <a:xfrm>
              <a:off x="528" y="268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16" name="Line 17"/>
            <p:cNvSpPr>
              <a:spLocks noChangeShapeType="1"/>
            </p:cNvSpPr>
            <p:nvPr/>
          </p:nvSpPr>
          <p:spPr bwMode="auto">
            <a:xfrm>
              <a:off x="528" y="2688"/>
              <a:ext cx="1344"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18"/>
            <p:cNvSpPr>
              <a:spLocks noChangeShapeType="1"/>
            </p:cNvSpPr>
            <p:nvPr/>
          </p:nvSpPr>
          <p:spPr bwMode="auto">
            <a:xfrm>
              <a:off x="528" y="3264"/>
              <a:ext cx="1344"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19"/>
            <p:cNvSpPr>
              <a:spLocks noChangeShapeType="1"/>
            </p:cNvSpPr>
            <p:nvPr/>
          </p:nvSpPr>
          <p:spPr bwMode="auto">
            <a:xfrm>
              <a:off x="528" y="2688"/>
              <a:ext cx="0" cy="576"/>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20"/>
            <p:cNvSpPr>
              <a:spLocks noChangeShapeType="1"/>
            </p:cNvSpPr>
            <p:nvPr/>
          </p:nvSpPr>
          <p:spPr bwMode="auto">
            <a:xfrm>
              <a:off x="1872" y="2688"/>
              <a:ext cx="0" cy="576"/>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21"/>
            <p:cNvSpPr>
              <a:spLocks noChangeShapeType="1"/>
            </p:cNvSpPr>
            <p:nvPr/>
          </p:nvSpPr>
          <p:spPr bwMode="auto">
            <a:xfrm>
              <a:off x="528" y="2976"/>
              <a:ext cx="134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22"/>
            <p:cNvSpPr>
              <a:spLocks noChangeShapeType="1"/>
            </p:cNvSpPr>
            <p:nvPr/>
          </p:nvSpPr>
          <p:spPr bwMode="auto">
            <a:xfrm>
              <a:off x="1200" y="2688"/>
              <a:ext cx="0" cy="57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Line 23"/>
            <p:cNvSpPr>
              <a:spLocks noChangeShapeType="1"/>
            </p:cNvSpPr>
            <p:nvPr/>
          </p:nvSpPr>
          <p:spPr bwMode="auto">
            <a:xfrm>
              <a:off x="864" y="2688"/>
              <a:ext cx="0" cy="57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Line 24"/>
            <p:cNvSpPr>
              <a:spLocks noChangeShapeType="1"/>
            </p:cNvSpPr>
            <p:nvPr/>
          </p:nvSpPr>
          <p:spPr bwMode="auto">
            <a:xfrm>
              <a:off x="1536" y="2688"/>
              <a:ext cx="0" cy="57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25"/>
            <p:cNvSpPr>
              <a:spLocks noChangeShapeType="1"/>
            </p:cNvSpPr>
            <p:nvPr/>
          </p:nvSpPr>
          <p:spPr bwMode="auto">
            <a:xfrm>
              <a:off x="288" y="2448"/>
              <a:ext cx="240" cy="24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Text Box 26"/>
            <p:cNvSpPr txBox="1">
              <a:spLocks noChangeArrowheads="1"/>
            </p:cNvSpPr>
            <p:nvPr/>
          </p:nvSpPr>
          <p:spPr bwMode="auto">
            <a:xfrm>
              <a:off x="144" y="240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i="1"/>
                <a:t>A</a:t>
              </a:r>
              <a:endParaRPr lang="en-US" altLang="zh-CN" sz="1800" i="1"/>
            </a:p>
          </p:txBody>
        </p:sp>
        <p:sp>
          <p:nvSpPr>
            <p:cNvPr id="26" name="Text Box 27"/>
            <p:cNvSpPr txBox="1">
              <a:spLocks noChangeArrowheads="1"/>
            </p:cNvSpPr>
            <p:nvPr/>
          </p:nvSpPr>
          <p:spPr bwMode="auto">
            <a:xfrm>
              <a:off x="288" y="2304"/>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i="1"/>
                <a:t>BC</a:t>
              </a:r>
              <a:endParaRPr lang="en-US" altLang="zh-CN" sz="1800" i="1"/>
            </a:p>
          </p:txBody>
        </p:sp>
        <p:sp>
          <p:nvSpPr>
            <p:cNvPr id="27" name="Text Box 28"/>
            <p:cNvSpPr txBox="1">
              <a:spLocks noChangeArrowheads="1"/>
            </p:cNvSpPr>
            <p:nvPr/>
          </p:nvSpPr>
          <p:spPr bwMode="auto">
            <a:xfrm>
              <a:off x="576" y="2448"/>
              <a:ext cx="139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00      01       11      10</a:t>
              </a:r>
              <a:endParaRPr lang="en-US" altLang="zh-CN" sz="1600"/>
            </a:p>
          </p:txBody>
        </p:sp>
        <p:sp>
          <p:nvSpPr>
            <p:cNvPr id="28" name="Text Box 29"/>
            <p:cNvSpPr txBox="1">
              <a:spLocks noChangeArrowheads="1"/>
            </p:cNvSpPr>
            <p:nvPr/>
          </p:nvSpPr>
          <p:spPr bwMode="auto">
            <a:xfrm>
              <a:off x="336" y="2736"/>
              <a:ext cx="192" cy="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0</a:t>
              </a:r>
              <a:endParaRPr lang="en-US" altLang="zh-CN" sz="1600"/>
            </a:p>
            <a:p>
              <a:pPr>
                <a:spcBef>
                  <a:spcPct val="50000"/>
                </a:spcBef>
              </a:pPr>
              <a:r>
                <a:rPr lang="en-US" altLang="zh-CN" sz="1600"/>
                <a:t>1</a:t>
              </a:r>
              <a:endParaRPr lang="en-US" altLang="zh-CN" sz="1600"/>
            </a:p>
          </p:txBody>
        </p:sp>
      </p:grpSp>
      <mc:AlternateContent xmlns:mc="http://schemas.openxmlformats.org/markup-compatibility/2006">
        <mc:Choice xmlns:a14="http://schemas.microsoft.com/office/drawing/2010/main" Requires="a14">
          <p:sp>
            <p:nvSpPr>
              <p:cNvPr id="29" name="Object 63"/>
              <p:cNvSpPr txBox="1"/>
              <p:nvPr/>
            </p:nvSpPr>
            <p:spPr bwMode="auto">
              <a:xfrm>
                <a:off x="8090543" y="768897"/>
                <a:ext cx="887413" cy="533400"/>
              </a:xfrm>
              <a:prstGeom prst="rect">
                <a:avLst/>
              </a:prstGeom>
              <a:noFill/>
              <a:ln>
                <a:noFill/>
              </a:ln>
              <a:effectLst/>
            </p:spPr>
            <p:txBody>
              <a:bodyPr>
                <a:normAutofit/>
              </a:bodyPr>
              <a:lstStyle/>
              <a:p>
                <a14:m>
                  <m:oMathPara xmlns:m="http://schemas.openxmlformats.org/officeDocument/2006/math">
                    <m:oMathParaPr>
                      <m:jc m:val="centerGroup"/>
                    </m:oMathParaPr>
                    <m:oMath xmlns:m="http://schemas.openxmlformats.org/officeDocument/2006/math">
                      <m:bar>
                        <m:barPr>
                          <m:pos m:val="top"/>
                          <m:ctrlPr>
                            <a:rPr lang="zh-CN" altLang="en-US" sz="2400" i="1">
                              <a:solidFill>
                                <a:srgbClr val="000000"/>
                              </a:solidFill>
                              <a:latin typeface="Cambria Math" panose="02040503050406030204" pitchFamily="18" charset="0"/>
                            </a:rPr>
                          </m:ctrlPr>
                        </m:barPr>
                        <m:e>
                          <m:r>
                            <a:rPr lang="zh-CN" altLang="en-US" sz="2400" i="1">
                              <a:solidFill>
                                <a:srgbClr val="000000"/>
                              </a:solidFill>
                              <a:latin typeface="Cambria Math" panose="02040503050406030204" pitchFamily="18" charset="0"/>
                            </a:rPr>
                            <m:t>𝐵</m:t>
                          </m:r>
                        </m:e>
                      </m:bar>
                      <m:r>
                        <a:rPr lang="zh-CN" altLang="en-US" sz="2400" i="1" smtClean="0">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𝐶</m:t>
                      </m:r>
                    </m:oMath>
                  </m:oMathPara>
                </a14:m>
                <a:endParaRPr lang="zh-CN" altLang="en-US" sz="2400" dirty="0"/>
              </a:p>
            </p:txBody>
          </p:sp>
        </mc:Choice>
        <mc:Fallback>
          <p:sp>
            <p:nvSpPr>
              <p:cNvPr id="29" name="Object 63"/>
              <p:cNvSpPr txBox="1">
                <a:spLocks noRot="1" noChangeAspect="1" noMove="1" noResize="1" noEditPoints="1" noAdjustHandles="1" noChangeArrowheads="1" noChangeShapeType="1" noTextEdit="1"/>
              </p:cNvSpPr>
              <p:nvPr/>
            </p:nvSpPr>
            <p:spPr bwMode="auto">
              <a:xfrm>
                <a:off x="8090543" y="768897"/>
                <a:ext cx="887413" cy="533400"/>
              </a:xfrm>
              <a:prstGeom prst="rect">
                <a:avLst/>
              </a:prstGeom>
              <a:blipFill rotWithShape="1">
                <a:blip r:embed="rId1"/>
                <a:stretch>
                  <a:fillRect l="-1" t="-103" r="37" b="103"/>
                </a:stretch>
              </a:blipFill>
              <a:ln>
                <a:noFill/>
              </a:ln>
              <a:effectLst/>
            </p:spPr>
            <p:txBody>
              <a:bodyPr/>
              <a:lstStyle/>
              <a:p>
                <a:r>
                  <a:rPr lang="zh-CN" altLang="en-US">
                    <a:noFill/>
                  </a:rPr>
                  <a:t> </a:t>
                </a:r>
              </a:p>
            </p:txBody>
          </p:sp>
        </mc:Fallback>
      </mc:AlternateContent>
      <p:graphicFrame>
        <p:nvGraphicFramePr>
          <p:cNvPr id="30" name="Object 87"/>
          <p:cNvGraphicFramePr>
            <a:graphicFrameLocks noChangeAspect="1"/>
          </p:cNvGraphicFramePr>
          <p:nvPr/>
        </p:nvGraphicFramePr>
        <p:xfrm>
          <a:off x="8299267" y="2750157"/>
          <a:ext cx="708025" cy="419100"/>
        </p:xfrm>
        <a:graphic>
          <a:graphicData uri="http://schemas.openxmlformats.org/presentationml/2006/ole">
            <mc:AlternateContent xmlns:mc="http://schemas.openxmlformats.org/markup-compatibility/2006">
              <mc:Choice xmlns:v="urn:schemas-microsoft-com:vml" Requires="v">
                <p:oleObj spid="_x0000_s21526" name="Equation" r:id="rId2" imgW="342900" imgH="203200" progId="Equation.3">
                  <p:embed/>
                </p:oleObj>
              </mc:Choice>
              <mc:Fallback>
                <p:oleObj name="Equation" r:id="rId2" imgW="342900" imgH="203200" progId="Equation.3">
                  <p:embed/>
                  <p:pic>
                    <p:nvPicPr>
                      <p:cNvPr id="0" name="Object 8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99267" y="2750157"/>
                        <a:ext cx="708025"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1" name="Group 88"/>
          <p:cNvGrpSpPr/>
          <p:nvPr/>
        </p:nvGrpSpPr>
        <p:grpSpPr bwMode="auto">
          <a:xfrm>
            <a:off x="5426075" y="1650400"/>
            <a:ext cx="2895600" cy="2209800"/>
            <a:chOff x="3168" y="384"/>
            <a:chExt cx="1824" cy="1392"/>
          </a:xfrm>
        </p:grpSpPr>
        <p:sp>
          <p:nvSpPr>
            <p:cNvPr id="32" name="Rectangle 89"/>
            <p:cNvSpPr>
              <a:spLocks noChangeArrowheads="1"/>
            </p:cNvSpPr>
            <p:nvPr/>
          </p:nvSpPr>
          <p:spPr bwMode="auto">
            <a:xfrm>
              <a:off x="4464" y="1490"/>
              <a:ext cx="28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1</a:t>
              </a:r>
              <a:endParaRPr lang="en-US" altLang="zh-CN" sz="2000"/>
            </a:p>
          </p:txBody>
        </p:sp>
        <p:sp>
          <p:nvSpPr>
            <p:cNvPr id="33" name="Rectangle 90"/>
            <p:cNvSpPr>
              <a:spLocks noChangeArrowheads="1"/>
            </p:cNvSpPr>
            <p:nvPr/>
          </p:nvSpPr>
          <p:spPr bwMode="auto">
            <a:xfrm>
              <a:off x="4464" y="1248"/>
              <a:ext cx="288"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34" name="Rectangle 91"/>
            <p:cNvSpPr>
              <a:spLocks noChangeArrowheads="1"/>
            </p:cNvSpPr>
            <p:nvPr/>
          </p:nvSpPr>
          <p:spPr bwMode="auto">
            <a:xfrm>
              <a:off x="4464" y="100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35" name="Rectangle 92"/>
            <p:cNvSpPr>
              <a:spLocks noChangeArrowheads="1"/>
            </p:cNvSpPr>
            <p:nvPr/>
          </p:nvSpPr>
          <p:spPr bwMode="auto">
            <a:xfrm>
              <a:off x="4464" y="76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1</a:t>
              </a:r>
              <a:endParaRPr lang="en-US" altLang="zh-CN" sz="2000"/>
            </a:p>
          </p:txBody>
        </p:sp>
        <p:sp>
          <p:nvSpPr>
            <p:cNvPr id="36" name="Rectangle 93"/>
            <p:cNvSpPr>
              <a:spLocks noChangeArrowheads="1"/>
            </p:cNvSpPr>
            <p:nvPr/>
          </p:nvSpPr>
          <p:spPr bwMode="auto">
            <a:xfrm>
              <a:off x="3888" y="1490"/>
              <a:ext cx="28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37" name="Rectangle 94"/>
            <p:cNvSpPr>
              <a:spLocks noChangeArrowheads="1"/>
            </p:cNvSpPr>
            <p:nvPr/>
          </p:nvSpPr>
          <p:spPr bwMode="auto">
            <a:xfrm>
              <a:off x="3888" y="1248"/>
              <a:ext cx="288"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38" name="Rectangle 95"/>
            <p:cNvSpPr>
              <a:spLocks noChangeArrowheads="1"/>
            </p:cNvSpPr>
            <p:nvPr/>
          </p:nvSpPr>
          <p:spPr bwMode="auto">
            <a:xfrm>
              <a:off x="3888" y="100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39" name="Rectangle 96"/>
            <p:cNvSpPr>
              <a:spLocks noChangeArrowheads="1"/>
            </p:cNvSpPr>
            <p:nvPr/>
          </p:nvSpPr>
          <p:spPr bwMode="auto">
            <a:xfrm>
              <a:off x="3888" y="76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40" name="Rectangle 97"/>
            <p:cNvSpPr>
              <a:spLocks noChangeArrowheads="1"/>
            </p:cNvSpPr>
            <p:nvPr/>
          </p:nvSpPr>
          <p:spPr bwMode="auto">
            <a:xfrm>
              <a:off x="4176" y="1490"/>
              <a:ext cx="28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41" name="Rectangle 98"/>
            <p:cNvSpPr>
              <a:spLocks noChangeArrowheads="1"/>
            </p:cNvSpPr>
            <p:nvPr/>
          </p:nvSpPr>
          <p:spPr bwMode="auto">
            <a:xfrm>
              <a:off x="4176" y="1248"/>
              <a:ext cx="288"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42" name="Rectangle 99"/>
            <p:cNvSpPr>
              <a:spLocks noChangeArrowheads="1"/>
            </p:cNvSpPr>
            <p:nvPr/>
          </p:nvSpPr>
          <p:spPr bwMode="auto">
            <a:xfrm>
              <a:off x="4176" y="100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43" name="Rectangle 100"/>
            <p:cNvSpPr>
              <a:spLocks noChangeArrowheads="1"/>
            </p:cNvSpPr>
            <p:nvPr/>
          </p:nvSpPr>
          <p:spPr bwMode="auto">
            <a:xfrm>
              <a:off x="4176" y="76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44" name="Rectangle 101"/>
            <p:cNvSpPr>
              <a:spLocks noChangeArrowheads="1"/>
            </p:cNvSpPr>
            <p:nvPr/>
          </p:nvSpPr>
          <p:spPr bwMode="auto">
            <a:xfrm>
              <a:off x="3600" y="1490"/>
              <a:ext cx="28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1</a:t>
              </a:r>
              <a:endParaRPr lang="en-US" altLang="zh-CN" sz="2000"/>
            </a:p>
          </p:txBody>
        </p:sp>
        <p:sp>
          <p:nvSpPr>
            <p:cNvPr id="45" name="Rectangle 102"/>
            <p:cNvSpPr>
              <a:spLocks noChangeArrowheads="1"/>
            </p:cNvSpPr>
            <p:nvPr/>
          </p:nvSpPr>
          <p:spPr bwMode="auto">
            <a:xfrm>
              <a:off x="3600" y="100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46" name="Rectangle 103"/>
            <p:cNvSpPr>
              <a:spLocks noChangeArrowheads="1"/>
            </p:cNvSpPr>
            <p:nvPr/>
          </p:nvSpPr>
          <p:spPr bwMode="auto">
            <a:xfrm>
              <a:off x="3600" y="1248"/>
              <a:ext cx="288"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47" name="Rectangle 104"/>
            <p:cNvSpPr>
              <a:spLocks noChangeArrowheads="1"/>
            </p:cNvSpPr>
            <p:nvPr/>
          </p:nvSpPr>
          <p:spPr bwMode="auto">
            <a:xfrm>
              <a:off x="3600" y="76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1</a:t>
              </a:r>
              <a:endParaRPr lang="en-US" altLang="zh-CN" sz="2000"/>
            </a:p>
          </p:txBody>
        </p:sp>
        <p:sp>
          <p:nvSpPr>
            <p:cNvPr id="48" name="Line 105"/>
            <p:cNvSpPr>
              <a:spLocks noChangeShapeType="1"/>
            </p:cNvSpPr>
            <p:nvPr/>
          </p:nvSpPr>
          <p:spPr bwMode="auto">
            <a:xfrm>
              <a:off x="3600" y="768"/>
              <a:ext cx="1152"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 name="Line 106"/>
            <p:cNvSpPr>
              <a:spLocks noChangeShapeType="1"/>
            </p:cNvSpPr>
            <p:nvPr/>
          </p:nvSpPr>
          <p:spPr bwMode="auto">
            <a:xfrm>
              <a:off x="3600" y="1776"/>
              <a:ext cx="1152"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Line 107"/>
            <p:cNvSpPr>
              <a:spLocks noChangeShapeType="1"/>
            </p:cNvSpPr>
            <p:nvPr/>
          </p:nvSpPr>
          <p:spPr bwMode="auto">
            <a:xfrm>
              <a:off x="3600" y="768"/>
              <a:ext cx="0" cy="1008"/>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 name="Line 108"/>
            <p:cNvSpPr>
              <a:spLocks noChangeShapeType="1"/>
            </p:cNvSpPr>
            <p:nvPr/>
          </p:nvSpPr>
          <p:spPr bwMode="auto">
            <a:xfrm>
              <a:off x="4752" y="768"/>
              <a:ext cx="0" cy="1008"/>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 name="Line 109"/>
            <p:cNvSpPr>
              <a:spLocks noChangeShapeType="1"/>
            </p:cNvSpPr>
            <p:nvPr/>
          </p:nvSpPr>
          <p:spPr bwMode="auto">
            <a:xfrm>
              <a:off x="3600" y="1248"/>
              <a:ext cx="115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 name="Line 110"/>
            <p:cNvSpPr>
              <a:spLocks noChangeShapeType="1"/>
            </p:cNvSpPr>
            <p:nvPr/>
          </p:nvSpPr>
          <p:spPr bwMode="auto">
            <a:xfrm>
              <a:off x="3600" y="1008"/>
              <a:ext cx="115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Line 111"/>
            <p:cNvSpPr>
              <a:spLocks noChangeShapeType="1"/>
            </p:cNvSpPr>
            <p:nvPr/>
          </p:nvSpPr>
          <p:spPr bwMode="auto">
            <a:xfrm>
              <a:off x="3600" y="1490"/>
              <a:ext cx="115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Line 112"/>
            <p:cNvSpPr>
              <a:spLocks noChangeShapeType="1"/>
            </p:cNvSpPr>
            <p:nvPr/>
          </p:nvSpPr>
          <p:spPr bwMode="auto">
            <a:xfrm>
              <a:off x="4176" y="768"/>
              <a:ext cx="0" cy="10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 name="Line 113"/>
            <p:cNvSpPr>
              <a:spLocks noChangeShapeType="1"/>
            </p:cNvSpPr>
            <p:nvPr/>
          </p:nvSpPr>
          <p:spPr bwMode="auto">
            <a:xfrm>
              <a:off x="3888" y="768"/>
              <a:ext cx="0" cy="10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 name="Line 114"/>
            <p:cNvSpPr>
              <a:spLocks noChangeShapeType="1"/>
            </p:cNvSpPr>
            <p:nvPr/>
          </p:nvSpPr>
          <p:spPr bwMode="auto">
            <a:xfrm>
              <a:off x="4464" y="768"/>
              <a:ext cx="0" cy="10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 name="Line 115"/>
            <p:cNvSpPr>
              <a:spLocks noChangeShapeType="1"/>
            </p:cNvSpPr>
            <p:nvPr/>
          </p:nvSpPr>
          <p:spPr bwMode="auto">
            <a:xfrm>
              <a:off x="3360" y="528"/>
              <a:ext cx="240" cy="24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 name="Text Box 116"/>
            <p:cNvSpPr txBox="1">
              <a:spLocks noChangeArrowheads="1"/>
            </p:cNvSpPr>
            <p:nvPr/>
          </p:nvSpPr>
          <p:spPr bwMode="auto">
            <a:xfrm>
              <a:off x="3168" y="528"/>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i="1"/>
                <a:t>AB</a:t>
              </a:r>
              <a:endParaRPr lang="en-US" altLang="zh-CN" sz="1800" i="1"/>
            </a:p>
          </p:txBody>
        </p:sp>
        <p:sp>
          <p:nvSpPr>
            <p:cNvPr id="60" name="Text Box 117"/>
            <p:cNvSpPr txBox="1">
              <a:spLocks noChangeArrowheads="1"/>
            </p:cNvSpPr>
            <p:nvPr/>
          </p:nvSpPr>
          <p:spPr bwMode="auto">
            <a:xfrm>
              <a:off x="3360" y="384"/>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i="1" dirty="0"/>
                <a:t>CD</a:t>
              </a:r>
              <a:endParaRPr lang="en-US" altLang="zh-CN" sz="1800" i="1" dirty="0"/>
            </a:p>
          </p:txBody>
        </p:sp>
        <p:sp>
          <p:nvSpPr>
            <p:cNvPr id="61" name="Text Box 118"/>
            <p:cNvSpPr txBox="1">
              <a:spLocks noChangeArrowheads="1"/>
            </p:cNvSpPr>
            <p:nvPr/>
          </p:nvSpPr>
          <p:spPr bwMode="auto">
            <a:xfrm>
              <a:off x="3360" y="816"/>
              <a:ext cx="288" cy="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00</a:t>
              </a:r>
              <a:endParaRPr lang="en-US" altLang="zh-CN" sz="1600"/>
            </a:p>
            <a:p>
              <a:pPr>
                <a:spcBef>
                  <a:spcPct val="50000"/>
                </a:spcBef>
              </a:pPr>
              <a:r>
                <a:rPr lang="en-US" altLang="zh-CN" sz="1600"/>
                <a:t>01</a:t>
              </a:r>
              <a:endParaRPr lang="en-US" altLang="zh-CN" sz="1600"/>
            </a:p>
            <a:p>
              <a:pPr>
                <a:spcBef>
                  <a:spcPct val="50000"/>
                </a:spcBef>
              </a:pPr>
              <a:r>
                <a:rPr lang="en-US" altLang="zh-CN" sz="1600"/>
                <a:t>11</a:t>
              </a:r>
              <a:endParaRPr lang="en-US" altLang="zh-CN" sz="1600"/>
            </a:p>
            <a:p>
              <a:pPr>
                <a:spcBef>
                  <a:spcPct val="50000"/>
                </a:spcBef>
              </a:pPr>
              <a:r>
                <a:rPr lang="en-US" altLang="zh-CN" sz="1600"/>
                <a:t>10</a:t>
              </a:r>
              <a:endParaRPr lang="en-US" altLang="zh-CN" sz="1600"/>
            </a:p>
          </p:txBody>
        </p:sp>
        <p:sp>
          <p:nvSpPr>
            <p:cNvPr id="62" name="Text Box 119"/>
            <p:cNvSpPr txBox="1">
              <a:spLocks noChangeArrowheads="1"/>
            </p:cNvSpPr>
            <p:nvPr/>
          </p:nvSpPr>
          <p:spPr bwMode="auto">
            <a:xfrm>
              <a:off x="3600" y="576"/>
              <a:ext cx="139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dirty="0"/>
                <a:t>00     01     11     10</a:t>
              </a:r>
              <a:endParaRPr lang="en-US" altLang="zh-CN" sz="1600" dirty="0"/>
            </a:p>
          </p:txBody>
        </p:sp>
      </p:grpSp>
      <p:sp>
        <p:nvSpPr>
          <p:cNvPr id="63" name="AutoShape 120"/>
          <p:cNvSpPr/>
          <p:nvPr/>
        </p:nvSpPr>
        <p:spPr bwMode="auto">
          <a:xfrm rot="19149892">
            <a:off x="6188075" y="3479200"/>
            <a:ext cx="304800" cy="381000"/>
          </a:xfrm>
          <a:prstGeom prst="rightBracket">
            <a:avLst>
              <a:gd name="adj" fmla="val 10417"/>
            </a:avLst>
          </a:prstGeom>
          <a:noFill/>
          <a:ln w="19050">
            <a:solidFill>
              <a:srgbClr val="CC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AutoShape 121"/>
          <p:cNvSpPr/>
          <p:nvPr/>
        </p:nvSpPr>
        <p:spPr bwMode="auto">
          <a:xfrm rot="2220543">
            <a:off x="6188075" y="2260000"/>
            <a:ext cx="304800" cy="381000"/>
          </a:xfrm>
          <a:prstGeom prst="rightBracket">
            <a:avLst>
              <a:gd name="adj" fmla="val 10417"/>
            </a:avLst>
          </a:prstGeom>
          <a:noFill/>
          <a:ln w="19050">
            <a:solidFill>
              <a:srgbClr val="CC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AutoShape 122"/>
          <p:cNvSpPr/>
          <p:nvPr/>
        </p:nvSpPr>
        <p:spPr bwMode="auto">
          <a:xfrm rot="8144431">
            <a:off x="7559675" y="2260000"/>
            <a:ext cx="304800" cy="381000"/>
          </a:xfrm>
          <a:prstGeom prst="rightBracket">
            <a:avLst>
              <a:gd name="adj" fmla="val 10417"/>
            </a:avLst>
          </a:prstGeom>
          <a:noFill/>
          <a:ln w="19050">
            <a:solidFill>
              <a:srgbClr val="CC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AutoShape 123"/>
          <p:cNvSpPr/>
          <p:nvPr/>
        </p:nvSpPr>
        <p:spPr bwMode="auto">
          <a:xfrm rot="13336084">
            <a:off x="7559675" y="3479200"/>
            <a:ext cx="304800" cy="381000"/>
          </a:xfrm>
          <a:prstGeom prst="rightBracket">
            <a:avLst>
              <a:gd name="adj" fmla="val 10417"/>
            </a:avLst>
          </a:prstGeom>
          <a:noFill/>
          <a:ln w="19050">
            <a:solidFill>
              <a:srgbClr val="CC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AutoShape 73"/>
          <p:cNvSpPr>
            <a:spLocks noChangeArrowheads="1"/>
          </p:cNvSpPr>
          <p:nvPr/>
        </p:nvSpPr>
        <p:spPr bwMode="auto">
          <a:xfrm>
            <a:off x="6374738" y="4605550"/>
            <a:ext cx="304800" cy="1524000"/>
          </a:xfrm>
          <a:prstGeom prst="roundRect">
            <a:avLst>
              <a:gd name="adj" fmla="val 16667"/>
            </a:avLst>
          </a:prstGeom>
          <a:solidFill>
            <a:schemeClr val="bg1"/>
          </a:solidFill>
          <a:ln w="19050">
            <a:solidFill>
              <a:srgbClr val="CC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AutoShape 74"/>
          <p:cNvSpPr>
            <a:spLocks noChangeArrowheads="1"/>
          </p:cNvSpPr>
          <p:nvPr/>
        </p:nvSpPr>
        <p:spPr bwMode="auto">
          <a:xfrm>
            <a:off x="7746338" y="4605550"/>
            <a:ext cx="304800" cy="1524000"/>
          </a:xfrm>
          <a:prstGeom prst="roundRect">
            <a:avLst>
              <a:gd name="adj" fmla="val 16667"/>
            </a:avLst>
          </a:prstGeom>
          <a:solidFill>
            <a:schemeClr val="bg1"/>
          </a:solidFill>
          <a:ln w="19050">
            <a:solidFill>
              <a:srgbClr val="CC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9" name="Group 75"/>
          <p:cNvGrpSpPr/>
          <p:nvPr/>
        </p:nvGrpSpPr>
        <p:grpSpPr bwMode="auto">
          <a:xfrm>
            <a:off x="4779301" y="3903305"/>
            <a:ext cx="4532313" cy="2230438"/>
            <a:chOff x="2499" y="2243"/>
            <a:chExt cx="2855" cy="1405"/>
          </a:xfrm>
        </p:grpSpPr>
        <p:sp>
          <p:nvSpPr>
            <p:cNvPr id="70" name="Rectangle 76"/>
            <p:cNvSpPr>
              <a:spLocks noChangeArrowheads="1"/>
            </p:cNvSpPr>
            <p:nvPr/>
          </p:nvSpPr>
          <p:spPr bwMode="auto">
            <a:xfrm>
              <a:off x="4032" y="3362"/>
              <a:ext cx="28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71" name="Rectangle 77"/>
            <p:cNvSpPr>
              <a:spLocks noChangeArrowheads="1"/>
            </p:cNvSpPr>
            <p:nvPr/>
          </p:nvSpPr>
          <p:spPr bwMode="auto">
            <a:xfrm>
              <a:off x="4032" y="3120"/>
              <a:ext cx="288"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72" name="Rectangle 78"/>
            <p:cNvSpPr>
              <a:spLocks noChangeArrowheads="1"/>
            </p:cNvSpPr>
            <p:nvPr/>
          </p:nvSpPr>
          <p:spPr bwMode="auto">
            <a:xfrm>
              <a:off x="4032" y="2880"/>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73" name="Rectangle 79"/>
            <p:cNvSpPr>
              <a:spLocks noChangeArrowheads="1"/>
            </p:cNvSpPr>
            <p:nvPr/>
          </p:nvSpPr>
          <p:spPr bwMode="auto">
            <a:xfrm>
              <a:off x="4032" y="2640"/>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74" name="Rectangle 80"/>
            <p:cNvSpPr>
              <a:spLocks noChangeArrowheads="1"/>
            </p:cNvSpPr>
            <p:nvPr/>
          </p:nvSpPr>
          <p:spPr bwMode="auto">
            <a:xfrm>
              <a:off x="4320" y="3362"/>
              <a:ext cx="28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1</a:t>
              </a:r>
              <a:endParaRPr lang="en-US" altLang="zh-CN" sz="2000"/>
            </a:p>
          </p:txBody>
        </p:sp>
        <p:sp>
          <p:nvSpPr>
            <p:cNvPr id="75" name="Rectangle 81"/>
            <p:cNvSpPr>
              <a:spLocks noChangeArrowheads="1"/>
            </p:cNvSpPr>
            <p:nvPr/>
          </p:nvSpPr>
          <p:spPr bwMode="auto">
            <a:xfrm>
              <a:off x="4320" y="3120"/>
              <a:ext cx="288"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1</a:t>
              </a:r>
              <a:endParaRPr lang="en-US" altLang="zh-CN" sz="2000"/>
            </a:p>
          </p:txBody>
        </p:sp>
        <p:sp>
          <p:nvSpPr>
            <p:cNvPr id="76" name="Rectangle 82"/>
            <p:cNvSpPr>
              <a:spLocks noChangeArrowheads="1"/>
            </p:cNvSpPr>
            <p:nvPr/>
          </p:nvSpPr>
          <p:spPr bwMode="auto">
            <a:xfrm>
              <a:off x="4320" y="2880"/>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1</a:t>
              </a:r>
              <a:endParaRPr lang="en-US" altLang="zh-CN" sz="2000"/>
            </a:p>
          </p:txBody>
        </p:sp>
        <p:sp>
          <p:nvSpPr>
            <p:cNvPr id="77" name="Rectangle 83"/>
            <p:cNvSpPr>
              <a:spLocks noChangeArrowheads="1"/>
            </p:cNvSpPr>
            <p:nvPr/>
          </p:nvSpPr>
          <p:spPr bwMode="auto">
            <a:xfrm>
              <a:off x="4320" y="2640"/>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1</a:t>
              </a:r>
              <a:endParaRPr lang="en-US" altLang="zh-CN" sz="2000"/>
            </a:p>
          </p:txBody>
        </p:sp>
        <p:sp>
          <p:nvSpPr>
            <p:cNvPr id="78" name="Rectangle 84"/>
            <p:cNvSpPr>
              <a:spLocks noChangeArrowheads="1"/>
            </p:cNvSpPr>
            <p:nvPr/>
          </p:nvSpPr>
          <p:spPr bwMode="auto">
            <a:xfrm>
              <a:off x="4608" y="3362"/>
              <a:ext cx="28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79" name="Rectangle 85"/>
            <p:cNvSpPr>
              <a:spLocks noChangeArrowheads="1"/>
            </p:cNvSpPr>
            <p:nvPr/>
          </p:nvSpPr>
          <p:spPr bwMode="auto">
            <a:xfrm>
              <a:off x="4608" y="3120"/>
              <a:ext cx="288"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80" name="Rectangle 86"/>
            <p:cNvSpPr>
              <a:spLocks noChangeArrowheads="1"/>
            </p:cNvSpPr>
            <p:nvPr/>
          </p:nvSpPr>
          <p:spPr bwMode="auto">
            <a:xfrm>
              <a:off x="4608" y="2880"/>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81" name="Rectangle 87"/>
            <p:cNvSpPr>
              <a:spLocks noChangeArrowheads="1"/>
            </p:cNvSpPr>
            <p:nvPr/>
          </p:nvSpPr>
          <p:spPr bwMode="auto">
            <a:xfrm>
              <a:off x="4608" y="2640"/>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82" name="Rectangle 88"/>
            <p:cNvSpPr>
              <a:spLocks noChangeArrowheads="1"/>
            </p:cNvSpPr>
            <p:nvPr/>
          </p:nvSpPr>
          <p:spPr bwMode="auto">
            <a:xfrm>
              <a:off x="4896" y="3362"/>
              <a:ext cx="28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83" name="Rectangle 89"/>
            <p:cNvSpPr>
              <a:spLocks noChangeArrowheads="1"/>
            </p:cNvSpPr>
            <p:nvPr/>
          </p:nvSpPr>
          <p:spPr bwMode="auto">
            <a:xfrm>
              <a:off x="4896" y="3120"/>
              <a:ext cx="288"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84" name="Rectangle 90"/>
            <p:cNvSpPr>
              <a:spLocks noChangeArrowheads="1"/>
            </p:cNvSpPr>
            <p:nvPr/>
          </p:nvSpPr>
          <p:spPr bwMode="auto">
            <a:xfrm>
              <a:off x="4896" y="2880"/>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85" name="Rectangle 91"/>
            <p:cNvSpPr>
              <a:spLocks noChangeArrowheads="1"/>
            </p:cNvSpPr>
            <p:nvPr/>
          </p:nvSpPr>
          <p:spPr bwMode="auto">
            <a:xfrm>
              <a:off x="4896" y="2640"/>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86" name="Rectangle 92"/>
            <p:cNvSpPr>
              <a:spLocks noChangeArrowheads="1"/>
            </p:cNvSpPr>
            <p:nvPr/>
          </p:nvSpPr>
          <p:spPr bwMode="auto">
            <a:xfrm>
              <a:off x="3744" y="3362"/>
              <a:ext cx="28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87" name="Rectangle 93"/>
            <p:cNvSpPr>
              <a:spLocks noChangeArrowheads="1"/>
            </p:cNvSpPr>
            <p:nvPr/>
          </p:nvSpPr>
          <p:spPr bwMode="auto">
            <a:xfrm>
              <a:off x="3744" y="3120"/>
              <a:ext cx="288"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88" name="Rectangle 94"/>
            <p:cNvSpPr>
              <a:spLocks noChangeArrowheads="1"/>
            </p:cNvSpPr>
            <p:nvPr/>
          </p:nvSpPr>
          <p:spPr bwMode="auto">
            <a:xfrm>
              <a:off x="3744" y="2880"/>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89" name="Rectangle 95"/>
            <p:cNvSpPr>
              <a:spLocks noChangeArrowheads="1"/>
            </p:cNvSpPr>
            <p:nvPr/>
          </p:nvSpPr>
          <p:spPr bwMode="auto">
            <a:xfrm>
              <a:off x="3744" y="2640"/>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90" name="Rectangle 96"/>
            <p:cNvSpPr>
              <a:spLocks noChangeArrowheads="1"/>
            </p:cNvSpPr>
            <p:nvPr/>
          </p:nvSpPr>
          <p:spPr bwMode="auto">
            <a:xfrm>
              <a:off x="3168" y="3362"/>
              <a:ext cx="28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91" name="Rectangle 97"/>
            <p:cNvSpPr>
              <a:spLocks noChangeArrowheads="1"/>
            </p:cNvSpPr>
            <p:nvPr/>
          </p:nvSpPr>
          <p:spPr bwMode="auto">
            <a:xfrm>
              <a:off x="3168" y="3120"/>
              <a:ext cx="288"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92" name="Rectangle 98"/>
            <p:cNvSpPr>
              <a:spLocks noChangeArrowheads="1"/>
            </p:cNvSpPr>
            <p:nvPr/>
          </p:nvSpPr>
          <p:spPr bwMode="auto">
            <a:xfrm>
              <a:off x="3168" y="2880"/>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93" name="Rectangle 99"/>
            <p:cNvSpPr>
              <a:spLocks noChangeArrowheads="1"/>
            </p:cNvSpPr>
            <p:nvPr/>
          </p:nvSpPr>
          <p:spPr bwMode="auto">
            <a:xfrm>
              <a:off x="3168" y="2640"/>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94" name="Rectangle 100"/>
            <p:cNvSpPr>
              <a:spLocks noChangeArrowheads="1"/>
            </p:cNvSpPr>
            <p:nvPr/>
          </p:nvSpPr>
          <p:spPr bwMode="auto">
            <a:xfrm>
              <a:off x="3456" y="3362"/>
              <a:ext cx="28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1</a:t>
              </a:r>
              <a:endParaRPr lang="en-US" altLang="zh-CN" sz="2000"/>
            </a:p>
          </p:txBody>
        </p:sp>
        <p:sp>
          <p:nvSpPr>
            <p:cNvPr id="95" name="Rectangle 101"/>
            <p:cNvSpPr>
              <a:spLocks noChangeArrowheads="1"/>
            </p:cNvSpPr>
            <p:nvPr/>
          </p:nvSpPr>
          <p:spPr bwMode="auto">
            <a:xfrm>
              <a:off x="3456" y="3120"/>
              <a:ext cx="288"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1</a:t>
              </a:r>
              <a:endParaRPr lang="en-US" altLang="zh-CN" sz="2000"/>
            </a:p>
          </p:txBody>
        </p:sp>
        <p:sp>
          <p:nvSpPr>
            <p:cNvPr id="96" name="Rectangle 102"/>
            <p:cNvSpPr>
              <a:spLocks noChangeArrowheads="1"/>
            </p:cNvSpPr>
            <p:nvPr/>
          </p:nvSpPr>
          <p:spPr bwMode="auto">
            <a:xfrm>
              <a:off x="3456" y="2880"/>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1</a:t>
              </a:r>
              <a:endParaRPr lang="en-US" altLang="zh-CN" sz="2000"/>
            </a:p>
          </p:txBody>
        </p:sp>
        <p:sp>
          <p:nvSpPr>
            <p:cNvPr id="97" name="Rectangle 103"/>
            <p:cNvSpPr>
              <a:spLocks noChangeArrowheads="1"/>
            </p:cNvSpPr>
            <p:nvPr/>
          </p:nvSpPr>
          <p:spPr bwMode="auto">
            <a:xfrm>
              <a:off x="3456" y="2640"/>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1</a:t>
              </a:r>
              <a:endParaRPr lang="en-US" altLang="zh-CN" sz="2000"/>
            </a:p>
          </p:txBody>
        </p:sp>
        <p:sp>
          <p:nvSpPr>
            <p:cNvPr id="98" name="Rectangle 104"/>
            <p:cNvSpPr>
              <a:spLocks noChangeArrowheads="1"/>
            </p:cNvSpPr>
            <p:nvPr/>
          </p:nvSpPr>
          <p:spPr bwMode="auto">
            <a:xfrm>
              <a:off x="2880" y="3362"/>
              <a:ext cx="28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99" name="Rectangle 105"/>
            <p:cNvSpPr>
              <a:spLocks noChangeArrowheads="1"/>
            </p:cNvSpPr>
            <p:nvPr/>
          </p:nvSpPr>
          <p:spPr bwMode="auto">
            <a:xfrm>
              <a:off x="2880" y="2880"/>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100" name="Rectangle 106"/>
            <p:cNvSpPr>
              <a:spLocks noChangeArrowheads="1"/>
            </p:cNvSpPr>
            <p:nvPr/>
          </p:nvSpPr>
          <p:spPr bwMode="auto">
            <a:xfrm>
              <a:off x="2880" y="3120"/>
              <a:ext cx="288"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101" name="Rectangle 107"/>
            <p:cNvSpPr>
              <a:spLocks noChangeArrowheads="1"/>
            </p:cNvSpPr>
            <p:nvPr/>
          </p:nvSpPr>
          <p:spPr bwMode="auto">
            <a:xfrm>
              <a:off x="2880" y="2640"/>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102" name="Line 108"/>
            <p:cNvSpPr>
              <a:spLocks noChangeShapeType="1"/>
            </p:cNvSpPr>
            <p:nvPr/>
          </p:nvSpPr>
          <p:spPr bwMode="auto">
            <a:xfrm>
              <a:off x="2880" y="2640"/>
              <a:ext cx="2304"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 name="Line 109"/>
            <p:cNvSpPr>
              <a:spLocks noChangeShapeType="1"/>
            </p:cNvSpPr>
            <p:nvPr/>
          </p:nvSpPr>
          <p:spPr bwMode="auto">
            <a:xfrm>
              <a:off x="2880" y="3648"/>
              <a:ext cx="2304"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 name="Line 110"/>
            <p:cNvSpPr>
              <a:spLocks noChangeShapeType="1"/>
            </p:cNvSpPr>
            <p:nvPr/>
          </p:nvSpPr>
          <p:spPr bwMode="auto">
            <a:xfrm>
              <a:off x="2880" y="2640"/>
              <a:ext cx="0" cy="1008"/>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 name="Line 111"/>
            <p:cNvSpPr>
              <a:spLocks noChangeShapeType="1"/>
            </p:cNvSpPr>
            <p:nvPr/>
          </p:nvSpPr>
          <p:spPr bwMode="auto">
            <a:xfrm>
              <a:off x="5184" y="2640"/>
              <a:ext cx="0" cy="1008"/>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6" name="Line 112"/>
            <p:cNvSpPr>
              <a:spLocks noChangeShapeType="1"/>
            </p:cNvSpPr>
            <p:nvPr/>
          </p:nvSpPr>
          <p:spPr bwMode="auto">
            <a:xfrm>
              <a:off x="2880" y="3120"/>
              <a:ext cx="230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7" name="Line 113"/>
            <p:cNvSpPr>
              <a:spLocks noChangeShapeType="1"/>
            </p:cNvSpPr>
            <p:nvPr/>
          </p:nvSpPr>
          <p:spPr bwMode="auto">
            <a:xfrm>
              <a:off x="2880" y="2880"/>
              <a:ext cx="230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 name="Line 114"/>
            <p:cNvSpPr>
              <a:spLocks noChangeShapeType="1"/>
            </p:cNvSpPr>
            <p:nvPr/>
          </p:nvSpPr>
          <p:spPr bwMode="auto">
            <a:xfrm>
              <a:off x="2880" y="3362"/>
              <a:ext cx="230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 name="Line 115"/>
            <p:cNvSpPr>
              <a:spLocks noChangeShapeType="1"/>
            </p:cNvSpPr>
            <p:nvPr/>
          </p:nvSpPr>
          <p:spPr bwMode="auto">
            <a:xfrm>
              <a:off x="3456" y="2640"/>
              <a:ext cx="0" cy="10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 name="Line 116"/>
            <p:cNvSpPr>
              <a:spLocks noChangeShapeType="1"/>
            </p:cNvSpPr>
            <p:nvPr/>
          </p:nvSpPr>
          <p:spPr bwMode="auto">
            <a:xfrm>
              <a:off x="3168" y="2640"/>
              <a:ext cx="0" cy="10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1" name="Line 117"/>
            <p:cNvSpPr>
              <a:spLocks noChangeShapeType="1"/>
            </p:cNvSpPr>
            <p:nvPr/>
          </p:nvSpPr>
          <p:spPr bwMode="auto">
            <a:xfrm>
              <a:off x="3744" y="2640"/>
              <a:ext cx="0" cy="10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 name="Line 118"/>
            <p:cNvSpPr>
              <a:spLocks noChangeShapeType="1"/>
            </p:cNvSpPr>
            <p:nvPr/>
          </p:nvSpPr>
          <p:spPr bwMode="auto">
            <a:xfrm>
              <a:off x="4896" y="2640"/>
              <a:ext cx="0" cy="10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 name="Line 119"/>
            <p:cNvSpPr>
              <a:spLocks noChangeShapeType="1"/>
            </p:cNvSpPr>
            <p:nvPr/>
          </p:nvSpPr>
          <p:spPr bwMode="auto">
            <a:xfrm>
              <a:off x="4608" y="2640"/>
              <a:ext cx="0" cy="10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 name="Line 120"/>
            <p:cNvSpPr>
              <a:spLocks noChangeShapeType="1"/>
            </p:cNvSpPr>
            <p:nvPr/>
          </p:nvSpPr>
          <p:spPr bwMode="auto">
            <a:xfrm>
              <a:off x="4320" y="2640"/>
              <a:ext cx="0" cy="10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 name="Line 121"/>
            <p:cNvSpPr>
              <a:spLocks noChangeShapeType="1"/>
            </p:cNvSpPr>
            <p:nvPr/>
          </p:nvSpPr>
          <p:spPr bwMode="auto">
            <a:xfrm>
              <a:off x="4032" y="2640"/>
              <a:ext cx="0" cy="10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 name="Line 122"/>
            <p:cNvSpPr>
              <a:spLocks noChangeShapeType="1"/>
            </p:cNvSpPr>
            <p:nvPr/>
          </p:nvSpPr>
          <p:spPr bwMode="auto">
            <a:xfrm>
              <a:off x="2640" y="2400"/>
              <a:ext cx="240" cy="24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 name="Text Box 123"/>
            <p:cNvSpPr txBox="1">
              <a:spLocks noChangeArrowheads="1"/>
            </p:cNvSpPr>
            <p:nvPr/>
          </p:nvSpPr>
          <p:spPr bwMode="auto">
            <a:xfrm>
              <a:off x="2499" y="2444"/>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i="1" dirty="0"/>
                <a:t>AB</a:t>
              </a:r>
              <a:endParaRPr lang="en-US" altLang="zh-CN" sz="1800" i="1" dirty="0"/>
            </a:p>
          </p:txBody>
        </p:sp>
        <p:sp>
          <p:nvSpPr>
            <p:cNvPr id="118" name="Text Box 124"/>
            <p:cNvSpPr txBox="1">
              <a:spLocks noChangeArrowheads="1"/>
            </p:cNvSpPr>
            <p:nvPr/>
          </p:nvSpPr>
          <p:spPr bwMode="auto">
            <a:xfrm>
              <a:off x="2684" y="2243"/>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i="1" dirty="0"/>
                <a:t>CDE</a:t>
              </a:r>
              <a:endParaRPr lang="en-US" altLang="zh-CN" sz="1800" i="1" dirty="0"/>
            </a:p>
          </p:txBody>
        </p:sp>
        <p:sp>
          <p:nvSpPr>
            <p:cNvPr id="119" name="Text Box 125"/>
            <p:cNvSpPr txBox="1">
              <a:spLocks noChangeArrowheads="1"/>
            </p:cNvSpPr>
            <p:nvPr/>
          </p:nvSpPr>
          <p:spPr bwMode="auto">
            <a:xfrm>
              <a:off x="2906" y="2448"/>
              <a:ext cx="2448"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400" dirty="0"/>
                <a:t>000    001    011     010   110     111    101     100</a:t>
              </a:r>
              <a:endParaRPr lang="en-US" altLang="zh-CN" sz="1400" dirty="0"/>
            </a:p>
          </p:txBody>
        </p:sp>
        <p:sp>
          <p:nvSpPr>
            <p:cNvPr id="120" name="Text Box 126"/>
            <p:cNvSpPr txBox="1">
              <a:spLocks noChangeArrowheads="1"/>
            </p:cNvSpPr>
            <p:nvPr/>
          </p:nvSpPr>
          <p:spPr bwMode="auto">
            <a:xfrm>
              <a:off x="2640" y="2688"/>
              <a:ext cx="288" cy="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00</a:t>
              </a:r>
              <a:endParaRPr lang="en-US" altLang="zh-CN" sz="1600"/>
            </a:p>
            <a:p>
              <a:pPr>
                <a:spcBef>
                  <a:spcPct val="50000"/>
                </a:spcBef>
              </a:pPr>
              <a:r>
                <a:rPr lang="en-US" altLang="zh-CN" sz="1600"/>
                <a:t>01</a:t>
              </a:r>
              <a:endParaRPr lang="en-US" altLang="zh-CN" sz="1600"/>
            </a:p>
            <a:p>
              <a:pPr>
                <a:spcBef>
                  <a:spcPct val="50000"/>
                </a:spcBef>
              </a:pPr>
              <a:r>
                <a:rPr lang="en-US" altLang="zh-CN" sz="1600"/>
                <a:t>11</a:t>
              </a:r>
              <a:endParaRPr lang="en-US" altLang="zh-CN" sz="1600"/>
            </a:p>
            <a:p>
              <a:pPr>
                <a:spcBef>
                  <a:spcPct val="50000"/>
                </a:spcBef>
              </a:pPr>
              <a:r>
                <a:rPr lang="en-US" altLang="zh-CN" sz="1600"/>
                <a:t>10</a:t>
              </a:r>
              <a:endParaRPr lang="en-US" altLang="zh-CN" sz="1600"/>
            </a:p>
          </p:txBody>
        </p:sp>
      </p:grpSp>
      <p:cxnSp>
        <p:nvCxnSpPr>
          <p:cNvPr id="121" name="AutoShape 127"/>
          <p:cNvCxnSpPr>
            <a:cxnSpLocks noChangeShapeType="1"/>
            <a:stCxn id="67" idx="2"/>
            <a:endCxn id="68" idx="2"/>
          </p:cNvCxnSpPr>
          <p:nvPr/>
        </p:nvCxnSpPr>
        <p:spPr bwMode="auto">
          <a:xfrm rot="16200000" flipH="1">
            <a:off x="7212144" y="5454069"/>
            <a:ext cx="1588" cy="1371600"/>
          </a:xfrm>
          <a:prstGeom prst="curvedConnector3">
            <a:avLst>
              <a:gd name="adj1" fmla="val 13800000"/>
            </a:avLst>
          </a:prstGeom>
          <a:noFill/>
          <a:ln w="19050">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mc:Choice xmlns:a14="http://schemas.microsoft.com/office/drawing/2010/main" Requires="a14">
          <p:sp>
            <p:nvSpPr>
              <p:cNvPr id="122" name="Object 128"/>
              <p:cNvSpPr txBox="1"/>
              <p:nvPr/>
            </p:nvSpPr>
            <p:spPr bwMode="auto">
              <a:xfrm>
                <a:off x="6728340" y="6383303"/>
                <a:ext cx="1033836" cy="412749"/>
              </a:xfrm>
              <a:prstGeom prst="rect">
                <a:avLst/>
              </a:prstGeom>
              <a:noFill/>
              <a:ln>
                <a:noFill/>
              </a:ln>
              <a:effectLst/>
            </p:spPr>
            <p:txBody>
              <a:bodyPr>
                <a:noAutofit/>
              </a:bodyPr>
              <a:lstStyle/>
              <a:p>
                <a14:m>
                  <m:oMathPara xmlns:m="http://schemas.openxmlformats.org/officeDocument/2006/math">
                    <m:oMathParaPr>
                      <m:jc m:val="centerGroup"/>
                    </m:oMathParaPr>
                    <m:oMath xmlns:m="http://schemas.openxmlformats.org/officeDocument/2006/math">
                      <m:r>
                        <a:rPr lang="zh-CN" altLang="en-US" sz="2400" i="1">
                          <a:solidFill>
                            <a:srgbClr val="000000"/>
                          </a:solidFill>
                          <a:latin typeface="Cambria Math" panose="02040503050406030204" pitchFamily="18" charset="0"/>
                        </a:rPr>
                        <m:t>𝐷</m:t>
                      </m:r>
                      <m:r>
                        <a:rPr lang="zh-CN" altLang="en-US" sz="2400" i="1" smtClean="0">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𝐸</m:t>
                      </m:r>
                    </m:oMath>
                  </m:oMathPara>
                </a14:m>
                <a:endParaRPr lang="zh-CN" altLang="en-US" sz="2400" dirty="0"/>
              </a:p>
            </p:txBody>
          </p:sp>
        </mc:Choice>
        <mc:Fallback>
          <p:sp>
            <p:nvSpPr>
              <p:cNvPr id="122" name="Object 128"/>
              <p:cNvSpPr txBox="1">
                <a:spLocks noRot="1" noChangeAspect="1" noMove="1" noResize="1" noEditPoints="1" noAdjustHandles="1" noChangeArrowheads="1" noChangeShapeType="1" noTextEdit="1"/>
              </p:cNvSpPr>
              <p:nvPr/>
            </p:nvSpPr>
            <p:spPr bwMode="auto">
              <a:xfrm>
                <a:off x="6728340" y="6383303"/>
                <a:ext cx="1033836" cy="412749"/>
              </a:xfrm>
              <a:prstGeom prst="rect">
                <a:avLst/>
              </a:prstGeom>
              <a:blipFill rotWithShape="1">
                <a:blip r:embed="rId4"/>
                <a:stretch>
                  <a:fillRect l="-50" t="-69" r="55" b="68"/>
                </a:stretch>
              </a:blipFill>
              <a:ln>
                <a:noFill/>
              </a:ln>
              <a:effectLst/>
            </p:spPr>
            <p:txBody>
              <a:bodyPr/>
              <a:lstStyle/>
              <a:p>
                <a:r>
                  <a:rPr lang="zh-CN" altLang="en-US">
                    <a:noFill/>
                  </a:rPr>
                  <a:t> </a:t>
                </a:r>
              </a:p>
            </p:txBody>
          </p:sp>
        </mc:Fallback>
      </mc:AlternateContent>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3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03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035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035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035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0-#ppt_w/2"/>
                                          </p:val>
                                        </p:tav>
                                        <p:tav tm="100000">
                                          <p:val>
                                            <p:strVal val="#ppt_x"/>
                                          </p:val>
                                        </p:tav>
                                      </p:tavLst>
                                    </p:anim>
                                    <p:anim calcmode="lin" valueType="num">
                                      <p:cBhvr additive="base">
                                        <p:cTn id="2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 calcmode="lin" valueType="num">
                                      <p:cBhvr additive="base">
                                        <p:cTn id="33" dur="500" fill="hold"/>
                                        <p:tgtEl>
                                          <p:spTgt spid="5"/>
                                        </p:tgtEl>
                                        <p:attrNameLst>
                                          <p:attrName>ppt_x</p:attrName>
                                        </p:attrNameLst>
                                      </p:cBhvr>
                                      <p:tavLst>
                                        <p:tav tm="0">
                                          <p:val>
                                            <p:strVal val="0-#ppt_w/2"/>
                                          </p:val>
                                        </p:tav>
                                        <p:tav tm="100000">
                                          <p:val>
                                            <p:strVal val="#ppt_x"/>
                                          </p:val>
                                        </p:tav>
                                      </p:tavLst>
                                    </p:anim>
                                    <p:anim calcmode="lin" valueType="num">
                                      <p:cBhvr additive="base">
                                        <p:cTn id="3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31"/>
                                        </p:tgtEl>
                                        <p:attrNameLst>
                                          <p:attrName>style.visibility</p:attrName>
                                        </p:attrNameLst>
                                      </p:cBhvr>
                                      <p:to>
                                        <p:strVal val="visible"/>
                                      </p:to>
                                    </p:set>
                                    <p:anim calcmode="lin" valueType="num">
                                      <p:cBhvr additive="base">
                                        <p:cTn id="43" dur="500" fill="hold"/>
                                        <p:tgtEl>
                                          <p:spTgt spid="31"/>
                                        </p:tgtEl>
                                        <p:attrNameLst>
                                          <p:attrName>ppt_x</p:attrName>
                                        </p:attrNameLst>
                                      </p:cBhvr>
                                      <p:tavLst>
                                        <p:tav tm="0">
                                          <p:val>
                                            <p:strVal val="0-#ppt_w/2"/>
                                          </p:val>
                                        </p:tav>
                                        <p:tav tm="100000">
                                          <p:val>
                                            <p:strVal val="#ppt_x"/>
                                          </p:val>
                                        </p:tav>
                                      </p:tavLst>
                                    </p:anim>
                                    <p:anim calcmode="lin" valueType="num">
                                      <p:cBhvr additive="base">
                                        <p:cTn id="44"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63"/>
                                        </p:tgtEl>
                                        <p:attrNameLst>
                                          <p:attrName>style.visibility</p:attrName>
                                        </p:attrNameLst>
                                      </p:cBhvr>
                                      <p:to>
                                        <p:strVal val="visible"/>
                                      </p:to>
                                    </p:set>
                                    <p:anim calcmode="lin" valueType="num">
                                      <p:cBhvr additive="base">
                                        <p:cTn id="49" dur="500" fill="hold"/>
                                        <p:tgtEl>
                                          <p:spTgt spid="63"/>
                                        </p:tgtEl>
                                        <p:attrNameLst>
                                          <p:attrName>ppt_x</p:attrName>
                                        </p:attrNameLst>
                                      </p:cBhvr>
                                      <p:tavLst>
                                        <p:tav tm="0">
                                          <p:val>
                                            <p:strVal val="0-#ppt_w/2"/>
                                          </p:val>
                                        </p:tav>
                                        <p:tav tm="100000">
                                          <p:val>
                                            <p:strVal val="#ppt_x"/>
                                          </p:val>
                                        </p:tav>
                                      </p:tavLst>
                                    </p:anim>
                                    <p:anim calcmode="lin" valueType="num">
                                      <p:cBhvr additive="base">
                                        <p:cTn id="50" dur="500" fill="hold"/>
                                        <p:tgtEl>
                                          <p:spTgt spid="63"/>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64"/>
                                        </p:tgtEl>
                                        <p:attrNameLst>
                                          <p:attrName>style.visibility</p:attrName>
                                        </p:attrNameLst>
                                      </p:cBhvr>
                                      <p:to>
                                        <p:strVal val="visible"/>
                                      </p:to>
                                    </p:set>
                                    <p:anim calcmode="lin" valueType="num">
                                      <p:cBhvr additive="base">
                                        <p:cTn id="55" dur="500" fill="hold"/>
                                        <p:tgtEl>
                                          <p:spTgt spid="64"/>
                                        </p:tgtEl>
                                        <p:attrNameLst>
                                          <p:attrName>ppt_x</p:attrName>
                                        </p:attrNameLst>
                                      </p:cBhvr>
                                      <p:tavLst>
                                        <p:tav tm="0">
                                          <p:val>
                                            <p:strVal val="0-#ppt_w/2"/>
                                          </p:val>
                                        </p:tav>
                                        <p:tav tm="100000">
                                          <p:val>
                                            <p:strVal val="#ppt_x"/>
                                          </p:val>
                                        </p:tav>
                                      </p:tavLst>
                                    </p:anim>
                                    <p:anim calcmode="lin" valueType="num">
                                      <p:cBhvr additive="base">
                                        <p:cTn id="56" dur="500" fill="hold"/>
                                        <p:tgtEl>
                                          <p:spTgt spid="64"/>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65"/>
                                        </p:tgtEl>
                                        <p:attrNameLst>
                                          <p:attrName>style.visibility</p:attrName>
                                        </p:attrNameLst>
                                      </p:cBhvr>
                                      <p:to>
                                        <p:strVal val="visible"/>
                                      </p:to>
                                    </p:set>
                                    <p:anim calcmode="lin" valueType="num">
                                      <p:cBhvr additive="base">
                                        <p:cTn id="61" dur="500" fill="hold"/>
                                        <p:tgtEl>
                                          <p:spTgt spid="65"/>
                                        </p:tgtEl>
                                        <p:attrNameLst>
                                          <p:attrName>ppt_x</p:attrName>
                                        </p:attrNameLst>
                                      </p:cBhvr>
                                      <p:tavLst>
                                        <p:tav tm="0">
                                          <p:val>
                                            <p:strVal val="0-#ppt_w/2"/>
                                          </p:val>
                                        </p:tav>
                                        <p:tav tm="100000">
                                          <p:val>
                                            <p:strVal val="#ppt_x"/>
                                          </p:val>
                                        </p:tav>
                                      </p:tavLst>
                                    </p:anim>
                                    <p:anim calcmode="lin" valueType="num">
                                      <p:cBhvr additive="base">
                                        <p:cTn id="62" dur="500" fill="hold"/>
                                        <p:tgtEl>
                                          <p:spTgt spid="65"/>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66"/>
                                        </p:tgtEl>
                                        <p:attrNameLst>
                                          <p:attrName>style.visibility</p:attrName>
                                        </p:attrNameLst>
                                      </p:cBhvr>
                                      <p:to>
                                        <p:strVal val="visible"/>
                                      </p:to>
                                    </p:set>
                                    <p:anim calcmode="lin" valueType="num">
                                      <p:cBhvr additive="base">
                                        <p:cTn id="67" dur="500" fill="hold"/>
                                        <p:tgtEl>
                                          <p:spTgt spid="66"/>
                                        </p:tgtEl>
                                        <p:attrNameLst>
                                          <p:attrName>ppt_x</p:attrName>
                                        </p:attrNameLst>
                                      </p:cBhvr>
                                      <p:tavLst>
                                        <p:tav tm="0">
                                          <p:val>
                                            <p:strVal val="0-#ppt_w/2"/>
                                          </p:val>
                                        </p:tav>
                                        <p:tav tm="100000">
                                          <p:val>
                                            <p:strVal val="#ppt_x"/>
                                          </p:val>
                                        </p:tav>
                                      </p:tavLst>
                                    </p:anim>
                                    <p:anim calcmode="lin" valueType="num">
                                      <p:cBhvr additive="base">
                                        <p:cTn id="68" dur="500" fill="hold"/>
                                        <p:tgtEl>
                                          <p:spTgt spid="66"/>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30"/>
                                        </p:tgtEl>
                                        <p:attrNameLst>
                                          <p:attrName>style.visibility</p:attrName>
                                        </p:attrNameLst>
                                      </p:cBhvr>
                                      <p:to>
                                        <p:strVal val="visible"/>
                                      </p:to>
                                    </p:set>
                                    <p:animEffect transition="in" filter="wipe(left)">
                                      <p:cBhvr>
                                        <p:cTn id="73" dur="500"/>
                                        <p:tgtEl>
                                          <p:spTgt spid="30"/>
                                        </p:tgtEl>
                                      </p:cBhvr>
                                    </p:animEffect>
                                  </p:childTnLst>
                                </p:cTn>
                              </p:par>
                            </p:childTnLst>
                          </p:cTn>
                        </p:par>
                      </p:childTnLst>
                    </p:cTn>
                  </p:par>
                  <p:par>
                    <p:cTn id="74" fill="hold">
                      <p:stCondLst>
                        <p:cond delay="indefinite"/>
                      </p:stCondLst>
                      <p:childTnLst>
                        <p:par>
                          <p:cTn id="75" fill="hold">
                            <p:stCondLst>
                              <p:cond delay="0"/>
                            </p:stCondLst>
                            <p:childTnLst>
                              <p:par>
                                <p:cTn id="76" presetID="2" presetClass="entr" presetSubtype="8" fill="hold" nodeType="clickEffect">
                                  <p:stCondLst>
                                    <p:cond delay="0"/>
                                  </p:stCondLst>
                                  <p:childTnLst>
                                    <p:set>
                                      <p:cBhvr>
                                        <p:cTn id="77" dur="1" fill="hold">
                                          <p:stCondLst>
                                            <p:cond delay="0"/>
                                          </p:stCondLst>
                                        </p:cTn>
                                        <p:tgtEl>
                                          <p:spTgt spid="69"/>
                                        </p:tgtEl>
                                        <p:attrNameLst>
                                          <p:attrName>style.visibility</p:attrName>
                                        </p:attrNameLst>
                                      </p:cBhvr>
                                      <p:to>
                                        <p:strVal val="visible"/>
                                      </p:to>
                                    </p:set>
                                    <p:anim calcmode="lin" valueType="num">
                                      <p:cBhvr additive="base">
                                        <p:cTn id="78" dur="500" fill="hold"/>
                                        <p:tgtEl>
                                          <p:spTgt spid="69"/>
                                        </p:tgtEl>
                                        <p:attrNameLst>
                                          <p:attrName>ppt_x</p:attrName>
                                        </p:attrNameLst>
                                      </p:cBhvr>
                                      <p:tavLst>
                                        <p:tav tm="0">
                                          <p:val>
                                            <p:strVal val="0-#ppt_w/2"/>
                                          </p:val>
                                        </p:tav>
                                        <p:tav tm="100000">
                                          <p:val>
                                            <p:strVal val="#ppt_x"/>
                                          </p:val>
                                        </p:tav>
                                      </p:tavLst>
                                    </p:anim>
                                    <p:anim calcmode="lin" valueType="num">
                                      <p:cBhvr additive="base">
                                        <p:cTn id="79" dur="500" fill="hold"/>
                                        <p:tgtEl>
                                          <p:spTgt spid="69"/>
                                        </p:tgtEl>
                                        <p:attrNameLst>
                                          <p:attrName>ppt_y</p:attrName>
                                        </p:attrNameLst>
                                      </p:cBhvr>
                                      <p:tavLst>
                                        <p:tav tm="0">
                                          <p:val>
                                            <p:strVal val="#ppt_y"/>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2" presetClass="entr" presetSubtype="8" fill="hold" grpId="0" nodeType="clickEffect">
                                  <p:stCondLst>
                                    <p:cond delay="0"/>
                                  </p:stCondLst>
                                  <p:childTnLst>
                                    <p:set>
                                      <p:cBhvr>
                                        <p:cTn id="83" dur="1" fill="hold">
                                          <p:stCondLst>
                                            <p:cond delay="0"/>
                                          </p:stCondLst>
                                        </p:cTn>
                                        <p:tgtEl>
                                          <p:spTgt spid="67"/>
                                        </p:tgtEl>
                                        <p:attrNameLst>
                                          <p:attrName>style.visibility</p:attrName>
                                        </p:attrNameLst>
                                      </p:cBhvr>
                                      <p:to>
                                        <p:strVal val="visible"/>
                                      </p:to>
                                    </p:set>
                                    <p:anim calcmode="lin" valueType="num">
                                      <p:cBhvr additive="base">
                                        <p:cTn id="84" dur="500" fill="hold"/>
                                        <p:tgtEl>
                                          <p:spTgt spid="67"/>
                                        </p:tgtEl>
                                        <p:attrNameLst>
                                          <p:attrName>ppt_x</p:attrName>
                                        </p:attrNameLst>
                                      </p:cBhvr>
                                      <p:tavLst>
                                        <p:tav tm="0">
                                          <p:val>
                                            <p:strVal val="0-#ppt_w/2"/>
                                          </p:val>
                                        </p:tav>
                                        <p:tav tm="100000">
                                          <p:val>
                                            <p:strVal val="#ppt_x"/>
                                          </p:val>
                                        </p:tav>
                                      </p:tavLst>
                                    </p:anim>
                                    <p:anim calcmode="lin" valueType="num">
                                      <p:cBhvr additive="base">
                                        <p:cTn id="85" dur="500" fill="hold"/>
                                        <p:tgtEl>
                                          <p:spTgt spid="67"/>
                                        </p:tgtEl>
                                        <p:attrNameLst>
                                          <p:attrName>ppt_y</p:attrName>
                                        </p:attrNameLst>
                                      </p:cBhvr>
                                      <p:tavLst>
                                        <p:tav tm="0">
                                          <p:val>
                                            <p:strVal val="#ppt_y"/>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2" presetClass="entr" presetSubtype="8" fill="hold" grpId="0" nodeType="clickEffect">
                                  <p:stCondLst>
                                    <p:cond delay="0"/>
                                  </p:stCondLst>
                                  <p:childTnLst>
                                    <p:set>
                                      <p:cBhvr>
                                        <p:cTn id="89" dur="1" fill="hold">
                                          <p:stCondLst>
                                            <p:cond delay="0"/>
                                          </p:stCondLst>
                                        </p:cTn>
                                        <p:tgtEl>
                                          <p:spTgt spid="68"/>
                                        </p:tgtEl>
                                        <p:attrNameLst>
                                          <p:attrName>style.visibility</p:attrName>
                                        </p:attrNameLst>
                                      </p:cBhvr>
                                      <p:to>
                                        <p:strVal val="visible"/>
                                      </p:to>
                                    </p:set>
                                    <p:anim calcmode="lin" valueType="num">
                                      <p:cBhvr additive="base">
                                        <p:cTn id="90" dur="500" fill="hold"/>
                                        <p:tgtEl>
                                          <p:spTgt spid="68"/>
                                        </p:tgtEl>
                                        <p:attrNameLst>
                                          <p:attrName>ppt_x</p:attrName>
                                        </p:attrNameLst>
                                      </p:cBhvr>
                                      <p:tavLst>
                                        <p:tav tm="0">
                                          <p:val>
                                            <p:strVal val="0-#ppt_w/2"/>
                                          </p:val>
                                        </p:tav>
                                        <p:tav tm="100000">
                                          <p:val>
                                            <p:strVal val="#ppt_x"/>
                                          </p:val>
                                        </p:tav>
                                      </p:tavLst>
                                    </p:anim>
                                    <p:anim calcmode="lin" valueType="num">
                                      <p:cBhvr additive="base">
                                        <p:cTn id="91" dur="500" fill="hold"/>
                                        <p:tgtEl>
                                          <p:spTgt spid="68"/>
                                        </p:tgtEl>
                                        <p:attrNameLst>
                                          <p:attrName>ppt_y</p:attrName>
                                        </p:attrNameLst>
                                      </p:cBhvr>
                                      <p:tavLst>
                                        <p:tav tm="0">
                                          <p:val>
                                            <p:strVal val="#ppt_y"/>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2" presetClass="entr" presetSubtype="8" fill="hold" nodeType="clickEffect">
                                  <p:stCondLst>
                                    <p:cond delay="0"/>
                                  </p:stCondLst>
                                  <p:childTnLst>
                                    <p:set>
                                      <p:cBhvr>
                                        <p:cTn id="95" dur="1" fill="hold">
                                          <p:stCondLst>
                                            <p:cond delay="0"/>
                                          </p:stCondLst>
                                        </p:cTn>
                                        <p:tgtEl>
                                          <p:spTgt spid="121"/>
                                        </p:tgtEl>
                                        <p:attrNameLst>
                                          <p:attrName>style.visibility</p:attrName>
                                        </p:attrNameLst>
                                      </p:cBhvr>
                                      <p:to>
                                        <p:strVal val="visible"/>
                                      </p:to>
                                    </p:set>
                                    <p:anim calcmode="lin" valueType="num">
                                      <p:cBhvr additive="base">
                                        <p:cTn id="96" dur="500" fill="hold"/>
                                        <p:tgtEl>
                                          <p:spTgt spid="121"/>
                                        </p:tgtEl>
                                        <p:attrNameLst>
                                          <p:attrName>ppt_x</p:attrName>
                                        </p:attrNameLst>
                                      </p:cBhvr>
                                      <p:tavLst>
                                        <p:tav tm="0">
                                          <p:val>
                                            <p:strVal val="0-#ppt_w/2"/>
                                          </p:val>
                                        </p:tav>
                                        <p:tav tm="100000">
                                          <p:val>
                                            <p:strVal val="#ppt_x"/>
                                          </p:val>
                                        </p:tav>
                                      </p:tavLst>
                                    </p:anim>
                                    <p:anim calcmode="lin" valueType="num">
                                      <p:cBhvr additive="base">
                                        <p:cTn id="97" dur="500" fill="hold"/>
                                        <p:tgtEl>
                                          <p:spTgt spid="121"/>
                                        </p:tgtEl>
                                        <p:attrNameLst>
                                          <p:attrName>ppt_y</p:attrName>
                                        </p:attrNameLst>
                                      </p:cBhvr>
                                      <p:tavLst>
                                        <p:tav tm="0">
                                          <p:val>
                                            <p:strVal val="#ppt_y"/>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grpId="0" nodeType="clickEffect">
                                  <p:stCondLst>
                                    <p:cond delay="0"/>
                                  </p:stCondLst>
                                  <p:childTnLst>
                                    <p:set>
                                      <p:cBhvr>
                                        <p:cTn id="101" dur="1" fill="hold">
                                          <p:stCondLst>
                                            <p:cond delay="0"/>
                                          </p:stCondLst>
                                        </p:cTn>
                                        <p:tgtEl>
                                          <p:spTgt spid="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5" grpId="0" build="p"/>
      <p:bldP spid="5" grpId="0" animBg="1"/>
      <p:bldP spid="29" grpId="0"/>
      <p:bldP spid="63" grpId="0" animBg="1"/>
      <p:bldP spid="64" grpId="0" animBg="1"/>
      <p:bldP spid="65" grpId="0" animBg="1"/>
      <p:bldP spid="66" grpId="0" animBg="1"/>
      <p:bldP spid="67" grpId="0" animBg="1"/>
      <p:bldP spid="68" grpId="0" animBg="1"/>
      <p:bldP spid="122"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a:t>4.2 </a:t>
            </a:r>
            <a:r>
              <a:rPr lang="zh-CN" altLang="en-US" sz="3600" dirty="0"/>
              <a:t>卡诺图化简</a:t>
            </a:r>
            <a:endParaRPr lang="zh-CN" altLang="en-US" sz="2800" dirty="0"/>
          </a:p>
        </p:txBody>
      </p:sp>
      <p:sp>
        <p:nvSpPr>
          <p:cNvPr id="3" name="内容占位符 2"/>
          <p:cNvSpPr>
            <a:spLocks noGrp="1"/>
          </p:cNvSpPr>
          <p:nvPr>
            <p:ph idx="1"/>
          </p:nvPr>
        </p:nvSpPr>
        <p:spPr>
          <a:xfrm>
            <a:off x="519830" y="1043324"/>
            <a:ext cx="8022920" cy="5163321"/>
          </a:xfrm>
        </p:spPr>
        <p:txBody>
          <a:bodyPr/>
          <a:lstStyle/>
          <a:p>
            <a:pPr>
              <a:lnSpc>
                <a:spcPct val="120000"/>
              </a:lnSpc>
              <a:spcBef>
                <a:spcPts val="0"/>
              </a:spcBef>
            </a:pPr>
            <a:r>
              <a:rPr lang="zh-CN" altLang="en-US" sz="2200" dirty="0">
                <a:solidFill>
                  <a:srgbClr val="FF0000"/>
                </a:solidFill>
              </a:rPr>
              <a:t>蕴涵项</a:t>
            </a:r>
            <a:r>
              <a:rPr lang="zh-CN" altLang="en-US" sz="2200" dirty="0"/>
              <a:t>是一个乘积项，</a:t>
            </a:r>
            <a:r>
              <a:rPr lang="zh-CN" altLang="en-US" sz="2200" b="1" dirty="0">
                <a:solidFill>
                  <a:srgbClr val="FF0000"/>
                </a:solidFill>
              </a:rPr>
              <a:t>覆盖</a:t>
            </a:r>
            <a:r>
              <a:rPr lang="zh-CN" altLang="en-US" sz="2200" dirty="0"/>
              <a:t>了逻辑函数的</a:t>
            </a:r>
            <a:r>
              <a:rPr lang="en-US" altLang="zh-CN" sz="2200" dirty="0"/>
              <a:t>1</a:t>
            </a:r>
            <a:r>
              <a:rPr lang="zh-CN" altLang="en-US" sz="2200" dirty="0"/>
              <a:t>个或多个最小项。 </a:t>
            </a:r>
            <a:endParaRPr lang="zh-CN" altLang="en-US" sz="2200" dirty="0"/>
          </a:p>
          <a:p>
            <a:pPr>
              <a:lnSpc>
                <a:spcPct val="120000"/>
              </a:lnSpc>
              <a:spcBef>
                <a:spcPts val="0"/>
              </a:spcBef>
            </a:pPr>
            <a:r>
              <a:rPr lang="zh-CN" altLang="en-US" sz="2200" dirty="0">
                <a:solidFill>
                  <a:srgbClr val="FF0000"/>
                </a:solidFill>
              </a:rPr>
              <a:t>质蕴涵项</a:t>
            </a:r>
            <a:r>
              <a:rPr lang="en-US" altLang="zh-CN" sz="2200" dirty="0"/>
              <a:t>(prime implicant) </a:t>
            </a:r>
            <a:r>
              <a:rPr lang="zh-CN" altLang="en-US" sz="2200" dirty="0"/>
              <a:t>：没有被该逻辑函数的其它蕴涵项所</a:t>
            </a:r>
            <a:r>
              <a:rPr lang="zh-CN" altLang="en-US" sz="2200" b="1" dirty="0">
                <a:solidFill>
                  <a:srgbClr val="00B0F0"/>
                </a:solidFill>
              </a:rPr>
              <a:t>覆盖</a:t>
            </a:r>
            <a:r>
              <a:rPr lang="zh-CN" altLang="en-US" sz="2200" dirty="0"/>
              <a:t>的蕴涵项。 </a:t>
            </a:r>
            <a:endParaRPr lang="zh-CN" altLang="en-US" sz="2200" dirty="0"/>
          </a:p>
          <a:p>
            <a:pPr>
              <a:lnSpc>
                <a:spcPct val="120000"/>
              </a:lnSpc>
              <a:spcBef>
                <a:spcPts val="0"/>
              </a:spcBef>
            </a:pPr>
            <a:r>
              <a:rPr lang="zh-CN" altLang="en-US" sz="2200" dirty="0">
                <a:solidFill>
                  <a:srgbClr val="FF0000"/>
                </a:solidFill>
              </a:rPr>
              <a:t>实质蕴涵项</a:t>
            </a:r>
            <a:r>
              <a:rPr lang="en-US" altLang="zh-CN" sz="2200" dirty="0"/>
              <a:t>(essential prime implicant)</a:t>
            </a:r>
            <a:r>
              <a:rPr lang="zh-CN" altLang="en-US" sz="2200" dirty="0"/>
              <a:t>：覆盖的最小项中</a:t>
            </a:r>
            <a:r>
              <a:rPr lang="zh-CN" altLang="en-US" sz="2200" dirty="0">
                <a:solidFill>
                  <a:srgbClr val="FF0000"/>
                </a:solidFill>
              </a:rPr>
              <a:t>至少有一个最小项</a:t>
            </a:r>
            <a:r>
              <a:rPr lang="zh-CN" altLang="en-US" sz="2200" dirty="0"/>
              <a:t>没有被其他质蕴涵项所覆盖的质蕴涵项。</a:t>
            </a:r>
            <a:endParaRPr lang="en-US" altLang="zh-CN" sz="2200" dirty="0"/>
          </a:p>
          <a:p>
            <a:pPr>
              <a:lnSpc>
                <a:spcPct val="120000"/>
              </a:lnSpc>
              <a:spcBef>
                <a:spcPts val="0"/>
              </a:spcBef>
            </a:pPr>
            <a:r>
              <a:rPr lang="zh-CN" altLang="en-US" sz="2200" dirty="0"/>
              <a:t>质蕴涵项覆盖的最小项越多越可能是实质蕴涵项。</a:t>
            </a:r>
            <a:endParaRPr lang="en-US" altLang="zh-CN" sz="2200" dirty="0"/>
          </a:p>
          <a:p>
            <a:pPr>
              <a:lnSpc>
                <a:spcPct val="120000"/>
              </a:lnSpc>
              <a:spcBef>
                <a:spcPts val="0"/>
              </a:spcBef>
            </a:pPr>
            <a:r>
              <a:rPr lang="zh-CN" altLang="en-US" sz="2200" dirty="0"/>
              <a:t>如果逻辑函数的所有最小项都被一组的质蕴涵项所覆盖，则该组蕴涵项被称为函数的一个</a:t>
            </a:r>
            <a:r>
              <a:rPr lang="zh-CN" altLang="en-US" sz="2200" dirty="0">
                <a:solidFill>
                  <a:srgbClr val="FF0000"/>
                </a:solidFill>
              </a:rPr>
              <a:t>覆盖</a:t>
            </a:r>
            <a:r>
              <a:rPr lang="en-US" altLang="zh-CN" sz="2200" dirty="0"/>
              <a:t>(Cover)</a:t>
            </a:r>
            <a:r>
              <a:rPr lang="zh-CN" altLang="en-US" sz="2200" dirty="0"/>
              <a:t>，一定包含了所有的实质蕴涵项。 </a:t>
            </a:r>
            <a:endParaRPr lang="zh-CN" altLang="en-US" sz="2200" dirty="0"/>
          </a:p>
          <a:p>
            <a:pPr>
              <a:lnSpc>
                <a:spcPct val="120000"/>
              </a:lnSpc>
              <a:spcBef>
                <a:spcPts val="0"/>
              </a:spcBef>
            </a:pPr>
            <a:r>
              <a:rPr lang="zh-CN" altLang="en-US" sz="2200" dirty="0">
                <a:solidFill>
                  <a:srgbClr val="FF0000"/>
                </a:solidFill>
              </a:rPr>
              <a:t>最小覆盖</a:t>
            </a:r>
            <a:r>
              <a:rPr lang="zh-CN" altLang="en-US" sz="2200" dirty="0"/>
              <a:t>是包含</a:t>
            </a:r>
            <a:r>
              <a:rPr lang="zh-CN" altLang="en-US" sz="2200" dirty="0">
                <a:solidFill>
                  <a:srgbClr val="FF0000"/>
                </a:solidFill>
              </a:rPr>
              <a:t>质蕴涵项数是最少</a:t>
            </a:r>
            <a:r>
              <a:rPr lang="zh-CN" altLang="en-US" sz="2200" dirty="0"/>
              <a:t>的，并且质蕴涵项中的</a:t>
            </a:r>
            <a:r>
              <a:rPr lang="zh-CN" altLang="en-US" sz="2200" dirty="0">
                <a:solidFill>
                  <a:srgbClr val="FF0000"/>
                </a:solidFill>
              </a:rPr>
              <a:t>变量总数也是最少的</a:t>
            </a:r>
            <a:r>
              <a:rPr lang="zh-CN" altLang="en-US" sz="2200" dirty="0"/>
              <a:t>。</a:t>
            </a:r>
            <a:endParaRPr lang="en-US" altLang="zh-CN" sz="2200" dirty="0"/>
          </a:p>
          <a:p>
            <a:pPr>
              <a:lnSpc>
                <a:spcPct val="120000"/>
              </a:lnSpc>
              <a:spcBef>
                <a:spcPts val="0"/>
              </a:spcBef>
            </a:pPr>
            <a:r>
              <a:rPr lang="zh-CN" altLang="en-US" sz="2200" dirty="0"/>
              <a:t>逻辑函数化简问题就转化为寻找该函数的</a:t>
            </a:r>
            <a:r>
              <a:rPr lang="zh-CN" altLang="en-US" sz="2200" dirty="0">
                <a:solidFill>
                  <a:srgbClr val="FF0000"/>
                </a:solidFill>
              </a:rPr>
              <a:t>最小覆盖</a:t>
            </a:r>
            <a:r>
              <a:rPr lang="zh-CN" altLang="en-US" sz="2200" dirty="0"/>
              <a:t>问题。</a:t>
            </a:r>
            <a:endParaRPr lang="zh-CN" altLang="en-US" sz="2200"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a:t>4.2 </a:t>
            </a:r>
            <a:r>
              <a:rPr lang="zh-CN" altLang="en-US" sz="3600" dirty="0"/>
              <a:t>卡诺图化简</a:t>
            </a:r>
            <a:endParaRPr lang="zh-CN" altLang="en-US" dirty="0"/>
          </a:p>
        </p:txBody>
      </p:sp>
      <mc:AlternateContent xmlns:mc="http://schemas.openxmlformats.org/markup-compatibility/2006">
        <mc:Choice xmlns:a14="http://schemas.microsoft.com/office/drawing/2010/main" Requires="a14">
          <p:sp>
            <p:nvSpPr>
              <p:cNvPr id="34" name="内容占位符 2"/>
              <p:cNvSpPr>
                <a:spLocks noGrp="1"/>
              </p:cNvSpPr>
              <p:nvPr>
                <p:ph idx="1"/>
              </p:nvPr>
            </p:nvSpPr>
            <p:spPr>
              <a:xfrm>
                <a:off x="683568" y="3536778"/>
                <a:ext cx="8208912" cy="3176905"/>
              </a:xfrm>
            </p:spPr>
            <p:txBody>
              <a:bodyPr/>
              <a:lstStyle/>
              <a:p>
                <a:pPr marL="0" indent="0">
                  <a:spcBef>
                    <a:spcPts val="600"/>
                  </a:spcBef>
                  <a:buNone/>
                </a:pPr>
                <a:r>
                  <a:rPr lang="zh-CN" altLang="en-US" sz="2200" dirty="0"/>
                  <a:t>蕴涵项：</a:t>
                </a:r>
                <a:endParaRPr lang="en-US" altLang="zh-CN" sz="2200" dirty="0"/>
              </a:p>
              <a:p>
                <a:pPr marL="294005" lvl="3" indent="0">
                  <a:spcBef>
                    <a:spcPts val="600"/>
                  </a:spcBef>
                  <a:buNone/>
                </a:pPr>
                <a:r>
                  <a:rPr lang="zh-CN" altLang="en-US" sz="2200" dirty="0">
                    <a:solidFill>
                      <a:schemeClr val="accent2"/>
                    </a:solidFill>
                  </a:rPr>
                  <a:t>最小项：</a:t>
                </a:r>
                <a:r>
                  <a:rPr lang="en-US" altLang="zh-CN" sz="2200" dirty="0">
                    <a:solidFill>
                      <a:schemeClr val="accent2"/>
                    </a:solidFill>
                  </a:rPr>
                  <a:t> {</a:t>
                </a:r>
                <a14:m>
                  <m:oMath xmlns:m="http://schemas.openxmlformats.org/officeDocument/2006/math">
                    <m:acc>
                      <m:accPr>
                        <m:chr m:val="̅"/>
                        <m:ctrlPr>
                          <a:rPr lang="en-US" altLang="zh-CN" sz="2200" i="1" smtClean="0">
                            <a:solidFill>
                              <a:schemeClr val="accent2"/>
                            </a:solidFill>
                            <a:latin typeface="Cambria Math" panose="02040503050406030204" pitchFamily="18" charset="0"/>
                          </a:rPr>
                        </m:ctrlPr>
                      </m:accPr>
                      <m:e>
                        <m:r>
                          <m:rPr>
                            <m:sty m:val="p"/>
                          </m:rPr>
                          <a:rPr lang="en-US" altLang="zh-CN" sz="2200" b="0" i="0" smtClean="0">
                            <a:solidFill>
                              <a:schemeClr val="accent2"/>
                            </a:solidFill>
                            <a:latin typeface="Cambria Math" panose="02040503050406030204" pitchFamily="18" charset="0"/>
                          </a:rPr>
                          <m:t>A</m:t>
                        </m:r>
                      </m:e>
                    </m:acc>
                    <m:r>
                      <a:rPr lang="en-US" altLang="zh-CN" sz="2200" b="0" i="0" smtClean="0">
                        <a:solidFill>
                          <a:schemeClr val="accent2"/>
                        </a:solidFill>
                        <a:latin typeface="Cambria Math" panose="02040503050406030204" pitchFamily="18" charset="0"/>
                        <a:ea typeface="Cambria Math" panose="02040503050406030204" pitchFamily="18" charset="0"/>
                      </a:rPr>
                      <m:t>∙</m:t>
                    </m:r>
                    <m:acc>
                      <m:accPr>
                        <m:chr m:val="̅"/>
                        <m:ctrlPr>
                          <a:rPr lang="en-US" altLang="zh-CN" sz="2200" i="1" smtClean="0">
                            <a:solidFill>
                              <a:schemeClr val="accent2"/>
                            </a:solidFill>
                            <a:latin typeface="Cambria Math" panose="02040503050406030204" pitchFamily="18" charset="0"/>
                          </a:rPr>
                        </m:ctrlPr>
                      </m:accPr>
                      <m:e>
                        <m:r>
                          <m:rPr>
                            <m:sty m:val="p"/>
                          </m:rPr>
                          <a:rPr lang="en-US" altLang="zh-CN" sz="2200" b="0" i="0" smtClean="0">
                            <a:solidFill>
                              <a:schemeClr val="accent2"/>
                            </a:solidFill>
                            <a:latin typeface="Cambria Math" panose="02040503050406030204" pitchFamily="18" charset="0"/>
                          </a:rPr>
                          <m:t>B</m:t>
                        </m:r>
                      </m:e>
                    </m:acc>
                    <m:r>
                      <a:rPr lang="en-US" altLang="zh-CN" sz="2200" i="0">
                        <a:solidFill>
                          <a:schemeClr val="accent2"/>
                        </a:solidFill>
                        <a:latin typeface="Cambria Math" panose="02040503050406030204" pitchFamily="18" charset="0"/>
                        <a:ea typeface="Cambria Math" panose="02040503050406030204" pitchFamily="18" charset="0"/>
                      </a:rPr>
                      <m:t>∙</m:t>
                    </m:r>
                    <m:r>
                      <m:rPr>
                        <m:sty m:val="p"/>
                      </m:rPr>
                      <a:rPr lang="en-US" altLang="zh-CN" sz="2200" b="0" i="0" smtClean="0">
                        <a:solidFill>
                          <a:schemeClr val="accent2"/>
                        </a:solidFill>
                        <a:latin typeface="Cambria Math" panose="02040503050406030204" pitchFamily="18" charset="0"/>
                      </a:rPr>
                      <m:t>C</m:t>
                    </m:r>
                  </m:oMath>
                </a14:m>
                <a:r>
                  <a:rPr lang="en-US" altLang="zh-CN" sz="2200" dirty="0">
                    <a:solidFill>
                      <a:schemeClr val="accent2"/>
                    </a:solidFill>
                  </a:rPr>
                  <a:t>, </a:t>
                </a:r>
                <a14:m>
                  <m:oMath xmlns:m="http://schemas.openxmlformats.org/officeDocument/2006/math">
                    <m:acc>
                      <m:accPr>
                        <m:chr m:val="̅"/>
                        <m:ctrlPr>
                          <a:rPr lang="en-US" altLang="zh-CN" sz="2200" i="1">
                            <a:solidFill>
                              <a:schemeClr val="accent2"/>
                            </a:solidFill>
                            <a:latin typeface="Cambria Math" panose="02040503050406030204" pitchFamily="18" charset="0"/>
                          </a:rPr>
                        </m:ctrlPr>
                      </m:accPr>
                      <m:e>
                        <m:r>
                          <m:rPr>
                            <m:sty m:val="p"/>
                          </m:rPr>
                          <a:rPr lang="en-US" altLang="zh-CN" sz="2200" i="0">
                            <a:solidFill>
                              <a:schemeClr val="accent2"/>
                            </a:solidFill>
                            <a:latin typeface="Cambria Math" panose="02040503050406030204" pitchFamily="18" charset="0"/>
                          </a:rPr>
                          <m:t>A</m:t>
                        </m:r>
                      </m:e>
                    </m:acc>
                    <m:r>
                      <a:rPr lang="en-US" altLang="zh-CN" sz="2200" i="0">
                        <a:solidFill>
                          <a:schemeClr val="accent2"/>
                        </a:solidFill>
                        <a:latin typeface="Cambria Math" panose="02040503050406030204" pitchFamily="18" charset="0"/>
                        <a:ea typeface="Cambria Math" panose="02040503050406030204" pitchFamily="18" charset="0"/>
                      </a:rPr>
                      <m:t>∙</m:t>
                    </m:r>
                    <m:r>
                      <m:rPr>
                        <m:sty m:val="p"/>
                      </m:rPr>
                      <a:rPr lang="en-US" altLang="zh-CN" sz="2200" i="0">
                        <a:solidFill>
                          <a:schemeClr val="accent2"/>
                        </a:solidFill>
                        <a:latin typeface="Cambria Math" panose="02040503050406030204" pitchFamily="18" charset="0"/>
                      </a:rPr>
                      <m:t>B</m:t>
                    </m:r>
                    <m:r>
                      <a:rPr lang="en-US" altLang="zh-CN" sz="2200" i="0">
                        <a:solidFill>
                          <a:schemeClr val="accent2"/>
                        </a:solidFill>
                        <a:latin typeface="Cambria Math" panose="02040503050406030204" pitchFamily="18" charset="0"/>
                        <a:ea typeface="Cambria Math" panose="02040503050406030204" pitchFamily="18" charset="0"/>
                      </a:rPr>
                      <m:t>∙</m:t>
                    </m:r>
                    <m:r>
                      <m:rPr>
                        <m:sty m:val="p"/>
                      </m:rPr>
                      <a:rPr lang="en-US" altLang="zh-CN" sz="2200" b="0" i="0" smtClean="0">
                        <a:solidFill>
                          <a:schemeClr val="accent2"/>
                        </a:solidFill>
                        <a:latin typeface="Cambria Math" panose="02040503050406030204" pitchFamily="18" charset="0"/>
                      </a:rPr>
                      <m:t>C</m:t>
                    </m:r>
                  </m:oMath>
                </a14:m>
                <a:r>
                  <a:rPr lang="en-US" altLang="zh-CN" sz="2200" dirty="0">
                    <a:solidFill>
                      <a:schemeClr val="accent2"/>
                    </a:solidFill>
                  </a:rPr>
                  <a:t>, A</a:t>
                </a:r>
                <a:r>
                  <a:rPr lang="en-US" altLang="zh-CN" sz="2200" dirty="0">
                    <a:solidFill>
                      <a:schemeClr val="accent2"/>
                    </a:solidFill>
                    <a:ea typeface="Cambria Math" panose="02040503050406030204" pitchFamily="18" charset="0"/>
                  </a:rPr>
                  <a:t> </a:t>
                </a:r>
                <a14:m>
                  <m:oMath xmlns:m="http://schemas.openxmlformats.org/officeDocument/2006/math">
                    <m:r>
                      <a:rPr lang="en-US" altLang="zh-CN" sz="2200" i="0">
                        <a:solidFill>
                          <a:schemeClr val="accent2"/>
                        </a:solidFill>
                        <a:latin typeface="Cambria Math" panose="02040503050406030204" pitchFamily="18" charset="0"/>
                        <a:ea typeface="Cambria Math" panose="02040503050406030204" pitchFamily="18" charset="0"/>
                      </a:rPr>
                      <m:t>∙ </m:t>
                    </m:r>
                    <m:acc>
                      <m:accPr>
                        <m:chr m:val="̅"/>
                        <m:ctrlPr>
                          <a:rPr lang="en-US" altLang="zh-CN" sz="2200" i="1">
                            <a:solidFill>
                              <a:schemeClr val="accent2"/>
                            </a:solidFill>
                            <a:latin typeface="Cambria Math" panose="02040503050406030204" pitchFamily="18" charset="0"/>
                          </a:rPr>
                        </m:ctrlPr>
                      </m:accPr>
                      <m:e>
                        <m:r>
                          <m:rPr>
                            <m:sty m:val="p"/>
                          </m:rPr>
                          <a:rPr lang="en-US" altLang="zh-CN" sz="2200" i="0">
                            <a:solidFill>
                              <a:schemeClr val="accent2"/>
                            </a:solidFill>
                            <a:latin typeface="Cambria Math" panose="02040503050406030204" pitchFamily="18" charset="0"/>
                          </a:rPr>
                          <m:t>B</m:t>
                        </m:r>
                      </m:e>
                    </m:acc>
                    <m:r>
                      <a:rPr lang="en-US" altLang="zh-CN" sz="2200" i="0">
                        <a:solidFill>
                          <a:schemeClr val="accent2"/>
                        </a:solidFill>
                        <a:latin typeface="Cambria Math" panose="02040503050406030204" pitchFamily="18" charset="0"/>
                        <a:ea typeface="Cambria Math" panose="02040503050406030204" pitchFamily="18" charset="0"/>
                      </a:rPr>
                      <m:t>∙</m:t>
                    </m:r>
                    <m:acc>
                      <m:accPr>
                        <m:chr m:val="̅"/>
                        <m:ctrlPr>
                          <a:rPr lang="en-US" altLang="zh-CN" sz="2200" i="1">
                            <a:solidFill>
                              <a:schemeClr val="accent2"/>
                            </a:solidFill>
                            <a:latin typeface="Cambria Math" panose="02040503050406030204" pitchFamily="18" charset="0"/>
                          </a:rPr>
                        </m:ctrlPr>
                      </m:accPr>
                      <m:e>
                        <m:r>
                          <m:rPr>
                            <m:sty m:val="p"/>
                          </m:rPr>
                          <a:rPr lang="en-US" altLang="zh-CN" sz="2200" i="0">
                            <a:solidFill>
                              <a:schemeClr val="accent2"/>
                            </a:solidFill>
                            <a:latin typeface="Cambria Math" panose="02040503050406030204" pitchFamily="18" charset="0"/>
                          </a:rPr>
                          <m:t>C</m:t>
                        </m:r>
                      </m:e>
                    </m:acc>
                  </m:oMath>
                </a14:m>
                <a:r>
                  <a:rPr lang="zh-CN" altLang="en-US" sz="2200" dirty="0">
                    <a:solidFill>
                      <a:schemeClr val="accent2"/>
                    </a:solidFill>
                  </a:rPr>
                  <a:t> </a:t>
                </a:r>
                <a:r>
                  <a:rPr lang="en-US" altLang="zh-CN" sz="2200" dirty="0">
                    <a:solidFill>
                      <a:schemeClr val="accent2"/>
                    </a:solidFill>
                  </a:rPr>
                  <a:t>, A</a:t>
                </a:r>
                <a:r>
                  <a:rPr lang="en-US" altLang="zh-CN" sz="2200" dirty="0">
                    <a:solidFill>
                      <a:schemeClr val="accent2"/>
                    </a:solidFill>
                    <a:ea typeface="Cambria Math" panose="02040503050406030204" pitchFamily="18" charset="0"/>
                  </a:rPr>
                  <a:t> </a:t>
                </a:r>
                <a14:m>
                  <m:oMath xmlns:m="http://schemas.openxmlformats.org/officeDocument/2006/math">
                    <m:r>
                      <a:rPr lang="en-US" altLang="zh-CN" sz="2200" i="0">
                        <a:solidFill>
                          <a:schemeClr val="accent2"/>
                        </a:solidFill>
                        <a:latin typeface="Cambria Math" panose="02040503050406030204" pitchFamily="18" charset="0"/>
                        <a:ea typeface="Cambria Math" panose="02040503050406030204" pitchFamily="18" charset="0"/>
                      </a:rPr>
                      <m:t>∙ </m:t>
                    </m:r>
                    <m:acc>
                      <m:accPr>
                        <m:chr m:val="̅"/>
                        <m:ctrlPr>
                          <a:rPr lang="en-US" altLang="zh-CN" sz="2200" i="1">
                            <a:solidFill>
                              <a:schemeClr val="accent2"/>
                            </a:solidFill>
                            <a:latin typeface="Cambria Math" panose="02040503050406030204" pitchFamily="18" charset="0"/>
                          </a:rPr>
                        </m:ctrlPr>
                      </m:accPr>
                      <m:e>
                        <m:r>
                          <m:rPr>
                            <m:sty m:val="p"/>
                          </m:rPr>
                          <a:rPr lang="en-US" altLang="zh-CN" sz="2200" i="0">
                            <a:solidFill>
                              <a:schemeClr val="accent2"/>
                            </a:solidFill>
                            <a:latin typeface="Cambria Math" panose="02040503050406030204" pitchFamily="18" charset="0"/>
                          </a:rPr>
                          <m:t>B</m:t>
                        </m:r>
                      </m:e>
                    </m:acc>
                    <m:r>
                      <a:rPr lang="en-US" altLang="zh-CN" sz="2200" i="0">
                        <a:solidFill>
                          <a:schemeClr val="accent2"/>
                        </a:solidFill>
                        <a:latin typeface="Cambria Math" panose="02040503050406030204" pitchFamily="18" charset="0"/>
                        <a:ea typeface="Cambria Math" panose="02040503050406030204" pitchFamily="18" charset="0"/>
                      </a:rPr>
                      <m:t>∙</m:t>
                    </m:r>
                    <m:r>
                      <m:rPr>
                        <m:sty m:val="p"/>
                      </m:rPr>
                      <a:rPr lang="en-US" altLang="zh-CN" sz="2200" b="0" i="0" smtClean="0">
                        <a:solidFill>
                          <a:schemeClr val="accent2"/>
                        </a:solidFill>
                        <a:latin typeface="Cambria Math" panose="02040503050406030204" pitchFamily="18" charset="0"/>
                      </a:rPr>
                      <m:t>C</m:t>
                    </m:r>
                  </m:oMath>
                </a14:m>
                <a:r>
                  <a:rPr lang="zh-CN" altLang="en-US" sz="2200" dirty="0">
                    <a:solidFill>
                      <a:schemeClr val="accent2"/>
                    </a:solidFill>
                  </a:rPr>
                  <a:t> </a:t>
                </a:r>
                <a:r>
                  <a:rPr lang="en-US" altLang="zh-CN" sz="2200" dirty="0">
                    <a:solidFill>
                      <a:schemeClr val="accent2"/>
                    </a:solidFill>
                  </a:rPr>
                  <a:t>, A</a:t>
                </a:r>
                <a:r>
                  <a:rPr lang="en-US" altLang="zh-CN" sz="2200" dirty="0">
                    <a:solidFill>
                      <a:schemeClr val="accent2"/>
                    </a:solidFill>
                    <a:ea typeface="Cambria Math" panose="02040503050406030204" pitchFamily="18" charset="0"/>
                  </a:rPr>
                  <a:t> </a:t>
                </a:r>
                <a14:m>
                  <m:oMath xmlns:m="http://schemas.openxmlformats.org/officeDocument/2006/math">
                    <m:r>
                      <a:rPr lang="en-US" altLang="zh-CN" sz="2200" i="0">
                        <a:solidFill>
                          <a:schemeClr val="accent2"/>
                        </a:solidFill>
                        <a:latin typeface="Cambria Math" panose="02040503050406030204" pitchFamily="18" charset="0"/>
                        <a:ea typeface="Cambria Math" panose="02040503050406030204" pitchFamily="18" charset="0"/>
                      </a:rPr>
                      <m:t>∙ </m:t>
                    </m:r>
                  </m:oMath>
                </a14:m>
                <a:r>
                  <a:rPr lang="en-US" altLang="zh-CN" sz="2200" dirty="0">
                    <a:solidFill>
                      <a:schemeClr val="accent2"/>
                    </a:solidFill>
                  </a:rPr>
                  <a:t>B</a:t>
                </a:r>
                <a:r>
                  <a:rPr lang="en-US" altLang="zh-CN" sz="2200" dirty="0">
                    <a:solidFill>
                      <a:schemeClr val="accent2"/>
                    </a:solidFill>
                    <a:ea typeface="Cambria Math" panose="02040503050406030204" pitchFamily="18" charset="0"/>
                  </a:rPr>
                  <a:t> </a:t>
                </a:r>
                <a14:m>
                  <m:oMath xmlns:m="http://schemas.openxmlformats.org/officeDocument/2006/math">
                    <m:r>
                      <a:rPr lang="en-US" altLang="zh-CN" sz="2200" i="0">
                        <a:solidFill>
                          <a:schemeClr val="accent2"/>
                        </a:solidFill>
                        <a:latin typeface="Cambria Math" panose="02040503050406030204" pitchFamily="18" charset="0"/>
                        <a:ea typeface="Cambria Math" panose="02040503050406030204" pitchFamily="18" charset="0"/>
                      </a:rPr>
                      <m:t>∙ </m:t>
                    </m:r>
                  </m:oMath>
                </a14:m>
                <a:r>
                  <a:rPr lang="en-US" altLang="zh-CN" sz="2200" dirty="0">
                    <a:solidFill>
                      <a:schemeClr val="accent2"/>
                    </a:solidFill>
                  </a:rPr>
                  <a:t>C} </a:t>
                </a:r>
                <a:endParaRPr lang="en-US" altLang="zh-CN" sz="2200" dirty="0">
                  <a:solidFill>
                    <a:schemeClr val="accent2"/>
                  </a:solidFill>
                </a:endParaRPr>
              </a:p>
              <a:p>
                <a:pPr marL="294005" lvl="3" indent="0">
                  <a:spcBef>
                    <a:spcPts val="600"/>
                  </a:spcBef>
                  <a:buNone/>
                </a:pPr>
                <a:r>
                  <a:rPr lang="zh-CN" altLang="en-US" sz="2200" dirty="0">
                    <a:solidFill>
                      <a:schemeClr val="accent2"/>
                    </a:solidFill>
                  </a:rPr>
                  <a:t>含有两个最小项的蕴涵项： </a:t>
                </a:r>
                <a:endParaRPr lang="en-US" altLang="zh-CN" sz="2200" dirty="0">
                  <a:solidFill>
                    <a:schemeClr val="accent2"/>
                  </a:solidFill>
                </a:endParaRPr>
              </a:p>
              <a:p>
                <a:pPr marL="294005" lvl="3" indent="0">
                  <a:spcBef>
                    <a:spcPts val="600"/>
                  </a:spcBef>
                  <a:buNone/>
                </a:pPr>
                <a:r>
                  <a:rPr lang="zh-CN" altLang="en-US" sz="2200" dirty="0">
                    <a:solidFill>
                      <a:schemeClr val="accent2"/>
                    </a:solidFill>
                  </a:rPr>
                  <a:t>含有四个最小项的蕴涵项：</a:t>
                </a:r>
                <a:endParaRPr lang="en-US" altLang="zh-CN" sz="2200" dirty="0">
                  <a:solidFill>
                    <a:schemeClr val="accent2"/>
                  </a:solidFill>
                </a:endParaRPr>
              </a:p>
              <a:p>
                <a:pPr marL="0" indent="0">
                  <a:spcBef>
                    <a:spcPts val="600"/>
                  </a:spcBef>
                  <a:buNone/>
                </a:pPr>
                <a:r>
                  <a:rPr lang="zh-CN" altLang="en-US" sz="2200" dirty="0"/>
                  <a:t>质蕴涵项，没有</a:t>
                </a:r>
                <a:r>
                  <a:rPr lang="zh-CN" altLang="en-US" sz="2200" b="1" dirty="0">
                    <a:solidFill>
                      <a:srgbClr val="FF0000"/>
                    </a:solidFill>
                  </a:rPr>
                  <a:t>被覆盖</a:t>
                </a:r>
                <a:r>
                  <a:rPr lang="zh-CN" altLang="en-US" sz="2200" dirty="0"/>
                  <a:t>的蕴涵项：</a:t>
                </a:r>
                <a:r>
                  <a:rPr lang="en-US" altLang="zh-CN" sz="2200" dirty="0"/>
                  <a:t> {</a:t>
                </a:r>
                <a14:m>
                  <m:oMath xmlns:m="http://schemas.openxmlformats.org/officeDocument/2006/math">
                    <m:r>
                      <m:rPr>
                        <m:nor/>
                      </m:rPr>
                      <a:rPr lang="en-US" altLang="zh-CN" sz="2200" dirty="0">
                        <a:latin typeface="Cambria Math" panose="02040503050406030204" pitchFamily="18" charset="0"/>
                      </a:rPr>
                      <m:t>A</m:t>
                    </m:r>
                    <m:r>
                      <a:rPr lang="en-US" altLang="zh-CN" sz="2200" i="0">
                        <a:latin typeface="Cambria Math" panose="02040503050406030204" pitchFamily="18" charset="0"/>
                        <a:ea typeface="Cambria Math" panose="02040503050406030204" pitchFamily="18" charset="0"/>
                      </a:rPr>
                      <m:t>∙</m:t>
                    </m:r>
                    <m:acc>
                      <m:accPr>
                        <m:chr m:val="̅"/>
                        <m:ctrlPr>
                          <a:rPr lang="en-US" altLang="zh-CN" sz="2200" i="1">
                            <a:latin typeface="Cambria Math" panose="02040503050406030204" pitchFamily="18" charset="0"/>
                          </a:rPr>
                        </m:ctrlPr>
                      </m:accPr>
                      <m:e>
                        <m:r>
                          <m:rPr>
                            <m:sty m:val="p"/>
                          </m:rPr>
                          <a:rPr lang="en-US" altLang="zh-CN" sz="2200" i="0">
                            <a:latin typeface="Cambria Math" panose="02040503050406030204" pitchFamily="18" charset="0"/>
                          </a:rPr>
                          <m:t>B</m:t>
                        </m:r>
                      </m:e>
                    </m:acc>
                  </m:oMath>
                </a14:m>
                <a:r>
                  <a:rPr lang="en-US" altLang="zh-CN" sz="2200" dirty="0"/>
                  <a:t>,  C} </a:t>
                </a:r>
                <a:endParaRPr lang="en-US" altLang="zh-CN" sz="2200" dirty="0"/>
              </a:p>
              <a:p>
                <a:pPr marL="0" indent="0">
                  <a:spcBef>
                    <a:spcPts val="600"/>
                  </a:spcBef>
                  <a:buNone/>
                </a:pPr>
                <a:r>
                  <a:rPr lang="zh-CN" altLang="en-US" sz="2200" dirty="0"/>
                  <a:t>实质蕴涵项 </a:t>
                </a:r>
                <a:r>
                  <a:rPr lang="en-US" altLang="zh-CN" sz="2200" dirty="0"/>
                  <a:t>= {</a:t>
                </a:r>
                <a14:m>
                  <m:oMath xmlns:m="http://schemas.openxmlformats.org/officeDocument/2006/math">
                    <m:r>
                      <m:rPr>
                        <m:nor/>
                      </m:rPr>
                      <a:rPr lang="en-US" altLang="zh-CN" sz="2200" dirty="0">
                        <a:latin typeface="Cambria Math" panose="02040503050406030204" pitchFamily="18" charset="0"/>
                      </a:rPr>
                      <m:t>A</m:t>
                    </m:r>
                    <m:r>
                      <a:rPr lang="en-US" altLang="zh-CN" sz="2200" i="0">
                        <a:latin typeface="Cambria Math" panose="02040503050406030204" pitchFamily="18" charset="0"/>
                        <a:ea typeface="Cambria Math" panose="02040503050406030204" pitchFamily="18" charset="0"/>
                      </a:rPr>
                      <m:t>∙</m:t>
                    </m:r>
                    <m:acc>
                      <m:accPr>
                        <m:chr m:val="̅"/>
                        <m:ctrlPr>
                          <a:rPr lang="en-US" altLang="zh-CN" sz="2200" i="1">
                            <a:latin typeface="Cambria Math" panose="02040503050406030204" pitchFamily="18" charset="0"/>
                          </a:rPr>
                        </m:ctrlPr>
                      </m:accPr>
                      <m:e>
                        <m:r>
                          <m:rPr>
                            <m:sty m:val="p"/>
                          </m:rPr>
                          <a:rPr lang="en-US" altLang="zh-CN" sz="2200" i="0">
                            <a:latin typeface="Cambria Math" panose="02040503050406030204" pitchFamily="18" charset="0"/>
                          </a:rPr>
                          <m:t>B</m:t>
                        </m:r>
                      </m:e>
                    </m:acc>
                  </m:oMath>
                </a14:m>
                <a:r>
                  <a:rPr lang="en-US" altLang="zh-CN" sz="2200" dirty="0"/>
                  <a:t>, C}</a:t>
                </a:r>
                <a:endParaRPr lang="en-US" altLang="zh-CN" sz="2200" dirty="0"/>
              </a:p>
              <a:p>
                <a:pPr marL="0" indent="0">
                  <a:spcBef>
                    <a:spcPts val="600"/>
                  </a:spcBef>
                  <a:buNone/>
                </a:pPr>
                <a:r>
                  <a:rPr lang="zh-CN" altLang="en-US" sz="2200" dirty="0"/>
                  <a:t>最小覆盖 </a:t>
                </a:r>
                <a:r>
                  <a:rPr lang="en-US" altLang="zh-CN" sz="2200" dirty="0"/>
                  <a:t>=A</a:t>
                </a:r>
                <a14:m>
                  <m:oMath xmlns:m="http://schemas.openxmlformats.org/officeDocument/2006/math">
                    <m:r>
                      <a:rPr lang="en-US" altLang="zh-CN" sz="2200" i="0">
                        <a:latin typeface="Cambria Math" panose="02040503050406030204" pitchFamily="18" charset="0"/>
                        <a:ea typeface="Cambria Math" panose="02040503050406030204" pitchFamily="18" charset="0"/>
                      </a:rPr>
                      <m:t>∙</m:t>
                    </m:r>
                    <m:acc>
                      <m:accPr>
                        <m:chr m:val="̅"/>
                        <m:ctrlPr>
                          <a:rPr lang="en-US" altLang="zh-CN" sz="2200" i="1">
                            <a:latin typeface="Cambria Math" panose="02040503050406030204" pitchFamily="18" charset="0"/>
                          </a:rPr>
                        </m:ctrlPr>
                      </m:accPr>
                      <m:e>
                        <m:r>
                          <m:rPr>
                            <m:sty m:val="p"/>
                          </m:rPr>
                          <a:rPr lang="en-US" altLang="zh-CN" sz="2200" i="0">
                            <a:latin typeface="Cambria Math" panose="02040503050406030204" pitchFamily="18" charset="0"/>
                          </a:rPr>
                          <m:t>B</m:t>
                        </m:r>
                      </m:e>
                    </m:acc>
                  </m:oMath>
                </a14:m>
                <a:r>
                  <a:rPr lang="en-US" altLang="zh-CN" sz="2200" dirty="0"/>
                  <a:t>+ C </a:t>
                </a:r>
                <a:endParaRPr lang="zh-CN" altLang="en-US" sz="2200" dirty="0"/>
              </a:p>
            </p:txBody>
          </p:sp>
        </mc:Choice>
        <mc:Fallback>
          <p:sp>
            <p:nvSpPr>
              <p:cNvPr id="34" name="内容占位符 2"/>
              <p:cNvSpPr>
                <a:spLocks noRot="1" noChangeAspect="1" noMove="1" noResize="1" noEditPoints="1" noAdjustHandles="1" noChangeArrowheads="1" noChangeShapeType="1" noTextEdit="1"/>
              </p:cNvSpPr>
              <p:nvPr>
                <p:ph idx="1"/>
              </p:nvPr>
            </p:nvSpPr>
            <p:spPr>
              <a:xfrm>
                <a:off x="683568" y="3536778"/>
                <a:ext cx="8208912" cy="3176905"/>
              </a:xfrm>
              <a:blipFill rotWithShape="1">
                <a:blip r:embed="rId1"/>
                <a:stretch>
                  <a:fillRect l="-4" t="-15" r="7" b="15"/>
                </a:stretch>
              </a:blipFill>
            </p:spPr>
            <p:txBody>
              <a:bodyPr/>
              <a:lstStyle/>
              <a:p>
                <a:r>
                  <a:rPr lang="zh-CN" altLang="en-US">
                    <a:noFill/>
                  </a:rPr>
                  <a:t> </a:t>
                </a:r>
              </a:p>
            </p:txBody>
          </p:sp>
        </mc:Fallback>
      </mc:AlternateContent>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grpSp>
        <p:nvGrpSpPr>
          <p:cNvPr id="32" name="组合 31"/>
          <p:cNvGrpSpPr/>
          <p:nvPr/>
        </p:nvGrpSpPr>
        <p:grpSpPr>
          <a:xfrm>
            <a:off x="306760" y="1703393"/>
            <a:ext cx="2895600" cy="1536878"/>
            <a:chOff x="611560" y="1196752"/>
            <a:chExt cx="2895600" cy="1536878"/>
          </a:xfrm>
        </p:grpSpPr>
        <p:grpSp>
          <p:nvGrpSpPr>
            <p:cNvPr id="7" name="Group 8"/>
            <p:cNvGrpSpPr/>
            <p:nvPr/>
          </p:nvGrpSpPr>
          <p:grpSpPr bwMode="auto">
            <a:xfrm>
              <a:off x="611560" y="1196752"/>
              <a:ext cx="2895600" cy="1524000"/>
              <a:chOff x="144" y="2304"/>
              <a:chExt cx="1824" cy="960"/>
            </a:xfrm>
          </p:grpSpPr>
          <p:sp>
            <p:nvSpPr>
              <p:cNvPr id="8" name="Rectangle 9"/>
              <p:cNvSpPr>
                <a:spLocks noChangeArrowheads="1"/>
              </p:cNvSpPr>
              <p:nvPr/>
            </p:nvSpPr>
            <p:spPr bwMode="auto">
              <a:xfrm>
                <a:off x="1536" y="2976"/>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9" name="Rectangle 10"/>
              <p:cNvSpPr>
                <a:spLocks noChangeArrowheads="1"/>
              </p:cNvSpPr>
              <p:nvPr/>
            </p:nvSpPr>
            <p:spPr bwMode="auto">
              <a:xfrm>
                <a:off x="1536" y="268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10" name="Rectangle 11"/>
              <p:cNvSpPr>
                <a:spLocks noChangeArrowheads="1"/>
              </p:cNvSpPr>
              <p:nvPr/>
            </p:nvSpPr>
            <p:spPr bwMode="auto">
              <a:xfrm>
                <a:off x="864" y="2976"/>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1</a:t>
                </a:r>
                <a:endParaRPr lang="en-US" altLang="zh-CN" sz="2000"/>
              </a:p>
            </p:txBody>
          </p:sp>
          <p:sp>
            <p:nvSpPr>
              <p:cNvPr id="11" name="Rectangle 12"/>
              <p:cNvSpPr>
                <a:spLocks noChangeArrowheads="1"/>
              </p:cNvSpPr>
              <p:nvPr/>
            </p:nvSpPr>
            <p:spPr bwMode="auto">
              <a:xfrm>
                <a:off x="864" y="272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sp>
            <p:nvSpPr>
              <p:cNvPr id="12" name="Rectangle 13"/>
              <p:cNvSpPr>
                <a:spLocks noChangeArrowheads="1"/>
              </p:cNvSpPr>
              <p:nvPr/>
            </p:nvSpPr>
            <p:spPr bwMode="auto">
              <a:xfrm>
                <a:off x="1200" y="2976"/>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13" name="Rectangle 14"/>
              <p:cNvSpPr>
                <a:spLocks noChangeArrowheads="1"/>
              </p:cNvSpPr>
              <p:nvPr/>
            </p:nvSpPr>
            <p:spPr bwMode="auto">
              <a:xfrm>
                <a:off x="1200" y="268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14" name="Rectangle 15"/>
              <p:cNvSpPr>
                <a:spLocks noChangeArrowheads="1"/>
              </p:cNvSpPr>
              <p:nvPr/>
            </p:nvSpPr>
            <p:spPr bwMode="auto">
              <a:xfrm>
                <a:off x="528" y="2976"/>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15" name="Rectangle 16"/>
              <p:cNvSpPr>
                <a:spLocks noChangeArrowheads="1"/>
              </p:cNvSpPr>
              <p:nvPr/>
            </p:nvSpPr>
            <p:spPr bwMode="auto">
              <a:xfrm>
                <a:off x="528" y="268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16" name="Line 17"/>
              <p:cNvSpPr>
                <a:spLocks noChangeShapeType="1"/>
              </p:cNvSpPr>
              <p:nvPr/>
            </p:nvSpPr>
            <p:spPr bwMode="auto">
              <a:xfrm>
                <a:off x="528" y="2688"/>
                <a:ext cx="1344"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18"/>
              <p:cNvSpPr>
                <a:spLocks noChangeShapeType="1"/>
              </p:cNvSpPr>
              <p:nvPr/>
            </p:nvSpPr>
            <p:spPr bwMode="auto">
              <a:xfrm>
                <a:off x="528" y="3264"/>
                <a:ext cx="1344"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19"/>
              <p:cNvSpPr>
                <a:spLocks noChangeShapeType="1"/>
              </p:cNvSpPr>
              <p:nvPr/>
            </p:nvSpPr>
            <p:spPr bwMode="auto">
              <a:xfrm>
                <a:off x="528" y="2688"/>
                <a:ext cx="0" cy="576"/>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20"/>
              <p:cNvSpPr>
                <a:spLocks noChangeShapeType="1"/>
              </p:cNvSpPr>
              <p:nvPr/>
            </p:nvSpPr>
            <p:spPr bwMode="auto">
              <a:xfrm>
                <a:off x="1872" y="2688"/>
                <a:ext cx="0" cy="576"/>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21"/>
              <p:cNvSpPr>
                <a:spLocks noChangeShapeType="1"/>
              </p:cNvSpPr>
              <p:nvPr/>
            </p:nvSpPr>
            <p:spPr bwMode="auto">
              <a:xfrm>
                <a:off x="528" y="2976"/>
                <a:ext cx="134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22"/>
              <p:cNvSpPr>
                <a:spLocks noChangeShapeType="1"/>
              </p:cNvSpPr>
              <p:nvPr/>
            </p:nvSpPr>
            <p:spPr bwMode="auto">
              <a:xfrm>
                <a:off x="1200" y="2688"/>
                <a:ext cx="0" cy="57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Line 23"/>
              <p:cNvSpPr>
                <a:spLocks noChangeShapeType="1"/>
              </p:cNvSpPr>
              <p:nvPr/>
            </p:nvSpPr>
            <p:spPr bwMode="auto">
              <a:xfrm>
                <a:off x="864" y="2688"/>
                <a:ext cx="0" cy="57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Line 24"/>
              <p:cNvSpPr>
                <a:spLocks noChangeShapeType="1"/>
              </p:cNvSpPr>
              <p:nvPr/>
            </p:nvSpPr>
            <p:spPr bwMode="auto">
              <a:xfrm>
                <a:off x="1536" y="2688"/>
                <a:ext cx="0" cy="57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25"/>
              <p:cNvSpPr>
                <a:spLocks noChangeShapeType="1"/>
              </p:cNvSpPr>
              <p:nvPr/>
            </p:nvSpPr>
            <p:spPr bwMode="auto">
              <a:xfrm>
                <a:off x="288" y="2448"/>
                <a:ext cx="240" cy="24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Text Box 26"/>
              <p:cNvSpPr txBox="1">
                <a:spLocks noChangeArrowheads="1"/>
              </p:cNvSpPr>
              <p:nvPr/>
            </p:nvSpPr>
            <p:spPr bwMode="auto">
              <a:xfrm>
                <a:off x="144" y="240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i="1"/>
                  <a:t>A</a:t>
                </a:r>
                <a:endParaRPr lang="en-US" altLang="zh-CN" sz="1800" i="1"/>
              </a:p>
            </p:txBody>
          </p:sp>
          <p:sp>
            <p:nvSpPr>
              <p:cNvPr id="26" name="Text Box 27"/>
              <p:cNvSpPr txBox="1">
                <a:spLocks noChangeArrowheads="1"/>
              </p:cNvSpPr>
              <p:nvPr/>
            </p:nvSpPr>
            <p:spPr bwMode="auto">
              <a:xfrm>
                <a:off x="288" y="2304"/>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i="1"/>
                  <a:t>BC</a:t>
                </a:r>
                <a:endParaRPr lang="en-US" altLang="zh-CN" sz="1800" i="1"/>
              </a:p>
            </p:txBody>
          </p:sp>
          <p:sp>
            <p:nvSpPr>
              <p:cNvPr id="27" name="Text Box 28"/>
              <p:cNvSpPr txBox="1">
                <a:spLocks noChangeArrowheads="1"/>
              </p:cNvSpPr>
              <p:nvPr/>
            </p:nvSpPr>
            <p:spPr bwMode="auto">
              <a:xfrm>
                <a:off x="576" y="2448"/>
                <a:ext cx="139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dirty="0"/>
                  <a:t>00      01       11      10</a:t>
                </a:r>
                <a:endParaRPr lang="en-US" altLang="zh-CN" sz="1600" dirty="0"/>
              </a:p>
            </p:txBody>
          </p:sp>
          <p:sp>
            <p:nvSpPr>
              <p:cNvPr id="28" name="Text Box 29"/>
              <p:cNvSpPr txBox="1">
                <a:spLocks noChangeArrowheads="1"/>
              </p:cNvSpPr>
              <p:nvPr/>
            </p:nvSpPr>
            <p:spPr bwMode="auto">
              <a:xfrm>
                <a:off x="336" y="2736"/>
                <a:ext cx="192" cy="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0</a:t>
                </a:r>
                <a:endParaRPr lang="en-US" altLang="zh-CN" sz="1600"/>
              </a:p>
              <a:p>
                <a:pPr>
                  <a:spcBef>
                    <a:spcPct val="50000"/>
                  </a:spcBef>
                </a:pPr>
                <a:r>
                  <a:rPr lang="en-US" altLang="zh-CN" sz="1600"/>
                  <a:t>1</a:t>
                </a:r>
                <a:endParaRPr lang="en-US" altLang="zh-CN" sz="1600"/>
              </a:p>
            </p:txBody>
          </p:sp>
        </p:grpSp>
        <p:sp>
          <p:nvSpPr>
            <p:cNvPr id="29" name="Rectangle 12"/>
            <p:cNvSpPr>
              <a:spLocks noChangeArrowheads="1"/>
            </p:cNvSpPr>
            <p:nvPr/>
          </p:nvSpPr>
          <p:spPr bwMode="auto">
            <a:xfrm>
              <a:off x="2339752" y="1844824"/>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sp>
          <p:nvSpPr>
            <p:cNvPr id="30" name="Rectangle 12"/>
            <p:cNvSpPr>
              <a:spLocks noChangeArrowheads="1"/>
            </p:cNvSpPr>
            <p:nvPr/>
          </p:nvSpPr>
          <p:spPr bwMode="auto">
            <a:xfrm>
              <a:off x="2324100" y="227643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sp>
          <p:nvSpPr>
            <p:cNvPr id="31" name="Rectangle 12"/>
            <p:cNvSpPr>
              <a:spLocks noChangeArrowheads="1"/>
            </p:cNvSpPr>
            <p:nvPr/>
          </p:nvSpPr>
          <p:spPr bwMode="auto">
            <a:xfrm>
              <a:off x="1331640" y="225172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grpSp>
      <p:grpSp>
        <p:nvGrpSpPr>
          <p:cNvPr id="35" name="组合 34"/>
          <p:cNvGrpSpPr/>
          <p:nvPr/>
        </p:nvGrpSpPr>
        <p:grpSpPr>
          <a:xfrm>
            <a:off x="3176518" y="1690515"/>
            <a:ext cx="2895600" cy="1536878"/>
            <a:chOff x="611560" y="1196752"/>
            <a:chExt cx="2895600" cy="1536878"/>
          </a:xfrm>
        </p:grpSpPr>
        <p:grpSp>
          <p:nvGrpSpPr>
            <p:cNvPr id="36" name="Group 8"/>
            <p:cNvGrpSpPr/>
            <p:nvPr/>
          </p:nvGrpSpPr>
          <p:grpSpPr bwMode="auto">
            <a:xfrm>
              <a:off x="611560" y="1196752"/>
              <a:ext cx="2895600" cy="1524000"/>
              <a:chOff x="144" y="2304"/>
              <a:chExt cx="1824" cy="960"/>
            </a:xfrm>
          </p:grpSpPr>
          <p:sp>
            <p:nvSpPr>
              <p:cNvPr id="40" name="Rectangle 9"/>
              <p:cNvSpPr>
                <a:spLocks noChangeArrowheads="1"/>
              </p:cNvSpPr>
              <p:nvPr/>
            </p:nvSpPr>
            <p:spPr bwMode="auto">
              <a:xfrm>
                <a:off x="1536" y="2976"/>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41" name="Rectangle 10"/>
              <p:cNvSpPr>
                <a:spLocks noChangeArrowheads="1"/>
              </p:cNvSpPr>
              <p:nvPr/>
            </p:nvSpPr>
            <p:spPr bwMode="auto">
              <a:xfrm>
                <a:off x="1536" y="268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42" name="Rectangle 11"/>
              <p:cNvSpPr>
                <a:spLocks noChangeArrowheads="1"/>
              </p:cNvSpPr>
              <p:nvPr/>
            </p:nvSpPr>
            <p:spPr bwMode="auto">
              <a:xfrm>
                <a:off x="864" y="2976"/>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1</a:t>
                </a:r>
                <a:endParaRPr lang="en-US" altLang="zh-CN" sz="2000"/>
              </a:p>
            </p:txBody>
          </p:sp>
          <p:sp>
            <p:nvSpPr>
              <p:cNvPr id="43" name="Rectangle 12"/>
              <p:cNvSpPr>
                <a:spLocks noChangeArrowheads="1"/>
              </p:cNvSpPr>
              <p:nvPr/>
            </p:nvSpPr>
            <p:spPr bwMode="auto">
              <a:xfrm>
                <a:off x="864" y="268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sp>
            <p:nvSpPr>
              <p:cNvPr id="44" name="Rectangle 13"/>
              <p:cNvSpPr>
                <a:spLocks noChangeArrowheads="1"/>
              </p:cNvSpPr>
              <p:nvPr/>
            </p:nvSpPr>
            <p:spPr bwMode="auto">
              <a:xfrm>
                <a:off x="1200" y="2976"/>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45" name="Rectangle 14"/>
              <p:cNvSpPr>
                <a:spLocks noChangeArrowheads="1"/>
              </p:cNvSpPr>
              <p:nvPr/>
            </p:nvSpPr>
            <p:spPr bwMode="auto">
              <a:xfrm>
                <a:off x="1200" y="268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46" name="Rectangle 15"/>
              <p:cNvSpPr>
                <a:spLocks noChangeArrowheads="1"/>
              </p:cNvSpPr>
              <p:nvPr/>
            </p:nvSpPr>
            <p:spPr bwMode="auto">
              <a:xfrm>
                <a:off x="528" y="2976"/>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47" name="Rectangle 16"/>
              <p:cNvSpPr>
                <a:spLocks noChangeArrowheads="1"/>
              </p:cNvSpPr>
              <p:nvPr/>
            </p:nvSpPr>
            <p:spPr bwMode="auto">
              <a:xfrm>
                <a:off x="528" y="268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48" name="Line 17"/>
              <p:cNvSpPr>
                <a:spLocks noChangeShapeType="1"/>
              </p:cNvSpPr>
              <p:nvPr/>
            </p:nvSpPr>
            <p:spPr bwMode="auto">
              <a:xfrm>
                <a:off x="528" y="2688"/>
                <a:ext cx="1344"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 name="Line 18"/>
              <p:cNvSpPr>
                <a:spLocks noChangeShapeType="1"/>
              </p:cNvSpPr>
              <p:nvPr/>
            </p:nvSpPr>
            <p:spPr bwMode="auto">
              <a:xfrm>
                <a:off x="528" y="3264"/>
                <a:ext cx="1344"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Line 19"/>
              <p:cNvSpPr>
                <a:spLocks noChangeShapeType="1"/>
              </p:cNvSpPr>
              <p:nvPr/>
            </p:nvSpPr>
            <p:spPr bwMode="auto">
              <a:xfrm>
                <a:off x="528" y="2688"/>
                <a:ext cx="0" cy="576"/>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 name="Line 20"/>
              <p:cNvSpPr>
                <a:spLocks noChangeShapeType="1"/>
              </p:cNvSpPr>
              <p:nvPr/>
            </p:nvSpPr>
            <p:spPr bwMode="auto">
              <a:xfrm>
                <a:off x="1872" y="2688"/>
                <a:ext cx="0" cy="576"/>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 name="Line 21"/>
              <p:cNvSpPr>
                <a:spLocks noChangeShapeType="1"/>
              </p:cNvSpPr>
              <p:nvPr/>
            </p:nvSpPr>
            <p:spPr bwMode="auto">
              <a:xfrm>
                <a:off x="528" y="2976"/>
                <a:ext cx="134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 name="Line 22"/>
              <p:cNvSpPr>
                <a:spLocks noChangeShapeType="1"/>
              </p:cNvSpPr>
              <p:nvPr/>
            </p:nvSpPr>
            <p:spPr bwMode="auto">
              <a:xfrm>
                <a:off x="1200" y="2688"/>
                <a:ext cx="0" cy="57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Line 23"/>
              <p:cNvSpPr>
                <a:spLocks noChangeShapeType="1"/>
              </p:cNvSpPr>
              <p:nvPr/>
            </p:nvSpPr>
            <p:spPr bwMode="auto">
              <a:xfrm>
                <a:off x="864" y="2688"/>
                <a:ext cx="0" cy="57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Line 24"/>
              <p:cNvSpPr>
                <a:spLocks noChangeShapeType="1"/>
              </p:cNvSpPr>
              <p:nvPr/>
            </p:nvSpPr>
            <p:spPr bwMode="auto">
              <a:xfrm>
                <a:off x="1536" y="2688"/>
                <a:ext cx="0" cy="57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 name="Line 25"/>
              <p:cNvSpPr>
                <a:spLocks noChangeShapeType="1"/>
              </p:cNvSpPr>
              <p:nvPr/>
            </p:nvSpPr>
            <p:spPr bwMode="auto">
              <a:xfrm>
                <a:off x="288" y="2448"/>
                <a:ext cx="240" cy="24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 name="Text Box 26"/>
              <p:cNvSpPr txBox="1">
                <a:spLocks noChangeArrowheads="1"/>
              </p:cNvSpPr>
              <p:nvPr/>
            </p:nvSpPr>
            <p:spPr bwMode="auto">
              <a:xfrm>
                <a:off x="144" y="240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i="1"/>
                  <a:t>A</a:t>
                </a:r>
                <a:endParaRPr lang="en-US" altLang="zh-CN" sz="1800" i="1"/>
              </a:p>
            </p:txBody>
          </p:sp>
          <p:sp>
            <p:nvSpPr>
              <p:cNvPr id="58" name="Text Box 27"/>
              <p:cNvSpPr txBox="1">
                <a:spLocks noChangeArrowheads="1"/>
              </p:cNvSpPr>
              <p:nvPr/>
            </p:nvSpPr>
            <p:spPr bwMode="auto">
              <a:xfrm>
                <a:off x="288" y="2304"/>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i="1"/>
                  <a:t>BC</a:t>
                </a:r>
                <a:endParaRPr lang="en-US" altLang="zh-CN" sz="1800" i="1"/>
              </a:p>
            </p:txBody>
          </p:sp>
          <p:sp>
            <p:nvSpPr>
              <p:cNvPr id="59" name="Text Box 28"/>
              <p:cNvSpPr txBox="1">
                <a:spLocks noChangeArrowheads="1"/>
              </p:cNvSpPr>
              <p:nvPr/>
            </p:nvSpPr>
            <p:spPr bwMode="auto">
              <a:xfrm>
                <a:off x="576" y="2448"/>
                <a:ext cx="139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dirty="0"/>
                  <a:t>00      01       11      10</a:t>
                </a:r>
                <a:endParaRPr lang="en-US" altLang="zh-CN" sz="1600" dirty="0"/>
              </a:p>
            </p:txBody>
          </p:sp>
          <p:sp>
            <p:nvSpPr>
              <p:cNvPr id="60" name="Text Box 29"/>
              <p:cNvSpPr txBox="1">
                <a:spLocks noChangeArrowheads="1"/>
              </p:cNvSpPr>
              <p:nvPr/>
            </p:nvSpPr>
            <p:spPr bwMode="auto">
              <a:xfrm>
                <a:off x="336" y="2736"/>
                <a:ext cx="192" cy="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0</a:t>
                </a:r>
                <a:endParaRPr lang="en-US" altLang="zh-CN" sz="1600"/>
              </a:p>
              <a:p>
                <a:pPr>
                  <a:spcBef>
                    <a:spcPct val="50000"/>
                  </a:spcBef>
                </a:pPr>
                <a:r>
                  <a:rPr lang="en-US" altLang="zh-CN" sz="1600"/>
                  <a:t>1</a:t>
                </a:r>
                <a:endParaRPr lang="en-US" altLang="zh-CN" sz="1600"/>
              </a:p>
            </p:txBody>
          </p:sp>
        </p:grpSp>
        <p:sp>
          <p:nvSpPr>
            <p:cNvPr id="37" name="Rectangle 12"/>
            <p:cNvSpPr>
              <a:spLocks noChangeArrowheads="1"/>
            </p:cNvSpPr>
            <p:nvPr/>
          </p:nvSpPr>
          <p:spPr bwMode="auto">
            <a:xfrm>
              <a:off x="2339752" y="1844824"/>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sp>
          <p:nvSpPr>
            <p:cNvPr id="38" name="Rectangle 12"/>
            <p:cNvSpPr>
              <a:spLocks noChangeArrowheads="1"/>
            </p:cNvSpPr>
            <p:nvPr/>
          </p:nvSpPr>
          <p:spPr bwMode="auto">
            <a:xfrm>
              <a:off x="2324100" y="227643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sp>
          <p:nvSpPr>
            <p:cNvPr id="39" name="Rectangle 12"/>
            <p:cNvSpPr>
              <a:spLocks noChangeArrowheads="1"/>
            </p:cNvSpPr>
            <p:nvPr/>
          </p:nvSpPr>
          <p:spPr bwMode="auto">
            <a:xfrm>
              <a:off x="1331640" y="225172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grpSp>
      <p:grpSp>
        <p:nvGrpSpPr>
          <p:cNvPr id="61" name="组合 60"/>
          <p:cNvGrpSpPr/>
          <p:nvPr/>
        </p:nvGrpSpPr>
        <p:grpSpPr>
          <a:xfrm>
            <a:off x="6104433" y="1671407"/>
            <a:ext cx="2895600" cy="1536878"/>
            <a:chOff x="611560" y="1196752"/>
            <a:chExt cx="2895600" cy="1536878"/>
          </a:xfrm>
        </p:grpSpPr>
        <p:grpSp>
          <p:nvGrpSpPr>
            <p:cNvPr id="62" name="Group 8"/>
            <p:cNvGrpSpPr/>
            <p:nvPr/>
          </p:nvGrpSpPr>
          <p:grpSpPr bwMode="auto">
            <a:xfrm>
              <a:off x="611560" y="1196752"/>
              <a:ext cx="2895600" cy="1524000"/>
              <a:chOff x="144" y="2304"/>
              <a:chExt cx="1824" cy="960"/>
            </a:xfrm>
          </p:grpSpPr>
          <p:sp>
            <p:nvSpPr>
              <p:cNvPr id="66" name="Rectangle 9"/>
              <p:cNvSpPr>
                <a:spLocks noChangeArrowheads="1"/>
              </p:cNvSpPr>
              <p:nvPr/>
            </p:nvSpPr>
            <p:spPr bwMode="auto">
              <a:xfrm>
                <a:off x="1536" y="2976"/>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67" name="Rectangle 10"/>
              <p:cNvSpPr>
                <a:spLocks noChangeArrowheads="1"/>
              </p:cNvSpPr>
              <p:nvPr/>
            </p:nvSpPr>
            <p:spPr bwMode="auto">
              <a:xfrm>
                <a:off x="1536" y="268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68" name="Rectangle 11"/>
              <p:cNvSpPr>
                <a:spLocks noChangeArrowheads="1"/>
              </p:cNvSpPr>
              <p:nvPr/>
            </p:nvSpPr>
            <p:spPr bwMode="auto">
              <a:xfrm>
                <a:off x="864" y="2976"/>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1</a:t>
                </a:r>
                <a:endParaRPr lang="en-US" altLang="zh-CN" sz="2000"/>
              </a:p>
            </p:txBody>
          </p:sp>
          <p:sp>
            <p:nvSpPr>
              <p:cNvPr id="69" name="Rectangle 12"/>
              <p:cNvSpPr>
                <a:spLocks noChangeArrowheads="1"/>
              </p:cNvSpPr>
              <p:nvPr/>
            </p:nvSpPr>
            <p:spPr bwMode="auto">
              <a:xfrm>
                <a:off x="864" y="268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sp>
            <p:nvSpPr>
              <p:cNvPr id="70" name="Rectangle 13"/>
              <p:cNvSpPr>
                <a:spLocks noChangeArrowheads="1"/>
              </p:cNvSpPr>
              <p:nvPr/>
            </p:nvSpPr>
            <p:spPr bwMode="auto">
              <a:xfrm>
                <a:off x="1200" y="2976"/>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71" name="Rectangle 14"/>
              <p:cNvSpPr>
                <a:spLocks noChangeArrowheads="1"/>
              </p:cNvSpPr>
              <p:nvPr/>
            </p:nvSpPr>
            <p:spPr bwMode="auto">
              <a:xfrm>
                <a:off x="1200" y="268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72" name="Rectangle 15"/>
              <p:cNvSpPr>
                <a:spLocks noChangeArrowheads="1"/>
              </p:cNvSpPr>
              <p:nvPr/>
            </p:nvSpPr>
            <p:spPr bwMode="auto">
              <a:xfrm>
                <a:off x="528" y="2976"/>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73" name="Rectangle 16"/>
              <p:cNvSpPr>
                <a:spLocks noChangeArrowheads="1"/>
              </p:cNvSpPr>
              <p:nvPr/>
            </p:nvSpPr>
            <p:spPr bwMode="auto">
              <a:xfrm>
                <a:off x="528" y="268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74" name="Line 17"/>
              <p:cNvSpPr>
                <a:spLocks noChangeShapeType="1"/>
              </p:cNvSpPr>
              <p:nvPr/>
            </p:nvSpPr>
            <p:spPr bwMode="auto">
              <a:xfrm>
                <a:off x="528" y="2688"/>
                <a:ext cx="1344"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 name="Line 18"/>
              <p:cNvSpPr>
                <a:spLocks noChangeShapeType="1"/>
              </p:cNvSpPr>
              <p:nvPr/>
            </p:nvSpPr>
            <p:spPr bwMode="auto">
              <a:xfrm>
                <a:off x="528" y="3264"/>
                <a:ext cx="1344"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 name="Line 19"/>
              <p:cNvSpPr>
                <a:spLocks noChangeShapeType="1"/>
              </p:cNvSpPr>
              <p:nvPr/>
            </p:nvSpPr>
            <p:spPr bwMode="auto">
              <a:xfrm>
                <a:off x="528" y="2688"/>
                <a:ext cx="0" cy="576"/>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 name="Line 20"/>
              <p:cNvSpPr>
                <a:spLocks noChangeShapeType="1"/>
              </p:cNvSpPr>
              <p:nvPr/>
            </p:nvSpPr>
            <p:spPr bwMode="auto">
              <a:xfrm>
                <a:off x="1872" y="2688"/>
                <a:ext cx="0" cy="576"/>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 name="Line 21"/>
              <p:cNvSpPr>
                <a:spLocks noChangeShapeType="1"/>
              </p:cNvSpPr>
              <p:nvPr/>
            </p:nvSpPr>
            <p:spPr bwMode="auto">
              <a:xfrm>
                <a:off x="528" y="2976"/>
                <a:ext cx="134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 name="Line 22"/>
              <p:cNvSpPr>
                <a:spLocks noChangeShapeType="1"/>
              </p:cNvSpPr>
              <p:nvPr/>
            </p:nvSpPr>
            <p:spPr bwMode="auto">
              <a:xfrm>
                <a:off x="1200" y="2688"/>
                <a:ext cx="0" cy="57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 name="Line 23"/>
              <p:cNvSpPr>
                <a:spLocks noChangeShapeType="1"/>
              </p:cNvSpPr>
              <p:nvPr/>
            </p:nvSpPr>
            <p:spPr bwMode="auto">
              <a:xfrm>
                <a:off x="864" y="2688"/>
                <a:ext cx="0" cy="57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 name="Line 24"/>
              <p:cNvSpPr>
                <a:spLocks noChangeShapeType="1"/>
              </p:cNvSpPr>
              <p:nvPr/>
            </p:nvSpPr>
            <p:spPr bwMode="auto">
              <a:xfrm>
                <a:off x="1536" y="2688"/>
                <a:ext cx="0" cy="57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 name="Line 25"/>
              <p:cNvSpPr>
                <a:spLocks noChangeShapeType="1"/>
              </p:cNvSpPr>
              <p:nvPr/>
            </p:nvSpPr>
            <p:spPr bwMode="auto">
              <a:xfrm>
                <a:off x="288" y="2448"/>
                <a:ext cx="240" cy="24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 name="Text Box 26"/>
              <p:cNvSpPr txBox="1">
                <a:spLocks noChangeArrowheads="1"/>
              </p:cNvSpPr>
              <p:nvPr/>
            </p:nvSpPr>
            <p:spPr bwMode="auto">
              <a:xfrm>
                <a:off x="144" y="240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i="1"/>
                  <a:t>A</a:t>
                </a:r>
                <a:endParaRPr lang="en-US" altLang="zh-CN" sz="1800" i="1"/>
              </a:p>
            </p:txBody>
          </p:sp>
          <p:sp>
            <p:nvSpPr>
              <p:cNvPr id="84" name="Text Box 27"/>
              <p:cNvSpPr txBox="1">
                <a:spLocks noChangeArrowheads="1"/>
              </p:cNvSpPr>
              <p:nvPr/>
            </p:nvSpPr>
            <p:spPr bwMode="auto">
              <a:xfrm>
                <a:off x="288" y="2304"/>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i="1"/>
                  <a:t>BC</a:t>
                </a:r>
                <a:endParaRPr lang="en-US" altLang="zh-CN" sz="1800" i="1"/>
              </a:p>
            </p:txBody>
          </p:sp>
          <p:sp>
            <p:nvSpPr>
              <p:cNvPr id="85" name="Text Box 28"/>
              <p:cNvSpPr txBox="1">
                <a:spLocks noChangeArrowheads="1"/>
              </p:cNvSpPr>
              <p:nvPr/>
            </p:nvSpPr>
            <p:spPr bwMode="auto">
              <a:xfrm>
                <a:off x="576" y="2448"/>
                <a:ext cx="139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dirty="0"/>
                  <a:t>00      01       11      10</a:t>
                </a:r>
                <a:endParaRPr lang="en-US" altLang="zh-CN" sz="1600" dirty="0"/>
              </a:p>
            </p:txBody>
          </p:sp>
          <p:sp>
            <p:nvSpPr>
              <p:cNvPr id="86" name="Text Box 29"/>
              <p:cNvSpPr txBox="1">
                <a:spLocks noChangeArrowheads="1"/>
              </p:cNvSpPr>
              <p:nvPr/>
            </p:nvSpPr>
            <p:spPr bwMode="auto">
              <a:xfrm>
                <a:off x="336" y="2736"/>
                <a:ext cx="192" cy="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0</a:t>
                </a:r>
                <a:endParaRPr lang="en-US" altLang="zh-CN" sz="1600"/>
              </a:p>
              <a:p>
                <a:pPr>
                  <a:spcBef>
                    <a:spcPct val="50000"/>
                  </a:spcBef>
                </a:pPr>
                <a:r>
                  <a:rPr lang="en-US" altLang="zh-CN" sz="1600"/>
                  <a:t>1</a:t>
                </a:r>
                <a:endParaRPr lang="en-US" altLang="zh-CN" sz="1600"/>
              </a:p>
            </p:txBody>
          </p:sp>
        </p:grpSp>
        <p:sp>
          <p:nvSpPr>
            <p:cNvPr id="63" name="Rectangle 12"/>
            <p:cNvSpPr>
              <a:spLocks noChangeArrowheads="1"/>
            </p:cNvSpPr>
            <p:nvPr/>
          </p:nvSpPr>
          <p:spPr bwMode="auto">
            <a:xfrm>
              <a:off x="2339752" y="1844824"/>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sp>
          <p:nvSpPr>
            <p:cNvPr id="64" name="Rectangle 12"/>
            <p:cNvSpPr>
              <a:spLocks noChangeArrowheads="1"/>
            </p:cNvSpPr>
            <p:nvPr/>
          </p:nvSpPr>
          <p:spPr bwMode="auto">
            <a:xfrm>
              <a:off x="2324100" y="227643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sp>
          <p:nvSpPr>
            <p:cNvPr id="65" name="Rectangle 12"/>
            <p:cNvSpPr>
              <a:spLocks noChangeArrowheads="1"/>
            </p:cNvSpPr>
            <p:nvPr/>
          </p:nvSpPr>
          <p:spPr bwMode="auto">
            <a:xfrm>
              <a:off x="1331640" y="225172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grpSp>
      <p:sp>
        <p:nvSpPr>
          <p:cNvPr id="87" name="AutoShape 7"/>
          <p:cNvSpPr>
            <a:spLocks noChangeArrowheads="1"/>
          </p:cNvSpPr>
          <p:nvPr/>
        </p:nvSpPr>
        <p:spPr bwMode="auto">
          <a:xfrm>
            <a:off x="4407024" y="2365989"/>
            <a:ext cx="927502" cy="370226"/>
          </a:xfrm>
          <a:prstGeom prst="flowChartAlternateProcess">
            <a:avLst/>
          </a:prstGeom>
          <a:noFill/>
          <a:ln w="28575">
            <a:solidFill>
              <a:srgbClr val="CC3300"/>
            </a:solidFill>
            <a:miter lim="800000"/>
          </a:ln>
          <a:effectLst/>
        </p:spPr>
        <p:txBody>
          <a:bodyPr wrap="none" anchor="ctr"/>
          <a:lstStyle/>
          <a:p>
            <a:endParaRPr lang="zh-CN" altLang="en-US"/>
          </a:p>
        </p:txBody>
      </p:sp>
      <p:sp>
        <p:nvSpPr>
          <p:cNvPr id="88" name="AutoShape 7"/>
          <p:cNvSpPr>
            <a:spLocks noChangeArrowheads="1"/>
          </p:cNvSpPr>
          <p:nvPr/>
        </p:nvSpPr>
        <p:spPr bwMode="auto">
          <a:xfrm>
            <a:off x="3851920" y="2798037"/>
            <a:ext cx="927502" cy="370226"/>
          </a:xfrm>
          <a:prstGeom prst="flowChartAlternateProcess">
            <a:avLst/>
          </a:prstGeom>
          <a:noFill/>
          <a:ln w="28575">
            <a:solidFill>
              <a:srgbClr val="CC3300"/>
            </a:solidFill>
            <a:miter lim="800000"/>
          </a:ln>
          <a:effectLst/>
        </p:spPr>
        <p:txBody>
          <a:bodyPr wrap="none" anchor="ctr"/>
          <a:lstStyle/>
          <a:p>
            <a:endParaRPr lang="zh-CN" altLang="en-US"/>
          </a:p>
        </p:txBody>
      </p:sp>
      <p:sp>
        <p:nvSpPr>
          <p:cNvPr id="89" name="AutoShape 7"/>
          <p:cNvSpPr>
            <a:spLocks noChangeArrowheads="1"/>
          </p:cNvSpPr>
          <p:nvPr/>
        </p:nvSpPr>
        <p:spPr bwMode="auto">
          <a:xfrm>
            <a:off x="4427984" y="2808223"/>
            <a:ext cx="927502" cy="370226"/>
          </a:xfrm>
          <a:prstGeom prst="flowChartAlternateProcess">
            <a:avLst/>
          </a:prstGeom>
          <a:noFill/>
          <a:ln w="28575">
            <a:solidFill>
              <a:srgbClr val="CC3300"/>
            </a:solidFill>
            <a:miter lim="800000"/>
          </a:ln>
          <a:effectLst/>
        </p:spPr>
        <p:txBody>
          <a:bodyPr wrap="none" anchor="ctr"/>
          <a:lstStyle/>
          <a:p>
            <a:endParaRPr lang="zh-CN" altLang="en-US"/>
          </a:p>
        </p:txBody>
      </p:sp>
      <p:sp>
        <p:nvSpPr>
          <p:cNvPr id="90" name="AutoShape 7"/>
          <p:cNvSpPr>
            <a:spLocks noChangeArrowheads="1"/>
          </p:cNvSpPr>
          <p:nvPr/>
        </p:nvSpPr>
        <p:spPr bwMode="auto">
          <a:xfrm>
            <a:off x="4355976" y="2304167"/>
            <a:ext cx="440113" cy="924661"/>
          </a:xfrm>
          <a:prstGeom prst="flowChartAlternateProcess">
            <a:avLst/>
          </a:prstGeom>
          <a:noFill/>
          <a:ln w="28575">
            <a:solidFill>
              <a:srgbClr val="00B050"/>
            </a:solidFill>
            <a:miter lim="800000"/>
          </a:ln>
          <a:effectLst/>
        </p:spPr>
        <p:txBody>
          <a:bodyPr wrap="none" anchor="ctr"/>
          <a:lstStyle/>
          <a:p>
            <a:endParaRPr lang="zh-CN" altLang="en-US"/>
          </a:p>
        </p:txBody>
      </p:sp>
      <p:sp>
        <p:nvSpPr>
          <p:cNvPr id="91" name="AutoShape 7"/>
          <p:cNvSpPr>
            <a:spLocks noChangeArrowheads="1"/>
          </p:cNvSpPr>
          <p:nvPr/>
        </p:nvSpPr>
        <p:spPr bwMode="auto">
          <a:xfrm>
            <a:off x="4923975" y="2304167"/>
            <a:ext cx="440113" cy="924661"/>
          </a:xfrm>
          <a:prstGeom prst="flowChartAlternateProcess">
            <a:avLst/>
          </a:prstGeom>
          <a:noFill/>
          <a:ln w="28575">
            <a:solidFill>
              <a:srgbClr val="00B050"/>
            </a:solidFill>
            <a:miter lim="800000"/>
          </a:ln>
          <a:effectLst/>
        </p:spPr>
        <p:txBody>
          <a:bodyPr wrap="none" anchor="ctr"/>
          <a:lstStyle/>
          <a:p>
            <a:endParaRPr lang="zh-CN" altLang="en-US"/>
          </a:p>
        </p:txBody>
      </p:sp>
      <p:sp>
        <p:nvSpPr>
          <p:cNvPr id="92" name="AutoShape 7"/>
          <p:cNvSpPr>
            <a:spLocks noChangeArrowheads="1"/>
          </p:cNvSpPr>
          <p:nvPr/>
        </p:nvSpPr>
        <p:spPr bwMode="auto">
          <a:xfrm>
            <a:off x="4478742" y="2342805"/>
            <a:ext cx="818185" cy="805355"/>
          </a:xfrm>
          <a:prstGeom prst="flowChartAlternateProcess">
            <a:avLst/>
          </a:prstGeom>
          <a:noFill/>
          <a:ln w="28575">
            <a:solidFill>
              <a:srgbClr val="00B0F0"/>
            </a:solidFill>
            <a:miter lim="800000"/>
          </a:ln>
          <a:effectLst/>
        </p:spPr>
        <p:txBody>
          <a:bodyPr wrap="none" anchor="ctr"/>
          <a:lstStyle/>
          <a:p>
            <a:endParaRPr lang="zh-CN" altLang="en-US"/>
          </a:p>
        </p:txBody>
      </p:sp>
      <p:sp>
        <p:nvSpPr>
          <p:cNvPr id="93" name="AutoShape 7"/>
          <p:cNvSpPr>
            <a:spLocks noChangeArrowheads="1"/>
          </p:cNvSpPr>
          <p:nvPr/>
        </p:nvSpPr>
        <p:spPr bwMode="auto">
          <a:xfrm>
            <a:off x="7426223" y="2304167"/>
            <a:ext cx="818185" cy="805355"/>
          </a:xfrm>
          <a:prstGeom prst="flowChartAlternateProcess">
            <a:avLst/>
          </a:prstGeom>
          <a:noFill/>
          <a:ln w="28575">
            <a:solidFill>
              <a:srgbClr val="00B0F0"/>
            </a:solidFill>
            <a:miter lim="800000"/>
          </a:ln>
          <a:effectLst/>
        </p:spPr>
        <p:txBody>
          <a:bodyPr wrap="none" anchor="ctr"/>
          <a:lstStyle/>
          <a:p>
            <a:endParaRPr lang="zh-CN" altLang="en-US"/>
          </a:p>
        </p:txBody>
      </p:sp>
      <p:sp>
        <p:nvSpPr>
          <p:cNvPr id="94" name="AutoShape 7"/>
          <p:cNvSpPr>
            <a:spLocks noChangeArrowheads="1"/>
          </p:cNvSpPr>
          <p:nvPr/>
        </p:nvSpPr>
        <p:spPr bwMode="auto">
          <a:xfrm>
            <a:off x="6812850" y="2798037"/>
            <a:ext cx="927502" cy="370226"/>
          </a:xfrm>
          <a:prstGeom prst="flowChartAlternateProcess">
            <a:avLst/>
          </a:prstGeom>
          <a:noFill/>
          <a:ln w="28575">
            <a:solidFill>
              <a:srgbClr val="CC3300"/>
            </a:solidFill>
            <a:miter lim="800000"/>
          </a:ln>
          <a:effectLst/>
        </p:spPr>
        <p:txBody>
          <a:bodyPr wrap="none" anchor="ctr"/>
          <a:lstStyle/>
          <a:p>
            <a:endParaRPr lang="zh-CN" altLang="en-US"/>
          </a:p>
        </p:txBody>
      </p:sp>
      <p:cxnSp>
        <p:nvCxnSpPr>
          <p:cNvPr id="95" name="直接箭头连接符 94"/>
          <p:cNvCxnSpPr/>
          <p:nvPr/>
        </p:nvCxnSpPr>
        <p:spPr>
          <a:xfrm flipV="1">
            <a:off x="3557518" y="3113740"/>
            <a:ext cx="4421561" cy="266075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接箭头连接符 96"/>
          <p:cNvCxnSpPr/>
          <p:nvPr/>
        </p:nvCxnSpPr>
        <p:spPr>
          <a:xfrm flipV="1">
            <a:off x="2949879" y="3154944"/>
            <a:ext cx="3894219" cy="261955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 name="矩形 2"/>
              <p:cNvSpPr/>
              <p:nvPr/>
            </p:nvSpPr>
            <p:spPr>
              <a:xfrm>
                <a:off x="4279348" y="4418597"/>
                <a:ext cx="3699731" cy="400815"/>
              </a:xfrm>
              <a:prstGeom prst="rect">
                <a:avLst/>
              </a:prstGeom>
            </p:spPr>
            <p:txBody>
              <a:bodyPr wrap="none">
                <a:spAutoFit/>
              </a:bodyPr>
              <a:lstStyle/>
              <a:p>
                <a:r>
                  <a:rPr lang="en-US" altLang="zh-CN" sz="2000" dirty="0">
                    <a:latin typeface="微软雅黑" panose="020B0503020204020204" pitchFamily="34" charset="-122"/>
                    <a:ea typeface="微软雅黑" panose="020B0503020204020204" pitchFamily="34" charset="-122"/>
                  </a:rPr>
                  <a:t>{</a:t>
                </a:r>
                <a14:m>
                  <m:oMath xmlns:m="http://schemas.openxmlformats.org/officeDocument/2006/math">
                    <m:acc>
                      <m:accPr>
                        <m:chr m:val="̅"/>
                        <m:ctrlPr>
                          <a:rPr lang="en-US" altLang="zh-CN" sz="2000" i="1">
                            <a:latin typeface="Cambria Math" panose="02040503050406030204" pitchFamily="18" charset="0"/>
                          </a:rPr>
                        </m:ctrlPr>
                      </m:accPr>
                      <m:e>
                        <m:r>
                          <m:rPr>
                            <m:sty m:val="p"/>
                          </m:rPr>
                          <a:rPr lang="en-US" altLang="zh-CN" sz="2000" i="0">
                            <a:latin typeface="Cambria Math" panose="02040503050406030204" pitchFamily="18" charset="0"/>
                          </a:rPr>
                          <m:t>A</m:t>
                        </m:r>
                      </m:e>
                    </m:acc>
                    <m:r>
                      <a:rPr lang="en-US" altLang="zh-CN" sz="2000" i="0">
                        <a:latin typeface="Cambria Math" panose="02040503050406030204" pitchFamily="18" charset="0"/>
                        <a:ea typeface="Cambria Math" panose="02040503050406030204" pitchFamily="18" charset="0"/>
                      </a:rPr>
                      <m:t>∙</m:t>
                    </m:r>
                    <m:r>
                      <m:rPr>
                        <m:sty m:val="p"/>
                      </m:rPr>
                      <a:rPr lang="en-US" altLang="zh-CN" sz="2000" i="0">
                        <a:latin typeface="Cambria Math" panose="02040503050406030204" pitchFamily="18" charset="0"/>
                      </a:rPr>
                      <m:t>C</m:t>
                    </m:r>
                  </m:oMath>
                </a14:m>
                <a:r>
                  <a:rPr lang="en-US" altLang="zh-CN" sz="2000" dirty="0">
                    <a:latin typeface="微软雅黑" panose="020B0503020204020204" pitchFamily="34" charset="-122"/>
                    <a:ea typeface="微软雅黑" panose="020B0503020204020204" pitchFamily="34" charset="-122"/>
                  </a:rPr>
                  <a:t>, A </a:t>
                </a:r>
                <a14:m>
                  <m:oMath xmlns:m="http://schemas.openxmlformats.org/officeDocument/2006/math">
                    <m:r>
                      <a:rPr lang="en-US" altLang="zh-CN" sz="2000" i="0">
                        <a:latin typeface="Cambria Math" panose="02040503050406030204" pitchFamily="18" charset="0"/>
                        <a:ea typeface="Cambria Math" panose="02040503050406030204" pitchFamily="18" charset="0"/>
                      </a:rPr>
                      <m:t>∙ </m:t>
                    </m:r>
                    <m:acc>
                      <m:accPr>
                        <m:chr m:val="̅"/>
                        <m:ctrlPr>
                          <a:rPr lang="en-US" altLang="zh-CN" sz="2000" i="1">
                            <a:latin typeface="Cambria Math" panose="02040503050406030204" pitchFamily="18" charset="0"/>
                          </a:rPr>
                        </m:ctrlPr>
                      </m:accPr>
                      <m:e>
                        <m:r>
                          <m:rPr>
                            <m:sty m:val="p"/>
                          </m:rPr>
                          <a:rPr lang="en-US" altLang="zh-CN" sz="2000" i="0">
                            <a:latin typeface="Cambria Math" panose="02040503050406030204" pitchFamily="18" charset="0"/>
                          </a:rPr>
                          <m:t>B</m:t>
                        </m:r>
                      </m:e>
                    </m:acc>
                  </m:oMath>
                </a14:m>
                <a:r>
                  <a:rPr lang="en-US" altLang="zh-CN" sz="2000" dirty="0">
                    <a:latin typeface="微软雅黑" panose="020B0503020204020204" pitchFamily="34" charset="-122"/>
                    <a:ea typeface="微软雅黑" panose="020B0503020204020204" pitchFamily="34" charset="-122"/>
                  </a:rPr>
                  <a:t>, A </a:t>
                </a:r>
                <a14:m>
                  <m:oMath xmlns:m="http://schemas.openxmlformats.org/officeDocument/2006/math">
                    <m:r>
                      <a:rPr lang="en-US" altLang="zh-CN" sz="2000" i="0">
                        <a:latin typeface="Cambria Math" panose="02040503050406030204" pitchFamily="18" charset="0"/>
                        <a:ea typeface="Cambria Math" panose="02040503050406030204" pitchFamily="18" charset="0"/>
                      </a:rPr>
                      <m:t>∙ </m:t>
                    </m:r>
                  </m:oMath>
                </a14:m>
                <a:r>
                  <a:rPr lang="en-US" altLang="zh-CN" sz="2000" dirty="0">
                    <a:latin typeface="微软雅黑" panose="020B0503020204020204" pitchFamily="34" charset="-122"/>
                    <a:ea typeface="微软雅黑" panose="020B0503020204020204" pitchFamily="34" charset="-122"/>
                  </a:rPr>
                  <a:t>C, </a:t>
                </a:r>
                <a14:m>
                  <m:oMath xmlns:m="http://schemas.openxmlformats.org/officeDocument/2006/math">
                    <m:acc>
                      <m:accPr>
                        <m:chr m:val="̅"/>
                        <m:ctrlPr>
                          <a:rPr lang="en-US" altLang="zh-CN" sz="2000" i="1">
                            <a:latin typeface="Cambria Math" panose="02040503050406030204" pitchFamily="18" charset="0"/>
                          </a:rPr>
                        </m:ctrlPr>
                      </m:accPr>
                      <m:e>
                        <m:r>
                          <m:rPr>
                            <m:sty m:val="p"/>
                          </m:rPr>
                          <a:rPr lang="en-US" altLang="zh-CN" sz="2000" i="0">
                            <a:latin typeface="Cambria Math" panose="02040503050406030204" pitchFamily="18" charset="0"/>
                          </a:rPr>
                          <m:t>B</m:t>
                        </m:r>
                      </m:e>
                    </m:acc>
                    <m:r>
                      <a:rPr lang="en-US" altLang="zh-CN" sz="2000" i="0">
                        <a:latin typeface="Cambria Math" panose="02040503050406030204" pitchFamily="18" charset="0"/>
                        <a:ea typeface="Cambria Math" panose="02040503050406030204" pitchFamily="18" charset="0"/>
                      </a:rPr>
                      <m:t>∙</m:t>
                    </m:r>
                    <m:r>
                      <m:rPr>
                        <m:sty m:val="p"/>
                      </m:rPr>
                      <a:rPr lang="en-US" altLang="zh-CN" sz="2000" i="0">
                        <a:latin typeface="Cambria Math" panose="02040503050406030204" pitchFamily="18" charset="0"/>
                      </a:rPr>
                      <m:t>C</m:t>
                    </m:r>
                  </m:oMath>
                </a14:m>
                <a:r>
                  <a:rPr lang="en-US" altLang="zh-CN" sz="2000" dirty="0">
                    <a:latin typeface="微软雅黑" panose="020B0503020204020204" pitchFamily="34" charset="-122"/>
                    <a:ea typeface="微软雅黑" panose="020B0503020204020204" pitchFamily="34" charset="-122"/>
                  </a:rPr>
                  <a:t>, B </a:t>
                </a:r>
                <a14:m>
                  <m:oMath xmlns:m="http://schemas.openxmlformats.org/officeDocument/2006/math">
                    <m:r>
                      <a:rPr lang="en-US" altLang="zh-CN" sz="2000" i="0">
                        <a:latin typeface="Cambria Math" panose="02040503050406030204" pitchFamily="18" charset="0"/>
                        <a:ea typeface="Cambria Math" panose="02040503050406030204" pitchFamily="18" charset="0"/>
                      </a:rPr>
                      <m:t>∙ </m:t>
                    </m:r>
                  </m:oMath>
                </a14:m>
                <a:r>
                  <a:rPr lang="en-US" altLang="zh-CN" sz="2000" dirty="0">
                    <a:latin typeface="微软雅黑" panose="020B0503020204020204" pitchFamily="34" charset="-122"/>
                    <a:ea typeface="微软雅黑" panose="020B0503020204020204" pitchFamily="34" charset="-122"/>
                  </a:rPr>
                  <a:t>C}</a:t>
                </a:r>
                <a:endParaRPr lang="zh-CN" altLang="en-US" sz="2000" dirty="0">
                  <a:latin typeface="微软雅黑" panose="020B0503020204020204" pitchFamily="34" charset="-122"/>
                  <a:ea typeface="微软雅黑" panose="020B0503020204020204" pitchFamily="34" charset="-122"/>
                </a:endParaRPr>
              </a:p>
            </p:txBody>
          </p:sp>
        </mc:Choice>
        <mc:Fallback>
          <p:sp>
            <p:nvSpPr>
              <p:cNvPr id="3" name="矩形 2"/>
              <p:cNvSpPr>
                <a:spLocks noRot="1" noChangeAspect="1" noMove="1" noResize="1" noEditPoints="1" noAdjustHandles="1" noChangeArrowheads="1" noChangeShapeType="1" noTextEdit="1"/>
              </p:cNvSpPr>
              <p:nvPr/>
            </p:nvSpPr>
            <p:spPr>
              <a:xfrm>
                <a:off x="4279348" y="4418597"/>
                <a:ext cx="3699731" cy="400815"/>
              </a:xfrm>
              <a:prstGeom prst="rect">
                <a:avLst/>
              </a:prstGeom>
              <a:blipFill rotWithShape="1">
                <a:blip r:embed="rId2"/>
                <a:stretch>
                  <a:fillRect l="-2" t="-67" r="-2463" b="99"/>
                </a:stretch>
              </a:blipFill>
            </p:spPr>
            <p:txBody>
              <a:bodyPr/>
              <a:lstStyle/>
              <a:p>
                <a:r>
                  <a:rPr lang="zh-CN" altLang="en-US">
                    <a:noFill/>
                  </a:rPr>
                  <a:t> </a:t>
                </a:r>
              </a:p>
            </p:txBody>
          </p:sp>
        </mc:Fallback>
      </mc:AlternateContent>
      <p:sp>
        <p:nvSpPr>
          <p:cNvPr id="33" name="矩形 32"/>
          <p:cNvSpPr/>
          <p:nvPr/>
        </p:nvSpPr>
        <p:spPr>
          <a:xfrm>
            <a:off x="4218807" y="4823759"/>
            <a:ext cx="611065" cy="400110"/>
          </a:xfrm>
          <a:prstGeom prst="rect">
            <a:avLst/>
          </a:prstGeom>
        </p:spPr>
        <p:txBody>
          <a:bodyPr wrap="none">
            <a:spAutoFit/>
          </a:bodyPr>
          <a:lstStyle/>
          <a:p>
            <a:r>
              <a:rPr lang="en-US" altLang="zh-CN" sz="2000" dirty="0"/>
              <a:t>{</a:t>
            </a:r>
            <a:r>
              <a:rPr lang="en-US" altLang="zh-CN" sz="2000" i="1" dirty="0"/>
              <a:t>C</a:t>
            </a:r>
            <a:r>
              <a:rPr lang="en-US" altLang="zh-CN" sz="2000" dirty="0"/>
              <a:t>} </a:t>
            </a:r>
            <a:endParaRPr lang="zh-CN" altLang="en-US" sz="2000" dirty="0"/>
          </a:p>
        </p:txBody>
      </p:sp>
      <p:sp>
        <p:nvSpPr>
          <p:cNvPr id="98" name="Rectangle 3"/>
          <p:cNvSpPr txBox="1">
            <a:spLocks noChangeArrowheads="1"/>
          </p:cNvSpPr>
          <p:nvPr/>
        </p:nvSpPr>
        <p:spPr bwMode="auto">
          <a:xfrm>
            <a:off x="457200" y="984080"/>
            <a:ext cx="8686800" cy="90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1" fontAlgn="base" hangingPunct="1">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1" fontAlgn="base" hangingPunct="1">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1" fontAlgn="base" hangingPunct="1">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r>
              <a:rPr lang="zh-CN" altLang="en-US" sz="2400" kern="0" dirty="0"/>
              <a:t>确定逻辑函数</a:t>
            </a:r>
            <a:r>
              <a:rPr lang="en-US" altLang="zh-CN" sz="2400" kern="0" dirty="0"/>
              <a:t>F(A,B,C)=</a:t>
            </a:r>
            <a:r>
              <a:rPr lang="en-US" altLang="zh-CN" sz="2400" kern="0" dirty="0" err="1"/>
              <a:t>Σm</a:t>
            </a:r>
            <a:r>
              <a:rPr lang="en-US" altLang="zh-CN" sz="2400" kern="0" dirty="0"/>
              <a:t>(1,3,4,5,7)</a:t>
            </a:r>
            <a:r>
              <a:rPr lang="zh-CN" altLang="en-US" sz="2400" kern="0" dirty="0"/>
              <a:t>的最小覆盖的方法</a:t>
            </a:r>
            <a:endParaRPr lang="zh-CN" altLang="en-US" sz="2400" kern="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87"/>
                                        </p:tgtEl>
                                        <p:attrNameLst>
                                          <p:attrName>style.visibility</p:attrName>
                                        </p:attrNameLst>
                                      </p:cBhvr>
                                      <p:to>
                                        <p:strVal val="visible"/>
                                      </p:to>
                                    </p:set>
                                    <p:anim calcmode="lin" valueType="num">
                                      <p:cBhvr additive="base">
                                        <p:cTn id="15" dur="500" fill="hold"/>
                                        <p:tgtEl>
                                          <p:spTgt spid="87"/>
                                        </p:tgtEl>
                                        <p:attrNameLst>
                                          <p:attrName>ppt_x</p:attrName>
                                        </p:attrNameLst>
                                      </p:cBhvr>
                                      <p:tavLst>
                                        <p:tav tm="0">
                                          <p:val>
                                            <p:strVal val="0-#ppt_w/2"/>
                                          </p:val>
                                        </p:tav>
                                        <p:tav tm="100000">
                                          <p:val>
                                            <p:strVal val="#ppt_x"/>
                                          </p:val>
                                        </p:tav>
                                      </p:tavLst>
                                    </p:anim>
                                    <p:anim calcmode="lin" valueType="num">
                                      <p:cBhvr additive="base">
                                        <p:cTn id="16" dur="500" fill="hold"/>
                                        <p:tgtEl>
                                          <p:spTgt spid="87"/>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88"/>
                                        </p:tgtEl>
                                        <p:attrNameLst>
                                          <p:attrName>style.visibility</p:attrName>
                                        </p:attrNameLst>
                                      </p:cBhvr>
                                      <p:to>
                                        <p:strVal val="visible"/>
                                      </p:to>
                                    </p:set>
                                    <p:anim calcmode="lin" valueType="num">
                                      <p:cBhvr additive="base">
                                        <p:cTn id="21" dur="500" fill="hold"/>
                                        <p:tgtEl>
                                          <p:spTgt spid="88"/>
                                        </p:tgtEl>
                                        <p:attrNameLst>
                                          <p:attrName>ppt_x</p:attrName>
                                        </p:attrNameLst>
                                      </p:cBhvr>
                                      <p:tavLst>
                                        <p:tav tm="0">
                                          <p:val>
                                            <p:strVal val="0-#ppt_w/2"/>
                                          </p:val>
                                        </p:tav>
                                        <p:tav tm="100000">
                                          <p:val>
                                            <p:strVal val="#ppt_x"/>
                                          </p:val>
                                        </p:tav>
                                      </p:tavLst>
                                    </p:anim>
                                    <p:anim calcmode="lin" valueType="num">
                                      <p:cBhvr additive="base">
                                        <p:cTn id="22" dur="500" fill="hold"/>
                                        <p:tgtEl>
                                          <p:spTgt spid="88"/>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89"/>
                                        </p:tgtEl>
                                        <p:attrNameLst>
                                          <p:attrName>style.visibility</p:attrName>
                                        </p:attrNameLst>
                                      </p:cBhvr>
                                      <p:to>
                                        <p:strVal val="visible"/>
                                      </p:to>
                                    </p:set>
                                    <p:anim calcmode="lin" valueType="num">
                                      <p:cBhvr additive="base">
                                        <p:cTn id="27" dur="500" fill="hold"/>
                                        <p:tgtEl>
                                          <p:spTgt spid="89"/>
                                        </p:tgtEl>
                                        <p:attrNameLst>
                                          <p:attrName>ppt_x</p:attrName>
                                        </p:attrNameLst>
                                      </p:cBhvr>
                                      <p:tavLst>
                                        <p:tav tm="0">
                                          <p:val>
                                            <p:strVal val="0-#ppt_w/2"/>
                                          </p:val>
                                        </p:tav>
                                        <p:tav tm="100000">
                                          <p:val>
                                            <p:strVal val="#ppt_x"/>
                                          </p:val>
                                        </p:tav>
                                      </p:tavLst>
                                    </p:anim>
                                    <p:anim calcmode="lin" valueType="num">
                                      <p:cBhvr additive="base">
                                        <p:cTn id="28" dur="500" fill="hold"/>
                                        <p:tgtEl>
                                          <p:spTgt spid="89"/>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90"/>
                                        </p:tgtEl>
                                        <p:attrNameLst>
                                          <p:attrName>style.visibility</p:attrName>
                                        </p:attrNameLst>
                                      </p:cBhvr>
                                      <p:to>
                                        <p:strVal val="visible"/>
                                      </p:to>
                                    </p:set>
                                    <p:anim calcmode="lin" valueType="num">
                                      <p:cBhvr additive="base">
                                        <p:cTn id="33" dur="500" fill="hold"/>
                                        <p:tgtEl>
                                          <p:spTgt spid="90"/>
                                        </p:tgtEl>
                                        <p:attrNameLst>
                                          <p:attrName>ppt_x</p:attrName>
                                        </p:attrNameLst>
                                      </p:cBhvr>
                                      <p:tavLst>
                                        <p:tav tm="0">
                                          <p:val>
                                            <p:strVal val="0-#ppt_w/2"/>
                                          </p:val>
                                        </p:tav>
                                        <p:tav tm="100000">
                                          <p:val>
                                            <p:strVal val="#ppt_x"/>
                                          </p:val>
                                        </p:tav>
                                      </p:tavLst>
                                    </p:anim>
                                    <p:anim calcmode="lin" valueType="num">
                                      <p:cBhvr additive="base">
                                        <p:cTn id="34" dur="500" fill="hold"/>
                                        <p:tgtEl>
                                          <p:spTgt spid="90"/>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91"/>
                                        </p:tgtEl>
                                        <p:attrNameLst>
                                          <p:attrName>style.visibility</p:attrName>
                                        </p:attrNameLst>
                                      </p:cBhvr>
                                      <p:to>
                                        <p:strVal val="visible"/>
                                      </p:to>
                                    </p:set>
                                    <p:anim calcmode="lin" valueType="num">
                                      <p:cBhvr additive="base">
                                        <p:cTn id="39" dur="500" fill="hold"/>
                                        <p:tgtEl>
                                          <p:spTgt spid="91"/>
                                        </p:tgtEl>
                                        <p:attrNameLst>
                                          <p:attrName>ppt_x</p:attrName>
                                        </p:attrNameLst>
                                      </p:cBhvr>
                                      <p:tavLst>
                                        <p:tav tm="0">
                                          <p:val>
                                            <p:strVal val="0-#ppt_w/2"/>
                                          </p:val>
                                        </p:tav>
                                        <p:tav tm="100000">
                                          <p:val>
                                            <p:strVal val="#ppt_x"/>
                                          </p:val>
                                        </p:tav>
                                      </p:tavLst>
                                    </p:anim>
                                    <p:anim calcmode="lin" valueType="num">
                                      <p:cBhvr additive="base">
                                        <p:cTn id="40" dur="500" fill="hold"/>
                                        <p:tgtEl>
                                          <p:spTgt spid="91"/>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92"/>
                                        </p:tgtEl>
                                        <p:attrNameLst>
                                          <p:attrName>style.visibility</p:attrName>
                                        </p:attrNameLst>
                                      </p:cBhvr>
                                      <p:to>
                                        <p:strVal val="visible"/>
                                      </p:to>
                                    </p:set>
                                    <p:anim calcmode="lin" valueType="num">
                                      <p:cBhvr additive="base">
                                        <p:cTn id="49" dur="500" fill="hold"/>
                                        <p:tgtEl>
                                          <p:spTgt spid="92"/>
                                        </p:tgtEl>
                                        <p:attrNameLst>
                                          <p:attrName>ppt_x</p:attrName>
                                        </p:attrNameLst>
                                      </p:cBhvr>
                                      <p:tavLst>
                                        <p:tav tm="0">
                                          <p:val>
                                            <p:strVal val="0-#ppt_w/2"/>
                                          </p:val>
                                        </p:tav>
                                        <p:tav tm="100000">
                                          <p:val>
                                            <p:strVal val="#ppt_x"/>
                                          </p:val>
                                        </p:tav>
                                      </p:tavLst>
                                    </p:anim>
                                    <p:anim calcmode="lin" valueType="num">
                                      <p:cBhvr additive="base">
                                        <p:cTn id="50" dur="500" fill="hold"/>
                                        <p:tgtEl>
                                          <p:spTgt spid="92"/>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4">
                                            <p:txEl>
                                              <p:pRg st="4" end="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4">
                                            <p:txEl>
                                              <p:pRg st="1" end="1"/>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4">
                                            <p:txEl>
                                              <p:pRg st="2" end="2"/>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4">
                                            <p:txEl>
                                              <p:pRg st="3" end="3"/>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6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93"/>
                                        </p:tgtEl>
                                        <p:attrNameLst>
                                          <p:attrName>style.visibility</p:attrName>
                                        </p:attrNameLst>
                                      </p:cBhvr>
                                      <p:to>
                                        <p:strVal val="visible"/>
                                      </p:to>
                                    </p:set>
                                    <p:anim calcmode="lin" valueType="num">
                                      <p:cBhvr additive="base">
                                        <p:cTn id="79" dur="500" fill="hold"/>
                                        <p:tgtEl>
                                          <p:spTgt spid="93"/>
                                        </p:tgtEl>
                                        <p:attrNameLst>
                                          <p:attrName>ppt_x</p:attrName>
                                        </p:attrNameLst>
                                      </p:cBhvr>
                                      <p:tavLst>
                                        <p:tav tm="0">
                                          <p:val>
                                            <p:strVal val="0-#ppt_w/2"/>
                                          </p:val>
                                        </p:tav>
                                        <p:tav tm="100000">
                                          <p:val>
                                            <p:strVal val="#ppt_x"/>
                                          </p:val>
                                        </p:tav>
                                      </p:tavLst>
                                    </p:anim>
                                    <p:anim calcmode="lin" valueType="num">
                                      <p:cBhvr additive="base">
                                        <p:cTn id="80" dur="500" fill="hold"/>
                                        <p:tgtEl>
                                          <p:spTgt spid="93"/>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94"/>
                                        </p:tgtEl>
                                        <p:attrNameLst>
                                          <p:attrName>style.visibility</p:attrName>
                                        </p:attrNameLst>
                                      </p:cBhvr>
                                      <p:to>
                                        <p:strVal val="visible"/>
                                      </p:to>
                                    </p:set>
                                    <p:anim calcmode="lin" valueType="num">
                                      <p:cBhvr additive="base">
                                        <p:cTn id="85" dur="500" fill="hold"/>
                                        <p:tgtEl>
                                          <p:spTgt spid="94"/>
                                        </p:tgtEl>
                                        <p:attrNameLst>
                                          <p:attrName>ppt_x</p:attrName>
                                        </p:attrNameLst>
                                      </p:cBhvr>
                                      <p:tavLst>
                                        <p:tav tm="0">
                                          <p:val>
                                            <p:strVal val="0-#ppt_w/2"/>
                                          </p:val>
                                        </p:tav>
                                        <p:tav tm="100000">
                                          <p:val>
                                            <p:strVal val="#ppt_x"/>
                                          </p:val>
                                        </p:tav>
                                      </p:tavLst>
                                    </p:anim>
                                    <p:anim calcmode="lin" valueType="num">
                                      <p:cBhvr additive="base">
                                        <p:cTn id="86" dur="500" fill="hold"/>
                                        <p:tgtEl>
                                          <p:spTgt spid="94"/>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34">
                                            <p:txEl>
                                              <p:pRg st="5" end="5"/>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95"/>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97"/>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3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animBg="1"/>
      <p:bldP spid="88" grpId="0" animBg="1"/>
      <p:bldP spid="89" grpId="0" animBg="1"/>
      <p:bldP spid="90" grpId="0" animBg="1"/>
      <p:bldP spid="91" grpId="0" animBg="1"/>
      <p:bldP spid="92" grpId="0" animBg="1"/>
      <p:bldP spid="93" grpId="0" animBg="1"/>
      <p:bldP spid="94" grpId="0" animBg="1"/>
      <p:bldP spid="3" grpId="0"/>
      <p:bldP spid="33"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卡诺图化简</a:t>
            </a:r>
            <a:endParaRPr lang="zh-CN" altLang="en-US" dirty="0"/>
          </a:p>
        </p:txBody>
      </p:sp>
      <p:sp>
        <p:nvSpPr>
          <p:cNvPr id="3" name="内容占位符 2"/>
          <p:cNvSpPr>
            <a:spLocks noGrp="1"/>
          </p:cNvSpPr>
          <p:nvPr>
            <p:ph idx="1"/>
          </p:nvPr>
        </p:nvSpPr>
        <p:spPr>
          <a:xfrm>
            <a:off x="284773" y="915505"/>
            <a:ext cx="8523654" cy="4036426"/>
          </a:xfrm>
        </p:spPr>
        <p:txBody>
          <a:bodyPr/>
          <a:lstStyle/>
          <a:p>
            <a:pPr>
              <a:spcBef>
                <a:spcPts val="600"/>
              </a:spcBef>
              <a:spcAft>
                <a:spcPts val="600"/>
              </a:spcAft>
            </a:pPr>
            <a:r>
              <a:rPr lang="zh-CN" altLang="en-US" sz="2200" dirty="0"/>
              <a:t>逻辑函数卡诺图</a:t>
            </a:r>
            <a:r>
              <a:rPr lang="zh-CN" altLang="en-US" sz="2200" dirty="0">
                <a:solidFill>
                  <a:srgbClr val="FF0000"/>
                </a:solidFill>
              </a:rPr>
              <a:t>化简的关键</a:t>
            </a:r>
            <a:r>
              <a:rPr lang="zh-CN" altLang="en-US" sz="2200" dirty="0"/>
              <a:t>：找出和选择质蕴涵项，一般步骤如下： </a:t>
            </a:r>
            <a:endParaRPr lang="en-US" altLang="zh-CN" sz="2200" dirty="0"/>
          </a:p>
          <a:p>
            <a:pPr marL="858520" lvl="1" indent="-514350">
              <a:spcBef>
                <a:spcPts val="600"/>
              </a:spcBef>
              <a:spcAft>
                <a:spcPts val="600"/>
              </a:spcAft>
              <a:buFont typeface="+mj-lt"/>
              <a:buAutoNum type="arabicPeriod"/>
            </a:pPr>
            <a:r>
              <a:rPr lang="zh-CN" altLang="en-US" dirty="0"/>
              <a:t>根据逻辑表达式，列出真值表，构建卡诺图</a:t>
            </a:r>
            <a:endParaRPr lang="en-US" altLang="zh-CN" dirty="0"/>
          </a:p>
          <a:p>
            <a:pPr marL="858520" lvl="1" indent="-514350">
              <a:spcBef>
                <a:spcPts val="600"/>
              </a:spcBef>
              <a:spcAft>
                <a:spcPts val="600"/>
              </a:spcAft>
              <a:buFont typeface="+mj-lt"/>
              <a:buAutoNum type="arabicPeriod"/>
            </a:pPr>
            <a:r>
              <a:rPr lang="zh-CN" altLang="en-US" dirty="0"/>
              <a:t>找出卡诺图中的所有</a:t>
            </a:r>
            <a:r>
              <a:rPr lang="zh-CN" altLang="en-US" dirty="0">
                <a:solidFill>
                  <a:srgbClr val="FF0000"/>
                </a:solidFill>
              </a:rPr>
              <a:t>质蕴涵项</a:t>
            </a:r>
            <a:r>
              <a:rPr lang="zh-CN" altLang="en-US" dirty="0"/>
              <a:t>，从覆盖范围最大的质蕴涵项开始</a:t>
            </a:r>
            <a:endParaRPr lang="zh-CN" altLang="en-US" dirty="0"/>
          </a:p>
          <a:p>
            <a:pPr marL="858520" lvl="1" indent="-514350">
              <a:spcBef>
                <a:spcPts val="600"/>
              </a:spcBef>
              <a:spcAft>
                <a:spcPts val="600"/>
              </a:spcAft>
              <a:buFont typeface="+mj-lt"/>
              <a:buAutoNum type="arabicPeriod"/>
            </a:pPr>
            <a:r>
              <a:rPr lang="zh-CN" altLang="en-US" dirty="0"/>
              <a:t>找出所有的</a:t>
            </a:r>
            <a:r>
              <a:rPr lang="zh-CN" altLang="en-US" dirty="0">
                <a:solidFill>
                  <a:srgbClr val="FF0000"/>
                </a:solidFill>
              </a:rPr>
              <a:t>实质蕴涵项</a:t>
            </a:r>
            <a:endParaRPr lang="zh-CN" altLang="en-US" dirty="0"/>
          </a:p>
          <a:p>
            <a:pPr marL="858520" lvl="1" indent="-514350">
              <a:spcBef>
                <a:spcPts val="600"/>
              </a:spcBef>
              <a:spcAft>
                <a:spcPts val="600"/>
              </a:spcAft>
              <a:buFont typeface="+mj-lt"/>
              <a:buAutoNum type="arabicPeriod"/>
            </a:pPr>
            <a:r>
              <a:rPr lang="zh-CN" altLang="en-US" dirty="0"/>
              <a:t>在剩余的质蕴涵项中寻找一个</a:t>
            </a:r>
            <a:r>
              <a:rPr lang="zh-CN" altLang="en-US" dirty="0">
                <a:solidFill>
                  <a:srgbClr val="FF0000"/>
                </a:solidFill>
              </a:rPr>
              <a:t>最小的覆盖</a:t>
            </a:r>
            <a:r>
              <a:rPr lang="zh-CN" altLang="en-US" dirty="0"/>
              <a:t>，该覆盖包含那些没有被实质蕴涵项所覆盖的最小项</a:t>
            </a:r>
            <a:endParaRPr lang="en-US" altLang="zh-CN" dirty="0"/>
          </a:p>
          <a:p>
            <a:pPr marL="858520" lvl="1" indent="-514350">
              <a:spcBef>
                <a:spcPts val="600"/>
              </a:spcBef>
              <a:spcAft>
                <a:spcPts val="600"/>
              </a:spcAft>
              <a:buFont typeface="+mj-lt"/>
              <a:buAutoNum type="arabicPeriod"/>
            </a:pPr>
            <a:r>
              <a:rPr lang="zh-CN" altLang="en-US" dirty="0"/>
              <a:t>合并</a:t>
            </a:r>
            <a:r>
              <a:rPr lang="en-US" altLang="zh-CN" dirty="0"/>
              <a:t>3</a:t>
            </a:r>
            <a:r>
              <a:rPr lang="zh-CN" altLang="en-US" dirty="0"/>
              <a:t>、</a:t>
            </a:r>
            <a:r>
              <a:rPr lang="en-US" altLang="zh-CN" dirty="0"/>
              <a:t>4</a:t>
            </a:r>
            <a:r>
              <a:rPr lang="zh-CN" altLang="en-US" dirty="0"/>
              <a:t>两步的结果，生成函数的</a:t>
            </a:r>
            <a:r>
              <a:rPr lang="zh-CN" altLang="en-US" dirty="0">
                <a:solidFill>
                  <a:srgbClr val="FF0000"/>
                </a:solidFill>
              </a:rPr>
              <a:t>最简逻辑表达式</a:t>
            </a:r>
            <a:endParaRPr lang="zh-CN" altLang="en-US"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卡诺图化简</a:t>
            </a:r>
            <a:endParaRPr lang="zh-CN" altLang="en-US" dirty="0"/>
          </a:p>
        </p:txBody>
      </p:sp>
      <p:sp>
        <p:nvSpPr>
          <p:cNvPr id="3" name="内容占位符 2"/>
          <p:cNvSpPr>
            <a:spLocks noGrp="1"/>
          </p:cNvSpPr>
          <p:nvPr>
            <p:ph idx="1"/>
          </p:nvPr>
        </p:nvSpPr>
        <p:spPr>
          <a:xfrm>
            <a:off x="453067" y="1087586"/>
            <a:ext cx="7620000" cy="1073114"/>
          </a:xfrm>
        </p:spPr>
        <p:txBody>
          <a:bodyPr/>
          <a:lstStyle/>
          <a:p>
            <a:r>
              <a:rPr lang="en-US" altLang="zh-CN" sz="2500" dirty="0"/>
              <a:t>F(A,B,C,D) = ∑m(1,2,5,7,8,10,12,13,15) </a:t>
            </a:r>
            <a:endParaRPr lang="zh-CN" altLang="en-US" sz="2500" dirty="0"/>
          </a:p>
          <a:p>
            <a:endParaRPr lang="zh-CN" altLang="en-US" sz="2800" dirty="0"/>
          </a:p>
        </p:txBody>
      </p:sp>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grpSp>
        <p:nvGrpSpPr>
          <p:cNvPr id="81" name="组合 80"/>
          <p:cNvGrpSpPr/>
          <p:nvPr/>
        </p:nvGrpSpPr>
        <p:grpSpPr>
          <a:xfrm>
            <a:off x="102171" y="1815278"/>
            <a:ext cx="2828925" cy="2124075"/>
            <a:chOff x="523875" y="2087435"/>
            <a:chExt cx="2828925" cy="2124075"/>
          </a:xfrm>
        </p:grpSpPr>
        <p:grpSp>
          <p:nvGrpSpPr>
            <p:cNvPr id="47" name="Group 6"/>
            <p:cNvGrpSpPr/>
            <p:nvPr/>
          </p:nvGrpSpPr>
          <p:grpSpPr bwMode="auto">
            <a:xfrm>
              <a:off x="523875" y="2087435"/>
              <a:ext cx="2828925" cy="2124075"/>
              <a:chOff x="3210" y="438"/>
              <a:chExt cx="1782" cy="1338"/>
            </a:xfrm>
          </p:grpSpPr>
          <p:sp>
            <p:nvSpPr>
              <p:cNvPr id="48" name="Rectangle 7"/>
              <p:cNvSpPr>
                <a:spLocks noChangeArrowheads="1"/>
              </p:cNvSpPr>
              <p:nvPr/>
            </p:nvSpPr>
            <p:spPr bwMode="auto">
              <a:xfrm>
                <a:off x="4464" y="1490"/>
                <a:ext cx="28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1</a:t>
                </a:r>
                <a:endParaRPr lang="en-US" altLang="zh-CN" sz="2000"/>
              </a:p>
            </p:txBody>
          </p:sp>
          <p:sp>
            <p:nvSpPr>
              <p:cNvPr id="49" name="Rectangle 8"/>
              <p:cNvSpPr>
                <a:spLocks noChangeArrowheads="1"/>
              </p:cNvSpPr>
              <p:nvPr/>
            </p:nvSpPr>
            <p:spPr bwMode="auto">
              <a:xfrm>
                <a:off x="4464" y="1248"/>
                <a:ext cx="288"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50" name="Rectangle 9"/>
              <p:cNvSpPr>
                <a:spLocks noChangeArrowheads="1"/>
              </p:cNvSpPr>
              <p:nvPr/>
            </p:nvSpPr>
            <p:spPr bwMode="auto">
              <a:xfrm>
                <a:off x="4464" y="100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51" name="Rectangle 10"/>
              <p:cNvSpPr>
                <a:spLocks noChangeArrowheads="1"/>
              </p:cNvSpPr>
              <p:nvPr/>
            </p:nvSpPr>
            <p:spPr bwMode="auto">
              <a:xfrm>
                <a:off x="3888" y="1012"/>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sp>
            <p:nvSpPr>
              <p:cNvPr id="52" name="Rectangle 11"/>
              <p:cNvSpPr>
                <a:spLocks noChangeArrowheads="1"/>
              </p:cNvSpPr>
              <p:nvPr/>
            </p:nvSpPr>
            <p:spPr bwMode="auto">
              <a:xfrm>
                <a:off x="3888" y="788"/>
                <a:ext cx="28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sp>
            <p:nvSpPr>
              <p:cNvPr id="53" name="Rectangle 12"/>
              <p:cNvSpPr>
                <a:spLocks noChangeArrowheads="1"/>
              </p:cNvSpPr>
              <p:nvPr/>
            </p:nvSpPr>
            <p:spPr bwMode="auto">
              <a:xfrm>
                <a:off x="3888" y="1248"/>
                <a:ext cx="288"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1</a:t>
                </a:r>
                <a:endParaRPr lang="en-US" altLang="zh-CN" sz="2000"/>
              </a:p>
            </p:txBody>
          </p:sp>
          <p:sp>
            <p:nvSpPr>
              <p:cNvPr id="54" name="Rectangle 13"/>
              <p:cNvSpPr>
                <a:spLocks noChangeArrowheads="1"/>
              </p:cNvSpPr>
              <p:nvPr/>
            </p:nvSpPr>
            <p:spPr bwMode="auto">
              <a:xfrm>
                <a:off x="3888" y="100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55" name="Rectangle 14"/>
              <p:cNvSpPr>
                <a:spLocks noChangeArrowheads="1"/>
              </p:cNvSpPr>
              <p:nvPr/>
            </p:nvSpPr>
            <p:spPr bwMode="auto">
              <a:xfrm>
                <a:off x="3600" y="1516"/>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sp>
            <p:nvSpPr>
              <p:cNvPr id="56" name="Rectangle 15"/>
              <p:cNvSpPr>
                <a:spLocks noChangeArrowheads="1"/>
              </p:cNvSpPr>
              <p:nvPr/>
            </p:nvSpPr>
            <p:spPr bwMode="auto">
              <a:xfrm>
                <a:off x="4188" y="1249"/>
                <a:ext cx="28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sp>
            <p:nvSpPr>
              <p:cNvPr id="57" name="Rectangle 16"/>
              <p:cNvSpPr>
                <a:spLocks noChangeArrowheads="1"/>
              </p:cNvSpPr>
              <p:nvPr/>
            </p:nvSpPr>
            <p:spPr bwMode="auto">
              <a:xfrm>
                <a:off x="4464" y="768"/>
                <a:ext cx="288"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sp>
            <p:nvSpPr>
              <p:cNvPr id="58" name="Rectangle 17"/>
              <p:cNvSpPr>
                <a:spLocks noChangeArrowheads="1"/>
              </p:cNvSpPr>
              <p:nvPr/>
            </p:nvSpPr>
            <p:spPr bwMode="auto">
              <a:xfrm>
                <a:off x="4176" y="100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59" name="Rectangle 18"/>
              <p:cNvSpPr>
                <a:spLocks noChangeArrowheads="1"/>
              </p:cNvSpPr>
              <p:nvPr/>
            </p:nvSpPr>
            <p:spPr bwMode="auto">
              <a:xfrm>
                <a:off x="4176" y="76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60" name="Rectangle 19"/>
              <p:cNvSpPr>
                <a:spLocks noChangeArrowheads="1"/>
              </p:cNvSpPr>
              <p:nvPr/>
            </p:nvSpPr>
            <p:spPr bwMode="auto">
              <a:xfrm>
                <a:off x="3600" y="1490"/>
                <a:ext cx="28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61" name="Rectangle 20"/>
              <p:cNvSpPr>
                <a:spLocks noChangeArrowheads="1"/>
              </p:cNvSpPr>
              <p:nvPr/>
            </p:nvSpPr>
            <p:spPr bwMode="auto">
              <a:xfrm>
                <a:off x="3600" y="1272"/>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sp>
            <p:nvSpPr>
              <p:cNvPr id="62" name="Rectangle 21"/>
              <p:cNvSpPr>
                <a:spLocks noChangeArrowheads="1"/>
              </p:cNvSpPr>
              <p:nvPr/>
            </p:nvSpPr>
            <p:spPr bwMode="auto">
              <a:xfrm>
                <a:off x="3600" y="1248"/>
                <a:ext cx="288"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63" name="Rectangle 22"/>
              <p:cNvSpPr>
                <a:spLocks noChangeArrowheads="1"/>
              </p:cNvSpPr>
              <p:nvPr/>
            </p:nvSpPr>
            <p:spPr bwMode="auto">
              <a:xfrm>
                <a:off x="3600" y="76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64" name="Line 23"/>
              <p:cNvSpPr>
                <a:spLocks noChangeShapeType="1"/>
              </p:cNvSpPr>
              <p:nvPr/>
            </p:nvSpPr>
            <p:spPr bwMode="auto">
              <a:xfrm>
                <a:off x="3600" y="768"/>
                <a:ext cx="1152"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 name="Line 24"/>
              <p:cNvSpPr>
                <a:spLocks noChangeShapeType="1"/>
              </p:cNvSpPr>
              <p:nvPr/>
            </p:nvSpPr>
            <p:spPr bwMode="auto">
              <a:xfrm>
                <a:off x="3600" y="1776"/>
                <a:ext cx="1152"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 name="Line 25"/>
              <p:cNvSpPr>
                <a:spLocks noChangeShapeType="1"/>
              </p:cNvSpPr>
              <p:nvPr/>
            </p:nvSpPr>
            <p:spPr bwMode="auto">
              <a:xfrm>
                <a:off x="3600" y="768"/>
                <a:ext cx="0" cy="1008"/>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 name="Line 26"/>
              <p:cNvSpPr>
                <a:spLocks noChangeShapeType="1"/>
              </p:cNvSpPr>
              <p:nvPr/>
            </p:nvSpPr>
            <p:spPr bwMode="auto">
              <a:xfrm>
                <a:off x="4752" y="768"/>
                <a:ext cx="0" cy="1008"/>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 name="Line 27"/>
              <p:cNvSpPr>
                <a:spLocks noChangeShapeType="1"/>
              </p:cNvSpPr>
              <p:nvPr/>
            </p:nvSpPr>
            <p:spPr bwMode="auto">
              <a:xfrm>
                <a:off x="3600" y="1248"/>
                <a:ext cx="115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 name="Line 28"/>
              <p:cNvSpPr>
                <a:spLocks noChangeShapeType="1"/>
              </p:cNvSpPr>
              <p:nvPr/>
            </p:nvSpPr>
            <p:spPr bwMode="auto">
              <a:xfrm>
                <a:off x="3600" y="1008"/>
                <a:ext cx="115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 name="Line 29"/>
              <p:cNvSpPr>
                <a:spLocks noChangeShapeType="1"/>
              </p:cNvSpPr>
              <p:nvPr/>
            </p:nvSpPr>
            <p:spPr bwMode="auto">
              <a:xfrm>
                <a:off x="3600" y="1490"/>
                <a:ext cx="115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 name="Line 30"/>
              <p:cNvSpPr>
                <a:spLocks noChangeShapeType="1"/>
              </p:cNvSpPr>
              <p:nvPr/>
            </p:nvSpPr>
            <p:spPr bwMode="auto">
              <a:xfrm>
                <a:off x="4176" y="768"/>
                <a:ext cx="0" cy="10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 name="Line 31"/>
              <p:cNvSpPr>
                <a:spLocks noChangeShapeType="1"/>
              </p:cNvSpPr>
              <p:nvPr/>
            </p:nvSpPr>
            <p:spPr bwMode="auto">
              <a:xfrm>
                <a:off x="3888" y="768"/>
                <a:ext cx="0" cy="10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 name="Line 32"/>
              <p:cNvSpPr>
                <a:spLocks noChangeShapeType="1"/>
              </p:cNvSpPr>
              <p:nvPr/>
            </p:nvSpPr>
            <p:spPr bwMode="auto">
              <a:xfrm>
                <a:off x="4464" y="768"/>
                <a:ext cx="0" cy="10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 name="Line 33"/>
              <p:cNvSpPr>
                <a:spLocks noChangeShapeType="1"/>
              </p:cNvSpPr>
              <p:nvPr/>
            </p:nvSpPr>
            <p:spPr bwMode="auto">
              <a:xfrm>
                <a:off x="3360" y="528"/>
                <a:ext cx="240" cy="24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 name="Text Box 34"/>
              <p:cNvSpPr txBox="1">
                <a:spLocks noChangeArrowheads="1"/>
              </p:cNvSpPr>
              <p:nvPr/>
            </p:nvSpPr>
            <p:spPr bwMode="auto">
              <a:xfrm>
                <a:off x="3472" y="438"/>
                <a:ext cx="33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i="1" dirty="0"/>
                  <a:t>CD</a:t>
                </a:r>
                <a:endParaRPr lang="en-US" altLang="zh-CN" sz="1800" i="1" dirty="0"/>
              </a:p>
            </p:txBody>
          </p:sp>
          <p:sp>
            <p:nvSpPr>
              <p:cNvPr id="76" name="Text Box 35"/>
              <p:cNvSpPr txBox="1">
                <a:spLocks noChangeArrowheads="1"/>
              </p:cNvSpPr>
              <p:nvPr/>
            </p:nvSpPr>
            <p:spPr bwMode="auto">
              <a:xfrm>
                <a:off x="3210" y="592"/>
                <a:ext cx="38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i="1" dirty="0"/>
                  <a:t>AB</a:t>
                </a:r>
                <a:endParaRPr lang="en-US" altLang="zh-CN" sz="1800" i="1" dirty="0"/>
              </a:p>
            </p:txBody>
          </p:sp>
          <p:sp>
            <p:nvSpPr>
              <p:cNvPr id="77" name="Text Box 36"/>
              <p:cNvSpPr txBox="1">
                <a:spLocks noChangeArrowheads="1"/>
              </p:cNvSpPr>
              <p:nvPr/>
            </p:nvSpPr>
            <p:spPr bwMode="auto">
              <a:xfrm>
                <a:off x="3360" y="816"/>
                <a:ext cx="288" cy="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00</a:t>
                </a:r>
                <a:endParaRPr lang="en-US" altLang="zh-CN" sz="1600"/>
              </a:p>
              <a:p>
                <a:pPr>
                  <a:spcBef>
                    <a:spcPct val="50000"/>
                  </a:spcBef>
                </a:pPr>
                <a:r>
                  <a:rPr lang="en-US" altLang="zh-CN" sz="1600"/>
                  <a:t>01</a:t>
                </a:r>
                <a:endParaRPr lang="en-US" altLang="zh-CN" sz="1600"/>
              </a:p>
              <a:p>
                <a:pPr>
                  <a:spcBef>
                    <a:spcPct val="50000"/>
                  </a:spcBef>
                </a:pPr>
                <a:r>
                  <a:rPr lang="en-US" altLang="zh-CN" sz="1600"/>
                  <a:t>11</a:t>
                </a:r>
                <a:endParaRPr lang="en-US" altLang="zh-CN" sz="1600"/>
              </a:p>
              <a:p>
                <a:pPr>
                  <a:spcBef>
                    <a:spcPct val="50000"/>
                  </a:spcBef>
                </a:pPr>
                <a:r>
                  <a:rPr lang="en-US" altLang="zh-CN" sz="1600"/>
                  <a:t>10</a:t>
                </a:r>
                <a:endParaRPr lang="en-US" altLang="zh-CN" sz="1600"/>
              </a:p>
            </p:txBody>
          </p:sp>
          <p:sp>
            <p:nvSpPr>
              <p:cNvPr id="78" name="Text Box 37"/>
              <p:cNvSpPr txBox="1">
                <a:spLocks noChangeArrowheads="1"/>
              </p:cNvSpPr>
              <p:nvPr/>
            </p:nvSpPr>
            <p:spPr bwMode="auto">
              <a:xfrm>
                <a:off x="3600" y="576"/>
                <a:ext cx="139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00     01     11     10</a:t>
                </a:r>
                <a:endParaRPr lang="en-US" altLang="zh-CN" sz="1600"/>
              </a:p>
            </p:txBody>
          </p:sp>
        </p:grpSp>
        <p:sp>
          <p:nvSpPr>
            <p:cNvPr id="80" name="Rectangle 15"/>
            <p:cNvSpPr>
              <a:spLocks noChangeArrowheads="1"/>
            </p:cNvSpPr>
            <p:nvPr/>
          </p:nvSpPr>
          <p:spPr bwMode="auto">
            <a:xfrm>
              <a:off x="2057400" y="2995485"/>
              <a:ext cx="4572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grpSp>
      <p:sp>
        <p:nvSpPr>
          <p:cNvPr id="82" name="圆角矩形 81"/>
          <p:cNvSpPr/>
          <p:nvPr/>
        </p:nvSpPr>
        <p:spPr>
          <a:xfrm>
            <a:off x="1178496" y="2726503"/>
            <a:ext cx="914400" cy="758825"/>
          </a:xfrm>
          <a:prstGeom prst="roundRect">
            <a:avLst/>
          </a:prstGeom>
          <a:solidFill>
            <a:srgbClr val="FFC000">
              <a:alpha val="3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圆角矩形 82"/>
          <p:cNvSpPr/>
          <p:nvPr/>
        </p:nvSpPr>
        <p:spPr>
          <a:xfrm>
            <a:off x="797496" y="3177353"/>
            <a:ext cx="381000" cy="730250"/>
          </a:xfrm>
          <a:prstGeom prst="roundRect">
            <a:avLst/>
          </a:prstGeom>
          <a:solidFill>
            <a:schemeClr val="tx2">
              <a:lumMod val="40000"/>
              <a:lumOff val="60000"/>
              <a:alpha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圆角矩形 83"/>
          <p:cNvSpPr/>
          <p:nvPr/>
        </p:nvSpPr>
        <p:spPr>
          <a:xfrm>
            <a:off x="1273746" y="2377253"/>
            <a:ext cx="381000" cy="730250"/>
          </a:xfrm>
          <a:prstGeom prst="roundRect">
            <a:avLst/>
          </a:prstGeom>
          <a:solidFill>
            <a:schemeClr val="tx2">
              <a:lumMod val="40000"/>
              <a:lumOff val="60000"/>
              <a:alpha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圆角矩形 85"/>
          <p:cNvSpPr/>
          <p:nvPr/>
        </p:nvSpPr>
        <p:spPr>
          <a:xfrm>
            <a:off x="797496" y="3139253"/>
            <a:ext cx="666750" cy="346075"/>
          </a:xfrm>
          <a:prstGeom prst="roundRect">
            <a:avLst/>
          </a:prstGeom>
          <a:solidFill>
            <a:schemeClr val="accent5">
              <a:lumMod val="20000"/>
              <a:lumOff val="80000"/>
              <a:alpha val="25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AutoShape 51"/>
          <p:cNvSpPr/>
          <p:nvPr/>
        </p:nvSpPr>
        <p:spPr bwMode="auto">
          <a:xfrm>
            <a:off x="2169096" y="3556766"/>
            <a:ext cx="457200" cy="304800"/>
          </a:xfrm>
          <a:prstGeom prst="leftBracket">
            <a:avLst>
              <a:gd name="adj" fmla="val 8333"/>
            </a:avLst>
          </a:prstGeom>
          <a:solidFill>
            <a:schemeClr val="accent5">
              <a:lumMod val="20000"/>
              <a:lumOff val="80000"/>
              <a:alpha val="35000"/>
            </a:schemeClr>
          </a:solidFill>
          <a:ln w="19050">
            <a:solidFill>
              <a:srgbClr val="CC3300"/>
            </a:solidFill>
            <a:round/>
          </a:ln>
        </p:spPr>
        <p:txBody>
          <a:bodyPr/>
          <a:lstStyle/>
          <a:p>
            <a:endParaRPr lang="zh-CN" altLang="en-US"/>
          </a:p>
        </p:txBody>
      </p:sp>
      <p:sp>
        <p:nvSpPr>
          <p:cNvPr id="89" name="AutoShape 51"/>
          <p:cNvSpPr/>
          <p:nvPr/>
        </p:nvSpPr>
        <p:spPr bwMode="auto">
          <a:xfrm rot="10800000">
            <a:off x="593636" y="3588813"/>
            <a:ext cx="457200" cy="304800"/>
          </a:xfrm>
          <a:prstGeom prst="leftBracket">
            <a:avLst>
              <a:gd name="adj" fmla="val 8333"/>
            </a:avLst>
          </a:prstGeom>
          <a:solidFill>
            <a:schemeClr val="accent5">
              <a:lumMod val="20000"/>
              <a:lumOff val="80000"/>
              <a:alpha val="35000"/>
            </a:schemeClr>
          </a:solidFill>
          <a:ln w="19050">
            <a:solidFill>
              <a:srgbClr val="CC3300"/>
            </a:solidFill>
            <a:round/>
          </a:ln>
        </p:spPr>
        <p:txBody>
          <a:bodyPr/>
          <a:lstStyle/>
          <a:p>
            <a:endParaRPr lang="zh-CN" altLang="en-US"/>
          </a:p>
        </p:txBody>
      </p:sp>
      <p:sp>
        <p:nvSpPr>
          <p:cNvPr id="90" name="AutoShape 51"/>
          <p:cNvSpPr/>
          <p:nvPr/>
        </p:nvSpPr>
        <p:spPr bwMode="auto">
          <a:xfrm rot="5400000">
            <a:off x="2126432" y="3665013"/>
            <a:ext cx="457200" cy="304800"/>
          </a:xfrm>
          <a:prstGeom prst="leftBracket">
            <a:avLst>
              <a:gd name="adj" fmla="val 8333"/>
            </a:avLst>
          </a:prstGeom>
          <a:solidFill>
            <a:schemeClr val="accent5">
              <a:lumMod val="20000"/>
              <a:lumOff val="80000"/>
              <a:alpha val="35000"/>
            </a:schemeClr>
          </a:solidFill>
          <a:ln w="19050">
            <a:solidFill>
              <a:srgbClr val="CC3300"/>
            </a:solidFill>
            <a:round/>
          </a:ln>
        </p:spPr>
        <p:txBody>
          <a:bodyPr/>
          <a:lstStyle/>
          <a:p>
            <a:endParaRPr lang="zh-CN" altLang="en-US"/>
          </a:p>
        </p:txBody>
      </p:sp>
      <p:sp>
        <p:nvSpPr>
          <p:cNvPr id="91" name="AutoShape 51"/>
          <p:cNvSpPr/>
          <p:nvPr/>
        </p:nvSpPr>
        <p:spPr bwMode="auto">
          <a:xfrm rot="16006040">
            <a:off x="2120639" y="2287059"/>
            <a:ext cx="457200" cy="304800"/>
          </a:xfrm>
          <a:prstGeom prst="leftBracket">
            <a:avLst>
              <a:gd name="adj" fmla="val 8333"/>
            </a:avLst>
          </a:prstGeom>
          <a:solidFill>
            <a:schemeClr val="accent5">
              <a:lumMod val="20000"/>
              <a:lumOff val="80000"/>
              <a:alpha val="35000"/>
            </a:schemeClr>
          </a:solidFill>
          <a:ln w="19050">
            <a:solidFill>
              <a:srgbClr val="CC3300"/>
            </a:solidFill>
            <a:round/>
          </a:ln>
        </p:spPr>
        <p:txBody>
          <a:bodyPr/>
          <a:lstStyle/>
          <a:p>
            <a:endParaRPr lang="zh-CN" altLang="en-US"/>
          </a:p>
        </p:txBody>
      </p:sp>
      <p:grpSp>
        <p:nvGrpSpPr>
          <p:cNvPr id="92" name="组合 91"/>
          <p:cNvGrpSpPr/>
          <p:nvPr/>
        </p:nvGrpSpPr>
        <p:grpSpPr>
          <a:xfrm>
            <a:off x="3150890" y="1681188"/>
            <a:ext cx="2876550" cy="2173288"/>
            <a:chOff x="476250" y="2038223"/>
            <a:chExt cx="2876550" cy="2173288"/>
          </a:xfrm>
        </p:grpSpPr>
        <p:grpSp>
          <p:nvGrpSpPr>
            <p:cNvPr id="93" name="Group 6"/>
            <p:cNvGrpSpPr/>
            <p:nvPr/>
          </p:nvGrpSpPr>
          <p:grpSpPr bwMode="auto">
            <a:xfrm>
              <a:off x="476250" y="2038223"/>
              <a:ext cx="2876550" cy="2173288"/>
              <a:chOff x="3180" y="407"/>
              <a:chExt cx="1812" cy="1369"/>
            </a:xfrm>
          </p:grpSpPr>
          <p:sp>
            <p:nvSpPr>
              <p:cNvPr id="95" name="Rectangle 7"/>
              <p:cNvSpPr>
                <a:spLocks noChangeArrowheads="1"/>
              </p:cNvSpPr>
              <p:nvPr/>
            </p:nvSpPr>
            <p:spPr bwMode="auto">
              <a:xfrm>
                <a:off x="4464" y="1490"/>
                <a:ext cx="28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1</a:t>
                </a:r>
                <a:endParaRPr lang="en-US" altLang="zh-CN" sz="2000"/>
              </a:p>
            </p:txBody>
          </p:sp>
          <p:sp>
            <p:nvSpPr>
              <p:cNvPr id="96" name="Rectangle 8"/>
              <p:cNvSpPr>
                <a:spLocks noChangeArrowheads="1"/>
              </p:cNvSpPr>
              <p:nvPr/>
            </p:nvSpPr>
            <p:spPr bwMode="auto">
              <a:xfrm>
                <a:off x="4464" y="1248"/>
                <a:ext cx="288"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97" name="Rectangle 9"/>
              <p:cNvSpPr>
                <a:spLocks noChangeArrowheads="1"/>
              </p:cNvSpPr>
              <p:nvPr/>
            </p:nvSpPr>
            <p:spPr bwMode="auto">
              <a:xfrm>
                <a:off x="4464" y="100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98" name="Rectangle 10"/>
              <p:cNvSpPr>
                <a:spLocks noChangeArrowheads="1"/>
              </p:cNvSpPr>
              <p:nvPr/>
            </p:nvSpPr>
            <p:spPr bwMode="auto">
              <a:xfrm>
                <a:off x="3888" y="1012"/>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sp>
            <p:nvSpPr>
              <p:cNvPr id="99" name="Rectangle 11"/>
              <p:cNvSpPr>
                <a:spLocks noChangeArrowheads="1"/>
              </p:cNvSpPr>
              <p:nvPr/>
            </p:nvSpPr>
            <p:spPr bwMode="auto">
              <a:xfrm>
                <a:off x="3888" y="788"/>
                <a:ext cx="28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sp>
            <p:nvSpPr>
              <p:cNvPr id="100" name="Rectangle 12"/>
              <p:cNvSpPr>
                <a:spLocks noChangeArrowheads="1"/>
              </p:cNvSpPr>
              <p:nvPr/>
            </p:nvSpPr>
            <p:spPr bwMode="auto">
              <a:xfrm>
                <a:off x="3888" y="1248"/>
                <a:ext cx="288"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1</a:t>
                </a:r>
                <a:endParaRPr lang="en-US" altLang="zh-CN" sz="2000"/>
              </a:p>
            </p:txBody>
          </p:sp>
          <p:sp>
            <p:nvSpPr>
              <p:cNvPr id="101" name="Rectangle 13"/>
              <p:cNvSpPr>
                <a:spLocks noChangeArrowheads="1"/>
              </p:cNvSpPr>
              <p:nvPr/>
            </p:nvSpPr>
            <p:spPr bwMode="auto">
              <a:xfrm>
                <a:off x="3888" y="100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102" name="Rectangle 14"/>
              <p:cNvSpPr>
                <a:spLocks noChangeArrowheads="1"/>
              </p:cNvSpPr>
              <p:nvPr/>
            </p:nvSpPr>
            <p:spPr bwMode="auto">
              <a:xfrm>
                <a:off x="3600" y="1516"/>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sp>
            <p:nvSpPr>
              <p:cNvPr id="103" name="Rectangle 15"/>
              <p:cNvSpPr>
                <a:spLocks noChangeArrowheads="1"/>
              </p:cNvSpPr>
              <p:nvPr/>
            </p:nvSpPr>
            <p:spPr bwMode="auto">
              <a:xfrm>
                <a:off x="4188" y="1249"/>
                <a:ext cx="28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sp>
            <p:nvSpPr>
              <p:cNvPr id="104" name="Rectangle 16"/>
              <p:cNvSpPr>
                <a:spLocks noChangeArrowheads="1"/>
              </p:cNvSpPr>
              <p:nvPr/>
            </p:nvSpPr>
            <p:spPr bwMode="auto">
              <a:xfrm>
                <a:off x="4464" y="768"/>
                <a:ext cx="288"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sp>
            <p:nvSpPr>
              <p:cNvPr id="105" name="Rectangle 17"/>
              <p:cNvSpPr>
                <a:spLocks noChangeArrowheads="1"/>
              </p:cNvSpPr>
              <p:nvPr/>
            </p:nvSpPr>
            <p:spPr bwMode="auto">
              <a:xfrm>
                <a:off x="4176" y="100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106" name="Rectangle 18"/>
              <p:cNvSpPr>
                <a:spLocks noChangeArrowheads="1"/>
              </p:cNvSpPr>
              <p:nvPr/>
            </p:nvSpPr>
            <p:spPr bwMode="auto">
              <a:xfrm>
                <a:off x="4176" y="76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107" name="Rectangle 19"/>
              <p:cNvSpPr>
                <a:spLocks noChangeArrowheads="1"/>
              </p:cNvSpPr>
              <p:nvPr/>
            </p:nvSpPr>
            <p:spPr bwMode="auto">
              <a:xfrm>
                <a:off x="3600" y="1490"/>
                <a:ext cx="28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108" name="Rectangle 20"/>
              <p:cNvSpPr>
                <a:spLocks noChangeArrowheads="1"/>
              </p:cNvSpPr>
              <p:nvPr/>
            </p:nvSpPr>
            <p:spPr bwMode="auto">
              <a:xfrm>
                <a:off x="3600" y="1272"/>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sp>
            <p:nvSpPr>
              <p:cNvPr id="109" name="Rectangle 21"/>
              <p:cNvSpPr>
                <a:spLocks noChangeArrowheads="1"/>
              </p:cNvSpPr>
              <p:nvPr/>
            </p:nvSpPr>
            <p:spPr bwMode="auto">
              <a:xfrm>
                <a:off x="3600" y="1248"/>
                <a:ext cx="288"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110" name="Rectangle 22"/>
              <p:cNvSpPr>
                <a:spLocks noChangeArrowheads="1"/>
              </p:cNvSpPr>
              <p:nvPr/>
            </p:nvSpPr>
            <p:spPr bwMode="auto">
              <a:xfrm>
                <a:off x="3600" y="76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111" name="Line 23"/>
              <p:cNvSpPr>
                <a:spLocks noChangeShapeType="1"/>
              </p:cNvSpPr>
              <p:nvPr/>
            </p:nvSpPr>
            <p:spPr bwMode="auto">
              <a:xfrm>
                <a:off x="3600" y="768"/>
                <a:ext cx="1152"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 name="Line 24"/>
              <p:cNvSpPr>
                <a:spLocks noChangeShapeType="1"/>
              </p:cNvSpPr>
              <p:nvPr/>
            </p:nvSpPr>
            <p:spPr bwMode="auto">
              <a:xfrm>
                <a:off x="3600" y="1776"/>
                <a:ext cx="1152"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 name="Line 25"/>
              <p:cNvSpPr>
                <a:spLocks noChangeShapeType="1"/>
              </p:cNvSpPr>
              <p:nvPr/>
            </p:nvSpPr>
            <p:spPr bwMode="auto">
              <a:xfrm>
                <a:off x="3600" y="768"/>
                <a:ext cx="0" cy="1008"/>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 name="Line 26"/>
              <p:cNvSpPr>
                <a:spLocks noChangeShapeType="1"/>
              </p:cNvSpPr>
              <p:nvPr/>
            </p:nvSpPr>
            <p:spPr bwMode="auto">
              <a:xfrm>
                <a:off x="4752" y="768"/>
                <a:ext cx="0" cy="1008"/>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 name="Line 27"/>
              <p:cNvSpPr>
                <a:spLocks noChangeShapeType="1"/>
              </p:cNvSpPr>
              <p:nvPr/>
            </p:nvSpPr>
            <p:spPr bwMode="auto">
              <a:xfrm>
                <a:off x="3600" y="1248"/>
                <a:ext cx="115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 name="Line 28"/>
              <p:cNvSpPr>
                <a:spLocks noChangeShapeType="1"/>
              </p:cNvSpPr>
              <p:nvPr/>
            </p:nvSpPr>
            <p:spPr bwMode="auto">
              <a:xfrm>
                <a:off x="3600" y="1008"/>
                <a:ext cx="115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 name="Line 29"/>
              <p:cNvSpPr>
                <a:spLocks noChangeShapeType="1"/>
              </p:cNvSpPr>
              <p:nvPr/>
            </p:nvSpPr>
            <p:spPr bwMode="auto">
              <a:xfrm>
                <a:off x="3600" y="1490"/>
                <a:ext cx="115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8" name="Line 30"/>
              <p:cNvSpPr>
                <a:spLocks noChangeShapeType="1"/>
              </p:cNvSpPr>
              <p:nvPr/>
            </p:nvSpPr>
            <p:spPr bwMode="auto">
              <a:xfrm>
                <a:off x="4176" y="768"/>
                <a:ext cx="0" cy="10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9" name="Line 31"/>
              <p:cNvSpPr>
                <a:spLocks noChangeShapeType="1"/>
              </p:cNvSpPr>
              <p:nvPr/>
            </p:nvSpPr>
            <p:spPr bwMode="auto">
              <a:xfrm>
                <a:off x="3888" y="768"/>
                <a:ext cx="0" cy="10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0" name="Line 32"/>
              <p:cNvSpPr>
                <a:spLocks noChangeShapeType="1"/>
              </p:cNvSpPr>
              <p:nvPr/>
            </p:nvSpPr>
            <p:spPr bwMode="auto">
              <a:xfrm>
                <a:off x="4464" y="768"/>
                <a:ext cx="0" cy="10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1" name="Line 33"/>
              <p:cNvSpPr>
                <a:spLocks noChangeShapeType="1"/>
              </p:cNvSpPr>
              <p:nvPr/>
            </p:nvSpPr>
            <p:spPr bwMode="auto">
              <a:xfrm>
                <a:off x="3360" y="528"/>
                <a:ext cx="240" cy="24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2" name="Text Box 34"/>
              <p:cNvSpPr txBox="1">
                <a:spLocks noChangeArrowheads="1"/>
              </p:cNvSpPr>
              <p:nvPr/>
            </p:nvSpPr>
            <p:spPr bwMode="auto">
              <a:xfrm>
                <a:off x="3405" y="407"/>
                <a:ext cx="33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i="1" dirty="0"/>
                  <a:t>CD</a:t>
                </a:r>
                <a:endParaRPr lang="en-US" altLang="zh-CN" sz="1800" i="1" dirty="0"/>
              </a:p>
            </p:txBody>
          </p:sp>
          <p:sp>
            <p:nvSpPr>
              <p:cNvPr id="123" name="Text Box 35"/>
              <p:cNvSpPr txBox="1">
                <a:spLocks noChangeArrowheads="1"/>
              </p:cNvSpPr>
              <p:nvPr/>
            </p:nvSpPr>
            <p:spPr bwMode="auto">
              <a:xfrm>
                <a:off x="3180" y="616"/>
                <a:ext cx="38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i="1" dirty="0"/>
                  <a:t>AB</a:t>
                </a:r>
                <a:endParaRPr lang="en-US" altLang="zh-CN" sz="1800" i="1" dirty="0"/>
              </a:p>
            </p:txBody>
          </p:sp>
          <p:sp>
            <p:nvSpPr>
              <p:cNvPr id="124" name="Text Box 36"/>
              <p:cNvSpPr txBox="1">
                <a:spLocks noChangeArrowheads="1"/>
              </p:cNvSpPr>
              <p:nvPr/>
            </p:nvSpPr>
            <p:spPr bwMode="auto">
              <a:xfrm>
                <a:off x="3360" y="816"/>
                <a:ext cx="288" cy="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00</a:t>
                </a:r>
                <a:endParaRPr lang="en-US" altLang="zh-CN" sz="1600"/>
              </a:p>
              <a:p>
                <a:pPr>
                  <a:spcBef>
                    <a:spcPct val="50000"/>
                  </a:spcBef>
                </a:pPr>
                <a:r>
                  <a:rPr lang="en-US" altLang="zh-CN" sz="1600"/>
                  <a:t>01</a:t>
                </a:r>
                <a:endParaRPr lang="en-US" altLang="zh-CN" sz="1600"/>
              </a:p>
              <a:p>
                <a:pPr>
                  <a:spcBef>
                    <a:spcPct val="50000"/>
                  </a:spcBef>
                </a:pPr>
                <a:r>
                  <a:rPr lang="en-US" altLang="zh-CN" sz="1600"/>
                  <a:t>11</a:t>
                </a:r>
                <a:endParaRPr lang="en-US" altLang="zh-CN" sz="1600"/>
              </a:p>
              <a:p>
                <a:pPr>
                  <a:spcBef>
                    <a:spcPct val="50000"/>
                  </a:spcBef>
                </a:pPr>
                <a:r>
                  <a:rPr lang="en-US" altLang="zh-CN" sz="1600"/>
                  <a:t>10</a:t>
                </a:r>
                <a:endParaRPr lang="en-US" altLang="zh-CN" sz="1600"/>
              </a:p>
            </p:txBody>
          </p:sp>
          <p:sp>
            <p:nvSpPr>
              <p:cNvPr id="125" name="Text Box 37"/>
              <p:cNvSpPr txBox="1">
                <a:spLocks noChangeArrowheads="1"/>
              </p:cNvSpPr>
              <p:nvPr/>
            </p:nvSpPr>
            <p:spPr bwMode="auto">
              <a:xfrm>
                <a:off x="3600" y="576"/>
                <a:ext cx="139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00     01     11     10</a:t>
                </a:r>
                <a:endParaRPr lang="en-US" altLang="zh-CN" sz="1600"/>
              </a:p>
            </p:txBody>
          </p:sp>
        </p:grpSp>
        <p:sp>
          <p:nvSpPr>
            <p:cNvPr id="94" name="Rectangle 15"/>
            <p:cNvSpPr>
              <a:spLocks noChangeArrowheads="1"/>
            </p:cNvSpPr>
            <p:nvPr/>
          </p:nvSpPr>
          <p:spPr bwMode="auto">
            <a:xfrm>
              <a:off x="2057400" y="2995485"/>
              <a:ext cx="4572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grpSp>
      <p:sp>
        <p:nvSpPr>
          <p:cNvPr id="126" name="圆角矩形 125"/>
          <p:cNvSpPr/>
          <p:nvPr/>
        </p:nvSpPr>
        <p:spPr>
          <a:xfrm>
            <a:off x="4274840" y="2641625"/>
            <a:ext cx="914400" cy="758825"/>
          </a:xfrm>
          <a:prstGeom prst="roundRect">
            <a:avLst/>
          </a:prstGeom>
          <a:solidFill>
            <a:srgbClr val="FFC000">
              <a:alpha val="3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4370090" y="2292375"/>
            <a:ext cx="381000" cy="730250"/>
          </a:xfrm>
          <a:prstGeom prst="roundRect">
            <a:avLst/>
          </a:prstGeom>
          <a:solidFill>
            <a:schemeClr val="tx2">
              <a:lumMod val="40000"/>
              <a:lumOff val="60000"/>
              <a:alpha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AutoShape 51"/>
          <p:cNvSpPr/>
          <p:nvPr/>
        </p:nvSpPr>
        <p:spPr bwMode="auto">
          <a:xfrm rot="5400000">
            <a:off x="5222776" y="3580135"/>
            <a:ext cx="457200" cy="304800"/>
          </a:xfrm>
          <a:prstGeom prst="leftBracket">
            <a:avLst>
              <a:gd name="adj" fmla="val 8333"/>
            </a:avLst>
          </a:prstGeom>
          <a:solidFill>
            <a:schemeClr val="accent5">
              <a:lumMod val="20000"/>
              <a:lumOff val="80000"/>
              <a:alpha val="35000"/>
            </a:schemeClr>
          </a:solidFill>
          <a:ln w="19050">
            <a:solidFill>
              <a:srgbClr val="CC3300"/>
            </a:solidFill>
            <a:round/>
          </a:ln>
        </p:spPr>
        <p:txBody>
          <a:bodyPr/>
          <a:lstStyle/>
          <a:p>
            <a:endParaRPr lang="zh-CN" altLang="en-US"/>
          </a:p>
        </p:txBody>
      </p:sp>
      <p:sp>
        <p:nvSpPr>
          <p:cNvPr id="133" name="AutoShape 51"/>
          <p:cNvSpPr/>
          <p:nvPr/>
        </p:nvSpPr>
        <p:spPr bwMode="auto">
          <a:xfrm rot="16006040">
            <a:off x="5216983" y="2202181"/>
            <a:ext cx="457200" cy="304800"/>
          </a:xfrm>
          <a:prstGeom prst="leftBracket">
            <a:avLst>
              <a:gd name="adj" fmla="val 8333"/>
            </a:avLst>
          </a:prstGeom>
          <a:solidFill>
            <a:schemeClr val="accent5">
              <a:lumMod val="20000"/>
              <a:lumOff val="80000"/>
              <a:alpha val="35000"/>
            </a:schemeClr>
          </a:solidFill>
          <a:ln w="19050">
            <a:solidFill>
              <a:srgbClr val="CC3300"/>
            </a:solidFill>
            <a:round/>
          </a:ln>
        </p:spPr>
        <p:txBody>
          <a:bodyPr/>
          <a:lstStyle/>
          <a:p>
            <a:endParaRPr lang="zh-CN" altLang="en-US"/>
          </a:p>
        </p:txBody>
      </p:sp>
      <p:grpSp>
        <p:nvGrpSpPr>
          <p:cNvPr id="173" name="组合 172"/>
          <p:cNvGrpSpPr/>
          <p:nvPr/>
        </p:nvGrpSpPr>
        <p:grpSpPr>
          <a:xfrm>
            <a:off x="5968042" y="1628800"/>
            <a:ext cx="2943225" cy="2332335"/>
            <a:chOff x="5972175" y="1900957"/>
            <a:chExt cx="2943225" cy="2332335"/>
          </a:xfrm>
        </p:grpSpPr>
        <p:grpSp>
          <p:nvGrpSpPr>
            <p:cNvPr id="134" name="组合 133"/>
            <p:cNvGrpSpPr/>
            <p:nvPr/>
          </p:nvGrpSpPr>
          <p:grpSpPr>
            <a:xfrm>
              <a:off x="5972175" y="1900957"/>
              <a:ext cx="2943225" cy="2225675"/>
              <a:chOff x="409575" y="1985835"/>
              <a:chExt cx="2943225" cy="2225675"/>
            </a:xfrm>
          </p:grpSpPr>
          <p:grpSp>
            <p:nvGrpSpPr>
              <p:cNvPr id="135" name="Group 6"/>
              <p:cNvGrpSpPr/>
              <p:nvPr/>
            </p:nvGrpSpPr>
            <p:grpSpPr bwMode="auto">
              <a:xfrm>
                <a:off x="409575" y="1985835"/>
                <a:ext cx="2943225" cy="2225675"/>
                <a:chOff x="3138" y="374"/>
                <a:chExt cx="1854" cy="1402"/>
              </a:xfrm>
            </p:grpSpPr>
            <p:sp>
              <p:nvSpPr>
                <p:cNvPr id="137" name="Rectangle 7"/>
                <p:cNvSpPr>
                  <a:spLocks noChangeArrowheads="1"/>
                </p:cNvSpPr>
                <p:nvPr/>
              </p:nvSpPr>
              <p:spPr bwMode="auto">
                <a:xfrm>
                  <a:off x="4464" y="1490"/>
                  <a:ext cx="28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1</a:t>
                  </a:r>
                  <a:endParaRPr lang="en-US" altLang="zh-CN" sz="2000"/>
                </a:p>
              </p:txBody>
            </p:sp>
            <p:sp>
              <p:nvSpPr>
                <p:cNvPr id="138" name="Rectangle 8"/>
                <p:cNvSpPr>
                  <a:spLocks noChangeArrowheads="1"/>
                </p:cNvSpPr>
                <p:nvPr/>
              </p:nvSpPr>
              <p:spPr bwMode="auto">
                <a:xfrm>
                  <a:off x="4464" y="1248"/>
                  <a:ext cx="288"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139" name="Rectangle 9"/>
                <p:cNvSpPr>
                  <a:spLocks noChangeArrowheads="1"/>
                </p:cNvSpPr>
                <p:nvPr/>
              </p:nvSpPr>
              <p:spPr bwMode="auto">
                <a:xfrm>
                  <a:off x="4464" y="100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140" name="Rectangle 10"/>
                <p:cNvSpPr>
                  <a:spLocks noChangeArrowheads="1"/>
                </p:cNvSpPr>
                <p:nvPr/>
              </p:nvSpPr>
              <p:spPr bwMode="auto">
                <a:xfrm>
                  <a:off x="3888" y="1012"/>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sp>
              <p:nvSpPr>
                <p:cNvPr id="141" name="Rectangle 11"/>
                <p:cNvSpPr>
                  <a:spLocks noChangeArrowheads="1"/>
                </p:cNvSpPr>
                <p:nvPr/>
              </p:nvSpPr>
              <p:spPr bwMode="auto">
                <a:xfrm>
                  <a:off x="3888" y="788"/>
                  <a:ext cx="28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sp>
              <p:nvSpPr>
                <p:cNvPr id="142" name="Rectangle 12"/>
                <p:cNvSpPr>
                  <a:spLocks noChangeArrowheads="1"/>
                </p:cNvSpPr>
                <p:nvPr/>
              </p:nvSpPr>
              <p:spPr bwMode="auto">
                <a:xfrm>
                  <a:off x="3888" y="1248"/>
                  <a:ext cx="288"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1</a:t>
                  </a:r>
                  <a:endParaRPr lang="en-US" altLang="zh-CN" sz="2000"/>
                </a:p>
              </p:txBody>
            </p:sp>
            <p:sp>
              <p:nvSpPr>
                <p:cNvPr id="143" name="Rectangle 13"/>
                <p:cNvSpPr>
                  <a:spLocks noChangeArrowheads="1"/>
                </p:cNvSpPr>
                <p:nvPr/>
              </p:nvSpPr>
              <p:spPr bwMode="auto">
                <a:xfrm>
                  <a:off x="3888" y="100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144" name="Rectangle 14"/>
                <p:cNvSpPr>
                  <a:spLocks noChangeArrowheads="1"/>
                </p:cNvSpPr>
                <p:nvPr/>
              </p:nvSpPr>
              <p:spPr bwMode="auto">
                <a:xfrm>
                  <a:off x="3600" y="1516"/>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sp>
              <p:nvSpPr>
                <p:cNvPr id="145" name="Rectangle 15"/>
                <p:cNvSpPr>
                  <a:spLocks noChangeArrowheads="1"/>
                </p:cNvSpPr>
                <p:nvPr/>
              </p:nvSpPr>
              <p:spPr bwMode="auto">
                <a:xfrm>
                  <a:off x="4188" y="1249"/>
                  <a:ext cx="28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sp>
              <p:nvSpPr>
                <p:cNvPr id="146" name="Rectangle 16"/>
                <p:cNvSpPr>
                  <a:spLocks noChangeArrowheads="1"/>
                </p:cNvSpPr>
                <p:nvPr/>
              </p:nvSpPr>
              <p:spPr bwMode="auto">
                <a:xfrm>
                  <a:off x="4464" y="768"/>
                  <a:ext cx="288"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sp>
              <p:nvSpPr>
                <p:cNvPr id="147" name="Rectangle 17"/>
                <p:cNvSpPr>
                  <a:spLocks noChangeArrowheads="1"/>
                </p:cNvSpPr>
                <p:nvPr/>
              </p:nvSpPr>
              <p:spPr bwMode="auto">
                <a:xfrm>
                  <a:off x="4176" y="100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148" name="Rectangle 18"/>
                <p:cNvSpPr>
                  <a:spLocks noChangeArrowheads="1"/>
                </p:cNvSpPr>
                <p:nvPr/>
              </p:nvSpPr>
              <p:spPr bwMode="auto">
                <a:xfrm>
                  <a:off x="4176" y="76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149" name="Rectangle 19"/>
                <p:cNvSpPr>
                  <a:spLocks noChangeArrowheads="1"/>
                </p:cNvSpPr>
                <p:nvPr/>
              </p:nvSpPr>
              <p:spPr bwMode="auto">
                <a:xfrm>
                  <a:off x="3600" y="1490"/>
                  <a:ext cx="28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150" name="Rectangle 20"/>
                <p:cNvSpPr>
                  <a:spLocks noChangeArrowheads="1"/>
                </p:cNvSpPr>
                <p:nvPr/>
              </p:nvSpPr>
              <p:spPr bwMode="auto">
                <a:xfrm>
                  <a:off x="3600" y="1272"/>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sp>
              <p:nvSpPr>
                <p:cNvPr id="151" name="Rectangle 21"/>
                <p:cNvSpPr>
                  <a:spLocks noChangeArrowheads="1"/>
                </p:cNvSpPr>
                <p:nvPr/>
              </p:nvSpPr>
              <p:spPr bwMode="auto">
                <a:xfrm>
                  <a:off x="3600" y="1248"/>
                  <a:ext cx="288"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152" name="Rectangle 22"/>
                <p:cNvSpPr>
                  <a:spLocks noChangeArrowheads="1"/>
                </p:cNvSpPr>
                <p:nvPr/>
              </p:nvSpPr>
              <p:spPr bwMode="auto">
                <a:xfrm>
                  <a:off x="3600" y="76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153" name="Line 23"/>
                <p:cNvSpPr>
                  <a:spLocks noChangeShapeType="1"/>
                </p:cNvSpPr>
                <p:nvPr/>
              </p:nvSpPr>
              <p:spPr bwMode="auto">
                <a:xfrm>
                  <a:off x="3600" y="768"/>
                  <a:ext cx="1152"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 name="Line 24"/>
                <p:cNvSpPr>
                  <a:spLocks noChangeShapeType="1"/>
                </p:cNvSpPr>
                <p:nvPr/>
              </p:nvSpPr>
              <p:spPr bwMode="auto">
                <a:xfrm>
                  <a:off x="3600" y="1776"/>
                  <a:ext cx="1152"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5" name="Line 25"/>
                <p:cNvSpPr>
                  <a:spLocks noChangeShapeType="1"/>
                </p:cNvSpPr>
                <p:nvPr/>
              </p:nvSpPr>
              <p:spPr bwMode="auto">
                <a:xfrm>
                  <a:off x="3600" y="768"/>
                  <a:ext cx="0" cy="1008"/>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6" name="Line 26"/>
                <p:cNvSpPr>
                  <a:spLocks noChangeShapeType="1"/>
                </p:cNvSpPr>
                <p:nvPr/>
              </p:nvSpPr>
              <p:spPr bwMode="auto">
                <a:xfrm>
                  <a:off x="4752" y="768"/>
                  <a:ext cx="0" cy="1008"/>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7" name="Line 27"/>
                <p:cNvSpPr>
                  <a:spLocks noChangeShapeType="1"/>
                </p:cNvSpPr>
                <p:nvPr/>
              </p:nvSpPr>
              <p:spPr bwMode="auto">
                <a:xfrm>
                  <a:off x="3600" y="1248"/>
                  <a:ext cx="115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8" name="Line 28"/>
                <p:cNvSpPr>
                  <a:spLocks noChangeShapeType="1"/>
                </p:cNvSpPr>
                <p:nvPr/>
              </p:nvSpPr>
              <p:spPr bwMode="auto">
                <a:xfrm>
                  <a:off x="3600" y="1008"/>
                  <a:ext cx="115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9" name="Line 29"/>
                <p:cNvSpPr>
                  <a:spLocks noChangeShapeType="1"/>
                </p:cNvSpPr>
                <p:nvPr/>
              </p:nvSpPr>
              <p:spPr bwMode="auto">
                <a:xfrm>
                  <a:off x="3600" y="1490"/>
                  <a:ext cx="115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0" name="Line 30"/>
                <p:cNvSpPr>
                  <a:spLocks noChangeShapeType="1"/>
                </p:cNvSpPr>
                <p:nvPr/>
              </p:nvSpPr>
              <p:spPr bwMode="auto">
                <a:xfrm>
                  <a:off x="4176" y="768"/>
                  <a:ext cx="0" cy="10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1" name="Line 31"/>
                <p:cNvSpPr>
                  <a:spLocks noChangeShapeType="1"/>
                </p:cNvSpPr>
                <p:nvPr/>
              </p:nvSpPr>
              <p:spPr bwMode="auto">
                <a:xfrm>
                  <a:off x="3888" y="768"/>
                  <a:ext cx="0" cy="10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 name="Line 32"/>
                <p:cNvSpPr>
                  <a:spLocks noChangeShapeType="1"/>
                </p:cNvSpPr>
                <p:nvPr/>
              </p:nvSpPr>
              <p:spPr bwMode="auto">
                <a:xfrm>
                  <a:off x="4464" y="768"/>
                  <a:ext cx="0" cy="10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 name="Line 33"/>
                <p:cNvSpPr>
                  <a:spLocks noChangeShapeType="1"/>
                </p:cNvSpPr>
                <p:nvPr/>
              </p:nvSpPr>
              <p:spPr bwMode="auto">
                <a:xfrm>
                  <a:off x="3360" y="528"/>
                  <a:ext cx="240" cy="24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 name="Text Box 34"/>
                <p:cNvSpPr txBox="1">
                  <a:spLocks noChangeArrowheads="1"/>
                </p:cNvSpPr>
                <p:nvPr/>
              </p:nvSpPr>
              <p:spPr bwMode="auto">
                <a:xfrm>
                  <a:off x="3360" y="374"/>
                  <a:ext cx="33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i="1" dirty="0"/>
                    <a:t>CD</a:t>
                  </a:r>
                  <a:endParaRPr lang="en-US" altLang="zh-CN" sz="1800" i="1" dirty="0"/>
                </a:p>
              </p:txBody>
            </p:sp>
            <p:sp>
              <p:nvSpPr>
                <p:cNvPr id="165" name="Text Box 35"/>
                <p:cNvSpPr txBox="1">
                  <a:spLocks noChangeArrowheads="1"/>
                </p:cNvSpPr>
                <p:nvPr/>
              </p:nvSpPr>
              <p:spPr bwMode="auto">
                <a:xfrm>
                  <a:off x="3138" y="607"/>
                  <a:ext cx="38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i="1" dirty="0"/>
                    <a:t>AB</a:t>
                  </a:r>
                  <a:endParaRPr lang="en-US" altLang="zh-CN" sz="1800" i="1" dirty="0"/>
                </a:p>
              </p:txBody>
            </p:sp>
            <p:sp>
              <p:nvSpPr>
                <p:cNvPr id="166" name="Text Box 36"/>
                <p:cNvSpPr txBox="1">
                  <a:spLocks noChangeArrowheads="1"/>
                </p:cNvSpPr>
                <p:nvPr/>
              </p:nvSpPr>
              <p:spPr bwMode="auto">
                <a:xfrm>
                  <a:off x="3360" y="816"/>
                  <a:ext cx="288" cy="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00</a:t>
                  </a:r>
                  <a:endParaRPr lang="en-US" altLang="zh-CN" sz="1600"/>
                </a:p>
                <a:p>
                  <a:pPr>
                    <a:spcBef>
                      <a:spcPct val="50000"/>
                    </a:spcBef>
                  </a:pPr>
                  <a:r>
                    <a:rPr lang="en-US" altLang="zh-CN" sz="1600"/>
                    <a:t>01</a:t>
                  </a:r>
                  <a:endParaRPr lang="en-US" altLang="zh-CN" sz="1600"/>
                </a:p>
                <a:p>
                  <a:pPr>
                    <a:spcBef>
                      <a:spcPct val="50000"/>
                    </a:spcBef>
                  </a:pPr>
                  <a:r>
                    <a:rPr lang="en-US" altLang="zh-CN" sz="1600"/>
                    <a:t>11</a:t>
                  </a:r>
                  <a:endParaRPr lang="en-US" altLang="zh-CN" sz="1600"/>
                </a:p>
                <a:p>
                  <a:pPr>
                    <a:spcBef>
                      <a:spcPct val="50000"/>
                    </a:spcBef>
                  </a:pPr>
                  <a:r>
                    <a:rPr lang="en-US" altLang="zh-CN" sz="1600"/>
                    <a:t>10</a:t>
                  </a:r>
                  <a:endParaRPr lang="en-US" altLang="zh-CN" sz="1600"/>
                </a:p>
              </p:txBody>
            </p:sp>
            <p:sp>
              <p:nvSpPr>
                <p:cNvPr id="167" name="Text Box 37"/>
                <p:cNvSpPr txBox="1">
                  <a:spLocks noChangeArrowheads="1"/>
                </p:cNvSpPr>
                <p:nvPr/>
              </p:nvSpPr>
              <p:spPr bwMode="auto">
                <a:xfrm>
                  <a:off x="3600" y="576"/>
                  <a:ext cx="139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00     01     11     10</a:t>
                  </a:r>
                  <a:endParaRPr lang="en-US" altLang="zh-CN" sz="1600"/>
                </a:p>
              </p:txBody>
            </p:sp>
          </p:grpSp>
          <p:sp>
            <p:nvSpPr>
              <p:cNvPr id="136" name="Rectangle 15"/>
              <p:cNvSpPr>
                <a:spLocks noChangeArrowheads="1"/>
              </p:cNvSpPr>
              <p:nvPr/>
            </p:nvSpPr>
            <p:spPr bwMode="auto">
              <a:xfrm>
                <a:off x="2057400" y="2995485"/>
                <a:ext cx="4572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grpSp>
        <p:grpSp>
          <p:nvGrpSpPr>
            <p:cNvPr id="172" name="组合 171"/>
            <p:cNvGrpSpPr/>
            <p:nvPr/>
          </p:nvGrpSpPr>
          <p:grpSpPr>
            <a:xfrm>
              <a:off x="7162800" y="2398138"/>
              <a:ext cx="1328936" cy="1835154"/>
              <a:chOff x="7162800" y="2398138"/>
              <a:chExt cx="1328936" cy="1835154"/>
            </a:xfrm>
          </p:grpSpPr>
          <p:sp>
            <p:nvSpPr>
              <p:cNvPr id="168" name="圆角矩形 167"/>
              <p:cNvSpPr/>
              <p:nvPr/>
            </p:nvSpPr>
            <p:spPr>
              <a:xfrm>
                <a:off x="7162800" y="2913782"/>
                <a:ext cx="914400" cy="758825"/>
              </a:xfrm>
              <a:prstGeom prst="roundRect">
                <a:avLst/>
              </a:prstGeom>
              <a:solidFill>
                <a:srgbClr val="FFC000">
                  <a:alpha val="3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9" name="圆角矩形 168"/>
              <p:cNvSpPr/>
              <p:nvPr/>
            </p:nvSpPr>
            <p:spPr>
              <a:xfrm>
                <a:off x="7258050" y="2564532"/>
                <a:ext cx="381000" cy="730250"/>
              </a:xfrm>
              <a:prstGeom prst="roundRect">
                <a:avLst/>
              </a:prstGeom>
              <a:solidFill>
                <a:schemeClr val="tx2">
                  <a:lumMod val="40000"/>
                  <a:lumOff val="60000"/>
                  <a:alpha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0" name="AutoShape 51"/>
              <p:cNvSpPr/>
              <p:nvPr/>
            </p:nvSpPr>
            <p:spPr bwMode="auto">
              <a:xfrm rot="5400000">
                <a:off x="8110736" y="3852292"/>
                <a:ext cx="457200" cy="304800"/>
              </a:xfrm>
              <a:prstGeom prst="leftBracket">
                <a:avLst>
                  <a:gd name="adj" fmla="val 8333"/>
                </a:avLst>
              </a:prstGeom>
              <a:solidFill>
                <a:schemeClr val="accent5">
                  <a:lumMod val="20000"/>
                  <a:lumOff val="80000"/>
                  <a:alpha val="35000"/>
                </a:schemeClr>
              </a:solidFill>
              <a:ln w="19050">
                <a:solidFill>
                  <a:srgbClr val="CC3300"/>
                </a:solidFill>
                <a:round/>
              </a:ln>
            </p:spPr>
            <p:txBody>
              <a:bodyPr/>
              <a:lstStyle/>
              <a:p>
                <a:endParaRPr lang="zh-CN" altLang="en-US"/>
              </a:p>
            </p:txBody>
          </p:sp>
          <p:sp>
            <p:nvSpPr>
              <p:cNvPr id="171" name="AutoShape 51"/>
              <p:cNvSpPr/>
              <p:nvPr/>
            </p:nvSpPr>
            <p:spPr bwMode="auto">
              <a:xfrm rot="16006040">
                <a:off x="8104943" y="2474338"/>
                <a:ext cx="457200" cy="304800"/>
              </a:xfrm>
              <a:prstGeom prst="leftBracket">
                <a:avLst>
                  <a:gd name="adj" fmla="val 8333"/>
                </a:avLst>
              </a:prstGeom>
              <a:solidFill>
                <a:schemeClr val="accent5">
                  <a:lumMod val="20000"/>
                  <a:lumOff val="80000"/>
                  <a:alpha val="35000"/>
                </a:schemeClr>
              </a:solidFill>
              <a:ln w="19050">
                <a:solidFill>
                  <a:srgbClr val="CC3300"/>
                </a:solidFill>
                <a:round/>
              </a:ln>
            </p:spPr>
            <p:txBody>
              <a:bodyPr/>
              <a:lstStyle/>
              <a:p>
                <a:endParaRPr lang="zh-CN" altLang="en-US"/>
              </a:p>
            </p:txBody>
          </p:sp>
        </p:grpSp>
      </p:grpSp>
      <p:sp>
        <p:nvSpPr>
          <p:cNvPr id="174" name="圆角矩形 173"/>
          <p:cNvSpPr/>
          <p:nvPr/>
        </p:nvSpPr>
        <p:spPr>
          <a:xfrm>
            <a:off x="6743700" y="3054375"/>
            <a:ext cx="381000" cy="730250"/>
          </a:xfrm>
          <a:prstGeom prst="roundRect">
            <a:avLst/>
          </a:prstGeom>
          <a:solidFill>
            <a:schemeClr val="tx2">
              <a:lumMod val="40000"/>
              <a:lumOff val="60000"/>
              <a:alpha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5" name="矩形 174"/>
          <p:cNvSpPr/>
          <p:nvPr/>
        </p:nvSpPr>
        <p:spPr>
          <a:xfrm>
            <a:off x="279207" y="4164633"/>
            <a:ext cx="2236510" cy="400110"/>
          </a:xfrm>
          <a:prstGeom prst="rect">
            <a:avLst/>
          </a:prstGeom>
        </p:spPr>
        <p:txBody>
          <a:bodyPr wrap="none">
            <a:spAutoFit/>
          </a:bodyPr>
          <a:lstStyle/>
          <a:p>
            <a:r>
              <a:rPr lang="zh-CN" altLang="en-US" sz="2000" dirty="0">
                <a:latin typeface="微软雅黑" panose="020B0503020204020204" pitchFamily="34" charset="-122"/>
                <a:ea typeface="微软雅黑" panose="020B0503020204020204" pitchFamily="34" charset="-122"/>
              </a:rPr>
              <a:t>找出所有质蕴涵项</a:t>
            </a:r>
            <a:endParaRPr lang="en-US" altLang="zh-CN" sz="2000" dirty="0">
              <a:latin typeface="微软雅黑" panose="020B0503020204020204" pitchFamily="34" charset="-122"/>
              <a:ea typeface="微软雅黑" panose="020B0503020204020204" pitchFamily="34" charset="-122"/>
            </a:endParaRPr>
          </a:p>
        </p:txBody>
      </p:sp>
      <p:sp>
        <p:nvSpPr>
          <p:cNvPr id="176" name="矩形 175"/>
          <p:cNvSpPr/>
          <p:nvPr/>
        </p:nvSpPr>
        <p:spPr>
          <a:xfrm>
            <a:off x="3185854" y="4223404"/>
            <a:ext cx="2749471" cy="400110"/>
          </a:xfrm>
          <a:prstGeom prst="rect">
            <a:avLst/>
          </a:prstGeom>
        </p:spPr>
        <p:txBody>
          <a:bodyPr wrap="none">
            <a:spAutoFit/>
          </a:bodyPr>
          <a:lstStyle/>
          <a:p>
            <a:r>
              <a:rPr lang="zh-CN" altLang="en-US" sz="2000" dirty="0">
                <a:latin typeface="微软雅黑" panose="020B0503020204020204" pitchFamily="34" charset="-122"/>
                <a:ea typeface="微软雅黑" panose="020B0503020204020204" pitchFamily="34" charset="-122"/>
              </a:rPr>
              <a:t>选择所有的实质蕴涵项</a:t>
            </a:r>
            <a:endParaRPr lang="en-US" altLang="zh-CN" sz="2000" dirty="0">
              <a:latin typeface="微软雅黑" panose="020B0503020204020204" pitchFamily="34" charset="-122"/>
              <a:ea typeface="微软雅黑" panose="020B0503020204020204" pitchFamily="34" charset="-122"/>
            </a:endParaRPr>
          </a:p>
        </p:txBody>
      </p:sp>
      <p:sp>
        <p:nvSpPr>
          <p:cNvPr id="177" name="矩形 176"/>
          <p:cNvSpPr/>
          <p:nvPr/>
        </p:nvSpPr>
        <p:spPr>
          <a:xfrm>
            <a:off x="6371303" y="4223404"/>
            <a:ext cx="2492990" cy="400110"/>
          </a:xfrm>
          <a:prstGeom prst="rect">
            <a:avLst/>
          </a:prstGeom>
        </p:spPr>
        <p:txBody>
          <a:bodyPr wrap="none">
            <a:spAutoFit/>
          </a:bodyPr>
          <a:lstStyle/>
          <a:p>
            <a:r>
              <a:rPr lang="zh-CN" altLang="en-US" sz="2000" dirty="0">
                <a:latin typeface="微软雅黑" panose="020B0503020204020204" pitchFamily="34" charset="-122"/>
                <a:ea typeface="微软雅黑" panose="020B0503020204020204" pitchFamily="34" charset="-122"/>
              </a:rPr>
              <a:t>选择最小的覆盖子集</a:t>
            </a:r>
            <a:endParaRPr lang="zh-CN" altLang="en-US" sz="2000" dirty="0">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31" name="矩形 130"/>
              <p:cNvSpPr/>
              <p:nvPr/>
            </p:nvSpPr>
            <p:spPr>
              <a:xfrm>
                <a:off x="43841" y="4588661"/>
                <a:ext cx="3026173" cy="1202637"/>
              </a:xfrm>
              <a:prstGeom prst="rect">
                <a:avLst/>
              </a:prstGeom>
            </p:spPr>
            <p:txBody>
              <a:bodyPr wrap="square">
                <a:spAutoFit/>
              </a:bodyPr>
              <a:lstStyle/>
              <a:p>
                <a:r>
                  <a:rPr lang="en-US" altLang="zh-CN" sz="2400" dirty="0">
                    <a:latin typeface="Arial Narrow" panose="020B0606020202030204" pitchFamily="34" charset="0"/>
                  </a:rPr>
                  <a:t>B</a:t>
                </a:r>
                <a:r>
                  <a:rPr lang="en-US" altLang="zh-CN" sz="2400" dirty="0">
                    <a:latin typeface="Arial Narrow" panose="020B0606020202030204" pitchFamily="34" charset="0"/>
                    <a:ea typeface="Cambria Math" panose="02040503050406030204" pitchFamily="18" charset="0"/>
                  </a:rPr>
                  <a:t> </a:t>
                </a:r>
                <a14:m>
                  <m:oMath xmlns:m="http://schemas.openxmlformats.org/officeDocument/2006/math">
                    <m:r>
                      <a:rPr lang="en-US" altLang="zh-CN" sz="2400" i="1">
                        <a:latin typeface="Cambria Math" panose="02040503050406030204" pitchFamily="18" charset="0"/>
                        <a:ea typeface="Cambria Math" panose="02040503050406030204" pitchFamily="18" charset="0"/>
                      </a:rPr>
                      <m:t>∙</m:t>
                    </m:r>
                  </m:oMath>
                </a14:m>
                <a:r>
                  <a:rPr lang="en-US" altLang="zh-CN" sz="2400" dirty="0">
                    <a:latin typeface="Arial Narrow" panose="020B0606020202030204" pitchFamily="34" charset="0"/>
                  </a:rPr>
                  <a:t>D,</a:t>
                </a:r>
                <a14:m>
                  <m:oMath xmlns:m="http://schemas.openxmlformats.org/officeDocument/2006/math">
                    <m:acc>
                      <m:accPr>
                        <m:chr m:val="̅"/>
                        <m:ctrlPr>
                          <a:rPr lang="en-US" altLang="zh-CN" sz="2400" i="1">
                            <a:latin typeface="Cambria Math" panose="02040503050406030204" pitchFamily="18" charset="0"/>
                          </a:rPr>
                        </m:ctrlPr>
                      </m:accPr>
                      <m:e>
                        <m:r>
                          <a:rPr lang="en-US" altLang="zh-CN" sz="2400" b="1" i="1" smtClean="0">
                            <a:latin typeface="Cambria Math" panose="02040503050406030204" pitchFamily="18" charset="0"/>
                          </a:rPr>
                          <m:t> </m:t>
                        </m:r>
                        <m:r>
                          <a:rPr lang="en-US" altLang="zh-CN" sz="2400" i="1">
                            <a:latin typeface="Cambria Math" panose="02040503050406030204" pitchFamily="18" charset="0"/>
                          </a:rPr>
                          <m:t>𝐴</m:t>
                        </m:r>
                      </m:e>
                    </m:acc>
                    <m:r>
                      <a:rPr lang="en-US" altLang="zh-CN" sz="2400" i="1">
                        <a:latin typeface="Cambria Math" panose="02040503050406030204" pitchFamily="18" charset="0"/>
                        <a:ea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b="0" i="1" smtClean="0">
                            <a:latin typeface="Cambria Math" panose="02040503050406030204" pitchFamily="18" charset="0"/>
                          </a:rPr>
                          <m:t>𝐶</m:t>
                        </m:r>
                      </m:e>
                    </m:acc>
                  </m:oMath>
                </a14:m>
                <a:r>
                  <a:rPr lang="en-US" altLang="zh-CN" sz="2400" dirty="0">
                    <a:latin typeface="Arial Narrow" panose="020B0606020202030204" pitchFamily="34" charset="0"/>
                    <a:ea typeface="Cambria Math" panose="02040503050406030204" pitchFamily="18" charset="0"/>
                  </a:rPr>
                  <a:t> </a:t>
                </a:r>
                <a14:m>
                  <m:oMath xmlns:m="http://schemas.openxmlformats.org/officeDocument/2006/math">
                    <m:r>
                      <a:rPr lang="en-US" altLang="zh-CN" sz="2400" i="1">
                        <a:latin typeface="Cambria Math" panose="02040503050406030204" pitchFamily="18" charset="0"/>
                        <a:ea typeface="Cambria Math" panose="02040503050406030204" pitchFamily="18" charset="0"/>
                      </a:rPr>
                      <m:t>∙ </m:t>
                    </m:r>
                  </m:oMath>
                </a14:m>
                <a:r>
                  <a:rPr lang="en-US" altLang="zh-CN" sz="2400" dirty="0">
                    <a:latin typeface="Arial Narrow" panose="020B0606020202030204" pitchFamily="34" charset="0"/>
                  </a:rPr>
                  <a:t>D, </a:t>
                </a:r>
                <a14:m>
                  <m:oMath xmlns:m="http://schemas.openxmlformats.org/officeDocument/2006/math">
                    <m:acc>
                      <m:accPr>
                        <m:chr m:val="̅"/>
                        <m:ctrlPr>
                          <a:rPr lang="en-US" altLang="zh-CN" sz="2400" i="1">
                            <a:latin typeface="Cambria Math" panose="02040503050406030204" pitchFamily="18" charset="0"/>
                          </a:rPr>
                        </m:ctrlPr>
                      </m:accPr>
                      <m:e>
                        <m:r>
                          <a:rPr lang="en-US" altLang="zh-CN" sz="2400" b="0" i="1" smtClean="0">
                            <a:latin typeface="Cambria Math" panose="02040503050406030204" pitchFamily="18" charset="0"/>
                          </a:rPr>
                          <m:t>𝐵</m:t>
                        </m:r>
                      </m:e>
                    </m:acc>
                    <m:r>
                      <a:rPr lang="en-US" altLang="zh-CN" sz="2400" i="1">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rPr>
                      <m:t>𝐶</m:t>
                    </m:r>
                    <m:r>
                      <a:rPr lang="en-US" altLang="zh-CN" sz="2400" i="1">
                        <a:latin typeface="Cambria Math" panose="02040503050406030204" pitchFamily="18" charset="0"/>
                        <a:ea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b="0" i="1" smtClean="0">
                            <a:latin typeface="Cambria Math" panose="02040503050406030204" pitchFamily="18" charset="0"/>
                          </a:rPr>
                          <m:t>𝐷</m:t>
                        </m:r>
                      </m:e>
                    </m:acc>
                  </m:oMath>
                </a14:m>
                <a:r>
                  <a:rPr lang="en-US" altLang="zh-CN" sz="2400" dirty="0">
                    <a:latin typeface="Arial Narrow" panose="020B0606020202030204" pitchFamily="34" charset="0"/>
                  </a:rPr>
                  <a:t>,</a:t>
                </a:r>
                <a14:m>
                  <m:oMath xmlns:m="http://schemas.openxmlformats.org/officeDocument/2006/math">
                    <m:r>
                      <a:rPr lang="en-US" altLang="zh-CN" sz="2400" b="1" i="0" smtClean="0">
                        <a:latin typeface="Cambria Math" panose="02040503050406030204" pitchFamily="18" charset="0"/>
                      </a:rPr>
                      <m:t> </m:t>
                    </m:r>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𝐴</m:t>
                    </m:r>
                    <m:r>
                      <a:rPr lang="en-US" altLang="zh-CN" sz="2400" i="1">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rPr>
                      <m:t>𝐵</m:t>
                    </m:r>
                    <m:r>
                      <a:rPr lang="en-US" altLang="zh-CN" sz="2400" i="1">
                        <a:latin typeface="Cambria Math" panose="02040503050406030204" pitchFamily="18" charset="0"/>
                        <a:ea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𝐶</m:t>
                        </m:r>
                      </m:e>
                    </m:acc>
                  </m:oMath>
                </a14:m>
                <a:r>
                  <a:rPr lang="en-US" altLang="zh-CN" sz="2400" dirty="0">
                    <a:latin typeface="Arial Narrow" panose="020B0606020202030204" pitchFamily="34" charset="0"/>
                  </a:rPr>
                  <a:t>, </a:t>
                </a:r>
                <a14:m>
                  <m:oMath xmlns:m="http://schemas.openxmlformats.org/officeDocument/2006/math">
                    <m:r>
                      <a:rPr lang="en-US" altLang="zh-CN" sz="2400" b="0" i="1" smtClean="0">
                        <a:latin typeface="Cambria Math" panose="02040503050406030204" pitchFamily="18" charset="0"/>
                      </a:rPr>
                      <m:t>𝐴</m:t>
                    </m:r>
                    <m:r>
                      <a:rPr lang="en-US" altLang="zh-CN" sz="2400" i="1">
                        <a:latin typeface="Cambria Math" panose="02040503050406030204" pitchFamily="18" charset="0"/>
                        <a:ea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b="0" i="1" smtClean="0">
                            <a:latin typeface="Cambria Math" panose="02040503050406030204" pitchFamily="18" charset="0"/>
                          </a:rPr>
                          <m:t>𝐵</m:t>
                        </m:r>
                      </m:e>
                    </m:acc>
                    <m:r>
                      <a:rPr lang="en-US" altLang="zh-CN" sz="2400" i="1">
                        <a:latin typeface="Cambria Math" panose="02040503050406030204" pitchFamily="18" charset="0"/>
                        <a:ea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b="0" i="1" smtClean="0">
                            <a:latin typeface="Cambria Math" panose="02040503050406030204" pitchFamily="18" charset="0"/>
                          </a:rPr>
                          <m:t>𝐷</m:t>
                        </m:r>
                      </m:e>
                    </m:acc>
                  </m:oMath>
                </a14:m>
                <a:r>
                  <a:rPr lang="en-US" altLang="zh-CN" sz="2400" dirty="0">
                    <a:latin typeface="Arial Narrow" panose="020B0606020202030204" pitchFamily="34" charset="0"/>
                  </a:rPr>
                  <a:t>, A</a:t>
                </a:r>
                <a:r>
                  <a:rPr lang="en-US" altLang="zh-CN" sz="2400" dirty="0">
                    <a:latin typeface="Arial Narrow" panose="020B0606020202030204" pitchFamily="34" charset="0"/>
                    <a:ea typeface="Cambria Math" panose="02040503050406030204" pitchFamily="18" charset="0"/>
                  </a:rPr>
                  <a:t> </a:t>
                </a:r>
                <a14:m>
                  <m:oMath xmlns:m="http://schemas.openxmlformats.org/officeDocument/2006/math">
                    <m:r>
                      <a:rPr lang="en-US" altLang="zh-CN" sz="2400" i="1">
                        <a:latin typeface="Cambria Math" panose="02040503050406030204" pitchFamily="18" charset="0"/>
                        <a:ea typeface="Cambria Math" panose="02040503050406030204" pitchFamily="18" charset="0"/>
                      </a:rPr>
                      <m:t>∙ </m:t>
                    </m:r>
                    <m:acc>
                      <m:accPr>
                        <m:chr m:val="̅"/>
                        <m:ctrlPr>
                          <a:rPr lang="en-US" altLang="zh-CN" sz="2400" i="1">
                            <a:latin typeface="Cambria Math" panose="02040503050406030204" pitchFamily="18" charset="0"/>
                          </a:rPr>
                        </m:ctrlPr>
                      </m:accPr>
                      <m:e>
                        <m:r>
                          <a:rPr lang="en-US" altLang="zh-CN" sz="2400" b="0" i="1" smtClean="0">
                            <a:latin typeface="Cambria Math" panose="02040503050406030204" pitchFamily="18" charset="0"/>
                          </a:rPr>
                          <m:t>𝐶</m:t>
                        </m:r>
                      </m:e>
                    </m:acc>
                    <m:r>
                      <a:rPr lang="en-US" altLang="zh-CN" sz="2400" i="1">
                        <a:latin typeface="Cambria Math" panose="02040503050406030204" pitchFamily="18" charset="0"/>
                        <a:ea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b="0" i="1" smtClean="0">
                            <a:latin typeface="Cambria Math" panose="02040503050406030204" pitchFamily="18" charset="0"/>
                          </a:rPr>
                          <m:t>𝐷</m:t>
                        </m:r>
                      </m:e>
                    </m:acc>
                  </m:oMath>
                </a14:m>
                <a:endParaRPr lang="en-US" altLang="zh-CN" sz="2400" dirty="0">
                  <a:latin typeface="Arial Narrow" panose="020B0606020202030204" pitchFamily="34" charset="0"/>
                </a:endParaRPr>
              </a:p>
            </p:txBody>
          </p:sp>
        </mc:Choice>
        <mc:Fallback>
          <p:sp>
            <p:nvSpPr>
              <p:cNvPr id="131" name="矩形 130"/>
              <p:cNvSpPr>
                <a:spLocks noRot="1" noChangeAspect="1" noMove="1" noResize="1" noEditPoints="1" noAdjustHandles="1" noChangeArrowheads="1" noChangeShapeType="1" noTextEdit="1"/>
              </p:cNvSpPr>
              <p:nvPr/>
            </p:nvSpPr>
            <p:spPr>
              <a:xfrm>
                <a:off x="43841" y="4588661"/>
                <a:ext cx="3026173" cy="1202637"/>
              </a:xfrm>
              <a:prstGeom prst="rect">
                <a:avLst/>
              </a:prstGeom>
              <a:blipFill rotWithShape="1">
                <a:blip r:embed="rId1"/>
                <a:stretch>
                  <a:fillRect l="-1" t="-13" r="14" b="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8" name="矩形 177"/>
              <p:cNvSpPr/>
              <p:nvPr/>
            </p:nvSpPr>
            <p:spPr>
              <a:xfrm>
                <a:off x="3703487" y="4623514"/>
                <a:ext cx="2121116" cy="831766"/>
              </a:xfrm>
              <a:prstGeom prst="rect">
                <a:avLst/>
              </a:prstGeom>
            </p:spPr>
            <p:txBody>
              <a:bodyPr wrap="square">
                <a:spAutoFit/>
              </a:bodyPr>
              <a:lstStyle/>
              <a:p>
                <a:r>
                  <a:rPr lang="en-US" altLang="zh-CN" sz="2400" dirty="0">
                    <a:latin typeface="Arial Narrow" panose="020B0606020202030204" pitchFamily="34" charset="0"/>
                  </a:rPr>
                  <a:t>B</a:t>
                </a:r>
                <a:r>
                  <a:rPr lang="en-US" altLang="zh-CN" sz="2400" dirty="0">
                    <a:latin typeface="Arial Narrow" panose="020B0606020202030204" pitchFamily="34" charset="0"/>
                    <a:ea typeface="Cambria Math" panose="02040503050406030204" pitchFamily="18" charset="0"/>
                  </a:rPr>
                  <a:t> </a:t>
                </a:r>
                <a14:m>
                  <m:oMath xmlns:m="http://schemas.openxmlformats.org/officeDocument/2006/math">
                    <m:r>
                      <a:rPr lang="en-US" altLang="zh-CN" sz="2400" i="1">
                        <a:latin typeface="Cambria Math" panose="02040503050406030204" pitchFamily="18" charset="0"/>
                        <a:ea typeface="Cambria Math" panose="02040503050406030204" pitchFamily="18" charset="0"/>
                      </a:rPr>
                      <m:t>∙ </m:t>
                    </m:r>
                  </m:oMath>
                </a14:m>
                <a:r>
                  <a:rPr lang="en-US" altLang="zh-CN" sz="2400" dirty="0">
                    <a:latin typeface="Arial Narrow" panose="020B0606020202030204" pitchFamily="34" charset="0"/>
                  </a:rPr>
                  <a:t>D + </a:t>
                </a:r>
                <a14:m>
                  <m:oMath xmlns:m="http://schemas.openxmlformats.org/officeDocument/2006/math">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𝐴</m:t>
                        </m:r>
                      </m:e>
                    </m:acc>
                    <m:r>
                      <a:rPr lang="en-US" altLang="zh-CN" sz="2400" i="1">
                        <a:latin typeface="Cambria Math" panose="02040503050406030204" pitchFamily="18" charset="0"/>
                        <a:ea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b="0" i="1" smtClean="0">
                            <a:latin typeface="Cambria Math" panose="02040503050406030204" pitchFamily="18" charset="0"/>
                          </a:rPr>
                          <m:t>𝐶</m:t>
                        </m:r>
                      </m:e>
                    </m:acc>
                  </m:oMath>
                </a14:m>
                <a:r>
                  <a:rPr lang="en-US" altLang="zh-CN" sz="2400" dirty="0">
                    <a:latin typeface="Arial Narrow" panose="020B0606020202030204" pitchFamily="34" charset="0"/>
                    <a:ea typeface="Cambria Math" panose="02040503050406030204" pitchFamily="18" charset="0"/>
                  </a:rPr>
                  <a:t> </a:t>
                </a:r>
                <a14:m>
                  <m:oMath xmlns:m="http://schemas.openxmlformats.org/officeDocument/2006/math">
                    <m:r>
                      <a:rPr lang="en-US" altLang="zh-CN" sz="2400" i="1">
                        <a:latin typeface="Cambria Math" panose="02040503050406030204" pitchFamily="18" charset="0"/>
                        <a:ea typeface="Cambria Math" panose="02040503050406030204" pitchFamily="18" charset="0"/>
                      </a:rPr>
                      <m:t>∙ </m:t>
                    </m:r>
                  </m:oMath>
                </a14:m>
                <a:r>
                  <a:rPr lang="en-US" altLang="zh-CN" sz="2400" dirty="0">
                    <a:latin typeface="Arial Narrow" panose="020B0606020202030204" pitchFamily="34" charset="0"/>
                  </a:rPr>
                  <a:t>D</a:t>
                </a:r>
                <a:endParaRPr lang="en-US" altLang="zh-CN" sz="2400" dirty="0">
                  <a:latin typeface="Arial Narrow" panose="020B0606020202030204" pitchFamily="34" charset="0"/>
                </a:endParaRPr>
              </a:p>
              <a:p>
                <a:r>
                  <a:rPr lang="en-US" altLang="zh-CN" sz="2400" dirty="0">
                    <a:latin typeface="Arial Narrow" panose="020B0606020202030204" pitchFamily="34" charset="0"/>
                  </a:rPr>
                  <a:t>+</a:t>
                </a:r>
                <a14:m>
                  <m:oMath xmlns:m="http://schemas.openxmlformats.org/officeDocument/2006/math">
                    <m:acc>
                      <m:accPr>
                        <m:chr m:val="̅"/>
                        <m:ctrlPr>
                          <a:rPr lang="en-US" altLang="zh-CN" sz="2400" i="1">
                            <a:latin typeface="Cambria Math" panose="02040503050406030204" pitchFamily="18" charset="0"/>
                          </a:rPr>
                        </m:ctrlPr>
                      </m:accPr>
                      <m:e>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𝐵</m:t>
                        </m:r>
                      </m:e>
                    </m:acc>
                    <m:r>
                      <a:rPr lang="en-US" altLang="zh-CN" sz="2400" i="1">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rPr>
                      <m:t>𝐶</m:t>
                    </m:r>
                    <m:r>
                      <a:rPr lang="en-US" altLang="zh-CN" sz="2400" i="1">
                        <a:latin typeface="Cambria Math" panose="02040503050406030204" pitchFamily="18" charset="0"/>
                        <a:ea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b="0" i="1" smtClean="0">
                            <a:latin typeface="Cambria Math" panose="02040503050406030204" pitchFamily="18" charset="0"/>
                          </a:rPr>
                          <m:t>𝐷</m:t>
                        </m:r>
                      </m:e>
                    </m:acc>
                  </m:oMath>
                </a14:m>
                <a:endParaRPr lang="en-US" altLang="zh-CN" sz="2400" dirty="0">
                  <a:latin typeface="Arial Narrow" panose="020B0606020202030204" pitchFamily="34" charset="0"/>
                </a:endParaRPr>
              </a:p>
            </p:txBody>
          </p:sp>
        </mc:Choice>
        <mc:Fallback>
          <p:sp>
            <p:nvSpPr>
              <p:cNvPr id="178" name="矩形 177"/>
              <p:cNvSpPr>
                <a:spLocks noRot="1" noChangeAspect="1" noMove="1" noResize="1" noEditPoints="1" noAdjustHandles="1" noChangeArrowheads="1" noChangeShapeType="1" noTextEdit="1"/>
              </p:cNvSpPr>
              <p:nvPr/>
            </p:nvSpPr>
            <p:spPr>
              <a:xfrm>
                <a:off x="3703487" y="4623514"/>
                <a:ext cx="2121116" cy="831766"/>
              </a:xfrm>
              <a:prstGeom prst="rect">
                <a:avLst/>
              </a:prstGeom>
              <a:blipFill rotWithShape="1">
                <a:blip r:embed="rId2"/>
                <a:stretch>
                  <a:fillRect l="-8" t="-9" r="18" b="-3939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9" name="矩形 178"/>
              <p:cNvSpPr/>
              <p:nvPr/>
            </p:nvSpPr>
            <p:spPr>
              <a:xfrm>
                <a:off x="6433202" y="4677428"/>
                <a:ext cx="2544097" cy="832536"/>
              </a:xfrm>
              <a:prstGeom prst="rect">
                <a:avLst/>
              </a:prstGeom>
            </p:spPr>
            <p:txBody>
              <a:bodyPr wrap="square">
                <a:spAutoFit/>
              </a:bodyPr>
              <a:lstStyle/>
              <a:p>
                <a14:m>
                  <m:oMath xmlns:m="http://schemas.openxmlformats.org/officeDocument/2006/math">
                    <m:r>
                      <a:rPr lang="en-US" altLang="zh-CN" sz="2400" b="0" i="1" smtClean="0">
                        <a:latin typeface="Cambria Math" panose="02040503050406030204" pitchFamily="18" charset="0"/>
                      </a:rPr>
                      <m:t>𝐴</m:t>
                    </m:r>
                    <m:r>
                      <a:rPr lang="en-US" altLang="zh-CN" sz="2400" i="1">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rPr>
                      <m:t>𝐵</m:t>
                    </m:r>
                    <m:r>
                      <a:rPr lang="en-US" altLang="zh-CN" sz="2400" i="1">
                        <a:latin typeface="Cambria Math" panose="02040503050406030204" pitchFamily="18" charset="0"/>
                        <a:ea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𝐶</m:t>
                        </m:r>
                      </m:e>
                    </m:acc>
                  </m:oMath>
                </a14:m>
                <a:r>
                  <a:rPr lang="en-US" altLang="zh-CN" sz="2400" dirty="0">
                    <a:latin typeface="Arial Narrow" panose="020B0606020202030204" pitchFamily="34" charset="0"/>
                  </a:rPr>
                  <a:t>,</a:t>
                </a:r>
                <a14:m>
                  <m:oMath xmlns:m="http://schemas.openxmlformats.org/officeDocument/2006/math">
                    <m:r>
                      <a:rPr lang="en-US" altLang="zh-CN" sz="2400" b="1" i="0" smtClean="0">
                        <a:latin typeface="Cambria Math" panose="02040503050406030204" pitchFamily="18" charset="0"/>
                      </a:rPr>
                      <m:t>   </m:t>
                    </m:r>
                    <m:r>
                      <a:rPr lang="en-US" altLang="zh-CN" sz="2400" b="0" i="1" smtClean="0">
                        <a:latin typeface="Cambria Math" panose="02040503050406030204" pitchFamily="18" charset="0"/>
                      </a:rPr>
                      <m:t>𝐴</m:t>
                    </m:r>
                    <m:r>
                      <a:rPr lang="en-US" altLang="zh-CN" sz="2400" i="1">
                        <a:latin typeface="Cambria Math" panose="02040503050406030204" pitchFamily="18" charset="0"/>
                        <a:ea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b="0" i="1" smtClean="0">
                            <a:latin typeface="Cambria Math" panose="02040503050406030204" pitchFamily="18" charset="0"/>
                          </a:rPr>
                          <m:t>𝐵</m:t>
                        </m:r>
                      </m:e>
                    </m:acc>
                    <m:r>
                      <a:rPr lang="en-US" altLang="zh-CN" sz="2400" i="1">
                        <a:latin typeface="Cambria Math" panose="02040503050406030204" pitchFamily="18" charset="0"/>
                        <a:ea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b="0" i="1" smtClean="0">
                            <a:latin typeface="Cambria Math" panose="02040503050406030204" pitchFamily="18" charset="0"/>
                          </a:rPr>
                          <m:t>𝐷</m:t>
                        </m:r>
                      </m:e>
                    </m:acc>
                  </m:oMath>
                </a14:m>
                <a:r>
                  <a:rPr lang="en-US" altLang="zh-CN" sz="2400" dirty="0">
                    <a:latin typeface="Arial Narrow" panose="020B0606020202030204" pitchFamily="34" charset="0"/>
                  </a:rPr>
                  <a:t>, A</a:t>
                </a:r>
                <a:r>
                  <a:rPr lang="en-US" altLang="zh-CN" sz="2400" dirty="0">
                    <a:latin typeface="Arial Narrow" panose="020B0606020202030204" pitchFamily="34" charset="0"/>
                    <a:ea typeface="Cambria Math" panose="02040503050406030204" pitchFamily="18" charset="0"/>
                  </a:rPr>
                  <a:t> </a:t>
                </a:r>
                <a14:m>
                  <m:oMath xmlns:m="http://schemas.openxmlformats.org/officeDocument/2006/math">
                    <m:r>
                      <a:rPr lang="en-US" altLang="zh-CN" sz="2400" i="1">
                        <a:latin typeface="Cambria Math" panose="02040503050406030204" pitchFamily="18" charset="0"/>
                        <a:ea typeface="Cambria Math" panose="02040503050406030204" pitchFamily="18" charset="0"/>
                      </a:rPr>
                      <m:t>∙ </m:t>
                    </m:r>
                    <m:acc>
                      <m:accPr>
                        <m:chr m:val="̅"/>
                        <m:ctrlPr>
                          <a:rPr lang="en-US" altLang="zh-CN" sz="2400" i="1">
                            <a:latin typeface="Cambria Math" panose="02040503050406030204" pitchFamily="18" charset="0"/>
                          </a:rPr>
                        </m:ctrlPr>
                      </m:accPr>
                      <m:e>
                        <m:r>
                          <a:rPr lang="en-US" altLang="zh-CN" sz="2400" b="0" i="1" smtClean="0">
                            <a:latin typeface="Cambria Math" panose="02040503050406030204" pitchFamily="18" charset="0"/>
                          </a:rPr>
                          <m:t>𝐶</m:t>
                        </m:r>
                      </m:e>
                    </m:acc>
                    <m:r>
                      <a:rPr lang="en-US" altLang="zh-CN" sz="2400" i="1">
                        <a:latin typeface="Cambria Math" panose="02040503050406030204" pitchFamily="18" charset="0"/>
                        <a:ea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b="0" i="1" smtClean="0">
                            <a:latin typeface="Cambria Math" panose="02040503050406030204" pitchFamily="18" charset="0"/>
                          </a:rPr>
                          <m:t>𝐷</m:t>
                        </m:r>
                      </m:e>
                    </m:acc>
                  </m:oMath>
                </a14:m>
                <a:endParaRPr lang="en-US" altLang="zh-CN" sz="2400" dirty="0">
                  <a:latin typeface="Arial Narrow" panose="020B0606020202030204" pitchFamily="34" charset="0"/>
                </a:endParaRPr>
              </a:p>
            </p:txBody>
          </p:sp>
        </mc:Choice>
        <mc:Fallback>
          <p:sp>
            <p:nvSpPr>
              <p:cNvPr id="179" name="矩形 178"/>
              <p:cNvSpPr>
                <a:spLocks noRot="1" noChangeAspect="1" noMove="1" noResize="1" noEditPoints="1" noAdjustHandles="1" noChangeArrowheads="1" noChangeShapeType="1" noTextEdit="1"/>
              </p:cNvSpPr>
              <p:nvPr/>
            </p:nvSpPr>
            <p:spPr>
              <a:xfrm>
                <a:off x="6433202" y="4677428"/>
                <a:ext cx="2544097" cy="832536"/>
              </a:xfrm>
              <a:prstGeom prst="rect">
                <a:avLst/>
              </a:prstGeom>
              <a:blipFill rotWithShape="1">
                <a:blip r:embed="rId3"/>
                <a:stretch>
                  <a:fillRect l="-1" t="-2" r="12" b="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0" name="矩形 179"/>
              <p:cNvSpPr/>
              <p:nvPr/>
            </p:nvSpPr>
            <p:spPr>
              <a:xfrm>
                <a:off x="1289516" y="5905139"/>
                <a:ext cx="6542146" cy="462434"/>
              </a:xfrm>
              <a:prstGeom prst="rect">
                <a:avLst/>
              </a:prstGeom>
            </p:spPr>
            <p:txBody>
              <a:bodyPr wrap="square">
                <a:spAutoFit/>
              </a:bodyPr>
              <a:lstStyle/>
              <a:p>
                <a:r>
                  <a:rPr lang="en-US" altLang="zh-CN" sz="2400" dirty="0"/>
                  <a:t>F(A,B,C,D)=B</a:t>
                </a:r>
                <a:r>
                  <a:rPr lang="en-US" altLang="zh-CN" sz="2400" dirty="0">
                    <a:ea typeface="Cambria Math" panose="02040503050406030204" pitchFamily="18" charset="0"/>
                  </a:rPr>
                  <a:t> </a:t>
                </a:r>
                <a14:m>
                  <m:oMath xmlns:m="http://schemas.openxmlformats.org/officeDocument/2006/math">
                    <m:r>
                      <a:rPr lang="en-US" altLang="zh-CN" sz="2400" b="1" i="0">
                        <a:latin typeface="Cambria Math" panose="02040503050406030204" pitchFamily="18" charset="0"/>
                        <a:ea typeface="Cambria Math" panose="02040503050406030204" pitchFamily="18" charset="0"/>
                      </a:rPr>
                      <m:t>∙ </m:t>
                    </m:r>
                  </m:oMath>
                </a14:m>
                <a:r>
                  <a:rPr lang="en-US" altLang="zh-CN" sz="2400" dirty="0"/>
                  <a:t>D+</a:t>
                </a:r>
                <a14:m>
                  <m:oMath xmlns:m="http://schemas.openxmlformats.org/officeDocument/2006/math">
                    <m:acc>
                      <m:accPr>
                        <m:chr m:val="̅"/>
                        <m:ctrlPr>
                          <a:rPr lang="en-US" altLang="zh-CN" sz="2400" i="1">
                            <a:latin typeface="Cambria Math" panose="02040503050406030204" pitchFamily="18" charset="0"/>
                          </a:rPr>
                        </m:ctrlPr>
                      </m:accPr>
                      <m:e>
                        <m:r>
                          <a:rPr lang="en-US" altLang="zh-CN" sz="2400" b="1" i="0">
                            <a:latin typeface="Cambria Math" panose="02040503050406030204" pitchFamily="18" charset="0"/>
                          </a:rPr>
                          <m:t>𝐀</m:t>
                        </m:r>
                      </m:e>
                    </m:acc>
                    <m:r>
                      <a:rPr lang="en-US" altLang="zh-CN" sz="2400" b="1" i="0">
                        <a:latin typeface="Cambria Math" panose="02040503050406030204" pitchFamily="18" charset="0"/>
                        <a:ea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b="1" i="0" smtClean="0">
                            <a:latin typeface="Cambria Math" panose="02040503050406030204" pitchFamily="18" charset="0"/>
                          </a:rPr>
                          <m:t>𝐂</m:t>
                        </m:r>
                      </m:e>
                    </m:acc>
                    <m:r>
                      <a:rPr lang="en-US" altLang="zh-CN" sz="2400" b="1" i="0">
                        <a:latin typeface="Cambria Math" panose="02040503050406030204" pitchFamily="18" charset="0"/>
                        <a:ea typeface="Cambria Math" panose="02040503050406030204" pitchFamily="18" charset="0"/>
                      </a:rPr>
                      <m:t>∙</m:t>
                    </m:r>
                  </m:oMath>
                </a14:m>
                <a:r>
                  <a:rPr lang="en-US" altLang="zh-CN" sz="2400" dirty="0"/>
                  <a:t>D+</a:t>
                </a:r>
                <a14:m>
                  <m:oMath xmlns:m="http://schemas.openxmlformats.org/officeDocument/2006/math">
                    <m:acc>
                      <m:accPr>
                        <m:chr m:val="̅"/>
                        <m:ctrlPr>
                          <a:rPr lang="en-US" altLang="zh-CN" sz="2400" i="1">
                            <a:latin typeface="Cambria Math" panose="02040503050406030204" pitchFamily="18" charset="0"/>
                          </a:rPr>
                        </m:ctrlPr>
                      </m:accPr>
                      <m:e>
                        <m:r>
                          <a:rPr lang="en-US" altLang="zh-CN" sz="2400" b="1" i="0" smtClean="0">
                            <a:latin typeface="Cambria Math" panose="02040503050406030204" pitchFamily="18" charset="0"/>
                          </a:rPr>
                          <m:t>𝐁</m:t>
                        </m:r>
                      </m:e>
                    </m:acc>
                    <m:r>
                      <a:rPr lang="en-US" altLang="zh-CN" sz="2400" b="1" i="0">
                        <a:latin typeface="Cambria Math" panose="02040503050406030204" pitchFamily="18" charset="0"/>
                        <a:ea typeface="Cambria Math" panose="02040503050406030204" pitchFamily="18" charset="0"/>
                      </a:rPr>
                      <m:t>∙</m:t>
                    </m:r>
                    <m:r>
                      <a:rPr lang="en-US" altLang="zh-CN" sz="2400" b="1" i="0" smtClean="0">
                        <a:latin typeface="Cambria Math" panose="02040503050406030204" pitchFamily="18" charset="0"/>
                      </a:rPr>
                      <m:t>𝐂</m:t>
                    </m:r>
                    <m:r>
                      <a:rPr lang="en-US" altLang="zh-CN" sz="2400" b="1" i="0">
                        <a:latin typeface="Cambria Math" panose="02040503050406030204" pitchFamily="18" charset="0"/>
                        <a:ea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b="1" i="0" smtClean="0">
                            <a:latin typeface="Cambria Math" panose="02040503050406030204" pitchFamily="18" charset="0"/>
                          </a:rPr>
                          <m:t>𝐃</m:t>
                        </m:r>
                      </m:e>
                    </m:acc>
                    <m:r>
                      <a:rPr lang="en-US" altLang="zh-CN" sz="2400" b="1" i="0" smtClean="0">
                        <a:latin typeface="Cambria Math" panose="02040503050406030204" pitchFamily="18" charset="0"/>
                      </a:rPr>
                      <m:t>+</m:t>
                    </m:r>
                  </m:oMath>
                </a14:m>
                <a:r>
                  <a:rPr lang="en-US" altLang="zh-CN" sz="2400" dirty="0">
                    <a:solidFill>
                      <a:srgbClr val="FF0000"/>
                    </a:solidFill>
                  </a:rPr>
                  <a:t>A</a:t>
                </a:r>
                <a:r>
                  <a:rPr lang="en-US" altLang="zh-CN" sz="2400" dirty="0">
                    <a:ea typeface="Cambria Math" panose="02040503050406030204" pitchFamily="18" charset="0"/>
                  </a:rPr>
                  <a:t> </a:t>
                </a:r>
                <a14:m>
                  <m:oMath xmlns:m="http://schemas.openxmlformats.org/officeDocument/2006/math">
                    <m:r>
                      <a:rPr lang="en-US" altLang="zh-CN" sz="2400" b="1" i="0">
                        <a:latin typeface="Cambria Math" panose="02040503050406030204" pitchFamily="18" charset="0"/>
                        <a:ea typeface="Cambria Math" panose="02040503050406030204" pitchFamily="18" charset="0"/>
                      </a:rPr>
                      <m:t>∙ </m:t>
                    </m:r>
                    <m:acc>
                      <m:accPr>
                        <m:chr m:val="̅"/>
                        <m:ctrlPr>
                          <a:rPr lang="en-US" altLang="zh-CN" sz="2400" i="1">
                            <a:solidFill>
                              <a:srgbClr val="FF0000"/>
                            </a:solidFill>
                            <a:latin typeface="Cambria Math" panose="02040503050406030204" pitchFamily="18" charset="0"/>
                          </a:rPr>
                        </m:ctrlPr>
                      </m:accPr>
                      <m:e>
                        <m:r>
                          <a:rPr lang="en-US" altLang="zh-CN" sz="2400" b="1" i="0" smtClean="0">
                            <a:solidFill>
                              <a:srgbClr val="FF0000"/>
                            </a:solidFill>
                            <a:latin typeface="Cambria Math" panose="02040503050406030204" pitchFamily="18" charset="0"/>
                          </a:rPr>
                          <m:t>𝐂</m:t>
                        </m:r>
                      </m:e>
                    </m:acc>
                    <m:r>
                      <a:rPr lang="en-US" altLang="zh-CN" sz="2400" b="1" i="0">
                        <a:latin typeface="Cambria Math" panose="02040503050406030204" pitchFamily="18" charset="0"/>
                        <a:ea typeface="Cambria Math" panose="02040503050406030204" pitchFamily="18" charset="0"/>
                      </a:rPr>
                      <m:t>∙</m:t>
                    </m:r>
                    <m:acc>
                      <m:accPr>
                        <m:chr m:val="̅"/>
                        <m:ctrlPr>
                          <a:rPr lang="en-US" altLang="zh-CN" sz="2400" i="1">
                            <a:solidFill>
                              <a:srgbClr val="FF0000"/>
                            </a:solidFill>
                            <a:latin typeface="Cambria Math" panose="02040503050406030204" pitchFamily="18" charset="0"/>
                          </a:rPr>
                        </m:ctrlPr>
                      </m:accPr>
                      <m:e>
                        <m:r>
                          <a:rPr lang="en-US" altLang="zh-CN" sz="2400" b="1" i="0" smtClean="0">
                            <a:solidFill>
                              <a:srgbClr val="FF0000"/>
                            </a:solidFill>
                            <a:latin typeface="Cambria Math" panose="02040503050406030204" pitchFamily="18" charset="0"/>
                          </a:rPr>
                          <m:t>𝐃</m:t>
                        </m:r>
                      </m:e>
                    </m:acc>
                  </m:oMath>
                </a14:m>
                <a:endParaRPr lang="en-US" altLang="zh-CN" sz="2400" dirty="0"/>
              </a:p>
            </p:txBody>
          </p:sp>
        </mc:Choice>
        <mc:Fallback>
          <p:sp>
            <p:nvSpPr>
              <p:cNvPr id="180" name="矩形 179"/>
              <p:cNvSpPr>
                <a:spLocks noRot="1" noChangeAspect="1" noMove="1" noResize="1" noEditPoints="1" noAdjustHandles="1" noChangeArrowheads="1" noChangeShapeType="1" noTextEdit="1"/>
              </p:cNvSpPr>
              <p:nvPr/>
            </p:nvSpPr>
            <p:spPr>
              <a:xfrm>
                <a:off x="1289516" y="5905139"/>
                <a:ext cx="6542146" cy="462434"/>
              </a:xfrm>
              <a:prstGeom prst="rect">
                <a:avLst/>
              </a:prstGeom>
              <a:blipFill rotWithShape="1">
                <a:blip r:embed="rId4"/>
                <a:stretch>
                  <a:fillRect l="-7" t="-59" r="3" b="93"/>
                </a:stretch>
              </a:blipFill>
            </p:spPr>
            <p:txBody>
              <a:bodyPr/>
              <a:lstStyle/>
              <a:p>
                <a:r>
                  <a:rPr lang="zh-CN" altLang="en-US">
                    <a:noFill/>
                  </a:rPr>
                  <a:t> </a:t>
                </a:r>
              </a:p>
            </p:txBody>
          </p:sp>
        </mc:Fallback>
      </mc:AlternateContent>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5"/>
                                        </p:tgtEl>
                                        <p:attrNameLst>
                                          <p:attrName>style.visibility</p:attrName>
                                        </p:attrNameLst>
                                      </p:cBhvr>
                                      <p:to>
                                        <p:strVal val="visible"/>
                                      </p:to>
                                    </p:set>
                                    <p:anim calcmode="lin" valueType="num">
                                      <p:cBhvr additive="base">
                                        <p:cTn id="7" dur="500" fill="hold"/>
                                        <p:tgtEl>
                                          <p:spTgt spid="175"/>
                                        </p:tgtEl>
                                        <p:attrNameLst>
                                          <p:attrName>ppt_x</p:attrName>
                                        </p:attrNameLst>
                                      </p:cBhvr>
                                      <p:tavLst>
                                        <p:tav tm="0">
                                          <p:val>
                                            <p:strVal val="#ppt_x"/>
                                          </p:val>
                                        </p:tav>
                                        <p:tav tm="100000">
                                          <p:val>
                                            <p:strVal val="#ppt_x"/>
                                          </p:val>
                                        </p:tav>
                                      </p:tavLst>
                                    </p:anim>
                                    <p:anim calcmode="lin" valueType="num">
                                      <p:cBhvr additive="base">
                                        <p:cTn id="8" dur="500" fill="hold"/>
                                        <p:tgtEl>
                                          <p:spTgt spid="17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2"/>
                                        </p:tgtEl>
                                        <p:attrNameLst>
                                          <p:attrName>style.visibility</p:attrName>
                                        </p:attrNameLst>
                                      </p:cBhvr>
                                      <p:to>
                                        <p:strVal val="visible"/>
                                      </p:to>
                                    </p:set>
                                    <p:anim calcmode="lin" valueType="num">
                                      <p:cBhvr additive="base">
                                        <p:cTn id="13" dur="500" fill="hold"/>
                                        <p:tgtEl>
                                          <p:spTgt spid="82"/>
                                        </p:tgtEl>
                                        <p:attrNameLst>
                                          <p:attrName>ppt_x</p:attrName>
                                        </p:attrNameLst>
                                      </p:cBhvr>
                                      <p:tavLst>
                                        <p:tav tm="0">
                                          <p:val>
                                            <p:strVal val="#ppt_x"/>
                                          </p:val>
                                        </p:tav>
                                        <p:tav tm="100000">
                                          <p:val>
                                            <p:strVal val="#ppt_x"/>
                                          </p:val>
                                        </p:tav>
                                      </p:tavLst>
                                    </p:anim>
                                    <p:anim calcmode="lin" valueType="num">
                                      <p:cBhvr additive="base">
                                        <p:cTn id="14" dur="500" fill="hold"/>
                                        <p:tgtEl>
                                          <p:spTgt spid="8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4"/>
                                        </p:tgtEl>
                                        <p:attrNameLst>
                                          <p:attrName>style.visibility</p:attrName>
                                        </p:attrNameLst>
                                      </p:cBhvr>
                                      <p:to>
                                        <p:strVal val="visible"/>
                                      </p:to>
                                    </p:set>
                                    <p:anim calcmode="lin" valueType="num">
                                      <p:cBhvr additive="base">
                                        <p:cTn id="19" dur="500" fill="hold"/>
                                        <p:tgtEl>
                                          <p:spTgt spid="84"/>
                                        </p:tgtEl>
                                        <p:attrNameLst>
                                          <p:attrName>ppt_x</p:attrName>
                                        </p:attrNameLst>
                                      </p:cBhvr>
                                      <p:tavLst>
                                        <p:tav tm="0">
                                          <p:val>
                                            <p:strVal val="#ppt_x"/>
                                          </p:val>
                                        </p:tav>
                                        <p:tav tm="100000">
                                          <p:val>
                                            <p:strVal val="#ppt_x"/>
                                          </p:val>
                                        </p:tav>
                                      </p:tavLst>
                                    </p:anim>
                                    <p:anim calcmode="lin" valueType="num">
                                      <p:cBhvr additive="base">
                                        <p:cTn id="20" dur="500" fill="hold"/>
                                        <p:tgtEl>
                                          <p:spTgt spid="8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6"/>
                                        </p:tgtEl>
                                        <p:attrNameLst>
                                          <p:attrName>style.visibility</p:attrName>
                                        </p:attrNameLst>
                                      </p:cBhvr>
                                      <p:to>
                                        <p:strVal val="visible"/>
                                      </p:to>
                                    </p:set>
                                    <p:anim calcmode="lin" valueType="num">
                                      <p:cBhvr additive="base">
                                        <p:cTn id="25" dur="500" fill="hold"/>
                                        <p:tgtEl>
                                          <p:spTgt spid="86"/>
                                        </p:tgtEl>
                                        <p:attrNameLst>
                                          <p:attrName>ppt_x</p:attrName>
                                        </p:attrNameLst>
                                      </p:cBhvr>
                                      <p:tavLst>
                                        <p:tav tm="0">
                                          <p:val>
                                            <p:strVal val="#ppt_x"/>
                                          </p:val>
                                        </p:tav>
                                        <p:tav tm="100000">
                                          <p:val>
                                            <p:strVal val="#ppt_x"/>
                                          </p:val>
                                        </p:tav>
                                      </p:tavLst>
                                    </p:anim>
                                    <p:anim calcmode="lin" valueType="num">
                                      <p:cBhvr additive="base">
                                        <p:cTn id="26" dur="500" fill="hold"/>
                                        <p:tgtEl>
                                          <p:spTgt spid="8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3"/>
                                        </p:tgtEl>
                                        <p:attrNameLst>
                                          <p:attrName>style.visibility</p:attrName>
                                        </p:attrNameLst>
                                      </p:cBhvr>
                                      <p:to>
                                        <p:strVal val="visible"/>
                                      </p:to>
                                    </p:set>
                                    <p:anim calcmode="lin" valueType="num">
                                      <p:cBhvr additive="base">
                                        <p:cTn id="31" dur="500" fill="hold"/>
                                        <p:tgtEl>
                                          <p:spTgt spid="83"/>
                                        </p:tgtEl>
                                        <p:attrNameLst>
                                          <p:attrName>ppt_x</p:attrName>
                                        </p:attrNameLst>
                                      </p:cBhvr>
                                      <p:tavLst>
                                        <p:tav tm="0">
                                          <p:val>
                                            <p:strVal val="#ppt_x"/>
                                          </p:val>
                                        </p:tav>
                                        <p:tav tm="100000">
                                          <p:val>
                                            <p:strVal val="#ppt_x"/>
                                          </p:val>
                                        </p:tav>
                                      </p:tavLst>
                                    </p:anim>
                                    <p:anim calcmode="lin" valueType="num">
                                      <p:cBhvr additive="base">
                                        <p:cTn id="32" dur="500" fill="hold"/>
                                        <p:tgtEl>
                                          <p:spTgt spid="8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87"/>
                                        </p:tgtEl>
                                        <p:attrNameLst>
                                          <p:attrName>style.visibility</p:attrName>
                                        </p:attrNameLst>
                                      </p:cBhvr>
                                      <p:to>
                                        <p:strVal val="visible"/>
                                      </p:to>
                                    </p:set>
                                    <p:anim calcmode="lin" valueType="num">
                                      <p:cBhvr additive="base">
                                        <p:cTn id="37" dur="500" fill="hold"/>
                                        <p:tgtEl>
                                          <p:spTgt spid="87"/>
                                        </p:tgtEl>
                                        <p:attrNameLst>
                                          <p:attrName>ppt_x</p:attrName>
                                        </p:attrNameLst>
                                      </p:cBhvr>
                                      <p:tavLst>
                                        <p:tav tm="0">
                                          <p:val>
                                            <p:strVal val="0-#ppt_w/2"/>
                                          </p:val>
                                        </p:tav>
                                        <p:tav tm="100000">
                                          <p:val>
                                            <p:strVal val="#ppt_x"/>
                                          </p:val>
                                        </p:tav>
                                      </p:tavLst>
                                    </p:anim>
                                    <p:anim calcmode="lin" valueType="num">
                                      <p:cBhvr additive="base">
                                        <p:cTn id="38" dur="500" fill="hold"/>
                                        <p:tgtEl>
                                          <p:spTgt spid="87"/>
                                        </p:tgtEl>
                                        <p:attrNameLst>
                                          <p:attrName>ppt_y</p:attrName>
                                        </p:attrNameLst>
                                      </p:cBhvr>
                                      <p:tavLst>
                                        <p:tav tm="0">
                                          <p:val>
                                            <p:strVal val="#ppt_y"/>
                                          </p:val>
                                        </p:tav>
                                        <p:tav tm="100000">
                                          <p:val>
                                            <p:strVal val="#ppt_y"/>
                                          </p:val>
                                        </p:tav>
                                      </p:tavLst>
                                    </p:anim>
                                  </p:childTnLst>
                                </p:cTn>
                              </p:par>
                              <p:par>
                                <p:cTn id="39" presetID="2" presetClass="entr" presetSubtype="8" fill="hold" grpId="0" nodeType="withEffect">
                                  <p:stCondLst>
                                    <p:cond delay="0"/>
                                  </p:stCondLst>
                                  <p:childTnLst>
                                    <p:set>
                                      <p:cBhvr>
                                        <p:cTn id="40" dur="1" fill="hold">
                                          <p:stCondLst>
                                            <p:cond delay="0"/>
                                          </p:stCondLst>
                                        </p:cTn>
                                        <p:tgtEl>
                                          <p:spTgt spid="89"/>
                                        </p:tgtEl>
                                        <p:attrNameLst>
                                          <p:attrName>style.visibility</p:attrName>
                                        </p:attrNameLst>
                                      </p:cBhvr>
                                      <p:to>
                                        <p:strVal val="visible"/>
                                      </p:to>
                                    </p:set>
                                    <p:anim calcmode="lin" valueType="num">
                                      <p:cBhvr additive="base">
                                        <p:cTn id="41" dur="500" fill="hold"/>
                                        <p:tgtEl>
                                          <p:spTgt spid="89"/>
                                        </p:tgtEl>
                                        <p:attrNameLst>
                                          <p:attrName>ppt_x</p:attrName>
                                        </p:attrNameLst>
                                      </p:cBhvr>
                                      <p:tavLst>
                                        <p:tav tm="0">
                                          <p:val>
                                            <p:strVal val="0-#ppt_w/2"/>
                                          </p:val>
                                        </p:tav>
                                        <p:tav tm="100000">
                                          <p:val>
                                            <p:strVal val="#ppt_x"/>
                                          </p:val>
                                        </p:tav>
                                      </p:tavLst>
                                    </p:anim>
                                    <p:anim calcmode="lin" valueType="num">
                                      <p:cBhvr additive="base">
                                        <p:cTn id="42" dur="500" fill="hold"/>
                                        <p:tgtEl>
                                          <p:spTgt spid="89"/>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90"/>
                                        </p:tgtEl>
                                        <p:attrNameLst>
                                          <p:attrName>style.visibility</p:attrName>
                                        </p:attrNameLst>
                                      </p:cBhvr>
                                      <p:to>
                                        <p:strVal val="visible"/>
                                      </p:to>
                                    </p:set>
                                    <p:anim calcmode="lin" valueType="num">
                                      <p:cBhvr additive="base">
                                        <p:cTn id="47" dur="500" fill="hold"/>
                                        <p:tgtEl>
                                          <p:spTgt spid="90"/>
                                        </p:tgtEl>
                                        <p:attrNameLst>
                                          <p:attrName>ppt_x</p:attrName>
                                        </p:attrNameLst>
                                      </p:cBhvr>
                                      <p:tavLst>
                                        <p:tav tm="0">
                                          <p:val>
                                            <p:strVal val="0-#ppt_w/2"/>
                                          </p:val>
                                        </p:tav>
                                        <p:tav tm="100000">
                                          <p:val>
                                            <p:strVal val="#ppt_x"/>
                                          </p:val>
                                        </p:tav>
                                      </p:tavLst>
                                    </p:anim>
                                    <p:anim calcmode="lin" valueType="num">
                                      <p:cBhvr additive="base">
                                        <p:cTn id="48" dur="500" fill="hold"/>
                                        <p:tgtEl>
                                          <p:spTgt spid="90"/>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91"/>
                                        </p:tgtEl>
                                        <p:attrNameLst>
                                          <p:attrName>style.visibility</p:attrName>
                                        </p:attrNameLst>
                                      </p:cBhvr>
                                      <p:to>
                                        <p:strVal val="visible"/>
                                      </p:to>
                                    </p:set>
                                    <p:anim calcmode="lin" valueType="num">
                                      <p:cBhvr additive="base">
                                        <p:cTn id="51" dur="500" fill="hold"/>
                                        <p:tgtEl>
                                          <p:spTgt spid="91"/>
                                        </p:tgtEl>
                                        <p:attrNameLst>
                                          <p:attrName>ppt_x</p:attrName>
                                        </p:attrNameLst>
                                      </p:cBhvr>
                                      <p:tavLst>
                                        <p:tav tm="0">
                                          <p:val>
                                            <p:strVal val="0-#ppt_w/2"/>
                                          </p:val>
                                        </p:tav>
                                        <p:tav tm="100000">
                                          <p:val>
                                            <p:strVal val="#ppt_x"/>
                                          </p:val>
                                        </p:tav>
                                      </p:tavLst>
                                    </p:anim>
                                    <p:anim calcmode="lin" valueType="num">
                                      <p:cBhvr additive="base">
                                        <p:cTn id="52" dur="500" fill="hold"/>
                                        <p:tgtEl>
                                          <p:spTgt spid="91"/>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131"/>
                                        </p:tgtEl>
                                        <p:attrNameLst>
                                          <p:attrName>style.visibility</p:attrName>
                                        </p:attrNameLst>
                                      </p:cBhvr>
                                      <p:to>
                                        <p:strVal val="visible"/>
                                      </p:to>
                                    </p:set>
                                    <p:anim calcmode="lin" valueType="num">
                                      <p:cBhvr additive="base">
                                        <p:cTn id="57" dur="500" fill="hold"/>
                                        <p:tgtEl>
                                          <p:spTgt spid="131"/>
                                        </p:tgtEl>
                                        <p:attrNameLst>
                                          <p:attrName>ppt_x</p:attrName>
                                        </p:attrNameLst>
                                      </p:cBhvr>
                                      <p:tavLst>
                                        <p:tav tm="0">
                                          <p:val>
                                            <p:strVal val="#ppt_x"/>
                                          </p:val>
                                        </p:tav>
                                        <p:tav tm="100000">
                                          <p:val>
                                            <p:strVal val="#ppt_x"/>
                                          </p:val>
                                        </p:tav>
                                      </p:tavLst>
                                    </p:anim>
                                    <p:anim calcmode="lin" valueType="num">
                                      <p:cBhvr additive="base">
                                        <p:cTn id="58" dur="500" fill="hold"/>
                                        <p:tgtEl>
                                          <p:spTgt spid="131"/>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92"/>
                                        </p:tgtEl>
                                        <p:attrNameLst>
                                          <p:attrName>style.visibility</p:attrName>
                                        </p:attrNameLst>
                                      </p:cBhvr>
                                      <p:to>
                                        <p:strVal val="visible"/>
                                      </p:to>
                                    </p:set>
                                    <p:anim calcmode="lin" valueType="num">
                                      <p:cBhvr additive="base">
                                        <p:cTn id="63" dur="500" fill="hold"/>
                                        <p:tgtEl>
                                          <p:spTgt spid="92"/>
                                        </p:tgtEl>
                                        <p:attrNameLst>
                                          <p:attrName>ppt_x</p:attrName>
                                        </p:attrNameLst>
                                      </p:cBhvr>
                                      <p:tavLst>
                                        <p:tav tm="0">
                                          <p:val>
                                            <p:strVal val="#ppt_x"/>
                                          </p:val>
                                        </p:tav>
                                        <p:tav tm="100000">
                                          <p:val>
                                            <p:strVal val="#ppt_x"/>
                                          </p:val>
                                        </p:tav>
                                      </p:tavLst>
                                    </p:anim>
                                    <p:anim calcmode="lin" valueType="num">
                                      <p:cBhvr additive="base">
                                        <p:cTn id="64" dur="500" fill="hold"/>
                                        <p:tgtEl>
                                          <p:spTgt spid="92"/>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176"/>
                                        </p:tgtEl>
                                        <p:attrNameLst>
                                          <p:attrName>style.visibility</p:attrName>
                                        </p:attrNameLst>
                                      </p:cBhvr>
                                      <p:to>
                                        <p:strVal val="visible"/>
                                      </p:to>
                                    </p:set>
                                    <p:anim calcmode="lin" valueType="num">
                                      <p:cBhvr additive="base">
                                        <p:cTn id="69" dur="500" fill="hold"/>
                                        <p:tgtEl>
                                          <p:spTgt spid="176"/>
                                        </p:tgtEl>
                                        <p:attrNameLst>
                                          <p:attrName>ppt_x</p:attrName>
                                        </p:attrNameLst>
                                      </p:cBhvr>
                                      <p:tavLst>
                                        <p:tav tm="0">
                                          <p:val>
                                            <p:strVal val="#ppt_x"/>
                                          </p:val>
                                        </p:tav>
                                        <p:tav tm="100000">
                                          <p:val>
                                            <p:strVal val="#ppt_x"/>
                                          </p:val>
                                        </p:tav>
                                      </p:tavLst>
                                    </p:anim>
                                    <p:anim calcmode="lin" valueType="num">
                                      <p:cBhvr additive="base">
                                        <p:cTn id="70" dur="500" fill="hold"/>
                                        <p:tgtEl>
                                          <p:spTgt spid="176"/>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grpId="0" nodeType="clickEffect">
                                  <p:stCondLst>
                                    <p:cond delay="0"/>
                                  </p:stCondLst>
                                  <p:childTnLst>
                                    <p:set>
                                      <p:cBhvr>
                                        <p:cTn id="74" dur="1" fill="hold">
                                          <p:stCondLst>
                                            <p:cond delay="0"/>
                                          </p:stCondLst>
                                        </p:cTn>
                                        <p:tgtEl>
                                          <p:spTgt spid="126"/>
                                        </p:tgtEl>
                                        <p:attrNameLst>
                                          <p:attrName>style.visibility</p:attrName>
                                        </p:attrNameLst>
                                      </p:cBhvr>
                                      <p:to>
                                        <p:strVal val="visible"/>
                                      </p:to>
                                    </p:set>
                                    <p:anim calcmode="lin" valueType="num">
                                      <p:cBhvr additive="base">
                                        <p:cTn id="75" dur="500" fill="hold"/>
                                        <p:tgtEl>
                                          <p:spTgt spid="126"/>
                                        </p:tgtEl>
                                        <p:attrNameLst>
                                          <p:attrName>ppt_x</p:attrName>
                                        </p:attrNameLst>
                                      </p:cBhvr>
                                      <p:tavLst>
                                        <p:tav tm="0">
                                          <p:val>
                                            <p:strVal val="#ppt_x"/>
                                          </p:val>
                                        </p:tav>
                                        <p:tav tm="100000">
                                          <p:val>
                                            <p:strVal val="#ppt_x"/>
                                          </p:val>
                                        </p:tav>
                                      </p:tavLst>
                                    </p:anim>
                                    <p:anim calcmode="lin" valueType="num">
                                      <p:cBhvr additive="base">
                                        <p:cTn id="76" dur="500" fill="hold"/>
                                        <p:tgtEl>
                                          <p:spTgt spid="126"/>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grpId="0" nodeType="clickEffect">
                                  <p:stCondLst>
                                    <p:cond delay="0"/>
                                  </p:stCondLst>
                                  <p:childTnLst>
                                    <p:set>
                                      <p:cBhvr>
                                        <p:cTn id="80" dur="1" fill="hold">
                                          <p:stCondLst>
                                            <p:cond delay="0"/>
                                          </p:stCondLst>
                                        </p:cTn>
                                        <p:tgtEl>
                                          <p:spTgt spid="128"/>
                                        </p:tgtEl>
                                        <p:attrNameLst>
                                          <p:attrName>style.visibility</p:attrName>
                                        </p:attrNameLst>
                                      </p:cBhvr>
                                      <p:to>
                                        <p:strVal val="visible"/>
                                      </p:to>
                                    </p:set>
                                    <p:anim calcmode="lin" valueType="num">
                                      <p:cBhvr additive="base">
                                        <p:cTn id="81" dur="500" fill="hold"/>
                                        <p:tgtEl>
                                          <p:spTgt spid="128"/>
                                        </p:tgtEl>
                                        <p:attrNameLst>
                                          <p:attrName>ppt_x</p:attrName>
                                        </p:attrNameLst>
                                      </p:cBhvr>
                                      <p:tavLst>
                                        <p:tav tm="0">
                                          <p:val>
                                            <p:strVal val="#ppt_x"/>
                                          </p:val>
                                        </p:tav>
                                        <p:tav tm="100000">
                                          <p:val>
                                            <p:strVal val="#ppt_x"/>
                                          </p:val>
                                        </p:tav>
                                      </p:tavLst>
                                    </p:anim>
                                    <p:anim calcmode="lin" valueType="num">
                                      <p:cBhvr additive="base">
                                        <p:cTn id="82" dur="500" fill="hold"/>
                                        <p:tgtEl>
                                          <p:spTgt spid="128"/>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8" fill="hold" grpId="0" nodeType="clickEffect">
                                  <p:stCondLst>
                                    <p:cond delay="0"/>
                                  </p:stCondLst>
                                  <p:childTnLst>
                                    <p:set>
                                      <p:cBhvr>
                                        <p:cTn id="86" dur="1" fill="hold">
                                          <p:stCondLst>
                                            <p:cond delay="0"/>
                                          </p:stCondLst>
                                        </p:cTn>
                                        <p:tgtEl>
                                          <p:spTgt spid="132"/>
                                        </p:tgtEl>
                                        <p:attrNameLst>
                                          <p:attrName>style.visibility</p:attrName>
                                        </p:attrNameLst>
                                      </p:cBhvr>
                                      <p:to>
                                        <p:strVal val="visible"/>
                                      </p:to>
                                    </p:set>
                                    <p:anim calcmode="lin" valueType="num">
                                      <p:cBhvr additive="base">
                                        <p:cTn id="87" dur="500" fill="hold"/>
                                        <p:tgtEl>
                                          <p:spTgt spid="132"/>
                                        </p:tgtEl>
                                        <p:attrNameLst>
                                          <p:attrName>ppt_x</p:attrName>
                                        </p:attrNameLst>
                                      </p:cBhvr>
                                      <p:tavLst>
                                        <p:tav tm="0">
                                          <p:val>
                                            <p:strVal val="0-#ppt_w/2"/>
                                          </p:val>
                                        </p:tav>
                                        <p:tav tm="100000">
                                          <p:val>
                                            <p:strVal val="#ppt_x"/>
                                          </p:val>
                                        </p:tav>
                                      </p:tavLst>
                                    </p:anim>
                                    <p:anim calcmode="lin" valueType="num">
                                      <p:cBhvr additive="base">
                                        <p:cTn id="88" dur="500" fill="hold"/>
                                        <p:tgtEl>
                                          <p:spTgt spid="132"/>
                                        </p:tgtEl>
                                        <p:attrNameLst>
                                          <p:attrName>ppt_y</p:attrName>
                                        </p:attrNameLst>
                                      </p:cBhvr>
                                      <p:tavLst>
                                        <p:tav tm="0">
                                          <p:val>
                                            <p:strVal val="#ppt_y"/>
                                          </p:val>
                                        </p:tav>
                                        <p:tav tm="100000">
                                          <p:val>
                                            <p:strVal val="#ppt_y"/>
                                          </p:val>
                                        </p:tav>
                                      </p:tavLst>
                                    </p:anim>
                                  </p:childTnLst>
                                </p:cTn>
                              </p:par>
                              <p:par>
                                <p:cTn id="89" presetID="2" presetClass="entr" presetSubtype="8" fill="hold" grpId="0" nodeType="withEffect">
                                  <p:stCondLst>
                                    <p:cond delay="0"/>
                                  </p:stCondLst>
                                  <p:childTnLst>
                                    <p:set>
                                      <p:cBhvr>
                                        <p:cTn id="90" dur="1" fill="hold">
                                          <p:stCondLst>
                                            <p:cond delay="0"/>
                                          </p:stCondLst>
                                        </p:cTn>
                                        <p:tgtEl>
                                          <p:spTgt spid="133"/>
                                        </p:tgtEl>
                                        <p:attrNameLst>
                                          <p:attrName>style.visibility</p:attrName>
                                        </p:attrNameLst>
                                      </p:cBhvr>
                                      <p:to>
                                        <p:strVal val="visible"/>
                                      </p:to>
                                    </p:set>
                                    <p:anim calcmode="lin" valueType="num">
                                      <p:cBhvr additive="base">
                                        <p:cTn id="91" dur="500" fill="hold"/>
                                        <p:tgtEl>
                                          <p:spTgt spid="133"/>
                                        </p:tgtEl>
                                        <p:attrNameLst>
                                          <p:attrName>ppt_x</p:attrName>
                                        </p:attrNameLst>
                                      </p:cBhvr>
                                      <p:tavLst>
                                        <p:tav tm="0">
                                          <p:val>
                                            <p:strVal val="0-#ppt_w/2"/>
                                          </p:val>
                                        </p:tav>
                                        <p:tav tm="100000">
                                          <p:val>
                                            <p:strVal val="#ppt_x"/>
                                          </p:val>
                                        </p:tav>
                                      </p:tavLst>
                                    </p:anim>
                                    <p:anim calcmode="lin" valueType="num">
                                      <p:cBhvr additive="base">
                                        <p:cTn id="92" dur="500" fill="hold"/>
                                        <p:tgtEl>
                                          <p:spTgt spid="133"/>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178"/>
                                        </p:tgtEl>
                                        <p:attrNameLst>
                                          <p:attrName>style.visibility</p:attrName>
                                        </p:attrNameLst>
                                      </p:cBhvr>
                                      <p:to>
                                        <p:strVal val="visible"/>
                                      </p:to>
                                    </p:set>
                                    <p:anim calcmode="lin" valueType="num">
                                      <p:cBhvr additive="base">
                                        <p:cTn id="97" dur="500" fill="hold"/>
                                        <p:tgtEl>
                                          <p:spTgt spid="178"/>
                                        </p:tgtEl>
                                        <p:attrNameLst>
                                          <p:attrName>ppt_x</p:attrName>
                                        </p:attrNameLst>
                                      </p:cBhvr>
                                      <p:tavLst>
                                        <p:tav tm="0">
                                          <p:val>
                                            <p:strVal val="#ppt_x"/>
                                          </p:val>
                                        </p:tav>
                                        <p:tav tm="100000">
                                          <p:val>
                                            <p:strVal val="#ppt_x"/>
                                          </p:val>
                                        </p:tav>
                                      </p:tavLst>
                                    </p:anim>
                                    <p:anim calcmode="lin" valueType="num">
                                      <p:cBhvr additive="base">
                                        <p:cTn id="98" dur="500" fill="hold"/>
                                        <p:tgtEl>
                                          <p:spTgt spid="178"/>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173"/>
                                        </p:tgtEl>
                                        <p:attrNameLst>
                                          <p:attrName>style.visibility</p:attrName>
                                        </p:attrNameLst>
                                      </p:cBhvr>
                                      <p:to>
                                        <p:strVal val="visible"/>
                                      </p:to>
                                    </p:set>
                                    <p:anim calcmode="lin" valueType="num">
                                      <p:cBhvr additive="base">
                                        <p:cTn id="103" dur="500" fill="hold"/>
                                        <p:tgtEl>
                                          <p:spTgt spid="173"/>
                                        </p:tgtEl>
                                        <p:attrNameLst>
                                          <p:attrName>ppt_x</p:attrName>
                                        </p:attrNameLst>
                                      </p:cBhvr>
                                      <p:tavLst>
                                        <p:tav tm="0">
                                          <p:val>
                                            <p:strVal val="#ppt_x"/>
                                          </p:val>
                                        </p:tav>
                                        <p:tav tm="100000">
                                          <p:val>
                                            <p:strVal val="#ppt_x"/>
                                          </p:val>
                                        </p:tav>
                                      </p:tavLst>
                                    </p:anim>
                                    <p:anim calcmode="lin" valueType="num">
                                      <p:cBhvr additive="base">
                                        <p:cTn id="104" dur="500" fill="hold"/>
                                        <p:tgtEl>
                                          <p:spTgt spid="173"/>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0" nodeType="clickEffect">
                                  <p:stCondLst>
                                    <p:cond delay="0"/>
                                  </p:stCondLst>
                                  <p:childTnLst>
                                    <p:set>
                                      <p:cBhvr>
                                        <p:cTn id="108" dur="1" fill="hold">
                                          <p:stCondLst>
                                            <p:cond delay="0"/>
                                          </p:stCondLst>
                                        </p:cTn>
                                        <p:tgtEl>
                                          <p:spTgt spid="177"/>
                                        </p:tgtEl>
                                        <p:attrNameLst>
                                          <p:attrName>style.visibility</p:attrName>
                                        </p:attrNameLst>
                                      </p:cBhvr>
                                      <p:to>
                                        <p:strVal val="visible"/>
                                      </p:to>
                                    </p:set>
                                    <p:anim calcmode="lin" valueType="num">
                                      <p:cBhvr additive="base">
                                        <p:cTn id="109" dur="500" fill="hold"/>
                                        <p:tgtEl>
                                          <p:spTgt spid="177"/>
                                        </p:tgtEl>
                                        <p:attrNameLst>
                                          <p:attrName>ppt_x</p:attrName>
                                        </p:attrNameLst>
                                      </p:cBhvr>
                                      <p:tavLst>
                                        <p:tav tm="0">
                                          <p:val>
                                            <p:strVal val="#ppt_x"/>
                                          </p:val>
                                        </p:tav>
                                        <p:tav tm="100000">
                                          <p:val>
                                            <p:strVal val="#ppt_x"/>
                                          </p:val>
                                        </p:tav>
                                      </p:tavLst>
                                    </p:anim>
                                    <p:anim calcmode="lin" valueType="num">
                                      <p:cBhvr additive="base">
                                        <p:cTn id="110" dur="500" fill="hold"/>
                                        <p:tgtEl>
                                          <p:spTgt spid="177"/>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grpId="0" nodeType="clickEffect">
                                  <p:stCondLst>
                                    <p:cond delay="0"/>
                                  </p:stCondLst>
                                  <p:childTnLst>
                                    <p:set>
                                      <p:cBhvr>
                                        <p:cTn id="114" dur="1" fill="hold">
                                          <p:stCondLst>
                                            <p:cond delay="0"/>
                                          </p:stCondLst>
                                        </p:cTn>
                                        <p:tgtEl>
                                          <p:spTgt spid="179"/>
                                        </p:tgtEl>
                                        <p:attrNameLst>
                                          <p:attrName>style.visibility</p:attrName>
                                        </p:attrNameLst>
                                      </p:cBhvr>
                                      <p:to>
                                        <p:strVal val="visible"/>
                                      </p:to>
                                    </p:set>
                                    <p:anim calcmode="lin" valueType="num">
                                      <p:cBhvr additive="base">
                                        <p:cTn id="115" dur="500" fill="hold"/>
                                        <p:tgtEl>
                                          <p:spTgt spid="179"/>
                                        </p:tgtEl>
                                        <p:attrNameLst>
                                          <p:attrName>ppt_x</p:attrName>
                                        </p:attrNameLst>
                                      </p:cBhvr>
                                      <p:tavLst>
                                        <p:tav tm="0">
                                          <p:val>
                                            <p:strVal val="#ppt_x"/>
                                          </p:val>
                                        </p:tav>
                                        <p:tav tm="100000">
                                          <p:val>
                                            <p:strVal val="#ppt_x"/>
                                          </p:val>
                                        </p:tav>
                                      </p:tavLst>
                                    </p:anim>
                                    <p:anim calcmode="lin" valueType="num">
                                      <p:cBhvr additive="base">
                                        <p:cTn id="116" dur="500" fill="hold"/>
                                        <p:tgtEl>
                                          <p:spTgt spid="179"/>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grpId="0" nodeType="clickEffect">
                                  <p:stCondLst>
                                    <p:cond delay="0"/>
                                  </p:stCondLst>
                                  <p:childTnLst>
                                    <p:set>
                                      <p:cBhvr>
                                        <p:cTn id="120" dur="1" fill="hold">
                                          <p:stCondLst>
                                            <p:cond delay="0"/>
                                          </p:stCondLst>
                                        </p:cTn>
                                        <p:tgtEl>
                                          <p:spTgt spid="174"/>
                                        </p:tgtEl>
                                        <p:attrNameLst>
                                          <p:attrName>style.visibility</p:attrName>
                                        </p:attrNameLst>
                                      </p:cBhvr>
                                      <p:to>
                                        <p:strVal val="visible"/>
                                      </p:to>
                                    </p:set>
                                    <p:anim calcmode="lin" valueType="num">
                                      <p:cBhvr additive="base">
                                        <p:cTn id="121" dur="500" fill="hold"/>
                                        <p:tgtEl>
                                          <p:spTgt spid="174"/>
                                        </p:tgtEl>
                                        <p:attrNameLst>
                                          <p:attrName>ppt_x</p:attrName>
                                        </p:attrNameLst>
                                      </p:cBhvr>
                                      <p:tavLst>
                                        <p:tav tm="0">
                                          <p:val>
                                            <p:strVal val="#ppt_x"/>
                                          </p:val>
                                        </p:tav>
                                        <p:tav tm="100000">
                                          <p:val>
                                            <p:strVal val="#ppt_x"/>
                                          </p:val>
                                        </p:tav>
                                      </p:tavLst>
                                    </p:anim>
                                    <p:anim calcmode="lin" valueType="num">
                                      <p:cBhvr additive="base">
                                        <p:cTn id="122" dur="500" fill="hold"/>
                                        <p:tgtEl>
                                          <p:spTgt spid="174"/>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grpId="0" nodeType="clickEffect">
                                  <p:stCondLst>
                                    <p:cond delay="0"/>
                                  </p:stCondLst>
                                  <p:childTnLst>
                                    <p:set>
                                      <p:cBhvr>
                                        <p:cTn id="126" dur="1" fill="hold">
                                          <p:stCondLst>
                                            <p:cond delay="0"/>
                                          </p:stCondLst>
                                        </p:cTn>
                                        <p:tgtEl>
                                          <p:spTgt spid="180"/>
                                        </p:tgtEl>
                                        <p:attrNameLst>
                                          <p:attrName>style.visibility</p:attrName>
                                        </p:attrNameLst>
                                      </p:cBhvr>
                                      <p:to>
                                        <p:strVal val="visible"/>
                                      </p:to>
                                    </p:set>
                                    <p:anim calcmode="lin" valueType="num">
                                      <p:cBhvr additive="base">
                                        <p:cTn id="127" dur="500" fill="hold"/>
                                        <p:tgtEl>
                                          <p:spTgt spid="180"/>
                                        </p:tgtEl>
                                        <p:attrNameLst>
                                          <p:attrName>ppt_x</p:attrName>
                                        </p:attrNameLst>
                                      </p:cBhvr>
                                      <p:tavLst>
                                        <p:tav tm="0">
                                          <p:val>
                                            <p:strVal val="#ppt_x"/>
                                          </p:val>
                                        </p:tav>
                                        <p:tav tm="100000">
                                          <p:val>
                                            <p:strVal val="#ppt_x"/>
                                          </p:val>
                                        </p:tav>
                                      </p:tavLst>
                                    </p:anim>
                                    <p:anim calcmode="lin" valueType="num">
                                      <p:cBhvr additive="base">
                                        <p:cTn id="128" dur="500" fill="hold"/>
                                        <p:tgtEl>
                                          <p:spTgt spid="1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P spid="83" grpId="0" animBg="1"/>
      <p:bldP spid="84" grpId="0" animBg="1"/>
      <p:bldP spid="86" grpId="0" animBg="1"/>
      <p:bldP spid="87" grpId="0" animBg="1"/>
      <p:bldP spid="89" grpId="0" animBg="1"/>
      <p:bldP spid="90" grpId="0" animBg="1"/>
      <p:bldP spid="91" grpId="0" animBg="1"/>
      <p:bldP spid="126" grpId="0" animBg="1"/>
      <p:bldP spid="128" grpId="0" animBg="1"/>
      <p:bldP spid="132" grpId="0" animBg="1"/>
      <p:bldP spid="133" grpId="0" animBg="1"/>
      <p:bldP spid="174" grpId="0" animBg="1"/>
      <p:bldP spid="175" grpId="0"/>
      <p:bldP spid="176" grpId="0"/>
      <p:bldP spid="177" grpId="0"/>
      <p:bldP spid="131" grpId="0"/>
      <p:bldP spid="178" grpId="0"/>
      <p:bldP spid="179" grpId="0"/>
      <p:bldP spid="180"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4294967295"/>
          </p:nvPr>
        </p:nvSpPr>
        <p:spPr>
          <a:xfrm>
            <a:off x="8642350" y="6489700"/>
            <a:ext cx="501650" cy="333375"/>
          </a:xfrm>
          <a:prstGeom prst="rect">
            <a:avLst/>
          </a:prstGeom>
        </p:spPr>
        <p:txBody>
          <a:bodyPr/>
          <a:lstStyle/>
          <a:p>
            <a:pPr>
              <a:defRPr/>
            </a:pPr>
            <a:fld id="{FDFDDDCF-CC0E-4CF3-A497-3FEE434E7AE7}" type="slidenum">
              <a:rPr lang="en-US" altLang="zh-CN" smtClean="0"/>
            </a:fld>
            <a:endParaRPr lang="en-US" altLang="zh-CN"/>
          </a:p>
        </p:txBody>
      </p:sp>
      <p:sp>
        <p:nvSpPr>
          <p:cNvPr id="131074" name="Rectangle 2"/>
          <p:cNvSpPr>
            <a:spLocks noGrp="1" noChangeArrowheads="1"/>
          </p:cNvSpPr>
          <p:nvPr>
            <p:ph type="title" idx="4294967295"/>
          </p:nvPr>
        </p:nvSpPr>
        <p:spPr>
          <a:xfrm>
            <a:off x="503238" y="76200"/>
            <a:ext cx="8640762" cy="914400"/>
          </a:xfrm>
        </p:spPr>
        <p:txBody>
          <a:bodyPr/>
          <a:lstStyle/>
          <a:p>
            <a:r>
              <a:rPr lang="en-US" altLang="zh-CN" dirty="0"/>
              <a:t>4.2 </a:t>
            </a:r>
            <a:r>
              <a:rPr lang="zh-CN" altLang="en-US" dirty="0"/>
              <a:t>卡诺图化简</a:t>
            </a:r>
            <a:endParaRPr lang="zh-CN" altLang="en-US" dirty="0"/>
          </a:p>
        </p:txBody>
      </p:sp>
      <p:sp>
        <p:nvSpPr>
          <p:cNvPr id="131075" name="Oval 3"/>
          <p:cNvSpPr>
            <a:spLocks noChangeArrowheads="1"/>
          </p:cNvSpPr>
          <p:nvPr/>
        </p:nvSpPr>
        <p:spPr bwMode="auto">
          <a:xfrm>
            <a:off x="3719513" y="3705225"/>
            <a:ext cx="304800" cy="304800"/>
          </a:xfrm>
          <a:prstGeom prst="ellipse">
            <a:avLst/>
          </a:prstGeom>
          <a:solidFill>
            <a:schemeClr val="bg1"/>
          </a:solidFill>
          <a:ln w="19050">
            <a:solidFill>
              <a:srgbClr val="CC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solidFill>
                <a:srgbClr val="CC3300"/>
              </a:solidFill>
            </a:endParaRPr>
          </a:p>
        </p:txBody>
      </p:sp>
      <p:sp>
        <p:nvSpPr>
          <p:cNvPr id="131076" name="AutoShape 4"/>
          <p:cNvSpPr>
            <a:spLocks noChangeArrowheads="1"/>
          </p:cNvSpPr>
          <p:nvPr/>
        </p:nvSpPr>
        <p:spPr bwMode="auto">
          <a:xfrm>
            <a:off x="4210050" y="4081463"/>
            <a:ext cx="685800" cy="685800"/>
          </a:xfrm>
          <a:prstGeom prst="roundRect">
            <a:avLst>
              <a:gd name="adj" fmla="val 27315"/>
            </a:avLst>
          </a:prstGeom>
          <a:solidFill>
            <a:schemeClr val="bg1"/>
          </a:solidFill>
          <a:ln w="19050">
            <a:solidFill>
              <a:srgbClr val="CC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31077" name="Object 5"/>
          <p:cNvGraphicFramePr>
            <a:graphicFrameLocks noChangeAspect="1"/>
          </p:cNvGraphicFramePr>
          <p:nvPr/>
        </p:nvGraphicFramePr>
        <p:xfrm>
          <a:off x="712788" y="1455738"/>
          <a:ext cx="7226300" cy="533400"/>
        </p:xfrm>
        <a:graphic>
          <a:graphicData uri="http://schemas.openxmlformats.org/presentationml/2006/ole">
            <mc:AlternateContent xmlns:mc="http://schemas.openxmlformats.org/markup-compatibility/2006">
              <mc:Choice xmlns:v="urn:schemas-microsoft-com:vml" Requires="v">
                <p:oleObj spid="_x0000_s10451" name="Equation" r:id="rId1" imgW="3441700" imgH="254000" progId="Equation.3">
                  <p:embed/>
                </p:oleObj>
              </mc:Choice>
              <mc:Fallback>
                <p:oleObj name="Equation" r:id="rId1" imgW="3441700" imgH="2540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788" y="1455738"/>
                        <a:ext cx="72263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31078" name="Group 6"/>
          <p:cNvGrpSpPr/>
          <p:nvPr/>
        </p:nvGrpSpPr>
        <p:grpSpPr bwMode="auto">
          <a:xfrm>
            <a:off x="2971800" y="2667000"/>
            <a:ext cx="2895600" cy="2209800"/>
            <a:chOff x="3168" y="384"/>
            <a:chExt cx="1824" cy="1392"/>
          </a:xfrm>
        </p:grpSpPr>
        <p:sp>
          <p:nvSpPr>
            <p:cNvPr id="131079" name="Rectangle 7"/>
            <p:cNvSpPr>
              <a:spLocks noChangeArrowheads="1"/>
            </p:cNvSpPr>
            <p:nvPr/>
          </p:nvSpPr>
          <p:spPr bwMode="auto">
            <a:xfrm>
              <a:off x="4464" y="1490"/>
              <a:ext cx="28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1</a:t>
              </a:r>
              <a:endParaRPr lang="en-US" altLang="zh-CN" sz="2000"/>
            </a:p>
          </p:txBody>
        </p:sp>
        <p:sp>
          <p:nvSpPr>
            <p:cNvPr id="131080" name="Rectangle 8"/>
            <p:cNvSpPr>
              <a:spLocks noChangeArrowheads="1"/>
            </p:cNvSpPr>
            <p:nvPr/>
          </p:nvSpPr>
          <p:spPr bwMode="auto">
            <a:xfrm>
              <a:off x="4464" y="1248"/>
              <a:ext cx="288"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131081" name="Rectangle 9"/>
            <p:cNvSpPr>
              <a:spLocks noChangeArrowheads="1"/>
            </p:cNvSpPr>
            <p:nvPr/>
          </p:nvSpPr>
          <p:spPr bwMode="auto">
            <a:xfrm>
              <a:off x="4464" y="100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131082" name="Rectangle 10"/>
            <p:cNvSpPr>
              <a:spLocks noChangeArrowheads="1"/>
            </p:cNvSpPr>
            <p:nvPr/>
          </p:nvSpPr>
          <p:spPr bwMode="auto">
            <a:xfrm>
              <a:off x="4464" y="76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1</a:t>
              </a:r>
              <a:endParaRPr lang="en-US" altLang="zh-CN" sz="2000"/>
            </a:p>
          </p:txBody>
        </p:sp>
        <p:sp>
          <p:nvSpPr>
            <p:cNvPr id="131083" name="Rectangle 11"/>
            <p:cNvSpPr>
              <a:spLocks noChangeArrowheads="1"/>
            </p:cNvSpPr>
            <p:nvPr/>
          </p:nvSpPr>
          <p:spPr bwMode="auto">
            <a:xfrm>
              <a:off x="3888" y="1490"/>
              <a:ext cx="28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1</a:t>
              </a:r>
              <a:endParaRPr lang="en-US" altLang="zh-CN" sz="2000"/>
            </a:p>
          </p:txBody>
        </p:sp>
        <p:sp>
          <p:nvSpPr>
            <p:cNvPr id="131084" name="Rectangle 12"/>
            <p:cNvSpPr>
              <a:spLocks noChangeArrowheads="1"/>
            </p:cNvSpPr>
            <p:nvPr/>
          </p:nvSpPr>
          <p:spPr bwMode="auto">
            <a:xfrm>
              <a:off x="3888" y="1248"/>
              <a:ext cx="288"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1</a:t>
              </a:r>
              <a:endParaRPr lang="en-US" altLang="zh-CN" sz="2000"/>
            </a:p>
          </p:txBody>
        </p:sp>
        <p:sp>
          <p:nvSpPr>
            <p:cNvPr id="131085" name="Rectangle 13"/>
            <p:cNvSpPr>
              <a:spLocks noChangeArrowheads="1"/>
            </p:cNvSpPr>
            <p:nvPr/>
          </p:nvSpPr>
          <p:spPr bwMode="auto">
            <a:xfrm>
              <a:off x="3888" y="100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131086" name="Rectangle 14"/>
            <p:cNvSpPr>
              <a:spLocks noChangeArrowheads="1"/>
            </p:cNvSpPr>
            <p:nvPr/>
          </p:nvSpPr>
          <p:spPr bwMode="auto">
            <a:xfrm>
              <a:off x="3888" y="76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sp>
          <p:nvSpPr>
            <p:cNvPr id="131087" name="Rectangle 15"/>
            <p:cNvSpPr>
              <a:spLocks noChangeArrowheads="1"/>
            </p:cNvSpPr>
            <p:nvPr/>
          </p:nvSpPr>
          <p:spPr bwMode="auto">
            <a:xfrm>
              <a:off x="4176" y="1490"/>
              <a:ext cx="28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1</a:t>
              </a:r>
              <a:endParaRPr lang="en-US" altLang="zh-CN" sz="2000"/>
            </a:p>
          </p:txBody>
        </p:sp>
        <p:sp>
          <p:nvSpPr>
            <p:cNvPr id="131088" name="Rectangle 16"/>
            <p:cNvSpPr>
              <a:spLocks noChangeArrowheads="1"/>
            </p:cNvSpPr>
            <p:nvPr/>
          </p:nvSpPr>
          <p:spPr bwMode="auto">
            <a:xfrm>
              <a:off x="4176" y="1248"/>
              <a:ext cx="288"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1</a:t>
              </a:r>
              <a:endParaRPr lang="en-US" altLang="zh-CN" sz="2000"/>
            </a:p>
          </p:txBody>
        </p:sp>
        <p:sp>
          <p:nvSpPr>
            <p:cNvPr id="131089" name="Rectangle 17"/>
            <p:cNvSpPr>
              <a:spLocks noChangeArrowheads="1"/>
            </p:cNvSpPr>
            <p:nvPr/>
          </p:nvSpPr>
          <p:spPr bwMode="auto">
            <a:xfrm>
              <a:off x="4176" y="100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131090" name="Rectangle 18"/>
            <p:cNvSpPr>
              <a:spLocks noChangeArrowheads="1"/>
            </p:cNvSpPr>
            <p:nvPr/>
          </p:nvSpPr>
          <p:spPr bwMode="auto">
            <a:xfrm>
              <a:off x="4176" y="76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131091" name="Rectangle 19"/>
            <p:cNvSpPr>
              <a:spLocks noChangeArrowheads="1"/>
            </p:cNvSpPr>
            <p:nvPr/>
          </p:nvSpPr>
          <p:spPr bwMode="auto">
            <a:xfrm>
              <a:off x="3600" y="1490"/>
              <a:ext cx="28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131092" name="Rectangle 20"/>
            <p:cNvSpPr>
              <a:spLocks noChangeArrowheads="1"/>
            </p:cNvSpPr>
            <p:nvPr/>
          </p:nvSpPr>
          <p:spPr bwMode="auto">
            <a:xfrm>
              <a:off x="3600" y="100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sp>
          <p:nvSpPr>
            <p:cNvPr id="131093" name="Rectangle 21"/>
            <p:cNvSpPr>
              <a:spLocks noChangeArrowheads="1"/>
            </p:cNvSpPr>
            <p:nvPr/>
          </p:nvSpPr>
          <p:spPr bwMode="auto">
            <a:xfrm>
              <a:off x="3600" y="1248"/>
              <a:ext cx="288"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131094" name="Rectangle 22"/>
            <p:cNvSpPr>
              <a:spLocks noChangeArrowheads="1"/>
            </p:cNvSpPr>
            <p:nvPr/>
          </p:nvSpPr>
          <p:spPr bwMode="auto">
            <a:xfrm>
              <a:off x="3600" y="76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a:p>
          </p:txBody>
        </p:sp>
        <p:sp>
          <p:nvSpPr>
            <p:cNvPr id="131095" name="Line 23"/>
            <p:cNvSpPr>
              <a:spLocks noChangeShapeType="1"/>
            </p:cNvSpPr>
            <p:nvPr/>
          </p:nvSpPr>
          <p:spPr bwMode="auto">
            <a:xfrm>
              <a:off x="3600" y="768"/>
              <a:ext cx="1152"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096" name="Line 24"/>
            <p:cNvSpPr>
              <a:spLocks noChangeShapeType="1"/>
            </p:cNvSpPr>
            <p:nvPr/>
          </p:nvSpPr>
          <p:spPr bwMode="auto">
            <a:xfrm>
              <a:off x="3600" y="1776"/>
              <a:ext cx="1152"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097" name="Line 25"/>
            <p:cNvSpPr>
              <a:spLocks noChangeShapeType="1"/>
            </p:cNvSpPr>
            <p:nvPr/>
          </p:nvSpPr>
          <p:spPr bwMode="auto">
            <a:xfrm>
              <a:off x="3600" y="768"/>
              <a:ext cx="0" cy="1008"/>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098" name="Line 26"/>
            <p:cNvSpPr>
              <a:spLocks noChangeShapeType="1"/>
            </p:cNvSpPr>
            <p:nvPr/>
          </p:nvSpPr>
          <p:spPr bwMode="auto">
            <a:xfrm>
              <a:off x="4752" y="768"/>
              <a:ext cx="0" cy="1008"/>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099" name="Line 27"/>
            <p:cNvSpPr>
              <a:spLocks noChangeShapeType="1"/>
            </p:cNvSpPr>
            <p:nvPr/>
          </p:nvSpPr>
          <p:spPr bwMode="auto">
            <a:xfrm>
              <a:off x="3600" y="1248"/>
              <a:ext cx="115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100" name="Line 28"/>
            <p:cNvSpPr>
              <a:spLocks noChangeShapeType="1"/>
            </p:cNvSpPr>
            <p:nvPr/>
          </p:nvSpPr>
          <p:spPr bwMode="auto">
            <a:xfrm>
              <a:off x="3600" y="1008"/>
              <a:ext cx="115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101" name="Line 29"/>
            <p:cNvSpPr>
              <a:spLocks noChangeShapeType="1"/>
            </p:cNvSpPr>
            <p:nvPr/>
          </p:nvSpPr>
          <p:spPr bwMode="auto">
            <a:xfrm>
              <a:off x="3600" y="1490"/>
              <a:ext cx="115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102" name="Line 30"/>
            <p:cNvSpPr>
              <a:spLocks noChangeShapeType="1"/>
            </p:cNvSpPr>
            <p:nvPr/>
          </p:nvSpPr>
          <p:spPr bwMode="auto">
            <a:xfrm>
              <a:off x="4176" y="768"/>
              <a:ext cx="0" cy="10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103" name="Line 31"/>
            <p:cNvSpPr>
              <a:spLocks noChangeShapeType="1"/>
            </p:cNvSpPr>
            <p:nvPr/>
          </p:nvSpPr>
          <p:spPr bwMode="auto">
            <a:xfrm>
              <a:off x="3888" y="768"/>
              <a:ext cx="0" cy="10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104" name="Line 32"/>
            <p:cNvSpPr>
              <a:spLocks noChangeShapeType="1"/>
            </p:cNvSpPr>
            <p:nvPr/>
          </p:nvSpPr>
          <p:spPr bwMode="auto">
            <a:xfrm>
              <a:off x="4464" y="768"/>
              <a:ext cx="0" cy="10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105" name="Line 33"/>
            <p:cNvSpPr>
              <a:spLocks noChangeShapeType="1"/>
            </p:cNvSpPr>
            <p:nvPr/>
          </p:nvSpPr>
          <p:spPr bwMode="auto">
            <a:xfrm>
              <a:off x="3360" y="528"/>
              <a:ext cx="240" cy="24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106" name="Text Box 34"/>
            <p:cNvSpPr txBox="1">
              <a:spLocks noChangeArrowheads="1"/>
            </p:cNvSpPr>
            <p:nvPr/>
          </p:nvSpPr>
          <p:spPr bwMode="auto">
            <a:xfrm>
              <a:off x="3168" y="528"/>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i="1"/>
                <a:t>AB</a:t>
              </a:r>
              <a:endParaRPr lang="en-US" altLang="zh-CN" sz="1800" i="1"/>
            </a:p>
          </p:txBody>
        </p:sp>
        <p:sp>
          <p:nvSpPr>
            <p:cNvPr id="131107" name="Text Box 35"/>
            <p:cNvSpPr txBox="1">
              <a:spLocks noChangeArrowheads="1"/>
            </p:cNvSpPr>
            <p:nvPr/>
          </p:nvSpPr>
          <p:spPr bwMode="auto">
            <a:xfrm>
              <a:off x="3360" y="384"/>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i="1"/>
                <a:t>CD</a:t>
              </a:r>
              <a:endParaRPr lang="en-US" altLang="zh-CN" sz="1800" i="1"/>
            </a:p>
          </p:txBody>
        </p:sp>
        <p:sp>
          <p:nvSpPr>
            <p:cNvPr id="131108" name="Text Box 36"/>
            <p:cNvSpPr txBox="1">
              <a:spLocks noChangeArrowheads="1"/>
            </p:cNvSpPr>
            <p:nvPr/>
          </p:nvSpPr>
          <p:spPr bwMode="auto">
            <a:xfrm>
              <a:off x="3360" y="816"/>
              <a:ext cx="288" cy="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00</a:t>
              </a:r>
              <a:endParaRPr lang="en-US" altLang="zh-CN" sz="1600"/>
            </a:p>
            <a:p>
              <a:pPr>
                <a:spcBef>
                  <a:spcPct val="50000"/>
                </a:spcBef>
              </a:pPr>
              <a:r>
                <a:rPr lang="en-US" altLang="zh-CN" sz="1600"/>
                <a:t>01</a:t>
              </a:r>
              <a:endParaRPr lang="en-US" altLang="zh-CN" sz="1600"/>
            </a:p>
            <a:p>
              <a:pPr>
                <a:spcBef>
                  <a:spcPct val="50000"/>
                </a:spcBef>
              </a:pPr>
              <a:r>
                <a:rPr lang="en-US" altLang="zh-CN" sz="1600"/>
                <a:t>11</a:t>
              </a:r>
              <a:endParaRPr lang="en-US" altLang="zh-CN" sz="1600"/>
            </a:p>
            <a:p>
              <a:pPr>
                <a:spcBef>
                  <a:spcPct val="50000"/>
                </a:spcBef>
              </a:pPr>
              <a:r>
                <a:rPr lang="en-US" altLang="zh-CN" sz="1600"/>
                <a:t>10</a:t>
              </a:r>
              <a:endParaRPr lang="en-US" altLang="zh-CN" sz="1600"/>
            </a:p>
          </p:txBody>
        </p:sp>
        <p:sp>
          <p:nvSpPr>
            <p:cNvPr id="131109" name="Text Box 37"/>
            <p:cNvSpPr txBox="1">
              <a:spLocks noChangeArrowheads="1"/>
            </p:cNvSpPr>
            <p:nvPr/>
          </p:nvSpPr>
          <p:spPr bwMode="auto">
            <a:xfrm>
              <a:off x="3600" y="576"/>
              <a:ext cx="139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00     01     11     10</a:t>
              </a:r>
              <a:endParaRPr lang="en-US" altLang="zh-CN" sz="1600"/>
            </a:p>
          </p:txBody>
        </p:sp>
      </p:grpSp>
      <p:sp>
        <p:nvSpPr>
          <p:cNvPr id="131110" name="AutoShape 38"/>
          <p:cNvSpPr/>
          <p:nvPr/>
        </p:nvSpPr>
        <p:spPr bwMode="auto">
          <a:xfrm rot="-16181993">
            <a:off x="4100513" y="3241675"/>
            <a:ext cx="457200" cy="304800"/>
          </a:xfrm>
          <a:prstGeom prst="rightBracket">
            <a:avLst>
              <a:gd name="adj" fmla="val 50000"/>
            </a:avLst>
          </a:prstGeom>
          <a:noFill/>
          <a:ln w="19050">
            <a:solidFill>
              <a:srgbClr val="CC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11" name="AutoShape 39"/>
          <p:cNvSpPr/>
          <p:nvPr/>
        </p:nvSpPr>
        <p:spPr bwMode="auto">
          <a:xfrm rot="-5381994">
            <a:off x="4100513" y="4570413"/>
            <a:ext cx="457200" cy="304800"/>
          </a:xfrm>
          <a:prstGeom prst="rightBracket">
            <a:avLst>
              <a:gd name="adj" fmla="val 36745"/>
            </a:avLst>
          </a:prstGeom>
          <a:noFill/>
          <a:ln w="19050">
            <a:solidFill>
              <a:srgbClr val="CC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12" name="AutoShape 40"/>
          <p:cNvSpPr/>
          <p:nvPr/>
        </p:nvSpPr>
        <p:spPr bwMode="auto">
          <a:xfrm rot="-5381994">
            <a:off x="5027613" y="4572000"/>
            <a:ext cx="457200" cy="304800"/>
          </a:xfrm>
          <a:prstGeom prst="rightBracket">
            <a:avLst>
              <a:gd name="adj" fmla="val 41403"/>
            </a:avLst>
          </a:prstGeom>
          <a:noFill/>
          <a:ln w="19050">
            <a:solidFill>
              <a:srgbClr val="CC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13" name="AutoShape 41"/>
          <p:cNvSpPr/>
          <p:nvPr/>
        </p:nvSpPr>
        <p:spPr bwMode="auto">
          <a:xfrm rot="-16181993">
            <a:off x="5034757" y="3223419"/>
            <a:ext cx="457200" cy="344487"/>
          </a:xfrm>
          <a:prstGeom prst="rightBracket">
            <a:avLst>
              <a:gd name="adj" fmla="val 37588"/>
            </a:avLst>
          </a:prstGeom>
          <a:noFill/>
          <a:ln w="19050">
            <a:solidFill>
              <a:srgbClr val="CC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mc:AlternateContent xmlns:mc="http://schemas.openxmlformats.org/markup-compatibility/2006">
        <mc:Choice xmlns:a14="http://schemas.microsoft.com/office/drawing/2010/main" Requires="a14">
          <p:sp>
            <p:nvSpPr>
              <p:cNvPr id="131114" name="Object 42"/>
              <p:cNvSpPr txBox="1"/>
              <p:nvPr/>
            </p:nvSpPr>
            <p:spPr bwMode="auto">
              <a:xfrm>
                <a:off x="1412874" y="5334000"/>
                <a:ext cx="6327469" cy="466725"/>
              </a:xfrm>
              <a:prstGeom prst="rect">
                <a:avLst/>
              </a:prstGeom>
              <a:noFill/>
              <a:ln>
                <a:noFill/>
              </a:ln>
              <a:effectLst/>
            </p:spPr>
            <p:txBody>
              <a:bodyPr>
                <a:noAutofit/>
              </a:bodyPr>
              <a:lstStyle/>
              <a:p>
                <a14:m>
                  <m:oMathPara xmlns:m="http://schemas.openxmlformats.org/officeDocument/2006/math">
                    <m:oMathParaPr>
                      <m:jc m:val="centerGroup"/>
                    </m:oMathParaPr>
                    <m:oMath xmlns:m="http://schemas.openxmlformats.org/officeDocument/2006/math">
                      <m:r>
                        <a:rPr lang="zh-CN" altLang="en-US" sz="2400" i="1">
                          <a:solidFill>
                            <a:srgbClr val="000000"/>
                          </a:solidFill>
                          <a:latin typeface="Cambria Math" panose="02040503050406030204" pitchFamily="18" charset="0"/>
                        </a:rPr>
                        <m:t>𝑌</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𝐴</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𝐷</m:t>
                      </m:r>
                      <m:r>
                        <a:rPr lang="zh-CN" altLang="en-US" sz="2400" i="1">
                          <a:solidFill>
                            <a:srgbClr val="000000"/>
                          </a:solidFill>
                          <a:latin typeface="Cambria Math" panose="02040503050406030204" pitchFamily="18" charset="0"/>
                        </a:rPr>
                        <m:t>+</m:t>
                      </m:r>
                      <m:bar>
                        <m:barPr>
                          <m:pos m:val="top"/>
                          <m:ctrlPr>
                            <a:rPr lang="zh-CN" altLang="en-US" sz="2400" i="1">
                              <a:solidFill>
                                <a:srgbClr val="000000"/>
                              </a:solidFill>
                              <a:latin typeface="Cambria Math" panose="02040503050406030204" pitchFamily="18" charset="0"/>
                            </a:rPr>
                          </m:ctrlPr>
                        </m:barPr>
                        <m:e>
                          <m:r>
                            <a:rPr lang="zh-CN" altLang="en-US" sz="2400" i="1">
                              <a:solidFill>
                                <a:srgbClr val="000000"/>
                              </a:solidFill>
                              <a:latin typeface="Cambria Math" panose="02040503050406030204" pitchFamily="18" charset="0"/>
                            </a:rPr>
                            <m:t>𝐵</m:t>
                          </m:r>
                        </m:e>
                      </m:bar>
                      <m:r>
                        <a:rPr lang="zh-CN" altLang="en-US" sz="2400" i="1">
                          <a:solidFill>
                            <a:srgbClr val="000000"/>
                          </a:solidFill>
                          <a:latin typeface="Cambria Math" panose="02040503050406030204" pitchFamily="18" charset="0"/>
                        </a:rPr>
                        <m:t>⋅</m:t>
                      </m:r>
                      <m:bar>
                        <m:barPr>
                          <m:pos m:val="top"/>
                          <m:ctrlPr>
                            <a:rPr lang="zh-CN" altLang="en-US" sz="2400" i="1">
                              <a:solidFill>
                                <a:srgbClr val="000000"/>
                              </a:solidFill>
                              <a:latin typeface="Cambria Math" panose="02040503050406030204" pitchFamily="18" charset="0"/>
                            </a:rPr>
                          </m:ctrlPr>
                        </m:barPr>
                        <m:e>
                          <m:r>
                            <a:rPr lang="zh-CN" altLang="en-US" sz="2400" i="1">
                              <a:solidFill>
                                <a:srgbClr val="000000"/>
                              </a:solidFill>
                              <a:latin typeface="Cambria Math" panose="02040503050406030204" pitchFamily="18" charset="0"/>
                            </a:rPr>
                            <m:t>𝐶</m:t>
                          </m:r>
                        </m:e>
                      </m:ba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𝐷</m:t>
                      </m:r>
                      <m:r>
                        <a:rPr lang="zh-CN" altLang="en-US" sz="2400" i="1">
                          <a:solidFill>
                            <a:srgbClr val="000000"/>
                          </a:solidFill>
                          <a:latin typeface="Cambria Math" panose="02040503050406030204" pitchFamily="18" charset="0"/>
                        </a:rPr>
                        <m:t>+</m:t>
                      </m:r>
                      <m:bar>
                        <m:barPr>
                          <m:pos m:val="top"/>
                          <m:ctrlPr>
                            <a:rPr lang="zh-CN" altLang="en-US" sz="2400" i="1">
                              <a:solidFill>
                                <a:srgbClr val="000000"/>
                              </a:solidFill>
                              <a:latin typeface="Cambria Math" panose="02040503050406030204" pitchFamily="18" charset="0"/>
                            </a:rPr>
                          </m:ctrlPr>
                        </m:barPr>
                        <m:e>
                          <m:r>
                            <a:rPr lang="zh-CN" altLang="en-US" sz="2400" i="1">
                              <a:solidFill>
                                <a:srgbClr val="000000"/>
                              </a:solidFill>
                              <a:latin typeface="Cambria Math" panose="02040503050406030204" pitchFamily="18" charset="0"/>
                            </a:rPr>
                            <m:t>𝐵</m:t>
                          </m:r>
                        </m:e>
                      </m:ba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𝐶</m:t>
                      </m:r>
                      <m:r>
                        <a:rPr lang="zh-CN" altLang="en-US" sz="2400" i="1">
                          <a:solidFill>
                            <a:srgbClr val="000000"/>
                          </a:solidFill>
                          <a:latin typeface="Cambria Math" panose="02040503050406030204" pitchFamily="18" charset="0"/>
                        </a:rPr>
                        <m:t>⋅</m:t>
                      </m:r>
                      <m:bar>
                        <m:barPr>
                          <m:pos m:val="top"/>
                          <m:ctrlPr>
                            <a:rPr lang="zh-CN" altLang="en-US" sz="2400" i="1">
                              <a:solidFill>
                                <a:srgbClr val="000000"/>
                              </a:solidFill>
                              <a:latin typeface="Cambria Math" panose="02040503050406030204" pitchFamily="18" charset="0"/>
                            </a:rPr>
                          </m:ctrlPr>
                        </m:barPr>
                        <m:e>
                          <m:r>
                            <a:rPr lang="zh-CN" altLang="en-US" sz="2400" i="1">
                              <a:solidFill>
                                <a:srgbClr val="000000"/>
                              </a:solidFill>
                              <a:latin typeface="Cambria Math" panose="02040503050406030204" pitchFamily="18" charset="0"/>
                            </a:rPr>
                            <m:t>𝐷</m:t>
                          </m:r>
                        </m:e>
                      </m:bar>
                      <m:r>
                        <a:rPr lang="zh-CN" altLang="en-US" sz="2400" i="1">
                          <a:solidFill>
                            <a:srgbClr val="000000"/>
                          </a:solidFill>
                          <a:latin typeface="Cambria Math" panose="02040503050406030204" pitchFamily="18" charset="0"/>
                        </a:rPr>
                        <m:t>+</m:t>
                      </m:r>
                      <m:bar>
                        <m:barPr>
                          <m:pos m:val="top"/>
                          <m:ctrlPr>
                            <a:rPr lang="zh-CN" altLang="en-US" sz="2400" i="1">
                              <a:solidFill>
                                <a:srgbClr val="000000"/>
                              </a:solidFill>
                              <a:latin typeface="Cambria Math" panose="02040503050406030204" pitchFamily="18" charset="0"/>
                            </a:rPr>
                          </m:ctrlPr>
                        </m:barPr>
                        <m:e>
                          <m:r>
                            <a:rPr lang="zh-CN" altLang="en-US" sz="2400" i="1">
                              <a:solidFill>
                                <a:srgbClr val="000000"/>
                              </a:solidFill>
                              <a:latin typeface="Cambria Math" panose="02040503050406030204" pitchFamily="18" charset="0"/>
                            </a:rPr>
                            <m:t>𝐴</m:t>
                          </m:r>
                        </m:e>
                      </m:ba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𝐵</m:t>
                      </m:r>
                      <m:r>
                        <a:rPr lang="zh-CN" altLang="en-US" sz="2400" i="1">
                          <a:solidFill>
                            <a:srgbClr val="000000"/>
                          </a:solidFill>
                          <a:latin typeface="Cambria Math" panose="02040503050406030204" pitchFamily="18" charset="0"/>
                        </a:rPr>
                        <m:t>⋅</m:t>
                      </m:r>
                      <m:bar>
                        <m:barPr>
                          <m:pos m:val="top"/>
                          <m:ctrlPr>
                            <a:rPr lang="zh-CN" altLang="en-US" sz="2400" i="1">
                              <a:solidFill>
                                <a:srgbClr val="000000"/>
                              </a:solidFill>
                              <a:latin typeface="Cambria Math" panose="02040503050406030204" pitchFamily="18" charset="0"/>
                            </a:rPr>
                          </m:ctrlPr>
                        </m:barPr>
                        <m:e>
                          <m:r>
                            <a:rPr lang="zh-CN" altLang="en-US" sz="2400" i="1">
                              <a:solidFill>
                                <a:srgbClr val="000000"/>
                              </a:solidFill>
                              <a:latin typeface="Cambria Math" panose="02040503050406030204" pitchFamily="18" charset="0"/>
                            </a:rPr>
                            <m:t>𝐶</m:t>
                          </m:r>
                        </m:e>
                      </m:bar>
                      <m:r>
                        <a:rPr lang="zh-CN" altLang="en-US" sz="2400" i="1">
                          <a:solidFill>
                            <a:srgbClr val="000000"/>
                          </a:solidFill>
                          <a:latin typeface="Cambria Math" panose="02040503050406030204" pitchFamily="18" charset="0"/>
                        </a:rPr>
                        <m:t>⋅</m:t>
                      </m:r>
                      <m:bar>
                        <m:barPr>
                          <m:pos m:val="top"/>
                          <m:ctrlPr>
                            <a:rPr lang="zh-CN" altLang="en-US" sz="2400" i="1">
                              <a:solidFill>
                                <a:srgbClr val="000000"/>
                              </a:solidFill>
                              <a:latin typeface="Cambria Math" panose="02040503050406030204" pitchFamily="18" charset="0"/>
                            </a:rPr>
                          </m:ctrlPr>
                        </m:barPr>
                        <m:e>
                          <m:r>
                            <a:rPr lang="zh-CN" altLang="en-US" sz="2400" i="1">
                              <a:solidFill>
                                <a:srgbClr val="000000"/>
                              </a:solidFill>
                              <a:latin typeface="Cambria Math" panose="02040503050406030204" pitchFamily="18" charset="0"/>
                            </a:rPr>
                            <m:t>𝐷</m:t>
                          </m:r>
                        </m:e>
                      </m:bar>
                    </m:oMath>
                  </m:oMathPara>
                </a14:m>
                <a:endParaRPr lang="zh-CN" altLang="en-US" sz="2400" dirty="0"/>
              </a:p>
            </p:txBody>
          </p:sp>
        </mc:Choice>
        <mc:Fallback>
          <p:sp>
            <p:nvSpPr>
              <p:cNvPr id="131114" name="Object 42"/>
              <p:cNvSpPr txBox="1">
                <a:spLocks noRot="1" noChangeAspect="1" noMove="1" noResize="1" noEditPoints="1" noAdjustHandles="1" noChangeArrowheads="1" noChangeShapeType="1" noTextEdit="1"/>
              </p:cNvSpPr>
              <p:nvPr/>
            </p:nvSpPr>
            <p:spPr bwMode="auto">
              <a:xfrm>
                <a:off x="1412874" y="5334000"/>
                <a:ext cx="6327469" cy="466725"/>
              </a:xfrm>
              <a:prstGeom prst="rect">
                <a:avLst/>
              </a:prstGeom>
              <a:blipFill rotWithShape="1">
                <a:blip r:embed="rId3"/>
                <a:stretch>
                  <a:fillRect l="-10" r="5"/>
                </a:stretch>
              </a:blipFill>
              <a:ln>
                <a:noFill/>
              </a:ln>
              <a:effectLst/>
            </p:spPr>
            <p:txBody>
              <a:bodyPr/>
              <a:lstStyle/>
              <a:p>
                <a:r>
                  <a:rPr lang="zh-CN" altLang="en-US">
                    <a:noFill/>
                  </a:rPr>
                  <a:t> </a:t>
                </a:r>
              </a:p>
            </p:txBody>
          </p:sp>
        </mc:Fallback>
      </mc:AlternateContent>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31078"/>
                                        </p:tgtEl>
                                        <p:attrNameLst>
                                          <p:attrName>style.visibility</p:attrName>
                                        </p:attrNameLst>
                                      </p:cBhvr>
                                      <p:to>
                                        <p:strVal val="visible"/>
                                      </p:to>
                                    </p:set>
                                    <p:anim calcmode="lin" valueType="num">
                                      <p:cBhvr additive="base">
                                        <p:cTn id="7" dur="500" fill="hold"/>
                                        <p:tgtEl>
                                          <p:spTgt spid="131078"/>
                                        </p:tgtEl>
                                        <p:attrNameLst>
                                          <p:attrName>ppt_x</p:attrName>
                                        </p:attrNameLst>
                                      </p:cBhvr>
                                      <p:tavLst>
                                        <p:tav tm="0">
                                          <p:val>
                                            <p:strVal val="0-#ppt_w/2"/>
                                          </p:val>
                                        </p:tav>
                                        <p:tav tm="100000">
                                          <p:val>
                                            <p:strVal val="#ppt_x"/>
                                          </p:val>
                                        </p:tav>
                                      </p:tavLst>
                                    </p:anim>
                                    <p:anim calcmode="lin" valueType="num">
                                      <p:cBhvr additive="base">
                                        <p:cTn id="8" dur="500" fill="hold"/>
                                        <p:tgtEl>
                                          <p:spTgt spid="13107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1076"/>
                                        </p:tgtEl>
                                        <p:attrNameLst>
                                          <p:attrName>style.visibility</p:attrName>
                                        </p:attrNameLst>
                                      </p:cBhvr>
                                      <p:to>
                                        <p:strVal val="visible"/>
                                      </p:to>
                                    </p:set>
                                    <p:anim calcmode="lin" valueType="num">
                                      <p:cBhvr additive="base">
                                        <p:cTn id="13" dur="500" fill="hold"/>
                                        <p:tgtEl>
                                          <p:spTgt spid="131076"/>
                                        </p:tgtEl>
                                        <p:attrNameLst>
                                          <p:attrName>ppt_x</p:attrName>
                                        </p:attrNameLst>
                                      </p:cBhvr>
                                      <p:tavLst>
                                        <p:tav tm="0">
                                          <p:val>
                                            <p:strVal val="0-#ppt_w/2"/>
                                          </p:val>
                                        </p:tav>
                                        <p:tav tm="100000">
                                          <p:val>
                                            <p:strVal val="#ppt_x"/>
                                          </p:val>
                                        </p:tav>
                                      </p:tavLst>
                                    </p:anim>
                                    <p:anim calcmode="lin" valueType="num">
                                      <p:cBhvr additive="base">
                                        <p:cTn id="14" dur="500" fill="hold"/>
                                        <p:tgtEl>
                                          <p:spTgt spid="13107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31110"/>
                                        </p:tgtEl>
                                        <p:attrNameLst>
                                          <p:attrName>style.visibility</p:attrName>
                                        </p:attrNameLst>
                                      </p:cBhvr>
                                      <p:to>
                                        <p:strVal val="visible"/>
                                      </p:to>
                                    </p:set>
                                    <p:anim calcmode="lin" valueType="num">
                                      <p:cBhvr additive="base">
                                        <p:cTn id="19" dur="500" fill="hold"/>
                                        <p:tgtEl>
                                          <p:spTgt spid="131110"/>
                                        </p:tgtEl>
                                        <p:attrNameLst>
                                          <p:attrName>ppt_x</p:attrName>
                                        </p:attrNameLst>
                                      </p:cBhvr>
                                      <p:tavLst>
                                        <p:tav tm="0">
                                          <p:val>
                                            <p:strVal val="0-#ppt_w/2"/>
                                          </p:val>
                                        </p:tav>
                                        <p:tav tm="100000">
                                          <p:val>
                                            <p:strVal val="#ppt_x"/>
                                          </p:val>
                                        </p:tav>
                                      </p:tavLst>
                                    </p:anim>
                                    <p:anim calcmode="lin" valueType="num">
                                      <p:cBhvr additive="base">
                                        <p:cTn id="20" dur="500" fill="hold"/>
                                        <p:tgtEl>
                                          <p:spTgt spid="13111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31111"/>
                                        </p:tgtEl>
                                        <p:attrNameLst>
                                          <p:attrName>style.visibility</p:attrName>
                                        </p:attrNameLst>
                                      </p:cBhvr>
                                      <p:to>
                                        <p:strVal val="visible"/>
                                      </p:to>
                                    </p:set>
                                    <p:anim calcmode="lin" valueType="num">
                                      <p:cBhvr additive="base">
                                        <p:cTn id="25" dur="500" fill="hold"/>
                                        <p:tgtEl>
                                          <p:spTgt spid="131111"/>
                                        </p:tgtEl>
                                        <p:attrNameLst>
                                          <p:attrName>ppt_x</p:attrName>
                                        </p:attrNameLst>
                                      </p:cBhvr>
                                      <p:tavLst>
                                        <p:tav tm="0">
                                          <p:val>
                                            <p:strVal val="0-#ppt_w/2"/>
                                          </p:val>
                                        </p:tav>
                                        <p:tav tm="100000">
                                          <p:val>
                                            <p:strVal val="#ppt_x"/>
                                          </p:val>
                                        </p:tav>
                                      </p:tavLst>
                                    </p:anim>
                                    <p:anim calcmode="lin" valueType="num">
                                      <p:cBhvr additive="base">
                                        <p:cTn id="26" dur="500" fill="hold"/>
                                        <p:tgtEl>
                                          <p:spTgt spid="131111"/>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31112"/>
                                        </p:tgtEl>
                                        <p:attrNameLst>
                                          <p:attrName>style.visibility</p:attrName>
                                        </p:attrNameLst>
                                      </p:cBhvr>
                                      <p:to>
                                        <p:strVal val="visible"/>
                                      </p:to>
                                    </p:set>
                                    <p:anim calcmode="lin" valueType="num">
                                      <p:cBhvr additive="base">
                                        <p:cTn id="31" dur="500" fill="hold"/>
                                        <p:tgtEl>
                                          <p:spTgt spid="131112"/>
                                        </p:tgtEl>
                                        <p:attrNameLst>
                                          <p:attrName>ppt_x</p:attrName>
                                        </p:attrNameLst>
                                      </p:cBhvr>
                                      <p:tavLst>
                                        <p:tav tm="0">
                                          <p:val>
                                            <p:strVal val="0-#ppt_w/2"/>
                                          </p:val>
                                        </p:tav>
                                        <p:tav tm="100000">
                                          <p:val>
                                            <p:strVal val="#ppt_x"/>
                                          </p:val>
                                        </p:tav>
                                      </p:tavLst>
                                    </p:anim>
                                    <p:anim calcmode="lin" valueType="num">
                                      <p:cBhvr additive="base">
                                        <p:cTn id="32" dur="500" fill="hold"/>
                                        <p:tgtEl>
                                          <p:spTgt spid="13111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31113"/>
                                        </p:tgtEl>
                                        <p:attrNameLst>
                                          <p:attrName>style.visibility</p:attrName>
                                        </p:attrNameLst>
                                      </p:cBhvr>
                                      <p:to>
                                        <p:strVal val="visible"/>
                                      </p:to>
                                    </p:set>
                                    <p:anim calcmode="lin" valueType="num">
                                      <p:cBhvr additive="base">
                                        <p:cTn id="37" dur="500" fill="hold"/>
                                        <p:tgtEl>
                                          <p:spTgt spid="131113"/>
                                        </p:tgtEl>
                                        <p:attrNameLst>
                                          <p:attrName>ppt_x</p:attrName>
                                        </p:attrNameLst>
                                      </p:cBhvr>
                                      <p:tavLst>
                                        <p:tav tm="0">
                                          <p:val>
                                            <p:strVal val="0-#ppt_w/2"/>
                                          </p:val>
                                        </p:tav>
                                        <p:tav tm="100000">
                                          <p:val>
                                            <p:strVal val="#ppt_x"/>
                                          </p:val>
                                        </p:tav>
                                      </p:tavLst>
                                    </p:anim>
                                    <p:anim calcmode="lin" valueType="num">
                                      <p:cBhvr additive="base">
                                        <p:cTn id="38" dur="500" fill="hold"/>
                                        <p:tgtEl>
                                          <p:spTgt spid="131113"/>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31075"/>
                                        </p:tgtEl>
                                        <p:attrNameLst>
                                          <p:attrName>style.visibility</p:attrName>
                                        </p:attrNameLst>
                                      </p:cBhvr>
                                      <p:to>
                                        <p:strVal val="visible"/>
                                      </p:to>
                                    </p:set>
                                    <p:anim calcmode="lin" valueType="num">
                                      <p:cBhvr additive="base">
                                        <p:cTn id="43" dur="500" fill="hold"/>
                                        <p:tgtEl>
                                          <p:spTgt spid="131075"/>
                                        </p:tgtEl>
                                        <p:attrNameLst>
                                          <p:attrName>ppt_x</p:attrName>
                                        </p:attrNameLst>
                                      </p:cBhvr>
                                      <p:tavLst>
                                        <p:tav tm="0">
                                          <p:val>
                                            <p:strVal val="0-#ppt_w/2"/>
                                          </p:val>
                                        </p:tav>
                                        <p:tav tm="100000">
                                          <p:val>
                                            <p:strVal val="#ppt_x"/>
                                          </p:val>
                                        </p:tav>
                                      </p:tavLst>
                                    </p:anim>
                                    <p:anim calcmode="lin" valueType="num">
                                      <p:cBhvr additive="base">
                                        <p:cTn id="44" dur="500" fill="hold"/>
                                        <p:tgtEl>
                                          <p:spTgt spid="131075"/>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31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5" grpId="0" animBg="1" autoUpdateAnimBg="0"/>
      <p:bldP spid="131076" grpId="0" animBg="1"/>
      <p:bldP spid="131110" grpId="0" animBg="1"/>
      <p:bldP spid="131111" grpId="0" animBg="1"/>
      <p:bldP spid="131112" grpId="0" animBg="1"/>
      <p:bldP spid="131113" grpId="0" animBg="1"/>
      <p:bldP spid="131114"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卡诺图化简</a:t>
            </a:r>
            <a:endParaRPr lang="zh-CN" altLang="en-US" dirty="0"/>
          </a:p>
        </p:txBody>
      </p:sp>
      <p:sp>
        <p:nvSpPr>
          <p:cNvPr id="5" name="灯片编号占位符 4"/>
          <p:cNvSpPr>
            <a:spLocks noGrp="1"/>
          </p:cNvSpPr>
          <p:nvPr>
            <p:ph type="sldNum" sz="quarter" idx="4294967295"/>
          </p:nvPr>
        </p:nvSpPr>
        <p:spPr>
          <a:xfrm>
            <a:off x="8642350" y="6489700"/>
            <a:ext cx="501650" cy="333375"/>
          </a:xfrm>
          <a:prstGeom prst="rect">
            <a:avLst/>
          </a:prstGeom>
        </p:spPr>
        <p:txBody>
          <a:bodyPr/>
          <a:lstStyle/>
          <a:p>
            <a:pPr>
              <a:defRPr/>
            </a:pPr>
            <a:fld id="{0C6AB4C8-3ADE-422A-88BF-39C99268A1B3}" type="slidenum">
              <a:rPr lang="en-US" altLang="zh-CN" smtClean="0"/>
            </a:fld>
            <a:endParaRPr lang="en-US" altLang="zh-CN"/>
          </a:p>
        </p:txBody>
      </p:sp>
      <p:sp>
        <p:nvSpPr>
          <p:cNvPr id="6" name="Rectangle 102"/>
          <p:cNvSpPr>
            <a:spLocks noChangeArrowheads="1"/>
          </p:cNvSpPr>
          <p:nvPr/>
        </p:nvSpPr>
        <p:spPr bwMode="auto">
          <a:xfrm>
            <a:off x="2667000" y="3380581"/>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grpSp>
        <p:nvGrpSpPr>
          <p:cNvPr id="7" name="Group 103"/>
          <p:cNvGrpSpPr/>
          <p:nvPr/>
        </p:nvGrpSpPr>
        <p:grpSpPr bwMode="auto">
          <a:xfrm>
            <a:off x="1828800" y="2697956"/>
            <a:ext cx="1219200" cy="2198688"/>
            <a:chOff x="1440" y="2304"/>
            <a:chExt cx="768" cy="1385"/>
          </a:xfrm>
        </p:grpSpPr>
        <p:sp>
          <p:nvSpPr>
            <p:cNvPr id="8" name="Line 104"/>
            <p:cNvSpPr>
              <a:spLocks noChangeShapeType="1"/>
            </p:cNvSpPr>
            <p:nvPr/>
          </p:nvSpPr>
          <p:spPr bwMode="auto">
            <a:xfrm>
              <a:off x="1728" y="2496"/>
              <a:ext cx="240" cy="24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 name="Text Box 105"/>
            <p:cNvSpPr txBox="1">
              <a:spLocks noChangeArrowheads="1"/>
            </p:cNvSpPr>
            <p:nvPr/>
          </p:nvSpPr>
          <p:spPr bwMode="auto">
            <a:xfrm>
              <a:off x="1440" y="2496"/>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i="1" dirty="0"/>
                <a:t>DE</a:t>
              </a:r>
              <a:endParaRPr lang="en-US" altLang="zh-CN" sz="1800" i="1" dirty="0"/>
            </a:p>
          </p:txBody>
        </p:sp>
        <p:sp>
          <p:nvSpPr>
            <p:cNvPr id="10" name="Text Box 106"/>
            <p:cNvSpPr txBox="1">
              <a:spLocks noChangeArrowheads="1"/>
            </p:cNvSpPr>
            <p:nvPr/>
          </p:nvSpPr>
          <p:spPr bwMode="auto">
            <a:xfrm>
              <a:off x="1728" y="2304"/>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i="1" dirty="0"/>
                <a:t>ABC</a:t>
              </a:r>
              <a:endParaRPr lang="en-US" altLang="zh-CN" sz="1800" i="1" dirty="0"/>
            </a:p>
          </p:txBody>
        </p:sp>
        <p:sp>
          <p:nvSpPr>
            <p:cNvPr id="11" name="Text Box 107"/>
            <p:cNvSpPr txBox="1">
              <a:spLocks noChangeArrowheads="1"/>
            </p:cNvSpPr>
            <p:nvPr/>
          </p:nvSpPr>
          <p:spPr bwMode="auto">
            <a:xfrm>
              <a:off x="1728" y="2784"/>
              <a:ext cx="288" cy="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00</a:t>
              </a:r>
              <a:endParaRPr lang="en-US" altLang="zh-CN" sz="1600"/>
            </a:p>
            <a:p>
              <a:pPr>
                <a:spcBef>
                  <a:spcPct val="50000"/>
                </a:spcBef>
              </a:pPr>
              <a:r>
                <a:rPr lang="en-US" altLang="zh-CN" sz="1600"/>
                <a:t>01</a:t>
              </a:r>
              <a:endParaRPr lang="en-US" altLang="zh-CN" sz="1600"/>
            </a:p>
            <a:p>
              <a:pPr>
                <a:spcBef>
                  <a:spcPct val="50000"/>
                </a:spcBef>
              </a:pPr>
              <a:r>
                <a:rPr lang="en-US" altLang="zh-CN" sz="1600"/>
                <a:t>11</a:t>
              </a:r>
              <a:endParaRPr lang="en-US" altLang="zh-CN" sz="1600"/>
            </a:p>
            <a:p>
              <a:pPr>
                <a:spcBef>
                  <a:spcPct val="50000"/>
                </a:spcBef>
              </a:pPr>
              <a:r>
                <a:rPr lang="en-US" altLang="zh-CN" sz="1600"/>
                <a:t>10</a:t>
              </a:r>
              <a:endParaRPr lang="en-US" altLang="zh-CN" sz="1600"/>
            </a:p>
          </p:txBody>
        </p:sp>
      </p:grpSp>
      <p:sp>
        <p:nvSpPr>
          <p:cNvPr id="12" name="Line 108"/>
          <p:cNvSpPr>
            <a:spLocks noChangeShapeType="1"/>
          </p:cNvSpPr>
          <p:nvPr/>
        </p:nvSpPr>
        <p:spPr bwMode="auto">
          <a:xfrm>
            <a:off x="4495800" y="2850356"/>
            <a:ext cx="0" cy="2438400"/>
          </a:xfrm>
          <a:prstGeom prst="line">
            <a:avLst/>
          </a:prstGeom>
          <a:noFill/>
          <a:ln w="76200" cmpd="tri">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endParaRPr lang="zh-CN" altLang="en-US"/>
          </a:p>
        </p:txBody>
      </p:sp>
      <p:grpSp>
        <p:nvGrpSpPr>
          <p:cNvPr id="13" name="Group 109"/>
          <p:cNvGrpSpPr/>
          <p:nvPr/>
        </p:nvGrpSpPr>
        <p:grpSpPr bwMode="auto">
          <a:xfrm>
            <a:off x="2667000" y="3383756"/>
            <a:ext cx="3657600" cy="1524000"/>
            <a:chOff x="3024" y="2736"/>
            <a:chExt cx="2304" cy="960"/>
          </a:xfrm>
        </p:grpSpPr>
        <p:sp>
          <p:nvSpPr>
            <p:cNvPr id="14" name="Line 110"/>
            <p:cNvSpPr>
              <a:spLocks noChangeShapeType="1"/>
            </p:cNvSpPr>
            <p:nvPr/>
          </p:nvSpPr>
          <p:spPr bwMode="auto">
            <a:xfrm>
              <a:off x="3024" y="2736"/>
              <a:ext cx="2304"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111"/>
            <p:cNvSpPr>
              <a:spLocks noChangeShapeType="1"/>
            </p:cNvSpPr>
            <p:nvPr/>
          </p:nvSpPr>
          <p:spPr bwMode="auto">
            <a:xfrm>
              <a:off x="3024" y="3696"/>
              <a:ext cx="2304" cy="0"/>
            </a:xfrm>
            <a:prstGeom prst="line">
              <a:avLst/>
            </a:prstGeom>
            <a:noFill/>
            <a:ln w="190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112"/>
            <p:cNvSpPr>
              <a:spLocks noChangeShapeType="1"/>
            </p:cNvSpPr>
            <p:nvPr/>
          </p:nvSpPr>
          <p:spPr bwMode="auto">
            <a:xfrm>
              <a:off x="3024" y="3216"/>
              <a:ext cx="230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113"/>
            <p:cNvSpPr>
              <a:spLocks noChangeShapeType="1"/>
            </p:cNvSpPr>
            <p:nvPr/>
          </p:nvSpPr>
          <p:spPr bwMode="auto">
            <a:xfrm>
              <a:off x="3024" y="2976"/>
              <a:ext cx="230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114"/>
            <p:cNvSpPr>
              <a:spLocks noChangeShapeType="1"/>
            </p:cNvSpPr>
            <p:nvPr/>
          </p:nvSpPr>
          <p:spPr bwMode="auto">
            <a:xfrm>
              <a:off x="3024" y="3458"/>
              <a:ext cx="230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115"/>
            <p:cNvSpPr>
              <a:spLocks noChangeShapeType="1"/>
            </p:cNvSpPr>
            <p:nvPr/>
          </p:nvSpPr>
          <p:spPr bwMode="auto">
            <a:xfrm>
              <a:off x="3024" y="2736"/>
              <a:ext cx="0" cy="96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116"/>
            <p:cNvSpPr>
              <a:spLocks noChangeShapeType="1"/>
            </p:cNvSpPr>
            <p:nvPr/>
          </p:nvSpPr>
          <p:spPr bwMode="auto">
            <a:xfrm>
              <a:off x="3312" y="2736"/>
              <a:ext cx="0" cy="96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117"/>
            <p:cNvSpPr>
              <a:spLocks noChangeShapeType="1"/>
            </p:cNvSpPr>
            <p:nvPr/>
          </p:nvSpPr>
          <p:spPr bwMode="auto">
            <a:xfrm>
              <a:off x="3600" y="2736"/>
              <a:ext cx="0" cy="96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Line 118"/>
            <p:cNvSpPr>
              <a:spLocks noChangeShapeType="1"/>
            </p:cNvSpPr>
            <p:nvPr/>
          </p:nvSpPr>
          <p:spPr bwMode="auto">
            <a:xfrm>
              <a:off x="3888" y="2736"/>
              <a:ext cx="0" cy="96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Line 119"/>
            <p:cNvSpPr>
              <a:spLocks noChangeShapeType="1"/>
            </p:cNvSpPr>
            <p:nvPr/>
          </p:nvSpPr>
          <p:spPr bwMode="auto">
            <a:xfrm>
              <a:off x="4176" y="2736"/>
              <a:ext cx="0" cy="96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120"/>
            <p:cNvSpPr>
              <a:spLocks noChangeShapeType="1"/>
            </p:cNvSpPr>
            <p:nvPr/>
          </p:nvSpPr>
          <p:spPr bwMode="auto">
            <a:xfrm>
              <a:off x="4464" y="2736"/>
              <a:ext cx="0" cy="96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Line 121"/>
            <p:cNvSpPr>
              <a:spLocks noChangeShapeType="1"/>
            </p:cNvSpPr>
            <p:nvPr/>
          </p:nvSpPr>
          <p:spPr bwMode="auto">
            <a:xfrm>
              <a:off x="4752" y="2736"/>
              <a:ext cx="0" cy="96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Line 122"/>
            <p:cNvSpPr>
              <a:spLocks noChangeShapeType="1"/>
            </p:cNvSpPr>
            <p:nvPr/>
          </p:nvSpPr>
          <p:spPr bwMode="auto">
            <a:xfrm>
              <a:off x="5040" y="2736"/>
              <a:ext cx="0" cy="96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Line 123"/>
            <p:cNvSpPr>
              <a:spLocks noChangeShapeType="1"/>
            </p:cNvSpPr>
            <p:nvPr/>
          </p:nvSpPr>
          <p:spPr bwMode="auto">
            <a:xfrm>
              <a:off x="5328" y="2736"/>
              <a:ext cx="0" cy="96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8" name="Group 124"/>
          <p:cNvGrpSpPr/>
          <p:nvPr/>
        </p:nvGrpSpPr>
        <p:grpSpPr bwMode="auto">
          <a:xfrm>
            <a:off x="2667000" y="3002756"/>
            <a:ext cx="1905000" cy="336550"/>
            <a:chOff x="3024" y="2496"/>
            <a:chExt cx="1200" cy="212"/>
          </a:xfrm>
        </p:grpSpPr>
        <p:sp>
          <p:nvSpPr>
            <p:cNvPr id="29" name="Text Box 125"/>
            <p:cNvSpPr txBox="1">
              <a:spLocks noChangeArrowheads="1"/>
            </p:cNvSpPr>
            <p:nvPr/>
          </p:nvSpPr>
          <p:spPr bwMode="auto">
            <a:xfrm>
              <a:off x="3024" y="2496"/>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000</a:t>
              </a:r>
              <a:endParaRPr lang="en-US" altLang="zh-CN" sz="1600"/>
            </a:p>
          </p:txBody>
        </p:sp>
        <p:sp>
          <p:nvSpPr>
            <p:cNvPr id="30" name="Text Box 126"/>
            <p:cNvSpPr txBox="1">
              <a:spLocks noChangeArrowheads="1"/>
            </p:cNvSpPr>
            <p:nvPr/>
          </p:nvSpPr>
          <p:spPr bwMode="auto">
            <a:xfrm>
              <a:off x="3888" y="2496"/>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010</a:t>
              </a:r>
              <a:endParaRPr lang="en-US" altLang="zh-CN" sz="1600"/>
            </a:p>
          </p:txBody>
        </p:sp>
        <p:sp>
          <p:nvSpPr>
            <p:cNvPr id="31" name="Text Box 127"/>
            <p:cNvSpPr txBox="1">
              <a:spLocks noChangeArrowheads="1"/>
            </p:cNvSpPr>
            <p:nvPr/>
          </p:nvSpPr>
          <p:spPr bwMode="auto">
            <a:xfrm>
              <a:off x="3312" y="2496"/>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001</a:t>
              </a:r>
              <a:endParaRPr lang="en-US" altLang="zh-CN" sz="1600"/>
            </a:p>
          </p:txBody>
        </p:sp>
        <p:sp>
          <p:nvSpPr>
            <p:cNvPr id="32" name="Text Box 128"/>
            <p:cNvSpPr txBox="1">
              <a:spLocks noChangeArrowheads="1"/>
            </p:cNvSpPr>
            <p:nvPr/>
          </p:nvSpPr>
          <p:spPr bwMode="auto">
            <a:xfrm>
              <a:off x="3600" y="2496"/>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011</a:t>
              </a:r>
              <a:endParaRPr lang="en-US" altLang="zh-CN" sz="1600"/>
            </a:p>
          </p:txBody>
        </p:sp>
      </p:grpSp>
      <p:grpSp>
        <p:nvGrpSpPr>
          <p:cNvPr id="33" name="Group 129"/>
          <p:cNvGrpSpPr/>
          <p:nvPr/>
        </p:nvGrpSpPr>
        <p:grpSpPr bwMode="auto">
          <a:xfrm>
            <a:off x="4038600" y="2850356"/>
            <a:ext cx="990600" cy="488950"/>
            <a:chOff x="3888" y="2208"/>
            <a:chExt cx="624" cy="308"/>
          </a:xfrm>
        </p:grpSpPr>
        <p:sp>
          <p:nvSpPr>
            <p:cNvPr id="34" name="Text Box 130"/>
            <p:cNvSpPr txBox="1">
              <a:spLocks noChangeArrowheads="1"/>
            </p:cNvSpPr>
            <p:nvPr/>
          </p:nvSpPr>
          <p:spPr bwMode="auto">
            <a:xfrm>
              <a:off x="4176" y="2304"/>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solidFill>
                    <a:srgbClr val="FF0000"/>
                  </a:solidFill>
                </a:rPr>
                <a:t>1</a:t>
              </a:r>
              <a:r>
                <a:rPr lang="en-US" altLang="zh-CN" sz="1600"/>
                <a:t>10</a:t>
              </a:r>
              <a:endParaRPr lang="en-US" altLang="zh-CN" sz="1600"/>
            </a:p>
          </p:txBody>
        </p:sp>
        <p:sp>
          <p:nvSpPr>
            <p:cNvPr id="35" name="Line 131"/>
            <p:cNvSpPr>
              <a:spLocks noChangeShapeType="1"/>
            </p:cNvSpPr>
            <p:nvPr/>
          </p:nvSpPr>
          <p:spPr bwMode="auto">
            <a:xfrm flipV="1">
              <a:off x="4320" y="2208"/>
              <a:ext cx="0"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Line 132"/>
            <p:cNvSpPr>
              <a:spLocks noChangeShapeType="1"/>
            </p:cNvSpPr>
            <p:nvPr/>
          </p:nvSpPr>
          <p:spPr bwMode="auto">
            <a:xfrm flipH="1">
              <a:off x="4032" y="2208"/>
              <a:ext cx="28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 name="Text Box 133"/>
            <p:cNvSpPr txBox="1">
              <a:spLocks noChangeArrowheads="1"/>
            </p:cNvSpPr>
            <p:nvPr/>
          </p:nvSpPr>
          <p:spPr bwMode="auto">
            <a:xfrm>
              <a:off x="3888" y="2304"/>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solidFill>
                    <a:srgbClr val="FF0000"/>
                  </a:solidFill>
                </a:rPr>
                <a:t>0</a:t>
              </a:r>
              <a:r>
                <a:rPr lang="en-US" altLang="zh-CN" sz="1600"/>
                <a:t>10</a:t>
              </a:r>
              <a:endParaRPr lang="en-US" altLang="zh-CN" sz="1600"/>
            </a:p>
          </p:txBody>
        </p:sp>
        <p:sp>
          <p:nvSpPr>
            <p:cNvPr id="38" name="Line 134"/>
            <p:cNvSpPr>
              <a:spLocks noChangeShapeType="1"/>
            </p:cNvSpPr>
            <p:nvPr/>
          </p:nvSpPr>
          <p:spPr bwMode="auto">
            <a:xfrm>
              <a:off x="4032" y="2208"/>
              <a:ext cx="0"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9" name="Group 135"/>
          <p:cNvGrpSpPr/>
          <p:nvPr/>
        </p:nvGrpSpPr>
        <p:grpSpPr bwMode="auto">
          <a:xfrm>
            <a:off x="3581400" y="2655094"/>
            <a:ext cx="1828800" cy="685800"/>
            <a:chOff x="3600" y="2016"/>
            <a:chExt cx="1152" cy="432"/>
          </a:xfrm>
        </p:grpSpPr>
        <p:sp>
          <p:nvSpPr>
            <p:cNvPr id="40" name="Text Box 136"/>
            <p:cNvSpPr txBox="1">
              <a:spLocks noChangeArrowheads="1"/>
            </p:cNvSpPr>
            <p:nvPr/>
          </p:nvSpPr>
          <p:spPr bwMode="auto">
            <a:xfrm>
              <a:off x="4416" y="2236"/>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solidFill>
                    <a:srgbClr val="FF0000"/>
                  </a:solidFill>
                </a:rPr>
                <a:t>1</a:t>
              </a:r>
              <a:r>
                <a:rPr lang="en-US" altLang="zh-CN" sz="1600"/>
                <a:t>11</a:t>
              </a:r>
              <a:endParaRPr lang="en-US" altLang="zh-CN" sz="1600"/>
            </a:p>
          </p:txBody>
        </p:sp>
        <p:sp>
          <p:nvSpPr>
            <p:cNvPr id="41" name="Text Box 137"/>
            <p:cNvSpPr txBox="1">
              <a:spLocks noChangeArrowheads="1"/>
            </p:cNvSpPr>
            <p:nvPr/>
          </p:nvSpPr>
          <p:spPr bwMode="auto">
            <a:xfrm>
              <a:off x="3600" y="2236"/>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solidFill>
                    <a:srgbClr val="FF0000"/>
                  </a:solidFill>
                </a:rPr>
                <a:t>0</a:t>
              </a:r>
              <a:r>
                <a:rPr lang="en-US" altLang="zh-CN" sz="1600"/>
                <a:t>11</a:t>
              </a:r>
              <a:endParaRPr lang="en-US" altLang="zh-CN" sz="1600"/>
            </a:p>
          </p:txBody>
        </p:sp>
        <p:sp>
          <p:nvSpPr>
            <p:cNvPr id="42" name="Line 138"/>
            <p:cNvSpPr>
              <a:spLocks noChangeShapeType="1"/>
            </p:cNvSpPr>
            <p:nvPr/>
          </p:nvSpPr>
          <p:spPr bwMode="auto">
            <a:xfrm flipH="1">
              <a:off x="3744" y="2016"/>
              <a:ext cx="0" cy="22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Line 139"/>
            <p:cNvSpPr>
              <a:spLocks noChangeShapeType="1"/>
            </p:cNvSpPr>
            <p:nvPr/>
          </p:nvSpPr>
          <p:spPr bwMode="auto">
            <a:xfrm>
              <a:off x="3744" y="2016"/>
              <a:ext cx="81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140"/>
            <p:cNvSpPr>
              <a:spLocks noChangeShapeType="1"/>
            </p:cNvSpPr>
            <p:nvPr/>
          </p:nvSpPr>
          <p:spPr bwMode="auto">
            <a:xfrm flipH="1" flipV="1">
              <a:off x="4560" y="2016"/>
              <a:ext cx="0" cy="22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5" name="Group 141"/>
          <p:cNvGrpSpPr/>
          <p:nvPr/>
        </p:nvGrpSpPr>
        <p:grpSpPr bwMode="auto">
          <a:xfrm>
            <a:off x="3124200" y="2470944"/>
            <a:ext cx="2743200" cy="869950"/>
            <a:chOff x="3312" y="1776"/>
            <a:chExt cx="1728" cy="548"/>
          </a:xfrm>
        </p:grpSpPr>
        <p:sp>
          <p:nvSpPr>
            <p:cNvPr id="46" name="Text Box 142"/>
            <p:cNvSpPr txBox="1">
              <a:spLocks noChangeArrowheads="1"/>
            </p:cNvSpPr>
            <p:nvPr/>
          </p:nvSpPr>
          <p:spPr bwMode="auto">
            <a:xfrm>
              <a:off x="4704" y="2112"/>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solidFill>
                    <a:srgbClr val="FF0000"/>
                  </a:solidFill>
                </a:rPr>
                <a:t>1</a:t>
              </a:r>
              <a:r>
                <a:rPr lang="en-US" altLang="zh-CN" sz="1600"/>
                <a:t>01</a:t>
              </a:r>
              <a:endParaRPr lang="en-US" altLang="zh-CN" sz="1600"/>
            </a:p>
          </p:txBody>
        </p:sp>
        <p:sp>
          <p:nvSpPr>
            <p:cNvPr id="47" name="Text Box 143"/>
            <p:cNvSpPr txBox="1">
              <a:spLocks noChangeArrowheads="1"/>
            </p:cNvSpPr>
            <p:nvPr/>
          </p:nvSpPr>
          <p:spPr bwMode="auto">
            <a:xfrm>
              <a:off x="3312" y="2112"/>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solidFill>
                    <a:srgbClr val="FF0000"/>
                  </a:solidFill>
                </a:rPr>
                <a:t>0</a:t>
              </a:r>
              <a:r>
                <a:rPr lang="en-US" altLang="zh-CN" sz="1600"/>
                <a:t>01</a:t>
              </a:r>
              <a:endParaRPr lang="en-US" altLang="zh-CN" sz="1600"/>
            </a:p>
          </p:txBody>
        </p:sp>
        <p:sp>
          <p:nvSpPr>
            <p:cNvPr id="48" name="Line 144"/>
            <p:cNvSpPr>
              <a:spLocks noChangeShapeType="1"/>
            </p:cNvSpPr>
            <p:nvPr/>
          </p:nvSpPr>
          <p:spPr bwMode="auto">
            <a:xfrm flipV="1">
              <a:off x="3456" y="177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 name="Line 145"/>
            <p:cNvSpPr>
              <a:spLocks noChangeShapeType="1"/>
            </p:cNvSpPr>
            <p:nvPr/>
          </p:nvSpPr>
          <p:spPr bwMode="auto">
            <a:xfrm>
              <a:off x="3456" y="1776"/>
              <a:ext cx="139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Line 146"/>
            <p:cNvSpPr>
              <a:spLocks noChangeShapeType="1"/>
            </p:cNvSpPr>
            <p:nvPr/>
          </p:nvSpPr>
          <p:spPr bwMode="auto">
            <a:xfrm flipV="1">
              <a:off x="4848" y="177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1" name="Group 147"/>
          <p:cNvGrpSpPr/>
          <p:nvPr/>
        </p:nvGrpSpPr>
        <p:grpSpPr bwMode="auto">
          <a:xfrm>
            <a:off x="2667000" y="2316956"/>
            <a:ext cx="3657600" cy="1022350"/>
            <a:chOff x="3024" y="1536"/>
            <a:chExt cx="2304" cy="644"/>
          </a:xfrm>
        </p:grpSpPr>
        <p:sp>
          <p:nvSpPr>
            <p:cNvPr id="52" name="Text Box 148"/>
            <p:cNvSpPr txBox="1">
              <a:spLocks noChangeArrowheads="1"/>
            </p:cNvSpPr>
            <p:nvPr/>
          </p:nvSpPr>
          <p:spPr bwMode="auto">
            <a:xfrm>
              <a:off x="4992" y="1968"/>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solidFill>
                    <a:srgbClr val="FF0000"/>
                  </a:solidFill>
                </a:rPr>
                <a:t>1</a:t>
              </a:r>
              <a:r>
                <a:rPr lang="en-US" altLang="zh-CN" sz="1600"/>
                <a:t>00</a:t>
              </a:r>
              <a:endParaRPr lang="en-US" altLang="zh-CN" sz="1600"/>
            </a:p>
          </p:txBody>
        </p:sp>
        <p:sp>
          <p:nvSpPr>
            <p:cNvPr id="53" name="Text Box 149"/>
            <p:cNvSpPr txBox="1">
              <a:spLocks noChangeArrowheads="1"/>
            </p:cNvSpPr>
            <p:nvPr/>
          </p:nvSpPr>
          <p:spPr bwMode="auto">
            <a:xfrm>
              <a:off x="3024" y="1968"/>
              <a:ext cx="38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solidFill>
                    <a:srgbClr val="FF0000"/>
                  </a:solidFill>
                </a:rPr>
                <a:t>0</a:t>
              </a:r>
              <a:r>
                <a:rPr lang="en-US" altLang="zh-CN" sz="1600"/>
                <a:t>00</a:t>
              </a:r>
              <a:endParaRPr lang="en-US" altLang="zh-CN" sz="1600"/>
            </a:p>
          </p:txBody>
        </p:sp>
        <p:sp>
          <p:nvSpPr>
            <p:cNvPr id="54" name="Line 150"/>
            <p:cNvSpPr>
              <a:spLocks noChangeShapeType="1"/>
            </p:cNvSpPr>
            <p:nvPr/>
          </p:nvSpPr>
          <p:spPr bwMode="auto">
            <a:xfrm>
              <a:off x="3168" y="1536"/>
              <a:ext cx="19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Line 151"/>
            <p:cNvSpPr>
              <a:spLocks noChangeShapeType="1"/>
            </p:cNvSpPr>
            <p:nvPr/>
          </p:nvSpPr>
          <p:spPr bwMode="auto">
            <a:xfrm flipV="1">
              <a:off x="3168" y="1536"/>
              <a:ext cx="0" cy="43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 name="Line 152"/>
            <p:cNvSpPr>
              <a:spLocks noChangeShapeType="1"/>
            </p:cNvSpPr>
            <p:nvPr/>
          </p:nvSpPr>
          <p:spPr bwMode="auto">
            <a:xfrm flipV="1">
              <a:off x="5136" y="1536"/>
              <a:ext cx="0" cy="43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7" name="Rectangle 153"/>
          <p:cNvSpPr>
            <a:spLocks noChangeArrowheads="1"/>
          </p:cNvSpPr>
          <p:nvPr/>
        </p:nvSpPr>
        <p:spPr bwMode="auto">
          <a:xfrm>
            <a:off x="3124200" y="3383756"/>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ltLang="zh-CN" sz="2000" dirty="0"/>
          </a:p>
        </p:txBody>
      </p:sp>
      <p:sp>
        <p:nvSpPr>
          <p:cNvPr id="58" name="Rectangle 154"/>
          <p:cNvSpPr>
            <a:spLocks noChangeArrowheads="1"/>
          </p:cNvSpPr>
          <p:nvPr/>
        </p:nvSpPr>
        <p:spPr bwMode="auto">
          <a:xfrm>
            <a:off x="4038600" y="3383756"/>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sp>
        <p:nvSpPr>
          <p:cNvPr id="59" name="Rectangle 155"/>
          <p:cNvSpPr>
            <a:spLocks noChangeArrowheads="1"/>
          </p:cNvSpPr>
          <p:nvPr/>
        </p:nvSpPr>
        <p:spPr bwMode="auto">
          <a:xfrm>
            <a:off x="3581400" y="3383756"/>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ltLang="zh-CN" sz="2000" dirty="0"/>
          </a:p>
        </p:txBody>
      </p:sp>
      <p:sp>
        <p:nvSpPr>
          <p:cNvPr id="60" name="Rectangle 156"/>
          <p:cNvSpPr>
            <a:spLocks noChangeArrowheads="1"/>
          </p:cNvSpPr>
          <p:nvPr/>
        </p:nvSpPr>
        <p:spPr bwMode="auto">
          <a:xfrm>
            <a:off x="5867400" y="3383756"/>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ltLang="zh-CN" sz="2000" dirty="0"/>
          </a:p>
        </p:txBody>
      </p:sp>
      <p:sp>
        <p:nvSpPr>
          <p:cNvPr id="61" name="Rectangle 157"/>
          <p:cNvSpPr>
            <a:spLocks noChangeArrowheads="1"/>
          </p:cNvSpPr>
          <p:nvPr/>
        </p:nvSpPr>
        <p:spPr bwMode="auto">
          <a:xfrm>
            <a:off x="5410200" y="3383756"/>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ltLang="zh-CN" sz="2000" dirty="0"/>
          </a:p>
        </p:txBody>
      </p:sp>
      <p:sp>
        <p:nvSpPr>
          <p:cNvPr id="62" name="Rectangle 158"/>
          <p:cNvSpPr>
            <a:spLocks noChangeArrowheads="1"/>
          </p:cNvSpPr>
          <p:nvPr/>
        </p:nvSpPr>
        <p:spPr bwMode="auto">
          <a:xfrm>
            <a:off x="4495800" y="3383756"/>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ltLang="zh-CN" sz="2000" dirty="0"/>
          </a:p>
        </p:txBody>
      </p:sp>
      <p:sp>
        <p:nvSpPr>
          <p:cNvPr id="64" name="Rectangle 160"/>
          <p:cNvSpPr>
            <a:spLocks noChangeArrowheads="1"/>
          </p:cNvSpPr>
          <p:nvPr/>
        </p:nvSpPr>
        <p:spPr bwMode="auto">
          <a:xfrm>
            <a:off x="2667000" y="3764756"/>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ltLang="zh-CN" sz="2000" dirty="0"/>
          </a:p>
        </p:txBody>
      </p:sp>
      <p:sp>
        <p:nvSpPr>
          <p:cNvPr id="65" name="Rectangle 161"/>
          <p:cNvSpPr>
            <a:spLocks noChangeArrowheads="1"/>
          </p:cNvSpPr>
          <p:nvPr/>
        </p:nvSpPr>
        <p:spPr bwMode="auto">
          <a:xfrm>
            <a:off x="3124200" y="3764756"/>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ltLang="zh-CN" sz="2000" dirty="0"/>
          </a:p>
        </p:txBody>
      </p:sp>
      <p:sp>
        <p:nvSpPr>
          <p:cNvPr id="67" name="Rectangle 163"/>
          <p:cNvSpPr>
            <a:spLocks noChangeArrowheads="1"/>
          </p:cNvSpPr>
          <p:nvPr/>
        </p:nvSpPr>
        <p:spPr bwMode="auto">
          <a:xfrm>
            <a:off x="3581400" y="3764756"/>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ltLang="zh-CN" sz="2000" dirty="0"/>
          </a:p>
        </p:txBody>
      </p:sp>
      <p:sp>
        <p:nvSpPr>
          <p:cNvPr id="68" name="Rectangle 164"/>
          <p:cNvSpPr>
            <a:spLocks noChangeArrowheads="1"/>
          </p:cNvSpPr>
          <p:nvPr/>
        </p:nvSpPr>
        <p:spPr bwMode="auto">
          <a:xfrm>
            <a:off x="5867400" y="4179644"/>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dirty="0"/>
              <a:t>1</a:t>
            </a:r>
            <a:endParaRPr lang="en-US" altLang="zh-CN" dirty="0"/>
          </a:p>
        </p:txBody>
      </p:sp>
      <p:sp>
        <p:nvSpPr>
          <p:cNvPr id="69" name="Rectangle 165"/>
          <p:cNvSpPr>
            <a:spLocks noChangeArrowheads="1"/>
          </p:cNvSpPr>
          <p:nvPr/>
        </p:nvSpPr>
        <p:spPr bwMode="auto">
          <a:xfrm>
            <a:off x="5829300" y="3356992"/>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dirty="0"/>
              <a:t>1</a:t>
            </a:r>
            <a:endParaRPr lang="en-US" altLang="zh-CN" dirty="0"/>
          </a:p>
        </p:txBody>
      </p:sp>
      <p:sp>
        <p:nvSpPr>
          <p:cNvPr id="70" name="Rectangle 166"/>
          <p:cNvSpPr>
            <a:spLocks noChangeArrowheads="1"/>
          </p:cNvSpPr>
          <p:nvPr/>
        </p:nvSpPr>
        <p:spPr bwMode="auto">
          <a:xfrm>
            <a:off x="4495800" y="3764756"/>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ltLang="zh-CN" dirty="0"/>
          </a:p>
        </p:txBody>
      </p:sp>
      <p:sp>
        <p:nvSpPr>
          <p:cNvPr id="71" name="Rectangle 167"/>
          <p:cNvSpPr>
            <a:spLocks noChangeArrowheads="1"/>
          </p:cNvSpPr>
          <p:nvPr/>
        </p:nvSpPr>
        <p:spPr bwMode="auto">
          <a:xfrm>
            <a:off x="4953000" y="3764756"/>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ltLang="zh-CN" dirty="0"/>
          </a:p>
        </p:txBody>
      </p:sp>
      <p:sp>
        <p:nvSpPr>
          <p:cNvPr id="72" name="Rectangle 168"/>
          <p:cNvSpPr>
            <a:spLocks noChangeArrowheads="1"/>
          </p:cNvSpPr>
          <p:nvPr/>
        </p:nvSpPr>
        <p:spPr bwMode="auto">
          <a:xfrm>
            <a:off x="2667000" y="4526756"/>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ltLang="zh-CN" dirty="0"/>
          </a:p>
        </p:txBody>
      </p:sp>
      <p:sp>
        <p:nvSpPr>
          <p:cNvPr id="73" name="Rectangle 169"/>
          <p:cNvSpPr>
            <a:spLocks noChangeArrowheads="1"/>
          </p:cNvSpPr>
          <p:nvPr/>
        </p:nvSpPr>
        <p:spPr bwMode="auto">
          <a:xfrm>
            <a:off x="3124200" y="4526756"/>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ltLang="zh-CN" dirty="0"/>
          </a:p>
        </p:txBody>
      </p:sp>
      <p:sp>
        <p:nvSpPr>
          <p:cNvPr id="74" name="Rectangle 170"/>
          <p:cNvSpPr>
            <a:spLocks noChangeArrowheads="1"/>
          </p:cNvSpPr>
          <p:nvPr/>
        </p:nvSpPr>
        <p:spPr bwMode="auto">
          <a:xfrm>
            <a:off x="4038600" y="4526756"/>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dirty="0"/>
              <a:t>1</a:t>
            </a:r>
            <a:endParaRPr lang="en-US" altLang="zh-CN" dirty="0"/>
          </a:p>
        </p:txBody>
      </p:sp>
      <p:sp>
        <p:nvSpPr>
          <p:cNvPr id="75" name="Rectangle 171"/>
          <p:cNvSpPr>
            <a:spLocks noChangeArrowheads="1"/>
          </p:cNvSpPr>
          <p:nvPr/>
        </p:nvSpPr>
        <p:spPr bwMode="auto">
          <a:xfrm>
            <a:off x="3581400" y="4526756"/>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ltLang="zh-CN" dirty="0"/>
          </a:p>
        </p:txBody>
      </p:sp>
      <p:sp>
        <p:nvSpPr>
          <p:cNvPr id="76" name="Rectangle 172"/>
          <p:cNvSpPr>
            <a:spLocks noChangeArrowheads="1"/>
          </p:cNvSpPr>
          <p:nvPr/>
        </p:nvSpPr>
        <p:spPr bwMode="auto">
          <a:xfrm>
            <a:off x="5867400" y="4526756"/>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ltLang="zh-CN" dirty="0"/>
          </a:p>
        </p:txBody>
      </p:sp>
      <p:sp>
        <p:nvSpPr>
          <p:cNvPr id="77" name="Rectangle 173"/>
          <p:cNvSpPr>
            <a:spLocks noChangeArrowheads="1"/>
          </p:cNvSpPr>
          <p:nvPr/>
        </p:nvSpPr>
        <p:spPr bwMode="auto">
          <a:xfrm>
            <a:off x="5410200" y="4526756"/>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ltLang="zh-CN" dirty="0"/>
          </a:p>
        </p:txBody>
      </p:sp>
      <p:sp>
        <p:nvSpPr>
          <p:cNvPr id="78" name="Rectangle 174"/>
          <p:cNvSpPr>
            <a:spLocks noChangeArrowheads="1"/>
          </p:cNvSpPr>
          <p:nvPr/>
        </p:nvSpPr>
        <p:spPr bwMode="auto">
          <a:xfrm>
            <a:off x="4495800" y="4526756"/>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ltLang="zh-CN" dirty="0"/>
          </a:p>
        </p:txBody>
      </p:sp>
      <p:sp>
        <p:nvSpPr>
          <p:cNvPr id="80" name="Rectangle 176"/>
          <p:cNvSpPr>
            <a:spLocks noChangeArrowheads="1"/>
          </p:cNvSpPr>
          <p:nvPr/>
        </p:nvSpPr>
        <p:spPr bwMode="auto">
          <a:xfrm>
            <a:off x="2667000" y="4145756"/>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ltLang="zh-CN" dirty="0"/>
          </a:p>
        </p:txBody>
      </p:sp>
      <p:sp>
        <p:nvSpPr>
          <p:cNvPr id="81" name="Rectangle 177"/>
          <p:cNvSpPr>
            <a:spLocks noChangeArrowheads="1"/>
          </p:cNvSpPr>
          <p:nvPr/>
        </p:nvSpPr>
        <p:spPr bwMode="auto">
          <a:xfrm>
            <a:off x="3124200" y="4145756"/>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ltLang="zh-CN" dirty="0"/>
          </a:p>
        </p:txBody>
      </p:sp>
      <p:sp>
        <p:nvSpPr>
          <p:cNvPr id="83" name="Rectangle 179"/>
          <p:cNvSpPr>
            <a:spLocks noChangeArrowheads="1"/>
          </p:cNvSpPr>
          <p:nvPr/>
        </p:nvSpPr>
        <p:spPr bwMode="auto">
          <a:xfrm>
            <a:off x="3581400" y="4145756"/>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ltLang="zh-CN" dirty="0"/>
          </a:p>
        </p:txBody>
      </p:sp>
      <p:sp>
        <p:nvSpPr>
          <p:cNvPr id="85" name="Rectangle 181"/>
          <p:cNvSpPr>
            <a:spLocks noChangeArrowheads="1"/>
          </p:cNvSpPr>
          <p:nvPr/>
        </p:nvSpPr>
        <p:spPr bwMode="auto">
          <a:xfrm>
            <a:off x="4968240" y="4515644"/>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dirty="0"/>
              <a:t>1</a:t>
            </a:r>
            <a:endParaRPr lang="en-US" altLang="zh-CN" dirty="0"/>
          </a:p>
        </p:txBody>
      </p:sp>
      <p:sp>
        <p:nvSpPr>
          <p:cNvPr id="86" name="Rectangle 182"/>
          <p:cNvSpPr>
            <a:spLocks noChangeArrowheads="1"/>
          </p:cNvSpPr>
          <p:nvPr/>
        </p:nvSpPr>
        <p:spPr bwMode="auto">
          <a:xfrm>
            <a:off x="4495800" y="4145756"/>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ltLang="zh-CN" dirty="0"/>
          </a:p>
        </p:txBody>
      </p:sp>
      <p:sp>
        <p:nvSpPr>
          <p:cNvPr id="87" name="Rectangle 183"/>
          <p:cNvSpPr>
            <a:spLocks noChangeArrowheads="1"/>
          </p:cNvSpPr>
          <p:nvPr/>
        </p:nvSpPr>
        <p:spPr bwMode="auto">
          <a:xfrm>
            <a:off x="4953000" y="4145756"/>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ltLang="zh-CN" dirty="0"/>
          </a:p>
        </p:txBody>
      </p:sp>
      <p:sp>
        <p:nvSpPr>
          <p:cNvPr id="88" name="Text Box 4"/>
          <p:cNvSpPr txBox="1">
            <a:spLocks noChangeArrowheads="1"/>
          </p:cNvSpPr>
          <p:nvPr/>
        </p:nvSpPr>
        <p:spPr bwMode="auto">
          <a:xfrm>
            <a:off x="371314" y="1196752"/>
            <a:ext cx="822154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400" dirty="0">
                <a:solidFill>
                  <a:schemeClr val="tx2"/>
                </a:solidFill>
              </a:rPr>
              <a:t>F (A,B,C,D,E) = </a:t>
            </a:r>
            <a:r>
              <a:rPr lang="en-US" altLang="zh-CN" sz="2400" dirty="0">
                <a:solidFill>
                  <a:schemeClr val="tx2"/>
                </a:solidFill>
                <a:sym typeface="Symbol" panose="05050102010706020507" pitchFamily="18" charset="2"/>
              </a:rPr>
              <a:t></a:t>
            </a:r>
            <a:r>
              <a:rPr lang="en-US" altLang="zh-CN" sz="2400" i="1" dirty="0">
                <a:solidFill>
                  <a:schemeClr val="tx2"/>
                </a:solidFill>
                <a:sym typeface="Symbol" panose="05050102010706020507" pitchFamily="18" charset="2"/>
              </a:rPr>
              <a:t>m</a:t>
            </a:r>
            <a:r>
              <a:rPr lang="en-US" altLang="zh-CN" sz="2400" dirty="0">
                <a:solidFill>
                  <a:schemeClr val="tx2"/>
                </a:solidFill>
                <a:sym typeface="Symbol" panose="05050102010706020507" pitchFamily="18" charset="2"/>
              </a:rPr>
              <a:t>(0,2,4,6,7,8,10,11,12,13,14,16,18,19,29,30)</a:t>
            </a:r>
            <a:endParaRPr lang="en-US" altLang="zh-CN" sz="2400" dirty="0">
              <a:solidFill>
                <a:schemeClr val="tx2"/>
              </a:solidFill>
              <a:sym typeface="Symbol" panose="05050102010706020507" pitchFamily="18" charset="2"/>
            </a:endParaRPr>
          </a:p>
        </p:txBody>
      </p:sp>
      <p:sp>
        <p:nvSpPr>
          <p:cNvPr id="90" name="Rectangle 102"/>
          <p:cNvSpPr>
            <a:spLocks noChangeArrowheads="1"/>
          </p:cNvSpPr>
          <p:nvPr/>
        </p:nvSpPr>
        <p:spPr bwMode="auto">
          <a:xfrm>
            <a:off x="3563888" y="4560644"/>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dirty="0"/>
              <a:t>1</a:t>
            </a:r>
            <a:endParaRPr lang="en-US" altLang="zh-CN" sz="2000" dirty="0"/>
          </a:p>
        </p:txBody>
      </p:sp>
      <p:sp>
        <p:nvSpPr>
          <p:cNvPr id="94" name="Rectangle 165"/>
          <p:cNvSpPr>
            <a:spLocks noChangeArrowheads="1"/>
          </p:cNvSpPr>
          <p:nvPr/>
        </p:nvSpPr>
        <p:spPr bwMode="auto">
          <a:xfrm>
            <a:off x="3619500" y="3387556"/>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dirty="0"/>
              <a:t>1</a:t>
            </a:r>
            <a:endParaRPr lang="en-US" altLang="zh-CN" dirty="0"/>
          </a:p>
        </p:txBody>
      </p:sp>
      <p:sp>
        <p:nvSpPr>
          <p:cNvPr id="95" name="Rectangle 165"/>
          <p:cNvSpPr>
            <a:spLocks noChangeArrowheads="1"/>
          </p:cNvSpPr>
          <p:nvPr/>
        </p:nvSpPr>
        <p:spPr bwMode="auto">
          <a:xfrm>
            <a:off x="4968240" y="3798644"/>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dirty="0"/>
              <a:t>1</a:t>
            </a:r>
            <a:endParaRPr lang="en-US" altLang="zh-CN" dirty="0"/>
          </a:p>
        </p:txBody>
      </p:sp>
      <p:sp>
        <p:nvSpPr>
          <p:cNvPr id="96" name="Rectangle 165"/>
          <p:cNvSpPr>
            <a:spLocks noChangeArrowheads="1"/>
          </p:cNvSpPr>
          <p:nvPr/>
        </p:nvSpPr>
        <p:spPr bwMode="auto">
          <a:xfrm>
            <a:off x="5867400" y="4538791"/>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dirty="0"/>
              <a:t>1</a:t>
            </a:r>
            <a:endParaRPr lang="en-US" altLang="zh-CN" dirty="0"/>
          </a:p>
        </p:txBody>
      </p:sp>
      <p:sp>
        <p:nvSpPr>
          <p:cNvPr id="97" name="Rectangle 165"/>
          <p:cNvSpPr>
            <a:spLocks noChangeArrowheads="1"/>
          </p:cNvSpPr>
          <p:nvPr/>
        </p:nvSpPr>
        <p:spPr bwMode="auto">
          <a:xfrm>
            <a:off x="2689880" y="4534123"/>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dirty="0"/>
              <a:t>1</a:t>
            </a:r>
            <a:endParaRPr lang="en-US" altLang="zh-CN" dirty="0"/>
          </a:p>
        </p:txBody>
      </p:sp>
      <p:sp>
        <p:nvSpPr>
          <p:cNvPr id="98" name="Rectangle 165"/>
          <p:cNvSpPr>
            <a:spLocks noChangeArrowheads="1"/>
          </p:cNvSpPr>
          <p:nvPr/>
        </p:nvSpPr>
        <p:spPr bwMode="auto">
          <a:xfrm>
            <a:off x="3131840" y="3387080"/>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dirty="0"/>
              <a:t>1</a:t>
            </a:r>
            <a:endParaRPr lang="en-US" altLang="zh-CN" dirty="0"/>
          </a:p>
        </p:txBody>
      </p:sp>
      <p:sp>
        <p:nvSpPr>
          <p:cNvPr id="99" name="Rectangle 165"/>
          <p:cNvSpPr>
            <a:spLocks noChangeArrowheads="1"/>
          </p:cNvSpPr>
          <p:nvPr/>
        </p:nvSpPr>
        <p:spPr bwMode="auto">
          <a:xfrm>
            <a:off x="3121928" y="4538315"/>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dirty="0"/>
              <a:t>1</a:t>
            </a:r>
            <a:endParaRPr lang="en-US" altLang="zh-CN" dirty="0"/>
          </a:p>
        </p:txBody>
      </p:sp>
      <p:sp>
        <p:nvSpPr>
          <p:cNvPr id="100" name="Rectangle 165"/>
          <p:cNvSpPr>
            <a:spLocks noChangeArrowheads="1"/>
          </p:cNvSpPr>
          <p:nvPr/>
        </p:nvSpPr>
        <p:spPr bwMode="auto">
          <a:xfrm>
            <a:off x="3116600" y="4149080"/>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dirty="0"/>
              <a:t>1</a:t>
            </a:r>
            <a:endParaRPr lang="en-US" altLang="zh-CN" dirty="0"/>
          </a:p>
        </p:txBody>
      </p:sp>
      <p:sp>
        <p:nvSpPr>
          <p:cNvPr id="101" name="Rectangle 165"/>
          <p:cNvSpPr>
            <a:spLocks noChangeArrowheads="1"/>
          </p:cNvSpPr>
          <p:nvPr/>
        </p:nvSpPr>
        <p:spPr bwMode="auto">
          <a:xfrm>
            <a:off x="4000500" y="4149080"/>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dirty="0"/>
              <a:t>1</a:t>
            </a:r>
            <a:endParaRPr lang="en-US" altLang="zh-CN" dirty="0"/>
          </a:p>
        </p:txBody>
      </p:sp>
      <p:sp>
        <p:nvSpPr>
          <p:cNvPr id="117" name="Rectangle 165"/>
          <p:cNvSpPr>
            <a:spLocks noChangeArrowheads="1"/>
          </p:cNvSpPr>
          <p:nvPr/>
        </p:nvSpPr>
        <p:spPr bwMode="auto">
          <a:xfrm>
            <a:off x="3596660" y="3768556"/>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dirty="0"/>
              <a:t>1</a:t>
            </a:r>
            <a:endParaRPr lang="en-US" altLang="zh-CN" dirty="0"/>
          </a:p>
        </p:txBody>
      </p:sp>
      <mc:AlternateContent xmlns:mc="http://schemas.openxmlformats.org/markup-compatibility/2006">
        <mc:Choice xmlns:a14="http://schemas.microsoft.com/office/drawing/2010/main" Requires="a14">
          <p:sp>
            <p:nvSpPr>
              <p:cNvPr id="118" name="矩形 117"/>
              <p:cNvSpPr/>
              <p:nvPr/>
            </p:nvSpPr>
            <p:spPr>
              <a:xfrm>
                <a:off x="722982" y="5445224"/>
                <a:ext cx="7732086" cy="1221740"/>
              </a:xfrm>
              <a:prstGeom prst="rect">
                <a:avLst/>
              </a:prstGeom>
            </p:spPr>
            <p:txBody>
              <a:bodyPr wrap="square">
                <a:spAutoFit/>
              </a:bodyPr>
              <a:lstStyle/>
              <a:p>
                <a:r>
                  <a:rPr lang="pl-PL" altLang="zh-CN" sz="2400" dirty="0"/>
                  <a:t>F =</a:t>
                </a:r>
                <a14:m>
                  <m:oMath xmlns:m="http://schemas.openxmlformats.org/officeDocument/2006/math">
                    <m:acc>
                      <m:accPr>
                        <m:chr m:val="̅"/>
                        <m:ctrlPr>
                          <a:rPr lang="en-US" altLang="zh-CN" sz="2400" i="1">
                            <a:latin typeface="Cambria Math" panose="02040503050406030204" pitchFamily="18" charset="0"/>
                          </a:rPr>
                        </m:ctrlPr>
                      </m:accPr>
                      <m:e>
                        <m:r>
                          <m:rPr>
                            <m:sty m:val="p"/>
                          </m:rPr>
                          <a:rPr lang="en-US" altLang="zh-CN" sz="2400" b="0" i="0" smtClean="0">
                            <a:latin typeface="Cambria Math" panose="02040503050406030204" pitchFamily="18" charset="0"/>
                          </a:rPr>
                          <m:t>A</m:t>
                        </m:r>
                      </m:e>
                    </m:acc>
                  </m:oMath>
                </a14:m>
                <a:r>
                  <a:rPr lang="pl-PL" altLang="zh-CN" sz="2400" dirty="0"/>
                  <a:t>  ⋅</a:t>
                </a:r>
                <a14:m>
                  <m:oMath xmlns:m="http://schemas.openxmlformats.org/officeDocument/2006/math">
                    <m:acc>
                      <m:accPr>
                        <m:chr m:val="̅"/>
                        <m:ctrlPr>
                          <a:rPr lang="en-US" altLang="zh-CN" sz="2400" i="1">
                            <a:latin typeface="Cambria Math" panose="02040503050406030204" pitchFamily="18" charset="0"/>
                          </a:rPr>
                        </m:ctrlPr>
                      </m:accPr>
                      <m:e>
                        <m:r>
                          <m:rPr>
                            <m:sty m:val="p"/>
                          </m:rPr>
                          <a:rPr lang="en-US" altLang="zh-CN" sz="2400" b="0" i="0" smtClean="0">
                            <a:latin typeface="Cambria Math" panose="02040503050406030204" pitchFamily="18" charset="0"/>
                          </a:rPr>
                          <m:t>E</m:t>
                        </m:r>
                      </m:e>
                    </m:acc>
                  </m:oMath>
                </a14:m>
                <a:r>
                  <a:rPr lang="pl-PL" altLang="zh-CN" sz="2400" dirty="0"/>
                  <a:t> +</a:t>
                </a:r>
                <a14:m>
                  <m:oMath xmlns:m="http://schemas.openxmlformats.org/officeDocument/2006/math">
                    <m:acc>
                      <m:accPr>
                        <m:chr m:val="̅"/>
                        <m:ctrlPr>
                          <a:rPr lang="en-US" altLang="zh-CN" sz="2400" i="1" smtClean="0">
                            <a:latin typeface="Cambria Math" panose="02040503050406030204" pitchFamily="18" charset="0"/>
                          </a:rPr>
                        </m:ctrlPr>
                      </m:accPr>
                      <m:e>
                        <m:r>
                          <a:rPr lang="en-US" altLang="zh-CN" sz="2400" b="0" i="0" smtClean="0">
                            <a:latin typeface="Cambria Math" panose="02040503050406030204" pitchFamily="18" charset="0"/>
                          </a:rPr>
                          <m:t> </m:t>
                        </m:r>
                        <m:r>
                          <m:rPr>
                            <m:sty m:val="p"/>
                          </m:rPr>
                          <a:rPr lang="en-US" altLang="zh-CN" sz="2400" b="0" i="0" smtClean="0">
                            <a:latin typeface="Cambria Math" panose="02040503050406030204" pitchFamily="18" charset="0"/>
                          </a:rPr>
                          <m:t>B</m:t>
                        </m:r>
                      </m:e>
                    </m:acc>
                  </m:oMath>
                </a14:m>
                <a:r>
                  <a:rPr lang="pl-PL" altLang="zh-CN" sz="2400" dirty="0"/>
                  <a:t> ⋅</a:t>
                </a:r>
                <a14:m>
                  <m:oMath xmlns:m="http://schemas.openxmlformats.org/officeDocument/2006/math">
                    <m:acc>
                      <m:accPr>
                        <m:chr m:val="̅"/>
                        <m:ctrlPr>
                          <a:rPr lang="en-US" altLang="zh-CN" sz="2400" i="1">
                            <a:latin typeface="Cambria Math" panose="02040503050406030204" pitchFamily="18" charset="0"/>
                          </a:rPr>
                        </m:ctrlPr>
                      </m:accPr>
                      <m:e>
                        <m:r>
                          <m:rPr>
                            <m:sty m:val="p"/>
                          </m:rPr>
                          <a:rPr lang="en-US" altLang="zh-CN" sz="2400" b="0" i="0" smtClean="0">
                            <a:latin typeface="Cambria Math" panose="02040503050406030204" pitchFamily="18" charset="0"/>
                          </a:rPr>
                          <m:t>C</m:t>
                        </m:r>
                      </m:e>
                    </m:acc>
                  </m:oMath>
                </a14:m>
                <a:r>
                  <a:rPr lang="pl-PL" altLang="zh-CN" sz="2400" dirty="0"/>
                  <a:t> ⋅</a:t>
                </a:r>
                <a14:m>
                  <m:oMath xmlns:m="http://schemas.openxmlformats.org/officeDocument/2006/math">
                    <m:acc>
                      <m:accPr>
                        <m:chr m:val="̅"/>
                        <m:ctrlPr>
                          <a:rPr lang="en-US" altLang="zh-CN" sz="2400" i="1">
                            <a:latin typeface="Cambria Math" panose="02040503050406030204" pitchFamily="18" charset="0"/>
                          </a:rPr>
                        </m:ctrlPr>
                      </m:accPr>
                      <m:e>
                        <m:r>
                          <m:rPr>
                            <m:sty m:val="p"/>
                          </m:rPr>
                          <a:rPr lang="en-US" altLang="zh-CN" sz="2400" b="0" i="0" smtClean="0">
                            <a:latin typeface="Cambria Math" panose="02040503050406030204" pitchFamily="18" charset="0"/>
                          </a:rPr>
                          <m:t>E</m:t>
                        </m:r>
                      </m:e>
                    </m:acc>
                  </m:oMath>
                </a14:m>
                <a:r>
                  <a:rPr lang="en-US" altLang="zh-CN" sz="2400" dirty="0"/>
                  <a:t> </a:t>
                </a:r>
                <a:r>
                  <a:rPr lang="pl-PL" altLang="zh-CN" sz="2400" dirty="0"/>
                  <a:t>+</a:t>
                </a:r>
                <a:r>
                  <a:rPr lang="en-US" altLang="zh-CN" sz="2400" dirty="0"/>
                  <a:t> </a:t>
                </a:r>
                <a14:m>
                  <m:oMath xmlns:m="http://schemas.openxmlformats.org/officeDocument/2006/math">
                    <m:acc>
                      <m:accPr>
                        <m:chr m:val="̅"/>
                        <m:ctrlPr>
                          <a:rPr lang="en-US" altLang="zh-CN" sz="2400" i="1">
                            <a:latin typeface="Cambria Math" panose="02040503050406030204" pitchFamily="18" charset="0"/>
                          </a:rPr>
                        </m:ctrlPr>
                      </m:accPr>
                      <m:e>
                        <m:r>
                          <m:rPr>
                            <m:sty m:val="p"/>
                          </m:rPr>
                          <a:rPr lang="en-US" altLang="zh-CN" sz="2400" b="0" i="0" smtClean="0">
                            <a:latin typeface="Cambria Math" panose="02040503050406030204" pitchFamily="18" charset="0"/>
                          </a:rPr>
                          <m:t>A</m:t>
                        </m:r>
                      </m:e>
                    </m:acc>
                  </m:oMath>
                </a14:m>
                <a:r>
                  <a:rPr lang="pl-PL" altLang="zh-CN" sz="2400" dirty="0"/>
                  <a:t> ⋅</a:t>
                </a:r>
                <a14:m>
                  <m:oMath xmlns:m="http://schemas.openxmlformats.org/officeDocument/2006/math">
                    <m:acc>
                      <m:accPr>
                        <m:chr m:val="̅"/>
                        <m:ctrlPr>
                          <a:rPr lang="en-US" altLang="zh-CN" sz="2400" i="1">
                            <a:latin typeface="Cambria Math" panose="02040503050406030204" pitchFamily="18" charset="0"/>
                          </a:rPr>
                        </m:ctrlPr>
                      </m:accPr>
                      <m:e>
                        <m:r>
                          <m:rPr>
                            <m:sty m:val="p"/>
                          </m:rPr>
                          <a:rPr lang="en-US" altLang="zh-CN" sz="2400" b="0" i="0" smtClean="0">
                            <a:latin typeface="Cambria Math" panose="02040503050406030204" pitchFamily="18" charset="0"/>
                          </a:rPr>
                          <m:t>B</m:t>
                        </m:r>
                      </m:e>
                    </m:acc>
                  </m:oMath>
                </a14:m>
                <a:r>
                  <a:rPr lang="pl-PL" altLang="zh-CN" sz="2400" dirty="0"/>
                  <a:t> ⋅ </a:t>
                </a:r>
                <a:r>
                  <a:rPr lang="en-US" altLang="zh-CN" sz="2400" dirty="0"/>
                  <a:t>C</a:t>
                </a:r>
                <a:r>
                  <a:rPr lang="pl-PL" altLang="zh-CN" sz="2400" dirty="0"/>
                  <a:t> ⋅ </a:t>
                </a:r>
                <a:r>
                  <a:rPr lang="en-US" altLang="zh-CN" sz="2400" dirty="0"/>
                  <a:t>D</a:t>
                </a:r>
                <a:r>
                  <a:rPr lang="pl-PL" altLang="zh-CN" sz="2400" dirty="0"/>
                  <a:t> </a:t>
                </a:r>
                <a:r>
                  <a:rPr lang="en-US" altLang="zh-CN" sz="2400" dirty="0"/>
                  <a:t> </a:t>
                </a:r>
                <a:r>
                  <a:rPr lang="pl-PL" altLang="zh-CN" sz="2400" dirty="0"/>
                  <a:t>+</a:t>
                </a:r>
                <a14:m>
                  <m:oMath xmlns:m="http://schemas.openxmlformats.org/officeDocument/2006/math">
                    <m:acc>
                      <m:accPr>
                        <m:chr m:val="̅"/>
                        <m:ctrlPr>
                          <a:rPr lang="en-US" altLang="zh-CN" sz="2400" i="1">
                            <a:latin typeface="Cambria Math" panose="02040503050406030204" pitchFamily="18" charset="0"/>
                          </a:rPr>
                        </m:ctrlPr>
                      </m:accPr>
                      <m:e>
                        <m:r>
                          <a:rPr lang="en-US" altLang="zh-CN" sz="2400" b="0" i="0" smtClean="0">
                            <a:latin typeface="Cambria Math" panose="02040503050406030204" pitchFamily="18" charset="0"/>
                          </a:rPr>
                          <m:t> </m:t>
                        </m:r>
                        <m:r>
                          <m:rPr>
                            <m:sty m:val="p"/>
                          </m:rPr>
                          <a:rPr lang="en-US" altLang="zh-CN" sz="2400" b="0" i="0" smtClean="0">
                            <a:latin typeface="Cambria Math" panose="02040503050406030204" pitchFamily="18" charset="0"/>
                          </a:rPr>
                          <m:t>A</m:t>
                        </m:r>
                      </m:e>
                    </m:acc>
                  </m:oMath>
                </a14:m>
                <a:r>
                  <a:rPr lang="pl-PL" altLang="zh-CN" sz="2400" dirty="0"/>
                  <a:t> ⋅ </a:t>
                </a:r>
                <a:r>
                  <a:rPr lang="en-US" altLang="zh-CN" sz="2400" dirty="0"/>
                  <a:t>B</a:t>
                </a:r>
                <a:r>
                  <a:rPr lang="pl-PL" altLang="zh-CN" sz="2400" dirty="0"/>
                  <a:t> ⋅</a:t>
                </a:r>
                <a14:m>
                  <m:oMath xmlns:m="http://schemas.openxmlformats.org/officeDocument/2006/math">
                    <m:acc>
                      <m:accPr>
                        <m:chr m:val="̅"/>
                        <m:ctrlPr>
                          <a:rPr lang="en-US" altLang="zh-CN" sz="2400" i="1">
                            <a:latin typeface="Cambria Math" panose="02040503050406030204" pitchFamily="18" charset="0"/>
                          </a:rPr>
                        </m:ctrlPr>
                      </m:accPr>
                      <m:e>
                        <m:r>
                          <m:rPr>
                            <m:sty m:val="p"/>
                          </m:rPr>
                          <a:rPr lang="en-US" altLang="zh-CN" sz="2400" b="0" i="0" smtClean="0">
                            <a:latin typeface="Cambria Math" panose="02040503050406030204" pitchFamily="18" charset="0"/>
                          </a:rPr>
                          <m:t>C</m:t>
                        </m:r>
                      </m:e>
                    </m:acc>
                  </m:oMath>
                </a14:m>
                <a:r>
                  <a:rPr lang="pl-PL" altLang="zh-CN" sz="2400" dirty="0"/>
                  <a:t> ⋅ </a:t>
                </a:r>
                <a:r>
                  <a:rPr lang="en-US" altLang="zh-CN" sz="2400" dirty="0"/>
                  <a:t>D</a:t>
                </a:r>
                <a:r>
                  <a:rPr lang="pl-PL" altLang="zh-CN" sz="2400" dirty="0"/>
                  <a:t> +</a:t>
                </a:r>
                <a:r>
                  <a:rPr lang="en-US" altLang="zh-CN" sz="2400" dirty="0"/>
                  <a:t>A</a:t>
                </a:r>
                <a:r>
                  <a:rPr lang="pl-PL" altLang="zh-CN" sz="2400" dirty="0"/>
                  <a:t> ⋅ </a:t>
                </a:r>
                <a14:m>
                  <m:oMath xmlns:m="http://schemas.openxmlformats.org/officeDocument/2006/math">
                    <m:acc>
                      <m:accPr>
                        <m:chr m:val="̅"/>
                        <m:ctrlPr>
                          <a:rPr lang="en-US" altLang="zh-CN" sz="2400" i="1">
                            <a:latin typeface="Cambria Math" panose="02040503050406030204" pitchFamily="18" charset="0"/>
                          </a:rPr>
                        </m:ctrlPr>
                      </m:accPr>
                      <m:e>
                        <m:r>
                          <m:rPr>
                            <m:sty m:val="p"/>
                          </m:rPr>
                          <a:rPr lang="en-US" altLang="zh-CN" sz="2400" i="0">
                            <a:latin typeface="Cambria Math" panose="02040503050406030204" pitchFamily="18" charset="0"/>
                          </a:rPr>
                          <m:t>B</m:t>
                        </m:r>
                      </m:e>
                    </m:acc>
                  </m:oMath>
                </a14:m>
                <a:r>
                  <a:rPr lang="pl-PL" altLang="zh-CN" sz="2400" dirty="0"/>
                  <a:t> ⋅ </a:t>
                </a:r>
                <a14:m>
                  <m:oMath xmlns:m="http://schemas.openxmlformats.org/officeDocument/2006/math">
                    <m:acc>
                      <m:accPr>
                        <m:chr m:val="̅"/>
                        <m:ctrlPr>
                          <a:rPr lang="en-US" altLang="zh-CN" sz="2400" i="1">
                            <a:latin typeface="Cambria Math" panose="02040503050406030204" pitchFamily="18" charset="0"/>
                          </a:rPr>
                        </m:ctrlPr>
                      </m:accPr>
                      <m:e>
                        <m:r>
                          <m:rPr>
                            <m:sty m:val="p"/>
                          </m:rPr>
                          <a:rPr lang="en-US" altLang="zh-CN" sz="2400" i="0">
                            <a:latin typeface="Cambria Math" panose="02040503050406030204" pitchFamily="18" charset="0"/>
                          </a:rPr>
                          <m:t>C</m:t>
                        </m:r>
                      </m:e>
                    </m:acc>
                  </m:oMath>
                </a14:m>
                <a:r>
                  <a:rPr lang="pl-PL" altLang="zh-CN" sz="2400" dirty="0"/>
                  <a:t> ⋅ </a:t>
                </a:r>
                <a:r>
                  <a:rPr lang="en-US" altLang="zh-CN" sz="2400" dirty="0"/>
                  <a:t>D + B</a:t>
                </a:r>
                <a:r>
                  <a:rPr lang="pl-PL" altLang="zh-CN" sz="2400" dirty="0"/>
                  <a:t> ⋅ </a:t>
                </a:r>
                <a:r>
                  <a:rPr lang="en-US" altLang="zh-CN" sz="2400" dirty="0"/>
                  <a:t>C</a:t>
                </a:r>
                <a:r>
                  <a:rPr lang="pl-PL" altLang="zh-CN" sz="2400" dirty="0"/>
                  <a:t> ⋅ </a:t>
                </a:r>
                <a14:m>
                  <m:oMath xmlns:m="http://schemas.openxmlformats.org/officeDocument/2006/math">
                    <m:acc>
                      <m:accPr>
                        <m:chr m:val="̅"/>
                        <m:ctrlPr>
                          <a:rPr lang="en-US" altLang="zh-CN" sz="2400" i="1">
                            <a:latin typeface="Cambria Math" panose="02040503050406030204" pitchFamily="18" charset="0"/>
                          </a:rPr>
                        </m:ctrlPr>
                      </m:accPr>
                      <m:e>
                        <m:r>
                          <m:rPr>
                            <m:sty m:val="p"/>
                          </m:rPr>
                          <a:rPr lang="en-US" altLang="zh-CN" sz="2400" i="0">
                            <a:latin typeface="Cambria Math" panose="02040503050406030204" pitchFamily="18" charset="0"/>
                          </a:rPr>
                          <m:t>D</m:t>
                        </m:r>
                      </m:e>
                    </m:acc>
                  </m:oMath>
                </a14:m>
                <a:r>
                  <a:rPr lang="pl-PL" altLang="zh-CN" sz="2400" dirty="0"/>
                  <a:t> ⋅ </a:t>
                </a:r>
                <a:r>
                  <a:rPr lang="en-US" altLang="zh-CN" sz="2400" dirty="0"/>
                  <a:t>E</a:t>
                </a:r>
                <a:r>
                  <a:rPr lang="pl-PL" altLang="zh-CN" sz="2400" dirty="0"/>
                  <a:t> + </a:t>
                </a:r>
                <a:r>
                  <a:rPr lang="en-US" altLang="zh-CN" sz="2400" dirty="0"/>
                  <a:t>B</a:t>
                </a:r>
                <a:r>
                  <a:rPr lang="pl-PL" altLang="zh-CN" sz="2400" dirty="0"/>
                  <a:t> ⋅ </a:t>
                </a:r>
                <a:r>
                  <a:rPr lang="en-US" altLang="zh-CN" sz="2400" dirty="0"/>
                  <a:t>C</a:t>
                </a:r>
                <a:r>
                  <a:rPr lang="pl-PL" altLang="zh-CN" sz="2400" dirty="0"/>
                  <a:t> ⋅ </a:t>
                </a:r>
                <a:r>
                  <a:rPr lang="en-US" altLang="zh-CN" sz="2400" dirty="0"/>
                  <a:t>D</a:t>
                </a:r>
                <a:r>
                  <a:rPr lang="pl-PL" altLang="zh-CN" sz="2400" dirty="0"/>
                  <a:t> ⋅ </a:t>
                </a:r>
                <a14:m>
                  <m:oMath xmlns:m="http://schemas.openxmlformats.org/officeDocument/2006/math">
                    <m:acc>
                      <m:accPr>
                        <m:chr m:val="̅"/>
                        <m:ctrlPr>
                          <a:rPr lang="en-US" altLang="zh-CN" sz="2400" i="1">
                            <a:latin typeface="Cambria Math" panose="02040503050406030204" pitchFamily="18" charset="0"/>
                          </a:rPr>
                        </m:ctrlPr>
                      </m:accPr>
                      <m:e>
                        <m:r>
                          <m:rPr>
                            <m:sty m:val="p"/>
                          </m:rPr>
                          <a:rPr lang="en-US" altLang="zh-CN" sz="2400" i="0">
                            <a:latin typeface="Cambria Math" panose="02040503050406030204" pitchFamily="18" charset="0"/>
                          </a:rPr>
                          <m:t>E</m:t>
                        </m:r>
                      </m:e>
                    </m:acc>
                  </m:oMath>
                </a14:m>
                <a:endParaRPr lang="zh-CN" altLang="en-US" sz="2400" dirty="0"/>
              </a:p>
            </p:txBody>
          </p:sp>
        </mc:Choice>
        <mc:Fallback>
          <p:sp>
            <p:nvSpPr>
              <p:cNvPr id="118" name="矩形 117"/>
              <p:cNvSpPr>
                <a:spLocks noRot="1" noChangeAspect="1" noMove="1" noResize="1" noEditPoints="1" noAdjustHandles="1" noChangeArrowheads="1" noChangeShapeType="1" noTextEdit="1"/>
              </p:cNvSpPr>
              <p:nvPr/>
            </p:nvSpPr>
            <p:spPr>
              <a:xfrm>
                <a:off x="722982" y="5445224"/>
                <a:ext cx="7732086" cy="1221740"/>
              </a:xfrm>
              <a:prstGeom prst="rect">
                <a:avLst/>
              </a:prstGeom>
              <a:blipFill rotWithShape="1">
                <a:blip r:embed="rId1"/>
                <a:stretch>
                  <a:fillRect l="-5" t="-8" r="1" b="8"/>
                </a:stretch>
              </a:blipFill>
            </p:spPr>
            <p:txBody>
              <a:bodyPr/>
              <a:lstStyle/>
              <a:p>
                <a:r>
                  <a:rPr lang="zh-CN" altLang="en-US">
                    <a:noFill/>
                  </a:rPr>
                  <a:t> </a:t>
                </a:r>
              </a:p>
            </p:txBody>
          </p:sp>
        </mc:Fallback>
      </mc:AlternateContent>
      <p:sp>
        <p:nvSpPr>
          <p:cNvPr id="119" name="AutoShape 14"/>
          <p:cNvSpPr>
            <a:spLocks noChangeArrowheads="1"/>
          </p:cNvSpPr>
          <p:nvPr/>
        </p:nvSpPr>
        <p:spPr bwMode="auto">
          <a:xfrm>
            <a:off x="2724150" y="3339306"/>
            <a:ext cx="1733550" cy="380826"/>
          </a:xfrm>
          <a:prstGeom prst="roundRect">
            <a:avLst>
              <a:gd name="adj" fmla="val 16667"/>
            </a:avLst>
          </a:prstGeom>
          <a:solidFill>
            <a:srgbClr val="7030A0">
              <a:alpha val="16862"/>
            </a:srgbClr>
          </a:solidFill>
          <a:ln w="9525">
            <a:solidFill>
              <a:schemeClr val="tx1"/>
            </a:solidFill>
            <a:round/>
          </a:ln>
        </p:spPr>
        <p:txBody>
          <a:bodyPr wrap="none" anchor="ctr"/>
          <a:lstStyle/>
          <a:p>
            <a:endParaRPr lang="zh-CN" altLang="en-US"/>
          </a:p>
        </p:txBody>
      </p:sp>
      <p:sp>
        <p:nvSpPr>
          <p:cNvPr id="120" name="AutoShape 14"/>
          <p:cNvSpPr>
            <a:spLocks noChangeArrowheads="1"/>
          </p:cNvSpPr>
          <p:nvPr/>
        </p:nvSpPr>
        <p:spPr bwMode="auto">
          <a:xfrm>
            <a:off x="2724150" y="4560342"/>
            <a:ext cx="1703834" cy="380826"/>
          </a:xfrm>
          <a:prstGeom prst="roundRect">
            <a:avLst>
              <a:gd name="adj" fmla="val 16667"/>
            </a:avLst>
          </a:prstGeom>
          <a:solidFill>
            <a:srgbClr val="7030A0">
              <a:alpha val="16862"/>
            </a:srgbClr>
          </a:solidFill>
          <a:ln w="9525">
            <a:solidFill>
              <a:schemeClr val="tx1"/>
            </a:solidFill>
            <a:round/>
          </a:ln>
        </p:spPr>
        <p:txBody>
          <a:bodyPr wrap="none" anchor="ctr"/>
          <a:lstStyle/>
          <a:p>
            <a:endParaRPr lang="zh-CN" altLang="en-US"/>
          </a:p>
        </p:txBody>
      </p:sp>
      <p:sp>
        <p:nvSpPr>
          <p:cNvPr id="121" name="AutoShape 13"/>
          <p:cNvSpPr>
            <a:spLocks noChangeArrowheads="1"/>
          </p:cNvSpPr>
          <p:nvPr/>
        </p:nvSpPr>
        <p:spPr bwMode="auto">
          <a:xfrm>
            <a:off x="3076276" y="4151953"/>
            <a:ext cx="487612" cy="759385"/>
          </a:xfrm>
          <a:prstGeom prst="roundRect">
            <a:avLst>
              <a:gd name="adj" fmla="val 16667"/>
            </a:avLst>
          </a:prstGeom>
          <a:solidFill>
            <a:srgbClr val="00B0F0">
              <a:alpha val="16862"/>
            </a:srgbClr>
          </a:solidFill>
          <a:ln w="9525">
            <a:solidFill>
              <a:schemeClr val="tx1"/>
            </a:solidFill>
            <a:round/>
          </a:ln>
        </p:spPr>
        <p:txBody>
          <a:bodyPr wrap="none" anchor="ctr"/>
          <a:lstStyle/>
          <a:p>
            <a:endParaRPr lang="zh-CN" altLang="en-US"/>
          </a:p>
        </p:txBody>
      </p:sp>
      <p:sp>
        <p:nvSpPr>
          <p:cNvPr id="122" name="AutoShape 5"/>
          <p:cNvSpPr>
            <a:spLocks noChangeArrowheads="1"/>
          </p:cNvSpPr>
          <p:nvPr/>
        </p:nvSpPr>
        <p:spPr bwMode="auto">
          <a:xfrm>
            <a:off x="4067602" y="4153361"/>
            <a:ext cx="360382" cy="765954"/>
          </a:xfrm>
          <a:prstGeom prst="roundRect">
            <a:avLst>
              <a:gd name="adj" fmla="val 16667"/>
            </a:avLst>
          </a:prstGeom>
          <a:solidFill>
            <a:srgbClr val="92D050">
              <a:alpha val="16862"/>
            </a:srgbClr>
          </a:solidFill>
          <a:ln w="9525">
            <a:solidFill>
              <a:schemeClr val="tx1"/>
            </a:solidFill>
            <a:round/>
          </a:ln>
        </p:spPr>
        <p:txBody>
          <a:bodyPr wrap="none" anchor="ctr"/>
          <a:lstStyle/>
          <a:p>
            <a:endParaRPr lang="zh-CN" altLang="en-US"/>
          </a:p>
        </p:txBody>
      </p:sp>
      <p:sp>
        <p:nvSpPr>
          <p:cNvPr id="124" name="AutoShape 122"/>
          <p:cNvSpPr/>
          <p:nvPr/>
        </p:nvSpPr>
        <p:spPr bwMode="auto">
          <a:xfrm rot="8144431">
            <a:off x="5977701" y="3355745"/>
            <a:ext cx="304800" cy="381000"/>
          </a:xfrm>
          <a:prstGeom prst="rightBracket">
            <a:avLst>
              <a:gd name="adj" fmla="val 10417"/>
            </a:avLst>
          </a:prstGeom>
          <a:noFill/>
          <a:ln w="19050">
            <a:solidFill>
              <a:srgbClr val="CC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6" name="AutoShape 123"/>
          <p:cNvSpPr/>
          <p:nvPr/>
        </p:nvSpPr>
        <p:spPr bwMode="auto">
          <a:xfrm rot="13336084">
            <a:off x="6028660" y="4562096"/>
            <a:ext cx="304800" cy="381000"/>
          </a:xfrm>
          <a:prstGeom prst="rightBracket">
            <a:avLst>
              <a:gd name="adj" fmla="val 10417"/>
            </a:avLst>
          </a:prstGeom>
          <a:noFill/>
          <a:ln w="19050">
            <a:solidFill>
              <a:srgbClr val="CC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7" name="AutoShape 120"/>
          <p:cNvSpPr/>
          <p:nvPr/>
        </p:nvSpPr>
        <p:spPr bwMode="auto">
          <a:xfrm rot="19149892">
            <a:off x="2715254" y="4562404"/>
            <a:ext cx="304800" cy="381000"/>
          </a:xfrm>
          <a:prstGeom prst="rightBracket">
            <a:avLst>
              <a:gd name="adj" fmla="val 10417"/>
            </a:avLst>
          </a:prstGeom>
          <a:noFill/>
          <a:ln w="19050">
            <a:solidFill>
              <a:srgbClr val="CC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 name="AutoShape 121"/>
          <p:cNvSpPr/>
          <p:nvPr/>
        </p:nvSpPr>
        <p:spPr bwMode="auto">
          <a:xfrm rot="2220543">
            <a:off x="2743072" y="3338342"/>
            <a:ext cx="304800" cy="381000"/>
          </a:xfrm>
          <a:prstGeom prst="rightBracket">
            <a:avLst>
              <a:gd name="adj" fmla="val 10417"/>
            </a:avLst>
          </a:prstGeom>
          <a:noFill/>
          <a:ln w="19050">
            <a:solidFill>
              <a:srgbClr val="CC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 name="椭圆 129"/>
          <p:cNvSpPr/>
          <p:nvPr/>
        </p:nvSpPr>
        <p:spPr>
          <a:xfrm>
            <a:off x="4981017" y="3780544"/>
            <a:ext cx="401166" cy="349424"/>
          </a:xfrm>
          <a:prstGeom prst="ellipse">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AutoShape 5"/>
          <p:cNvSpPr>
            <a:spLocks noChangeArrowheads="1"/>
          </p:cNvSpPr>
          <p:nvPr/>
        </p:nvSpPr>
        <p:spPr bwMode="auto">
          <a:xfrm>
            <a:off x="5877709" y="4153361"/>
            <a:ext cx="360382" cy="765954"/>
          </a:xfrm>
          <a:prstGeom prst="roundRect">
            <a:avLst>
              <a:gd name="adj" fmla="val 16667"/>
            </a:avLst>
          </a:prstGeom>
          <a:solidFill>
            <a:srgbClr val="92D050">
              <a:alpha val="16862"/>
            </a:srgbClr>
          </a:solidFill>
          <a:ln w="9525">
            <a:solidFill>
              <a:schemeClr val="tx1"/>
            </a:solidFill>
            <a:round/>
          </a:ln>
        </p:spPr>
        <p:txBody>
          <a:bodyPr wrap="none" anchor="ctr"/>
          <a:lstStyle/>
          <a:p>
            <a:endParaRPr lang="zh-CN" altLang="en-US"/>
          </a:p>
        </p:txBody>
      </p:sp>
      <p:sp>
        <p:nvSpPr>
          <p:cNvPr id="132" name="椭圆 131"/>
          <p:cNvSpPr/>
          <p:nvPr/>
        </p:nvSpPr>
        <p:spPr>
          <a:xfrm>
            <a:off x="3639917" y="3764756"/>
            <a:ext cx="401166" cy="349424"/>
          </a:xfrm>
          <a:prstGeom prst="ellipse">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椭圆 132"/>
          <p:cNvSpPr/>
          <p:nvPr/>
        </p:nvSpPr>
        <p:spPr>
          <a:xfrm>
            <a:off x="5029200" y="4558332"/>
            <a:ext cx="401166" cy="349424"/>
          </a:xfrm>
          <a:prstGeom prst="ellipse">
            <a:avLst/>
          </a:prstGeom>
          <a:noFill/>
          <a:ln>
            <a:solidFill>
              <a:srgbClr val="0070C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椭圆 133"/>
          <p:cNvSpPr/>
          <p:nvPr/>
        </p:nvSpPr>
        <p:spPr>
          <a:xfrm>
            <a:off x="3563888" y="4581128"/>
            <a:ext cx="401166" cy="349424"/>
          </a:xfrm>
          <a:prstGeom prst="ellipse">
            <a:avLst/>
          </a:prstGeom>
          <a:noFill/>
          <a:ln>
            <a:solidFill>
              <a:srgbClr val="0070C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wedge">
                                      <p:cBhvr>
                                        <p:cTn id="7" dur="1000"/>
                                        <p:tgtEl>
                                          <p:spTgt spid="119"/>
                                        </p:tgtEl>
                                      </p:cBhvr>
                                    </p:animEffect>
                                  </p:childTnLst>
                                </p:cTn>
                              </p:par>
                              <p:par>
                                <p:cTn id="8" presetID="20" presetClass="entr" presetSubtype="0" fill="hold" grpId="0" nodeType="withEffect">
                                  <p:stCondLst>
                                    <p:cond delay="0"/>
                                  </p:stCondLst>
                                  <p:childTnLst>
                                    <p:set>
                                      <p:cBhvr>
                                        <p:cTn id="9" dur="1" fill="hold">
                                          <p:stCondLst>
                                            <p:cond delay="0"/>
                                          </p:stCondLst>
                                        </p:cTn>
                                        <p:tgtEl>
                                          <p:spTgt spid="120"/>
                                        </p:tgtEl>
                                        <p:attrNameLst>
                                          <p:attrName>style.visibility</p:attrName>
                                        </p:attrNameLst>
                                      </p:cBhvr>
                                      <p:to>
                                        <p:strVal val="visible"/>
                                      </p:to>
                                    </p:set>
                                    <p:animEffect transition="in" filter="wedge">
                                      <p:cBhvr>
                                        <p:cTn id="10" dur="1000"/>
                                        <p:tgtEl>
                                          <p:spTgt spid="120"/>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124"/>
                                        </p:tgtEl>
                                        <p:attrNameLst>
                                          <p:attrName>style.visibility</p:attrName>
                                        </p:attrNameLst>
                                      </p:cBhvr>
                                      <p:to>
                                        <p:strVal val="visible"/>
                                      </p:to>
                                    </p:set>
                                    <p:anim calcmode="lin" valueType="num">
                                      <p:cBhvr additive="base">
                                        <p:cTn id="15" dur="500" fill="hold"/>
                                        <p:tgtEl>
                                          <p:spTgt spid="124"/>
                                        </p:tgtEl>
                                        <p:attrNameLst>
                                          <p:attrName>ppt_x</p:attrName>
                                        </p:attrNameLst>
                                      </p:cBhvr>
                                      <p:tavLst>
                                        <p:tav tm="0">
                                          <p:val>
                                            <p:strVal val="0-#ppt_w/2"/>
                                          </p:val>
                                        </p:tav>
                                        <p:tav tm="100000">
                                          <p:val>
                                            <p:strVal val="#ppt_x"/>
                                          </p:val>
                                        </p:tav>
                                      </p:tavLst>
                                    </p:anim>
                                    <p:anim calcmode="lin" valueType="num">
                                      <p:cBhvr additive="base">
                                        <p:cTn id="16" dur="500" fill="hold"/>
                                        <p:tgtEl>
                                          <p:spTgt spid="124"/>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26"/>
                                        </p:tgtEl>
                                        <p:attrNameLst>
                                          <p:attrName>style.visibility</p:attrName>
                                        </p:attrNameLst>
                                      </p:cBhvr>
                                      <p:to>
                                        <p:strVal val="visible"/>
                                      </p:to>
                                    </p:set>
                                    <p:anim calcmode="lin" valueType="num">
                                      <p:cBhvr additive="base">
                                        <p:cTn id="19" dur="500" fill="hold"/>
                                        <p:tgtEl>
                                          <p:spTgt spid="126"/>
                                        </p:tgtEl>
                                        <p:attrNameLst>
                                          <p:attrName>ppt_x</p:attrName>
                                        </p:attrNameLst>
                                      </p:cBhvr>
                                      <p:tavLst>
                                        <p:tav tm="0">
                                          <p:val>
                                            <p:strVal val="0-#ppt_w/2"/>
                                          </p:val>
                                        </p:tav>
                                        <p:tav tm="100000">
                                          <p:val>
                                            <p:strVal val="#ppt_x"/>
                                          </p:val>
                                        </p:tav>
                                      </p:tavLst>
                                    </p:anim>
                                    <p:anim calcmode="lin" valueType="num">
                                      <p:cBhvr additive="base">
                                        <p:cTn id="20" dur="500" fill="hold"/>
                                        <p:tgtEl>
                                          <p:spTgt spid="126"/>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27"/>
                                        </p:tgtEl>
                                        <p:attrNameLst>
                                          <p:attrName>style.visibility</p:attrName>
                                        </p:attrNameLst>
                                      </p:cBhvr>
                                      <p:to>
                                        <p:strVal val="visible"/>
                                      </p:to>
                                    </p:set>
                                    <p:anim calcmode="lin" valueType="num">
                                      <p:cBhvr additive="base">
                                        <p:cTn id="23" dur="500" fill="hold"/>
                                        <p:tgtEl>
                                          <p:spTgt spid="127"/>
                                        </p:tgtEl>
                                        <p:attrNameLst>
                                          <p:attrName>ppt_x</p:attrName>
                                        </p:attrNameLst>
                                      </p:cBhvr>
                                      <p:tavLst>
                                        <p:tav tm="0">
                                          <p:val>
                                            <p:strVal val="0-#ppt_w/2"/>
                                          </p:val>
                                        </p:tav>
                                        <p:tav tm="100000">
                                          <p:val>
                                            <p:strVal val="#ppt_x"/>
                                          </p:val>
                                        </p:tav>
                                      </p:tavLst>
                                    </p:anim>
                                    <p:anim calcmode="lin" valueType="num">
                                      <p:cBhvr additive="base">
                                        <p:cTn id="24" dur="500" fill="hold"/>
                                        <p:tgtEl>
                                          <p:spTgt spid="127"/>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28"/>
                                        </p:tgtEl>
                                        <p:attrNameLst>
                                          <p:attrName>style.visibility</p:attrName>
                                        </p:attrNameLst>
                                      </p:cBhvr>
                                      <p:to>
                                        <p:strVal val="visible"/>
                                      </p:to>
                                    </p:set>
                                    <p:anim calcmode="lin" valueType="num">
                                      <p:cBhvr additive="base">
                                        <p:cTn id="27" dur="500" fill="hold"/>
                                        <p:tgtEl>
                                          <p:spTgt spid="128"/>
                                        </p:tgtEl>
                                        <p:attrNameLst>
                                          <p:attrName>ppt_x</p:attrName>
                                        </p:attrNameLst>
                                      </p:cBhvr>
                                      <p:tavLst>
                                        <p:tav tm="0">
                                          <p:val>
                                            <p:strVal val="0-#ppt_w/2"/>
                                          </p:val>
                                        </p:tav>
                                        <p:tav tm="100000">
                                          <p:val>
                                            <p:strVal val="#ppt_x"/>
                                          </p:val>
                                        </p:tav>
                                      </p:tavLst>
                                    </p:anim>
                                    <p:anim calcmode="lin" valueType="num">
                                      <p:cBhvr additive="base">
                                        <p:cTn id="28" dur="500" fill="hold"/>
                                        <p:tgtEl>
                                          <p:spTgt spid="128"/>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0" presetClass="entr" presetSubtype="0" fill="hold" grpId="0" nodeType="clickEffect">
                                  <p:stCondLst>
                                    <p:cond delay="0"/>
                                  </p:stCondLst>
                                  <p:childTnLst>
                                    <p:set>
                                      <p:cBhvr>
                                        <p:cTn id="32" dur="1" fill="hold">
                                          <p:stCondLst>
                                            <p:cond delay="0"/>
                                          </p:stCondLst>
                                        </p:cTn>
                                        <p:tgtEl>
                                          <p:spTgt spid="121"/>
                                        </p:tgtEl>
                                        <p:attrNameLst>
                                          <p:attrName>style.visibility</p:attrName>
                                        </p:attrNameLst>
                                      </p:cBhvr>
                                      <p:to>
                                        <p:strVal val="visible"/>
                                      </p:to>
                                    </p:set>
                                    <p:animEffect transition="in" filter="wedge">
                                      <p:cBhvr>
                                        <p:cTn id="33" dur="1000"/>
                                        <p:tgtEl>
                                          <p:spTgt spid="121"/>
                                        </p:tgtEl>
                                      </p:cBhvr>
                                    </p:animEffect>
                                  </p:childTnLst>
                                </p:cTn>
                              </p:par>
                            </p:childTnLst>
                          </p:cTn>
                        </p:par>
                      </p:childTnLst>
                    </p:cTn>
                  </p:par>
                  <p:par>
                    <p:cTn id="34" fill="hold">
                      <p:stCondLst>
                        <p:cond delay="indefinite"/>
                      </p:stCondLst>
                      <p:childTnLst>
                        <p:par>
                          <p:cTn id="35" fill="hold">
                            <p:stCondLst>
                              <p:cond delay="0"/>
                            </p:stCondLst>
                            <p:childTnLst>
                              <p:par>
                                <p:cTn id="36" presetID="20" presetClass="entr" presetSubtype="0" fill="hold" grpId="0" nodeType="clickEffect">
                                  <p:stCondLst>
                                    <p:cond delay="0"/>
                                  </p:stCondLst>
                                  <p:childTnLst>
                                    <p:set>
                                      <p:cBhvr>
                                        <p:cTn id="37" dur="1" fill="hold">
                                          <p:stCondLst>
                                            <p:cond delay="0"/>
                                          </p:stCondLst>
                                        </p:cTn>
                                        <p:tgtEl>
                                          <p:spTgt spid="122"/>
                                        </p:tgtEl>
                                        <p:attrNameLst>
                                          <p:attrName>style.visibility</p:attrName>
                                        </p:attrNameLst>
                                      </p:cBhvr>
                                      <p:to>
                                        <p:strVal val="visible"/>
                                      </p:to>
                                    </p:set>
                                    <p:animEffect transition="in" filter="wedge">
                                      <p:cBhvr>
                                        <p:cTn id="38" dur="1000"/>
                                        <p:tgtEl>
                                          <p:spTgt spid="122"/>
                                        </p:tgtEl>
                                      </p:cBhvr>
                                    </p:animEffect>
                                  </p:childTnLst>
                                </p:cTn>
                              </p:par>
                            </p:childTnLst>
                          </p:cTn>
                        </p:par>
                      </p:childTnLst>
                    </p:cTn>
                  </p:par>
                  <p:par>
                    <p:cTn id="39" fill="hold">
                      <p:stCondLst>
                        <p:cond delay="indefinite"/>
                      </p:stCondLst>
                      <p:childTnLst>
                        <p:par>
                          <p:cTn id="40" fill="hold">
                            <p:stCondLst>
                              <p:cond delay="0"/>
                            </p:stCondLst>
                            <p:childTnLst>
                              <p:par>
                                <p:cTn id="41" presetID="20" presetClass="entr" presetSubtype="0" fill="hold" grpId="0" nodeType="clickEffect">
                                  <p:stCondLst>
                                    <p:cond delay="0"/>
                                  </p:stCondLst>
                                  <p:childTnLst>
                                    <p:set>
                                      <p:cBhvr>
                                        <p:cTn id="42" dur="1" fill="hold">
                                          <p:stCondLst>
                                            <p:cond delay="0"/>
                                          </p:stCondLst>
                                        </p:cTn>
                                        <p:tgtEl>
                                          <p:spTgt spid="131"/>
                                        </p:tgtEl>
                                        <p:attrNameLst>
                                          <p:attrName>style.visibility</p:attrName>
                                        </p:attrNameLst>
                                      </p:cBhvr>
                                      <p:to>
                                        <p:strVal val="visible"/>
                                      </p:to>
                                    </p:set>
                                    <p:animEffect transition="in" filter="wedge">
                                      <p:cBhvr>
                                        <p:cTn id="43" dur="1000"/>
                                        <p:tgtEl>
                                          <p:spTgt spid="131"/>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30"/>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32"/>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133"/>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134"/>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p:bldP spid="119" grpId="0" animBg="1"/>
      <p:bldP spid="120" grpId="0" animBg="1"/>
      <p:bldP spid="121" grpId="0" animBg="1"/>
      <p:bldP spid="122" grpId="0" animBg="1"/>
      <p:bldP spid="124" grpId="0" animBg="1"/>
      <p:bldP spid="126" grpId="0" animBg="1"/>
      <p:bldP spid="127" grpId="0" animBg="1"/>
      <p:bldP spid="128" grpId="0" animBg="1"/>
      <p:bldP spid="130" grpId="0" animBg="1"/>
      <p:bldP spid="131" grpId="0" animBg="1"/>
      <p:bldP spid="132" grpId="0" animBg="1"/>
      <p:bldP spid="133" grpId="0" animBg="1"/>
      <p:bldP spid="134"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 </a:t>
            </a:r>
            <a:r>
              <a:rPr lang="zh-CN" altLang="en-US" dirty="0"/>
              <a:t>卡诺图化简</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00099" y="915505"/>
                <a:ext cx="8008327" cy="2759730"/>
              </a:xfrm>
            </p:spPr>
            <p:txBody>
              <a:bodyPr/>
              <a:lstStyle/>
              <a:p>
                <a:pPr>
                  <a:spcBef>
                    <a:spcPct val="50000"/>
                  </a:spcBef>
                </a:pPr>
                <a:r>
                  <a:rPr lang="zh-CN" altLang="en-US" sz="2200" dirty="0">
                    <a:solidFill>
                      <a:schemeClr val="tx2"/>
                    </a:solidFill>
                  </a:rPr>
                  <a:t>列出全部质蕴含项和实质蕴含项，并给出最简与或表达式。</a:t>
                </a:r>
                <a:endParaRPr lang="en-US" altLang="zh-CN" sz="2200" dirty="0">
                  <a:solidFill>
                    <a:schemeClr val="tx2"/>
                  </a:solidFill>
                </a:endParaRPr>
              </a:p>
              <a:p>
                <a:pPr marL="0" indent="0">
                  <a:spcBef>
                    <a:spcPct val="50000"/>
                  </a:spcBef>
                  <a:buNone/>
                </a:pPr>
                <a:r>
                  <a:rPr lang="en-US" altLang="zh-CN" sz="2200" i="1" dirty="0">
                    <a:solidFill>
                      <a:schemeClr val="tx2"/>
                    </a:solidFill>
                  </a:rPr>
                  <a:t>F </a:t>
                </a:r>
                <a:r>
                  <a:rPr lang="en-US" altLang="zh-CN" sz="2200" dirty="0">
                    <a:solidFill>
                      <a:schemeClr val="tx2"/>
                    </a:solidFill>
                  </a:rPr>
                  <a:t>(A,B,C,D) = </a:t>
                </a:r>
                <a:r>
                  <a:rPr lang="en-US" altLang="zh-CN" sz="2200" dirty="0">
                    <a:solidFill>
                      <a:schemeClr val="tx2"/>
                    </a:solidFill>
                    <a:sym typeface="Symbol" panose="05050102010706020507" pitchFamily="18" charset="2"/>
                  </a:rPr>
                  <a:t></a:t>
                </a:r>
                <a:r>
                  <a:rPr lang="en-US" altLang="zh-CN" sz="2200" i="1" dirty="0">
                    <a:solidFill>
                      <a:schemeClr val="tx2"/>
                    </a:solidFill>
                    <a:sym typeface="Symbol" panose="05050102010706020507" pitchFamily="18" charset="2"/>
                  </a:rPr>
                  <a:t>m</a:t>
                </a:r>
                <a:r>
                  <a:rPr lang="en-US" altLang="zh-CN" sz="2200" dirty="0">
                    <a:solidFill>
                      <a:schemeClr val="tx2"/>
                    </a:solidFill>
                    <a:sym typeface="Symbol" panose="05050102010706020507" pitchFamily="18" charset="2"/>
                  </a:rPr>
                  <a:t>(0,1,4,5,7,8,10,13,14,15)</a:t>
                </a:r>
                <a:endParaRPr lang="en-US" altLang="zh-CN" sz="2200" dirty="0">
                  <a:solidFill>
                    <a:schemeClr val="tx2"/>
                  </a:solidFill>
                  <a:sym typeface="Symbol" panose="05050102010706020507" pitchFamily="18" charset="2"/>
                </a:endParaRPr>
              </a:p>
              <a:p>
                <a:pPr marL="0" indent="0">
                  <a:spcBef>
                    <a:spcPct val="50000"/>
                  </a:spcBef>
                  <a:buNone/>
                </a:pPr>
                <a:r>
                  <a:rPr lang="en-US" altLang="zh-CN" sz="2200" i="1" dirty="0">
                    <a:solidFill>
                      <a:schemeClr val="tx2"/>
                    </a:solidFill>
                  </a:rPr>
                  <a:t>F </a:t>
                </a:r>
                <a:r>
                  <a:rPr lang="en-US" altLang="zh-CN" sz="2200" dirty="0">
                    <a:solidFill>
                      <a:schemeClr val="tx2"/>
                    </a:solidFill>
                  </a:rPr>
                  <a:t>(A,B,C,D) = </a:t>
                </a:r>
                <a:r>
                  <a:rPr lang="en-US" altLang="zh-CN" sz="2200" dirty="0">
                    <a:solidFill>
                      <a:schemeClr val="tx2"/>
                    </a:solidFill>
                    <a:sym typeface="Symbol" panose="05050102010706020507" pitchFamily="18" charset="2"/>
                  </a:rPr>
                  <a:t></a:t>
                </a:r>
                <a:r>
                  <a:rPr lang="en-US" altLang="zh-CN" sz="2200" i="1" dirty="0">
                    <a:solidFill>
                      <a:schemeClr val="tx2"/>
                    </a:solidFill>
                    <a:sym typeface="Symbol" panose="05050102010706020507" pitchFamily="18" charset="2"/>
                  </a:rPr>
                  <a:t>m</a:t>
                </a:r>
                <a:r>
                  <a:rPr lang="en-US" altLang="zh-CN" sz="2200" dirty="0">
                    <a:solidFill>
                      <a:schemeClr val="tx2"/>
                    </a:solidFill>
                    <a:sym typeface="Symbol" panose="05050102010706020507" pitchFamily="18" charset="2"/>
                  </a:rPr>
                  <a:t>(1,2,3,4,8,9,10,12,13,14,15)</a:t>
                </a:r>
                <a:endParaRPr lang="en-US" altLang="zh-CN" sz="2200" dirty="0">
                  <a:solidFill>
                    <a:schemeClr val="tx2"/>
                  </a:solidFill>
                  <a:sym typeface="Symbol" panose="05050102010706020507" pitchFamily="18" charset="2"/>
                </a:endParaRPr>
              </a:p>
              <a:p>
                <a:pPr>
                  <a:spcBef>
                    <a:spcPct val="50000"/>
                  </a:spcBef>
                </a:pPr>
                <a:endParaRPr lang="en-US" altLang="zh-CN" sz="2200" dirty="0">
                  <a:solidFill>
                    <a:schemeClr val="tx2"/>
                  </a:solidFill>
                  <a:sym typeface="Symbol" panose="05050102010706020507" pitchFamily="18" charset="2"/>
                </a:endParaRPr>
              </a:p>
              <a:p>
                <a:pPr>
                  <a:spcBef>
                    <a:spcPct val="50000"/>
                  </a:spcBef>
                </a:pPr>
                <a:r>
                  <a:rPr lang="zh-CN" altLang="en-US" sz="2200" dirty="0">
                    <a:solidFill>
                      <a:schemeClr val="tx2"/>
                    </a:solidFill>
                    <a:latin typeface="+mj-ea"/>
                    <a:ea typeface="+mj-ea"/>
                    <a:sym typeface="Symbol" panose="05050102010706020507" pitchFamily="18" charset="2"/>
                  </a:rPr>
                  <a:t>卡诺图化简：</a:t>
                </a:r>
                <a:r>
                  <a:rPr lang="en-US" altLang="zh-CN" sz="2200" dirty="0">
                    <a:latin typeface="+mj-ea"/>
                    <a:ea typeface="+mj-ea"/>
                  </a:rPr>
                  <a:t>F=</a:t>
                </a:r>
                <a:r>
                  <a:rPr lang="en-US" altLang="zh-CN" sz="2200" dirty="0" err="1">
                    <a:latin typeface="+mj-ea"/>
                    <a:ea typeface="+mj-ea"/>
                  </a:rPr>
                  <a:t>wx+wxy</a:t>
                </a:r>
                <a:r>
                  <a:rPr lang="en-US" altLang="zh-CN" sz="2200" dirty="0">
                    <a:latin typeface="+mj-ea"/>
                    <a:ea typeface="+mj-ea"/>
                  </a:rPr>
                  <a:t>+</a:t>
                </a:r>
                <a14:m>
                  <m:oMath xmlns:m="http://schemas.openxmlformats.org/officeDocument/2006/math">
                    <m:acc>
                      <m:accPr>
                        <m:chr m:val="̅"/>
                        <m:ctrlPr>
                          <a:rPr lang="en-US" altLang="zh-CN" sz="2200" i="1">
                            <a:latin typeface="Cambria Math" panose="02040503050406030204" pitchFamily="18" charset="0"/>
                            <a:ea typeface="+mj-ea"/>
                          </a:rPr>
                        </m:ctrlPr>
                      </m:accPr>
                      <m:e>
                        <m:r>
                          <a:rPr lang="en-US" altLang="zh-CN" sz="2200" i="1">
                            <a:latin typeface="Cambria Math" panose="02040503050406030204" pitchFamily="18" charset="0"/>
                            <a:ea typeface="+mj-ea"/>
                          </a:rPr>
                          <m:t>𝑤</m:t>
                        </m:r>
                      </m:e>
                    </m:acc>
                  </m:oMath>
                </a14:m>
                <a:r>
                  <a:rPr lang="en-US" altLang="zh-CN" sz="2200" dirty="0">
                    <a:latin typeface="+mj-ea"/>
                    <a:ea typeface="+mj-ea"/>
                  </a:rPr>
                  <a:t>yz+</a:t>
                </a:r>
                <a14:m>
                  <m:oMath xmlns:m="http://schemas.openxmlformats.org/officeDocument/2006/math">
                    <m:acc>
                      <m:accPr>
                        <m:chr m:val="̅"/>
                        <m:ctrlPr>
                          <a:rPr lang="en-US" altLang="zh-CN" sz="2200" i="1">
                            <a:latin typeface="Cambria Math" panose="02040503050406030204" pitchFamily="18" charset="0"/>
                            <a:ea typeface="+mj-ea"/>
                          </a:rPr>
                        </m:ctrlPr>
                      </m:accPr>
                      <m:e>
                        <m:r>
                          <a:rPr lang="en-US" altLang="zh-CN" sz="2200" i="1">
                            <a:latin typeface="Cambria Math" panose="02040503050406030204" pitchFamily="18" charset="0"/>
                            <a:ea typeface="+mj-ea"/>
                          </a:rPr>
                          <m:t>𝑤</m:t>
                        </m:r>
                      </m:e>
                    </m:acc>
                    <m:acc>
                      <m:accPr>
                        <m:chr m:val="̅"/>
                        <m:ctrlPr>
                          <a:rPr lang="en-US" altLang="zh-CN" sz="2200" i="1">
                            <a:latin typeface="Cambria Math" panose="02040503050406030204" pitchFamily="18" charset="0"/>
                            <a:ea typeface="+mj-ea"/>
                          </a:rPr>
                        </m:ctrlPr>
                      </m:accPr>
                      <m:e>
                        <m:r>
                          <a:rPr lang="en-US" altLang="zh-CN" sz="2200" i="1">
                            <a:latin typeface="Cambria Math" panose="02040503050406030204" pitchFamily="18" charset="0"/>
                            <a:ea typeface="+mj-ea"/>
                          </a:rPr>
                          <m:t>𝑦</m:t>
                        </m:r>
                      </m:e>
                    </m:acc>
                  </m:oMath>
                </a14:m>
                <a:r>
                  <a:rPr lang="en-US" altLang="zh-CN" sz="2200" dirty="0">
                    <a:latin typeface="+mj-ea"/>
                    <a:ea typeface="+mj-ea"/>
                  </a:rPr>
                  <a:t>z+</a:t>
                </a:r>
                <a14:m>
                  <m:oMath xmlns:m="http://schemas.openxmlformats.org/officeDocument/2006/math">
                    <m:acc>
                      <m:accPr>
                        <m:chr m:val="̅"/>
                        <m:ctrlPr>
                          <a:rPr lang="en-US" altLang="zh-CN" sz="2200" i="1">
                            <a:latin typeface="Cambria Math" panose="02040503050406030204" pitchFamily="18" charset="0"/>
                            <a:ea typeface="+mj-ea"/>
                          </a:rPr>
                        </m:ctrlPr>
                      </m:accPr>
                      <m:e>
                        <m:r>
                          <a:rPr lang="en-US" altLang="zh-CN" sz="2200" i="1">
                            <a:latin typeface="Cambria Math" panose="02040503050406030204" pitchFamily="18" charset="0"/>
                            <a:ea typeface="+mj-ea"/>
                          </a:rPr>
                          <m:t>𝑤</m:t>
                        </m:r>
                      </m:e>
                    </m:acc>
                  </m:oMath>
                </a14:m>
                <a:r>
                  <a:rPr lang="en-US" altLang="zh-CN" sz="2200" dirty="0">
                    <a:latin typeface="+mj-ea"/>
                    <a:ea typeface="+mj-ea"/>
                  </a:rPr>
                  <a:t>xy</a:t>
                </a:r>
                <a14:m>
                  <m:oMath xmlns:m="http://schemas.openxmlformats.org/officeDocument/2006/math">
                    <m:acc>
                      <m:accPr>
                        <m:chr m:val="̅"/>
                        <m:ctrlPr>
                          <a:rPr lang="en-US" altLang="zh-CN" sz="2200" i="1">
                            <a:latin typeface="Cambria Math" panose="02040503050406030204" pitchFamily="18" charset="0"/>
                            <a:ea typeface="+mj-ea"/>
                          </a:rPr>
                        </m:ctrlPr>
                      </m:accPr>
                      <m:e>
                        <m:r>
                          <a:rPr lang="en-US" altLang="zh-CN" sz="2200" i="1">
                            <a:latin typeface="Cambria Math" panose="02040503050406030204" pitchFamily="18" charset="0"/>
                            <a:ea typeface="+mj-ea"/>
                          </a:rPr>
                          <m:t>𝑧</m:t>
                        </m:r>
                      </m:e>
                    </m:acc>
                  </m:oMath>
                </a14:m>
                <a:endParaRPr lang="en-US" altLang="zh-CN" sz="2200" dirty="0">
                  <a:solidFill>
                    <a:schemeClr val="tx2"/>
                  </a:solidFill>
                  <a:latin typeface="+mj-ea"/>
                  <a:ea typeface="+mj-ea"/>
                  <a:sym typeface="Symbol" panose="05050102010706020507" pitchFamily="18" charset="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800099" y="915505"/>
                <a:ext cx="8008327" cy="2759730"/>
              </a:xfrm>
              <a:blipFill rotWithShape="1">
                <a:blip r:embed="rId1"/>
                <a:stretch>
                  <a:fillRect l="-8" t="-17" r="4" b="18"/>
                </a:stretch>
              </a:blipFill>
            </p:spPr>
            <p:txBody>
              <a:bodyPr/>
              <a:lstStyle/>
              <a:p>
                <a:r>
                  <a:rPr lang="zh-CN" altLang="en-US">
                    <a:noFill/>
                  </a:rPr>
                  <a:t> </a:t>
                </a:r>
              </a:p>
            </p:txBody>
          </p:sp>
        </mc:Fallback>
      </mc:AlternateContent>
      <p:sp>
        <p:nvSpPr>
          <p:cNvPr id="6" name="灯片编号占位符 5"/>
          <p:cNvSpPr>
            <a:spLocks noGrp="1"/>
          </p:cNvSpPr>
          <p:nvPr>
            <p:ph type="sldNum" sz="quarter" idx="4294967295"/>
          </p:nvPr>
        </p:nvSpPr>
        <p:spPr>
          <a:xfrm>
            <a:off x="8642350" y="6489700"/>
            <a:ext cx="501650" cy="333375"/>
          </a:xfrm>
          <a:prstGeom prst="rect">
            <a:avLst/>
          </a:prstGeom>
        </p:spPr>
        <p:txBody>
          <a:bodyPr/>
          <a:lstStyle/>
          <a:p>
            <a:pPr>
              <a:defRPr/>
            </a:pPr>
            <a:fld id="{F38CFDAA-5283-40C9-80A4-C3781C02EB22}" type="slidenum">
              <a:rPr lang="en-US" altLang="zh-CN" smtClean="0"/>
            </a:fld>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altLang="zh-CN" dirty="0"/>
              <a:t>4.2 </a:t>
            </a:r>
            <a:r>
              <a:rPr lang="zh-CN" altLang="en-US" dirty="0"/>
              <a:t>卡诺图化简</a:t>
            </a:r>
            <a:endParaRPr lang="zh-CN" altLang="en-US" dirty="0"/>
          </a:p>
        </p:txBody>
      </p:sp>
      <p:sp>
        <p:nvSpPr>
          <p:cNvPr id="9" name="内容占位符 8"/>
          <p:cNvSpPr>
            <a:spLocks noGrp="1"/>
          </p:cNvSpPr>
          <p:nvPr>
            <p:ph idx="1"/>
          </p:nvPr>
        </p:nvSpPr>
        <p:spPr>
          <a:xfrm>
            <a:off x="395469" y="908620"/>
            <a:ext cx="8554378" cy="4021807"/>
          </a:xfrm>
        </p:spPr>
        <p:txBody>
          <a:bodyPr/>
          <a:lstStyle/>
          <a:p>
            <a:pPr>
              <a:spcBef>
                <a:spcPts val="600"/>
              </a:spcBef>
            </a:pPr>
            <a:r>
              <a:rPr lang="zh-CN" altLang="en-US" sz="2200" dirty="0"/>
              <a:t>利用对偶性原理，卡诺图也可以用来化简</a:t>
            </a:r>
            <a:r>
              <a:rPr lang="zh-CN" altLang="en-US" sz="2200" dirty="0">
                <a:solidFill>
                  <a:srgbClr val="FF0000"/>
                </a:solidFill>
              </a:rPr>
              <a:t>和之积表达式</a:t>
            </a:r>
            <a:r>
              <a:rPr lang="zh-CN" altLang="en-US" sz="2200" dirty="0"/>
              <a:t>，只需要将真值表中输出值为</a:t>
            </a:r>
            <a:r>
              <a:rPr lang="en-US" altLang="zh-CN" sz="2200" dirty="0"/>
              <a:t>0 </a:t>
            </a:r>
            <a:r>
              <a:rPr lang="zh-CN" altLang="en-US" sz="2200" dirty="0"/>
              <a:t>的最大项对应的单元标注为</a:t>
            </a:r>
            <a:r>
              <a:rPr lang="en-US" altLang="zh-CN" sz="2200" dirty="0"/>
              <a:t>0</a:t>
            </a:r>
            <a:r>
              <a:rPr lang="zh-CN" altLang="en-US" sz="2200" dirty="0"/>
              <a:t>，然后合并相邻的“</a:t>
            </a:r>
            <a:r>
              <a:rPr lang="en-US" altLang="zh-CN" sz="2200" dirty="0"/>
              <a:t>0 </a:t>
            </a:r>
            <a:r>
              <a:rPr lang="zh-CN" altLang="en-US" sz="2200" dirty="0"/>
              <a:t>单元”，得到求和的质蕴涵项。</a:t>
            </a:r>
            <a:endParaRPr lang="en-US" altLang="zh-CN" sz="2200" dirty="0"/>
          </a:p>
          <a:p>
            <a:pPr>
              <a:spcBef>
                <a:spcPts val="600"/>
              </a:spcBef>
            </a:pPr>
            <a:r>
              <a:rPr lang="zh-CN" altLang="en-US" sz="2200" dirty="0"/>
              <a:t>卡诺图化简优点</a:t>
            </a:r>
            <a:endParaRPr lang="en-US" altLang="zh-CN" sz="2200" dirty="0"/>
          </a:p>
          <a:p>
            <a:pPr lvl="1">
              <a:spcBef>
                <a:spcPts val="600"/>
              </a:spcBef>
            </a:pPr>
            <a:r>
              <a:rPr lang="zh-CN" altLang="en-US" dirty="0"/>
              <a:t>方便、直观、容易掌握 </a:t>
            </a:r>
            <a:endParaRPr lang="en-US" altLang="zh-CN" dirty="0"/>
          </a:p>
          <a:p>
            <a:pPr>
              <a:spcBef>
                <a:spcPts val="600"/>
              </a:spcBef>
            </a:pPr>
            <a:r>
              <a:rPr lang="zh-CN" altLang="en-US" sz="2200" dirty="0"/>
              <a:t>卡诺图化简缺点</a:t>
            </a:r>
            <a:endParaRPr lang="en-US" altLang="zh-CN" sz="2200" dirty="0"/>
          </a:p>
          <a:p>
            <a:pPr lvl="1">
              <a:spcBef>
                <a:spcPts val="600"/>
              </a:spcBef>
            </a:pPr>
            <a:r>
              <a:rPr lang="zh-CN" altLang="en-US" dirty="0"/>
              <a:t>受到变量数量的约束，当变量数大于</a:t>
            </a:r>
            <a:r>
              <a:rPr lang="en-US" altLang="zh-CN" dirty="0"/>
              <a:t>6</a:t>
            </a:r>
            <a:r>
              <a:rPr lang="zh-CN" altLang="en-US" dirty="0"/>
              <a:t>时，卡诺图绘制以及相邻关系的识别将变得非常复杂，从而导致难以直观化简。</a:t>
            </a:r>
            <a:endParaRPr lang="en-US" altLang="zh-CN" dirty="0"/>
          </a:p>
          <a:p>
            <a:pPr marL="0" indent="0">
              <a:buNone/>
            </a:pPr>
            <a:endParaRPr lang="zh-CN" altLang="en-US" dirty="0"/>
          </a:p>
        </p:txBody>
      </p:sp>
      <p:sp>
        <p:nvSpPr>
          <p:cNvPr id="7" name="灯片编号占位符 6"/>
          <p:cNvSpPr>
            <a:spLocks noGrp="1"/>
          </p:cNvSpPr>
          <p:nvPr>
            <p:ph type="sldNum" sz="quarter" idx="4294967295"/>
          </p:nvPr>
        </p:nvSpPr>
        <p:spPr>
          <a:xfrm>
            <a:off x="8642350" y="6489700"/>
            <a:ext cx="501650" cy="333375"/>
          </a:xfrm>
          <a:prstGeom prst="rect">
            <a:avLst/>
          </a:prstGeom>
        </p:spPr>
        <p:txBody>
          <a:bodyPr/>
          <a:lstStyle/>
          <a:p>
            <a:pPr>
              <a:defRPr/>
            </a:pPr>
            <a:fld id="{EDC9EC5A-3A7E-44D3-A108-1E2CF17B1AE9}" type="slidenum">
              <a:rPr lang="en-US" altLang="zh-CN" smtClean="0"/>
            </a:fld>
            <a:endParaRPr lang="en-US" altLang="zh-CN"/>
          </a:p>
        </p:txBody>
      </p:sp>
      <p:sp>
        <p:nvSpPr>
          <p:cNvPr id="2" name="矩形 1"/>
          <p:cNvSpPr/>
          <p:nvPr/>
        </p:nvSpPr>
        <p:spPr>
          <a:xfrm>
            <a:off x="1039660" y="5053212"/>
            <a:ext cx="7152361" cy="1107996"/>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nSpc>
                <a:spcPct val="150000"/>
              </a:lnSpc>
              <a:spcBef>
                <a:spcPts val="0"/>
              </a:spcBef>
            </a:pPr>
            <a:r>
              <a:rPr lang="zh-CN" altLang="en-US" sz="2200" dirty="0">
                <a:latin typeface="微软雅黑" panose="020B0503020204020204" pitchFamily="34" charset="-122"/>
                <a:ea typeface="微软雅黑" panose="020B0503020204020204" pitchFamily="34" charset="-122"/>
              </a:rPr>
              <a:t>在现代数字系统设计中，大多采用计算机程序</a:t>
            </a:r>
            <a:r>
              <a:rPr lang="zh-CN" altLang="en-US" sz="2200" dirty="0">
                <a:solidFill>
                  <a:srgbClr val="FF0000"/>
                </a:solidFill>
                <a:latin typeface="微软雅黑" panose="020B0503020204020204" pitchFamily="34" charset="-122"/>
                <a:ea typeface="微软雅黑" panose="020B0503020204020204" pitchFamily="34" charset="-122"/>
              </a:rPr>
              <a:t>自动实现逻辑函数的化简</a:t>
            </a:r>
            <a:r>
              <a:rPr lang="zh-CN" altLang="en-US"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altLang="zh-CN" dirty="0"/>
              <a:t>4.3 </a:t>
            </a:r>
            <a:r>
              <a:rPr lang="zh-CN" altLang="en-US" dirty="0"/>
              <a:t>逻辑函数变换</a:t>
            </a:r>
            <a:endParaRPr lang="zh-CN" altLang="en-US" dirty="0"/>
          </a:p>
        </p:txBody>
      </p:sp>
      <p:sp>
        <p:nvSpPr>
          <p:cNvPr id="9" name="内容占位符 8"/>
          <p:cNvSpPr>
            <a:spLocks noGrp="1"/>
          </p:cNvSpPr>
          <p:nvPr>
            <p:ph idx="1"/>
          </p:nvPr>
        </p:nvSpPr>
        <p:spPr>
          <a:xfrm>
            <a:off x="416708" y="1015353"/>
            <a:ext cx="8225642" cy="1709635"/>
          </a:xfrm>
        </p:spPr>
        <p:txBody>
          <a:bodyPr/>
          <a:lstStyle/>
          <a:p>
            <a:r>
              <a:rPr lang="zh-CN" altLang="en-US" sz="2200" dirty="0">
                <a:solidFill>
                  <a:srgbClr val="FF0000"/>
                </a:solidFill>
              </a:rPr>
              <a:t>等效逻辑符号</a:t>
            </a:r>
            <a:r>
              <a:rPr lang="zh-CN" altLang="en-US" sz="2200" dirty="0"/>
              <a:t>：功能相同，符号不同。</a:t>
            </a:r>
            <a:endParaRPr lang="en-US" altLang="zh-CN" sz="2200" dirty="0"/>
          </a:p>
          <a:p>
            <a:pPr lvl="1"/>
            <a:r>
              <a:rPr lang="zh-CN" altLang="en-US" dirty="0"/>
              <a:t>反相输出门利用一次德</a:t>
            </a:r>
            <a:r>
              <a:rPr lang="en-US" altLang="zh-CN" dirty="0"/>
              <a:t>·</a:t>
            </a:r>
            <a:r>
              <a:rPr lang="zh-CN" altLang="en-US" dirty="0"/>
              <a:t>摩根定理，转换为非反相输出门。</a:t>
            </a:r>
            <a:endParaRPr lang="en-US" altLang="zh-CN" dirty="0"/>
          </a:p>
          <a:p>
            <a:pPr lvl="1"/>
            <a:r>
              <a:rPr lang="zh-CN" altLang="en-US" dirty="0"/>
              <a:t>非反相输出门</a:t>
            </a:r>
            <a:r>
              <a:rPr lang="zh-CN" altLang="en-US" dirty="0">
                <a:solidFill>
                  <a:srgbClr val="FF0000"/>
                </a:solidFill>
              </a:rPr>
              <a:t>两次取反</a:t>
            </a:r>
            <a:r>
              <a:rPr lang="zh-CN" altLang="en-US" dirty="0"/>
              <a:t>，利用德</a:t>
            </a:r>
            <a:r>
              <a:rPr lang="en-US" altLang="zh-CN" dirty="0"/>
              <a:t>·</a:t>
            </a:r>
            <a:r>
              <a:rPr lang="zh-CN" altLang="en-US" dirty="0"/>
              <a:t>摩根定理</a:t>
            </a:r>
            <a:r>
              <a:rPr lang="zh-CN" altLang="en-US" dirty="0">
                <a:solidFill>
                  <a:srgbClr val="FF0000"/>
                </a:solidFill>
              </a:rPr>
              <a:t>转换下层</a:t>
            </a:r>
            <a:r>
              <a:rPr lang="zh-CN" altLang="en-US" dirty="0"/>
              <a:t>的取反运算，可得到反相输出门。</a:t>
            </a:r>
            <a:endParaRPr lang="zh-CN" altLang="en-US" dirty="0"/>
          </a:p>
        </p:txBody>
      </p:sp>
      <p:sp>
        <p:nvSpPr>
          <p:cNvPr id="7" name="灯片编号占位符 6"/>
          <p:cNvSpPr>
            <a:spLocks noGrp="1"/>
          </p:cNvSpPr>
          <p:nvPr>
            <p:ph type="sldNum" sz="quarter" idx="4294967295"/>
          </p:nvPr>
        </p:nvSpPr>
        <p:spPr>
          <a:xfrm>
            <a:off x="8642350" y="6489700"/>
            <a:ext cx="501650" cy="333375"/>
          </a:xfrm>
          <a:prstGeom prst="rect">
            <a:avLst/>
          </a:prstGeom>
        </p:spPr>
        <p:txBody>
          <a:bodyPr/>
          <a:lstStyle/>
          <a:p>
            <a:pPr>
              <a:defRPr/>
            </a:pPr>
            <a:fld id="{EDC9EC5A-3A7E-44D3-A108-1E2CF17B1AE9}" type="slidenum">
              <a:rPr lang="en-US" altLang="zh-CN" smtClean="0"/>
            </a:fld>
            <a:endParaRPr lang="en-US" altLang="zh-CN"/>
          </a:p>
        </p:txBody>
      </p:sp>
      <p:pic>
        <p:nvPicPr>
          <p:cNvPr id="10" name="图片 9"/>
          <p:cNvPicPr/>
          <p:nvPr/>
        </p:nvPicPr>
        <p:blipFill>
          <a:blip r:embed="rId1">
            <a:extLst>
              <a:ext uri="{28A0092B-C50C-407E-A947-70E740481C1C}">
                <a14:useLocalDpi xmlns:a14="http://schemas.microsoft.com/office/drawing/2010/main" val="0"/>
              </a:ext>
            </a:extLst>
          </a:blip>
          <a:srcRect/>
          <a:stretch>
            <a:fillRect/>
          </a:stretch>
        </p:blipFill>
        <p:spPr bwMode="auto">
          <a:xfrm>
            <a:off x="1246340" y="3120200"/>
            <a:ext cx="6945315" cy="3068876"/>
          </a:xfrm>
          <a:prstGeom prst="rect">
            <a:avLst/>
          </a:prstGeom>
          <a:noFill/>
          <a:ln>
            <a:noFill/>
          </a:ln>
        </p:spPr>
      </p:pic>
    </p:spTree>
  </p:cSld>
  <p:clrMapOvr>
    <a:masterClrMapping/>
  </p:clrMapOvr>
  <p:transition spd="med">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altLang="zh-CN" dirty="0"/>
              <a:t>4.3 </a:t>
            </a:r>
            <a:r>
              <a:rPr lang="zh-CN" altLang="en-US" dirty="0"/>
              <a:t>逻辑函数变换</a:t>
            </a:r>
            <a:endParaRPr lang="zh-CN" altLang="en-US" dirty="0"/>
          </a:p>
        </p:txBody>
      </p:sp>
      <p:sp>
        <p:nvSpPr>
          <p:cNvPr id="9" name="内容占位符 8"/>
          <p:cNvSpPr>
            <a:spLocks noGrp="1"/>
          </p:cNvSpPr>
          <p:nvPr>
            <p:ph idx="1"/>
          </p:nvPr>
        </p:nvSpPr>
        <p:spPr>
          <a:xfrm>
            <a:off x="353859" y="901961"/>
            <a:ext cx="8436279" cy="2589876"/>
          </a:xfrm>
        </p:spPr>
        <p:txBody>
          <a:bodyPr/>
          <a:lstStyle/>
          <a:p>
            <a:r>
              <a:rPr lang="zh-CN" altLang="en-US" sz="2200" dirty="0"/>
              <a:t>在数字电路中，与非门和或非门通常比与门和或门的执行</a:t>
            </a:r>
            <a:r>
              <a:rPr lang="zh-CN" altLang="en-US" sz="2200" dirty="0">
                <a:solidFill>
                  <a:srgbClr val="FF0000"/>
                </a:solidFill>
              </a:rPr>
              <a:t>速度快</a:t>
            </a:r>
            <a:r>
              <a:rPr lang="zh-CN" altLang="en-US" sz="2200" dirty="0"/>
              <a:t>。</a:t>
            </a:r>
            <a:endParaRPr lang="en-US" altLang="zh-CN" sz="2200" dirty="0"/>
          </a:p>
          <a:p>
            <a:r>
              <a:rPr lang="zh-CN" altLang="en-US" sz="2200" dirty="0"/>
              <a:t>将“与</a:t>
            </a:r>
            <a:r>
              <a:rPr lang="en-US" altLang="zh-CN" sz="2200" dirty="0"/>
              <a:t>-</a:t>
            </a:r>
            <a:r>
              <a:rPr lang="zh-CN" altLang="en-US" sz="2200" dirty="0"/>
              <a:t>或”表达式转换为“与非</a:t>
            </a:r>
            <a:r>
              <a:rPr lang="en-US" altLang="zh-CN" sz="2200" dirty="0"/>
              <a:t>-</a:t>
            </a:r>
            <a:r>
              <a:rPr lang="zh-CN" altLang="en-US" sz="2200" dirty="0"/>
              <a:t>与非”表达式？</a:t>
            </a:r>
            <a:endParaRPr lang="en-US" altLang="zh-CN" sz="2200" dirty="0"/>
          </a:p>
          <a:p>
            <a:pPr lvl="1"/>
            <a:r>
              <a:rPr lang="zh-CN" altLang="en-US" dirty="0"/>
              <a:t>将“与</a:t>
            </a:r>
            <a:r>
              <a:rPr lang="en-US" altLang="zh-CN" dirty="0"/>
              <a:t>-</a:t>
            </a:r>
            <a:r>
              <a:rPr lang="zh-CN" altLang="en-US" dirty="0"/>
              <a:t>或”表达式整体</a:t>
            </a:r>
            <a:r>
              <a:rPr lang="zh-CN" altLang="en-US" dirty="0">
                <a:solidFill>
                  <a:srgbClr val="FF0000"/>
                </a:solidFill>
              </a:rPr>
              <a:t>两次取反</a:t>
            </a:r>
            <a:r>
              <a:rPr lang="zh-CN" altLang="en-US" dirty="0"/>
              <a:t>，然后运用德摩根定律</a:t>
            </a:r>
            <a:r>
              <a:rPr lang="zh-CN" altLang="en-US" dirty="0">
                <a:solidFill>
                  <a:srgbClr val="FF0000"/>
                </a:solidFill>
              </a:rPr>
              <a:t>转换下层</a:t>
            </a:r>
            <a:r>
              <a:rPr lang="zh-CN" altLang="en-US" dirty="0"/>
              <a:t>的取反运算，就可以得到“与非</a:t>
            </a:r>
            <a:r>
              <a:rPr lang="en-US" altLang="zh-CN" dirty="0"/>
              <a:t>-</a:t>
            </a:r>
            <a:r>
              <a:rPr lang="zh-CN" altLang="en-US" dirty="0"/>
              <a:t>与非”表达式</a:t>
            </a:r>
            <a:endParaRPr lang="en-US" altLang="zh-CN" dirty="0"/>
          </a:p>
          <a:p>
            <a:pPr lvl="1"/>
            <a:r>
              <a:rPr lang="zh-CN" altLang="en-US" dirty="0"/>
              <a:t>使用</a:t>
            </a:r>
            <a:r>
              <a:rPr lang="zh-CN" altLang="en-US" dirty="0">
                <a:solidFill>
                  <a:srgbClr val="FF0000"/>
                </a:solidFill>
              </a:rPr>
              <a:t>与非门</a:t>
            </a:r>
            <a:r>
              <a:rPr lang="zh-CN" altLang="en-US" dirty="0"/>
              <a:t>替代</a:t>
            </a:r>
            <a:r>
              <a:rPr lang="zh-CN" altLang="en-US" dirty="0">
                <a:solidFill>
                  <a:srgbClr val="00B0F0"/>
                </a:solidFill>
              </a:rPr>
              <a:t>与门</a:t>
            </a:r>
            <a:r>
              <a:rPr lang="zh-CN" altLang="en-US" dirty="0"/>
              <a:t>和</a:t>
            </a:r>
            <a:r>
              <a:rPr lang="zh-CN" altLang="en-US" dirty="0">
                <a:solidFill>
                  <a:srgbClr val="00B0F0"/>
                </a:solidFill>
              </a:rPr>
              <a:t>或门</a:t>
            </a:r>
            <a:r>
              <a:rPr lang="zh-CN" altLang="en-US" dirty="0"/>
              <a:t>来实现该逻辑函数。</a:t>
            </a:r>
            <a:endParaRPr lang="en-US" altLang="zh-CN" dirty="0"/>
          </a:p>
          <a:p>
            <a:pPr lvl="1"/>
            <a:r>
              <a:rPr lang="zh-CN" altLang="en-US" dirty="0"/>
              <a:t>例如：</a:t>
            </a:r>
            <a:r>
              <a:rPr lang="en-US" altLang="zh-CN" dirty="0"/>
              <a:t>F(X,Y,Z)=X∙Y+Y∙Z+X∙Z</a:t>
            </a:r>
            <a:r>
              <a:rPr lang="zh-CN" altLang="en-US" dirty="0"/>
              <a:t>，转换为：</a:t>
            </a:r>
            <a:endParaRPr lang="zh-CN" altLang="en-US" dirty="0"/>
          </a:p>
        </p:txBody>
      </p:sp>
      <p:sp>
        <p:nvSpPr>
          <p:cNvPr id="7" name="灯片编号占位符 6"/>
          <p:cNvSpPr>
            <a:spLocks noGrp="1"/>
          </p:cNvSpPr>
          <p:nvPr>
            <p:ph type="sldNum" sz="quarter" idx="4294967295"/>
          </p:nvPr>
        </p:nvSpPr>
        <p:spPr>
          <a:xfrm>
            <a:off x="8642350" y="6489700"/>
            <a:ext cx="501650" cy="333375"/>
          </a:xfrm>
          <a:prstGeom prst="rect">
            <a:avLst/>
          </a:prstGeom>
        </p:spPr>
        <p:txBody>
          <a:bodyPr/>
          <a:lstStyle/>
          <a:p>
            <a:pPr>
              <a:defRPr/>
            </a:pPr>
            <a:fld id="{EDC9EC5A-3A7E-44D3-A108-1E2CF17B1AE9}" type="slidenum">
              <a:rPr lang="en-US" altLang="zh-CN" smtClean="0"/>
            </a:fld>
            <a:endParaRPr lang="en-US" altLang="zh-CN"/>
          </a:p>
        </p:txBody>
      </p:sp>
      <mc:AlternateContent xmlns:mc="http://schemas.openxmlformats.org/markup-compatibility/2006">
        <mc:Choice xmlns:a14="http://schemas.microsoft.com/office/drawing/2010/main" Requires="a14">
          <p:sp>
            <p:nvSpPr>
              <p:cNvPr id="2" name="矩形 1"/>
              <p:cNvSpPr/>
              <p:nvPr/>
            </p:nvSpPr>
            <p:spPr>
              <a:xfrm>
                <a:off x="1363873" y="3566976"/>
                <a:ext cx="6707660" cy="509114"/>
              </a:xfrm>
              <a:prstGeom prst="rect">
                <a:avLst/>
              </a:prstGeom>
            </p:spPr>
            <p:txBody>
              <a:bodyPr wrap="square">
                <a:spAutoFit/>
              </a:bodyPr>
              <a:lstStyle/>
              <a:p>
                <a:r>
                  <a:rPr lang="en-US" altLang="zh-CN" sz="2400" dirty="0">
                    <a:latin typeface="Times New Roman" panose="02020603050405020304" pitchFamily="18" charset="0"/>
                  </a:rPr>
                  <a:t>F(X,Y,Z)=</a:t>
                </a:r>
                <a14:m>
                  <m:oMath xmlns:m="http://schemas.openxmlformats.org/officeDocument/2006/math">
                    <m:acc>
                      <m:accPr>
                        <m:chr m:val="̿"/>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a:latin typeface="Cambria Math" panose="02040503050406030204" pitchFamily="18" charset="0"/>
                            <a:cs typeface="Times New Roman" panose="02020603050405020304" pitchFamily="18" charset="0"/>
                          </a:rPr>
                          <m:t>𝑋</m:t>
                        </m:r>
                        <m:r>
                          <a:rPr lang="en-US" altLang="zh-CN" sz="2400">
                            <a:latin typeface="Cambria Math" panose="02040503050406030204" pitchFamily="18" charset="0"/>
                            <a:cs typeface="Times New Roman" panose="02020603050405020304" pitchFamily="18" charset="0"/>
                          </a:rPr>
                          <m:t>∙</m:t>
                        </m:r>
                        <m:r>
                          <m:rPr>
                            <m:sty m:val="p"/>
                          </m:rPr>
                          <a:rPr lang="en-US" altLang="zh-CN" sz="2400">
                            <a:latin typeface="Cambria Math" panose="02040503050406030204" pitchFamily="18" charset="0"/>
                            <a:cs typeface="Times New Roman" panose="02020603050405020304" pitchFamily="18" charset="0"/>
                          </a:rPr>
                          <m:t>Y</m:t>
                        </m:r>
                        <m:r>
                          <a:rPr lang="en-US" altLang="zh-CN" sz="2400">
                            <a:latin typeface="Cambria Math" panose="02040503050406030204" pitchFamily="18" charset="0"/>
                            <a:cs typeface="Times New Roman" panose="02020603050405020304" pitchFamily="18" charset="0"/>
                          </a:rPr>
                          <m:t>+ </m:t>
                        </m:r>
                        <m:r>
                          <m:rPr>
                            <m:sty m:val="p"/>
                          </m:rPr>
                          <a:rPr lang="en-US" altLang="zh-CN" sz="2400">
                            <a:latin typeface="Cambria Math" panose="02040503050406030204" pitchFamily="18" charset="0"/>
                            <a:cs typeface="Times New Roman" panose="02020603050405020304" pitchFamily="18" charset="0"/>
                          </a:rPr>
                          <m:t>Y</m:t>
                        </m:r>
                        <m:r>
                          <a:rPr lang="en-US" altLang="zh-CN" sz="2400">
                            <a:latin typeface="Cambria Math" panose="02040503050406030204" pitchFamily="18" charset="0"/>
                            <a:cs typeface="Times New Roman" panose="02020603050405020304" pitchFamily="18" charset="0"/>
                          </a:rPr>
                          <m:t>∙</m:t>
                        </m:r>
                        <m:r>
                          <m:rPr>
                            <m:sty m:val="p"/>
                          </m:rPr>
                          <a:rPr lang="en-US" altLang="zh-CN" sz="2400">
                            <a:latin typeface="Cambria Math" panose="02040503050406030204" pitchFamily="18" charset="0"/>
                            <a:cs typeface="Times New Roman" panose="02020603050405020304" pitchFamily="18" charset="0"/>
                          </a:rPr>
                          <m:t>Z</m:t>
                        </m:r>
                        <m:r>
                          <a:rPr lang="en-US" altLang="zh-CN" sz="2400">
                            <a:latin typeface="Cambria Math" panose="02040503050406030204" pitchFamily="18" charset="0"/>
                            <a:cs typeface="Times New Roman" panose="02020603050405020304" pitchFamily="18" charset="0"/>
                          </a:rPr>
                          <m:t>+</m:t>
                        </m:r>
                        <m:r>
                          <a:rPr lang="en-US" altLang="zh-CN" sz="2400" i="1">
                            <a:latin typeface="Cambria Math" panose="02040503050406030204" pitchFamily="18" charset="0"/>
                            <a:cs typeface="Times New Roman" panose="02020603050405020304" pitchFamily="18" charset="0"/>
                          </a:rPr>
                          <m:t> </m:t>
                        </m:r>
                        <m:r>
                          <a:rPr lang="en-US" altLang="zh-CN" sz="2400" i="1">
                            <a:latin typeface="Cambria Math" panose="02040503050406030204" pitchFamily="18" charset="0"/>
                            <a:cs typeface="Times New Roman" panose="02020603050405020304" pitchFamily="18" charset="0"/>
                          </a:rPr>
                          <m:t>𝑋</m:t>
                        </m:r>
                        <m:r>
                          <a:rPr lang="en-US" altLang="zh-CN" sz="2400">
                            <a:latin typeface="Cambria Math" panose="02040503050406030204" pitchFamily="18" charset="0"/>
                            <a:cs typeface="Times New Roman" panose="02020603050405020304" pitchFamily="18" charset="0"/>
                          </a:rPr>
                          <m:t>∙</m:t>
                        </m:r>
                        <m:r>
                          <m:rPr>
                            <m:sty m:val="p"/>
                          </m:rPr>
                          <a:rPr lang="en-US" altLang="zh-CN" sz="2400">
                            <a:latin typeface="Cambria Math" panose="02040503050406030204" pitchFamily="18" charset="0"/>
                            <a:cs typeface="Times New Roman" panose="02020603050405020304" pitchFamily="18" charset="0"/>
                          </a:rPr>
                          <m:t>Z</m:t>
                        </m:r>
                      </m:e>
                    </m:acc>
                  </m:oMath>
                </a14:m>
                <a:r>
                  <a:rPr lang="en-US" altLang="zh-CN" sz="2400" dirty="0">
                    <a:latin typeface="Times New Roman" panose="02020603050405020304" pitchFamily="18" charset="0"/>
                  </a:rPr>
                  <a:t>=</a:t>
                </a:r>
                <a14:m>
                  <m:oMath xmlns:m="http://schemas.openxmlformats.org/officeDocument/2006/math">
                    <m:acc>
                      <m:accPr>
                        <m:chr m:val="̅"/>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accPr>
                      <m:e>
                        <m:acc>
                          <m:accPr>
                            <m:chr m:val="̅"/>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a:latin typeface="Cambria Math" panose="02040503050406030204" pitchFamily="18" charset="0"/>
                                <a:cs typeface="Times New Roman" panose="02020603050405020304" pitchFamily="18" charset="0"/>
                              </a:rPr>
                              <m:t>𝑋</m:t>
                            </m:r>
                            <m:r>
                              <a:rPr lang="en-US" altLang="zh-CN" sz="2400" i="1">
                                <a:latin typeface="Cambria Math" panose="02040503050406030204" pitchFamily="18" charset="0"/>
                                <a:cs typeface="Times New Roman" panose="02020603050405020304" pitchFamily="18" charset="0"/>
                              </a:rPr>
                              <m:t>∙</m:t>
                            </m:r>
                            <m:r>
                              <a:rPr lang="en-US" altLang="zh-CN" sz="2400" i="1">
                                <a:latin typeface="Cambria Math" panose="02040503050406030204" pitchFamily="18" charset="0"/>
                                <a:cs typeface="Times New Roman" panose="02020603050405020304" pitchFamily="18" charset="0"/>
                              </a:rPr>
                              <m:t>𝑌</m:t>
                            </m:r>
                          </m:e>
                        </m:acc>
                        <m:r>
                          <a:rPr lang="en-US" altLang="zh-CN" sz="2400" i="1">
                            <a:latin typeface="Cambria Math" panose="02040503050406030204" pitchFamily="18" charset="0"/>
                            <a:cs typeface="Times New Roman" panose="02020603050405020304" pitchFamily="18" charset="0"/>
                          </a:rPr>
                          <m:t>∙</m:t>
                        </m:r>
                        <m:acc>
                          <m:accPr>
                            <m:chr m:val="̅"/>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a:latin typeface="Cambria Math" panose="02040503050406030204" pitchFamily="18" charset="0"/>
                                <a:cs typeface="Times New Roman" panose="02020603050405020304" pitchFamily="18" charset="0"/>
                              </a:rPr>
                              <m:t>𝑌</m:t>
                            </m:r>
                            <m:r>
                              <a:rPr lang="en-US" altLang="zh-CN" sz="2400" i="1">
                                <a:latin typeface="Cambria Math" panose="02040503050406030204" pitchFamily="18" charset="0"/>
                                <a:cs typeface="Times New Roman" panose="02020603050405020304" pitchFamily="18" charset="0"/>
                              </a:rPr>
                              <m:t>∙</m:t>
                            </m:r>
                            <m:r>
                              <a:rPr lang="en-US" altLang="zh-CN" sz="2400" i="1">
                                <a:latin typeface="Cambria Math" panose="02040503050406030204" pitchFamily="18" charset="0"/>
                                <a:cs typeface="Times New Roman" panose="02020603050405020304" pitchFamily="18" charset="0"/>
                              </a:rPr>
                              <m:t>𝑍</m:t>
                            </m:r>
                          </m:e>
                        </m:acc>
                        <m:r>
                          <a:rPr lang="en-US" altLang="zh-CN" sz="2400" i="1">
                            <a:latin typeface="Cambria Math" panose="02040503050406030204" pitchFamily="18" charset="0"/>
                            <a:cs typeface="Times New Roman" panose="02020603050405020304" pitchFamily="18" charset="0"/>
                          </a:rPr>
                          <m:t>∙</m:t>
                        </m:r>
                        <m:acc>
                          <m:accPr>
                            <m:chr m:val="̅"/>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a:latin typeface="Cambria Math" panose="02040503050406030204" pitchFamily="18" charset="0"/>
                                <a:cs typeface="Times New Roman" panose="02020603050405020304" pitchFamily="18" charset="0"/>
                              </a:rPr>
                              <m:t>𝑋</m:t>
                            </m:r>
                            <m:r>
                              <a:rPr lang="en-US" altLang="zh-CN" sz="2400" i="1">
                                <a:latin typeface="Cambria Math" panose="02040503050406030204" pitchFamily="18" charset="0"/>
                                <a:cs typeface="Times New Roman" panose="02020603050405020304" pitchFamily="18" charset="0"/>
                              </a:rPr>
                              <m:t>∙</m:t>
                            </m:r>
                            <m:r>
                              <a:rPr lang="en-US" altLang="zh-CN" sz="2400" i="1">
                                <a:latin typeface="Cambria Math" panose="02040503050406030204" pitchFamily="18" charset="0"/>
                                <a:cs typeface="Times New Roman" panose="02020603050405020304" pitchFamily="18" charset="0"/>
                              </a:rPr>
                              <m:t>𝑍</m:t>
                            </m:r>
                          </m:e>
                        </m:acc>
                      </m:e>
                    </m:acc>
                  </m:oMath>
                </a14:m>
                <a:endParaRPr lang="zh-CN" altLang="en-US" sz="2400" dirty="0"/>
              </a:p>
            </p:txBody>
          </p:sp>
        </mc:Choice>
        <mc:Fallback>
          <p:sp>
            <p:nvSpPr>
              <p:cNvPr id="2" name="矩形 1"/>
              <p:cNvSpPr>
                <a:spLocks noRot="1" noChangeAspect="1" noMove="1" noResize="1" noEditPoints="1" noAdjustHandles="1" noChangeArrowheads="1" noChangeShapeType="1" noTextEdit="1"/>
              </p:cNvSpPr>
              <p:nvPr/>
            </p:nvSpPr>
            <p:spPr>
              <a:xfrm>
                <a:off x="1363873" y="3566976"/>
                <a:ext cx="6707660" cy="509114"/>
              </a:xfrm>
              <a:prstGeom prst="rect">
                <a:avLst/>
              </a:prstGeom>
              <a:blipFill rotWithShape="1">
                <a:blip r:embed="rId1"/>
                <a:stretch>
                  <a:fillRect l="-8" t="-36" r="1" b="5"/>
                </a:stretch>
              </a:blipFill>
            </p:spPr>
            <p:txBody>
              <a:bodyPr/>
              <a:lstStyle/>
              <a:p>
                <a:r>
                  <a:rPr lang="zh-CN" altLang="en-US">
                    <a:noFill/>
                  </a:rPr>
                  <a:t> </a:t>
                </a:r>
              </a:p>
            </p:txBody>
          </p:sp>
        </mc:Fallback>
      </mc:AlternateContent>
      <p:pic>
        <p:nvPicPr>
          <p:cNvPr id="11" name="图片 10"/>
          <p:cNvPicPr/>
          <p:nvPr/>
        </p:nvPicPr>
        <p:blipFill>
          <a:blip r:embed="rId2">
            <a:extLst>
              <a:ext uri="{28A0092B-C50C-407E-A947-70E740481C1C}">
                <a14:useLocalDpi xmlns:a14="http://schemas.microsoft.com/office/drawing/2010/main" val="0"/>
              </a:ext>
            </a:extLst>
          </a:blip>
          <a:srcRect/>
          <a:stretch>
            <a:fillRect/>
          </a:stretch>
        </p:blipFill>
        <p:spPr bwMode="auto">
          <a:xfrm>
            <a:off x="713984" y="4076091"/>
            <a:ext cx="7590771" cy="2646776"/>
          </a:xfrm>
          <a:prstGeom prst="rect">
            <a:avLst/>
          </a:prstGeom>
          <a:noFill/>
          <a:ln>
            <a:noFill/>
          </a:ln>
        </p:spPr>
      </p:pic>
    </p:spTree>
  </p:cSld>
  <p:clrMapOvr>
    <a:masterClrMapping/>
  </p:clrMapOvr>
  <p:transition spd="med">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altLang="zh-CN" dirty="0"/>
              <a:t>4.3 </a:t>
            </a:r>
            <a:r>
              <a:rPr lang="zh-CN" altLang="en-US" dirty="0"/>
              <a:t>逻辑函数变换</a:t>
            </a:r>
            <a:endParaRPr lang="zh-CN" altLang="en-US" dirty="0"/>
          </a:p>
        </p:txBody>
      </p:sp>
      <p:sp>
        <p:nvSpPr>
          <p:cNvPr id="9" name="内容占位符 8"/>
          <p:cNvSpPr>
            <a:spLocks noGrp="1"/>
          </p:cNvSpPr>
          <p:nvPr>
            <p:ph idx="1"/>
          </p:nvPr>
        </p:nvSpPr>
        <p:spPr>
          <a:xfrm>
            <a:off x="331330" y="997677"/>
            <a:ext cx="8311020" cy="1675780"/>
          </a:xfrm>
        </p:spPr>
        <p:txBody>
          <a:bodyPr/>
          <a:lstStyle/>
          <a:p>
            <a:r>
              <a:rPr lang="zh-CN" altLang="en-US" sz="2200" dirty="0"/>
              <a:t>对于任何积之和表达式都可使用“与</a:t>
            </a:r>
            <a:r>
              <a:rPr lang="en-US" altLang="zh-CN" sz="2200" dirty="0"/>
              <a:t>-</a:t>
            </a:r>
            <a:r>
              <a:rPr lang="zh-CN" altLang="en-US" sz="2200" dirty="0"/>
              <a:t>或”电路和“与非</a:t>
            </a:r>
            <a:r>
              <a:rPr lang="en-US" altLang="zh-CN" sz="2200" dirty="0"/>
              <a:t>-</a:t>
            </a:r>
            <a:r>
              <a:rPr lang="zh-CN" altLang="en-US" sz="2200" dirty="0"/>
              <a:t>与非”电路这两种方法实现。</a:t>
            </a:r>
            <a:endParaRPr lang="en-US" altLang="zh-CN" sz="2200" dirty="0"/>
          </a:p>
          <a:p>
            <a:r>
              <a:rPr lang="zh-CN" altLang="en-US" sz="2200" dirty="0"/>
              <a:t>在第一级的输出和第二级的输入之间加入</a:t>
            </a:r>
            <a:r>
              <a:rPr lang="zh-CN" altLang="en-US" sz="2200" dirty="0">
                <a:solidFill>
                  <a:srgbClr val="FF0000"/>
                </a:solidFill>
              </a:rPr>
              <a:t>一对反相器</a:t>
            </a:r>
            <a:r>
              <a:rPr lang="zh-CN" altLang="en-US" sz="2200" dirty="0"/>
              <a:t>，来实现用反相门替代与门和或门。</a:t>
            </a:r>
            <a:endParaRPr lang="zh-CN" altLang="en-US" sz="2200" dirty="0"/>
          </a:p>
        </p:txBody>
      </p:sp>
      <p:sp>
        <p:nvSpPr>
          <p:cNvPr id="7" name="灯片编号占位符 6"/>
          <p:cNvSpPr>
            <a:spLocks noGrp="1"/>
          </p:cNvSpPr>
          <p:nvPr>
            <p:ph type="sldNum" sz="quarter" idx="4294967295"/>
          </p:nvPr>
        </p:nvSpPr>
        <p:spPr>
          <a:xfrm>
            <a:off x="8642350" y="6489700"/>
            <a:ext cx="501650" cy="333375"/>
          </a:xfrm>
          <a:prstGeom prst="rect">
            <a:avLst/>
          </a:prstGeom>
        </p:spPr>
        <p:txBody>
          <a:bodyPr/>
          <a:lstStyle/>
          <a:p>
            <a:pPr>
              <a:defRPr/>
            </a:pPr>
            <a:fld id="{EDC9EC5A-3A7E-44D3-A108-1E2CF17B1AE9}" type="slidenum">
              <a:rPr lang="en-US" altLang="zh-CN" smtClean="0"/>
            </a:fld>
            <a:endParaRPr lang="en-US" altLang="zh-CN"/>
          </a:p>
        </p:txBody>
      </p:sp>
      <p:pic>
        <p:nvPicPr>
          <p:cNvPr id="10" name="图片 9"/>
          <p:cNvPicPr/>
          <p:nvPr/>
        </p:nvPicPr>
        <p:blipFill>
          <a:blip r:embed="rId1">
            <a:extLst>
              <a:ext uri="{28A0092B-C50C-407E-A947-70E740481C1C}">
                <a14:useLocalDpi xmlns:a14="http://schemas.microsoft.com/office/drawing/2010/main" val="0"/>
              </a:ext>
            </a:extLst>
          </a:blip>
          <a:srcRect/>
          <a:stretch>
            <a:fillRect/>
          </a:stretch>
        </p:blipFill>
        <p:spPr bwMode="auto">
          <a:xfrm>
            <a:off x="438411" y="2939107"/>
            <a:ext cx="8354860" cy="3243903"/>
          </a:xfrm>
          <a:prstGeom prst="rect">
            <a:avLst/>
          </a:prstGeom>
          <a:noFill/>
          <a:ln>
            <a:noFill/>
          </a:ln>
        </p:spPr>
      </p:pic>
    </p:spTree>
  </p:cSld>
  <p:clrMapOvr>
    <a:masterClrMapping/>
  </p:clrMapOvr>
  <p:transition spd="med">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altLang="zh-CN" dirty="0"/>
              <a:t>4.3 </a:t>
            </a:r>
            <a:r>
              <a:rPr lang="zh-CN" altLang="en-US" dirty="0"/>
              <a:t>逻辑函数变换*</a:t>
            </a:r>
            <a:endParaRPr lang="zh-CN" altLang="en-US" dirty="0"/>
          </a:p>
        </p:txBody>
      </p:sp>
      <p:sp>
        <p:nvSpPr>
          <p:cNvPr id="9" name="内容占位符 8"/>
          <p:cNvSpPr>
            <a:spLocks noGrp="1"/>
          </p:cNvSpPr>
          <p:nvPr>
            <p:ph idx="1"/>
          </p:nvPr>
        </p:nvSpPr>
        <p:spPr>
          <a:xfrm>
            <a:off x="457200" y="840771"/>
            <a:ext cx="8686800" cy="1337802"/>
          </a:xfrm>
        </p:spPr>
        <p:txBody>
          <a:bodyPr/>
          <a:lstStyle/>
          <a:p>
            <a:r>
              <a:rPr lang="zh-CN" altLang="en-US" sz="2200" dirty="0"/>
              <a:t>利用</a:t>
            </a:r>
            <a:r>
              <a:rPr lang="zh-CN" altLang="en-US" sz="2200" dirty="0">
                <a:solidFill>
                  <a:srgbClr val="FF0000"/>
                </a:solidFill>
              </a:rPr>
              <a:t>布尔代数</a:t>
            </a:r>
            <a:r>
              <a:rPr lang="zh-CN" altLang="en-US" sz="2200" dirty="0"/>
              <a:t>可以实现不同形式逻辑表达式之间的变换。</a:t>
            </a:r>
            <a:endParaRPr lang="en-US" altLang="zh-CN" sz="2200" dirty="0"/>
          </a:p>
          <a:p>
            <a:r>
              <a:rPr lang="zh-CN" altLang="en-US" sz="2200" dirty="0"/>
              <a:t>公式之间可等价变换，逻辑电路图的不同设计，实现也不同</a:t>
            </a:r>
            <a:endParaRPr lang="en-US" altLang="zh-CN" sz="2200" dirty="0"/>
          </a:p>
          <a:p>
            <a:r>
              <a:rPr lang="zh-CN" altLang="en-US" sz="2200" dirty="0"/>
              <a:t>示例：</a:t>
            </a:r>
            <a:r>
              <a:rPr lang="zh-CN" altLang="en-US" sz="2200" dirty="0">
                <a:solidFill>
                  <a:srgbClr val="00B0F0"/>
                </a:solidFill>
              </a:rPr>
              <a:t>与或</a:t>
            </a:r>
            <a:r>
              <a:rPr lang="zh-CN" altLang="en-US" sz="2200" dirty="0"/>
              <a:t>表达式转换成</a:t>
            </a:r>
            <a:r>
              <a:rPr lang="zh-CN" altLang="en-US" sz="2200" dirty="0">
                <a:solidFill>
                  <a:srgbClr val="00B0F0"/>
                </a:solidFill>
              </a:rPr>
              <a:t>或与</a:t>
            </a:r>
            <a:r>
              <a:rPr lang="zh-CN" altLang="en-US" sz="2200" dirty="0"/>
              <a:t>表达式</a:t>
            </a:r>
            <a:endParaRPr lang="zh-CN" altLang="en-US" sz="2200" dirty="0"/>
          </a:p>
        </p:txBody>
      </p:sp>
      <p:sp>
        <p:nvSpPr>
          <p:cNvPr id="7" name="灯片编号占位符 6"/>
          <p:cNvSpPr>
            <a:spLocks noGrp="1"/>
          </p:cNvSpPr>
          <p:nvPr>
            <p:ph type="sldNum" sz="quarter" idx="4294967295"/>
          </p:nvPr>
        </p:nvSpPr>
        <p:spPr>
          <a:xfrm>
            <a:off x="8642350" y="6489700"/>
            <a:ext cx="501650" cy="333375"/>
          </a:xfrm>
          <a:prstGeom prst="rect">
            <a:avLst/>
          </a:prstGeom>
        </p:spPr>
        <p:txBody>
          <a:bodyPr/>
          <a:lstStyle/>
          <a:p>
            <a:pPr>
              <a:defRPr/>
            </a:pPr>
            <a:fld id="{EDC9EC5A-3A7E-44D3-A108-1E2CF17B1AE9}" type="slidenum">
              <a:rPr lang="en-US" altLang="zh-CN" smtClean="0"/>
            </a:fld>
            <a:endParaRPr lang="en-US" altLang="zh-CN"/>
          </a:p>
        </p:txBody>
      </p:sp>
      <mc:AlternateContent xmlns:mc="http://schemas.openxmlformats.org/markup-compatibility/2006">
        <mc:Choice xmlns:a14="http://schemas.microsoft.com/office/drawing/2010/main" Requires="a14">
          <p:sp>
            <p:nvSpPr>
              <p:cNvPr id="11" name="Object 9"/>
              <p:cNvSpPr txBox="1"/>
              <p:nvPr/>
            </p:nvSpPr>
            <p:spPr bwMode="auto">
              <a:xfrm>
                <a:off x="457200" y="2183244"/>
                <a:ext cx="3409727" cy="411162"/>
              </a:xfrm>
              <a:prstGeom prst="rect">
                <a:avLst/>
              </a:prstGeom>
              <a:noFill/>
            </p:spPr>
            <p:txBody>
              <a:bodyPr>
                <a:noAutofit/>
              </a:bodyPr>
              <a:lstStyle/>
              <a:p>
                <a14:m>
                  <m:oMathPara xmlns:m="http://schemas.openxmlformats.org/officeDocument/2006/math">
                    <m:oMathParaPr>
                      <m:jc m:val="centerGroup"/>
                    </m:oMathParaPr>
                    <m:oMath xmlns:m="http://schemas.openxmlformats.org/officeDocument/2006/math">
                      <m:r>
                        <a:rPr lang="zh-CN" altLang="en-US" sz="2000" b="1" i="1">
                          <a:solidFill>
                            <a:srgbClr val="000000"/>
                          </a:solidFill>
                          <a:latin typeface="Cambria Math" panose="02040503050406030204" pitchFamily="18" charset="0"/>
                        </a:rPr>
                        <m:t>𝑭</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𝑿</m:t>
                      </m:r>
                      <m:r>
                        <a:rPr lang="zh-CN" altLang="en-US" sz="2000" b="1" i="1">
                          <a:solidFill>
                            <a:srgbClr val="000000"/>
                          </a:solidFill>
                          <a:latin typeface="Cambria Math" panose="02040503050406030204" pitchFamily="18" charset="0"/>
                        </a:rPr>
                        <m:t>+</m:t>
                      </m:r>
                      <m:bar>
                        <m:barPr>
                          <m:pos m:val="top"/>
                          <m:ctrlPr>
                            <a:rPr lang="zh-CN" altLang="en-US" sz="2000" i="1">
                              <a:solidFill>
                                <a:srgbClr val="000000"/>
                              </a:solidFill>
                              <a:latin typeface="Cambria Math" panose="02040503050406030204" pitchFamily="18" charset="0"/>
                            </a:rPr>
                          </m:ctrlPr>
                        </m:barPr>
                        <m:e>
                          <m:r>
                            <a:rPr lang="zh-CN" altLang="en-US" sz="2000" b="1" i="1">
                              <a:solidFill>
                                <a:srgbClr val="000000"/>
                              </a:solidFill>
                              <a:latin typeface="Cambria Math" panose="02040503050406030204" pitchFamily="18" charset="0"/>
                            </a:rPr>
                            <m:t>𝒀</m:t>
                          </m:r>
                        </m:e>
                      </m:ba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𝒁</m:t>
                      </m:r>
                      <m:r>
                        <a:rPr lang="zh-CN" altLang="en-US" sz="2000" b="1" i="1">
                          <a:solidFill>
                            <a:srgbClr val="000000"/>
                          </a:solidFill>
                          <a:latin typeface="Cambria Math" panose="02040503050406030204" pitchFamily="18" charset="0"/>
                        </a:rPr>
                        <m:t>)+</m:t>
                      </m:r>
                      <m:bar>
                        <m:barPr>
                          <m:pos m:val="top"/>
                          <m:ctrlPr>
                            <a:rPr lang="zh-CN" altLang="en-US" sz="2000" i="1">
                              <a:solidFill>
                                <a:srgbClr val="000000"/>
                              </a:solidFill>
                              <a:latin typeface="Cambria Math" panose="02040503050406030204" pitchFamily="18" charset="0"/>
                            </a:rPr>
                          </m:ctrlPr>
                        </m:barPr>
                        <m:e>
                          <m:r>
                            <a:rPr lang="zh-CN" altLang="en-US" sz="2000" b="1" i="1">
                              <a:solidFill>
                                <a:srgbClr val="000000"/>
                              </a:solidFill>
                              <a:latin typeface="Cambria Math" panose="02040503050406030204" pitchFamily="18" charset="0"/>
                            </a:rPr>
                            <m:t>𝑿</m:t>
                          </m:r>
                        </m:e>
                      </m:ba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𝒀</m:t>
                      </m:r>
                      <m:r>
                        <a:rPr lang="zh-CN" altLang="en-US" sz="2000" b="1" i="1">
                          <a:solidFill>
                            <a:srgbClr val="000000"/>
                          </a:solidFill>
                          <a:latin typeface="Cambria Math" panose="02040503050406030204" pitchFamily="18" charset="0"/>
                        </a:rPr>
                        <m:t>•</m:t>
                      </m:r>
                      <m:bar>
                        <m:barPr>
                          <m:pos m:val="top"/>
                          <m:ctrlPr>
                            <a:rPr lang="zh-CN" altLang="en-US" sz="2000" i="1">
                              <a:solidFill>
                                <a:srgbClr val="000000"/>
                              </a:solidFill>
                              <a:latin typeface="Cambria Math" panose="02040503050406030204" pitchFamily="18" charset="0"/>
                            </a:rPr>
                          </m:ctrlPr>
                        </m:barPr>
                        <m:e>
                          <m:r>
                            <a:rPr lang="zh-CN" altLang="en-US" sz="2000" b="1" i="1">
                              <a:solidFill>
                                <a:srgbClr val="000000"/>
                              </a:solidFill>
                              <a:latin typeface="Cambria Math" panose="02040503050406030204" pitchFamily="18" charset="0"/>
                            </a:rPr>
                            <m:t>𝒁</m:t>
                          </m:r>
                        </m:e>
                      </m:bar>
                    </m:oMath>
                  </m:oMathPara>
                </a14:m>
                <a:endParaRPr lang="zh-CN" altLang="en-US" sz="2000" dirty="0"/>
              </a:p>
            </p:txBody>
          </p:sp>
        </mc:Choice>
        <mc:Fallback>
          <p:sp>
            <p:nvSpPr>
              <p:cNvPr id="11" name="Object 9"/>
              <p:cNvSpPr txBox="1">
                <a:spLocks noRot="1" noChangeAspect="1" noMove="1" noResize="1" noEditPoints="1" noAdjustHandles="1" noChangeArrowheads="1" noChangeShapeType="1" noTextEdit="1"/>
              </p:cNvSpPr>
              <p:nvPr/>
            </p:nvSpPr>
            <p:spPr bwMode="auto">
              <a:xfrm>
                <a:off x="457200" y="2183244"/>
                <a:ext cx="3409727" cy="411162"/>
              </a:xfrm>
              <a:prstGeom prst="rect">
                <a:avLst/>
              </a:prstGeom>
              <a:blipFill rotWithShape="1">
                <a:blip r:embed="rId1"/>
                <a:stretch>
                  <a:fillRect t="-28" r="12" b="10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Object 9"/>
              <p:cNvSpPr txBox="1"/>
              <p:nvPr/>
            </p:nvSpPr>
            <p:spPr bwMode="auto">
              <a:xfrm>
                <a:off x="407617" y="2558015"/>
                <a:ext cx="4914303" cy="411162"/>
              </a:xfrm>
              <a:prstGeom prst="rect">
                <a:avLst/>
              </a:prstGeom>
              <a:noFill/>
            </p:spPr>
            <p:txBody>
              <a:bodyPr>
                <a:noAutofit/>
              </a:bodyPr>
              <a:lstStyle/>
              <a:p>
                <a14:m>
                  <m:oMathPara xmlns:m="http://schemas.openxmlformats.org/officeDocument/2006/math">
                    <m:oMathParaPr>
                      <m:jc m:val="centerGroup"/>
                    </m:oMathParaPr>
                    <m:oMath xmlns:m="http://schemas.openxmlformats.org/officeDocument/2006/math">
                      <m:r>
                        <a:rPr lang="zh-CN" altLang="en-US" sz="2000" b="1" i="1">
                          <a:solidFill>
                            <a:srgbClr val="000000"/>
                          </a:solidFill>
                          <a:latin typeface="Cambria Math" panose="02040503050406030204" pitchFamily="18" charset="0"/>
                        </a:rPr>
                        <m:t>𝑭</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𝑿</m:t>
                      </m:r>
                      <m:r>
                        <a:rPr lang="zh-CN" altLang="en-US" sz="2000" b="1" i="1">
                          <a:solidFill>
                            <a:srgbClr val="000000"/>
                          </a:solidFill>
                          <a:latin typeface="Cambria Math" panose="02040503050406030204" pitchFamily="18" charset="0"/>
                        </a:rPr>
                        <m:t>+</m:t>
                      </m:r>
                      <m:bar>
                        <m:barPr>
                          <m:pos m:val="top"/>
                          <m:ctrlPr>
                            <a:rPr lang="zh-CN" altLang="en-US" sz="2000" i="1">
                              <a:solidFill>
                                <a:srgbClr val="000000"/>
                              </a:solidFill>
                              <a:latin typeface="Cambria Math" panose="02040503050406030204" pitchFamily="18" charset="0"/>
                            </a:rPr>
                          </m:ctrlPr>
                        </m:barPr>
                        <m:e>
                          <m:r>
                            <a:rPr lang="zh-CN" altLang="en-US" sz="2000" b="1" i="1">
                              <a:solidFill>
                                <a:srgbClr val="000000"/>
                              </a:solidFill>
                              <a:latin typeface="Cambria Math" panose="02040503050406030204" pitchFamily="18" charset="0"/>
                            </a:rPr>
                            <m:t>𝒀</m:t>
                          </m:r>
                        </m:e>
                      </m:bar>
                      <m:r>
                        <a:rPr lang="zh-CN" altLang="en-US" sz="2000" b="1" i="1">
                          <a:solidFill>
                            <a:srgbClr val="000000"/>
                          </a:solidFill>
                          <a:latin typeface="Cambria Math" panose="02040503050406030204" pitchFamily="18" charset="0"/>
                        </a:rPr>
                        <m:t>)+</m:t>
                      </m:r>
                      <m:bar>
                        <m:barPr>
                          <m:pos m:val="top"/>
                          <m:ctrlPr>
                            <a:rPr lang="zh-CN" altLang="en-US" sz="2000" i="1">
                              <a:solidFill>
                                <a:srgbClr val="000000"/>
                              </a:solidFill>
                              <a:latin typeface="Cambria Math" panose="02040503050406030204" pitchFamily="18" charset="0"/>
                            </a:rPr>
                          </m:ctrlPr>
                        </m:barPr>
                        <m:e>
                          <m:r>
                            <a:rPr lang="zh-CN" altLang="en-US" sz="2000" b="1" i="1">
                              <a:solidFill>
                                <a:srgbClr val="000000"/>
                              </a:solidFill>
                              <a:latin typeface="Cambria Math" panose="02040503050406030204" pitchFamily="18" charset="0"/>
                            </a:rPr>
                            <m:t>𝑿</m:t>
                          </m:r>
                        </m:e>
                      </m:ba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𝒀</m:t>
                      </m:r>
                      <m:r>
                        <a:rPr lang="zh-CN" altLang="en-US" sz="2000" b="1" i="1">
                          <a:solidFill>
                            <a:srgbClr val="000000"/>
                          </a:solidFill>
                          <a:latin typeface="Cambria Math" panose="02040503050406030204" pitchFamily="18" charset="0"/>
                        </a:rPr>
                        <m:t>•</m:t>
                      </m:r>
                      <m:bar>
                        <m:barPr>
                          <m:pos m:val="top"/>
                          <m:ctrlPr>
                            <a:rPr lang="zh-CN" altLang="en-US" sz="2000" i="1">
                              <a:solidFill>
                                <a:srgbClr val="000000"/>
                              </a:solidFill>
                              <a:latin typeface="Cambria Math" panose="02040503050406030204" pitchFamily="18" charset="0"/>
                            </a:rPr>
                          </m:ctrlPr>
                        </m:barPr>
                        <m:e>
                          <m:r>
                            <a:rPr lang="zh-CN" altLang="en-US" sz="2000" b="1" i="1">
                              <a:solidFill>
                                <a:srgbClr val="000000"/>
                              </a:solidFill>
                              <a:latin typeface="Cambria Math" panose="02040503050406030204" pitchFamily="18" charset="0"/>
                            </a:rPr>
                            <m:t>𝒁</m:t>
                          </m:r>
                        </m:e>
                      </m:ba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𝒁</m:t>
                      </m:r>
                      <m:r>
                        <a:rPr lang="zh-CN" altLang="en-US" sz="2000" b="1" i="1">
                          <a:solidFill>
                            <a:srgbClr val="000000"/>
                          </a:solidFill>
                          <a:latin typeface="Cambria Math" panose="02040503050406030204" pitchFamily="18" charset="0"/>
                        </a:rPr>
                        <m:t>+</m:t>
                      </m:r>
                      <m:bar>
                        <m:barPr>
                          <m:pos m:val="top"/>
                          <m:ctrlPr>
                            <a:rPr lang="zh-CN" altLang="en-US" sz="2000" i="1">
                              <a:solidFill>
                                <a:srgbClr val="000000"/>
                              </a:solidFill>
                              <a:latin typeface="Cambria Math" panose="02040503050406030204" pitchFamily="18" charset="0"/>
                            </a:rPr>
                          </m:ctrlPr>
                        </m:barPr>
                        <m:e>
                          <m:r>
                            <a:rPr lang="zh-CN" altLang="en-US" sz="2000" b="1" i="1">
                              <a:solidFill>
                                <a:srgbClr val="000000"/>
                              </a:solidFill>
                              <a:latin typeface="Cambria Math" panose="02040503050406030204" pitchFamily="18" charset="0"/>
                            </a:rPr>
                            <m:t>𝑿</m:t>
                          </m:r>
                        </m:e>
                      </m:ba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𝒀</m:t>
                      </m:r>
                      <m:r>
                        <a:rPr lang="zh-CN" altLang="en-US" sz="2000" b="1" i="1">
                          <a:solidFill>
                            <a:srgbClr val="000000"/>
                          </a:solidFill>
                          <a:latin typeface="Cambria Math" panose="02040503050406030204" pitchFamily="18" charset="0"/>
                        </a:rPr>
                        <m:t>•</m:t>
                      </m:r>
                      <m:bar>
                        <m:barPr>
                          <m:pos m:val="top"/>
                          <m:ctrlPr>
                            <a:rPr lang="zh-CN" altLang="en-US" sz="2000" i="1">
                              <a:solidFill>
                                <a:srgbClr val="000000"/>
                              </a:solidFill>
                              <a:latin typeface="Cambria Math" panose="02040503050406030204" pitchFamily="18" charset="0"/>
                            </a:rPr>
                          </m:ctrlPr>
                        </m:barPr>
                        <m:e>
                          <m:r>
                            <a:rPr lang="zh-CN" altLang="en-US" sz="2000" b="1" i="1">
                              <a:solidFill>
                                <a:srgbClr val="000000"/>
                              </a:solidFill>
                              <a:latin typeface="Cambria Math" panose="02040503050406030204" pitchFamily="18" charset="0"/>
                            </a:rPr>
                            <m:t>𝒁</m:t>
                          </m:r>
                        </m:e>
                      </m:bar>
                      <m:r>
                        <a:rPr lang="zh-CN" altLang="en-US" sz="2000" b="1" i="1">
                          <a:solidFill>
                            <a:srgbClr val="000000"/>
                          </a:solidFill>
                          <a:latin typeface="Cambria Math" panose="02040503050406030204" pitchFamily="18" charset="0"/>
                        </a:rPr>
                        <m:t>)</m:t>
                      </m:r>
                    </m:oMath>
                  </m:oMathPara>
                </a14:m>
                <a:endParaRPr lang="zh-CN" altLang="en-US" sz="2000" dirty="0"/>
              </a:p>
            </p:txBody>
          </p:sp>
        </mc:Choice>
        <mc:Fallback>
          <p:sp>
            <p:nvSpPr>
              <p:cNvPr id="12" name="Object 9"/>
              <p:cNvSpPr txBox="1">
                <a:spLocks noRot="1" noChangeAspect="1" noMove="1" noResize="1" noEditPoints="1" noAdjustHandles="1" noChangeArrowheads="1" noChangeShapeType="1" noTextEdit="1"/>
              </p:cNvSpPr>
              <p:nvPr/>
            </p:nvSpPr>
            <p:spPr bwMode="auto">
              <a:xfrm>
                <a:off x="407617" y="2558015"/>
                <a:ext cx="4914303" cy="411162"/>
              </a:xfrm>
              <a:prstGeom prst="rect">
                <a:avLst/>
              </a:prstGeom>
              <a:blipFill rotWithShape="1">
                <a:blip r:embed="rId2"/>
                <a:stretch>
                  <a:fillRect l="-12" t="-57" r="13" b="13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Object 9"/>
              <p:cNvSpPr txBox="1"/>
              <p:nvPr/>
            </p:nvSpPr>
            <p:spPr bwMode="auto">
              <a:xfrm>
                <a:off x="192071" y="3011072"/>
                <a:ext cx="8757775" cy="411162"/>
              </a:xfrm>
              <a:prstGeom prst="rect">
                <a:avLst/>
              </a:prstGeom>
              <a:noFill/>
            </p:spPr>
            <p:txBody>
              <a:bodyPr>
                <a:noAutofit/>
              </a:bodyPr>
              <a:lstStyle/>
              <a:p>
                <a14:m>
                  <m:oMathPara xmlns:m="http://schemas.openxmlformats.org/officeDocument/2006/math">
                    <m:oMathParaPr>
                      <m:jc m:val="centerGroup"/>
                    </m:oMathParaPr>
                    <m:oMath xmlns:m="http://schemas.openxmlformats.org/officeDocument/2006/math">
                      <m:r>
                        <a:rPr lang="zh-CN" altLang="en-US" sz="2000" b="1" i="1">
                          <a:solidFill>
                            <a:srgbClr val="000000"/>
                          </a:solidFill>
                          <a:latin typeface="Cambria Math" panose="02040503050406030204" pitchFamily="18" charset="0"/>
                        </a:rPr>
                        <m:t>𝑭</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𝑿</m:t>
                      </m:r>
                      <m:r>
                        <a:rPr lang="zh-CN" altLang="en-US" sz="2000" b="1" i="1">
                          <a:solidFill>
                            <a:srgbClr val="000000"/>
                          </a:solidFill>
                          <a:latin typeface="Cambria Math" panose="02040503050406030204" pitchFamily="18" charset="0"/>
                        </a:rPr>
                        <m:t>+</m:t>
                      </m:r>
                      <m:bar>
                        <m:barPr>
                          <m:pos m:val="top"/>
                          <m:ctrlPr>
                            <a:rPr lang="zh-CN" altLang="en-US" sz="2000" i="1">
                              <a:solidFill>
                                <a:srgbClr val="000000"/>
                              </a:solidFill>
                              <a:latin typeface="Cambria Math" panose="02040503050406030204" pitchFamily="18" charset="0"/>
                            </a:rPr>
                          </m:ctrlPr>
                        </m:barPr>
                        <m:e>
                          <m:r>
                            <a:rPr lang="zh-CN" altLang="en-US" sz="2000" b="1" i="1">
                              <a:solidFill>
                                <a:srgbClr val="000000"/>
                              </a:solidFill>
                              <a:latin typeface="Cambria Math" panose="02040503050406030204" pitchFamily="18" charset="0"/>
                            </a:rPr>
                            <m:t>𝒀</m:t>
                          </m:r>
                        </m:e>
                      </m:bar>
                      <m:r>
                        <a:rPr lang="zh-CN" altLang="en-US" sz="2000" b="1" i="1">
                          <a:solidFill>
                            <a:srgbClr val="000000"/>
                          </a:solidFill>
                          <a:latin typeface="Cambria Math" panose="02040503050406030204" pitchFamily="18" charset="0"/>
                        </a:rPr>
                        <m:t>+</m:t>
                      </m:r>
                      <m:bar>
                        <m:barPr>
                          <m:pos m:val="top"/>
                          <m:ctrlPr>
                            <a:rPr lang="zh-CN" altLang="en-US" sz="2000" i="1">
                              <a:solidFill>
                                <a:srgbClr val="000000"/>
                              </a:solidFill>
                              <a:latin typeface="Cambria Math" panose="02040503050406030204" pitchFamily="18" charset="0"/>
                            </a:rPr>
                          </m:ctrlPr>
                        </m:barPr>
                        <m:e>
                          <m:r>
                            <a:rPr lang="zh-CN" altLang="en-US" sz="2000" b="1" i="1">
                              <a:solidFill>
                                <a:srgbClr val="000000"/>
                              </a:solidFill>
                              <a:latin typeface="Cambria Math" panose="02040503050406030204" pitchFamily="18" charset="0"/>
                            </a:rPr>
                            <m:t>𝑿</m:t>
                          </m:r>
                          <m:r>
                            <a:rPr lang="zh-CN" altLang="en-US" sz="2000" b="1" i="1">
                              <a:solidFill>
                                <a:srgbClr val="000000"/>
                              </a:solidFill>
                              <a:latin typeface="Cambria Math" panose="02040503050406030204" pitchFamily="18" charset="0"/>
                            </a:rPr>
                            <m:t>)</m:t>
                          </m:r>
                        </m:e>
                      </m:ba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𝑿</m:t>
                      </m:r>
                      <m:r>
                        <a:rPr lang="zh-CN" altLang="en-US" sz="2000" b="1" i="1">
                          <a:solidFill>
                            <a:srgbClr val="000000"/>
                          </a:solidFill>
                          <a:latin typeface="Cambria Math" panose="02040503050406030204" pitchFamily="18" charset="0"/>
                        </a:rPr>
                        <m:t>+</m:t>
                      </m:r>
                      <m:bar>
                        <m:barPr>
                          <m:pos m:val="top"/>
                          <m:ctrlPr>
                            <a:rPr lang="zh-CN" altLang="en-US" sz="2000" i="1">
                              <a:solidFill>
                                <a:srgbClr val="000000"/>
                              </a:solidFill>
                              <a:latin typeface="Cambria Math" panose="02040503050406030204" pitchFamily="18" charset="0"/>
                            </a:rPr>
                          </m:ctrlPr>
                        </m:barPr>
                        <m:e>
                          <m:r>
                            <a:rPr lang="zh-CN" altLang="en-US" sz="2000" b="1" i="1">
                              <a:solidFill>
                                <a:srgbClr val="000000"/>
                              </a:solidFill>
                              <a:latin typeface="Cambria Math" panose="02040503050406030204" pitchFamily="18" charset="0"/>
                            </a:rPr>
                            <m:t>𝒀</m:t>
                          </m:r>
                        </m:e>
                      </m:ba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𝒀</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𝑿</m:t>
                      </m:r>
                      <m:r>
                        <a:rPr lang="zh-CN" altLang="en-US" sz="2000" b="1" i="1">
                          <a:solidFill>
                            <a:srgbClr val="000000"/>
                          </a:solidFill>
                          <a:latin typeface="Cambria Math" panose="02040503050406030204" pitchFamily="18" charset="0"/>
                        </a:rPr>
                        <m:t>+</m:t>
                      </m:r>
                      <m:bar>
                        <m:barPr>
                          <m:pos m:val="top"/>
                          <m:ctrlPr>
                            <a:rPr lang="zh-CN" altLang="en-US" sz="2000" i="1">
                              <a:solidFill>
                                <a:srgbClr val="000000"/>
                              </a:solidFill>
                              <a:latin typeface="Cambria Math" panose="02040503050406030204" pitchFamily="18" charset="0"/>
                            </a:rPr>
                          </m:ctrlPr>
                        </m:barPr>
                        <m:e>
                          <m:r>
                            <a:rPr lang="zh-CN" altLang="en-US" sz="2000" b="1" i="1">
                              <a:solidFill>
                                <a:srgbClr val="000000"/>
                              </a:solidFill>
                              <a:latin typeface="Cambria Math" panose="02040503050406030204" pitchFamily="18" charset="0"/>
                            </a:rPr>
                            <m:t>𝒀</m:t>
                          </m:r>
                        </m:e>
                      </m:bar>
                      <m:r>
                        <a:rPr lang="zh-CN" altLang="en-US" sz="2000" b="1" i="1">
                          <a:solidFill>
                            <a:srgbClr val="000000"/>
                          </a:solidFill>
                          <a:latin typeface="Cambria Math" panose="02040503050406030204" pitchFamily="18" charset="0"/>
                        </a:rPr>
                        <m:t>+</m:t>
                      </m:r>
                      <m:bar>
                        <m:barPr>
                          <m:pos m:val="top"/>
                          <m:ctrlPr>
                            <a:rPr lang="zh-CN" altLang="en-US" sz="2000" i="1">
                              <a:solidFill>
                                <a:srgbClr val="000000"/>
                              </a:solidFill>
                              <a:latin typeface="Cambria Math" panose="02040503050406030204" pitchFamily="18" charset="0"/>
                            </a:rPr>
                          </m:ctrlPr>
                        </m:barPr>
                        <m:e>
                          <m:r>
                            <a:rPr lang="zh-CN" altLang="en-US" sz="2000" b="1" i="1">
                              <a:solidFill>
                                <a:srgbClr val="000000"/>
                              </a:solidFill>
                              <a:latin typeface="Cambria Math" panose="02040503050406030204" pitchFamily="18" charset="0"/>
                            </a:rPr>
                            <m:t>𝒁</m:t>
                          </m:r>
                        </m:e>
                      </m:ba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𝒁</m:t>
                      </m:r>
                      <m:r>
                        <a:rPr lang="zh-CN" altLang="en-US" sz="2000" b="1" i="1">
                          <a:solidFill>
                            <a:srgbClr val="000000"/>
                          </a:solidFill>
                          <a:latin typeface="Cambria Math" panose="02040503050406030204" pitchFamily="18" charset="0"/>
                        </a:rPr>
                        <m:t>+</m:t>
                      </m:r>
                      <m:bar>
                        <m:barPr>
                          <m:pos m:val="top"/>
                          <m:ctrlPr>
                            <a:rPr lang="zh-CN" altLang="en-US" sz="2000" i="1">
                              <a:solidFill>
                                <a:srgbClr val="000000"/>
                              </a:solidFill>
                              <a:latin typeface="Cambria Math" panose="02040503050406030204" pitchFamily="18" charset="0"/>
                            </a:rPr>
                          </m:ctrlPr>
                        </m:barPr>
                        <m:e>
                          <m:r>
                            <a:rPr lang="zh-CN" altLang="en-US" sz="2000" b="1" i="1">
                              <a:solidFill>
                                <a:srgbClr val="000000"/>
                              </a:solidFill>
                              <a:latin typeface="Cambria Math" panose="02040503050406030204" pitchFamily="18" charset="0"/>
                            </a:rPr>
                            <m:t>𝑿</m:t>
                          </m:r>
                        </m:e>
                      </m:ba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𝒁</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𝒀</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𝒁</m:t>
                      </m:r>
                      <m:r>
                        <a:rPr lang="zh-CN" altLang="en-US" sz="2000" b="1" i="1">
                          <a:solidFill>
                            <a:srgbClr val="000000"/>
                          </a:solidFill>
                          <a:latin typeface="Cambria Math" panose="02040503050406030204" pitchFamily="18" charset="0"/>
                        </a:rPr>
                        <m:t>+</m:t>
                      </m:r>
                      <m:bar>
                        <m:barPr>
                          <m:pos m:val="top"/>
                          <m:ctrlPr>
                            <a:rPr lang="zh-CN" altLang="en-US" sz="2000" i="1">
                              <a:solidFill>
                                <a:srgbClr val="000000"/>
                              </a:solidFill>
                              <a:latin typeface="Cambria Math" panose="02040503050406030204" pitchFamily="18" charset="0"/>
                            </a:rPr>
                          </m:ctrlPr>
                        </m:barPr>
                        <m:e>
                          <m:r>
                            <a:rPr lang="zh-CN" altLang="en-US" sz="2000" b="1" i="1">
                              <a:solidFill>
                                <a:srgbClr val="000000"/>
                              </a:solidFill>
                              <a:latin typeface="Cambria Math" panose="02040503050406030204" pitchFamily="18" charset="0"/>
                            </a:rPr>
                            <m:t>𝒁</m:t>
                          </m:r>
                        </m:e>
                      </m:bar>
                      <m:r>
                        <a:rPr lang="zh-CN" altLang="en-US" sz="2000" b="1" i="1">
                          <a:solidFill>
                            <a:srgbClr val="000000"/>
                          </a:solidFill>
                          <a:latin typeface="Cambria Math" panose="02040503050406030204" pitchFamily="18" charset="0"/>
                        </a:rPr>
                        <m:t>)</m:t>
                      </m:r>
                    </m:oMath>
                  </m:oMathPara>
                </a14:m>
                <a:endParaRPr lang="zh-CN" altLang="en-US" sz="2000" dirty="0"/>
              </a:p>
            </p:txBody>
          </p:sp>
        </mc:Choice>
        <mc:Fallback>
          <p:sp>
            <p:nvSpPr>
              <p:cNvPr id="13" name="Object 9"/>
              <p:cNvSpPr txBox="1">
                <a:spLocks noRot="1" noChangeAspect="1" noMove="1" noResize="1" noEditPoints="1" noAdjustHandles="1" noChangeArrowheads="1" noChangeShapeType="1" noTextEdit="1"/>
              </p:cNvSpPr>
              <p:nvPr/>
            </p:nvSpPr>
            <p:spPr bwMode="auto">
              <a:xfrm>
                <a:off x="192071" y="3011072"/>
                <a:ext cx="8757775" cy="411162"/>
              </a:xfrm>
              <a:prstGeom prst="rect">
                <a:avLst/>
              </a:prstGeom>
              <a:blipFill rotWithShape="1">
                <a:blip r:embed="rId3"/>
                <a:stretch>
                  <a:fillRect l="-3" t="-131" r="2" b="5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Object 9"/>
              <p:cNvSpPr txBox="1"/>
              <p:nvPr/>
            </p:nvSpPr>
            <p:spPr bwMode="auto">
              <a:xfrm>
                <a:off x="275572" y="3414431"/>
                <a:ext cx="5605398" cy="411163"/>
              </a:xfrm>
              <a:prstGeom prst="rect">
                <a:avLst/>
              </a:prstGeom>
              <a:noFill/>
            </p:spPr>
            <p:txBody>
              <a:bodyPr>
                <a:noAutofit/>
              </a:bodyPr>
              <a:lstStyle/>
              <a:p>
                <a14:m>
                  <m:oMathPara xmlns:m="http://schemas.openxmlformats.org/officeDocument/2006/math">
                    <m:oMathParaPr>
                      <m:jc m:val="centerGroup"/>
                    </m:oMathParaPr>
                    <m:oMath xmlns:m="http://schemas.openxmlformats.org/officeDocument/2006/math">
                      <m:r>
                        <a:rPr lang="zh-CN" altLang="en-US" sz="2000" b="1" i="1">
                          <a:solidFill>
                            <a:srgbClr val="000000"/>
                          </a:solidFill>
                          <a:latin typeface="Cambria Math" panose="02040503050406030204" pitchFamily="18" charset="0"/>
                        </a:rPr>
                        <m:t>𝑭</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𝟏</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𝟏</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𝑿</m:t>
                      </m:r>
                      <m:r>
                        <a:rPr lang="zh-CN" altLang="en-US" sz="2000" b="1" i="1">
                          <a:solidFill>
                            <a:srgbClr val="000000"/>
                          </a:solidFill>
                          <a:latin typeface="Cambria Math" panose="02040503050406030204" pitchFamily="18" charset="0"/>
                        </a:rPr>
                        <m:t>+</m:t>
                      </m:r>
                      <m:bar>
                        <m:barPr>
                          <m:pos m:val="top"/>
                          <m:ctrlPr>
                            <a:rPr lang="zh-CN" altLang="en-US" sz="2000" i="1">
                              <a:solidFill>
                                <a:srgbClr val="000000"/>
                              </a:solidFill>
                              <a:latin typeface="Cambria Math" panose="02040503050406030204" pitchFamily="18" charset="0"/>
                            </a:rPr>
                          </m:ctrlPr>
                        </m:barPr>
                        <m:e>
                          <m:r>
                            <a:rPr lang="zh-CN" altLang="en-US" sz="2000" b="1" i="1">
                              <a:solidFill>
                                <a:srgbClr val="000000"/>
                              </a:solidFill>
                              <a:latin typeface="Cambria Math" panose="02040503050406030204" pitchFamily="18" charset="0"/>
                            </a:rPr>
                            <m:t>𝒀</m:t>
                          </m:r>
                        </m:e>
                      </m:bar>
                      <m:r>
                        <a:rPr lang="zh-CN" altLang="en-US" sz="2000" b="1" i="1">
                          <a:solidFill>
                            <a:srgbClr val="000000"/>
                          </a:solidFill>
                          <a:latin typeface="Cambria Math" panose="02040503050406030204" pitchFamily="18" charset="0"/>
                        </a:rPr>
                        <m:t>+</m:t>
                      </m:r>
                      <m:bar>
                        <m:barPr>
                          <m:pos m:val="top"/>
                          <m:ctrlPr>
                            <a:rPr lang="zh-CN" altLang="en-US" sz="2000" i="1">
                              <a:solidFill>
                                <a:srgbClr val="000000"/>
                              </a:solidFill>
                              <a:latin typeface="Cambria Math" panose="02040503050406030204" pitchFamily="18" charset="0"/>
                            </a:rPr>
                          </m:ctrlPr>
                        </m:barPr>
                        <m:e>
                          <m:r>
                            <a:rPr lang="zh-CN" altLang="en-US" sz="2000" b="1" i="1">
                              <a:solidFill>
                                <a:srgbClr val="000000"/>
                              </a:solidFill>
                              <a:latin typeface="Cambria Math" panose="02040503050406030204" pitchFamily="18" charset="0"/>
                            </a:rPr>
                            <m:t>𝒁</m:t>
                          </m:r>
                        </m:e>
                      </m:ba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𝒁</m:t>
                      </m:r>
                      <m:r>
                        <a:rPr lang="zh-CN" altLang="en-US" sz="2000" b="1" i="1">
                          <a:solidFill>
                            <a:srgbClr val="000000"/>
                          </a:solidFill>
                          <a:latin typeface="Cambria Math" panose="02040503050406030204" pitchFamily="18" charset="0"/>
                        </a:rPr>
                        <m:t>+</m:t>
                      </m:r>
                      <m:bar>
                        <m:barPr>
                          <m:pos m:val="top"/>
                          <m:ctrlPr>
                            <a:rPr lang="zh-CN" altLang="en-US" sz="2000" i="1">
                              <a:solidFill>
                                <a:srgbClr val="000000"/>
                              </a:solidFill>
                              <a:latin typeface="Cambria Math" panose="02040503050406030204" pitchFamily="18" charset="0"/>
                            </a:rPr>
                          </m:ctrlPr>
                        </m:barPr>
                        <m:e>
                          <m:r>
                            <a:rPr lang="zh-CN" altLang="en-US" sz="2000" b="1" i="1">
                              <a:solidFill>
                                <a:srgbClr val="000000"/>
                              </a:solidFill>
                              <a:latin typeface="Cambria Math" panose="02040503050406030204" pitchFamily="18" charset="0"/>
                            </a:rPr>
                            <m:t>𝑿</m:t>
                          </m:r>
                        </m:e>
                      </m:ba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𝒁</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𝒀</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𝟏</m:t>
                      </m:r>
                    </m:oMath>
                  </m:oMathPara>
                </a14:m>
                <a:endParaRPr lang="zh-CN" altLang="en-US" sz="2000" dirty="0"/>
              </a:p>
            </p:txBody>
          </p:sp>
        </mc:Choice>
        <mc:Fallback>
          <p:sp>
            <p:nvSpPr>
              <p:cNvPr id="14" name="Object 9"/>
              <p:cNvSpPr txBox="1">
                <a:spLocks noRot="1" noChangeAspect="1" noMove="1" noResize="1" noEditPoints="1" noAdjustHandles="1" noChangeArrowheads="1" noChangeShapeType="1" noTextEdit="1"/>
              </p:cNvSpPr>
              <p:nvPr/>
            </p:nvSpPr>
            <p:spPr bwMode="auto">
              <a:xfrm>
                <a:off x="275572" y="3414431"/>
                <a:ext cx="5605398" cy="411163"/>
              </a:xfrm>
              <a:prstGeom prst="rect">
                <a:avLst/>
              </a:prstGeom>
              <a:blipFill rotWithShape="1">
                <a:blip r:embed="rId4"/>
                <a:stretch>
                  <a:fillRect l="-11" t="-9" r="4" b="8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Object 9"/>
              <p:cNvSpPr txBox="1"/>
              <p:nvPr/>
            </p:nvSpPr>
            <p:spPr bwMode="auto">
              <a:xfrm>
                <a:off x="148056" y="3841555"/>
                <a:ext cx="4705780" cy="411162"/>
              </a:xfrm>
              <a:prstGeom prst="rect">
                <a:avLst/>
              </a:prstGeom>
              <a:noFill/>
            </p:spPr>
            <p:txBody>
              <a:bodyPr>
                <a:noAutofit/>
              </a:bodyPr>
              <a:lstStyle/>
              <a:p>
                <a14:m>
                  <m:oMathPara xmlns:m="http://schemas.openxmlformats.org/officeDocument/2006/math">
                    <m:oMathParaPr>
                      <m:jc m:val="centerGroup"/>
                    </m:oMathParaPr>
                    <m:oMath xmlns:m="http://schemas.openxmlformats.org/officeDocument/2006/math">
                      <m:r>
                        <a:rPr lang="zh-CN" altLang="en-US" sz="2000" b="1" i="1">
                          <a:solidFill>
                            <a:srgbClr val="000000"/>
                          </a:solidFill>
                          <a:latin typeface="Cambria Math" panose="02040503050406030204" pitchFamily="18" charset="0"/>
                        </a:rPr>
                        <m:t>𝑭</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𝑿</m:t>
                      </m:r>
                      <m:r>
                        <a:rPr lang="zh-CN" altLang="en-US" sz="2000" b="1" i="1">
                          <a:solidFill>
                            <a:srgbClr val="000000"/>
                          </a:solidFill>
                          <a:latin typeface="Cambria Math" panose="02040503050406030204" pitchFamily="18" charset="0"/>
                        </a:rPr>
                        <m:t>+</m:t>
                      </m:r>
                      <m:bar>
                        <m:barPr>
                          <m:pos m:val="top"/>
                          <m:ctrlPr>
                            <a:rPr lang="zh-CN" altLang="en-US" sz="2000" i="1">
                              <a:solidFill>
                                <a:srgbClr val="000000"/>
                              </a:solidFill>
                              <a:latin typeface="Cambria Math" panose="02040503050406030204" pitchFamily="18" charset="0"/>
                            </a:rPr>
                          </m:ctrlPr>
                        </m:barPr>
                        <m:e>
                          <m:r>
                            <a:rPr lang="zh-CN" altLang="en-US" sz="2000" b="1" i="1">
                              <a:solidFill>
                                <a:srgbClr val="000000"/>
                              </a:solidFill>
                              <a:latin typeface="Cambria Math" panose="02040503050406030204" pitchFamily="18" charset="0"/>
                            </a:rPr>
                            <m:t>𝒀</m:t>
                          </m:r>
                        </m:e>
                      </m:bar>
                      <m:r>
                        <a:rPr lang="zh-CN" altLang="en-US" sz="2000" b="1" i="1">
                          <a:solidFill>
                            <a:srgbClr val="000000"/>
                          </a:solidFill>
                          <a:latin typeface="Cambria Math" panose="02040503050406030204" pitchFamily="18" charset="0"/>
                        </a:rPr>
                        <m:t>+</m:t>
                      </m:r>
                      <m:bar>
                        <m:barPr>
                          <m:pos m:val="top"/>
                          <m:ctrlPr>
                            <a:rPr lang="zh-CN" altLang="en-US" sz="2000" i="1">
                              <a:solidFill>
                                <a:srgbClr val="000000"/>
                              </a:solidFill>
                              <a:latin typeface="Cambria Math" panose="02040503050406030204" pitchFamily="18" charset="0"/>
                            </a:rPr>
                          </m:ctrlPr>
                        </m:barPr>
                        <m:e>
                          <m:r>
                            <a:rPr lang="zh-CN" altLang="en-US" sz="2000" b="1" i="1">
                              <a:solidFill>
                                <a:srgbClr val="000000"/>
                              </a:solidFill>
                              <a:latin typeface="Cambria Math" panose="02040503050406030204" pitchFamily="18" charset="0"/>
                            </a:rPr>
                            <m:t>𝒁</m:t>
                          </m:r>
                        </m:e>
                      </m:ba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𝒁</m:t>
                      </m:r>
                      <m:r>
                        <a:rPr lang="zh-CN" altLang="en-US" sz="2000" b="1" i="1">
                          <a:solidFill>
                            <a:srgbClr val="000000"/>
                          </a:solidFill>
                          <a:latin typeface="Cambria Math" panose="02040503050406030204" pitchFamily="18" charset="0"/>
                        </a:rPr>
                        <m:t>+</m:t>
                      </m:r>
                      <m:bar>
                        <m:barPr>
                          <m:pos m:val="top"/>
                          <m:ctrlPr>
                            <a:rPr lang="zh-CN" altLang="en-US" sz="2000" i="1">
                              <a:solidFill>
                                <a:srgbClr val="000000"/>
                              </a:solidFill>
                              <a:latin typeface="Cambria Math" panose="02040503050406030204" pitchFamily="18" charset="0"/>
                            </a:rPr>
                          </m:ctrlPr>
                        </m:barPr>
                        <m:e>
                          <m:r>
                            <a:rPr lang="zh-CN" altLang="en-US" sz="2000" b="1" i="1">
                              <a:solidFill>
                                <a:srgbClr val="000000"/>
                              </a:solidFill>
                              <a:latin typeface="Cambria Math" panose="02040503050406030204" pitchFamily="18" charset="0"/>
                            </a:rPr>
                            <m:t>𝑿</m:t>
                          </m:r>
                        </m:e>
                      </m:ba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𝒁</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𝒀</m:t>
                      </m:r>
                      <m:r>
                        <a:rPr lang="zh-CN" altLang="en-US" sz="2000" b="1" i="1">
                          <a:solidFill>
                            <a:srgbClr val="000000"/>
                          </a:solidFill>
                          <a:latin typeface="Cambria Math" panose="02040503050406030204" pitchFamily="18" charset="0"/>
                        </a:rPr>
                        <m:t>)</m:t>
                      </m:r>
                    </m:oMath>
                  </m:oMathPara>
                </a14:m>
                <a:endParaRPr lang="zh-CN" altLang="en-US" sz="2000" dirty="0"/>
              </a:p>
            </p:txBody>
          </p:sp>
        </mc:Choice>
        <mc:Fallback>
          <p:sp>
            <p:nvSpPr>
              <p:cNvPr id="15" name="Object 9"/>
              <p:cNvSpPr txBox="1">
                <a:spLocks noRot="1" noChangeAspect="1" noMove="1" noResize="1" noEditPoints="1" noAdjustHandles="1" noChangeArrowheads="1" noChangeShapeType="1" noTextEdit="1"/>
              </p:cNvSpPr>
              <p:nvPr/>
            </p:nvSpPr>
            <p:spPr bwMode="auto">
              <a:xfrm>
                <a:off x="148056" y="3841555"/>
                <a:ext cx="4705780" cy="411162"/>
              </a:xfrm>
              <a:prstGeom prst="rect">
                <a:avLst/>
              </a:prstGeom>
              <a:blipFill rotWithShape="1">
                <a:blip r:embed="rId5"/>
                <a:stretch>
                  <a:fillRect l="-2" t="-107" r="11" b="30"/>
                </a:stretch>
              </a:blipFill>
            </p:spPr>
            <p:txBody>
              <a:bodyPr/>
              <a:lstStyle/>
              <a:p>
                <a:r>
                  <a:rPr lang="zh-CN" altLang="en-US">
                    <a:noFill/>
                  </a:rPr>
                  <a:t> </a:t>
                </a:r>
              </a:p>
            </p:txBody>
          </p:sp>
        </mc:Fallback>
      </mc:AlternateContent>
      <p:pic>
        <p:nvPicPr>
          <p:cNvPr id="16" name="Picture 3" descr="The circuit includes inverters in advance of the first level to complement the initial inputs as indicated. The first level consists of a single OR gate. The OR gate receives inputs X and Y prime, and it sends output X + Y prime. The second level consists of 2 AND gates. The first AND gate receives inputs X + Y prime and Z, and it sends (X + Y prime) dot Z. The second AND gate receives inputs X prime, Y, and Z prime, and it sends X prime dot Y dot Z prime. The third level consists of a single OR gate. This OR gate receives inputs (X + Y prime) dot Z, and X prime dot Y dot Z prime, and it sends output F = ((X + Y prime) dot Z) + (X prime dot Y dot Z prime)."/>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4757" y="4350372"/>
            <a:ext cx="4214176" cy="2407420"/>
          </a:xfrm>
          <a:prstGeom prst="rect">
            <a:avLst/>
          </a:prstGeom>
        </p:spPr>
      </p:pic>
      <p:pic>
        <p:nvPicPr>
          <p:cNvPr id="2" name="图片 1"/>
          <p:cNvPicPr>
            <a:picLocks noChangeAspect="1"/>
          </p:cNvPicPr>
          <p:nvPr/>
        </p:nvPicPr>
        <p:blipFill>
          <a:blip r:embed="rId7"/>
          <a:stretch>
            <a:fillRect/>
          </a:stretch>
        </p:blipFill>
        <p:spPr>
          <a:xfrm>
            <a:off x="4722833" y="3889331"/>
            <a:ext cx="4302084" cy="2868461"/>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Lst>
  </p:timing>
</p:sld>
</file>

<file path=ppt/theme/theme1.xml><?xml version="1.0" encoding="utf-8"?>
<a:theme xmlns:a="http://schemas.openxmlformats.org/drawingml/2006/main" name="cfyuan1">
  <a:themeElements>
    <a:clrScheme name="delay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1"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noFill/>
        <a:ln w="127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1"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delay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lay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lay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lay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lay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lay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lay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cfyuan1</Template>
  <TotalTime>0</TotalTime>
  <Words>13635</Words>
  <Application>WPS 演示</Application>
  <PresentationFormat>全屏显示(4:3)</PresentationFormat>
  <Paragraphs>1614</Paragraphs>
  <Slides>77</Slides>
  <Notes>60</Notes>
  <HiddenSlides>1</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7</vt:i4>
      </vt:variant>
      <vt:variant>
        <vt:lpstr>幻灯片标题</vt:lpstr>
      </vt:variant>
      <vt:variant>
        <vt:i4>77</vt:i4>
      </vt:variant>
    </vt:vector>
  </HeadingPairs>
  <TitlesOfParts>
    <vt:vector size="103" baseType="lpstr">
      <vt:lpstr>Arial</vt:lpstr>
      <vt:lpstr>宋体</vt:lpstr>
      <vt:lpstr>Wingdings</vt:lpstr>
      <vt:lpstr>Times New Roman</vt:lpstr>
      <vt:lpstr>微软雅黑</vt:lpstr>
      <vt:lpstr>黑体</vt:lpstr>
      <vt:lpstr>微软雅黑 Light</vt:lpstr>
      <vt:lpstr>Verdana</vt:lpstr>
      <vt:lpstr>Cambria Math</vt:lpstr>
      <vt:lpstr>Arial Unicode MS</vt:lpstr>
      <vt:lpstr>等线</vt:lpstr>
      <vt:lpstr>Wingdings</vt:lpstr>
      <vt:lpstr>仿宋</vt:lpstr>
      <vt:lpstr>Times-Roman</vt:lpstr>
      <vt:lpstr>Arial Narrow</vt:lpstr>
      <vt:lpstr>隶书</vt:lpstr>
      <vt:lpstr>Tahoma</vt:lpstr>
      <vt:lpstr>Symbol</vt:lpstr>
      <vt:lpstr>cfyuan1</vt:lpstr>
      <vt:lpstr>Visio.Drawing.11</vt:lpstr>
      <vt:lpstr>Visio.Drawing.15</vt:lpstr>
      <vt:lpstr>Visio.Drawing.15</vt:lpstr>
      <vt:lpstr>PBrush</vt:lpstr>
      <vt:lpstr>PBrush</vt:lpstr>
      <vt:lpstr>Equation.3</vt:lpstr>
      <vt:lpstr>Equation.3</vt:lpstr>
      <vt:lpstr>第2章 数字逻辑基础</vt:lpstr>
      <vt:lpstr>第一讲 逻辑门和数字抽象</vt:lpstr>
      <vt:lpstr>1.1 逻辑门</vt:lpstr>
      <vt:lpstr>1.1 逻辑门</vt:lpstr>
      <vt:lpstr>1.1 逻辑门</vt:lpstr>
      <vt:lpstr>1.1 逻辑门</vt:lpstr>
      <vt:lpstr>1.1 逻辑门</vt:lpstr>
      <vt:lpstr>1.2 数字抽象</vt:lpstr>
      <vt:lpstr>1.2 数字抽象</vt:lpstr>
      <vt:lpstr>1.2 数字抽象</vt:lpstr>
      <vt:lpstr>1.2 数字抽象</vt:lpstr>
      <vt:lpstr>1.2 数字抽象</vt:lpstr>
      <vt:lpstr>1.2 数字抽象</vt:lpstr>
      <vt:lpstr>1.2 数字抽象</vt:lpstr>
      <vt:lpstr>1.3 CMOS晶体管</vt:lpstr>
      <vt:lpstr>1.3 CMOS晶体管</vt:lpstr>
      <vt:lpstr>1.3 CMOS晶体管</vt:lpstr>
      <vt:lpstr>1.3 CMOS晶体管</vt:lpstr>
      <vt:lpstr>1.3 CMOS晶体管</vt:lpstr>
      <vt:lpstr>1.3 CMOS晶体管</vt:lpstr>
      <vt:lpstr>1.3 CMOS晶体管</vt:lpstr>
      <vt:lpstr>1.3 CMOS晶体管</vt:lpstr>
      <vt:lpstr>1.3 CMOS晶体管</vt:lpstr>
      <vt:lpstr>1.3 CMOS晶体管</vt:lpstr>
      <vt:lpstr>1.3 CMOS晶体管</vt:lpstr>
      <vt:lpstr>1.3 CMOS晶体管</vt:lpstr>
      <vt:lpstr>1.3 CMOS晶体管</vt:lpstr>
      <vt:lpstr>1.3 CMOS晶体管*</vt:lpstr>
      <vt:lpstr>1.3 CMOS晶体管*</vt:lpstr>
      <vt:lpstr>1.4 CMOS电路电气特性</vt:lpstr>
      <vt:lpstr>1.4 CMOS电路电气特性</vt:lpstr>
      <vt:lpstr>1.4 CMOS电路电气特性</vt:lpstr>
      <vt:lpstr>1.4 CMOS电路电气特性</vt:lpstr>
      <vt:lpstr>1.4 CMOS电路电气特性</vt:lpstr>
      <vt:lpstr>第二讲 布尔代数</vt:lpstr>
      <vt:lpstr>2 布尔代数</vt:lpstr>
      <vt:lpstr>2 布尔代数</vt:lpstr>
      <vt:lpstr>2 布尔代数</vt:lpstr>
      <vt:lpstr>2.1 公理系统</vt:lpstr>
      <vt:lpstr>2.2 定理</vt:lpstr>
      <vt:lpstr>2.2 定理</vt:lpstr>
      <vt:lpstr>2.2 定理</vt:lpstr>
      <vt:lpstr>2.2 定理</vt:lpstr>
      <vt:lpstr>2.2 定理</vt:lpstr>
      <vt:lpstr>2.2 定理</vt:lpstr>
      <vt:lpstr>2.3 对偶定律</vt:lpstr>
      <vt:lpstr>2.4 反演定律*</vt:lpstr>
      <vt:lpstr>PowerPoint 演示文稿</vt:lpstr>
      <vt:lpstr>3.1 逻辑函数</vt:lpstr>
      <vt:lpstr>3.1 逻辑函数</vt:lpstr>
      <vt:lpstr>3.2 真值表与波形图</vt:lpstr>
      <vt:lpstr>3.2 真值表与波形图</vt:lpstr>
      <vt:lpstr>3.3 逻辑函数的标准表示</vt:lpstr>
      <vt:lpstr>3.3 逻辑函数的标准表示</vt:lpstr>
      <vt:lpstr>3.3 逻辑函数的标准表示</vt:lpstr>
      <vt:lpstr>3.3 逻辑函数的标准表示</vt:lpstr>
      <vt:lpstr>3.3 逻辑函数的标准表示</vt:lpstr>
      <vt:lpstr>第四讲  逻辑函数的化简与变换</vt:lpstr>
      <vt:lpstr>4 逻辑函数的化简与变换</vt:lpstr>
      <vt:lpstr>4.1 代数法化简</vt:lpstr>
      <vt:lpstr>4.1 代数法化简</vt:lpstr>
      <vt:lpstr>4.1 代数法化简</vt:lpstr>
      <vt:lpstr>4.1 代数法化简</vt:lpstr>
      <vt:lpstr>4.2 卡诺图化简</vt:lpstr>
      <vt:lpstr>4.2 卡诺图化简</vt:lpstr>
      <vt:lpstr>4.2 卡诺图化简</vt:lpstr>
      <vt:lpstr>4.2 卡诺图化简</vt:lpstr>
      <vt:lpstr>4.2 卡诺图化简</vt:lpstr>
      <vt:lpstr>4.2 卡诺图化简</vt:lpstr>
      <vt:lpstr>4.2 卡诺图化简</vt:lpstr>
      <vt:lpstr>4.2 卡诺图化简</vt:lpstr>
      <vt:lpstr>4.2 卡诺图化简</vt:lpstr>
      <vt:lpstr>4.2 卡诺图化简</vt:lpstr>
      <vt:lpstr>4.3 逻辑函数变换</vt:lpstr>
      <vt:lpstr>4.3 逻辑函数变换</vt:lpstr>
      <vt:lpstr>4.3 逻辑函数变换</vt:lpstr>
      <vt:lpstr>4.3 逻辑函数变换*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第二章  数字逻辑基础</dc:title>
  <dc:creator>吴 海军</dc:creator>
  <cp:lastModifiedBy>CZM</cp:lastModifiedBy>
  <cp:revision>206</cp:revision>
  <dcterms:created xsi:type="dcterms:W3CDTF">2020-09-27T00:14:00Z</dcterms:created>
  <dcterms:modified xsi:type="dcterms:W3CDTF">2022-03-01T02:08:42Z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B90556F7500F4DF7BF65B01260652D75</vt:lpwstr>
  </property>
  <property fmtid="{D5CDD505-2E9C-101B-9397-08002B2CF9AE}" pid="3" name="KSOProductBuildVer">
    <vt:lpwstr>2052-11.1.0.11365</vt:lpwstr>
  </property>
</Properties>
</file>