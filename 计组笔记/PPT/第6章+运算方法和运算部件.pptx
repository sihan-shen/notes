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116"/>
  </p:handoutMasterIdLst>
  <p:sldIdLst>
    <p:sldId id="423" r:id="rId3"/>
    <p:sldId id="623" r:id="rId4"/>
    <p:sldId id="898" r:id="rId5"/>
    <p:sldId id="893" r:id="rId6"/>
    <p:sldId id="509" r:id="rId8"/>
    <p:sldId id="1020" r:id="rId9"/>
    <p:sldId id="513" r:id="rId10"/>
    <p:sldId id="1021" r:id="rId11"/>
    <p:sldId id="1022" r:id="rId12"/>
    <p:sldId id="515" r:id="rId13"/>
    <p:sldId id="516" r:id="rId14"/>
    <p:sldId id="574" r:id="rId15"/>
    <p:sldId id="621" r:id="rId16"/>
    <p:sldId id="1019" r:id="rId17"/>
    <p:sldId id="618" r:id="rId18"/>
    <p:sldId id="617" r:id="rId19"/>
    <p:sldId id="1018" r:id="rId20"/>
    <p:sldId id="619" r:id="rId21"/>
    <p:sldId id="1017" r:id="rId22"/>
    <p:sldId id="1014" r:id="rId23"/>
    <p:sldId id="1015" r:id="rId24"/>
    <p:sldId id="622" r:id="rId25"/>
    <p:sldId id="608" r:id="rId26"/>
    <p:sldId id="609" r:id="rId27"/>
    <p:sldId id="1023" r:id="rId28"/>
    <p:sldId id="1024" r:id="rId29"/>
    <p:sldId id="1025" r:id="rId30"/>
    <p:sldId id="1026" r:id="rId31"/>
    <p:sldId id="316" r:id="rId32"/>
    <p:sldId id="576" r:id="rId33"/>
    <p:sldId id="531" r:id="rId34"/>
    <p:sldId id="323" r:id="rId35"/>
    <p:sldId id="373" r:id="rId36"/>
    <p:sldId id="374" r:id="rId37"/>
    <p:sldId id="556" r:id="rId38"/>
    <p:sldId id="532" r:id="rId39"/>
    <p:sldId id="596" r:id="rId40"/>
    <p:sldId id="330" r:id="rId41"/>
    <p:sldId id="577" r:id="rId42"/>
    <p:sldId id="570" r:id="rId43"/>
    <p:sldId id="571" r:id="rId44"/>
    <p:sldId id="533" r:id="rId45"/>
    <p:sldId id="537" r:id="rId46"/>
    <p:sldId id="536" r:id="rId47"/>
    <p:sldId id="634" r:id="rId48"/>
    <p:sldId id="635" r:id="rId49"/>
    <p:sldId id="633" r:id="rId50"/>
    <p:sldId id="629" r:id="rId51"/>
    <p:sldId id="630" r:id="rId52"/>
    <p:sldId id="631" r:id="rId53"/>
    <p:sldId id="632" r:id="rId54"/>
    <p:sldId id="637" r:id="rId55"/>
    <p:sldId id="340" r:id="rId56"/>
    <p:sldId id="538" r:id="rId57"/>
    <p:sldId id="578" r:id="rId58"/>
    <p:sldId id="349" r:id="rId59"/>
    <p:sldId id="351" r:id="rId60"/>
    <p:sldId id="396" r:id="rId61"/>
    <p:sldId id="378" r:id="rId62"/>
    <p:sldId id="540" r:id="rId63"/>
    <p:sldId id="541" r:id="rId64"/>
    <p:sldId id="401" r:id="rId65"/>
    <p:sldId id="582" r:id="rId66"/>
    <p:sldId id="542" r:id="rId67"/>
    <p:sldId id="404" r:id="rId68"/>
    <p:sldId id="543" r:id="rId69"/>
    <p:sldId id="544" r:id="rId70"/>
    <p:sldId id="640" r:id="rId71"/>
    <p:sldId id="641" r:id="rId72"/>
    <p:sldId id="558" r:id="rId73"/>
    <p:sldId id="557" r:id="rId74"/>
    <p:sldId id="568" r:id="rId75"/>
    <p:sldId id="569" r:id="rId76"/>
    <p:sldId id="581" r:id="rId77"/>
    <p:sldId id="497" r:id="rId78"/>
    <p:sldId id="580" r:id="rId79"/>
    <p:sldId id="483" r:id="rId80"/>
    <p:sldId id="354" r:id="rId81"/>
    <p:sldId id="642" r:id="rId82"/>
    <p:sldId id="662" r:id="rId83"/>
    <p:sldId id="643" r:id="rId84"/>
    <p:sldId id="644" r:id="rId85"/>
    <p:sldId id="663" r:id="rId86"/>
    <p:sldId id="645" r:id="rId87"/>
    <p:sldId id="646" r:id="rId88"/>
    <p:sldId id="664" r:id="rId89"/>
    <p:sldId id="665" r:id="rId90"/>
    <p:sldId id="666" r:id="rId91"/>
    <p:sldId id="667" r:id="rId92"/>
    <p:sldId id="668" r:id="rId93"/>
    <p:sldId id="669" r:id="rId94"/>
    <p:sldId id="670" r:id="rId95"/>
    <p:sldId id="671" r:id="rId96"/>
    <p:sldId id="647" r:id="rId97"/>
    <p:sldId id="648" r:id="rId98"/>
    <p:sldId id="649" r:id="rId99"/>
    <p:sldId id="672" r:id="rId100"/>
    <p:sldId id="673" r:id="rId101"/>
    <p:sldId id="653" r:id="rId102"/>
    <p:sldId id="655" r:id="rId103"/>
    <p:sldId id="656" r:id="rId104"/>
    <p:sldId id="657" r:id="rId105"/>
    <p:sldId id="658" r:id="rId106"/>
    <p:sldId id="659" r:id="rId107"/>
    <p:sldId id="660" r:id="rId108"/>
    <p:sldId id="661" r:id="rId109"/>
    <p:sldId id="675" r:id="rId110"/>
    <p:sldId id="676" r:id="rId111"/>
    <p:sldId id="494" r:id="rId112"/>
    <p:sldId id="495" r:id="rId113"/>
    <p:sldId id="499" r:id="rId114"/>
    <p:sldId id="500" r:id="rId115"/>
  </p:sldIdLst>
  <p:sldSz cx="9144000" cy="6858000" type="letter"/>
  <p:notesSz cx="7302500" cy="9588500"/>
  <p:custDataLst>
    <p:tags r:id="rId120"/>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000000"/>
    <a:srgbClr val="008000"/>
    <a:srgbClr val="990000"/>
    <a:srgbClr val="FF9900"/>
    <a:srgbClr val="FF0066"/>
    <a:srgbClr val="009900"/>
    <a:srgbClr val="FFFFCC"/>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152"/>
    <p:restoredTop sz="91507"/>
  </p:normalViewPr>
  <p:slideViewPr>
    <p:cSldViewPr snapToGrid="0" showGuides="1">
      <p:cViewPr varScale="1">
        <p:scale>
          <a:sx n="101" d="100"/>
          <a:sy n="101" d="100"/>
        </p:scale>
        <p:origin x="1384"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0" Type="http://schemas.openxmlformats.org/officeDocument/2006/relationships/tags" Target="tags/tag1.xml"/><Relationship Id="rId12" Type="http://schemas.openxmlformats.org/officeDocument/2006/relationships/slide" Target="slides/slide9.xml"/><Relationship Id="rId119" Type="http://schemas.openxmlformats.org/officeDocument/2006/relationships/tableStyles" Target="tableStyles.xml"/><Relationship Id="rId118" Type="http://schemas.openxmlformats.org/officeDocument/2006/relationships/viewProps" Target="viewProps.xml"/><Relationship Id="rId117" Type="http://schemas.openxmlformats.org/officeDocument/2006/relationships/presProps" Target="presProps.xml"/><Relationship Id="rId116" Type="http://schemas.openxmlformats.org/officeDocument/2006/relationships/handoutMaster" Target="handoutMasters/handoutMaster1.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TextEdit="1"/>
          </p:cNvSpPr>
          <p:nvPr>
            <p:ph type="sldImg"/>
          </p:nvPr>
        </p:nvSpPr>
        <p:spPr>
          <a:xfrm>
            <a:off x="1252538" y="603250"/>
            <a:ext cx="4813300" cy="3608388"/>
          </a:xfrm>
          <a:prstGeom prst="rect">
            <a:avLst/>
          </a:prstGeom>
          <a:noFill/>
          <a:ln w="12700">
            <a:noFill/>
          </a:ln>
        </p:spPr>
      </p:sp>
      <p:sp>
        <p:nvSpPr>
          <p:cNvPr id="2051" name="Rectangle 3"/>
          <p:cNvSpPr>
            <a:spLocks noGrp="1" noChangeArrowheads="1"/>
          </p:cNvSpPr>
          <p:nvPr>
            <p:ph type="body" sz="quarter" idx="3"/>
          </p:nvPr>
        </p:nvSpPr>
        <p:spPr bwMode="auto">
          <a:xfrm>
            <a:off x="549275" y="4554538"/>
            <a:ext cx="6292850" cy="4314825"/>
          </a:xfrm>
          <a:prstGeom prst="rect">
            <a:avLst/>
          </a:prstGeom>
          <a:noFill/>
          <a:ln w="12700">
            <a:noFill/>
            <a:miter lim="800000"/>
          </a:ln>
          <a:effectLst/>
        </p:spPr>
        <p:txBody>
          <a:bodyPr vert="horz" wrap="square" lIns="95058" tIns="46695" rIns="95058" bIns="46695"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2" name="Rectangle 4"/>
          <p:cNvSpPr>
            <a:spLocks noChangeArrowheads="1"/>
          </p:cNvSpPr>
          <p:nvPr/>
        </p:nvSpPr>
        <p:spPr bwMode="auto">
          <a:xfrm>
            <a:off x="498475" y="4273550"/>
            <a:ext cx="644366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5058" tIns="46695" rIns="95058" bIns="46695">
            <a:spAutoFit/>
          </a:bodyPr>
          <a:lstStyle>
            <a:lvl1pPr defTabSz="960755">
              <a:defRPr sz="1600" b="1">
                <a:solidFill>
                  <a:schemeClr val="tx1"/>
                </a:solidFill>
                <a:latin typeface="Times New Roman" panose="02020603050405020304" pitchFamily="18" charset="0"/>
                <a:ea typeface="宋体" panose="02010600030101010101" pitchFamily="2" charset="-122"/>
              </a:defRPr>
            </a:lvl1pPr>
            <a:lvl2pPr marL="742950" indent="-285750" defTabSz="960755">
              <a:defRPr sz="1600" b="1">
                <a:solidFill>
                  <a:schemeClr val="tx1"/>
                </a:solidFill>
                <a:latin typeface="Times New Roman" panose="02020603050405020304" pitchFamily="18" charset="0"/>
                <a:ea typeface="宋体" panose="02010600030101010101" pitchFamily="2" charset="-122"/>
              </a:defRPr>
            </a:lvl2pPr>
            <a:lvl3pPr marL="1143000" indent="-228600" defTabSz="960755">
              <a:defRPr sz="1600" b="1">
                <a:solidFill>
                  <a:schemeClr val="tx1"/>
                </a:solidFill>
                <a:latin typeface="Times New Roman" panose="02020603050405020304" pitchFamily="18" charset="0"/>
                <a:ea typeface="宋体" panose="02010600030101010101" pitchFamily="2" charset="-122"/>
              </a:defRPr>
            </a:lvl3pPr>
            <a:lvl4pPr marL="1600200" indent="-228600" defTabSz="960755">
              <a:defRPr sz="1600" b="1">
                <a:solidFill>
                  <a:schemeClr val="tx1"/>
                </a:solidFill>
                <a:latin typeface="Times New Roman" panose="02020603050405020304" pitchFamily="18" charset="0"/>
                <a:ea typeface="宋体" panose="02010600030101010101" pitchFamily="2" charset="-122"/>
              </a:defRPr>
            </a:lvl4pPr>
            <a:lvl5pPr marL="2057400" indent="-228600" defTabSz="960755">
              <a:defRPr sz="1600" b="1">
                <a:solidFill>
                  <a:schemeClr val="tx1"/>
                </a:solidFill>
                <a:latin typeface="Times New Roman" panose="02020603050405020304" pitchFamily="18" charset="0"/>
                <a:ea typeface="宋体" panose="02010600030101010101" pitchFamily="2" charset="-122"/>
              </a:defRPr>
            </a:lvl5pPr>
            <a:lvl6pPr marL="2514600" indent="-228600" defTabSz="960755"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6pPr>
            <a:lvl7pPr marL="2971800" indent="-228600" defTabSz="960755"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7pPr>
            <a:lvl8pPr marL="3429000" indent="-228600" defTabSz="960755"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8pPr>
            <a:lvl9pPr marL="3886200" indent="-228600" defTabSz="960755"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9pPr>
          </a:lstStyle>
          <a:p>
            <a:pPr marL="0" marR="0" lvl="0" indent="0" algn="l" defTabSz="960755" rtl="0" eaLnBrk="0" fontAlgn="base" latinLnBrk="0" hangingPunct="0">
              <a:lnSpc>
                <a:spcPct val="100000"/>
              </a:lnSpc>
              <a:spcBef>
                <a:spcPct val="0"/>
              </a:spcBef>
              <a:spcAft>
                <a:spcPct val="0"/>
              </a:spcAft>
              <a:buClrTx/>
              <a:buSzTx/>
              <a:buFontTx/>
              <a:buNone/>
              <a:defRPr/>
            </a:pPr>
            <a:r>
              <a:rPr kumimoji="0" lang="zh-CN" altLang="en-US" sz="17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17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Slow Down    CWP    Slow Down    CWP    Slow Down    CWP ---</a:t>
            </a:r>
            <a:endParaRPr kumimoji="0" lang="en-US" altLang="zh-CN" sz="17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幻灯片图像占位符 1"/>
          <p:cNvSpPr>
            <a:spLocks noGrp="1" noRot="1" noChangeAspect="1" noTextEdit="1"/>
          </p:cNvSpPr>
          <p:nvPr>
            <p:ph type="sldImg"/>
          </p:nvPr>
        </p:nvSpPr>
        <p:spPr>
          <a:xfrm>
            <a:off x="1254125" y="603250"/>
            <a:ext cx="4810125" cy="3608388"/>
          </a:xfrm>
          <a:ln/>
        </p:spPr>
      </p:sp>
      <p:sp>
        <p:nvSpPr>
          <p:cNvPr id="12290" name="备注占位符 2"/>
          <p:cNvSpPr>
            <a:spLocks noGrp="1"/>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幻灯片图像占位符 1"/>
          <p:cNvSpPr>
            <a:spLocks noGrp="1" noRot="1" noChangeAspect="1" noTextEdit="1"/>
          </p:cNvSpPr>
          <p:nvPr>
            <p:ph type="sldImg"/>
          </p:nvPr>
        </p:nvSpPr>
        <p:spPr>
          <a:xfrm>
            <a:off x="1254125" y="603250"/>
            <a:ext cx="4810125" cy="3608388"/>
          </a:xfrm>
          <a:ln/>
        </p:spPr>
      </p:sp>
      <p:sp>
        <p:nvSpPr>
          <p:cNvPr id="14338" name="备注占位符 2"/>
          <p:cNvSpPr>
            <a:spLocks noGrp="1"/>
          </p:cNvSpPr>
          <p:nvPr>
            <p:ph type="body"/>
          </p:nvPr>
        </p:nvSpPr>
        <p:spPr>
          <a:ln/>
        </p:spPr>
        <p:txBody>
          <a:bodyPr wrap="square" lIns="95058" tIns="46695" rIns="95058" bIns="46695" anchor="t" anchorCtr="0"/>
          <a:p>
            <a:pPr lvl="0"/>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幻灯片图像占位符 1"/>
          <p:cNvSpPr>
            <a:spLocks noGrp="1" noRot="1" noChangeAspect="1" noTextEdit="1"/>
          </p:cNvSpPr>
          <p:nvPr>
            <p:ph type="sldImg"/>
          </p:nvPr>
        </p:nvSpPr>
        <p:spPr>
          <a:xfrm>
            <a:off x="1254125" y="603250"/>
            <a:ext cx="4810125" cy="3608388"/>
          </a:xfrm>
          <a:ln/>
        </p:spPr>
      </p:sp>
      <p:sp>
        <p:nvSpPr>
          <p:cNvPr id="16386" name="备注占位符 2"/>
          <p:cNvSpPr>
            <a:spLocks noGrp="1"/>
          </p:cNvSpPr>
          <p:nvPr>
            <p:ph type="body"/>
          </p:nvPr>
        </p:nvSpPr>
        <p:spPr>
          <a:ln/>
        </p:spPr>
        <p:txBody>
          <a:bodyPr wrap="square" lIns="95058" tIns="46695" rIns="95058" bIns="46695" anchor="t" anchorCtr="0"/>
          <a:p>
            <a:pPr lvl="0"/>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幻灯片图像占位符 1"/>
          <p:cNvSpPr>
            <a:spLocks noGrp="1" noRot="1" noChangeAspect="1" noTextEdit="1"/>
          </p:cNvSpPr>
          <p:nvPr>
            <p:ph type="sldImg"/>
          </p:nvPr>
        </p:nvSpPr>
        <p:spPr>
          <a:xfrm>
            <a:off x="1254125" y="603250"/>
            <a:ext cx="4810125" cy="3608388"/>
          </a:xfrm>
          <a:ln/>
        </p:spPr>
      </p:sp>
      <p:sp>
        <p:nvSpPr>
          <p:cNvPr id="18434" name="备注占位符 2"/>
          <p:cNvSpPr>
            <a:spLocks noGrp="1"/>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幻灯片图像占位符 1"/>
          <p:cNvSpPr>
            <a:spLocks noGrp="1" noRot="1" noChangeAspect="1" noTextEdit="1"/>
          </p:cNvSpPr>
          <p:nvPr>
            <p:ph type="sldImg"/>
          </p:nvPr>
        </p:nvSpPr>
        <p:spPr>
          <a:xfrm>
            <a:off x="1254125" y="603250"/>
            <a:ext cx="4810125" cy="3608388"/>
          </a:xfrm>
          <a:ln/>
        </p:spPr>
      </p:sp>
      <p:sp>
        <p:nvSpPr>
          <p:cNvPr id="20482" name="备注占位符 2"/>
          <p:cNvSpPr>
            <a:spLocks noGrp="1"/>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幻灯片图像占位符 1"/>
          <p:cNvSpPr>
            <a:spLocks noGrp="1" noRot="1" noChangeAspect="1" noTextEdit="1"/>
          </p:cNvSpPr>
          <p:nvPr>
            <p:ph type="sldImg"/>
          </p:nvPr>
        </p:nvSpPr>
        <p:spPr>
          <a:xfrm>
            <a:off x="1254125" y="603250"/>
            <a:ext cx="4810125" cy="3608388"/>
          </a:xfrm>
          <a:ln/>
        </p:spPr>
      </p:sp>
      <p:sp>
        <p:nvSpPr>
          <p:cNvPr id="22530" name="备注占位符 2"/>
          <p:cNvSpPr>
            <a:spLocks noGrp="1"/>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body"/>
          </p:nvPr>
        </p:nvSpPr>
        <p:spPr>
          <a:xfrm>
            <a:off x="515938" y="4343400"/>
            <a:ext cx="5910262" cy="4114800"/>
          </a:xfrm>
          <a:ln/>
        </p:spPr>
        <p:txBody>
          <a:bodyPr wrap="square" lIns="90048" tIns="44234" rIns="90048" bIns="44234" anchor="t" anchorCtr="0"/>
          <a:p>
            <a:pPr lvl="0"/>
            <a:r>
              <a:rPr lang="en-US" altLang="zh-CN" dirty="0">
                <a:ea typeface="宋体" panose="02010600030101010101" pitchFamily="2" charset="-122"/>
              </a:rPr>
              <a:t>Besides detecting overflow, our ALU also needs to indicate if the result is zero.</a:t>
            </a:r>
            <a:endParaRPr lang="en-US" altLang="zh-CN" dirty="0">
              <a:ea typeface="宋体" panose="02010600030101010101" pitchFamily="2" charset="-122"/>
            </a:endParaRPr>
          </a:p>
          <a:p>
            <a:pPr lvl="0"/>
            <a:r>
              <a:rPr lang="en-US" altLang="zh-CN" dirty="0">
                <a:ea typeface="宋体" panose="02010600030101010101" pitchFamily="2" charset="-122"/>
              </a:rPr>
              <a:t>This is easy to do.  All we need is a BIG NOR gate.</a:t>
            </a:r>
            <a:endParaRPr lang="en-US" altLang="zh-CN" dirty="0">
              <a:ea typeface="宋体" panose="02010600030101010101" pitchFamily="2" charset="-122"/>
            </a:endParaRPr>
          </a:p>
          <a:p>
            <a:pPr lvl="0"/>
            <a:r>
              <a:rPr lang="en-US" altLang="zh-CN" dirty="0">
                <a:ea typeface="宋体" panose="02010600030101010101" pitchFamily="2" charset="-122"/>
              </a:rPr>
              <a:t>Then if any of the Result bit is not zero, then the output of the NOR gate will be low.</a:t>
            </a:r>
            <a:endParaRPr lang="en-US" altLang="zh-CN" dirty="0">
              <a:ea typeface="宋体" panose="02010600030101010101" pitchFamily="2" charset="-122"/>
            </a:endParaRPr>
          </a:p>
          <a:p>
            <a:pPr lvl="0"/>
            <a:r>
              <a:rPr lang="en-US" altLang="zh-CN" dirty="0">
                <a:ea typeface="宋体" panose="02010600030101010101" pitchFamily="2" charset="-122"/>
              </a:rPr>
              <a:t>The only time the output of the NOR gate is high is when all the result bits are zeroes.</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+1 = 43 min. (Y:23)</a:t>
            </a:r>
            <a:endParaRPr lang="en-US" altLang="zh-CN" dirty="0">
              <a:ea typeface="宋体" panose="02010600030101010101" pitchFamily="2" charset="-122"/>
            </a:endParaRPr>
          </a:p>
          <a:p>
            <a:pPr lvl="0"/>
            <a:endParaRPr lang="en-US" altLang="zh-CN" b="1" dirty="0">
              <a:ea typeface="宋体" panose="02010600030101010101" pitchFamily="2" charset="-122"/>
            </a:endParaRPr>
          </a:p>
          <a:p>
            <a:pPr lvl="0"/>
            <a:r>
              <a:rPr lang="en-US" altLang="zh-CN" b="1" dirty="0">
                <a:ea typeface="宋体" panose="02010600030101010101" pitchFamily="2" charset="-122"/>
              </a:rPr>
              <a:t>Supplement: </a:t>
            </a:r>
            <a:r>
              <a:rPr lang="en-US" altLang="zh-CN" dirty="0">
                <a:ea typeface="宋体" panose="02010600030101010101" pitchFamily="2" charset="-122"/>
              </a:rPr>
              <a:t>why do we need to check if the result is zero? For instructions such as bne, beq, slt, …</a:t>
            </a:r>
            <a:endParaRPr lang="en-US" altLang="zh-CN" dirty="0">
              <a:ea typeface="宋体" panose="02010600030101010101" pitchFamily="2" charset="-122"/>
            </a:endParaRPr>
          </a:p>
        </p:txBody>
      </p:sp>
      <p:sp>
        <p:nvSpPr>
          <p:cNvPr id="27650" name="Rectangle 3"/>
          <p:cNvSpPr>
            <a:spLocks noTextEdit="1"/>
          </p:cNvSpPr>
          <p:nvPr>
            <p:ph type="sldImg"/>
          </p:nvPr>
        </p:nvSpPr>
        <p:spPr>
          <a:xfrm>
            <a:off x="1141413" y="574675"/>
            <a:ext cx="4589462" cy="3441700"/>
          </a:xfr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body"/>
          </p:nvPr>
        </p:nvSpPr>
        <p:spPr>
          <a:xfrm>
            <a:off x="515938" y="4343400"/>
            <a:ext cx="5910262" cy="4114800"/>
          </a:xfrm>
          <a:ln/>
        </p:spPr>
        <p:txBody>
          <a:bodyPr wrap="square" lIns="90048" tIns="44234" rIns="90048" bIns="44234" anchor="t" anchorCtr="0"/>
          <a:p>
            <a:pPr lvl="0"/>
            <a:r>
              <a:rPr lang="en-US" altLang="zh-CN" dirty="0">
                <a:ea typeface="宋体" panose="02010600030101010101" pitchFamily="2" charset="-122"/>
              </a:rPr>
              <a:t>Besides detecting overflow, our ALU also needs to indicate if the result is zero.</a:t>
            </a:r>
            <a:endParaRPr lang="en-US" altLang="zh-CN" dirty="0">
              <a:ea typeface="宋体" panose="02010600030101010101" pitchFamily="2" charset="-122"/>
            </a:endParaRPr>
          </a:p>
          <a:p>
            <a:pPr lvl="0"/>
            <a:r>
              <a:rPr lang="en-US" altLang="zh-CN" dirty="0">
                <a:ea typeface="宋体" panose="02010600030101010101" pitchFamily="2" charset="-122"/>
              </a:rPr>
              <a:t>This is easy to do.  All we need is a BIG NOR gate.</a:t>
            </a:r>
            <a:endParaRPr lang="en-US" altLang="zh-CN" dirty="0">
              <a:ea typeface="宋体" panose="02010600030101010101" pitchFamily="2" charset="-122"/>
            </a:endParaRPr>
          </a:p>
          <a:p>
            <a:pPr lvl="0"/>
            <a:r>
              <a:rPr lang="en-US" altLang="zh-CN" dirty="0">
                <a:ea typeface="宋体" panose="02010600030101010101" pitchFamily="2" charset="-122"/>
              </a:rPr>
              <a:t>Then if any of the Result bit is not zero, then the output of the NOR gate will be low.</a:t>
            </a:r>
            <a:endParaRPr lang="en-US" altLang="zh-CN" dirty="0">
              <a:ea typeface="宋体" panose="02010600030101010101" pitchFamily="2" charset="-122"/>
            </a:endParaRPr>
          </a:p>
          <a:p>
            <a:pPr lvl="0"/>
            <a:r>
              <a:rPr lang="en-US" altLang="zh-CN" dirty="0">
                <a:ea typeface="宋体" panose="02010600030101010101" pitchFamily="2" charset="-122"/>
              </a:rPr>
              <a:t>The only time the output of the NOR gate is high is when all the result bits are zeroes.</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+1 = 43 min. (Y:23)</a:t>
            </a:r>
            <a:endParaRPr lang="en-US" altLang="zh-CN" dirty="0">
              <a:ea typeface="宋体" panose="02010600030101010101" pitchFamily="2" charset="-122"/>
            </a:endParaRPr>
          </a:p>
          <a:p>
            <a:pPr lvl="0"/>
            <a:endParaRPr lang="en-US" altLang="zh-CN" b="1" dirty="0">
              <a:ea typeface="宋体" panose="02010600030101010101" pitchFamily="2" charset="-122"/>
            </a:endParaRPr>
          </a:p>
          <a:p>
            <a:pPr lvl="0"/>
            <a:r>
              <a:rPr lang="en-US" altLang="zh-CN" b="1" dirty="0">
                <a:ea typeface="宋体" panose="02010600030101010101" pitchFamily="2" charset="-122"/>
              </a:rPr>
              <a:t>Supplement: </a:t>
            </a:r>
            <a:r>
              <a:rPr lang="en-US" altLang="zh-CN" dirty="0">
                <a:ea typeface="宋体" panose="02010600030101010101" pitchFamily="2" charset="-122"/>
              </a:rPr>
              <a:t>why do we need to check if the result is zero? For instructions such as bne, beq, slt, …</a:t>
            </a:r>
            <a:endParaRPr lang="en-US" altLang="zh-CN" dirty="0">
              <a:ea typeface="宋体" panose="02010600030101010101" pitchFamily="2" charset="-122"/>
            </a:endParaRPr>
          </a:p>
        </p:txBody>
      </p:sp>
      <p:sp>
        <p:nvSpPr>
          <p:cNvPr id="29698" name="Rectangle 3"/>
          <p:cNvSpPr>
            <a:spLocks noTextEdit="1"/>
          </p:cNvSpPr>
          <p:nvPr>
            <p:ph type="sldImg"/>
          </p:nvPr>
        </p:nvSpPr>
        <p:spPr>
          <a:xfrm>
            <a:off x="1141413" y="574675"/>
            <a:ext cx="4589462" cy="3441700"/>
          </a:xfr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body"/>
          </p:nvPr>
        </p:nvSpPr>
        <p:spPr>
          <a:xfrm>
            <a:off x="515938" y="4343400"/>
            <a:ext cx="5910262" cy="4114800"/>
          </a:xfrm>
          <a:ln/>
        </p:spPr>
        <p:txBody>
          <a:bodyPr wrap="square" lIns="90048" tIns="44234" rIns="90048" bIns="44234" anchor="t" anchorCtr="0"/>
          <a:p>
            <a:pPr lvl="0"/>
            <a:r>
              <a:rPr lang="en-US" altLang="zh-CN" dirty="0">
                <a:ea typeface="宋体" panose="02010600030101010101" pitchFamily="2" charset="-122"/>
              </a:rPr>
              <a:t>Besides detecting overflow, our ALU also needs to indicate if the result is zero.</a:t>
            </a:r>
            <a:endParaRPr lang="en-US" altLang="zh-CN" dirty="0">
              <a:ea typeface="宋体" panose="02010600030101010101" pitchFamily="2" charset="-122"/>
            </a:endParaRPr>
          </a:p>
          <a:p>
            <a:pPr lvl="0"/>
            <a:r>
              <a:rPr lang="en-US" altLang="zh-CN" dirty="0">
                <a:ea typeface="宋体" panose="02010600030101010101" pitchFamily="2" charset="-122"/>
              </a:rPr>
              <a:t>This is easy to do.  All we need is a BIG NOR gate.</a:t>
            </a:r>
            <a:endParaRPr lang="en-US" altLang="zh-CN" dirty="0">
              <a:ea typeface="宋体" panose="02010600030101010101" pitchFamily="2" charset="-122"/>
            </a:endParaRPr>
          </a:p>
          <a:p>
            <a:pPr lvl="0"/>
            <a:r>
              <a:rPr lang="en-US" altLang="zh-CN" dirty="0">
                <a:ea typeface="宋体" panose="02010600030101010101" pitchFamily="2" charset="-122"/>
              </a:rPr>
              <a:t>Then if any of the Result bit is not zero, then the output of the NOR gate will be low.</a:t>
            </a:r>
            <a:endParaRPr lang="en-US" altLang="zh-CN" dirty="0">
              <a:ea typeface="宋体" panose="02010600030101010101" pitchFamily="2" charset="-122"/>
            </a:endParaRPr>
          </a:p>
          <a:p>
            <a:pPr lvl="0"/>
            <a:r>
              <a:rPr lang="en-US" altLang="zh-CN" dirty="0">
                <a:ea typeface="宋体" panose="02010600030101010101" pitchFamily="2" charset="-122"/>
              </a:rPr>
              <a:t>The only time the output of the NOR gate is high is when all the result bits are zeroes.</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+1 = 43 min. (Y:23)</a:t>
            </a:r>
            <a:endParaRPr lang="en-US" altLang="zh-CN" dirty="0">
              <a:ea typeface="宋体" panose="02010600030101010101" pitchFamily="2" charset="-122"/>
            </a:endParaRPr>
          </a:p>
          <a:p>
            <a:pPr lvl="0"/>
            <a:endParaRPr lang="en-US" altLang="zh-CN" b="1" dirty="0">
              <a:ea typeface="宋体" panose="02010600030101010101" pitchFamily="2" charset="-122"/>
            </a:endParaRPr>
          </a:p>
          <a:p>
            <a:pPr lvl="0"/>
            <a:r>
              <a:rPr lang="en-US" altLang="zh-CN" b="1" dirty="0">
                <a:ea typeface="宋体" panose="02010600030101010101" pitchFamily="2" charset="-122"/>
              </a:rPr>
              <a:t>Supplement: </a:t>
            </a:r>
            <a:r>
              <a:rPr lang="en-US" altLang="zh-CN" dirty="0">
                <a:ea typeface="宋体" panose="02010600030101010101" pitchFamily="2" charset="-122"/>
              </a:rPr>
              <a:t>why do we need to check if the result is zero? For instructions such as bne, beq, slt, …</a:t>
            </a:r>
            <a:endParaRPr lang="en-US" altLang="zh-CN" dirty="0">
              <a:ea typeface="宋体" panose="02010600030101010101" pitchFamily="2" charset="-122"/>
            </a:endParaRPr>
          </a:p>
        </p:txBody>
      </p:sp>
      <p:sp>
        <p:nvSpPr>
          <p:cNvPr id="32770" name="Rectangle 3"/>
          <p:cNvSpPr>
            <a:spLocks noTextEdit="1"/>
          </p:cNvSpPr>
          <p:nvPr>
            <p:ph type="sldImg"/>
          </p:nvPr>
        </p:nvSpPr>
        <p:spPr>
          <a:xfrm>
            <a:off x="1141413" y="574675"/>
            <a:ext cx="4589462" cy="3441700"/>
          </a:xfr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body"/>
          </p:nvPr>
        </p:nvSpPr>
        <p:spPr>
          <a:ln/>
        </p:spPr>
        <p:txBody>
          <a:bodyPr wrap="square" lIns="95058" tIns="46695" rIns="95058" bIns="46695" anchor="t" anchorCtr="0"/>
          <a:p>
            <a:pPr lvl="0"/>
            <a:r>
              <a:rPr lang="en-US" altLang="zh-CN" dirty="0">
                <a:ea typeface="宋体" panose="02010600030101010101" pitchFamily="2" charset="-122"/>
              </a:rPr>
              <a:t>Now that I have shown you how to build a 1-bit full adder, we have all the major components needed for this 1-bit ALU.</a:t>
            </a:r>
            <a:endParaRPr lang="en-US" altLang="zh-CN" dirty="0">
              <a:ea typeface="宋体" panose="02010600030101010101" pitchFamily="2" charset="-122"/>
            </a:endParaRPr>
          </a:p>
          <a:p>
            <a:pPr lvl="0"/>
            <a:r>
              <a:rPr lang="en-US" altLang="zh-CN" dirty="0">
                <a:ea typeface="宋体" panose="02010600030101010101" pitchFamily="2" charset="-122"/>
              </a:rPr>
              <a:t>In order to build a 4-bit ALU, we simply connect four 1-bit ALUs in series to feed the CarryOut of one ALU to the CarryIn of the next ALU.</a:t>
            </a:r>
            <a:endParaRPr lang="en-US" altLang="zh-CN" dirty="0">
              <a:ea typeface="宋体" panose="02010600030101010101" pitchFamily="2" charset="-122"/>
            </a:endParaRPr>
          </a:p>
          <a:p>
            <a:pPr lvl="0"/>
            <a:r>
              <a:rPr lang="en-US" altLang="zh-CN" dirty="0">
                <a:ea typeface="宋体" panose="02010600030101010101" pitchFamily="2" charset="-122"/>
              </a:rPr>
              <a:t>Even though I called this an ALU, I actually lied a little.  There is something missing about this ALU.  This  ALU can NOT perform the subtract operation.</a:t>
            </a:r>
            <a:endParaRPr lang="en-US" altLang="zh-CN" dirty="0">
              <a:ea typeface="宋体" panose="02010600030101010101" pitchFamily="2" charset="-122"/>
            </a:endParaRPr>
          </a:p>
          <a:p>
            <a:pPr lvl="0"/>
            <a:r>
              <a:rPr lang="en-US" altLang="zh-CN" dirty="0">
                <a:ea typeface="宋体" panose="02010600030101010101" pitchFamily="2" charset="-122"/>
              </a:rPr>
              <a:t>Let’s see how can we fix this problem.</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2 min = 35 min. (Y:15)</a:t>
            </a:r>
            <a:endParaRPr lang="en-US" altLang="zh-CN" dirty="0">
              <a:ea typeface="宋体" panose="02010600030101010101" pitchFamily="2" charset="-122"/>
            </a:endParaRPr>
          </a:p>
        </p:txBody>
      </p:sp>
      <p:sp>
        <p:nvSpPr>
          <p:cNvPr id="34818" name="Rectangle 3"/>
          <p:cNvSpPr>
            <a:spLocks noTextEdit="1"/>
          </p:cNvSpPr>
          <p:nvPr>
            <p:ph type="sldImg"/>
          </p:nvPr>
        </p:nvSpPr>
        <p:spPr>
          <a:xfrm>
            <a:off x="1254125" y="603250"/>
            <a:ext cx="4810125" cy="3608388"/>
          </a:xfr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幻灯片图像占位符 1"/>
          <p:cNvSpPr>
            <a:spLocks noGrp="1" noRot="1" noChangeAspect="1" noTextEdit="1"/>
          </p:cNvSpPr>
          <p:nvPr>
            <p:ph type="sldImg"/>
          </p:nvPr>
        </p:nvSpPr>
        <p:spPr>
          <a:xfrm>
            <a:off x="1254125" y="603250"/>
            <a:ext cx="4810125" cy="3608388"/>
          </a:xfrm>
          <a:ln/>
        </p:spPr>
      </p:sp>
      <p:sp>
        <p:nvSpPr>
          <p:cNvPr id="36866" name="备注占位符 2"/>
          <p:cNvSpPr>
            <a:spLocks noGrp="1"/>
          </p:cNvSpPr>
          <p:nvPr>
            <p:ph type="body"/>
          </p:nvPr>
        </p:nvSpPr>
        <p:spPr>
          <a:ln/>
        </p:spPr>
        <p:txBody>
          <a:bodyPr wrap="square" lIns="95058" tIns="46695" rIns="95058" bIns="46695" anchor="t" anchorCtr="0"/>
          <a:p>
            <a:pPr lvl="0"/>
            <a:r>
              <a:rPr lang="zh-CN" altLang="en-US" dirty="0">
                <a:ea typeface="宋体" panose="02010600030101010101" pitchFamily="2" charset="-122"/>
              </a:rPr>
              <a:t>该</a:t>
            </a:r>
            <a:r>
              <a:rPr lang="en-US" altLang="zh-CN" dirty="0">
                <a:ea typeface="宋体" panose="02010600030101010101" pitchFamily="2" charset="-122"/>
              </a:rPr>
              <a:t>ALU</a:t>
            </a:r>
            <a:r>
              <a:rPr lang="zh-CN" altLang="en-US" dirty="0">
                <a:ea typeface="宋体" panose="02010600030101010101" pitchFamily="2" charset="-122"/>
              </a:rPr>
              <a:t>是定点整数运算器！</a:t>
            </a:r>
            <a:endParaRPr lang="en-US" altLang="zh-CN" dirty="0">
              <a:ea typeface="宋体" panose="02010600030101010101" pitchFamily="2" charset="-122"/>
            </a:endParaRPr>
          </a:p>
          <a:p>
            <a:pPr lvl="0"/>
            <a:r>
              <a:rPr lang="zh-CN" altLang="en-US" dirty="0">
                <a:ea typeface="宋体" panose="02010600030101010101" pitchFamily="2" charset="-122"/>
              </a:rPr>
              <a:t>算术运算：无符号加、无符号减、带符号数加、带符号数减（原码加</a:t>
            </a:r>
            <a:r>
              <a:rPr lang="en-US" altLang="zh-CN" dirty="0">
                <a:ea typeface="宋体" panose="02010600030101010101" pitchFamily="2" charset="-122"/>
              </a:rPr>
              <a:t>/</a:t>
            </a:r>
            <a:r>
              <a:rPr lang="zh-CN" altLang="en-US" dirty="0">
                <a:ea typeface="宋体" panose="02010600030101010101" pitchFamily="2" charset="-122"/>
              </a:rPr>
              <a:t>减和移码加减运算电路在浮点运算器中）</a:t>
            </a:r>
            <a:endParaRPr lang="en-US" altLang="zh-CN" dirty="0">
              <a:ea typeface="宋体" panose="02010600030101010101" pitchFamily="2" charset="-122"/>
            </a:endParaRPr>
          </a:p>
          <a:p>
            <a:pPr lvl="0"/>
            <a:r>
              <a:rPr lang="zh-CN" altLang="en-US" dirty="0">
                <a:ea typeface="宋体" panose="02010600030101010101" pitchFamily="2" charset="-122"/>
              </a:rPr>
              <a:t>按位运算：或</a:t>
            </a:r>
            <a:endParaRPr lang="en-US" altLang="zh-CN" dirty="0">
              <a:ea typeface="宋体" panose="02010600030101010101" pitchFamily="2" charset="-122"/>
            </a:endParaRPr>
          </a:p>
          <a:p>
            <a:pPr lvl="0"/>
            <a:r>
              <a:rPr lang="zh-CN" altLang="en-US" dirty="0">
                <a:ea typeface="宋体" panose="02010600030101010101" pitchFamily="2" charset="-122"/>
              </a:rPr>
              <a:t>比较运算：小于置</a:t>
            </a:r>
            <a:r>
              <a:rPr lang="en-US" altLang="zh-CN" dirty="0">
                <a:ea typeface="宋体" panose="02010600030101010101" pitchFamily="2" charset="-122"/>
              </a:rPr>
              <a:t>1</a:t>
            </a:r>
            <a:endParaRPr lang="en-US" altLang="zh-CN" dirty="0">
              <a:ea typeface="宋体" panose="02010600030101010101" pitchFamily="2" charset="-122"/>
            </a:endParaRPr>
          </a:p>
          <a:p>
            <a:pPr lvl="0"/>
            <a:r>
              <a:rPr lang="zh-CN" altLang="en-US" dirty="0">
                <a:ea typeface="宋体" panose="02010600030101010101" pitchFamily="2" charset="-122"/>
              </a:rPr>
              <a:t>标志：</a:t>
            </a:r>
            <a:r>
              <a:rPr lang="en-US" altLang="zh-CN" dirty="0">
                <a:ea typeface="宋体" panose="02010600030101010101" pitchFamily="2" charset="-122"/>
              </a:rPr>
              <a:t>ZF</a:t>
            </a:r>
            <a:r>
              <a:rPr lang="zh-CN" altLang="en-US" dirty="0">
                <a:ea typeface="宋体" panose="02010600030101010101" pitchFamily="2" charset="-122"/>
              </a:rPr>
              <a:t>和</a:t>
            </a:r>
            <a:r>
              <a:rPr lang="en-US" altLang="zh-CN" dirty="0">
                <a:ea typeface="宋体" panose="02010600030101010101" pitchFamily="2" charset="-122"/>
              </a:rPr>
              <a:t>OF</a:t>
            </a:r>
            <a:endParaRPr lang="en-US" altLang="zh-CN" dirty="0">
              <a:ea typeface="宋体" panose="02010600030101010101" pitchFamily="2" charset="-122"/>
            </a:endParaRPr>
          </a:p>
          <a:p>
            <a:pPr lvl="0"/>
            <a:r>
              <a:rPr lang="zh-CN" altLang="en-US" dirty="0">
                <a:ea typeface="宋体" panose="02010600030101010101" pitchFamily="2" charset="-122"/>
              </a:rPr>
              <a:t>定点乘除运算是否也能实现？</a:t>
            </a:r>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body"/>
          </p:nvPr>
        </p:nvSpPr>
        <p:spPr>
          <a:xfrm>
            <a:off x="515938" y="4343400"/>
            <a:ext cx="5910262" cy="4114800"/>
          </a:xfrm>
          <a:ln/>
        </p:spPr>
        <p:txBody>
          <a:bodyPr wrap="square" lIns="90048" tIns="44234" rIns="90048" bIns="44234" anchor="t" anchorCtr="0"/>
          <a:p>
            <a:pPr lvl="0"/>
            <a:r>
              <a:rPr lang="en-US" altLang="zh-CN" dirty="0">
                <a:ea typeface="宋体" panose="02010600030101010101" pitchFamily="2" charset="-122"/>
              </a:rPr>
              <a:t>Besides detecting overflow, our ALU also needs to indicate if the result is zero.</a:t>
            </a:r>
            <a:endParaRPr lang="en-US" altLang="zh-CN" dirty="0">
              <a:ea typeface="宋体" panose="02010600030101010101" pitchFamily="2" charset="-122"/>
            </a:endParaRPr>
          </a:p>
          <a:p>
            <a:pPr lvl="0"/>
            <a:r>
              <a:rPr lang="en-US" altLang="zh-CN" dirty="0">
                <a:ea typeface="宋体" panose="02010600030101010101" pitchFamily="2" charset="-122"/>
              </a:rPr>
              <a:t>This is easy to do.  All we need is a BIG NOR gate.</a:t>
            </a:r>
            <a:endParaRPr lang="en-US" altLang="zh-CN" dirty="0">
              <a:ea typeface="宋体" panose="02010600030101010101" pitchFamily="2" charset="-122"/>
            </a:endParaRPr>
          </a:p>
          <a:p>
            <a:pPr lvl="0"/>
            <a:r>
              <a:rPr lang="en-US" altLang="zh-CN" dirty="0">
                <a:ea typeface="宋体" panose="02010600030101010101" pitchFamily="2" charset="-122"/>
              </a:rPr>
              <a:t>Then if any of the Result bit is not zero, then the output of the NOR gate will be low.</a:t>
            </a:r>
            <a:endParaRPr lang="en-US" altLang="zh-CN" dirty="0">
              <a:ea typeface="宋体" panose="02010600030101010101" pitchFamily="2" charset="-122"/>
            </a:endParaRPr>
          </a:p>
          <a:p>
            <a:pPr lvl="0"/>
            <a:r>
              <a:rPr lang="en-US" altLang="zh-CN" dirty="0">
                <a:ea typeface="宋体" panose="02010600030101010101" pitchFamily="2" charset="-122"/>
              </a:rPr>
              <a:t>The only time the output of the NOR gate is high is when all the result bits are zeroes.</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+1 = 43 min. (Y:23)</a:t>
            </a:r>
            <a:endParaRPr lang="en-US" altLang="zh-CN" dirty="0">
              <a:ea typeface="宋体" panose="02010600030101010101" pitchFamily="2" charset="-122"/>
            </a:endParaRPr>
          </a:p>
          <a:p>
            <a:pPr lvl="0"/>
            <a:endParaRPr lang="en-US" altLang="zh-CN" b="1" dirty="0">
              <a:ea typeface="宋体" panose="02010600030101010101" pitchFamily="2" charset="-122"/>
            </a:endParaRPr>
          </a:p>
          <a:p>
            <a:pPr lvl="0"/>
            <a:r>
              <a:rPr lang="en-US" altLang="zh-CN" b="1" dirty="0">
                <a:ea typeface="宋体" panose="02010600030101010101" pitchFamily="2" charset="-122"/>
              </a:rPr>
              <a:t>Supplement: </a:t>
            </a:r>
            <a:r>
              <a:rPr lang="en-US" altLang="zh-CN" dirty="0">
                <a:ea typeface="宋体" panose="02010600030101010101" pitchFamily="2" charset="-122"/>
              </a:rPr>
              <a:t>why do we need to check if the result is zero? For instructions such as bne, beq, slt, …</a:t>
            </a:r>
            <a:endParaRPr lang="en-US" altLang="zh-CN" dirty="0">
              <a:ea typeface="宋体" panose="02010600030101010101" pitchFamily="2" charset="-122"/>
            </a:endParaRPr>
          </a:p>
        </p:txBody>
      </p:sp>
      <p:sp>
        <p:nvSpPr>
          <p:cNvPr id="40962" name="Rectangle 3"/>
          <p:cNvSpPr>
            <a:spLocks noTextEdit="1"/>
          </p:cNvSpPr>
          <p:nvPr>
            <p:ph type="sldImg"/>
          </p:nvPr>
        </p:nvSpPr>
        <p:spPr>
          <a:xfrm>
            <a:off x="1141413" y="574675"/>
            <a:ext cx="4589462" cy="3441700"/>
          </a:xfr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body"/>
          </p:nvPr>
        </p:nvSpPr>
        <p:spPr>
          <a:xfrm>
            <a:off x="515938" y="4343400"/>
            <a:ext cx="5910262" cy="4114800"/>
          </a:xfrm>
          <a:ln/>
        </p:spPr>
        <p:txBody>
          <a:bodyPr wrap="square" lIns="85465" tIns="41982" rIns="85465" bIns="41982" anchor="t" anchorCtr="0"/>
          <a:p>
            <a:pPr lvl="0"/>
            <a:r>
              <a:rPr lang="en-US" altLang="zh-CN" dirty="0">
                <a:ea typeface="宋体" panose="02010600030101010101" pitchFamily="2" charset="-122"/>
              </a:rPr>
              <a:t>The best  thing about 2’s complement representation is that your adder does not have to know about negative number.</a:t>
            </a:r>
            <a:endParaRPr lang="en-US" altLang="zh-CN" dirty="0">
              <a:ea typeface="宋体" panose="02010600030101010101" pitchFamily="2" charset="-122"/>
            </a:endParaRPr>
          </a:p>
          <a:p>
            <a:pPr lvl="0"/>
            <a:r>
              <a:rPr lang="en-US" altLang="zh-CN" dirty="0">
                <a:ea typeface="宋体" panose="02010600030101010101" pitchFamily="2" charset="-122"/>
              </a:rPr>
              <a:t>You just add the two numbers together and the result will take care of itself.</a:t>
            </a:r>
            <a:endParaRPr lang="en-US" altLang="zh-CN" dirty="0">
              <a:ea typeface="宋体" panose="02010600030101010101" pitchFamily="2" charset="-122"/>
            </a:endParaRPr>
          </a:p>
          <a:p>
            <a:pPr lvl="0"/>
            <a:r>
              <a:rPr lang="en-US" altLang="zh-CN" dirty="0">
                <a:ea typeface="宋体" panose="02010600030101010101" pitchFamily="2" charset="-122"/>
              </a:rPr>
              <a:t>For example, for the operation 7 minus 6, we simply add negative 6 to positive 7 and ignore the Carry bit coming out of the most significant bit, you will have 0001, the correct result.</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+1 = 24 min. (Y:04)</a:t>
            </a:r>
            <a:endParaRPr lang="en-US" altLang="zh-CN" dirty="0">
              <a:ea typeface="宋体" panose="02010600030101010101" pitchFamily="2" charset="-122"/>
            </a:endParaRPr>
          </a:p>
        </p:txBody>
      </p:sp>
      <p:sp>
        <p:nvSpPr>
          <p:cNvPr id="43010" name="Rectangle 3"/>
          <p:cNvSpPr>
            <a:spLocks noTextEdit="1"/>
          </p:cNvSpPr>
          <p:nvPr>
            <p:ph type="sldImg"/>
          </p:nvPr>
        </p:nvSpPr>
        <p:spPr>
          <a:xfrm>
            <a:off x="1143000" y="574675"/>
            <a:ext cx="4589463" cy="3441700"/>
          </a:xfr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Rot="1" noTextEdit="1"/>
          </p:cNvSpPr>
          <p:nvPr>
            <p:ph type="sldImg"/>
          </p:nvPr>
        </p:nvSpPr>
        <p:spPr>
          <a:xfrm>
            <a:off x="1254125" y="603250"/>
            <a:ext cx="4810125" cy="3608388"/>
          </a:xfrm>
          <a:ln/>
        </p:spPr>
      </p:sp>
      <p:sp>
        <p:nvSpPr>
          <p:cNvPr id="45058" name="Rectangle 3"/>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Rot="1" noTextEdit="1"/>
          </p:cNvSpPr>
          <p:nvPr>
            <p:ph type="sldImg"/>
          </p:nvPr>
        </p:nvSpPr>
        <p:spPr>
          <a:xfrm>
            <a:off x="1254125" y="603250"/>
            <a:ext cx="4810125" cy="3608388"/>
          </a:xfrm>
          <a:ln/>
        </p:spPr>
      </p:sp>
      <p:sp>
        <p:nvSpPr>
          <p:cNvPr id="47106" name="Rectangle 3"/>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TextEdit="1"/>
          </p:cNvSpPr>
          <p:nvPr>
            <p:ph type="sldImg"/>
          </p:nvPr>
        </p:nvSpPr>
        <p:spPr>
          <a:xfrm>
            <a:off x="1254125" y="603250"/>
            <a:ext cx="4811713" cy="3608388"/>
          </a:xfrm>
          <a:solidFill>
            <a:srgbClr val="FFFFFF"/>
          </a:solidFill>
          <a:ln>
            <a:solidFill>
              <a:srgbClr val="000000"/>
            </a:solidFill>
            <a:miter/>
          </a:ln>
        </p:spPr>
      </p:sp>
      <p:sp>
        <p:nvSpPr>
          <p:cNvPr id="53250" name="Rectangle 3"/>
          <p:cNvSpPr/>
          <p:nvPr>
            <p:ph type="body"/>
          </p:nvPr>
        </p:nvSpPr>
        <p:spPr>
          <a:solidFill>
            <a:srgbClr val="FFFFFF"/>
          </a:solidFill>
          <a:ln>
            <a:solidFill>
              <a:srgbClr val="000000"/>
            </a:solidFill>
            <a:miter/>
          </a:ln>
        </p:spPr>
        <p:txBody>
          <a:bodyPr wrap="square" lIns="95058" tIns="46695" rIns="95058" bIns="46695" anchor="t" anchorCtr="0"/>
          <a:p>
            <a:pPr lvl="0"/>
            <a:r>
              <a:rPr lang="en-US" altLang="zh-CN" dirty="0">
                <a:ea typeface="宋体" panose="02010600030101010101" pitchFamily="2" charset="-122"/>
              </a:rPr>
              <a:t>We begin with the basics of multiplication.</a:t>
            </a:r>
            <a:endParaRPr lang="en-US" altLang="zh-CN" dirty="0">
              <a:ea typeface="宋体" panose="02010600030101010101" pitchFamily="2" charset="-122"/>
            </a:endParaRPr>
          </a:p>
          <a:p>
            <a:pPr lvl="0"/>
            <a:r>
              <a:rPr lang="en-US" altLang="zh-CN" dirty="0">
                <a:ea typeface="宋体" panose="02010600030101010101" pitchFamily="2" charset="-122"/>
              </a:rPr>
              <a:t>We then follow 3 generations of multiply hardware and algorithm which help us gain a better understanding of multiplication.</a:t>
            </a:r>
            <a:endParaRPr lang="en-US" altLang="zh-CN" dirty="0">
              <a:ea typeface="宋体" panose="02010600030101010101" pitchFamily="2" charset="-122"/>
            </a:endParaRPr>
          </a:p>
          <a:p>
            <a:pPr lvl="0"/>
            <a:endParaRPr lang="en-US" altLang="zh-CN"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TextEdit="1"/>
          </p:cNvSpPr>
          <p:nvPr>
            <p:ph type="sldImg"/>
          </p:nvPr>
        </p:nvSpPr>
        <p:spPr>
          <a:xfrm>
            <a:off x="1254125" y="603250"/>
            <a:ext cx="4811713" cy="3608388"/>
          </a:xfrm>
          <a:ln/>
        </p:spPr>
      </p:sp>
      <p:sp>
        <p:nvSpPr>
          <p:cNvPr id="55298" name="Rectangle 3"/>
          <p:cNvSpPr>
            <a:spLocks noGrp="1"/>
          </p:cNvSpPr>
          <p:nvPr>
            <p:ph type="body"/>
          </p:nvPr>
        </p:nvSpPr>
        <p:spPr>
          <a:ln/>
        </p:spPr>
        <p:txBody>
          <a:bodyPr wrap="square" lIns="95058" tIns="46695" rIns="95058" bIns="46695" anchor="t" anchorCtr="0"/>
          <a:p>
            <a:pPr lvl="0"/>
            <a:r>
              <a:rPr lang="en-US" altLang="zh-CN" dirty="0">
                <a:ea typeface="宋体" panose="02010600030101010101" pitchFamily="2" charset="-122"/>
              </a:rPr>
              <a:t>We begin with the basics of multiplication.</a:t>
            </a:r>
            <a:endParaRPr lang="en-US" altLang="zh-CN" dirty="0">
              <a:ea typeface="宋体" panose="02010600030101010101" pitchFamily="2" charset="-122"/>
            </a:endParaRPr>
          </a:p>
          <a:p>
            <a:pPr lvl="0"/>
            <a:r>
              <a:rPr lang="en-US" altLang="zh-CN" dirty="0">
                <a:ea typeface="宋体" panose="02010600030101010101" pitchFamily="2" charset="-122"/>
              </a:rPr>
              <a:t>We then follow 3 generations of multiply hardware and algorithm which help us gain a better understanding of multiplication.</a:t>
            </a:r>
            <a:endParaRPr lang="en-US" altLang="zh-CN" dirty="0">
              <a:ea typeface="宋体" panose="02010600030101010101" pitchFamily="2" charset="-122"/>
            </a:endParaRPr>
          </a:p>
          <a:p>
            <a:pPr lvl="0"/>
            <a:endParaRPr lang="en-US" altLang="zh-CN"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
          <p:cNvSpPr>
            <a:spLocks noTextEdit="1"/>
          </p:cNvSpPr>
          <p:nvPr>
            <p:ph type="sldImg"/>
          </p:nvPr>
        </p:nvSpPr>
        <p:spPr>
          <a:xfrm>
            <a:off x="1254125" y="719138"/>
            <a:ext cx="4794250" cy="3595687"/>
          </a:xfrm>
          <a:ln/>
        </p:spPr>
      </p:sp>
      <p:sp>
        <p:nvSpPr>
          <p:cNvPr id="63490" name="Rectangle 3"/>
          <p:cNvSpPr>
            <a:spLocks noGrp="1"/>
          </p:cNvSpPr>
          <p:nvPr>
            <p:ph type="body"/>
          </p:nvPr>
        </p:nvSpPr>
        <p:spPr>
          <a:xfrm>
            <a:off x="973138" y="4554538"/>
            <a:ext cx="5356225" cy="4314825"/>
          </a:xfrm>
          <a:ln/>
        </p:spPr>
        <p:txBody>
          <a:bodyPr wrap="square" lIns="95058" tIns="46695" rIns="95058" bIns="46695" anchor="t" anchorCtr="0"/>
          <a:p>
            <a:pPr lvl="0"/>
            <a:r>
              <a:rPr lang="zh-CN" altLang="en-US" dirty="0">
                <a:ea typeface="宋体" panose="02010600030101010101" pitchFamily="2" charset="-122"/>
              </a:rPr>
              <a:t>由补码计算其真值的方法</a:t>
            </a:r>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TextEdit="1"/>
          </p:cNvSpPr>
          <p:nvPr>
            <p:ph type="sldImg"/>
          </p:nvPr>
        </p:nvSpPr>
        <p:spPr>
          <a:xfrm>
            <a:off x="1254125" y="603250"/>
            <a:ext cx="4811713" cy="3608388"/>
          </a:xfrm>
          <a:solidFill>
            <a:srgbClr val="FFFFFF"/>
          </a:solidFill>
          <a:ln>
            <a:solidFill>
              <a:srgbClr val="000000"/>
            </a:solidFill>
            <a:miter/>
          </a:ln>
        </p:spPr>
      </p:sp>
      <p:sp>
        <p:nvSpPr>
          <p:cNvPr id="65538" name="Rectangle 3"/>
          <p:cNvSpPr/>
          <p:nvPr>
            <p:ph type="body"/>
          </p:nvPr>
        </p:nvSpPr>
        <p:spPr>
          <a:solidFill>
            <a:srgbClr val="FFFFFF"/>
          </a:solidFill>
          <a:ln>
            <a:solidFill>
              <a:srgbClr val="000000"/>
            </a:solidFill>
            <a:miter/>
          </a:ln>
        </p:spPr>
        <p:txBody>
          <a:bodyPr wrap="square" lIns="95058" tIns="46695" rIns="95058" bIns="46695" anchor="t" anchorCtr="0"/>
          <a:p>
            <a:pPr lvl="0"/>
            <a:r>
              <a:rPr lang="en-US" altLang="zh-CN" dirty="0">
                <a:ea typeface="宋体" panose="02010600030101010101" pitchFamily="2" charset="-122"/>
              </a:rPr>
              <a:t>A run of = a string of = a distance of = a segment of </a:t>
            </a:r>
            <a:endParaRPr lang="en-US" altLang="zh-CN"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幻灯片图像占位符 1"/>
          <p:cNvSpPr>
            <a:spLocks noGrp="1" noRot="1" noChangeAspect="1" noTextEdit="1"/>
          </p:cNvSpPr>
          <p:nvPr>
            <p:ph type="sldImg"/>
          </p:nvPr>
        </p:nvSpPr>
        <p:spPr>
          <a:xfrm>
            <a:off x="1254125" y="603250"/>
            <a:ext cx="4810125" cy="3608388"/>
          </a:xfrm>
          <a:ln/>
        </p:spPr>
      </p:sp>
      <p:sp>
        <p:nvSpPr>
          <p:cNvPr id="72706" name="备注占位符 2"/>
          <p:cNvSpPr>
            <a:spLocks noGrp="1"/>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a:spLocks noRot="1" noTextEdit="1"/>
          </p:cNvSpPr>
          <p:nvPr>
            <p:ph type="sldImg"/>
          </p:nvPr>
        </p:nvSpPr>
        <p:spPr>
          <a:xfrm>
            <a:off x="1254125" y="603250"/>
            <a:ext cx="4810125" cy="3608388"/>
          </a:xfrm>
          <a:ln/>
        </p:spPr>
      </p:sp>
      <p:sp>
        <p:nvSpPr>
          <p:cNvPr id="74754" name="Rectangle 3"/>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Rot="1" noTextEdit="1"/>
          </p:cNvSpPr>
          <p:nvPr>
            <p:ph type="sldImg"/>
          </p:nvPr>
        </p:nvSpPr>
        <p:spPr>
          <a:xfrm>
            <a:off x="1254125" y="603250"/>
            <a:ext cx="4810125" cy="3608388"/>
          </a:xfrm>
          <a:ln/>
        </p:spPr>
      </p:sp>
      <p:sp>
        <p:nvSpPr>
          <p:cNvPr id="76802" name="Rectangle 3"/>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a:spLocks noRot="1" noTextEdit="1"/>
          </p:cNvSpPr>
          <p:nvPr>
            <p:ph type="sldImg"/>
          </p:nvPr>
        </p:nvSpPr>
        <p:spPr>
          <a:xfrm>
            <a:off x="1254125" y="603250"/>
            <a:ext cx="4810125" cy="3608388"/>
          </a:xfrm>
          <a:ln/>
        </p:spPr>
      </p:sp>
      <p:sp>
        <p:nvSpPr>
          <p:cNvPr id="78850" name="Rectangle 3"/>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Rot="1" noTextEdit="1"/>
          </p:cNvSpPr>
          <p:nvPr>
            <p:ph type="sldImg"/>
          </p:nvPr>
        </p:nvSpPr>
        <p:spPr>
          <a:xfrm>
            <a:off x="1254125" y="603250"/>
            <a:ext cx="4810125" cy="3608388"/>
          </a:xfrm>
          <a:ln/>
        </p:spPr>
      </p:sp>
      <p:sp>
        <p:nvSpPr>
          <p:cNvPr id="80898" name="Rectangle 3"/>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幻灯片图像占位符 1"/>
          <p:cNvSpPr>
            <a:spLocks noGrp="1" noRot="1" noChangeAspect="1" noTextEdit="1"/>
          </p:cNvSpPr>
          <p:nvPr>
            <p:ph type="sldImg"/>
          </p:nvPr>
        </p:nvSpPr>
        <p:spPr>
          <a:xfrm>
            <a:off x="1254125" y="603250"/>
            <a:ext cx="4810125" cy="3608388"/>
          </a:xfrm>
          <a:ln/>
        </p:spPr>
      </p:sp>
      <p:sp>
        <p:nvSpPr>
          <p:cNvPr id="83970" name="备注占位符 2"/>
          <p:cNvSpPr>
            <a:spLocks noGrp="1"/>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TextEdit="1"/>
          </p:cNvSpPr>
          <p:nvPr>
            <p:ph type="sldImg"/>
          </p:nvPr>
        </p:nvSpPr>
        <p:spPr>
          <a:xfrm>
            <a:off x="1254125" y="603250"/>
            <a:ext cx="4811713" cy="3608388"/>
          </a:xfrm>
          <a:solidFill>
            <a:srgbClr val="FFFFFF"/>
          </a:solidFill>
          <a:ln>
            <a:solidFill>
              <a:srgbClr val="000000"/>
            </a:solidFill>
            <a:miter/>
          </a:ln>
        </p:spPr>
      </p:sp>
      <p:sp>
        <p:nvSpPr>
          <p:cNvPr id="91138" name="Rectangle 3"/>
          <p:cNvSpPr/>
          <p:nvPr>
            <p:ph type="body"/>
          </p:nvPr>
        </p:nvSpPr>
        <p:spPr>
          <a:solidFill>
            <a:srgbClr val="FFFFFF"/>
          </a:solidFill>
          <a:ln>
            <a:solidFill>
              <a:srgbClr val="000000"/>
            </a:solidFill>
            <a:miter/>
          </a:ln>
        </p:spPr>
        <p:txBody>
          <a:bodyPr wrap="square" lIns="95058" tIns="46695" rIns="95058" bIns="46695" anchor="t" anchorCtr="0"/>
          <a:p>
            <a:pPr lvl="0"/>
            <a:r>
              <a:rPr lang="zh-CN" altLang="en-US" dirty="0">
                <a:ea typeface="宋体" panose="02010600030101010101" pitchFamily="2" charset="-122"/>
              </a:rPr>
              <a:t>	</a:t>
            </a:r>
            <a:r>
              <a:rPr lang="en-US" altLang="zh-CN" dirty="0">
                <a:ea typeface="宋体" panose="02010600030101010101" pitchFamily="2" charset="-122"/>
              </a:rPr>
              <a:t>D: 0010	R: 0000 0111</a:t>
            </a:r>
            <a:endParaRPr lang="en-US" altLang="zh-CN" dirty="0">
              <a:ea typeface="宋体" panose="02010600030101010101" pitchFamily="2" charset="-122"/>
            </a:endParaRPr>
          </a:p>
          <a:p>
            <a:pPr lvl="0"/>
            <a:r>
              <a:rPr lang="en-US" altLang="zh-CN" dirty="0">
                <a:ea typeface="宋体" panose="02010600030101010101" pitchFamily="2" charset="-122"/>
              </a:rPr>
              <a:t>0: Shl R		D: 0010	R:</a:t>
            </a:r>
            <a:r>
              <a:rPr lang="en-US" altLang="zh-CN" u="sng" dirty="0">
                <a:ea typeface="宋体" panose="02010600030101010101" pitchFamily="2" charset="-122"/>
              </a:rPr>
              <a:t> 0000 1110</a:t>
            </a:r>
            <a:endParaRPr lang="en-US" altLang="zh-CN" dirty="0">
              <a:ea typeface="宋体" panose="02010600030101010101" pitchFamily="2" charset="-122"/>
            </a:endParaRPr>
          </a:p>
          <a:p>
            <a:pPr lvl="0"/>
            <a:r>
              <a:rPr lang="zh-CN" altLang="en-US" dirty="0">
                <a:ea typeface="宋体" panose="02010600030101010101" pitchFamily="2" charset="-122"/>
              </a:rPr>
              <a:t>1: </a:t>
            </a:r>
            <a:r>
              <a:rPr lang="en-US" altLang="zh-CN" dirty="0">
                <a:ea typeface="宋体" panose="02010600030101010101" pitchFamily="2" charset="-122"/>
              </a:rPr>
              <a:t>R = R–D 		D: 0010	R: </a:t>
            </a:r>
            <a:r>
              <a:rPr lang="en-US" altLang="zh-CN" u="sng" dirty="0">
                <a:ea typeface="宋体" panose="02010600030101010101" pitchFamily="2" charset="-122"/>
              </a:rPr>
              <a:t>1110</a:t>
            </a:r>
            <a:r>
              <a:rPr lang="en-US" altLang="zh-CN" dirty="0">
                <a:ea typeface="宋体" panose="02010600030101010101" pitchFamily="2" charset="-122"/>
              </a:rPr>
              <a:t> 1110</a:t>
            </a:r>
            <a:endParaRPr lang="en-US" altLang="zh-CN" dirty="0">
              <a:ea typeface="宋体" panose="02010600030101010101" pitchFamily="2" charset="-122"/>
            </a:endParaRPr>
          </a:p>
          <a:p>
            <a:pPr lvl="0"/>
            <a:r>
              <a:rPr lang="zh-CN" altLang="en-US" dirty="0">
                <a:ea typeface="宋体" panose="02010600030101010101" pitchFamily="2" charset="-122"/>
              </a:rPr>
              <a:t>2</a:t>
            </a:r>
            <a:r>
              <a:rPr lang="en-US" altLang="zh-CN" dirty="0">
                <a:ea typeface="宋体" panose="02010600030101010101" pitchFamily="2" charset="-122"/>
              </a:rPr>
              <a:t>b: +D, sl R, 0 	D: 0010	R:</a:t>
            </a:r>
            <a:r>
              <a:rPr lang="en-US" altLang="zh-CN" u="sng" dirty="0">
                <a:ea typeface="宋体" panose="02010600030101010101" pitchFamily="2" charset="-122"/>
              </a:rPr>
              <a:t> 0001</a:t>
            </a:r>
            <a:r>
              <a:rPr lang="en-US" altLang="zh-CN" dirty="0">
                <a:ea typeface="宋体" panose="02010600030101010101" pitchFamily="2" charset="-122"/>
              </a:rPr>
              <a:t> </a:t>
            </a:r>
            <a:r>
              <a:rPr lang="en-US" altLang="zh-CN" u="sng" dirty="0">
                <a:ea typeface="宋体" panose="02010600030101010101" pitchFamily="2" charset="-122"/>
              </a:rPr>
              <a:t>1100</a:t>
            </a:r>
            <a:endParaRPr lang="en-US" altLang="zh-CN" dirty="0">
              <a:ea typeface="宋体" panose="02010600030101010101" pitchFamily="2" charset="-122"/>
            </a:endParaRPr>
          </a:p>
          <a:p>
            <a:pPr lvl="0"/>
            <a:r>
              <a:rPr lang="zh-CN" altLang="en-US" dirty="0">
                <a:ea typeface="宋体" panose="02010600030101010101" pitchFamily="2" charset="-122"/>
              </a:rPr>
              <a:t>1: </a:t>
            </a:r>
            <a:r>
              <a:rPr lang="en-US" altLang="zh-CN" dirty="0">
                <a:ea typeface="宋体" panose="02010600030101010101" pitchFamily="2" charset="-122"/>
              </a:rPr>
              <a:t>R = R–D 		D: 0010	R: </a:t>
            </a:r>
            <a:r>
              <a:rPr lang="en-US" altLang="zh-CN" u="sng" dirty="0">
                <a:ea typeface="宋体" panose="02010600030101010101" pitchFamily="2" charset="-122"/>
              </a:rPr>
              <a:t>1111</a:t>
            </a:r>
            <a:r>
              <a:rPr lang="en-US" altLang="zh-CN" dirty="0">
                <a:ea typeface="宋体" panose="02010600030101010101" pitchFamily="2" charset="-122"/>
              </a:rPr>
              <a:t> 1100</a:t>
            </a:r>
            <a:endParaRPr lang="en-US" altLang="zh-CN" dirty="0">
              <a:ea typeface="宋体" panose="02010600030101010101" pitchFamily="2" charset="-122"/>
            </a:endParaRPr>
          </a:p>
          <a:p>
            <a:pPr lvl="0"/>
            <a:r>
              <a:rPr lang="zh-CN" altLang="en-US" dirty="0">
                <a:ea typeface="宋体" panose="02010600030101010101" pitchFamily="2" charset="-122"/>
              </a:rPr>
              <a:t>2</a:t>
            </a:r>
            <a:r>
              <a:rPr lang="en-US" altLang="zh-CN" dirty="0">
                <a:ea typeface="宋体" panose="02010600030101010101" pitchFamily="2" charset="-122"/>
              </a:rPr>
              <a:t>b: +D, sl R, 0	D: 0010	R:</a:t>
            </a:r>
            <a:r>
              <a:rPr lang="en-US" altLang="zh-CN" u="sng" dirty="0">
                <a:ea typeface="宋体" panose="02010600030101010101" pitchFamily="2" charset="-122"/>
              </a:rPr>
              <a:t> 0011</a:t>
            </a:r>
            <a:r>
              <a:rPr lang="en-US" altLang="zh-CN" dirty="0">
                <a:ea typeface="宋体" panose="02010600030101010101" pitchFamily="2" charset="-122"/>
              </a:rPr>
              <a:t> </a:t>
            </a:r>
            <a:r>
              <a:rPr lang="en-US" altLang="zh-CN" u="sng" dirty="0">
                <a:ea typeface="宋体" panose="02010600030101010101" pitchFamily="2" charset="-122"/>
              </a:rPr>
              <a:t>1000</a:t>
            </a:r>
            <a:endParaRPr lang="en-US" altLang="zh-CN" dirty="0">
              <a:ea typeface="宋体" panose="02010600030101010101" pitchFamily="2" charset="-122"/>
            </a:endParaRPr>
          </a:p>
          <a:p>
            <a:pPr lvl="0"/>
            <a:r>
              <a:rPr lang="zh-CN" altLang="en-US" dirty="0">
                <a:ea typeface="宋体" panose="02010600030101010101" pitchFamily="2" charset="-122"/>
              </a:rPr>
              <a:t>1: </a:t>
            </a:r>
            <a:r>
              <a:rPr lang="en-US" altLang="zh-CN" dirty="0">
                <a:ea typeface="宋体" panose="02010600030101010101" pitchFamily="2" charset="-122"/>
              </a:rPr>
              <a:t>R = R–D 		D: 0010	R: </a:t>
            </a:r>
            <a:r>
              <a:rPr lang="en-US" altLang="zh-CN" u="sng" dirty="0">
                <a:ea typeface="宋体" panose="02010600030101010101" pitchFamily="2" charset="-122"/>
              </a:rPr>
              <a:t>0001</a:t>
            </a:r>
            <a:r>
              <a:rPr lang="en-US" altLang="zh-CN" dirty="0">
                <a:ea typeface="宋体" panose="02010600030101010101" pitchFamily="2" charset="-122"/>
              </a:rPr>
              <a:t> 1000</a:t>
            </a:r>
            <a:endParaRPr lang="en-US" altLang="zh-CN" dirty="0">
              <a:ea typeface="宋体" panose="02010600030101010101" pitchFamily="2" charset="-122"/>
            </a:endParaRPr>
          </a:p>
          <a:p>
            <a:pPr lvl="0"/>
            <a:r>
              <a:rPr lang="zh-CN" altLang="en-US" dirty="0">
                <a:ea typeface="宋体" panose="02010600030101010101" pitchFamily="2" charset="-122"/>
              </a:rPr>
              <a:t>2</a:t>
            </a:r>
            <a:r>
              <a:rPr lang="en-US" altLang="zh-CN" dirty="0">
                <a:ea typeface="宋体" panose="02010600030101010101" pitchFamily="2" charset="-122"/>
              </a:rPr>
              <a:t>a: sl R, 1	 	D: 0010	R:</a:t>
            </a:r>
            <a:r>
              <a:rPr lang="en-US" altLang="zh-CN" u="sng" dirty="0">
                <a:ea typeface="宋体" panose="02010600030101010101" pitchFamily="2" charset="-122"/>
              </a:rPr>
              <a:t> 0011</a:t>
            </a:r>
            <a:r>
              <a:rPr lang="en-US" altLang="zh-CN" dirty="0">
                <a:ea typeface="宋体" panose="02010600030101010101" pitchFamily="2" charset="-122"/>
              </a:rPr>
              <a:t> </a:t>
            </a:r>
            <a:r>
              <a:rPr lang="en-US" altLang="zh-CN" u="sng" dirty="0">
                <a:ea typeface="宋体" panose="02010600030101010101" pitchFamily="2" charset="-122"/>
              </a:rPr>
              <a:t>0001</a:t>
            </a:r>
            <a:endParaRPr lang="en-US" altLang="zh-CN" dirty="0">
              <a:ea typeface="宋体" panose="02010600030101010101" pitchFamily="2" charset="-122"/>
            </a:endParaRPr>
          </a:p>
          <a:p>
            <a:pPr lvl="0"/>
            <a:r>
              <a:rPr lang="zh-CN" altLang="en-US" dirty="0">
                <a:ea typeface="宋体" panose="02010600030101010101" pitchFamily="2" charset="-122"/>
              </a:rPr>
              <a:t>1: </a:t>
            </a:r>
            <a:r>
              <a:rPr lang="en-US" altLang="zh-CN" dirty="0">
                <a:ea typeface="宋体" panose="02010600030101010101" pitchFamily="2" charset="-122"/>
              </a:rPr>
              <a:t>R = R–D 		D: 0010	R: </a:t>
            </a:r>
            <a:r>
              <a:rPr lang="en-US" altLang="zh-CN" u="sng" dirty="0">
                <a:ea typeface="宋体" panose="02010600030101010101" pitchFamily="2" charset="-122"/>
              </a:rPr>
              <a:t>0001</a:t>
            </a:r>
            <a:r>
              <a:rPr lang="en-US" altLang="zh-CN" dirty="0">
                <a:ea typeface="宋体" panose="02010600030101010101" pitchFamily="2" charset="-122"/>
              </a:rPr>
              <a:t> 0001</a:t>
            </a:r>
            <a:endParaRPr lang="en-US" altLang="zh-CN" dirty="0">
              <a:ea typeface="宋体" panose="02010600030101010101" pitchFamily="2" charset="-122"/>
            </a:endParaRPr>
          </a:p>
          <a:p>
            <a:pPr lvl="0"/>
            <a:r>
              <a:rPr lang="zh-CN" altLang="en-US" dirty="0">
                <a:ea typeface="宋体" panose="02010600030101010101" pitchFamily="2" charset="-122"/>
              </a:rPr>
              <a:t>2</a:t>
            </a:r>
            <a:r>
              <a:rPr lang="en-US" altLang="zh-CN" dirty="0">
                <a:ea typeface="宋体" panose="02010600030101010101" pitchFamily="2" charset="-122"/>
              </a:rPr>
              <a:t>a: sl R, 1	 	D: 0010	R:</a:t>
            </a:r>
            <a:r>
              <a:rPr lang="en-US" altLang="zh-CN" u="sng" dirty="0">
                <a:ea typeface="宋体" panose="02010600030101010101" pitchFamily="2" charset="-122"/>
              </a:rPr>
              <a:t> 0010</a:t>
            </a:r>
            <a:r>
              <a:rPr lang="en-US" altLang="zh-CN" dirty="0">
                <a:ea typeface="宋体" panose="02010600030101010101" pitchFamily="2" charset="-122"/>
              </a:rPr>
              <a:t> </a:t>
            </a:r>
            <a:r>
              <a:rPr lang="en-US" altLang="zh-CN" u="sng" dirty="0">
                <a:ea typeface="宋体" panose="02010600030101010101" pitchFamily="2" charset="-122"/>
              </a:rPr>
              <a:t>0011</a:t>
            </a:r>
            <a:endParaRPr lang="en-US" altLang="zh-CN" dirty="0">
              <a:ea typeface="宋体" panose="02010600030101010101" pitchFamily="2" charset="-122"/>
            </a:endParaRPr>
          </a:p>
          <a:p>
            <a:pPr lvl="0"/>
            <a:r>
              <a:rPr lang="en-US" altLang="zh-CN" dirty="0">
                <a:ea typeface="宋体" panose="02010600030101010101" pitchFamily="2" charset="-122"/>
              </a:rPr>
              <a:t>Shr R(rh)		D: 0010	R:</a:t>
            </a:r>
            <a:r>
              <a:rPr lang="en-US" altLang="zh-CN" u="sng" dirty="0">
                <a:ea typeface="宋体" panose="02010600030101010101" pitchFamily="2" charset="-122"/>
              </a:rPr>
              <a:t> 0001</a:t>
            </a:r>
            <a:r>
              <a:rPr lang="en-US" altLang="zh-CN" dirty="0">
                <a:ea typeface="宋体" panose="02010600030101010101" pitchFamily="2" charset="-122"/>
              </a:rPr>
              <a:t> 0011</a:t>
            </a:r>
            <a:endParaRPr lang="en-US" altLang="zh-CN"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幻灯片图像占位符 1"/>
          <p:cNvSpPr>
            <a:spLocks noGrp="1" noRot="1" noChangeAspect="1" noTextEdit="1"/>
          </p:cNvSpPr>
          <p:nvPr>
            <p:ph type="sldImg"/>
          </p:nvPr>
        </p:nvSpPr>
        <p:spPr>
          <a:xfrm>
            <a:off x="1254125" y="603250"/>
            <a:ext cx="4810125" cy="3608388"/>
          </a:xfrm>
          <a:ln/>
        </p:spPr>
      </p:sp>
      <p:sp>
        <p:nvSpPr>
          <p:cNvPr id="96258" name="备注占位符 2"/>
          <p:cNvSpPr>
            <a:spLocks noGrp="1"/>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幻灯片图像占位符 1"/>
          <p:cNvSpPr>
            <a:spLocks noGrp="1" noRot="1" noChangeAspect="1" noTextEdit="1"/>
          </p:cNvSpPr>
          <p:nvPr>
            <p:ph type="sldImg"/>
          </p:nvPr>
        </p:nvSpPr>
        <p:spPr>
          <a:xfrm>
            <a:off x="1254125" y="603250"/>
            <a:ext cx="4810125" cy="3608388"/>
          </a:xfrm>
          <a:ln/>
        </p:spPr>
      </p:sp>
      <p:sp>
        <p:nvSpPr>
          <p:cNvPr id="98306" name="备注占位符 2"/>
          <p:cNvSpPr>
            <a:spLocks noGrp="1"/>
          </p:cNvSpPr>
          <p:nvPr>
            <p:ph type="body"/>
          </p:nvPr>
        </p:nvSpPr>
        <p:spPr>
          <a:ln/>
        </p:spPr>
        <p:txBody>
          <a:bodyPr wrap="square" lIns="95058" tIns="46695" rIns="95058" bIns="46695" anchor="t" anchorCtr="0"/>
          <a:p>
            <a:pPr lvl="0"/>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a:spLocks noTextEdit="1"/>
          </p:cNvSpPr>
          <p:nvPr>
            <p:ph type="sldImg"/>
          </p:nvPr>
        </p:nvSpPr>
        <p:spPr>
          <a:xfrm>
            <a:off x="1254125" y="603250"/>
            <a:ext cx="4810125" cy="3608388"/>
          </a:xfrm>
          <a:ln/>
        </p:spPr>
      </p:sp>
      <p:sp>
        <p:nvSpPr>
          <p:cNvPr id="110594" name="Rectangle 3"/>
          <p:cNvSpPr>
            <a:spLocks noGrp="1"/>
          </p:cNvSpPr>
          <p:nvPr>
            <p:ph type="body"/>
          </p:nvPr>
        </p:nvSpPr>
        <p:spPr>
          <a:ln/>
        </p:spPr>
        <p:txBody>
          <a:bodyPr wrap="square" lIns="95058" tIns="46695" rIns="95058" bIns="46695" anchor="t" anchorCtr="0"/>
          <a:p>
            <a:pPr lvl="0">
              <a:spcBef>
                <a:spcPct val="10000"/>
              </a:spcBef>
            </a:pPr>
            <a:r>
              <a:rPr lang="zh-CN" altLang="en-US" sz="1000" dirty="0">
                <a:ea typeface="宋体" panose="02010600030101010101" pitchFamily="2" charset="-122"/>
              </a:rPr>
              <a:t>核心是</a:t>
            </a:r>
            <a:r>
              <a:rPr lang="en-US" altLang="zh-CN" sz="1000" dirty="0">
                <a:ea typeface="宋体" panose="02010600030101010101" pitchFamily="2" charset="-122"/>
              </a:rPr>
              <a:t>4</a:t>
            </a:r>
            <a:r>
              <a:rPr lang="zh-CN" altLang="en-US" sz="1000" dirty="0">
                <a:ea typeface="宋体" panose="02010600030101010101" pitchFamily="2" charset="-122"/>
              </a:rPr>
              <a:t>位</a:t>
            </a:r>
            <a:r>
              <a:rPr lang="en-US" altLang="zh-CN" sz="1000" dirty="0">
                <a:ea typeface="宋体" panose="02010600030101010101" pitchFamily="2" charset="-122"/>
              </a:rPr>
              <a:t>ALU(</a:t>
            </a:r>
            <a:r>
              <a:rPr lang="zh-CN" altLang="en-US" sz="1000" dirty="0">
                <a:ea typeface="宋体" panose="02010600030101010101" pitchFamily="2" charset="-122"/>
              </a:rPr>
              <a:t>含移位器</a:t>
            </a:r>
            <a:r>
              <a:rPr lang="en-US" altLang="zh-CN" sz="1000" dirty="0">
                <a:ea typeface="宋体" panose="02010600030101010101" pitchFamily="2" charset="-122"/>
              </a:rPr>
              <a:t>)</a:t>
            </a:r>
            <a:r>
              <a:rPr lang="zh-CN" altLang="en-US" sz="1000" dirty="0">
                <a:ea typeface="宋体" panose="02010600030101010101" pitchFamily="2" charset="-122"/>
              </a:rPr>
              <a:t>，可实现</a:t>
            </a:r>
            <a:r>
              <a:rPr lang="en-US" altLang="zh-CN" sz="1000" dirty="0">
                <a:ea typeface="宋体" panose="02010600030101010101" pitchFamily="2" charset="-122"/>
              </a:rPr>
              <a:t>A+B</a:t>
            </a:r>
            <a:r>
              <a:rPr lang="zh-CN" altLang="en-US" sz="1000" dirty="0">
                <a:ea typeface="宋体" panose="02010600030101010101" pitchFamily="2" charset="-122"/>
              </a:rPr>
              <a:t>、</a:t>
            </a:r>
            <a:r>
              <a:rPr lang="en-US" altLang="zh-CN" sz="1000" dirty="0">
                <a:ea typeface="宋体" panose="02010600030101010101" pitchFamily="2" charset="-122"/>
              </a:rPr>
              <a:t>A</a:t>
            </a:r>
            <a:r>
              <a:rPr lang="pt-BR" altLang="zh-CN" sz="1000" dirty="0">
                <a:ea typeface="宋体" panose="02010600030101010101" pitchFamily="2" charset="-122"/>
              </a:rPr>
              <a:t>–</a:t>
            </a:r>
            <a:r>
              <a:rPr lang="en-US" altLang="zh-CN" sz="1000" dirty="0">
                <a:ea typeface="宋体" panose="02010600030101010101" pitchFamily="2" charset="-122"/>
              </a:rPr>
              <a:t>B</a:t>
            </a:r>
            <a:r>
              <a:rPr lang="zh-CN" altLang="en-US" sz="1000" dirty="0">
                <a:ea typeface="宋体" panose="02010600030101010101" pitchFamily="2" charset="-122"/>
              </a:rPr>
              <a:t>、</a:t>
            </a:r>
            <a:r>
              <a:rPr lang="en-US" altLang="zh-CN" sz="1000" dirty="0">
                <a:ea typeface="宋体" panose="02010600030101010101" pitchFamily="2" charset="-122"/>
              </a:rPr>
              <a:t>B</a:t>
            </a:r>
            <a:r>
              <a:rPr lang="pt-BR" altLang="zh-CN" sz="1000" dirty="0">
                <a:ea typeface="宋体" panose="02010600030101010101" pitchFamily="2" charset="-122"/>
              </a:rPr>
              <a:t>–</a:t>
            </a:r>
            <a:r>
              <a:rPr lang="en-US" altLang="zh-CN" sz="1000" dirty="0">
                <a:ea typeface="宋体" panose="02010600030101010101" pitchFamily="2" charset="-122"/>
              </a:rPr>
              <a:t>A</a:t>
            </a:r>
            <a:r>
              <a:rPr lang="zh-CN" altLang="en-US" sz="1000" dirty="0">
                <a:ea typeface="宋体" panose="02010600030101010101" pitchFamily="2" charset="-122"/>
              </a:rPr>
              <a:t>和“与”、“或”、“异或”等</a:t>
            </a:r>
            <a:endParaRPr lang="zh-CN" altLang="en-US" sz="1000" dirty="0">
              <a:ea typeface="宋体" panose="02010600030101010101" pitchFamily="2" charset="-122"/>
            </a:endParaRPr>
          </a:p>
          <a:p>
            <a:pPr marL="457200" lvl="1" indent="0">
              <a:spcBef>
                <a:spcPct val="10000"/>
              </a:spcBef>
            </a:pPr>
            <a:r>
              <a:rPr lang="zh-CN" altLang="en-US" dirty="0">
                <a:ea typeface="宋体" panose="02010600030101010101" pitchFamily="2" charset="-122"/>
              </a:rPr>
              <a:t>进位输入</a:t>
            </a:r>
            <a:r>
              <a:rPr lang="en-US" altLang="zh-CN" dirty="0">
                <a:ea typeface="宋体" panose="02010600030101010101" pitchFamily="2" charset="-122"/>
              </a:rPr>
              <a:t>C0</a:t>
            </a:r>
            <a:r>
              <a:rPr lang="zh-CN" altLang="en-US" dirty="0">
                <a:ea typeface="宋体" panose="02010600030101010101" pitchFamily="2" charset="-122"/>
              </a:rPr>
              <a:t>、进位输出</a:t>
            </a:r>
            <a:r>
              <a:rPr lang="en-US" altLang="zh-CN" dirty="0">
                <a:ea typeface="宋体" panose="02010600030101010101" pitchFamily="2" charset="-122"/>
              </a:rPr>
              <a:t>Cn+4</a:t>
            </a:r>
            <a:r>
              <a:rPr lang="zh-CN" altLang="en-US" dirty="0">
                <a:ea typeface="宋体" panose="02010600030101010101" pitchFamily="2" charset="-122"/>
              </a:rPr>
              <a:t>、组进位传递</a:t>
            </a:r>
            <a:r>
              <a:rPr lang="en-US" altLang="zh-CN" dirty="0">
                <a:ea typeface="宋体" panose="02010600030101010101" pitchFamily="2" charset="-122"/>
              </a:rPr>
              <a:t>/</a:t>
            </a:r>
            <a:r>
              <a:rPr lang="zh-CN" altLang="en-US" dirty="0">
                <a:ea typeface="宋体" panose="02010600030101010101" pitchFamily="2" charset="-122"/>
              </a:rPr>
              <a:t>溢出</a:t>
            </a:r>
            <a:r>
              <a:rPr lang="en-US" altLang="zh-CN" dirty="0">
                <a:ea typeface="宋体" panose="02010600030101010101" pitchFamily="2" charset="-122"/>
              </a:rPr>
              <a:t>P*/O</a:t>
            </a:r>
            <a:r>
              <a:rPr lang="zh-CN" altLang="en-US" dirty="0">
                <a:ea typeface="宋体" panose="02010600030101010101" pitchFamily="2" charset="-122"/>
              </a:rPr>
              <a:t>、组进位生成</a:t>
            </a:r>
            <a:r>
              <a:rPr lang="en-US" altLang="zh-CN" dirty="0">
                <a:ea typeface="宋体" panose="02010600030101010101" pitchFamily="2" charset="-122"/>
              </a:rPr>
              <a:t>/</a:t>
            </a:r>
            <a:r>
              <a:rPr lang="zh-CN" altLang="en-US" dirty="0">
                <a:ea typeface="宋体" panose="02010600030101010101" pitchFamily="2" charset="-122"/>
              </a:rPr>
              <a:t>符号</a:t>
            </a:r>
            <a:r>
              <a:rPr lang="en-US" altLang="zh-CN" dirty="0">
                <a:ea typeface="宋体" panose="02010600030101010101" pitchFamily="2" charset="-122"/>
              </a:rPr>
              <a:t>G*/N</a:t>
            </a:r>
            <a:endParaRPr lang="en-US" altLang="zh-CN" dirty="0">
              <a:ea typeface="宋体" panose="02010600030101010101" pitchFamily="2" charset="-122"/>
            </a:endParaRPr>
          </a:p>
          <a:p>
            <a:pPr marL="914400" lvl="2" indent="0">
              <a:spcBef>
                <a:spcPct val="10000"/>
              </a:spcBef>
            </a:pPr>
            <a:r>
              <a:rPr lang="zh-CN" altLang="en-US" sz="1400" dirty="0">
                <a:solidFill>
                  <a:srgbClr val="009900"/>
                </a:solidFill>
                <a:ea typeface="宋体" panose="02010600030101010101" pitchFamily="2" charset="-122"/>
              </a:rPr>
              <a:t>串行级联时，</a:t>
            </a:r>
            <a:r>
              <a:rPr lang="en-US" altLang="zh-CN" sz="1400" dirty="0">
                <a:solidFill>
                  <a:srgbClr val="009900"/>
                </a:solidFill>
                <a:ea typeface="宋体" panose="02010600030101010101" pitchFamily="2" charset="-122"/>
              </a:rPr>
              <a:t>C0</a:t>
            </a:r>
            <a:r>
              <a:rPr lang="zh-CN" altLang="en-US" sz="1400" dirty="0">
                <a:solidFill>
                  <a:srgbClr val="009900"/>
                </a:solidFill>
                <a:ea typeface="宋体" panose="02010600030101010101" pitchFamily="2" charset="-122"/>
              </a:rPr>
              <a:t>和</a:t>
            </a:r>
            <a:r>
              <a:rPr lang="en-US" altLang="zh-CN" sz="1400" dirty="0">
                <a:solidFill>
                  <a:srgbClr val="009900"/>
                </a:solidFill>
                <a:ea typeface="宋体" panose="02010600030101010101" pitchFamily="2" charset="-122"/>
              </a:rPr>
              <a:t>Cn+4</a:t>
            </a:r>
            <a:r>
              <a:rPr lang="zh-CN" altLang="en-US" sz="1400" dirty="0">
                <a:solidFill>
                  <a:srgbClr val="009900"/>
                </a:solidFill>
                <a:ea typeface="宋体" panose="02010600030101010101" pitchFamily="2" charset="-122"/>
              </a:rPr>
              <a:t>用来串行进位传递</a:t>
            </a:r>
            <a:endParaRPr lang="zh-CN" altLang="en-US" sz="1400" dirty="0">
              <a:solidFill>
                <a:srgbClr val="009900"/>
              </a:solidFill>
              <a:ea typeface="宋体" panose="02010600030101010101" pitchFamily="2" charset="-122"/>
            </a:endParaRPr>
          </a:p>
          <a:p>
            <a:pPr marL="914400" lvl="2" indent="0">
              <a:spcBef>
                <a:spcPct val="10000"/>
              </a:spcBef>
            </a:pPr>
            <a:r>
              <a:rPr lang="zh-CN" altLang="en-US" sz="1400" dirty="0">
                <a:solidFill>
                  <a:srgbClr val="009900"/>
                </a:solidFill>
                <a:ea typeface="宋体" panose="02010600030101010101" pitchFamily="2" charset="-122"/>
              </a:rPr>
              <a:t>多级级联时，后两个信号用作组进位传递信号</a:t>
            </a:r>
            <a:r>
              <a:rPr lang="en-US" altLang="zh-CN" sz="1400" dirty="0">
                <a:solidFill>
                  <a:srgbClr val="009900"/>
                </a:solidFill>
                <a:ea typeface="宋体" panose="02010600030101010101" pitchFamily="2" charset="-122"/>
              </a:rPr>
              <a:t>P*</a:t>
            </a:r>
            <a:r>
              <a:rPr lang="zh-CN" altLang="en-US" sz="1400" dirty="0">
                <a:solidFill>
                  <a:srgbClr val="009900"/>
                </a:solidFill>
                <a:ea typeface="宋体" panose="02010600030101010101" pitchFamily="2" charset="-122"/>
              </a:rPr>
              <a:t>和组进位生成信号</a:t>
            </a:r>
            <a:r>
              <a:rPr lang="en-US" altLang="zh-CN" sz="1400" dirty="0">
                <a:solidFill>
                  <a:srgbClr val="009900"/>
                </a:solidFill>
                <a:ea typeface="宋体" panose="02010600030101010101" pitchFamily="2" charset="-122"/>
              </a:rPr>
              <a:t>G*</a:t>
            </a:r>
            <a:endParaRPr lang="en-US" altLang="zh-CN" sz="1400" dirty="0">
              <a:solidFill>
                <a:srgbClr val="009900"/>
              </a:solidFill>
              <a:ea typeface="宋体" panose="02010600030101010101" pitchFamily="2" charset="-122"/>
            </a:endParaRPr>
          </a:p>
          <a:p>
            <a:pPr marL="457200" lvl="1" indent="0">
              <a:spcBef>
                <a:spcPct val="10000"/>
              </a:spcBef>
            </a:pPr>
            <a:r>
              <a:rPr lang="en-US" altLang="zh-CN" dirty="0">
                <a:solidFill>
                  <a:schemeClr val="accent2"/>
                </a:solidFill>
                <a:ea typeface="宋体" panose="02010600030101010101" pitchFamily="2" charset="-122"/>
              </a:rPr>
              <a:t>ALU</a:t>
            </a:r>
            <a:r>
              <a:rPr lang="zh-CN" altLang="en-US" dirty="0">
                <a:solidFill>
                  <a:schemeClr val="accent2"/>
                </a:solidFill>
                <a:ea typeface="宋体" panose="02010600030101010101" pitchFamily="2" charset="-122"/>
              </a:rPr>
              <a:t>的操作数来自主存或寄存器，</a:t>
            </a:r>
            <a:r>
              <a:rPr lang="en-US" altLang="zh-CN" dirty="0">
                <a:solidFill>
                  <a:schemeClr val="accent2"/>
                </a:solidFill>
                <a:ea typeface="宋体" panose="02010600030101010101" pitchFamily="2" charset="-122"/>
              </a:rPr>
              <a:t>B</a:t>
            </a:r>
            <a:r>
              <a:rPr lang="zh-CN" altLang="en-US" dirty="0">
                <a:solidFill>
                  <a:schemeClr val="accent2"/>
                </a:solidFill>
                <a:ea typeface="宋体" panose="02010600030101010101" pitchFamily="2" charset="-122"/>
              </a:rPr>
              <a:t>输入端还可以是</a:t>
            </a:r>
            <a:r>
              <a:rPr lang="en-US" altLang="zh-CN" dirty="0">
                <a:solidFill>
                  <a:schemeClr val="accent2"/>
                </a:solidFill>
                <a:ea typeface="宋体" panose="02010600030101010101" pitchFamily="2" charset="-122"/>
              </a:rPr>
              <a:t>Q</a:t>
            </a:r>
            <a:r>
              <a:rPr lang="zh-CN" altLang="en-US" dirty="0">
                <a:solidFill>
                  <a:schemeClr val="accent2"/>
                </a:solidFill>
                <a:ea typeface="宋体" panose="02010600030101010101" pitchFamily="2" charset="-122"/>
              </a:rPr>
              <a:t>寄存器</a:t>
            </a:r>
            <a:endParaRPr lang="zh-CN" altLang="en-US" dirty="0">
              <a:solidFill>
                <a:schemeClr val="accent2"/>
              </a:solidFill>
              <a:ea typeface="宋体" panose="02010600030101010101" pitchFamily="2" charset="-122"/>
            </a:endParaRPr>
          </a:p>
          <a:p>
            <a:pPr lvl="0">
              <a:spcBef>
                <a:spcPct val="10000"/>
              </a:spcBef>
            </a:pPr>
            <a:r>
              <a:rPr lang="en-US" altLang="zh-CN" sz="1000" dirty="0">
                <a:ea typeface="宋体" panose="02010600030101010101" pitchFamily="2" charset="-122"/>
              </a:rPr>
              <a:t>4</a:t>
            </a:r>
            <a:r>
              <a:rPr lang="zh-CN" altLang="en-US" sz="1000" dirty="0">
                <a:ea typeface="宋体" panose="02010600030101010101" pitchFamily="2" charset="-122"/>
              </a:rPr>
              <a:t>位双口</a:t>
            </a:r>
            <a:r>
              <a:rPr lang="en-US" altLang="zh-CN" sz="1000" dirty="0">
                <a:ea typeface="宋体" panose="02010600030101010101" pitchFamily="2" charset="-122"/>
              </a:rPr>
              <a:t>GRS(16</a:t>
            </a:r>
            <a:r>
              <a:rPr lang="zh-CN" altLang="en-US" sz="1000" dirty="0">
                <a:ea typeface="宋体" panose="02010600030101010101" pitchFamily="2" charset="-122"/>
              </a:rPr>
              <a:t>个</a:t>
            </a:r>
            <a:r>
              <a:rPr lang="en-US" altLang="zh-CN" sz="1000" dirty="0">
                <a:ea typeface="宋体" panose="02010600030101010101" pitchFamily="2" charset="-122"/>
              </a:rPr>
              <a:t>)</a:t>
            </a:r>
            <a:r>
              <a:rPr lang="zh-CN" altLang="en-US" sz="1000" dirty="0">
                <a:ea typeface="宋体" panose="02010600030101010101" pitchFamily="2" charset="-122"/>
              </a:rPr>
              <a:t>，一个写入口、两个读口</a:t>
            </a:r>
            <a:r>
              <a:rPr lang="en-US" altLang="zh-CN" sz="1000" dirty="0">
                <a:ea typeface="宋体" panose="02010600030101010101" pitchFamily="2" charset="-122"/>
              </a:rPr>
              <a:t>A</a:t>
            </a:r>
            <a:r>
              <a:rPr lang="zh-CN" altLang="en-US" sz="1000" dirty="0">
                <a:ea typeface="宋体" panose="02010600030101010101" pitchFamily="2" charset="-122"/>
              </a:rPr>
              <a:t>和</a:t>
            </a:r>
            <a:r>
              <a:rPr lang="en-US" altLang="zh-CN" sz="1000" dirty="0">
                <a:ea typeface="宋体" panose="02010600030101010101" pitchFamily="2" charset="-122"/>
              </a:rPr>
              <a:t>B</a:t>
            </a:r>
            <a:endParaRPr lang="en-US" altLang="zh-CN" sz="1000" dirty="0">
              <a:ea typeface="宋体" panose="02010600030101010101" pitchFamily="2" charset="-122"/>
            </a:endParaRPr>
          </a:p>
          <a:p>
            <a:pPr marL="457200" lvl="1" indent="0">
              <a:spcBef>
                <a:spcPct val="10000"/>
              </a:spcBef>
            </a:pPr>
            <a:r>
              <a:rPr lang="en-US" altLang="zh-CN" dirty="0">
                <a:ea typeface="宋体" panose="02010600030101010101" pitchFamily="2" charset="-122"/>
              </a:rPr>
              <a:t>A</a:t>
            </a:r>
            <a:r>
              <a:rPr lang="en-US" altLang="zh-CN" baseline="-25000" dirty="0">
                <a:ea typeface="宋体" panose="02010600030101010101" pitchFamily="2" charset="-122"/>
              </a:rPr>
              <a:t>0</a:t>
            </a:r>
            <a:r>
              <a:rPr lang="en-US" altLang="zh-CN" dirty="0">
                <a:ea typeface="宋体" panose="02010600030101010101" pitchFamily="2" charset="-122"/>
              </a:rPr>
              <a:t>–A</a:t>
            </a:r>
            <a:r>
              <a:rPr lang="en-US" altLang="zh-CN" baseline="-25000" dirty="0">
                <a:ea typeface="宋体" panose="02010600030101010101" pitchFamily="2" charset="-122"/>
              </a:rPr>
              <a:t>3</a:t>
            </a:r>
            <a:r>
              <a:rPr lang="zh-CN" altLang="en-US" dirty="0">
                <a:ea typeface="宋体" panose="02010600030101010101" pitchFamily="2" charset="-122"/>
              </a:rPr>
              <a:t>为读口</a:t>
            </a:r>
            <a:r>
              <a:rPr lang="en-US" altLang="zh-CN" dirty="0">
                <a:ea typeface="宋体" panose="02010600030101010101" pitchFamily="2" charset="-122"/>
              </a:rPr>
              <a:t>A</a:t>
            </a:r>
            <a:r>
              <a:rPr lang="zh-CN" altLang="en-US" dirty="0">
                <a:ea typeface="宋体" panose="02010600030101010101" pitchFamily="2" charset="-122"/>
              </a:rPr>
              <a:t>的编号，</a:t>
            </a:r>
            <a:r>
              <a:rPr lang="en-US" altLang="zh-CN" dirty="0">
                <a:ea typeface="宋体" panose="02010600030101010101" pitchFamily="2" charset="-122"/>
              </a:rPr>
              <a:t>B</a:t>
            </a:r>
            <a:r>
              <a:rPr lang="en-US" altLang="zh-CN" baseline="-25000" dirty="0">
                <a:ea typeface="宋体" panose="02010600030101010101" pitchFamily="2" charset="-122"/>
              </a:rPr>
              <a:t>0</a:t>
            </a:r>
            <a:r>
              <a:rPr lang="en-US" altLang="zh-CN" dirty="0">
                <a:ea typeface="宋体" panose="02010600030101010101" pitchFamily="2" charset="-122"/>
              </a:rPr>
              <a:t>–B</a:t>
            </a:r>
            <a:r>
              <a:rPr lang="en-US" altLang="zh-CN" baseline="-25000" dirty="0">
                <a:ea typeface="宋体" panose="02010600030101010101" pitchFamily="2" charset="-122"/>
              </a:rPr>
              <a:t>3</a:t>
            </a:r>
            <a:r>
              <a:rPr lang="zh-CN" altLang="en-US" dirty="0">
                <a:ea typeface="宋体" panose="02010600030101010101" pitchFamily="2" charset="-122"/>
              </a:rPr>
              <a:t>为写口或读口</a:t>
            </a:r>
            <a:r>
              <a:rPr lang="en-US" altLang="zh-CN" dirty="0">
                <a:ea typeface="宋体" panose="02010600030101010101" pitchFamily="2" charset="-122"/>
              </a:rPr>
              <a:t>B</a:t>
            </a:r>
            <a:r>
              <a:rPr lang="zh-CN" altLang="en-US" dirty="0">
                <a:ea typeface="宋体" panose="02010600030101010101" pitchFamily="2" charset="-122"/>
              </a:rPr>
              <a:t>的编号</a:t>
            </a:r>
            <a:endParaRPr lang="zh-CN" altLang="en-US" dirty="0">
              <a:ea typeface="宋体" panose="02010600030101010101" pitchFamily="2" charset="-122"/>
            </a:endParaRPr>
          </a:p>
          <a:p>
            <a:pPr marL="457200" lvl="1" indent="0">
              <a:spcBef>
                <a:spcPct val="10000"/>
              </a:spcBef>
            </a:pPr>
            <a:r>
              <a:rPr lang="en-US" altLang="zh-CN" dirty="0">
                <a:ea typeface="宋体" panose="02010600030101010101" pitchFamily="2" charset="-122"/>
              </a:rPr>
              <a:t>A</a:t>
            </a:r>
            <a:r>
              <a:rPr lang="zh-CN" altLang="en-US" dirty="0">
                <a:ea typeface="宋体" panose="02010600030101010101" pitchFamily="2" charset="-122"/>
              </a:rPr>
              <a:t>和</a:t>
            </a:r>
            <a:r>
              <a:rPr lang="en-US" altLang="zh-CN" dirty="0">
                <a:ea typeface="宋体" panose="02010600030101010101" pitchFamily="2" charset="-122"/>
              </a:rPr>
              <a:t>B</a:t>
            </a:r>
            <a:r>
              <a:rPr lang="zh-CN" altLang="en-US" dirty="0">
                <a:ea typeface="宋体" panose="02010600030101010101" pitchFamily="2" charset="-122"/>
              </a:rPr>
              <a:t>口可同时读出，分别</a:t>
            </a:r>
            <a:r>
              <a:rPr lang="en-US" altLang="zh-CN" dirty="0">
                <a:ea typeface="宋体" panose="02010600030101010101" pitchFamily="2" charset="-122"/>
              </a:rPr>
              <a:t>LA</a:t>
            </a:r>
            <a:r>
              <a:rPr lang="zh-CN" altLang="en-US" dirty="0">
                <a:ea typeface="宋体" panose="02010600030101010101" pitchFamily="2" charset="-122"/>
              </a:rPr>
              <a:t>和</a:t>
            </a:r>
            <a:r>
              <a:rPr lang="en-US" altLang="zh-CN" dirty="0">
                <a:ea typeface="宋体" panose="02010600030101010101" pitchFamily="2" charset="-122"/>
              </a:rPr>
              <a:t>LB</a:t>
            </a:r>
            <a:r>
              <a:rPr lang="zh-CN" altLang="en-US" dirty="0">
                <a:ea typeface="宋体" panose="02010600030101010101" pitchFamily="2" charset="-122"/>
              </a:rPr>
              <a:t>送到多路选择器</a:t>
            </a:r>
            <a:r>
              <a:rPr lang="en-US" altLang="zh-CN" dirty="0">
                <a:ea typeface="宋体" panose="02010600030101010101" pitchFamily="2" charset="-122"/>
              </a:rPr>
              <a:t>MUX</a:t>
            </a:r>
            <a:r>
              <a:rPr lang="zh-CN" altLang="en-US" dirty="0">
                <a:ea typeface="宋体" panose="02010600030101010101" pitchFamily="2" charset="-122"/>
              </a:rPr>
              <a:t>的输入端</a:t>
            </a:r>
            <a:endParaRPr lang="zh-CN" altLang="en-US" dirty="0">
              <a:ea typeface="宋体" panose="02010600030101010101" pitchFamily="2" charset="-122"/>
            </a:endParaRPr>
          </a:p>
          <a:p>
            <a:pPr lvl="0">
              <a:spcBef>
                <a:spcPct val="10000"/>
              </a:spcBef>
            </a:pPr>
            <a:r>
              <a:rPr lang="zh-CN" altLang="en-US" sz="1000" dirty="0">
                <a:ea typeface="宋体" panose="02010600030101010101" pitchFamily="2" charset="-122"/>
              </a:rPr>
              <a:t>一个</a:t>
            </a:r>
            <a:r>
              <a:rPr lang="en-US" altLang="zh-CN" sz="1000" dirty="0">
                <a:ea typeface="宋体" panose="02010600030101010101" pitchFamily="2" charset="-122"/>
              </a:rPr>
              <a:t>Q</a:t>
            </a:r>
            <a:r>
              <a:rPr lang="zh-CN" altLang="en-US" sz="1000" dirty="0">
                <a:ea typeface="宋体" panose="02010600030101010101" pitchFamily="2" charset="-122"/>
              </a:rPr>
              <a:t>寄存器和</a:t>
            </a:r>
            <a:r>
              <a:rPr lang="en-US" altLang="zh-CN" sz="1000" dirty="0">
                <a:ea typeface="宋体" panose="02010600030101010101" pitchFamily="2" charset="-122"/>
              </a:rPr>
              <a:t>Q</a:t>
            </a:r>
            <a:r>
              <a:rPr lang="zh-CN" altLang="en-US" sz="1000" dirty="0">
                <a:ea typeface="宋体" panose="02010600030101010101" pitchFamily="2" charset="-122"/>
              </a:rPr>
              <a:t>移位寄存器，主要用于实现乘</a:t>
            </a:r>
            <a:r>
              <a:rPr lang="en-US" altLang="zh-CN" sz="1000" dirty="0">
                <a:ea typeface="宋体" panose="02010600030101010101" pitchFamily="2" charset="-122"/>
              </a:rPr>
              <a:t>/</a:t>
            </a:r>
            <a:r>
              <a:rPr lang="zh-CN" altLang="en-US" sz="1000" dirty="0">
                <a:ea typeface="宋体" panose="02010600030101010101" pitchFamily="2" charset="-122"/>
              </a:rPr>
              <a:t>除运算</a:t>
            </a:r>
            <a:endParaRPr lang="zh-CN" altLang="en-US" sz="1000" dirty="0">
              <a:ea typeface="宋体" panose="02010600030101010101" pitchFamily="2" charset="-122"/>
            </a:endParaRPr>
          </a:p>
          <a:p>
            <a:pPr marL="457200" lvl="1" indent="0">
              <a:spcBef>
                <a:spcPct val="10000"/>
              </a:spcBef>
            </a:pPr>
            <a:r>
              <a:rPr lang="zh-CN" altLang="en-US" dirty="0">
                <a:ea typeface="宋体" panose="02010600030101010101" pitchFamily="2" charset="-122"/>
              </a:rPr>
              <a:t>乘法的部分积和除法的中间余数都是双倍字长，需放到两个单倍字长寄存器中，并对其同时串行左移（除法）或右移（乘法）</a:t>
            </a:r>
            <a:endParaRPr lang="zh-CN" altLang="en-US" dirty="0">
              <a:ea typeface="宋体" panose="02010600030101010101" pitchFamily="2" charset="-122"/>
            </a:endParaRPr>
          </a:p>
          <a:p>
            <a:pPr marL="457200" lvl="1" indent="0">
              <a:spcBef>
                <a:spcPct val="10000"/>
              </a:spcBef>
            </a:pPr>
            <a:r>
              <a:rPr lang="en-US" altLang="zh-CN" dirty="0">
                <a:ea typeface="宋体" panose="02010600030101010101" pitchFamily="2" charset="-122"/>
              </a:rPr>
              <a:t>Q</a:t>
            </a:r>
            <a:r>
              <a:rPr lang="zh-CN" altLang="en-US" dirty="0">
                <a:ea typeface="宋体" panose="02010600030101010101" pitchFamily="2" charset="-122"/>
              </a:rPr>
              <a:t>寄存器就是乘数寄存器或商寄存器。因此，也被称为</a:t>
            </a:r>
            <a:r>
              <a:rPr lang="en-US" altLang="zh-CN" dirty="0">
                <a:solidFill>
                  <a:srgbClr val="CC3300"/>
                </a:solidFill>
                <a:ea typeface="宋体" panose="02010600030101010101" pitchFamily="2" charset="-122"/>
              </a:rPr>
              <a:t>Q</a:t>
            </a:r>
            <a:r>
              <a:rPr lang="zh-CN" altLang="en-US" dirty="0">
                <a:solidFill>
                  <a:srgbClr val="CC3300"/>
                </a:solidFill>
                <a:ea typeface="宋体" panose="02010600030101010101" pitchFamily="2" charset="-122"/>
              </a:rPr>
              <a:t>乘商寄存器</a:t>
            </a:r>
            <a:endParaRPr lang="zh-CN" altLang="en-US" dirty="0">
              <a:solidFill>
                <a:srgbClr val="CC3300"/>
              </a:solidFill>
              <a:ea typeface="宋体" panose="02010600030101010101" pitchFamily="2" charset="-122"/>
            </a:endParaRPr>
          </a:p>
          <a:p>
            <a:pPr marL="457200" lvl="1" indent="0">
              <a:spcBef>
                <a:spcPct val="10000"/>
              </a:spcBef>
            </a:pPr>
            <a:r>
              <a:rPr lang="en-US" altLang="zh-CN" dirty="0">
                <a:ea typeface="宋体" panose="02010600030101010101" pitchFamily="2" charset="-122"/>
              </a:rPr>
              <a:t>ALU</a:t>
            </a:r>
            <a:r>
              <a:rPr lang="zh-CN" altLang="en-US" dirty="0">
                <a:ea typeface="宋体" panose="02010600030101010101" pitchFamily="2" charset="-122"/>
              </a:rPr>
              <a:t>移位器和</a:t>
            </a:r>
            <a:r>
              <a:rPr lang="en-US" altLang="zh-CN" dirty="0">
                <a:ea typeface="宋体" panose="02010600030101010101" pitchFamily="2" charset="-122"/>
              </a:rPr>
              <a:t>Q</a:t>
            </a:r>
            <a:r>
              <a:rPr lang="zh-CN" altLang="en-US" dirty="0">
                <a:ea typeface="宋体" panose="02010600030101010101" pitchFamily="2" charset="-122"/>
              </a:rPr>
              <a:t>移位器一起进行左移或右移，移位后，</a:t>
            </a:r>
            <a:r>
              <a:rPr lang="en-US" altLang="zh-CN" dirty="0">
                <a:ea typeface="宋体" panose="02010600030101010101" pitchFamily="2" charset="-122"/>
              </a:rPr>
              <a:t>ALU</a:t>
            </a:r>
            <a:r>
              <a:rPr lang="zh-CN" altLang="en-US" dirty="0">
                <a:ea typeface="宋体" panose="02010600030101010101" pitchFamily="2" charset="-122"/>
              </a:rPr>
              <a:t>移位器内容送</a:t>
            </a:r>
            <a:r>
              <a:rPr lang="en-US" altLang="zh-CN" dirty="0">
                <a:ea typeface="宋体" panose="02010600030101010101" pitchFamily="2" charset="-122"/>
              </a:rPr>
              <a:t>ALU</a:t>
            </a:r>
            <a:r>
              <a:rPr lang="zh-CN" altLang="en-US" dirty="0">
                <a:ea typeface="宋体" panose="02010600030101010101" pitchFamily="2" charset="-122"/>
              </a:rPr>
              <a:t>继续进行下次运算，而</a:t>
            </a:r>
            <a:r>
              <a:rPr lang="en-US" altLang="zh-CN" dirty="0">
                <a:ea typeface="宋体" panose="02010600030101010101" pitchFamily="2" charset="-122"/>
              </a:rPr>
              <a:t>Q</a:t>
            </a:r>
            <a:r>
              <a:rPr lang="zh-CN" altLang="en-US" dirty="0">
                <a:ea typeface="宋体" panose="02010600030101010101" pitchFamily="2" charset="-122"/>
              </a:rPr>
              <a:t>移位器内容送</a:t>
            </a:r>
            <a:r>
              <a:rPr lang="en-US" altLang="zh-CN" dirty="0">
                <a:ea typeface="宋体" panose="02010600030101010101" pitchFamily="2" charset="-122"/>
              </a:rPr>
              <a:t>Q</a:t>
            </a:r>
            <a:r>
              <a:rPr lang="zh-CN" altLang="en-US" dirty="0">
                <a:ea typeface="宋体" panose="02010600030101010101" pitchFamily="2" charset="-122"/>
              </a:rPr>
              <a:t>乘商寄存器。</a:t>
            </a:r>
            <a:endParaRPr lang="zh-CN" altLang="en-US" dirty="0">
              <a:ea typeface="宋体" panose="02010600030101010101" pitchFamily="2" charset="-122"/>
            </a:endParaRPr>
          </a:p>
          <a:p>
            <a:pPr lvl="0">
              <a:spcBef>
                <a:spcPct val="10000"/>
              </a:spcBef>
            </a:pPr>
            <a:r>
              <a:rPr lang="zh-CN" altLang="en-US" sz="1000" dirty="0">
                <a:ea typeface="宋体" panose="02010600030101010101" pitchFamily="2" charset="-122"/>
              </a:rPr>
              <a:t>将</a:t>
            </a:r>
            <a:r>
              <a:rPr lang="en-US" altLang="zh-CN" sz="1000" dirty="0">
                <a:ea typeface="宋体" panose="02010600030101010101" pitchFamily="2" charset="-122"/>
              </a:rPr>
              <a:t>ALU</a:t>
            </a:r>
            <a:r>
              <a:rPr lang="zh-CN" altLang="en-US" sz="1000" dirty="0">
                <a:ea typeface="宋体" panose="02010600030101010101" pitchFamily="2" charset="-122"/>
              </a:rPr>
              <a:t>的结果进行判“</a:t>
            </a:r>
            <a:r>
              <a:rPr lang="en-US" altLang="zh-CN" sz="1000" dirty="0">
                <a:ea typeface="宋体" panose="02010600030101010101" pitchFamily="2" charset="-122"/>
              </a:rPr>
              <a:t>0”</a:t>
            </a:r>
            <a:r>
              <a:rPr lang="zh-CN" altLang="en-US" sz="1000" dirty="0">
                <a:ea typeface="宋体" panose="02010600030101010101" pitchFamily="2" charset="-122"/>
              </a:rPr>
              <a:t>后可通过</a:t>
            </a:r>
            <a:r>
              <a:rPr lang="en-US" altLang="zh-CN" sz="1000" dirty="0">
                <a:ea typeface="宋体" panose="02010600030101010101" pitchFamily="2" charset="-122"/>
              </a:rPr>
              <a:t>Z</a:t>
            </a:r>
            <a:r>
              <a:rPr lang="zh-CN" altLang="en-US" sz="1000" dirty="0">
                <a:ea typeface="宋体" panose="02010600030101010101" pitchFamily="2" charset="-122"/>
              </a:rPr>
              <a:t>输出端将“零”标志信息输出， </a:t>
            </a:r>
            <a:endParaRPr lang="zh-CN" altLang="en-US" sz="1000" dirty="0">
              <a:ea typeface="宋体" panose="02010600030101010101" pitchFamily="2" charset="-122"/>
            </a:endParaRPr>
          </a:p>
          <a:p>
            <a:pPr lvl="0">
              <a:spcBef>
                <a:spcPct val="10000"/>
              </a:spcBef>
            </a:pPr>
            <a:r>
              <a:rPr lang="en-US" altLang="zh-CN" sz="1000" dirty="0">
                <a:ea typeface="宋体" panose="02010600030101010101" pitchFamily="2" charset="-122"/>
              </a:rPr>
              <a:t>ALU</a:t>
            </a:r>
            <a:r>
              <a:rPr lang="zh-CN" altLang="en-US" sz="1000" dirty="0">
                <a:ea typeface="宋体" panose="02010600030101010101" pitchFamily="2" charset="-122"/>
              </a:rPr>
              <a:t>、</a:t>
            </a:r>
            <a:r>
              <a:rPr lang="en-US" altLang="zh-CN" sz="1000" dirty="0">
                <a:ea typeface="宋体" panose="02010600030101010101" pitchFamily="2" charset="-122"/>
              </a:rPr>
              <a:t>MUX</a:t>
            </a:r>
            <a:r>
              <a:rPr lang="zh-CN" altLang="en-US" sz="1000" dirty="0">
                <a:ea typeface="宋体" panose="02010600030101010101" pitchFamily="2" charset="-122"/>
              </a:rPr>
              <a:t>、移位器等的控制信号来自</a:t>
            </a:r>
            <a:r>
              <a:rPr lang="en-US" altLang="zh-CN" sz="1000" dirty="0">
                <a:ea typeface="宋体" panose="02010600030101010101" pitchFamily="2" charset="-122"/>
              </a:rPr>
              <a:t>CCU</a:t>
            </a:r>
            <a:r>
              <a:rPr lang="zh-CN" altLang="en-US" sz="1000" dirty="0">
                <a:ea typeface="宋体" panose="02010600030101010101" pitchFamily="2" charset="-122"/>
              </a:rPr>
              <a:t>，通过对指令操作码</a:t>
            </a:r>
            <a:r>
              <a:rPr lang="en-US" altLang="zh-CN" sz="1000" dirty="0">
                <a:ea typeface="宋体" panose="02010600030101010101" pitchFamily="2" charset="-122"/>
              </a:rPr>
              <a:t>I</a:t>
            </a:r>
            <a:r>
              <a:rPr lang="en-US" altLang="zh-CN" sz="1200" baseline="-25000" dirty="0">
                <a:ea typeface="宋体" panose="02010600030101010101" pitchFamily="2" charset="-122"/>
              </a:rPr>
              <a:t>0</a:t>
            </a:r>
            <a:r>
              <a:rPr lang="en-US" altLang="zh-CN" sz="1000" dirty="0">
                <a:ea typeface="宋体" panose="02010600030101010101" pitchFamily="2" charset="-122"/>
              </a:rPr>
              <a:t>-I</a:t>
            </a:r>
            <a:r>
              <a:rPr lang="en-US" altLang="zh-CN" sz="1200" baseline="-25000" dirty="0">
                <a:ea typeface="宋体" panose="02010600030101010101" pitchFamily="2" charset="-122"/>
              </a:rPr>
              <a:t>8</a:t>
            </a:r>
            <a:r>
              <a:rPr lang="zh-CN" altLang="en-US" sz="1000" dirty="0">
                <a:ea typeface="宋体" panose="02010600030101010101" pitchFamily="2" charset="-122"/>
              </a:rPr>
              <a:t>译码，得到控制信号</a:t>
            </a:r>
            <a:endParaRPr lang="zh-CN" altLang="en-US" sz="1000" dirty="0">
              <a:ea typeface="宋体" panose="02010600030101010101" pitchFamily="2" charset="-122"/>
            </a:endParaRPr>
          </a:p>
          <a:p>
            <a:pPr lvl="0">
              <a:spcBef>
                <a:spcPct val="10000"/>
              </a:spcBef>
            </a:pPr>
            <a:r>
              <a:rPr lang="zh-CN" altLang="en-US" sz="1000" dirty="0">
                <a:solidFill>
                  <a:srgbClr val="CC3300"/>
                </a:solidFill>
                <a:ea typeface="宋体" panose="02010600030101010101" pitchFamily="2" charset="-122"/>
              </a:rPr>
              <a:t>思考题：如何用</a:t>
            </a:r>
            <a:r>
              <a:rPr lang="en-US" altLang="zh-CN" sz="1000" dirty="0">
                <a:solidFill>
                  <a:srgbClr val="CC3300"/>
                </a:solidFill>
                <a:ea typeface="宋体" panose="02010600030101010101" pitchFamily="2" charset="-122"/>
              </a:rPr>
              <a:t>AM2901A</a:t>
            </a:r>
            <a:r>
              <a:rPr lang="zh-CN" altLang="en-US" sz="1000" dirty="0">
                <a:solidFill>
                  <a:srgbClr val="CC3300"/>
                </a:solidFill>
                <a:ea typeface="宋体" panose="02010600030101010101" pitchFamily="2" charset="-122"/>
              </a:rPr>
              <a:t>芯片实现乘</a:t>
            </a:r>
            <a:r>
              <a:rPr lang="en-US" altLang="zh-CN" sz="1000" dirty="0">
                <a:solidFill>
                  <a:srgbClr val="CC3300"/>
                </a:solidFill>
                <a:ea typeface="宋体" panose="02010600030101010101" pitchFamily="2" charset="-122"/>
              </a:rPr>
              <a:t>/</a:t>
            </a:r>
            <a:r>
              <a:rPr lang="zh-CN" altLang="en-US" sz="1000" dirty="0">
                <a:solidFill>
                  <a:srgbClr val="CC3300"/>
                </a:solidFill>
                <a:ea typeface="宋体" panose="02010600030101010101" pitchFamily="2" charset="-122"/>
              </a:rPr>
              <a:t>除运算？</a:t>
            </a:r>
            <a:r>
              <a:rPr lang="zh-CN" altLang="en-US" sz="1000" dirty="0">
                <a:ea typeface="宋体" panose="02010600030101010101" pitchFamily="2" charset="-122"/>
              </a:rPr>
              <a:t> </a:t>
            </a:r>
            <a:endParaRPr lang="zh-CN" altLang="en-US" sz="1000" dirty="0">
              <a:ea typeface="宋体" panose="02010600030101010101" pitchFamily="2" charset="-122"/>
            </a:endParaRPr>
          </a:p>
          <a:p>
            <a:pPr marL="457200" lvl="1" indent="0">
              <a:spcBef>
                <a:spcPct val="10000"/>
              </a:spcBef>
            </a:pPr>
            <a:r>
              <a:rPr lang="en-US" altLang="zh-CN" sz="1000" dirty="0">
                <a:ea typeface="宋体" panose="02010600030101010101" pitchFamily="2" charset="-122"/>
              </a:rPr>
              <a:t>R0</a:t>
            </a:r>
            <a:r>
              <a:rPr lang="zh-CN" altLang="en-US" sz="1000" dirty="0">
                <a:ea typeface="宋体" panose="02010600030101010101" pitchFamily="2" charset="-122"/>
              </a:rPr>
              <a:t>被预置为</a:t>
            </a:r>
            <a:r>
              <a:rPr lang="en-US" altLang="zh-CN" sz="1000" dirty="0">
                <a:ea typeface="宋体" panose="02010600030101010101" pitchFamily="2" charset="-122"/>
              </a:rPr>
              <a:t>0/</a:t>
            </a:r>
            <a:r>
              <a:rPr lang="zh-CN" altLang="en-US" sz="1000" dirty="0">
                <a:ea typeface="宋体" panose="02010600030101010101" pitchFamily="2" charset="-122"/>
              </a:rPr>
              <a:t>被除数高位，</a:t>
            </a:r>
            <a:r>
              <a:rPr lang="en-US" altLang="zh-CN" sz="1000" dirty="0">
                <a:ea typeface="宋体" panose="02010600030101010101" pitchFamily="2" charset="-122"/>
              </a:rPr>
              <a:t>Q</a:t>
            </a:r>
            <a:r>
              <a:rPr lang="zh-CN" altLang="en-US" sz="1000" dirty="0">
                <a:ea typeface="宋体" panose="02010600030101010101" pitchFamily="2" charset="-122"/>
              </a:rPr>
              <a:t>寄存器被预置为</a:t>
            </a:r>
            <a:r>
              <a:rPr lang="en-US" altLang="zh-CN" sz="1000" dirty="0">
                <a:ea typeface="宋体" panose="02010600030101010101" pitchFamily="2" charset="-122"/>
              </a:rPr>
              <a:t>0/</a:t>
            </a:r>
            <a:r>
              <a:rPr lang="zh-CN" altLang="en-US" sz="1000" dirty="0">
                <a:ea typeface="宋体" panose="02010600030101010101" pitchFamily="2" charset="-122"/>
              </a:rPr>
              <a:t>被除数低位，</a:t>
            </a:r>
            <a:r>
              <a:rPr lang="en-US" altLang="zh-CN" sz="1000" dirty="0">
                <a:ea typeface="宋体" panose="02010600030101010101" pitchFamily="2" charset="-122"/>
              </a:rPr>
              <a:t>R1</a:t>
            </a:r>
            <a:r>
              <a:rPr lang="zh-CN" altLang="en-US" sz="1000" dirty="0">
                <a:ea typeface="宋体" panose="02010600030101010101" pitchFamily="2" charset="-122"/>
              </a:rPr>
              <a:t>被预置为被乘数</a:t>
            </a:r>
            <a:r>
              <a:rPr lang="en-US" altLang="zh-CN" sz="1000" dirty="0">
                <a:ea typeface="宋体" panose="02010600030101010101" pitchFamily="2" charset="-122"/>
              </a:rPr>
              <a:t>/</a:t>
            </a:r>
            <a:r>
              <a:rPr lang="zh-CN" altLang="en-US" sz="1000" dirty="0">
                <a:ea typeface="宋体" panose="02010600030101010101" pitchFamily="2" charset="-122"/>
              </a:rPr>
              <a:t>除数</a:t>
            </a:r>
            <a:endParaRPr lang="zh-CN" altLang="en-US" sz="1000" dirty="0">
              <a:ea typeface="宋体" panose="02010600030101010101" pitchFamily="2" charset="-122"/>
            </a:endParaRPr>
          </a:p>
          <a:p>
            <a:pPr marL="457200" lvl="1" indent="0">
              <a:spcBef>
                <a:spcPct val="10000"/>
              </a:spcBef>
            </a:pPr>
            <a:r>
              <a:rPr lang="zh-CN" altLang="en-US" sz="1000" dirty="0">
                <a:ea typeface="宋体" panose="02010600030101010101" pitchFamily="2" charset="-122"/>
              </a:rPr>
              <a:t>控制</a:t>
            </a:r>
            <a:r>
              <a:rPr lang="en-US" altLang="zh-CN" sz="1000" dirty="0">
                <a:ea typeface="宋体" panose="02010600030101010101" pitchFamily="2" charset="-122"/>
              </a:rPr>
              <a:t>ALU</a:t>
            </a:r>
            <a:r>
              <a:rPr lang="zh-CN" altLang="en-US" sz="1000" dirty="0">
                <a:ea typeface="宋体" panose="02010600030101010101" pitchFamily="2" charset="-122"/>
              </a:rPr>
              <a:t>执行“加”或“减”，并使</a:t>
            </a:r>
            <a:r>
              <a:rPr lang="en-US" altLang="zh-CN" sz="1000" dirty="0">
                <a:ea typeface="宋体" panose="02010600030101010101" pitchFamily="2" charset="-122"/>
              </a:rPr>
              <a:t>ALU</a:t>
            </a:r>
            <a:r>
              <a:rPr lang="zh-CN" altLang="en-US" sz="1000" dirty="0">
                <a:ea typeface="宋体" panose="02010600030101010101" pitchFamily="2" charset="-122"/>
              </a:rPr>
              <a:t>移位器和</a:t>
            </a:r>
            <a:r>
              <a:rPr lang="en-US" altLang="zh-CN" sz="1000" dirty="0">
                <a:ea typeface="宋体" panose="02010600030101010101" pitchFamily="2" charset="-122"/>
              </a:rPr>
              <a:t>Q</a:t>
            </a:r>
            <a:r>
              <a:rPr lang="zh-CN" altLang="en-US" sz="1000" dirty="0">
                <a:ea typeface="宋体" panose="02010600030101010101" pitchFamily="2" charset="-122"/>
              </a:rPr>
              <a:t>移位器同时 “右移” </a:t>
            </a:r>
            <a:r>
              <a:rPr lang="en-US" altLang="zh-CN" sz="1000" dirty="0">
                <a:ea typeface="宋体" panose="02010600030101010101" pitchFamily="2" charset="-122"/>
              </a:rPr>
              <a:t>/ </a:t>
            </a:r>
            <a:r>
              <a:rPr lang="zh-CN" altLang="en-US" sz="1000" dirty="0">
                <a:ea typeface="宋体" panose="02010600030101010101" pitchFamily="2" charset="-122"/>
              </a:rPr>
              <a:t>“左移”</a:t>
            </a:r>
            <a:endParaRPr lang="zh-CN" altLang="en-US" sz="1000" dirty="0">
              <a:ea typeface="宋体" panose="02010600030101010101" pitchFamily="2" charset="-122"/>
            </a:endParaRPr>
          </a:p>
          <a:p>
            <a:pPr marL="457200" lvl="1" indent="0">
              <a:spcBef>
                <a:spcPct val="10000"/>
              </a:spcBef>
            </a:pPr>
            <a:r>
              <a:rPr lang="zh-CN" altLang="en-US" sz="1000" dirty="0">
                <a:ea typeface="宋体" panose="02010600030101010101" pitchFamily="2" charset="-122"/>
              </a:rPr>
              <a:t>      （移位后</a:t>
            </a:r>
            <a:r>
              <a:rPr lang="en-US" altLang="zh-CN" sz="1000" dirty="0">
                <a:ea typeface="宋体" panose="02010600030101010101" pitchFamily="2" charset="-122"/>
              </a:rPr>
              <a:t>ALU</a:t>
            </a:r>
            <a:r>
              <a:rPr lang="zh-CN" altLang="en-US" sz="1000" dirty="0">
                <a:ea typeface="宋体" panose="02010600030101010101" pitchFamily="2" charset="-122"/>
              </a:rPr>
              <a:t>移位器中是高位部分积</a:t>
            </a:r>
            <a:r>
              <a:rPr lang="en-US" altLang="zh-CN" sz="1000" dirty="0">
                <a:ea typeface="宋体" panose="02010600030101010101" pitchFamily="2" charset="-122"/>
              </a:rPr>
              <a:t>/</a:t>
            </a:r>
            <a:r>
              <a:rPr lang="zh-CN" altLang="en-US" sz="1000" dirty="0">
                <a:ea typeface="宋体" panose="02010600030101010101" pitchFamily="2" charset="-122"/>
              </a:rPr>
              <a:t>中间余数，</a:t>
            </a:r>
            <a:r>
              <a:rPr lang="en-US" altLang="zh-CN" sz="1000" dirty="0">
                <a:ea typeface="宋体" panose="02010600030101010101" pitchFamily="2" charset="-122"/>
              </a:rPr>
              <a:t>Q</a:t>
            </a:r>
            <a:r>
              <a:rPr lang="zh-CN" altLang="en-US" sz="1000" dirty="0">
                <a:ea typeface="宋体" panose="02010600030101010101" pitchFamily="2" charset="-122"/>
              </a:rPr>
              <a:t>移位器中是低位部分积</a:t>
            </a:r>
            <a:r>
              <a:rPr lang="en-US" altLang="zh-CN" sz="1000" dirty="0">
                <a:ea typeface="宋体" panose="02010600030101010101" pitchFamily="2" charset="-122"/>
              </a:rPr>
              <a:t>/</a:t>
            </a:r>
            <a:r>
              <a:rPr lang="zh-CN" altLang="en-US" sz="1000" dirty="0">
                <a:ea typeface="宋体" panose="02010600030101010101" pitchFamily="2" charset="-122"/>
              </a:rPr>
              <a:t>中间余数）</a:t>
            </a:r>
            <a:endParaRPr lang="zh-CN" altLang="en-US" sz="1000" dirty="0">
              <a:ea typeface="宋体" panose="02010600030101010101" pitchFamily="2" charset="-122"/>
            </a:endParaRPr>
          </a:p>
          <a:p>
            <a:pPr marL="457200" lvl="1" indent="0">
              <a:spcBef>
                <a:spcPct val="10000"/>
              </a:spcBef>
            </a:pPr>
            <a:r>
              <a:rPr lang="en-US" altLang="zh-CN" sz="1000" dirty="0">
                <a:ea typeface="宋体" panose="02010600030101010101" pitchFamily="2" charset="-122"/>
              </a:rPr>
              <a:t>ALU</a:t>
            </a:r>
            <a:r>
              <a:rPr lang="zh-CN" altLang="en-US" sz="1000" dirty="0">
                <a:ea typeface="宋体" panose="02010600030101010101" pitchFamily="2" charset="-122"/>
              </a:rPr>
              <a:t>移位器送</a:t>
            </a:r>
            <a:r>
              <a:rPr lang="en-US" altLang="zh-CN" sz="1000" dirty="0">
                <a:ea typeface="宋体" panose="02010600030101010101" pitchFamily="2" charset="-122"/>
              </a:rPr>
              <a:t>ALU</a:t>
            </a:r>
            <a:r>
              <a:rPr lang="zh-CN" altLang="en-US" sz="1000" dirty="0">
                <a:ea typeface="宋体" panose="02010600030101010101" pitchFamily="2" charset="-122"/>
              </a:rPr>
              <a:t>的</a:t>
            </a:r>
            <a:r>
              <a:rPr lang="en-US" altLang="zh-CN" sz="1000" dirty="0">
                <a:ea typeface="宋体" panose="02010600030101010101" pitchFamily="2" charset="-122"/>
              </a:rPr>
              <a:t>A</a:t>
            </a:r>
            <a:r>
              <a:rPr lang="zh-CN" altLang="en-US" sz="1000" dirty="0">
                <a:ea typeface="宋体" panose="02010600030101010101" pitchFamily="2" charset="-122"/>
              </a:rPr>
              <a:t>端，</a:t>
            </a:r>
            <a:r>
              <a:rPr lang="en-US" altLang="zh-CN" sz="1000" dirty="0">
                <a:ea typeface="宋体" panose="02010600030101010101" pitchFamily="2" charset="-122"/>
              </a:rPr>
              <a:t>Q</a:t>
            </a:r>
            <a:r>
              <a:rPr lang="zh-CN" altLang="en-US" sz="1000" dirty="0">
                <a:ea typeface="宋体" panose="02010600030101010101" pitchFamily="2" charset="-122"/>
              </a:rPr>
              <a:t>移位器送</a:t>
            </a:r>
            <a:r>
              <a:rPr lang="en-US" altLang="zh-CN" sz="1000" dirty="0">
                <a:ea typeface="宋体" panose="02010600030101010101" pitchFamily="2" charset="-122"/>
              </a:rPr>
              <a:t>Q</a:t>
            </a:r>
            <a:r>
              <a:rPr lang="zh-CN" altLang="en-US" sz="1000" dirty="0">
                <a:ea typeface="宋体" panose="02010600030101010101" pitchFamily="2" charset="-122"/>
              </a:rPr>
              <a:t>寄存器后，再送回</a:t>
            </a:r>
            <a:r>
              <a:rPr lang="en-US" altLang="zh-CN" sz="1000" dirty="0">
                <a:ea typeface="宋体" panose="02010600030101010101" pitchFamily="2" charset="-122"/>
              </a:rPr>
              <a:t>Q</a:t>
            </a:r>
            <a:r>
              <a:rPr lang="zh-CN" altLang="en-US" sz="1000" dirty="0">
                <a:ea typeface="宋体" panose="02010600030101010101" pitchFamily="2" charset="-122"/>
              </a:rPr>
              <a:t>移位器</a:t>
            </a:r>
            <a:endParaRPr lang="zh-CN" altLang="en-US" sz="1000" dirty="0">
              <a:ea typeface="宋体" panose="02010600030101010101" pitchFamily="2" charset="-122"/>
            </a:endParaRPr>
          </a:p>
          <a:p>
            <a:pPr marL="457200" lvl="1" indent="0">
              <a:spcBef>
                <a:spcPct val="10000"/>
              </a:spcBef>
            </a:pPr>
            <a:r>
              <a:rPr lang="zh-CN" altLang="en-US" sz="1000" dirty="0">
                <a:ea typeface="宋体" panose="02010600030101010101" pitchFamily="2" charset="-122"/>
              </a:rPr>
              <a:t>反复执行第②、③两个步骤，直到得到所有乘积位或商</a:t>
            </a:r>
            <a:endParaRPr lang="zh-CN" altLang="en-US" sz="1000"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Rectangle 2"/>
          <p:cNvSpPr>
            <a:spLocks noTextEdit="1"/>
          </p:cNvSpPr>
          <p:nvPr>
            <p:ph type="sldImg"/>
          </p:nvPr>
        </p:nvSpPr>
        <p:spPr>
          <a:xfrm>
            <a:off x="1143000" y="574675"/>
            <a:ext cx="4589463" cy="3441700"/>
          </a:xfrm>
          <a:solidFill>
            <a:srgbClr val="FFFFFF"/>
          </a:solidFill>
          <a:ln/>
        </p:spPr>
      </p:sp>
      <p:sp>
        <p:nvSpPr>
          <p:cNvPr id="135170" name="Rectangle 3"/>
          <p:cNvSpPr/>
          <p:nvPr>
            <p:ph type="body"/>
          </p:nvPr>
        </p:nvSpPr>
        <p:spPr>
          <a:xfrm>
            <a:off x="515938" y="4343400"/>
            <a:ext cx="5910262" cy="4114800"/>
          </a:xfrm>
          <a:solidFill>
            <a:srgbClr val="FFFFFF"/>
          </a:solidFill>
          <a:ln>
            <a:solidFill>
              <a:srgbClr val="000000"/>
            </a:solidFill>
            <a:miter/>
          </a:ln>
        </p:spPr>
        <p:txBody>
          <a:bodyPr wrap="square" lIns="90048" tIns="44234" rIns="90048" bIns="44234" anchor="t" anchorCtr="0"/>
          <a:p>
            <a:pPr lvl="0"/>
            <a:r>
              <a:rPr lang="en-US" altLang="zh-CN" b="1" dirty="0">
                <a:ea typeface="宋体" panose="02010600030101010101" pitchFamily="2" charset="-122"/>
              </a:rPr>
              <a:t>Supplement: ULP=units in the last place.</a:t>
            </a:r>
            <a:endParaRPr lang="en-US" altLang="zh-CN" b="1"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Rectangle 2"/>
          <p:cNvSpPr>
            <a:spLocks noTextEdit="1"/>
          </p:cNvSpPr>
          <p:nvPr>
            <p:ph type="sldImg"/>
          </p:nvPr>
        </p:nvSpPr>
        <p:spPr>
          <a:xfrm>
            <a:off x="1254125" y="603250"/>
            <a:ext cx="4810125" cy="3608388"/>
          </a:xfrm>
          <a:ln/>
        </p:spPr>
      </p:sp>
      <p:sp>
        <p:nvSpPr>
          <p:cNvPr id="141314" name="Rectangle 3"/>
          <p:cNvSpPr>
            <a:spLocks noGrp="1"/>
          </p:cNvSpPr>
          <p:nvPr>
            <p:ph type="body"/>
          </p:nvPr>
        </p:nvSpPr>
        <p:spPr>
          <a:xfrm>
            <a:off x="914400" y="4343400"/>
            <a:ext cx="5029200" cy="4114800"/>
          </a:xfrm>
          <a:ln/>
        </p:spPr>
        <p:txBody>
          <a:bodyPr wrap="square" lIns="86657" tIns="43328" rIns="86657" bIns="43328" anchor="t" anchorCtr="0"/>
          <a:p>
            <a:pPr marL="228600" lvl="0" indent="-228600"/>
            <a:r>
              <a:rPr lang="en-US" altLang="zh-CN" dirty="0">
                <a:ea typeface="宋体" panose="02010600030101010101" pitchFamily="2" charset="-122"/>
              </a:rPr>
              <a:t>Any questions so far? After this class, we should think of some important questions. Here are some examples:</a:t>
            </a:r>
            <a:endParaRPr lang="en-US" altLang="zh-CN" dirty="0">
              <a:ea typeface="宋体" panose="02010600030101010101" pitchFamily="2" charset="-122"/>
            </a:endParaRPr>
          </a:p>
          <a:p>
            <a:pPr marL="228600" lvl="0" indent="-228600">
              <a:buAutoNum type="arabicPeriod"/>
            </a:pPr>
            <a:r>
              <a:rPr lang="en-US" altLang="zh-CN" dirty="0">
                <a:ea typeface="宋体" panose="02010600030101010101" pitchFamily="2" charset="-122"/>
              </a:rPr>
              <a:t>We should know what’s the range of expressible value for single-precision and double-precision. We consider this question by finding the largest number form. For normalized form, we know the largest one is that the significand should be all ones, exponent should be 11111110, which is 254, the true value is 254-127=127, so the value of the largest number is …., which is about +1.99…99x2</a:t>
            </a:r>
            <a:r>
              <a:rPr lang="en-US" altLang="zh-CN" baseline="30000" dirty="0">
                <a:ea typeface="宋体" panose="02010600030101010101" pitchFamily="2" charset="-122"/>
              </a:rPr>
              <a:t>7</a:t>
            </a:r>
            <a:r>
              <a:rPr lang="en-US" altLang="zh-CN" dirty="0">
                <a:ea typeface="宋体" panose="02010600030101010101" pitchFamily="2" charset="-122"/>
              </a:rPr>
              <a:t>x2</a:t>
            </a:r>
            <a:r>
              <a:rPr lang="en-US" altLang="zh-CN" baseline="30000" dirty="0">
                <a:ea typeface="宋体" panose="02010600030101010101" pitchFamily="2" charset="-122"/>
              </a:rPr>
              <a:t>120</a:t>
            </a:r>
            <a:r>
              <a:rPr lang="en-US" altLang="zh-CN" dirty="0">
                <a:ea typeface="宋体" panose="02010600030101010101" pitchFamily="2" charset="-122"/>
              </a:rPr>
              <a:t> = +1.99…99x2</a:t>
            </a:r>
            <a:r>
              <a:rPr lang="en-US" altLang="zh-CN" baseline="30000" dirty="0">
                <a:ea typeface="宋体" panose="02010600030101010101" pitchFamily="2" charset="-122"/>
              </a:rPr>
              <a:t>7</a:t>
            </a:r>
            <a:r>
              <a:rPr lang="en-US" altLang="zh-CN" dirty="0">
                <a:ea typeface="宋体" panose="02010600030101010101" pitchFamily="2" charset="-122"/>
              </a:rPr>
              <a:t>x(2</a:t>
            </a:r>
            <a:r>
              <a:rPr lang="en-US" altLang="zh-CN" baseline="30000" dirty="0">
                <a:ea typeface="宋体" panose="02010600030101010101" pitchFamily="2" charset="-122"/>
              </a:rPr>
              <a:t>10</a:t>
            </a:r>
            <a:r>
              <a:rPr lang="en-US" altLang="zh-CN" dirty="0">
                <a:ea typeface="宋体" panose="02010600030101010101" pitchFamily="2" charset="-122"/>
              </a:rPr>
              <a:t>)</a:t>
            </a:r>
            <a:r>
              <a:rPr lang="en-US" altLang="zh-CN" baseline="30000" dirty="0">
                <a:ea typeface="宋体" panose="02010600030101010101" pitchFamily="2" charset="-122"/>
              </a:rPr>
              <a:t>12</a:t>
            </a:r>
            <a:r>
              <a:rPr lang="en-US" altLang="zh-CN" dirty="0">
                <a:ea typeface="宋体" panose="02010600030101010101" pitchFamily="2" charset="-122"/>
              </a:rPr>
              <a:t> ~ +1.99…99x1.28x10</a:t>
            </a:r>
            <a:r>
              <a:rPr lang="en-US" altLang="zh-CN" baseline="30000" dirty="0">
                <a:ea typeface="宋体" panose="02010600030101010101" pitchFamily="2" charset="-122"/>
              </a:rPr>
              <a:t>2</a:t>
            </a:r>
            <a:r>
              <a:rPr lang="en-US" altLang="zh-CN" dirty="0">
                <a:ea typeface="宋体" panose="02010600030101010101" pitchFamily="2" charset="-122"/>
              </a:rPr>
              <a:t>x(10</a:t>
            </a:r>
            <a:r>
              <a:rPr lang="en-US" altLang="zh-CN" baseline="30000" dirty="0">
                <a:ea typeface="宋体" panose="02010600030101010101" pitchFamily="2" charset="-122"/>
              </a:rPr>
              <a:t>3</a:t>
            </a:r>
            <a:r>
              <a:rPr lang="en-US" altLang="zh-CN" dirty="0">
                <a:ea typeface="宋体" panose="02010600030101010101" pitchFamily="2" charset="-122"/>
              </a:rPr>
              <a:t>)</a:t>
            </a:r>
            <a:r>
              <a:rPr lang="en-US" altLang="zh-CN" baseline="30000" dirty="0">
                <a:ea typeface="宋体" panose="02010600030101010101" pitchFamily="2" charset="-122"/>
              </a:rPr>
              <a:t>12</a:t>
            </a:r>
            <a:r>
              <a:rPr lang="en-US" altLang="zh-CN" dirty="0">
                <a:ea typeface="宋体" panose="02010600030101010101" pitchFamily="2" charset="-122"/>
              </a:rPr>
              <a:t> ~ +2.0x10</a:t>
            </a:r>
            <a:r>
              <a:rPr lang="en-US" altLang="zh-CN" baseline="30000" dirty="0">
                <a:ea typeface="宋体" panose="02010600030101010101" pitchFamily="2" charset="-122"/>
              </a:rPr>
              <a:t>38</a:t>
            </a:r>
            <a:r>
              <a:rPr lang="en-US" altLang="zh-CN" dirty="0">
                <a:ea typeface="宋体" panose="02010600030101010101" pitchFamily="2" charset="-122"/>
              </a:rPr>
              <a:t> </a:t>
            </a:r>
            <a:endParaRPr lang="en-US" altLang="zh-CN" dirty="0">
              <a:ea typeface="宋体" panose="02010600030101010101" pitchFamily="2" charset="-122"/>
            </a:endParaRPr>
          </a:p>
          <a:p>
            <a:pPr marL="228600" lvl="0" indent="-228600">
              <a:buAutoNum type="arabicPeriod"/>
            </a:pPr>
            <a:r>
              <a:rPr lang="en-US" altLang="zh-CN" dirty="0">
                <a:ea typeface="宋体" panose="02010600030101010101" pitchFamily="2" charset="-122"/>
              </a:rPr>
              <a:t>We should know why use biased exponent. Considering the addition operation for two scientific notation numbers, 3.12x10</a:t>
            </a:r>
            <a:r>
              <a:rPr lang="en-US" altLang="zh-CN" baseline="30000" dirty="0">
                <a:ea typeface="宋体" panose="02010600030101010101" pitchFamily="2" charset="-122"/>
              </a:rPr>
              <a:t>3 </a:t>
            </a:r>
            <a:r>
              <a:rPr lang="en-US" altLang="zh-CN" dirty="0">
                <a:ea typeface="宋体" panose="02010600030101010101" pitchFamily="2" charset="-122"/>
              </a:rPr>
              <a:t>4.28x10</a:t>
            </a:r>
            <a:r>
              <a:rPr lang="en-US" altLang="zh-CN" baseline="30000" dirty="0">
                <a:ea typeface="宋体" panose="02010600030101010101" pitchFamily="2" charset="-122"/>
              </a:rPr>
              <a:t>-2</a:t>
            </a:r>
            <a:r>
              <a:rPr lang="en-US" altLang="zh-CN" dirty="0">
                <a:ea typeface="宋体" panose="02010600030101010101" pitchFamily="2" charset="-122"/>
              </a:rPr>
              <a:t>, before adding the fractions, we must adjust the exponents to make them the same. We always convert the smaller one. Here 4.28x10</a:t>
            </a:r>
            <a:r>
              <a:rPr lang="en-US" altLang="zh-CN" baseline="30000" dirty="0">
                <a:ea typeface="宋体" panose="02010600030101010101" pitchFamily="2" charset="-122"/>
              </a:rPr>
              <a:t>-2 </a:t>
            </a:r>
            <a:r>
              <a:rPr lang="en-US" altLang="zh-CN" dirty="0">
                <a:ea typeface="宋体" panose="02010600030101010101" pitchFamily="2" charset="-122"/>
              </a:rPr>
              <a:t>should be convert to 0.0000428x10</a:t>
            </a:r>
            <a:r>
              <a:rPr lang="en-US" altLang="zh-CN" baseline="30000" dirty="0">
                <a:ea typeface="宋体" panose="02010600030101010101" pitchFamily="2" charset="-122"/>
              </a:rPr>
              <a:t>3 </a:t>
            </a:r>
            <a:r>
              <a:rPr lang="en-US" altLang="zh-CN" dirty="0">
                <a:ea typeface="宋体" panose="02010600030101010101" pitchFamily="2" charset="-122"/>
              </a:rPr>
              <a:t>. So we want to know which is larger and which is smaller. Inside the computer, we compare two numbers by seeing the digits from left to right. If we express the exponent using two’s complement form, the negative numbers will seem to be larger than positive numbers. For example(suppose N=4): –2=&gt;1110</a:t>
            </a:r>
            <a:r>
              <a:rPr lang="en-US" altLang="zh-CN" baseline="-25000" dirty="0">
                <a:ea typeface="宋体" panose="02010600030101010101" pitchFamily="2" charset="-122"/>
              </a:rPr>
              <a:t>2</a:t>
            </a:r>
            <a:r>
              <a:rPr lang="en-US" altLang="zh-CN" dirty="0">
                <a:ea typeface="宋体" panose="02010600030101010101" pitchFamily="2" charset="-122"/>
              </a:rPr>
              <a:t>, +3=&gt;0011</a:t>
            </a:r>
            <a:r>
              <a:rPr lang="en-US" altLang="zh-CN" baseline="-25000" dirty="0">
                <a:ea typeface="宋体" panose="02010600030101010101" pitchFamily="2" charset="-122"/>
              </a:rPr>
              <a:t>2</a:t>
            </a:r>
            <a:r>
              <a:rPr lang="en-US" altLang="zh-CN" dirty="0">
                <a:ea typeface="宋体" panose="02010600030101010101" pitchFamily="2" charset="-122"/>
              </a:rPr>
              <a:t>. If we use biased exponent which add certain excess(here say 8=1000</a:t>
            </a:r>
            <a:r>
              <a:rPr lang="en-US" altLang="zh-CN" baseline="-25000" dirty="0">
                <a:ea typeface="宋体" panose="02010600030101010101" pitchFamily="2" charset="-122"/>
              </a:rPr>
              <a:t>2</a:t>
            </a:r>
            <a:r>
              <a:rPr lang="en-US" altLang="zh-CN" dirty="0">
                <a:ea typeface="宋体" panose="02010600030101010101" pitchFamily="2" charset="-122"/>
              </a:rPr>
              <a:t>), we will have:  –2=&gt;0110</a:t>
            </a:r>
            <a:r>
              <a:rPr lang="en-US" altLang="zh-CN" baseline="-25000" dirty="0">
                <a:ea typeface="宋体" panose="02010600030101010101" pitchFamily="2" charset="-122"/>
              </a:rPr>
              <a:t>2</a:t>
            </a:r>
            <a:r>
              <a:rPr lang="en-US" altLang="zh-CN" dirty="0">
                <a:ea typeface="宋体" panose="02010600030101010101" pitchFamily="2" charset="-122"/>
              </a:rPr>
              <a:t>, +3=&gt;1011</a:t>
            </a:r>
            <a:r>
              <a:rPr lang="en-US" altLang="zh-CN" baseline="-25000" dirty="0">
                <a:ea typeface="宋体" panose="02010600030101010101" pitchFamily="2" charset="-122"/>
              </a:rPr>
              <a:t>2</a:t>
            </a:r>
            <a:r>
              <a:rPr lang="en-US" altLang="zh-CN" dirty="0">
                <a:ea typeface="宋体" panose="02010600030101010101" pitchFamily="2" charset="-122"/>
              </a:rPr>
              <a:t> It is obvious that 1011 is larger than 0110. Generally, we always choose 2</a:t>
            </a:r>
            <a:r>
              <a:rPr lang="en-US" altLang="zh-CN" baseline="30000" dirty="0">
                <a:ea typeface="宋体" panose="02010600030101010101" pitchFamily="2" charset="-122"/>
              </a:rPr>
              <a:t>N-1 </a:t>
            </a:r>
            <a:r>
              <a:rPr lang="en-US" altLang="zh-CN" dirty="0">
                <a:ea typeface="宋体" panose="02010600030101010101" pitchFamily="2" charset="-122"/>
              </a:rPr>
              <a:t>as the excess(or bias)  for N bits number. Before IEEE 754 standard, Almost all the computer did in this way. IEEE 754 chose 2</a:t>
            </a:r>
            <a:r>
              <a:rPr lang="en-US" altLang="zh-CN" baseline="30000" dirty="0">
                <a:ea typeface="宋体" panose="02010600030101010101" pitchFamily="2" charset="-122"/>
              </a:rPr>
              <a:t>N-1</a:t>
            </a:r>
            <a:r>
              <a:rPr lang="en-US" altLang="zh-CN" dirty="0">
                <a:ea typeface="宋体" panose="02010600030101010101" pitchFamily="2" charset="-122"/>
              </a:rPr>
              <a:t> –1, it’s a clever selection, because it can enlarge the range of the expressible value.  Say N=4, if we choose 1000 as bias, the largest number is +7 (=&gt;1111</a:t>
            </a:r>
            <a:r>
              <a:rPr lang="en-US" altLang="zh-CN" baseline="-25000" dirty="0">
                <a:ea typeface="宋体" panose="02010600030101010101" pitchFamily="2" charset="-122"/>
              </a:rPr>
              <a:t>2</a:t>
            </a:r>
            <a:r>
              <a:rPr lang="en-US" altLang="zh-CN" dirty="0">
                <a:ea typeface="宋体" panose="02010600030101010101" pitchFamily="2" charset="-122"/>
              </a:rPr>
              <a:t>), if we choose 0111 as bias, the largest number can be +8 (=&gt;1111</a:t>
            </a:r>
            <a:r>
              <a:rPr lang="en-US" altLang="zh-CN" baseline="-25000" dirty="0">
                <a:ea typeface="宋体" panose="02010600030101010101" pitchFamily="2" charset="-122"/>
              </a:rPr>
              <a:t>2</a:t>
            </a:r>
            <a:r>
              <a:rPr lang="en-US" altLang="zh-CN" dirty="0">
                <a:ea typeface="宋体" panose="02010600030101010101" pitchFamily="2" charset="-122"/>
              </a:rPr>
              <a:t>)</a:t>
            </a:r>
            <a:endParaRPr lang="en-US" altLang="zh-CN" dirty="0">
              <a:ea typeface="宋体" panose="02010600030101010101" pitchFamily="2" charset="-122"/>
            </a:endParaRPr>
          </a:p>
          <a:p>
            <a:pPr marL="228600" lvl="0" indent="-228600">
              <a:buAutoNum type="arabicPeriod"/>
            </a:pPr>
            <a:r>
              <a:rPr lang="en-US" altLang="zh-CN" dirty="0">
                <a:ea typeface="宋体" panose="02010600030101010101" pitchFamily="2" charset="-122"/>
              </a:rPr>
              <a:t>For the first case, we convert i from int to float and then to int. If i is a very large integer, it will lose some lower significant digits when converting to float (because 31&gt;24). So it will be not true. How about Double?  (it’s OK, because 31&lt;53). For the second case, we convert f from float to int and then to float. If f is a very small number (&lt;1), it will have no integer representation when converting to int. So it will be not always true. How about Double? The situation is the same, so it’s also not always true.</a:t>
            </a:r>
            <a:endParaRPr lang="en-US" altLang="zh-CN" dirty="0">
              <a:ea typeface="宋体" panose="02010600030101010101" pitchFamily="2" charset="-122"/>
            </a:endParaRPr>
          </a:p>
          <a:p>
            <a:pPr marL="228600" lvl="0" indent="-228600">
              <a:buAutoNum type="arabicPeriod"/>
            </a:pPr>
            <a:r>
              <a:rPr lang="en-US" altLang="zh-CN" dirty="0">
                <a:ea typeface="宋体" panose="02010600030101010101" pitchFamily="2" charset="-122"/>
              </a:rPr>
              <a:t>When we add a very small number to a very large number, we will get the result which is exact the larger number. Because we should adjust the exponents to make them the same, so for very small exponent, the significand will be lost after moving the point to left and truncating the lower significant digits.   </a:t>
            </a:r>
            <a:endParaRPr lang="en-US" altLang="zh-CN"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44500" y="889000"/>
            <a:ext cx="4019550" cy="2359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16450" y="889000"/>
            <a:ext cx="4019550" cy="2359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20000"/>
              </a:spcBef>
              <a:spcAft>
                <a:spcPct val="0"/>
              </a:spcAft>
              <a:buClr>
                <a:schemeClr val="tx1"/>
              </a:buClr>
              <a:buSzPct val="6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8125" y="190500"/>
            <a:ext cx="2047875" cy="3057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44500" y="190500"/>
            <a:ext cx="5991225" cy="3057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800100" y="190500"/>
            <a:ext cx="6073775" cy="474663"/>
          </a:xfrm>
          <a:prstGeom prst="rect">
            <a:avLst/>
          </a:prstGeom>
          <a:noFill/>
          <a:ln w="12700">
            <a:noFill/>
          </a:ln>
        </p:spPr>
        <p:txBody>
          <a:bodyPr lIns="63500" tIns="25400" rIns="63500" bIns="25400" anchor="t" anchorCtr="0">
            <a:spAutoFit/>
          </a:bodyPr>
          <a:p>
            <a:pPr lvl="0"/>
            <a:r>
              <a:rPr lang="en-US" altLang="zh-CN" dirty="0"/>
              <a:t>Title</a:t>
            </a:r>
            <a:endParaRPr lang="en-US" altLang="zh-CN" dirty="0"/>
          </a:p>
        </p:txBody>
      </p:sp>
      <p:sp>
        <p:nvSpPr>
          <p:cNvPr id="1027" name="Rectangle 4"/>
          <p:cNvSpPr>
            <a:spLocks noChangeArrowheads="1"/>
          </p:cNvSpPr>
          <p:nvPr/>
        </p:nvSpPr>
        <p:spPr bwMode="auto">
          <a:xfrm>
            <a:off x="8018463" y="6578600"/>
            <a:ext cx="74612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b="1">
                <a:solidFill>
                  <a:schemeClr val="tx1"/>
                </a:solidFill>
                <a:latin typeface="Times New Roman" panose="02020603050405020304" pitchFamily="18" charset="0"/>
                <a:ea typeface="宋体" panose="02010600030101010101" pitchFamily="2" charset="-122"/>
              </a:defRPr>
            </a:lvl1pPr>
            <a:lvl2pPr marL="742950" indent="-285750">
              <a:defRPr sz="1600" b="1">
                <a:solidFill>
                  <a:schemeClr val="tx1"/>
                </a:solidFill>
                <a:latin typeface="Times New Roman" panose="02020603050405020304" pitchFamily="18" charset="0"/>
                <a:ea typeface="宋体" panose="02010600030101010101" pitchFamily="2" charset="-122"/>
              </a:defRPr>
            </a:lvl2pPr>
            <a:lvl3pPr marL="1143000" indent="-228600">
              <a:defRPr sz="1600" b="1">
                <a:solidFill>
                  <a:schemeClr val="tx1"/>
                </a:solidFill>
                <a:latin typeface="Times New Roman" panose="02020603050405020304" pitchFamily="18" charset="0"/>
                <a:ea typeface="宋体" panose="02010600030101010101" pitchFamily="2" charset="-122"/>
              </a:defRPr>
            </a:lvl3pPr>
            <a:lvl4pPr marL="1600200" indent="-228600">
              <a:defRPr sz="1600" b="1">
                <a:solidFill>
                  <a:schemeClr val="tx1"/>
                </a:solidFill>
                <a:latin typeface="Times New Roman" panose="02020603050405020304" pitchFamily="18" charset="0"/>
                <a:ea typeface="宋体" panose="02010600030101010101" pitchFamily="2" charset="-122"/>
              </a:defRPr>
            </a:lvl4pPr>
            <a:lvl5pPr marL="2057400" indent="-228600">
              <a:defRPr sz="16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fld id="{E46B5399-5ED2-4C77-B19F-3A160C982BFD}" type="datetime1">
              <a:rPr kumimoji="0" lang="zh-CN" altLang="en-US" sz="1200" b="0" i="0" u="none" strike="noStrike" kern="1200" cap="none" spc="0" normalizeH="0" baseline="0" noProof="0" smtClean="0">
                <a:ln>
                  <a:noFill/>
                </a:ln>
                <a:solidFill>
                  <a:srgbClr val="0000FF"/>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028" name="Rectangle 5"/>
          <p:cNvSpPr>
            <a:spLocks noGrp="1"/>
          </p:cNvSpPr>
          <p:nvPr>
            <p:ph type="body"/>
          </p:nvPr>
        </p:nvSpPr>
        <p:spPr>
          <a:xfrm>
            <a:off x="444500" y="889000"/>
            <a:ext cx="8191500" cy="2359025"/>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a:p>
            <a:pPr lvl="0"/>
            <a:r>
              <a:rPr lang="en-US" altLang="zh-CN" dirty="0"/>
              <a:t>This is our next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p:txBody>
      </p:sp>
      <p:sp>
        <p:nvSpPr>
          <p:cNvPr id="1029" name="Line 6"/>
          <p:cNvSpPr/>
          <p:nvPr/>
        </p:nvSpPr>
        <p:spPr>
          <a:xfrm>
            <a:off x="317500" y="673100"/>
            <a:ext cx="8458200" cy="0"/>
          </a:xfrm>
          <a:prstGeom prst="line">
            <a:avLst/>
          </a:prstGeom>
          <a:ln w="12700" cap="flat" cmpd="sng">
            <a:solidFill>
              <a:schemeClr val="accent1"/>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3200" b="1">
          <a:solidFill>
            <a:srgbClr val="CC0000"/>
          </a:solidFill>
          <a:latin typeface="+mj-lt"/>
          <a:ea typeface="+mj-ea"/>
          <a:cs typeface="+mj-cs"/>
        </a:defRPr>
      </a:lvl1pPr>
      <a:lvl2pPr algn="l" rtl="0" eaLnBrk="0" fontAlgn="base" hangingPunct="0">
        <a:lnSpc>
          <a:spcPct val="87000"/>
        </a:lnSpc>
        <a:spcBef>
          <a:spcPct val="0"/>
        </a:spcBef>
        <a:spcAft>
          <a:spcPct val="0"/>
        </a:spcAft>
        <a:defRPr sz="3200" b="1">
          <a:solidFill>
            <a:srgbClr val="CC0000"/>
          </a:solidFill>
          <a:latin typeface="Arial" panose="020B0604020202020204" pitchFamily="34" charset="0"/>
        </a:defRPr>
      </a:lvl2pPr>
      <a:lvl3pPr algn="l" rtl="0" eaLnBrk="0" fontAlgn="base" hangingPunct="0">
        <a:lnSpc>
          <a:spcPct val="87000"/>
        </a:lnSpc>
        <a:spcBef>
          <a:spcPct val="0"/>
        </a:spcBef>
        <a:spcAft>
          <a:spcPct val="0"/>
        </a:spcAft>
        <a:defRPr sz="3200" b="1">
          <a:solidFill>
            <a:srgbClr val="CC0000"/>
          </a:solidFill>
          <a:latin typeface="Arial" panose="020B0604020202020204" pitchFamily="34" charset="0"/>
        </a:defRPr>
      </a:lvl3pPr>
      <a:lvl4pPr algn="l" rtl="0" eaLnBrk="0" fontAlgn="base" hangingPunct="0">
        <a:lnSpc>
          <a:spcPct val="87000"/>
        </a:lnSpc>
        <a:spcBef>
          <a:spcPct val="0"/>
        </a:spcBef>
        <a:spcAft>
          <a:spcPct val="0"/>
        </a:spcAft>
        <a:defRPr sz="3200" b="1">
          <a:solidFill>
            <a:srgbClr val="CC0000"/>
          </a:solidFill>
          <a:latin typeface="Arial" panose="020B0604020202020204" pitchFamily="34" charset="0"/>
        </a:defRPr>
      </a:lvl4pPr>
      <a:lvl5pPr algn="l" rtl="0" eaLnBrk="0" fontAlgn="base" hangingPunct="0">
        <a:lnSpc>
          <a:spcPct val="87000"/>
        </a:lnSpc>
        <a:spcBef>
          <a:spcPct val="0"/>
        </a:spcBef>
        <a:spcAft>
          <a:spcPct val="0"/>
        </a:spcAft>
        <a:defRPr sz="3200" b="1">
          <a:solidFill>
            <a:srgbClr val="CC0000"/>
          </a:solidFill>
          <a:latin typeface="Arial" panose="020B0604020202020204" pitchFamily="34" charset="0"/>
        </a:defRPr>
      </a:lvl5pPr>
      <a:lvl6pPr marL="457200" algn="l" rtl="0" eaLnBrk="0" fontAlgn="base" hangingPunct="0">
        <a:lnSpc>
          <a:spcPct val="87000"/>
        </a:lnSpc>
        <a:spcBef>
          <a:spcPct val="0"/>
        </a:spcBef>
        <a:spcAft>
          <a:spcPct val="0"/>
        </a:spcAft>
        <a:defRPr sz="3200" b="1">
          <a:solidFill>
            <a:srgbClr val="CC0000"/>
          </a:solidFill>
          <a:latin typeface="Arial" panose="020B0604020202020204" pitchFamily="34" charset="0"/>
        </a:defRPr>
      </a:lvl6pPr>
      <a:lvl7pPr marL="914400" algn="l" rtl="0" eaLnBrk="0" fontAlgn="base" hangingPunct="0">
        <a:lnSpc>
          <a:spcPct val="87000"/>
        </a:lnSpc>
        <a:spcBef>
          <a:spcPct val="0"/>
        </a:spcBef>
        <a:spcAft>
          <a:spcPct val="0"/>
        </a:spcAft>
        <a:defRPr sz="3200" b="1">
          <a:solidFill>
            <a:srgbClr val="CC0000"/>
          </a:solidFill>
          <a:latin typeface="Arial" panose="020B0604020202020204" pitchFamily="34" charset="0"/>
        </a:defRPr>
      </a:lvl7pPr>
      <a:lvl8pPr marL="1371600" algn="l" rtl="0" eaLnBrk="0" fontAlgn="base" hangingPunct="0">
        <a:lnSpc>
          <a:spcPct val="87000"/>
        </a:lnSpc>
        <a:spcBef>
          <a:spcPct val="0"/>
        </a:spcBef>
        <a:spcAft>
          <a:spcPct val="0"/>
        </a:spcAft>
        <a:defRPr sz="3200" b="1">
          <a:solidFill>
            <a:srgbClr val="CC0000"/>
          </a:solidFill>
          <a:latin typeface="Arial" panose="020B0604020202020204" pitchFamily="34" charset="0"/>
        </a:defRPr>
      </a:lvl8pPr>
      <a:lvl9pPr marL="1828800" algn="l" rtl="0" eaLnBrk="0" fontAlgn="base" hangingPunct="0">
        <a:lnSpc>
          <a:spcPct val="87000"/>
        </a:lnSpc>
        <a:spcBef>
          <a:spcPct val="0"/>
        </a:spcBef>
        <a:spcAft>
          <a:spcPct val="0"/>
        </a:spcAft>
        <a:defRPr sz="3200" b="1">
          <a:solidFill>
            <a:srgbClr val="CC0000"/>
          </a:solidFill>
          <a:latin typeface="Arial" panose="020B0604020202020204" pitchFamily="34" charset="0"/>
        </a:defRPr>
      </a:lvl9pPr>
    </p:titleStyle>
    <p:bodyStyle>
      <a:lvl1pPr marL="203200" indent="-203200" algn="l" rtl="0" eaLnBrk="0" fontAlgn="base" hangingPunct="0">
        <a:lnSpc>
          <a:spcPct val="110000"/>
        </a:lnSpc>
        <a:spcBef>
          <a:spcPct val="2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0" fontAlgn="base" hangingPunct="0">
        <a:lnSpc>
          <a:spcPct val="110000"/>
        </a:lnSpc>
        <a:spcBef>
          <a:spcPct val="20000"/>
        </a:spcBef>
        <a:spcAft>
          <a:spcPct val="0"/>
        </a:spcAft>
        <a:buSzPct val="100000"/>
        <a:buChar char="•"/>
        <a:defRPr sz="2000" b="1">
          <a:solidFill>
            <a:srgbClr val="0000FF"/>
          </a:solidFill>
          <a:latin typeface="+mn-lt"/>
          <a:ea typeface="+mn-ea"/>
        </a:defRPr>
      </a:lvl2pPr>
      <a:lvl3pPr marL="1257300" indent="-342900" algn="l" rtl="0" eaLnBrk="0" fontAlgn="base" hangingPunct="0">
        <a:lnSpc>
          <a:spcPct val="110000"/>
        </a:lnSpc>
        <a:spcBef>
          <a:spcPct val="20000"/>
        </a:spcBef>
        <a:spcAft>
          <a:spcPct val="0"/>
        </a:spcAft>
        <a:buSzPct val="100000"/>
        <a:buChar char="-"/>
        <a:defRPr b="1">
          <a:solidFill>
            <a:schemeClr val="tx1"/>
          </a:solidFill>
          <a:latin typeface="+mn-lt"/>
          <a:ea typeface="+mn-ea"/>
        </a:defRPr>
      </a:lvl3pPr>
      <a:lvl4pPr marL="1714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38.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6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70.xml"/><Relationship Id="rId1" Type="http://schemas.openxmlformats.org/officeDocument/2006/relationships/slide" Target="slide7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88.xml"/><Relationship Id="rId2" Type="http://schemas.openxmlformats.org/officeDocument/2006/relationships/slide" Target="slide94.xml"/><Relationship Id="rId1" Type="http://schemas.openxmlformats.org/officeDocument/2006/relationships/slide" Target="slide9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86.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9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91.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86.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slide" Target="slide96.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8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9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hyperlink" Target="http://en.wikipedia.org/wiki/File:William_Kahan.jpg"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35838;&#31243;&#23454;&#39564;\&#26412;&#26657;&#35838;&#39064;&#32452;\&#32534;&#31243;&#23454;&#39564;\&#32534;&#31243;&#23454;&#39564;.doc"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4" name="Rectangle 2"/>
          <p:cNvSpPr>
            <a:spLocks noGrp="1" noChangeArrowheads="1"/>
          </p:cNvSpPr>
          <p:nvPr>
            <p:ph type="ctrTitle"/>
          </p:nvPr>
        </p:nvSpPr>
        <p:spPr>
          <a:xfrm>
            <a:off x="2640013" y="3197225"/>
            <a:ext cx="4391025" cy="2117725"/>
          </a:xfrm>
        </p:spPr>
        <p:txBody>
          <a:bodyPr vert="horz" wrap="square" lIns="63500" tIns="25400" rIns="63500" bIns="25400" numCol="1" anchor="t" anchorCtr="0" compatLnSpc="1">
            <a:spAutoFit/>
          </a:bodyPr>
          <a:lstStyle/>
          <a:p>
            <a:pPr marL="0" marR="0" lvl="0" indent="0" algn="l" defTabSz="914400" rtl="0" eaLnBrk="0" fontAlgn="base" latinLnBrk="0" hangingPunct="0">
              <a:lnSpc>
                <a:spcPct val="120000"/>
              </a:lnSpc>
              <a:spcBef>
                <a:spcPct val="0"/>
              </a:spcBef>
              <a:spcAft>
                <a:spcPct val="0"/>
              </a:spcAft>
              <a:buClrTx/>
              <a:buSzTx/>
              <a:buFontTx/>
              <a:buNone/>
              <a:defRPr/>
            </a:pPr>
            <a:br>
              <a:rPr kumimoji="0" lang="en-US" altLang="zh-CN" sz="2800" b="1" i="0" u="none" strike="noStrike" kern="0" cap="none" spc="0" normalizeH="0" baseline="0" noProof="0" dirty="0">
                <a:ln>
                  <a:noFill/>
                </a:ln>
                <a:solidFill>
                  <a:schemeClr val="tx1"/>
                </a:solidFill>
                <a:effectLst/>
                <a:uLnTx/>
                <a:uFillTx/>
                <a:latin typeface="+mn-lt"/>
                <a:ea typeface="黑体" panose="02010609060101010101" pitchFamily="49" charset="-122"/>
                <a:cs typeface="Arial" panose="020B0604020202020204" pitchFamily="34" charset="0"/>
              </a:rPr>
            </a:br>
            <a:r>
              <a:rPr kumimoji="0" lang="zh-CN" altLang="en-US" sz="2800" b="1" i="0" u="none" strike="noStrike" kern="0" cap="none" spc="0" normalizeH="0" baseline="0" noProof="0" dirty="0">
                <a:ln>
                  <a:noFill/>
                </a:ln>
                <a:solidFill>
                  <a:schemeClr val="tx1"/>
                </a:solidFill>
                <a:effectLst/>
                <a:uLnTx/>
                <a:uFillTx/>
                <a:latin typeface="+mn-lt"/>
                <a:ea typeface="黑体" panose="02010609060101010101" pitchFamily="49" charset="-122"/>
                <a:cs typeface="Arial" panose="020B0604020202020204" pitchFamily="34" charset="0"/>
              </a:rPr>
              <a:t>第一讲  </a:t>
            </a:r>
            <a:r>
              <a:rPr kumimoji="0" lang="zh-CN" altLang="en-US" sz="2800" b="1" i="0" u="none" strike="noStrike" kern="0" cap="none" spc="0" normalizeH="0" baseline="0" noProof="0" dirty="0" smtClean="0">
                <a:ln>
                  <a:noFill/>
                </a:ln>
                <a:solidFill>
                  <a:schemeClr val="tx1"/>
                </a:solidFill>
                <a:effectLst/>
                <a:uLnTx/>
                <a:uFillTx/>
                <a:latin typeface="+mn-lt"/>
                <a:ea typeface="黑体" panose="02010609060101010101" pitchFamily="49" charset="-122"/>
                <a:cs typeface="Arial" panose="020B0604020202020204" pitchFamily="34" charset="0"/>
              </a:rPr>
              <a:t>基本运算部件</a:t>
            </a:r>
            <a:br>
              <a:rPr kumimoji="0" lang="en-US" altLang="zh-CN" sz="2800" b="1" i="0" u="none" strike="noStrike" kern="0" cap="none" spc="0" normalizeH="0" baseline="0" noProof="0" dirty="0" smtClean="0">
                <a:ln>
                  <a:noFill/>
                </a:ln>
                <a:solidFill>
                  <a:schemeClr val="tx1"/>
                </a:solidFill>
                <a:effectLst/>
                <a:uLnTx/>
                <a:uFillTx/>
                <a:latin typeface="+mn-lt"/>
                <a:ea typeface="黑体" panose="02010609060101010101" pitchFamily="49" charset="-122"/>
                <a:cs typeface="Arial" panose="020B0604020202020204" pitchFamily="34" charset="0"/>
              </a:rPr>
            </a:br>
            <a:r>
              <a:rPr kumimoji="0" lang="zh-CN" altLang="en-US" sz="2800" b="1" i="0" u="none" strike="noStrike" kern="0" cap="none" spc="0" normalizeH="0" baseline="0" noProof="0" dirty="0" smtClean="0">
                <a:ln>
                  <a:noFill/>
                </a:ln>
                <a:solidFill>
                  <a:schemeClr val="tx1"/>
                </a:solidFill>
                <a:effectLst/>
                <a:uLnTx/>
                <a:uFillTx/>
                <a:latin typeface="+mn-lt"/>
                <a:ea typeface="黑体" panose="02010609060101010101" pitchFamily="49" charset="-122"/>
                <a:cs typeface="Arial" panose="020B0604020202020204" pitchFamily="34" charset="0"/>
              </a:rPr>
              <a:t>第二讲  定点数运算</a:t>
            </a:r>
            <a:br>
              <a:rPr kumimoji="0" lang="zh-CN" altLang="en-US" sz="2800" b="1" i="0" u="none" strike="noStrike" kern="0" cap="none" spc="0" normalizeH="0" baseline="0" noProof="0" dirty="0">
                <a:ln>
                  <a:noFill/>
                </a:ln>
                <a:solidFill>
                  <a:schemeClr val="tx1"/>
                </a:solidFill>
                <a:effectLst/>
                <a:uLnTx/>
                <a:uFillTx/>
                <a:latin typeface="+mn-lt"/>
                <a:ea typeface="黑体" panose="02010609060101010101" pitchFamily="49" charset="-122"/>
                <a:cs typeface="Arial" panose="020B0604020202020204" pitchFamily="34" charset="0"/>
              </a:rPr>
            </a:br>
            <a:r>
              <a:rPr kumimoji="0" lang="zh-CN" altLang="en-US" sz="2800" b="1" i="0" u="none" strike="noStrike" kern="0" cap="none" spc="0" normalizeH="0" baseline="0" noProof="0" dirty="0">
                <a:ln>
                  <a:noFill/>
                </a:ln>
                <a:solidFill>
                  <a:schemeClr val="tx1"/>
                </a:solidFill>
                <a:effectLst/>
                <a:uLnTx/>
                <a:uFillTx/>
                <a:latin typeface="+mn-lt"/>
                <a:ea typeface="黑体" panose="02010609060101010101" pitchFamily="49" charset="-122"/>
                <a:cs typeface="Arial" panose="020B0604020202020204" pitchFamily="34" charset="0"/>
              </a:rPr>
              <a:t>第三讲  浮点数</a:t>
            </a:r>
            <a:r>
              <a:rPr kumimoji="0" lang="zh-CN" altLang="en-US" sz="2800" b="1" i="0" u="none" strike="noStrike" kern="0" cap="none" spc="0" normalizeH="0" baseline="0" noProof="0" dirty="0" smtClean="0">
                <a:ln>
                  <a:noFill/>
                </a:ln>
                <a:solidFill>
                  <a:schemeClr val="tx1"/>
                </a:solidFill>
                <a:effectLst/>
                <a:uLnTx/>
                <a:uFillTx/>
                <a:latin typeface="+mn-lt"/>
                <a:ea typeface="黑体" panose="02010609060101010101" pitchFamily="49" charset="-122"/>
                <a:cs typeface="Arial" panose="020B0604020202020204" pitchFamily="34" charset="0"/>
              </a:rPr>
              <a:t>运算</a:t>
            </a:r>
            <a:endParaRPr kumimoji="0" lang="en-US" altLang="zh-CN" sz="2800" b="1" i="0" u="none" strike="noStrike" kern="0" cap="none" spc="0" normalizeH="0" baseline="0" noProof="0" dirty="0">
              <a:ln>
                <a:noFill/>
              </a:ln>
              <a:solidFill>
                <a:schemeClr val="tx1"/>
              </a:solidFill>
              <a:effectLst/>
              <a:uLnTx/>
              <a:uFillTx/>
              <a:latin typeface="+mn-lt"/>
              <a:ea typeface="黑体" panose="02010609060101010101" pitchFamily="49" charset="-122"/>
              <a:cs typeface="Arial" panose="020B0604020202020204" pitchFamily="34" charset="0"/>
            </a:endParaRPr>
          </a:p>
        </p:txBody>
      </p:sp>
      <p:sp>
        <p:nvSpPr>
          <p:cNvPr id="6146" name="Rectangle 3"/>
          <p:cNvSpPr/>
          <p:nvPr/>
        </p:nvSpPr>
        <p:spPr>
          <a:xfrm>
            <a:off x="176213" y="1957388"/>
            <a:ext cx="8353425" cy="790575"/>
          </a:xfrm>
          <a:prstGeom prst="rect">
            <a:avLst/>
          </a:prstGeom>
          <a:noFill/>
          <a:ln w="12700">
            <a:noFill/>
          </a:ln>
        </p:spPr>
        <p:txBody>
          <a:bodyPr lIns="63500" tIns="25400" rIns="63500" bIns="25400" anchor="t" anchorCtr="0">
            <a:spAutoFit/>
          </a:bodyPr>
          <a:p>
            <a:pPr algn="ctr" eaLnBrk="0" hangingPunct="0">
              <a:lnSpc>
                <a:spcPct val="120000"/>
              </a:lnSpc>
            </a:pPr>
            <a:r>
              <a:rPr lang="zh-CN" altLang="en-US" sz="4000" dirty="0">
                <a:solidFill>
                  <a:srgbClr val="3333FF"/>
                </a:solidFill>
                <a:latin typeface="黑体" panose="02010609060101010101" pitchFamily="49" charset="-122"/>
                <a:ea typeface="黑体" panose="02010609060101010101" pitchFamily="49" charset="-122"/>
              </a:rPr>
              <a:t>第</a:t>
            </a:r>
            <a:r>
              <a:rPr lang="en-US" altLang="zh-CN" sz="4000" dirty="0">
                <a:solidFill>
                  <a:srgbClr val="3333FF"/>
                </a:solidFill>
                <a:latin typeface="黑体" panose="02010609060101010101" pitchFamily="49" charset="-122"/>
                <a:ea typeface="黑体" panose="02010609060101010101" pitchFamily="49" charset="-122"/>
              </a:rPr>
              <a:t>6</a:t>
            </a:r>
            <a:r>
              <a:rPr lang="zh-CN" altLang="en-US" sz="4000" dirty="0">
                <a:solidFill>
                  <a:srgbClr val="3333FF"/>
                </a:solidFill>
                <a:latin typeface="黑体" panose="02010609060101010101" pitchFamily="49" charset="-122"/>
                <a:ea typeface="黑体" panose="02010609060101010101" pitchFamily="49" charset="-122"/>
              </a:rPr>
              <a:t>章 运算方法和运算部件</a:t>
            </a:r>
            <a:endParaRPr lang="zh-CN" altLang="en-US" sz="4000" dirty="0">
              <a:solidFill>
                <a:srgbClr val="3333FF"/>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4"/>
          <p:cNvSpPr/>
          <p:nvPr/>
        </p:nvSpPr>
        <p:spPr>
          <a:xfrm>
            <a:off x="800100" y="190500"/>
            <a:ext cx="7300913" cy="479425"/>
          </a:xfrm>
          <a:prstGeom prst="rect">
            <a:avLst/>
          </a:prstGeom>
          <a:noFill/>
          <a:ln w="12700">
            <a:noFill/>
          </a:ln>
        </p:spPr>
        <p:txBody>
          <a:bodyPr lIns="63500" tIns="25400" rIns="63500" bIns="25400" anchor="t" anchorCtr="0">
            <a:spAutoFit/>
          </a:bodyPr>
          <a:p>
            <a:pPr eaLnBrk="0" hangingPunct="0">
              <a:lnSpc>
                <a:spcPct val="87000"/>
              </a:lnSpc>
            </a:pPr>
            <a:r>
              <a:rPr lang="zh-CN" altLang="en-US" sz="3200" dirty="0">
                <a:solidFill>
                  <a:srgbClr val="CC0000"/>
                </a:solidFill>
                <a:latin typeface="Arial" panose="020B0604020202020204" pitchFamily="34" charset="0"/>
                <a:ea typeface="宋体" panose="02010600030101010101" pitchFamily="2" charset="-122"/>
              </a:rPr>
              <a:t>第一讲：基本运算部件</a:t>
            </a:r>
            <a:endParaRPr lang="zh-CN" altLang="en-US" sz="3200" dirty="0">
              <a:solidFill>
                <a:srgbClr val="CC0000"/>
              </a:solidFill>
              <a:latin typeface="Arial" panose="020B0604020202020204" pitchFamily="34" charset="0"/>
              <a:ea typeface="宋体" panose="02010600030101010101" pitchFamily="2" charset="-122"/>
            </a:endParaRPr>
          </a:p>
        </p:txBody>
      </p:sp>
      <p:sp>
        <p:nvSpPr>
          <p:cNvPr id="9218" name="Rectangle 5"/>
          <p:cNvSpPr/>
          <p:nvPr/>
        </p:nvSpPr>
        <p:spPr>
          <a:xfrm>
            <a:off x="1454150" y="922338"/>
            <a:ext cx="6551613" cy="5011737"/>
          </a:xfrm>
          <a:prstGeom prst="rect">
            <a:avLst/>
          </a:prstGeom>
          <a:noFill/>
          <a:ln w="12700">
            <a:noFill/>
          </a:ln>
        </p:spPr>
        <p:txBody>
          <a:bodyPr lIns="63500" tIns="25400" rIns="63500" bIns="25400" anchor="t" anchorCtr="0">
            <a:spAutoFit/>
          </a:bodyPr>
          <a:p>
            <a:pPr marL="342900" indent="-342900" algn="ctr" eaLnBrk="0" hangingPunct="0">
              <a:lnSpc>
                <a:spcPct val="110000"/>
              </a:lnSpc>
              <a:spcBef>
                <a:spcPct val="10000"/>
              </a:spcBef>
              <a:buClr>
                <a:schemeClr val="tx1"/>
              </a:buClr>
              <a:buSzPct val="60000"/>
              <a:buFont typeface="Wingdings" panose="05000000000000000000" pitchFamily="2" charset="2"/>
            </a:pPr>
            <a:r>
              <a:rPr lang="zh-CN" altLang="en-US" sz="2800" dirty="0">
                <a:solidFill>
                  <a:srgbClr val="CC0000"/>
                </a:solidFill>
                <a:latin typeface="微软雅黑" panose="020B0503020204020204" pitchFamily="34" charset="-122"/>
                <a:ea typeface="微软雅黑" panose="020B0503020204020204" pitchFamily="34" charset="-122"/>
              </a:rPr>
              <a:t>主    要   内   容</a:t>
            </a:r>
            <a:endParaRPr lang="zh-CN" altLang="en-US" sz="2800" dirty="0">
              <a:solidFill>
                <a:srgbClr val="CC0000"/>
              </a:solidFill>
              <a:latin typeface="微软雅黑" panose="020B0503020204020204" pitchFamily="34" charset="-122"/>
              <a:ea typeface="微软雅黑" panose="020B0503020204020204" pitchFamily="34"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高级语言程序中涉及的运算（以</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语言为例）</a:t>
            </a:r>
            <a:endParaRPr lang="zh-CN" altLang="en-US" sz="2400" dirty="0">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lr>
                <a:schemeClr val="tx1"/>
              </a:buClr>
              <a:buChar char="•"/>
            </a:pPr>
            <a:r>
              <a:rPr lang="zh-CN" altLang="en-US" sz="2400" dirty="0">
                <a:solidFill>
                  <a:srgbClr val="0000FF"/>
                </a:solidFill>
                <a:latin typeface="微软雅黑" panose="020B0503020204020204" pitchFamily="34" charset="-122"/>
                <a:ea typeface="微软雅黑" panose="020B0503020204020204" pitchFamily="34" charset="-122"/>
              </a:rPr>
              <a:t>整数算术运算、浮点数算术运算</a:t>
            </a:r>
            <a:endParaRPr lang="zh-CN" altLang="en-US" sz="2400" dirty="0">
              <a:solidFill>
                <a:srgbClr val="0000FF"/>
              </a:solidFill>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lr>
                <a:schemeClr val="tx1"/>
              </a:buClr>
              <a:buChar char="•"/>
            </a:pPr>
            <a:r>
              <a:rPr lang="zh-CN" altLang="en-US" sz="2400" dirty="0">
                <a:solidFill>
                  <a:srgbClr val="0000FF"/>
                </a:solidFill>
                <a:latin typeface="微软雅黑" panose="020B0503020204020204" pitchFamily="34" charset="-122"/>
                <a:ea typeface="微软雅黑" panose="020B0503020204020204" pitchFamily="34" charset="-122"/>
              </a:rPr>
              <a:t>按位、逻辑、移位、位扩展和位截断</a:t>
            </a:r>
            <a:endParaRPr lang="zh-CN" altLang="en-US" sz="2400" dirty="0">
              <a:solidFill>
                <a:srgbClr val="0000FF"/>
              </a:solidFill>
              <a:latin typeface="微软雅黑" panose="020B0503020204020204" pitchFamily="34" charset="-122"/>
              <a:ea typeface="微软雅黑" panose="020B0503020204020204" pitchFamily="34"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串行进位加法器</a:t>
            </a:r>
            <a:endParaRPr lang="en-US" altLang="zh-CN" sz="2400" dirty="0">
              <a:latin typeface="微软雅黑" panose="020B0503020204020204" pitchFamily="34" charset="-122"/>
              <a:ea typeface="微软雅黑" panose="020B0503020204020204" pitchFamily="34"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并行进位加法器</a:t>
            </a:r>
            <a:endParaRPr lang="en-US" altLang="zh-CN" sz="2400" dirty="0">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lr>
                <a:schemeClr val="tx1"/>
              </a:buClr>
              <a:buChar char="•"/>
            </a:pPr>
            <a:r>
              <a:rPr lang="zh-CN" altLang="en-US" sz="2400" dirty="0">
                <a:solidFill>
                  <a:srgbClr val="0000FF"/>
                </a:solidFill>
                <a:latin typeface="微软雅黑" panose="020B0503020204020204" pitchFamily="34" charset="-122"/>
                <a:ea typeface="微软雅黑" panose="020B0503020204020204" pitchFamily="34" charset="-122"/>
              </a:rPr>
              <a:t>全先行进位加法器</a:t>
            </a:r>
            <a:endParaRPr lang="en-US" altLang="zh-CN" sz="2400" dirty="0">
              <a:solidFill>
                <a:srgbClr val="0000FF"/>
              </a:solidFill>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lr>
                <a:schemeClr val="tx1"/>
              </a:buClr>
              <a:buChar char="•"/>
            </a:pPr>
            <a:r>
              <a:rPr lang="zh-CN" altLang="en-US" sz="2400" dirty="0">
                <a:solidFill>
                  <a:srgbClr val="0000FF"/>
                </a:solidFill>
                <a:latin typeface="微软雅黑" panose="020B0503020204020204" pitchFamily="34" charset="-122"/>
                <a:ea typeface="微软雅黑" panose="020B0503020204020204" pitchFamily="34" charset="-122"/>
              </a:rPr>
              <a:t>两级</a:t>
            </a:r>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多级先行进位加法器</a:t>
            </a:r>
            <a:endParaRPr lang="en-US" altLang="zh-CN" sz="2400" dirty="0">
              <a:solidFill>
                <a:srgbClr val="0000FF"/>
              </a:solidFill>
              <a:latin typeface="微软雅黑" panose="020B0503020204020204" pitchFamily="34" charset="-122"/>
              <a:ea typeface="微软雅黑" panose="020B0503020204020204" pitchFamily="34"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带标志加法器</a:t>
            </a:r>
            <a:endParaRPr lang="en-US" altLang="zh-CN" sz="2400" dirty="0">
              <a:latin typeface="微软雅黑" panose="020B0503020204020204" pitchFamily="34" charset="-122"/>
              <a:ea typeface="微软雅黑" panose="020B0503020204020204" pitchFamily="34"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算术逻辑部件（</a:t>
            </a:r>
            <a:r>
              <a:rPr lang="en-US" altLang="zh-CN" sz="2400" dirty="0">
                <a:latin typeface="微软雅黑" panose="020B0503020204020204" pitchFamily="34" charset="-122"/>
                <a:ea typeface="微软雅黑" panose="020B0503020204020204" pitchFamily="34" charset="-122"/>
              </a:rPr>
              <a:t>ALU</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idx="4294967295"/>
          </p:nvPr>
        </p:nvSpPr>
        <p:spPr>
          <a:xfrm>
            <a:off x="1114425" y="171450"/>
            <a:ext cx="6978650" cy="538163"/>
          </a:xfrm>
          <a:ln/>
        </p:spPr>
        <p:txBody>
          <a:bodyPr vert="horz" wrap="square" lIns="63500" tIns="25400" rIns="63500" bIns="25400" anchor="t" anchorCtr="0">
            <a:spAutoFit/>
          </a:bodyPr>
          <a:p>
            <a:r>
              <a:rPr lang="zh-CN" altLang="en-US" dirty="0">
                <a:ea typeface="宋体" panose="02010600030101010101" pitchFamily="2" charset="-122"/>
              </a:rPr>
              <a:t>如何实现高级语言源程序中的运算？</a:t>
            </a:r>
            <a:endParaRPr lang="zh-CN" altLang="en-US" dirty="0">
              <a:ea typeface="宋体" panose="02010600030101010101" pitchFamily="2" charset="-122"/>
            </a:endParaRPr>
          </a:p>
        </p:txBody>
      </p:sp>
      <p:sp>
        <p:nvSpPr>
          <p:cNvPr id="496643" name="Rectangle 3"/>
          <p:cNvSpPr>
            <a:spLocks noGrp="1"/>
          </p:cNvSpPr>
          <p:nvPr>
            <p:ph type="body" idx="4294967295"/>
          </p:nvPr>
        </p:nvSpPr>
        <p:spPr>
          <a:xfrm>
            <a:off x="444500" y="793750"/>
            <a:ext cx="8191500" cy="2981325"/>
          </a:xfrm>
          <a:ln/>
        </p:spPr>
        <p:txBody>
          <a:bodyPr vert="horz" wrap="square" lIns="63500" tIns="25400" rIns="63500" bIns="25400" anchor="t" anchorCtr="0">
            <a:spAutoFit/>
          </a:bodyPr>
          <a:p>
            <a:pPr>
              <a:lnSpc>
                <a:spcPct val="100000"/>
              </a:lnSpc>
            </a:pP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语言程序中的基本数据类型及其基本运算类型</a:t>
            </a:r>
            <a:endParaRPr lang="zh-CN" altLang="en-US" sz="2000" dirty="0">
              <a:latin typeface="微软雅黑" panose="020B0503020204020204" pitchFamily="34" charset="-122"/>
              <a:ea typeface="微软雅黑" panose="020B0503020204020204" pitchFamily="34" charset="-122"/>
            </a:endParaRPr>
          </a:p>
          <a:p>
            <a:pPr lvl="1">
              <a:lnSpc>
                <a:spcPct val="100000"/>
              </a:lnSpc>
            </a:pPr>
            <a:r>
              <a:rPr lang="zh-CN" altLang="en-US" dirty="0">
                <a:latin typeface="微软雅黑" panose="020B0503020204020204" pitchFamily="34" charset="-122"/>
                <a:ea typeface="微软雅黑" panose="020B0503020204020204" pitchFamily="34" charset="-122"/>
              </a:rPr>
              <a:t>基本数据类型</a:t>
            </a:r>
            <a:endParaRPr lang="zh-CN" altLang="en-US" dirty="0">
              <a:latin typeface="微软雅黑" panose="020B0503020204020204" pitchFamily="34" charset="-122"/>
              <a:ea typeface="微软雅黑" panose="020B0503020204020204" pitchFamily="34" charset="-122"/>
            </a:endParaRPr>
          </a:p>
          <a:p>
            <a:pPr lvl="2">
              <a:lnSpc>
                <a:spcPct val="100000"/>
              </a:lnSpc>
            </a:pPr>
            <a:r>
              <a:rPr lang="zh-CN" altLang="en-US" sz="2000" dirty="0">
                <a:solidFill>
                  <a:srgbClr val="009900"/>
                </a:solidFill>
                <a:latin typeface="微软雅黑" panose="020B0503020204020204" pitchFamily="34" charset="-122"/>
                <a:ea typeface="微软雅黑" panose="020B0503020204020204" pitchFamily="34" charset="-122"/>
              </a:rPr>
              <a:t>无符号数、带符号整数、浮点数、位串、字符（串）</a:t>
            </a:r>
            <a:endParaRPr lang="en-US" altLang="zh-CN" sz="2000" dirty="0">
              <a:solidFill>
                <a:srgbClr val="009900"/>
              </a:solidFill>
              <a:latin typeface="微软雅黑" panose="020B0503020204020204" pitchFamily="34" charset="-122"/>
              <a:ea typeface="微软雅黑" panose="020B0503020204020204" pitchFamily="34" charset="-122"/>
            </a:endParaRPr>
          </a:p>
          <a:p>
            <a:pPr lvl="1">
              <a:lnSpc>
                <a:spcPct val="100000"/>
              </a:lnSpc>
            </a:pPr>
            <a:r>
              <a:rPr lang="zh-CN" altLang="en-US" dirty="0">
                <a:latin typeface="微软雅黑" panose="020B0503020204020204" pitchFamily="34" charset="-122"/>
                <a:ea typeface="微软雅黑" panose="020B0503020204020204" pitchFamily="34" charset="-122"/>
              </a:rPr>
              <a:t>基本运算类型</a:t>
            </a:r>
            <a:endParaRPr lang="zh-CN" altLang="en-US" dirty="0">
              <a:latin typeface="微软雅黑" panose="020B0503020204020204" pitchFamily="34" charset="-122"/>
              <a:ea typeface="微软雅黑" panose="020B0503020204020204" pitchFamily="34" charset="-122"/>
            </a:endParaRPr>
          </a:p>
          <a:p>
            <a:pPr lvl="2">
              <a:lnSpc>
                <a:spcPct val="100000"/>
              </a:lnSpc>
            </a:pPr>
            <a:r>
              <a:rPr lang="zh-CN" altLang="en-US" sz="2000" dirty="0">
                <a:solidFill>
                  <a:srgbClr val="009900"/>
                </a:solidFill>
                <a:latin typeface="微软雅黑" panose="020B0503020204020204" pitchFamily="34" charset="-122"/>
                <a:ea typeface="微软雅黑" panose="020B0503020204020204" pitchFamily="34" charset="-122"/>
              </a:rPr>
              <a:t>算术、按位、逻辑、移位、扩展和截断、匹配</a:t>
            </a:r>
            <a:endParaRPr lang="zh-CN" altLang="en-US" sz="2000" dirty="0">
              <a:solidFill>
                <a:srgbClr val="009900"/>
              </a:solidFill>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计算机如何实现高级语言程序中的运算？</a:t>
            </a:r>
            <a:endParaRPr lang="zh-CN" altLang="en-US" dirty="0">
              <a:latin typeface="微软雅黑" panose="020B0503020204020204" pitchFamily="34" charset="-122"/>
              <a:ea typeface="微软雅黑" panose="020B0503020204020204" pitchFamily="34" charset="-122"/>
            </a:endParaRPr>
          </a:p>
          <a:p>
            <a:pPr lvl="1">
              <a:lnSpc>
                <a:spcPct val="100000"/>
              </a:lnSpc>
            </a:pPr>
            <a:r>
              <a:rPr lang="zh-CN" altLang="en-US" dirty="0">
                <a:latin typeface="微软雅黑" panose="020B0503020204020204" pitchFamily="34" charset="-122"/>
                <a:ea typeface="微软雅黑" panose="020B0503020204020204" pitchFamily="34" charset="-122"/>
              </a:rPr>
              <a:t>将各类表达式编译（转换）为指令序列</a:t>
            </a:r>
            <a:endParaRPr lang="zh-CN" altLang="en-US" dirty="0">
              <a:latin typeface="微软雅黑" panose="020B0503020204020204" pitchFamily="34" charset="-122"/>
              <a:ea typeface="微软雅黑" panose="020B0503020204020204" pitchFamily="34" charset="-122"/>
            </a:endParaRPr>
          </a:p>
          <a:p>
            <a:pPr lvl="1">
              <a:lnSpc>
                <a:spcPct val="100000"/>
              </a:lnSpc>
            </a:pPr>
            <a:r>
              <a:rPr lang="zh-CN" altLang="en-US" dirty="0">
                <a:latin typeface="微软雅黑" panose="020B0503020204020204" pitchFamily="34" charset="-122"/>
                <a:ea typeface="微软雅黑" panose="020B0503020204020204" pitchFamily="34" charset="-122"/>
              </a:rPr>
              <a:t>计算机直接执行指令来完成运算</a:t>
            </a:r>
            <a:endParaRPr lang="en-US" altLang="zh-CN" dirty="0">
              <a:latin typeface="微软雅黑" panose="020B0503020204020204" pitchFamily="34" charset="-122"/>
              <a:ea typeface="微软雅黑" panose="020B0503020204020204" pitchFamily="34" charset="-122"/>
            </a:endParaRPr>
          </a:p>
        </p:txBody>
      </p:sp>
      <p:sp>
        <p:nvSpPr>
          <p:cNvPr id="496644" name="Rectangle 4"/>
          <p:cNvSpPr/>
          <p:nvPr/>
        </p:nvSpPr>
        <p:spPr>
          <a:xfrm>
            <a:off x="114300" y="3922713"/>
            <a:ext cx="8823325" cy="2214562"/>
          </a:xfrm>
          <a:prstGeom prst="rect">
            <a:avLst/>
          </a:prstGeom>
          <a:noFill/>
          <a:ln w="12700">
            <a:noFill/>
          </a:ln>
        </p:spPr>
        <p:txBody>
          <a:bodyPr anchor="ctr" anchorCtr="0">
            <a:spAutoFit/>
          </a:bodyPr>
          <a:p>
            <a:pPr indent="266700" eaLnBrk="0" hangingPunct="0">
              <a:spcBef>
                <a:spcPct val="40000"/>
              </a:spcBef>
              <a:buClrTx/>
              <a:buFontTx/>
            </a:pPr>
            <a:r>
              <a:rPr lang="zh-CN" altLang="en-US" sz="1800" dirty="0">
                <a:latin typeface="微软雅黑" panose="020B0503020204020204" pitchFamily="34" charset="-122"/>
                <a:ea typeface="微软雅黑" panose="020B0503020204020204" pitchFamily="34" charset="-122"/>
              </a:rPr>
              <a:t>例：</a:t>
            </a:r>
            <a:r>
              <a:rPr lang="en-US" altLang="zh-CN" sz="1800" dirty="0">
                <a:latin typeface="微软雅黑" panose="020B0503020204020204" pitchFamily="34" charset="-122"/>
                <a:ea typeface="微软雅黑" panose="020B0503020204020204" pitchFamily="34" charset="-122"/>
              </a:rPr>
              <a:t>C</a:t>
            </a:r>
            <a:r>
              <a:rPr lang="zh-CN" altLang="en-US" sz="1800" dirty="0">
                <a:latin typeface="微软雅黑" panose="020B0503020204020204" pitchFamily="34" charset="-122"/>
                <a:ea typeface="微软雅黑" panose="020B0503020204020204" pitchFamily="34" charset="-122"/>
              </a:rPr>
              <a:t>语句</a:t>
            </a:r>
            <a:r>
              <a:rPr lang="zh-CN" altLang="en-US" sz="1800" dirty="0">
                <a:solidFill>
                  <a:srgbClr val="CC3300"/>
                </a:solidFill>
                <a:latin typeface="微软雅黑" panose="020B0503020204020204" pitchFamily="34" charset="-122"/>
                <a:ea typeface="微软雅黑" panose="020B0503020204020204" pitchFamily="34" charset="-122"/>
              </a:rPr>
              <a:t>“</a:t>
            </a:r>
            <a:r>
              <a:rPr lang="en-US" altLang="zh-CN" sz="1800" dirty="0">
                <a:solidFill>
                  <a:srgbClr val="CC3300"/>
                </a:solidFill>
                <a:latin typeface="微软雅黑" panose="020B0503020204020204" pitchFamily="34" charset="-122"/>
                <a:ea typeface="微软雅黑" panose="020B0503020204020204" pitchFamily="34" charset="-122"/>
              </a:rPr>
              <a:t>f = (g+h) </a:t>
            </a:r>
            <a:r>
              <a:rPr lang="pt-BR" altLang="zh-CN" sz="1800" dirty="0">
                <a:solidFill>
                  <a:srgbClr val="CC3300"/>
                </a:solidFill>
                <a:latin typeface="微软雅黑" panose="020B0503020204020204" pitchFamily="34" charset="-122"/>
                <a:ea typeface="微软雅黑" panose="020B0503020204020204" pitchFamily="34" charset="-122"/>
              </a:rPr>
              <a:t>– </a:t>
            </a:r>
            <a:r>
              <a:rPr lang="en-US" altLang="zh-CN" sz="1800" dirty="0">
                <a:solidFill>
                  <a:srgbClr val="CC3300"/>
                </a:solidFill>
                <a:latin typeface="微软雅黑" panose="020B0503020204020204" pitchFamily="34" charset="-122"/>
                <a:ea typeface="微软雅黑" panose="020B0503020204020204" pitchFamily="34" charset="-122"/>
              </a:rPr>
              <a:t>(i+j);”</a:t>
            </a:r>
            <a:r>
              <a:rPr lang="zh-CN" altLang="en-US" sz="1800" dirty="0">
                <a:latin typeface="微软雅黑" panose="020B0503020204020204" pitchFamily="34" charset="-122"/>
                <a:ea typeface="微软雅黑" panose="020B0503020204020204" pitchFamily="34" charset="-122"/>
              </a:rPr>
              <a:t>中变量</a:t>
            </a:r>
            <a:r>
              <a:rPr lang="en-US" altLang="zh-CN" sz="1800" dirty="0">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j</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g</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h</a:t>
            </a:r>
            <a:r>
              <a:rPr lang="zh-CN" altLang="en-US" sz="1800" dirty="0">
                <a:latin typeface="微软雅黑" panose="020B0503020204020204" pitchFamily="34" charset="-122"/>
                <a:ea typeface="微软雅黑" panose="020B0503020204020204" pitchFamily="34" charset="-122"/>
              </a:rPr>
              <a:t>由编译器分别分配在</a:t>
            </a:r>
            <a:r>
              <a:rPr lang="en-US" altLang="zh-CN" sz="1800" dirty="0">
                <a:latin typeface="微软雅黑" panose="020B0503020204020204" pitchFamily="34" charset="-122"/>
                <a:ea typeface="微软雅黑" panose="020B0503020204020204" pitchFamily="34" charset="-122"/>
              </a:rPr>
              <a:t>RISC-V</a:t>
            </a:r>
            <a:r>
              <a:rPr lang="zh-CN" altLang="en-US" sz="1800" dirty="0">
                <a:latin typeface="微软雅黑" panose="020B0503020204020204" pitchFamily="34" charset="-122"/>
                <a:ea typeface="微软雅黑" panose="020B0503020204020204" pitchFamily="34" charset="-122"/>
              </a:rPr>
              <a:t>寄存器</a:t>
            </a:r>
            <a:r>
              <a:rPr lang="en-US" altLang="zh-CN" sz="1800" dirty="0">
                <a:latin typeface="微软雅黑" panose="020B0503020204020204" pitchFamily="34" charset="-122"/>
                <a:ea typeface="微软雅黑" panose="020B0503020204020204" pitchFamily="34" charset="-122"/>
              </a:rPr>
              <a:t>t3~t6</a:t>
            </a:r>
            <a:r>
              <a:rPr lang="zh-CN" altLang="en-US" sz="1800" dirty="0">
                <a:latin typeface="微软雅黑" panose="020B0503020204020204" pitchFamily="34" charset="-122"/>
                <a:ea typeface="微软雅黑" panose="020B0503020204020204" pitchFamily="34" charset="-122"/>
              </a:rPr>
              <a:t>中，寄存器</a:t>
            </a:r>
            <a:r>
              <a:rPr lang="en-US" altLang="zh-CN" sz="1800" dirty="0">
                <a:latin typeface="微软雅黑" panose="020B0503020204020204" pitchFamily="34" charset="-122"/>
                <a:ea typeface="微软雅黑" panose="020B0503020204020204" pitchFamily="34" charset="-122"/>
              </a:rPr>
              <a:t>t3~t6</a:t>
            </a:r>
            <a:r>
              <a:rPr lang="zh-CN" altLang="en-US" sz="1800" dirty="0">
                <a:latin typeface="微软雅黑" panose="020B0503020204020204" pitchFamily="34" charset="-122"/>
                <a:ea typeface="微软雅黑" panose="020B0503020204020204" pitchFamily="34" charset="-122"/>
              </a:rPr>
              <a:t>的编号对应</a:t>
            </a:r>
            <a:r>
              <a:rPr lang="en-US" altLang="zh-CN" sz="1800" dirty="0">
                <a:latin typeface="微软雅黑" panose="020B0503020204020204" pitchFamily="34" charset="-122"/>
                <a:ea typeface="微软雅黑" panose="020B0503020204020204" pitchFamily="34" charset="-122"/>
              </a:rPr>
              <a:t>28~31</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f</a:t>
            </a:r>
            <a:r>
              <a:rPr lang="zh-CN" altLang="en-US" sz="1800" dirty="0">
                <a:latin typeface="微软雅黑" panose="020B0503020204020204" pitchFamily="34" charset="-122"/>
                <a:ea typeface="微软雅黑" panose="020B0503020204020204" pitchFamily="34" charset="-122"/>
              </a:rPr>
              <a:t>分配在</a:t>
            </a:r>
            <a:r>
              <a:rPr lang="en-US" altLang="zh-CN" sz="1800" dirty="0">
                <a:latin typeface="微软雅黑" panose="020B0503020204020204" pitchFamily="34" charset="-122"/>
                <a:ea typeface="微软雅黑" panose="020B0503020204020204" pitchFamily="34" charset="-122"/>
              </a:rPr>
              <a:t>t0</a:t>
            </a:r>
            <a:r>
              <a:rPr lang="zh-CN" altLang="en-US" sz="1800" dirty="0">
                <a:latin typeface="微软雅黑" panose="020B0503020204020204" pitchFamily="34" charset="-122"/>
                <a:ea typeface="微软雅黑" panose="020B0503020204020204" pitchFamily="34" charset="-122"/>
              </a:rPr>
              <a:t>（编号</a:t>
            </a:r>
            <a:r>
              <a:rPr lang="en-US" altLang="zh-CN" sz="1800" dirty="0">
                <a:latin typeface="微软雅黑" panose="020B0503020204020204" pitchFamily="34" charset="-122"/>
                <a:ea typeface="微软雅黑" panose="020B0503020204020204" pitchFamily="34" charset="-122"/>
              </a:rPr>
              <a:t>5</a:t>
            </a:r>
            <a:r>
              <a:rPr lang="zh-CN" altLang="en-US" sz="1800" dirty="0">
                <a:latin typeface="微软雅黑" panose="020B0503020204020204" pitchFamily="34" charset="-122"/>
                <a:ea typeface="微软雅黑" panose="020B0503020204020204" pitchFamily="34" charset="-122"/>
              </a:rPr>
              <a:t>），则对应的</a:t>
            </a:r>
            <a:r>
              <a:rPr lang="en-US" altLang="zh-CN" sz="1800" dirty="0">
                <a:latin typeface="微软雅黑" panose="020B0503020204020204" pitchFamily="34" charset="-122"/>
                <a:ea typeface="微软雅黑" panose="020B0503020204020204" pitchFamily="34" charset="-122"/>
              </a:rPr>
              <a:t>RISC-V</a:t>
            </a:r>
            <a:r>
              <a:rPr lang="zh-CN" altLang="en-US" sz="1800" dirty="0">
                <a:latin typeface="微软雅黑" panose="020B0503020204020204" pitchFamily="34" charset="-122"/>
                <a:ea typeface="微软雅黑" panose="020B0503020204020204" pitchFamily="34" charset="-122"/>
              </a:rPr>
              <a:t>机器代码和汇编表示（</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后为注释）如下：</a:t>
            </a:r>
            <a:endParaRPr lang="zh-CN" altLang="en-US" sz="1800" dirty="0">
              <a:latin typeface="微软雅黑" panose="020B0503020204020204" pitchFamily="34" charset="-122"/>
              <a:ea typeface="微软雅黑" panose="020B0503020204020204" pitchFamily="34" charset="-122"/>
            </a:endParaRPr>
          </a:p>
          <a:p>
            <a:pPr indent="266700" eaLnBrk="0" hangingPunct="0">
              <a:spcBef>
                <a:spcPct val="40000"/>
              </a:spcBef>
              <a:buClrTx/>
              <a:buFontTx/>
            </a:pPr>
            <a:r>
              <a:rPr lang="en-US" altLang="zh-CN" sz="2000" dirty="0">
                <a:solidFill>
                  <a:srgbClr val="009900"/>
                </a:solidFill>
                <a:latin typeface="Times New Roman" panose="02020603050405020304" pitchFamily="18" charset="0"/>
                <a:ea typeface="黑体" panose="02010609060101010101" pitchFamily="49" charset="-122"/>
              </a:rPr>
              <a:t>0000000 </a:t>
            </a:r>
            <a:r>
              <a:rPr lang="en-US" altLang="zh-CN" sz="2000" dirty="0">
                <a:solidFill>
                  <a:srgbClr val="3333FF"/>
                </a:solidFill>
                <a:latin typeface="Times New Roman" panose="02020603050405020304" pitchFamily="18" charset="0"/>
                <a:ea typeface="黑体" panose="02010609060101010101" pitchFamily="49" charset="-122"/>
              </a:rPr>
              <a:t>11111 11110 </a:t>
            </a:r>
            <a:r>
              <a:rPr lang="en-US" altLang="zh-CN" sz="2000" dirty="0">
                <a:solidFill>
                  <a:srgbClr val="009900"/>
                </a:solidFill>
                <a:latin typeface="Times New Roman" panose="02020603050405020304" pitchFamily="18" charset="0"/>
                <a:ea typeface="黑体" panose="02010609060101010101" pitchFamily="49" charset="-122"/>
              </a:rPr>
              <a:t>000 </a:t>
            </a:r>
            <a:r>
              <a:rPr lang="en-US" altLang="zh-CN" sz="2000" dirty="0">
                <a:solidFill>
                  <a:srgbClr val="3333FF"/>
                </a:solidFill>
                <a:latin typeface="Times New Roman" panose="02020603050405020304" pitchFamily="18" charset="0"/>
                <a:ea typeface="黑体" panose="02010609060101010101" pitchFamily="49" charset="-122"/>
              </a:rPr>
              <a:t>00101</a:t>
            </a:r>
            <a:r>
              <a:rPr lang="en-US" altLang="zh-CN" sz="2000" dirty="0">
                <a:solidFill>
                  <a:srgbClr val="009900"/>
                </a:solidFill>
                <a:latin typeface="Times New Roman" panose="02020603050405020304" pitchFamily="18" charset="0"/>
                <a:ea typeface="黑体" panose="02010609060101010101" pitchFamily="49" charset="-122"/>
              </a:rPr>
              <a:t> 0110011   add t0, t5, t6   # g+h</a:t>
            </a:r>
            <a:endParaRPr lang="en-US" altLang="zh-CN" sz="2000" dirty="0">
              <a:solidFill>
                <a:srgbClr val="009900"/>
              </a:solidFill>
              <a:latin typeface="Times New Roman" panose="02020603050405020304" pitchFamily="18" charset="0"/>
              <a:ea typeface="黑体" panose="02010609060101010101" pitchFamily="49" charset="-122"/>
            </a:endParaRPr>
          </a:p>
          <a:p>
            <a:pPr indent="266700" eaLnBrk="0" hangingPunct="0">
              <a:spcBef>
                <a:spcPct val="40000"/>
              </a:spcBef>
              <a:buClrTx/>
              <a:buFontTx/>
            </a:pPr>
            <a:r>
              <a:rPr lang="en-US" altLang="zh-CN" sz="2000" dirty="0">
                <a:solidFill>
                  <a:srgbClr val="009900"/>
                </a:solidFill>
                <a:latin typeface="Times New Roman" panose="02020603050405020304" pitchFamily="18" charset="0"/>
                <a:ea typeface="黑体" panose="02010609060101010101" pitchFamily="49" charset="-122"/>
              </a:rPr>
              <a:t>0000000 </a:t>
            </a:r>
            <a:r>
              <a:rPr lang="en-US" altLang="zh-CN" sz="2000" dirty="0">
                <a:solidFill>
                  <a:srgbClr val="3333FF"/>
                </a:solidFill>
                <a:latin typeface="Times New Roman" panose="02020603050405020304" pitchFamily="18" charset="0"/>
                <a:ea typeface="黑体" panose="02010609060101010101" pitchFamily="49" charset="-122"/>
              </a:rPr>
              <a:t>11101 11100 </a:t>
            </a:r>
            <a:r>
              <a:rPr lang="en-US" altLang="zh-CN" sz="2000" dirty="0">
                <a:solidFill>
                  <a:srgbClr val="009900"/>
                </a:solidFill>
                <a:latin typeface="Times New Roman" panose="02020603050405020304" pitchFamily="18" charset="0"/>
                <a:ea typeface="黑体" panose="02010609060101010101" pitchFamily="49" charset="-122"/>
              </a:rPr>
              <a:t>000 </a:t>
            </a:r>
            <a:r>
              <a:rPr lang="en-US" altLang="zh-CN" sz="2000" dirty="0">
                <a:solidFill>
                  <a:srgbClr val="3333FF"/>
                </a:solidFill>
                <a:latin typeface="Times New Roman" panose="02020603050405020304" pitchFamily="18" charset="0"/>
                <a:ea typeface="黑体" panose="02010609060101010101" pitchFamily="49" charset="-122"/>
              </a:rPr>
              <a:t>00110</a:t>
            </a:r>
            <a:r>
              <a:rPr lang="en-US" altLang="zh-CN" sz="2000" dirty="0">
                <a:solidFill>
                  <a:srgbClr val="009900"/>
                </a:solidFill>
                <a:latin typeface="Times New Roman" panose="02020603050405020304" pitchFamily="18" charset="0"/>
                <a:ea typeface="黑体" panose="02010609060101010101" pitchFamily="49" charset="-122"/>
              </a:rPr>
              <a:t> 0110011  add t1, t3, t4   # i+j</a:t>
            </a:r>
            <a:endParaRPr lang="en-US" altLang="zh-CN" sz="2000" dirty="0">
              <a:solidFill>
                <a:srgbClr val="009900"/>
              </a:solidFill>
              <a:latin typeface="Times New Roman" panose="02020603050405020304" pitchFamily="18" charset="0"/>
              <a:ea typeface="黑体" panose="02010609060101010101" pitchFamily="49" charset="-122"/>
            </a:endParaRPr>
          </a:p>
          <a:p>
            <a:pPr indent="266700" eaLnBrk="0" hangingPunct="0">
              <a:spcBef>
                <a:spcPct val="40000"/>
              </a:spcBef>
              <a:buClrTx/>
              <a:buFontTx/>
            </a:pPr>
            <a:r>
              <a:rPr lang="en-US" altLang="zh-CN" sz="2000" dirty="0">
                <a:solidFill>
                  <a:srgbClr val="009900"/>
                </a:solidFill>
                <a:latin typeface="Times New Roman" panose="02020603050405020304" pitchFamily="18" charset="0"/>
                <a:ea typeface="黑体" panose="02010609060101010101" pitchFamily="49" charset="-122"/>
              </a:rPr>
              <a:t>0100000 </a:t>
            </a:r>
            <a:r>
              <a:rPr lang="en-US" altLang="zh-CN" sz="2000" dirty="0">
                <a:solidFill>
                  <a:srgbClr val="3333FF"/>
                </a:solidFill>
                <a:latin typeface="Times New Roman" panose="02020603050405020304" pitchFamily="18" charset="0"/>
                <a:ea typeface="黑体" panose="02010609060101010101" pitchFamily="49" charset="-122"/>
              </a:rPr>
              <a:t>00110 00101 </a:t>
            </a:r>
            <a:r>
              <a:rPr lang="en-US" altLang="zh-CN" sz="2000" dirty="0">
                <a:solidFill>
                  <a:srgbClr val="009900"/>
                </a:solidFill>
                <a:latin typeface="Times New Roman" panose="02020603050405020304" pitchFamily="18" charset="0"/>
                <a:ea typeface="黑体" panose="02010609060101010101" pitchFamily="49" charset="-122"/>
              </a:rPr>
              <a:t>000 </a:t>
            </a:r>
            <a:r>
              <a:rPr lang="en-US" altLang="zh-CN" sz="2000" dirty="0">
                <a:solidFill>
                  <a:srgbClr val="3333FF"/>
                </a:solidFill>
                <a:latin typeface="Times New Roman" panose="02020603050405020304" pitchFamily="18" charset="0"/>
                <a:ea typeface="黑体" panose="02010609060101010101" pitchFamily="49" charset="-122"/>
              </a:rPr>
              <a:t>00101</a:t>
            </a:r>
            <a:r>
              <a:rPr lang="en-US" altLang="zh-CN" sz="2000" dirty="0">
                <a:solidFill>
                  <a:srgbClr val="009900"/>
                </a:solidFill>
                <a:latin typeface="Times New Roman" panose="02020603050405020304" pitchFamily="18" charset="0"/>
                <a:ea typeface="黑体" panose="02010609060101010101" pitchFamily="49" charset="-122"/>
              </a:rPr>
              <a:t> 0110011  sub t0, t0, t1   # f=(g+h)–(i+j)</a:t>
            </a:r>
            <a:endParaRPr lang="en-US" altLang="zh-CN" sz="2000" dirty="0">
              <a:solidFill>
                <a:srgbClr val="009900"/>
              </a:solidFill>
              <a:latin typeface="Times New Roman" panose="02020603050405020304" pitchFamily="18" charset="0"/>
              <a:ea typeface="黑体" panose="02010609060101010101" pitchFamily="49" charset="-122"/>
            </a:endParaRPr>
          </a:p>
        </p:txBody>
      </p:sp>
      <p:sp>
        <p:nvSpPr>
          <p:cNvPr id="496645" name="Text Box 5"/>
          <p:cNvSpPr txBox="1"/>
          <p:nvPr/>
        </p:nvSpPr>
        <p:spPr>
          <a:xfrm>
            <a:off x="66675" y="6296025"/>
            <a:ext cx="8753475" cy="396875"/>
          </a:xfrm>
          <a:prstGeom prst="rect">
            <a:avLst/>
          </a:prstGeom>
          <a:noFill/>
          <a:ln w="12700">
            <a:noFill/>
          </a:ln>
        </p:spPr>
        <p:txBody>
          <a:bodyPr anchor="t" anchorCtr="0">
            <a:spAutoFit/>
          </a:bodyPr>
          <a:p>
            <a:pPr eaLnBrk="0" hangingPunct="0">
              <a:spcBef>
                <a:spcPct val="50000"/>
              </a:spcBef>
              <a:buClrTx/>
              <a:buFontTx/>
            </a:pPr>
            <a:r>
              <a:rPr lang="zh-CN" altLang="en-US" sz="2000" dirty="0">
                <a:solidFill>
                  <a:srgbClr val="FF0066"/>
                </a:solidFill>
                <a:latin typeface="黑体" panose="02010609060101010101" pitchFamily="49" charset="-122"/>
                <a:ea typeface="黑体" panose="02010609060101010101" pitchFamily="49" charset="-122"/>
              </a:rPr>
              <a:t>    需要提供哪些运算类指令才能支持高级语言需求呢？</a:t>
            </a:r>
            <a:endParaRPr lang="zh-CN" altLang="en-US" sz="2000" dirty="0">
              <a:solidFill>
                <a:srgbClr val="FF0066"/>
              </a:solidFill>
              <a:latin typeface="黑体" panose="02010609060101010101" pitchFamily="49" charset="-122"/>
              <a:ea typeface="黑体" panose="02010609060101010101" pitchFamily="49" charset="-122"/>
            </a:endParaRPr>
          </a:p>
        </p:txBody>
      </p:sp>
      <p:sp>
        <p:nvSpPr>
          <p:cNvPr id="531462" name="Text Box 6"/>
          <p:cNvSpPr txBox="1"/>
          <p:nvPr/>
        </p:nvSpPr>
        <p:spPr>
          <a:xfrm>
            <a:off x="6011863" y="2754313"/>
            <a:ext cx="2925762" cy="925512"/>
          </a:xfrm>
          <a:prstGeom prst="rect">
            <a:avLst/>
          </a:prstGeom>
          <a:noFill/>
          <a:ln w="9525" cap="flat" cmpd="sng">
            <a:solidFill>
              <a:srgbClr val="FF0000"/>
            </a:solidFill>
            <a:prstDash val="solid"/>
            <a:miter/>
            <a:headEnd type="none" w="med" len="med"/>
            <a:tailEnd type="none" w="med" len="med"/>
          </a:ln>
        </p:spPr>
        <p:txBody>
          <a:bodyPr anchor="t" anchorCtr="0">
            <a:spAutoFit/>
          </a:bodyPr>
          <a:p>
            <a:pPr>
              <a:spcBef>
                <a:spcPct val="50000"/>
              </a:spcBef>
              <a:buClrTx/>
              <a:buFontTx/>
            </a:pPr>
            <a:r>
              <a:rPr lang="zh-CN" altLang="en-US" sz="1800" dirty="0">
                <a:solidFill>
                  <a:srgbClr val="FF0000"/>
                </a:solidFill>
                <a:latin typeface="Arial" panose="020B0604020202020204" pitchFamily="34" charset="0"/>
                <a:ea typeface="微软雅黑" panose="020B0503020204020204" pitchFamily="34" charset="-122"/>
              </a:rPr>
              <a:t>逻辑运算、移位、扩展和截断等指令实现较容易，</a:t>
            </a:r>
            <a:r>
              <a:rPr lang="zh-CN" altLang="en-US" sz="1800" dirty="0">
                <a:solidFill>
                  <a:srgbClr val="0033CC"/>
                </a:solidFill>
                <a:latin typeface="Arial" panose="020B0604020202020204" pitchFamily="34" charset="0"/>
                <a:ea typeface="微软雅黑" panose="020B0503020204020204" pitchFamily="34" charset="-122"/>
              </a:rPr>
              <a:t>算术运算指令实现较难</a:t>
            </a:r>
            <a:r>
              <a:rPr lang="zh-CN" altLang="en-US" sz="1800" dirty="0">
                <a:solidFill>
                  <a:srgbClr val="FF0000"/>
                </a:solidFill>
                <a:latin typeface="Arial" panose="020B0604020202020204" pitchFamily="34" charset="0"/>
                <a:ea typeface="微软雅黑" panose="020B0503020204020204" pitchFamily="34" charset="-122"/>
              </a:rPr>
              <a:t>！</a:t>
            </a:r>
            <a:endParaRPr lang="zh-CN" altLang="en-US" sz="1800" dirty="0">
              <a:solidFill>
                <a:srgbClr val="FF0000"/>
              </a:solidFill>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6643">
                                            <p:txEl>
                                              <p:charRg st="29" end="53"/>
                                            </p:txEl>
                                          </p:spTgt>
                                        </p:tgtEl>
                                        <p:attrNameLst>
                                          <p:attrName>style.visibility</p:attrName>
                                        </p:attrNameLst>
                                      </p:cBhvr>
                                      <p:to>
                                        <p:strVal val="visible"/>
                                      </p:to>
                                    </p:set>
                                    <p:animEffect transition="in" filter="blinds(horizontal)">
                                      <p:cBhvr>
                                        <p:cTn id="7" dur="500"/>
                                        <p:tgtEl>
                                          <p:spTgt spid="496643">
                                            <p:txEl>
                                              <p:charRg st="29"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6643">
                                            <p:txEl>
                                              <p:charRg st="60" end="81"/>
                                            </p:txEl>
                                          </p:spTgt>
                                        </p:tgtEl>
                                        <p:attrNameLst>
                                          <p:attrName>style.visibility</p:attrName>
                                        </p:attrNameLst>
                                      </p:cBhvr>
                                      <p:to>
                                        <p:strVal val="visible"/>
                                      </p:to>
                                    </p:set>
                                    <p:animEffect transition="in" filter="blinds(horizontal)">
                                      <p:cBhvr>
                                        <p:cTn id="12" dur="500"/>
                                        <p:tgtEl>
                                          <p:spTgt spid="496643">
                                            <p:txEl>
                                              <p:charRg st="60" end="8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96643">
                                            <p:txEl>
                                              <p:charRg st="100" end="118"/>
                                            </p:txEl>
                                          </p:spTgt>
                                        </p:tgtEl>
                                        <p:attrNameLst>
                                          <p:attrName>style.visibility</p:attrName>
                                        </p:attrNameLst>
                                      </p:cBhvr>
                                      <p:to>
                                        <p:strVal val="visible"/>
                                      </p:to>
                                    </p:set>
                                    <p:animEffect transition="in" filter="blinds(horizontal)">
                                      <p:cBhvr>
                                        <p:cTn id="17" dur="500"/>
                                        <p:tgtEl>
                                          <p:spTgt spid="496643">
                                            <p:txEl>
                                              <p:charRg st="100" end="11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6643">
                                            <p:txEl>
                                              <p:charRg st="118" end="133"/>
                                            </p:txEl>
                                          </p:spTgt>
                                        </p:tgtEl>
                                        <p:attrNameLst>
                                          <p:attrName>style.visibility</p:attrName>
                                        </p:attrNameLst>
                                      </p:cBhvr>
                                      <p:to>
                                        <p:strVal val="visible"/>
                                      </p:to>
                                    </p:set>
                                    <p:animEffect transition="in" filter="blinds(horizontal)">
                                      <p:cBhvr>
                                        <p:cTn id="22" dur="500"/>
                                        <p:tgtEl>
                                          <p:spTgt spid="496643">
                                            <p:txEl>
                                              <p:charRg st="118" end="13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96644">
                                            <p:txEl>
                                              <p:charRg st="0" end="121"/>
                                            </p:txEl>
                                          </p:spTgt>
                                        </p:tgtEl>
                                        <p:attrNameLst>
                                          <p:attrName>style.visibility</p:attrName>
                                        </p:attrNameLst>
                                      </p:cBhvr>
                                      <p:to>
                                        <p:strVal val="visible"/>
                                      </p:to>
                                    </p:set>
                                    <p:animEffect transition="in" filter="blinds(horizontal)">
                                      <p:cBhvr>
                                        <p:cTn id="27" dur="500"/>
                                        <p:tgtEl>
                                          <p:spTgt spid="496644">
                                            <p:txEl>
                                              <p:charRg st="0" end="12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96644">
                                            <p:txEl>
                                              <p:charRg st="121" end="184"/>
                                            </p:txEl>
                                          </p:spTgt>
                                        </p:tgtEl>
                                        <p:attrNameLst>
                                          <p:attrName>style.visibility</p:attrName>
                                        </p:attrNameLst>
                                      </p:cBhvr>
                                      <p:to>
                                        <p:strVal val="visible"/>
                                      </p:to>
                                    </p:set>
                                    <p:animEffect transition="in" filter="blinds(horizontal)">
                                      <p:cBhvr>
                                        <p:cTn id="32" dur="500"/>
                                        <p:tgtEl>
                                          <p:spTgt spid="496644">
                                            <p:txEl>
                                              <p:charRg st="121" end="184"/>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96644">
                                            <p:txEl>
                                              <p:charRg st="184" end="246"/>
                                            </p:txEl>
                                          </p:spTgt>
                                        </p:tgtEl>
                                        <p:attrNameLst>
                                          <p:attrName>style.visibility</p:attrName>
                                        </p:attrNameLst>
                                      </p:cBhvr>
                                      <p:to>
                                        <p:strVal val="visible"/>
                                      </p:to>
                                    </p:set>
                                    <p:animEffect transition="in" filter="blinds(horizontal)">
                                      <p:cBhvr>
                                        <p:cTn id="35" dur="500"/>
                                        <p:tgtEl>
                                          <p:spTgt spid="496644">
                                            <p:txEl>
                                              <p:charRg st="184" end="246"/>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96644">
                                            <p:txEl>
                                              <p:charRg st="246" end="318"/>
                                            </p:txEl>
                                          </p:spTgt>
                                        </p:tgtEl>
                                        <p:attrNameLst>
                                          <p:attrName>style.visibility</p:attrName>
                                        </p:attrNameLst>
                                      </p:cBhvr>
                                      <p:to>
                                        <p:strVal val="visible"/>
                                      </p:to>
                                    </p:set>
                                    <p:animEffect transition="in" filter="blinds(horizontal)">
                                      <p:cBhvr>
                                        <p:cTn id="38" dur="500"/>
                                        <p:tgtEl>
                                          <p:spTgt spid="496644">
                                            <p:txEl>
                                              <p:charRg st="246" end="31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96645"/>
                                        </p:tgtEl>
                                        <p:attrNameLst>
                                          <p:attrName>style.visibility</p:attrName>
                                        </p:attrNameLst>
                                      </p:cBhvr>
                                      <p:to>
                                        <p:strVal val="visible"/>
                                      </p:to>
                                    </p:set>
                                    <p:animEffect transition="in" filter="blinds(horizontal)">
                                      <p:cBhvr>
                                        <p:cTn id="43" dur="500"/>
                                        <p:tgtEl>
                                          <p:spTgt spid="49664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531462"/>
                                        </p:tgtEl>
                                        <p:attrNameLst>
                                          <p:attrName>style.visibility</p:attrName>
                                        </p:attrNameLst>
                                      </p:cBhvr>
                                      <p:to>
                                        <p:strVal val="visible"/>
                                      </p:to>
                                    </p:set>
                                    <p:animEffect transition="in" filter="blinds(horizontal)">
                                      <p:cBhvr>
                                        <p:cTn id="48" dur="500"/>
                                        <p:tgtEl>
                                          <p:spTgt spid="531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5" grpId="0"/>
      <p:bldP spid="53146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idx="4294967295"/>
          </p:nvPr>
        </p:nvSpPr>
        <p:spPr>
          <a:xfrm>
            <a:off x="800100" y="53975"/>
            <a:ext cx="7961313" cy="600075"/>
          </a:xfrm>
          <a:ln/>
        </p:spPr>
        <p:txBody>
          <a:bodyPr vert="horz" wrap="square" lIns="63500" tIns="25400" rIns="63500" bIns="25400" anchor="t" anchorCtr="0">
            <a:spAutoFit/>
          </a:bodyPr>
          <a:p>
            <a:pPr>
              <a:buNone/>
            </a:pPr>
            <a:r>
              <a:rPr lang="zh-CN" altLang="en-US" sz="3600" dirty="0">
                <a:latin typeface="黑体" panose="02010609060101010101" pitchFamily="49" charset="-122"/>
                <a:ea typeface="黑体" panose="02010609060101010101" pitchFamily="49" charset="-122"/>
              </a:rPr>
              <a:t>数据的运算</a:t>
            </a:r>
            <a:endParaRPr lang="zh-CN" altLang="en-US" sz="3600" dirty="0">
              <a:latin typeface="黑体" panose="02010609060101010101" pitchFamily="49" charset="-122"/>
              <a:ea typeface="黑体" panose="02010609060101010101" pitchFamily="49" charset="-122"/>
            </a:endParaRPr>
          </a:p>
        </p:txBody>
      </p:sp>
      <p:sp>
        <p:nvSpPr>
          <p:cNvPr id="265219" name="Rectangle 3"/>
          <p:cNvSpPr>
            <a:spLocks noGrp="1"/>
          </p:cNvSpPr>
          <p:nvPr>
            <p:ph type="body" idx="4294967295"/>
          </p:nvPr>
        </p:nvSpPr>
        <p:spPr>
          <a:xfrm>
            <a:off x="192088" y="250825"/>
            <a:ext cx="8870950" cy="5695950"/>
          </a:xfrm>
          <a:ln/>
        </p:spPr>
        <p:txBody>
          <a:bodyPr vert="horz" wrap="square" lIns="63500" tIns="25400" rIns="63500" bIns="25400" anchor="t" anchorCtr="0">
            <a:spAutoFit/>
          </a:bodyPr>
          <a:p>
            <a:pPr algn="ctr">
              <a:spcBef>
                <a:spcPct val="10000"/>
              </a:spcBef>
              <a:buFontTx/>
              <a:buNone/>
            </a:pPr>
            <a:endParaRPr lang="zh-CN" altLang="en-US" sz="2800" dirty="0">
              <a:solidFill>
                <a:srgbClr val="CC0000"/>
              </a:solidFill>
              <a:latin typeface="黑体" panose="02010609060101010101" pitchFamily="49" charset="-122"/>
              <a:ea typeface="黑体" panose="02010609060101010101" pitchFamily="49" charset="-122"/>
            </a:endParaRPr>
          </a:p>
          <a:p>
            <a:pPr>
              <a:lnSpc>
                <a:spcPct val="120000"/>
              </a:lnSpc>
            </a:pPr>
            <a:r>
              <a:rPr lang="zh-CN" altLang="en-US" sz="2000" dirty="0">
                <a:latin typeface="微软雅黑" panose="020B0503020204020204" pitchFamily="34" charset="-122"/>
                <a:ea typeface="微软雅黑" panose="020B0503020204020204" pitchFamily="34" charset="-122"/>
              </a:rPr>
              <a:t>高级语言程序中涉及的运算</a:t>
            </a:r>
            <a:r>
              <a:rPr lang="zh-CN" altLang="en-US" sz="2000" dirty="0">
                <a:solidFill>
                  <a:srgbClr val="008000"/>
                </a:solidFill>
                <a:latin typeface="微软雅黑" panose="020B0503020204020204" pitchFamily="34" charset="-122"/>
                <a:ea typeface="微软雅黑" panose="020B0503020204020204" pitchFamily="34" charset="-122"/>
              </a:rPr>
              <a:t>（以</a:t>
            </a:r>
            <a:r>
              <a:rPr lang="en-US" altLang="zh-CN" sz="2000" dirty="0">
                <a:solidFill>
                  <a:srgbClr val="008000"/>
                </a:solidFill>
                <a:latin typeface="微软雅黑" panose="020B0503020204020204" pitchFamily="34" charset="-122"/>
                <a:ea typeface="微软雅黑" panose="020B0503020204020204" pitchFamily="34" charset="-122"/>
              </a:rPr>
              <a:t>C</a:t>
            </a:r>
            <a:r>
              <a:rPr lang="zh-CN" altLang="en-US" sz="2000" dirty="0">
                <a:solidFill>
                  <a:srgbClr val="008000"/>
                </a:solidFill>
                <a:latin typeface="微软雅黑" panose="020B0503020204020204" pitchFamily="34" charset="-122"/>
                <a:ea typeface="微软雅黑" panose="020B0503020204020204" pitchFamily="34" charset="-122"/>
              </a:rPr>
              <a:t>语言为例）</a:t>
            </a:r>
            <a:endParaRPr lang="zh-CN" altLang="en-US" sz="2000" dirty="0">
              <a:solidFill>
                <a:srgbClr val="008000"/>
              </a:solidFill>
              <a:latin typeface="微软雅黑" panose="020B0503020204020204" pitchFamily="34" charset="-122"/>
              <a:ea typeface="微软雅黑" panose="020B0503020204020204" pitchFamily="34" charset="-122"/>
            </a:endParaRPr>
          </a:p>
          <a:p>
            <a:pPr lvl="1">
              <a:lnSpc>
                <a:spcPct val="120000"/>
              </a:lnSpc>
              <a:buClr>
                <a:srgbClr val="3333FF"/>
              </a:buClr>
            </a:pPr>
            <a:r>
              <a:rPr lang="zh-CN" altLang="en-US" dirty="0">
                <a:latin typeface="微软雅黑" panose="020B0503020204020204" pitchFamily="34" charset="-122"/>
                <a:ea typeface="微软雅黑" panose="020B0503020204020204" pitchFamily="34" charset="-122"/>
              </a:rPr>
              <a:t>整数算术运算、浮点数算术运算</a:t>
            </a:r>
            <a:endParaRPr lang="zh-CN" altLang="en-US" dirty="0">
              <a:latin typeface="微软雅黑" panose="020B0503020204020204" pitchFamily="34" charset="-122"/>
              <a:ea typeface="微软雅黑" panose="020B0503020204020204" pitchFamily="34" charset="-122"/>
            </a:endParaRPr>
          </a:p>
          <a:p>
            <a:pPr lvl="1">
              <a:lnSpc>
                <a:spcPct val="120000"/>
              </a:lnSpc>
              <a:buClr>
                <a:srgbClr val="3333FF"/>
              </a:buClr>
            </a:pPr>
            <a:r>
              <a:rPr lang="zh-CN" altLang="en-US" dirty="0">
                <a:latin typeface="微软雅黑" panose="020B0503020204020204" pitchFamily="34" charset="-122"/>
                <a:ea typeface="微软雅黑" panose="020B0503020204020204" pitchFamily="34" charset="-122"/>
              </a:rPr>
              <a:t>按位、逻辑、移位、位扩展和位截断</a:t>
            </a:r>
            <a:endParaRPr lang="zh-CN" altLang="en-US" dirty="0">
              <a:latin typeface="微软雅黑" panose="020B0503020204020204" pitchFamily="34" charset="-122"/>
              <a:ea typeface="微软雅黑" panose="020B0503020204020204" pitchFamily="34" charset="-122"/>
            </a:endParaRPr>
          </a:p>
          <a:p>
            <a:pPr>
              <a:lnSpc>
                <a:spcPct val="120000"/>
              </a:lnSpc>
            </a:pPr>
            <a:r>
              <a:rPr lang="zh-CN" altLang="en-US" sz="2000" dirty="0">
                <a:latin typeface="微软雅黑" panose="020B0503020204020204" pitchFamily="34" charset="-122"/>
                <a:ea typeface="微软雅黑" panose="020B0503020204020204" pitchFamily="34" charset="-122"/>
              </a:rPr>
              <a:t>指令集中涉及的运算</a:t>
            </a:r>
            <a:r>
              <a:rPr lang="zh-CN" altLang="en-US" sz="2000" dirty="0">
                <a:solidFill>
                  <a:srgbClr val="008000"/>
                </a:solidFill>
                <a:latin typeface="微软雅黑" panose="020B0503020204020204" pitchFamily="34" charset="-122"/>
                <a:ea typeface="微软雅黑" panose="020B0503020204020204" pitchFamily="34" charset="-122"/>
              </a:rPr>
              <a:t>（如</a:t>
            </a:r>
            <a:r>
              <a:rPr lang="en-US" altLang="zh-CN" sz="2000" dirty="0">
                <a:solidFill>
                  <a:srgbClr val="008000"/>
                </a:solidFill>
                <a:latin typeface="微软雅黑" panose="020B0503020204020204" pitchFamily="34" charset="-122"/>
                <a:ea typeface="微软雅黑" panose="020B0503020204020204" pitchFamily="34" charset="-122"/>
              </a:rPr>
              <a:t>RISC-V</a:t>
            </a:r>
            <a:r>
              <a:rPr lang="zh-CN" altLang="en-US" sz="2000" dirty="0">
                <a:solidFill>
                  <a:srgbClr val="008000"/>
                </a:solidFill>
                <a:latin typeface="微软雅黑" panose="020B0503020204020204" pitchFamily="34" charset="-122"/>
                <a:ea typeface="微软雅黑" panose="020B0503020204020204" pitchFamily="34" charset="-122"/>
              </a:rPr>
              <a:t>指令系统提供的运算类指令）</a:t>
            </a:r>
            <a:endParaRPr lang="zh-CN" altLang="en-US" sz="2000" dirty="0">
              <a:solidFill>
                <a:srgbClr val="008000"/>
              </a:solidFill>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涉及的定点数运算</a:t>
            </a:r>
            <a:endParaRPr lang="zh-CN" altLang="en-US" dirty="0">
              <a:latin typeface="微软雅黑" panose="020B0503020204020204" pitchFamily="34" charset="-122"/>
              <a:ea typeface="微软雅黑" panose="020B0503020204020204" pitchFamily="34" charset="-122"/>
            </a:endParaRPr>
          </a:p>
          <a:p>
            <a:pPr lvl="2">
              <a:lnSpc>
                <a:spcPct val="120000"/>
              </a:lnSpc>
            </a:pPr>
            <a:r>
              <a:rPr lang="zh-CN" altLang="en-US" sz="2000" dirty="0">
                <a:latin typeface="微软雅黑" panose="020B0503020204020204" pitchFamily="34" charset="-122"/>
                <a:ea typeface="微软雅黑" panose="020B0503020204020204" pitchFamily="34" charset="-122"/>
              </a:rPr>
              <a:t>算术运算</a:t>
            </a:r>
            <a:endParaRPr lang="zh-CN" altLang="en-US" sz="2000" dirty="0">
              <a:latin typeface="微软雅黑" panose="020B0503020204020204" pitchFamily="34" charset="-122"/>
              <a:ea typeface="微软雅黑" panose="020B0503020204020204" pitchFamily="34" charset="-122"/>
            </a:endParaRPr>
          </a:p>
          <a:p>
            <a:pPr lvl="3">
              <a:lnSpc>
                <a:spcPct val="120000"/>
              </a:lnSpc>
              <a:buChar char="•"/>
            </a:pPr>
            <a:r>
              <a:rPr lang="zh-CN" altLang="en-US" b="1" dirty="0">
                <a:solidFill>
                  <a:srgbClr val="006600"/>
                </a:solidFill>
                <a:latin typeface="微软雅黑" panose="020B0503020204020204" pitchFamily="34" charset="-122"/>
                <a:ea typeface="微软雅黑" panose="020B0503020204020204" pitchFamily="34" charset="-122"/>
              </a:rPr>
              <a:t>带符号整数：</a:t>
            </a:r>
            <a:r>
              <a:rPr lang="zh-CN" altLang="en-US" b="1" dirty="0">
                <a:solidFill>
                  <a:srgbClr val="CC0000"/>
                </a:solidFill>
                <a:latin typeface="微软雅黑" panose="020B0503020204020204" pitchFamily="34" charset="-122"/>
                <a:ea typeface="微软雅黑" panose="020B0503020204020204" pitchFamily="34" charset="-122"/>
              </a:rPr>
              <a:t>取负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符号扩展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加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减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乘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除 </a:t>
            </a:r>
            <a:r>
              <a:rPr lang="en-US" altLang="zh-CN" b="1" dirty="0">
                <a:solidFill>
                  <a:srgbClr val="CC0000"/>
                </a:solidFill>
                <a:latin typeface="微软雅黑" panose="020B0503020204020204" pitchFamily="34" charset="-122"/>
                <a:ea typeface="微软雅黑" panose="020B0503020204020204" pitchFamily="34" charset="-122"/>
              </a:rPr>
              <a:t> / </a:t>
            </a:r>
            <a:r>
              <a:rPr lang="zh-CN" altLang="en-US" b="1" dirty="0">
                <a:solidFill>
                  <a:srgbClr val="CC0000"/>
                </a:solidFill>
                <a:latin typeface="微软雅黑" panose="020B0503020204020204" pitchFamily="34" charset="-122"/>
                <a:ea typeface="微软雅黑" panose="020B0503020204020204" pitchFamily="34" charset="-122"/>
              </a:rPr>
              <a:t>算术移位</a:t>
            </a:r>
            <a:endParaRPr lang="zh-CN" altLang="en-US" b="1" dirty="0">
              <a:solidFill>
                <a:srgbClr val="CC0000"/>
              </a:solidFill>
              <a:latin typeface="微软雅黑" panose="020B0503020204020204" pitchFamily="34" charset="-122"/>
              <a:ea typeface="微软雅黑" panose="020B0503020204020204" pitchFamily="34" charset="-122"/>
            </a:endParaRPr>
          </a:p>
          <a:p>
            <a:pPr lvl="3">
              <a:lnSpc>
                <a:spcPct val="120000"/>
              </a:lnSpc>
              <a:buChar char="•"/>
            </a:pPr>
            <a:r>
              <a:rPr lang="zh-CN" altLang="en-US" b="1" dirty="0">
                <a:solidFill>
                  <a:srgbClr val="006600"/>
                </a:solidFill>
                <a:latin typeface="微软雅黑" panose="020B0503020204020204" pitchFamily="34" charset="-122"/>
                <a:ea typeface="微软雅黑" panose="020B0503020204020204" pitchFamily="34" charset="-122"/>
              </a:rPr>
              <a:t>无符号整数：</a:t>
            </a:r>
            <a:r>
              <a:rPr lang="en-US" altLang="zh-CN" b="1" dirty="0">
                <a:solidFill>
                  <a:srgbClr val="CC0000"/>
                </a:solidFill>
                <a:latin typeface="微软雅黑" panose="020B0503020204020204" pitchFamily="34" charset="-122"/>
                <a:ea typeface="微软雅黑" panose="020B0503020204020204" pitchFamily="34" charset="-122"/>
              </a:rPr>
              <a:t>0</a:t>
            </a:r>
            <a:r>
              <a:rPr lang="zh-CN" altLang="en-US" b="1" dirty="0">
                <a:solidFill>
                  <a:srgbClr val="CC0000"/>
                </a:solidFill>
                <a:latin typeface="微软雅黑" panose="020B0503020204020204" pitchFamily="34" charset="-122"/>
                <a:ea typeface="微软雅黑" panose="020B0503020204020204" pitchFamily="34" charset="-122"/>
              </a:rPr>
              <a:t>扩展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加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减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乘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除 </a:t>
            </a:r>
            <a:endParaRPr lang="zh-CN" altLang="en-US" b="1" dirty="0">
              <a:solidFill>
                <a:srgbClr val="CC0000"/>
              </a:solidFill>
              <a:latin typeface="微软雅黑" panose="020B0503020204020204" pitchFamily="34" charset="-122"/>
              <a:ea typeface="微软雅黑" panose="020B0503020204020204" pitchFamily="34" charset="-122"/>
            </a:endParaRPr>
          </a:p>
          <a:p>
            <a:pPr lvl="2">
              <a:lnSpc>
                <a:spcPct val="120000"/>
              </a:lnSpc>
            </a:pPr>
            <a:r>
              <a:rPr lang="zh-CN" altLang="en-US" sz="2000" dirty="0">
                <a:latin typeface="微软雅黑" panose="020B0503020204020204" pitchFamily="34" charset="-122"/>
                <a:ea typeface="微软雅黑" panose="020B0503020204020204" pitchFamily="34" charset="-122"/>
              </a:rPr>
              <a:t>逻辑运算</a:t>
            </a:r>
            <a:endParaRPr lang="zh-CN" altLang="en-US" sz="2000" dirty="0">
              <a:latin typeface="微软雅黑" panose="020B0503020204020204" pitchFamily="34" charset="-122"/>
              <a:ea typeface="微软雅黑" panose="020B0503020204020204" pitchFamily="34" charset="-122"/>
            </a:endParaRPr>
          </a:p>
          <a:p>
            <a:pPr lvl="3">
              <a:lnSpc>
                <a:spcPct val="120000"/>
              </a:lnSpc>
              <a:buChar char="•"/>
            </a:pPr>
            <a:r>
              <a:rPr lang="zh-CN" altLang="en-US" b="1" dirty="0">
                <a:solidFill>
                  <a:srgbClr val="006600"/>
                </a:solidFill>
                <a:latin typeface="微软雅黑" panose="020B0503020204020204" pitchFamily="34" charset="-122"/>
                <a:ea typeface="微软雅黑" panose="020B0503020204020204" pitchFamily="34" charset="-122"/>
              </a:rPr>
              <a:t>逻辑操作：</a:t>
            </a:r>
            <a:r>
              <a:rPr lang="zh-CN" altLang="en-US" b="1" dirty="0">
                <a:solidFill>
                  <a:srgbClr val="CC0000"/>
                </a:solidFill>
                <a:latin typeface="微软雅黑" panose="020B0503020204020204" pitchFamily="34" charset="-122"/>
                <a:ea typeface="微软雅黑" panose="020B0503020204020204" pitchFamily="34" charset="-122"/>
              </a:rPr>
              <a:t>与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或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非 </a:t>
            </a:r>
            <a:r>
              <a:rPr lang="en-US" altLang="zh-CN" b="1" dirty="0">
                <a:solidFill>
                  <a:srgbClr val="CC0000"/>
                </a:solidFill>
                <a:latin typeface="微软雅黑" panose="020B0503020204020204" pitchFamily="34" charset="-122"/>
                <a:ea typeface="微软雅黑" panose="020B0503020204020204" pitchFamily="34" charset="-122"/>
              </a:rPr>
              <a:t>/ …</a:t>
            </a:r>
            <a:endParaRPr lang="zh-CN" altLang="en-US" b="1" dirty="0">
              <a:solidFill>
                <a:srgbClr val="CC0000"/>
              </a:solidFill>
              <a:latin typeface="微软雅黑" panose="020B0503020204020204" pitchFamily="34" charset="-122"/>
              <a:ea typeface="微软雅黑" panose="020B0503020204020204" pitchFamily="34" charset="-122"/>
            </a:endParaRPr>
          </a:p>
          <a:p>
            <a:pPr lvl="3">
              <a:lnSpc>
                <a:spcPct val="120000"/>
              </a:lnSpc>
              <a:buChar char="•"/>
            </a:pPr>
            <a:r>
              <a:rPr lang="zh-CN" altLang="en-US" b="1" dirty="0">
                <a:solidFill>
                  <a:srgbClr val="006600"/>
                </a:solidFill>
                <a:latin typeface="微软雅黑" panose="020B0503020204020204" pitchFamily="34" charset="-122"/>
                <a:ea typeface="微软雅黑" panose="020B0503020204020204" pitchFamily="34" charset="-122"/>
              </a:rPr>
              <a:t>移位操作：</a:t>
            </a:r>
            <a:r>
              <a:rPr lang="zh-CN" altLang="en-US" b="1" dirty="0">
                <a:solidFill>
                  <a:srgbClr val="CC0000"/>
                </a:solidFill>
                <a:latin typeface="微软雅黑" panose="020B0503020204020204" pitchFamily="34" charset="-122"/>
                <a:ea typeface="微软雅黑" panose="020B0503020204020204" pitchFamily="34" charset="-122"/>
              </a:rPr>
              <a:t>逻辑左移 </a:t>
            </a:r>
            <a:r>
              <a:rPr lang="en-US" altLang="zh-CN" b="1" dirty="0">
                <a:solidFill>
                  <a:srgbClr val="CC0000"/>
                </a:solidFill>
                <a:latin typeface="微软雅黑" panose="020B0503020204020204" pitchFamily="34" charset="-122"/>
                <a:ea typeface="微软雅黑" panose="020B0503020204020204" pitchFamily="34" charset="-122"/>
              </a:rPr>
              <a:t>/ </a:t>
            </a:r>
            <a:r>
              <a:rPr lang="zh-CN" altLang="en-US" b="1" dirty="0">
                <a:solidFill>
                  <a:srgbClr val="CC0000"/>
                </a:solidFill>
                <a:latin typeface="微软雅黑" panose="020B0503020204020204" pitchFamily="34" charset="-122"/>
                <a:ea typeface="微软雅黑" panose="020B0503020204020204" pitchFamily="34" charset="-122"/>
              </a:rPr>
              <a:t>逻辑右移</a:t>
            </a:r>
            <a:endParaRPr lang="zh-CN" altLang="en-US" b="1" dirty="0">
              <a:solidFill>
                <a:srgbClr val="CC0000"/>
              </a:solidFill>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涉及的浮点数运算：加、减、乘、除</a:t>
            </a:r>
            <a:endParaRPr lang="zh-CN" altLang="en-US" dirty="0">
              <a:solidFill>
                <a:srgbClr val="CC0000"/>
              </a:solidFill>
              <a:latin typeface="微软雅黑" panose="020B0503020204020204" pitchFamily="34" charset="-122"/>
              <a:ea typeface="微软雅黑" panose="020B0503020204020204" pitchFamily="34" charset="-122"/>
            </a:endParaRPr>
          </a:p>
        </p:txBody>
      </p:sp>
      <p:sp>
        <p:nvSpPr>
          <p:cNvPr id="11267" name="文本框 6"/>
          <p:cNvSpPr txBox="1"/>
          <p:nvPr/>
        </p:nvSpPr>
        <p:spPr>
          <a:xfrm>
            <a:off x="5978525" y="4395788"/>
            <a:ext cx="2868613" cy="1247775"/>
          </a:xfrm>
          <a:prstGeom prst="rect">
            <a:avLst/>
          </a:prstGeom>
          <a:noFill/>
          <a:ln w="9525">
            <a:noFill/>
          </a:ln>
        </p:spPr>
        <p:txBody>
          <a:bodyPr anchor="t" anchorCtr="0">
            <a:spAutoFit/>
          </a:bodyPr>
          <a:p>
            <a:pPr eaLnBrk="0" hangingPunct="0">
              <a:lnSpc>
                <a:spcPct val="125000"/>
              </a:lnSpc>
            </a:pPr>
            <a:r>
              <a:rPr lang="zh-CN" altLang="en-US" sz="2000" dirty="0">
                <a:latin typeface="微软雅黑" panose="020B0503020204020204" pitchFamily="34" charset="-122"/>
                <a:ea typeface="微软雅黑" panose="020B0503020204020204" pitchFamily="34" charset="-122"/>
              </a:rPr>
              <a:t>所有运算都可由</a:t>
            </a:r>
            <a:r>
              <a:rPr lang="en-US" altLang="zh-CN" sz="2000" dirty="0">
                <a:solidFill>
                  <a:srgbClr val="FF0000"/>
                </a:solidFill>
                <a:latin typeface="微软雅黑" panose="020B0503020204020204" pitchFamily="34" charset="-122"/>
                <a:ea typeface="微软雅黑" panose="020B0503020204020204" pitchFamily="34" charset="-122"/>
              </a:rPr>
              <a:t>ALU</a:t>
            </a:r>
            <a:r>
              <a:rPr lang="zh-CN" altLang="en-US" sz="2000" dirty="0">
                <a:solidFill>
                  <a:srgbClr val="FF0000"/>
                </a:solidFill>
                <a:latin typeface="微软雅黑" panose="020B0503020204020204" pitchFamily="34" charset="-122"/>
                <a:ea typeface="微软雅黑" panose="020B0503020204020204" pitchFamily="34" charset="-122"/>
              </a:rPr>
              <a:t>或加法器</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移位器</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多路选择器</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控制逻辑</a:t>
            </a:r>
            <a:r>
              <a:rPr lang="zh-CN" altLang="en-US" sz="2000" dirty="0">
                <a:latin typeface="微软雅黑" panose="020B0503020204020204" pitchFamily="34" charset="-122"/>
                <a:ea typeface="微软雅黑" panose="020B0503020204020204" pitchFamily="34" charset="-122"/>
              </a:rPr>
              <a:t>实现！</a:t>
            </a:r>
            <a:endParaRPr lang="zh-CN" altLang="en-US" sz="2000" dirty="0">
              <a:latin typeface="微软雅黑" panose="020B0503020204020204" pitchFamily="34" charset="-122"/>
              <a:ea typeface="微软雅黑" panose="020B0503020204020204" pitchFamily="34" charset="-122"/>
            </a:endParaRPr>
          </a:p>
        </p:txBody>
      </p:sp>
      <p:sp>
        <p:nvSpPr>
          <p:cNvPr id="11268" name="矩形 7"/>
          <p:cNvSpPr/>
          <p:nvPr/>
        </p:nvSpPr>
        <p:spPr>
          <a:xfrm>
            <a:off x="303213" y="6142038"/>
            <a:ext cx="8458200" cy="430212"/>
          </a:xfrm>
          <a:prstGeom prst="rect">
            <a:avLst/>
          </a:prstGeom>
          <a:noFill/>
          <a:ln w="9525">
            <a:noFill/>
          </a:ln>
        </p:spPr>
        <p:txBody>
          <a:bodyPr anchor="t" anchorCtr="0">
            <a:spAutoFit/>
          </a:bodyPr>
          <a:p>
            <a:pPr eaLnBrk="0" hangingPunct="0">
              <a:lnSpc>
                <a:spcPct val="120000"/>
              </a:lnSpc>
            </a:pPr>
            <a:r>
              <a:rPr lang="zh-CN" altLang="en-US" sz="2000" dirty="0">
                <a:latin typeface="微软雅黑" panose="020B0503020204020204" pitchFamily="34" charset="-122"/>
                <a:ea typeface="微软雅黑" panose="020B0503020204020204" pitchFamily="34" charset="-122"/>
              </a:rPr>
              <a:t>以下介绍基本运算部件：</a:t>
            </a:r>
            <a:r>
              <a:rPr lang="zh-CN" altLang="en-US" sz="2000" dirty="0">
                <a:solidFill>
                  <a:srgbClr val="0000FF"/>
                </a:solidFill>
                <a:latin typeface="微软雅黑" panose="020B0503020204020204" pitchFamily="34" charset="-122"/>
                <a:ea typeface="微软雅黑" panose="020B0503020204020204" pitchFamily="34" charset="-122"/>
              </a:rPr>
              <a:t>加法器（串行→并行 ）→ 带标志加法器 → </a:t>
            </a:r>
            <a:r>
              <a:rPr lang="en-US" altLang="zh-CN" sz="2000" dirty="0">
                <a:solidFill>
                  <a:srgbClr val="0000FF"/>
                </a:solidFill>
                <a:latin typeface="微软雅黑" panose="020B0503020204020204" pitchFamily="34" charset="-122"/>
                <a:ea typeface="微软雅黑" panose="020B0503020204020204" pitchFamily="34" charset="-122"/>
              </a:rPr>
              <a:t>ALU</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
        <p:nvSpPr>
          <p:cNvPr id="9" name="Text Box 7"/>
          <p:cNvSpPr txBox="1"/>
          <p:nvPr/>
        </p:nvSpPr>
        <p:spPr>
          <a:xfrm>
            <a:off x="4016375" y="2452688"/>
            <a:ext cx="2270125" cy="646112"/>
          </a:xfrm>
          <a:prstGeom prst="rect">
            <a:avLst/>
          </a:prstGeom>
          <a:noFill/>
          <a:ln w="12700">
            <a:noFill/>
          </a:ln>
        </p:spPr>
        <p:txBody>
          <a:bodyPr anchor="t" anchorCtr="0">
            <a:spAutoFit/>
          </a:bodyPr>
          <a:p>
            <a:pPr eaLnBrk="0" hangingPunct="0">
              <a:spcBef>
                <a:spcPct val="50000"/>
              </a:spcBef>
            </a:pPr>
            <a:r>
              <a:rPr lang="zh-CN" altLang="en-US" sz="1800" dirty="0">
                <a:solidFill>
                  <a:srgbClr val="FF0066"/>
                </a:solidFill>
                <a:latin typeface="微软雅黑" panose="020B0503020204020204" pitchFamily="34" charset="-122"/>
                <a:ea typeface="微软雅黑" panose="020B0503020204020204" pitchFamily="34" charset="-122"/>
              </a:rPr>
              <a:t>完全能够支持高级语言对运算的所有需求</a:t>
            </a:r>
            <a:endParaRPr lang="zh-CN" altLang="en-US" sz="1800" dirty="0">
              <a:solidFill>
                <a:srgbClr val="FF0066"/>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5219">
                                            <p:txEl>
                                              <p:charRg st="1" end="22"/>
                                            </p:txEl>
                                          </p:spTgt>
                                        </p:tgtEl>
                                        <p:attrNameLst>
                                          <p:attrName>style.visibility</p:attrName>
                                        </p:attrNameLst>
                                      </p:cBhvr>
                                      <p:to>
                                        <p:strVal val="visible"/>
                                      </p:to>
                                    </p:set>
                                    <p:animEffect transition="in" filter="blinds(horizontal)">
                                      <p:cBhvr>
                                        <p:cTn id="7" dur="500"/>
                                        <p:tgtEl>
                                          <p:spTgt spid="265219">
                                            <p:txEl>
                                              <p:charRg st="1" end="22"/>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5219">
                                            <p:txEl>
                                              <p:charRg st="22" end="37"/>
                                            </p:txEl>
                                          </p:spTgt>
                                        </p:tgtEl>
                                        <p:attrNameLst>
                                          <p:attrName>style.visibility</p:attrName>
                                        </p:attrNameLst>
                                      </p:cBhvr>
                                      <p:to>
                                        <p:strVal val="visible"/>
                                      </p:to>
                                    </p:set>
                                    <p:animEffect transition="in" filter="blinds(horizontal)">
                                      <p:cBhvr>
                                        <p:cTn id="10" dur="500"/>
                                        <p:tgtEl>
                                          <p:spTgt spid="265219">
                                            <p:txEl>
                                              <p:charRg st="22" end="37"/>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65219">
                                            <p:txEl>
                                              <p:charRg st="37" end="54"/>
                                            </p:txEl>
                                          </p:spTgt>
                                        </p:tgtEl>
                                        <p:attrNameLst>
                                          <p:attrName>style.visibility</p:attrName>
                                        </p:attrNameLst>
                                      </p:cBhvr>
                                      <p:to>
                                        <p:strVal val="visible"/>
                                      </p:to>
                                    </p:set>
                                    <p:animEffect transition="in" filter="blinds(horizontal)">
                                      <p:cBhvr>
                                        <p:cTn id="13" dur="500"/>
                                        <p:tgtEl>
                                          <p:spTgt spid="265219">
                                            <p:txEl>
                                              <p:charRg st="37" end="5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65219">
                                            <p:txEl>
                                              <p:charRg st="54" end="85"/>
                                            </p:txEl>
                                          </p:spTgt>
                                        </p:tgtEl>
                                        <p:attrNameLst>
                                          <p:attrName>style.visibility</p:attrName>
                                        </p:attrNameLst>
                                      </p:cBhvr>
                                      <p:to>
                                        <p:strVal val="visible"/>
                                      </p:to>
                                    </p:set>
                                    <p:animEffect transition="in" filter="blinds(horizontal)">
                                      <p:cBhvr>
                                        <p:cTn id="18" dur="500"/>
                                        <p:tgtEl>
                                          <p:spTgt spid="265219">
                                            <p:txEl>
                                              <p:charRg st="54" end="85"/>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65219">
                                            <p:txEl>
                                              <p:charRg st="85" end="94"/>
                                            </p:txEl>
                                          </p:spTgt>
                                        </p:tgtEl>
                                        <p:attrNameLst>
                                          <p:attrName>style.visibility</p:attrName>
                                        </p:attrNameLst>
                                      </p:cBhvr>
                                      <p:to>
                                        <p:strVal val="visible"/>
                                      </p:to>
                                    </p:set>
                                    <p:animEffect transition="in" filter="blinds(horizontal)">
                                      <p:cBhvr>
                                        <p:cTn id="21" dur="500"/>
                                        <p:tgtEl>
                                          <p:spTgt spid="265219">
                                            <p:txEl>
                                              <p:charRg st="85" end="9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65219">
                                            <p:txEl>
                                              <p:charRg st="94" end="99"/>
                                            </p:txEl>
                                          </p:spTgt>
                                        </p:tgtEl>
                                        <p:attrNameLst>
                                          <p:attrName>style.visibility</p:attrName>
                                        </p:attrNameLst>
                                      </p:cBhvr>
                                      <p:to>
                                        <p:strVal val="visible"/>
                                      </p:to>
                                    </p:set>
                                    <p:animEffect transition="in" filter="blinds(horizontal)">
                                      <p:cBhvr>
                                        <p:cTn id="24" dur="500"/>
                                        <p:tgtEl>
                                          <p:spTgt spid="265219">
                                            <p:txEl>
                                              <p:charRg st="94" end="99"/>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65219">
                                            <p:txEl>
                                              <p:charRg st="99" end="139"/>
                                            </p:txEl>
                                          </p:spTgt>
                                        </p:tgtEl>
                                        <p:attrNameLst>
                                          <p:attrName>style.visibility</p:attrName>
                                        </p:attrNameLst>
                                      </p:cBhvr>
                                      <p:to>
                                        <p:strVal val="visible"/>
                                      </p:to>
                                    </p:set>
                                    <p:animEffect transition="in" filter="blinds(horizontal)">
                                      <p:cBhvr>
                                        <p:cTn id="27" dur="500"/>
                                        <p:tgtEl>
                                          <p:spTgt spid="265219">
                                            <p:txEl>
                                              <p:charRg st="99" end="139"/>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65219">
                                            <p:txEl>
                                              <p:charRg st="139" end="166"/>
                                            </p:txEl>
                                          </p:spTgt>
                                        </p:tgtEl>
                                        <p:attrNameLst>
                                          <p:attrName>style.visibility</p:attrName>
                                        </p:attrNameLst>
                                      </p:cBhvr>
                                      <p:to>
                                        <p:strVal val="visible"/>
                                      </p:to>
                                    </p:set>
                                    <p:animEffect transition="in" filter="blinds(horizontal)">
                                      <p:cBhvr>
                                        <p:cTn id="30" dur="500"/>
                                        <p:tgtEl>
                                          <p:spTgt spid="265219">
                                            <p:txEl>
                                              <p:charRg st="139" end="166"/>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65219">
                                            <p:txEl>
                                              <p:charRg st="166" end="171"/>
                                            </p:txEl>
                                          </p:spTgt>
                                        </p:tgtEl>
                                        <p:attrNameLst>
                                          <p:attrName>style.visibility</p:attrName>
                                        </p:attrNameLst>
                                      </p:cBhvr>
                                      <p:to>
                                        <p:strVal val="visible"/>
                                      </p:to>
                                    </p:set>
                                    <p:animEffect transition="in" filter="blinds(horizontal)">
                                      <p:cBhvr>
                                        <p:cTn id="33" dur="500"/>
                                        <p:tgtEl>
                                          <p:spTgt spid="265219">
                                            <p:txEl>
                                              <p:charRg st="166" end="171"/>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65219">
                                            <p:txEl>
                                              <p:charRg st="171" end="190"/>
                                            </p:txEl>
                                          </p:spTgt>
                                        </p:tgtEl>
                                        <p:attrNameLst>
                                          <p:attrName>style.visibility</p:attrName>
                                        </p:attrNameLst>
                                      </p:cBhvr>
                                      <p:to>
                                        <p:strVal val="visible"/>
                                      </p:to>
                                    </p:set>
                                    <p:animEffect transition="in" filter="blinds(horizontal)">
                                      <p:cBhvr>
                                        <p:cTn id="36" dur="500"/>
                                        <p:tgtEl>
                                          <p:spTgt spid="265219">
                                            <p:txEl>
                                              <p:charRg st="171" end="190"/>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65219">
                                            <p:txEl>
                                              <p:charRg st="190" end="207"/>
                                            </p:txEl>
                                          </p:spTgt>
                                        </p:tgtEl>
                                        <p:attrNameLst>
                                          <p:attrName>style.visibility</p:attrName>
                                        </p:attrNameLst>
                                      </p:cBhvr>
                                      <p:to>
                                        <p:strVal val="visible"/>
                                      </p:to>
                                    </p:set>
                                    <p:animEffect transition="in" filter="blinds(horizontal)">
                                      <p:cBhvr>
                                        <p:cTn id="39" dur="500"/>
                                        <p:tgtEl>
                                          <p:spTgt spid="265219">
                                            <p:txEl>
                                              <p:charRg st="190" end="20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265219">
                                            <p:txEl>
                                              <p:charRg st="207" end="224"/>
                                            </p:txEl>
                                          </p:spTgt>
                                        </p:tgtEl>
                                        <p:attrNameLst>
                                          <p:attrName>style.visibility</p:attrName>
                                        </p:attrNameLst>
                                      </p:cBhvr>
                                      <p:to>
                                        <p:strVal val="visible"/>
                                      </p:to>
                                    </p:set>
                                    <p:animEffect transition="in" filter="blinds(horizontal)">
                                      <p:cBhvr>
                                        <p:cTn id="44" dur="500"/>
                                        <p:tgtEl>
                                          <p:spTgt spid="265219">
                                            <p:txEl>
                                              <p:charRg st="207" end="22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blinds(horizontal)">
                                      <p:cBhvr>
                                        <p:cTn id="4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build="p"/>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a:xfrm>
            <a:off x="779463" y="166688"/>
            <a:ext cx="6073775" cy="479425"/>
          </a:xfrm>
          <a:ln/>
        </p:spPr>
        <p:txBody>
          <a:bodyPr vert="horz" wrap="square" lIns="63500" tIns="25400" rIns="63500" bIns="25400" anchor="t" anchorCtr="0">
            <a:spAutoFit/>
          </a:bodyPr>
          <a:p>
            <a:r>
              <a:rPr lang="zh-CN" altLang="en-US" dirty="0">
                <a:ea typeface="宋体" panose="02010600030101010101" pitchFamily="2" charset="-122"/>
              </a:rPr>
              <a:t>串行进位加法器</a:t>
            </a:r>
            <a:endParaRPr lang="zh-CN" altLang="en-US" dirty="0">
              <a:ea typeface="宋体" panose="02010600030101010101" pitchFamily="2" charset="-122"/>
            </a:endParaRPr>
          </a:p>
        </p:txBody>
      </p:sp>
      <p:pic>
        <p:nvPicPr>
          <p:cNvPr id="13314" name="Picture 3" descr="全加器逻辑图"/>
          <p:cNvPicPr>
            <a:picLocks noChangeAspect="1"/>
          </p:cNvPicPr>
          <p:nvPr/>
        </p:nvPicPr>
        <p:blipFill>
          <a:blip r:embed="rId1"/>
          <a:stretch>
            <a:fillRect/>
          </a:stretch>
        </p:blipFill>
        <p:spPr>
          <a:xfrm>
            <a:off x="138113" y="749300"/>
            <a:ext cx="4451350" cy="4348163"/>
          </a:xfrm>
          <a:prstGeom prst="rect">
            <a:avLst/>
          </a:prstGeom>
          <a:noFill/>
          <a:ln w="9525">
            <a:noFill/>
          </a:ln>
        </p:spPr>
      </p:pic>
      <p:sp>
        <p:nvSpPr>
          <p:cNvPr id="13315" name="Text Box 5"/>
          <p:cNvSpPr txBox="1"/>
          <p:nvPr/>
        </p:nvSpPr>
        <p:spPr>
          <a:xfrm>
            <a:off x="180975" y="5321300"/>
            <a:ext cx="4518025" cy="701675"/>
          </a:xfrm>
          <a:prstGeom prst="rect">
            <a:avLst/>
          </a:prstGeom>
          <a:solidFill>
            <a:schemeClr val="bg1"/>
          </a:solidFill>
          <a:ln w="9525">
            <a:noFill/>
          </a:ln>
        </p:spPr>
        <p:txBody>
          <a:bodyPr anchor="t" anchorCtr="0">
            <a:spAutoFit/>
          </a:bodyPr>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假定与</a:t>
            </a:r>
            <a:r>
              <a:rPr lang="en-US" altLang="zh-CN" sz="2000" dirty="0">
                <a:solidFill>
                  <a:schemeClr val="accent2"/>
                </a:solidFill>
                <a:latin typeface="微软雅黑" panose="020B0503020204020204" pitchFamily="34" charset="-122"/>
                <a:ea typeface="微软雅黑" panose="020B0503020204020204" pitchFamily="34" charset="-122"/>
              </a:rPr>
              <a:t>/</a:t>
            </a:r>
            <a:r>
              <a:rPr lang="zh-CN" altLang="en-US" sz="2000" dirty="0">
                <a:solidFill>
                  <a:schemeClr val="accent2"/>
                </a:solidFill>
                <a:latin typeface="微软雅黑" panose="020B0503020204020204" pitchFamily="34" charset="-122"/>
                <a:ea typeface="微软雅黑" panose="020B0503020204020204" pitchFamily="34" charset="-122"/>
              </a:rPr>
              <a:t>或门延迟为1</a:t>
            </a:r>
            <a:r>
              <a:rPr lang="en-US" altLang="zh-CN" sz="2000" dirty="0">
                <a:solidFill>
                  <a:schemeClr val="accent2"/>
                </a:solidFill>
                <a:latin typeface="微软雅黑" panose="020B0503020204020204" pitchFamily="34" charset="-122"/>
                <a:ea typeface="微软雅黑" panose="020B0503020204020204" pitchFamily="34" charset="-122"/>
              </a:rPr>
              <a:t>ty，</a:t>
            </a:r>
            <a:r>
              <a:rPr lang="zh-CN" altLang="en-US" sz="2000" dirty="0">
                <a:solidFill>
                  <a:schemeClr val="accent2"/>
                </a:solidFill>
                <a:latin typeface="微软雅黑" panose="020B0503020204020204" pitchFamily="34" charset="-122"/>
                <a:ea typeface="微软雅黑" panose="020B0503020204020204" pitchFamily="34" charset="-122"/>
              </a:rPr>
              <a:t>异或门</a:t>
            </a:r>
            <a:r>
              <a:rPr lang="en-US" altLang="zh-CN" sz="2000" dirty="0">
                <a:solidFill>
                  <a:schemeClr val="accent2"/>
                </a:solidFill>
                <a:latin typeface="微软雅黑" panose="020B0503020204020204" pitchFamily="34" charset="-122"/>
                <a:ea typeface="微软雅黑" panose="020B0503020204020204" pitchFamily="34" charset="-122"/>
              </a:rPr>
              <a:t>3ty</a:t>
            </a:r>
            <a:r>
              <a:rPr lang="zh-CN" altLang="en-US" sz="2000" dirty="0">
                <a:solidFill>
                  <a:schemeClr val="accent2"/>
                </a:solidFill>
                <a:latin typeface="微软雅黑" panose="020B0503020204020204" pitchFamily="34" charset="-122"/>
                <a:ea typeface="微软雅黑" panose="020B0503020204020204" pitchFamily="34" charset="-122"/>
              </a:rPr>
              <a:t>，则“和”与“进位”的延迟为多少？</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grpSp>
        <p:nvGrpSpPr>
          <p:cNvPr id="13316" name="Group 15"/>
          <p:cNvGrpSpPr/>
          <p:nvPr/>
        </p:nvGrpSpPr>
        <p:grpSpPr>
          <a:xfrm>
            <a:off x="5981700" y="790575"/>
            <a:ext cx="2724150" cy="1590675"/>
            <a:chOff x="3768" y="600"/>
            <a:chExt cx="1716" cy="1002"/>
          </a:xfrm>
        </p:grpSpPr>
        <p:grpSp>
          <p:nvGrpSpPr>
            <p:cNvPr id="13317" name="Group 6"/>
            <p:cNvGrpSpPr/>
            <p:nvPr/>
          </p:nvGrpSpPr>
          <p:grpSpPr>
            <a:xfrm>
              <a:off x="4258" y="637"/>
              <a:ext cx="1226" cy="965"/>
              <a:chOff x="9022" y="9188"/>
              <a:chExt cx="1506" cy="1399"/>
            </a:xfrm>
          </p:grpSpPr>
          <p:sp>
            <p:nvSpPr>
              <p:cNvPr id="13318" name="Rectangle 7"/>
              <p:cNvSpPr/>
              <p:nvPr/>
            </p:nvSpPr>
            <p:spPr>
              <a:xfrm>
                <a:off x="9489" y="9643"/>
                <a:ext cx="567" cy="45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r>
                  <a:rPr lang="en-US" altLang="zh-CN" sz="2000" dirty="0">
                    <a:latin typeface="Arial" panose="020B0604020202020204" pitchFamily="34" charset="0"/>
                    <a:ea typeface="黑体" panose="02010609060101010101" pitchFamily="49" charset="-122"/>
                  </a:rPr>
                  <a:t>FA</a:t>
                </a:r>
                <a:endParaRPr lang="en-US" altLang="zh-CN" sz="2000" dirty="0">
                  <a:latin typeface="Arial" panose="020B0604020202020204" pitchFamily="34" charset="0"/>
                  <a:ea typeface="黑体" panose="02010609060101010101" pitchFamily="49" charset="-122"/>
                </a:endParaRPr>
              </a:p>
            </p:txBody>
          </p:sp>
          <p:sp>
            <p:nvSpPr>
              <p:cNvPr id="13319" name="Line 8"/>
              <p:cNvSpPr/>
              <p:nvPr/>
            </p:nvSpPr>
            <p:spPr>
              <a:xfrm>
                <a:off x="9786" y="9188"/>
                <a:ext cx="0" cy="468"/>
              </a:xfrm>
              <a:prstGeom prst="line">
                <a:avLst/>
              </a:prstGeom>
              <a:ln w="9525" cap="flat" cmpd="sng">
                <a:solidFill>
                  <a:srgbClr val="000000"/>
                </a:solidFill>
                <a:prstDash val="solid"/>
                <a:round/>
                <a:headEnd type="triangle" w="sm" len="med"/>
                <a:tailEnd type="none" w="med" len="med"/>
              </a:ln>
            </p:spPr>
          </p:sp>
          <p:sp>
            <p:nvSpPr>
              <p:cNvPr id="13320" name="Line 9"/>
              <p:cNvSpPr/>
              <p:nvPr/>
            </p:nvSpPr>
            <p:spPr>
              <a:xfrm>
                <a:off x="9696" y="10116"/>
                <a:ext cx="0" cy="471"/>
              </a:xfrm>
              <a:prstGeom prst="line">
                <a:avLst/>
              </a:prstGeom>
              <a:ln w="9525" cap="flat" cmpd="sng">
                <a:solidFill>
                  <a:srgbClr val="000000"/>
                </a:solidFill>
                <a:prstDash val="solid"/>
                <a:round/>
                <a:headEnd type="triangle" w="sm" len="med"/>
                <a:tailEnd type="none" w="med" len="med"/>
              </a:ln>
            </p:spPr>
          </p:sp>
          <p:sp>
            <p:nvSpPr>
              <p:cNvPr id="13321" name="Line 10"/>
              <p:cNvSpPr/>
              <p:nvPr/>
            </p:nvSpPr>
            <p:spPr>
              <a:xfrm>
                <a:off x="9879" y="10116"/>
                <a:ext cx="0" cy="471"/>
              </a:xfrm>
              <a:prstGeom prst="line">
                <a:avLst/>
              </a:prstGeom>
              <a:ln w="9525" cap="flat" cmpd="sng">
                <a:solidFill>
                  <a:srgbClr val="000000"/>
                </a:solidFill>
                <a:prstDash val="solid"/>
                <a:round/>
                <a:headEnd type="triangle" w="sm" len="med"/>
                <a:tailEnd type="none" w="med" len="med"/>
              </a:ln>
            </p:spPr>
          </p:sp>
          <p:sp>
            <p:nvSpPr>
              <p:cNvPr id="13322" name="Freeform 11"/>
              <p:cNvSpPr/>
              <p:nvPr/>
            </p:nvSpPr>
            <p:spPr>
              <a:xfrm>
                <a:off x="10057" y="9855"/>
                <a:ext cx="471" cy="1"/>
              </a:xfrm>
              <a:custGeom>
                <a:avLst/>
                <a:gdLst/>
                <a:ahLst/>
                <a:cxnLst>
                  <a:cxn ang="0">
                    <a:pos x="1" y="0"/>
                  </a:cxn>
                  <a:cxn ang="0">
                    <a:pos x="0" y="1"/>
                  </a:cxn>
                </a:cxnLst>
                <a:pathLst>
                  <a:path w="636" h="1">
                    <a:moveTo>
                      <a:pt x="636" y="0"/>
                    </a:moveTo>
                    <a:lnTo>
                      <a:pt x="0" y="1"/>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13323" name="Freeform 12"/>
              <p:cNvSpPr/>
              <p:nvPr/>
            </p:nvSpPr>
            <p:spPr>
              <a:xfrm>
                <a:off x="9022" y="9844"/>
                <a:ext cx="471" cy="1"/>
              </a:xfrm>
              <a:custGeom>
                <a:avLst/>
                <a:gdLst/>
                <a:ahLst/>
                <a:cxnLst>
                  <a:cxn ang="0">
                    <a:pos x="3" y="0"/>
                  </a:cxn>
                  <a:cxn ang="0">
                    <a:pos x="0" y="0"/>
                  </a:cxn>
                </a:cxnLst>
                <a:pathLst>
                  <a:path w="569" h="3">
                    <a:moveTo>
                      <a:pt x="569" y="3"/>
                    </a:moveTo>
                    <a:lnTo>
                      <a:pt x="0" y="0"/>
                    </a:lnTo>
                  </a:path>
                </a:pathLst>
              </a:custGeom>
              <a:noFill/>
              <a:ln w="9525" cap="flat" cmpd="sng">
                <a:solidFill>
                  <a:srgbClr val="000000"/>
                </a:solidFill>
                <a:prstDash val="solid"/>
                <a:round/>
                <a:headEnd type="none" w="med" len="med"/>
                <a:tailEnd type="triangle" w="sm" len="med"/>
              </a:ln>
            </p:spPr>
            <p:txBody>
              <a:bodyPr/>
              <a:p>
                <a:endParaRPr lang="zh-CN" altLang="en-US"/>
              </a:p>
            </p:txBody>
          </p:sp>
        </p:grpSp>
        <p:sp>
          <p:nvSpPr>
            <p:cNvPr id="13324" name="Text Box 13"/>
            <p:cNvSpPr txBox="1"/>
            <p:nvPr/>
          </p:nvSpPr>
          <p:spPr>
            <a:xfrm>
              <a:off x="3768" y="600"/>
              <a:ext cx="1200" cy="250"/>
            </a:xfrm>
            <a:prstGeom prst="rect">
              <a:avLst/>
            </a:prstGeom>
            <a:noFill/>
            <a:ln w="12700">
              <a:noFill/>
            </a:ln>
          </p:spPr>
          <p:txBody>
            <a:bodyPr anchor="t" anchorCtr="0">
              <a:spAutoFit/>
            </a:bodyPr>
            <a:p>
              <a:pPr eaLnBrk="0" hangingPunct="0">
                <a:spcBef>
                  <a:spcPct val="50000"/>
                </a:spcBef>
              </a:pPr>
              <a:r>
                <a:rPr lang="zh-CN" altLang="en-US" sz="2000" dirty="0">
                  <a:latin typeface="Times New Roman" panose="02020603050405020304" pitchFamily="18" charset="0"/>
                  <a:ea typeface="黑体" panose="02010609060101010101" pitchFamily="49" charset="-122"/>
                </a:rPr>
                <a:t>全加器符号：</a:t>
              </a:r>
              <a:endParaRPr lang="zh-CN" altLang="en-US" sz="2000" dirty="0">
                <a:latin typeface="Times New Roman" panose="02020603050405020304" pitchFamily="18" charset="0"/>
                <a:ea typeface="黑体" panose="02010609060101010101" pitchFamily="49" charset="-122"/>
              </a:endParaRPr>
            </a:p>
          </p:txBody>
        </p:sp>
      </p:grpSp>
      <p:sp>
        <p:nvSpPr>
          <p:cNvPr id="13325" name="Text Box 37"/>
          <p:cNvSpPr txBox="1"/>
          <p:nvPr/>
        </p:nvSpPr>
        <p:spPr>
          <a:xfrm>
            <a:off x="4619625" y="4086225"/>
            <a:ext cx="3848100" cy="762000"/>
          </a:xfrm>
          <a:prstGeom prst="rect">
            <a:avLst/>
          </a:prstGeom>
          <a:noFill/>
          <a:ln w="12700">
            <a:noFill/>
          </a:ln>
        </p:spPr>
        <p:txBody>
          <a:bodyPr anchor="t" anchorCtr="0">
            <a:spAutoFit/>
          </a:bodyPr>
          <a:p>
            <a:pPr eaLnBrk="0" hangingPunct="0">
              <a:spcBef>
                <a:spcPct val="20000"/>
              </a:spcBef>
            </a:pPr>
            <a:r>
              <a:rPr lang="zh-CN" altLang="en-US" sz="2000" dirty="0">
                <a:latin typeface="微软雅黑" panose="020B0503020204020204" pitchFamily="34" charset="-122"/>
                <a:ea typeface="微软雅黑" panose="020B0503020204020204" pitchFamily="34" charset="-122"/>
              </a:rPr>
              <a:t>串行加法器的缺点：</a:t>
            </a:r>
            <a:endParaRPr lang="zh-CN" altLang="en-US" sz="2000" dirty="0">
              <a:latin typeface="微软雅黑" panose="020B0503020204020204" pitchFamily="34" charset="-122"/>
              <a:ea typeface="微软雅黑" panose="020B0503020204020204" pitchFamily="34" charset="-122"/>
            </a:endParaRPr>
          </a:p>
          <a:p>
            <a:pPr eaLnBrk="0" hangingPunct="0">
              <a:spcBef>
                <a:spcPct val="20000"/>
              </a:spcBef>
            </a:pPr>
            <a:r>
              <a:rPr lang="zh-CN" altLang="en-US" sz="2000" dirty="0">
                <a:solidFill>
                  <a:srgbClr val="FF0066"/>
                </a:solidFill>
                <a:latin typeface="微软雅黑" panose="020B0503020204020204" pitchFamily="34" charset="-122"/>
                <a:ea typeface="微软雅黑" panose="020B0503020204020204" pitchFamily="34" charset="-122"/>
              </a:rPr>
              <a:t>进位按串行方式传递，速度慢！</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13326" name="Text Box 39"/>
          <p:cNvSpPr txBox="1"/>
          <p:nvPr/>
        </p:nvSpPr>
        <p:spPr>
          <a:xfrm>
            <a:off x="4533900" y="4867275"/>
            <a:ext cx="4457700" cy="1158875"/>
          </a:xfrm>
          <a:prstGeom prst="rect">
            <a:avLst/>
          </a:prstGeom>
          <a:noFill/>
          <a:ln w="12700">
            <a:noFill/>
          </a:ln>
        </p:spPr>
        <p:txBody>
          <a:bodyPr anchor="t" anchorCtr="0">
            <a:spAutoFit/>
          </a:bodyPr>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问题：</a:t>
            </a:r>
            <a:r>
              <a:rPr lang="en-US" altLang="zh-CN" sz="2000" dirty="0">
                <a:solidFill>
                  <a:schemeClr val="accent2"/>
                </a:solidFill>
                <a:latin typeface="微软雅黑" panose="020B0503020204020204" pitchFamily="34" charset="-122"/>
                <a:ea typeface="微软雅黑" panose="020B0503020204020204" pitchFamily="34" charset="-122"/>
              </a:rPr>
              <a:t>n</a:t>
            </a:r>
            <a:r>
              <a:rPr lang="zh-CN" altLang="en-US" sz="2000" dirty="0">
                <a:solidFill>
                  <a:schemeClr val="accent2"/>
                </a:solidFill>
                <a:latin typeface="微软雅黑" panose="020B0503020204020204" pitchFamily="34" charset="-122"/>
                <a:ea typeface="微软雅黑" panose="020B0503020204020204" pitchFamily="34" charset="-122"/>
              </a:rPr>
              <a:t>位串行加法器从</a:t>
            </a:r>
            <a:r>
              <a:rPr lang="en-US" altLang="zh-CN" sz="2000" dirty="0">
                <a:solidFill>
                  <a:schemeClr val="accent2"/>
                </a:solidFill>
                <a:latin typeface="微软雅黑" panose="020B0503020204020204" pitchFamily="34" charset="-122"/>
                <a:ea typeface="微软雅黑" panose="020B0503020204020204" pitchFamily="34" charset="-122"/>
              </a:rPr>
              <a:t>C0</a:t>
            </a:r>
            <a:r>
              <a:rPr lang="zh-CN" altLang="en-US" sz="2000" dirty="0">
                <a:solidFill>
                  <a:schemeClr val="accent2"/>
                </a:solidFill>
                <a:latin typeface="微软雅黑" panose="020B0503020204020204" pitchFamily="34" charset="-122"/>
                <a:ea typeface="微软雅黑" panose="020B0503020204020204" pitchFamily="34" charset="-122"/>
              </a:rPr>
              <a:t>到</a:t>
            </a:r>
            <a:r>
              <a:rPr lang="en-US" altLang="zh-CN" sz="2000" dirty="0">
                <a:solidFill>
                  <a:schemeClr val="accent2"/>
                </a:solidFill>
                <a:latin typeface="微软雅黑" panose="020B0503020204020204" pitchFamily="34" charset="-122"/>
                <a:ea typeface="微软雅黑" panose="020B0503020204020204" pitchFamily="34" charset="-122"/>
              </a:rPr>
              <a:t>Cn</a:t>
            </a:r>
            <a:r>
              <a:rPr lang="zh-CN" altLang="en-US" sz="2000" dirty="0">
                <a:solidFill>
                  <a:schemeClr val="accent2"/>
                </a:solidFill>
                <a:latin typeface="微软雅黑" panose="020B0503020204020204" pitchFamily="34" charset="-122"/>
                <a:ea typeface="微软雅黑" panose="020B0503020204020204" pitchFamily="34" charset="-122"/>
              </a:rPr>
              <a:t>的延迟时间为多少？</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最后一位和数的延迟时间为多少？</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3327" name="Rectangle 40"/>
          <p:cNvSpPr/>
          <p:nvPr/>
        </p:nvSpPr>
        <p:spPr>
          <a:xfrm>
            <a:off x="5632450" y="6000750"/>
            <a:ext cx="2341563" cy="430213"/>
          </a:xfrm>
          <a:prstGeom prst="rect">
            <a:avLst/>
          </a:prstGeom>
          <a:noFill/>
          <a:ln w="12700">
            <a:noFill/>
          </a:ln>
        </p:spPr>
        <p:txBody>
          <a:bodyPr wrap="none" anchor="t" anchorCtr="0">
            <a:spAutoFit/>
          </a:bodyPr>
          <a:p>
            <a:pPr eaLnBrk="0" hangingPunct="0"/>
            <a:r>
              <a:rPr lang="en-US" altLang="zh-CN" sz="2200" dirty="0">
                <a:solidFill>
                  <a:srgbClr val="FF0066"/>
                </a:solidFill>
                <a:latin typeface="微软雅黑" panose="020B0503020204020204" pitchFamily="34" charset="-122"/>
                <a:ea typeface="微软雅黑" panose="020B0503020204020204" pitchFamily="34" charset="-122"/>
              </a:rPr>
              <a:t>2n+1</a:t>
            </a:r>
            <a:r>
              <a:rPr lang="zh-CN" altLang="en-US" sz="2200" dirty="0">
                <a:solidFill>
                  <a:srgbClr val="FF0066"/>
                </a:solidFill>
                <a:latin typeface="微软雅黑" panose="020B0503020204020204" pitchFamily="34" charset="-122"/>
                <a:ea typeface="微软雅黑" panose="020B0503020204020204" pitchFamily="34" charset="-122"/>
              </a:rPr>
              <a:t>级门延迟！</a:t>
            </a:r>
            <a:endParaRPr lang="zh-CN" altLang="en-US" sz="2200" dirty="0">
              <a:solidFill>
                <a:srgbClr val="FF0066"/>
              </a:solidFill>
              <a:latin typeface="微软雅黑" panose="020B0503020204020204" pitchFamily="34" charset="-122"/>
              <a:ea typeface="微软雅黑" panose="020B0503020204020204" pitchFamily="34" charset="-122"/>
            </a:endParaRPr>
          </a:p>
        </p:txBody>
      </p:sp>
      <p:sp>
        <p:nvSpPr>
          <p:cNvPr id="13328" name="Rectangle 41"/>
          <p:cNvSpPr/>
          <p:nvPr/>
        </p:nvSpPr>
        <p:spPr>
          <a:xfrm>
            <a:off x="6391275" y="5183188"/>
            <a:ext cx="2268538" cy="427037"/>
          </a:xfrm>
          <a:prstGeom prst="rect">
            <a:avLst/>
          </a:prstGeom>
          <a:noFill/>
          <a:ln w="12700">
            <a:noFill/>
          </a:ln>
        </p:spPr>
        <p:txBody>
          <a:bodyPr anchor="t" anchorCtr="0">
            <a:spAutoFit/>
          </a:bodyPr>
          <a:p>
            <a:pPr eaLnBrk="0" hangingPunct="0"/>
            <a:r>
              <a:rPr lang="en-US" altLang="zh-CN" sz="2200" dirty="0">
                <a:solidFill>
                  <a:srgbClr val="FF0066"/>
                </a:solidFill>
                <a:latin typeface="微软雅黑" panose="020B0503020204020204" pitchFamily="34" charset="-122"/>
                <a:ea typeface="微软雅黑" panose="020B0503020204020204" pitchFamily="34" charset="-122"/>
              </a:rPr>
              <a:t>2n</a:t>
            </a:r>
            <a:r>
              <a:rPr lang="zh-CN" altLang="en-US" sz="2200" dirty="0">
                <a:solidFill>
                  <a:srgbClr val="FF0066"/>
                </a:solidFill>
                <a:latin typeface="微软雅黑" panose="020B0503020204020204" pitchFamily="34" charset="-122"/>
                <a:ea typeface="微软雅黑" panose="020B0503020204020204" pitchFamily="34" charset="-122"/>
              </a:rPr>
              <a:t>级门延迟！</a:t>
            </a:r>
            <a:endParaRPr lang="zh-CN" altLang="en-US" sz="2200" dirty="0">
              <a:solidFill>
                <a:srgbClr val="FF0066"/>
              </a:solidFill>
              <a:latin typeface="微软雅黑" panose="020B0503020204020204" pitchFamily="34" charset="-122"/>
              <a:ea typeface="微软雅黑" panose="020B0503020204020204" pitchFamily="34" charset="-122"/>
            </a:endParaRPr>
          </a:p>
        </p:txBody>
      </p:sp>
      <p:sp>
        <p:nvSpPr>
          <p:cNvPr id="13329" name="Text Box 47"/>
          <p:cNvSpPr txBox="1"/>
          <p:nvPr/>
        </p:nvSpPr>
        <p:spPr>
          <a:xfrm>
            <a:off x="209550" y="6146800"/>
            <a:ext cx="4756150" cy="396875"/>
          </a:xfrm>
          <a:prstGeom prst="rect">
            <a:avLst/>
          </a:prstGeom>
          <a:solidFill>
            <a:schemeClr val="bg1"/>
          </a:solidFill>
          <a:ln w="9525">
            <a:noFill/>
          </a:ln>
        </p:spPr>
        <p:txBody>
          <a:bodyPr anchor="t" anchorCtr="0">
            <a:spAutoFit/>
          </a:bodyPr>
          <a:p>
            <a:pPr eaLnBrk="0" hangingPunct="0">
              <a:spcBef>
                <a:spcPct val="50000"/>
              </a:spcBef>
            </a:pPr>
            <a:r>
              <a:rPr lang="en-US" altLang="zh-CN" sz="2000" dirty="0">
                <a:solidFill>
                  <a:srgbClr val="FF0066"/>
                </a:solidFill>
                <a:latin typeface="微软雅黑" panose="020B0503020204020204" pitchFamily="34" charset="-122"/>
                <a:ea typeface="微软雅黑" panose="020B0503020204020204" pitchFamily="34" charset="-122"/>
              </a:rPr>
              <a:t>Sum</a:t>
            </a:r>
            <a:r>
              <a:rPr lang="zh-CN" altLang="en-US" sz="2000" dirty="0">
                <a:solidFill>
                  <a:srgbClr val="FF0066"/>
                </a:solidFill>
                <a:latin typeface="微软雅黑" panose="020B0503020204020204" pitchFamily="34" charset="-122"/>
                <a:ea typeface="微软雅黑" panose="020B0503020204020204" pitchFamily="34" charset="-122"/>
              </a:rPr>
              <a:t>延迟为6</a:t>
            </a:r>
            <a:r>
              <a:rPr lang="en-US" altLang="zh-CN" sz="2000" dirty="0">
                <a:solidFill>
                  <a:srgbClr val="FF0066"/>
                </a:solidFill>
                <a:latin typeface="微软雅黑" panose="020B0503020204020204" pitchFamily="34" charset="-122"/>
                <a:ea typeface="微软雅黑" panose="020B0503020204020204" pitchFamily="34" charset="-122"/>
              </a:rPr>
              <a:t>ty</a:t>
            </a:r>
            <a:r>
              <a:rPr lang="zh-CN" altLang="en-US" sz="2000" dirty="0">
                <a:solidFill>
                  <a:srgbClr val="FF0066"/>
                </a:solidFill>
                <a:latin typeface="微软雅黑" panose="020B0503020204020204" pitchFamily="34" charset="-122"/>
                <a:ea typeface="微软雅黑" panose="020B0503020204020204" pitchFamily="34" charset="-122"/>
              </a:rPr>
              <a:t>；</a:t>
            </a:r>
            <a:r>
              <a:rPr lang="en-US" altLang="zh-CN" sz="2000" dirty="0">
                <a:solidFill>
                  <a:srgbClr val="FF0066"/>
                </a:solidFill>
                <a:latin typeface="微软雅黑" panose="020B0503020204020204" pitchFamily="34" charset="-122"/>
                <a:ea typeface="微软雅黑" panose="020B0503020204020204" pitchFamily="34" charset="-122"/>
              </a:rPr>
              <a:t>Carryout</a:t>
            </a:r>
            <a:r>
              <a:rPr lang="zh-CN" altLang="en-US" sz="2000" dirty="0">
                <a:solidFill>
                  <a:srgbClr val="FF0066"/>
                </a:solidFill>
                <a:latin typeface="微软雅黑" panose="020B0503020204020204" pitchFamily="34" charset="-122"/>
                <a:ea typeface="微软雅黑" panose="020B0503020204020204" pitchFamily="34" charset="-122"/>
              </a:rPr>
              <a:t>延迟为</a:t>
            </a:r>
            <a:r>
              <a:rPr lang="en-US" altLang="zh-CN" sz="2000" dirty="0">
                <a:solidFill>
                  <a:srgbClr val="FF0066"/>
                </a:solidFill>
                <a:latin typeface="微软雅黑" panose="020B0503020204020204" pitchFamily="34" charset="-122"/>
                <a:ea typeface="微软雅黑" panose="020B0503020204020204" pitchFamily="34" charset="-122"/>
              </a:rPr>
              <a:t>2ty</a:t>
            </a:r>
            <a:r>
              <a:rPr lang="zh-CN" altLang="en-US" sz="2000" dirty="0">
                <a:solidFill>
                  <a:srgbClr val="FF0066"/>
                </a:solidFill>
                <a:latin typeface="微软雅黑" panose="020B0503020204020204" pitchFamily="34" charset="-122"/>
                <a:ea typeface="微软雅黑" panose="020B0503020204020204" pitchFamily="34" charset="-122"/>
              </a:rPr>
              <a:t>。</a:t>
            </a:r>
            <a:endParaRPr lang="zh-CN" altLang="en-US" sz="2000" dirty="0">
              <a:solidFill>
                <a:srgbClr val="FF0066"/>
              </a:solidFill>
              <a:latin typeface="微软雅黑" panose="020B0503020204020204" pitchFamily="34" charset="-122"/>
              <a:ea typeface="微软雅黑" panose="020B0503020204020204" pitchFamily="34" charset="-122"/>
            </a:endParaRPr>
          </a:p>
        </p:txBody>
      </p:sp>
      <p:grpSp>
        <p:nvGrpSpPr>
          <p:cNvPr id="13330" name="Group 50"/>
          <p:cNvGrpSpPr/>
          <p:nvPr/>
        </p:nvGrpSpPr>
        <p:grpSpPr>
          <a:xfrm>
            <a:off x="4102100" y="2219325"/>
            <a:ext cx="4889500" cy="1790700"/>
            <a:chOff x="2584" y="1398"/>
            <a:chExt cx="3080" cy="1128"/>
          </a:xfrm>
        </p:grpSpPr>
        <p:sp>
          <p:nvSpPr>
            <p:cNvPr id="13331" name="Rectangle 17"/>
            <p:cNvSpPr/>
            <p:nvPr/>
          </p:nvSpPr>
          <p:spPr>
            <a:xfrm>
              <a:off x="3593" y="1953"/>
              <a:ext cx="353" cy="27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r>
                <a:rPr lang="en-US" altLang="zh-CN" sz="2000" dirty="0">
                  <a:latin typeface="Arial" panose="020B0604020202020204" pitchFamily="34" charset="0"/>
                </a:rPr>
                <a:t>FA</a:t>
              </a:r>
              <a:endParaRPr lang="en-US" altLang="zh-CN" sz="2000" dirty="0">
                <a:latin typeface="Arial" panose="020B0604020202020204" pitchFamily="34" charset="0"/>
              </a:endParaRPr>
            </a:p>
          </p:txBody>
        </p:sp>
        <p:sp>
          <p:nvSpPr>
            <p:cNvPr id="13332" name="Line 18"/>
            <p:cNvSpPr/>
            <p:nvPr/>
          </p:nvSpPr>
          <p:spPr>
            <a:xfrm>
              <a:off x="3744" y="1672"/>
              <a:ext cx="0" cy="286"/>
            </a:xfrm>
            <a:prstGeom prst="line">
              <a:avLst/>
            </a:prstGeom>
            <a:ln w="19050" cap="flat" cmpd="sng">
              <a:solidFill>
                <a:srgbClr val="000000"/>
              </a:solidFill>
              <a:prstDash val="solid"/>
              <a:round/>
              <a:headEnd type="triangle" w="sm" len="med"/>
              <a:tailEnd type="none" w="med" len="med"/>
            </a:ln>
          </p:spPr>
        </p:sp>
        <p:sp>
          <p:nvSpPr>
            <p:cNvPr id="13333" name="Line 19"/>
            <p:cNvSpPr/>
            <p:nvPr/>
          </p:nvSpPr>
          <p:spPr>
            <a:xfrm>
              <a:off x="3708" y="2218"/>
              <a:ext cx="0" cy="285"/>
            </a:xfrm>
            <a:prstGeom prst="line">
              <a:avLst/>
            </a:prstGeom>
            <a:ln w="19050" cap="flat" cmpd="sng">
              <a:solidFill>
                <a:srgbClr val="000000"/>
              </a:solidFill>
              <a:prstDash val="solid"/>
              <a:round/>
              <a:headEnd type="triangle" w="sm" len="med"/>
              <a:tailEnd type="none" w="med" len="med"/>
            </a:ln>
          </p:spPr>
        </p:sp>
        <p:sp>
          <p:nvSpPr>
            <p:cNvPr id="13334" name="Line 20"/>
            <p:cNvSpPr/>
            <p:nvPr/>
          </p:nvSpPr>
          <p:spPr>
            <a:xfrm>
              <a:off x="3799" y="2218"/>
              <a:ext cx="0" cy="285"/>
            </a:xfrm>
            <a:prstGeom prst="line">
              <a:avLst/>
            </a:prstGeom>
            <a:ln w="19050" cap="flat" cmpd="sng">
              <a:solidFill>
                <a:srgbClr val="000000"/>
              </a:solidFill>
              <a:prstDash val="solid"/>
              <a:round/>
              <a:headEnd type="triangle" w="sm" len="med"/>
              <a:tailEnd type="none" w="med" len="med"/>
            </a:ln>
          </p:spPr>
        </p:sp>
        <p:sp>
          <p:nvSpPr>
            <p:cNvPr id="13335" name="Rectangle 22"/>
            <p:cNvSpPr/>
            <p:nvPr/>
          </p:nvSpPr>
          <p:spPr>
            <a:xfrm>
              <a:off x="4962" y="1957"/>
              <a:ext cx="347" cy="27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r>
                <a:rPr lang="en-US" altLang="zh-CN" sz="2000" dirty="0">
                  <a:latin typeface="Arial" panose="020B0604020202020204" pitchFamily="34" charset="0"/>
                </a:rPr>
                <a:t>FA</a:t>
              </a:r>
              <a:endParaRPr lang="en-US" altLang="zh-CN" sz="2000" dirty="0">
                <a:latin typeface="Arial" panose="020B0604020202020204" pitchFamily="34" charset="0"/>
              </a:endParaRPr>
            </a:p>
          </p:txBody>
        </p:sp>
        <p:sp>
          <p:nvSpPr>
            <p:cNvPr id="13336" name="Line 23"/>
            <p:cNvSpPr/>
            <p:nvPr/>
          </p:nvSpPr>
          <p:spPr>
            <a:xfrm>
              <a:off x="5127" y="1680"/>
              <a:ext cx="0" cy="285"/>
            </a:xfrm>
            <a:prstGeom prst="line">
              <a:avLst/>
            </a:prstGeom>
            <a:ln w="19050" cap="flat" cmpd="sng">
              <a:solidFill>
                <a:srgbClr val="000000"/>
              </a:solidFill>
              <a:prstDash val="solid"/>
              <a:round/>
              <a:headEnd type="triangle" w="sm" len="med"/>
              <a:tailEnd type="none" w="med" len="med"/>
            </a:ln>
          </p:spPr>
        </p:sp>
        <p:sp>
          <p:nvSpPr>
            <p:cNvPr id="13337" name="Freeform 24"/>
            <p:cNvSpPr/>
            <p:nvPr/>
          </p:nvSpPr>
          <p:spPr>
            <a:xfrm>
              <a:off x="5087" y="2232"/>
              <a:ext cx="4" cy="294"/>
            </a:xfrm>
            <a:custGeom>
              <a:avLst/>
              <a:gdLst/>
              <a:ahLst/>
              <a:cxnLst>
                <a:cxn ang="0">
                  <a:pos x="1" y="0"/>
                </a:cxn>
                <a:cxn ang="0">
                  <a:pos x="0" y="1"/>
                </a:cxn>
              </a:cxnLst>
              <a:pathLst>
                <a:path w="6" h="485">
                  <a:moveTo>
                    <a:pt x="6" y="0"/>
                  </a:moveTo>
                  <a:lnTo>
                    <a:pt x="0" y="485"/>
                  </a:lnTo>
                </a:path>
              </a:pathLst>
            </a:custGeom>
            <a:noFill/>
            <a:ln w="19050" cap="flat" cmpd="sng">
              <a:solidFill>
                <a:srgbClr val="000000"/>
              </a:solidFill>
              <a:prstDash val="solid"/>
              <a:round/>
              <a:headEnd type="triangle" w="sm" len="med"/>
              <a:tailEnd type="none" w="med" len="med"/>
            </a:ln>
          </p:spPr>
          <p:txBody>
            <a:bodyPr/>
            <a:p>
              <a:endParaRPr lang="zh-CN" altLang="en-US"/>
            </a:p>
          </p:txBody>
        </p:sp>
        <p:sp>
          <p:nvSpPr>
            <p:cNvPr id="13338" name="Line 25"/>
            <p:cNvSpPr/>
            <p:nvPr/>
          </p:nvSpPr>
          <p:spPr>
            <a:xfrm>
              <a:off x="5169" y="2232"/>
              <a:ext cx="0" cy="286"/>
            </a:xfrm>
            <a:prstGeom prst="line">
              <a:avLst/>
            </a:prstGeom>
            <a:ln w="19050" cap="flat" cmpd="sng">
              <a:solidFill>
                <a:srgbClr val="000000"/>
              </a:solidFill>
              <a:prstDash val="solid"/>
              <a:round/>
              <a:headEnd type="triangle" w="sm" len="med"/>
              <a:tailEnd type="none" w="med" len="med"/>
            </a:ln>
          </p:spPr>
        </p:sp>
        <p:sp>
          <p:nvSpPr>
            <p:cNvPr id="13339" name="Rectangle 28"/>
            <p:cNvSpPr/>
            <p:nvPr/>
          </p:nvSpPr>
          <p:spPr>
            <a:xfrm>
              <a:off x="2970" y="1938"/>
              <a:ext cx="347" cy="27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r>
                <a:rPr lang="en-US" altLang="zh-CN" sz="2000" dirty="0">
                  <a:latin typeface="Arial" panose="020B0604020202020204" pitchFamily="34" charset="0"/>
                </a:rPr>
                <a:t>FA</a:t>
              </a:r>
              <a:endParaRPr lang="en-US" altLang="zh-CN" sz="2000" dirty="0">
                <a:latin typeface="Arial" panose="020B0604020202020204" pitchFamily="34" charset="0"/>
              </a:endParaRPr>
            </a:p>
          </p:txBody>
        </p:sp>
        <p:sp>
          <p:nvSpPr>
            <p:cNvPr id="13340" name="Line 29"/>
            <p:cNvSpPr/>
            <p:nvPr/>
          </p:nvSpPr>
          <p:spPr>
            <a:xfrm>
              <a:off x="3130" y="1665"/>
              <a:ext cx="0" cy="285"/>
            </a:xfrm>
            <a:prstGeom prst="line">
              <a:avLst/>
            </a:prstGeom>
            <a:ln w="19050" cap="flat" cmpd="sng">
              <a:solidFill>
                <a:srgbClr val="000000"/>
              </a:solidFill>
              <a:prstDash val="solid"/>
              <a:round/>
              <a:headEnd type="triangle" w="sm" len="med"/>
              <a:tailEnd type="none" w="med" len="med"/>
            </a:ln>
          </p:spPr>
        </p:sp>
        <p:sp>
          <p:nvSpPr>
            <p:cNvPr id="13341" name="Line 30"/>
            <p:cNvSpPr/>
            <p:nvPr/>
          </p:nvSpPr>
          <p:spPr>
            <a:xfrm>
              <a:off x="3089" y="2210"/>
              <a:ext cx="0" cy="286"/>
            </a:xfrm>
            <a:prstGeom prst="line">
              <a:avLst/>
            </a:prstGeom>
            <a:ln w="19050" cap="flat" cmpd="sng">
              <a:solidFill>
                <a:srgbClr val="000000"/>
              </a:solidFill>
              <a:prstDash val="solid"/>
              <a:round/>
              <a:headEnd type="triangle" w="sm" len="med"/>
              <a:tailEnd type="none" w="med" len="med"/>
            </a:ln>
          </p:spPr>
        </p:sp>
        <p:sp>
          <p:nvSpPr>
            <p:cNvPr id="13342" name="Line 31"/>
            <p:cNvSpPr/>
            <p:nvPr/>
          </p:nvSpPr>
          <p:spPr>
            <a:xfrm>
              <a:off x="3175" y="2210"/>
              <a:ext cx="0" cy="286"/>
            </a:xfrm>
            <a:prstGeom prst="line">
              <a:avLst/>
            </a:prstGeom>
            <a:ln w="19050" cap="flat" cmpd="sng">
              <a:solidFill>
                <a:srgbClr val="000000"/>
              </a:solidFill>
              <a:prstDash val="solid"/>
              <a:round/>
              <a:headEnd type="triangle" w="sm" len="med"/>
              <a:tailEnd type="none" w="med" len="med"/>
            </a:ln>
          </p:spPr>
        </p:sp>
        <p:sp>
          <p:nvSpPr>
            <p:cNvPr id="13343" name="Line 34"/>
            <p:cNvSpPr/>
            <p:nvPr/>
          </p:nvSpPr>
          <p:spPr>
            <a:xfrm>
              <a:off x="4311" y="2096"/>
              <a:ext cx="244" cy="0"/>
            </a:xfrm>
            <a:prstGeom prst="line">
              <a:avLst/>
            </a:prstGeom>
            <a:ln w="19050" cap="flat" cmpd="sng">
              <a:solidFill>
                <a:srgbClr val="000000"/>
              </a:solidFill>
              <a:prstDash val="dash"/>
              <a:round/>
              <a:headEnd type="none" w="med" len="med"/>
              <a:tailEnd type="none" w="med" len="med"/>
            </a:ln>
          </p:spPr>
        </p:sp>
        <p:sp>
          <p:nvSpPr>
            <p:cNvPr id="13344" name="Text Box 35"/>
            <p:cNvSpPr txBox="1"/>
            <p:nvPr/>
          </p:nvSpPr>
          <p:spPr>
            <a:xfrm>
              <a:off x="2777" y="1398"/>
              <a:ext cx="1863" cy="250"/>
            </a:xfrm>
            <a:prstGeom prst="rect">
              <a:avLst/>
            </a:prstGeom>
            <a:noFill/>
            <a:ln w="12700">
              <a:noFill/>
            </a:ln>
          </p:spPr>
          <p:txBody>
            <a:bodyPr anchor="t" anchorCtr="0">
              <a:spAutoFit/>
            </a:bodyPr>
            <a:p>
              <a:pPr eaLnBrk="0" hangingPunct="0">
                <a:spcBef>
                  <a:spcPct val="50000"/>
                </a:spcBef>
              </a:pPr>
              <a:r>
                <a:rPr lang="en-US" altLang="zh-CN" sz="2000" dirty="0">
                  <a:latin typeface="Times New Roman" panose="02020603050405020304" pitchFamily="18" charset="0"/>
                  <a:ea typeface="黑体" panose="02010609060101010101" pitchFamily="49" charset="-122"/>
                </a:rPr>
                <a:t>n</a:t>
              </a:r>
              <a:r>
                <a:rPr lang="zh-CN" altLang="en-US" sz="2000" dirty="0">
                  <a:latin typeface="Times New Roman" panose="02020603050405020304" pitchFamily="18" charset="0"/>
                  <a:ea typeface="黑体" panose="02010609060101010101" pitchFamily="49" charset="-122"/>
                </a:rPr>
                <a:t>位串行</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行波</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加法器：</a:t>
              </a:r>
              <a:endParaRPr lang="en-US" altLang="zh-CN" sz="2000" dirty="0">
                <a:latin typeface="Times New Roman" panose="02020603050405020304" pitchFamily="18" charset="0"/>
                <a:ea typeface="黑体" panose="02010609060101010101" pitchFamily="49" charset="-122"/>
              </a:endParaRPr>
            </a:p>
          </p:txBody>
        </p:sp>
        <p:sp>
          <p:nvSpPr>
            <p:cNvPr id="13345" name="Line 42"/>
            <p:cNvSpPr/>
            <p:nvPr/>
          </p:nvSpPr>
          <p:spPr>
            <a:xfrm flipH="1">
              <a:off x="3942" y="2082"/>
              <a:ext cx="264" cy="0"/>
            </a:xfrm>
            <a:prstGeom prst="line">
              <a:avLst/>
            </a:prstGeom>
            <a:ln w="28575" cap="flat" cmpd="sng">
              <a:solidFill>
                <a:srgbClr val="000000"/>
              </a:solidFill>
              <a:prstDash val="solid"/>
              <a:round/>
              <a:headEnd type="none" w="med" len="med"/>
              <a:tailEnd type="triangle" w="med" len="med"/>
            </a:ln>
          </p:spPr>
        </p:sp>
        <p:sp>
          <p:nvSpPr>
            <p:cNvPr id="13346" name="Line 43"/>
            <p:cNvSpPr/>
            <p:nvPr/>
          </p:nvSpPr>
          <p:spPr>
            <a:xfrm flipH="1">
              <a:off x="3316" y="2068"/>
              <a:ext cx="264" cy="0"/>
            </a:xfrm>
            <a:prstGeom prst="line">
              <a:avLst/>
            </a:prstGeom>
            <a:ln w="28575" cap="flat" cmpd="sng">
              <a:solidFill>
                <a:srgbClr val="000000"/>
              </a:solidFill>
              <a:prstDash val="solid"/>
              <a:round/>
              <a:headEnd type="none" w="med" len="med"/>
              <a:tailEnd type="triangle" w="med" len="med"/>
            </a:ln>
          </p:spPr>
        </p:sp>
        <p:sp>
          <p:nvSpPr>
            <p:cNvPr id="13347" name="Line 44"/>
            <p:cNvSpPr/>
            <p:nvPr/>
          </p:nvSpPr>
          <p:spPr>
            <a:xfrm flipH="1">
              <a:off x="2710" y="2074"/>
              <a:ext cx="264" cy="0"/>
            </a:xfrm>
            <a:prstGeom prst="line">
              <a:avLst/>
            </a:prstGeom>
            <a:ln w="28575" cap="flat" cmpd="sng">
              <a:solidFill>
                <a:srgbClr val="000000"/>
              </a:solidFill>
              <a:prstDash val="solid"/>
              <a:round/>
              <a:headEnd type="none" w="med" len="med"/>
              <a:tailEnd type="triangle" w="med" len="med"/>
            </a:ln>
          </p:spPr>
        </p:sp>
        <p:sp>
          <p:nvSpPr>
            <p:cNvPr id="13348" name="Line 45"/>
            <p:cNvSpPr/>
            <p:nvPr/>
          </p:nvSpPr>
          <p:spPr>
            <a:xfrm flipH="1">
              <a:off x="4678" y="2086"/>
              <a:ext cx="264" cy="0"/>
            </a:xfrm>
            <a:prstGeom prst="line">
              <a:avLst/>
            </a:prstGeom>
            <a:ln w="28575" cap="flat" cmpd="sng">
              <a:solidFill>
                <a:srgbClr val="000000"/>
              </a:solidFill>
              <a:prstDash val="solid"/>
              <a:round/>
              <a:headEnd type="none" w="med" len="med"/>
              <a:tailEnd type="triangle" w="med" len="med"/>
            </a:ln>
          </p:spPr>
        </p:sp>
        <p:sp>
          <p:nvSpPr>
            <p:cNvPr id="13349" name="Line 46"/>
            <p:cNvSpPr/>
            <p:nvPr/>
          </p:nvSpPr>
          <p:spPr>
            <a:xfrm flipH="1">
              <a:off x="5302" y="2080"/>
              <a:ext cx="264" cy="0"/>
            </a:xfrm>
            <a:prstGeom prst="line">
              <a:avLst/>
            </a:prstGeom>
            <a:ln w="28575" cap="flat" cmpd="sng">
              <a:solidFill>
                <a:srgbClr val="000000"/>
              </a:solidFill>
              <a:prstDash val="solid"/>
              <a:round/>
              <a:headEnd type="none" w="med" len="med"/>
              <a:tailEnd type="triangle" w="med" len="med"/>
            </a:ln>
          </p:spPr>
        </p:sp>
        <p:sp>
          <p:nvSpPr>
            <p:cNvPr id="13350" name="Text Box 48"/>
            <p:cNvSpPr txBox="1"/>
            <p:nvPr/>
          </p:nvSpPr>
          <p:spPr>
            <a:xfrm>
              <a:off x="5310" y="2088"/>
              <a:ext cx="354" cy="250"/>
            </a:xfrm>
            <a:prstGeom prst="rect">
              <a:avLst/>
            </a:prstGeom>
            <a:noFill/>
            <a:ln w="12700">
              <a:noFill/>
            </a:ln>
          </p:spPr>
          <p:txBody>
            <a:bodyPr anchor="t" anchorCtr="0">
              <a:spAutoFit/>
            </a:bodyPr>
            <a:p>
              <a:pPr eaLnBrk="0" hangingPunct="0">
                <a:spcBef>
                  <a:spcPct val="50000"/>
                </a:spcBef>
              </a:pPr>
              <a:r>
                <a:rPr lang="en-US" altLang="zh-CN" sz="2000" dirty="0">
                  <a:latin typeface="Arial" panose="020B0604020202020204" pitchFamily="34" charset="0"/>
                </a:rPr>
                <a:t>C0</a:t>
              </a:r>
              <a:endParaRPr lang="en-US" altLang="zh-CN" sz="2000" dirty="0">
                <a:latin typeface="Arial" panose="020B0604020202020204" pitchFamily="34" charset="0"/>
              </a:endParaRPr>
            </a:p>
          </p:txBody>
        </p:sp>
        <p:sp>
          <p:nvSpPr>
            <p:cNvPr id="13351" name="Text Box 49"/>
            <p:cNvSpPr txBox="1"/>
            <p:nvPr/>
          </p:nvSpPr>
          <p:spPr>
            <a:xfrm>
              <a:off x="2584" y="2062"/>
              <a:ext cx="354" cy="250"/>
            </a:xfrm>
            <a:prstGeom prst="rect">
              <a:avLst/>
            </a:prstGeom>
            <a:noFill/>
            <a:ln w="12700">
              <a:noFill/>
            </a:ln>
          </p:spPr>
          <p:txBody>
            <a:bodyPr anchor="t" anchorCtr="0">
              <a:spAutoFit/>
            </a:bodyPr>
            <a:p>
              <a:pPr eaLnBrk="0" hangingPunct="0">
                <a:spcBef>
                  <a:spcPct val="50000"/>
                </a:spcBef>
              </a:pPr>
              <a:r>
                <a:rPr lang="en-US" altLang="zh-CN" sz="2000" dirty="0">
                  <a:latin typeface="Arial" panose="020B0604020202020204" pitchFamily="34" charset="0"/>
                </a:rPr>
                <a:t>Cn</a:t>
              </a:r>
              <a:endParaRPr lang="en-US" altLang="zh-CN" sz="2000" dirty="0">
                <a:latin typeface="Arial" panose="020B0604020202020204" pitchFamily="34"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a:xfrm>
            <a:off x="779463" y="166688"/>
            <a:ext cx="6073775" cy="479425"/>
          </a:xfrm>
          <a:ln/>
        </p:spPr>
        <p:txBody>
          <a:bodyPr vert="horz" wrap="square" lIns="63500" tIns="25400" rIns="63500" bIns="25400" anchor="t" anchorCtr="0">
            <a:spAutoFit/>
          </a:bodyPr>
          <a:p>
            <a:r>
              <a:rPr lang="zh-CN" altLang="en-US" dirty="0">
                <a:ea typeface="宋体" panose="02010600030101010101" pitchFamily="2" charset="-122"/>
              </a:rPr>
              <a:t>串行进位加法器</a:t>
            </a:r>
            <a:endParaRPr lang="zh-CN" altLang="en-US" dirty="0">
              <a:ea typeface="宋体" panose="02010600030101010101" pitchFamily="2" charset="-122"/>
            </a:endParaRPr>
          </a:p>
        </p:txBody>
      </p:sp>
      <p:pic>
        <p:nvPicPr>
          <p:cNvPr id="15362" name="Picture 3" descr="全加器逻辑图"/>
          <p:cNvPicPr>
            <a:picLocks noChangeAspect="1"/>
          </p:cNvPicPr>
          <p:nvPr/>
        </p:nvPicPr>
        <p:blipFill>
          <a:blip r:embed="rId1"/>
          <a:stretch>
            <a:fillRect/>
          </a:stretch>
        </p:blipFill>
        <p:spPr>
          <a:xfrm>
            <a:off x="293688" y="636588"/>
            <a:ext cx="4232275" cy="4133850"/>
          </a:xfrm>
          <a:prstGeom prst="rect">
            <a:avLst/>
          </a:prstGeom>
          <a:noFill/>
          <a:ln w="9525">
            <a:noFill/>
          </a:ln>
        </p:spPr>
      </p:pic>
      <p:grpSp>
        <p:nvGrpSpPr>
          <p:cNvPr id="15363" name="Group 50"/>
          <p:cNvGrpSpPr/>
          <p:nvPr/>
        </p:nvGrpSpPr>
        <p:grpSpPr>
          <a:xfrm>
            <a:off x="84138" y="4895850"/>
            <a:ext cx="4441825" cy="1800225"/>
            <a:chOff x="2584" y="1398"/>
            <a:chExt cx="2798" cy="1134"/>
          </a:xfrm>
        </p:grpSpPr>
        <p:sp>
          <p:nvSpPr>
            <p:cNvPr id="15364" name="Rectangle 17"/>
            <p:cNvSpPr/>
            <p:nvPr/>
          </p:nvSpPr>
          <p:spPr>
            <a:xfrm>
              <a:off x="3593" y="1953"/>
              <a:ext cx="353" cy="27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r>
                <a:rPr lang="en-US" altLang="zh-CN" sz="2000" dirty="0">
                  <a:latin typeface="Arial" panose="020B0604020202020204" pitchFamily="34" charset="0"/>
                </a:rPr>
                <a:t>FA</a:t>
              </a:r>
              <a:endParaRPr lang="en-US" altLang="zh-CN" sz="2000" dirty="0">
                <a:latin typeface="Arial" panose="020B0604020202020204" pitchFamily="34" charset="0"/>
              </a:endParaRPr>
            </a:p>
          </p:txBody>
        </p:sp>
        <p:sp>
          <p:nvSpPr>
            <p:cNvPr id="15365" name="Line 18"/>
            <p:cNvSpPr/>
            <p:nvPr/>
          </p:nvSpPr>
          <p:spPr>
            <a:xfrm>
              <a:off x="3744" y="1672"/>
              <a:ext cx="0" cy="286"/>
            </a:xfrm>
            <a:prstGeom prst="line">
              <a:avLst/>
            </a:prstGeom>
            <a:ln w="19050" cap="flat" cmpd="sng">
              <a:solidFill>
                <a:srgbClr val="000000"/>
              </a:solidFill>
              <a:prstDash val="solid"/>
              <a:round/>
              <a:headEnd type="triangle" w="sm" len="med"/>
              <a:tailEnd type="none" w="med" len="med"/>
            </a:ln>
          </p:spPr>
        </p:sp>
        <p:sp>
          <p:nvSpPr>
            <p:cNvPr id="15366" name="Line 19"/>
            <p:cNvSpPr/>
            <p:nvPr/>
          </p:nvSpPr>
          <p:spPr>
            <a:xfrm>
              <a:off x="3708" y="2218"/>
              <a:ext cx="0" cy="285"/>
            </a:xfrm>
            <a:prstGeom prst="line">
              <a:avLst/>
            </a:prstGeom>
            <a:ln w="19050" cap="flat" cmpd="sng">
              <a:solidFill>
                <a:srgbClr val="000000"/>
              </a:solidFill>
              <a:prstDash val="solid"/>
              <a:round/>
              <a:headEnd type="triangle" w="sm" len="med"/>
              <a:tailEnd type="none" w="med" len="med"/>
            </a:ln>
          </p:spPr>
        </p:sp>
        <p:sp>
          <p:nvSpPr>
            <p:cNvPr id="15367" name="Line 20"/>
            <p:cNvSpPr/>
            <p:nvPr/>
          </p:nvSpPr>
          <p:spPr>
            <a:xfrm>
              <a:off x="3799" y="2218"/>
              <a:ext cx="0" cy="285"/>
            </a:xfrm>
            <a:prstGeom prst="line">
              <a:avLst/>
            </a:prstGeom>
            <a:ln w="19050" cap="flat" cmpd="sng">
              <a:solidFill>
                <a:srgbClr val="000000"/>
              </a:solidFill>
              <a:prstDash val="solid"/>
              <a:round/>
              <a:headEnd type="triangle" w="sm" len="med"/>
              <a:tailEnd type="none" w="med" len="med"/>
            </a:ln>
          </p:spPr>
        </p:sp>
        <p:sp>
          <p:nvSpPr>
            <p:cNvPr id="15368" name="Rectangle 22"/>
            <p:cNvSpPr/>
            <p:nvPr/>
          </p:nvSpPr>
          <p:spPr>
            <a:xfrm>
              <a:off x="4680" y="1963"/>
              <a:ext cx="347" cy="27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r>
                <a:rPr lang="en-US" altLang="zh-CN" sz="2000" dirty="0">
                  <a:latin typeface="Arial" panose="020B0604020202020204" pitchFamily="34" charset="0"/>
                </a:rPr>
                <a:t>FA</a:t>
              </a:r>
              <a:endParaRPr lang="en-US" altLang="zh-CN" sz="2000" dirty="0">
                <a:latin typeface="Arial" panose="020B0604020202020204" pitchFamily="34" charset="0"/>
              </a:endParaRPr>
            </a:p>
          </p:txBody>
        </p:sp>
        <p:sp>
          <p:nvSpPr>
            <p:cNvPr id="15369" name="Line 23"/>
            <p:cNvSpPr/>
            <p:nvPr/>
          </p:nvSpPr>
          <p:spPr>
            <a:xfrm>
              <a:off x="4845" y="1686"/>
              <a:ext cx="0" cy="285"/>
            </a:xfrm>
            <a:prstGeom prst="line">
              <a:avLst/>
            </a:prstGeom>
            <a:ln w="19050" cap="flat" cmpd="sng">
              <a:solidFill>
                <a:srgbClr val="000000"/>
              </a:solidFill>
              <a:prstDash val="solid"/>
              <a:round/>
              <a:headEnd type="triangle" w="sm" len="med"/>
              <a:tailEnd type="none" w="med" len="med"/>
            </a:ln>
          </p:spPr>
        </p:sp>
        <p:sp>
          <p:nvSpPr>
            <p:cNvPr id="15370" name="Freeform 24"/>
            <p:cNvSpPr/>
            <p:nvPr/>
          </p:nvSpPr>
          <p:spPr>
            <a:xfrm>
              <a:off x="4805" y="2238"/>
              <a:ext cx="4" cy="294"/>
            </a:xfrm>
            <a:custGeom>
              <a:avLst/>
              <a:gdLst/>
              <a:ahLst/>
              <a:cxnLst>
                <a:cxn ang="0">
                  <a:pos x="1" y="0"/>
                </a:cxn>
                <a:cxn ang="0">
                  <a:pos x="0" y="1"/>
                </a:cxn>
              </a:cxnLst>
              <a:pathLst>
                <a:path w="6" h="485">
                  <a:moveTo>
                    <a:pt x="6" y="0"/>
                  </a:moveTo>
                  <a:lnTo>
                    <a:pt x="0" y="485"/>
                  </a:lnTo>
                </a:path>
              </a:pathLst>
            </a:custGeom>
            <a:noFill/>
            <a:ln w="19050" cap="flat" cmpd="sng">
              <a:solidFill>
                <a:srgbClr val="000000"/>
              </a:solidFill>
              <a:prstDash val="solid"/>
              <a:round/>
              <a:headEnd type="triangle" w="sm" len="med"/>
              <a:tailEnd type="none" w="med" len="med"/>
            </a:ln>
          </p:spPr>
          <p:txBody>
            <a:bodyPr/>
            <a:p>
              <a:endParaRPr lang="zh-CN" altLang="en-US"/>
            </a:p>
          </p:txBody>
        </p:sp>
        <p:sp>
          <p:nvSpPr>
            <p:cNvPr id="15371" name="Line 25"/>
            <p:cNvSpPr/>
            <p:nvPr/>
          </p:nvSpPr>
          <p:spPr>
            <a:xfrm>
              <a:off x="4887" y="2238"/>
              <a:ext cx="0" cy="286"/>
            </a:xfrm>
            <a:prstGeom prst="line">
              <a:avLst/>
            </a:prstGeom>
            <a:ln w="19050" cap="flat" cmpd="sng">
              <a:solidFill>
                <a:srgbClr val="000000"/>
              </a:solidFill>
              <a:prstDash val="solid"/>
              <a:round/>
              <a:headEnd type="triangle" w="sm" len="med"/>
              <a:tailEnd type="none" w="med" len="med"/>
            </a:ln>
          </p:spPr>
        </p:sp>
        <p:sp>
          <p:nvSpPr>
            <p:cNvPr id="15372" name="Rectangle 28"/>
            <p:cNvSpPr/>
            <p:nvPr/>
          </p:nvSpPr>
          <p:spPr>
            <a:xfrm>
              <a:off x="2970" y="1938"/>
              <a:ext cx="347" cy="27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r>
                <a:rPr lang="en-US" altLang="zh-CN" sz="2000" dirty="0">
                  <a:latin typeface="Arial" panose="020B0604020202020204" pitchFamily="34" charset="0"/>
                </a:rPr>
                <a:t>FA</a:t>
              </a:r>
              <a:endParaRPr lang="en-US" altLang="zh-CN" sz="2000" dirty="0">
                <a:latin typeface="Arial" panose="020B0604020202020204" pitchFamily="34" charset="0"/>
              </a:endParaRPr>
            </a:p>
          </p:txBody>
        </p:sp>
        <p:sp>
          <p:nvSpPr>
            <p:cNvPr id="15373" name="Line 29"/>
            <p:cNvSpPr/>
            <p:nvPr/>
          </p:nvSpPr>
          <p:spPr>
            <a:xfrm>
              <a:off x="3130" y="1665"/>
              <a:ext cx="0" cy="285"/>
            </a:xfrm>
            <a:prstGeom prst="line">
              <a:avLst/>
            </a:prstGeom>
            <a:ln w="19050" cap="flat" cmpd="sng">
              <a:solidFill>
                <a:srgbClr val="000000"/>
              </a:solidFill>
              <a:prstDash val="solid"/>
              <a:round/>
              <a:headEnd type="triangle" w="sm" len="med"/>
              <a:tailEnd type="none" w="med" len="med"/>
            </a:ln>
          </p:spPr>
        </p:sp>
        <p:sp>
          <p:nvSpPr>
            <p:cNvPr id="15374" name="Line 30"/>
            <p:cNvSpPr/>
            <p:nvPr/>
          </p:nvSpPr>
          <p:spPr>
            <a:xfrm>
              <a:off x="3089" y="2210"/>
              <a:ext cx="0" cy="286"/>
            </a:xfrm>
            <a:prstGeom prst="line">
              <a:avLst/>
            </a:prstGeom>
            <a:ln w="19050" cap="flat" cmpd="sng">
              <a:solidFill>
                <a:srgbClr val="000000"/>
              </a:solidFill>
              <a:prstDash val="solid"/>
              <a:round/>
              <a:headEnd type="triangle" w="sm" len="med"/>
              <a:tailEnd type="none" w="med" len="med"/>
            </a:ln>
          </p:spPr>
        </p:sp>
        <p:sp>
          <p:nvSpPr>
            <p:cNvPr id="15375" name="Line 31"/>
            <p:cNvSpPr/>
            <p:nvPr/>
          </p:nvSpPr>
          <p:spPr>
            <a:xfrm>
              <a:off x="3175" y="2210"/>
              <a:ext cx="0" cy="286"/>
            </a:xfrm>
            <a:prstGeom prst="line">
              <a:avLst/>
            </a:prstGeom>
            <a:ln w="19050" cap="flat" cmpd="sng">
              <a:solidFill>
                <a:srgbClr val="000000"/>
              </a:solidFill>
              <a:prstDash val="solid"/>
              <a:round/>
              <a:headEnd type="triangle" w="sm" len="med"/>
              <a:tailEnd type="none" w="med" len="med"/>
            </a:ln>
          </p:spPr>
        </p:sp>
        <p:sp>
          <p:nvSpPr>
            <p:cNvPr id="15376" name="Text Box 35"/>
            <p:cNvSpPr txBox="1"/>
            <p:nvPr/>
          </p:nvSpPr>
          <p:spPr>
            <a:xfrm>
              <a:off x="2777" y="1398"/>
              <a:ext cx="1863" cy="250"/>
            </a:xfrm>
            <a:prstGeom prst="rect">
              <a:avLst/>
            </a:prstGeom>
            <a:noFill/>
            <a:ln w="12700">
              <a:noFill/>
            </a:ln>
          </p:spPr>
          <p:txBody>
            <a:bodyPr anchor="t" anchorCtr="0">
              <a:spAutoFit/>
            </a:bodyPr>
            <a:p>
              <a:pPr eaLnBrk="0" hangingPunct="0">
                <a:spcBef>
                  <a:spcPct val="50000"/>
                </a:spcBef>
              </a:pPr>
              <a:r>
                <a:rPr lang="en-US" altLang="zh-CN" sz="2000" dirty="0">
                  <a:latin typeface="Times New Roman" panose="02020603050405020304" pitchFamily="18" charset="0"/>
                  <a:ea typeface="黑体" panose="02010609060101010101" pitchFamily="49" charset="-122"/>
                </a:rPr>
                <a:t>n</a:t>
              </a:r>
              <a:r>
                <a:rPr lang="zh-CN" altLang="en-US" sz="2000" dirty="0">
                  <a:latin typeface="Times New Roman" panose="02020603050405020304" pitchFamily="18" charset="0"/>
                  <a:ea typeface="黑体" panose="02010609060101010101" pitchFamily="49" charset="-122"/>
                </a:rPr>
                <a:t>位串行</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行波</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加法器：</a:t>
              </a:r>
              <a:endParaRPr lang="en-US" altLang="zh-CN" sz="2000" dirty="0">
                <a:latin typeface="Times New Roman" panose="02020603050405020304" pitchFamily="18" charset="0"/>
                <a:ea typeface="黑体" panose="02010609060101010101" pitchFamily="49" charset="-122"/>
              </a:endParaRPr>
            </a:p>
          </p:txBody>
        </p:sp>
        <p:sp>
          <p:nvSpPr>
            <p:cNvPr id="15377" name="Line 42"/>
            <p:cNvSpPr/>
            <p:nvPr/>
          </p:nvSpPr>
          <p:spPr>
            <a:xfrm flipH="1">
              <a:off x="3942" y="2082"/>
              <a:ext cx="264" cy="0"/>
            </a:xfrm>
            <a:prstGeom prst="line">
              <a:avLst/>
            </a:prstGeom>
            <a:ln w="28575" cap="flat" cmpd="sng">
              <a:solidFill>
                <a:srgbClr val="000000"/>
              </a:solidFill>
              <a:prstDash val="solid"/>
              <a:round/>
              <a:headEnd type="none" w="med" len="med"/>
              <a:tailEnd type="triangle" w="med" len="med"/>
            </a:ln>
          </p:spPr>
        </p:sp>
        <p:sp>
          <p:nvSpPr>
            <p:cNvPr id="15378" name="Line 43"/>
            <p:cNvSpPr/>
            <p:nvPr/>
          </p:nvSpPr>
          <p:spPr>
            <a:xfrm flipH="1">
              <a:off x="3316" y="2068"/>
              <a:ext cx="264" cy="0"/>
            </a:xfrm>
            <a:prstGeom prst="line">
              <a:avLst/>
            </a:prstGeom>
            <a:ln w="28575" cap="flat" cmpd="sng">
              <a:solidFill>
                <a:srgbClr val="000000"/>
              </a:solidFill>
              <a:prstDash val="solid"/>
              <a:round/>
              <a:headEnd type="none" w="med" len="med"/>
              <a:tailEnd type="triangle" w="med" len="med"/>
            </a:ln>
          </p:spPr>
        </p:sp>
        <p:sp>
          <p:nvSpPr>
            <p:cNvPr id="15379" name="Line 44"/>
            <p:cNvSpPr/>
            <p:nvPr/>
          </p:nvSpPr>
          <p:spPr>
            <a:xfrm flipH="1">
              <a:off x="2710" y="2074"/>
              <a:ext cx="264" cy="0"/>
            </a:xfrm>
            <a:prstGeom prst="line">
              <a:avLst/>
            </a:prstGeom>
            <a:ln w="28575" cap="flat" cmpd="sng">
              <a:solidFill>
                <a:srgbClr val="000000"/>
              </a:solidFill>
              <a:prstDash val="solid"/>
              <a:round/>
              <a:headEnd type="none" w="med" len="med"/>
              <a:tailEnd type="triangle" w="med" len="med"/>
            </a:ln>
          </p:spPr>
        </p:sp>
        <p:sp>
          <p:nvSpPr>
            <p:cNvPr id="15380" name="Line 45"/>
            <p:cNvSpPr/>
            <p:nvPr/>
          </p:nvSpPr>
          <p:spPr>
            <a:xfrm flipH="1">
              <a:off x="4396" y="2092"/>
              <a:ext cx="264" cy="0"/>
            </a:xfrm>
            <a:prstGeom prst="line">
              <a:avLst/>
            </a:prstGeom>
            <a:ln w="28575" cap="flat" cmpd="sng">
              <a:solidFill>
                <a:srgbClr val="000000"/>
              </a:solidFill>
              <a:prstDash val="solid"/>
              <a:round/>
              <a:headEnd type="none" w="med" len="med"/>
              <a:tailEnd type="triangle" w="med" len="med"/>
            </a:ln>
          </p:spPr>
        </p:sp>
        <p:sp>
          <p:nvSpPr>
            <p:cNvPr id="15381" name="Line 46"/>
            <p:cNvSpPr/>
            <p:nvPr/>
          </p:nvSpPr>
          <p:spPr>
            <a:xfrm flipH="1">
              <a:off x="5020" y="2086"/>
              <a:ext cx="264" cy="0"/>
            </a:xfrm>
            <a:prstGeom prst="line">
              <a:avLst/>
            </a:prstGeom>
            <a:ln w="28575" cap="flat" cmpd="sng">
              <a:solidFill>
                <a:srgbClr val="000000"/>
              </a:solidFill>
              <a:prstDash val="solid"/>
              <a:round/>
              <a:headEnd type="none" w="med" len="med"/>
              <a:tailEnd type="triangle" w="med" len="med"/>
            </a:ln>
          </p:spPr>
        </p:sp>
        <p:sp>
          <p:nvSpPr>
            <p:cNvPr id="15382" name="Text Box 48"/>
            <p:cNvSpPr txBox="1"/>
            <p:nvPr/>
          </p:nvSpPr>
          <p:spPr>
            <a:xfrm>
              <a:off x="5028" y="2094"/>
              <a:ext cx="354" cy="250"/>
            </a:xfrm>
            <a:prstGeom prst="rect">
              <a:avLst/>
            </a:prstGeom>
            <a:noFill/>
            <a:ln w="12700">
              <a:noFill/>
            </a:ln>
          </p:spPr>
          <p:txBody>
            <a:bodyPr anchor="t" anchorCtr="0">
              <a:spAutoFit/>
            </a:bodyPr>
            <a:p>
              <a:pPr eaLnBrk="0" hangingPunct="0">
                <a:spcBef>
                  <a:spcPct val="50000"/>
                </a:spcBef>
              </a:pPr>
              <a:r>
                <a:rPr lang="en-US" altLang="zh-CN" sz="2000" dirty="0">
                  <a:latin typeface="Arial" panose="020B0604020202020204" pitchFamily="34" charset="0"/>
                </a:rPr>
                <a:t>C0</a:t>
              </a:r>
              <a:endParaRPr lang="en-US" altLang="zh-CN" sz="2000" dirty="0">
                <a:latin typeface="Arial" panose="020B0604020202020204" pitchFamily="34" charset="0"/>
              </a:endParaRPr>
            </a:p>
          </p:txBody>
        </p:sp>
        <p:sp>
          <p:nvSpPr>
            <p:cNvPr id="15383" name="Text Box 49"/>
            <p:cNvSpPr txBox="1"/>
            <p:nvPr/>
          </p:nvSpPr>
          <p:spPr>
            <a:xfrm>
              <a:off x="2584" y="2062"/>
              <a:ext cx="354" cy="250"/>
            </a:xfrm>
            <a:prstGeom prst="rect">
              <a:avLst/>
            </a:prstGeom>
            <a:noFill/>
            <a:ln w="12700">
              <a:noFill/>
            </a:ln>
          </p:spPr>
          <p:txBody>
            <a:bodyPr anchor="t" anchorCtr="0">
              <a:spAutoFit/>
            </a:bodyPr>
            <a:p>
              <a:pPr eaLnBrk="0" hangingPunct="0">
                <a:spcBef>
                  <a:spcPct val="50000"/>
                </a:spcBef>
              </a:pPr>
              <a:r>
                <a:rPr lang="en-US" altLang="zh-CN" sz="2000" dirty="0">
                  <a:latin typeface="Arial" panose="020B0604020202020204" pitchFamily="34" charset="0"/>
                </a:rPr>
                <a:t>Cn</a:t>
              </a:r>
              <a:endParaRPr lang="en-US" altLang="zh-CN" sz="2000" dirty="0">
                <a:latin typeface="Arial" panose="020B0604020202020204" pitchFamily="34" charset="0"/>
              </a:endParaRPr>
            </a:p>
          </p:txBody>
        </p:sp>
      </p:grpSp>
      <p:sp>
        <p:nvSpPr>
          <p:cNvPr id="15384" name="文本框 1"/>
          <p:cNvSpPr txBox="1"/>
          <p:nvPr/>
        </p:nvSpPr>
        <p:spPr>
          <a:xfrm>
            <a:off x="4649788" y="801688"/>
            <a:ext cx="4425950" cy="5848350"/>
          </a:xfrm>
          <a:prstGeom prst="rect">
            <a:avLst/>
          </a:prstGeom>
          <a:noFill/>
          <a:ln w="9525" cap="flat" cmpd="sng">
            <a:solidFill>
              <a:srgbClr val="000000"/>
            </a:solidFill>
            <a:prstDash val="solid"/>
            <a:miter/>
            <a:headEnd type="none" w="med" len="med"/>
            <a:tailEnd type="none" w="med" len="med"/>
          </a:ln>
        </p:spPr>
        <p:txBody>
          <a:bodyPr anchor="t" anchorCtr="0">
            <a:spAutoFit/>
          </a:bodyPr>
          <a:p>
            <a:pPr eaLnBrk="0" hangingPunct="0"/>
            <a:r>
              <a:rPr lang="en-US" altLang="zh-CN" sz="1700" dirty="0">
                <a:latin typeface="Times New Roman" panose="02020603050405020304" pitchFamily="18" charset="0"/>
              </a:rPr>
              <a:t>module </a:t>
            </a:r>
            <a:r>
              <a:rPr lang="en-US" altLang="zh-CN" dirty="0">
                <a:solidFill>
                  <a:srgbClr val="FF0000"/>
                </a:solidFill>
                <a:latin typeface="Times New Roman" panose="02020603050405020304" pitchFamily="18" charset="0"/>
              </a:rPr>
              <a:t>FA</a:t>
            </a:r>
            <a:r>
              <a:rPr lang="en-US" altLang="zh-CN" sz="1700" dirty="0">
                <a:latin typeface="Times New Roman" panose="02020603050405020304" pitchFamily="18" charset="0"/>
              </a:rPr>
              <a:t> (</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input x, y, cin,</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output f, cout</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assign f = x ^ y ^ cin;</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assign cout = (x &amp; y) | (x &amp; cin) | (y &amp; cin);</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endmodule</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module </a:t>
            </a:r>
            <a:r>
              <a:rPr lang="en-US" altLang="zh-CN" sz="1700" dirty="0">
                <a:solidFill>
                  <a:srgbClr val="FF0000"/>
                </a:solidFill>
                <a:latin typeface="Times New Roman" panose="02020603050405020304" pitchFamily="18" charset="0"/>
              </a:rPr>
              <a:t>CRA</a:t>
            </a:r>
            <a:r>
              <a:rPr lang="en-US" altLang="zh-CN" sz="1700" dirty="0">
                <a:latin typeface="Times New Roman" panose="02020603050405020304" pitchFamily="18" charset="0"/>
              </a:rPr>
              <a:t> (</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input [3:0] x, y,</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input cin,</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output [3:0] f,</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output cout</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wire [4:0] c;</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assign c[0] = cin;</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solidFill>
                  <a:srgbClr val="FF0000"/>
                </a:solidFill>
                <a:latin typeface="Times New Roman" panose="02020603050405020304" pitchFamily="18" charset="0"/>
              </a:rPr>
              <a:t>     FA </a:t>
            </a:r>
            <a:r>
              <a:rPr lang="en-US" altLang="zh-CN" sz="1700" dirty="0">
                <a:latin typeface="Times New Roman" panose="02020603050405020304" pitchFamily="18" charset="0"/>
              </a:rPr>
              <a:t>fa0(x[0], y[0], c[0], f[0], c[1]);</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a:t>
            </a:r>
            <a:r>
              <a:rPr lang="en-US" altLang="zh-CN" sz="1700" dirty="0">
                <a:solidFill>
                  <a:srgbClr val="FF0000"/>
                </a:solidFill>
                <a:latin typeface="Times New Roman" panose="02020603050405020304" pitchFamily="18" charset="0"/>
              </a:rPr>
              <a:t>FA</a:t>
            </a:r>
            <a:r>
              <a:rPr lang="en-US" altLang="zh-CN" sz="1700" dirty="0">
                <a:latin typeface="Times New Roman" panose="02020603050405020304" pitchFamily="18" charset="0"/>
              </a:rPr>
              <a:t> fa1(x[1], y[1], c[1], f[1], c[2]);</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a:t>
            </a:r>
            <a:r>
              <a:rPr lang="en-US" altLang="zh-CN" sz="1700" dirty="0">
                <a:solidFill>
                  <a:srgbClr val="FF0000"/>
                </a:solidFill>
                <a:latin typeface="Times New Roman" panose="02020603050405020304" pitchFamily="18" charset="0"/>
              </a:rPr>
              <a:t>FA</a:t>
            </a:r>
            <a:r>
              <a:rPr lang="en-US" altLang="zh-CN" sz="1700" dirty="0">
                <a:latin typeface="Times New Roman" panose="02020603050405020304" pitchFamily="18" charset="0"/>
              </a:rPr>
              <a:t> fa2(x[2], y[2], c[2], f[2], c[3]);</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a:t>
            </a:r>
            <a:r>
              <a:rPr lang="en-US" altLang="zh-CN" sz="1700" dirty="0">
                <a:solidFill>
                  <a:srgbClr val="FF0000"/>
                </a:solidFill>
                <a:latin typeface="Times New Roman" panose="02020603050405020304" pitchFamily="18" charset="0"/>
              </a:rPr>
              <a:t>FA</a:t>
            </a:r>
            <a:r>
              <a:rPr lang="en-US" altLang="zh-CN" sz="1700" dirty="0">
                <a:latin typeface="Times New Roman" panose="02020603050405020304" pitchFamily="18" charset="0"/>
              </a:rPr>
              <a:t> fa3(x[3], y[3], c[3], f[3], c[4]);</a:t>
            </a:r>
            <a:endParaRPr lang="zh-CN" altLang="zh-CN" sz="1700" dirty="0">
              <a:latin typeface="Times New Roman" panose="02020603050405020304" pitchFamily="18" charset="0"/>
              <a:ea typeface="宋体" panose="02010600030101010101" pitchFamily="2" charset="-122"/>
            </a:endParaRPr>
          </a:p>
          <a:p>
            <a:pPr eaLnBrk="0" hangingPunct="0"/>
            <a:r>
              <a:rPr lang="en-US" altLang="zh-CN" sz="1700" dirty="0">
                <a:latin typeface="Times New Roman" panose="02020603050405020304" pitchFamily="18" charset="0"/>
              </a:rPr>
              <a:t>     assign cout = c[4];</a:t>
            </a:r>
            <a:endParaRPr lang="en-US" altLang="zh-CN" sz="1700" dirty="0">
              <a:latin typeface="Times New Roman" panose="02020603050405020304" pitchFamily="18" charset="0"/>
            </a:endParaRPr>
          </a:p>
          <a:p>
            <a:pPr eaLnBrk="0" hangingPunct="0"/>
            <a:r>
              <a:rPr lang="en-US" altLang="zh-CN" sz="1700" dirty="0">
                <a:latin typeface="Times New Roman" panose="02020603050405020304" pitchFamily="18" charset="0"/>
              </a:rPr>
              <a:t>endmodule</a:t>
            </a:r>
            <a:endParaRPr lang="zh-CN" altLang="en-US" sz="1700" dirty="0">
              <a:latin typeface="Times New Roman" panose="02020603050405020304" pitchFamily="18" charset="0"/>
              <a:ea typeface="宋体" panose="02010600030101010101" pitchFamily="2" charset="-122"/>
            </a:endParaRPr>
          </a:p>
        </p:txBody>
      </p:sp>
      <p:sp>
        <p:nvSpPr>
          <p:cNvPr id="42" name="Rectangle 3"/>
          <p:cNvSpPr txBox="1">
            <a:spLocks noChangeArrowheads="1"/>
          </p:cNvSpPr>
          <p:nvPr/>
        </p:nvSpPr>
        <p:spPr>
          <a:xfrm>
            <a:off x="4525963" y="252413"/>
            <a:ext cx="4451350" cy="423863"/>
          </a:xfrm>
          <a:prstGeom prst="rect">
            <a:avLst/>
          </a:prstGeom>
          <a:noFill/>
        </p:spPr>
        <p:txBody>
          <a:bodyPr/>
          <a:lstStyle>
            <a:lvl1pPr marL="203200" indent="-203200" algn="l" rtl="0" eaLnBrk="0" fontAlgn="base" hangingPunct="0">
              <a:lnSpc>
                <a:spcPct val="110000"/>
              </a:lnSpc>
              <a:spcBef>
                <a:spcPct val="2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0" fontAlgn="base" hangingPunct="0">
              <a:lnSpc>
                <a:spcPct val="110000"/>
              </a:lnSpc>
              <a:spcBef>
                <a:spcPct val="20000"/>
              </a:spcBef>
              <a:spcAft>
                <a:spcPct val="0"/>
              </a:spcAft>
              <a:buSzPct val="100000"/>
              <a:buChar char="•"/>
              <a:defRPr sz="2000" b="1">
                <a:solidFill>
                  <a:srgbClr val="0000FF"/>
                </a:solidFill>
                <a:latin typeface="+mn-lt"/>
                <a:ea typeface="+mn-ea"/>
              </a:defRPr>
            </a:lvl2pPr>
            <a:lvl3pPr marL="1257300" indent="-342900" algn="l" rtl="0" eaLnBrk="0" fontAlgn="base" hangingPunct="0">
              <a:lnSpc>
                <a:spcPct val="110000"/>
              </a:lnSpc>
              <a:spcBef>
                <a:spcPct val="20000"/>
              </a:spcBef>
              <a:spcAft>
                <a:spcPct val="0"/>
              </a:spcAft>
              <a:buSzPct val="100000"/>
              <a:buChar char="-"/>
              <a:defRPr b="1">
                <a:solidFill>
                  <a:schemeClr val="tx1"/>
                </a:solidFill>
                <a:latin typeface="+mn-lt"/>
                <a:ea typeface="+mn-ea"/>
              </a:defRPr>
            </a:lvl3pPr>
            <a:lvl4pPr marL="1714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a:lstStyle>
          <a:p>
            <a:pPr marL="203200" marR="0" lvl="0" indent="-203200" algn="l" defTabSz="914400" rtl="0" eaLnBrk="0" fontAlgn="base" latinLnBrk="0" hangingPunct="0">
              <a:lnSpc>
                <a:spcPct val="110000"/>
              </a:lnSpc>
              <a:spcBef>
                <a:spcPct val="20000"/>
              </a:spcBef>
              <a:spcAft>
                <a:spcPct val="0"/>
              </a:spcAft>
              <a:buClr>
                <a:schemeClr val="tx1"/>
              </a:buClr>
              <a:buSzPct val="6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4</a:t>
            </a:r>
            <a:r>
              <a:rPr kumimoji="0" lang="zh-CN" altLang="en-US" sz="2200" b="1" i="0" u="none" strike="noStrike" kern="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位串行进位加法器</a:t>
            </a:r>
            <a:r>
              <a:rPr kumimoji="0" lang="en-US" altLang="zh-CN" sz="2200" b="1" i="0" u="none" strike="noStrike" kern="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CRA</a:t>
            </a:r>
            <a:r>
              <a:rPr kumimoji="0" lang="zh-CN" altLang="en-US" sz="2200" b="1" i="0" u="none" strike="noStrike" kern="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的实现</a:t>
            </a:r>
            <a:endParaRPr kumimoji="0" lang="en-US" altLang="zh-CN" sz="2200" b="1" i="0" u="none" strike="noStrike" kern="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a:xfrm>
            <a:off x="395288" y="161925"/>
            <a:ext cx="7616825" cy="481013"/>
          </a:xfrm>
          <a:ln/>
        </p:spPr>
        <p:txBody>
          <a:bodyPr vert="horz" wrap="square" lIns="63500" tIns="25400" rIns="63500" bIns="25400" anchor="ctr" anchorCtr="0">
            <a:spAutoFit/>
          </a:bodyPr>
          <a:p>
            <a:r>
              <a:rPr lang="zh-CN" altLang="en-US" dirty="0">
                <a:ea typeface="宋体" panose="02010600030101010101" pitchFamily="2" charset="-122"/>
              </a:rPr>
              <a:t>并行进位加法器（</a:t>
            </a:r>
            <a:r>
              <a:rPr lang="en-US" altLang="zh-CN" dirty="0">
                <a:ea typeface="宋体" panose="02010600030101010101" pitchFamily="2" charset="-122"/>
              </a:rPr>
              <a:t>CLA</a:t>
            </a:r>
            <a:r>
              <a:rPr lang="zh-CN" altLang="en-US" dirty="0">
                <a:ea typeface="宋体" panose="02010600030101010101" pitchFamily="2" charset="-122"/>
              </a:rPr>
              <a:t>加法器）</a:t>
            </a:r>
            <a:endParaRPr lang="en-US" altLang="zh-CN" dirty="0">
              <a:ea typeface="宋体" panose="02010600030101010101" pitchFamily="2" charset="-122"/>
            </a:endParaRPr>
          </a:p>
        </p:txBody>
      </p:sp>
      <p:sp>
        <p:nvSpPr>
          <p:cNvPr id="404483" name="Rectangle 3"/>
          <p:cNvSpPr>
            <a:spLocks noGrp="1" noChangeArrowheads="1"/>
          </p:cNvSpPr>
          <p:nvPr>
            <p:ph idx="1"/>
          </p:nvPr>
        </p:nvSpPr>
        <p:spPr>
          <a:xfrm>
            <a:off x="241300" y="714375"/>
            <a:ext cx="8553450" cy="5561013"/>
          </a:xfrm>
        </p:spPr>
        <p:txBody>
          <a:bodyPr vert="horz" wrap="square" lIns="63500" tIns="25400" rIns="63500" bIns="25400" numCol="1" anchor="t" anchorCtr="0" compatLnSpc="1">
            <a:spAutoFit/>
          </a:bodyPr>
          <a:lstStyle/>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Char char="u"/>
              <a:defRPr/>
            </a:pPr>
            <a:r>
              <a:rPr kumimoji="0" lang="zh-CN" altLang="en-US" sz="2000" b="1" i="0" u="none" strike="noStrike" kern="0" cap="none" spc="0" normalizeH="0" baseline="0" noProof="0" dirty="0">
                <a:ln>
                  <a:noFill/>
                </a:ln>
                <a:solidFill>
                  <a:srgbClr val="0033CC"/>
                </a:solidFill>
                <a:effectLst/>
                <a:uLnTx/>
                <a:uFillTx/>
                <a:latin typeface="+mn-lt"/>
                <a:ea typeface="黑体" panose="02010609060101010101" pitchFamily="49" charset="-122"/>
                <a:cs typeface="+mn-cs"/>
              </a:rPr>
              <a:t>为什么用先行进位方式？</a:t>
            </a:r>
            <a:endParaRPr kumimoji="0" lang="zh-CN" altLang="en-US" sz="2000" b="1" i="0" u="none" strike="noStrike" kern="0" cap="none" spc="0" normalizeH="0" baseline="0" noProof="0" dirty="0">
              <a:ln>
                <a:noFill/>
              </a:ln>
              <a:solidFill>
                <a:srgbClr val="0033CC"/>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串行进位加法器采用</a:t>
            </a:r>
            <a:r>
              <a:rPr kumimoji="0" lang="zh-CN" altLang="en-US" sz="2000" b="1" i="0" u="none" strike="noStrike" kern="0" cap="none" spc="0" normalizeH="0" baseline="0" noProof="0" dirty="0">
                <a:ln>
                  <a:noFill/>
                </a:ln>
                <a:solidFill>
                  <a:schemeClr val="accent2"/>
                </a:solidFill>
                <a:effectLst/>
                <a:uLnTx/>
                <a:uFillTx/>
                <a:latin typeface="+mn-lt"/>
                <a:ea typeface="黑体" panose="02010609060101010101" pitchFamily="49" charset="-122"/>
                <a:cs typeface="+mn-cs"/>
              </a:rPr>
              <a:t>串行逐级传递进位</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，电路延迟与位数成正比关系</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因此，现代计算机采用一种</a:t>
            </a:r>
            <a:r>
              <a:rPr kumimoji="0" lang="zh-CN" altLang="en-US" sz="2000" b="1" i="0" u="none" strike="noStrike" kern="0" cap="none" spc="0" normalizeH="0" baseline="0" noProof="0" dirty="0">
                <a:ln>
                  <a:noFill/>
                </a:ln>
                <a:solidFill>
                  <a:schemeClr val="accent2"/>
                </a:solidFill>
                <a:effectLst/>
                <a:uLnTx/>
                <a:uFillTx/>
                <a:latin typeface="+mn-lt"/>
                <a:ea typeface="黑体" panose="02010609060101010101" pitchFamily="49" charset="-122"/>
                <a:cs typeface="+mn-cs"/>
              </a:rPr>
              <a:t>先行进位(</a:t>
            </a:r>
            <a:r>
              <a:rPr kumimoji="0" lang="en-US" altLang="zh-CN" sz="2000" b="1" i="0" u="none" strike="noStrike" kern="0" cap="none" spc="0" normalizeH="0" baseline="0" noProof="0" dirty="0">
                <a:ln>
                  <a:noFill/>
                </a:ln>
                <a:solidFill>
                  <a:schemeClr val="accent2"/>
                </a:solidFill>
                <a:effectLst/>
                <a:uLnTx/>
                <a:uFillTx/>
                <a:latin typeface="+mn-lt"/>
                <a:ea typeface="黑体" panose="02010609060101010101" pitchFamily="49" charset="-122"/>
                <a:cs typeface="+mn-cs"/>
              </a:rPr>
              <a:t>Carry look ahead)</a:t>
            </a:r>
            <a:r>
              <a:rPr kumimoji="0" lang="zh-CN" altLang="en-US" sz="2000" b="1" i="0" u="none" strike="noStrike" kern="0" cap="none" spc="0" normalizeH="0" baseline="0" noProof="0" dirty="0">
                <a:ln>
                  <a:noFill/>
                </a:ln>
                <a:solidFill>
                  <a:schemeClr val="accent2"/>
                </a:solidFill>
                <a:effectLst/>
                <a:uLnTx/>
                <a:uFillTx/>
                <a:latin typeface="+mn-lt"/>
                <a:ea typeface="黑体" panose="02010609060101010101" pitchFamily="49" charset="-122"/>
                <a:cs typeface="+mn-cs"/>
              </a:rPr>
              <a:t>方式</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Char char="u"/>
              <a:defRPr/>
            </a:pPr>
            <a:r>
              <a:rPr kumimoji="0" lang="zh-CN" altLang="en-US" sz="2000" b="1" i="0" u="none" strike="noStrike" kern="0" cap="none" spc="0" normalizeH="0" baseline="0" noProof="0" dirty="0">
                <a:ln>
                  <a:noFill/>
                </a:ln>
                <a:solidFill>
                  <a:srgbClr val="0033CC"/>
                </a:solidFill>
                <a:effectLst/>
                <a:uLnTx/>
                <a:uFillTx/>
                <a:latin typeface="+mn-lt"/>
                <a:ea typeface="黑体" panose="02010609060101010101" pitchFamily="49" charset="-122"/>
                <a:cs typeface="+mn-cs"/>
              </a:rPr>
              <a:t>如何产生先行进位？</a:t>
            </a:r>
            <a:endParaRPr kumimoji="0" lang="zh-CN" altLang="en-US" sz="2000" b="1" i="0" u="none" strike="noStrike" kern="0" cap="none" spc="0" normalizeH="0" baseline="0" noProof="0" dirty="0">
              <a:ln>
                <a:noFill/>
              </a:ln>
              <a:solidFill>
                <a:srgbClr val="0033CC"/>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zh-CN"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定义辅助函数：</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G</a:t>
            </a:r>
            <a:r>
              <a:rPr kumimoji="0" lang="en-US" altLang="zh-CN" sz="2000" b="1" i="0" u="none" strike="noStrike" kern="0" cap="none" spc="0" normalizeH="0" baseline="-1000" noProof="0" dirty="0" err="1">
                <a:ln>
                  <a:noFill/>
                </a:ln>
                <a:solidFill>
                  <a:schemeClr val="tx1"/>
                </a:solidFill>
                <a:effectLst/>
                <a:uLnTx/>
                <a:uFillTx/>
                <a:latin typeface="+mn-lt"/>
                <a:ea typeface="黑体" panose="02010609060101010101" pitchFamily="49" charset="-122"/>
                <a:cs typeface="+mn-cs"/>
              </a:rPr>
              <a:t>i</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A</a:t>
            </a:r>
            <a:r>
              <a:rPr kumimoji="0" lang="en-US" altLang="zh-CN" sz="2000" b="1" i="0" u="none" strike="noStrike" kern="0" cap="none" spc="0" normalizeH="0" baseline="-2000" noProof="0" dirty="0" err="1">
                <a:ln>
                  <a:noFill/>
                </a:ln>
                <a:solidFill>
                  <a:schemeClr val="tx1"/>
                </a:solidFill>
                <a:effectLst/>
                <a:uLnTx/>
                <a:uFillTx/>
                <a:latin typeface="+mn-lt"/>
                <a:ea typeface="黑体" panose="02010609060101010101" pitchFamily="49" charset="-122"/>
                <a:cs typeface="+mn-cs"/>
              </a:rPr>
              <a:t>i</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B</a:t>
            </a:r>
            <a:r>
              <a:rPr kumimoji="0" lang="en-US" altLang="zh-CN" sz="2000" b="1" i="0" u="none" strike="noStrike" kern="0" cap="none" spc="0" normalizeH="0" baseline="-1000" noProof="0" dirty="0" err="1">
                <a:ln>
                  <a:noFill/>
                </a:ln>
                <a:solidFill>
                  <a:schemeClr val="tx1"/>
                </a:solidFill>
                <a:effectLst/>
                <a:uLnTx/>
                <a:uFillTx/>
                <a:latin typeface="+mn-lt"/>
                <a:ea typeface="黑体" panose="02010609060101010101" pitchFamily="49" charset="-122"/>
                <a:cs typeface="+mn-cs"/>
              </a:rPr>
              <a:t>i</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进位生成函数</a:t>
            </a:r>
            <a:endPar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P</a:t>
            </a:r>
            <a:r>
              <a:rPr kumimoji="0" lang="en-US" altLang="zh-CN"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i</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A</a:t>
            </a:r>
            <a:r>
              <a:rPr kumimoji="0" lang="en-US" altLang="zh-CN" sz="2000" b="1" i="0" u="none" strike="noStrike" kern="0" cap="none" spc="0" normalizeH="0" baseline="-2000" noProof="0" dirty="0" err="1">
                <a:ln>
                  <a:noFill/>
                </a:ln>
                <a:solidFill>
                  <a:schemeClr val="tx1"/>
                </a:solidFill>
                <a:effectLst/>
                <a:uLnTx/>
                <a:uFillTx/>
                <a:latin typeface="+mn-lt"/>
                <a:ea typeface="黑体" panose="02010609060101010101" pitchFamily="49" charset="-122"/>
                <a:cs typeface="+mn-cs"/>
              </a:rPr>
              <a:t>i</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+B</a:t>
            </a:r>
            <a:r>
              <a:rPr kumimoji="0" lang="en-US" altLang="zh-CN" sz="2000" b="1" i="0" u="none" strike="noStrike" kern="0" cap="none" spc="0" normalizeH="0" baseline="-2000" noProof="0" dirty="0" err="1">
                <a:ln>
                  <a:noFill/>
                </a:ln>
                <a:solidFill>
                  <a:schemeClr val="tx1"/>
                </a:solidFill>
                <a:effectLst/>
                <a:uLnTx/>
                <a:uFillTx/>
                <a:latin typeface="+mn-lt"/>
                <a:ea typeface="黑体" panose="02010609060101010101" pitchFamily="49" charset="-122"/>
                <a:cs typeface="+mn-cs"/>
              </a:rPr>
              <a:t>i</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进位传递函数</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sym typeface="+mn-ea"/>
              </a:rPr>
              <a:t>（或 </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sym typeface="+mn-ea"/>
              </a:rPr>
              <a:t>P</a:t>
            </a:r>
            <a:r>
              <a:rPr kumimoji="0" lang="en-US" altLang="zh-CN"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sym typeface="+mn-ea"/>
              </a:rPr>
              <a:t>i</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sym typeface="+mn-ea"/>
              </a:rPr>
              <a:t>=</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sym typeface="+mn-ea"/>
              </a:rPr>
              <a:t>A</a:t>
            </a:r>
            <a:r>
              <a:rPr kumimoji="0" lang="en-US" altLang="zh-CN" sz="2000" b="1" i="0" u="none" strike="noStrike" kern="0" cap="none" spc="0" normalizeH="0" baseline="-2000" noProof="0" dirty="0" err="1">
                <a:ln>
                  <a:noFill/>
                </a:ln>
                <a:solidFill>
                  <a:schemeClr val="tx1"/>
                </a:solidFill>
                <a:effectLst/>
                <a:uLnTx/>
                <a:uFillTx/>
                <a:latin typeface="+mn-lt"/>
                <a:ea typeface="黑体" panose="02010609060101010101" pitchFamily="49" charset="-122"/>
                <a:cs typeface="+mn-cs"/>
                <a:sym typeface="+mn-ea"/>
              </a:rPr>
              <a:t>i</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sym typeface="+mn-ea"/>
              </a:rPr>
              <a:t>⊕B</a:t>
            </a:r>
            <a:r>
              <a:rPr kumimoji="0" lang="en-US" altLang="zh-CN" sz="2000" b="1" i="0" u="none" strike="noStrike" kern="0" cap="none" spc="0" normalizeH="0" baseline="-2000" noProof="0" dirty="0" err="1">
                <a:ln>
                  <a:noFill/>
                </a:ln>
                <a:solidFill>
                  <a:schemeClr val="tx1"/>
                </a:solidFill>
                <a:effectLst/>
                <a:uLnTx/>
                <a:uFillTx/>
                <a:latin typeface="+mn-lt"/>
                <a:ea typeface="黑体" panose="02010609060101010101" pitchFamily="49" charset="-122"/>
                <a:cs typeface="+mn-cs"/>
                <a:sym typeface="+mn-ea"/>
              </a:rPr>
              <a:t>i</a:t>
            </a:r>
            <a:r>
              <a:rPr kumimoji="0" lang="en-US" altLang="zh-CN" sz="2000" b="1" i="0" u="none" strike="noStrike" kern="0" cap="none" spc="0" normalizeH="0" baseline="-2000" noProof="0" dirty="0">
                <a:ln>
                  <a:noFill/>
                </a:ln>
                <a:solidFill>
                  <a:schemeClr val="tx1"/>
                </a:solidFill>
                <a:effectLst/>
                <a:uLnTx/>
                <a:uFillTx/>
                <a:latin typeface="+mn-lt"/>
                <a:ea typeface="黑体" panose="02010609060101010101" pitchFamily="49" charset="-122"/>
                <a:cs typeface="+mn-cs"/>
                <a:sym typeface="+mn-ea"/>
              </a:rPr>
              <a:t> </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sym typeface="+mn-ea"/>
              </a:rPr>
              <a:t>）</a:t>
            </a:r>
            <a:endParaRPr kumimoji="0" lang="zh-CN" altLang="en-US" sz="2000" b="1" i="0" u="none" strike="noStrike" kern="0" cap="none" spc="0" normalizeH="0" baseline="-200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2000" noProof="0" dirty="0">
                <a:ln>
                  <a:noFill/>
                </a:ln>
                <a:solidFill>
                  <a:schemeClr val="tx1"/>
                </a:solidFill>
                <a:effectLst/>
                <a:uLnTx/>
                <a:uFillTx/>
                <a:latin typeface="+mn-lt"/>
                <a:ea typeface="黑体" panose="02010609060101010101" pitchFamily="49" charset="-122"/>
                <a:cs typeface="+mn-cs"/>
              </a:rPr>
              <a:t>    </a:t>
            </a:r>
            <a:r>
              <a:rPr kumimoji="0" lang="en-US"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a:t>
            </a:r>
            <a:r>
              <a:rPr kumimoji="0" lang="zh-CN" altLang="en-US" sz="2000" b="1" i="0" u="none" strike="noStrike" kern="0" cap="none" spc="0" normalizeH="0" baseline="0" noProof="0" dirty="0">
                <a:ln>
                  <a:noFill/>
                </a:ln>
                <a:solidFill>
                  <a:srgbClr val="0033CC"/>
                </a:solidFill>
                <a:effectLst/>
                <a:uLnTx/>
                <a:uFillTx/>
                <a:latin typeface="+mn-lt"/>
                <a:ea typeface="黑体" panose="02010609060101010101" pitchFamily="49" charset="-122"/>
                <a:cs typeface="+mn-cs"/>
              </a:rPr>
              <a:t>通常把实现上述逻辑的电路称为</a:t>
            </a:r>
            <a:r>
              <a:rPr kumimoji="0" lang="zh-CN"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rPr>
              <a:t>进位生成/传递部件</a:t>
            </a:r>
            <a:endParaRPr kumimoji="0" lang="en-US"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2000" noProof="0" dirty="0">
                <a:ln>
                  <a:noFill/>
                </a:ln>
                <a:solidFill>
                  <a:schemeClr val="tx1"/>
                </a:solidFill>
                <a:effectLst/>
                <a:uLnTx/>
                <a:uFillTx/>
                <a:latin typeface="+mn-lt"/>
                <a:ea typeface="黑体" panose="02010609060101010101" pitchFamily="49"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全加逻辑方程：</a:t>
            </a:r>
            <a:r>
              <a:rPr kumimoji="0" lang="en-US"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S</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i</a:t>
            </a:r>
            <a:r>
              <a:rPr kumimoji="0" lang="en-US"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sym typeface="+mn-ea"/>
              </a:rPr>
              <a:t>A</a:t>
            </a:r>
            <a:r>
              <a:rPr kumimoji="0" lang="en-US" altLang="zh-CN" sz="2000" b="1" i="0" u="none" strike="noStrike" kern="0" cap="none" spc="0" normalizeH="0" baseline="-2000" noProof="0" dirty="0" err="1">
                <a:ln>
                  <a:noFill/>
                </a:ln>
                <a:solidFill>
                  <a:schemeClr val="tx1"/>
                </a:solidFill>
                <a:effectLst/>
                <a:uLnTx/>
                <a:uFillTx/>
                <a:latin typeface="+mn-lt"/>
                <a:ea typeface="黑体" panose="02010609060101010101" pitchFamily="49" charset="-122"/>
                <a:cs typeface="+mn-cs"/>
                <a:sym typeface="+mn-ea"/>
              </a:rPr>
              <a:t>i</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sym typeface="+mn-ea"/>
              </a:rPr>
              <a:t>⊕</a:t>
            </a:r>
            <a:r>
              <a:rPr kumimoji="0" lang="en-US" altLang="zh-CN" sz="2000" b="1" i="0" u="none" strike="noStrike" kern="0" cap="none" spc="0" normalizeH="0" baseline="0" noProof="0" dirty="0" err="1" smtClean="0">
                <a:ln>
                  <a:noFill/>
                </a:ln>
                <a:solidFill>
                  <a:schemeClr val="tx1"/>
                </a:solidFill>
                <a:effectLst/>
                <a:uLnTx/>
                <a:uFillTx/>
                <a:latin typeface="+mn-lt"/>
                <a:ea typeface="黑体" panose="02010609060101010101" pitchFamily="49" charset="-122"/>
                <a:cs typeface="+mn-cs"/>
                <a:sym typeface="+mn-ea"/>
              </a:rPr>
              <a:t>B</a:t>
            </a:r>
            <a:r>
              <a:rPr kumimoji="0" lang="en-US" altLang="zh-CN" sz="2000" b="1" i="0" u="none" strike="noStrike" kern="0" cap="none" spc="0" normalizeH="0" baseline="-2000" noProof="0" dirty="0" err="1" smtClean="0">
                <a:ln>
                  <a:noFill/>
                </a:ln>
                <a:solidFill>
                  <a:schemeClr val="tx1"/>
                </a:solidFill>
                <a:effectLst/>
                <a:uLnTx/>
                <a:uFillTx/>
                <a:latin typeface="+mn-lt"/>
                <a:ea typeface="黑体" panose="02010609060101010101" pitchFamily="49" charset="-122"/>
                <a:cs typeface="+mn-cs"/>
                <a:sym typeface="+mn-ea"/>
              </a:rPr>
              <a:t>i</a:t>
            </a:r>
            <a:r>
              <a:rPr kumimoji="0" lang="en-US" altLang="zh-CN" sz="2000" b="1" i="0" u="none" strike="noStrike" kern="0" cap="none" spc="0" normalizeH="0" baseline="0" noProof="0" dirty="0" err="1" smtClean="0">
                <a:ln>
                  <a:noFill/>
                </a:ln>
                <a:solidFill>
                  <a:schemeClr val="tx1"/>
                </a:solidFill>
                <a:effectLst/>
                <a:uLnTx/>
                <a:uFillTx/>
                <a:latin typeface="+mn-lt"/>
                <a:ea typeface="黑体" panose="02010609060101010101" pitchFamily="49" charset="-122"/>
                <a:cs typeface="+mn-cs"/>
                <a:sym typeface="+mn-ea"/>
              </a:rPr>
              <a:t>⊕</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sym typeface="+mn-ea"/>
              </a:rPr>
              <a:t>C</a:t>
            </a:r>
            <a:r>
              <a:rPr kumimoji="0" lang="en-US" altLang="en-US" sz="2000" b="1" i="0" u="none" strike="noStrike" kern="0" cap="none" spc="0" normalizeH="0" baseline="-1000" noProof="0" dirty="0" err="1">
                <a:ln>
                  <a:noFill/>
                </a:ln>
                <a:solidFill>
                  <a:schemeClr val="tx1"/>
                </a:solidFill>
                <a:effectLst/>
                <a:uLnTx/>
                <a:uFillTx/>
                <a:latin typeface="+mn-lt"/>
                <a:ea typeface="黑体" panose="02010609060101010101" pitchFamily="49" charset="-122"/>
                <a:cs typeface="+mn-cs"/>
                <a:sym typeface="+mn-ea"/>
              </a:rPr>
              <a:t>i</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i+1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err="1">
                <a:ln>
                  <a:noFill/>
                </a:ln>
                <a:solidFill>
                  <a:schemeClr val="tx1"/>
                </a:solidFill>
                <a:effectLst/>
                <a:uLnTx/>
                <a:uFillTx/>
                <a:latin typeface="+mn-lt"/>
                <a:ea typeface="黑体" panose="02010609060101010101" pitchFamily="49" charset="-122"/>
                <a:cs typeface="+mn-cs"/>
              </a:rPr>
              <a:t>i</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err="1">
                <a:ln>
                  <a:noFill/>
                </a:ln>
                <a:solidFill>
                  <a:schemeClr val="tx1"/>
                </a:solidFill>
                <a:effectLst/>
                <a:uLnTx/>
                <a:uFillTx/>
                <a:latin typeface="+mn-lt"/>
                <a:ea typeface="黑体" panose="02010609060101010101" pitchFamily="49" charset="-122"/>
                <a:cs typeface="+mn-cs"/>
              </a:rPr>
              <a:t>i</a:t>
            </a:r>
            <a:r>
              <a:rPr kumimoji="0" lang="en-US" altLang="zh-CN"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err="1">
                <a:ln>
                  <a:noFill/>
                </a:ln>
                <a:solidFill>
                  <a:schemeClr val="tx1"/>
                </a:solidFill>
                <a:effectLst/>
                <a:uLnTx/>
                <a:uFillTx/>
                <a:latin typeface="+mn-lt"/>
                <a:ea typeface="黑体" panose="02010609060101010101" pitchFamily="49" charset="-122"/>
                <a:cs typeface="+mn-cs"/>
              </a:rPr>
              <a:t>i</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 </a:t>
            </a:r>
            <a:r>
              <a:rPr kumimoji="0" lang="en-US"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a:t>
            </a:r>
            <a:r>
              <a:rPr kumimoji="0" lang="en-US" altLang="en-US" sz="20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i</a:t>
            </a:r>
            <a:r>
              <a:rPr kumimoji="0" lang="en-US"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=0,1,…n)</a:t>
            </a:r>
            <a:endParaRPr kumimoji="0" lang="zh-CN"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设</a:t>
            </a:r>
            <a:r>
              <a:rPr kumimoji="0" lang="en-US"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n=4,</a:t>
            </a:r>
            <a:r>
              <a:rPr kumimoji="0" lang="zh-CN" altLang="en-US"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则：</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 </a:t>
            </a:r>
            <a:endPar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endPar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a:t>
            </a:r>
            <a:endPar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4</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endPar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   由上式可知:各进位之间无等待，相互独立并同时产生。</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4000"/>
              </a:lnSpc>
              <a:spcBef>
                <a:spcPct val="15000"/>
              </a:spcBef>
              <a:spcAft>
                <a:spcPct val="0"/>
              </a:spcAft>
              <a:buClr>
                <a:schemeClr val="tx1"/>
              </a:buClr>
              <a:buSzPct val="60000"/>
              <a:buFont typeface="Wingdings" panose="05000000000000000000" pitchFamily="2" charset="2"/>
              <a:buNone/>
              <a:defRPr/>
            </a:pPr>
            <a:r>
              <a:rPr kumimoji="0" lang="zh-CN" altLang="en-US" sz="2000" b="1" i="0" u="none" strike="noStrike" kern="0" cap="none" spc="0" normalizeH="0" baseline="0" noProof="0" dirty="0">
                <a:ln>
                  <a:noFill/>
                </a:ln>
                <a:solidFill>
                  <a:srgbClr val="0033CC"/>
                </a:solidFill>
                <a:effectLst/>
                <a:uLnTx/>
                <a:uFillTx/>
                <a:latin typeface="+mn-lt"/>
                <a:ea typeface="黑体" panose="02010609060101010101" pitchFamily="49" charset="-122"/>
                <a:cs typeface="+mn-cs"/>
              </a:rPr>
              <a:t>        通常把实现上述逻辑的电路称为</a:t>
            </a:r>
            <a:r>
              <a:rPr kumimoji="0" lang="zh-CN"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rPr>
              <a:t>4位</a:t>
            </a:r>
            <a:r>
              <a:rPr kumimoji="0" lang="zh-CN" altLang="en-US" sz="2000" b="1" i="0" u="none" strike="noStrike" kern="0" cap="none" spc="0" normalizeH="0" baseline="0" noProof="0" dirty="0" smtClean="0">
                <a:ln>
                  <a:noFill/>
                </a:ln>
                <a:solidFill>
                  <a:srgbClr val="CC0000"/>
                </a:solidFill>
                <a:effectLst/>
                <a:uLnTx/>
                <a:uFillTx/>
                <a:latin typeface="+mn-lt"/>
                <a:ea typeface="黑体" panose="02010609060101010101" pitchFamily="49" charset="-122"/>
                <a:cs typeface="+mn-cs"/>
                <a:sym typeface="+mn-ea"/>
              </a:rPr>
              <a:t>先行进位部件（4</a:t>
            </a:r>
            <a:r>
              <a:rPr kumimoji="0" lang="zh-CN"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sym typeface="+mn-ea"/>
              </a:rPr>
              <a:t>位</a:t>
            </a:r>
            <a:r>
              <a:rPr kumimoji="0" lang="en-US" altLang="zh-CN" sz="2000" b="1" i="0" u="none" strike="noStrike" kern="0" cap="none" spc="0" normalizeH="0" baseline="0" noProof="0" dirty="0" smtClean="0">
                <a:ln>
                  <a:noFill/>
                </a:ln>
                <a:solidFill>
                  <a:srgbClr val="CC0000"/>
                </a:solidFill>
                <a:effectLst/>
                <a:uLnTx/>
                <a:uFillTx/>
                <a:latin typeface="+mn-lt"/>
                <a:ea typeface="黑体" panose="02010609060101010101" pitchFamily="49" charset="-122"/>
                <a:cs typeface="+mn-cs"/>
                <a:sym typeface="+mn-ea"/>
              </a:rPr>
              <a:t>CLU</a:t>
            </a:r>
            <a:r>
              <a:rPr kumimoji="0" lang="zh-CN"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sym typeface="+mn-ea"/>
              </a:rPr>
              <a:t>）</a:t>
            </a:r>
            <a:endParaRPr kumimoji="0" lang="zh-CN"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xfrm>
            <a:off x="257175" y="138113"/>
            <a:ext cx="2362200" cy="908050"/>
          </a:xfrm>
          <a:ln/>
        </p:spPr>
        <p:txBody>
          <a:bodyPr vert="horz" wrap="square" lIns="63500" tIns="25400" rIns="63500" bIns="25400" anchor="ctr" anchorCtr="0">
            <a:spAutoFit/>
          </a:bodyPr>
          <a:p>
            <a:r>
              <a:rPr lang="en-US" altLang="zh-CN" dirty="0">
                <a:ea typeface="宋体" panose="02010600030101010101" pitchFamily="2" charset="-122"/>
              </a:rPr>
              <a:t>CLA</a:t>
            </a:r>
            <a:r>
              <a:rPr lang="zh-CN" altLang="en-US" dirty="0">
                <a:ea typeface="宋体" panose="02010600030101010101" pitchFamily="2" charset="-122"/>
              </a:rPr>
              <a:t>加法器</a:t>
            </a:r>
            <a:endParaRPr lang="en-US" altLang="zh-CN" dirty="0">
              <a:ea typeface="宋体" panose="02010600030101010101" pitchFamily="2" charset="-122"/>
            </a:endParaRPr>
          </a:p>
        </p:txBody>
      </p:sp>
      <p:pic>
        <p:nvPicPr>
          <p:cNvPr id="19458" name="图片 1"/>
          <p:cNvPicPr>
            <a:picLocks noChangeAspect="1"/>
          </p:cNvPicPr>
          <p:nvPr/>
        </p:nvPicPr>
        <p:blipFill>
          <a:blip r:embed="rId1"/>
          <a:stretch>
            <a:fillRect/>
          </a:stretch>
        </p:blipFill>
        <p:spPr>
          <a:xfrm>
            <a:off x="2536825" y="138113"/>
            <a:ext cx="6534150" cy="3443287"/>
          </a:xfrm>
          <a:prstGeom prst="rect">
            <a:avLst/>
          </a:prstGeom>
          <a:noFill/>
          <a:ln w="9525">
            <a:noFill/>
          </a:ln>
        </p:spPr>
      </p:pic>
      <p:pic>
        <p:nvPicPr>
          <p:cNvPr id="19459" name="图片 4"/>
          <p:cNvPicPr>
            <a:picLocks noChangeAspect="1"/>
          </p:cNvPicPr>
          <p:nvPr/>
        </p:nvPicPr>
        <p:blipFill>
          <a:blip r:embed="rId2"/>
          <a:stretch>
            <a:fillRect/>
          </a:stretch>
        </p:blipFill>
        <p:spPr>
          <a:xfrm>
            <a:off x="20638" y="4414838"/>
            <a:ext cx="6575425" cy="2327275"/>
          </a:xfrm>
          <a:prstGeom prst="rect">
            <a:avLst/>
          </a:prstGeom>
          <a:noFill/>
          <a:ln w="9525">
            <a:noFill/>
          </a:ln>
        </p:spPr>
      </p:pic>
      <p:sp>
        <p:nvSpPr>
          <p:cNvPr id="19460" name="矩形 6"/>
          <p:cNvSpPr/>
          <p:nvPr/>
        </p:nvSpPr>
        <p:spPr>
          <a:xfrm>
            <a:off x="6573838" y="5238750"/>
            <a:ext cx="2711450" cy="968375"/>
          </a:xfrm>
          <a:prstGeom prst="rect">
            <a:avLst/>
          </a:prstGeom>
          <a:noFill/>
          <a:ln w="9525">
            <a:noFill/>
          </a:ln>
        </p:spPr>
        <p:txBody>
          <a:bodyPr anchor="t" anchorCtr="0">
            <a:spAutoFit/>
          </a:bodyPr>
          <a:p>
            <a:pPr>
              <a:lnSpc>
                <a:spcPct val="114000"/>
              </a:lnSpc>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G</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=X</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Y</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                              P</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=X</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+Y</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zh-CN" altLang="en-US" dirty="0">
                <a:solidFill>
                  <a:schemeClr val="accent2"/>
                </a:solidFill>
                <a:latin typeface="微软雅黑" panose="020B0503020204020204" pitchFamily="34" charset="-122"/>
                <a:ea typeface="微软雅黑" panose="020B0503020204020204" pitchFamily="34" charset="-122"/>
              </a:rPr>
              <a:t>（或 </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=X</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⊕Y</a:t>
            </a:r>
            <a:r>
              <a:rPr lang="en-US" altLang="zh-CN" baseline="-2000" dirty="0">
                <a:solidFill>
                  <a:schemeClr val="accent2"/>
                </a:solidFill>
                <a:latin typeface="微软雅黑" panose="020B0503020204020204" pitchFamily="34" charset="-122"/>
                <a:ea typeface="微软雅黑" panose="020B0503020204020204" pitchFamily="34" charset="-122"/>
              </a:rPr>
              <a:t>i </a:t>
            </a:r>
            <a:r>
              <a:rPr lang="zh-CN" altLang="en-US" dirty="0">
                <a:solidFill>
                  <a:schemeClr val="accent2"/>
                </a:solidFill>
                <a:latin typeface="微软雅黑" panose="020B0503020204020204" pitchFamily="34" charset="-122"/>
                <a:ea typeface="微软雅黑" panose="020B0503020204020204" pitchFamily="34" charset="-122"/>
              </a:rPr>
              <a:t>）</a:t>
            </a:r>
            <a:endParaRPr lang="en-US" altLang="zh-CN" dirty="0">
              <a:solidFill>
                <a:schemeClr val="accent2"/>
              </a:solidFill>
              <a:latin typeface="微软雅黑" panose="020B0503020204020204" pitchFamily="34" charset="-122"/>
              <a:ea typeface="微软雅黑" panose="020B0503020204020204" pitchFamily="34" charset="-122"/>
            </a:endParaRPr>
          </a:p>
          <a:p>
            <a:pPr>
              <a:lnSpc>
                <a:spcPct val="114000"/>
              </a:lnSpc>
              <a:spcBef>
                <a:spcPct val="15000"/>
              </a:spcBef>
            </a:pPr>
            <a:r>
              <a:rPr lang="en-US" altLang="zh-CN" dirty="0">
                <a:solidFill>
                  <a:schemeClr val="accent2"/>
                </a:solidFill>
                <a:latin typeface="微软雅黑" panose="020B0503020204020204" pitchFamily="34" charset="-122"/>
                <a:ea typeface="微软雅黑" panose="020B0503020204020204" pitchFamily="34" charset="-122"/>
              </a:rPr>
              <a:t>F</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=X</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⊕Y</a:t>
            </a:r>
            <a:r>
              <a:rPr lang="en-US" altLang="zh-CN" baseline="-2000" dirty="0">
                <a:solidFill>
                  <a:schemeClr val="accent2"/>
                </a:solidFill>
                <a:latin typeface="微软雅黑" panose="020B0503020204020204" pitchFamily="34" charset="-122"/>
                <a:ea typeface="微软雅黑" panose="020B0503020204020204" pitchFamily="34" charset="-122"/>
              </a:rPr>
              <a:t>i </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zh-CN" baseline="-2000" dirty="0">
                <a:solidFill>
                  <a:schemeClr val="accent2"/>
                </a:solidFill>
                <a:latin typeface="微软雅黑" panose="020B0503020204020204" pitchFamily="34" charset="-122"/>
                <a:ea typeface="微软雅黑" panose="020B0503020204020204" pitchFamily="34" charset="-122"/>
              </a:rPr>
              <a:t>i-1 </a:t>
            </a:r>
            <a:endParaRPr lang="zh-CN" altLang="en-US" baseline="-2000" dirty="0">
              <a:solidFill>
                <a:schemeClr val="accent2"/>
              </a:solidFill>
              <a:latin typeface="微软雅黑" panose="020B0503020204020204" pitchFamily="34" charset="-122"/>
              <a:ea typeface="微软雅黑" panose="020B0503020204020204" pitchFamily="34" charset="-122"/>
            </a:endParaRPr>
          </a:p>
        </p:txBody>
      </p:sp>
      <p:sp>
        <p:nvSpPr>
          <p:cNvPr id="19461" name="矩形 7"/>
          <p:cNvSpPr/>
          <p:nvPr/>
        </p:nvSpPr>
        <p:spPr>
          <a:xfrm>
            <a:off x="84138" y="3160713"/>
            <a:ext cx="6062662" cy="1187450"/>
          </a:xfrm>
          <a:prstGeom prst="rect">
            <a:avLst/>
          </a:prstGeom>
          <a:noFill/>
          <a:ln w="9525">
            <a:noFill/>
          </a:ln>
        </p:spPr>
        <p:txBody>
          <a:bodyPr anchor="t" anchorCtr="0">
            <a:spAutoFit/>
          </a:bodyPr>
          <a:p>
            <a:pPr eaLnBrk="0" hangingPunct="0">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0 </a:t>
            </a:r>
            <a:endParaRPr lang="en-US" altLang="zh-CN" dirty="0">
              <a:solidFill>
                <a:schemeClr val="accent2"/>
              </a:solidFill>
              <a:latin typeface="微软雅黑" panose="020B0503020204020204" pitchFamily="34" charset="-122"/>
              <a:ea typeface="微软雅黑" panose="020B0503020204020204" pitchFamily="34" charset="-122"/>
            </a:endParaRPr>
          </a:p>
          <a:p>
            <a:pPr eaLnBrk="0" hangingPunct="0">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0</a:t>
            </a:r>
            <a:endParaRPr lang="en-US" altLang="en-US" baseline="-1000" dirty="0">
              <a:solidFill>
                <a:schemeClr val="accent2"/>
              </a:solidFill>
              <a:latin typeface="微软雅黑" panose="020B0503020204020204" pitchFamily="34" charset="-122"/>
              <a:ea typeface="微软雅黑" panose="020B0503020204020204" pitchFamily="34" charset="-122"/>
            </a:endParaRPr>
          </a:p>
          <a:p>
            <a:pPr eaLnBrk="0" hangingPunct="0">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 </a:t>
            </a:r>
            <a:endParaRPr lang="en-US" altLang="zh-CN" dirty="0">
              <a:solidFill>
                <a:schemeClr val="accent2"/>
              </a:solidFill>
              <a:latin typeface="微软雅黑" panose="020B0503020204020204" pitchFamily="34" charset="-122"/>
              <a:ea typeface="微软雅黑" panose="020B0503020204020204" pitchFamily="34" charset="-122"/>
            </a:endParaRPr>
          </a:p>
          <a:p>
            <a:pPr eaLnBrk="0" hangingPunct="0">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4</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0</a:t>
            </a:r>
            <a:endParaRPr lang="en-US" altLang="en-US" baseline="-1000" dirty="0">
              <a:solidFill>
                <a:schemeClr val="accent2"/>
              </a:solidFill>
              <a:latin typeface="微软雅黑" panose="020B0503020204020204" pitchFamily="34" charset="-122"/>
              <a:ea typeface="微软雅黑" panose="020B0503020204020204" pitchFamily="34" charset="-122"/>
            </a:endParaRPr>
          </a:p>
        </p:txBody>
      </p:sp>
      <p:sp>
        <p:nvSpPr>
          <p:cNvPr id="19462" name="矩形 8"/>
          <p:cNvSpPr/>
          <p:nvPr/>
        </p:nvSpPr>
        <p:spPr>
          <a:xfrm>
            <a:off x="6596063" y="3581400"/>
            <a:ext cx="1095375" cy="441325"/>
          </a:xfrm>
          <a:prstGeom prst="rect">
            <a:avLst/>
          </a:prstGeom>
          <a:noFill/>
          <a:ln w="9525">
            <a:noFill/>
          </a:ln>
        </p:spPr>
        <p:txBody>
          <a:bodyPr wrap="none" anchor="t" anchorCtr="0">
            <a:spAutoFit/>
          </a:bodyPr>
          <a:p>
            <a:pPr eaLnBrk="0" hangingPunct="0">
              <a:lnSpc>
                <a:spcPct val="114000"/>
              </a:lnSpc>
              <a:spcBef>
                <a:spcPct val="15000"/>
              </a:spcBef>
              <a:buFont typeface="Wingdings" panose="05000000000000000000" pitchFamily="2" charset="2"/>
            </a:pPr>
            <a:r>
              <a:rPr lang="zh-CN" altLang="en-US" sz="2000" dirty="0">
                <a:solidFill>
                  <a:srgbClr val="CC0000"/>
                </a:solidFill>
                <a:latin typeface="微软雅黑" panose="020B0503020204020204" pitchFamily="34" charset="-122"/>
                <a:ea typeface="微软雅黑" panose="020B0503020204020204" pitchFamily="34" charset="-122"/>
              </a:rPr>
              <a:t>4位</a:t>
            </a:r>
            <a:r>
              <a:rPr lang="en-US" altLang="zh-CN" sz="2000" dirty="0">
                <a:solidFill>
                  <a:srgbClr val="CC0000"/>
                </a:solidFill>
                <a:latin typeface="微软雅黑" panose="020B0503020204020204" pitchFamily="34" charset="-122"/>
                <a:ea typeface="微软雅黑" panose="020B0503020204020204" pitchFamily="34" charset="-122"/>
              </a:rPr>
              <a:t>CLU</a:t>
            </a:r>
            <a:endParaRPr lang="zh-CN" altLang="en-US" sz="2000" dirty="0">
              <a:solidFill>
                <a:srgbClr val="CC0000"/>
              </a:solidFill>
              <a:latin typeface="微软雅黑" panose="020B0503020204020204" pitchFamily="34" charset="-122"/>
              <a:ea typeface="微软雅黑" panose="020B0503020204020204" pitchFamily="34" charset="-122"/>
            </a:endParaRPr>
          </a:p>
        </p:txBody>
      </p:sp>
      <p:sp>
        <p:nvSpPr>
          <p:cNvPr id="19463" name="矩形 11"/>
          <p:cNvSpPr/>
          <p:nvPr/>
        </p:nvSpPr>
        <p:spPr>
          <a:xfrm>
            <a:off x="5940425" y="6299200"/>
            <a:ext cx="3132138" cy="441325"/>
          </a:xfrm>
          <a:prstGeom prst="rect">
            <a:avLst/>
          </a:prstGeom>
          <a:noFill/>
          <a:ln w="9525">
            <a:noFill/>
          </a:ln>
        </p:spPr>
        <p:txBody>
          <a:bodyPr wrap="none" anchor="t" anchorCtr="0">
            <a:spAutoFit/>
          </a:bodyPr>
          <a:p>
            <a:pPr eaLnBrk="0" hangingPunct="0">
              <a:lnSpc>
                <a:spcPct val="114000"/>
              </a:lnSpc>
              <a:spcBef>
                <a:spcPct val="15000"/>
              </a:spcBef>
              <a:buFont typeface="Wingdings" panose="05000000000000000000" pitchFamily="2" charset="2"/>
            </a:pPr>
            <a:r>
              <a:rPr lang="zh-CN" altLang="en-US" sz="2000" dirty="0">
                <a:solidFill>
                  <a:srgbClr val="CC0000"/>
                </a:solidFill>
                <a:latin typeface="微软雅黑" panose="020B0503020204020204" pitchFamily="34" charset="-122"/>
                <a:ea typeface="微软雅黑" panose="020B0503020204020204" pitchFamily="34" charset="-122"/>
              </a:rPr>
              <a:t>4位</a:t>
            </a:r>
            <a:r>
              <a:rPr lang="zh-CN" altLang="en-US" sz="2000" dirty="0">
                <a:solidFill>
                  <a:srgbClr val="FF0000"/>
                </a:solidFill>
                <a:latin typeface="微软雅黑" panose="020B0503020204020204" pitchFamily="34" charset="-122"/>
                <a:ea typeface="微软雅黑" panose="020B0503020204020204" pitchFamily="34" charset="-122"/>
              </a:rPr>
              <a:t>全</a:t>
            </a:r>
            <a:r>
              <a:rPr lang="zh-CN" altLang="en-US" sz="2000" dirty="0">
                <a:solidFill>
                  <a:srgbClr val="CC0000"/>
                </a:solidFill>
                <a:latin typeface="微软雅黑" panose="020B0503020204020204" pitchFamily="34" charset="-122"/>
                <a:ea typeface="微软雅黑" panose="020B0503020204020204" pitchFamily="34" charset="-122"/>
              </a:rPr>
              <a:t>先行进位加法器</a:t>
            </a:r>
            <a:r>
              <a:rPr lang="en-US" altLang="zh-CN" sz="2000" dirty="0">
                <a:solidFill>
                  <a:srgbClr val="CC0000"/>
                </a:solidFill>
                <a:latin typeface="微软雅黑" panose="020B0503020204020204" pitchFamily="34" charset="-122"/>
                <a:ea typeface="微软雅黑" panose="020B0503020204020204" pitchFamily="34" charset="-122"/>
              </a:rPr>
              <a:t>CLA</a:t>
            </a:r>
            <a:endParaRPr lang="zh-CN" altLang="en-US" sz="2000" dirty="0">
              <a:solidFill>
                <a:srgbClr val="CC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p:nvPr>
        </p:nvSpPr>
        <p:spPr>
          <a:xfrm>
            <a:off x="252413" y="158750"/>
            <a:ext cx="7616825" cy="481013"/>
          </a:xfrm>
          <a:ln/>
        </p:spPr>
        <p:txBody>
          <a:bodyPr vert="horz" wrap="square" lIns="63500" tIns="25400" rIns="63500" bIns="25400" anchor="ctr" anchorCtr="0">
            <a:spAutoFit/>
          </a:bodyPr>
          <a:p>
            <a:r>
              <a:rPr lang="en-US" altLang="zh-CN" dirty="0">
                <a:ea typeface="宋体" panose="02010600030101010101" pitchFamily="2" charset="-122"/>
              </a:rPr>
              <a:t>CLA</a:t>
            </a:r>
            <a:r>
              <a:rPr lang="zh-CN" altLang="en-US" dirty="0">
                <a:ea typeface="宋体" panose="02010600030101010101" pitchFamily="2" charset="-122"/>
              </a:rPr>
              <a:t>加法器</a:t>
            </a:r>
            <a:endParaRPr lang="en-US" altLang="zh-CN" dirty="0">
              <a:ea typeface="宋体" panose="02010600030101010101" pitchFamily="2" charset="-122"/>
            </a:endParaRPr>
          </a:p>
        </p:txBody>
      </p:sp>
      <p:sp>
        <p:nvSpPr>
          <p:cNvPr id="6" name="矩形 5"/>
          <p:cNvSpPr/>
          <p:nvPr/>
        </p:nvSpPr>
        <p:spPr>
          <a:xfrm>
            <a:off x="4111625" y="141288"/>
            <a:ext cx="4948238" cy="3786188"/>
          </a:xfrm>
          <a:prstGeom prst="rect">
            <a:avLst/>
          </a:prstGeom>
        </p:spPr>
        <p:txBody>
          <a:bodyPr>
            <a:spAutoFit/>
          </a:bodyPr>
          <a:lstStyle/>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module </a:t>
            </a:r>
            <a:r>
              <a:rPr kumimoji="0" lang="en-US" altLang="zh-CN" sz="1600"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CLA</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input [3:0] x, y,</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input </a:t>
            </a: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cin</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output [3:0] f,</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output </a:t>
            </a: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cout</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wire [4:0] c;</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wire [4:1] p, g;</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c[0] = </a:t>
            </a: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cin</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600"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FA_PG</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fa0(x[0], y[0], c[0], f[0], p[1], g[1]);</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600"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FA_PG</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fa1(x[1], y[1], c[1], f[1], p[2], g[2]);</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600"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FA_PG</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fa2(x[2], y[2], c[2], f[2], p[3], g[3]);</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600"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FA_PG</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fa3(x[3], y[3], c[3], f[3], p[4], g[4]);</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600"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CLU</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clu</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(p, g, c[0], c[4:1]);</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a:t>
            </a: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cout</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 c[4];</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endmodule</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p:nvSpPr>
        <p:spPr>
          <a:xfrm>
            <a:off x="79375" y="2395538"/>
            <a:ext cx="9117013" cy="4278313"/>
          </a:xfrm>
          <a:prstGeom prst="rect">
            <a:avLst/>
          </a:prstGeom>
        </p:spPr>
        <p:txBody>
          <a:bodyPr>
            <a:spAutoFit/>
          </a:bodyPr>
          <a:lstStyle/>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module </a:t>
            </a:r>
            <a:r>
              <a:rPr kumimoji="0" lang="en-US" altLang="zh-CN" sz="1600"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FA_PG</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input x, y, </a:t>
            </a: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cin</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output f, p, g  );</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f = x ^ y ^ </a:t>
            </a: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cin</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p = x | y;</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g = x &amp; y;</a:t>
            </a:r>
            <a:endPar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endmodule</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module </a:t>
            </a:r>
            <a:r>
              <a:rPr kumimoji="0" lang="en-US" altLang="zh-CN" sz="1600" b="1"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CLU</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input [4:1] p, g,</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input c0,</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output [4:1] c );</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c[1] = g[1] | (p[1] &amp; c0);</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c[2] = g[2] | (p[2] &amp; g[1]) | (p[2] &amp; p[1] &amp; c0);</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 </a:t>
            </a:r>
            <a:r>
              <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以下两个表达式使用了位拼接运算和归约运算</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c[3] = g[3] | (p[3] &amp; g[2]) | (&amp;{p[3:2], g[1]}) | (&amp;{p[3:1], c0});</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assign c[4] = g[4] | (p[4] &amp; g[3]) | (&amp;{p[4:3], g[2]}) | (&amp;{p[4:2], g1}) | (&amp;{p[4:1], c0});</a:t>
            </a:r>
            <a:endPar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ts val="0"/>
              </a:spcAft>
              <a:buClrTx/>
              <a:buSzTx/>
              <a:buFontTx/>
              <a:buNone/>
              <a:defRPr/>
            </a:pPr>
            <a:r>
              <a:rPr kumimoji="0" lang="en-US" altLang="zh-CN" sz="1600" b="1" i="0" u="none" strike="noStrike" kern="1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endmodule</a:t>
            </a:r>
            <a:r>
              <a:rPr kumimoji="0" lang="en-US"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zh-CN" altLang="zh-CN" sz="1600" b="1" i="0" u="none" strike="noStrike" kern="1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508" name="矩形 8"/>
          <p:cNvSpPr/>
          <p:nvPr/>
        </p:nvSpPr>
        <p:spPr>
          <a:xfrm>
            <a:off x="311150" y="1317625"/>
            <a:ext cx="2711450" cy="968375"/>
          </a:xfrm>
          <a:prstGeom prst="rect">
            <a:avLst/>
          </a:prstGeom>
          <a:noFill/>
          <a:ln w="9525">
            <a:noFill/>
          </a:ln>
        </p:spPr>
        <p:txBody>
          <a:bodyPr anchor="t" anchorCtr="0">
            <a:spAutoFit/>
          </a:bodyPr>
          <a:p>
            <a:pPr>
              <a:lnSpc>
                <a:spcPct val="114000"/>
              </a:lnSpc>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G</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=X</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Y</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                              P</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=X</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+Y</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zh-CN" altLang="en-US" dirty="0">
                <a:solidFill>
                  <a:schemeClr val="accent2"/>
                </a:solidFill>
                <a:latin typeface="微软雅黑" panose="020B0503020204020204" pitchFamily="34" charset="-122"/>
                <a:ea typeface="微软雅黑" panose="020B0503020204020204" pitchFamily="34" charset="-122"/>
              </a:rPr>
              <a:t>（或 </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=X</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⊕Y</a:t>
            </a:r>
            <a:r>
              <a:rPr lang="en-US" altLang="zh-CN" baseline="-2000" dirty="0">
                <a:solidFill>
                  <a:schemeClr val="accent2"/>
                </a:solidFill>
                <a:latin typeface="微软雅黑" panose="020B0503020204020204" pitchFamily="34" charset="-122"/>
                <a:ea typeface="微软雅黑" panose="020B0503020204020204" pitchFamily="34" charset="-122"/>
              </a:rPr>
              <a:t>i </a:t>
            </a:r>
            <a:r>
              <a:rPr lang="zh-CN" altLang="en-US" dirty="0">
                <a:solidFill>
                  <a:schemeClr val="accent2"/>
                </a:solidFill>
                <a:latin typeface="微软雅黑" panose="020B0503020204020204" pitchFamily="34" charset="-122"/>
                <a:ea typeface="微软雅黑" panose="020B0503020204020204" pitchFamily="34" charset="-122"/>
              </a:rPr>
              <a:t>）</a:t>
            </a:r>
            <a:endParaRPr lang="en-US" altLang="zh-CN" dirty="0">
              <a:solidFill>
                <a:schemeClr val="accent2"/>
              </a:solidFill>
              <a:latin typeface="微软雅黑" panose="020B0503020204020204" pitchFamily="34" charset="-122"/>
              <a:ea typeface="微软雅黑" panose="020B0503020204020204" pitchFamily="34" charset="-122"/>
            </a:endParaRPr>
          </a:p>
          <a:p>
            <a:pPr>
              <a:lnSpc>
                <a:spcPct val="114000"/>
              </a:lnSpc>
              <a:spcBef>
                <a:spcPct val="15000"/>
              </a:spcBef>
            </a:pPr>
            <a:r>
              <a:rPr lang="en-US" altLang="zh-CN" dirty="0">
                <a:solidFill>
                  <a:schemeClr val="accent2"/>
                </a:solidFill>
                <a:latin typeface="微软雅黑" panose="020B0503020204020204" pitchFamily="34" charset="-122"/>
                <a:ea typeface="微软雅黑" panose="020B0503020204020204" pitchFamily="34" charset="-122"/>
              </a:rPr>
              <a:t>F</a:t>
            </a:r>
            <a:r>
              <a:rPr lang="en-US" altLang="zh-CN" baseline="-1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=X</a:t>
            </a:r>
            <a:r>
              <a:rPr lang="en-US" altLang="zh-CN" baseline="-2000" dirty="0">
                <a:solidFill>
                  <a:schemeClr val="accent2"/>
                </a:solidFill>
                <a:latin typeface="微软雅黑" panose="020B0503020204020204" pitchFamily="34" charset="-122"/>
                <a:ea typeface="微软雅黑" panose="020B0503020204020204" pitchFamily="34" charset="-122"/>
              </a:rPr>
              <a:t>i</a:t>
            </a:r>
            <a:r>
              <a:rPr lang="en-US" altLang="zh-CN" dirty="0">
                <a:solidFill>
                  <a:schemeClr val="accent2"/>
                </a:solidFill>
                <a:latin typeface="微软雅黑" panose="020B0503020204020204" pitchFamily="34" charset="-122"/>
                <a:ea typeface="微软雅黑" panose="020B0503020204020204" pitchFamily="34" charset="-122"/>
              </a:rPr>
              <a:t>⊕Y</a:t>
            </a:r>
            <a:r>
              <a:rPr lang="en-US" altLang="zh-CN" baseline="-2000" dirty="0">
                <a:solidFill>
                  <a:schemeClr val="accent2"/>
                </a:solidFill>
                <a:latin typeface="微软雅黑" panose="020B0503020204020204" pitchFamily="34" charset="-122"/>
                <a:ea typeface="微软雅黑" panose="020B0503020204020204" pitchFamily="34" charset="-122"/>
              </a:rPr>
              <a:t>i </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zh-CN" baseline="-2000" dirty="0">
                <a:solidFill>
                  <a:schemeClr val="accent2"/>
                </a:solidFill>
                <a:latin typeface="微软雅黑" panose="020B0503020204020204" pitchFamily="34" charset="-122"/>
                <a:ea typeface="微软雅黑" panose="020B0503020204020204" pitchFamily="34" charset="-122"/>
              </a:rPr>
              <a:t>i-1 </a:t>
            </a:r>
            <a:endParaRPr lang="zh-CN" altLang="en-US" baseline="-2000" dirty="0">
              <a:solidFill>
                <a:schemeClr val="accent2"/>
              </a:solidFill>
              <a:latin typeface="微软雅黑" panose="020B0503020204020204" pitchFamily="34" charset="-122"/>
              <a:ea typeface="微软雅黑" panose="020B0503020204020204" pitchFamily="34" charset="-122"/>
            </a:endParaRPr>
          </a:p>
        </p:txBody>
      </p:sp>
      <p:sp>
        <p:nvSpPr>
          <p:cNvPr id="21509" name="矩形 9"/>
          <p:cNvSpPr/>
          <p:nvPr/>
        </p:nvSpPr>
        <p:spPr>
          <a:xfrm>
            <a:off x="3663950" y="4111625"/>
            <a:ext cx="5564188" cy="1189038"/>
          </a:xfrm>
          <a:prstGeom prst="rect">
            <a:avLst/>
          </a:prstGeom>
          <a:noFill/>
          <a:ln w="9525">
            <a:noFill/>
          </a:ln>
        </p:spPr>
        <p:txBody>
          <a:bodyPr anchor="t" anchorCtr="0">
            <a:spAutoFit/>
          </a:bodyPr>
          <a:p>
            <a:pPr eaLnBrk="0" hangingPunct="0">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0 </a:t>
            </a:r>
            <a:endParaRPr lang="en-US" altLang="zh-CN" dirty="0">
              <a:solidFill>
                <a:schemeClr val="accent2"/>
              </a:solidFill>
              <a:latin typeface="微软雅黑" panose="020B0503020204020204" pitchFamily="34" charset="-122"/>
              <a:ea typeface="微软雅黑" panose="020B0503020204020204" pitchFamily="34" charset="-122"/>
            </a:endParaRPr>
          </a:p>
          <a:p>
            <a:pPr eaLnBrk="0" hangingPunct="0">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0</a:t>
            </a:r>
            <a:endParaRPr lang="en-US" altLang="en-US" baseline="-1000" dirty="0">
              <a:solidFill>
                <a:schemeClr val="accent2"/>
              </a:solidFill>
              <a:latin typeface="微软雅黑" panose="020B0503020204020204" pitchFamily="34" charset="-122"/>
              <a:ea typeface="微软雅黑" panose="020B0503020204020204" pitchFamily="34" charset="-122"/>
            </a:endParaRPr>
          </a:p>
          <a:p>
            <a:pPr eaLnBrk="0" hangingPunct="0">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 </a:t>
            </a:r>
            <a:endParaRPr lang="en-US" altLang="zh-CN" dirty="0">
              <a:solidFill>
                <a:schemeClr val="accent2"/>
              </a:solidFill>
              <a:latin typeface="微软雅黑" panose="020B0503020204020204" pitchFamily="34" charset="-122"/>
              <a:ea typeface="微软雅黑" panose="020B0503020204020204" pitchFamily="34" charset="-122"/>
            </a:endParaRPr>
          </a:p>
          <a:p>
            <a:pPr eaLnBrk="0" hangingPunct="0">
              <a:spcBef>
                <a:spcPct val="15000"/>
              </a:spcBef>
              <a:buFont typeface="Wingdings" panose="05000000000000000000" pitchFamily="2" charset="2"/>
            </a:pP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4</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G</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3</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2</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1</a:t>
            </a:r>
            <a:r>
              <a:rPr lang="en-US" altLang="zh-CN" dirty="0">
                <a:solidFill>
                  <a:schemeClr val="accent2"/>
                </a:solidFill>
                <a:latin typeface="微软雅黑" panose="020B0503020204020204" pitchFamily="34" charset="-122"/>
                <a:ea typeface="微软雅黑" panose="020B0503020204020204" pitchFamily="34" charset="-122"/>
              </a:rPr>
              <a:t>P</a:t>
            </a:r>
            <a:r>
              <a:rPr lang="en-US" altLang="en-US" baseline="-1000" dirty="0">
                <a:solidFill>
                  <a:schemeClr val="accent2"/>
                </a:solidFill>
                <a:latin typeface="微软雅黑" panose="020B0503020204020204" pitchFamily="34" charset="-122"/>
                <a:ea typeface="微软雅黑" panose="020B0503020204020204" pitchFamily="34" charset="-122"/>
              </a:rPr>
              <a:t>0</a:t>
            </a:r>
            <a:r>
              <a:rPr lang="en-US" altLang="zh-CN" dirty="0">
                <a:solidFill>
                  <a:schemeClr val="accent2"/>
                </a:solidFill>
                <a:latin typeface="微软雅黑" panose="020B0503020204020204" pitchFamily="34" charset="-122"/>
                <a:ea typeface="微软雅黑" panose="020B0503020204020204" pitchFamily="34" charset="-122"/>
              </a:rPr>
              <a:t>C</a:t>
            </a:r>
            <a:r>
              <a:rPr lang="en-US" altLang="en-US" baseline="-1000" dirty="0">
                <a:solidFill>
                  <a:schemeClr val="accent2"/>
                </a:solidFill>
                <a:latin typeface="微软雅黑" panose="020B0503020204020204" pitchFamily="34" charset="-122"/>
                <a:ea typeface="微软雅黑" panose="020B0503020204020204" pitchFamily="34" charset="-122"/>
              </a:rPr>
              <a:t>0</a:t>
            </a:r>
            <a:endParaRPr lang="en-US" altLang="en-US" baseline="-10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xfrm>
            <a:off x="666750" y="188913"/>
            <a:ext cx="7683500" cy="481012"/>
          </a:xfrm>
          <a:ln/>
        </p:spPr>
        <p:txBody>
          <a:bodyPr vert="horz" wrap="square" lIns="63500" tIns="25400" rIns="63500" bIns="25400" anchor="t" anchorCtr="0">
            <a:spAutoFit/>
          </a:bodyPr>
          <a:p>
            <a:r>
              <a:rPr lang="zh-CN" altLang="en-US" dirty="0">
                <a:ea typeface="宋体" panose="02010600030101010101" pitchFamily="2" charset="-122"/>
              </a:rPr>
              <a:t>局部（单级）先行进位加法器</a:t>
            </a:r>
            <a:endParaRPr lang="zh-CN" altLang="en-US" dirty="0">
              <a:ea typeface="宋体" panose="02010600030101010101" pitchFamily="2" charset="-122"/>
            </a:endParaRPr>
          </a:p>
        </p:txBody>
      </p:sp>
      <p:pic>
        <p:nvPicPr>
          <p:cNvPr id="23554" name="Picture 3" descr="局部先行进位加法器"/>
          <p:cNvPicPr>
            <a:picLocks noChangeAspect="1"/>
          </p:cNvPicPr>
          <p:nvPr/>
        </p:nvPicPr>
        <p:blipFill>
          <a:blip r:embed="rId1"/>
          <a:stretch>
            <a:fillRect/>
          </a:stretch>
        </p:blipFill>
        <p:spPr>
          <a:xfrm>
            <a:off x="342900" y="720725"/>
            <a:ext cx="8636000" cy="5965825"/>
          </a:xfrm>
          <a:prstGeom prst="rect">
            <a:avLst/>
          </a:prstGeom>
          <a:noFill/>
          <a:ln w="9525">
            <a:noFill/>
          </a:ln>
        </p:spPr>
      </p:pic>
      <p:sp>
        <p:nvSpPr>
          <p:cNvPr id="23555" name="Text Box 4"/>
          <p:cNvSpPr txBox="1"/>
          <p:nvPr/>
        </p:nvSpPr>
        <p:spPr>
          <a:xfrm>
            <a:off x="460375" y="3482975"/>
            <a:ext cx="5067300" cy="427038"/>
          </a:xfrm>
          <a:prstGeom prst="rect">
            <a:avLst/>
          </a:prstGeom>
          <a:noFill/>
          <a:ln w="9525">
            <a:noFill/>
          </a:ln>
        </p:spPr>
        <p:txBody>
          <a:bodyPr anchor="t" anchorCtr="0">
            <a:spAutoFit/>
          </a:bodyPr>
          <a:p>
            <a:pPr eaLnBrk="0" hangingPunct="0">
              <a:spcBef>
                <a:spcPct val="50000"/>
              </a:spcBef>
            </a:pPr>
            <a:r>
              <a:rPr lang="zh-CN" altLang="en-US" sz="2200" dirty="0">
                <a:solidFill>
                  <a:srgbClr val="CC0000"/>
                </a:solidFill>
                <a:latin typeface="Times New Roman" panose="02020603050405020304" pitchFamily="18" charset="0"/>
                <a:ea typeface="黑体" panose="02010609060101010101" pitchFamily="49" charset="-122"/>
              </a:rPr>
              <a:t>问题：所有和数产生的延迟为多少？</a:t>
            </a:r>
            <a:endParaRPr lang="zh-CN" altLang="en-US" sz="2200" dirty="0">
              <a:solidFill>
                <a:srgbClr val="CC0000"/>
              </a:solidFill>
              <a:latin typeface="Times New Roman" panose="02020603050405020304" pitchFamily="18" charset="0"/>
              <a:ea typeface="黑体" panose="02010609060101010101" pitchFamily="49" charset="-122"/>
            </a:endParaRPr>
          </a:p>
        </p:txBody>
      </p:sp>
      <p:sp>
        <p:nvSpPr>
          <p:cNvPr id="23556" name="Text Box 5"/>
          <p:cNvSpPr txBox="1"/>
          <p:nvPr/>
        </p:nvSpPr>
        <p:spPr>
          <a:xfrm>
            <a:off x="295275" y="1079500"/>
            <a:ext cx="5067300" cy="430213"/>
          </a:xfrm>
          <a:prstGeom prst="rect">
            <a:avLst/>
          </a:prstGeom>
          <a:noFill/>
          <a:ln w="9525">
            <a:noFill/>
          </a:ln>
        </p:spPr>
        <p:txBody>
          <a:bodyPr anchor="t" anchorCtr="0">
            <a:spAutoFit/>
          </a:bodyPr>
          <a:p>
            <a:pPr eaLnBrk="0" hangingPunct="0">
              <a:spcBef>
                <a:spcPct val="50000"/>
              </a:spcBef>
            </a:pPr>
            <a:r>
              <a:rPr lang="zh-CN" altLang="en-US" sz="2200" dirty="0">
                <a:solidFill>
                  <a:schemeClr val="accent2"/>
                </a:solidFill>
                <a:latin typeface="黑体" panose="02010609060101010101" pitchFamily="49" charset="-122"/>
                <a:ea typeface="黑体" panose="02010609060101010101" pitchFamily="49" charset="-122"/>
              </a:rPr>
              <a:t>或称 单级先行进位加法器</a:t>
            </a:r>
            <a:endParaRPr lang="zh-CN" altLang="en-US" sz="2200" dirty="0">
              <a:solidFill>
                <a:schemeClr val="accent2"/>
              </a:solidFill>
              <a:latin typeface="黑体" panose="02010609060101010101" pitchFamily="49" charset="-122"/>
              <a:ea typeface="黑体" panose="02010609060101010101" pitchFamily="49" charset="-122"/>
            </a:endParaRPr>
          </a:p>
        </p:txBody>
      </p:sp>
      <p:sp>
        <p:nvSpPr>
          <p:cNvPr id="23557" name="Text Box 6"/>
          <p:cNvSpPr txBox="1"/>
          <p:nvPr/>
        </p:nvSpPr>
        <p:spPr>
          <a:xfrm>
            <a:off x="5229225" y="3517900"/>
            <a:ext cx="2724150" cy="430213"/>
          </a:xfrm>
          <a:prstGeom prst="rect">
            <a:avLst/>
          </a:prstGeom>
          <a:noFill/>
          <a:ln w="9525">
            <a:noFill/>
          </a:ln>
        </p:spPr>
        <p:txBody>
          <a:bodyPr wrap="square" anchor="t" anchorCtr="0">
            <a:spAutoFit/>
          </a:bodyPr>
          <a:p>
            <a:pPr eaLnBrk="0" hangingPunct="0">
              <a:spcBef>
                <a:spcPct val="50000"/>
              </a:spcBef>
            </a:pPr>
            <a:r>
              <a:rPr lang="en-US" altLang="zh-CN" sz="2200" dirty="0">
                <a:solidFill>
                  <a:srgbClr val="CC0000"/>
                </a:solidFill>
                <a:latin typeface="Arial" panose="020B0604020202020204" pitchFamily="34" charset="0"/>
                <a:ea typeface="黑体" panose="02010609060101010101" pitchFamily="49" charset="-122"/>
              </a:rPr>
              <a:t>1+2+2+2+2+3=12ty</a:t>
            </a:r>
            <a:endParaRPr lang="en-US" altLang="zh-CN" sz="2200" dirty="0">
              <a:solidFill>
                <a:srgbClr val="CC0000"/>
              </a:solidFill>
              <a:latin typeface="Arial" panose="020B0604020202020204" pitchFamily="34" charset="0"/>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7554" name="Rectangle 2"/>
          <p:cNvSpPr>
            <a:spLocks noGrp="1" noChangeArrowheads="1"/>
          </p:cNvSpPr>
          <p:nvPr>
            <p:ph idx="1"/>
          </p:nvPr>
        </p:nvSpPr>
        <p:spPr>
          <a:xfrm>
            <a:off x="269875" y="908050"/>
            <a:ext cx="8655050" cy="5575300"/>
          </a:xfrm>
        </p:spPr>
        <p:txBody>
          <a:bodyPr vert="horz" wrap="square" lIns="63500" tIns="25400" rIns="63500" bIns="25400" numCol="1" anchor="t" anchorCtr="0" compatLnSpc="1">
            <a:spAutoFit/>
          </a:bodyPr>
          <a:lstStyle/>
          <a:p>
            <a:pPr marL="203200" marR="0" lvl="0" indent="-203200" algn="l" defTabSz="914400" rtl="0" eaLnBrk="0" fontAlgn="base" latinLnBrk="0" hangingPunct="0">
              <a:lnSpc>
                <a:spcPct val="115000"/>
              </a:lnSpc>
              <a:spcBef>
                <a:spcPct val="30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0033CC"/>
                </a:solidFill>
                <a:effectLst/>
                <a:uLnTx/>
                <a:uFillTx/>
                <a:latin typeface="+mn-lt"/>
                <a:ea typeface="黑体" panose="02010609060101010101" pitchFamily="49" charset="-122"/>
                <a:cs typeface="+mn-cs"/>
              </a:rPr>
              <a:t>      </a:t>
            </a:r>
            <a:r>
              <a:rPr kumimoji="0" lang="zh-CN" altLang="en-US" sz="2000" b="1" i="0" u="none" strike="noStrike" kern="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多级先行进位加法器</a:t>
            </a:r>
            <a:endParaRPr kumimoji="0" lang="zh-CN" altLang="en-US" sz="2000" b="1" i="0" u="none" strike="noStrike" kern="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endParaRPr>
          </a:p>
          <a:p>
            <a:pPr marL="685800" marR="0" lvl="1" indent="-190500" algn="l" defTabSz="914400" rtl="0" eaLnBrk="0" fontAlgn="base" latinLnBrk="0" hangingPunct="0">
              <a:lnSpc>
                <a:spcPct val="115000"/>
              </a:lnSpc>
              <a:spcBef>
                <a:spcPct val="30000"/>
              </a:spcBef>
              <a:spcAft>
                <a:spcPct val="0"/>
              </a:spcAft>
              <a:buClrTx/>
              <a:buSzTx/>
              <a:buFontTx/>
              <a:buChar char="•"/>
              <a:defRPr/>
            </a:pPr>
            <a:r>
              <a:rPr kumimoji="0" lang="zh-CN" altLang="en-US"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ea"/>
              </a:rPr>
              <a:t>单级(局部)先行进位加法器的进位生成方式：</a:t>
            </a:r>
            <a:endParaRPr kumimoji="0" lang="zh-CN" altLang="en-US"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ea"/>
            </a:endParaRPr>
          </a:p>
          <a:p>
            <a:pPr marL="685800" marR="0" lvl="1" indent="-190500" algn="l" defTabSz="914400" rtl="0" eaLnBrk="0" fontAlgn="base" latinLnBrk="0" hangingPunct="0">
              <a:lnSpc>
                <a:spcPct val="115000"/>
              </a:lnSpc>
              <a:spcBef>
                <a:spcPct val="30000"/>
              </a:spcBef>
              <a:spcAft>
                <a:spcPct val="0"/>
              </a:spcAft>
              <a:buClrTx/>
              <a:buSzTx/>
              <a:buFontTx/>
              <a:buNone/>
              <a:defRPr/>
            </a:pPr>
            <a:r>
              <a:rPr kumimoji="0" lang="zh-CN" altLang="en-US" sz="2000" b="1" i="0" u="none" strike="noStrike" kern="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ea"/>
              </a:rPr>
              <a:t>     “组内并行、组间串行”</a:t>
            </a:r>
            <a:endParaRPr kumimoji="0" lang="zh-CN" altLang="en-US" sz="2000" b="1" i="0" u="none" strike="noStrike" kern="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ea"/>
            </a:endParaRPr>
          </a:p>
          <a:p>
            <a:pPr marL="685800" marR="0" lvl="1" indent="-190500" algn="l" defTabSz="914400" rtl="0" eaLnBrk="0" fontAlgn="base" latinLnBrk="0" hangingPunct="0">
              <a:lnSpc>
                <a:spcPct val="115000"/>
              </a:lnSpc>
              <a:spcBef>
                <a:spcPct val="30000"/>
              </a:spcBef>
              <a:spcAft>
                <a:spcPct val="0"/>
              </a:spcAft>
              <a:buClrTx/>
              <a:buSzTx/>
              <a:buFontTx/>
              <a:buChar char="•"/>
              <a:defRPr/>
            </a:pPr>
            <a:r>
              <a:rPr kumimoji="0" lang="zh-CN" altLang="en-US"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ea"/>
              </a:rPr>
              <a:t>所以，单级先行进位加法器虽然比行波加法器延迟时间短，但高位组进位依赖低位组进位，故仍有较长的时间延迟</a:t>
            </a:r>
            <a:endParaRPr kumimoji="0" lang="zh-CN" altLang="en-US"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ea"/>
            </a:endParaRPr>
          </a:p>
          <a:p>
            <a:pPr marL="685800" marR="0" lvl="1" indent="-190500" algn="l" defTabSz="914400" rtl="0" eaLnBrk="0" fontAlgn="base" latinLnBrk="0" hangingPunct="0">
              <a:lnSpc>
                <a:spcPct val="115000"/>
              </a:lnSpc>
              <a:spcBef>
                <a:spcPct val="30000"/>
              </a:spcBef>
              <a:spcAft>
                <a:spcPct val="0"/>
              </a:spcAft>
              <a:buClrTx/>
              <a:buSzTx/>
              <a:buFontTx/>
              <a:buChar char="•"/>
              <a:defRPr/>
            </a:pPr>
            <a:r>
              <a:rPr kumimoji="0" lang="zh-CN" altLang="en-US"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ea"/>
              </a:rPr>
              <a:t>通过引入组进位生成/传递函数实现</a:t>
            </a:r>
            <a:r>
              <a:rPr kumimoji="0" lang="zh-CN" altLang="en-US" sz="2000" b="1" i="0" u="none" strike="noStrike" kern="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ea"/>
              </a:rPr>
              <a:t>“组内并行、组间并行”</a:t>
            </a:r>
            <a:r>
              <a:rPr kumimoji="0" lang="zh-CN" altLang="en-US"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ea"/>
              </a:rPr>
              <a:t>进位方式</a:t>
            </a:r>
            <a:endParaRPr kumimoji="0" lang="zh-CN" altLang="en-US"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ea"/>
            </a:endParaRPr>
          </a:p>
          <a:p>
            <a:pPr marL="685800" marR="0" lvl="1" indent="-190500" algn="l" defTabSz="914400" rtl="0" eaLnBrk="0" fontAlgn="base" latinLnBrk="0" hangingPunct="0">
              <a:lnSpc>
                <a:spcPct val="115000"/>
              </a:lnSpc>
              <a:spcBef>
                <a:spcPct val="30000"/>
              </a:spcBef>
              <a:spcAft>
                <a:spcPct val="0"/>
              </a:spcAft>
              <a:buClrTx/>
              <a:buSzTx/>
              <a:buFontTx/>
              <a:buNone/>
              <a:defRPr/>
            </a:pPr>
            <a:r>
              <a:rPr kumimoji="0" lang="zh-CN" altLang="en-US" sz="2000" b="1" i="0" u="none" strike="noStrike" kern="0" cap="none" spc="0" normalizeH="0" baseline="0" noProof="0" dirty="0">
                <a:ln>
                  <a:noFill/>
                </a:ln>
                <a:solidFill>
                  <a:srgbClr val="0000FF"/>
                </a:solidFill>
                <a:effectLst/>
                <a:uLnTx/>
                <a:uFillTx/>
                <a:latin typeface="+mn-lt"/>
                <a:ea typeface="黑体" panose="02010609060101010101" pitchFamily="49" charset="-122"/>
                <a:cs typeface="+mn-ea"/>
              </a:rPr>
              <a:t>  设</a:t>
            </a:r>
            <a:r>
              <a:rPr kumimoji="0" lang="en-US" altLang="en-US" sz="2000" b="1" i="0" u="none" strike="noStrike" kern="0" cap="none" spc="0" normalizeH="0" baseline="0" noProof="0" dirty="0">
                <a:ln>
                  <a:noFill/>
                </a:ln>
                <a:solidFill>
                  <a:srgbClr val="0000FF"/>
                </a:solidFill>
                <a:effectLst/>
                <a:uLnTx/>
                <a:uFillTx/>
                <a:latin typeface="+mn-lt"/>
                <a:ea typeface="黑体" panose="02010609060101010101" pitchFamily="49" charset="-122"/>
                <a:cs typeface="+mn-ea"/>
              </a:rPr>
              <a:t>n=4,</a:t>
            </a:r>
            <a:r>
              <a:rPr kumimoji="0" lang="zh-CN" altLang="en-US" sz="2000" b="1" i="0" u="none" strike="noStrike" kern="0" cap="none" spc="0" normalizeH="0" baseline="0" noProof="0" dirty="0">
                <a:ln>
                  <a:noFill/>
                </a:ln>
                <a:solidFill>
                  <a:srgbClr val="0000FF"/>
                </a:solidFill>
                <a:effectLst/>
                <a:uLnTx/>
                <a:uFillTx/>
                <a:latin typeface="+mn-lt"/>
                <a:ea typeface="黑体" panose="02010609060101010101" pitchFamily="49" charset="-122"/>
                <a:cs typeface="+mn-ea"/>
              </a:rPr>
              <a:t>则：</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ea"/>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ea"/>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ea"/>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ea"/>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ea"/>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ea"/>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ea"/>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ea"/>
              </a:rPr>
              <a:t>0 </a:t>
            </a:r>
            <a:endPar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ea"/>
            </a:endParaRPr>
          </a:p>
          <a:p>
            <a:pPr marL="203200" marR="0" lvl="0" indent="-203200" algn="l" defTabSz="914400" rtl="0" eaLnBrk="0" fontAlgn="base" latinLnBrk="0" hangingPunct="0">
              <a:lnSpc>
                <a:spcPct val="115000"/>
              </a:lnSpc>
              <a:spcBef>
                <a:spcPct val="30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endPar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5000"/>
              </a:lnSpc>
              <a:spcBef>
                <a:spcPct val="30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a:t>
            </a:r>
            <a:endPar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5000"/>
              </a:lnSpc>
              <a:spcBef>
                <a:spcPct val="30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en-US" sz="2000" b="1" i="0" u="none" strike="noStrike" kern="0" cap="none" spc="0" normalizeH="0" baseline="30000" noProof="0" dirty="0">
                <a:ln>
                  <a:noFill/>
                </a:ln>
                <a:solidFill>
                  <a:schemeClr val="tx1"/>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endPar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5000"/>
              </a:lnSpc>
              <a:spcBef>
                <a:spcPct val="3000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en-US" sz="2000" b="1" i="0" u="none" strike="noStrike" kern="0" cap="none" spc="0" normalizeH="0" baseline="30000" noProof="0" dirty="0">
                <a:ln>
                  <a:noFill/>
                </a:ln>
                <a:solidFill>
                  <a:schemeClr val="tx1"/>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2</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1</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endPar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endParaRPr>
          </a:p>
          <a:p>
            <a:pPr marL="203200" marR="0" lvl="0" indent="-203200" algn="l" defTabSz="914400" rtl="0" eaLnBrk="0" fontAlgn="base" latinLnBrk="0" hangingPunct="0">
              <a:lnSpc>
                <a:spcPct val="115000"/>
              </a:lnSpc>
              <a:spcBef>
                <a:spcPct val="30000"/>
              </a:spcBef>
              <a:spcAft>
                <a:spcPct val="0"/>
              </a:spcAft>
              <a:buClr>
                <a:schemeClr val="tx1"/>
              </a:buClr>
              <a:buSzPct val="6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 所以</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4 </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=G</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en-US" sz="2000" b="1" i="0" u="none" strike="noStrike" kern="0" cap="none" spc="0" normalizeH="0" baseline="30000" noProof="0" dirty="0">
                <a:ln>
                  <a:noFill/>
                </a:ln>
                <a:solidFill>
                  <a:schemeClr val="tx1"/>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+P</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3</a:t>
            </a:r>
            <a:r>
              <a:rPr kumimoji="0" lang="en-US" altLang="en-US" sz="2000" b="1" i="0" u="none" strike="noStrike" kern="0" cap="none" spc="0" normalizeH="0" baseline="30000" noProof="0" dirty="0">
                <a:ln>
                  <a:noFill/>
                </a:ln>
                <a:solidFill>
                  <a:schemeClr val="tx1"/>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C</a:t>
            </a:r>
            <a:r>
              <a:rPr kumimoji="0" lang="en-US" altLang="en-US"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0</a:t>
            </a:r>
            <a:r>
              <a:rPr kumimoji="0" lang="en-US" altLang="zh-CN" sz="2000" b="1" i="0" u="none" strike="noStrike" kern="0" cap="none" spc="0" normalizeH="0" baseline="-1000" noProof="0" dirty="0">
                <a:ln>
                  <a:noFill/>
                </a:ln>
                <a:solidFill>
                  <a:schemeClr val="tx1"/>
                </a:solidFill>
                <a:effectLst/>
                <a:uLnTx/>
                <a:uFillTx/>
                <a:latin typeface="+mn-lt"/>
                <a:ea typeface="黑体" panose="02010609060101010101" pitchFamily="49" charset="-122"/>
                <a:cs typeface="+mn-cs"/>
              </a:rPr>
              <a:t>。</a:t>
            </a:r>
            <a:r>
              <a:rPr kumimoji="0" lang="zh-CN" altLang="en-US" sz="2000" b="1" i="0" u="none" strike="noStrike" kern="0" cap="none" spc="0" normalizeH="0" baseline="0" noProof="0" dirty="0">
                <a:ln>
                  <a:noFill/>
                </a:ln>
                <a:solidFill>
                  <a:srgbClr val="0033CC"/>
                </a:solidFill>
                <a:effectLst/>
                <a:uLnTx/>
                <a:uFillTx/>
                <a:latin typeface="+mn-lt"/>
                <a:ea typeface="黑体" panose="02010609060101010101" pitchFamily="49" charset="-122"/>
                <a:cs typeface="+mn-cs"/>
              </a:rPr>
              <a:t>把实现上述逻辑的电路称为</a:t>
            </a:r>
            <a:r>
              <a:rPr kumimoji="0" lang="zh-CN"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rPr>
              <a:t>4位</a:t>
            </a:r>
            <a:r>
              <a:rPr kumimoji="0" lang="en-US" altLang="zh-CN" sz="2000" b="1" i="0" u="none" strike="noStrike" kern="0" cap="none" spc="0" normalizeH="0" baseline="0" noProof="0" dirty="0" smtClean="0">
                <a:ln>
                  <a:noFill/>
                </a:ln>
                <a:solidFill>
                  <a:srgbClr val="CC0000"/>
                </a:solidFill>
                <a:effectLst/>
                <a:uLnTx/>
                <a:uFillTx/>
                <a:latin typeface="+mn-lt"/>
                <a:ea typeface="黑体" panose="02010609060101010101" pitchFamily="49" charset="-122"/>
                <a:cs typeface="+mn-cs"/>
              </a:rPr>
              <a:t>BCLU</a:t>
            </a:r>
            <a:r>
              <a:rPr kumimoji="0" lang="zh-CN"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rPr>
              <a:t>（</a:t>
            </a:r>
            <a:r>
              <a:rPr kumimoji="0" lang="en-US" altLang="zh-CN"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rPr>
              <a:t>Block </a:t>
            </a:r>
            <a:r>
              <a:rPr kumimoji="0" lang="en-US" altLang="zh-CN" sz="2000" b="1" i="0" u="none" strike="noStrike" kern="0" cap="none" spc="0" normalizeH="0" baseline="0" noProof="0" dirty="0" smtClean="0">
                <a:ln>
                  <a:noFill/>
                </a:ln>
                <a:solidFill>
                  <a:srgbClr val="CC0000"/>
                </a:solidFill>
                <a:effectLst/>
                <a:uLnTx/>
                <a:uFillTx/>
                <a:latin typeface="+mn-lt"/>
                <a:ea typeface="黑体" panose="02010609060101010101" pitchFamily="49" charset="-122"/>
                <a:cs typeface="+mn-cs"/>
              </a:rPr>
              <a:t>CLU</a:t>
            </a:r>
            <a:r>
              <a:rPr kumimoji="0" lang="zh-CN" altLang="en-US" sz="2000" b="1" i="0" u="none" strike="noStrike" kern="0" cap="none" spc="0" normalizeH="0" baseline="0" noProof="0" dirty="0" smtClean="0">
                <a:ln>
                  <a:noFill/>
                </a:ln>
                <a:solidFill>
                  <a:srgbClr val="CC0000"/>
                </a:solidFill>
                <a:effectLst/>
                <a:uLnTx/>
                <a:uFillTx/>
                <a:latin typeface="+mn-lt"/>
                <a:ea typeface="黑体" panose="02010609060101010101" pitchFamily="49" charset="-122"/>
                <a:cs typeface="+mn-cs"/>
              </a:rPr>
              <a:t>）部件。</a:t>
            </a:r>
            <a:endParaRPr kumimoji="0" lang="zh-CN" altLang="en-US" sz="2000" b="1" i="0" u="none" strike="noStrike" kern="0" cap="none" spc="0" normalizeH="0" baseline="0" noProof="0" dirty="0">
              <a:ln>
                <a:noFill/>
              </a:ln>
              <a:solidFill>
                <a:srgbClr val="CC0000"/>
              </a:solidFill>
              <a:effectLst/>
              <a:uLnTx/>
              <a:uFillTx/>
              <a:latin typeface="+mn-lt"/>
              <a:ea typeface="黑体" panose="02010609060101010101" pitchFamily="49" charset="-122"/>
              <a:cs typeface="+mn-cs"/>
            </a:endParaRPr>
          </a:p>
        </p:txBody>
      </p:sp>
      <p:sp>
        <p:nvSpPr>
          <p:cNvPr id="24578" name="Rectangle 3"/>
          <p:cNvSpPr/>
          <p:nvPr/>
        </p:nvSpPr>
        <p:spPr>
          <a:xfrm>
            <a:off x="774700" y="1079500"/>
            <a:ext cx="7772400" cy="609600"/>
          </a:xfrm>
          <a:prstGeom prst="rect">
            <a:avLst/>
          </a:prstGeom>
          <a:noFill/>
          <a:ln w="9525">
            <a:noFill/>
          </a:ln>
        </p:spPr>
        <p:txBody>
          <a:bodyPr anchor="ctr" anchorCtr="0"/>
          <a:p>
            <a:pPr algn="ctr"/>
            <a:endParaRPr lang="en-US" altLang="zh-CN" sz="2400" b="0" dirty="0">
              <a:solidFill>
                <a:srgbClr val="DE2916"/>
              </a:solidFill>
              <a:latin typeface="Times New Roman" panose="02020603050405020304" pitchFamily="18" charset="0"/>
              <a:ea typeface="方正舒体" pitchFamily="2" charset="-122"/>
            </a:endParaRPr>
          </a:p>
        </p:txBody>
      </p:sp>
      <p:sp>
        <p:nvSpPr>
          <p:cNvPr id="24579" name="Rectangle 4"/>
          <p:cNvSpPr>
            <a:spLocks noGrp="1"/>
          </p:cNvSpPr>
          <p:nvPr>
            <p:ph type="title"/>
          </p:nvPr>
        </p:nvSpPr>
        <p:spPr>
          <a:xfrm>
            <a:off x="800100" y="187325"/>
            <a:ext cx="6073775" cy="481013"/>
          </a:xfrm>
          <a:ln/>
        </p:spPr>
        <p:txBody>
          <a:bodyPr vert="horz" wrap="square" lIns="63500" tIns="25400" rIns="63500" bIns="25400" anchor="ctr" anchorCtr="0">
            <a:spAutoFit/>
          </a:bodyPr>
          <a:p>
            <a:r>
              <a:rPr lang="zh-CN" altLang="en-US" dirty="0">
                <a:latin typeface="宋体" panose="02010600030101010101" pitchFamily="2" charset="-122"/>
                <a:ea typeface="宋体" panose="02010600030101010101" pitchFamily="2" charset="-122"/>
              </a:rPr>
              <a:t>多级先行进位</a:t>
            </a:r>
            <a:r>
              <a:rPr lang="en-US" altLang="zh-CN" dirty="0">
                <a:latin typeface="宋体" panose="02010600030101010101" pitchFamily="2" charset="-122"/>
                <a:ea typeface="宋体" panose="02010600030101010101" pitchFamily="2" charset="-122"/>
              </a:rPr>
              <a:t>加法器</a:t>
            </a:r>
            <a:endParaRPr lang="zh-CN" altLang="en-US" dirty="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3"/>
          <p:cNvSpPr/>
          <p:nvPr/>
        </p:nvSpPr>
        <p:spPr>
          <a:xfrm>
            <a:off x="774700" y="1079500"/>
            <a:ext cx="7772400" cy="609600"/>
          </a:xfrm>
          <a:prstGeom prst="rect">
            <a:avLst/>
          </a:prstGeom>
          <a:noFill/>
          <a:ln w="9525">
            <a:noFill/>
          </a:ln>
        </p:spPr>
        <p:txBody>
          <a:bodyPr anchor="ctr" anchorCtr="0"/>
          <a:p>
            <a:pPr algn="ctr"/>
            <a:endParaRPr lang="en-US" altLang="zh-CN" sz="2400" b="0" dirty="0">
              <a:solidFill>
                <a:srgbClr val="DE2916"/>
              </a:solidFill>
              <a:latin typeface="Times New Roman" panose="02020603050405020304" pitchFamily="18" charset="0"/>
              <a:ea typeface="方正舒体" pitchFamily="2" charset="-122"/>
            </a:endParaRPr>
          </a:p>
        </p:txBody>
      </p:sp>
      <p:sp>
        <p:nvSpPr>
          <p:cNvPr id="25602" name="Rectangle 4"/>
          <p:cNvSpPr>
            <a:spLocks noGrp="1"/>
          </p:cNvSpPr>
          <p:nvPr>
            <p:ph type="title"/>
          </p:nvPr>
        </p:nvSpPr>
        <p:spPr>
          <a:xfrm>
            <a:off x="800100" y="168275"/>
            <a:ext cx="6073775" cy="481013"/>
          </a:xfrm>
          <a:ln/>
        </p:spPr>
        <p:txBody>
          <a:bodyPr vert="horz" wrap="square" lIns="63500" tIns="25400" rIns="63500" bIns="25400" anchor="ctr" anchorCtr="0">
            <a:spAutoFit/>
          </a:bodyPr>
          <a:p>
            <a:r>
              <a:rPr lang="zh-CN" altLang="en-US" dirty="0">
                <a:latin typeface="宋体" panose="02010600030101010101" pitchFamily="2" charset="-122"/>
                <a:ea typeface="宋体" panose="02010600030101010101" pitchFamily="2" charset="-122"/>
              </a:rPr>
              <a:t>多级先行进位</a:t>
            </a:r>
            <a:r>
              <a:rPr lang="en-US" altLang="zh-CN" dirty="0">
                <a:latin typeface="宋体" panose="02010600030101010101" pitchFamily="2" charset="-122"/>
                <a:ea typeface="宋体" panose="02010600030101010101" pitchFamily="2" charset="-122"/>
              </a:rPr>
              <a:t>加法器</a:t>
            </a:r>
            <a:endParaRPr lang="zh-CN" altLang="en-US" dirty="0">
              <a:latin typeface="宋体" panose="02010600030101010101" pitchFamily="2" charset="-122"/>
              <a:ea typeface="宋体" panose="02010600030101010101" pitchFamily="2" charset="-122"/>
            </a:endParaRPr>
          </a:p>
        </p:txBody>
      </p:sp>
      <p:sp>
        <p:nvSpPr>
          <p:cNvPr id="25603" name="Rectangle 5"/>
          <p:cNvSpPr/>
          <p:nvPr/>
        </p:nvSpPr>
        <p:spPr>
          <a:xfrm>
            <a:off x="1049338" y="4776788"/>
            <a:ext cx="3344862" cy="1096962"/>
          </a:xfrm>
          <a:prstGeom prst="rect">
            <a:avLst/>
          </a:prstGeom>
          <a:noFill/>
          <a:ln w="12700">
            <a:noFill/>
          </a:ln>
        </p:spPr>
        <p:txBody>
          <a:bodyPr anchor="ctr" anchorCtr="0">
            <a:spAutoFit/>
          </a:bodyPr>
          <a:p>
            <a:pPr eaLnBrk="0" hangingPunct="0"/>
            <a:r>
              <a:rPr lang="zh-CN" altLang="en-US" sz="2200" dirty="0">
                <a:solidFill>
                  <a:srgbClr val="CC0000"/>
                </a:solidFill>
                <a:latin typeface="Times New Roman" panose="02020603050405020304" pitchFamily="18" charset="0"/>
                <a:ea typeface="黑体" panose="02010609060101010101" pitchFamily="49" charset="-122"/>
              </a:rPr>
              <a:t>关键路径长度为多少？</a:t>
            </a:r>
            <a:endParaRPr lang="zh-CN" altLang="en-US" sz="2200" dirty="0">
              <a:solidFill>
                <a:srgbClr val="CC0000"/>
              </a:solidFill>
              <a:latin typeface="Times New Roman" panose="02020603050405020304" pitchFamily="18" charset="0"/>
              <a:ea typeface="黑体" panose="02010609060101010101" pitchFamily="49" charset="-122"/>
            </a:endParaRPr>
          </a:p>
          <a:p>
            <a:pPr eaLnBrk="0" hangingPunct="0"/>
            <a:endParaRPr lang="zh-CN" altLang="en-US" sz="2200" dirty="0">
              <a:solidFill>
                <a:srgbClr val="CC0000"/>
              </a:solidFill>
              <a:latin typeface="Times New Roman" panose="02020603050405020304" pitchFamily="18" charset="0"/>
              <a:ea typeface="黑体" panose="02010609060101010101" pitchFamily="49" charset="-122"/>
            </a:endParaRPr>
          </a:p>
          <a:p>
            <a:pPr eaLnBrk="0" hangingPunct="0"/>
            <a:r>
              <a:rPr lang="zh-CN" altLang="en-US" sz="2200" dirty="0">
                <a:solidFill>
                  <a:srgbClr val="CC0000"/>
                </a:solidFill>
                <a:latin typeface="Times New Roman" panose="02020603050405020304" pitchFamily="18" charset="0"/>
                <a:ea typeface="黑体" panose="02010609060101010101" pitchFamily="49" charset="-122"/>
              </a:rPr>
              <a:t>最终进位的延迟为多少？</a:t>
            </a:r>
            <a:endParaRPr lang="zh-CN" altLang="en-US" sz="2200" dirty="0">
              <a:solidFill>
                <a:srgbClr val="CC0000"/>
              </a:solidFill>
              <a:latin typeface="Times New Roman" panose="02020603050405020304" pitchFamily="18" charset="0"/>
              <a:ea typeface="黑体" panose="02010609060101010101" pitchFamily="49" charset="-122"/>
            </a:endParaRPr>
          </a:p>
        </p:txBody>
      </p:sp>
      <p:grpSp>
        <p:nvGrpSpPr>
          <p:cNvPr id="25604" name="Group 7"/>
          <p:cNvGrpSpPr/>
          <p:nvPr/>
        </p:nvGrpSpPr>
        <p:grpSpPr>
          <a:xfrm>
            <a:off x="342900" y="1725613"/>
            <a:ext cx="6372225" cy="2460625"/>
            <a:chOff x="1449" y="5463"/>
            <a:chExt cx="7981" cy="2101"/>
          </a:xfrm>
        </p:grpSpPr>
        <p:grpSp>
          <p:nvGrpSpPr>
            <p:cNvPr id="25605" name="Group 8"/>
            <p:cNvGrpSpPr/>
            <p:nvPr/>
          </p:nvGrpSpPr>
          <p:grpSpPr>
            <a:xfrm>
              <a:off x="2532" y="7222"/>
              <a:ext cx="5840" cy="342"/>
              <a:chOff x="2798" y="9063"/>
              <a:chExt cx="5840" cy="468"/>
            </a:xfrm>
          </p:grpSpPr>
          <p:sp>
            <p:nvSpPr>
              <p:cNvPr id="25606" name="AutoShape 9"/>
              <p:cNvSpPr/>
              <p:nvPr/>
            </p:nvSpPr>
            <p:spPr>
              <a:xfrm>
                <a:off x="2798" y="9063"/>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07" name="AutoShape 10"/>
              <p:cNvSpPr/>
              <p:nvPr/>
            </p:nvSpPr>
            <p:spPr>
              <a:xfrm>
                <a:off x="3323" y="9063"/>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08" name="AutoShape 11"/>
              <p:cNvSpPr/>
              <p:nvPr/>
            </p:nvSpPr>
            <p:spPr>
              <a:xfrm>
                <a:off x="4583" y="9063"/>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09" name="AutoShape 12"/>
              <p:cNvSpPr/>
              <p:nvPr/>
            </p:nvSpPr>
            <p:spPr>
              <a:xfrm>
                <a:off x="5108" y="9063"/>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10" name="AutoShape 13"/>
              <p:cNvSpPr/>
              <p:nvPr/>
            </p:nvSpPr>
            <p:spPr>
              <a:xfrm>
                <a:off x="6263" y="9063"/>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11" name="AutoShape 14"/>
              <p:cNvSpPr/>
              <p:nvPr/>
            </p:nvSpPr>
            <p:spPr>
              <a:xfrm>
                <a:off x="6788" y="9063"/>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12" name="AutoShape 15"/>
              <p:cNvSpPr/>
              <p:nvPr/>
            </p:nvSpPr>
            <p:spPr>
              <a:xfrm>
                <a:off x="7943" y="9063"/>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13" name="AutoShape 16"/>
              <p:cNvSpPr/>
              <p:nvPr/>
            </p:nvSpPr>
            <p:spPr>
              <a:xfrm>
                <a:off x="8468" y="9063"/>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25614" name="Group 17"/>
            <p:cNvGrpSpPr/>
            <p:nvPr/>
          </p:nvGrpSpPr>
          <p:grpSpPr>
            <a:xfrm>
              <a:off x="1449" y="5463"/>
              <a:ext cx="7981" cy="1740"/>
              <a:chOff x="1715" y="10090"/>
              <a:chExt cx="7981" cy="1740"/>
            </a:xfrm>
          </p:grpSpPr>
          <p:sp>
            <p:nvSpPr>
              <p:cNvPr id="25615" name="Freeform 18"/>
              <p:cNvSpPr/>
              <p:nvPr/>
            </p:nvSpPr>
            <p:spPr>
              <a:xfrm>
                <a:off x="8885" y="11493"/>
                <a:ext cx="811" cy="5"/>
              </a:xfrm>
              <a:custGeom>
                <a:avLst/>
                <a:gdLst/>
                <a:ahLst/>
                <a:cxnLst>
                  <a:cxn ang="0">
                    <a:pos x="811" y="0"/>
                  </a:cxn>
                  <a:cxn ang="0">
                    <a:pos x="0" y="5"/>
                  </a:cxn>
                </a:cxnLst>
                <a:pathLst>
                  <a:path w="811" h="5">
                    <a:moveTo>
                      <a:pt x="811" y="0"/>
                    </a:moveTo>
                    <a:lnTo>
                      <a:pt x="0" y="5"/>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16" name="Freeform 19"/>
              <p:cNvSpPr/>
              <p:nvPr/>
            </p:nvSpPr>
            <p:spPr>
              <a:xfrm>
                <a:off x="3744" y="11489"/>
                <a:ext cx="386" cy="3"/>
              </a:xfrm>
              <a:custGeom>
                <a:avLst/>
                <a:gdLst/>
                <a:ahLst/>
                <a:cxnLst>
                  <a:cxn ang="0">
                    <a:pos x="386" y="0"/>
                  </a:cxn>
                  <a:cxn ang="0">
                    <a:pos x="0" y="3"/>
                  </a:cxn>
                </a:cxnLst>
                <a:pathLst>
                  <a:path w="386" h="3">
                    <a:moveTo>
                      <a:pt x="386" y="0"/>
                    </a:moveTo>
                    <a:lnTo>
                      <a:pt x="0" y="3"/>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17" name="Line 20"/>
              <p:cNvSpPr/>
              <p:nvPr/>
            </p:nvSpPr>
            <p:spPr>
              <a:xfrm flipH="1">
                <a:off x="1715" y="11465"/>
                <a:ext cx="420" cy="0"/>
              </a:xfrm>
              <a:prstGeom prst="line">
                <a:avLst/>
              </a:prstGeom>
              <a:ln w="9525" cap="flat" cmpd="sng">
                <a:solidFill>
                  <a:srgbClr val="000000"/>
                </a:solidFill>
                <a:prstDash val="solid"/>
                <a:round/>
                <a:headEnd type="none" w="med" len="med"/>
                <a:tailEnd type="triangle" w="sm" len="med"/>
              </a:ln>
            </p:spPr>
          </p:sp>
          <p:sp>
            <p:nvSpPr>
              <p:cNvPr id="25618" name="AutoShape 21"/>
              <p:cNvSpPr/>
              <p:nvPr/>
            </p:nvSpPr>
            <p:spPr>
              <a:xfrm>
                <a:off x="2765" y="10850"/>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19" name="AutoShape 22"/>
              <p:cNvSpPr/>
              <p:nvPr/>
            </p:nvSpPr>
            <p:spPr>
              <a:xfrm>
                <a:off x="7910" y="10850"/>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20" name="AutoShape 23"/>
              <p:cNvSpPr/>
              <p:nvPr/>
            </p:nvSpPr>
            <p:spPr>
              <a:xfrm>
                <a:off x="6230" y="10850"/>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21" name="AutoShape 24"/>
              <p:cNvSpPr/>
              <p:nvPr/>
            </p:nvSpPr>
            <p:spPr>
              <a:xfrm>
                <a:off x="4550" y="10850"/>
                <a:ext cx="170" cy="468"/>
              </a:xfrm>
              <a:prstGeom prst="upArrow">
                <a:avLst>
                  <a:gd name="adj1" fmla="val 50000"/>
                  <a:gd name="adj2" fmla="val 68734"/>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22" name="Rectangle 25"/>
              <p:cNvSpPr/>
              <p:nvPr/>
            </p:nvSpPr>
            <p:spPr>
              <a:xfrm>
                <a:off x="2450" y="10090"/>
                <a:ext cx="6930" cy="45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r>
                  <a:rPr lang="en-US" altLang="zh-CN" sz="2200" b="0" dirty="0">
                    <a:solidFill>
                      <a:srgbClr val="3333FF"/>
                    </a:solidFill>
                    <a:latin typeface="Arial" panose="020B0604020202020204" pitchFamily="34" charset="0"/>
                    <a:ea typeface="黑体" panose="02010609060101010101" pitchFamily="49" charset="-122"/>
                  </a:rPr>
                  <a:t>4</a:t>
                </a:r>
                <a:r>
                  <a:rPr lang="zh-CN" altLang="en-US" sz="2200" b="0" dirty="0">
                    <a:solidFill>
                      <a:srgbClr val="3333FF"/>
                    </a:solidFill>
                    <a:latin typeface="Arial" panose="020B0604020202020204" pitchFamily="34" charset="0"/>
                    <a:ea typeface="黑体" panose="02010609060101010101" pitchFamily="49" charset="-122"/>
                  </a:rPr>
                  <a:t>位成组先行进位部件（</a:t>
                </a:r>
                <a:r>
                  <a:rPr lang="en-US" altLang="zh-CN" sz="2200" b="0" dirty="0">
                    <a:solidFill>
                      <a:srgbClr val="3333FF"/>
                    </a:solidFill>
                    <a:latin typeface="Arial" panose="020B0604020202020204" pitchFamily="34" charset="0"/>
                    <a:ea typeface="黑体" panose="02010609060101010101" pitchFamily="49" charset="-122"/>
                  </a:rPr>
                  <a:t>4</a:t>
                </a:r>
                <a:r>
                  <a:rPr lang="zh-CN" altLang="en-US" sz="2200" b="0" dirty="0">
                    <a:solidFill>
                      <a:srgbClr val="3333FF"/>
                    </a:solidFill>
                    <a:latin typeface="Arial" panose="020B0604020202020204" pitchFamily="34" charset="0"/>
                    <a:ea typeface="黑体" panose="02010609060101010101" pitchFamily="49" charset="-122"/>
                  </a:rPr>
                  <a:t>位</a:t>
                </a:r>
                <a:r>
                  <a:rPr lang="en-US" altLang="zh-CN" sz="2200" b="0" dirty="0">
                    <a:solidFill>
                      <a:srgbClr val="3333FF"/>
                    </a:solidFill>
                    <a:latin typeface="Arial" panose="020B0604020202020204" pitchFamily="34" charset="0"/>
                    <a:ea typeface="黑体" panose="02010609060101010101" pitchFamily="49" charset="-122"/>
                  </a:rPr>
                  <a:t>BCLU</a:t>
                </a:r>
                <a:r>
                  <a:rPr lang="zh-CN" altLang="en-US" sz="2200" b="0" dirty="0">
                    <a:solidFill>
                      <a:srgbClr val="3333FF"/>
                    </a:solidFill>
                    <a:latin typeface="Arial" panose="020B0604020202020204" pitchFamily="34" charset="0"/>
                    <a:ea typeface="黑体" panose="02010609060101010101" pitchFamily="49" charset="-122"/>
                  </a:rPr>
                  <a:t>部件）</a:t>
                </a:r>
                <a:endParaRPr lang="zh-CN" altLang="en-US" sz="2200" dirty="0">
                  <a:solidFill>
                    <a:srgbClr val="3333FF"/>
                  </a:solidFill>
                  <a:latin typeface="Arial" panose="020B0604020202020204" pitchFamily="34" charset="0"/>
                  <a:ea typeface="黑体" panose="02010609060101010101" pitchFamily="49" charset="-122"/>
                </a:endParaRPr>
              </a:p>
            </p:txBody>
          </p:sp>
          <p:sp>
            <p:nvSpPr>
              <p:cNvPr id="25623" name="Freeform 26"/>
              <p:cNvSpPr/>
              <p:nvPr/>
            </p:nvSpPr>
            <p:spPr>
              <a:xfrm>
                <a:off x="3290" y="10550"/>
                <a:ext cx="2" cy="925"/>
              </a:xfrm>
              <a:custGeom>
                <a:avLst/>
                <a:gdLst/>
                <a:ahLst/>
                <a:cxnLst>
                  <a:cxn ang="0">
                    <a:pos x="2" y="152963"/>
                  </a:cxn>
                  <a:cxn ang="0">
                    <a:pos x="0" y="0"/>
                  </a:cxn>
                </a:cxnLst>
                <a:pathLst>
                  <a:path w="2" h="760">
                    <a:moveTo>
                      <a:pt x="2" y="760"/>
                    </a:moveTo>
                    <a:lnTo>
                      <a:pt x="0" y="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24" name="Freeform 27"/>
              <p:cNvSpPr/>
              <p:nvPr/>
            </p:nvSpPr>
            <p:spPr>
              <a:xfrm>
                <a:off x="3457" y="10538"/>
                <a:ext cx="1" cy="940"/>
              </a:xfrm>
              <a:custGeom>
                <a:avLst/>
                <a:gdLst/>
                <a:ahLst/>
                <a:cxnLst>
                  <a:cxn ang="0">
                    <a:pos x="0" y="157238"/>
                  </a:cxn>
                  <a:cxn ang="0">
                    <a:pos x="1" y="0"/>
                  </a:cxn>
                </a:cxnLst>
                <a:pathLst>
                  <a:path w="1" h="772">
                    <a:moveTo>
                      <a:pt x="0" y="772"/>
                    </a:moveTo>
                    <a:lnTo>
                      <a:pt x="1" y="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25" name="Freeform 28"/>
              <p:cNvSpPr/>
              <p:nvPr/>
            </p:nvSpPr>
            <p:spPr>
              <a:xfrm>
                <a:off x="5075" y="10550"/>
                <a:ext cx="2" cy="912"/>
              </a:xfrm>
              <a:custGeom>
                <a:avLst/>
                <a:gdLst/>
                <a:ahLst/>
                <a:cxnLst>
                  <a:cxn ang="0">
                    <a:pos x="2" y="104394"/>
                  </a:cxn>
                  <a:cxn ang="0">
                    <a:pos x="0" y="0"/>
                  </a:cxn>
                </a:cxnLst>
                <a:pathLst>
                  <a:path w="2" h="760">
                    <a:moveTo>
                      <a:pt x="2" y="760"/>
                    </a:moveTo>
                    <a:lnTo>
                      <a:pt x="0" y="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26" name="Freeform 29"/>
              <p:cNvSpPr/>
              <p:nvPr/>
            </p:nvSpPr>
            <p:spPr>
              <a:xfrm>
                <a:off x="5242" y="10538"/>
                <a:ext cx="1" cy="926"/>
              </a:xfrm>
              <a:custGeom>
                <a:avLst/>
                <a:gdLst/>
                <a:ahLst/>
                <a:cxnLst>
                  <a:cxn ang="0">
                    <a:pos x="0" y="104903"/>
                  </a:cxn>
                  <a:cxn ang="0">
                    <a:pos x="1" y="0"/>
                  </a:cxn>
                </a:cxnLst>
                <a:pathLst>
                  <a:path w="1" h="772">
                    <a:moveTo>
                      <a:pt x="0" y="772"/>
                    </a:moveTo>
                    <a:lnTo>
                      <a:pt x="1" y="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27" name="Freeform 30"/>
              <p:cNvSpPr/>
              <p:nvPr/>
            </p:nvSpPr>
            <p:spPr>
              <a:xfrm>
                <a:off x="6755" y="10538"/>
                <a:ext cx="2" cy="912"/>
              </a:xfrm>
              <a:custGeom>
                <a:avLst/>
                <a:gdLst/>
                <a:ahLst/>
                <a:cxnLst>
                  <a:cxn ang="0">
                    <a:pos x="2" y="104394"/>
                  </a:cxn>
                  <a:cxn ang="0">
                    <a:pos x="0" y="0"/>
                  </a:cxn>
                </a:cxnLst>
                <a:pathLst>
                  <a:path w="2" h="760">
                    <a:moveTo>
                      <a:pt x="2" y="760"/>
                    </a:moveTo>
                    <a:lnTo>
                      <a:pt x="0" y="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28" name="Freeform 31"/>
              <p:cNvSpPr/>
              <p:nvPr/>
            </p:nvSpPr>
            <p:spPr>
              <a:xfrm>
                <a:off x="6965" y="10538"/>
                <a:ext cx="1" cy="926"/>
              </a:xfrm>
              <a:custGeom>
                <a:avLst/>
                <a:gdLst/>
                <a:ahLst/>
                <a:cxnLst>
                  <a:cxn ang="0">
                    <a:pos x="0" y="104903"/>
                  </a:cxn>
                  <a:cxn ang="0">
                    <a:pos x="1" y="0"/>
                  </a:cxn>
                </a:cxnLst>
                <a:pathLst>
                  <a:path w="1" h="772">
                    <a:moveTo>
                      <a:pt x="0" y="772"/>
                    </a:moveTo>
                    <a:lnTo>
                      <a:pt x="1" y="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29" name="Freeform 32"/>
              <p:cNvSpPr/>
              <p:nvPr/>
            </p:nvSpPr>
            <p:spPr>
              <a:xfrm>
                <a:off x="8373" y="10550"/>
                <a:ext cx="2" cy="912"/>
              </a:xfrm>
              <a:custGeom>
                <a:avLst/>
                <a:gdLst/>
                <a:ahLst/>
                <a:cxnLst>
                  <a:cxn ang="0">
                    <a:pos x="2" y="104394"/>
                  </a:cxn>
                  <a:cxn ang="0">
                    <a:pos x="0" y="0"/>
                  </a:cxn>
                </a:cxnLst>
                <a:pathLst>
                  <a:path w="2" h="760">
                    <a:moveTo>
                      <a:pt x="2" y="760"/>
                    </a:moveTo>
                    <a:lnTo>
                      <a:pt x="0" y="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30" name="Freeform 33"/>
              <p:cNvSpPr/>
              <p:nvPr/>
            </p:nvSpPr>
            <p:spPr>
              <a:xfrm>
                <a:off x="8540" y="10538"/>
                <a:ext cx="1" cy="926"/>
              </a:xfrm>
              <a:custGeom>
                <a:avLst/>
                <a:gdLst/>
                <a:ahLst/>
                <a:cxnLst>
                  <a:cxn ang="0">
                    <a:pos x="0" y="104903"/>
                  </a:cxn>
                  <a:cxn ang="0">
                    <a:pos x="1" y="0"/>
                  </a:cxn>
                </a:cxnLst>
                <a:pathLst>
                  <a:path w="1" h="772">
                    <a:moveTo>
                      <a:pt x="0" y="772"/>
                    </a:moveTo>
                    <a:lnTo>
                      <a:pt x="1" y="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31" name="Freeform 34"/>
              <p:cNvSpPr/>
              <p:nvPr/>
            </p:nvSpPr>
            <p:spPr>
              <a:xfrm>
                <a:off x="4128" y="10536"/>
                <a:ext cx="2" cy="977"/>
              </a:xfrm>
              <a:custGeom>
                <a:avLst/>
                <a:gdLst/>
                <a:ahLst/>
                <a:cxnLst>
                  <a:cxn ang="0">
                    <a:pos x="2" y="0"/>
                  </a:cxn>
                  <a:cxn ang="0">
                    <a:pos x="0" y="977"/>
                  </a:cxn>
                </a:cxnLst>
                <a:pathLst>
                  <a:path w="2" h="977">
                    <a:moveTo>
                      <a:pt x="2" y="0"/>
                    </a:moveTo>
                    <a:lnTo>
                      <a:pt x="0" y="97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25632" name="Rectangle 35"/>
              <p:cNvSpPr/>
              <p:nvPr/>
            </p:nvSpPr>
            <p:spPr>
              <a:xfrm>
                <a:off x="2555" y="11206"/>
                <a:ext cx="1191"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lnSpc>
                    <a:spcPct val="88000"/>
                  </a:lnSpc>
                </a:pP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a:t>
                </a:r>
                <a:r>
                  <a:rPr lang="en-US" altLang="zh-CN" sz="1800" dirty="0">
                    <a:latin typeface="黑体" panose="02010609060101010101" pitchFamily="49" charset="-122"/>
                    <a:ea typeface="黑体" panose="02010609060101010101" pitchFamily="49" charset="-122"/>
                  </a:rPr>
                  <a:t>CLA</a:t>
                </a:r>
                <a:r>
                  <a:rPr lang="zh-CN" altLang="en-US" sz="1800" dirty="0">
                    <a:latin typeface="黑体" panose="02010609060101010101" pitchFamily="49" charset="-122"/>
                    <a:ea typeface="黑体" panose="02010609060101010101" pitchFamily="49" charset="-122"/>
                  </a:rPr>
                  <a:t>加法器</a:t>
                </a:r>
                <a:endParaRPr lang="zh-CN" altLang="en-US" sz="1800" dirty="0">
                  <a:latin typeface="黑体" panose="02010609060101010101" pitchFamily="49" charset="-122"/>
                  <a:ea typeface="黑体" panose="02010609060101010101" pitchFamily="49" charset="-122"/>
                </a:endParaRPr>
              </a:p>
            </p:txBody>
          </p:sp>
          <p:sp>
            <p:nvSpPr>
              <p:cNvPr id="25633" name="Rectangle 36"/>
              <p:cNvSpPr/>
              <p:nvPr/>
            </p:nvSpPr>
            <p:spPr>
              <a:xfrm>
                <a:off x="4327" y="11206"/>
                <a:ext cx="1191"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lnSpc>
                    <a:spcPct val="88000"/>
                  </a:lnSpc>
                </a:pP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a:t>
                </a:r>
                <a:r>
                  <a:rPr lang="en-US" altLang="zh-CN" sz="1800" dirty="0">
                    <a:latin typeface="黑体" panose="02010609060101010101" pitchFamily="49" charset="-122"/>
                    <a:ea typeface="黑体" panose="02010609060101010101" pitchFamily="49" charset="-122"/>
                  </a:rPr>
                  <a:t>CLA</a:t>
                </a:r>
                <a:r>
                  <a:rPr lang="zh-CN" altLang="en-US" sz="1800" dirty="0">
                    <a:latin typeface="黑体" panose="02010609060101010101" pitchFamily="49" charset="-122"/>
                    <a:ea typeface="黑体" panose="02010609060101010101" pitchFamily="49" charset="-122"/>
                  </a:rPr>
                  <a:t>加法器</a:t>
                </a:r>
                <a:endParaRPr lang="zh-CN" altLang="en-US" sz="1800" dirty="0">
                  <a:latin typeface="黑体" panose="02010609060101010101" pitchFamily="49" charset="-122"/>
                  <a:ea typeface="黑体" panose="02010609060101010101" pitchFamily="49" charset="-122"/>
                </a:endParaRPr>
              </a:p>
            </p:txBody>
          </p:sp>
          <p:sp>
            <p:nvSpPr>
              <p:cNvPr id="25634" name="Rectangle 37"/>
              <p:cNvSpPr/>
              <p:nvPr/>
            </p:nvSpPr>
            <p:spPr>
              <a:xfrm>
                <a:off x="6023" y="11206"/>
                <a:ext cx="1191"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lnSpc>
                    <a:spcPct val="88000"/>
                  </a:lnSpc>
                </a:pP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a:t>
                </a:r>
                <a:r>
                  <a:rPr lang="en-US" altLang="zh-CN" sz="1800" dirty="0">
                    <a:latin typeface="黑体" panose="02010609060101010101" pitchFamily="49" charset="-122"/>
                    <a:ea typeface="黑体" panose="02010609060101010101" pitchFamily="49" charset="-122"/>
                  </a:rPr>
                  <a:t>CLA</a:t>
                </a:r>
                <a:r>
                  <a:rPr lang="zh-CN" altLang="en-US" sz="1800" dirty="0">
                    <a:latin typeface="黑体" panose="02010609060101010101" pitchFamily="49" charset="-122"/>
                    <a:ea typeface="黑体" panose="02010609060101010101" pitchFamily="49" charset="-122"/>
                  </a:rPr>
                  <a:t>加法器</a:t>
                </a:r>
                <a:endParaRPr lang="zh-CN" altLang="en-US" sz="1800" dirty="0">
                  <a:latin typeface="黑体" panose="02010609060101010101" pitchFamily="49" charset="-122"/>
                  <a:ea typeface="黑体" panose="02010609060101010101" pitchFamily="49" charset="-122"/>
                </a:endParaRPr>
              </a:p>
            </p:txBody>
          </p:sp>
          <p:sp>
            <p:nvSpPr>
              <p:cNvPr id="25635" name="Rectangle 38"/>
              <p:cNvSpPr/>
              <p:nvPr/>
            </p:nvSpPr>
            <p:spPr>
              <a:xfrm>
                <a:off x="7703" y="11206"/>
                <a:ext cx="1191" cy="62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lnSpc>
                    <a:spcPct val="88000"/>
                  </a:lnSpc>
                </a:pP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a:t>
                </a:r>
                <a:r>
                  <a:rPr lang="en-US" altLang="zh-CN" sz="1800" dirty="0">
                    <a:latin typeface="黑体" panose="02010609060101010101" pitchFamily="49" charset="-122"/>
                    <a:ea typeface="黑体" panose="02010609060101010101" pitchFamily="49" charset="-122"/>
                  </a:rPr>
                  <a:t>CLA</a:t>
                </a:r>
                <a:r>
                  <a:rPr lang="zh-CN" altLang="en-US" sz="1800" dirty="0">
                    <a:latin typeface="黑体" panose="02010609060101010101" pitchFamily="49" charset="-122"/>
                    <a:ea typeface="黑体" panose="02010609060101010101" pitchFamily="49" charset="-122"/>
                  </a:rPr>
                  <a:t>加法器</a:t>
                </a:r>
                <a:endParaRPr lang="zh-CN" altLang="en-US" sz="1800" dirty="0">
                  <a:latin typeface="黑体" panose="02010609060101010101" pitchFamily="49" charset="-122"/>
                  <a:ea typeface="黑体" panose="02010609060101010101" pitchFamily="49" charset="-122"/>
                </a:endParaRPr>
              </a:p>
            </p:txBody>
          </p:sp>
          <p:sp>
            <p:nvSpPr>
              <p:cNvPr id="25636" name="Freeform 39"/>
              <p:cNvSpPr/>
              <p:nvPr/>
            </p:nvSpPr>
            <p:spPr>
              <a:xfrm>
                <a:off x="5520" y="11489"/>
                <a:ext cx="395" cy="3"/>
              </a:xfrm>
              <a:custGeom>
                <a:avLst/>
                <a:gdLst/>
                <a:ahLst/>
                <a:cxnLst>
                  <a:cxn ang="0">
                    <a:pos x="395" y="0"/>
                  </a:cxn>
                  <a:cxn ang="0">
                    <a:pos x="0" y="3"/>
                  </a:cxn>
                </a:cxnLst>
                <a:pathLst>
                  <a:path w="395" h="3">
                    <a:moveTo>
                      <a:pt x="395" y="0"/>
                    </a:moveTo>
                    <a:lnTo>
                      <a:pt x="0" y="3"/>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37" name="Line 40"/>
              <p:cNvSpPr/>
              <p:nvPr/>
            </p:nvSpPr>
            <p:spPr>
              <a:xfrm>
                <a:off x="5915" y="10544"/>
                <a:ext cx="0" cy="975"/>
              </a:xfrm>
              <a:prstGeom prst="line">
                <a:avLst/>
              </a:prstGeom>
              <a:ln w="9525" cap="flat" cmpd="sng">
                <a:solidFill>
                  <a:srgbClr val="000000"/>
                </a:solidFill>
                <a:prstDash val="solid"/>
                <a:round/>
                <a:headEnd type="none" w="med" len="med"/>
                <a:tailEnd type="none" w="med" len="med"/>
              </a:ln>
            </p:spPr>
          </p:sp>
          <p:sp>
            <p:nvSpPr>
              <p:cNvPr id="25638" name="Freeform 41"/>
              <p:cNvSpPr/>
              <p:nvPr/>
            </p:nvSpPr>
            <p:spPr>
              <a:xfrm>
                <a:off x="7212" y="11489"/>
                <a:ext cx="383" cy="3"/>
              </a:xfrm>
              <a:custGeom>
                <a:avLst/>
                <a:gdLst/>
                <a:ahLst/>
                <a:cxnLst>
                  <a:cxn ang="0">
                    <a:pos x="383" y="0"/>
                  </a:cxn>
                  <a:cxn ang="0">
                    <a:pos x="0" y="3"/>
                  </a:cxn>
                </a:cxnLst>
                <a:pathLst>
                  <a:path w="383" h="3">
                    <a:moveTo>
                      <a:pt x="383" y="0"/>
                    </a:moveTo>
                    <a:lnTo>
                      <a:pt x="0" y="3"/>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25639" name="Line 42"/>
              <p:cNvSpPr/>
              <p:nvPr/>
            </p:nvSpPr>
            <p:spPr>
              <a:xfrm>
                <a:off x="7595" y="10544"/>
                <a:ext cx="0" cy="975"/>
              </a:xfrm>
              <a:prstGeom prst="line">
                <a:avLst/>
              </a:prstGeom>
              <a:ln w="9525" cap="flat" cmpd="sng">
                <a:solidFill>
                  <a:srgbClr val="000000"/>
                </a:solidFill>
                <a:prstDash val="solid"/>
                <a:round/>
                <a:headEnd type="none" w="med" len="med"/>
                <a:tailEnd type="none" w="med" len="med"/>
              </a:ln>
            </p:spPr>
          </p:sp>
          <p:sp>
            <p:nvSpPr>
              <p:cNvPr id="25640" name="Freeform 43"/>
              <p:cNvSpPr/>
              <p:nvPr/>
            </p:nvSpPr>
            <p:spPr>
              <a:xfrm>
                <a:off x="9695" y="10276"/>
                <a:ext cx="1" cy="1237"/>
              </a:xfrm>
              <a:custGeom>
                <a:avLst/>
                <a:gdLst/>
                <a:ahLst/>
                <a:cxnLst>
                  <a:cxn ang="0">
                    <a:pos x="0" y="0"/>
                  </a:cxn>
                  <a:cxn ang="0">
                    <a:pos x="1" y="1237"/>
                  </a:cxn>
                </a:cxnLst>
                <a:pathLst>
                  <a:path w="1" h="1237">
                    <a:moveTo>
                      <a:pt x="0" y="0"/>
                    </a:moveTo>
                    <a:lnTo>
                      <a:pt x="1" y="1237"/>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25641" name="Line 44"/>
              <p:cNvSpPr/>
              <p:nvPr/>
            </p:nvSpPr>
            <p:spPr>
              <a:xfrm flipH="1">
                <a:off x="9380" y="10279"/>
                <a:ext cx="315" cy="0"/>
              </a:xfrm>
              <a:prstGeom prst="line">
                <a:avLst/>
              </a:prstGeom>
              <a:ln w="9525" cap="flat" cmpd="sng">
                <a:solidFill>
                  <a:srgbClr val="000000"/>
                </a:solidFill>
                <a:prstDash val="solid"/>
                <a:round/>
                <a:headEnd type="none" w="med" len="med"/>
                <a:tailEnd type="triangle" w="sm" len="med"/>
              </a:ln>
            </p:spPr>
          </p:sp>
          <p:sp>
            <p:nvSpPr>
              <p:cNvPr id="25642" name="Freeform 45"/>
              <p:cNvSpPr/>
              <p:nvPr/>
            </p:nvSpPr>
            <p:spPr>
              <a:xfrm>
                <a:off x="2135" y="10276"/>
                <a:ext cx="1" cy="1189"/>
              </a:xfrm>
              <a:custGeom>
                <a:avLst/>
                <a:gdLst/>
                <a:ahLst/>
                <a:cxnLst>
                  <a:cxn ang="0">
                    <a:pos x="0" y="0"/>
                  </a:cxn>
                  <a:cxn ang="0">
                    <a:pos x="1" y="1189"/>
                  </a:cxn>
                </a:cxnLst>
                <a:pathLst>
                  <a:path w="1" h="1189">
                    <a:moveTo>
                      <a:pt x="0" y="0"/>
                    </a:moveTo>
                    <a:lnTo>
                      <a:pt x="1" y="1189"/>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25643" name="Line 46"/>
              <p:cNvSpPr/>
              <p:nvPr/>
            </p:nvSpPr>
            <p:spPr>
              <a:xfrm>
                <a:off x="2135" y="10276"/>
                <a:ext cx="315" cy="0"/>
              </a:xfrm>
              <a:prstGeom prst="line">
                <a:avLst/>
              </a:prstGeom>
              <a:ln w="9525" cap="flat" cmpd="sng">
                <a:solidFill>
                  <a:srgbClr val="000000"/>
                </a:solidFill>
                <a:prstDash val="solid"/>
                <a:round/>
                <a:headEnd type="none" w="med" len="med"/>
                <a:tailEnd type="none" w="med" len="med"/>
              </a:ln>
            </p:spPr>
          </p:sp>
        </p:grpSp>
      </p:grpSp>
      <p:sp>
        <p:nvSpPr>
          <p:cNvPr id="25644" name="Text Box 47"/>
          <p:cNvSpPr txBox="1"/>
          <p:nvPr/>
        </p:nvSpPr>
        <p:spPr>
          <a:xfrm>
            <a:off x="1803400" y="1003300"/>
            <a:ext cx="3933825" cy="457200"/>
          </a:xfrm>
          <a:prstGeom prst="rect">
            <a:avLst/>
          </a:prstGeom>
          <a:noFill/>
          <a:ln w="12700">
            <a:noFill/>
          </a:ln>
        </p:spPr>
        <p:txBody>
          <a:bodyPr anchor="t" anchorCtr="0">
            <a:spAutoFit/>
          </a:bodyPr>
          <a:p>
            <a:pPr eaLnBrk="0" hangingPunct="0">
              <a:spcBef>
                <a:spcPct val="50000"/>
              </a:spcBef>
            </a:pPr>
            <a:r>
              <a:rPr lang="en-US" altLang="zh-CN" sz="2400" dirty="0">
                <a:latin typeface="黑体" panose="02010609060101010101" pitchFamily="49" charset="-122"/>
                <a:ea typeface="黑体" panose="02010609060101010101" pitchFamily="49" charset="-122"/>
              </a:rPr>
              <a:t>16</a:t>
            </a:r>
            <a:r>
              <a:rPr lang="zh-CN" altLang="en-US" sz="2400" dirty="0">
                <a:latin typeface="黑体" panose="02010609060101010101" pitchFamily="49" charset="-122"/>
                <a:ea typeface="黑体" panose="02010609060101010101" pitchFamily="49" charset="-122"/>
              </a:rPr>
              <a:t>位两级先行进位加法器</a:t>
            </a:r>
            <a:endParaRPr lang="zh-CN" altLang="en-US" sz="2400" dirty="0">
              <a:latin typeface="黑体" panose="02010609060101010101" pitchFamily="49" charset="-122"/>
              <a:ea typeface="黑体" panose="02010609060101010101" pitchFamily="49" charset="-122"/>
            </a:endParaRPr>
          </a:p>
        </p:txBody>
      </p:sp>
      <p:grpSp>
        <p:nvGrpSpPr>
          <p:cNvPr id="25645" name="Group 48"/>
          <p:cNvGrpSpPr/>
          <p:nvPr/>
        </p:nvGrpSpPr>
        <p:grpSpPr>
          <a:xfrm>
            <a:off x="1282700" y="3784600"/>
            <a:ext cx="4521200" cy="520700"/>
            <a:chOff x="794" y="3770"/>
            <a:chExt cx="2848" cy="328"/>
          </a:xfrm>
        </p:grpSpPr>
        <p:sp>
          <p:nvSpPr>
            <p:cNvPr id="25646" name="Line 49"/>
            <p:cNvSpPr/>
            <p:nvPr/>
          </p:nvSpPr>
          <p:spPr>
            <a:xfrm flipV="1">
              <a:off x="3636" y="3822"/>
              <a:ext cx="6" cy="276"/>
            </a:xfrm>
            <a:prstGeom prst="line">
              <a:avLst/>
            </a:prstGeom>
            <a:ln w="38100" cap="flat" cmpd="sng">
              <a:solidFill>
                <a:srgbClr val="CC0000"/>
              </a:solidFill>
              <a:prstDash val="solid"/>
              <a:round/>
              <a:headEnd type="none" w="med" len="med"/>
              <a:tailEnd type="none" w="med" len="med"/>
            </a:ln>
          </p:spPr>
        </p:sp>
        <p:sp>
          <p:nvSpPr>
            <p:cNvPr id="25647" name="Line 50"/>
            <p:cNvSpPr/>
            <p:nvPr/>
          </p:nvSpPr>
          <p:spPr>
            <a:xfrm flipV="1">
              <a:off x="3382" y="3814"/>
              <a:ext cx="6" cy="276"/>
            </a:xfrm>
            <a:prstGeom prst="line">
              <a:avLst/>
            </a:prstGeom>
            <a:ln w="38100" cap="flat" cmpd="sng">
              <a:solidFill>
                <a:srgbClr val="CC0000"/>
              </a:solidFill>
              <a:prstDash val="solid"/>
              <a:round/>
              <a:headEnd type="none" w="med" len="med"/>
              <a:tailEnd type="none" w="med" len="med"/>
            </a:ln>
          </p:spPr>
        </p:sp>
        <p:sp>
          <p:nvSpPr>
            <p:cNvPr id="25648" name="Line 51"/>
            <p:cNvSpPr/>
            <p:nvPr/>
          </p:nvSpPr>
          <p:spPr>
            <a:xfrm flipV="1">
              <a:off x="2794" y="3784"/>
              <a:ext cx="6" cy="276"/>
            </a:xfrm>
            <a:prstGeom prst="line">
              <a:avLst/>
            </a:prstGeom>
            <a:ln w="38100" cap="flat" cmpd="sng">
              <a:solidFill>
                <a:srgbClr val="CC0000"/>
              </a:solidFill>
              <a:prstDash val="solid"/>
              <a:round/>
              <a:headEnd type="none" w="med" len="med"/>
              <a:tailEnd type="none" w="med" len="med"/>
            </a:ln>
          </p:spPr>
        </p:sp>
        <p:sp>
          <p:nvSpPr>
            <p:cNvPr id="25649" name="Line 52"/>
            <p:cNvSpPr/>
            <p:nvPr/>
          </p:nvSpPr>
          <p:spPr>
            <a:xfrm flipV="1">
              <a:off x="2540" y="3776"/>
              <a:ext cx="6" cy="276"/>
            </a:xfrm>
            <a:prstGeom prst="line">
              <a:avLst/>
            </a:prstGeom>
            <a:ln w="38100" cap="flat" cmpd="sng">
              <a:solidFill>
                <a:srgbClr val="CC0000"/>
              </a:solidFill>
              <a:prstDash val="solid"/>
              <a:round/>
              <a:headEnd type="none" w="med" len="med"/>
              <a:tailEnd type="none" w="med" len="med"/>
            </a:ln>
          </p:spPr>
        </p:sp>
        <p:sp>
          <p:nvSpPr>
            <p:cNvPr id="25650" name="Line 53"/>
            <p:cNvSpPr/>
            <p:nvPr/>
          </p:nvSpPr>
          <p:spPr>
            <a:xfrm flipV="1">
              <a:off x="1954" y="3778"/>
              <a:ext cx="6" cy="276"/>
            </a:xfrm>
            <a:prstGeom prst="line">
              <a:avLst/>
            </a:prstGeom>
            <a:ln w="38100" cap="flat" cmpd="sng">
              <a:solidFill>
                <a:srgbClr val="CC0000"/>
              </a:solidFill>
              <a:prstDash val="solid"/>
              <a:round/>
              <a:headEnd type="none" w="med" len="med"/>
              <a:tailEnd type="none" w="med" len="med"/>
            </a:ln>
          </p:spPr>
        </p:sp>
        <p:sp>
          <p:nvSpPr>
            <p:cNvPr id="25651" name="Line 54"/>
            <p:cNvSpPr/>
            <p:nvPr/>
          </p:nvSpPr>
          <p:spPr>
            <a:xfrm flipV="1">
              <a:off x="1700" y="3770"/>
              <a:ext cx="6" cy="276"/>
            </a:xfrm>
            <a:prstGeom prst="line">
              <a:avLst/>
            </a:prstGeom>
            <a:ln w="38100" cap="flat" cmpd="sng">
              <a:solidFill>
                <a:srgbClr val="CC0000"/>
              </a:solidFill>
              <a:prstDash val="solid"/>
              <a:round/>
              <a:headEnd type="none" w="med" len="med"/>
              <a:tailEnd type="none" w="med" len="med"/>
            </a:ln>
          </p:spPr>
        </p:sp>
        <p:sp>
          <p:nvSpPr>
            <p:cNvPr id="25652" name="Line 55"/>
            <p:cNvSpPr/>
            <p:nvPr/>
          </p:nvSpPr>
          <p:spPr>
            <a:xfrm flipV="1">
              <a:off x="1048" y="3784"/>
              <a:ext cx="6" cy="276"/>
            </a:xfrm>
            <a:prstGeom prst="line">
              <a:avLst/>
            </a:prstGeom>
            <a:ln w="38100" cap="flat" cmpd="sng">
              <a:solidFill>
                <a:srgbClr val="CC0000"/>
              </a:solidFill>
              <a:prstDash val="solid"/>
              <a:round/>
              <a:headEnd type="none" w="med" len="med"/>
              <a:tailEnd type="none" w="med" len="med"/>
            </a:ln>
          </p:spPr>
        </p:sp>
        <p:sp>
          <p:nvSpPr>
            <p:cNvPr id="25653" name="Line 56"/>
            <p:cNvSpPr/>
            <p:nvPr/>
          </p:nvSpPr>
          <p:spPr>
            <a:xfrm flipV="1">
              <a:off x="794" y="3776"/>
              <a:ext cx="6" cy="276"/>
            </a:xfrm>
            <a:prstGeom prst="line">
              <a:avLst/>
            </a:prstGeom>
            <a:ln w="38100" cap="flat" cmpd="sng">
              <a:solidFill>
                <a:srgbClr val="CC0000"/>
              </a:solidFill>
              <a:prstDash val="solid"/>
              <a:round/>
              <a:headEnd type="none" w="med" len="med"/>
              <a:tailEnd type="none" w="med" len="med"/>
            </a:ln>
          </p:spPr>
        </p:sp>
      </p:grpSp>
      <p:grpSp>
        <p:nvGrpSpPr>
          <p:cNvPr id="25654" name="Group 57"/>
          <p:cNvGrpSpPr/>
          <p:nvPr/>
        </p:nvGrpSpPr>
        <p:grpSpPr>
          <a:xfrm>
            <a:off x="3013075" y="2270125"/>
            <a:ext cx="2778125" cy="781050"/>
            <a:chOff x="1884" y="3254"/>
            <a:chExt cx="1750" cy="288"/>
          </a:xfrm>
        </p:grpSpPr>
        <p:grpSp>
          <p:nvGrpSpPr>
            <p:cNvPr id="25655" name="Group 58"/>
            <p:cNvGrpSpPr/>
            <p:nvPr/>
          </p:nvGrpSpPr>
          <p:grpSpPr>
            <a:xfrm>
              <a:off x="3536" y="3254"/>
              <a:ext cx="98" cy="284"/>
              <a:chOff x="3518" y="3950"/>
              <a:chExt cx="260" cy="284"/>
            </a:xfrm>
          </p:grpSpPr>
          <p:sp>
            <p:nvSpPr>
              <p:cNvPr id="25656" name="Line 59"/>
              <p:cNvSpPr/>
              <p:nvPr/>
            </p:nvSpPr>
            <p:spPr>
              <a:xfrm flipV="1">
                <a:off x="3772" y="3958"/>
                <a:ext cx="6" cy="276"/>
              </a:xfrm>
              <a:prstGeom prst="line">
                <a:avLst/>
              </a:prstGeom>
              <a:ln w="38100" cap="flat" cmpd="sng">
                <a:solidFill>
                  <a:srgbClr val="CC0000"/>
                </a:solidFill>
                <a:prstDash val="solid"/>
                <a:round/>
                <a:headEnd type="none" w="med" len="med"/>
                <a:tailEnd type="none" w="med" len="med"/>
              </a:ln>
            </p:spPr>
          </p:sp>
          <p:sp>
            <p:nvSpPr>
              <p:cNvPr id="25657" name="Line 60"/>
              <p:cNvSpPr/>
              <p:nvPr/>
            </p:nvSpPr>
            <p:spPr>
              <a:xfrm flipV="1">
                <a:off x="3518" y="3950"/>
                <a:ext cx="6" cy="276"/>
              </a:xfrm>
              <a:prstGeom prst="line">
                <a:avLst/>
              </a:prstGeom>
              <a:ln w="38100" cap="flat" cmpd="sng">
                <a:solidFill>
                  <a:srgbClr val="CC0000"/>
                </a:solidFill>
                <a:prstDash val="solid"/>
                <a:round/>
                <a:headEnd type="none" w="med" len="med"/>
                <a:tailEnd type="none" w="med" len="med"/>
              </a:ln>
            </p:spPr>
          </p:sp>
        </p:grpSp>
        <p:grpSp>
          <p:nvGrpSpPr>
            <p:cNvPr id="25658" name="Group 61"/>
            <p:cNvGrpSpPr/>
            <p:nvPr/>
          </p:nvGrpSpPr>
          <p:grpSpPr>
            <a:xfrm>
              <a:off x="2742" y="3258"/>
              <a:ext cx="98" cy="284"/>
              <a:chOff x="3518" y="3950"/>
              <a:chExt cx="260" cy="284"/>
            </a:xfrm>
          </p:grpSpPr>
          <p:sp>
            <p:nvSpPr>
              <p:cNvPr id="25659" name="Line 62"/>
              <p:cNvSpPr/>
              <p:nvPr/>
            </p:nvSpPr>
            <p:spPr>
              <a:xfrm flipV="1">
                <a:off x="3772" y="3958"/>
                <a:ext cx="6" cy="276"/>
              </a:xfrm>
              <a:prstGeom prst="line">
                <a:avLst/>
              </a:prstGeom>
              <a:ln w="38100" cap="flat" cmpd="sng">
                <a:solidFill>
                  <a:srgbClr val="CC0000"/>
                </a:solidFill>
                <a:prstDash val="solid"/>
                <a:round/>
                <a:headEnd type="none" w="med" len="med"/>
                <a:tailEnd type="none" w="med" len="med"/>
              </a:ln>
            </p:spPr>
          </p:sp>
          <p:sp>
            <p:nvSpPr>
              <p:cNvPr id="25660" name="Line 63"/>
              <p:cNvSpPr/>
              <p:nvPr/>
            </p:nvSpPr>
            <p:spPr>
              <a:xfrm flipV="1">
                <a:off x="3518" y="3950"/>
                <a:ext cx="6" cy="276"/>
              </a:xfrm>
              <a:prstGeom prst="line">
                <a:avLst/>
              </a:prstGeom>
              <a:ln w="38100" cap="flat" cmpd="sng">
                <a:solidFill>
                  <a:srgbClr val="CC0000"/>
                </a:solidFill>
                <a:prstDash val="solid"/>
                <a:round/>
                <a:headEnd type="none" w="med" len="med"/>
                <a:tailEnd type="none" w="med" len="med"/>
              </a:ln>
            </p:spPr>
          </p:sp>
        </p:grpSp>
        <p:grpSp>
          <p:nvGrpSpPr>
            <p:cNvPr id="25661" name="Group 64"/>
            <p:cNvGrpSpPr/>
            <p:nvPr/>
          </p:nvGrpSpPr>
          <p:grpSpPr>
            <a:xfrm>
              <a:off x="1884" y="3258"/>
              <a:ext cx="98" cy="284"/>
              <a:chOff x="3518" y="3950"/>
              <a:chExt cx="260" cy="284"/>
            </a:xfrm>
          </p:grpSpPr>
          <p:sp>
            <p:nvSpPr>
              <p:cNvPr id="25662" name="Line 65"/>
              <p:cNvSpPr/>
              <p:nvPr/>
            </p:nvSpPr>
            <p:spPr>
              <a:xfrm flipV="1">
                <a:off x="3772" y="3958"/>
                <a:ext cx="6" cy="276"/>
              </a:xfrm>
              <a:prstGeom prst="line">
                <a:avLst/>
              </a:prstGeom>
              <a:ln w="38100" cap="flat" cmpd="sng">
                <a:solidFill>
                  <a:srgbClr val="CC0000"/>
                </a:solidFill>
                <a:prstDash val="solid"/>
                <a:round/>
                <a:headEnd type="none" w="med" len="med"/>
                <a:tailEnd type="none" w="med" len="med"/>
              </a:ln>
            </p:spPr>
          </p:sp>
          <p:sp>
            <p:nvSpPr>
              <p:cNvPr id="25663" name="Line 66"/>
              <p:cNvSpPr/>
              <p:nvPr/>
            </p:nvSpPr>
            <p:spPr>
              <a:xfrm flipV="1">
                <a:off x="3518" y="3950"/>
                <a:ext cx="6" cy="276"/>
              </a:xfrm>
              <a:prstGeom prst="line">
                <a:avLst/>
              </a:prstGeom>
              <a:ln w="38100" cap="flat" cmpd="sng">
                <a:solidFill>
                  <a:srgbClr val="CC0000"/>
                </a:solidFill>
                <a:prstDash val="solid"/>
                <a:round/>
                <a:headEnd type="none" w="med" len="med"/>
                <a:tailEnd type="none" w="med" len="med"/>
              </a:ln>
            </p:spPr>
          </p:sp>
        </p:grpSp>
      </p:grpSp>
      <p:grpSp>
        <p:nvGrpSpPr>
          <p:cNvPr id="25664" name="Group 67"/>
          <p:cNvGrpSpPr/>
          <p:nvPr/>
        </p:nvGrpSpPr>
        <p:grpSpPr>
          <a:xfrm>
            <a:off x="1939925" y="2247900"/>
            <a:ext cx="4845050" cy="1174750"/>
            <a:chOff x="1208" y="3234"/>
            <a:chExt cx="3052" cy="506"/>
          </a:xfrm>
        </p:grpSpPr>
        <p:grpSp>
          <p:nvGrpSpPr>
            <p:cNvPr id="25665" name="Group 68"/>
            <p:cNvGrpSpPr/>
            <p:nvPr/>
          </p:nvGrpSpPr>
          <p:grpSpPr>
            <a:xfrm>
              <a:off x="3816" y="3234"/>
              <a:ext cx="444" cy="486"/>
              <a:chOff x="3816" y="3234"/>
              <a:chExt cx="444" cy="486"/>
            </a:xfrm>
          </p:grpSpPr>
          <p:sp>
            <p:nvSpPr>
              <p:cNvPr id="25666" name="Line 69"/>
              <p:cNvSpPr/>
              <p:nvPr/>
            </p:nvSpPr>
            <p:spPr>
              <a:xfrm flipH="1">
                <a:off x="3816" y="3708"/>
                <a:ext cx="444" cy="12"/>
              </a:xfrm>
              <a:prstGeom prst="line">
                <a:avLst/>
              </a:prstGeom>
              <a:ln w="38100" cap="flat" cmpd="sng">
                <a:solidFill>
                  <a:srgbClr val="CC0000"/>
                </a:solidFill>
                <a:prstDash val="solid"/>
                <a:round/>
                <a:headEnd type="none" w="med" len="med"/>
                <a:tailEnd type="none" w="med" len="med"/>
              </a:ln>
            </p:spPr>
          </p:sp>
          <p:sp>
            <p:nvSpPr>
              <p:cNvPr id="25667" name="Line 70"/>
              <p:cNvSpPr/>
              <p:nvPr/>
            </p:nvSpPr>
            <p:spPr>
              <a:xfrm>
                <a:off x="4218" y="3234"/>
                <a:ext cx="0" cy="468"/>
              </a:xfrm>
              <a:prstGeom prst="line">
                <a:avLst/>
              </a:prstGeom>
              <a:ln w="38100" cap="flat" cmpd="sng">
                <a:solidFill>
                  <a:srgbClr val="CC0000"/>
                </a:solidFill>
                <a:prstDash val="solid"/>
                <a:round/>
                <a:headEnd type="none" w="med" len="med"/>
                <a:tailEnd type="none" w="med" len="med"/>
              </a:ln>
            </p:spPr>
          </p:sp>
        </p:grpSp>
        <p:grpSp>
          <p:nvGrpSpPr>
            <p:cNvPr id="25668" name="Group 71"/>
            <p:cNvGrpSpPr/>
            <p:nvPr/>
          </p:nvGrpSpPr>
          <p:grpSpPr>
            <a:xfrm>
              <a:off x="2956" y="3250"/>
              <a:ext cx="204" cy="486"/>
              <a:chOff x="3816" y="3234"/>
              <a:chExt cx="444" cy="486"/>
            </a:xfrm>
          </p:grpSpPr>
          <p:sp>
            <p:nvSpPr>
              <p:cNvPr id="25669" name="Line 72"/>
              <p:cNvSpPr/>
              <p:nvPr/>
            </p:nvSpPr>
            <p:spPr>
              <a:xfrm flipH="1">
                <a:off x="3816" y="3708"/>
                <a:ext cx="444" cy="12"/>
              </a:xfrm>
              <a:prstGeom prst="line">
                <a:avLst/>
              </a:prstGeom>
              <a:ln w="38100" cap="flat" cmpd="sng">
                <a:solidFill>
                  <a:srgbClr val="CC0000"/>
                </a:solidFill>
                <a:prstDash val="solid"/>
                <a:round/>
                <a:headEnd type="none" w="med" len="med"/>
                <a:tailEnd type="none" w="med" len="med"/>
              </a:ln>
            </p:spPr>
          </p:sp>
          <p:sp>
            <p:nvSpPr>
              <p:cNvPr id="25670" name="Line 73"/>
              <p:cNvSpPr/>
              <p:nvPr/>
            </p:nvSpPr>
            <p:spPr>
              <a:xfrm>
                <a:off x="4218" y="3234"/>
                <a:ext cx="0" cy="468"/>
              </a:xfrm>
              <a:prstGeom prst="line">
                <a:avLst/>
              </a:prstGeom>
              <a:ln w="38100" cap="flat" cmpd="sng">
                <a:solidFill>
                  <a:srgbClr val="CC0000"/>
                </a:solidFill>
                <a:prstDash val="solid"/>
                <a:round/>
                <a:headEnd type="none" w="med" len="med"/>
                <a:tailEnd type="none" w="med" len="med"/>
              </a:ln>
            </p:spPr>
          </p:sp>
        </p:grpSp>
        <p:grpSp>
          <p:nvGrpSpPr>
            <p:cNvPr id="25671" name="Group 74"/>
            <p:cNvGrpSpPr/>
            <p:nvPr/>
          </p:nvGrpSpPr>
          <p:grpSpPr>
            <a:xfrm>
              <a:off x="2114" y="3254"/>
              <a:ext cx="204" cy="486"/>
              <a:chOff x="3816" y="3234"/>
              <a:chExt cx="444" cy="486"/>
            </a:xfrm>
          </p:grpSpPr>
          <p:sp>
            <p:nvSpPr>
              <p:cNvPr id="25672" name="Line 75"/>
              <p:cNvSpPr/>
              <p:nvPr/>
            </p:nvSpPr>
            <p:spPr>
              <a:xfrm flipH="1">
                <a:off x="3816" y="3708"/>
                <a:ext cx="444" cy="12"/>
              </a:xfrm>
              <a:prstGeom prst="line">
                <a:avLst/>
              </a:prstGeom>
              <a:ln w="38100" cap="flat" cmpd="sng">
                <a:solidFill>
                  <a:srgbClr val="CC0000"/>
                </a:solidFill>
                <a:prstDash val="solid"/>
                <a:round/>
                <a:headEnd type="none" w="med" len="med"/>
                <a:tailEnd type="none" w="med" len="med"/>
              </a:ln>
            </p:spPr>
          </p:sp>
          <p:sp>
            <p:nvSpPr>
              <p:cNvPr id="25673" name="Line 76"/>
              <p:cNvSpPr/>
              <p:nvPr/>
            </p:nvSpPr>
            <p:spPr>
              <a:xfrm>
                <a:off x="4218" y="3234"/>
                <a:ext cx="0" cy="468"/>
              </a:xfrm>
              <a:prstGeom prst="line">
                <a:avLst/>
              </a:prstGeom>
              <a:ln w="38100" cap="flat" cmpd="sng">
                <a:solidFill>
                  <a:srgbClr val="CC0000"/>
                </a:solidFill>
                <a:prstDash val="solid"/>
                <a:round/>
                <a:headEnd type="none" w="med" len="med"/>
                <a:tailEnd type="none" w="med" len="med"/>
              </a:ln>
            </p:spPr>
          </p:sp>
        </p:grpSp>
        <p:grpSp>
          <p:nvGrpSpPr>
            <p:cNvPr id="25674" name="Group 77"/>
            <p:cNvGrpSpPr/>
            <p:nvPr/>
          </p:nvGrpSpPr>
          <p:grpSpPr>
            <a:xfrm>
              <a:off x="1208" y="3248"/>
              <a:ext cx="204" cy="486"/>
              <a:chOff x="3816" y="3234"/>
              <a:chExt cx="444" cy="486"/>
            </a:xfrm>
          </p:grpSpPr>
          <p:sp>
            <p:nvSpPr>
              <p:cNvPr id="25675" name="Line 78"/>
              <p:cNvSpPr/>
              <p:nvPr/>
            </p:nvSpPr>
            <p:spPr>
              <a:xfrm flipH="1">
                <a:off x="3816" y="3708"/>
                <a:ext cx="444" cy="12"/>
              </a:xfrm>
              <a:prstGeom prst="line">
                <a:avLst/>
              </a:prstGeom>
              <a:ln w="38100" cap="flat" cmpd="sng">
                <a:solidFill>
                  <a:srgbClr val="CC0000"/>
                </a:solidFill>
                <a:prstDash val="solid"/>
                <a:round/>
                <a:headEnd type="none" w="med" len="med"/>
                <a:tailEnd type="none" w="med" len="med"/>
              </a:ln>
            </p:spPr>
          </p:sp>
          <p:sp>
            <p:nvSpPr>
              <p:cNvPr id="25676" name="Line 79"/>
              <p:cNvSpPr/>
              <p:nvPr/>
            </p:nvSpPr>
            <p:spPr>
              <a:xfrm>
                <a:off x="4218" y="3234"/>
                <a:ext cx="0" cy="468"/>
              </a:xfrm>
              <a:prstGeom prst="line">
                <a:avLst/>
              </a:prstGeom>
              <a:ln w="38100" cap="flat" cmpd="sng">
                <a:solidFill>
                  <a:srgbClr val="CC0000"/>
                </a:solidFill>
                <a:prstDash val="solid"/>
                <a:round/>
                <a:headEnd type="none" w="med" len="med"/>
                <a:tailEnd type="none" w="med" len="med"/>
              </a:ln>
            </p:spPr>
          </p:sp>
        </p:grpSp>
      </p:grpSp>
      <p:grpSp>
        <p:nvGrpSpPr>
          <p:cNvPr id="25677" name="Group 80"/>
          <p:cNvGrpSpPr/>
          <p:nvPr/>
        </p:nvGrpSpPr>
        <p:grpSpPr>
          <a:xfrm>
            <a:off x="1193800" y="2651125"/>
            <a:ext cx="4222750" cy="374650"/>
            <a:chOff x="738" y="3398"/>
            <a:chExt cx="2660" cy="182"/>
          </a:xfrm>
        </p:grpSpPr>
        <p:sp>
          <p:nvSpPr>
            <p:cNvPr id="25678" name="AutoShape 81"/>
            <p:cNvSpPr/>
            <p:nvPr/>
          </p:nvSpPr>
          <p:spPr>
            <a:xfrm>
              <a:off x="738" y="3408"/>
              <a:ext cx="78" cy="168"/>
            </a:xfrm>
            <a:prstGeom prst="upArrow">
              <a:avLst>
                <a:gd name="adj1" fmla="val 50000"/>
                <a:gd name="adj2" fmla="val 53776"/>
              </a:avLst>
            </a:prstGeom>
            <a:noFill/>
            <a:ln w="38100" cap="flat" cmpd="sng">
              <a:solidFill>
                <a:srgbClr val="CC0000"/>
              </a:solidFill>
              <a:prstDash val="solid"/>
              <a:miter/>
              <a:headEnd type="none" w="med" len="med"/>
              <a:tailEnd type="none" w="med" len="med"/>
            </a:ln>
          </p:spPr>
          <p:txBody>
            <a:bodyPr vert="eaVert"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79" name="AutoShape 82"/>
            <p:cNvSpPr/>
            <p:nvPr/>
          </p:nvSpPr>
          <p:spPr>
            <a:xfrm>
              <a:off x="1630" y="3400"/>
              <a:ext cx="78" cy="168"/>
            </a:xfrm>
            <a:prstGeom prst="upArrow">
              <a:avLst>
                <a:gd name="adj1" fmla="val 50000"/>
                <a:gd name="adj2" fmla="val 53776"/>
              </a:avLst>
            </a:prstGeom>
            <a:noFill/>
            <a:ln w="38100" cap="flat" cmpd="sng">
              <a:solidFill>
                <a:srgbClr val="CC0000"/>
              </a:solidFill>
              <a:prstDash val="solid"/>
              <a:miter/>
              <a:headEnd type="none" w="med" len="med"/>
              <a:tailEnd type="none" w="med" len="med"/>
            </a:ln>
          </p:spPr>
          <p:txBody>
            <a:bodyPr vert="eaVert"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80" name="AutoShape 83"/>
            <p:cNvSpPr/>
            <p:nvPr/>
          </p:nvSpPr>
          <p:spPr>
            <a:xfrm>
              <a:off x="2470" y="3412"/>
              <a:ext cx="78" cy="168"/>
            </a:xfrm>
            <a:prstGeom prst="upArrow">
              <a:avLst>
                <a:gd name="adj1" fmla="val 50000"/>
                <a:gd name="adj2" fmla="val 53776"/>
              </a:avLst>
            </a:prstGeom>
            <a:noFill/>
            <a:ln w="38100" cap="flat" cmpd="sng">
              <a:solidFill>
                <a:srgbClr val="CC0000"/>
              </a:solidFill>
              <a:prstDash val="solid"/>
              <a:miter/>
              <a:headEnd type="none" w="med" len="med"/>
              <a:tailEnd type="none" w="med" len="med"/>
            </a:ln>
          </p:spPr>
          <p:txBody>
            <a:bodyPr vert="eaVert"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5681" name="AutoShape 84"/>
            <p:cNvSpPr/>
            <p:nvPr/>
          </p:nvSpPr>
          <p:spPr>
            <a:xfrm>
              <a:off x="3320" y="3398"/>
              <a:ext cx="78" cy="168"/>
            </a:xfrm>
            <a:prstGeom prst="upArrow">
              <a:avLst>
                <a:gd name="adj1" fmla="val 50000"/>
                <a:gd name="adj2" fmla="val 53776"/>
              </a:avLst>
            </a:prstGeom>
            <a:noFill/>
            <a:ln w="38100" cap="flat" cmpd="sng">
              <a:solidFill>
                <a:srgbClr val="CC0000"/>
              </a:solidFill>
              <a:prstDash val="solid"/>
              <a:miter/>
              <a:headEnd type="none" w="med" len="med"/>
              <a:tailEnd type="none" w="med" len="med"/>
            </a:ln>
          </p:spPr>
          <p:txBody>
            <a:bodyPr vert="eaVert"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grpSp>
      <p:sp>
        <p:nvSpPr>
          <p:cNvPr id="25682" name="Rectangle 85"/>
          <p:cNvSpPr/>
          <p:nvPr/>
        </p:nvSpPr>
        <p:spPr>
          <a:xfrm>
            <a:off x="4202113" y="4819650"/>
            <a:ext cx="1836737" cy="457200"/>
          </a:xfrm>
          <a:prstGeom prst="rect">
            <a:avLst/>
          </a:prstGeom>
          <a:noFill/>
          <a:ln w="12700">
            <a:noFill/>
          </a:ln>
        </p:spPr>
        <p:txBody>
          <a:bodyPr wrap="none" anchor="t" anchorCtr="0">
            <a:spAutoFit/>
          </a:bodyPr>
          <a:p>
            <a:pPr eaLnBrk="0" hangingPunct="0"/>
            <a:r>
              <a:rPr lang="en-US" altLang="zh-CN" sz="2400" dirty="0">
                <a:solidFill>
                  <a:srgbClr val="FF0066"/>
                </a:solidFill>
                <a:latin typeface="Arial" panose="020B0604020202020204" pitchFamily="34" charset="0"/>
              </a:rPr>
              <a:t>3+2+3 = 8ty</a:t>
            </a:r>
            <a:endParaRPr lang="zh-CN" altLang="en-US" sz="2400" dirty="0">
              <a:solidFill>
                <a:srgbClr val="FF0066"/>
              </a:solidFill>
              <a:latin typeface="Arial" panose="020B0604020202020204" pitchFamily="34" charset="0"/>
              <a:ea typeface="宋体" panose="02010600030101010101" pitchFamily="2" charset="-122"/>
            </a:endParaRPr>
          </a:p>
        </p:txBody>
      </p:sp>
      <p:sp>
        <p:nvSpPr>
          <p:cNvPr id="25683" name="Rectangle 86"/>
          <p:cNvSpPr/>
          <p:nvPr/>
        </p:nvSpPr>
        <p:spPr>
          <a:xfrm>
            <a:off x="4405313" y="5486400"/>
            <a:ext cx="1320800" cy="457200"/>
          </a:xfrm>
          <a:prstGeom prst="rect">
            <a:avLst/>
          </a:prstGeom>
          <a:noFill/>
          <a:ln w="12700">
            <a:noFill/>
          </a:ln>
        </p:spPr>
        <p:txBody>
          <a:bodyPr wrap="none" anchor="t" anchorCtr="0">
            <a:spAutoFit/>
          </a:bodyPr>
          <a:p>
            <a:pPr eaLnBrk="0" hangingPunct="0"/>
            <a:r>
              <a:rPr lang="en-US" altLang="zh-CN" sz="2400" dirty="0">
                <a:solidFill>
                  <a:srgbClr val="FF0066"/>
                </a:solidFill>
                <a:latin typeface="Arial" panose="020B0604020202020204" pitchFamily="34" charset="0"/>
              </a:rPr>
              <a:t>3+2=5ty</a:t>
            </a:r>
            <a:endParaRPr lang="en-US" altLang="zh-CN" sz="2400" dirty="0">
              <a:solidFill>
                <a:srgbClr val="FF0066"/>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idx="4294967295"/>
          </p:nvPr>
        </p:nvSpPr>
        <p:spPr>
          <a:xfrm>
            <a:off x="647700" y="215900"/>
            <a:ext cx="7335838" cy="479425"/>
          </a:xfrm>
          <a:ln/>
        </p:spPr>
        <p:txBody>
          <a:bodyPr vert="horz" wrap="square" lIns="63500" tIns="25400" rIns="63500" bIns="25400" anchor="t" anchorCtr="0">
            <a:spAutoFit/>
          </a:bodyPr>
          <a:p>
            <a:r>
              <a:rPr lang="en-US" altLang="zh-CN" dirty="0">
                <a:ea typeface="宋体" panose="02010600030101010101" pitchFamily="2" charset="-122"/>
              </a:rPr>
              <a:t>n</a:t>
            </a:r>
            <a:r>
              <a:rPr lang="zh-CN" altLang="en-US" dirty="0">
                <a:ea typeface="宋体" panose="02010600030101010101" pitchFamily="2" charset="-122"/>
              </a:rPr>
              <a:t>位带标志加法器</a:t>
            </a:r>
            <a:endParaRPr lang="zh-CN" altLang="en-US" dirty="0">
              <a:ea typeface="宋体" panose="02010600030101010101" pitchFamily="2" charset="-122"/>
            </a:endParaRPr>
          </a:p>
        </p:txBody>
      </p:sp>
      <p:sp>
        <p:nvSpPr>
          <p:cNvPr id="26626" name="Rectangle 3"/>
          <p:cNvSpPr/>
          <p:nvPr/>
        </p:nvSpPr>
        <p:spPr>
          <a:xfrm>
            <a:off x="158750" y="879475"/>
            <a:ext cx="5394325" cy="1820863"/>
          </a:xfrm>
          <a:prstGeom prst="rect">
            <a:avLst/>
          </a:prstGeom>
          <a:noFill/>
          <a:ln w="9525">
            <a:noFill/>
          </a:ln>
        </p:spPr>
        <p:txBody>
          <a:bodyPr anchor="t" anchorCtr="0"/>
          <a:p>
            <a:pPr marL="342900" indent="-342900" eaLnBrk="0" hangingPunct="0">
              <a:lnSpc>
                <a:spcPct val="120000"/>
              </a:lnSpc>
              <a:spcBef>
                <a:spcPct val="25000"/>
              </a:spcBef>
              <a:buClrTx/>
              <a:buFontTx/>
              <a:buChar char="•"/>
            </a:pP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位加法器无法用于两个</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a:t>
            </a:r>
            <a:r>
              <a:rPr lang="zh-CN" altLang="en-US" sz="2000" dirty="0">
                <a:solidFill>
                  <a:srgbClr val="0033CC"/>
                </a:solidFill>
                <a:latin typeface="微软雅黑" panose="020B0503020204020204" pitchFamily="34" charset="-122"/>
                <a:ea typeface="微软雅黑" panose="020B0503020204020204" pitchFamily="34" charset="-122"/>
              </a:rPr>
              <a:t>带符号整数</a:t>
            </a:r>
            <a:r>
              <a:rPr lang="zh-CN" altLang="en-US" sz="2000" dirty="0">
                <a:solidFill>
                  <a:srgbClr val="CC3300"/>
                </a:solidFill>
                <a:latin typeface="微软雅黑" panose="020B0503020204020204" pitchFamily="34" charset="-122"/>
                <a:ea typeface="微软雅黑" panose="020B0503020204020204" pitchFamily="34" charset="-122"/>
              </a:rPr>
              <a:t>（补码）</a:t>
            </a:r>
            <a:r>
              <a:rPr lang="zh-CN" altLang="en-US" sz="2000" dirty="0">
                <a:latin typeface="微软雅黑" panose="020B0503020204020204" pitchFamily="34" charset="-122"/>
                <a:ea typeface="微软雅黑" panose="020B0503020204020204" pitchFamily="34" charset="-122"/>
              </a:rPr>
              <a:t>相加，无法</a:t>
            </a:r>
            <a:r>
              <a:rPr lang="zh-CN" altLang="en-US" sz="2000" dirty="0">
                <a:solidFill>
                  <a:srgbClr val="FF0000"/>
                </a:solidFill>
                <a:latin typeface="微软雅黑" panose="020B0503020204020204" pitchFamily="34" charset="-122"/>
                <a:ea typeface="微软雅黑" panose="020B0503020204020204" pitchFamily="34" charset="-122"/>
              </a:rPr>
              <a:t>判断是否溢出</a:t>
            </a:r>
            <a:endParaRPr lang="zh-CN" altLang="en-US" sz="2000" dirty="0">
              <a:solidFill>
                <a:srgbClr val="FF0000"/>
              </a:solidFill>
              <a:latin typeface="微软雅黑" panose="020B0503020204020204" pitchFamily="34" charset="-122"/>
              <a:ea typeface="微软雅黑" panose="020B0503020204020204" pitchFamily="34" charset="-122"/>
            </a:endParaRPr>
          </a:p>
          <a:p>
            <a:pPr marL="342900" indent="-342900" eaLnBrk="0" hangingPunct="0">
              <a:lnSpc>
                <a:spcPct val="120000"/>
              </a:lnSpc>
              <a:spcBef>
                <a:spcPct val="25000"/>
              </a:spcBef>
              <a:buClrTx/>
              <a:buFontTx/>
              <a:buChar char="•"/>
            </a:pPr>
            <a:r>
              <a:rPr lang="zh-CN" altLang="en-US" sz="2000" dirty="0">
                <a:latin typeface="微软雅黑" panose="020B0503020204020204" pitchFamily="34" charset="-122"/>
                <a:ea typeface="微软雅黑" panose="020B0503020204020204" pitchFamily="34" charset="-122"/>
              </a:rPr>
              <a:t>程序中经常需要</a:t>
            </a:r>
            <a:r>
              <a:rPr lang="zh-CN" altLang="en-US" sz="2000" dirty="0">
                <a:solidFill>
                  <a:srgbClr val="FF0000"/>
                </a:solidFill>
                <a:latin typeface="微软雅黑" panose="020B0503020204020204" pitchFamily="34" charset="-122"/>
                <a:ea typeface="微软雅黑" panose="020B0503020204020204" pitchFamily="34" charset="-122"/>
              </a:rPr>
              <a:t>比较大小</a:t>
            </a:r>
            <a:r>
              <a:rPr lang="zh-CN" altLang="en-US" sz="2000" dirty="0">
                <a:latin typeface="微软雅黑" panose="020B0503020204020204" pitchFamily="34" charset="-122"/>
                <a:ea typeface="微软雅黑" panose="020B0503020204020204" pitchFamily="34" charset="-122"/>
              </a:rPr>
              <a:t>，通过</a:t>
            </a:r>
            <a:r>
              <a:rPr lang="zh-CN" altLang="en-US" sz="2000" dirty="0">
                <a:solidFill>
                  <a:srgbClr val="0033CC"/>
                </a:solidFill>
                <a:latin typeface="微软雅黑" panose="020B0503020204020204" pitchFamily="34" charset="-122"/>
                <a:ea typeface="微软雅黑" panose="020B0503020204020204" pitchFamily="34" charset="-122"/>
              </a:rPr>
              <a:t>（在加法器中）</a:t>
            </a:r>
            <a:r>
              <a:rPr lang="zh-CN" altLang="en-US" sz="2000" dirty="0">
                <a:solidFill>
                  <a:srgbClr val="FF0000"/>
                </a:solidFill>
                <a:latin typeface="微软雅黑" panose="020B0503020204020204" pitchFamily="34" charset="-122"/>
                <a:ea typeface="微软雅黑" panose="020B0503020204020204" pitchFamily="34" charset="-122"/>
              </a:rPr>
              <a:t>做减法</a:t>
            </a:r>
            <a:r>
              <a:rPr lang="zh-CN" altLang="en-US" sz="2000" dirty="0">
                <a:latin typeface="微软雅黑" panose="020B0503020204020204" pitchFamily="34" charset="-122"/>
                <a:ea typeface="微软雅黑" panose="020B0503020204020204" pitchFamily="34" charset="-122"/>
              </a:rPr>
              <a:t>得到的</a:t>
            </a:r>
            <a:r>
              <a:rPr lang="zh-CN" altLang="en-US" sz="2000" dirty="0">
                <a:solidFill>
                  <a:srgbClr val="FF0000"/>
                </a:solidFill>
                <a:latin typeface="微软雅黑" panose="020B0503020204020204" pitchFamily="34" charset="-122"/>
                <a:ea typeface="微软雅黑" panose="020B0503020204020204" pitchFamily="34" charset="-122"/>
              </a:rPr>
              <a:t>标志信息</a:t>
            </a:r>
            <a:r>
              <a:rPr lang="zh-CN" altLang="en-US" sz="2000" dirty="0">
                <a:latin typeface="微软雅黑" panose="020B0503020204020204" pitchFamily="34" charset="-122"/>
                <a:ea typeface="微软雅黑" panose="020B0503020204020204" pitchFamily="34" charset="-122"/>
              </a:rPr>
              <a:t>来判断</a:t>
            </a:r>
            <a:endParaRPr lang="zh-CN" altLang="en-US" sz="2000" dirty="0">
              <a:latin typeface="微软雅黑" panose="020B0503020204020204" pitchFamily="34" charset="-122"/>
              <a:ea typeface="微软雅黑" panose="020B0503020204020204" pitchFamily="34" charset="-122"/>
            </a:endParaRPr>
          </a:p>
        </p:txBody>
      </p:sp>
      <p:pic>
        <p:nvPicPr>
          <p:cNvPr id="26627" name="Picture 4"/>
          <p:cNvPicPr>
            <a:picLocks noChangeAspect="1"/>
          </p:cNvPicPr>
          <p:nvPr/>
        </p:nvPicPr>
        <p:blipFill>
          <a:blip r:embed="rId1"/>
          <a:stretch>
            <a:fillRect/>
          </a:stretch>
        </p:blipFill>
        <p:spPr>
          <a:xfrm>
            <a:off x="5835650" y="85725"/>
            <a:ext cx="3222625" cy="3135313"/>
          </a:xfrm>
          <a:prstGeom prst="rect">
            <a:avLst/>
          </a:prstGeom>
          <a:noFill/>
          <a:ln w="9525">
            <a:noFill/>
          </a:ln>
        </p:spPr>
      </p:pic>
      <p:pic>
        <p:nvPicPr>
          <p:cNvPr id="26628" name="Picture 5"/>
          <p:cNvPicPr>
            <a:picLocks noChangeAspect="1"/>
          </p:cNvPicPr>
          <p:nvPr/>
        </p:nvPicPr>
        <p:blipFill>
          <a:blip r:embed="rId2"/>
          <a:stretch>
            <a:fillRect/>
          </a:stretch>
        </p:blipFill>
        <p:spPr>
          <a:xfrm>
            <a:off x="206375" y="2884488"/>
            <a:ext cx="6408738" cy="3973512"/>
          </a:xfrm>
          <a:prstGeom prst="rect">
            <a:avLst/>
          </a:prstGeom>
          <a:noFill/>
          <a:ln w="9525">
            <a:noFill/>
          </a:ln>
        </p:spPr>
      </p:pic>
      <p:sp>
        <p:nvSpPr>
          <p:cNvPr id="26629" name="Rectangle 6"/>
          <p:cNvSpPr/>
          <p:nvPr/>
        </p:nvSpPr>
        <p:spPr>
          <a:xfrm>
            <a:off x="6642100" y="3338513"/>
            <a:ext cx="2309813" cy="3013075"/>
          </a:xfrm>
          <a:prstGeom prst="rect">
            <a:avLst/>
          </a:prstGeom>
          <a:noFill/>
          <a:ln w="9525">
            <a:noFill/>
          </a:ln>
        </p:spPr>
        <p:txBody>
          <a:bodyPr rIns="0" anchor="ctr" anchorCtr="0">
            <a:spAutoFit/>
          </a:bodyPr>
          <a:p>
            <a:pPr eaLnBrk="0" hangingPunct="0">
              <a:lnSpc>
                <a:spcPct val="120000"/>
              </a:lnSpc>
            </a:pPr>
            <a:r>
              <a:rPr lang="zh-CN" altLang="en-US" sz="2000" dirty="0">
                <a:solidFill>
                  <a:srgbClr val="CC3300"/>
                </a:solidFill>
                <a:latin typeface="微软雅黑" panose="020B0503020204020204" pitchFamily="34" charset="-122"/>
                <a:ea typeface="微软雅黑" panose="020B0503020204020204" pitchFamily="34" charset="-122"/>
              </a:rPr>
              <a:t>溢出标志</a:t>
            </a:r>
            <a:r>
              <a:rPr lang="en-US" altLang="zh-CN" sz="2000" dirty="0">
                <a:solidFill>
                  <a:srgbClr val="CC3300"/>
                </a:solidFill>
                <a:latin typeface="微软雅黑" panose="020B0503020204020204" pitchFamily="34" charset="-122"/>
                <a:ea typeface="微软雅黑" panose="020B0503020204020204" pitchFamily="34" charset="-122"/>
              </a:rPr>
              <a:t>OF</a:t>
            </a:r>
            <a:r>
              <a:rPr lang="zh-CN" altLang="en-US" sz="2000" dirty="0">
                <a:solidFill>
                  <a:srgbClr val="CC3300"/>
                </a:solidFill>
                <a:latin typeface="微软雅黑" panose="020B0503020204020204" pitchFamily="34" charset="-122"/>
                <a:ea typeface="微软雅黑" panose="020B0503020204020204" pitchFamily="34" charset="-122"/>
              </a:rPr>
              <a:t>：</a:t>
            </a:r>
            <a:r>
              <a:rPr lang="en-US" altLang="zh-CN" sz="2000" dirty="0">
                <a:solidFill>
                  <a:srgbClr val="CC3300"/>
                </a:solidFill>
                <a:latin typeface="微软雅黑" panose="020B0503020204020204" pitchFamily="34" charset="-122"/>
                <a:ea typeface="微软雅黑" panose="020B0503020204020204" pitchFamily="34" charset="-122"/>
              </a:rPr>
              <a:t>OF=C</a:t>
            </a:r>
            <a:r>
              <a:rPr lang="en-US" altLang="zh-CN" sz="2000" baseline="-25000" dirty="0">
                <a:solidFill>
                  <a:srgbClr val="CC3300"/>
                </a:solidFill>
                <a:latin typeface="微软雅黑" panose="020B0503020204020204" pitchFamily="34" charset="-122"/>
                <a:ea typeface="微软雅黑" panose="020B0503020204020204" pitchFamily="34" charset="-122"/>
              </a:rPr>
              <a:t>n</a:t>
            </a:r>
            <a:r>
              <a:rPr lang="en-US" altLang="zh-CN"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CC3300"/>
                </a:solidFill>
                <a:latin typeface="微软雅黑" panose="020B0503020204020204" pitchFamily="34" charset="-122"/>
                <a:ea typeface="微软雅黑" panose="020B0503020204020204" pitchFamily="34" charset="-122"/>
              </a:rPr>
              <a:t>C</a:t>
            </a:r>
            <a:r>
              <a:rPr lang="en-US" altLang="zh-CN" sz="2000" baseline="-25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n-1</a:t>
            </a:r>
            <a:endParaRPr lang="zh-CN" altLang="en-US" sz="2000" baseline="-25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20000"/>
              </a:lnSpc>
            </a:pP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符号标志</a:t>
            </a: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SF</a:t>
            </a: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a:t>
            </a:r>
            <a:endPar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20000"/>
              </a:lnSpc>
            </a:pP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SF=F</a:t>
            </a:r>
            <a:r>
              <a:rPr lang="en-US" altLang="zh-CN" sz="2000" baseline="-25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n-1</a:t>
            </a:r>
            <a:endParaRPr lang="en-US" altLang="zh-CN" sz="2000" baseline="-25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20000"/>
              </a:lnSpc>
            </a:pPr>
            <a:r>
              <a:rPr lang="zh-CN" altLang="en-US"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零标志</a:t>
            </a:r>
            <a:r>
              <a:rPr lang="en-US" altLang="zh-CN"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ZF=1</a:t>
            </a:r>
            <a:r>
              <a:rPr lang="zh-CN" altLang="en-US"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当且仅当</a:t>
            </a:r>
            <a:r>
              <a:rPr lang="en-US" altLang="zh-CN"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F=0</a:t>
            </a:r>
            <a:r>
              <a:rPr lang="zh-CN" altLang="en-US"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a:t>
            </a:r>
            <a:endParaRPr lang="zh-CN" altLang="en-US"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20000"/>
              </a:lnSpc>
            </a:pP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进位</a:t>
            </a: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借位标志</a:t>
            </a: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CF</a:t>
            </a: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CF=Cout</a:t>
            </a:r>
            <a:r>
              <a:rPr lang="en-US" altLang="zh-CN" sz="2000" dirty="0">
                <a:solidFill>
                  <a:srgbClr val="0033CC"/>
                </a:solidFill>
                <a:latin typeface="微软雅黑" panose="020B0503020204020204" pitchFamily="34" charset="-122"/>
                <a:ea typeface="微软雅黑" panose="020B0503020204020204" pitchFamily="34" charset="-122"/>
              </a:rPr>
              <a:t>Cin</a:t>
            </a:r>
            <a:endPar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endParaRPr>
          </a:p>
        </p:txBody>
      </p:sp>
      <p:sp>
        <p:nvSpPr>
          <p:cNvPr id="26630" name="Line 7"/>
          <p:cNvSpPr/>
          <p:nvPr/>
        </p:nvSpPr>
        <p:spPr>
          <a:xfrm flipV="1">
            <a:off x="1736725" y="3068638"/>
            <a:ext cx="0" cy="1709737"/>
          </a:xfrm>
          <a:prstGeom prst="line">
            <a:avLst/>
          </a:prstGeom>
          <a:ln w="28575" cap="flat" cmpd="sng">
            <a:solidFill>
              <a:srgbClr val="FF0000"/>
            </a:solidFill>
            <a:prstDash val="solid"/>
            <a:round/>
            <a:headEnd type="none" w="med" len="med"/>
            <a:tailEnd type="triangle" w="lg" len="med"/>
          </a:ln>
        </p:spPr>
      </p:sp>
      <p:sp>
        <p:nvSpPr>
          <p:cNvPr id="26631" name="Line 8"/>
          <p:cNvSpPr/>
          <p:nvPr/>
        </p:nvSpPr>
        <p:spPr>
          <a:xfrm flipV="1">
            <a:off x="4167188" y="3114675"/>
            <a:ext cx="0" cy="1663700"/>
          </a:xfrm>
          <a:prstGeom prst="line">
            <a:avLst/>
          </a:prstGeom>
          <a:ln w="28575" cap="flat" cmpd="sng">
            <a:solidFill>
              <a:srgbClr val="FF0000"/>
            </a:solidFill>
            <a:prstDash val="solid"/>
            <a:round/>
            <a:headEnd type="none" w="med" len="med"/>
            <a:tailEnd type="triangle" w="lg" len="med"/>
          </a:ln>
        </p:spPr>
      </p:sp>
      <p:sp>
        <p:nvSpPr>
          <p:cNvPr id="26632" name="Line 9"/>
          <p:cNvSpPr/>
          <p:nvPr/>
        </p:nvSpPr>
        <p:spPr>
          <a:xfrm flipV="1">
            <a:off x="5651500" y="3114675"/>
            <a:ext cx="0" cy="1663700"/>
          </a:xfrm>
          <a:prstGeom prst="line">
            <a:avLst/>
          </a:prstGeom>
          <a:ln w="28575" cap="flat" cmpd="sng">
            <a:solidFill>
              <a:srgbClr val="FF0000"/>
            </a:solidFill>
            <a:prstDash val="solid"/>
            <a:round/>
            <a:headEnd type="none" w="med" len="med"/>
            <a:tailEnd type="triangle" w="lg" len="med"/>
          </a:ln>
        </p:spPr>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idx="4294967295"/>
          </p:nvPr>
        </p:nvSpPr>
        <p:spPr>
          <a:xfrm>
            <a:off x="647700" y="215900"/>
            <a:ext cx="7335838" cy="479425"/>
          </a:xfrm>
          <a:ln/>
        </p:spPr>
        <p:txBody>
          <a:bodyPr vert="horz" wrap="square" lIns="63500" tIns="25400" rIns="63500" bIns="25400" anchor="t" anchorCtr="0">
            <a:spAutoFit/>
          </a:bodyPr>
          <a:p>
            <a:r>
              <a:rPr lang="en-US" altLang="zh-CN" dirty="0">
                <a:ea typeface="宋体" panose="02010600030101010101" pitchFamily="2" charset="-122"/>
              </a:rPr>
              <a:t>n</a:t>
            </a:r>
            <a:r>
              <a:rPr lang="zh-CN" altLang="en-US" dirty="0">
                <a:ea typeface="宋体" panose="02010600030101010101" pitchFamily="2" charset="-122"/>
              </a:rPr>
              <a:t>位带标志加法器</a:t>
            </a:r>
            <a:endParaRPr lang="zh-CN" altLang="en-US" dirty="0">
              <a:ea typeface="宋体" panose="02010600030101010101" pitchFamily="2" charset="-122"/>
            </a:endParaRPr>
          </a:p>
        </p:txBody>
      </p:sp>
      <p:pic>
        <p:nvPicPr>
          <p:cNvPr id="28674" name="Picture 4"/>
          <p:cNvPicPr>
            <a:picLocks noChangeAspect="1"/>
          </p:cNvPicPr>
          <p:nvPr/>
        </p:nvPicPr>
        <p:blipFill>
          <a:blip r:embed="rId1"/>
          <a:stretch>
            <a:fillRect/>
          </a:stretch>
        </p:blipFill>
        <p:spPr>
          <a:xfrm>
            <a:off x="153988" y="671513"/>
            <a:ext cx="3222625" cy="3135312"/>
          </a:xfrm>
          <a:prstGeom prst="rect">
            <a:avLst/>
          </a:prstGeom>
          <a:noFill/>
          <a:ln w="9525">
            <a:noFill/>
          </a:ln>
        </p:spPr>
      </p:pic>
      <p:sp>
        <p:nvSpPr>
          <p:cNvPr id="28675" name="Rectangle 6"/>
          <p:cNvSpPr/>
          <p:nvPr/>
        </p:nvSpPr>
        <p:spPr>
          <a:xfrm>
            <a:off x="404813" y="3806825"/>
            <a:ext cx="2309812" cy="3013075"/>
          </a:xfrm>
          <a:prstGeom prst="rect">
            <a:avLst/>
          </a:prstGeom>
          <a:noFill/>
          <a:ln w="9525">
            <a:noFill/>
          </a:ln>
        </p:spPr>
        <p:txBody>
          <a:bodyPr rIns="0" anchor="ctr" anchorCtr="0">
            <a:spAutoFit/>
          </a:bodyPr>
          <a:p>
            <a:pPr eaLnBrk="0" hangingPunct="0">
              <a:lnSpc>
                <a:spcPct val="120000"/>
              </a:lnSpc>
            </a:pPr>
            <a:r>
              <a:rPr lang="zh-CN" altLang="en-US" sz="2000" dirty="0">
                <a:solidFill>
                  <a:srgbClr val="CC3300"/>
                </a:solidFill>
                <a:latin typeface="微软雅黑" panose="020B0503020204020204" pitchFamily="34" charset="-122"/>
                <a:ea typeface="微软雅黑" panose="020B0503020204020204" pitchFamily="34" charset="-122"/>
              </a:rPr>
              <a:t>溢出标志</a:t>
            </a:r>
            <a:r>
              <a:rPr lang="en-US" altLang="zh-CN" sz="2000" dirty="0">
                <a:solidFill>
                  <a:srgbClr val="CC3300"/>
                </a:solidFill>
                <a:latin typeface="微软雅黑" panose="020B0503020204020204" pitchFamily="34" charset="-122"/>
                <a:ea typeface="微软雅黑" panose="020B0503020204020204" pitchFamily="34" charset="-122"/>
              </a:rPr>
              <a:t>OF</a:t>
            </a:r>
            <a:r>
              <a:rPr lang="zh-CN" altLang="en-US" sz="2000" dirty="0">
                <a:solidFill>
                  <a:srgbClr val="CC3300"/>
                </a:solidFill>
                <a:latin typeface="微软雅黑" panose="020B0503020204020204" pitchFamily="34" charset="-122"/>
                <a:ea typeface="微软雅黑" panose="020B0503020204020204" pitchFamily="34" charset="-122"/>
              </a:rPr>
              <a:t>：</a:t>
            </a:r>
            <a:r>
              <a:rPr lang="en-US" altLang="zh-CN" sz="2000" dirty="0">
                <a:solidFill>
                  <a:srgbClr val="CC3300"/>
                </a:solidFill>
                <a:latin typeface="微软雅黑" panose="020B0503020204020204" pitchFamily="34" charset="-122"/>
                <a:ea typeface="微软雅黑" panose="020B0503020204020204" pitchFamily="34" charset="-122"/>
              </a:rPr>
              <a:t>OF=C</a:t>
            </a:r>
            <a:r>
              <a:rPr lang="en-US" altLang="zh-CN" sz="2000" baseline="-25000" dirty="0">
                <a:solidFill>
                  <a:srgbClr val="CC3300"/>
                </a:solidFill>
                <a:latin typeface="微软雅黑" panose="020B0503020204020204" pitchFamily="34" charset="-122"/>
                <a:ea typeface="微软雅黑" panose="020B0503020204020204" pitchFamily="34" charset="-122"/>
              </a:rPr>
              <a:t>n</a:t>
            </a:r>
            <a:r>
              <a:rPr lang="en-US" altLang="zh-CN"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CC3300"/>
                </a:solidFill>
                <a:latin typeface="微软雅黑" panose="020B0503020204020204" pitchFamily="34" charset="-122"/>
                <a:ea typeface="微软雅黑" panose="020B0503020204020204" pitchFamily="34" charset="-122"/>
              </a:rPr>
              <a:t>C</a:t>
            </a:r>
            <a:r>
              <a:rPr lang="en-US" altLang="zh-CN" sz="2000" baseline="-25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n-1</a:t>
            </a:r>
            <a:endParaRPr lang="zh-CN" altLang="en-US" sz="2000" baseline="-25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20000"/>
              </a:lnSpc>
            </a:pP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符号标志</a:t>
            </a: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SF</a:t>
            </a: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a:t>
            </a:r>
            <a:endPar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20000"/>
              </a:lnSpc>
            </a:pP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SF=F</a:t>
            </a:r>
            <a:r>
              <a:rPr lang="en-US" altLang="zh-CN" sz="2000" baseline="-25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n-1</a:t>
            </a:r>
            <a:endParaRPr lang="en-US" altLang="zh-CN" sz="2000" baseline="-25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20000"/>
              </a:lnSpc>
            </a:pPr>
            <a:r>
              <a:rPr lang="zh-CN" altLang="en-US"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零标志</a:t>
            </a:r>
            <a:r>
              <a:rPr lang="en-US" altLang="zh-CN"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ZF=1</a:t>
            </a:r>
            <a:r>
              <a:rPr lang="zh-CN" altLang="en-US"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当且仅当</a:t>
            </a:r>
            <a:r>
              <a:rPr lang="en-US" altLang="zh-CN"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F=0</a:t>
            </a:r>
            <a:r>
              <a:rPr lang="zh-CN" altLang="en-US"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rPr>
              <a:t>；</a:t>
            </a:r>
            <a:endParaRPr lang="zh-CN" altLang="en-US" sz="2000" dirty="0">
              <a:solidFill>
                <a:srgbClr val="CC3300"/>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20000"/>
              </a:lnSpc>
            </a:pP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进位</a:t>
            </a: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借位标志</a:t>
            </a: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CF</a:t>
            </a:r>
            <a:r>
              <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rPr>
              <a:t>CF=Cout</a:t>
            </a:r>
            <a:r>
              <a:rPr lang="en-US" altLang="zh-CN" sz="2000" dirty="0">
                <a:solidFill>
                  <a:srgbClr val="0033CC"/>
                </a:solidFill>
                <a:latin typeface="微软雅黑" panose="020B0503020204020204" pitchFamily="34" charset="-122"/>
                <a:ea typeface="微软雅黑" panose="020B0503020204020204" pitchFamily="34" charset="-122"/>
              </a:rPr>
              <a:t>Cin</a:t>
            </a:r>
            <a:endParaRPr lang="zh-CN" altLang="en-US" sz="2000" dirty="0">
              <a:solidFill>
                <a:srgbClr val="0033CC"/>
              </a:solidFill>
              <a:latin typeface="微软雅黑" panose="020B0503020204020204" pitchFamily="34" charset="-122"/>
              <a:ea typeface="微软雅黑" panose="020B0503020204020204" pitchFamily="34" charset="-122"/>
              <a:sym typeface="Symbol" panose="05050102010706020507" pitchFamily="18" charset="2"/>
            </a:endParaRPr>
          </a:p>
        </p:txBody>
      </p:sp>
      <p:sp>
        <p:nvSpPr>
          <p:cNvPr id="28676" name="文本框 9"/>
          <p:cNvSpPr txBox="1"/>
          <p:nvPr/>
        </p:nvSpPr>
        <p:spPr>
          <a:xfrm>
            <a:off x="3744913" y="639763"/>
            <a:ext cx="5313362" cy="6108700"/>
          </a:xfrm>
          <a:prstGeom prst="rect">
            <a:avLst/>
          </a:prstGeom>
          <a:noFill/>
          <a:ln w="9525">
            <a:noFill/>
          </a:ln>
        </p:spPr>
        <p:txBody>
          <a:bodyPr anchor="t" anchorCtr="0">
            <a:spAutoFit/>
          </a:bodyPr>
          <a:p>
            <a:pPr eaLnBrk="0" hangingPunct="0"/>
            <a:r>
              <a:rPr lang="en-US" altLang="zh-CN" sz="1700" dirty="0">
                <a:latin typeface="微软雅黑" panose="020B0503020204020204" pitchFamily="34" charset="-122"/>
                <a:ea typeface="微软雅黑" panose="020B0503020204020204" pitchFamily="34" charset="-122"/>
              </a:rPr>
              <a:t>module </a:t>
            </a:r>
            <a:r>
              <a:rPr lang="en-US" altLang="zh-CN" sz="1700" dirty="0">
                <a:solidFill>
                  <a:srgbClr val="FF0000"/>
                </a:solidFill>
                <a:latin typeface="微软雅黑" panose="020B0503020204020204" pitchFamily="34" charset="-122"/>
                <a:ea typeface="微软雅黑" panose="020B0503020204020204" pitchFamily="34" charset="-122"/>
              </a:rPr>
              <a:t>CLA_FLAGS</a:t>
            </a:r>
            <a:r>
              <a:rPr lang="en-US" altLang="zh-CN" sz="1700" dirty="0">
                <a:latin typeface="微软雅黑" panose="020B0503020204020204" pitchFamily="34" charset="-122"/>
                <a:ea typeface="微软雅黑" panose="020B0503020204020204" pitchFamily="34" charset="-122"/>
              </a:rPr>
              <a:t> (</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input [3:0] a, b,</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input cin,</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output [3:0] f,</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output OF, SF, ZF, CF,</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output cout	</a:t>
            </a:r>
            <a:endParaRPr lang="en-US"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a:t>
            </a:r>
            <a:endParaRPr lang="en-US"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 </a:t>
            </a:r>
            <a:r>
              <a:rPr lang="zh-CN" altLang="zh-CN" sz="1700" dirty="0">
                <a:latin typeface="微软雅黑" panose="020B0503020204020204" pitchFamily="34" charset="-122"/>
                <a:ea typeface="微软雅黑" panose="020B0503020204020204" pitchFamily="34" charset="-122"/>
              </a:rPr>
              <a:t>以下代码与</a:t>
            </a:r>
            <a:r>
              <a:rPr lang="en-US" altLang="zh-CN" sz="1700" dirty="0">
                <a:latin typeface="微软雅黑" panose="020B0503020204020204" pitchFamily="34" charset="-122"/>
                <a:ea typeface="微软雅黑" panose="020B0503020204020204" pitchFamily="34" charset="-122"/>
              </a:rPr>
              <a:t>CLA</a:t>
            </a:r>
            <a:r>
              <a:rPr lang="zh-CN" altLang="zh-CN" sz="1700" dirty="0">
                <a:latin typeface="微软雅黑" panose="020B0503020204020204" pitchFamily="34" charset="-122"/>
                <a:ea typeface="微软雅黑" panose="020B0503020204020204" pitchFamily="34" charset="-122"/>
              </a:rPr>
              <a:t>模块相同</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wire [4:0] c;</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wire [4:1] p, g;</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assign c[0] = cin;</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t>
            </a:r>
            <a:r>
              <a:rPr lang="en-US" altLang="zh-CN" sz="1700" dirty="0">
                <a:solidFill>
                  <a:srgbClr val="FF0000"/>
                </a:solidFill>
                <a:latin typeface="微软雅黑" panose="020B0503020204020204" pitchFamily="34" charset="-122"/>
                <a:ea typeface="微软雅黑" panose="020B0503020204020204" pitchFamily="34" charset="-122"/>
              </a:rPr>
              <a:t>FA_PG</a:t>
            </a:r>
            <a:r>
              <a:rPr lang="en-US" altLang="zh-CN" sz="1700" dirty="0">
                <a:latin typeface="微软雅黑" panose="020B0503020204020204" pitchFamily="34" charset="-122"/>
                <a:ea typeface="微软雅黑" panose="020B0503020204020204" pitchFamily="34" charset="-122"/>
              </a:rPr>
              <a:t> fa0(a[0], b[0], c[0], f[0], p[1], g[1]);       </a:t>
            </a:r>
            <a:endParaRPr lang="en-US"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t>
            </a:r>
            <a:r>
              <a:rPr lang="en-US" altLang="zh-CN" sz="1700" dirty="0">
                <a:solidFill>
                  <a:srgbClr val="FF0000"/>
                </a:solidFill>
                <a:latin typeface="微软雅黑" panose="020B0503020204020204" pitchFamily="34" charset="-122"/>
                <a:ea typeface="微软雅黑" panose="020B0503020204020204" pitchFamily="34" charset="-122"/>
              </a:rPr>
              <a:t>FA_PG</a:t>
            </a:r>
            <a:r>
              <a:rPr lang="en-US" altLang="zh-CN" sz="1700" dirty="0">
                <a:latin typeface="微软雅黑" panose="020B0503020204020204" pitchFamily="34" charset="-122"/>
                <a:ea typeface="微软雅黑" panose="020B0503020204020204" pitchFamily="34" charset="-122"/>
              </a:rPr>
              <a:t> fa1(a[1], b[1], c[1], f[1], p[2], g[2]);</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t>
            </a:r>
            <a:r>
              <a:rPr lang="en-US" altLang="zh-CN" sz="1700" dirty="0">
                <a:solidFill>
                  <a:srgbClr val="FF0000"/>
                </a:solidFill>
                <a:latin typeface="微软雅黑" panose="020B0503020204020204" pitchFamily="34" charset="-122"/>
                <a:ea typeface="微软雅黑" panose="020B0503020204020204" pitchFamily="34" charset="-122"/>
              </a:rPr>
              <a:t>FA_PG</a:t>
            </a:r>
            <a:r>
              <a:rPr lang="en-US" altLang="zh-CN" sz="1700" dirty="0">
                <a:latin typeface="微软雅黑" panose="020B0503020204020204" pitchFamily="34" charset="-122"/>
                <a:ea typeface="微软雅黑" panose="020B0503020204020204" pitchFamily="34" charset="-122"/>
              </a:rPr>
              <a:t> fa2(a[2], b[2], c[2], f[2], p[3], g[3]);</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t>
            </a:r>
            <a:r>
              <a:rPr lang="en-US" altLang="zh-CN" sz="1700" dirty="0">
                <a:solidFill>
                  <a:srgbClr val="FF0000"/>
                </a:solidFill>
                <a:latin typeface="微软雅黑" panose="020B0503020204020204" pitchFamily="34" charset="-122"/>
                <a:ea typeface="微软雅黑" panose="020B0503020204020204" pitchFamily="34" charset="-122"/>
              </a:rPr>
              <a:t>FA_PG</a:t>
            </a:r>
            <a:r>
              <a:rPr lang="en-US" altLang="zh-CN" sz="1700" dirty="0">
                <a:latin typeface="微软雅黑" panose="020B0503020204020204" pitchFamily="34" charset="-122"/>
                <a:ea typeface="微软雅黑" panose="020B0503020204020204" pitchFamily="34" charset="-122"/>
              </a:rPr>
              <a:t> fa3(a[3], b[3], c[3], f[3], p[4], g[4]);</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t>
            </a:r>
            <a:r>
              <a:rPr lang="en-US" altLang="zh-CN" sz="1700" dirty="0">
                <a:solidFill>
                  <a:srgbClr val="FF0000"/>
                </a:solidFill>
                <a:latin typeface="微软雅黑" panose="020B0503020204020204" pitchFamily="34" charset="-122"/>
                <a:ea typeface="微软雅黑" panose="020B0503020204020204" pitchFamily="34" charset="-122"/>
              </a:rPr>
              <a:t>CLU</a:t>
            </a:r>
            <a:r>
              <a:rPr lang="en-US" altLang="zh-CN" sz="1700" dirty="0">
                <a:latin typeface="微软雅黑" panose="020B0503020204020204" pitchFamily="34" charset="-122"/>
                <a:ea typeface="微软雅黑" panose="020B0503020204020204" pitchFamily="34" charset="-122"/>
              </a:rPr>
              <a:t> clu(p, g, c[0], c[4:1]);</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assign cout = c[4];</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 </a:t>
            </a:r>
            <a:r>
              <a:rPr lang="zh-CN" altLang="zh-CN" sz="1700" dirty="0">
                <a:latin typeface="微软雅黑" panose="020B0503020204020204" pitchFamily="34" charset="-122"/>
                <a:ea typeface="微软雅黑" panose="020B0503020204020204" pitchFamily="34" charset="-122"/>
              </a:rPr>
              <a:t>生成标志位</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assign OF = c[4] ^ c[3];</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assign SF = f[3];</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assign ZF = ~(|f);</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      assign CF = c[4] ^ c[0];</a:t>
            </a:r>
            <a:endParaRPr lang="zh-CN" altLang="zh-CN" sz="1700" dirty="0">
              <a:latin typeface="微软雅黑" panose="020B0503020204020204" pitchFamily="34" charset="-122"/>
              <a:ea typeface="微软雅黑" panose="020B0503020204020204" pitchFamily="34" charset="-122"/>
            </a:endParaRPr>
          </a:p>
          <a:p>
            <a:pPr eaLnBrk="0" hangingPunct="0"/>
            <a:r>
              <a:rPr lang="en-US" altLang="zh-CN" sz="1700" dirty="0">
                <a:latin typeface="微软雅黑" panose="020B0503020204020204" pitchFamily="34" charset="-122"/>
                <a:ea typeface="微软雅黑" panose="020B0503020204020204" pitchFamily="34" charset="-122"/>
              </a:rPr>
              <a:t>endmodule</a:t>
            </a:r>
            <a:endParaRPr lang="zh-CN" altLang="zh-CN" sz="1700" dirty="0">
              <a:latin typeface="微软雅黑" panose="020B0503020204020204" pitchFamily="34" charset="-122"/>
              <a:ea typeface="微软雅黑" panose="020B0503020204020204" pitchFamily="34" charset="-122"/>
            </a:endParaRPr>
          </a:p>
        </p:txBody>
      </p:sp>
      <p:sp>
        <p:nvSpPr>
          <p:cNvPr id="11" name="Rectangle 3"/>
          <p:cNvSpPr txBox="1">
            <a:spLocks noChangeArrowheads="1"/>
          </p:cNvSpPr>
          <p:nvPr/>
        </p:nvSpPr>
        <p:spPr>
          <a:xfrm>
            <a:off x="4446588" y="107950"/>
            <a:ext cx="4451350" cy="423863"/>
          </a:xfrm>
          <a:prstGeom prst="rect">
            <a:avLst/>
          </a:prstGeom>
          <a:noFill/>
        </p:spPr>
        <p:txBody>
          <a:bodyPr/>
          <a:lstStyle>
            <a:lvl1pPr marL="203200" indent="-203200" algn="l" rtl="0" eaLnBrk="0" fontAlgn="base" hangingPunct="0">
              <a:lnSpc>
                <a:spcPct val="110000"/>
              </a:lnSpc>
              <a:spcBef>
                <a:spcPct val="2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0" fontAlgn="base" hangingPunct="0">
              <a:lnSpc>
                <a:spcPct val="110000"/>
              </a:lnSpc>
              <a:spcBef>
                <a:spcPct val="20000"/>
              </a:spcBef>
              <a:spcAft>
                <a:spcPct val="0"/>
              </a:spcAft>
              <a:buSzPct val="100000"/>
              <a:buChar char="•"/>
              <a:defRPr sz="2000" b="1">
                <a:solidFill>
                  <a:srgbClr val="0000FF"/>
                </a:solidFill>
                <a:latin typeface="+mn-lt"/>
                <a:ea typeface="+mn-ea"/>
              </a:defRPr>
            </a:lvl2pPr>
            <a:lvl3pPr marL="1257300" indent="-342900" algn="l" rtl="0" eaLnBrk="0" fontAlgn="base" hangingPunct="0">
              <a:lnSpc>
                <a:spcPct val="110000"/>
              </a:lnSpc>
              <a:spcBef>
                <a:spcPct val="20000"/>
              </a:spcBef>
              <a:spcAft>
                <a:spcPct val="0"/>
              </a:spcAft>
              <a:buSzPct val="100000"/>
              <a:buChar char="-"/>
              <a:defRPr b="1">
                <a:solidFill>
                  <a:schemeClr val="tx1"/>
                </a:solidFill>
                <a:latin typeface="+mn-lt"/>
                <a:ea typeface="+mn-ea"/>
              </a:defRPr>
            </a:lvl3pPr>
            <a:lvl4pPr marL="1714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a:lstStyle>
          <a:p>
            <a:pPr marL="203200" marR="0" lvl="0" indent="-203200" algn="l" defTabSz="914400" rtl="0" eaLnBrk="0" fontAlgn="base" latinLnBrk="0" hangingPunct="0">
              <a:lnSpc>
                <a:spcPct val="110000"/>
              </a:lnSpc>
              <a:spcBef>
                <a:spcPct val="20000"/>
              </a:spcBef>
              <a:spcAft>
                <a:spcPct val="0"/>
              </a:spcAft>
              <a:buClr>
                <a:schemeClr val="tx1"/>
              </a:buClr>
              <a:buSzPct val="6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4</a:t>
            </a:r>
            <a:r>
              <a:rPr kumimoji="0" lang="zh-CN" altLang="en-US" sz="2200" b="1" i="0" u="none" strike="noStrike" kern="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位带标志先行进位加法器的实现</a:t>
            </a:r>
            <a:endParaRPr kumimoji="0" lang="en-US" altLang="zh-CN" sz="2200" b="1" i="0" u="none" strike="noStrike" kern="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xfrm>
            <a:off x="457200" y="98425"/>
            <a:ext cx="8229600" cy="561975"/>
          </a:xfrm>
          <a:ln/>
        </p:spPr>
        <p:txBody>
          <a:bodyPr vert="horz" wrap="square" lIns="63500" tIns="25400" rIns="63500" bIns="25400" anchor="t" anchorCtr="0">
            <a:spAutoFit/>
          </a:bodyPr>
          <a:p>
            <a:r>
              <a:rPr lang="zh-CN" altLang="en-US" sz="3600" dirty="0">
                <a:ea typeface="宋体" panose="02010600030101010101" pitchFamily="2" charset="-122"/>
              </a:rPr>
              <a:t>回顾：认识计算机中最基本的部件</a:t>
            </a:r>
            <a:endParaRPr lang="zh-CN" altLang="en-US" sz="3600" dirty="0">
              <a:ea typeface="宋体" panose="02010600030101010101" pitchFamily="2" charset="-122"/>
            </a:endParaRPr>
          </a:p>
        </p:txBody>
      </p:sp>
      <p:sp>
        <p:nvSpPr>
          <p:cNvPr id="30722" name="Text Box 3"/>
          <p:cNvSpPr txBox="1"/>
          <p:nvPr/>
        </p:nvSpPr>
        <p:spPr>
          <a:xfrm>
            <a:off x="304800" y="822325"/>
            <a:ext cx="8640763" cy="1144588"/>
          </a:xfrm>
          <a:prstGeom prst="rect">
            <a:avLst/>
          </a:prstGeom>
          <a:noFill/>
          <a:ln w="9525">
            <a:noFill/>
          </a:ln>
        </p:spPr>
        <p:txBody>
          <a:bodyPr anchor="t" anchorCtr="0">
            <a:spAutoFit/>
          </a:bodyPr>
          <a:p>
            <a:pPr marL="342900" indent="-342900" eaLnBrk="0" hangingPunct="0">
              <a:spcBef>
                <a:spcPct val="20000"/>
              </a:spcBef>
              <a:buClrTx/>
              <a:buFontTx/>
            </a:pPr>
            <a:r>
              <a:rPr lang="en-US" altLang="zh-CN" sz="1800" dirty="0">
                <a:latin typeface="微软雅黑" panose="020B0503020204020204" pitchFamily="34" charset="-122"/>
                <a:ea typeface="微软雅黑" panose="020B0503020204020204" pitchFamily="34" charset="-122"/>
              </a:rPr>
              <a:t>CPU</a:t>
            </a:r>
            <a:r>
              <a:rPr lang="zh-CN" altLang="en-US" sz="1800" dirty="0">
                <a:latin typeface="微软雅黑" panose="020B0503020204020204" pitchFamily="34" charset="-122"/>
                <a:ea typeface="微软雅黑" panose="020B0503020204020204" pitchFamily="34" charset="-122"/>
              </a:rPr>
              <a:t>：中央处理器；</a:t>
            </a:r>
            <a:r>
              <a:rPr lang="en-US" altLang="zh-CN" sz="1800" dirty="0">
                <a:latin typeface="微软雅黑" panose="020B0503020204020204" pitchFamily="34" charset="-122"/>
                <a:ea typeface="微软雅黑" panose="020B0503020204020204" pitchFamily="34" charset="-122"/>
              </a:rPr>
              <a:t>PC</a:t>
            </a:r>
            <a:r>
              <a:rPr lang="zh-CN" altLang="en-US" sz="1800" dirty="0">
                <a:latin typeface="微软雅黑" panose="020B0503020204020204" pitchFamily="34" charset="-122"/>
                <a:ea typeface="微软雅黑" panose="020B0503020204020204" pitchFamily="34" charset="-122"/>
              </a:rPr>
              <a:t>：程序计数器；</a:t>
            </a:r>
            <a:r>
              <a:rPr lang="en-US" altLang="zh-CN" sz="1800" dirty="0">
                <a:latin typeface="微软雅黑" panose="020B0503020204020204" pitchFamily="34" charset="-122"/>
                <a:ea typeface="微软雅黑" panose="020B0503020204020204" pitchFamily="34" charset="-122"/>
              </a:rPr>
              <a:t>MAR</a:t>
            </a:r>
            <a:r>
              <a:rPr lang="zh-CN" altLang="en-US" sz="1800" dirty="0">
                <a:latin typeface="微软雅黑" panose="020B0503020204020204" pitchFamily="34" charset="-122"/>
                <a:ea typeface="微软雅黑" panose="020B0503020204020204" pitchFamily="34" charset="-122"/>
              </a:rPr>
              <a:t>：存储器地址寄存器</a:t>
            </a:r>
            <a:endParaRPr lang="zh-CN" altLang="en-US" sz="1800" dirty="0">
              <a:latin typeface="微软雅黑" panose="020B0503020204020204" pitchFamily="34" charset="-122"/>
              <a:ea typeface="微软雅黑" panose="020B0503020204020204" pitchFamily="34" charset="-122"/>
            </a:endParaRPr>
          </a:p>
          <a:p>
            <a:pPr marL="342900" indent="-342900" eaLnBrk="0" hangingPunct="0">
              <a:spcBef>
                <a:spcPct val="20000"/>
              </a:spcBef>
              <a:buClrTx/>
              <a:buFontTx/>
            </a:pPr>
            <a:r>
              <a:rPr lang="en-US" altLang="zh-CN" sz="2400" dirty="0">
                <a:solidFill>
                  <a:srgbClr val="FF0000"/>
                </a:solidFill>
                <a:latin typeface="微软雅黑" panose="020B0503020204020204" pitchFamily="34" charset="-122"/>
                <a:ea typeface="微软雅黑" panose="020B0503020204020204" pitchFamily="34" charset="-122"/>
              </a:rPr>
              <a:t>ALU</a:t>
            </a:r>
            <a:r>
              <a:rPr lang="zh-CN" altLang="en-US" sz="2400" dirty="0">
                <a:solidFill>
                  <a:srgbClr val="FF0000"/>
                </a:solidFill>
                <a:latin typeface="微软雅黑" panose="020B0503020204020204" pitchFamily="34" charset="-122"/>
                <a:ea typeface="微软雅黑" panose="020B0503020204020204" pitchFamily="34" charset="-122"/>
              </a:rPr>
              <a:t>：算术逻辑部件</a:t>
            </a:r>
            <a:r>
              <a:rPr lang="zh-CN" altLang="en-US" sz="1800" dirty="0">
                <a:solidFill>
                  <a:srgbClr val="3333CC"/>
                </a:solidFill>
                <a:latin typeface="微软雅黑" panose="020B0503020204020204" pitchFamily="34" charset="-122"/>
                <a:ea typeface="微软雅黑" panose="020B0503020204020204" pitchFamily="34" charset="-122"/>
              </a:rPr>
              <a:t>；</a:t>
            </a:r>
            <a:r>
              <a:rPr lang="en-US" altLang="zh-CN" sz="1800" dirty="0">
                <a:solidFill>
                  <a:srgbClr val="3333CC"/>
                </a:solidFill>
                <a:latin typeface="微软雅黑" panose="020B0503020204020204" pitchFamily="34" charset="-122"/>
                <a:ea typeface="微软雅黑" panose="020B0503020204020204" pitchFamily="34" charset="-122"/>
              </a:rPr>
              <a:t>IR</a:t>
            </a:r>
            <a:r>
              <a:rPr lang="zh-CN" altLang="en-US" sz="1800" dirty="0">
                <a:solidFill>
                  <a:srgbClr val="3333CC"/>
                </a:solidFill>
                <a:latin typeface="微软雅黑" panose="020B0503020204020204" pitchFamily="34" charset="-122"/>
                <a:ea typeface="微软雅黑" panose="020B0503020204020204" pitchFamily="34" charset="-122"/>
              </a:rPr>
              <a:t>：指令寄存器；</a:t>
            </a:r>
            <a:r>
              <a:rPr lang="en-US" altLang="zh-CN" sz="1800" dirty="0">
                <a:solidFill>
                  <a:srgbClr val="3333CC"/>
                </a:solidFill>
                <a:latin typeface="微软雅黑" panose="020B0503020204020204" pitchFamily="34" charset="-122"/>
                <a:ea typeface="微软雅黑" panose="020B0503020204020204" pitchFamily="34" charset="-122"/>
              </a:rPr>
              <a:t>MDR</a:t>
            </a:r>
            <a:r>
              <a:rPr lang="zh-CN" altLang="en-US" sz="1800" dirty="0">
                <a:solidFill>
                  <a:srgbClr val="3333CC"/>
                </a:solidFill>
                <a:latin typeface="微软雅黑" panose="020B0503020204020204" pitchFamily="34" charset="-122"/>
                <a:ea typeface="微软雅黑" panose="020B0503020204020204" pitchFamily="34" charset="-122"/>
              </a:rPr>
              <a:t>：存储器数据寄存器</a:t>
            </a:r>
            <a:endParaRPr lang="zh-CN" altLang="en-US" sz="1800" dirty="0">
              <a:solidFill>
                <a:srgbClr val="3333CC"/>
              </a:solidFill>
              <a:latin typeface="微软雅黑" panose="020B0503020204020204" pitchFamily="34" charset="-122"/>
              <a:ea typeface="微软雅黑" panose="020B0503020204020204" pitchFamily="34" charset="-122"/>
            </a:endParaRPr>
          </a:p>
          <a:p>
            <a:pPr marL="342900" indent="-342900" eaLnBrk="0" hangingPunct="0">
              <a:spcBef>
                <a:spcPct val="2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GPRs</a:t>
            </a:r>
            <a:r>
              <a:rPr lang="zh-CN" altLang="en-US" sz="1800" dirty="0">
                <a:solidFill>
                  <a:srgbClr val="008000"/>
                </a:solidFill>
                <a:latin typeface="微软雅黑" panose="020B0503020204020204" pitchFamily="34" charset="-122"/>
                <a:ea typeface="微软雅黑" panose="020B0503020204020204" pitchFamily="34" charset="-122"/>
              </a:rPr>
              <a:t>：通用寄存器组（由若干通用寄存器组成）</a:t>
            </a:r>
            <a:endParaRPr lang="zh-CN" altLang="en-US" sz="1800" dirty="0">
              <a:solidFill>
                <a:srgbClr val="008000"/>
              </a:solidFill>
              <a:latin typeface="微软雅黑" panose="020B0503020204020204" pitchFamily="34" charset="-122"/>
              <a:ea typeface="微软雅黑" panose="020B0503020204020204" pitchFamily="34" charset="-122"/>
            </a:endParaRPr>
          </a:p>
        </p:txBody>
      </p:sp>
      <p:grpSp>
        <p:nvGrpSpPr>
          <p:cNvPr id="30723" name="Group 4"/>
          <p:cNvGrpSpPr/>
          <p:nvPr/>
        </p:nvGrpSpPr>
        <p:grpSpPr>
          <a:xfrm>
            <a:off x="206375" y="2214563"/>
            <a:ext cx="8866188" cy="4545012"/>
            <a:chOff x="130" y="1395"/>
            <a:chExt cx="5585" cy="2863"/>
          </a:xfrm>
        </p:grpSpPr>
        <p:sp>
          <p:nvSpPr>
            <p:cNvPr id="30724" name="Text Box 5"/>
            <p:cNvSpPr txBox="1"/>
            <p:nvPr/>
          </p:nvSpPr>
          <p:spPr>
            <a:xfrm>
              <a:off x="414" y="1791"/>
              <a:ext cx="935" cy="294"/>
            </a:xfrm>
            <a:prstGeom prst="rect">
              <a:avLst/>
            </a:prstGeom>
            <a:solidFill>
              <a:srgbClr val="0000FF">
                <a:alpha val="25882"/>
              </a:srgbClr>
            </a:solidFill>
            <a:ln w="9525" cap="flat" cmpd="sng">
              <a:solidFill>
                <a:schemeClr val="tx1"/>
              </a:solidFill>
              <a:prstDash val="solid"/>
              <a:miter/>
              <a:headEnd type="none" w="med" len="med"/>
              <a:tailEnd type="none" w="med" len="med"/>
            </a:ln>
          </p:spPr>
          <p:txBody>
            <a:bodyPr anchor="t" anchorCtr="0">
              <a:spAutoFit/>
            </a:bodyPr>
            <a:p>
              <a:pPr marL="342900" indent="-342900" eaLnBrk="0" hangingPunct="0">
                <a:buClrTx/>
                <a:buFontTx/>
              </a:pPr>
              <a:r>
                <a:rPr lang="zh-CN" altLang="en-US" sz="2400" dirty="0">
                  <a:latin typeface="微软雅黑" panose="020B0503020204020204" pitchFamily="34" charset="-122"/>
                  <a:ea typeface="微软雅黑" panose="020B0503020204020204" pitchFamily="34" charset="-122"/>
                </a:rPr>
                <a:t>  控制器</a:t>
              </a:r>
              <a:endParaRPr lang="zh-CN" altLang="en-US" sz="2400" dirty="0">
                <a:latin typeface="微软雅黑" panose="020B0503020204020204" pitchFamily="34" charset="-122"/>
                <a:ea typeface="微软雅黑" panose="020B0503020204020204" pitchFamily="34" charset="-122"/>
              </a:endParaRPr>
            </a:p>
          </p:txBody>
        </p:sp>
        <p:sp>
          <p:nvSpPr>
            <p:cNvPr id="30725" name="Rectangle 6"/>
            <p:cNvSpPr/>
            <p:nvPr/>
          </p:nvSpPr>
          <p:spPr>
            <a:xfrm>
              <a:off x="215" y="1508"/>
              <a:ext cx="3118" cy="2665"/>
            </a:xfrm>
            <a:prstGeom prst="rect">
              <a:avLst/>
            </a:prstGeom>
            <a:noFill/>
            <a:ln w="38100" cap="rnd" cmpd="sng">
              <a:solidFill>
                <a:srgbClr val="FF0000"/>
              </a:solidFill>
              <a:prstDash val="sysDot"/>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26" name="Text Box 7"/>
            <p:cNvSpPr txBox="1"/>
            <p:nvPr/>
          </p:nvSpPr>
          <p:spPr>
            <a:xfrm>
              <a:off x="357" y="1508"/>
              <a:ext cx="538" cy="288"/>
            </a:xfrm>
            <a:prstGeom prst="rect">
              <a:avLst/>
            </a:prstGeom>
            <a:noFill/>
            <a:ln w="9525">
              <a:noFill/>
            </a:ln>
          </p:spPr>
          <p:txBody>
            <a:bodyPr anchor="t" anchorCtr="0">
              <a:spAutoFit/>
            </a:bodyPr>
            <a:p>
              <a:pPr marL="342900" indent="-342900" eaLnBrk="0" hangingPunct="0">
                <a:spcBef>
                  <a:spcPct val="50000"/>
                </a:spcBef>
                <a:buClrTx/>
                <a:buFontTx/>
              </a:pPr>
              <a:r>
                <a:rPr lang="en-US" altLang="zh-CN" sz="2400" dirty="0">
                  <a:solidFill>
                    <a:srgbClr val="FF0000"/>
                  </a:solidFill>
                  <a:latin typeface="微软雅黑" panose="020B0503020204020204" pitchFamily="34" charset="-122"/>
                  <a:ea typeface="微软雅黑" panose="020B0503020204020204" pitchFamily="34" charset="-122"/>
                </a:rPr>
                <a:t>CPU</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30727" name="Text Box 8"/>
            <p:cNvSpPr txBox="1"/>
            <p:nvPr/>
          </p:nvSpPr>
          <p:spPr>
            <a:xfrm>
              <a:off x="1689" y="1848"/>
              <a:ext cx="652" cy="237"/>
            </a:xfrm>
            <a:prstGeom prst="rect">
              <a:avLst/>
            </a:prstGeom>
            <a:solidFill>
              <a:srgbClr val="FF0000">
                <a:alpha val="18039"/>
              </a:srgbClr>
            </a:solidFill>
            <a:ln w="9525" cap="flat" cmpd="sng">
              <a:solidFill>
                <a:schemeClr val="tx1"/>
              </a:solidFill>
              <a:prstDash val="solid"/>
              <a:miter/>
              <a:headEnd type="none" w="med" len="med"/>
              <a:tailEnd type="none" w="med" len="med"/>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    PC</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728" name="Text Box 9"/>
            <p:cNvSpPr txBox="1"/>
            <p:nvPr/>
          </p:nvSpPr>
          <p:spPr>
            <a:xfrm>
              <a:off x="5277" y="2075"/>
              <a:ext cx="438" cy="524"/>
            </a:xfrm>
            <a:prstGeom prst="rect">
              <a:avLst/>
            </a:prstGeom>
            <a:solidFill>
              <a:srgbClr val="0000FF">
                <a:alpha val="25882"/>
              </a:srgbClr>
            </a:solidFill>
            <a:ln w="9525" cap="flat" cmpd="sng">
              <a:solidFill>
                <a:schemeClr val="tx1"/>
              </a:solidFill>
              <a:prstDash val="solid"/>
              <a:miter/>
              <a:headEnd type="none" w="med" len="med"/>
              <a:tailEnd type="none" w="med" len="med"/>
            </a:ln>
          </p:spPr>
          <p:txBody>
            <a:bodyPr lIns="0" rIns="0" anchor="t" anchorCtr="0">
              <a:spAutoFit/>
            </a:bodyPr>
            <a:p>
              <a:pPr marL="342900" indent="-342900" eaLnBrk="0" hangingPunct="0">
                <a:buClrTx/>
                <a:buFontTx/>
              </a:pPr>
              <a:r>
                <a:rPr lang="zh-CN" altLang="en-US" sz="2400" dirty="0">
                  <a:solidFill>
                    <a:srgbClr val="CC3300"/>
                  </a:solidFill>
                  <a:latin typeface="微软雅黑" panose="020B0503020204020204" pitchFamily="34" charset="-122"/>
                  <a:ea typeface="微软雅黑" panose="020B0503020204020204" pitchFamily="34" charset="-122"/>
                </a:rPr>
                <a:t>输入</a:t>
              </a:r>
              <a:endParaRPr lang="zh-CN" altLang="en-US" sz="2400" dirty="0">
                <a:solidFill>
                  <a:srgbClr val="CC3300"/>
                </a:solidFill>
                <a:latin typeface="微软雅黑" panose="020B0503020204020204" pitchFamily="34" charset="-122"/>
                <a:ea typeface="微软雅黑" panose="020B0503020204020204" pitchFamily="34" charset="-122"/>
              </a:endParaRPr>
            </a:p>
            <a:p>
              <a:pPr marL="342900" indent="-342900" eaLnBrk="0" hangingPunct="0">
                <a:buClrTx/>
                <a:buFontTx/>
              </a:pPr>
              <a:r>
                <a:rPr lang="zh-CN" altLang="en-US" sz="2400" dirty="0">
                  <a:solidFill>
                    <a:srgbClr val="CC3300"/>
                  </a:solidFill>
                  <a:latin typeface="微软雅黑" panose="020B0503020204020204" pitchFamily="34" charset="-122"/>
                  <a:ea typeface="微软雅黑" panose="020B0503020204020204" pitchFamily="34" charset="-122"/>
                </a:rPr>
                <a:t>设备</a:t>
              </a:r>
              <a:endParaRPr lang="zh-CN" altLang="en-US" sz="2400" dirty="0">
                <a:solidFill>
                  <a:srgbClr val="CC3300"/>
                </a:solidFill>
                <a:latin typeface="微软雅黑" panose="020B0503020204020204" pitchFamily="34" charset="-122"/>
                <a:ea typeface="微软雅黑" panose="020B0503020204020204" pitchFamily="34" charset="-122"/>
              </a:endParaRPr>
            </a:p>
          </p:txBody>
        </p:sp>
        <p:sp>
          <p:nvSpPr>
            <p:cNvPr id="30729" name="AutoShape 10"/>
            <p:cNvSpPr/>
            <p:nvPr/>
          </p:nvSpPr>
          <p:spPr>
            <a:xfrm>
              <a:off x="5018" y="2302"/>
              <a:ext cx="227" cy="141"/>
            </a:xfrm>
            <a:prstGeom prst="leftRightArrow">
              <a:avLst>
                <a:gd name="adj1" fmla="val 50000"/>
                <a:gd name="adj2" fmla="val 32146"/>
              </a:avLst>
            </a:prstGeom>
            <a:solidFill>
              <a:schemeClr val="bg1"/>
            </a:solidFill>
            <a:ln w="28575" cap="flat" cmpd="sng">
              <a:solidFill>
                <a:srgbClr val="CC3300"/>
              </a:solidFill>
              <a:prstDash val="solid"/>
              <a:miter/>
              <a:headEnd type="none" w="med" len="med"/>
              <a:tailEnd type="none" w="med" len="med"/>
            </a:ln>
          </p:spPr>
          <p:txBody>
            <a:bodyPr wrap="none" anchor="ctr" anchorCtr="0"/>
            <a:p>
              <a:pPr marL="342900" indent="-342900" algn="ctr" eaLnBrk="0" hangingPunct="0">
                <a:buClrTx/>
                <a:buFontTx/>
              </a:pPr>
              <a:endParaRPr lang="zh-CN" altLang="en-US" sz="1800" dirty="0">
                <a:solidFill>
                  <a:srgbClr val="CC3300"/>
                </a:solidFill>
                <a:latin typeface="微软雅黑" panose="020B0503020204020204" pitchFamily="34" charset="-122"/>
                <a:ea typeface="微软雅黑" panose="020B0503020204020204" pitchFamily="34" charset="-122"/>
              </a:endParaRPr>
            </a:p>
          </p:txBody>
        </p:sp>
        <p:sp>
          <p:nvSpPr>
            <p:cNvPr id="30730" name="Text Box 11"/>
            <p:cNvSpPr txBox="1"/>
            <p:nvPr/>
          </p:nvSpPr>
          <p:spPr>
            <a:xfrm>
              <a:off x="5277" y="2954"/>
              <a:ext cx="438" cy="524"/>
            </a:xfrm>
            <a:prstGeom prst="rect">
              <a:avLst/>
            </a:prstGeom>
            <a:solidFill>
              <a:srgbClr val="0000FF">
                <a:alpha val="25882"/>
              </a:srgbClr>
            </a:solidFill>
            <a:ln w="9525" cap="flat" cmpd="sng">
              <a:solidFill>
                <a:schemeClr val="tx1"/>
              </a:solidFill>
              <a:prstDash val="solid"/>
              <a:miter/>
              <a:headEnd type="none" w="med" len="med"/>
              <a:tailEnd type="none" w="med" len="med"/>
            </a:ln>
          </p:spPr>
          <p:txBody>
            <a:bodyPr lIns="0" rIns="0" anchor="t" anchorCtr="0">
              <a:spAutoFit/>
            </a:bodyPr>
            <a:p>
              <a:pPr marL="342900" indent="-342900" eaLnBrk="0" hangingPunct="0">
                <a:buClrTx/>
                <a:buFontTx/>
              </a:pPr>
              <a:r>
                <a:rPr lang="zh-CN" altLang="en-US" sz="2400" dirty="0">
                  <a:solidFill>
                    <a:srgbClr val="CC3300"/>
                  </a:solidFill>
                  <a:latin typeface="微软雅黑" panose="020B0503020204020204" pitchFamily="34" charset="-122"/>
                  <a:ea typeface="微软雅黑" panose="020B0503020204020204" pitchFamily="34" charset="-122"/>
                </a:rPr>
                <a:t>输出</a:t>
              </a:r>
              <a:endParaRPr lang="en-US" altLang="zh-CN" sz="2400" dirty="0">
                <a:solidFill>
                  <a:srgbClr val="CC3300"/>
                </a:solidFill>
                <a:latin typeface="微软雅黑" panose="020B0503020204020204" pitchFamily="34" charset="-122"/>
                <a:ea typeface="微软雅黑" panose="020B0503020204020204" pitchFamily="34" charset="-122"/>
              </a:endParaRPr>
            </a:p>
            <a:p>
              <a:pPr marL="342900" indent="-342900" eaLnBrk="0" hangingPunct="0">
                <a:buClrTx/>
                <a:buFontTx/>
              </a:pPr>
              <a:r>
                <a:rPr lang="zh-CN" altLang="en-US" sz="2400" dirty="0">
                  <a:solidFill>
                    <a:srgbClr val="CC3300"/>
                  </a:solidFill>
                  <a:latin typeface="微软雅黑" panose="020B0503020204020204" pitchFamily="34" charset="-122"/>
                  <a:ea typeface="微软雅黑" panose="020B0503020204020204" pitchFamily="34" charset="-122"/>
                </a:rPr>
                <a:t>设备</a:t>
              </a:r>
              <a:endParaRPr lang="zh-CN" altLang="en-US" sz="2400" dirty="0">
                <a:solidFill>
                  <a:srgbClr val="CC3300"/>
                </a:solidFill>
                <a:latin typeface="微软雅黑" panose="020B0503020204020204" pitchFamily="34" charset="-122"/>
                <a:ea typeface="微软雅黑" panose="020B0503020204020204" pitchFamily="34" charset="-122"/>
              </a:endParaRPr>
            </a:p>
          </p:txBody>
        </p:sp>
        <p:sp>
          <p:nvSpPr>
            <p:cNvPr id="30731" name="AutoShape 12"/>
            <p:cNvSpPr/>
            <p:nvPr/>
          </p:nvSpPr>
          <p:spPr>
            <a:xfrm>
              <a:off x="4990" y="3124"/>
              <a:ext cx="255" cy="142"/>
            </a:xfrm>
            <a:prstGeom prst="leftRightArrow">
              <a:avLst>
                <a:gd name="adj1" fmla="val 50000"/>
                <a:gd name="adj2" fmla="val 35857"/>
              </a:avLst>
            </a:prstGeom>
            <a:solidFill>
              <a:schemeClr val="bg1"/>
            </a:solidFill>
            <a:ln w="28575" cap="flat" cmpd="sng">
              <a:solidFill>
                <a:srgbClr val="CC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32" name="Text Box 13"/>
            <p:cNvSpPr txBox="1"/>
            <p:nvPr/>
          </p:nvSpPr>
          <p:spPr>
            <a:xfrm>
              <a:off x="2511" y="1848"/>
              <a:ext cx="680" cy="237"/>
            </a:xfrm>
            <a:prstGeom prst="rect">
              <a:avLst/>
            </a:prstGeom>
            <a:solidFill>
              <a:srgbClr val="FF0000">
                <a:alpha val="18039"/>
              </a:srgbClr>
            </a:solidFill>
            <a:ln w="9525" cap="flat" cmpd="sng">
              <a:solidFill>
                <a:schemeClr val="tx1"/>
              </a:solidFill>
              <a:prstDash val="solid"/>
              <a:miter/>
              <a:headEnd type="none" w="med" len="med"/>
              <a:tailEnd type="none" w="med" len="med"/>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  MAR</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733" name="Text Box 14"/>
            <p:cNvSpPr txBox="1"/>
            <p:nvPr/>
          </p:nvSpPr>
          <p:spPr>
            <a:xfrm>
              <a:off x="2540" y="3747"/>
              <a:ext cx="680" cy="237"/>
            </a:xfrm>
            <a:prstGeom prst="rect">
              <a:avLst/>
            </a:prstGeom>
            <a:solidFill>
              <a:srgbClr val="FF0000">
                <a:alpha val="18039"/>
              </a:srgbClr>
            </a:solidFill>
            <a:ln w="9525" cap="flat" cmpd="sng">
              <a:solidFill>
                <a:schemeClr val="tx1"/>
              </a:solidFill>
              <a:prstDash val="solid"/>
              <a:miter/>
              <a:headEnd type="none" w="med" len="med"/>
              <a:tailEnd type="none" w="med" len="med"/>
            </a:ln>
          </p:spPr>
          <p:txBody>
            <a:bodyPr anchor="t" anchorCtr="0">
              <a:spAutoFit/>
            </a:bodyPr>
            <a:p>
              <a:pPr marL="342900" indent="-342900" eaLnBrk="0" hangingPunct="0">
                <a:spcBef>
                  <a:spcPct val="50000"/>
                </a:spcBef>
                <a:buClrTx/>
                <a:buFontTx/>
              </a:pPr>
              <a:r>
                <a:rPr lang="en-US" altLang="zh-CN" sz="1800" dirty="0">
                  <a:solidFill>
                    <a:schemeClr val="accent2"/>
                  </a:solidFill>
                  <a:latin typeface="微软雅黑" panose="020B0503020204020204" pitchFamily="34" charset="-122"/>
                  <a:ea typeface="微软雅黑" panose="020B0503020204020204" pitchFamily="34" charset="-122"/>
                </a:rPr>
                <a:t>  MDR</a:t>
              </a:r>
              <a:endParaRPr lang="en-US" altLang="zh-CN" sz="1800" dirty="0">
                <a:solidFill>
                  <a:schemeClr val="accent2"/>
                </a:solidFill>
                <a:latin typeface="微软雅黑" panose="020B0503020204020204" pitchFamily="34" charset="-122"/>
                <a:ea typeface="微软雅黑" panose="020B0503020204020204" pitchFamily="34" charset="-122"/>
              </a:endParaRPr>
            </a:p>
          </p:txBody>
        </p:sp>
        <p:sp>
          <p:nvSpPr>
            <p:cNvPr id="30734" name="Line 15"/>
            <p:cNvSpPr/>
            <p:nvPr/>
          </p:nvSpPr>
          <p:spPr>
            <a:xfrm>
              <a:off x="1349" y="1961"/>
              <a:ext cx="340" cy="0"/>
            </a:xfrm>
            <a:prstGeom prst="line">
              <a:avLst/>
            </a:prstGeom>
            <a:ln w="38100" cap="flat" cmpd="sng">
              <a:solidFill>
                <a:srgbClr val="FF3300"/>
              </a:solidFill>
              <a:prstDash val="dash"/>
              <a:round/>
              <a:headEnd type="none" w="med" len="med"/>
              <a:tailEnd type="triangle" w="med" len="med"/>
            </a:ln>
          </p:spPr>
        </p:sp>
        <p:sp>
          <p:nvSpPr>
            <p:cNvPr id="30735" name="Line 16"/>
            <p:cNvSpPr/>
            <p:nvPr/>
          </p:nvSpPr>
          <p:spPr>
            <a:xfrm>
              <a:off x="2341" y="1961"/>
              <a:ext cx="171" cy="0"/>
            </a:xfrm>
            <a:prstGeom prst="line">
              <a:avLst/>
            </a:prstGeom>
            <a:ln w="38100" cap="flat" cmpd="sng">
              <a:solidFill>
                <a:srgbClr val="007635"/>
              </a:solidFill>
              <a:prstDash val="solid"/>
              <a:round/>
              <a:headEnd type="none" w="med" len="med"/>
              <a:tailEnd type="triangle" w="med" len="med"/>
            </a:ln>
          </p:spPr>
        </p:sp>
        <p:sp>
          <p:nvSpPr>
            <p:cNvPr id="30736" name="Line 17"/>
            <p:cNvSpPr/>
            <p:nvPr/>
          </p:nvSpPr>
          <p:spPr>
            <a:xfrm>
              <a:off x="2767" y="3435"/>
              <a:ext cx="0" cy="312"/>
            </a:xfrm>
            <a:prstGeom prst="line">
              <a:avLst/>
            </a:prstGeom>
            <a:ln w="38100" cap="flat" cmpd="sng">
              <a:solidFill>
                <a:srgbClr val="3333CC"/>
              </a:solidFill>
              <a:prstDash val="solid"/>
              <a:round/>
              <a:headEnd type="triangle" w="med" len="med"/>
              <a:tailEnd type="triangle" w="med" len="med"/>
            </a:ln>
          </p:spPr>
        </p:sp>
        <p:grpSp>
          <p:nvGrpSpPr>
            <p:cNvPr id="30737" name="Group 18"/>
            <p:cNvGrpSpPr/>
            <p:nvPr/>
          </p:nvGrpSpPr>
          <p:grpSpPr>
            <a:xfrm>
              <a:off x="1746" y="2330"/>
              <a:ext cx="482" cy="935"/>
              <a:chOff x="3135" y="2472"/>
              <a:chExt cx="454" cy="935"/>
            </a:xfrm>
          </p:grpSpPr>
          <p:grpSp>
            <p:nvGrpSpPr>
              <p:cNvPr id="30738" name="Group 19"/>
              <p:cNvGrpSpPr/>
              <p:nvPr/>
            </p:nvGrpSpPr>
            <p:grpSpPr>
              <a:xfrm flipH="1">
                <a:off x="3135" y="2472"/>
                <a:ext cx="454" cy="935"/>
                <a:chOff x="3078" y="2330"/>
                <a:chExt cx="625" cy="1580"/>
              </a:xfrm>
            </p:grpSpPr>
            <p:sp>
              <p:nvSpPr>
                <p:cNvPr id="30739" name="Line 12"/>
                <p:cNvSpPr/>
                <p:nvPr/>
              </p:nvSpPr>
              <p:spPr>
                <a:xfrm flipH="1">
                  <a:off x="3078" y="2330"/>
                  <a:ext cx="9" cy="691"/>
                </a:xfrm>
                <a:prstGeom prst="line">
                  <a:avLst/>
                </a:prstGeom>
                <a:ln w="25400" cap="flat" cmpd="sng">
                  <a:solidFill>
                    <a:schemeClr val="tx1"/>
                  </a:solidFill>
                  <a:prstDash val="solid"/>
                  <a:round/>
                  <a:headEnd type="none" w="med" len="med"/>
                  <a:tailEnd type="none" w="med" len="med"/>
                </a:ln>
              </p:spPr>
            </p:sp>
            <p:sp>
              <p:nvSpPr>
                <p:cNvPr id="30740" name="Line 13"/>
                <p:cNvSpPr/>
                <p:nvPr/>
              </p:nvSpPr>
              <p:spPr>
                <a:xfrm>
                  <a:off x="3107" y="2330"/>
                  <a:ext cx="592" cy="307"/>
                </a:xfrm>
                <a:prstGeom prst="line">
                  <a:avLst/>
                </a:prstGeom>
                <a:ln w="25400" cap="flat" cmpd="sng">
                  <a:solidFill>
                    <a:schemeClr val="tx1"/>
                  </a:solidFill>
                  <a:prstDash val="solid"/>
                  <a:round/>
                  <a:headEnd type="none" w="med" len="med"/>
                  <a:tailEnd type="none" w="med" len="med"/>
                </a:ln>
              </p:spPr>
            </p:sp>
            <p:sp>
              <p:nvSpPr>
                <p:cNvPr id="30741" name="Line 14"/>
                <p:cNvSpPr/>
                <p:nvPr/>
              </p:nvSpPr>
              <p:spPr>
                <a:xfrm>
                  <a:off x="3087" y="3018"/>
                  <a:ext cx="213" cy="110"/>
                </a:xfrm>
                <a:prstGeom prst="line">
                  <a:avLst/>
                </a:prstGeom>
                <a:ln w="25400" cap="flat" cmpd="sng">
                  <a:solidFill>
                    <a:schemeClr val="tx1"/>
                  </a:solidFill>
                  <a:prstDash val="solid"/>
                  <a:round/>
                  <a:headEnd type="none" w="med" len="med"/>
                  <a:tailEnd type="none" w="med" len="med"/>
                </a:ln>
              </p:spPr>
            </p:sp>
            <p:sp>
              <p:nvSpPr>
                <p:cNvPr id="30742" name="Line 16"/>
                <p:cNvSpPr/>
                <p:nvPr/>
              </p:nvSpPr>
              <p:spPr>
                <a:xfrm>
                  <a:off x="3693" y="2644"/>
                  <a:ext cx="10" cy="457"/>
                </a:xfrm>
                <a:prstGeom prst="line">
                  <a:avLst/>
                </a:prstGeom>
                <a:ln w="25400" cap="flat" cmpd="sng">
                  <a:solidFill>
                    <a:schemeClr val="tx1"/>
                  </a:solidFill>
                  <a:prstDash val="solid"/>
                  <a:round/>
                  <a:headEnd type="none" w="med" len="med"/>
                  <a:tailEnd type="none" w="med" len="med"/>
                </a:ln>
              </p:spPr>
            </p:sp>
            <p:sp>
              <p:nvSpPr>
                <p:cNvPr id="30743" name="Line 18"/>
                <p:cNvSpPr/>
                <p:nvPr/>
              </p:nvSpPr>
              <p:spPr>
                <a:xfrm flipV="1">
                  <a:off x="3120" y="3256"/>
                  <a:ext cx="0" cy="654"/>
                </a:xfrm>
                <a:prstGeom prst="line">
                  <a:avLst/>
                </a:prstGeom>
                <a:ln w="25400" cap="flat" cmpd="sng">
                  <a:solidFill>
                    <a:schemeClr val="tx1"/>
                  </a:solidFill>
                  <a:prstDash val="solid"/>
                  <a:round/>
                  <a:headEnd type="none" w="med" len="med"/>
                  <a:tailEnd type="none" w="med" len="med"/>
                </a:ln>
              </p:spPr>
            </p:sp>
            <p:sp>
              <p:nvSpPr>
                <p:cNvPr id="30744" name="Line 19"/>
                <p:cNvSpPr/>
                <p:nvPr/>
              </p:nvSpPr>
              <p:spPr>
                <a:xfrm flipV="1">
                  <a:off x="3135" y="3549"/>
                  <a:ext cx="564" cy="349"/>
                </a:xfrm>
                <a:prstGeom prst="line">
                  <a:avLst/>
                </a:prstGeom>
                <a:ln w="25400" cap="flat" cmpd="sng">
                  <a:solidFill>
                    <a:schemeClr val="tx1"/>
                  </a:solidFill>
                  <a:prstDash val="solid"/>
                  <a:round/>
                  <a:headEnd type="none" w="med" len="med"/>
                  <a:tailEnd type="none" w="med" len="med"/>
                </a:ln>
              </p:spPr>
            </p:sp>
            <p:sp>
              <p:nvSpPr>
                <p:cNvPr id="30745" name="Line 20"/>
                <p:cNvSpPr/>
                <p:nvPr/>
              </p:nvSpPr>
              <p:spPr>
                <a:xfrm flipV="1">
                  <a:off x="3121" y="3125"/>
                  <a:ext cx="171" cy="124"/>
                </a:xfrm>
                <a:prstGeom prst="line">
                  <a:avLst/>
                </a:prstGeom>
                <a:ln w="25400" cap="flat" cmpd="sng">
                  <a:solidFill>
                    <a:schemeClr val="tx1"/>
                  </a:solidFill>
                  <a:prstDash val="solid"/>
                  <a:round/>
                  <a:headEnd type="none" w="med" len="med"/>
                  <a:tailEnd type="none" w="med" len="med"/>
                </a:ln>
              </p:spPr>
            </p:sp>
            <p:sp>
              <p:nvSpPr>
                <p:cNvPr id="30746" name="Line 22"/>
                <p:cNvSpPr/>
                <p:nvPr/>
              </p:nvSpPr>
              <p:spPr>
                <a:xfrm flipV="1">
                  <a:off x="3702" y="3067"/>
                  <a:ext cx="0" cy="481"/>
                </a:xfrm>
                <a:prstGeom prst="line">
                  <a:avLst/>
                </a:prstGeom>
                <a:ln w="25400" cap="flat" cmpd="sng">
                  <a:solidFill>
                    <a:schemeClr val="tx1"/>
                  </a:solidFill>
                  <a:prstDash val="solid"/>
                  <a:round/>
                  <a:headEnd type="none" w="med" len="med"/>
                  <a:tailEnd type="none" w="med" len="med"/>
                </a:ln>
              </p:spPr>
            </p:sp>
          </p:grpSp>
          <p:sp>
            <p:nvSpPr>
              <p:cNvPr id="30747" name="Rectangle 25"/>
              <p:cNvSpPr/>
              <p:nvPr/>
            </p:nvSpPr>
            <p:spPr>
              <a:xfrm rot="-5400000" flipH="1">
                <a:off x="3033" y="2830"/>
                <a:ext cx="510" cy="248"/>
              </a:xfrm>
              <a:prstGeom prst="rect">
                <a:avLst/>
              </a:prstGeom>
              <a:noFill/>
              <a:ln w="12700">
                <a:noFill/>
              </a:ln>
            </p:spPr>
            <p:txBody>
              <a:bodyPr lIns="90488" tIns="44450" rIns="90488" bIns="44450" anchor="t" anchorCtr="0">
                <a:spAutoFit/>
              </a:bodyPr>
              <a:p>
                <a:pPr eaLnBrk="0" hangingPunct="0">
                  <a:lnSpc>
                    <a:spcPct val="90000"/>
                  </a:lnSpc>
                  <a:buClrTx/>
                  <a:buFontTx/>
                </a:pPr>
                <a:r>
                  <a:rPr lang="en-US" altLang="zh-CN" sz="2400" dirty="0">
                    <a:latin typeface="Arial" panose="020B0604020202020204" pitchFamily="34" charset="0"/>
                  </a:rPr>
                  <a:t>ALU</a:t>
                </a:r>
                <a:endParaRPr lang="en-US" altLang="zh-CN" sz="2400" dirty="0">
                  <a:latin typeface="Arial" panose="020B0604020202020204" pitchFamily="34" charset="0"/>
                  <a:ea typeface="Arial" panose="020B0604020202020204" pitchFamily="34" charset="0"/>
                </a:endParaRPr>
              </a:p>
            </p:txBody>
          </p:sp>
        </p:grpSp>
        <p:grpSp>
          <p:nvGrpSpPr>
            <p:cNvPr id="30748" name="Group 29"/>
            <p:cNvGrpSpPr/>
            <p:nvPr/>
          </p:nvGrpSpPr>
          <p:grpSpPr>
            <a:xfrm>
              <a:off x="2200" y="2585"/>
              <a:ext cx="255" cy="510"/>
              <a:chOff x="2030" y="2415"/>
              <a:chExt cx="341" cy="510"/>
            </a:xfrm>
          </p:grpSpPr>
          <p:sp>
            <p:nvSpPr>
              <p:cNvPr id="30749" name="Line 30"/>
              <p:cNvSpPr/>
              <p:nvPr/>
            </p:nvSpPr>
            <p:spPr>
              <a:xfrm flipH="1">
                <a:off x="2031" y="2415"/>
                <a:ext cx="340" cy="0"/>
              </a:xfrm>
              <a:prstGeom prst="line">
                <a:avLst/>
              </a:prstGeom>
              <a:ln w="38100" cap="flat" cmpd="sng">
                <a:solidFill>
                  <a:srgbClr val="3333CC"/>
                </a:solidFill>
                <a:prstDash val="solid"/>
                <a:round/>
                <a:headEnd type="none" w="med" len="med"/>
                <a:tailEnd type="triangle" w="med" len="med"/>
              </a:ln>
            </p:spPr>
          </p:sp>
          <p:sp>
            <p:nvSpPr>
              <p:cNvPr id="30750" name="Line 31"/>
              <p:cNvSpPr/>
              <p:nvPr/>
            </p:nvSpPr>
            <p:spPr>
              <a:xfrm flipH="1">
                <a:off x="2030" y="2925"/>
                <a:ext cx="340" cy="0"/>
              </a:xfrm>
              <a:prstGeom prst="line">
                <a:avLst/>
              </a:prstGeom>
              <a:ln w="38100" cap="flat" cmpd="sng">
                <a:solidFill>
                  <a:srgbClr val="3333CC"/>
                </a:solidFill>
                <a:prstDash val="solid"/>
                <a:round/>
                <a:headEnd type="none" w="med" len="med"/>
                <a:tailEnd type="triangle" w="med" len="med"/>
              </a:ln>
            </p:spPr>
          </p:sp>
        </p:grpSp>
        <p:sp>
          <p:nvSpPr>
            <p:cNvPr id="30751" name="Text Box 32"/>
            <p:cNvSpPr txBox="1"/>
            <p:nvPr/>
          </p:nvSpPr>
          <p:spPr>
            <a:xfrm>
              <a:off x="1122" y="2273"/>
              <a:ext cx="284" cy="1024"/>
            </a:xfrm>
            <a:prstGeom prst="rect">
              <a:avLst/>
            </a:prstGeom>
            <a:solidFill>
              <a:srgbClr val="FF0000">
                <a:alpha val="18039"/>
              </a:srgbClr>
            </a:solidFill>
            <a:ln w="9525" cap="flat" cmpd="sng">
              <a:solidFill>
                <a:schemeClr val="tx1"/>
              </a:solidFill>
              <a:prstDash val="solid"/>
              <a:miter/>
              <a:headEnd type="none" w="med" len="med"/>
              <a:tailEnd type="none" w="med" len="med"/>
            </a:ln>
          </p:spPr>
          <p:txBody>
            <a:bodyPr anchor="t" anchorCtr="0">
              <a:spAutoFit/>
            </a:bodyPr>
            <a:p>
              <a:pPr marL="342900" indent="-342900" eaLnBrk="0" hangingPunct="0">
                <a:buClrTx/>
                <a:buFontTx/>
              </a:pPr>
              <a:r>
                <a:rPr lang="zh-CN" altLang="en-US" sz="2000" dirty="0">
                  <a:latin typeface="微软雅黑" panose="020B0503020204020204" pitchFamily="34" charset="-122"/>
                  <a:ea typeface="微软雅黑" panose="020B0503020204020204" pitchFamily="34" charset="-122"/>
                </a:rPr>
                <a:t>标</a:t>
              </a:r>
              <a:endParaRPr lang="zh-CN" altLang="en-US" sz="2000" dirty="0">
                <a:latin typeface="微软雅黑" panose="020B0503020204020204" pitchFamily="34" charset="-122"/>
                <a:ea typeface="微软雅黑" panose="020B0503020204020204" pitchFamily="34" charset="-122"/>
              </a:endParaRPr>
            </a:p>
            <a:p>
              <a:pPr marL="342900" indent="-342900" eaLnBrk="0" hangingPunct="0">
                <a:buClrTx/>
                <a:buFontTx/>
              </a:pPr>
              <a:r>
                <a:rPr lang="zh-CN" altLang="en-US" sz="2000" dirty="0">
                  <a:latin typeface="微软雅黑" panose="020B0503020204020204" pitchFamily="34" charset="-122"/>
                  <a:ea typeface="微软雅黑" panose="020B0503020204020204" pitchFamily="34" charset="-122"/>
                </a:rPr>
                <a:t>志</a:t>
              </a:r>
              <a:endParaRPr lang="zh-CN" altLang="en-US" sz="2000" dirty="0">
                <a:latin typeface="微软雅黑" panose="020B0503020204020204" pitchFamily="34" charset="-122"/>
                <a:ea typeface="微软雅黑" panose="020B0503020204020204" pitchFamily="34" charset="-122"/>
              </a:endParaRPr>
            </a:p>
            <a:p>
              <a:pPr marL="342900" indent="-342900" eaLnBrk="0" hangingPunct="0">
                <a:buClrTx/>
                <a:buFontTx/>
              </a:pPr>
              <a:r>
                <a:rPr lang="zh-CN" altLang="en-US" sz="2000" dirty="0">
                  <a:latin typeface="微软雅黑" panose="020B0503020204020204" pitchFamily="34" charset="-122"/>
                  <a:ea typeface="微软雅黑" panose="020B0503020204020204" pitchFamily="34" charset="-122"/>
                </a:rPr>
                <a:t>寄</a:t>
              </a:r>
              <a:endParaRPr lang="zh-CN" altLang="en-US" sz="2000" dirty="0">
                <a:latin typeface="微软雅黑" panose="020B0503020204020204" pitchFamily="34" charset="-122"/>
                <a:ea typeface="微软雅黑" panose="020B0503020204020204" pitchFamily="34" charset="-122"/>
              </a:endParaRPr>
            </a:p>
            <a:p>
              <a:pPr marL="342900" indent="-342900" eaLnBrk="0" hangingPunct="0">
                <a:buClrTx/>
                <a:buFontTx/>
              </a:pPr>
              <a:r>
                <a:rPr lang="zh-CN" altLang="en-US" sz="2000" dirty="0">
                  <a:latin typeface="微软雅黑" panose="020B0503020204020204" pitchFamily="34" charset="-122"/>
                  <a:ea typeface="微软雅黑" panose="020B0503020204020204" pitchFamily="34" charset="-122"/>
                </a:rPr>
                <a:t>存</a:t>
              </a:r>
              <a:endParaRPr lang="zh-CN" altLang="en-US" sz="2000" dirty="0">
                <a:latin typeface="微软雅黑" panose="020B0503020204020204" pitchFamily="34" charset="-122"/>
                <a:ea typeface="微软雅黑" panose="020B0503020204020204" pitchFamily="34" charset="-122"/>
              </a:endParaRPr>
            </a:p>
            <a:p>
              <a:pPr marL="342900" indent="-342900" eaLnBrk="0" hangingPunct="0">
                <a:buClrTx/>
                <a:buFontTx/>
              </a:pPr>
              <a:r>
                <a:rPr lang="zh-CN" altLang="en-US" sz="2000" dirty="0">
                  <a:latin typeface="微软雅黑" panose="020B0503020204020204" pitchFamily="34" charset="-122"/>
                  <a:ea typeface="微软雅黑" panose="020B0503020204020204" pitchFamily="34" charset="-122"/>
                </a:rPr>
                <a:t>器</a:t>
              </a:r>
              <a:endParaRPr lang="en-US" altLang="zh-CN" sz="2000" dirty="0">
                <a:latin typeface="微软雅黑" panose="020B0503020204020204" pitchFamily="34" charset="-122"/>
                <a:ea typeface="微软雅黑" panose="020B0503020204020204" pitchFamily="34" charset="-122"/>
              </a:endParaRPr>
            </a:p>
          </p:txBody>
        </p:sp>
        <p:sp>
          <p:nvSpPr>
            <p:cNvPr id="30752" name="Line 33"/>
            <p:cNvSpPr/>
            <p:nvPr/>
          </p:nvSpPr>
          <p:spPr>
            <a:xfrm flipH="1">
              <a:off x="1406" y="2642"/>
              <a:ext cx="340" cy="0"/>
            </a:xfrm>
            <a:prstGeom prst="line">
              <a:avLst/>
            </a:prstGeom>
            <a:ln w="38100" cap="flat" cmpd="sng">
              <a:solidFill>
                <a:srgbClr val="3333CC"/>
              </a:solidFill>
              <a:prstDash val="solid"/>
              <a:round/>
              <a:headEnd type="none" w="med" len="med"/>
              <a:tailEnd type="triangle" w="med" len="med"/>
            </a:ln>
          </p:spPr>
        </p:sp>
        <p:grpSp>
          <p:nvGrpSpPr>
            <p:cNvPr id="30753" name="Group 34"/>
            <p:cNvGrpSpPr/>
            <p:nvPr/>
          </p:nvGrpSpPr>
          <p:grpSpPr>
            <a:xfrm>
              <a:off x="952" y="2075"/>
              <a:ext cx="143" cy="539"/>
              <a:chOff x="895" y="1905"/>
              <a:chExt cx="143" cy="539"/>
            </a:xfrm>
          </p:grpSpPr>
          <p:sp>
            <p:nvSpPr>
              <p:cNvPr id="30754" name="Line 35"/>
              <p:cNvSpPr/>
              <p:nvPr/>
            </p:nvSpPr>
            <p:spPr>
              <a:xfrm flipH="1">
                <a:off x="896" y="2443"/>
                <a:ext cx="142" cy="0"/>
              </a:xfrm>
              <a:prstGeom prst="line">
                <a:avLst/>
              </a:prstGeom>
              <a:ln w="28575" cap="flat" cmpd="sng">
                <a:solidFill>
                  <a:srgbClr val="3333CC"/>
                </a:solidFill>
                <a:prstDash val="solid"/>
                <a:round/>
                <a:headEnd type="none" w="med" len="med"/>
                <a:tailEnd type="none" w="med" len="med"/>
              </a:ln>
            </p:spPr>
          </p:sp>
          <p:sp>
            <p:nvSpPr>
              <p:cNvPr id="30755" name="Line 36"/>
              <p:cNvSpPr/>
              <p:nvPr/>
            </p:nvSpPr>
            <p:spPr>
              <a:xfrm flipV="1">
                <a:off x="895" y="1905"/>
                <a:ext cx="0" cy="539"/>
              </a:xfrm>
              <a:prstGeom prst="line">
                <a:avLst/>
              </a:prstGeom>
              <a:ln w="38100" cap="flat" cmpd="sng">
                <a:solidFill>
                  <a:srgbClr val="3333CC"/>
                </a:solidFill>
                <a:prstDash val="solid"/>
                <a:round/>
                <a:headEnd type="none" w="med" len="med"/>
                <a:tailEnd type="triangle" w="med" len="med"/>
              </a:ln>
            </p:spPr>
          </p:sp>
        </p:grpSp>
        <p:sp>
          <p:nvSpPr>
            <p:cNvPr id="30756" name="Line 37"/>
            <p:cNvSpPr/>
            <p:nvPr/>
          </p:nvSpPr>
          <p:spPr>
            <a:xfrm flipV="1">
              <a:off x="2852" y="2103"/>
              <a:ext cx="0" cy="340"/>
            </a:xfrm>
            <a:prstGeom prst="line">
              <a:avLst/>
            </a:prstGeom>
            <a:ln w="38100" cap="flat" cmpd="sng">
              <a:solidFill>
                <a:srgbClr val="008000"/>
              </a:solidFill>
              <a:prstDash val="solid"/>
              <a:round/>
              <a:headEnd type="none" w="med" len="med"/>
              <a:tailEnd type="triangle" w="med" len="med"/>
            </a:ln>
          </p:spPr>
        </p:sp>
        <p:grpSp>
          <p:nvGrpSpPr>
            <p:cNvPr id="30757" name="Group 38"/>
            <p:cNvGrpSpPr/>
            <p:nvPr/>
          </p:nvGrpSpPr>
          <p:grpSpPr>
            <a:xfrm>
              <a:off x="1576" y="2867"/>
              <a:ext cx="964" cy="937"/>
              <a:chOff x="1576" y="2924"/>
              <a:chExt cx="964" cy="937"/>
            </a:xfrm>
          </p:grpSpPr>
          <p:sp>
            <p:nvSpPr>
              <p:cNvPr id="30758" name="Line 39"/>
              <p:cNvSpPr/>
              <p:nvPr/>
            </p:nvSpPr>
            <p:spPr>
              <a:xfrm>
                <a:off x="1576" y="2924"/>
                <a:ext cx="0" cy="935"/>
              </a:xfrm>
              <a:prstGeom prst="line">
                <a:avLst/>
              </a:prstGeom>
              <a:ln w="38100" cap="flat" cmpd="sng">
                <a:solidFill>
                  <a:srgbClr val="3333CC"/>
                </a:solidFill>
                <a:prstDash val="solid"/>
                <a:round/>
                <a:headEnd type="none" w="med" len="med"/>
                <a:tailEnd type="none" w="med" len="med"/>
              </a:ln>
            </p:spPr>
          </p:sp>
          <p:sp>
            <p:nvSpPr>
              <p:cNvPr id="30759" name="Line 40"/>
              <p:cNvSpPr/>
              <p:nvPr/>
            </p:nvSpPr>
            <p:spPr>
              <a:xfrm>
                <a:off x="1576" y="3861"/>
                <a:ext cx="964" cy="0"/>
              </a:xfrm>
              <a:prstGeom prst="line">
                <a:avLst/>
              </a:prstGeom>
              <a:ln w="38100" cap="flat" cmpd="sng">
                <a:solidFill>
                  <a:srgbClr val="3333CC"/>
                </a:solidFill>
                <a:prstDash val="solid"/>
                <a:round/>
                <a:headEnd type="none" w="med" len="med"/>
                <a:tailEnd type="triangle" w="med" len="med"/>
              </a:ln>
            </p:spPr>
          </p:sp>
          <p:sp>
            <p:nvSpPr>
              <p:cNvPr id="30760" name="Line 41"/>
              <p:cNvSpPr/>
              <p:nvPr/>
            </p:nvSpPr>
            <p:spPr>
              <a:xfrm flipH="1">
                <a:off x="1576" y="2924"/>
                <a:ext cx="171" cy="0"/>
              </a:xfrm>
              <a:prstGeom prst="line">
                <a:avLst/>
              </a:prstGeom>
              <a:ln w="28575" cap="flat" cmpd="sng">
                <a:solidFill>
                  <a:srgbClr val="3333CC"/>
                </a:solidFill>
                <a:prstDash val="solid"/>
                <a:round/>
                <a:headEnd type="none" w="med" len="med"/>
                <a:tailEnd type="none" w="med" len="med"/>
              </a:ln>
            </p:spPr>
          </p:sp>
        </p:grpSp>
        <p:grpSp>
          <p:nvGrpSpPr>
            <p:cNvPr id="30761" name="Group 42"/>
            <p:cNvGrpSpPr/>
            <p:nvPr/>
          </p:nvGrpSpPr>
          <p:grpSpPr>
            <a:xfrm>
              <a:off x="2115" y="3350"/>
              <a:ext cx="311" cy="453"/>
              <a:chOff x="2115" y="3405"/>
              <a:chExt cx="311" cy="453"/>
            </a:xfrm>
          </p:grpSpPr>
          <p:sp>
            <p:nvSpPr>
              <p:cNvPr id="30762" name="Line 43"/>
              <p:cNvSpPr/>
              <p:nvPr/>
            </p:nvSpPr>
            <p:spPr>
              <a:xfrm flipV="1">
                <a:off x="2115" y="3405"/>
                <a:ext cx="0" cy="453"/>
              </a:xfrm>
              <a:prstGeom prst="line">
                <a:avLst/>
              </a:prstGeom>
              <a:ln w="38100" cap="flat" cmpd="sng">
                <a:solidFill>
                  <a:srgbClr val="3333CC"/>
                </a:solidFill>
                <a:prstDash val="solid"/>
                <a:round/>
                <a:headEnd type="none" w="med" len="med"/>
                <a:tailEnd type="none" w="med" len="med"/>
              </a:ln>
            </p:spPr>
          </p:sp>
          <p:sp>
            <p:nvSpPr>
              <p:cNvPr id="30763" name="Line 44"/>
              <p:cNvSpPr/>
              <p:nvPr/>
            </p:nvSpPr>
            <p:spPr>
              <a:xfrm>
                <a:off x="2115" y="3407"/>
                <a:ext cx="311" cy="0"/>
              </a:xfrm>
              <a:prstGeom prst="line">
                <a:avLst/>
              </a:prstGeom>
              <a:ln w="38100" cap="flat" cmpd="sng">
                <a:solidFill>
                  <a:srgbClr val="3333CC"/>
                </a:solidFill>
                <a:prstDash val="solid"/>
                <a:round/>
                <a:headEnd type="none" w="med" len="med"/>
                <a:tailEnd type="triangle" w="med" len="med"/>
              </a:ln>
            </p:spPr>
          </p:sp>
        </p:grpSp>
        <p:grpSp>
          <p:nvGrpSpPr>
            <p:cNvPr id="30764" name="Group 45"/>
            <p:cNvGrpSpPr/>
            <p:nvPr/>
          </p:nvGrpSpPr>
          <p:grpSpPr>
            <a:xfrm>
              <a:off x="725" y="2101"/>
              <a:ext cx="2977" cy="1448"/>
              <a:chOff x="725" y="2158"/>
              <a:chExt cx="2977" cy="1448"/>
            </a:xfrm>
          </p:grpSpPr>
          <p:sp>
            <p:nvSpPr>
              <p:cNvPr id="30765" name="Line 46"/>
              <p:cNvSpPr/>
              <p:nvPr/>
            </p:nvSpPr>
            <p:spPr>
              <a:xfrm flipV="1">
                <a:off x="725" y="3606"/>
                <a:ext cx="2977" cy="0"/>
              </a:xfrm>
              <a:prstGeom prst="line">
                <a:avLst/>
              </a:prstGeom>
              <a:ln w="38100" cap="flat" cmpd="sng">
                <a:solidFill>
                  <a:srgbClr val="FF3300"/>
                </a:solidFill>
                <a:prstDash val="dash"/>
                <a:round/>
                <a:headEnd type="none" w="med" len="med"/>
                <a:tailEnd type="none" w="med" len="med"/>
              </a:ln>
            </p:spPr>
          </p:sp>
          <p:sp>
            <p:nvSpPr>
              <p:cNvPr id="30766" name="Line 47"/>
              <p:cNvSpPr/>
              <p:nvPr/>
            </p:nvSpPr>
            <p:spPr>
              <a:xfrm>
                <a:off x="754" y="2158"/>
                <a:ext cx="0" cy="1389"/>
              </a:xfrm>
              <a:prstGeom prst="line">
                <a:avLst/>
              </a:prstGeom>
              <a:ln w="38100" cap="flat" cmpd="sng">
                <a:solidFill>
                  <a:srgbClr val="FF3300"/>
                </a:solidFill>
                <a:prstDash val="dash"/>
                <a:round/>
                <a:headEnd type="none" w="med" len="med"/>
                <a:tailEnd type="none" w="med" len="med"/>
              </a:ln>
            </p:spPr>
          </p:sp>
          <p:sp>
            <p:nvSpPr>
              <p:cNvPr id="30767" name="Line 48"/>
              <p:cNvSpPr/>
              <p:nvPr/>
            </p:nvSpPr>
            <p:spPr>
              <a:xfrm flipV="1">
                <a:off x="1916" y="3209"/>
                <a:ext cx="0" cy="369"/>
              </a:xfrm>
              <a:prstGeom prst="line">
                <a:avLst/>
              </a:prstGeom>
              <a:ln w="38100" cap="flat" cmpd="sng">
                <a:solidFill>
                  <a:srgbClr val="FF3300"/>
                </a:solidFill>
                <a:prstDash val="dash"/>
                <a:round/>
                <a:headEnd type="none" w="med" len="med"/>
                <a:tailEnd type="triangle" w="med" len="med"/>
              </a:ln>
            </p:spPr>
          </p:sp>
        </p:grpSp>
        <p:sp>
          <p:nvSpPr>
            <p:cNvPr id="30768" name="Text Box 49"/>
            <p:cNvSpPr txBox="1"/>
            <p:nvPr/>
          </p:nvSpPr>
          <p:spPr>
            <a:xfrm>
              <a:off x="414" y="3776"/>
              <a:ext cx="652" cy="237"/>
            </a:xfrm>
            <a:prstGeom prst="rect">
              <a:avLst/>
            </a:prstGeom>
            <a:solidFill>
              <a:srgbClr val="FF0000">
                <a:alpha val="18039"/>
              </a:srgbClr>
            </a:solidFill>
            <a:ln w="9525" cap="flat" cmpd="sng">
              <a:solidFill>
                <a:schemeClr val="tx1"/>
              </a:solidFill>
              <a:prstDash val="solid"/>
              <a:miter/>
              <a:headEnd type="none" w="med" len="med"/>
              <a:tailEnd type="none" w="med" len="med"/>
            </a:ln>
          </p:spPr>
          <p:txBody>
            <a:bodyPr anchor="t" anchorCtr="0">
              <a:spAutoFit/>
            </a:bodyPr>
            <a:p>
              <a:pPr marL="342900" indent="-342900" eaLnBrk="0" hangingPunct="0">
                <a:spcBef>
                  <a:spcPct val="50000"/>
                </a:spcBef>
                <a:buClrTx/>
                <a:buFontTx/>
              </a:pPr>
              <a:r>
                <a:rPr lang="en-US" altLang="zh-CN" sz="1800" dirty="0">
                  <a:solidFill>
                    <a:srgbClr val="FF3300"/>
                  </a:solidFill>
                  <a:latin typeface="微软雅黑" panose="020B0503020204020204" pitchFamily="34" charset="-122"/>
                  <a:ea typeface="微软雅黑" panose="020B0503020204020204" pitchFamily="34" charset="-122"/>
                </a:rPr>
                <a:t>    </a:t>
              </a:r>
              <a:r>
                <a:rPr lang="en-US" altLang="zh-CN" sz="1800" dirty="0">
                  <a:solidFill>
                    <a:schemeClr val="hlink"/>
                  </a:solidFill>
                  <a:latin typeface="微软雅黑" panose="020B0503020204020204" pitchFamily="34" charset="-122"/>
                  <a:ea typeface="微软雅黑" panose="020B0503020204020204" pitchFamily="34" charset="-122"/>
                </a:rPr>
                <a:t>IR</a:t>
              </a:r>
              <a:endParaRPr lang="en-US" altLang="zh-CN" sz="1800" dirty="0">
                <a:solidFill>
                  <a:schemeClr val="hlink"/>
                </a:solidFill>
                <a:latin typeface="微软雅黑" panose="020B0503020204020204" pitchFamily="34" charset="-122"/>
                <a:ea typeface="微软雅黑" panose="020B0503020204020204" pitchFamily="34" charset="-122"/>
              </a:endParaRPr>
            </a:p>
          </p:txBody>
        </p:sp>
        <p:sp>
          <p:nvSpPr>
            <p:cNvPr id="30769" name="Line 50"/>
            <p:cNvSpPr/>
            <p:nvPr/>
          </p:nvSpPr>
          <p:spPr>
            <a:xfrm flipH="1">
              <a:off x="1066" y="3917"/>
              <a:ext cx="1475" cy="0"/>
            </a:xfrm>
            <a:prstGeom prst="line">
              <a:avLst/>
            </a:prstGeom>
            <a:ln w="38100" cap="flat" cmpd="sng">
              <a:solidFill>
                <a:schemeClr val="hlink"/>
              </a:solidFill>
              <a:prstDash val="solid"/>
              <a:round/>
              <a:headEnd type="none" w="med" len="med"/>
              <a:tailEnd type="triangle" w="med" len="med"/>
            </a:ln>
          </p:spPr>
        </p:sp>
        <p:sp>
          <p:nvSpPr>
            <p:cNvPr id="30770" name="Line 51"/>
            <p:cNvSpPr/>
            <p:nvPr/>
          </p:nvSpPr>
          <p:spPr>
            <a:xfrm flipV="1">
              <a:off x="527" y="2075"/>
              <a:ext cx="0" cy="1701"/>
            </a:xfrm>
            <a:prstGeom prst="line">
              <a:avLst/>
            </a:prstGeom>
            <a:ln w="38100" cap="flat" cmpd="sng">
              <a:solidFill>
                <a:schemeClr val="hlink"/>
              </a:solidFill>
              <a:prstDash val="solid"/>
              <a:round/>
              <a:headEnd type="none" w="med" len="med"/>
              <a:tailEnd type="triangle" w="med" len="med"/>
            </a:ln>
          </p:spPr>
        </p:sp>
        <p:grpSp>
          <p:nvGrpSpPr>
            <p:cNvPr id="30771" name="Group 52"/>
            <p:cNvGrpSpPr/>
            <p:nvPr/>
          </p:nvGrpSpPr>
          <p:grpSpPr>
            <a:xfrm>
              <a:off x="3334" y="1593"/>
              <a:ext cx="795" cy="2438"/>
              <a:chOff x="3333" y="1650"/>
              <a:chExt cx="795" cy="2438"/>
            </a:xfrm>
          </p:grpSpPr>
          <p:sp>
            <p:nvSpPr>
              <p:cNvPr id="30772" name="Text Box 53"/>
              <p:cNvSpPr txBox="1"/>
              <p:nvPr/>
            </p:nvSpPr>
            <p:spPr>
              <a:xfrm>
                <a:off x="3447" y="1650"/>
                <a:ext cx="539" cy="250"/>
              </a:xfrm>
              <a:prstGeom prst="rect">
                <a:avLst/>
              </a:prstGeom>
              <a:noFill/>
              <a:ln w="9525">
                <a:noFill/>
              </a:ln>
            </p:spPr>
            <p:txBody>
              <a:bodyPr anchor="t" anchorCtr="0">
                <a:spAutoFit/>
              </a:bodyPr>
              <a:p>
                <a:pPr marL="342900" indent="-342900" eaLnBrk="0" hangingPunct="0">
                  <a:spcBef>
                    <a:spcPct val="50000"/>
                  </a:spcBef>
                  <a:buClrTx/>
                  <a:buFontTx/>
                </a:pPr>
                <a:r>
                  <a:rPr lang="zh-CN" altLang="en-US" sz="2000" dirty="0">
                    <a:solidFill>
                      <a:srgbClr val="008000"/>
                    </a:solidFill>
                    <a:latin typeface="微软雅黑" panose="020B0503020204020204" pitchFamily="34" charset="-122"/>
                    <a:ea typeface="微软雅黑" panose="020B0503020204020204" pitchFamily="34" charset="-122"/>
                  </a:rPr>
                  <a:t>地址</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30773" name="AutoShape 54"/>
              <p:cNvSpPr/>
              <p:nvPr/>
            </p:nvSpPr>
            <p:spPr>
              <a:xfrm>
                <a:off x="3362" y="2756"/>
                <a:ext cx="765" cy="284"/>
              </a:xfrm>
              <a:prstGeom prst="leftRightArrow">
                <a:avLst>
                  <a:gd name="adj1" fmla="val 50000"/>
                  <a:gd name="adj2" fmla="val 53785"/>
                </a:avLst>
              </a:prstGeom>
              <a:solidFill>
                <a:schemeClr val="bg1"/>
              </a:solidFill>
              <a:ln w="2857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74" name="Text Box 55"/>
              <p:cNvSpPr txBox="1"/>
              <p:nvPr/>
            </p:nvSpPr>
            <p:spPr>
              <a:xfrm>
                <a:off x="3532" y="3634"/>
                <a:ext cx="482" cy="250"/>
              </a:xfrm>
              <a:prstGeom prst="rect">
                <a:avLst/>
              </a:prstGeom>
              <a:noFill/>
              <a:ln w="9525">
                <a:noFill/>
              </a:ln>
            </p:spPr>
            <p:txBody>
              <a:bodyPr anchor="t" anchorCtr="0">
                <a:spAutoFit/>
              </a:bodyPr>
              <a:p>
                <a:pPr marL="342900" indent="-342900" eaLnBrk="0" hangingPunct="0">
                  <a:spcBef>
                    <a:spcPct val="50000"/>
                  </a:spcBef>
                  <a:buClrTx/>
                  <a:buFontTx/>
                </a:pPr>
                <a:r>
                  <a:rPr lang="zh-CN" altLang="en-US" sz="2000" dirty="0">
                    <a:solidFill>
                      <a:srgbClr val="3333CC"/>
                    </a:solidFill>
                    <a:latin typeface="微软雅黑" panose="020B0503020204020204" pitchFamily="34" charset="-122"/>
                    <a:ea typeface="微软雅黑" panose="020B0503020204020204" pitchFamily="34" charset="-122"/>
                  </a:rPr>
                  <a:t>数据</a:t>
                </a:r>
                <a:endParaRPr lang="zh-CN" altLang="en-US" sz="2000" dirty="0">
                  <a:solidFill>
                    <a:srgbClr val="3333CC"/>
                  </a:solidFill>
                  <a:latin typeface="微软雅黑" panose="020B0503020204020204" pitchFamily="34" charset="-122"/>
                  <a:ea typeface="微软雅黑" panose="020B0503020204020204" pitchFamily="34" charset="-122"/>
                </a:endParaRPr>
              </a:p>
            </p:txBody>
          </p:sp>
          <p:sp>
            <p:nvSpPr>
              <p:cNvPr id="30775" name="AutoShape 56"/>
              <p:cNvSpPr/>
              <p:nvPr/>
            </p:nvSpPr>
            <p:spPr>
              <a:xfrm>
                <a:off x="3334" y="3804"/>
                <a:ext cx="794" cy="284"/>
              </a:xfrm>
              <a:prstGeom prst="leftRightArrow">
                <a:avLst>
                  <a:gd name="adj1" fmla="val 50000"/>
                  <a:gd name="adj2" fmla="val 55824"/>
                </a:avLst>
              </a:prstGeom>
              <a:solidFill>
                <a:schemeClr val="bg1"/>
              </a:solidFill>
              <a:ln w="28575" cap="flat" cmpd="sng">
                <a:solidFill>
                  <a:srgbClr val="3333CC"/>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76" name="Text Box 57"/>
              <p:cNvSpPr txBox="1"/>
              <p:nvPr/>
            </p:nvSpPr>
            <p:spPr>
              <a:xfrm>
                <a:off x="3504" y="2534"/>
                <a:ext cx="539" cy="250"/>
              </a:xfrm>
              <a:prstGeom prst="rect">
                <a:avLst/>
              </a:prstGeom>
              <a:noFill/>
              <a:ln w="9525">
                <a:noFill/>
              </a:ln>
            </p:spPr>
            <p:txBody>
              <a:bodyPr anchor="t" anchorCtr="0">
                <a:spAutoFit/>
              </a:bodyPr>
              <a:p>
                <a:pPr marL="342900" indent="-342900" eaLnBrk="0" hangingPunct="0">
                  <a:spcBef>
                    <a:spcPct val="50000"/>
                  </a:spcBef>
                  <a:buClrTx/>
                  <a:buFontTx/>
                </a:pPr>
                <a:r>
                  <a:rPr lang="zh-CN" altLang="en-US" sz="2000" dirty="0">
                    <a:solidFill>
                      <a:srgbClr val="FF3300"/>
                    </a:solidFill>
                    <a:latin typeface="微软雅黑" panose="020B0503020204020204" pitchFamily="34" charset="-122"/>
                    <a:ea typeface="微软雅黑" panose="020B0503020204020204" pitchFamily="34" charset="-122"/>
                  </a:rPr>
                  <a:t>控制</a:t>
                </a:r>
                <a:endParaRPr lang="zh-CN" altLang="en-US" sz="2000" dirty="0">
                  <a:solidFill>
                    <a:srgbClr val="FF3300"/>
                  </a:solidFill>
                  <a:latin typeface="微软雅黑" panose="020B0503020204020204" pitchFamily="34" charset="-122"/>
                  <a:ea typeface="微软雅黑" panose="020B0503020204020204" pitchFamily="34" charset="-122"/>
                </a:endParaRPr>
              </a:p>
            </p:txBody>
          </p:sp>
          <p:sp>
            <p:nvSpPr>
              <p:cNvPr id="30777" name="AutoShape 58"/>
              <p:cNvSpPr/>
              <p:nvPr/>
            </p:nvSpPr>
            <p:spPr>
              <a:xfrm>
                <a:off x="3333" y="1843"/>
                <a:ext cx="794" cy="341"/>
              </a:xfrm>
              <a:prstGeom prst="rightArrow">
                <a:avLst>
                  <a:gd name="adj1" fmla="val 50000"/>
                  <a:gd name="adj2" fmla="val 58135"/>
                </a:avLst>
              </a:prstGeom>
              <a:solidFill>
                <a:schemeClr val="bg1"/>
              </a:solidFill>
              <a:ln w="28575" cap="flat" cmpd="sng">
                <a:solidFill>
                  <a:srgbClr val="008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78" name="Line 59"/>
              <p:cNvSpPr/>
              <p:nvPr/>
            </p:nvSpPr>
            <p:spPr>
              <a:xfrm flipV="1">
                <a:off x="3731" y="2982"/>
                <a:ext cx="0" cy="624"/>
              </a:xfrm>
              <a:prstGeom prst="line">
                <a:avLst/>
              </a:prstGeom>
              <a:ln w="38100" cap="flat" cmpd="sng">
                <a:solidFill>
                  <a:srgbClr val="FF3300"/>
                </a:solidFill>
                <a:prstDash val="dash"/>
                <a:round/>
                <a:headEnd type="none" w="med" len="med"/>
                <a:tailEnd type="triangle" w="med" len="med"/>
              </a:ln>
            </p:spPr>
          </p:sp>
        </p:grpSp>
        <p:grpSp>
          <p:nvGrpSpPr>
            <p:cNvPr id="30779" name="Group 60"/>
            <p:cNvGrpSpPr/>
            <p:nvPr/>
          </p:nvGrpSpPr>
          <p:grpSpPr>
            <a:xfrm>
              <a:off x="2199" y="2128"/>
              <a:ext cx="1106" cy="1340"/>
              <a:chOff x="2199" y="2185"/>
              <a:chExt cx="1106" cy="1340"/>
            </a:xfrm>
          </p:grpSpPr>
          <p:sp>
            <p:nvSpPr>
              <p:cNvPr id="30780" name="Text Box 61"/>
              <p:cNvSpPr txBox="1"/>
              <p:nvPr/>
            </p:nvSpPr>
            <p:spPr>
              <a:xfrm>
                <a:off x="2199" y="2185"/>
                <a:ext cx="737" cy="288"/>
              </a:xfrm>
              <a:prstGeom prst="rect">
                <a:avLst/>
              </a:prstGeom>
              <a:noFill/>
              <a:ln w="9525">
                <a:noFill/>
              </a:ln>
            </p:spPr>
            <p:txBody>
              <a:bodyPr anchor="t" anchorCtr="0">
                <a:spAutoFit/>
              </a:bodyPr>
              <a:p>
                <a:pPr marL="342900" indent="-342900" eaLnBrk="0" hangingPunct="0">
                  <a:spcBef>
                    <a:spcPct val="50000"/>
                  </a:spcBef>
                  <a:buClrTx/>
                  <a:buFontTx/>
                </a:pPr>
                <a:r>
                  <a:rPr lang="en-US" altLang="zh-CN" sz="2400" dirty="0">
                    <a:latin typeface="微软雅黑" panose="020B0503020204020204" pitchFamily="34" charset="-122"/>
                    <a:ea typeface="微软雅黑" panose="020B0503020204020204" pitchFamily="34" charset="-122"/>
                  </a:rPr>
                  <a:t>GPRs</a:t>
                </a:r>
                <a:endParaRPr lang="en-US" altLang="zh-CN" sz="2400" dirty="0">
                  <a:latin typeface="微软雅黑" panose="020B0503020204020204" pitchFamily="34" charset="-122"/>
                  <a:ea typeface="微软雅黑" panose="020B0503020204020204" pitchFamily="34" charset="-122"/>
                </a:endParaRPr>
              </a:p>
            </p:txBody>
          </p:sp>
          <p:grpSp>
            <p:nvGrpSpPr>
              <p:cNvPr id="30781" name="Group 62"/>
              <p:cNvGrpSpPr/>
              <p:nvPr/>
            </p:nvGrpSpPr>
            <p:grpSpPr>
              <a:xfrm>
                <a:off x="2452" y="2500"/>
                <a:ext cx="853" cy="1025"/>
                <a:chOff x="2398" y="2273"/>
                <a:chExt cx="853" cy="1025"/>
              </a:xfrm>
            </p:grpSpPr>
            <p:grpSp>
              <p:nvGrpSpPr>
                <p:cNvPr id="30782" name="Group 63"/>
                <p:cNvGrpSpPr/>
                <p:nvPr/>
              </p:nvGrpSpPr>
              <p:grpSpPr>
                <a:xfrm>
                  <a:off x="2398" y="2273"/>
                  <a:ext cx="652" cy="992"/>
                  <a:chOff x="2228" y="1678"/>
                  <a:chExt cx="737" cy="992"/>
                </a:xfrm>
              </p:grpSpPr>
              <p:sp>
                <p:nvSpPr>
                  <p:cNvPr id="30783" name="Rectangle 64"/>
                  <p:cNvSpPr/>
                  <p:nvPr/>
                </p:nvSpPr>
                <p:spPr>
                  <a:xfrm>
                    <a:off x="2228" y="1678"/>
                    <a:ext cx="737" cy="992"/>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84" name="Line 65"/>
                  <p:cNvSpPr/>
                  <p:nvPr/>
                </p:nvSpPr>
                <p:spPr>
                  <a:xfrm>
                    <a:off x="2228" y="1933"/>
                    <a:ext cx="736" cy="0"/>
                  </a:xfrm>
                  <a:prstGeom prst="line">
                    <a:avLst/>
                  </a:prstGeom>
                  <a:ln w="9525" cap="flat" cmpd="sng">
                    <a:solidFill>
                      <a:schemeClr val="tx1"/>
                    </a:solidFill>
                    <a:prstDash val="solid"/>
                    <a:round/>
                    <a:headEnd type="none" w="med" len="med"/>
                    <a:tailEnd type="none" w="med" len="med"/>
                  </a:ln>
                </p:spPr>
              </p:sp>
              <p:sp>
                <p:nvSpPr>
                  <p:cNvPr id="30785" name="Line 66"/>
                  <p:cNvSpPr/>
                  <p:nvPr/>
                </p:nvSpPr>
                <p:spPr>
                  <a:xfrm>
                    <a:off x="2228" y="2188"/>
                    <a:ext cx="736" cy="0"/>
                  </a:xfrm>
                  <a:prstGeom prst="line">
                    <a:avLst/>
                  </a:prstGeom>
                  <a:ln w="9525" cap="flat" cmpd="sng">
                    <a:solidFill>
                      <a:schemeClr val="tx1"/>
                    </a:solidFill>
                    <a:prstDash val="solid"/>
                    <a:round/>
                    <a:headEnd type="none" w="med" len="med"/>
                    <a:tailEnd type="none" w="med" len="med"/>
                  </a:ln>
                </p:spPr>
              </p:sp>
              <p:sp>
                <p:nvSpPr>
                  <p:cNvPr id="30786" name="Line 67"/>
                  <p:cNvSpPr/>
                  <p:nvPr/>
                </p:nvSpPr>
                <p:spPr>
                  <a:xfrm>
                    <a:off x="2228" y="2415"/>
                    <a:ext cx="736" cy="0"/>
                  </a:xfrm>
                  <a:prstGeom prst="line">
                    <a:avLst/>
                  </a:prstGeom>
                  <a:ln w="9525" cap="flat" cmpd="sng">
                    <a:solidFill>
                      <a:schemeClr val="tx1"/>
                    </a:solidFill>
                    <a:prstDash val="solid"/>
                    <a:round/>
                    <a:headEnd type="none" w="med" len="med"/>
                    <a:tailEnd type="none" w="med" len="med"/>
                  </a:ln>
                </p:spPr>
              </p:sp>
            </p:grpSp>
            <p:sp>
              <p:nvSpPr>
                <p:cNvPr id="30787" name="Text Box 68"/>
                <p:cNvSpPr txBox="1"/>
                <p:nvPr/>
              </p:nvSpPr>
              <p:spPr>
                <a:xfrm>
                  <a:off x="3051" y="2282"/>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latin typeface="微软雅黑" panose="020B0503020204020204" pitchFamily="34" charset="-122"/>
                      <a:ea typeface="微软雅黑" panose="020B0503020204020204" pitchFamily="34" charset="-122"/>
                    </a:rPr>
                    <a:t>0</a:t>
                  </a:r>
                  <a:endParaRPr lang="en-US" altLang="zh-CN" sz="1800" dirty="0">
                    <a:latin typeface="微软雅黑" panose="020B0503020204020204" pitchFamily="34" charset="-122"/>
                    <a:ea typeface="微软雅黑" panose="020B0503020204020204" pitchFamily="34" charset="-122"/>
                  </a:endParaRPr>
                </a:p>
              </p:txBody>
            </p:sp>
            <p:sp>
              <p:nvSpPr>
                <p:cNvPr id="30788" name="Text Box 69"/>
                <p:cNvSpPr txBox="1"/>
                <p:nvPr/>
              </p:nvSpPr>
              <p:spPr>
                <a:xfrm>
                  <a:off x="3052" y="2525"/>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p:txBody>
            </p:sp>
            <p:sp>
              <p:nvSpPr>
                <p:cNvPr id="30789" name="Text Box 70"/>
                <p:cNvSpPr txBox="1"/>
                <p:nvPr/>
              </p:nvSpPr>
              <p:spPr>
                <a:xfrm>
                  <a:off x="3052" y="2784"/>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sp>
              <p:nvSpPr>
                <p:cNvPr id="30790" name="Text Box 71"/>
                <p:cNvSpPr txBox="1"/>
                <p:nvPr/>
              </p:nvSpPr>
              <p:spPr>
                <a:xfrm>
                  <a:off x="3051" y="3067"/>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p:txBody>
            </p:sp>
          </p:grpSp>
          <p:sp>
            <p:nvSpPr>
              <p:cNvPr id="30791" name="Rectangle 72"/>
              <p:cNvSpPr/>
              <p:nvPr/>
            </p:nvSpPr>
            <p:spPr>
              <a:xfrm>
                <a:off x="2455" y="2500"/>
                <a:ext cx="652" cy="992"/>
              </a:xfrm>
              <a:prstGeom prst="rect">
                <a:avLst/>
              </a:prstGeom>
              <a:solidFill>
                <a:srgbClr val="008000">
                  <a:alpha val="16862"/>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30792" name="Group 73"/>
            <p:cNvGrpSpPr/>
            <p:nvPr/>
          </p:nvGrpSpPr>
          <p:grpSpPr>
            <a:xfrm>
              <a:off x="4127" y="1508"/>
              <a:ext cx="880" cy="2551"/>
              <a:chOff x="4127" y="1565"/>
              <a:chExt cx="880" cy="2551"/>
            </a:xfrm>
          </p:grpSpPr>
          <p:grpSp>
            <p:nvGrpSpPr>
              <p:cNvPr id="30793" name="Group 74"/>
              <p:cNvGrpSpPr/>
              <p:nvPr/>
            </p:nvGrpSpPr>
            <p:grpSpPr>
              <a:xfrm>
                <a:off x="4127" y="1565"/>
                <a:ext cx="880" cy="2551"/>
                <a:chOff x="4156" y="1565"/>
                <a:chExt cx="908" cy="2551"/>
              </a:xfrm>
            </p:grpSpPr>
            <p:sp>
              <p:nvSpPr>
                <p:cNvPr id="30794" name="Text Box 75"/>
                <p:cNvSpPr txBox="1"/>
                <p:nvPr/>
              </p:nvSpPr>
              <p:spPr>
                <a:xfrm>
                  <a:off x="4156" y="1565"/>
                  <a:ext cx="737" cy="288"/>
                </a:xfrm>
                <a:prstGeom prst="rect">
                  <a:avLst/>
                </a:prstGeom>
                <a:solidFill>
                  <a:srgbClr val="0000FF">
                    <a:alpha val="25882"/>
                  </a:srgbClr>
                </a:solidFill>
                <a:ln w="9525">
                  <a:noFill/>
                </a:ln>
              </p:spPr>
              <p:txBody>
                <a:bodyPr anchor="t" anchorCtr="0">
                  <a:spAutoFit/>
                </a:bodyPr>
                <a:p>
                  <a:pPr marL="342900" indent="-342900" eaLnBrk="0" hangingPunct="0">
                    <a:spcBef>
                      <a:spcPct val="50000"/>
                    </a:spcBef>
                    <a:buClrTx/>
                    <a:buFontTx/>
                  </a:pPr>
                  <a:r>
                    <a:rPr lang="zh-CN" altLang="en-US" sz="2400" dirty="0">
                      <a:latin typeface="微软雅黑" panose="020B0503020204020204" pitchFamily="34" charset="-122"/>
                      <a:ea typeface="微软雅黑" panose="020B0503020204020204" pitchFamily="34" charset="-122"/>
                    </a:rPr>
                    <a:t>存储器</a:t>
                  </a:r>
                  <a:endParaRPr lang="zh-CN" altLang="en-US" sz="2400" dirty="0">
                    <a:latin typeface="微软雅黑" panose="020B0503020204020204" pitchFamily="34" charset="-122"/>
                    <a:ea typeface="微软雅黑" panose="020B0503020204020204" pitchFamily="34" charset="-122"/>
                  </a:endParaRPr>
                </a:p>
              </p:txBody>
            </p:sp>
            <p:grpSp>
              <p:nvGrpSpPr>
                <p:cNvPr id="30795" name="Group 76"/>
                <p:cNvGrpSpPr/>
                <p:nvPr/>
              </p:nvGrpSpPr>
              <p:grpSpPr>
                <a:xfrm>
                  <a:off x="4156" y="1877"/>
                  <a:ext cx="737" cy="2211"/>
                  <a:chOff x="3447" y="1423"/>
                  <a:chExt cx="879" cy="2211"/>
                </a:xfrm>
              </p:grpSpPr>
              <p:sp>
                <p:nvSpPr>
                  <p:cNvPr id="30796" name="Rectangle 77"/>
                  <p:cNvSpPr/>
                  <p:nvPr/>
                </p:nvSpPr>
                <p:spPr>
                  <a:xfrm>
                    <a:off x="3447" y="1423"/>
                    <a:ext cx="879" cy="2211"/>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97" name="Line 78"/>
                  <p:cNvSpPr/>
                  <p:nvPr/>
                </p:nvSpPr>
                <p:spPr>
                  <a:xfrm>
                    <a:off x="3447" y="1678"/>
                    <a:ext cx="878" cy="0"/>
                  </a:xfrm>
                  <a:prstGeom prst="line">
                    <a:avLst/>
                  </a:prstGeom>
                  <a:ln w="9525" cap="flat" cmpd="sng">
                    <a:solidFill>
                      <a:schemeClr val="tx1"/>
                    </a:solidFill>
                    <a:prstDash val="solid"/>
                    <a:round/>
                    <a:headEnd type="none" w="med" len="med"/>
                    <a:tailEnd type="none" w="med" len="med"/>
                  </a:ln>
                </p:spPr>
              </p:sp>
              <p:sp>
                <p:nvSpPr>
                  <p:cNvPr id="30798" name="Line 79"/>
                  <p:cNvSpPr/>
                  <p:nvPr/>
                </p:nvSpPr>
                <p:spPr>
                  <a:xfrm>
                    <a:off x="3447" y="1962"/>
                    <a:ext cx="878" cy="0"/>
                  </a:xfrm>
                  <a:prstGeom prst="line">
                    <a:avLst/>
                  </a:prstGeom>
                  <a:ln w="9525" cap="flat" cmpd="sng">
                    <a:solidFill>
                      <a:schemeClr val="tx1"/>
                    </a:solidFill>
                    <a:prstDash val="solid"/>
                    <a:round/>
                    <a:headEnd type="none" w="med" len="med"/>
                    <a:tailEnd type="none" w="med" len="med"/>
                  </a:ln>
                </p:spPr>
              </p:sp>
              <p:sp>
                <p:nvSpPr>
                  <p:cNvPr id="30799" name="Line 80"/>
                  <p:cNvSpPr/>
                  <p:nvPr/>
                </p:nvSpPr>
                <p:spPr>
                  <a:xfrm>
                    <a:off x="3447" y="2245"/>
                    <a:ext cx="878" cy="0"/>
                  </a:xfrm>
                  <a:prstGeom prst="line">
                    <a:avLst/>
                  </a:prstGeom>
                  <a:ln w="9525" cap="flat" cmpd="sng">
                    <a:solidFill>
                      <a:schemeClr val="tx1"/>
                    </a:solidFill>
                    <a:prstDash val="solid"/>
                    <a:round/>
                    <a:headEnd type="none" w="med" len="med"/>
                    <a:tailEnd type="none" w="med" len="med"/>
                  </a:ln>
                </p:spPr>
              </p:sp>
              <p:sp>
                <p:nvSpPr>
                  <p:cNvPr id="30800" name="Line 81"/>
                  <p:cNvSpPr/>
                  <p:nvPr/>
                </p:nvSpPr>
                <p:spPr>
                  <a:xfrm>
                    <a:off x="3447" y="2529"/>
                    <a:ext cx="878" cy="0"/>
                  </a:xfrm>
                  <a:prstGeom prst="line">
                    <a:avLst/>
                  </a:prstGeom>
                  <a:ln w="9525" cap="flat" cmpd="sng">
                    <a:solidFill>
                      <a:schemeClr val="tx1"/>
                    </a:solidFill>
                    <a:prstDash val="solid"/>
                    <a:round/>
                    <a:headEnd type="none" w="med" len="med"/>
                    <a:tailEnd type="none" w="med" len="med"/>
                  </a:ln>
                </p:spPr>
              </p:sp>
              <p:sp>
                <p:nvSpPr>
                  <p:cNvPr id="30801" name="Line 82"/>
                  <p:cNvSpPr/>
                  <p:nvPr/>
                </p:nvSpPr>
                <p:spPr>
                  <a:xfrm>
                    <a:off x="3447" y="2812"/>
                    <a:ext cx="878" cy="0"/>
                  </a:xfrm>
                  <a:prstGeom prst="line">
                    <a:avLst/>
                  </a:prstGeom>
                  <a:ln w="9525" cap="flat" cmpd="sng">
                    <a:solidFill>
                      <a:schemeClr val="tx1"/>
                    </a:solidFill>
                    <a:prstDash val="solid"/>
                    <a:round/>
                    <a:headEnd type="none" w="med" len="med"/>
                    <a:tailEnd type="none" w="med" len="med"/>
                  </a:ln>
                </p:spPr>
              </p:sp>
              <p:sp>
                <p:nvSpPr>
                  <p:cNvPr id="30802" name="Line 83"/>
                  <p:cNvSpPr/>
                  <p:nvPr/>
                </p:nvSpPr>
                <p:spPr>
                  <a:xfrm>
                    <a:off x="3447" y="3096"/>
                    <a:ext cx="878" cy="0"/>
                  </a:xfrm>
                  <a:prstGeom prst="line">
                    <a:avLst/>
                  </a:prstGeom>
                  <a:ln w="9525" cap="flat" cmpd="sng">
                    <a:solidFill>
                      <a:schemeClr val="tx1"/>
                    </a:solidFill>
                    <a:prstDash val="solid"/>
                    <a:round/>
                    <a:headEnd type="none" w="med" len="med"/>
                    <a:tailEnd type="none" w="med" len="med"/>
                  </a:ln>
                </p:spPr>
              </p:sp>
              <p:sp>
                <p:nvSpPr>
                  <p:cNvPr id="30803" name="Line 84"/>
                  <p:cNvSpPr/>
                  <p:nvPr/>
                </p:nvSpPr>
                <p:spPr>
                  <a:xfrm>
                    <a:off x="3447" y="3379"/>
                    <a:ext cx="878" cy="0"/>
                  </a:xfrm>
                  <a:prstGeom prst="line">
                    <a:avLst/>
                  </a:prstGeom>
                  <a:ln w="9525" cap="flat" cmpd="sng">
                    <a:solidFill>
                      <a:schemeClr val="tx1"/>
                    </a:solidFill>
                    <a:prstDash val="solid"/>
                    <a:round/>
                    <a:headEnd type="none" w="med" len="med"/>
                    <a:tailEnd type="none" w="med" len="med"/>
                  </a:ln>
                </p:spPr>
              </p:sp>
            </p:grpSp>
            <p:sp>
              <p:nvSpPr>
                <p:cNvPr id="30804" name="Text Box 85"/>
                <p:cNvSpPr txBox="1"/>
                <p:nvPr/>
              </p:nvSpPr>
              <p:spPr>
                <a:xfrm>
                  <a:off x="4864" y="1941"/>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0</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805" name="Text Box 86"/>
                <p:cNvSpPr txBox="1"/>
                <p:nvPr/>
              </p:nvSpPr>
              <p:spPr>
                <a:xfrm>
                  <a:off x="4865" y="2160"/>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1</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806" name="Text Box 87"/>
                <p:cNvSpPr txBox="1"/>
                <p:nvPr/>
              </p:nvSpPr>
              <p:spPr>
                <a:xfrm>
                  <a:off x="4865" y="2472"/>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2</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807" name="Text Box 88"/>
                <p:cNvSpPr txBox="1"/>
                <p:nvPr/>
              </p:nvSpPr>
              <p:spPr>
                <a:xfrm>
                  <a:off x="4864" y="2755"/>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3</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808" name="Text Box 89"/>
                <p:cNvSpPr txBox="1"/>
                <p:nvPr/>
              </p:nvSpPr>
              <p:spPr>
                <a:xfrm>
                  <a:off x="4865" y="2982"/>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4</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809" name="Text Box 90"/>
                <p:cNvSpPr txBox="1"/>
                <p:nvPr/>
              </p:nvSpPr>
              <p:spPr>
                <a:xfrm>
                  <a:off x="4865" y="3322"/>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5</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810" name="Text Box 91"/>
                <p:cNvSpPr txBox="1"/>
                <p:nvPr/>
              </p:nvSpPr>
              <p:spPr>
                <a:xfrm>
                  <a:off x="4864" y="3578"/>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6</a:t>
                  </a:r>
                  <a:endParaRPr lang="en-US" altLang="zh-CN" sz="1800" dirty="0">
                    <a:solidFill>
                      <a:srgbClr val="008000"/>
                    </a:solidFill>
                    <a:latin typeface="微软雅黑" panose="020B0503020204020204" pitchFamily="34" charset="-122"/>
                    <a:ea typeface="微软雅黑" panose="020B0503020204020204" pitchFamily="34" charset="-122"/>
                  </a:endParaRPr>
                </a:p>
              </p:txBody>
            </p:sp>
            <p:sp>
              <p:nvSpPr>
                <p:cNvPr id="30811" name="Text Box 92"/>
                <p:cNvSpPr txBox="1"/>
                <p:nvPr/>
              </p:nvSpPr>
              <p:spPr>
                <a:xfrm>
                  <a:off x="4864" y="3885"/>
                  <a:ext cx="199" cy="231"/>
                </a:xfrm>
                <a:prstGeom prst="rect">
                  <a:avLst/>
                </a:prstGeom>
                <a:noFill/>
                <a:ln w="9525">
                  <a:noFill/>
                </a:ln>
              </p:spPr>
              <p:txBody>
                <a:bodyPr anchor="t" anchorCtr="0">
                  <a:spAutoFit/>
                </a:bodyPr>
                <a:p>
                  <a:pPr marL="342900" indent="-342900" eaLnBrk="0" hangingPunct="0">
                    <a:spcBef>
                      <a:spcPct val="50000"/>
                    </a:spcBef>
                    <a:buClrTx/>
                    <a:buFontTx/>
                  </a:pPr>
                  <a:r>
                    <a:rPr lang="en-US" altLang="zh-CN" sz="1800" dirty="0">
                      <a:solidFill>
                        <a:srgbClr val="008000"/>
                      </a:solidFill>
                      <a:latin typeface="微软雅黑" panose="020B0503020204020204" pitchFamily="34" charset="-122"/>
                      <a:ea typeface="微软雅黑" panose="020B0503020204020204" pitchFamily="34" charset="-122"/>
                    </a:rPr>
                    <a:t>7</a:t>
                  </a:r>
                  <a:endParaRPr lang="en-US" altLang="zh-CN" sz="1800" dirty="0">
                    <a:solidFill>
                      <a:srgbClr val="008000"/>
                    </a:solidFill>
                    <a:latin typeface="微软雅黑" panose="020B0503020204020204" pitchFamily="34" charset="-122"/>
                    <a:ea typeface="微软雅黑" panose="020B0503020204020204" pitchFamily="34" charset="-122"/>
                  </a:endParaRPr>
                </a:p>
              </p:txBody>
            </p:sp>
          </p:grpSp>
          <p:sp>
            <p:nvSpPr>
              <p:cNvPr id="30812" name="Rectangle 93"/>
              <p:cNvSpPr/>
              <p:nvPr/>
            </p:nvSpPr>
            <p:spPr>
              <a:xfrm>
                <a:off x="4127" y="1877"/>
                <a:ext cx="708" cy="2211"/>
              </a:xfrm>
              <a:prstGeom prst="rect">
                <a:avLst/>
              </a:prstGeom>
              <a:solidFill>
                <a:srgbClr val="008000">
                  <a:alpha val="16862"/>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30813" name="Rectangle 94"/>
            <p:cNvSpPr/>
            <p:nvPr/>
          </p:nvSpPr>
          <p:spPr>
            <a:xfrm>
              <a:off x="130" y="1395"/>
              <a:ext cx="4876" cy="2863"/>
            </a:xfrm>
            <a:prstGeom prst="rect">
              <a:avLst/>
            </a:prstGeom>
            <a:noFill/>
            <a:ln w="19050" cap="flat" cmpd="sng">
              <a:solidFill>
                <a:schemeClr val="tx1"/>
              </a:solidFill>
              <a:prstDash val="dash"/>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698463" name="Rectangle 95"/>
          <p:cNvSpPr/>
          <p:nvPr/>
        </p:nvSpPr>
        <p:spPr>
          <a:xfrm>
            <a:off x="2670175" y="3671888"/>
            <a:ext cx="1074738" cy="1597025"/>
          </a:xfrm>
          <a:prstGeom prst="rect">
            <a:avLst/>
          </a:prstGeom>
          <a:solidFill>
            <a:srgbClr val="FF0000">
              <a:alpha val="45097"/>
            </a:srgbClr>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cxnSp>
        <p:nvCxnSpPr>
          <p:cNvPr id="30815" name="直接箭头连接符 2"/>
          <p:cNvCxnSpPr/>
          <p:nvPr/>
        </p:nvCxnSpPr>
        <p:spPr>
          <a:xfrm>
            <a:off x="836613" y="1543050"/>
            <a:ext cx="1844675" cy="2065338"/>
          </a:xfrm>
          <a:prstGeom prst="straightConnector1">
            <a:avLst/>
          </a:prstGeom>
          <a:ln w="12700" cap="flat" cmpd="sng">
            <a:solidFill>
              <a:srgbClr val="00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2000" tmFilter="0, 0; .2, .5; .8, .5; 1, 0"/>
                                        <p:tgtEl>
                                          <p:spTgt spid="698463"/>
                                        </p:tgtEl>
                                      </p:cBhvr>
                                    </p:animEffect>
                                    <p:animScale>
                                      <p:cBhvr>
                                        <p:cTn id="7" dur="1000" autoRev="1" fill="hold"/>
                                        <p:tgtEl>
                                          <p:spTgt spid="69846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46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noChangeArrowheads="1"/>
          </p:cNvSpPr>
          <p:nvPr>
            <p:ph type="title" idx="4294967295"/>
          </p:nvPr>
        </p:nvSpPr>
        <p:spPr>
          <a:xfrm>
            <a:off x="1062038" y="160338"/>
            <a:ext cx="7335838" cy="479425"/>
          </a:xfrm>
        </p:spPr>
        <p:txBody>
          <a:bodyPr vert="horz" wrap="square" lIns="63500" tIns="25400" rIns="63500" bIns="25400" numCol="1" anchor="t" anchorCtr="0" compatLnSpc="1">
            <a:spAutoFit/>
          </a:bodyPr>
          <a:lstStyle/>
          <a:p>
            <a:pPr marL="0" marR="0" lvl="0" indent="0" algn="l" defTabSz="914400" rtl="0" eaLnBrk="0" fontAlgn="base" latinLnBrk="0" hangingPunct="0">
              <a:lnSpc>
                <a:spcPct val="87000"/>
              </a:lnSpc>
              <a:spcBef>
                <a:spcPct val="0"/>
              </a:spcBef>
              <a:spcAft>
                <a:spcPct val="0"/>
              </a:spcAft>
              <a:buClrTx/>
              <a:buSzTx/>
              <a:buFontTx/>
              <a:buNone/>
              <a:defRPr/>
            </a:pPr>
            <a:r>
              <a:rPr kumimoji="0" lang="zh-CN" altLang="en-US" sz="3200" b="1" i="0" u="none" strike="noStrike" kern="0" cap="none" spc="0" normalizeH="0" baseline="0" noProof="0" dirty="0" smtClean="0">
                <a:ln>
                  <a:noFill/>
                </a:ln>
                <a:solidFill>
                  <a:srgbClr val="CC0000"/>
                </a:solidFill>
                <a:effectLst/>
                <a:uLnTx/>
                <a:uFillTx/>
                <a:latin typeface="+mn-lt"/>
                <a:ea typeface="+mn-ea"/>
                <a:cs typeface="+mj-cs"/>
              </a:rPr>
              <a:t>算术逻辑部件</a:t>
            </a:r>
            <a:r>
              <a:rPr kumimoji="0" lang="zh-CN" altLang="en-US" sz="3200" b="1" i="0" u="none" strike="noStrike" kern="0" cap="none" spc="0" normalizeH="0" baseline="0" noProof="0" dirty="0">
                <a:ln>
                  <a:noFill/>
                </a:ln>
                <a:solidFill>
                  <a:srgbClr val="CC0000"/>
                </a:solidFill>
                <a:effectLst/>
                <a:uLnTx/>
                <a:uFillTx/>
                <a:latin typeface="+mn-lt"/>
                <a:ea typeface="+mn-ea"/>
                <a:cs typeface="+mj-cs"/>
              </a:rPr>
              <a:t>（</a:t>
            </a:r>
            <a:r>
              <a:rPr kumimoji="0" lang="en-US" altLang="zh-CN" sz="3200" b="1" i="0" u="none" strike="noStrike" kern="0" cap="none" spc="0" normalizeH="0" baseline="0" noProof="0" dirty="0">
                <a:ln>
                  <a:noFill/>
                </a:ln>
                <a:solidFill>
                  <a:srgbClr val="CC0000"/>
                </a:solidFill>
                <a:effectLst/>
                <a:uLnTx/>
                <a:uFillTx/>
                <a:latin typeface="+mn-lt"/>
                <a:ea typeface="+mn-ea"/>
                <a:cs typeface="+mj-cs"/>
              </a:rPr>
              <a:t>ALU</a:t>
            </a:r>
            <a:r>
              <a:rPr kumimoji="0" lang="zh-CN" altLang="en-US" sz="3200" b="1" i="0" u="none" strike="noStrike" kern="0" cap="none" spc="0" normalizeH="0" baseline="0" noProof="0" dirty="0">
                <a:ln>
                  <a:noFill/>
                </a:ln>
                <a:solidFill>
                  <a:srgbClr val="CC0000"/>
                </a:solidFill>
                <a:effectLst/>
                <a:uLnTx/>
                <a:uFillTx/>
                <a:latin typeface="+mn-lt"/>
                <a:ea typeface="+mn-ea"/>
                <a:cs typeface="+mj-cs"/>
              </a:rPr>
              <a:t>）</a:t>
            </a:r>
            <a:endParaRPr kumimoji="0" lang="zh-CN" altLang="en-US" sz="3200" b="1" i="0" u="none" strike="noStrike" kern="0" cap="none" spc="0" normalizeH="0" baseline="0" noProof="0" dirty="0">
              <a:ln>
                <a:noFill/>
              </a:ln>
              <a:solidFill>
                <a:srgbClr val="CC0000"/>
              </a:solidFill>
              <a:effectLst/>
              <a:uLnTx/>
              <a:uFillTx/>
              <a:latin typeface="+mn-lt"/>
              <a:ea typeface="+mn-ea"/>
              <a:cs typeface="+mj-cs"/>
            </a:endParaRPr>
          </a:p>
        </p:txBody>
      </p:sp>
      <p:sp>
        <p:nvSpPr>
          <p:cNvPr id="696323" name="Rectangle 3"/>
          <p:cNvSpPr/>
          <p:nvPr/>
        </p:nvSpPr>
        <p:spPr>
          <a:xfrm>
            <a:off x="100013" y="731838"/>
            <a:ext cx="4364037" cy="5624512"/>
          </a:xfrm>
          <a:prstGeom prst="rect">
            <a:avLst/>
          </a:prstGeom>
          <a:noFill/>
          <a:ln w="9525">
            <a:noFill/>
          </a:ln>
        </p:spPr>
        <p:txBody>
          <a:bodyPr anchor="t" anchorCtr="0"/>
          <a:p>
            <a:pPr marL="342900" indent="-342900" eaLnBrk="0" hangingPunct="0">
              <a:lnSpc>
                <a:spcPct val="115000"/>
              </a:lnSpc>
              <a:spcBef>
                <a:spcPct val="25000"/>
              </a:spcBef>
              <a:buClrTx/>
              <a:buFontTx/>
              <a:buChar char="•"/>
            </a:pPr>
            <a:r>
              <a:rPr lang="zh-CN" altLang="en-US" sz="2000" dirty="0">
                <a:latin typeface="微软雅黑" panose="020B0503020204020204" pitchFamily="34" charset="-122"/>
                <a:ea typeface="微软雅黑" panose="020B0503020204020204" pitchFamily="34" charset="-122"/>
              </a:rPr>
              <a:t>进行</a:t>
            </a:r>
            <a:r>
              <a:rPr lang="zh-CN" altLang="en-US" sz="2000" dirty="0">
                <a:solidFill>
                  <a:srgbClr val="FF0000"/>
                </a:solidFill>
                <a:latin typeface="微软雅黑" panose="020B0503020204020204" pitchFamily="34" charset="-122"/>
                <a:ea typeface="微软雅黑" panose="020B0503020204020204" pitchFamily="34" charset="-122"/>
              </a:rPr>
              <a:t>基本</a:t>
            </a:r>
            <a:r>
              <a:rPr lang="zh-CN" altLang="en-US" sz="2000" dirty="0">
                <a:latin typeface="微软雅黑" panose="020B0503020204020204" pitchFamily="34" charset="-122"/>
                <a:ea typeface="微软雅黑" panose="020B0503020204020204" pitchFamily="34" charset="-122"/>
              </a:rPr>
              <a:t>算术运算与逻辑运算</a:t>
            </a:r>
            <a:endParaRPr lang="zh-CN" altLang="en-US" sz="2000" dirty="0">
              <a:latin typeface="微软雅黑" panose="020B0503020204020204" pitchFamily="34" charset="-122"/>
              <a:ea typeface="微软雅黑" panose="020B0503020204020204" pitchFamily="34" charset="-122"/>
            </a:endParaRPr>
          </a:p>
          <a:p>
            <a:pPr marL="742950" lvl="1" indent="-285750" algn="l" rtl="0" eaLnBrk="0" fontAlgn="base" hangingPunct="0">
              <a:lnSpc>
                <a:spcPct val="115000"/>
              </a:lnSpc>
              <a:spcBef>
                <a:spcPct val="25000"/>
              </a:spcBef>
              <a:spcAft>
                <a:spcPct val="0"/>
              </a:spcAft>
              <a:buChar char="–"/>
            </a:pPr>
            <a:r>
              <a:rPr lang="zh-CN" altLang="en-US" sz="2000" dirty="0">
                <a:solidFill>
                  <a:srgbClr val="0000CC"/>
                </a:solidFill>
                <a:latin typeface="微软雅黑" panose="020B0503020204020204" pitchFamily="34" charset="-122"/>
                <a:ea typeface="微软雅黑" panose="020B0503020204020204" pitchFamily="34" charset="-122"/>
              </a:rPr>
              <a:t>无符号整数加、减</a:t>
            </a:r>
            <a:endParaRPr lang="zh-CN" altLang="en-US" sz="2000" dirty="0">
              <a:solidFill>
                <a:srgbClr val="0000CC"/>
              </a:solidFill>
              <a:latin typeface="微软雅黑" panose="020B0503020204020204" pitchFamily="34" charset="-122"/>
              <a:ea typeface="微软雅黑" panose="020B0503020204020204" pitchFamily="34" charset="-122"/>
            </a:endParaRPr>
          </a:p>
          <a:p>
            <a:pPr marL="742950" lvl="1" indent="-285750" algn="l" rtl="0" eaLnBrk="0" fontAlgn="base" hangingPunct="0">
              <a:lnSpc>
                <a:spcPct val="115000"/>
              </a:lnSpc>
              <a:spcBef>
                <a:spcPct val="25000"/>
              </a:spcBef>
              <a:spcAft>
                <a:spcPct val="0"/>
              </a:spcAft>
              <a:buChar char="–"/>
            </a:pPr>
            <a:r>
              <a:rPr lang="zh-CN" altLang="en-US" sz="2000" dirty="0">
                <a:solidFill>
                  <a:srgbClr val="0000CC"/>
                </a:solidFill>
                <a:latin typeface="微软雅黑" panose="020B0503020204020204" pitchFamily="34" charset="-122"/>
                <a:ea typeface="微软雅黑" panose="020B0503020204020204" pitchFamily="34" charset="-122"/>
              </a:rPr>
              <a:t>带符号整数加、减</a:t>
            </a:r>
            <a:endParaRPr lang="zh-CN" altLang="en-US" sz="2000" dirty="0">
              <a:solidFill>
                <a:srgbClr val="0000CC"/>
              </a:solidFill>
              <a:latin typeface="微软雅黑" panose="020B0503020204020204" pitchFamily="34" charset="-122"/>
              <a:ea typeface="微软雅黑" panose="020B0503020204020204" pitchFamily="34" charset="-122"/>
            </a:endParaRPr>
          </a:p>
          <a:p>
            <a:pPr marL="742950" lvl="1" indent="-285750" algn="l" rtl="0" eaLnBrk="0" fontAlgn="base" hangingPunct="0">
              <a:lnSpc>
                <a:spcPct val="115000"/>
              </a:lnSpc>
              <a:spcBef>
                <a:spcPct val="25000"/>
              </a:spcBef>
              <a:spcAft>
                <a:spcPct val="0"/>
              </a:spcAft>
              <a:buChar char="–"/>
            </a:pPr>
            <a:r>
              <a:rPr lang="zh-CN" altLang="en-US" sz="2000" dirty="0">
                <a:solidFill>
                  <a:srgbClr val="0000CC"/>
                </a:solidFill>
                <a:latin typeface="微软雅黑" panose="020B0503020204020204" pitchFamily="34" charset="-122"/>
                <a:ea typeface="微软雅黑" panose="020B0503020204020204" pitchFamily="34" charset="-122"/>
              </a:rPr>
              <a:t>与、或、非、异或等逻辑运算</a:t>
            </a:r>
            <a:endParaRPr lang="zh-CN" altLang="en-US" sz="2000" dirty="0">
              <a:solidFill>
                <a:srgbClr val="0000CC"/>
              </a:solidFill>
              <a:latin typeface="微软雅黑" panose="020B0503020204020204" pitchFamily="34" charset="-122"/>
              <a:ea typeface="微软雅黑" panose="020B0503020204020204" pitchFamily="34" charset="-122"/>
            </a:endParaRPr>
          </a:p>
          <a:p>
            <a:pPr marL="342900" indent="-342900" eaLnBrk="0" hangingPunct="0">
              <a:lnSpc>
                <a:spcPct val="115000"/>
              </a:lnSpc>
              <a:spcBef>
                <a:spcPct val="25000"/>
              </a:spcBef>
              <a:buClrTx/>
              <a:buFontTx/>
              <a:buChar char="•"/>
            </a:pPr>
            <a:r>
              <a:rPr lang="zh-CN" altLang="en-US" sz="2000" dirty="0">
                <a:latin typeface="微软雅黑" panose="020B0503020204020204" pitchFamily="34" charset="-122"/>
                <a:ea typeface="微软雅黑" panose="020B0503020204020204" pitchFamily="34" charset="-122"/>
              </a:rPr>
              <a:t>核心电路是</a:t>
            </a:r>
            <a:r>
              <a:rPr lang="zh-CN" altLang="en-US" sz="2000" dirty="0">
                <a:solidFill>
                  <a:srgbClr val="FF0000"/>
                </a:solidFill>
                <a:latin typeface="微软雅黑" panose="020B0503020204020204" pitchFamily="34" charset="-122"/>
                <a:ea typeface="微软雅黑" panose="020B0503020204020204" pitchFamily="34" charset="-122"/>
              </a:rPr>
              <a:t>整数加</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减运算部件</a:t>
            </a:r>
            <a:endParaRPr lang="zh-CN" altLang="en-US" sz="2000" dirty="0">
              <a:solidFill>
                <a:srgbClr val="FF0000"/>
              </a:solidFill>
              <a:latin typeface="微软雅黑" panose="020B0503020204020204" pitchFamily="34" charset="-122"/>
              <a:ea typeface="微软雅黑" panose="020B0503020204020204" pitchFamily="34" charset="-122"/>
            </a:endParaRPr>
          </a:p>
          <a:p>
            <a:pPr marL="342900" indent="-342900" eaLnBrk="0" hangingPunct="0">
              <a:lnSpc>
                <a:spcPct val="115000"/>
              </a:lnSpc>
              <a:spcBef>
                <a:spcPct val="25000"/>
              </a:spcBef>
              <a:buClrTx/>
              <a:buFontTx/>
              <a:buChar char="•"/>
            </a:pPr>
            <a:r>
              <a:rPr lang="zh-CN" altLang="en-US" sz="2000" dirty="0">
                <a:latin typeface="微软雅黑" panose="020B0503020204020204" pitchFamily="34" charset="-122"/>
                <a:ea typeface="微软雅黑" panose="020B0503020204020204" pitchFamily="34" charset="-122"/>
              </a:rPr>
              <a:t>输出除</a:t>
            </a:r>
            <a:r>
              <a:rPr lang="zh-CN" altLang="en-US" sz="2000" dirty="0">
                <a:solidFill>
                  <a:srgbClr val="FF0000"/>
                </a:solidFill>
                <a:latin typeface="微软雅黑" panose="020B0503020204020204" pitchFamily="34" charset="-122"/>
                <a:ea typeface="微软雅黑" panose="020B0503020204020204" pitchFamily="34" charset="-122"/>
              </a:rPr>
              <a:t>和</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差等</a:t>
            </a:r>
            <a:r>
              <a:rPr lang="zh-CN" altLang="en-US" sz="2000" dirty="0">
                <a:latin typeface="微软雅黑" panose="020B0503020204020204" pitchFamily="34" charset="-122"/>
                <a:ea typeface="微软雅黑" panose="020B0503020204020204" pitchFamily="34" charset="-122"/>
              </a:rPr>
              <a:t>，还有</a:t>
            </a:r>
            <a:r>
              <a:rPr lang="zh-CN" altLang="en-US" sz="2000" dirty="0">
                <a:solidFill>
                  <a:srgbClr val="FF0000"/>
                </a:solidFill>
                <a:latin typeface="微软雅黑" panose="020B0503020204020204" pitchFamily="34" charset="-122"/>
                <a:ea typeface="微软雅黑" panose="020B0503020204020204" pitchFamily="34" charset="-122"/>
              </a:rPr>
              <a:t>标志信息</a:t>
            </a:r>
            <a:endParaRPr lang="zh-CN" altLang="en-US" sz="2000" dirty="0">
              <a:solidFill>
                <a:srgbClr val="FF0000"/>
              </a:solidFill>
              <a:latin typeface="微软雅黑" panose="020B0503020204020204" pitchFamily="34" charset="-122"/>
              <a:ea typeface="微软雅黑" panose="020B0503020204020204" pitchFamily="34" charset="-122"/>
            </a:endParaRPr>
          </a:p>
          <a:p>
            <a:pPr marL="342900" indent="-342900" eaLnBrk="0" hangingPunct="0">
              <a:lnSpc>
                <a:spcPct val="115000"/>
              </a:lnSpc>
              <a:spcBef>
                <a:spcPct val="25000"/>
              </a:spcBef>
              <a:buClrTx/>
              <a:buFontTx/>
              <a:buChar char="•"/>
            </a:pPr>
            <a:r>
              <a:rPr lang="zh-CN" altLang="en-US" sz="2000" dirty="0">
                <a:latin typeface="微软雅黑" panose="020B0503020204020204" pitchFamily="34" charset="-122"/>
                <a:ea typeface="微软雅黑" panose="020B0503020204020204" pitchFamily="34" charset="-122"/>
              </a:rPr>
              <a:t>有一个</a:t>
            </a:r>
            <a:r>
              <a:rPr lang="zh-CN" altLang="en-US" sz="2000" dirty="0">
                <a:solidFill>
                  <a:srgbClr val="FF0000"/>
                </a:solidFill>
                <a:latin typeface="微软雅黑" panose="020B0503020204020204" pitchFamily="34" charset="-122"/>
                <a:ea typeface="微软雅黑" panose="020B0503020204020204" pitchFamily="34" charset="-122"/>
              </a:rPr>
              <a:t>操作控制端</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ALUop</a:t>
            </a:r>
            <a:r>
              <a:rPr lang="zh-CN" altLang="en-US" sz="2000" dirty="0">
                <a:latin typeface="微软雅黑" panose="020B0503020204020204" pitchFamily="34" charset="-122"/>
                <a:ea typeface="微软雅黑" panose="020B0503020204020204" pitchFamily="34" charset="-122"/>
              </a:rPr>
              <a:t>），用来决定</a:t>
            </a:r>
            <a:r>
              <a:rPr lang="en-US" altLang="zh-CN" sz="2000" dirty="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所执行的处理功能。</a:t>
            </a:r>
            <a:r>
              <a:rPr lang="en-US" altLang="zh-CN" sz="2000" dirty="0">
                <a:latin typeface="微软雅黑" panose="020B0503020204020204" pitchFamily="34" charset="-122"/>
                <a:ea typeface="微软雅黑" panose="020B0503020204020204" pitchFamily="34" charset="-122"/>
              </a:rPr>
              <a:t>ALUop</a:t>
            </a:r>
            <a:r>
              <a:rPr lang="zh-CN" altLang="en-US" sz="2000" dirty="0">
                <a:latin typeface="微软雅黑" panose="020B0503020204020204" pitchFamily="34" charset="-122"/>
                <a:ea typeface="微软雅黑" panose="020B0503020204020204" pitchFamily="34" charset="-122"/>
              </a:rPr>
              <a:t>的位数</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决定了操作的种类例如，当位数</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为</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时，</a:t>
            </a:r>
            <a:r>
              <a:rPr lang="en-US" altLang="zh-CN" sz="2000" dirty="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最多只有</a:t>
            </a:r>
            <a:r>
              <a:rPr lang="en-US" altLang="zh-CN" sz="2000" dirty="0">
                <a:latin typeface="微软雅黑" panose="020B0503020204020204" pitchFamily="34" charset="-122"/>
                <a:ea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rPr>
              <a:t>3</a:t>
            </a:r>
            <a:r>
              <a:rPr lang="en-US" altLang="zh-CN" sz="2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种操作。</a:t>
            </a:r>
            <a:endParaRPr lang="zh-CN" altLang="en-US" sz="2000" dirty="0">
              <a:latin typeface="微软雅黑" panose="020B0503020204020204" pitchFamily="34" charset="-122"/>
              <a:ea typeface="微软雅黑" panose="020B0503020204020204" pitchFamily="34" charset="-122"/>
            </a:endParaRPr>
          </a:p>
        </p:txBody>
      </p:sp>
      <p:pic>
        <p:nvPicPr>
          <p:cNvPr id="696324" name="Picture 4"/>
          <p:cNvPicPr>
            <a:picLocks noChangeAspect="1"/>
          </p:cNvPicPr>
          <p:nvPr/>
        </p:nvPicPr>
        <p:blipFill>
          <a:blip r:embed="rId1"/>
          <a:stretch>
            <a:fillRect/>
          </a:stretch>
        </p:blipFill>
        <p:spPr>
          <a:xfrm>
            <a:off x="4729163" y="623888"/>
            <a:ext cx="4267200" cy="4506912"/>
          </a:xfrm>
          <a:prstGeom prst="rect">
            <a:avLst/>
          </a:prstGeom>
          <a:noFill/>
          <a:ln w="9525">
            <a:noFill/>
          </a:ln>
        </p:spPr>
      </p:pic>
      <p:grpSp>
        <p:nvGrpSpPr>
          <p:cNvPr id="696325" name="Group 5"/>
          <p:cNvGrpSpPr/>
          <p:nvPr/>
        </p:nvGrpSpPr>
        <p:grpSpPr>
          <a:xfrm>
            <a:off x="246063" y="5400675"/>
            <a:ext cx="8534400" cy="1168400"/>
            <a:chOff x="155" y="3438"/>
            <a:chExt cx="5376" cy="736"/>
          </a:xfrm>
        </p:grpSpPr>
        <p:sp>
          <p:nvSpPr>
            <p:cNvPr id="31749" name="Text Box 6"/>
            <p:cNvSpPr txBox="1"/>
            <p:nvPr/>
          </p:nvSpPr>
          <p:spPr>
            <a:xfrm>
              <a:off x="192" y="3438"/>
              <a:ext cx="5339" cy="710"/>
            </a:xfrm>
            <a:prstGeom prst="rect">
              <a:avLst/>
            </a:prstGeom>
            <a:noFill/>
            <a:ln w="9525">
              <a:noFill/>
            </a:ln>
          </p:spPr>
          <p:txBody>
            <a:bodyPr anchor="t" anchorCtr="0">
              <a:spAutoFit/>
            </a:bodyPr>
            <a:p>
              <a:pPr>
                <a:spcBef>
                  <a:spcPct val="20000"/>
                </a:spcBef>
              </a:pPr>
              <a:r>
                <a:rPr lang="en-US" altLang="zh-CN" sz="2000" dirty="0">
                  <a:solidFill>
                    <a:srgbClr val="0033CC"/>
                  </a:solidFill>
                  <a:latin typeface="微软雅黑" panose="020B0503020204020204" pitchFamily="34" charset="-122"/>
                  <a:ea typeface="微软雅黑" panose="020B0503020204020204" pitchFamily="34" charset="-122"/>
                </a:rPr>
                <a:t>ALUop   Result  ALUop   Result    ALUop    Result  ALUop   Result</a:t>
              </a:r>
              <a:endParaRPr lang="en-US" altLang="zh-CN" sz="2000" dirty="0">
                <a:solidFill>
                  <a:srgbClr val="0033CC"/>
                </a:solidFill>
                <a:latin typeface="微软雅黑" panose="020B0503020204020204" pitchFamily="34" charset="-122"/>
                <a:ea typeface="微软雅黑" panose="020B0503020204020204" pitchFamily="34" charset="-122"/>
              </a:endParaRPr>
            </a:p>
            <a:p>
              <a:pPr>
                <a:spcBef>
                  <a:spcPct val="20000"/>
                </a:spcBef>
              </a:pPr>
              <a:r>
                <a:rPr lang="en-US" altLang="zh-CN" sz="2000" dirty="0">
                  <a:latin typeface="微软雅黑" panose="020B0503020204020204" pitchFamily="34" charset="-122"/>
                  <a:ea typeface="微软雅黑" panose="020B0503020204020204" pitchFamily="34" charset="-122"/>
                </a:rPr>
                <a:t> 0 0 0      A</a:t>
              </a:r>
              <a:r>
                <a:rPr lang="zh-CN" altLang="en-US" sz="2000" dirty="0">
                  <a:latin typeface="微软雅黑" panose="020B0503020204020204" pitchFamily="34" charset="-122"/>
                  <a:ea typeface="微软雅黑" panose="020B0503020204020204" pitchFamily="34" charset="-122"/>
                </a:rPr>
                <a:t>加</a:t>
              </a:r>
              <a:r>
                <a:rPr lang="en-US" altLang="zh-CN" sz="2000" dirty="0">
                  <a:latin typeface="微软雅黑" panose="020B0503020204020204" pitchFamily="34" charset="-122"/>
                  <a:ea typeface="微软雅黑" panose="020B0503020204020204" pitchFamily="34" charset="-122"/>
                </a:rPr>
                <a:t>B     0 1 0      A</a:t>
              </a:r>
              <a:r>
                <a:rPr lang="zh-CN" altLang="en-US" sz="2000" dirty="0">
                  <a:latin typeface="微软雅黑" panose="020B0503020204020204" pitchFamily="34" charset="-122"/>
                  <a:ea typeface="微软雅黑" panose="020B0503020204020204" pitchFamily="34" charset="-122"/>
                </a:rPr>
                <a:t>与</a:t>
              </a:r>
              <a:r>
                <a:rPr lang="en-US" altLang="zh-CN" sz="2000" dirty="0">
                  <a:latin typeface="微软雅黑" panose="020B0503020204020204" pitchFamily="34" charset="-122"/>
                  <a:ea typeface="微软雅黑" panose="020B0503020204020204" pitchFamily="34" charset="-122"/>
                </a:rPr>
                <a:t>B       1 0 0      A</a:t>
              </a:r>
              <a:r>
                <a:rPr lang="zh-CN" altLang="en-US" sz="2000" dirty="0">
                  <a:latin typeface="微软雅黑" panose="020B0503020204020204" pitchFamily="34" charset="-122"/>
                  <a:ea typeface="微软雅黑" panose="020B0503020204020204" pitchFamily="34" charset="-122"/>
                </a:rPr>
                <a:t>取反    </a:t>
              </a:r>
              <a:r>
                <a:rPr lang="en-US" altLang="zh-CN" sz="2000" dirty="0">
                  <a:latin typeface="微软雅黑" panose="020B0503020204020204" pitchFamily="34" charset="-122"/>
                  <a:ea typeface="微软雅黑" panose="020B0503020204020204" pitchFamily="34" charset="-122"/>
                </a:rPr>
                <a:t>1 1 0        A</a:t>
              </a:r>
              <a:endParaRPr lang="zh-CN" altLang="en-US" sz="2000" dirty="0">
                <a:latin typeface="微软雅黑" panose="020B0503020204020204" pitchFamily="34" charset="-122"/>
                <a:ea typeface="微软雅黑" panose="020B0503020204020204" pitchFamily="34" charset="-122"/>
              </a:endParaRPr>
            </a:p>
            <a:p>
              <a:pPr>
                <a:spcBef>
                  <a:spcPct val="20000"/>
                </a:spcBef>
              </a:pPr>
              <a:r>
                <a:rPr lang="en-US" altLang="zh-CN" sz="2000" dirty="0">
                  <a:latin typeface="微软雅黑" panose="020B0503020204020204" pitchFamily="34" charset="-122"/>
                  <a:ea typeface="微软雅黑" panose="020B0503020204020204" pitchFamily="34" charset="-122"/>
                </a:rPr>
                <a:t> 0 0 1      A</a:t>
              </a:r>
              <a:r>
                <a:rPr lang="zh-CN" altLang="en-US" sz="2000" dirty="0">
                  <a:latin typeface="微软雅黑" panose="020B0503020204020204" pitchFamily="34" charset="-122"/>
                  <a:ea typeface="微软雅黑" panose="020B0503020204020204" pitchFamily="34" charset="-122"/>
                </a:rPr>
                <a:t>减</a:t>
              </a:r>
              <a:r>
                <a:rPr lang="en-US" altLang="zh-CN" sz="2000" dirty="0">
                  <a:latin typeface="微软雅黑" panose="020B0503020204020204" pitchFamily="34" charset="-122"/>
                  <a:ea typeface="微软雅黑" panose="020B0503020204020204" pitchFamily="34" charset="-122"/>
                </a:rPr>
                <a:t>B     0 1 1      A</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B       1 0 1      A</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B</a:t>
              </a:r>
              <a:r>
                <a:rPr lang="en-US" altLang="zh-CN" sz="2000" dirty="0">
                  <a:latin typeface="微软雅黑" panose="020B0503020204020204" pitchFamily="34" charset="-122"/>
                  <a:ea typeface="微软雅黑" panose="020B0503020204020204" pitchFamily="34" charset="-122"/>
                </a:rPr>
                <a:t>   	 1 1 1      </a:t>
              </a:r>
              <a:r>
                <a:rPr lang="zh-CN" altLang="en-US" sz="2000" dirty="0">
                  <a:latin typeface="微软雅黑" panose="020B0503020204020204" pitchFamily="34" charset="-122"/>
                  <a:ea typeface="微软雅黑" panose="020B0503020204020204" pitchFamily="34" charset="-122"/>
                </a:rPr>
                <a:t>未用</a:t>
              </a:r>
              <a:endParaRPr lang="zh-CN" altLang="en-US" sz="2000" dirty="0">
                <a:latin typeface="微软雅黑" panose="020B0503020204020204" pitchFamily="34" charset="-122"/>
                <a:ea typeface="微软雅黑" panose="020B0503020204020204" pitchFamily="34" charset="-122"/>
              </a:endParaRPr>
            </a:p>
          </p:txBody>
        </p:sp>
        <p:sp>
          <p:nvSpPr>
            <p:cNvPr id="31750" name="Line 7"/>
            <p:cNvSpPr/>
            <p:nvPr/>
          </p:nvSpPr>
          <p:spPr>
            <a:xfrm flipV="1">
              <a:off x="155" y="3676"/>
              <a:ext cx="5285" cy="9"/>
            </a:xfrm>
            <a:prstGeom prst="line">
              <a:avLst/>
            </a:prstGeom>
            <a:ln w="28575" cap="flat" cmpd="sng">
              <a:solidFill>
                <a:srgbClr val="FF0000"/>
              </a:solidFill>
              <a:prstDash val="solid"/>
              <a:round/>
              <a:headEnd type="none" w="med" len="med"/>
              <a:tailEnd type="none" w="med" len="med"/>
            </a:ln>
          </p:spPr>
        </p:sp>
        <p:sp>
          <p:nvSpPr>
            <p:cNvPr id="31751" name="Line 8"/>
            <p:cNvSpPr/>
            <p:nvPr/>
          </p:nvSpPr>
          <p:spPr>
            <a:xfrm>
              <a:off x="1499" y="3483"/>
              <a:ext cx="0" cy="686"/>
            </a:xfrm>
            <a:prstGeom prst="line">
              <a:avLst/>
            </a:prstGeom>
            <a:ln w="28575" cap="flat" cmpd="sng">
              <a:solidFill>
                <a:srgbClr val="FF0000"/>
              </a:solidFill>
              <a:prstDash val="solid"/>
              <a:round/>
              <a:headEnd type="none" w="med" len="med"/>
              <a:tailEnd type="none" w="med" len="med"/>
            </a:ln>
          </p:spPr>
        </p:sp>
        <p:sp>
          <p:nvSpPr>
            <p:cNvPr id="31752" name="Line 9"/>
            <p:cNvSpPr/>
            <p:nvPr/>
          </p:nvSpPr>
          <p:spPr>
            <a:xfrm>
              <a:off x="2845" y="3488"/>
              <a:ext cx="0" cy="686"/>
            </a:xfrm>
            <a:prstGeom prst="line">
              <a:avLst/>
            </a:prstGeom>
            <a:ln w="28575" cap="flat" cmpd="sng">
              <a:solidFill>
                <a:srgbClr val="FF0000"/>
              </a:solidFill>
              <a:prstDash val="solid"/>
              <a:round/>
              <a:headEnd type="none" w="med" len="med"/>
              <a:tailEnd type="none" w="med" len="med"/>
            </a:ln>
          </p:spPr>
        </p:sp>
        <p:sp>
          <p:nvSpPr>
            <p:cNvPr id="31753" name="Line 10"/>
            <p:cNvSpPr/>
            <p:nvPr/>
          </p:nvSpPr>
          <p:spPr>
            <a:xfrm>
              <a:off x="4210" y="3477"/>
              <a:ext cx="0" cy="686"/>
            </a:xfrm>
            <a:prstGeom prst="line">
              <a:avLst/>
            </a:prstGeom>
            <a:ln w="28575" cap="flat" cmpd="sng">
              <a:solidFill>
                <a:srgbClr val="FF0000"/>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6324"/>
                                        </p:tgtEl>
                                        <p:attrNameLst>
                                          <p:attrName>style.visibility</p:attrName>
                                        </p:attrNameLst>
                                      </p:cBhvr>
                                      <p:to>
                                        <p:strVal val="visible"/>
                                      </p:to>
                                    </p:set>
                                    <p:animEffect transition="in" filter="blinds(horizontal)">
                                      <p:cBhvr>
                                        <p:cTn id="7" dur="500"/>
                                        <p:tgtEl>
                                          <p:spTgt spid="6963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96323">
                                            <p:txEl>
                                              <p:charRg st="0" end="14"/>
                                            </p:txEl>
                                          </p:spTgt>
                                        </p:tgtEl>
                                        <p:attrNameLst>
                                          <p:attrName>style.visibility</p:attrName>
                                        </p:attrNameLst>
                                      </p:cBhvr>
                                      <p:to>
                                        <p:strVal val="visible"/>
                                      </p:to>
                                    </p:set>
                                    <p:animEffect transition="in" filter="blinds(horizontal)">
                                      <p:cBhvr>
                                        <p:cTn id="12" dur="500"/>
                                        <p:tgtEl>
                                          <p:spTgt spid="696323">
                                            <p:txEl>
                                              <p:charRg st="0" end="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96323">
                                            <p:txEl>
                                              <p:charRg st="14" end="23"/>
                                            </p:txEl>
                                          </p:spTgt>
                                        </p:tgtEl>
                                        <p:attrNameLst>
                                          <p:attrName>style.visibility</p:attrName>
                                        </p:attrNameLst>
                                      </p:cBhvr>
                                      <p:to>
                                        <p:strVal val="visible"/>
                                      </p:to>
                                    </p:set>
                                    <p:animEffect transition="in" filter="blinds(horizontal)">
                                      <p:cBhvr>
                                        <p:cTn id="17" dur="500"/>
                                        <p:tgtEl>
                                          <p:spTgt spid="696323">
                                            <p:txEl>
                                              <p:charRg st="14" end="2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96323">
                                            <p:txEl>
                                              <p:charRg st="23" end="32"/>
                                            </p:txEl>
                                          </p:spTgt>
                                        </p:tgtEl>
                                        <p:attrNameLst>
                                          <p:attrName>style.visibility</p:attrName>
                                        </p:attrNameLst>
                                      </p:cBhvr>
                                      <p:to>
                                        <p:strVal val="visible"/>
                                      </p:to>
                                    </p:set>
                                    <p:animEffect transition="in" filter="blinds(horizontal)">
                                      <p:cBhvr>
                                        <p:cTn id="22" dur="500"/>
                                        <p:tgtEl>
                                          <p:spTgt spid="696323">
                                            <p:txEl>
                                              <p:charRg st="23" end="3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96323">
                                            <p:txEl>
                                              <p:charRg st="32" end="46"/>
                                            </p:txEl>
                                          </p:spTgt>
                                        </p:tgtEl>
                                        <p:attrNameLst>
                                          <p:attrName>style.visibility</p:attrName>
                                        </p:attrNameLst>
                                      </p:cBhvr>
                                      <p:to>
                                        <p:strVal val="visible"/>
                                      </p:to>
                                    </p:set>
                                    <p:animEffect transition="in" filter="blinds(horizontal)">
                                      <p:cBhvr>
                                        <p:cTn id="27" dur="500"/>
                                        <p:tgtEl>
                                          <p:spTgt spid="696323">
                                            <p:txEl>
                                              <p:charRg st="32" end="4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96323">
                                            <p:txEl>
                                              <p:charRg st="46" end="61"/>
                                            </p:txEl>
                                          </p:spTgt>
                                        </p:tgtEl>
                                        <p:attrNameLst>
                                          <p:attrName>style.visibility</p:attrName>
                                        </p:attrNameLst>
                                      </p:cBhvr>
                                      <p:to>
                                        <p:strVal val="visible"/>
                                      </p:to>
                                    </p:set>
                                    <p:animEffect transition="in" filter="blinds(horizontal)">
                                      <p:cBhvr>
                                        <p:cTn id="32" dur="500"/>
                                        <p:tgtEl>
                                          <p:spTgt spid="696323">
                                            <p:txEl>
                                              <p:charRg st="46" end="6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96323">
                                            <p:txEl>
                                              <p:charRg st="61" end="76"/>
                                            </p:txEl>
                                          </p:spTgt>
                                        </p:tgtEl>
                                        <p:attrNameLst>
                                          <p:attrName>style.visibility</p:attrName>
                                        </p:attrNameLst>
                                      </p:cBhvr>
                                      <p:to>
                                        <p:strVal val="visible"/>
                                      </p:to>
                                    </p:set>
                                    <p:animEffect transition="in" filter="blinds(horizontal)">
                                      <p:cBhvr>
                                        <p:cTn id="37" dur="500"/>
                                        <p:tgtEl>
                                          <p:spTgt spid="696323">
                                            <p:txEl>
                                              <p:charRg st="61" end="7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96323">
                                            <p:txEl>
                                              <p:charRg st="76" end="152"/>
                                            </p:txEl>
                                          </p:spTgt>
                                        </p:tgtEl>
                                        <p:attrNameLst>
                                          <p:attrName>style.visibility</p:attrName>
                                        </p:attrNameLst>
                                      </p:cBhvr>
                                      <p:to>
                                        <p:strVal val="visible"/>
                                      </p:to>
                                    </p:set>
                                    <p:animEffect transition="in" filter="blinds(horizontal)">
                                      <p:cBhvr>
                                        <p:cTn id="42" dur="500"/>
                                        <p:tgtEl>
                                          <p:spTgt spid="696323">
                                            <p:txEl>
                                              <p:charRg st="76" end="15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96325"/>
                                        </p:tgtEl>
                                        <p:attrNameLst>
                                          <p:attrName>style.visibility</p:attrName>
                                        </p:attrNameLst>
                                      </p:cBhvr>
                                      <p:to>
                                        <p:strVal val="visible"/>
                                      </p:to>
                                    </p:set>
                                    <p:animEffect transition="in" filter="blinds(horizontal)">
                                      <p:cBhvr>
                                        <p:cTn id="47" dur="500"/>
                                        <p:tgtEl>
                                          <p:spTgt spid="696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p:nvPr>
        </p:nvSpPr>
        <p:spPr>
          <a:xfrm>
            <a:off x="800100" y="198438"/>
            <a:ext cx="4181475" cy="479425"/>
          </a:xfrm>
          <a:ln/>
        </p:spPr>
        <p:txBody>
          <a:bodyPr vert="horz" wrap="none" lIns="63500" tIns="25400" rIns="63500" bIns="25400" anchor="t" anchorCtr="0">
            <a:spAutoFit/>
          </a:bodyPr>
          <a:p>
            <a:r>
              <a:rPr lang="en-US" altLang="zh-CN" dirty="0">
                <a:ea typeface="宋体" panose="02010600030101010101" pitchFamily="2" charset="-122"/>
              </a:rPr>
              <a:t>1-bit ALU</a:t>
            </a:r>
            <a:r>
              <a:rPr lang="zh-CN" altLang="en-US" dirty="0">
                <a:ea typeface="宋体" panose="02010600030101010101" pitchFamily="2" charset="-122"/>
              </a:rPr>
              <a:t>和</a:t>
            </a:r>
            <a:r>
              <a:rPr lang="en-US" altLang="zh-CN" dirty="0">
                <a:ea typeface="宋体" panose="02010600030101010101" pitchFamily="2" charset="-122"/>
              </a:rPr>
              <a:t>4-bit ALU</a:t>
            </a:r>
            <a:endParaRPr lang="en-US" altLang="zh-CN" dirty="0">
              <a:ea typeface="宋体" panose="02010600030101010101" pitchFamily="2" charset="-122"/>
            </a:endParaRPr>
          </a:p>
        </p:txBody>
      </p:sp>
      <p:sp>
        <p:nvSpPr>
          <p:cNvPr id="33794" name="Rectangle 3"/>
          <p:cNvSpPr>
            <a:spLocks noGrp="1"/>
          </p:cNvSpPr>
          <p:nvPr>
            <p:ph idx="1"/>
          </p:nvPr>
        </p:nvSpPr>
        <p:spPr>
          <a:xfrm>
            <a:off x="201613" y="5184775"/>
            <a:ext cx="2235200" cy="347663"/>
          </a:xfrm>
          <a:ln/>
        </p:spPr>
        <p:txBody>
          <a:bodyPr vert="horz" wrap="square" lIns="63500" tIns="25400" rIns="63500" bIns="25400" anchor="t" anchorCtr="0">
            <a:spAutoFit/>
          </a:bodyPr>
          <a:p>
            <a:pPr>
              <a:buNone/>
            </a:pPr>
            <a:r>
              <a:rPr lang="zh-CN" altLang="en-US" dirty="0"/>
              <a:t>         </a:t>
            </a:r>
            <a:r>
              <a:rPr lang="zh-CN" altLang="en-US" dirty="0">
                <a:solidFill>
                  <a:schemeClr val="accent2"/>
                </a:solidFill>
              </a:rPr>
              <a:t>1-</a:t>
            </a:r>
            <a:r>
              <a:rPr lang="en-US" altLang="zh-CN" dirty="0">
                <a:solidFill>
                  <a:schemeClr val="accent2"/>
                </a:solidFill>
              </a:rPr>
              <a:t>bit ALU</a:t>
            </a:r>
            <a:endParaRPr lang="en-US" altLang="zh-CN" dirty="0">
              <a:solidFill>
                <a:schemeClr val="accent2"/>
              </a:solidFill>
            </a:endParaRPr>
          </a:p>
        </p:txBody>
      </p:sp>
      <p:grpSp>
        <p:nvGrpSpPr>
          <p:cNvPr id="33795" name="Group 9"/>
          <p:cNvGrpSpPr/>
          <p:nvPr/>
        </p:nvGrpSpPr>
        <p:grpSpPr>
          <a:xfrm>
            <a:off x="1036638" y="1303338"/>
            <a:ext cx="776287" cy="611187"/>
            <a:chOff x="1384" y="1584"/>
            <a:chExt cx="489" cy="385"/>
          </a:xfrm>
        </p:grpSpPr>
        <p:sp>
          <p:nvSpPr>
            <p:cNvPr id="33796" name="Arc 4"/>
            <p:cNvSpPr/>
            <p:nvPr/>
          </p:nvSpPr>
          <p:spPr>
            <a:xfrm>
              <a:off x="1672" y="1593"/>
              <a:ext cx="192" cy="18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33797" name="Arc 5"/>
            <p:cNvSpPr/>
            <p:nvPr/>
          </p:nvSpPr>
          <p:spPr>
            <a:xfrm rot="10800000">
              <a:off x="1681" y="1785"/>
              <a:ext cx="192" cy="184"/>
            </a:xfrm>
            <a:custGeom>
              <a:avLst/>
              <a:gdLst/>
              <a:ahLst/>
              <a:cxnLst>
                <a:cxn ang="0">
                  <a:pos x="0" y="0"/>
                </a:cxn>
                <a:cxn ang="0">
                  <a:pos x="0" y="0"/>
                </a:cxn>
                <a:cxn ang="0">
                  <a:pos x="0" y="0"/>
                </a:cxn>
              </a:cxnLst>
              <a:pathLst>
                <a:path w="21600" h="21600" fill="none">
                  <a:moveTo>
                    <a:pt x="0" y="21600"/>
                  </a:moveTo>
                  <a:cubicBezTo>
                    <a:pt x="0" y="9714"/>
                    <a:pt x="9602" y="61"/>
                    <a:pt x="21488" y="0"/>
                  </a:cubicBezTo>
                </a:path>
                <a:path w="21600" h="21600" stroke="0">
                  <a:moveTo>
                    <a:pt x="0" y="21600"/>
                  </a:moveTo>
                  <a:cubicBezTo>
                    <a:pt x="0" y="9714"/>
                    <a:pt x="9602" y="61"/>
                    <a:pt x="21488" y="0"/>
                  </a:cubicBezTo>
                  <a:lnTo>
                    <a:pt x="21600" y="21600"/>
                  </a:ln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33798" name="Line 6"/>
            <p:cNvSpPr/>
            <p:nvPr/>
          </p:nvSpPr>
          <p:spPr>
            <a:xfrm flipH="1">
              <a:off x="1384" y="1584"/>
              <a:ext cx="296" cy="0"/>
            </a:xfrm>
            <a:prstGeom prst="line">
              <a:avLst/>
            </a:prstGeom>
            <a:ln w="25400" cap="flat" cmpd="sng">
              <a:solidFill>
                <a:schemeClr val="tx1"/>
              </a:solidFill>
              <a:prstDash val="solid"/>
              <a:round/>
              <a:headEnd type="none" w="med" len="med"/>
              <a:tailEnd type="none" w="med" len="med"/>
            </a:ln>
          </p:spPr>
        </p:sp>
        <p:sp>
          <p:nvSpPr>
            <p:cNvPr id="33799" name="Line 7"/>
            <p:cNvSpPr/>
            <p:nvPr/>
          </p:nvSpPr>
          <p:spPr>
            <a:xfrm>
              <a:off x="1392" y="1592"/>
              <a:ext cx="0" cy="368"/>
            </a:xfrm>
            <a:prstGeom prst="line">
              <a:avLst/>
            </a:prstGeom>
            <a:ln w="25400" cap="flat" cmpd="sng">
              <a:solidFill>
                <a:schemeClr val="tx1"/>
              </a:solidFill>
              <a:prstDash val="solid"/>
              <a:round/>
              <a:headEnd type="none" w="med" len="med"/>
              <a:tailEnd type="none" w="med" len="med"/>
            </a:ln>
          </p:spPr>
        </p:sp>
        <p:sp>
          <p:nvSpPr>
            <p:cNvPr id="33800" name="Line 8"/>
            <p:cNvSpPr/>
            <p:nvPr/>
          </p:nvSpPr>
          <p:spPr>
            <a:xfrm flipH="1">
              <a:off x="1384" y="1968"/>
              <a:ext cx="296" cy="0"/>
            </a:xfrm>
            <a:prstGeom prst="line">
              <a:avLst/>
            </a:prstGeom>
            <a:ln w="25400" cap="flat" cmpd="sng">
              <a:solidFill>
                <a:schemeClr val="tx1"/>
              </a:solidFill>
              <a:prstDash val="solid"/>
              <a:round/>
              <a:headEnd type="none" w="med" len="med"/>
              <a:tailEnd type="none" w="med" len="med"/>
            </a:ln>
          </p:spPr>
        </p:sp>
      </p:grpSp>
      <p:sp>
        <p:nvSpPr>
          <p:cNvPr id="33801" name="Line 10"/>
          <p:cNvSpPr/>
          <p:nvPr/>
        </p:nvSpPr>
        <p:spPr>
          <a:xfrm flipH="1">
            <a:off x="120650" y="1455738"/>
            <a:ext cx="935038" cy="0"/>
          </a:xfrm>
          <a:prstGeom prst="line">
            <a:avLst/>
          </a:prstGeom>
          <a:ln w="28575" cap="flat" cmpd="sng">
            <a:solidFill>
              <a:schemeClr val="tx1"/>
            </a:solidFill>
            <a:prstDash val="solid"/>
            <a:round/>
            <a:headEnd type="triangle" w="med" len="med"/>
            <a:tailEnd type="none" w="med" len="med"/>
          </a:ln>
        </p:spPr>
      </p:sp>
      <p:sp>
        <p:nvSpPr>
          <p:cNvPr id="33802" name="Line 11"/>
          <p:cNvSpPr/>
          <p:nvPr/>
        </p:nvSpPr>
        <p:spPr>
          <a:xfrm flipH="1">
            <a:off x="661988" y="1760538"/>
            <a:ext cx="393700" cy="0"/>
          </a:xfrm>
          <a:prstGeom prst="line">
            <a:avLst/>
          </a:prstGeom>
          <a:ln w="28575" cap="flat" cmpd="sng">
            <a:solidFill>
              <a:schemeClr val="tx1"/>
            </a:solidFill>
            <a:prstDash val="solid"/>
            <a:round/>
            <a:headEnd type="triangle" w="med" len="med"/>
            <a:tailEnd type="none" w="med" len="med"/>
          </a:ln>
        </p:spPr>
      </p:sp>
      <p:sp>
        <p:nvSpPr>
          <p:cNvPr id="33803" name="Line 12"/>
          <p:cNvSpPr/>
          <p:nvPr/>
        </p:nvSpPr>
        <p:spPr>
          <a:xfrm>
            <a:off x="1817688" y="1608138"/>
            <a:ext cx="647700" cy="0"/>
          </a:xfrm>
          <a:prstGeom prst="line">
            <a:avLst/>
          </a:prstGeom>
          <a:ln w="28575" cap="flat" cmpd="sng">
            <a:solidFill>
              <a:schemeClr val="tx1"/>
            </a:solidFill>
            <a:prstDash val="solid"/>
            <a:round/>
            <a:headEnd type="none" w="med" len="med"/>
            <a:tailEnd type="triangle" w="med" len="med"/>
          </a:ln>
        </p:spPr>
      </p:sp>
      <p:sp>
        <p:nvSpPr>
          <p:cNvPr id="33804" name="Rectangle 13"/>
          <p:cNvSpPr/>
          <p:nvPr/>
        </p:nvSpPr>
        <p:spPr>
          <a:xfrm>
            <a:off x="58738" y="1052513"/>
            <a:ext cx="368300" cy="396875"/>
          </a:xfrm>
          <a:prstGeom prst="rect">
            <a:avLst/>
          </a:prstGeom>
          <a:noFill/>
          <a:ln w="12700">
            <a:noFill/>
          </a:ln>
        </p:spPr>
        <p:txBody>
          <a:bodyPr wrap="none" lIns="90488" tIns="44450" rIns="90488" bIns="44450" anchor="t" anchorCtr="0">
            <a:spAutoFit/>
          </a:bodyPr>
          <a:p>
            <a:pPr eaLnBrk="0" hangingPunct="0"/>
            <a:r>
              <a:rPr lang="en-US" altLang="zh-CN" sz="2000" dirty="0">
                <a:latin typeface="Arial" panose="020B0604020202020204" pitchFamily="34" charset="0"/>
              </a:rPr>
              <a:t>A</a:t>
            </a:r>
            <a:endParaRPr lang="en-US" altLang="zh-CN" sz="2000" dirty="0">
              <a:latin typeface="Arial" panose="020B0604020202020204" pitchFamily="34" charset="0"/>
              <a:ea typeface="Arial" panose="020B0604020202020204" pitchFamily="34" charset="0"/>
            </a:endParaRPr>
          </a:p>
        </p:txBody>
      </p:sp>
      <p:sp>
        <p:nvSpPr>
          <p:cNvPr id="33805" name="Arc 14"/>
          <p:cNvSpPr/>
          <p:nvPr/>
        </p:nvSpPr>
        <p:spPr>
          <a:xfrm>
            <a:off x="1114425" y="2384425"/>
            <a:ext cx="633413" cy="292100"/>
          </a:xfrm>
          <a:custGeom>
            <a:avLst/>
            <a:gdLst/>
            <a:ahLst/>
            <a:cxnLst>
              <a:cxn ang="0">
                <a:pos x="0" y="0"/>
              </a:cxn>
              <a:cxn ang="0">
                <a:pos x="2147483646" y="2147483646"/>
              </a:cxn>
              <a:cxn ang="0">
                <a:pos x="2147483646" y="2147483646"/>
              </a:cxn>
            </a:cxnLst>
            <a:pathLst>
              <a:path w="21654" h="21600" fill="none">
                <a:moveTo>
                  <a:pt x="0" y="0"/>
                </a:moveTo>
                <a:cubicBezTo>
                  <a:pt x="18" y="0"/>
                  <a:pt x="36" y="-1"/>
                  <a:pt x="54" y="0"/>
                </a:cubicBezTo>
                <a:cubicBezTo>
                  <a:pt x="11983" y="0"/>
                  <a:pt x="21654" y="9670"/>
                  <a:pt x="21654" y="21600"/>
                </a:cubicBezTo>
              </a:path>
              <a:path w="21654" h="21600" stroke="0">
                <a:moveTo>
                  <a:pt x="0" y="0"/>
                </a:moveTo>
                <a:cubicBezTo>
                  <a:pt x="18" y="0"/>
                  <a:pt x="36" y="-1"/>
                  <a:pt x="54" y="0"/>
                </a:cubicBezTo>
                <a:cubicBezTo>
                  <a:pt x="11983" y="0"/>
                  <a:pt x="21654" y="9670"/>
                  <a:pt x="21654" y="21600"/>
                </a:cubicBezTo>
                <a:lnTo>
                  <a:pt x="54" y="21600"/>
                </a:ln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33806" name="Arc 15"/>
          <p:cNvSpPr/>
          <p:nvPr/>
        </p:nvSpPr>
        <p:spPr>
          <a:xfrm rot="10800000">
            <a:off x="1127125" y="2689225"/>
            <a:ext cx="633413" cy="292100"/>
          </a:xfrm>
          <a:custGeom>
            <a:avLst/>
            <a:gdLst/>
            <a:ahLst/>
            <a:cxnLst>
              <a:cxn ang="0">
                <a:pos x="0" y="2147483646"/>
              </a:cxn>
              <a:cxn ang="0">
                <a:pos x="2147483646" y="0"/>
              </a:cxn>
              <a:cxn ang="0">
                <a:pos x="2147483646" y="2147483646"/>
              </a:cxn>
            </a:cxnLst>
            <a:pathLst>
              <a:path w="21600" h="21600" fill="none">
                <a:moveTo>
                  <a:pt x="0" y="21600"/>
                </a:moveTo>
                <a:cubicBezTo>
                  <a:pt x="0" y="9691"/>
                  <a:pt x="9637" y="29"/>
                  <a:pt x="21546" y="0"/>
                </a:cubicBezTo>
              </a:path>
              <a:path w="21600" h="21600" stroke="0">
                <a:moveTo>
                  <a:pt x="0" y="21600"/>
                </a:moveTo>
                <a:cubicBezTo>
                  <a:pt x="0" y="9691"/>
                  <a:pt x="9637" y="29"/>
                  <a:pt x="21546" y="0"/>
                </a:cubicBezTo>
                <a:lnTo>
                  <a:pt x="21600" y="21600"/>
                </a:ln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33807" name="Arc 16"/>
          <p:cNvSpPr/>
          <p:nvPr/>
        </p:nvSpPr>
        <p:spPr>
          <a:xfrm>
            <a:off x="1049338" y="2384425"/>
            <a:ext cx="180975" cy="292100"/>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33808" name="Arc 17"/>
          <p:cNvSpPr/>
          <p:nvPr/>
        </p:nvSpPr>
        <p:spPr>
          <a:xfrm rot="10800000">
            <a:off x="1063625" y="2689225"/>
            <a:ext cx="180975" cy="292100"/>
          </a:xfrm>
          <a:custGeom>
            <a:avLst/>
            <a:gdLst/>
            <a:ahLst/>
            <a:cxnLst>
              <a:cxn ang="0">
                <a:pos x="0" y="2147483646"/>
              </a:cxn>
              <a:cxn ang="0">
                <a:pos x="2147483646" y="0"/>
              </a:cxn>
              <a:cxn ang="0">
                <a:pos x="2147483646" y="2147483646"/>
              </a:cxn>
            </a:cxnLst>
            <a:pathLst>
              <a:path w="21600" h="21599" fill="none">
                <a:moveTo>
                  <a:pt x="0" y="21599"/>
                </a:moveTo>
                <a:cubicBezTo>
                  <a:pt x="0" y="9743"/>
                  <a:pt x="9555" y="103"/>
                  <a:pt x="21410" y="-1"/>
                </a:cubicBezTo>
              </a:path>
              <a:path w="21600" h="21599" stroke="0">
                <a:moveTo>
                  <a:pt x="0" y="21599"/>
                </a:moveTo>
                <a:cubicBezTo>
                  <a:pt x="0" y="9743"/>
                  <a:pt x="9555" y="103"/>
                  <a:pt x="21410" y="-1"/>
                </a:cubicBezTo>
                <a:lnTo>
                  <a:pt x="21600" y="21599"/>
                </a:lnTo>
                <a:lnTo>
                  <a:pt x="0"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33809" name="Line 18"/>
          <p:cNvSpPr/>
          <p:nvPr/>
        </p:nvSpPr>
        <p:spPr>
          <a:xfrm>
            <a:off x="1741488" y="2674938"/>
            <a:ext cx="720725" cy="0"/>
          </a:xfrm>
          <a:prstGeom prst="line">
            <a:avLst/>
          </a:prstGeom>
          <a:ln w="28575" cap="flat" cmpd="sng">
            <a:solidFill>
              <a:schemeClr val="tx1"/>
            </a:solidFill>
            <a:prstDash val="solid"/>
            <a:round/>
            <a:headEnd type="none" w="med" len="med"/>
            <a:tailEnd type="triangle" w="med" len="med"/>
          </a:ln>
        </p:spPr>
      </p:sp>
      <p:sp>
        <p:nvSpPr>
          <p:cNvPr id="33810" name="Line 19"/>
          <p:cNvSpPr/>
          <p:nvPr/>
        </p:nvSpPr>
        <p:spPr>
          <a:xfrm>
            <a:off x="357188" y="2522538"/>
            <a:ext cx="850900" cy="0"/>
          </a:xfrm>
          <a:prstGeom prst="line">
            <a:avLst/>
          </a:prstGeom>
          <a:ln w="28575" cap="flat" cmpd="sng">
            <a:solidFill>
              <a:schemeClr val="tx1"/>
            </a:solidFill>
            <a:prstDash val="solid"/>
            <a:round/>
            <a:headEnd type="none" w="med" len="med"/>
            <a:tailEnd type="triangle" w="med" len="med"/>
          </a:ln>
        </p:spPr>
      </p:sp>
      <p:sp>
        <p:nvSpPr>
          <p:cNvPr id="33811" name="Line 20"/>
          <p:cNvSpPr/>
          <p:nvPr/>
        </p:nvSpPr>
        <p:spPr>
          <a:xfrm flipH="1">
            <a:off x="661988" y="2827338"/>
            <a:ext cx="546100" cy="0"/>
          </a:xfrm>
          <a:prstGeom prst="line">
            <a:avLst/>
          </a:prstGeom>
          <a:ln w="28575" cap="flat" cmpd="sng">
            <a:solidFill>
              <a:schemeClr val="tx1"/>
            </a:solidFill>
            <a:prstDash val="solid"/>
            <a:round/>
            <a:headEnd type="triangle" w="med" len="med"/>
            <a:tailEnd type="none" w="med" len="med"/>
          </a:ln>
        </p:spPr>
      </p:sp>
      <p:sp>
        <p:nvSpPr>
          <p:cNvPr id="33812" name="Rectangle 21"/>
          <p:cNvSpPr/>
          <p:nvPr/>
        </p:nvSpPr>
        <p:spPr>
          <a:xfrm>
            <a:off x="88900" y="3733800"/>
            <a:ext cx="368300" cy="396875"/>
          </a:xfrm>
          <a:prstGeom prst="rect">
            <a:avLst/>
          </a:prstGeom>
          <a:noFill/>
          <a:ln w="12700">
            <a:noFill/>
          </a:ln>
        </p:spPr>
        <p:txBody>
          <a:bodyPr wrap="none" lIns="90488" tIns="44450" rIns="90488" bIns="44450" anchor="t" anchorCtr="0">
            <a:spAutoFit/>
          </a:bodyPr>
          <a:p>
            <a:pPr eaLnBrk="0" hangingPunct="0"/>
            <a:r>
              <a:rPr lang="en-US" altLang="zh-CN" sz="2000" dirty="0">
                <a:latin typeface="Arial" panose="020B0604020202020204" pitchFamily="34" charset="0"/>
              </a:rPr>
              <a:t>B</a:t>
            </a:r>
            <a:endParaRPr lang="en-US" altLang="zh-CN" sz="2000" dirty="0">
              <a:latin typeface="Arial" panose="020B0604020202020204" pitchFamily="34" charset="0"/>
              <a:ea typeface="Arial" panose="020B0604020202020204" pitchFamily="34" charset="0"/>
            </a:endParaRPr>
          </a:p>
        </p:txBody>
      </p:sp>
      <p:sp>
        <p:nvSpPr>
          <p:cNvPr id="33813" name="Rectangle 22"/>
          <p:cNvSpPr/>
          <p:nvPr/>
        </p:nvSpPr>
        <p:spPr>
          <a:xfrm>
            <a:off x="1214438" y="3430588"/>
            <a:ext cx="965200" cy="889000"/>
          </a:xfrm>
          <a:prstGeom prst="rect">
            <a:avLst/>
          </a:prstGeom>
          <a:noFill/>
          <a:ln w="25400"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33814" name="Rectangle 23"/>
          <p:cNvSpPr/>
          <p:nvPr/>
        </p:nvSpPr>
        <p:spPr>
          <a:xfrm>
            <a:off x="1387475" y="3646488"/>
            <a:ext cx="520700" cy="393700"/>
          </a:xfrm>
          <a:prstGeom prst="rect">
            <a:avLst/>
          </a:prstGeom>
          <a:noFill/>
          <a:ln w="12700">
            <a:noFill/>
          </a:ln>
        </p:spPr>
        <p:txBody>
          <a:bodyPr wrap="none" lIns="90488" tIns="44450" rIns="90488" bIns="44450" anchor="t" anchorCtr="0">
            <a:spAutoFit/>
          </a:bodyPr>
          <a:p>
            <a:pPr algn="ctr" eaLnBrk="0" hangingPunct="0"/>
            <a:r>
              <a:rPr lang="en-US" altLang="zh-CN" sz="2000" dirty="0">
                <a:latin typeface="Arial" panose="020B0604020202020204" pitchFamily="34" charset="0"/>
              </a:rPr>
              <a:t>FA</a:t>
            </a:r>
            <a:endParaRPr lang="en-US" altLang="zh-CN" sz="2000" dirty="0">
              <a:latin typeface="Arial" panose="020B0604020202020204" pitchFamily="34" charset="0"/>
            </a:endParaRPr>
          </a:p>
        </p:txBody>
      </p:sp>
      <p:sp>
        <p:nvSpPr>
          <p:cNvPr id="33815" name="Line 25"/>
          <p:cNvSpPr/>
          <p:nvPr/>
        </p:nvSpPr>
        <p:spPr>
          <a:xfrm>
            <a:off x="201613" y="4122738"/>
            <a:ext cx="1008062" cy="0"/>
          </a:xfrm>
          <a:prstGeom prst="line">
            <a:avLst/>
          </a:prstGeom>
          <a:ln w="28575" cap="flat" cmpd="sng">
            <a:solidFill>
              <a:schemeClr val="tx1"/>
            </a:solidFill>
            <a:prstDash val="solid"/>
            <a:round/>
            <a:headEnd type="none" w="med" len="med"/>
            <a:tailEnd type="triangle" w="med" len="med"/>
          </a:ln>
        </p:spPr>
      </p:sp>
      <p:sp>
        <p:nvSpPr>
          <p:cNvPr id="33816" name="Line 26"/>
          <p:cNvSpPr/>
          <p:nvPr/>
        </p:nvSpPr>
        <p:spPr>
          <a:xfrm>
            <a:off x="668338" y="1766888"/>
            <a:ext cx="0" cy="2349500"/>
          </a:xfrm>
          <a:prstGeom prst="line">
            <a:avLst/>
          </a:prstGeom>
          <a:ln w="28575" cap="flat" cmpd="sng">
            <a:solidFill>
              <a:schemeClr val="tx1"/>
            </a:solidFill>
            <a:prstDash val="solid"/>
            <a:round/>
            <a:headEnd type="none" w="med" len="med"/>
            <a:tailEnd type="none" w="med" len="med"/>
          </a:ln>
        </p:spPr>
      </p:sp>
      <p:sp>
        <p:nvSpPr>
          <p:cNvPr id="33817" name="Line 27"/>
          <p:cNvSpPr/>
          <p:nvPr/>
        </p:nvSpPr>
        <p:spPr>
          <a:xfrm>
            <a:off x="363538" y="1462088"/>
            <a:ext cx="0" cy="2197100"/>
          </a:xfrm>
          <a:prstGeom prst="line">
            <a:avLst/>
          </a:prstGeom>
          <a:ln w="28575" cap="flat" cmpd="sng">
            <a:solidFill>
              <a:schemeClr val="tx1"/>
            </a:solidFill>
            <a:prstDash val="solid"/>
            <a:round/>
            <a:headEnd type="none" w="med" len="med"/>
            <a:tailEnd type="none" w="med" len="med"/>
          </a:ln>
        </p:spPr>
      </p:sp>
      <p:sp>
        <p:nvSpPr>
          <p:cNvPr id="33818" name="Line 28"/>
          <p:cNvSpPr/>
          <p:nvPr/>
        </p:nvSpPr>
        <p:spPr>
          <a:xfrm>
            <a:off x="369888" y="3665538"/>
            <a:ext cx="825500" cy="0"/>
          </a:xfrm>
          <a:prstGeom prst="line">
            <a:avLst/>
          </a:prstGeom>
          <a:ln w="28575" cap="flat" cmpd="sng">
            <a:solidFill>
              <a:schemeClr val="tx1"/>
            </a:solidFill>
            <a:prstDash val="solid"/>
            <a:round/>
            <a:headEnd type="none" w="med" len="med"/>
            <a:tailEnd type="triangle" w="med" len="med"/>
          </a:ln>
        </p:spPr>
      </p:sp>
      <p:sp>
        <p:nvSpPr>
          <p:cNvPr id="33819" name="Line 29"/>
          <p:cNvSpPr/>
          <p:nvPr/>
        </p:nvSpPr>
        <p:spPr>
          <a:xfrm>
            <a:off x="1887538" y="1004888"/>
            <a:ext cx="0" cy="2425700"/>
          </a:xfrm>
          <a:prstGeom prst="line">
            <a:avLst/>
          </a:prstGeom>
          <a:ln w="28575" cap="flat" cmpd="sng">
            <a:solidFill>
              <a:schemeClr val="tx1"/>
            </a:solidFill>
            <a:prstDash val="solid"/>
            <a:round/>
            <a:headEnd type="none" w="med" len="med"/>
            <a:tailEnd type="triangle" w="med" len="med"/>
          </a:ln>
        </p:spPr>
      </p:sp>
      <p:sp>
        <p:nvSpPr>
          <p:cNvPr id="33820" name="Line 30"/>
          <p:cNvSpPr/>
          <p:nvPr/>
        </p:nvSpPr>
        <p:spPr>
          <a:xfrm>
            <a:off x="1735138" y="4357688"/>
            <a:ext cx="0" cy="520700"/>
          </a:xfrm>
          <a:prstGeom prst="line">
            <a:avLst/>
          </a:prstGeom>
          <a:ln w="28575" cap="flat" cmpd="sng">
            <a:solidFill>
              <a:schemeClr val="tx1"/>
            </a:solidFill>
            <a:prstDash val="solid"/>
            <a:round/>
            <a:headEnd type="none" w="med" len="med"/>
            <a:tailEnd type="triangle" w="med" len="med"/>
          </a:ln>
        </p:spPr>
      </p:sp>
      <p:sp>
        <p:nvSpPr>
          <p:cNvPr id="33821" name="Rectangle 31"/>
          <p:cNvSpPr/>
          <p:nvPr/>
        </p:nvSpPr>
        <p:spPr>
          <a:xfrm>
            <a:off x="1768475" y="4640263"/>
            <a:ext cx="649288" cy="334962"/>
          </a:xfrm>
          <a:prstGeom prst="rect">
            <a:avLst/>
          </a:prstGeom>
          <a:noFill/>
          <a:ln w="12700">
            <a:noFill/>
          </a:ln>
        </p:spPr>
        <p:txBody>
          <a:bodyPr wrap="none" lIns="90488" tIns="44450" rIns="90488" bIns="44450" anchor="t" anchorCtr="0">
            <a:spAutoFit/>
          </a:bodyPr>
          <a:p>
            <a:pPr eaLnBrk="0" hangingPunct="0"/>
            <a:r>
              <a:rPr lang="en-US" altLang="zh-CN" dirty="0">
                <a:latin typeface="Arial" panose="020B0604020202020204" pitchFamily="34" charset="0"/>
              </a:rPr>
              <a:t>Cout</a:t>
            </a:r>
            <a:endParaRPr lang="en-US" altLang="zh-CN" dirty="0">
              <a:latin typeface="Arial" panose="020B0604020202020204" pitchFamily="34" charset="0"/>
              <a:ea typeface="Arial" panose="020B0604020202020204" pitchFamily="34" charset="0"/>
            </a:endParaRPr>
          </a:p>
        </p:txBody>
      </p:sp>
      <p:sp>
        <p:nvSpPr>
          <p:cNvPr id="33822" name="Line 32"/>
          <p:cNvSpPr/>
          <p:nvPr/>
        </p:nvSpPr>
        <p:spPr>
          <a:xfrm>
            <a:off x="2466975" y="1316038"/>
            <a:ext cx="0" cy="3046412"/>
          </a:xfrm>
          <a:prstGeom prst="line">
            <a:avLst/>
          </a:prstGeom>
          <a:ln w="25400" cap="flat" cmpd="sng">
            <a:solidFill>
              <a:schemeClr val="tx1"/>
            </a:solidFill>
            <a:prstDash val="solid"/>
            <a:round/>
            <a:headEnd type="none" w="med" len="med"/>
            <a:tailEnd type="none" w="med" len="med"/>
          </a:ln>
        </p:spPr>
      </p:sp>
      <p:sp>
        <p:nvSpPr>
          <p:cNvPr id="33823" name="Line 33"/>
          <p:cNvSpPr/>
          <p:nvPr/>
        </p:nvSpPr>
        <p:spPr>
          <a:xfrm>
            <a:off x="2479675" y="1316038"/>
            <a:ext cx="444500" cy="239712"/>
          </a:xfrm>
          <a:prstGeom prst="line">
            <a:avLst/>
          </a:prstGeom>
          <a:ln w="25400" cap="flat" cmpd="sng">
            <a:solidFill>
              <a:schemeClr val="tx1"/>
            </a:solidFill>
            <a:prstDash val="solid"/>
            <a:round/>
            <a:headEnd type="none" w="med" len="med"/>
            <a:tailEnd type="none" w="med" len="med"/>
          </a:ln>
        </p:spPr>
      </p:sp>
      <p:sp>
        <p:nvSpPr>
          <p:cNvPr id="33824" name="Line 34"/>
          <p:cNvSpPr/>
          <p:nvPr/>
        </p:nvSpPr>
        <p:spPr>
          <a:xfrm>
            <a:off x="2924175" y="1544638"/>
            <a:ext cx="0" cy="2565400"/>
          </a:xfrm>
          <a:prstGeom prst="line">
            <a:avLst/>
          </a:prstGeom>
          <a:ln w="25400" cap="flat" cmpd="sng">
            <a:solidFill>
              <a:schemeClr val="tx1"/>
            </a:solidFill>
            <a:prstDash val="solid"/>
            <a:round/>
            <a:headEnd type="none" w="med" len="med"/>
            <a:tailEnd type="none" w="med" len="med"/>
          </a:ln>
        </p:spPr>
      </p:sp>
      <p:sp>
        <p:nvSpPr>
          <p:cNvPr id="33825" name="Rectangle 35"/>
          <p:cNvSpPr/>
          <p:nvPr/>
        </p:nvSpPr>
        <p:spPr>
          <a:xfrm rot="5400000">
            <a:off x="2103438" y="2840038"/>
            <a:ext cx="1168400" cy="423862"/>
          </a:xfrm>
          <a:prstGeom prst="rect">
            <a:avLst/>
          </a:prstGeom>
          <a:noFill/>
          <a:ln w="12700">
            <a:noFill/>
          </a:ln>
        </p:spPr>
        <p:txBody>
          <a:bodyPr lIns="90488" tIns="44450" rIns="90488" bIns="44450" anchor="t" anchorCtr="0">
            <a:spAutoFit/>
          </a:bodyPr>
          <a:p>
            <a:pPr eaLnBrk="0" hangingPunct="0"/>
            <a:r>
              <a:rPr lang="en-US" altLang="zh-CN" sz="2200" dirty="0">
                <a:latin typeface="Arial" panose="020B0604020202020204" pitchFamily="34" charset="0"/>
              </a:rPr>
              <a:t>Mux</a:t>
            </a:r>
            <a:endParaRPr lang="zh-CN" altLang="en-US" sz="2200" dirty="0">
              <a:latin typeface="Arial" panose="020B0604020202020204" pitchFamily="34" charset="0"/>
              <a:ea typeface="Arial" panose="020B0604020202020204" pitchFamily="34" charset="0"/>
            </a:endParaRPr>
          </a:p>
        </p:txBody>
      </p:sp>
      <p:sp>
        <p:nvSpPr>
          <p:cNvPr id="33826" name="Line 36"/>
          <p:cNvSpPr/>
          <p:nvPr/>
        </p:nvSpPr>
        <p:spPr>
          <a:xfrm flipV="1">
            <a:off x="2466975" y="4073525"/>
            <a:ext cx="457200" cy="277813"/>
          </a:xfrm>
          <a:prstGeom prst="line">
            <a:avLst/>
          </a:prstGeom>
          <a:ln w="25400" cap="flat" cmpd="sng">
            <a:solidFill>
              <a:schemeClr val="tx1"/>
            </a:solidFill>
            <a:prstDash val="solid"/>
            <a:round/>
            <a:headEnd type="none" w="med" len="med"/>
            <a:tailEnd type="none" w="med" len="med"/>
          </a:ln>
        </p:spPr>
      </p:sp>
      <p:sp>
        <p:nvSpPr>
          <p:cNvPr id="33827" name="Line 37"/>
          <p:cNvSpPr/>
          <p:nvPr/>
        </p:nvSpPr>
        <p:spPr>
          <a:xfrm>
            <a:off x="2198688" y="3894138"/>
            <a:ext cx="252412" cy="0"/>
          </a:xfrm>
          <a:prstGeom prst="line">
            <a:avLst/>
          </a:prstGeom>
          <a:ln w="28575" cap="flat" cmpd="sng">
            <a:solidFill>
              <a:schemeClr val="tx1"/>
            </a:solidFill>
            <a:prstDash val="solid"/>
            <a:round/>
            <a:headEnd type="none" w="med" len="med"/>
            <a:tailEnd type="triangle" w="med" len="med"/>
          </a:ln>
        </p:spPr>
      </p:sp>
      <p:sp>
        <p:nvSpPr>
          <p:cNvPr id="33828" name="Line 38"/>
          <p:cNvSpPr/>
          <p:nvPr/>
        </p:nvSpPr>
        <p:spPr>
          <a:xfrm>
            <a:off x="2930525" y="2674938"/>
            <a:ext cx="287338" cy="0"/>
          </a:xfrm>
          <a:prstGeom prst="line">
            <a:avLst/>
          </a:prstGeom>
          <a:ln w="28575" cap="flat" cmpd="sng">
            <a:solidFill>
              <a:schemeClr val="tx1"/>
            </a:solidFill>
            <a:prstDash val="solid"/>
            <a:round/>
            <a:headEnd type="none" w="med" len="med"/>
            <a:tailEnd type="triangle" w="med" len="med"/>
          </a:ln>
        </p:spPr>
      </p:sp>
      <p:sp>
        <p:nvSpPr>
          <p:cNvPr id="33829" name="Rectangle 39"/>
          <p:cNvSpPr/>
          <p:nvPr/>
        </p:nvSpPr>
        <p:spPr>
          <a:xfrm>
            <a:off x="1347788" y="744538"/>
            <a:ext cx="596900" cy="396875"/>
          </a:xfrm>
          <a:prstGeom prst="rect">
            <a:avLst/>
          </a:prstGeom>
          <a:noFill/>
          <a:ln w="12700">
            <a:noFill/>
          </a:ln>
        </p:spPr>
        <p:txBody>
          <a:bodyPr wrap="none" lIns="90488" tIns="44450" rIns="90488" bIns="44450" anchor="t" anchorCtr="0">
            <a:spAutoFit/>
          </a:bodyPr>
          <a:p>
            <a:pPr eaLnBrk="0" hangingPunct="0"/>
            <a:r>
              <a:rPr lang="en-US" altLang="zh-CN" sz="2000" dirty="0">
                <a:latin typeface="Arial" panose="020B0604020202020204" pitchFamily="34" charset="0"/>
              </a:rPr>
              <a:t>Cin</a:t>
            </a:r>
            <a:endParaRPr lang="en-US" altLang="zh-CN" sz="2000" dirty="0">
              <a:latin typeface="Arial" panose="020B0604020202020204" pitchFamily="34" charset="0"/>
              <a:ea typeface="Arial" panose="020B0604020202020204" pitchFamily="34" charset="0"/>
            </a:endParaRPr>
          </a:p>
        </p:txBody>
      </p:sp>
      <p:sp>
        <p:nvSpPr>
          <p:cNvPr id="33830" name="Rectangle 40"/>
          <p:cNvSpPr/>
          <p:nvPr/>
        </p:nvSpPr>
        <p:spPr>
          <a:xfrm>
            <a:off x="2965450" y="2274888"/>
            <a:ext cx="339725" cy="396875"/>
          </a:xfrm>
          <a:prstGeom prst="rect">
            <a:avLst/>
          </a:prstGeom>
          <a:noFill/>
          <a:ln w="12700">
            <a:noFill/>
          </a:ln>
        </p:spPr>
        <p:txBody>
          <a:bodyPr wrap="none" lIns="90488" tIns="44450" rIns="90488" bIns="44450" anchor="t" anchorCtr="0">
            <a:spAutoFit/>
          </a:bodyPr>
          <a:p>
            <a:pPr eaLnBrk="0" hangingPunct="0"/>
            <a:r>
              <a:rPr lang="en-US" altLang="zh-CN" sz="2000" dirty="0">
                <a:latin typeface="Arial" panose="020B0604020202020204" pitchFamily="34" charset="0"/>
              </a:rPr>
              <a:t>F</a:t>
            </a:r>
            <a:endParaRPr lang="en-US" altLang="zh-CN" sz="2000" dirty="0">
              <a:latin typeface="Arial" panose="020B0604020202020204" pitchFamily="34" charset="0"/>
              <a:ea typeface="Arial" panose="020B0604020202020204" pitchFamily="34" charset="0"/>
            </a:endParaRPr>
          </a:p>
        </p:txBody>
      </p:sp>
      <p:sp>
        <p:nvSpPr>
          <p:cNvPr id="26659" name="文本框 1"/>
          <p:cNvSpPr txBox="1">
            <a:spLocks noChangeArrowheads="1"/>
          </p:cNvSpPr>
          <p:nvPr/>
        </p:nvSpPr>
        <p:spPr bwMode="auto">
          <a:xfrm>
            <a:off x="3487738" y="696913"/>
            <a:ext cx="5614988" cy="50625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b="1">
                <a:solidFill>
                  <a:schemeClr val="tx1"/>
                </a:solidFill>
                <a:latin typeface="Times New Roman" panose="02020603050405020304" pitchFamily="18" charset="0"/>
                <a:ea typeface="宋体" panose="02010600030101010101" pitchFamily="2" charset="-122"/>
              </a:defRPr>
            </a:lvl1pPr>
            <a:lvl2pPr marL="742950" indent="-285750">
              <a:defRPr sz="1600" b="1">
                <a:solidFill>
                  <a:schemeClr val="tx1"/>
                </a:solidFill>
                <a:latin typeface="Times New Roman" panose="02020603050405020304" pitchFamily="18" charset="0"/>
                <a:ea typeface="宋体" panose="02010600030101010101" pitchFamily="2" charset="-122"/>
              </a:defRPr>
            </a:lvl2pPr>
            <a:lvl3pPr marL="1143000" indent="-228600">
              <a:defRPr sz="1600" b="1">
                <a:solidFill>
                  <a:schemeClr val="tx1"/>
                </a:solidFill>
                <a:latin typeface="Times New Roman" panose="02020603050405020304" pitchFamily="18" charset="0"/>
                <a:ea typeface="宋体" panose="02010600030101010101" pitchFamily="2" charset="-122"/>
              </a:defRPr>
            </a:lvl3pPr>
            <a:lvl4pPr marL="1600200" indent="-228600">
              <a:defRPr sz="1600" b="1">
                <a:solidFill>
                  <a:schemeClr val="tx1"/>
                </a:solidFill>
                <a:latin typeface="Times New Roman" panose="02020603050405020304" pitchFamily="18" charset="0"/>
                <a:ea typeface="宋体" panose="02010600030101010101" pitchFamily="2" charset="-122"/>
              </a:defRPr>
            </a:lvl4pPr>
            <a:lvl5pPr marL="2057400" indent="-228600">
              <a:defRPr sz="16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module </a:t>
            </a:r>
            <a:r>
              <a:rPr kumimoji="0" lang="en-US" altLang="zh-CN" sz="17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ALU</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input [3:0] a, b,</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input [1:0] </a:t>
            </a:r>
            <a:r>
              <a:rPr kumimoji="0" lang="en-US" altLang="zh-CN" sz="1700" b="1"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mn-cs"/>
              </a:rPr>
              <a:t>aluop</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input </a:t>
            </a:r>
            <a:r>
              <a:rPr kumimoji="0" lang="en-US" altLang="zh-CN" sz="1700" b="1"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mn-cs"/>
              </a:rPr>
              <a:t>cin</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output [3:0] f,</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output OF, SF, ZF, CF,</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output </a:t>
            </a:r>
            <a:r>
              <a:rPr kumimoji="0" lang="en-US" altLang="zh-CN" sz="1700" b="1"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mn-cs"/>
              </a:rPr>
              <a:t>cout</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wire [3:0] sum;</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7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CLA_FLAGS</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 b, </a:t>
            </a:r>
            <a:r>
              <a:rPr kumimoji="0" lang="en-US" altLang="zh-CN" sz="1700" b="1"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mn-cs"/>
              </a:rPr>
              <a:t>cin</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sum, OF, SF, ZF, CF, </a:t>
            </a:r>
            <a:r>
              <a:rPr kumimoji="0" lang="en-US" altLang="zh-CN" sz="1700" b="1"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mn-cs"/>
              </a:rPr>
              <a:t>cout</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always @(*) begin</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case(</a:t>
            </a:r>
            <a:r>
              <a:rPr kumimoji="0" lang="en-US" altLang="zh-CN" sz="1700" b="1"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mn-cs"/>
              </a:rPr>
              <a:t>aluop</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2</a:t>
            </a:r>
            <a:r>
              <a:rPr kumimoji="0" lang="en-US" altLang="zh-CN" sz="1700" b="1" i="0" u="none" strike="noStrike" kern="1200" cap="none" spc="0" normalizeH="0" baseline="0" noProof="0" dirty="0" smtClean="0">
                <a:ln>
                  <a:noFill/>
                </a:ln>
                <a:solidFill>
                  <a:schemeClr val="tx1"/>
                </a:solidFill>
                <a:effectLst/>
                <a:uLnTx/>
                <a:uFillTx/>
                <a:latin typeface="Berlin Sans FB" pitchFamily="34" charset="0"/>
                <a:ea typeface="+mn-ea"/>
                <a:cs typeface="+mn-cs"/>
              </a:rPr>
              <a:t>’</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b00: f = a &amp; b;</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2</a:t>
            </a:r>
            <a:r>
              <a:rPr kumimoji="0" lang="en-US" altLang="zh-CN" sz="1700" b="1" i="0" u="none" strike="noStrike" kern="1200" cap="none" spc="0" normalizeH="0" baseline="0" noProof="0" dirty="0" smtClean="0">
                <a:ln>
                  <a:noFill/>
                </a:ln>
                <a:solidFill>
                  <a:schemeClr val="tx1"/>
                </a:solidFill>
                <a:effectLst/>
                <a:uLnTx/>
                <a:uFillTx/>
                <a:latin typeface="Berlin Sans FB" pitchFamily="34" charset="0"/>
                <a:ea typeface="+mn-ea"/>
                <a:cs typeface="+mn-cs"/>
              </a:rPr>
              <a:t>’</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b01: f = a | b;</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2</a:t>
            </a:r>
            <a:r>
              <a:rPr kumimoji="0" lang="en-US" altLang="zh-CN" sz="1700" b="1" i="0" u="none" strike="noStrike" kern="1200" cap="none" spc="0" normalizeH="0" baseline="0" noProof="0" dirty="0" smtClean="0">
                <a:ln>
                  <a:noFill/>
                </a:ln>
                <a:solidFill>
                  <a:schemeClr val="tx1"/>
                </a:solidFill>
                <a:effectLst/>
                <a:uLnTx/>
                <a:uFillTx/>
                <a:latin typeface="Berlin Sans FB" pitchFamily="34" charset="0"/>
                <a:ea typeface="+mn-ea"/>
                <a:cs typeface="+mn-cs"/>
              </a:rPr>
              <a:t>’</a:t>
            </a: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b10: f = sum;</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default: f = 0;</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700" b="1"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mn-cs"/>
              </a:rPr>
              <a:t>endcase</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      end</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0" b="1" i="0" u="none" strike="noStrike" kern="120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mn-cs"/>
              </a:rPr>
              <a:t>endmodule</a:t>
            </a:r>
            <a:endParaRPr kumimoji="0" lang="en-US" altLang="zh-CN" sz="17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1" name="Rectangle 3"/>
          <p:cNvSpPr txBox="1">
            <a:spLocks noChangeArrowheads="1"/>
          </p:cNvSpPr>
          <p:nvPr/>
        </p:nvSpPr>
        <p:spPr bwMode="auto">
          <a:xfrm>
            <a:off x="5119688" y="214313"/>
            <a:ext cx="32416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lgn="l" rtl="0" eaLnBrk="0" fontAlgn="base" hangingPunct="0">
              <a:lnSpc>
                <a:spcPct val="110000"/>
              </a:lnSpc>
              <a:spcBef>
                <a:spcPct val="2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0" fontAlgn="base" hangingPunct="0">
              <a:lnSpc>
                <a:spcPct val="110000"/>
              </a:lnSpc>
              <a:spcBef>
                <a:spcPct val="20000"/>
              </a:spcBef>
              <a:spcAft>
                <a:spcPct val="0"/>
              </a:spcAft>
              <a:buSzPct val="100000"/>
              <a:buChar char="•"/>
              <a:defRPr sz="2000" b="1">
                <a:solidFill>
                  <a:srgbClr val="0000FF"/>
                </a:solidFill>
                <a:latin typeface="+mn-lt"/>
                <a:ea typeface="+mn-ea"/>
              </a:defRPr>
            </a:lvl2pPr>
            <a:lvl3pPr marL="1257300" indent="-342900" algn="l" rtl="0" eaLnBrk="0" fontAlgn="base" hangingPunct="0">
              <a:lnSpc>
                <a:spcPct val="110000"/>
              </a:lnSpc>
              <a:spcBef>
                <a:spcPct val="20000"/>
              </a:spcBef>
              <a:spcAft>
                <a:spcPct val="0"/>
              </a:spcAft>
              <a:buSzPct val="100000"/>
              <a:buChar char="-"/>
              <a:defRPr b="1">
                <a:solidFill>
                  <a:schemeClr val="tx1"/>
                </a:solidFill>
                <a:latin typeface="+mn-lt"/>
                <a:ea typeface="+mn-ea"/>
              </a:defRPr>
            </a:lvl3pPr>
            <a:lvl4pPr marL="1714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a:lstStyle>
          <a:p>
            <a:pPr marL="203200" marR="0" lvl="0" indent="-203200" algn="l" defTabSz="914400" rtl="0" eaLnBrk="0" fontAlgn="base" latinLnBrk="0" hangingPunct="0">
              <a:lnSpc>
                <a:spcPct val="110000"/>
              </a:lnSpc>
              <a:spcBef>
                <a:spcPct val="20000"/>
              </a:spcBef>
              <a:spcAft>
                <a:spcPct val="0"/>
              </a:spcAft>
              <a:buClr>
                <a:schemeClr val="tx1"/>
              </a:buClr>
              <a:buSzPct val="6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accent2"/>
                </a:solidFill>
                <a:effectLst/>
                <a:uLnTx/>
                <a:uFillTx/>
                <a:latin typeface="+mn-lt"/>
                <a:ea typeface="+mn-ea"/>
                <a:cs typeface="+mn-cs"/>
              </a:rPr>
              <a:t>4</a:t>
            </a:r>
            <a:r>
              <a:rPr kumimoji="0" lang="zh-CN" altLang="en-US" sz="2200" b="1" i="0" u="none" strike="noStrike" kern="0" cap="none" spc="0" normalizeH="0" baseline="0" noProof="0" dirty="0" smtClean="0">
                <a:ln>
                  <a:noFill/>
                </a:ln>
                <a:solidFill>
                  <a:schemeClr val="accent2"/>
                </a:solidFill>
                <a:effectLst/>
                <a:uLnTx/>
                <a:uFillTx/>
                <a:latin typeface="+mn-lt"/>
                <a:ea typeface="+mn-ea"/>
                <a:cs typeface="+mn-cs"/>
              </a:rPr>
              <a:t>位先行进位</a:t>
            </a:r>
            <a:r>
              <a:rPr kumimoji="0" lang="en-US" altLang="zh-CN" sz="2200" b="1" i="0" u="none" strike="noStrike" kern="0" cap="none" spc="0" normalizeH="0" baseline="0" noProof="0" dirty="0" smtClean="0">
                <a:ln>
                  <a:noFill/>
                </a:ln>
                <a:solidFill>
                  <a:schemeClr val="accent2"/>
                </a:solidFill>
                <a:effectLst/>
                <a:uLnTx/>
                <a:uFillTx/>
                <a:latin typeface="+mn-lt"/>
                <a:ea typeface="+mn-ea"/>
                <a:cs typeface="+mn-cs"/>
              </a:rPr>
              <a:t>ALU</a:t>
            </a:r>
            <a:r>
              <a:rPr kumimoji="0" lang="zh-CN" altLang="en-US" sz="2200" b="1" i="0" u="none" strike="noStrike" kern="0" cap="none" spc="0" normalizeH="0" baseline="0" noProof="0" dirty="0" smtClean="0">
                <a:ln>
                  <a:noFill/>
                </a:ln>
                <a:solidFill>
                  <a:schemeClr val="accent2"/>
                </a:solidFill>
                <a:effectLst/>
                <a:uLnTx/>
                <a:uFillTx/>
                <a:latin typeface="+mn-lt"/>
                <a:ea typeface="+mn-ea"/>
                <a:cs typeface="+mn-cs"/>
              </a:rPr>
              <a:t>的实现</a:t>
            </a:r>
            <a:endParaRPr kumimoji="0" lang="en-US" altLang="zh-CN" sz="2200" b="1" i="0" u="none" strike="noStrike" kern="0" cap="none" spc="0" normalizeH="0" baseline="0" noProof="0" dirty="0" smtClean="0">
              <a:ln>
                <a:noFill/>
              </a:ln>
              <a:solidFill>
                <a:schemeClr val="accent2"/>
              </a:solidFill>
              <a:effectLst/>
              <a:uLnTx/>
              <a:uFillTx/>
              <a:latin typeface="+mn-lt"/>
              <a:ea typeface="+mn-ea"/>
              <a:cs typeface="+mn-cs"/>
            </a:endParaRPr>
          </a:p>
        </p:txBody>
      </p:sp>
      <p:sp>
        <p:nvSpPr>
          <p:cNvPr id="42" name="Rectangle 3"/>
          <p:cNvSpPr txBox="1">
            <a:spLocks noChangeArrowheads="1"/>
          </p:cNvSpPr>
          <p:nvPr/>
        </p:nvSpPr>
        <p:spPr bwMode="auto">
          <a:xfrm>
            <a:off x="468313" y="6075363"/>
            <a:ext cx="8104188"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203200" indent="-203200" algn="l" rtl="0" eaLnBrk="0" fontAlgn="base" hangingPunct="0">
              <a:lnSpc>
                <a:spcPct val="110000"/>
              </a:lnSpc>
              <a:spcBef>
                <a:spcPct val="20000"/>
              </a:spcBef>
              <a:spcAft>
                <a:spcPct val="0"/>
              </a:spcAft>
              <a:buClr>
                <a:schemeClr val="tx1"/>
              </a:buClr>
              <a:buSzPct val="60000"/>
              <a:buFont typeface="Wingdings" panose="05000000000000000000" pitchFamily="2" charset="2"/>
              <a:buChar char="u"/>
              <a:defRPr sz="2200" b="1">
                <a:solidFill>
                  <a:schemeClr val="tx1"/>
                </a:solidFill>
                <a:latin typeface="+mn-lt"/>
                <a:ea typeface="+mn-ea"/>
                <a:cs typeface="+mn-cs"/>
              </a:defRPr>
            </a:lvl1pPr>
            <a:lvl2pPr marL="685800" indent="-190500" algn="l" rtl="0" eaLnBrk="0" fontAlgn="base" hangingPunct="0">
              <a:lnSpc>
                <a:spcPct val="110000"/>
              </a:lnSpc>
              <a:spcBef>
                <a:spcPct val="20000"/>
              </a:spcBef>
              <a:spcAft>
                <a:spcPct val="0"/>
              </a:spcAft>
              <a:buSzPct val="100000"/>
              <a:buChar char="•"/>
              <a:defRPr sz="2000" b="1">
                <a:solidFill>
                  <a:srgbClr val="0000FF"/>
                </a:solidFill>
                <a:latin typeface="+mn-lt"/>
                <a:ea typeface="+mn-ea"/>
              </a:defRPr>
            </a:lvl2pPr>
            <a:lvl3pPr marL="1257300" indent="-342900" algn="l" rtl="0" eaLnBrk="0" fontAlgn="base" hangingPunct="0">
              <a:lnSpc>
                <a:spcPct val="110000"/>
              </a:lnSpc>
              <a:spcBef>
                <a:spcPct val="20000"/>
              </a:spcBef>
              <a:spcAft>
                <a:spcPct val="0"/>
              </a:spcAft>
              <a:buSzPct val="100000"/>
              <a:buChar char="-"/>
              <a:defRPr b="1">
                <a:solidFill>
                  <a:schemeClr val="tx1"/>
                </a:solidFill>
                <a:latin typeface="+mn-lt"/>
                <a:ea typeface="+mn-ea"/>
              </a:defRPr>
            </a:lvl3pPr>
            <a:lvl4pPr marL="1714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171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a:lstStyle>
          <a:p>
            <a:pPr marL="203200" marR="0" lvl="0" indent="-203200" algn="l" defTabSz="914400" rtl="0" eaLnBrk="0" fontAlgn="base" latinLnBrk="0" hangingPunct="0">
              <a:lnSpc>
                <a:spcPct val="110000"/>
              </a:lnSpc>
              <a:spcBef>
                <a:spcPct val="20000"/>
              </a:spcBef>
              <a:spcAft>
                <a:spcPct val="0"/>
              </a:spcAft>
              <a:buClr>
                <a:schemeClr val="tx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实际的</a:t>
            </a:r>
            <a:r>
              <a:rPr kumimoji="0" lang="en-US" altLang="zh-CN" sz="2200" b="1"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ALU</a:t>
            </a:r>
            <a:r>
              <a:rPr kumimoji="0" lang="zh-CN" altLang="en-US" sz="2200" b="1"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中还包括减法、算术移位、逻辑移位等其他运算功能</a:t>
            </a:r>
            <a:endParaRPr kumimoji="0" lang="en-US" altLang="zh-CN" sz="2200" b="1"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33834" name="Line 30"/>
          <p:cNvSpPr/>
          <p:nvPr/>
        </p:nvSpPr>
        <p:spPr>
          <a:xfrm flipV="1">
            <a:off x="2722563" y="4189413"/>
            <a:ext cx="0" cy="520700"/>
          </a:xfrm>
          <a:prstGeom prst="line">
            <a:avLst/>
          </a:prstGeom>
          <a:ln w="28575" cap="flat" cmpd="sng">
            <a:solidFill>
              <a:schemeClr val="tx1"/>
            </a:solidFill>
            <a:prstDash val="solid"/>
            <a:round/>
            <a:headEnd type="none" w="med" len="med"/>
            <a:tailEnd type="triangle" w="med" len="med"/>
          </a:ln>
        </p:spPr>
      </p:sp>
      <p:sp>
        <p:nvSpPr>
          <p:cNvPr id="33835" name="Rectangle 31"/>
          <p:cNvSpPr/>
          <p:nvPr/>
        </p:nvSpPr>
        <p:spPr>
          <a:xfrm>
            <a:off x="2482850" y="4640263"/>
            <a:ext cx="852488" cy="334962"/>
          </a:xfrm>
          <a:prstGeom prst="rect">
            <a:avLst/>
          </a:prstGeom>
          <a:noFill/>
          <a:ln w="12700">
            <a:noFill/>
          </a:ln>
        </p:spPr>
        <p:txBody>
          <a:bodyPr wrap="none" lIns="90488" tIns="44450" rIns="90488" bIns="44450" anchor="t" anchorCtr="0">
            <a:spAutoFit/>
          </a:bodyPr>
          <a:p>
            <a:pPr eaLnBrk="0" hangingPunct="0"/>
            <a:r>
              <a:rPr lang="en-US" altLang="zh-CN" dirty="0">
                <a:latin typeface="Arial" panose="020B0604020202020204" pitchFamily="34" charset="0"/>
              </a:rPr>
              <a:t>ALUop</a:t>
            </a:r>
            <a:endParaRPr lang="en-US" altLang="zh-CN" dirty="0">
              <a:latin typeface="Arial" panose="020B0604020202020204" pitchFamily="34" charset="0"/>
              <a:ea typeface="Arial" panose="020B0604020202020204" pitchFamily="34" charset="0"/>
            </a:endParaRPr>
          </a:p>
        </p:txBody>
      </p:sp>
      <p:sp>
        <p:nvSpPr>
          <p:cNvPr id="33836" name="Line 19"/>
          <p:cNvSpPr/>
          <p:nvPr/>
        </p:nvSpPr>
        <p:spPr>
          <a:xfrm>
            <a:off x="2643188" y="4437063"/>
            <a:ext cx="174625" cy="103187"/>
          </a:xfrm>
          <a:prstGeom prst="line">
            <a:avLst/>
          </a:prstGeom>
          <a:ln w="28575" cap="flat" cmpd="sng">
            <a:solidFill>
              <a:schemeClr val="tx1"/>
            </a:solidFill>
            <a:prstDash val="solid"/>
            <a:round/>
            <a:headEnd type="none" w="med" len="med"/>
            <a:tailEnd type="none" w="med" len="med"/>
          </a:ln>
        </p:spPr>
      </p:sp>
      <p:sp>
        <p:nvSpPr>
          <p:cNvPr id="33837" name="Rectangle 31"/>
          <p:cNvSpPr/>
          <p:nvPr/>
        </p:nvSpPr>
        <p:spPr>
          <a:xfrm>
            <a:off x="2684463" y="4254500"/>
            <a:ext cx="296862" cy="334963"/>
          </a:xfrm>
          <a:prstGeom prst="rect">
            <a:avLst/>
          </a:prstGeom>
          <a:noFill/>
          <a:ln w="12700">
            <a:noFill/>
          </a:ln>
        </p:spPr>
        <p:txBody>
          <a:bodyPr wrap="none" lIns="90488" tIns="44450" rIns="90488" bIns="44450" anchor="t" anchorCtr="0">
            <a:spAutoFit/>
          </a:bodyPr>
          <a:p>
            <a:pPr eaLnBrk="0" hangingPunct="0"/>
            <a:r>
              <a:rPr lang="en-US" altLang="zh-CN" dirty="0">
                <a:latin typeface="Arial" panose="020B0604020202020204" pitchFamily="34" charset="0"/>
              </a:rPr>
              <a:t>2</a:t>
            </a:r>
            <a:endParaRPr lang="en-US" altLang="zh-CN" dirty="0">
              <a:latin typeface="Arial" panose="020B0604020202020204" pitchFamily="34" charset="0"/>
              <a:ea typeface="Arial" panose="020B0604020202020204" pitchFamily="3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p:nvPr>
        </p:nvSpPr>
        <p:spPr>
          <a:xfrm>
            <a:off x="552450" y="123825"/>
            <a:ext cx="8264525" cy="474663"/>
          </a:xfrm>
          <a:ln/>
        </p:spPr>
        <p:txBody>
          <a:bodyPr vert="horz" wrap="square" lIns="63500" tIns="25400" rIns="63500" bIns="25400" anchor="t" anchorCtr="0">
            <a:spAutoFit/>
          </a:bodyPr>
          <a:p>
            <a:r>
              <a:rPr lang="zh-CN" altLang="en-US" dirty="0">
                <a:ea typeface="宋体" panose="02010600030101010101" pitchFamily="2" charset="-122"/>
              </a:rPr>
              <a:t>例：实现某</a:t>
            </a:r>
            <a:r>
              <a:rPr lang="en-US" altLang="zh-CN" dirty="0">
                <a:ea typeface="宋体" panose="02010600030101010101" pitchFamily="2" charset="-122"/>
              </a:rPr>
              <a:t>11</a:t>
            </a:r>
            <a:r>
              <a:rPr lang="zh-CN" altLang="en-US" dirty="0">
                <a:ea typeface="宋体" panose="02010600030101010101" pitchFamily="2" charset="-122"/>
              </a:rPr>
              <a:t>条</a:t>
            </a:r>
            <a:r>
              <a:rPr lang="en-US" altLang="zh-CN" dirty="0">
                <a:ea typeface="宋体" panose="02010600030101010101" pitchFamily="2" charset="-122"/>
              </a:rPr>
              <a:t>MIPS</a:t>
            </a:r>
            <a:r>
              <a:rPr lang="zh-CN" altLang="en-US" dirty="0">
                <a:ea typeface="宋体" panose="02010600030101010101" pitchFamily="2" charset="-122"/>
              </a:rPr>
              <a:t>指令的</a:t>
            </a:r>
            <a:r>
              <a:rPr lang="en-US" altLang="zh-CN" dirty="0">
                <a:ea typeface="宋体" panose="02010600030101010101" pitchFamily="2" charset="-122"/>
              </a:rPr>
              <a:t>ALU</a:t>
            </a:r>
            <a:endParaRPr lang="en-US" altLang="zh-CN" dirty="0">
              <a:ea typeface="宋体" panose="02010600030101010101" pitchFamily="2" charset="-122"/>
            </a:endParaRPr>
          </a:p>
        </p:txBody>
      </p:sp>
      <p:pic>
        <p:nvPicPr>
          <p:cNvPr id="35842" name="Picture 174"/>
          <p:cNvPicPr>
            <a:picLocks noChangeAspect="1"/>
          </p:cNvPicPr>
          <p:nvPr/>
        </p:nvPicPr>
        <p:blipFill>
          <a:blip r:embed="rId1"/>
          <a:stretch>
            <a:fillRect/>
          </a:stretch>
        </p:blipFill>
        <p:spPr>
          <a:xfrm>
            <a:off x="252413" y="657225"/>
            <a:ext cx="8583612" cy="6200775"/>
          </a:xfrm>
          <a:prstGeom prst="rect">
            <a:avLst/>
          </a:prstGeom>
          <a:solidFill>
            <a:srgbClr val="FFFF99">
              <a:alpha val="32941"/>
            </a:srgbClr>
          </a:solidFill>
          <a:ln w="9525">
            <a:noFill/>
          </a:ln>
        </p:spPr>
      </p:pic>
      <p:sp>
        <p:nvSpPr>
          <p:cNvPr id="35843" name="Rectangle 175"/>
          <p:cNvSpPr/>
          <p:nvPr/>
        </p:nvSpPr>
        <p:spPr>
          <a:xfrm>
            <a:off x="4867275" y="5295900"/>
            <a:ext cx="2286000" cy="581025"/>
          </a:xfrm>
          <a:prstGeom prst="rect">
            <a:avLst/>
          </a:prstGeom>
          <a:solidFill>
            <a:schemeClr val="accent1">
              <a:alpha val="30980"/>
            </a:schemeClr>
          </a:solidFill>
          <a:ln w="12700" cap="flat" cmpd="sng">
            <a:solidFill>
              <a:srgbClr val="00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35844" name="Rectangle 177"/>
          <p:cNvSpPr/>
          <p:nvPr/>
        </p:nvSpPr>
        <p:spPr>
          <a:xfrm>
            <a:off x="3530600" y="1035050"/>
            <a:ext cx="752475" cy="2219325"/>
          </a:xfrm>
          <a:prstGeom prst="rect">
            <a:avLst/>
          </a:prstGeom>
          <a:solidFill>
            <a:srgbClr val="0000FF">
              <a:alpha val="12157"/>
            </a:srgbClr>
          </a:solidFill>
          <a:ln w="12700" cap="flat" cmpd="sng">
            <a:solidFill>
              <a:srgbClr val="00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35845" name="Text Box 178"/>
          <p:cNvSpPr txBox="1"/>
          <p:nvPr/>
        </p:nvSpPr>
        <p:spPr>
          <a:xfrm>
            <a:off x="1371600" y="5259388"/>
            <a:ext cx="3722688" cy="1323975"/>
          </a:xfrm>
          <a:prstGeom prst="rect">
            <a:avLst/>
          </a:prstGeom>
          <a:noFill/>
          <a:ln w="12700">
            <a:noFill/>
          </a:ln>
        </p:spPr>
        <p:txBody>
          <a:bodyPr lIns="0" rIns="0" anchor="t" anchorCtr="0">
            <a:spAutoFit/>
          </a:bodyPr>
          <a:p>
            <a:pPr eaLnBrk="0" hangingPunct="0"/>
            <a:r>
              <a:rPr lang="zh-CN" altLang="en-US" sz="2000" dirty="0">
                <a:solidFill>
                  <a:schemeClr val="accent2"/>
                </a:solidFill>
                <a:latin typeface="微软雅黑" panose="020B0503020204020204" pitchFamily="34" charset="-122"/>
                <a:ea typeface="微软雅黑" panose="020B0503020204020204" pitchFamily="34" charset="-122"/>
              </a:rPr>
              <a:t>该</a:t>
            </a:r>
            <a:r>
              <a:rPr lang="en-US" altLang="zh-CN" sz="2000" dirty="0">
                <a:solidFill>
                  <a:schemeClr val="accent2"/>
                </a:solidFill>
                <a:latin typeface="微软雅黑" panose="020B0503020204020204" pitchFamily="34" charset="-122"/>
                <a:ea typeface="微软雅黑" panose="020B0503020204020204" pitchFamily="34" charset="-122"/>
              </a:rPr>
              <a:t>ALU</a:t>
            </a:r>
            <a:r>
              <a:rPr lang="zh-CN" altLang="en-US" sz="2000" dirty="0">
                <a:solidFill>
                  <a:schemeClr val="accent2"/>
                </a:solidFill>
                <a:latin typeface="微软雅黑" panose="020B0503020204020204" pitchFamily="34" charset="-122"/>
                <a:ea typeface="微软雅黑" panose="020B0503020204020204" pitchFamily="34" charset="-122"/>
              </a:rPr>
              <a:t>实现以下运算：</a:t>
            </a:r>
            <a:endParaRPr lang="en-US" altLang="zh-CN" sz="2000" dirty="0">
              <a:solidFill>
                <a:schemeClr val="accent2"/>
              </a:solidFill>
              <a:latin typeface="微软雅黑" panose="020B0503020204020204" pitchFamily="34" charset="-122"/>
              <a:ea typeface="微软雅黑" panose="020B0503020204020204" pitchFamily="34" charset="-122"/>
            </a:endParaRPr>
          </a:p>
          <a:p>
            <a:pPr eaLnBrk="0" hangingPunct="0"/>
            <a:r>
              <a:rPr lang="zh-CN" altLang="en-US" sz="2000" dirty="0">
                <a:solidFill>
                  <a:srgbClr val="009900"/>
                </a:solidFill>
                <a:latin typeface="微软雅黑" panose="020B0503020204020204" pitchFamily="34" charset="-122"/>
                <a:ea typeface="微软雅黑" panose="020B0503020204020204" pitchFamily="34" charset="-122"/>
              </a:rPr>
              <a:t>加减：</a:t>
            </a:r>
            <a:r>
              <a:rPr lang="en-US" altLang="zh-CN" sz="2000" dirty="0">
                <a:solidFill>
                  <a:srgbClr val="FF0000"/>
                </a:solidFill>
                <a:latin typeface="微软雅黑" panose="020B0503020204020204" pitchFamily="34" charset="-122"/>
                <a:ea typeface="微软雅黑" panose="020B0503020204020204" pitchFamily="34" charset="-122"/>
              </a:rPr>
              <a:t>add,sub,addu,subu</a:t>
            </a:r>
            <a:endParaRPr lang="en-US" altLang="zh-CN" sz="2000" dirty="0">
              <a:solidFill>
                <a:srgbClr val="FF0000"/>
              </a:solidFill>
              <a:latin typeface="微软雅黑" panose="020B0503020204020204" pitchFamily="34" charset="-122"/>
              <a:ea typeface="微软雅黑" panose="020B0503020204020204" pitchFamily="34" charset="-122"/>
            </a:endParaRPr>
          </a:p>
          <a:p>
            <a:pPr eaLnBrk="0" hangingPunct="0"/>
            <a:r>
              <a:rPr lang="zh-CN" altLang="en-US" sz="2000" dirty="0">
                <a:solidFill>
                  <a:srgbClr val="009900"/>
                </a:solidFill>
                <a:latin typeface="微软雅黑" panose="020B0503020204020204" pitchFamily="34" charset="-122"/>
                <a:ea typeface="微软雅黑" panose="020B0503020204020204" pitchFamily="34" charset="-122"/>
              </a:rPr>
              <a:t>逻辑：</a:t>
            </a:r>
            <a:r>
              <a:rPr lang="en-US" altLang="zh-CN" sz="2000" dirty="0">
                <a:solidFill>
                  <a:srgbClr val="FF0000"/>
                </a:solidFill>
                <a:latin typeface="微软雅黑" panose="020B0503020204020204" pitchFamily="34" charset="-122"/>
                <a:ea typeface="微软雅黑" panose="020B0503020204020204" pitchFamily="34" charset="-122"/>
              </a:rPr>
              <a:t>or</a:t>
            </a:r>
            <a:endParaRPr lang="en-US" altLang="zh-CN" sz="2000" dirty="0">
              <a:solidFill>
                <a:srgbClr val="FF0000"/>
              </a:solidFill>
              <a:latin typeface="微软雅黑" panose="020B0503020204020204" pitchFamily="34" charset="-122"/>
              <a:ea typeface="微软雅黑" panose="020B0503020204020204" pitchFamily="34" charset="-122"/>
            </a:endParaRPr>
          </a:p>
          <a:p>
            <a:pPr eaLnBrk="0" hangingPunct="0"/>
            <a:r>
              <a:rPr lang="zh-CN" altLang="en-US" sz="2000" dirty="0">
                <a:solidFill>
                  <a:srgbClr val="009900"/>
                </a:solidFill>
                <a:latin typeface="微软雅黑" panose="020B0503020204020204" pitchFamily="34" charset="-122"/>
                <a:ea typeface="微软雅黑" panose="020B0503020204020204" pitchFamily="34" charset="-122"/>
              </a:rPr>
              <a:t>比较：</a:t>
            </a:r>
            <a:r>
              <a:rPr lang="en-US" altLang="zh-CN" sz="2000" dirty="0">
                <a:solidFill>
                  <a:srgbClr val="FF0000"/>
                </a:solidFill>
                <a:latin typeface="微软雅黑" panose="020B0503020204020204" pitchFamily="34" charset="-122"/>
                <a:ea typeface="微软雅黑" panose="020B0503020204020204" pitchFamily="34" charset="-122"/>
              </a:rPr>
              <a:t>slt,sltu</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35846" name="Rectangle 179"/>
          <p:cNvSpPr/>
          <p:nvPr/>
        </p:nvSpPr>
        <p:spPr>
          <a:xfrm>
            <a:off x="381000" y="733425"/>
            <a:ext cx="7620000" cy="5476875"/>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35847" name="Text Box 178"/>
          <p:cNvSpPr txBox="1"/>
          <p:nvPr/>
        </p:nvSpPr>
        <p:spPr>
          <a:xfrm>
            <a:off x="6538913" y="6273800"/>
            <a:ext cx="2414587" cy="400050"/>
          </a:xfrm>
          <a:prstGeom prst="rect">
            <a:avLst/>
          </a:prstGeom>
          <a:solidFill>
            <a:schemeClr val="bg1"/>
          </a:solidFill>
          <a:ln w="12700">
            <a:noFill/>
          </a:ln>
        </p:spPr>
        <p:txBody>
          <a:bodyPr anchor="t" anchorCtr="0">
            <a:spAutoFit/>
          </a:bodyPr>
          <a:p>
            <a:pPr eaLnBrk="0" hangingPunct="0">
              <a:spcBef>
                <a:spcPct val="50000"/>
              </a:spcBef>
            </a:pPr>
            <a:r>
              <a:rPr lang="zh-CN" altLang="en-US" sz="2000" dirty="0">
                <a:solidFill>
                  <a:srgbClr val="FF0000"/>
                </a:solidFill>
                <a:latin typeface="微软雅黑" panose="020B0503020204020204" pitchFamily="34" charset="-122"/>
                <a:ea typeface="微软雅黑" panose="020B0503020204020204" pitchFamily="34" charset="-122"/>
              </a:rPr>
              <a:t>定点整数</a:t>
            </a:r>
            <a:r>
              <a:rPr lang="en-US" altLang="zh-CN" sz="2000" dirty="0">
                <a:solidFill>
                  <a:srgbClr val="FF0000"/>
                </a:solidFill>
                <a:latin typeface="微软雅黑" panose="020B0503020204020204" pitchFamily="34" charset="-122"/>
                <a:ea typeface="微软雅黑" panose="020B0503020204020204" pitchFamily="34" charset="-122"/>
              </a:rPr>
              <a:t>ALU</a:t>
            </a:r>
            <a:r>
              <a:rPr lang="zh-CN" altLang="en-US" sz="2000" dirty="0">
                <a:solidFill>
                  <a:srgbClr val="FF0000"/>
                </a:solidFill>
                <a:latin typeface="微软雅黑" panose="020B0503020204020204" pitchFamily="34" charset="-122"/>
                <a:ea typeface="微软雅黑" panose="020B0503020204020204" pitchFamily="34" charset="-122"/>
              </a:rPr>
              <a:t>！</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35848" name="Text Box 178"/>
          <p:cNvSpPr txBox="1"/>
          <p:nvPr/>
        </p:nvSpPr>
        <p:spPr>
          <a:xfrm>
            <a:off x="5308600" y="752475"/>
            <a:ext cx="3644900" cy="646113"/>
          </a:xfrm>
          <a:prstGeom prst="rect">
            <a:avLst/>
          </a:prstGeom>
          <a:solidFill>
            <a:schemeClr val="bg1"/>
          </a:solidFill>
          <a:ln w="12700">
            <a:noFill/>
          </a:ln>
        </p:spPr>
        <p:txBody>
          <a:bodyPr lIns="0" rIns="0" anchor="t" anchorCtr="0">
            <a:spAutoFit/>
          </a:bodyPr>
          <a:p>
            <a:pPr eaLnBrk="0" hangingPunct="0"/>
            <a:r>
              <a:rPr lang="en-US" altLang="zh-CN" sz="1800" dirty="0">
                <a:solidFill>
                  <a:schemeClr val="accent2"/>
                </a:solidFill>
                <a:latin typeface="微软雅黑" panose="020B0503020204020204" pitchFamily="34" charset="-122"/>
                <a:ea typeface="微软雅黑" panose="020B0503020204020204" pitchFamily="34" charset="-122"/>
              </a:rPr>
              <a:t>SIGctr=1(</a:t>
            </a:r>
            <a:r>
              <a:rPr lang="zh-CN" altLang="en-US" sz="1800" dirty="0">
                <a:solidFill>
                  <a:schemeClr val="accent2"/>
                </a:solidFill>
                <a:latin typeface="微软雅黑" panose="020B0503020204020204" pitchFamily="34" charset="-122"/>
                <a:ea typeface="微软雅黑" panose="020B0503020204020204" pitchFamily="34" charset="-122"/>
              </a:rPr>
              <a:t>带符</a:t>
            </a:r>
            <a:r>
              <a:rPr lang="en-US" altLang="zh-CN" sz="1800" dirty="0">
                <a:solidFill>
                  <a:schemeClr val="accent2"/>
                </a:solidFill>
                <a:latin typeface="微软雅黑" panose="020B0503020204020204" pitchFamily="34" charset="-122"/>
                <a:ea typeface="微软雅黑" panose="020B0503020204020204" pitchFamily="34" charset="-122"/>
              </a:rPr>
              <a:t>), less=OF⊕ SF</a:t>
            </a:r>
            <a:endParaRPr lang="en-US" altLang="zh-CN" sz="1800" dirty="0">
              <a:solidFill>
                <a:schemeClr val="accent2"/>
              </a:solidFill>
              <a:latin typeface="微软雅黑" panose="020B0503020204020204" pitchFamily="34" charset="-122"/>
              <a:ea typeface="微软雅黑" panose="020B0503020204020204" pitchFamily="34" charset="-122"/>
            </a:endParaRPr>
          </a:p>
          <a:p>
            <a:pPr eaLnBrk="0" hangingPunct="0"/>
            <a:r>
              <a:rPr lang="en-US" altLang="zh-CN" sz="1800" dirty="0">
                <a:solidFill>
                  <a:schemeClr val="accent2"/>
                </a:solidFill>
                <a:latin typeface="微软雅黑" panose="020B0503020204020204" pitchFamily="34" charset="-122"/>
                <a:ea typeface="微软雅黑" panose="020B0503020204020204" pitchFamily="34" charset="-122"/>
              </a:rPr>
              <a:t>SIGctr=0(</a:t>
            </a:r>
            <a:r>
              <a:rPr lang="zh-CN" altLang="en-US" sz="1800" dirty="0">
                <a:solidFill>
                  <a:schemeClr val="accent2"/>
                </a:solidFill>
                <a:latin typeface="微软雅黑" panose="020B0503020204020204" pitchFamily="34" charset="-122"/>
                <a:ea typeface="微软雅黑" panose="020B0503020204020204" pitchFamily="34" charset="-122"/>
              </a:rPr>
              <a:t>无符</a:t>
            </a:r>
            <a:r>
              <a:rPr lang="en-US" altLang="zh-CN" sz="1800" dirty="0">
                <a:solidFill>
                  <a:schemeClr val="accent2"/>
                </a:solidFill>
                <a:latin typeface="微软雅黑" panose="020B0503020204020204" pitchFamily="34" charset="-122"/>
                <a:ea typeface="微软雅黑" panose="020B0503020204020204" pitchFamily="34" charset="-122"/>
              </a:rPr>
              <a:t>), less=SUBctr⊕CF</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35849" name="Text Box 51"/>
          <p:cNvSpPr txBox="1"/>
          <p:nvPr/>
        </p:nvSpPr>
        <p:spPr>
          <a:xfrm>
            <a:off x="1776413" y="1398588"/>
            <a:ext cx="1317625" cy="708025"/>
          </a:xfrm>
          <a:prstGeom prst="rect">
            <a:avLst/>
          </a:prstGeom>
          <a:solidFill>
            <a:schemeClr val="accent1">
              <a:alpha val="58038"/>
            </a:schemeClr>
          </a:solidFill>
          <a:ln w="9525">
            <a:noFill/>
          </a:ln>
        </p:spPr>
        <p:txBody>
          <a:bodyPr anchor="t" anchorCtr="0">
            <a:spAutoFit/>
          </a:bodyPr>
          <a:p>
            <a:pPr eaLnBrk="0" hangingPunct="0">
              <a:spcBef>
                <a:spcPct val="15000"/>
              </a:spcBef>
            </a:pPr>
            <a:r>
              <a:rPr lang="zh-CN" altLang="en-US" sz="2000" dirty="0">
                <a:solidFill>
                  <a:srgbClr val="008000"/>
                </a:solidFill>
                <a:latin typeface="微软雅黑" panose="020B0503020204020204" pitchFamily="34" charset="-122"/>
                <a:ea typeface="微软雅黑" panose="020B0503020204020204" pitchFamily="34" charset="-122"/>
              </a:rPr>
              <a:t>加法器如何实现？</a:t>
            </a:r>
            <a:endParaRPr lang="zh-CN" altLang="en-US" sz="2000" dirty="0">
              <a:solidFill>
                <a:srgbClr val="99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4"/>
          <p:cNvSpPr/>
          <p:nvPr/>
        </p:nvSpPr>
        <p:spPr>
          <a:xfrm>
            <a:off x="800100" y="190500"/>
            <a:ext cx="7300913" cy="479425"/>
          </a:xfrm>
          <a:prstGeom prst="rect">
            <a:avLst/>
          </a:prstGeom>
          <a:noFill/>
          <a:ln w="12700">
            <a:noFill/>
          </a:ln>
        </p:spPr>
        <p:txBody>
          <a:bodyPr lIns="63500" tIns="25400" rIns="63500" bIns="25400" anchor="t" anchorCtr="0">
            <a:spAutoFit/>
          </a:bodyPr>
          <a:p>
            <a:pPr eaLnBrk="0" hangingPunct="0">
              <a:lnSpc>
                <a:spcPct val="87000"/>
              </a:lnSpc>
            </a:pPr>
            <a:r>
              <a:rPr lang="zh-CN" altLang="en-US" sz="3200" dirty="0">
                <a:solidFill>
                  <a:srgbClr val="CC0000"/>
                </a:solidFill>
                <a:latin typeface="Arial" panose="020B0604020202020204" pitchFamily="34" charset="0"/>
                <a:ea typeface="宋体" panose="02010600030101010101" pitchFamily="2" charset="-122"/>
              </a:rPr>
              <a:t>第二讲：定点数运算</a:t>
            </a:r>
            <a:endParaRPr lang="zh-CN" altLang="en-US" sz="3200" dirty="0">
              <a:solidFill>
                <a:srgbClr val="CC0000"/>
              </a:solidFill>
              <a:latin typeface="Arial" panose="020B0604020202020204" pitchFamily="34" charset="0"/>
              <a:ea typeface="宋体" panose="02010600030101010101" pitchFamily="2" charset="-122"/>
            </a:endParaRPr>
          </a:p>
        </p:txBody>
      </p:sp>
      <p:sp>
        <p:nvSpPr>
          <p:cNvPr id="37890" name="Rectangle 5"/>
          <p:cNvSpPr/>
          <p:nvPr/>
        </p:nvSpPr>
        <p:spPr>
          <a:xfrm>
            <a:off x="1462088" y="812800"/>
            <a:ext cx="6551612" cy="6010275"/>
          </a:xfrm>
          <a:prstGeom prst="rect">
            <a:avLst/>
          </a:prstGeom>
          <a:noFill/>
          <a:ln w="12700">
            <a:noFill/>
          </a:ln>
        </p:spPr>
        <p:txBody>
          <a:bodyPr lIns="63500" tIns="25400" rIns="63500" bIns="25400" anchor="t" anchorCtr="0">
            <a:spAutoFit/>
          </a:bodyPr>
          <a:p>
            <a:pPr marL="342900" indent="-342900" algn="ctr" eaLnBrk="0" hangingPunct="0">
              <a:lnSpc>
                <a:spcPct val="110000"/>
              </a:lnSpc>
              <a:spcBef>
                <a:spcPct val="10000"/>
              </a:spcBef>
              <a:buClr>
                <a:schemeClr val="tx1"/>
              </a:buClr>
              <a:buSzPct val="60000"/>
              <a:buFont typeface="Wingdings" panose="05000000000000000000" pitchFamily="2" charset="2"/>
            </a:pPr>
            <a:r>
              <a:rPr lang="zh-CN" altLang="en-US" sz="2800" dirty="0">
                <a:solidFill>
                  <a:srgbClr val="CC0000"/>
                </a:solidFill>
                <a:latin typeface="微软雅黑" panose="020B0503020204020204" pitchFamily="34" charset="-122"/>
                <a:ea typeface="微软雅黑" panose="020B0503020204020204" pitchFamily="34" charset="-122"/>
              </a:rPr>
              <a:t>主    要   内   容</a:t>
            </a:r>
            <a:endParaRPr lang="zh-CN" altLang="en-US" sz="2800" dirty="0">
              <a:solidFill>
                <a:srgbClr val="CC0000"/>
              </a:solidFill>
              <a:latin typeface="微软雅黑" panose="020B0503020204020204" pitchFamily="34" charset="-122"/>
              <a:ea typeface="微软雅黑" panose="020B0503020204020204" pitchFamily="34"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定点数加减运算</a:t>
            </a:r>
            <a:endParaRPr lang="zh-CN" altLang="en-US" sz="2400" dirty="0">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har char="•"/>
            </a:pPr>
            <a:r>
              <a:rPr lang="zh-CN" altLang="en-US" sz="2400" dirty="0">
                <a:solidFill>
                  <a:srgbClr val="0000FF"/>
                </a:solidFill>
                <a:latin typeface="微软雅黑" panose="020B0503020204020204" pitchFamily="34" charset="-122"/>
                <a:ea typeface="微软雅黑" panose="020B0503020204020204" pitchFamily="34" charset="-122"/>
              </a:rPr>
              <a:t>补码加减运算</a:t>
            </a:r>
            <a:endParaRPr lang="zh-CN" altLang="en-US" sz="2400" dirty="0">
              <a:solidFill>
                <a:srgbClr val="0000FF"/>
              </a:solidFill>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har char="•"/>
            </a:pPr>
            <a:r>
              <a:rPr lang="zh-CN" altLang="en-US" sz="2400" dirty="0">
                <a:solidFill>
                  <a:srgbClr val="0000FF"/>
                </a:solidFill>
                <a:latin typeface="微软雅黑" panose="020B0503020204020204" pitchFamily="34" charset="-122"/>
                <a:ea typeface="微软雅黑" panose="020B0503020204020204" pitchFamily="34" charset="-122"/>
              </a:rPr>
              <a:t>原码加减运算</a:t>
            </a:r>
            <a:endParaRPr lang="en-US" altLang="zh-CN" sz="2400" dirty="0">
              <a:solidFill>
                <a:srgbClr val="0000FF"/>
              </a:solidFill>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har char="•"/>
            </a:pPr>
            <a:r>
              <a:rPr lang="zh-CN" altLang="en-US" sz="2400" dirty="0">
                <a:solidFill>
                  <a:srgbClr val="0000FF"/>
                </a:solidFill>
                <a:latin typeface="微软雅黑" panose="020B0503020204020204" pitchFamily="34" charset="-122"/>
                <a:ea typeface="微软雅黑" panose="020B0503020204020204" pitchFamily="34" charset="-122"/>
              </a:rPr>
              <a:t>移码加减运算</a:t>
            </a:r>
            <a:endParaRPr lang="zh-CN" altLang="en-US" sz="2400" dirty="0">
              <a:solidFill>
                <a:srgbClr val="0000FF"/>
              </a:solidFill>
              <a:latin typeface="微软雅黑" panose="020B0503020204020204" pitchFamily="34" charset="-122"/>
              <a:ea typeface="微软雅黑" panose="020B0503020204020204" pitchFamily="34"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定点数乘法运算</a:t>
            </a:r>
            <a:endParaRPr lang="en-US" altLang="zh-CN" sz="2400" dirty="0">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har char="•"/>
            </a:pPr>
            <a:r>
              <a:rPr lang="zh-CN" altLang="en-US" sz="2400" dirty="0">
                <a:solidFill>
                  <a:srgbClr val="0000FF"/>
                </a:solidFill>
                <a:latin typeface="微软雅黑" panose="020B0503020204020204" pitchFamily="34" charset="-122"/>
                <a:ea typeface="微软雅黑" panose="020B0503020204020204" pitchFamily="34" charset="-122"/>
              </a:rPr>
              <a:t>原码乘法运算</a:t>
            </a:r>
            <a:endParaRPr lang="zh-CN" altLang="en-US" sz="2400" dirty="0">
              <a:solidFill>
                <a:srgbClr val="0000FF"/>
              </a:solidFill>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har char="•"/>
            </a:pPr>
            <a:r>
              <a:rPr lang="zh-CN" altLang="en-US" sz="2400" dirty="0">
                <a:solidFill>
                  <a:srgbClr val="0000FF"/>
                </a:solidFill>
                <a:latin typeface="微软雅黑" panose="020B0503020204020204" pitchFamily="34" charset="-122"/>
                <a:ea typeface="微软雅黑" panose="020B0503020204020204" pitchFamily="34" charset="-122"/>
              </a:rPr>
              <a:t>补码乘法运算</a:t>
            </a:r>
            <a:endParaRPr lang="en-US" altLang="zh-CN" sz="2400" dirty="0">
              <a:solidFill>
                <a:srgbClr val="0000FF"/>
              </a:solidFill>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har char="•"/>
            </a:pPr>
            <a:r>
              <a:rPr lang="zh-CN" altLang="en-US" sz="2400" dirty="0">
                <a:solidFill>
                  <a:srgbClr val="0000FF"/>
                </a:solidFill>
                <a:latin typeface="微软雅黑" panose="020B0503020204020204" pitchFamily="34" charset="-122"/>
                <a:ea typeface="微软雅黑" panose="020B0503020204020204" pitchFamily="34" charset="-122"/>
              </a:rPr>
              <a:t>快速乘法器</a:t>
            </a:r>
            <a:endParaRPr lang="zh-CN" altLang="en-US" sz="2400" dirty="0">
              <a:latin typeface="微软雅黑" panose="020B0503020204020204" pitchFamily="34" charset="-122"/>
              <a:ea typeface="微软雅黑" panose="020B0503020204020204" pitchFamily="34"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定点数除法运算</a:t>
            </a:r>
            <a:endParaRPr lang="en-US" altLang="zh-CN" sz="2400" dirty="0">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har char="•"/>
            </a:pPr>
            <a:r>
              <a:rPr lang="zh-CN" altLang="en-US" sz="2400" dirty="0">
                <a:solidFill>
                  <a:srgbClr val="0000FF"/>
                </a:solidFill>
                <a:latin typeface="微软雅黑" panose="020B0503020204020204" pitchFamily="34" charset="-122"/>
                <a:ea typeface="微软雅黑" panose="020B0503020204020204" pitchFamily="34" charset="-122"/>
              </a:rPr>
              <a:t>原码除法运算</a:t>
            </a:r>
            <a:endParaRPr lang="zh-CN" altLang="en-US" sz="2400" dirty="0">
              <a:solidFill>
                <a:srgbClr val="0000FF"/>
              </a:solidFill>
              <a:latin typeface="微软雅黑" panose="020B0503020204020204" pitchFamily="34" charset="-122"/>
              <a:ea typeface="微软雅黑" panose="020B0503020204020204" pitchFamily="34" charset="-122"/>
            </a:endParaRPr>
          </a:p>
          <a:p>
            <a:pPr marL="742950" lvl="1" indent="-285750" eaLnBrk="0" hangingPunct="0">
              <a:lnSpc>
                <a:spcPct val="110000"/>
              </a:lnSpc>
              <a:spcBef>
                <a:spcPct val="25000"/>
              </a:spcBef>
              <a:buChar char="•"/>
            </a:pPr>
            <a:r>
              <a:rPr lang="zh-CN" altLang="en-US" sz="2400" dirty="0">
                <a:solidFill>
                  <a:srgbClr val="0000FF"/>
                </a:solidFill>
                <a:latin typeface="微软雅黑" panose="020B0503020204020204" pitchFamily="34" charset="-122"/>
                <a:ea typeface="微软雅黑" panose="020B0503020204020204" pitchFamily="34" charset="-122"/>
              </a:rPr>
              <a:t>补码除法运算</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p:nvPr>
        </p:nvSpPr>
        <p:spPr>
          <a:xfrm>
            <a:off x="457200" y="150813"/>
            <a:ext cx="8229600" cy="561975"/>
          </a:xfrm>
          <a:ln/>
        </p:spPr>
        <p:txBody>
          <a:bodyPr vert="horz" wrap="square" lIns="63500" tIns="25400" rIns="63500" bIns="25400" anchor="t" anchorCtr="0">
            <a:spAutoFit/>
          </a:bodyPr>
          <a:p>
            <a:r>
              <a:rPr lang="en-US" altLang="zh-CN" dirty="0">
                <a:ea typeface="宋体" panose="02010600030101010101" pitchFamily="2" charset="-122"/>
              </a:rPr>
              <a:t>n</a:t>
            </a:r>
            <a:r>
              <a:rPr lang="zh-CN" altLang="en-US" dirty="0">
                <a:ea typeface="宋体" panose="02010600030101010101" pitchFamily="2" charset="-122"/>
              </a:rPr>
              <a:t>位整数加</a:t>
            </a:r>
            <a:r>
              <a:rPr lang="en-US" altLang="zh-CN" dirty="0">
                <a:ea typeface="宋体" panose="02010600030101010101" pitchFamily="2" charset="-122"/>
              </a:rPr>
              <a:t>/</a:t>
            </a:r>
            <a:r>
              <a:rPr lang="zh-CN" altLang="en-US" dirty="0">
                <a:ea typeface="宋体" panose="02010600030101010101" pitchFamily="2" charset="-122"/>
              </a:rPr>
              <a:t>减运算器</a:t>
            </a:r>
            <a:endParaRPr lang="zh-CN" altLang="en-US" dirty="0">
              <a:ea typeface="宋体" panose="02010600030101010101" pitchFamily="2" charset="-122"/>
            </a:endParaRPr>
          </a:p>
        </p:txBody>
      </p:sp>
      <p:sp>
        <p:nvSpPr>
          <p:cNvPr id="693251" name="Rectangle 3"/>
          <p:cNvSpPr>
            <a:spLocks noGrp="1"/>
          </p:cNvSpPr>
          <p:nvPr>
            <p:ph idx="1"/>
          </p:nvPr>
        </p:nvSpPr>
        <p:spPr>
          <a:xfrm>
            <a:off x="325438" y="836613"/>
            <a:ext cx="8307387" cy="5813425"/>
          </a:xfrm>
          <a:ln/>
        </p:spPr>
        <p:txBody>
          <a:bodyPr vert="horz" wrap="square" lIns="63500" tIns="25400" rIns="63500" bIns="25400" anchor="t" anchorCtr="0">
            <a:spAutoFit/>
          </a:bodyPr>
          <a:p>
            <a:pPr>
              <a:lnSpc>
                <a:spcPct val="130000"/>
              </a:lnSpc>
              <a:spcBef>
                <a:spcPct val="5000"/>
              </a:spcBef>
              <a:buFontTx/>
              <a:buNone/>
            </a:pPr>
            <a:r>
              <a:rPr lang="zh-CN" altLang="en-US" sz="2000" dirty="0">
                <a:latin typeface="微软雅黑" panose="020B0503020204020204" pitchFamily="34" charset="-122"/>
                <a:ea typeface="微软雅黑" panose="020B0503020204020204" pitchFamily="34" charset="-122"/>
              </a:rPr>
              <a:t>先看一个</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程序段：</a:t>
            </a:r>
            <a:endParaRPr lang="zh-CN" altLang="en-US" sz="2000" dirty="0">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en-US" altLang="zh-CN" sz="2000" dirty="0">
                <a:latin typeface="微软雅黑" panose="020B0503020204020204" pitchFamily="34" charset="-122"/>
                <a:ea typeface="微软雅黑" panose="020B0503020204020204" pitchFamily="34" charset="-122"/>
              </a:rPr>
              <a:t>     </a:t>
            </a:r>
            <a:r>
              <a:rPr lang="en-US" altLang="zh-CN" sz="2000" dirty="0">
                <a:solidFill>
                  <a:srgbClr val="0033CC"/>
                </a:solidFill>
                <a:latin typeface="微软雅黑" panose="020B0503020204020204" pitchFamily="34" charset="-122"/>
                <a:ea typeface="微软雅黑" panose="020B0503020204020204" pitchFamily="34" charset="-122"/>
              </a:rPr>
              <a:t>int x=9, y=-6, z1, z2;</a:t>
            </a:r>
            <a:endParaRPr lang="en-US" altLang="zh-CN" sz="2000" dirty="0">
              <a:solidFill>
                <a:srgbClr val="0033CC"/>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en-US" altLang="zh-CN" sz="2000" dirty="0">
                <a:solidFill>
                  <a:srgbClr val="0033CC"/>
                </a:solidFill>
                <a:latin typeface="微软雅黑" panose="020B0503020204020204" pitchFamily="34" charset="-122"/>
                <a:ea typeface="微软雅黑" panose="020B0503020204020204" pitchFamily="34" charset="-122"/>
              </a:rPr>
              <a:t>     z1=x+y;</a:t>
            </a:r>
            <a:endParaRPr lang="en-US" altLang="zh-CN" sz="2000" dirty="0">
              <a:solidFill>
                <a:srgbClr val="0033CC"/>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en-US" altLang="zh-CN" sz="2000" dirty="0">
                <a:solidFill>
                  <a:srgbClr val="0033CC"/>
                </a:solidFill>
                <a:latin typeface="微软雅黑" panose="020B0503020204020204" pitchFamily="34" charset="-122"/>
                <a:ea typeface="微软雅黑" panose="020B0503020204020204" pitchFamily="34" charset="-122"/>
              </a:rPr>
              <a:t>     z2=x-y;</a:t>
            </a:r>
            <a:r>
              <a:rPr lang="en-US" altLang="zh-CN" sz="2000" dirty="0">
                <a:solidFill>
                  <a:srgbClr val="0033CC"/>
                </a:solidFill>
              </a:rPr>
              <a:t> </a:t>
            </a:r>
            <a:endParaRPr lang="en-US" altLang="zh-CN" sz="2000" dirty="0">
              <a:solidFill>
                <a:srgbClr val="0033CC"/>
              </a:solidFill>
            </a:endParaRPr>
          </a:p>
          <a:p>
            <a:pPr>
              <a:lnSpc>
                <a:spcPct val="130000"/>
              </a:lnSpc>
              <a:spcBef>
                <a:spcPct val="5000"/>
              </a:spcBef>
              <a:buFontTx/>
              <a:buNone/>
            </a:pPr>
            <a:r>
              <a:rPr lang="zh-CN" altLang="en-US" sz="2000" dirty="0">
                <a:latin typeface="微软雅黑" panose="020B0503020204020204" pitchFamily="34" charset="-122"/>
                <a:ea typeface="微软雅黑" panose="020B0503020204020204" pitchFamily="34" charset="-122"/>
              </a:rPr>
              <a:t>问题：上述程序段中，</a:t>
            </a:r>
            <a:r>
              <a:rPr lang="en-US" altLang="zh-CN" sz="2000"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y</a:t>
            </a:r>
            <a:r>
              <a:rPr lang="zh-CN" altLang="en-US" sz="2000" dirty="0">
                <a:latin typeface="微软雅黑" panose="020B0503020204020204" pitchFamily="34" charset="-122"/>
                <a:ea typeface="微软雅黑" panose="020B0503020204020204" pitchFamily="34" charset="-122"/>
              </a:rPr>
              <a:t>的机器数是什么？</a:t>
            </a:r>
            <a:r>
              <a:rPr lang="en-US" altLang="zh-CN" sz="2000" dirty="0">
                <a:latin typeface="微软雅黑" panose="020B0503020204020204" pitchFamily="34" charset="-122"/>
                <a:ea typeface="微软雅黑" panose="020B0503020204020204" pitchFamily="34" charset="-122"/>
              </a:rPr>
              <a:t>z1</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z2</a:t>
            </a:r>
            <a:r>
              <a:rPr lang="zh-CN" altLang="en-US" sz="2000" dirty="0">
                <a:latin typeface="微软雅黑" panose="020B0503020204020204" pitchFamily="34" charset="-122"/>
                <a:ea typeface="微软雅黑" panose="020B0503020204020204" pitchFamily="34" charset="-122"/>
              </a:rPr>
              <a:t>的机器数是  </a:t>
            </a:r>
            <a:endParaRPr lang="zh-CN" altLang="en-US" sz="2000" dirty="0">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zh-CN" altLang="en-US" sz="2000" dirty="0">
                <a:latin typeface="微软雅黑" panose="020B0503020204020204" pitchFamily="34" charset="-122"/>
                <a:ea typeface="微软雅黑" panose="020B0503020204020204" pitchFamily="34" charset="-122"/>
              </a:rPr>
              <a:t>          什么？</a:t>
            </a:r>
            <a:endParaRPr lang="zh-CN" altLang="en-US" sz="2000" dirty="0">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zh-CN" altLang="en-US" sz="2000" dirty="0">
                <a:latin typeface="微软雅黑" panose="020B0503020204020204" pitchFamily="34" charset="-122"/>
                <a:ea typeface="微软雅黑" panose="020B0503020204020204" pitchFamily="34" charset="-122"/>
              </a:rPr>
              <a:t>回答：</a:t>
            </a:r>
            <a:r>
              <a:rPr lang="en-US" altLang="zh-CN" sz="2000" dirty="0">
                <a:solidFill>
                  <a:srgbClr val="CC3300"/>
                </a:solidFill>
                <a:latin typeface="微软雅黑" panose="020B0503020204020204" pitchFamily="34" charset="-122"/>
                <a:ea typeface="微软雅黑" panose="020B0503020204020204" pitchFamily="34" charset="-122"/>
              </a:rPr>
              <a:t>x</a:t>
            </a:r>
            <a:r>
              <a:rPr lang="zh-CN" altLang="en-US" sz="2000" dirty="0">
                <a:solidFill>
                  <a:srgbClr val="CC3300"/>
                </a:solidFill>
                <a:latin typeface="微软雅黑" panose="020B0503020204020204" pitchFamily="34" charset="-122"/>
                <a:ea typeface="微软雅黑" panose="020B0503020204020204" pitchFamily="34" charset="-122"/>
              </a:rPr>
              <a:t>的机器数为</a:t>
            </a:r>
            <a:r>
              <a:rPr lang="en-US" altLang="zh-CN" sz="2000" dirty="0">
                <a:solidFill>
                  <a:srgbClr val="CC3300"/>
                </a:solidFill>
                <a:latin typeface="微软雅黑" panose="020B0503020204020204" pitchFamily="34" charset="-122"/>
                <a:ea typeface="微软雅黑" panose="020B0503020204020204" pitchFamily="34" charset="-122"/>
              </a:rPr>
              <a:t>[x]</a:t>
            </a:r>
            <a:r>
              <a:rPr lang="zh-CN" altLang="en-US" sz="2000" baseline="-25000" dirty="0">
                <a:solidFill>
                  <a:srgbClr val="CC3300"/>
                </a:solidFill>
                <a:latin typeface="微软雅黑" panose="020B0503020204020204" pitchFamily="34" charset="-122"/>
                <a:ea typeface="微软雅黑" panose="020B0503020204020204" pitchFamily="34" charset="-122"/>
              </a:rPr>
              <a:t>补</a:t>
            </a:r>
            <a:r>
              <a:rPr lang="zh-CN" altLang="en-US" sz="2000" dirty="0">
                <a:solidFill>
                  <a:srgbClr val="CC3300"/>
                </a:solidFill>
                <a:latin typeface="微软雅黑" panose="020B0503020204020204" pitchFamily="34" charset="-122"/>
                <a:ea typeface="微软雅黑" panose="020B0503020204020204" pitchFamily="34" charset="-122"/>
              </a:rPr>
              <a:t>， </a:t>
            </a:r>
            <a:r>
              <a:rPr lang="en-US" altLang="zh-CN" sz="2000" dirty="0">
                <a:solidFill>
                  <a:srgbClr val="CC3300"/>
                </a:solidFill>
                <a:latin typeface="微软雅黑" panose="020B0503020204020204" pitchFamily="34" charset="-122"/>
                <a:ea typeface="微软雅黑" panose="020B0503020204020204" pitchFamily="34" charset="-122"/>
              </a:rPr>
              <a:t>y</a:t>
            </a:r>
            <a:r>
              <a:rPr lang="zh-CN" altLang="en-US" sz="2000" dirty="0">
                <a:solidFill>
                  <a:srgbClr val="CC3300"/>
                </a:solidFill>
                <a:latin typeface="微软雅黑" panose="020B0503020204020204" pitchFamily="34" charset="-122"/>
                <a:ea typeface="微软雅黑" panose="020B0503020204020204" pitchFamily="34" charset="-122"/>
              </a:rPr>
              <a:t>的机器数为</a:t>
            </a:r>
            <a:r>
              <a:rPr lang="en-US" altLang="zh-CN" sz="2000" dirty="0">
                <a:solidFill>
                  <a:srgbClr val="CC3300"/>
                </a:solidFill>
                <a:latin typeface="微软雅黑" panose="020B0503020204020204" pitchFamily="34" charset="-122"/>
                <a:ea typeface="微软雅黑" panose="020B0503020204020204" pitchFamily="34" charset="-122"/>
              </a:rPr>
              <a:t>[y]</a:t>
            </a:r>
            <a:r>
              <a:rPr lang="zh-CN" altLang="en-US" sz="2000" baseline="-25000" dirty="0">
                <a:solidFill>
                  <a:srgbClr val="CC3300"/>
                </a:solidFill>
                <a:latin typeface="微软雅黑" panose="020B0503020204020204" pitchFamily="34" charset="-122"/>
                <a:ea typeface="微软雅黑" panose="020B0503020204020204" pitchFamily="34" charset="-122"/>
              </a:rPr>
              <a:t>补 </a:t>
            </a:r>
            <a:r>
              <a:rPr lang="en-US" altLang="zh-CN" sz="2000" dirty="0">
                <a:solidFill>
                  <a:srgbClr val="CC3300"/>
                </a:solidFill>
                <a:latin typeface="微软雅黑" panose="020B0503020204020204" pitchFamily="34" charset="-122"/>
                <a:ea typeface="微软雅黑" panose="020B0503020204020204" pitchFamily="34" charset="-122"/>
              </a:rPr>
              <a:t>;</a:t>
            </a:r>
            <a:endParaRPr lang="zh-CN" altLang="en-US" sz="2000" baseline="-25000" dirty="0">
              <a:solidFill>
                <a:srgbClr val="CC3300"/>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en-US" altLang="zh-CN" sz="2000" dirty="0">
                <a:solidFill>
                  <a:srgbClr val="CC3300"/>
                </a:solidFill>
                <a:latin typeface="微软雅黑" panose="020B0503020204020204" pitchFamily="34" charset="-122"/>
                <a:ea typeface="微软雅黑" panose="020B0503020204020204" pitchFamily="34" charset="-122"/>
              </a:rPr>
              <a:t>          z1</a:t>
            </a:r>
            <a:r>
              <a:rPr lang="zh-CN" altLang="en-US" sz="2000" dirty="0">
                <a:solidFill>
                  <a:srgbClr val="CC3300"/>
                </a:solidFill>
                <a:latin typeface="微软雅黑" panose="020B0503020204020204" pitchFamily="34" charset="-122"/>
                <a:ea typeface="微软雅黑" panose="020B0503020204020204" pitchFamily="34" charset="-122"/>
              </a:rPr>
              <a:t>的机器数为</a:t>
            </a:r>
            <a:r>
              <a:rPr lang="en-US" altLang="zh-CN" sz="2000" dirty="0">
                <a:solidFill>
                  <a:srgbClr val="CC3300"/>
                </a:solidFill>
                <a:latin typeface="微软雅黑" panose="020B0503020204020204" pitchFamily="34" charset="-122"/>
                <a:ea typeface="微软雅黑" panose="020B0503020204020204" pitchFamily="34" charset="-122"/>
              </a:rPr>
              <a:t>[x+y]</a:t>
            </a:r>
            <a:r>
              <a:rPr lang="zh-CN" altLang="en-US" sz="2000" baseline="-25000" dirty="0">
                <a:solidFill>
                  <a:srgbClr val="CC3300"/>
                </a:solidFill>
                <a:latin typeface="微软雅黑" panose="020B0503020204020204" pitchFamily="34" charset="-122"/>
                <a:ea typeface="微软雅黑" panose="020B0503020204020204" pitchFamily="34" charset="-122"/>
              </a:rPr>
              <a:t>补 </a:t>
            </a:r>
            <a:r>
              <a:rPr lang="en-US" altLang="zh-CN" sz="2000" dirty="0">
                <a:solidFill>
                  <a:srgbClr val="CC3300"/>
                </a:solidFill>
                <a:latin typeface="微软雅黑" panose="020B0503020204020204" pitchFamily="34" charset="-122"/>
                <a:ea typeface="微软雅黑" panose="020B0503020204020204" pitchFamily="34" charset="-122"/>
              </a:rPr>
              <a:t>;</a:t>
            </a:r>
            <a:endParaRPr lang="en-US" altLang="zh-CN" sz="2000" dirty="0">
              <a:solidFill>
                <a:srgbClr val="CC3300"/>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zh-CN" altLang="en-US" sz="2000" dirty="0">
                <a:solidFill>
                  <a:srgbClr val="CC3300"/>
                </a:solidFill>
                <a:latin typeface="微软雅黑" panose="020B0503020204020204" pitchFamily="34" charset="-122"/>
                <a:ea typeface="微软雅黑" panose="020B0503020204020204" pitchFamily="34" charset="-122"/>
              </a:rPr>
              <a:t>          </a:t>
            </a:r>
            <a:r>
              <a:rPr lang="en-US" altLang="zh-CN" sz="2000" dirty="0">
                <a:solidFill>
                  <a:srgbClr val="CC3300"/>
                </a:solidFill>
                <a:latin typeface="微软雅黑" panose="020B0503020204020204" pitchFamily="34" charset="-122"/>
                <a:ea typeface="微软雅黑" panose="020B0503020204020204" pitchFamily="34" charset="-122"/>
              </a:rPr>
              <a:t>z2</a:t>
            </a:r>
            <a:r>
              <a:rPr lang="zh-CN" altLang="en-US" sz="2000" dirty="0">
                <a:solidFill>
                  <a:srgbClr val="CC3300"/>
                </a:solidFill>
                <a:latin typeface="微软雅黑" panose="020B0503020204020204" pitchFamily="34" charset="-122"/>
                <a:ea typeface="微软雅黑" panose="020B0503020204020204" pitchFamily="34" charset="-122"/>
              </a:rPr>
              <a:t>的机器数为</a:t>
            </a:r>
            <a:r>
              <a:rPr lang="en-US" altLang="zh-CN" sz="2000" dirty="0">
                <a:solidFill>
                  <a:srgbClr val="CC3300"/>
                </a:solidFill>
                <a:latin typeface="微软雅黑" panose="020B0503020204020204" pitchFamily="34" charset="-122"/>
                <a:ea typeface="微软雅黑" panose="020B0503020204020204" pitchFamily="34" charset="-122"/>
              </a:rPr>
              <a:t>[x-y]</a:t>
            </a:r>
            <a:r>
              <a:rPr lang="zh-CN" altLang="en-US" sz="2000" baseline="-25000" dirty="0">
                <a:solidFill>
                  <a:srgbClr val="CC3300"/>
                </a:solidFill>
                <a:latin typeface="微软雅黑" panose="020B0503020204020204" pitchFamily="34" charset="-122"/>
                <a:ea typeface="微软雅黑" panose="020B0503020204020204" pitchFamily="34" charset="-122"/>
              </a:rPr>
              <a:t>补 </a:t>
            </a:r>
            <a:r>
              <a:rPr lang="zh-CN" altLang="en-US" sz="2000" dirty="0">
                <a:solidFill>
                  <a:srgbClr val="CC3300"/>
                </a:solidFill>
                <a:latin typeface="微软雅黑" panose="020B0503020204020204" pitchFamily="34" charset="-122"/>
                <a:ea typeface="微软雅黑" panose="020B0503020204020204" pitchFamily="34" charset="-122"/>
              </a:rPr>
              <a:t>。</a:t>
            </a:r>
            <a:endParaRPr lang="zh-CN" altLang="en-US" sz="2000" dirty="0">
              <a:solidFill>
                <a:srgbClr val="CC3300"/>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zh-CN" altLang="en-US" sz="2000" dirty="0">
                <a:solidFill>
                  <a:srgbClr val="009242"/>
                </a:solidFill>
                <a:latin typeface="微软雅黑" panose="020B0503020204020204" pitchFamily="34" charset="-122"/>
                <a:ea typeface="微软雅黑" panose="020B0503020204020204" pitchFamily="34" charset="-122"/>
              </a:rPr>
              <a:t>因此，计算机中需要有一个电路，能够实现以下功能：</a:t>
            </a:r>
            <a:endParaRPr lang="zh-CN" altLang="en-US" sz="2000" dirty="0">
              <a:solidFill>
                <a:srgbClr val="009242"/>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zh-CN" altLang="en-US" sz="2000" dirty="0">
                <a:solidFill>
                  <a:srgbClr val="CC3300"/>
                </a:solidFill>
                <a:latin typeface="微软雅黑" panose="020B0503020204020204" pitchFamily="34" charset="-122"/>
                <a:ea typeface="微软雅黑" panose="020B0503020204020204" pitchFamily="34" charset="-122"/>
              </a:rPr>
              <a:t>已知 </a:t>
            </a:r>
            <a:r>
              <a:rPr lang="en-US" altLang="zh-CN" sz="2000" dirty="0">
                <a:solidFill>
                  <a:srgbClr val="CC3300"/>
                </a:solidFill>
                <a:latin typeface="微软雅黑" panose="020B0503020204020204" pitchFamily="34" charset="-122"/>
                <a:ea typeface="微软雅黑" panose="020B0503020204020204" pitchFamily="34" charset="-122"/>
              </a:rPr>
              <a:t>[x]</a:t>
            </a:r>
            <a:r>
              <a:rPr lang="zh-CN" altLang="en-US" sz="2000" baseline="-25000" dirty="0">
                <a:solidFill>
                  <a:srgbClr val="CC3300"/>
                </a:solidFill>
                <a:latin typeface="微软雅黑" panose="020B0503020204020204" pitchFamily="34" charset="-122"/>
                <a:ea typeface="微软雅黑" panose="020B0503020204020204" pitchFamily="34" charset="-122"/>
              </a:rPr>
              <a:t>补</a:t>
            </a:r>
            <a:r>
              <a:rPr lang="zh-CN" altLang="en-US" sz="2000" dirty="0">
                <a:solidFill>
                  <a:srgbClr val="CC3300"/>
                </a:solidFill>
                <a:latin typeface="微软雅黑" panose="020B0503020204020204" pitchFamily="34" charset="-122"/>
                <a:ea typeface="微软雅黑" panose="020B0503020204020204" pitchFamily="34" charset="-122"/>
              </a:rPr>
              <a:t> 和 </a:t>
            </a:r>
            <a:r>
              <a:rPr lang="en-US" altLang="zh-CN" sz="2000" dirty="0">
                <a:solidFill>
                  <a:srgbClr val="CC3300"/>
                </a:solidFill>
                <a:latin typeface="微软雅黑" panose="020B0503020204020204" pitchFamily="34" charset="-122"/>
                <a:ea typeface="微软雅黑" panose="020B0503020204020204" pitchFamily="34" charset="-122"/>
              </a:rPr>
              <a:t>[y]</a:t>
            </a:r>
            <a:r>
              <a:rPr lang="zh-CN" altLang="en-US" sz="2000" baseline="-25000" dirty="0">
                <a:solidFill>
                  <a:srgbClr val="CC3300"/>
                </a:solidFill>
                <a:latin typeface="微软雅黑" panose="020B0503020204020204" pitchFamily="34" charset="-122"/>
                <a:ea typeface="微软雅黑" panose="020B0503020204020204" pitchFamily="34" charset="-122"/>
              </a:rPr>
              <a:t>补 </a:t>
            </a:r>
            <a:r>
              <a:rPr lang="zh-CN" altLang="en-US" sz="2000" dirty="0">
                <a:solidFill>
                  <a:srgbClr val="CC3300"/>
                </a:solidFill>
                <a:latin typeface="微软雅黑" panose="020B0503020204020204" pitchFamily="34" charset="-122"/>
                <a:ea typeface="微软雅黑" panose="020B0503020204020204" pitchFamily="34" charset="-122"/>
              </a:rPr>
              <a:t>，计算</a:t>
            </a:r>
            <a:r>
              <a:rPr lang="en-US" altLang="zh-CN" sz="2000" dirty="0">
                <a:solidFill>
                  <a:srgbClr val="CC3300"/>
                </a:solidFill>
                <a:latin typeface="微软雅黑" panose="020B0503020204020204" pitchFamily="34" charset="-122"/>
                <a:ea typeface="微软雅黑" panose="020B0503020204020204" pitchFamily="34" charset="-122"/>
              </a:rPr>
              <a:t>[x+y]</a:t>
            </a:r>
            <a:r>
              <a:rPr lang="zh-CN" altLang="en-US" sz="2000" baseline="-25000" dirty="0">
                <a:solidFill>
                  <a:srgbClr val="CC3300"/>
                </a:solidFill>
                <a:latin typeface="微软雅黑" panose="020B0503020204020204" pitchFamily="34" charset="-122"/>
                <a:ea typeface="微软雅黑" panose="020B0503020204020204" pitchFamily="34" charset="-122"/>
              </a:rPr>
              <a:t>补 </a:t>
            </a:r>
            <a:r>
              <a:rPr lang="zh-CN" altLang="en-US" sz="2000" dirty="0">
                <a:solidFill>
                  <a:srgbClr val="CC3300"/>
                </a:solidFill>
                <a:latin typeface="微软雅黑" panose="020B0503020204020204" pitchFamily="34" charset="-122"/>
                <a:ea typeface="微软雅黑" panose="020B0503020204020204" pitchFamily="34" charset="-122"/>
              </a:rPr>
              <a:t>和 </a:t>
            </a:r>
            <a:r>
              <a:rPr lang="en-US" altLang="zh-CN" sz="2000" dirty="0">
                <a:solidFill>
                  <a:srgbClr val="CC3300"/>
                </a:solidFill>
                <a:latin typeface="微软雅黑" panose="020B0503020204020204" pitchFamily="34" charset="-122"/>
                <a:ea typeface="微软雅黑" panose="020B0503020204020204" pitchFamily="34" charset="-122"/>
              </a:rPr>
              <a:t>[x-y]</a:t>
            </a:r>
            <a:r>
              <a:rPr lang="zh-CN" altLang="en-US" sz="2000" baseline="-25000" dirty="0">
                <a:solidFill>
                  <a:srgbClr val="CC3300"/>
                </a:solidFill>
                <a:latin typeface="微软雅黑" panose="020B0503020204020204" pitchFamily="34" charset="-122"/>
                <a:ea typeface="微软雅黑" panose="020B0503020204020204" pitchFamily="34" charset="-122"/>
              </a:rPr>
              <a:t>补 </a:t>
            </a:r>
            <a:r>
              <a:rPr lang="zh-CN" altLang="en-US" sz="2000" dirty="0">
                <a:solidFill>
                  <a:srgbClr val="CC3300"/>
                </a:solidFill>
                <a:latin typeface="微软雅黑" panose="020B0503020204020204" pitchFamily="34" charset="-122"/>
                <a:ea typeface="微软雅黑" panose="020B0503020204020204" pitchFamily="34" charset="-122"/>
              </a:rPr>
              <a:t>。</a:t>
            </a:r>
            <a:endParaRPr lang="zh-CN" altLang="en-US" sz="2000" dirty="0">
              <a:solidFill>
                <a:srgbClr val="CC3300"/>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zh-CN" altLang="en-US" sz="2000" dirty="0">
                <a:solidFill>
                  <a:srgbClr val="009242"/>
                </a:solidFill>
                <a:latin typeface="微软雅黑" panose="020B0503020204020204" pitchFamily="34" charset="-122"/>
                <a:ea typeface="微软雅黑" panose="020B0503020204020204" pitchFamily="34" charset="-122"/>
              </a:rPr>
              <a:t>根据补码定义，有如下公式：</a:t>
            </a:r>
            <a:endParaRPr lang="zh-CN" altLang="en-US" sz="2000" dirty="0">
              <a:solidFill>
                <a:srgbClr val="009242"/>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en-US" altLang="zh-CN" sz="2000" dirty="0">
                <a:solidFill>
                  <a:srgbClr val="3366FF"/>
                </a:solidFill>
                <a:latin typeface="微软雅黑" panose="020B0503020204020204" pitchFamily="34" charset="-122"/>
                <a:ea typeface="微软雅黑" panose="020B0503020204020204" pitchFamily="34" charset="-122"/>
              </a:rPr>
              <a:t>[x+y]</a:t>
            </a:r>
            <a:r>
              <a:rPr lang="zh-CN" altLang="en-US" sz="2000" baseline="-25000" dirty="0">
                <a:solidFill>
                  <a:srgbClr val="3366FF"/>
                </a:solidFill>
                <a:latin typeface="微软雅黑" panose="020B0503020204020204" pitchFamily="34" charset="-122"/>
                <a:ea typeface="微软雅黑" panose="020B0503020204020204" pitchFamily="34" charset="-122"/>
              </a:rPr>
              <a:t>补 </a:t>
            </a:r>
            <a:r>
              <a:rPr lang="en-US" altLang="zh-CN" sz="2000" dirty="0">
                <a:latin typeface="微软雅黑" panose="020B0503020204020204" pitchFamily="34" charset="-122"/>
                <a:ea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+x+y= 2</a:t>
            </a:r>
            <a:r>
              <a:rPr lang="en-US" altLang="zh-CN" sz="2000" baseline="30000"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+x+2</a:t>
            </a:r>
            <a:r>
              <a:rPr lang="en-US" altLang="zh-CN" sz="2000" baseline="30000"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+y= </a:t>
            </a:r>
            <a:r>
              <a:rPr lang="en-US" altLang="zh-CN" sz="2000" dirty="0">
                <a:solidFill>
                  <a:srgbClr val="3366FF"/>
                </a:solidFill>
                <a:latin typeface="微软雅黑" panose="020B0503020204020204" pitchFamily="34" charset="-122"/>
                <a:ea typeface="微软雅黑" panose="020B0503020204020204" pitchFamily="34" charset="-122"/>
              </a:rPr>
              <a:t>[x]</a:t>
            </a:r>
            <a:r>
              <a:rPr lang="zh-CN" altLang="en-US" sz="2000" baseline="-25000" dirty="0">
                <a:solidFill>
                  <a:srgbClr val="3366FF"/>
                </a:solidFill>
                <a:latin typeface="微软雅黑" panose="020B0503020204020204" pitchFamily="34" charset="-122"/>
                <a:ea typeface="微软雅黑" panose="020B0503020204020204" pitchFamily="34" charset="-122"/>
              </a:rPr>
              <a:t>补</a:t>
            </a:r>
            <a:r>
              <a:rPr lang="en-US" altLang="zh-CN" sz="2000" dirty="0">
                <a:solidFill>
                  <a:srgbClr val="3366FF"/>
                </a:solidFill>
                <a:latin typeface="微软雅黑" panose="020B0503020204020204" pitchFamily="34" charset="-122"/>
                <a:ea typeface="微软雅黑" panose="020B0503020204020204" pitchFamily="34" charset="-122"/>
              </a:rPr>
              <a:t>+[y]</a:t>
            </a:r>
            <a:r>
              <a:rPr lang="zh-CN" altLang="en-US" sz="2000" baseline="-25000" dirty="0">
                <a:solidFill>
                  <a:srgbClr val="3366FF"/>
                </a:solidFill>
                <a:latin typeface="微软雅黑" panose="020B0503020204020204" pitchFamily="34" charset="-122"/>
                <a:ea typeface="微软雅黑" panose="020B0503020204020204" pitchFamily="34" charset="-122"/>
              </a:rPr>
              <a:t>补 </a:t>
            </a:r>
            <a:r>
              <a:rPr lang="en-US" altLang="zh-CN" sz="2000" dirty="0">
                <a:solidFill>
                  <a:srgbClr val="3366FF"/>
                </a:solidFill>
                <a:latin typeface="微软雅黑" panose="020B0503020204020204" pitchFamily="34" charset="-122"/>
                <a:ea typeface="微软雅黑" panose="020B0503020204020204" pitchFamily="34" charset="-122"/>
              </a:rPr>
              <a:t>(mod 2</a:t>
            </a:r>
            <a:r>
              <a:rPr lang="en-US" altLang="zh-CN" sz="2000" baseline="30000" dirty="0">
                <a:solidFill>
                  <a:srgbClr val="3366FF"/>
                </a:solidFill>
                <a:latin typeface="微软雅黑" panose="020B0503020204020204" pitchFamily="34" charset="-122"/>
                <a:ea typeface="微软雅黑" panose="020B0503020204020204" pitchFamily="34" charset="-122"/>
              </a:rPr>
              <a:t>n </a:t>
            </a:r>
            <a:r>
              <a:rPr lang="en-US" altLang="zh-CN" sz="2000" dirty="0">
                <a:solidFill>
                  <a:srgbClr val="3366FF"/>
                </a:solidFill>
                <a:latin typeface="微软雅黑" panose="020B0503020204020204" pitchFamily="34" charset="-122"/>
                <a:ea typeface="微软雅黑" panose="020B0503020204020204" pitchFamily="34" charset="-122"/>
              </a:rPr>
              <a:t>)</a:t>
            </a:r>
            <a:endParaRPr lang="zh-CN" altLang="en-US" sz="2000" dirty="0">
              <a:solidFill>
                <a:srgbClr val="3366FF"/>
              </a:solidFill>
              <a:latin typeface="微软雅黑" panose="020B0503020204020204" pitchFamily="34" charset="-122"/>
              <a:ea typeface="微软雅黑" panose="020B0503020204020204" pitchFamily="34" charset="-122"/>
            </a:endParaRPr>
          </a:p>
          <a:p>
            <a:pPr>
              <a:lnSpc>
                <a:spcPct val="130000"/>
              </a:lnSpc>
              <a:spcBef>
                <a:spcPct val="5000"/>
              </a:spcBef>
              <a:buFontTx/>
              <a:buNone/>
            </a:pPr>
            <a:r>
              <a:rPr lang="en-US" altLang="zh-CN" sz="2000" dirty="0">
                <a:solidFill>
                  <a:srgbClr val="3366FF"/>
                </a:solidFill>
                <a:latin typeface="微软雅黑" panose="020B0503020204020204" pitchFamily="34" charset="-122"/>
                <a:ea typeface="微软雅黑" panose="020B0503020204020204" pitchFamily="34" charset="-122"/>
              </a:rPr>
              <a:t>[x-y]</a:t>
            </a:r>
            <a:r>
              <a:rPr lang="zh-CN" altLang="en-US" sz="2000" baseline="-25000" dirty="0">
                <a:solidFill>
                  <a:srgbClr val="3366FF"/>
                </a:solidFill>
                <a:latin typeface="微软雅黑" panose="020B0503020204020204" pitchFamily="34" charset="-122"/>
                <a:ea typeface="微软雅黑" panose="020B0503020204020204" pitchFamily="34" charset="-122"/>
              </a:rPr>
              <a:t>补</a:t>
            </a:r>
            <a:r>
              <a:rPr lang="en-US" altLang="zh-CN" sz="2000" dirty="0">
                <a:latin typeface="微软雅黑" panose="020B0503020204020204" pitchFamily="34" charset="-122"/>
                <a:ea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+x-y= 2</a:t>
            </a:r>
            <a:r>
              <a:rPr lang="en-US" altLang="zh-CN" sz="2000" baseline="30000"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+x+2</a:t>
            </a:r>
            <a:r>
              <a:rPr lang="en-US" altLang="zh-CN" sz="2000" baseline="30000"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-y= </a:t>
            </a:r>
            <a:r>
              <a:rPr lang="en-US" altLang="zh-CN" sz="2000" dirty="0">
                <a:solidFill>
                  <a:srgbClr val="3366FF"/>
                </a:solidFill>
                <a:latin typeface="微软雅黑" panose="020B0503020204020204" pitchFamily="34" charset="-122"/>
                <a:ea typeface="微软雅黑" panose="020B0503020204020204" pitchFamily="34" charset="-122"/>
              </a:rPr>
              <a:t>[x]</a:t>
            </a:r>
            <a:r>
              <a:rPr lang="zh-CN" altLang="en-US" sz="2000" baseline="-25000" dirty="0">
                <a:solidFill>
                  <a:srgbClr val="3366FF"/>
                </a:solidFill>
                <a:latin typeface="微软雅黑" panose="020B0503020204020204" pitchFamily="34" charset="-122"/>
                <a:ea typeface="微软雅黑" panose="020B0503020204020204" pitchFamily="34" charset="-122"/>
              </a:rPr>
              <a:t>补</a:t>
            </a:r>
            <a:r>
              <a:rPr lang="en-US" altLang="zh-CN" sz="2000" dirty="0">
                <a:solidFill>
                  <a:srgbClr val="3366FF"/>
                </a:solidFill>
                <a:latin typeface="微软雅黑" panose="020B0503020204020204" pitchFamily="34" charset="-122"/>
                <a:ea typeface="微软雅黑" panose="020B0503020204020204" pitchFamily="34" charset="-122"/>
              </a:rPr>
              <a:t>+[-y]</a:t>
            </a:r>
            <a:r>
              <a:rPr lang="zh-CN" altLang="en-US" sz="2000" baseline="-25000" dirty="0">
                <a:solidFill>
                  <a:srgbClr val="3366FF"/>
                </a:solidFill>
                <a:latin typeface="微软雅黑" panose="020B0503020204020204" pitchFamily="34" charset="-122"/>
                <a:ea typeface="微软雅黑" panose="020B0503020204020204" pitchFamily="34" charset="-122"/>
              </a:rPr>
              <a:t>补 </a:t>
            </a:r>
            <a:r>
              <a:rPr lang="en-US" altLang="zh-CN" sz="2000" dirty="0">
                <a:solidFill>
                  <a:srgbClr val="3366FF"/>
                </a:solidFill>
                <a:latin typeface="微软雅黑" panose="020B0503020204020204" pitchFamily="34" charset="-122"/>
                <a:ea typeface="微软雅黑" panose="020B0503020204020204" pitchFamily="34" charset="-122"/>
              </a:rPr>
              <a:t>(mod 2</a:t>
            </a:r>
            <a:r>
              <a:rPr lang="en-US" altLang="zh-CN" sz="2000" baseline="30000" dirty="0">
                <a:solidFill>
                  <a:srgbClr val="3366FF"/>
                </a:solidFill>
                <a:latin typeface="微软雅黑" panose="020B0503020204020204" pitchFamily="34" charset="-122"/>
                <a:ea typeface="微软雅黑" panose="020B0503020204020204" pitchFamily="34" charset="-122"/>
              </a:rPr>
              <a:t>n </a:t>
            </a:r>
            <a:r>
              <a:rPr lang="en-US" altLang="zh-CN" sz="2000" dirty="0">
                <a:solidFill>
                  <a:srgbClr val="3366FF"/>
                </a:solidFill>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400484" name="Text Box 100"/>
          <p:cNvSpPr txBox="1"/>
          <p:nvPr/>
        </p:nvSpPr>
        <p:spPr>
          <a:xfrm>
            <a:off x="4262438" y="1117600"/>
            <a:ext cx="4664075" cy="814388"/>
          </a:xfrm>
          <a:prstGeom prst="rect">
            <a:avLst/>
          </a:prstGeom>
          <a:solidFill>
            <a:srgbClr val="CC99FF">
              <a:alpha val="34117"/>
            </a:srgbClr>
          </a:solidFill>
          <a:ln w="12700">
            <a:noFill/>
          </a:ln>
        </p:spPr>
        <p:txBody>
          <a:bodyPr lIns="0" rIns="0" anchor="t" anchorCtr="0">
            <a:spAutoFit/>
          </a:bodyPr>
          <a:p>
            <a:pPr eaLnBrk="0" hangingPunct="0">
              <a:spcBef>
                <a:spcPct val="50000"/>
              </a:spcBef>
              <a:buClrTx/>
              <a:buFontTx/>
            </a:pPr>
            <a:r>
              <a:rPr lang="zh-CN" altLang="en-US" sz="2100" dirty="0">
                <a:latin typeface="微软雅黑" panose="020B0503020204020204" pitchFamily="34" charset="-122"/>
                <a:ea typeface="微软雅黑" panose="020B0503020204020204" pitchFamily="34" charset="-122"/>
              </a:rPr>
              <a:t>补码的定义    假定补码有</a:t>
            </a:r>
            <a:r>
              <a:rPr lang="en-US" altLang="zh-CN" sz="2100" dirty="0">
                <a:latin typeface="微软雅黑" panose="020B0503020204020204" pitchFamily="34" charset="-122"/>
                <a:ea typeface="微软雅黑" panose="020B0503020204020204" pitchFamily="34" charset="-122"/>
              </a:rPr>
              <a:t>n</a:t>
            </a:r>
            <a:r>
              <a:rPr lang="zh-CN" altLang="en-US" sz="2100" dirty="0">
                <a:latin typeface="微软雅黑" panose="020B0503020204020204" pitchFamily="34" charset="-122"/>
                <a:ea typeface="微软雅黑" panose="020B0503020204020204" pitchFamily="34" charset="-122"/>
              </a:rPr>
              <a:t>位，则：</a:t>
            </a:r>
            <a:endParaRPr lang="zh-CN" altLang="en-US" sz="2100" dirty="0">
              <a:latin typeface="微软雅黑" panose="020B0503020204020204" pitchFamily="34" charset="-122"/>
              <a:ea typeface="微软雅黑" panose="020B0503020204020204" pitchFamily="34" charset="-122"/>
            </a:endParaRPr>
          </a:p>
          <a:p>
            <a:pPr eaLnBrk="0" hangingPunct="0">
              <a:spcBef>
                <a:spcPct val="25000"/>
              </a:spcBef>
              <a:buClrTx/>
              <a:buFontTx/>
            </a:pPr>
            <a:r>
              <a:rPr lang="en-US" altLang="zh-CN" sz="2100" dirty="0">
                <a:solidFill>
                  <a:srgbClr val="CC0000"/>
                </a:solidFill>
                <a:latin typeface="微软雅黑" panose="020B0503020204020204" pitchFamily="34" charset="-122"/>
                <a:ea typeface="微软雅黑" panose="020B0503020204020204" pitchFamily="34" charset="-122"/>
              </a:rPr>
              <a:t>[X]</a:t>
            </a:r>
            <a:r>
              <a:rPr lang="zh-CN" altLang="en-US" sz="2100" baseline="-25000" dirty="0">
                <a:solidFill>
                  <a:srgbClr val="CC0000"/>
                </a:solidFill>
                <a:latin typeface="微软雅黑" panose="020B0503020204020204" pitchFamily="34" charset="-122"/>
                <a:ea typeface="微软雅黑" panose="020B0503020204020204" pitchFamily="34" charset="-122"/>
              </a:rPr>
              <a:t>补</a:t>
            </a:r>
            <a:r>
              <a:rPr lang="en-US" altLang="zh-CN" sz="2100" dirty="0">
                <a:solidFill>
                  <a:srgbClr val="CC0000"/>
                </a:solidFill>
                <a:latin typeface="微软雅黑" panose="020B0503020204020204" pitchFamily="34" charset="-122"/>
                <a:ea typeface="微软雅黑" panose="020B0503020204020204" pitchFamily="34" charset="-122"/>
              </a:rPr>
              <a:t>=2</a:t>
            </a:r>
            <a:r>
              <a:rPr lang="en-US" altLang="zh-CN" sz="2100" baseline="30000" dirty="0">
                <a:solidFill>
                  <a:srgbClr val="CC0000"/>
                </a:solidFill>
                <a:latin typeface="微软雅黑" panose="020B0503020204020204" pitchFamily="34" charset="-122"/>
                <a:ea typeface="微软雅黑" panose="020B0503020204020204" pitchFamily="34" charset="-122"/>
              </a:rPr>
              <a:t>n </a:t>
            </a:r>
            <a:r>
              <a:rPr lang="en-US" altLang="zh-CN" sz="2100" dirty="0">
                <a:solidFill>
                  <a:srgbClr val="CC0000"/>
                </a:solidFill>
                <a:latin typeface="微软雅黑" panose="020B0503020204020204" pitchFamily="34" charset="-122"/>
                <a:ea typeface="微软雅黑" panose="020B0503020204020204" pitchFamily="34" charset="-122"/>
              </a:rPr>
              <a:t>+X  </a:t>
            </a:r>
            <a:r>
              <a:rPr lang="zh-CN" altLang="en-US" sz="2100" dirty="0">
                <a:solidFill>
                  <a:srgbClr val="CC0000"/>
                </a:solidFill>
                <a:latin typeface="微软雅黑" panose="020B0503020204020204" pitchFamily="34" charset="-122"/>
                <a:ea typeface="微软雅黑" panose="020B0503020204020204" pitchFamily="34" charset="-122"/>
              </a:rPr>
              <a:t>（</a:t>
            </a:r>
            <a:r>
              <a:rPr lang="en-US" altLang="zh-CN" sz="2100" dirty="0">
                <a:solidFill>
                  <a:srgbClr val="CC0000"/>
                </a:solidFill>
                <a:latin typeface="微软雅黑" panose="020B0503020204020204" pitchFamily="34" charset="-122"/>
                <a:ea typeface="微软雅黑" panose="020B0503020204020204" pitchFamily="34" charset="-122"/>
              </a:rPr>
              <a:t>-2</a:t>
            </a:r>
            <a:r>
              <a:rPr lang="en-US" altLang="zh-CN" sz="2100" baseline="30000" dirty="0">
                <a:solidFill>
                  <a:srgbClr val="CC0000"/>
                </a:solidFill>
                <a:latin typeface="微软雅黑" panose="020B0503020204020204" pitchFamily="34" charset="-122"/>
                <a:ea typeface="微软雅黑" panose="020B0503020204020204" pitchFamily="34" charset="-122"/>
              </a:rPr>
              <a:t>n</a:t>
            </a:r>
            <a:r>
              <a:rPr lang="en-US" altLang="zh-CN" sz="2100" dirty="0">
                <a:solidFill>
                  <a:srgbClr val="CC0000"/>
                </a:solidFill>
                <a:latin typeface="微软雅黑" panose="020B0503020204020204" pitchFamily="34" charset="-122"/>
                <a:ea typeface="微软雅黑" panose="020B0503020204020204" pitchFamily="34" charset="-122"/>
              </a:rPr>
              <a:t>≤X</a:t>
            </a:r>
            <a:r>
              <a:rPr lang="zh-CN" altLang="en-US" sz="2100" dirty="0">
                <a:solidFill>
                  <a:srgbClr val="CC0000"/>
                </a:solidFill>
                <a:latin typeface="微软雅黑" panose="020B0503020204020204" pitchFamily="34" charset="-122"/>
                <a:ea typeface="微软雅黑" panose="020B0503020204020204" pitchFamily="34" charset="-122"/>
              </a:rPr>
              <a:t>＜</a:t>
            </a:r>
            <a:r>
              <a:rPr lang="en-US" altLang="zh-CN" sz="2100" dirty="0">
                <a:solidFill>
                  <a:srgbClr val="CC0000"/>
                </a:solidFill>
                <a:latin typeface="微软雅黑" panose="020B0503020204020204" pitchFamily="34" charset="-122"/>
                <a:ea typeface="微软雅黑" panose="020B0503020204020204" pitchFamily="34" charset="-122"/>
              </a:rPr>
              <a:t>2</a:t>
            </a:r>
            <a:r>
              <a:rPr lang="en-US" altLang="zh-CN" sz="2100" baseline="30000" dirty="0">
                <a:solidFill>
                  <a:srgbClr val="CC0000"/>
                </a:solidFill>
                <a:latin typeface="微软雅黑" panose="020B0503020204020204" pitchFamily="34" charset="-122"/>
                <a:ea typeface="微软雅黑" panose="020B0503020204020204" pitchFamily="34" charset="-122"/>
              </a:rPr>
              <a:t>n</a:t>
            </a:r>
            <a:r>
              <a:rPr lang="en-US" altLang="zh-CN" sz="2100" dirty="0">
                <a:solidFill>
                  <a:srgbClr val="CC0000"/>
                </a:solidFill>
                <a:latin typeface="微软雅黑" panose="020B0503020204020204" pitchFamily="34" charset="-122"/>
                <a:ea typeface="微软雅黑" panose="020B0503020204020204" pitchFamily="34" charset="-122"/>
              </a:rPr>
              <a:t> ,mod 2</a:t>
            </a:r>
            <a:r>
              <a:rPr lang="en-US" altLang="zh-CN" sz="2100" baseline="30000" dirty="0">
                <a:solidFill>
                  <a:srgbClr val="CC0000"/>
                </a:solidFill>
                <a:latin typeface="微软雅黑" panose="020B0503020204020204" pitchFamily="34" charset="-122"/>
                <a:ea typeface="微软雅黑" panose="020B0503020204020204" pitchFamily="34" charset="-122"/>
              </a:rPr>
              <a:t>n</a:t>
            </a:r>
            <a:r>
              <a:rPr lang="zh-CN" altLang="en-US" sz="2100" dirty="0">
                <a:solidFill>
                  <a:srgbClr val="CC0000"/>
                </a:solidFill>
                <a:latin typeface="微软雅黑" panose="020B0503020204020204" pitchFamily="34" charset="-122"/>
                <a:ea typeface="微软雅黑" panose="020B0503020204020204" pitchFamily="34" charset="-122"/>
              </a:rPr>
              <a:t>）</a:t>
            </a:r>
            <a:endParaRPr lang="zh-CN" altLang="en-US" sz="2100" dirty="0">
              <a:solidFill>
                <a:srgbClr val="CC0000"/>
              </a:solidFill>
              <a:latin typeface="微软雅黑" panose="020B0503020204020204" pitchFamily="34" charset="-122"/>
              <a:ea typeface="微软雅黑" panose="020B0503020204020204" pitchFamily="34" charset="-122"/>
            </a:endParaRPr>
          </a:p>
        </p:txBody>
      </p:sp>
      <p:grpSp>
        <p:nvGrpSpPr>
          <p:cNvPr id="693253" name="Group 5"/>
          <p:cNvGrpSpPr/>
          <p:nvPr/>
        </p:nvGrpSpPr>
        <p:grpSpPr>
          <a:xfrm>
            <a:off x="6369050" y="5105400"/>
            <a:ext cx="2378075" cy="427038"/>
            <a:chOff x="3667" y="1087"/>
            <a:chExt cx="1498" cy="269"/>
          </a:xfrm>
        </p:grpSpPr>
        <p:sp>
          <p:nvSpPr>
            <p:cNvPr id="38917" name="Rectangle 6"/>
            <p:cNvSpPr/>
            <p:nvPr/>
          </p:nvSpPr>
          <p:spPr>
            <a:xfrm>
              <a:off x="3667" y="1087"/>
              <a:ext cx="1498" cy="269"/>
            </a:xfrm>
            <a:prstGeom prst="rect">
              <a:avLst/>
            </a:prstGeom>
            <a:noFill/>
            <a:ln w="12700">
              <a:noFill/>
            </a:ln>
          </p:spPr>
          <p:txBody>
            <a:bodyPr anchor="t" anchorCtr="0">
              <a:spAutoFit/>
            </a:bodyPr>
            <a:p>
              <a:pPr eaLnBrk="0" hangingPunct="0">
                <a:buClrTx/>
                <a:buFontTx/>
              </a:pPr>
              <a:r>
                <a:rPr lang="en-US" altLang="zh-CN" sz="2200" dirty="0">
                  <a:solidFill>
                    <a:srgbClr val="3333FF"/>
                  </a:solidFill>
                  <a:latin typeface="微软雅黑" panose="020B0503020204020204" pitchFamily="34" charset="-122"/>
                  <a:ea typeface="微软雅黑" panose="020B0503020204020204" pitchFamily="34" charset="-122"/>
                </a:rPr>
                <a:t>[</a:t>
              </a:r>
              <a:r>
                <a:rPr lang="pt-BR" altLang="zh-CN" sz="2200" dirty="0">
                  <a:solidFill>
                    <a:srgbClr val="3333FF"/>
                  </a:solidFill>
                  <a:latin typeface="微软雅黑" panose="020B0503020204020204" pitchFamily="34" charset="-122"/>
                  <a:ea typeface="微软雅黑" panose="020B0503020204020204" pitchFamily="34" charset="-122"/>
                </a:rPr>
                <a:t>–</a:t>
              </a:r>
              <a:r>
                <a:rPr lang="en-US" altLang="zh-CN" sz="2200" dirty="0">
                  <a:solidFill>
                    <a:srgbClr val="3333FF"/>
                  </a:solidFill>
                  <a:latin typeface="微软雅黑" panose="020B0503020204020204" pitchFamily="34" charset="-122"/>
                  <a:ea typeface="微软雅黑" panose="020B0503020204020204" pitchFamily="34" charset="-122"/>
                </a:rPr>
                <a:t>y]</a:t>
              </a:r>
              <a:r>
                <a:rPr lang="zh-CN" altLang="en-US" sz="2200" baseline="-25000" dirty="0">
                  <a:solidFill>
                    <a:srgbClr val="3333FF"/>
                  </a:solidFill>
                  <a:latin typeface="微软雅黑" panose="020B0503020204020204" pitchFamily="34" charset="-122"/>
                  <a:ea typeface="微软雅黑" panose="020B0503020204020204" pitchFamily="34" charset="-122"/>
                </a:rPr>
                <a:t>补</a:t>
              </a:r>
              <a:r>
                <a:rPr lang="en-US" altLang="zh-CN" sz="2200" dirty="0">
                  <a:solidFill>
                    <a:srgbClr val="3333FF"/>
                  </a:solidFill>
                  <a:latin typeface="微软雅黑" panose="020B0503020204020204" pitchFamily="34" charset="-122"/>
                  <a:ea typeface="微软雅黑" panose="020B0503020204020204" pitchFamily="34" charset="-122"/>
                </a:rPr>
                <a:t>=[y]</a:t>
              </a:r>
              <a:r>
                <a:rPr lang="zh-CN" altLang="en-US" sz="2200" baseline="-25000" dirty="0">
                  <a:solidFill>
                    <a:srgbClr val="3333FF"/>
                  </a:solidFill>
                  <a:latin typeface="微软雅黑" panose="020B0503020204020204" pitchFamily="34" charset="-122"/>
                  <a:ea typeface="微软雅黑" panose="020B0503020204020204" pitchFamily="34" charset="-122"/>
                </a:rPr>
                <a:t>补</a:t>
              </a:r>
              <a:r>
                <a:rPr lang="en-US" altLang="zh-CN" sz="2200" dirty="0">
                  <a:solidFill>
                    <a:srgbClr val="3333FF"/>
                  </a:solidFill>
                  <a:latin typeface="微软雅黑" panose="020B0503020204020204" pitchFamily="34" charset="-122"/>
                  <a:ea typeface="微软雅黑" panose="020B0503020204020204" pitchFamily="34" charset="-122"/>
                </a:rPr>
                <a:t>+1</a:t>
              </a:r>
              <a:endParaRPr lang="en-US" altLang="zh-CN" sz="2200" dirty="0">
                <a:solidFill>
                  <a:srgbClr val="3333FF"/>
                </a:solidFill>
                <a:latin typeface="微软雅黑" panose="020B0503020204020204" pitchFamily="34" charset="-122"/>
                <a:ea typeface="微软雅黑" panose="020B0503020204020204" pitchFamily="34" charset="-122"/>
              </a:endParaRPr>
            </a:p>
          </p:txBody>
        </p:sp>
        <p:sp>
          <p:nvSpPr>
            <p:cNvPr id="38918" name="Line 7"/>
            <p:cNvSpPr/>
            <p:nvPr/>
          </p:nvSpPr>
          <p:spPr>
            <a:xfrm>
              <a:off x="4363" y="1103"/>
              <a:ext cx="177" cy="1"/>
            </a:xfrm>
            <a:prstGeom prst="line">
              <a:avLst/>
            </a:prstGeom>
            <a:ln w="19050" cap="flat" cmpd="sng">
              <a:solidFill>
                <a:srgbClr val="3333FF"/>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3251">
                                            <p:txEl>
                                              <p:charRg st="0" end="10"/>
                                            </p:txEl>
                                          </p:spTgt>
                                        </p:tgtEl>
                                        <p:attrNameLst>
                                          <p:attrName>style.visibility</p:attrName>
                                        </p:attrNameLst>
                                      </p:cBhvr>
                                      <p:to>
                                        <p:strVal val="visible"/>
                                      </p:to>
                                    </p:set>
                                    <p:animEffect transition="in" filter="blinds(horizontal)">
                                      <p:cBhvr>
                                        <p:cTn id="7" dur="500"/>
                                        <p:tgtEl>
                                          <p:spTgt spid="693251">
                                            <p:txEl>
                                              <p:charRg st="0" end="1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93251">
                                            <p:txEl>
                                              <p:charRg st="10" end="38"/>
                                            </p:txEl>
                                          </p:spTgt>
                                        </p:tgtEl>
                                        <p:attrNameLst>
                                          <p:attrName>style.visibility</p:attrName>
                                        </p:attrNameLst>
                                      </p:cBhvr>
                                      <p:to>
                                        <p:strVal val="visible"/>
                                      </p:to>
                                    </p:set>
                                    <p:animEffect transition="in" filter="blinds(horizontal)">
                                      <p:cBhvr>
                                        <p:cTn id="10" dur="500"/>
                                        <p:tgtEl>
                                          <p:spTgt spid="693251">
                                            <p:txEl>
                                              <p:charRg st="10" end="3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93251">
                                            <p:txEl>
                                              <p:charRg st="38" end="51"/>
                                            </p:txEl>
                                          </p:spTgt>
                                        </p:tgtEl>
                                        <p:attrNameLst>
                                          <p:attrName>style.visibility</p:attrName>
                                        </p:attrNameLst>
                                      </p:cBhvr>
                                      <p:to>
                                        <p:strVal val="visible"/>
                                      </p:to>
                                    </p:set>
                                    <p:animEffect transition="in" filter="blinds(horizontal)">
                                      <p:cBhvr>
                                        <p:cTn id="13" dur="500"/>
                                        <p:tgtEl>
                                          <p:spTgt spid="693251">
                                            <p:txEl>
                                              <p:charRg st="38" end="5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93251">
                                            <p:txEl>
                                              <p:charRg st="51" end="65"/>
                                            </p:txEl>
                                          </p:spTgt>
                                        </p:tgtEl>
                                        <p:attrNameLst>
                                          <p:attrName>style.visibility</p:attrName>
                                        </p:attrNameLst>
                                      </p:cBhvr>
                                      <p:to>
                                        <p:strVal val="visible"/>
                                      </p:to>
                                    </p:set>
                                    <p:animEffect transition="in" filter="blinds(horizontal)">
                                      <p:cBhvr>
                                        <p:cTn id="16" dur="500"/>
                                        <p:tgtEl>
                                          <p:spTgt spid="693251">
                                            <p:txEl>
                                              <p:charRg st="51" end="6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93251">
                                            <p:txEl>
                                              <p:charRg st="65" end="99"/>
                                            </p:txEl>
                                          </p:spTgt>
                                        </p:tgtEl>
                                        <p:attrNameLst>
                                          <p:attrName>style.visibility</p:attrName>
                                        </p:attrNameLst>
                                      </p:cBhvr>
                                      <p:to>
                                        <p:strVal val="visible"/>
                                      </p:to>
                                    </p:set>
                                    <p:animEffect transition="in" filter="blinds(horizontal)">
                                      <p:cBhvr>
                                        <p:cTn id="21" dur="500"/>
                                        <p:tgtEl>
                                          <p:spTgt spid="693251">
                                            <p:txEl>
                                              <p:charRg st="65" end="99"/>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93251">
                                            <p:txEl>
                                              <p:charRg st="99" end="113"/>
                                            </p:txEl>
                                          </p:spTgt>
                                        </p:tgtEl>
                                        <p:attrNameLst>
                                          <p:attrName>style.visibility</p:attrName>
                                        </p:attrNameLst>
                                      </p:cBhvr>
                                      <p:to>
                                        <p:strVal val="visible"/>
                                      </p:to>
                                    </p:set>
                                    <p:animEffect transition="in" filter="blinds(horizontal)">
                                      <p:cBhvr>
                                        <p:cTn id="24" dur="500"/>
                                        <p:tgtEl>
                                          <p:spTgt spid="693251">
                                            <p:txEl>
                                              <p:charRg st="99" end="11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93251">
                                            <p:txEl>
                                              <p:charRg st="113" end="141"/>
                                            </p:txEl>
                                          </p:spTgt>
                                        </p:tgtEl>
                                        <p:attrNameLst>
                                          <p:attrName>style.visibility</p:attrName>
                                        </p:attrNameLst>
                                      </p:cBhvr>
                                      <p:to>
                                        <p:strVal val="visible"/>
                                      </p:to>
                                    </p:set>
                                    <p:animEffect transition="in" filter="blinds(horizontal)">
                                      <p:cBhvr>
                                        <p:cTn id="29" dur="500"/>
                                        <p:tgtEl>
                                          <p:spTgt spid="693251">
                                            <p:txEl>
                                              <p:charRg st="113" end="141"/>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693251">
                                            <p:txEl>
                                              <p:charRg st="141" end="167"/>
                                            </p:txEl>
                                          </p:spTgt>
                                        </p:tgtEl>
                                        <p:attrNameLst>
                                          <p:attrName>style.visibility</p:attrName>
                                        </p:attrNameLst>
                                      </p:cBhvr>
                                      <p:to>
                                        <p:strVal val="visible"/>
                                      </p:to>
                                    </p:set>
                                    <p:animEffect transition="in" filter="blinds(horizontal)">
                                      <p:cBhvr>
                                        <p:cTn id="32" dur="500"/>
                                        <p:tgtEl>
                                          <p:spTgt spid="693251">
                                            <p:txEl>
                                              <p:charRg st="141" end="16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693251">
                                            <p:txEl>
                                              <p:charRg st="167" end="193"/>
                                            </p:txEl>
                                          </p:spTgt>
                                        </p:tgtEl>
                                        <p:attrNameLst>
                                          <p:attrName>style.visibility</p:attrName>
                                        </p:attrNameLst>
                                      </p:cBhvr>
                                      <p:to>
                                        <p:strVal val="visible"/>
                                      </p:to>
                                    </p:set>
                                    <p:animEffect transition="in" filter="blinds(horizontal)">
                                      <p:cBhvr>
                                        <p:cTn id="35" dur="500"/>
                                        <p:tgtEl>
                                          <p:spTgt spid="693251">
                                            <p:txEl>
                                              <p:charRg st="167" end="19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693251">
                                            <p:txEl>
                                              <p:charRg st="193" end="218"/>
                                            </p:txEl>
                                          </p:spTgt>
                                        </p:tgtEl>
                                        <p:attrNameLst>
                                          <p:attrName>style.visibility</p:attrName>
                                        </p:attrNameLst>
                                      </p:cBhvr>
                                      <p:to>
                                        <p:strVal val="visible"/>
                                      </p:to>
                                    </p:set>
                                    <p:animEffect transition="in" filter="blinds(horizontal)">
                                      <p:cBhvr>
                                        <p:cTn id="40" dur="500"/>
                                        <p:tgtEl>
                                          <p:spTgt spid="693251">
                                            <p:txEl>
                                              <p:charRg st="193" end="21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693251">
                                            <p:txEl>
                                              <p:charRg st="218" end="254"/>
                                            </p:txEl>
                                          </p:spTgt>
                                        </p:tgtEl>
                                        <p:attrNameLst>
                                          <p:attrName>style.visibility</p:attrName>
                                        </p:attrNameLst>
                                      </p:cBhvr>
                                      <p:to>
                                        <p:strVal val="visible"/>
                                      </p:to>
                                    </p:set>
                                    <p:animEffect transition="in" filter="blinds(horizontal)">
                                      <p:cBhvr>
                                        <p:cTn id="45" dur="500"/>
                                        <p:tgtEl>
                                          <p:spTgt spid="693251">
                                            <p:txEl>
                                              <p:charRg st="218" end="25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693251">
                                            <p:txEl>
                                              <p:charRg st="254" end="268"/>
                                            </p:txEl>
                                          </p:spTgt>
                                        </p:tgtEl>
                                        <p:attrNameLst>
                                          <p:attrName>style.visibility</p:attrName>
                                        </p:attrNameLst>
                                      </p:cBhvr>
                                      <p:to>
                                        <p:strVal val="visible"/>
                                      </p:to>
                                    </p:set>
                                    <p:animEffect transition="in" filter="blinds(horizontal)">
                                      <p:cBhvr>
                                        <p:cTn id="50" dur="500"/>
                                        <p:tgtEl>
                                          <p:spTgt spid="693251">
                                            <p:txEl>
                                              <p:charRg st="254" end="26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00484"/>
                                        </p:tgtEl>
                                        <p:attrNameLst>
                                          <p:attrName>style.visibility</p:attrName>
                                        </p:attrNameLst>
                                      </p:cBhvr>
                                      <p:to>
                                        <p:strVal val="visible"/>
                                      </p:to>
                                    </p:set>
                                    <p:animEffect transition="in" filter="blinds(horizontal)">
                                      <p:cBhvr>
                                        <p:cTn id="55" dur="500"/>
                                        <p:tgtEl>
                                          <p:spTgt spid="400484"/>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693251">
                                            <p:txEl>
                                              <p:charRg st="268" end="315"/>
                                            </p:txEl>
                                          </p:spTgt>
                                        </p:tgtEl>
                                        <p:attrNameLst>
                                          <p:attrName>style.visibility</p:attrName>
                                        </p:attrNameLst>
                                      </p:cBhvr>
                                      <p:to>
                                        <p:strVal val="visible"/>
                                      </p:to>
                                    </p:set>
                                    <p:animEffect transition="in" filter="blinds(horizontal)">
                                      <p:cBhvr>
                                        <p:cTn id="60" dur="500"/>
                                        <p:tgtEl>
                                          <p:spTgt spid="693251">
                                            <p:txEl>
                                              <p:charRg st="268" end="31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693251">
                                            <p:txEl>
                                              <p:charRg st="315" end="362"/>
                                            </p:txEl>
                                          </p:spTgt>
                                        </p:tgtEl>
                                        <p:attrNameLst>
                                          <p:attrName>style.visibility</p:attrName>
                                        </p:attrNameLst>
                                      </p:cBhvr>
                                      <p:to>
                                        <p:strVal val="visible"/>
                                      </p:to>
                                    </p:set>
                                    <p:animEffect transition="in" filter="blinds(horizontal)">
                                      <p:cBhvr>
                                        <p:cTn id="65" dur="500"/>
                                        <p:tgtEl>
                                          <p:spTgt spid="693251">
                                            <p:txEl>
                                              <p:charRg st="315" end="36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693253"/>
                                        </p:tgtEl>
                                        <p:attrNameLst>
                                          <p:attrName>style.visibility</p:attrName>
                                        </p:attrNameLst>
                                      </p:cBhvr>
                                      <p:to>
                                        <p:strVal val="visible"/>
                                      </p:to>
                                    </p:set>
                                    <p:animEffect transition="in" filter="blinds(horizontal)">
                                      <p:cBhvr>
                                        <p:cTn id="70" dur="500"/>
                                        <p:tgtEl>
                                          <p:spTgt spid="69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8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idx="4294967295"/>
          </p:nvPr>
        </p:nvSpPr>
        <p:spPr>
          <a:xfrm>
            <a:off x="1036638" y="155575"/>
            <a:ext cx="7335837" cy="600075"/>
          </a:xfrm>
          <a:ln/>
        </p:spPr>
        <p:txBody>
          <a:bodyPr vert="horz" wrap="square" lIns="63500" tIns="25400" rIns="63500" bIns="25400" anchor="t" anchorCtr="0">
            <a:spAutoFit/>
          </a:bodyPr>
          <a:p>
            <a:r>
              <a:rPr lang="en-US" altLang="zh-CN" dirty="0">
                <a:ea typeface="宋体" panose="02010600030101010101" pitchFamily="2" charset="-122"/>
              </a:rPr>
              <a:t>n</a:t>
            </a:r>
            <a:r>
              <a:rPr lang="zh-CN" altLang="en-US" dirty="0">
                <a:ea typeface="宋体" panose="02010600030101010101" pitchFamily="2" charset="-122"/>
              </a:rPr>
              <a:t>位整数加</a:t>
            </a:r>
            <a:r>
              <a:rPr lang="en-US" altLang="zh-CN" dirty="0">
                <a:ea typeface="宋体" panose="02010600030101010101" pitchFamily="2" charset="-122"/>
              </a:rPr>
              <a:t>/</a:t>
            </a:r>
            <a:r>
              <a:rPr lang="zh-CN" altLang="en-US" dirty="0">
                <a:ea typeface="宋体" panose="02010600030101010101" pitchFamily="2" charset="-122"/>
              </a:rPr>
              <a:t>减运算器</a:t>
            </a:r>
            <a:endParaRPr lang="zh-CN" altLang="en-US" dirty="0">
              <a:ea typeface="宋体" panose="02010600030101010101" pitchFamily="2" charset="-122"/>
            </a:endParaRPr>
          </a:p>
        </p:txBody>
      </p:sp>
      <p:sp>
        <p:nvSpPr>
          <p:cNvPr id="694275" name="Rectangle 3"/>
          <p:cNvSpPr/>
          <p:nvPr/>
        </p:nvSpPr>
        <p:spPr>
          <a:xfrm>
            <a:off x="190500" y="2751138"/>
            <a:ext cx="4962525" cy="2576512"/>
          </a:xfrm>
          <a:prstGeom prst="rect">
            <a:avLst/>
          </a:prstGeom>
          <a:noFill/>
          <a:ln w="9525">
            <a:noFill/>
          </a:ln>
        </p:spPr>
        <p:txBody>
          <a:bodyPr anchor="t" anchorCtr="0"/>
          <a:p>
            <a:pPr marL="342900" indent="-342900" eaLnBrk="0" hangingPunct="0">
              <a:lnSpc>
                <a:spcPct val="120000"/>
              </a:lnSpc>
              <a:spcBef>
                <a:spcPct val="25000"/>
              </a:spcBef>
              <a:buClrTx/>
              <a:buFontTx/>
              <a:buChar char="•"/>
            </a:pPr>
            <a:r>
              <a:rPr lang="zh-CN" altLang="en-US" sz="2000" dirty="0">
                <a:latin typeface="微软雅黑" panose="020B0503020204020204" pitchFamily="34" charset="-122"/>
                <a:ea typeface="微软雅黑" panose="020B0503020204020204" pitchFamily="34" charset="-122"/>
              </a:rPr>
              <a:t>利用带标志加法器，可构造整数加</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减运算器，进行以下运算：</a:t>
            </a:r>
            <a:endParaRPr lang="zh-CN" altLang="en-US" sz="2000" dirty="0">
              <a:latin typeface="微软雅黑" panose="020B0503020204020204" pitchFamily="34" charset="-122"/>
              <a:ea typeface="微软雅黑" panose="020B0503020204020204" pitchFamily="34" charset="-122"/>
            </a:endParaRPr>
          </a:p>
          <a:p>
            <a:pPr marL="742950" lvl="1" indent="-285750" algn="l" rtl="0" eaLnBrk="0" fontAlgn="base" hangingPunct="0">
              <a:lnSpc>
                <a:spcPct val="120000"/>
              </a:lnSpc>
              <a:spcBef>
                <a:spcPct val="25000"/>
              </a:spcBef>
              <a:spcAft>
                <a:spcPct val="0"/>
              </a:spcAft>
              <a:buNone/>
            </a:pPr>
            <a:r>
              <a:rPr lang="zh-CN" altLang="en-US" sz="2000" dirty="0">
                <a:solidFill>
                  <a:srgbClr val="0000CC"/>
                </a:solidFill>
                <a:latin typeface="微软雅黑" panose="020B0503020204020204" pitchFamily="34" charset="-122"/>
                <a:ea typeface="微软雅黑" panose="020B0503020204020204" pitchFamily="34" charset="-122"/>
              </a:rPr>
              <a:t>无符号整数加、无符号整数减</a:t>
            </a:r>
            <a:endParaRPr lang="zh-CN" altLang="en-US" sz="2000" dirty="0">
              <a:solidFill>
                <a:srgbClr val="0000CC"/>
              </a:solidFill>
              <a:latin typeface="微软雅黑" panose="020B0503020204020204" pitchFamily="34" charset="-122"/>
              <a:ea typeface="微软雅黑" panose="020B0503020204020204" pitchFamily="34" charset="-122"/>
            </a:endParaRPr>
          </a:p>
          <a:p>
            <a:pPr marL="742950" lvl="1" indent="-285750" algn="l" rtl="0" eaLnBrk="0" fontAlgn="base" hangingPunct="0">
              <a:lnSpc>
                <a:spcPct val="120000"/>
              </a:lnSpc>
              <a:spcBef>
                <a:spcPct val="25000"/>
              </a:spcBef>
              <a:spcAft>
                <a:spcPct val="0"/>
              </a:spcAft>
              <a:buNone/>
            </a:pPr>
            <a:r>
              <a:rPr lang="zh-CN" altLang="en-US" sz="2000" dirty="0">
                <a:solidFill>
                  <a:srgbClr val="0000CC"/>
                </a:solidFill>
                <a:latin typeface="微软雅黑" panose="020B0503020204020204" pitchFamily="34" charset="-122"/>
                <a:ea typeface="微软雅黑" panose="020B0503020204020204" pitchFamily="34" charset="-122"/>
              </a:rPr>
              <a:t>带符号整数加、带符号整数减</a:t>
            </a:r>
            <a:endParaRPr lang="zh-CN" altLang="en-US" sz="2000" dirty="0">
              <a:solidFill>
                <a:srgbClr val="0000CC"/>
              </a:solidFill>
              <a:latin typeface="微软雅黑" panose="020B0503020204020204" pitchFamily="34" charset="-122"/>
              <a:ea typeface="微软雅黑" panose="020B0503020204020204" pitchFamily="34" charset="-122"/>
            </a:endParaRPr>
          </a:p>
        </p:txBody>
      </p:sp>
      <p:sp>
        <p:nvSpPr>
          <p:cNvPr id="419910" name="Rectangle 70"/>
          <p:cNvSpPr/>
          <p:nvPr/>
        </p:nvSpPr>
        <p:spPr>
          <a:xfrm>
            <a:off x="5573713" y="2697163"/>
            <a:ext cx="2855912" cy="701675"/>
          </a:xfrm>
          <a:prstGeom prst="rect">
            <a:avLst/>
          </a:prstGeom>
          <a:noFill/>
          <a:ln w="12700">
            <a:noFill/>
          </a:ln>
        </p:spPr>
        <p:txBody>
          <a:bodyPr anchor="ctr" anchorCtr="0">
            <a:spAutoFit/>
          </a:bodyPr>
          <a:p>
            <a:pPr eaLnBrk="0" hangingPunct="0">
              <a:buClrTx/>
              <a:buFontTx/>
            </a:pPr>
            <a:r>
              <a:rPr lang="zh-CN" altLang="en-US" sz="2000" dirty="0">
                <a:solidFill>
                  <a:srgbClr val="008000"/>
                </a:solidFill>
                <a:latin typeface="微软雅黑" panose="020B0503020204020204" pitchFamily="34" charset="-122"/>
                <a:ea typeface="微软雅黑" panose="020B0503020204020204" pitchFamily="34" charset="-122"/>
              </a:rPr>
              <a:t>当</a:t>
            </a:r>
            <a:r>
              <a:rPr lang="en-US" altLang="zh-CN" sz="2000" dirty="0">
                <a:solidFill>
                  <a:srgbClr val="008000"/>
                </a:solidFill>
                <a:latin typeface="微软雅黑" panose="020B0503020204020204" pitchFamily="34" charset="-122"/>
                <a:ea typeface="微软雅黑" panose="020B0503020204020204" pitchFamily="34" charset="-122"/>
              </a:rPr>
              <a:t>Sub</a:t>
            </a:r>
            <a:r>
              <a:rPr lang="zh-CN" altLang="en-US" sz="2000" dirty="0">
                <a:solidFill>
                  <a:srgbClr val="008000"/>
                </a:solidFill>
                <a:latin typeface="微软雅黑" panose="020B0503020204020204" pitchFamily="34" charset="-122"/>
                <a:ea typeface="微软雅黑" panose="020B0503020204020204" pitchFamily="34" charset="-122"/>
              </a:rPr>
              <a:t>为</a:t>
            </a:r>
            <a:r>
              <a:rPr lang="en-US" altLang="zh-CN" sz="2000" dirty="0">
                <a:solidFill>
                  <a:srgbClr val="008000"/>
                </a:solidFill>
                <a:latin typeface="微软雅黑" panose="020B0503020204020204" pitchFamily="34" charset="-122"/>
                <a:ea typeface="微软雅黑" panose="020B0503020204020204" pitchFamily="34" charset="-122"/>
              </a:rPr>
              <a:t>1</a:t>
            </a:r>
            <a:r>
              <a:rPr lang="zh-CN" altLang="en-US" sz="2000" dirty="0">
                <a:solidFill>
                  <a:srgbClr val="008000"/>
                </a:solidFill>
                <a:latin typeface="微软雅黑" panose="020B0503020204020204" pitchFamily="34" charset="-122"/>
                <a:ea typeface="微软雅黑" panose="020B0503020204020204" pitchFamily="34" charset="-122"/>
              </a:rPr>
              <a:t>时，做减法</a:t>
            </a:r>
            <a:endParaRPr lang="zh-CN" altLang="en-US" sz="2000" dirty="0">
              <a:solidFill>
                <a:srgbClr val="008000"/>
              </a:solidFill>
              <a:latin typeface="微软雅黑" panose="020B0503020204020204" pitchFamily="34" charset="-122"/>
              <a:ea typeface="微软雅黑" panose="020B0503020204020204" pitchFamily="34" charset="-122"/>
            </a:endParaRPr>
          </a:p>
          <a:p>
            <a:pPr eaLnBrk="0" hangingPunct="0">
              <a:buClrTx/>
              <a:buFontTx/>
            </a:pPr>
            <a:r>
              <a:rPr lang="zh-CN" altLang="en-US" sz="2000" dirty="0">
                <a:solidFill>
                  <a:srgbClr val="008000"/>
                </a:solidFill>
                <a:latin typeface="微软雅黑" panose="020B0503020204020204" pitchFamily="34" charset="-122"/>
                <a:ea typeface="微软雅黑" panose="020B0503020204020204" pitchFamily="34" charset="-122"/>
              </a:rPr>
              <a:t>当</a:t>
            </a:r>
            <a:r>
              <a:rPr lang="en-US" altLang="zh-CN" sz="2000" dirty="0">
                <a:solidFill>
                  <a:srgbClr val="008000"/>
                </a:solidFill>
                <a:latin typeface="微软雅黑" panose="020B0503020204020204" pitchFamily="34" charset="-122"/>
                <a:ea typeface="微软雅黑" panose="020B0503020204020204" pitchFamily="34" charset="-122"/>
              </a:rPr>
              <a:t>Sub</a:t>
            </a:r>
            <a:r>
              <a:rPr lang="zh-CN" altLang="en-US" sz="2000" dirty="0">
                <a:solidFill>
                  <a:srgbClr val="008000"/>
                </a:solidFill>
                <a:latin typeface="微软雅黑" panose="020B0503020204020204" pitchFamily="34" charset="-122"/>
                <a:ea typeface="微软雅黑" panose="020B0503020204020204" pitchFamily="34" charset="-122"/>
              </a:rPr>
              <a:t>为</a:t>
            </a:r>
            <a:r>
              <a:rPr lang="en-US" altLang="zh-CN" sz="2000" dirty="0">
                <a:solidFill>
                  <a:srgbClr val="008000"/>
                </a:solidFill>
                <a:latin typeface="微软雅黑" panose="020B0503020204020204" pitchFamily="34" charset="-122"/>
                <a:ea typeface="微软雅黑" panose="020B0503020204020204" pitchFamily="34" charset="-122"/>
              </a:rPr>
              <a:t>0</a:t>
            </a:r>
            <a:r>
              <a:rPr lang="zh-CN" altLang="en-US" sz="2000" dirty="0">
                <a:solidFill>
                  <a:srgbClr val="008000"/>
                </a:solidFill>
                <a:latin typeface="微软雅黑" panose="020B0503020204020204" pitchFamily="34" charset="-122"/>
                <a:ea typeface="微软雅黑" panose="020B0503020204020204" pitchFamily="34" charset="-122"/>
              </a:rPr>
              <a:t>时，做加法</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419843" name="Rectangle 3"/>
          <p:cNvSpPr/>
          <p:nvPr/>
        </p:nvSpPr>
        <p:spPr>
          <a:xfrm>
            <a:off x="174625" y="879475"/>
            <a:ext cx="5913438" cy="1635125"/>
          </a:xfrm>
          <a:prstGeom prst="rect">
            <a:avLst/>
          </a:prstGeom>
          <a:noFill/>
          <a:ln w="9525">
            <a:noFill/>
          </a:ln>
        </p:spPr>
        <p:txBody>
          <a:bodyPr lIns="63500" tIns="25400" rIns="63500" bIns="25400" anchor="t" anchorCtr="0">
            <a:spAutoFit/>
          </a:bodyPr>
          <a:p>
            <a:pPr marL="203200" indent="-203200" eaLnBrk="0" hangingPunct="0">
              <a:lnSpc>
                <a:spcPct val="115000"/>
              </a:lnSpc>
              <a:spcBef>
                <a:spcPct val="20000"/>
              </a:spcBef>
              <a:buClrTx/>
              <a:buFontTx/>
              <a:buChar char="•"/>
            </a:pPr>
            <a:r>
              <a:rPr lang="zh-CN" altLang="en-US" sz="2000" dirty="0">
                <a:latin typeface="微软雅黑" panose="020B0503020204020204" pitchFamily="34" charset="-122"/>
                <a:ea typeface="微软雅黑" panose="020B0503020204020204" pitchFamily="34" charset="-122"/>
              </a:rPr>
              <a:t>补码加减运算公式</a:t>
            </a:r>
            <a:endParaRPr lang="zh-CN" altLang="en-US" sz="2000" dirty="0">
              <a:latin typeface="微软雅黑" panose="020B0503020204020204" pitchFamily="34" charset="-122"/>
              <a:ea typeface="微软雅黑" panose="020B0503020204020204" pitchFamily="34" charset="-122"/>
            </a:endParaRPr>
          </a:p>
          <a:p>
            <a:pPr marL="685800" lvl="1" indent="-190500" algn="l" rtl="0" eaLnBrk="0" fontAlgn="base" hangingPunct="0">
              <a:lnSpc>
                <a:spcPct val="115000"/>
              </a:lnSpc>
              <a:spcBef>
                <a:spcPct val="20000"/>
              </a:spcBef>
              <a:spcAft>
                <a:spcPct val="0"/>
              </a:spcAft>
              <a:buNone/>
            </a:pPr>
            <a:r>
              <a:rPr lang="en-US" altLang="zh-CN" sz="2000" dirty="0">
                <a:solidFill>
                  <a:srgbClr val="0000CC"/>
                </a:solidFill>
                <a:latin typeface="微软雅黑" panose="020B0503020204020204" pitchFamily="34" charset="-122"/>
                <a:ea typeface="微软雅黑" panose="020B0503020204020204" pitchFamily="34" charset="-122"/>
              </a:rPr>
              <a:t>[A+B]</a:t>
            </a:r>
            <a:r>
              <a:rPr lang="zh-CN" altLang="en-US" sz="2000" baseline="-25000" dirty="0">
                <a:solidFill>
                  <a:srgbClr val="3333FF"/>
                </a:solidFill>
                <a:latin typeface="微软雅黑" panose="020B0503020204020204" pitchFamily="34" charset="-122"/>
                <a:ea typeface="微软雅黑" panose="020B0503020204020204" pitchFamily="34" charset="-122"/>
              </a:rPr>
              <a:t>补</a:t>
            </a:r>
            <a:r>
              <a:rPr lang="zh-CN" altLang="en-US" sz="2000" dirty="0">
                <a:solidFill>
                  <a:srgbClr val="0000CC"/>
                </a:solidFill>
                <a:latin typeface="微软雅黑" panose="020B0503020204020204" pitchFamily="34" charset="-122"/>
                <a:ea typeface="微软雅黑" panose="020B0503020204020204" pitchFamily="34" charset="-122"/>
              </a:rPr>
              <a:t> </a:t>
            </a:r>
            <a:r>
              <a:rPr lang="en-US" altLang="zh-CN" sz="2000" dirty="0">
                <a:solidFill>
                  <a:srgbClr val="0000CC"/>
                </a:solidFill>
                <a:latin typeface="微软雅黑" panose="020B0503020204020204" pitchFamily="34" charset="-122"/>
                <a:ea typeface="微软雅黑" panose="020B0503020204020204" pitchFamily="34" charset="-122"/>
              </a:rPr>
              <a:t>= [A]</a:t>
            </a:r>
            <a:r>
              <a:rPr lang="zh-CN" altLang="en-US" sz="2000" baseline="-25000" dirty="0">
                <a:solidFill>
                  <a:srgbClr val="3333FF"/>
                </a:solidFill>
                <a:latin typeface="微软雅黑" panose="020B0503020204020204" pitchFamily="34" charset="-122"/>
                <a:ea typeface="微软雅黑" panose="020B0503020204020204" pitchFamily="34" charset="-122"/>
              </a:rPr>
              <a:t>补</a:t>
            </a:r>
            <a:r>
              <a:rPr lang="zh-CN" altLang="en-US" sz="2000" dirty="0">
                <a:solidFill>
                  <a:srgbClr val="0000CC"/>
                </a:solidFill>
                <a:latin typeface="微软雅黑" panose="020B0503020204020204" pitchFamily="34" charset="-122"/>
                <a:ea typeface="微软雅黑" panose="020B0503020204020204" pitchFamily="34" charset="-122"/>
              </a:rPr>
              <a:t> </a:t>
            </a:r>
            <a:r>
              <a:rPr lang="en-US" altLang="zh-CN" sz="2000" dirty="0">
                <a:solidFill>
                  <a:srgbClr val="0000CC"/>
                </a:solidFill>
                <a:latin typeface="微软雅黑" panose="020B0503020204020204" pitchFamily="34" charset="-122"/>
                <a:ea typeface="微软雅黑" panose="020B0503020204020204" pitchFamily="34" charset="-122"/>
              </a:rPr>
              <a:t>+ [B] </a:t>
            </a:r>
            <a:r>
              <a:rPr lang="zh-CN" altLang="en-US" sz="2000" baseline="-25000" dirty="0">
                <a:solidFill>
                  <a:srgbClr val="3333FF"/>
                </a:solidFill>
                <a:latin typeface="微软雅黑" panose="020B0503020204020204" pitchFamily="34" charset="-122"/>
                <a:ea typeface="微软雅黑" panose="020B0503020204020204" pitchFamily="34" charset="-122"/>
              </a:rPr>
              <a:t>补</a:t>
            </a:r>
            <a:r>
              <a:rPr lang="zh-CN" altLang="en-US" sz="2000" dirty="0">
                <a:solidFill>
                  <a:srgbClr val="0000CC"/>
                </a:solidFill>
                <a:latin typeface="微软雅黑" panose="020B0503020204020204" pitchFamily="34" charset="-122"/>
                <a:ea typeface="微软雅黑" panose="020B0503020204020204" pitchFamily="34" charset="-122"/>
              </a:rPr>
              <a:t>  </a:t>
            </a:r>
            <a:r>
              <a:rPr lang="en-US" altLang="zh-CN" sz="2000" dirty="0">
                <a:solidFill>
                  <a:srgbClr val="0000CC"/>
                </a:solidFill>
                <a:latin typeface="微软雅黑" panose="020B0503020204020204" pitchFamily="34" charset="-122"/>
                <a:ea typeface="微软雅黑" panose="020B0503020204020204" pitchFamily="34" charset="-122"/>
              </a:rPr>
              <a:t>( mod 2</a:t>
            </a:r>
            <a:r>
              <a:rPr lang="en-US" altLang="zh-CN" sz="2000" baseline="30000" dirty="0">
                <a:solidFill>
                  <a:srgbClr val="0000CC"/>
                </a:solidFill>
                <a:latin typeface="微软雅黑" panose="020B0503020204020204" pitchFamily="34" charset="-122"/>
                <a:ea typeface="微软雅黑" panose="020B0503020204020204" pitchFamily="34" charset="-122"/>
              </a:rPr>
              <a:t>n</a:t>
            </a:r>
            <a:r>
              <a:rPr lang="en-US" altLang="zh-CN" sz="2000" dirty="0">
                <a:solidFill>
                  <a:srgbClr val="0000CC"/>
                </a:solidFill>
                <a:latin typeface="微软雅黑" panose="020B0503020204020204" pitchFamily="34" charset="-122"/>
                <a:ea typeface="微软雅黑" panose="020B0503020204020204" pitchFamily="34" charset="-122"/>
              </a:rPr>
              <a:t> )</a:t>
            </a:r>
            <a:endParaRPr lang="en-US" altLang="zh-CN" sz="2000" dirty="0">
              <a:solidFill>
                <a:srgbClr val="0000CC"/>
              </a:solidFill>
              <a:latin typeface="微软雅黑" panose="020B0503020204020204" pitchFamily="34" charset="-122"/>
              <a:ea typeface="微软雅黑" panose="020B0503020204020204" pitchFamily="34" charset="-122"/>
            </a:endParaRPr>
          </a:p>
          <a:p>
            <a:pPr marL="685800" lvl="1" indent="-190500" algn="l" rtl="0" eaLnBrk="0" fontAlgn="base" hangingPunct="0">
              <a:lnSpc>
                <a:spcPct val="115000"/>
              </a:lnSpc>
              <a:spcBef>
                <a:spcPct val="20000"/>
              </a:spcBef>
              <a:spcAft>
                <a:spcPct val="0"/>
              </a:spcAft>
              <a:buNone/>
            </a:pPr>
            <a:r>
              <a:rPr lang="en-US" altLang="zh-CN" sz="2000" dirty="0">
                <a:solidFill>
                  <a:srgbClr val="0000CC"/>
                </a:solidFill>
                <a:latin typeface="微软雅黑" panose="020B0503020204020204" pitchFamily="34" charset="-122"/>
                <a:ea typeface="微软雅黑" panose="020B0503020204020204" pitchFamily="34" charset="-122"/>
              </a:rPr>
              <a:t>[A</a:t>
            </a:r>
            <a:r>
              <a:rPr lang="pt-BR" altLang="zh-CN" sz="2000" dirty="0">
                <a:solidFill>
                  <a:srgbClr val="0000CC"/>
                </a:solidFill>
                <a:latin typeface="微软雅黑" panose="020B0503020204020204" pitchFamily="34" charset="-122"/>
                <a:ea typeface="微软雅黑" panose="020B0503020204020204" pitchFamily="34" charset="-122"/>
              </a:rPr>
              <a:t>–</a:t>
            </a:r>
            <a:r>
              <a:rPr lang="en-US" altLang="zh-CN" sz="2000" dirty="0">
                <a:solidFill>
                  <a:srgbClr val="0000CC"/>
                </a:solidFill>
                <a:latin typeface="微软雅黑" panose="020B0503020204020204" pitchFamily="34" charset="-122"/>
                <a:ea typeface="微软雅黑" panose="020B0503020204020204" pitchFamily="34" charset="-122"/>
              </a:rPr>
              <a:t>B]</a:t>
            </a:r>
            <a:r>
              <a:rPr lang="zh-CN" altLang="en-US" sz="2000" baseline="-25000" dirty="0">
                <a:solidFill>
                  <a:srgbClr val="3333FF"/>
                </a:solidFill>
                <a:latin typeface="微软雅黑" panose="020B0503020204020204" pitchFamily="34" charset="-122"/>
                <a:ea typeface="微软雅黑" panose="020B0503020204020204" pitchFamily="34" charset="-122"/>
              </a:rPr>
              <a:t>补</a:t>
            </a:r>
            <a:r>
              <a:rPr lang="zh-CN" altLang="en-US" sz="2000" dirty="0">
                <a:solidFill>
                  <a:srgbClr val="0000CC"/>
                </a:solidFill>
                <a:latin typeface="微软雅黑" panose="020B0503020204020204" pitchFamily="34" charset="-122"/>
                <a:ea typeface="微软雅黑" panose="020B0503020204020204" pitchFamily="34" charset="-122"/>
              </a:rPr>
              <a:t> </a:t>
            </a:r>
            <a:r>
              <a:rPr lang="en-US" altLang="zh-CN" sz="2000" dirty="0">
                <a:solidFill>
                  <a:srgbClr val="0000CC"/>
                </a:solidFill>
                <a:latin typeface="微软雅黑" panose="020B0503020204020204" pitchFamily="34" charset="-122"/>
                <a:ea typeface="微软雅黑" panose="020B0503020204020204" pitchFamily="34" charset="-122"/>
              </a:rPr>
              <a:t>= [A]</a:t>
            </a:r>
            <a:r>
              <a:rPr lang="zh-CN" altLang="en-US" sz="2000" baseline="-25000" dirty="0">
                <a:solidFill>
                  <a:srgbClr val="3333FF"/>
                </a:solidFill>
                <a:latin typeface="微软雅黑" panose="020B0503020204020204" pitchFamily="34" charset="-122"/>
                <a:ea typeface="微软雅黑" panose="020B0503020204020204" pitchFamily="34" charset="-122"/>
              </a:rPr>
              <a:t>补</a:t>
            </a:r>
            <a:r>
              <a:rPr lang="zh-CN" altLang="en-US" sz="2000" dirty="0">
                <a:solidFill>
                  <a:srgbClr val="0000CC"/>
                </a:solidFill>
                <a:latin typeface="微软雅黑" panose="020B0503020204020204" pitchFamily="34" charset="-122"/>
                <a:ea typeface="微软雅黑" panose="020B0503020204020204" pitchFamily="34" charset="-122"/>
              </a:rPr>
              <a:t> </a:t>
            </a:r>
            <a:r>
              <a:rPr lang="en-US" altLang="zh-CN" sz="2000" dirty="0">
                <a:solidFill>
                  <a:srgbClr val="0000CC"/>
                </a:solidFill>
                <a:latin typeface="微软雅黑" panose="020B0503020204020204" pitchFamily="34" charset="-122"/>
                <a:ea typeface="微软雅黑" panose="020B0503020204020204" pitchFamily="34" charset="-122"/>
              </a:rPr>
              <a:t>+ [</a:t>
            </a:r>
            <a:r>
              <a:rPr lang="pt-BR" altLang="zh-CN" sz="2000" dirty="0">
                <a:solidFill>
                  <a:srgbClr val="0000CC"/>
                </a:solidFill>
                <a:latin typeface="微软雅黑" panose="020B0503020204020204" pitchFamily="34" charset="-122"/>
                <a:ea typeface="微软雅黑" panose="020B0503020204020204" pitchFamily="34" charset="-122"/>
              </a:rPr>
              <a:t>–</a:t>
            </a:r>
            <a:r>
              <a:rPr lang="en-US" altLang="zh-CN" sz="2000" dirty="0">
                <a:solidFill>
                  <a:srgbClr val="0000CC"/>
                </a:solidFill>
                <a:latin typeface="微软雅黑" panose="020B0503020204020204" pitchFamily="34" charset="-122"/>
                <a:ea typeface="微软雅黑" panose="020B0503020204020204" pitchFamily="34" charset="-122"/>
              </a:rPr>
              <a:t>B] </a:t>
            </a:r>
            <a:r>
              <a:rPr lang="zh-CN" altLang="en-US" sz="2000" baseline="-25000" dirty="0">
                <a:solidFill>
                  <a:srgbClr val="3333FF"/>
                </a:solidFill>
                <a:latin typeface="微软雅黑" panose="020B0503020204020204" pitchFamily="34" charset="-122"/>
                <a:ea typeface="微软雅黑" panose="020B0503020204020204" pitchFamily="34" charset="-122"/>
              </a:rPr>
              <a:t>补</a:t>
            </a:r>
            <a:r>
              <a:rPr lang="zh-CN" altLang="en-US" sz="2000" dirty="0">
                <a:solidFill>
                  <a:srgbClr val="0000CC"/>
                </a:solidFill>
                <a:latin typeface="微软雅黑" panose="020B0503020204020204" pitchFamily="34" charset="-122"/>
                <a:ea typeface="微软雅黑" panose="020B0503020204020204" pitchFamily="34" charset="-122"/>
              </a:rPr>
              <a:t>  </a:t>
            </a:r>
            <a:r>
              <a:rPr lang="en-US" altLang="zh-CN" sz="2000" dirty="0">
                <a:solidFill>
                  <a:srgbClr val="0000CC"/>
                </a:solidFill>
                <a:latin typeface="微软雅黑" panose="020B0503020204020204" pitchFamily="34" charset="-122"/>
                <a:ea typeface="微软雅黑" panose="020B0503020204020204" pitchFamily="34" charset="-122"/>
              </a:rPr>
              <a:t>( mod 2</a:t>
            </a:r>
            <a:r>
              <a:rPr lang="en-US" altLang="zh-CN" sz="2000" baseline="30000" dirty="0">
                <a:solidFill>
                  <a:srgbClr val="0000CC"/>
                </a:solidFill>
                <a:latin typeface="微软雅黑" panose="020B0503020204020204" pitchFamily="34" charset="-122"/>
                <a:ea typeface="微软雅黑" panose="020B0503020204020204" pitchFamily="34" charset="-122"/>
              </a:rPr>
              <a:t>n</a:t>
            </a:r>
            <a:r>
              <a:rPr lang="en-US" altLang="zh-CN" sz="2000" dirty="0">
                <a:solidFill>
                  <a:srgbClr val="0000CC"/>
                </a:solidFill>
                <a:latin typeface="微软雅黑" panose="020B0503020204020204" pitchFamily="34" charset="-122"/>
                <a:ea typeface="微软雅黑" panose="020B0503020204020204" pitchFamily="34" charset="-122"/>
              </a:rPr>
              <a:t> )</a:t>
            </a:r>
            <a:endParaRPr lang="en-US" altLang="zh-CN" sz="2000" dirty="0">
              <a:solidFill>
                <a:srgbClr val="0000CC"/>
              </a:solidFill>
              <a:latin typeface="微软雅黑" panose="020B0503020204020204" pitchFamily="34" charset="-122"/>
              <a:ea typeface="微软雅黑" panose="020B0503020204020204" pitchFamily="34" charset="-122"/>
            </a:endParaRPr>
          </a:p>
          <a:p>
            <a:pPr marL="685800" lvl="1" indent="-190500" algn="l" rtl="0" eaLnBrk="0" fontAlgn="base" hangingPunct="0">
              <a:lnSpc>
                <a:spcPct val="115000"/>
              </a:lnSpc>
              <a:spcBef>
                <a:spcPct val="20000"/>
              </a:spcBef>
              <a:spcAft>
                <a:spcPct val="0"/>
              </a:spcAft>
              <a:buChar char="–"/>
            </a:pPr>
            <a:r>
              <a:rPr lang="zh-CN" altLang="en-US" sz="2000" dirty="0">
                <a:solidFill>
                  <a:srgbClr val="FF0000"/>
                </a:solidFill>
                <a:latin typeface="微软雅黑" panose="020B0503020204020204" pitchFamily="34" charset="-122"/>
                <a:ea typeface="微软雅黑" panose="020B0503020204020204" pitchFamily="34" charset="-122"/>
              </a:rPr>
              <a:t>实现减法的主要工作在于：求</a:t>
            </a:r>
            <a:r>
              <a:rPr lang="en-US" altLang="zh-CN" sz="2000" dirty="0">
                <a:solidFill>
                  <a:srgbClr val="FF0000"/>
                </a:solidFill>
                <a:latin typeface="微软雅黑" panose="020B0503020204020204" pitchFamily="34" charset="-122"/>
                <a:ea typeface="微软雅黑" panose="020B0503020204020204" pitchFamily="34" charset="-122"/>
              </a:rPr>
              <a:t>[</a:t>
            </a:r>
            <a:r>
              <a:rPr lang="pt-BR" altLang="zh-CN"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B] </a:t>
            </a:r>
            <a:r>
              <a:rPr lang="zh-CN" altLang="en-US" sz="2000" baseline="-25000" dirty="0">
                <a:solidFill>
                  <a:srgbClr val="FF0000"/>
                </a:solidFill>
                <a:latin typeface="微软雅黑" panose="020B0503020204020204" pitchFamily="34" charset="-122"/>
                <a:ea typeface="微软雅黑" panose="020B0503020204020204" pitchFamily="34" charset="-122"/>
              </a:rPr>
              <a:t>补</a:t>
            </a:r>
            <a:endParaRPr lang="zh-CN" altLang="en-US" sz="2000" baseline="-25000" dirty="0">
              <a:solidFill>
                <a:srgbClr val="FF0000"/>
              </a:solidFill>
              <a:latin typeface="微软雅黑" panose="020B0503020204020204" pitchFamily="34" charset="-122"/>
              <a:ea typeface="微软雅黑" panose="020B0503020204020204" pitchFamily="34" charset="-122"/>
            </a:endParaRPr>
          </a:p>
        </p:txBody>
      </p:sp>
      <p:sp>
        <p:nvSpPr>
          <p:cNvPr id="419844" name="Text Box 4"/>
          <p:cNvSpPr txBox="1"/>
          <p:nvPr/>
        </p:nvSpPr>
        <p:spPr>
          <a:xfrm>
            <a:off x="5746750" y="1160463"/>
            <a:ext cx="2867025" cy="396875"/>
          </a:xfrm>
          <a:prstGeom prst="rect">
            <a:avLst/>
          </a:prstGeom>
          <a:noFill/>
          <a:ln w="12700">
            <a:noFill/>
          </a:ln>
        </p:spPr>
        <p:txBody>
          <a:bodyPr anchor="t" anchorCtr="0">
            <a:spAutoFit/>
          </a:bodyPr>
          <a:p>
            <a:pPr eaLnBrk="0" hangingPunct="0">
              <a:spcBef>
                <a:spcPct val="50000"/>
              </a:spcBef>
              <a:buClrTx/>
              <a:buFontTx/>
            </a:pPr>
            <a:r>
              <a:rPr lang="zh-CN" altLang="en-US" sz="2000" dirty="0">
                <a:solidFill>
                  <a:srgbClr val="CC0000"/>
                </a:solidFill>
                <a:latin typeface="微软雅黑" panose="020B0503020204020204" pitchFamily="34" charset="-122"/>
                <a:ea typeface="微软雅黑" panose="020B0503020204020204" pitchFamily="34" charset="-122"/>
              </a:rPr>
              <a:t>问题：如何求</a:t>
            </a:r>
            <a:r>
              <a:rPr lang="en-US" altLang="zh-CN" sz="2000" dirty="0">
                <a:solidFill>
                  <a:srgbClr val="CC0000"/>
                </a:solidFill>
                <a:latin typeface="微软雅黑" panose="020B0503020204020204" pitchFamily="34" charset="-122"/>
                <a:ea typeface="微软雅黑" panose="020B0503020204020204" pitchFamily="34" charset="-122"/>
              </a:rPr>
              <a:t>[</a:t>
            </a:r>
            <a:r>
              <a:rPr lang="pt-BR" altLang="zh-CN" sz="2000" dirty="0">
                <a:solidFill>
                  <a:srgbClr val="CC0000"/>
                </a:solidFill>
                <a:latin typeface="微软雅黑" panose="020B0503020204020204" pitchFamily="34" charset="-122"/>
                <a:ea typeface="微软雅黑" panose="020B0503020204020204" pitchFamily="34" charset="-122"/>
              </a:rPr>
              <a:t>–</a:t>
            </a:r>
            <a:r>
              <a:rPr lang="en-US" altLang="zh-CN" sz="2000" dirty="0">
                <a:solidFill>
                  <a:srgbClr val="CC0000"/>
                </a:solidFill>
                <a:latin typeface="微软雅黑" panose="020B0503020204020204" pitchFamily="34" charset="-122"/>
                <a:ea typeface="微软雅黑" panose="020B0503020204020204" pitchFamily="34" charset="-122"/>
              </a:rPr>
              <a:t>B]</a:t>
            </a:r>
            <a:r>
              <a:rPr lang="zh-CN" altLang="en-US" sz="2000" baseline="-25000" dirty="0">
                <a:solidFill>
                  <a:srgbClr val="CC0000"/>
                </a:solidFill>
                <a:latin typeface="微软雅黑" panose="020B0503020204020204" pitchFamily="34" charset="-122"/>
                <a:ea typeface="微软雅黑" panose="020B0503020204020204" pitchFamily="34" charset="-122"/>
              </a:rPr>
              <a:t>补</a:t>
            </a:r>
            <a:r>
              <a:rPr lang="zh-CN" altLang="en-US" sz="2000" dirty="0">
                <a:solidFill>
                  <a:srgbClr val="CC0000"/>
                </a:solidFill>
                <a:latin typeface="微软雅黑" panose="020B0503020204020204" pitchFamily="34" charset="-122"/>
                <a:ea typeface="微软雅黑" panose="020B0503020204020204" pitchFamily="34" charset="-122"/>
              </a:rPr>
              <a:t>？</a:t>
            </a:r>
            <a:endParaRPr lang="zh-CN" altLang="en-US" sz="2000" dirty="0">
              <a:solidFill>
                <a:srgbClr val="CC0000"/>
              </a:solidFill>
              <a:latin typeface="微软雅黑" panose="020B0503020204020204" pitchFamily="34" charset="-122"/>
              <a:ea typeface="微软雅黑" panose="020B0503020204020204" pitchFamily="34" charset="-122"/>
            </a:endParaRPr>
          </a:p>
        </p:txBody>
      </p:sp>
      <p:grpSp>
        <p:nvGrpSpPr>
          <p:cNvPr id="694279" name="Group 7"/>
          <p:cNvGrpSpPr/>
          <p:nvPr/>
        </p:nvGrpSpPr>
        <p:grpSpPr>
          <a:xfrm>
            <a:off x="5821363" y="1716088"/>
            <a:ext cx="2378075" cy="427037"/>
            <a:chOff x="3667" y="1087"/>
            <a:chExt cx="1498" cy="269"/>
          </a:xfrm>
        </p:grpSpPr>
        <p:sp>
          <p:nvSpPr>
            <p:cNvPr id="39943" name="Rectangle 6"/>
            <p:cNvSpPr/>
            <p:nvPr/>
          </p:nvSpPr>
          <p:spPr>
            <a:xfrm>
              <a:off x="3667" y="1087"/>
              <a:ext cx="1498" cy="269"/>
            </a:xfrm>
            <a:prstGeom prst="rect">
              <a:avLst/>
            </a:prstGeom>
            <a:noFill/>
            <a:ln w="12700">
              <a:noFill/>
            </a:ln>
          </p:spPr>
          <p:txBody>
            <a:bodyPr anchor="t" anchorCtr="0">
              <a:spAutoFit/>
            </a:bodyPr>
            <a:p>
              <a:pPr eaLnBrk="0" hangingPunct="0">
                <a:buClrTx/>
                <a:buFontTx/>
              </a:pPr>
              <a:r>
                <a:rPr lang="en-US" altLang="zh-CN" sz="2200" dirty="0">
                  <a:solidFill>
                    <a:srgbClr val="3333FF"/>
                  </a:solidFill>
                  <a:latin typeface="微软雅黑" panose="020B0503020204020204" pitchFamily="34" charset="-122"/>
                  <a:ea typeface="微软雅黑" panose="020B0503020204020204" pitchFamily="34" charset="-122"/>
                </a:rPr>
                <a:t>[</a:t>
              </a:r>
              <a:r>
                <a:rPr lang="pt-BR" altLang="zh-CN" sz="2200" dirty="0">
                  <a:solidFill>
                    <a:srgbClr val="3333FF"/>
                  </a:solidFill>
                  <a:latin typeface="微软雅黑" panose="020B0503020204020204" pitchFamily="34" charset="-122"/>
                  <a:ea typeface="微软雅黑" panose="020B0503020204020204" pitchFamily="34" charset="-122"/>
                </a:rPr>
                <a:t>–</a:t>
              </a:r>
              <a:r>
                <a:rPr lang="en-US" altLang="zh-CN" sz="2200" dirty="0">
                  <a:solidFill>
                    <a:srgbClr val="3333FF"/>
                  </a:solidFill>
                  <a:latin typeface="微软雅黑" panose="020B0503020204020204" pitchFamily="34" charset="-122"/>
                  <a:ea typeface="微软雅黑" panose="020B0503020204020204" pitchFamily="34" charset="-122"/>
                </a:rPr>
                <a:t>B]</a:t>
              </a:r>
              <a:r>
                <a:rPr lang="zh-CN" altLang="en-US" sz="2200" baseline="-25000" dirty="0">
                  <a:solidFill>
                    <a:srgbClr val="3333FF"/>
                  </a:solidFill>
                  <a:latin typeface="微软雅黑" panose="020B0503020204020204" pitchFamily="34" charset="-122"/>
                  <a:ea typeface="微软雅黑" panose="020B0503020204020204" pitchFamily="34" charset="-122"/>
                </a:rPr>
                <a:t>补</a:t>
              </a:r>
              <a:r>
                <a:rPr lang="en-US" altLang="zh-CN" sz="2200" dirty="0">
                  <a:solidFill>
                    <a:srgbClr val="3333FF"/>
                  </a:solidFill>
                  <a:latin typeface="微软雅黑" panose="020B0503020204020204" pitchFamily="34" charset="-122"/>
                  <a:ea typeface="微软雅黑" panose="020B0503020204020204" pitchFamily="34" charset="-122"/>
                </a:rPr>
                <a:t>=[B]</a:t>
              </a:r>
              <a:r>
                <a:rPr lang="zh-CN" altLang="en-US" sz="2200" baseline="-25000" dirty="0">
                  <a:solidFill>
                    <a:srgbClr val="3333FF"/>
                  </a:solidFill>
                  <a:latin typeface="微软雅黑" panose="020B0503020204020204" pitchFamily="34" charset="-122"/>
                  <a:ea typeface="微软雅黑" panose="020B0503020204020204" pitchFamily="34" charset="-122"/>
                </a:rPr>
                <a:t>补</a:t>
              </a:r>
              <a:r>
                <a:rPr lang="en-US" altLang="zh-CN" sz="2200" dirty="0">
                  <a:solidFill>
                    <a:srgbClr val="3333FF"/>
                  </a:solidFill>
                  <a:latin typeface="微软雅黑" panose="020B0503020204020204" pitchFamily="34" charset="-122"/>
                  <a:ea typeface="微软雅黑" panose="020B0503020204020204" pitchFamily="34" charset="-122"/>
                </a:rPr>
                <a:t>+1</a:t>
              </a:r>
              <a:endParaRPr lang="en-US" altLang="zh-CN" sz="2200" dirty="0">
                <a:solidFill>
                  <a:srgbClr val="3333FF"/>
                </a:solidFill>
                <a:latin typeface="微软雅黑" panose="020B0503020204020204" pitchFamily="34" charset="-122"/>
                <a:ea typeface="微软雅黑" panose="020B0503020204020204" pitchFamily="34" charset="-122"/>
              </a:endParaRPr>
            </a:p>
          </p:txBody>
        </p:sp>
        <p:sp>
          <p:nvSpPr>
            <p:cNvPr id="39944" name="Line 7"/>
            <p:cNvSpPr/>
            <p:nvPr/>
          </p:nvSpPr>
          <p:spPr>
            <a:xfrm>
              <a:off x="4363" y="1103"/>
              <a:ext cx="177" cy="1"/>
            </a:xfrm>
            <a:prstGeom prst="line">
              <a:avLst/>
            </a:prstGeom>
            <a:ln w="19050" cap="flat" cmpd="sng">
              <a:solidFill>
                <a:srgbClr val="3333FF"/>
              </a:solidFill>
              <a:prstDash val="solid"/>
              <a:round/>
              <a:headEnd type="none" w="med" len="med"/>
              <a:tailEnd type="none" w="med" len="med"/>
            </a:ln>
          </p:spPr>
        </p:sp>
      </p:grpSp>
      <p:sp>
        <p:nvSpPr>
          <p:cNvPr id="694282" name="Text Box 10"/>
          <p:cNvSpPr txBox="1"/>
          <p:nvPr/>
        </p:nvSpPr>
        <p:spPr>
          <a:xfrm>
            <a:off x="304800" y="4632325"/>
            <a:ext cx="2800350" cy="1997075"/>
          </a:xfrm>
          <a:prstGeom prst="rect">
            <a:avLst/>
          </a:prstGeom>
          <a:noFill/>
          <a:ln w="9525">
            <a:noFill/>
          </a:ln>
        </p:spPr>
        <p:txBody>
          <a:bodyPr anchor="t" anchorCtr="0">
            <a:spAutoFit/>
          </a:bodyPr>
          <a:p>
            <a:pPr>
              <a:lnSpc>
                <a:spcPct val="125000"/>
              </a:lnSpc>
              <a:spcBef>
                <a:spcPct val="50000"/>
              </a:spcBef>
              <a:buClrTx/>
              <a:buFontTx/>
            </a:pPr>
            <a:r>
              <a:rPr lang="zh-CN" altLang="en-US" sz="2000" dirty="0">
                <a:latin typeface="微软雅黑" panose="020B0503020204020204" pitchFamily="34" charset="-122"/>
                <a:ea typeface="微软雅黑" panose="020B0503020204020204" pitchFamily="34" charset="-122"/>
              </a:rPr>
              <a:t>在整数加</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减运算部件基础上，加上寄存器、移位器以及控制逻辑，就可实现</a:t>
            </a:r>
            <a:r>
              <a:rPr lang="en-US" altLang="zh-CN" sz="2000" dirty="0">
                <a:solidFill>
                  <a:srgbClr val="FF0000"/>
                </a:solidFill>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乘</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除</a:t>
            </a:r>
            <a:r>
              <a:rPr lang="zh-CN" altLang="en-US" sz="2000" dirty="0">
                <a:latin typeface="微软雅黑" panose="020B0503020204020204" pitchFamily="34" charset="-122"/>
                <a:ea typeface="微软雅黑" panose="020B0503020204020204" pitchFamily="34" charset="-122"/>
              </a:rPr>
              <a:t>运算以及</a:t>
            </a:r>
            <a:r>
              <a:rPr lang="zh-CN" altLang="en-US" sz="2000" dirty="0">
                <a:solidFill>
                  <a:srgbClr val="FF0000"/>
                </a:solidFill>
                <a:latin typeface="微软雅黑" panose="020B0503020204020204" pitchFamily="34" charset="-122"/>
                <a:ea typeface="微软雅黑" panose="020B0503020204020204" pitchFamily="34" charset="-122"/>
              </a:rPr>
              <a:t>浮点</a:t>
            </a:r>
            <a:r>
              <a:rPr lang="zh-CN" altLang="en-US" sz="2000" dirty="0">
                <a:latin typeface="微软雅黑" panose="020B0503020204020204" pitchFamily="34" charset="-122"/>
                <a:ea typeface="微软雅黑" panose="020B0503020204020204" pitchFamily="34" charset="-122"/>
              </a:rPr>
              <a:t>运算电路</a:t>
            </a:r>
            <a:endParaRPr lang="zh-CN" altLang="en-US" sz="2000" dirty="0">
              <a:latin typeface="微软雅黑" panose="020B0503020204020204" pitchFamily="34" charset="-122"/>
              <a:ea typeface="微软雅黑" panose="020B0503020204020204" pitchFamily="34" charset="-122"/>
            </a:endParaRPr>
          </a:p>
        </p:txBody>
      </p:sp>
      <p:grpSp>
        <p:nvGrpSpPr>
          <p:cNvPr id="694283" name="Group 11"/>
          <p:cNvGrpSpPr/>
          <p:nvPr/>
        </p:nvGrpSpPr>
        <p:grpSpPr>
          <a:xfrm>
            <a:off x="3395663" y="3414713"/>
            <a:ext cx="5748337" cy="3024187"/>
            <a:chOff x="2139" y="2151"/>
            <a:chExt cx="3621" cy="1905"/>
          </a:xfrm>
        </p:grpSpPr>
        <p:sp>
          <p:nvSpPr>
            <p:cNvPr id="39947" name="Rectangle 33"/>
            <p:cNvSpPr/>
            <p:nvPr/>
          </p:nvSpPr>
          <p:spPr>
            <a:xfrm>
              <a:off x="5140" y="2890"/>
              <a:ext cx="391"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Sum</a:t>
              </a:r>
              <a:endParaRPr lang="en-US" altLang="zh-CN" dirty="0">
                <a:latin typeface="Arial" panose="020B0604020202020204" pitchFamily="34" charset="0"/>
                <a:ea typeface="Arial" panose="020B0604020202020204" pitchFamily="34" charset="0"/>
              </a:endParaRPr>
            </a:p>
          </p:txBody>
        </p:sp>
        <p:sp>
          <p:nvSpPr>
            <p:cNvPr id="39948" name="Line 11"/>
            <p:cNvSpPr/>
            <p:nvPr/>
          </p:nvSpPr>
          <p:spPr>
            <a:xfrm flipH="1">
              <a:off x="3670" y="2599"/>
              <a:ext cx="502" cy="0"/>
            </a:xfrm>
            <a:prstGeom prst="line">
              <a:avLst/>
            </a:prstGeom>
            <a:ln w="12700" cap="flat" cmpd="sng">
              <a:solidFill>
                <a:schemeClr val="tx1"/>
              </a:solidFill>
              <a:prstDash val="solid"/>
              <a:round/>
              <a:headEnd type="triangle" w="med" len="med"/>
              <a:tailEnd type="none" w="med" len="med"/>
            </a:ln>
          </p:spPr>
        </p:sp>
        <p:sp>
          <p:nvSpPr>
            <p:cNvPr id="39949" name="Line 12"/>
            <p:cNvSpPr/>
            <p:nvPr/>
          </p:nvSpPr>
          <p:spPr>
            <a:xfrm flipH="1">
              <a:off x="4162" y="2482"/>
              <a:ext cx="6" cy="438"/>
            </a:xfrm>
            <a:prstGeom prst="line">
              <a:avLst/>
            </a:prstGeom>
            <a:ln w="25400" cap="flat" cmpd="sng">
              <a:solidFill>
                <a:schemeClr val="tx1"/>
              </a:solidFill>
              <a:prstDash val="solid"/>
              <a:round/>
              <a:headEnd type="none" w="med" len="med"/>
              <a:tailEnd type="none" w="med" len="med"/>
            </a:ln>
          </p:spPr>
        </p:sp>
        <p:sp>
          <p:nvSpPr>
            <p:cNvPr id="39950" name="Line 13"/>
            <p:cNvSpPr/>
            <p:nvPr/>
          </p:nvSpPr>
          <p:spPr>
            <a:xfrm>
              <a:off x="4175" y="2482"/>
              <a:ext cx="399" cy="194"/>
            </a:xfrm>
            <a:prstGeom prst="line">
              <a:avLst/>
            </a:prstGeom>
            <a:ln w="25400" cap="flat" cmpd="sng">
              <a:solidFill>
                <a:schemeClr val="tx1"/>
              </a:solidFill>
              <a:prstDash val="solid"/>
              <a:round/>
              <a:headEnd type="none" w="med" len="med"/>
              <a:tailEnd type="none" w="med" len="med"/>
            </a:ln>
          </p:spPr>
        </p:sp>
        <p:sp>
          <p:nvSpPr>
            <p:cNvPr id="39951" name="Line 14"/>
            <p:cNvSpPr/>
            <p:nvPr/>
          </p:nvSpPr>
          <p:spPr>
            <a:xfrm>
              <a:off x="4145" y="2913"/>
              <a:ext cx="151" cy="70"/>
            </a:xfrm>
            <a:prstGeom prst="line">
              <a:avLst/>
            </a:prstGeom>
            <a:ln w="25400" cap="flat" cmpd="sng">
              <a:solidFill>
                <a:schemeClr val="tx1"/>
              </a:solidFill>
              <a:prstDash val="solid"/>
              <a:round/>
              <a:headEnd type="none" w="med" len="med"/>
              <a:tailEnd type="none" w="med" len="med"/>
            </a:ln>
          </p:spPr>
        </p:sp>
        <p:sp>
          <p:nvSpPr>
            <p:cNvPr id="39952" name="Line 16"/>
            <p:cNvSpPr/>
            <p:nvPr/>
          </p:nvSpPr>
          <p:spPr>
            <a:xfrm>
              <a:off x="4574" y="2676"/>
              <a:ext cx="7" cy="290"/>
            </a:xfrm>
            <a:prstGeom prst="line">
              <a:avLst/>
            </a:prstGeom>
            <a:ln w="25400" cap="flat" cmpd="sng">
              <a:solidFill>
                <a:schemeClr val="tx1"/>
              </a:solidFill>
              <a:prstDash val="solid"/>
              <a:round/>
              <a:headEnd type="none" w="med" len="med"/>
              <a:tailEnd type="none" w="med" len="med"/>
            </a:ln>
          </p:spPr>
        </p:sp>
        <p:sp>
          <p:nvSpPr>
            <p:cNvPr id="39953" name="Line 18"/>
            <p:cNvSpPr/>
            <p:nvPr/>
          </p:nvSpPr>
          <p:spPr>
            <a:xfrm flipV="1">
              <a:off x="4168" y="3064"/>
              <a:ext cx="0" cy="414"/>
            </a:xfrm>
            <a:prstGeom prst="line">
              <a:avLst/>
            </a:prstGeom>
            <a:ln w="25400" cap="flat" cmpd="sng">
              <a:solidFill>
                <a:schemeClr val="tx1"/>
              </a:solidFill>
              <a:prstDash val="solid"/>
              <a:round/>
              <a:headEnd type="none" w="med" len="med"/>
              <a:tailEnd type="none" w="med" len="med"/>
            </a:ln>
          </p:spPr>
        </p:sp>
        <p:sp>
          <p:nvSpPr>
            <p:cNvPr id="39954" name="Line 19"/>
            <p:cNvSpPr/>
            <p:nvPr/>
          </p:nvSpPr>
          <p:spPr>
            <a:xfrm flipV="1">
              <a:off x="4175" y="3257"/>
              <a:ext cx="399" cy="221"/>
            </a:xfrm>
            <a:prstGeom prst="line">
              <a:avLst/>
            </a:prstGeom>
            <a:ln w="25400" cap="flat" cmpd="sng">
              <a:solidFill>
                <a:schemeClr val="tx1"/>
              </a:solidFill>
              <a:prstDash val="solid"/>
              <a:round/>
              <a:headEnd type="none" w="med" len="med"/>
              <a:tailEnd type="none" w="med" len="med"/>
            </a:ln>
          </p:spPr>
        </p:sp>
        <p:sp>
          <p:nvSpPr>
            <p:cNvPr id="39955" name="Line 20"/>
            <p:cNvSpPr/>
            <p:nvPr/>
          </p:nvSpPr>
          <p:spPr>
            <a:xfrm flipV="1">
              <a:off x="4169" y="2981"/>
              <a:ext cx="121" cy="78"/>
            </a:xfrm>
            <a:prstGeom prst="line">
              <a:avLst/>
            </a:prstGeom>
            <a:ln w="25400" cap="flat" cmpd="sng">
              <a:solidFill>
                <a:schemeClr val="tx1"/>
              </a:solidFill>
              <a:prstDash val="solid"/>
              <a:round/>
              <a:headEnd type="none" w="med" len="med"/>
              <a:tailEnd type="none" w="med" len="med"/>
            </a:ln>
          </p:spPr>
        </p:sp>
        <p:sp>
          <p:nvSpPr>
            <p:cNvPr id="39956" name="Line 22"/>
            <p:cNvSpPr/>
            <p:nvPr/>
          </p:nvSpPr>
          <p:spPr>
            <a:xfrm flipV="1">
              <a:off x="4581" y="2966"/>
              <a:ext cx="0" cy="304"/>
            </a:xfrm>
            <a:prstGeom prst="line">
              <a:avLst/>
            </a:prstGeom>
            <a:ln w="25400" cap="flat" cmpd="sng">
              <a:solidFill>
                <a:schemeClr val="tx1"/>
              </a:solidFill>
              <a:prstDash val="solid"/>
              <a:round/>
              <a:headEnd type="none" w="med" len="med"/>
              <a:tailEnd type="none" w="med" len="med"/>
            </a:ln>
          </p:spPr>
        </p:sp>
        <p:sp>
          <p:nvSpPr>
            <p:cNvPr id="39957" name="Line 23"/>
            <p:cNvSpPr/>
            <p:nvPr/>
          </p:nvSpPr>
          <p:spPr>
            <a:xfrm>
              <a:off x="4584" y="2973"/>
              <a:ext cx="612" cy="0"/>
            </a:xfrm>
            <a:prstGeom prst="line">
              <a:avLst/>
            </a:prstGeom>
            <a:ln w="12700" cap="flat" cmpd="sng">
              <a:solidFill>
                <a:schemeClr val="tx1"/>
              </a:solidFill>
              <a:prstDash val="solid"/>
              <a:round/>
              <a:headEnd type="none" w="med" len="med"/>
              <a:tailEnd type="triangle" w="med" len="med"/>
            </a:ln>
          </p:spPr>
        </p:sp>
        <p:sp>
          <p:nvSpPr>
            <p:cNvPr id="39958" name="Line 24"/>
            <p:cNvSpPr/>
            <p:nvPr/>
          </p:nvSpPr>
          <p:spPr>
            <a:xfrm flipH="1">
              <a:off x="3670" y="3346"/>
              <a:ext cx="502" cy="0"/>
            </a:xfrm>
            <a:prstGeom prst="line">
              <a:avLst/>
            </a:prstGeom>
            <a:ln w="12700" cap="flat" cmpd="sng">
              <a:solidFill>
                <a:schemeClr val="tx1"/>
              </a:solidFill>
              <a:prstDash val="solid"/>
              <a:round/>
              <a:headEnd type="triangle" w="med" len="med"/>
              <a:tailEnd type="none" w="med" len="med"/>
            </a:ln>
          </p:spPr>
        </p:sp>
        <p:sp>
          <p:nvSpPr>
            <p:cNvPr id="39959" name="Rectangle 25"/>
            <p:cNvSpPr/>
            <p:nvPr/>
          </p:nvSpPr>
          <p:spPr>
            <a:xfrm rot="5400000">
              <a:off x="4081" y="2912"/>
              <a:ext cx="619" cy="229"/>
            </a:xfrm>
            <a:prstGeom prst="rect">
              <a:avLst/>
            </a:prstGeom>
            <a:noFill/>
            <a:ln w="12700">
              <a:noFill/>
            </a:ln>
          </p:spPr>
          <p:txBody>
            <a:bodyPr lIns="90488" tIns="44450" rIns="90488" bIns="44450" anchor="t" anchorCtr="0">
              <a:spAutoFit/>
            </a:bodyPr>
            <a:p>
              <a:pPr eaLnBrk="0" hangingPunct="0">
                <a:buClrTx/>
                <a:buFontTx/>
              </a:pPr>
              <a:r>
                <a:rPr lang="zh-CN" altLang="en-US" sz="1800" dirty="0">
                  <a:latin typeface="Arial" panose="020B0604020202020204" pitchFamily="34" charset="0"/>
                  <a:ea typeface="微软雅黑" panose="020B0503020204020204" pitchFamily="34" charset="-122"/>
                </a:rPr>
                <a:t>加法器</a:t>
              </a:r>
              <a:endParaRPr lang="zh-CN" altLang="en-US" sz="1800" dirty="0">
                <a:latin typeface="Arial" panose="020B0604020202020204" pitchFamily="34" charset="0"/>
                <a:ea typeface="微软雅黑" panose="020B0503020204020204" pitchFamily="34" charset="-122"/>
              </a:endParaRPr>
            </a:p>
          </p:txBody>
        </p:sp>
        <p:sp>
          <p:nvSpPr>
            <p:cNvPr id="39960" name="Line 26"/>
            <p:cNvSpPr/>
            <p:nvPr/>
          </p:nvSpPr>
          <p:spPr>
            <a:xfrm flipH="1">
              <a:off x="3834" y="3308"/>
              <a:ext cx="90" cy="77"/>
            </a:xfrm>
            <a:prstGeom prst="line">
              <a:avLst/>
            </a:prstGeom>
            <a:ln w="12700" cap="flat" cmpd="sng">
              <a:solidFill>
                <a:schemeClr val="tx1"/>
              </a:solidFill>
              <a:prstDash val="solid"/>
              <a:round/>
              <a:headEnd type="none" w="med" len="med"/>
              <a:tailEnd type="none" w="med" len="med"/>
            </a:ln>
          </p:spPr>
        </p:sp>
        <p:sp>
          <p:nvSpPr>
            <p:cNvPr id="39961" name="Line 27"/>
            <p:cNvSpPr/>
            <p:nvPr/>
          </p:nvSpPr>
          <p:spPr>
            <a:xfrm flipH="1">
              <a:off x="3834" y="2563"/>
              <a:ext cx="90" cy="74"/>
            </a:xfrm>
            <a:prstGeom prst="line">
              <a:avLst/>
            </a:prstGeom>
            <a:ln w="12700" cap="flat" cmpd="sng">
              <a:solidFill>
                <a:schemeClr val="tx1"/>
              </a:solidFill>
              <a:prstDash val="solid"/>
              <a:round/>
              <a:headEnd type="none" w="med" len="med"/>
              <a:tailEnd type="none" w="med" len="med"/>
            </a:ln>
          </p:spPr>
        </p:sp>
        <p:sp>
          <p:nvSpPr>
            <p:cNvPr id="39962" name="Line 28"/>
            <p:cNvSpPr/>
            <p:nvPr/>
          </p:nvSpPr>
          <p:spPr>
            <a:xfrm flipH="1">
              <a:off x="4866" y="2935"/>
              <a:ext cx="90" cy="75"/>
            </a:xfrm>
            <a:prstGeom prst="line">
              <a:avLst/>
            </a:prstGeom>
            <a:ln w="12700" cap="flat" cmpd="sng">
              <a:solidFill>
                <a:schemeClr val="tx1"/>
              </a:solidFill>
              <a:prstDash val="solid"/>
              <a:round/>
              <a:headEnd type="none" w="med" len="med"/>
              <a:tailEnd type="none" w="med" len="med"/>
            </a:ln>
          </p:spPr>
        </p:sp>
        <p:sp>
          <p:nvSpPr>
            <p:cNvPr id="39963" name="Rectangle 29"/>
            <p:cNvSpPr/>
            <p:nvPr/>
          </p:nvSpPr>
          <p:spPr>
            <a:xfrm>
              <a:off x="3707" y="2599"/>
              <a:ext cx="185" cy="210"/>
            </a:xfrm>
            <a:prstGeom prst="rect">
              <a:avLst/>
            </a:prstGeom>
            <a:noFill/>
            <a:ln w="12700">
              <a:noFill/>
            </a:ln>
          </p:spPr>
          <p:txBody>
            <a:bodyPr wrap="none" lIns="90488" tIns="44450" rIns="90488" bIns="44450" anchor="t" anchorCtr="0">
              <a:spAutoFit/>
            </a:bodyPr>
            <a:p>
              <a:pPr eaLnBrk="0" hangingPunct="0">
                <a:buClrTx/>
                <a:buFontTx/>
              </a:pPr>
              <a:r>
                <a:rPr lang="zh-CN" altLang="en-US" dirty="0">
                  <a:latin typeface="Arial" panose="020B0604020202020204" pitchFamily="34" charset="0"/>
                  <a:ea typeface="宋体" panose="02010600030101010101" pitchFamily="2" charset="-122"/>
                </a:rPr>
                <a:t>4</a:t>
              </a:r>
              <a:endParaRPr lang="zh-CN" altLang="en-US" dirty="0">
                <a:latin typeface="Arial" panose="020B0604020202020204" pitchFamily="34" charset="0"/>
                <a:ea typeface="Arial" panose="020B0604020202020204" pitchFamily="34" charset="0"/>
              </a:endParaRPr>
            </a:p>
          </p:txBody>
        </p:sp>
        <p:sp>
          <p:nvSpPr>
            <p:cNvPr id="39964" name="Rectangle 30"/>
            <p:cNvSpPr/>
            <p:nvPr/>
          </p:nvSpPr>
          <p:spPr>
            <a:xfrm>
              <a:off x="3707" y="3346"/>
              <a:ext cx="185" cy="210"/>
            </a:xfrm>
            <a:prstGeom prst="rect">
              <a:avLst/>
            </a:prstGeom>
            <a:noFill/>
            <a:ln w="12700">
              <a:noFill/>
            </a:ln>
          </p:spPr>
          <p:txBody>
            <a:bodyPr wrap="none" lIns="90488" tIns="44450" rIns="90488" bIns="44450" anchor="t" anchorCtr="0">
              <a:spAutoFit/>
            </a:bodyPr>
            <a:p>
              <a:pPr eaLnBrk="0" hangingPunct="0">
                <a:buClrTx/>
                <a:buFontTx/>
              </a:pPr>
              <a:r>
                <a:rPr lang="zh-CN" altLang="en-US" dirty="0">
                  <a:latin typeface="Arial" panose="020B0604020202020204" pitchFamily="34" charset="0"/>
                  <a:ea typeface="宋体" panose="02010600030101010101" pitchFamily="2" charset="-122"/>
                </a:rPr>
                <a:t>4</a:t>
              </a:r>
              <a:endParaRPr lang="zh-CN" altLang="en-US" dirty="0">
                <a:latin typeface="Arial" panose="020B0604020202020204" pitchFamily="34" charset="0"/>
                <a:ea typeface="Arial" panose="020B0604020202020204" pitchFamily="34" charset="0"/>
              </a:endParaRPr>
            </a:p>
          </p:txBody>
        </p:sp>
        <p:sp>
          <p:nvSpPr>
            <p:cNvPr id="39965" name="Rectangle 31"/>
            <p:cNvSpPr/>
            <p:nvPr/>
          </p:nvSpPr>
          <p:spPr>
            <a:xfrm>
              <a:off x="4739" y="2973"/>
              <a:ext cx="185" cy="172"/>
            </a:xfrm>
            <a:prstGeom prst="rect">
              <a:avLst/>
            </a:prstGeom>
            <a:noFill/>
            <a:ln w="12700">
              <a:noFill/>
            </a:ln>
          </p:spPr>
          <p:txBody>
            <a:bodyPr wrap="none" lIns="90488" tIns="44450" rIns="90488" bIns="44450" anchor="t" anchorCtr="0">
              <a:spAutoFit/>
            </a:bodyPr>
            <a:p>
              <a:pPr eaLnBrk="0" hangingPunct="0">
                <a:lnSpc>
                  <a:spcPct val="75000"/>
                </a:lnSpc>
                <a:buClrTx/>
                <a:buFontTx/>
              </a:pPr>
              <a:r>
                <a:rPr lang="zh-CN" altLang="en-US" dirty="0">
                  <a:latin typeface="Arial" panose="020B0604020202020204" pitchFamily="34" charset="0"/>
                  <a:ea typeface="宋体" panose="02010600030101010101" pitchFamily="2" charset="-122"/>
                </a:rPr>
                <a:t>4</a:t>
              </a:r>
              <a:endParaRPr lang="zh-CN" altLang="en-US" dirty="0">
                <a:latin typeface="Arial" panose="020B0604020202020204" pitchFamily="34" charset="0"/>
                <a:ea typeface="Arial" panose="020B0604020202020204" pitchFamily="34" charset="0"/>
              </a:endParaRPr>
            </a:p>
          </p:txBody>
        </p:sp>
        <p:sp>
          <p:nvSpPr>
            <p:cNvPr id="39966" name="Rectangle 32"/>
            <p:cNvSpPr/>
            <p:nvPr/>
          </p:nvSpPr>
          <p:spPr>
            <a:xfrm>
              <a:off x="3624" y="2380"/>
              <a:ext cx="206"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A</a:t>
              </a:r>
              <a:endParaRPr lang="en-US" altLang="zh-CN" dirty="0">
                <a:latin typeface="Arial" panose="020B0604020202020204" pitchFamily="34" charset="0"/>
                <a:ea typeface="Arial" panose="020B0604020202020204" pitchFamily="34" charset="0"/>
              </a:endParaRPr>
            </a:p>
          </p:txBody>
        </p:sp>
        <p:sp>
          <p:nvSpPr>
            <p:cNvPr id="39967" name="Rectangle 34"/>
            <p:cNvSpPr/>
            <p:nvPr/>
          </p:nvSpPr>
          <p:spPr>
            <a:xfrm>
              <a:off x="4986" y="2653"/>
              <a:ext cx="270"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ZF</a:t>
              </a:r>
              <a:endParaRPr lang="en-US" altLang="zh-CN" dirty="0">
                <a:latin typeface="Arial" panose="020B0604020202020204" pitchFamily="34" charset="0"/>
                <a:ea typeface="Arial" panose="020B0604020202020204" pitchFamily="34" charset="0"/>
              </a:endParaRPr>
            </a:p>
          </p:txBody>
        </p:sp>
        <p:sp>
          <p:nvSpPr>
            <p:cNvPr id="39968" name="Line 35"/>
            <p:cNvSpPr/>
            <p:nvPr/>
          </p:nvSpPr>
          <p:spPr>
            <a:xfrm>
              <a:off x="4416" y="2354"/>
              <a:ext cx="0" cy="242"/>
            </a:xfrm>
            <a:prstGeom prst="line">
              <a:avLst/>
            </a:prstGeom>
            <a:ln w="12700" cap="flat" cmpd="sng">
              <a:solidFill>
                <a:schemeClr val="tx1"/>
              </a:solidFill>
              <a:prstDash val="solid"/>
              <a:round/>
              <a:headEnd type="none" w="med" len="med"/>
              <a:tailEnd type="triangle" w="med" len="med"/>
            </a:ln>
          </p:spPr>
        </p:sp>
        <p:sp>
          <p:nvSpPr>
            <p:cNvPr id="39969" name="Rectangle 36"/>
            <p:cNvSpPr/>
            <p:nvPr/>
          </p:nvSpPr>
          <p:spPr>
            <a:xfrm>
              <a:off x="4449" y="2393"/>
              <a:ext cx="320"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Cin</a:t>
              </a:r>
              <a:endParaRPr lang="en-US" altLang="zh-CN" dirty="0">
                <a:latin typeface="Arial" panose="020B0604020202020204" pitchFamily="34" charset="0"/>
                <a:ea typeface="Arial" panose="020B0604020202020204" pitchFamily="34" charset="0"/>
              </a:endParaRPr>
            </a:p>
          </p:txBody>
        </p:sp>
        <p:sp>
          <p:nvSpPr>
            <p:cNvPr id="39970" name="Line 37"/>
            <p:cNvSpPr/>
            <p:nvPr/>
          </p:nvSpPr>
          <p:spPr>
            <a:xfrm>
              <a:off x="4416" y="3350"/>
              <a:ext cx="0" cy="325"/>
            </a:xfrm>
            <a:prstGeom prst="line">
              <a:avLst/>
            </a:prstGeom>
            <a:ln w="12700" cap="flat" cmpd="sng">
              <a:solidFill>
                <a:schemeClr val="tx1"/>
              </a:solidFill>
              <a:prstDash val="solid"/>
              <a:round/>
              <a:headEnd type="none" w="med" len="med"/>
              <a:tailEnd type="triangle" w="med" len="med"/>
            </a:ln>
          </p:spPr>
        </p:sp>
        <p:sp>
          <p:nvSpPr>
            <p:cNvPr id="39971" name="Rectangle 38"/>
            <p:cNvSpPr/>
            <p:nvPr/>
          </p:nvSpPr>
          <p:spPr>
            <a:xfrm>
              <a:off x="4449" y="3514"/>
              <a:ext cx="405"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Cout</a:t>
              </a:r>
              <a:endParaRPr lang="en-US" altLang="zh-CN" dirty="0">
                <a:latin typeface="Arial" panose="020B0604020202020204" pitchFamily="34" charset="0"/>
                <a:ea typeface="Arial" panose="020B0604020202020204" pitchFamily="34" charset="0"/>
              </a:endParaRPr>
            </a:p>
          </p:txBody>
        </p:sp>
        <p:sp>
          <p:nvSpPr>
            <p:cNvPr id="39972" name="Line 39"/>
            <p:cNvSpPr/>
            <p:nvPr/>
          </p:nvSpPr>
          <p:spPr>
            <a:xfrm flipH="1">
              <a:off x="2308" y="3222"/>
              <a:ext cx="1039" cy="0"/>
            </a:xfrm>
            <a:prstGeom prst="line">
              <a:avLst/>
            </a:prstGeom>
            <a:ln w="12700" cap="flat" cmpd="sng">
              <a:solidFill>
                <a:schemeClr val="tx1"/>
              </a:solidFill>
              <a:prstDash val="solid"/>
              <a:round/>
              <a:headEnd type="triangle" w="med" len="med"/>
              <a:tailEnd type="none" w="med" len="med"/>
            </a:ln>
          </p:spPr>
        </p:sp>
        <p:sp>
          <p:nvSpPr>
            <p:cNvPr id="39973" name="Line 40"/>
            <p:cNvSpPr/>
            <p:nvPr/>
          </p:nvSpPr>
          <p:spPr>
            <a:xfrm flipH="1">
              <a:off x="2474" y="3184"/>
              <a:ext cx="89" cy="76"/>
            </a:xfrm>
            <a:prstGeom prst="line">
              <a:avLst/>
            </a:prstGeom>
            <a:ln w="12700" cap="flat" cmpd="sng">
              <a:solidFill>
                <a:schemeClr val="tx1"/>
              </a:solidFill>
              <a:prstDash val="solid"/>
              <a:round/>
              <a:headEnd type="none" w="med" len="med"/>
              <a:tailEnd type="none" w="med" len="med"/>
            </a:ln>
          </p:spPr>
        </p:sp>
        <p:sp>
          <p:nvSpPr>
            <p:cNvPr id="39974" name="Rectangle 41"/>
            <p:cNvSpPr/>
            <p:nvPr/>
          </p:nvSpPr>
          <p:spPr>
            <a:xfrm>
              <a:off x="2345" y="3222"/>
              <a:ext cx="185" cy="210"/>
            </a:xfrm>
            <a:prstGeom prst="rect">
              <a:avLst/>
            </a:prstGeom>
            <a:noFill/>
            <a:ln w="12700">
              <a:noFill/>
            </a:ln>
          </p:spPr>
          <p:txBody>
            <a:bodyPr wrap="none" lIns="90488" tIns="44450" rIns="90488" bIns="44450" anchor="t" anchorCtr="0">
              <a:spAutoFit/>
            </a:bodyPr>
            <a:p>
              <a:pPr eaLnBrk="0" hangingPunct="0">
                <a:buClrTx/>
                <a:buFontTx/>
              </a:pPr>
              <a:r>
                <a:rPr lang="zh-CN" altLang="en-US" dirty="0">
                  <a:latin typeface="Arial" panose="020B0604020202020204" pitchFamily="34" charset="0"/>
                  <a:ea typeface="宋体" panose="02010600030101010101" pitchFamily="2" charset="-122"/>
                </a:rPr>
                <a:t>4</a:t>
              </a:r>
              <a:endParaRPr lang="zh-CN" altLang="en-US" dirty="0">
                <a:latin typeface="Arial" panose="020B0604020202020204" pitchFamily="34" charset="0"/>
                <a:ea typeface="Arial" panose="020B0604020202020204" pitchFamily="34" charset="0"/>
              </a:endParaRPr>
            </a:p>
          </p:txBody>
        </p:sp>
        <p:sp>
          <p:nvSpPr>
            <p:cNvPr id="39975" name="Rectangle 42"/>
            <p:cNvSpPr/>
            <p:nvPr/>
          </p:nvSpPr>
          <p:spPr>
            <a:xfrm>
              <a:off x="2139" y="3139"/>
              <a:ext cx="206"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B</a:t>
              </a:r>
              <a:endParaRPr lang="en-US" altLang="zh-CN" dirty="0">
                <a:latin typeface="Arial" panose="020B0604020202020204" pitchFamily="34" charset="0"/>
                <a:ea typeface="Arial" panose="020B0604020202020204" pitchFamily="34" charset="0"/>
              </a:endParaRPr>
            </a:p>
          </p:txBody>
        </p:sp>
        <p:grpSp>
          <p:nvGrpSpPr>
            <p:cNvPr id="39976" name="Group 43"/>
            <p:cNvGrpSpPr/>
            <p:nvPr/>
          </p:nvGrpSpPr>
          <p:grpSpPr>
            <a:xfrm>
              <a:off x="2717" y="3340"/>
              <a:ext cx="290" cy="247"/>
              <a:chOff x="1816" y="3448"/>
              <a:chExt cx="336" cy="288"/>
            </a:xfrm>
          </p:grpSpPr>
          <p:sp>
            <p:nvSpPr>
              <p:cNvPr id="39977" name="Oval 44"/>
              <p:cNvSpPr/>
              <p:nvPr/>
            </p:nvSpPr>
            <p:spPr>
              <a:xfrm>
                <a:off x="2072" y="3560"/>
                <a:ext cx="80" cy="80"/>
              </a:xfrm>
              <a:prstGeom prst="ellipse">
                <a:avLst/>
              </a:prstGeom>
              <a:noFill/>
              <a:ln w="254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Times New Roman" panose="02020603050405020304" pitchFamily="18" charset="0"/>
                  <a:ea typeface="宋体" panose="02010600030101010101" pitchFamily="2" charset="-122"/>
                </a:endParaRPr>
              </a:p>
            </p:txBody>
          </p:sp>
          <p:sp>
            <p:nvSpPr>
              <p:cNvPr id="39978" name="Line 45"/>
              <p:cNvSpPr/>
              <p:nvPr/>
            </p:nvSpPr>
            <p:spPr>
              <a:xfrm flipH="1" flipV="1">
                <a:off x="1816" y="3448"/>
                <a:ext cx="256" cy="160"/>
              </a:xfrm>
              <a:prstGeom prst="line">
                <a:avLst/>
              </a:prstGeom>
              <a:ln w="25400" cap="flat" cmpd="sng">
                <a:solidFill>
                  <a:schemeClr val="tx1"/>
                </a:solidFill>
                <a:prstDash val="solid"/>
                <a:round/>
                <a:headEnd type="none" w="med" len="med"/>
                <a:tailEnd type="none" w="med" len="med"/>
              </a:ln>
            </p:spPr>
          </p:sp>
          <p:sp>
            <p:nvSpPr>
              <p:cNvPr id="39979" name="Line 46"/>
              <p:cNvSpPr/>
              <p:nvPr/>
            </p:nvSpPr>
            <p:spPr>
              <a:xfrm flipH="1">
                <a:off x="1816" y="3608"/>
                <a:ext cx="256" cy="128"/>
              </a:xfrm>
              <a:prstGeom prst="line">
                <a:avLst/>
              </a:prstGeom>
              <a:ln w="25400" cap="flat" cmpd="sng">
                <a:solidFill>
                  <a:schemeClr val="tx1"/>
                </a:solidFill>
                <a:prstDash val="solid"/>
                <a:round/>
                <a:headEnd type="none" w="med" len="med"/>
                <a:tailEnd type="none" w="med" len="med"/>
              </a:ln>
            </p:spPr>
          </p:sp>
          <p:sp>
            <p:nvSpPr>
              <p:cNvPr id="39980" name="Line 47"/>
              <p:cNvSpPr/>
              <p:nvPr/>
            </p:nvSpPr>
            <p:spPr>
              <a:xfrm>
                <a:off x="1824" y="3464"/>
                <a:ext cx="0" cy="272"/>
              </a:xfrm>
              <a:prstGeom prst="line">
                <a:avLst/>
              </a:prstGeom>
              <a:ln w="25400" cap="flat" cmpd="sng">
                <a:solidFill>
                  <a:schemeClr val="tx1"/>
                </a:solidFill>
                <a:prstDash val="solid"/>
                <a:round/>
                <a:headEnd type="none" w="med" len="med"/>
                <a:tailEnd type="none" w="med" len="med"/>
              </a:ln>
            </p:spPr>
          </p:sp>
        </p:grpSp>
        <p:sp>
          <p:nvSpPr>
            <p:cNvPr id="39981" name="Line 48"/>
            <p:cNvSpPr/>
            <p:nvPr/>
          </p:nvSpPr>
          <p:spPr>
            <a:xfrm>
              <a:off x="2601" y="3225"/>
              <a:ext cx="0" cy="243"/>
            </a:xfrm>
            <a:prstGeom prst="line">
              <a:avLst/>
            </a:prstGeom>
            <a:ln w="12700" cap="flat" cmpd="sng">
              <a:solidFill>
                <a:schemeClr val="tx1"/>
              </a:solidFill>
              <a:prstDash val="solid"/>
              <a:round/>
              <a:headEnd type="none" w="med" len="med"/>
              <a:tailEnd type="none" w="med" len="med"/>
            </a:ln>
          </p:spPr>
        </p:sp>
        <p:sp>
          <p:nvSpPr>
            <p:cNvPr id="39982" name="Line 49"/>
            <p:cNvSpPr/>
            <p:nvPr/>
          </p:nvSpPr>
          <p:spPr>
            <a:xfrm>
              <a:off x="2604" y="3470"/>
              <a:ext cx="117" cy="0"/>
            </a:xfrm>
            <a:prstGeom prst="line">
              <a:avLst/>
            </a:prstGeom>
            <a:ln w="12700" cap="flat" cmpd="sng">
              <a:solidFill>
                <a:schemeClr val="tx1"/>
              </a:solidFill>
              <a:prstDash val="solid"/>
              <a:round/>
              <a:headEnd type="none" w="med" len="med"/>
              <a:tailEnd type="none" w="med" len="med"/>
            </a:ln>
          </p:spPr>
        </p:sp>
        <p:sp>
          <p:nvSpPr>
            <p:cNvPr id="39983" name="Line 50"/>
            <p:cNvSpPr/>
            <p:nvPr/>
          </p:nvSpPr>
          <p:spPr>
            <a:xfrm flipH="1">
              <a:off x="3010" y="3470"/>
              <a:ext cx="337" cy="0"/>
            </a:xfrm>
            <a:prstGeom prst="line">
              <a:avLst/>
            </a:prstGeom>
            <a:ln w="12700" cap="flat" cmpd="sng">
              <a:solidFill>
                <a:schemeClr val="tx1"/>
              </a:solidFill>
              <a:prstDash val="solid"/>
              <a:round/>
              <a:headEnd type="triangle" w="med" len="med"/>
              <a:tailEnd type="none" w="med" len="med"/>
            </a:ln>
          </p:spPr>
        </p:sp>
        <p:sp>
          <p:nvSpPr>
            <p:cNvPr id="39984" name="Line 51"/>
            <p:cNvSpPr/>
            <p:nvPr/>
          </p:nvSpPr>
          <p:spPr>
            <a:xfrm flipH="1">
              <a:off x="3092" y="3433"/>
              <a:ext cx="89" cy="76"/>
            </a:xfrm>
            <a:prstGeom prst="line">
              <a:avLst/>
            </a:prstGeom>
            <a:ln w="12700" cap="flat" cmpd="sng">
              <a:solidFill>
                <a:schemeClr val="tx1"/>
              </a:solidFill>
              <a:prstDash val="solid"/>
              <a:round/>
              <a:headEnd type="none" w="med" len="med"/>
              <a:tailEnd type="none" w="med" len="med"/>
            </a:ln>
          </p:spPr>
        </p:sp>
        <p:sp>
          <p:nvSpPr>
            <p:cNvPr id="39985" name="Rectangle 52"/>
            <p:cNvSpPr/>
            <p:nvPr/>
          </p:nvSpPr>
          <p:spPr>
            <a:xfrm>
              <a:off x="2995" y="3481"/>
              <a:ext cx="185" cy="210"/>
            </a:xfrm>
            <a:prstGeom prst="rect">
              <a:avLst/>
            </a:prstGeom>
            <a:noFill/>
            <a:ln w="12700">
              <a:noFill/>
            </a:ln>
          </p:spPr>
          <p:txBody>
            <a:bodyPr wrap="none" lIns="90488" tIns="44450" rIns="90488" bIns="44450" anchor="t" anchorCtr="0">
              <a:spAutoFit/>
            </a:bodyPr>
            <a:p>
              <a:pPr eaLnBrk="0" hangingPunct="0">
                <a:buClrTx/>
                <a:buFontTx/>
              </a:pPr>
              <a:r>
                <a:rPr lang="zh-CN" altLang="en-US" dirty="0">
                  <a:latin typeface="Arial" panose="020B0604020202020204" pitchFamily="34" charset="0"/>
                  <a:ea typeface="宋体" panose="02010600030101010101" pitchFamily="2" charset="-122"/>
                </a:rPr>
                <a:t>4</a:t>
              </a:r>
              <a:endParaRPr lang="zh-CN" altLang="en-US" dirty="0">
                <a:latin typeface="Arial" panose="020B0604020202020204" pitchFamily="34" charset="0"/>
                <a:ea typeface="Arial" panose="020B0604020202020204" pitchFamily="34" charset="0"/>
              </a:endParaRPr>
            </a:p>
          </p:txBody>
        </p:sp>
        <p:sp>
          <p:nvSpPr>
            <p:cNvPr id="39986" name="Rectangle 54"/>
            <p:cNvSpPr/>
            <p:nvPr/>
          </p:nvSpPr>
          <p:spPr>
            <a:xfrm>
              <a:off x="3322" y="3108"/>
              <a:ext cx="162" cy="171"/>
            </a:xfrm>
            <a:prstGeom prst="rect">
              <a:avLst/>
            </a:prstGeom>
            <a:noFill/>
            <a:ln w="12700">
              <a:noFill/>
            </a:ln>
          </p:spPr>
          <p:txBody>
            <a:bodyPr wrap="none" lIns="90488" tIns="44450" rIns="90488" bIns="44450" anchor="t" anchorCtr="0">
              <a:spAutoFit/>
            </a:bodyPr>
            <a:p>
              <a:pPr eaLnBrk="0" hangingPunct="0">
                <a:buClrTx/>
                <a:buFontTx/>
              </a:pPr>
              <a:r>
                <a:rPr lang="zh-CN" altLang="en-US" sz="1200" dirty="0">
                  <a:latin typeface="Times New Roman" panose="02020603050405020304" pitchFamily="18" charset="0"/>
                  <a:ea typeface="宋体" panose="02010600030101010101" pitchFamily="2" charset="-122"/>
                </a:rPr>
                <a:t>0</a:t>
              </a:r>
              <a:endParaRPr lang="zh-CN" altLang="en-US" sz="1200" dirty="0">
                <a:latin typeface="Times New Roman" panose="02020603050405020304" pitchFamily="18" charset="0"/>
                <a:ea typeface="宋体" panose="02010600030101010101" pitchFamily="2" charset="-122"/>
              </a:endParaRPr>
            </a:p>
          </p:txBody>
        </p:sp>
        <p:sp>
          <p:nvSpPr>
            <p:cNvPr id="39987" name="Rectangle 55"/>
            <p:cNvSpPr/>
            <p:nvPr/>
          </p:nvSpPr>
          <p:spPr>
            <a:xfrm>
              <a:off x="3309" y="3355"/>
              <a:ext cx="162" cy="172"/>
            </a:xfrm>
            <a:prstGeom prst="rect">
              <a:avLst/>
            </a:prstGeom>
            <a:noFill/>
            <a:ln w="12700">
              <a:noFill/>
            </a:ln>
          </p:spPr>
          <p:txBody>
            <a:bodyPr wrap="none" lIns="90488" tIns="44450" rIns="90488" bIns="44450" anchor="t" anchorCtr="0">
              <a:spAutoFit/>
            </a:bodyPr>
            <a:p>
              <a:pPr eaLnBrk="0" hangingPunct="0">
                <a:buClrTx/>
                <a:buFontTx/>
              </a:pPr>
              <a:r>
                <a:rPr lang="zh-CN" altLang="en-US" sz="1200" dirty="0">
                  <a:latin typeface="Times New Roman" panose="02020603050405020304" pitchFamily="18" charset="0"/>
                  <a:ea typeface="宋体" panose="02010600030101010101" pitchFamily="2" charset="-122"/>
                </a:rPr>
                <a:t>1</a:t>
              </a:r>
              <a:endParaRPr lang="zh-CN" altLang="en-US" sz="1200" dirty="0">
                <a:latin typeface="Times New Roman" panose="02020603050405020304" pitchFamily="18" charset="0"/>
                <a:ea typeface="宋体" panose="02010600030101010101" pitchFamily="2" charset="-122"/>
              </a:endParaRPr>
            </a:p>
          </p:txBody>
        </p:sp>
        <p:sp>
          <p:nvSpPr>
            <p:cNvPr id="39988" name="Rectangle 56"/>
            <p:cNvSpPr/>
            <p:nvPr/>
          </p:nvSpPr>
          <p:spPr>
            <a:xfrm rot="5400000">
              <a:off x="3314" y="3272"/>
              <a:ext cx="473" cy="211"/>
            </a:xfrm>
            <a:prstGeom prst="rect">
              <a:avLst/>
            </a:prstGeom>
            <a:noFill/>
            <a:ln w="12700">
              <a:noFill/>
            </a:ln>
          </p:spPr>
          <p:txBody>
            <a:bodyPr lIns="90488" tIns="44450" rIns="90488" bIns="44450" anchor="t" anchorCtr="0">
              <a:spAutoFit/>
            </a:bodyPr>
            <a:p>
              <a:pPr eaLnBrk="0" hangingPunct="0">
                <a:buClrTx/>
                <a:buFontTx/>
              </a:pPr>
              <a:r>
                <a:rPr lang="en-US" altLang="zh-CN" dirty="0">
                  <a:latin typeface="Arial" panose="020B0604020202020204" pitchFamily="34" charset="0"/>
                </a:rPr>
                <a:t>MUX</a:t>
              </a:r>
              <a:endParaRPr lang="en-US" altLang="zh-CN" dirty="0">
                <a:latin typeface="Arial" panose="020B0604020202020204" pitchFamily="34" charset="0"/>
                <a:ea typeface="Arial" panose="020B0604020202020204" pitchFamily="34" charset="0"/>
              </a:endParaRPr>
            </a:p>
          </p:txBody>
        </p:sp>
        <p:sp>
          <p:nvSpPr>
            <p:cNvPr id="39989" name="Line 57"/>
            <p:cNvSpPr/>
            <p:nvPr/>
          </p:nvSpPr>
          <p:spPr>
            <a:xfrm flipV="1">
              <a:off x="3508" y="2205"/>
              <a:ext cx="0" cy="837"/>
            </a:xfrm>
            <a:prstGeom prst="line">
              <a:avLst/>
            </a:prstGeom>
            <a:ln w="12700" cap="flat" cmpd="sng">
              <a:solidFill>
                <a:schemeClr val="tx1"/>
              </a:solidFill>
              <a:prstDash val="solid"/>
              <a:round/>
              <a:headEnd type="triangle" w="med" len="med"/>
              <a:tailEnd type="none" w="med" len="med"/>
            </a:ln>
          </p:spPr>
        </p:sp>
        <p:sp>
          <p:nvSpPr>
            <p:cNvPr id="39990" name="Line 59"/>
            <p:cNvSpPr/>
            <p:nvPr/>
          </p:nvSpPr>
          <p:spPr>
            <a:xfrm flipH="1">
              <a:off x="3505" y="2351"/>
              <a:ext cx="914" cy="0"/>
            </a:xfrm>
            <a:prstGeom prst="line">
              <a:avLst/>
            </a:prstGeom>
            <a:ln w="12700" cap="flat" cmpd="sng">
              <a:solidFill>
                <a:schemeClr val="tx1"/>
              </a:solidFill>
              <a:prstDash val="solid"/>
              <a:round/>
              <a:headEnd type="none" w="med" len="med"/>
              <a:tailEnd type="none" w="med" len="med"/>
            </a:ln>
          </p:spPr>
        </p:sp>
        <p:sp>
          <p:nvSpPr>
            <p:cNvPr id="39991" name="Rectangle 60"/>
            <p:cNvSpPr/>
            <p:nvPr/>
          </p:nvSpPr>
          <p:spPr>
            <a:xfrm>
              <a:off x="3126" y="2151"/>
              <a:ext cx="355"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Sub</a:t>
              </a:r>
              <a:endParaRPr lang="en-US" altLang="zh-CN" dirty="0">
                <a:latin typeface="Arial" panose="020B0604020202020204" pitchFamily="34" charset="0"/>
                <a:ea typeface="Arial" panose="020B0604020202020204" pitchFamily="34" charset="0"/>
              </a:endParaRPr>
            </a:p>
          </p:txBody>
        </p:sp>
        <p:sp>
          <p:nvSpPr>
            <p:cNvPr id="39992" name="Rectangle 62"/>
            <p:cNvSpPr/>
            <p:nvPr/>
          </p:nvSpPr>
          <p:spPr>
            <a:xfrm>
              <a:off x="2953" y="3266"/>
              <a:ext cx="206"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B</a:t>
              </a:r>
              <a:endParaRPr lang="en-US" altLang="zh-CN" dirty="0">
                <a:latin typeface="Arial" panose="020B0604020202020204" pitchFamily="34" charset="0"/>
                <a:ea typeface="Arial" panose="020B0604020202020204" pitchFamily="34" charset="0"/>
              </a:endParaRPr>
            </a:p>
          </p:txBody>
        </p:sp>
        <p:sp>
          <p:nvSpPr>
            <p:cNvPr id="39993" name="Line 63"/>
            <p:cNvSpPr/>
            <p:nvPr/>
          </p:nvSpPr>
          <p:spPr>
            <a:xfrm>
              <a:off x="3004" y="3303"/>
              <a:ext cx="95" cy="0"/>
            </a:xfrm>
            <a:prstGeom prst="line">
              <a:avLst/>
            </a:prstGeom>
            <a:ln w="28575" cap="flat" cmpd="sng">
              <a:solidFill>
                <a:srgbClr val="000000"/>
              </a:solidFill>
              <a:prstDash val="solid"/>
              <a:round/>
              <a:headEnd type="none" w="med" len="med"/>
              <a:tailEnd type="none" w="med" len="med"/>
            </a:ln>
          </p:spPr>
        </p:sp>
        <p:sp>
          <p:nvSpPr>
            <p:cNvPr id="39994" name="Line 64"/>
            <p:cNvSpPr/>
            <p:nvPr/>
          </p:nvSpPr>
          <p:spPr>
            <a:xfrm>
              <a:off x="4577" y="2787"/>
              <a:ext cx="401" cy="0"/>
            </a:xfrm>
            <a:prstGeom prst="line">
              <a:avLst/>
            </a:prstGeom>
            <a:ln w="12700" cap="flat" cmpd="sng">
              <a:solidFill>
                <a:srgbClr val="000000"/>
              </a:solidFill>
              <a:prstDash val="solid"/>
              <a:round/>
              <a:headEnd type="none" w="med" len="med"/>
              <a:tailEnd type="triangle" w="med" len="med"/>
            </a:ln>
          </p:spPr>
        </p:sp>
        <p:sp>
          <p:nvSpPr>
            <p:cNvPr id="39995" name="Line 65"/>
            <p:cNvSpPr/>
            <p:nvPr/>
          </p:nvSpPr>
          <p:spPr>
            <a:xfrm>
              <a:off x="4594" y="3206"/>
              <a:ext cx="402" cy="0"/>
            </a:xfrm>
            <a:prstGeom prst="line">
              <a:avLst/>
            </a:prstGeom>
            <a:ln w="12700" cap="flat" cmpd="sng">
              <a:solidFill>
                <a:srgbClr val="000000"/>
              </a:solidFill>
              <a:prstDash val="solid"/>
              <a:round/>
              <a:headEnd type="none" w="med" len="med"/>
              <a:tailEnd type="triangle" w="med" len="med"/>
            </a:ln>
          </p:spPr>
        </p:sp>
        <p:sp>
          <p:nvSpPr>
            <p:cNvPr id="39996" name="Rectangle 66"/>
            <p:cNvSpPr/>
            <p:nvPr/>
          </p:nvSpPr>
          <p:spPr>
            <a:xfrm>
              <a:off x="4977" y="3125"/>
              <a:ext cx="2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OF</a:t>
              </a:r>
              <a:endParaRPr lang="en-US" altLang="zh-CN" dirty="0">
                <a:latin typeface="Arial" panose="020B0604020202020204" pitchFamily="34" charset="0"/>
                <a:ea typeface="Arial" panose="020B0604020202020204" pitchFamily="34" charset="0"/>
              </a:endParaRPr>
            </a:p>
          </p:txBody>
        </p:sp>
        <p:sp>
          <p:nvSpPr>
            <p:cNvPr id="39997" name="Text Box 68"/>
            <p:cNvSpPr txBox="1"/>
            <p:nvPr/>
          </p:nvSpPr>
          <p:spPr>
            <a:xfrm>
              <a:off x="3262" y="3806"/>
              <a:ext cx="1503" cy="250"/>
            </a:xfrm>
            <a:prstGeom prst="rect">
              <a:avLst/>
            </a:prstGeom>
            <a:noFill/>
            <a:ln w="12700">
              <a:noFill/>
            </a:ln>
          </p:spPr>
          <p:txBody>
            <a:bodyPr anchor="t" anchorCtr="0">
              <a:spAutoFit/>
            </a:bodyPr>
            <a:p>
              <a:pPr eaLnBrk="0" hangingPunct="0">
                <a:spcBef>
                  <a:spcPct val="50000"/>
                </a:spcBef>
                <a:buClrTx/>
                <a:buFontTx/>
              </a:pPr>
              <a:r>
                <a:rPr lang="zh-CN" altLang="en-US" sz="2000" dirty="0">
                  <a:solidFill>
                    <a:srgbClr val="C00000"/>
                  </a:solidFill>
                  <a:latin typeface="微软雅黑" panose="020B0503020204020204" pitchFamily="34" charset="-122"/>
                  <a:ea typeface="微软雅黑" panose="020B0503020204020204" pitchFamily="34" charset="-122"/>
                </a:rPr>
                <a:t>整数加</a:t>
              </a:r>
              <a:r>
                <a:rPr lang="en-US" altLang="zh-CN" sz="2000" dirty="0">
                  <a:solidFill>
                    <a:srgbClr val="C00000"/>
                  </a:solidFill>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减运算部件</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39998" name="Line 63"/>
            <p:cNvSpPr/>
            <p:nvPr/>
          </p:nvSpPr>
          <p:spPr>
            <a:xfrm>
              <a:off x="4594" y="2895"/>
              <a:ext cx="680" cy="0"/>
            </a:xfrm>
            <a:prstGeom prst="line">
              <a:avLst/>
            </a:prstGeom>
            <a:ln w="12700" cap="flat" cmpd="sng">
              <a:solidFill>
                <a:schemeClr val="tx1"/>
              </a:solidFill>
              <a:prstDash val="solid"/>
              <a:round/>
              <a:headEnd type="none" w="med" len="med"/>
              <a:tailEnd type="triangle" w="med" len="med"/>
            </a:ln>
          </p:spPr>
        </p:sp>
        <p:sp>
          <p:nvSpPr>
            <p:cNvPr id="39999" name="Text Box 64"/>
            <p:cNvSpPr txBox="1"/>
            <p:nvPr/>
          </p:nvSpPr>
          <p:spPr>
            <a:xfrm>
              <a:off x="5246" y="2777"/>
              <a:ext cx="340" cy="212"/>
            </a:xfrm>
            <a:prstGeom prst="rect">
              <a:avLst/>
            </a:prstGeom>
            <a:noFill/>
            <a:ln w="12700">
              <a:noFill/>
            </a:ln>
          </p:spPr>
          <p:txBody>
            <a:bodyPr anchor="t" anchorCtr="0">
              <a:spAutoFit/>
            </a:bodyPr>
            <a:p>
              <a:pPr eaLnBrk="0" hangingPunct="0">
                <a:spcBef>
                  <a:spcPct val="50000"/>
                </a:spcBef>
                <a:buClrTx/>
                <a:buFontTx/>
              </a:pPr>
              <a:r>
                <a:rPr lang="en-US" altLang="zh-CN" dirty="0">
                  <a:latin typeface="Arial" panose="020B0604020202020204" pitchFamily="34" charset="0"/>
                </a:rPr>
                <a:t>SF</a:t>
              </a:r>
              <a:endParaRPr lang="en-US" altLang="zh-CN" dirty="0">
                <a:latin typeface="Arial" panose="020B0604020202020204" pitchFamily="34" charset="0"/>
              </a:endParaRPr>
            </a:p>
          </p:txBody>
        </p:sp>
        <p:sp>
          <p:nvSpPr>
            <p:cNvPr id="40000" name="Line 65"/>
            <p:cNvSpPr/>
            <p:nvPr/>
          </p:nvSpPr>
          <p:spPr>
            <a:xfrm>
              <a:off x="4594" y="3133"/>
              <a:ext cx="850" cy="0"/>
            </a:xfrm>
            <a:prstGeom prst="line">
              <a:avLst/>
            </a:prstGeom>
            <a:ln w="12700" cap="flat" cmpd="sng">
              <a:solidFill>
                <a:schemeClr val="tx1"/>
              </a:solidFill>
              <a:prstDash val="solid"/>
              <a:round/>
              <a:headEnd type="none" w="med" len="med"/>
              <a:tailEnd type="triangle" w="med" len="med"/>
            </a:ln>
          </p:spPr>
        </p:sp>
        <p:sp>
          <p:nvSpPr>
            <p:cNvPr id="40001" name="Text Box 66"/>
            <p:cNvSpPr txBox="1"/>
            <p:nvPr/>
          </p:nvSpPr>
          <p:spPr>
            <a:xfrm>
              <a:off x="5416" y="3015"/>
              <a:ext cx="344" cy="212"/>
            </a:xfrm>
            <a:prstGeom prst="rect">
              <a:avLst/>
            </a:prstGeom>
            <a:noFill/>
            <a:ln w="12700">
              <a:noFill/>
            </a:ln>
          </p:spPr>
          <p:txBody>
            <a:bodyPr anchor="t" anchorCtr="0">
              <a:spAutoFit/>
            </a:bodyPr>
            <a:p>
              <a:pPr eaLnBrk="0" hangingPunct="0">
                <a:spcBef>
                  <a:spcPct val="50000"/>
                </a:spcBef>
                <a:buClrTx/>
                <a:buFontTx/>
              </a:pPr>
              <a:r>
                <a:rPr lang="en-US" altLang="zh-CN" dirty="0">
                  <a:latin typeface="Arial" panose="020B0604020202020204" pitchFamily="34" charset="0"/>
                </a:rPr>
                <a:t>CF</a:t>
              </a:r>
              <a:endParaRPr lang="en-US" altLang="zh-CN" dirty="0">
                <a:latin typeface="Arial" panose="020B0604020202020204" pitchFamily="34" charset="0"/>
              </a:endParaRPr>
            </a:p>
          </p:txBody>
        </p:sp>
        <p:sp>
          <p:nvSpPr>
            <p:cNvPr id="40002" name="Text Box 67"/>
            <p:cNvSpPr txBox="1"/>
            <p:nvPr/>
          </p:nvSpPr>
          <p:spPr>
            <a:xfrm>
              <a:off x="3883" y="3094"/>
              <a:ext cx="389" cy="212"/>
            </a:xfrm>
            <a:prstGeom prst="rect">
              <a:avLst/>
            </a:prstGeom>
            <a:noFill/>
            <a:ln w="12700">
              <a:noFill/>
            </a:ln>
          </p:spPr>
          <p:txBody>
            <a:bodyPr anchor="t" anchorCtr="0">
              <a:spAutoFit/>
            </a:bodyPr>
            <a:p>
              <a:pPr eaLnBrk="0" hangingPunct="0">
                <a:spcBef>
                  <a:spcPct val="50000"/>
                </a:spcBef>
                <a:buClrTx/>
                <a:buFontTx/>
              </a:pPr>
              <a:r>
                <a:rPr lang="en-US" altLang="zh-CN" dirty="0">
                  <a:latin typeface="Times New Roman" panose="02020603050405020304" pitchFamily="18" charset="0"/>
                </a:rPr>
                <a:t>B</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ndParaRPr>
            </a:p>
          </p:txBody>
        </p:sp>
        <p:sp>
          <p:nvSpPr>
            <p:cNvPr id="40003" name="AutoShape 68"/>
            <p:cNvSpPr/>
            <p:nvPr/>
          </p:nvSpPr>
          <p:spPr>
            <a:xfrm rot="-5400000">
              <a:off x="3129" y="3164"/>
              <a:ext cx="733" cy="309"/>
            </a:xfrm>
            <a:custGeom>
              <a:avLst/>
              <a:gdLst/>
              <a:ahLst/>
              <a:cxnLst>
                <a:cxn ang="0">
                  <a:pos x="0" y="0"/>
                </a:cxn>
                <a:cxn ang="0">
                  <a:pos x="0" y="0"/>
                </a:cxn>
                <a:cxn ang="0">
                  <a:pos x="0" y="0"/>
                </a:cxn>
                <a:cxn ang="0">
                  <a:pos x="0" y="0"/>
                </a:cxn>
              </a:cxnLst>
              <a:pathLst>
                <a:path w="21600" h="21600">
                  <a:moveTo>
                    <a:pt x="0" y="0"/>
                  </a:moveTo>
                  <a:lnTo>
                    <a:pt x="5400" y="21600"/>
                  </a:lnTo>
                  <a:lnTo>
                    <a:pt x="16200" y="21600"/>
                  </a:lnTo>
                  <a:lnTo>
                    <a:pt x="21600" y="0"/>
                  </a:lnTo>
                  <a:lnTo>
                    <a:pt x="0" y="0"/>
                  </a:lnTo>
                  <a:close/>
                </a:path>
              </a:pathLst>
            </a:custGeom>
            <a:noFill/>
            <a:ln w="28575" cap="flat" cmpd="sng">
              <a:solidFill>
                <a:schemeClr val="tx1"/>
              </a:solidFill>
              <a:prstDash val="solid"/>
              <a:miter/>
              <a:headEnd type="none" w="med" len="med"/>
              <a:tailEnd type="none" w="med" len="med"/>
            </a:ln>
          </p:spPr>
          <p:txBody>
            <a:bodyPr/>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43">
                                            <p:txEl>
                                              <p:charRg st="9" end="43"/>
                                            </p:txEl>
                                          </p:spTgt>
                                        </p:tgtEl>
                                        <p:attrNameLst>
                                          <p:attrName>style.visibility</p:attrName>
                                        </p:attrNameLst>
                                      </p:cBhvr>
                                      <p:to>
                                        <p:strVal val="visible"/>
                                      </p:to>
                                    </p:set>
                                    <p:animEffect transition="in" filter="blinds(horizontal)">
                                      <p:cBhvr>
                                        <p:cTn id="7" dur="500"/>
                                        <p:tgtEl>
                                          <p:spTgt spid="419843">
                                            <p:txEl>
                                              <p:charRg st="9" end="4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9843">
                                            <p:txEl>
                                              <p:charRg st="43" end="78"/>
                                            </p:txEl>
                                          </p:spTgt>
                                        </p:tgtEl>
                                        <p:attrNameLst>
                                          <p:attrName>style.visibility</p:attrName>
                                        </p:attrNameLst>
                                      </p:cBhvr>
                                      <p:to>
                                        <p:strVal val="visible"/>
                                      </p:to>
                                    </p:set>
                                    <p:animEffect transition="in" filter="blinds(horizontal)">
                                      <p:cBhvr>
                                        <p:cTn id="10" dur="500"/>
                                        <p:tgtEl>
                                          <p:spTgt spid="419843">
                                            <p:txEl>
                                              <p:charRg st="43" end="7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19843">
                                            <p:txEl>
                                              <p:charRg st="78" end="98"/>
                                            </p:txEl>
                                          </p:spTgt>
                                        </p:tgtEl>
                                        <p:attrNameLst>
                                          <p:attrName>style.visibility</p:attrName>
                                        </p:attrNameLst>
                                      </p:cBhvr>
                                      <p:to>
                                        <p:strVal val="visible"/>
                                      </p:to>
                                    </p:set>
                                    <p:animEffect transition="in" filter="blinds(horizontal)">
                                      <p:cBhvr>
                                        <p:cTn id="15" dur="500"/>
                                        <p:tgtEl>
                                          <p:spTgt spid="419843">
                                            <p:txEl>
                                              <p:charRg st="78" end="9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19844"/>
                                        </p:tgtEl>
                                        <p:attrNameLst>
                                          <p:attrName>style.visibility</p:attrName>
                                        </p:attrNameLst>
                                      </p:cBhvr>
                                      <p:to>
                                        <p:strVal val="visible"/>
                                      </p:to>
                                    </p:set>
                                    <p:animEffect transition="in" filter="blinds(horizontal)">
                                      <p:cBhvr>
                                        <p:cTn id="20" dur="500"/>
                                        <p:tgtEl>
                                          <p:spTgt spid="41984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94279"/>
                                        </p:tgtEl>
                                        <p:attrNameLst>
                                          <p:attrName>style.visibility</p:attrName>
                                        </p:attrNameLst>
                                      </p:cBhvr>
                                      <p:to>
                                        <p:strVal val="visible"/>
                                      </p:to>
                                    </p:set>
                                    <p:animEffect transition="in" filter="blinds(horizontal)">
                                      <p:cBhvr>
                                        <p:cTn id="25" dur="500"/>
                                        <p:tgtEl>
                                          <p:spTgt spid="69427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694283"/>
                                        </p:tgtEl>
                                        <p:attrNameLst>
                                          <p:attrName>style.visibility</p:attrName>
                                        </p:attrNameLst>
                                      </p:cBhvr>
                                      <p:to>
                                        <p:strVal val="visible"/>
                                      </p:to>
                                    </p:set>
                                    <p:animEffect transition="in" filter="blinds(horizontal)">
                                      <p:cBhvr>
                                        <p:cTn id="30" dur="500"/>
                                        <p:tgtEl>
                                          <p:spTgt spid="69428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19910"/>
                                        </p:tgtEl>
                                        <p:attrNameLst>
                                          <p:attrName>style.visibility</p:attrName>
                                        </p:attrNameLst>
                                      </p:cBhvr>
                                      <p:to>
                                        <p:strVal val="visible"/>
                                      </p:to>
                                    </p:set>
                                    <p:animEffect transition="in" filter="blinds(horizontal)">
                                      <p:cBhvr>
                                        <p:cTn id="35" dur="500"/>
                                        <p:tgtEl>
                                          <p:spTgt spid="419910"/>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694275">
                                            <p:txEl>
                                              <p:charRg st="0" end="29"/>
                                            </p:txEl>
                                          </p:spTgt>
                                        </p:tgtEl>
                                        <p:attrNameLst>
                                          <p:attrName>style.visibility</p:attrName>
                                        </p:attrNameLst>
                                      </p:cBhvr>
                                      <p:to>
                                        <p:strVal val="visible"/>
                                      </p:to>
                                    </p:set>
                                    <p:animEffect transition="in" filter="blinds(horizontal)">
                                      <p:cBhvr>
                                        <p:cTn id="40" dur="500"/>
                                        <p:tgtEl>
                                          <p:spTgt spid="694275">
                                            <p:txEl>
                                              <p:charRg st="0" end="2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694275">
                                            <p:txEl>
                                              <p:charRg st="29" end="43"/>
                                            </p:txEl>
                                          </p:spTgt>
                                        </p:tgtEl>
                                        <p:attrNameLst>
                                          <p:attrName>style.visibility</p:attrName>
                                        </p:attrNameLst>
                                      </p:cBhvr>
                                      <p:to>
                                        <p:strVal val="visible"/>
                                      </p:to>
                                    </p:set>
                                    <p:animEffect transition="in" filter="blinds(horizontal)">
                                      <p:cBhvr>
                                        <p:cTn id="45" dur="500"/>
                                        <p:tgtEl>
                                          <p:spTgt spid="694275">
                                            <p:txEl>
                                              <p:charRg st="29" end="4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694275">
                                            <p:txEl>
                                              <p:charRg st="43" end="57"/>
                                            </p:txEl>
                                          </p:spTgt>
                                        </p:tgtEl>
                                        <p:attrNameLst>
                                          <p:attrName>style.visibility</p:attrName>
                                        </p:attrNameLst>
                                      </p:cBhvr>
                                      <p:to>
                                        <p:strVal val="visible"/>
                                      </p:to>
                                    </p:set>
                                    <p:animEffect transition="in" filter="blinds(horizontal)">
                                      <p:cBhvr>
                                        <p:cTn id="50" dur="500"/>
                                        <p:tgtEl>
                                          <p:spTgt spid="694275">
                                            <p:txEl>
                                              <p:charRg st="43" end="5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694282"/>
                                        </p:tgtEl>
                                        <p:attrNameLst>
                                          <p:attrName>style.visibility</p:attrName>
                                        </p:attrNameLst>
                                      </p:cBhvr>
                                      <p:to>
                                        <p:strVal val="visible"/>
                                      </p:to>
                                    </p:set>
                                    <p:animEffect transition="in" filter="blinds(horizontal)">
                                      <p:cBhvr>
                                        <p:cTn id="55" dur="500"/>
                                        <p:tgtEl>
                                          <p:spTgt spid="694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10" grpId="0"/>
      <p:bldP spid="419844" grpId="0"/>
      <p:bldP spid="69428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title" idx="4294967295"/>
          </p:nvPr>
        </p:nvSpPr>
        <p:spPr>
          <a:xfrm>
            <a:off x="457200" y="201613"/>
            <a:ext cx="8156575" cy="479425"/>
          </a:xfrm>
          <a:ln/>
        </p:spPr>
        <p:txBody>
          <a:bodyPr vert="horz" wrap="square" lIns="63500" tIns="25400" rIns="63500" bIns="25400" anchor="t" anchorCtr="0">
            <a:spAutoFit/>
          </a:bodyPr>
          <a:p>
            <a:r>
              <a:rPr lang="zh-CN" altLang="en-US" dirty="0">
                <a:ea typeface="宋体" panose="02010600030101010101" pitchFamily="2" charset="-122"/>
              </a:rPr>
              <a:t>整数减法举例</a:t>
            </a:r>
            <a:endParaRPr lang="zh-CN" altLang="en-US" dirty="0">
              <a:ea typeface="宋体" panose="02010600030101010101" pitchFamily="2" charset="-122"/>
            </a:endParaRPr>
          </a:p>
        </p:txBody>
      </p:sp>
      <p:sp>
        <p:nvSpPr>
          <p:cNvPr id="41986" name="Rectangle 3"/>
          <p:cNvSpPr>
            <a:spLocks noGrp="1"/>
          </p:cNvSpPr>
          <p:nvPr>
            <p:ph type="body" idx="4294967295"/>
          </p:nvPr>
        </p:nvSpPr>
        <p:spPr>
          <a:xfrm>
            <a:off x="382588" y="931863"/>
            <a:ext cx="8574087" cy="636587"/>
          </a:xfrm>
          <a:ln/>
        </p:spPr>
        <p:txBody>
          <a:bodyPr vert="horz" wrap="square" lIns="63500" tIns="25400" rIns="63500" bIns="25400" anchor="t" anchorCtr="0">
            <a:spAutoFit/>
          </a:bodyPr>
          <a:p>
            <a:pPr>
              <a:lnSpc>
                <a:spcPct val="95000"/>
              </a:lnSpc>
              <a:spcBef>
                <a:spcPct val="0"/>
              </a:spcBef>
              <a:buFontTx/>
              <a:buNone/>
            </a:pPr>
            <a:r>
              <a:rPr lang="en-US" altLang="zh-CN" dirty="0">
                <a:latin typeface="微软雅黑" panose="020B0503020204020204" pitchFamily="34" charset="-122"/>
                <a:ea typeface="微软雅黑" panose="020B0503020204020204" pitchFamily="34" charset="-122"/>
              </a:rPr>
              <a:t>         -7- 6 = -7 + (-6) = +3          -3 - 5 = - 3  +  (- 5)  = - 8</a:t>
            </a:r>
            <a:endParaRPr lang="en-US" altLang="zh-CN" dirty="0">
              <a:latin typeface="微软雅黑" panose="020B0503020204020204" pitchFamily="34" charset="-122"/>
              <a:ea typeface="微软雅黑" panose="020B0503020204020204" pitchFamily="34" charset="-122"/>
            </a:endParaRPr>
          </a:p>
          <a:p>
            <a:pPr>
              <a:lnSpc>
                <a:spcPct val="80000"/>
              </a:lnSpc>
              <a:spcBef>
                <a:spcPct val="0"/>
              </a:spcBef>
              <a:buFontTx/>
              <a:buNone/>
            </a:pPr>
            <a:r>
              <a:rPr lang="en-US" altLang="zh-CN" dirty="0">
                <a:latin typeface="微软雅黑" panose="020B0503020204020204" pitchFamily="34" charset="-122"/>
                <a:ea typeface="微软雅黑" panose="020B0503020204020204" pitchFamily="34" charset="-122"/>
              </a:rPr>
              <a:t>          9 - 6 = 3 			13 - 5 =  8</a:t>
            </a:r>
            <a:endParaRPr lang="en-US" altLang="zh-CN" dirty="0">
              <a:latin typeface="微软雅黑" panose="020B0503020204020204" pitchFamily="34" charset="-122"/>
              <a:ea typeface="微软雅黑" panose="020B0503020204020204" pitchFamily="34" charset="-122"/>
            </a:endParaRPr>
          </a:p>
        </p:txBody>
      </p:sp>
      <p:sp>
        <p:nvSpPr>
          <p:cNvPr id="41987" name="Rectangle 4"/>
          <p:cNvSpPr/>
          <p:nvPr/>
        </p:nvSpPr>
        <p:spPr>
          <a:xfrm>
            <a:off x="1935163" y="2154238"/>
            <a:ext cx="307975" cy="363537"/>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1</a:t>
            </a:r>
            <a:endParaRPr lang="en-US" altLang="zh-CN" sz="1800" dirty="0">
              <a:latin typeface="Arial" panose="020B0604020202020204" pitchFamily="34" charset="0"/>
              <a:ea typeface="Arial" panose="020B0604020202020204" pitchFamily="34" charset="0"/>
            </a:endParaRPr>
          </a:p>
        </p:txBody>
      </p:sp>
      <p:sp>
        <p:nvSpPr>
          <p:cNvPr id="41988" name="Rectangle 8"/>
          <p:cNvSpPr/>
          <p:nvPr/>
        </p:nvSpPr>
        <p:spPr>
          <a:xfrm>
            <a:off x="1935163" y="2535238"/>
            <a:ext cx="307975" cy="363537"/>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1989" name="Rectangle 12"/>
          <p:cNvSpPr/>
          <p:nvPr/>
        </p:nvSpPr>
        <p:spPr>
          <a:xfrm>
            <a:off x="1173163" y="2535238"/>
            <a:ext cx="328612" cy="393700"/>
          </a:xfrm>
          <a:prstGeom prst="rect">
            <a:avLst/>
          </a:prstGeom>
          <a:noFill/>
          <a:ln w="12700">
            <a:noFill/>
          </a:ln>
        </p:spPr>
        <p:txBody>
          <a:bodyPr wrap="none" lIns="90488" tIns="44450" rIns="90488" bIns="44450" anchor="t" anchorCtr="0">
            <a:spAutoFit/>
          </a:bodyPr>
          <a:p>
            <a:pPr eaLnBrk="0" hangingPunct="0">
              <a:buClrTx/>
              <a:buFontTx/>
            </a:pP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Arial" panose="020B0604020202020204" pitchFamily="34" charset="0"/>
            </a:endParaRPr>
          </a:p>
        </p:txBody>
      </p:sp>
      <p:sp>
        <p:nvSpPr>
          <p:cNvPr id="41990" name="Line 13"/>
          <p:cNvSpPr/>
          <p:nvPr/>
        </p:nvSpPr>
        <p:spPr>
          <a:xfrm>
            <a:off x="1193800" y="2840038"/>
            <a:ext cx="2806700" cy="0"/>
          </a:xfrm>
          <a:prstGeom prst="line">
            <a:avLst/>
          </a:prstGeom>
          <a:ln w="28575" cap="flat" cmpd="sng">
            <a:solidFill>
              <a:schemeClr val="tx1"/>
            </a:solidFill>
            <a:prstDash val="solid"/>
            <a:round/>
            <a:headEnd type="none" w="med" len="med"/>
            <a:tailEnd type="none" w="med" len="med"/>
          </a:ln>
        </p:spPr>
      </p:sp>
      <p:sp>
        <p:nvSpPr>
          <p:cNvPr id="41991" name="Rectangle 28"/>
          <p:cNvSpPr/>
          <p:nvPr/>
        </p:nvSpPr>
        <p:spPr>
          <a:xfrm>
            <a:off x="5211763" y="2535238"/>
            <a:ext cx="328612" cy="393700"/>
          </a:xfrm>
          <a:prstGeom prst="rect">
            <a:avLst/>
          </a:prstGeom>
          <a:noFill/>
          <a:ln w="12700">
            <a:noFill/>
          </a:ln>
        </p:spPr>
        <p:txBody>
          <a:bodyPr wrap="none" lIns="90488" tIns="44450" rIns="90488" bIns="44450" anchor="t" anchorCtr="0">
            <a:spAutoFit/>
          </a:bodyPr>
          <a:p>
            <a:pPr eaLnBrk="0" hangingPunct="0">
              <a:buClrTx/>
              <a:buFontTx/>
            </a:pP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Arial" panose="020B0604020202020204" pitchFamily="34" charset="0"/>
            </a:endParaRPr>
          </a:p>
        </p:txBody>
      </p:sp>
      <p:sp>
        <p:nvSpPr>
          <p:cNvPr id="41992" name="Line 29"/>
          <p:cNvSpPr/>
          <p:nvPr/>
        </p:nvSpPr>
        <p:spPr>
          <a:xfrm>
            <a:off x="5232400" y="2840038"/>
            <a:ext cx="2730500" cy="0"/>
          </a:xfrm>
          <a:prstGeom prst="line">
            <a:avLst/>
          </a:prstGeom>
          <a:ln w="28575" cap="flat" cmpd="sng">
            <a:solidFill>
              <a:schemeClr val="tx1"/>
            </a:solidFill>
            <a:prstDash val="solid"/>
            <a:round/>
            <a:headEnd type="none" w="med" len="med"/>
            <a:tailEnd type="none" w="med" len="med"/>
          </a:ln>
        </p:spPr>
      </p:sp>
      <p:sp>
        <p:nvSpPr>
          <p:cNvPr id="41993" name="Rectangle 38"/>
          <p:cNvSpPr/>
          <p:nvPr/>
        </p:nvSpPr>
        <p:spPr>
          <a:xfrm>
            <a:off x="1935163" y="1773238"/>
            <a:ext cx="307975" cy="363537"/>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0</a:t>
            </a:r>
            <a:endParaRPr lang="en-US" altLang="zh-CN" sz="1800" dirty="0">
              <a:latin typeface="Arial" panose="020B0604020202020204" pitchFamily="34" charset="0"/>
              <a:ea typeface="Arial" panose="020B0604020202020204" pitchFamily="34" charset="0"/>
            </a:endParaRPr>
          </a:p>
        </p:txBody>
      </p:sp>
      <p:sp>
        <p:nvSpPr>
          <p:cNvPr id="41994" name="Line 39"/>
          <p:cNvSpPr/>
          <p:nvPr/>
        </p:nvSpPr>
        <p:spPr>
          <a:xfrm flipH="1" flipV="1">
            <a:off x="2171700" y="1995488"/>
            <a:ext cx="393700" cy="698500"/>
          </a:xfrm>
          <a:prstGeom prst="line">
            <a:avLst/>
          </a:prstGeom>
          <a:ln w="12700" cap="flat" cmpd="sng">
            <a:solidFill>
              <a:schemeClr val="tx1"/>
            </a:solidFill>
            <a:prstDash val="solid"/>
            <a:round/>
            <a:headEnd type="none" w="med" len="med"/>
            <a:tailEnd type="triangle" w="med" len="med"/>
          </a:ln>
        </p:spPr>
      </p:sp>
      <p:sp>
        <p:nvSpPr>
          <p:cNvPr id="41995" name="Line 41"/>
          <p:cNvSpPr/>
          <p:nvPr/>
        </p:nvSpPr>
        <p:spPr>
          <a:xfrm flipH="1" flipV="1">
            <a:off x="1562100" y="1995488"/>
            <a:ext cx="393700" cy="698500"/>
          </a:xfrm>
          <a:prstGeom prst="line">
            <a:avLst/>
          </a:prstGeom>
          <a:ln w="12700" cap="flat" cmpd="sng">
            <a:solidFill>
              <a:schemeClr val="tx1"/>
            </a:solidFill>
            <a:prstDash val="solid"/>
            <a:round/>
            <a:headEnd type="none" w="med" len="med"/>
            <a:tailEnd type="triangle" w="med" len="med"/>
          </a:ln>
        </p:spPr>
      </p:sp>
      <p:sp>
        <p:nvSpPr>
          <p:cNvPr id="41996" name="Rectangle 87"/>
          <p:cNvSpPr/>
          <p:nvPr/>
        </p:nvSpPr>
        <p:spPr>
          <a:xfrm>
            <a:off x="2527300" y="2170113"/>
            <a:ext cx="307975" cy="363537"/>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0</a:t>
            </a:r>
            <a:endParaRPr lang="en-US" altLang="zh-CN" sz="1800" dirty="0">
              <a:latin typeface="Arial" panose="020B0604020202020204" pitchFamily="34" charset="0"/>
              <a:ea typeface="Arial" panose="020B0604020202020204" pitchFamily="34" charset="0"/>
            </a:endParaRPr>
          </a:p>
        </p:txBody>
      </p:sp>
      <p:sp>
        <p:nvSpPr>
          <p:cNvPr id="41997" name="Rectangle 88"/>
          <p:cNvSpPr/>
          <p:nvPr/>
        </p:nvSpPr>
        <p:spPr>
          <a:xfrm>
            <a:off x="3119438" y="2181225"/>
            <a:ext cx="307975" cy="363538"/>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0</a:t>
            </a:r>
            <a:endParaRPr lang="en-US" altLang="zh-CN" sz="1800" dirty="0">
              <a:latin typeface="Arial" panose="020B0604020202020204" pitchFamily="34" charset="0"/>
              <a:ea typeface="Arial" panose="020B0604020202020204" pitchFamily="34" charset="0"/>
            </a:endParaRPr>
          </a:p>
        </p:txBody>
      </p:sp>
      <p:sp>
        <p:nvSpPr>
          <p:cNvPr id="41998" name="Rectangle 89"/>
          <p:cNvSpPr/>
          <p:nvPr/>
        </p:nvSpPr>
        <p:spPr>
          <a:xfrm>
            <a:off x="3114675" y="2528888"/>
            <a:ext cx="307975" cy="363537"/>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1999" name="Rectangle 90"/>
          <p:cNvSpPr/>
          <p:nvPr/>
        </p:nvSpPr>
        <p:spPr>
          <a:xfrm>
            <a:off x="3743325" y="2171700"/>
            <a:ext cx="307975" cy="363538"/>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00" name="Rectangle 91"/>
          <p:cNvSpPr/>
          <p:nvPr/>
        </p:nvSpPr>
        <p:spPr>
          <a:xfrm>
            <a:off x="3743325" y="2928938"/>
            <a:ext cx="307975" cy="363537"/>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01" name="Rectangle 92"/>
          <p:cNvSpPr/>
          <p:nvPr/>
        </p:nvSpPr>
        <p:spPr>
          <a:xfrm>
            <a:off x="5929313" y="2914650"/>
            <a:ext cx="307975" cy="363538"/>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02" name="Rectangle 93"/>
          <p:cNvSpPr/>
          <p:nvPr/>
        </p:nvSpPr>
        <p:spPr>
          <a:xfrm>
            <a:off x="6516688" y="2930525"/>
            <a:ext cx="307975" cy="363538"/>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0</a:t>
            </a:r>
            <a:endParaRPr lang="en-US" altLang="zh-CN" sz="1800" dirty="0">
              <a:latin typeface="Arial" panose="020B0604020202020204" pitchFamily="34" charset="0"/>
              <a:ea typeface="Arial" panose="020B0604020202020204" pitchFamily="34" charset="0"/>
            </a:endParaRPr>
          </a:p>
        </p:txBody>
      </p:sp>
      <p:sp>
        <p:nvSpPr>
          <p:cNvPr id="42003" name="Rectangle 94"/>
          <p:cNvSpPr/>
          <p:nvPr/>
        </p:nvSpPr>
        <p:spPr>
          <a:xfrm>
            <a:off x="7089775" y="2946400"/>
            <a:ext cx="307975" cy="363538"/>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0</a:t>
            </a:r>
            <a:endParaRPr lang="en-US" altLang="zh-CN" sz="1800" dirty="0">
              <a:latin typeface="Arial" panose="020B0604020202020204" pitchFamily="34" charset="0"/>
              <a:ea typeface="Arial" panose="020B0604020202020204" pitchFamily="34" charset="0"/>
            </a:endParaRPr>
          </a:p>
        </p:txBody>
      </p:sp>
      <p:sp>
        <p:nvSpPr>
          <p:cNvPr id="42004" name="Rectangle 95"/>
          <p:cNvSpPr/>
          <p:nvPr/>
        </p:nvSpPr>
        <p:spPr>
          <a:xfrm>
            <a:off x="7091363" y="2490788"/>
            <a:ext cx="307975" cy="363537"/>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05" name="Rectangle 96"/>
          <p:cNvSpPr/>
          <p:nvPr/>
        </p:nvSpPr>
        <p:spPr>
          <a:xfrm>
            <a:off x="7721600" y="2520950"/>
            <a:ext cx="307975" cy="363538"/>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06" name="Rectangle 97"/>
          <p:cNvSpPr/>
          <p:nvPr/>
        </p:nvSpPr>
        <p:spPr>
          <a:xfrm>
            <a:off x="7723188" y="2179638"/>
            <a:ext cx="307975" cy="363537"/>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07" name="Rectangle 98"/>
          <p:cNvSpPr/>
          <p:nvPr/>
        </p:nvSpPr>
        <p:spPr>
          <a:xfrm>
            <a:off x="7081838" y="2181225"/>
            <a:ext cx="307975" cy="363538"/>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0</a:t>
            </a:r>
            <a:endParaRPr lang="en-US" altLang="zh-CN" sz="1800" dirty="0">
              <a:latin typeface="Arial" panose="020B0604020202020204" pitchFamily="34" charset="0"/>
              <a:ea typeface="Arial" panose="020B0604020202020204" pitchFamily="34" charset="0"/>
            </a:endParaRPr>
          </a:p>
        </p:txBody>
      </p:sp>
      <p:sp>
        <p:nvSpPr>
          <p:cNvPr id="42008" name="Rectangle 99"/>
          <p:cNvSpPr/>
          <p:nvPr/>
        </p:nvSpPr>
        <p:spPr>
          <a:xfrm>
            <a:off x="5930900" y="2490788"/>
            <a:ext cx="307975" cy="363537"/>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grpSp>
        <p:nvGrpSpPr>
          <p:cNvPr id="42009" name="Group 137"/>
          <p:cNvGrpSpPr/>
          <p:nvPr/>
        </p:nvGrpSpPr>
        <p:grpSpPr>
          <a:xfrm>
            <a:off x="6469063" y="1844675"/>
            <a:ext cx="1277937" cy="849313"/>
            <a:chOff x="4075" y="797"/>
            <a:chExt cx="805" cy="535"/>
          </a:xfrm>
        </p:grpSpPr>
        <p:sp>
          <p:nvSpPr>
            <p:cNvPr id="42010" name="Line 34"/>
            <p:cNvSpPr/>
            <p:nvPr/>
          </p:nvSpPr>
          <p:spPr>
            <a:xfrm flipH="1" flipV="1">
              <a:off x="4248" y="892"/>
              <a:ext cx="248" cy="440"/>
            </a:xfrm>
            <a:prstGeom prst="line">
              <a:avLst/>
            </a:prstGeom>
            <a:ln w="12700" cap="flat" cmpd="sng">
              <a:solidFill>
                <a:schemeClr val="tx1"/>
              </a:solidFill>
              <a:prstDash val="solid"/>
              <a:round/>
              <a:headEnd type="none" w="med" len="med"/>
              <a:tailEnd type="triangle" w="med" len="med"/>
            </a:ln>
          </p:spPr>
        </p:sp>
        <p:sp>
          <p:nvSpPr>
            <p:cNvPr id="42011" name="Line 37"/>
            <p:cNvSpPr/>
            <p:nvPr/>
          </p:nvSpPr>
          <p:spPr>
            <a:xfrm flipH="1" flipV="1">
              <a:off x="4632" y="892"/>
              <a:ext cx="248" cy="440"/>
            </a:xfrm>
            <a:prstGeom prst="line">
              <a:avLst/>
            </a:prstGeom>
            <a:ln w="12700" cap="flat" cmpd="sng">
              <a:solidFill>
                <a:schemeClr val="tx1"/>
              </a:solidFill>
              <a:prstDash val="solid"/>
              <a:round/>
              <a:headEnd type="none" w="med" len="med"/>
              <a:tailEnd type="triangle" w="med" len="med"/>
            </a:ln>
          </p:spPr>
        </p:sp>
        <p:sp>
          <p:nvSpPr>
            <p:cNvPr id="42012" name="Rectangle 100"/>
            <p:cNvSpPr/>
            <p:nvPr/>
          </p:nvSpPr>
          <p:spPr>
            <a:xfrm>
              <a:off x="4470" y="797"/>
              <a:ext cx="194" cy="229"/>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13" name="Rectangle 101"/>
            <p:cNvSpPr/>
            <p:nvPr/>
          </p:nvSpPr>
          <p:spPr>
            <a:xfrm>
              <a:off x="4075" y="798"/>
              <a:ext cx="194" cy="229"/>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grpSp>
      <p:sp>
        <p:nvSpPr>
          <p:cNvPr id="42014" name="Rectangle 103"/>
          <p:cNvSpPr/>
          <p:nvPr/>
        </p:nvSpPr>
        <p:spPr>
          <a:xfrm>
            <a:off x="1354138" y="1771650"/>
            <a:ext cx="307975" cy="363538"/>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15" name="Rectangle 104"/>
          <p:cNvSpPr/>
          <p:nvPr/>
        </p:nvSpPr>
        <p:spPr>
          <a:xfrm>
            <a:off x="1936750" y="2898775"/>
            <a:ext cx="307975" cy="363538"/>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0</a:t>
            </a:r>
            <a:endParaRPr lang="en-US" altLang="zh-CN" sz="1800" dirty="0">
              <a:latin typeface="Arial" panose="020B0604020202020204" pitchFamily="34" charset="0"/>
              <a:ea typeface="Arial" panose="020B0604020202020204" pitchFamily="34" charset="0"/>
            </a:endParaRPr>
          </a:p>
        </p:txBody>
      </p:sp>
      <p:sp>
        <p:nvSpPr>
          <p:cNvPr id="42016" name="Rectangle 105"/>
          <p:cNvSpPr/>
          <p:nvPr/>
        </p:nvSpPr>
        <p:spPr>
          <a:xfrm>
            <a:off x="2524125" y="2914650"/>
            <a:ext cx="307975" cy="363538"/>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Arial" panose="020B0604020202020204" pitchFamily="34" charset="0"/>
            </a:endParaRPr>
          </a:p>
        </p:txBody>
      </p:sp>
      <p:sp>
        <p:nvSpPr>
          <p:cNvPr id="42017" name="Rectangle 106"/>
          <p:cNvSpPr/>
          <p:nvPr/>
        </p:nvSpPr>
        <p:spPr>
          <a:xfrm>
            <a:off x="2525713" y="2544763"/>
            <a:ext cx="307975" cy="363537"/>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Arial" panose="020B0604020202020204" pitchFamily="34" charset="0"/>
            </a:endParaRPr>
          </a:p>
        </p:txBody>
      </p:sp>
      <p:sp>
        <p:nvSpPr>
          <p:cNvPr id="42018" name="Rectangle 107"/>
          <p:cNvSpPr/>
          <p:nvPr/>
        </p:nvSpPr>
        <p:spPr>
          <a:xfrm>
            <a:off x="3125788" y="2916238"/>
            <a:ext cx="307975" cy="363537"/>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1</a:t>
            </a:r>
            <a:endParaRPr lang="en-US" altLang="zh-CN" sz="1800" dirty="0">
              <a:latin typeface="Arial" panose="020B0604020202020204" pitchFamily="34" charset="0"/>
              <a:ea typeface="Arial" panose="020B0604020202020204" pitchFamily="34" charset="0"/>
            </a:endParaRPr>
          </a:p>
        </p:txBody>
      </p:sp>
      <p:sp>
        <p:nvSpPr>
          <p:cNvPr id="42019" name="Rectangle 108"/>
          <p:cNvSpPr/>
          <p:nvPr/>
        </p:nvSpPr>
        <p:spPr>
          <a:xfrm>
            <a:off x="3741738" y="2517775"/>
            <a:ext cx="307975" cy="363538"/>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Arial" panose="020B0604020202020204" pitchFamily="34" charset="0"/>
            </a:endParaRPr>
          </a:p>
        </p:txBody>
      </p:sp>
      <p:sp>
        <p:nvSpPr>
          <p:cNvPr id="42020" name="Rectangle 109"/>
          <p:cNvSpPr/>
          <p:nvPr/>
        </p:nvSpPr>
        <p:spPr>
          <a:xfrm>
            <a:off x="7716838" y="2959100"/>
            <a:ext cx="307975" cy="363538"/>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Arial" panose="020B0604020202020204" pitchFamily="34" charset="0"/>
            </a:endParaRPr>
          </a:p>
        </p:txBody>
      </p:sp>
      <p:sp>
        <p:nvSpPr>
          <p:cNvPr id="42021" name="Rectangle 110"/>
          <p:cNvSpPr/>
          <p:nvPr/>
        </p:nvSpPr>
        <p:spPr>
          <a:xfrm>
            <a:off x="6518275" y="2489200"/>
            <a:ext cx="307975" cy="363538"/>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Arial" panose="020B0604020202020204" pitchFamily="34" charset="0"/>
            </a:endParaRPr>
          </a:p>
        </p:txBody>
      </p:sp>
      <p:sp>
        <p:nvSpPr>
          <p:cNvPr id="42022" name="Rectangle 111"/>
          <p:cNvSpPr/>
          <p:nvPr/>
        </p:nvSpPr>
        <p:spPr>
          <a:xfrm>
            <a:off x="6519863" y="2176463"/>
            <a:ext cx="307975" cy="363537"/>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1</a:t>
            </a:r>
            <a:endParaRPr lang="en-US" altLang="zh-CN" sz="1800" dirty="0">
              <a:latin typeface="Arial" panose="020B0604020202020204" pitchFamily="34" charset="0"/>
              <a:ea typeface="Arial" panose="020B0604020202020204" pitchFamily="34" charset="0"/>
            </a:endParaRPr>
          </a:p>
        </p:txBody>
      </p:sp>
      <p:sp>
        <p:nvSpPr>
          <p:cNvPr id="42023" name="Rectangle 112"/>
          <p:cNvSpPr/>
          <p:nvPr/>
        </p:nvSpPr>
        <p:spPr>
          <a:xfrm>
            <a:off x="5949950" y="2178050"/>
            <a:ext cx="307975" cy="363538"/>
          </a:xfrm>
          <a:prstGeom prst="rect">
            <a:avLst/>
          </a:prstGeom>
          <a:noFill/>
          <a:ln w="12700">
            <a:noFill/>
          </a:ln>
        </p:spPr>
        <p:txBody>
          <a:bodyPr wrap="none" lIns="90488" tIns="44450" rIns="90488" bIns="44450" anchor="t" anchorCtr="0">
            <a:spAutoFit/>
          </a:bodyPr>
          <a:p>
            <a:pPr eaLnBrk="0" hangingPunct="0">
              <a:buClrTx/>
              <a:buFontTx/>
            </a:pPr>
            <a:r>
              <a:rPr lang="en-US" altLang="zh-CN" sz="1800" dirty="0">
                <a:latin typeface="Arial" panose="020B0604020202020204" pitchFamily="34" charset="0"/>
              </a:rPr>
              <a:t>1</a:t>
            </a:r>
            <a:endParaRPr lang="en-US" altLang="zh-CN" sz="1800" dirty="0">
              <a:latin typeface="Arial" panose="020B0604020202020204" pitchFamily="34" charset="0"/>
              <a:ea typeface="Arial" panose="020B0604020202020204" pitchFamily="34" charset="0"/>
            </a:endParaRPr>
          </a:p>
        </p:txBody>
      </p:sp>
      <p:sp>
        <p:nvSpPr>
          <p:cNvPr id="42024" name="Text Box 132"/>
          <p:cNvSpPr txBox="1"/>
          <p:nvPr/>
        </p:nvSpPr>
        <p:spPr>
          <a:xfrm>
            <a:off x="1349375" y="1784350"/>
            <a:ext cx="944563" cy="365125"/>
          </a:xfrm>
          <a:prstGeom prst="rect">
            <a:avLst/>
          </a:prstGeom>
          <a:noFill/>
          <a:ln w="28575" cap="flat" cmpd="sng">
            <a:solidFill>
              <a:schemeClr val="accent2"/>
            </a:solidFill>
            <a:prstDash val="solid"/>
            <a:miter/>
            <a:headEnd type="none" w="med" len="med"/>
            <a:tailEnd type="none" w="med" len="med"/>
          </a:ln>
        </p:spPr>
        <p:txBody>
          <a:bodyPr anchor="t" anchorCtr="0">
            <a:spAutoFit/>
          </a:bodyPr>
          <a:p>
            <a:pPr eaLnBrk="0" hangingPunct="0">
              <a:spcBef>
                <a:spcPct val="50000"/>
              </a:spcBef>
              <a:buClrTx/>
              <a:buFontTx/>
            </a:pPr>
            <a:endParaRPr lang="zh-CN" altLang="en-US" dirty="0">
              <a:latin typeface="Times New Roman" panose="02020603050405020304" pitchFamily="18" charset="0"/>
              <a:ea typeface="宋体" panose="02010600030101010101" pitchFamily="2" charset="-122"/>
            </a:endParaRPr>
          </a:p>
        </p:txBody>
      </p:sp>
      <p:grpSp>
        <p:nvGrpSpPr>
          <p:cNvPr id="42025" name="Group 138"/>
          <p:cNvGrpSpPr/>
          <p:nvPr/>
        </p:nvGrpSpPr>
        <p:grpSpPr>
          <a:xfrm>
            <a:off x="5256213" y="1831975"/>
            <a:ext cx="1277937" cy="849313"/>
            <a:chOff x="4075" y="797"/>
            <a:chExt cx="805" cy="535"/>
          </a:xfrm>
        </p:grpSpPr>
        <p:sp>
          <p:nvSpPr>
            <p:cNvPr id="42026" name="Line 139"/>
            <p:cNvSpPr/>
            <p:nvPr/>
          </p:nvSpPr>
          <p:spPr>
            <a:xfrm flipH="1" flipV="1">
              <a:off x="4248" y="892"/>
              <a:ext cx="248" cy="440"/>
            </a:xfrm>
            <a:prstGeom prst="line">
              <a:avLst/>
            </a:prstGeom>
            <a:ln w="12700" cap="flat" cmpd="sng">
              <a:solidFill>
                <a:schemeClr val="tx1"/>
              </a:solidFill>
              <a:prstDash val="solid"/>
              <a:round/>
              <a:headEnd type="none" w="med" len="med"/>
              <a:tailEnd type="triangle" w="med" len="med"/>
            </a:ln>
          </p:spPr>
        </p:sp>
        <p:sp>
          <p:nvSpPr>
            <p:cNvPr id="42027" name="Line 140"/>
            <p:cNvSpPr/>
            <p:nvPr/>
          </p:nvSpPr>
          <p:spPr>
            <a:xfrm flipH="1" flipV="1">
              <a:off x="4632" y="892"/>
              <a:ext cx="248" cy="440"/>
            </a:xfrm>
            <a:prstGeom prst="line">
              <a:avLst/>
            </a:prstGeom>
            <a:ln w="12700" cap="flat" cmpd="sng">
              <a:solidFill>
                <a:schemeClr val="tx1"/>
              </a:solidFill>
              <a:prstDash val="solid"/>
              <a:round/>
              <a:headEnd type="none" w="med" len="med"/>
              <a:tailEnd type="triangle" w="med" len="med"/>
            </a:ln>
          </p:spPr>
        </p:sp>
        <p:sp>
          <p:nvSpPr>
            <p:cNvPr id="42028" name="Rectangle 141"/>
            <p:cNvSpPr/>
            <p:nvPr/>
          </p:nvSpPr>
          <p:spPr>
            <a:xfrm>
              <a:off x="4470" y="797"/>
              <a:ext cx="194" cy="229"/>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sp>
          <p:nvSpPr>
            <p:cNvPr id="42029" name="Rectangle 142"/>
            <p:cNvSpPr/>
            <p:nvPr/>
          </p:nvSpPr>
          <p:spPr>
            <a:xfrm>
              <a:off x="4075" y="798"/>
              <a:ext cx="194" cy="229"/>
            </a:xfrm>
            <a:prstGeom prst="rect">
              <a:avLst/>
            </a:prstGeom>
            <a:noFill/>
            <a:ln w="12700">
              <a:noFill/>
            </a:ln>
          </p:spPr>
          <p:txBody>
            <a:bodyPr wrap="none" lIns="90488" tIns="44450" rIns="90488" bIns="44450" anchor="t" anchorCtr="0">
              <a:spAutoFit/>
            </a:bodyPr>
            <a:p>
              <a:pPr eaLnBrk="0" hangingPunct="0">
                <a:buClrTx/>
                <a:buFontTx/>
              </a:pPr>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Arial" panose="020B0604020202020204" pitchFamily="34" charset="0"/>
              </a:endParaRPr>
            </a:p>
          </p:txBody>
        </p:sp>
      </p:grpSp>
      <p:sp>
        <p:nvSpPr>
          <p:cNvPr id="42030" name="Rectangle 144"/>
          <p:cNvSpPr/>
          <p:nvPr/>
        </p:nvSpPr>
        <p:spPr>
          <a:xfrm>
            <a:off x="250825" y="4284663"/>
            <a:ext cx="5708650" cy="793750"/>
          </a:xfrm>
          <a:prstGeom prst="rect">
            <a:avLst/>
          </a:prstGeom>
          <a:noFill/>
          <a:ln w="12700">
            <a:noFill/>
          </a:ln>
        </p:spPr>
        <p:txBody>
          <a:bodyPr anchor="t" anchorCtr="0">
            <a:spAutoFit/>
          </a:bodyPr>
          <a:p>
            <a:pPr eaLnBrk="0" hangingPunct="0">
              <a:lnSpc>
                <a:spcPct val="115000"/>
              </a:lnSpc>
              <a:buClrTx/>
              <a:buFontTx/>
            </a:pPr>
            <a:r>
              <a:rPr lang="zh-CN" altLang="en-US" sz="2000" dirty="0">
                <a:latin typeface="微软雅黑" panose="020B0503020204020204" pitchFamily="34" charset="-122"/>
                <a:ea typeface="微软雅黑" panose="020B0503020204020204" pitchFamily="34" charset="-122"/>
              </a:rPr>
              <a:t>带符号 </a:t>
            </a:r>
            <a:r>
              <a:rPr lang="en-US" altLang="zh-CN" sz="2000" dirty="0">
                <a:solidFill>
                  <a:srgbClr val="3333FF"/>
                </a:solidFill>
                <a:latin typeface="微软雅黑" panose="020B0503020204020204" pitchFamily="34" charset="-122"/>
                <a:ea typeface="微软雅黑" panose="020B0503020204020204" pitchFamily="34" charset="-122"/>
              </a:rPr>
              <a:t>(1) </a:t>
            </a:r>
            <a:r>
              <a:rPr lang="zh-CN" altLang="en-US" sz="2000" dirty="0">
                <a:solidFill>
                  <a:srgbClr val="3333FF"/>
                </a:solidFill>
                <a:latin typeface="微软雅黑" panose="020B0503020204020204" pitchFamily="34" charset="-122"/>
                <a:ea typeface="微软雅黑" panose="020B0503020204020204" pitchFamily="34" charset="-122"/>
              </a:rPr>
              <a:t>最高位和次高位的进位不同</a:t>
            </a:r>
            <a:endParaRPr lang="en-US" altLang="zh-CN" sz="2000" dirty="0">
              <a:solidFill>
                <a:srgbClr val="3333FF"/>
              </a:solidFill>
              <a:latin typeface="微软雅黑" panose="020B0503020204020204" pitchFamily="34" charset="-122"/>
              <a:ea typeface="微软雅黑" panose="020B0503020204020204" pitchFamily="34" charset="-122"/>
            </a:endParaRPr>
          </a:p>
          <a:p>
            <a:pPr eaLnBrk="0" hangingPunct="0">
              <a:lnSpc>
                <a:spcPct val="115000"/>
              </a:lnSpc>
              <a:buClrTx/>
              <a:buFontTx/>
            </a:pPr>
            <a:r>
              <a:rPr lang="zh-CN" altLang="en-US" sz="2000" dirty="0">
                <a:latin typeface="微软雅黑" panose="020B0503020204020204" pitchFamily="34" charset="-122"/>
                <a:ea typeface="微软雅黑" panose="020B0503020204020204" pitchFamily="34" charset="-122"/>
              </a:rPr>
              <a:t>溢出：</a:t>
            </a:r>
            <a:r>
              <a:rPr lang="en-US" altLang="zh-CN" sz="2000" dirty="0">
                <a:solidFill>
                  <a:srgbClr val="3333FF"/>
                </a:solidFill>
                <a:latin typeface="微软雅黑" panose="020B0503020204020204" pitchFamily="34" charset="-122"/>
                <a:ea typeface="微软雅黑" panose="020B0503020204020204" pitchFamily="34" charset="-122"/>
              </a:rPr>
              <a:t> (2) </a:t>
            </a:r>
            <a:r>
              <a:rPr lang="zh-CN" altLang="en-US" sz="2000" dirty="0">
                <a:solidFill>
                  <a:srgbClr val="3333FF"/>
                </a:solidFill>
                <a:latin typeface="微软雅黑" panose="020B0503020204020204" pitchFamily="34" charset="-122"/>
                <a:ea typeface="微软雅黑" panose="020B0503020204020204" pitchFamily="34" charset="-122"/>
              </a:rPr>
              <a:t>和的符号位和加数的符号位不同</a:t>
            </a:r>
            <a:endParaRPr lang="zh-CN" altLang="en-US" sz="2000" dirty="0">
              <a:solidFill>
                <a:srgbClr val="3333FF"/>
              </a:solidFill>
              <a:latin typeface="微软雅黑" panose="020B0503020204020204" pitchFamily="34" charset="-122"/>
              <a:ea typeface="微软雅黑" panose="020B0503020204020204" pitchFamily="34" charset="-122"/>
            </a:endParaRPr>
          </a:p>
        </p:txBody>
      </p:sp>
      <p:sp>
        <p:nvSpPr>
          <p:cNvPr id="42031" name="Rectangle 145"/>
          <p:cNvSpPr/>
          <p:nvPr/>
        </p:nvSpPr>
        <p:spPr>
          <a:xfrm>
            <a:off x="1930400" y="2133600"/>
            <a:ext cx="377825" cy="1089025"/>
          </a:xfrm>
          <a:prstGeom prst="rect">
            <a:avLst/>
          </a:prstGeom>
          <a:noFill/>
          <a:ln w="2857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Times New Roman" panose="02020603050405020304" pitchFamily="18" charset="0"/>
              <a:ea typeface="宋体" panose="02010600030101010101" pitchFamily="2" charset="-122"/>
            </a:endParaRPr>
          </a:p>
        </p:txBody>
      </p:sp>
      <p:sp>
        <p:nvSpPr>
          <p:cNvPr id="42032" name="Text Box 147"/>
          <p:cNvSpPr txBox="1"/>
          <p:nvPr/>
        </p:nvSpPr>
        <p:spPr>
          <a:xfrm>
            <a:off x="4100513" y="931863"/>
            <a:ext cx="493712" cy="457200"/>
          </a:xfrm>
          <a:prstGeom prst="rect">
            <a:avLst/>
          </a:prstGeom>
          <a:noFill/>
          <a:ln w="12700">
            <a:noFill/>
          </a:ln>
        </p:spPr>
        <p:txBody>
          <a:bodyPr anchor="t" anchorCtr="0">
            <a:spAutoFit/>
          </a:bodyPr>
          <a:p>
            <a:pPr eaLnBrk="0" hangingPunct="0">
              <a:spcBef>
                <a:spcPct val="50000"/>
              </a:spcBef>
              <a:buClrTx/>
              <a:buFontTx/>
            </a:pPr>
            <a:r>
              <a:rPr lang="en-US" altLang="zh-CN" sz="2400" dirty="0">
                <a:solidFill>
                  <a:srgbClr val="CC0000"/>
                </a:solidFill>
                <a:latin typeface="Arial" panose="020B0604020202020204" pitchFamily="34" charset="0"/>
              </a:rPr>
              <a:t>X</a:t>
            </a:r>
            <a:endParaRPr lang="en-US" altLang="zh-CN" sz="2400" dirty="0">
              <a:solidFill>
                <a:srgbClr val="CC0000"/>
              </a:solidFill>
              <a:latin typeface="Arial" panose="020B0604020202020204" pitchFamily="34" charset="0"/>
              <a:ea typeface="Arial" panose="020B0604020202020204" pitchFamily="34" charset="0"/>
            </a:endParaRPr>
          </a:p>
        </p:txBody>
      </p:sp>
      <p:sp>
        <p:nvSpPr>
          <p:cNvPr id="42033" name="Text Box 148"/>
          <p:cNvSpPr txBox="1"/>
          <p:nvPr/>
        </p:nvSpPr>
        <p:spPr>
          <a:xfrm>
            <a:off x="8351838" y="954088"/>
            <a:ext cx="493712" cy="519112"/>
          </a:xfrm>
          <a:prstGeom prst="rect">
            <a:avLst/>
          </a:prstGeom>
          <a:noFill/>
          <a:ln w="12700">
            <a:noFill/>
          </a:ln>
        </p:spPr>
        <p:txBody>
          <a:bodyPr anchor="t" anchorCtr="0">
            <a:spAutoFit/>
          </a:bodyPr>
          <a:p>
            <a:pPr eaLnBrk="0" hangingPunct="0">
              <a:spcBef>
                <a:spcPct val="50000"/>
              </a:spcBef>
              <a:buClrTx/>
              <a:buFontTx/>
            </a:pPr>
            <a:r>
              <a:rPr lang="en-US" altLang="zh-CN" sz="2800" dirty="0">
                <a:solidFill>
                  <a:srgbClr val="CC0000"/>
                </a:solidFill>
                <a:latin typeface="Arial" panose="020B0604020202020204" pitchFamily="34" charset="0"/>
                <a:ea typeface="黑体" panose="02010609060101010101" pitchFamily="49" charset="-122"/>
              </a:rPr>
              <a:t>√</a:t>
            </a:r>
            <a:endParaRPr lang="en-US" altLang="zh-CN" sz="2800" dirty="0">
              <a:solidFill>
                <a:srgbClr val="CC0000"/>
              </a:solidFill>
              <a:latin typeface="Arial" panose="020B0604020202020204" pitchFamily="34" charset="0"/>
              <a:ea typeface="黑体" panose="02010609060101010101" pitchFamily="49" charset="-122"/>
            </a:endParaRPr>
          </a:p>
        </p:txBody>
      </p:sp>
      <p:sp>
        <p:nvSpPr>
          <p:cNvPr id="42034" name="Text Box 51"/>
          <p:cNvSpPr txBox="1"/>
          <p:nvPr/>
        </p:nvSpPr>
        <p:spPr>
          <a:xfrm>
            <a:off x="250825" y="5364163"/>
            <a:ext cx="3278188" cy="1098550"/>
          </a:xfrm>
          <a:prstGeom prst="rect">
            <a:avLst/>
          </a:prstGeom>
          <a:solidFill>
            <a:schemeClr val="accent1">
              <a:alpha val="58038"/>
            </a:schemeClr>
          </a:solidFill>
          <a:ln w="9525">
            <a:noFill/>
          </a:ln>
        </p:spPr>
        <p:txBody>
          <a:bodyPr anchor="t" anchorCtr="0">
            <a:spAutoFit/>
          </a:bodyPr>
          <a:p>
            <a:pPr eaLnBrk="0" hangingPunct="0">
              <a:spcBef>
                <a:spcPct val="15000"/>
              </a:spcBef>
            </a:pPr>
            <a:r>
              <a:rPr lang="zh-CN" altLang="en-US" sz="2000" dirty="0">
                <a:solidFill>
                  <a:srgbClr val="008000"/>
                </a:solidFill>
                <a:latin typeface="微软雅黑" panose="020B0503020204020204" pitchFamily="34" charset="-122"/>
                <a:ea typeface="微软雅黑" panose="020B0503020204020204" pitchFamily="34" charset="-122"/>
              </a:rPr>
              <a:t>做减法以比较大小，规则：</a:t>
            </a:r>
            <a:endParaRPr lang="zh-CN" altLang="en-US" sz="2000" dirty="0">
              <a:solidFill>
                <a:srgbClr val="008000"/>
              </a:solidFill>
              <a:latin typeface="微软雅黑" panose="020B0503020204020204" pitchFamily="34" charset="-122"/>
              <a:ea typeface="微软雅黑" panose="020B0503020204020204" pitchFamily="34" charset="-122"/>
            </a:endParaRPr>
          </a:p>
          <a:p>
            <a:pPr eaLnBrk="0" hangingPunct="0">
              <a:spcBef>
                <a:spcPct val="15000"/>
              </a:spcBef>
            </a:pPr>
            <a:r>
              <a:rPr lang="en-US" altLang="zh-CN" sz="2000" dirty="0">
                <a:solidFill>
                  <a:srgbClr val="990000"/>
                </a:solidFill>
                <a:latin typeface="微软雅黑" panose="020B0503020204020204" pitchFamily="34" charset="-122"/>
                <a:ea typeface="微软雅黑" panose="020B0503020204020204" pitchFamily="34" charset="-122"/>
              </a:rPr>
              <a:t>Unsigned: CF=0</a:t>
            </a:r>
            <a:r>
              <a:rPr lang="zh-CN" altLang="en-US" sz="2000" dirty="0">
                <a:solidFill>
                  <a:srgbClr val="990000"/>
                </a:solidFill>
                <a:latin typeface="微软雅黑" panose="020B0503020204020204" pitchFamily="34" charset="-122"/>
                <a:ea typeface="微软雅黑" panose="020B0503020204020204" pitchFamily="34" charset="-122"/>
              </a:rPr>
              <a:t>时，大于 </a:t>
            </a:r>
            <a:endParaRPr lang="zh-CN" altLang="en-US" sz="2000" dirty="0">
              <a:solidFill>
                <a:srgbClr val="990000"/>
              </a:solidFill>
              <a:latin typeface="微软雅黑" panose="020B0503020204020204" pitchFamily="34" charset="-122"/>
              <a:ea typeface="微软雅黑" panose="020B0503020204020204" pitchFamily="34" charset="-122"/>
            </a:endParaRPr>
          </a:p>
          <a:p>
            <a:pPr eaLnBrk="0" hangingPunct="0">
              <a:spcBef>
                <a:spcPct val="15000"/>
              </a:spcBef>
            </a:pPr>
            <a:r>
              <a:rPr lang="en-US" altLang="zh-CN" sz="2000" dirty="0">
                <a:solidFill>
                  <a:srgbClr val="990000"/>
                </a:solidFill>
                <a:latin typeface="微软雅黑" panose="020B0503020204020204" pitchFamily="34" charset="-122"/>
                <a:ea typeface="微软雅黑" panose="020B0503020204020204" pitchFamily="34" charset="-122"/>
              </a:rPr>
              <a:t>Signed</a:t>
            </a:r>
            <a:r>
              <a:rPr lang="zh-CN" altLang="en-US" sz="2000" dirty="0">
                <a:solidFill>
                  <a:srgbClr val="990000"/>
                </a:solidFill>
                <a:latin typeface="微软雅黑" panose="020B0503020204020204" pitchFamily="34" charset="-122"/>
                <a:ea typeface="微软雅黑" panose="020B0503020204020204" pitchFamily="34" charset="-122"/>
              </a:rPr>
              <a:t>：</a:t>
            </a:r>
            <a:r>
              <a:rPr lang="en-US" altLang="zh-CN" sz="2000" dirty="0">
                <a:solidFill>
                  <a:srgbClr val="990000"/>
                </a:solidFill>
                <a:latin typeface="微软雅黑" panose="020B0503020204020204" pitchFamily="34" charset="-122"/>
                <a:ea typeface="微软雅黑" panose="020B0503020204020204" pitchFamily="34" charset="-122"/>
              </a:rPr>
              <a:t>OF</a:t>
            </a:r>
            <a:r>
              <a:rPr lang="en-US" altLang="zh-CN" sz="2000" dirty="0">
                <a:solidFill>
                  <a:srgbClr val="99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990000"/>
                </a:solidFill>
                <a:latin typeface="微软雅黑" panose="020B0503020204020204" pitchFamily="34" charset="-122"/>
                <a:ea typeface="微软雅黑" panose="020B0503020204020204" pitchFamily="34" charset="-122"/>
              </a:rPr>
              <a:t>SF</a:t>
            </a:r>
            <a:r>
              <a:rPr lang="zh-CN" altLang="en-US" sz="2000" dirty="0">
                <a:solidFill>
                  <a:srgbClr val="990000"/>
                </a:solidFill>
                <a:latin typeface="微软雅黑" panose="020B0503020204020204" pitchFamily="34" charset="-122"/>
                <a:ea typeface="微软雅黑" panose="020B0503020204020204" pitchFamily="34" charset="-122"/>
              </a:rPr>
              <a:t>时，大于</a:t>
            </a:r>
            <a:endParaRPr lang="zh-CN" altLang="en-US" sz="2000" dirty="0">
              <a:solidFill>
                <a:srgbClr val="990000"/>
              </a:solidFill>
              <a:latin typeface="微软雅黑" panose="020B0503020204020204" pitchFamily="34" charset="-122"/>
              <a:ea typeface="微软雅黑" panose="020B0503020204020204" pitchFamily="34" charset="-122"/>
            </a:endParaRPr>
          </a:p>
        </p:txBody>
      </p:sp>
      <p:sp>
        <p:nvSpPr>
          <p:cNvPr id="42035" name="Text Box 52"/>
          <p:cNvSpPr txBox="1"/>
          <p:nvPr/>
        </p:nvSpPr>
        <p:spPr>
          <a:xfrm>
            <a:off x="5607050" y="3402013"/>
            <a:ext cx="3006725" cy="747712"/>
          </a:xfrm>
          <a:prstGeom prst="rect">
            <a:avLst/>
          </a:prstGeom>
          <a:noFill/>
          <a:ln w="9525">
            <a:noFill/>
          </a:ln>
        </p:spPr>
        <p:txBody>
          <a:bodyPr anchor="t" anchorCtr="0">
            <a:spAutoFit/>
          </a:bodyPr>
          <a:p>
            <a:pPr eaLnBrk="0" hangingPunct="0">
              <a:spcBef>
                <a:spcPct val="15000"/>
              </a:spcBef>
            </a:pPr>
            <a:r>
              <a:rPr lang="en-US" altLang="zh-CN" sz="2000" dirty="0">
                <a:solidFill>
                  <a:srgbClr val="FF0000"/>
                </a:solidFill>
                <a:latin typeface="微软雅黑" panose="020B0503020204020204" pitchFamily="34" charset="-122"/>
                <a:ea typeface="微软雅黑" panose="020B0503020204020204" pitchFamily="34" charset="-122"/>
              </a:rPr>
              <a:t>OF=0</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ZF=0</a:t>
            </a:r>
            <a:r>
              <a:rPr lang="zh-CN" altLang="en-US" sz="2000" dirty="0">
                <a:solidFill>
                  <a:srgbClr val="FF0000"/>
                </a:solidFill>
                <a:latin typeface="微软雅黑" panose="020B0503020204020204" pitchFamily="34" charset="-122"/>
                <a:ea typeface="微软雅黑" panose="020B0503020204020204" pitchFamily="34" charset="-122"/>
              </a:rPr>
              <a:t>、</a:t>
            </a:r>
            <a:endParaRPr lang="zh-CN" altLang="en-US" sz="2000" dirty="0">
              <a:solidFill>
                <a:srgbClr val="FF0000"/>
              </a:solidFill>
              <a:latin typeface="微软雅黑" panose="020B0503020204020204" pitchFamily="34" charset="-122"/>
              <a:ea typeface="微软雅黑" panose="020B0503020204020204" pitchFamily="34" charset="-122"/>
            </a:endParaRPr>
          </a:p>
          <a:p>
            <a:pPr eaLnBrk="0" hangingPunct="0">
              <a:spcBef>
                <a:spcPct val="15000"/>
              </a:spcBef>
            </a:pPr>
            <a:r>
              <a:rPr lang="en-US" altLang="zh-CN" sz="2000" dirty="0">
                <a:solidFill>
                  <a:srgbClr val="FF0000"/>
                </a:solidFill>
                <a:latin typeface="微软雅黑" panose="020B0503020204020204" pitchFamily="34" charset="-122"/>
                <a:ea typeface="微软雅黑" panose="020B0503020204020204" pitchFamily="34" charset="-122"/>
              </a:rPr>
              <a:t>SF=1</a:t>
            </a:r>
            <a:r>
              <a:rPr lang="zh-CN" altLang="en-US" sz="2000" dirty="0">
                <a:solidFill>
                  <a:srgbClr val="FF0000"/>
                </a:solidFill>
                <a:latin typeface="微软雅黑" panose="020B0503020204020204" pitchFamily="34" charset="-122"/>
                <a:ea typeface="微软雅黑" panose="020B0503020204020204" pitchFamily="34" charset="-122"/>
              </a:rPr>
              <a:t>、借位</a:t>
            </a:r>
            <a:r>
              <a:rPr lang="en-US" altLang="zh-CN" sz="2000" dirty="0">
                <a:solidFill>
                  <a:srgbClr val="FF0000"/>
                </a:solidFill>
                <a:latin typeface="微软雅黑" panose="020B0503020204020204" pitchFamily="34" charset="-122"/>
                <a:ea typeface="微软雅黑" panose="020B0503020204020204" pitchFamily="34" charset="-122"/>
              </a:rPr>
              <a:t>CF=0</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42036" name="Text Box 53"/>
          <p:cNvSpPr txBox="1"/>
          <p:nvPr/>
        </p:nvSpPr>
        <p:spPr>
          <a:xfrm>
            <a:off x="1376363" y="3429000"/>
            <a:ext cx="2879725" cy="747713"/>
          </a:xfrm>
          <a:prstGeom prst="rect">
            <a:avLst/>
          </a:prstGeom>
          <a:noFill/>
          <a:ln w="9525">
            <a:noFill/>
          </a:ln>
        </p:spPr>
        <p:txBody>
          <a:bodyPr anchor="t" anchorCtr="0">
            <a:spAutoFit/>
          </a:bodyPr>
          <a:p>
            <a:pPr eaLnBrk="0" hangingPunct="0">
              <a:spcBef>
                <a:spcPct val="15000"/>
              </a:spcBef>
            </a:pPr>
            <a:r>
              <a:rPr lang="en-US" altLang="zh-CN" sz="2000" dirty="0">
                <a:solidFill>
                  <a:srgbClr val="FF3300"/>
                </a:solidFill>
                <a:latin typeface="微软雅黑" panose="020B0503020204020204" pitchFamily="34" charset="-122"/>
                <a:ea typeface="微软雅黑" panose="020B0503020204020204" pitchFamily="34" charset="-122"/>
              </a:rPr>
              <a:t>OF=1</a:t>
            </a:r>
            <a:r>
              <a:rPr lang="zh-CN" altLang="en-US" sz="2000" dirty="0">
                <a:solidFill>
                  <a:srgbClr val="FF3300"/>
                </a:solidFill>
                <a:latin typeface="微软雅黑" panose="020B0503020204020204" pitchFamily="34" charset="-122"/>
                <a:ea typeface="微软雅黑" panose="020B0503020204020204" pitchFamily="34" charset="-122"/>
              </a:rPr>
              <a:t>、</a:t>
            </a:r>
            <a:r>
              <a:rPr lang="en-US" altLang="zh-CN" sz="2000" dirty="0">
                <a:solidFill>
                  <a:srgbClr val="FF3300"/>
                </a:solidFill>
                <a:latin typeface="微软雅黑" panose="020B0503020204020204" pitchFamily="34" charset="-122"/>
                <a:ea typeface="微软雅黑" panose="020B0503020204020204" pitchFamily="34" charset="-122"/>
              </a:rPr>
              <a:t>ZF=0</a:t>
            </a:r>
            <a:endParaRPr lang="en-US" altLang="zh-CN" sz="2000" dirty="0">
              <a:solidFill>
                <a:srgbClr val="FF3300"/>
              </a:solidFill>
              <a:latin typeface="微软雅黑" panose="020B0503020204020204" pitchFamily="34" charset="-122"/>
              <a:ea typeface="微软雅黑" panose="020B0503020204020204" pitchFamily="34" charset="-122"/>
            </a:endParaRPr>
          </a:p>
          <a:p>
            <a:pPr eaLnBrk="0" hangingPunct="0">
              <a:spcBef>
                <a:spcPct val="15000"/>
              </a:spcBef>
            </a:pPr>
            <a:r>
              <a:rPr lang="en-US" altLang="zh-CN" sz="2000" dirty="0">
                <a:solidFill>
                  <a:srgbClr val="FF3300"/>
                </a:solidFill>
                <a:latin typeface="微软雅黑" panose="020B0503020204020204" pitchFamily="34" charset="-122"/>
                <a:ea typeface="微软雅黑" panose="020B0503020204020204" pitchFamily="34" charset="-122"/>
              </a:rPr>
              <a:t>SF=0</a:t>
            </a:r>
            <a:r>
              <a:rPr lang="zh-CN" altLang="en-US" sz="2000" dirty="0">
                <a:solidFill>
                  <a:srgbClr val="FF3300"/>
                </a:solidFill>
                <a:latin typeface="微软雅黑" panose="020B0503020204020204" pitchFamily="34" charset="-122"/>
                <a:ea typeface="微软雅黑" panose="020B0503020204020204" pitchFamily="34" charset="-122"/>
              </a:rPr>
              <a:t>、借位</a:t>
            </a:r>
            <a:r>
              <a:rPr lang="en-US" altLang="zh-CN" sz="2000" dirty="0">
                <a:solidFill>
                  <a:srgbClr val="FF3300"/>
                </a:solidFill>
                <a:latin typeface="微软雅黑" panose="020B0503020204020204" pitchFamily="34" charset="-122"/>
                <a:ea typeface="微软雅黑" panose="020B0503020204020204" pitchFamily="34" charset="-122"/>
              </a:rPr>
              <a:t>CF=0</a:t>
            </a:r>
            <a:endParaRPr lang="en-US" altLang="zh-CN" sz="2000" dirty="0">
              <a:solidFill>
                <a:srgbClr val="FF3300"/>
              </a:solidFill>
              <a:latin typeface="微软雅黑" panose="020B0503020204020204" pitchFamily="34" charset="-122"/>
              <a:ea typeface="微软雅黑" panose="020B0503020204020204" pitchFamily="34" charset="-122"/>
            </a:endParaRPr>
          </a:p>
        </p:txBody>
      </p:sp>
      <p:sp>
        <p:nvSpPr>
          <p:cNvPr id="42037" name="Text Box 148"/>
          <p:cNvSpPr txBox="1"/>
          <p:nvPr/>
        </p:nvSpPr>
        <p:spPr>
          <a:xfrm>
            <a:off x="6397625" y="1219200"/>
            <a:ext cx="493713" cy="519113"/>
          </a:xfrm>
          <a:prstGeom prst="rect">
            <a:avLst/>
          </a:prstGeom>
          <a:noFill/>
          <a:ln w="12700">
            <a:noFill/>
          </a:ln>
        </p:spPr>
        <p:txBody>
          <a:bodyPr anchor="t" anchorCtr="0">
            <a:spAutoFit/>
          </a:bodyPr>
          <a:p>
            <a:pPr eaLnBrk="0" hangingPunct="0">
              <a:spcBef>
                <a:spcPct val="50000"/>
              </a:spcBef>
              <a:buClrTx/>
              <a:buFontTx/>
            </a:pPr>
            <a:r>
              <a:rPr lang="en-US" altLang="zh-CN" sz="2800" dirty="0">
                <a:solidFill>
                  <a:srgbClr val="CC0000"/>
                </a:solidFill>
                <a:latin typeface="Arial" panose="020B0604020202020204" pitchFamily="34" charset="0"/>
                <a:ea typeface="黑体" panose="02010609060101010101" pitchFamily="49" charset="-122"/>
              </a:rPr>
              <a:t>√</a:t>
            </a:r>
            <a:endParaRPr lang="en-US" altLang="zh-CN" sz="2800" dirty="0">
              <a:solidFill>
                <a:srgbClr val="CC0000"/>
              </a:solidFill>
              <a:latin typeface="Arial" panose="020B0604020202020204" pitchFamily="34" charset="0"/>
              <a:ea typeface="黑体" panose="02010609060101010101" pitchFamily="49" charset="-122"/>
            </a:endParaRPr>
          </a:p>
        </p:txBody>
      </p:sp>
      <p:sp>
        <p:nvSpPr>
          <p:cNvPr id="42038" name="Text Box 148"/>
          <p:cNvSpPr txBox="1"/>
          <p:nvPr/>
        </p:nvSpPr>
        <p:spPr>
          <a:xfrm>
            <a:off x="2520950" y="1233488"/>
            <a:ext cx="493713" cy="519112"/>
          </a:xfrm>
          <a:prstGeom prst="rect">
            <a:avLst/>
          </a:prstGeom>
          <a:noFill/>
          <a:ln w="12700">
            <a:noFill/>
          </a:ln>
        </p:spPr>
        <p:txBody>
          <a:bodyPr anchor="t" anchorCtr="0">
            <a:spAutoFit/>
          </a:bodyPr>
          <a:p>
            <a:pPr eaLnBrk="0" hangingPunct="0">
              <a:spcBef>
                <a:spcPct val="50000"/>
              </a:spcBef>
              <a:buClrTx/>
              <a:buFontTx/>
            </a:pPr>
            <a:r>
              <a:rPr lang="en-US" altLang="zh-CN" sz="2800" dirty="0">
                <a:solidFill>
                  <a:srgbClr val="CC0000"/>
                </a:solidFill>
                <a:latin typeface="Arial" panose="020B0604020202020204" pitchFamily="34" charset="0"/>
                <a:ea typeface="黑体" panose="02010609060101010101" pitchFamily="49" charset="-122"/>
              </a:rPr>
              <a:t>√</a:t>
            </a:r>
            <a:endParaRPr lang="en-US" altLang="zh-CN" sz="2800" dirty="0">
              <a:solidFill>
                <a:srgbClr val="CC0000"/>
              </a:solidFill>
              <a:latin typeface="Arial" panose="020B0604020202020204" pitchFamily="34" charset="0"/>
              <a:ea typeface="黑体" panose="02010609060101010101" pitchFamily="49" charset="-122"/>
            </a:endParaRPr>
          </a:p>
        </p:txBody>
      </p:sp>
      <p:sp>
        <p:nvSpPr>
          <p:cNvPr id="42039" name="Text Box 56"/>
          <p:cNvSpPr txBox="1"/>
          <p:nvPr/>
        </p:nvSpPr>
        <p:spPr>
          <a:xfrm>
            <a:off x="3806825" y="5408613"/>
            <a:ext cx="4770438" cy="396875"/>
          </a:xfrm>
          <a:prstGeom prst="rect">
            <a:avLst/>
          </a:prstGeom>
          <a:noFill/>
          <a:ln w="9525">
            <a:noFill/>
          </a:ln>
        </p:spPr>
        <p:txBody>
          <a:bodyPr anchor="t" anchorCtr="0">
            <a:spAutoFit/>
          </a:bodyPr>
          <a:p>
            <a:pPr>
              <a:spcBef>
                <a:spcPct val="50000"/>
              </a:spcBef>
            </a:pPr>
            <a:r>
              <a:rPr lang="zh-CN" altLang="en-US" sz="2000" dirty="0">
                <a:latin typeface="微软雅黑" panose="020B0503020204020204" pitchFamily="34" charset="-122"/>
                <a:ea typeface="微软雅黑" panose="020B0503020204020204" pitchFamily="34" charset="-122"/>
              </a:rPr>
              <a:t>验证：</a:t>
            </a:r>
            <a:r>
              <a:rPr lang="en-US" altLang="zh-CN" sz="2000" dirty="0">
                <a:latin typeface="微软雅黑" panose="020B0503020204020204" pitchFamily="34" charset="-122"/>
                <a:ea typeface="微软雅黑" panose="020B0503020204020204" pitchFamily="34" charset="-122"/>
              </a:rPr>
              <a:t>9&gt;6</a:t>
            </a:r>
            <a:r>
              <a:rPr lang="zh-CN" altLang="en-US" sz="2000" dirty="0">
                <a:latin typeface="微软雅黑" panose="020B0503020204020204" pitchFamily="34" charset="-122"/>
                <a:ea typeface="微软雅黑" panose="020B0503020204020204" pitchFamily="34" charset="-122"/>
              </a:rPr>
              <a:t>，故</a:t>
            </a:r>
            <a:r>
              <a:rPr lang="en-US" altLang="zh-CN" sz="2000" dirty="0">
                <a:latin typeface="微软雅黑" panose="020B0503020204020204" pitchFamily="34" charset="-122"/>
                <a:ea typeface="微软雅黑" panose="020B0503020204020204" pitchFamily="34" charset="-122"/>
              </a:rPr>
              <a:t>CF=0</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13&gt;5</a:t>
            </a:r>
            <a:r>
              <a:rPr lang="zh-CN" altLang="en-US" sz="2000" dirty="0">
                <a:latin typeface="微软雅黑" panose="020B0503020204020204" pitchFamily="34" charset="-122"/>
                <a:ea typeface="微软雅黑" panose="020B0503020204020204" pitchFamily="34" charset="-122"/>
              </a:rPr>
              <a:t>，故</a:t>
            </a:r>
            <a:r>
              <a:rPr lang="en-US" altLang="zh-CN" sz="2000" dirty="0">
                <a:latin typeface="微软雅黑" panose="020B0503020204020204" pitchFamily="34" charset="-122"/>
                <a:ea typeface="微软雅黑" panose="020B0503020204020204" pitchFamily="34" charset="-122"/>
              </a:rPr>
              <a:t>CF=0</a:t>
            </a:r>
            <a:endParaRPr lang="en-US" altLang="zh-CN" sz="2000" dirty="0">
              <a:latin typeface="微软雅黑" panose="020B0503020204020204" pitchFamily="34" charset="-122"/>
              <a:ea typeface="微软雅黑" panose="020B0503020204020204" pitchFamily="34" charset="-122"/>
            </a:endParaRPr>
          </a:p>
        </p:txBody>
      </p:sp>
      <p:sp>
        <p:nvSpPr>
          <p:cNvPr id="42040" name="Text Box 57"/>
          <p:cNvSpPr txBox="1"/>
          <p:nvPr/>
        </p:nvSpPr>
        <p:spPr>
          <a:xfrm>
            <a:off x="3851275" y="5878513"/>
            <a:ext cx="4186238" cy="701675"/>
          </a:xfrm>
          <a:prstGeom prst="rect">
            <a:avLst/>
          </a:prstGeom>
          <a:noFill/>
          <a:ln w="9525">
            <a:noFill/>
          </a:ln>
        </p:spPr>
        <p:txBody>
          <a:bodyPr anchor="t" anchorCtr="0">
            <a:spAutoFit/>
          </a:bodyPr>
          <a:p>
            <a:r>
              <a:rPr lang="zh-CN" altLang="en-US" sz="2000" dirty="0">
                <a:latin typeface="微软雅黑" panose="020B0503020204020204" pitchFamily="34" charset="-122"/>
                <a:ea typeface="微软雅黑" panose="020B0503020204020204" pitchFamily="34" charset="-122"/>
              </a:rPr>
              <a:t>验证：</a:t>
            </a:r>
            <a:r>
              <a:rPr lang="en-US" altLang="zh-CN" sz="2000" dirty="0">
                <a:latin typeface="微软雅黑" panose="020B0503020204020204" pitchFamily="34" charset="-122"/>
                <a:ea typeface="微软雅黑" panose="020B0503020204020204" pitchFamily="34" charset="-122"/>
              </a:rPr>
              <a:t>-7&lt;6</a:t>
            </a:r>
            <a:r>
              <a:rPr lang="zh-CN" altLang="en-US" sz="2000" dirty="0">
                <a:latin typeface="微软雅黑" panose="020B0503020204020204" pitchFamily="34" charset="-122"/>
                <a:ea typeface="微软雅黑" panose="020B0503020204020204" pitchFamily="34" charset="-122"/>
              </a:rPr>
              <a:t>，故</a:t>
            </a:r>
            <a:r>
              <a:rPr lang="en-US" altLang="zh-CN" sz="2000" dirty="0">
                <a:latin typeface="微软雅黑" panose="020B0503020204020204" pitchFamily="34" charset="-122"/>
                <a:ea typeface="微软雅黑" panose="020B0503020204020204" pitchFamily="34" charset="-122"/>
              </a:rPr>
              <a:t>OF≠SF</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-3&lt;5</a:t>
            </a:r>
            <a:r>
              <a:rPr lang="zh-CN" altLang="en-US" sz="2000" dirty="0">
                <a:latin typeface="微软雅黑" panose="020B0503020204020204" pitchFamily="34" charset="-122"/>
                <a:ea typeface="微软雅黑" panose="020B0503020204020204" pitchFamily="34" charset="-122"/>
              </a:rPr>
              <a:t>，故</a:t>
            </a:r>
            <a:r>
              <a:rPr lang="en-US" altLang="zh-CN" sz="2000" dirty="0">
                <a:latin typeface="微软雅黑" panose="020B0503020204020204" pitchFamily="34" charset="-122"/>
                <a:ea typeface="微软雅黑" panose="020B0503020204020204" pitchFamily="34" charset="-122"/>
              </a:rPr>
              <a:t>OF≠SF</a:t>
            </a:r>
            <a:endParaRPr lang="en-US" altLang="zh-CN" sz="2000" dirty="0">
              <a:latin typeface="微软雅黑" panose="020B0503020204020204" pitchFamily="34" charset="-122"/>
              <a:ea typeface="微软雅黑" panose="020B0503020204020204" pitchFamily="34" charset="-122"/>
            </a:endParaRPr>
          </a:p>
        </p:txBody>
      </p:sp>
      <p:sp>
        <p:nvSpPr>
          <p:cNvPr id="42041" name="Text Box 58"/>
          <p:cNvSpPr txBox="1"/>
          <p:nvPr/>
        </p:nvSpPr>
        <p:spPr>
          <a:xfrm>
            <a:off x="5876925" y="4284663"/>
            <a:ext cx="2968625" cy="671512"/>
          </a:xfrm>
          <a:prstGeom prst="rect">
            <a:avLst/>
          </a:prstGeom>
          <a:noFill/>
          <a:ln w="9525">
            <a:noFill/>
          </a:ln>
        </p:spPr>
        <p:txBody>
          <a:bodyPr anchor="t" anchorCtr="0">
            <a:spAutoFit/>
          </a:bodyPr>
          <a:p>
            <a:pPr>
              <a:spcBef>
                <a:spcPct val="50000"/>
              </a:spcBef>
            </a:pPr>
            <a:r>
              <a:rPr lang="zh-CN" altLang="en-US" sz="2000" dirty="0">
                <a:latin typeface="微软雅黑" panose="020B0503020204020204" pitchFamily="34" charset="-122"/>
                <a:ea typeface="微软雅黑" panose="020B0503020204020204" pitchFamily="34" charset="-122"/>
              </a:rPr>
              <a:t>无符号减溢出：</a:t>
            </a:r>
            <a:r>
              <a:rPr lang="zh-CN" altLang="en-US" sz="1800" dirty="0">
                <a:solidFill>
                  <a:srgbClr val="3333FF"/>
                </a:solidFill>
                <a:latin typeface="Arial" panose="020B0604020202020204" pitchFamily="34" charset="0"/>
                <a:ea typeface="微软雅黑" panose="020B0503020204020204" pitchFamily="34" charset="-122"/>
              </a:rPr>
              <a:t>差为负数，即借位</a:t>
            </a:r>
            <a:r>
              <a:rPr lang="en-US" altLang="zh-CN" sz="1800" dirty="0">
                <a:solidFill>
                  <a:srgbClr val="3333FF"/>
                </a:solidFill>
                <a:latin typeface="Arial" panose="020B0604020202020204" pitchFamily="34" charset="0"/>
                <a:ea typeface="微软雅黑" panose="020B0503020204020204" pitchFamily="34" charset="-122"/>
              </a:rPr>
              <a:t>CF=1</a:t>
            </a:r>
            <a:endParaRPr lang="en-US" altLang="zh-CN" sz="18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idx="4294967295"/>
          </p:nvPr>
        </p:nvSpPr>
        <p:spPr>
          <a:xfrm>
            <a:off x="296863" y="101600"/>
            <a:ext cx="8229600" cy="479425"/>
          </a:xfrm>
          <a:ln/>
        </p:spPr>
        <p:txBody>
          <a:bodyPr vert="horz" wrap="square" lIns="63500" tIns="25400" rIns="63500" bIns="25400" anchor="t" anchorCtr="0">
            <a:spAutoFit/>
          </a:bodyPr>
          <a:p>
            <a:r>
              <a:rPr lang="zh-CN" altLang="en-US" dirty="0">
                <a:ea typeface="宋体" panose="02010600030101010101" pitchFamily="2" charset="-122"/>
              </a:rPr>
              <a:t>举例：整数减法</a:t>
            </a:r>
            <a:endParaRPr lang="zh-CN" altLang="en-US" dirty="0">
              <a:ea typeface="宋体" panose="02010600030101010101" pitchFamily="2" charset="-122"/>
            </a:endParaRPr>
          </a:p>
        </p:txBody>
      </p:sp>
      <p:sp>
        <p:nvSpPr>
          <p:cNvPr id="44034" name="Text Box 3"/>
          <p:cNvSpPr txBox="1"/>
          <p:nvPr/>
        </p:nvSpPr>
        <p:spPr>
          <a:xfrm>
            <a:off x="3627438" y="782638"/>
            <a:ext cx="4816475" cy="396875"/>
          </a:xfrm>
          <a:prstGeom prst="rect">
            <a:avLst/>
          </a:prstGeom>
          <a:solidFill>
            <a:schemeClr val="bg1"/>
          </a:solidFill>
          <a:ln w="12700">
            <a:noFill/>
          </a:ln>
        </p:spPr>
        <p:txBody>
          <a:bodyPr anchor="t" anchorCtr="0">
            <a:spAutoFit/>
          </a:bodyPr>
          <a:p>
            <a:pPr eaLnBrk="0" hangingPunct="0">
              <a:spcBef>
                <a:spcPct val="50000"/>
              </a:spcBef>
            </a:pPr>
            <a:r>
              <a:rPr lang="zh-CN" altLang="en-US" sz="2000" dirty="0">
                <a:solidFill>
                  <a:srgbClr val="009242"/>
                </a:solidFill>
                <a:latin typeface="Arial" panose="020B0604020202020204" pitchFamily="34" charset="0"/>
                <a:ea typeface="微软雅黑" panose="020B0503020204020204" pitchFamily="34" charset="-122"/>
              </a:rPr>
              <a:t>无符号和带符号加减运算都用该部件执行</a:t>
            </a:r>
            <a:endParaRPr lang="zh-CN" altLang="en-US" sz="2000" dirty="0">
              <a:solidFill>
                <a:srgbClr val="996600"/>
              </a:solidFill>
              <a:latin typeface="Arial" panose="020B0604020202020204" pitchFamily="34" charset="0"/>
              <a:ea typeface="微软雅黑" panose="020B0503020204020204" pitchFamily="34" charset="-122"/>
            </a:endParaRPr>
          </a:p>
        </p:txBody>
      </p:sp>
      <p:sp>
        <p:nvSpPr>
          <p:cNvPr id="44035" name="Text Box 4"/>
          <p:cNvSpPr txBox="1"/>
          <p:nvPr/>
        </p:nvSpPr>
        <p:spPr>
          <a:xfrm>
            <a:off x="250825" y="728663"/>
            <a:ext cx="3916363" cy="3000375"/>
          </a:xfrm>
          <a:prstGeom prst="rect">
            <a:avLst/>
          </a:prstGeom>
          <a:noFill/>
          <a:ln w="9525">
            <a:noFill/>
          </a:ln>
        </p:spPr>
        <p:txBody>
          <a:bodyPr anchor="t" anchorCtr="0">
            <a:spAutoFit/>
          </a:bodyPr>
          <a:p>
            <a:pPr>
              <a:lnSpc>
                <a:spcPct val="110000"/>
              </a:lnSpc>
              <a:spcBef>
                <a:spcPct val="25000"/>
              </a:spcBef>
            </a:pPr>
            <a:r>
              <a:rPr lang="en-US" altLang="zh-CN" sz="2000" dirty="0">
                <a:latin typeface="Arial" panose="020B0604020202020204" pitchFamily="34" charset="0"/>
              </a:rPr>
              <a:t>unsigned int x=134;</a:t>
            </a:r>
            <a:endParaRPr lang="zh-CN" altLang="en-US" sz="2000" dirty="0">
              <a:latin typeface="Arial" panose="020B0604020202020204" pitchFamily="34" charset="0"/>
              <a:ea typeface="宋体" panose="02010600030101010101" pitchFamily="2" charset="-122"/>
            </a:endParaRPr>
          </a:p>
          <a:p>
            <a:pPr>
              <a:lnSpc>
                <a:spcPct val="110000"/>
              </a:lnSpc>
              <a:spcBef>
                <a:spcPct val="25000"/>
              </a:spcBef>
            </a:pPr>
            <a:r>
              <a:rPr lang="en-US" altLang="zh-CN" sz="2000" dirty="0">
                <a:latin typeface="Arial" panose="020B0604020202020204" pitchFamily="34" charset="0"/>
              </a:rPr>
              <a:t>unsigned int y=246;</a:t>
            </a:r>
            <a:endParaRPr lang="en-US" altLang="zh-CN" sz="2000" dirty="0">
              <a:latin typeface="Arial" panose="020B0604020202020204" pitchFamily="34" charset="0"/>
            </a:endParaRPr>
          </a:p>
          <a:p>
            <a:pPr>
              <a:lnSpc>
                <a:spcPct val="110000"/>
              </a:lnSpc>
              <a:spcBef>
                <a:spcPct val="25000"/>
              </a:spcBef>
            </a:pPr>
            <a:r>
              <a:rPr lang="en-US" altLang="zh-CN" sz="2000" dirty="0">
                <a:latin typeface="Arial" panose="020B0604020202020204" pitchFamily="34" charset="0"/>
              </a:rPr>
              <a:t>int m=x;</a:t>
            </a:r>
            <a:endParaRPr lang="en-US" altLang="zh-CN" sz="2000" dirty="0">
              <a:latin typeface="Arial" panose="020B0604020202020204" pitchFamily="34" charset="0"/>
            </a:endParaRPr>
          </a:p>
          <a:p>
            <a:pPr>
              <a:lnSpc>
                <a:spcPct val="110000"/>
              </a:lnSpc>
              <a:spcBef>
                <a:spcPct val="25000"/>
              </a:spcBef>
            </a:pPr>
            <a:r>
              <a:rPr lang="en-US" altLang="zh-CN" sz="2000" dirty="0">
                <a:latin typeface="Arial" panose="020B0604020202020204" pitchFamily="34" charset="0"/>
              </a:rPr>
              <a:t>int n=y;</a:t>
            </a:r>
            <a:endParaRPr lang="en-US" altLang="zh-CN" sz="2000" dirty="0">
              <a:latin typeface="Arial" panose="020B0604020202020204" pitchFamily="34" charset="0"/>
            </a:endParaRPr>
          </a:p>
          <a:p>
            <a:pPr>
              <a:lnSpc>
                <a:spcPct val="110000"/>
              </a:lnSpc>
            </a:pPr>
            <a:r>
              <a:rPr lang="en-US" altLang="zh-CN" sz="2000" dirty="0">
                <a:latin typeface="Arial" panose="020B0604020202020204" pitchFamily="34" charset="0"/>
              </a:rPr>
              <a:t>unsigned int </a:t>
            </a:r>
            <a:r>
              <a:rPr lang="en-US" altLang="zh-CN" sz="2000" dirty="0">
                <a:solidFill>
                  <a:srgbClr val="FF0000"/>
                </a:solidFill>
                <a:latin typeface="Arial" panose="020B0604020202020204" pitchFamily="34" charset="0"/>
              </a:rPr>
              <a:t>z1=x-y</a:t>
            </a:r>
            <a:r>
              <a:rPr lang="en-US" altLang="zh-CN" sz="2000" dirty="0">
                <a:latin typeface="Arial" panose="020B0604020202020204" pitchFamily="34" charset="0"/>
              </a:rPr>
              <a:t>;</a:t>
            </a:r>
            <a:endParaRPr lang="zh-CN" altLang="en-US" sz="2000" dirty="0">
              <a:latin typeface="Arial" panose="020B0604020202020204" pitchFamily="34" charset="0"/>
              <a:ea typeface="宋体" panose="02010600030101010101" pitchFamily="2" charset="-122"/>
            </a:endParaRPr>
          </a:p>
          <a:p>
            <a:pPr>
              <a:lnSpc>
                <a:spcPct val="110000"/>
              </a:lnSpc>
            </a:pPr>
            <a:r>
              <a:rPr lang="en-US" altLang="zh-CN" sz="2000" dirty="0">
                <a:latin typeface="Arial" panose="020B0604020202020204" pitchFamily="34" charset="0"/>
              </a:rPr>
              <a:t>unsigned int</a:t>
            </a:r>
            <a:r>
              <a:rPr lang="en-US" altLang="zh-CN" sz="2000" dirty="0">
                <a:solidFill>
                  <a:srgbClr val="FF0000"/>
                </a:solidFill>
                <a:latin typeface="Arial" panose="020B0604020202020204" pitchFamily="34" charset="0"/>
              </a:rPr>
              <a:t> z2=x+y</a:t>
            </a:r>
            <a:r>
              <a:rPr lang="en-US" altLang="zh-CN" sz="2000" dirty="0">
                <a:latin typeface="Arial" panose="020B0604020202020204" pitchFamily="34" charset="0"/>
              </a:rPr>
              <a:t>;</a:t>
            </a:r>
            <a:endParaRPr lang="en-US" altLang="zh-CN" sz="2000" dirty="0">
              <a:latin typeface="Arial" panose="020B0604020202020204" pitchFamily="34" charset="0"/>
            </a:endParaRPr>
          </a:p>
          <a:p>
            <a:pPr>
              <a:lnSpc>
                <a:spcPct val="110000"/>
              </a:lnSpc>
            </a:pPr>
            <a:r>
              <a:rPr lang="en-US" altLang="zh-CN" sz="2000" dirty="0">
                <a:latin typeface="Arial" panose="020B0604020202020204" pitchFamily="34" charset="0"/>
              </a:rPr>
              <a:t>int </a:t>
            </a:r>
            <a:r>
              <a:rPr lang="en-US" altLang="zh-CN" sz="2000" dirty="0">
                <a:solidFill>
                  <a:srgbClr val="FF0000"/>
                </a:solidFill>
                <a:latin typeface="Arial" panose="020B0604020202020204" pitchFamily="34" charset="0"/>
              </a:rPr>
              <a:t>k1=m-n</a:t>
            </a:r>
            <a:r>
              <a:rPr lang="en-US" altLang="zh-CN" sz="2000" dirty="0">
                <a:latin typeface="Arial" panose="020B0604020202020204" pitchFamily="34" charset="0"/>
              </a:rPr>
              <a:t>;</a:t>
            </a:r>
            <a:endParaRPr lang="en-US" altLang="zh-CN" sz="2000" dirty="0">
              <a:latin typeface="Arial" panose="020B0604020202020204" pitchFamily="34" charset="0"/>
            </a:endParaRPr>
          </a:p>
          <a:p>
            <a:pPr>
              <a:lnSpc>
                <a:spcPct val="110000"/>
              </a:lnSpc>
            </a:pPr>
            <a:r>
              <a:rPr lang="en-US" altLang="zh-CN" sz="2000" dirty="0">
                <a:latin typeface="Arial" panose="020B0604020202020204" pitchFamily="34" charset="0"/>
              </a:rPr>
              <a:t>int</a:t>
            </a:r>
            <a:r>
              <a:rPr lang="en-US" altLang="zh-CN" sz="2000" dirty="0">
                <a:solidFill>
                  <a:srgbClr val="FF0000"/>
                </a:solidFill>
                <a:latin typeface="Arial" panose="020B0604020202020204" pitchFamily="34" charset="0"/>
              </a:rPr>
              <a:t> k2=m+n</a:t>
            </a:r>
            <a:r>
              <a:rPr lang="en-US" altLang="zh-CN" sz="2000" dirty="0">
                <a:latin typeface="Arial" panose="020B0604020202020204" pitchFamily="34" charset="0"/>
              </a:rPr>
              <a:t>;</a:t>
            </a:r>
            <a:endParaRPr lang="en-US" altLang="zh-CN" sz="2000" dirty="0">
              <a:latin typeface="Arial" panose="020B0604020202020204" pitchFamily="34" charset="0"/>
            </a:endParaRPr>
          </a:p>
        </p:txBody>
      </p:sp>
      <p:sp>
        <p:nvSpPr>
          <p:cNvPr id="44036" name="Text Box 5"/>
          <p:cNvSpPr txBox="1"/>
          <p:nvPr/>
        </p:nvSpPr>
        <p:spPr>
          <a:xfrm>
            <a:off x="250825" y="3832225"/>
            <a:ext cx="8280400" cy="1127125"/>
          </a:xfrm>
          <a:prstGeom prst="rect">
            <a:avLst/>
          </a:prstGeom>
          <a:noFill/>
          <a:ln w="9525">
            <a:noFill/>
          </a:ln>
        </p:spPr>
        <p:txBody>
          <a:bodyPr anchor="t" anchorCtr="0">
            <a:spAutoFit/>
          </a:bodyPr>
          <a:p>
            <a:pPr>
              <a:spcBef>
                <a:spcPct val="20000"/>
              </a:spcBef>
            </a:pPr>
            <a:r>
              <a:rPr lang="en-US" altLang="zh-CN" sz="2000" dirty="0">
                <a:solidFill>
                  <a:srgbClr val="0000FF"/>
                </a:solidFill>
                <a:latin typeface="微软雅黑" panose="020B0503020204020204" pitchFamily="34" charset="-122"/>
                <a:ea typeface="微软雅黑" panose="020B0503020204020204" pitchFamily="34" charset="-122"/>
              </a:rPr>
              <a:t>x</a:t>
            </a:r>
            <a:r>
              <a:rPr lang="zh-CN" altLang="en-US" sz="2000" dirty="0">
                <a:solidFill>
                  <a:srgbClr val="0000FF"/>
                </a:solidFill>
                <a:latin typeface="微软雅黑" panose="020B0503020204020204" pitchFamily="34" charset="-122"/>
                <a:ea typeface="微软雅黑" panose="020B0503020204020204" pitchFamily="34" charset="-122"/>
              </a:rPr>
              <a:t>和</a:t>
            </a:r>
            <a:r>
              <a:rPr lang="en-US" altLang="zh-CN" sz="2000" dirty="0">
                <a:solidFill>
                  <a:srgbClr val="0000FF"/>
                </a:solidFill>
                <a:latin typeface="微软雅黑" panose="020B0503020204020204" pitchFamily="34" charset="-122"/>
                <a:ea typeface="微软雅黑" panose="020B0503020204020204" pitchFamily="34" charset="-122"/>
              </a:rPr>
              <a:t>m</a:t>
            </a:r>
            <a:r>
              <a:rPr lang="zh-CN" altLang="en-US" sz="2000" dirty="0">
                <a:solidFill>
                  <a:srgbClr val="0000FF"/>
                </a:solidFill>
                <a:latin typeface="微软雅黑" panose="020B0503020204020204" pitchFamily="34" charset="-122"/>
                <a:ea typeface="微软雅黑" panose="020B0503020204020204" pitchFamily="34" charset="-122"/>
              </a:rPr>
              <a:t>的机器数一样：</a:t>
            </a:r>
            <a:r>
              <a:rPr lang="en-US" altLang="zh-CN" sz="2000" dirty="0">
                <a:solidFill>
                  <a:srgbClr val="0000FF"/>
                </a:solidFill>
                <a:latin typeface="微软雅黑" panose="020B0503020204020204" pitchFamily="34" charset="-122"/>
                <a:ea typeface="微软雅黑" panose="020B0503020204020204" pitchFamily="34" charset="-122"/>
              </a:rPr>
              <a:t>1000 0110</a:t>
            </a:r>
            <a:r>
              <a:rPr lang="zh-CN" altLang="en-US" sz="2000" dirty="0">
                <a:solidFill>
                  <a:srgbClr val="0000FF"/>
                </a:solidFill>
                <a:latin typeface="微软雅黑" panose="020B0503020204020204" pitchFamily="34" charset="-122"/>
                <a:ea typeface="微软雅黑" panose="020B0503020204020204" pitchFamily="34" charset="-122"/>
              </a:rPr>
              <a:t>，</a:t>
            </a:r>
            <a:r>
              <a:rPr lang="en-US" altLang="zh-CN" sz="2000" dirty="0">
                <a:solidFill>
                  <a:srgbClr val="0000FF"/>
                </a:solidFill>
                <a:latin typeface="微软雅黑" panose="020B0503020204020204" pitchFamily="34" charset="-122"/>
                <a:ea typeface="微软雅黑" panose="020B0503020204020204" pitchFamily="34" charset="-122"/>
              </a:rPr>
              <a:t>y</a:t>
            </a:r>
            <a:r>
              <a:rPr lang="zh-CN" altLang="en-US" sz="2000" dirty="0">
                <a:solidFill>
                  <a:srgbClr val="0000FF"/>
                </a:solidFill>
                <a:latin typeface="微软雅黑" panose="020B0503020204020204" pitchFamily="34" charset="-122"/>
                <a:ea typeface="微软雅黑" panose="020B0503020204020204" pitchFamily="34" charset="-122"/>
              </a:rPr>
              <a:t>和</a:t>
            </a:r>
            <a:r>
              <a:rPr lang="en-US" altLang="zh-CN" sz="2000" dirty="0">
                <a:solidFill>
                  <a:srgbClr val="0000FF"/>
                </a:solidFill>
                <a:latin typeface="微软雅黑" panose="020B0503020204020204" pitchFamily="34" charset="-122"/>
                <a:ea typeface="微软雅黑" panose="020B0503020204020204" pitchFamily="34" charset="-122"/>
              </a:rPr>
              <a:t>n</a:t>
            </a:r>
            <a:r>
              <a:rPr lang="zh-CN" altLang="en-US" sz="2000" dirty="0">
                <a:solidFill>
                  <a:srgbClr val="0000FF"/>
                </a:solidFill>
                <a:latin typeface="微软雅黑" panose="020B0503020204020204" pitchFamily="34" charset="-122"/>
                <a:ea typeface="微软雅黑" panose="020B0503020204020204" pitchFamily="34" charset="-122"/>
              </a:rPr>
              <a:t>的机器数一样：</a:t>
            </a:r>
            <a:r>
              <a:rPr lang="en-US" altLang="zh-CN" sz="2000" dirty="0">
                <a:solidFill>
                  <a:srgbClr val="0000FF"/>
                </a:solidFill>
                <a:latin typeface="微软雅黑" panose="020B0503020204020204" pitchFamily="34" charset="-122"/>
                <a:ea typeface="微软雅黑" panose="020B0503020204020204" pitchFamily="34" charset="-122"/>
              </a:rPr>
              <a:t>1111 0110</a:t>
            </a:r>
            <a:endParaRPr lang="en-US" altLang="zh-CN" sz="2000" dirty="0">
              <a:solidFill>
                <a:srgbClr val="0000FF"/>
              </a:solidFill>
              <a:latin typeface="微软雅黑" panose="020B0503020204020204" pitchFamily="34" charset="-122"/>
              <a:ea typeface="微软雅黑" panose="020B0503020204020204" pitchFamily="34" charset="-122"/>
            </a:endParaRPr>
          </a:p>
          <a:p>
            <a:pPr>
              <a:spcBef>
                <a:spcPct val="20000"/>
              </a:spcBef>
            </a:pPr>
            <a:r>
              <a:rPr lang="en-US" altLang="zh-CN" sz="2000" dirty="0">
                <a:solidFill>
                  <a:srgbClr val="0000FF"/>
                </a:solidFill>
                <a:latin typeface="微软雅黑" panose="020B0503020204020204" pitchFamily="34" charset="-122"/>
                <a:ea typeface="微软雅黑" panose="020B0503020204020204" pitchFamily="34" charset="-122"/>
              </a:rPr>
              <a:t>z1</a:t>
            </a:r>
            <a:r>
              <a:rPr lang="zh-CN" altLang="en-US" sz="2000" dirty="0">
                <a:solidFill>
                  <a:srgbClr val="0000FF"/>
                </a:solidFill>
                <a:latin typeface="微软雅黑" panose="020B0503020204020204" pitchFamily="34" charset="-122"/>
                <a:ea typeface="微软雅黑" panose="020B0503020204020204" pitchFamily="34" charset="-122"/>
              </a:rPr>
              <a:t>和</a:t>
            </a:r>
            <a:r>
              <a:rPr lang="en-US" altLang="zh-CN" sz="2000" dirty="0">
                <a:solidFill>
                  <a:srgbClr val="0000FF"/>
                </a:solidFill>
                <a:latin typeface="微软雅黑" panose="020B0503020204020204" pitchFamily="34" charset="-122"/>
                <a:ea typeface="微软雅黑" panose="020B0503020204020204" pitchFamily="34" charset="-122"/>
              </a:rPr>
              <a:t>k1</a:t>
            </a:r>
            <a:r>
              <a:rPr lang="zh-CN" altLang="en-US" sz="2000" dirty="0">
                <a:solidFill>
                  <a:srgbClr val="0000FF"/>
                </a:solidFill>
                <a:latin typeface="微软雅黑" panose="020B0503020204020204" pitchFamily="34" charset="-122"/>
                <a:ea typeface="微软雅黑" panose="020B0503020204020204" pitchFamily="34" charset="-122"/>
              </a:rPr>
              <a:t>的机器数一样：</a:t>
            </a:r>
            <a:r>
              <a:rPr lang="en-US" altLang="zh-CN" sz="2000" dirty="0">
                <a:solidFill>
                  <a:srgbClr val="0000FF"/>
                </a:solidFill>
                <a:latin typeface="微软雅黑" panose="020B0503020204020204" pitchFamily="34" charset="-122"/>
                <a:ea typeface="微软雅黑" panose="020B0503020204020204" pitchFamily="34" charset="-122"/>
              </a:rPr>
              <a:t>1001 0000</a:t>
            </a:r>
            <a:r>
              <a:rPr lang="zh-CN" altLang="en-US" sz="2000" dirty="0">
                <a:solidFill>
                  <a:srgbClr val="0000FF"/>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CF=1</a:t>
            </a:r>
            <a:r>
              <a:rPr lang="zh-CN" altLang="en-US" sz="2000" dirty="0">
                <a:solidFill>
                  <a:srgbClr val="0000FF"/>
                </a:solidFill>
                <a:latin typeface="微软雅黑" panose="020B0503020204020204" pitchFamily="34" charset="-122"/>
                <a:ea typeface="微软雅黑" panose="020B0503020204020204" pitchFamily="34" charset="-122"/>
              </a:rPr>
              <a:t>，</a:t>
            </a:r>
            <a:r>
              <a:rPr lang="en-US" altLang="zh-CN" sz="2000" dirty="0">
                <a:solidFill>
                  <a:srgbClr val="008000"/>
                </a:solidFill>
                <a:latin typeface="微软雅黑" panose="020B0503020204020204" pitchFamily="34" charset="-122"/>
                <a:ea typeface="微软雅黑" panose="020B0503020204020204" pitchFamily="34" charset="-122"/>
              </a:rPr>
              <a:t>OF=0</a:t>
            </a:r>
            <a:r>
              <a:rPr lang="zh-CN" altLang="en-US" sz="2000" dirty="0">
                <a:solidFill>
                  <a:srgbClr val="0000FF"/>
                </a:solidFill>
                <a:latin typeface="微软雅黑" panose="020B0503020204020204" pitchFamily="34" charset="-122"/>
                <a:ea typeface="微软雅黑" panose="020B0503020204020204" pitchFamily="34" charset="-122"/>
              </a:rPr>
              <a:t>，</a:t>
            </a:r>
            <a:r>
              <a:rPr lang="en-US" altLang="zh-CN" sz="2000" dirty="0">
                <a:solidFill>
                  <a:srgbClr val="0000FF"/>
                </a:solidFill>
                <a:latin typeface="微软雅黑" panose="020B0503020204020204" pitchFamily="34" charset="-122"/>
                <a:ea typeface="微软雅黑" panose="020B0503020204020204" pitchFamily="34" charset="-122"/>
              </a:rPr>
              <a:t>SF=1</a:t>
            </a:r>
            <a:endParaRPr lang="en-US" altLang="zh-CN" sz="2000" dirty="0">
              <a:solidFill>
                <a:srgbClr val="0000FF"/>
              </a:solidFill>
              <a:latin typeface="微软雅黑" panose="020B0503020204020204" pitchFamily="34" charset="-122"/>
              <a:ea typeface="微软雅黑" panose="020B0503020204020204" pitchFamily="34" charset="-122"/>
            </a:endParaRPr>
          </a:p>
          <a:p>
            <a:pPr>
              <a:spcBef>
                <a:spcPct val="20000"/>
              </a:spcBef>
            </a:pPr>
            <a:r>
              <a:rPr lang="en-US" altLang="zh-CN" sz="2000" dirty="0">
                <a:solidFill>
                  <a:srgbClr val="0000FF"/>
                </a:solidFill>
                <a:latin typeface="微软雅黑" panose="020B0503020204020204" pitchFamily="34" charset="-122"/>
                <a:ea typeface="微软雅黑" panose="020B0503020204020204" pitchFamily="34" charset="-122"/>
              </a:rPr>
              <a:t>z1</a:t>
            </a:r>
            <a:r>
              <a:rPr lang="zh-CN" altLang="en-US" sz="2000" dirty="0">
                <a:solidFill>
                  <a:srgbClr val="0000FF"/>
                </a:solidFill>
                <a:latin typeface="微软雅黑" panose="020B0503020204020204" pitchFamily="34" charset="-122"/>
                <a:ea typeface="微软雅黑" panose="020B0503020204020204" pitchFamily="34" charset="-122"/>
              </a:rPr>
              <a:t>的值为</a:t>
            </a:r>
            <a:r>
              <a:rPr lang="en-US" altLang="zh-CN" sz="2000" dirty="0">
                <a:solidFill>
                  <a:srgbClr val="0000FF"/>
                </a:solidFill>
                <a:latin typeface="微软雅黑" panose="020B0503020204020204" pitchFamily="34" charset="-122"/>
                <a:ea typeface="微软雅黑" panose="020B0503020204020204" pitchFamily="34" charset="-122"/>
              </a:rPr>
              <a:t>144</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=134-246+256</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x-y&lt;0</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008000"/>
                </a:solidFill>
                <a:latin typeface="微软雅黑" panose="020B0503020204020204" pitchFamily="34" charset="-122"/>
                <a:ea typeface="微软雅黑" panose="020B0503020204020204" pitchFamily="34" charset="-122"/>
              </a:rPr>
              <a:t>k1</a:t>
            </a:r>
            <a:r>
              <a:rPr lang="zh-CN" altLang="en-US" sz="2000" dirty="0">
                <a:solidFill>
                  <a:srgbClr val="008000"/>
                </a:solidFill>
                <a:latin typeface="微软雅黑" panose="020B0503020204020204" pitchFamily="34" charset="-122"/>
                <a:ea typeface="微软雅黑" panose="020B0503020204020204" pitchFamily="34" charset="-122"/>
              </a:rPr>
              <a:t>的值为</a:t>
            </a:r>
            <a:r>
              <a:rPr lang="en-US" altLang="zh-CN" sz="2000" dirty="0">
                <a:solidFill>
                  <a:srgbClr val="008000"/>
                </a:solidFill>
                <a:latin typeface="微软雅黑" panose="020B0503020204020204" pitchFamily="34" charset="-122"/>
                <a:ea typeface="微软雅黑" panose="020B0503020204020204" pitchFamily="34" charset="-122"/>
              </a:rPr>
              <a:t>-112</a:t>
            </a:r>
            <a:r>
              <a:rPr lang="zh-CN" altLang="en-US" sz="2000" dirty="0">
                <a:solidFill>
                  <a:srgbClr val="008000"/>
                </a:solidFill>
                <a:latin typeface="微软雅黑" panose="020B0503020204020204" pitchFamily="34" charset="-122"/>
                <a:ea typeface="微软雅黑" panose="020B0503020204020204" pitchFamily="34" charset="-122"/>
              </a:rPr>
              <a:t>。</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44037" name="Text Box 6"/>
          <p:cNvSpPr txBox="1"/>
          <p:nvPr/>
        </p:nvSpPr>
        <p:spPr>
          <a:xfrm>
            <a:off x="3176588" y="1854200"/>
            <a:ext cx="1439862" cy="396875"/>
          </a:xfrm>
          <a:prstGeom prst="rect">
            <a:avLst/>
          </a:prstGeom>
          <a:noFill/>
          <a:ln w="9525">
            <a:noFill/>
          </a:ln>
        </p:spPr>
        <p:txBody>
          <a:bodyPr anchor="t" anchorCtr="0">
            <a:spAutoFit/>
          </a:bodyPr>
          <a:p>
            <a:pPr>
              <a:spcBef>
                <a:spcPct val="50000"/>
              </a:spcBef>
            </a:pPr>
            <a:r>
              <a:rPr lang="zh-CN" altLang="en-US" sz="2000" dirty="0">
                <a:latin typeface="微软雅黑" panose="020B0503020204020204" pitchFamily="34" charset="-122"/>
                <a:ea typeface="微软雅黑" panose="020B0503020204020204" pitchFamily="34" charset="-122"/>
              </a:rPr>
              <a:t>假定 </a:t>
            </a:r>
            <a:r>
              <a:rPr lang="en-US" altLang="zh-CN" sz="2000" dirty="0">
                <a:latin typeface="微软雅黑" panose="020B0503020204020204" pitchFamily="34" charset="-122"/>
                <a:ea typeface="微软雅黑" panose="020B0503020204020204" pitchFamily="34" charset="-122"/>
              </a:rPr>
              <a:t>n=8</a:t>
            </a:r>
            <a:endParaRPr lang="zh-CN" altLang="en-US" sz="2000" dirty="0">
              <a:latin typeface="微软雅黑" panose="020B0503020204020204" pitchFamily="34" charset="-122"/>
              <a:ea typeface="微软雅黑" panose="020B0503020204020204" pitchFamily="34" charset="-122"/>
            </a:endParaRPr>
          </a:p>
        </p:txBody>
      </p:sp>
      <p:grpSp>
        <p:nvGrpSpPr>
          <p:cNvPr id="44038" name="Group 7"/>
          <p:cNvGrpSpPr/>
          <p:nvPr/>
        </p:nvGrpSpPr>
        <p:grpSpPr>
          <a:xfrm>
            <a:off x="3395663" y="1223963"/>
            <a:ext cx="5748337" cy="2898775"/>
            <a:chOff x="0" y="572"/>
            <a:chExt cx="3621" cy="1826"/>
          </a:xfrm>
        </p:grpSpPr>
        <p:grpSp>
          <p:nvGrpSpPr>
            <p:cNvPr id="44039" name="组合 63"/>
            <p:cNvGrpSpPr/>
            <p:nvPr/>
          </p:nvGrpSpPr>
          <p:grpSpPr>
            <a:xfrm>
              <a:off x="0" y="572"/>
              <a:ext cx="3392" cy="1826"/>
              <a:chOff x="3495675" y="3876675"/>
              <a:chExt cx="5384800" cy="2898775"/>
            </a:xfrm>
          </p:grpSpPr>
          <p:sp>
            <p:nvSpPr>
              <p:cNvPr id="44040" name="Rectangle 33"/>
              <p:cNvSpPr/>
              <p:nvPr/>
            </p:nvSpPr>
            <p:spPr>
              <a:xfrm>
                <a:off x="8259763" y="4994275"/>
                <a:ext cx="620712" cy="333375"/>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Sum</a:t>
                </a:r>
                <a:endParaRPr lang="en-US" altLang="zh-CN" dirty="0">
                  <a:latin typeface="Arial" panose="020B0604020202020204" pitchFamily="34" charset="0"/>
                  <a:ea typeface="Arial" panose="020B0604020202020204" pitchFamily="34" charset="0"/>
                </a:endParaRPr>
              </a:p>
            </p:txBody>
          </p:sp>
          <p:grpSp>
            <p:nvGrpSpPr>
              <p:cNvPr id="44041" name="Group 73"/>
              <p:cNvGrpSpPr/>
              <p:nvPr/>
            </p:nvGrpSpPr>
            <p:grpSpPr>
              <a:xfrm>
                <a:off x="3495675" y="3876675"/>
                <a:ext cx="4968876" cy="2393950"/>
                <a:chOff x="2202" y="2442"/>
                <a:chExt cx="3130" cy="1508"/>
              </a:xfrm>
            </p:grpSpPr>
            <p:sp>
              <p:nvSpPr>
                <p:cNvPr id="44042" name="Line 11"/>
                <p:cNvSpPr/>
                <p:nvPr/>
              </p:nvSpPr>
              <p:spPr>
                <a:xfrm flipH="1">
                  <a:off x="3733" y="2869"/>
                  <a:ext cx="502" cy="0"/>
                </a:xfrm>
                <a:prstGeom prst="line">
                  <a:avLst/>
                </a:prstGeom>
                <a:ln w="12700" cap="flat" cmpd="sng">
                  <a:solidFill>
                    <a:schemeClr val="tx1"/>
                  </a:solidFill>
                  <a:prstDash val="solid"/>
                  <a:round/>
                  <a:headEnd type="triangle" w="med" len="med"/>
                  <a:tailEnd type="none" w="med" len="med"/>
                </a:ln>
              </p:spPr>
            </p:sp>
            <p:sp>
              <p:nvSpPr>
                <p:cNvPr id="44043" name="Line 12"/>
                <p:cNvSpPr/>
                <p:nvPr/>
              </p:nvSpPr>
              <p:spPr>
                <a:xfrm flipH="1">
                  <a:off x="4225" y="2757"/>
                  <a:ext cx="6" cy="417"/>
                </a:xfrm>
                <a:prstGeom prst="line">
                  <a:avLst/>
                </a:prstGeom>
                <a:ln w="25400" cap="flat" cmpd="sng">
                  <a:solidFill>
                    <a:schemeClr val="tx1"/>
                  </a:solidFill>
                  <a:prstDash val="solid"/>
                  <a:round/>
                  <a:headEnd type="none" w="med" len="med"/>
                  <a:tailEnd type="none" w="med" len="med"/>
                </a:ln>
              </p:spPr>
            </p:sp>
            <p:sp>
              <p:nvSpPr>
                <p:cNvPr id="44044" name="Line 13"/>
                <p:cNvSpPr/>
                <p:nvPr/>
              </p:nvSpPr>
              <p:spPr>
                <a:xfrm>
                  <a:off x="4238" y="2757"/>
                  <a:ext cx="399" cy="185"/>
                </a:xfrm>
                <a:prstGeom prst="line">
                  <a:avLst/>
                </a:prstGeom>
                <a:ln w="25400" cap="flat" cmpd="sng">
                  <a:solidFill>
                    <a:schemeClr val="tx1"/>
                  </a:solidFill>
                  <a:prstDash val="solid"/>
                  <a:round/>
                  <a:headEnd type="none" w="med" len="med"/>
                  <a:tailEnd type="none" w="med" len="med"/>
                </a:ln>
              </p:spPr>
            </p:sp>
            <p:sp>
              <p:nvSpPr>
                <p:cNvPr id="44045" name="Line 14"/>
                <p:cNvSpPr/>
                <p:nvPr/>
              </p:nvSpPr>
              <p:spPr>
                <a:xfrm>
                  <a:off x="4208" y="3168"/>
                  <a:ext cx="151" cy="66"/>
                </a:xfrm>
                <a:prstGeom prst="line">
                  <a:avLst/>
                </a:prstGeom>
                <a:ln w="25400" cap="flat" cmpd="sng">
                  <a:solidFill>
                    <a:schemeClr val="tx1"/>
                  </a:solidFill>
                  <a:prstDash val="solid"/>
                  <a:round/>
                  <a:headEnd type="none" w="med" len="med"/>
                  <a:tailEnd type="none" w="med" len="med"/>
                </a:ln>
              </p:spPr>
            </p:sp>
            <p:sp>
              <p:nvSpPr>
                <p:cNvPr id="44046" name="Line 16"/>
                <p:cNvSpPr/>
                <p:nvPr/>
              </p:nvSpPr>
              <p:spPr>
                <a:xfrm>
                  <a:off x="4637" y="2942"/>
                  <a:ext cx="7" cy="276"/>
                </a:xfrm>
                <a:prstGeom prst="line">
                  <a:avLst/>
                </a:prstGeom>
                <a:ln w="25400" cap="flat" cmpd="sng">
                  <a:solidFill>
                    <a:schemeClr val="tx1"/>
                  </a:solidFill>
                  <a:prstDash val="solid"/>
                  <a:round/>
                  <a:headEnd type="none" w="med" len="med"/>
                  <a:tailEnd type="none" w="med" len="med"/>
                </a:ln>
              </p:spPr>
            </p:sp>
            <p:sp>
              <p:nvSpPr>
                <p:cNvPr id="44047" name="Line 18"/>
                <p:cNvSpPr/>
                <p:nvPr/>
              </p:nvSpPr>
              <p:spPr>
                <a:xfrm flipV="1">
                  <a:off x="4231" y="3311"/>
                  <a:ext cx="0" cy="395"/>
                </a:xfrm>
                <a:prstGeom prst="line">
                  <a:avLst/>
                </a:prstGeom>
                <a:ln w="25400" cap="flat" cmpd="sng">
                  <a:solidFill>
                    <a:schemeClr val="tx1"/>
                  </a:solidFill>
                  <a:prstDash val="solid"/>
                  <a:round/>
                  <a:headEnd type="none" w="med" len="med"/>
                  <a:tailEnd type="none" w="med" len="med"/>
                </a:ln>
              </p:spPr>
            </p:sp>
            <p:sp>
              <p:nvSpPr>
                <p:cNvPr id="44048" name="Line 19"/>
                <p:cNvSpPr/>
                <p:nvPr/>
              </p:nvSpPr>
              <p:spPr>
                <a:xfrm flipV="1">
                  <a:off x="4238" y="3495"/>
                  <a:ext cx="399" cy="211"/>
                </a:xfrm>
                <a:prstGeom prst="line">
                  <a:avLst/>
                </a:prstGeom>
                <a:ln w="25400" cap="flat" cmpd="sng">
                  <a:solidFill>
                    <a:schemeClr val="tx1"/>
                  </a:solidFill>
                  <a:prstDash val="solid"/>
                  <a:round/>
                  <a:headEnd type="none" w="med" len="med"/>
                  <a:tailEnd type="none" w="med" len="med"/>
                </a:ln>
              </p:spPr>
            </p:sp>
            <p:sp>
              <p:nvSpPr>
                <p:cNvPr id="44049" name="Line 20"/>
                <p:cNvSpPr/>
                <p:nvPr/>
              </p:nvSpPr>
              <p:spPr>
                <a:xfrm flipV="1">
                  <a:off x="4232" y="3232"/>
                  <a:ext cx="121" cy="75"/>
                </a:xfrm>
                <a:prstGeom prst="line">
                  <a:avLst/>
                </a:prstGeom>
                <a:ln w="25400" cap="flat" cmpd="sng">
                  <a:solidFill>
                    <a:schemeClr val="tx1"/>
                  </a:solidFill>
                  <a:prstDash val="solid"/>
                  <a:round/>
                  <a:headEnd type="none" w="med" len="med"/>
                  <a:tailEnd type="none" w="med" len="med"/>
                </a:ln>
              </p:spPr>
            </p:sp>
            <p:sp>
              <p:nvSpPr>
                <p:cNvPr id="44050" name="Line 22"/>
                <p:cNvSpPr/>
                <p:nvPr/>
              </p:nvSpPr>
              <p:spPr>
                <a:xfrm flipV="1">
                  <a:off x="4644" y="3218"/>
                  <a:ext cx="0" cy="290"/>
                </a:xfrm>
                <a:prstGeom prst="line">
                  <a:avLst/>
                </a:prstGeom>
                <a:ln w="25400" cap="flat" cmpd="sng">
                  <a:solidFill>
                    <a:schemeClr val="tx1"/>
                  </a:solidFill>
                  <a:prstDash val="solid"/>
                  <a:round/>
                  <a:headEnd type="none" w="med" len="med"/>
                  <a:tailEnd type="none" w="med" len="med"/>
                </a:ln>
              </p:spPr>
            </p:sp>
            <p:sp>
              <p:nvSpPr>
                <p:cNvPr id="44051" name="Line 23"/>
                <p:cNvSpPr/>
                <p:nvPr/>
              </p:nvSpPr>
              <p:spPr>
                <a:xfrm>
                  <a:off x="4647" y="3225"/>
                  <a:ext cx="612" cy="0"/>
                </a:xfrm>
                <a:prstGeom prst="line">
                  <a:avLst/>
                </a:prstGeom>
                <a:ln w="12700" cap="flat" cmpd="sng">
                  <a:solidFill>
                    <a:schemeClr val="tx1"/>
                  </a:solidFill>
                  <a:prstDash val="solid"/>
                  <a:round/>
                  <a:headEnd type="none" w="med" len="med"/>
                  <a:tailEnd type="triangle" w="med" len="med"/>
                </a:ln>
              </p:spPr>
            </p:sp>
            <p:sp>
              <p:nvSpPr>
                <p:cNvPr id="44052" name="Line 24"/>
                <p:cNvSpPr/>
                <p:nvPr/>
              </p:nvSpPr>
              <p:spPr>
                <a:xfrm flipH="1">
                  <a:off x="3733" y="3580"/>
                  <a:ext cx="502" cy="0"/>
                </a:xfrm>
                <a:prstGeom prst="line">
                  <a:avLst/>
                </a:prstGeom>
                <a:ln w="12700" cap="flat" cmpd="sng">
                  <a:solidFill>
                    <a:schemeClr val="tx1"/>
                  </a:solidFill>
                  <a:prstDash val="solid"/>
                  <a:round/>
                  <a:headEnd type="triangle" w="med" len="med"/>
                  <a:tailEnd type="none" w="med" len="med"/>
                </a:ln>
              </p:spPr>
            </p:sp>
            <p:sp>
              <p:nvSpPr>
                <p:cNvPr id="44053" name="Rectangle 25"/>
                <p:cNvSpPr/>
                <p:nvPr/>
              </p:nvSpPr>
              <p:spPr>
                <a:xfrm rot="5400000">
                  <a:off x="4173" y="3174"/>
                  <a:ext cx="589" cy="200"/>
                </a:xfrm>
                <a:prstGeom prst="rect">
                  <a:avLst/>
                </a:prstGeom>
                <a:noFill/>
                <a:ln w="12700">
                  <a:noFill/>
                </a:ln>
              </p:spPr>
              <p:txBody>
                <a:bodyPr lIns="90488" tIns="44450" rIns="90488" bIns="44450" anchor="t" anchorCtr="0">
                  <a:spAutoFit/>
                </a:bodyPr>
                <a:p>
                  <a:pPr eaLnBrk="0" hangingPunct="0">
                    <a:buClrTx/>
                    <a:buFontTx/>
                  </a:pPr>
                  <a:r>
                    <a:rPr lang="en-US" altLang="zh-CN" sz="1500" dirty="0">
                      <a:latin typeface="Arial" panose="020B0604020202020204" pitchFamily="34" charset="0"/>
                    </a:rPr>
                    <a:t>Adder</a:t>
                  </a:r>
                  <a:endParaRPr lang="en-US" altLang="zh-CN" sz="1500" dirty="0">
                    <a:latin typeface="Arial" panose="020B0604020202020204" pitchFamily="34" charset="0"/>
                    <a:ea typeface="Arial" panose="020B0604020202020204" pitchFamily="34" charset="0"/>
                  </a:endParaRPr>
                </a:p>
              </p:txBody>
            </p:sp>
            <p:sp>
              <p:nvSpPr>
                <p:cNvPr id="44054" name="Line 26"/>
                <p:cNvSpPr/>
                <p:nvPr/>
              </p:nvSpPr>
              <p:spPr>
                <a:xfrm flipH="1">
                  <a:off x="3897" y="3544"/>
                  <a:ext cx="90" cy="73"/>
                </a:xfrm>
                <a:prstGeom prst="line">
                  <a:avLst/>
                </a:prstGeom>
                <a:ln w="12700" cap="flat" cmpd="sng">
                  <a:solidFill>
                    <a:schemeClr val="tx1"/>
                  </a:solidFill>
                  <a:prstDash val="solid"/>
                  <a:round/>
                  <a:headEnd type="none" w="med" len="med"/>
                  <a:tailEnd type="none" w="med" len="med"/>
                </a:ln>
              </p:spPr>
            </p:sp>
            <p:sp>
              <p:nvSpPr>
                <p:cNvPr id="44055" name="Line 27"/>
                <p:cNvSpPr/>
                <p:nvPr/>
              </p:nvSpPr>
              <p:spPr>
                <a:xfrm flipH="1">
                  <a:off x="3897" y="2834"/>
                  <a:ext cx="90" cy="71"/>
                </a:xfrm>
                <a:prstGeom prst="line">
                  <a:avLst/>
                </a:prstGeom>
                <a:ln w="12700" cap="flat" cmpd="sng">
                  <a:solidFill>
                    <a:schemeClr val="tx1"/>
                  </a:solidFill>
                  <a:prstDash val="solid"/>
                  <a:round/>
                  <a:headEnd type="none" w="med" len="med"/>
                  <a:tailEnd type="none" w="med" len="med"/>
                </a:ln>
              </p:spPr>
            </p:sp>
            <p:sp>
              <p:nvSpPr>
                <p:cNvPr id="44056" name="Line 28"/>
                <p:cNvSpPr/>
                <p:nvPr/>
              </p:nvSpPr>
              <p:spPr>
                <a:xfrm flipH="1">
                  <a:off x="4929" y="3189"/>
                  <a:ext cx="90" cy="71"/>
                </a:xfrm>
                <a:prstGeom prst="line">
                  <a:avLst/>
                </a:prstGeom>
                <a:ln w="12700" cap="flat" cmpd="sng">
                  <a:solidFill>
                    <a:schemeClr val="tx1"/>
                  </a:solidFill>
                  <a:prstDash val="solid"/>
                  <a:round/>
                  <a:headEnd type="none" w="med" len="med"/>
                  <a:tailEnd type="none" w="med" len="med"/>
                </a:ln>
              </p:spPr>
            </p:sp>
            <p:sp>
              <p:nvSpPr>
                <p:cNvPr id="44057" name="Rectangle 29"/>
                <p:cNvSpPr/>
                <p:nvPr/>
              </p:nvSpPr>
              <p:spPr>
                <a:xfrm>
                  <a:off x="3770" y="2869"/>
                  <a:ext cx="1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4058" name="Rectangle 30"/>
                <p:cNvSpPr/>
                <p:nvPr/>
              </p:nvSpPr>
              <p:spPr>
                <a:xfrm>
                  <a:off x="3770" y="3580"/>
                  <a:ext cx="1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4059" name="Rectangle 31"/>
                <p:cNvSpPr/>
                <p:nvPr/>
              </p:nvSpPr>
              <p:spPr>
                <a:xfrm>
                  <a:off x="4802" y="3225"/>
                  <a:ext cx="192" cy="179"/>
                </a:xfrm>
                <a:prstGeom prst="rect">
                  <a:avLst/>
                </a:prstGeom>
                <a:noFill/>
                <a:ln w="12700">
                  <a:noFill/>
                </a:ln>
              </p:spPr>
              <p:txBody>
                <a:bodyPr wrap="none" lIns="90488" tIns="44450" rIns="90488" bIns="44450" anchor="t" anchorCtr="0">
                  <a:spAutoFit/>
                </a:bodyPr>
                <a:p>
                  <a:pPr eaLnBrk="0" hangingPunct="0">
                    <a:lnSpc>
                      <a:spcPct val="80000"/>
                    </a:lnSpc>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4060" name="Rectangle 32"/>
                <p:cNvSpPr/>
                <p:nvPr/>
              </p:nvSpPr>
              <p:spPr>
                <a:xfrm>
                  <a:off x="3687" y="2660"/>
                  <a:ext cx="206"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A</a:t>
                  </a:r>
                  <a:endParaRPr lang="en-US" altLang="zh-CN" dirty="0">
                    <a:latin typeface="Arial" panose="020B0604020202020204" pitchFamily="34" charset="0"/>
                    <a:ea typeface="Arial" panose="020B0604020202020204" pitchFamily="34" charset="0"/>
                  </a:endParaRPr>
                </a:p>
              </p:txBody>
            </p:sp>
            <p:sp>
              <p:nvSpPr>
                <p:cNvPr id="44061" name="Rectangle 34"/>
                <p:cNvSpPr/>
                <p:nvPr/>
              </p:nvSpPr>
              <p:spPr>
                <a:xfrm>
                  <a:off x="5049" y="2920"/>
                  <a:ext cx="270"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ZF</a:t>
                  </a:r>
                  <a:endParaRPr lang="en-US" altLang="zh-CN" dirty="0">
                    <a:latin typeface="Arial" panose="020B0604020202020204" pitchFamily="34" charset="0"/>
                    <a:ea typeface="Arial" panose="020B0604020202020204" pitchFamily="34" charset="0"/>
                  </a:endParaRPr>
                </a:p>
              </p:txBody>
            </p:sp>
            <p:sp>
              <p:nvSpPr>
                <p:cNvPr id="44062" name="Line 35"/>
                <p:cNvSpPr/>
                <p:nvPr/>
              </p:nvSpPr>
              <p:spPr>
                <a:xfrm>
                  <a:off x="4479" y="2635"/>
                  <a:ext cx="0" cy="231"/>
                </a:xfrm>
                <a:prstGeom prst="line">
                  <a:avLst/>
                </a:prstGeom>
                <a:ln w="12700" cap="flat" cmpd="sng">
                  <a:solidFill>
                    <a:schemeClr val="tx1"/>
                  </a:solidFill>
                  <a:prstDash val="solid"/>
                  <a:round/>
                  <a:headEnd type="none" w="med" len="med"/>
                  <a:tailEnd type="triangle" w="med" len="med"/>
                </a:ln>
              </p:spPr>
            </p:sp>
            <p:sp>
              <p:nvSpPr>
                <p:cNvPr id="44063" name="Rectangle 36"/>
                <p:cNvSpPr/>
                <p:nvPr/>
              </p:nvSpPr>
              <p:spPr>
                <a:xfrm>
                  <a:off x="4512" y="2672"/>
                  <a:ext cx="320"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Cin</a:t>
                  </a:r>
                  <a:endParaRPr lang="en-US" altLang="zh-CN" dirty="0">
                    <a:latin typeface="Arial" panose="020B0604020202020204" pitchFamily="34" charset="0"/>
                    <a:ea typeface="Arial" panose="020B0604020202020204" pitchFamily="34" charset="0"/>
                  </a:endParaRPr>
                </a:p>
              </p:txBody>
            </p:sp>
            <p:sp>
              <p:nvSpPr>
                <p:cNvPr id="44064" name="Line 37"/>
                <p:cNvSpPr/>
                <p:nvPr/>
              </p:nvSpPr>
              <p:spPr>
                <a:xfrm>
                  <a:off x="4479" y="3584"/>
                  <a:ext cx="0" cy="309"/>
                </a:xfrm>
                <a:prstGeom prst="line">
                  <a:avLst/>
                </a:prstGeom>
                <a:ln w="12700" cap="flat" cmpd="sng">
                  <a:solidFill>
                    <a:schemeClr val="tx1"/>
                  </a:solidFill>
                  <a:prstDash val="solid"/>
                  <a:round/>
                  <a:headEnd type="none" w="med" len="med"/>
                  <a:tailEnd type="triangle" w="med" len="med"/>
                </a:ln>
              </p:spPr>
            </p:sp>
            <p:sp>
              <p:nvSpPr>
                <p:cNvPr id="44065" name="Rectangle 38"/>
                <p:cNvSpPr/>
                <p:nvPr/>
              </p:nvSpPr>
              <p:spPr>
                <a:xfrm>
                  <a:off x="4512" y="3740"/>
                  <a:ext cx="405"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Cout</a:t>
                  </a:r>
                  <a:endParaRPr lang="en-US" altLang="zh-CN" dirty="0">
                    <a:latin typeface="Arial" panose="020B0604020202020204" pitchFamily="34" charset="0"/>
                    <a:ea typeface="Arial" panose="020B0604020202020204" pitchFamily="34" charset="0"/>
                  </a:endParaRPr>
                </a:p>
              </p:txBody>
            </p:sp>
            <p:sp>
              <p:nvSpPr>
                <p:cNvPr id="44066" name="Line 39"/>
                <p:cNvSpPr/>
                <p:nvPr/>
              </p:nvSpPr>
              <p:spPr>
                <a:xfrm flipH="1">
                  <a:off x="2371" y="3462"/>
                  <a:ext cx="1039" cy="0"/>
                </a:xfrm>
                <a:prstGeom prst="line">
                  <a:avLst/>
                </a:prstGeom>
                <a:ln w="12700" cap="flat" cmpd="sng">
                  <a:solidFill>
                    <a:schemeClr val="tx1"/>
                  </a:solidFill>
                  <a:prstDash val="solid"/>
                  <a:round/>
                  <a:headEnd type="triangle" w="med" len="med"/>
                  <a:tailEnd type="none" w="med" len="med"/>
                </a:ln>
              </p:spPr>
            </p:sp>
            <p:sp>
              <p:nvSpPr>
                <p:cNvPr id="44067" name="Line 40"/>
                <p:cNvSpPr/>
                <p:nvPr/>
              </p:nvSpPr>
              <p:spPr>
                <a:xfrm flipH="1">
                  <a:off x="2537" y="3426"/>
                  <a:ext cx="89" cy="72"/>
                </a:xfrm>
                <a:prstGeom prst="line">
                  <a:avLst/>
                </a:prstGeom>
                <a:ln w="12700" cap="flat" cmpd="sng">
                  <a:solidFill>
                    <a:schemeClr val="tx1"/>
                  </a:solidFill>
                  <a:prstDash val="solid"/>
                  <a:round/>
                  <a:headEnd type="none" w="med" len="med"/>
                  <a:tailEnd type="none" w="med" len="med"/>
                </a:ln>
              </p:spPr>
            </p:sp>
            <p:sp>
              <p:nvSpPr>
                <p:cNvPr id="44068" name="Rectangle 41"/>
                <p:cNvSpPr/>
                <p:nvPr/>
              </p:nvSpPr>
              <p:spPr>
                <a:xfrm>
                  <a:off x="2408" y="3462"/>
                  <a:ext cx="1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4069" name="Rectangle 42"/>
                <p:cNvSpPr/>
                <p:nvPr/>
              </p:nvSpPr>
              <p:spPr>
                <a:xfrm>
                  <a:off x="2202" y="3383"/>
                  <a:ext cx="206" cy="209"/>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B</a:t>
                  </a:r>
                  <a:endParaRPr lang="en-US" altLang="zh-CN" dirty="0">
                    <a:latin typeface="Arial" panose="020B0604020202020204" pitchFamily="34" charset="0"/>
                    <a:ea typeface="Arial" panose="020B0604020202020204" pitchFamily="34" charset="0"/>
                  </a:endParaRPr>
                </a:p>
              </p:txBody>
            </p:sp>
            <p:grpSp>
              <p:nvGrpSpPr>
                <p:cNvPr id="44070" name="Group 43"/>
                <p:cNvGrpSpPr/>
                <p:nvPr/>
              </p:nvGrpSpPr>
              <p:grpSpPr>
                <a:xfrm>
                  <a:off x="2780" y="3574"/>
                  <a:ext cx="290" cy="236"/>
                  <a:chOff x="1816" y="3448"/>
                  <a:chExt cx="336" cy="288"/>
                </a:xfrm>
              </p:grpSpPr>
              <p:sp>
                <p:nvSpPr>
                  <p:cNvPr id="44071" name="Oval 44"/>
                  <p:cNvSpPr/>
                  <p:nvPr/>
                </p:nvSpPr>
                <p:spPr>
                  <a:xfrm>
                    <a:off x="2072" y="3560"/>
                    <a:ext cx="80" cy="80"/>
                  </a:xfrm>
                  <a:prstGeom prst="ellipse">
                    <a:avLst/>
                  </a:prstGeom>
                  <a:noFill/>
                  <a:ln w="254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Times New Roman" panose="02020603050405020304" pitchFamily="18" charset="0"/>
                      <a:ea typeface="宋体" panose="02010600030101010101" pitchFamily="2" charset="-122"/>
                    </a:endParaRPr>
                  </a:p>
                </p:txBody>
              </p:sp>
              <p:sp>
                <p:nvSpPr>
                  <p:cNvPr id="44072" name="Line 45"/>
                  <p:cNvSpPr/>
                  <p:nvPr/>
                </p:nvSpPr>
                <p:spPr>
                  <a:xfrm flipH="1" flipV="1">
                    <a:off x="1816" y="3448"/>
                    <a:ext cx="256" cy="160"/>
                  </a:xfrm>
                  <a:prstGeom prst="line">
                    <a:avLst/>
                  </a:prstGeom>
                  <a:ln w="25400" cap="flat" cmpd="sng">
                    <a:solidFill>
                      <a:schemeClr val="tx1"/>
                    </a:solidFill>
                    <a:prstDash val="solid"/>
                    <a:round/>
                    <a:headEnd type="none" w="med" len="med"/>
                    <a:tailEnd type="none" w="med" len="med"/>
                  </a:ln>
                </p:spPr>
              </p:sp>
              <p:sp>
                <p:nvSpPr>
                  <p:cNvPr id="44073" name="Line 46"/>
                  <p:cNvSpPr/>
                  <p:nvPr/>
                </p:nvSpPr>
                <p:spPr>
                  <a:xfrm flipH="1">
                    <a:off x="1816" y="3608"/>
                    <a:ext cx="256" cy="128"/>
                  </a:xfrm>
                  <a:prstGeom prst="line">
                    <a:avLst/>
                  </a:prstGeom>
                  <a:ln w="25400" cap="flat" cmpd="sng">
                    <a:solidFill>
                      <a:schemeClr val="tx1"/>
                    </a:solidFill>
                    <a:prstDash val="solid"/>
                    <a:round/>
                    <a:headEnd type="none" w="med" len="med"/>
                    <a:tailEnd type="none" w="med" len="med"/>
                  </a:ln>
                </p:spPr>
              </p:sp>
              <p:sp>
                <p:nvSpPr>
                  <p:cNvPr id="44074" name="Line 47"/>
                  <p:cNvSpPr/>
                  <p:nvPr/>
                </p:nvSpPr>
                <p:spPr>
                  <a:xfrm>
                    <a:off x="1824" y="3464"/>
                    <a:ext cx="0" cy="272"/>
                  </a:xfrm>
                  <a:prstGeom prst="line">
                    <a:avLst/>
                  </a:prstGeom>
                  <a:ln w="25400" cap="flat" cmpd="sng">
                    <a:solidFill>
                      <a:schemeClr val="tx1"/>
                    </a:solidFill>
                    <a:prstDash val="solid"/>
                    <a:round/>
                    <a:headEnd type="none" w="med" len="med"/>
                    <a:tailEnd type="none" w="med" len="med"/>
                  </a:ln>
                </p:spPr>
              </p:sp>
            </p:grpSp>
            <p:sp>
              <p:nvSpPr>
                <p:cNvPr id="44075" name="Line 48"/>
                <p:cNvSpPr/>
                <p:nvPr/>
              </p:nvSpPr>
              <p:spPr>
                <a:xfrm>
                  <a:off x="2664" y="3465"/>
                  <a:ext cx="0" cy="231"/>
                </a:xfrm>
                <a:prstGeom prst="line">
                  <a:avLst/>
                </a:prstGeom>
                <a:ln w="12700" cap="flat" cmpd="sng">
                  <a:solidFill>
                    <a:schemeClr val="tx1"/>
                  </a:solidFill>
                  <a:prstDash val="solid"/>
                  <a:round/>
                  <a:headEnd type="none" w="med" len="med"/>
                  <a:tailEnd type="none" w="med" len="med"/>
                </a:ln>
              </p:spPr>
            </p:sp>
            <p:sp>
              <p:nvSpPr>
                <p:cNvPr id="44076" name="Line 49"/>
                <p:cNvSpPr/>
                <p:nvPr/>
              </p:nvSpPr>
              <p:spPr>
                <a:xfrm>
                  <a:off x="2667" y="3698"/>
                  <a:ext cx="117" cy="0"/>
                </a:xfrm>
                <a:prstGeom prst="line">
                  <a:avLst/>
                </a:prstGeom>
                <a:ln w="12700" cap="flat" cmpd="sng">
                  <a:solidFill>
                    <a:schemeClr val="tx1"/>
                  </a:solidFill>
                  <a:prstDash val="solid"/>
                  <a:round/>
                  <a:headEnd type="none" w="med" len="med"/>
                  <a:tailEnd type="none" w="med" len="med"/>
                </a:ln>
              </p:spPr>
            </p:sp>
            <p:sp>
              <p:nvSpPr>
                <p:cNvPr id="44077" name="Line 50"/>
                <p:cNvSpPr/>
                <p:nvPr/>
              </p:nvSpPr>
              <p:spPr>
                <a:xfrm flipH="1">
                  <a:off x="3073" y="3698"/>
                  <a:ext cx="337" cy="0"/>
                </a:xfrm>
                <a:prstGeom prst="line">
                  <a:avLst/>
                </a:prstGeom>
                <a:ln w="12700" cap="flat" cmpd="sng">
                  <a:solidFill>
                    <a:schemeClr val="tx1"/>
                  </a:solidFill>
                  <a:prstDash val="solid"/>
                  <a:round/>
                  <a:headEnd type="triangle" w="med" len="med"/>
                  <a:tailEnd type="none" w="med" len="med"/>
                </a:ln>
              </p:spPr>
            </p:sp>
            <p:sp>
              <p:nvSpPr>
                <p:cNvPr id="44078" name="Line 51"/>
                <p:cNvSpPr/>
                <p:nvPr/>
              </p:nvSpPr>
              <p:spPr>
                <a:xfrm flipH="1">
                  <a:off x="3155" y="3663"/>
                  <a:ext cx="89" cy="72"/>
                </a:xfrm>
                <a:prstGeom prst="line">
                  <a:avLst/>
                </a:prstGeom>
                <a:ln w="12700" cap="flat" cmpd="sng">
                  <a:solidFill>
                    <a:schemeClr val="tx1"/>
                  </a:solidFill>
                  <a:prstDash val="solid"/>
                  <a:round/>
                  <a:headEnd type="none" w="med" len="med"/>
                  <a:tailEnd type="none" w="med" len="med"/>
                </a:ln>
              </p:spPr>
            </p:sp>
            <p:sp>
              <p:nvSpPr>
                <p:cNvPr id="44079" name="Rectangle 52"/>
                <p:cNvSpPr/>
                <p:nvPr/>
              </p:nvSpPr>
              <p:spPr>
                <a:xfrm>
                  <a:off x="3058" y="3709"/>
                  <a:ext cx="1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4080" name="Rectangle 53"/>
                <p:cNvSpPr/>
                <p:nvPr/>
              </p:nvSpPr>
              <p:spPr>
                <a:xfrm>
                  <a:off x="3413" y="3271"/>
                  <a:ext cx="316" cy="658"/>
                </a:xfrm>
                <a:prstGeom prst="rect">
                  <a:avLst/>
                </a:prstGeom>
                <a:noFill/>
                <a:ln w="25400"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Times New Roman" panose="02020603050405020304" pitchFamily="18" charset="0"/>
                    <a:ea typeface="宋体" panose="02010600030101010101" pitchFamily="2" charset="-122"/>
                  </a:endParaRPr>
                </a:p>
              </p:txBody>
            </p:sp>
            <p:sp>
              <p:nvSpPr>
                <p:cNvPr id="44081" name="Rectangle 54"/>
                <p:cNvSpPr/>
                <p:nvPr/>
              </p:nvSpPr>
              <p:spPr>
                <a:xfrm>
                  <a:off x="3385" y="3353"/>
                  <a:ext cx="162" cy="171"/>
                </a:xfrm>
                <a:prstGeom prst="rect">
                  <a:avLst/>
                </a:prstGeom>
                <a:noFill/>
                <a:ln w="12700">
                  <a:noFill/>
                </a:ln>
              </p:spPr>
              <p:txBody>
                <a:bodyPr wrap="none" lIns="90488" tIns="44450" rIns="90488" bIns="44450" anchor="t" anchorCtr="0">
                  <a:spAutoFit/>
                </a:bodyPr>
                <a:p>
                  <a:pPr eaLnBrk="0" hangingPunct="0">
                    <a:buClrTx/>
                    <a:buFontTx/>
                  </a:pPr>
                  <a:r>
                    <a:rPr lang="zh-CN" altLang="en-US" sz="1200" dirty="0">
                      <a:latin typeface="Times New Roman" panose="02020603050405020304" pitchFamily="18" charset="0"/>
                      <a:ea typeface="宋体" panose="02010600030101010101" pitchFamily="2" charset="-122"/>
                    </a:rPr>
                    <a:t>0</a:t>
                  </a:r>
                  <a:endParaRPr lang="zh-CN" altLang="en-US" sz="1200" dirty="0">
                    <a:latin typeface="Times New Roman" panose="02020603050405020304" pitchFamily="18" charset="0"/>
                    <a:ea typeface="宋体" panose="02010600030101010101" pitchFamily="2" charset="-122"/>
                  </a:endParaRPr>
                </a:p>
              </p:txBody>
            </p:sp>
            <p:sp>
              <p:nvSpPr>
                <p:cNvPr id="44082" name="Rectangle 55"/>
                <p:cNvSpPr/>
                <p:nvPr/>
              </p:nvSpPr>
              <p:spPr>
                <a:xfrm>
                  <a:off x="3372" y="3589"/>
                  <a:ext cx="162" cy="171"/>
                </a:xfrm>
                <a:prstGeom prst="rect">
                  <a:avLst/>
                </a:prstGeom>
                <a:noFill/>
                <a:ln w="12700">
                  <a:noFill/>
                </a:ln>
              </p:spPr>
              <p:txBody>
                <a:bodyPr wrap="none" lIns="90488" tIns="44450" rIns="90488" bIns="44450" anchor="t" anchorCtr="0">
                  <a:spAutoFit/>
                </a:bodyPr>
                <a:p>
                  <a:pPr eaLnBrk="0" hangingPunct="0">
                    <a:buClrTx/>
                    <a:buFontTx/>
                  </a:pPr>
                  <a:r>
                    <a:rPr lang="zh-CN" altLang="en-US" sz="1200" dirty="0">
                      <a:latin typeface="Times New Roman" panose="02020603050405020304" pitchFamily="18" charset="0"/>
                      <a:ea typeface="宋体" panose="02010600030101010101" pitchFamily="2" charset="-122"/>
                    </a:rPr>
                    <a:t>1</a:t>
                  </a:r>
                  <a:endParaRPr lang="zh-CN" altLang="en-US" sz="1200" dirty="0">
                    <a:latin typeface="Times New Roman" panose="02020603050405020304" pitchFamily="18" charset="0"/>
                    <a:ea typeface="宋体" panose="02010600030101010101" pitchFamily="2" charset="-122"/>
                  </a:endParaRPr>
                </a:p>
              </p:txBody>
            </p:sp>
            <p:sp>
              <p:nvSpPr>
                <p:cNvPr id="44083" name="Rectangle 56"/>
                <p:cNvSpPr/>
                <p:nvPr/>
              </p:nvSpPr>
              <p:spPr>
                <a:xfrm rot="5400000">
                  <a:off x="3388" y="3504"/>
                  <a:ext cx="451" cy="211"/>
                </a:xfrm>
                <a:prstGeom prst="rect">
                  <a:avLst/>
                </a:prstGeom>
                <a:noFill/>
                <a:ln w="12700">
                  <a:noFill/>
                </a:ln>
              </p:spPr>
              <p:txBody>
                <a:bodyPr lIns="90488" tIns="44450" rIns="90488" bIns="44450" anchor="t" anchorCtr="0">
                  <a:spAutoFit/>
                </a:bodyPr>
                <a:p>
                  <a:pPr eaLnBrk="0" hangingPunct="0">
                    <a:buClrTx/>
                    <a:buFontTx/>
                  </a:pPr>
                  <a:r>
                    <a:rPr lang="en-US" altLang="zh-CN" dirty="0">
                      <a:latin typeface="Arial" panose="020B0604020202020204" pitchFamily="34" charset="0"/>
                    </a:rPr>
                    <a:t>Mux</a:t>
                  </a:r>
                  <a:endParaRPr lang="en-US" altLang="zh-CN" dirty="0">
                    <a:latin typeface="Arial" panose="020B0604020202020204" pitchFamily="34" charset="0"/>
                    <a:ea typeface="Arial" panose="020B0604020202020204" pitchFamily="34" charset="0"/>
                  </a:endParaRPr>
                </a:p>
              </p:txBody>
            </p:sp>
            <p:sp>
              <p:nvSpPr>
                <p:cNvPr id="44084" name="Line 57"/>
                <p:cNvSpPr/>
                <p:nvPr/>
              </p:nvSpPr>
              <p:spPr>
                <a:xfrm flipV="1">
                  <a:off x="3571" y="2471"/>
                  <a:ext cx="0" cy="797"/>
                </a:xfrm>
                <a:prstGeom prst="line">
                  <a:avLst/>
                </a:prstGeom>
                <a:ln w="12700" cap="flat" cmpd="sng">
                  <a:solidFill>
                    <a:schemeClr val="tx1"/>
                  </a:solidFill>
                  <a:prstDash val="solid"/>
                  <a:round/>
                  <a:headEnd type="triangle" w="med" len="med"/>
                  <a:tailEnd type="none" w="med" len="med"/>
                </a:ln>
              </p:spPr>
            </p:sp>
            <p:sp>
              <p:nvSpPr>
                <p:cNvPr id="44085" name="Rectangle 58"/>
                <p:cNvSpPr/>
                <p:nvPr/>
              </p:nvSpPr>
              <p:spPr>
                <a:xfrm>
                  <a:off x="3467" y="3259"/>
                  <a:ext cx="237" cy="170"/>
                </a:xfrm>
                <a:prstGeom prst="rect">
                  <a:avLst/>
                </a:prstGeom>
                <a:noFill/>
                <a:ln w="12700">
                  <a:noFill/>
                </a:ln>
              </p:spPr>
              <p:txBody>
                <a:bodyPr wrap="none" lIns="90488" tIns="44450" rIns="90488" bIns="44450" anchor="t" anchorCtr="0">
                  <a:spAutoFit/>
                </a:bodyPr>
                <a:p>
                  <a:pPr eaLnBrk="0" hangingPunct="0">
                    <a:buClrTx/>
                    <a:buFontTx/>
                  </a:pPr>
                  <a:r>
                    <a:rPr lang="en-US" altLang="zh-CN" sz="1200" dirty="0">
                      <a:latin typeface="Times New Roman" panose="02020603050405020304" pitchFamily="18" charset="0"/>
                    </a:rPr>
                    <a:t>Sel</a:t>
                  </a:r>
                  <a:endParaRPr lang="en-US" altLang="zh-CN" sz="1200" dirty="0">
                    <a:latin typeface="Times New Roman" panose="02020603050405020304" pitchFamily="18" charset="0"/>
                  </a:endParaRPr>
                </a:p>
              </p:txBody>
            </p:sp>
            <p:sp>
              <p:nvSpPr>
                <p:cNvPr id="44086" name="Line 59"/>
                <p:cNvSpPr/>
                <p:nvPr/>
              </p:nvSpPr>
              <p:spPr>
                <a:xfrm flipH="1">
                  <a:off x="3568" y="2632"/>
                  <a:ext cx="914" cy="0"/>
                </a:xfrm>
                <a:prstGeom prst="line">
                  <a:avLst/>
                </a:prstGeom>
                <a:ln w="12700" cap="flat" cmpd="sng">
                  <a:solidFill>
                    <a:schemeClr val="tx1"/>
                  </a:solidFill>
                  <a:prstDash val="solid"/>
                  <a:round/>
                  <a:headEnd type="none" w="med" len="med"/>
                  <a:tailEnd type="none" w="med" len="med"/>
                </a:ln>
              </p:spPr>
            </p:sp>
            <p:sp>
              <p:nvSpPr>
                <p:cNvPr id="44087" name="Rectangle 60"/>
                <p:cNvSpPr/>
                <p:nvPr/>
              </p:nvSpPr>
              <p:spPr>
                <a:xfrm>
                  <a:off x="3189" y="2442"/>
                  <a:ext cx="355"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Sub</a:t>
                  </a:r>
                  <a:endParaRPr lang="en-US" altLang="zh-CN" dirty="0">
                    <a:latin typeface="Arial" panose="020B0604020202020204" pitchFamily="34" charset="0"/>
                    <a:ea typeface="Arial" panose="020B0604020202020204" pitchFamily="34" charset="0"/>
                  </a:endParaRPr>
                </a:p>
              </p:txBody>
            </p:sp>
            <p:sp>
              <p:nvSpPr>
                <p:cNvPr id="44088" name="Rectangle 62"/>
                <p:cNvSpPr/>
                <p:nvPr/>
              </p:nvSpPr>
              <p:spPr>
                <a:xfrm>
                  <a:off x="3016" y="3504"/>
                  <a:ext cx="206"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B</a:t>
                  </a:r>
                  <a:endParaRPr lang="en-US" altLang="zh-CN" dirty="0">
                    <a:latin typeface="Arial" panose="020B0604020202020204" pitchFamily="34" charset="0"/>
                    <a:ea typeface="Arial" panose="020B0604020202020204" pitchFamily="34" charset="0"/>
                  </a:endParaRPr>
                </a:p>
              </p:txBody>
            </p:sp>
            <p:sp>
              <p:nvSpPr>
                <p:cNvPr id="44089" name="Line 63"/>
                <p:cNvSpPr/>
                <p:nvPr/>
              </p:nvSpPr>
              <p:spPr>
                <a:xfrm>
                  <a:off x="3067" y="3539"/>
                  <a:ext cx="95" cy="0"/>
                </a:xfrm>
                <a:prstGeom prst="line">
                  <a:avLst/>
                </a:prstGeom>
                <a:ln w="28575" cap="flat" cmpd="sng">
                  <a:solidFill>
                    <a:srgbClr val="000000"/>
                  </a:solidFill>
                  <a:prstDash val="solid"/>
                  <a:round/>
                  <a:headEnd type="none" w="med" len="med"/>
                  <a:tailEnd type="none" w="med" len="med"/>
                </a:ln>
              </p:spPr>
            </p:sp>
            <p:sp>
              <p:nvSpPr>
                <p:cNvPr id="44090" name="Line 64"/>
                <p:cNvSpPr/>
                <p:nvPr/>
              </p:nvSpPr>
              <p:spPr>
                <a:xfrm>
                  <a:off x="4640" y="3048"/>
                  <a:ext cx="401" cy="0"/>
                </a:xfrm>
                <a:prstGeom prst="line">
                  <a:avLst/>
                </a:prstGeom>
                <a:ln w="12700" cap="flat" cmpd="sng">
                  <a:solidFill>
                    <a:srgbClr val="000000"/>
                  </a:solidFill>
                  <a:prstDash val="solid"/>
                  <a:round/>
                  <a:headEnd type="none" w="med" len="med"/>
                  <a:tailEnd type="triangle" w="med" len="med"/>
                </a:ln>
              </p:spPr>
            </p:sp>
            <p:sp>
              <p:nvSpPr>
                <p:cNvPr id="44091" name="Line 65"/>
                <p:cNvSpPr/>
                <p:nvPr/>
              </p:nvSpPr>
              <p:spPr>
                <a:xfrm>
                  <a:off x="4657" y="3447"/>
                  <a:ext cx="402" cy="0"/>
                </a:xfrm>
                <a:prstGeom prst="line">
                  <a:avLst/>
                </a:prstGeom>
                <a:ln w="12700" cap="flat" cmpd="sng">
                  <a:solidFill>
                    <a:srgbClr val="000000"/>
                  </a:solidFill>
                  <a:prstDash val="solid"/>
                  <a:round/>
                  <a:headEnd type="none" w="med" len="med"/>
                  <a:tailEnd type="triangle" w="med" len="med"/>
                </a:ln>
              </p:spPr>
            </p:sp>
            <p:sp>
              <p:nvSpPr>
                <p:cNvPr id="44092" name="Rectangle 66"/>
                <p:cNvSpPr/>
                <p:nvPr/>
              </p:nvSpPr>
              <p:spPr>
                <a:xfrm>
                  <a:off x="5040" y="3370"/>
                  <a:ext cx="2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OF</a:t>
                  </a:r>
                  <a:endParaRPr lang="en-US" altLang="zh-CN" dirty="0">
                    <a:latin typeface="Arial" panose="020B0604020202020204" pitchFamily="34" charset="0"/>
                    <a:ea typeface="Arial" panose="020B0604020202020204" pitchFamily="34" charset="0"/>
                  </a:endParaRPr>
                </a:p>
              </p:txBody>
            </p:sp>
          </p:grpSp>
          <p:sp>
            <p:nvSpPr>
              <p:cNvPr id="44093" name="Text Box 68"/>
              <p:cNvSpPr txBox="1"/>
              <p:nvPr/>
            </p:nvSpPr>
            <p:spPr>
              <a:xfrm>
                <a:off x="5278438" y="6378575"/>
                <a:ext cx="2386013" cy="396875"/>
              </a:xfrm>
              <a:prstGeom prst="rect">
                <a:avLst/>
              </a:prstGeom>
              <a:noFill/>
              <a:ln w="12700">
                <a:noFill/>
              </a:ln>
            </p:spPr>
            <p:txBody>
              <a:bodyPr anchor="t" anchorCtr="0">
                <a:spAutoFit/>
              </a:bodyPr>
              <a:p>
                <a:pPr eaLnBrk="0" hangingPunct="0">
                  <a:spcBef>
                    <a:spcPct val="50000"/>
                  </a:spcBef>
                  <a:buClrTx/>
                  <a:buFontTx/>
                </a:pPr>
                <a:endParaRPr lang="zh-CN" altLang="en-US" sz="2000" dirty="0">
                  <a:solidFill>
                    <a:srgbClr val="C00000"/>
                  </a:solidFill>
                  <a:latin typeface="黑体" panose="02010609060101010101" pitchFamily="49" charset="-122"/>
                  <a:ea typeface="黑体" panose="02010609060101010101" pitchFamily="49" charset="-122"/>
                </a:endParaRPr>
              </a:p>
            </p:txBody>
          </p:sp>
        </p:grpSp>
        <p:sp>
          <p:nvSpPr>
            <p:cNvPr id="44094" name="Line 63"/>
            <p:cNvSpPr/>
            <p:nvPr/>
          </p:nvSpPr>
          <p:spPr>
            <a:xfrm>
              <a:off x="2455" y="1281"/>
              <a:ext cx="680" cy="0"/>
            </a:xfrm>
            <a:prstGeom prst="line">
              <a:avLst/>
            </a:prstGeom>
            <a:ln w="12700" cap="flat" cmpd="sng">
              <a:solidFill>
                <a:schemeClr val="tx1"/>
              </a:solidFill>
              <a:prstDash val="solid"/>
              <a:round/>
              <a:headEnd type="none" w="med" len="med"/>
              <a:tailEnd type="triangle" w="med" len="med"/>
            </a:ln>
          </p:spPr>
        </p:sp>
        <p:sp>
          <p:nvSpPr>
            <p:cNvPr id="44095" name="Text Box 64"/>
            <p:cNvSpPr txBox="1"/>
            <p:nvPr/>
          </p:nvSpPr>
          <p:spPr>
            <a:xfrm>
              <a:off x="3107" y="1168"/>
              <a:ext cx="340" cy="211"/>
            </a:xfrm>
            <a:prstGeom prst="rect">
              <a:avLst/>
            </a:prstGeom>
            <a:noFill/>
            <a:ln w="12700">
              <a:noFill/>
            </a:ln>
          </p:spPr>
          <p:txBody>
            <a:bodyPr anchor="t" anchorCtr="0">
              <a:spAutoFit/>
            </a:bodyPr>
            <a:p>
              <a:pPr eaLnBrk="0" hangingPunct="0">
                <a:spcBef>
                  <a:spcPct val="50000"/>
                </a:spcBef>
              </a:pPr>
              <a:r>
                <a:rPr lang="en-US" altLang="zh-CN" dirty="0">
                  <a:latin typeface="Arial" panose="020B0604020202020204" pitchFamily="34" charset="0"/>
                </a:rPr>
                <a:t>SF</a:t>
              </a:r>
              <a:endParaRPr lang="en-US" altLang="zh-CN" dirty="0">
                <a:latin typeface="Arial" panose="020B0604020202020204" pitchFamily="34" charset="0"/>
              </a:endParaRPr>
            </a:p>
          </p:txBody>
        </p:sp>
        <p:sp>
          <p:nvSpPr>
            <p:cNvPr id="44096" name="Line 65"/>
            <p:cNvSpPr/>
            <p:nvPr/>
          </p:nvSpPr>
          <p:spPr>
            <a:xfrm>
              <a:off x="2455" y="1508"/>
              <a:ext cx="850" cy="0"/>
            </a:xfrm>
            <a:prstGeom prst="line">
              <a:avLst/>
            </a:prstGeom>
            <a:ln w="12700" cap="flat" cmpd="sng">
              <a:solidFill>
                <a:schemeClr val="tx1"/>
              </a:solidFill>
              <a:prstDash val="solid"/>
              <a:round/>
              <a:headEnd type="none" w="med" len="med"/>
              <a:tailEnd type="triangle" w="med" len="med"/>
            </a:ln>
          </p:spPr>
        </p:sp>
        <p:sp>
          <p:nvSpPr>
            <p:cNvPr id="44097" name="Text Box 66"/>
            <p:cNvSpPr txBox="1"/>
            <p:nvPr/>
          </p:nvSpPr>
          <p:spPr>
            <a:xfrm>
              <a:off x="3277" y="1395"/>
              <a:ext cx="344" cy="212"/>
            </a:xfrm>
            <a:prstGeom prst="rect">
              <a:avLst/>
            </a:prstGeom>
            <a:noFill/>
            <a:ln w="12700">
              <a:noFill/>
            </a:ln>
          </p:spPr>
          <p:txBody>
            <a:bodyPr anchor="t" anchorCtr="0">
              <a:spAutoFit/>
            </a:bodyPr>
            <a:p>
              <a:pPr eaLnBrk="0" hangingPunct="0">
                <a:spcBef>
                  <a:spcPct val="50000"/>
                </a:spcBef>
              </a:pPr>
              <a:r>
                <a:rPr lang="en-US" altLang="zh-CN" dirty="0">
                  <a:latin typeface="Arial" panose="020B0604020202020204" pitchFamily="34" charset="0"/>
                </a:rPr>
                <a:t>CF</a:t>
              </a:r>
              <a:endParaRPr lang="en-US" altLang="zh-CN" dirty="0">
                <a:latin typeface="Arial" panose="020B0604020202020204" pitchFamily="34" charset="0"/>
              </a:endParaRPr>
            </a:p>
          </p:txBody>
        </p:sp>
      </p:grpSp>
      <p:grpSp>
        <p:nvGrpSpPr>
          <p:cNvPr id="44098" name="Group 67"/>
          <p:cNvGrpSpPr/>
          <p:nvPr/>
        </p:nvGrpSpPr>
        <p:grpSpPr>
          <a:xfrm>
            <a:off x="206375" y="5049838"/>
            <a:ext cx="2970213" cy="1439862"/>
            <a:chOff x="73" y="3237"/>
            <a:chExt cx="1871" cy="907"/>
          </a:xfrm>
        </p:grpSpPr>
        <p:pic>
          <p:nvPicPr>
            <p:cNvPr id="44099" name="Picture 68"/>
            <p:cNvPicPr>
              <a:picLocks noChangeAspect="1"/>
            </p:cNvPicPr>
            <p:nvPr/>
          </p:nvPicPr>
          <p:blipFill>
            <a:blip r:embed="rId1"/>
            <a:stretch>
              <a:fillRect/>
            </a:stretch>
          </p:blipFill>
          <p:spPr>
            <a:xfrm>
              <a:off x="73" y="3549"/>
              <a:ext cx="1871" cy="595"/>
            </a:xfrm>
            <a:prstGeom prst="rect">
              <a:avLst/>
            </a:prstGeom>
            <a:noFill/>
            <a:ln w="9525">
              <a:noFill/>
            </a:ln>
          </p:spPr>
        </p:pic>
        <p:sp>
          <p:nvSpPr>
            <p:cNvPr id="44100" name="Text Box 69"/>
            <p:cNvSpPr txBox="1"/>
            <p:nvPr/>
          </p:nvSpPr>
          <p:spPr>
            <a:xfrm>
              <a:off x="130" y="3237"/>
              <a:ext cx="1361" cy="250"/>
            </a:xfrm>
            <a:prstGeom prst="rect">
              <a:avLst/>
            </a:prstGeom>
            <a:noFill/>
            <a:ln w="9525">
              <a:noFill/>
            </a:ln>
          </p:spPr>
          <p:txBody>
            <a:bodyPr anchor="t" anchorCtr="0">
              <a:spAutoFit/>
            </a:bodyPr>
            <a:p>
              <a:pPr>
                <a:spcBef>
                  <a:spcPct val="50000"/>
                </a:spcBef>
              </a:pPr>
              <a:r>
                <a:rPr lang="zh-CN" altLang="en-US" sz="2000" dirty="0">
                  <a:solidFill>
                    <a:srgbClr val="CC3300"/>
                  </a:solidFill>
                  <a:latin typeface="Arial" panose="020B0604020202020204" pitchFamily="34" charset="0"/>
                  <a:ea typeface="微软雅黑" panose="020B0503020204020204" pitchFamily="34" charset="-122"/>
                </a:rPr>
                <a:t>无符号减公式：</a:t>
              </a:r>
              <a:endParaRPr lang="zh-CN" altLang="en-US" sz="2000" dirty="0">
                <a:solidFill>
                  <a:srgbClr val="CC3300"/>
                </a:solidFill>
                <a:latin typeface="Arial" panose="020B0604020202020204" pitchFamily="34" charset="0"/>
                <a:ea typeface="微软雅黑" panose="020B0503020204020204" pitchFamily="34" charset="-122"/>
              </a:endParaRPr>
            </a:p>
          </p:txBody>
        </p:sp>
      </p:grpSp>
      <p:sp>
        <p:nvSpPr>
          <p:cNvPr id="44101" name="Rectangle 70"/>
          <p:cNvSpPr/>
          <p:nvPr/>
        </p:nvSpPr>
        <p:spPr>
          <a:xfrm>
            <a:off x="296863" y="2393950"/>
            <a:ext cx="2609850" cy="314325"/>
          </a:xfrm>
          <a:prstGeom prst="rect">
            <a:avLst/>
          </a:prstGeom>
          <a:noFill/>
          <a:ln w="28575" cap="flat" cmpd="sng">
            <a:solidFill>
              <a:srgbClr val="0033CC"/>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4102" name="Rectangle 71"/>
          <p:cNvSpPr/>
          <p:nvPr/>
        </p:nvSpPr>
        <p:spPr>
          <a:xfrm>
            <a:off x="250825" y="3068638"/>
            <a:ext cx="1665288" cy="314325"/>
          </a:xfrm>
          <a:prstGeom prst="rect">
            <a:avLst/>
          </a:prstGeom>
          <a:noFill/>
          <a:ln w="28575" cap="flat" cmpd="sng">
            <a:solidFill>
              <a:srgbClr val="0033CC"/>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4103" name="Rectangle 72"/>
          <p:cNvSpPr/>
          <p:nvPr/>
        </p:nvSpPr>
        <p:spPr>
          <a:xfrm>
            <a:off x="1285875" y="6038850"/>
            <a:ext cx="1935163" cy="539750"/>
          </a:xfrm>
          <a:prstGeom prst="rect">
            <a:avLst/>
          </a:prstGeom>
          <a:solidFill>
            <a:srgbClr val="FF0000">
              <a:alpha val="25882"/>
            </a:srgbClr>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44104" name="Group 73"/>
          <p:cNvGrpSpPr/>
          <p:nvPr/>
        </p:nvGrpSpPr>
        <p:grpSpPr>
          <a:xfrm>
            <a:off x="3806825" y="5003800"/>
            <a:ext cx="5084763" cy="1709738"/>
            <a:chOff x="2398" y="3181"/>
            <a:chExt cx="3203" cy="1077"/>
          </a:xfrm>
        </p:grpSpPr>
        <p:sp>
          <p:nvSpPr>
            <p:cNvPr id="44105" name="Text Box 74"/>
            <p:cNvSpPr txBox="1"/>
            <p:nvPr/>
          </p:nvSpPr>
          <p:spPr>
            <a:xfrm>
              <a:off x="2937" y="3181"/>
              <a:ext cx="1361" cy="250"/>
            </a:xfrm>
            <a:prstGeom prst="rect">
              <a:avLst/>
            </a:prstGeom>
            <a:noFill/>
            <a:ln w="9525">
              <a:noFill/>
            </a:ln>
          </p:spPr>
          <p:txBody>
            <a:bodyPr anchor="t" anchorCtr="0">
              <a:spAutoFit/>
            </a:bodyPr>
            <a:p>
              <a:pPr>
                <a:spcBef>
                  <a:spcPct val="50000"/>
                </a:spcBef>
              </a:pPr>
              <a:r>
                <a:rPr lang="zh-CN" altLang="en-US" sz="2000" dirty="0">
                  <a:solidFill>
                    <a:srgbClr val="CC3300"/>
                  </a:solidFill>
                  <a:latin typeface="Arial" panose="020B0604020202020204" pitchFamily="34" charset="0"/>
                  <a:ea typeface="微软雅黑" panose="020B0503020204020204" pitchFamily="34" charset="-122"/>
                </a:rPr>
                <a:t>带符号减公式：</a:t>
              </a:r>
              <a:endParaRPr lang="zh-CN" altLang="en-US" sz="2000" dirty="0">
                <a:solidFill>
                  <a:srgbClr val="CC3300"/>
                </a:solidFill>
                <a:latin typeface="Arial" panose="020B0604020202020204" pitchFamily="34" charset="0"/>
                <a:ea typeface="微软雅黑" panose="020B0503020204020204" pitchFamily="34" charset="-122"/>
              </a:endParaRPr>
            </a:p>
          </p:txBody>
        </p:sp>
        <p:pic>
          <p:nvPicPr>
            <p:cNvPr id="44106" name="Picture 75"/>
            <p:cNvPicPr>
              <a:picLocks noChangeAspect="1"/>
            </p:cNvPicPr>
            <p:nvPr/>
          </p:nvPicPr>
          <p:blipFill>
            <a:blip r:embed="rId2"/>
            <a:stretch>
              <a:fillRect/>
            </a:stretch>
          </p:blipFill>
          <p:spPr>
            <a:xfrm>
              <a:off x="2398" y="3459"/>
              <a:ext cx="3203" cy="799"/>
            </a:xfrm>
            <a:prstGeom prst="rect">
              <a:avLst/>
            </a:prstGeom>
            <a:noFill/>
            <a:ln w="9525">
              <a:noFill/>
            </a:ln>
          </p:spPr>
        </p:pic>
      </p:grpSp>
      <p:sp>
        <p:nvSpPr>
          <p:cNvPr id="44107" name="Rectangle 76"/>
          <p:cNvSpPr/>
          <p:nvPr/>
        </p:nvSpPr>
        <p:spPr>
          <a:xfrm>
            <a:off x="4797425" y="5859463"/>
            <a:ext cx="3914775" cy="404812"/>
          </a:xfrm>
          <a:prstGeom prst="rect">
            <a:avLst/>
          </a:prstGeom>
          <a:solidFill>
            <a:srgbClr val="008000">
              <a:alpha val="30980"/>
            </a:srgbClr>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type="title" idx="4294967295"/>
          </p:nvPr>
        </p:nvSpPr>
        <p:spPr>
          <a:xfrm>
            <a:off x="296863" y="84138"/>
            <a:ext cx="8229600" cy="479425"/>
          </a:xfrm>
          <a:ln/>
        </p:spPr>
        <p:txBody>
          <a:bodyPr vert="horz" wrap="square" lIns="63500" tIns="25400" rIns="63500" bIns="25400" anchor="t" anchorCtr="0">
            <a:spAutoFit/>
          </a:bodyPr>
          <a:p>
            <a:r>
              <a:rPr lang="zh-CN" altLang="en-US" dirty="0">
                <a:ea typeface="宋体" panose="02010600030101010101" pitchFamily="2" charset="-122"/>
              </a:rPr>
              <a:t>举例：整数加法</a:t>
            </a:r>
            <a:endParaRPr lang="zh-CN" altLang="en-US" dirty="0">
              <a:ea typeface="宋体" panose="02010600030101010101" pitchFamily="2" charset="-122"/>
            </a:endParaRPr>
          </a:p>
        </p:txBody>
      </p:sp>
      <p:sp>
        <p:nvSpPr>
          <p:cNvPr id="46082" name="Text Box 3"/>
          <p:cNvSpPr txBox="1"/>
          <p:nvPr/>
        </p:nvSpPr>
        <p:spPr>
          <a:xfrm>
            <a:off x="3627438" y="782638"/>
            <a:ext cx="4816475" cy="396875"/>
          </a:xfrm>
          <a:prstGeom prst="rect">
            <a:avLst/>
          </a:prstGeom>
          <a:solidFill>
            <a:schemeClr val="bg1"/>
          </a:solidFill>
          <a:ln w="12700">
            <a:noFill/>
          </a:ln>
        </p:spPr>
        <p:txBody>
          <a:bodyPr anchor="t" anchorCtr="0">
            <a:spAutoFit/>
          </a:bodyPr>
          <a:p>
            <a:pPr eaLnBrk="0" hangingPunct="0">
              <a:spcBef>
                <a:spcPct val="50000"/>
              </a:spcBef>
            </a:pPr>
            <a:r>
              <a:rPr lang="zh-CN" altLang="en-US" sz="2000" dirty="0">
                <a:solidFill>
                  <a:srgbClr val="009242"/>
                </a:solidFill>
                <a:latin typeface="Arial" panose="020B0604020202020204" pitchFamily="34" charset="0"/>
                <a:ea typeface="微软雅黑" panose="020B0503020204020204" pitchFamily="34" charset="-122"/>
              </a:rPr>
              <a:t>无符号和带符号加减运算都用该部件执行</a:t>
            </a:r>
            <a:endParaRPr lang="zh-CN" altLang="en-US" sz="2000" dirty="0">
              <a:solidFill>
                <a:srgbClr val="996600"/>
              </a:solidFill>
              <a:latin typeface="Arial" panose="020B0604020202020204" pitchFamily="34" charset="0"/>
              <a:ea typeface="微软雅黑" panose="020B0503020204020204" pitchFamily="34" charset="-122"/>
            </a:endParaRPr>
          </a:p>
        </p:txBody>
      </p:sp>
      <p:sp>
        <p:nvSpPr>
          <p:cNvPr id="46083" name="Text Box 4"/>
          <p:cNvSpPr txBox="1"/>
          <p:nvPr/>
        </p:nvSpPr>
        <p:spPr>
          <a:xfrm>
            <a:off x="250825" y="638175"/>
            <a:ext cx="3916363" cy="3000375"/>
          </a:xfrm>
          <a:prstGeom prst="rect">
            <a:avLst/>
          </a:prstGeom>
          <a:noFill/>
          <a:ln w="9525">
            <a:noFill/>
          </a:ln>
        </p:spPr>
        <p:txBody>
          <a:bodyPr anchor="t" anchorCtr="0">
            <a:spAutoFit/>
          </a:bodyPr>
          <a:p>
            <a:pPr>
              <a:lnSpc>
                <a:spcPct val="110000"/>
              </a:lnSpc>
              <a:spcBef>
                <a:spcPct val="25000"/>
              </a:spcBef>
            </a:pPr>
            <a:r>
              <a:rPr lang="en-US" altLang="zh-CN" sz="2000" dirty="0">
                <a:latin typeface="Arial" panose="020B0604020202020204" pitchFamily="34" charset="0"/>
              </a:rPr>
              <a:t>unsigned int x=134;</a:t>
            </a:r>
            <a:endParaRPr lang="zh-CN" altLang="en-US" sz="2000" dirty="0">
              <a:latin typeface="Arial" panose="020B0604020202020204" pitchFamily="34" charset="0"/>
              <a:ea typeface="宋体" panose="02010600030101010101" pitchFamily="2" charset="-122"/>
            </a:endParaRPr>
          </a:p>
          <a:p>
            <a:pPr>
              <a:lnSpc>
                <a:spcPct val="110000"/>
              </a:lnSpc>
              <a:spcBef>
                <a:spcPct val="25000"/>
              </a:spcBef>
            </a:pPr>
            <a:r>
              <a:rPr lang="en-US" altLang="zh-CN" sz="2000" dirty="0">
                <a:latin typeface="Arial" panose="020B0604020202020204" pitchFamily="34" charset="0"/>
              </a:rPr>
              <a:t>unsigned int y=246;</a:t>
            </a:r>
            <a:endParaRPr lang="en-US" altLang="zh-CN" sz="2000" dirty="0">
              <a:latin typeface="Arial" panose="020B0604020202020204" pitchFamily="34" charset="0"/>
            </a:endParaRPr>
          </a:p>
          <a:p>
            <a:pPr>
              <a:lnSpc>
                <a:spcPct val="110000"/>
              </a:lnSpc>
              <a:spcBef>
                <a:spcPct val="25000"/>
              </a:spcBef>
            </a:pPr>
            <a:r>
              <a:rPr lang="en-US" altLang="zh-CN" sz="2000" dirty="0">
                <a:latin typeface="Arial" panose="020B0604020202020204" pitchFamily="34" charset="0"/>
              </a:rPr>
              <a:t>int m=x;</a:t>
            </a:r>
            <a:endParaRPr lang="en-US" altLang="zh-CN" sz="2000" dirty="0">
              <a:latin typeface="Arial" panose="020B0604020202020204" pitchFamily="34" charset="0"/>
            </a:endParaRPr>
          </a:p>
          <a:p>
            <a:pPr>
              <a:lnSpc>
                <a:spcPct val="110000"/>
              </a:lnSpc>
              <a:spcBef>
                <a:spcPct val="25000"/>
              </a:spcBef>
            </a:pPr>
            <a:r>
              <a:rPr lang="en-US" altLang="zh-CN" sz="2000" dirty="0">
                <a:latin typeface="Arial" panose="020B0604020202020204" pitchFamily="34" charset="0"/>
              </a:rPr>
              <a:t>int n=y;</a:t>
            </a:r>
            <a:endParaRPr lang="en-US" altLang="zh-CN" sz="2000" dirty="0">
              <a:latin typeface="Arial" panose="020B0604020202020204" pitchFamily="34" charset="0"/>
            </a:endParaRPr>
          </a:p>
          <a:p>
            <a:pPr>
              <a:lnSpc>
                <a:spcPct val="110000"/>
              </a:lnSpc>
            </a:pPr>
            <a:r>
              <a:rPr lang="en-US" altLang="zh-CN" sz="2000" dirty="0">
                <a:latin typeface="Arial" panose="020B0604020202020204" pitchFamily="34" charset="0"/>
              </a:rPr>
              <a:t>unsigned int </a:t>
            </a:r>
            <a:r>
              <a:rPr lang="en-US" altLang="zh-CN" sz="2000" dirty="0">
                <a:solidFill>
                  <a:srgbClr val="FF0000"/>
                </a:solidFill>
                <a:latin typeface="Arial" panose="020B0604020202020204" pitchFamily="34" charset="0"/>
              </a:rPr>
              <a:t>z1=x-y</a:t>
            </a:r>
            <a:r>
              <a:rPr lang="en-US" altLang="zh-CN" sz="2000" dirty="0">
                <a:latin typeface="Arial" panose="020B0604020202020204" pitchFamily="34" charset="0"/>
              </a:rPr>
              <a:t>;</a:t>
            </a:r>
            <a:endParaRPr lang="zh-CN" altLang="en-US" sz="2000" dirty="0">
              <a:latin typeface="Arial" panose="020B0604020202020204" pitchFamily="34" charset="0"/>
              <a:ea typeface="宋体" panose="02010600030101010101" pitchFamily="2" charset="-122"/>
            </a:endParaRPr>
          </a:p>
          <a:p>
            <a:pPr>
              <a:lnSpc>
                <a:spcPct val="110000"/>
              </a:lnSpc>
            </a:pPr>
            <a:r>
              <a:rPr lang="en-US" altLang="zh-CN" sz="2000" dirty="0">
                <a:latin typeface="Arial" panose="020B0604020202020204" pitchFamily="34" charset="0"/>
              </a:rPr>
              <a:t>unsigned int</a:t>
            </a:r>
            <a:r>
              <a:rPr lang="en-US" altLang="zh-CN" sz="2000" dirty="0">
                <a:solidFill>
                  <a:srgbClr val="FF0000"/>
                </a:solidFill>
                <a:latin typeface="Arial" panose="020B0604020202020204" pitchFamily="34" charset="0"/>
              </a:rPr>
              <a:t> z2=x+y</a:t>
            </a:r>
            <a:r>
              <a:rPr lang="en-US" altLang="zh-CN" sz="2000" dirty="0">
                <a:latin typeface="Arial" panose="020B0604020202020204" pitchFamily="34" charset="0"/>
              </a:rPr>
              <a:t>;</a:t>
            </a:r>
            <a:endParaRPr lang="en-US" altLang="zh-CN" sz="2000" dirty="0">
              <a:latin typeface="Arial" panose="020B0604020202020204" pitchFamily="34" charset="0"/>
            </a:endParaRPr>
          </a:p>
          <a:p>
            <a:pPr>
              <a:lnSpc>
                <a:spcPct val="110000"/>
              </a:lnSpc>
            </a:pPr>
            <a:r>
              <a:rPr lang="en-US" altLang="zh-CN" sz="2000" dirty="0">
                <a:latin typeface="Arial" panose="020B0604020202020204" pitchFamily="34" charset="0"/>
              </a:rPr>
              <a:t>int </a:t>
            </a:r>
            <a:r>
              <a:rPr lang="en-US" altLang="zh-CN" sz="2000" dirty="0">
                <a:solidFill>
                  <a:srgbClr val="FF0000"/>
                </a:solidFill>
                <a:latin typeface="Arial" panose="020B0604020202020204" pitchFamily="34" charset="0"/>
              </a:rPr>
              <a:t>k1=m-n</a:t>
            </a:r>
            <a:r>
              <a:rPr lang="en-US" altLang="zh-CN" sz="2000" dirty="0">
                <a:latin typeface="Arial" panose="020B0604020202020204" pitchFamily="34" charset="0"/>
              </a:rPr>
              <a:t>;</a:t>
            </a:r>
            <a:endParaRPr lang="en-US" altLang="zh-CN" sz="2000" dirty="0">
              <a:latin typeface="Arial" panose="020B0604020202020204" pitchFamily="34" charset="0"/>
            </a:endParaRPr>
          </a:p>
          <a:p>
            <a:pPr>
              <a:lnSpc>
                <a:spcPct val="110000"/>
              </a:lnSpc>
            </a:pPr>
            <a:r>
              <a:rPr lang="en-US" altLang="zh-CN" sz="2000" dirty="0">
                <a:latin typeface="Arial" panose="020B0604020202020204" pitchFamily="34" charset="0"/>
              </a:rPr>
              <a:t>int</a:t>
            </a:r>
            <a:r>
              <a:rPr lang="en-US" altLang="zh-CN" sz="2000" dirty="0">
                <a:solidFill>
                  <a:srgbClr val="FF0000"/>
                </a:solidFill>
                <a:latin typeface="Arial" panose="020B0604020202020204" pitchFamily="34" charset="0"/>
              </a:rPr>
              <a:t> k2=m+n</a:t>
            </a:r>
            <a:r>
              <a:rPr lang="en-US" altLang="zh-CN" sz="2000" dirty="0">
                <a:latin typeface="Arial" panose="020B0604020202020204" pitchFamily="34" charset="0"/>
              </a:rPr>
              <a:t>;</a:t>
            </a:r>
            <a:endParaRPr lang="en-US" altLang="zh-CN" sz="2000" dirty="0">
              <a:latin typeface="Arial" panose="020B0604020202020204" pitchFamily="34" charset="0"/>
            </a:endParaRPr>
          </a:p>
        </p:txBody>
      </p:sp>
      <p:sp>
        <p:nvSpPr>
          <p:cNvPr id="46084" name="Text Box 5"/>
          <p:cNvSpPr txBox="1"/>
          <p:nvPr/>
        </p:nvSpPr>
        <p:spPr>
          <a:xfrm>
            <a:off x="250825" y="3778250"/>
            <a:ext cx="8280400" cy="1333500"/>
          </a:xfrm>
          <a:prstGeom prst="rect">
            <a:avLst/>
          </a:prstGeom>
          <a:noFill/>
          <a:ln w="9525">
            <a:noFill/>
          </a:ln>
        </p:spPr>
        <p:txBody>
          <a:bodyPr anchor="t" anchorCtr="0">
            <a:spAutoFit/>
          </a:bodyPr>
          <a:p>
            <a:pPr>
              <a:spcBef>
                <a:spcPct val="10000"/>
              </a:spcBef>
            </a:pPr>
            <a:r>
              <a:rPr lang="en-US" altLang="zh-CN" sz="1900" dirty="0">
                <a:solidFill>
                  <a:srgbClr val="0000FF"/>
                </a:solidFill>
                <a:latin typeface="微软雅黑" panose="020B0503020204020204" pitchFamily="34" charset="-122"/>
                <a:ea typeface="微软雅黑" panose="020B0503020204020204" pitchFamily="34" charset="-122"/>
              </a:rPr>
              <a:t>x</a:t>
            </a:r>
            <a:r>
              <a:rPr lang="zh-CN" altLang="en-US" sz="1900" dirty="0">
                <a:solidFill>
                  <a:srgbClr val="0000FF"/>
                </a:solidFill>
                <a:latin typeface="微软雅黑" panose="020B0503020204020204" pitchFamily="34" charset="-122"/>
                <a:ea typeface="微软雅黑" panose="020B0503020204020204" pitchFamily="34" charset="-122"/>
              </a:rPr>
              <a:t>和</a:t>
            </a:r>
            <a:r>
              <a:rPr lang="en-US" altLang="zh-CN" sz="1900" dirty="0">
                <a:solidFill>
                  <a:srgbClr val="0000FF"/>
                </a:solidFill>
                <a:latin typeface="微软雅黑" panose="020B0503020204020204" pitchFamily="34" charset="-122"/>
                <a:ea typeface="微软雅黑" panose="020B0503020204020204" pitchFamily="34" charset="-122"/>
              </a:rPr>
              <a:t>m</a:t>
            </a:r>
            <a:r>
              <a:rPr lang="zh-CN" altLang="en-US" sz="1900" dirty="0">
                <a:solidFill>
                  <a:srgbClr val="0000FF"/>
                </a:solidFill>
                <a:latin typeface="微软雅黑" panose="020B0503020204020204" pitchFamily="34" charset="-122"/>
                <a:ea typeface="微软雅黑" panose="020B0503020204020204" pitchFamily="34" charset="-122"/>
              </a:rPr>
              <a:t>的机器数一样：</a:t>
            </a:r>
            <a:r>
              <a:rPr lang="en-US" altLang="zh-CN" sz="1900" dirty="0">
                <a:solidFill>
                  <a:srgbClr val="0000FF"/>
                </a:solidFill>
                <a:latin typeface="微软雅黑" panose="020B0503020204020204" pitchFamily="34" charset="-122"/>
                <a:ea typeface="微软雅黑" panose="020B0503020204020204" pitchFamily="34" charset="-122"/>
              </a:rPr>
              <a:t>1000 0110</a:t>
            </a:r>
            <a:r>
              <a:rPr lang="zh-CN" altLang="en-US" sz="1900" dirty="0">
                <a:solidFill>
                  <a:srgbClr val="0000FF"/>
                </a:solidFill>
                <a:latin typeface="微软雅黑" panose="020B0503020204020204" pitchFamily="34" charset="-122"/>
                <a:ea typeface="微软雅黑" panose="020B0503020204020204" pitchFamily="34" charset="-122"/>
              </a:rPr>
              <a:t>，</a:t>
            </a:r>
            <a:r>
              <a:rPr lang="en-US" altLang="zh-CN" sz="1900" dirty="0">
                <a:solidFill>
                  <a:srgbClr val="0000FF"/>
                </a:solidFill>
                <a:latin typeface="微软雅黑" panose="020B0503020204020204" pitchFamily="34" charset="-122"/>
                <a:ea typeface="微软雅黑" panose="020B0503020204020204" pitchFamily="34" charset="-122"/>
              </a:rPr>
              <a:t>y</a:t>
            </a:r>
            <a:r>
              <a:rPr lang="zh-CN" altLang="en-US" sz="1900" dirty="0">
                <a:solidFill>
                  <a:srgbClr val="0000FF"/>
                </a:solidFill>
                <a:latin typeface="微软雅黑" panose="020B0503020204020204" pitchFamily="34" charset="-122"/>
                <a:ea typeface="微软雅黑" panose="020B0503020204020204" pitchFamily="34" charset="-122"/>
              </a:rPr>
              <a:t>和</a:t>
            </a:r>
            <a:r>
              <a:rPr lang="en-US" altLang="zh-CN" sz="1900" dirty="0">
                <a:solidFill>
                  <a:srgbClr val="0000FF"/>
                </a:solidFill>
                <a:latin typeface="微软雅黑" panose="020B0503020204020204" pitchFamily="34" charset="-122"/>
                <a:ea typeface="微软雅黑" panose="020B0503020204020204" pitchFamily="34" charset="-122"/>
              </a:rPr>
              <a:t>n</a:t>
            </a:r>
            <a:r>
              <a:rPr lang="zh-CN" altLang="en-US" sz="1900" dirty="0">
                <a:solidFill>
                  <a:srgbClr val="0000FF"/>
                </a:solidFill>
                <a:latin typeface="微软雅黑" panose="020B0503020204020204" pitchFamily="34" charset="-122"/>
                <a:ea typeface="微软雅黑" panose="020B0503020204020204" pitchFamily="34" charset="-122"/>
              </a:rPr>
              <a:t>的机器数一样：</a:t>
            </a:r>
            <a:r>
              <a:rPr lang="en-US" altLang="zh-CN" sz="1900" dirty="0">
                <a:solidFill>
                  <a:srgbClr val="0000FF"/>
                </a:solidFill>
                <a:latin typeface="微软雅黑" panose="020B0503020204020204" pitchFamily="34" charset="-122"/>
                <a:ea typeface="微软雅黑" panose="020B0503020204020204" pitchFamily="34" charset="-122"/>
              </a:rPr>
              <a:t>1111 0110</a:t>
            </a:r>
            <a:endParaRPr lang="en-US" altLang="zh-CN" sz="1900" dirty="0">
              <a:solidFill>
                <a:srgbClr val="0000FF"/>
              </a:solidFill>
              <a:latin typeface="微软雅黑" panose="020B0503020204020204" pitchFamily="34" charset="-122"/>
              <a:ea typeface="微软雅黑" panose="020B0503020204020204" pitchFamily="34" charset="-122"/>
            </a:endParaRPr>
          </a:p>
          <a:p>
            <a:pPr>
              <a:spcBef>
                <a:spcPct val="10000"/>
              </a:spcBef>
            </a:pPr>
            <a:r>
              <a:rPr lang="en-US" altLang="zh-CN" sz="1900" dirty="0">
                <a:solidFill>
                  <a:srgbClr val="0000FF"/>
                </a:solidFill>
                <a:latin typeface="微软雅黑" panose="020B0503020204020204" pitchFamily="34" charset="-122"/>
                <a:ea typeface="微软雅黑" panose="020B0503020204020204" pitchFamily="34" charset="-122"/>
              </a:rPr>
              <a:t>z2</a:t>
            </a:r>
            <a:r>
              <a:rPr lang="zh-CN" altLang="en-US" sz="1900" dirty="0">
                <a:solidFill>
                  <a:srgbClr val="0000FF"/>
                </a:solidFill>
                <a:latin typeface="微软雅黑" panose="020B0503020204020204" pitchFamily="34" charset="-122"/>
                <a:ea typeface="微软雅黑" panose="020B0503020204020204" pitchFamily="34" charset="-122"/>
              </a:rPr>
              <a:t>和</a:t>
            </a:r>
            <a:r>
              <a:rPr lang="en-US" altLang="zh-CN" sz="1900" dirty="0">
                <a:solidFill>
                  <a:srgbClr val="0000FF"/>
                </a:solidFill>
                <a:latin typeface="微软雅黑" panose="020B0503020204020204" pitchFamily="34" charset="-122"/>
                <a:ea typeface="微软雅黑" panose="020B0503020204020204" pitchFamily="34" charset="-122"/>
              </a:rPr>
              <a:t>k2</a:t>
            </a:r>
            <a:r>
              <a:rPr lang="zh-CN" altLang="en-US" sz="1900" dirty="0">
                <a:solidFill>
                  <a:srgbClr val="0000FF"/>
                </a:solidFill>
                <a:latin typeface="微软雅黑" panose="020B0503020204020204" pitchFamily="34" charset="-122"/>
                <a:ea typeface="微软雅黑" panose="020B0503020204020204" pitchFamily="34" charset="-122"/>
              </a:rPr>
              <a:t>的机器数一样：</a:t>
            </a:r>
            <a:r>
              <a:rPr lang="en-US" altLang="zh-CN" sz="1900" dirty="0">
                <a:solidFill>
                  <a:srgbClr val="0000FF"/>
                </a:solidFill>
                <a:latin typeface="微软雅黑" panose="020B0503020204020204" pitchFamily="34" charset="-122"/>
                <a:ea typeface="微软雅黑" panose="020B0503020204020204" pitchFamily="34" charset="-122"/>
              </a:rPr>
              <a:t>0111 1100</a:t>
            </a:r>
            <a:r>
              <a:rPr lang="zh-CN" altLang="en-US" sz="1900" dirty="0">
                <a:solidFill>
                  <a:srgbClr val="0000FF"/>
                </a:solidFill>
                <a:latin typeface="微软雅黑" panose="020B0503020204020204" pitchFamily="34" charset="-122"/>
                <a:ea typeface="微软雅黑" panose="020B0503020204020204" pitchFamily="34" charset="-122"/>
              </a:rPr>
              <a:t>，</a:t>
            </a:r>
            <a:r>
              <a:rPr lang="en-US" altLang="zh-CN" sz="1900" dirty="0">
                <a:solidFill>
                  <a:srgbClr val="FF0000"/>
                </a:solidFill>
                <a:latin typeface="微软雅黑" panose="020B0503020204020204" pitchFamily="34" charset="-122"/>
                <a:ea typeface="微软雅黑" panose="020B0503020204020204" pitchFamily="34" charset="-122"/>
              </a:rPr>
              <a:t>CF=1</a:t>
            </a:r>
            <a:r>
              <a:rPr lang="zh-CN" altLang="en-US" sz="1900" dirty="0">
                <a:solidFill>
                  <a:srgbClr val="0000FF"/>
                </a:solidFill>
                <a:latin typeface="微软雅黑" panose="020B0503020204020204" pitchFamily="34" charset="-122"/>
                <a:ea typeface="微软雅黑" panose="020B0503020204020204" pitchFamily="34" charset="-122"/>
              </a:rPr>
              <a:t>，</a:t>
            </a:r>
            <a:r>
              <a:rPr lang="en-US" altLang="zh-CN" sz="1900" dirty="0">
                <a:solidFill>
                  <a:srgbClr val="008000"/>
                </a:solidFill>
                <a:latin typeface="微软雅黑" panose="020B0503020204020204" pitchFamily="34" charset="-122"/>
                <a:ea typeface="微软雅黑" panose="020B0503020204020204" pitchFamily="34" charset="-122"/>
              </a:rPr>
              <a:t>OF=1</a:t>
            </a:r>
            <a:r>
              <a:rPr lang="zh-CN" altLang="en-US" sz="1900" dirty="0">
                <a:solidFill>
                  <a:srgbClr val="0000FF"/>
                </a:solidFill>
                <a:latin typeface="微软雅黑" panose="020B0503020204020204" pitchFamily="34" charset="-122"/>
                <a:ea typeface="微软雅黑" panose="020B0503020204020204" pitchFamily="34" charset="-122"/>
              </a:rPr>
              <a:t>，</a:t>
            </a:r>
            <a:r>
              <a:rPr lang="en-US" altLang="zh-CN" sz="1900" dirty="0">
                <a:solidFill>
                  <a:srgbClr val="0000FF"/>
                </a:solidFill>
                <a:latin typeface="微软雅黑" panose="020B0503020204020204" pitchFamily="34" charset="-122"/>
                <a:ea typeface="微软雅黑" panose="020B0503020204020204" pitchFamily="34" charset="-122"/>
              </a:rPr>
              <a:t>SF=0</a:t>
            </a:r>
            <a:endParaRPr lang="en-US" altLang="zh-CN" sz="1900" dirty="0">
              <a:solidFill>
                <a:srgbClr val="0000FF"/>
              </a:solidFill>
              <a:latin typeface="微软雅黑" panose="020B0503020204020204" pitchFamily="34" charset="-122"/>
              <a:ea typeface="微软雅黑" panose="020B0503020204020204" pitchFamily="34" charset="-122"/>
            </a:endParaRPr>
          </a:p>
          <a:p>
            <a:pPr>
              <a:spcBef>
                <a:spcPct val="10000"/>
              </a:spcBef>
            </a:pPr>
            <a:r>
              <a:rPr lang="en-US" altLang="zh-CN" sz="1900" dirty="0">
                <a:solidFill>
                  <a:srgbClr val="0000FF"/>
                </a:solidFill>
                <a:latin typeface="微软雅黑" panose="020B0503020204020204" pitchFamily="34" charset="-122"/>
                <a:ea typeface="微软雅黑" panose="020B0503020204020204" pitchFamily="34" charset="-122"/>
              </a:rPr>
              <a:t>z2</a:t>
            </a:r>
            <a:r>
              <a:rPr lang="zh-CN" altLang="en-US" sz="1900" dirty="0">
                <a:solidFill>
                  <a:srgbClr val="0000FF"/>
                </a:solidFill>
                <a:latin typeface="微软雅黑" panose="020B0503020204020204" pitchFamily="34" charset="-122"/>
                <a:ea typeface="微软雅黑" panose="020B0503020204020204" pitchFamily="34" charset="-122"/>
              </a:rPr>
              <a:t>的值为</a:t>
            </a:r>
            <a:r>
              <a:rPr lang="en-US" altLang="zh-CN" sz="1900" dirty="0">
                <a:solidFill>
                  <a:srgbClr val="0000FF"/>
                </a:solidFill>
                <a:latin typeface="微软雅黑" panose="020B0503020204020204" pitchFamily="34" charset="-122"/>
                <a:ea typeface="微软雅黑" panose="020B0503020204020204" pitchFamily="34" charset="-122"/>
              </a:rPr>
              <a:t>124</a:t>
            </a:r>
            <a:r>
              <a:rPr lang="zh-CN" altLang="en-US" sz="1900" dirty="0">
                <a:solidFill>
                  <a:srgbClr val="FF0000"/>
                </a:solidFill>
                <a:latin typeface="微软雅黑" panose="020B0503020204020204" pitchFamily="34" charset="-122"/>
                <a:ea typeface="微软雅黑" panose="020B0503020204020204" pitchFamily="34" charset="-122"/>
              </a:rPr>
              <a:t>（</a:t>
            </a:r>
            <a:r>
              <a:rPr lang="en-US" altLang="zh-CN" sz="1900" dirty="0">
                <a:solidFill>
                  <a:srgbClr val="FF0000"/>
                </a:solidFill>
                <a:latin typeface="微软雅黑" panose="020B0503020204020204" pitchFamily="34" charset="-122"/>
                <a:ea typeface="微软雅黑" panose="020B0503020204020204" pitchFamily="34" charset="-122"/>
              </a:rPr>
              <a:t>=134+246-256</a:t>
            </a:r>
            <a:r>
              <a:rPr lang="zh-CN" altLang="en-US" sz="1900" dirty="0">
                <a:solidFill>
                  <a:srgbClr val="FF0000"/>
                </a:solidFill>
                <a:latin typeface="微软雅黑" panose="020B0503020204020204" pitchFamily="34" charset="-122"/>
                <a:ea typeface="微软雅黑" panose="020B0503020204020204" pitchFamily="34" charset="-122"/>
              </a:rPr>
              <a:t>，</a:t>
            </a:r>
            <a:r>
              <a:rPr lang="en-US" altLang="zh-CN" sz="1900" dirty="0">
                <a:solidFill>
                  <a:srgbClr val="FF0000"/>
                </a:solidFill>
                <a:latin typeface="微软雅黑" panose="020B0503020204020204" pitchFamily="34" charset="-122"/>
                <a:ea typeface="微软雅黑" panose="020B0503020204020204" pitchFamily="34" charset="-122"/>
              </a:rPr>
              <a:t>x+y&gt;256</a:t>
            </a:r>
            <a:r>
              <a:rPr lang="zh-CN" altLang="en-US" sz="1900" dirty="0">
                <a:solidFill>
                  <a:srgbClr val="FF0000"/>
                </a:solidFill>
                <a:latin typeface="微软雅黑" panose="020B0503020204020204" pitchFamily="34" charset="-122"/>
                <a:ea typeface="微软雅黑" panose="020B0503020204020204" pitchFamily="34" charset="-122"/>
              </a:rPr>
              <a:t>）</a:t>
            </a:r>
            <a:endParaRPr lang="zh-CN" altLang="en-US" sz="1900" dirty="0">
              <a:solidFill>
                <a:srgbClr val="FF0000"/>
              </a:solidFill>
              <a:latin typeface="微软雅黑" panose="020B0503020204020204" pitchFamily="34" charset="-122"/>
              <a:ea typeface="微软雅黑" panose="020B0503020204020204" pitchFamily="34" charset="-122"/>
            </a:endParaRPr>
          </a:p>
          <a:p>
            <a:pPr>
              <a:spcBef>
                <a:spcPct val="10000"/>
              </a:spcBef>
            </a:pPr>
            <a:r>
              <a:rPr lang="en-US" altLang="zh-CN" sz="1900" dirty="0">
                <a:solidFill>
                  <a:srgbClr val="0033CC"/>
                </a:solidFill>
                <a:latin typeface="微软雅黑" panose="020B0503020204020204" pitchFamily="34" charset="-122"/>
                <a:ea typeface="微软雅黑" panose="020B0503020204020204" pitchFamily="34" charset="-122"/>
              </a:rPr>
              <a:t>k2</a:t>
            </a:r>
            <a:r>
              <a:rPr lang="zh-CN" altLang="en-US" sz="1900" dirty="0">
                <a:solidFill>
                  <a:srgbClr val="0033CC"/>
                </a:solidFill>
                <a:latin typeface="微软雅黑" panose="020B0503020204020204" pitchFamily="34" charset="-122"/>
                <a:ea typeface="微软雅黑" panose="020B0503020204020204" pitchFamily="34" charset="-122"/>
              </a:rPr>
              <a:t>的值为</a:t>
            </a:r>
            <a:r>
              <a:rPr lang="en-US" altLang="zh-CN" sz="1900" dirty="0">
                <a:solidFill>
                  <a:srgbClr val="0033CC"/>
                </a:solidFill>
                <a:latin typeface="微软雅黑" panose="020B0503020204020204" pitchFamily="34" charset="-122"/>
                <a:ea typeface="微软雅黑" panose="020B0503020204020204" pitchFamily="34" charset="-122"/>
              </a:rPr>
              <a:t>124</a:t>
            </a:r>
            <a:r>
              <a:rPr lang="zh-CN" altLang="en-US" sz="1900" dirty="0">
                <a:solidFill>
                  <a:srgbClr val="008000"/>
                </a:solidFill>
                <a:latin typeface="微软雅黑" panose="020B0503020204020204" pitchFamily="34" charset="-122"/>
                <a:ea typeface="微软雅黑" panose="020B0503020204020204" pitchFamily="34" charset="-122"/>
              </a:rPr>
              <a:t>（</a:t>
            </a:r>
            <a:r>
              <a:rPr lang="en-US" altLang="zh-CN" sz="1900" dirty="0">
                <a:solidFill>
                  <a:srgbClr val="008000"/>
                </a:solidFill>
                <a:latin typeface="微软雅黑" panose="020B0503020204020204" pitchFamily="34" charset="-122"/>
                <a:ea typeface="微软雅黑" panose="020B0503020204020204" pitchFamily="34" charset="-122"/>
              </a:rPr>
              <a:t>=134+246-256</a:t>
            </a:r>
            <a:r>
              <a:rPr lang="zh-CN" altLang="en-US" sz="1900" dirty="0">
                <a:solidFill>
                  <a:srgbClr val="008000"/>
                </a:solidFill>
                <a:latin typeface="微软雅黑" panose="020B0503020204020204" pitchFamily="34" charset="-122"/>
                <a:ea typeface="微软雅黑" panose="020B0503020204020204" pitchFamily="34" charset="-122"/>
              </a:rPr>
              <a:t>，</a:t>
            </a:r>
            <a:r>
              <a:rPr lang="en-US" altLang="zh-CN" sz="1900" dirty="0">
                <a:solidFill>
                  <a:srgbClr val="008000"/>
                </a:solidFill>
                <a:latin typeface="微软雅黑" panose="020B0503020204020204" pitchFamily="34" charset="-122"/>
                <a:ea typeface="微软雅黑" panose="020B0503020204020204" pitchFamily="34" charset="-122"/>
              </a:rPr>
              <a:t>m+n&gt;128</a:t>
            </a:r>
            <a:r>
              <a:rPr lang="zh-CN" altLang="en-US" sz="1900" dirty="0">
                <a:solidFill>
                  <a:srgbClr val="008000"/>
                </a:solidFill>
                <a:latin typeface="微软雅黑" panose="020B0503020204020204" pitchFamily="34" charset="-122"/>
                <a:ea typeface="微软雅黑" panose="020B0503020204020204" pitchFamily="34" charset="-122"/>
              </a:rPr>
              <a:t>，即正溢出）</a:t>
            </a:r>
            <a:endParaRPr lang="en-US" altLang="zh-CN" sz="1900" dirty="0">
              <a:solidFill>
                <a:srgbClr val="008000"/>
              </a:solidFill>
              <a:latin typeface="微软雅黑" panose="020B0503020204020204" pitchFamily="34" charset="-122"/>
              <a:ea typeface="微软雅黑" panose="020B0503020204020204" pitchFamily="34" charset="-122"/>
            </a:endParaRPr>
          </a:p>
        </p:txBody>
      </p:sp>
      <p:sp>
        <p:nvSpPr>
          <p:cNvPr id="46085" name="Text Box 6"/>
          <p:cNvSpPr txBox="1"/>
          <p:nvPr/>
        </p:nvSpPr>
        <p:spPr>
          <a:xfrm>
            <a:off x="3176588" y="1854200"/>
            <a:ext cx="1439862" cy="396875"/>
          </a:xfrm>
          <a:prstGeom prst="rect">
            <a:avLst/>
          </a:prstGeom>
          <a:noFill/>
          <a:ln w="9525">
            <a:noFill/>
          </a:ln>
        </p:spPr>
        <p:txBody>
          <a:bodyPr anchor="t" anchorCtr="0">
            <a:spAutoFit/>
          </a:bodyPr>
          <a:p>
            <a:pPr>
              <a:spcBef>
                <a:spcPct val="50000"/>
              </a:spcBef>
            </a:pPr>
            <a:r>
              <a:rPr lang="zh-CN" altLang="en-US" sz="2000" dirty="0">
                <a:latin typeface="微软雅黑" panose="020B0503020204020204" pitchFamily="34" charset="-122"/>
                <a:ea typeface="微软雅黑" panose="020B0503020204020204" pitchFamily="34" charset="-122"/>
              </a:rPr>
              <a:t>假定 </a:t>
            </a:r>
            <a:r>
              <a:rPr lang="en-US" altLang="zh-CN" sz="2000" dirty="0">
                <a:latin typeface="微软雅黑" panose="020B0503020204020204" pitchFamily="34" charset="-122"/>
                <a:ea typeface="微软雅黑" panose="020B0503020204020204" pitchFamily="34" charset="-122"/>
              </a:rPr>
              <a:t>n=8</a:t>
            </a:r>
            <a:endParaRPr lang="zh-CN" altLang="en-US" sz="2000" dirty="0">
              <a:latin typeface="微软雅黑" panose="020B0503020204020204" pitchFamily="34" charset="-122"/>
              <a:ea typeface="微软雅黑" panose="020B0503020204020204" pitchFamily="34" charset="-122"/>
            </a:endParaRPr>
          </a:p>
        </p:txBody>
      </p:sp>
      <p:grpSp>
        <p:nvGrpSpPr>
          <p:cNvPr id="46086" name="Group 7"/>
          <p:cNvGrpSpPr/>
          <p:nvPr/>
        </p:nvGrpSpPr>
        <p:grpSpPr>
          <a:xfrm>
            <a:off x="3395663" y="1223963"/>
            <a:ext cx="5748337" cy="2898775"/>
            <a:chOff x="0" y="572"/>
            <a:chExt cx="3621" cy="1826"/>
          </a:xfrm>
        </p:grpSpPr>
        <p:grpSp>
          <p:nvGrpSpPr>
            <p:cNvPr id="46087" name="组合 63"/>
            <p:cNvGrpSpPr/>
            <p:nvPr/>
          </p:nvGrpSpPr>
          <p:grpSpPr>
            <a:xfrm>
              <a:off x="0" y="572"/>
              <a:ext cx="3392" cy="1826"/>
              <a:chOff x="3495675" y="3876675"/>
              <a:chExt cx="5384800" cy="2898775"/>
            </a:xfrm>
          </p:grpSpPr>
          <p:sp>
            <p:nvSpPr>
              <p:cNvPr id="46088" name="Rectangle 33"/>
              <p:cNvSpPr/>
              <p:nvPr/>
            </p:nvSpPr>
            <p:spPr>
              <a:xfrm>
                <a:off x="8259763" y="4994275"/>
                <a:ext cx="620712" cy="333375"/>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Sum</a:t>
                </a:r>
                <a:endParaRPr lang="en-US" altLang="zh-CN" dirty="0">
                  <a:latin typeface="Arial" panose="020B0604020202020204" pitchFamily="34" charset="0"/>
                  <a:ea typeface="Arial" panose="020B0604020202020204" pitchFamily="34" charset="0"/>
                </a:endParaRPr>
              </a:p>
            </p:txBody>
          </p:sp>
          <p:grpSp>
            <p:nvGrpSpPr>
              <p:cNvPr id="46089" name="Group 73"/>
              <p:cNvGrpSpPr/>
              <p:nvPr/>
            </p:nvGrpSpPr>
            <p:grpSpPr>
              <a:xfrm>
                <a:off x="3495675" y="3876675"/>
                <a:ext cx="4968876" cy="2393950"/>
                <a:chOff x="2202" y="2442"/>
                <a:chExt cx="3130" cy="1508"/>
              </a:xfrm>
            </p:grpSpPr>
            <p:sp>
              <p:nvSpPr>
                <p:cNvPr id="46090" name="Line 11"/>
                <p:cNvSpPr/>
                <p:nvPr/>
              </p:nvSpPr>
              <p:spPr>
                <a:xfrm flipH="1">
                  <a:off x="3733" y="2869"/>
                  <a:ext cx="502" cy="0"/>
                </a:xfrm>
                <a:prstGeom prst="line">
                  <a:avLst/>
                </a:prstGeom>
                <a:ln w="12700" cap="flat" cmpd="sng">
                  <a:solidFill>
                    <a:schemeClr val="tx1"/>
                  </a:solidFill>
                  <a:prstDash val="solid"/>
                  <a:round/>
                  <a:headEnd type="triangle" w="med" len="med"/>
                  <a:tailEnd type="none" w="med" len="med"/>
                </a:ln>
              </p:spPr>
            </p:sp>
            <p:sp>
              <p:nvSpPr>
                <p:cNvPr id="46091" name="Line 12"/>
                <p:cNvSpPr/>
                <p:nvPr/>
              </p:nvSpPr>
              <p:spPr>
                <a:xfrm flipH="1">
                  <a:off x="4225" y="2757"/>
                  <a:ext cx="6" cy="417"/>
                </a:xfrm>
                <a:prstGeom prst="line">
                  <a:avLst/>
                </a:prstGeom>
                <a:ln w="25400" cap="flat" cmpd="sng">
                  <a:solidFill>
                    <a:schemeClr val="tx1"/>
                  </a:solidFill>
                  <a:prstDash val="solid"/>
                  <a:round/>
                  <a:headEnd type="none" w="med" len="med"/>
                  <a:tailEnd type="none" w="med" len="med"/>
                </a:ln>
              </p:spPr>
            </p:sp>
            <p:sp>
              <p:nvSpPr>
                <p:cNvPr id="46092" name="Line 13"/>
                <p:cNvSpPr/>
                <p:nvPr/>
              </p:nvSpPr>
              <p:spPr>
                <a:xfrm>
                  <a:off x="4238" y="2757"/>
                  <a:ext cx="399" cy="185"/>
                </a:xfrm>
                <a:prstGeom prst="line">
                  <a:avLst/>
                </a:prstGeom>
                <a:ln w="25400" cap="flat" cmpd="sng">
                  <a:solidFill>
                    <a:schemeClr val="tx1"/>
                  </a:solidFill>
                  <a:prstDash val="solid"/>
                  <a:round/>
                  <a:headEnd type="none" w="med" len="med"/>
                  <a:tailEnd type="none" w="med" len="med"/>
                </a:ln>
              </p:spPr>
            </p:sp>
            <p:sp>
              <p:nvSpPr>
                <p:cNvPr id="46093" name="Line 14"/>
                <p:cNvSpPr/>
                <p:nvPr/>
              </p:nvSpPr>
              <p:spPr>
                <a:xfrm>
                  <a:off x="4208" y="3168"/>
                  <a:ext cx="151" cy="66"/>
                </a:xfrm>
                <a:prstGeom prst="line">
                  <a:avLst/>
                </a:prstGeom>
                <a:ln w="25400" cap="flat" cmpd="sng">
                  <a:solidFill>
                    <a:schemeClr val="tx1"/>
                  </a:solidFill>
                  <a:prstDash val="solid"/>
                  <a:round/>
                  <a:headEnd type="none" w="med" len="med"/>
                  <a:tailEnd type="none" w="med" len="med"/>
                </a:ln>
              </p:spPr>
            </p:sp>
            <p:sp>
              <p:nvSpPr>
                <p:cNvPr id="46094" name="Line 16"/>
                <p:cNvSpPr/>
                <p:nvPr/>
              </p:nvSpPr>
              <p:spPr>
                <a:xfrm>
                  <a:off x="4637" y="2942"/>
                  <a:ext cx="7" cy="276"/>
                </a:xfrm>
                <a:prstGeom prst="line">
                  <a:avLst/>
                </a:prstGeom>
                <a:ln w="25400" cap="flat" cmpd="sng">
                  <a:solidFill>
                    <a:schemeClr val="tx1"/>
                  </a:solidFill>
                  <a:prstDash val="solid"/>
                  <a:round/>
                  <a:headEnd type="none" w="med" len="med"/>
                  <a:tailEnd type="none" w="med" len="med"/>
                </a:ln>
              </p:spPr>
            </p:sp>
            <p:sp>
              <p:nvSpPr>
                <p:cNvPr id="46095" name="Line 18"/>
                <p:cNvSpPr/>
                <p:nvPr/>
              </p:nvSpPr>
              <p:spPr>
                <a:xfrm flipV="1">
                  <a:off x="4231" y="3311"/>
                  <a:ext cx="0" cy="395"/>
                </a:xfrm>
                <a:prstGeom prst="line">
                  <a:avLst/>
                </a:prstGeom>
                <a:ln w="25400" cap="flat" cmpd="sng">
                  <a:solidFill>
                    <a:schemeClr val="tx1"/>
                  </a:solidFill>
                  <a:prstDash val="solid"/>
                  <a:round/>
                  <a:headEnd type="none" w="med" len="med"/>
                  <a:tailEnd type="none" w="med" len="med"/>
                </a:ln>
              </p:spPr>
            </p:sp>
            <p:sp>
              <p:nvSpPr>
                <p:cNvPr id="46096" name="Line 19"/>
                <p:cNvSpPr/>
                <p:nvPr/>
              </p:nvSpPr>
              <p:spPr>
                <a:xfrm flipV="1">
                  <a:off x="4238" y="3495"/>
                  <a:ext cx="399" cy="211"/>
                </a:xfrm>
                <a:prstGeom prst="line">
                  <a:avLst/>
                </a:prstGeom>
                <a:ln w="25400" cap="flat" cmpd="sng">
                  <a:solidFill>
                    <a:schemeClr val="tx1"/>
                  </a:solidFill>
                  <a:prstDash val="solid"/>
                  <a:round/>
                  <a:headEnd type="none" w="med" len="med"/>
                  <a:tailEnd type="none" w="med" len="med"/>
                </a:ln>
              </p:spPr>
            </p:sp>
            <p:sp>
              <p:nvSpPr>
                <p:cNvPr id="46097" name="Line 20"/>
                <p:cNvSpPr/>
                <p:nvPr/>
              </p:nvSpPr>
              <p:spPr>
                <a:xfrm flipV="1">
                  <a:off x="4232" y="3232"/>
                  <a:ext cx="121" cy="75"/>
                </a:xfrm>
                <a:prstGeom prst="line">
                  <a:avLst/>
                </a:prstGeom>
                <a:ln w="25400" cap="flat" cmpd="sng">
                  <a:solidFill>
                    <a:schemeClr val="tx1"/>
                  </a:solidFill>
                  <a:prstDash val="solid"/>
                  <a:round/>
                  <a:headEnd type="none" w="med" len="med"/>
                  <a:tailEnd type="none" w="med" len="med"/>
                </a:ln>
              </p:spPr>
            </p:sp>
            <p:sp>
              <p:nvSpPr>
                <p:cNvPr id="46098" name="Line 22"/>
                <p:cNvSpPr/>
                <p:nvPr/>
              </p:nvSpPr>
              <p:spPr>
                <a:xfrm flipV="1">
                  <a:off x="4644" y="3218"/>
                  <a:ext cx="0" cy="290"/>
                </a:xfrm>
                <a:prstGeom prst="line">
                  <a:avLst/>
                </a:prstGeom>
                <a:ln w="25400" cap="flat" cmpd="sng">
                  <a:solidFill>
                    <a:schemeClr val="tx1"/>
                  </a:solidFill>
                  <a:prstDash val="solid"/>
                  <a:round/>
                  <a:headEnd type="none" w="med" len="med"/>
                  <a:tailEnd type="none" w="med" len="med"/>
                </a:ln>
              </p:spPr>
            </p:sp>
            <p:sp>
              <p:nvSpPr>
                <p:cNvPr id="46099" name="Line 23"/>
                <p:cNvSpPr/>
                <p:nvPr/>
              </p:nvSpPr>
              <p:spPr>
                <a:xfrm>
                  <a:off x="4647" y="3225"/>
                  <a:ext cx="612" cy="0"/>
                </a:xfrm>
                <a:prstGeom prst="line">
                  <a:avLst/>
                </a:prstGeom>
                <a:ln w="12700" cap="flat" cmpd="sng">
                  <a:solidFill>
                    <a:schemeClr val="tx1"/>
                  </a:solidFill>
                  <a:prstDash val="solid"/>
                  <a:round/>
                  <a:headEnd type="none" w="med" len="med"/>
                  <a:tailEnd type="triangle" w="med" len="med"/>
                </a:ln>
              </p:spPr>
            </p:sp>
            <p:sp>
              <p:nvSpPr>
                <p:cNvPr id="46100" name="Line 24"/>
                <p:cNvSpPr/>
                <p:nvPr/>
              </p:nvSpPr>
              <p:spPr>
                <a:xfrm flipH="1">
                  <a:off x="3733" y="3580"/>
                  <a:ext cx="502" cy="0"/>
                </a:xfrm>
                <a:prstGeom prst="line">
                  <a:avLst/>
                </a:prstGeom>
                <a:ln w="12700" cap="flat" cmpd="sng">
                  <a:solidFill>
                    <a:schemeClr val="tx1"/>
                  </a:solidFill>
                  <a:prstDash val="solid"/>
                  <a:round/>
                  <a:headEnd type="triangle" w="med" len="med"/>
                  <a:tailEnd type="none" w="med" len="med"/>
                </a:ln>
              </p:spPr>
            </p:sp>
            <p:sp>
              <p:nvSpPr>
                <p:cNvPr id="46101" name="Rectangle 25"/>
                <p:cNvSpPr/>
                <p:nvPr/>
              </p:nvSpPr>
              <p:spPr>
                <a:xfrm rot="5400000">
                  <a:off x="4173" y="3174"/>
                  <a:ext cx="589" cy="200"/>
                </a:xfrm>
                <a:prstGeom prst="rect">
                  <a:avLst/>
                </a:prstGeom>
                <a:noFill/>
                <a:ln w="12700">
                  <a:noFill/>
                </a:ln>
              </p:spPr>
              <p:txBody>
                <a:bodyPr lIns="90488" tIns="44450" rIns="90488" bIns="44450" anchor="t" anchorCtr="0">
                  <a:spAutoFit/>
                </a:bodyPr>
                <a:p>
                  <a:pPr eaLnBrk="0" hangingPunct="0">
                    <a:buClrTx/>
                    <a:buFontTx/>
                  </a:pPr>
                  <a:r>
                    <a:rPr lang="en-US" altLang="zh-CN" sz="1500" dirty="0">
                      <a:latin typeface="Arial" panose="020B0604020202020204" pitchFamily="34" charset="0"/>
                    </a:rPr>
                    <a:t>Adder</a:t>
                  </a:r>
                  <a:endParaRPr lang="en-US" altLang="zh-CN" sz="1500" dirty="0">
                    <a:latin typeface="Arial" panose="020B0604020202020204" pitchFamily="34" charset="0"/>
                    <a:ea typeface="Arial" panose="020B0604020202020204" pitchFamily="34" charset="0"/>
                  </a:endParaRPr>
                </a:p>
              </p:txBody>
            </p:sp>
            <p:sp>
              <p:nvSpPr>
                <p:cNvPr id="46102" name="Line 26"/>
                <p:cNvSpPr/>
                <p:nvPr/>
              </p:nvSpPr>
              <p:spPr>
                <a:xfrm flipH="1">
                  <a:off x="3897" y="3544"/>
                  <a:ext cx="90" cy="73"/>
                </a:xfrm>
                <a:prstGeom prst="line">
                  <a:avLst/>
                </a:prstGeom>
                <a:ln w="12700" cap="flat" cmpd="sng">
                  <a:solidFill>
                    <a:schemeClr val="tx1"/>
                  </a:solidFill>
                  <a:prstDash val="solid"/>
                  <a:round/>
                  <a:headEnd type="none" w="med" len="med"/>
                  <a:tailEnd type="none" w="med" len="med"/>
                </a:ln>
              </p:spPr>
            </p:sp>
            <p:sp>
              <p:nvSpPr>
                <p:cNvPr id="46103" name="Line 27"/>
                <p:cNvSpPr/>
                <p:nvPr/>
              </p:nvSpPr>
              <p:spPr>
                <a:xfrm flipH="1">
                  <a:off x="3897" y="2834"/>
                  <a:ext cx="90" cy="71"/>
                </a:xfrm>
                <a:prstGeom prst="line">
                  <a:avLst/>
                </a:prstGeom>
                <a:ln w="12700" cap="flat" cmpd="sng">
                  <a:solidFill>
                    <a:schemeClr val="tx1"/>
                  </a:solidFill>
                  <a:prstDash val="solid"/>
                  <a:round/>
                  <a:headEnd type="none" w="med" len="med"/>
                  <a:tailEnd type="none" w="med" len="med"/>
                </a:ln>
              </p:spPr>
            </p:sp>
            <p:sp>
              <p:nvSpPr>
                <p:cNvPr id="46104" name="Line 28"/>
                <p:cNvSpPr/>
                <p:nvPr/>
              </p:nvSpPr>
              <p:spPr>
                <a:xfrm flipH="1">
                  <a:off x="4929" y="3189"/>
                  <a:ext cx="90" cy="71"/>
                </a:xfrm>
                <a:prstGeom prst="line">
                  <a:avLst/>
                </a:prstGeom>
                <a:ln w="12700" cap="flat" cmpd="sng">
                  <a:solidFill>
                    <a:schemeClr val="tx1"/>
                  </a:solidFill>
                  <a:prstDash val="solid"/>
                  <a:round/>
                  <a:headEnd type="none" w="med" len="med"/>
                  <a:tailEnd type="none" w="med" len="med"/>
                </a:ln>
              </p:spPr>
            </p:sp>
            <p:sp>
              <p:nvSpPr>
                <p:cNvPr id="46105" name="Rectangle 29"/>
                <p:cNvSpPr/>
                <p:nvPr/>
              </p:nvSpPr>
              <p:spPr>
                <a:xfrm>
                  <a:off x="3770" y="2869"/>
                  <a:ext cx="1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6106" name="Rectangle 30"/>
                <p:cNvSpPr/>
                <p:nvPr/>
              </p:nvSpPr>
              <p:spPr>
                <a:xfrm>
                  <a:off x="3770" y="3580"/>
                  <a:ext cx="1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6107" name="Rectangle 31"/>
                <p:cNvSpPr/>
                <p:nvPr/>
              </p:nvSpPr>
              <p:spPr>
                <a:xfrm>
                  <a:off x="4802" y="3225"/>
                  <a:ext cx="192" cy="179"/>
                </a:xfrm>
                <a:prstGeom prst="rect">
                  <a:avLst/>
                </a:prstGeom>
                <a:noFill/>
                <a:ln w="12700">
                  <a:noFill/>
                </a:ln>
              </p:spPr>
              <p:txBody>
                <a:bodyPr wrap="none" lIns="90488" tIns="44450" rIns="90488" bIns="44450" anchor="t" anchorCtr="0">
                  <a:spAutoFit/>
                </a:bodyPr>
                <a:p>
                  <a:pPr eaLnBrk="0" hangingPunct="0">
                    <a:lnSpc>
                      <a:spcPct val="80000"/>
                    </a:lnSpc>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6108" name="Rectangle 32"/>
                <p:cNvSpPr/>
                <p:nvPr/>
              </p:nvSpPr>
              <p:spPr>
                <a:xfrm>
                  <a:off x="3687" y="2660"/>
                  <a:ext cx="206"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A</a:t>
                  </a:r>
                  <a:endParaRPr lang="en-US" altLang="zh-CN" dirty="0">
                    <a:latin typeface="Arial" panose="020B0604020202020204" pitchFamily="34" charset="0"/>
                    <a:ea typeface="Arial" panose="020B0604020202020204" pitchFamily="34" charset="0"/>
                  </a:endParaRPr>
                </a:p>
              </p:txBody>
            </p:sp>
            <p:sp>
              <p:nvSpPr>
                <p:cNvPr id="46109" name="Rectangle 34"/>
                <p:cNvSpPr/>
                <p:nvPr/>
              </p:nvSpPr>
              <p:spPr>
                <a:xfrm>
                  <a:off x="5049" y="2920"/>
                  <a:ext cx="270"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ZF</a:t>
                  </a:r>
                  <a:endParaRPr lang="en-US" altLang="zh-CN" dirty="0">
                    <a:latin typeface="Arial" panose="020B0604020202020204" pitchFamily="34" charset="0"/>
                    <a:ea typeface="Arial" panose="020B0604020202020204" pitchFamily="34" charset="0"/>
                  </a:endParaRPr>
                </a:p>
              </p:txBody>
            </p:sp>
            <p:sp>
              <p:nvSpPr>
                <p:cNvPr id="46110" name="Line 35"/>
                <p:cNvSpPr/>
                <p:nvPr/>
              </p:nvSpPr>
              <p:spPr>
                <a:xfrm>
                  <a:off x="4479" y="2635"/>
                  <a:ext cx="0" cy="231"/>
                </a:xfrm>
                <a:prstGeom prst="line">
                  <a:avLst/>
                </a:prstGeom>
                <a:ln w="12700" cap="flat" cmpd="sng">
                  <a:solidFill>
                    <a:schemeClr val="tx1"/>
                  </a:solidFill>
                  <a:prstDash val="solid"/>
                  <a:round/>
                  <a:headEnd type="none" w="med" len="med"/>
                  <a:tailEnd type="triangle" w="med" len="med"/>
                </a:ln>
              </p:spPr>
            </p:sp>
            <p:sp>
              <p:nvSpPr>
                <p:cNvPr id="46111" name="Rectangle 36"/>
                <p:cNvSpPr/>
                <p:nvPr/>
              </p:nvSpPr>
              <p:spPr>
                <a:xfrm>
                  <a:off x="4512" y="2672"/>
                  <a:ext cx="320"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Cin</a:t>
                  </a:r>
                  <a:endParaRPr lang="en-US" altLang="zh-CN" dirty="0">
                    <a:latin typeface="Arial" panose="020B0604020202020204" pitchFamily="34" charset="0"/>
                    <a:ea typeface="Arial" panose="020B0604020202020204" pitchFamily="34" charset="0"/>
                  </a:endParaRPr>
                </a:p>
              </p:txBody>
            </p:sp>
            <p:sp>
              <p:nvSpPr>
                <p:cNvPr id="46112" name="Line 37"/>
                <p:cNvSpPr/>
                <p:nvPr/>
              </p:nvSpPr>
              <p:spPr>
                <a:xfrm>
                  <a:off x="4479" y="3584"/>
                  <a:ext cx="0" cy="309"/>
                </a:xfrm>
                <a:prstGeom prst="line">
                  <a:avLst/>
                </a:prstGeom>
                <a:ln w="12700" cap="flat" cmpd="sng">
                  <a:solidFill>
                    <a:schemeClr val="tx1"/>
                  </a:solidFill>
                  <a:prstDash val="solid"/>
                  <a:round/>
                  <a:headEnd type="none" w="med" len="med"/>
                  <a:tailEnd type="triangle" w="med" len="med"/>
                </a:ln>
              </p:spPr>
            </p:sp>
            <p:sp>
              <p:nvSpPr>
                <p:cNvPr id="46113" name="Rectangle 38"/>
                <p:cNvSpPr/>
                <p:nvPr/>
              </p:nvSpPr>
              <p:spPr>
                <a:xfrm>
                  <a:off x="4512" y="3740"/>
                  <a:ext cx="405"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Cout</a:t>
                  </a:r>
                  <a:endParaRPr lang="en-US" altLang="zh-CN" dirty="0">
                    <a:latin typeface="Arial" panose="020B0604020202020204" pitchFamily="34" charset="0"/>
                    <a:ea typeface="Arial" panose="020B0604020202020204" pitchFamily="34" charset="0"/>
                  </a:endParaRPr>
                </a:p>
              </p:txBody>
            </p:sp>
            <p:sp>
              <p:nvSpPr>
                <p:cNvPr id="46114" name="Line 39"/>
                <p:cNvSpPr/>
                <p:nvPr/>
              </p:nvSpPr>
              <p:spPr>
                <a:xfrm flipH="1">
                  <a:off x="2371" y="3462"/>
                  <a:ext cx="1039" cy="0"/>
                </a:xfrm>
                <a:prstGeom prst="line">
                  <a:avLst/>
                </a:prstGeom>
                <a:ln w="12700" cap="flat" cmpd="sng">
                  <a:solidFill>
                    <a:schemeClr val="tx1"/>
                  </a:solidFill>
                  <a:prstDash val="solid"/>
                  <a:round/>
                  <a:headEnd type="triangle" w="med" len="med"/>
                  <a:tailEnd type="none" w="med" len="med"/>
                </a:ln>
              </p:spPr>
            </p:sp>
            <p:sp>
              <p:nvSpPr>
                <p:cNvPr id="46115" name="Line 40"/>
                <p:cNvSpPr/>
                <p:nvPr/>
              </p:nvSpPr>
              <p:spPr>
                <a:xfrm flipH="1">
                  <a:off x="2537" y="3426"/>
                  <a:ext cx="89" cy="72"/>
                </a:xfrm>
                <a:prstGeom prst="line">
                  <a:avLst/>
                </a:prstGeom>
                <a:ln w="12700" cap="flat" cmpd="sng">
                  <a:solidFill>
                    <a:schemeClr val="tx1"/>
                  </a:solidFill>
                  <a:prstDash val="solid"/>
                  <a:round/>
                  <a:headEnd type="none" w="med" len="med"/>
                  <a:tailEnd type="none" w="med" len="med"/>
                </a:ln>
              </p:spPr>
            </p:sp>
            <p:sp>
              <p:nvSpPr>
                <p:cNvPr id="46116" name="Rectangle 41"/>
                <p:cNvSpPr/>
                <p:nvPr/>
              </p:nvSpPr>
              <p:spPr>
                <a:xfrm>
                  <a:off x="2408" y="3462"/>
                  <a:ext cx="1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6117" name="Rectangle 42"/>
                <p:cNvSpPr/>
                <p:nvPr/>
              </p:nvSpPr>
              <p:spPr>
                <a:xfrm>
                  <a:off x="2202" y="3383"/>
                  <a:ext cx="206" cy="209"/>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B</a:t>
                  </a:r>
                  <a:endParaRPr lang="en-US" altLang="zh-CN" dirty="0">
                    <a:latin typeface="Arial" panose="020B0604020202020204" pitchFamily="34" charset="0"/>
                    <a:ea typeface="Arial" panose="020B0604020202020204" pitchFamily="34" charset="0"/>
                  </a:endParaRPr>
                </a:p>
              </p:txBody>
            </p:sp>
            <p:grpSp>
              <p:nvGrpSpPr>
                <p:cNvPr id="46118" name="Group 43"/>
                <p:cNvGrpSpPr/>
                <p:nvPr/>
              </p:nvGrpSpPr>
              <p:grpSpPr>
                <a:xfrm>
                  <a:off x="2780" y="3574"/>
                  <a:ext cx="290" cy="236"/>
                  <a:chOff x="1816" y="3448"/>
                  <a:chExt cx="336" cy="288"/>
                </a:xfrm>
              </p:grpSpPr>
              <p:sp>
                <p:nvSpPr>
                  <p:cNvPr id="46119" name="Oval 44"/>
                  <p:cNvSpPr/>
                  <p:nvPr/>
                </p:nvSpPr>
                <p:spPr>
                  <a:xfrm>
                    <a:off x="2072" y="3560"/>
                    <a:ext cx="80" cy="80"/>
                  </a:xfrm>
                  <a:prstGeom prst="ellipse">
                    <a:avLst/>
                  </a:prstGeom>
                  <a:noFill/>
                  <a:ln w="254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Times New Roman" panose="02020603050405020304" pitchFamily="18" charset="0"/>
                      <a:ea typeface="宋体" panose="02010600030101010101" pitchFamily="2" charset="-122"/>
                    </a:endParaRPr>
                  </a:p>
                </p:txBody>
              </p:sp>
              <p:sp>
                <p:nvSpPr>
                  <p:cNvPr id="46120" name="Line 45"/>
                  <p:cNvSpPr/>
                  <p:nvPr/>
                </p:nvSpPr>
                <p:spPr>
                  <a:xfrm flipH="1" flipV="1">
                    <a:off x="1816" y="3448"/>
                    <a:ext cx="256" cy="160"/>
                  </a:xfrm>
                  <a:prstGeom prst="line">
                    <a:avLst/>
                  </a:prstGeom>
                  <a:ln w="25400" cap="flat" cmpd="sng">
                    <a:solidFill>
                      <a:schemeClr val="tx1"/>
                    </a:solidFill>
                    <a:prstDash val="solid"/>
                    <a:round/>
                    <a:headEnd type="none" w="med" len="med"/>
                    <a:tailEnd type="none" w="med" len="med"/>
                  </a:ln>
                </p:spPr>
              </p:sp>
              <p:sp>
                <p:nvSpPr>
                  <p:cNvPr id="46121" name="Line 46"/>
                  <p:cNvSpPr/>
                  <p:nvPr/>
                </p:nvSpPr>
                <p:spPr>
                  <a:xfrm flipH="1">
                    <a:off x="1816" y="3608"/>
                    <a:ext cx="256" cy="128"/>
                  </a:xfrm>
                  <a:prstGeom prst="line">
                    <a:avLst/>
                  </a:prstGeom>
                  <a:ln w="25400" cap="flat" cmpd="sng">
                    <a:solidFill>
                      <a:schemeClr val="tx1"/>
                    </a:solidFill>
                    <a:prstDash val="solid"/>
                    <a:round/>
                    <a:headEnd type="none" w="med" len="med"/>
                    <a:tailEnd type="none" w="med" len="med"/>
                  </a:ln>
                </p:spPr>
              </p:sp>
              <p:sp>
                <p:nvSpPr>
                  <p:cNvPr id="46122" name="Line 47"/>
                  <p:cNvSpPr/>
                  <p:nvPr/>
                </p:nvSpPr>
                <p:spPr>
                  <a:xfrm>
                    <a:off x="1824" y="3464"/>
                    <a:ext cx="0" cy="272"/>
                  </a:xfrm>
                  <a:prstGeom prst="line">
                    <a:avLst/>
                  </a:prstGeom>
                  <a:ln w="25400" cap="flat" cmpd="sng">
                    <a:solidFill>
                      <a:schemeClr val="tx1"/>
                    </a:solidFill>
                    <a:prstDash val="solid"/>
                    <a:round/>
                    <a:headEnd type="none" w="med" len="med"/>
                    <a:tailEnd type="none" w="med" len="med"/>
                  </a:ln>
                </p:spPr>
              </p:sp>
            </p:grpSp>
            <p:sp>
              <p:nvSpPr>
                <p:cNvPr id="46123" name="Line 48"/>
                <p:cNvSpPr/>
                <p:nvPr/>
              </p:nvSpPr>
              <p:spPr>
                <a:xfrm>
                  <a:off x="2664" y="3465"/>
                  <a:ext cx="0" cy="231"/>
                </a:xfrm>
                <a:prstGeom prst="line">
                  <a:avLst/>
                </a:prstGeom>
                <a:ln w="12700" cap="flat" cmpd="sng">
                  <a:solidFill>
                    <a:schemeClr val="tx1"/>
                  </a:solidFill>
                  <a:prstDash val="solid"/>
                  <a:round/>
                  <a:headEnd type="none" w="med" len="med"/>
                  <a:tailEnd type="none" w="med" len="med"/>
                </a:ln>
              </p:spPr>
            </p:sp>
            <p:sp>
              <p:nvSpPr>
                <p:cNvPr id="46124" name="Line 49"/>
                <p:cNvSpPr/>
                <p:nvPr/>
              </p:nvSpPr>
              <p:spPr>
                <a:xfrm>
                  <a:off x="2667" y="3698"/>
                  <a:ext cx="117" cy="0"/>
                </a:xfrm>
                <a:prstGeom prst="line">
                  <a:avLst/>
                </a:prstGeom>
                <a:ln w="12700" cap="flat" cmpd="sng">
                  <a:solidFill>
                    <a:schemeClr val="tx1"/>
                  </a:solidFill>
                  <a:prstDash val="solid"/>
                  <a:round/>
                  <a:headEnd type="none" w="med" len="med"/>
                  <a:tailEnd type="none" w="med" len="med"/>
                </a:ln>
              </p:spPr>
            </p:sp>
            <p:sp>
              <p:nvSpPr>
                <p:cNvPr id="46125" name="Line 50"/>
                <p:cNvSpPr/>
                <p:nvPr/>
              </p:nvSpPr>
              <p:spPr>
                <a:xfrm flipH="1">
                  <a:off x="3073" y="3698"/>
                  <a:ext cx="337" cy="0"/>
                </a:xfrm>
                <a:prstGeom prst="line">
                  <a:avLst/>
                </a:prstGeom>
                <a:ln w="12700" cap="flat" cmpd="sng">
                  <a:solidFill>
                    <a:schemeClr val="tx1"/>
                  </a:solidFill>
                  <a:prstDash val="solid"/>
                  <a:round/>
                  <a:headEnd type="triangle" w="med" len="med"/>
                  <a:tailEnd type="none" w="med" len="med"/>
                </a:ln>
              </p:spPr>
            </p:sp>
            <p:sp>
              <p:nvSpPr>
                <p:cNvPr id="46126" name="Line 51"/>
                <p:cNvSpPr/>
                <p:nvPr/>
              </p:nvSpPr>
              <p:spPr>
                <a:xfrm flipH="1">
                  <a:off x="3155" y="3663"/>
                  <a:ext cx="89" cy="72"/>
                </a:xfrm>
                <a:prstGeom prst="line">
                  <a:avLst/>
                </a:prstGeom>
                <a:ln w="12700" cap="flat" cmpd="sng">
                  <a:solidFill>
                    <a:schemeClr val="tx1"/>
                  </a:solidFill>
                  <a:prstDash val="solid"/>
                  <a:round/>
                  <a:headEnd type="none" w="med" len="med"/>
                  <a:tailEnd type="none" w="med" len="med"/>
                </a:ln>
              </p:spPr>
            </p:sp>
            <p:sp>
              <p:nvSpPr>
                <p:cNvPr id="46127" name="Rectangle 52"/>
                <p:cNvSpPr/>
                <p:nvPr/>
              </p:nvSpPr>
              <p:spPr>
                <a:xfrm>
                  <a:off x="3058" y="3709"/>
                  <a:ext cx="1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n</a:t>
                  </a:r>
                  <a:endParaRPr lang="en-US" altLang="zh-CN" dirty="0">
                    <a:latin typeface="Arial" panose="020B0604020202020204" pitchFamily="34" charset="0"/>
                    <a:ea typeface="Arial" panose="020B0604020202020204" pitchFamily="34" charset="0"/>
                  </a:endParaRPr>
                </a:p>
              </p:txBody>
            </p:sp>
            <p:sp>
              <p:nvSpPr>
                <p:cNvPr id="46128" name="Rectangle 53"/>
                <p:cNvSpPr/>
                <p:nvPr/>
              </p:nvSpPr>
              <p:spPr>
                <a:xfrm>
                  <a:off x="3413" y="3271"/>
                  <a:ext cx="316" cy="658"/>
                </a:xfrm>
                <a:prstGeom prst="rect">
                  <a:avLst/>
                </a:prstGeom>
                <a:noFill/>
                <a:ln w="25400"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Times New Roman" panose="02020603050405020304" pitchFamily="18" charset="0"/>
                    <a:ea typeface="宋体" panose="02010600030101010101" pitchFamily="2" charset="-122"/>
                  </a:endParaRPr>
                </a:p>
              </p:txBody>
            </p:sp>
            <p:sp>
              <p:nvSpPr>
                <p:cNvPr id="46129" name="Rectangle 54"/>
                <p:cNvSpPr/>
                <p:nvPr/>
              </p:nvSpPr>
              <p:spPr>
                <a:xfrm>
                  <a:off x="3385" y="3353"/>
                  <a:ext cx="162" cy="171"/>
                </a:xfrm>
                <a:prstGeom prst="rect">
                  <a:avLst/>
                </a:prstGeom>
                <a:noFill/>
                <a:ln w="12700">
                  <a:noFill/>
                </a:ln>
              </p:spPr>
              <p:txBody>
                <a:bodyPr wrap="none" lIns="90488" tIns="44450" rIns="90488" bIns="44450" anchor="t" anchorCtr="0">
                  <a:spAutoFit/>
                </a:bodyPr>
                <a:p>
                  <a:pPr eaLnBrk="0" hangingPunct="0">
                    <a:buClrTx/>
                    <a:buFontTx/>
                  </a:pPr>
                  <a:r>
                    <a:rPr lang="zh-CN" altLang="en-US" sz="1200" dirty="0">
                      <a:latin typeface="Times New Roman" panose="02020603050405020304" pitchFamily="18" charset="0"/>
                      <a:ea typeface="宋体" panose="02010600030101010101" pitchFamily="2" charset="-122"/>
                    </a:rPr>
                    <a:t>0</a:t>
                  </a:r>
                  <a:endParaRPr lang="zh-CN" altLang="en-US" sz="1200" dirty="0">
                    <a:latin typeface="Times New Roman" panose="02020603050405020304" pitchFamily="18" charset="0"/>
                    <a:ea typeface="宋体" panose="02010600030101010101" pitchFamily="2" charset="-122"/>
                  </a:endParaRPr>
                </a:p>
              </p:txBody>
            </p:sp>
            <p:sp>
              <p:nvSpPr>
                <p:cNvPr id="46130" name="Rectangle 55"/>
                <p:cNvSpPr/>
                <p:nvPr/>
              </p:nvSpPr>
              <p:spPr>
                <a:xfrm>
                  <a:off x="3372" y="3589"/>
                  <a:ext cx="162" cy="171"/>
                </a:xfrm>
                <a:prstGeom prst="rect">
                  <a:avLst/>
                </a:prstGeom>
                <a:noFill/>
                <a:ln w="12700">
                  <a:noFill/>
                </a:ln>
              </p:spPr>
              <p:txBody>
                <a:bodyPr wrap="none" lIns="90488" tIns="44450" rIns="90488" bIns="44450" anchor="t" anchorCtr="0">
                  <a:spAutoFit/>
                </a:bodyPr>
                <a:p>
                  <a:pPr eaLnBrk="0" hangingPunct="0">
                    <a:buClrTx/>
                    <a:buFontTx/>
                  </a:pPr>
                  <a:r>
                    <a:rPr lang="zh-CN" altLang="en-US" sz="1200" dirty="0">
                      <a:latin typeface="Times New Roman" panose="02020603050405020304" pitchFamily="18" charset="0"/>
                      <a:ea typeface="宋体" panose="02010600030101010101" pitchFamily="2" charset="-122"/>
                    </a:rPr>
                    <a:t>1</a:t>
                  </a:r>
                  <a:endParaRPr lang="zh-CN" altLang="en-US" sz="1200" dirty="0">
                    <a:latin typeface="Times New Roman" panose="02020603050405020304" pitchFamily="18" charset="0"/>
                    <a:ea typeface="宋体" panose="02010600030101010101" pitchFamily="2" charset="-122"/>
                  </a:endParaRPr>
                </a:p>
              </p:txBody>
            </p:sp>
            <p:sp>
              <p:nvSpPr>
                <p:cNvPr id="46131" name="Rectangle 56"/>
                <p:cNvSpPr/>
                <p:nvPr/>
              </p:nvSpPr>
              <p:spPr>
                <a:xfrm rot="5400000">
                  <a:off x="3388" y="3504"/>
                  <a:ext cx="451" cy="211"/>
                </a:xfrm>
                <a:prstGeom prst="rect">
                  <a:avLst/>
                </a:prstGeom>
                <a:noFill/>
                <a:ln w="12700">
                  <a:noFill/>
                </a:ln>
              </p:spPr>
              <p:txBody>
                <a:bodyPr lIns="90488" tIns="44450" rIns="90488" bIns="44450" anchor="t" anchorCtr="0">
                  <a:spAutoFit/>
                </a:bodyPr>
                <a:p>
                  <a:pPr eaLnBrk="0" hangingPunct="0">
                    <a:buClrTx/>
                    <a:buFontTx/>
                  </a:pPr>
                  <a:r>
                    <a:rPr lang="en-US" altLang="zh-CN" dirty="0">
                      <a:latin typeface="Arial" panose="020B0604020202020204" pitchFamily="34" charset="0"/>
                    </a:rPr>
                    <a:t>Mux</a:t>
                  </a:r>
                  <a:endParaRPr lang="en-US" altLang="zh-CN" dirty="0">
                    <a:latin typeface="Arial" panose="020B0604020202020204" pitchFamily="34" charset="0"/>
                    <a:ea typeface="Arial" panose="020B0604020202020204" pitchFamily="34" charset="0"/>
                  </a:endParaRPr>
                </a:p>
              </p:txBody>
            </p:sp>
            <p:sp>
              <p:nvSpPr>
                <p:cNvPr id="46132" name="Line 57"/>
                <p:cNvSpPr/>
                <p:nvPr/>
              </p:nvSpPr>
              <p:spPr>
                <a:xfrm flipV="1">
                  <a:off x="3571" y="2471"/>
                  <a:ext cx="0" cy="797"/>
                </a:xfrm>
                <a:prstGeom prst="line">
                  <a:avLst/>
                </a:prstGeom>
                <a:ln w="12700" cap="flat" cmpd="sng">
                  <a:solidFill>
                    <a:schemeClr val="tx1"/>
                  </a:solidFill>
                  <a:prstDash val="solid"/>
                  <a:round/>
                  <a:headEnd type="triangle" w="med" len="med"/>
                  <a:tailEnd type="none" w="med" len="med"/>
                </a:ln>
              </p:spPr>
            </p:sp>
            <p:sp>
              <p:nvSpPr>
                <p:cNvPr id="46133" name="Rectangle 58"/>
                <p:cNvSpPr/>
                <p:nvPr/>
              </p:nvSpPr>
              <p:spPr>
                <a:xfrm>
                  <a:off x="3467" y="3259"/>
                  <a:ext cx="237" cy="170"/>
                </a:xfrm>
                <a:prstGeom prst="rect">
                  <a:avLst/>
                </a:prstGeom>
                <a:noFill/>
                <a:ln w="12700">
                  <a:noFill/>
                </a:ln>
              </p:spPr>
              <p:txBody>
                <a:bodyPr wrap="none" lIns="90488" tIns="44450" rIns="90488" bIns="44450" anchor="t" anchorCtr="0">
                  <a:spAutoFit/>
                </a:bodyPr>
                <a:p>
                  <a:pPr eaLnBrk="0" hangingPunct="0">
                    <a:buClrTx/>
                    <a:buFontTx/>
                  </a:pPr>
                  <a:r>
                    <a:rPr lang="en-US" altLang="zh-CN" sz="1200" dirty="0">
                      <a:latin typeface="Times New Roman" panose="02020603050405020304" pitchFamily="18" charset="0"/>
                    </a:rPr>
                    <a:t>Sel</a:t>
                  </a:r>
                  <a:endParaRPr lang="en-US" altLang="zh-CN" sz="1200" dirty="0">
                    <a:latin typeface="Times New Roman" panose="02020603050405020304" pitchFamily="18" charset="0"/>
                  </a:endParaRPr>
                </a:p>
              </p:txBody>
            </p:sp>
            <p:sp>
              <p:nvSpPr>
                <p:cNvPr id="46134" name="Line 59"/>
                <p:cNvSpPr/>
                <p:nvPr/>
              </p:nvSpPr>
              <p:spPr>
                <a:xfrm flipH="1">
                  <a:off x="3568" y="2632"/>
                  <a:ext cx="914" cy="0"/>
                </a:xfrm>
                <a:prstGeom prst="line">
                  <a:avLst/>
                </a:prstGeom>
                <a:ln w="12700" cap="flat" cmpd="sng">
                  <a:solidFill>
                    <a:schemeClr val="tx1"/>
                  </a:solidFill>
                  <a:prstDash val="solid"/>
                  <a:round/>
                  <a:headEnd type="none" w="med" len="med"/>
                  <a:tailEnd type="none" w="med" len="med"/>
                </a:ln>
              </p:spPr>
            </p:sp>
            <p:sp>
              <p:nvSpPr>
                <p:cNvPr id="46135" name="Rectangle 60"/>
                <p:cNvSpPr/>
                <p:nvPr/>
              </p:nvSpPr>
              <p:spPr>
                <a:xfrm>
                  <a:off x="3189" y="2442"/>
                  <a:ext cx="355"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Sub</a:t>
                  </a:r>
                  <a:endParaRPr lang="en-US" altLang="zh-CN" dirty="0">
                    <a:latin typeface="Arial" panose="020B0604020202020204" pitchFamily="34" charset="0"/>
                    <a:ea typeface="Arial" panose="020B0604020202020204" pitchFamily="34" charset="0"/>
                  </a:endParaRPr>
                </a:p>
              </p:txBody>
            </p:sp>
            <p:sp>
              <p:nvSpPr>
                <p:cNvPr id="46136" name="Rectangle 62"/>
                <p:cNvSpPr/>
                <p:nvPr/>
              </p:nvSpPr>
              <p:spPr>
                <a:xfrm>
                  <a:off x="3016" y="3504"/>
                  <a:ext cx="206"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B</a:t>
                  </a:r>
                  <a:endParaRPr lang="en-US" altLang="zh-CN" dirty="0">
                    <a:latin typeface="Arial" panose="020B0604020202020204" pitchFamily="34" charset="0"/>
                    <a:ea typeface="Arial" panose="020B0604020202020204" pitchFamily="34" charset="0"/>
                  </a:endParaRPr>
                </a:p>
              </p:txBody>
            </p:sp>
            <p:sp>
              <p:nvSpPr>
                <p:cNvPr id="46137" name="Line 63"/>
                <p:cNvSpPr/>
                <p:nvPr/>
              </p:nvSpPr>
              <p:spPr>
                <a:xfrm>
                  <a:off x="3067" y="3539"/>
                  <a:ext cx="95" cy="0"/>
                </a:xfrm>
                <a:prstGeom prst="line">
                  <a:avLst/>
                </a:prstGeom>
                <a:ln w="28575" cap="flat" cmpd="sng">
                  <a:solidFill>
                    <a:srgbClr val="000000"/>
                  </a:solidFill>
                  <a:prstDash val="solid"/>
                  <a:round/>
                  <a:headEnd type="none" w="med" len="med"/>
                  <a:tailEnd type="none" w="med" len="med"/>
                </a:ln>
              </p:spPr>
            </p:sp>
            <p:sp>
              <p:nvSpPr>
                <p:cNvPr id="46138" name="Line 64"/>
                <p:cNvSpPr/>
                <p:nvPr/>
              </p:nvSpPr>
              <p:spPr>
                <a:xfrm>
                  <a:off x="4640" y="3048"/>
                  <a:ext cx="401" cy="0"/>
                </a:xfrm>
                <a:prstGeom prst="line">
                  <a:avLst/>
                </a:prstGeom>
                <a:ln w="12700" cap="flat" cmpd="sng">
                  <a:solidFill>
                    <a:srgbClr val="000000"/>
                  </a:solidFill>
                  <a:prstDash val="solid"/>
                  <a:round/>
                  <a:headEnd type="none" w="med" len="med"/>
                  <a:tailEnd type="triangle" w="med" len="med"/>
                </a:ln>
              </p:spPr>
            </p:sp>
            <p:sp>
              <p:nvSpPr>
                <p:cNvPr id="46139" name="Line 65"/>
                <p:cNvSpPr/>
                <p:nvPr/>
              </p:nvSpPr>
              <p:spPr>
                <a:xfrm>
                  <a:off x="4657" y="3447"/>
                  <a:ext cx="402" cy="0"/>
                </a:xfrm>
                <a:prstGeom prst="line">
                  <a:avLst/>
                </a:prstGeom>
                <a:ln w="12700" cap="flat" cmpd="sng">
                  <a:solidFill>
                    <a:srgbClr val="000000"/>
                  </a:solidFill>
                  <a:prstDash val="solid"/>
                  <a:round/>
                  <a:headEnd type="none" w="med" len="med"/>
                  <a:tailEnd type="triangle" w="med" len="med"/>
                </a:ln>
              </p:spPr>
            </p:sp>
            <p:sp>
              <p:nvSpPr>
                <p:cNvPr id="46140" name="Rectangle 66"/>
                <p:cNvSpPr/>
                <p:nvPr/>
              </p:nvSpPr>
              <p:spPr>
                <a:xfrm>
                  <a:off x="5040" y="3370"/>
                  <a:ext cx="292" cy="210"/>
                </a:xfrm>
                <a:prstGeom prst="rect">
                  <a:avLst/>
                </a:prstGeom>
                <a:noFill/>
                <a:ln w="12700">
                  <a:noFill/>
                </a:ln>
              </p:spPr>
              <p:txBody>
                <a:bodyPr wrap="none" lIns="90488" tIns="44450" rIns="90488" bIns="44450" anchor="t" anchorCtr="0">
                  <a:spAutoFit/>
                </a:bodyPr>
                <a:p>
                  <a:pPr eaLnBrk="0" hangingPunct="0">
                    <a:buClrTx/>
                    <a:buFontTx/>
                  </a:pPr>
                  <a:r>
                    <a:rPr lang="en-US" altLang="zh-CN" dirty="0">
                      <a:latin typeface="Arial" panose="020B0604020202020204" pitchFamily="34" charset="0"/>
                    </a:rPr>
                    <a:t>OF</a:t>
                  </a:r>
                  <a:endParaRPr lang="en-US" altLang="zh-CN" dirty="0">
                    <a:latin typeface="Arial" panose="020B0604020202020204" pitchFamily="34" charset="0"/>
                    <a:ea typeface="Arial" panose="020B0604020202020204" pitchFamily="34" charset="0"/>
                  </a:endParaRPr>
                </a:p>
              </p:txBody>
            </p:sp>
          </p:grpSp>
          <p:sp>
            <p:nvSpPr>
              <p:cNvPr id="46141" name="Text Box 68"/>
              <p:cNvSpPr txBox="1"/>
              <p:nvPr/>
            </p:nvSpPr>
            <p:spPr>
              <a:xfrm>
                <a:off x="5278438" y="6378575"/>
                <a:ext cx="2386013" cy="396875"/>
              </a:xfrm>
              <a:prstGeom prst="rect">
                <a:avLst/>
              </a:prstGeom>
              <a:noFill/>
              <a:ln w="12700">
                <a:noFill/>
              </a:ln>
            </p:spPr>
            <p:txBody>
              <a:bodyPr anchor="t" anchorCtr="0">
                <a:spAutoFit/>
              </a:bodyPr>
              <a:p>
                <a:pPr eaLnBrk="0" hangingPunct="0">
                  <a:spcBef>
                    <a:spcPct val="50000"/>
                  </a:spcBef>
                  <a:buClrTx/>
                  <a:buFontTx/>
                </a:pPr>
                <a:endParaRPr lang="zh-CN" altLang="en-US" sz="2000" dirty="0">
                  <a:solidFill>
                    <a:srgbClr val="C00000"/>
                  </a:solidFill>
                  <a:latin typeface="黑体" panose="02010609060101010101" pitchFamily="49" charset="-122"/>
                  <a:ea typeface="黑体" panose="02010609060101010101" pitchFamily="49" charset="-122"/>
                </a:endParaRPr>
              </a:p>
            </p:txBody>
          </p:sp>
        </p:grpSp>
        <p:sp>
          <p:nvSpPr>
            <p:cNvPr id="46142" name="Line 63"/>
            <p:cNvSpPr/>
            <p:nvPr/>
          </p:nvSpPr>
          <p:spPr>
            <a:xfrm>
              <a:off x="2455" y="1281"/>
              <a:ext cx="680" cy="0"/>
            </a:xfrm>
            <a:prstGeom prst="line">
              <a:avLst/>
            </a:prstGeom>
            <a:ln w="12700" cap="flat" cmpd="sng">
              <a:solidFill>
                <a:schemeClr val="tx1"/>
              </a:solidFill>
              <a:prstDash val="solid"/>
              <a:round/>
              <a:headEnd type="none" w="med" len="med"/>
              <a:tailEnd type="triangle" w="med" len="med"/>
            </a:ln>
          </p:spPr>
        </p:sp>
        <p:sp>
          <p:nvSpPr>
            <p:cNvPr id="46143" name="Text Box 64"/>
            <p:cNvSpPr txBox="1"/>
            <p:nvPr/>
          </p:nvSpPr>
          <p:spPr>
            <a:xfrm>
              <a:off x="3107" y="1168"/>
              <a:ext cx="340" cy="211"/>
            </a:xfrm>
            <a:prstGeom prst="rect">
              <a:avLst/>
            </a:prstGeom>
            <a:noFill/>
            <a:ln w="12700">
              <a:noFill/>
            </a:ln>
          </p:spPr>
          <p:txBody>
            <a:bodyPr anchor="t" anchorCtr="0">
              <a:spAutoFit/>
            </a:bodyPr>
            <a:p>
              <a:pPr eaLnBrk="0" hangingPunct="0">
                <a:spcBef>
                  <a:spcPct val="50000"/>
                </a:spcBef>
              </a:pPr>
              <a:r>
                <a:rPr lang="en-US" altLang="zh-CN" dirty="0">
                  <a:latin typeface="Arial" panose="020B0604020202020204" pitchFamily="34" charset="0"/>
                </a:rPr>
                <a:t>SF</a:t>
              </a:r>
              <a:endParaRPr lang="en-US" altLang="zh-CN" dirty="0">
                <a:latin typeface="Arial" panose="020B0604020202020204" pitchFamily="34" charset="0"/>
              </a:endParaRPr>
            </a:p>
          </p:txBody>
        </p:sp>
        <p:sp>
          <p:nvSpPr>
            <p:cNvPr id="46144" name="Line 65"/>
            <p:cNvSpPr/>
            <p:nvPr/>
          </p:nvSpPr>
          <p:spPr>
            <a:xfrm>
              <a:off x="2455" y="1508"/>
              <a:ext cx="850" cy="0"/>
            </a:xfrm>
            <a:prstGeom prst="line">
              <a:avLst/>
            </a:prstGeom>
            <a:ln w="12700" cap="flat" cmpd="sng">
              <a:solidFill>
                <a:schemeClr val="tx1"/>
              </a:solidFill>
              <a:prstDash val="solid"/>
              <a:round/>
              <a:headEnd type="none" w="med" len="med"/>
              <a:tailEnd type="triangle" w="med" len="med"/>
            </a:ln>
          </p:spPr>
        </p:sp>
        <p:sp>
          <p:nvSpPr>
            <p:cNvPr id="46145" name="Text Box 66"/>
            <p:cNvSpPr txBox="1"/>
            <p:nvPr/>
          </p:nvSpPr>
          <p:spPr>
            <a:xfrm>
              <a:off x="3277" y="1395"/>
              <a:ext cx="344" cy="212"/>
            </a:xfrm>
            <a:prstGeom prst="rect">
              <a:avLst/>
            </a:prstGeom>
            <a:noFill/>
            <a:ln w="12700">
              <a:noFill/>
            </a:ln>
          </p:spPr>
          <p:txBody>
            <a:bodyPr anchor="t" anchorCtr="0">
              <a:spAutoFit/>
            </a:bodyPr>
            <a:p>
              <a:pPr eaLnBrk="0" hangingPunct="0">
                <a:spcBef>
                  <a:spcPct val="50000"/>
                </a:spcBef>
              </a:pPr>
              <a:r>
                <a:rPr lang="en-US" altLang="zh-CN" dirty="0">
                  <a:latin typeface="Arial" panose="020B0604020202020204" pitchFamily="34" charset="0"/>
                </a:rPr>
                <a:t>CF</a:t>
              </a:r>
              <a:endParaRPr lang="en-US" altLang="zh-CN" dirty="0">
                <a:latin typeface="Arial" panose="020B0604020202020204" pitchFamily="34" charset="0"/>
              </a:endParaRPr>
            </a:p>
          </p:txBody>
        </p:sp>
      </p:grpSp>
      <p:sp>
        <p:nvSpPr>
          <p:cNvPr id="46146" name="Rectangle 67"/>
          <p:cNvSpPr/>
          <p:nvPr/>
        </p:nvSpPr>
        <p:spPr>
          <a:xfrm>
            <a:off x="296863" y="2617788"/>
            <a:ext cx="2609850" cy="314325"/>
          </a:xfrm>
          <a:prstGeom prst="rect">
            <a:avLst/>
          </a:prstGeom>
          <a:noFill/>
          <a:ln w="28575" cap="flat" cmpd="sng">
            <a:solidFill>
              <a:srgbClr val="0033CC"/>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6147" name="Rectangle 68"/>
          <p:cNvSpPr/>
          <p:nvPr/>
        </p:nvSpPr>
        <p:spPr>
          <a:xfrm>
            <a:off x="296863" y="3294063"/>
            <a:ext cx="1665287" cy="314325"/>
          </a:xfrm>
          <a:prstGeom prst="rect">
            <a:avLst/>
          </a:prstGeom>
          <a:noFill/>
          <a:ln w="28575" cap="flat" cmpd="sng">
            <a:solidFill>
              <a:srgbClr val="0033CC"/>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46148" name="Group 69"/>
          <p:cNvGrpSpPr/>
          <p:nvPr/>
        </p:nvGrpSpPr>
        <p:grpSpPr>
          <a:xfrm>
            <a:off x="0" y="5408613"/>
            <a:ext cx="4140200" cy="1449387"/>
            <a:chOff x="130" y="3407"/>
            <a:chExt cx="2608" cy="913"/>
          </a:xfrm>
        </p:grpSpPr>
        <p:pic>
          <p:nvPicPr>
            <p:cNvPr id="46149" name="Picture 70"/>
            <p:cNvPicPr>
              <a:picLocks noChangeAspect="1"/>
            </p:cNvPicPr>
            <p:nvPr/>
          </p:nvPicPr>
          <p:blipFill>
            <a:blip r:embed="rId1"/>
            <a:stretch>
              <a:fillRect/>
            </a:stretch>
          </p:blipFill>
          <p:spPr>
            <a:xfrm>
              <a:off x="130" y="3583"/>
              <a:ext cx="2608" cy="737"/>
            </a:xfrm>
            <a:prstGeom prst="rect">
              <a:avLst/>
            </a:prstGeom>
            <a:noFill/>
            <a:ln w="9525">
              <a:noFill/>
            </a:ln>
          </p:spPr>
        </p:pic>
        <p:sp>
          <p:nvSpPr>
            <p:cNvPr id="46150" name="Text Box 71"/>
            <p:cNvSpPr txBox="1"/>
            <p:nvPr/>
          </p:nvSpPr>
          <p:spPr>
            <a:xfrm>
              <a:off x="187" y="3407"/>
              <a:ext cx="1389" cy="250"/>
            </a:xfrm>
            <a:prstGeom prst="rect">
              <a:avLst/>
            </a:prstGeom>
            <a:noFill/>
            <a:ln w="9525">
              <a:noFill/>
            </a:ln>
          </p:spPr>
          <p:txBody>
            <a:bodyPr anchor="t" anchorCtr="0">
              <a:spAutoFit/>
            </a:bodyPr>
            <a:p>
              <a:pPr>
                <a:spcBef>
                  <a:spcPct val="50000"/>
                </a:spcBef>
              </a:pPr>
              <a:r>
                <a:rPr lang="zh-CN" altLang="en-US" sz="2000" dirty="0">
                  <a:solidFill>
                    <a:srgbClr val="CC3300"/>
                  </a:solidFill>
                  <a:latin typeface="Arial" panose="020B0604020202020204" pitchFamily="34" charset="0"/>
                  <a:ea typeface="微软雅黑" panose="020B0503020204020204" pitchFamily="34" charset="-122"/>
                </a:rPr>
                <a:t>无符号加公式：</a:t>
              </a:r>
              <a:endParaRPr lang="zh-CN" altLang="en-US" sz="2000" dirty="0">
                <a:solidFill>
                  <a:srgbClr val="CC3300"/>
                </a:solidFill>
                <a:latin typeface="Arial" panose="020B0604020202020204" pitchFamily="34" charset="0"/>
                <a:ea typeface="微软雅黑" panose="020B0503020204020204" pitchFamily="34" charset="-122"/>
              </a:endParaRPr>
            </a:p>
          </p:txBody>
        </p:sp>
      </p:grpSp>
      <p:grpSp>
        <p:nvGrpSpPr>
          <p:cNvPr id="46151" name="Group 72"/>
          <p:cNvGrpSpPr/>
          <p:nvPr/>
        </p:nvGrpSpPr>
        <p:grpSpPr>
          <a:xfrm>
            <a:off x="4302125" y="5094288"/>
            <a:ext cx="4797425" cy="1665287"/>
            <a:chOff x="2738" y="3271"/>
            <a:chExt cx="3022" cy="1049"/>
          </a:xfrm>
        </p:grpSpPr>
        <p:pic>
          <p:nvPicPr>
            <p:cNvPr id="46152" name="Picture 73"/>
            <p:cNvPicPr>
              <a:picLocks noChangeAspect="1"/>
            </p:cNvPicPr>
            <p:nvPr/>
          </p:nvPicPr>
          <p:blipFill>
            <a:blip r:embed="rId2"/>
            <a:stretch>
              <a:fillRect/>
            </a:stretch>
          </p:blipFill>
          <p:spPr>
            <a:xfrm>
              <a:off x="2738" y="3464"/>
              <a:ext cx="3022" cy="856"/>
            </a:xfrm>
            <a:prstGeom prst="rect">
              <a:avLst/>
            </a:prstGeom>
            <a:noFill/>
            <a:ln w="9525">
              <a:noFill/>
            </a:ln>
          </p:spPr>
        </p:pic>
        <p:sp>
          <p:nvSpPr>
            <p:cNvPr id="46153" name="Text Box 74"/>
            <p:cNvSpPr txBox="1"/>
            <p:nvPr/>
          </p:nvSpPr>
          <p:spPr>
            <a:xfrm>
              <a:off x="2823" y="3271"/>
              <a:ext cx="1871" cy="250"/>
            </a:xfrm>
            <a:prstGeom prst="rect">
              <a:avLst/>
            </a:prstGeom>
            <a:noFill/>
            <a:ln w="9525">
              <a:noFill/>
            </a:ln>
          </p:spPr>
          <p:txBody>
            <a:bodyPr anchor="t" anchorCtr="0">
              <a:spAutoFit/>
            </a:bodyPr>
            <a:p>
              <a:pPr>
                <a:spcBef>
                  <a:spcPct val="50000"/>
                </a:spcBef>
              </a:pPr>
              <a:r>
                <a:rPr lang="zh-CN" altLang="en-US" sz="2000" dirty="0">
                  <a:solidFill>
                    <a:srgbClr val="CC3300"/>
                  </a:solidFill>
                  <a:latin typeface="Arial" panose="020B0604020202020204" pitchFamily="34" charset="0"/>
                  <a:ea typeface="微软雅黑" panose="020B0503020204020204" pitchFamily="34" charset="-122"/>
                </a:rPr>
                <a:t>带符号加公式：</a:t>
              </a:r>
              <a:endParaRPr lang="zh-CN" altLang="en-US" sz="2000" dirty="0">
                <a:solidFill>
                  <a:srgbClr val="CC3300"/>
                </a:solidFill>
                <a:latin typeface="Arial" panose="020B0604020202020204" pitchFamily="34" charset="0"/>
                <a:ea typeface="微软雅黑" panose="020B0503020204020204" pitchFamily="34" charset="-122"/>
              </a:endParaRPr>
            </a:p>
          </p:txBody>
        </p:sp>
      </p:grpSp>
      <p:sp>
        <p:nvSpPr>
          <p:cNvPr id="46154" name="Rectangle 75"/>
          <p:cNvSpPr/>
          <p:nvPr/>
        </p:nvSpPr>
        <p:spPr>
          <a:xfrm>
            <a:off x="1106488" y="6219825"/>
            <a:ext cx="2971800" cy="539750"/>
          </a:xfrm>
          <a:prstGeom prst="rect">
            <a:avLst/>
          </a:prstGeom>
          <a:solidFill>
            <a:srgbClr val="FF0000">
              <a:alpha val="25882"/>
            </a:srgbClr>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46155" name="Rectangle 76"/>
          <p:cNvSpPr/>
          <p:nvPr/>
        </p:nvSpPr>
        <p:spPr>
          <a:xfrm>
            <a:off x="5246688" y="5545138"/>
            <a:ext cx="3779837" cy="404812"/>
          </a:xfrm>
          <a:prstGeom prst="rect">
            <a:avLst/>
          </a:prstGeom>
          <a:solidFill>
            <a:srgbClr val="008000">
              <a:alpha val="30980"/>
            </a:srgbClr>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原码加</a:t>
            </a:r>
            <a:r>
              <a:rPr lang="en-US" altLang="zh-CN" dirty="0">
                <a:ea typeface="宋体" panose="02010600030101010101" pitchFamily="2" charset="-122"/>
              </a:rPr>
              <a:t>/</a:t>
            </a:r>
            <a:r>
              <a:rPr lang="zh-CN" altLang="en-US" dirty="0">
                <a:ea typeface="宋体" panose="02010600030101010101" pitchFamily="2" charset="-122"/>
              </a:rPr>
              <a:t>减运算</a:t>
            </a:r>
            <a:endParaRPr lang="zh-CN" altLang="en-US" dirty="0">
              <a:ea typeface="宋体" panose="02010600030101010101" pitchFamily="2" charset="-122"/>
            </a:endParaRPr>
          </a:p>
        </p:txBody>
      </p:sp>
      <p:sp>
        <p:nvSpPr>
          <p:cNvPr id="420867" name="Rectangle 3"/>
          <p:cNvSpPr>
            <a:spLocks noGrp="1"/>
          </p:cNvSpPr>
          <p:nvPr>
            <p:ph idx="1"/>
          </p:nvPr>
        </p:nvSpPr>
        <p:spPr>
          <a:xfrm>
            <a:off x="434975" y="812800"/>
            <a:ext cx="8562975" cy="5407025"/>
          </a:xfrm>
          <a:ln/>
        </p:spPr>
        <p:txBody>
          <a:bodyPr vert="horz" wrap="square" lIns="63500" tIns="25400" rIns="63500" bIns="25400" anchor="t" anchorCtr="0">
            <a:spAutoFit/>
          </a:bodyPr>
          <a:p>
            <a:pPr marL="419100" indent="-419100"/>
            <a:r>
              <a:rPr lang="zh-CN" altLang="en-US" sz="2000" dirty="0">
                <a:latin typeface="黑体" panose="02010609060101010101" pitchFamily="49" charset="-122"/>
                <a:ea typeface="黑体" panose="02010609060101010101" pitchFamily="49" charset="-122"/>
              </a:rPr>
              <a:t>用于浮点数尾数运算</a:t>
            </a:r>
            <a:endParaRPr lang="zh-CN" altLang="en-US" sz="2000" dirty="0">
              <a:latin typeface="黑体" panose="02010609060101010101" pitchFamily="49" charset="-122"/>
              <a:ea typeface="黑体" panose="02010609060101010101" pitchFamily="49" charset="-122"/>
            </a:endParaRPr>
          </a:p>
          <a:p>
            <a:pPr marL="419100" indent="-419100"/>
            <a:r>
              <a:rPr lang="zh-CN" altLang="en-US" sz="2000" dirty="0">
                <a:latin typeface="黑体" panose="02010609060101010101" pitchFamily="49" charset="-122"/>
                <a:ea typeface="黑体" panose="02010609060101010101" pitchFamily="49" charset="-122"/>
              </a:rPr>
              <a:t>符号位和数值部分分开处理</a:t>
            </a:r>
            <a:endParaRPr lang="zh-CN" altLang="en-US" sz="2000" dirty="0">
              <a:latin typeface="黑体" panose="02010609060101010101" pitchFamily="49" charset="-122"/>
              <a:ea typeface="黑体" panose="02010609060101010101" pitchFamily="49" charset="-122"/>
            </a:endParaRPr>
          </a:p>
          <a:p>
            <a:pPr marL="419100" indent="-419100"/>
            <a:r>
              <a:rPr lang="zh-CN" altLang="en-US" sz="2000" dirty="0">
                <a:latin typeface="黑体" panose="02010609060101010101" pitchFamily="49" charset="-122"/>
                <a:ea typeface="黑体" panose="02010609060101010101" pitchFamily="49" charset="-122"/>
              </a:rPr>
              <a:t>仅对数值部分进行加减运算，符号位起判断和控制作用</a:t>
            </a:r>
            <a:endParaRPr lang="zh-CN" altLang="en-US" sz="2000" dirty="0">
              <a:latin typeface="黑体" panose="02010609060101010101" pitchFamily="49" charset="-122"/>
              <a:ea typeface="黑体" panose="02010609060101010101" pitchFamily="49" charset="-122"/>
            </a:endParaRPr>
          </a:p>
          <a:p>
            <a:pPr marL="419100" indent="-419100"/>
            <a:r>
              <a:rPr lang="zh-CN" altLang="en-US" sz="2000" dirty="0">
                <a:latin typeface="黑体" panose="02010609060101010101" pitchFamily="49" charset="-122"/>
                <a:ea typeface="黑体" panose="02010609060101010101" pitchFamily="49" charset="-122"/>
              </a:rPr>
              <a:t>规则如下：</a:t>
            </a:r>
            <a:endParaRPr lang="zh-CN" altLang="en-US" sz="2000" dirty="0">
              <a:latin typeface="黑体" panose="02010609060101010101" pitchFamily="49" charset="-122"/>
              <a:ea typeface="黑体" panose="02010609060101010101" pitchFamily="49" charset="-122"/>
            </a:endParaRPr>
          </a:p>
          <a:p>
            <a:pPr marL="876300" lvl="1" indent="-381000"/>
            <a:r>
              <a:rPr lang="zh-CN" altLang="en-US" dirty="0">
                <a:latin typeface="黑体" panose="02010609060101010101" pitchFamily="49" charset="-122"/>
                <a:ea typeface="黑体" panose="02010609060101010101" pitchFamily="49" charset="-122"/>
              </a:rPr>
              <a:t>比较两数符号，对加法实行</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同号求和，异号求差</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，对减法实行</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异号求和，同号求差</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marL="876300" lvl="1" indent="-381000"/>
            <a:r>
              <a:rPr lang="zh-CN" altLang="en-US" dirty="0">
                <a:latin typeface="黑体" panose="02010609060101010101" pitchFamily="49" charset="-122"/>
                <a:ea typeface="黑体" panose="02010609060101010101" pitchFamily="49" charset="-122"/>
              </a:rPr>
              <a:t>求和：数值位相加，和的符号取被加数（被减数）的符号。若最高位产生进位，则结果溢出。</a:t>
            </a:r>
            <a:endParaRPr lang="zh-CN" altLang="en-US" dirty="0">
              <a:latin typeface="黑体" panose="02010609060101010101" pitchFamily="49" charset="-122"/>
              <a:ea typeface="黑体" panose="02010609060101010101" pitchFamily="49" charset="-122"/>
            </a:endParaRPr>
          </a:p>
          <a:p>
            <a:pPr marL="876300" lvl="1" indent="-381000"/>
            <a:r>
              <a:rPr lang="zh-CN" altLang="en-US" dirty="0">
                <a:latin typeface="黑体" panose="02010609060101010101" pitchFamily="49" charset="-122"/>
                <a:ea typeface="黑体" panose="02010609060101010101" pitchFamily="49" charset="-122"/>
              </a:rPr>
              <a:t>求差：被加数（被减数）加上加数（减数）的补码。</a:t>
            </a:r>
            <a:endParaRPr lang="zh-CN" altLang="en-US" dirty="0">
              <a:latin typeface="黑体" panose="02010609060101010101" pitchFamily="49" charset="-122"/>
              <a:ea typeface="黑体" panose="02010609060101010101" pitchFamily="49" charset="-122"/>
            </a:endParaRPr>
          </a:p>
          <a:p>
            <a:pPr lvl="2">
              <a:buAutoNum type="alphaLcParenR"/>
            </a:pPr>
            <a:r>
              <a:rPr lang="zh-CN" altLang="en-US" sz="2000" dirty="0">
                <a:latin typeface="黑体" panose="02010609060101010101" pitchFamily="49" charset="-122"/>
                <a:ea typeface="黑体" panose="02010609060101010101" pitchFamily="49" charset="-122"/>
              </a:rPr>
              <a:t>最高数值位产生进位表明加法结果为正，所得数值位正确。</a:t>
            </a:r>
            <a:endParaRPr lang="zh-CN" altLang="en-US" sz="2000" dirty="0">
              <a:latin typeface="黑体" panose="02010609060101010101" pitchFamily="49" charset="-122"/>
              <a:ea typeface="黑体" panose="02010609060101010101" pitchFamily="49" charset="-122"/>
            </a:endParaRPr>
          </a:p>
          <a:p>
            <a:pPr lvl="2">
              <a:buAutoNum type="alphaLcParenR"/>
            </a:pPr>
            <a:r>
              <a:rPr lang="zh-CN" altLang="en-US" sz="2000" dirty="0">
                <a:latin typeface="黑体" panose="02010609060101010101" pitchFamily="49" charset="-122"/>
                <a:ea typeface="黑体" panose="02010609060101010101" pitchFamily="49" charset="-122"/>
              </a:rPr>
              <a:t>最高数值位没产生进位表明加法结果为负，得到的是数值位的补码形式，需对结果求补，还原为绝对值形式的数值位。</a:t>
            </a:r>
            <a:endParaRPr lang="zh-CN" altLang="en-US" sz="2000" dirty="0">
              <a:latin typeface="黑体" panose="02010609060101010101" pitchFamily="49" charset="-122"/>
              <a:ea typeface="黑体" panose="02010609060101010101" pitchFamily="49" charset="-122"/>
            </a:endParaRPr>
          </a:p>
          <a:p>
            <a:pPr marL="876300" lvl="1" indent="-381000"/>
            <a:r>
              <a:rPr lang="zh-CN" altLang="en-US" dirty="0">
                <a:latin typeface="黑体" panose="02010609060101010101" pitchFamily="49" charset="-122"/>
                <a:ea typeface="黑体" panose="02010609060101010101" pitchFamily="49" charset="-122"/>
              </a:rPr>
              <a:t>差的符号位：</a:t>
            </a:r>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情况下，符号位取被加数（被减数）的符号；</a:t>
            </a:r>
            <a:endParaRPr lang="zh-CN" altLang="en-US" dirty="0">
              <a:latin typeface="黑体" panose="02010609060101010101" pitchFamily="49" charset="-122"/>
              <a:ea typeface="黑体" panose="02010609060101010101" pitchFamily="49" charset="-122"/>
            </a:endParaRPr>
          </a:p>
          <a:p>
            <a:pPr marL="876300" lvl="1" indent="-381000">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b)</a:t>
            </a:r>
            <a:r>
              <a:rPr lang="zh-CN" altLang="en-US" dirty="0">
                <a:latin typeface="黑体" panose="02010609060101010101" pitchFamily="49" charset="-122"/>
                <a:ea typeface="黑体" panose="02010609060101010101" pitchFamily="49" charset="-122"/>
              </a:rPr>
              <a:t>情况下，符号位为被加数（被减数）的符号取反。</a:t>
            </a:r>
            <a:endParaRPr lang="en-US" altLang="zh-CN"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0867">
                                            <p:txEl>
                                              <p:charRg st="54" end="96"/>
                                            </p:txEl>
                                          </p:spTgt>
                                        </p:tgtEl>
                                        <p:attrNameLst>
                                          <p:attrName>style.visibility</p:attrName>
                                        </p:attrNameLst>
                                      </p:cBhvr>
                                      <p:to>
                                        <p:strVal val="visible"/>
                                      </p:to>
                                    </p:set>
                                    <p:animEffect transition="in" filter="blinds(horizontal)">
                                      <p:cBhvr>
                                        <p:cTn id="7" dur="500"/>
                                        <p:tgtEl>
                                          <p:spTgt spid="420867">
                                            <p:txEl>
                                              <p:charRg st="54" end="9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0867">
                                            <p:txEl>
                                              <p:charRg st="96" end="138"/>
                                            </p:txEl>
                                          </p:spTgt>
                                        </p:tgtEl>
                                        <p:attrNameLst>
                                          <p:attrName>style.visibility</p:attrName>
                                        </p:attrNameLst>
                                      </p:cBhvr>
                                      <p:to>
                                        <p:strVal val="visible"/>
                                      </p:to>
                                    </p:set>
                                    <p:animEffect transition="in" filter="blinds(horizontal)">
                                      <p:cBhvr>
                                        <p:cTn id="12" dur="500"/>
                                        <p:tgtEl>
                                          <p:spTgt spid="420867">
                                            <p:txEl>
                                              <p:charRg st="96" end="1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0867">
                                            <p:txEl>
                                              <p:charRg st="138" end="162"/>
                                            </p:txEl>
                                          </p:spTgt>
                                        </p:tgtEl>
                                        <p:attrNameLst>
                                          <p:attrName>style.visibility</p:attrName>
                                        </p:attrNameLst>
                                      </p:cBhvr>
                                      <p:to>
                                        <p:strVal val="visible"/>
                                      </p:to>
                                    </p:set>
                                    <p:animEffect transition="in" filter="blinds(horizontal)">
                                      <p:cBhvr>
                                        <p:cTn id="17" dur="500"/>
                                        <p:tgtEl>
                                          <p:spTgt spid="420867">
                                            <p:txEl>
                                              <p:charRg st="138" end="16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0867">
                                            <p:txEl>
                                              <p:charRg st="162" end="189"/>
                                            </p:txEl>
                                          </p:spTgt>
                                        </p:tgtEl>
                                        <p:attrNameLst>
                                          <p:attrName>style.visibility</p:attrName>
                                        </p:attrNameLst>
                                      </p:cBhvr>
                                      <p:to>
                                        <p:strVal val="visible"/>
                                      </p:to>
                                    </p:set>
                                    <p:animEffect transition="in" filter="blinds(horizontal)">
                                      <p:cBhvr>
                                        <p:cTn id="22" dur="500"/>
                                        <p:tgtEl>
                                          <p:spTgt spid="420867">
                                            <p:txEl>
                                              <p:charRg st="162" end="189"/>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20867">
                                            <p:txEl>
                                              <p:charRg st="189" end="242"/>
                                            </p:txEl>
                                          </p:spTgt>
                                        </p:tgtEl>
                                        <p:attrNameLst>
                                          <p:attrName>style.visibility</p:attrName>
                                        </p:attrNameLst>
                                      </p:cBhvr>
                                      <p:to>
                                        <p:strVal val="visible"/>
                                      </p:to>
                                    </p:set>
                                    <p:animEffect transition="in" filter="blinds(horizontal)">
                                      <p:cBhvr>
                                        <p:cTn id="25" dur="500"/>
                                        <p:tgtEl>
                                          <p:spTgt spid="420867">
                                            <p:txEl>
                                              <p:charRg st="189" end="24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20867">
                                            <p:txEl>
                                              <p:charRg st="242" end="271"/>
                                            </p:txEl>
                                          </p:spTgt>
                                        </p:tgtEl>
                                        <p:attrNameLst>
                                          <p:attrName>style.visibility</p:attrName>
                                        </p:attrNameLst>
                                      </p:cBhvr>
                                      <p:to>
                                        <p:strVal val="visible"/>
                                      </p:to>
                                    </p:set>
                                    <p:animEffect transition="in" filter="blinds(horizontal)">
                                      <p:cBhvr>
                                        <p:cTn id="30" dur="500"/>
                                        <p:tgtEl>
                                          <p:spTgt spid="420867">
                                            <p:txEl>
                                              <p:charRg st="242" end="271"/>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20867">
                                            <p:txEl>
                                              <p:charRg st="271" end="311"/>
                                            </p:txEl>
                                          </p:spTgt>
                                        </p:tgtEl>
                                        <p:attrNameLst>
                                          <p:attrName>style.visibility</p:attrName>
                                        </p:attrNameLst>
                                      </p:cBhvr>
                                      <p:to>
                                        <p:strVal val="visible"/>
                                      </p:to>
                                    </p:set>
                                    <p:animEffect transition="in" filter="blinds(horizontal)">
                                      <p:cBhvr>
                                        <p:cTn id="33" dur="500"/>
                                        <p:tgtEl>
                                          <p:spTgt spid="420867">
                                            <p:txEl>
                                              <p:charRg st="271" end="3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原码加</a:t>
            </a:r>
            <a:r>
              <a:rPr lang="en-US" altLang="zh-CN" dirty="0">
                <a:ea typeface="宋体" panose="02010600030101010101" pitchFamily="2" charset="-122"/>
              </a:rPr>
              <a:t>/</a:t>
            </a:r>
            <a:r>
              <a:rPr lang="zh-CN" altLang="en-US" dirty="0">
                <a:ea typeface="宋体" panose="02010600030101010101" pitchFamily="2" charset="-122"/>
              </a:rPr>
              <a:t>减运算</a:t>
            </a:r>
            <a:endParaRPr lang="en-US" altLang="zh-CN" dirty="0">
              <a:ea typeface="宋体" panose="02010600030101010101" pitchFamily="2" charset="-122"/>
            </a:endParaRPr>
          </a:p>
        </p:txBody>
      </p:sp>
      <p:sp>
        <p:nvSpPr>
          <p:cNvPr id="425987" name="Rectangle 3"/>
          <p:cNvSpPr>
            <a:spLocks noGrp="1"/>
          </p:cNvSpPr>
          <p:nvPr>
            <p:ph idx="1"/>
          </p:nvPr>
        </p:nvSpPr>
        <p:spPr>
          <a:xfrm>
            <a:off x="282575" y="765175"/>
            <a:ext cx="8699500" cy="5335588"/>
          </a:xfrm>
          <a:ln/>
        </p:spPr>
        <p:txBody>
          <a:bodyPr vert="horz" wrap="square" lIns="63500" tIns="25400" rIns="63500" bIns="25400" anchor="t" anchorCtr="0">
            <a:spAutoFit/>
          </a:bodyPr>
          <a:p>
            <a:pPr>
              <a:lnSpc>
                <a:spcPct val="115000"/>
              </a:lnSpc>
              <a:buNone/>
            </a:pPr>
            <a:r>
              <a:rPr lang="zh-CN" altLang="en-US" sz="2000" dirty="0">
                <a:ea typeface="黑体" panose="02010609060101010101" pitchFamily="49" charset="-122"/>
              </a:rPr>
              <a:t>例</a:t>
            </a:r>
            <a:r>
              <a:rPr lang="en-US" altLang="zh-CN" sz="2000" dirty="0">
                <a:ea typeface="黑体" panose="02010609060101010101" pitchFamily="49" charset="-122"/>
              </a:rPr>
              <a:t>1</a:t>
            </a:r>
            <a:r>
              <a:rPr lang="zh-CN" altLang="en-US" sz="2000" dirty="0">
                <a:ea typeface="黑体" panose="02010609060101010101" pitchFamily="49" charset="-122"/>
              </a:rPr>
              <a:t>：已知 </a:t>
            </a:r>
            <a:r>
              <a:rPr lang="en-US" altLang="zh-CN" sz="2000" dirty="0">
                <a:ea typeface="黑体" panose="02010609060101010101" pitchFamily="49" charset="-122"/>
              </a:rPr>
              <a:t>[X]</a:t>
            </a:r>
            <a:r>
              <a:rPr lang="zh-CN" altLang="en-US" sz="2000" baseline="-25000" dirty="0">
                <a:ea typeface="黑体" panose="02010609060101010101" pitchFamily="49" charset="-122"/>
              </a:rPr>
              <a:t>原</a:t>
            </a:r>
            <a:r>
              <a:rPr lang="zh-CN" altLang="en-US" sz="2000" dirty="0">
                <a:ea typeface="黑体" panose="02010609060101010101" pitchFamily="49" charset="-122"/>
              </a:rPr>
              <a:t> </a:t>
            </a:r>
            <a:r>
              <a:rPr lang="en-US" altLang="zh-CN" sz="2000" dirty="0">
                <a:ea typeface="黑体" panose="02010609060101010101" pitchFamily="49" charset="-122"/>
              </a:rPr>
              <a:t>= 1.0011</a:t>
            </a:r>
            <a:r>
              <a:rPr lang="zh-CN" altLang="en-US" sz="2000" dirty="0">
                <a:ea typeface="黑体" panose="02010609060101010101" pitchFamily="49" charset="-122"/>
              </a:rPr>
              <a:t>，</a:t>
            </a:r>
            <a:r>
              <a:rPr lang="en-US" altLang="zh-CN" sz="2000" dirty="0">
                <a:ea typeface="黑体" panose="02010609060101010101" pitchFamily="49" charset="-122"/>
              </a:rPr>
              <a:t>[Y]</a:t>
            </a:r>
            <a:r>
              <a:rPr lang="zh-CN" altLang="en-US" sz="2000" baseline="-25000" dirty="0">
                <a:ea typeface="黑体" panose="02010609060101010101" pitchFamily="49" charset="-122"/>
              </a:rPr>
              <a:t>原</a:t>
            </a:r>
            <a:r>
              <a:rPr lang="zh-CN" altLang="en-US" sz="2000" dirty="0">
                <a:ea typeface="黑体" panose="02010609060101010101" pitchFamily="49" charset="-122"/>
              </a:rPr>
              <a:t> </a:t>
            </a:r>
            <a:r>
              <a:rPr lang="en-US" altLang="zh-CN" sz="2000" dirty="0">
                <a:ea typeface="黑体" panose="02010609060101010101" pitchFamily="49" charset="-122"/>
              </a:rPr>
              <a:t>= 1.1010</a:t>
            </a:r>
            <a:r>
              <a:rPr lang="zh-CN" altLang="en-US" sz="2000" dirty="0">
                <a:ea typeface="黑体" panose="02010609060101010101" pitchFamily="49" charset="-122"/>
              </a:rPr>
              <a:t>，要求计算</a:t>
            </a:r>
            <a:r>
              <a:rPr lang="en-US" altLang="zh-CN" sz="2000" dirty="0">
                <a:ea typeface="黑体" panose="02010609060101010101" pitchFamily="49" charset="-122"/>
              </a:rPr>
              <a:t>[X+Y]</a:t>
            </a:r>
            <a:r>
              <a:rPr lang="zh-CN" altLang="en-US" sz="2000" baseline="-25000" dirty="0">
                <a:ea typeface="黑体" panose="02010609060101010101" pitchFamily="49" charset="-122"/>
              </a:rPr>
              <a:t>原</a:t>
            </a:r>
            <a:endParaRPr lang="zh-CN" altLang="en-US" sz="2000" baseline="-25000" dirty="0">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解：由原码加减运算规则知：同号相加，则求和，和的符号同被加数符号。</a:t>
            </a:r>
            <a:endParaRPr lang="zh-CN" altLang="en-US" sz="2000" dirty="0">
              <a:solidFill>
                <a:srgbClr val="3333FF"/>
              </a:solidFill>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       所以：和的数值位为：</a:t>
            </a:r>
            <a:r>
              <a:rPr lang="en-US" altLang="zh-CN" sz="2000" dirty="0">
                <a:solidFill>
                  <a:srgbClr val="3333FF"/>
                </a:solidFill>
                <a:ea typeface="黑体" panose="02010609060101010101" pitchFamily="49" charset="-122"/>
              </a:rPr>
              <a:t>0011 + 1010 = 1101  </a:t>
            </a:r>
            <a:r>
              <a:rPr lang="zh-CN" altLang="en-US" sz="2000" dirty="0">
                <a:solidFill>
                  <a:srgbClr val="3333FF"/>
                </a:solidFill>
                <a:ea typeface="黑体" panose="02010609060101010101" pitchFamily="49" charset="-122"/>
              </a:rPr>
              <a:t>（</a:t>
            </a:r>
            <a:r>
              <a:rPr lang="en-US" altLang="zh-CN" sz="2000" dirty="0">
                <a:solidFill>
                  <a:srgbClr val="3333FF"/>
                </a:solidFill>
                <a:ea typeface="黑体" panose="02010609060101010101" pitchFamily="49" charset="-122"/>
              </a:rPr>
              <a:t>ALU</a:t>
            </a:r>
            <a:r>
              <a:rPr lang="zh-CN" altLang="en-US" sz="2000" dirty="0">
                <a:solidFill>
                  <a:srgbClr val="3333FF"/>
                </a:solidFill>
                <a:ea typeface="黑体" panose="02010609060101010101" pitchFamily="49" charset="-122"/>
              </a:rPr>
              <a:t>中无符号数相加）</a:t>
            </a:r>
            <a:endParaRPr lang="zh-CN" altLang="en-US" sz="2000" dirty="0">
              <a:solidFill>
                <a:srgbClr val="3333FF"/>
              </a:solidFill>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                  和的符号位为：</a:t>
            </a:r>
            <a:r>
              <a:rPr lang="en-US" altLang="zh-CN" sz="2000" dirty="0">
                <a:solidFill>
                  <a:srgbClr val="3333FF"/>
                </a:solidFill>
                <a:ea typeface="黑体" panose="02010609060101010101" pitchFamily="49" charset="-122"/>
              </a:rPr>
              <a:t>1</a:t>
            </a:r>
            <a:endParaRPr lang="en-US" altLang="zh-CN" sz="2000" dirty="0">
              <a:solidFill>
                <a:srgbClr val="3333FF"/>
              </a:solidFill>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[X+Y]</a:t>
            </a:r>
            <a:r>
              <a:rPr lang="zh-CN" altLang="en-US" sz="2000" baseline="-25000" dirty="0">
                <a:solidFill>
                  <a:schemeClr val="accent2"/>
                </a:solidFill>
                <a:ea typeface="黑体" panose="02010609060101010101" pitchFamily="49" charset="-122"/>
              </a:rPr>
              <a:t>原</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1.1101</a:t>
            </a:r>
            <a:endParaRPr lang="en-US" altLang="zh-CN" sz="2000" dirty="0">
              <a:solidFill>
                <a:srgbClr val="3333FF"/>
              </a:solidFill>
              <a:ea typeface="黑体" panose="02010609060101010101" pitchFamily="49" charset="-122"/>
            </a:endParaRPr>
          </a:p>
          <a:p>
            <a:pPr>
              <a:lnSpc>
                <a:spcPct val="115000"/>
              </a:lnSpc>
              <a:buNone/>
            </a:pPr>
            <a:endParaRPr lang="en-US" altLang="zh-CN" sz="2000" dirty="0">
              <a:solidFill>
                <a:srgbClr val="3333FF"/>
              </a:solidFill>
              <a:ea typeface="黑体" panose="02010609060101010101" pitchFamily="49" charset="-122"/>
            </a:endParaRPr>
          </a:p>
          <a:p>
            <a:pPr>
              <a:lnSpc>
                <a:spcPct val="115000"/>
              </a:lnSpc>
              <a:buNone/>
            </a:pPr>
            <a:r>
              <a:rPr lang="zh-CN" altLang="en-US" sz="2000" dirty="0">
                <a:ea typeface="黑体" panose="02010609060101010101" pitchFamily="49" charset="-122"/>
              </a:rPr>
              <a:t>例</a:t>
            </a:r>
            <a:r>
              <a:rPr lang="en-US" altLang="zh-CN" sz="2000" dirty="0">
                <a:ea typeface="黑体" panose="02010609060101010101" pitchFamily="49" charset="-122"/>
              </a:rPr>
              <a:t>2 </a:t>
            </a:r>
            <a:r>
              <a:rPr lang="zh-CN" altLang="en-US" sz="2000" dirty="0">
                <a:ea typeface="黑体" panose="02010609060101010101" pitchFamily="49" charset="-122"/>
              </a:rPr>
              <a:t>：已知 </a:t>
            </a:r>
            <a:r>
              <a:rPr lang="en-US" altLang="zh-CN" sz="2000" dirty="0">
                <a:ea typeface="黑体" panose="02010609060101010101" pitchFamily="49" charset="-122"/>
              </a:rPr>
              <a:t>[X]</a:t>
            </a:r>
            <a:r>
              <a:rPr lang="zh-CN" altLang="en-US" sz="2000" baseline="-25000" dirty="0">
                <a:ea typeface="黑体" panose="02010609060101010101" pitchFamily="49" charset="-122"/>
              </a:rPr>
              <a:t>原</a:t>
            </a:r>
            <a:r>
              <a:rPr lang="zh-CN" altLang="en-US" sz="2000" dirty="0">
                <a:ea typeface="黑体" panose="02010609060101010101" pitchFamily="49" charset="-122"/>
              </a:rPr>
              <a:t> </a:t>
            </a:r>
            <a:r>
              <a:rPr lang="en-US" altLang="zh-CN" sz="2000" dirty="0">
                <a:ea typeface="黑体" panose="02010609060101010101" pitchFamily="49" charset="-122"/>
              </a:rPr>
              <a:t>= 1.0011</a:t>
            </a:r>
            <a:r>
              <a:rPr lang="zh-CN" altLang="en-US" sz="2000" dirty="0">
                <a:ea typeface="黑体" panose="02010609060101010101" pitchFamily="49" charset="-122"/>
              </a:rPr>
              <a:t>，</a:t>
            </a:r>
            <a:r>
              <a:rPr lang="en-US" altLang="zh-CN" sz="2000" dirty="0">
                <a:ea typeface="黑体" panose="02010609060101010101" pitchFamily="49" charset="-122"/>
              </a:rPr>
              <a:t>[Y]</a:t>
            </a:r>
            <a:r>
              <a:rPr lang="zh-CN" altLang="en-US" sz="2000" baseline="-25000" dirty="0">
                <a:ea typeface="黑体" panose="02010609060101010101" pitchFamily="49" charset="-122"/>
              </a:rPr>
              <a:t>原</a:t>
            </a:r>
            <a:r>
              <a:rPr lang="zh-CN" altLang="en-US" sz="2000" dirty="0">
                <a:ea typeface="黑体" panose="02010609060101010101" pitchFamily="49" charset="-122"/>
              </a:rPr>
              <a:t> </a:t>
            </a:r>
            <a:r>
              <a:rPr lang="en-US" altLang="zh-CN" sz="2000" dirty="0">
                <a:ea typeface="黑体" panose="02010609060101010101" pitchFamily="49" charset="-122"/>
              </a:rPr>
              <a:t>= 1.1010</a:t>
            </a:r>
            <a:r>
              <a:rPr lang="zh-CN" altLang="en-US" sz="2000" dirty="0">
                <a:ea typeface="黑体" panose="02010609060101010101" pitchFamily="49" charset="-122"/>
              </a:rPr>
              <a:t>，要求计算</a:t>
            </a:r>
            <a:r>
              <a:rPr lang="en-US" altLang="zh-CN" sz="2000" dirty="0">
                <a:ea typeface="黑体" panose="02010609060101010101" pitchFamily="49" charset="-122"/>
              </a:rPr>
              <a:t>[X</a:t>
            </a:r>
            <a:r>
              <a:rPr lang="pt-BR" altLang="zh-CN" sz="2000" dirty="0">
                <a:ea typeface="黑体" panose="02010609060101010101" pitchFamily="49" charset="-122"/>
              </a:rPr>
              <a:t>–</a:t>
            </a:r>
            <a:r>
              <a:rPr lang="en-US" altLang="zh-CN" sz="2000" dirty="0">
                <a:ea typeface="黑体" panose="02010609060101010101" pitchFamily="49" charset="-122"/>
              </a:rPr>
              <a:t>Y]</a:t>
            </a:r>
            <a:r>
              <a:rPr lang="zh-CN" altLang="en-US" sz="2000" baseline="-25000" dirty="0">
                <a:ea typeface="黑体" panose="02010609060101010101" pitchFamily="49" charset="-122"/>
              </a:rPr>
              <a:t>原</a:t>
            </a:r>
            <a:r>
              <a:rPr lang="zh-CN" altLang="en-US" sz="2000" dirty="0">
                <a:ea typeface="黑体" panose="02010609060101010101" pitchFamily="49" charset="-122"/>
              </a:rPr>
              <a:t> </a:t>
            </a:r>
            <a:endParaRPr lang="zh-CN" altLang="en-US" sz="2000" dirty="0">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解：由原码加减运算规则知：同号相减，则求差（补码减法）</a:t>
            </a:r>
            <a:endParaRPr lang="zh-CN" altLang="en-US" sz="2000" dirty="0">
              <a:solidFill>
                <a:srgbClr val="3333FF"/>
              </a:solidFill>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       差的数值位为：</a:t>
            </a:r>
            <a:r>
              <a:rPr lang="en-US" altLang="zh-CN" sz="2000" dirty="0">
                <a:solidFill>
                  <a:srgbClr val="3333FF"/>
                </a:solidFill>
                <a:ea typeface="黑体" panose="02010609060101010101" pitchFamily="49" charset="-122"/>
              </a:rPr>
              <a:t>0011+(1010)</a:t>
            </a:r>
            <a:r>
              <a:rPr lang="zh-CN" altLang="en-US" sz="2000" baseline="-25000" dirty="0">
                <a:solidFill>
                  <a:srgbClr val="3333FF"/>
                </a:solidFill>
                <a:ea typeface="黑体" panose="02010609060101010101" pitchFamily="49" charset="-122"/>
              </a:rPr>
              <a:t>补</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0011 + 0110 = 1001</a:t>
            </a:r>
            <a:r>
              <a:rPr lang="zh-CN" altLang="en-US" sz="2000" dirty="0">
                <a:solidFill>
                  <a:srgbClr val="3333FF"/>
                </a:solidFill>
                <a:ea typeface="黑体" panose="02010609060101010101" pitchFamily="49" charset="-122"/>
              </a:rPr>
              <a:t> </a:t>
            </a:r>
            <a:endParaRPr lang="en-US" altLang="zh-CN" sz="2000" dirty="0">
              <a:solidFill>
                <a:srgbClr val="3333FF"/>
              </a:solidFill>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       最高数值位没有产生进位，表明加法结果为负，需对</a:t>
            </a:r>
            <a:r>
              <a:rPr lang="en-US" altLang="zh-CN" sz="2000" dirty="0">
                <a:solidFill>
                  <a:srgbClr val="3333FF"/>
                </a:solidFill>
                <a:ea typeface="黑体" panose="02010609060101010101" pitchFamily="49" charset="-122"/>
              </a:rPr>
              <a:t>1001</a:t>
            </a:r>
            <a:r>
              <a:rPr lang="zh-CN" altLang="en-US" sz="2000" dirty="0">
                <a:solidFill>
                  <a:srgbClr val="3333FF"/>
                </a:solidFill>
                <a:ea typeface="黑体" panose="02010609060101010101" pitchFamily="49" charset="-122"/>
              </a:rPr>
              <a:t>求补，还    </a:t>
            </a:r>
            <a:endParaRPr lang="zh-CN" altLang="en-US" sz="2000" dirty="0">
              <a:solidFill>
                <a:srgbClr val="3333FF"/>
              </a:solidFill>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       原为绝对值形式的数值位。即：</a:t>
            </a:r>
            <a:r>
              <a:rPr lang="en-US" altLang="zh-CN" sz="2000" dirty="0">
                <a:solidFill>
                  <a:srgbClr val="3333FF"/>
                </a:solidFill>
                <a:ea typeface="黑体" panose="02010609060101010101" pitchFamily="49" charset="-122"/>
              </a:rPr>
              <a:t>(1001)</a:t>
            </a:r>
            <a:r>
              <a:rPr lang="zh-CN" altLang="en-US" sz="2000" baseline="-25000" dirty="0">
                <a:solidFill>
                  <a:srgbClr val="3333FF"/>
                </a:solidFill>
                <a:ea typeface="黑体" panose="02010609060101010101" pitchFamily="49" charset="-122"/>
              </a:rPr>
              <a:t>补</a:t>
            </a:r>
            <a:r>
              <a:rPr lang="en-US" altLang="zh-CN" sz="2000" dirty="0">
                <a:solidFill>
                  <a:srgbClr val="3333FF"/>
                </a:solidFill>
                <a:ea typeface="黑体" panose="02010609060101010101" pitchFamily="49" charset="-122"/>
              </a:rPr>
              <a:t>= 0111</a:t>
            </a:r>
            <a:endParaRPr lang="en-US" altLang="zh-CN" sz="2000" dirty="0">
              <a:solidFill>
                <a:srgbClr val="3333FF"/>
              </a:solidFill>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       差的符号位为</a:t>
            </a:r>
            <a:r>
              <a:rPr lang="en-US" altLang="zh-CN" sz="2000" dirty="0">
                <a:solidFill>
                  <a:srgbClr val="3333FF"/>
                </a:solidFill>
                <a:ea typeface="黑体" panose="02010609060101010101" pitchFamily="49" charset="-122"/>
              </a:rPr>
              <a:t>[X]</a:t>
            </a:r>
            <a:r>
              <a:rPr lang="zh-CN" altLang="en-US" sz="2000" baseline="-25000" dirty="0">
                <a:solidFill>
                  <a:schemeClr val="accent2"/>
                </a:solidFill>
                <a:ea typeface="黑体" panose="02010609060101010101" pitchFamily="49" charset="-122"/>
              </a:rPr>
              <a:t>原</a:t>
            </a:r>
            <a:r>
              <a:rPr lang="zh-CN" altLang="en-US" sz="2000" dirty="0">
                <a:solidFill>
                  <a:srgbClr val="3333FF"/>
                </a:solidFill>
                <a:ea typeface="黑体" panose="02010609060101010101" pitchFamily="49" charset="-122"/>
              </a:rPr>
              <a:t>的符号位取反，即：</a:t>
            </a:r>
            <a:r>
              <a:rPr lang="en-US" altLang="zh-CN" sz="2000" dirty="0">
                <a:solidFill>
                  <a:srgbClr val="3333FF"/>
                </a:solidFill>
                <a:ea typeface="黑体" panose="02010609060101010101" pitchFamily="49" charset="-122"/>
              </a:rPr>
              <a:t>0</a:t>
            </a:r>
            <a:endParaRPr lang="en-US" altLang="zh-CN" sz="2000" dirty="0">
              <a:solidFill>
                <a:srgbClr val="3333FF"/>
              </a:solidFill>
              <a:ea typeface="黑体" panose="02010609060101010101" pitchFamily="49" charset="-122"/>
            </a:endParaRPr>
          </a:p>
          <a:p>
            <a:pPr>
              <a:lnSpc>
                <a:spcPct val="115000"/>
              </a:lnSpc>
              <a:buNone/>
            </a:pP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[X</a:t>
            </a:r>
            <a:r>
              <a:rPr lang="pt-BR" altLang="zh-CN" sz="2000" dirty="0">
                <a:solidFill>
                  <a:srgbClr val="3333FF"/>
                </a:solidFill>
                <a:ea typeface="黑体" panose="02010609060101010101" pitchFamily="49" charset="-122"/>
              </a:rPr>
              <a:t>–</a:t>
            </a:r>
            <a:r>
              <a:rPr lang="en-US" altLang="zh-CN" sz="2000" dirty="0">
                <a:solidFill>
                  <a:srgbClr val="3333FF"/>
                </a:solidFill>
                <a:ea typeface="黑体" panose="02010609060101010101" pitchFamily="49" charset="-122"/>
              </a:rPr>
              <a:t>Y]</a:t>
            </a:r>
            <a:r>
              <a:rPr lang="zh-CN" altLang="en-US" sz="2000" baseline="-25000" dirty="0">
                <a:solidFill>
                  <a:schemeClr val="accent2"/>
                </a:solidFill>
                <a:ea typeface="黑体" panose="02010609060101010101" pitchFamily="49" charset="-122"/>
              </a:rPr>
              <a:t>原</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0.0111</a:t>
            </a:r>
            <a:endParaRPr lang="en-US" altLang="zh-CN" sz="2000" dirty="0">
              <a:solidFill>
                <a:srgbClr val="3333FF"/>
              </a:solidFill>
              <a:ea typeface="黑体" panose="02010609060101010101" pitchFamily="49" charset="-122"/>
            </a:endParaRPr>
          </a:p>
        </p:txBody>
      </p:sp>
      <p:sp>
        <p:nvSpPr>
          <p:cNvPr id="425988" name="Text Box 4"/>
          <p:cNvSpPr txBox="1"/>
          <p:nvPr/>
        </p:nvSpPr>
        <p:spPr>
          <a:xfrm>
            <a:off x="285750" y="6286500"/>
            <a:ext cx="7038975" cy="396875"/>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微软雅黑" panose="020B0503020204020204" pitchFamily="34" charset="-122"/>
                <a:ea typeface="微软雅黑" panose="020B0503020204020204" pitchFamily="34" charset="-122"/>
              </a:rPr>
              <a:t>思考题：如何设计一个基于</a:t>
            </a:r>
            <a:r>
              <a:rPr lang="en-US" altLang="zh-CN" sz="2000" dirty="0">
                <a:solidFill>
                  <a:srgbClr val="FF0066"/>
                </a:solidFill>
                <a:latin typeface="微软雅黑" panose="020B0503020204020204" pitchFamily="34" charset="-122"/>
                <a:ea typeface="微软雅黑" panose="020B0503020204020204" pitchFamily="34" charset="-122"/>
              </a:rPr>
              <a:t>ALU</a:t>
            </a:r>
            <a:r>
              <a:rPr lang="zh-CN" altLang="en-US" sz="2000" dirty="0">
                <a:solidFill>
                  <a:srgbClr val="FF0066"/>
                </a:solidFill>
                <a:latin typeface="微软雅黑" panose="020B0503020204020204" pitchFamily="34" charset="-122"/>
                <a:ea typeface="微软雅黑" panose="020B0503020204020204" pitchFamily="34" charset="-122"/>
              </a:rPr>
              <a:t>的原码加</a:t>
            </a:r>
            <a:r>
              <a:rPr lang="en-US" altLang="zh-CN" sz="2000" dirty="0">
                <a:solidFill>
                  <a:srgbClr val="FF0066"/>
                </a:solidFill>
                <a:latin typeface="微软雅黑" panose="020B0503020204020204" pitchFamily="34" charset="-122"/>
                <a:ea typeface="微软雅黑" panose="020B0503020204020204" pitchFamily="34" charset="-122"/>
              </a:rPr>
              <a:t>/</a:t>
            </a:r>
            <a:r>
              <a:rPr lang="zh-CN" altLang="en-US" sz="2000" dirty="0">
                <a:solidFill>
                  <a:srgbClr val="FF0066"/>
                </a:solidFill>
                <a:latin typeface="微软雅黑" panose="020B0503020204020204" pitchFamily="34" charset="-122"/>
                <a:ea typeface="微软雅黑" panose="020B0503020204020204" pitchFamily="34" charset="-122"/>
              </a:rPr>
              <a:t>减法器？</a:t>
            </a:r>
            <a:endParaRPr lang="en-US" altLang="zh-CN" sz="2000" dirty="0">
              <a:solidFill>
                <a:srgbClr val="FF0066"/>
              </a:solidFill>
              <a:latin typeface="微软雅黑" panose="020B0503020204020204" pitchFamily="34" charset="-122"/>
              <a:ea typeface="微软雅黑" panose="020B0503020204020204" pitchFamily="34" charset="-122"/>
            </a:endParaRPr>
          </a:p>
        </p:txBody>
      </p:sp>
      <p:sp>
        <p:nvSpPr>
          <p:cNvPr id="425989" name="Text Box 5"/>
          <p:cNvSpPr txBox="1"/>
          <p:nvPr/>
        </p:nvSpPr>
        <p:spPr>
          <a:xfrm>
            <a:off x="3924300" y="2219325"/>
            <a:ext cx="4972050" cy="396875"/>
          </a:xfrm>
          <a:prstGeom prst="rect">
            <a:avLst/>
          </a:prstGeom>
          <a:noFill/>
          <a:ln w="12700">
            <a:noFill/>
          </a:ln>
        </p:spPr>
        <p:txBody>
          <a:bodyPr anchor="t" anchorCtr="0">
            <a:spAutoFit/>
          </a:bodyPr>
          <a:p>
            <a:pPr eaLnBrk="0" hangingPunct="0">
              <a:spcBef>
                <a:spcPct val="50000"/>
              </a:spcBef>
            </a:pPr>
            <a:r>
              <a:rPr lang="zh-CN" altLang="en-US" sz="2000" dirty="0">
                <a:solidFill>
                  <a:srgbClr val="CC3300"/>
                </a:solidFill>
                <a:latin typeface="Times New Roman" panose="02020603050405020304" pitchFamily="18" charset="0"/>
                <a:ea typeface="黑体" panose="02010609060101010101" pitchFamily="49" charset="-122"/>
              </a:rPr>
              <a:t>求和：直接加，有进位则溢出，符号同被</a:t>
            </a:r>
            <a:endParaRPr lang="zh-CN" altLang="en-US" sz="2000" dirty="0">
              <a:solidFill>
                <a:srgbClr val="CC3300"/>
              </a:solidFill>
              <a:latin typeface="Times New Roman" panose="02020603050405020304" pitchFamily="18" charset="0"/>
              <a:ea typeface="黑体" panose="02010609060101010101" pitchFamily="49" charset="-122"/>
            </a:endParaRPr>
          </a:p>
        </p:txBody>
      </p:sp>
      <p:sp>
        <p:nvSpPr>
          <p:cNvPr id="425990" name="Text Box 6"/>
          <p:cNvSpPr txBox="1"/>
          <p:nvPr/>
        </p:nvSpPr>
        <p:spPr>
          <a:xfrm>
            <a:off x="4006850" y="5816600"/>
            <a:ext cx="4708525" cy="396875"/>
          </a:xfrm>
          <a:prstGeom prst="rect">
            <a:avLst/>
          </a:prstGeom>
          <a:noFill/>
          <a:ln w="12700">
            <a:noFill/>
          </a:ln>
        </p:spPr>
        <p:txBody>
          <a:bodyPr anchor="t" anchorCtr="0">
            <a:spAutoFit/>
          </a:bodyPr>
          <a:p>
            <a:pPr eaLnBrk="0" hangingPunct="0">
              <a:spcBef>
                <a:spcPct val="50000"/>
              </a:spcBef>
            </a:pPr>
            <a:r>
              <a:rPr lang="zh-CN" altLang="en-US" sz="2000" dirty="0">
                <a:solidFill>
                  <a:srgbClr val="CC3300"/>
                </a:solidFill>
                <a:latin typeface="Times New Roman" panose="02020603050405020304" pitchFamily="18" charset="0"/>
                <a:ea typeface="黑体" panose="02010609060101010101" pitchFamily="49" charset="-122"/>
              </a:rPr>
              <a:t>求差：加补码，不会溢出，符号分情况</a:t>
            </a:r>
            <a:endParaRPr lang="zh-CN" altLang="en-US" sz="2000" dirty="0">
              <a:solidFill>
                <a:srgbClr val="CC33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5987">
                                            <p:txEl>
                                              <p:charRg st="45" end="79"/>
                                            </p:txEl>
                                          </p:spTgt>
                                        </p:tgtEl>
                                        <p:attrNameLst>
                                          <p:attrName>style.visibility</p:attrName>
                                        </p:attrNameLst>
                                      </p:cBhvr>
                                      <p:to>
                                        <p:strVal val="visible"/>
                                      </p:to>
                                    </p:set>
                                    <p:animEffect transition="in" filter="blinds(horizontal)">
                                      <p:cBhvr>
                                        <p:cTn id="7" dur="500"/>
                                        <p:tgtEl>
                                          <p:spTgt spid="425987">
                                            <p:txEl>
                                              <p:charRg st="45" end="7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5987">
                                            <p:txEl>
                                              <p:charRg st="79" end="129"/>
                                            </p:txEl>
                                          </p:spTgt>
                                        </p:tgtEl>
                                        <p:attrNameLst>
                                          <p:attrName>style.visibility</p:attrName>
                                        </p:attrNameLst>
                                      </p:cBhvr>
                                      <p:to>
                                        <p:strVal val="visible"/>
                                      </p:to>
                                    </p:set>
                                    <p:animEffect transition="in" filter="blinds(horizontal)">
                                      <p:cBhvr>
                                        <p:cTn id="10" dur="500"/>
                                        <p:tgtEl>
                                          <p:spTgt spid="425987">
                                            <p:txEl>
                                              <p:charRg st="79" end="129"/>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5987">
                                            <p:txEl>
                                              <p:charRg st="129" end="156"/>
                                            </p:txEl>
                                          </p:spTgt>
                                        </p:tgtEl>
                                        <p:attrNameLst>
                                          <p:attrName>style.visibility</p:attrName>
                                        </p:attrNameLst>
                                      </p:cBhvr>
                                      <p:to>
                                        <p:strVal val="visible"/>
                                      </p:to>
                                    </p:set>
                                    <p:animEffect transition="in" filter="blinds(horizontal)">
                                      <p:cBhvr>
                                        <p:cTn id="13" dur="500"/>
                                        <p:tgtEl>
                                          <p:spTgt spid="425987">
                                            <p:txEl>
                                              <p:charRg st="129" end="15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25987">
                                            <p:txEl>
                                              <p:charRg st="156" end="190"/>
                                            </p:txEl>
                                          </p:spTgt>
                                        </p:tgtEl>
                                        <p:attrNameLst>
                                          <p:attrName>style.visibility</p:attrName>
                                        </p:attrNameLst>
                                      </p:cBhvr>
                                      <p:to>
                                        <p:strVal val="visible"/>
                                      </p:to>
                                    </p:set>
                                    <p:animEffect transition="in" filter="blinds(horizontal)">
                                      <p:cBhvr>
                                        <p:cTn id="16" dur="500"/>
                                        <p:tgtEl>
                                          <p:spTgt spid="425987">
                                            <p:txEl>
                                              <p:charRg st="156" end="19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25989"/>
                                        </p:tgtEl>
                                        <p:attrNameLst>
                                          <p:attrName>style.visibility</p:attrName>
                                        </p:attrNameLst>
                                      </p:cBhvr>
                                      <p:to>
                                        <p:strVal val="visible"/>
                                      </p:to>
                                    </p:set>
                                    <p:animEffect transition="in" filter="blinds(horizontal)">
                                      <p:cBhvr>
                                        <p:cTn id="21" dur="500"/>
                                        <p:tgtEl>
                                          <p:spTgt spid="42598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25987">
                                            <p:txEl>
                                              <p:charRg st="238" end="266"/>
                                            </p:txEl>
                                          </p:spTgt>
                                        </p:tgtEl>
                                        <p:attrNameLst>
                                          <p:attrName>style.visibility</p:attrName>
                                        </p:attrNameLst>
                                      </p:cBhvr>
                                      <p:to>
                                        <p:strVal val="visible"/>
                                      </p:to>
                                    </p:set>
                                    <p:animEffect transition="in" filter="blinds(horizontal)">
                                      <p:cBhvr>
                                        <p:cTn id="26" dur="500"/>
                                        <p:tgtEl>
                                          <p:spTgt spid="425987">
                                            <p:txEl>
                                              <p:charRg st="238" end="26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425987">
                                            <p:txEl>
                                              <p:charRg st="266" end="315"/>
                                            </p:txEl>
                                          </p:spTgt>
                                        </p:tgtEl>
                                        <p:attrNameLst>
                                          <p:attrName>style.visibility</p:attrName>
                                        </p:attrNameLst>
                                      </p:cBhvr>
                                      <p:to>
                                        <p:strVal val="visible"/>
                                      </p:to>
                                    </p:set>
                                    <p:animEffect transition="in" filter="blinds(horizontal)">
                                      <p:cBhvr>
                                        <p:cTn id="29" dur="500"/>
                                        <p:tgtEl>
                                          <p:spTgt spid="425987">
                                            <p:txEl>
                                              <p:charRg st="266" end="315"/>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25987">
                                            <p:txEl>
                                              <p:charRg st="315" end="358"/>
                                            </p:txEl>
                                          </p:spTgt>
                                        </p:tgtEl>
                                        <p:attrNameLst>
                                          <p:attrName>style.visibility</p:attrName>
                                        </p:attrNameLst>
                                      </p:cBhvr>
                                      <p:to>
                                        <p:strVal val="visible"/>
                                      </p:to>
                                    </p:set>
                                    <p:animEffect transition="in" filter="blinds(horizontal)">
                                      <p:cBhvr>
                                        <p:cTn id="32" dur="500"/>
                                        <p:tgtEl>
                                          <p:spTgt spid="425987">
                                            <p:txEl>
                                              <p:charRg st="315" end="358"/>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25987">
                                            <p:txEl>
                                              <p:charRg st="358" end="393"/>
                                            </p:txEl>
                                          </p:spTgt>
                                        </p:tgtEl>
                                        <p:attrNameLst>
                                          <p:attrName>style.visibility</p:attrName>
                                        </p:attrNameLst>
                                      </p:cBhvr>
                                      <p:to>
                                        <p:strVal val="visible"/>
                                      </p:to>
                                    </p:set>
                                    <p:animEffect transition="in" filter="blinds(horizontal)">
                                      <p:cBhvr>
                                        <p:cTn id="35" dur="500"/>
                                        <p:tgtEl>
                                          <p:spTgt spid="425987">
                                            <p:txEl>
                                              <p:charRg st="358" end="393"/>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25987">
                                            <p:txEl>
                                              <p:charRg st="393" end="421"/>
                                            </p:txEl>
                                          </p:spTgt>
                                        </p:tgtEl>
                                        <p:attrNameLst>
                                          <p:attrName>style.visibility</p:attrName>
                                        </p:attrNameLst>
                                      </p:cBhvr>
                                      <p:to>
                                        <p:strVal val="visible"/>
                                      </p:to>
                                    </p:set>
                                    <p:animEffect transition="in" filter="blinds(horizontal)">
                                      <p:cBhvr>
                                        <p:cTn id="38" dur="500"/>
                                        <p:tgtEl>
                                          <p:spTgt spid="425987">
                                            <p:txEl>
                                              <p:charRg st="393" end="421"/>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425987">
                                            <p:txEl>
                                              <p:charRg st="421" end="455"/>
                                            </p:txEl>
                                          </p:spTgt>
                                        </p:tgtEl>
                                        <p:attrNameLst>
                                          <p:attrName>style.visibility</p:attrName>
                                        </p:attrNameLst>
                                      </p:cBhvr>
                                      <p:to>
                                        <p:strVal val="visible"/>
                                      </p:to>
                                    </p:set>
                                    <p:animEffect transition="in" filter="blinds(horizontal)">
                                      <p:cBhvr>
                                        <p:cTn id="41" dur="500"/>
                                        <p:tgtEl>
                                          <p:spTgt spid="425987">
                                            <p:txEl>
                                              <p:charRg st="421" end="45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25990"/>
                                        </p:tgtEl>
                                        <p:attrNameLst>
                                          <p:attrName>style.visibility</p:attrName>
                                        </p:attrNameLst>
                                      </p:cBhvr>
                                      <p:to>
                                        <p:strVal val="visible"/>
                                      </p:to>
                                    </p:set>
                                    <p:animEffect transition="in" filter="blinds(horizontal)">
                                      <p:cBhvr>
                                        <p:cTn id="46" dur="500"/>
                                        <p:tgtEl>
                                          <p:spTgt spid="425990"/>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425988"/>
                                        </p:tgtEl>
                                        <p:attrNameLst>
                                          <p:attrName>style.visibility</p:attrName>
                                        </p:attrNameLst>
                                      </p:cBhvr>
                                      <p:to>
                                        <p:strVal val="visible"/>
                                      </p:to>
                                    </p:set>
                                    <p:animEffect transition="in" filter="blinds(horizontal)">
                                      <p:cBhvr>
                                        <p:cTn id="51" dur="500"/>
                                        <p:tgtEl>
                                          <p:spTgt spid="425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8" grpId="0"/>
      <p:bldP spid="425989" grpId="0"/>
      <p:bldP spid="42599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4"/>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移码加</a:t>
            </a:r>
            <a:r>
              <a:rPr lang="en-US" altLang="zh-CN" dirty="0">
                <a:ea typeface="宋体" panose="02010600030101010101" pitchFamily="2" charset="-122"/>
              </a:rPr>
              <a:t>/</a:t>
            </a:r>
            <a:r>
              <a:rPr lang="zh-CN" altLang="en-US" dirty="0">
                <a:ea typeface="宋体" panose="02010600030101010101" pitchFamily="2" charset="-122"/>
              </a:rPr>
              <a:t>减运算</a:t>
            </a:r>
            <a:endParaRPr lang="zh-CN" altLang="en-US" dirty="0">
              <a:ea typeface="宋体" panose="02010600030101010101" pitchFamily="2" charset="-122"/>
            </a:endParaRPr>
          </a:p>
        </p:txBody>
      </p:sp>
      <p:sp>
        <p:nvSpPr>
          <p:cNvPr id="421893" name="Rectangle 5"/>
          <p:cNvSpPr>
            <a:spLocks noGrp="1"/>
          </p:cNvSpPr>
          <p:nvPr>
            <p:ph idx="1"/>
          </p:nvPr>
        </p:nvSpPr>
        <p:spPr>
          <a:xfrm>
            <a:off x="406400" y="727075"/>
            <a:ext cx="8562975" cy="5626100"/>
          </a:xfrm>
          <a:ln/>
        </p:spPr>
        <p:txBody>
          <a:bodyPr vert="horz" wrap="square" lIns="63500" tIns="25400" rIns="63500" bIns="25400" anchor="t" anchorCtr="0">
            <a:spAutoFit/>
          </a:bodyPr>
          <a:p>
            <a:pPr marL="419100" indent="-419100">
              <a:lnSpc>
                <a:spcPct val="115000"/>
              </a:lnSpc>
            </a:pPr>
            <a:r>
              <a:rPr lang="zh-CN" altLang="en-US" sz="2000" dirty="0">
                <a:ea typeface="黑体" panose="02010609060101010101" pitchFamily="49" charset="-122"/>
              </a:rPr>
              <a:t>用于浮点数阶码运算</a:t>
            </a:r>
            <a:endParaRPr lang="zh-CN" altLang="en-US" sz="2000" dirty="0">
              <a:ea typeface="黑体" panose="02010609060101010101" pitchFamily="49" charset="-122"/>
            </a:endParaRPr>
          </a:p>
          <a:p>
            <a:pPr marL="419100" indent="-419100">
              <a:lnSpc>
                <a:spcPct val="115000"/>
              </a:lnSpc>
            </a:pPr>
            <a:r>
              <a:rPr lang="zh-CN" altLang="en-US" sz="2000" dirty="0">
                <a:ea typeface="黑体" panose="02010609060101010101" pitchFamily="49" charset="-122"/>
              </a:rPr>
              <a:t>符号位和数值部分可以一起处理</a:t>
            </a:r>
            <a:endParaRPr lang="zh-CN" altLang="en-US" sz="2000" dirty="0">
              <a:ea typeface="黑体" panose="02010609060101010101" pitchFamily="49" charset="-122"/>
            </a:endParaRPr>
          </a:p>
          <a:p>
            <a:pPr marL="419100" indent="-419100">
              <a:lnSpc>
                <a:spcPct val="115000"/>
              </a:lnSpc>
            </a:pPr>
            <a:r>
              <a:rPr lang="zh-CN" altLang="en-US" sz="2000" dirty="0">
                <a:ea typeface="黑体" panose="02010609060101010101" pitchFamily="49" charset="-122"/>
              </a:rPr>
              <a:t>运算公式</a:t>
            </a:r>
            <a:r>
              <a:rPr lang="zh-CN" altLang="en-US" sz="2000" dirty="0">
                <a:solidFill>
                  <a:srgbClr val="3333FF"/>
                </a:solidFill>
                <a:ea typeface="黑体" panose="02010609060101010101" pitchFamily="49" charset="-122"/>
              </a:rPr>
              <a:t>（假定在一个</a:t>
            </a:r>
            <a:r>
              <a:rPr lang="en-US" altLang="zh-CN" sz="2000" dirty="0">
                <a:solidFill>
                  <a:srgbClr val="3333FF"/>
                </a:solidFill>
                <a:ea typeface="黑体" panose="02010609060101010101" pitchFamily="49" charset="-122"/>
              </a:rPr>
              <a:t>n</a:t>
            </a:r>
            <a:r>
              <a:rPr lang="zh-CN" altLang="en-US" sz="2000" dirty="0">
                <a:solidFill>
                  <a:srgbClr val="3333FF"/>
                </a:solidFill>
                <a:ea typeface="黑体" panose="02010609060101010101" pitchFamily="49" charset="-122"/>
              </a:rPr>
              <a:t>位</a:t>
            </a:r>
            <a:r>
              <a:rPr lang="en-US" altLang="zh-CN" sz="2000" dirty="0">
                <a:solidFill>
                  <a:srgbClr val="3333FF"/>
                </a:solidFill>
                <a:ea typeface="黑体" panose="02010609060101010101" pitchFamily="49" charset="-122"/>
              </a:rPr>
              <a:t>ALU</a:t>
            </a:r>
            <a:r>
              <a:rPr lang="zh-CN" altLang="en-US" sz="2000" dirty="0">
                <a:solidFill>
                  <a:srgbClr val="3333FF"/>
                </a:solidFill>
                <a:ea typeface="黑体" panose="02010609060101010101" pitchFamily="49" charset="-122"/>
              </a:rPr>
              <a:t>中进行加法运算）</a:t>
            </a:r>
            <a:endParaRPr lang="zh-CN" altLang="en-US" sz="2000" dirty="0">
              <a:solidFill>
                <a:srgbClr val="3333FF"/>
              </a:solidFill>
              <a:ea typeface="黑体" panose="02010609060101010101" pitchFamily="49" charset="-122"/>
            </a:endParaRPr>
          </a:p>
          <a:p>
            <a:pPr marL="419100" indent="-419100">
              <a:lnSpc>
                <a:spcPct val="115000"/>
              </a:lnSpc>
              <a:buNone/>
            </a:pPr>
            <a:r>
              <a:rPr lang="en-US" altLang="zh-CN" sz="2000" dirty="0">
                <a:ea typeface="黑体" panose="02010609060101010101" pitchFamily="49" charset="-122"/>
              </a:rPr>
              <a:t>      [E1]</a:t>
            </a:r>
            <a:r>
              <a:rPr lang="zh-CN" altLang="en-US" sz="2000" baseline="-25000" dirty="0">
                <a:ea typeface="黑体" panose="02010609060101010101" pitchFamily="49" charset="-122"/>
              </a:rPr>
              <a:t>移</a:t>
            </a:r>
            <a:r>
              <a:rPr lang="en-US" altLang="zh-CN" sz="2000" dirty="0">
                <a:ea typeface="黑体" panose="02010609060101010101" pitchFamily="49" charset="-122"/>
              </a:rPr>
              <a:t>+[E2]</a:t>
            </a:r>
            <a:r>
              <a:rPr lang="zh-CN" altLang="en-US" sz="2000" baseline="-25000" dirty="0">
                <a:ea typeface="黑体" panose="02010609060101010101" pitchFamily="49" charset="-122"/>
              </a:rPr>
              <a:t>移</a:t>
            </a:r>
            <a:r>
              <a:rPr lang="en-US" altLang="zh-CN" sz="2000" dirty="0">
                <a:ea typeface="黑体" panose="02010609060101010101" pitchFamily="49" charset="-122"/>
              </a:rPr>
              <a:t>=2</a:t>
            </a:r>
            <a:r>
              <a:rPr lang="en-US" altLang="zh-CN" sz="2000" baseline="30000" dirty="0">
                <a:ea typeface="黑体" panose="02010609060101010101" pitchFamily="49" charset="-122"/>
              </a:rPr>
              <a:t>n-1</a:t>
            </a:r>
            <a:r>
              <a:rPr lang="en-US" altLang="zh-CN" sz="2000" dirty="0">
                <a:ea typeface="黑体" panose="02010609060101010101" pitchFamily="49" charset="-122"/>
              </a:rPr>
              <a:t>+E1+2</a:t>
            </a:r>
            <a:r>
              <a:rPr lang="en-US" altLang="zh-CN" sz="2000" baseline="30000" dirty="0">
                <a:ea typeface="黑体" panose="02010609060101010101" pitchFamily="49" charset="-122"/>
              </a:rPr>
              <a:t>n-1</a:t>
            </a:r>
            <a:r>
              <a:rPr lang="en-US" altLang="zh-CN" sz="2000" dirty="0">
                <a:ea typeface="黑体" panose="02010609060101010101" pitchFamily="49" charset="-122"/>
              </a:rPr>
              <a:t>+E2=2</a:t>
            </a:r>
            <a:r>
              <a:rPr lang="en-US" altLang="zh-CN" sz="2000" baseline="30000" dirty="0">
                <a:ea typeface="黑体" panose="02010609060101010101" pitchFamily="49" charset="-122"/>
              </a:rPr>
              <a:t>n</a:t>
            </a:r>
            <a:r>
              <a:rPr lang="en-US" altLang="zh-CN" sz="2000" dirty="0">
                <a:ea typeface="黑体" panose="02010609060101010101" pitchFamily="49" charset="-122"/>
              </a:rPr>
              <a:t>+E1+E2</a:t>
            </a:r>
            <a:r>
              <a:rPr lang="en-US" altLang="zh-CN" sz="2000" dirty="0">
                <a:solidFill>
                  <a:srgbClr val="FF0066"/>
                </a:solidFill>
                <a:ea typeface="黑体" panose="02010609060101010101" pitchFamily="49" charset="-122"/>
              </a:rPr>
              <a:t>=[E1+E2]</a:t>
            </a:r>
            <a:r>
              <a:rPr lang="zh-CN" altLang="en-US" sz="2000" baseline="-25000" dirty="0">
                <a:solidFill>
                  <a:srgbClr val="FF0066"/>
                </a:solidFill>
                <a:ea typeface="黑体" panose="02010609060101010101" pitchFamily="49" charset="-122"/>
              </a:rPr>
              <a:t>补</a:t>
            </a:r>
            <a:r>
              <a:rPr lang="zh-CN" altLang="en-US" sz="2000" dirty="0">
                <a:ea typeface="黑体" panose="02010609060101010101" pitchFamily="49" charset="-122"/>
              </a:rPr>
              <a:t> （</a:t>
            </a:r>
            <a:r>
              <a:rPr lang="en-US" altLang="zh-CN" sz="2000" dirty="0">
                <a:ea typeface="黑体" panose="02010609060101010101" pitchFamily="49" charset="-122"/>
              </a:rPr>
              <a:t>mod 2</a:t>
            </a:r>
            <a:r>
              <a:rPr lang="en-US" altLang="zh-CN" sz="2000" baseline="30000" dirty="0">
                <a:ea typeface="黑体" panose="02010609060101010101" pitchFamily="49" charset="-122"/>
              </a:rPr>
              <a:t>n</a:t>
            </a:r>
            <a:r>
              <a:rPr lang="zh-CN" altLang="en-US" sz="2000" dirty="0">
                <a:ea typeface="黑体" panose="02010609060101010101" pitchFamily="49" charset="-122"/>
              </a:rPr>
              <a:t>）</a:t>
            </a:r>
            <a:endParaRPr lang="zh-CN" altLang="en-US" sz="2000" dirty="0">
              <a:ea typeface="黑体" panose="02010609060101010101" pitchFamily="49" charset="-122"/>
            </a:endParaRPr>
          </a:p>
          <a:p>
            <a:pPr marL="419100" indent="-419100">
              <a:lnSpc>
                <a:spcPct val="115000"/>
              </a:lnSpc>
              <a:buNone/>
            </a:pPr>
            <a:r>
              <a:rPr lang="en-US" altLang="zh-CN" sz="2000" dirty="0">
                <a:ea typeface="黑体" panose="02010609060101010101" pitchFamily="49" charset="-122"/>
              </a:rPr>
              <a:t>      </a:t>
            </a:r>
            <a:r>
              <a:rPr lang="en-US" altLang="zh-CN" sz="2000" dirty="0">
                <a:solidFill>
                  <a:srgbClr val="009900"/>
                </a:solidFill>
                <a:ea typeface="黑体" panose="02010609060101010101" pitchFamily="49" charset="-122"/>
              </a:rPr>
              <a:t>[E1]</a:t>
            </a:r>
            <a:r>
              <a:rPr lang="zh-CN" altLang="en-US" sz="2000" baseline="-25000" dirty="0">
                <a:solidFill>
                  <a:srgbClr val="009900"/>
                </a:solidFill>
                <a:ea typeface="黑体" panose="02010609060101010101" pitchFamily="49" charset="-122"/>
              </a:rPr>
              <a:t>移</a:t>
            </a:r>
            <a:r>
              <a:rPr lang="en-US" altLang="zh-CN" sz="2000" dirty="0">
                <a:solidFill>
                  <a:srgbClr val="009900"/>
                </a:solidFill>
                <a:ea typeface="黑体" panose="02010609060101010101" pitchFamily="49" charset="-122"/>
              </a:rPr>
              <a:t>–[E2]</a:t>
            </a:r>
            <a:r>
              <a:rPr lang="zh-CN" altLang="en-US" sz="2000" baseline="-25000" dirty="0">
                <a:solidFill>
                  <a:srgbClr val="009900"/>
                </a:solidFill>
                <a:ea typeface="黑体" panose="02010609060101010101" pitchFamily="49" charset="-122"/>
              </a:rPr>
              <a:t>移</a:t>
            </a:r>
            <a:r>
              <a:rPr lang="en-US" altLang="zh-CN" sz="2000" dirty="0">
                <a:solidFill>
                  <a:srgbClr val="009900"/>
                </a:solidFill>
                <a:ea typeface="黑体" panose="02010609060101010101" pitchFamily="49" charset="-122"/>
              </a:rPr>
              <a:t>=[E1]</a:t>
            </a:r>
            <a:r>
              <a:rPr lang="zh-CN" altLang="en-US" sz="2000" baseline="-25000" dirty="0">
                <a:solidFill>
                  <a:srgbClr val="009900"/>
                </a:solidFill>
                <a:ea typeface="黑体" panose="02010609060101010101" pitchFamily="49" charset="-122"/>
              </a:rPr>
              <a:t>移</a:t>
            </a:r>
            <a:r>
              <a:rPr lang="en-US" altLang="zh-CN" sz="2000" dirty="0">
                <a:solidFill>
                  <a:srgbClr val="009900"/>
                </a:solidFill>
                <a:ea typeface="黑体" panose="02010609060101010101" pitchFamily="49" charset="-122"/>
              </a:rPr>
              <a:t>+[–[E2]</a:t>
            </a:r>
            <a:r>
              <a:rPr lang="zh-CN" altLang="en-US" sz="2000" baseline="-25000" dirty="0">
                <a:solidFill>
                  <a:srgbClr val="009900"/>
                </a:solidFill>
                <a:ea typeface="黑体" panose="02010609060101010101" pitchFamily="49" charset="-122"/>
              </a:rPr>
              <a:t>移</a:t>
            </a:r>
            <a:r>
              <a:rPr lang="en-US" altLang="zh-CN" sz="2000" dirty="0">
                <a:solidFill>
                  <a:srgbClr val="009900"/>
                </a:solidFill>
                <a:ea typeface="黑体" panose="02010609060101010101" pitchFamily="49" charset="-122"/>
              </a:rPr>
              <a:t>]</a:t>
            </a:r>
            <a:r>
              <a:rPr lang="zh-CN" altLang="en-US" sz="2000" baseline="-25000" dirty="0">
                <a:solidFill>
                  <a:srgbClr val="009900"/>
                </a:solidFill>
                <a:ea typeface="黑体" panose="02010609060101010101" pitchFamily="49" charset="-122"/>
              </a:rPr>
              <a:t>补</a:t>
            </a:r>
            <a:r>
              <a:rPr lang="en-US" altLang="zh-CN" sz="2000" dirty="0">
                <a:solidFill>
                  <a:srgbClr val="009900"/>
                </a:solidFill>
                <a:ea typeface="黑体" panose="02010609060101010101" pitchFamily="49" charset="-122"/>
              </a:rPr>
              <a:t>=2</a:t>
            </a:r>
            <a:r>
              <a:rPr lang="en-US" altLang="zh-CN" sz="2000" baseline="30000" dirty="0">
                <a:solidFill>
                  <a:srgbClr val="009900"/>
                </a:solidFill>
                <a:ea typeface="黑体" panose="02010609060101010101" pitchFamily="49" charset="-122"/>
              </a:rPr>
              <a:t>n-1</a:t>
            </a:r>
            <a:r>
              <a:rPr lang="en-US" altLang="zh-CN" sz="2000" dirty="0">
                <a:solidFill>
                  <a:srgbClr val="009900"/>
                </a:solidFill>
                <a:ea typeface="黑体" panose="02010609060101010101" pitchFamily="49" charset="-122"/>
              </a:rPr>
              <a:t>+E1+2</a:t>
            </a:r>
            <a:r>
              <a:rPr lang="en-US" altLang="zh-CN" sz="2000" baseline="30000" dirty="0">
                <a:solidFill>
                  <a:srgbClr val="009900"/>
                </a:solidFill>
                <a:ea typeface="黑体" panose="02010609060101010101" pitchFamily="49" charset="-122"/>
              </a:rPr>
              <a:t>n</a:t>
            </a:r>
            <a:r>
              <a:rPr lang="en-US" altLang="zh-CN" sz="2000" dirty="0">
                <a:solidFill>
                  <a:srgbClr val="009900"/>
                </a:solidFill>
                <a:ea typeface="黑体" panose="02010609060101010101" pitchFamily="49" charset="-122"/>
              </a:rPr>
              <a:t>–[E2]</a:t>
            </a:r>
            <a:r>
              <a:rPr lang="zh-CN" altLang="en-US" sz="2000" baseline="-25000" dirty="0">
                <a:solidFill>
                  <a:srgbClr val="009900"/>
                </a:solidFill>
                <a:ea typeface="黑体" panose="02010609060101010101" pitchFamily="49" charset="-122"/>
              </a:rPr>
              <a:t>移</a:t>
            </a:r>
            <a:endParaRPr lang="zh-CN" altLang="en-US" sz="2000" baseline="-25000" dirty="0">
              <a:solidFill>
                <a:srgbClr val="009900"/>
              </a:solidFill>
              <a:ea typeface="黑体" panose="02010609060101010101" pitchFamily="49" charset="-122"/>
            </a:endParaRPr>
          </a:p>
          <a:p>
            <a:pPr marL="419100" indent="-419100">
              <a:lnSpc>
                <a:spcPct val="115000"/>
              </a:lnSpc>
              <a:buNone/>
            </a:pPr>
            <a:r>
              <a:rPr lang="en-US" altLang="zh-CN" sz="2000" baseline="-25000" dirty="0">
                <a:solidFill>
                  <a:srgbClr val="009900"/>
                </a:solidFill>
                <a:ea typeface="黑体" panose="02010609060101010101" pitchFamily="49" charset="-122"/>
              </a:rPr>
              <a:t>                                         </a:t>
            </a:r>
            <a:r>
              <a:rPr lang="en-US" altLang="zh-CN" sz="2000" dirty="0">
                <a:solidFill>
                  <a:srgbClr val="009900"/>
                </a:solidFill>
                <a:ea typeface="黑体" panose="02010609060101010101" pitchFamily="49" charset="-122"/>
              </a:rPr>
              <a:t>=2</a:t>
            </a:r>
            <a:r>
              <a:rPr lang="en-US" altLang="zh-CN" sz="2000" baseline="30000" dirty="0">
                <a:solidFill>
                  <a:srgbClr val="009900"/>
                </a:solidFill>
                <a:ea typeface="黑体" panose="02010609060101010101" pitchFamily="49" charset="-122"/>
              </a:rPr>
              <a:t>n-1</a:t>
            </a:r>
            <a:r>
              <a:rPr lang="en-US" altLang="zh-CN" sz="2000" dirty="0">
                <a:solidFill>
                  <a:srgbClr val="009900"/>
                </a:solidFill>
                <a:ea typeface="黑体" panose="02010609060101010101" pitchFamily="49" charset="-122"/>
              </a:rPr>
              <a:t>+E1+2</a:t>
            </a:r>
            <a:r>
              <a:rPr lang="en-US" altLang="zh-CN" sz="2000" baseline="30000" dirty="0">
                <a:solidFill>
                  <a:srgbClr val="009900"/>
                </a:solidFill>
                <a:ea typeface="黑体" panose="02010609060101010101" pitchFamily="49" charset="-122"/>
              </a:rPr>
              <a:t>n</a:t>
            </a:r>
            <a:r>
              <a:rPr lang="en-US" altLang="zh-CN" sz="2000" dirty="0">
                <a:solidFill>
                  <a:srgbClr val="009900"/>
                </a:solidFill>
                <a:ea typeface="黑体" panose="02010609060101010101" pitchFamily="49" charset="-122"/>
              </a:rPr>
              <a:t>–2</a:t>
            </a:r>
            <a:r>
              <a:rPr lang="en-US" altLang="zh-CN" sz="2000" baseline="30000" dirty="0">
                <a:solidFill>
                  <a:srgbClr val="009900"/>
                </a:solidFill>
                <a:ea typeface="黑体" panose="02010609060101010101" pitchFamily="49" charset="-122"/>
              </a:rPr>
              <a:t>n-1</a:t>
            </a:r>
            <a:r>
              <a:rPr lang="en-US" altLang="zh-CN" sz="2000" dirty="0">
                <a:solidFill>
                  <a:srgbClr val="009900"/>
                </a:solidFill>
                <a:ea typeface="黑体" panose="02010609060101010101" pitchFamily="49" charset="-122"/>
              </a:rPr>
              <a:t>–E2 </a:t>
            </a:r>
            <a:endParaRPr lang="en-US" altLang="zh-CN" sz="2000" dirty="0">
              <a:solidFill>
                <a:srgbClr val="009900"/>
              </a:solidFill>
              <a:ea typeface="黑体" panose="02010609060101010101" pitchFamily="49" charset="-122"/>
            </a:endParaRPr>
          </a:p>
          <a:p>
            <a:pPr marL="419100" indent="-419100">
              <a:lnSpc>
                <a:spcPct val="115000"/>
              </a:lnSpc>
              <a:buNone/>
            </a:pPr>
            <a:r>
              <a:rPr lang="en-US" altLang="zh-CN" sz="2000" dirty="0">
                <a:solidFill>
                  <a:srgbClr val="009900"/>
                </a:solidFill>
                <a:ea typeface="黑体" panose="02010609060101010101" pitchFamily="49" charset="-122"/>
              </a:rPr>
              <a:t>                           = 2</a:t>
            </a:r>
            <a:r>
              <a:rPr lang="en-US" altLang="zh-CN" sz="2000" baseline="30000" dirty="0">
                <a:solidFill>
                  <a:srgbClr val="009900"/>
                </a:solidFill>
                <a:ea typeface="黑体" panose="02010609060101010101" pitchFamily="49" charset="-122"/>
              </a:rPr>
              <a:t>n</a:t>
            </a:r>
            <a:r>
              <a:rPr lang="en-US" altLang="zh-CN" sz="2000" dirty="0">
                <a:solidFill>
                  <a:srgbClr val="009900"/>
                </a:solidFill>
                <a:ea typeface="黑体" panose="02010609060101010101" pitchFamily="49" charset="-122"/>
              </a:rPr>
              <a:t>+E1–E2 = </a:t>
            </a:r>
            <a:r>
              <a:rPr lang="en-US" altLang="zh-CN" sz="2000" dirty="0">
                <a:solidFill>
                  <a:srgbClr val="FF0066"/>
                </a:solidFill>
                <a:ea typeface="黑体" panose="02010609060101010101" pitchFamily="49" charset="-122"/>
              </a:rPr>
              <a:t>[E1–E2]</a:t>
            </a:r>
            <a:r>
              <a:rPr lang="zh-CN" altLang="en-US" sz="2000" baseline="-25000" dirty="0">
                <a:solidFill>
                  <a:srgbClr val="FF0066"/>
                </a:solidFill>
                <a:ea typeface="黑体" panose="02010609060101010101" pitchFamily="49" charset="-122"/>
              </a:rPr>
              <a:t>补</a:t>
            </a:r>
            <a:r>
              <a:rPr lang="zh-CN" altLang="en-US" sz="2000" dirty="0">
                <a:solidFill>
                  <a:srgbClr val="009900"/>
                </a:solidFill>
                <a:ea typeface="黑体" panose="02010609060101010101" pitchFamily="49" charset="-122"/>
              </a:rPr>
              <a:t> （</a:t>
            </a:r>
            <a:r>
              <a:rPr lang="en-US" altLang="zh-CN" sz="2000" dirty="0">
                <a:solidFill>
                  <a:srgbClr val="009900"/>
                </a:solidFill>
                <a:ea typeface="黑体" panose="02010609060101010101" pitchFamily="49" charset="-122"/>
              </a:rPr>
              <a:t>mod 2</a:t>
            </a:r>
            <a:r>
              <a:rPr lang="en-US" altLang="zh-CN" sz="2000" baseline="30000" dirty="0">
                <a:solidFill>
                  <a:srgbClr val="009900"/>
                </a:solidFill>
                <a:ea typeface="黑体" panose="02010609060101010101" pitchFamily="49" charset="-122"/>
              </a:rPr>
              <a:t>n</a:t>
            </a:r>
            <a:r>
              <a:rPr lang="zh-CN" altLang="en-US" sz="2000" dirty="0">
                <a:solidFill>
                  <a:srgbClr val="009900"/>
                </a:solidFill>
                <a:ea typeface="黑体" panose="02010609060101010101" pitchFamily="49" charset="-122"/>
              </a:rPr>
              <a:t>） </a:t>
            </a:r>
            <a:endParaRPr lang="zh-CN" altLang="en-US" sz="2000" dirty="0">
              <a:solidFill>
                <a:srgbClr val="009900"/>
              </a:solidFill>
              <a:ea typeface="黑体" panose="02010609060101010101" pitchFamily="49" charset="-122"/>
            </a:endParaRPr>
          </a:p>
          <a:p>
            <a:pPr marL="419100" indent="-419100">
              <a:lnSpc>
                <a:spcPct val="115000"/>
              </a:lnSpc>
              <a:buNone/>
            </a:pPr>
            <a:r>
              <a:rPr lang="en-US" altLang="zh-CN" sz="2000" dirty="0">
                <a:ea typeface="黑体" panose="02010609060101010101" pitchFamily="49" charset="-122"/>
              </a:rPr>
              <a:t>       </a:t>
            </a:r>
            <a:r>
              <a:rPr lang="zh-CN" altLang="en-US" sz="2000" dirty="0">
                <a:solidFill>
                  <a:srgbClr val="CC0000"/>
                </a:solidFill>
                <a:ea typeface="黑体" panose="02010609060101010101" pitchFamily="49" charset="-122"/>
              </a:rPr>
              <a:t>结论：移码的和、差等于和、差的补码！</a:t>
            </a:r>
            <a:endParaRPr lang="zh-CN" altLang="en-US" sz="2000" dirty="0">
              <a:solidFill>
                <a:srgbClr val="CC0000"/>
              </a:solidFill>
              <a:ea typeface="黑体" panose="02010609060101010101" pitchFamily="49" charset="-122"/>
            </a:endParaRPr>
          </a:p>
          <a:p>
            <a:pPr marL="419100" indent="-419100">
              <a:lnSpc>
                <a:spcPct val="115000"/>
              </a:lnSpc>
            </a:pPr>
            <a:r>
              <a:rPr lang="zh-CN" altLang="en-US" sz="2000" dirty="0">
                <a:ea typeface="黑体" panose="02010609060101010101" pitchFamily="49" charset="-122"/>
              </a:rPr>
              <a:t>运算规则</a:t>
            </a:r>
            <a:endParaRPr lang="zh-CN" altLang="en-US" sz="2000" dirty="0">
              <a:ea typeface="黑体" panose="02010609060101010101" pitchFamily="49" charset="-122"/>
            </a:endParaRPr>
          </a:p>
          <a:p>
            <a:pPr marL="876300" lvl="1" indent="-381000">
              <a:lnSpc>
                <a:spcPct val="115000"/>
              </a:lnSpc>
              <a:buNone/>
            </a:pPr>
            <a:r>
              <a:rPr lang="zh-CN" altLang="en-US" dirty="0">
                <a:ea typeface="黑体" panose="02010609060101010101" pitchFamily="49" charset="-122"/>
              </a:rPr>
              <a:t>① 加法：直接将</a:t>
            </a:r>
            <a:r>
              <a:rPr lang="en-US" altLang="zh-CN" dirty="0">
                <a:ea typeface="黑体" panose="02010609060101010101" pitchFamily="49" charset="-122"/>
              </a:rPr>
              <a:t>[E1]</a:t>
            </a:r>
            <a:r>
              <a:rPr lang="zh-CN" altLang="en-US" baseline="-25000" dirty="0">
                <a:ea typeface="黑体" panose="02010609060101010101" pitchFamily="49" charset="-122"/>
              </a:rPr>
              <a:t>移</a:t>
            </a:r>
            <a:r>
              <a:rPr lang="zh-CN" altLang="en-US" dirty="0">
                <a:ea typeface="黑体" panose="02010609060101010101" pitchFamily="49" charset="-122"/>
              </a:rPr>
              <a:t>和</a:t>
            </a:r>
            <a:r>
              <a:rPr lang="en-US" altLang="zh-CN" dirty="0">
                <a:ea typeface="黑体" panose="02010609060101010101" pitchFamily="49" charset="-122"/>
              </a:rPr>
              <a:t>[E2]</a:t>
            </a:r>
            <a:r>
              <a:rPr lang="zh-CN" altLang="en-US" baseline="-25000" dirty="0">
                <a:ea typeface="黑体" panose="02010609060101010101" pitchFamily="49" charset="-122"/>
              </a:rPr>
              <a:t>移</a:t>
            </a:r>
            <a:r>
              <a:rPr lang="zh-CN" altLang="en-US" dirty="0">
                <a:ea typeface="黑体" panose="02010609060101010101" pitchFamily="49" charset="-122"/>
              </a:rPr>
              <a:t>进行模</a:t>
            </a:r>
            <a:r>
              <a:rPr lang="en-US" altLang="zh-CN" dirty="0">
                <a:ea typeface="黑体" panose="02010609060101010101" pitchFamily="49" charset="-122"/>
              </a:rPr>
              <a:t>2</a:t>
            </a:r>
            <a:r>
              <a:rPr lang="en-US" altLang="zh-CN" baseline="30000" dirty="0">
                <a:ea typeface="黑体" panose="02010609060101010101" pitchFamily="49" charset="-122"/>
              </a:rPr>
              <a:t>n</a:t>
            </a:r>
            <a:r>
              <a:rPr lang="zh-CN" altLang="en-US" dirty="0">
                <a:ea typeface="黑体" panose="02010609060101010101" pitchFamily="49" charset="-122"/>
              </a:rPr>
              <a:t>加，然后对结果的符号取反。</a:t>
            </a:r>
            <a:endParaRPr lang="zh-CN" altLang="en-US" dirty="0">
              <a:ea typeface="黑体" panose="02010609060101010101" pitchFamily="49" charset="-122"/>
            </a:endParaRPr>
          </a:p>
          <a:p>
            <a:pPr marL="876300" lvl="1" indent="-381000">
              <a:lnSpc>
                <a:spcPct val="115000"/>
              </a:lnSpc>
              <a:buNone/>
            </a:pPr>
            <a:r>
              <a:rPr lang="zh-CN" altLang="en-US" dirty="0">
                <a:ea typeface="黑体" panose="02010609060101010101" pitchFamily="49" charset="-122"/>
              </a:rPr>
              <a:t>② 减法：先将减数</a:t>
            </a:r>
            <a:r>
              <a:rPr lang="en-US" altLang="zh-CN" dirty="0">
                <a:ea typeface="黑体" panose="02010609060101010101" pitchFamily="49" charset="-122"/>
              </a:rPr>
              <a:t>[E2]</a:t>
            </a:r>
            <a:r>
              <a:rPr lang="zh-CN" altLang="en-US" baseline="-25000" dirty="0">
                <a:ea typeface="黑体" panose="02010609060101010101" pitchFamily="49" charset="-122"/>
              </a:rPr>
              <a:t>移</a:t>
            </a:r>
            <a:r>
              <a:rPr lang="zh-CN" altLang="en-US" dirty="0">
                <a:ea typeface="黑体" panose="02010609060101010101" pitchFamily="49" charset="-122"/>
              </a:rPr>
              <a:t>求补（各位取反，末位加</a:t>
            </a:r>
            <a:r>
              <a:rPr lang="en-US" altLang="zh-CN" dirty="0">
                <a:ea typeface="黑体" panose="02010609060101010101" pitchFamily="49" charset="-122"/>
              </a:rPr>
              <a:t>1</a:t>
            </a:r>
            <a:r>
              <a:rPr lang="zh-CN" altLang="en-US" dirty="0">
                <a:ea typeface="黑体" panose="02010609060101010101" pitchFamily="49" charset="-122"/>
              </a:rPr>
              <a:t>），然后再与被减数 </a:t>
            </a:r>
            <a:r>
              <a:rPr lang="en-US" altLang="zh-CN" dirty="0">
                <a:ea typeface="黑体" panose="02010609060101010101" pitchFamily="49" charset="-122"/>
              </a:rPr>
              <a:t>[E1]</a:t>
            </a:r>
            <a:r>
              <a:rPr lang="zh-CN" altLang="en-US" baseline="-25000" dirty="0">
                <a:ea typeface="黑体" panose="02010609060101010101" pitchFamily="49" charset="-122"/>
              </a:rPr>
              <a:t>移</a:t>
            </a:r>
            <a:r>
              <a:rPr lang="zh-CN" altLang="en-US" dirty="0">
                <a:ea typeface="黑体" panose="02010609060101010101" pitchFamily="49" charset="-122"/>
              </a:rPr>
              <a:t>进行模</a:t>
            </a:r>
            <a:r>
              <a:rPr lang="en-US" altLang="zh-CN" dirty="0">
                <a:ea typeface="黑体" panose="02010609060101010101" pitchFamily="49" charset="-122"/>
              </a:rPr>
              <a:t>2</a:t>
            </a:r>
            <a:r>
              <a:rPr lang="en-US" altLang="zh-CN" baseline="30000" dirty="0">
                <a:ea typeface="黑体" panose="02010609060101010101" pitchFamily="49" charset="-122"/>
              </a:rPr>
              <a:t>n</a:t>
            </a:r>
            <a:r>
              <a:rPr lang="zh-CN" altLang="en-US" dirty="0">
                <a:ea typeface="黑体" panose="02010609060101010101" pitchFamily="49" charset="-122"/>
              </a:rPr>
              <a:t>相加，最后对结果的符号取反。</a:t>
            </a:r>
            <a:endParaRPr lang="zh-CN" altLang="en-US" dirty="0">
              <a:ea typeface="黑体" panose="02010609060101010101" pitchFamily="49" charset="-122"/>
            </a:endParaRPr>
          </a:p>
          <a:p>
            <a:pPr marL="876300" lvl="1" indent="-381000">
              <a:lnSpc>
                <a:spcPct val="115000"/>
              </a:lnSpc>
              <a:buNone/>
            </a:pPr>
            <a:r>
              <a:rPr lang="zh-CN" altLang="en-US" dirty="0">
                <a:ea typeface="黑体" panose="02010609060101010101" pitchFamily="49" charset="-122"/>
              </a:rPr>
              <a:t>③ 溢出判断：进行模</a:t>
            </a:r>
            <a:r>
              <a:rPr lang="en-US" altLang="zh-CN" dirty="0">
                <a:ea typeface="黑体" panose="02010609060101010101" pitchFamily="49" charset="-122"/>
              </a:rPr>
              <a:t>2</a:t>
            </a:r>
            <a:r>
              <a:rPr lang="en-US" altLang="zh-CN" baseline="30000" dirty="0">
                <a:ea typeface="黑体" panose="02010609060101010101" pitchFamily="49" charset="-122"/>
              </a:rPr>
              <a:t>n</a:t>
            </a:r>
            <a:r>
              <a:rPr lang="zh-CN" altLang="en-US" dirty="0">
                <a:ea typeface="黑体" panose="02010609060101010101" pitchFamily="49" charset="-122"/>
              </a:rPr>
              <a:t>相加时，如果两个加数的符号相同，并且与和数的符号也相同，则发生溢出。</a:t>
            </a:r>
            <a:endParaRPr lang="zh-CN" altLang="en-US" dirty="0">
              <a:ea typeface="黑体" panose="02010609060101010101" pitchFamily="49" charset="-122"/>
            </a:endParaRPr>
          </a:p>
        </p:txBody>
      </p:sp>
      <p:sp>
        <p:nvSpPr>
          <p:cNvPr id="421895" name="Text Box 7"/>
          <p:cNvSpPr txBox="1"/>
          <p:nvPr/>
        </p:nvSpPr>
        <p:spPr>
          <a:xfrm>
            <a:off x="2428875" y="4010025"/>
            <a:ext cx="5876925" cy="396875"/>
          </a:xfrm>
          <a:prstGeom prst="rect">
            <a:avLst/>
          </a:prstGeom>
          <a:noFill/>
          <a:ln w="12700">
            <a:noFill/>
          </a:ln>
        </p:spPr>
        <p:txBody>
          <a:bodyPr anchor="t" anchorCtr="0">
            <a:spAutoFit/>
          </a:bodyPr>
          <a:p>
            <a:pPr eaLnBrk="0" hangingPunct="0">
              <a:spcBef>
                <a:spcPct val="50000"/>
              </a:spcBef>
            </a:pPr>
            <a:r>
              <a:rPr lang="zh-CN" altLang="en-US" sz="2000" dirty="0">
                <a:latin typeface="Times New Roman" panose="02020603050405020304" pitchFamily="18" charset="0"/>
                <a:ea typeface="黑体" panose="02010609060101010101" pitchFamily="49" charset="-122"/>
              </a:rPr>
              <a:t>补码和移码的关系：符号位相反、数值位相同！</a:t>
            </a:r>
            <a:endParaRPr lang="zh-CN" altLang="en-US" sz="2000"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1893">
                                            <p:txEl>
                                              <p:charRg st="49" end="110"/>
                                            </p:txEl>
                                          </p:spTgt>
                                        </p:tgtEl>
                                        <p:attrNameLst>
                                          <p:attrName>style.visibility</p:attrName>
                                        </p:attrNameLst>
                                      </p:cBhvr>
                                      <p:to>
                                        <p:strVal val="visible"/>
                                      </p:to>
                                    </p:set>
                                    <p:animEffect transition="in" filter="blinds(horizontal)">
                                      <p:cBhvr>
                                        <p:cTn id="7" dur="500"/>
                                        <p:tgtEl>
                                          <p:spTgt spid="421893">
                                            <p:txEl>
                                              <p:charRg st="49" end="1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1893">
                                            <p:txEl>
                                              <p:charRg st="110" end="161"/>
                                            </p:txEl>
                                          </p:spTgt>
                                        </p:tgtEl>
                                        <p:attrNameLst>
                                          <p:attrName>style.visibility</p:attrName>
                                        </p:attrNameLst>
                                      </p:cBhvr>
                                      <p:to>
                                        <p:strVal val="visible"/>
                                      </p:to>
                                    </p:set>
                                    <p:animEffect transition="in" filter="blinds(horizontal)">
                                      <p:cBhvr>
                                        <p:cTn id="12" dur="500"/>
                                        <p:tgtEl>
                                          <p:spTgt spid="421893">
                                            <p:txEl>
                                              <p:charRg st="110" end="16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1893">
                                            <p:txEl>
                                              <p:charRg st="161" end="223"/>
                                            </p:txEl>
                                          </p:spTgt>
                                        </p:tgtEl>
                                        <p:attrNameLst>
                                          <p:attrName>style.visibility</p:attrName>
                                        </p:attrNameLst>
                                      </p:cBhvr>
                                      <p:to>
                                        <p:strVal val="visible"/>
                                      </p:to>
                                    </p:set>
                                    <p:animEffect transition="in" filter="blinds(horizontal)">
                                      <p:cBhvr>
                                        <p:cTn id="17" dur="500"/>
                                        <p:tgtEl>
                                          <p:spTgt spid="421893">
                                            <p:txEl>
                                              <p:charRg st="161" end="22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1893">
                                            <p:txEl>
                                              <p:charRg st="223" end="282"/>
                                            </p:txEl>
                                          </p:spTgt>
                                        </p:tgtEl>
                                        <p:attrNameLst>
                                          <p:attrName>style.visibility</p:attrName>
                                        </p:attrNameLst>
                                      </p:cBhvr>
                                      <p:to>
                                        <p:strVal val="visible"/>
                                      </p:to>
                                    </p:set>
                                    <p:animEffect transition="in" filter="blinds(horizontal)">
                                      <p:cBhvr>
                                        <p:cTn id="22" dur="500"/>
                                        <p:tgtEl>
                                          <p:spTgt spid="421893">
                                            <p:txEl>
                                              <p:charRg st="223" end="28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21893">
                                            <p:txEl>
                                              <p:charRg st="282" end="308"/>
                                            </p:txEl>
                                          </p:spTgt>
                                        </p:tgtEl>
                                        <p:attrNameLst>
                                          <p:attrName>style.visibility</p:attrName>
                                        </p:attrNameLst>
                                      </p:cBhvr>
                                      <p:to>
                                        <p:strVal val="visible"/>
                                      </p:to>
                                    </p:set>
                                    <p:animEffect transition="in" filter="blinds(horizontal)">
                                      <p:cBhvr>
                                        <p:cTn id="27" dur="500"/>
                                        <p:tgtEl>
                                          <p:spTgt spid="421893">
                                            <p:txEl>
                                              <p:charRg st="282" end="30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21895"/>
                                        </p:tgtEl>
                                        <p:attrNameLst>
                                          <p:attrName>style.visibility</p:attrName>
                                        </p:attrNameLst>
                                      </p:cBhvr>
                                      <p:to>
                                        <p:strVal val="visible"/>
                                      </p:to>
                                    </p:set>
                                    <p:animEffect transition="in" filter="blinds(horizontal)">
                                      <p:cBhvr>
                                        <p:cTn id="32" dur="500"/>
                                        <p:tgtEl>
                                          <p:spTgt spid="42189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21893">
                                            <p:txEl>
                                              <p:charRg st="313" end="351"/>
                                            </p:txEl>
                                          </p:spTgt>
                                        </p:tgtEl>
                                        <p:attrNameLst>
                                          <p:attrName>style.visibility</p:attrName>
                                        </p:attrNameLst>
                                      </p:cBhvr>
                                      <p:to>
                                        <p:strVal val="visible"/>
                                      </p:to>
                                    </p:set>
                                    <p:animEffect transition="in" filter="blinds(horizontal)">
                                      <p:cBhvr>
                                        <p:cTn id="37" dur="500"/>
                                        <p:tgtEl>
                                          <p:spTgt spid="421893">
                                            <p:txEl>
                                              <p:charRg st="313" end="35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21893">
                                            <p:txEl>
                                              <p:charRg st="351" end="412"/>
                                            </p:txEl>
                                          </p:spTgt>
                                        </p:tgtEl>
                                        <p:attrNameLst>
                                          <p:attrName>style.visibility</p:attrName>
                                        </p:attrNameLst>
                                      </p:cBhvr>
                                      <p:to>
                                        <p:strVal val="visible"/>
                                      </p:to>
                                    </p:set>
                                    <p:animEffect transition="in" filter="blinds(horizontal)">
                                      <p:cBhvr>
                                        <p:cTn id="42" dur="500"/>
                                        <p:tgtEl>
                                          <p:spTgt spid="421893">
                                            <p:txEl>
                                              <p:charRg st="351" end="41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21893">
                                            <p:txEl>
                                              <p:charRg st="412" end="459"/>
                                            </p:txEl>
                                          </p:spTgt>
                                        </p:tgtEl>
                                        <p:attrNameLst>
                                          <p:attrName>style.visibility</p:attrName>
                                        </p:attrNameLst>
                                      </p:cBhvr>
                                      <p:to>
                                        <p:strVal val="visible"/>
                                      </p:to>
                                    </p:set>
                                    <p:animEffect transition="in" filter="blinds(horizontal)">
                                      <p:cBhvr>
                                        <p:cTn id="47" dur="500"/>
                                        <p:tgtEl>
                                          <p:spTgt spid="421893">
                                            <p:txEl>
                                              <p:charRg st="412" end="4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移码加</a:t>
            </a:r>
            <a:r>
              <a:rPr lang="en-US" altLang="zh-CN" dirty="0">
                <a:ea typeface="宋体" panose="02010600030101010101" pitchFamily="2" charset="-122"/>
              </a:rPr>
              <a:t>/</a:t>
            </a:r>
            <a:r>
              <a:rPr lang="zh-CN" altLang="en-US" dirty="0">
                <a:ea typeface="宋体" panose="02010600030101010101" pitchFamily="2" charset="-122"/>
              </a:rPr>
              <a:t>减运算</a:t>
            </a:r>
            <a:endParaRPr lang="zh-CN" altLang="en-US" dirty="0">
              <a:ea typeface="宋体" panose="02010600030101010101" pitchFamily="2" charset="-122"/>
            </a:endParaRPr>
          </a:p>
        </p:txBody>
      </p:sp>
      <p:sp>
        <p:nvSpPr>
          <p:cNvPr id="427011" name="Rectangle 3"/>
          <p:cNvSpPr>
            <a:spLocks noGrp="1"/>
          </p:cNvSpPr>
          <p:nvPr>
            <p:ph idx="1"/>
          </p:nvPr>
        </p:nvSpPr>
        <p:spPr>
          <a:xfrm>
            <a:off x="0" y="889000"/>
            <a:ext cx="9144000" cy="4403725"/>
          </a:xfrm>
          <a:ln/>
        </p:spPr>
        <p:txBody>
          <a:bodyPr vert="horz" wrap="square" lIns="63500" tIns="25400" rIns="63500" bIns="25400" anchor="t" anchorCtr="0">
            <a:spAutoFit/>
          </a:bodyPr>
          <a:p>
            <a:pPr>
              <a:lnSpc>
                <a:spcPct val="125000"/>
              </a:lnSpc>
              <a:buNone/>
            </a:pPr>
            <a:r>
              <a:rPr lang="zh-CN" altLang="en-US" sz="2000" dirty="0">
                <a:ea typeface="黑体" panose="02010609060101010101" pitchFamily="49" charset="-122"/>
              </a:rPr>
              <a:t>例</a:t>
            </a:r>
            <a:r>
              <a:rPr lang="en-US" altLang="zh-CN" sz="2000" dirty="0">
                <a:ea typeface="黑体" panose="02010609060101010101" pitchFamily="49" charset="-122"/>
              </a:rPr>
              <a:t>1</a:t>
            </a:r>
            <a:r>
              <a:rPr lang="zh-CN" altLang="en-US" sz="2000" dirty="0">
                <a:ea typeface="黑体" panose="02010609060101010101" pitchFamily="49" charset="-122"/>
              </a:rPr>
              <a:t>： 用四位移码计算“</a:t>
            </a:r>
            <a:r>
              <a:rPr lang="pt-BR" altLang="zh-CN" sz="2000" dirty="0">
                <a:ea typeface="黑体" panose="02010609060101010101" pitchFamily="49" charset="-122"/>
              </a:rPr>
              <a:t>–</a:t>
            </a:r>
            <a:r>
              <a:rPr lang="en-US" altLang="zh-CN" sz="2000" dirty="0">
                <a:ea typeface="黑体" panose="02010609060101010101" pitchFamily="49" charset="-122"/>
              </a:rPr>
              <a:t>7+</a:t>
            </a:r>
            <a:r>
              <a:rPr lang="zh-CN" altLang="en-US" sz="2000" dirty="0">
                <a:ea typeface="黑体" panose="02010609060101010101" pitchFamily="49" charset="-122"/>
              </a:rPr>
              <a:t>（</a:t>
            </a:r>
            <a:r>
              <a:rPr lang="pt-BR" altLang="zh-CN" sz="2000" dirty="0">
                <a:ea typeface="黑体" panose="02010609060101010101" pitchFamily="49" charset="-122"/>
              </a:rPr>
              <a:t>– </a:t>
            </a:r>
            <a:r>
              <a:rPr lang="en-US" altLang="zh-CN" sz="2000" dirty="0">
                <a:ea typeface="黑体" panose="02010609060101010101" pitchFamily="49" charset="-122"/>
              </a:rPr>
              <a:t>6</a:t>
            </a:r>
            <a:r>
              <a:rPr lang="zh-CN" altLang="en-US" sz="2000" dirty="0">
                <a:ea typeface="黑体" panose="02010609060101010101" pitchFamily="49" charset="-122"/>
              </a:rPr>
              <a:t>）”和“</a:t>
            </a:r>
            <a:r>
              <a:rPr lang="pt-BR" altLang="zh-CN" sz="2000" dirty="0">
                <a:ea typeface="黑体" panose="02010609060101010101" pitchFamily="49" charset="-122"/>
              </a:rPr>
              <a:t>–</a:t>
            </a:r>
            <a:r>
              <a:rPr lang="en-US" altLang="zh-CN" sz="2000" dirty="0">
                <a:ea typeface="黑体" panose="02010609060101010101" pitchFamily="49" charset="-122"/>
              </a:rPr>
              <a:t>3 </a:t>
            </a:r>
            <a:r>
              <a:rPr lang="pt-BR" altLang="zh-CN" sz="2000" dirty="0">
                <a:ea typeface="黑体" panose="02010609060101010101" pitchFamily="49" charset="-122"/>
              </a:rPr>
              <a:t>+ </a:t>
            </a:r>
            <a:r>
              <a:rPr lang="en-US" altLang="zh-CN" sz="2000" dirty="0">
                <a:ea typeface="黑体" panose="02010609060101010101" pitchFamily="49" charset="-122"/>
              </a:rPr>
              <a:t>6”</a:t>
            </a:r>
            <a:r>
              <a:rPr lang="zh-CN" altLang="en-US" sz="2000" dirty="0">
                <a:ea typeface="黑体" panose="02010609060101010101" pitchFamily="49" charset="-122"/>
              </a:rPr>
              <a:t>的值。</a:t>
            </a:r>
            <a:endParaRPr lang="zh-CN" altLang="en-US" sz="2000" dirty="0">
              <a:ea typeface="黑体" panose="02010609060101010101" pitchFamily="49" charset="-122"/>
            </a:endParaRPr>
          </a:p>
          <a:p>
            <a:pPr>
              <a:lnSpc>
                <a:spcPct val="125000"/>
              </a:lnSpc>
              <a:buNone/>
            </a:pPr>
            <a:r>
              <a:rPr lang="zh-CN" altLang="en-US" sz="2000" dirty="0">
                <a:solidFill>
                  <a:srgbClr val="3333FF"/>
                </a:solidFill>
                <a:ea typeface="黑体" panose="02010609060101010101" pitchFamily="49" charset="-122"/>
              </a:rPr>
              <a:t>解：</a:t>
            </a:r>
            <a:r>
              <a:rPr lang="en-US" altLang="zh-CN" sz="2000" dirty="0">
                <a:solidFill>
                  <a:srgbClr val="3333FF"/>
                </a:solidFill>
                <a:ea typeface="黑体" panose="02010609060101010101" pitchFamily="49" charset="-122"/>
              </a:rPr>
              <a:t>[–7]</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0001       [– 6]</a:t>
            </a:r>
            <a:r>
              <a:rPr lang="zh-CN" altLang="en-US" sz="2000" baseline="-25000" dirty="0">
                <a:solidFill>
                  <a:schemeClr val="accent2"/>
                </a:solidFill>
                <a:ea typeface="黑体" panose="02010609060101010101" pitchFamily="49" charset="-122"/>
              </a:rPr>
              <a:t>移</a:t>
            </a:r>
            <a:r>
              <a:rPr lang="en-US" altLang="zh-CN" sz="2000" dirty="0">
                <a:solidFill>
                  <a:srgbClr val="3333FF"/>
                </a:solidFill>
                <a:ea typeface="黑体" panose="02010609060101010101" pitchFamily="49" charset="-122"/>
              </a:rPr>
              <a:t>= 0010 	[–3]</a:t>
            </a:r>
            <a:r>
              <a:rPr lang="zh-CN" altLang="en-US" sz="2000" baseline="-25000" dirty="0">
                <a:solidFill>
                  <a:schemeClr val="accent2"/>
                </a:solidFill>
                <a:ea typeface="黑体" panose="02010609060101010101" pitchFamily="49" charset="-122"/>
              </a:rPr>
              <a:t>移</a:t>
            </a:r>
            <a:r>
              <a:rPr lang="en-US" altLang="zh-CN" sz="2000" dirty="0">
                <a:solidFill>
                  <a:srgbClr val="3333FF"/>
                </a:solidFill>
                <a:ea typeface="黑体" panose="02010609060101010101" pitchFamily="49" charset="-122"/>
              </a:rPr>
              <a:t>= 0101	[6]</a:t>
            </a:r>
            <a:r>
              <a:rPr lang="zh-CN" altLang="en-US" sz="2000" baseline="-25000" dirty="0">
                <a:solidFill>
                  <a:schemeClr val="accent2"/>
                </a:solidFill>
                <a:ea typeface="黑体" panose="02010609060101010101" pitchFamily="49" charset="-122"/>
              </a:rPr>
              <a:t>移</a:t>
            </a:r>
            <a:r>
              <a:rPr lang="en-US" altLang="zh-CN" sz="2000" dirty="0">
                <a:solidFill>
                  <a:srgbClr val="3333FF"/>
                </a:solidFill>
                <a:ea typeface="黑体" panose="02010609060101010101" pitchFamily="49" charset="-122"/>
              </a:rPr>
              <a:t>= 1110</a:t>
            </a:r>
            <a:endParaRPr lang="en-US" altLang="zh-CN" sz="2000" dirty="0">
              <a:solidFill>
                <a:srgbClr val="3333FF"/>
              </a:solidFill>
              <a:ea typeface="黑体" panose="02010609060101010101" pitchFamily="49" charset="-122"/>
            </a:endParaRPr>
          </a:p>
          <a:p>
            <a:pPr>
              <a:lnSpc>
                <a:spcPct val="125000"/>
              </a:lnSpc>
              <a:buNone/>
            </a:pPr>
            <a:r>
              <a:rPr lang="en-US" altLang="zh-CN" sz="2000" dirty="0">
                <a:solidFill>
                  <a:srgbClr val="3333FF"/>
                </a:solidFill>
                <a:ea typeface="黑体" panose="02010609060101010101" pitchFamily="49" charset="-122"/>
              </a:rPr>
              <a:t>       [–7]</a:t>
            </a:r>
            <a:r>
              <a:rPr lang="zh-CN" altLang="en-US" sz="2000" baseline="-25000" dirty="0">
                <a:solidFill>
                  <a:schemeClr val="accent2"/>
                </a:solidFill>
                <a:ea typeface="黑体" panose="02010609060101010101" pitchFamily="49" charset="-122"/>
              </a:rPr>
              <a:t>移 </a:t>
            </a:r>
            <a:r>
              <a:rPr lang="en-US" altLang="zh-CN" sz="2000" dirty="0">
                <a:solidFill>
                  <a:srgbClr val="3333FF"/>
                </a:solidFill>
                <a:ea typeface="黑体" panose="02010609060101010101" pitchFamily="49" charset="-122"/>
              </a:rPr>
              <a:t>+ [–6]</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0001 + 0010 = 0011 </a:t>
            </a:r>
            <a:r>
              <a:rPr lang="zh-CN" altLang="en-US" sz="2000" dirty="0">
                <a:solidFill>
                  <a:srgbClr val="3333FF"/>
                </a:solidFill>
                <a:ea typeface="黑体" panose="02010609060101010101" pitchFamily="49" charset="-122"/>
              </a:rPr>
              <a:t>（两个加数与结果符号都为</a:t>
            </a:r>
            <a:r>
              <a:rPr lang="en-US" altLang="zh-CN" sz="2000" dirty="0">
                <a:solidFill>
                  <a:srgbClr val="3333FF"/>
                </a:solidFill>
                <a:ea typeface="黑体" panose="02010609060101010101" pitchFamily="49" charset="-122"/>
              </a:rPr>
              <a:t>0</a:t>
            </a:r>
            <a:r>
              <a:rPr lang="zh-CN" altLang="en-US" sz="2000" dirty="0">
                <a:solidFill>
                  <a:srgbClr val="3333FF"/>
                </a:solidFill>
                <a:ea typeface="黑体" panose="02010609060101010101" pitchFamily="49" charset="-122"/>
              </a:rPr>
              <a:t>，溢出）</a:t>
            </a:r>
            <a:endParaRPr lang="zh-CN" altLang="en-US" sz="2000" dirty="0">
              <a:solidFill>
                <a:srgbClr val="3333FF"/>
              </a:solidFill>
              <a:ea typeface="黑体" panose="02010609060101010101" pitchFamily="49" charset="-122"/>
            </a:endParaRPr>
          </a:p>
          <a:p>
            <a:pPr>
              <a:lnSpc>
                <a:spcPct val="125000"/>
              </a:lnSpc>
              <a:buNone/>
            </a:pPr>
            <a:r>
              <a:rPr lang="en-US" altLang="zh-CN" sz="2000" dirty="0">
                <a:solidFill>
                  <a:srgbClr val="3333FF"/>
                </a:solidFill>
                <a:ea typeface="黑体" panose="02010609060101010101" pitchFamily="49" charset="-122"/>
              </a:rPr>
              <a:t>       [</a:t>
            </a:r>
            <a:r>
              <a:rPr lang="pt-BR" altLang="zh-CN" sz="2000" dirty="0">
                <a:solidFill>
                  <a:srgbClr val="3333FF"/>
                </a:solidFill>
                <a:ea typeface="黑体" panose="02010609060101010101" pitchFamily="49" charset="-122"/>
              </a:rPr>
              <a:t>–</a:t>
            </a:r>
            <a:r>
              <a:rPr lang="en-US" altLang="zh-CN" sz="2000" dirty="0">
                <a:solidFill>
                  <a:srgbClr val="3333FF"/>
                </a:solidFill>
                <a:ea typeface="黑体" panose="02010609060101010101" pitchFamily="49" charset="-122"/>
              </a:rPr>
              <a:t>3]</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pt-BR" altLang="zh-CN"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6]</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0101 + 1110 = 0011</a:t>
            </a:r>
            <a:r>
              <a:rPr lang="zh-CN" altLang="en-US" sz="2000" dirty="0">
                <a:solidFill>
                  <a:srgbClr val="3333FF"/>
                </a:solidFill>
                <a:ea typeface="黑体" panose="02010609060101010101" pitchFamily="49" charset="-122"/>
              </a:rPr>
              <a:t>， 符号取反后为 </a:t>
            </a:r>
            <a:r>
              <a:rPr lang="en-US" altLang="zh-CN" sz="2000" dirty="0">
                <a:solidFill>
                  <a:srgbClr val="3333FF"/>
                </a:solidFill>
                <a:ea typeface="黑体" panose="02010609060101010101" pitchFamily="49" charset="-122"/>
              </a:rPr>
              <a:t>1011</a:t>
            </a:r>
            <a:r>
              <a:rPr lang="zh-CN" altLang="en-US" sz="2000" dirty="0">
                <a:solidFill>
                  <a:srgbClr val="3333FF"/>
                </a:solidFill>
                <a:ea typeface="黑体" panose="02010609060101010101" pitchFamily="49" charset="-122"/>
              </a:rPr>
              <a:t>，其真值为</a:t>
            </a:r>
            <a:r>
              <a:rPr lang="en-US" altLang="zh-CN" sz="2000" dirty="0">
                <a:solidFill>
                  <a:srgbClr val="3333FF"/>
                </a:solidFill>
                <a:ea typeface="黑体" panose="02010609060101010101" pitchFamily="49" charset="-122"/>
              </a:rPr>
              <a:t>+3</a:t>
            </a:r>
            <a:endParaRPr lang="en-US" altLang="zh-CN" sz="2000" dirty="0">
              <a:solidFill>
                <a:srgbClr val="3333FF"/>
              </a:solidFill>
              <a:ea typeface="黑体" panose="02010609060101010101" pitchFamily="49" charset="-122"/>
            </a:endParaRPr>
          </a:p>
          <a:p>
            <a:pPr>
              <a:lnSpc>
                <a:spcPct val="125000"/>
              </a:lnSpc>
              <a:buNone/>
            </a:pPr>
            <a:r>
              <a:rPr lang="zh-CN" altLang="en-US" sz="2000" dirty="0">
                <a:ea typeface="黑体" panose="02010609060101010101" pitchFamily="49" charset="-122"/>
              </a:rPr>
              <a:t>       </a:t>
            </a:r>
            <a:r>
              <a:rPr lang="zh-CN" altLang="en-US" sz="2000" dirty="0">
                <a:solidFill>
                  <a:srgbClr val="CC3300"/>
                </a:solidFill>
                <a:ea typeface="黑体" panose="02010609060101010101" pitchFamily="49" charset="-122"/>
              </a:rPr>
              <a:t>问题：</a:t>
            </a:r>
            <a:r>
              <a:rPr lang="en-US" altLang="zh-CN" sz="2000" dirty="0">
                <a:solidFill>
                  <a:srgbClr val="CC3300"/>
                </a:solidFill>
                <a:ea typeface="黑体" panose="02010609060101010101" pitchFamily="49" charset="-122"/>
              </a:rPr>
              <a:t>[–7+(–6)]</a:t>
            </a:r>
            <a:r>
              <a:rPr lang="zh-CN" altLang="en-US" sz="2000" baseline="-25000" dirty="0">
                <a:solidFill>
                  <a:srgbClr val="CC3300"/>
                </a:solidFill>
                <a:ea typeface="黑体" panose="02010609060101010101" pitchFamily="49" charset="-122"/>
              </a:rPr>
              <a:t>移</a:t>
            </a:r>
            <a:r>
              <a:rPr lang="en-US" altLang="zh-CN" sz="2000" dirty="0">
                <a:solidFill>
                  <a:srgbClr val="CC3300"/>
                </a:solidFill>
                <a:ea typeface="黑体" panose="02010609060101010101" pitchFamily="49" charset="-122"/>
              </a:rPr>
              <a:t>=?           [</a:t>
            </a:r>
            <a:r>
              <a:rPr lang="pt-BR" altLang="zh-CN" sz="2000" dirty="0">
                <a:solidFill>
                  <a:srgbClr val="CC3300"/>
                </a:solidFill>
                <a:ea typeface="黑体" panose="02010609060101010101" pitchFamily="49" charset="-122"/>
              </a:rPr>
              <a:t>–</a:t>
            </a:r>
            <a:r>
              <a:rPr lang="en-US" altLang="zh-CN" sz="2000" dirty="0">
                <a:solidFill>
                  <a:srgbClr val="CC3300"/>
                </a:solidFill>
                <a:ea typeface="黑体" panose="02010609060101010101" pitchFamily="49" charset="-122"/>
              </a:rPr>
              <a:t>3</a:t>
            </a:r>
            <a:r>
              <a:rPr lang="pt-BR" altLang="zh-CN" sz="2000" dirty="0">
                <a:solidFill>
                  <a:srgbClr val="CC3300"/>
                </a:solidFill>
                <a:ea typeface="黑体" panose="02010609060101010101" pitchFamily="49" charset="-122"/>
              </a:rPr>
              <a:t>+(</a:t>
            </a:r>
            <a:r>
              <a:rPr lang="en-US" altLang="zh-CN" sz="2000" dirty="0">
                <a:solidFill>
                  <a:srgbClr val="CC3300"/>
                </a:solidFill>
                <a:ea typeface="黑体" panose="02010609060101010101" pitchFamily="49" charset="-122"/>
              </a:rPr>
              <a:t>6)]</a:t>
            </a:r>
            <a:r>
              <a:rPr lang="zh-CN" altLang="en-US" sz="2000" baseline="-25000" dirty="0">
                <a:solidFill>
                  <a:srgbClr val="CC3300"/>
                </a:solidFill>
                <a:ea typeface="黑体" panose="02010609060101010101" pitchFamily="49" charset="-122"/>
              </a:rPr>
              <a:t>移</a:t>
            </a:r>
            <a:r>
              <a:rPr lang="zh-CN" altLang="en-US" sz="2000" dirty="0">
                <a:solidFill>
                  <a:srgbClr val="CC3300"/>
                </a:solidFill>
                <a:ea typeface="黑体" panose="02010609060101010101" pitchFamily="49" charset="-122"/>
              </a:rPr>
              <a:t> </a:t>
            </a:r>
            <a:r>
              <a:rPr lang="en-US" altLang="zh-CN" sz="2000" dirty="0">
                <a:solidFill>
                  <a:srgbClr val="CC3300"/>
                </a:solidFill>
                <a:ea typeface="黑体" panose="02010609060101010101" pitchFamily="49" charset="-122"/>
              </a:rPr>
              <a:t>=</a:t>
            </a:r>
            <a:r>
              <a:rPr lang="zh-CN" altLang="en-US" sz="2000" dirty="0">
                <a:solidFill>
                  <a:srgbClr val="CC3300"/>
                </a:solidFill>
                <a:ea typeface="黑体" panose="02010609060101010101" pitchFamily="49" charset="-122"/>
              </a:rPr>
              <a:t>？</a:t>
            </a:r>
            <a:r>
              <a:rPr lang="zh-CN" altLang="en-US" sz="2000" dirty="0">
                <a:solidFill>
                  <a:srgbClr val="3333FF"/>
                </a:solidFill>
                <a:ea typeface="黑体" panose="02010609060101010101" pitchFamily="49" charset="-122"/>
              </a:rPr>
              <a:t>   </a:t>
            </a:r>
            <a:endParaRPr lang="zh-CN" altLang="en-US" sz="2000" dirty="0">
              <a:ea typeface="黑体" panose="02010609060101010101" pitchFamily="49" charset="-122"/>
            </a:endParaRPr>
          </a:p>
          <a:p>
            <a:pPr>
              <a:lnSpc>
                <a:spcPct val="125000"/>
              </a:lnSpc>
              <a:buNone/>
            </a:pPr>
            <a:endParaRPr lang="zh-CN" altLang="en-US" sz="2000" dirty="0">
              <a:ea typeface="黑体" panose="02010609060101010101" pitchFamily="49" charset="-122"/>
            </a:endParaRPr>
          </a:p>
          <a:p>
            <a:pPr>
              <a:lnSpc>
                <a:spcPct val="125000"/>
              </a:lnSpc>
              <a:buNone/>
            </a:pPr>
            <a:r>
              <a:rPr lang="zh-CN" altLang="en-US" sz="2000" dirty="0">
                <a:ea typeface="黑体" panose="02010609060101010101" pitchFamily="49" charset="-122"/>
              </a:rPr>
              <a:t>例</a:t>
            </a:r>
            <a:r>
              <a:rPr lang="en-US" altLang="zh-CN" sz="2000" dirty="0">
                <a:ea typeface="黑体" panose="02010609060101010101" pitchFamily="49" charset="-122"/>
              </a:rPr>
              <a:t>2</a:t>
            </a:r>
            <a:r>
              <a:rPr lang="zh-CN" altLang="en-US" sz="2000" dirty="0">
                <a:ea typeface="黑体" panose="02010609060101010101" pitchFamily="49" charset="-122"/>
              </a:rPr>
              <a:t>： 用四位移码计算“</a:t>
            </a:r>
            <a:r>
              <a:rPr lang="pt-BR" altLang="zh-CN" sz="2000" dirty="0">
                <a:ea typeface="黑体" panose="02010609060101010101" pitchFamily="49" charset="-122"/>
              </a:rPr>
              <a:t>–</a:t>
            </a:r>
            <a:r>
              <a:rPr lang="en-US" altLang="zh-CN" sz="2000" dirty="0">
                <a:ea typeface="黑体" panose="02010609060101010101" pitchFamily="49" charset="-122"/>
              </a:rPr>
              <a:t>7 </a:t>
            </a:r>
            <a:r>
              <a:rPr lang="pt-BR" altLang="zh-CN" sz="2000" dirty="0">
                <a:ea typeface="黑体" panose="02010609060101010101" pitchFamily="49" charset="-122"/>
              </a:rPr>
              <a:t>–</a:t>
            </a:r>
            <a:r>
              <a:rPr lang="zh-CN" altLang="pt-BR" sz="2000" dirty="0">
                <a:ea typeface="黑体" panose="02010609060101010101" pitchFamily="49" charset="-122"/>
              </a:rPr>
              <a:t>（</a:t>
            </a:r>
            <a:r>
              <a:rPr lang="pt-BR" altLang="zh-CN" sz="2000" dirty="0">
                <a:ea typeface="黑体" panose="02010609060101010101" pitchFamily="49" charset="-122"/>
              </a:rPr>
              <a:t>– </a:t>
            </a:r>
            <a:r>
              <a:rPr lang="en-US" altLang="zh-CN" sz="2000" dirty="0">
                <a:ea typeface="黑体" panose="02010609060101010101" pitchFamily="49" charset="-122"/>
              </a:rPr>
              <a:t>6</a:t>
            </a:r>
            <a:r>
              <a:rPr lang="zh-CN" altLang="en-US" sz="2000" dirty="0">
                <a:ea typeface="黑体" panose="02010609060101010101" pitchFamily="49" charset="-122"/>
              </a:rPr>
              <a:t>）”和“</a:t>
            </a:r>
            <a:r>
              <a:rPr lang="pt-BR" altLang="zh-CN" sz="2000" dirty="0">
                <a:ea typeface="黑体" panose="02010609060101010101" pitchFamily="49" charset="-122"/>
              </a:rPr>
              <a:t>–</a:t>
            </a:r>
            <a:r>
              <a:rPr lang="en-US" altLang="zh-CN" sz="2000" dirty="0">
                <a:ea typeface="黑体" panose="02010609060101010101" pitchFamily="49" charset="-122"/>
              </a:rPr>
              <a:t>3 </a:t>
            </a:r>
            <a:r>
              <a:rPr lang="pt-BR" altLang="zh-CN" sz="2000" dirty="0">
                <a:ea typeface="黑体" panose="02010609060101010101" pitchFamily="49" charset="-122"/>
              </a:rPr>
              <a:t>– </a:t>
            </a:r>
            <a:r>
              <a:rPr lang="en-US" altLang="zh-CN" sz="2000" dirty="0">
                <a:ea typeface="黑体" panose="02010609060101010101" pitchFamily="49" charset="-122"/>
              </a:rPr>
              <a:t>5”</a:t>
            </a:r>
            <a:r>
              <a:rPr lang="zh-CN" altLang="en-US" sz="2000" dirty="0">
                <a:ea typeface="黑体" panose="02010609060101010101" pitchFamily="49" charset="-122"/>
              </a:rPr>
              <a:t>的值。</a:t>
            </a:r>
            <a:endParaRPr lang="zh-CN" altLang="en-US" sz="2000" dirty="0">
              <a:ea typeface="黑体" panose="02010609060101010101" pitchFamily="49" charset="-122"/>
            </a:endParaRPr>
          </a:p>
          <a:p>
            <a:pPr>
              <a:lnSpc>
                <a:spcPct val="125000"/>
              </a:lnSpc>
              <a:buNone/>
            </a:pPr>
            <a:r>
              <a:rPr lang="zh-CN" altLang="en-US" sz="2000" dirty="0">
                <a:solidFill>
                  <a:srgbClr val="3333FF"/>
                </a:solidFill>
                <a:ea typeface="黑体" panose="02010609060101010101" pitchFamily="49" charset="-122"/>
              </a:rPr>
              <a:t>解：</a:t>
            </a:r>
            <a:r>
              <a:rPr lang="en-US" altLang="zh-CN" sz="2000" dirty="0">
                <a:solidFill>
                  <a:srgbClr val="3333FF"/>
                </a:solidFill>
                <a:ea typeface="黑体" panose="02010609060101010101" pitchFamily="49" charset="-122"/>
              </a:rPr>
              <a:t>[–7]</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0001       [– 6]</a:t>
            </a:r>
            <a:r>
              <a:rPr lang="zh-CN" altLang="en-US" sz="2000" baseline="-25000" dirty="0">
                <a:solidFill>
                  <a:schemeClr val="accent2"/>
                </a:solidFill>
                <a:ea typeface="黑体" panose="02010609060101010101" pitchFamily="49" charset="-122"/>
              </a:rPr>
              <a:t>移</a:t>
            </a:r>
            <a:r>
              <a:rPr lang="en-US" altLang="zh-CN" sz="2000" dirty="0">
                <a:solidFill>
                  <a:srgbClr val="3333FF"/>
                </a:solidFill>
                <a:ea typeface="黑体" panose="02010609060101010101" pitchFamily="49" charset="-122"/>
              </a:rPr>
              <a:t>= 0010 	[–3]</a:t>
            </a:r>
            <a:r>
              <a:rPr lang="zh-CN" altLang="en-US" sz="2000" baseline="-25000" dirty="0">
                <a:solidFill>
                  <a:schemeClr val="accent2"/>
                </a:solidFill>
                <a:ea typeface="黑体" panose="02010609060101010101" pitchFamily="49" charset="-122"/>
              </a:rPr>
              <a:t>移</a:t>
            </a:r>
            <a:r>
              <a:rPr lang="en-US" altLang="zh-CN" sz="2000" dirty="0">
                <a:solidFill>
                  <a:srgbClr val="3333FF"/>
                </a:solidFill>
                <a:ea typeface="黑体" panose="02010609060101010101" pitchFamily="49" charset="-122"/>
              </a:rPr>
              <a:t>= 0101	[5]</a:t>
            </a:r>
            <a:r>
              <a:rPr lang="zh-CN" altLang="en-US" sz="2000" baseline="-25000" dirty="0">
                <a:solidFill>
                  <a:schemeClr val="accent2"/>
                </a:solidFill>
                <a:ea typeface="黑体" panose="02010609060101010101" pitchFamily="49" charset="-122"/>
              </a:rPr>
              <a:t>移</a:t>
            </a:r>
            <a:r>
              <a:rPr lang="en-US" altLang="zh-CN" sz="2000" dirty="0">
                <a:solidFill>
                  <a:srgbClr val="3333FF"/>
                </a:solidFill>
                <a:ea typeface="黑体" panose="02010609060101010101" pitchFamily="49" charset="-122"/>
              </a:rPr>
              <a:t>= 1101</a:t>
            </a:r>
            <a:endParaRPr lang="en-US" altLang="zh-CN" sz="2000" dirty="0">
              <a:solidFill>
                <a:srgbClr val="3333FF"/>
              </a:solidFill>
              <a:ea typeface="黑体" panose="02010609060101010101" pitchFamily="49" charset="-122"/>
            </a:endParaRPr>
          </a:p>
          <a:p>
            <a:pPr>
              <a:lnSpc>
                <a:spcPct val="125000"/>
              </a:lnSpc>
              <a:buNone/>
            </a:pPr>
            <a:r>
              <a:rPr lang="en-US" altLang="zh-CN" sz="2000" dirty="0">
                <a:solidFill>
                  <a:srgbClr val="3333FF"/>
                </a:solidFill>
                <a:ea typeface="黑体" panose="02010609060101010101" pitchFamily="49" charset="-122"/>
              </a:rPr>
              <a:t>	    [</a:t>
            </a:r>
            <a:r>
              <a:rPr lang="pt-BR" altLang="zh-CN" sz="2000" dirty="0">
                <a:solidFill>
                  <a:srgbClr val="3333FF"/>
                </a:solidFill>
                <a:ea typeface="黑体" panose="02010609060101010101" pitchFamily="49" charset="-122"/>
              </a:rPr>
              <a:t>–</a:t>
            </a:r>
            <a:r>
              <a:rPr lang="en-US" altLang="zh-CN" sz="2000" dirty="0">
                <a:solidFill>
                  <a:srgbClr val="3333FF"/>
                </a:solidFill>
                <a:ea typeface="黑体" panose="02010609060101010101" pitchFamily="49" charset="-122"/>
              </a:rPr>
              <a:t>7]</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a:t>
            </a:r>
            <a:r>
              <a:rPr lang="pt-BR" altLang="zh-CN"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–6]</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0001 + 1110 = 1111</a:t>
            </a:r>
            <a:r>
              <a:rPr lang="zh-CN" altLang="en-US" sz="2000" dirty="0">
                <a:solidFill>
                  <a:srgbClr val="3333FF"/>
                </a:solidFill>
                <a:ea typeface="黑体" panose="02010609060101010101" pitchFamily="49" charset="-122"/>
              </a:rPr>
              <a:t>， 符号取反后为 </a:t>
            </a:r>
            <a:r>
              <a:rPr lang="en-US" altLang="zh-CN" sz="2000" dirty="0">
                <a:solidFill>
                  <a:srgbClr val="3333FF"/>
                </a:solidFill>
                <a:ea typeface="黑体" panose="02010609060101010101" pitchFamily="49" charset="-122"/>
              </a:rPr>
              <a:t>0111</a:t>
            </a:r>
            <a:r>
              <a:rPr lang="zh-CN" altLang="en-US" sz="2000" dirty="0">
                <a:solidFill>
                  <a:srgbClr val="3333FF"/>
                </a:solidFill>
                <a:ea typeface="黑体" panose="02010609060101010101" pitchFamily="49" charset="-122"/>
              </a:rPr>
              <a:t>，其真值为</a:t>
            </a:r>
            <a:r>
              <a:rPr lang="en-US" altLang="zh-CN" sz="2000" dirty="0">
                <a:solidFill>
                  <a:srgbClr val="3333FF"/>
                </a:solidFill>
                <a:ea typeface="黑体" panose="02010609060101010101" pitchFamily="49" charset="-122"/>
              </a:rPr>
              <a:t>–1</a:t>
            </a:r>
            <a:r>
              <a:rPr lang="zh-CN" altLang="en-US" sz="2000" dirty="0">
                <a:solidFill>
                  <a:srgbClr val="3333FF"/>
                </a:solidFill>
                <a:ea typeface="黑体" panose="02010609060101010101" pitchFamily="49" charset="-122"/>
              </a:rPr>
              <a:t>。 </a:t>
            </a:r>
            <a:endParaRPr lang="zh-CN" altLang="en-US" sz="2000" dirty="0">
              <a:solidFill>
                <a:srgbClr val="3333FF"/>
              </a:solidFill>
              <a:ea typeface="黑体" panose="02010609060101010101" pitchFamily="49" charset="-122"/>
            </a:endParaRPr>
          </a:p>
          <a:p>
            <a:pPr>
              <a:lnSpc>
                <a:spcPct val="125000"/>
              </a:lnSpc>
              <a:buNone/>
            </a:pPr>
            <a:r>
              <a:rPr lang="en-US" altLang="zh-CN" sz="2000" dirty="0">
                <a:solidFill>
                  <a:srgbClr val="3333FF"/>
                </a:solidFill>
                <a:ea typeface="黑体" panose="02010609060101010101" pitchFamily="49" charset="-122"/>
              </a:rPr>
              <a:t>       [</a:t>
            </a:r>
            <a:r>
              <a:rPr lang="pt-BR" altLang="zh-CN" sz="2000" dirty="0">
                <a:solidFill>
                  <a:srgbClr val="3333FF"/>
                </a:solidFill>
                <a:ea typeface="黑体" panose="02010609060101010101" pitchFamily="49" charset="-122"/>
              </a:rPr>
              <a:t>–</a:t>
            </a:r>
            <a:r>
              <a:rPr lang="en-US" altLang="zh-CN" sz="2000" dirty="0">
                <a:solidFill>
                  <a:srgbClr val="3333FF"/>
                </a:solidFill>
                <a:ea typeface="黑体" panose="02010609060101010101" pitchFamily="49" charset="-122"/>
              </a:rPr>
              <a:t>3]</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a:t>
            </a:r>
            <a:r>
              <a:rPr lang="pt-BR" altLang="zh-CN"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5]</a:t>
            </a:r>
            <a:r>
              <a:rPr lang="zh-CN" altLang="en-US" sz="2000" baseline="-25000" dirty="0">
                <a:solidFill>
                  <a:schemeClr val="accent2"/>
                </a:solidFill>
                <a:ea typeface="黑体" panose="02010609060101010101" pitchFamily="49" charset="-122"/>
              </a:rPr>
              <a:t>移</a:t>
            </a:r>
            <a:r>
              <a:rPr lang="zh-CN" altLang="en-US" sz="2000" dirty="0">
                <a:solidFill>
                  <a:srgbClr val="3333FF"/>
                </a:solidFill>
                <a:ea typeface="黑体" panose="02010609060101010101" pitchFamily="49" charset="-122"/>
              </a:rPr>
              <a:t> </a:t>
            </a:r>
            <a:r>
              <a:rPr lang="en-US" altLang="zh-CN" sz="2000" dirty="0">
                <a:solidFill>
                  <a:srgbClr val="3333FF"/>
                </a:solidFill>
                <a:ea typeface="黑体" panose="02010609060101010101" pitchFamily="49" charset="-122"/>
              </a:rPr>
              <a:t>= 0101 + 0011 = 1000</a:t>
            </a:r>
            <a:r>
              <a:rPr lang="zh-CN" altLang="en-US" sz="2000" dirty="0">
                <a:solidFill>
                  <a:srgbClr val="3333FF"/>
                </a:solidFill>
                <a:ea typeface="黑体" panose="02010609060101010101" pitchFamily="49" charset="-122"/>
              </a:rPr>
              <a:t>，符号取反后为 </a:t>
            </a:r>
            <a:r>
              <a:rPr lang="en-US" altLang="zh-CN" sz="2000" dirty="0">
                <a:solidFill>
                  <a:srgbClr val="3333FF"/>
                </a:solidFill>
                <a:ea typeface="黑体" panose="02010609060101010101" pitchFamily="49" charset="-122"/>
              </a:rPr>
              <a:t>0000</a:t>
            </a:r>
            <a:r>
              <a:rPr lang="zh-CN" altLang="en-US" sz="2000" dirty="0">
                <a:solidFill>
                  <a:srgbClr val="3333FF"/>
                </a:solidFill>
                <a:ea typeface="黑体" panose="02010609060101010101" pitchFamily="49" charset="-122"/>
              </a:rPr>
              <a:t>，其真值为</a:t>
            </a:r>
            <a:r>
              <a:rPr lang="en-US" altLang="zh-CN" sz="2000" dirty="0">
                <a:solidFill>
                  <a:srgbClr val="3333FF"/>
                </a:solidFill>
                <a:ea typeface="黑体" panose="02010609060101010101" pitchFamily="49" charset="-122"/>
              </a:rPr>
              <a:t>– 8</a:t>
            </a:r>
            <a:r>
              <a:rPr lang="zh-CN" altLang="en-US" sz="2000" dirty="0">
                <a:solidFill>
                  <a:srgbClr val="3333FF"/>
                </a:solidFill>
                <a:ea typeface="黑体" panose="02010609060101010101" pitchFamily="49" charset="-122"/>
              </a:rPr>
              <a:t>。</a:t>
            </a:r>
            <a:endParaRPr lang="zh-CN" altLang="en-US" sz="2000" dirty="0">
              <a:solidFill>
                <a:srgbClr val="3333FF"/>
              </a:solidFill>
              <a:ea typeface="黑体" panose="02010609060101010101" pitchFamily="49" charset="-122"/>
            </a:endParaRPr>
          </a:p>
        </p:txBody>
      </p:sp>
      <p:grpSp>
        <p:nvGrpSpPr>
          <p:cNvPr id="2" name="Group 8"/>
          <p:cNvGrpSpPr/>
          <p:nvPr/>
        </p:nvGrpSpPr>
        <p:grpSpPr>
          <a:xfrm>
            <a:off x="5038725" y="2571750"/>
            <a:ext cx="1933575" cy="295275"/>
            <a:chOff x="3030" y="1410"/>
            <a:chExt cx="1326" cy="180"/>
          </a:xfrm>
        </p:grpSpPr>
        <p:sp>
          <p:nvSpPr>
            <p:cNvPr id="51204" name="Line 6"/>
            <p:cNvSpPr/>
            <p:nvPr/>
          </p:nvSpPr>
          <p:spPr>
            <a:xfrm flipV="1">
              <a:off x="3030" y="1434"/>
              <a:ext cx="1152" cy="156"/>
            </a:xfrm>
            <a:prstGeom prst="line">
              <a:avLst/>
            </a:prstGeom>
            <a:ln w="28575" cap="flat" cmpd="sng">
              <a:solidFill>
                <a:srgbClr val="000000"/>
              </a:solidFill>
              <a:prstDash val="solid"/>
              <a:round/>
              <a:headEnd type="none" w="med" len="med"/>
              <a:tailEnd type="triangle" w="med" len="med"/>
            </a:ln>
          </p:spPr>
        </p:sp>
        <p:sp>
          <p:nvSpPr>
            <p:cNvPr id="51205" name="Line 7"/>
            <p:cNvSpPr/>
            <p:nvPr/>
          </p:nvSpPr>
          <p:spPr>
            <a:xfrm flipV="1">
              <a:off x="4050" y="1410"/>
              <a:ext cx="306" cy="6"/>
            </a:xfrm>
            <a:prstGeom prst="line">
              <a:avLst/>
            </a:prstGeom>
            <a:ln w="28575" cap="flat" cmpd="sng">
              <a:solidFill>
                <a:srgbClr val="000000"/>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7011">
                                            <p:txEl>
                                              <p:charRg st="34" end="92"/>
                                            </p:txEl>
                                          </p:spTgt>
                                        </p:tgtEl>
                                        <p:attrNameLst>
                                          <p:attrName>style.visibility</p:attrName>
                                        </p:attrNameLst>
                                      </p:cBhvr>
                                      <p:to>
                                        <p:strVal val="visible"/>
                                      </p:to>
                                    </p:set>
                                    <p:animEffect transition="in" filter="blinds(horizontal)">
                                      <p:cBhvr>
                                        <p:cTn id="7" dur="500"/>
                                        <p:tgtEl>
                                          <p:spTgt spid="427011">
                                            <p:txEl>
                                              <p:charRg st="34" end="9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7011">
                                            <p:txEl>
                                              <p:charRg st="92" end="152"/>
                                            </p:txEl>
                                          </p:spTgt>
                                        </p:tgtEl>
                                        <p:attrNameLst>
                                          <p:attrName>style.visibility</p:attrName>
                                        </p:attrNameLst>
                                      </p:cBhvr>
                                      <p:to>
                                        <p:strVal val="visible"/>
                                      </p:to>
                                    </p:set>
                                    <p:animEffect transition="in" filter="blinds(horizontal)">
                                      <p:cBhvr>
                                        <p:cTn id="10" dur="500"/>
                                        <p:tgtEl>
                                          <p:spTgt spid="427011">
                                            <p:txEl>
                                              <p:charRg st="92" end="15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7011">
                                            <p:txEl>
                                              <p:charRg st="152" end="213"/>
                                            </p:txEl>
                                          </p:spTgt>
                                        </p:tgtEl>
                                        <p:attrNameLst>
                                          <p:attrName>style.visibility</p:attrName>
                                        </p:attrNameLst>
                                      </p:cBhvr>
                                      <p:to>
                                        <p:strVal val="visible"/>
                                      </p:to>
                                    </p:set>
                                    <p:animEffect transition="in" filter="blinds(horizontal)">
                                      <p:cBhvr>
                                        <p:cTn id="13" dur="500"/>
                                        <p:tgtEl>
                                          <p:spTgt spid="427011">
                                            <p:txEl>
                                              <p:charRg st="152" end="21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27011">
                                            <p:txEl>
                                              <p:charRg st="213" end="262"/>
                                            </p:txEl>
                                          </p:spTgt>
                                        </p:tgtEl>
                                        <p:attrNameLst>
                                          <p:attrName>style.visibility</p:attrName>
                                        </p:attrNameLst>
                                      </p:cBhvr>
                                      <p:to>
                                        <p:strVal val="visible"/>
                                      </p:to>
                                    </p:set>
                                    <p:animEffect transition="in" filter="blinds(horizontal)">
                                      <p:cBhvr>
                                        <p:cTn id="18" dur="500"/>
                                        <p:tgtEl>
                                          <p:spTgt spid="427011">
                                            <p:txEl>
                                              <p:charRg st="213" end="26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27011">
                                            <p:txEl>
                                              <p:charRg st="298" end="356"/>
                                            </p:txEl>
                                          </p:spTgt>
                                        </p:tgtEl>
                                        <p:attrNameLst>
                                          <p:attrName>style.visibility</p:attrName>
                                        </p:attrNameLst>
                                      </p:cBhvr>
                                      <p:to>
                                        <p:strVal val="visible"/>
                                      </p:to>
                                    </p:set>
                                    <p:animEffect transition="in" filter="blinds(horizontal)">
                                      <p:cBhvr>
                                        <p:cTn id="28" dur="500"/>
                                        <p:tgtEl>
                                          <p:spTgt spid="427011">
                                            <p:txEl>
                                              <p:charRg st="298" end="356"/>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427011">
                                            <p:txEl>
                                              <p:charRg st="356" end="418"/>
                                            </p:txEl>
                                          </p:spTgt>
                                        </p:tgtEl>
                                        <p:attrNameLst>
                                          <p:attrName>style.visibility</p:attrName>
                                        </p:attrNameLst>
                                      </p:cBhvr>
                                      <p:to>
                                        <p:strVal val="visible"/>
                                      </p:to>
                                    </p:set>
                                    <p:animEffect transition="in" filter="blinds(horizontal)">
                                      <p:cBhvr>
                                        <p:cTn id="31" dur="500"/>
                                        <p:tgtEl>
                                          <p:spTgt spid="427011">
                                            <p:txEl>
                                              <p:charRg st="356" end="418"/>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427011">
                                            <p:txEl>
                                              <p:charRg st="418" end="480"/>
                                            </p:txEl>
                                          </p:spTgt>
                                        </p:tgtEl>
                                        <p:attrNameLst>
                                          <p:attrName>style.visibility</p:attrName>
                                        </p:attrNameLst>
                                      </p:cBhvr>
                                      <p:to>
                                        <p:strVal val="visible"/>
                                      </p:to>
                                    </p:set>
                                    <p:animEffect transition="in" filter="blinds(horizontal)">
                                      <p:cBhvr>
                                        <p:cTn id="34" dur="500"/>
                                        <p:tgtEl>
                                          <p:spTgt spid="427011">
                                            <p:txEl>
                                              <p:charRg st="418" end="4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type="title"/>
          </p:nvPr>
        </p:nvSpPr>
        <p:spPr>
          <a:xfrm>
            <a:off x="800100" y="169863"/>
            <a:ext cx="4957763" cy="474662"/>
          </a:xfrm>
          <a:ln/>
        </p:spPr>
        <p:txBody>
          <a:bodyPr vert="horz" wrap="square" lIns="63500" tIns="25400" rIns="63500" bIns="25400" anchor="t" anchorCtr="0">
            <a:spAutoFit/>
          </a:bodyPr>
          <a:p>
            <a:r>
              <a:rPr lang="zh-CN" altLang="en-US" dirty="0">
                <a:ea typeface="宋体" panose="02010600030101010101" pitchFamily="2" charset="-122"/>
              </a:rPr>
              <a:t>无符号数的乘法运算</a:t>
            </a:r>
            <a:endParaRPr lang="zh-CN" altLang="en-US" sz="2000" dirty="0">
              <a:ea typeface="宋体" panose="02010600030101010101" pitchFamily="2" charset="-122"/>
            </a:endParaRPr>
          </a:p>
        </p:txBody>
      </p:sp>
      <p:sp>
        <p:nvSpPr>
          <p:cNvPr id="52226" name="Rectangle 3"/>
          <p:cNvSpPr>
            <a:spLocks noGrp="1"/>
          </p:cNvSpPr>
          <p:nvPr>
            <p:ph idx="1"/>
          </p:nvPr>
        </p:nvSpPr>
        <p:spPr>
          <a:xfrm>
            <a:off x="301625" y="1863725"/>
            <a:ext cx="8191500" cy="3778250"/>
          </a:xfrm>
          <a:ln/>
        </p:spPr>
        <p:txBody>
          <a:bodyPr vert="horz" wrap="square" lIns="63500" tIns="25400" rIns="63500" bIns="25400" anchor="t" anchorCtr="0">
            <a:spAutoFit/>
          </a:bodyPr>
          <a:p>
            <a:pPr marL="419100" indent="-419100" defTabSz="914400">
              <a:tabLst>
                <a:tab pos="1543050" algn="l"/>
              </a:tabLst>
            </a:pPr>
            <a:r>
              <a:rPr lang="en-US" altLang="zh-CN" sz="2400" dirty="0"/>
              <a:t>Paper and pencil example:</a:t>
            </a:r>
            <a:endParaRPr lang="en-US" altLang="zh-CN" sz="2400" dirty="0"/>
          </a:p>
          <a:p>
            <a:pPr marL="419100" indent="-419100" defTabSz="914400">
              <a:buNone/>
              <a:tabLst>
                <a:tab pos="1543050" algn="l"/>
              </a:tabLst>
            </a:pPr>
            <a:r>
              <a:rPr lang="en-US" altLang="zh-CN" sz="2400" dirty="0">
                <a:latin typeface="Courier New" panose="02070309020205020404" pitchFamily="49" charset="0"/>
              </a:rPr>
              <a:t> 	Multiplicand     1000</a:t>
            </a:r>
            <a:br>
              <a:rPr lang="en-US" altLang="zh-CN" sz="2400" dirty="0">
                <a:latin typeface="Courier New" panose="02070309020205020404" pitchFamily="49" charset="0"/>
              </a:rPr>
            </a:br>
            <a:r>
              <a:rPr lang="en-US" altLang="zh-CN" sz="2400" dirty="0">
                <a:latin typeface="Courier New" panose="02070309020205020404" pitchFamily="49" charset="0"/>
              </a:rPr>
              <a:t>Multiplier     x 1001</a:t>
            </a:r>
            <a:br>
              <a:rPr lang="en-US" altLang="zh-CN" sz="2400" dirty="0">
                <a:latin typeface="Courier New" panose="02070309020205020404" pitchFamily="49" charset="0"/>
              </a:rPr>
            </a:br>
            <a:r>
              <a:rPr lang="en-US" altLang="zh-CN" sz="2400" dirty="0">
                <a:latin typeface="Courier New" panose="02070309020205020404" pitchFamily="49" charset="0"/>
              </a:rPr>
              <a:t>		 	    1000</a:t>
            </a:r>
            <a:br>
              <a:rPr lang="en-US" altLang="zh-CN" sz="2400" dirty="0">
                <a:latin typeface="Courier New" panose="02070309020205020404" pitchFamily="49" charset="0"/>
              </a:rPr>
            </a:br>
            <a:r>
              <a:rPr lang="en-US" altLang="zh-CN" sz="2400" dirty="0">
                <a:latin typeface="Courier New" panose="02070309020205020404" pitchFamily="49" charset="0"/>
              </a:rPr>
              <a:t>		 	   0000</a:t>
            </a:r>
            <a:br>
              <a:rPr lang="en-US" altLang="zh-CN" sz="2400" dirty="0">
                <a:latin typeface="Courier New" panose="02070309020205020404" pitchFamily="49" charset="0"/>
              </a:rPr>
            </a:br>
            <a:r>
              <a:rPr lang="en-US" altLang="zh-CN" sz="2400" dirty="0">
                <a:latin typeface="Courier New" panose="02070309020205020404" pitchFamily="49" charset="0"/>
              </a:rPr>
              <a:t>		 	  0000</a:t>
            </a:r>
            <a:br>
              <a:rPr lang="en-US" altLang="zh-CN" sz="2400" dirty="0">
                <a:latin typeface="Courier New" panose="02070309020205020404" pitchFamily="49" charset="0"/>
              </a:rPr>
            </a:br>
            <a:r>
              <a:rPr lang="en-US" altLang="zh-CN" sz="2400" dirty="0">
                <a:latin typeface="Courier New" panose="02070309020205020404" pitchFamily="49" charset="0"/>
              </a:rPr>
              <a:t>		 	 1000   </a:t>
            </a:r>
            <a:endParaRPr lang="en-US" altLang="zh-CN" sz="2400" dirty="0">
              <a:latin typeface="Courier New" panose="02070309020205020404" pitchFamily="49" charset="0"/>
            </a:endParaRPr>
          </a:p>
          <a:p>
            <a:pPr marL="419100" indent="-419100" defTabSz="914400">
              <a:buNone/>
              <a:tabLst>
                <a:tab pos="1543050" algn="l"/>
              </a:tabLst>
            </a:pPr>
            <a:r>
              <a:rPr lang="en-US" altLang="zh-CN" sz="2400" dirty="0">
                <a:latin typeface="Courier New" panose="02070309020205020404" pitchFamily="49" charset="0"/>
              </a:rPr>
              <a:t>  Product(</a:t>
            </a:r>
            <a:r>
              <a:rPr lang="zh-CN" altLang="en-US" sz="2400" dirty="0">
                <a:latin typeface="Courier New" panose="02070309020205020404" pitchFamily="49" charset="0"/>
              </a:rPr>
              <a:t>积</a:t>
            </a:r>
            <a:r>
              <a:rPr lang="en-US" altLang="zh-CN" sz="2400" dirty="0">
                <a:latin typeface="Courier New" panose="02070309020205020404" pitchFamily="49" charset="0"/>
              </a:rPr>
              <a:t>) 0.1001000</a:t>
            </a:r>
            <a:endParaRPr lang="en-US" altLang="zh-CN" sz="2400" dirty="0">
              <a:latin typeface="Courier New" panose="02070309020205020404" pitchFamily="49" charset="0"/>
            </a:endParaRPr>
          </a:p>
          <a:p>
            <a:pPr marL="419100" indent="-419100" defTabSz="914400">
              <a:lnSpc>
                <a:spcPct val="100000"/>
              </a:lnSpc>
              <a:spcBef>
                <a:spcPct val="15000"/>
              </a:spcBef>
              <a:tabLst>
                <a:tab pos="1543050" algn="l"/>
              </a:tabLst>
            </a:pPr>
            <a:endParaRPr lang="zh-CN" altLang="en-US" sz="2100" dirty="0">
              <a:solidFill>
                <a:srgbClr val="CC0000"/>
              </a:solidFill>
            </a:endParaRPr>
          </a:p>
        </p:txBody>
      </p:sp>
      <p:sp>
        <p:nvSpPr>
          <p:cNvPr id="52227" name="Line 4"/>
          <p:cNvSpPr/>
          <p:nvPr/>
        </p:nvSpPr>
        <p:spPr>
          <a:xfrm flipV="1">
            <a:off x="3457575" y="3171825"/>
            <a:ext cx="1327150" cy="0"/>
          </a:xfrm>
          <a:prstGeom prst="line">
            <a:avLst/>
          </a:prstGeom>
          <a:ln w="25400" cap="flat" cmpd="sng">
            <a:solidFill>
              <a:schemeClr val="tx1"/>
            </a:solidFill>
            <a:prstDash val="solid"/>
            <a:round/>
            <a:headEnd type="none" w="med" len="med"/>
            <a:tailEnd type="none" w="med" len="med"/>
          </a:ln>
        </p:spPr>
      </p:sp>
      <p:sp>
        <p:nvSpPr>
          <p:cNvPr id="52228" name="Line 5"/>
          <p:cNvSpPr/>
          <p:nvPr/>
        </p:nvSpPr>
        <p:spPr>
          <a:xfrm flipV="1">
            <a:off x="3089275" y="4740275"/>
            <a:ext cx="1558925" cy="0"/>
          </a:xfrm>
          <a:prstGeom prst="line">
            <a:avLst/>
          </a:prstGeom>
          <a:ln w="25400" cap="flat" cmpd="sng">
            <a:solidFill>
              <a:schemeClr val="tx1"/>
            </a:solidFill>
            <a:prstDash val="solid"/>
            <a:round/>
            <a:headEnd type="none" w="med" len="med"/>
            <a:tailEnd type="none" w="med" len="med"/>
          </a:ln>
        </p:spPr>
      </p:sp>
      <p:sp>
        <p:nvSpPr>
          <p:cNvPr id="126984" name="Rectangle 8"/>
          <p:cNvSpPr/>
          <p:nvPr/>
        </p:nvSpPr>
        <p:spPr>
          <a:xfrm>
            <a:off x="630238" y="695325"/>
            <a:ext cx="6742112" cy="1158875"/>
          </a:xfrm>
          <a:prstGeom prst="rect">
            <a:avLst/>
          </a:prstGeom>
          <a:noFill/>
          <a:ln w="12700">
            <a:noFill/>
          </a:ln>
        </p:spPr>
        <p:txBody>
          <a:bodyPr anchor="ctr" anchorCtr="0">
            <a:spAutoFit/>
          </a:bodyPr>
          <a:p>
            <a:pPr eaLnBrk="0" hangingPunct="0">
              <a:spcBef>
                <a:spcPct val="25000"/>
              </a:spcBef>
            </a:pPr>
            <a:r>
              <a:rPr lang="zh-CN" altLang="en-US" sz="2000" dirty="0">
                <a:solidFill>
                  <a:schemeClr val="accent2"/>
                </a:solidFill>
                <a:latin typeface="Arial" panose="020B0604020202020204" pitchFamily="34" charset="0"/>
                <a:ea typeface="黑体" panose="02010609060101010101" pitchFamily="49" charset="-122"/>
              </a:rPr>
              <a:t>假定：</a:t>
            </a:r>
            <a:r>
              <a:rPr lang="en-US" altLang="zh-CN" sz="2000" dirty="0">
                <a:solidFill>
                  <a:schemeClr val="accent2"/>
                </a:solidFill>
                <a:latin typeface="Arial" panose="020B0604020202020204" pitchFamily="34" charset="0"/>
                <a:ea typeface="黑体" panose="02010609060101010101" pitchFamily="49" charset="-122"/>
              </a:rPr>
              <a:t>[X]</a:t>
            </a:r>
            <a:r>
              <a:rPr lang="zh-CN" altLang="en-US" sz="2000" baseline="-25000" dirty="0">
                <a:solidFill>
                  <a:schemeClr val="accent2"/>
                </a:solidFill>
                <a:latin typeface="Arial" panose="020B0604020202020204" pitchFamily="34" charset="0"/>
                <a:ea typeface="黑体" panose="02010609060101010101" pitchFamily="49" charset="-122"/>
              </a:rPr>
              <a:t>原</a:t>
            </a:r>
            <a:r>
              <a:rPr lang="en-US" altLang="zh-CN" sz="2000" dirty="0">
                <a:solidFill>
                  <a:schemeClr val="accent2"/>
                </a:solidFill>
                <a:latin typeface="Arial" panose="020B0604020202020204" pitchFamily="34" charset="0"/>
                <a:ea typeface="黑体" panose="02010609060101010101" pitchFamily="49" charset="-122"/>
              </a:rPr>
              <a:t>=x</a:t>
            </a:r>
            <a:r>
              <a:rPr lang="en-US" altLang="zh-CN" sz="2000" baseline="-25000" dirty="0">
                <a:solidFill>
                  <a:schemeClr val="accent2"/>
                </a:solidFill>
                <a:latin typeface="Arial" panose="020B0604020202020204" pitchFamily="34" charset="0"/>
                <a:ea typeface="黑体" panose="02010609060101010101" pitchFamily="49" charset="-122"/>
              </a:rPr>
              <a:t>0</a:t>
            </a:r>
            <a:r>
              <a:rPr lang="en-US" altLang="zh-CN" sz="2000" dirty="0">
                <a:solidFill>
                  <a:schemeClr val="accent2"/>
                </a:solidFill>
                <a:latin typeface="Arial" panose="020B0604020202020204" pitchFamily="34" charset="0"/>
                <a:ea typeface="黑体" panose="02010609060101010101" pitchFamily="49" charset="-122"/>
              </a:rPr>
              <a:t>.x</a:t>
            </a:r>
            <a:r>
              <a:rPr lang="en-US" altLang="zh-CN" sz="2000" baseline="-25000" dirty="0">
                <a:solidFill>
                  <a:schemeClr val="accent2"/>
                </a:solidFill>
                <a:latin typeface="Arial" panose="020B0604020202020204" pitchFamily="34" charset="0"/>
                <a:ea typeface="黑体" panose="02010609060101010101" pitchFamily="49" charset="-122"/>
              </a:rPr>
              <a:t>1</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a:t>
            </a:r>
            <a:r>
              <a:rPr lang="en-US" altLang="zh-CN" sz="2000" dirty="0">
                <a:solidFill>
                  <a:schemeClr val="accent2"/>
                </a:solidFill>
                <a:latin typeface="Arial" panose="020B0604020202020204" pitchFamily="34" charset="0"/>
                <a:ea typeface="黑体" panose="02010609060101010101" pitchFamily="49" charset="-122"/>
              </a:rPr>
              <a:t>x</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n</a:t>
            </a:r>
            <a:r>
              <a:rPr lang="zh-CN" altLang="en-US" sz="2000" dirty="0">
                <a:solidFill>
                  <a:schemeClr val="accent2"/>
                </a:solidFill>
                <a:latin typeface="Arial" panose="020B0604020202020204" pitchFamily="34" charset="0"/>
                <a:ea typeface="黑体" panose="02010609060101010101" pitchFamily="49" charset="-122"/>
                <a:sym typeface="Symbol" panose="05050102010706020507" pitchFamily="18" charset="2"/>
              </a:rPr>
              <a:t>，</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[Y]</a:t>
            </a:r>
            <a:r>
              <a:rPr lang="zh-CN" altLang="en-US" sz="2000" baseline="-25000" dirty="0">
                <a:solidFill>
                  <a:schemeClr val="accent2"/>
                </a:solidFill>
                <a:latin typeface="Arial" panose="020B0604020202020204" pitchFamily="34" charset="0"/>
                <a:ea typeface="黑体" panose="02010609060101010101" pitchFamily="49" charset="-122"/>
              </a:rPr>
              <a:t>原</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=y</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0</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.y</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1</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a:t>
            </a:r>
            <a:r>
              <a:rPr lang="en-US" altLang="zh-CN" sz="2000" dirty="0">
                <a:solidFill>
                  <a:schemeClr val="accent2"/>
                </a:solidFill>
                <a:latin typeface="Arial" panose="020B0604020202020204" pitchFamily="34" charset="0"/>
                <a:ea typeface="黑体" panose="02010609060101010101" pitchFamily="49" charset="-122"/>
              </a:rPr>
              <a:t>y</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n</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 </a:t>
            </a:r>
            <a:r>
              <a:rPr lang="zh-CN" altLang="en-US" sz="2000" dirty="0">
                <a:solidFill>
                  <a:schemeClr val="accent2"/>
                </a:solidFill>
                <a:latin typeface="Arial" panose="020B0604020202020204" pitchFamily="34" charset="0"/>
                <a:ea typeface="黑体" panose="02010609060101010101" pitchFamily="49" charset="-122"/>
                <a:sym typeface="Symbol" panose="05050102010706020507" pitchFamily="18" charset="2"/>
              </a:rPr>
              <a:t>，求</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[x</a:t>
            </a:r>
            <a:r>
              <a:rPr lang="en-US" altLang="zh-CN" dirty="0">
                <a:solidFill>
                  <a:schemeClr val="accent2"/>
                </a:solidFill>
                <a:latin typeface="黑体" panose="02010609060101010101" pitchFamily="49" charset="-122"/>
                <a:ea typeface="黑体" panose="02010609060101010101" pitchFamily="49" charset="-122"/>
                <a:sym typeface="Symbol" panose="05050102010706020507" pitchFamily="18" charset="2"/>
              </a:rPr>
              <a:t>×</a:t>
            </a:r>
            <a:r>
              <a:rPr lang="en-US" altLang="zh-CN" dirty="0">
                <a:solidFill>
                  <a:schemeClr val="accent2"/>
                </a:solidFill>
                <a:latin typeface="Times New Roman" panose="02020603050405020304" pitchFamily="18" charset="0"/>
                <a:sym typeface="Symbol" panose="05050102010706020507" pitchFamily="18" charset="2"/>
              </a:rPr>
              <a:t>Y</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a:t>
            </a:r>
            <a:r>
              <a:rPr lang="zh-CN" altLang="en-US" dirty="0">
                <a:solidFill>
                  <a:schemeClr val="accent2"/>
                </a:solidFill>
                <a:latin typeface="Times New Roman" panose="02020603050405020304" pitchFamily="18" charset="0"/>
                <a:ea typeface="宋体" panose="02010600030101010101" pitchFamily="2" charset="-122"/>
              </a:rPr>
              <a:t>原</a:t>
            </a:r>
            <a:endPar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endParaRPr>
          </a:p>
          <a:p>
            <a:pPr eaLnBrk="0" hangingPunct="0">
              <a:spcBef>
                <a:spcPct val="25000"/>
              </a:spcBef>
            </a:pPr>
            <a:r>
              <a:rPr lang="zh-CN" altLang="en-US" sz="2000" dirty="0">
                <a:solidFill>
                  <a:schemeClr val="accent2"/>
                </a:solidFill>
                <a:latin typeface="Arial" panose="020B0604020202020204" pitchFamily="34" charset="0"/>
                <a:ea typeface="黑体" panose="02010609060101010101" pitchFamily="49" charset="-122"/>
                <a:sym typeface="Symbol" panose="05050102010706020507" pitchFamily="18" charset="2"/>
              </a:rPr>
              <a:t>数值部分 </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z</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1</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z</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2n </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 (0.x</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1</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x</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n</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 ) × (0. y</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1</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y</a:t>
            </a:r>
            <a:r>
              <a:rPr lang="en-US" altLang="zh-CN" sz="2000" baseline="-25000" dirty="0">
                <a:solidFill>
                  <a:schemeClr val="accent2"/>
                </a:solidFill>
                <a:latin typeface="Arial" panose="020B0604020202020204" pitchFamily="34" charset="0"/>
                <a:ea typeface="黑体" panose="02010609060101010101" pitchFamily="49" charset="-122"/>
                <a:sym typeface="Symbol" panose="05050102010706020507" pitchFamily="18" charset="2"/>
              </a:rPr>
              <a:t>n</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 </a:t>
            </a:r>
            <a:endPar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endParaRPr>
          </a:p>
          <a:p>
            <a:pPr eaLnBrk="0" hangingPunct="0">
              <a:spcBef>
                <a:spcPct val="25000"/>
              </a:spcBef>
            </a:pP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a:t>
            </a:r>
            <a:r>
              <a:rPr lang="zh-CN" altLang="en-US" sz="2000" dirty="0">
                <a:solidFill>
                  <a:schemeClr val="accent2"/>
                </a:solidFill>
                <a:latin typeface="Arial" panose="020B0604020202020204" pitchFamily="34" charset="0"/>
                <a:ea typeface="黑体" panose="02010609060101010101" pitchFamily="49" charset="-122"/>
                <a:sym typeface="Symbol" panose="05050102010706020507" pitchFamily="18" charset="2"/>
              </a:rPr>
              <a:t>小数点位置约定，不区分小数还是整数</a:t>
            </a:r>
            <a:r>
              <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rPr>
              <a:t>)</a:t>
            </a:r>
            <a:endParaRPr lang="en-US" altLang="zh-CN" sz="2000" dirty="0">
              <a:solidFill>
                <a:schemeClr val="accent2"/>
              </a:solidFill>
              <a:latin typeface="Arial" panose="020B0604020202020204" pitchFamily="34" charset="0"/>
              <a:ea typeface="黑体" panose="02010609060101010101" pitchFamily="49" charset="-122"/>
              <a:sym typeface="Symbol" panose="05050102010706020507" pitchFamily="18" charset="2"/>
            </a:endParaRPr>
          </a:p>
        </p:txBody>
      </p:sp>
      <p:sp>
        <p:nvSpPr>
          <p:cNvPr id="126985" name="Rectangle 9"/>
          <p:cNvSpPr/>
          <p:nvPr/>
        </p:nvSpPr>
        <p:spPr>
          <a:xfrm>
            <a:off x="4860925" y="3178175"/>
            <a:ext cx="3081338" cy="396875"/>
          </a:xfrm>
          <a:prstGeom prst="rect">
            <a:avLst/>
          </a:prstGeom>
          <a:noFill/>
          <a:ln w="12700">
            <a:noFill/>
          </a:ln>
        </p:spPr>
        <p:txBody>
          <a:bodyPr anchor="ctr" anchorCtr="0">
            <a:spAutoFit/>
          </a:bodyPr>
          <a:p>
            <a:pPr eaLnBrk="0" hangingPunct="0"/>
            <a:r>
              <a:rPr lang="en-US" altLang="zh-CN" sz="2000" dirty="0">
                <a:latin typeface="Arial" panose="020B0604020202020204" pitchFamily="34" charset="0"/>
              </a:rPr>
              <a:t>X× y</a:t>
            </a:r>
            <a:r>
              <a:rPr lang="en-US" altLang="zh-CN" sz="2000" baseline="-25000" dirty="0">
                <a:latin typeface="Arial" panose="020B0604020202020204" pitchFamily="34" charset="0"/>
              </a:rPr>
              <a:t>4</a:t>
            </a:r>
            <a:r>
              <a:rPr lang="en-US" altLang="zh-CN" sz="2000" dirty="0">
                <a:latin typeface="Arial" panose="020B0604020202020204" pitchFamily="34" charset="0"/>
              </a:rPr>
              <a:t>× 2</a:t>
            </a:r>
            <a:r>
              <a:rPr lang="en-US" altLang="zh-CN" sz="2000" baseline="30000" dirty="0">
                <a:latin typeface="Arial" panose="020B0604020202020204" pitchFamily="34" charset="0"/>
              </a:rPr>
              <a:t>-4</a:t>
            </a:r>
            <a:endParaRPr lang="en-US" altLang="zh-CN" sz="2000" baseline="30000" dirty="0">
              <a:latin typeface="Arial" panose="020B0604020202020204" pitchFamily="34" charset="0"/>
            </a:endParaRPr>
          </a:p>
        </p:txBody>
      </p:sp>
      <p:sp>
        <p:nvSpPr>
          <p:cNvPr id="126986" name="Rectangle 10"/>
          <p:cNvSpPr/>
          <p:nvPr/>
        </p:nvSpPr>
        <p:spPr>
          <a:xfrm>
            <a:off x="4848225" y="3556000"/>
            <a:ext cx="3081338" cy="396875"/>
          </a:xfrm>
          <a:prstGeom prst="rect">
            <a:avLst/>
          </a:prstGeom>
          <a:noFill/>
          <a:ln w="12700">
            <a:noFill/>
          </a:ln>
        </p:spPr>
        <p:txBody>
          <a:bodyPr anchor="ctr" anchorCtr="0">
            <a:spAutoFit/>
          </a:bodyPr>
          <a:p>
            <a:pPr eaLnBrk="0" hangingPunct="0"/>
            <a:r>
              <a:rPr lang="en-US" altLang="zh-CN" sz="2000" dirty="0">
                <a:latin typeface="Arial" panose="020B0604020202020204" pitchFamily="34" charset="0"/>
              </a:rPr>
              <a:t>X× y</a:t>
            </a:r>
            <a:r>
              <a:rPr lang="en-US" altLang="zh-CN" sz="2000" baseline="-25000" dirty="0">
                <a:latin typeface="Arial" panose="020B0604020202020204" pitchFamily="34" charset="0"/>
              </a:rPr>
              <a:t>3</a:t>
            </a:r>
            <a:r>
              <a:rPr lang="en-US" altLang="zh-CN" sz="2000" dirty="0">
                <a:latin typeface="Arial" panose="020B0604020202020204" pitchFamily="34" charset="0"/>
              </a:rPr>
              <a:t>× 2</a:t>
            </a:r>
            <a:r>
              <a:rPr lang="en-US" altLang="zh-CN" sz="2000" baseline="30000" dirty="0">
                <a:latin typeface="Arial" panose="020B0604020202020204" pitchFamily="34" charset="0"/>
              </a:rPr>
              <a:t>-3</a:t>
            </a:r>
            <a:endParaRPr lang="en-US" altLang="zh-CN" sz="2000" baseline="30000" dirty="0">
              <a:latin typeface="Arial" panose="020B0604020202020204" pitchFamily="34" charset="0"/>
            </a:endParaRPr>
          </a:p>
        </p:txBody>
      </p:sp>
      <p:sp>
        <p:nvSpPr>
          <p:cNvPr id="126987" name="Rectangle 11"/>
          <p:cNvSpPr/>
          <p:nvPr/>
        </p:nvSpPr>
        <p:spPr>
          <a:xfrm>
            <a:off x="4848225" y="3937000"/>
            <a:ext cx="3081338" cy="396875"/>
          </a:xfrm>
          <a:prstGeom prst="rect">
            <a:avLst/>
          </a:prstGeom>
          <a:noFill/>
          <a:ln w="12700">
            <a:noFill/>
          </a:ln>
        </p:spPr>
        <p:txBody>
          <a:bodyPr anchor="ctr" anchorCtr="0">
            <a:spAutoFit/>
          </a:bodyPr>
          <a:p>
            <a:pPr eaLnBrk="0" hangingPunct="0"/>
            <a:r>
              <a:rPr lang="en-US" altLang="zh-CN" sz="2000" dirty="0">
                <a:latin typeface="Arial" panose="020B0604020202020204" pitchFamily="34" charset="0"/>
              </a:rPr>
              <a:t>X× y</a:t>
            </a:r>
            <a:r>
              <a:rPr lang="en-US" altLang="zh-CN" sz="2000" baseline="-25000" dirty="0">
                <a:latin typeface="Arial" panose="020B0604020202020204" pitchFamily="34" charset="0"/>
              </a:rPr>
              <a:t>2</a:t>
            </a:r>
            <a:r>
              <a:rPr lang="en-US" altLang="zh-CN" sz="2000" dirty="0">
                <a:latin typeface="Arial" panose="020B0604020202020204" pitchFamily="34" charset="0"/>
              </a:rPr>
              <a:t>× 2</a:t>
            </a:r>
            <a:r>
              <a:rPr lang="en-US" altLang="zh-CN" sz="2000" baseline="30000" dirty="0">
                <a:latin typeface="Arial" panose="020B0604020202020204" pitchFamily="34" charset="0"/>
              </a:rPr>
              <a:t>-2</a:t>
            </a:r>
            <a:endParaRPr lang="en-US" altLang="zh-CN" sz="2000" baseline="30000" dirty="0">
              <a:latin typeface="Arial" panose="020B0604020202020204" pitchFamily="34" charset="0"/>
            </a:endParaRPr>
          </a:p>
        </p:txBody>
      </p:sp>
      <p:sp>
        <p:nvSpPr>
          <p:cNvPr id="126988" name="Rectangle 12"/>
          <p:cNvSpPr/>
          <p:nvPr/>
        </p:nvSpPr>
        <p:spPr>
          <a:xfrm>
            <a:off x="4848225" y="4270375"/>
            <a:ext cx="3081338" cy="396875"/>
          </a:xfrm>
          <a:prstGeom prst="rect">
            <a:avLst/>
          </a:prstGeom>
          <a:noFill/>
          <a:ln w="12700">
            <a:noFill/>
          </a:ln>
        </p:spPr>
        <p:txBody>
          <a:bodyPr anchor="ctr" anchorCtr="0">
            <a:spAutoFit/>
          </a:bodyPr>
          <a:p>
            <a:pPr eaLnBrk="0" hangingPunct="0"/>
            <a:r>
              <a:rPr lang="en-US" altLang="zh-CN" sz="2000" dirty="0">
                <a:latin typeface="Arial" panose="020B0604020202020204" pitchFamily="34" charset="0"/>
              </a:rPr>
              <a:t>X× y</a:t>
            </a:r>
            <a:r>
              <a:rPr lang="en-US" altLang="zh-CN" sz="2000" baseline="-25000" dirty="0">
                <a:latin typeface="Arial" panose="020B0604020202020204" pitchFamily="34" charset="0"/>
              </a:rPr>
              <a:t>1</a:t>
            </a:r>
            <a:r>
              <a:rPr lang="en-US" altLang="zh-CN" sz="2000" dirty="0">
                <a:latin typeface="Arial" panose="020B0604020202020204" pitchFamily="34" charset="0"/>
              </a:rPr>
              <a:t>× 2</a:t>
            </a:r>
            <a:r>
              <a:rPr lang="en-US" altLang="zh-CN" sz="2000" baseline="30000" dirty="0">
                <a:latin typeface="Arial" panose="020B0604020202020204" pitchFamily="34" charset="0"/>
              </a:rPr>
              <a:t>-1</a:t>
            </a:r>
            <a:endParaRPr lang="en-US" altLang="zh-CN" sz="2000" baseline="30000" dirty="0">
              <a:latin typeface="Arial" panose="020B0604020202020204" pitchFamily="34" charset="0"/>
            </a:endParaRPr>
          </a:p>
        </p:txBody>
      </p:sp>
      <p:sp>
        <p:nvSpPr>
          <p:cNvPr id="126989" name="Rectangle 13"/>
          <p:cNvSpPr/>
          <p:nvPr/>
        </p:nvSpPr>
        <p:spPr>
          <a:xfrm>
            <a:off x="5499100" y="2052638"/>
            <a:ext cx="3079750" cy="793750"/>
          </a:xfrm>
          <a:prstGeom prst="rect">
            <a:avLst/>
          </a:prstGeom>
          <a:noFill/>
          <a:ln w="12700">
            <a:noFill/>
          </a:ln>
        </p:spPr>
        <p:txBody>
          <a:bodyPr wrap="none" anchor="ctr" anchorCtr="0">
            <a:spAutoFit/>
          </a:bodyPr>
          <a:p>
            <a:pPr indent="288925" eaLnBrk="0" hangingPunct="0">
              <a:lnSpc>
                <a:spcPct val="80000"/>
              </a:lnSpc>
            </a:pPr>
            <a:r>
              <a:rPr lang="en-US" altLang="zh-CN" b="0" dirty="0">
                <a:latin typeface="Times New Roman" panose="02020603050405020304" pitchFamily="18" charset="0"/>
              </a:rPr>
              <a:t>                </a:t>
            </a:r>
            <a:r>
              <a:rPr lang="en-US" altLang="zh-CN" sz="2000" dirty="0">
                <a:latin typeface="Arial" panose="020B0604020202020204" pitchFamily="34" charset="0"/>
              </a:rPr>
              <a:t>4</a:t>
            </a:r>
            <a:endParaRPr lang="en-US" altLang="zh-CN" sz="2000" dirty="0">
              <a:latin typeface="Arial" panose="020B0604020202020204" pitchFamily="34" charset="0"/>
            </a:endParaRPr>
          </a:p>
          <a:p>
            <a:pPr indent="288925" eaLnBrk="0" hangingPunct="0">
              <a:lnSpc>
                <a:spcPct val="80000"/>
              </a:lnSpc>
            </a:pPr>
            <a:r>
              <a:rPr lang="en-US" altLang="zh-CN" sz="2000" dirty="0">
                <a:latin typeface="Arial" panose="020B0604020202020204" pitchFamily="34" charset="0"/>
              </a:rPr>
              <a:t>X×Y= </a:t>
            </a:r>
            <a:r>
              <a:rPr lang="en-US" altLang="zh-CN" sz="2000" dirty="0">
                <a:latin typeface="Arial" panose="020B0604020202020204" pitchFamily="34" charset="0"/>
                <a:sym typeface="Symbol" panose="05050102010706020507" pitchFamily="18" charset="2"/>
              </a:rPr>
              <a:t> </a:t>
            </a:r>
            <a:r>
              <a:rPr lang="en-US" altLang="zh-CN" sz="2000" dirty="0">
                <a:latin typeface="Arial" panose="020B0604020202020204" pitchFamily="34" charset="0"/>
              </a:rPr>
              <a:t> (X</a:t>
            </a:r>
            <a:r>
              <a:rPr lang="en-US" altLang="zh-CN" sz="2000" dirty="0">
                <a:latin typeface="Arial" panose="020B0604020202020204" pitchFamily="34" charset="0"/>
                <a:sym typeface="Symbol" panose="05050102010706020507" pitchFamily="18" charset="2"/>
              </a:rPr>
              <a:t>× y</a:t>
            </a:r>
            <a:r>
              <a:rPr lang="en-US" altLang="zh-CN" sz="2000" baseline="-25000" dirty="0">
                <a:latin typeface="Arial" panose="020B0604020202020204" pitchFamily="34" charset="0"/>
                <a:sym typeface="Symbol" panose="05050102010706020507" pitchFamily="18" charset="2"/>
              </a:rPr>
              <a:t>i</a:t>
            </a:r>
            <a:r>
              <a:rPr lang="en-US" altLang="zh-CN" sz="2000" dirty="0">
                <a:latin typeface="Arial" panose="020B0604020202020204" pitchFamily="34" charset="0"/>
                <a:sym typeface="Symbol" panose="05050102010706020507" pitchFamily="18" charset="2"/>
              </a:rPr>
              <a:t>×2</a:t>
            </a:r>
            <a:r>
              <a:rPr lang="en-US" altLang="zh-CN" sz="2000" baseline="30000" dirty="0">
                <a:latin typeface="Arial" panose="020B0604020202020204" pitchFamily="34" charset="0"/>
                <a:sym typeface="Symbol" panose="05050102010706020507" pitchFamily="18" charset="2"/>
              </a:rPr>
              <a:t>-i</a:t>
            </a:r>
            <a:r>
              <a:rPr lang="en-US" altLang="zh-CN" sz="2000" dirty="0">
                <a:latin typeface="Arial" panose="020B0604020202020204" pitchFamily="34" charset="0"/>
                <a:sym typeface="Symbol" panose="05050102010706020507" pitchFamily="18" charset="2"/>
              </a:rPr>
              <a:t>)  </a:t>
            </a:r>
            <a:endParaRPr lang="en-US" altLang="zh-CN" sz="2000" dirty="0">
              <a:latin typeface="Arial" panose="020B0604020202020204" pitchFamily="34" charset="0"/>
              <a:sym typeface="Symbol" panose="05050102010706020507" pitchFamily="18" charset="2"/>
            </a:endParaRPr>
          </a:p>
          <a:p>
            <a:pPr indent="288925" eaLnBrk="0" hangingPunct="0">
              <a:lnSpc>
                <a:spcPct val="70000"/>
              </a:lnSpc>
            </a:pPr>
            <a:r>
              <a:rPr lang="en-US" altLang="zh-CN" sz="2000" dirty="0">
                <a:latin typeface="Arial" panose="020B0604020202020204" pitchFamily="34" charset="0"/>
                <a:sym typeface="Symbol" panose="05050102010706020507" pitchFamily="18" charset="2"/>
              </a:rPr>
              <a:t>           i=1</a:t>
            </a:r>
            <a:endParaRPr lang="en-US" altLang="zh-CN" sz="2000" dirty="0">
              <a:latin typeface="Arial" panose="020B0604020202020204" pitchFamily="34" charset="0"/>
              <a:sym typeface="Symbol" panose="05050102010706020507" pitchFamily="18" charset="2"/>
            </a:endParaRPr>
          </a:p>
        </p:txBody>
      </p:sp>
      <p:sp>
        <p:nvSpPr>
          <p:cNvPr id="126992" name="Text Box 16"/>
          <p:cNvSpPr txBox="1"/>
          <p:nvPr/>
        </p:nvSpPr>
        <p:spPr>
          <a:xfrm>
            <a:off x="269875" y="5564188"/>
            <a:ext cx="6710363" cy="427037"/>
          </a:xfrm>
          <a:prstGeom prst="rect">
            <a:avLst/>
          </a:prstGeom>
          <a:noFill/>
          <a:ln w="12700">
            <a:noFill/>
          </a:ln>
        </p:spPr>
        <p:txBody>
          <a:bodyPr anchor="t" anchorCtr="0">
            <a:spAutoFit/>
          </a:bodyPr>
          <a:p>
            <a:pPr eaLnBrk="0" hangingPunct="0">
              <a:spcBef>
                <a:spcPct val="50000"/>
              </a:spcBef>
            </a:pPr>
            <a:r>
              <a:rPr lang="zh-CN" altLang="en-US" sz="2200" dirty="0">
                <a:solidFill>
                  <a:schemeClr val="accent2"/>
                </a:solidFill>
                <a:latin typeface="黑体" panose="02010609060101010101" pitchFamily="49" charset="-122"/>
                <a:ea typeface="黑体" panose="02010609060101010101" pitchFamily="49" charset="-122"/>
              </a:rPr>
              <a:t>整个运算过程中用到两种操作：加法 </a:t>
            </a:r>
            <a:r>
              <a:rPr lang="en-US" altLang="zh-CN" sz="2200" dirty="0">
                <a:solidFill>
                  <a:schemeClr val="accent2"/>
                </a:solidFill>
                <a:latin typeface="黑体" panose="02010609060101010101" pitchFamily="49" charset="-122"/>
                <a:ea typeface="黑体" panose="02010609060101010101" pitchFamily="49" charset="-122"/>
              </a:rPr>
              <a:t>+ </a:t>
            </a:r>
            <a:r>
              <a:rPr lang="zh-CN" altLang="en-US" sz="2200" dirty="0">
                <a:solidFill>
                  <a:schemeClr val="accent2"/>
                </a:solidFill>
                <a:latin typeface="黑体" panose="02010609060101010101" pitchFamily="49" charset="-122"/>
                <a:ea typeface="黑体" panose="02010609060101010101" pitchFamily="49" charset="-122"/>
              </a:rPr>
              <a:t>左移</a:t>
            </a:r>
            <a:endParaRPr lang="zh-CN" altLang="en-US" sz="2200" dirty="0">
              <a:solidFill>
                <a:schemeClr val="accent2"/>
              </a:solidFill>
              <a:latin typeface="黑体" panose="02010609060101010101" pitchFamily="49" charset="-122"/>
              <a:ea typeface="黑体" panose="02010609060101010101" pitchFamily="49" charset="-122"/>
            </a:endParaRPr>
          </a:p>
        </p:txBody>
      </p:sp>
      <p:sp>
        <p:nvSpPr>
          <p:cNvPr id="126994" name="Rectangle 18"/>
          <p:cNvSpPr/>
          <p:nvPr/>
        </p:nvSpPr>
        <p:spPr>
          <a:xfrm>
            <a:off x="358775" y="5986463"/>
            <a:ext cx="6592888" cy="427037"/>
          </a:xfrm>
          <a:prstGeom prst="rect">
            <a:avLst/>
          </a:prstGeom>
          <a:noFill/>
          <a:ln w="12700">
            <a:noFill/>
          </a:ln>
        </p:spPr>
        <p:txBody>
          <a:bodyPr anchor="t" anchorCtr="0">
            <a:spAutoFit/>
          </a:bodyPr>
          <a:p>
            <a:pPr eaLnBrk="0" hangingPunct="0"/>
            <a:r>
              <a:rPr lang="zh-CN" altLang="en-US" sz="2200" dirty="0">
                <a:solidFill>
                  <a:srgbClr val="FF0066"/>
                </a:solidFill>
                <a:latin typeface="黑体" panose="02010609060101010101" pitchFamily="49" charset="-122"/>
                <a:ea typeface="黑体" panose="02010609060101010101" pitchFamily="49" charset="-122"/>
              </a:rPr>
              <a:t>因而，可用</a:t>
            </a:r>
            <a:r>
              <a:rPr lang="en-US" altLang="zh-CN" sz="2200" dirty="0">
                <a:solidFill>
                  <a:srgbClr val="FF0066"/>
                </a:solidFill>
                <a:latin typeface="黑体" panose="02010609060101010101" pitchFamily="49" charset="-122"/>
                <a:ea typeface="黑体" panose="02010609060101010101" pitchFamily="49" charset="-122"/>
              </a:rPr>
              <a:t>ALU</a:t>
            </a:r>
            <a:r>
              <a:rPr lang="zh-CN" altLang="en-US" sz="2200" dirty="0">
                <a:solidFill>
                  <a:srgbClr val="FF0066"/>
                </a:solidFill>
                <a:latin typeface="黑体" panose="02010609060101010101" pitchFamily="49" charset="-122"/>
                <a:ea typeface="黑体" panose="02010609060101010101" pitchFamily="49" charset="-122"/>
              </a:rPr>
              <a:t>和移位器来实现乘法运算</a:t>
            </a:r>
            <a:endParaRPr lang="zh-CN" altLang="en-US" sz="2200" dirty="0">
              <a:solidFill>
                <a:srgbClr val="FF0066"/>
              </a:solidFill>
              <a:latin typeface="黑体" panose="02010609060101010101" pitchFamily="49" charset="-122"/>
              <a:ea typeface="黑体" panose="02010609060101010101" pitchFamily="49" charset="-122"/>
            </a:endParaRPr>
          </a:p>
        </p:txBody>
      </p:sp>
      <p:sp>
        <p:nvSpPr>
          <p:cNvPr id="14" name="TextBox 13"/>
          <p:cNvSpPr txBox="1"/>
          <p:nvPr/>
        </p:nvSpPr>
        <p:spPr>
          <a:xfrm>
            <a:off x="6891338" y="3194050"/>
            <a:ext cx="1160462" cy="461963"/>
          </a:xfrm>
          <a:prstGeom prst="rect">
            <a:avLst/>
          </a:prstGeom>
          <a:noFill/>
          <a:ln w="9525">
            <a:noFill/>
          </a:ln>
        </p:spPr>
        <p:txBody>
          <a:bodyPr anchor="t" anchorCtr="0">
            <a:spAutoFit/>
          </a:bodyPr>
          <a:p>
            <a:pPr eaLnBrk="0" hangingPunct="0">
              <a:buClrTx/>
              <a:buFontTx/>
            </a:pPr>
            <a:r>
              <a:rPr lang="en-US" altLang="zh-CN" sz="2400" dirty="0">
                <a:latin typeface="Arial" panose="020B0604020202020204" pitchFamily="34" charset="0"/>
              </a:rPr>
              <a:t>n=4</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84"/>
                                        </p:tgtEl>
                                        <p:attrNameLst>
                                          <p:attrName>style.visibility</p:attrName>
                                        </p:attrNameLst>
                                      </p:cBhvr>
                                      <p:to>
                                        <p:strVal val="visible"/>
                                      </p:to>
                                    </p:set>
                                    <p:animEffect transition="in" filter="blinds(horizontal)">
                                      <p:cBhvr>
                                        <p:cTn id="7" dur="500"/>
                                        <p:tgtEl>
                                          <p:spTgt spid="1269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6985"/>
                                        </p:tgtEl>
                                        <p:attrNameLst>
                                          <p:attrName>style.visibility</p:attrName>
                                        </p:attrNameLst>
                                      </p:cBhvr>
                                      <p:to>
                                        <p:strVal val="visible"/>
                                      </p:to>
                                    </p:set>
                                    <p:animEffect transition="in" filter="blinds(horizontal)">
                                      <p:cBhvr>
                                        <p:cTn id="17" dur="500"/>
                                        <p:tgtEl>
                                          <p:spTgt spid="12698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26986"/>
                                        </p:tgtEl>
                                        <p:attrNameLst>
                                          <p:attrName>style.visibility</p:attrName>
                                        </p:attrNameLst>
                                      </p:cBhvr>
                                      <p:to>
                                        <p:strVal val="visible"/>
                                      </p:to>
                                    </p:set>
                                    <p:animEffect transition="in" filter="blinds(horizontal)">
                                      <p:cBhvr>
                                        <p:cTn id="20" dur="500"/>
                                        <p:tgtEl>
                                          <p:spTgt spid="126986"/>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26987"/>
                                        </p:tgtEl>
                                        <p:attrNameLst>
                                          <p:attrName>style.visibility</p:attrName>
                                        </p:attrNameLst>
                                      </p:cBhvr>
                                      <p:to>
                                        <p:strVal val="visible"/>
                                      </p:to>
                                    </p:set>
                                    <p:animEffect transition="in" filter="blinds(horizontal)">
                                      <p:cBhvr>
                                        <p:cTn id="23" dur="500"/>
                                        <p:tgtEl>
                                          <p:spTgt spid="12698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26988"/>
                                        </p:tgtEl>
                                        <p:attrNameLst>
                                          <p:attrName>style.visibility</p:attrName>
                                        </p:attrNameLst>
                                      </p:cBhvr>
                                      <p:to>
                                        <p:strVal val="visible"/>
                                      </p:to>
                                    </p:set>
                                    <p:animEffect transition="in" filter="blinds(horizontal)">
                                      <p:cBhvr>
                                        <p:cTn id="26" dur="500"/>
                                        <p:tgtEl>
                                          <p:spTgt spid="12698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6989"/>
                                        </p:tgtEl>
                                        <p:attrNameLst>
                                          <p:attrName>style.visibility</p:attrName>
                                        </p:attrNameLst>
                                      </p:cBhvr>
                                      <p:to>
                                        <p:strVal val="visible"/>
                                      </p:to>
                                    </p:set>
                                    <p:animEffect transition="in" filter="blinds(horizontal)">
                                      <p:cBhvr>
                                        <p:cTn id="31" dur="500"/>
                                        <p:tgtEl>
                                          <p:spTgt spid="12698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26992"/>
                                        </p:tgtEl>
                                        <p:attrNameLst>
                                          <p:attrName>style.visibility</p:attrName>
                                        </p:attrNameLst>
                                      </p:cBhvr>
                                      <p:to>
                                        <p:strVal val="visible"/>
                                      </p:to>
                                    </p:set>
                                    <p:animEffect transition="in" filter="blinds(horizontal)">
                                      <p:cBhvr>
                                        <p:cTn id="36" dur="500"/>
                                        <p:tgtEl>
                                          <p:spTgt spid="12699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26994"/>
                                        </p:tgtEl>
                                        <p:attrNameLst>
                                          <p:attrName>style.visibility</p:attrName>
                                        </p:attrNameLst>
                                      </p:cBhvr>
                                      <p:to>
                                        <p:strVal val="visible"/>
                                      </p:to>
                                    </p:set>
                                    <p:animEffect transition="in" filter="blinds(horizontal)">
                                      <p:cBhvr>
                                        <p:cTn id="41" dur="500"/>
                                        <p:tgtEl>
                                          <p:spTgt spid="126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4" grpId="0"/>
      <p:bldP spid="126985" grpId="0"/>
      <p:bldP spid="126986" grpId="0"/>
      <p:bldP spid="126987" grpId="0"/>
      <p:bldP spid="126988" grpId="0"/>
      <p:bldP spid="126989" grpId="0"/>
      <p:bldP spid="126992" grpId="0"/>
      <p:bldP spid="126994"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Grp="1"/>
          </p:cNvSpPr>
          <p:nvPr>
            <p:ph type="title"/>
          </p:nvPr>
        </p:nvSpPr>
        <p:spPr>
          <a:xfrm>
            <a:off x="800100" y="169863"/>
            <a:ext cx="4957763" cy="474662"/>
          </a:xfrm>
          <a:ln/>
        </p:spPr>
        <p:txBody>
          <a:bodyPr vert="horz" wrap="square" lIns="63500" tIns="25400" rIns="63500" bIns="25400" anchor="t" anchorCtr="0">
            <a:spAutoFit/>
          </a:bodyPr>
          <a:p>
            <a:r>
              <a:rPr lang="zh-CN" altLang="en-US" dirty="0">
                <a:ea typeface="宋体" panose="02010600030101010101" pitchFamily="2" charset="-122"/>
              </a:rPr>
              <a:t>无符号数的乘法运算</a:t>
            </a:r>
            <a:endParaRPr lang="zh-CN" altLang="en-US" sz="2000" dirty="0">
              <a:ea typeface="宋体" panose="02010600030101010101" pitchFamily="2" charset="-122"/>
            </a:endParaRPr>
          </a:p>
        </p:txBody>
      </p:sp>
      <p:sp>
        <p:nvSpPr>
          <p:cNvPr id="481283" name="Rectangle 3"/>
          <p:cNvSpPr>
            <a:spLocks noGrp="1"/>
          </p:cNvSpPr>
          <p:nvPr>
            <p:ph idx="1"/>
          </p:nvPr>
        </p:nvSpPr>
        <p:spPr>
          <a:xfrm>
            <a:off x="174625" y="874713"/>
            <a:ext cx="8686800" cy="5076825"/>
          </a:xfrm>
          <a:ln/>
        </p:spPr>
        <p:txBody>
          <a:bodyPr vert="horz" wrap="square" lIns="63500" tIns="25400" rIns="63500" bIns="25400" anchor="t" anchorCtr="0">
            <a:spAutoFit/>
          </a:bodyPr>
          <a:p>
            <a:pPr marL="419100" indent="-419100" defTabSz="914400">
              <a:lnSpc>
                <a:spcPct val="120000"/>
              </a:lnSpc>
              <a:spcBef>
                <a:spcPct val="30000"/>
              </a:spcBef>
              <a:tabLst>
                <a:tab pos="1543050" algn="l"/>
              </a:tabLst>
            </a:pPr>
            <a:r>
              <a:rPr lang="zh-CN" altLang="en-US" sz="2000" dirty="0">
                <a:ea typeface="黑体" panose="02010609060101010101" pitchFamily="49" charset="-122"/>
              </a:rPr>
              <a:t>手工乘法的特点：</a:t>
            </a:r>
            <a:endParaRPr lang="zh-CN" altLang="en-US" sz="2000" dirty="0">
              <a:ea typeface="黑体" panose="02010609060101010101" pitchFamily="49" charset="-122"/>
            </a:endParaRPr>
          </a:p>
          <a:p>
            <a:pPr marL="876300" lvl="1" indent="-381000" defTabSz="914400">
              <a:lnSpc>
                <a:spcPct val="120000"/>
              </a:lnSpc>
              <a:spcBef>
                <a:spcPct val="30000"/>
              </a:spcBef>
              <a:buAutoNum type="circleNumDbPlain"/>
              <a:tabLst>
                <a:tab pos="1543050" algn="l"/>
              </a:tabLst>
            </a:pPr>
            <a:r>
              <a:rPr lang="zh-CN" altLang="en-US" dirty="0">
                <a:ea typeface="黑体" panose="02010609060101010101" pitchFamily="49" charset="-122"/>
              </a:rPr>
              <a:t>每步计算：</a:t>
            </a:r>
            <a:r>
              <a:rPr lang="en-US" altLang="zh-CN" dirty="0">
                <a:ea typeface="黑体" panose="02010609060101010101" pitchFamily="49" charset="-122"/>
              </a:rPr>
              <a:t>X×yi</a:t>
            </a:r>
            <a:r>
              <a:rPr lang="zh-CN" altLang="en-US" dirty="0">
                <a:ea typeface="黑体" panose="02010609060101010101" pitchFamily="49" charset="-122"/>
              </a:rPr>
              <a:t>，若</a:t>
            </a:r>
            <a:r>
              <a:rPr lang="en-US" altLang="zh-CN" dirty="0">
                <a:ea typeface="黑体" panose="02010609060101010101" pitchFamily="49" charset="-122"/>
              </a:rPr>
              <a:t>yi = 0</a:t>
            </a:r>
            <a:r>
              <a:rPr lang="zh-CN" altLang="en-US" dirty="0">
                <a:ea typeface="黑体" panose="02010609060101010101" pitchFamily="49" charset="-122"/>
              </a:rPr>
              <a:t>，则得</a:t>
            </a:r>
            <a:r>
              <a:rPr lang="en-US" altLang="zh-CN" dirty="0">
                <a:ea typeface="黑体" panose="02010609060101010101" pitchFamily="49" charset="-122"/>
              </a:rPr>
              <a:t>0</a:t>
            </a:r>
            <a:r>
              <a:rPr lang="zh-CN" altLang="en-US" dirty="0">
                <a:ea typeface="黑体" panose="02010609060101010101" pitchFamily="49" charset="-122"/>
              </a:rPr>
              <a:t>；若</a:t>
            </a:r>
            <a:r>
              <a:rPr lang="en-US" altLang="zh-CN" dirty="0">
                <a:ea typeface="黑体" panose="02010609060101010101" pitchFamily="49" charset="-122"/>
              </a:rPr>
              <a:t>yi = 1</a:t>
            </a:r>
            <a:r>
              <a:rPr lang="zh-CN" altLang="en-US" dirty="0">
                <a:ea typeface="黑体" panose="02010609060101010101" pitchFamily="49" charset="-122"/>
              </a:rPr>
              <a:t>，则得</a:t>
            </a:r>
            <a:r>
              <a:rPr lang="en-US" altLang="zh-CN" dirty="0">
                <a:ea typeface="黑体" panose="02010609060101010101" pitchFamily="49" charset="-122"/>
              </a:rPr>
              <a:t>X</a:t>
            </a:r>
            <a:endParaRPr lang="zh-CN" altLang="en-US" dirty="0">
              <a:ea typeface="黑体" panose="02010609060101010101" pitchFamily="49" charset="-122"/>
            </a:endParaRPr>
          </a:p>
          <a:p>
            <a:pPr marL="876300" lvl="1" indent="-381000" defTabSz="914400">
              <a:lnSpc>
                <a:spcPct val="120000"/>
              </a:lnSpc>
              <a:spcBef>
                <a:spcPct val="30000"/>
              </a:spcBef>
              <a:buAutoNum type="circleNumDbPlain"/>
              <a:tabLst>
                <a:tab pos="1543050" algn="l"/>
              </a:tabLst>
            </a:pPr>
            <a:r>
              <a:rPr lang="zh-CN" altLang="en-US" dirty="0">
                <a:ea typeface="黑体" panose="02010609060101010101" pitchFamily="49" charset="-122"/>
              </a:rPr>
              <a:t>把①求得的各项结果</a:t>
            </a:r>
            <a:r>
              <a:rPr lang="en-US" altLang="zh-CN" dirty="0">
                <a:ea typeface="黑体" panose="02010609060101010101" pitchFamily="49" charset="-122"/>
              </a:rPr>
              <a:t>X× yi </a:t>
            </a:r>
            <a:r>
              <a:rPr lang="zh-CN" altLang="en-US" dirty="0">
                <a:ea typeface="黑体" panose="02010609060101010101" pitchFamily="49" charset="-122"/>
              </a:rPr>
              <a:t>逐次左移，可表示为</a:t>
            </a:r>
            <a:r>
              <a:rPr lang="en-US" altLang="zh-CN" dirty="0">
                <a:ea typeface="黑体" panose="02010609060101010101" pitchFamily="49" charset="-122"/>
              </a:rPr>
              <a:t>X× yi×2</a:t>
            </a:r>
            <a:r>
              <a:rPr lang="en-US" altLang="zh-CN" baseline="30000" dirty="0">
                <a:ea typeface="黑体" panose="02010609060101010101" pitchFamily="49" charset="-122"/>
              </a:rPr>
              <a:t>-i</a:t>
            </a:r>
            <a:r>
              <a:rPr lang="en-US" altLang="zh-CN" dirty="0">
                <a:ea typeface="黑体" panose="02010609060101010101" pitchFamily="49" charset="-122"/>
              </a:rPr>
              <a:t> </a:t>
            </a:r>
            <a:endParaRPr lang="zh-CN" altLang="en-US" dirty="0">
              <a:ea typeface="黑体" panose="02010609060101010101" pitchFamily="49" charset="-122"/>
            </a:endParaRPr>
          </a:p>
          <a:p>
            <a:pPr marL="876300" lvl="1" indent="-381000" defTabSz="914400">
              <a:lnSpc>
                <a:spcPct val="120000"/>
              </a:lnSpc>
              <a:spcBef>
                <a:spcPct val="30000"/>
              </a:spcBef>
              <a:buAutoNum type="circleNumDbPlain"/>
              <a:tabLst>
                <a:tab pos="1543050" algn="l"/>
              </a:tabLst>
            </a:pPr>
            <a:r>
              <a:rPr lang="zh-CN" altLang="en-US" dirty="0">
                <a:ea typeface="黑体" panose="02010609060101010101" pitchFamily="49" charset="-122"/>
              </a:rPr>
              <a:t>对②中结果求和，即 </a:t>
            </a:r>
            <a:r>
              <a:rPr lang="zh-CN" altLang="en-US" dirty="0">
                <a:ea typeface="黑体" panose="02010609060101010101" pitchFamily="49" charset="-122"/>
                <a:sym typeface="Symbol" panose="05050102010706020507" pitchFamily="18" charset="2"/>
              </a:rPr>
              <a:t></a:t>
            </a:r>
            <a:r>
              <a:rPr lang="zh-CN" altLang="en-US" dirty="0">
                <a:ea typeface="黑体" panose="02010609060101010101" pitchFamily="49" charset="-122"/>
              </a:rPr>
              <a:t> </a:t>
            </a:r>
            <a:r>
              <a:rPr lang="en-US" altLang="zh-CN" dirty="0">
                <a:ea typeface="黑体" panose="02010609060101010101" pitchFamily="49" charset="-122"/>
              </a:rPr>
              <a:t>(X× yi×2</a:t>
            </a:r>
            <a:r>
              <a:rPr lang="en-US" altLang="zh-CN" baseline="30000" dirty="0">
                <a:ea typeface="黑体" panose="02010609060101010101" pitchFamily="49" charset="-122"/>
              </a:rPr>
              <a:t>-i</a:t>
            </a:r>
            <a:r>
              <a:rPr lang="en-US" altLang="zh-CN" dirty="0">
                <a:ea typeface="黑体" panose="02010609060101010101" pitchFamily="49" charset="-122"/>
              </a:rPr>
              <a:t>)</a:t>
            </a:r>
            <a:r>
              <a:rPr lang="zh-CN" altLang="en-US" dirty="0">
                <a:ea typeface="黑体" panose="02010609060101010101" pitchFamily="49" charset="-122"/>
              </a:rPr>
              <a:t>，这就是两个无符号数的乘积</a:t>
            </a:r>
            <a:endParaRPr lang="en-US" altLang="zh-CN" dirty="0">
              <a:ea typeface="黑体" panose="02010609060101010101" pitchFamily="49" charset="-122"/>
            </a:endParaRPr>
          </a:p>
          <a:p>
            <a:pPr marL="419100" indent="-419100" defTabSz="914400">
              <a:lnSpc>
                <a:spcPct val="120000"/>
              </a:lnSpc>
              <a:spcBef>
                <a:spcPct val="30000"/>
              </a:spcBef>
              <a:tabLst>
                <a:tab pos="1543050" algn="l"/>
              </a:tabLst>
            </a:pPr>
            <a:r>
              <a:rPr lang="zh-CN" altLang="en-US" sz="2000" dirty="0">
                <a:ea typeface="黑体" panose="02010609060101010101" pitchFamily="49" charset="-122"/>
              </a:rPr>
              <a:t>计算机内部稍作以下改进：</a:t>
            </a:r>
            <a:endParaRPr lang="zh-CN" altLang="en-US" sz="2000" dirty="0">
              <a:ea typeface="黑体" panose="02010609060101010101" pitchFamily="49" charset="-122"/>
            </a:endParaRPr>
          </a:p>
          <a:p>
            <a:pPr marL="876300" lvl="1" indent="-381000" defTabSz="914400">
              <a:lnSpc>
                <a:spcPct val="120000"/>
              </a:lnSpc>
              <a:spcBef>
                <a:spcPct val="30000"/>
              </a:spcBef>
              <a:buAutoNum type="circleNumDbPlain"/>
              <a:tabLst>
                <a:tab pos="1543050" algn="l"/>
              </a:tabLst>
            </a:pPr>
            <a:r>
              <a:rPr lang="zh-CN" altLang="en-US" dirty="0">
                <a:ea typeface="黑体" panose="02010609060101010101" pitchFamily="49" charset="-122"/>
              </a:rPr>
              <a:t>每次得</a:t>
            </a:r>
            <a:r>
              <a:rPr lang="en-US" altLang="zh-CN" dirty="0">
                <a:ea typeface="黑体" panose="02010609060101010101" pitchFamily="49" charset="-122"/>
              </a:rPr>
              <a:t>X×yi</a:t>
            </a:r>
            <a:r>
              <a:rPr lang="zh-CN" altLang="en-US" dirty="0">
                <a:ea typeface="黑体" panose="02010609060101010101" pitchFamily="49" charset="-122"/>
              </a:rPr>
              <a:t>后，与前面所得结果累加，得到</a:t>
            </a:r>
            <a:r>
              <a:rPr lang="en-US" altLang="zh-CN" dirty="0">
                <a:ea typeface="黑体" panose="02010609060101010101" pitchFamily="49" charset="-122"/>
              </a:rPr>
              <a:t>Pi</a:t>
            </a:r>
            <a:r>
              <a:rPr lang="zh-CN" altLang="en-US" dirty="0">
                <a:ea typeface="黑体" panose="02010609060101010101" pitchFamily="49" charset="-122"/>
              </a:rPr>
              <a:t>，称之为部分积。因为不等到最后一次求和，减少了保存各次相乘结果</a:t>
            </a:r>
            <a:r>
              <a:rPr lang="en-US" altLang="zh-CN" dirty="0">
                <a:ea typeface="黑体" panose="02010609060101010101" pitchFamily="49" charset="-122"/>
              </a:rPr>
              <a:t>X×yi</a:t>
            </a:r>
            <a:r>
              <a:rPr lang="zh-CN" altLang="en-US" dirty="0">
                <a:ea typeface="黑体" panose="02010609060101010101" pitchFamily="49" charset="-122"/>
              </a:rPr>
              <a:t>的开销。</a:t>
            </a:r>
            <a:endParaRPr lang="zh-CN" altLang="en-US" dirty="0">
              <a:ea typeface="黑体" panose="02010609060101010101" pitchFamily="49" charset="-122"/>
            </a:endParaRPr>
          </a:p>
          <a:p>
            <a:pPr marL="876300" lvl="1" indent="-381000" defTabSz="914400">
              <a:lnSpc>
                <a:spcPct val="120000"/>
              </a:lnSpc>
              <a:spcBef>
                <a:spcPct val="30000"/>
              </a:spcBef>
              <a:buAutoNum type="circleNumDbPlain"/>
              <a:tabLst>
                <a:tab pos="1543050" algn="l"/>
              </a:tabLst>
            </a:pPr>
            <a:r>
              <a:rPr lang="zh-CN" altLang="en-US" dirty="0">
                <a:ea typeface="黑体" panose="02010609060101010101" pitchFamily="49" charset="-122"/>
              </a:rPr>
              <a:t>每次得</a:t>
            </a:r>
            <a:r>
              <a:rPr lang="en-US" altLang="zh-CN" dirty="0">
                <a:ea typeface="黑体" panose="02010609060101010101" pitchFamily="49" charset="-122"/>
              </a:rPr>
              <a:t>X×yi</a:t>
            </a:r>
            <a:r>
              <a:rPr lang="zh-CN" altLang="en-US" dirty="0">
                <a:ea typeface="黑体" panose="02010609060101010101" pitchFamily="49" charset="-122"/>
              </a:rPr>
              <a:t>后，不将它左移与前次部分积</a:t>
            </a:r>
            <a:r>
              <a:rPr lang="en-US" altLang="zh-CN" dirty="0">
                <a:ea typeface="黑体" panose="02010609060101010101" pitchFamily="49" charset="-122"/>
              </a:rPr>
              <a:t>Pi</a:t>
            </a:r>
            <a:r>
              <a:rPr lang="zh-CN" altLang="en-US" dirty="0">
                <a:ea typeface="黑体" panose="02010609060101010101" pitchFamily="49" charset="-122"/>
              </a:rPr>
              <a:t>相加，而将部分积</a:t>
            </a:r>
            <a:r>
              <a:rPr lang="en-US" altLang="zh-CN" dirty="0">
                <a:ea typeface="黑体" panose="02010609060101010101" pitchFamily="49" charset="-122"/>
              </a:rPr>
              <a:t>Pi</a:t>
            </a:r>
            <a:r>
              <a:rPr lang="zh-CN" altLang="en-US" dirty="0">
                <a:ea typeface="黑体" panose="02010609060101010101" pitchFamily="49" charset="-122"/>
              </a:rPr>
              <a:t>右移后与</a:t>
            </a:r>
            <a:r>
              <a:rPr lang="en-US" altLang="zh-CN" dirty="0">
                <a:ea typeface="黑体" panose="02010609060101010101" pitchFamily="49" charset="-122"/>
              </a:rPr>
              <a:t>X×yi</a:t>
            </a:r>
            <a:r>
              <a:rPr lang="zh-CN" altLang="en-US" dirty="0">
                <a:ea typeface="黑体" panose="02010609060101010101" pitchFamily="49" charset="-122"/>
              </a:rPr>
              <a:t>相加。因为加法运算始终对部分积中高</a:t>
            </a:r>
            <a:r>
              <a:rPr lang="en-US" altLang="zh-CN" dirty="0">
                <a:ea typeface="黑体" panose="02010609060101010101" pitchFamily="49" charset="-122"/>
              </a:rPr>
              <a:t>n</a:t>
            </a:r>
            <a:r>
              <a:rPr lang="zh-CN" altLang="en-US" dirty="0">
                <a:ea typeface="黑体" panose="02010609060101010101" pitchFamily="49" charset="-122"/>
              </a:rPr>
              <a:t>位进行。故用</a:t>
            </a:r>
            <a:r>
              <a:rPr lang="en-US" altLang="zh-CN" dirty="0">
                <a:ea typeface="黑体" panose="02010609060101010101" pitchFamily="49" charset="-122"/>
              </a:rPr>
              <a:t>n</a:t>
            </a:r>
            <a:r>
              <a:rPr lang="zh-CN" altLang="en-US" dirty="0">
                <a:ea typeface="黑体" panose="02010609060101010101" pitchFamily="49" charset="-122"/>
              </a:rPr>
              <a:t>位加法器可实现二个</a:t>
            </a:r>
            <a:r>
              <a:rPr lang="en-US" altLang="zh-CN" dirty="0">
                <a:ea typeface="黑体" panose="02010609060101010101" pitchFamily="49" charset="-122"/>
              </a:rPr>
              <a:t>n</a:t>
            </a:r>
            <a:r>
              <a:rPr lang="zh-CN" altLang="en-US" dirty="0">
                <a:ea typeface="黑体" panose="02010609060101010101" pitchFamily="49" charset="-122"/>
              </a:rPr>
              <a:t>位数相乘。</a:t>
            </a:r>
            <a:endParaRPr lang="zh-CN" altLang="en-US" dirty="0">
              <a:ea typeface="黑体" panose="02010609060101010101" pitchFamily="49" charset="-122"/>
            </a:endParaRPr>
          </a:p>
          <a:p>
            <a:pPr marL="876300" lvl="1" indent="-381000" defTabSz="914400">
              <a:lnSpc>
                <a:spcPct val="120000"/>
              </a:lnSpc>
              <a:spcBef>
                <a:spcPct val="30000"/>
              </a:spcBef>
              <a:buAutoNum type="circleNumDbPlain"/>
              <a:tabLst>
                <a:tab pos="1543050" algn="l"/>
              </a:tabLst>
            </a:pPr>
            <a:r>
              <a:rPr lang="zh-CN" altLang="en-US" dirty="0">
                <a:ea typeface="黑体" panose="02010609060101010101" pitchFamily="49" charset="-122"/>
              </a:rPr>
              <a:t>对乘数中为“</a:t>
            </a:r>
            <a:r>
              <a:rPr lang="en-US" altLang="zh-CN" dirty="0">
                <a:ea typeface="黑体" panose="02010609060101010101" pitchFamily="49" charset="-122"/>
              </a:rPr>
              <a:t>1”</a:t>
            </a:r>
            <a:r>
              <a:rPr lang="zh-CN" altLang="en-US" dirty="0">
                <a:ea typeface="黑体" panose="02010609060101010101" pitchFamily="49" charset="-122"/>
              </a:rPr>
              <a:t>的位执行加法</a:t>
            </a:r>
            <a:r>
              <a:rPr lang="zh-CN" altLang="en-US" dirty="0">
                <a:latin typeface="黑体" panose="02010609060101010101" pitchFamily="49" charset="-122"/>
                <a:ea typeface="黑体" panose="02010609060101010101" pitchFamily="49" charset="-122"/>
              </a:rPr>
              <a:t>和右移，对为</a:t>
            </a:r>
            <a:r>
              <a:rPr lang="zh-CN" altLang="en-US" dirty="0">
                <a:ea typeface="黑体" panose="02010609060101010101" pitchFamily="49" charset="-122"/>
              </a:rPr>
              <a:t>“</a:t>
            </a:r>
            <a:r>
              <a:rPr lang="en-US" altLang="zh-CN" dirty="0">
                <a:latin typeface="黑体" panose="02010609060101010101" pitchFamily="49" charset="-122"/>
                <a:ea typeface="黑体" panose="02010609060101010101" pitchFamily="49" charset="-122"/>
              </a:rPr>
              <a:t>0</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的位只执行右移，而不执行加法运算。</a:t>
            </a:r>
            <a:endParaRPr lang="zh-CN" altLang="en-US" dirty="0">
              <a:solidFill>
                <a:srgbClr val="CC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1283">
                                            <p:txEl>
                                              <p:charRg st="9" end="43"/>
                                            </p:txEl>
                                          </p:spTgt>
                                        </p:tgtEl>
                                        <p:attrNameLst>
                                          <p:attrName>style.visibility</p:attrName>
                                        </p:attrNameLst>
                                      </p:cBhvr>
                                      <p:to>
                                        <p:strVal val="visible"/>
                                      </p:to>
                                    </p:set>
                                    <p:animEffect transition="in" filter="blinds(horizontal)">
                                      <p:cBhvr>
                                        <p:cTn id="7" dur="500"/>
                                        <p:tgtEl>
                                          <p:spTgt spid="481283">
                                            <p:txEl>
                                              <p:charRg st="9" end="4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1283">
                                            <p:txEl>
                                              <p:charRg st="43" end="78"/>
                                            </p:txEl>
                                          </p:spTgt>
                                        </p:tgtEl>
                                        <p:attrNameLst>
                                          <p:attrName>style.visibility</p:attrName>
                                        </p:attrNameLst>
                                      </p:cBhvr>
                                      <p:to>
                                        <p:strVal val="visible"/>
                                      </p:to>
                                    </p:set>
                                    <p:animEffect transition="in" filter="blinds(horizontal)">
                                      <p:cBhvr>
                                        <p:cTn id="10" dur="500"/>
                                        <p:tgtEl>
                                          <p:spTgt spid="481283">
                                            <p:txEl>
                                              <p:charRg st="43" end="7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1283">
                                            <p:txEl>
                                              <p:charRg st="78" end="115"/>
                                            </p:txEl>
                                          </p:spTgt>
                                        </p:tgtEl>
                                        <p:attrNameLst>
                                          <p:attrName>style.visibility</p:attrName>
                                        </p:attrNameLst>
                                      </p:cBhvr>
                                      <p:to>
                                        <p:strVal val="visible"/>
                                      </p:to>
                                    </p:set>
                                    <p:animEffect transition="in" filter="blinds(horizontal)">
                                      <p:cBhvr>
                                        <p:cTn id="13" dur="500"/>
                                        <p:tgtEl>
                                          <p:spTgt spid="481283">
                                            <p:txEl>
                                              <p:charRg st="78" end="11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81283">
                                            <p:txEl>
                                              <p:charRg st="128" end="191"/>
                                            </p:txEl>
                                          </p:spTgt>
                                        </p:tgtEl>
                                        <p:attrNameLst>
                                          <p:attrName>style.visibility</p:attrName>
                                        </p:attrNameLst>
                                      </p:cBhvr>
                                      <p:to>
                                        <p:strVal val="visible"/>
                                      </p:to>
                                    </p:set>
                                    <p:animEffect transition="in" filter="blinds(horizontal)">
                                      <p:cBhvr>
                                        <p:cTn id="18" dur="500"/>
                                        <p:tgtEl>
                                          <p:spTgt spid="481283">
                                            <p:txEl>
                                              <p:charRg st="128" end="191"/>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81283">
                                            <p:txEl>
                                              <p:charRg st="191" end="272"/>
                                            </p:txEl>
                                          </p:spTgt>
                                        </p:tgtEl>
                                        <p:attrNameLst>
                                          <p:attrName>style.visibility</p:attrName>
                                        </p:attrNameLst>
                                      </p:cBhvr>
                                      <p:to>
                                        <p:strVal val="visible"/>
                                      </p:to>
                                    </p:set>
                                    <p:animEffect transition="in" filter="blinds(horizontal)">
                                      <p:cBhvr>
                                        <p:cTn id="21" dur="500"/>
                                        <p:tgtEl>
                                          <p:spTgt spid="481283">
                                            <p:txEl>
                                              <p:charRg st="191" end="272"/>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81283">
                                            <p:txEl>
                                              <p:charRg st="272" end="313"/>
                                            </p:txEl>
                                          </p:spTgt>
                                        </p:tgtEl>
                                        <p:attrNameLst>
                                          <p:attrName>style.visibility</p:attrName>
                                        </p:attrNameLst>
                                      </p:cBhvr>
                                      <p:to>
                                        <p:strVal val="visible"/>
                                      </p:to>
                                    </p:set>
                                    <p:animEffect transition="in" filter="blinds(horizontal)">
                                      <p:cBhvr>
                                        <p:cTn id="24" dur="500"/>
                                        <p:tgtEl>
                                          <p:spTgt spid="481283">
                                            <p:txEl>
                                              <p:charRg st="272" end="3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无符号乘法运算的算法推导</a:t>
            </a:r>
            <a:endParaRPr lang="zh-CN" altLang="en-US" dirty="0">
              <a:ea typeface="宋体" panose="02010600030101010101" pitchFamily="2" charset="-122"/>
            </a:endParaRPr>
          </a:p>
        </p:txBody>
      </p:sp>
      <p:sp>
        <p:nvSpPr>
          <p:cNvPr id="422915" name="Rectangle 3"/>
          <p:cNvSpPr>
            <a:spLocks noGrp="1"/>
          </p:cNvSpPr>
          <p:nvPr>
            <p:ph idx="1"/>
          </p:nvPr>
        </p:nvSpPr>
        <p:spPr>
          <a:xfrm>
            <a:off x="0" y="812800"/>
            <a:ext cx="9144000" cy="5464175"/>
          </a:xfrm>
          <a:ln/>
        </p:spPr>
        <p:txBody>
          <a:bodyPr vert="horz" wrap="square" lIns="63500" tIns="25400" rIns="63500" bIns="25400" anchor="t" anchorCtr="0">
            <a:spAutoFit/>
          </a:bodyPr>
          <a:p>
            <a:r>
              <a:rPr lang="zh-CN" altLang="en-US" sz="2000" dirty="0"/>
              <a:t>上述思想可写成如下数学推导过程：</a:t>
            </a:r>
            <a:endParaRPr lang="zh-CN" altLang="en-US" sz="2000" dirty="0"/>
          </a:p>
          <a:p>
            <a:pPr>
              <a:buNone/>
            </a:pPr>
            <a:r>
              <a:rPr lang="en-US" altLang="zh-CN" sz="2000" dirty="0"/>
              <a:t>	X×Y = X × ( 0.y</a:t>
            </a:r>
            <a:r>
              <a:rPr lang="en-US" altLang="zh-CN" sz="2000" baseline="-25000" dirty="0"/>
              <a:t>1 </a:t>
            </a:r>
            <a:r>
              <a:rPr lang="en-US" altLang="zh-CN" sz="2000" dirty="0"/>
              <a:t>y</a:t>
            </a:r>
            <a:r>
              <a:rPr lang="en-US" altLang="zh-CN" sz="2000" baseline="-25000" dirty="0"/>
              <a:t>2</a:t>
            </a:r>
            <a:r>
              <a:rPr lang="en-US" altLang="zh-CN" sz="2000" dirty="0"/>
              <a:t>… y</a:t>
            </a:r>
            <a:r>
              <a:rPr lang="en-US" altLang="zh-CN" sz="2000" baseline="-25000" dirty="0"/>
              <a:t>n</a:t>
            </a:r>
            <a:r>
              <a:rPr lang="en-US" altLang="zh-CN" sz="2000" dirty="0"/>
              <a:t> )</a:t>
            </a:r>
            <a:endParaRPr lang="en-US" altLang="zh-CN" sz="2000" dirty="0"/>
          </a:p>
          <a:p>
            <a:pPr>
              <a:buNone/>
            </a:pPr>
            <a:r>
              <a:rPr lang="en-US" altLang="zh-CN" sz="2000" dirty="0"/>
              <a:t>	         = X×y</a:t>
            </a:r>
            <a:r>
              <a:rPr lang="en-US" altLang="zh-CN" sz="2000" baseline="-25000" dirty="0"/>
              <a:t>1</a:t>
            </a:r>
            <a:r>
              <a:rPr lang="en-US" altLang="zh-CN" sz="2000" dirty="0"/>
              <a:t>×2</a:t>
            </a:r>
            <a:r>
              <a:rPr lang="en-US" altLang="zh-CN" sz="2000" baseline="30000" dirty="0"/>
              <a:t>-1</a:t>
            </a:r>
            <a:r>
              <a:rPr lang="en-US" altLang="zh-CN" sz="2000" dirty="0"/>
              <a:t> +X×y</a:t>
            </a:r>
            <a:r>
              <a:rPr lang="en-US" altLang="zh-CN" sz="2000" baseline="-25000" dirty="0"/>
              <a:t>2</a:t>
            </a:r>
            <a:r>
              <a:rPr lang="en-US" altLang="zh-CN" sz="2000" dirty="0"/>
              <a:t>×2</a:t>
            </a:r>
            <a:r>
              <a:rPr lang="en-US" altLang="zh-CN" sz="2000" baseline="30000" dirty="0"/>
              <a:t>-2</a:t>
            </a:r>
            <a:r>
              <a:rPr lang="en-US" altLang="zh-CN" sz="2000" dirty="0"/>
              <a:t> +…… +X×y</a:t>
            </a:r>
            <a:r>
              <a:rPr lang="en-US" altLang="zh-CN" sz="2000" baseline="-25000" dirty="0"/>
              <a:t>n-1</a:t>
            </a:r>
            <a:r>
              <a:rPr lang="en-US" altLang="zh-CN" sz="2000" dirty="0"/>
              <a:t>×2</a:t>
            </a:r>
            <a:r>
              <a:rPr lang="en-US" altLang="zh-CN" sz="2000" baseline="30000" dirty="0"/>
              <a:t>-(n-1)</a:t>
            </a:r>
            <a:r>
              <a:rPr lang="en-US" altLang="zh-CN" sz="2000" dirty="0"/>
              <a:t> +X×y</a:t>
            </a:r>
            <a:r>
              <a:rPr lang="en-US" altLang="zh-CN" sz="2000" baseline="-25000" dirty="0"/>
              <a:t>n</a:t>
            </a:r>
            <a:r>
              <a:rPr lang="en-US" altLang="zh-CN" sz="2000" dirty="0"/>
              <a:t>×2</a:t>
            </a:r>
            <a:r>
              <a:rPr lang="en-US" altLang="zh-CN" sz="2000" baseline="30000" dirty="0"/>
              <a:t>-n</a:t>
            </a:r>
            <a:r>
              <a:rPr lang="en-US" altLang="zh-CN" sz="2000" dirty="0"/>
              <a:t>  </a:t>
            </a:r>
            <a:endParaRPr lang="en-US" altLang="zh-CN" sz="2000" dirty="0"/>
          </a:p>
          <a:p>
            <a:pPr>
              <a:buNone/>
            </a:pPr>
            <a:r>
              <a:rPr lang="en-US" altLang="zh-CN" sz="2000" dirty="0"/>
              <a:t>            = 2</a:t>
            </a:r>
            <a:r>
              <a:rPr lang="en-US" altLang="zh-CN" sz="2000" baseline="30000" dirty="0"/>
              <a:t>-n</a:t>
            </a:r>
            <a:r>
              <a:rPr lang="en-US" altLang="zh-CN" sz="2000" dirty="0"/>
              <a:t> ×X×y</a:t>
            </a:r>
            <a:r>
              <a:rPr lang="en-US" altLang="zh-CN" sz="2000" baseline="-25000" dirty="0"/>
              <a:t>n</a:t>
            </a:r>
            <a:r>
              <a:rPr lang="en-US" altLang="zh-CN" sz="2000" dirty="0"/>
              <a:t>+ 2</a:t>
            </a:r>
            <a:r>
              <a:rPr lang="en-US" altLang="zh-CN" sz="2000" baseline="30000" dirty="0"/>
              <a:t>-(n-1) </a:t>
            </a:r>
            <a:r>
              <a:rPr lang="en-US" altLang="zh-CN" sz="2000" dirty="0"/>
              <a:t>×</a:t>
            </a:r>
            <a:r>
              <a:rPr lang="en-US" altLang="zh-CN" sz="2000" baseline="30000" dirty="0"/>
              <a:t> </a:t>
            </a:r>
            <a:r>
              <a:rPr lang="en-US" altLang="zh-CN" sz="2000" dirty="0"/>
              <a:t>X×y</a:t>
            </a:r>
            <a:r>
              <a:rPr lang="en-US" altLang="zh-CN" sz="2000" baseline="-25000" dirty="0"/>
              <a:t>n-1</a:t>
            </a:r>
            <a:r>
              <a:rPr lang="en-US" altLang="zh-CN" sz="2000" dirty="0"/>
              <a:t> +…… +  2</a:t>
            </a:r>
            <a:r>
              <a:rPr lang="en-US" altLang="zh-CN" sz="2000" baseline="30000" dirty="0"/>
              <a:t>-2</a:t>
            </a:r>
            <a:r>
              <a:rPr lang="en-US" altLang="zh-CN" sz="2000" dirty="0"/>
              <a:t>×X×y</a:t>
            </a:r>
            <a:r>
              <a:rPr lang="en-US" altLang="zh-CN" sz="2000" baseline="-25000" dirty="0"/>
              <a:t>2</a:t>
            </a:r>
            <a:r>
              <a:rPr lang="en-US" altLang="zh-CN" sz="2000" dirty="0"/>
              <a:t> + 2</a:t>
            </a:r>
            <a:r>
              <a:rPr lang="en-US" altLang="zh-CN" sz="2000" baseline="30000" dirty="0"/>
              <a:t>-1</a:t>
            </a:r>
            <a:r>
              <a:rPr lang="en-US" altLang="zh-CN" sz="2000" dirty="0"/>
              <a:t>×X×y</a:t>
            </a:r>
            <a:r>
              <a:rPr lang="en-US" altLang="zh-CN" sz="2000" baseline="-25000" dirty="0"/>
              <a:t>1</a:t>
            </a:r>
            <a:endParaRPr lang="en-US" altLang="zh-CN" sz="2000" dirty="0"/>
          </a:p>
          <a:p>
            <a:pPr>
              <a:buNone/>
            </a:pPr>
            <a:r>
              <a:rPr lang="en-US" altLang="zh-CN" sz="2000" dirty="0"/>
              <a:t>            =2</a:t>
            </a:r>
            <a:r>
              <a:rPr lang="en-US" altLang="zh-CN" sz="2000" baseline="30000" dirty="0"/>
              <a:t>-1</a:t>
            </a:r>
            <a:r>
              <a:rPr lang="en-US" altLang="zh-CN" sz="2000" dirty="0"/>
              <a:t> ( 2</a:t>
            </a:r>
            <a:r>
              <a:rPr lang="en-US" altLang="zh-CN" sz="2000" baseline="30000" dirty="0"/>
              <a:t>-1</a:t>
            </a:r>
            <a:r>
              <a:rPr lang="en-US" altLang="zh-CN" sz="2000" dirty="0"/>
              <a:t> (2</a:t>
            </a:r>
            <a:r>
              <a:rPr lang="en-US" altLang="zh-CN" sz="2000" baseline="30000" dirty="0"/>
              <a:t>-1</a:t>
            </a:r>
            <a:r>
              <a:rPr lang="en-US" altLang="zh-CN" sz="2000" dirty="0"/>
              <a:t>…2</a:t>
            </a:r>
            <a:r>
              <a:rPr lang="en-US" altLang="zh-CN" sz="2000" baseline="30000" dirty="0"/>
              <a:t>-1</a:t>
            </a:r>
            <a:r>
              <a:rPr lang="en-US" altLang="zh-CN" sz="2000" dirty="0"/>
              <a:t> (2</a:t>
            </a:r>
            <a:r>
              <a:rPr lang="en-US" altLang="zh-CN" sz="2000" baseline="30000" dirty="0"/>
              <a:t>-1</a:t>
            </a:r>
            <a:r>
              <a:rPr lang="en-US" altLang="zh-CN" sz="2000" dirty="0"/>
              <a:t> (</a:t>
            </a:r>
            <a:r>
              <a:rPr lang="en-US" altLang="zh-CN" sz="2000" dirty="0">
                <a:solidFill>
                  <a:schemeClr val="accent2"/>
                </a:solidFill>
              </a:rPr>
              <a:t>0</a:t>
            </a:r>
            <a:r>
              <a:rPr lang="en-US" altLang="zh-CN" sz="2000" dirty="0"/>
              <a:t> + X×y</a:t>
            </a:r>
            <a:r>
              <a:rPr lang="en-US" altLang="zh-CN" sz="2000" baseline="-25000" dirty="0"/>
              <a:t>n</a:t>
            </a:r>
            <a:r>
              <a:rPr lang="en-US" altLang="zh-CN" sz="2000" dirty="0"/>
              <a:t>) + X×y</a:t>
            </a:r>
            <a:r>
              <a:rPr lang="en-US" altLang="zh-CN" sz="2000" baseline="-25000" dirty="0"/>
              <a:t>n-1</a:t>
            </a:r>
            <a:r>
              <a:rPr lang="en-US" altLang="zh-CN" sz="2000" dirty="0"/>
              <a:t>) +…… + X×y</a:t>
            </a:r>
            <a:r>
              <a:rPr lang="en-US" altLang="zh-CN" sz="2000" baseline="-25000" dirty="0"/>
              <a:t>2</a:t>
            </a:r>
            <a:r>
              <a:rPr lang="en-US" altLang="zh-CN" sz="2000" dirty="0"/>
              <a:t> ) + X×y</a:t>
            </a:r>
            <a:r>
              <a:rPr lang="en-US" altLang="zh-CN" sz="2000" baseline="-25000" dirty="0"/>
              <a:t>1</a:t>
            </a:r>
            <a:r>
              <a:rPr lang="en-US" altLang="zh-CN" sz="2000" dirty="0"/>
              <a:t>)</a:t>
            </a:r>
            <a:endParaRPr lang="en-US" altLang="zh-CN" sz="2000" dirty="0"/>
          </a:p>
          <a:p>
            <a:pPr>
              <a:buNone/>
            </a:pPr>
            <a:r>
              <a:rPr lang="en-US" altLang="zh-CN" sz="2000" dirty="0"/>
              <a:t>                        n</a:t>
            </a:r>
            <a:r>
              <a:rPr lang="zh-CN" altLang="en-US" sz="2000" dirty="0"/>
              <a:t>个</a:t>
            </a:r>
            <a:r>
              <a:rPr lang="en-US" altLang="zh-CN" sz="2000" dirty="0"/>
              <a:t>2</a:t>
            </a:r>
            <a:r>
              <a:rPr lang="en-US" altLang="zh-CN" sz="2000" baseline="30000" dirty="0"/>
              <a:t>-1</a:t>
            </a:r>
            <a:endParaRPr lang="en-US" altLang="zh-CN" sz="2000" dirty="0"/>
          </a:p>
          <a:p>
            <a:r>
              <a:rPr lang="zh-CN" altLang="en-US" sz="2000" dirty="0">
                <a:ea typeface="黑体" panose="02010609060101010101" pitchFamily="49" charset="-122"/>
              </a:rPr>
              <a:t>上述推导过程具有明显的递归性质，因此，无符号数乘法过程可归结为循环计算下列算式的过程：设</a:t>
            </a:r>
            <a:r>
              <a:rPr lang="en-US" altLang="zh-CN" sz="2000" dirty="0">
                <a:ea typeface="黑体" panose="02010609060101010101" pitchFamily="49" charset="-122"/>
              </a:rPr>
              <a:t>P</a:t>
            </a:r>
            <a:r>
              <a:rPr lang="en-US" altLang="zh-CN" sz="2000" baseline="-25000" dirty="0">
                <a:ea typeface="黑体" panose="02010609060101010101" pitchFamily="49" charset="-122"/>
              </a:rPr>
              <a:t>0</a:t>
            </a:r>
            <a:r>
              <a:rPr lang="en-US" altLang="zh-CN" sz="2000" dirty="0">
                <a:ea typeface="黑体" panose="02010609060101010101" pitchFamily="49" charset="-122"/>
              </a:rPr>
              <a:t> = </a:t>
            </a:r>
            <a:r>
              <a:rPr lang="en-US" altLang="zh-CN" sz="2000" dirty="0">
                <a:solidFill>
                  <a:schemeClr val="accent2"/>
                </a:solidFill>
                <a:ea typeface="黑体" panose="02010609060101010101" pitchFamily="49" charset="-122"/>
              </a:rPr>
              <a:t>0</a:t>
            </a:r>
            <a:r>
              <a:rPr lang="zh-CN" altLang="en-US" sz="2000" dirty="0">
                <a:ea typeface="黑体" panose="02010609060101010101" pitchFamily="49" charset="-122"/>
              </a:rPr>
              <a:t>，每步的乘积为：</a:t>
            </a:r>
            <a:endParaRPr lang="zh-CN" altLang="en-US" sz="2000" dirty="0">
              <a:ea typeface="黑体" panose="02010609060101010101" pitchFamily="49" charset="-122"/>
            </a:endParaRPr>
          </a:p>
          <a:p>
            <a:pPr lvl="1">
              <a:buNone/>
            </a:pPr>
            <a:r>
              <a:rPr lang="zh-CN" altLang="en-US" dirty="0">
                <a:ea typeface="黑体" panose="02010609060101010101" pitchFamily="49" charset="-122"/>
              </a:rPr>
              <a:t>  </a:t>
            </a:r>
            <a:r>
              <a:rPr lang="en-US" altLang="zh-CN" dirty="0">
                <a:ea typeface="黑体" panose="02010609060101010101" pitchFamily="49" charset="-122"/>
              </a:rPr>
              <a:t>P</a:t>
            </a:r>
            <a:r>
              <a:rPr lang="en-US" altLang="zh-CN" baseline="-25000" dirty="0">
                <a:ea typeface="黑体" panose="02010609060101010101" pitchFamily="49" charset="-122"/>
              </a:rPr>
              <a:t>1</a:t>
            </a:r>
            <a:r>
              <a:rPr lang="en-US" altLang="zh-CN" dirty="0">
                <a:ea typeface="黑体" panose="02010609060101010101" pitchFamily="49" charset="-122"/>
              </a:rPr>
              <a:t> = 2</a:t>
            </a:r>
            <a:r>
              <a:rPr lang="en-US" altLang="zh-CN" baseline="30000" dirty="0">
                <a:ea typeface="黑体" panose="02010609060101010101" pitchFamily="49" charset="-122"/>
              </a:rPr>
              <a:t>-1</a:t>
            </a:r>
            <a:r>
              <a:rPr lang="en-US" altLang="zh-CN" dirty="0">
                <a:ea typeface="黑体" panose="02010609060101010101" pitchFamily="49" charset="-122"/>
              </a:rPr>
              <a:t> (P</a:t>
            </a:r>
            <a:r>
              <a:rPr lang="en-US" altLang="zh-CN" baseline="-25000" dirty="0">
                <a:ea typeface="黑体" panose="02010609060101010101" pitchFamily="49" charset="-122"/>
              </a:rPr>
              <a:t>0</a:t>
            </a:r>
            <a:r>
              <a:rPr lang="en-US" altLang="zh-CN" dirty="0">
                <a:ea typeface="黑体" panose="02010609060101010101" pitchFamily="49" charset="-122"/>
              </a:rPr>
              <a:t>+ X × y</a:t>
            </a:r>
            <a:r>
              <a:rPr lang="en-US" altLang="zh-CN" baseline="-25000" dirty="0">
                <a:ea typeface="黑体" panose="02010609060101010101" pitchFamily="49" charset="-122"/>
              </a:rPr>
              <a:t>n</a:t>
            </a:r>
            <a:r>
              <a:rPr lang="en-US" altLang="zh-CN" dirty="0">
                <a:ea typeface="黑体" panose="02010609060101010101" pitchFamily="49" charset="-122"/>
              </a:rPr>
              <a:t>)</a:t>
            </a:r>
            <a:endParaRPr lang="en-US" altLang="zh-CN" dirty="0">
              <a:ea typeface="黑体" panose="02010609060101010101" pitchFamily="49" charset="-122"/>
            </a:endParaRPr>
          </a:p>
          <a:p>
            <a:pPr lvl="1">
              <a:buNone/>
            </a:pPr>
            <a:r>
              <a:rPr lang="en-US" altLang="zh-CN" dirty="0">
                <a:ea typeface="黑体" panose="02010609060101010101" pitchFamily="49" charset="-122"/>
              </a:rPr>
              <a:t>  P</a:t>
            </a:r>
            <a:r>
              <a:rPr lang="en-US" altLang="zh-CN" baseline="-25000" dirty="0">
                <a:ea typeface="黑体" panose="02010609060101010101" pitchFamily="49" charset="-122"/>
              </a:rPr>
              <a:t>2</a:t>
            </a:r>
            <a:r>
              <a:rPr lang="en-US" altLang="zh-CN" dirty="0">
                <a:ea typeface="黑体" panose="02010609060101010101" pitchFamily="49" charset="-122"/>
              </a:rPr>
              <a:t> = 2</a:t>
            </a:r>
            <a:r>
              <a:rPr lang="en-US" altLang="zh-CN" baseline="30000" dirty="0">
                <a:ea typeface="黑体" panose="02010609060101010101" pitchFamily="49" charset="-122"/>
              </a:rPr>
              <a:t>-1</a:t>
            </a:r>
            <a:r>
              <a:rPr lang="en-US" altLang="zh-CN" dirty="0">
                <a:ea typeface="黑体" panose="02010609060101010101" pitchFamily="49" charset="-122"/>
              </a:rPr>
              <a:t> (P</a:t>
            </a:r>
            <a:r>
              <a:rPr lang="en-US" altLang="zh-CN" baseline="-25000" dirty="0">
                <a:ea typeface="黑体" panose="02010609060101010101" pitchFamily="49" charset="-122"/>
              </a:rPr>
              <a:t>1</a:t>
            </a:r>
            <a:r>
              <a:rPr lang="en-US" altLang="zh-CN" dirty="0">
                <a:ea typeface="黑体" panose="02010609060101010101" pitchFamily="49" charset="-122"/>
              </a:rPr>
              <a:t>+ X × y</a:t>
            </a:r>
            <a:r>
              <a:rPr lang="en-US" altLang="zh-CN" baseline="-25000" dirty="0">
                <a:ea typeface="黑体" panose="02010609060101010101" pitchFamily="49" charset="-122"/>
              </a:rPr>
              <a:t>n-1</a:t>
            </a:r>
            <a:r>
              <a:rPr lang="en-US" altLang="zh-CN" dirty="0">
                <a:ea typeface="黑体" panose="02010609060101010101" pitchFamily="49" charset="-122"/>
              </a:rPr>
              <a:t>)</a:t>
            </a:r>
            <a:endParaRPr lang="en-US" altLang="zh-CN" dirty="0">
              <a:ea typeface="黑体" panose="02010609060101010101" pitchFamily="49" charset="-122"/>
            </a:endParaRPr>
          </a:p>
          <a:p>
            <a:pPr lvl="1">
              <a:buNone/>
            </a:pPr>
            <a:r>
              <a:rPr lang="en-US" altLang="zh-CN" dirty="0">
                <a:ea typeface="黑体" panose="02010609060101010101" pitchFamily="49" charset="-122"/>
              </a:rPr>
              <a:t>  …… ……</a:t>
            </a:r>
            <a:endParaRPr lang="en-US" altLang="zh-CN" dirty="0">
              <a:ea typeface="黑体" panose="02010609060101010101" pitchFamily="49" charset="-122"/>
            </a:endParaRPr>
          </a:p>
          <a:p>
            <a:pPr lvl="1">
              <a:buNone/>
            </a:pPr>
            <a:r>
              <a:rPr lang="en-US" altLang="zh-CN" dirty="0">
                <a:ea typeface="黑体" panose="02010609060101010101" pitchFamily="49" charset="-122"/>
              </a:rPr>
              <a:t>  P</a:t>
            </a:r>
            <a:r>
              <a:rPr lang="en-US" altLang="zh-CN" baseline="-25000" dirty="0">
                <a:ea typeface="黑体" panose="02010609060101010101" pitchFamily="49" charset="-122"/>
              </a:rPr>
              <a:t>n</a:t>
            </a:r>
            <a:r>
              <a:rPr lang="en-US" altLang="zh-CN" dirty="0">
                <a:ea typeface="黑体" panose="02010609060101010101" pitchFamily="49" charset="-122"/>
              </a:rPr>
              <a:t> = 2</a:t>
            </a:r>
            <a:r>
              <a:rPr lang="en-US" altLang="zh-CN" baseline="30000" dirty="0">
                <a:ea typeface="黑体" panose="02010609060101010101" pitchFamily="49" charset="-122"/>
              </a:rPr>
              <a:t>-1</a:t>
            </a:r>
            <a:r>
              <a:rPr lang="en-US" altLang="zh-CN" dirty="0">
                <a:ea typeface="黑体" panose="02010609060101010101" pitchFamily="49" charset="-122"/>
              </a:rPr>
              <a:t> (P</a:t>
            </a:r>
            <a:r>
              <a:rPr lang="en-US" altLang="zh-CN" baseline="-25000" dirty="0">
                <a:ea typeface="黑体" panose="02010609060101010101" pitchFamily="49" charset="-122"/>
              </a:rPr>
              <a:t>n-1</a:t>
            </a:r>
            <a:r>
              <a:rPr lang="en-US" altLang="zh-CN" dirty="0">
                <a:ea typeface="黑体" panose="02010609060101010101" pitchFamily="49" charset="-122"/>
              </a:rPr>
              <a:t>+ X × y</a:t>
            </a:r>
            <a:r>
              <a:rPr lang="en-US" altLang="zh-CN" baseline="-25000" dirty="0">
                <a:ea typeface="黑体" panose="02010609060101010101" pitchFamily="49" charset="-122"/>
              </a:rPr>
              <a:t>1</a:t>
            </a:r>
            <a:r>
              <a:rPr lang="en-US" altLang="zh-CN" dirty="0">
                <a:ea typeface="黑体" panose="02010609060101010101" pitchFamily="49" charset="-122"/>
              </a:rPr>
              <a:t>)</a:t>
            </a:r>
            <a:endParaRPr lang="en-US" altLang="zh-CN" dirty="0">
              <a:ea typeface="黑体" panose="02010609060101010101" pitchFamily="49" charset="-122"/>
            </a:endParaRPr>
          </a:p>
          <a:p>
            <a:r>
              <a:rPr lang="zh-CN" altLang="en-US" sz="2000" dirty="0">
                <a:ea typeface="黑体" panose="02010609060101010101" pitchFamily="49" charset="-122"/>
              </a:rPr>
              <a:t> 其递推公式为：</a:t>
            </a:r>
            <a:r>
              <a:rPr lang="en-US" altLang="zh-CN" sz="2000" dirty="0">
                <a:ea typeface="黑体" panose="02010609060101010101" pitchFamily="49" charset="-122"/>
              </a:rPr>
              <a:t>P</a:t>
            </a:r>
            <a:r>
              <a:rPr lang="en-US" altLang="zh-CN" sz="2000" baseline="-25000" dirty="0">
                <a:ea typeface="黑体" panose="02010609060101010101" pitchFamily="49" charset="-122"/>
              </a:rPr>
              <a:t>i+1</a:t>
            </a:r>
            <a:r>
              <a:rPr lang="en-US" altLang="zh-CN" sz="2000" dirty="0">
                <a:ea typeface="黑体" panose="02010609060101010101" pitchFamily="49" charset="-122"/>
              </a:rPr>
              <a:t> = 2</a:t>
            </a:r>
            <a:r>
              <a:rPr lang="en-US" altLang="zh-CN" sz="2000" baseline="30000" dirty="0">
                <a:ea typeface="黑体" panose="02010609060101010101" pitchFamily="49" charset="-122"/>
              </a:rPr>
              <a:t>-1</a:t>
            </a:r>
            <a:r>
              <a:rPr lang="en-US" altLang="zh-CN" sz="2000" dirty="0">
                <a:ea typeface="黑体" panose="02010609060101010101" pitchFamily="49" charset="-122"/>
              </a:rPr>
              <a:t> (P</a:t>
            </a:r>
            <a:r>
              <a:rPr lang="en-US" altLang="zh-CN" sz="2000" baseline="-25000" dirty="0">
                <a:ea typeface="黑体" panose="02010609060101010101" pitchFamily="49" charset="-122"/>
              </a:rPr>
              <a:t>i</a:t>
            </a:r>
            <a:r>
              <a:rPr lang="en-US" altLang="zh-CN" sz="2000" dirty="0">
                <a:ea typeface="黑体" panose="02010609060101010101" pitchFamily="49" charset="-122"/>
              </a:rPr>
              <a:t> + X×y</a:t>
            </a:r>
            <a:r>
              <a:rPr lang="en-US" altLang="zh-CN" sz="2000" baseline="-25000" dirty="0">
                <a:ea typeface="黑体" panose="02010609060101010101" pitchFamily="49" charset="-122"/>
              </a:rPr>
              <a:t>n-i</a:t>
            </a:r>
            <a:r>
              <a:rPr lang="en-US" altLang="zh-CN" sz="2000" dirty="0">
                <a:ea typeface="黑体" panose="02010609060101010101" pitchFamily="49" charset="-122"/>
              </a:rPr>
              <a:t>)     ( i = 0, 1, 2, 3, … , n-1 )                </a:t>
            </a:r>
            <a:endParaRPr lang="en-US" altLang="zh-CN" sz="2000" dirty="0">
              <a:ea typeface="黑体" panose="02010609060101010101" pitchFamily="49" charset="-122"/>
            </a:endParaRPr>
          </a:p>
          <a:p>
            <a:r>
              <a:rPr lang="zh-CN" altLang="en-US" sz="2000" dirty="0">
                <a:ea typeface="黑体" panose="02010609060101010101" pitchFamily="49" charset="-122"/>
              </a:rPr>
              <a:t> 最终乘积</a:t>
            </a:r>
            <a:r>
              <a:rPr lang="en-US" altLang="zh-CN" sz="2000" dirty="0">
                <a:ea typeface="黑体" panose="02010609060101010101" pitchFamily="49" charset="-122"/>
              </a:rPr>
              <a:t>P</a:t>
            </a:r>
            <a:r>
              <a:rPr lang="en-US" altLang="zh-CN" sz="2000" baseline="-25000" dirty="0">
                <a:ea typeface="黑体" panose="02010609060101010101" pitchFamily="49" charset="-122"/>
              </a:rPr>
              <a:t>n</a:t>
            </a:r>
            <a:r>
              <a:rPr lang="en-US" altLang="zh-CN" sz="2000" dirty="0">
                <a:ea typeface="黑体" panose="02010609060101010101" pitchFamily="49" charset="-122"/>
              </a:rPr>
              <a:t> = X×Y</a:t>
            </a:r>
            <a:endParaRPr lang="zh-CN" altLang="en-US" sz="2000" dirty="0">
              <a:ea typeface="黑体" panose="02010609060101010101" pitchFamily="49" charset="-122"/>
            </a:endParaRPr>
          </a:p>
        </p:txBody>
      </p:sp>
      <p:sp>
        <p:nvSpPr>
          <p:cNvPr id="56323" name="AutoShape 4"/>
          <p:cNvSpPr/>
          <p:nvPr/>
        </p:nvSpPr>
        <p:spPr>
          <a:xfrm rot="-5400000">
            <a:off x="2111375" y="1917700"/>
            <a:ext cx="142875" cy="1733550"/>
          </a:xfrm>
          <a:prstGeom prst="leftBrace">
            <a:avLst>
              <a:gd name="adj1" fmla="val 100717"/>
              <a:gd name="adj2" fmla="val 50000"/>
            </a:avLst>
          </a:prstGeom>
          <a:noFill/>
          <a:ln w="28575" cap="flat" cmpd="sng">
            <a:solidFill>
              <a:srgbClr val="000000"/>
            </a:solidFill>
            <a:prstDash val="solid"/>
            <a:round/>
            <a:headEnd type="none" w="med" len="med"/>
            <a:tailEnd type="none" w="med" len="med"/>
          </a:ln>
        </p:spPr>
        <p:txBody>
          <a:bodyPr vert="eaVert"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22917" name="Rectangle 5"/>
          <p:cNvSpPr/>
          <p:nvPr/>
        </p:nvSpPr>
        <p:spPr>
          <a:xfrm>
            <a:off x="3535363" y="4349750"/>
            <a:ext cx="5278437" cy="701675"/>
          </a:xfrm>
          <a:prstGeom prst="rect">
            <a:avLst/>
          </a:prstGeom>
          <a:noFill/>
          <a:ln w="12700">
            <a:noFill/>
          </a:ln>
        </p:spPr>
        <p:txBody>
          <a:bodyPr anchor="ctr" anchorCtr="0">
            <a:spAutoFit/>
          </a:bodyPr>
          <a:p>
            <a:pPr eaLnBrk="0" hangingPunct="0"/>
            <a:r>
              <a:rPr lang="zh-CN" altLang="en-US" sz="2000" dirty="0">
                <a:solidFill>
                  <a:srgbClr val="CC0000"/>
                </a:solidFill>
                <a:latin typeface="黑体" panose="02010609060101010101" pitchFamily="49" charset="-122"/>
                <a:ea typeface="黑体" panose="02010609060101010101" pitchFamily="49" charset="-122"/>
              </a:rPr>
              <a:t>迭代过程从乘数</a:t>
            </a:r>
            <a:r>
              <a:rPr lang="zh-CN" altLang="en-US" sz="2000" dirty="0">
                <a:solidFill>
                  <a:srgbClr val="CC0000"/>
                </a:solidFill>
                <a:latin typeface="Arial" panose="020B0604020202020204" pitchFamily="34" charset="0"/>
                <a:ea typeface="黑体" panose="02010609060101010101" pitchFamily="49" charset="-122"/>
              </a:rPr>
              <a:t>最低位</a:t>
            </a:r>
            <a:r>
              <a:rPr lang="en-US" altLang="zh-CN" sz="2000" dirty="0">
                <a:solidFill>
                  <a:srgbClr val="CC0000"/>
                </a:solidFill>
                <a:latin typeface="Arial" panose="020B0604020202020204" pitchFamily="34" charset="0"/>
                <a:ea typeface="黑体" panose="02010609060101010101" pitchFamily="49" charset="-122"/>
              </a:rPr>
              <a:t>y</a:t>
            </a:r>
            <a:r>
              <a:rPr lang="en-US" altLang="zh-CN" sz="2000" baseline="-25000" dirty="0">
                <a:solidFill>
                  <a:srgbClr val="CC0000"/>
                </a:solidFill>
                <a:latin typeface="Arial" panose="020B0604020202020204" pitchFamily="34" charset="0"/>
                <a:ea typeface="黑体" panose="02010609060101010101" pitchFamily="49" charset="-122"/>
              </a:rPr>
              <a:t>n</a:t>
            </a:r>
            <a:r>
              <a:rPr lang="zh-CN" altLang="en-US" sz="2000" dirty="0">
                <a:solidFill>
                  <a:srgbClr val="CC0000"/>
                </a:solidFill>
                <a:latin typeface="Arial" panose="020B0604020202020204" pitchFamily="34" charset="0"/>
                <a:ea typeface="黑体" panose="02010609060101010101" pitchFamily="49" charset="-122"/>
              </a:rPr>
              <a:t>和</a:t>
            </a:r>
            <a:r>
              <a:rPr lang="en-US" altLang="zh-CN" sz="2000" dirty="0">
                <a:solidFill>
                  <a:srgbClr val="CC0000"/>
                </a:solidFill>
                <a:latin typeface="Arial" panose="020B0604020202020204" pitchFamily="34" charset="0"/>
                <a:ea typeface="黑体" panose="02010609060101010101" pitchFamily="49" charset="-122"/>
              </a:rPr>
              <a:t>P</a:t>
            </a:r>
            <a:r>
              <a:rPr lang="en-US" altLang="zh-CN" sz="2000" baseline="-25000" dirty="0">
                <a:solidFill>
                  <a:srgbClr val="CC0000"/>
                </a:solidFill>
                <a:latin typeface="Arial" panose="020B0604020202020204" pitchFamily="34" charset="0"/>
                <a:ea typeface="黑体" panose="02010609060101010101" pitchFamily="49" charset="-122"/>
              </a:rPr>
              <a:t>0</a:t>
            </a:r>
            <a:r>
              <a:rPr lang="en-US" altLang="zh-CN" sz="2000" dirty="0">
                <a:solidFill>
                  <a:srgbClr val="CC0000"/>
                </a:solidFill>
                <a:latin typeface="Arial" panose="020B0604020202020204" pitchFamily="34" charset="0"/>
                <a:ea typeface="黑体" panose="02010609060101010101" pitchFamily="49" charset="-122"/>
              </a:rPr>
              <a:t>=0</a:t>
            </a:r>
            <a:r>
              <a:rPr lang="zh-CN" altLang="en-US" sz="2000" dirty="0">
                <a:solidFill>
                  <a:srgbClr val="CC0000"/>
                </a:solidFill>
                <a:latin typeface="Arial" panose="020B0604020202020204" pitchFamily="34" charset="0"/>
                <a:ea typeface="黑体" panose="02010609060101010101" pitchFamily="49" charset="-122"/>
              </a:rPr>
              <a:t>开始，经</a:t>
            </a:r>
            <a:r>
              <a:rPr lang="en-US" altLang="zh-CN" sz="2000" dirty="0">
                <a:solidFill>
                  <a:srgbClr val="CC0000"/>
                </a:solidFill>
                <a:latin typeface="Arial" panose="020B0604020202020204" pitchFamily="34" charset="0"/>
                <a:ea typeface="黑体" panose="02010609060101010101" pitchFamily="49" charset="-122"/>
              </a:rPr>
              <a:t>n</a:t>
            </a:r>
            <a:r>
              <a:rPr lang="zh-CN" altLang="en-US" sz="2000" dirty="0">
                <a:solidFill>
                  <a:srgbClr val="CC0000"/>
                </a:solidFill>
                <a:latin typeface="Arial" panose="020B0604020202020204" pitchFamily="34" charset="0"/>
                <a:ea typeface="黑体" panose="02010609060101010101" pitchFamily="49" charset="-122"/>
              </a:rPr>
              <a:t>次“判断</a:t>
            </a:r>
            <a:r>
              <a:rPr lang="en-US" altLang="zh-CN" sz="2000" dirty="0">
                <a:solidFill>
                  <a:srgbClr val="CC0000"/>
                </a:solidFill>
                <a:latin typeface="Arial" panose="020B0604020202020204" pitchFamily="34" charset="0"/>
                <a:ea typeface="黑体" panose="02010609060101010101" pitchFamily="49" charset="-122"/>
              </a:rPr>
              <a:t>–</a:t>
            </a:r>
            <a:r>
              <a:rPr lang="zh-CN" altLang="en-US" sz="2000" dirty="0">
                <a:solidFill>
                  <a:srgbClr val="CC0000"/>
                </a:solidFill>
                <a:latin typeface="Arial" panose="020B0604020202020204" pitchFamily="34" charset="0"/>
                <a:ea typeface="黑体" panose="02010609060101010101" pitchFamily="49" charset="-122"/>
              </a:rPr>
              <a:t>加法</a:t>
            </a:r>
            <a:r>
              <a:rPr lang="en-US" altLang="zh-CN" sz="2000" dirty="0">
                <a:solidFill>
                  <a:srgbClr val="CC0000"/>
                </a:solidFill>
                <a:latin typeface="Arial" panose="020B0604020202020204" pitchFamily="34" charset="0"/>
                <a:ea typeface="黑体" panose="02010609060101010101" pitchFamily="49" charset="-122"/>
              </a:rPr>
              <a:t>–</a:t>
            </a:r>
            <a:r>
              <a:rPr lang="zh-CN" altLang="en-US" sz="2000" dirty="0">
                <a:solidFill>
                  <a:srgbClr val="CC0000"/>
                </a:solidFill>
                <a:latin typeface="Arial" panose="020B0604020202020204" pitchFamily="34" charset="0"/>
                <a:ea typeface="黑体" panose="02010609060101010101" pitchFamily="49" charset="-122"/>
              </a:rPr>
              <a:t>右移”循环，直到求出</a:t>
            </a:r>
            <a:r>
              <a:rPr lang="en-US" altLang="zh-CN" sz="2000" dirty="0">
                <a:solidFill>
                  <a:srgbClr val="CC0000"/>
                </a:solidFill>
                <a:latin typeface="Arial" panose="020B0604020202020204" pitchFamily="34" charset="0"/>
                <a:ea typeface="黑体" panose="02010609060101010101" pitchFamily="49" charset="-122"/>
              </a:rPr>
              <a:t>P</a:t>
            </a:r>
            <a:r>
              <a:rPr lang="en-US" altLang="zh-CN" dirty="0">
                <a:solidFill>
                  <a:srgbClr val="CC0000"/>
                </a:solidFill>
                <a:latin typeface="Times New Roman" panose="02020603050405020304" pitchFamily="18" charset="0"/>
              </a:rPr>
              <a:t>n</a:t>
            </a:r>
            <a:r>
              <a:rPr lang="zh-CN" altLang="en-US" sz="2000" dirty="0">
                <a:solidFill>
                  <a:srgbClr val="CC0000"/>
                </a:solidFill>
                <a:latin typeface="Arial" panose="020B0604020202020204" pitchFamily="34" charset="0"/>
                <a:ea typeface="黑体" panose="02010609060101010101" pitchFamily="49" charset="-122"/>
              </a:rPr>
              <a:t>为止</a:t>
            </a:r>
            <a:endParaRPr lang="zh-CN" altLang="en-US" sz="2000" dirty="0">
              <a:solidFill>
                <a:srgbClr val="CC000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2915">
                                            <p:txEl>
                                              <p:charRg st="285" end="344"/>
                                            </p:txEl>
                                          </p:spTgt>
                                        </p:tgtEl>
                                        <p:attrNameLst>
                                          <p:attrName>style.visibility</p:attrName>
                                        </p:attrNameLst>
                                      </p:cBhvr>
                                      <p:to>
                                        <p:strVal val="visible"/>
                                      </p:to>
                                    </p:set>
                                    <p:animEffect transition="in" filter="blinds(horizontal)">
                                      <p:cBhvr>
                                        <p:cTn id="7" dur="500"/>
                                        <p:tgtEl>
                                          <p:spTgt spid="422915">
                                            <p:txEl>
                                              <p:charRg st="285" end="3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2915">
                                            <p:txEl>
                                              <p:charRg st="344" end="368"/>
                                            </p:txEl>
                                          </p:spTgt>
                                        </p:tgtEl>
                                        <p:attrNameLst>
                                          <p:attrName>style.visibility</p:attrName>
                                        </p:attrNameLst>
                                      </p:cBhvr>
                                      <p:to>
                                        <p:strVal val="visible"/>
                                      </p:to>
                                    </p:set>
                                    <p:animEffect transition="in" filter="blinds(horizontal)">
                                      <p:cBhvr>
                                        <p:cTn id="12" dur="500"/>
                                        <p:tgtEl>
                                          <p:spTgt spid="422915">
                                            <p:txEl>
                                              <p:charRg st="344" end="368"/>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22915">
                                            <p:txEl>
                                              <p:charRg st="368" end="394"/>
                                            </p:txEl>
                                          </p:spTgt>
                                        </p:tgtEl>
                                        <p:attrNameLst>
                                          <p:attrName>style.visibility</p:attrName>
                                        </p:attrNameLst>
                                      </p:cBhvr>
                                      <p:to>
                                        <p:strVal val="visible"/>
                                      </p:to>
                                    </p:set>
                                    <p:animEffect transition="in" filter="blinds(horizontal)">
                                      <p:cBhvr>
                                        <p:cTn id="15" dur="500"/>
                                        <p:tgtEl>
                                          <p:spTgt spid="422915">
                                            <p:txEl>
                                              <p:charRg st="368" end="39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22915">
                                            <p:txEl>
                                              <p:charRg st="394" end="402"/>
                                            </p:txEl>
                                          </p:spTgt>
                                        </p:tgtEl>
                                        <p:attrNameLst>
                                          <p:attrName>style.visibility</p:attrName>
                                        </p:attrNameLst>
                                      </p:cBhvr>
                                      <p:to>
                                        <p:strVal val="visible"/>
                                      </p:to>
                                    </p:set>
                                    <p:animEffect transition="in" filter="blinds(horizontal)">
                                      <p:cBhvr>
                                        <p:cTn id="18" dur="500"/>
                                        <p:tgtEl>
                                          <p:spTgt spid="422915">
                                            <p:txEl>
                                              <p:charRg st="394" end="40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22915">
                                            <p:txEl>
                                              <p:charRg st="402" end="428"/>
                                            </p:txEl>
                                          </p:spTgt>
                                        </p:tgtEl>
                                        <p:attrNameLst>
                                          <p:attrName>style.visibility</p:attrName>
                                        </p:attrNameLst>
                                      </p:cBhvr>
                                      <p:to>
                                        <p:strVal val="visible"/>
                                      </p:to>
                                    </p:set>
                                    <p:animEffect transition="in" filter="blinds(horizontal)">
                                      <p:cBhvr>
                                        <p:cTn id="21" dur="500"/>
                                        <p:tgtEl>
                                          <p:spTgt spid="422915">
                                            <p:txEl>
                                              <p:charRg st="402" end="42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22915">
                                            <p:txEl>
                                              <p:charRg st="428" end="509"/>
                                            </p:txEl>
                                          </p:spTgt>
                                        </p:tgtEl>
                                        <p:attrNameLst>
                                          <p:attrName>style.visibility</p:attrName>
                                        </p:attrNameLst>
                                      </p:cBhvr>
                                      <p:to>
                                        <p:strVal val="visible"/>
                                      </p:to>
                                    </p:set>
                                    <p:animEffect transition="in" filter="blinds(horizontal)">
                                      <p:cBhvr>
                                        <p:cTn id="26" dur="500"/>
                                        <p:tgtEl>
                                          <p:spTgt spid="422915">
                                            <p:txEl>
                                              <p:charRg st="428" end="50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22915">
                                            <p:txEl>
                                              <p:charRg st="509" end="523"/>
                                            </p:txEl>
                                          </p:spTgt>
                                        </p:tgtEl>
                                        <p:attrNameLst>
                                          <p:attrName>style.visibility</p:attrName>
                                        </p:attrNameLst>
                                      </p:cBhvr>
                                      <p:to>
                                        <p:strVal val="visible"/>
                                      </p:to>
                                    </p:set>
                                    <p:animEffect transition="in" filter="blinds(horizontal)">
                                      <p:cBhvr>
                                        <p:cTn id="31" dur="500"/>
                                        <p:tgtEl>
                                          <p:spTgt spid="422915">
                                            <p:txEl>
                                              <p:charRg st="509" end="52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22917"/>
                                        </p:tgtEl>
                                        <p:attrNameLst>
                                          <p:attrName>style.visibility</p:attrName>
                                        </p:attrNameLst>
                                      </p:cBhvr>
                                      <p:to>
                                        <p:strVal val="visible"/>
                                      </p:to>
                                    </p:set>
                                    <p:animEffect transition="in" filter="blinds(horizontal)">
                                      <p:cBhvr>
                                        <p:cTn id="36" dur="500"/>
                                        <p:tgtEl>
                                          <p:spTgt spid="422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7345" name="Group 39"/>
          <p:cNvGrpSpPr/>
          <p:nvPr/>
        </p:nvGrpSpPr>
        <p:grpSpPr>
          <a:xfrm>
            <a:off x="381000" y="712788"/>
            <a:ext cx="7877175" cy="3767137"/>
            <a:chOff x="432" y="1283"/>
            <a:chExt cx="4704" cy="2477"/>
          </a:xfrm>
        </p:grpSpPr>
        <p:sp>
          <p:nvSpPr>
            <p:cNvPr id="57346" name="Freeform 40"/>
            <p:cNvSpPr/>
            <p:nvPr/>
          </p:nvSpPr>
          <p:spPr>
            <a:xfrm>
              <a:off x="720" y="1919"/>
              <a:ext cx="1104" cy="480"/>
            </a:xfrm>
            <a:custGeom>
              <a:avLst/>
              <a:gdLst/>
              <a:ahLst/>
              <a:cxnLst>
                <a:cxn ang="0">
                  <a:pos x="0" y="0"/>
                </a:cxn>
                <a:cxn ang="0">
                  <a:pos x="288" y="480"/>
                </a:cxn>
                <a:cxn ang="0">
                  <a:pos x="864" y="480"/>
                </a:cxn>
                <a:cxn ang="0">
                  <a:pos x="1104" y="0"/>
                </a:cxn>
                <a:cxn ang="0">
                  <a:pos x="672" y="0"/>
                </a:cxn>
                <a:cxn ang="0">
                  <a:pos x="576" y="144"/>
                </a:cxn>
                <a:cxn ang="0">
                  <a:pos x="480" y="0"/>
                </a:cxn>
                <a:cxn ang="0">
                  <a:pos x="0" y="0"/>
                </a:cxn>
              </a:cxnLst>
              <a:pathLst>
                <a:path w="1104" h="480">
                  <a:moveTo>
                    <a:pt x="0" y="0"/>
                  </a:moveTo>
                  <a:lnTo>
                    <a:pt x="288" y="480"/>
                  </a:lnTo>
                  <a:lnTo>
                    <a:pt x="864" y="480"/>
                  </a:lnTo>
                  <a:lnTo>
                    <a:pt x="1104" y="0"/>
                  </a:lnTo>
                  <a:lnTo>
                    <a:pt x="672" y="0"/>
                  </a:lnTo>
                  <a:lnTo>
                    <a:pt x="576" y="144"/>
                  </a:lnTo>
                  <a:lnTo>
                    <a:pt x="480" y="0"/>
                  </a:lnTo>
                  <a:lnTo>
                    <a:pt x="0" y="0"/>
                  </a:lnTo>
                  <a:close/>
                </a:path>
              </a:pathLst>
            </a:custGeom>
            <a:noFill/>
            <a:ln w="12700" cap="flat" cmpd="sng">
              <a:solidFill>
                <a:schemeClr val="tx1"/>
              </a:solidFill>
              <a:prstDash val="solid"/>
              <a:round/>
              <a:headEnd type="none" w="med" len="med"/>
              <a:tailEnd type="none" w="med" len="med"/>
            </a:ln>
          </p:spPr>
          <p:txBody>
            <a:bodyPr/>
            <a:p>
              <a:endParaRPr lang="zh-CN" altLang="en-US"/>
            </a:p>
          </p:txBody>
        </p:sp>
        <p:sp>
          <p:nvSpPr>
            <p:cNvPr id="57347" name="Rectangle 41"/>
            <p:cNvSpPr/>
            <p:nvPr/>
          </p:nvSpPr>
          <p:spPr>
            <a:xfrm>
              <a:off x="2986" y="3193"/>
              <a:ext cx="412" cy="181"/>
            </a:xfrm>
            <a:prstGeom prst="rect">
              <a:avLst/>
            </a:prstGeom>
            <a:noFill/>
            <a:ln w="9525">
              <a:noFill/>
            </a:ln>
          </p:spPr>
          <p:txBody>
            <a:bodyPr wrap="none" lIns="0" tIns="0" rIns="0" bIns="0" anchor="t" anchorCtr="0">
              <a:spAutoFit/>
            </a:bodyPr>
            <a:p>
              <a:pPr eaLnBrk="0" hangingPunct="0"/>
              <a:r>
                <a:rPr lang="zh-CN" altLang="en-US" sz="1800" dirty="0">
                  <a:latin typeface="Arial" panose="020B0604020202020204" pitchFamily="34" charset="0"/>
                  <a:ea typeface="黑体" panose="02010609060101010101" pitchFamily="49" charset="-122"/>
                </a:rPr>
                <a:t>写使能</a:t>
              </a:r>
              <a:endParaRPr lang="zh-CN" altLang="en-US" sz="1800" dirty="0">
                <a:latin typeface="Arial" panose="020B0604020202020204" pitchFamily="34" charset="0"/>
                <a:ea typeface="黑体" panose="02010609060101010101" pitchFamily="49" charset="-122"/>
              </a:endParaRPr>
            </a:p>
          </p:txBody>
        </p:sp>
        <p:sp>
          <p:nvSpPr>
            <p:cNvPr id="57348" name="AutoShape 42"/>
            <p:cNvSpPr/>
            <p:nvPr/>
          </p:nvSpPr>
          <p:spPr>
            <a:xfrm>
              <a:off x="3696" y="2831"/>
              <a:ext cx="1359" cy="611"/>
            </a:xfrm>
            <a:prstGeom prst="roundRect">
              <a:avLst>
                <a:gd name="adj" fmla="val 50000"/>
              </a:avLst>
            </a:prstGeom>
            <a:noFill/>
            <a:ln w="26988" cap="flat" cmpd="sng">
              <a:solidFill>
                <a:srgbClr val="CC3300"/>
              </a:solidFill>
              <a:prstDash val="solid"/>
              <a:round/>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57349" name="Rectangle 43"/>
            <p:cNvSpPr/>
            <p:nvPr/>
          </p:nvSpPr>
          <p:spPr>
            <a:xfrm>
              <a:off x="4097" y="3005"/>
              <a:ext cx="580" cy="181"/>
            </a:xfrm>
            <a:prstGeom prst="rect">
              <a:avLst/>
            </a:prstGeom>
            <a:noFill/>
            <a:ln w="9525">
              <a:noFill/>
            </a:ln>
          </p:spPr>
          <p:txBody>
            <a:bodyPr lIns="0" tIns="0" rIns="0" bIns="0" anchor="t" anchorCtr="0">
              <a:spAutoFit/>
            </a:bodyPr>
            <a:p>
              <a:pPr eaLnBrk="0" hangingPunct="0"/>
              <a:r>
                <a:rPr lang="zh-CN" altLang="en-US" sz="1800" dirty="0">
                  <a:latin typeface="Arial" panose="020B0604020202020204" pitchFamily="34" charset="0"/>
                  <a:ea typeface="黑体" panose="02010609060101010101" pitchFamily="49" charset="-122"/>
                </a:rPr>
                <a:t>控制逻辑</a:t>
              </a:r>
              <a:endParaRPr lang="zh-CN" altLang="en-US" sz="1800" dirty="0">
                <a:latin typeface="Arial" panose="020B0604020202020204" pitchFamily="34" charset="0"/>
                <a:ea typeface="黑体" panose="02010609060101010101" pitchFamily="49" charset="-122"/>
              </a:endParaRPr>
            </a:p>
          </p:txBody>
        </p:sp>
        <p:sp>
          <p:nvSpPr>
            <p:cNvPr id="57350" name="Rectangle 44"/>
            <p:cNvSpPr/>
            <p:nvPr/>
          </p:nvSpPr>
          <p:spPr>
            <a:xfrm>
              <a:off x="3057" y="2819"/>
              <a:ext cx="275" cy="181"/>
            </a:xfrm>
            <a:prstGeom prst="rect">
              <a:avLst/>
            </a:prstGeom>
            <a:noFill/>
            <a:ln w="9525">
              <a:noFill/>
            </a:ln>
          </p:spPr>
          <p:txBody>
            <a:bodyPr lIns="0" tIns="0" rIns="0" bIns="0" anchor="t" anchorCtr="0">
              <a:spAutoFit/>
            </a:bodyPr>
            <a:p>
              <a:pPr eaLnBrk="0" hangingPunct="0"/>
              <a:r>
                <a:rPr lang="zh-CN" altLang="en-US" sz="1800" dirty="0">
                  <a:latin typeface="Arial" panose="020B0604020202020204" pitchFamily="34" charset="0"/>
                  <a:ea typeface="黑体" panose="02010609060101010101" pitchFamily="49" charset="-122"/>
                </a:rPr>
                <a:t>右移</a:t>
              </a:r>
              <a:endParaRPr lang="zh-CN" altLang="en-US" sz="1800" dirty="0">
                <a:latin typeface="Arial" panose="020B0604020202020204" pitchFamily="34" charset="0"/>
                <a:ea typeface="黑体" panose="02010609060101010101" pitchFamily="49" charset="-122"/>
              </a:endParaRPr>
            </a:p>
          </p:txBody>
        </p:sp>
        <p:sp>
          <p:nvSpPr>
            <p:cNvPr id="57351" name="Rectangle 45"/>
            <p:cNvSpPr/>
            <p:nvPr/>
          </p:nvSpPr>
          <p:spPr>
            <a:xfrm>
              <a:off x="963" y="2069"/>
              <a:ext cx="608" cy="181"/>
            </a:xfrm>
            <a:prstGeom prst="rect">
              <a:avLst/>
            </a:prstGeom>
            <a:noFill/>
            <a:ln w="9525">
              <a:noFill/>
            </a:ln>
          </p:spPr>
          <p:txBody>
            <a:bodyPr wrap="none" lIns="0" tIns="0" rIns="0" bIns="0" anchor="t" anchorCtr="0">
              <a:spAutoFit/>
            </a:bodyPr>
            <a:p>
              <a:pPr eaLnBrk="0" hangingPunct="0"/>
              <a:r>
                <a:rPr lang="en-US" altLang="zh-CN" sz="1800" dirty="0">
                  <a:latin typeface="Arial" panose="020B0604020202020204" pitchFamily="34" charset="0"/>
                  <a:ea typeface="黑体" panose="02010609060101010101" pitchFamily="49" charset="-122"/>
                </a:rPr>
                <a:t>32</a:t>
              </a:r>
              <a:r>
                <a:rPr lang="zh-CN" altLang="en-US" sz="1800" dirty="0">
                  <a:latin typeface="Arial" panose="020B0604020202020204" pitchFamily="34" charset="0"/>
                  <a:ea typeface="黑体" panose="02010609060101010101" pitchFamily="49" charset="-122"/>
                </a:rPr>
                <a:t>位 </a:t>
              </a:r>
              <a:r>
                <a:rPr lang="en-US" altLang="zh-CN" sz="1800" dirty="0">
                  <a:latin typeface="Arial" panose="020B0604020202020204" pitchFamily="34" charset="0"/>
                  <a:ea typeface="黑体" panose="02010609060101010101" pitchFamily="49" charset="-122"/>
                </a:rPr>
                <a:t>ALU</a:t>
              </a:r>
              <a:endParaRPr lang="en-US" altLang="zh-CN" sz="1800" dirty="0">
                <a:latin typeface="Arial" panose="020B0604020202020204" pitchFamily="34" charset="0"/>
                <a:ea typeface="黑体" panose="02010609060101010101" pitchFamily="49" charset="-122"/>
              </a:endParaRPr>
            </a:p>
          </p:txBody>
        </p:sp>
        <p:sp>
          <p:nvSpPr>
            <p:cNvPr id="57352" name="Rectangle 46"/>
            <p:cNvSpPr/>
            <p:nvPr/>
          </p:nvSpPr>
          <p:spPr>
            <a:xfrm>
              <a:off x="1033" y="1283"/>
              <a:ext cx="1102" cy="306"/>
            </a:xfrm>
            <a:prstGeom prst="rect">
              <a:avLst/>
            </a:prstGeom>
            <a:noFill/>
            <a:ln w="28575" cap="flat" cmpd="sng">
              <a:solidFill>
                <a:schemeClr val="tx1"/>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57353" name="Rectangle 47"/>
            <p:cNvSpPr/>
            <p:nvPr/>
          </p:nvSpPr>
          <p:spPr>
            <a:xfrm>
              <a:off x="1076" y="1328"/>
              <a:ext cx="986" cy="180"/>
            </a:xfrm>
            <a:prstGeom prst="rect">
              <a:avLst/>
            </a:prstGeom>
            <a:noFill/>
            <a:ln w="9525">
              <a:noFill/>
            </a:ln>
          </p:spPr>
          <p:txBody>
            <a:bodyPr lIns="0" tIns="0" rIns="0" bIns="0" anchor="t" anchorCtr="0">
              <a:spAutoFit/>
            </a:bodyPr>
            <a:p>
              <a:pPr eaLnBrk="0" hangingPunct="0"/>
              <a:r>
                <a:rPr lang="zh-CN" altLang="en-US" sz="1800" dirty="0">
                  <a:latin typeface="黑体" panose="02010609060101010101" pitchFamily="49" charset="-122"/>
                  <a:ea typeface="黑体" panose="02010609060101010101" pitchFamily="49" charset="-122"/>
                </a:rPr>
                <a:t>被乘数寄存器</a:t>
              </a:r>
              <a:r>
                <a:rPr lang="en-US" altLang="zh-CN" sz="1800" dirty="0">
                  <a:latin typeface="黑体" panose="02010609060101010101" pitchFamily="49" charset="-122"/>
                  <a:ea typeface="黑体" panose="02010609060101010101" pitchFamily="49" charset="-122"/>
                </a:rPr>
                <a:t>X</a:t>
              </a:r>
              <a:endParaRPr lang="en-US" altLang="zh-CN" sz="1800" dirty="0">
                <a:latin typeface="黑体" panose="02010609060101010101" pitchFamily="49" charset="-122"/>
                <a:ea typeface="黑体" panose="02010609060101010101" pitchFamily="49" charset="-122"/>
              </a:endParaRPr>
            </a:p>
          </p:txBody>
        </p:sp>
        <p:sp>
          <p:nvSpPr>
            <p:cNvPr id="57354" name="Rectangle 48"/>
            <p:cNvSpPr/>
            <p:nvPr/>
          </p:nvSpPr>
          <p:spPr>
            <a:xfrm>
              <a:off x="1033" y="2999"/>
              <a:ext cx="994" cy="181"/>
            </a:xfrm>
            <a:prstGeom prst="rect">
              <a:avLst/>
            </a:prstGeom>
            <a:noFill/>
            <a:ln w="9525">
              <a:noFill/>
            </a:ln>
          </p:spPr>
          <p:txBody>
            <a:bodyPr lIns="0" tIns="0" rIns="0" bIns="0" anchor="t" anchorCtr="0">
              <a:spAutoFit/>
            </a:bodyPr>
            <a:p>
              <a:pPr eaLnBrk="0" hangingPunct="0"/>
              <a:r>
                <a:rPr lang="zh-CN" altLang="en-US" sz="1800" dirty="0">
                  <a:latin typeface="Arial" panose="020B0604020202020204" pitchFamily="34" charset="0"/>
                  <a:ea typeface="黑体" panose="02010609060101010101" pitchFamily="49" charset="-122"/>
                </a:rPr>
                <a:t>乘积寄存器</a:t>
              </a:r>
              <a:r>
                <a:rPr lang="en-US" altLang="zh-CN" sz="1800" dirty="0">
                  <a:latin typeface="Arial" panose="020B0604020202020204" pitchFamily="34" charset="0"/>
                  <a:ea typeface="黑体" panose="02010609060101010101" pitchFamily="49" charset="-122"/>
                </a:rPr>
                <a:t>P</a:t>
              </a:r>
              <a:endParaRPr lang="en-US" altLang="zh-CN" sz="1800" dirty="0">
                <a:latin typeface="Arial" panose="020B0604020202020204" pitchFamily="34" charset="0"/>
                <a:ea typeface="黑体" panose="02010609060101010101" pitchFamily="49" charset="-122"/>
              </a:endParaRPr>
            </a:p>
          </p:txBody>
        </p:sp>
        <p:sp>
          <p:nvSpPr>
            <p:cNvPr id="57355" name="Rectangle 49"/>
            <p:cNvSpPr/>
            <p:nvPr/>
          </p:nvSpPr>
          <p:spPr>
            <a:xfrm>
              <a:off x="1664" y="1589"/>
              <a:ext cx="145" cy="170"/>
            </a:xfrm>
            <a:prstGeom prst="rect">
              <a:avLst/>
            </a:prstGeom>
            <a:noFill/>
            <a:ln w="9525">
              <a:noFill/>
            </a:ln>
          </p:spPr>
          <p:txBody>
            <a:bodyPr wrap="none" lIns="0" tIns="0" rIns="0" bIns="0" anchor="t" anchorCtr="0">
              <a:spAutoFit/>
            </a:bodyPr>
            <a:p>
              <a:pPr eaLnBrk="0" hangingPunct="0"/>
              <a:r>
                <a:rPr lang="en-US" altLang="zh-CN" sz="1700" dirty="0">
                  <a:solidFill>
                    <a:srgbClr val="000000"/>
                  </a:solidFill>
                  <a:latin typeface="Arial" panose="020B0604020202020204" pitchFamily="34" charset="0"/>
                </a:rPr>
                <a:t>32</a:t>
              </a:r>
              <a:endParaRPr lang="en-US" altLang="zh-CN" dirty="0">
                <a:latin typeface="Arial" panose="020B0604020202020204" pitchFamily="34" charset="0"/>
                <a:ea typeface="Arial" panose="020B0604020202020204" pitchFamily="34" charset="0"/>
              </a:endParaRPr>
            </a:p>
          </p:txBody>
        </p:sp>
        <p:sp>
          <p:nvSpPr>
            <p:cNvPr id="57356" name="Rectangle 50"/>
            <p:cNvSpPr/>
            <p:nvPr/>
          </p:nvSpPr>
          <p:spPr>
            <a:xfrm>
              <a:off x="1790" y="2739"/>
              <a:ext cx="327" cy="181"/>
            </a:xfrm>
            <a:prstGeom prst="rect">
              <a:avLst/>
            </a:prstGeom>
            <a:noFill/>
            <a:ln w="9525">
              <a:noFill/>
            </a:ln>
          </p:spPr>
          <p:txBody>
            <a:bodyPr wrap="none" lIns="0" tIns="0" rIns="0" bIns="0" anchor="t" anchorCtr="0">
              <a:spAutoFit/>
            </a:bodyPr>
            <a:p>
              <a:pPr eaLnBrk="0" hangingPunct="0"/>
              <a:r>
                <a:rPr lang="en-US" altLang="zh-CN" sz="1800" dirty="0">
                  <a:latin typeface="Arial" panose="020B0604020202020204" pitchFamily="34" charset="0"/>
                  <a:ea typeface="黑体" panose="02010609060101010101" pitchFamily="49" charset="-122"/>
                </a:rPr>
                <a:t>64 </a:t>
              </a:r>
              <a:r>
                <a:rPr lang="zh-CN" altLang="en-US" sz="1800" dirty="0">
                  <a:latin typeface="Arial" panose="020B0604020202020204" pitchFamily="34" charset="0"/>
                  <a:ea typeface="黑体" panose="02010609060101010101" pitchFamily="49" charset="-122"/>
                </a:rPr>
                <a:t>位</a:t>
              </a:r>
              <a:endParaRPr lang="zh-CN" altLang="en-US" sz="1800" dirty="0">
                <a:latin typeface="Arial" panose="020B0604020202020204" pitchFamily="34" charset="0"/>
                <a:ea typeface="黑体" panose="02010609060101010101" pitchFamily="49" charset="-122"/>
              </a:endParaRPr>
            </a:p>
          </p:txBody>
        </p:sp>
        <p:sp>
          <p:nvSpPr>
            <p:cNvPr id="57357" name="Rectangle 51"/>
            <p:cNvSpPr/>
            <p:nvPr/>
          </p:nvSpPr>
          <p:spPr>
            <a:xfrm>
              <a:off x="960" y="2927"/>
              <a:ext cx="1968" cy="336"/>
            </a:xfrm>
            <a:prstGeom prst="rect">
              <a:avLst/>
            </a:prstGeom>
            <a:noFill/>
            <a:ln w="28575" cap="flat" cmpd="sng">
              <a:solidFill>
                <a:schemeClr val="tx1"/>
              </a:solidFill>
              <a:prstDash val="solid"/>
              <a:miter/>
              <a:headEnd type="none" w="med" len="med"/>
              <a:tailEnd type="none" w="med" len="med"/>
            </a:ln>
          </p:spPr>
          <p:txBody>
            <a:bodyPr wrap="none" anchor="ctr" anchorCtr="0"/>
            <a:p>
              <a:pPr algn="ctr" eaLnBrk="0" hangingPunct="0"/>
              <a:endParaRPr lang="zh-CN" altLang="en-US" dirty="0">
                <a:solidFill>
                  <a:schemeClr val="accent1"/>
                </a:solidFill>
                <a:latin typeface="Times New Roman" panose="02020603050405020304" pitchFamily="18" charset="0"/>
                <a:ea typeface="宋体" panose="02010600030101010101" pitchFamily="2" charset="-122"/>
              </a:endParaRPr>
            </a:p>
          </p:txBody>
        </p:sp>
        <p:sp>
          <p:nvSpPr>
            <p:cNvPr id="57358" name="Line 52"/>
            <p:cNvSpPr/>
            <p:nvPr/>
          </p:nvSpPr>
          <p:spPr>
            <a:xfrm>
              <a:off x="1296" y="2399"/>
              <a:ext cx="1" cy="528"/>
            </a:xfrm>
            <a:prstGeom prst="line">
              <a:avLst/>
            </a:prstGeom>
            <a:ln w="19050" cap="flat" cmpd="sng">
              <a:solidFill>
                <a:schemeClr val="tx1"/>
              </a:solidFill>
              <a:prstDash val="solid"/>
              <a:round/>
              <a:headEnd type="none" w="med" len="med"/>
              <a:tailEnd type="triangle" w="med" len="med"/>
            </a:ln>
          </p:spPr>
        </p:sp>
        <p:sp>
          <p:nvSpPr>
            <p:cNvPr id="57359" name="Freeform 53"/>
            <p:cNvSpPr/>
            <p:nvPr/>
          </p:nvSpPr>
          <p:spPr>
            <a:xfrm>
              <a:off x="432" y="1727"/>
              <a:ext cx="864" cy="1728"/>
            </a:xfrm>
            <a:custGeom>
              <a:avLst/>
              <a:gdLst/>
              <a:ahLst/>
              <a:cxnLst>
                <a:cxn ang="0">
                  <a:pos x="864" y="1536"/>
                </a:cxn>
                <a:cxn ang="0">
                  <a:pos x="864" y="1728"/>
                </a:cxn>
                <a:cxn ang="0">
                  <a:pos x="0" y="1728"/>
                </a:cxn>
                <a:cxn ang="0">
                  <a:pos x="0" y="0"/>
                </a:cxn>
                <a:cxn ang="0">
                  <a:pos x="528" y="0"/>
                </a:cxn>
                <a:cxn ang="0">
                  <a:pos x="528" y="192"/>
                </a:cxn>
              </a:cxnLst>
              <a:pathLst>
                <a:path w="864" h="1728">
                  <a:moveTo>
                    <a:pt x="864" y="1536"/>
                  </a:moveTo>
                  <a:lnTo>
                    <a:pt x="864" y="1728"/>
                  </a:lnTo>
                  <a:lnTo>
                    <a:pt x="0" y="1728"/>
                  </a:lnTo>
                  <a:lnTo>
                    <a:pt x="0" y="0"/>
                  </a:lnTo>
                  <a:lnTo>
                    <a:pt x="528" y="0"/>
                  </a:lnTo>
                  <a:lnTo>
                    <a:pt x="528" y="192"/>
                  </a:lnTo>
                </a:path>
              </a:pathLst>
            </a:custGeom>
            <a:noFill/>
            <a:ln w="19050" cap="flat" cmpd="sng">
              <a:solidFill>
                <a:schemeClr val="tx1"/>
              </a:solidFill>
              <a:prstDash val="solid"/>
              <a:round/>
              <a:headEnd type="none" w="med" len="med"/>
              <a:tailEnd type="triangle" w="med" len="med"/>
            </a:ln>
          </p:spPr>
          <p:txBody>
            <a:bodyPr/>
            <a:p>
              <a:endParaRPr lang="zh-CN" altLang="en-US"/>
            </a:p>
          </p:txBody>
        </p:sp>
        <p:sp>
          <p:nvSpPr>
            <p:cNvPr id="57360" name="Line 54"/>
            <p:cNvSpPr/>
            <p:nvPr/>
          </p:nvSpPr>
          <p:spPr>
            <a:xfrm>
              <a:off x="1584" y="1583"/>
              <a:ext cx="0" cy="336"/>
            </a:xfrm>
            <a:prstGeom prst="line">
              <a:avLst/>
            </a:prstGeom>
            <a:ln w="19050" cap="flat" cmpd="sng">
              <a:solidFill>
                <a:schemeClr val="tx1"/>
              </a:solidFill>
              <a:prstDash val="solid"/>
              <a:round/>
              <a:headEnd type="none" w="med" len="med"/>
              <a:tailEnd type="triangle" w="med" len="med"/>
            </a:ln>
          </p:spPr>
        </p:sp>
        <p:sp>
          <p:nvSpPr>
            <p:cNvPr id="57361" name="Line 55"/>
            <p:cNvSpPr/>
            <p:nvPr/>
          </p:nvSpPr>
          <p:spPr>
            <a:xfrm flipH="1">
              <a:off x="2928" y="3023"/>
              <a:ext cx="790" cy="0"/>
            </a:xfrm>
            <a:prstGeom prst="line">
              <a:avLst/>
            </a:prstGeom>
            <a:ln w="28575" cap="flat" cmpd="sng">
              <a:solidFill>
                <a:schemeClr val="tx1"/>
              </a:solidFill>
              <a:prstDash val="dash"/>
              <a:round/>
              <a:headEnd type="none" w="med" len="med"/>
              <a:tailEnd type="triangle" w="med" len="med"/>
            </a:ln>
          </p:spPr>
        </p:sp>
        <p:sp>
          <p:nvSpPr>
            <p:cNvPr id="57362" name="Line 56"/>
            <p:cNvSpPr/>
            <p:nvPr/>
          </p:nvSpPr>
          <p:spPr>
            <a:xfrm flipH="1" flipV="1">
              <a:off x="2928" y="3167"/>
              <a:ext cx="768" cy="0"/>
            </a:xfrm>
            <a:prstGeom prst="line">
              <a:avLst/>
            </a:prstGeom>
            <a:ln w="28575" cap="flat" cmpd="sng">
              <a:solidFill>
                <a:schemeClr val="tx1"/>
              </a:solidFill>
              <a:prstDash val="dash"/>
              <a:round/>
              <a:headEnd type="none" w="med" len="med"/>
              <a:tailEnd type="triangle" w="med" len="med"/>
            </a:ln>
          </p:spPr>
        </p:sp>
        <p:sp>
          <p:nvSpPr>
            <p:cNvPr id="57363" name="Freeform 57"/>
            <p:cNvSpPr/>
            <p:nvPr/>
          </p:nvSpPr>
          <p:spPr>
            <a:xfrm>
              <a:off x="1680" y="2255"/>
              <a:ext cx="2352" cy="576"/>
            </a:xfrm>
            <a:custGeom>
              <a:avLst/>
              <a:gdLst/>
              <a:ahLst/>
              <a:cxnLst>
                <a:cxn ang="0">
                  <a:pos x="38614" y="11"/>
                </a:cxn>
                <a:cxn ang="0">
                  <a:pos x="38614" y="0"/>
                </a:cxn>
                <a:cxn ang="0">
                  <a:pos x="0" y="0"/>
                </a:cxn>
              </a:cxnLst>
              <a:pathLst>
                <a:path w="2112" h="672">
                  <a:moveTo>
                    <a:pt x="2112" y="672"/>
                  </a:moveTo>
                  <a:lnTo>
                    <a:pt x="2112" y="0"/>
                  </a:lnTo>
                  <a:lnTo>
                    <a:pt x="0" y="0"/>
                  </a:lnTo>
                </a:path>
              </a:pathLst>
            </a:custGeom>
            <a:noFill/>
            <a:ln w="28575" cap="flat" cmpd="sng">
              <a:solidFill>
                <a:schemeClr val="tx1"/>
              </a:solidFill>
              <a:prstDash val="dash"/>
              <a:round/>
              <a:headEnd type="none" w="med" len="med"/>
              <a:tailEnd type="triangle" w="med" len="med"/>
            </a:ln>
          </p:spPr>
          <p:txBody>
            <a:bodyPr/>
            <a:p>
              <a:endParaRPr lang="zh-CN" altLang="en-US"/>
            </a:p>
          </p:txBody>
        </p:sp>
        <p:sp>
          <p:nvSpPr>
            <p:cNvPr id="57364" name="Line 58"/>
            <p:cNvSpPr/>
            <p:nvPr/>
          </p:nvSpPr>
          <p:spPr>
            <a:xfrm flipH="1">
              <a:off x="2832" y="3663"/>
              <a:ext cx="1200" cy="0"/>
            </a:xfrm>
            <a:prstGeom prst="line">
              <a:avLst/>
            </a:prstGeom>
            <a:ln w="28575" cap="flat" cmpd="sng">
              <a:solidFill>
                <a:srgbClr val="CC3300"/>
              </a:solidFill>
              <a:prstDash val="solid"/>
              <a:round/>
              <a:headEnd type="none" w="med" len="med"/>
              <a:tailEnd type="none" w="med" len="med"/>
            </a:ln>
          </p:spPr>
        </p:sp>
        <p:sp>
          <p:nvSpPr>
            <p:cNvPr id="57365" name="Line 59"/>
            <p:cNvSpPr/>
            <p:nvPr/>
          </p:nvSpPr>
          <p:spPr>
            <a:xfrm flipH="1" flipV="1">
              <a:off x="4032" y="3434"/>
              <a:ext cx="0" cy="240"/>
            </a:xfrm>
            <a:prstGeom prst="line">
              <a:avLst/>
            </a:prstGeom>
            <a:ln w="28575" cap="flat" cmpd="sng">
              <a:solidFill>
                <a:srgbClr val="CC3300"/>
              </a:solidFill>
              <a:prstDash val="solid"/>
              <a:round/>
              <a:headEnd type="none" w="med" len="med"/>
              <a:tailEnd type="triangle" w="med" len="med"/>
            </a:ln>
          </p:spPr>
        </p:sp>
        <p:sp>
          <p:nvSpPr>
            <p:cNvPr id="57366" name="Line 60"/>
            <p:cNvSpPr/>
            <p:nvPr/>
          </p:nvSpPr>
          <p:spPr>
            <a:xfrm flipH="1">
              <a:off x="2832" y="3271"/>
              <a:ext cx="0" cy="384"/>
            </a:xfrm>
            <a:prstGeom prst="line">
              <a:avLst/>
            </a:prstGeom>
            <a:ln w="28575" cap="flat" cmpd="sng">
              <a:solidFill>
                <a:srgbClr val="CC3300"/>
              </a:solidFill>
              <a:prstDash val="solid"/>
              <a:round/>
              <a:headEnd type="none" w="med" len="med"/>
              <a:tailEnd type="none" w="med" len="med"/>
            </a:ln>
          </p:spPr>
        </p:sp>
        <p:sp>
          <p:nvSpPr>
            <p:cNvPr id="57367" name="Line 61"/>
            <p:cNvSpPr/>
            <p:nvPr/>
          </p:nvSpPr>
          <p:spPr>
            <a:xfrm>
              <a:off x="2466" y="2831"/>
              <a:ext cx="402" cy="0"/>
            </a:xfrm>
            <a:prstGeom prst="line">
              <a:avLst/>
            </a:prstGeom>
            <a:ln w="28575" cap="flat" cmpd="sng">
              <a:solidFill>
                <a:srgbClr val="CC0000"/>
              </a:solidFill>
              <a:prstDash val="solid"/>
              <a:round/>
              <a:headEnd type="none" w="med" len="med"/>
              <a:tailEnd type="triangle" w="med" len="med"/>
            </a:ln>
          </p:spPr>
        </p:sp>
        <p:sp>
          <p:nvSpPr>
            <p:cNvPr id="57368" name="Line 62"/>
            <p:cNvSpPr/>
            <p:nvPr/>
          </p:nvSpPr>
          <p:spPr>
            <a:xfrm>
              <a:off x="1528" y="1640"/>
              <a:ext cx="112" cy="96"/>
            </a:xfrm>
            <a:prstGeom prst="line">
              <a:avLst/>
            </a:prstGeom>
            <a:ln w="19050" cap="flat" cmpd="sng">
              <a:solidFill>
                <a:schemeClr val="tx1"/>
              </a:solidFill>
              <a:prstDash val="solid"/>
              <a:round/>
              <a:headEnd type="none" w="med" len="med"/>
              <a:tailEnd type="none" w="med" len="med"/>
            </a:ln>
          </p:spPr>
        </p:sp>
        <p:sp>
          <p:nvSpPr>
            <p:cNvPr id="57369" name="Line 63"/>
            <p:cNvSpPr/>
            <p:nvPr/>
          </p:nvSpPr>
          <p:spPr>
            <a:xfrm>
              <a:off x="905" y="1777"/>
              <a:ext cx="112" cy="96"/>
            </a:xfrm>
            <a:prstGeom prst="line">
              <a:avLst/>
            </a:prstGeom>
            <a:ln w="19050" cap="flat" cmpd="sng">
              <a:solidFill>
                <a:schemeClr val="tx1"/>
              </a:solidFill>
              <a:prstDash val="solid"/>
              <a:round/>
              <a:headEnd type="none" w="med" len="med"/>
              <a:tailEnd type="none" w="med" len="med"/>
            </a:ln>
          </p:spPr>
        </p:sp>
        <p:sp>
          <p:nvSpPr>
            <p:cNvPr id="57370" name="Line 64"/>
            <p:cNvSpPr/>
            <p:nvPr/>
          </p:nvSpPr>
          <p:spPr>
            <a:xfrm>
              <a:off x="1225" y="2609"/>
              <a:ext cx="112" cy="96"/>
            </a:xfrm>
            <a:prstGeom prst="line">
              <a:avLst/>
            </a:prstGeom>
            <a:ln w="19050" cap="flat" cmpd="sng">
              <a:solidFill>
                <a:schemeClr val="tx1"/>
              </a:solidFill>
              <a:prstDash val="solid"/>
              <a:round/>
              <a:headEnd type="none" w="med" len="med"/>
              <a:tailEnd type="none" w="med" len="med"/>
            </a:ln>
          </p:spPr>
        </p:sp>
        <p:sp>
          <p:nvSpPr>
            <p:cNvPr id="57371" name="Line 65"/>
            <p:cNvSpPr/>
            <p:nvPr/>
          </p:nvSpPr>
          <p:spPr>
            <a:xfrm>
              <a:off x="1250" y="3338"/>
              <a:ext cx="112" cy="96"/>
            </a:xfrm>
            <a:prstGeom prst="line">
              <a:avLst/>
            </a:prstGeom>
            <a:ln w="19050" cap="flat" cmpd="sng">
              <a:solidFill>
                <a:schemeClr val="tx1"/>
              </a:solidFill>
              <a:prstDash val="solid"/>
              <a:round/>
              <a:headEnd type="none" w="med" len="med"/>
              <a:tailEnd type="none" w="med" len="med"/>
            </a:ln>
          </p:spPr>
        </p:sp>
        <p:sp>
          <p:nvSpPr>
            <p:cNvPr id="57372" name="Rectangle 66"/>
            <p:cNvSpPr/>
            <p:nvPr/>
          </p:nvSpPr>
          <p:spPr>
            <a:xfrm>
              <a:off x="993" y="1702"/>
              <a:ext cx="144" cy="170"/>
            </a:xfrm>
            <a:prstGeom prst="rect">
              <a:avLst/>
            </a:prstGeom>
            <a:noFill/>
            <a:ln w="9525">
              <a:noFill/>
            </a:ln>
          </p:spPr>
          <p:txBody>
            <a:bodyPr wrap="none" lIns="0" tIns="0" rIns="0" bIns="0" anchor="t" anchorCtr="0">
              <a:spAutoFit/>
            </a:bodyPr>
            <a:p>
              <a:pPr eaLnBrk="0" hangingPunct="0"/>
              <a:r>
                <a:rPr lang="en-US" altLang="zh-CN" sz="1700" dirty="0">
                  <a:solidFill>
                    <a:srgbClr val="000000"/>
                  </a:solidFill>
                  <a:latin typeface="Arial" panose="020B0604020202020204" pitchFamily="34" charset="0"/>
                </a:rPr>
                <a:t>32</a:t>
              </a:r>
              <a:endParaRPr lang="en-US" altLang="zh-CN" dirty="0">
                <a:latin typeface="Arial" panose="020B0604020202020204" pitchFamily="34" charset="0"/>
                <a:ea typeface="Arial" panose="020B0604020202020204" pitchFamily="34" charset="0"/>
              </a:endParaRPr>
            </a:p>
          </p:txBody>
        </p:sp>
        <p:sp>
          <p:nvSpPr>
            <p:cNvPr id="57373" name="Rectangle 67"/>
            <p:cNvSpPr/>
            <p:nvPr/>
          </p:nvSpPr>
          <p:spPr>
            <a:xfrm>
              <a:off x="1337" y="2526"/>
              <a:ext cx="144" cy="170"/>
            </a:xfrm>
            <a:prstGeom prst="rect">
              <a:avLst/>
            </a:prstGeom>
            <a:noFill/>
            <a:ln w="9525">
              <a:noFill/>
            </a:ln>
          </p:spPr>
          <p:txBody>
            <a:bodyPr wrap="none" lIns="0" tIns="0" rIns="0" bIns="0" anchor="t" anchorCtr="0">
              <a:spAutoFit/>
            </a:bodyPr>
            <a:p>
              <a:pPr eaLnBrk="0" hangingPunct="0"/>
              <a:r>
                <a:rPr lang="en-US" altLang="zh-CN" sz="1700" dirty="0">
                  <a:solidFill>
                    <a:srgbClr val="000000"/>
                  </a:solidFill>
                  <a:latin typeface="Arial" panose="020B0604020202020204" pitchFamily="34" charset="0"/>
                </a:rPr>
                <a:t>32</a:t>
              </a:r>
              <a:endParaRPr lang="en-US" altLang="zh-CN" dirty="0">
                <a:latin typeface="Arial" panose="020B0604020202020204" pitchFamily="34" charset="0"/>
                <a:ea typeface="Arial" panose="020B0604020202020204" pitchFamily="34" charset="0"/>
              </a:endParaRPr>
            </a:p>
          </p:txBody>
        </p:sp>
        <p:sp>
          <p:nvSpPr>
            <p:cNvPr id="57374" name="Rectangle 68"/>
            <p:cNvSpPr/>
            <p:nvPr/>
          </p:nvSpPr>
          <p:spPr>
            <a:xfrm>
              <a:off x="1337" y="3270"/>
              <a:ext cx="144" cy="171"/>
            </a:xfrm>
            <a:prstGeom prst="rect">
              <a:avLst/>
            </a:prstGeom>
            <a:noFill/>
            <a:ln w="9525">
              <a:noFill/>
            </a:ln>
          </p:spPr>
          <p:txBody>
            <a:bodyPr wrap="none" lIns="0" tIns="0" rIns="0" bIns="0" anchor="t" anchorCtr="0">
              <a:spAutoFit/>
            </a:bodyPr>
            <a:p>
              <a:pPr eaLnBrk="0" hangingPunct="0"/>
              <a:r>
                <a:rPr lang="en-US" altLang="zh-CN" sz="1700" dirty="0">
                  <a:solidFill>
                    <a:srgbClr val="000000"/>
                  </a:solidFill>
                  <a:latin typeface="Arial" panose="020B0604020202020204" pitchFamily="34" charset="0"/>
                </a:rPr>
                <a:t>32</a:t>
              </a:r>
              <a:endParaRPr lang="en-US" altLang="zh-CN" dirty="0">
                <a:latin typeface="Arial" panose="020B0604020202020204" pitchFamily="34" charset="0"/>
                <a:ea typeface="Arial" panose="020B0604020202020204" pitchFamily="34" charset="0"/>
              </a:endParaRPr>
            </a:p>
          </p:txBody>
        </p:sp>
        <p:sp>
          <p:nvSpPr>
            <p:cNvPr id="57375" name="Rectangle 69"/>
            <p:cNvSpPr/>
            <p:nvPr/>
          </p:nvSpPr>
          <p:spPr>
            <a:xfrm>
              <a:off x="1913" y="2088"/>
              <a:ext cx="136" cy="163"/>
            </a:xfrm>
            <a:prstGeom prst="rect">
              <a:avLst/>
            </a:prstGeom>
            <a:noFill/>
            <a:ln w="9525">
              <a:noFill/>
            </a:ln>
          </p:spPr>
          <p:txBody>
            <a:bodyPr wrap="none" lIns="0" tIns="0" rIns="0" bIns="0" anchor="t" anchorCtr="0">
              <a:spAutoFit/>
            </a:bodyPr>
            <a:p>
              <a:pPr eaLnBrk="0" hangingPunct="0">
                <a:lnSpc>
                  <a:spcPct val="90000"/>
                </a:lnSpc>
              </a:pPr>
              <a:r>
                <a:rPr lang="zh-CN" altLang="en-US" sz="1800" dirty="0">
                  <a:latin typeface="Arial" panose="020B0604020202020204" pitchFamily="34" charset="0"/>
                  <a:ea typeface="黑体" panose="02010609060101010101" pitchFamily="49" charset="-122"/>
                </a:rPr>
                <a:t>加</a:t>
              </a:r>
              <a:endParaRPr lang="zh-CN" altLang="en-US" sz="1800" dirty="0">
                <a:latin typeface="Arial" panose="020B0604020202020204" pitchFamily="34" charset="0"/>
                <a:ea typeface="黑体" panose="02010609060101010101" pitchFamily="49" charset="-122"/>
              </a:endParaRPr>
            </a:p>
          </p:txBody>
        </p:sp>
        <p:sp>
          <p:nvSpPr>
            <p:cNvPr id="57376" name="Text Box 70"/>
            <p:cNvSpPr txBox="1"/>
            <p:nvPr/>
          </p:nvSpPr>
          <p:spPr>
            <a:xfrm>
              <a:off x="4080" y="3192"/>
              <a:ext cx="672" cy="231"/>
            </a:xfrm>
            <a:prstGeom prst="rect">
              <a:avLst/>
            </a:prstGeom>
            <a:noFill/>
            <a:ln w="9525">
              <a:noFill/>
            </a:ln>
          </p:spPr>
          <p:txBody>
            <a:bodyPr anchor="t" anchorCtr="0">
              <a:spAutoFit/>
            </a:bodyPr>
            <a:p>
              <a:pPr>
                <a:spcBef>
                  <a:spcPct val="50000"/>
                </a:spcBef>
              </a:pPr>
              <a:r>
                <a:rPr lang="zh-CN" altLang="en-US" sz="1700" dirty="0">
                  <a:latin typeface="Arial" panose="020B0604020202020204" pitchFamily="34" charset="0"/>
                  <a:ea typeface="黑体" panose="02010609060101010101" pitchFamily="49" charset="-122"/>
                </a:rPr>
                <a:t>计数器</a:t>
              </a:r>
              <a:r>
                <a:rPr lang="en-US" altLang="zh-CN" sz="1700" dirty="0">
                  <a:latin typeface="Arial" panose="020B0604020202020204" pitchFamily="34" charset="0"/>
                  <a:ea typeface="黑体" panose="02010609060101010101" pitchFamily="49" charset="-122"/>
                </a:rPr>
                <a:t>Cn</a:t>
              </a:r>
              <a:endParaRPr lang="en-US" altLang="zh-CN" sz="1700" dirty="0">
                <a:latin typeface="Arial" panose="020B0604020202020204" pitchFamily="34" charset="0"/>
                <a:ea typeface="黑体" panose="02010609060101010101" pitchFamily="49" charset="-122"/>
              </a:endParaRPr>
            </a:p>
          </p:txBody>
        </p:sp>
        <p:sp>
          <p:nvSpPr>
            <p:cNvPr id="57377" name="Line 71"/>
            <p:cNvSpPr/>
            <p:nvPr/>
          </p:nvSpPr>
          <p:spPr>
            <a:xfrm flipV="1">
              <a:off x="4664" y="3432"/>
              <a:ext cx="0" cy="264"/>
            </a:xfrm>
            <a:prstGeom prst="line">
              <a:avLst/>
            </a:prstGeom>
            <a:ln w="28575" cap="flat" cmpd="sng">
              <a:solidFill>
                <a:schemeClr val="tx1"/>
              </a:solidFill>
              <a:prstDash val="solid"/>
              <a:round/>
              <a:headEnd type="none" w="med" len="med"/>
              <a:tailEnd type="triangle" w="med" len="med"/>
            </a:ln>
          </p:spPr>
        </p:sp>
        <p:sp>
          <p:nvSpPr>
            <p:cNvPr id="57378" name="Text Box 72"/>
            <p:cNvSpPr txBox="1"/>
            <p:nvPr/>
          </p:nvSpPr>
          <p:spPr>
            <a:xfrm>
              <a:off x="4648" y="3519"/>
              <a:ext cx="488" cy="241"/>
            </a:xfrm>
            <a:prstGeom prst="rect">
              <a:avLst/>
            </a:prstGeom>
            <a:noFill/>
            <a:ln w="9525">
              <a:noFill/>
            </a:ln>
          </p:spPr>
          <p:txBody>
            <a:bodyPr anchor="t" anchorCtr="0">
              <a:spAutoFit/>
            </a:bodyPr>
            <a:p>
              <a:pPr>
                <a:spcBef>
                  <a:spcPct val="50000"/>
                </a:spcBef>
              </a:pPr>
              <a:r>
                <a:rPr lang="zh-CN" altLang="en-US" sz="1800" dirty="0">
                  <a:latin typeface="Arial" panose="020B0604020202020204" pitchFamily="34" charset="0"/>
                  <a:ea typeface="黑体" panose="02010609060101010101" pitchFamily="49" charset="-122"/>
                </a:rPr>
                <a:t>时钟</a:t>
              </a:r>
              <a:endParaRPr lang="zh-CN" altLang="en-US" sz="1800" dirty="0">
                <a:latin typeface="Arial" panose="020B0604020202020204" pitchFamily="34" charset="0"/>
                <a:ea typeface="黑体" panose="02010609060101010101" pitchFamily="49" charset="-122"/>
              </a:endParaRPr>
            </a:p>
          </p:txBody>
        </p:sp>
        <p:sp>
          <p:nvSpPr>
            <p:cNvPr id="57379" name="Text Box 73"/>
            <p:cNvSpPr txBox="1"/>
            <p:nvPr/>
          </p:nvSpPr>
          <p:spPr>
            <a:xfrm>
              <a:off x="544" y="2960"/>
              <a:ext cx="240" cy="260"/>
            </a:xfrm>
            <a:prstGeom prst="rect">
              <a:avLst/>
            </a:prstGeom>
            <a:noFill/>
            <a:ln w="28575" cap="flat" cmpd="sng">
              <a:solidFill>
                <a:schemeClr val="tx1"/>
              </a:solidFill>
              <a:prstDash val="solid"/>
              <a:miter/>
              <a:headEnd type="none" w="med" len="med"/>
              <a:tailEnd type="none" w="med" len="med"/>
            </a:ln>
          </p:spPr>
          <p:txBody>
            <a:bodyPr anchor="t" anchorCtr="0">
              <a:spAutoFit/>
            </a:bodyPr>
            <a:p>
              <a:pPr>
                <a:spcBef>
                  <a:spcPct val="50000"/>
                </a:spcBef>
              </a:pPr>
              <a:r>
                <a:rPr lang="en-US" altLang="zh-CN" sz="1800" dirty="0">
                  <a:latin typeface="Arial" panose="020B0604020202020204" pitchFamily="34" charset="0"/>
                  <a:ea typeface="黑体" panose="02010609060101010101" pitchFamily="49" charset="-122"/>
                </a:rPr>
                <a:t>C</a:t>
              </a:r>
              <a:endParaRPr lang="en-US" altLang="zh-CN" sz="1800" dirty="0">
                <a:latin typeface="Arial" panose="020B0604020202020204" pitchFamily="34" charset="0"/>
                <a:ea typeface="黑体" panose="02010609060101010101" pitchFamily="49" charset="-122"/>
              </a:endParaRPr>
            </a:p>
          </p:txBody>
        </p:sp>
        <p:sp>
          <p:nvSpPr>
            <p:cNvPr id="57380" name="Line 74"/>
            <p:cNvSpPr/>
            <p:nvPr/>
          </p:nvSpPr>
          <p:spPr>
            <a:xfrm>
              <a:off x="776" y="3064"/>
              <a:ext cx="192" cy="0"/>
            </a:xfrm>
            <a:prstGeom prst="line">
              <a:avLst/>
            </a:prstGeom>
            <a:ln w="19050" cap="flat" cmpd="sng">
              <a:solidFill>
                <a:schemeClr val="tx1"/>
              </a:solidFill>
              <a:prstDash val="solid"/>
              <a:round/>
              <a:headEnd type="none" w="med" len="med"/>
              <a:tailEnd type="triangle" w="med" len="med"/>
            </a:ln>
          </p:spPr>
        </p:sp>
        <p:sp>
          <p:nvSpPr>
            <p:cNvPr id="57381" name="Line 75"/>
            <p:cNvSpPr/>
            <p:nvPr/>
          </p:nvSpPr>
          <p:spPr>
            <a:xfrm flipH="1">
              <a:off x="1920" y="2920"/>
              <a:ext cx="0" cy="344"/>
            </a:xfrm>
            <a:prstGeom prst="line">
              <a:avLst/>
            </a:prstGeom>
            <a:ln w="28575" cap="flat" cmpd="sng">
              <a:solidFill>
                <a:schemeClr val="tx1"/>
              </a:solidFill>
              <a:prstDash val="sysDot"/>
              <a:round/>
              <a:headEnd type="none" w="med" len="med"/>
              <a:tailEnd type="none" w="med" len="med"/>
            </a:ln>
          </p:spPr>
        </p:sp>
        <p:sp>
          <p:nvSpPr>
            <p:cNvPr id="57382" name="Rectangle 76"/>
            <p:cNvSpPr/>
            <p:nvPr/>
          </p:nvSpPr>
          <p:spPr>
            <a:xfrm>
              <a:off x="1978" y="2999"/>
              <a:ext cx="994" cy="180"/>
            </a:xfrm>
            <a:prstGeom prst="rect">
              <a:avLst/>
            </a:prstGeom>
            <a:noFill/>
            <a:ln w="9525">
              <a:noFill/>
            </a:ln>
          </p:spPr>
          <p:txBody>
            <a:bodyPr lIns="0" tIns="0" rIns="0" bIns="0" anchor="t" anchorCtr="0">
              <a:spAutoFit/>
            </a:bodyPr>
            <a:p>
              <a:pPr eaLnBrk="0" hangingPunct="0"/>
              <a:r>
                <a:rPr lang="zh-CN" altLang="en-US" sz="1800" dirty="0">
                  <a:latin typeface="Arial" panose="020B0604020202020204" pitchFamily="34" charset="0"/>
                  <a:ea typeface="黑体" panose="02010609060101010101" pitchFamily="49" charset="-122"/>
                </a:rPr>
                <a:t>乘数寄存器</a:t>
              </a:r>
              <a:r>
                <a:rPr lang="en-US" altLang="zh-CN" sz="1800" dirty="0">
                  <a:latin typeface="Arial" panose="020B0604020202020204" pitchFamily="34" charset="0"/>
                  <a:ea typeface="黑体" panose="02010609060101010101" pitchFamily="49" charset="-122"/>
                </a:rPr>
                <a:t>Y</a:t>
              </a:r>
              <a:endParaRPr lang="en-US" altLang="zh-CN" sz="1800" dirty="0">
                <a:latin typeface="Arial" panose="020B0604020202020204" pitchFamily="34" charset="0"/>
                <a:ea typeface="黑体" panose="02010609060101010101" pitchFamily="49" charset="-122"/>
              </a:endParaRPr>
            </a:p>
          </p:txBody>
        </p:sp>
      </p:grpSp>
      <p:sp>
        <p:nvSpPr>
          <p:cNvPr id="57383" name="Rectangle 77"/>
          <p:cNvSpPr/>
          <p:nvPr/>
        </p:nvSpPr>
        <p:spPr>
          <a:xfrm>
            <a:off x="600075" y="179388"/>
            <a:ext cx="4843463" cy="474662"/>
          </a:xfrm>
          <a:prstGeom prst="rect">
            <a:avLst/>
          </a:prstGeom>
          <a:noFill/>
          <a:ln w="12700">
            <a:noFill/>
          </a:ln>
        </p:spPr>
        <p:txBody>
          <a:bodyPr lIns="63500" tIns="25400" rIns="63500" bIns="25400" anchor="t" anchorCtr="0">
            <a:spAutoFit/>
          </a:bodyPr>
          <a:p>
            <a:pPr eaLnBrk="0" hangingPunct="0">
              <a:lnSpc>
                <a:spcPct val="87000"/>
              </a:lnSpc>
            </a:pPr>
            <a:r>
              <a:rPr lang="en-US" altLang="zh-CN" sz="3200" dirty="0">
                <a:solidFill>
                  <a:srgbClr val="CC0000"/>
                </a:solidFill>
                <a:latin typeface="Arial" panose="020B0604020202020204" pitchFamily="34" charset="0"/>
              </a:rPr>
              <a:t>32</a:t>
            </a:r>
            <a:r>
              <a:rPr lang="zh-CN" altLang="en-US" sz="3200" dirty="0">
                <a:solidFill>
                  <a:srgbClr val="CC0000"/>
                </a:solidFill>
                <a:latin typeface="Arial" panose="020B0604020202020204" pitchFamily="34" charset="0"/>
                <a:ea typeface="宋体" panose="02010600030101010101" pitchFamily="2" charset="-122"/>
              </a:rPr>
              <a:t>位乘法运算的硬件实现</a:t>
            </a:r>
            <a:endParaRPr lang="en-US" altLang="zh-CN" sz="3200" dirty="0">
              <a:solidFill>
                <a:srgbClr val="CC0000"/>
              </a:solidFill>
              <a:latin typeface="Arial" panose="020B0604020202020204" pitchFamily="34" charset="0"/>
            </a:endParaRPr>
          </a:p>
        </p:txBody>
      </p:sp>
      <p:sp>
        <p:nvSpPr>
          <p:cNvPr id="57384" name="Rectangle 80"/>
          <p:cNvSpPr>
            <a:spLocks noGrp="1"/>
          </p:cNvSpPr>
          <p:nvPr>
            <p:ph idx="1"/>
          </p:nvPr>
        </p:nvSpPr>
        <p:spPr>
          <a:xfrm>
            <a:off x="234950" y="4344988"/>
            <a:ext cx="8629650" cy="2251075"/>
          </a:xfrm>
          <a:ln/>
        </p:spPr>
        <p:txBody>
          <a:bodyPr vert="horz" wrap="square" lIns="63500" tIns="25400" rIns="63500" bIns="25400" anchor="t" anchorCtr="0">
            <a:spAutoFit/>
          </a:bodyPr>
          <a:p>
            <a:pPr>
              <a:lnSpc>
                <a:spcPct val="100000"/>
              </a:lnSpc>
            </a:pPr>
            <a:r>
              <a:rPr lang="zh-CN" altLang="en-US" sz="1800" dirty="0">
                <a:solidFill>
                  <a:srgbClr val="3333FF"/>
                </a:solidFill>
                <a:ea typeface="黑体" panose="02010609060101010101" pitchFamily="49" charset="-122"/>
              </a:rPr>
              <a:t>被乘数寄存器</a:t>
            </a:r>
            <a:r>
              <a:rPr lang="en-US" altLang="zh-CN" sz="1800" dirty="0">
                <a:solidFill>
                  <a:srgbClr val="3333FF"/>
                </a:solidFill>
                <a:ea typeface="黑体" panose="02010609060101010101" pitchFamily="49" charset="-122"/>
              </a:rPr>
              <a:t>X</a:t>
            </a:r>
            <a:r>
              <a:rPr lang="zh-CN" altLang="en-US" sz="1800" dirty="0">
                <a:solidFill>
                  <a:srgbClr val="3333FF"/>
                </a:solidFill>
                <a:ea typeface="黑体" panose="02010609060101010101" pitchFamily="49" charset="-122"/>
              </a:rPr>
              <a:t>：</a:t>
            </a:r>
            <a:r>
              <a:rPr lang="zh-CN" altLang="en-US" sz="1800" dirty="0">
                <a:solidFill>
                  <a:srgbClr val="009900"/>
                </a:solidFill>
                <a:ea typeface="黑体" panose="02010609060101010101" pitchFamily="49" charset="-122"/>
              </a:rPr>
              <a:t>存放被乘数</a:t>
            </a:r>
            <a:endParaRPr lang="zh-CN" altLang="en-US" sz="1800" dirty="0">
              <a:solidFill>
                <a:srgbClr val="009900"/>
              </a:solidFill>
              <a:ea typeface="黑体" panose="02010609060101010101" pitchFamily="49" charset="-122"/>
            </a:endParaRPr>
          </a:p>
          <a:p>
            <a:pPr>
              <a:lnSpc>
                <a:spcPct val="100000"/>
              </a:lnSpc>
            </a:pPr>
            <a:r>
              <a:rPr lang="zh-CN" altLang="en-US" sz="1800" dirty="0">
                <a:solidFill>
                  <a:srgbClr val="3333FF"/>
                </a:solidFill>
                <a:ea typeface="黑体" panose="02010609060101010101" pitchFamily="49" charset="-122"/>
              </a:rPr>
              <a:t>乘积寄存器</a:t>
            </a:r>
            <a:r>
              <a:rPr lang="en-US" altLang="zh-CN" sz="1800" dirty="0">
                <a:solidFill>
                  <a:srgbClr val="3333FF"/>
                </a:solidFill>
                <a:ea typeface="黑体" panose="02010609060101010101" pitchFamily="49" charset="-122"/>
              </a:rPr>
              <a:t>P</a:t>
            </a:r>
            <a:r>
              <a:rPr lang="zh-CN" altLang="en-US" sz="1800" dirty="0">
                <a:solidFill>
                  <a:srgbClr val="3333FF"/>
                </a:solidFill>
                <a:ea typeface="黑体" panose="02010609060101010101" pitchFamily="49" charset="-122"/>
              </a:rPr>
              <a:t>：</a:t>
            </a:r>
            <a:r>
              <a:rPr lang="zh-CN" altLang="en-US" sz="1800" dirty="0">
                <a:solidFill>
                  <a:srgbClr val="009900"/>
                </a:solidFill>
                <a:ea typeface="黑体" panose="02010609060101010101" pitchFamily="49" charset="-122"/>
              </a:rPr>
              <a:t>开始置初始部分积</a:t>
            </a:r>
            <a:r>
              <a:rPr lang="en-US" altLang="zh-CN" sz="1800" dirty="0">
                <a:solidFill>
                  <a:srgbClr val="009900"/>
                </a:solidFill>
                <a:ea typeface="黑体" panose="02010609060101010101" pitchFamily="49" charset="-122"/>
              </a:rPr>
              <a:t>P0 = 0</a:t>
            </a:r>
            <a:r>
              <a:rPr lang="zh-CN" altLang="en-US" sz="1800" dirty="0">
                <a:solidFill>
                  <a:srgbClr val="009900"/>
                </a:solidFill>
                <a:ea typeface="黑体" panose="02010609060101010101" pitchFamily="49" charset="-122"/>
              </a:rPr>
              <a:t>；结束时，存放的是</a:t>
            </a:r>
            <a:r>
              <a:rPr lang="en-US" altLang="zh-CN" sz="1800" dirty="0">
                <a:solidFill>
                  <a:srgbClr val="009900"/>
                </a:solidFill>
                <a:ea typeface="黑体" panose="02010609060101010101" pitchFamily="49" charset="-122"/>
              </a:rPr>
              <a:t>64</a:t>
            </a:r>
            <a:r>
              <a:rPr lang="zh-CN" altLang="en-US" sz="1800" dirty="0">
                <a:solidFill>
                  <a:srgbClr val="009900"/>
                </a:solidFill>
                <a:ea typeface="黑体" panose="02010609060101010101" pitchFamily="49" charset="-122"/>
              </a:rPr>
              <a:t>位乘积的高</a:t>
            </a:r>
            <a:r>
              <a:rPr lang="en-US" altLang="zh-CN" sz="1800" dirty="0">
                <a:solidFill>
                  <a:srgbClr val="009900"/>
                </a:solidFill>
                <a:ea typeface="黑体" panose="02010609060101010101" pitchFamily="49" charset="-122"/>
              </a:rPr>
              <a:t>32</a:t>
            </a:r>
            <a:r>
              <a:rPr lang="zh-CN" altLang="en-US" sz="1800" dirty="0">
                <a:solidFill>
                  <a:srgbClr val="009900"/>
                </a:solidFill>
                <a:ea typeface="黑体" panose="02010609060101010101" pitchFamily="49" charset="-122"/>
              </a:rPr>
              <a:t>位</a:t>
            </a:r>
            <a:endParaRPr lang="zh-CN" altLang="en-US" sz="1800" dirty="0">
              <a:solidFill>
                <a:srgbClr val="009900"/>
              </a:solidFill>
              <a:ea typeface="黑体" panose="02010609060101010101" pitchFamily="49" charset="-122"/>
            </a:endParaRPr>
          </a:p>
          <a:p>
            <a:pPr>
              <a:lnSpc>
                <a:spcPct val="100000"/>
              </a:lnSpc>
            </a:pPr>
            <a:r>
              <a:rPr lang="zh-CN" altLang="en-US" sz="1800" dirty="0">
                <a:solidFill>
                  <a:srgbClr val="3333FF"/>
                </a:solidFill>
                <a:ea typeface="黑体" panose="02010609060101010101" pitchFamily="49" charset="-122"/>
              </a:rPr>
              <a:t>乘数寄存器</a:t>
            </a:r>
            <a:r>
              <a:rPr lang="en-US" altLang="zh-CN" sz="1800" dirty="0">
                <a:solidFill>
                  <a:srgbClr val="3333FF"/>
                </a:solidFill>
                <a:ea typeface="黑体" panose="02010609060101010101" pitchFamily="49" charset="-122"/>
              </a:rPr>
              <a:t>Y</a:t>
            </a:r>
            <a:r>
              <a:rPr lang="zh-CN" altLang="en-US" sz="1800" dirty="0">
                <a:solidFill>
                  <a:srgbClr val="3333FF"/>
                </a:solidFill>
                <a:ea typeface="黑体" panose="02010609060101010101" pitchFamily="49" charset="-122"/>
              </a:rPr>
              <a:t>：</a:t>
            </a:r>
            <a:r>
              <a:rPr lang="zh-CN" altLang="en-US" sz="1800" dirty="0">
                <a:solidFill>
                  <a:srgbClr val="009900"/>
                </a:solidFill>
                <a:ea typeface="黑体" panose="02010609060101010101" pitchFamily="49" charset="-122"/>
              </a:rPr>
              <a:t>开始时置乘数；结束时，存放的是</a:t>
            </a:r>
            <a:r>
              <a:rPr lang="en-US" altLang="zh-CN" sz="1800" dirty="0">
                <a:solidFill>
                  <a:srgbClr val="009900"/>
                </a:solidFill>
                <a:ea typeface="黑体" panose="02010609060101010101" pitchFamily="49" charset="-122"/>
              </a:rPr>
              <a:t>64</a:t>
            </a:r>
            <a:r>
              <a:rPr lang="zh-CN" altLang="en-US" sz="1800" dirty="0">
                <a:solidFill>
                  <a:srgbClr val="009900"/>
                </a:solidFill>
                <a:ea typeface="黑体" panose="02010609060101010101" pitchFamily="49" charset="-122"/>
              </a:rPr>
              <a:t>位乘积的低</a:t>
            </a:r>
            <a:r>
              <a:rPr lang="en-US" altLang="zh-CN" sz="1800" dirty="0">
                <a:solidFill>
                  <a:srgbClr val="009900"/>
                </a:solidFill>
                <a:ea typeface="黑体" panose="02010609060101010101" pitchFamily="49" charset="-122"/>
              </a:rPr>
              <a:t>32</a:t>
            </a:r>
            <a:r>
              <a:rPr lang="zh-CN" altLang="en-US" sz="1800" dirty="0">
                <a:solidFill>
                  <a:srgbClr val="009900"/>
                </a:solidFill>
                <a:ea typeface="黑体" panose="02010609060101010101" pitchFamily="49" charset="-122"/>
              </a:rPr>
              <a:t>位</a:t>
            </a:r>
            <a:endParaRPr lang="zh-CN" altLang="en-US" sz="1800" dirty="0">
              <a:solidFill>
                <a:srgbClr val="009900"/>
              </a:solidFill>
              <a:ea typeface="黑体" panose="02010609060101010101" pitchFamily="49" charset="-122"/>
            </a:endParaRPr>
          </a:p>
          <a:p>
            <a:pPr>
              <a:lnSpc>
                <a:spcPct val="100000"/>
              </a:lnSpc>
            </a:pPr>
            <a:r>
              <a:rPr lang="zh-CN" altLang="en-US" sz="1800" dirty="0">
                <a:solidFill>
                  <a:srgbClr val="3333FF"/>
                </a:solidFill>
                <a:ea typeface="黑体" panose="02010609060101010101" pitchFamily="49" charset="-122"/>
              </a:rPr>
              <a:t>进位触发器</a:t>
            </a:r>
            <a:r>
              <a:rPr lang="en-US" altLang="zh-CN" sz="1800" dirty="0">
                <a:solidFill>
                  <a:srgbClr val="3333FF"/>
                </a:solidFill>
                <a:ea typeface="黑体" panose="02010609060101010101" pitchFamily="49" charset="-122"/>
              </a:rPr>
              <a:t>C</a:t>
            </a:r>
            <a:r>
              <a:rPr lang="zh-CN" altLang="en-US" sz="1800" dirty="0">
                <a:solidFill>
                  <a:srgbClr val="3333FF"/>
                </a:solidFill>
                <a:ea typeface="黑体" panose="02010609060101010101" pitchFamily="49" charset="-122"/>
              </a:rPr>
              <a:t>：</a:t>
            </a:r>
            <a:r>
              <a:rPr lang="zh-CN" altLang="en-US" sz="1800" dirty="0">
                <a:solidFill>
                  <a:srgbClr val="009900"/>
                </a:solidFill>
                <a:ea typeface="黑体" panose="02010609060101010101" pitchFamily="49" charset="-122"/>
              </a:rPr>
              <a:t>保存加法器的进位信号</a:t>
            </a:r>
            <a:endParaRPr lang="zh-CN" altLang="en-US" sz="1800" dirty="0">
              <a:solidFill>
                <a:srgbClr val="009900"/>
              </a:solidFill>
              <a:ea typeface="黑体" panose="02010609060101010101" pitchFamily="49" charset="-122"/>
            </a:endParaRPr>
          </a:p>
          <a:p>
            <a:pPr>
              <a:lnSpc>
                <a:spcPct val="100000"/>
              </a:lnSpc>
            </a:pPr>
            <a:r>
              <a:rPr lang="zh-CN" altLang="en-US" sz="1800" dirty="0">
                <a:solidFill>
                  <a:srgbClr val="3333FF"/>
                </a:solidFill>
                <a:ea typeface="黑体" panose="02010609060101010101" pitchFamily="49" charset="-122"/>
              </a:rPr>
              <a:t>循环次数计数器</a:t>
            </a:r>
            <a:r>
              <a:rPr lang="en-US" altLang="zh-CN" sz="1800" dirty="0">
                <a:solidFill>
                  <a:srgbClr val="3333FF"/>
                </a:solidFill>
                <a:ea typeface="黑体" panose="02010609060101010101" pitchFamily="49" charset="-122"/>
              </a:rPr>
              <a:t>Cn</a:t>
            </a:r>
            <a:r>
              <a:rPr lang="zh-CN" altLang="en-US" sz="1800" dirty="0">
                <a:solidFill>
                  <a:srgbClr val="3333FF"/>
                </a:solidFill>
                <a:ea typeface="黑体" panose="02010609060101010101" pitchFamily="49" charset="-122"/>
              </a:rPr>
              <a:t>：</a:t>
            </a:r>
            <a:r>
              <a:rPr lang="zh-CN" altLang="en-US" sz="1800" dirty="0">
                <a:solidFill>
                  <a:srgbClr val="009900"/>
                </a:solidFill>
                <a:ea typeface="黑体" panose="02010609060101010101" pitchFamily="49" charset="-122"/>
              </a:rPr>
              <a:t>存放循环次数。初值</a:t>
            </a:r>
            <a:r>
              <a:rPr lang="en-US" altLang="zh-CN" sz="1800" dirty="0">
                <a:solidFill>
                  <a:srgbClr val="009900"/>
                </a:solidFill>
                <a:ea typeface="黑体" panose="02010609060101010101" pitchFamily="49" charset="-122"/>
              </a:rPr>
              <a:t>32</a:t>
            </a:r>
            <a:r>
              <a:rPr lang="zh-CN" altLang="en-US" sz="1800" dirty="0">
                <a:solidFill>
                  <a:srgbClr val="009900"/>
                </a:solidFill>
                <a:ea typeface="黑体" panose="02010609060101010101" pitchFamily="49" charset="-122"/>
              </a:rPr>
              <a:t>，每循环一次，</a:t>
            </a:r>
            <a:r>
              <a:rPr lang="en-US" altLang="zh-CN" sz="1800" dirty="0">
                <a:solidFill>
                  <a:srgbClr val="009900"/>
                </a:solidFill>
                <a:ea typeface="黑体" panose="02010609060101010101" pitchFamily="49" charset="-122"/>
              </a:rPr>
              <a:t>Cn</a:t>
            </a:r>
            <a:r>
              <a:rPr lang="zh-CN" altLang="en-US" sz="1800" dirty="0">
                <a:solidFill>
                  <a:srgbClr val="009900"/>
                </a:solidFill>
                <a:ea typeface="黑体" panose="02010609060101010101" pitchFamily="49" charset="-122"/>
              </a:rPr>
              <a:t>减</a:t>
            </a:r>
            <a:r>
              <a:rPr lang="en-US" altLang="zh-CN" sz="1800" dirty="0">
                <a:solidFill>
                  <a:srgbClr val="009900"/>
                </a:solidFill>
                <a:ea typeface="黑体" panose="02010609060101010101" pitchFamily="49" charset="-122"/>
              </a:rPr>
              <a:t>1</a:t>
            </a:r>
            <a:r>
              <a:rPr lang="zh-CN" altLang="en-US" sz="1800" dirty="0">
                <a:solidFill>
                  <a:srgbClr val="009900"/>
                </a:solidFill>
                <a:ea typeface="黑体" panose="02010609060101010101" pitchFamily="49" charset="-122"/>
              </a:rPr>
              <a:t>，</a:t>
            </a:r>
            <a:r>
              <a:rPr lang="en-US" altLang="zh-CN" sz="1800" dirty="0">
                <a:solidFill>
                  <a:srgbClr val="009900"/>
                </a:solidFill>
                <a:ea typeface="黑体" panose="02010609060101010101" pitchFamily="49" charset="-122"/>
              </a:rPr>
              <a:t>Cn=0</a:t>
            </a:r>
            <a:r>
              <a:rPr lang="zh-CN" altLang="en-US" sz="1800" dirty="0">
                <a:solidFill>
                  <a:srgbClr val="009900"/>
                </a:solidFill>
                <a:ea typeface="黑体" panose="02010609060101010101" pitchFamily="49" charset="-122"/>
              </a:rPr>
              <a:t>时结束</a:t>
            </a:r>
            <a:endParaRPr lang="zh-CN" altLang="en-US" sz="1800" dirty="0">
              <a:solidFill>
                <a:srgbClr val="009900"/>
              </a:solidFill>
              <a:ea typeface="黑体" panose="02010609060101010101" pitchFamily="49" charset="-122"/>
            </a:endParaRPr>
          </a:p>
          <a:p>
            <a:pPr>
              <a:lnSpc>
                <a:spcPct val="100000"/>
              </a:lnSpc>
            </a:pPr>
            <a:r>
              <a:rPr lang="en-US" altLang="zh-CN" sz="1800" dirty="0">
                <a:solidFill>
                  <a:srgbClr val="3333FF"/>
                </a:solidFill>
                <a:ea typeface="黑体" panose="02010609060101010101" pitchFamily="49" charset="-122"/>
              </a:rPr>
              <a:t>ALU</a:t>
            </a:r>
            <a:r>
              <a:rPr lang="zh-CN" altLang="en-US" sz="1800" dirty="0">
                <a:solidFill>
                  <a:srgbClr val="3333FF"/>
                </a:solidFill>
                <a:ea typeface="黑体" panose="02010609060101010101" pitchFamily="49" charset="-122"/>
              </a:rPr>
              <a:t>：</a:t>
            </a:r>
            <a:r>
              <a:rPr lang="zh-CN" altLang="en-US" sz="1800" dirty="0">
                <a:solidFill>
                  <a:srgbClr val="009900"/>
                </a:solidFill>
                <a:ea typeface="黑体" panose="02010609060101010101" pitchFamily="49" charset="-122"/>
              </a:rPr>
              <a:t>乘法核心部件。在控制逻辑控制下，对</a:t>
            </a:r>
            <a:r>
              <a:rPr lang="en-US" altLang="zh-CN" sz="1800" dirty="0">
                <a:solidFill>
                  <a:srgbClr val="009900"/>
                </a:solidFill>
                <a:ea typeface="黑体" panose="02010609060101010101" pitchFamily="49" charset="-122"/>
              </a:rPr>
              <a:t>P</a:t>
            </a:r>
            <a:r>
              <a:rPr lang="zh-CN" altLang="en-US" sz="1800" dirty="0">
                <a:solidFill>
                  <a:srgbClr val="009900"/>
                </a:solidFill>
                <a:ea typeface="黑体" panose="02010609060101010101" pitchFamily="49" charset="-122"/>
              </a:rPr>
              <a:t>和</a:t>
            </a:r>
            <a:r>
              <a:rPr lang="en-US" altLang="zh-CN" sz="1800" dirty="0">
                <a:solidFill>
                  <a:srgbClr val="009900"/>
                </a:solidFill>
                <a:ea typeface="黑体" panose="02010609060101010101" pitchFamily="49" charset="-122"/>
              </a:rPr>
              <a:t>X</a:t>
            </a:r>
            <a:r>
              <a:rPr lang="zh-CN" altLang="en-US" sz="1800" dirty="0">
                <a:solidFill>
                  <a:srgbClr val="009900"/>
                </a:solidFill>
                <a:ea typeface="黑体" panose="02010609060101010101" pitchFamily="49" charset="-122"/>
              </a:rPr>
              <a:t>的内容“加”，在“写使能”控制下运算结果被送回</a:t>
            </a:r>
            <a:r>
              <a:rPr lang="en-US" altLang="zh-CN" sz="1800" dirty="0">
                <a:solidFill>
                  <a:srgbClr val="009900"/>
                </a:solidFill>
                <a:ea typeface="黑体" panose="02010609060101010101" pitchFamily="49" charset="-122"/>
              </a:rPr>
              <a:t>P</a:t>
            </a:r>
            <a:r>
              <a:rPr lang="zh-CN" altLang="en-US" sz="1800" dirty="0">
                <a:solidFill>
                  <a:srgbClr val="009900"/>
                </a:solidFill>
                <a:ea typeface="黑体" panose="02010609060101010101" pitchFamily="49" charset="-122"/>
              </a:rPr>
              <a:t>，进位位在</a:t>
            </a:r>
            <a:r>
              <a:rPr lang="en-US" altLang="zh-CN" sz="1800" dirty="0">
                <a:solidFill>
                  <a:srgbClr val="009900"/>
                </a:solidFill>
                <a:ea typeface="黑体" panose="02010609060101010101" pitchFamily="49" charset="-122"/>
              </a:rPr>
              <a:t>C</a:t>
            </a:r>
            <a:r>
              <a:rPr lang="zh-CN" altLang="en-US" sz="1800" dirty="0">
                <a:solidFill>
                  <a:srgbClr val="009900"/>
                </a:solidFill>
                <a:ea typeface="黑体" panose="02010609060101010101" pitchFamily="49" charset="-122"/>
              </a:rPr>
              <a:t>中</a:t>
            </a:r>
            <a:endParaRPr lang="zh-CN" altLang="en-US" sz="1800" dirty="0">
              <a:solidFill>
                <a:srgbClr val="009900"/>
              </a:solidFill>
              <a:ea typeface="黑体" panose="02010609060101010101" pitchFamily="49" charset="-122"/>
            </a:endParaRPr>
          </a:p>
        </p:txBody>
      </p:sp>
      <p:sp>
        <p:nvSpPr>
          <p:cNvPr id="140369" name="Rectangle 81"/>
          <p:cNvSpPr/>
          <p:nvPr/>
        </p:nvSpPr>
        <p:spPr>
          <a:xfrm>
            <a:off x="3862388" y="1085850"/>
            <a:ext cx="4857750" cy="762000"/>
          </a:xfrm>
          <a:prstGeom prst="rect">
            <a:avLst/>
          </a:prstGeom>
          <a:noFill/>
          <a:ln w="12700">
            <a:noFill/>
          </a:ln>
        </p:spPr>
        <p:txBody>
          <a:bodyPr anchor="ctr" anchorCtr="0">
            <a:spAutoFit/>
          </a:bodyPr>
          <a:p>
            <a:pPr eaLnBrk="0" hangingPunct="0"/>
            <a:r>
              <a:rPr lang="zh-CN" altLang="en-US" sz="2200" dirty="0">
                <a:solidFill>
                  <a:srgbClr val="CC0000"/>
                </a:solidFill>
                <a:latin typeface="黑体" panose="02010609060101010101" pitchFamily="49" charset="-122"/>
                <a:ea typeface="黑体" panose="02010609060101010101" pitchFamily="49" charset="-122"/>
              </a:rPr>
              <a:t>每次循环都要对进位位</a:t>
            </a:r>
            <a:r>
              <a:rPr lang="en-US" altLang="zh-CN" sz="2200" dirty="0">
                <a:solidFill>
                  <a:srgbClr val="CC0000"/>
                </a:solidFill>
                <a:latin typeface="黑体" panose="02010609060101010101" pitchFamily="49" charset="-122"/>
                <a:ea typeface="黑体" panose="02010609060101010101" pitchFamily="49" charset="-122"/>
              </a:rPr>
              <a:t>C</a:t>
            </a:r>
            <a:r>
              <a:rPr lang="zh-CN" altLang="en-US" sz="2200" dirty="0">
                <a:solidFill>
                  <a:srgbClr val="CC0000"/>
                </a:solidFill>
                <a:latin typeface="黑体" panose="02010609060101010101" pitchFamily="49" charset="-122"/>
                <a:ea typeface="黑体" panose="02010609060101010101" pitchFamily="49" charset="-122"/>
              </a:rPr>
              <a:t>、乘积寄存器</a:t>
            </a:r>
            <a:r>
              <a:rPr lang="en-US" altLang="zh-CN" sz="2200" dirty="0">
                <a:solidFill>
                  <a:srgbClr val="CC0000"/>
                </a:solidFill>
                <a:latin typeface="黑体" panose="02010609060101010101" pitchFamily="49" charset="-122"/>
                <a:ea typeface="黑体" panose="02010609060101010101" pitchFamily="49" charset="-122"/>
              </a:rPr>
              <a:t>P</a:t>
            </a:r>
            <a:r>
              <a:rPr lang="zh-CN" altLang="en-US" sz="2200" dirty="0">
                <a:solidFill>
                  <a:srgbClr val="CC0000"/>
                </a:solidFill>
                <a:latin typeface="黑体" panose="02010609060101010101" pitchFamily="49" charset="-122"/>
                <a:ea typeface="黑体" panose="02010609060101010101" pitchFamily="49" charset="-122"/>
              </a:rPr>
              <a:t>和乘数寄存器实现</a:t>
            </a:r>
            <a:r>
              <a:rPr lang="zh-CN" altLang="en-US" sz="2200" dirty="0">
                <a:latin typeface="黑体" panose="02010609060101010101" pitchFamily="49" charset="-122"/>
                <a:ea typeface="黑体" panose="02010609060101010101" pitchFamily="49" charset="-122"/>
              </a:rPr>
              <a:t>同步逻辑</a:t>
            </a:r>
            <a:r>
              <a:rPr lang="zh-CN" altLang="en-US" sz="2200" dirty="0">
                <a:latin typeface="Times New Roman" panose="02020603050405020304" pitchFamily="18" charset="0"/>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右移</a:t>
            </a:r>
            <a:r>
              <a:rPr lang="zh-CN" altLang="en-US" sz="2200" dirty="0">
                <a:latin typeface="Times New Roman" panose="02020603050405020304" pitchFamily="18" charset="0"/>
                <a:ea typeface="黑体" panose="02010609060101010101" pitchFamily="49" charset="-122"/>
              </a:rPr>
              <a:t>”</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cxnSp>
        <p:nvCxnSpPr>
          <p:cNvPr id="57386" name="直接连接符 43"/>
          <p:cNvCxnSpPr/>
          <p:nvPr/>
        </p:nvCxnSpPr>
        <p:spPr>
          <a:xfrm>
            <a:off x="763588" y="2087563"/>
            <a:ext cx="341312" cy="0"/>
          </a:xfrm>
          <a:prstGeom prst="line">
            <a:avLst/>
          </a:prstGeom>
          <a:ln w="12700" cap="flat" cmpd="sng">
            <a:solidFill>
              <a:srgbClr val="FF0066"/>
            </a:solidFill>
            <a:prstDash val="solid"/>
            <a:round/>
            <a:headEnd type="none" w="med" len="med"/>
            <a:tailEnd type="none" w="med" len="med"/>
          </a:ln>
        </p:spPr>
      </p:cxnSp>
      <p:sp>
        <p:nvSpPr>
          <p:cNvPr id="57387" name="Line 52"/>
          <p:cNvSpPr/>
          <p:nvPr/>
        </p:nvSpPr>
        <p:spPr>
          <a:xfrm flipH="1">
            <a:off x="763588" y="2084388"/>
            <a:ext cx="1587" cy="1177925"/>
          </a:xfrm>
          <a:prstGeom prst="line">
            <a:avLst/>
          </a:prstGeom>
          <a:ln w="19050" cap="flat" cmpd="sng">
            <a:solidFill>
              <a:srgbClr val="FF0066"/>
            </a:solidFill>
            <a:prstDash val="solid"/>
            <a:round/>
            <a:headEnd type="non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0369"/>
                                        </p:tgtEl>
                                        <p:attrNameLst>
                                          <p:attrName>style.visibility</p:attrName>
                                        </p:attrNameLst>
                                      </p:cBhvr>
                                      <p:to>
                                        <p:strVal val="visible"/>
                                      </p:to>
                                    </p:set>
                                    <p:animEffect transition="in" filter="blinds(horizontal)">
                                      <p:cBhvr>
                                        <p:cTn id="7" dur="500"/>
                                        <p:tgtEl>
                                          <p:spTgt spid="140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6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p:nvPr>
        </p:nvSpPr>
        <p:spPr>
          <a:ln/>
        </p:spPr>
        <p:txBody>
          <a:bodyPr vert="horz" wrap="square" lIns="63500" tIns="25400" rIns="63500" bIns="25400" anchor="t" anchorCtr="0">
            <a:spAutoFit/>
          </a:bodyPr>
          <a:p>
            <a:r>
              <a:rPr lang="en-US" altLang="zh-CN" dirty="0">
                <a:ea typeface="宋体" panose="02010600030101010101" pitchFamily="2" charset="-122"/>
              </a:rPr>
              <a:t>Example</a:t>
            </a:r>
            <a:r>
              <a:rPr lang="zh-CN" altLang="en-US" dirty="0">
                <a:ea typeface="宋体" panose="02010600030101010101" pitchFamily="2" charset="-122"/>
              </a:rPr>
              <a:t>：无符号整数乘法运算</a:t>
            </a:r>
            <a:endParaRPr lang="zh-CN" altLang="en-US" dirty="0">
              <a:ea typeface="宋体" panose="02010600030101010101" pitchFamily="2" charset="-122"/>
            </a:endParaRPr>
          </a:p>
        </p:txBody>
      </p:sp>
      <p:sp>
        <p:nvSpPr>
          <p:cNvPr id="58370" name="Text Box 5"/>
          <p:cNvSpPr txBox="1"/>
          <p:nvPr/>
        </p:nvSpPr>
        <p:spPr>
          <a:xfrm>
            <a:off x="444500" y="874713"/>
            <a:ext cx="8699500" cy="5422900"/>
          </a:xfrm>
          <a:prstGeom prst="rect">
            <a:avLst/>
          </a:prstGeom>
          <a:noFill/>
          <a:ln w="9525">
            <a:noFill/>
          </a:ln>
        </p:spPr>
        <p:txBody>
          <a:bodyPr anchor="t" anchorCtr="0">
            <a:spAutoFit/>
          </a:bodyPr>
          <a:p>
            <a:pPr eaLnBrk="0" hangingPunct="0">
              <a:spcBef>
                <a:spcPct val="50000"/>
              </a:spcBef>
            </a:pPr>
            <a:r>
              <a:rPr lang="zh-CN" altLang="en-US" sz="2400" dirty="0">
                <a:latin typeface="Arial" panose="020B0604020202020204" pitchFamily="34" charset="0"/>
                <a:ea typeface="宋体" panose="02010600030101010101" pitchFamily="2" charset="-122"/>
              </a:rPr>
              <a:t>举例说明：若需计算</a:t>
            </a:r>
            <a:r>
              <a:rPr lang="en-US" altLang="zh-CN" sz="2400" dirty="0">
                <a:latin typeface="Arial" panose="020B0604020202020204" pitchFamily="34" charset="0"/>
              </a:rPr>
              <a:t>z=x*y; x</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rPr>
              <a:t>y</a:t>
            </a:r>
            <a:r>
              <a:rPr lang="zh-CN" altLang="en-US" sz="2400" dirty="0">
                <a:latin typeface="Arial" panose="020B0604020202020204" pitchFamily="34" charset="0"/>
                <a:ea typeface="宋体" panose="02010600030101010101" pitchFamily="2" charset="-122"/>
              </a:rPr>
              <a:t>和</a:t>
            </a:r>
            <a:r>
              <a:rPr lang="en-US" altLang="zh-CN" sz="2400" dirty="0">
                <a:latin typeface="Arial" panose="020B0604020202020204" pitchFamily="34" charset="0"/>
              </a:rPr>
              <a:t>z</a:t>
            </a:r>
            <a:r>
              <a:rPr lang="zh-CN" altLang="en-US" sz="2400" dirty="0">
                <a:latin typeface="Arial" panose="020B0604020202020204" pitchFamily="34" charset="0"/>
                <a:ea typeface="宋体" panose="02010600030101010101" pitchFamily="2" charset="-122"/>
              </a:rPr>
              <a:t>都是</a:t>
            </a:r>
            <a:r>
              <a:rPr lang="en-US" altLang="zh-CN" sz="2400" dirty="0">
                <a:latin typeface="Arial" panose="020B0604020202020204" pitchFamily="34" charset="0"/>
              </a:rPr>
              <a:t>unsigned</a:t>
            </a:r>
            <a:r>
              <a:rPr lang="zh-CN" altLang="en-US" sz="2400" dirty="0">
                <a:latin typeface="Arial" panose="020B0604020202020204" pitchFamily="34" charset="0"/>
                <a:ea typeface="宋体" panose="02010600030101010101" pitchFamily="2" charset="-122"/>
              </a:rPr>
              <a:t>类型。</a:t>
            </a:r>
            <a:endParaRPr lang="zh-CN" altLang="en-US" sz="2400" dirty="0">
              <a:latin typeface="Arial" panose="020B0604020202020204" pitchFamily="34" charset="0"/>
              <a:ea typeface="宋体" panose="02010600030101010101" pitchFamily="2" charset="-122"/>
            </a:endParaRPr>
          </a:p>
          <a:p>
            <a:pPr eaLnBrk="0" hangingPunct="0">
              <a:spcBef>
                <a:spcPct val="30000"/>
              </a:spcBef>
            </a:pPr>
            <a:r>
              <a:rPr lang="zh-CN" altLang="en-US" sz="2400" dirty="0">
                <a:latin typeface="Arial" panose="020B0604020202020204" pitchFamily="34" charset="0"/>
                <a:ea typeface="宋体" panose="02010600030101010101" pitchFamily="2" charset="-122"/>
              </a:rPr>
              <a:t>设</a:t>
            </a:r>
            <a:r>
              <a:rPr lang="en-US" altLang="zh-CN" sz="2400" dirty="0">
                <a:latin typeface="Arial" panose="020B0604020202020204" pitchFamily="34" charset="0"/>
              </a:rPr>
              <a:t>x=1110    y=1101     </a:t>
            </a:r>
            <a:r>
              <a:rPr lang="zh-CN" altLang="en-US" sz="2400" dirty="0">
                <a:latin typeface="Arial" panose="020B0604020202020204" pitchFamily="34" charset="0"/>
                <a:ea typeface="宋体" panose="02010600030101010101" pitchFamily="2" charset="-122"/>
              </a:rPr>
              <a:t>应用递推公式： </a:t>
            </a:r>
            <a:r>
              <a:rPr lang="en-US" altLang="zh-CN" sz="2400" dirty="0">
                <a:solidFill>
                  <a:schemeClr val="accent2"/>
                </a:solidFill>
                <a:latin typeface="Arial" panose="020B0604020202020204" pitchFamily="34" charset="0"/>
              </a:rPr>
              <a:t>P</a:t>
            </a:r>
            <a:r>
              <a:rPr lang="en-US" altLang="zh-CN" sz="2400" baseline="-10000" dirty="0">
                <a:solidFill>
                  <a:schemeClr val="accent2"/>
                </a:solidFill>
                <a:latin typeface="Arial" panose="020B0604020202020204" pitchFamily="34" charset="0"/>
              </a:rPr>
              <a:t>i</a:t>
            </a:r>
            <a:r>
              <a:rPr lang="en-US" altLang="zh-CN" sz="2400" dirty="0">
                <a:solidFill>
                  <a:schemeClr val="accent2"/>
                </a:solidFill>
                <a:latin typeface="Arial" panose="020B0604020202020204" pitchFamily="34" charset="0"/>
              </a:rPr>
              <a:t>=2</a:t>
            </a:r>
            <a:r>
              <a:rPr lang="en-US" altLang="zh-CN" sz="2400" baseline="30000" dirty="0">
                <a:solidFill>
                  <a:schemeClr val="accent2"/>
                </a:solidFill>
                <a:latin typeface="Arial" panose="020B0604020202020204" pitchFamily="34" charset="0"/>
              </a:rPr>
              <a:t>-1</a:t>
            </a:r>
            <a:r>
              <a:rPr lang="en-US" altLang="zh-CN" sz="2400" dirty="0">
                <a:solidFill>
                  <a:schemeClr val="accent2"/>
                </a:solidFill>
                <a:latin typeface="Arial" panose="020B0604020202020204" pitchFamily="34" charset="0"/>
              </a:rPr>
              <a:t>(x*y</a:t>
            </a:r>
            <a:r>
              <a:rPr lang="en-US" altLang="zh-CN" sz="2400" baseline="-10000" dirty="0">
                <a:solidFill>
                  <a:schemeClr val="accent2"/>
                </a:solidFill>
                <a:latin typeface="Arial" panose="020B0604020202020204" pitchFamily="34" charset="0"/>
              </a:rPr>
              <a:t>i</a:t>
            </a:r>
            <a:r>
              <a:rPr lang="en-US" altLang="zh-CN" sz="2400" dirty="0">
                <a:solidFill>
                  <a:schemeClr val="accent2"/>
                </a:solidFill>
                <a:latin typeface="Arial" panose="020B0604020202020204" pitchFamily="34" charset="0"/>
              </a:rPr>
              <a:t>+ P</a:t>
            </a:r>
            <a:r>
              <a:rPr lang="en-US" altLang="zh-CN" sz="2400" baseline="-10000" dirty="0">
                <a:solidFill>
                  <a:schemeClr val="accent2"/>
                </a:solidFill>
                <a:latin typeface="Arial" panose="020B0604020202020204" pitchFamily="34" charset="0"/>
              </a:rPr>
              <a:t>i-1</a:t>
            </a:r>
            <a:r>
              <a:rPr lang="en-US" altLang="zh-CN" sz="2400" dirty="0">
                <a:solidFill>
                  <a:schemeClr val="accent2"/>
                </a:solidFill>
                <a:latin typeface="Arial" panose="020B0604020202020204" pitchFamily="34" charset="0"/>
              </a:rPr>
              <a:t>) </a:t>
            </a:r>
            <a:endParaRPr lang="en-US" altLang="zh-CN" sz="2400" dirty="0">
              <a:solidFill>
                <a:schemeClr val="accent2"/>
              </a:solidFill>
              <a:latin typeface="Arial" panose="020B0604020202020204" pitchFamily="34" charset="0"/>
            </a:endParaRPr>
          </a:p>
          <a:p>
            <a:pPr eaLnBrk="0" hangingPunct="0">
              <a:spcBef>
                <a:spcPct val="30000"/>
              </a:spcBef>
            </a:pPr>
            <a:r>
              <a:rPr lang="en-US" altLang="zh-CN" sz="2400" dirty="0">
                <a:solidFill>
                  <a:schemeClr val="accent2"/>
                </a:solidFill>
                <a:latin typeface="Arial" panose="020B0604020202020204" pitchFamily="34" charset="0"/>
              </a:rPr>
              <a:t>  C   </a:t>
            </a:r>
            <a:r>
              <a:rPr lang="zh-CN" altLang="en-US" sz="2400" dirty="0">
                <a:solidFill>
                  <a:schemeClr val="accent2"/>
                </a:solidFill>
                <a:latin typeface="Arial" panose="020B0604020202020204" pitchFamily="34" charset="0"/>
                <a:ea typeface="宋体" panose="02010600030101010101" pitchFamily="2" charset="-122"/>
              </a:rPr>
              <a:t>乘积</a:t>
            </a:r>
            <a:r>
              <a:rPr lang="en-US" altLang="zh-CN" sz="2400" dirty="0">
                <a:solidFill>
                  <a:schemeClr val="accent2"/>
                </a:solidFill>
                <a:latin typeface="Arial" panose="020B0604020202020204" pitchFamily="34" charset="0"/>
              </a:rPr>
              <a:t>P   </a:t>
            </a:r>
            <a:r>
              <a:rPr lang="zh-CN" altLang="en-US" sz="2400" dirty="0">
                <a:solidFill>
                  <a:schemeClr val="accent2"/>
                </a:solidFill>
                <a:latin typeface="Arial" panose="020B0604020202020204" pitchFamily="34" charset="0"/>
                <a:ea typeface="宋体" panose="02010600030101010101" pitchFamily="2" charset="-122"/>
              </a:rPr>
              <a:t>乘数</a:t>
            </a:r>
            <a:r>
              <a:rPr lang="en-US" altLang="zh-CN" sz="2400" dirty="0">
                <a:solidFill>
                  <a:schemeClr val="accent2"/>
                </a:solidFill>
                <a:latin typeface="Arial" panose="020B0604020202020204" pitchFamily="34" charset="0"/>
              </a:rPr>
              <a:t>R</a:t>
            </a:r>
            <a:endParaRPr lang="en-US" altLang="zh-CN" sz="2400" dirty="0">
              <a:solidFill>
                <a:schemeClr val="accent2"/>
              </a:solidFill>
              <a:latin typeface="Arial" panose="020B0604020202020204" pitchFamily="34" charset="0"/>
            </a:endParaRPr>
          </a:p>
          <a:p>
            <a:pPr eaLnBrk="0" hangingPunct="0"/>
            <a:r>
              <a:rPr lang="en-US" altLang="zh-CN" sz="2400" dirty="0">
                <a:solidFill>
                  <a:schemeClr val="accent2"/>
                </a:solidFill>
                <a:latin typeface="宋体" panose="02010600030101010101" pitchFamily="2" charset="-122"/>
              </a:rPr>
              <a:t>  0  0000  </a:t>
            </a:r>
            <a:r>
              <a:rPr lang="en-US" altLang="zh-CN" sz="2400" dirty="0">
                <a:solidFill>
                  <a:srgbClr val="0000FF"/>
                </a:solidFill>
                <a:latin typeface="宋体" panose="02010600030101010101" pitchFamily="2" charset="-122"/>
              </a:rPr>
              <a:t>1101</a:t>
            </a:r>
            <a:endParaRPr lang="en-US" altLang="zh-CN" sz="2400" dirty="0">
              <a:solidFill>
                <a:srgbClr val="0000FF"/>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  1110  </a:t>
            </a:r>
            <a:endParaRPr lang="en-US" altLang="zh-CN" sz="2400" dirty="0">
              <a:solidFill>
                <a:schemeClr val="accent2"/>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0  1110  </a:t>
            </a:r>
            <a:r>
              <a:rPr lang="en-US" altLang="zh-CN" sz="2400" dirty="0">
                <a:solidFill>
                  <a:srgbClr val="0000FF"/>
                </a:solidFill>
                <a:latin typeface="宋体" panose="02010600030101010101" pitchFamily="2" charset="-122"/>
              </a:rPr>
              <a:t>1101</a:t>
            </a:r>
            <a:endParaRPr lang="en-US" altLang="zh-CN" sz="2400" dirty="0">
              <a:solidFill>
                <a:srgbClr val="0000FF"/>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0  0111  0</a:t>
            </a:r>
            <a:r>
              <a:rPr lang="en-US" altLang="zh-CN" sz="2400" dirty="0">
                <a:solidFill>
                  <a:srgbClr val="0000FF"/>
                </a:solidFill>
                <a:latin typeface="宋体" panose="02010600030101010101" pitchFamily="2" charset="-122"/>
              </a:rPr>
              <a:t>110</a:t>
            </a:r>
            <a:endParaRPr lang="en-US" altLang="zh-CN" sz="2400" dirty="0">
              <a:solidFill>
                <a:srgbClr val="0000FF"/>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0  0011  10</a:t>
            </a:r>
            <a:r>
              <a:rPr lang="en-US" altLang="zh-CN" sz="2400" dirty="0">
                <a:solidFill>
                  <a:srgbClr val="0000FF"/>
                </a:solidFill>
                <a:latin typeface="宋体" panose="02010600030101010101" pitchFamily="2" charset="-122"/>
              </a:rPr>
              <a:t>11</a:t>
            </a:r>
            <a:endParaRPr lang="en-US" altLang="zh-CN" sz="2400" dirty="0">
              <a:solidFill>
                <a:srgbClr val="0000FF"/>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  1110</a:t>
            </a:r>
            <a:endParaRPr lang="en-US" altLang="zh-CN" sz="2400" dirty="0">
              <a:solidFill>
                <a:schemeClr val="accent2"/>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1  0001  10</a:t>
            </a:r>
            <a:r>
              <a:rPr lang="en-US" altLang="zh-CN" sz="2400" dirty="0">
                <a:solidFill>
                  <a:srgbClr val="0000FF"/>
                </a:solidFill>
                <a:latin typeface="宋体" panose="02010600030101010101" pitchFamily="2" charset="-122"/>
              </a:rPr>
              <a:t>11</a:t>
            </a:r>
            <a:endParaRPr lang="en-US" altLang="zh-CN" sz="2400" dirty="0">
              <a:solidFill>
                <a:srgbClr val="0000FF"/>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0  1000  110</a:t>
            </a:r>
            <a:r>
              <a:rPr lang="en-US" altLang="zh-CN" sz="2400" dirty="0">
                <a:solidFill>
                  <a:srgbClr val="0000FF"/>
                </a:solidFill>
                <a:latin typeface="宋体" panose="02010600030101010101" pitchFamily="2" charset="-122"/>
              </a:rPr>
              <a:t>1</a:t>
            </a:r>
            <a:endParaRPr lang="en-US" altLang="zh-CN" sz="2400" dirty="0">
              <a:solidFill>
                <a:srgbClr val="0000FF"/>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  1110</a:t>
            </a:r>
            <a:endParaRPr lang="en-US" altLang="zh-CN" sz="2400" dirty="0">
              <a:solidFill>
                <a:schemeClr val="accent2"/>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1  0110  110</a:t>
            </a:r>
            <a:r>
              <a:rPr lang="en-US" altLang="zh-CN" sz="2400" dirty="0">
                <a:solidFill>
                  <a:srgbClr val="0000FF"/>
                </a:solidFill>
                <a:latin typeface="宋体" panose="02010600030101010101" pitchFamily="2" charset="-122"/>
              </a:rPr>
              <a:t>1</a:t>
            </a:r>
            <a:endParaRPr lang="en-US" altLang="zh-CN" sz="2400" dirty="0">
              <a:solidFill>
                <a:srgbClr val="0000FF"/>
              </a:solidFill>
              <a:latin typeface="宋体" panose="02010600030101010101" pitchFamily="2" charset="-122"/>
            </a:endParaRPr>
          </a:p>
          <a:p>
            <a:pPr eaLnBrk="0" hangingPunct="0"/>
            <a:r>
              <a:rPr lang="en-US" altLang="zh-CN" sz="2400" dirty="0">
                <a:solidFill>
                  <a:schemeClr val="accent2"/>
                </a:solidFill>
                <a:latin typeface="宋体" panose="02010600030101010101" pitchFamily="2" charset="-122"/>
              </a:rPr>
              <a:t>  0  1011  0110   </a:t>
            </a:r>
            <a:endParaRPr lang="en-US" altLang="zh-CN" sz="2400" dirty="0">
              <a:solidFill>
                <a:schemeClr val="accent2"/>
              </a:solidFill>
              <a:latin typeface="宋体" panose="02010600030101010101" pitchFamily="2" charset="-122"/>
              <a:ea typeface="Arial" panose="020B0604020202020204" pitchFamily="34" charset="0"/>
            </a:endParaRPr>
          </a:p>
        </p:txBody>
      </p:sp>
      <p:sp>
        <p:nvSpPr>
          <p:cNvPr id="58371" name="Line 6"/>
          <p:cNvSpPr/>
          <p:nvPr/>
        </p:nvSpPr>
        <p:spPr>
          <a:xfrm>
            <a:off x="355600" y="3009900"/>
            <a:ext cx="2730500" cy="0"/>
          </a:xfrm>
          <a:prstGeom prst="line">
            <a:avLst/>
          </a:prstGeom>
          <a:ln w="9525" cap="flat" cmpd="sng">
            <a:solidFill>
              <a:schemeClr val="tx1"/>
            </a:solidFill>
            <a:prstDash val="solid"/>
            <a:round/>
            <a:headEnd type="none" w="med" len="med"/>
            <a:tailEnd type="none" w="med" len="med"/>
          </a:ln>
        </p:spPr>
      </p:sp>
      <p:sp>
        <p:nvSpPr>
          <p:cNvPr id="58372" name="Line 7"/>
          <p:cNvSpPr/>
          <p:nvPr/>
        </p:nvSpPr>
        <p:spPr>
          <a:xfrm>
            <a:off x="406400" y="4470400"/>
            <a:ext cx="2730500" cy="0"/>
          </a:xfrm>
          <a:prstGeom prst="line">
            <a:avLst/>
          </a:prstGeom>
          <a:ln w="9525" cap="flat" cmpd="sng">
            <a:solidFill>
              <a:schemeClr val="tx1"/>
            </a:solidFill>
            <a:prstDash val="solid"/>
            <a:round/>
            <a:headEnd type="none" w="med" len="med"/>
            <a:tailEnd type="none" w="med" len="med"/>
          </a:ln>
        </p:spPr>
      </p:sp>
      <p:sp>
        <p:nvSpPr>
          <p:cNvPr id="58373" name="Line 8"/>
          <p:cNvSpPr/>
          <p:nvPr/>
        </p:nvSpPr>
        <p:spPr>
          <a:xfrm>
            <a:off x="215900" y="3556000"/>
            <a:ext cx="368300" cy="0"/>
          </a:xfrm>
          <a:prstGeom prst="line">
            <a:avLst/>
          </a:prstGeom>
          <a:ln w="9525" cap="flat" cmpd="sng">
            <a:solidFill>
              <a:schemeClr val="tx1"/>
            </a:solidFill>
            <a:prstDash val="solid"/>
            <a:round/>
            <a:headEnd type="none" w="med" len="med"/>
            <a:tailEnd type="triangle" w="med" len="med"/>
          </a:ln>
        </p:spPr>
      </p:sp>
      <p:sp>
        <p:nvSpPr>
          <p:cNvPr id="58374" name="Line 9"/>
          <p:cNvSpPr/>
          <p:nvPr/>
        </p:nvSpPr>
        <p:spPr>
          <a:xfrm>
            <a:off x="203200" y="3937000"/>
            <a:ext cx="368300" cy="0"/>
          </a:xfrm>
          <a:prstGeom prst="line">
            <a:avLst/>
          </a:prstGeom>
          <a:ln w="9525" cap="flat" cmpd="sng">
            <a:solidFill>
              <a:schemeClr val="tx1"/>
            </a:solidFill>
            <a:prstDash val="solid"/>
            <a:round/>
            <a:headEnd type="none" w="med" len="med"/>
            <a:tailEnd type="triangle" w="med" len="med"/>
          </a:ln>
        </p:spPr>
      </p:sp>
      <p:sp>
        <p:nvSpPr>
          <p:cNvPr id="58375" name="Line 11"/>
          <p:cNvSpPr/>
          <p:nvPr/>
        </p:nvSpPr>
        <p:spPr>
          <a:xfrm>
            <a:off x="215900" y="6121400"/>
            <a:ext cx="368300" cy="0"/>
          </a:xfrm>
          <a:prstGeom prst="line">
            <a:avLst/>
          </a:prstGeom>
          <a:ln w="9525" cap="flat" cmpd="sng">
            <a:solidFill>
              <a:schemeClr val="tx1"/>
            </a:solidFill>
            <a:prstDash val="solid"/>
            <a:round/>
            <a:headEnd type="none" w="med" len="med"/>
            <a:tailEnd type="triangle" w="med" len="med"/>
          </a:ln>
        </p:spPr>
      </p:sp>
      <p:sp>
        <p:nvSpPr>
          <p:cNvPr id="58376" name="Line 12"/>
          <p:cNvSpPr/>
          <p:nvPr/>
        </p:nvSpPr>
        <p:spPr>
          <a:xfrm>
            <a:off x="355600" y="5537200"/>
            <a:ext cx="2730500" cy="0"/>
          </a:xfrm>
          <a:prstGeom prst="line">
            <a:avLst/>
          </a:prstGeom>
          <a:ln w="9525" cap="flat" cmpd="sng">
            <a:solidFill>
              <a:schemeClr val="tx1"/>
            </a:solidFill>
            <a:prstDash val="solid"/>
            <a:round/>
            <a:headEnd type="none" w="med" len="med"/>
            <a:tailEnd type="none" w="med" len="med"/>
          </a:ln>
        </p:spPr>
      </p:sp>
      <p:grpSp>
        <p:nvGrpSpPr>
          <p:cNvPr id="2" name="Group 17"/>
          <p:cNvGrpSpPr/>
          <p:nvPr/>
        </p:nvGrpSpPr>
        <p:grpSpPr>
          <a:xfrm>
            <a:off x="1160463" y="1944688"/>
            <a:ext cx="6751637" cy="1187450"/>
            <a:chOff x="731" y="1225"/>
            <a:chExt cx="4253" cy="748"/>
          </a:xfrm>
        </p:grpSpPr>
        <p:sp>
          <p:nvSpPr>
            <p:cNvPr id="58378" name="Text Box 13"/>
            <p:cNvSpPr txBox="1"/>
            <p:nvPr/>
          </p:nvSpPr>
          <p:spPr>
            <a:xfrm>
              <a:off x="2376" y="1225"/>
              <a:ext cx="2608" cy="748"/>
            </a:xfrm>
            <a:prstGeom prst="rect">
              <a:avLst/>
            </a:prstGeom>
            <a:noFill/>
            <a:ln w="9525">
              <a:noFill/>
            </a:ln>
          </p:spPr>
          <p:txBody>
            <a:bodyPr anchor="t" anchorCtr="0">
              <a:spAutoFit/>
            </a:bodyPr>
            <a:p>
              <a:pPr eaLnBrk="0" hangingPunct="0">
                <a:spcBef>
                  <a:spcPct val="50000"/>
                </a:spcBef>
                <a:buFont typeface="Wingdings" panose="05000000000000000000" pitchFamily="2" charset="2"/>
              </a:pPr>
              <a:r>
                <a:rPr lang="zh-CN" altLang="en-US" sz="2400" dirty="0">
                  <a:solidFill>
                    <a:srgbClr val="660066"/>
                  </a:solidFill>
                  <a:latin typeface="Times New Roman" panose="02020603050405020304" pitchFamily="18" charset="0"/>
                  <a:ea typeface="黑体" panose="02010609060101010101" pitchFamily="49" charset="-122"/>
                </a:rPr>
                <a:t>可用一个双倍字长的乘积寄存器；也可用两个单倍字长的寄存器。</a:t>
              </a:r>
              <a:endParaRPr lang="zh-CN" altLang="en-US" sz="2400" dirty="0">
                <a:solidFill>
                  <a:srgbClr val="660066"/>
                </a:solidFill>
                <a:latin typeface="Times New Roman" panose="02020603050405020304" pitchFamily="18" charset="0"/>
                <a:ea typeface="黑体" panose="02010609060101010101" pitchFamily="49" charset="-122"/>
              </a:endParaRPr>
            </a:p>
          </p:txBody>
        </p:sp>
        <p:sp>
          <p:nvSpPr>
            <p:cNvPr id="58379" name="Rectangle 16"/>
            <p:cNvSpPr/>
            <p:nvPr/>
          </p:nvSpPr>
          <p:spPr>
            <a:xfrm>
              <a:off x="731" y="1417"/>
              <a:ext cx="1043" cy="256"/>
            </a:xfrm>
            <a:prstGeom prst="rect">
              <a:avLst/>
            </a:prstGeom>
            <a:noFill/>
            <a:ln w="12700" cap="flat" cmpd="sng">
              <a:solidFill>
                <a:srgbClr val="00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3" name="Group 19"/>
          <p:cNvGrpSpPr/>
          <p:nvPr/>
        </p:nvGrpSpPr>
        <p:grpSpPr>
          <a:xfrm>
            <a:off x="1160463" y="2220913"/>
            <a:ext cx="5851525" cy="1514475"/>
            <a:chOff x="731" y="1399"/>
            <a:chExt cx="3686" cy="954"/>
          </a:xfrm>
        </p:grpSpPr>
        <p:sp>
          <p:nvSpPr>
            <p:cNvPr id="58381" name="Rectangle 14"/>
            <p:cNvSpPr/>
            <p:nvPr/>
          </p:nvSpPr>
          <p:spPr>
            <a:xfrm>
              <a:off x="2406" y="2065"/>
              <a:ext cx="2011" cy="288"/>
            </a:xfrm>
            <a:prstGeom prst="rect">
              <a:avLst/>
            </a:prstGeom>
            <a:noFill/>
            <a:ln w="12700">
              <a:noFill/>
            </a:ln>
          </p:spPr>
          <p:txBody>
            <a:bodyPr anchor="t" anchorCtr="0">
              <a:spAutoFit/>
            </a:bodyPr>
            <a:p>
              <a:pPr eaLnBrk="0" hangingPunct="0">
                <a:buFont typeface="Wingdings" panose="05000000000000000000" pitchFamily="2" charset="2"/>
              </a:pPr>
              <a:r>
                <a:rPr lang="zh-CN" altLang="en-US" sz="2400" dirty="0">
                  <a:solidFill>
                    <a:srgbClr val="660066"/>
                  </a:solidFill>
                  <a:latin typeface="黑体" panose="02010609060101010101" pitchFamily="49" charset="-122"/>
                  <a:ea typeface="黑体" panose="02010609060101010101" pitchFamily="49" charset="-122"/>
                </a:rPr>
                <a:t>部分积初始为0。</a:t>
              </a:r>
              <a:endParaRPr lang="zh-CN" altLang="en-US" sz="2400" dirty="0">
                <a:solidFill>
                  <a:srgbClr val="660066"/>
                </a:solidFill>
                <a:latin typeface="黑体" panose="02010609060101010101" pitchFamily="49" charset="-122"/>
                <a:ea typeface="黑体" panose="02010609060101010101" pitchFamily="49" charset="-122"/>
              </a:endParaRPr>
            </a:p>
          </p:txBody>
        </p:sp>
        <p:sp>
          <p:nvSpPr>
            <p:cNvPr id="58382" name="Rectangle 18"/>
            <p:cNvSpPr/>
            <p:nvPr/>
          </p:nvSpPr>
          <p:spPr>
            <a:xfrm>
              <a:off x="731" y="1399"/>
              <a:ext cx="522" cy="274"/>
            </a:xfrm>
            <a:prstGeom prst="rect">
              <a:avLst/>
            </a:prstGeom>
            <a:noFill/>
            <a:ln w="28575" cap="flat" cmpd="sng">
              <a:solidFill>
                <a:srgbClr val="CC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4" name="Group 22"/>
          <p:cNvGrpSpPr/>
          <p:nvPr/>
        </p:nvGrpSpPr>
        <p:grpSpPr>
          <a:xfrm>
            <a:off x="595313" y="1814513"/>
            <a:ext cx="5284787" cy="2540000"/>
            <a:chOff x="375" y="1143"/>
            <a:chExt cx="3329" cy="1600"/>
          </a:xfrm>
        </p:grpSpPr>
        <p:sp>
          <p:nvSpPr>
            <p:cNvPr id="58384" name="Rectangle 20"/>
            <p:cNvSpPr/>
            <p:nvPr/>
          </p:nvSpPr>
          <p:spPr>
            <a:xfrm>
              <a:off x="2430" y="2455"/>
              <a:ext cx="1274" cy="288"/>
            </a:xfrm>
            <a:prstGeom prst="rect">
              <a:avLst/>
            </a:prstGeom>
            <a:noFill/>
            <a:ln w="12700">
              <a:noFill/>
            </a:ln>
          </p:spPr>
          <p:txBody>
            <a:bodyPr wrap="none" anchor="t" anchorCtr="0">
              <a:spAutoFit/>
            </a:bodyPr>
            <a:p>
              <a:pPr eaLnBrk="0" hangingPunct="0">
                <a:buFont typeface="Wingdings" panose="05000000000000000000" pitchFamily="2" charset="2"/>
              </a:pPr>
              <a:r>
                <a:rPr lang="zh-CN" altLang="en-US" sz="2400" dirty="0">
                  <a:solidFill>
                    <a:srgbClr val="660066"/>
                  </a:solidFill>
                  <a:latin typeface="Times New Roman" panose="02020603050405020304" pitchFamily="18" charset="0"/>
                  <a:ea typeface="黑体" panose="02010609060101010101" pitchFamily="49" charset="-122"/>
                </a:rPr>
                <a:t>保留进位位。</a:t>
              </a:r>
              <a:endParaRPr lang="zh-CN" altLang="en-US" sz="2400" dirty="0">
                <a:solidFill>
                  <a:srgbClr val="660066"/>
                </a:solidFill>
                <a:latin typeface="Times New Roman" panose="02020603050405020304" pitchFamily="18" charset="0"/>
                <a:ea typeface="黑体" panose="02010609060101010101" pitchFamily="49" charset="-122"/>
              </a:endParaRPr>
            </a:p>
          </p:txBody>
        </p:sp>
        <p:sp>
          <p:nvSpPr>
            <p:cNvPr id="58385" name="Rectangle 21"/>
            <p:cNvSpPr/>
            <p:nvPr/>
          </p:nvSpPr>
          <p:spPr>
            <a:xfrm>
              <a:off x="375" y="1143"/>
              <a:ext cx="347" cy="311"/>
            </a:xfrm>
            <a:prstGeom prst="rect">
              <a:avLst/>
            </a:prstGeom>
            <a:noFill/>
            <a:ln w="28575" cap="flat" cmpd="sng">
              <a:solidFill>
                <a:srgbClr val="CC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5" name="Group 24"/>
          <p:cNvGrpSpPr/>
          <p:nvPr/>
        </p:nvGrpSpPr>
        <p:grpSpPr>
          <a:xfrm>
            <a:off x="215900" y="4456113"/>
            <a:ext cx="7874000" cy="892175"/>
            <a:chOff x="136" y="2807"/>
            <a:chExt cx="4960" cy="562"/>
          </a:xfrm>
        </p:grpSpPr>
        <p:sp>
          <p:nvSpPr>
            <p:cNvPr id="58387" name="Line 10"/>
            <p:cNvSpPr/>
            <p:nvPr/>
          </p:nvSpPr>
          <p:spPr>
            <a:xfrm>
              <a:off x="136" y="3160"/>
              <a:ext cx="232" cy="0"/>
            </a:xfrm>
            <a:prstGeom prst="line">
              <a:avLst/>
            </a:prstGeom>
            <a:ln w="9525" cap="flat" cmpd="sng">
              <a:solidFill>
                <a:schemeClr val="tx1"/>
              </a:solidFill>
              <a:prstDash val="solid"/>
              <a:round/>
              <a:headEnd type="none" w="med" len="med"/>
              <a:tailEnd type="triangle" w="med" len="med"/>
            </a:ln>
          </p:spPr>
        </p:sp>
        <p:sp>
          <p:nvSpPr>
            <p:cNvPr id="58388" name="Rectangle 15"/>
            <p:cNvSpPr/>
            <p:nvPr/>
          </p:nvSpPr>
          <p:spPr>
            <a:xfrm>
              <a:off x="2445" y="2846"/>
              <a:ext cx="2651" cy="523"/>
            </a:xfrm>
            <a:prstGeom prst="rect">
              <a:avLst/>
            </a:prstGeom>
            <a:noFill/>
            <a:ln w="12700">
              <a:noFill/>
            </a:ln>
          </p:spPr>
          <p:txBody>
            <a:bodyPr anchor="t" anchorCtr="0">
              <a:spAutoFit/>
            </a:bodyPr>
            <a:p>
              <a:pPr eaLnBrk="0" hangingPunct="0">
                <a:buFont typeface="Wingdings" panose="05000000000000000000" pitchFamily="2" charset="2"/>
              </a:pPr>
              <a:r>
                <a:rPr lang="zh-CN" altLang="en-US" sz="2400" dirty="0">
                  <a:solidFill>
                    <a:srgbClr val="660066"/>
                  </a:solidFill>
                  <a:latin typeface="Times New Roman" panose="02020603050405020304" pitchFamily="18" charset="0"/>
                  <a:ea typeface="黑体" panose="02010609060101010101" pitchFamily="49" charset="-122"/>
                </a:rPr>
                <a:t>右移时进位、部分积和剩余乘数一起进行</a:t>
              </a:r>
              <a:r>
                <a:rPr lang="zh-CN" altLang="en-US" sz="2400" dirty="0">
                  <a:solidFill>
                    <a:srgbClr val="CC0000"/>
                  </a:solidFill>
                  <a:latin typeface="Times New Roman" panose="02020603050405020304" pitchFamily="18" charset="0"/>
                  <a:ea typeface="黑体" panose="02010609060101010101" pitchFamily="49" charset="-122"/>
                </a:rPr>
                <a:t>逻辑右移</a:t>
              </a:r>
              <a:r>
                <a:rPr lang="zh-CN" altLang="en-US" sz="2400" dirty="0">
                  <a:solidFill>
                    <a:srgbClr val="660066"/>
                  </a:solidFill>
                  <a:latin typeface="Times New Roman" panose="02020603050405020304" pitchFamily="18" charset="0"/>
                  <a:ea typeface="黑体" panose="02010609060101010101" pitchFamily="49" charset="-122"/>
                </a:rPr>
                <a:t>。</a:t>
              </a:r>
              <a:endParaRPr lang="zh-CN" altLang="en-US" sz="2400" dirty="0">
                <a:solidFill>
                  <a:srgbClr val="660066"/>
                </a:solidFill>
                <a:latin typeface="Times New Roman" panose="02020603050405020304" pitchFamily="18" charset="0"/>
                <a:ea typeface="黑体" panose="02010609060101010101" pitchFamily="49" charset="-122"/>
              </a:endParaRPr>
            </a:p>
          </p:txBody>
        </p:sp>
        <p:sp>
          <p:nvSpPr>
            <p:cNvPr id="58389" name="Rectangle 23"/>
            <p:cNvSpPr/>
            <p:nvPr/>
          </p:nvSpPr>
          <p:spPr>
            <a:xfrm>
              <a:off x="439" y="2807"/>
              <a:ext cx="1390" cy="466"/>
            </a:xfrm>
            <a:prstGeom prst="rect">
              <a:avLst/>
            </a:prstGeom>
            <a:noFill/>
            <a:ln w="28575" cap="flat" cmpd="sng">
              <a:solidFill>
                <a:srgbClr val="CC0000"/>
              </a:solidFill>
              <a:prstDash val="sysDot"/>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grpSp>
      <p:sp>
        <p:nvSpPr>
          <p:cNvPr id="209945" name="Text Box 25"/>
          <p:cNvSpPr txBox="1"/>
          <p:nvPr/>
        </p:nvSpPr>
        <p:spPr>
          <a:xfrm>
            <a:off x="3775075" y="5441950"/>
            <a:ext cx="4699000" cy="427038"/>
          </a:xfrm>
          <a:prstGeom prst="rect">
            <a:avLst/>
          </a:prstGeom>
          <a:noFill/>
          <a:ln w="12700">
            <a:noFill/>
          </a:ln>
        </p:spPr>
        <p:txBody>
          <a:bodyPr anchor="t" anchorCtr="0">
            <a:spAutoFit/>
          </a:bodyPr>
          <a:p>
            <a:pPr eaLnBrk="0" hangingPunct="0">
              <a:spcBef>
                <a:spcPct val="50000"/>
              </a:spcBef>
            </a:pPr>
            <a:r>
              <a:rPr lang="zh-CN" altLang="en-US" sz="2200" dirty="0">
                <a:solidFill>
                  <a:srgbClr val="CC0000"/>
                </a:solidFill>
                <a:latin typeface="Arial" panose="020B0604020202020204" pitchFamily="34" charset="0"/>
                <a:ea typeface="黑体" panose="02010609060101010101" pitchFamily="49" charset="-122"/>
              </a:rPr>
              <a:t>验证：</a:t>
            </a:r>
            <a:r>
              <a:rPr lang="en-US" altLang="zh-CN" sz="2200" dirty="0">
                <a:solidFill>
                  <a:srgbClr val="CC0000"/>
                </a:solidFill>
                <a:latin typeface="Arial" panose="020B0604020202020204" pitchFamily="34" charset="0"/>
                <a:ea typeface="黑体" panose="02010609060101010101" pitchFamily="49" charset="-122"/>
              </a:rPr>
              <a:t>x=14, y=13, z=x*y=182</a:t>
            </a:r>
            <a:endParaRPr lang="en-US" altLang="zh-CN" sz="2200" dirty="0">
              <a:solidFill>
                <a:srgbClr val="CC0000"/>
              </a:solidFill>
              <a:latin typeface="Arial" panose="020B0604020202020204" pitchFamily="34" charset="0"/>
              <a:ea typeface="黑体" panose="02010609060101010101" pitchFamily="49" charset="-122"/>
            </a:endParaRPr>
          </a:p>
        </p:txBody>
      </p:sp>
      <p:sp>
        <p:nvSpPr>
          <p:cNvPr id="24" name="Text Box 25"/>
          <p:cNvSpPr txBox="1"/>
          <p:nvPr/>
        </p:nvSpPr>
        <p:spPr>
          <a:xfrm>
            <a:off x="3817938" y="5854700"/>
            <a:ext cx="4411662" cy="762000"/>
          </a:xfrm>
          <a:prstGeom prst="rect">
            <a:avLst/>
          </a:prstGeom>
          <a:noFill/>
          <a:ln w="12700">
            <a:noFill/>
          </a:ln>
        </p:spPr>
        <p:txBody>
          <a:bodyPr anchor="t" anchorCtr="0">
            <a:spAutoFit/>
          </a:bodyPr>
          <a:p>
            <a:pPr eaLnBrk="0" hangingPunct="0">
              <a:spcBef>
                <a:spcPct val="50000"/>
              </a:spcBef>
            </a:pPr>
            <a:r>
              <a:rPr lang="zh-CN" altLang="en-US" sz="2200" dirty="0">
                <a:solidFill>
                  <a:srgbClr val="CC0000"/>
                </a:solidFill>
                <a:latin typeface="Arial" panose="020B0604020202020204" pitchFamily="34" charset="0"/>
                <a:ea typeface="黑体" panose="02010609060101010101" pitchFamily="49" charset="-122"/>
              </a:rPr>
              <a:t>当</a:t>
            </a:r>
            <a:r>
              <a:rPr lang="en-US" altLang="zh-CN" sz="2200" dirty="0">
                <a:solidFill>
                  <a:srgbClr val="CC0000"/>
                </a:solidFill>
                <a:latin typeface="Arial" panose="020B0604020202020204" pitchFamily="34" charset="0"/>
                <a:ea typeface="黑体" panose="02010609060101010101" pitchFamily="49" charset="-122"/>
              </a:rPr>
              <a:t>z</a:t>
            </a:r>
            <a:r>
              <a:rPr lang="zh-CN" altLang="en-US" sz="2200" dirty="0">
                <a:solidFill>
                  <a:srgbClr val="CC0000"/>
                </a:solidFill>
                <a:latin typeface="Arial" panose="020B0604020202020204" pitchFamily="34" charset="0"/>
                <a:ea typeface="黑体" panose="02010609060101010101" pitchFamily="49" charset="-122"/>
              </a:rPr>
              <a:t>取</a:t>
            </a:r>
            <a:r>
              <a:rPr lang="en-US" altLang="zh-CN" sz="2200" dirty="0">
                <a:solidFill>
                  <a:srgbClr val="CC0000"/>
                </a:solidFill>
                <a:latin typeface="Arial" panose="020B0604020202020204" pitchFamily="34" charset="0"/>
                <a:ea typeface="黑体" panose="02010609060101010101" pitchFamily="49" charset="-122"/>
              </a:rPr>
              <a:t>4</a:t>
            </a:r>
            <a:r>
              <a:rPr lang="zh-CN" altLang="en-US" sz="2200" dirty="0">
                <a:solidFill>
                  <a:srgbClr val="CC0000"/>
                </a:solidFill>
                <a:latin typeface="Arial" panose="020B0604020202020204" pitchFamily="34" charset="0"/>
                <a:ea typeface="黑体" panose="02010609060101010101" pitchFamily="49" charset="-122"/>
              </a:rPr>
              <a:t>位时，结果发生溢出，因为高</a:t>
            </a:r>
            <a:r>
              <a:rPr lang="en-US" altLang="zh-CN" sz="2200" dirty="0">
                <a:solidFill>
                  <a:srgbClr val="CC0000"/>
                </a:solidFill>
                <a:latin typeface="Arial" panose="020B0604020202020204" pitchFamily="34" charset="0"/>
                <a:ea typeface="黑体" panose="02010609060101010101" pitchFamily="49" charset="-122"/>
              </a:rPr>
              <a:t>4</a:t>
            </a:r>
            <a:r>
              <a:rPr lang="zh-CN" altLang="en-US" sz="2200" dirty="0">
                <a:solidFill>
                  <a:srgbClr val="CC0000"/>
                </a:solidFill>
                <a:latin typeface="Arial" panose="020B0604020202020204" pitchFamily="34" charset="0"/>
                <a:ea typeface="黑体" panose="02010609060101010101" pitchFamily="49" charset="-122"/>
              </a:rPr>
              <a:t>位不为全</a:t>
            </a:r>
            <a:r>
              <a:rPr lang="en-US" altLang="zh-CN" sz="2200" dirty="0">
                <a:solidFill>
                  <a:srgbClr val="CC0000"/>
                </a:solidFill>
                <a:latin typeface="Arial" panose="020B0604020202020204" pitchFamily="34" charset="0"/>
                <a:ea typeface="黑体" panose="02010609060101010101" pitchFamily="49" charset="-122"/>
              </a:rPr>
              <a:t>0</a:t>
            </a:r>
            <a:r>
              <a:rPr lang="zh-CN" altLang="en-US" sz="2200" dirty="0">
                <a:solidFill>
                  <a:srgbClr val="CC0000"/>
                </a:solidFill>
                <a:latin typeface="Arial" panose="020B0604020202020204" pitchFamily="34" charset="0"/>
                <a:ea typeface="黑体" panose="02010609060101010101" pitchFamily="49" charset="-122"/>
              </a:rPr>
              <a:t>！</a:t>
            </a:r>
            <a:endParaRPr lang="en-US" altLang="zh-CN" sz="2200" dirty="0">
              <a:solidFill>
                <a:srgbClr val="CC000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9945"/>
                                        </p:tgtEl>
                                        <p:attrNameLst>
                                          <p:attrName>style.visibility</p:attrName>
                                        </p:attrNameLst>
                                      </p:cBhvr>
                                      <p:to>
                                        <p:strVal val="visible"/>
                                      </p:to>
                                    </p:set>
                                    <p:animEffect transition="in" filter="blinds(horizontal)">
                                      <p:cBhvr>
                                        <p:cTn id="27" dur="500"/>
                                        <p:tgtEl>
                                          <p:spTgt spid="20994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linds(horizontal)">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45" grpId="0"/>
      <p:bldP spid="2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4"/>
          <p:cNvSpPr>
            <a:spLocks noGrp="1"/>
          </p:cNvSpPr>
          <p:nvPr>
            <p:ph type="title"/>
          </p:nvPr>
        </p:nvSpPr>
        <p:spPr>
          <a:xfrm>
            <a:off x="533400" y="177800"/>
            <a:ext cx="8305800" cy="481013"/>
          </a:xfrm>
          <a:ln/>
        </p:spPr>
        <p:txBody>
          <a:bodyPr vert="horz" wrap="square" lIns="63500" tIns="25400" rIns="63500" bIns="25400" anchor="ctr" anchorCtr="0">
            <a:spAutoFit/>
          </a:bodyPr>
          <a:p>
            <a:r>
              <a:rPr lang="zh-CN" altLang="en-US" dirty="0">
                <a:ea typeface="宋体" panose="02010600030101010101" pitchFamily="2" charset="-122"/>
              </a:rPr>
              <a:t>原码乘法算法</a:t>
            </a:r>
            <a:endParaRPr lang="zh-CN" altLang="en-US" dirty="0">
              <a:ea typeface="宋体" panose="02010600030101010101" pitchFamily="2" charset="-122"/>
            </a:endParaRPr>
          </a:p>
        </p:txBody>
      </p:sp>
      <p:sp>
        <p:nvSpPr>
          <p:cNvPr id="210949" name="Rectangle 5"/>
          <p:cNvSpPr>
            <a:spLocks noGrp="1"/>
          </p:cNvSpPr>
          <p:nvPr>
            <p:ph idx="1"/>
          </p:nvPr>
        </p:nvSpPr>
        <p:spPr>
          <a:xfrm>
            <a:off x="476250" y="742950"/>
            <a:ext cx="8305800" cy="787400"/>
          </a:xfrm>
          <a:ln/>
        </p:spPr>
        <p:txBody>
          <a:bodyPr vert="horz" wrap="square" lIns="63500" tIns="25400" rIns="63500" bIns="25400" anchor="t" anchorCtr="0">
            <a:spAutoFit/>
          </a:bodyPr>
          <a:p>
            <a:pPr marL="342900" indent="-342900">
              <a:spcBef>
                <a:spcPct val="0"/>
              </a:spcBef>
            </a:pPr>
            <a:r>
              <a:rPr lang="zh-CN" altLang="en-US" dirty="0">
                <a:ea typeface="黑体" panose="02010609060101010101" pitchFamily="49" charset="-122"/>
              </a:rPr>
              <a:t>用于浮点数尾数乘运算</a:t>
            </a:r>
            <a:endParaRPr lang="zh-CN" altLang="en-US" dirty="0">
              <a:ea typeface="黑体" panose="02010609060101010101" pitchFamily="49" charset="-122"/>
            </a:endParaRPr>
          </a:p>
          <a:p>
            <a:pPr marL="342900" indent="-342900">
              <a:spcBef>
                <a:spcPct val="0"/>
              </a:spcBef>
            </a:pPr>
            <a:r>
              <a:rPr lang="zh-CN" altLang="en-US" dirty="0">
                <a:ea typeface="黑体" panose="02010609060101010101" pitchFamily="49" charset="-122"/>
              </a:rPr>
              <a:t>符号与数值分开处理：积符异或得到，数值用无符号乘法运算</a:t>
            </a:r>
            <a:endParaRPr lang="zh-CN" altLang="en-US" dirty="0">
              <a:ea typeface="黑体" panose="02010609060101010101" pitchFamily="49" charset="-122"/>
            </a:endParaRPr>
          </a:p>
        </p:txBody>
      </p:sp>
      <p:sp>
        <p:nvSpPr>
          <p:cNvPr id="210950" name="Rectangle 6"/>
          <p:cNvSpPr/>
          <p:nvPr/>
        </p:nvSpPr>
        <p:spPr>
          <a:xfrm>
            <a:off x="549275" y="1574800"/>
            <a:ext cx="7427913" cy="427038"/>
          </a:xfrm>
          <a:prstGeom prst="rect">
            <a:avLst/>
          </a:prstGeom>
          <a:noFill/>
          <a:ln w="12700">
            <a:noFill/>
          </a:ln>
        </p:spPr>
        <p:txBody>
          <a:bodyPr anchor="t" anchorCtr="0">
            <a:spAutoFit/>
          </a:bodyPr>
          <a:p>
            <a:pPr eaLnBrk="0" hangingPunct="0"/>
            <a:r>
              <a:rPr lang="zh-CN" altLang="en-US" sz="2200" dirty="0">
                <a:latin typeface="Times New Roman" panose="02020603050405020304" pitchFamily="18" charset="0"/>
                <a:ea typeface="黑体" panose="02010609060101010101" pitchFamily="49" charset="-122"/>
              </a:rPr>
              <a:t>例：设</a:t>
            </a:r>
            <a:r>
              <a:rPr lang="en-US" altLang="zh-CN" sz="2200" dirty="0">
                <a:latin typeface="Times New Roman" panose="02020603050405020304" pitchFamily="18" charset="0"/>
                <a:ea typeface="黑体" panose="02010609060101010101" pitchFamily="49" charset="-122"/>
              </a:rPr>
              <a:t>[x]</a:t>
            </a:r>
            <a:r>
              <a:rPr lang="zh-CN" altLang="en-US" sz="2200" baseline="-25000" dirty="0">
                <a:latin typeface="Times New Roman" panose="02020603050405020304" pitchFamily="18" charset="0"/>
                <a:ea typeface="黑体" panose="02010609060101010101" pitchFamily="49" charset="-122"/>
              </a:rPr>
              <a:t>原</a:t>
            </a:r>
            <a:r>
              <a:rPr lang="en-US" altLang="zh-CN" sz="2200" dirty="0">
                <a:latin typeface="Times New Roman" panose="02020603050405020304" pitchFamily="18" charset="0"/>
                <a:ea typeface="黑体" panose="02010609060101010101" pitchFamily="49" charset="-122"/>
              </a:rPr>
              <a:t>=0.1110 </a:t>
            </a:r>
            <a:r>
              <a:rPr lang="zh-CN" altLang="en-US" sz="2200" dirty="0">
                <a:latin typeface="Times New Roman" panose="02020603050405020304" pitchFamily="18" charset="0"/>
                <a:ea typeface="黑体" panose="02010609060101010101" pitchFamily="49" charset="-122"/>
              </a:rPr>
              <a:t>，</a:t>
            </a:r>
            <a:r>
              <a:rPr lang="en-US" altLang="zh-CN" sz="2200" dirty="0">
                <a:latin typeface="Times New Roman" panose="02020603050405020304" pitchFamily="18" charset="0"/>
                <a:ea typeface="黑体" panose="02010609060101010101" pitchFamily="49" charset="-122"/>
              </a:rPr>
              <a:t>[y]</a:t>
            </a:r>
            <a:r>
              <a:rPr lang="zh-CN" altLang="en-US" sz="2200" baseline="-25000" dirty="0">
                <a:latin typeface="Times New Roman" panose="02020603050405020304" pitchFamily="18" charset="0"/>
                <a:ea typeface="黑体" panose="02010609060101010101" pitchFamily="49" charset="-122"/>
              </a:rPr>
              <a:t>原</a:t>
            </a:r>
            <a:r>
              <a:rPr lang="en-US" altLang="zh-CN" sz="2200" dirty="0">
                <a:latin typeface="Times New Roman" panose="02020603050405020304" pitchFamily="18" charset="0"/>
                <a:ea typeface="黑体" panose="02010609060101010101" pitchFamily="49" charset="-122"/>
              </a:rPr>
              <a:t>=1.1101</a:t>
            </a:r>
            <a:r>
              <a:rPr lang="zh-CN" altLang="en-US" sz="2200" dirty="0">
                <a:latin typeface="Times New Roman" panose="02020603050405020304" pitchFamily="18" charset="0"/>
                <a:ea typeface="黑体" panose="02010609060101010101" pitchFamily="49" charset="-122"/>
              </a:rPr>
              <a:t>，计算 </a:t>
            </a:r>
            <a:r>
              <a:rPr lang="en-US" altLang="zh-CN" sz="2200" dirty="0">
                <a:latin typeface="Times New Roman" panose="02020603050405020304" pitchFamily="18" charset="0"/>
                <a:ea typeface="黑体" panose="02010609060101010101" pitchFamily="49" charset="-122"/>
              </a:rPr>
              <a:t>[x×y]</a:t>
            </a:r>
            <a:r>
              <a:rPr lang="zh-CN" altLang="en-US" sz="2200" baseline="-25000" dirty="0">
                <a:latin typeface="Times New Roman" panose="02020603050405020304" pitchFamily="18" charset="0"/>
                <a:ea typeface="黑体" panose="02010609060101010101" pitchFamily="49" charset="-122"/>
              </a:rPr>
              <a:t>原</a:t>
            </a:r>
            <a:r>
              <a:rPr lang="zh-CN" altLang="en-US" sz="2200" dirty="0">
                <a:latin typeface="Times New Roman" panose="02020603050405020304" pitchFamily="18" charset="0"/>
                <a:ea typeface="黑体" panose="02010609060101010101" pitchFamily="49" charset="-122"/>
              </a:rPr>
              <a:t>  </a:t>
            </a:r>
            <a:endParaRPr lang="zh-CN" altLang="en-US" sz="2200" dirty="0">
              <a:latin typeface="Times New Roman" panose="02020603050405020304" pitchFamily="18" charset="0"/>
              <a:ea typeface="黑体" panose="02010609060101010101" pitchFamily="49" charset="-122"/>
            </a:endParaRPr>
          </a:p>
        </p:txBody>
      </p:sp>
      <p:sp>
        <p:nvSpPr>
          <p:cNvPr id="210952" name="Rectangle 8"/>
          <p:cNvSpPr/>
          <p:nvPr/>
        </p:nvSpPr>
        <p:spPr>
          <a:xfrm>
            <a:off x="631825" y="1962150"/>
            <a:ext cx="8351838" cy="879475"/>
          </a:xfrm>
          <a:prstGeom prst="rect">
            <a:avLst/>
          </a:prstGeom>
          <a:noFill/>
          <a:ln w="12700">
            <a:noFill/>
          </a:ln>
        </p:spPr>
        <p:txBody>
          <a:bodyPr anchor="t" anchorCtr="0">
            <a:spAutoFit/>
          </a:bodyPr>
          <a:p>
            <a:pPr eaLnBrk="0" hangingPunct="0">
              <a:lnSpc>
                <a:spcPct val="110000"/>
              </a:lnSpc>
              <a:spcBef>
                <a:spcPct val="15000"/>
              </a:spcBef>
            </a:pPr>
            <a:r>
              <a:rPr lang="zh-CN" altLang="en-US" sz="2200" dirty="0">
                <a:solidFill>
                  <a:schemeClr val="accent2"/>
                </a:solidFill>
                <a:latin typeface="Times New Roman" panose="02020603050405020304" pitchFamily="18" charset="0"/>
                <a:ea typeface="黑体" panose="02010609060101010101" pitchFamily="49" charset="-122"/>
              </a:rPr>
              <a:t>解：数值部分用无符号数乘法算法计算：</a:t>
            </a:r>
            <a:r>
              <a:rPr lang="en-US" altLang="zh-CN" sz="2200" dirty="0">
                <a:solidFill>
                  <a:schemeClr val="accent2"/>
                </a:solidFill>
                <a:latin typeface="Times New Roman" panose="02020603050405020304" pitchFamily="18" charset="0"/>
                <a:ea typeface="黑体" panose="02010609060101010101" pitchFamily="49" charset="-122"/>
              </a:rPr>
              <a:t>1110×1101= 1011 0110 </a:t>
            </a:r>
            <a:endParaRPr lang="en-US" altLang="zh-CN" sz="2200" dirty="0">
              <a:solidFill>
                <a:schemeClr val="accent2"/>
              </a:solidFill>
              <a:latin typeface="Times New Roman" panose="02020603050405020304" pitchFamily="18" charset="0"/>
              <a:ea typeface="黑体" panose="02010609060101010101" pitchFamily="49" charset="-122"/>
            </a:endParaRPr>
          </a:p>
          <a:p>
            <a:pPr eaLnBrk="0" hangingPunct="0">
              <a:lnSpc>
                <a:spcPct val="110000"/>
              </a:lnSpc>
              <a:spcBef>
                <a:spcPct val="15000"/>
              </a:spcBef>
            </a:pPr>
            <a:r>
              <a:rPr lang="zh-CN" altLang="en-US" sz="2200" dirty="0">
                <a:solidFill>
                  <a:schemeClr val="accent2"/>
                </a:solidFill>
                <a:latin typeface="Times New Roman" panose="02020603050405020304" pitchFamily="18" charset="0"/>
                <a:ea typeface="黑体" panose="02010609060101010101" pitchFamily="49" charset="-122"/>
              </a:rPr>
              <a:t>          符号位：</a:t>
            </a:r>
            <a:r>
              <a:rPr lang="en-US" altLang="zh-CN" sz="2200" dirty="0">
                <a:solidFill>
                  <a:schemeClr val="accent2"/>
                </a:solidFill>
                <a:latin typeface="Times New Roman" panose="02020603050405020304" pitchFamily="18" charset="0"/>
                <a:ea typeface="黑体" panose="02010609060101010101" pitchFamily="49" charset="-122"/>
              </a:rPr>
              <a:t>0 </a:t>
            </a:r>
            <a:r>
              <a:rPr lang="en-US" altLang="zh-CN" sz="2200" dirty="0">
                <a:solidFill>
                  <a:schemeClr val="accent2"/>
                </a:solidFill>
                <a:latin typeface="Times New Roman" panose="02020603050405020304" pitchFamily="18" charset="0"/>
                <a:ea typeface="黑体" panose="02010609060101010101" pitchFamily="49" charset="-122"/>
                <a:sym typeface="Symbol" panose="05050102010706020507" pitchFamily="18" charset="2"/>
              </a:rPr>
              <a:t></a:t>
            </a:r>
            <a:r>
              <a:rPr lang="en-US" altLang="zh-CN" sz="2200" dirty="0">
                <a:solidFill>
                  <a:schemeClr val="accent2"/>
                </a:solidFill>
                <a:latin typeface="Times New Roman" panose="02020603050405020304" pitchFamily="18" charset="0"/>
                <a:ea typeface="黑体" panose="02010609060101010101" pitchFamily="49" charset="-122"/>
              </a:rPr>
              <a:t> 1=1</a:t>
            </a:r>
            <a:r>
              <a:rPr lang="zh-CN" altLang="en-US" sz="2200" dirty="0">
                <a:solidFill>
                  <a:schemeClr val="accent2"/>
                </a:solidFill>
                <a:latin typeface="Times New Roman" panose="02020603050405020304" pitchFamily="18" charset="0"/>
                <a:ea typeface="黑体" panose="02010609060101010101" pitchFamily="49" charset="-122"/>
              </a:rPr>
              <a:t>，所以： </a:t>
            </a:r>
            <a:r>
              <a:rPr lang="en-US" altLang="zh-CN" sz="2200" dirty="0">
                <a:solidFill>
                  <a:schemeClr val="accent2"/>
                </a:solidFill>
                <a:latin typeface="Times New Roman" panose="02020603050405020304" pitchFamily="18" charset="0"/>
                <a:ea typeface="黑体" panose="02010609060101010101" pitchFamily="49" charset="-122"/>
              </a:rPr>
              <a:t>[x×y]</a:t>
            </a:r>
            <a:r>
              <a:rPr lang="zh-CN" altLang="en-US" sz="2200" baseline="-25000" dirty="0">
                <a:solidFill>
                  <a:schemeClr val="accent2"/>
                </a:solidFill>
                <a:latin typeface="Times New Roman" panose="02020603050405020304" pitchFamily="18" charset="0"/>
                <a:ea typeface="黑体" panose="02010609060101010101" pitchFamily="49" charset="-122"/>
              </a:rPr>
              <a:t>原</a:t>
            </a:r>
            <a:r>
              <a:rPr lang="en-US" altLang="zh-CN" sz="2200" dirty="0">
                <a:solidFill>
                  <a:schemeClr val="accent2"/>
                </a:solidFill>
                <a:latin typeface="Times New Roman" panose="02020603050405020304" pitchFamily="18" charset="0"/>
                <a:ea typeface="黑体" panose="02010609060101010101" pitchFamily="49" charset="-122"/>
              </a:rPr>
              <a:t>=1. 10110110</a:t>
            </a:r>
            <a:endParaRPr lang="zh-CN" altLang="en-US" sz="2200" dirty="0">
              <a:solidFill>
                <a:schemeClr val="accent2"/>
              </a:solidFill>
              <a:latin typeface="Times New Roman" panose="02020603050405020304" pitchFamily="18" charset="0"/>
              <a:ea typeface="黑体" panose="02010609060101010101" pitchFamily="49" charset="-122"/>
            </a:endParaRPr>
          </a:p>
        </p:txBody>
      </p:sp>
      <p:sp>
        <p:nvSpPr>
          <p:cNvPr id="210953" name="Text Box 9"/>
          <p:cNvSpPr txBox="1"/>
          <p:nvPr/>
        </p:nvSpPr>
        <p:spPr>
          <a:xfrm>
            <a:off x="238125" y="2867025"/>
            <a:ext cx="8201025" cy="803275"/>
          </a:xfrm>
          <a:prstGeom prst="rect">
            <a:avLst/>
          </a:prstGeom>
          <a:noFill/>
          <a:ln w="12700">
            <a:noFill/>
          </a:ln>
        </p:spPr>
        <p:txBody>
          <a:bodyPr anchor="t" anchorCtr="0">
            <a:spAutoFit/>
          </a:bodyPr>
          <a:p>
            <a:pPr eaLnBrk="0" hangingPunct="0">
              <a:spcBef>
                <a:spcPct val="10000"/>
              </a:spcBef>
            </a:pPr>
            <a:r>
              <a:rPr lang="zh-CN" altLang="en-US" sz="2200" dirty="0">
                <a:solidFill>
                  <a:srgbClr val="3333FF"/>
                </a:solidFill>
                <a:latin typeface="黑体" panose="02010609060101010101" pitchFamily="49" charset="-122"/>
                <a:ea typeface="黑体" panose="02010609060101010101" pitchFamily="49" charset="-122"/>
              </a:rPr>
              <a:t>一位乘法：</a:t>
            </a:r>
            <a:r>
              <a:rPr lang="zh-CN" altLang="en-US" sz="2200" dirty="0">
                <a:solidFill>
                  <a:srgbClr val="FF0066"/>
                </a:solidFill>
                <a:latin typeface="黑体" panose="02010609060101010101" pitchFamily="49" charset="-122"/>
                <a:ea typeface="黑体" panose="02010609060101010101" pitchFamily="49" charset="-122"/>
              </a:rPr>
              <a:t>每次只取乘数的一位判断，需</a:t>
            </a:r>
            <a:r>
              <a:rPr lang="en-US" altLang="zh-CN" sz="2200" dirty="0">
                <a:solidFill>
                  <a:srgbClr val="FF0066"/>
                </a:solidFill>
                <a:latin typeface="黑体" panose="02010609060101010101" pitchFamily="49" charset="-122"/>
                <a:ea typeface="黑体" panose="02010609060101010101" pitchFamily="49" charset="-122"/>
              </a:rPr>
              <a:t>n</a:t>
            </a:r>
            <a:r>
              <a:rPr lang="zh-CN" altLang="en-US" sz="2200" dirty="0">
                <a:solidFill>
                  <a:srgbClr val="FF0066"/>
                </a:solidFill>
                <a:latin typeface="黑体" panose="02010609060101010101" pitchFamily="49" charset="-122"/>
                <a:ea typeface="黑体" panose="02010609060101010101" pitchFamily="49" charset="-122"/>
              </a:rPr>
              <a:t>次循环，速度慢。</a:t>
            </a:r>
            <a:endParaRPr lang="zh-CN" altLang="en-US" sz="2200" dirty="0">
              <a:solidFill>
                <a:srgbClr val="FF0066"/>
              </a:solidFill>
              <a:latin typeface="黑体" panose="02010609060101010101" pitchFamily="49" charset="-122"/>
              <a:ea typeface="黑体" panose="02010609060101010101" pitchFamily="49" charset="-122"/>
            </a:endParaRPr>
          </a:p>
          <a:p>
            <a:pPr eaLnBrk="0" hangingPunct="0">
              <a:spcBef>
                <a:spcPct val="10000"/>
              </a:spcBef>
            </a:pPr>
            <a:r>
              <a:rPr lang="zh-CN" altLang="en-US" sz="2200" dirty="0">
                <a:solidFill>
                  <a:srgbClr val="3333FF"/>
                </a:solidFill>
                <a:latin typeface="黑体" panose="02010609060101010101" pitchFamily="49" charset="-122"/>
                <a:ea typeface="黑体" panose="02010609060101010101" pitchFamily="49" charset="-122"/>
              </a:rPr>
              <a:t>两位乘法：</a:t>
            </a:r>
            <a:r>
              <a:rPr lang="zh-CN" altLang="en-US" sz="2200" dirty="0">
                <a:solidFill>
                  <a:srgbClr val="FF0066"/>
                </a:solidFill>
                <a:latin typeface="黑体" panose="02010609060101010101" pitchFamily="49" charset="-122"/>
                <a:ea typeface="黑体" panose="02010609060101010101" pitchFamily="49" charset="-122"/>
              </a:rPr>
              <a:t>每次取乘数两位判断，只需</a:t>
            </a:r>
            <a:r>
              <a:rPr lang="en-US" altLang="zh-CN" sz="2200" dirty="0">
                <a:solidFill>
                  <a:srgbClr val="FF0066"/>
                </a:solidFill>
                <a:latin typeface="黑体" panose="02010609060101010101" pitchFamily="49" charset="-122"/>
                <a:ea typeface="黑体" panose="02010609060101010101" pitchFamily="49" charset="-122"/>
              </a:rPr>
              <a:t>n/2</a:t>
            </a:r>
            <a:r>
              <a:rPr lang="zh-CN" altLang="en-US" sz="2200" dirty="0">
                <a:solidFill>
                  <a:srgbClr val="FF0066"/>
                </a:solidFill>
                <a:latin typeface="黑体" panose="02010609060101010101" pitchFamily="49" charset="-122"/>
                <a:ea typeface="黑体" panose="02010609060101010101" pitchFamily="49" charset="-122"/>
              </a:rPr>
              <a:t>次循环，快一倍。</a:t>
            </a:r>
            <a:endParaRPr lang="zh-CN" altLang="en-US" sz="2200" dirty="0">
              <a:solidFill>
                <a:srgbClr val="FF0066"/>
              </a:solidFill>
              <a:latin typeface="黑体" panose="02010609060101010101" pitchFamily="49" charset="-122"/>
              <a:ea typeface="黑体" panose="02010609060101010101" pitchFamily="49" charset="-122"/>
            </a:endParaRPr>
          </a:p>
        </p:txBody>
      </p:sp>
      <p:sp>
        <p:nvSpPr>
          <p:cNvPr id="210955" name="Rectangle 11"/>
          <p:cNvSpPr/>
          <p:nvPr/>
        </p:nvSpPr>
        <p:spPr>
          <a:xfrm>
            <a:off x="158750" y="4187825"/>
            <a:ext cx="4219575" cy="423863"/>
          </a:xfrm>
          <a:prstGeom prst="rect">
            <a:avLst/>
          </a:prstGeom>
          <a:noFill/>
          <a:ln w="12700">
            <a:noFill/>
          </a:ln>
        </p:spPr>
        <p:txBody>
          <a:bodyPr lIns="63500" tIns="25400" rIns="63500" bIns="25400" anchor="t" anchorCtr="0">
            <a:spAutoFit/>
          </a:bodyPr>
          <a:p>
            <a:pPr marL="203200" indent="-203200" eaLnBrk="0" hangingPunct="0">
              <a:lnSpc>
                <a:spcPct val="110000"/>
              </a:lnSpc>
              <a:spcBef>
                <a:spcPct val="20000"/>
              </a:spcBef>
              <a:buClr>
                <a:schemeClr val="tx1"/>
              </a:buClr>
              <a:buSzPct val="60000"/>
              <a:buFont typeface="Wingdings" panose="05000000000000000000" pitchFamily="2" charset="2"/>
              <a:buChar char="u"/>
            </a:pPr>
            <a:r>
              <a:rPr lang="zh-CN" altLang="en-US" sz="2200" dirty="0">
                <a:latin typeface="Arial" panose="020B0604020202020204" pitchFamily="34" charset="0"/>
                <a:ea typeface="黑体" panose="02010609060101010101" pitchFamily="49" charset="-122"/>
              </a:rPr>
              <a:t>两位乘法递推公式：</a:t>
            </a:r>
            <a:endParaRPr lang="zh-CN" altLang="en-US" sz="2200" dirty="0">
              <a:latin typeface="Arial" panose="020B0604020202020204" pitchFamily="34" charset="0"/>
              <a:ea typeface="黑体" panose="02010609060101010101" pitchFamily="49" charset="-122"/>
            </a:endParaRPr>
          </a:p>
        </p:txBody>
      </p:sp>
      <p:sp>
        <p:nvSpPr>
          <p:cNvPr id="210956" name="Rectangle 12"/>
          <p:cNvSpPr/>
          <p:nvPr/>
        </p:nvSpPr>
        <p:spPr>
          <a:xfrm>
            <a:off x="60325" y="4611688"/>
            <a:ext cx="4494213" cy="1754187"/>
          </a:xfrm>
          <a:prstGeom prst="rect">
            <a:avLst/>
          </a:prstGeom>
          <a:noFill/>
          <a:ln w="12700">
            <a:noFill/>
          </a:ln>
        </p:spPr>
        <p:txBody>
          <a:bodyPr anchor="ctr" anchorCtr="0">
            <a:spAutoFit/>
          </a:bodyPr>
          <a:p>
            <a:pPr indent="85725" eaLnBrk="0" hangingPunct="0"/>
            <a:r>
              <a:rPr lang="en-US" altLang="zh-CN" sz="1800" dirty="0">
                <a:solidFill>
                  <a:srgbClr val="3333FF"/>
                </a:solidFill>
                <a:latin typeface="微软雅黑" panose="020B0503020204020204" pitchFamily="34" charset="-122"/>
                <a:ea typeface="微软雅黑" panose="020B0503020204020204" pitchFamily="34" charset="-122"/>
              </a:rPr>
              <a:t>00</a:t>
            </a:r>
            <a:r>
              <a:rPr lang="zh-CN" altLang="en-US" sz="1800" dirty="0">
                <a:solidFill>
                  <a:srgbClr val="3333FF"/>
                </a:solidFill>
                <a:latin typeface="微软雅黑" panose="020B0503020204020204" pitchFamily="34" charset="-122"/>
                <a:ea typeface="微软雅黑" panose="020B0503020204020204" pitchFamily="34" charset="-122"/>
              </a:rPr>
              <a:t>：</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i+1</a:t>
            </a:r>
            <a:r>
              <a:rPr lang="en-US" altLang="zh-CN" sz="1800" dirty="0">
                <a:solidFill>
                  <a:srgbClr val="3333FF"/>
                </a:solidFill>
                <a:latin typeface="微软雅黑" panose="020B0503020204020204" pitchFamily="34" charset="-122"/>
                <a:ea typeface="微软雅黑" panose="020B0503020204020204" pitchFamily="34" charset="-122"/>
              </a:rPr>
              <a:t>=2</a:t>
            </a:r>
            <a:r>
              <a:rPr lang="en-US" altLang="zh-CN" sz="1800" baseline="30000" dirty="0">
                <a:solidFill>
                  <a:srgbClr val="3333FF"/>
                </a:solidFill>
                <a:latin typeface="微软雅黑" panose="020B0503020204020204" pitchFamily="34" charset="-122"/>
                <a:ea typeface="微软雅黑" panose="020B0503020204020204" pitchFamily="34" charset="-122"/>
              </a:rPr>
              <a:t>-2</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a:t>
            </a:r>
            <a:r>
              <a:rPr lang="en-US" altLang="zh-CN" sz="1800" dirty="0">
                <a:solidFill>
                  <a:srgbClr val="3333FF"/>
                </a:solidFill>
                <a:latin typeface="微软雅黑" panose="020B0503020204020204" pitchFamily="34" charset="-122"/>
                <a:ea typeface="微软雅黑" panose="020B0503020204020204" pitchFamily="34" charset="-122"/>
              </a:rPr>
              <a:t> </a:t>
            </a:r>
            <a:endParaRPr lang="en-US" altLang="zh-CN" sz="1800" dirty="0">
              <a:solidFill>
                <a:srgbClr val="3333FF"/>
              </a:solidFill>
              <a:latin typeface="微软雅黑" panose="020B0503020204020204" pitchFamily="34" charset="-122"/>
              <a:ea typeface="微软雅黑" panose="020B0503020204020204" pitchFamily="34" charset="-122"/>
            </a:endParaRPr>
          </a:p>
          <a:p>
            <a:pPr indent="85725" eaLnBrk="0" hangingPunct="0"/>
            <a:r>
              <a:rPr lang="en-US" altLang="zh-CN" sz="1800" dirty="0">
                <a:solidFill>
                  <a:srgbClr val="3333FF"/>
                </a:solidFill>
                <a:latin typeface="微软雅黑" panose="020B0503020204020204" pitchFamily="34" charset="-122"/>
                <a:ea typeface="微软雅黑" panose="020B0503020204020204" pitchFamily="34" charset="-122"/>
              </a:rPr>
              <a:t>01</a:t>
            </a:r>
            <a:r>
              <a:rPr lang="zh-CN" altLang="en-US" sz="1800" dirty="0">
                <a:solidFill>
                  <a:srgbClr val="3333FF"/>
                </a:solidFill>
                <a:latin typeface="微软雅黑" panose="020B0503020204020204" pitchFamily="34" charset="-122"/>
                <a:ea typeface="微软雅黑" panose="020B0503020204020204" pitchFamily="34" charset="-122"/>
              </a:rPr>
              <a:t>：</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i+1</a:t>
            </a:r>
            <a:r>
              <a:rPr lang="en-US" altLang="zh-CN" sz="1800" dirty="0">
                <a:solidFill>
                  <a:srgbClr val="3333FF"/>
                </a:solidFill>
                <a:latin typeface="微软雅黑" panose="020B0503020204020204" pitchFamily="34" charset="-122"/>
                <a:ea typeface="微软雅黑" panose="020B0503020204020204" pitchFamily="34" charset="-122"/>
              </a:rPr>
              <a:t>=2</a:t>
            </a:r>
            <a:r>
              <a:rPr lang="en-US" altLang="zh-CN" sz="1800" baseline="30000" dirty="0">
                <a:solidFill>
                  <a:srgbClr val="3333FF"/>
                </a:solidFill>
                <a:latin typeface="微软雅黑" panose="020B0503020204020204" pitchFamily="34" charset="-122"/>
                <a:ea typeface="微软雅黑" panose="020B0503020204020204" pitchFamily="34" charset="-122"/>
              </a:rPr>
              <a:t>-2</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a:t>
            </a:r>
            <a:r>
              <a:rPr lang="en-US" altLang="zh-CN" sz="1800" dirty="0">
                <a:solidFill>
                  <a:srgbClr val="3333FF"/>
                </a:solidFill>
                <a:latin typeface="微软雅黑" panose="020B0503020204020204" pitchFamily="34" charset="-122"/>
                <a:ea typeface="微软雅黑" panose="020B0503020204020204" pitchFamily="34" charset="-122"/>
              </a:rPr>
              <a:t>+X)</a:t>
            </a:r>
            <a:endParaRPr lang="en-US" altLang="zh-CN" sz="1800" dirty="0">
              <a:solidFill>
                <a:srgbClr val="3333FF"/>
              </a:solidFill>
              <a:latin typeface="微软雅黑" panose="020B0503020204020204" pitchFamily="34" charset="-122"/>
              <a:ea typeface="微软雅黑" panose="020B0503020204020204" pitchFamily="34" charset="-122"/>
            </a:endParaRPr>
          </a:p>
          <a:p>
            <a:pPr indent="85725" eaLnBrk="0" hangingPunct="0"/>
            <a:r>
              <a:rPr lang="en-US" altLang="zh-CN" sz="1800" dirty="0">
                <a:solidFill>
                  <a:srgbClr val="3333FF"/>
                </a:solidFill>
                <a:latin typeface="微软雅黑" panose="020B0503020204020204" pitchFamily="34" charset="-122"/>
                <a:ea typeface="微软雅黑" panose="020B0503020204020204" pitchFamily="34" charset="-122"/>
              </a:rPr>
              <a:t>10</a:t>
            </a:r>
            <a:r>
              <a:rPr lang="zh-CN" altLang="en-US" sz="1800" dirty="0">
                <a:solidFill>
                  <a:srgbClr val="3333FF"/>
                </a:solidFill>
                <a:latin typeface="微软雅黑" panose="020B0503020204020204" pitchFamily="34" charset="-122"/>
                <a:ea typeface="微软雅黑" panose="020B0503020204020204" pitchFamily="34" charset="-122"/>
              </a:rPr>
              <a:t>：</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i+1</a:t>
            </a:r>
            <a:r>
              <a:rPr lang="en-US" altLang="zh-CN" sz="1800" dirty="0">
                <a:solidFill>
                  <a:srgbClr val="3333FF"/>
                </a:solidFill>
                <a:latin typeface="微软雅黑" panose="020B0503020204020204" pitchFamily="34" charset="-122"/>
                <a:ea typeface="微软雅黑" panose="020B0503020204020204" pitchFamily="34" charset="-122"/>
              </a:rPr>
              <a:t>=2</a:t>
            </a:r>
            <a:r>
              <a:rPr lang="en-US" altLang="zh-CN" sz="1800" baseline="30000" dirty="0">
                <a:solidFill>
                  <a:srgbClr val="3333FF"/>
                </a:solidFill>
                <a:latin typeface="微软雅黑" panose="020B0503020204020204" pitchFamily="34" charset="-122"/>
                <a:ea typeface="微软雅黑" panose="020B0503020204020204" pitchFamily="34" charset="-122"/>
              </a:rPr>
              <a:t>-2</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a:t>
            </a:r>
            <a:r>
              <a:rPr lang="en-US" altLang="zh-CN" sz="1800" dirty="0">
                <a:solidFill>
                  <a:srgbClr val="3333FF"/>
                </a:solidFill>
                <a:latin typeface="微软雅黑" panose="020B0503020204020204" pitchFamily="34" charset="-122"/>
                <a:ea typeface="微软雅黑" panose="020B0503020204020204" pitchFamily="34" charset="-122"/>
              </a:rPr>
              <a:t>+2X)</a:t>
            </a:r>
            <a:endParaRPr lang="en-US" altLang="zh-CN" sz="1800" dirty="0">
              <a:solidFill>
                <a:srgbClr val="3333FF"/>
              </a:solidFill>
              <a:latin typeface="微软雅黑" panose="020B0503020204020204" pitchFamily="34" charset="-122"/>
              <a:ea typeface="微软雅黑" panose="020B0503020204020204" pitchFamily="34" charset="-122"/>
            </a:endParaRPr>
          </a:p>
          <a:p>
            <a:pPr indent="85725" eaLnBrk="0" hangingPunct="0"/>
            <a:r>
              <a:rPr lang="en-US" altLang="zh-CN" sz="1800" dirty="0">
                <a:solidFill>
                  <a:srgbClr val="3333FF"/>
                </a:solidFill>
                <a:latin typeface="微软雅黑" panose="020B0503020204020204" pitchFamily="34" charset="-122"/>
                <a:ea typeface="微软雅黑" panose="020B0503020204020204" pitchFamily="34" charset="-122"/>
              </a:rPr>
              <a:t>11</a:t>
            </a:r>
            <a:r>
              <a:rPr lang="zh-CN" altLang="en-US" sz="1800" dirty="0">
                <a:solidFill>
                  <a:srgbClr val="3333FF"/>
                </a:solidFill>
                <a:latin typeface="微软雅黑" panose="020B0503020204020204" pitchFamily="34" charset="-122"/>
                <a:ea typeface="微软雅黑" panose="020B0503020204020204" pitchFamily="34" charset="-122"/>
              </a:rPr>
              <a:t>：</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i+1</a:t>
            </a:r>
            <a:r>
              <a:rPr lang="en-US" altLang="zh-CN" sz="1800" dirty="0">
                <a:solidFill>
                  <a:srgbClr val="3333FF"/>
                </a:solidFill>
                <a:latin typeface="微软雅黑" panose="020B0503020204020204" pitchFamily="34" charset="-122"/>
                <a:ea typeface="微软雅黑" panose="020B0503020204020204" pitchFamily="34" charset="-122"/>
              </a:rPr>
              <a:t>=2</a:t>
            </a:r>
            <a:r>
              <a:rPr lang="en-US" altLang="zh-CN" sz="1800" baseline="30000" dirty="0">
                <a:solidFill>
                  <a:srgbClr val="3333FF"/>
                </a:solidFill>
                <a:latin typeface="微软雅黑" panose="020B0503020204020204" pitchFamily="34" charset="-122"/>
                <a:ea typeface="微软雅黑" panose="020B0503020204020204" pitchFamily="34" charset="-122"/>
              </a:rPr>
              <a:t>-2</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a:t>
            </a:r>
            <a:r>
              <a:rPr lang="en-US" altLang="zh-CN" sz="1800" dirty="0">
                <a:solidFill>
                  <a:srgbClr val="3333FF"/>
                </a:solidFill>
                <a:latin typeface="微软雅黑" panose="020B0503020204020204" pitchFamily="34" charset="-122"/>
                <a:ea typeface="微软雅黑" panose="020B0503020204020204" pitchFamily="34" charset="-122"/>
              </a:rPr>
              <a:t>+3X)=2</a:t>
            </a:r>
            <a:r>
              <a:rPr lang="en-US" altLang="zh-CN" sz="1800" baseline="30000" dirty="0">
                <a:solidFill>
                  <a:srgbClr val="3333FF"/>
                </a:solidFill>
                <a:latin typeface="微软雅黑" panose="020B0503020204020204" pitchFamily="34" charset="-122"/>
                <a:ea typeface="微软雅黑" panose="020B0503020204020204" pitchFamily="34" charset="-122"/>
              </a:rPr>
              <a:t>-2</a:t>
            </a:r>
            <a:r>
              <a:rPr lang="en-US" altLang="zh-CN" sz="1800" dirty="0">
                <a:solidFill>
                  <a:srgbClr val="3333FF"/>
                </a:solidFill>
                <a:latin typeface="微软雅黑" panose="020B0503020204020204" pitchFamily="34" charset="-122"/>
                <a:ea typeface="微软雅黑" panose="020B0503020204020204" pitchFamily="34" charset="-122"/>
              </a:rPr>
              <a:t>(P</a:t>
            </a:r>
            <a:r>
              <a:rPr lang="en-US" altLang="zh-CN" sz="1800" baseline="-25000" dirty="0">
                <a:solidFill>
                  <a:srgbClr val="3333FF"/>
                </a:solidFill>
                <a:latin typeface="微软雅黑" panose="020B0503020204020204" pitchFamily="34" charset="-122"/>
                <a:ea typeface="微软雅黑" panose="020B0503020204020204" pitchFamily="34" charset="-122"/>
              </a:rPr>
              <a:t>i</a:t>
            </a:r>
            <a:r>
              <a:rPr lang="en-US" altLang="zh-CN" sz="1800" dirty="0">
                <a:solidFill>
                  <a:srgbClr val="3333FF"/>
                </a:solidFill>
                <a:latin typeface="微软雅黑" panose="020B0503020204020204" pitchFamily="34" charset="-122"/>
                <a:ea typeface="微软雅黑" panose="020B0503020204020204" pitchFamily="34" charset="-122"/>
              </a:rPr>
              <a:t>+4X-X)</a:t>
            </a:r>
            <a:endParaRPr lang="en-US" altLang="zh-CN" sz="1800" dirty="0">
              <a:solidFill>
                <a:srgbClr val="3333FF"/>
              </a:solidFill>
              <a:latin typeface="微软雅黑" panose="020B0503020204020204" pitchFamily="34" charset="-122"/>
              <a:ea typeface="微软雅黑" panose="020B0503020204020204" pitchFamily="34" charset="-122"/>
            </a:endParaRPr>
          </a:p>
          <a:p>
            <a:pPr indent="85725" eaLnBrk="0" hangingPunct="0"/>
            <a:r>
              <a:rPr lang="en-US" altLang="zh-CN" sz="1800" dirty="0">
                <a:solidFill>
                  <a:srgbClr val="3333FF"/>
                </a:solidFill>
                <a:latin typeface="微软雅黑" panose="020B0503020204020204" pitchFamily="34" charset="-122"/>
                <a:ea typeface="微软雅黑" panose="020B0503020204020204" pitchFamily="34" charset="-122"/>
              </a:rPr>
              <a:t>              =2</a:t>
            </a:r>
            <a:r>
              <a:rPr lang="en-US" altLang="zh-CN" sz="1800" baseline="30000" dirty="0">
                <a:solidFill>
                  <a:srgbClr val="3333FF"/>
                </a:solidFill>
                <a:latin typeface="微软雅黑" panose="020B0503020204020204" pitchFamily="34" charset="-122"/>
                <a:ea typeface="微软雅黑" panose="020B0503020204020204" pitchFamily="34" charset="-122"/>
              </a:rPr>
              <a:t>-2</a:t>
            </a:r>
            <a:r>
              <a:rPr lang="en-US" altLang="zh-CN" sz="1800" dirty="0">
                <a:solidFill>
                  <a:srgbClr val="3333FF"/>
                </a:solidFill>
                <a:latin typeface="微软雅黑" panose="020B0503020204020204" pitchFamily="34" charset="-122"/>
                <a:ea typeface="微软雅黑" panose="020B0503020204020204" pitchFamily="34" charset="-122"/>
              </a:rPr>
              <a:t>(Pi-X)+X</a:t>
            </a:r>
            <a:endParaRPr lang="en-US" altLang="zh-CN" sz="1800" dirty="0">
              <a:solidFill>
                <a:srgbClr val="3333FF"/>
              </a:solidFill>
              <a:latin typeface="微软雅黑" panose="020B0503020204020204" pitchFamily="34" charset="-122"/>
              <a:ea typeface="微软雅黑" panose="020B0503020204020204" pitchFamily="34" charset="-122"/>
            </a:endParaRPr>
          </a:p>
          <a:p>
            <a:pPr indent="85725" eaLnBrk="0" hangingPunct="0"/>
            <a:endParaRPr lang="en-US" altLang="zh-CN" sz="1800" dirty="0">
              <a:solidFill>
                <a:srgbClr val="3333FF"/>
              </a:solidFill>
              <a:latin typeface="Arial" panose="020B0604020202020204" pitchFamily="34" charset="0"/>
            </a:endParaRPr>
          </a:p>
        </p:txBody>
      </p:sp>
      <p:sp>
        <p:nvSpPr>
          <p:cNvPr id="59400" name="Rectangle 14"/>
          <p:cNvSpPr/>
          <p:nvPr/>
        </p:nvSpPr>
        <p:spPr>
          <a:xfrm>
            <a:off x="0" y="2697163"/>
            <a:ext cx="9144000" cy="0"/>
          </a:xfrm>
          <a:prstGeom prst="rect">
            <a:avLst/>
          </a:prstGeom>
          <a:noFill/>
          <a:ln w="12700">
            <a:noFill/>
          </a:ln>
        </p:spPr>
        <p:txBody>
          <a:bodyPr wrap="none" anchor="ctr" anchorCtr="0">
            <a:spAutoFit/>
          </a:bodyPr>
          <a:p>
            <a:pPr eaLnBrk="0" hangingPunct="0"/>
            <a:endParaRPr lang="zh-CN" altLang="en-US" sz="2400" b="0" dirty="0">
              <a:latin typeface="Times New Roman" panose="02020603050405020304" pitchFamily="18" charset="0"/>
              <a:ea typeface="宋体" panose="02010600030101010101" pitchFamily="2" charset="-122"/>
            </a:endParaRPr>
          </a:p>
        </p:txBody>
      </p:sp>
      <p:graphicFrame>
        <p:nvGraphicFramePr>
          <p:cNvPr id="211039" name="Group 95"/>
          <p:cNvGraphicFramePr>
            <a:graphicFrameLocks noGrp="1"/>
          </p:cNvGraphicFramePr>
          <p:nvPr/>
        </p:nvGraphicFramePr>
        <p:xfrm>
          <a:off x="4117975" y="3805238"/>
          <a:ext cx="4749800" cy="2212975"/>
        </p:xfrm>
        <a:graphic>
          <a:graphicData uri="http://schemas.openxmlformats.org/drawingml/2006/table">
            <a:tbl>
              <a:tblPr/>
              <a:tblGrid>
                <a:gridCol w="1453883"/>
                <a:gridCol w="1762392"/>
                <a:gridCol w="1533525"/>
              </a:tblGrid>
              <a:tr h="32072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y</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i-1</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a:t>
                      </a:r>
                      <a:r>
                        <a:rPr kumimoji="0" lang="en-US" altLang="zh-CN" sz="1400" b="1" i="0" u="none" strike="noStrike" cap="none" normalizeH="0" baseline="0" dirty="0" err="1">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y</a:t>
                      </a:r>
                      <a:r>
                        <a:rPr kumimoji="0" lang="en-US" altLang="zh-CN" sz="1400" b="1" i="0" u="none" strike="noStrike" cap="none" normalizeH="0" baseline="-30000" dirty="0" err="1">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T="45710" marB="4571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操    作</a:t>
                      </a:r>
                      <a:endParaRPr kumimoji="0" lang="zh-CN" altLang="en-US"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T="45710" marB="4571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迭 代 公 式</a:t>
                      </a:r>
                      <a:endParaRPr kumimoji="0" lang="zh-CN" altLang="en-US" sz="1400" b="1"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T="45710" marB="4571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92254">
                <a:tc>
                  <a:txBody>
                    <a:bodyPr/>
                    <a:lstStyle/>
                    <a:p>
                      <a:pPr marL="0" marR="0" lvl="0" indent="17145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0    0     0                 </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17145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0    0     1</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17145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0    1     0 </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17145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0    1     1                 </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17145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1    0     0</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17145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1    0     1 </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17145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1    1     0                 </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17145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1    1     1</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395605"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0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rPr>
                        <a:t></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endParaRPr>
                    </a:p>
                    <a:p>
                      <a:pPr marL="0" marR="0" lvl="0" indent="395605"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rPr>
                        <a:t>+X    0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endParaRPr>
                    </a:p>
                    <a:p>
                      <a:pPr marL="0" marR="0" lvl="0" indent="395605"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rPr>
                        <a:t>+X    0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endParaRPr>
                    </a:p>
                    <a:p>
                      <a:pPr marL="0" marR="0" lvl="0" indent="395605"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rPr>
                        <a:t>+2X   0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endParaRPr>
                    </a:p>
                    <a:p>
                      <a:pPr marL="0" marR="0" lvl="0" indent="395605"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rPr>
                        <a:t>+2X   0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endParaRPr>
                    </a:p>
                    <a:p>
                      <a:pPr marL="0" marR="0" lvl="0" indent="395605"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rPr>
                        <a:t>–X    1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endParaRPr>
                    </a:p>
                    <a:p>
                      <a:pPr marL="0" marR="0" lvl="0" indent="395605"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rPr>
                        <a:t>–X    1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endParaRPr>
                    </a:p>
                    <a:p>
                      <a:pPr marL="0" marR="0" lvl="0" indent="395605"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rPr>
                        <a:t>         1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T</a:t>
                      </a:r>
                      <a:r>
                        <a:rPr kumimoji="0" lang="en-US" altLang="zh-CN" sz="14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a:t>
                      </a:r>
                      <a:endParaRPr kumimoji="0" lang="en-US" altLang="zh-CN" sz="14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sym typeface="Symbol" panose="05050102010706020507" pitchFamily="18" charset="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41783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(P</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41783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(P</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 X)</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41783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(P</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 X)</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41783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(P</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+ 2X)</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41783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(P</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+ 2X)</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41783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(P</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 X)</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41783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(P</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 X)</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p>
                      <a:pPr marL="0" marR="0" lvl="0" indent="41783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-2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(P</a:t>
                      </a:r>
                      <a:r>
                        <a:rPr kumimoji="0" lang="en-US" altLang="zh-CN" sz="14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i</a:t>
                      </a:r>
                      <a:r>
                        <a:rPr kumimoji="0" lang="en-US" altLang="zh-CN" sz="14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 </a:t>
                      </a:r>
                      <a:r>
                        <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rPr>
                        <a:t>)</a:t>
                      </a:r>
                      <a:endParaRPr kumimoji="0" lang="en-US" altLang="zh-CN" sz="14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11016" name="Text Box 72"/>
          <p:cNvSpPr txBox="1"/>
          <p:nvPr/>
        </p:nvSpPr>
        <p:spPr>
          <a:xfrm>
            <a:off x="3800475" y="6124575"/>
            <a:ext cx="5067300" cy="708025"/>
          </a:xfrm>
          <a:prstGeom prst="rect">
            <a:avLst/>
          </a:prstGeom>
          <a:noFill/>
          <a:ln w="12700">
            <a:noFill/>
          </a:ln>
        </p:spPr>
        <p:txBody>
          <a:bodyPr anchor="t" anchorCtr="0">
            <a:spAutoFit/>
          </a:bodyPr>
          <a:p>
            <a:pPr eaLnBrk="0" hangingPunct="0"/>
            <a:r>
              <a:rPr lang="en-US" altLang="zh-CN" sz="2000" dirty="0">
                <a:solidFill>
                  <a:srgbClr val="CC0000"/>
                </a:solidFill>
                <a:latin typeface="微软雅黑" panose="020B0503020204020204" pitchFamily="34" charset="-122"/>
                <a:ea typeface="微软雅黑" panose="020B0503020204020204" pitchFamily="34" charset="-122"/>
              </a:rPr>
              <a:t>T</a:t>
            </a:r>
            <a:r>
              <a:rPr lang="zh-CN" altLang="en-US" sz="2000" dirty="0">
                <a:solidFill>
                  <a:srgbClr val="CC0000"/>
                </a:solidFill>
                <a:latin typeface="微软雅黑" panose="020B0503020204020204" pitchFamily="34" charset="-122"/>
                <a:ea typeface="微软雅黑" panose="020B0503020204020204" pitchFamily="34" charset="-122"/>
              </a:rPr>
              <a:t>触发器用来记录下次是否要执行“</a:t>
            </a:r>
            <a:r>
              <a:rPr lang="en-US" altLang="zh-CN" sz="2000" dirty="0">
                <a:solidFill>
                  <a:srgbClr val="CC0000"/>
                </a:solidFill>
                <a:latin typeface="微软雅黑" panose="020B0503020204020204" pitchFamily="34" charset="-122"/>
                <a:ea typeface="微软雅黑" panose="020B0503020204020204" pitchFamily="34" charset="-122"/>
              </a:rPr>
              <a:t>+X”</a:t>
            </a:r>
            <a:endParaRPr lang="en-US" altLang="zh-CN" sz="2000" dirty="0">
              <a:solidFill>
                <a:srgbClr val="CC0000"/>
              </a:solidFill>
              <a:latin typeface="微软雅黑" panose="020B0503020204020204" pitchFamily="34" charset="-122"/>
              <a:ea typeface="微软雅黑" panose="020B0503020204020204" pitchFamily="34" charset="-122"/>
            </a:endParaRPr>
          </a:p>
          <a:p>
            <a:pPr eaLnBrk="0" hangingPunct="0"/>
            <a:r>
              <a:rPr lang="en-US" altLang="zh-CN" sz="2000" dirty="0">
                <a:solidFill>
                  <a:srgbClr val="CC0000"/>
                </a:solidFill>
                <a:latin typeface="微软雅黑" panose="020B0503020204020204" pitchFamily="34" charset="-122"/>
                <a:ea typeface="微软雅黑" panose="020B0503020204020204" pitchFamily="34" charset="-122"/>
                <a:sym typeface="Symbol" panose="05050102010706020507" pitchFamily="18" charset="2"/>
              </a:rPr>
              <a:t>“–X”</a:t>
            </a:r>
            <a:r>
              <a:rPr lang="zh-CN" altLang="en-US" sz="2000" dirty="0">
                <a:solidFill>
                  <a:srgbClr val="CC0000"/>
                </a:solidFill>
                <a:latin typeface="微软雅黑" panose="020B0503020204020204" pitchFamily="34" charset="-122"/>
                <a:ea typeface="微软雅黑" panose="020B0503020204020204" pitchFamily="34" charset="-122"/>
                <a:sym typeface="Symbol" panose="05050102010706020507" pitchFamily="18" charset="2"/>
              </a:rPr>
              <a:t>运算用“</a:t>
            </a:r>
            <a:r>
              <a:rPr lang="en-US" altLang="zh-CN" sz="2000" dirty="0">
                <a:solidFill>
                  <a:srgbClr val="CC0000"/>
                </a:solidFill>
                <a:latin typeface="微软雅黑" panose="020B0503020204020204" pitchFamily="34" charset="-122"/>
                <a:ea typeface="微软雅黑" panose="020B0503020204020204" pitchFamily="34" charset="-122"/>
                <a:sym typeface="Symbol" panose="05050102010706020507" pitchFamily="18" charset="2"/>
              </a:rPr>
              <a:t>+[-X]</a:t>
            </a:r>
            <a:r>
              <a:rPr lang="zh-CN" altLang="en-US" sz="2000" baseline="-25000" dirty="0">
                <a:solidFill>
                  <a:srgbClr val="CC0000"/>
                </a:solidFill>
                <a:latin typeface="微软雅黑" panose="020B0503020204020204" pitchFamily="34" charset="-122"/>
                <a:ea typeface="微软雅黑" panose="020B0503020204020204" pitchFamily="34" charset="-122"/>
                <a:sym typeface="Symbol" panose="05050102010706020507" pitchFamily="18" charset="2"/>
              </a:rPr>
              <a:t>补</a:t>
            </a:r>
            <a:r>
              <a:rPr lang="zh-CN" altLang="en-US" sz="2000" dirty="0">
                <a:solidFill>
                  <a:srgbClr val="CC0000"/>
                </a:solidFill>
                <a:latin typeface="微软雅黑" panose="020B0503020204020204" pitchFamily="34" charset="-122"/>
                <a:ea typeface="微软雅黑" panose="020B0503020204020204" pitchFamily="34" charset="-122"/>
                <a:sym typeface="Symbol" panose="05050102010706020507" pitchFamily="18" charset="2"/>
              </a:rPr>
              <a:t>”实现！</a:t>
            </a:r>
            <a:endParaRPr lang="zh-CN" altLang="en-US" sz="2000" dirty="0">
              <a:solidFill>
                <a:srgbClr val="CC0000"/>
              </a:solidFill>
              <a:latin typeface="微软雅黑" panose="020B0503020204020204" pitchFamily="34" charset="-122"/>
              <a:ea typeface="微软雅黑" panose="020B0503020204020204" pitchFamily="34" charset="-122"/>
              <a:sym typeface="Symbol" panose="05050102010706020507" pitchFamily="18" charset="2"/>
            </a:endParaRPr>
          </a:p>
        </p:txBody>
      </p:sp>
      <p:sp>
        <p:nvSpPr>
          <p:cNvPr id="211031" name="Text Box 87"/>
          <p:cNvSpPr txBox="1"/>
          <p:nvPr/>
        </p:nvSpPr>
        <p:spPr>
          <a:xfrm>
            <a:off x="203200" y="6078538"/>
            <a:ext cx="3471863" cy="708025"/>
          </a:xfrm>
          <a:prstGeom prst="rect">
            <a:avLst/>
          </a:prstGeom>
          <a:noFill/>
          <a:ln w="12700">
            <a:noFill/>
          </a:ln>
        </p:spPr>
        <p:txBody>
          <a:bodyPr anchor="t" anchorCtr="0">
            <a:spAutoFit/>
          </a:bodyPr>
          <a:p>
            <a:pPr eaLnBrk="0" hangingPunct="0"/>
            <a:r>
              <a:rPr lang="en-US" altLang="zh-CN" sz="2000" dirty="0">
                <a:solidFill>
                  <a:srgbClr val="CC3300"/>
                </a:solidFill>
                <a:latin typeface="微软雅黑" panose="020B0503020204020204" pitchFamily="34" charset="-122"/>
                <a:ea typeface="微软雅黑" panose="020B0503020204020204" pitchFamily="34" charset="-122"/>
              </a:rPr>
              <a:t>3X</a:t>
            </a:r>
            <a:r>
              <a:rPr lang="zh-CN" altLang="en-US" sz="2000" dirty="0">
                <a:solidFill>
                  <a:srgbClr val="CC3300"/>
                </a:solidFill>
                <a:latin typeface="微软雅黑" panose="020B0503020204020204" pitchFamily="34" charset="-122"/>
                <a:ea typeface="微软雅黑" panose="020B0503020204020204" pitchFamily="34" charset="-122"/>
              </a:rPr>
              <a:t>时，本次</a:t>
            </a:r>
            <a:r>
              <a:rPr lang="en-US" altLang="zh-CN" sz="2000" dirty="0">
                <a:solidFill>
                  <a:srgbClr val="CC3300"/>
                </a:solidFill>
                <a:latin typeface="微软雅黑" panose="020B0503020204020204" pitchFamily="34" charset="-122"/>
                <a:ea typeface="微软雅黑" panose="020B0503020204020204" pitchFamily="34" charset="-122"/>
              </a:rPr>
              <a:t>-X</a:t>
            </a:r>
            <a:r>
              <a:rPr lang="zh-CN" altLang="en-US" sz="2000" dirty="0">
                <a:solidFill>
                  <a:srgbClr val="CC3300"/>
                </a:solidFill>
                <a:latin typeface="微软雅黑" panose="020B0503020204020204" pitchFamily="34" charset="-122"/>
                <a:ea typeface="微软雅黑" panose="020B0503020204020204" pitchFamily="34" charset="-122"/>
              </a:rPr>
              <a:t>，下次</a:t>
            </a:r>
            <a:r>
              <a:rPr lang="en-US" altLang="zh-CN" sz="2000" dirty="0">
                <a:solidFill>
                  <a:srgbClr val="CC3300"/>
                </a:solidFill>
                <a:latin typeface="微软雅黑" panose="020B0503020204020204" pitchFamily="34" charset="-122"/>
                <a:ea typeface="微软雅黑" panose="020B0503020204020204" pitchFamily="34" charset="-122"/>
              </a:rPr>
              <a:t>+X</a:t>
            </a:r>
            <a:r>
              <a:rPr lang="zh-CN" altLang="en-US" sz="2000" dirty="0">
                <a:solidFill>
                  <a:srgbClr val="CC3300"/>
                </a:solidFill>
                <a:latin typeface="微软雅黑" panose="020B0503020204020204" pitchFamily="34" charset="-122"/>
                <a:ea typeface="微软雅黑" panose="020B0503020204020204" pitchFamily="34" charset="-122"/>
              </a:rPr>
              <a:t>！</a:t>
            </a:r>
            <a:endParaRPr lang="en-US" altLang="zh-CN" sz="2000" dirty="0">
              <a:solidFill>
                <a:srgbClr val="CC3300"/>
              </a:solidFill>
              <a:latin typeface="微软雅黑" panose="020B0503020204020204" pitchFamily="34" charset="-122"/>
              <a:ea typeface="微软雅黑" panose="020B0503020204020204" pitchFamily="34" charset="-122"/>
            </a:endParaRPr>
          </a:p>
          <a:p>
            <a:pPr eaLnBrk="0" hangingPunct="0"/>
            <a:r>
              <a:rPr lang="zh-CN" altLang="en-US" sz="2000" dirty="0">
                <a:solidFill>
                  <a:srgbClr val="CC3300"/>
                </a:solidFill>
                <a:latin typeface="微软雅黑" panose="020B0503020204020204" pitchFamily="34" charset="-122"/>
                <a:ea typeface="微软雅黑" panose="020B0503020204020204" pitchFamily="34" charset="-122"/>
              </a:rPr>
              <a:t>部分积右移两位，相当于</a:t>
            </a:r>
            <a:r>
              <a:rPr lang="en-US" altLang="zh-CN" sz="2000" dirty="0">
                <a:solidFill>
                  <a:srgbClr val="CC3300"/>
                </a:solidFill>
                <a:latin typeface="微软雅黑" panose="020B0503020204020204" pitchFamily="34" charset="-122"/>
                <a:ea typeface="微软雅黑" panose="020B0503020204020204" pitchFamily="34" charset="-122"/>
              </a:rPr>
              <a:t>4X</a:t>
            </a:r>
            <a:endParaRPr lang="zh-CN" altLang="en-US" sz="2000" dirty="0">
              <a:solidFill>
                <a:srgbClr val="CC33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0949">
                                            <p:txEl>
                                              <p:charRg st="11" end="39"/>
                                            </p:txEl>
                                          </p:spTgt>
                                        </p:tgtEl>
                                        <p:attrNameLst>
                                          <p:attrName>style.visibility</p:attrName>
                                        </p:attrNameLst>
                                      </p:cBhvr>
                                      <p:to>
                                        <p:strVal val="visible"/>
                                      </p:to>
                                    </p:set>
                                    <p:animEffect transition="in" filter="blinds(horizontal)">
                                      <p:cBhvr>
                                        <p:cTn id="7" dur="500"/>
                                        <p:tgtEl>
                                          <p:spTgt spid="210949">
                                            <p:txEl>
                                              <p:charRg st="11"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0950"/>
                                        </p:tgtEl>
                                        <p:attrNameLst>
                                          <p:attrName>style.visibility</p:attrName>
                                        </p:attrNameLst>
                                      </p:cBhvr>
                                      <p:to>
                                        <p:strVal val="visible"/>
                                      </p:to>
                                    </p:set>
                                    <p:animEffect transition="in" filter="blinds(horizontal)">
                                      <p:cBhvr>
                                        <p:cTn id="12" dur="500"/>
                                        <p:tgtEl>
                                          <p:spTgt spid="21095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0952"/>
                                        </p:tgtEl>
                                        <p:attrNameLst>
                                          <p:attrName>style.visibility</p:attrName>
                                        </p:attrNameLst>
                                      </p:cBhvr>
                                      <p:to>
                                        <p:strVal val="visible"/>
                                      </p:to>
                                    </p:set>
                                    <p:animEffect transition="in" filter="blinds(horizontal)">
                                      <p:cBhvr>
                                        <p:cTn id="17" dur="500"/>
                                        <p:tgtEl>
                                          <p:spTgt spid="21095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0953">
                                            <p:txEl>
                                              <p:charRg st="0" end="28"/>
                                            </p:txEl>
                                          </p:spTgt>
                                        </p:tgtEl>
                                        <p:attrNameLst>
                                          <p:attrName>style.visibility</p:attrName>
                                        </p:attrNameLst>
                                      </p:cBhvr>
                                      <p:to>
                                        <p:strVal val="visible"/>
                                      </p:to>
                                    </p:set>
                                    <p:animEffect transition="in" filter="blinds(horizontal)">
                                      <p:cBhvr>
                                        <p:cTn id="22" dur="500"/>
                                        <p:tgtEl>
                                          <p:spTgt spid="210953">
                                            <p:txEl>
                                              <p:charRg st="0" end="2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0953">
                                            <p:txEl>
                                              <p:charRg st="28" end="57"/>
                                            </p:txEl>
                                          </p:spTgt>
                                        </p:tgtEl>
                                        <p:attrNameLst>
                                          <p:attrName>style.visibility</p:attrName>
                                        </p:attrNameLst>
                                      </p:cBhvr>
                                      <p:to>
                                        <p:strVal val="visible"/>
                                      </p:to>
                                    </p:set>
                                    <p:animEffect transition="in" filter="blinds(horizontal)">
                                      <p:cBhvr>
                                        <p:cTn id="27" dur="500"/>
                                        <p:tgtEl>
                                          <p:spTgt spid="210953">
                                            <p:txEl>
                                              <p:charRg st="28" end="5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0955"/>
                                        </p:tgtEl>
                                        <p:attrNameLst>
                                          <p:attrName>style.visibility</p:attrName>
                                        </p:attrNameLst>
                                      </p:cBhvr>
                                      <p:to>
                                        <p:strVal val="visible"/>
                                      </p:to>
                                    </p:set>
                                    <p:animEffect transition="in" filter="blinds(horizontal)">
                                      <p:cBhvr>
                                        <p:cTn id="32" dur="500"/>
                                        <p:tgtEl>
                                          <p:spTgt spid="21095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0956"/>
                                        </p:tgtEl>
                                        <p:attrNameLst>
                                          <p:attrName>style.visibility</p:attrName>
                                        </p:attrNameLst>
                                      </p:cBhvr>
                                      <p:to>
                                        <p:strVal val="visible"/>
                                      </p:to>
                                    </p:set>
                                    <p:animEffect transition="in" filter="blinds(horizontal)">
                                      <p:cBhvr>
                                        <p:cTn id="37" dur="500"/>
                                        <p:tgtEl>
                                          <p:spTgt spid="21095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11031"/>
                                        </p:tgtEl>
                                        <p:attrNameLst>
                                          <p:attrName>style.visibility</p:attrName>
                                        </p:attrNameLst>
                                      </p:cBhvr>
                                      <p:to>
                                        <p:strVal val="visible"/>
                                      </p:to>
                                    </p:set>
                                    <p:animEffect transition="in" filter="blinds(horizontal)">
                                      <p:cBhvr>
                                        <p:cTn id="42" dur="500"/>
                                        <p:tgtEl>
                                          <p:spTgt spid="21103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1016"/>
                                        </p:tgtEl>
                                        <p:attrNameLst>
                                          <p:attrName>style.visibility</p:attrName>
                                        </p:attrNameLst>
                                      </p:cBhvr>
                                      <p:to>
                                        <p:strVal val="visible"/>
                                      </p:to>
                                    </p:set>
                                    <p:animEffect transition="in" filter="blinds(horizontal)">
                                      <p:cBhvr>
                                        <p:cTn id="47" dur="500"/>
                                        <p:tgtEl>
                                          <p:spTgt spid="21101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1039"/>
                                        </p:tgtEl>
                                        <p:attrNameLst>
                                          <p:attrName>style.visibility</p:attrName>
                                        </p:attrNameLst>
                                      </p:cBhvr>
                                      <p:to>
                                        <p:strVal val="visible"/>
                                      </p:to>
                                    </p:set>
                                    <p:animEffect transition="in" filter="blinds(horizontal)">
                                      <p:cBhvr>
                                        <p:cTn id="52" dur="500"/>
                                        <p:tgtEl>
                                          <p:spTgt spid="211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50" grpId="0"/>
      <p:bldP spid="210952" grpId="0"/>
      <p:bldP spid="210953" grpId="0" build="allAtOnce"/>
      <p:bldP spid="210955" grpId="0"/>
      <p:bldP spid="210956" grpId="0"/>
      <p:bldP spid="211016" grpId="0"/>
      <p:bldP spid="2110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5"/>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原码两位乘法举例</a:t>
            </a:r>
            <a:endParaRPr lang="en-US" altLang="zh-CN" dirty="0">
              <a:ea typeface="宋体" panose="02010600030101010101" pitchFamily="2" charset="-122"/>
            </a:endParaRPr>
          </a:p>
        </p:txBody>
      </p:sp>
      <p:graphicFrame>
        <p:nvGraphicFramePr>
          <p:cNvPr id="60418" name="Object 4"/>
          <p:cNvGraphicFramePr>
            <a:graphicFrameLocks noGrp="1" noChangeAspect="1"/>
          </p:cNvGraphicFramePr>
          <p:nvPr>
            <p:ph idx="1"/>
          </p:nvPr>
        </p:nvGraphicFramePr>
        <p:xfrm>
          <a:off x="1727200" y="1473200"/>
          <a:ext cx="7416800" cy="5227638"/>
        </p:xfrm>
        <a:graphic>
          <a:graphicData uri="http://schemas.openxmlformats.org/presentationml/2006/ole">
            <mc:AlternateContent xmlns:mc="http://schemas.openxmlformats.org/markup-compatibility/2006">
              <mc:Choice xmlns:v="urn:schemas-microsoft-com:vml" Requires="v">
                <p:oleObj spid="_x0000_s3076" name="" r:id="rId1" imgW="5210175" imgH="3409950" progId="Paint.Picture">
                  <p:embed/>
                </p:oleObj>
              </mc:Choice>
              <mc:Fallback>
                <p:oleObj name="" r:id="rId1" imgW="5210175" imgH="3409950" progId="Paint.Picture">
                  <p:embed/>
                  <p:pic>
                    <p:nvPicPr>
                      <p:cNvPr id="0" name="图片 3075"/>
                      <p:cNvPicPr/>
                      <p:nvPr/>
                    </p:nvPicPr>
                    <p:blipFill>
                      <a:blip r:embed="rId2"/>
                      <a:stretch>
                        <a:fillRect/>
                      </a:stretch>
                    </p:blipFill>
                    <p:spPr>
                      <a:xfrm>
                        <a:off x="1727200" y="1473200"/>
                        <a:ext cx="7416800" cy="5227638"/>
                      </a:xfrm>
                      <a:prstGeom prst="rect">
                        <a:avLst/>
                      </a:prstGeom>
                      <a:noFill/>
                      <a:ln w="38100">
                        <a:miter/>
                      </a:ln>
                    </p:spPr>
                  </p:pic>
                </p:oleObj>
              </mc:Fallback>
            </mc:AlternateContent>
          </a:graphicData>
        </a:graphic>
      </p:graphicFrame>
      <p:sp>
        <p:nvSpPr>
          <p:cNvPr id="60419" name="Text Box 7"/>
          <p:cNvSpPr txBox="1"/>
          <p:nvPr/>
        </p:nvSpPr>
        <p:spPr>
          <a:xfrm>
            <a:off x="290513" y="674688"/>
            <a:ext cx="8650287" cy="869950"/>
          </a:xfrm>
          <a:prstGeom prst="rect">
            <a:avLst/>
          </a:prstGeom>
          <a:noFill/>
          <a:ln w="12700">
            <a:noFill/>
          </a:ln>
        </p:spPr>
        <p:txBody>
          <a:bodyPr anchor="t" anchorCtr="0">
            <a:spAutoFit/>
          </a:bodyPr>
          <a:p>
            <a:pPr eaLnBrk="0" hangingPunct="0">
              <a:lnSpc>
                <a:spcPct val="115000"/>
              </a:lnSpc>
              <a:spcBef>
                <a:spcPct val="25000"/>
              </a:spcBef>
            </a:pPr>
            <a:r>
              <a:rPr lang="zh-CN" altLang="en-US" sz="2000" dirty="0">
                <a:latin typeface="Arial" panose="020B0604020202020204" pitchFamily="34" charset="0"/>
                <a:ea typeface="黑体" panose="02010609060101010101" pitchFamily="49" charset="-122"/>
              </a:rPr>
              <a:t>已知 </a:t>
            </a:r>
            <a:r>
              <a:rPr lang="en-US" altLang="zh-CN" sz="2000" dirty="0">
                <a:latin typeface="Arial" panose="020B0604020202020204" pitchFamily="34" charset="0"/>
                <a:ea typeface="黑体" panose="02010609060101010101" pitchFamily="49" charset="-122"/>
              </a:rPr>
              <a:t>[X]</a:t>
            </a:r>
            <a:r>
              <a:rPr lang="zh-CN" altLang="en-US" sz="2000" baseline="-25000" dirty="0">
                <a:latin typeface="Arial" panose="020B0604020202020204" pitchFamily="34" charset="0"/>
                <a:ea typeface="黑体" panose="02010609060101010101" pitchFamily="49" charset="-122"/>
              </a:rPr>
              <a:t>原</a:t>
            </a:r>
            <a:r>
              <a:rPr lang="en-US" altLang="zh-CN" sz="2000" dirty="0">
                <a:latin typeface="Arial" panose="020B0604020202020204" pitchFamily="34" charset="0"/>
                <a:ea typeface="黑体" panose="02010609060101010101" pitchFamily="49" charset="-122"/>
              </a:rPr>
              <a:t>=0.111001</a:t>
            </a:r>
            <a:r>
              <a:rPr lang="zh-CN" altLang="en-US" sz="2000" dirty="0">
                <a:latin typeface="Arial" panose="020B0604020202020204" pitchFamily="34" charset="0"/>
                <a:ea typeface="黑体" panose="02010609060101010101" pitchFamily="49" charset="-122"/>
              </a:rPr>
              <a:t>，  </a:t>
            </a:r>
            <a:r>
              <a:rPr lang="en-US" altLang="zh-CN" sz="2000" dirty="0">
                <a:latin typeface="Arial" panose="020B0604020202020204" pitchFamily="34" charset="0"/>
                <a:ea typeface="黑体" panose="02010609060101010101" pitchFamily="49" charset="-122"/>
              </a:rPr>
              <a:t>[Y]</a:t>
            </a:r>
            <a:r>
              <a:rPr lang="zh-CN" altLang="en-US" sz="2000" baseline="-25000" dirty="0">
                <a:latin typeface="Arial" panose="020B0604020202020204" pitchFamily="34" charset="0"/>
                <a:ea typeface="黑体" panose="02010609060101010101" pitchFamily="49" charset="-122"/>
              </a:rPr>
              <a:t>原</a:t>
            </a:r>
            <a:r>
              <a:rPr lang="en-US" altLang="zh-CN" sz="2000" dirty="0">
                <a:latin typeface="Arial" panose="020B0604020202020204" pitchFamily="34" charset="0"/>
                <a:ea typeface="黑体" panose="02010609060101010101" pitchFamily="49" charset="-122"/>
              </a:rPr>
              <a:t>= 0.100111</a:t>
            </a:r>
            <a:r>
              <a:rPr lang="zh-CN" altLang="en-US" sz="2000" dirty="0">
                <a:latin typeface="Arial" panose="020B0604020202020204" pitchFamily="34" charset="0"/>
                <a:ea typeface="黑体" panose="02010609060101010101" pitchFamily="49" charset="-122"/>
              </a:rPr>
              <a:t>，用原码两位乘法计算</a:t>
            </a:r>
            <a:r>
              <a:rPr lang="en-US" altLang="zh-CN" sz="2000" dirty="0">
                <a:latin typeface="Arial" panose="020B0604020202020204" pitchFamily="34" charset="0"/>
                <a:ea typeface="黑体" panose="02010609060101010101" pitchFamily="49" charset="-122"/>
              </a:rPr>
              <a:t>[X×Y]</a:t>
            </a:r>
            <a:r>
              <a:rPr lang="zh-CN" altLang="en-US" sz="2000" baseline="-25000" dirty="0">
                <a:latin typeface="Arial" panose="020B0604020202020204" pitchFamily="34" charset="0"/>
                <a:ea typeface="黑体" panose="02010609060101010101" pitchFamily="49" charset="-122"/>
              </a:rPr>
              <a:t>原</a:t>
            </a:r>
            <a:endParaRPr lang="zh-CN" altLang="en-US" sz="2000" baseline="-25000" dirty="0">
              <a:latin typeface="Arial" panose="020B0604020202020204" pitchFamily="34" charset="0"/>
              <a:ea typeface="黑体" panose="02010609060101010101" pitchFamily="49" charset="-122"/>
            </a:endParaRPr>
          </a:p>
          <a:p>
            <a:pPr eaLnBrk="0" hangingPunct="0">
              <a:lnSpc>
                <a:spcPct val="115000"/>
              </a:lnSpc>
              <a:spcBef>
                <a:spcPct val="25000"/>
              </a:spcBef>
            </a:pPr>
            <a:r>
              <a:rPr lang="zh-CN" altLang="en-US" sz="2000" dirty="0">
                <a:solidFill>
                  <a:schemeClr val="accent2"/>
                </a:solidFill>
                <a:latin typeface="Arial" panose="020B0604020202020204" pitchFamily="34" charset="0"/>
                <a:ea typeface="黑体" panose="02010609060101010101" pitchFamily="49" charset="-122"/>
              </a:rPr>
              <a:t>解： 先用无符号数乘法计算</a:t>
            </a:r>
            <a:r>
              <a:rPr lang="en-US" altLang="zh-CN" sz="2000" dirty="0">
                <a:solidFill>
                  <a:schemeClr val="accent2"/>
                </a:solidFill>
                <a:latin typeface="Arial" panose="020B0604020202020204" pitchFamily="34" charset="0"/>
                <a:ea typeface="黑体" panose="02010609060101010101" pitchFamily="49" charset="-122"/>
              </a:rPr>
              <a:t>111001×100111</a:t>
            </a:r>
            <a:r>
              <a:rPr lang="zh-CN" altLang="en-US" sz="2000" dirty="0">
                <a:solidFill>
                  <a:schemeClr val="accent2"/>
                </a:solidFill>
                <a:latin typeface="Arial" panose="020B0604020202020204" pitchFamily="34" charset="0"/>
                <a:ea typeface="黑体" panose="02010609060101010101" pitchFamily="49" charset="-122"/>
              </a:rPr>
              <a:t>，原码两位乘法过程如下：</a:t>
            </a:r>
            <a:endParaRPr lang="zh-CN" altLang="en-US" sz="2000" dirty="0">
              <a:solidFill>
                <a:schemeClr val="accent2"/>
              </a:solidFill>
              <a:latin typeface="Arial" panose="020B0604020202020204" pitchFamily="34" charset="0"/>
              <a:ea typeface="黑体" panose="02010609060101010101" pitchFamily="49" charset="-122"/>
            </a:endParaRPr>
          </a:p>
        </p:txBody>
      </p:sp>
      <p:grpSp>
        <p:nvGrpSpPr>
          <p:cNvPr id="2" name="Group 12"/>
          <p:cNvGrpSpPr/>
          <p:nvPr/>
        </p:nvGrpSpPr>
        <p:grpSpPr>
          <a:xfrm>
            <a:off x="176213" y="4027488"/>
            <a:ext cx="2330450" cy="2419350"/>
            <a:chOff x="111" y="2537"/>
            <a:chExt cx="1468" cy="1524"/>
          </a:xfrm>
        </p:grpSpPr>
        <p:sp>
          <p:nvSpPr>
            <p:cNvPr id="60421" name="Text Box 8"/>
            <p:cNvSpPr txBox="1"/>
            <p:nvPr/>
          </p:nvSpPr>
          <p:spPr>
            <a:xfrm>
              <a:off x="111" y="2537"/>
              <a:ext cx="1083" cy="1524"/>
            </a:xfrm>
            <a:prstGeom prst="rect">
              <a:avLst/>
            </a:prstGeom>
            <a:noFill/>
            <a:ln w="12700">
              <a:noFill/>
            </a:ln>
          </p:spPr>
          <p:txBody>
            <a:bodyPr anchor="t" anchorCtr="0">
              <a:spAutoFit/>
            </a:bodyPr>
            <a:p>
              <a:pPr eaLnBrk="0" hangingPunct="0">
                <a:lnSpc>
                  <a:spcPct val="120000"/>
                </a:lnSpc>
                <a:spcBef>
                  <a:spcPct val="50000"/>
                </a:spcBef>
              </a:pPr>
              <a:r>
                <a:rPr lang="zh-CN" altLang="en-US" sz="1800" dirty="0">
                  <a:latin typeface="微软雅黑" panose="020B0503020204020204" pitchFamily="34" charset="-122"/>
                  <a:ea typeface="微软雅黑" panose="020B0503020204020204" pitchFamily="34" charset="-122"/>
                </a:rPr>
                <a:t>若用模</a:t>
              </a:r>
              <a:r>
                <a:rPr lang="en-US" altLang="zh-CN" sz="1800" dirty="0">
                  <a:latin typeface="微软雅黑" panose="020B0503020204020204" pitchFamily="34" charset="-122"/>
                  <a:ea typeface="微软雅黑" panose="020B0503020204020204" pitchFamily="34" charset="-122"/>
                </a:rPr>
                <a:t>4</a:t>
              </a:r>
              <a:r>
                <a:rPr lang="zh-CN" altLang="en-US" sz="1800" dirty="0">
                  <a:latin typeface="微软雅黑" panose="020B0503020204020204" pitchFamily="34" charset="-122"/>
                  <a:ea typeface="微软雅黑" panose="020B0503020204020204" pitchFamily="34" charset="-122"/>
                </a:rPr>
                <a:t>补码，则</a:t>
              </a:r>
              <a:r>
                <a:rPr lang="en-US" altLang="zh-CN" sz="1800" dirty="0">
                  <a:latin typeface="微软雅黑" panose="020B0503020204020204" pitchFamily="34" charset="-122"/>
                  <a:ea typeface="微软雅黑" panose="020B0503020204020204" pitchFamily="34" charset="-122"/>
                </a:rPr>
                <a:t>P</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Y</a:t>
              </a:r>
              <a:r>
                <a:rPr lang="zh-CN" altLang="en-US" sz="1800" dirty="0">
                  <a:latin typeface="微软雅黑" panose="020B0503020204020204" pitchFamily="34" charset="-122"/>
                  <a:ea typeface="微软雅黑" panose="020B0503020204020204" pitchFamily="34" charset="-122"/>
                </a:rPr>
                <a:t>同时右移</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位时，得到的</a:t>
              </a:r>
              <a:r>
                <a:rPr lang="en-US" altLang="zh-CN" sz="1800" dirty="0">
                  <a:latin typeface="微软雅黑" panose="020B0503020204020204" pitchFamily="34" charset="-122"/>
                  <a:ea typeface="微软雅黑" panose="020B0503020204020204" pitchFamily="34" charset="-122"/>
                </a:rPr>
                <a:t>P3</a:t>
              </a:r>
              <a:r>
                <a:rPr lang="zh-CN" altLang="en-US" sz="1800" dirty="0">
                  <a:latin typeface="微软雅黑" panose="020B0503020204020204" pitchFamily="34" charset="-122"/>
                  <a:ea typeface="微软雅黑" panose="020B0503020204020204" pitchFamily="34" charset="-122"/>
                </a:rPr>
                <a:t>是负数，这显然是错误的！需要再增加一位符号。</a:t>
              </a:r>
              <a:endParaRPr lang="en-US" altLang="zh-CN" sz="1800" dirty="0">
                <a:latin typeface="微软雅黑" panose="020B0503020204020204" pitchFamily="34" charset="-122"/>
                <a:ea typeface="微软雅黑" panose="020B0503020204020204" pitchFamily="34" charset="-122"/>
              </a:endParaRPr>
            </a:p>
          </p:txBody>
        </p:sp>
        <p:sp>
          <p:nvSpPr>
            <p:cNvPr id="60422" name="Line 9"/>
            <p:cNvSpPr/>
            <p:nvPr/>
          </p:nvSpPr>
          <p:spPr>
            <a:xfrm>
              <a:off x="1159" y="3560"/>
              <a:ext cx="420" cy="0"/>
            </a:xfrm>
            <a:prstGeom prst="line">
              <a:avLst/>
            </a:prstGeom>
            <a:ln w="57150" cap="flat" cmpd="sng">
              <a:solidFill>
                <a:srgbClr val="CC3300"/>
              </a:solidFill>
              <a:prstDash val="solid"/>
              <a:round/>
              <a:headEnd type="none" w="med" len="med"/>
              <a:tailEnd type="triangle" w="med" len="med"/>
            </a:ln>
          </p:spPr>
        </p:sp>
      </p:grpSp>
      <p:sp>
        <p:nvSpPr>
          <p:cNvPr id="456715" name="Text Box 11"/>
          <p:cNvSpPr txBox="1"/>
          <p:nvPr/>
        </p:nvSpPr>
        <p:spPr>
          <a:xfrm>
            <a:off x="161925" y="1743075"/>
            <a:ext cx="1598613" cy="2170113"/>
          </a:xfrm>
          <a:prstGeom prst="rect">
            <a:avLst/>
          </a:prstGeom>
          <a:noFill/>
          <a:ln w="12700">
            <a:noFill/>
          </a:ln>
        </p:spPr>
        <p:txBody>
          <a:bodyPr anchor="t" anchorCtr="0">
            <a:spAutoFit/>
          </a:bodyPr>
          <a:p>
            <a:pPr eaLnBrk="0" hangingPunct="0">
              <a:spcBef>
                <a:spcPct val="50000"/>
              </a:spcBef>
            </a:pPr>
            <a:r>
              <a:rPr lang="zh-CN" altLang="en-US" sz="1800" dirty="0">
                <a:latin typeface="微软雅黑" panose="020B0503020204020204" pitchFamily="34" charset="-122"/>
                <a:ea typeface="微软雅黑" panose="020B0503020204020204" pitchFamily="34" charset="-122"/>
              </a:rPr>
              <a:t>采用补码算术右移，与一位乘法不同，</a:t>
            </a:r>
            <a:r>
              <a:rPr lang="en-US" altLang="zh-CN" sz="1800" dirty="0">
                <a:latin typeface="微软雅黑" panose="020B0503020204020204" pitchFamily="34" charset="-122"/>
                <a:ea typeface="微软雅黑" panose="020B0503020204020204" pitchFamily="34" charset="-122"/>
              </a:rPr>
              <a:t>Why</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eaLnBrk="0" hangingPunct="0">
              <a:spcBef>
                <a:spcPct val="50000"/>
              </a:spcBef>
            </a:pPr>
            <a:r>
              <a:rPr lang="zh-CN" altLang="en-US" sz="1800" dirty="0">
                <a:latin typeface="微软雅黑" panose="020B0503020204020204" pitchFamily="34" charset="-122"/>
                <a:ea typeface="微软雅黑" panose="020B0503020204020204" pitchFamily="34" charset="-122"/>
              </a:rPr>
              <a:t>为模</a:t>
            </a:r>
            <a:r>
              <a:rPr lang="en-US" altLang="zh-CN" sz="1800" dirty="0">
                <a:latin typeface="微软雅黑" panose="020B0503020204020204" pitchFamily="34" charset="-122"/>
                <a:ea typeface="微软雅黑" panose="020B0503020204020204" pitchFamily="34" charset="-122"/>
              </a:rPr>
              <a:t>8</a:t>
            </a:r>
            <a:r>
              <a:rPr lang="zh-CN" altLang="en-US" sz="1800" dirty="0">
                <a:latin typeface="微软雅黑" panose="020B0503020204020204" pitchFamily="34" charset="-122"/>
                <a:ea typeface="微软雅黑" panose="020B0503020204020204" pitchFamily="34" charset="-122"/>
              </a:rPr>
              <a:t>补码形式</a:t>
            </a:r>
            <a:r>
              <a:rPr lang="en-US" altLang="zh-CN" sz="1800" dirty="0">
                <a:latin typeface="微软雅黑" panose="020B0503020204020204" pitchFamily="34" charset="-122"/>
                <a:ea typeface="微软雅黑" panose="020B0503020204020204" pitchFamily="34" charset="-122"/>
              </a:rPr>
              <a:t>(</a:t>
            </a:r>
            <a:r>
              <a:rPr lang="zh-CN" altLang="en-US" sz="1800" dirty="0">
                <a:solidFill>
                  <a:srgbClr val="CC0000"/>
                </a:solidFill>
                <a:latin typeface="微软雅黑" panose="020B0503020204020204" pitchFamily="34" charset="-122"/>
                <a:ea typeface="微软雅黑" panose="020B0503020204020204" pitchFamily="34" charset="-122"/>
              </a:rPr>
              <a:t>三位符号位</a:t>
            </a:r>
            <a:r>
              <a:rPr lang="en-US" altLang="zh-CN" sz="1800" dirty="0">
                <a:solidFill>
                  <a:srgbClr val="CC0000"/>
                </a:solidFill>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Why</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
        <p:nvSpPr>
          <p:cNvPr id="60424" name="Line 13"/>
          <p:cNvSpPr/>
          <p:nvPr/>
        </p:nvSpPr>
        <p:spPr>
          <a:xfrm>
            <a:off x="4838700" y="2600325"/>
            <a:ext cx="723900" cy="0"/>
          </a:xfrm>
          <a:prstGeom prst="line">
            <a:avLst/>
          </a:prstGeom>
          <a:ln w="34925" cap="flat" cmpd="sng">
            <a:solidFill>
              <a:schemeClr val="accent2"/>
            </a:solidFill>
            <a:prstDash val="solid"/>
            <a:round/>
            <a:headEnd type="none" w="med" len="med"/>
            <a:tailEnd type="none" w="med" len="med"/>
          </a:ln>
        </p:spPr>
      </p:sp>
      <p:sp>
        <p:nvSpPr>
          <p:cNvPr id="60425" name="Line 14"/>
          <p:cNvSpPr/>
          <p:nvPr/>
        </p:nvSpPr>
        <p:spPr>
          <a:xfrm>
            <a:off x="4873625" y="3787775"/>
            <a:ext cx="723900" cy="0"/>
          </a:xfrm>
          <a:prstGeom prst="line">
            <a:avLst/>
          </a:prstGeom>
          <a:ln w="34925" cap="flat" cmpd="sng">
            <a:solidFill>
              <a:schemeClr val="accent2"/>
            </a:solidFill>
            <a:prstDash val="solid"/>
            <a:round/>
            <a:headEnd type="none" w="med" len="med"/>
            <a:tailEnd type="none" w="med" len="med"/>
          </a:ln>
        </p:spPr>
      </p:sp>
      <p:sp>
        <p:nvSpPr>
          <p:cNvPr id="60426" name="Line 15"/>
          <p:cNvSpPr/>
          <p:nvPr/>
        </p:nvSpPr>
        <p:spPr>
          <a:xfrm>
            <a:off x="4892675" y="5016500"/>
            <a:ext cx="723900" cy="0"/>
          </a:xfrm>
          <a:prstGeom prst="line">
            <a:avLst/>
          </a:prstGeom>
          <a:ln w="34925" cap="flat" cmpd="sng">
            <a:solidFill>
              <a:schemeClr val="accent2"/>
            </a:solidFill>
            <a:prstDash val="solid"/>
            <a:round/>
            <a:headEnd type="none" w="med" len="med"/>
            <a:tailEnd type="none" w="med" len="med"/>
          </a:ln>
        </p:spPr>
      </p:sp>
      <p:sp>
        <p:nvSpPr>
          <p:cNvPr id="60427" name="Text Box 13"/>
          <p:cNvSpPr txBox="1"/>
          <p:nvPr/>
        </p:nvSpPr>
        <p:spPr>
          <a:xfrm>
            <a:off x="6564313" y="6332538"/>
            <a:ext cx="2305050" cy="366712"/>
          </a:xfrm>
          <a:prstGeom prst="rect">
            <a:avLst/>
          </a:prstGeom>
          <a:noFill/>
          <a:ln w="12700">
            <a:noFill/>
          </a:ln>
        </p:spPr>
        <p:txBody>
          <a:bodyPr anchor="t" anchorCtr="0">
            <a:spAutoFit/>
          </a:bodyPr>
          <a:p>
            <a:pPr eaLnBrk="0" hangingPunct="0">
              <a:spcBef>
                <a:spcPct val="50000"/>
              </a:spcBef>
            </a:pPr>
            <a:r>
              <a:rPr lang="zh-CN" altLang="en-US" sz="1800" dirty="0">
                <a:solidFill>
                  <a:srgbClr val="FF0000"/>
                </a:solidFill>
                <a:latin typeface="Times New Roman" panose="02020603050405020304" pitchFamily="18" charset="0"/>
                <a:ea typeface="黑体" panose="02010609060101010101" pitchFamily="49" charset="-122"/>
              </a:rPr>
              <a:t>速度快，但代价也大</a:t>
            </a:r>
            <a:endParaRPr lang="zh-CN" altLang="en-US" sz="1800"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6715"/>
                                        </p:tgtEl>
                                        <p:attrNameLst>
                                          <p:attrName>style.visibility</p:attrName>
                                        </p:attrNameLst>
                                      </p:cBhvr>
                                      <p:to>
                                        <p:strVal val="visible"/>
                                      </p:to>
                                    </p:set>
                                    <p:animEffect transition="in" filter="blinds(horizontal)">
                                      <p:cBhvr>
                                        <p:cTn id="7" dur="500"/>
                                        <p:tgtEl>
                                          <p:spTgt spid="4567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补码乘法运算</a:t>
            </a:r>
            <a:endParaRPr lang="zh-CN" altLang="en-US" dirty="0">
              <a:ea typeface="宋体" panose="02010600030101010101" pitchFamily="2" charset="-122"/>
            </a:endParaRPr>
          </a:p>
        </p:txBody>
      </p:sp>
      <p:sp>
        <p:nvSpPr>
          <p:cNvPr id="52227" name="Rectangle 3"/>
          <p:cNvSpPr>
            <a:spLocks noGrp="1"/>
          </p:cNvSpPr>
          <p:nvPr>
            <p:ph idx="1"/>
          </p:nvPr>
        </p:nvSpPr>
        <p:spPr>
          <a:xfrm>
            <a:off x="349250" y="698500"/>
            <a:ext cx="3513138" cy="728663"/>
          </a:xfrm>
          <a:ln/>
        </p:spPr>
        <p:txBody>
          <a:bodyPr vert="horz" wrap="square" lIns="63500" tIns="25400" rIns="63500" bIns="25400" anchor="t" anchorCtr="0">
            <a:spAutoFit/>
          </a:bodyPr>
          <a:p>
            <a:pPr>
              <a:spcBef>
                <a:spcPct val="0"/>
              </a:spcBef>
              <a:buNone/>
            </a:pPr>
            <a:r>
              <a:rPr lang="zh-CN" altLang="en-US" sz="2000" dirty="0">
                <a:latin typeface="微软雅黑" panose="020B0503020204020204" pitchFamily="34" charset="-122"/>
                <a:ea typeface="微软雅黑" panose="020B0503020204020204" pitchFamily="34" charset="-122"/>
              </a:rPr>
              <a:t>用于对什么类型数据计算？</a:t>
            </a:r>
            <a:endParaRPr lang="en-US" altLang="zh-CN" sz="2000" dirty="0">
              <a:latin typeface="微软雅黑" panose="020B0503020204020204" pitchFamily="34" charset="-122"/>
              <a:ea typeface="微软雅黑" panose="020B0503020204020204" pitchFamily="34" charset="-122"/>
            </a:endParaRPr>
          </a:p>
          <a:p>
            <a:pPr>
              <a:spcBef>
                <a:spcPct val="0"/>
              </a:spcBef>
              <a:buNone/>
            </a:pPr>
            <a:r>
              <a:rPr lang="zh-CN" altLang="en-US" sz="2000" dirty="0">
                <a:solidFill>
                  <a:srgbClr val="FF0066"/>
                </a:solidFill>
                <a:latin typeface="微软雅黑" panose="020B0503020204020204" pitchFamily="34" charset="-122"/>
                <a:ea typeface="微软雅黑" panose="020B0503020204020204" pitchFamily="34" charset="-122"/>
              </a:rPr>
              <a:t>带符号整数！如</a:t>
            </a:r>
            <a:r>
              <a:rPr lang="en-US" altLang="zh-CN" sz="2000" dirty="0">
                <a:solidFill>
                  <a:srgbClr val="FF0066"/>
                </a:solidFill>
                <a:latin typeface="微软雅黑" panose="020B0503020204020204" pitchFamily="34" charset="-122"/>
                <a:ea typeface="微软雅黑" panose="020B0503020204020204" pitchFamily="34" charset="-122"/>
              </a:rPr>
              <a:t>int</a:t>
            </a:r>
            <a:r>
              <a:rPr lang="zh-CN" altLang="en-US" sz="2000" dirty="0">
                <a:solidFill>
                  <a:srgbClr val="FF0066"/>
                </a:solidFill>
                <a:latin typeface="微软雅黑" panose="020B0503020204020204" pitchFamily="34" charset="-122"/>
                <a:ea typeface="微软雅黑" panose="020B0503020204020204" pitchFamily="34" charset="-122"/>
              </a:rPr>
              <a:t>型</a:t>
            </a:r>
            <a:endParaRPr lang="en-US" altLang="zh-CN" sz="2000" dirty="0">
              <a:solidFill>
                <a:srgbClr val="FF0066"/>
              </a:solidFill>
              <a:latin typeface="微软雅黑" panose="020B0503020204020204" pitchFamily="34" charset="-122"/>
              <a:ea typeface="微软雅黑" panose="020B0503020204020204" pitchFamily="34" charset="-122"/>
            </a:endParaRPr>
          </a:p>
        </p:txBody>
      </p:sp>
      <p:sp>
        <p:nvSpPr>
          <p:cNvPr id="423940" name="Rectangle 4"/>
          <p:cNvSpPr/>
          <p:nvPr/>
        </p:nvSpPr>
        <p:spPr>
          <a:xfrm>
            <a:off x="282575" y="1520825"/>
            <a:ext cx="8861425" cy="2360613"/>
          </a:xfrm>
          <a:prstGeom prst="rect">
            <a:avLst/>
          </a:prstGeom>
          <a:noFill/>
          <a:ln w="12700">
            <a:noFill/>
          </a:ln>
        </p:spPr>
        <p:txBody>
          <a:bodyPr lIns="63500" tIns="25400" rIns="63500" bIns="25400" anchor="t" anchorCtr="0">
            <a:spAutoFit/>
          </a:bodyPr>
          <a:p>
            <a:pPr marL="203200" indent="-203200" eaLnBrk="0" hangingPunct="0">
              <a:lnSpc>
                <a:spcPct val="110000"/>
              </a:lnSpc>
              <a:spcBef>
                <a:spcPct val="10000"/>
              </a:spcBef>
              <a:buClr>
                <a:schemeClr val="tx1"/>
              </a:buClr>
              <a:buSzPct val="60000"/>
              <a:buFont typeface="Wingdings" panose="05000000000000000000" pitchFamily="2" charset="2"/>
            </a:pPr>
            <a:r>
              <a:rPr lang="zh-CN" altLang="en-US" sz="2200" dirty="0">
                <a:solidFill>
                  <a:srgbClr val="0000FF"/>
                </a:solidFill>
                <a:latin typeface="Arial" panose="020B0604020202020204" pitchFamily="34" charset="0"/>
                <a:ea typeface="黑体" panose="02010609060101010101" pitchFamily="49" charset="-122"/>
              </a:rPr>
              <a:t>假定：[</a:t>
            </a:r>
            <a:r>
              <a:rPr lang="en-US" altLang="zh-CN" sz="2200" dirty="0">
                <a:solidFill>
                  <a:srgbClr val="0000FF"/>
                </a:solidFill>
                <a:latin typeface="Arial" panose="020B0604020202020204" pitchFamily="34" charset="0"/>
                <a:ea typeface="黑体" panose="02010609060101010101" pitchFamily="49" charset="-122"/>
              </a:rPr>
              <a:t>X]</a:t>
            </a:r>
            <a:r>
              <a:rPr lang="zh-CN" altLang="en-US" sz="2200" baseline="-16000" dirty="0">
                <a:solidFill>
                  <a:srgbClr val="0000FF"/>
                </a:solidFill>
                <a:latin typeface="Arial" panose="020B0604020202020204" pitchFamily="34" charset="0"/>
                <a:ea typeface="黑体" panose="02010609060101010101" pitchFamily="49" charset="-122"/>
              </a:rPr>
              <a:t>补</a:t>
            </a:r>
            <a:r>
              <a:rPr lang="zh-CN" altLang="en-US" sz="22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x</a:t>
            </a:r>
            <a:r>
              <a:rPr lang="en-US" altLang="zh-CN" sz="2200" baseline="-10000" dirty="0">
                <a:solidFill>
                  <a:srgbClr val="0000FF"/>
                </a:solidFill>
                <a:latin typeface="Arial" panose="020B0604020202020204" pitchFamily="34" charset="0"/>
                <a:ea typeface="黑体" panose="02010609060101010101" pitchFamily="49" charset="-122"/>
              </a:rPr>
              <a:t>n-1</a:t>
            </a:r>
            <a:r>
              <a:rPr lang="en-US" altLang="zh-CN" sz="2200" dirty="0">
                <a:solidFill>
                  <a:srgbClr val="0000FF"/>
                </a:solidFill>
                <a:latin typeface="Arial" panose="020B0604020202020204" pitchFamily="34" charset="0"/>
                <a:ea typeface="黑体" panose="02010609060101010101" pitchFamily="49" charset="-122"/>
              </a:rPr>
              <a:t>x</a:t>
            </a:r>
            <a:r>
              <a:rPr lang="en-US" altLang="zh-CN" sz="2200" baseline="-10000" dirty="0">
                <a:solidFill>
                  <a:srgbClr val="0000FF"/>
                </a:solidFill>
                <a:latin typeface="Arial" panose="020B0604020202020204" pitchFamily="34" charset="0"/>
                <a:ea typeface="黑体" panose="02010609060101010101" pitchFamily="49" charset="-122"/>
              </a:rPr>
              <a:t>n-2</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dirty="0">
                <a:solidFill>
                  <a:srgbClr val="0000FF"/>
                </a:solidFill>
                <a:latin typeface="Arial" panose="020B0604020202020204" pitchFamily="34" charset="0"/>
                <a:ea typeface="黑体" panose="02010609060101010101" pitchFamily="49" charset="-122"/>
              </a:rPr>
              <a:t>x</a:t>
            </a:r>
            <a:r>
              <a:rPr lang="en-US" altLang="zh-CN" sz="2200" baseline="-10000" dirty="0">
                <a:solidFill>
                  <a:srgbClr val="0000FF"/>
                </a:solidFill>
                <a:latin typeface="Arial" panose="020B0604020202020204" pitchFamily="34" charset="0"/>
                <a:ea typeface="黑体" panose="02010609060101010101" pitchFamily="49" charset="-122"/>
              </a:rPr>
              <a:t>1</a:t>
            </a:r>
            <a:r>
              <a:rPr lang="en-US" altLang="zh-CN" sz="2200" dirty="0">
                <a:solidFill>
                  <a:srgbClr val="0000FF"/>
                </a:solidFill>
                <a:latin typeface="Arial" panose="020B0604020202020204" pitchFamily="34" charset="0"/>
                <a:ea typeface="黑体" panose="02010609060101010101" pitchFamily="49" charset="-122"/>
              </a:rPr>
              <a:t>x</a:t>
            </a:r>
            <a:r>
              <a:rPr lang="en-US" altLang="zh-CN" sz="2200" baseline="-10000" dirty="0">
                <a:solidFill>
                  <a:srgbClr val="0000FF"/>
                </a:solidFill>
                <a:latin typeface="Arial" panose="020B0604020202020204" pitchFamily="34" charset="0"/>
                <a:ea typeface="黑体" panose="02010609060101010101" pitchFamily="49" charset="-122"/>
              </a:rPr>
              <a:t>0 </a:t>
            </a:r>
            <a:r>
              <a:rPr lang="zh-CN" altLang="en-US" sz="2200" baseline="-10000" dirty="0">
                <a:solidFill>
                  <a:srgbClr val="0000FF"/>
                </a:solidFill>
                <a:latin typeface="Arial" panose="020B0604020202020204" pitchFamily="34" charset="0"/>
                <a:ea typeface="黑体" panose="02010609060101010101" pitchFamily="49" charset="-122"/>
              </a:rPr>
              <a:t>，</a:t>
            </a:r>
            <a:r>
              <a:rPr lang="en-US" altLang="zh-CN" sz="2200" b="0" baseline="30000" dirty="0">
                <a:solidFill>
                  <a:srgbClr val="0000FF"/>
                </a:solidFill>
                <a:latin typeface="Arial" panose="020B0604020202020204" pitchFamily="34" charset="0"/>
                <a:ea typeface="黑体" panose="02010609060101010101" pitchFamily="49" charset="-122"/>
              </a:rPr>
              <a:t> </a:t>
            </a:r>
            <a:r>
              <a:rPr lang="zh-CN" altLang="en-US" sz="22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Y]</a:t>
            </a:r>
            <a:r>
              <a:rPr lang="zh-CN" altLang="en-US" sz="2200" baseline="-16000" dirty="0">
                <a:solidFill>
                  <a:srgbClr val="0000FF"/>
                </a:solidFill>
                <a:latin typeface="Arial" panose="020B0604020202020204" pitchFamily="34" charset="0"/>
                <a:ea typeface="黑体" panose="02010609060101010101" pitchFamily="49" charset="-122"/>
              </a:rPr>
              <a:t>补</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n-1</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n-2</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1</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0 </a:t>
            </a:r>
            <a:r>
              <a:rPr lang="zh-CN" altLang="en-US" sz="2200" baseline="-10000" dirty="0">
                <a:solidFill>
                  <a:srgbClr val="0000FF"/>
                </a:solidFill>
                <a:latin typeface="Arial" panose="020B0604020202020204" pitchFamily="34" charset="0"/>
                <a:ea typeface="黑体" panose="02010609060101010101" pitchFamily="49" charset="-122"/>
              </a:rPr>
              <a:t>，</a:t>
            </a:r>
            <a:r>
              <a:rPr lang="zh-CN" altLang="en-US" sz="2200" dirty="0">
                <a:solidFill>
                  <a:srgbClr val="0000FF"/>
                </a:solidFill>
                <a:latin typeface="Arial" panose="020B0604020202020204" pitchFamily="34" charset="0"/>
                <a:ea typeface="黑体" panose="02010609060101010101" pitchFamily="49" charset="-122"/>
              </a:rPr>
              <a:t>求：[</a:t>
            </a:r>
            <a:r>
              <a:rPr lang="en-US" altLang="zh-CN" sz="2200" dirty="0">
                <a:solidFill>
                  <a:srgbClr val="0000FF"/>
                </a:solidFill>
                <a:latin typeface="Arial" panose="020B0604020202020204" pitchFamily="34" charset="0"/>
                <a:ea typeface="黑体" panose="02010609060101010101" pitchFamily="49" charset="-122"/>
              </a:rPr>
              <a:t>X</a:t>
            </a:r>
            <a:r>
              <a:rPr lang="en-US" altLang="zh-CN" sz="2200" b="0" dirty="0">
                <a:solidFill>
                  <a:srgbClr val="0000FF"/>
                </a:solidFill>
                <a:latin typeface="Arial" panose="020B0604020202020204" pitchFamily="34" charset="0"/>
              </a:rPr>
              <a:t>x</a:t>
            </a:r>
            <a:r>
              <a:rPr lang="en-US" altLang="zh-CN" sz="2200" dirty="0">
                <a:solidFill>
                  <a:srgbClr val="0000FF"/>
                </a:solidFill>
                <a:latin typeface="Arial" panose="020B0604020202020204" pitchFamily="34" charset="0"/>
                <a:ea typeface="黑体" panose="02010609060101010101" pitchFamily="49" charset="-122"/>
              </a:rPr>
              <a:t>Y]</a:t>
            </a:r>
            <a:r>
              <a:rPr lang="zh-CN" altLang="en-US" sz="2200" baseline="-16000" dirty="0">
                <a:solidFill>
                  <a:srgbClr val="0000FF"/>
                </a:solidFill>
                <a:latin typeface="Arial" panose="020B0604020202020204" pitchFamily="34" charset="0"/>
                <a:ea typeface="黑体" panose="02010609060101010101" pitchFamily="49" charset="-122"/>
              </a:rPr>
              <a:t>补</a:t>
            </a:r>
            <a:r>
              <a:rPr lang="zh-CN" altLang="en-US" sz="2200" dirty="0">
                <a:solidFill>
                  <a:srgbClr val="0000FF"/>
                </a:solidFill>
                <a:latin typeface="Arial" panose="020B0604020202020204" pitchFamily="34" charset="0"/>
                <a:ea typeface="黑体" panose="02010609060101010101" pitchFamily="49" charset="-122"/>
              </a:rPr>
              <a:t>=？</a:t>
            </a:r>
            <a:endParaRPr lang="zh-CN" altLang="en-US" sz="2200" dirty="0">
              <a:solidFill>
                <a:srgbClr val="0000FF"/>
              </a:solidFill>
              <a:latin typeface="Arial" panose="020B0604020202020204" pitchFamily="34" charset="0"/>
              <a:ea typeface="黑体" panose="02010609060101010101" pitchFamily="49" charset="-122"/>
            </a:endParaRPr>
          </a:p>
          <a:p>
            <a:pPr marL="203200" indent="-203200" eaLnBrk="0" hangingPunct="0">
              <a:lnSpc>
                <a:spcPct val="110000"/>
              </a:lnSpc>
              <a:spcBef>
                <a:spcPct val="10000"/>
              </a:spcBef>
              <a:buClr>
                <a:schemeClr val="tx1"/>
              </a:buClr>
              <a:buSzPct val="60000"/>
              <a:buFont typeface="Wingdings" panose="05000000000000000000" pitchFamily="2" charset="2"/>
            </a:pPr>
            <a:r>
              <a:rPr lang="zh-CN" altLang="en-US" sz="2200" dirty="0">
                <a:solidFill>
                  <a:srgbClr val="660066"/>
                </a:solidFill>
                <a:latin typeface="Arial" panose="020B0604020202020204" pitchFamily="34" charset="0"/>
                <a:ea typeface="黑体" panose="02010609060101010101" pitchFamily="49" charset="-122"/>
              </a:rPr>
              <a:t>基于</a:t>
            </a:r>
            <a:r>
              <a:rPr lang="zh-CN" altLang="en-US" sz="2200" dirty="0">
                <a:solidFill>
                  <a:srgbClr val="660066"/>
                </a:solidFill>
                <a:latin typeface="Arial" panose="020B0604020202020204" pitchFamily="34" charset="0"/>
                <a:ea typeface="黑体" panose="02010609060101010101" pitchFamily="49" charset="-122"/>
                <a:hlinkClick r:id="" action="ppaction://hlinkshowjump?jump=nextslide"/>
              </a:rPr>
              <a:t>以下补码性质</a:t>
            </a:r>
            <a:r>
              <a:rPr lang="zh-CN" altLang="en-US" sz="2200" dirty="0">
                <a:solidFill>
                  <a:srgbClr val="660066"/>
                </a:solidFill>
                <a:latin typeface="Arial" panose="020B0604020202020204" pitchFamily="34" charset="0"/>
                <a:ea typeface="黑体" panose="02010609060101010101" pitchFamily="49" charset="-122"/>
              </a:rPr>
              <a:t>：</a:t>
            </a:r>
            <a:endParaRPr lang="zh-CN" altLang="en-US" sz="2200" dirty="0">
              <a:solidFill>
                <a:srgbClr val="660066"/>
              </a:solidFill>
              <a:latin typeface="Arial" panose="020B0604020202020204" pitchFamily="34" charset="0"/>
              <a:ea typeface="黑体" panose="02010609060101010101" pitchFamily="49" charset="-122"/>
            </a:endParaRPr>
          </a:p>
          <a:p>
            <a:pPr marL="203200" indent="-203200" eaLnBrk="0" hangingPunct="0">
              <a:lnSpc>
                <a:spcPct val="110000"/>
              </a:lnSpc>
              <a:spcBef>
                <a:spcPct val="10000"/>
              </a:spcBef>
              <a:buClr>
                <a:schemeClr val="tx1"/>
              </a:buClr>
              <a:buSzPct val="60000"/>
              <a:buFont typeface="Wingdings" panose="05000000000000000000" pitchFamily="2" charset="2"/>
            </a:pPr>
            <a:r>
              <a:rPr lang="zh-CN" altLang="en-US" sz="2200" dirty="0">
                <a:solidFill>
                  <a:srgbClr val="0000FF"/>
                </a:solidFill>
                <a:latin typeface="Arial" panose="020B0604020202020204" pitchFamily="34" charset="0"/>
                <a:ea typeface="黑体" panose="02010609060101010101" pitchFamily="49" charset="-122"/>
              </a:rPr>
              <a:t>    </a:t>
            </a:r>
            <a:r>
              <a:rPr lang="en-US" altLang="zh-CN" sz="2200" dirty="0">
                <a:solidFill>
                  <a:srgbClr val="0000FF"/>
                </a:solidFill>
                <a:latin typeface="Arial" panose="020B0604020202020204" pitchFamily="34" charset="0"/>
                <a:ea typeface="黑体" panose="02010609060101010101" pitchFamily="49" charset="-122"/>
              </a:rPr>
              <a:t>Y</a:t>
            </a:r>
            <a:r>
              <a:rPr lang="zh-CN" altLang="en-US" sz="22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n-1</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2</a:t>
            </a:r>
            <a:r>
              <a:rPr lang="en-US" altLang="zh-CN" sz="2200" baseline="30000" dirty="0">
                <a:solidFill>
                  <a:srgbClr val="0000FF"/>
                </a:solidFill>
                <a:latin typeface="Arial" panose="020B0604020202020204" pitchFamily="34" charset="0"/>
                <a:ea typeface="黑体" panose="02010609060101010101" pitchFamily="49" charset="-122"/>
              </a:rPr>
              <a:t>n-1</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n-2 </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2</a:t>
            </a:r>
            <a:r>
              <a:rPr lang="en-US" altLang="zh-CN" sz="2200" baseline="30000" dirty="0">
                <a:solidFill>
                  <a:srgbClr val="0000FF"/>
                </a:solidFill>
                <a:latin typeface="Arial" panose="020B0604020202020204" pitchFamily="34" charset="0"/>
                <a:ea typeface="黑体" panose="02010609060101010101" pitchFamily="49" charset="-122"/>
              </a:rPr>
              <a:t>n-2</a:t>
            </a:r>
            <a:r>
              <a:rPr lang="en-US" altLang="zh-CN" sz="22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1 </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2</a:t>
            </a:r>
            <a:r>
              <a:rPr lang="en-US" altLang="zh-CN" sz="2200" baseline="30000" dirty="0">
                <a:solidFill>
                  <a:srgbClr val="0000FF"/>
                </a:solidFill>
                <a:latin typeface="Arial" panose="020B0604020202020204" pitchFamily="34" charset="0"/>
                <a:ea typeface="黑体" panose="02010609060101010101" pitchFamily="49" charset="-122"/>
              </a:rPr>
              <a:t>1</a:t>
            </a:r>
            <a:r>
              <a:rPr lang="en-US" altLang="zh-CN" sz="22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0 </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2</a:t>
            </a:r>
            <a:r>
              <a:rPr lang="en-US" altLang="zh-CN" sz="2200" baseline="30000" dirty="0">
                <a:solidFill>
                  <a:srgbClr val="0000FF"/>
                </a:solidFill>
                <a:latin typeface="Arial" panose="020B0604020202020204" pitchFamily="34" charset="0"/>
                <a:ea typeface="黑体" panose="02010609060101010101" pitchFamily="49" charset="-122"/>
              </a:rPr>
              <a:t>0</a:t>
            </a:r>
            <a:endParaRPr lang="en-US" altLang="zh-CN" sz="2200" baseline="30000" dirty="0">
              <a:solidFill>
                <a:srgbClr val="0000FF"/>
              </a:solidFill>
              <a:latin typeface="Arial" panose="020B0604020202020204" pitchFamily="34" charset="0"/>
              <a:ea typeface="黑体" panose="02010609060101010101" pitchFamily="49" charset="-122"/>
            </a:endParaRPr>
          </a:p>
          <a:p>
            <a:pPr marL="203200" indent="-203200" eaLnBrk="0" hangingPunct="0">
              <a:lnSpc>
                <a:spcPct val="110000"/>
              </a:lnSpc>
              <a:buClr>
                <a:schemeClr val="tx1"/>
              </a:buClr>
              <a:buSzPct val="60000"/>
              <a:buFont typeface="Wingdings" panose="05000000000000000000" pitchFamily="2" charset="2"/>
            </a:pPr>
            <a:r>
              <a:rPr lang="zh-CN" altLang="en-US" sz="2200" dirty="0">
                <a:latin typeface="Arial" panose="020B0604020202020204" pitchFamily="34" charset="0"/>
                <a:ea typeface="黑体" panose="02010609060101010101" pitchFamily="49" charset="-122"/>
              </a:rPr>
              <a:t>令：</a:t>
            </a:r>
            <a:r>
              <a:rPr lang="en-US" altLang="zh-CN" sz="2200" dirty="0">
                <a:latin typeface="Arial" panose="020B0604020202020204" pitchFamily="34" charset="0"/>
                <a:ea typeface="黑体" panose="02010609060101010101" pitchFamily="49" charset="-122"/>
              </a:rPr>
              <a:t>y</a:t>
            </a:r>
            <a:r>
              <a:rPr lang="en-US" altLang="zh-CN" sz="2200" baseline="-25000" dirty="0">
                <a:latin typeface="Arial" panose="020B0604020202020204" pitchFamily="34" charset="0"/>
                <a:ea typeface="黑体" panose="02010609060101010101" pitchFamily="49" charset="-122"/>
              </a:rPr>
              <a:t>-1</a:t>
            </a:r>
            <a:r>
              <a:rPr lang="en-US" altLang="zh-CN" sz="2200" dirty="0">
                <a:latin typeface="Arial" panose="020B0604020202020204" pitchFamily="34" charset="0"/>
                <a:ea typeface="黑体" panose="02010609060101010101" pitchFamily="49" charset="-122"/>
              </a:rPr>
              <a:t> </a:t>
            </a:r>
            <a:r>
              <a:rPr lang="zh-CN" altLang="en-US" sz="2200" dirty="0">
                <a:latin typeface="Arial" panose="020B0604020202020204" pitchFamily="34" charset="0"/>
                <a:ea typeface="黑体" panose="02010609060101010101" pitchFamily="49" charset="-122"/>
              </a:rPr>
              <a:t>=0，则：</a:t>
            </a:r>
            <a:endParaRPr lang="en-US" altLang="zh-CN" sz="2200" baseline="30000" dirty="0">
              <a:solidFill>
                <a:srgbClr val="0000FF"/>
              </a:solidFill>
              <a:latin typeface="Arial" panose="020B0604020202020204" pitchFamily="34" charset="0"/>
              <a:ea typeface="黑体" panose="02010609060101010101" pitchFamily="49" charset="-122"/>
            </a:endParaRPr>
          </a:p>
          <a:p>
            <a:pPr marL="203200" indent="-203200" eaLnBrk="0" hangingPunct="0">
              <a:lnSpc>
                <a:spcPct val="110000"/>
              </a:lnSpc>
              <a:buClr>
                <a:schemeClr val="tx1"/>
              </a:buClr>
              <a:buSzPct val="60000"/>
              <a:buFont typeface="Wingdings" panose="05000000000000000000" pitchFamily="2" charset="2"/>
            </a:pPr>
            <a:r>
              <a:rPr lang="zh-CN" altLang="en-US" sz="2200" dirty="0">
                <a:solidFill>
                  <a:srgbClr val="0000FF"/>
                </a:solidFill>
                <a:latin typeface="Arial" panose="020B0604020202020204" pitchFamily="34" charset="0"/>
                <a:ea typeface="黑体" panose="02010609060101010101" pitchFamily="49" charset="-122"/>
              </a:rPr>
              <a:t>当</a:t>
            </a:r>
            <a:r>
              <a:rPr lang="en-US" altLang="zh-CN" sz="2200" dirty="0">
                <a:solidFill>
                  <a:srgbClr val="0000FF"/>
                </a:solidFill>
                <a:latin typeface="Arial" panose="020B0604020202020204" pitchFamily="34" charset="0"/>
                <a:ea typeface="黑体" panose="02010609060101010101" pitchFamily="49" charset="-122"/>
              </a:rPr>
              <a:t>n=32</a:t>
            </a:r>
            <a:r>
              <a:rPr lang="zh-CN" altLang="en-US" sz="2200" dirty="0">
                <a:solidFill>
                  <a:srgbClr val="0000FF"/>
                </a:solidFill>
                <a:latin typeface="Arial" panose="020B0604020202020204" pitchFamily="34" charset="0"/>
                <a:ea typeface="黑体" panose="02010609060101010101" pitchFamily="49" charset="-122"/>
              </a:rPr>
              <a:t>时，</a:t>
            </a:r>
            <a:r>
              <a:rPr lang="en-US" altLang="zh-CN" sz="2200" dirty="0">
                <a:solidFill>
                  <a:srgbClr val="0000FF"/>
                </a:solidFill>
                <a:latin typeface="Arial" panose="020B0604020202020204" pitchFamily="34" charset="0"/>
                <a:ea typeface="黑体" panose="02010609060101010101" pitchFamily="49" charset="-122"/>
              </a:rPr>
              <a:t>Y=-y</a:t>
            </a:r>
            <a:r>
              <a:rPr lang="en-US" altLang="zh-CN" sz="2200" baseline="-10000" dirty="0">
                <a:solidFill>
                  <a:srgbClr val="0000FF"/>
                </a:solidFill>
                <a:latin typeface="Arial" panose="020B0604020202020204" pitchFamily="34" charset="0"/>
                <a:ea typeface="黑体" panose="02010609060101010101" pitchFamily="49" charset="-122"/>
              </a:rPr>
              <a:t>31</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2</a:t>
            </a:r>
            <a:r>
              <a:rPr lang="en-US" altLang="zh-CN" sz="2200" baseline="30000" dirty="0">
                <a:solidFill>
                  <a:srgbClr val="0000FF"/>
                </a:solidFill>
                <a:latin typeface="Arial" panose="020B0604020202020204" pitchFamily="34" charset="0"/>
                <a:ea typeface="黑体" panose="02010609060101010101" pitchFamily="49" charset="-122"/>
              </a:rPr>
              <a:t>31</a:t>
            </a:r>
            <a:r>
              <a:rPr lang="en-US" altLang="zh-CN" sz="2200" dirty="0">
                <a:solidFill>
                  <a:srgbClr val="0000FF"/>
                </a:solidFill>
                <a:latin typeface="Arial" panose="020B0604020202020204" pitchFamily="34" charset="0"/>
                <a:ea typeface="黑体" panose="02010609060101010101" pitchFamily="49" charset="-122"/>
              </a:rPr>
              <a:t>+</a:t>
            </a:r>
            <a:r>
              <a:rPr lang="en-US" altLang="zh-CN" sz="2200" dirty="0">
                <a:solidFill>
                  <a:srgbClr val="CC0000"/>
                </a:solidFill>
                <a:latin typeface="Arial" panose="020B0604020202020204" pitchFamily="34" charset="0"/>
                <a:ea typeface="黑体" panose="02010609060101010101" pitchFamily="49" charset="-122"/>
              </a:rPr>
              <a:t>y</a:t>
            </a:r>
            <a:r>
              <a:rPr lang="en-US" altLang="zh-CN" sz="2200" baseline="-10000" dirty="0">
                <a:solidFill>
                  <a:srgbClr val="CC0000"/>
                </a:solidFill>
                <a:latin typeface="Arial" panose="020B0604020202020204" pitchFamily="34" charset="0"/>
                <a:ea typeface="黑体" panose="02010609060101010101" pitchFamily="49" charset="-122"/>
              </a:rPr>
              <a:t>30 </a:t>
            </a:r>
            <a:r>
              <a:rPr lang="en-US" altLang="zh-CN" sz="2200" baseline="30000" dirty="0">
                <a:solidFill>
                  <a:srgbClr val="CC0000"/>
                </a:solidFill>
                <a:latin typeface="Arial" panose="020B0604020202020204" pitchFamily="34" charset="0"/>
                <a:ea typeface="黑体" panose="02010609060101010101" pitchFamily="49" charset="-122"/>
              </a:rPr>
              <a:t>.</a:t>
            </a:r>
            <a:r>
              <a:rPr lang="en-US" altLang="zh-CN" sz="2200" dirty="0">
                <a:solidFill>
                  <a:srgbClr val="CC0000"/>
                </a:solidFill>
                <a:latin typeface="Arial" panose="020B0604020202020204" pitchFamily="34" charset="0"/>
                <a:ea typeface="黑体" panose="02010609060101010101" pitchFamily="49" charset="-122"/>
              </a:rPr>
              <a:t>2</a:t>
            </a:r>
            <a:r>
              <a:rPr lang="en-US" altLang="zh-CN" sz="2200" baseline="30000" dirty="0">
                <a:solidFill>
                  <a:srgbClr val="CC0000"/>
                </a:solidFill>
                <a:latin typeface="Arial" panose="020B0604020202020204" pitchFamily="34" charset="0"/>
                <a:ea typeface="黑体" panose="02010609060101010101" pitchFamily="49" charset="-122"/>
              </a:rPr>
              <a:t>30</a:t>
            </a:r>
            <a:r>
              <a:rPr lang="en-US" altLang="zh-CN" sz="22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1 </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2</a:t>
            </a:r>
            <a:r>
              <a:rPr lang="en-US" altLang="zh-CN" sz="2200" baseline="30000" dirty="0">
                <a:solidFill>
                  <a:srgbClr val="0000FF"/>
                </a:solidFill>
                <a:latin typeface="Arial" panose="020B0604020202020204" pitchFamily="34" charset="0"/>
                <a:ea typeface="黑体" panose="02010609060101010101" pitchFamily="49" charset="-122"/>
              </a:rPr>
              <a:t>1</a:t>
            </a:r>
            <a:r>
              <a:rPr lang="en-US" altLang="zh-CN" sz="22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dirty="0">
                <a:solidFill>
                  <a:srgbClr val="CC0000"/>
                </a:solidFill>
                <a:latin typeface="Arial" panose="020B0604020202020204" pitchFamily="34" charset="0"/>
                <a:ea typeface="黑体" panose="02010609060101010101" pitchFamily="49" charset="-122"/>
              </a:rPr>
              <a:t>y</a:t>
            </a:r>
            <a:r>
              <a:rPr lang="en-US" altLang="zh-CN" sz="2200" baseline="-10000" dirty="0">
                <a:solidFill>
                  <a:srgbClr val="CC0000"/>
                </a:solidFill>
                <a:latin typeface="Arial" panose="020B0604020202020204" pitchFamily="34" charset="0"/>
                <a:ea typeface="黑体" panose="02010609060101010101" pitchFamily="49" charset="-122"/>
              </a:rPr>
              <a:t>0</a:t>
            </a:r>
            <a:r>
              <a:rPr lang="en-US" altLang="zh-CN" sz="2200" baseline="30000" dirty="0">
                <a:solidFill>
                  <a:srgbClr val="CC0000"/>
                </a:solidFill>
                <a:latin typeface="Arial" panose="020B0604020202020204" pitchFamily="34" charset="0"/>
                <a:ea typeface="黑体" panose="02010609060101010101" pitchFamily="49" charset="-122"/>
              </a:rPr>
              <a:t>.</a:t>
            </a:r>
            <a:r>
              <a:rPr lang="en-US" altLang="zh-CN" sz="2200" dirty="0">
                <a:solidFill>
                  <a:srgbClr val="CC0000"/>
                </a:solidFill>
                <a:latin typeface="Arial" panose="020B0604020202020204" pitchFamily="34" charset="0"/>
                <a:ea typeface="黑体" panose="02010609060101010101" pitchFamily="49" charset="-122"/>
              </a:rPr>
              <a:t>2</a:t>
            </a:r>
            <a:r>
              <a:rPr lang="en-US" altLang="zh-CN" sz="2200" baseline="30000" dirty="0">
                <a:solidFill>
                  <a:srgbClr val="CC0000"/>
                </a:solidFill>
                <a:latin typeface="Arial" panose="020B0604020202020204" pitchFamily="34" charset="0"/>
                <a:ea typeface="黑体" panose="02010609060101010101" pitchFamily="49" charset="-122"/>
              </a:rPr>
              <a:t>0</a:t>
            </a:r>
            <a:r>
              <a:rPr lang="en-US" altLang="zh-CN" sz="2200" baseline="30000" dirty="0">
                <a:solidFill>
                  <a:srgbClr val="0000FF"/>
                </a:solidFill>
                <a:latin typeface="Arial" panose="020B0604020202020204" pitchFamily="34" charset="0"/>
                <a:ea typeface="黑体" panose="02010609060101010101" pitchFamily="49" charset="-122"/>
              </a:rPr>
              <a:t> </a:t>
            </a:r>
            <a:r>
              <a:rPr lang="en-US" altLang="zh-CN" sz="2200" dirty="0">
                <a:solidFill>
                  <a:srgbClr val="0000FF"/>
                </a:solidFill>
                <a:latin typeface="Arial" panose="020B0604020202020204" pitchFamily="34" charset="0"/>
                <a:ea typeface="黑体" panose="02010609060101010101" pitchFamily="49" charset="-122"/>
              </a:rPr>
              <a:t>+</a:t>
            </a:r>
            <a:r>
              <a:rPr lang="en-US" altLang="zh-CN" sz="2200" baseline="-10000" dirty="0">
                <a:solidFill>
                  <a:srgbClr val="0000FF"/>
                </a:solidFill>
                <a:latin typeface="Arial" panose="020B0604020202020204" pitchFamily="34" charset="0"/>
                <a:ea typeface="黑体" panose="02010609060101010101" pitchFamily="49" charset="-122"/>
              </a:rPr>
              <a:t>  </a:t>
            </a:r>
            <a:r>
              <a:rPr lang="en-US" altLang="zh-CN" sz="2200" dirty="0">
                <a:solidFill>
                  <a:srgbClr val="0000FF"/>
                </a:solidFill>
                <a:latin typeface="Arial" panose="020B0604020202020204" pitchFamily="34" charset="0"/>
                <a:ea typeface="黑体" panose="02010609060101010101" pitchFamily="49" charset="-122"/>
              </a:rPr>
              <a:t>y</a:t>
            </a:r>
            <a:r>
              <a:rPr lang="en-US" altLang="zh-CN" sz="2200" baseline="-10000" dirty="0">
                <a:solidFill>
                  <a:srgbClr val="0000FF"/>
                </a:solidFill>
                <a:latin typeface="Arial" panose="020B0604020202020204" pitchFamily="34" charset="0"/>
                <a:ea typeface="黑体" panose="02010609060101010101" pitchFamily="49" charset="-122"/>
              </a:rPr>
              <a:t>-1 </a:t>
            </a:r>
            <a:r>
              <a:rPr lang="en-US" altLang="zh-CN" sz="2200" baseline="300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2</a:t>
            </a:r>
            <a:r>
              <a:rPr lang="en-US" altLang="zh-CN" sz="2200" baseline="30000" dirty="0">
                <a:solidFill>
                  <a:srgbClr val="0000FF"/>
                </a:solidFill>
                <a:latin typeface="Arial" panose="020B0604020202020204" pitchFamily="34" charset="0"/>
                <a:ea typeface="黑体" panose="02010609060101010101" pitchFamily="49" charset="-122"/>
              </a:rPr>
              <a:t>0</a:t>
            </a:r>
            <a:endParaRPr lang="zh-CN" altLang="en-US" sz="2200" dirty="0">
              <a:solidFill>
                <a:schemeClr val="accent2"/>
              </a:solidFill>
              <a:latin typeface="Arial" panose="020B0604020202020204" pitchFamily="34" charset="0"/>
              <a:ea typeface="黑体" panose="02010609060101010101" pitchFamily="49" charset="-122"/>
            </a:endParaRPr>
          </a:p>
          <a:p>
            <a:pPr marL="203200" indent="-203200" eaLnBrk="0" hangingPunct="0">
              <a:lnSpc>
                <a:spcPct val="110000"/>
              </a:lnSpc>
              <a:spcBef>
                <a:spcPct val="10000"/>
              </a:spcBef>
              <a:buClr>
                <a:schemeClr val="tx1"/>
              </a:buClr>
              <a:buSzPct val="60000"/>
              <a:buFont typeface="Wingdings" panose="05000000000000000000" pitchFamily="2" charset="2"/>
            </a:pPr>
            <a:r>
              <a:rPr lang="zh-CN" altLang="en-US" sz="2200" dirty="0">
                <a:solidFill>
                  <a:schemeClr val="accent2"/>
                </a:solidFill>
                <a:latin typeface="Arial" panose="020B0604020202020204" pitchFamily="34" charset="0"/>
                <a:ea typeface="宋体" panose="02010600030101010101" pitchFamily="2" charset="-122"/>
              </a:rPr>
              <a:t>    </a:t>
            </a:r>
            <a:endParaRPr lang="zh-CN" altLang="en-US" sz="2200" dirty="0">
              <a:solidFill>
                <a:schemeClr val="accent2"/>
              </a:solidFill>
              <a:latin typeface="Arial" panose="020B0604020202020204" pitchFamily="34" charset="0"/>
              <a:ea typeface="宋体" panose="02010600030101010101" pitchFamily="2" charset="-122"/>
            </a:endParaRPr>
          </a:p>
        </p:txBody>
      </p:sp>
      <p:grpSp>
        <p:nvGrpSpPr>
          <p:cNvPr id="2" name="Group 14"/>
          <p:cNvGrpSpPr/>
          <p:nvPr/>
        </p:nvGrpSpPr>
        <p:grpSpPr>
          <a:xfrm>
            <a:off x="1928813" y="3540125"/>
            <a:ext cx="5961062" cy="639763"/>
            <a:chOff x="1515" y="2722"/>
            <a:chExt cx="3755" cy="403"/>
          </a:xfrm>
        </p:grpSpPr>
        <p:sp>
          <p:nvSpPr>
            <p:cNvPr id="61445" name="Line 6"/>
            <p:cNvSpPr/>
            <p:nvPr/>
          </p:nvSpPr>
          <p:spPr>
            <a:xfrm>
              <a:off x="2692" y="2722"/>
              <a:ext cx="4" cy="200"/>
            </a:xfrm>
            <a:prstGeom prst="line">
              <a:avLst/>
            </a:prstGeom>
            <a:ln w="38100" cap="flat" cmpd="sng">
              <a:solidFill>
                <a:schemeClr val="tx1"/>
              </a:solidFill>
              <a:prstDash val="solid"/>
              <a:round/>
              <a:headEnd type="none" w="med" len="med"/>
              <a:tailEnd type="triangle" w="med" len="med"/>
            </a:ln>
          </p:spPr>
        </p:sp>
        <p:sp>
          <p:nvSpPr>
            <p:cNvPr id="61446" name="Text Box 7"/>
            <p:cNvSpPr txBox="1"/>
            <p:nvPr/>
          </p:nvSpPr>
          <p:spPr>
            <a:xfrm>
              <a:off x="1515" y="2875"/>
              <a:ext cx="3755" cy="250"/>
            </a:xfrm>
            <a:prstGeom prst="rect">
              <a:avLst/>
            </a:prstGeom>
            <a:noFill/>
            <a:ln w="9525">
              <a:noFill/>
            </a:ln>
          </p:spPr>
          <p:txBody>
            <a:bodyPr anchor="t" anchorCtr="0">
              <a:spAutoFit/>
            </a:bodyPr>
            <a:p>
              <a:pPr eaLnBrk="0" hangingPunct="0">
                <a:spcBef>
                  <a:spcPct val="50000"/>
                </a:spcBef>
              </a:pPr>
              <a:r>
                <a:rPr lang="zh-CN" altLang="en-US" sz="2000" dirty="0">
                  <a:solidFill>
                    <a:srgbClr val="0000FF"/>
                  </a:solidFill>
                  <a:latin typeface="Arial" panose="020B0604020202020204" pitchFamily="34" charset="0"/>
                  <a:ea typeface="宋体" panose="02010600030101010101" pitchFamily="2" charset="-122"/>
                </a:rPr>
                <a:t>-</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31</a:t>
              </a:r>
              <a:r>
                <a:rPr lang="en-US" altLang="zh-CN" sz="2000" baseline="30000" dirty="0">
                  <a:solidFill>
                    <a:srgbClr val="0000FF"/>
                  </a:solidFill>
                  <a:latin typeface="Arial" panose="020B0604020202020204" pitchFamily="34" charset="0"/>
                </a:rPr>
                <a:t>.</a:t>
              </a:r>
              <a:r>
                <a:rPr lang="en-US" altLang="zh-CN" sz="2000" dirty="0">
                  <a:solidFill>
                    <a:srgbClr val="0000FF"/>
                  </a:solidFill>
                  <a:latin typeface="Arial" panose="020B0604020202020204" pitchFamily="34" charset="0"/>
                </a:rPr>
                <a:t>2</a:t>
              </a:r>
              <a:r>
                <a:rPr lang="en-US" altLang="zh-CN" sz="2000" baseline="30000" dirty="0">
                  <a:solidFill>
                    <a:srgbClr val="0000FF"/>
                  </a:solidFill>
                  <a:latin typeface="Arial" panose="020B0604020202020204" pitchFamily="34" charset="0"/>
                </a:rPr>
                <a:t>31</a:t>
              </a:r>
              <a:r>
                <a:rPr lang="en-US" altLang="zh-CN" sz="2000" dirty="0">
                  <a:solidFill>
                    <a:srgbClr val="0000FF"/>
                  </a:solidFill>
                  <a:latin typeface="Arial" panose="020B0604020202020204" pitchFamily="34" charset="0"/>
                </a:rPr>
                <a:t>+</a:t>
              </a:r>
              <a:r>
                <a:rPr lang="en-US" altLang="zh-CN" sz="2000" dirty="0">
                  <a:solidFill>
                    <a:srgbClr val="CC0000"/>
                  </a:solidFill>
                  <a:latin typeface="Arial" panose="020B0604020202020204" pitchFamily="34" charset="0"/>
                  <a:ea typeface="华文新魏" pitchFamily="2" charset="-122"/>
                </a:rPr>
                <a:t>(y</a:t>
              </a:r>
              <a:r>
                <a:rPr lang="en-US" altLang="zh-CN" sz="2000" baseline="-10000" dirty="0">
                  <a:solidFill>
                    <a:srgbClr val="CC0000"/>
                  </a:solidFill>
                  <a:latin typeface="Arial" panose="020B0604020202020204" pitchFamily="34" charset="0"/>
                  <a:ea typeface="华文新魏" pitchFamily="2" charset="-122"/>
                </a:rPr>
                <a:t>30</a:t>
              </a:r>
              <a:r>
                <a:rPr lang="en-US" altLang="zh-CN" sz="2000" baseline="30000" dirty="0">
                  <a:solidFill>
                    <a:srgbClr val="CC0000"/>
                  </a:solidFill>
                  <a:latin typeface="Arial" panose="020B0604020202020204" pitchFamily="34" charset="0"/>
                  <a:ea typeface="华文新魏" pitchFamily="2" charset="-122"/>
                </a:rPr>
                <a:t>.</a:t>
              </a:r>
              <a:r>
                <a:rPr lang="en-US" altLang="zh-CN" sz="2000" dirty="0">
                  <a:solidFill>
                    <a:srgbClr val="CC0000"/>
                  </a:solidFill>
                  <a:latin typeface="Arial" panose="020B0604020202020204" pitchFamily="34" charset="0"/>
                  <a:ea typeface="华文新魏" pitchFamily="2" charset="-122"/>
                </a:rPr>
                <a:t>2</a:t>
              </a:r>
              <a:r>
                <a:rPr lang="en-US" altLang="zh-CN" sz="2000" baseline="30000" dirty="0">
                  <a:solidFill>
                    <a:srgbClr val="CC0000"/>
                  </a:solidFill>
                  <a:latin typeface="Arial" panose="020B0604020202020204" pitchFamily="34" charset="0"/>
                  <a:ea typeface="华文新魏" pitchFamily="2" charset="-122"/>
                </a:rPr>
                <a:t>31</a:t>
              </a:r>
              <a:r>
                <a:rPr lang="en-US" altLang="zh-CN" sz="2000" dirty="0">
                  <a:solidFill>
                    <a:srgbClr val="CC0000"/>
                  </a:solidFill>
                  <a:latin typeface="Arial" panose="020B0604020202020204" pitchFamily="34" charset="0"/>
                  <a:ea typeface="华文新魏" pitchFamily="2" charset="-122"/>
                </a:rPr>
                <a:t>-y</a:t>
              </a:r>
              <a:r>
                <a:rPr lang="en-US" altLang="zh-CN" sz="2000" baseline="-10000" dirty="0">
                  <a:solidFill>
                    <a:srgbClr val="CC0000"/>
                  </a:solidFill>
                  <a:latin typeface="Arial" panose="020B0604020202020204" pitchFamily="34" charset="0"/>
                  <a:ea typeface="华文新魏" pitchFamily="2" charset="-122"/>
                </a:rPr>
                <a:t>30</a:t>
              </a:r>
              <a:r>
                <a:rPr lang="en-US" altLang="zh-CN" sz="2000" baseline="30000" dirty="0">
                  <a:solidFill>
                    <a:srgbClr val="CC0000"/>
                  </a:solidFill>
                  <a:latin typeface="Arial" panose="020B0604020202020204" pitchFamily="34" charset="0"/>
                  <a:ea typeface="华文新魏" pitchFamily="2" charset="-122"/>
                </a:rPr>
                <a:t>.</a:t>
              </a:r>
              <a:r>
                <a:rPr lang="en-US" altLang="zh-CN" sz="2000" dirty="0">
                  <a:solidFill>
                    <a:srgbClr val="CC0000"/>
                  </a:solidFill>
                  <a:latin typeface="Arial" panose="020B0604020202020204" pitchFamily="34" charset="0"/>
                  <a:ea typeface="华文新魏" pitchFamily="2" charset="-122"/>
                </a:rPr>
                <a:t>2</a:t>
              </a:r>
              <a:r>
                <a:rPr lang="en-US" altLang="zh-CN" sz="2000" baseline="30000" dirty="0">
                  <a:solidFill>
                    <a:srgbClr val="CC0000"/>
                  </a:solidFill>
                  <a:latin typeface="Arial" panose="020B0604020202020204" pitchFamily="34" charset="0"/>
                  <a:ea typeface="华文新魏" pitchFamily="2" charset="-122"/>
                </a:rPr>
                <a:t>30</a:t>
              </a:r>
              <a:r>
                <a:rPr lang="en-US" altLang="zh-CN" sz="2000" dirty="0">
                  <a:solidFill>
                    <a:srgbClr val="CC0000"/>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ea typeface="华文新魏" pitchFamily="2" charset="-122"/>
                </a:rPr>
                <a:t>+</a:t>
              </a:r>
              <a:r>
                <a:rPr lang="en-US" altLang="zh-CN" sz="2000" baseline="30000" dirty="0">
                  <a:solidFill>
                    <a:srgbClr val="0000FF"/>
                  </a:solidFill>
                  <a:latin typeface="Arial" panose="020B0604020202020204" pitchFamily="34" charset="0"/>
                </a:rPr>
                <a:t>…… </a:t>
              </a:r>
              <a:r>
                <a:rPr lang="en-US" altLang="zh-CN" sz="2000" dirty="0">
                  <a:solidFill>
                    <a:srgbClr val="0000FF"/>
                  </a:solidFill>
                  <a:latin typeface="Arial" panose="020B0604020202020204" pitchFamily="34" charset="0"/>
                </a:rPr>
                <a:t>+</a:t>
              </a:r>
              <a:r>
                <a:rPr lang="en-US" altLang="zh-CN" sz="2000" dirty="0">
                  <a:solidFill>
                    <a:srgbClr val="CC0000"/>
                  </a:solidFill>
                  <a:latin typeface="Arial" panose="020B0604020202020204" pitchFamily="34" charset="0"/>
                  <a:ea typeface="华文新魏" pitchFamily="2" charset="-122"/>
                </a:rPr>
                <a:t>(</a:t>
              </a:r>
              <a:r>
                <a:rPr lang="en-US" altLang="zh-CN" sz="2000" dirty="0">
                  <a:solidFill>
                    <a:srgbClr val="CC0000"/>
                  </a:solidFill>
                  <a:latin typeface="Arial" panose="020B0604020202020204" pitchFamily="34" charset="0"/>
                </a:rPr>
                <a:t>y</a:t>
              </a:r>
              <a:r>
                <a:rPr lang="en-US" altLang="zh-CN" sz="2000" baseline="-10000" dirty="0">
                  <a:solidFill>
                    <a:srgbClr val="CC0000"/>
                  </a:solidFill>
                  <a:latin typeface="Arial" panose="020B0604020202020204" pitchFamily="34" charset="0"/>
                </a:rPr>
                <a:t>0</a:t>
              </a:r>
              <a:r>
                <a:rPr lang="en-US" altLang="zh-CN" sz="2000" baseline="30000" dirty="0">
                  <a:solidFill>
                    <a:srgbClr val="CC0000"/>
                  </a:solidFill>
                  <a:latin typeface="Arial" panose="020B0604020202020204" pitchFamily="34" charset="0"/>
                </a:rPr>
                <a:t>.</a:t>
              </a:r>
              <a:r>
                <a:rPr lang="en-US" altLang="zh-CN" sz="2000" dirty="0">
                  <a:solidFill>
                    <a:srgbClr val="CC0000"/>
                  </a:solidFill>
                  <a:latin typeface="Arial" panose="020B0604020202020204" pitchFamily="34" charset="0"/>
                </a:rPr>
                <a:t>2</a:t>
              </a:r>
              <a:r>
                <a:rPr lang="en-US" altLang="zh-CN" sz="2000" baseline="30000" dirty="0">
                  <a:solidFill>
                    <a:srgbClr val="CC0000"/>
                  </a:solidFill>
                  <a:latin typeface="Arial" panose="020B0604020202020204" pitchFamily="34" charset="0"/>
                </a:rPr>
                <a:t>1</a:t>
              </a:r>
              <a:r>
                <a:rPr lang="en-US" altLang="zh-CN" sz="2000" dirty="0">
                  <a:solidFill>
                    <a:srgbClr val="CC0000"/>
                  </a:solidFill>
                  <a:latin typeface="Arial" panose="020B0604020202020204" pitchFamily="34" charset="0"/>
                  <a:ea typeface="华文新魏" pitchFamily="2" charset="-122"/>
                </a:rPr>
                <a:t>-y</a:t>
              </a:r>
              <a:r>
                <a:rPr lang="en-US" altLang="zh-CN" sz="2000" baseline="-10000" dirty="0">
                  <a:solidFill>
                    <a:srgbClr val="CC0000"/>
                  </a:solidFill>
                  <a:latin typeface="Arial" panose="020B0604020202020204" pitchFamily="34" charset="0"/>
                  <a:ea typeface="华文新魏" pitchFamily="2" charset="-122"/>
                </a:rPr>
                <a:t>0</a:t>
              </a:r>
              <a:r>
                <a:rPr lang="en-US" altLang="zh-CN" sz="2000" baseline="30000" dirty="0">
                  <a:solidFill>
                    <a:srgbClr val="CC0000"/>
                  </a:solidFill>
                  <a:latin typeface="Arial" panose="020B0604020202020204" pitchFamily="34" charset="0"/>
                  <a:ea typeface="华文新魏" pitchFamily="2" charset="-122"/>
                </a:rPr>
                <a:t>.</a:t>
              </a:r>
              <a:r>
                <a:rPr lang="en-US" altLang="zh-CN" sz="2000" dirty="0">
                  <a:solidFill>
                    <a:srgbClr val="CC0000"/>
                  </a:solidFill>
                  <a:latin typeface="Arial" panose="020B0604020202020204" pitchFamily="34" charset="0"/>
                  <a:ea typeface="华文新魏" pitchFamily="2" charset="-122"/>
                </a:rPr>
                <a:t>2</a:t>
              </a:r>
              <a:r>
                <a:rPr lang="en-US" altLang="zh-CN" sz="2000" baseline="30000" dirty="0">
                  <a:solidFill>
                    <a:srgbClr val="CC0000"/>
                  </a:solidFill>
                  <a:latin typeface="Arial" panose="020B0604020202020204" pitchFamily="34" charset="0"/>
                  <a:ea typeface="华文新魏" pitchFamily="2" charset="-122"/>
                </a:rPr>
                <a:t>0</a:t>
              </a:r>
              <a:r>
                <a:rPr lang="en-US" altLang="zh-CN" sz="2000" dirty="0">
                  <a:solidFill>
                    <a:srgbClr val="CC0000"/>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ea typeface="华文新魏" pitchFamily="2" charset="-122"/>
                </a:rPr>
                <a:t>+ </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-1</a:t>
              </a:r>
              <a:r>
                <a:rPr lang="en-US" altLang="zh-CN" sz="2000" baseline="30000" dirty="0">
                  <a:solidFill>
                    <a:srgbClr val="0000FF"/>
                  </a:solidFill>
                  <a:latin typeface="Arial" panose="020B0604020202020204" pitchFamily="34" charset="0"/>
                </a:rPr>
                <a:t>.</a:t>
              </a:r>
              <a:r>
                <a:rPr lang="en-US" altLang="zh-CN" sz="2000" dirty="0">
                  <a:solidFill>
                    <a:srgbClr val="0000FF"/>
                  </a:solidFill>
                  <a:latin typeface="Arial" panose="020B0604020202020204" pitchFamily="34" charset="0"/>
                </a:rPr>
                <a:t>2</a:t>
              </a:r>
              <a:r>
                <a:rPr lang="en-US" altLang="zh-CN" sz="2000" baseline="30000" dirty="0">
                  <a:solidFill>
                    <a:srgbClr val="0000FF"/>
                  </a:solidFill>
                  <a:latin typeface="Arial" panose="020B0604020202020204" pitchFamily="34" charset="0"/>
                </a:rPr>
                <a:t>0</a:t>
              </a:r>
              <a:r>
                <a:rPr lang="en-US" altLang="zh-CN" sz="2000" dirty="0">
                  <a:solidFill>
                    <a:srgbClr val="0000FF"/>
                  </a:solidFill>
                  <a:latin typeface="Arial" panose="020B0604020202020204" pitchFamily="34" charset="0"/>
                  <a:ea typeface="华文新魏" pitchFamily="2" charset="-122"/>
                </a:rPr>
                <a:t> </a:t>
              </a:r>
              <a:endParaRPr lang="en-US" altLang="zh-CN" sz="2000" dirty="0">
                <a:solidFill>
                  <a:srgbClr val="0000FF"/>
                </a:solidFill>
                <a:latin typeface="Arial" panose="020B0604020202020204" pitchFamily="34" charset="0"/>
                <a:ea typeface="华文新魏" pitchFamily="2" charset="-122"/>
              </a:endParaRPr>
            </a:p>
          </p:txBody>
        </p:sp>
      </p:grpSp>
      <p:grpSp>
        <p:nvGrpSpPr>
          <p:cNvPr id="3" name="Group 8"/>
          <p:cNvGrpSpPr/>
          <p:nvPr/>
        </p:nvGrpSpPr>
        <p:grpSpPr>
          <a:xfrm>
            <a:off x="779463" y="4108450"/>
            <a:ext cx="7689850" cy="674688"/>
            <a:chOff x="791" y="3302"/>
            <a:chExt cx="4844" cy="425"/>
          </a:xfrm>
        </p:grpSpPr>
        <p:sp>
          <p:nvSpPr>
            <p:cNvPr id="61448" name="Text Box 9"/>
            <p:cNvSpPr txBox="1"/>
            <p:nvPr/>
          </p:nvSpPr>
          <p:spPr>
            <a:xfrm>
              <a:off x="791" y="3477"/>
              <a:ext cx="4844" cy="250"/>
            </a:xfrm>
            <a:prstGeom prst="rect">
              <a:avLst/>
            </a:prstGeom>
            <a:noFill/>
            <a:ln w="9525">
              <a:noFill/>
            </a:ln>
          </p:spPr>
          <p:txBody>
            <a:bodyPr anchor="t" anchorCtr="0">
              <a:spAutoFit/>
            </a:bodyPr>
            <a:p>
              <a:pPr eaLnBrk="0" hangingPunct="0">
                <a:spcBef>
                  <a:spcPct val="50000"/>
                </a:spcBef>
              </a:pP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30 </a:t>
              </a:r>
              <a:r>
                <a:rPr lang="zh-CN" altLang="en-US" sz="2000" dirty="0">
                  <a:solidFill>
                    <a:srgbClr val="0000FF"/>
                  </a:solidFill>
                  <a:latin typeface="Arial" panose="020B0604020202020204" pitchFamily="34" charset="0"/>
                  <a:ea typeface="宋体" panose="02010600030101010101" pitchFamily="2" charset="-122"/>
                </a:rPr>
                <a:t>-</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31 </a:t>
              </a:r>
              <a:r>
                <a:rPr lang="en-US" altLang="zh-CN" sz="2000" dirty="0">
                  <a:solidFill>
                    <a:srgbClr val="0000FF"/>
                  </a:solidFill>
                  <a:latin typeface="Arial" panose="020B0604020202020204" pitchFamily="34" charset="0"/>
                  <a:ea typeface="华文新魏" pitchFamily="2" charset="-122"/>
                </a:rPr>
                <a:t>)</a:t>
              </a:r>
              <a:r>
                <a:rPr lang="en-US" altLang="zh-CN" sz="2000" baseline="30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ea typeface="华文新魏" pitchFamily="2" charset="-122"/>
                </a:rPr>
                <a:t>2</a:t>
              </a:r>
              <a:r>
                <a:rPr lang="en-US" altLang="zh-CN" sz="2000" baseline="30000" dirty="0">
                  <a:solidFill>
                    <a:srgbClr val="0000FF"/>
                  </a:solidFill>
                  <a:latin typeface="Arial" panose="020B0604020202020204" pitchFamily="34" charset="0"/>
                  <a:ea typeface="华文新魏" pitchFamily="2" charset="-122"/>
                </a:rPr>
                <a:t>31</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29</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30</a:t>
              </a:r>
              <a:r>
                <a:rPr lang="en-US" altLang="zh-CN" sz="2000" dirty="0">
                  <a:solidFill>
                    <a:srgbClr val="0000FF"/>
                  </a:solidFill>
                  <a:latin typeface="Arial" panose="020B0604020202020204" pitchFamily="34" charset="0"/>
                  <a:ea typeface="华文新魏" pitchFamily="2" charset="-122"/>
                </a:rPr>
                <a:t>)</a:t>
              </a:r>
              <a:r>
                <a:rPr lang="en-US" altLang="zh-CN" sz="2000" baseline="30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ea typeface="华文新魏" pitchFamily="2" charset="-122"/>
                </a:rPr>
                <a:t>2</a:t>
              </a:r>
              <a:r>
                <a:rPr lang="en-US" altLang="zh-CN" sz="2000" baseline="30000" dirty="0">
                  <a:solidFill>
                    <a:srgbClr val="0000FF"/>
                  </a:solidFill>
                  <a:latin typeface="Arial" panose="020B0604020202020204" pitchFamily="34" charset="0"/>
                  <a:ea typeface="华文新魏" pitchFamily="2" charset="-122"/>
                </a:rPr>
                <a:t>30</a:t>
              </a:r>
              <a:r>
                <a:rPr lang="en-US" altLang="zh-CN" sz="2000" dirty="0">
                  <a:solidFill>
                    <a:srgbClr val="0000FF"/>
                  </a:solidFill>
                  <a:latin typeface="Arial" panose="020B0604020202020204" pitchFamily="34" charset="0"/>
                  <a:ea typeface="华文新魏" pitchFamily="2" charset="-122"/>
                </a:rPr>
                <a:t>+ </a:t>
              </a:r>
              <a:r>
                <a:rPr lang="en-US" altLang="zh-CN" sz="2000" baseline="30000" dirty="0">
                  <a:solidFill>
                    <a:srgbClr val="0000FF"/>
                  </a:solidFill>
                  <a:latin typeface="Arial" panose="020B0604020202020204" pitchFamily="34" charset="0"/>
                </a:rPr>
                <a:t>…… </a:t>
              </a:r>
              <a:r>
                <a:rPr lang="en-US" altLang="zh-CN" sz="2000" dirty="0">
                  <a:solidFill>
                    <a:srgbClr val="0000FF"/>
                  </a:solidFill>
                  <a:latin typeface="Arial" panose="020B0604020202020204" pitchFamily="34" charset="0"/>
                  <a:ea typeface="华文新魏" pitchFamily="2" charset="-122"/>
                </a:rPr>
                <a:t>+ (</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0</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a:t>
              </a:r>
              <a:r>
                <a:rPr lang="en-US" altLang="zh-CN" sz="2000" baseline="30000" dirty="0">
                  <a:solidFill>
                    <a:srgbClr val="0000FF"/>
                  </a:solidFill>
                  <a:latin typeface="Arial" panose="020B0604020202020204" pitchFamily="34" charset="0"/>
                </a:rPr>
                <a:t>.</a:t>
              </a:r>
              <a:r>
                <a:rPr lang="en-US" altLang="zh-CN" sz="2000" dirty="0">
                  <a:solidFill>
                    <a:srgbClr val="0000FF"/>
                  </a:solidFill>
                  <a:latin typeface="Arial" panose="020B0604020202020204" pitchFamily="34" charset="0"/>
                </a:rPr>
                <a:t>2</a:t>
              </a:r>
              <a:r>
                <a:rPr lang="en-US" altLang="zh-CN" sz="2000" baseline="30000" dirty="0">
                  <a:solidFill>
                    <a:srgbClr val="0000FF"/>
                  </a:solidFill>
                  <a:latin typeface="Arial" panose="020B0604020202020204" pitchFamily="34" charset="0"/>
                </a:rPr>
                <a:t>1 </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0</a:t>
              </a:r>
              <a:r>
                <a:rPr lang="en-US" altLang="zh-CN" sz="2000" dirty="0">
                  <a:solidFill>
                    <a:srgbClr val="0000FF"/>
                  </a:solidFill>
                  <a:latin typeface="Arial" panose="020B0604020202020204" pitchFamily="34" charset="0"/>
                  <a:ea typeface="华文新魏" pitchFamily="2" charset="-122"/>
                </a:rPr>
                <a:t>)</a:t>
              </a:r>
              <a:r>
                <a:rPr lang="en-US" altLang="zh-CN" sz="2000" baseline="30000" dirty="0">
                  <a:solidFill>
                    <a:srgbClr val="0000FF"/>
                  </a:solidFill>
                  <a:latin typeface="Arial" panose="020B0604020202020204" pitchFamily="34" charset="0"/>
                </a:rPr>
                <a:t>.</a:t>
              </a:r>
              <a:r>
                <a:rPr lang="en-US" altLang="zh-CN" sz="2000" dirty="0">
                  <a:solidFill>
                    <a:srgbClr val="0000FF"/>
                  </a:solidFill>
                  <a:latin typeface="Arial" panose="020B0604020202020204" pitchFamily="34" charset="0"/>
                </a:rPr>
                <a:t>2</a:t>
              </a:r>
              <a:r>
                <a:rPr lang="en-US" altLang="zh-CN" sz="2000" baseline="30000" dirty="0">
                  <a:solidFill>
                    <a:srgbClr val="0000FF"/>
                  </a:solidFill>
                  <a:latin typeface="Arial" panose="020B0604020202020204" pitchFamily="34" charset="0"/>
                </a:rPr>
                <a:t>0</a:t>
              </a:r>
              <a:r>
                <a:rPr lang="en-US" altLang="zh-CN" sz="2000" dirty="0">
                  <a:solidFill>
                    <a:srgbClr val="0000FF"/>
                  </a:solidFill>
                  <a:latin typeface="Arial" panose="020B0604020202020204" pitchFamily="34" charset="0"/>
                  <a:ea typeface="华文新魏" pitchFamily="2" charset="-122"/>
                </a:rPr>
                <a:t> </a:t>
              </a:r>
              <a:endParaRPr lang="en-US" altLang="zh-CN" sz="2000" dirty="0">
                <a:solidFill>
                  <a:srgbClr val="0000FF"/>
                </a:solidFill>
                <a:latin typeface="Arial" panose="020B0604020202020204" pitchFamily="34" charset="0"/>
                <a:ea typeface="华文新魏" pitchFamily="2" charset="-122"/>
              </a:endParaRPr>
            </a:p>
          </p:txBody>
        </p:sp>
        <p:sp>
          <p:nvSpPr>
            <p:cNvPr id="61449" name="Line 10"/>
            <p:cNvSpPr/>
            <p:nvPr/>
          </p:nvSpPr>
          <p:spPr>
            <a:xfrm>
              <a:off x="2702" y="3302"/>
              <a:ext cx="4" cy="200"/>
            </a:xfrm>
            <a:prstGeom prst="line">
              <a:avLst/>
            </a:prstGeom>
            <a:ln w="38100" cap="flat" cmpd="sng">
              <a:solidFill>
                <a:schemeClr val="tx1"/>
              </a:solidFill>
              <a:prstDash val="solid"/>
              <a:round/>
              <a:headEnd type="none" w="med" len="med"/>
              <a:tailEnd type="triangle" w="med" len="med"/>
            </a:ln>
          </p:spPr>
        </p:sp>
      </p:grpSp>
      <p:sp>
        <p:nvSpPr>
          <p:cNvPr id="423947" name="Text Box 11"/>
          <p:cNvSpPr txBox="1"/>
          <p:nvPr/>
        </p:nvSpPr>
        <p:spPr>
          <a:xfrm>
            <a:off x="781050" y="6027738"/>
            <a:ext cx="6188075" cy="427037"/>
          </a:xfrm>
          <a:prstGeom prst="rect">
            <a:avLst/>
          </a:prstGeom>
          <a:noFill/>
          <a:ln w="9525">
            <a:noFill/>
          </a:ln>
        </p:spPr>
        <p:txBody>
          <a:bodyPr anchor="t" anchorCtr="0">
            <a:spAutoFit/>
          </a:bodyPr>
          <a:p>
            <a:pPr eaLnBrk="0" hangingPunct="0">
              <a:spcBef>
                <a:spcPct val="50000"/>
              </a:spcBef>
            </a:pPr>
            <a:r>
              <a:rPr lang="zh-CN" altLang="en-US" sz="2200" dirty="0">
                <a:latin typeface="Arial" panose="020B0604020202020204" pitchFamily="34" charset="0"/>
                <a:ea typeface="黑体" panose="02010609060101010101" pitchFamily="49" charset="-122"/>
              </a:rPr>
              <a:t>部分积公式：</a:t>
            </a:r>
            <a:r>
              <a:rPr lang="en-US" altLang="zh-CN" sz="2200" dirty="0">
                <a:latin typeface="Arial" panose="020B0604020202020204" pitchFamily="34" charset="0"/>
                <a:ea typeface="黑体" panose="02010609060101010101" pitchFamily="49" charset="-122"/>
              </a:rPr>
              <a:t>P</a:t>
            </a:r>
            <a:r>
              <a:rPr lang="en-US" altLang="zh-CN" sz="2200" baseline="-8000" dirty="0">
                <a:latin typeface="Arial" panose="020B0604020202020204" pitchFamily="34" charset="0"/>
                <a:ea typeface="黑体" panose="02010609060101010101" pitchFamily="49" charset="-122"/>
              </a:rPr>
              <a:t>i</a:t>
            </a:r>
            <a:r>
              <a:rPr lang="en-US" altLang="zh-CN" sz="2200" dirty="0">
                <a:latin typeface="Arial" panose="020B0604020202020204" pitchFamily="34" charset="0"/>
                <a:ea typeface="黑体" panose="02010609060101010101" pitchFamily="49" charset="-122"/>
              </a:rPr>
              <a:t>=2</a:t>
            </a:r>
            <a:r>
              <a:rPr lang="en-US" altLang="zh-CN" sz="2200" baseline="30000" dirty="0">
                <a:latin typeface="Arial" panose="020B0604020202020204" pitchFamily="34" charset="0"/>
                <a:ea typeface="黑体" panose="02010609060101010101" pitchFamily="49" charset="-122"/>
              </a:rPr>
              <a:t>-1</a:t>
            </a:r>
            <a:r>
              <a:rPr lang="en-US" altLang="zh-CN" sz="2200" dirty="0">
                <a:latin typeface="Arial" panose="020B0604020202020204" pitchFamily="34" charset="0"/>
                <a:ea typeface="黑体" panose="02010609060101010101" pitchFamily="49" charset="-122"/>
              </a:rPr>
              <a:t>(P</a:t>
            </a:r>
            <a:r>
              <a:rPr lang="en-US" altLang="zh-CN" sz="2200" baseline="-8000" dirty="0">
                <a:latin typeface="Arial" panose="020B0604020202020204" pitchFamily="34" charset="0"/>
                <a:ea typeface="黑体" panose="02010609060101010101" pitchFamily="49" charset="-122"/>
              </a:rPr>
              <a:t>i-1</a:t>
            </a:r>
            <a:r>
              <a:rPr lang="en-US" altLang="zh-CN" sz="2200" dirty="0">
                <a:latin typeface="Arial" panose="020B0604020202020204" pitchFamily="34" charset="0"/>
                <a:ea typeface="黑体" panose="02010609060101010101" pitchFamily="49" charset="-122"/>
              </a:rPr>
              <a:t>+</a:t>
            </a:r>
            <a:r>
              <a:rPr lang="en-US" altLang="zh-CN" sz="2200" baseline="-8000" dirty="0">
                <a:latin typeface="Arial" panose="020B0604020202020204" pitchFamily="34" charset="0"/>
                <a:ea typeface="黑体" panose="02010609060101010101" pitchFamily="49" charset="-122"/>
              </a:rPr>
              <a:t> </a:t>
            </a:r>
            <a:r>
              <a:rPr lang="en-US" altLang="zh-CN" sz="2200" dirty="0">
                <a:latin typeface="Arial" panose="020B0604020202020204" pitchFamily="34" charset="0"/>
                <a:ea typeface="黑体" panose="02010609060101010101" pitchFamily="49" charset="-122"/>
              </a:rPr>
              <a:t>(y</a:t>
            </a:r>
            <a:r>
              <a:rPr lang="en-US" altLang="zh-CN" sz="2200" baseline="-8000" dirty="0">
                <a:latin typeface="Arial" panose="020B0604020202020204" pitchFamily="34" charset="0"/>
                <a:ea typeface="黑体" panose="02010609060101010101" pitchFamily="49" charset="-122"/>
              </a:rPr>
              <a:t>i-1</a:t>
            </a:r>
            <a:r>
              <a:rPr lang="en-US" altLang="zh-CN" sz="2200" dirty="0">
                <a:latin typeface="Arial" panose="020B0604020202020204" pitchFamily="34" charset="0"/>
                <a:ea typeface="黑体" panose="02010609060101010101" pitchFamily="49" charset="-122"/>
              </a:rPr>
              <a:t>-y</a:t>
            </a:r>
            <a:r>
              <a:rPr lang="en-US" altLang="zh-CN" sz="2200" baseline="-8000" dirty="0">
                <a:latin typeface="Arial" panose="020B0604020202020204" pitchFamily="34" charset="0"/>
                <a:ea typeface="黑体" panose="02010609060101010101" pitchFamily="49" charset="-122"/>
              </a:rPr>
              <a:t>i</a:t>
            </a:r>
            <a:r>
              <a:rPr lang="en-US" altLang="zh-CN" sz="2200" dirty="0">
                <a:latin typeface="Arial" panose="020B0604020202020204" pitchFamily="34" charset="0"/>
                <a:ea typeface="黑体" panose="02010609060101010101" pitchFamily="49" charset="-122"/>
              </a:rPr>
              <a:t>)X)</a:t>
            </a:r>
            <a:endParaRPr lang="en-US" altLang="zh-CN" sz="2200" dirty="0">
              <a:latin typeface="Arial" panose="020B0604020202020204" pitchFamily="34" charset="0"/>
              <a:ea typeface="黑体" panose="02010609060101010101" pitchFamily="49" charset="-122"/>
            </a:endParaRPr>
          </a:p>
        </p:txBody>
      </p:sp>
      <p:sp>
        <p:nvSpPr>
          <p:cNvPr id="423948" name="Rectangle 12"/>
          <p:cNvSpPr/>
          <p:nvPr/>
        </p:nvSpPr>
        <p:spPr>
          <a:xfrm>
            <a:off x="3351213" y="1150938"/>
            <a:ext cx="4387850" cy="427037"/>
          </a:xfrm>
          <a:prstGeom prst="rect">
            <a:avLst/>
          </a:prstGeom>
          <a:noFill/>
          <a:ln w="12700">
            <a:noFill/>
          </a:ln>
        </p:spPr>
        <p:txBody>
          <a:bodyPr anchor="t" anchorCtr="0">
            <a:spAutoFit/>
          </a:bodyPr>
          <a:p>
            <a:pPr eaLnBrk="0" hangingPunct="0"/>
            <a:r>
              <a:rPr lang="en-US" altLang="zh-CN" sz="2200" dirty="0">
                <a:solidFill>
                  <a:srgbClr val="CC0000"/>
                </a:solidFill>
                <a:latin typeface="Arial" panose="020B0604020202020204" pitchFamily="34" charset="0"/>
              </a:rPr>
              <a:t>Booth’s Algorithm</a:t>
            </a:r>
            <a:r>
              <a:rPr lang="zh-CN" altLang="en-US" sz="2200" dirty="0">
                <a:solidFill>
                  <a:srgbClr val="CC0000"/>
                </a:solidFill>
                <a:latin typeface="Arial" panose="020B0604020202020204" pitchFamily="34" charset="0"/>
                <a:ea typeface="宋体" panose="02010600030101010101" pitchFamily="2" charset="-122"/>
              </a:rPr>
              <a:t>推导如下：</a:t>
            </a:r>
            <a:endParaRPr lang="zh-CN" altLang="en-US" sz="2200" dirty="0">
              <a:solidFill>
                <a:srgbClr val="CC0000"/>
              </a:solidFill>
              <a:latin typeface="Arial" panose="020B0604020202020204" pitchFamily="34" charset="0"/>
              <a:ea typeface="宋体" panose="02010600030101010101" pitchFamily="2" charset="-122"/>
            </a:endParaRPr>
          </a:p>
        </p:txBody>
      </p:sp>
      <p:sp>
        <p:nvSpPr>
          <p:cNvPr id="423949" name="Rectangle 13"/>
          <p:cNvSpPr/>
          <p:nvPr/>
        </p:nvSpPr>
        <p:spPr>
          <a:xfrm>
            <a:off x="3960813" y="398463"/>
            <a:ext cx="4999037" cy="701675"/>
          </a:xfrm>
          <a:prstGeom prst="rect">
            <a:avLst/>
          </a:prstGeom>
          <a:solidFill>
            <a:schemeClr val="bg1"/>
          </a:solidFill>
          <a:ln w="12700">
            <a:noFill/>
          </a:ln>
        </p:spPr>
        <p:txBody>
          <a:bodyPr anchor="t" anchorCtr="0">
            <a:spAutoFit/>
          </a:bodyPr>
          <a:p>
            <a:pPr eaLnBrk="0" hangingPunct="0"/>
            <a:r>
              <a:rPr lang="zh-CN" altLang="en-US" sz="2000" dirty="0">
                <a:solidFill>
                  <a:srgbClr val="0000FF"/>
                </a:solidFill>
                <a:latin typeface="Arial" panose="020B0604020202020204" pitchFamily="34" charset="0"/>
                <a:ea typeface="黑体" panose="02010609060101010101" pitchFamily="49" charset="-122"/>
              </a:rPr>
              <a:t>因为</a:t>
            </a:r>
            <a:r>
              <a:rPr lang="en-US" altLang="zh-CN" sz="2000" dirty="0">
                <a:solidFill>
                  <a:srgbClr val="0000FF"/>
                </a:solidFill>
                <a:latin typeface="Arial" panose="020B0604020202020204" pitchFamily="34" charset="0"/>
                <a:ea typeface="黑体" panose="02010609060101010101" pitchFamily="49" charset="-122"/>
              </a:rPr>
              <a:t>[X</a:t>
            </a:r>
            <a:r>
              <a:rPr lang="en-US" altLang="zh-CN" sz="2000" b="0" dirty="0">
                <a:solidFill>
                  <a:srgbClr val="0000FF"/>
                </a:solidFill>
                <a:latin typeface="Arial" panose="020B0604020202020204" pitchFamily="34" charset="0"/>
                <a:ea typeface="黑体" panose="02010609060101010101" pitchFamily="49" charset="-122"/>
              </a:rPr>
              <a:t>x</a:t>
            </a:r>
            <a:r>
              <a:rPr lang="en-US" altLang="zh-CN" sz="2000" dirty="0">
                <a:solidFill>
                  <a:srgbClr val="0000FF"/>
                </a:solidFill>
                <a:latin typeface="Arial" panose="020B0604020202020204" pitchFamily="34" charset="0"/>
                <a:ea typeface="黑体" panose="02010609060101010101" pitchFamily="49" charset="-122"/>
              </a:rPr>
              <a:t>Y]</a:t>
            </a:r>
            <a:r>
              <a:rPr lang="zh-CN" altLang="en-US" sz="2000" baseline="-25000" dirty="0">
                <a:solidFill>
                  <a:srgbClr val="0000FF"/>
                </a:solidFill>
                <a:latin typeface="Arial" panose="020B0604020202020204" pitchFamily="34" charset="0"/>
                <a:ea typeface="黑体" panose="02010609060101010101" pitchFamily="49" charset="-122"/>
              </a:rPr>
              <a:t>补</a:t>
            </a:r>
            <a:r>
              <a:rPr lang="zh-CN" altLang="en-US" sz="2000" dirty="0">
                <a:solidFill>
                  <a:schemeClr val="accent2"/>
                </a:solidFill>
                <a:latin typeface="Arial" panose="020B0604020202020204" pitchFamily="34" charset="0"/>
                <a:ea typeface="黑体" panose="02010609060101010101" pitchFamily="49" charset="-122"/>
                <a:sym typeface="Symbol" panose="05050102010706020507" pitchFamily="18" charset="2"/>
              </a:rPr>
              <a:t></a:t>
            </a:r>
            <a:r>
              <a:rPr lang="zh-CN" altLang="en-US" sz="2000" dirty="0">
                <a:solidFill>
                  <a:schemeClr val="accent2"/>
                </a:solidFill>
                <a:latin typeface="Arial" panose="020B0604020202020204" pitchFamily="34" charset="0"/>
                <a:ea typeface="黑体" panose="02010609060101010101" pitchFamily="49" charset="-122"/>
              </a:rPr>
              <a:t> </a:t>
            </a:r>
            <a:r>
              <a:rPr lang="zh-CN" altLang="en-US" sz="2000" dirty="0">
                <a:solidFill>
                  <a:srgbClr val="0000FF"/>
                </a:solidFill>
                <a:latin typeface="Arial" panose="020B0604020202020204" pitchFamily="34" charset="0"/>
                <a:ea typeface="黑体" panose="02010609060101010101" pitchFamily="49" charset="-122"/>
              </a:rPr>
              <a:t>[</a:t>
            </a:r>
            <a:r>
              <a:rPr lang="en-US" altLang="zh-CN" sz="2000" dirty="0">
                <a:solidFill>
                  <a:srgbClr val="0000FF"/>
                </a:solidFill>
                <a:latin typeface="Arial" panose="020B0604020202020204" pitchFamily="34" charset="0"/>
                <a:ea typeface="黑体" panose="02010609060101010101" pitchFamily="49" charset="-122"/>
              </a:rPr>
              <a:t>X]</a:t>
            </a:r>
            <a:r>
              <a:rPr lang="zh-CN" altLang="en-US" sz="2000" baseline="-25000" dirty="0">
                <a:solidFill>
                  <a:srgbClr val="0000FF"/>
                </a:solidFill>
                <a:latin typeface="Arial" panose="020B0604020202020204" pitchFamily="34" charset="0"/>
                <a:ea typeface="黑体" panose="02010609060101010101" pitchFamily="49" charset="-122"/>
              </a:rPr>
              <a:t>补</a:t>
            </a:r>
            <a:r>
              <a:rPr lang="en-US" altLang="zh-CN" sz="2000" b="0" dirty="0">
                <a:solidFill>
                  <a:srgbClr val="0000FF"/>
                </a:solidFill>
                <a:latin typeface="Arial" panose="020B0604020202020204" pitchFamily="34" charset="0"/>
                <a:ea typeface="黑体" panose="02010609060101010101" pitchFamily="49" charset="-122"/>
              </a:rPr>
              <a:t>x</a:t>
            </a:r>
            <a:r>
              <a:rPr lang="en-US" altLang="zh-CN" sz="2000" dirty="0">
                <a:solidFill>
                  <a:srgbClr val="0000FF"/>
                </a:solidFill>
                <a:latin typeface="Arial" panose="020B0604020202020204" pitchFamily="34" charset="0"/>
                <a:ea typeface="黑体" panose="02010609060101010101" pitchFamily="49" charset="-122"/>
              </a:rPr>
              <a:t>[Y]</a:t>
            </a:r>
            <a:r>
              <a:rPr lang="zh-CN" altLang="en-US" sz="2000" baseline="-25000" dirty="0">
                <a:solidFill>
                  <a:srgbClr val="0000FF"/>
                </a:solidFill>
                <a:latin typeface="Arial" panose="020B0604020202020204" pitchFamily="34" charset="0"/>
                <a:ea typeface="黑体" panose="02010609060101010101" pitchFamily="49" charset="-122"/>
              </a:rPr>
              <a:t>补 </a:t>
            </a:r>
            <a:r>
              <a:rPr lang="zh-CN" altLang="en-US" sz="2000" dirty="0">
                <a:solidFill>
                  <a:srgbClr val="0000FF"/>
                </a:solidFill>
                <a:latin typeface="Arial" panose="020B0604020202020204" pitchFamily="34" charset="0"/>
                <a:ea typeface="黑体" panose="02010609060101010101" pitchFamily="49" charset="-122"/>
              </a:rPr>
              <a:t>，故不能直接用无符号数乘法计算。例如，若</a:t>
            </a:r>
            <a:r>
              <a:rPr lang="en-US" altLang="zh-CN" sz="2000" dirty="0">
                <a:solidFill>
                  <a:srgbClr val="0000FF"/>
                </a:solidFill>
                <a:latin typeface="Arial" panose="020B0604020202020204" pitchFamily="34" charset="0"/>
                <a:ea typeface="黑体" panose="02010609060101010101" pitchFamily="49" charset="-122"/>
              </a:rPr>
              <a:t>x=-5,</a:t>
            </a:r>
            <a:r>
              <a:rPr lang="zh-CN" altLang="en-US" sz="2000" dirty="0">
                <a:solidFill>
                  <a:srgbClr val="0000FF"/>
                </a:solidFill>
                <a:latin typeface="Arial" panose="020B0604020202020204" pitchFamily="34" charset="0"/>
                <a:ea typeface="黑体" panose="02010609060101010101" pitchFamily="49" charset="-122"/>
              </a:rPr>
              <a:t>求</a:t>
            </a:r>
            <a:r>
              <a:rPr lang="en-US" altLang="zh-CN" sz="2000" dirty="0">
                <a:solidFill>
                  <a:srgbClr val="0000FF"/>
                </a:solidFill>
                <a:latin typeface="Arial" panose="020B0604020202020204" pitchFamily="34" charset="0"/>
                <a:ea typeface="黑体" panose="02010609060101010101" pitchFamily="49" charset="-122"/>
              </a:rPr>
              <a:t>x*x=</a:t>
            </a:r>
            <a:r>
              <a:rPr lang="zh-CN" altLang="en-US" sz="2000" dirty="0">
                <a:solidFill>
                  <a:srgbClr val="0000FF"/>
                </a:solidFill>
                <a:latin typeface="Arial" panose="020B0604020202020204" pitchFamily="34" charset="0"/>
                <a:ea typeface="黑体" panose="02010609060101010101" pitchFamily="49" charset="-122"/>
              </a:rPr>
              <a:t>？</a:t>
            </a:r>
            <a:endParaRPr lang="zh-CN" altLang="en-US" sz="2000" dirty="0">
              <a:solidFill>
                <a:srgbClr val="0000FF"/>
              </a:solidFill>
              <a:latin typeface="Arial" panose="020B0604020202020204" pitchFamily="34" charset="0"/>
              <a:ea typeface="黑体" panose="02010609060101010101" pitchFamily="49" charset="-122"/>
            </a:endParaRPr>
          </a:p>
        </p:txBody>
      </p:sp>
      <p:sp>
        <p:nvSpPr>
          <p:cNvPr id="53258" name="Text Box 16"/>
          <p:cNvSpPr txBox="1"/>
          <p:nvPr/>
        </p:nvSpPr>
        <p:spPr>
          <a:xfrm>
            <a:off x="287338" y="4945063"/>
            <a:ext cx="8678862" cy="430212"/>
          </a:xfrm>
          <a:prstGeom prst="rect">
            <a:avLst/>
          </a:prstGeom>
          <a:noFill/>
          <a:ln w="9525">
            <a:noFill/>
          </a:ln>
        </p:spPr>
        <p:txBody>
          <a:bodyPr anchor="t" anchorCtr="0">
            <a:spAutoFit/>
          </a:bodyPr>
          <a:p>
            <a:pPr eaLnBrk="0" hangingPunct="0">
              <a:spcBef>
                <a:spcPct val="50000"/>
              </a:spcBef>
            </a:pPr>
            <a:r>
              <a:rPr lang="en-US" altLang="zh-CN" sz="2000" dirty="0">
                <a:solidFill>
                  <a:srgbClr val="FF0066"/>
                </a:solidFill>
                <a:latin typeface="Arial" panose="020B0604020202020204" pitchFamily="34" charset="0"/>
                <a:ea typeface="华文新魏" pitchFamily="2" charset="-122"/>
              </a:rPr>
              <a:t>2</a:t>
            </a:r>
            <a:r>
              <a:rPr lang="en-US" altLang="zh-CN" sz="2000" baseline="30000" dirty="0">
                <a:solidFill>
                  <a:srgbClr val="FF0066"/>
                </a:solidFill>
                <a:latin typeface="Arial" panose="020B0604020202020204" pitchFamily="34" charset="0"/>
                <a:ea typeface="华文新魏" pitchFamily="2" charset="-122"/>
              </a:rPr>
              <a:t>-32</a:t>
            </a:r>
            <a:r>
              <a:rPr lang="en-US" altLang="zh-CN" baseline="30000" dirty="0">
                <a:solidFill>
                  <a:srgbClr val="0000FF"/>
                </a:solidFill>
                <a:latin typeface="Times New Roman" panose="02020603050405020304" pitchFamily="18" charset="0"/>
              </a:rPr>
              <a:t>.</a:t>
            </a:r>
            <a:r>
              <a:rPr lang="en-US" altLang="zh-CN" sz="2000" dirty="0">
                <a:solidFill>
                  <a:srgbClr val="0000FF"/>
                </a:solidFill>
                <a:latin typeface="Arial" panose="020B0604020202020204" pitchFamily="34" charset="0"/>
                <a:ea typeface="华文新魏" pitchFamily="2" charset="-122"/>
              </a:rPr>
              <a:t>[XxY]</a:t>
            </a:r>
            <a:r>
              <a:rPr lang="zh-CN" altLang="en-US" sz="2200" baseline="-16000" dirty="0">
                <a:solidFill>
                  <a:srgbClr val="0000FF"/>
                </a:solidFill>
                <a:latin typeface="Arial" panose="020B0604020202020204" pitchFamily="34" charset="0"/>
                <a:ea typeface="黑体" panose="02010609060101010101" pitchFamily="49" charset="-122"/>
              </a:rPr>
              <a:t>补</a:t>
            </a:r>
            <a:r>
              <a:rPr lang="zh-CN" altLang="en-US" sz="22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 </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30 </a:t>
            </a:r>
            <a:r>
              <a:rPr lang="zh-CN" altLang="en-US" sz="2000" dirty="0">
                <a:solidFill>
                  <a:srgbClr val="0000FF"/>
                </a:solidFill>
                <a:latin typeface="Arial" panose="020B0604020202020204" pitchFamily="34" charset="0"/>
                <a:ea typeface="宋体" panose="02010600030101010101" pitchFamily="2" charset="-122"/>
              </a:rPr>
              <a:t>-</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31 </a:t>
            </a:r>
            <a:r>
              <a:rPr lang="en-US" altLang="zh-CN" sz="2000" dirty="0">
                <a:solidFill>
                  <a:srgbClr val="0000FF"/>
                </a:solidFill>
                <a:latin typeface="Arial" panose="020B0604020202020204" pitchFamily="34" charset="0"/>
                <a:ea typeface="华文新魏" pitchFamily="2" charset="-122"/>
              </a:rPr>
              <a:t>)</a:t>
            </a:r>
            <a:r>
              <a:rPr lang="en-US" altLang="zh-CN" sz="2200" dirty="0">
                <a:solidFill>
                  <a:srgbClr val="0000FF"/>
                </a:solidFill>
                <a:latin typeface="Arial" panose="020B0604020202020204" pitchFamily="34" charset="0"/>
                <a:ea typeface="黑体" panose="02010609060101010101" pitchFamily="49" charset="-122"/>
              </a:rPr>
              <a:t>X</a:t>
            </a:r>
            <a:r>
              <a:rPr lang="en-US" altLang="zh-CN" sz="2000" baseline="30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ea typeface="华文新魏" pitchFamily="2" charset="-122"/>
              </a:rPr>
              <a:t>2</a:t>
            </a:r>
            <a:r>
              <a:rPr lang="en-US" altLang="zh-CN" sz="2000" baseline="3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29</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30</a:t>
            </a:r>
            <a:r>
              <a:rPr lang="en-US" altLang="zh-CN" sz="2000" dirty="0">
                <a:solidFill>
                  <a:srgbClr val="0000FF"/>
                </a:solidFill>
                <a:latin typeface="Arial" panose="020B0604020202020204" pitchFamily="34" charset="0"/>
                <a:ea typeface="华文新魏" pitchFamily="2" charset="-122"/>
              </a:rPr>
              <a:t>)</a:t>
            </a:r>
            <a:r>
              <a:rPr lang="en-US" altLang="zh-CN" sz="2200" dirty="0">
                <a:solidFill>
                  <a:srgbClr val="0000FF"/>
                </a:solidFill>
                <a:latin typeface="Arial" panose="020B0604020202020204" pitchFamily="34" charset="0"/>
                <a:ea typeface="黑体" panose="02010609060101010101" pitchFamily="49" charset="-122"/>
              </a:rPr>
              <a:t>X</a:t>
            </a:r>
            <a:r>
              <a:rPr lang="en-US" altLang="zh-CN" sz="2000" baseline="30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ea typeface="华文新魏" pitchFamily="2" charset="-122"/>
              </a:rPr>
              <a:t>2</a:t>
            </a:r>
            <a:r>
              <a:rPr lang="en-US" altLang="zh-CN" sz="2000" baseline="30000" dirty="0">
                <a:solidFill>
                  <a:srgbClr val="0000FF"/>
                </a:solidFill>
                <a:latin typeface="Arial" panose="020B0604020202020204" pitchFamily="34" charset="0"/>
                <a:ea typeface="华文新魏" pitchFamily="2" charset="-122"/>
              </a:rPr>
              <a:t>-2</a:t>
            </a:r>
            <a:r>
              <a:rPr lang="en-US" altLang="zh-CN" sz="2000" dirty="0">
                <a:solidFill>
                  <a:srgbClr val="0000FF"/>
                </a:solidFill>
                <a:latin typeface="Arial" panose="020B0604020202020204" pitchFamily="34" charset="0"/>
                <a:ea typeface="华文新魏" pitchFamily="2" charset="-122"/>
              </a:rPr>
              <a:t>+ </a:t>
            </a:r>
            <a:r>
              <a:rPr lang="en-US" altLang="zh-CN" sz="2000" baseline="30000" dirty="0">
                <a:solidFill>
                  <a:srgbClr val="0000FF"/>
                </a:solidFill>
                <a:latin typeface="Arial" panose="020B0604020202020204" pitchFamily="34" charset="0"/>
              </a:rPr>
              <a:t>…… </a:t>
            </a:r>
            <a:r>
              <a:rPr lang="en-US" altLang="zh-CN" sz="2000" dirty="0">
                <a:solidFill>
                  <a:srgbClr val="0000FF"/>
                </a:solidFill>
                <a:latin typeface="Arial" panose="020B0604020202020204" pitchFamily="34" charset="0"/>
                <a:ea typeface="华文新魏" pitchFamily="2" charset="-122"/>
              </a:rPr>
              <a:t>+ (</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0</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ea typeface="黑体" panose="02010609060101010101" pitchFamily="49" charset="-122"/>
              </a:rPr>
              <a:t>X</a:t>
            </a:r>
            <a:r>
              <a:rPr lang="en-US" altLang="zh-CN" sz="2000" baseline="30000" dirty="0">
                <a:solidFill>
                  <a:srgbClr val="0000FF"/>
                </a:solidFill>
                <a:latin typeface="Arial" panose="020B0604020202020204" pitchFamily="34" charset="0"/>
              </a:rPr>
              <a:t>.</a:t>
            </a:r>
            <a:r>
              <a:rPr lang="en-US" altLang="zh-CN" sz="2000" dirty="0">
                <a:solidFill>
                  <a:srgbClr val="0000FF"/>
                </a:solidFill>
                <a:latin typeface="Arial" panose="020B0604020202020204" pitchFamily="34" charset="0"/>
              </a:rPr>
              <a:t>2</a:t>
            </a:r>
            <a:r>
              <a:rPr lang="en-US" altLang="zh-CN" sz="2000" baseline="30000" dirty="0">
                <a:solidFill>
                  <a:srgbClr val="0000FF"/>
                </a:solidFill>
                <a:latin typeface="Arial" panose="020B0604020202020204" pitchFamily="34" charset="0"/>
              </a:rPr>
              <a:t>-31 </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0</a:t>
            </a:r>
            <a:r>
              <a:rPr lang="en-US" altLang="zh-CN" sz="2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ea typeface="黑体" panose="02010609060101010101" pitchFamily="49" charset="-122"/>
              </a:rPr>
              <a:t> X</a:t>
            </a:r>
            <a:r>
              <a:rPr lang="en-US" altLang="zh-CN" sz="2000" baseline="30000" dirty="0">
                <a:solidFill>
                  <a:srgbClr val="0000FF"/>
                </a:solidFill>
                <a:latin typeface="Arial" panose="020B0604020202020204" pitchFamily="34" charset="0"/>
              </a:rPr>
              <a:t>.</a:t>
            </a:r>
            <a:r>
              <a:rPr lang="en-US" altLang="zh-CN" sz="2000" dirty="0">
                <a:solidFill>
                  <a:srgbClr val="0000FF"/>
                </a:solidFill>
                <a:latin typeface="Arial" panose="020B0604020202020204" pitchFamily="34" charset="0"/>
              </a:rPr>
              <a:t>2</a:t>
            </a:r>
            <a:r>
              <a:rPr lang="en-US" altLang="zh-CN" sz="2000" baseline="30000" dirty="0">
                <a:solidFill>
                  <a:srgbClr val="0000FF"/>
                </a:solidFill>
                <a:latin typeface="Arial" panose="020B0604020202020204" pitchFamily="34" charset="0"/>
              </a:rPr>
              <a:t>-32</a:t>
            </a:r>
            <a:endParaRPr lang="en-US" altLang="zh-CN" sz="2000" baseline="30000" dirty="0">
              <a:solidFill>
                <a:srgbClr val="0000FF"/>
              </a:solidFill>
              <a:latin typeface="Arial" panose="020B0604020202020204" pitchFamily="34" charset="0"/>
            </a:endParaRPr>
          </a:p>
        </p:txBody>
      </p:sp>
      <p:sp>
        <p:nvSpPr>
          <p:cNvPr id="53259" name="Text Box 18"/>
          <p:cNvSpPr txBox="1"/>
          <p:nvPr/>
        </p:nvSpPr>
        <p:spPr>
          <a:xfrm>
            <a:off x="1571625" y="5427663"/>
            <a:ext cx="6080125" cy="427037"/>
          </a:xfrm>
          <a:prstGeom prst="rect">
            <a:avLst/>
          </a:prstGeom>
          <a:noFill/>
          <a:ln w="9525">
            <a:noFill/>
          </a:ln>
        </p:spPr>
        <p:txBody>
          <a:bodyPr anchor="t" anchorCtr="0">
            <a:spAutoFit/>
          </a:bodyPr>
          <a:p>
            <a:pPr eaLnBrk="0" hangingPunct="0">
              <a:spcBef>
                <a:spcPct val="50000"/>
              </a:spcBef>
            </a:pPr>
            <a:r>
              <a:rPr lang="zh-CN" altLang="en-US" sz="2200" dirty="0">
                <a:solidFill>
                  <a:srgbClr val="0000FF"/>
                </a:solidFill>
                <a:latin typeface="Arial" panose="020B0604020202020204" pitchFamily="34" charset="0"/>
                <a:ea typeface="黑体" panose="02010609060101010101" pitchFamily="49" charset="-122"/>
              </a:rPr>
              <a:t>=</a:t>
            </a:r>
            <a:r>
              <a:rPr lang="en-US" altLang="zh-CN" sz="2200" dirty="0">
                <a:solidFill>
                  <a:srgbClr val="0000FF"/>
                </a:solidFill>
                <a:latin typeface="Arial" panose="020B0604020202020204" pitchFamily="34" charset="0"/>
                <a:ea typeface="黑体" panose="02010609060101010101" pitchFamily="49" charset="-122"/>
              </a:rPr>
              <a:t> </a:t>
            </a:r>
            <a:r>
              <a:rPr lang="en-US" altLang="zh-CN" sz="2000" dirty="0">
                <a:solidFill>
                  <a:srgbClr val="0000FF"/>
                </a:solidFill>
                <a:latin typeface="Arial" panose="020B0604020202020204" pitchFamily="34" charset="0"/>
                <a:ea typeface="华文新魏" pitchFamily="2" charset="-122"/>
              </a:rPr>
              <a:t>2</a:t>
            </a:r>
            <a:r>
              <a:rPr lang="en-US" altLang="zh-CN" sz="2000" baseline="3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(2</a:t>
            </a:r>
            <a:r>
              <a:rPr lang="en-US" altLang="zh-CN" sz="2000" baseline="3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…(2</a:t>
            </a:r>
            <a:r>
              <a:rPr lang="en-US" altLang="zh-CN" sz="2000" baseline="3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0</a:t>
            </a:r>
            <a:r>
              <a:rPr lang="en-US" altLang="zh-CN" sz="2000" dirty="0">
                <a:solidFill>
                  <a:srgbClr val="0000FF"/>
                </a:solidFill>
                <a:latin typeface="Arial" panose="020B0604020202020204" pitchFamily="34" charset="0"/>
                <a:ea typeface="华文新魏" pitchFamily="2" charset="-122"/>
              </a:rPr>
              <a:t>)X) +</a:t>
            </a:r>
            <a:r>
              <a:rPr lang="en-US" altLang="zh-CN" sz="2000" baseline="30000" dirty="0">
                <a:solidFill>
                  <a:srgbClr val="0000FF"/>
                </a:solidFill>
                <a:latin typeface="Arial" panose="020B0604020202020204" pitchFamily="34" charset="0"/>
              </a:rPr>
              <a:t> </a:t>
            </a:r>
            <a:r>
              <a:rPr lang="en-US" altLang="zh-CN" sz="2000" dirty="0">
                <a:solidFill>
                  <a:srgbClr val="0000FF"/>
                </a:solidFill>
                <a:latin typeface="Arial" panose="020B0604020202020204" pitchFamily="34" charset="0"/>
                <a:ea typeface="华文新魏" pitchFamily="2" charset="-122"/>
              </a:rPr>
              <a:t>(y</a:t>
            </a:r>
            <a:r>
              <a:rPr lang="en-US" altLang="zh-CN" sz="2000" baseline="-25000" dirty="0">
                <a:solidFill>
                  <a:srgbClr val="0000FF"/>
                </a:solidFill>
                <a:latin typeface="Arial" panose="020B0604020202020204" pitchFamily="34" charset="0"/>
                <a:ea typeface="华文新魏" pitchFamily="2" charset="-122"/>
              </a:rPr>
              <a:t>0</a:t>
            </a:r>
            <a:r>
              <a:rPr lang="en-US" altLang="zh-CN" sz="2000" dirty="0">
                <a:solidFill>
                  <a:srgbClr val="0000FF"/>
                </a:solidFill>
                <a:latin typeface="Arial" panose="020B0604020202020204" pitchFamily="34" charset="0"/>
                <a:ea typeface="华文新魏" pitchFamily="2" charset="-122"/>
              </a:rPr>
              <a:t>–y</a:t>
            </a:r>
            <a:r>
              <a:rPr lang="en-US" altLang="zh-CN" sz="2000" baseline="-25000" dirty="0">
                <a:solidFill>
                  <a:srgbClr val="0000FF"/>
                </a:solidFill>
                <a:latin typeface="Arial" panose="020B0604020202020204" pitchFamily="34" charset="0"/>
                <a:ea typeface="华文新魏" pitchFamily="2" charset="-122"/>
              </a:rPr>
              <a:t>1</a:t>
            </a:r>
            <a:r>
              <a:rPr lang="en-US" altLang="zh-CN" sz="2000" dirty="0">
                <a:solidFill>
                  <a:srgbClr val="0000FF"/>
                </a:solidFill>
                <a:latin typeface="Arial" panose="020B0604020202020204" pitchFamily="34" charset="0"/>
                <a:ea typeface="华文新魏" pitchFamily="2" charset="-122"/>
              </a:rPr>
              <a:t>)X) +… +</a:t>
            </a:r>
            <a:r>
              <a:rPr lang="en-US" altLang="zh-CN" dirty="0">
                <a:latin typeface="Times New Roman" panose="02020603050405020304" pitchFamily="18" charset="0"/>
              </a:rPr>
              <a:t> </a:t>
            </a:r>
            <a:r>
              <a:rPr lang="en-US" altLang="zh-CN" sz="2000" dirty="0">
                <a:solidFill>
                  <a:srgbClr val="0000FF"/>
                </a:solidFill>
                <a:latin typeface="Arial" panose="020B0604020202020204" pitchFamily="34" charset="0"/>
                <a:ea typeface="华文新魏" pitchFamily="2" charset="-122"/>
              </a:rPr>
              <a:t>(y</a:t>
            </a:r>
            <a:r>
              <a:rPr lang="en-US" altLang="zh-CN" sz="2000" baseline="-10000" dirty="0">
                <a:solidFill>
                  <a:srgbClr val="0000FF"/>
                </a:solidFill>
                <a:latin typeface="Arial" panose="020B0604020202020204" pitchFamily="34" charset="0"/>
                <a:ea typeface="华文新魏" pitchFamily="2" charset="-122"/>
              </a:rPr>
              <a:t>30 </a:t>
            </a:r>
            <a:r>
              <a:rPr lang="zh-CN" altLang="en-US" sz="2000" dirty="0">
                <a:solidFill>
                  <a:srgbClr val="0000FF"/>
                </a:solidFill>
                <a:latin typeface="Arial" panose="020B0604020202020204" pitchFamily="34" charset="0"/>
                <a:ea typeface="宋体" panose="02010600030101010101" pitchFamily="2" charset="-122"/>
              </a:rPr>
              <a:t>-</a:t>
            </a:r>
            <a:r>
              <a:rPr lang="en-US" altLang="zh-CN" sz="2000" dirty="0">
                <a:solidFill>
                  <a:srgbClr val="0000FF"/>
                </a:solidFill>
                <a:latin typeface="Arial" panose="020B0604020202020204" pitchFamily="34" charset="0"/>
              </a:rPr>
              <a:t>y</a:t>
            </a:r>
            <a:r>
              <a:rPr lang="en-US" altLang="zh-CN" sz="2000" baseline="-10000" dirty="0">
                <a:solidFill>
                  <a:srgbClr val="0000FF"/>
                </a:solidFill>
                <a:latin typeface="Arial" panose="020B0604020202020204" pitchFamily="34" charset="0"/>
              </a:rPr>
              <a:t>31</a:t>
            </a:r>
            <a:r>
              <a:rPr lang="en-US" altLang="zh-CN" sz="2000" dirty="0">
                <a:solidFill>
                  <a:srgbClr val="0000FF"/>
                </a:solidFill>
                <a:latin typeface="Arial" panose="020B0604020202020204" pitchFamily="34" charset="0"/>
                <a:ea typeface="华文新魏" pitchFamily="2" charset="-122"/>
              </a:rPr>
              <a:t>)X</a:t>
            </a:r>
            <a:r>
              <a:rPr lang="en-US" altLang="zh-CN" sz="2000" dirty="0">
                <a:solidFill>
                  <a:srgbClr val="0000FF"/>
                </a:solidFill>
                <a:latin typeface="Arial" panose="020B0604020202020204" pitchFamily="34" charset="0"/>
              </a:rPr>
              <a:t>)</a:t>
            </a:r>
            <a:endParaRPr lang="en-US" altLang="zh-CN" sz="2000" dirty="0">
              <a:solidFill>
                <a:srgbClr val="0000FF"/>
              </a:solidFill>
              <a:latin typeface="Arial" panose="020B0604020202020204" pitchFamily="34" charset="0"/>
            </a:endParaRPr>
          </a:p>
        </p:txBody>
      </p:sp>
      <p:sp>
        <p:nvSpPr>
          <p:cNvPr id="16" name="Rectangle 3"/>
          <p:cNvSpPr txBox="1"/>
          <p:nvPr/>
        </p:nvSpPr>
        <p:spPr>
          <a:xfrm>
            <a:off x="5729288" y="6105525"/>
            <a:ext cx="3000375" cy="385763"/>
          </a:xfrm>
          <a:prstGeom prst="rect">
            <a:avLst/>
          </a:prstGeom>
          <a:noFill/>
          <a:ln w="12700">
            <a:noFill/>
          </a:ln>
        </p:spPr>
        <p:txBody>
          <a:bodyPr lIns="63500" tIns="25400" rIns="63500" bIns="25400" anchor="t" anchorCtr="0">
            <a:spAutoFit/>
          </a:bodyPr>
          <a:p>
            <a:pPr marL="203200" indent="-203200" eaLnBrk="0" hangingPunct="0">
              <a:lnSpc>
                <a:spcPct val="110000"/>
              </a:lnSpc>
              <a:spcBef>
                <a:spcPct val="20000"/>
              </a:spcBef>
              <a:buClr>
                <a:schemeClr val="tx1"/>
              </a:buClr>
              <a:buSzPct val="60000"/>
            </a:pPr>
            <a:r>
              <a:rPr lang="zh-CN" altLang="en-US" sz="2000" dirty="0">
                <a:solidFill>
                  <a:srgbClr val="FF0066"/>
                </a:solidFill>
                <a:latin typeface="Arial" panose="020B0604020202020204" pitchFamily="34" charset="0"/>
                <a:ea typeface="黑体" panose="02010609060101010101" pitchFamily="49" charset="-122"/>
              </a:rPr>
              <a:t>符号与数值统一处理</a:t>
            </a:r>
            <a:endParaRPr lang="zh-CN" altLang="en-US" sz="2000" dirty="0">
              <a:solidFill>
                <a:srgbClr val="FF0066"/>
              </a:solidFill>
              <a:latin typeface="Arial" panose="020B0604020202020204" pitchFamily="34" charset="0"/>
              <a:ea typeface="黑体" panose="02010609060101010101" pitchFamily="49" charset="-122"/>
            </a:endParaRPr>
          </a:p>
        </p:txBody>
      </p:sp>
      <p:cxnSp>
        <p:nvCxnSpPr>
          <p:cNvPr id="53261" name="直接连接符 17"/>
          <p:cNvCxnSpPr/>
          <p:nvPr/>
        </p:nvCxnSpPr>
        <p:spPr>
          <a:xfrm flipV="1">
            <a:off x="2019300" y="4176713"/>
            <a:ext cx="1692275" cy="0"/>
          </a:xfrm>
          <a:prstGeom prst="line">
            <a:avLst/>
          </a:prstGeom>
          <a:ln w="25400" cap="flat" cmpd="sng">
            <a:solidFill>
              <a:srgbClr val="000000"/>
            </a:solidFill>
            <a:prstDash val="solid"/>
            <a:round/>
            <a:headEnd type="none" w="med" len="med"/>
            <a:tailEnd type="none" w="med" len="med"/>
          </a:ln>
        </p:spPr>
      </p:cxnSp>
      <p:cxnSp>
        <p:nvCxnSpPr>
          <p:cNvPr id="53262" name="直接连接符 20"/>
          <p:cNvCxnSpPr/>
          <p:nvPr/>
        </p:nvCxnSpPr>
        <p:spPr>
          <a:xfrm>
            <a:off x="5949950" y="4203700"/>
            <a:ext cx="1544638" cy="1588"/>
          </a:xfrm>
          <a:prstGeom prst="line">
            <a:avLst/>
          </a:prstGeom>
          <a:ln w="25400" cap="flat" cmpd="sng">
            <a:solidFill>
              <a:srgbClr val="000000"/>
            </a:solidFill>
            <a:prstDash val="solid"/>
            <a:round/>
            <a:headEnd type="none" w="med" len="med"/>
            <a:tailEnd type="none" w="med" len="med"/>
          </a:ln>
        </p:spPr>
      </p:cxnSp>
      <p:sp>
        <p:nvSpPr>
          <p:cNvPr id="53268" name="Text Box 20"/>
          <p:cNvSpPr txBox="1"/>
          <p:nvPr/>
        </p:nvSpPr>
        <p:spPr>
          <a:xfrm>
            <a:off x="8024813" y="5622925"/>
            <a:ext cx="887412" cy="336550"/>
          </a:xfrm>
          <a:prstGeom prst="rect">
            <a:avLst/>
          </a:prstGeom>
          <a:noFill/>
          <a:ln w="12700">
            <a:noFill/>
          </a:ln>
        </p:spPr>
        <p:txBody>
          <a:bodyPr anchor="t" anchorCtr="0">
            <a:spAutoFit/>
          </a:bodyPr>
          <a:p>
            <a:pPr eaLnBrk="0" hangingPunct="0">
              <a:spcBef>
                <a:spcPct val="50000"/>
              </a:spcBef>
            </a:pPr>
            <a:r>
              <a:rPr lang="en-US" altLang="zh-CN" dirty="0">
                <a:latin typeface="Times New Roman" panose="02020603050405020304" pitchFamily="18" charset="0"/>
                <a:hlinkClick r:id="rId1" action="ppaction://hlinksldjump"/>
              </a:rPr>
              <a:t>SKIP</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227">
                                            <p:txEl>
                                              <p:charRg st="0" end="13"/>
                                            </p:txEl>
                                          </p:spTgt>
                                        </p:tgtEl>
                                        <p:attrNameLst>
                                          <p:attrName>style.visibility</p:attrName>
                                        </p:attrNameLst>
                                      </p:cBhvr>
                                      <p:to>
                                        <p:strVal val="visible"/>
                                      </p:to>
                                    </p:set>
                                    <p:animEffect transition="in" filter="blinds(horizontal)">
                                      <p:cBhvr>
                                        <p:cTn id="7" dur="500"/>
                                        <p:tgtEl>
                                          <p:spTgt spid="52227">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2227">
                                            <p:txEl>
                                              <p:charRg st="13" end="25"/>
                                            </p:txEl>
                                          </p:spTgt>
                                        </p:tgtEl>
                                        <p:attrNameLst>
                                          <p:attrName>style.visibility</p:attrName>
                                        </p:attrNameLst>
                                      </p:cBhvr>
                                      <p:to>
                                        <p:strVal val="visible"/>
                                      </p:to>
                                    </p:set>
                                    <p:animEffect transition="in" filter="blinds(horizontal)">
                                      <p:cBhvr>
                                        <p:cTn id="12" dur="500"/>
                                        <p:tgtEl>
                                          <p:spTgt spid="52227">
                                            <p:txEl>
                                              <p:charRg st="13"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3949"/>
                                        </p:tgtEl>
                                        <p:attrNameLst>
                                          <p:attrName>style.visibility</p:attrName>
                                        </p:attrNameLst>
                                      </p:cBhvr>
                                      <p:to>
                                        <p:strVal val="visible"/>
                                      </p:to>
                                    </p:set>
                                    <p:animEffect transition="in" filter="blinds(horizontal)">
                                      <p:cBhvr>
                                        <p:cTn id="17" dur="500"/>
                                        <p:tgtEl>
                                          <p:spTgt spid="42394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23948"/>
                                        </p:tgtEl>
                                        <p:attrNameLst>
                                          <p:attrName>style.visibility</p:attrName>
                                        </p:attrNameLst>
                                      </p:cBhvr>
                                      <p:to>
                                        <p:strVal val="visible"/>
                                      </p:to>
                                    </p:set>
                                    <p:animEffect transition="in" filter="blinds(horizontal)">
                                      <p:cBhvr>
                                        <p:cTn id="22" dur="500"/>
                                        <p:tgtEl>
                                          <p:spTgt spid="42394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23940">
                                            <p:txEl>
                                              <p:charRg st="0" end="59"/>
                                            </p:txEl>
                                          </p:spTgt>
                                        </p:tgtEl>
                                        <p:attrNameLst>
                                          <p:attrName>style.visibility</p:attrName>
                                        </p:attrNameLst>
                                      </p:cBhvr>
                                      <p:to>
                                        <p:strVal val="visible"/>
                                      </p:to>
                                    </p:set>
                                    <p:animEffect transition="in" filter="blinds(horizontal)">
                                      <p:cBhvr>
                                        <p:cTn id="27" dur="500"/>
                                        <p:tgtEl>
                                          <p:spTgt spid="423940">
                                            <p:txEl>
                                              <p:charRg st="0" end="5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23940">
                                            <p:txEl>
                                              <p:charRg st="59" end="69"/>
                                            </p:txEl>
                                          </p:spTgt>
                                        </p:tgtEl>
                                        <p:attrNameLst>
                                          <p:attrName>style.visibility</p:attrName>
                                        </p:attrNameLst>
                                      </p:cBhvr>
                                      <p:to>
                                        <p:strVal val="visible"/>
                                      </p:to>
                                    </p:set>
                                    <p:animEffect transition="in" filter="blinds(horizontal)">
                                      <p:cBhvr>
                                        <p:cTn id="32" dur="500"/>
                                        <p:tgtEl>
                                          <p:spTgt spid="423940">
                                            <p:txEl>
                                              <p:charRg st="59" end="69"/>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23940">
                                            <p:txEl>
                                              <p:charRg st="69" end="116"/>
                                            </p:txEl>
                                          </p:spTgt>
                                        </p:tgtEl>
                                        <p:attrNameLst>
                                          <p:attrName>style.visibility</p:attrName>
                                        </p:attrNameLst>
                                      </p:cBhvr>
                                      <p:to>
                                        <p:strVal val="visible"/>
                                      </p:to>
                                    </p:set>
                                    <p:animEffect transition="in" filter="blinds(horizontal)">
                                      <p:cBhvr>
                                        <p:cTn id="35" dur="500"/>
                                        <p:tgtEl>
                                          <p:spTgt spid="423940">
                                            <p:txEl>
                                              <p:charRg st="69" end="11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423940">
                                            <p:txEl>
                                              <p:charRg st="116" end="128"/>
                                            </p:txEl>
                                          </p:spTgt>
                                        </p:tgtEl>
                                        <p:attrNameLst>
                                          <p:attrName>style.visibility</p:attrName>
                                        </p:attrNameLst>
                                      </p:cBhvr>
                                      <p:to>
                                        <p:strVal val="visible"/>
                                      </p:to>
                                    </p:set>
                                    <p:animEffect transition="in" filter="blinds(horizontal)">
                                      <p:cBhvr>
                                        <p:cTn id="40" dur="500"/>
                                        <p:tgtEl>
                                          <p:spTgt spid="423940">
                                            <p:txEl>
                                              <p:charRg st="116" end="128"/>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423940">
                                            <p:txEl>
                                              <p:charRg st="128" end="184"/>
                                            </p:txEl>
                                          </p:spTgt>
                                        </p:tgtEl>
                                        <p:attrNameLst>
                                          <p:attrName>style.visibility</p:attrName>
                                        </p:attrNameLst>
                                      </p:cBhvr>
                                      <p:to>
                                        <p:strVal val="visible"/>
                                      </p:to>
                                    </p:set>
                                    <p:animEffect transition="in" filter="blinds(horizontal)">
                                      <p:cBhvr>
                                        <p:cTn id="43" dur="500"/>
                                        <p:tgtEl>
                                          <p:spTgt spid="423940">
                                            <p:txEl>
                                              <p:charRg st="128" end="18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linds(horizontal)">
                                      <p:cBhvr>
                                        <p:cTn id="48" dur="500"/>
                                        <p:tgtEl>
                                          <p:spTgt spid="2"/>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blinds(horizontal)">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53261"/>
                                        </p:tgtEl>
                                        <p:attrNameLst>
                                          <p:attrName>style.visibility</p:attrName>
                                        </p:attrNameLst>
                                      </p:cBhvr>
                                      <p:to>
                                        <p:strVal val="visible"/>
                                      </p:to>
                                    </p:set>
                                    <p:animEffect transition="in" filter="blinds(horizontal)">
                                      <p:cBhvr>
                                        <p:cTn id="58" dur="500"/>
                                        <p:tgtEl>
                                          <p:spTgt spid="53261"/>
                                        </p:tgtEl>
                                      </p:cBhvr>
                                    </p:animEffect>
                                  </p:childTnLst>
                                </p:cTn>
                              </p:par>
                              <p:par>
                                <p:cTn id="59" presetID="3" presetClass="entr" presetSubtype="10" fill="hold" nodeType="withEffect">
                                  <p:stCondLst>
                                    <p:cond delay="0"/>
                                  </p:stCondLst>
                                  <p:childTnLst>
                                    <p:set>
                                      <p:cBhvr>
                                        <p:cTn id="60" dur="1" fill="hold">
                                          <p:stCondLst>
                                            <p:cond delay="0"/>
                                          </p:stCondLst>
                                        </p:cTn>
                                        <p:tgtEl>
                                          <p:spTgt spid="53262"/>
                                        </p:tgtEl>
                                        <p:attrNameLst>
                                          <p:attrName>style.visibility</p:attrName>
                                        </p:attrNameLst>
                                      </p:cBhvr>
                                      <p:to>
                                        <p:strVal val="visible"/>
                                      </p:to>
                                    </p:set>
                                    <p:animEffect transition="in" filter="blinds(horizontal)">
                                      <p:cBhvr>
                                        <p:cTn id="61" dur="500"/>
                                        <p:tgtEl>
                                          <p:spTgt spid="53262"/>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53258"/>
                                        </p:tgtEl>
                                        <p:attrNameLst>
                                          <p:attrName>style.visibility</p:attrName>
                                        </p:attrNameLst>
                                      </p:cBhvr>
                                      <p:to>
                                        <p:strVal val="visible"/>
                                      </p:to>
                                    </p:set>
                                    <p:animEffect transition="in" filter="blinds(horizontal)">
                                      <p:cBhvr>
                                        <p:cTn id="66" dur="500"/>
                                        <p:tgtEl>
                                          <p:spTgt spid="53258"/>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53259"/>
                                        </p:tgtEl>
                                        <p:attrNameLst>
                                          <p:attrName>style.visibility</p:attrName>
                                        </p:attrNameLst>
                                      </p:cBhvr>
                                      <p:to>
                                        <p:strVal val="visible"/>
                                      </p:to>
                                    </p:set>
                                    <p:animEffect transition="in" filter="blinds(horizontal)">
                                      <p:cBhvr>
                                        <p:cTn id="69" dur="500"/>
                                        <p:tgtEl>
                                          <p:spTgt spid="53259"/>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423947"/>
                                        </p:tgtEl>
                                        <p:attrNameLst>
                                          <p:attrName>style.visibility</p:attrName>
                                        </p:attrNameLst>
                                      </p:cBhvr>
                                      <p:to>
                                        <p:strVal val="visible"/>
                                      </p:to>
                                    </p:set>
                                    <p:animEffect transition="in" filter="blinds(horizontal)">
                                      <p:cBhvr>
                                        <p:cTn id="74" dur="500"/>
                                        <p:tgtEl>
                                          <p:spTgt spid="423947"/>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16">
                                            <p:txEl>
                                              <p:charRg st="0" end="10"/>
                                            </p:txEl>
                                          </p:spTgt>
                                        </p:tgtEl>
                                        <p:attrNameLst>
                                          <p:attrName>style.visibility</p:attrName>
                                        </p:attrNameLst>
                                      </p:cBhvr>
                                      <p:to>
                                        <p:strVal val="visible"/>
                                      </p:to>
                                    </p:set>
                                    <p:animEffect transition="in" filter="blinds(horizontal)">
                                      <p:cBhvr>
                                        <p:cTn id="79" dur="500"/>
                                        <p:tgtEl>
                                          <p:spTgt spid="16">
                                            <p:txEl>
                                              <p:charRg st="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53268"/>
                                        </p:tgtEl>
                                        <p:attrNameLst>
                                          <p:attrName>style.visibility</p:attrName>
                                        </p:attrNameLst>
                                      </p:cBhvr>
                                      <p:to>
                                        <p:strVal val="visible"/>
                                      </p:to>
                                    </p:set>
                                    <p:animEffect transition="in" filter="blinds(horizontal)">
                                      <p:cBhvr>
                                        <p:cTn id="84" dur="500"/>
                                        <p:tgtEl>
                                          <p:spTgt spid="53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7" grpId="0"/>
      <p:bldP spid="423948" grpId="0"/>
      <p:bldP spid="423949" grpId="0" animBg="1"/>
      <p:bldP spid="53258" grpId="0"/>
      <p:bldP spid="53259" grpId="0"/>
      <p:bldP spid="5326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type="title" idx="4294967295"/>
          </p:nvPr>
        </p:nvSpPr>
        <p:spPr>
          <a:xfrm>
            <a:off x="800100" y="190500"/>
            <a:ext cx="7351713" cy="474663"/>
          </a:xfrm>
          <a:ln/>
        </p:spPr>
        <p:txBody>
          <a:bodyPr vert="horz" wrap="square" lIns="63500" tIns="25400" rIns="63500" bIns="25400" anchor="t" anchorCtr="0">
            <a:spAutoFit/>
          </a:bodyPr>
          <a:p>
            <a:r>
              <a:rPr lang="zh-CN" altLang="en-US" dirty="0">
                <a:ea typeface="宋体" panose="02010600030101010101" pitchFamily="2" charset="-122"/>
              </a:rPr>
              <a:t>如何求补码的真值</a:t>
            </a:r>
            <a:endParaRPr lang="zh-CN" altLang="en-US" dirty="0">
              <a:ea typeface="宋体" panose="02010600030101010101" pitchFamily="2" charset="-122"/>
            </a:endParaRPr>
          </a:p>
        </p:txBody>
      </p:sp>
      <p:graphicFrame>
        <p:nvGraphicFramePr>
          <p:cNvPr id="62466" name="Object 4"/>
          <p:cNvGraphicFramePr>
            <a:graphicFrameLocks noGrp="1" noChangeAspect="1"/>
          </p:cNvGraphicFramePr>
          <p:nvPr>
            <p:ph idx="4294967295"/>
          </p:nvPr>
        </p:nvGraphicFramePr>
        <p:xfrm>
          <a:off x="185738" y="1566863"/>
          <a:ext cx="8642350" cy="3392487"/>
        </p:xfrm>
        <a:graphic>
          <a:graphicData uri="http://schemas.openxmlformats.org/presentationml/2006/ole">
            <mc:AlternateContent xmlns:mc="http://schemas.openxmlformats.org/markup-compatibility/2006">
              <mc:Choice xmlns:v="urn:schemas-microsoft-com:vml" Requires="v">
                <p:oleObj spid="_x0000_s3077" name="" r:id="rId1" imgW="5276850" imgH="2076450" progId="Paint.Picture">
                  <p:embed/>
                </p:oleObj>
              </mc:Choice>
              <mc:Fallback>
                <p:oleObj name="" r:id="rId1" imgW="5276850" imgH="2076450" progId="Paint.Picture">
                  <p:embed/>
                  <p:pic>
                    <p:nvPicPr>
                      <p:cNvPr id="0" name="图片 3076"/>
                      <p:cNvPicPr/>
                      <p:nvPr/>
                    </p:nvPicPr>
                    <p:blipFill>
                      <a:blip r:embed="rId2"/>
                      <a:stretch>
                        <a:fillRect/>
                      </a:stretch>
                    </p:blipFill>
                    <p:spPr>
                      <a:xfrm>
                        <a:off x="185738" y="1566863"/>
                        <a:ext cx="8642350" cy="3392487"/>
                      </a:xfrm>
                      <a:prstGeom prst="rect">
                        <a:avLst/>
                      </a:prstGeom>
                      <a:noFill/>
                      <a:ln w="38100">
                        <a:miter/>
                      </a:ln>
                    </p:spPr>
                  </p:pic>
                </p:oleObj>
              </mc:Fallback>
            </mc:AlternateContent>
          </a:graphicData>
        </a:graphic>
      </p:graphicFrame>
      <p:sp>
        <p:nvSpPr>
          <p:cNvPr id="62467" name="Text Box 6"/>
          <p:cNvSpPr txBox="1"/>
          <p:nvPr/>
        </p:nvSpPr>
        <p:spPr>
          <a:xfrm>
            <a:off x="444500" y="889000"/>
            <a:ext cx="8191500" cy="420688"/>
          </a:xfrm>
          <a:prstGeom prst="rect">
            <a:avLst/>
          </a:prstGeom>
          <a:noFill/>
          <a:ln w="12700">
            <a:noFill/>
          </a:ln>
        </p:spPr>
        <p:txBody>
          <a:bodyPr lIns="63500" tIns="25400" rIns="63500" bIns="25400" anchor="t" anchorCtr="0">
            <a:spAutoFit/>
          </a:bodyPr>
          <a:p>
            <a:pPr eaLnBrk="0" hangingPunct="0">
              <a:spcBef>
                <a:spcPct val="50000"/>
              </a:spcBef>
            </a:pPr>
            <a:r>
              <a:rPr lang="zh-CN" altLang="en-US" sz="2400" dirty="0">
                <a:latin typeface="黑体" panose="02010609060101010101" pitchFamily="49" charset="-122"/>
                <a:ea typeface="黑体" panose="02010609060101010101" pitchFamily="49" charset="-122"/>
              </a:rPr>
              <a:t>根据补码各位上的“权”，可以求出一个补码的值</a:t>
            </a:r>
            <a:endParaRPr lang="zh-CN" altLang="en-US" sz="2400" dirty="0">
              <a:latin typeface="黑体" panose="02010609060101010101" pitchFamily="49" charset="-122"/>
              <a:ea typeface="黑体" panose="02010609060101010101" pitchFamily="49" charset="-122"/>
            </a:endParaRPr>
          </a:p>
        </p:txBody>
      </p:sp>
      <p:sp>
        <p:nvSpPr>
          <p:cNvPr id="62468" name="Text Box 9"/>
          <p:cNvSpPr txBox="1"/>
          <p:nvPr/>
        </p:nvSpPr>
        <p:spPr>
          <a:xfrm>
            <a:off x="2776538" y="2944813"/>
            <a:ext cx="1547812" cy="365125"/>
          </a:xfrm>
          <a:prstGeom prst="rect">
            <a:avLst/>
          </a:prstGeom>
          <a:solidFill>
            <a:schemeClr val="bg1"/>
          </a:solidFill>
          <a:ln w="12700">
            <a:noFill/>
          </a:ln>
        </p:spPr>
        <p:txBody>
          <a:bodyPr lIns="0" tIns="0" rIns="0" bIns="0" anchor="t" anchorCtr="0">
            <a:spAutoFit/>
          </a:bodyPr>
          <a:p>
            <a:pPr eaLnBrk="0" hangingPunct="0">
              <a:spcBef>
                <a:spcPct val="50000"/>
              </a:spcBef>
            </a:pPr>
            <a:r>
              <a:rPr lang="zh-CN" altLang="en-US" sz="2400" dirty="0">
                <a:latin typeface="Times New Roman" panose="02020603050405020304" pitchFamily="18" charset="0"/>
                <a:ea typeface="宋体" panose="02010600030101010101" pitchFamily="2" charset="-122"/>
              </a:rPr>
              <a:t>真值范围：</a:t>
            </a:r>
            <a:endParaRPr lang="zh-CN" altLang="en-US" sz="2400" dirty="0">
              <a:latin typeface="Times New Roman" panose="02020603050405020304" pitchFamily="18" charset="0"/>
              <a:ea typeface="宋体" panose="02010600030101010101" pitchFamily="2" charset="-122"/>
            </a:endParaRPr>
          </a:p>
        </p:txBody>
      </p:sp>
      <p:sp>
        <p:nvSpPr>
          <p:cNvPr id="62469" name="Rectangle 11"/>
          <p:cNvSpPr/>
          <p:nvPr/>
        </p:nvSpPr>
        <p:spPr>
          <a:xfrm>
            <a:off x="320675" y="819150"/>
            <a:ext cx="8066088" cy="781050"/>
          </a:xfrm>
          <a:prstGeom prst="rect">
            <a:avLst/>
          </a:prstGeom>
          <a:solidFill>
            <a:schemeClr val="bg1"/>
          </a:solidFill>
          <a:ln w="12700">
            <a:noFill/>
          </a:ln>
        </p:spPr>
        <p:txBody>
          <a:bodyPr lIns="63500" tIns="25400" rIns="63500" bIns="25400" anchor="t" anchorCtr="0">
            <a:spAutoFit/>
          </a:bodyPr>
          <a:p>
            <a:pPr marL="203200" indent="-203200" eaLnBrk="0" hangingPunct="0">
              <a:buClr>
                <a:schemeClr val="tx1"/>
              </a:buClr>
              <a:buSzPct val="60000"/>
              <a:buFont typeface="Wingdings" panose="05000000000000000000" pitchFamily="2" charset="2"/>
            </a:pPr>
            <a:r>
              <a:rPr lang="zh-CN" altLang="en-US" sz="2000" dirty="0">
                <a:solidFill>
                  <a:srgbClr val="0000FF"/>
                </a:solidFill>
                <a:latin typeface="Arial" panose="020B0604020202020204" pitchFamily="34" charset="0"/>
                <a:ea typeface="宋体" panose="02010600030101010101" pitchFamily="2" charset="-122"/>
              </a:rPr>
              <a:t>    </a:t>
            </a:r>
            <a:r>
              <a:rPr lang="zh-CN" altLang="en-US" sz="2400" dirty="0">
                <a:solidFill>
                  <a:srgbClr val="FF0066"/>
                </a:solidFill>
                <a:latin typeface="Arial" panose="020B0604020202020204" pitchFamily="34" charset="0"/>
                <a:ea typeface="宋体" panose="02010600030101010101" pitchFamily="2" charset="-122"/>
              </a:rPr>
              <a:t>令：[</a:t>
            </a:r>
            <a:r>
              <a:rPr lang="en-US" altLang="zh-CN" sz="2400" dirty="0">
                <a:solidFill>
                  <a:srgbClr val="FF0066"/>
                </a:solidFill>
                <a:latin typeface="Arial" panose="020B0604020202020204" pitchFamily="34" charset="0"/>
              </a:rPr>
              <a:t>A]</a:t>
            </a:r>
            <a:r>
              <a:rPr lang="zh-CN" altLang="en-US" sz="2400" baseline="-16000" dirty="0">
                <a:solidFill>
                  <a:srgbClr val="FF0066"/>
                </a:solidFill>
                <a:latin typeface="Arial" panose="020B0604020202020204" pitchFamily="34" charset="0"/>
                <a:ea typeface="宋体" panose="02010600030101010101" pitchFamily="2" charset="-122"/>
              </a:rPr>
              <a:t>补</a:t>
            </a:r>
            <a:r>
              <a:rPr lang="zh-CN" altLang="en-US" sz="2400" dirty="0">
                <a:solidFill>
                  <a:srgbClr val="FF0066"/>
                </a:solidFill>
                <a:latin typeface="Arial" panose="020B0604020202020204" pitchFamily="34" charset="0"/>
                <a:ea typeface="宋体" panose="02010600030101010101" pitchFamily="2" charset="-122"/>
              </a:rPr>
              <a:t>= </a:t>
            </a:r>
            <a:r>
              <a:rPr lang="en-US" altLang="zh-CN" sz="2400" dirty="0">
                <a:solidFill>
                  <a:srgbClr val="FF0066"/>
                </a:solidFill>
                <a:latin typeface="Arial" panose="020B0604020202020204" pitchFamily="34" charset="0"/>
              </a:rPr>
              <a:t>a</a:t>
            </a:r>
            <a:r>
              <a:rPr lang="en-US" altLang="zh-CN" sz="2400" baseline="-10000" dirty="0">
                <a:solidFill>
                  <a:srgbClr val="FF0066"/>
                </a:solidFill>
                <a:latin typeface="Arial" panose="020B0604020202020204" pitchFamily="34" charset="0"/>
              </a:rPr>
              <a:t>n-1</a:t>
            </a:r>
            <a:r>
              <a:rPr lang="en-US" altLang="zh-CN" sz="2400" dirty="0">
                <a:solidFill>
                  <a:srgbClr val="FF0066"/>
                </a:solidFill>
                <a:latin typeface="Arial" panose="020B0604020202020204" pitchFamily="34" charset="0"/>
              </a:rPr>
              <a:t>a</a:t>
            </a:r>
            <a:r>
              <a:rPr lang="en-US" altLang="zh-CN" sz="2400" baseline="-10000" dirty="0">
                <a:solidFill>
                  <a:srgbClr val="FF0066"/>
                </a:solidFill>
                <a:latin typeface="Arial" panose="020B0604020202020204" pitchFamily="34" charset="0"/>
              </a:rPr>
              <a:t>n-2</a:t>
            </a:r>
            <a:r>
              <a:rPr lang="en-US" altLang="zh-CN" sz="2400" baseline="30000" dirty="0">
                <a:solidFill>
                  <a:srgbClr val="FF0066"/>
                </a:solidFill>
                <a:latin typeface="Arial" panose="020B0604020202020204" pitchFamily="34" charset="0"/>
              </a:rPr>
              <a:t>……</a:t>
            </a:r>
            <a:r>
              <a:rPr lang="en-US" altLang="zh-CN" sz="2400" baseline="-10000" dirty="0">
                <a:solidFill>
                  <a:srgbClr val="FF0066"/>
                </a:solidFill>
                <a:latin typeface="Arial" panose="020B0604020202020204" pitchFamily="34" charset="0"/>
              </a:rPr>
              <a:t> </a:t>
            </a:r>
            <a:r>
              <a:rPr lang="en-US" altLang="zh-CN" sz="2400" dirty="0">
                <a:solidFill>
                  <a:srgbClr val="FF0066"/>
                </a:solidFill>
                <a:latin typeface="Arial" panose="020B0604020202020204" pitchFamily="34" charset="0"/>
              </a:rPr>
              <a:t>a</a:t>
            </a:r>
            <a:r>
              <a:rPr lang="en-US" altLang="zh-CN" sz="2400" baseline="-10000" dirty="0">
                <a:solidFill>
                  <a:srgbClr val="FF0066"/>
                </a:solidFill>
                <a:latin typeface="Arial" panose="020B0604020202020204" pitchFamily="34" charset="0"/>
              </a:rPr>
              <a:t>1</a:t>
            </a:r>
            <a:r>
              <a:rPr lang="en-US" altLang="zh-CN" sz="2400" dirty="0">
                <a:solidFill>
                  <a:srgbClr val="FF0066"/>
                </a:solidFill>
                <a:latin typeface="Arial" panose="020B0604020202020204" pitchFamily="34" charset="0"/>
              </a:rPr>
              <a:t>a</a:t>
            </a:r>
            <a:r>
              <a:rPr lang="en-US" altLang="zh-CN" sz="2400" baseline="-10000" dirty="0">
                <a:solidFill>
                  <a:srgbClr val="FF0066"/>
                </a:solidFill>
                <a:latin typeface="Arial" panose="020B0604020202020204" pitchFamily="34" charset="0"/>
              </a:rPr>
              <a:t>0 </a:t>
            </a:r>
            <a:endParaRPr lang="en-US" altLang="zh-CN" sz="2400" baseline="-10000" dirty="0">
              <a:solidFill>
                <a:srgbClr val="FF0066"/>
              </a:solidFill>
              <a:latin typeface="Arial" panose="020B0604020202020204" pitchFamily="34" charset="0"/>
            </a:endParaRPr>
          </a:p>
          <a:p>
            <a:pPr marL="203200" indent="-203200" eaLnBrk="0" hangingPunct="0">
              <a:buClr>
                <a:schemeClr val="tx1"/>
              </a:buClr>
              <a:buSzPct val="60000"/>
              <a:buFont typeface="Wingdings" panose="05000000000000000000" pitchFamily="2" charset="2"/>
            </a:pPr>
            <a:r>
              <a:rPr lang="zh-CN" altLang="en-US" sz="2400" dirty="0">
                <a:solidFill>
                  <a:srgbClr val="FF0066"/>
                </a:solidFill>
                <a:latin typeface="Arial" panose="020B0604020202020204" pitchFamily="34" charset="0"/>
                <a:ea typeface="宋体" panose="02010600030101010101" pitchFamily="2" charset="-122"/>
              </a:rPr>
              <a:t>    则：  </a:t>
            </a:r>
            <a:r>
              <a:rPr lang="en-US" altLang="zh-CN" sz="2400" dirty="0">
                <a:solidFill>
                  <a:srgbClr val="FF0066"/>
                </a:solidFill>
                <a:latin typeface="Arial" panose="020B0604020202020204" pitchFamily="34" charset="0"/>
              </a:rPr>
              <a:t>   A</a:t>
            </a:r>
            <a:r>
              <a:rPr lang="zh-CN" altLang="en-US" sz="2400" dirty="0">
                <a:solidFill>
                  <a:srgbClr val="FF0066"/>
                </a:solidFill>
                <a:latin typeface="Arial" panose="020B0604020202020204" pitchFamily="34" charset="0"/>
                <a:ea typeface="宋体" panose="02010600030101010101" pitchFamily="2" charset="-122"/>
              </a:rPr>
              <a:t>= -</a:t>
            </a:r>
            <a:r>
              <a:rPr lang="en-US" altLang="zh-CN" sz="2400" dirty="0">
                <a:solidFill>
                  <a:srgbClr val="FF0066"/>
                </a:solidFill>
                <a:latin typeface="Arial" panose="020B0604020202020204" pitchFamily="34" charset="0"/>
              </a:rPr>
              <a:t>a</a:t>
            </a:r>
            <a:r>
              <a:rPr lang="en-US" altLang="zh-CN" sz="2400" baseline="-10000" dirty="0">
                <a:solidFill>
                  <a:srgbClr val="FF0066"/>
                </a:solidFill>
                <a:latin typeface="Arial" panose="020B0604020202020204" pitchFamily="34" charset="0"/>
              </a:rPr>
              <a:t>n-1</a:t>
            </a:r>
            <a:r>
              <a:rPr lang="en-US" altLang="zh-CN" sz="2400" baseline="30000" dirty="0">
                <a:solidFill>
                  <a:srgbClr val="FF0066"/>
                </a:solidFill>
                <a:latin typeface="Arial" panose="020B0604020202020204" pitchFamily="34" charset="0"/>
              </a:rPr>
              <a:t>.</a:t>
            </a:r>
            <a:r>
              <a:rPr lang="en-US" altLang="zh-CN" sz="2400" dirty="0">
                <a:solidFill>
                  <a:srgbClr val="FF0066"/>
                </a:solidFill>
                <a:latin typeface="Arial" panose="020B0604020202020204" pitchFamily="34" charset="0"/>
              </a:rPr>
              <a:t>2</a:t>
            </a:r>
            <a:r>
              <a:rPr lang="en-US" altLang="zh-CN" sz="2400" baseline="30000" dirty="0">
                <a:solidFill>
                  <a:srgbClr val="FF0066"/>
                </a:solidFill>
                <a:latin typeface="Arial" panose="020B0604020202020204" pitchFamily="34" charset="0"/>
              </a:rPr>
              <a:t>n-1</a:t>
            </a:r>
            <a:r>
              <a:rPr lang="en-US" altLang="zh-CN" sz="2400" dirty="0">
                <a:solidFill>
                  <a:srgbClr val="FF0066"/>
                </a:solidFill>
                <a:latin typeface="Arial" panose="020B0604020202020204" pitchFamily="34" charset="0"/>
              </a:rPr>
              <a:t>+a</a:t>
            </a:r>
            <a:r>
              <a:rPr lang="en-US" altLang="zh-CN" sz="2400" baseline="-10000" dirty="0">
                <a:solidFill>
                  <a:srgbClr val="FF0066"/>
                </a:solidFill>
                <a:latin typeface="Arial" panose="020B0604020202020204" pitchFamily="34" charset="0"/>
              </a:rPr>
              <a:t>n-2 </a:t>
            </a:r>
            <a:r>
              <a:rPr lang="en-US" altLang="zh-CN" sz="2400" baseline="30000" dirty="0">
                <a:solidFill>
                  <a:srgbClr val="FF0066"/>
                </a:solidFill>
                <a:latin typeface="Arial" panose="020B0604020202020204" pitchFamily="34" charset="0"/>
              </a:rPr>
              <a:t>.</a:t>
            </a:r>
            <a:r>
              <a:rPr lang="en-US" altLang="zh-CN" sz="2400" dirty="0">
                <a:solidFill>
                  <a:srgbClr val="FF0066"/>
                </a:solidFill>
                <a:latin typeface="Arial" panose="020B0604020202020204" pitchFamily="34" charset="0"/>
              </a:rPr>
              <a:t>2</a:t>
            </a:r>
            <a:r>
              <a:rPr lang="en-US" altLang="zh-CN" sz="2400" baseline="30000" dirty="0">
                <a:solidFill>
                  <a:srgbClr val="FF0066"/>
                </a:solidFill>
                <a:latin typeface="Arial" panose="020B0604020202020204" pitchFamily="34" charset="0"/>
              </a:rPr>
              <a:t>n-2</a:t>
            </a:r>
            <a:r>
              <a:rPr lang="en-US" altLang="zh-CN" sz="2400" dirty="0">
                <a:solidFill>
                  <a:srgbClr val="FF0066"/>
                </a:solidFill>
                <a:latin typeface="Arial" panose="020B0604020202020204" pitchFamily="34" charset="0"/>
              </a:rPr>
              <a:t>+</a:t>
            </a:r>
            <a:r>
              <a:rPr lang="en-US" altLang="zh-CN" sz="2400" baseline="-10000" dirty="0">
                <a:solidFill>
                  <a:srgbClr val="FF0066"/>
                </a:solidFill>
                <a:latin typeface="Arial" panose="020B0604020202020204" pitchFamily="34" charset="0"/>
              </a:rPr>
              <a:t> </a:t>
            </a:r>
            <a:r>
              <a:rPr lang="en-US" altLang="zh-CN" sz="2400" baseline="30000" dirty="0">
                <a:solidFill>
                  <a:srgbClr val="FF0066"/>
                </a:solidFill>
                <a:latin typeface="Arial" panose="020B0604020202020204" pitchFamily="34" charset="0"/>
              </a:rPr>
              <a:t>……</a:t>
            </a:r>
            <a:r>
              <a:rPr lang="en-US" altLang="zh-CN" sz="2400" baseline="-10000" dirty="0">
                <a:solidFill>
                  <a:srgbClr val="FF0066"/>
                </a:solidFill>
                <a:latin typeface="Arial" panose="020B0604020202020204" pitchFamily="34" charset="0"/>
              </a:rPr>
              <a:t> </a:t>
            </a:r>
            <a:r>
              <a:rPr lang="en-US" altLang="zh-CN" sz="2400" dirty="0">
                <a:solidFill>
                  <a:srgbClr val="FF0066"/>
                </a:solidFill>
                <a:latin typeface="Arial" panose="020B0604020202020204" pitchFamily="34" charset="0"/>
              </a:rPr>
              <a:t>a</a:t>
            </a:r>
            <a:r>
              <a:rPr lang="en-US" altLang="zh-CN" sz="2400" baseline="-10000" dirty="0">
                <a:solidFill>
                  <a:srgbClr val="FF0066"/>
                </a:solidFill>
                <a:latin typeface="Arial" panose="020B0604020202020204" pitchFamily="34" charset="0"/>
              </a:rPr>
              <a:t>1 </a:t>
            </a:r>
            <a:r>
              <a:rPr lang="en-US" altLang="zh-CN" sz="2400" baseline="30000" dirty="0">
                <a:solidFill>
                  <a:srgbClr val="FF0066"/>
                </a:solidFill>
                <a:latin typeface="Arial" panose="020B0604020202020204" pitchFamily="34" charset="0"/>
              </a:rPr>
              <a:t>.</a:t>
            </a:r>
            <a:r>
              <a:rPr lang="en-US" altLang="zh-CN" sz="2400" dirty="0">
                <a:solidFill>
                  <a:srgbClr val="FF0066"/>
                </a:solidFill>
                <a:latin typeface="Arial" panose="020B0604020202020204" pitchFamily="34" charset="0"/>
              </a:rPr>
              <a:t>2</a:t>
            </a:r>
            <a:r>
              <a:rPr lang="en-US" altLang="zh-CN" sz="2400" baseline="30000" dirty="0">
                <a:solidFill>
                  <a:srgbClr val="FF0066"/>
                </a:solidFill>
                <a:latin typeface="Arial" panose="020B0604020202020204" pitchFamily="34" charset="0"/>
              </a:rPr>
              <a:t>1</a:t>
            </a:r>
            <a:r>
              <a:rPr lang="en-US" altLang="zh-CN" sz="2400" dirty="0">
                <a:solidFill>
                  <a:srgbClr val="FF0066"/>
                </a:solidFill>
                <a:latin typeface="Arial" panose="020B0604020202020204" pitchFamily="34" charset="0"/>
              </a:rPr>
              <a:t>+</a:t>
            </a:r>
            <a:r>
              <a:rPr lang="en-US" altLang="zh-CN" sz="2400" baseline="-10000" dirty="0">
                <a:solidFill>
                  <a:srgbClr val="FF0066"/>
                </a:solidFill>
                <a:latin typeface="Arial" panose="020B0604020202020204" pitchFamily="34" charset="0"/>
              </a:rPr>
              <a:t> </a:t>
            </a:r>
            <a:r>
              <a:rPr lang="en-US" altLang="zh-CN" sz="2400" dirty="0">
                <a:solidFill>
                  <a:srgbClr val="FF0066"/>
                </a:solidFill>
                <a:latin typeface="Arial" panose="020B0604020202020204" pitchFamily="34" charset="0"/>
              </a:rPr>
              <a:t>a</a:t>
            </a:r>
            <a:r>
              <a:rPr lang="en-US" altLang="zh-CN" sz="2400" baseline="-10000" dirty="0">
                <a:solidFill>
                  <a:srgbClr val="FF0066"/>
                </a:solidFill>
                <a:latin typeface="Arial" panose="020B0604020202020204" pitchFamily="34" charset="0"/>
              </a:rPr>
              <a:t>0 </a:t>
            </a:r>
            <a:r>
              <a:rPr lang="en-US" altLang="zh-CN" sz="2400" baseline="30000" dirty="0">
                <a:solidFill>
                  <a:srgbClr val="FF0066"/>
                </a:solidFill>
                <a:latin typeface="Arial" panose="020B0604020202020204" pitchFamily="34" charset="0"/>
              </a:rPr>
              <a:t>.</a:t>
            </a:r>
            <a:r>
              <a:rPr lang="en-US" altLang="zh-CN" sz="2400" dirty="0">
                <a:solidFill>
                  <a:srgbClr val="FF0066"/>
                </a:solidFill>
                <a:latin typeface="Arial" panose="020B0604020202020204" pitchFamily="34" charset="0"/>
              </a:rPr>
              <a:t>2</a:t>
            </a:r>
            <a:r>
              <a:rPr lang="en-US" altLang="zh-CN" sz="2400" baseline="30000" dirty="0">
                <a:solidFill>
                  <a:srgbClr val="FF0066"/>
                </a:solidFill>
                <a:latin typeface="Arial" panose="020B0604020202020204" pitchFamily="34" charset="0"/>
              </a:rPr>
              <a:t>0</a:t>
            </a:r>
            <a:r>
              <a:rPr lang="zh-CN" altLang="en-US" sz="2200" dirty="0">
                <a:solidFill>
                  <a:srgbClr val="FF0066"/>
                </a:solidFill>
                <a:latin typeface="Arial" panose="020B0604020202020204" pitchFamily="34" charset="0"/>
                <a:ea typeface="宋体" panose="02010600030101010101" pitchFamily="2" charset="-122"/>
              </a:rPr>
              <a:t>   </a:t>
            </a:r>
            <a:endParaRPr lang="zh-CN" altLang="en-US" sz="2200" dirty="0">
              <a:solidFill>
                <a:srgbClr val="FF0066"/>
              </a:solidFill>
              <a:latin typeface="Arial" panose="020B0604020202020204" pitchFamily="34" charset="0"/>
              <a:ea typeface="宋体" panose="02010600030101010101" pitchFamily="2" charset="-122"/>
            </a:endParaRPr>
          </a:p>
        </p:txBody>
      </p:sp>
      <p:sp>
        <p:nvSpPr>
          <p:cNvPr id="62470" name="Text Box 7"/>
          <p:cNvSpPr txBox="1"/>
          <p:nvPr/>
        </p:nvSpPr>
        <p:spPr>
          <a:xfrm>
            <a:off x="406400" y="4830763"/>
            <a:ext cx="7292975" cy="895350"/>
          </a:xfrm>
          <a:prstGeom prst="rect">
            <a:avLst/>
          </a:prstGeom>
          <a:noFill/>
          <a:ln w="12700">
            <a:noFill/>
          </a:ln>
        </p:spPr>
        <p:txBody>
          <a:bodyPr anchor="t" anchorCtr="0">
            <a:spAutoFit/>
          </a:bodyPr>
          <a:p>
            <a:pPr eaLnBrk="0" hangingPunct="0">
              <a:spcBef>
                <a:spcPct val="20000"/>
              </a:spcBef>
            </a:pPr>
            <a:r>
              <a:rPr lang="zh-CN" altLang="en-US" sz="2400" dirty="0">
                <a:solidFill>
                  <a:srgbClr val="3333FF"/>
                </a:solidFill>
                <a:latin typeface="黑体" panose="02010609060101010101" pitchFamily="49" charset="-122"/>
                <a:ea typeface="黑体" panose="02010609060101010101" pitchFamily="49" charset="-122"/>
              </a:rPr>
              <a:t>符号为</a:t>
            </a:r>
            <a:r>
              <a:rPr lang="en-US" altLang="zh-CN" sz="2400" dirty="0">
                <a:solidFill>
                  <a:srgbClr val="3333FF"/>
                </a:solidFill>
                <a:latin typeface="黑体" panose="02010609060101010101" pitchFamily="49" charset="-122"/>
                <a:ea typeface="黑体" panose="02010609060101010101" pitchFamily="49" charset="-122"/>
              </a:rPr>
              <a:t>0</a:t>
            </a:r>
            <a:r>
              <a:rPr lang="zh-CN" altLang="en-US" sz="2400" dirty="0">
                <a:solidFill>
                  <a:srgbClr val="3333FF"/>
                </a:solidFill>
                <a:latin typeface="黑体" panose="02010609060101010101" pitchFamily="49" charset="-122"/>
                <a:ea typeface="黑体" panose="02010609060101010101" pitchFamily="49" charset="-122"/>
              </a:rPr>
              <a:t>，则为正数，数值部分同</a:t>
            </a:r>
            <a:endParaRPr lang="zh-CN" altLang="en-US" sz="2400" dirty="0">
              <a:solidFill>
                <a:srgbClr val="3333FF"/>
              </a:solidFill>
              <a:latin typeface="黑体" panose="02010609060101010101" pitchFamily="49" charset="-122"/>
              <a:ea typeface="黑体" panose="02010609060101010101" pitchFamily="49" charset="-122"/>
            </a:endParaRPr>
          </a:p>
          <a:p>
            <a:pPr eaLnBrk="0" hangingPunct="0">
              <a:spcBef>
                <a:spcPct val="20000"/>
              </a:spcBef>
            </a:pPr>
            <a:r>
              <a:rPr lang="zh-CN" altLang="en-US" sz="2400" dirty="0">
                <a:solidFill>
                  <a:srgbClr val="3333FF"/>
                </a:solidFill>
                <a:latin typeface="黑体" panose="02010609060101010101" pitchFamily="49" charset="-122"/>
                <a:ea typeface="黑体" panose="02010609060101010101" pitchFamily="49" charset="-122"/>
              </a:rPr>
              <a:t>符号为</a:t>
            </a:r>
            <a:r>
              <a:rPr lang="en-US" altLang="zh-CN" sz="2400" dirty="0">
                <a:solidFill>
                  <a:srgbClr val="3333FF"/>
                </a:solidFill>
                <a:latin typeface="黑体" panose="02010609060101010101" pitchFamily="49" charset="-122"/>
                <a:ea typeface="黑体" panose="02010609060101010101" pitchFamily="49" charset="-122"/>
              </a:rPr>
              <a:t>1</a:t>
            </a:r>
            <a:r>
              <a:rPr lang="zh-CN" altLang="en-US" sz="2400" dirty="0">
                <a:solidFill>
                  <a:srgbClr val="3333FF"/>
                </a:solidFill>
                <a:latin typeface="黑体" panose="02010609060101010101" pitchFamily="49" charset="-122"/>
                <a:ea typeface="黑体" panose="02010609060101010101" pitchFamily="49" charset="-122"/>
              </a:rPr>
              <a:t>，则为负数，数值各位取反，末位加</a:t>
            </a:r>
            <a:r>
              <a:rPr lang="en-US" altLang="zh-CN" sz="2400" dirty="0">
                <a:solidFill>
                  <a:srgbClr val="3333FF"/>
                </a:solidFill>
                <a:latin typeface="黑体" panose="02010609060101010101" pitchFamily="49" charset="-122"/>
                <a:ea typeface="黑体" panose="02010609060101010101" pitchFamily="49" charset="-122"/>
              </a:rPr>
              <a:t>1</a:t>
            </a:r>
            <a:endParaRPr lang="en-US" altLang="zh-CN" sz="2400" dirty="0">
              <a:solidFill>
                <a:srgbClr val="3333FF"/>
              </a:solidFill>
              <a:latin typeface="黑体" panose="02010609060101010101" pitchFamily="49" charset="-122"/>
              <a:ea typeface="黑体" panose="02010609060101010101" pitchFamily="49" charset="-122"/>
            </a:endParaRPr>
          </a:p>
        </p:txBody>
      </p:sp>
      <p:sp>
        <p:nvSpPr>
          <p:cNvPr id="62471" name="Text Box 8"/>
          <p:cNvSpPr txBox="1"/>
          <p:nvPr/>
        </p:nvSpPr>
        <p:spPr>
          <a:xfrm>
            <a:off x="320675" y="5864225"/>
            <a:ext cx="8374063" cy="457200"/>
          </a:xfrm>
          <a:prstGeom prst="rect">
            <a:avLst/>
          </a:prstGeom>
          <a:noFill/>
          <a:ln w="12700">
            <a:noFill/>
          </a:ln>
        </p:spPr>
        <p:txBody>
          <a:bodyPr anchor="t" anchorCtr="0">
            <a:spAutoFit/>
          </a:bodyPr>
          <a:p>
            <a:pPr eaLnBrk="0" hangingPunct="0">
              <a:spcBef>
                <a:spcPct val="50000"/>
              </a:spcBef>
            </a:pPr>
            <a:r>
              <a:rPr lang="zh-CN" altLang="en-US" sz="2200" dirty="0">
                <a:latin typeface="Comic Sans MS" panose="030F0702030302020204" pitchFamily="66" charset="0"/>
                <a:ea typeface="黑体" panose="02010609060101010101" pitchFamily="49" charset="-122"/>
              </a:rPr>
              <a:t>例如：补码“</a:t>
            </a:r>
            <a:r>
              <a:rPr lang="en-US" altLang="zh-CN" sz="2200" dirty="0">
                <a:latin typeface="Comic Sans MS" panose="030F0702030302020204" pitchFamily="66" charset="0"/>
                <a:ea typeface="黑体" panose="02010609060101010101" pitchFamily="49" charset="-122"/>
              </a:rPr>
              <a:t>11010110”</a:t>
            </a:r>
            <a:r>
              <a:rPr lang="zh-CN" altLang="en-US" sz="2200" dirty="0">
                <a:latin typeface="Comic Sans MS" panose="030F0702030302020204" pitchFamily="66" charset="0"/>
                <a:ea typeface="黑体" panose="02010609060101010101" pitchFamily="49" charset="-122"/>
              </a:rPr>
              <a:t>的真值为：</a:t>
            </a:r>
            <a:r>
              <a:rPr lang="en-US" altLang="zh-CN" sz="2400" dirty="0">
                <a:latin typeface="Comic Sans MS" panose="030F0702030302020204" pitchFamily="66" charset="0"/>
                <a:ea typeface="微软雅黑" panose="020B0503020204020204" pitchFamily="34" charset="-122"/>
              </a:rPr>
              <a:t>-</a:t>
            </a:r>
            <a:r>
              <a:rPr lang="en-US" altLang="zh-CN" sz="2200" dirty="0">
                <a:latin typeface="Comic Sans MS" panose="030F0702030302020204" pitchFamily="66" charset="0"/>
                <a:ea typeface="黑体" panose="02010609060101010101" pitchFamily="49" charset="-122"/>
              </a:rPr>
              <a:t>0101010=</a:t>
            </a:r>
            <a:r>
              <a:rPr lang="en-US" altLang="zh-CN" sz="2400" b="0" dirty="0">
                <a:latin typeface="Comic Sans MS" panose="030F0702030302020204" pitchFamily="66" charset="0"/>
                <a:ea typeface="微软雅黑" panose="020B0503020204020204" pitchFamily="34" charset="-122"/>
              </a:rPr>
              <a:t>-</a:t>
            </a:r>
            <a:r>
              <a:rPr lang="en-US" altLang="zh-CN" sz="2200" dirty="0">
                <a:latin typeface="Comic Sans MS" panose="030F0702030302020204" pitchFamily="66" charset="0"/>
                <a:ea typeface="黑体" panose="02010609060101010101" pitchFamily="49" charset="-122"/>
              </a:rPr>
              <a:t>(32+8+2)=-42</a:t>
            </a:r>
            <a:endParaRPr lang="en-US" altLang="zh-CN" sz="2200" dirty="0">
              <a:latin typeface="Comic Sans MS" panose="030F0702030302020204" pitchFamily="66" charset="0"/>
              <a:ea typeface="黑体" panose="02010609060101010101" pitchFamily="49" charset="-122"/>
            </a:endParaRPr>
          </a:p>
        </p:txBody>
      </p:sp>
      <p:sp>
        <p:nvSpPr>
          <p:cNvPr id="62472" name="Text Box 9"/>
          <p:cNvSpPr txBox="1"/>
          <p:nvPr/>
        </p:nvSpPr>
        <p:spPr>
          <a:xfrm>
            <a:off x="7466013" y="5008563"/>
            <a:ext cx="1390650" cy="336550"/>
          </a:xfrm>
          <a:prstGeom prst="rect">
            <a:avLst/>
          </a:prstGeom>
          <a:noFill/>
          <a:ln w="12700">
            <a:noFill/>
          </a:ln>
        </p:spPr>
        <p:txBody>
          <a:bodyPr anchor="t" anchorCtr="0">
            <a:spAutoFit/>
          </a:bodyPr>
          <a:p>
            <a:pPr eaLnBrk="0" hangingPunct="0">
              <a:spcBef>
                <a:spcPct val="50000"/>
              </a:spcBef>
            </a:pPr>
            <a:r>
              <a:rPr lang="en-US" altLang="zh-CN" dirty="0">
                <a:latin typeface="Times New Roman" panose="02020603050405020304" pitchFamily="18" charset="0"/>
                <a:hlinkClick r:id="" action="ppaction://hlinkshowjump?jump=previousslide"/>
              </a:rPr>
              <a:t>BACK</a:t>
            </a:r>
            <a:endParaRPr lang="en-US" altLang="zh-CN" dirty="0">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type="title"/>
          </p:nvPr>
        </p:nvSpPr>
        <p:spPr>
          <a:xfrm>
            <a:off x="557213" y="198438"/>
            <a:ext cx="4514850" cy="474662"/>
          </a:xfrm>
          <a:ln/>
        </p:spPr>
        <p:txBody>
          <a:bodyPr vert="horz" wrap="square" lIns="63500" tIns="25400" rIns="63500" bIns="25400" anchor="t" anchorCtr="0">
            <a:spAutoFit/>
          </a:bodyPr>
          <a:p>
            <a:r>
              <a:rPr lang="en-US" altLang="zh-CN" dirty="0">
                <a:ea typeface="宋体" panose="02010600030101010101" pitchFamily="2" charset="-122"/>
              </a:rPr>
              <a:t>Booth’s </a:t>
            </a:r>
            <a:r>
              <a:rPr lang="zh-CN" altLang="en-US" dirty="0">
                <a:ea typeface="宋体" panose="02010600030101010101" pitchFamily="2" charset="-122"/>
              </a:rPr>
              <a:t>算法实质</a:t>
            </a:r>
            <a:endParaRPr lang="zh-CN" altLang="en-US" dirty="0">
              <a:ea typeface="宋体" panose="02010600030101010101" pitchFamily="2" charset="-122"/>
            </a:endParaRPr>
          </a:p>
        </p:txBody>
      </p:sp>
      <p:sp>
        <p:nvSpPr>
          <p:cNvPr id="149507" name="Rectangle 3"/>
          <p:cNvSpPr>
            <a:spLocks noGrp="1"/>
          </p:cNvSpPr>
          <p:nvPr>
            <p:ph idx="1"/>
          </p:nvPr>
        </p:nvSpPr>
        <p:spPr>
          <a:xfrm>
            <a:off x="263525" y="2062163"/>
            <a:ext cx="8716963" cy="3190875"/>
          </a:xfrm>
          <a:ln/>
        </p:spPr>
        <p:txBody>
          <a:bodyPr vert="horz" wrap="square" lIns="63500" tIns="25400" rIns="63500" bIns="25400" anchor="t" anchorCtr="0">
            <a:spAutoFit/>
          </a:bodyPr>
          <a:p>
            <a:pPr defTabSz="914400">
              <a:tabLst>
                <a:tab pos="1828800" algn="l"/>
                <a:tab pos="3714750" algn="l"/>
                <a:tab pos="6686550" algn="l"/>
              </a:tabLst>
            </a:pPr>
            <a:r>
              <a:rPr lang="zh-CN" altLang="en-US" sz="2000" dirty="0">
                <a:solidFill>
                  <a:srgbClr val="CC0000"/>
                </a:solidFill>
                <a:ea typeface="黑体" panose="02010609060101010101" pitchFamily="49" charset="-122"/>
              </a:rPr>
              <a:t>当前位</a:t>
            </a:r>
            <a:r>
              <a:rPr lang="en-US" altLang="zh-CN" sz="2000" dirty="0">
                <a:solidFill>
                  <a:srgbClr val="CC0000"/>
                </a:solidFill>
                <a:ea typeface="黑体" panose="02010609060101010101" pitchFamily="49" charset="-122"/>
              </a:rPr>
              <a:t>	</a:t>
            </a:r>
            <a:r>
              <a:rPr lang="zh-CN" altLang="en-US" sz="2000" dirty="0">
                <a:solidFill>
                  <a:srgbClr val="CC0000"/>
                </a:solidFill>
                <a:ea typeface="黑体" panose="02010609060101010101" pitchFamily="49" charset="-122"/>
              </a:rPr>
              <a:t>右边位	操作	</a:t>
            </a:r>
            <a:r>
              <a:rPr lang="en-US" altLang="zh-CN" sz="2000" dirty="0">
                <a:solidFill>
                  <a:srgbClr val="CC0000"/>
                </a:solidFill>
                <a:ea typeface="黑体" panose="02010609060101010101" pitchFamily="49" charset="-122"/>
              </a:rPr>
              <a:t>Example</a:t>
            </a:r>
            <a:endParaRPr lang="en-US" altLang="zh-CN" sz="2000" dirty="0">
              <a:solidFill>
                <a:srgbClr val="CC0000"/>
              </a:solidFill>
              <a:ea typeface="黑体" panose="02010609060101010101" pitchFamily="49" charset="-122"/>
            </a:endParaRPr>
          </a:p>
          <a:p>
            <a:pPr defTabSz="914400">
              <a:buNone/>
              <a:tabLst>
                <a:tab pos="1828800" algn="l"/>
                <a:tab pos="3714750" algn="l"/>
                <a:tab pos="6686550" algn="l"/>
              </a:tabLst>
            </a:pPr>
            <a:r>
              <a:rPr lang="en-US" altLang="zh-CN" sz="2000" dirty="0">
                <a:ea typeface="黑体" panose="02010609060101010101" pitchFamily="49" charset="-122"/>
              </a:rPr>
              <a:t>	1	0	</a:t>
            </a:r>
            <a:r>
              <a:rPr lang="zh-CN" altLang="en-US" sz="2000" dirty="0">
                <a:ea typeface="黑体" panose="02010609060101010101" pitchFamily="49" charset="-122"/>
              </a:rPr>
              <a:t>减被乘数	</a:t>
            </a:r>
            <a:r>
              <a:rPr lang="en-US" altLang="zh-CN" sz="2000" dirty="0">
                <a:ea typeface="黑体" panose="02010609060101010101" pitchFamily="49" charset="-122"/>
              </a:rPr>
              <a:t>000111</a:t>
            </a:r>
            <a:r>
              <a:rPr lang="en-US" altLang="zh-CN" sz="2000" u="sng" dirty="0">
                <a:solidFill>
                  <a:srgbClr val="FF0000"/>
                </a:solidFill>
                <a:ea typeface="黑体" panose="02010609060101010101" pitchFamily="49" charset="-122"/>
              </a:rPr>
              <a:t>10</a:t>
            </a:r>
            <a:r>
              <a:rPr lang="en-US" altLang="zh-CN" sz="2000" dirty="0">
                <a:ea typeface="黑体" panose="02010609060101010101" pitchFamily="49" charset="-122"/>
              </a:rPr>
              <a:t>00</a:t>
            </a:r>
            <a:endParaRPr lang="en-US" altLang="zh-CN" sz="2000" dirty="0">
              <a:ea typeface="黑体" panose="02010609060101010101" pitchFamily="49" charset="-122"/>
            </a:endParaRPr>
          </a:p>
          <a:p>
            <a:pPr defTabSz="914400">
              <a:buNone/>
              <a:tabLst>
                <a:tab pos="1828800" algn="l"/>
                <a:tab pos="3714750" algn="l"/>
                <a:tab pos="6686550" algn="l"/>
              </a:tabLst>
            </a:pPr>
            <a:r>
              <a:rPr lang="en-US" altLang="zh-CN" sz="2000" dirty="0">
                <a:ea typeface="黑体" panose="02010609060101010101" pitchFamily="49" charset="-122"/>
              </a:rPr>
              <a:t>	1	1	</a:t>
            </a:r>
            <a:r>
              <a:rPr lang="zh-CN" altLang="en-US" sz="2000" dirty="0">
                <a:ea typeface="黑体" panose="02010609060101010101" pitchFamily="49" charset="-122"/>
              </a:rPr>
              <a:t>加</a:t>
            </a:r>
            <a:r>
              <a:rPr lang="en-US" altLang="zh-CN" sz="2000" dirty="0">
                <a:ea typeface="黑体" panose="02010609060101010101" pitchFamily="49" charset="-122"/>
              </a:rPr>
              <a:t>0 (</a:t>
            </a:r>
            <a:r>
              <a:rPr lang="zh-CN" altLang="en-US" sz="2000" dirty="0">
                <a:ea typeface="黑体" panose="02010609060101010101" pitchFamily="49" charset="-122"/>
              </a:rPr>
              <a:t>不操作</a:t>
            </a:r>
            <a:r>
              <a:rPr lang="en-US" altLang="zh-CN" sz="2000" dirty="0">
                <a:ea typeface="黑体" panose="02010609060101010101" pitchFamily="49" charset="-122"/>
              </a:rPr>
              <a:t>)	00011</a:t>
            </a:r>
            <a:r>
              <a:rPr lang="en-US" altLang="zh-CN" sz="2000" u="sng" dirty="0">
                <a:solidFill>
                  <a:srgbClr val="FF0000"/>
                </a:solidFill>
                <a:ea typeface="黑体" panose="02010609060101010101" pitchFamily="49" charset="-122"/>
              </a:rPr>
              <a:t>11</a:t>
            </a:r>
            <a:r>
              <a:rPr lang="en-US" altLang="zh-CN" sz="2000" dirty="0">
                <a:ea typeface="黑体" panose="02010609060101010101" pitchFamily="49" charset="-122"/>
              </a:rPr>
              <a:t>000</a:t>
            </a:r>
            <a:endParaRPr lang="en-US" altLang="zh-CN" sz="2000" dirty="0">
              <a:ea typeface="黑体" panose="02010609060101010101" pitchFamily="49" charset="-122"/>
            </a:endParaRPr>
          </a:p>
          <a:p>
            <a:pPr defTabSz="914400">
              <a:buNone/>
              <a:tabLst>
                <a:tab pos="1828800" algn="l"/>
                <a:tab pos="3714750" algn="l"/>
                <a:tab pos="6686550" algn="l"/>
              </a:tabLst>
            </a:pPr>
            <a:r>
              <a:rPr lang="en-US" altLang="zh-CN" sz="2000" dirty="0">
                <a:ea typeface="黑体" panose="02010609060101010101" pitchFamily="49" charset="-122"/>
              </a:rPr>
              <a:t>	0	1	</a:t>
            </a:r>
            <a:r>
              <a:rPr lang="zh-CN" altLang="en-US" sz="2000" dirty="0">
                <a:ea typeface="黑体" panose="02010609060101010101" pitchFamily="49" charset="-122"/>
              </a:rPr>
              <a:t>加被乘数	</a:t>
            </a:r>
            <a:r>
              <a:rPr lang="en-US" altLang="zh-CN" sz="2000" dirty="0">
                <a:ea typeface="黑体" panose="02010609060101010101" pitchFamily="49" charset="-122"/>
              </a:rPr>
              <a:t>00</a:t>
            </a:r>
            <a:r>
              <a:rPr lang="en-US" altLang="zh-CN" sz="2000" u="sng" dirty="0">
                <a:solidFill>
                  <a:srgbClr val="FF0000"/>
                </a:solidFill>
                <a:ea typeface="黑体" panose="02010609060101010101" pitchFamily="49" charset="-122"/>
              </a:rPr>
              <a:t>01</a:t>
            </a:r>
            <a:r>
              <a:rPr lang="en-US" altLang="zh-CN" sz="2000" dirty="0">
                <a:ea typeface="黑体" panose="02010609060101010101" pitchFamily="49" charset="-122"/>
              </a:rPr>
              <a:t>111000</a:t>
            </a:r>
            <a:endParaRPr lang="en-US" altLang="zh-CN" sz="2000" dirty="0">
              <a:ea typeface="黑体" panose="02010609060101010101" pitchFamily="49" charset="-122"/>
            </a:endParaRPr>
          </a:p>
          <a:p>
            <a:pPr defTabSz="914400">
              <a:buNone/>
              <a:tabLst>
                <a:tab pos="1828800" algn="l"/>
                <a:tab pos="3714750" algn="l"/>
                <a:tab pos="6686550" algn="l"/>
              </a:tabLst>
            </a:pPr>
            <a:r>
              <a:rPr lang="en-US" altLang="zh-CN" sz="2000" dirty="0">
                <a:ea typeface="黑体" panose="02010609060101010101" pitchFamily="49" charset="-122"/>
              </a:rPr>
              <a:t>	0	0	</a:t>
            </a:r>
            <a:r>
              <a:rPr lang="zh-CN" altLang="en-US" sz="2000" dirty="0">
                <a:ea typeface="黑体" panose="02010609060101010101" pitchFamily="49" charset="-122"/>
              </a:rPr>
              <a:t>加</a:t>
            </a:r>
            <a:r>
              <a:rPr lang="en-US" altLang="zh-CN" sz="2000" dirty="0">
                <a:ea typeface="黑体" panose="02010609060101010101" pitchFamily="49" charset="-122"/>
              </a:rPr>
              <a:t>0 (</a:t>
            </a:r>
            <a:r>
              <a:rPr lang="zh-CN" altLang="en-US" sz="2000" dirty="0">
                <a:ea typeface="黑体" panose="02010609060101010101" pitchFamily="49" charset="-122"/>
              </a:rPr>
              <a:t>不操作</a:t>
            </a:r>
            <a:r>
              <a:rPr lang="en-US" altLang="zh-CN" sz="2000" dirty="0">
                <a:ea typeface="黑体" panose="02010609060101010101" pitchFamily="49" charset="-122"/>
              </a:rPr>
              <a:t>) 	0</a:t>
            </a:r>
            <a:r>
              <a:rPr lang="en-US" altLang="zh-CN" sz="2000" u="sng" dirty="0">
                <a:solidFill>
                  <a:srgbClr val="FF0000"/>
                </a:solidFill>
                <a:ea typeface="黑体" panose="02010609060101010101" pitchFamily="49" charset="-122"/>
              </a:rPr>
              <a:t>00</a:t>
            </a:r>
            <a:r>
              <a:rPr lang="en-US" altLang="zh-CN" sz="2000" dirty="0">
                <a:ea typeface="黑体" panose="02010609060101010101" pitchFamily="49" charset="-122"/>
              </a:rPr>
              <a:t>1111000</a:t>
            </a:r>
            <a:endParaRPr lang="en-US" altLang="zh-CN" sz="2000" dirty="0">
              <a:ea typeface="黑体" panose="02010609060101010101" pitchFamily="49" charset="-122"/>
            </a:endParaRPr>
          </a:p>
          <a:p>
            <a:pPr defTabSz="914400">
              <a:tabLst>
                <a:tab pos="1828800" algn="l"/>
                <a:tab pos="3714750" algn="l"/>
                <a:tab pos="6686550" algn="l"/>
              </a:tabLst>
            </a:pPr>
            <a:r>
              <a:rPr lang="zh-CN" altLang="en-US" sz="2000" dirty="0">
                <a:ea typeface="黑体" panose="02010609060101010101" pitchFamily="49" charset="-122"/>
              </a:rPr>
              <a:t>在“</a:t>
            </a:r>
            <a:r>
              <a:rPr lang="en-US" altLang="zh-CN" sz="2000" dirty="0">
                <a:ea typeface="黑体" panose="02010609060101010101" pitchFamily="49" charset="-122"/>
              </a:rPr>
              <a:t>1</a:t>
            </a:r>
            <a:r>
              <a:rPr lang="zh-CN" altLang="en-US" sz="2000" dirty="0">
                <a:ea typeface="黑体" panose="02010609060101010101" pitchFamily="49" charset="-122"/>
              </a:rPr>
              <a:t>串”中，第一个</a:t>
            </a:r>
            <a:r>
              <a:rPr lang="en-US" altLang="zh-CN" sz="2000" dirty="0">
                <a:ea typeface="黑体" panose="02010609060101010101" pitchFamily="49" charset="-122"/>
              </a:rPr>
              <a:t>1</a:t>
            </a:r>
            <a:r>
              <a:rPr lang="zh-CN" altLang="en-US" sz="2000" dirty="0">
                <a:ea typeface="黑体" panose="02010609060101010101" pitchFamily="49" charset="-122"/>
              </a:rPr>
              <a:t>时做减法，最后一个</a:t>
            </a:r>
            <a:r>
              <a:rPr lang="en-US" altLang="zh-CN" sz="2000" dirty="0">
                <a:ea typeface="黑体" panose="02010609060101010101" pitchFamily="49" charset="-122"/>
              </a:rPr>
              <a:t>1</a:t>
            </a:r>
            <a:r>
              <a:rPr lang="zh-CN" altLang="en-US" sz="2000" dirty="0">
                <a:ea typeface="黑体" panose="02010609060101010101" pitchFamily="49" charset="-122"/>
              </a:rPr>
              <a:t>做加法，其余情况只要移位。</a:t>
            </a:r>
            <a:endParaRPr lang="en-US" altLang="zh-CN" sz="2000" dirty="0">
              <a:ea typeface="黑体" panose="02010609060101010101" pitchFamily="49" charset="-122"/>
            </a:endParaRPr>
          </a:p>
          <a:p>
            <a:pPr defTabSz="914400">
              <a:tabLst>
                <a:tab pos="1828800" algn="l"/>
                <a:tab pos="3714750" algn="l"/>
                <a:tab pos="6686550" algn="l"/>
              </a:tabLst>
            </a:pPr>
            <a:r>
              <a:rPr lang="zh-CN" altLang="en-US" sz="2000" dirty="0">
                <a:ea typeface="黑体" panose="02010609060101010101" pitchFamily="49" charset="-122"/>
              </a:rPr>
              <a:t>最初提出这种想法是因为在</a:t>
            </a:r>
            <a:r>
              <a:rPr lang="en-US" altLang="zh-CN" sz="2000" dirty="0">
                <a:ea typeface="黑体" panose="02010609060101010101" pitchFamily="49" charset="-122"/>
              </a:rPr>
              <a:t>Booth</a:t>
            </a:r>
            <a:r>
              <a:rPr lang="zh-CN" altLang="en-US" sz="2000" dirty="0">
                <a:ea typeface="黑体" panose="02010609060101010101" pitchFamily="49" charset="-122"/>
              </a:rPr>
              <a:t>的机器上移位操作比加法更快！</a:t>
            </a:r>
            <a:endParaRPr lang="zh-CN" altLang="en-US" sz="2000" dirty="0">
              <a:ea typeface="黑体" panose="02010609060101010101" pitchFamily="49" charset="-122"/>
            </a:endParaRPr>
          </a:p>
          <a:p>
            <a:pPr defTabSz="914400">
              <a:tabLst>
                <a:tab pos="1828800" algn="l"/>
                <a:tab pos="3714750" algn="l"/>
                <a:tab pos="6686550" algn="l"/>
              </a:tabLst>
            </a:pPr>
            <a:endParaRPr lang="en-US" altLang="zh-CN" sz="2000" dirty="0">
              <a:ea typeface="黑体" panose="02010609060101010101" pitchFamily="49" charset="-122"/>
            </a:endParaRPr>
          </a:p>
        </p:txBody>
      </p:sp>
      <p:sp>
        <p:nvSpPr>
          <p:cNvPr id="149512" name="Rectangle 8"/>
          <p:cNvSpPr/>
          <p:nvPr/>
        </p:nvSpPr>
        <p:spPr>
          <a:xfrm>
            <a:off x="446088" y="5286375"/>
            <a:ext cx="8051800" cy="427038"/>
          </a:xfrm>
          <a:prstGeom prst="rect">
            <a:avLst/>
          </a:prstGeom>
          <a:noFill/>
          <a:ln w="12700">
            <a:noFill/>
          </a:ln>
        </p:spPr>
        <p:txBody>
          <a:bodyPr wrap="none" anchor="t" anchorCtr="0">
            <a:spAutoFit/>
          </a:bodyPr>
          <a:p>
            <a:pPr eaLnBrk="0" hangingPunct="0"/>
            <a:r>
              <a:rPr lang="zh-CN" altLang="en-US" sz="2200" dirty="0">
                <a:solidFill>
                  <a:srgbClr val="0000FF"/>
                </a:solidFill>
                <a:latin typeface="Arial" panose="020B0604020202020204" pitchFamily="34" charset="0"/>
                <a:ea typeface="黑体" panose="02010609060101010101" pitchFamily="49" charset="-122"/>
              </a:rPr>
              <a:t>同前面算法一样，将乘积寄存器</a:t>
            </a:r>
            <a:r>
              <a:rPr lang="zh-CN" altLang="en-US" sz="2200" dirty="0">
                <a:solidFill>
                  <a:srgbClr val="3333FF"/>
                </a:solidFill>
                <a:latin typeface="Arial" panose="020B0604020202020204" pitchFamily="34" charset="0"/>
                <a:ea typeface="黑体" panose="02010609060101010101" pitchFamily="49" charset="-122"/>
              </a:rPr>
              <a:t>右移</a:t>
            </a:r>
            <a:r>
              <a:rPr lang="zh-CN" altLang="en-US" sz="2200" dirty="0">
                <a:solidFill>
                  <a:srgbClr val="0000FF"/>
                </a:solidFill>
                <a:latin typeface="Arial" panose="020B0604020202020204" pitchFamily="34" charset="0"/>
                <a:ea typeface="黑体" panose="02010609060101010101" pitchFamily="49" charset="-122"/>
              </a:rPr>
              <a:t>一位。</a:t>
            </a:r>
            <a:r>
              <a:rPr lang="zh-CN" altLang="en-US" sz="2200" dirty="0">
                <a:solidFill>
                  <a:srgbClr val="CC0000"/>
                </a:solidFill>
                <a:latin typeface="Arial" panose="020B0604020202020204" pitchFamily="34" charset="0"/>
                <a:ea typeface="黑体" panose="02010609060101010101" pitchFamily="49" charset="-122"/>
              </a:rPr>
              <a:t>（这里是算术右移）</a:t>
            </a:r>
            <a:endParaRPr lang="zh-CN" altLang="en-US" sz="2200" dirty="0">
              <a:solidFill>
                <a:srgbClr val="CC0000"/>
              </a:solidFill>
              <a:latin typeface="Arial" panose="020B0604020202020204" pitchFamily="34" charset="0"/>
              <a:ea typeface="黑体" panose="02010609060101010101" pitchFamily="49" charset="-122"/>
            </a:endParaRPr>
          </a:p>
        </p:txBody>
      </p:sp>
      <p:grpSp>
        <p:nvGrpSpPr>
          <p:cNvPr id="64516" name="Group 13"/>
          <p:cNvGrpSpPr>
            <a:grpSpLocks noChangeAspect="1"/>
          </p:cNvGrpSpPr>
          <p:nvPr/>
        </p:nvGrpSpPr>
        <p:grpSpPr>
          <a:xfrm>
            <a:off x="1009650" y="801688"/>
            <a:ext cx="6326188" cy="981075"/>
            <a:chOff x="636" y="505"/>
            <a:chExt cx="3985" cy="618"/>
          </a:xfrm>
        </p:grpSpPr>
        <p:sp>
          <p:nvSpPr>
            <p:cNvPr id="64517" name="AutoShape 12"/>
            <p:cNvSpPr>
              <a:spLocks noChangeAspect="1" noTextEdit="1"/>
            </p:cNvSpPr>
            <p:nvPr/>
          </p:nvSpPr>
          <p:spPr>
            <a:xfrm>
              <a:off x="636" y="522"/>
              <a:ext cx="3820" cy="601"/>
            </a:xfrm>
            <a:prstGeom prst="rect">
              <a:avLst/>
            </a:prstGeom>
            <a:noFill/>
            <a:ln w="9525">
              <a:noFill/>
            </a:ln>
          </p:spPr>
          <p:txBody>
            <a:bodyPr anchor="t" anchorCtr="0"/>
            <a:p>
              <a:pPr eaLnBrk="0" hangingPunct="0"/>
              <a:endParaRPr lang="zh-CN" altLang="en-US">
                <a:latin typeface="Times New Roman" panose="02020603050405020304" pitchFamily="18" charset="0"/>
                <a:ea typeface="宋体" panose="02010600030101010101" pitchFamily="2" charset="-122"/>
              </a:endParaRPr>
            </a:p>
          </p:txBody>
        </p:sp>
        <p:sp>
          <p:nvSpPr>
            <p:cNvPr id="64518" name="Rectangle 14"/>
            <p:cNvSpPr/>
            <p:nvPr/>
          </p:nvSpPr>
          <p:spPr>
            <a:xfrm>
              <a:off x="1641" y="814"/>
              <a:ext cx="1375" cy="250"/>
            </a:xfrm>
            <a:prstGeom prst="rect">
              <a:avLst/>
            </a:prstGeom>
            <a:noFill/>
            <a:ln w="9525">
              <a:noFill/>
            </a:ln>
          </p:spPr>
          <p:txBody>
            <a:bodyPr wrap="none" lIns="0" tIns="0" rIns="0" bIns="0" anchor="t" anchorCtr="0">
              <a:spAutoFit/>
            </a:bodyPr>
            <a:p>
              <a:pPr eaLnBrk="0" hangingPunct="0"/>
              <a:r>
                <a:rPr lang="en-US" altLang="zh-CN" sz="2600" dirty="0">
                  <a:solidFill>
                    <a:srgbClr val="000000"/>
                  </a:solidFill>
                  <a:latin typeface="Courier New" panose="02070309020205020404" pitchFamily="49" charset="0"/>
                </a:rPr>
                <a:t>0</a:t>
              </a:r>
              <a:r>
                <a:rPr lang="en-US" altLang="zh-CN" sz="2600" b="0" dirty="0">
                  <a:solidFill>
                    <a:srgbClr val="000000"/>
                  </a:solidFill>
                  <a:latin typeface="Courier New" panose="02070309020205020404" pitchFamily="49" charset="0"/>
                </a:rPr>
                <a:t> </a:t>
              </a:r>
              <a:r>
                <a:rPr lang="en-US" altLang="zh-CN" sz="2600" dirty="0">
                  <a:solidFill>
                    <a:srgbClr val="000000"/>
                  </a:solidFill>
                  <a:latin typeface="Courier New" panose="02070309020205020404" pitchFamily="49" charset="0"/>
                </a:rPr>
                <a:t>1 1 1 1</a:t>
              </a:r>
              <a:r>
                <a:rPr lang="en-US" altLang="zh-CN" sz="2600" b="0" dirty="0">
                  <a:solidFill>
                    <a:srgbClr val="000000"/>
                  </a:solidFill>
                  <a:latin typeface="Courier New" panose="02070309020205020404" pitchFamily="49" charset="0"/>
                </a:rPr>
                <a:t> </a:t>
              </a:r>
              <a:r>
                <a:rPr lang="en-US" altLang="zh-CN" sz="2600" dirty="0">
                  <a:solidFill>
                    <a:srgbClr val="000000"/>
                  </a:solidFill>
                  <a:latin typeface="Courier New" panose="02070309020205020404" pitchFamily="49" charset="0"/>
                </a:rPr>
                <a:t>0</a:t>
              </a:r>
              <a:endParaRPr lang="en-US" altLang="zh-CN" dirty="0">
                <a:latin typeface="Times New Roman" panose="02020603050405020304" pitchFamily="18" charset="0"/>
              </a:endParaRPr>
            </a:p>
          </p:txBody>
        </p:sp>
        <p:sp>
          <p:nvSpPr>
            <p:cNvPr id="64519" name="Rectangle 15"/>
            <p:cNvSpPr/>
            <p:nvPr/>
          </p:nvSpPr>
          <p:spPr>
            <a:xfrm>
              <a:off x="2601" y="789"/>
              <a:ext cx="493" cy="308"/>
            </a:xfrm>
            <a:prstGeom prst="rect">
              <a:avLst/>
            </a:prstGeom>
            <a:noFill/>
            <a:ln w="28575" cap="flat" cmpd="sng">
              <a:solidFill>
                <a:srgbClr val="00000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64520" name="Rectangle 16"/>
            <p:cNvSpPr/>
            <p:nvPr/>
          </p:nvSpPr>
          <p:spPr>
            <a:xfrm>
              <a:off x="3122" y="659"/>
              <a:ext cx="1499" cy="275"/>
            </a:xfrm>
            <a:prstGeom prst="rect">
              <a:avLst/>
            </a:prstGeom>
            <a:noFill/>
            <a:ln w="9525">
              <a:noFill/>
            </a:ln>
          </p:spPr>
          <p:txBody>
            <a:bodyPr wrap="none" lIns="0" tIns="0" rIns="0" bIns="0" anchor="t" anchorCtr="0">
              <a:spAutoFit/>
            </a:bodyPr>
            <a:p>
              <a:pPr eaLnBrk="0" hangingPunct="0"/>
              <a:r>
                <a:rPr lang="en-US" altLang="zh-CN" sz="2200" b="0" dirty="0">
                  <a:solidFill>
                    <a:srgbClr val="000000"/>
                  </a:solidFill>
                  <a:latin typeface="Arial" panose="020B0604020202020204" pitchFamily="34" charset="0"/>
                </a:rPr>
                <a:t>beginning of run</a:t>
              </a:r>
              <a:endParaRPr lang="en-US" altLang="zh-CN" dirty="0">
                <a:latin typeface="Times New Roman" panose="02020603050405020304" pitchFamily="18" charset="0"/>
              </a:endParaRPr>
            </a:p>
          </p:txBody>
        </p:sp>
        <p:sp>
          <p:nvSpPr>
            <p:cNvPr id="64521" name="Rectangle 17"/>
            <p:cNvSpPr/>
            <p:nvPr/>
          </p:nvSpPr>
          <p:spPr>
            <a:xfrm>
              <a:off x="1577" y="789"/>
              <a:ext cx="494" cy="308"/>
            </a:xfrm>
            <a:prstGeom prst="rect">
              <a:avLst/>
            </a:prstGeom>
            <a:noFill/>
            <a:ln w="28575" cap="flat" cmpd="sng">
              <a:solidFill>
                <a:srgbClr val="00000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64522" name="Rectangle 18"/>
            <p:cNvSpPr/>
            <p:nvPr/>
          </p:nvSpPr>
          <p:spPr>
            <a:xfrm>
              <a:off x="654" y="659"/>
              <a:ext cx="950" cy="275"/>
            </a:xfrm>
            <a:prstGeom prst="rect">
              <a:avLst/>
            </a:prstGeom>
            <a:noFill/>
            <a:ln w="9525">
              <a:noFill/>
            </a:ln>
          </p:spPr>
          <p:txBody>
            <a:bodyPr wrap="none" lIns="0" tIns="0" rIns="0" bIns="0" anchor="t" anchorCtr="0">
              <a:spAutoFit/>
            </a:bodyPr>
            <a:p>
              <a:pPr eaLnBrk="0" hangingPunct="0"/>
              <a:r>
                <a:rPr lang="en-US" altLang="zh-CN" sz="2200" b="0" dirty="0">
                  <a:solidFill>
                    <a:srgbClr val="000000"/>
                  </a:solidFill>
                  <a:latin typeface="Arial" panose="020B0604020202020204" pitchFamily="34" charset="0"/>
                </a:rPr>
                <a:t>end of run</a:t>
              </a:r>
              <a:endParaRPr lang="en-US" altLang="zh-CN" dirty="0">
                <a:latin typeface="Times New Roman" panose="02020603050405020304" pitchFamily="18" charset="0"/>
              </a:endParaRPr>
            </a:p>
          </p:txBody>
        </p:sp>
        <p:sp>
          <p:nvSpPr>
            <p:cNvPr id="64523" name="AutoShape 19"/>
            <p:cNvSpPr/>
            <p:nvPr/>
          </p:nvSpPr>
          <p:spPr>
            <a:xfrm>
              <a:off x="1815" y="789"/>
              <a:ext cx="987" cy="308"/>
            </a:xfrm>
            <a:prstGeom prst="roundRect">
              <a:avLst>
                <a:gd name="adj" fmla="val 47370"/>
              </a:avLst>
            </a:prstGeom>
            <a:noFill/>
            <a:ln w="28575" cap="flat" cmpd="sng">
              <a:solidFill>
                <a:srgbClr val="0000FF"/>
              </a:solidFill>
              <a:prstDash val="solid"/>
              <a:round/>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64524" name="Rectangle 20"/>
            <p:cNvSpPr/>
            <p:nvPr/>
          </p:nvSpPr>
          <p:spPr>
            <a:xfrm>
              <a:off x="1769" y="505"/>
              <a:ext cx="1225" cy="275"/>
            </a:xfrm>
            <a:prstGeom prst="rect">
              <a:avLst/>
            </a:prstGeom>
            <a:noFill/>
            <a:ln w="9525">
              <a:noFill/>
            </a:ln>
          </p:spPr>
          <p:txBody>
            <a:bodyPr wrap="none" lIns="0" tIns="0" rIns="0" bIns="0" anchor="t" anchorCtr="0">
              <a:spAutoFit/>
            </a:bodyPr>
            <a:p>
              <a:pPr eaLnBrk="0" hangingPunct="0"/>
              <a:r>
                <a:rPr lang="en-US" altLang="zh-CN" sz="2200" b="0" dirty="0">
                  <a:solidFill>
                    <a:srgbClr val="0000FF"/>
                  </a:solidFill>
                  <a:latin typeface="Arial" panose="020B0604020202020204" pitchFamily="34" charset="0"/>
                </a:rPr>
                <a:t>middle of run</a:t>
              </a:r>
              <a:endParaRPr lang="en-US" altLang="zh-CN"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9507">
                                            <p:txEl>
                                              <p:charRg st="19" end="40"/>
                                            </p:txEl>
                                          </p:spTgt>
                                        </p:tgtEl>
                                        <p:attrNameLst>
                                          <p:attrName>style.visibility</p:attrName>
                                        </p:attrNameLst>
                                      </p:cBhvr>
                                      <p:to>
                                        <p:strVal val="visible"/>
                                      </p:to>
                                    </p:set>
                                    <p:animEffect transition="in" filter="blinds(horizontal)">
                                      <p:cBhvr>
                                        <p:cTn id="7" dur="500"/>
                                        <p:tgtEl>
                                          <p:spTgt spid="149507">
                                            <p:txEl>
                                              <p:charRg st="19"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9507">
                                            <p:txEl>
                                              <p:charRg st="40" end="65"/>
                                            </p:txEl>
                                          </p:spTgt>
                                        </p:tgtEl>
                                        <p:attrNameLst>
                                          <p:attrName>style.visibility</p:attrName>
                                        </p:attrNameLst>
                                      </p:cBhvr>
                                      <p:to>
                                        <p:strVal val="visible"/>
                                      </p:to>
                                    </p:set>
                                    <p:animEffect transition="in" filter="blinds(horizontal)">
                                      <p:cBhvr>
                                        <p:cTn id="12" dur="500"/>
                                        <p:tgtEl>
                                          <p:spTgt spid="149507">
                                            <p:txEl>
                                              <p:charRg st="40" end="6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9507">
                                            <p:txEl>
                                              <p:charRg st="65" end="86"/>
                                            </p:txEl>
                                          </p:spTgt>
                                        </p:tgtEl>
                                        <p:attrNameLst>
                                          <p:attrName>style.visibility</p:attrName>
                                        </p:attrNameLst>
                                      </p:cBhvr>
                                      <p:to>
                                        <p:strVal val="visible"/>
                                      </p:to>
                                    </p:set>
                                    <p:animEffect transition="in" filter="blinds(horizontal)">
                                      <p:cBhvr>
                                        <p:cTn id="17" dur="500"/>
                                        <p:tgtEl>
                                          <p:spTgt spid="149507">
                                            <p:txEl>
                                              <p:charRg st="65" end="8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9507">
                                            <p:txEl>
                                              <p:charRg st="86" end="112"/>
                                            </p:txEl>
                                          </p:spTgt>
                                        </p:tgtEl>
                                        <p:attrNameLst>
                                          <p:attrName>style.visibility</p:attrName>
                                        </p:attrNameLst>
                                      </p:cBhvr>
                                      <p:to>
                                        <p:strVal val="visible"/>
                                      </p:to>
                                    </p:set>
                                    <p:animEffect transition="in" filter="blinds(horizontal)">
                                      <p:cBhvr>
                                        <p:cTn id="22" dur="500"/>
                                        <p:tgtEl>
                                          <p:spTgt spid="149507">
                                            <p:txEl>
                                              <p:charRg st="86" end="11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9507">
                                            <p:txEl>
                                              <p:charRg st="112" end="147"/>
                                            </p:txEl>
                                          </p:spTgt>
                                        </p:tgtEl>
                                        <p:attrNameLst>
                                          <p:attrName>style.visibility</p:attrName>
                                        </p:attrNameLst>
                                      </p:cBhvr>
                                      <p:to>
                                        <p:strVal val="visible"/>
                                      </p:to>
                                    </p:set>
                                    <p:animEffect transition="in" filter="blinds(horizontal)">
                                      <p:cBhvr>
                                        <p:cTn id="27" dur="500"/>
                                        <p:tgtEl>
                                          <p:spTgt spid="149507">
                                            <p:txEl>
                                              <p:charRg st="112" end="14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9507">
                                            <p:txEl>
                                              <p:charRg st="147" end="179"/>
                                            </p:txEl>
                                          </p:spTgt>
                                        </p:tgtEl>
                                        <p:attrNameLst>
                                          <p:attrName>style.visibility</p:attrName>
                                        </p:attrNameLst>
                                      </p:cBhvr>
                                      <p:to>
                                        <p:strVal val="visible"/>
                                      </p:to>
                                    </p:set>
                                    <p:animEffect transition="in" filter="blinds(horizontal)">
                                      <p:cBhvr>
                                        <p:cTn id="32" dur="500"/>
                                        <p:tgtEl>
                                          <p:spTgt spid="149507">
                                            <p:txEl>
                                              <p:charRg st="147" end="17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9512"/>
                                        </p:tgtEl>
                                        <p:attrNameLst>
                                          <p:attrName>style.visibility</p:attrName>
                                        </p:attrNameLst>
                                      </p:cBhvr>
                                      <p:to>
                                        <p:strVal val="visible"/>
                                      </p:to>
                                    </p:set>
                                    <p:animEffect transition="in" filter="blinds(horizontal)">
                                      <p:cBhvr>
                                        <p:cTn id="37" dur="500"/>
                                        <p:tgtEl>
                                          <p:spTgt spid="149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布斯算法举例</a:t>
            </a:r>
            <a:endParaRPr lang="zh-CN" altLang="en-US" dirty="0">
              <a:ea typeface="宋体" panose="02010600030101010101" pitchFamily="2" charset="-122"/>
            </a:endParaRPr>
          </a:p>
        </p:txBody>
      </p:sp>
      <p:sp>
        <p:nvSpPr>
          <p:cNvPr id="66562" name="Rectangle 3"/>
          <p:cNvSpPr>
            <a:spLocks noGrp="1"/>
          </p:cNvSpPr>
          <p:nvPr>
            <p:ph idx="1"/>
          </p:nvPr>
        </p:nvSpPr>
        <p:spPr>
          <a:xfrm>
            <a:off x="454025" y="793750"/>
            <a:ext cx="8191500" cy="419100"/>
          </a:xfrm>
          <a:ln/>
        </p:spPr>
        <p:txBody>
          <a:bodyPr vert="horz" wrap="square" lIns="63500" tIns="25400" rIns="63500" bIns="25400" anchor="t" anchorCtr="0">
            <a:spAutoFit/>
          </a:bodyPr>
          <a:p>
            <a:pPr>
              <a:buNone/>
            </a:pPr>
            <a:r>
              <a:rPr lang="zh-CN" altLang="en-US" dirty="0">
                <a:solidFill>
                  <a:schemeClr val="accent2"/>
                </a:solidFill>
              </a:rPr>
              <a:t>已知</a:t>
            </a:r>
            <a:r>
              <a:rPr lang="en-US" altLang="zh-CN" dirty="0">
                <a:solidFill>
                  <a:schemeClr val="accent2"/>
                </a:solidFill>
              </a:rPr>
              <a:t>[X]</a:t>
            </a:r>
            <a:r>
              <a:rPr lang="zh-CN" altLang="en-US" baseline="-16000" dirty="0">
                <a:solidFill>
                  <a:schemeClr val="accent2"/>
                </a:solidFill>
                <a:ea typeface="黑体" panose="02010609060101010101" pitchFamily="49" charset="-122"/>
              </a:rPr>
              <a:t>补</a:t>
            </a:r>
            <a:r>
              <a:rPr lang="zh-CN" altLang="en-US" dirty="0">
                <a:solidFill>
                  <a:schemeClr val="accent2"/>
                </a:solidFill>
              </a:rPr>
              <a:t> </a:t>
            </a:r>
            <a:r>
              <a:rPr lang="en-US" altLang="zh-CN" dirty="0">
                <a:solidFill>
                  <a:schemeClr val="accent2"/>
                </a:solidFill>
              </a:rPr>
              <a:t>= 1 101</a:t>
            </a:r>
            <a:r>
              <a:rPr lang="zh-CN" altLang="en-US" dirty="0">
                <a:solidFill>
                  <a:schemeClr val="accent2"/>
                </a:solidFill>
              </a:rPr>
              <a:t>，</a:t>
            </a:r>
            <a:r>
              <a:rPr lang="en-US" altLang="zh-CN" dirty="0">
                <a:solidFill>
                  <a:schemeClr val="accent2"/>
                </a:solidFill>
              </a:rPr>
              <a:t>[Y]</a:t>
            </a:r>
            <a:r>
              <a:rPr lang="zh-CN" altLang="en-US" baseline="-16000" dirty="0">
                <a:solidFill>
                  <a:schemeClr val="accent2"/>
                </a:solidFill>
                <a:ea typeface="黑体" panose="02010609060101010101" pitchFamily="49" charset="-122"/>
              </a:rPr>
              <a:t>补</a:t>
            </a:r>
            <a:r>
              <a:rPr lang="zh-CN" altLang="en-US" dirty="0">
                <a:solidFill>
                  <a:schemeClr val="accent2"/>
                </a:solidFill>
              </a:rPr>
              <a:t> </a:t>
            </a:r>
            <a:r>
              <a:rPr lang="en-US" altLang="zh-CN" dirty="0">
                <a:solidFill>
                  <a:schemeClr val="accent2"/>
                </a:solidFill>
              </a:rPr>
              <a:t>= 0 110</a:t>
            </a:r>
            <a:r>
              <a:rPr lang="zh-CN" altLang="en-US" dirty="0">
                <a:solidFill>
                  <a:schemeClr val="accent2"/>
                </a:solidFill>
              </a:rPr>
              <a:t>，计算</a:t>
            </a:r>
            <a:r>
              <a:rPr lang="en-US" altLang="zh-CN" dirty="0">
                <a:solidFill>
                  <a:schemeClr val="accent2"/>
                </a:solidFill>
              </a:rPr>
              <a:t>[X×Y]</a:t>
            </a:r>
            <a:r>
              <a:rPr lang="zh-CN" altLang="en-US" baseline="-16000" dirty="0">
                <a:solidFill>
                  <a:schemeClr val="accent2"/>
                </a:solidFill>
                <a:ea typeface="黑体" panose="02010609060101010101" pitchFamily="49" charset="-122"/>
              </a:rPr>
              <a:t>补</a:t>
            </a:r>
            <a:r>
              <a:rPr lang="zh-CN" altLang="en-US" dirty="0">
                <a:solidFill>
                  <a:schemeClr val="accent2"/>
                </a:solidFill>
              </a:rPr>
              <a:t> </a:t>
            </a:r>
            <a:endParaRPr lang="zh-CN" altLang="en-US" dirty="0">
              <a:solidFill>
                <a:schemeClr val="accent2"/>
              </a:solidFill>
            </a:endParaRPr>
          </a:p>
        </p:txBody>
      </p:sp>
      <p:pic>
        <p:nvPicPr>
          <p:cNvPr id="66563" name="Picture 4"/>
          <p:cNvPicPr>
            <a:picLocks noChangeAspect="1"/>
          </p:cNvPicPr>
          <p:nvPr/>
        </p:nvPicPr>
        <p:blipFill>
          <a:blip r:embed="rId1"/>
          <a:stretch>
            <a:fillRect/>
          </a:stretch>
        </p:blipFill>
        <p:spPr>
          <a:xfrm>
            <a:off x="204788" y="1395413"/>
            <a:ext cx="8515350" cy="4876800"/>
          </a:xfrm>
          <a:prstGeom prst="rect">
            <a:avLst/>
          </a:prstGeom>
          <a:noFill/>
          <a:ln w="9525">
            <a:noFill/>
          </a:ln>
        </p:spPr>
      </p:pic>
      <p:sp>
        <p:nvSpPr>
          <p:cNvPr id="54277" name="Rectangle 5"/>
          <p:cNvSpPr/>
          <p:nvPr/>
        </p:nvSpPr>
        <p:spPr>
          <a:xfrm>
            <a:off x="223838" y="6397625"/>
            <a:ext cx="8191500" cy="390525"/>
          </a:xfrm>
          <a:prstGeom prst="rect">
            <a:avLst/>
          </a:prstGeom>
          <a:noFill/>
          <a:ln w="12700">
            <a:noFill/>
          </a:ln>
        </p:spPr>
        <p:txBody>
          <a:bodyPr lIns="63500" tIns="25400" rIns="63500" bIns="25400" anchor="t" anchorCtr="0">
            <a:spAutoFit/>
          </a:bodyPr>
          <a:p>
            <a:pPr marL="203200" indent="-203200" eaLnBrk="0" hangingPunct="0">
              <a:lnSpc>
                <a:spcPct val="110000"/>
              </a:lnSpc>
              <a:spcBef>
                <a:spcPct val="20000"/>
              </a:spcBef>
              <a:buClr>
                <a:schemeClr val="tx1"/>
              </a:buClr>
              <a:buSzPct val="60000"/>
              <a:buFont typeface="Wingdings" panose="05000000000000000000" pitchFamily="2" charset="2"/>
            </a:pPr>
            <a:r>
              <a:rPr lang="zh-CN" altLang="en-US" sz="2000" dirty="0">
                <a:solidFill>
                  <a:srgbClr val="FF0066"/>
                </a:solidFill>
                <a:latin typeface="微软雅黑" panose="020B0503020204020204" pitchFamily="34" charset="-122"/>
                <a:ea typeface="微软雅黑" panose="020B0503020204020204" pitchFamily="34" charset="-122"/>
              </a:rPr>
              <a:t>验证：当</a:t>
            </a:r>
            <a:r>
              <a:rPr lang="en-US" altLang="zh-CN" sz="2000" dirty="0">
                <a:solidFill>
                  <a:srgbClr val="FF0066"/>
                </a:solidFill>
                <a:latin typeface="微软雅黑" panose="020B0503020204020204" pitchFamily="34" charset="-122"/>
                <a:ea typeface="微软雅黑" panose="020B0503020204020204" pitchFamily="34" charset="-122"/>
              </a:rPr>
              <a:t>X×Y</a:t>
            </a:r>
            <a:r>
              <a:rPr lang="zh-CN" altLang="en-US" sz="2000" dirty="0">
                <a:solidFill>
                  <a:srgbClr val="FF0066"/>
                </a:solidFill>
                <a:latin typeface="微软雅黑" panose="020B0503020204020204" pitchFamily="34" charset="-122"/>
                <a:ea typeface="微软雅黑" panose="020B0503020204020204" pitchFamily="34" charset="-122"/>
              </a:rPr>
              <a:t>取</a:t>
            </a:r>
            <a:r>
              <a:rPr lang="en-US" altLang="zh-CN" sz="2000" dirty="0">
                <a:solidFill>
                  <a:srgbClr val="FF0066"/>
                </a:solidFill>
                <a:latin typeface="微软雅黑" panose="020B0503020204020204" pitchFamily="34" charset="-122"/>
                <a:ea typeface="微软雅黑" panose="020B0503020204020204" pitchFamily="34" charset="-122"/>
              </a:rPr>
              <a:t>8</a:t>
            </a:r>
            <a:r>
              <a:rPr lang="zh-CN" altLang="en-US" sz="2000" dirty="0">
                <a:solidFill>
                  <a:srgbClr val="FF0066"/>
                </a:solidFill>
                <a:latin typeface="微软雅黑" panose="020B0503020204020204" pitchFamily="34" charset="-122"/>
                <a:ea typeface="微软雅黑" panose="020B0503020204020204" pitchFamily="34" charset="-122"/>
              </a:rPr>
              <a:t>位时，结果</a:t>
            </a:r>
            <a:r>
              <a:rPr lang="en-US" altLang="zh-CN" sz="2000" dirty="0">
                <a:solidFill>
                  <a:srgbClr val="FF0066"/>
                </a:solidFill>
                <a:latin typeface="微软雅黑" panose="020B0503020204020204" pitchFamily="34" charset="-122"/>
                <a:ea typeface="微软雅黑" panose="020B0503020204020204" pitchFamily="34" charset="-122"/>
              </a:rPr>
              <a:t> -0010010B=-18</a:t>
            </a:r>
            <a:r>
              <a:rPr lang="zh-CN" altLang="en-US" sz="2000" dirty="0">
                <a:solidFill>
                  <a:srgbClr val="FF0066"/>
                </a:solidFill>
                <a:latin typeface="微软雅黑" panose="020B0503020204020204" pitchFamily="34" charset="-122"/>
                <a:ea typeface="微软雅黑" panose="020B0503020204020204" pitchFamily="34" charset="-122"/>
              </a:rPr>
              <a:t>；取</a:t>
            </a:r>
            <a:r>
              <a:rPr lang="en-US" altLang="zh-CN" sz="2000" dirty="0">
                <a:solidFill>
                  <a:srgbClr val="FF0066"/>
                </a:solidFill>
                <a:latin typeface="微软雅黑" panose="020B0503020204020204" pitchFamily="34" charset="-122"/>
                <a:ea typeface="微软雅黑" panose="020B0503020204020204" pitchFamily="34" charset="-122"/>
              </a:rPr>
              <a:t>4</a:t>
            </a:r>
            <a:r>
              <a:rPr lang="zh-CN" altLang="en-US" sz="2000" dirty="0">
                <a:solidFill>
                  <a:srgbClr val="FF0066"/>
                </a:solidFill>
                <a:latin typeface="微软雅黑" panose="020B0503020204020204" pitchFamily="34" charset="-122"/>
                <a:ea typeface="微软雅黑" panose="020B0503020204020204" pitchFamily="34" charset="-122"/>
              </a:rPr>
              <a:t>位时，结果溢出</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66565" name="Rectangle 6"/>
          <p:cNvSpPr/>
          <p:nvPr/>
        </p:nvSpPr>
        <p:spPr>
          <a:xfrm>
            <a:off x="6572250" y="776288"/>
            <a:ext cx="1624013" cy="396875"/>
          </a:xfrm>
          <a:prstGeom prst="rect">
            <a:avLst/>
          </a:prstGeom>
          <a:noFill/>
          <a:ln w="12700">
            <a:noFill/>
          </a:ln>
        </p:spPr>
        <p:txBody>
          <a:bodyPr wrap="none" anchor="t" anchorCtr="0">
            <a:spAutoFit/>
          </a:bodyPr>
          <a:p>
            <a:pPr eaLnBrk="0" hangingPunct="0"/>
            <a:r>
              <a:rPr lang="en-US" altLang="zh-CN" sz="2000" dirty="0">
                <a:solidFill>
                  <a:schemeClr val="accent2"/>
                </a:solidFill>
                <a:latin typeface="Arial" panose="020B0604020202020204" pitchFamily="34" charset="0"/>
              </a:rPr>
              <a:t>[-X]</a:t>
            </a:r>
            <a:r>
              <a:rPr lang="zh-CN" altLang="en-US" sz="2000" baseline="-16000" dirty="0">
                <a:solidFill>
                  <a:schemeClr val="accent2"/>
                </a:solidFill>
                <a:latin typeface="Arial" panose="020B0604020202020204" pitchFamily="34" charset="0"/>
                <a:ea typeface="黑体" panose="02010609060101010101" pitchFamily="49" charset="-122"/>
              </a:rPr>
              <a:t>补</a:t>
            </a:r>
            <a:r>
              <a:rPr lang="zh-CN" altLang="en-US" sz="2000" dirty="0">
                <a:solidFill>
                  <a:schemeClr val="accent2"/>
                </a:solidFill>
                <a:latin typeface="Arial" panose="020B0604020202020204" pitchFamily="34" charset="0"/>
                <a:ea typeface="宋体" panose="02010600030101010101" pitchFamily="2" charset="-122"/>
              </a:rPr>
              <a:t> </a:t>
            </a:r>
            <a:r>
              <a:rPr lang="en-US" altLang="zh-CN" sz="2000" dirty="0">
                <a:solidFill>
                  <a:schemeClr val="accent2"/>
                </a:solidFill>
                <a:latin typeface="Arial" panose="020B0604020202020204" pitchFamily="34" charset="0"/>
              </a:rPr>
              <a:t>= 0011</a:t>
            </a:r>
            <a:endParaRPr lang="zh-CN" altLang="en-US" sz="2000" dirty="0">
              <a:solidFill>
                <a:schemeClr val="accent2"/>
              </a:solidFill>
              <a:latin typeface="Arial" panose="020B0604020202020204" pitchFamily="34" charset="0"/>
              <a:ea typeface="宋体" panose="02010600030101010101" pitchFamily="2" charset="-122"/>
            </a:endParaRPr>
          </a:p>
        </p:txBody>
      </p:sp>
      <p:sp>
        <p:nvSpPr>
          <p:cNvPr id="66566" name="Line 7"/>
          <p:cNvSpPr/>
          <p:nvPr/>
        </p:nvSpPr>
        <p:spPr>
          <a:xfrm>
            <a:off x="3076575" y="2447925"/>
            <a:ext cx="723900" cy="0"/>
          </a:xfrm>
          <a:prstGeom prst="line">
            <a:avLst/>
          </a:prstGeom>
          <a:ln w="28575" cap="flat" cmpd="sng">
            <a:solidFill>
              <a:srgbClr val="FF0066"/>
            </a:solidFill>
            <a:prstDash val="solid"/>
            <a:round/>
            <a:headEnd type="none" w="med" len="med"/>
            <a:tailEnd type="none" w="med" len="med"/>
          </a:ln>
        </p:spPr>
      </p:sp>
      <p:sp>
        <p:nvSpPr>
          <p:cNvPr id="66567" name="Line 8"/>
          <p:cNvSpPr/>
          <p:nvPr/>
        </p:nvSpPr>
        <p:spPr>
          <a:xfrm>
            <a:off x="3101975" y="3216275"/>
            <a:ext cx="723900" cy="0"/>
          </a:xfrm>
          <a:prstGeom prst="line">
            <a:avLst/>
          </a:prstGeom>
          <a:ln w="28575" cap="flat" cmpd="sng">
            <a:solidFill>
              <a:srgbClr val="FF0066"/>
            </a:solidFill>
            <a:prstDash val="solid"/>
            <a:round/>
            <a:headEnd type="none" w="med" len="med"/>
            <a:tailEnd type="none" w="med" len="med"/>
          </a:ln>
        </p:spPr>
      </p:sp>
      <p:sp>
        <p:nvSpPr>
          <p:cNvPr id="66568" name="Line 9"/>
          <p:cNvSpPr/>
          <p:nvPr/>
        </p:nvSpPr>
        <p:spPr>
          <a:xfrm flipV="1">
            <a:off x="3933825" y="2724150"/>
            <a:ext cx="352425" cy="0"/>
          </a:xfrm>
          <a:prstGeom prst="line">
            <a:avLst/>
          </a:prstGeom>
          <a:ln w="28575" cap="flat" cmpd="sng">
            <a:solidFill>
              <a:srgbClr val="FF0066"/>
            </a:solidFill>
            <a:prstDash val="solid"/>
            <a:round/>
            <a:headEnd type="none" w="med" len="med"/>
            <a:tailEnd type="triangle" w="med" len="med"/>
          </a:ln>
        </p:spPr>
      </p:sp>
      <p:sp>
        <p:nvSpPr>
          <p:cNvPr id="66569" name="Text Box 10"/>
          <p:cNvSpPr txBox="1"/>
          <p:nvPr/>
        </p:nvSpPr>
        <p:spPr>
          <a:xfrm>
            <a:off x="4248150" y="2505075"/>
            <a:ext cx="323850" cy="396875"/>
          </a:xfrm>
          <a:prstGeom prst="rect">
            <a:avLst/>
          </a:prstGeom>
          <a:noFill/>
          <a:ln w="12700">
            <a:noFill/>
          </a:ln>
        </p:spPr>
        <p:txBody>
          <a:bodyPr anchor="t" anchorCtr="0">
            <a:spAutoFit/>
          </a:bodyPr>
          <a:p>
            <a:pPr eaLnBrk="0" hangingPunct="0">
              <a:spcBef>
                <a:spcPct val="50000"/>
              </a:spcBef>
            </a:pPr>
            <a:r>
              <a:rPr lang="en-US" altLang="zh-CN" sz="2000" dirty="0">
                <a:solidFill>
                  <a:srgbClr val="FF0066"/>
                </a:solidFill>
                <a:latin typeface="Times New Roman" panose="02020603050405020304" pitchFamily="18" charset="0"/>
              </a:rPr>
              <a:t>1</a:t>
            </a:r>
            <a:endParaRPr lang="en-US" altLang="zh-CN" sz="2000" dirty="0">
              <a:solidFill>
                <a:srgbClr val="FF0066"/>
              </a:solidFill>
              <a:latin typeface="Times New Roman" panose="02020603050405020304" pitchFamily="18" charset="0"/>
            </a:endParaRPr>
          </a:p>
        </p:txBody>
      </p:sp>
      <p:sp>
        <p:nvSpPr>
          <p:cNvPr id="66570" name="Line 11"/>
          <p:cNvSpPr/>
          <p:nvPr/>
        </p:nvSpPr>
        <p:spPr>
          <a:xfrm>
            <a:off x="3108325" y="4346575"/>
            <a:ext cx="723900" cy="0"/>
          </a:xfrm>
          <a:prstGeom prst="line">
            <a:avLst/>
          </a:prstGeom>
          <a:ln w="28575" cap="flat" cmpd="sng">
            <a:solidFill>
              <a:srgbClr val="FF0066"/>
            </a:solidFill>
            <a:prstDash val="solid"/>
            <a:round/>
            <a:headEnd type="none" w="med" len="med"/>
            <a:tailEnd type="none" w="med" len="med"/>
          </a:ln>
        </p:spPr>
      </p:sp>
      <p:sp>
        <p:nvSpPr>
          <p:cNvPr id="66571" name="Line 12"/>
          <p:cNvSpPr/>
          <p:nvPr/>
        </p:nvSpPr>
        <p:spPr>
          <a:xfrm>
            <a:off x="3098800" y="5118100"/>
            <a:ext cx="723900" cy="0"/>
          </a:xfrm>
          <a:prstGeom prst="line">
            <a:avLst/>
          </a:prstGeom>
          <a:ln w="28575" cap="flat" cmpd="sng">
            <a:solidFill>
              <a:srgbClr val="FF0066"/>
            </a:solidFill>
            <a:prstDash val="solid"/>
            <a:round/>
            <a:headEnd type="none" w="med" len="med"/>
            <a:tailEnd type="none" w="med" len="med"/>
          </a:ln>
        </p:spPr>
      </p:sp>
      <p:sp>
        <p:nvSpPr>
          <p:cNvPr id="66572" name="Line 13"/>
          <p:cNvSpPr/>
          <p:nvPr/>
        </p:nvSpPr>
        <p:spPr>
          <a:xfrm flipV="1">
            <a:off x="3883025" y="3863975"/>
            <a:ext cx="352425" cy="0"/>
          </a:xfrm>
          <a:prstGeom prst="line">
            <a:avLst/>
          </a:prstGeom>
          <a:ln w="28575" cap="flat" cmpd="sng">
            <a:solidFill>
              <a:srgbClr val="FF0066"/>
            </a:solidFill>
            <a:prstDash val="solid"/>
            <a:round/>
            <a:headEnd type="none" w="med" len="med"/>
            <a:tailEnd type="triangle" w="med" len="med"/>
          </a:ln>
        </p:spPr>
      </p:sp>
      <p:sp>
        <p:nvSpPr>
          <p:cNvPr id="66573" name="Text Box 14"/>
          <p:cNvSpPr txBox="1"/>
          <p:nvPr/>
        </p:nvSpPr>
        <p:spPr>
          <a:xfrm>
            <a:off x="4197350" y="3644900"/>
            <a:ext cx="323850" cy="396875"/>
          </a:xfrm>
          <a:prstGeom prst="rect">
            <a:avLst/>
          </a:prstGeom>
          <a:noFill/>
          <a:ln w="12700">
            <a:noFill/>
          </a:ln>
        </p:spPr>
        <p:txBody>
          <a:bodyPr anchor="t" anchorCtr="0">
            <a:spAutoFit/>
          </a:bodyPr>
          <a:p>
            <a:pPr eaLnBrk="0" hangingPunct="0">
              <a:spcBef>
                <a:spcPct val="50000"/>
              </a:spcBef>
            </a:pPr>
            <a:r>
              <a:rPr lang="en-US" altLang="zh-CN" sz="2000" dirty="0">
                <a:solidFill>
                  <a:srgbClr val="FF0066"/>
                </a:solidFill>
                <a:latin typeface="Times New Roman" panose="02020603050405020304" pitchFamily="18" charset="0"/>
              </a:rPr>
              <a:t>1</a:t>
            </a:r>
            <a:endParaRPr lang="en-US" altLang="zh-CN" sz="2000" dirty="0">
              <a:solidFill>
                <a:srgbClr val="FF0066"/>
              </a:solidFill>
              <a:latin typeface="Times New Roman" panose="02020603050405020304" pitchFamily="18" charset="0"/>
            </a:endParaRPr>
          </a:p>
        </p:txBody>
      </p:sp>
      <p:sp>
        <p:nvSpPr>
          <p:cNvPr id="66574" name="Line 15"/>
          <p:cNvSpPr/>
          <p:nvPr/>
        </p:nvSpPr>
        <p:spPr>
          <a:xfrm flipV="1">
            <a:off x="3892550" y="4664075"/>
            <a:ext cx="352425" cy="0"/>
          </a:xfrm>
          <a:prstGeom prst="line">
            <a:avLst/>
          </a:prstGeom>
          <a:ln w="28575" cap="flat" cmpd="sng">
            <a:solidFill>
              <a:srgbClr val="FF0066"/>
            </a:solidFill>
            <a:prstDash val="solid"/>
            <a:round/>
            <a:headEnd type="none" w="med" len="med"/>
            <a:tailEnd type="triangle" w="med" len="med"/>
          </a:ln>
        </p:spPr>
      </p:sp>
      <p:sp>
        <p:nvSpPr>
          <p:cNvPr id="66575" name="Text Box 16"/>
          <p:cNvSpPr txBox="1"/>
          <p:nvPr/>
        </p:nvSpPr>
        <p:spPr>
          <a:xfrm>
            <a:off x="4206875" y="4445000"/>
            <a:ext cx="323850" cy="396875"/>
          </a:xfrm>
          <a:prstGeom prst="rect">
            <a:avLst/>
          </a:prstGeom>
          <a:noFill/>
          <a:ln w="12700">
            <a:noFill/>
          </a:ln>
        </p:spPr>
        <p:txBody>
          <a:bodyPr anchor="t" anchorCtr="0">
            <a:spAutoFit/>
          </a:bodyPr>
          <a:p>
            <a:pPr eaLnBrk="0" hangingPunct="0">
              <a:spcBef>
                <a:spcPct val="50000"/>
              </a:spcBef>
            </a:pPr>
            <a:r>
              <a:rPr lang="en-US" altLang="zh-CN" sz="2000" dirty="0">
                <a:solidFill>
                  <a:srgbClr val="FF0066"/>
                </a:solidFill>
                <a:latin typeface="Times New Roman" panose="02020603050405020304" pitchFamily="18" charset="0"/>
              </a:rPr>
              <a:t>1</a:t>
            </a:r>
            <a:endParaRPr lang="en-US" altLang="zh-CN" sz="2000" dirty="0">
              <a:solidFill>
                <a:srgbClr val="FF0066"/>
              </a:solidFill>
              <a:latin typeface="Times New Roman" panose="02020603050405020304" pitchFamily="18" charset="0"/>
            </a:endParaRPr>
          </a:p>
        </p:txBody>
      </p:sp>
      <p:sp>
        <p:nvSpPr>
          <p:cNvPr id="66576" name="Line 17"/>
          <p:cNvSpPr/>
          <p:nvPr/>
        </p:nvSpPr>
        <p:spPr>
          <a:xfrm flipV="1">
            <a:off x="3911600" y="5692775"/>
            <a:ext cx="352425" cy="0"/>
          </a:xfrm>
          <a:prstGeom prst="line">
            <a:avLst/>
          </a:prstGeom>
          <a:ln w="28575" cap="flat" cmpd="sng">
            <a:solidFill>
              <a:srgbClr val="FF0066"/>
            </a:solidFill>
            <a:prstDash val="solid"/>
            <a:round/>
            <a:headEnd type="none" w="med" len="med"/>
            <a:tailEnd type="triangle" w="med" len="med"/>
          </a:ln>
        </p:spPr>
      </p:sp>
      <p:sp>
        <p:nvSpPr>
          <p:cNvPr id="66577" name="Text Box 18"/>
          <p:cNvSpPr txBox="1"/>
          <p:nvPr/>
        </p:nvSpPr>
        <p:spPr>
          <a:xfrm>
            <a:off x="4225925" y="5473700"/>
            <a:ext cx="323850" cy="396875"/>
          </a:xfrm>
          <a:prstGeom prst="rect">
            <a:avLst/>
          </a:prstGeom>
          <a:noFill/>
          <a:ln w="12700">
            <a:noFill/>
          </a:ln>
        </p:spPr>
        <p:txBody>
          <a:bodyPr anchor="t" anchorCtr="0">
            <a:spAutoFit/>
          </a:bodyPr>
          <a:p>
            <a:pPr eaLnBrk="0" hangingPunct="0">
              <a:spcBef>
                <a:spcPct val="50000"/>
              </a:spcBef>
            </a:pPr>
            <a:r>
              <a:rPr lang="en-US" altLang="zh-CN" sz="2000" dirty="0">
                <a:solidFill>
                  <a:srgbClr val="FF0066"/>
                </a:solidFill>
                <a:latin typeface="Times New Roman" panose="02020603050405020304" pitchFamily="18" charset="0"/>
              </a:rPr>
              <a:t>1</a:t>
            </a:r>
            <a:endParaRPr lang="en-US" altLang="zh-CN" sz="2000" dirty="0">
              <a:solidFill>
                <a:srgbClr val="FF0066"/>
              </a:solidFill>
              <a:latin typeface="Times New Roman" panose="02020603050405020304" pitchFamily="18" charset="0"/>
            </a:endParaRPr>
          </a:p>
        </p:txBody>
      </p:sp>
      <p:sp>
        <p:nvSpPr>
          <p:cNvPr id="66578" name="Rectangle 5"/>
          <p:cNvSpPr/>
          <p:nvPr/>
        </p:nvSpPr>
        <p:spPr>
          <a:xfrm>
            <a:off x="512763" y="1212850"/>
            <a:ext cx="8191500" cy="423863"/>
          </a:xfrm>
          <a:prstGeom prst="rect">
            <a:avLst/>
          </a:prstGeom>
          <a:noFill/>
          <a:ln w="12700">
            <a:noFill/>
          </a:ln>
        </p:spPr>
        <p:txBody>
          <a:bodyPr lIns="63500" tIns="25400" rIns="63500" bIns="25400" anchor="t" anchorCtr="0">
            <a:spAutoFit/>
          </a:bodyPr>
          <a:p>
            <a:pPr marL="203200" indent="-203200" eaLnBrk="0" hangingPunct="0">
              <a:lnSpc>
                <a:spcPct val="110000"/>
              </a:lnSpc>
              <a:spcBef>
                <a:spcPct val="20000"/>
              </a:spcBef>
              <a:buClr>
                <a:schemeClr val="tx1"/>
              </a:buClr>
              <a:buSzPct val="60000"/>
              <a:buFont typeface="Wingdings" panose="05000000000000000000" pitchFamily="2" charset="2"/>
            </a:pPr>
            <a:r>
              <a:rPr lang="en-US" altLang="zh-CN" sz="2200" dirty="0">
                <a:solidFill>
                  <a:srgbClr val="FF0066"/>
                </a:solidFill>
                <a:latin typeface="微软雅黑" panose="020B0503020204020204" pitchFamily="34" charset="-122"/>
                <a:ea typeface="微软雅黑" panose="020B0503020204020204" pitchFamily="34" charset="-122"/>
              </a:rPr>
              <a:t>X=-3</a:t>
            </a:r>
            <a:r>
              <a:rPr lang="zh-CN" altLang="en-US" sz="2200" dirty="0">
                <a:solidFill>
                  <a:srgbClr val="FF0066"/>
                </a:solidFill>
                <a:latin typeface="微软雅黑" panose="020B0503020204020204" pitchFamily="34" charset="-122"/>
                <a:ea typeface="微软雅黑" panose="020B0503020204020204" pitchFamily="34" charset="-122"/>
              </a:rPr>
              <a:t>，</a:t>
            </a:r>
            <a:r>
              <a:rPr lang="en-US" altLang="zh-CN" sz="2200" dirty="0">
                <a:solidFill>
                  <a:srgbClr val="FF0066"/>
                </a:solidFill>
                <a:latin typeface="微软雅黑" panose="020B0503020204020204" pitchFamily="34" charset="-122"/>
                <a:ea typeface="微软雅黑" panose="020B0503020204020204" pitchFamily="34" charset="-122"/>
              </a:rPr>
              <a:t>Y=6</a:t>
            </a:r>
            <a:r>
              <a:rPr lang="zh-CN" altLang="en-US" sz="2200" dirty="0">
                <a:solidFill>
                  <a:srgbClr val="FF0066"/>
                </a:solidFill>
                <a:latin typeface="微软雅黑" panose="020B0503020204020204" pitchFamily="34" charset="-122"/>
                <a:ea typeface="微软雅黑" panose="020B0503020204020204" pitchFamily="34" charset="-122"/>
              </a:rPr>
              <a:t>，</a:t>
            </a:r>
            <a:r>
              <a:rPr lang="en-US" altLang="zh-CN" sz="2200" dirty="0">
                <a:solidFill>
                  <a:srgbClr val="FF0066"/>
                </a:solidFill>
                <a:latin typeface="微软雅黑" panose="020B0503020204020204" pitchFamily="34" charset="-122"/>
                <a:ea typeface="微软雅黑" panose="020B0503020204020204" pitchFamily="34" charset="-122"/>
              </a:rPr>
              <a:t>X×Y=-18</a:t>
            </a:r>
            <a:r>
              <a:rPr lang="zh-CN" altLang="en-US" sz="2200" dirty="0">
                <a:solidFill>
                  <a:srgbClr val="FF0066"/>
                </a:solidFill>
                <a:latin typeface="微软雅黑" panose="020B0503020204020204" pitchFamily="34" charset="-122"/>
                <a:ea typeface="微软雅黑" panose="020B0503020204020204" pitchFamily="34" charset="-122"/>
              </a:rPr>
              <a:t>，</a:t>
            </a:r>
            <a:r>
              <a:rPr lang="en-US" altLang="zh-CN" sz="2200" dirty="0">
                <a:solidFill>
                  <a:srgbClr val="FF0066"/>
                </a:solidFill>
                <a:latin typeface="微软雅黑" panose="020B0503020204020204" pitchFamily="34" charset="-122"/>
                <a:ea typeface="微软雅黑" panose="020B0503020204020204" pitchFamily="34" charset="-122"/>
              </a:rPr>
              <a:t>[X×Y]</a:t>
            </a:r>
            <a:r>
              <a:rPr lang="zh-CN" altLang="en-US" sz="2200" baseline="-25000" dirty="0">
                <a:solidFill>
                  <a:srgbClr val="FF0066"/>
                </a:solidFill>
                <a:latin typeface="微软雅黑" panose="020B0503020204020204" pitchFamily="34" charset="-122"/>
                <a:ea typeface="微软雅黑" panose="020B0503020204020204" pitchFamily="34" charset="-122"/>
              </a:rPr>
              <a:t>补</a:t>
            </a:r>
            <a:r>
              <a:rPr lang="zh-CN" altLang="en-US" sz="2200" dirty="0">
                <a:solidFill>
                  <a:srgbClr val="FF0066"/>
                </a:solidFill>
                <a:latin typeface="微软雅黑" panose="020B0503020204020204" pitchFamily="34" charset="-122"/>
                <a:ea typeface="微软雅黑" panose="020B0503020204020204" pitchFamily="34" charset="-122"/>
              </a:rPr>
              <a:t>应等于</a:t>
            </a:r>
            <a:r>
              <a:rPr lang="en-US" altLang="zh-CN" sz="2200" dirty="0">
                <a:solidFill>
                  <a:srgbClr val="FF0066"/>
                </a:solidFill>
                <a:latin typeface="微软雅黑" panose="020B0503020204020204" pitchFamily="34" charset="-122"/>
                <a:ea typeface="微软雅黑" panose="020B0503020204020204" pitchFamily="34" charset="-122"/>
              </a:rPr>
              <a:t>11101110</a:t>
            </a:r>
            <a:r>
              <a:rPr lang="zh-CN" altLang="en-US" sz="2200" dirty="0">
                <a:solidFill>
                  <a:srgbClr val="FF0066"/>
                </a:solidFill>
                <a:latin typeface="微软雅黑" panose="020B0503020204020204" pitchFamily="34" charset="-122"/>
                <a:ea typeface="微软雅黑" panose="020B0503020204020204" pitchFamily="34" charset="-122"/>
              </a:rPr>
              <a:t>或结果溢出</a:t>
            </a:r>
            <a:endParaRPr lang="zh-CN" altLang="en-US" sz="2200" dirty="0">
              <a:latin typeface="微软雅黑" panose="020B0503020204020204" pitchFamily="34" charset="-122"/>
              <a:ea typeface="微软雅黑" panose="020B0503020204020204" pitchFamily="34" charset="-122"/>
            </a:endParaRPr>
          </a:p>
        </p:txBody>
      </p:sp>
      <p:sp>
        <p:nvSpPr>
          <p:cNvPr id="20" name="Rectangle 5"/>
          <p:cNvSpPr/>
          <p:nvPr/>
        </p:nvSpPr>
        <p:spPr>
          <a:xfrm>
            <a:off x="7546975" y="4967288"/>
            <a:ext cx="1555750" cy="615950"/>
          </a:xfrm>
          <a:prstGeom prst="rect">
            <a:avLst/>
          </a:prstGeom>
          <a:solidFill>
            <a:schemeClr val="bg1"/>
          </a:solidFill>
          <a:ln w="12700">
            <a:noFill/>
          </a:ln>
        </p:spPr>
        <p:txBody>
          <a:bodyPr lIns="0" tIns="0" rIns="0" bIns="0" anchor="t" anchorCtr="0">
            <a:spAutoFit/>
          </a:bodyPr>
          <a:p>
            <a:pPr eaLnBrk="0" hangingPunct="0">
              <a:buClr>
                <a:schemeClr val="tx1"/>
              </a:buClr>
              <a:buSzPct val="60000"/>
              <a:buFont typeface="Wingdings" panose="05000000000000000000" pitchFamily="2" charset="2"/>
            </a:pPr>
            <a:r>
              <a:rPr lang="zh-CN" altLang="en-US" sz="2000" dirty="0">
                <a:solidFill>
                  <a:srgbClr val="FF0066"/>
                </a:solidFill>
                <a:latin typeface="Arial" panose="020B0604020202020204" pitchFamily="34" charset="0"/>
                <a:ea typeface="宋体" panose="02010600030101010101" pitchFamily="2" charset="-122"/>
              </a:rPr>
              <a:t> </a:t>
            </a:r>
            <a:r>
              <a:rPr lang="zh-CN" altLang="en-US" sz="2000" dirty="0">
                <a:solidFill>
                  <a:schemeClr val="accent2"/>
                </a:solidFill>
                <a:latin typeface="微软雅黑" panose="020B0503020204020204" pitchFamily="34" charset="-122"/>
                <a:ea typeface="微软雅黑" panose="020B0503020204020204" pitchFamily="34" charset="-122"/>
              </a:rPr>
              <a:t>如何判断结果是否溢出？</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22" name="Rectangle 5"/>
          <p:cNvSpPr/>
          <p:nvPr/>
        </p:nvSpPr>
        <p:spPr>
          <a:xfrm>
            <a:off x="7535863" y="5665788"/>
            <a:ext cx="1555750" cy="615950"/>
          </a:xfrm>
          <a:prstGeom prst="rect">
            <a:avLst/>
          </a:prstGeom>
          <a:solidFill>
            <a:schemeClr val="bg1"/>
          </a:solidFill>
          <a:ln w="12700">
            <a:noFill/>
          </a:ln>
        </p:spPr>
        <p:txBody>
          <a:bodyPr lIns="0" tIns="0" rIns="0" bIns="0" anchor="t" anchorCtr="0">
            <a:spAutoFit/>
          </a:bodyPr>
          <a:p>
            <a:pPr eaLnBrk="0" hangingPunct="0">
              <a:buClr>
                <a:schemeClr val="tx1"/>
              </a:buClr>
              <a:buSzPct val="60000"/>
              <a:buFont typeface="Wingdings" panose="05000000000000000000" pitchFamily="2" charset="2"/>
            </a:pPr>
            <a:r>
              <a:rPr lang="zh-CN" altLang="en-US" sz="2000" dirty="0">
                <a:solidFill>
                  <a:srgbClr val="FF0066"/>
                </a:solidFill>
                <a:latin typeface="Arial" panose="020B0604020202020204" pitchFamily="34" charset="0"/>
                <a:ea typeface="宋体" panose="02010600030101010101" pitchFamily="2" charset="-122"/>
              </a:rPr>
              <a:t> </a:t>
            </a:r>
            <a:r>
              <a:rPr lang="zh-CN" altLang="en-US" sz="2000" dirty="0">
                <a:solidFill>
                  <a:srgbClr val="FF0066"/>
                </a:solidFill>
                <a:latin typeface="微软雅黑" panose="020B0503020204020204" pitchFamily="34" charset="-122"/>
                <a:ea typeface="微软雅黑" panose="020B0503020204020204" pitchFamily="34" charset="-122"/>
              </a:rPr>
              <a:t>高</a:t>
            </a:r>
            <a:r>
              <a:rPr lang="en-US" altLang="zh-CN" sz="2000" dirty="0">
                <a:solidFill>
                  <a:srgbClr val="FF0066"/>
                </a:solidFill>
                <a:latin typeface="微软雅黑" panose="020B0503020204020204" pitchFamily="34" charset="-122"/>
                <a:ea typeface="微软雅黑" panose="020B0503020204020204" pitchFamily="34" charset="-122"/>
              </a:rPr>
              <a:t>4</a:t>
            </a:r>
            <a:r>
              <a:rPr lang="zh-CN" altLang="en-US" sz="2000" dirty="0">
                <a:solidFill>
                  <a:srgbClr val="FF0066"/>
                </a:solidFill>
                <a:latin typeface="微软雅黑" panose="020B0503020204020204" pitchFamily="34" charset="-122"/>
                <a:ea typeface="微软雅黑" panose="020B0503020204020204" pitchFamily="34" charset="-122"/>
              </a:rPr>
              <a:t>位是否全为符号位！</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blinds(horizontal)">
                                      <p:cBhvr>
                                        <p:cTn id="7" dur="500"/>
                                        <p:tgtEl>
                                          <p:spTgt spid="542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linds(horizontal)">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P spid="20" grpId="0" animBg="1"/>
      <p:bldP spid="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补码两位乘法</a:t>
            </a:r>
            <a:endParaRPr lang="zh-CN" altLang="en-US" dirty="0">
              <a:ea typeface="宋体" panose="02010600030101010101" pitchFamily="2" charset="-122"/>
            </a:endParaRPr>
          </a:p>
        </p:txBody>
      </p:sp>
      <p:sp>
        <p:nvSpPr>
          <p:cNvPr id="473091" name="Rectangle 3"/>
          <p:cNvSpPr>
            <a:spLocks noGrp="1"/>
          </p:cNvSpPr>
          <p:nvPr>
            <p:ph idx="1"/>
          </p:nvPr>
        </p:nvSpPr>
        <p:spPr>
          <a:xfrm>
            <a:off x="114300" y="774700"/>
            <a:ext cx="8191500" cy="5591175"/>
          </a:xfrm>
          <a:ln/>
        </p:spPr>
        <p:txBody>
          <a:bodyPr vert="horz" wrap="square" lIns="63500" tIns="25400" rIns="63500" bIns="25400" anchor="t" anchorCtr="0">
            <a:spAutoFit/>
          </a:bodyPr>
          <a:p>
            <a:r>
              <a:rPr lang="zh-CN" altLang="en-US" sz="2000" dirty="0">
                <a:ea typeface="黑体" panose="02010609060101010101" pitchFamily="49" charset="-122"/>
              </a:rPr>
              <a:t>补码两位乘可用布斯算法推导如下：</a:t>
            </a:r>
            <a:endParaRPr lang="zh-CN" altLang="en-US" sz="2000" dirty="0">
              <a:ea typeface="黑体" panose="02010609060101010101" pitchFamily="49" charset="-122"/>
            </a:endParaRPr>
          </a:p>
          <a:p>
            <a:pPr lvl="1"/>
            <a:r>
              <a:rPr lang="en-US" altLang="zh-CN" dirty="0"/>
              <a:t>[P</a:t>
            </a:r>
            <a:r>
              <a:rPr lang="en-US" altLang="zh-CN" baseline="-25000" dirty="0"/>
              <a:t>i+1</a:t>
            </a:r>
            <a:r>
              <a:rPr lang="en-US" altLang="zh-CN" dirty="0"/>
              <a:t>]</a:t>
            </a:r>
            <a:r>
              <a:rPr lang="zh-CN" altLang="en-US" baseline="-25000" dirty="0"/>
              <a:t>补</a:t>
            </a:r>
            <a:r>
              <a:rPr lang="zh-CN" altLang="en-US" dirty="0"/>
              <a:t> </a:t>
            </a:r>
            <a:r>
              <a:rPr lang="en-US" altLang="zh-CN" dirty="0"/>
              <a:t>= 2</a:t>
            </a:r>
            <a:r>
              <a:rPr lang="en-US" altLang="zh-CN" baseline="30000" dirty="0"/>
              <a:t>-1</a:t>
            </a:r>
            <a:r>
              <a:rPr lang="en-US" altLang="zh-CN" dirty="0"/>
              <a:t> ( [P</a:t>
            </a:r>
            <a:r>
              <a:rPr lang="en-US" altLang="zh-CN" baseline="-25000" dirty="0"/>
              <a:t>i</a:t>
            </a:r>
            <a:r>
              <a:rPr lang="en-US" altLang="zh-CN" dirty="0"/>
              <a:t>]</a:t>
            </a:r>
            <a:r>
              <a:rPr lang="zh-CN" altLang="en-US" baseline="-25000" dirty="0"/>
              <a:t>补</a:t>
            </a:r>
            <a:r>
              <a:rPr lang="zh-CN" altLang="en-US" dirty="0"/>
              <a:t> </a:t>
            </a:r>
            <a:r>
              <a:rPr lang="en-US" altLang="zh-CN" dirty="0"/>
              <a:t>+ ( y</a:t>
            </a:r>
            <a:r>
              <a:rPr lang="en-US" altLang="zh-CN" baseline="-25000" dirty="0"/>
              <a:t>i-1</a:t>
            </a:r>
            <a:r>
              <a:rPr lang="en-US" altLang="zh-CN" dirty="0"/>
              <a:t>– y</a:t>
            </a:r>
            <a:r>
              <a:rPr lang="en-US" altLang="zh-CN" baseline="-25000" dirty="0"/>
              <a:t>i</a:t>
            </a:r>
            <a:r>
              <a:rPr lang="en-US" altLang="zh-CN" dirty="0"/>
              <a:t> ) [X]</a:t>
            </a:r>
            <a:r>
              <a:rPr lang="zh-CN" altLang="en-US" baseline="-25000" dirty="0"/>
              <a:t>补</a:t>
            </a:r>
            <a:r>
              <a:rPr lang="en-US" altLang="zh-CN" dirty="0"/>
              <a:t>) </a:t>
            </a:r>
            <a:endParaRPr lang="en-US" altLang="zh-CN" dirty="0"/>
          </a:p>
          <a:p>
            <a:pPr lvl="1"/>
            <a:r>
              <a:rPr lang="en-US" altLang="zh-CN" dirty="0"/>
              <a:t>[P</a:t>
            </a:r>
            <a:r>
              <a:rPr lang="en-US" altLang="zh-CN" baseline="-25000" dirty="0"/>
              <a:t>i+2</a:t>
            </a:r>
            <a:r>
              <a:rPr lang="en-US" altLang="zh-CN" dirty="0"/>
              <a:t>]</a:t>
            </a:r>
            <a:r>
              <a:rPr lang="zh-CN" altLang="en-US" baseline="-25000" dirty="0"/>
              <a:t>补</a:t>
            </a:r>
            <a:r>
              <a:rPr lang="zh-CN" altLang="en-US" dirty="0"/>
              <a:t> </a:t>
            </a:r>
            <a:r>
              <a:rPr lang="en-US" altLang="zh-CN" dirty="0"/>
              <a:t>= 2</a:t>
            </a:r>
            <a:r>
              <a:rPr lang="en-US" altLang="zh-CN" baseline="30000" dirty="0"/>
              <a:t>-1</a:t>
            </a:r>
            <a:r>
              <a:rPr lang="en-US" altLang="zh-CN" dirty="0"/>
              <a:t> ( [P</a:t>
            </a:r>
            <a:r>
              <a:rPr lang="en-US" altLang="zh-CN" baseline="-25000" dirty="0"/>
              <a:t>i+1</a:t>
            </a:r>
            <a:r>
              <a:rPr lang="en-US" altLang="zh-CN" dirty="0"/>
              <a:t>]</a:t>
            </a:r>
            <a:r>
              <a:rPr lang="zh-CN" altLang="en-US" baseline="-25000" dirty="0"/>
              <a:t>补</a:t>
            </a:r>
            <a:r>
              <a:rPr lang="zh-CN" altLang="en-US" dirty="0"/>
              <a:t> </a:t>
            </a:r>
            <a:r>
              <a:rPr lang="en-US" altLang="zh-CN" dirty="0"/>
              <a:t>+ ( y</a:t>
            </a:r>
            <a:r>
              <a:rPr lang="en-US" altLang="zh-CN" baseline="-25000" dirty="0"/>
              <a:t>i</a:t>
            </a:r>
            <a:r>
              <a:rPr lang="en-US" altLang="zh-CN" dirty="0"/>
              <a:t> – y</a:t>
            </a:r>
            <a:r>
              <a:rPr lang="en-US" altLang="zh-CN" baseline="-25000" dirty="0"/>
              <a:t>i+1</a:t>
            </a:r>
            <a:r>
              <a:rPr lang="en-US" altLang="zh-CN" dirty="0"/>
              <a:t>) [X]</a:t>
            </a:r>
            <a:r>
              <a:rPr lang="zh-CN" altLang="en-US" baseline="-25000" dirty="0"/>
              <a:t>补</a:t>
            </a:r>
            <a:r>
              <a:rPr lang="en-US" altLang="zh-CN" dirty="0"/>
              <a:t>)    </a:t>
            </a:r>
            <a:endParaRPr lang="en-US" altLang="zh-CN" dirty="0"/>
          </a:p>
          <a:p>
            <a:pPr lvl="1">
              <a:buNone/>
            </a:pPr>
            <a:r>
              <a:rPr lang="en-US" altLang="zh-CN" dirty="0"/>
              <a:t>              = 2</a:t>
            </a:r>
            <a:r>
              <a:rPr lang="en-US" altLang="zh-CN" baseline="30000" dirty="0"/>
              <a:t>-1</a:t>
            </a:r>
            <a:r>
              <a:rPr lang="en-US" altLang="zh-CN" dirty="0"/>
              <a:t> (2</a:t>
            </a:r>
            <a:r>
              <a:rPr lang="en-US" altLang="zh-CN" baseline="30000" dirty="0"/>
              <a:t>-1</a:t>
            </a:r>
            <a:r>
              <a:rPr lang="en-US" altLang="zh-CN" dirty="0"/>
              <a:t> ( [P</a:t>
            </a:r>
            <a:r>
              <a:rPr lang="en-US" altLang="zh-CN" baseline="-25000" dirty="0"/>
              <a:t>i</a:t>
            </a:r>
            <a:r>
              <a:rPr lang="en-US" altLang="zh-CN" dirty="0"/>
              <a:t>]</a:t>
            </a:r>
            <a:r>
              <a:rPr lang="zh-CN" altLang="en-US" baseline="-25000" dirty="0"/>
              <a:t>补</a:t>
            </a:r>
            <a:r>
              <a:rPr lang="zh-CN" altLang="en-US" dirty="0"/>
              <a:t> </a:t>
            </a:r>
            <a:r>
              <a:rPr lang="en-US" altLang="zh-CN" dirty="0"/>
              <a:t>+ ( y</a:t>
            </a:r>
            <a:r>
              <a:rPr lang="en-US" altLang="zh-CN" baseline="-25000" dirty="0"/>
              <a:t>i-1</a:t>
            </a:r>
            <a:r>
              <a:rPr lang="en-US" altLang="zh-CN" dirty="0"/>
              <a:t>– y</a:t>
            </a:r>
            <a:r>
              <a:rPr lang="en-US" altLang="zh-CN" baseline="-25000" dirty="0"/>
              <a:t>i</a:t>
            </a:r>
            <a:r>
              <a:rPr lang="en-US" altLang="zh-CN" dirty="0"/>
              <a:t> ) [X]</a:t>
            </a:r>
            <a:r>
              <a:rPr lang="zh-CN" altLang="en-US" baseline="-25000" dirty="0"/>
              <a:t>补</a:t>
            </a:r>
            <a:r>
              <a:rPr lang="en-US" altLang="zh-CN" dirty="0"/>
              <a:t>) + ( y</a:t>
            </a:r>
            <a:r>
              <a:rPr lang="en-US" altLang="zh-CN" baseline="-25000" dirty="0"/>
              <a:t>i</a:t>
            </a:r>
            <a:r>
              <a:rPr lang="en-US" altLang="zh-CN" dirty="0"/>
              <a:t> – y</a:t>
            </a:r>
            <a:r>
              <a:rPr lang="en-US" altLang="zh-CN" baseline="-25000" dirty="0"/>
              <a:t>i+1</a:t>
            </a:r>
            <a:r>
              <a:rPr lang="en-US" altLang="zh-CN" dirty="0"/>
              <a:t>) [X]</a:t>
            </a:r>
            <a:r>
              <a:rPr lang="zh-CN" altLang="en-US" baseline="-25000" dirty="0"/>
              <a:t>补</a:t>
            </a:r>
            <a:r>
              <a:rPr lang="en-US" altLang="zh-CN" dirty="0"/>
              <a:t>) </a:t>
            </a:r>
            <a:endParaRPr lang="en-US" altLang="zh-CN" dirty="0"/>
          </a:p>
          <a:p>
            <a:pPr lvl="1">
              <a:buNone/>
            </a:pPr>
            <a:r>
              <a:rPr lang="en-US" altLang="zh-CN" dirty="0"/>
              <a:t>              = 2</a:t>
            </a:r>
            <a:r>
              <a:rPr lang="en-US" altLang="zh-CN" baseline="30000" dirty="0"/>
              <a:t>-2</a:t>
            </a:r>
            <a:r>
              <a:rPr lang="en-US" altLang="zh-CN" dirty="0"/>
              <a:t> ( [P</a:t>
            </a:r>
            <a:r>
              <a:rPr lang="en-US" altLang="zh-CN" baseline="-25000" dirty="0"/>
              <a:t>i</a:t>
            </a:r>
            <a:r>
              <a:rPr lang="en-US" altLang="zh-CN" dirty="0"/>
              <a:t>]</a:t>
            </a:r>
            <a:r>
              <a:rPr lang="zh-CN" altLang="en-US" baseline="-25000" dirty="0"/>
              <a:t>补</a:t>
            </a:r>
            <a:r>
              <a:rPr lang="en-US" altLang="zh-CN" dirty="0"/>
              <a:t>+ </a:t>
            </a:r>
            <a:r>
              <a:rPr lang="en-US" altLang="zh-CN" dirty="0">
                <a:solidFill>
                  <a:srgbClr val="CC3300"/>
                </a:solidFill>
              </a:rPr>
              <a:t>(y</a:t>
            </a:r>
            <a:r>
              <a:rPr lang="en-US" altLang="zh-CN" baseline="-25000" dirty="0">
                <a:solidFill>
                  <a:srgbClr val="CC3300"/>
                </a:solidFill>
              </a:rPr>
              <a:t>i-1</a:t>
            </a:r>
            <a:r>
              <a:rPr lang="en-US" altLang="zh-CN" dirty="0">
                <a:solidFill>
                  <a:srgbClr val="CC3300"/>
                </a:solidFill>
              </a:rPr>
              <a:t> + y</a:t>
            </a:r>
            <a:r>
              <a:rPr lang="en-US" altLang="zh-CN" baseline="-25000" dirty="0">
                <a:solidFill>
                  <a:srgbClr val="CC3300"/>
                </a:solidFill>
              </a:rPr>
              <a:t>i</a:t>
            </a:r>
            <a:r>
              <a:rPr lang="en-US" altLang="zh-CN" dirty="0">
                <a:solidFill>
                  <a:srgbClr val="CC3300"/>
                </a:solidFill>
              </a:rPr>
              <a:t> – 2y</a:t>
            </a:r>
            <a:r>
              <a:rPr lang="en-US" altLang="zh-CN" baseline="-25000" dirty="0">
                <a:solidFill>
                  <a:srgbClr val="CC3300"/>
                </a:solidFill>
              </a:rPr>
              <a:t>i+1</a:t>
            </a:r>
            <a:r>
              <a:rPr lang="en-US" altLang="zh-CN" dirty="0">
                <a:solidFill>
                  <a:srgbClr val="CC3300"/>
                </a:solidFill>
              </a:rPr>
              <a:t>)</a:t>
            </a:r>
            <a:r>
              <a:rPr lang="en-US" altLang="zh-CN" dirty="0"/>
              <a:t> [X]</a:t>
            </a:r>
            <a:r>
              <a:rPr lang="zh-CN" altLang="en-US" baseline="-25000" dirty="0"/>
              <a:t>补</a:t>
            </a:r>
            <a:r>
              <a:rPr lang="en-US" altLang="zh-CN" dirty="0"/>
              <a:t>) </a:t>
            </a:r>
            <a:endParaRPr lang="en-US" altLang="zh-CN" dirty="0"/>
          </a:p>
          <a:p>
            <a:r>
              <a:rPr lang="zh-CN" altLang="en-US" sz="2000" dirty="0">
                <a:latin typeface="微软雅黑" panose="020B0503020204020204" pitchFamily="34" charset="-122"/>
                <a:ea typeface="微软雅黑" panose="020B0503020204020204" pitchFamily="34" charset="-122"/>
              </a:rPr>
              <a:t>开始置附加位</a:t>
            </a:r>
            <a:r>
              <a:rPr lang="en-US" altLang="zh-CN" sz="2000" dirty="0">
                <a:latin typeface="微软雅黑" panose="020B0503020204020204" pitchFamily="34" charset="-122"/>
                <a:ea typeface="微软雅黑" panose="020B0503020204020204" pitchFamily="34" charset="-122"/>
              </a:rPr>
              <a:t>y</a:t>
            </a:r>
            <a:r>
              <a:rPr lang="en-US" altLang="zh-CN" sz="2000" baseline="-25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为</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，乘积寄</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存器最高位前面添加一位附加</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符号位</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最终的乘积高位部分在乘积寄</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存器</a:t>
            </a:r>
            <a:r>
              <a:rPr lang="en-US" altLang="zh-CN" sz="2000" dirty="0">
                <a:latin typeface="微软雅黑" panose="020B0503020204020204" pitchFamily="34" charset="-122"/>
                <a:ea typeface="微软雅黑" panose="020B0503020204020204" pitchFamily="34" charset="-122"/>
              </a:rPr>
              <a:t>P</a:t>
            </a:r>
            <a:r>
              <a:rPr lang="zh-CN" altLang="en-US" sz="2000" dirty="0">
                <a:latin typeface="微软雅黑" panose="020B0503020204020204" pitchFamily="34" charset="-122"/>
                <a:ea typeface="微软雅黑" panose="020B0503020204020204" pitchFamily="34" charset="-122"/>
              </a:rPr>
              <a:t>中，低位部分在乘数寄</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存器</a:t>
            </a:r>
            <a:r>
              <a:rPr lang="en-US" altLang="zh-CN" sz="2000" dirty="0">
                <a:latin typeface="微软雅黑" panose="020B0503020204020204" pitchFamily="34" charset="-122"/>
                <a:ea typeface="微软雅黑" panose="020B0503020204020204" pitchFamily="34" charset="-122"/>
              </a:rPr>
              <a:t>Y</a:t>
            </a:r>
            <a:r>
              <a:rPr lang="zh-CN" altLang="en-US" sz="2000" dirty="0">
                <a:latin typeface="微软雅黑" panose="020B0503020204020204" pitchFamily="34" charset="-122"/>
                <a:ea typeface="微软雅黑" panose="020B0503020204020204" pitchFamily="34" charset="-122"/>
              </a:rPr>
              <a:t>中。</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因为字长总是</a:t>
            </a:r>
            <a:r>
              <a:rPr lang="en-US" altLang="zh-CN" sz="2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的倍数，所以</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补码的位数</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应该是偶数，因</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此，总循环次数为</a:t>
            </a:r>
            <a:r>
              <a:rPr lang="en-US" altLang="zh-CN" sz="2000" dirty="0">
                <a:latin typeface="微软雅黑" panose="020B0503020204020204" pitchFamily="34" charset="-122"/>
                <a:ea typeface="微软雅黑" panose="020B0503020204020204" pitchFamily="34" charset="-122"/>
              </a:rPr>
              <a:t>n/2</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graphicFrame>
        <p:nvGraphicFramePr>
          <p:cNvPr id="473143" name="Group 55"/>
          <p:cNvGraphicFramePr>
            <a:graphicFrameLocks noGrp="1"/>
          </p:cNvGraphicFramePr>
          <p:nvPr/>
        </p:nvGraphicFramePr>
        <p:xfrm>
          <a:off x="4324350" y="3019425"/>
          <a:ext cx="4695825" cy="3205163"/>
        </p:xfrm>
        <a:graphic>
          <a:graphicData uri="http://schemas.openxmlformats.org/drawingml/2006/table">
            <a:tbl>
              <a:tblPr/>
              <a:tblGrid>
                <a:gridCol w="1427163"/>
                <a:gridCol w="1141412"/>
                <a:gridCol w="2127250"/>
              </a:tblGrid>
              <a:tr h="480395">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y</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i+1</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y</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i     </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y</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i-1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61" marB="456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操   作</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61" marB="456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迭 代 公 式</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61" marB="456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24768">
                <a:tc>
                  <a:txBody>
                    <a:bodyPr/>
                    <a:lstStyle>
                      <a:lvl1pPr indent="171450">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17145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0    0     0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7145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0    0     1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7145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0    1     0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7145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0    1     1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7145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1    0     0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7145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1    0     1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7145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1    1     0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7145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1    1     1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61" marB="456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+2[-X]</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 </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61" marB="456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i</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i</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i</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i</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i</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i</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i</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+[-X]</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a:t>
                      </a:r>
                      <a:r>
                        <a:rPr kumimoji="0" lang="en-US" altLang="zh-CN"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i</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30000">
                          <a:ln>
                            <a:noFill/>
                          </a:ln>
                          <a:solidFill>
                            <a:schemeClr val="tx1"/>
                          </a:solidFill>
                          <a:effectLst/>
                          <a:latin typeface="Arial" panose="020B0604020202020204" pitchFamily="34" charset="0"/>
                          <a:ea typeface="宋体" panose="02010600030101010101" pitchFamily="2" charset="-122"/>
                        </a:rPr>
                        <a:t>补</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61" marB="456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3091">
                                            <p:txEl>
                                              <p:charRg st="110" end="186"/>
                                            </p:txEl>
                                          </p:spTgt>
                                        </p:tgtEl>
                                        <p:attrNameLst>
                                          <p:attrName>style.visibility</p:attrName>
                                        </p:attrNameLst>
                                      </p:cBhvr>
                                      <p:to>
                                        <p:strVal val="visible"/>
                                      </p:to>
                                    </p:set>
                                    <p:animEffect transition="in" filter="blinds(horizontal)">
                                      <p:cBhvr>
                                        <p:cTn id="7" dur="500"/>
                                        <p:tgtEl>
                                          <p:spTgt spid="473091">
                                            <p:txEl>
                                              <p:charRg st="110" end="18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73091">
                                            <p:txEl>
                                              <p:charRg st="186" end="242"/>
                                            </p:txEl>
                                          </p:spTgt>
                                        </p:tgtEl>
                                        <p:attrNameLst>
                                          <p:attrName>style.visibility</p:attrName>
                                        </p:attrNameLst>
                                      </p:cBhvr>
                                      <p:to>
                                        <p:strVal val="visible"/>
                                      </p:to>
                                    </p:set>
                                    <p:animEffect transition="in" filter="blinds(horizontal)">
                                      <p:cBhvr>
                                        <p:cTn id="10" dur="500"/>
                                        <p:tgtEl>
                                          <p:spTgt spid="473091">
                                            <p:txEl>
                                              <p:charRg st="186" end="24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73143"/>
                                        </p:tgtEl>
                                        <p:attrNameLst>
                                          <p:attrName>style.visibility</p:attrName>
                                        </p:attrNameLst>
                                      </p:cBhvr>
                                      <p:to>
                                        <p:strVal val="visible"/>
                                      </p:to>
                                    </p:set>
                                    <p:animEffect transition="in" filter="blinds(horizontal)">
                                      <p:cBhvr>
                                        <p:cTn id="15" dur="500"/>
                                        <p:tgtEl>
                                          <p:spTgt spid="47314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73091">
                                            <p:txEl>
                                              <p:charRg st="242" end="258"/>
                                            </p:txEl>
                                          </p:spTgt>
                                        </p:tgtEl>
                                        <p:attrNameLst>
                                          <p:attrName>style.visibility</p:attrName>
                                        </p:attrNameLst>
                                      </p:cBhvr>
                                      <p:to>
                                        <p:strVal val="visible"/>
                                      </p:to>
                                    </p:set>
                                    <p:animEffect transition="in" filter="blinds(horizontal)">
                                      <p:cBhvr>
                                        <p:cTn id="20" dur="500"/>
                                        <p:tgtEl>
                                          <p:spTgt spid="473091">
                                            <p:txEl>
                                              <p:charRg st="242" end="258"/>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473091">
                                            <p:txEl>
                                              <p:charRg st="258" end="275"/>
                                            </p:txEl>
                                          </p:spTgt>
                                        </p:tgtEl>
                                        <p:attrNameLst>
                                          <p:attrName>style.visibility</p:attrName>
                                        </p:attrNameLst>
                                      </p:cBhvr>
                                      <p:to>
                                        <p:strVal val="visible"/>
                                      </p:to>
                                    </p:set>
                                    <p:animEffect transition="in" filter="blinds(horizontal)">
                                      <p:cBhvr>
                                        <p:cTn id="23" dur="500"/>
                                        <p:tgtEl>
                                          <p:spTgt spid="473091">
                                            <p:txEl>
                                              <p:charRg st="258" end="27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73091">
                                            <p:txEl>
                                              <p:charRg st="275" end="284"/>
                                            </p:txEl>
                                          </p:spTgt>
                                        </p:tgtEl>
                                        <p:attrNameLst>
                                          <p:attrName>style.visibility</p:attrName>
                                        </p:attrNameLst>
                                      </p:cBhvr>
                                      <p:to>
                                        <p:strVal val="visible"/>
                                      </p:to>
                                    </p:set>
                                    <p:animEffect transition="in" filter="blinds(horizontal)">
                                      <p:cBhvr>
                                        <p:cTn id="26" dur="500"/>
                                        <p:tgtEl>
                                          <p:spTgt spid="473091">
                                            <p:txEl>
                                              <p:charRg st="275" end="28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73091">
                                            <p:txEl>
                                              <p:charRg st="284" end="298"/>
                                            </p:txEl>
                                          </p:spTgt>
                                        </p:tgtEl>
                                        <p:attrNameLst>
                                          <p:attrName>style.visibility</p:attrName>
                                        </p:attrNameLst>
                                      </p:cBhvr>
                                      <p:to>
                                        <p:strVal val="visible"/>
                                      </p:to>
                                    </p:set>
                                    <p:animEffect transition="in" filter="blinds(horizontal)">
                                      <p:cBhvr>
                                        <p:cTn id="31" dur="500"/>
                                        <p:tgtEl>
                                          <p:spTgt spid="473091">
                                            <p:txEl>
                                              <p:charRg st="284" end="298"/>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473091">
                                            <p:txEl>
                                              <p:charRg st="298" end="315"/>
                                            </p:txEl>
                                          </p:spTgt>
                                        </p:tgtEl>
                                        <p:attrNameLst>
                                          <p:attrName>style.visibility</p:attrName>
                                        </p:attrNameLst>
                                      </p:cBhvr>
                                      <p:to>
                                        <p:strVal val="visible"/>
                                      </p:to>
                                    </p:set>
                                    <p:animEffect transition="in" filter="blinds(horizontal)">
                                      <p:cBhvr>
                                        <p:cTn id="34" dur="500"/>
                                        <p:tgtEl>
                                          <p:spTgt spid="473091">
                                            <p:txEl>
                                              <p:charRg st="298" end="315"/>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473091">
                                            <p:txEl>
                                              <p:charRg st="315" end="324"/>
                                            </p:txEl>
                                          </p:spTgt>
                                        </p:tgtEl>
                                        <p:attrNameLst>
                                          <p:attrName>style.visibility</p:attrName>
                                        </p:attrNameLst>
                                      </p:cBhvr>
                                      <p:to>
                                        <p:strVal val="visible"/>
                                      </p:to>
                                    </p:set>
                                    <p:animEffect transition="in" filter="blinds(horizontal)">
                                      <p:cBhvr>
                                        <p:cTn id="37" dur="500"/>
                                        <p:tgtEl>
                                          <p:spTgt spid="473091">
                                            <p:txEl>
                                              <p:charRg st="315" end="32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73091">
                                            <p:txEl>
                                              <p:charRg st="324" end="338"/>
                                            </p:txEl>
                                          </p:spTgt>
                                        </p:tgtEl>
                                        <p:attrNameLst>
                                          <p:attrName>style.visibility</p:attrName>
                                        </p:attrNameLst>
                                      </p:cBhvr>
                                      <p:to>
                                        <p:strVal val="visible"/>
                                      </p:to>
                                    </p:set>
                                    <p:animEffect transition="in" filter="blinds(horizontal)">
                                      <p:cBhvr>
                                        <p:cTn id="42" dur="500"/>
                                        <p:tgtEl>
                                          <p:spTgt spid="473091">
                                            <p:txEl>
                                              <p:charRg st="324" end="338"/>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473091">
                                            <p:txEl>
                                              <p:charRg st="338" end="355"/>
                                            </p:txEl>
                                          </p:spTgt>
                                        </p:tgtEl>
                                        <p:attrNameLst>
                                          <p:attrName>style.visibility</p:attrName>
                                        </p:attrNameLst>
                                      </p:cBhvr>
                                      <p:to>
                                        <p:strVal val="visible"/>
                                      </p:to>
                                    </p:set>
                                    <p:animEffect transition="in" filter="blinds(horizontal)">
                                      <p:cBhvr>
                                        <p:cTn id="45" dur="500"/>
                                        <p:tgtEl>
                                          <p:spTgt spid="473091">
                                            <p:txEl>
                                              <p:charRg st="338" end="355"/>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473091">
                                            <p:txEl>
                                              <p:charRg st="355" end="371"/>
                                            </p:txEl>
                                          </p:spTgt>
                                        </p:tgtEl>
                                        <p:attrNameLst>
                                          <p:attrName>style.visibility</p:attrName>
                                        </p:attrNameLst>
                                      </p:cBhvr>
                                      <p:to>
                                        <p:strVal val="visible"/>
                                      </p:to>
                                    </p:set>
                                    <p:animEffect transition="in" filter="blinds(horizontal)">
                                      <p:cBhvr>
                                        <p:cTn id="48" dur="500"/>
                                        <p:tgtEl>
                                          <p:spTgt spid="473091">
                                            <p:txEl>
                                              <p:charRg st="355" end="3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补码两位乘法举例</a:t>
            </a:r>
            <a:endParaRPr lang="en-US" altLang="zh-CN" dirty="0">
              <a:ea typeface="宋体" panose="02010600030101010101" pitchFamily="2" charset="-122"/>
            </a:endParaRPr>
          </a:p>
        </p:txBody>
      </p:sp>
      <p:sp>
        <p:nvSpPr>
          <p:cNvPr id="68610" name="Rectangle 3"/>
          <p:cNvSpPr>
            <a:spLocks noGrp="1"/>
          </p:cNvSpPr>
          <p:nvPr>
            <p:ph idx="1"/>
          </p:nvPr>
        </p:nvSpPr>
        <p:spPr>
          <a:xfrm>
            <a:off x="444500" y="889000"/>
            <a:ext cx="8191500" cy="4713288"/>
          </a:xfrm>
          <a:ln/>
        </p:spPr>
        <p:txBody>
          <a:bodyPr vert="horz" wrap="square" lIns="63500" tIns="25400" rIns="63500" bIns="25400" anchor="t" anchorCtr="0">
            <a:spAutoFit/>
          </a:bodyPr>
          <a:p>
            <a:r>
              <a:rPr lang="zh-CN" altLang="en-US" sz="2000" dirty="0">
                <a:ea typeface="黑体" panose="02010609060101010101" pitchFamily="49" charset="-122"/>
              </a:rPr>
              <a:t>已知 </a:t>
            </a:r>
            <a:r>
              <a:rPr lang="en-US" altLang="zh-CN" sz="2000" dirty="0">
                <a:ea typeface="黑体" panose="02010609060101010101" pitchFamily="49" charset="-122"/>
              </a:rPr>
              <a:t>[X]</a:t>
            </a:r>
            <a:r>
              <a:rPr lang="zh-CN" altLang="en-US" sz="2000" baseline="-25000" dirty="0">
                <a:ea typeface="黑体" panose="02010609060101010101" pitchFamily="49" charset="-122"/>
              </a:rPr>
              <a:t>补</a:t>
            </a:r>
            <a:r>
              <a:rPr lang="zh-CN" altLang="en-US" sz="2000" dirty="0">
                <a:ea typeface="黑体" panose="02010609060101010101" pitchFamily="49" charset="-122"/>
              </a:rPr>
              <a:t> </a:t>
            </a:r>
            <a:r>
              <a:rPr lang="en-US" altLang="zh-CN" sz="2000" dirty="0">
                <a:ea typeface="黑体" panose="02010609060101010101" pitchFamily="49" charset="-122"/>
              </a:rPr>
              <a:t>= 1 101</a:t>
            </a:r>
            <a:r>
              <a:rPr lang="zh-CN" altLang="en-US" sz="2000" dirty="0">
                <a:ea typeface="黑体" panose="02010609060101010101" pitchFamily="49" charset="-122"/>
              </a:rPr>
              <a:t>， </a:t>
            </a:r>
            <a:r>
              <a:rPr lang="en-US" altLang="zh-CN" sz="2000" dirty="0">
                <a:ea typeface="黑体" panose="02010609060101010101" pitchFamily="49" charset="-122"/>
              </a:rPr>
              <a:t>[Y]</a:t>
            </a:r>
            <a:r>
              <a:rPr lang="zh-CN" altLang="en-US" sz="2000" baseline="-25000" dirty="0">
                <a:ea typeface="黑体" panose="02010609060101010101" pitchFamily="49" charset="-122"/>
              </a:rPr>
              <a:t>补</a:t>
            </a:r>
            <a:r>
              <a:rPr lang="zh-CN" altLang="en-US" sz="2000" dirty="0">
                <a:ea typeface="黑体" panose="02010609060101010101" pitchFamily="49" charset="-122"/>
              </a:rPr>
              <a:t> </a:t>
            </a:r>
            <a:r>
              <a:rPr lang="en-US" altLang="zh-CN" sz="2000" dirty="0">
                <a:ea typeface="黑体" panose="02010609060101010101" pitchFamily="49" charset="-122"/>
              </a:rPr>
              <a:t>= 0 110</a:t>
            </a:r>
            <a:r>
              <a:rPr lang="zh-CN" altLang="en-US" sz="2000" dirty="0">
                <a:ea typeface="黑体" panose="02010609060101010101" pitchFamily="49" charset="-122"/>
              </a:rPr>
              <a:t>，用补码两位乘法计算</a:t>
            </a:r>
            <a:r>
              <a:rPr lang="en-US" altLang="zh-CN" sz="2000" dirty="0">
                <a:ea typeface="黑体" panose="02010609060101010101" pitchFamily="49" charset="-122"/>
              </a:rPr>
              <a:t>[X×Y]</a:t>
            </a:r>
            <a:r>
              <a:rPr lang="zh-CN" altLang="en-US" sz="2000" baseline="-25000" dirty="0">
                <a:ea typeface="黑体" panose="02010609060101010101" pitchFamily="49" charset="-122"/>
              </a:rPr>
              <a:t>补</a:t>
            </a:r>
            <a:r>
              <a:rPr lang="zh-CN" altLang="en-US" sz="2000" dirty="0">
                <a:ea typeface="黑体" panose="02010609060101010101" pitchFamily="49" charset="-122"/>
              </a:rPr>
              <a:t>。</a:t>
            </a:r>
            <a:endParaRPr lang="zh-CN" altLang="en-US" sz="2000" dirty="0">
              <a:ea typeface="黑体" panose="02010609060101010101" pitchFamily="49" charset="-122"/>
            </a:endParaRPr>
          </a:p>
          <a:p>
            <a:r>
              <a:rPr lang="zh-CN" altLang="en-US" sz="2000" dirty="0">
                <a:ea typeface="黑体" panose="02010609060101010101" pitchFamily="49" charset="-122"/>
              </a:rPr>
              <a:t>解：</a:t>
            </a:r>
            <a:r>
              <a:rPr lang="en-US" altLang="zh-CN" sz="2000" dirty="0">
                <a:ea typeface="黑体" panose="02010609060101010101" pitchFamily="49" charset="-122"/>
              </a:rPr>
              <a:t>[–X]</a:t>
            </a:r>
            <a:r>
              <a:rPr lang="zh-CN" altLang="en-US" sz="2000" baseline="-25000" dirty="0">
                <a:ea typeface="黑体" panose="02010609060101010101" pitchFamily="49" charset="-122"/>
              </a:rPr>
              <a:t>补</a:t>
            </a:r>
            <a:r>
              <a:rPr lang="en-US" altLang="zh-CN" sz="2000" dirty="0">
                <a:ea typeface="黑体" panose="02010609060101010101" pitchFamily="49" charset="-122"/>
              </a:rPr>
              <a:t>= 0 011</a:t>
            </a:r>
            <a:r>
              <a:rPr lang="zh-CN" altLang="en-US" sz="2000" dirty="0">
                <a:ea typeface="黑体" panose="02010609060101010101" pitchFamily="49" charset="-122"/>
              </a:rPr>
              <a:t>，用补码二位乘法计算</a:t>
            </a:r>
            <a:r>
              <a:rPr lang="en-US" altLang="zh-CN" sz="2000" dirty="0">
                <a:ea typeface="黑体" panose="02010609060101010101" pitchFamily="49" charset="-122"/>
              </a:rPr>
              <a:t>[X×Y]</a:t>
            </a:r>
            <a:r>
              <a:rPr lang="zh-CN" altLang="en-US" sz="2000" baseline="-25000" dirty="0">
                <a:ea typeface="黑体" panose="02010609060101010101" pitchFamily="49" charset="-122"/>
              </a:rPr>
              <a:t>补</a:t>
            </a:r>
            <a:r>
              <a:rPr lang="zh-CN" altLang="en-US" sz="2000" dirty="0">
                <a:ea typeface="黑体" panose="02010609060101010101" pitchFamily="49" charset="-122"/>
              </a:rPr>
              <a:t>的过程如下。</a:t>
            </a:r>
            <a:endParaRPr lang="zh-CN" altLang="en-US" sz="2000" dirty="0">
              <a:ea typeface="黑体" panose="02010609060101010101" pitchFamily="49" charset="-122"/>
            </a:endParaRPr>
          </a:p>
          <a:p>
            <a:pPr>
              <a:buNone/>
            </a:pPr>
            <a:r>
              <a:rPr lang="zh-CN" altLang="en-US" dirty="0">
                <a:ea typeface="黑体" panose="02010609060101010101" pitchFamily="49" charset="-122"/>
              </a:rPr>
              <a:t>        </a:t>
            </a:r>
            <a:r>
              <a:rPr lang="en-US" altLang="zh-CN" sz="2000" dirty="0">
                <a:solidFill>
                  <a:schemeClr val="accent2"/>
                </a:solidFill>
                <a:ea typeface="黑体" panose="02010609060101010101" pitchFamily="49" charset="-122"/>
              </a:rPr>
              <a:t>P</a:t>
            </a:r>
            <a:r>
              <a:rPr lang="en-US" altLang="zh-CN" sz="2000" baseline="-25000" dirty="0">
                <a:solidFill>
                  <a:schemeClr val="accent2"/>
                </a:solidFill>
                <a:ea typeface="黑体" panose="02010609060101010101" pitchFamily="49" charset="-122"/>
              </a:rPr>
              <a:t>n</a:t>
            </a:r>
            <a:r>
              <a:rPr lang="en-US" altLang="zh-CN" sz="2000" dirty="0">
                <a:solidFill>
                  <a:schemeClr val="accent2"/>
                </a:solidFill>
                <a:ea typeface="黑体" panose="02010609060101010101" pitchFamily="49" charset="-122"/>
              </a:rPr>
              <a:t>     P               Y       y</a:t>
            </a:r>
            <a:r>
              <a:rPr lang="en-US" altLang="zh-CN" sz="2000" baseline="-25000" dirty="0">
                <a:solidFill>
                  <a:schemeClr val="accent2"/>
                </a:solidFill>
                <a:ea typeface="黑体" panose="02010609060101010101" pitchFamily="49" charset="-122"/>
              </a:rPr>
              <a:t>-1</a:t>
            </a:r>
            <a:r>
              <a:rPr lang="en-US" altLang="zh-CN" sz="2000" dirty="0">
                <a:solidFill>
                  <a:schemeClr val="accent2"/>
                </a:solidFill>
                <a:ea typeface="黑体" panose="02010609060101010101" pitchFamily="49" charset="-122"/>
              </a:rPr>
              <a:t>              </a:t>
            </a:r>
            <a:r>
              <a:rPr lang="zh-CN" altLang="en-US" sz="2000" dirty="0">
                <a:solidFill>
                  <a:schemeClr val="accent2"/>
                </a:solidFill>
                <a:ea typeface="黑体" panose="02010609060101010101" pitchFamily="49" charset="-122"/>
              </a:rPr>
              <a:t>说明     </a:t>
            </a:r>
            <a:endParaRPr lang="zh-CN" altLang="en-US" sz="2000" dirty="0">
              <a:solidFill>
                <a:schemeClr val="accent2"/>
              </a:solidFill>
              <a:ea typeface="黑体" panose="02010609060101010101" pitchFamily="49" charset="-122"/>
            </a:endParaRPr>
          </a:p>
          <a:p>
            <a:pPr>
              <a:buNone/>
            </a:pPr>
            <a:r>
              <a:rPr lang="zh-CN" altLang="en-US" sz="2000" dirty="0">
                <a:solidFill>
                  <a:schemeClr val="accent2"/>
                </a:solidFill>
                <a:ea typeface="黑体" panose="02010609060101010101" pitchFamily="49" charset="-122"/>
              </a:rPr>
              <a:t>        </a:t>
            </a:r>
            <a:r>
              <a:rPr lang="en-US" altLang="zh-CN" sz="2000" dirty="0">
                <a:solidFill>
                  <a:srgbClr val="CC3300"/>
                </a:solidFill>
                <a:ea typeface="黑体" panose="02010609060101010101" pitchFamily="49" charset="-122"/>
              </a:rPr>
              <a:t>0</a:t>
            </a:r>
            <a:r>
              <a:rPr lang="en-US" altLang="zh-CN" sz="2000" dirty="0">
                <a:solidFill>
                  <a:schemeClr val="accent2"/>
                </a:solidFill>
                <a:ea typeface="黑体" panose="02010609060101010101" pitchFamily="49" charset="-122"/>
              </a:rPr>
              <a:t>  0 0 0 0      0 1 1 0     </a:t>
            </a:r>
            <a:r>
              <a:rPr lang="en-US" altLang="zh-CN" sz="2000" dirty="0">
                <a:solidFill>
                  <a:srgbClr val="CC3300"/>
                </a:solidFill>
                <a:ea typeface="黑体" panose="02010609060101010101" pitchFamily="49" charset="-122"/>
              </a:rPr>
              <a:t>0</a:t>
            </a:r>
            <a:r>
              <a:rPr lang="en-US" altLang="zh-CN" sz="2000" dirty="0">
                <a:solidFill>
                  <a:schemeClr val="accent2"/>
                </a:solidFill>
                <a:ea typeface="黑体" panose="02010609060101010101" pitchFamily="49" charset="-122"/>
              </a:rPr>
              <a:t>            </a:t>
            </a:r>
            <a:r>
              <a:rPr lang="zh-CN" altLang="en-US" sz="2000" dirty="0">
                <a:solidFill>
                  <a:schemeClr val="accent2"/>
                </a:solidFill>
                <a:ea typeface="黑体" panose="02010609060101010101" pitchFamily="49" charset="-122"/>
              </a:rPr>
              <a:t>开始，设</a:t>
            </a:r>
            <a:r>
              <a:rPr lang="en-US" altLang="zh-CN" sz="2000" dirty="0">
                <a:solidFill>
                  <a:schemeClr val="accent2"/>
                </a:solidFill>
                <a:ea typeface="黑体" panose="02010609060101010101" pitchFamily="49" charset="-122"/>
              </a:rPr>
              <a:t>y</a:t>
            </a:r>
            <a:r>
              <a:rPr lang="en-US" altLang="zh-CN" sz="2000" baseline="-25000" dirty="0">
                <a:solidFill>
                  <a:schemeClr val="accent2"/>
                </a:solidFill>
                <a:ea typeface="黑体" panose="02010609060101010101" pitchFamily="49" charset="-122"/>
              </a:rPr>
              <a:t>-1</a:t>
            </a:r>
            <a:r>
              <a:rPr lang="en-US" altLang="zh-CN" sz="2000" dirty="0">
                <a:solidFill>
                  <a:schemeClr val="accent2"/>
                </a:solidFill>
                <a:ea typeface="黑体" panose="02010609060101010101" pitchFamily="49" charset="-122"/>
              </a:rPr>
              <a:t> = 0</a:t>
            </a:r>
            <a:r>
              <a:rPr lang="zh-CN" altLang="en-US" sz="2000" dirty="0">
                <a:solidFill>
                  <a:schemeClr val="accent2"/>
                </a:solidFill>
                <a:ea typeface="黑体" panose="02010609060101010101" pitchFamily="49" charset="-122"/>
              </a:rPr>
              <a:t>，</a:t>
            </a:r>
            <a:r>
              <a:rPr lang="en-US" altLang="zh-CN" sz="2000" dirty="0">
                <a:solidFill>
                  <a:schemeClr val="accent2"/>
                </a:solidFill>
                <a:ea typeface="黑体" panose="02010609060101010101" pitchFamily="49" charset="-122"/>
              </a:rPr>
              <a:t>[P</a:t>
            </a:r>
            <a:r>
              <a:rPr lang="en-US" altLang="zh-CN" sz="2000" baseline="-25000" dirty="0">
                <a:solidFill>
                  <a:schemeClr val="accent2"/>
                </a:solidFill>
                <a:ea typeface="黑体" panose="02010609060101010101" pitchFamily="49" charset="-122"/>
              </a:rPr>
              <a:t>0</a:t>
            </a:r>
            <a:r>
              <a:rPr lang="en-US" altLang="zh-CN" sz="2000" dirty="0">
                <a:solidFill>
                  <a:schemeClr val="accent2"/>
                </a:solidFill>
                <a:ea typeface="黑体" panose="02010609060101010101" pitchFamily="49" charset="-122"/>
              </a:rPr>
              <a:t>]</a:t>
            </a:r>
            <a:r>
              <a:rPr lang="zh-CN" altLang="en-US" sz="2000" baseline="-25000" dirty="0">
                <a:solidFill>
                  <a:schemeClr val="accent2"/>
                </a:solidFill>
                <a:ea typeface="黑体" panose="02010609060101010101" pitchFamily="49" charset="-122"/>
              </a:rPr>
              <a:t>补</a:t>
            </a:r>
            <a:r>
              <a:rPr lang="zh-CN" altLang="en-US" sz="2000" dirty="0">
                <a:solidFill>
                  <a:schemeClr val="accent2"/>
                </a:solidFill>
                <a:ea typeface="黑体" panose="02010609060101010101" pitchFamily="49" charset="-122"/>
              </a:rPr>
              <a:t> </a:t>
            </a:r>
            <a:r>
              <a:rPr lang="en-US" altLang="zh-CN" sz="2000" dirty="0">
                <a:solidFill>
                  <a:schemeClr val="accent2"/>
                </a:solidFill>
                <a:ea typeface="黑体" panose="02010609060101010101" pitchFamily="49" charset="-122"/>
              </a:rPr>
              <a:t>= 0</a:t>
            </a:r>
            <a:endParaRPr lang="en-US" altLang="zh-CN" sz="2000" dirty="0">
              <a:solidFill>
                <a:schemeClr val="accent2"/>
              </a:solidFill>
              <a:ea typeface="黑体" panose="02010609060101010101" pitchFamily="49" charset="-122"/>
            </a:endParaRPr>
          </a:p>
          <a:p>
            <a:pPr>
              <a:buNone/>
            </a:pPr>
            <a:r>
              <a:rPr lang="en-US" altLang="zh-CN" sz="2000" dirty="0">
                <a:solidFill>
                  <a:schemeClr val="accent2"/>
                </a:solidFill>
                <a:ea typeface="黑体" panose="02010609060101010101" pitchFamily="49" charset="-122"/>
              </a:rPr>
              <a:t>     + 0  0 1 1 0                                    y</a:t>
            </a:r>
            <a:r>
              <a:rPr lang="en-US" altLang="zh-CN" sz="2000" baseline="-25000" dirty="0">
                <a:solidFill>
                  <a:schemeClr val="accent2"/>
                </a:solidFill>
                <a:ea typeface="黑体" panose="02010609060101010101" pitchFamily="49" charset="-122"/>
              </a:rPr>
              <a:t>1</a:t>
            </a:r>
            <a:r>
              <a:rPr lang="en-US" altLang="zh-CN" sz="2000" dirty="0">
                <a:solidFill>
                  <a:schemeClr val="accent2"/>
                </a:solidFill>
                <a:ea typeface="黑体" panose="02010609060101010101" pitchFamily="49" charset="-122"/>
              </a:rPr>
              <a:t>y</a:t>
            </a:r>
            <a:r>
              <a:rPr lang="en-US" altLang="zh-CN" sz="2000" baseline="-25000" dirty="0">
                <a:solidFill>
                  <a:schemeClr val="accent2"/>
                </a:solidFill>
                <a:ea typeface="黑体" panose="02010609060101010101" pitchFamily="49" charset="-122"/>
              </a:rPr>
              <a:t>0</a:t>
            </a:r>
            <a:r>
              <a:rPr lang="en-US" altLang="zh-CN" sz="2000" dirty="0">
                <a:solidFill>
                  <a:schemeClr val="accent2"/>
                </a:solidFill>
                <a:ea typeface="黑体" panose="02010609060101010101" pitchFamily="49" charset="-122"/>
              </a:rPr>
              <a:t>y</a:t>
            </a:r>
            <a:r>
              <a:rPr lang="en-US" altLang="zh-CN" sz="2000" baseline="-25000" dirty="0">
                <a:solidFill>
                  <a:schemeClr val="accent2"/>
                </a:solidFill>
                <a:ea typeface="黑体" panose="02010609060101010101" pitchFamily="49" charset="-122"/>
              </a:rPr>
              <a:t>-1</a:t>
            </a:r>
            <a:r>
              <a:rPr lang="en-US" altLang="zh-CN" sz="2000" dirty="0">
                <a:solidFill>
                  <a:schemeClr val="accent2"/>
                </a:solidFill>
                <a:ea typeface="黑体" panose="02010609060101010101" pitchFamily="49" charset="-122"/>
              </a:rPr>
              <a:t> =100</a:t>
            </a:r>
            <a:r>
              <a:rPr lang="zh-CN" altLang="en-US" sz="2000" dirty="0">
                <a:solidFill>
                  <a:schemeClr val="accent2"/>
                </a:solidFill>
                <a:ea typeface="黑体" panose="02010609060101010101" pitchFamily="49" charset="-122"/>
              </a:rPr>
              <a:t>，</a:t>
            </a:r>
            <a:r>
              <a:rPr lang="en-US" altLang="zh-CN" sz="2000" dirty="0">
                <a:solidFill>
                  <a:schemeClr val="accent2"/>
                </a:solidFill>
                <a:ea typeface="黑体" panose="02010609060101010101" pitchFamily="49" charset="-122"/>
              </a:rPr>
              <a:t>+2[-X]</a:t>
            </a:r>
            <a:r>
              <a:rPr lang="zh-CN" altLang="en-US" sz="2000" baseline="-25000" dirty="0">
                <a:solidFill>
                  <a:schemeClr val="accent2"/>
                </a:solidFill>
                <a:ea typeface="黑体" panose="02010609060101010101" pitchFamily="49" charset="-122"/>
              </a:rPr>
              <a:t>补</a:t>
            </a:r>
            <a:endParaRPr lang="zh-CN" altLang="en-US" sz="2000" dirty="0">
              <a:solidFill>
                <a:schemeClr val="accent2"/>
              </a:solidFill>
              <a:ea typeface="黑体" panose="02010609060101010101" pitchFamily="49" charset="-122"/>
            </a:endParaRPr>
          </a:p>
          <a:p>
            <a:pPr>
              <a:buNone/>
            </a:pPr>
            <a:r>
              <a:rPr lang="en-US" altLang="zh-CN" sz="2000" dirty="0">
                <a:solidFill>
                  <a:schemeClr val="accent2"/>
                </a:solidFill>
                <a:ea typeface="黑体" panose="02010609060101010101" pitchFamily="49" charset="-122"/>
              </a:rPr>
              <a:t>        0  0 1 1 0                                    P</a:t>
            </a:r>
            <a:r>
              <a:rPr lang="zh-CN" altLang="en-US" sz="2000" dirty="0">
                <a:solidFill>
                  <a:schemeClr val="accent2"/>
                </a:solidFill>
                <a:ea typeface="黑体" panose="02010609060101010101" pitchFamily="49" charset="-122"/>
              </a:rPr>
              <a:t>和</a:t>
            </a:r>
            <a:r>
              <a:rPr lang="en-US" altLang="zh-CN" sz="2000" dirty="0">
                <a:solidFill>
                  <a:schemeClr val="accent2"/>
                </a:solidFill>
                <a:ea typeface="黑体" panose="02010609060101010101" pitchFamily="49" charset="-122"/>
              </a:rPr>
              <a:t>Y</a:t>
            </a:r>
            <a:r>
              <a:rPr lang="zh-CN" altLang="en-US" sz="2000" dirty="0">
                <a:solidFill>
                  <a:schemeClr val="accent2"/>
                </a:solidFill>
                <a:ea typeface="黑体" panose="02010609060101010101" pitchFamily="49" charset="-122"/>
              </a:rPr>
              <a:t>同时右移二位 </a:t>
            </a:r>
            <a:endParaRPr lang="zh-CN" altLang="en-US" sz="2000" dirty="0">
              <a:solidFill>
                <a:schemeClr val="accent2"/>
              </a:solidFill>
              <a:ea typeface="黑体" panose="02010609060101010101" pitchFamily="49" charset="-122"/>
            </a:endParaRPr>
          </a:p>
          <a:p>
            <a:pPr>
              <a:buNone/>
            </a:pPr>
            <a:r>
              <a:rPr lang="en-US" altLang="zh-CN" sz="2000" dirty="0">
                <a:solidFill>
                  <a:schemeClr val="accent2"/>
                </a:solidFill>
                <a:ea typeface="黑体" panose="02010609060101010101" pitchFamily="49" charset="-122"/>
              </a:rPr>
              <a:t>        0  0 0 0 1      1 0 0 1     1            </a:t>
            </a:r>
            <a:r>
              <a:rPr lang="zh-CN" altLang="en-US" sz="2000" dirty="0">
                <a:solidFill>
                  <a:schemeClr val="accent2"/>
                </a:solidFill>
                <a:ea typeface="黑体" panose="02010609060101010101" pitchFamily="49" charset="-122"/>
              </a:rPr>
              <a:t>得</a:t>
            </a:r>
            <a:r>
              <a:rPr lang="en-US" altLang="zh-CN" sz="2000" dirty="0">
                <a:solidFill>
                  <a:schemeClr val="accent2"/>
                </a:solidFill>
                <a:ea typeface="黑体" panose="02010609060101010101" pitchFamily="49" charset="-122"/>
              </a:rPr>
              <a:t>[P</a:t>
            </a:r>
            <a:r>
              <a:rPr lang="en-US" altLang="zh-CN" sz="2000" baseline="-25000" dirty="0">
                <a:solidFill>
                  <a:schemeClr val="accent2"/>
                </a:solidFill>
                <a:ea typeface="黑体" panose="02010609060101010101" pitchFamily="49" charset="-122"/>
              </a:rPr>
              <a:t>2</a:t>
            </a:r>
            <a:r>
              <a:rPr lang="en-US" altLang="zh-CN" sz="2000" dirty="0">
                <a:solidFill>
                  <a:schemeClr val="accent2"/>
                </a:solidFill>
                <a:ea typeface="黑体" panose="02010609060101010101" pitchFamily="49" charset="-122"/>
              </a:rPr>
              <a:t>]</a:t>
            </a:r>
            <a:r>
              <a:rPr lang="zh-CN" altLang="en-US" sz="2000" baseline="-25000" dirty="0">
                <a:solidFill>
                  <a:schemeClr val="accent2"/>
                </a:solidFill>
                <a:ea typeface="黑体" panose="02010609060101010101" pitchFamily="49" charset="-122"/>
              </a:rPr>
              <a:t>补</a:t>
            </a:r>
            <a:endParaRPr lang="zh-CN" altLang="en-US" sz="2000" dirty="0">
              <a:solidFill>
                <a:schemeClr val="accent2"/>
              </a:solidFill>
              <a:ea typeface="黑体" panose="02010609060101010101" pitchFamily="49" charset="-122"/>
            </a:endParaRPr>
          </a:p>
          <a:p>
            <a:pPr>
              <a:buNone/>
            </a:pPr>
            <a:r>
              <a:rPr lang="en-US" altLang="zh-CN" sz="2000" dirty="0">
                <a:solidFill>
                  <a:schemeClr val="accent2"/>
                </a:solidFill>
                <a:ea typeface="黑体" panose="02010609060101010101" pitchFamily="49" charset="-122"/>
              </a:rPr>
              <a:t>     + 1  1 0 1 0                                    y</a:t>
            </a:r>
            <a:r>
              <a:rPr lang="en-US" altLang="zh-CN" sz="2000" baseline="-25000" dirty="0">
                <a:solidFill>
                  <a:schemeClr val="accent2"/>
                </a:solidFill>
                <a:ea typeface="黑体" panose="02010609060101010101" pitchFamily="49" charset="-122"/>
              </a:rPr>
              <a:t>3</a:t>
            </a:r>
            <a:r>
              <a:rPr lang="en-US" altLang="zh-CN" sz="2000" dirty="0">
                <a:solidFill>
                  <a:schemeClr val="accent2"/>
                </a:solidFill>
                <a:ea typeface="黑体" panose="02010609060101010101" pitchFamily="49" charset="-122"/>
              </a:rPr>
              <a:t>y</a:t>
            </a:r>
            <a:r>
              <a:rPr lang="en-US" altLang="zh-CN" sz="2000" baseline="-25000" dirty="0">
                <a:solidFill>
                  <a:schemeClr val="accent2"/>
                </a:solidFill>
                <a:ea typeface="黑体" panose="02010609060101010101" pitchFamily="49" charset="-122"/>
              </a:rPr>
              <a:t>2</a:t>
            </a:r>
            <a:r>
              <a:rPr lang="en-US" altLang="zh-CN" sz="2000" dirty="0">
                <a:solidFill>
                  <a:schemeClr val="accent2"/>
                </a:solidFill>
                <a:ea typeface="黑体" panose="02010609060101010101" pitchFamily="49" charset="-122"/>
              </a:rPr>
              <a:t>y</a:t>
            </a:r>
            <a:r>
              <a:rPr lang="en-US" altLang="zh-CN" sz="2000" baseline="-25000" dirty="0">
                <a:solidFill>
                  <a:schemeClr val="accent2"/>
                </a:solidFill>
                <a:ea typeface="黑体" panose="02010609060101010101" pitchFamily="49" charset="-122"/>
              </a:rPr>
              <a:t>1</a:t>
            </a:r>
            <a:r>
              <a:rPr lang="en-US" altLang="zh-CN" sz="2000" dirty="0">
                <a:solidFill>
                  <a:schemeClr val="accent2"/>
                </a:solidFill>
                <a:ea typeface="黑体" panose="02010609060101010101" pitchFamily="49" charset="-122"/>
              </a:rPr>
              <a:t> = 011</a:t>
            </a:r>
            <a:r>
              <a:rPr lang="zh-CN" altLang="en-US" sz="2000" dirty="0">
                <a:solidFill>
                  <a:schemeClr val="accent2"/>
                </a:solidFill>
                <a:ea typeface="黑体" panose="02010609060101010101" pitchFamily="49" charset="-122"/>
              </a:rPr>
              <a:t>，</a:t>
            </a:r>
            <a:r>
              <a:rPr lang="en-US" altLang="zh-CN" sz="2000" dirty="0">
                <a:solidFill>
                  <a:schemeClr val="accent2"/>
                </a:solidFill>
                <a:ea typeface="黑体" panose="02010609060101010101" pitchFamily="49" charset="-122"/>
              </a:rPr>
              <a:t>+2[X]</a:t>
            </a:r>
            <a:r>
              <a:rPr lang="zh-CN" altLang="en-US" sz="2000" baseline="-25000" dirty="0">
                <a:solidFill>
                  <a:schemeClr val="accent2"/>
                </a:solidFill>
                <a:ea typeface="黑体" panose="02010609060101010101" pitchFamily="49" charset="-122"/>
              </a:rPr>
              <a:t>补</a:t>
            </a:r>
            <a:endParaRPr lang="zh-CN" altLang="en-US" sz="2000" dirty="0">
              <a:solidFill>
                <a:schemeClr val="accent2"/>
              </a:solidFill>
              <a:ea typeface="黑体" panose="02010609060101010101" pitchFamily="49" charset="-122"/>
            </a:endParaRPr>
          </a:p>
          <a:p>
            <a:pPr>
              <a:buNone/>
            </a:pPr>
            <a:r>
              <a:rPr lang="en-US" altLang="zh-CN" sz="2000" dirty="0">
                <a:solidFill>
                  <a:schemeClr val="accent2"/>
                </a:solidFill>
                <a:ea typeface="黑体" panose="02010609060101010101" pitchFamily="49" charset="-122"/>
              </a:rPr>
              <a:t>        1  1 0 1 1                                    P</a:t>
            </a:r>
            <a:r>
              <a:rPr lang="zh-CN" altLang="en-US" sz="2000" dirty="0">
                <a:solidFill>
                  <a:schemeClr val="accent2"/>
                </a:solidFill>
                <a:ea typeface="黑体" panose="02010609060101010101" pitchFamily="49" charset="-122"/>
              </a:rPr>
              <a:t>和</a:t>
            </a:r>
            <a:r>
              <a:rPr lang="en-US" altLang="zh-CN" sz="2000" dirty="0">
                <a:solidFill>
                  <a:schemeClr val="accent2"/>
                </a:solidFill>
                <a:ea typeface="黑体" panose="02010609060101010101" pitchFamily="49" charset="-122"/>
              </a:rPr>
              <a:t>Y</a:t>
            </a:r>
            <a:r>
              <a:rPr lang="zh-CN" altLang="en-US" sz="2000" dirty="0">
                <a:solidFill>
                  <a:schemeClr val="accent2"/>
                </a:solidFill>
                <a:ea typeface="黑体" panose="02010609060101010101" pitchFamily="49" charset="-122"/>
              </a:rPr>
              <a:t>同时右移二位</a:t>
            </a:r>
            <a:endParaRPr lang="zh-CN" altLang="en-US" sz="2000" dirty="0">
              <a:solidFill>
                <a:schemeClr val="accent2"/>
              </a:solidFill>
              <a:ea typeface="黑体" panose="02010609060101010101" pitchFamily="49" charset="-122"/>
            </a:endParaRPr>
          </a:p>
          <a:p>
            <a:pPr>
              <a:buNone/>
            </a:pPr>
            <a:r>
              <a:rPr lang="en-US" altLang="zh-CN" sz="2000" dirty="0">
                <a:solidFill>
                  <a:schemeClr val="accent2"/>
                </a:solidFill>
                <a:ea typeface="黑体" panose="02010609060101010101" pitchFamily="49" charset="-122"/>
              </a:rPr>
              <a:t>        1  1 1 1 0      1 1 1 0                   </a:t>
            </a:r>
            <a:r>
              <a:rPr lang="zh-CN" altLang="en-US" sz="2000" dirty="0">
                <a:solidFill>
                  <a:schemeClr val="accent2"/>
                </a:solidFill>
                <a:ea typeface="黑体" panose="02010609060101010101" pitchFamily="49" charset="-122"/>
              </a:rPr>
              <a:t>得</a:t>
            </a:r>
            <a:r>
              <a:rPr lang="en-US" altLang="zh-CN" sz="2000" dirty="0">
                <a:solidFill>
                  <a:schemeClr val="accent2"/>
                </a:solidFill>
                <a:ea typeface="黑体" panose="02010609060101010101" pitchFamily="49" charset="-122"/>
              </a:rPr>
              <a:t>[P</a:t>
            </a:r>
            <a:r>
              <a:rPr lang="en-US" altLang="zh-CN" sz="2000" baseline="-25000" dirty="0">
                <a:solidFill>
                  <a:schemeClr val="accent2"/>
                </a:solidFill>
                <a:ea typeface="黑体" panose="02010609060101010101" pitchFamily="49" charset="-122"/>
              </a:rPr>
              <a:t>4</a:t>
            </a:r>
            <a:r>
              <a:rPr lang="en-US" altLang="zh-CN" sz="2000" dirty="0">
                <a:solidFill>
                  <a:schemeClr val="accent2"/>
                </a:solidFill>
                <a:ea typeface="黑体" panose="02010609060101010101" pitchFamily="49" charset="-122"/>
              </a:rPr>
              <a:t>]</a:t>
            </a:r>
            <a:r>
              <a:rPr lang="zh-CN" altLang="en-US" sz="2000" baseline="-25000" dirty="0">
                <a:solidFill>
                  <a:schemeClr val="accent2"/>
                </a:solidFill>
                <a:ea typeface="黑体" panose="02010609060101010101" pitchFamily="49" charset="-122"/>
              </a:rPr>
              <a:t>补</a:t>
            </a:r>
            <a:endParaRPr lang="zh-CN" altLang="en-US" sz="2000" dirty="0">
              <a:solidFill>
                <a:schemeClr val="accent2"/>
              </a:solidFill>
              <a:ea typeface="黑体" panose="02010609060101010101" pitchFamily="49" charset="-122"/>
            </a:endParaRPr>
          </a:p>
          <a:p>
            <a:pPr>
              <a:buNone/>
            </a:pPr>
            <a:r>
              <a:rPr lang="zh-CN" altLang="en-US" sz="2000" dirty="0">
                <a:ea typeface="黑体" panose="02010609060101010101" pitchFamily="49" charset="-122"/>
              </a:rPr>
              <a:t>   因此 </a:t>
            </a:r>
            <a:r>
              <a:rPr lang="en-US" altLang="zh-CN" sz="2000" dirty="0">
                <a:ea typeface="黑体" panose="02010609060101010101" pitchFamily="49" charset="-122"/>
              </a:rPr>
              <a:t>[X × Y]</a:t>
            </a:r>
            <a:r>
              <a:rPr lang="zh-CN" altLang="en-US" sz="2000" dirty="0">
                <a:ea typeface="黑体" panose="02010609060101010101" pitchFamily="49" charset="-122"/>
              </a:rPr>
              <a:t>补</a:t>
            </a:r>
            <a:r>
              <a:rPr lang="en-US" altLang="zh-CN" sz="2000" dirty="0">
                <a:ea typeface="黑体" panose="02010609060101010101" pitchFamily="49" charset="-122"/>
              </a:rPr>
              <a:t>=1110 1110 </a:t>
            </a:r>
            <a:r>
              <a:rPr lang="zh-CN" altLang="en-US" sz="2000" dirty="0">
                <a:ea typeface="黑体" panose="02010609060101010101" pitchFamily="49" charset="-122"/>
              </a:rPr>
              <a:t>，与一位补码乘法（布斯乘法）所得结果相同，但循环次数减少了一半。 </a:t>
            </a:r>
            <a:endParaRPr lang="zh-CN" altLang="en-US" sz="2000" dirty="0">
              <a:ea typeface="黑体" panose="02010609060101010101" pitchFamily="49" charset="-122"/>
            </a:endParaRPr>
          </a:p>
        </p:txBody>
      </p:sp>
      <p:sp>
        <p:nvSpPr>
          <p:cNvPr id="68611" name="Line 4"/>
          <p:cNvSpPr/>
          <p:nvPr/>
        </p:nvSpPr>
        <p:spPr>
          <a:xfrm>
            <a:off x="466725" y="2876550"/>
            <a:ext cx="7781925" cy="0"/>
          </a:xfrm>
          <a:prstGeom prst="line">
            <a:avLst/>
          </a:prstGeom>
          <a:ln w="12700" cap="flat" cmpd="sng">
            <a:solidFill>
              <a:srgbClr val="000000"/>
            </a:solidFill>
            <a:prstDash val="solid"/>
            <a:round/>
            <a:headEnd type="none" w="med" len="med"/>
            <a:tailEnd type="none" w="med" len="med"/>
          </a:ln>
        </p:spPr>
      </p:sp>
      <p:sp>
        <p:nvSpPr>
          <p:cNvPr id="68612" name="Line 5"/>
          <p:cNvSpPr/>
          <p:nvPr/>
        </p:nvSpPr>
        <p:spPr>
          <a:xfrm>
            <a:off x="454025" y="4102100"/>
            <a:ext cx="7781925" cy="0"/>
          </a:xfrm>
          <a:prstGeom prst="line">
            <a:avLst/>
          </a:prstGeom>
          <a:ln w="12700" cap="flat" cmpd="sng">
            <a:solidFill>
              <a:srgbClr val="000000"/>
            </a:solidFill>
            <a:prstDash val="solid"/>
            <a:round/>
            <a:headEnd type="none" w="med" len="med"/>
            <a:tailEnd type="none" w="med" len="med"/>
          </a:ln>
        </p:spPr>
      </p:sp>
      <p:sp>
        <p:nvSpPr>
          <p:cNvPr id="68613" name="Text Box 8"/>
          <p:cNvSpPr txBox="1"/>
          <p:nvPr/>
        </p:nvSpPr>
        <p:spPr>
          <a:xfrm>
            <a:off x="704850" y="5715000"/>
            <a:ext cx="5048250" cy="457200"/>
          </a:xfrm>
          <a:prstGeom prst="rect">
            <a:avLst/>
          </a:prstGeom>
          <a:noFill/>
          <a:ln w="12700">
            <a:noFill/>
          </a:ln>
        </p:spPr>
        <p:txBody>
          <a:bodyPr anchor="t" anchorCtr="0">
            <a:spAutoFit/>
          </a:bodyPr>
          <a:p>
            <a:pPr eaLnBrk="0" hangingPunct="0">
              <a:spcBef>
                <a:spcPct val="50000"/>
              </a:spcBef>
            </a:pPr>
            <a:r>
              <a:rPr lang="zh-CN" altLang="en-US" sz="2400" dirty="0">
                <a:solidFill>
                  <a:srgbClr val="CC3300"/>
                </a:solidFill>
                <a:latin typeface="Arial" panose="020B0604020202020204" pitchFamily="34" charset="0"/>
                <a:ea typeface="黑体" panose="02010609060101010101" pitchFamily="49" charset="-122"/>
              </a:rPr>
              <a:t>验证：</a:t>
            </a:r>
            <a:r>
              <a:rPr lang="en-US" altLang="zh-CN" sz="2400" dirty="0">
                <a:solidFill>
                  <a:srgbClr val="CC3300"/>
                </a:solidFill>
                <a:latin typeface="Arial" panose="020B0604020202020204" pitchFamily="34" charset="0"/>
                <a:ea typeface="黑体" panose="02010609060101010101" pitchFamily="49" charset="-122"/>
              </a:rPr>
              <a:t>-3 ×6=-18 </a:t>
            </a:r>
            <a:r>
              <a:rPr lang="zh-CN" altLang="en-US" sz="2400" dirty="0">
                <a:solidFill>
                  <a:srgbClr val="CC3300"/>
                </a:solidFill>
                <a:latin typeface="Arial" panose="020B0604020202020204" pitchFamily="34" charset="0"/>
                <a:ea typeface="黑体" panose="02010609060101010101" pitchFamily="49" charset="-122"/>
              </a:rPr>
              <a:t>（</a:t>
            </a:r>
            <a:r>
              <a:rPr lang="en-US" altLang="zh-CN" sz="2400" dirty="0">
                <a:solidFill>
                  <a:srgbClr val="CC3300"/>
                </a:solidFill>
                <a:latin typeface="Arial" panose="020B0604020202020204" pitchFamily="34" charset="0"/>
                <a:ea typeface="黑体" panose="02010609060101010101" pitchFamily="49" charset="-122"/>
              </a:rPr>
              <a:t>-10010B</a:t>
            </a:r>
            <a:r>
              <a:rPr lang="zh-CN" altLang="en-US" sz="2400" dirty="0">
                <a:solidFill>
                  <a:srgbClr val="CC3300"/>
                </a:solidFill>
                <a:latin typeface="Arial" panose="020B0604020202020204" pitchFamily="34" charset="0"/>
                <a:ea typeface="黑体" panose="02010609060101010101" pitchFamily="49" charset="-122"/>
              </a:rPr>
              <a:t>）</a:t>
            </a:r>
            <a:endParaRPr lang="zh-CN" altLang="en-US" sz="2400" dirty="0">
              <a:solidFill>
                <a:srgbClr val="CC3300"/>
              </a:solidFill>
              <a:latin typeface="Arial" panose="020B0604020202020204" pitchFamily="34" charset="0"/>
              <a:ea typeface="黑体" panose="02010609060101010101" pitchFamily="49" charset="-122"/>
            </a:endParaRPr>
          </a:p>
        </p:txBody>
      </p:sp>
      <p:sp>
        <p:nvSpPr>
          <p:cNvPr id="68614" name="Line 9"/>
          <p:cNvSpPr/>
          <p:nvPr/>
        </p:nvSpPr>
        <p:spPr>
          <a:xfrm>
            <a:off x="2962275" y="2438400"/>
            <a:ext cx="885825" cy="0"/>
          </a:xfrm>
          <a:prstGeom prst="line">
            <a:avLst/>
          </a:prstGeom>
          <a:ln w="28575" cap="flat" cmpd="sng">
            <a:solidFill>
              <a:srgbClr val="CC3300"/>
            </a:solidFill>
            <a:prstDash val="solid"/>
            <a:round/>
            <a:headEnd type="none" w="med" len="med"/>
            <a:tailEnd type="none" w="med" len="med"/>
          </a:ln>
        </p:spPr>
      </p:sp>
      <p:sp>
        <p:nvSpPr>
          <p:cNvPr id="68615" name="Line 10"/>
          <p:cNvSpPr/>
          <p:nvPr/>
        </p:nvSpPr>
        <p:spPr>
          <a:xfrm>
            <a:off x="2940050" y="3635375"/>
            <a:ext cx="885825" cy="0"/>
          </a:xfrm>
          <a:prstGeom prst="line">
            <a:avLst/>
          </a:prstGeom>
          <a:ln w="28575" cap="flat" cmpd="sng">
            <a:solidFill>
              <a:srgbClr val="CC3300"/>
            </a:solidFill>
            <a:prstDash val="solid"/>
            <a:round/>
            <a:headEnd type="none" w="med" len="med"/>
            <a:tailEnd type="none" w="med" len="med"/>
          </a:ln>
        </p:spPr>
      </p:sp>
      <p:sp>
        <p:nvSpPr>
          <p:cNvPr id="68616" name="Line 11"/>
          <p:cNvSpPr/>
          <p:nvPr/>
        </p:nvSpPr>
        <p:spPr>
          <a:xfrm flipV="1">
            <a:off x="3810000" y="3086100"/>
            <a:ext cx="352425" cy="0"/>
          </a:xfrm>
          <a:prstGeom prst="line">
            <a:avLst/>
          </a:prstGeom>
          <a:ln w="28575" cap="flat" cmpd="sng">
            <a:solidFill>
              <a:srgbClr val="FF0066"/>
            </a:solidFill>
            <a:prstDash val="solid"/>
            <a:round/>
            <a:headEnd type="none" w="med" len="med"/>
            <a:tailEnd type="triangle" w="med" len="med"/>
          </a:ln>
        </p:spPr>
      </p:sp>
      <p:sp>
        <p:nvSpPr>
          <p:cNvPr id="68617" name="Text Box 12"/>
          <p:cNvSpPr txBox="1"/>
          <p:nvPr/>
        </p:nvSpPr>
        <p:spPr>
          <a:xfrm>
            <a:off x="4124325" y="2867025"/>
            <a:ext cx="323850" cy="396875"/>
          </a:xfrm>
          <a:prstGeom prst="rect">
            <a:avLst/>
          </a:prstGeom>
          <a:noFill/>
          <a:ln w="12700">
            <a:noFill/>
          </a:ln>
        </p:spPr>
        <p:txBody>
          <a:bodyPr anchor="t" anchorCtr="0">
            <a:spAutoFit/>
          </a:bodyPr>
          <a:p>
            <a:pPr eaLnBrk="0" hangingPunct="0">
              <a:spcBef>
                <a:spcPct val="50000"/>
              </a:spcBef>
            </a:pPr>
            <a:r>
              <a:rPr lang="en-US" altLang="zh-CN" sz="2000" dirty="0">
                <a:solidFill>
                  <a:srgbClr val="FF0066"/>
                </a:solidFill>
                <a:latin typeface="Times New Roman" panose="02020603050405020304" pitchFamily="18" charset="0"/>
              </a:rPr>
              <a:t>2</a:t>
            </a:r>
            <a:endParaRPr lang="en-US" altLang="zh-CN" sz="2000" dirty="0">
              <a:solidFill>
                <a:srgbClr val="FF0066"/>
              </a:solidFill>
              <a:latin typeface="Times New Roman" panose="02020603050405020304" pitchFamily="18" charset="0"/>
            </a:endParaRPr>
          </a:p>
        </p:txBody>
      </p:sp>
      <p:sp>
        <p:nvSpPr>
          <p:cNvPr id="68618" name="Line 13"/>
          <p:cNvSpPr/>
          <p:nvPr/>
        </p:nvSpPr>
        <p:spPr>
          <a:xfrm flipV="1">
            <a:off x="3778250" y="4292600"/>
            <a:ext cx="352425" cy="0"/>
          </a:xfrm>
          <a:prstGeom prst="line">
            <a:avLst/>
          </a:prstGeom>
          <a:ln w="28575" cap="flat" cmpd="sng">
            <a:solidFill>
              <a:srgbClr val="FF0066"/>
            </a:solidFill>
            <a:prstDash val="solid"/>
            <a:round/>
            <a:headEnd type="none" w="med" len="med"/>
            <a:tailEnd type="triangle" w="med" len="med"/>
          </a:ln>
        </p:spPr>
      </p:sp>
      <p:sp>
        <p:nvSpPr>
          <p:cNvPr id="68619" name="Text Box 14"/>
          <p:cNvSpPr txBox="1"/>
          <p:nvPr/>
        </p:nvSpPr>
        <p:spPr>
          <a:xfrm>
            <a:off x="4092575" y="4073525"/>
            <a:ext cx="323850" cy="396875"/>
          </a:xfrm>
          <a:prstGeom prst="rect">
            <a:avLst/>
          </a:prstGeom>
          <a:noFill/>
          <a:ln w="12700">
            <a:noFill/>
          </a:ln>
        </p:spPr>
        <p:txBody>
          <a:bodyPr anchor="t" anchorCtr="0">
            <a:spAutoFit/>
          </a:bodyPr>
          <a:p>
            <a:pPr eaLnBrk="0" hangingPunct="0">
              <a:spcBef>
                <a:spcPct val="50000"/>
              </a:spcBef>
            </a:pPr>
            <a:r>
              <a:rPr lang="en-US" altLang="zh-CN" sz="2000" dirty="0">
                <a:solidFill>
                  <a:srgbClr val="FF0066"/>
                </a:solidFill>
                <a:latin typeface="Times New Roman" panose="02020603050405020304" pitchFamily="18" charset="0"/>
              </a:rPr>
              <a:t>2</a:t>
            </a:r>
            <a:endParaRPr lang="en-US" altLang="zh-CN" sz="2000" dirty="0">
              <a:solidFill>
                <a:srgbClr val="FF0066"/>
              </a:solidFill>
              <a:latin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快速乘法器</a:t>
            </a:r>
            <a:endParaRPr lang="en-US" altLang="zh-CN" dirty="0">
              <a:ea typeface="宋体" panose="02010600030101010101" pitchFamily="2" charset="-122"/>
            </a:endParaRPr>
          </a:p>
        </p:txBody>
      </p:sp>
      <p:sp>
        <p:nvSpPr>
          <p:cNvPr id="424963" name="Rectangle 3"/>
          <p:cNvSpPr>
            <a:spLocks noGrp="1"/>
          </p:cNvSpPr>
          <p:nvPr>
            <p:ph idx="1"/>
          </p:nvPr>
        </p:nvSpPr>
        <p:spPr>
          <a:xfrm>
            <a:off x="327025" y="896938"/>
            <a:ext cx="8191500" cy="5265737"/>
          </a:xfrm>
          <a:ln/>
        </p:spPr>
        <p:txBody>
          <a:bodyPr vert="horz" wrap="square" lIns="63500" tIns="25400" rIns="63500" bIns="25400" anchor="t" anchorCtr="0">
            <a:spAutoFit/>
          </a:bodyPr>
          <a:p>
            <a:r>
              <a:rPr lang="zh-CN" altLang="en-US" dirty="0">
                <a:latin typeface="黑体" panose="02010609060101010101" pitchFamily="49" charset="-122"/>
                <a:ea typeface="黑体" panose="02010609060101010101" pitchFamily="49" charset="-122"/>
              </a:rPr>
              <a:t>前面介绍的乘法部件的特点</a:t>
            </a:r>
            <a:endParaRPr lang="zh-CN" altLang="en-US" dirty="0">
              <a:latin typeface="黑体" panose="02010609060101010101" pitchFamily="49" charset="-122"/>
              <a:ea typeface="黑体" panose="02010609060101010101" pitchFamily="49" charset="-122"/>
            </a:endParaRPr>
          </a:p>
          <a:p>
            <a:pPr lvl="1"/>
            <a:r>
              <a:rPr lang="zh-CN" altLang="en-US" sz="2200" dirty="0">
                <a:latin typeface="黑体" panose="02010609060101010101" pitchFamily="49" charset="-122"/>
                <a:ea typeface="黑体" panose="02010609060101010101" pitchFamily="49" charset="-122"/>
              </a:rPr>
              <a:t>通过一个</a:t>
            </a:r>
            <a:r>
              <a:rPr lang="en-US" altLang="zh-CN" sz="2200" dirty="0">
                <a:latin typeface="黑体" panose="02010609060101010101" pitchFamily="49" charset="-122"/>
                <a:ea typeface="黑体" panose="02010609060101010101" pitchFamily="49" charset="-122"/>
              </a:rPr>
              <a:t>ALU</a:t>
            </a:r>
            <a:r>
              <a:rPr lang="zh-CN" altLang="en-US" sz="2200" dirty="0">
                <a:latin typeface="黑体" panose="02010609060101010101" pitchFamily="49" charset="-122"/>
                <a:ea typeface="黑体" panose="02010609060101010101" pitchFamily="49" charset="-122"/>
              </a:rPr>
              <a:t>多次做</a:t>
            </a:r>
            <a:r>
              <a:rPr lang="zh-CN" altLang="en-US" sz="2200" dirty="0">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加</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减</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右移</a:t>
            </a:r>
            <a:r>
              <a:rPr lang="zh-CN" altLang="en-US" sz="2200" dirty="0">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来实现 </a:t>
            </a:r>
            <a:endParaRPr lang="zh-CN" altLang="en-US" sz="2200" dirty="0">
              <a:latin typeface="黑体" panose="02010609060101010101" pitchFamily="49" charset="-122"/>
              <a:ea typeface="黑体" panose="02010609060101010101" pitchFamily="49" charset="-122"/>
            </a:endParaRPr>
          </a:p>
          <a:p>
            <a:pPr lvl="2"/>
            <a:r>
              <a:rPr lang="zh-CN" altLang="en-US" sz="2200" dirty="0">
                <a:latin typeface="黑体" panose="02010609060101010101" pitchFamily="49" charset="-122"/>
                <a:ea typeface="黑体" panose="02010609060101010101" pitchFamily="49" charset="-122"/>
              </a:rPr>
              <a:t>一位乘法：约</a:t>
            </a:r>
            <a:r>
              <a:rPr lang="en-US" altLang="zh-CN" sz="2200" dirty="0">
                <a:latin typeface="黑体" panose="02010609060101010101" pitchFamily="49" charset="-122"/>
                <a:ea typeface="黑体" panose="02010609060101010101" pitchFamily="49" charset="-122"/>
              </a:rPr>
              <a:t>n</a:t>
            </a:r>
            <a:r>
              <a:rPr lang="zh-CN" altLang="en-US" sz="2200" dirty="0">
                <a:latin typeface="黑体" panose="02010609060101010101" pitchFamily="49" charset="-122"/>
                <a:ea typeface="黑体" panose="02010609060101010101" pitchFamily="49" charset="-122"/>
              </a:rPr>
              <a:t>次</a:t>
            </a:r>
            <a:r>
              <a:rPr lang="zh-CN" altLang="en-US" sz="2200" dirty="0">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加</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右移</a:t>
            </a:r>
            <a:r>
              <a:rPr lang="zh-CN" altLang="en-US" sz="2200" dirty="0">
                <a:ea typeface="黑体" panose="02010609060101010101" pitchFamily="49" charset="-122"/>
              </a:rPr>
              <a:t>”</a:t>
            </a:r>
            <a:endParaRPr lang="zh-CN" altLang="en-US" sz="2200" dirty="0">
              <a:latin typeface="黑体" panose="02010609060101010101" pitchFamily="49" charset="-122"/>
              <a:ea typeface="黑体" panose="02010609060101010101" pitchFamily="49" charset="-122"/>
            </a:endParaRPr>
          </a:p>
          <a:p>
            <a:pPr lvl="2"/>
            <a:r>
              <a:rPr lang="zh-CN" altLang="en-US" sz="2200" dirty="0">
                <a:latin typeface="黑体" panose="02010609060101010101" pitchFamily="49" charset="-122"/>
                <a:ea typeface="黑体" panose="02010609060101010101" pitchFamily="49" charset="-122"/>
              </a:rPr>
              <a:t>两位乘法：约</a:t>
            </a:r>
            <a:r>
              <a:rPr lang="en-US" altLang="zh-CN" sz="2200" dirty="0">
                <a:latin typeface="黑体" panose="02010609060101010101" pitchFamily="49" charset="-122"/>
                <a:ea typeface="黑体" panose="02010609060101010101" pitchFamily="49" charset="-122"/>
              </a:rPr>
              <a:t>n/2</a:t>
            </a:r>
            <a:r>
              <a:rPr lang="zh-CN" altLang="en-US" sz="2200" dirty="0">
                <a:latin typeface="黑体" panose="02010609060101010101" pitchFamily="49" charset="-122"/>
                <a:ea typeface="黑体" panose="02010609060101010101" pitchFamily="49" charset="-122"/>
              </a:rPr>
              <a:t>次</a:t>
            </a:r>
            <a:r>
              <a:rPr lang="zh-CN" altLang="en-US" sz="2200" dirty="0">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加</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右移</a:t>
            </a:r>
            <a:r>
              <a:rPr lang="zh-CN" altLang="en-US" sz="2200" dirty="0">
                <a:ea typeface="黑体" panose="02010609060101010101" pitchFamily="49" charset="-122"/>
              </a:rPr>
              <a:t>”</a:t>
            </a:r>
            <a:endParaRPr lang="zh-CN" altLang="en-US" sz="2200" dirty="0">
              <a:latin typeface="黑体" panose="02010609060101010101" pitchFamily="49" charset="-122"/>
              <a:ea typeface="黑体" panose="02010609060101010101" pitchFamily="49" charset="-122"/>
            </a:endParaRPr>
          </a:p>
          <a:p>
            <a:pPr lvl="1">
              <a:buNone/>
            </a:pPr>
            <a:r>
              <a:rPr lang="zh-CN" altLang="en-US" sz="2200" dirty="0">
                <a:latin typeface="黑体" panose="02010609060101010101" pitchFamily="49" charset="-122"/>
                <a:ea typeface="黑体" panose="02010609060101010101" pitchFamily="49" charset="-122"/>
              </a:rPr>
              <a:t>所需时间随位数增多而加长，由时钟和控制电路控制</a:t>
            </a:r>
            <a:endParaRPr lang="zh-CN" altLang="en-US" sz="2200"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设计快速乘法部件的必要性</a:t>
            </a:r>
            <a:endParaRPr lang="zh-CN" altLang="en-US" dirty="0">
              <a:latin typeface="黑体" panose="02010609060101010101" pitchFamily="49" charset="-122"/>
              <a:ea typeface="黑体" panose="02010609060101010101" pitchFamily="49" charset="-122"/>
            </a:endParaRPr>
          </a:p>
          <a:p>
            <a:pPr lvl="1"/>
            <a:r>
              <a:rPr lang="zh-CN" altLang="en-US" sz="2200" dirty="0">
                <a:latin typeface="黑体" panose="02010609060101010101" pitchFamily="49" charset="-122"/>
                <a:ea typeface="黑体" panose="02010609060101010101" pitchFamily="49" charset="-122"/>
              </a:rPr>
              <a:t>大约</a:t>
            </a:r>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是乘法运算 </a:t>
            </a:r>
            <a:endParaRPr lang="zh-CN" altLang="en-US" sz="2200"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快速乘法器的实现（由特定功能的组合逻辑单元构成）</a:t>
            </a:r>
            <a:endParaRPr lang="zh-CN" altLang="en-US" dirty="0">
              <a:latin typeface="黑体" panose="02010609060101010101" pitchFamily="49" charset="-122"/>
              <a:ea typeface="黑体" panose="02010609060101010101" pitchFamily="49" charset="-122"/>
            </a:endParaRPr>
          </a:p>
          <a:p>
            <a:pPr lvl="1"/>
            <a:r>
              <a:rPr lang="zh-CN" altLang="en-US" sz="2200" dirty="0">
                <a:latin typeface="黑体" panose="02010609060101010101" pitchFamily="49" charset="-122"/>
                <a:ea typeface="黑体" panose="02010609060101010101" pitchFamily="49" charset="-122"/>
              </a:rPr>
              <a:t>流水线方式</a:t>
            </a:r>
            <a:endParaRPr lang="zh-CN" altLang="en-US" sz="2200" dirty="0">
              <a:latin typeface="黑体" panose="02010609060101010101" pitchFamily="49" charset="-122"/>
              <a:ea typeface="黑体" panose="02010609060101010101" pitchFamily="49" charset="-122"/>
            </a:endParaRPr>
          </a:p>
          <a:p>
            <a:pPr lvl="1"/>
            <a:r>
              <a:rPr lang="zh-CN" altLang="en-US" sz="2200" dirty="0">
                <a:latin typeface="黑体" panose="02010609060101010101" pitchFamily="49" charset="-122"/>
                <a:ea typeface="黑体" panose="02010609060101010101" pitchFamily="49" charset="-122"/>
              </a:rPr>
              <a:t>硬件叠加方式（如：阵列乘法器）</a:t>
            </a:r>
            <a:endParaRPr lang="zh-CN" altLang="en-US" dirty="0">
              <a:latin typeface="黑体" panose="02010609060101010101" pitchFamily="49" charset="-122"/>
              <a:ea typeface="黑体" panose="02010609060101010101" pitchFamily="49" charset="-122"/>
            </a:endParaRPr>
          </a:p>
          <a:p>
            <a:pPr lvl="2">
              <a:buNone/>
            </a:pPr>
            <a:endParaRPr lang="zh-CN" altLang="en-US" dirty="0">
              <a:latin typeface="黑体" panose="02010609060101010101" pitchFamily="49" charset="-122"/>
              <a:ea typeface="黑体" panose="02010609060101010101" pitchFamily="49" charset="-122"/>
            </a:endParaRPr>
          </a:p>
          <a:p>
            <a:pPr lvl="1"/>
            <a:endParaRPr lang="zh-CN" altLang="en-US" sz="22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4963">
                                            <p:txEl>
                                              <p:charRg st="13" end="36"/>
                                            </p:txEl>
                                          </p:spTgt>
                                        </p:tgtEl>
                                        <p:attrNameLst>
                                          <p:attrName>style.visibility</p:attrName>
                                        </p:attrNameLst>
                                      </p:cBhvr>
                                      <p:to>
                                        <p:strVal val="visible"/>
                                      </p:to>
                                    </p:set>
                                    <p:animEffect transition="in" filter="blinds(horizontal)">
                                      <p:cBhvr>
                                        <p:cTn id="7" dur="500"/>
                                        <p:tgtEl>
                                          <p:spTgt spid="424963">
                                            <p:txEl>
                                              <p:charRg st="13" end="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4963">
                                            <p:txEl>
                                              <p:charRg st="36" end="51"/>
                                            </p:txEl>
                                          </p:spTgt>
                                        </p:tgtEl>
                                        <p:attrNameLst>
                                          <p:attrName>style.visibility</p:attrName>
                                        </p:attrNameLst>
                                      </p:cBhvr>
                                      <p:to>
                                        <p:strVal val="visible"/>
                                      </p:to>
                                    </p:set>
                                    <p:animEffect transition="in" filter="blinds(horizontal)">
                                      <p:cBhvr>
                                        <p:cTn id="12" dur="500"/>
                                        <p:tgtEl>
                                          <p:spTgt spid="424963">
                                            <p:txEl>
                                              <p:charRg st="36" end="5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24963">
                                            <p:txEl>
                                              <p:charRg st="51" end="68"/>
                                            </p:txEl>
                                          </p:spTgt>
                                        </p:tgtEl>
                                        <p:attrNameLst>
                                          <p:attrName>style.visibility</p:attrName>
                                        </p:attrNameLst>
                                      </p:cBhvr>
                                      <p:to>
                                        <p:strVal val="visible"/>
                                      </p:to>
                                    </p:set>
                                    <p:animEffect transition="in" filter="blinds(horizontal)">
                                      <p:cBhvr>
                                        <p:cTn id="15" dur="500"/>
                                        <p:tgtEl>
                                          <p:spTgt spid="424963">
                                            <p:txEl>
                                              <p:charRg st="51" end="6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24963">
                                            <p:txEl>
                                              <p:charRg st="68" end="92"/>
                                            </p:txEl>
                                          </p:spTgt>
                                        </p:tgtEl>
                                        <p:attrNameLst>
                                          <p:attrName>style.visibility</p:attrName>
                                        </p:attrNameLst>
                                      </p:cBhvr>
                                      <p:to>
                                        <p:strVal val="visible"/>
                                      </p:to>
                                    </p:set>
                                    <p:animEffect transition="in" filter="blinds(horizontal)">
                                      <p:cBhvr>
                                        <p:cTn id="20" dur="500"/>
                                        <p:tgtEl>
                                          <p:spTgt spid="424963">
                                            <p:txEl>
                                              <p:charRg st="68" end="9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24963">
                                            <p:txEl>
                                              <p:charRg st="105" end="117"/>
                                            </p:txEl>
                                          </p:spTgt>
                                        </p:tgtEl>
                                        <p:attrNameLst>
                                          <p:attrName>style.visibility</p:attrName>
                                        </p:attrNameLst>
                                      </p:cBhvr>
                                      <p:to>
                                        <p:strVal val="visible"/>
                                      </p:to>
                                    </p:set>
                                    <p:animEffect transition="in" filter="blinds(horizontal)">
                                      <p:cBhvr>
                                        <p:cTn id="25" dur="500"/>
                                        <p:tgtEl>
                                          <p:spTgt spid="424963">
                                            <p:txEl>
                                              <p:charRg st="105" end="11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24963">
                                            <p:txEl>
                                              <p:charRg st="142" end="148"/>
                                            </p:txEl>
                                          </p:spTgt>
                                        </p:tgtEl>
                                        <p:attrNameLst>
                                          <p:attrName>style.visibility</p:attrName>
                                        </p:attrNameLst>
                                      </p:cBhvr>
                                      <p:to>
                                        <p:strVal val="visible"/>
                                      </p:to>
                                    </p:set>
                                    <p:animEffect transition="in" filter="blinds(horizontal)">
                                      <p:cBhvr>
                                        <p:cTn id="30" dur="500"/>
                                        <p:tgtEl>
                                          <p:spTgt spid="424963">
                                            <p:txEl>
                                              <p:charRg st="142" end="14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24963">
                                            <p:txEl>
                                              <p:charRg st="148" end="164"/>
                                            </p:txEl>
                                          </p:spTgt>
                                        </p:tgtEl>
                                        <p:attrNameLst>
                                          <p:attrName>style.visibility</p:attrName>
                                        </p:attrNameLst>
                                      </p:cBhvr>
                                      <p:to>
                                        <p:strVal val="visible"/>
                                      </p:to>
                                    </p:set>
                                    <p:animEffect transition="in" filter="blinds(horizontal)">
                                      <p:cBhvr>
                                        <p:cTn id="35" dur="500"/>
                                        <p:tgtEl>
                                          <p:spTgt spid="424963">
                                            <p:txEl>
                                              <p:charRg st="148"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type="title"/>
          </p:nvPr>
        </p:nvSpPr>
        <p:spPr>
          <a:xfrm>
            <a:off x="733425" y="190500"/>
            <a:ext cx="6073775" cy="474663"/>
          </a:xfrm>
          <a:ln/>
        </p:spPr>
        <p:txBody>
          <a:bodyPr vert="horz" wrap="square" lIns="63500" tIns="25400" rIns="63500" bIns="25400" anchor="t" anchorCtr="0">
            <a:spAutoFit/>
          </a:bodyPr>
          <a:p>
            <a:r>
              <a:rPr lang="zh-CN" altLang="en-US" dirty="0">
                <a:ea typeface="宋体" panose="02010600030101010101" pitchFamily="2" charset="-122"/>
              </a:rPr>
              <a:t>流水线方式的快速乘法器</a:t>
            </a:r>
            <a:endParaRPr lang="zh-CN" altLang="en-US" dirty="0">
              <a:ea typeface="宋体" panose="02010600030101010101" pitchFamily="2" charset="-122"/>
            </a:endParaRPr>
          </a:p>
        </p:txBody>
      </p:sp>
      <p:sp>
        <p:nvSpPr>
          <p:cNvPr id="429059" name="Rectangle 3"/>
          <p:cNvSpPr>
            <a:spLocks noGrp="1"/>
          </p:cNvSpPr>
          <p:nvPr>
            <p:ph idx="1"/>
          </p:nvPr>
        </p:nvSpPr>
        <p:spPr>
          <a:xfrm>
            <a:off x="252413" y="3524250"/>
            <a:ext cx="4610100" cy="3597275"/>
          </a:xfrm>
          <a:ln/>
        </p:spPr>
        <p:txBody>
          <a:bodyPr vert="horz" wrap="square" lIns="63500" tIns="25400" rIns="63500" bIns="25400" anchor="t" anchorCtr="0">
            <a:spAutoFit/>
          </a:bodyPr>
          <a:p>
            <a:r>
              <a:rPr lang="zh-CN" altLang="en-US" sz="1800" dirty="0">
                <a:latin typeface="微软雅黑" panose="020B0503020204020204" pitchFamily="34" charset="-122"/>
                <a:ea typeface="微软雅黑" panose="020B0503020204020204" pitchFamily="34" charset="-122"/>
              </a:rPr>
              <a:t>为乘数的每位提供一个</a:t>
            </a:r>
            <a:r>
              <a:rPr lang="en-US" altLang="zh-CN" sz="1800" dirty="0">
                <a:latin typeface="微软雅黑" panose="020B0503020204020204" pitchFamily="34" charset="-122"/>
                <a:ea typeface="微软雅黑" panose="020B0503020204020204" pitchFamily="34" charset="-122"/>
              </a:rPr>
              <a:t>n</a:t>
            </a:r>
            <a:r>
              <a:rPr lang="zh-CN" altLang="en-US" sz="1800" dirty="0">
                <a:latin typeface="微软雅黑" panose="020B0503020204020204" pitchFamily="34" charset="-122"/>
                <a:ea typeface="微软雅黑" panose="020B0503020204020204" pitchFamily="34" charset="-122"/>
              </a:rPr>
              <a:t>位加法器</a:t>
            </a:r>
            <a:endParaRPr lang="zh-CN" altLang="en-US"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每个加法器的两个输入端分别是：</a:t>
            </a:r>
            <a:endParaRPr lang="zh-CN" altLang="en-US" sz="1800" dirty="0">
              <a:latin typeface="微软雅黑" panose="020B0503020204020204" pitchFamily="34" charset="-122"/>
              <a:ea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rPr>
              <a:t>本次乘数对应的位与被乘数相与的</a:t>
            </a:r>
            <a:endParaRPr lang="zh-CN" altLang="en-US" sz="1800" dirty="0">
              <a:latin typeface="微软雅黑" panose="020B0503020204020204" pitchFamily="34" charset="-122"/>
              <a:ea typeface="微软雅黑" panose="020B0503020204020204" pitchFamily="34" charset="-122"/>
            </a:endParaRPr>
          </a:p>
          <a:p>
            <a:pPr lvl="1">
              <a:buNone/>
            </a:pPr>
            <a:r>
              <a:rPr lang="zh-CN" altLang="en-US" sz="1800" dirty="0">
                <a:latin typeface="微软雅黑" panose="020B0503020204020204" pitchFamily="34" charset="-122"/>
                <a:ea typeface="微软雅黑" panose="020B0503020204020204" pitchFamily="34" charset="-122"/>
              </a:rPr>
              <a:t>结果（即：</a:t>
            </a:r>
            <a:r>
              <a:rPr lang="en-US" altLang="zh-CN" sz="1800" dirty="0">
                <a:latin typeface="微软雅黑" panose="020B0503020204020204" pitchFamily="34" charset="-122"/>
                <a:ea typeface="微软雅黑" panose="020B0503020204020204" pitchFamily="34" charset="-122"/>
              </a:rPr>
              <a:t>0</a:t>
            </a:r>
            <a:r>
              <a:rPr lang="zh-CN" altLang="en-US" sz="1800" dirty="0">
                <a:latin typeface="微软雅黑" panose="020B0503020204020204" pitchFamily="34" charset="-122"/>
                <a:ea typeface="微软雅黑" panose="020B0503020204020204" pitchFamily="34" charset="-122"/>
              </a:rPr>
              <a:t>或被乘数）</a:t>
            </a:r>
            <a:endParaRPr lang="zh-CN" altLang="en-US" sz="1800" dirty="0">
              <a:latin typeface="微软雅黑" panose="020B0503020204020204" pitchFamily="34" charset="-122"/>
              <a:ea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rPr>
              <a:t>上次部分积</a:t>
            </a:r>
            <a:endParaRPr lang="zh-CN" altLang="en-US"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每个加法器的输出分为两部分：</a:t>
            </a:r>
            <a:endParaRPr lang="zh-CN" altLang="en-US" sz="1800" dirty="0">
              <a:latin typeface="微软雅黑" panose="020B0503020204020204" pitchFamily="34" charset="-122"/>
              <a:ea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rPr>
              <a:t>和的最低有效位</a:t>
            </a:r>
            <a:r>
              <a:rPr lang="en-US" altLang="zh-CN" sz="1800" dirty="0">
                <a:latin typeface="微软雅黑" panose="020B0503020204020204" pitchFamily="34" charset="-122"/>
                <a:ea typeface="微软雅黑" panose="020B0503020204020204" pitchFamily="34" charset="-122"/>
              </a:rPr>
              <a:t>(LSB)</a:t>
            </a:r>
            <a:r>
              <a:rPr lang="zh-CN" altLang="en-US" sz="1800" dirty="0">
                <a:latin typeface="微软雅黑" panose="020B0503020204020204" pitchFamily="34" charset="-122"/>
                <a:ea typeface="微软雅黑" panose="020B0503020204020204" pitchFamily="34" charset="-122"/>
              </a:rPr>
              <a:t>作为本位乘积</a:t>
            </a:r>
            <a:endParaRPr lang="zh-CN" altLang="en-US" sz="1800" dirty="0">
              <a:latin typeface="微软雅黑" panose="020B0503020204020204" pitchFamily="34" charset="-122"/>
              <a:ea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rPr>
              <a:t>进位和高</a:t>
            </a:r>
            <a:r>
              <a:rPr lang="en-US" altLang="zh-CN" sz="1800" dirty="0">
                <a:latin typeface="微软雅黑" panose="020B0503020204020204" pitchFamily="34" charset="-122"/>
                <a:ea typeface="微软雅黑" panose="020B0503020204020204" pitchFamily="34" charset="-122"/>
              </a:rPr>
              <a:t>31</a:t>
            </a:r>
            <a:r>
              <a:rPr lang="zh-CN" altLang="en-US" sz="1800" dirty="0">
                <a:latin typeface="微软雅黑" panose="020B0503020204020204" pitchFamily="34" charset="-122"/>
                <a:ea typeface="微软雅黑" panose="020B0503020204020204" pitchFamily="34" charset="-122"/>
              </a:rPr>
              <a:t>位的和数组成一个</a:t>
            </a:r>
            <a:r>
              <a:rPr lang="en-US" altLang="zh-CN" sz="1800" dirty="0">
                <a:latin typeface="微软雅黑" panose="020B0503020204020204" pitchFamily="34" charset="-122"/>
                <a:ea typeface="微软雅黑" panose="020B0503020204020204" pitchFamily="34" charset="-122"/>
              </a:rPr>
              <a:t>32</a:t>
            </a:r>
            <a:r>
              <a:rPr lang="zh-CN" altLang="en-US" sz="1800" dirty="0">
                <a:latin typeface="微软雅黑" panose="020B0503020204020204" pitchFamily="34" charset="-122"/>
                <a:ea typeface="微软雅黑" panose="020B0503020204020204" pitchFamily="34" charset="-122"/>
              </a:rPr>
              <a:t>位数</a:t>
            </a:r>
            <a:endParaRPr lang="zh-CN" altLang="en-US" sz="1800" dirty="0">
              <a:latin typeface="微软雅黑" panose="020B0503020204020204" pitchFamily="34" charset="-122"/>
              <a:ea typeface="微软雅黑" panose="020B0503020204020204" pitchFamily="34" charset="-122"/>
            </a:endParaRPr>
          </a:p>
          <a:p>
            <a:pPr lvl="1">
              <a:buNone/>
            </a:pPr>
            <a:r>
              <a:rPr lang="zh-CN" altLang="en-US" sz="1800" dirty="0">
                <a:latin typeface="微软雅黑" panose="020B0503020204020204" pitchFamily="34" charset="-122"/>
                <a:ea typeface="微软雅黑" panose="020B0503020204020204" pitchFamily="34" charset="-122"/>
              </a:rPr>
              <a:t>   作为本次部分积</a:t>
            </a:r>
            <a:endParaRPr lang="zh-CN" altLang="en-US" sz="1800" dirty="0">
              <a:latin typeface="微软雅黑" panose="020B0503020204020204" pitchFamily="34" charset="-122"/>
              <a:ea typeface="微软雅黑" panose="020B0503020204020204" pitchFamily="34"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70659" name="Text Box 5"/>
          <p:cNvSpPr txBox="1"/>
          <p:nvPr/>
        </p:nvSpPr>
        <p:spPr>
          <a:xfrm>
            <a:off x="5438775" y="4933950"/>
            <a:ext cx="250825" cy="244475"/>
          </a:xfrm>
          <a:prstGeom prst="rect">
            <a:avLst/>
          </a:prstGeom>
          <a:noFill/>
          <a:ln w="12700">
            <a:noFill/>
          </a:ln>
        </p:spPr>
        <p:txBody>
          <a:bodyPr anchor="t" anchorCtr="0">
            <a:spAutoFit/>
          </a:bodyPr>
          <a:p>
            <a:pPr eaLnBrk="0" hangingPunct="0">
              <a:spcBef>
                <a:spcPct val="50000"/>
              </a:spcBef>
            </a:pPr>
            <a:r>
              <a:rPr lang="en-US" altLang="zh-CN" sz="1000" dirty="0">
                <a:latin typeface="Times New Roman" panose="02020603050405020304" pitchFamily="18" charset="0"/>
              </a:rPr>
              <a:t>1</a:t>
            </a:r>
            <a:endParaRPr lang="en-US" altLang="zh-CN" sz="1000" dirty="0">
              <a:latin typeface="Times New Roman" panose="02020603050405020304" pitchFamily="18" charset="0"/>
            </a:endParaRPr>
          </a:p>
        </p:txBody>
      </p:sp>
      <p:pic>
        <p:nvPicPr>
          <p:cNvPr id="59398" name="Picture 4"/>
          <p:cNvPicPr>
            <a:picLocks noChangeAspect="1"/>
          </p:cNvPicPr>
          <p:nvPr/>
        </p:nvPicPr>
        <p:blipFill>
          <a:blip r:embed="rId1"/>
          <a:stretch>
            <a:fillRect/>
          </a:stretch>
        </p:blipFill>
        <p:spPr>
          <a:xfrm>
            <a:off x="4948238" y="41275"/>
            <a:ext cx="4181475" cy="6723063"/>
          </a:xfrm>
          <a:prstGeom prst="rect">
            <a:avLst/>
          </a:prstGeom>
          <a:noFill/>
          <a:ln w="9525">
            <a:noFill/>
          </a:ln>
        </p:spPr>
      </p:pic>
      <p:pic>
        <p:nvPicPr>
          <p:cNvPr id="70661" name="Picture 9"/>
          <p:cNvPicPr>
            <a:picLocks noChangeAspect="1"/>
          </p:cNvPicPr>
          <p:nvPr/>
        </p:nvPicPr>
        <p:blipFill>
          <a:blip r:embed="rId2"/>
          <a:stretch>
            <a:fillRect/>
          </a:stretch>
        </p:blipFill>
        <p:spPr>
          <a:xfrm>
            <a:off x="0" y="660400"/>
            <a:ext cx="5314950" cy="2908300"/>
          </a:xfrm>
          <a:prstGeom prst="rect">
            <a:avLst/>
          </a:prstGeom>
          <a:noFill/>
          <a:ln w="9525">
            <a:noFill/>
          </a:ln>
        </p:spPr>
      </p:pic>
      <p:sp>
        <p:nvSpPr>
          <p:cNvPr id="7" name="TextBox 6"/>
          <p:cNvSpPr txBox="1"/>
          <p:nvPr/>
        </p:nvSpPr>
        <p:spPr>
          <a:xfrm>
            <a:off x="4271963" y="3398838"/>
            <a:ext cx="2155825" cy="762000"/>
          </a:xfrm>
          <a:prstGeom prst="rect">
            <a:avLst/>
          </a:prstGeom>
          <a:noFill/>
          <a:ln w="9525">
            <a:noFill/>
          </a:ln>
        </p:spPr>
        <p:txBody>
          <a:bodyPr anchor="t" anchorCtr="0">
            <a:spAutoFit/>
          </a:bodyPr>
          <a:p>
            <a:pPr eaLnBrk="0" hangingPunct="0"/>
            <a:r>
              <a:rPr lang="zh-CN" altLang="en-US" sz="2200" dirty="0">
                <a:solidFill>
                  <a:srgbClr val="FF0000"/>
                </a:solidFill>
                <a:latin typeface="Times New Roman" panose="02020603050405020304" pitchFamily="18" charset="0"/>
                <a:ea typeface="黑体" panose="02010609060101010101" pitchFamily="49" charset="-122"/>
              </a:rPr>
              <a:t>组合逻辑电路！无需控制器控制</a:t>
            </a:r>
            <a:endParaRPr lang="zh-CN" altLang="en-US" sz="2200"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8"/>
                                        </p:tgtEl>
                                        <p:attrNameLst>
                                          <p:attrName>style.visibility</p:attrName>
                                        </p:attrNameLst>
                                      </p:cBhvr>
                                      <p:to>
                                        <p:strVal val="visible"/>
                                      </p:to>
                                    </p:set>
                                    <p:animEffect transition="in" filter="blinds(horizontal)">
                                      <p:cBhvr>
                                        <p:cTn id="7" dur="500"/>
                                        <p:tgtEl>
                                          <p:spTgt spid="593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9059">
                                            <p:txEl>
                                              <p:charRg st="0" end="16"/>
                                            </p:txEl>
                                          </p:spTgt>
                                        </p:tgtEl>
                                        <p:attrNameLst>
                                          <p:attrName>style.visibility</p:attrName>
                                        </p:attrNameLst>
                                      </p:cBhvr>
                                      <p:to>
                                        <p:strVal val="visible"/>
                                      </p:to>
                                    </p:set>
                                    <p:animEffect transition="in" filter="blinds(horizontal)">
                                      <p:cBhvr>
                                        <p:cTn id="12" dur="500"/>
                                        <p:tgtEl>
                                          <p:spTgt spid="429059">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9059">
                                            <p:txEl>
                                              <p:charRg st="16" end="32"/>
                                            </p:txEl>
                                          </p:spTgt>
                                        </p:tgtEl>
                                        <p:attrNameLst>
                                          <p:attrName>style.visibility</p:attrName>
                                        </p:attrNameLst>
                                      </p:cBhvr>
                                      <p:to>
                                        <p:strVal val="visible"/>
                                      </p:to>
                                    </p:set>
                                    <p:animEffect transition="in" filter="blinds(horizontal)">
                                      <p:cBhvr>
                                        <p:cTn id="17" dur="500"/>
                                        <p:tgtEl>
                                          <p:spTgt spid="429059">
                                            <p:txEl>
                                              <p:charRg st="16" end="3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9059">
                                            <p:txEl>
                                              <p:charRg st="32" end="48"/>
                                            </p:txEl>
                                          </p:spTgt>
                                        </p:tgtEl>
                                        <p:attrNameLst>
                                          <p:attrName>style.visibility</p:attrName>
                                        </p:attrNameLst>
                                      </p:cBhvr>
                                      <p:to>
                                        <p:strVal val="visible"/>
                                      </p:to>
                                    </p:set>
                                    <p:animEffect transition="in" filter="blinds(horizontal)">
                                      <p:cBhvr>
                                        <p:cTn id="22" dur="500"/>
                                        <p:tgtEl>
                                          <p:spTgt spid="429059">
                                            <p:txEl>
                                              <p:charRg st="32" end="48"/>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29059">
                                            <p:txEl>
                                              <p:charRg st="48" end="60"/>
                                            </p:txEl>
                                          </p:spTgt>
                                        </p:tgtEl>
                                        <p:attrNameLst>
                                          <p:attrName>style.visibility</p:attrName>
                                        </p:attrNameLst>
                                      </p:cBhvr>
                                      <p:to>
                                        <p:strVal val="visible"/>
                                      </p:to>
                                    </p:set>
                                    <p:animEffect transition="in" filter="blinds(horizontal)">
                                      <p:cBhvr>
                                        <p:cTn id="25" dur="500"/>
                                        <p:tgtEl>
                                          <p:spTgt spid="429059">
                                            <p:txEl>
                                              <p:charRg st="48" end="60"/>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29059">
                                            <p:txEl>
                                              <p:charRg st="60" end="66"/>
                                            </p:txEl>
                                          </p:spTgt>
                                        </p:tgtEl>
                                        <p:attrNameLst>
                                          <p:attrName>style.visibility</p:attrName>
                                        </p:attrNameLst>
                                      </p:cBhvr>
                                      <p:to>
                                        <p:strVal val="visible"/>
                                      </p:to>
                                    </p:set>
                                    <p:animEffect transition="in" filter="blinds(horizontal)">
                                      <p:cBhvr>
                                        <p:cTn id="28" dur="500"/>
                                        <p:tgtEl>
                                          <p:spTgt spid="429059">
                                            <p:txEl>
                                              <p:charRg st="60" end="6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29059">
                                            <p:txEl>
                                              <p:charRg st="66" end="81"/>
                                            </p:txEl>
                                          </p:spTgt>
                                        </p:tgtEl>
                                        <p:attrNameLst>
                                          <p:attrName>style.visibility</p:attrName>
                                        </p:attrNameLst>
                                      </p:cBhvr>
                                      <p:to>
                                        <p:strVal val="visible"/>
                                      </p:to>
                                    </p:set>
                                    <p:animEffect transition="in" filter="blinds(horizontal)">
                                      <p:cBhvr>
                                        <p:cTn id="33" dur="500"/>
                                        <p:tgtEl>
                                          <p:spTgt spid="429059">
                                            <p:txEl>
                                              <p:charRg st="66" end="8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29059">
                                            <p:txEl>
                                              <p:charRg st="81" end="100"/>
                                            </p:txEl>
                                          </p:spTgt>
                                        </p:tgtEl>
                                        <p:attrNameLst>
                                          <p:attrName>style.visibility</p:attrName>
                                        </p:attrNameLst>
                                      </p:cBhvr>
                                      <p:to>
                                        <p:strVal val="visible"/>
                                      </p:to>
                                    </p:set>
                                    <p:animEffect transition="in" filter="blinds(horizontal)">
                                      <p:cBhvr>
                                        <p:cTn id="38" dur="500"/>
                                        <p:tgtEl>
                                          <p:spTgt spid="429059">
                                            <p:txEl>
                                              <p:charRg st="81" end="100"/>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429059">
                                            <p:txEl>
                                              <p:charRg st="100" end="119"/>
                                            </p:txEl>
                                          </p:spTgt>
                                        </p:tgtEl>
                                        <p:attrNameLst>
                                          <p:attrName>style.visibility</p:attrName>
                                        </p:attrNameLst>
                                      </p:cBhvr>
                                      <p:to>
                                        <p:strVal val="visible"/>
                                      </p:to>
                                    </p:set>
                                    <p:animEffect transition="in" filter="blinds(horizontal)">
                                      <p:cBhvr>
                                        <p:cTn id="41" dur="500"/>
                                        <p:tgtEl>
                                          <p:spTgt spid="429059">
                                            <p:txEl>
                                              <p:charRg st="100" end="119"/>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429059">
                                            <p:txEl>
                                              <p:charRg st="119" end="130"/>
                                            </p:txEl>
                                          </p:spTgt>
                                        </p:tgtEl>
                                        <p:attrNameLst>
                                          <p:attrName>style.visibility</p:attrName>
                                        </p:attrNameLst>
                                      </p:cBhvr>
                                      <p:to>
                                        <p:strVal val="visible"/>
                                      </p:to>
                                    </p:set>
                                    <p:animEffect transition="in" filter="blinds(horizontal)">
                                      <p:cBhvr>
                                        <p:cTn id="44" dur="500"/>
                                        <p:tgtEl>
                                          <p:spTgt spid="429059">
                                            <p:txEl>
                                              <p:charRg st="119" end="13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blinds(horizontal)">
                                      <p:cBhvr>
                                        <p:cTn id="4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a:spLocks noGrp="1"/>
          </p:cNvSpPr>
          <p:nvPr>
            <p:ph type="title"/>
          </p:nvPr>
        </p:nvSpPr>
        <p:spPr>
          <a:xfrm>
            <a:off x="571500" y="171450"/>
            <a:ext cx="6073775" cy="474663"/>
          </a:xfrm>
          <a:ln/>
        </p:spPr>
        <p:txBody>
          <a:bodyPr vert="horz" wrap="square" lIns="63500" tIns="25400" rIns="63500" bIns="25400" anchor="t" anchorCtr="0">
            <a:spAutoFit/>
          </a:bodyPr>
          <a:p>
            <a:r>
              <a:rPr lang="zh-CN" altLang="en-US" dirty="0">
                <a:ea typeface="宋体" panose="02010600030101010101" pitchFamily="2" charset="-122"/>
              </a:rPr>
              <a:t>阵列乘法器的实现</a:t>
            </a:r>
            <a:endParaRPr lang="zh-CN" altLang="en-US" dirty="0">
              <a:ea typeface="宋体" panose="02010600030101010101" pitchFamily="2" charset="-122"/>
            </a:endParaRPr>
          </a:p>
        </p:txBody>
      </p:sp>
      <p:sp>
        <p:nvSpPr>
          <p:cNvPr id="428035" name="Rectangle 3"/>
          <p:cNvSpPr>
            <a:spLocks noGrp="1"/>
          </p:cNvSpPr>
          <p:nvPr>
            <p:ph idx="1"/>
          </p:nvPr>
        </p:nvSpPr>
        <p:spPr>
          <a:xfrm>
            <a:off x="425450" y="784225"/>
            <a:ext cx="8191500" cy="854075"/>
          </a:xfrm>
          <a:ln/>
        </p:spPr>
        <p:txBody>
          <a:bodyPr vert="horz" wrap="square" lIns="63500" tIns="25400" rIns="63500" bIns="25400" anchor="t" anchorCtr="0">
            <a:spAutoFit/>
          </a:bodyPr>
          <a:p>
            <a:r>
              <a:rPr lang="zh-CN" altLang="en-US" dirty="0">
                <a:ea typeface="黑体" panose="02010609060101010101" pitchFamily="49" charset="-122"/>
              </a:rPr>
              <a:t>手算乘法过程</a:t>
            </a:r>
            <a:endParaRPr lang="zh-CN" altLang="en-US" dirty="0">
              <a:ea typeface="黑体" panose="02010609060101010101" pitchFamily="49" charset="-122"/>
            </a:endParaRPr>
          </a:p>
          <a:p>
            <a:r>
              <a:rPr lang="zh-CN" altLang="en-US" dirty="0">
                <a:ea typeface="黑体" panose="02010609060101010101" pitchFamily="49" charset="-122"/>
              </a:rPr>
              <a:t>阵列乘法器</a:t>
            </a:r>
            <a:endParaRPr lang="zh-CN" altLang="en-US" dirty="0">
              <a:ea typeface="黑体" panose="02010609060101010101" pitchFamily="49" charset="-122"/>
            </a:endParaRPr>
          </a:p>
        </p:txBody>
      </p:sp>
      <p:pic>
        <p:nvPicPr>
          <p:cNvPr id="428036" name="Picture 4"/>
          <p:cNvPicPr>
            <a:picLocks noChangeAspect="1"/>
          </p:cNvPicPr>
          <p:nvPr/>
        </p:nvPicPr>
        <p:blipFill>
          <a:blip r:embed="rId1"/>
          <a:stretch>
            <a:fillRect/>
          </a:stretch>
        </p:blipFill>
        <p:spPr>
          <a:xfrm>
            <a:off x="4011613" y="152400"/>
            <a:ext cx="4999037" cy="2908300"/>
          </a:xfrm>
          <a:prstGeom prst="rect">
            <a:avLst/>
          </a:prstGeom>
          <a:noFill/>
          <a:ln w="9525">
            <a:noFill/>
          </a:ln>
        </p:spPr>
      </p:pic>
      <p:grpSp>
        <p:nvGrpSpPr>
          <p:cNvPr id="2" name="Group 172"/>
          <p:cNvGrpSpPr/>
          <p:nvPr/>
        </p:nvGrpSpPr>
        <p:grpSpPr>
          <a:xfrm>
            <a:off x="293688" y="2741613"/>
            <a:ext cx="6389687" cy="4002087"/>
            <a:chOff x="185" y="1727"/>
            <a:chExt cx="4025" cy="2521"/>
          </a:xfrm>
        </p:grpSpPr>
        <p:sp>
          <p:nvSpPr>
            <p:cNvPr id="71685" name="Rectangle 6"/>
            <p:cNvSpPr/>
            <p:nvPr/>
          </p:nvSpPr>
          <p:spPr>
            <a:xfrm>
              <a:off x="761" y="2157"/>
              <a:ext cx="741" cy="761"/>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686" name="Line 7"/>
            <p:cNvSpPr/>
            <p:nvPr/>
          </p:nvSpPr>
          <p:spPr>
            <a:xfrm flipH="1">
              <a:off x="532" y="2321"/>
              <a:ext cx="989" cy="0"/>
            </a:xfrm>
            <a:prstGeom prst="line">
              <a:avLst/>
            </a:prstGeom>
            <a:ln w="9525" cap="flat" cmpd="sng">
              <a:solidFill>
                <a:srgbClr val="000000"/>
              </a:solidFill>
              <a:prstDash val="solid"/>
              <a:round/>
              <a:headEnd type="none" w="med" len="med"/>
              <a:tailEnd type="triangle" w="sm" len="med"/>
            </a:ln>
          </p:spPr>
        </p:sp>
        <p:sp>
          <p:nvSpPr>
            <p:cNvPr id="71687" name="Line 8"/>
            <p:cNvSpPr/>
            <p:nvPr/>
          </p:nvSpPr>
          <p:spPr>
            <a:xfrm>
              <a:off x="823" y="2265"/>
              <a:ext cx="569" cy="0"/>
            </a:xfrm>
            <a:prstGeom prst="line">
              <a:avLst/>
            </a:prstGeom>
            <a:ln w="9525" cap="flat" cmpd="sng">
              <a:solidFill>
                <a:srgbClr val="000000"/>
              </a:solidFill>
              <a:prstDash val="solid"/>
              <a:round/>
              <a:headEnd type="none" w="med" len="med"/>
              <a:tailEnd type="none" w="med" len="med"/>
            </a:ln>
          </p:spPr>
        </p:sp>
        <p:sp>
          <p:nvSpPr>
            <p:cNvPr id="71688" name="Line 9"/>
            <p:cNvSpPr/>
            <p:nvPr/>
          </p:nvSpPr>
          <p:spPr>
            <a:xfrm>
              <a:off x="1270" y="2329"/>
              <a:ext cx="0" cy="98"/>
            </a:xfrm>
            <a:prstGeom prst="line">
              <a:avLst/>
            </a:prstGeom>
            <a:ln w="9525" cap="flat" cmpd="sng">
              <a:solidFill>
                <a:srgbClr val="000000"/>
              </a:solidFill>
              <a:prstDash val="solid"/>
              <a:round/>
              <a:headEnd type="none" w="med" len="med"/>
              <a:tailEnd type="none" w="med" len="med"/>
            </a:ln>
          </p:spPr>
        </p:sp>
        <p:sp>
          <p:nvSpPr>
            <p:cNvPr id="71689" name="Line 10"/>
            <p:cNvSpPr/>
            <p:nvPr/>
          </p:nvSpPr>
          <p:spPr>
            <a:xfrm>
              <a:off x="1215" y="2230"/>
              <a:ext cx="0" cy="197"/>
            </a:xfrm>
            <a:prstGeom prst="line">
              <a:avLst/>
            </a:prstGeom>
            <a:ln w="9525" cap="flat" cmpd="sng">
              <a:solidFill>
                <a:srgbClr val="000000"/>
              </a:solidFill>
              <a:prstDash val="solid"/>
              <a:round/>
              <a:headEnd type="none" w="med" len="med"/>
              <a:tailEnd type="none" w="med" len="med"/>
            </a:ln>
          </p:spPr>
        </p:sp>
        <p:sp>
          <p:nvSpPr>
            <p:cNvPr id="71690" name="Rectangle 11"/>
            <p:cNvSpPr/>
            <p:nvPr/>
          </p:nvSpPr>
          <p:spPr>
            <a:xfrm>
              <a:off x="920" y="2643"/>
              <a:ext cx="500" cy="21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lgn="ctr" eaLnBrk="0" hangingPunct="0">
                <a:lnSpc>
                  <a:spcPct val="110000"/>
                </a:lnSpc>
              </a:pPr>
              <a:r>
                <a:rPr lang="zh-CN" altLang="en-US" sz="1200" dirty="0">
                  <a:latin typeface="Times New Roman" panose="02020603050405020304" pitchFamily="18" charset="0"/>
                  <a:ea typeface="宋体" panose="02010600030101010101" pitchFamily="2" charset="-122"/>
                </a:rPr>
                <a:t>全加器</a:t>
              </a:r>
              <a:endParaRPr lang="zh-CN" altLang="en-US" sz="1200" dirty="0">
                <a:latin typeface="Times New Roman" panose="02020603050405020304" pitchFamily="18" charset="0"/>
                <a:ea typeface="宋体" panose="02010600030101010101" pitchFamily="2" charset="-122"/>
              </a:endParaRPr>
            </a:p>
          </p:txBody>
        </p:sp>
        <p:sp>
          <p:nvSpPr>
            <p:cNvPr id="71691" name="Freeform 12"/>
            <p:cNvSpPr/>
            <p:nvPr/>
          </p:nvSpPr>
          <p:spPr>
            <a:xfrm>
              <a:off x="1080" y="2172"/>
              <a:ext cx="2" cy="468"/>
            </a:xfrm>
            <a:custGeom>
              <a:avLst/>
              <a:gdLst/>
              <a:ahLst/>
              <a:cxnLst>
                <a:cxn ang="0">
                  <a:pos x="0" y="0"/>
                </a:cxn>
                <a:cxn ang="0">
                  <a:pos x="1" y="1"/>
                </a:cxn>
              </a:cxnLst>
              <a:pathLst>
                <a:path w="3" h="739">
                  <a:moveTo>
                    <a:pt x="0" y="0"/>
                  </a:moveTo>
                  <a:lnTo>
                    <a:pt x="3" y="739"/>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692" name="Freeform 13"/>
            <p:cNvSpPr/>
            <p:nvPr/>
          </p:nvSpPr>
          <p:spPr>
            <a:xfrm>
              <a:off x="826" y="2256"/>
              <a:ext cx="0" cy="592"/>
            </a:xfrm>
            <a:custGeom>
              <a:avLst/>
              <a:gdLst/>
              <a:ahLst/>
              <a:cxnLst>
                <a:cxn ang="0">
                  <a:pos x="0" y="0"/>
                </a:cxn>
                <a:cxn ang="0">
                  <a:pos x="0" y="1"/>
                </a:cxn>
              </a:cxnLst>
              <a:pathLst>
                <a:path w="1" h="936">
                  <a:moveTo>
                    <a:pt x="0" y="0"/>
                  </a:moveTo>
                  <a:lnTo>
                    <a:pt x="0" y="936"/>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1693" name="Freeform 14"/>
            <p:cNvSpPr/>
            <p:nvPr/>
          </p:nvSpPr>
          <p:spPr>
            <a:xfrm>
              <a:off x="621" y="2832"/>
              <a:ext cx="209" cy="252"/>
            </a:xfrm>
            <a:custGeom>
              <a:avLst/>
              <a:gdLst/>
              <a:ahLst/>
              <a:cxnLst>
                <a:cxn ang="0">
                  <a:pos x="1" y="0"/>
                </a:cxn>
                <a:cxn ang="0">
                  <a:pos x="0" y="1"/>
                </a:cxn>
              </a:cxnLst>
              <a:pathLst>
                <a:path w="356" h="397">
                  <a:moveTo>
                    <a:pt x="356" y="0"/>
                  </a:moveTo>
                  <a:lnTo>
                    <a:pt x="0" y="397"/>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694" name="Line 15"/>
            <p:cNvSpPr/>
            <p:nvPr/>
          </p:nvSpPr>
          <p:spPr>
            <a:xfrm flipH="1">
              <a:off x="1433" y="2731"/>
              <a:ext cx="247" cy="0"/>
            </a:xfrm>
            <a:prstGeom prst="line">
              <a:avLst/>
            </a:prstGeom>
            <a:ln w="9525" cap="flat" cmpd="sng">
              <a:solidFill>
                <a:srgbClr val="000000"/>
              </a:solidFill>
              <a:prstDash val="solid"/>
              <a:round/>
              <a:headEnd type="none" w="med" len="med"/>
              <a:tailEnd type="triangle" w="sm" len="med"/>
            </a:ln>
          </p:spPr>
        </p:sp>
        <p:sp>
          <p:nvSpPr>
            <p:cNvPr id="71695" name="Line 16"/>
            <p:cNvSpPr/>
            <p:nvPr/>
          </p:nvSpPr>
          <p:spPr>
            <a:xfrm flipH="1">
              <a:off x="541" y="2744"/>
              <a:ext cx="371" cy="0"/>
            </a:xfrm>
            <a:prstGeom prst="line">
              <a:avLst/>
            </a:prstGeom>
            <a:ln w="9525" cap="flat" cmpd="sng">
              <a:solidFill>
                <a:srgbClr val="000000"/>
              </a:solidFill>
              <a:prstDash val="solid"/>
              <a:round/>
              <a:headEnd type="none" w="med" len="med"/>
              <a:tailEnd type="triangle" w="sm" len="med"/>
            </a:ln>
          </p:spPr>
        </p:sp>
        <p:sp>
          <p:nvSpPr>
            <p:cNvPr id="71696" name="Line 17"/>
            <p:cNvSpPr/>
            <p:nvPr/>
          </p:nvSpPr>
          <p:spPr>
            <a:xfrm flipH="1">
              <a:off x="1366" y="2164"/>
              <a:ext cx="129" cy="112"/>
            </a:xfrm>
            <a:prstGeom prst="line">
              <a:avLst/>
            </a:prstGeom>
            <a:ln w="9525" cap="flat" cmpd="sng">
              <a:solidFill>
                <a:srgbClr val="000000"/>
              </a:solidFill>
              <a:prstDash val="solid"/>
              <a:round/>
              <a:headEnd type="none" w="med" len="med"/>
              <a:tailEnd type="none" w="med" len="med"/>
            </a:ln>
          </p:spPr>
        </p:sp>
        <p:sp>
          <p:nvSpPr>
            <p:cNvPr id="71697" name="Line 18"/>
            <p:cNvSpPr/>
            <p:nvPr/>
          </p:nvSpPr>
          <p:spPr>
            <a:xfrm flipH="1">
              <a:off x="1501" y="1962"/>
              <a:ext cx="247" cy="197"/>
            </a:xfrm>
            <a:prstGeom prst="line">
              <a:avLst/>
            </a:prstGeom>
            <a:ln w="9525" cap="flat" cmpd="sng">
              <a:solidFill>
                <a:srgbClr val="000000"/>
              </a:solidFill>
              <a:prstDash val="solid"/>
              <a:round/>
              <a:headEnd type="none" w="med" len="med"/>
              <a:tailEnd type="triangle" w="sm" len="med"/>
            </a:ln>
          </p:spPr>
        </p:sp>
        <p:sp>
          <p:nvSpPr>
            <p:cNvPr id="71698" name="Line 19"/>
            <p:cNvSpPr/>
            <p:nvPr/>
          </p:nvSpPr>
          <p:spPr>
            <a:xfrm flipH="1">
              <a:off x="1508" y="2326"/>
              <a:ext cx="247" cy="0"/>
            </a:xfrm>
            <a:prstGeom prst="line">
              <a:avLst/>
            </a:prstGeom>
            <a:ln w="9525" cap="flat" cmpd="sng">
              <a:solidFill>
                <a:srgbClr val="000000"/>
              </a:solidFill>
              <a:prstDash val="solid"/>
              <a:round/>
              <a:headEnd type="none" w="med" len="med"/>
              <a:tailEnd type="triangle" w="sm" len="med"/>
            </a:ln>
          </p:spPr>
        </p:sp>
        <p:sp>
          <p:nvSpPr>
            <p:cNvPr id="71699" name="Line 20"/>
            <p:cNvSpPr/>
            <p:nvPr/>
          </p:nvSpPr>
          <p:spPr>
            <a:xfrm>
              <a:off x="1083" y="1962"/>
              <a:ext cx="0" cy="197"/>
            </a:xfrm>
            <a:prstGeom prst="line">
              <a:avLst/>
            </a:prstGeom>
            <a:ln w="9525" cap="flat" cmpd="sng">
              <a:solidFill>
                <a:srgbClr val="000000"/>
              </a:solidFill>
              <a:prstDash val="solid"/>
              <a:round/>
              <a:headEnd type="none" w="med" len="med"/>
              <a:tailEnd type="triangle" w="sm" len="med"/>
            </a:ln>
          </p:spPr>
        </p:sp>
        <p:sp>
          <p:nvSpPr>
            <p:cNvPr id="71700" name="Oval 21"/>
            <p:cNvSpPr/>
            <p:nvPr/>
          </p:nvSpPr>
          <p:spPr>
            <a:xfrm>
              <a:off x="1198" y="2238"/>
              <a:ext cx="33" cy="39"/>
            </a:xfrm>
            <a:prstGeom prst="ellipse">
              <a:avLst/>
            </a:prstGeom>
            <a:solidFill>
              <a:srgbClr val="000000"/>
            </a:solidFill>
            <a:ln w="9525" cap="flat" cmpd="sng">
              <a:solidFill>
                <a:srgbClr val="000000"/>
              </a:solidFill>
              <a:prstDash val="solid"/>
              <a:round/>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01" name="Oval 22"/>
            <p:cNvSpPr/>
            <p:nvPr/>
          </p:nvSpPr>
          <p:spPr>
            <a:xfrm>
              <a:off x="1252" y="2306"/>
              <a:ext cx="34" cy="39"/>
            </a:xfrm>
            <a:prstGeom prst="ellipse">
              <a:avLst/>
            </a:prstGeom>
            <a:solidFill>
              <a:srgbClr val="000000"/>
            </a:solidFill>
            <a:ln w="9525" cap="flat" cmpd="sng">
              <a:solidFill>
                <a:srgbClr val="000000"/>
              </a:solidFill>
              <a:prstDash val="solid"/>
              <a:round/>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02" name="Rectangle 23"/>
            <p:cNvSpPr/>
            <p:nvPr/>
          </p:nvSpPr>
          <p:spPr>
            <a:xfrm>
              <a:off x="2407" y="2460"/>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03" name="Line 24"/>
            <p:cNvSpPr/>
            <p:nvPr/>
          </p:nvSpPr>
          <p:spPr>
            <a:xfrm>
              <a:off x="2510" y="2302"/>
              <a:ext cx="0" cy="179"/>
            </a:xfrm>
            <a:prstGeom prst="line">
              <a:avLst/>
            </a:prstGeom>
            <a:ln w="9525" cap="flat" cmpd="sng">
              <a:solidFill>
                <a:srgbClr val="000000"/>
              </a:solidFill>
              <a:prstDash val="solid"/>
              <a:round/>
              <a:headEnd type="none" w="med" len="med"/>
              <a:tailEnd type="triangle" w="sm" len="med"/>
            </a:ln>
          </p:spPr>
        </p:sp>
        <p:sp>
          <p:nvSpPr>
            <p:cNvPr id="71704" name="Rectangle 25"/>
            <p:cNvSpPr/>
            <p:nvPr/>
          </p:nvSpPr>
          <p:spPr>
            <a:xfrm>
              <a:off x="2820" y="2465"/>
              <a:ext cx="200" cy="216"/>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05" name="Line 26"/>
            <p:cNvSpPr/>
            <p:nvPr/>
          </p:nvSpPr>
          <p:spPr>
            <a:xfrm>
              <a:off x="2910" y="2302"/>
              <a:ext cx="0" cy="179"/>
            </a:xfrm>
            <a:prstGeom prst="line">
              <a:avLst/>
            </a:prstGeom>
            <a:ln w="9525" cap="flat" cmpd="sng">
              <a:solidFill>
                <a:srgbClr val="000000"/>
              </a:solidFill>
              <a:prstDash val="solid"/>
              <a:round/>
              <a:headEnd type="none" w="med" len="med"/>
              <a:tailEnd type="triangle" w="sm" len="med"/>
            </a:ln>
          </p:spPr>
        </p:sp>
        <p:sp>
          <p:nvSpPr>
            <p:cNvPr id="71706" name="Rectangle 27"/>
            <p:cNvSpPr/>
            <p:nvPr/>
          </p:nvSpPr>
          <p:spPr>
            <a:xfrm>
              <a:off x="3219" y="2465"/>
              <a:ext cx="200" cy="216"/>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07" name="Line 28"/>
            <p:cNvSpPr/>
            <p:nvPr/>
          </p:nvSpPr>
          <p:spPr>
            <a:xfrm>
              <a:off x="3316" y="2291"/>
              <a:ext cx="0" cy="190"/>
            </a:xfrm>
            <a:prstGeom prst="line">
              <a:avLst/>
            </a:prstGeom>
            <a:ln w="9525" cap="flat" cmpd="sng">
              <a:solidFill>
                <a:srgbClr val="000000"/>
              </a:solidFill>
              <a:prstDash val="solid"/>
              <a:round/>
              <a:headEnd type="none" w="med" len="med"/>
              <a:tailEnd type="triangle" w="sm" len="med"/>
            </a:ln>
          </p:spPr>
        </p:sp>
        <p:sp>
          <p:nvSpPr>
            <p:cNvPr id="71708" name="Line 29"/>
            <p:cNvSpPr/>
            <p:nvPr/>
          </p:nvSpPr>
          <p:spPr>
            <a:xfrm>
              <a:off x="3736" y="2302"/>
              <a:ext cx="0" cy="179"/>
            </a:xfrm>
            <a:prstGeom prst="line">
              <a:avLst/>
            </a:prstGeom>
            <a:ln w="9525" cap="flat" cmpd="sng">
              <a:solidFill>
                <a:srgbClr val="000000"/>
              </a:solidFill>
              <a:prstDash val="solid"/>
              <a:round/>
              <a:headEnd type="none" w="med" len="med"/>
              <a:tailEnd type="triangle" w="sm" len="med"/>
            </a:ln>
          </p:spPr>
        </p:sp>
        <p:sp>
          <p:nvSpPr>
            <p:cNvPr id="71709" name="Rectangle 30"/>
            <p:cNvSpPr/>
            <p:nvPr/>
          </p:nvSpPr>
          <p:spPr>
            <a:xfrm>
              <a:off x="2007" y="2851"/>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10" name="Rectangle 31"/>
            <p:cNvSpPr/>
            <p:nvPr/>
          </p:nvSpPr>
          <p:spPr>
            <a:xfrm>
              <a:off x="2407" y="2849"/>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11" name="Rectangle 32"/>
            <p:cNvSpPr/>
            <p:nvPr/>
          </p:nvSpPr>
          <p:spPr>
            <a:xfrm>
              <a:off x="2820" y="2849"/>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12" name="Rectangle 33"/>
            <p:cNvSpPr/>
            <p:nvPr/>
          </p:nvSpPr>
          <p:spPr>
            <a:xfrm>
              <a:off x="3226" y="2849"/>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13" name="Freeform 34"/>
            <p:cNvSpPr/>
            <p:nvPr/>
          </p:nvSpPr>
          <p:spPr>
            <a:xfrm>
              <a:off x="2111" y="2600"/>
              <a:ext cx="1" cy="243"/>
            </a:xfrm>
            <a:custGeom>
              <a:avLst/>
              <a:gdLst/>
              <a:ahLst/>
              <a:cxnLst>
                <a:cxn ang="0">
                  <a:pos x="0" y="0"/>
                </a:cxn>
                <a:cxn ang="0">
                  <a:pos x="0" y="1"/>
                </a:cxn>
              </a:cxnLst>
              <a:pathLst>
                <a:path w="1" h="384">
                  <a:moveTo>
                    <a:pt x="0" y="0"/>
                  </a:moveTo>
                  <a:lnTo>
                    <a:pt x="0" y="384"/>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14" name="Line 35"/>
            <p:cNvSpPr/>
            <p:nvPr/>
          </p:nvSpPr>
          <p:spPr>
            <a:xfrm>
              <a:off x="2510" y="2678"/>
              <a:ext cx="0" cy="179"/>
            </a:xfrm>
            <a:prstGeom prst="line">
              <a:avLst/>
            </a:prstGeom>
            <a:ln w="9525" cap="flat" cmpd="sng">
              <a:solidFill>
                <a:srgbClr val="000000"/>
              </a:solidFill>
              <a:prstDash val="solid"/>
              <a:round/>
              <a:headEnd type="none" w="med" len="med"/>
              <a:tailEnd type="triangle" w="sm" len="med"/>
            </a:ln>
          </p:spPr>
        </p:sp>
        <p:sp>
          <p:nvSpPr>
            <p:cNvPr id="71715" name="Line 36"/>
            <p:cNvSpPr/>
            <p:nvPr/>
          </p:nvSpPr>
          <p:spPr>
            <a:xfrm>
              <a:off x="3311" y="2678"/>
              <a:ext cx="0" cy="179"/>
            </a:xfrm>
            <a:prstGeom prst="line">
              <a:avLst/>
            </a:prstGeom>
            <a:ln w="9525" cap="flat" cmpd="sng">
              <a:solidFill>
                <a:srgbClr val="000000"/>
              </a:solidFill>
              <a:prstDash val="solid"/>
              <a:round/>
              <a:headEnd type="none" w="med" len="med"/>
              <a:tailEnd type="triangle" w="sm" len="med"/>
            </a:ln>
          </p:spPr>
        </p:sp>
        <p:sp>
          <p:nvSpPr>
            <p:cNvPr id="71716" name="Line 37"/>
            <p:cNvSpPr/>
            <p:nvPr/>
          </p:nvSpPr>
          <p:spPr>
            <a:xfrm>
              <a:off x="2913" y="2686"/>
              <a:ext cx="0" cy="179"/>
            </a:xfrm>
            <a:prstGeom prst="line">
              <a:avLst/>
            </a:prstGeom>
            <a:ln w="9525" cap="flat" cmpd="sng">
              <a:solidFill>
                <a:srgbClr val="000000"/>
              </a:solidFill>
              <a:prstDash val="solid"/>
              <a:round/>
              <a:headEnd type="none" w="med" len="med"/>
              <a:tailEnd type="triangle" w="sm" len="med"/>
            </a:ln>
          </p:spPr>
        </p:sp>
        <p:sp>
          <p:nvSpPr>
            <p:cNvPr id="71717" name="Rectangle 38"/>
            <p:cNvSpPr/>
            <p:nvPr/>
          </p:nvSpPr>
          <p:spPr>
            <a:xfrm>
              <a:off x="2011" y="3232"/>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18" name="Rectangle 39"/>
            <p:cNvSpPr/>
            <p:nvPr/>
          </p:nvSpPr>
          <p:spPr>
            <a:xfrm>
              <a:off x="2410" y="3230"/>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19" name="Rectangle 40"/>
            <p:cNvSpPr/>
            <p:nvPr/>
          </p:nvSpPr>
          <p:spPr>
            <a:xfrm>
              <a:off x="2818" y="3232"/>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20" name="Rectangle 41"/>
            <p:cNvSpPr/>
            <p:nvPr/>
          </p:nvSpPr>
          <p:spPr>
            <a:xfrm>
              <a:off x="1615" y="3237"/>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21" name="Line 42"/>
            <p:cNvSpPr/>
            <p:nvPr/>
          </p:nvSpPr>
          <p:spPr>
            <a:xfrm>
              <a:off x="2919" y="3069"/>
              <a:ext cx="0" cy="179"/>
            </a:xfrm>
            <a:prstGeom prst="line">
              <a:avLst/>
            </a:prstGeom>
            <a:ln w="9525" cap="flat" cmpd="sng">
              <a:solidFill>
                <a:srgbClr val="000000"/>
              </a:solidFill>
              <a:prstDash val="solid"/>
              <a:round/>
              <a:headEnd type="none" w="med" len="med"/>
              <a:tailEnd type="triangle" w="sm" len="med"/>
            </a:ln>
          </p:spPr>
        </p:sp>
        <p:sp>
          <p:nvSpPr>
            <p:cNvPr id="71722" name="Line 43"/>
            <p:cNvSpPr/>
            <p:nvPr/>
          </p:nvSpPr>
          <p:spPr>
            <a:xfrm>
              <a:off x="2114" y="3063"/>
              <a:ext cx="0" cy="179"/>
            </a:xfrm>
            <a:prstGeom prst="line">
              <a:avLst/>
            </a:prstGeom>
            <a:ln w="9525" cap="flat" cmpd="sng">
              <a:solidFill>
                <a:srgbClr val="000000"/>
              </a:solidFill>
              <a:prstDash val="solid"/>
              <a:round/>
              <a:headEnd type="none" w="med" len="med"/>
              <a:tailEnd type="triangle" w="sm" len="med"/>
            </a:ln>
          </p:spPr>
        </p:sp>
        <p:sp>
          <p:nvSpPr>
            <p:cNvPr id="71723" name="Line 44"/>
            <p:cNvSpPr/>
            <p:nvPr/>
          </p:nvSpPr>
          <p:spPr>
            <a:xfrm>
              <a:off x="2503" y="3063"/>
              <a:ext cx="0" cy="179"/>
            </a:xfrm>
            <a:prstGeom prst="line">
              <a:avLst/>
            </a:prstGeom>
            <a:ln w="9525" cap="flat" cmpd="sng">
              <a:solidFill>
                <a:srgbClr val="000000"/>
              </a:solidFill>
              <a:prstDash val="solid"/>
              <a:round/>
              <a:headEnd type="none" w="med" len="med"/>
              <a:tailEnd type="triangle" w="sm" len="med"/>
            </a:ln>
          </p:spPr>
        </p:sp>
        <p:sp>
          <p:nvSpPr>
            <p:cNvPr id="71724" name="Freeform 45"/>
            <p:cNvSpPr/>
            <p:nvPr/>
          </p:nvSpPr>
          <p:spPr>
            <a:xfrm>
              <a:off x="1730" y="2995"/>
              <a:ext cx="1" cy="251"/>
            </a:xfrm>
            <a:custGeom>
              <a:avLst/>
              <a:gdLst/>
              <a:ahLst/>
              <a:cxnLst>
                <a:cxn ang="0">
                  <a:pos x="0" y="0"/>
                </a:cxn>
                <a:cxn ang="0">
                  <a:pos x="0" y="1"/>
                </a:cxn>
              </a:cxnLst>
              <a:pathLst>
                <a:path w="1" h="396">
                  <a:moveTo>
                    <a:pt x="0" y="0"/>
                  </a:moveTo>
                  <a:lnTo>
                    <a:pt x="0" y="396"/>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25" name="Rectangle 46"/>
            <p:cNvSpPr/>
            <p:nvPr/>
          </p:nvSpPr>
          <p:spPr>
            <a:xfrm>
              <a:off x="1209" y="3652"/>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26" name="Rectangle 47"/>
            <p:cNvSpPr/>
            <p:nvPr/>
          </p:nvSpPr>
          <p:spPr>
            <a:xfrm>
              <a:off x="1615" y="3652"/>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27" name="Rectangle 48"/>
            <p:cNvSpPr/>
            <p:nvPr/>
          </p:nvSpPr>
          <p:spPr>
            <a:xfrm>
              <a:off x="2407" y="3644"/>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28" name="Line 49"/>
            <p:cNvSpPr/>
            <p:nvPr/>
          </p:nvSpPr>
          <p:spPr>
            <a:xfrm>
              <a:off x="1715" y="3450"/>
              <a:ext cx="0" cy="215"/>
            </a:xfrm>
            <a:prstGeom prst="line">
              <a:avLst/>
            </a:prstGeom>
            <a:ln w="9525" cap="flat" cmpd="sng">
              <a:solidFill>
                <a:srgbClr val="000000"/>
              </a:solidFill>
              <a:prstDash val="solid"/>
              <a:round/>
              <a:headEnd type="none" w="med" len="med"/>
              <a:tailEnd type="triangle" w="sm" len="med"/>
            </a:ln>
          </p:spPr>
        </p:sp>
        <p:sp>
          <p:nvSpPr>
            <p:cNvPr id="71729" name="Line 50"/>
            <p:cNvSpPr/>
            <p:nvPr/>
          </p:nvSpPr>
          <p:spPr>
            <a:xfrm>
              <a:off x="2121" y="3446"/>
              <a:ext cx="0" cy="215"/>
            </a:xfrm>
            <a:prstGeom prst="line">
              <a:avLst/>
            </a:prstGeom>
            <a:ln w="9525" cap="flat" cmpd="sng">
              <a:solidFill>
                <a:srgbClr val="000000"/>
              </a:solidFill>
              <a:prstDash val="solid"/>
              <a:round/>
              <a:headEnd type="none" w="med" len="med"/>
              <a:tailEnd type="triangle" w="sm" len="med"/>
            </a:ln>
          </p:spPr>
        </p:sp>
        <p:sp>
          <p:nvSpPr>
            <p:cNvPr id="71730" name="Line 51"/>
            <p:cNvSpPr/>
            <p:nvPr/>
          </p:nvSpPr>
          <p:spPr>
            <a:xfrm>
              <a:off x="2499" y="3442"/>
              <a:ext cx="0" cy="215"/>
            </a:xfrm>
            <a:prstGeom prst="line">
              <a:avLst/>
            </a:prstGeom>
            <a:ln w="9525" cap="flat" cmpd="sng">
              <a:solidFill>
                <a:srgbClr val="000000"/>
              </a:solidFill>
              <a:prstDash val="solid"/>
              <a:round/>
              <a:headEnd type="none" w="med" len="med"/>
              <a:tailEnd type="triangle" w="sm" len="med"/>
            </a:ln>
          </p:spPr>
        </p:sp>
        <p:sp>
          <p:nvSpPr>
            <p:cNvPr id="71731" name="Freeform 52"/>
            <p:cNvSpPr/>
            <p:nvPr/>
          </p:nvSpPr>
          <p:spPr>
            <a:xfrm>
              <a:off x="1306" y="3380"/>
              <a:ext cx="1" cy="303"/>
            </a:xfrm>
            <a:custGeom>
              <a:avLst/>
              <a:gdLst/>
              <a:ahLst/>
              <a:cxnLst>
                <a:cxn ang="0">
                  <a:pos x="0" y="0"/>
                </a:cxn>
                <a:cxn ang="0">
                  <a:pos x="0" y="1"/>
                </a:cxn>
              </a:cxnLst>
              <a:pathLst>
                <a:path w="1" h="480">
                  <a:moveTo>
                    <a:pt x="0" y="0"/>
                  </a:moveTo>
                  <a:lnTo>
                    <a:pt x="0" y="48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32" name="Line 53"/>
            <p:cNvSpPr/>
            <p:nvPr/>
          </p:nvSpPr>
          <p:spPr>
            <a:xfrm flipH="1">
              <a:off x="2613" y="2541"/>
              <a:ext cx="200" cy="0"/>
            </a:xfrm>
            <a:prstGeom prst="line">
              <a:avLst/>
            </a:prstGeom>
            <a:ln w="9525" cap="flat" cmpd="sng">
              <a:solidFill>
                <a:srgbClr val="000000"/>
              </a:solidFill>
              <a:prstDash val="solid"/>
              <a:round/>
              <a:headEnd type="none" w="med" len="med"/>
              <a:tailEnd type="triangle" w="sm" len="med"/>
            </a:ln>
          </p:spPr>
        </p:sp>
        <p:sp>
          <p:nvSpPr>
            <p:cNvPr id="71733" name="Line 54"/>
            <p:cNvSpPr/>
            <p:nvPr/>
          </p:nvSpPr>
          <p:spPr>
            <a:xfrm flipH="1">
              <a:off x="2613" y="2607"/>
              <a:ext cx="200" cy="0"/>
            </a:xfrm>
            <a:prstGeom prst="line">
              <a:avLst/>
            </a:prstGeom>
            <a:ln w="9525" cap="flat" cmpd="sng">
              <a:solidFill>
                <a:srgbClr val="000000"/>
              </a:solidFill>
              <a:prstDash val="solid"/>
              <a:round/>
              <a:headEnd type="none" w="med" len="med"/>
              <a:tailEnd type="triangle" w="sm" len="med"/>
            </a:ln>
          </p:spPr>
        </p:sp>
        <p:sp>
          <p:nvSpPr>
            <p:cNvPr id="71734" name="Line 55"/>
            <p:cNvSpPr/>
            <p:nvPr/>
          </p:nvSpPr>
          <p:spPr>
            <a:xfrm flipH="1">
              <a:off x="3026" y="2541"/>
              <a:ext cx="200" cy="0"/>
            </a:xfrm>
            <a:prstGeom prst="line">
              <a:avLst/>
            </a:prstGeom>
            <a:ln w="9525" cap="flat" cmpd="sng">
              <a:solidFill>
                <a:srgbClr val="000000"/>
              </a:solidFill>
              <a:prstDash val="solid"/>
              <a:round/>
              <a:headEnd type="none" w="med" len="med"/>
              <a:tailEnd type="triangle" w="sm" len="med"/>
            </a:ln>
          </p:spPr>
        </p:sp>
        <p:sp>
          <p:nvSpPr>
            <p:cNvPr id="71735" name="Line 56"/>
            <p:cNvSpPr/>
            <p:nvPr/>
          </p:nvSpPr>
          <p:spPr>
            <a:xfrm flipH="1">
              <a:off x="3026" y="2607"/>
              <a:ext cx="200" cy="0"/>
            </a:xfrm>
            <a:prstGeom prst="line">
              <a:avLst/>
            </a:prstGeom>
            <a:ln w="9525" cap="flat" cmpd="sng">
              <a:solidFill>
                <a:srgbClr val="000000"/>
              </a:solidFill>
              <a:prstDash val="solid"/>
              <a:round/>
              <a:headEnd type="none" w="med" len="med"/>
              <a:tailEnd type="triangle" w="sm" len="med"/>
            </a:ln>
          </p:spPr>
        </p:sp>
        <p:sp>
          <p:nvSpPr>
            <p:cNvPr id="71736" name="Line 57"/>
            <p:cNvSpPr/>
            <p:nvPr/>
          </p:nvSpPr>
          <p:spPr>
            <a:xfrm flipH="1">
              <a:off x="3424" y="2541"/>
              <a:ext cx="229" cy="0"/>
            </a:xfrm>
            <a:prstGeom prst="line">
              <a:avLst/>
            </a:prstGeom>
            <a:ln w="9525" cap="flat" cmpd="sng">
              <a:solidFill>
                <a:srgbClr val="000000"/>
              </a:solidFill>
              <a:prstDash val="solid"/>
              <a:round/>
              <a:headEnd type="none" w="med" len="med"/>
              <a:tailEnd type="triangle" w="sm" len="med"/>
            </a:ln>
          </p:spPr>
        </p:sp>
        <p:sp>
          <p:nvSpPr>
            <p:cNvPr id="71737" name="Line 58"/>
            <p:cNvSpPr/>
            <p:nvPr/>
          </p:nvSpPr>
          <p:spPr>
            <a:xfrm flipH="1">
              <a:off x="3424" y="2607"/>
              <a:ext cx="200" cy="0"/>
            </a:xfrm>
            <a:prstGeom prst="line">
              <a:avLst/>
            </a:prstGeom>
            <a:ln w="9525" cap="flat" cmpd="sng">
              <a:solidFill>
                <a:srgbClr val="000000"/>
              </a:solidFill>
              <a:prstDash val="solid"/>
              <a:round/>
              <a:headEnd type="none" w="med" len="med"/>
              <a:tailEnd type="triangle" w="sm" len="med"/>
            </a:ln>
          </p:spPr>
        </p:sp>
        <p:sp>
          <p:nvSpPr>
            <p:cNvPr id="71738" name="Line 59"/>
            <p:cNvSpPr/>
            <p:nvPr/>
          </p:nvSpPr>
          <p:spPr>
            <a:xfrm flipH="1">
              <a:off x="1813" y="3306"/>
              <a:ext cx="200" cy="0"/>
            </a:xfrm>
            <a:prstGeom prst="line">
              <a:avLst/>
            </a:prstGeom>
            <a:ln w="9525" cap="flat" cmpd="sng">
              <a:solidFill>
                <a:srgbClr val="000000"/>
              </a:solidFill>
              <a:prstDash val="solid"/>
              <a:round/>
              <a:headEnd type="none" w="med" len="med"/>
              <a:tailEnd type="triangle" w="sm" len="med"/>
            </a:ln>
          </p:spPr>
        </p:sp>
        <p:sp>
          <p:nvSpPr>
            <p:cNvPr id="71739" name="Line 60"/>
            <p:cNvSpPr/>
            <p:nvPr/>
          </p:nvSpPr>
          <p:spPr>
            <a:xfrm flipH="1">
              <a:off x="1822" y="3374"/>
              <a:ext cx="200" cy="0"/>
            </a:xfrm>
            <a:prstGeom prst="line">
              <a:avLst/>
            </a:prstGeom>
            <a:ln w="9525" cap="flat" cmpd="sng">
              <a:solidFill>
                <a:srgbClr val="000000"/>
              </a:solidFill>
              <a:prstDash val="solid"/>
              <a:round/>
              <a:headEnd type="none" w="med" len="med"/>
              <a:tailEnd type="triangle" w="sm" len="med"/>
            </a:ln>
          </p:spPr>
        </p:sp>
        <p:sp>
          <p:nvSpPr>
            <p:cNvPr id="71740" name="Line 61"/>
            <p:cNvSpPr/>
            <p:nvPr/>
          </p:nvSpPr>
          <p:spPr>
            <a:xfrm flipH="1">
              <a:off x="2613" y="2929"/>
              <a:ext cx="200" cy="0"/>
            </a:xfrm>
            <a:prstGeom prst="line">
              <a:avLst/>
            </a:prstGeom>
            <a:ln w="9525" cap="flat" cmpd="sng">
              <a:solidFill>
                <a:srgbClr val="000000"/>
              </a:solidFill>
              <a:prstDash val="solid"/>
              <a:round/>
              <a:headEnd type="none" w="med" len="med"/>
              <a:tailEnd type="triangle" w="sm" len="med"/>
            </a:ln>
          </p:spPr>
        </p:sp>
        <p:sp>
          <p:nvSpPr>
            <p:cNvPr id="71741" name="Line 62"/>
            <p:cNvSpPr/>
            <p:nvPr/>
          </p:nvSpPr>
          <p:spPr>
            <a:xfrm flipH="1">
              <a:off x="2613" y="2997"/>
              <a:ext cx="200" cy="0"/>
            </a:xfrm>
            <a:prstGeom prst="line">
              <a:avLst/>
            </a:prstGeom>
            <a:ln w="9525" cap="flat" cmpd="sng">
              <a:solidFill>
                <a:srgbClr val="000000"/>
              </a:solidFill>
              <a:prstDash val="solid"/>
              <a:round/>
              <a:headEnd type="none" w="med" len="med"/>
              <a:tailEnd type="triangle" w="sm" len="med"/>
            </a:ln>
          </p:spPr>
        </p:sp>
        <p:sp>
          <p:nvSpPr>
            <p:cNvPr id="71742" name="Line 63"/>
            <p:cNvSpPr/>
            <p:nvPr/>
          </p:nvSpPr>
          <p:spPr>
            <a:xfrm flipH="1">
              <a:off x="2213" y="2929"/>
              <a:ext cx="200" cy="0"/>
            </a:xfrm>
            <a:prstGeom prst="line">
              <a:avLst/>
            </a:prstGeom>
            <a:ln w="9525" cap="flat" cmpd="sng">
              <a:solidFill>
                <a:srgbClr val="000000"/>
              </a:solidFill>
              <a:prstDash val="solid"/>
              <a:round/>
              <a:headEnd type="none" w="med" len="med"/>
              <a:tailEnd type="triangle" w="sm" len="med"/>
            </a:ln>
          </p:spPr>
        </p:sp>
        <p:sp>
          <p:nvSpPr>
            <p:cNvPr id="71743" name="Line 64"/>
            <p:cNvSpPr/>
            <p:nvPr/>
          </p:nvSpPr>
          <p:spPr>
            <a:xfrm flipH="1">
              <a:off x="2213" y="2997"/>
              <a:ext cx="200" cy="0"/>
            </a:xfrm>
            <a:prstGeom prst="line">
              <a:avLst/>
            </a:prstGeom>
            <a:ln w="9525" cap="flat" cmpd="sng">
              <a:solidFill>
                <a:srgbClr val="000000"/>
              </a:solidFill>
              <a:prstDash val="solid"/>
              <a:round/>
              <a:headEnd type="none" w="med" len="med"/>
              <a:tailEnd type="triangle" w="sm" len="med"/>
            </a:ln>
          </p:spPr>
        </p:sp>
        <p:sp>
          <p:nvSpPr>
            <p:cNvPr id="71744" name="Line 65"/>
            <p:cNvSpPr/>
            <p:nvPr/>
          </p:nvSpPr>
          <p:spPr>
            <a:xfrm flipH="1">
              <a:off x="3018" y="3306"/>
              <a:ext cx="201" cy="0"/>
            </a:xfrm>
            <a:prstGeom prst="line">
              <a:avLst/>
            </a:prstGeom>
            <a:ln w="9525" cap="flat" cmpd="sng">
              <a:solidFill>
                <a:srgbClr val="000000"/>
              </a:solidFill>
              <a:prstDash val="solid"/>
              <a:round/>
              <a:headEnd type="none" w="med" len="med"/>
              <a:tailEnd type="triangle" w="sm" len="med"/>
            </a:ln>
          </p:spPr>
        </p:sp>
        <p:sp>
          <p:nvSpPr>
            <p:cNvPr id="71745" name="Line 66"/>
            <p:cNvSpPr/>
            <p:nvPr/>
          </p:nvSpPr>
          <p:spPr>
            <a:xfrm flipH="1">
              <a:off x="3018" y="3375"/>
              <a:ext cx="201" cy="0"/>
            </a:xfrm>
            <a:prstGeom prst="line">
              <a:avLst/>
            </a:prstGeom>
            <a:ln w="9525" cap="flat" cmpd="sng">
              <a:solidFill>
                <a:srgbClr val="000000"/>
              </a:solidFill>
              <a:prstDash val="solid"/>
              <a:round/>
              <a:headEnd type="none" w="med" len="med"/>
              <a:tailEnd type="triangle" w="sm" len="med"/>
            </a:ln>
          </p:spPr>
        </p:sp>
        <p:sp>
          <p:nvSpPr>
            <p:cNvPr id="71746" name="Line 67"/>
            <p:cNvSpPr/>
            <p:nvPr/>
          </p:nvSpPr>
          <p:spPr>
            <a:xfrm flipH="1">
              <a:off x="2613" y="3306"/>
              <a:ext cx="200" cy="0"/>
            </a:xfrm>
            <a:prstGeom prst="line">
              <a:avLst/>
            </a:prstGeom>
            <a:ln w="9525" cap="flat" cmpd="sng">
              <a:solidFill>
                <a:srgbClr val="000000"/>
              </a:solidFill>
              <a:prstDash val="solid"/>
              <a:round/>
              <a:headEnd type="none" w="med" len="med"/>
              <a:tailEnd type="triangle" w="sm" len="med"/>
            </a:ln>
          </p:spPr>
        </p:sp>
        <p:sp>
          <p:nvSpPr>
            <p:cNvPr id="71747" name="Line 68"/>
            <p:cNvSpPr/>
            <p:nvPr/>
          </p:nvSpPr>
          <p:spPr>
            <a:xfrm flipH="1">
              <a:off x="2613" y="3375"/>
              <a:ext cx="200" cy="0"/>
            </a:xfrm>
            <a:prstGeom prst="line">
              <a:avLst/>
            </a:prstGeom>
            <a:ln w="9525" cap="flat" cmpd="sng">
              <a:solidFill>
                <a:srgbClr val="000000"/>
              </a:solidFill>
              <a:prstDash val="solid"/>
              <a:round/>
              <a:headEnd type="none" w="med" len="med"/>
              <a:tailEnd type="triangle" w="sm" len="med"/>
            </a:ln>
          </p:spPr>
        </p:sp>
        <p:sp>
          <p:nvSpPr>
            <p:cNvPr id="71748" name="Line 69"/>
            <p:cNvSpPr/>
            <p:nvPr/>
          </p:nvSpPr>
          <p:spPr>
            <a:xfrm flipH="1">
              <a:off x="2206" y="3306"/>
              <a:ext cx="200" cy="0"/>
            </a:xfrm>
            <a:prstGeom prst="line">
              <a:avLst/>
            </a:prstGeom>
            <a:ln w="9525" cap="flat" cmpd="sng">
              <a:solidFill>
                <a:srgbClr val="000000"/>
              </a:solidFill>
              <a:prstDash val="solid"/>
              <a:round/>
              <a:headEnd type="none" w="med" len="med"/>
              <a:tailEnd type="triangle" w="sm" len="med"/>
            </a:ln>
          </p:spPr>
        </p:sp>
        <p:sp>
          <p:nvSpPr>
            <p:cNvPr id="71749" name="Line 70"/>
            <p:cNvSpPr/>
            <p:nvPr/>
          </p:nvSpPr>
          <p:spPr>
            <a:xfrm flipH="1">
              <a:off x="2206" y="3375"/>
              <a:ext cx="200" cy="0"/>
            </a:xfrm>
            <a:prstGeom prst="line">
              <a:avLst/>
            </a:prstGeom>
            <a:ln w="9525" cap="flat" cmpd="sng">
              <a:solidFill>
                <a:srgbClr val="000000"/>
              </a:solidFill>
              <a:prstDash val="solid"/>
              <a:round/>
              <a:headEnd type="none" w="med" len="med"/>
              <a:tailEnd type="triangle" w="sm" len="med"/>
            </a:ln>
          </p:spPr>
        </p:sp>
        <p:sp>
          <p:nvSpPr>
            <p:cNvPr id="71750" name="Line 71"/>
            <p:cNvSpPr/>
            <p:nvPr/>
          </p:nvSpPr>
          <p:spPr>
            <a:xfrm flipH="1">
              <a:off x="2200" y="3724"/>
              <a:ext cx="200" cy="0"/>
            </a:xfrm>
            <a:prstGeom prst="line">
              <a:avLst/>
            </a:prstGeom>
            <a:ln w="9525" cap="flat" cmpd="sng">
              <a:solidFill>
                <a:srgbClr val="000000"/>
              </a:solidFill>
              <a:prstDash val="solid"/>
              <a:round/>
              <a:headEnd type="none" w="med" len="med"/>
              <a:tailEnd type="triangle" w="sm" len="med"/>
            </a:ln>
          </p:spPr>
        </p:sp>
        <p:sp>
          <p:nvSpPr>
            <p:cNvPr id="71751" name="Line 72"/>
            <p:cNvSpPr/>
            <p:nvPr/>
          </p:nvSpPr>
          <p:spPr>
            <a:xfrm flipH="1">
              <a:off x="2200" y="3792"/>
              <a:ext cx="200" cy="0"/>
            </a:xfrm>
            <a:prstGeom prst="line">
              <a:avLst/>
            </a:prstGeom>
            <a:ln w="9525" cap="flat" cmpd="sng">
              <a:solidFill>
                <a:srgbClr val="000000"/>
              </a:solidFill>
              <a:prstDash val="solid"/>
              <a:round/>
              <a:headEnd type="none" w="med" len="med"/>
              <a:tailEnd type="triangle" w="sm" len="med"/>
            </a:ln>
          </p:spPr>
        </p:sp>
        <p:sp>
          <p:nvSpPr>
            <p:cNvPr id="71752" name="Line 73"/>
            <p:cNvSpPr/>
            <p:nvPr/>
          </p:nvSpPr>
          <p:spPr>
            <a:xfrm flipH="1">
              <a:off x="1807" y="3724"/>
              <a:ext cx="200" cy="0"/>
            </a:xfrm>
            <a:prstGeom prst="line">
              <a:avLst/>
            </a:prstGeom>
            <a:ln w="9525" cap="flat" cmpd="sng">
              <a:solidFill>
                <a:srgbClr val="000000"/>
              </a:solidFill>
              <a:prstDash val="solid"/>
              <a:round/>
              <a:headEnd type="none" w="med" len="med"/>
              <a:tailEnd type="triangle" w="sm" len="med"/>
            </a:ln>
          </p:spPr>
        </p:sp>
        <p:sp>
          <p:nvSpPr>
            <p:cNvPr id="71753" name="Line 74"/>
            <p:cNvSpPr/>
            <p:nvPr/>
          </p:nvSpPr>
          <p:spPr>
            <a:xfrm flipH="1">
              <a:off x="1807" y="3792"/>
              <a:ext cx="200" cy="0"/>
            </a:xfrm>
            <a:prstGeom prst="line">
              <a:avLst/>
            </a:prstGeom>
            <a:ln w="9525" cap="flat" cmpd="sng">
              <a:solidFill>
                <a:srgbClr val="000000"/>
              </a:solidFill>
              <a:prstDash val="solid"/>
              <a:round/>
              <a:headEnd type="none" w="med" len="med"/>
              <a:tailEnd type="triangle" w="sm" len="med"/>
            </a:ln>
          </p:spPr>
        </p:sp>
        <p:sp>
          <p:nvSpPr>
            <p:cNvPr id="71754" name="Line 75"/>
            <p:cNvSpPr/>
            <p:nvPr/>
          </p:nvSpPr>
          <p:spPr>
            <a:xfrm flipH="1">
              <a:off x="1408" y="3724"/>
              <a:ext cx="200" cy="0"/>
            </a:xfrm>
            <a:prstGeom prst="line">
              <a:avLst/>
            </a:prstGeom>
            <a:ln w="9525" cap="flat" cmpd="sng">
              <a:solidFill>
                <a:srgbClr val="000000"/>
              </a:solidFill>
              <a:prstDash val="solid"/>
              <a:round/>
              <a:headEnd type="none" w="med" len="med"/>
              <a:tailEnd type="triangle" w="sm" len="med"/>
            </a:ln>
          </p:spPr>
        </p:sp>
        <p:sp>
          <p:nvSpPr>
            <p:cNvPr id="71755" name="Line 76"/>
            <p:cNvSpPr/>
            <p:nvPr/>
          </p:nvSpPr>
          <p:spPr>
            <a:xfrm flipH="1">
              <a:off x="1408" y="3792"/>
              <a:ext cx="200" cy="0"/>
            </a:xfrm>
            <a:prstGeom prst="line">
              <a:avLst/>
            </a:prstGeom>
            <a:ln w="9525" cap="flat" cmpd="sng">
              <a:solidFill>
                <a:srgbClr val="000000"/>
              </a:solidFill>
              <a:prstDash val="solid"/>
              <a:round/>
              <a:headEnd type="none" w="med" len="med"/>
              <a:tailEnd type="triangle" w="sm" len="med"/>
            </a:ln>
          </p:spPr>
        </p:sp>
        <p:sp>
          <p:nvSpPr>
            <p:cNvPr id="71756" name="Line 77"/>
            <p:cNvSpPr/>
            <p:nvPr/>
          </p:nvSpPr>
          <p:spPr>
            <a:xfrm flipH="1">
              <a:off x="2614" y="3724"/>
              <a:ext cx="200" cy="0"/>
            </a:xfrm>
            <a:prstGeom prst="line">
              <a:avLst/>
            </a:prstGeom>
            <a:ln w="9525" cap="flat" cmpd="sng">
              <a:solidFill>
                <a:srgbClr val="000000"/>
              </a:solidFill>
              <a:prstDash val="solid"/>
              <a:round/>
              <a:headEnd type="none" w="med" len="med"/>
              <a:tailEnd type="triangle" w="sm" len="med"/>
            </a:ln>
          </p:spPr>
        </p:sp>
        <p:sp>
          <p:nvSpPr>
            <p:cNvPr id="71757" name="Line 78"/>
            <p:cNvSpPr/>
            <p:nvPr/>
          </p:nvSpPr>
          <p:spPr>
            <a:xfrm flipH="1">
              <a:off x="2614" y="3792"/>
              <a:ext cx="200" cy="0"/>
            </a:xfrm>
            <a:prstGeom prst="line">
              <a:avLst/>
            </a:prstGeom>
            <a:ln w="9525" cap="flat" cmpd="sng">
              <a:solidFill>
                <a:srgbClr val="000000"/>
              </a:solidFill>
              <a:prstDash val="solid"/>
              <a:round/>
              <a:headEnd type="none" w="med" len="med"/>
              <a:tailEnd type="triangle" w="sm" len="med"/>
            </a:ln>
          </p:spPr>
        </p:sp>
        <p:sp>
          <p:nvSpPr>
            <p:cNvPr id="71758" name="Line 79"/>
            <p:cNvSpPr/>
            <p:nvPr/>
          </p:nvSpPr>
          <p:spPr>
            <a:xfrm flipH="1">
              <a:off x="3019" y="2929"/>
              <a:ext cx="200" cy="0"/>
            </a:xfrm>
            <a:prstGeom prst="line">
              <a:avLst/>
            </a:prstGeom>
            <a:ln w="9525" cap="flat" cmpd="sng">
              <a:solidFill>
                <a:srgbClr val="000000"/>
              </a:solidFill>
              <a:prstDash val="solid"/>
              <a:round/>
              <a:headEnd type="none" w="med" len="med"/>
              <a:tailEnd type="triangle" w="sm" len="med"/>
            </a:ln>
          </p:spPr>
        </p:sp>
        <p:sp>
          <p:nvSpPr>
            <p:cNvPr id="71759" name="Line 80"/>
            <p:cNvSpPr/>
            <p:nvPr/>
          </p:nvSpPr>
          <p:spPr>
            <a:xfrm flipH="1">
              <a:off x="3019" y="2997"/>
              <a:ext cx="200" cy="0"/>
            </a:xfrm>
            <a:prstGeom prst="line">
              <a:avLst/>
            </a:prstGeom>
            <a:ln w="9525" cap="flat" cmpd="sng">
              <a:solidFill>
                <a:srgbClr val="000000"/>
              </a:solidFill>
              <a:prstDash val="solid"/>
              <a:round/>
              <a:headEnd type="none" w="med" len="med"/>
              <a:tailEnd type="triangle" w="sm" len="med"/>
            </a:ln>
          </p:spPr>
        </p:sp>
        <p:sp>
          <p:nvSpPr>
            <p:cNvPr id="71760" name="Line 81"/>
            <p:cNvSpPr/>
            <p:nvPr/>
          </p:nvSpPr>
          <p:spPr>
            <a:xfrm flipH="1">
              <a:off x="3419" y="2929"/>
              <a:ext cx="200" cy="0"/>
            </a:xfrm>
            <a:prstGeom prst="line">
              <a:avLst/>
            </a:prstGeom>
            <a:ln w="9525" cap="flat" cmpd="sng">
              <a:solidFill>
                <a:srgbClr val="000000"/>
              </a:solidFill>
              <a:prstDash val="solid"/>
              <a:round/>
              <a:headEnd type="none" w="med" len="med"/>
              <a:tailEnd type="triangle" w="sm" len="med"/>
            </a:ln>
          </p:spPr>
        </p:sp>
        <p:sp>
          <p:nvSpPr>
            <p:cNvPr id="71761" name="Line 82"/>
            <p:cNvSpPr/>
            <p:nvPr/>
          </p:nvSpPr>
          <p:spPr>
            <a:xfrm flipH="1">
              <a:off x="3419" y="2997"/>
              <a:ext cx="200" cy="0"/>
            </a:xfrm>
            <a:prstGeom prst="line">
              <a:avLst/>
            </a:prstGeom>
            <a:ln w="9525" cap="flat" cmpd="sng">
              <a:solidFill>
                <a:srgbClr val="000000"/>
              </a:solidFill>
              <a:prstDash val="solid"/>
              <a:round/>
              <a:headEnd type="none" w="med" len="med"/>
              <a:tailEnd type="triangle" w="sm" len="med"/>
            </a:ln>
          </p:spPr>
        </p:sp>
        <p:grpSp>
          <p:nvGrpSpPr>
            <p:cNvPr id="71762" name="Group 83"/>
            <p:cNvGrpSpPr/>
            <p:nvPr/>
          </p:nvGrpSpPr>
          <p:grpSpPr>
            <a:xfrm>
              <a:off x="3830" y="2549"/>
              <a:ext cx="200" cy="1"/>
              <a:chOff x="7280" y="11896"/>
              <a:chExt cx="630" cy="156"/>
            </a:xfrm>
          </p:grpSpPr>
          <p:sp>
            <p:nvSpPr>
              <p:cNvPr id="71763" name="Line 84"/>
              <p:cNvSpPr/>
              <p:nvPr/>
            </p:nvSpPr>
            <p:spPr>
              <a:xfrm flipH="1">
                <a:off x="7280" y="11896"/>
                <a:ext cx="630" cy="0"/>
              </a:xfrm>
              <a:prstGeom prst="line">
                <a:avLst/>
              </a:prstGeom>
              <a:ln w="9525" cap="flat" cmpd="sng">
                <a:solidFill>
                  <a:srgbClr val="000000"/>
                </a:solidFill>
                <a:prstDash val="solid"/>
                <a:round/>
                <a:headEnd type="none" w="med" len="med"/>
                <a:tailEnd type="triangle" w="sm" len="med"/>
              </a:ln>
            </p:spPr>
          </p:sp>
          <p:sp>
            <p:nvSpPr>
              <p:cNvPr id="71764" name="Line 85"/>
              <p:cNvSpPr/>
              <p:nvPr/>
            </p:nvSpPr>
            <p:spPr>
              <a:xfrm flipH="1">
                <a:off x="7280" y="12052"/>
                <a:ext cx="630" cy="0"/>
              </a:xfrm>
              <a:prstGeom prst="line">
                <a:avLst/>
              </a:prstGeom>
              <a:ln w="9525" cap="flat" cmpd="sng">
                <a:solidFill>
                  <a:srgbClr val="000000"/>
                </a:solidFill>
                <a:prstDash val="solid"/>
                <a:round/>
                <a:headEnd type="none" w="med" len="med"/>
                <a:tailEnd type="triangle" w="sm" len="med"/>
              </a:ln>
            </p:spPr>
          </p:sp>
        </p:grpSp>
        <p:sp>
          <p:nvSpPr>
            <p:cNvPr id="71765" name="Line 86"/>
            <p:cNvSpPr/>
            <p:nvPr/>
          </p:nvSpPr>
          <p:spPr>
            <a:xfrm flipH="1">
              <a:off x="3816" y="2332"/>
              <a:ext cx="99" cy="118"/>
            </a:xfrm>
            <a:prstGeom prst="line">
              <a:avLst/>
            </a:prstGeom>
            <a:ln w="9525" cap="flat" cmpd="sng">
              <a:solidFill>
                <a:srgbClr val="000000"/>
              </a:solidFill>
              <a:prstDash val="solid"/>
              <a:round/>
              <a:headEnd type="none" w="med" len="med"/>
              <a:tailEnd type="triangle" w="sm" len="med"/>
            </a:ln>
          </p:spPr>
        </p:sp>
        <p:sp>
          <p:nvSpPr>
            <p:cNvPr id="71766" name="Freeform 87"/>
            <p:cNvSpPr/>
            <p:nvPr/>
          </p:nvSpPr>
          <p:spPr>
            <a:xfrm>
              <a:off x="3008" y="2678"/>
              <a:ext cx="227" cy="165"/>
            </a:xfrm>
            <a:custGeom>
              <a:avLst/>
              <a:gdLst/>
              <a:ahLst/>
              <a:cxnLst>
                <a:cxn ang="0">
                  <a:pos x="1" y="0"/>
                </a:cxn>
                <a:cxn ang="0">
                  <a:pos x="0" y="1"/>
                </a:cxn>
              </a:cxnLst>
              <a:pathLst>
                <a:path w="386" h="261">
                  <a:moveTo>
                    <a:pt x="386" y="0"/>
                  </a:moveTo>
                  <a:lnTo>
                    <a:pt x="0" y="261"/>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67" name="Freeform 88"/>
            <p:cNvSpPr/>
            <p:nvPr/>
          </p:nvSpPr>
          <p:spPr>
            <a:xfrm>
              <a:off x="3015" y="3052"/>
              <a:ext cx="209" cy="171"/>
            </a:xfrm>
            <a:custGeom>
              <a:avLst/>
              <a:gdLst/>
              <a:ahLst/>
              <a:cxnLst>
                <a:cxn ang="0">
                  <a:pos x="1" y="0"/>
                </a:cxn>
                <a:cxn ang="0">
                  <a:pos x="0" y="1"/>
                </a:cxn>
              </a:cxnLst>
              <a:pathLst>
                <a:path w="356" h="270">
                  <a:moveTo>
                    <a:pt x="356" y="0"/>
                  </a:moveTo>
                  <a:lnTo>
                    <a:pt x="0" y="27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68" name="Freeform 89"/>
            <p:cNvSpPr/>
            <p:nvPr/>
          </p:nvSpPr>
          <p:spPr>
            <a:xfrm>
              <a:off x="3417" y="2686"/>
              <a:ext cx="203" cy="157"/>
            </a:xfrm>
            <a:custGeom>
              <a:avLst/>
              <a:gdLst/>
              <a:ahLst/>
              <a:cxnLst>
                <a:cxn ang="0">
                  <a:pos x="1" y="0"/>
                </a:cxn>
                <a:cxn ang="0">
                  <a:pos x="0" y="1"/>
                </a:cxn>
              </a:cxnLst>
              <a:pathLst>
                <a:path w="344" h="249">
                  <a:moveTo>
                    <a:pt x="344" y="0"/>
                  </a:moveTo>
                  <a:lnTo>
                    <a:pt x="0" y="249"/>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69" name="Freeform 90"/>
            <p:cNvSpPr/>
            <p:nvPr/>
          </p:nvSpPr>
          <p:spPr>
            <a:xfrm>
              <a:off x="2605" y="3052"/>
              <a:ext cx="209" cy="171"/>
            </a:xfrm>
            <a:custGeom>
              <a:avLst/>
              <a:gdLst/>
              <a:ahLst/>
              <a:cxnLst>
                <a:cxn ang="0">
                  <a:pos x="1" y="0"/>
                </a:cxn>
                <a:cxn ang="0">
                  <a:pos x="0" y="1"/>
                </a:cxn>
              </a:cxnLst>
              <a:pathLst>
                <a:path w="355" h="270">
                  <a:moveTo>
                    <a:pt x="355" y="0"/>
                  </a:moveTo>
                  <a:lnTo>
                    <a:pt x="0" y="270"/>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0" name="Freeform 91"/>
            <p:cNvSpPr/>
            <p:nvPr/>
          </p:nvSpPr>
          <p:spPr>
            <a:xfrm>
              <a:off x="2203" y="3435"/>
              <a:ext cx="217" cy="226"/>
            </a:xfrm>
            <a:custGeom>
              <a:avLst/>
              <a:gdLst/>
              <a:ahLst/>
              <a:cxnLst>
                <a:cxn ang="0">
                  <a:pos x="1" y="0"/>
                </a:cxn>
                <a:cxn ang="0">
                  <a:pos x="0" y="1"/>
                </a:cxn>
              </a:cxnLst>
              <a:pathLst>
                <a:path w="368" h="357">
                  <a:moveTo>
                    <a:pt x="368" y="0"/>
                  </a:moveTo>
                  <a:lnTo>
                    <a:pt x="0" y="357"/>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1" name="Freeform 92"/>
            <p:cNvSpPr/>
            <p:nvPr/>
          </p:nvSpPr>
          <p:spPr>
            <a:xfrm>
              <a:off x="2598" y="3442"/>
              <a:ext cx="231" cy="203"/>
            </a:xfrm>
            <a:custGeom>
              <a:avLst/>
              <a:gdLst/>
              <a:ahLst/>
              <a:cxnLst>
                <a:cxn ang="0">
                  <a:pos x="1" y="0"/>
                </a:cxn>
                <a:cxn ang="0">
                  <a:pos x="0" y="1"/>
                </a:cxn>
              </a:cxnLst>
              <a:pathLst>
                <a:path w="392" h="321">
                  <a:moveTo>
                    <a:pt x="392" y="0"/>
                  </a:moveTo>
                  <a:lnTo>
                    <a:pt x="0" y="321"/>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2" name="Freeform 93"/>
            <p:cNvSpPr/>
            <p:nvPr/>
          </p:nvSpPr>
          <p:spPr>
            <a:xfrm>
              <a:off x="2605" y="2678"/>
              <a:ext cx="213" cy="165"/>
            </a:xfrm>
            <a:custGeom>
              <a:avLst/>
              <a:gdLst/>
              <a:ahLst/>
              <a:cxnLst>
                <a:cxn ang="0">
                  <a:pos x="1" y="0"/>
                </a:cxn>
                <a:cxn ang="0">
                  <a:pos x="0" y="1"/>
                </a:cxn>
              </a:cxnLst>
              <a:pathLst>
                <a:path w="362" h="261">
                  <a:moveTo>
                    <a:pt x="362" y="0"/>
                  </a:moveTo>
                  <a:lnTo>
                    <a:pt x="0" y="261"/>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3" name="Freeform 94"/>
            <p:cNvSpPr/>
            <p:nvPr/>
          </p:nvSpPr>
          <p:spPr>
            <a:xfrm>
              <a:off x="1808" y="3069"/>
              <a:ext cx="198" cy="154"/>
            </a:xfrm>
            <a:custGeom>
              <a:avLst/>
              <a:gdLst/>
              <a:ahLst/>
              <a:cxnLst>
                <a:cxn ang="0">
                  <a:pos x="1" y="0"/>
                </a:cxn>
                <a:cxn ang="0">
                  <a:pos x="0" y="1"/>
                </a:cxn>
              </a:cxnLst>
              <a:pathLst>
                <a:path w="337" h="243">
                  <a:moveTo>
                    <a:pt x="337" y="0"/>
                  </a:moveTo>
                  <a:lnTo>
                    <a:pt x="0" y="243"/>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4" name="Freeform 95"/>
            <p:cNvSpPr/>
            <p:nvPr/>
          </p:nvSpPr>
          <p:spPr>
            <a:xfrm>
              <a:off x="1815" y="3442"/>
              <a:ext cx="198" cy="211"/>
            </a:xfrm>
            <a:custGeom>
              <a:avLst/>
              <a:gdLst/>
              <a:ahLst/>
              <a:cxnLst>
                <a:cxn ang="0">
                  <a:pos x="1" y="0"/>
                </a:cxn>
                <a:cxn ang="0">
                  <a:pos x="0" y="1"/>
                </a:cxn>
              </a:cxnLst>
              <a:pathLst>
                <a:path w="337" h="333">
                  <a:moveTo>
                    <a:pt x="337" y="0"/>
                  </a:moveTo>
                  <a:lnTo>
                    <a:pt x="0" y="333"/>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5" name="Freeform 96"/>
            <p:cNvSpPr/>
            <p:nvPr/>
          </p:nvSpPr>
          <p:spPr>
            <a:xfrm>
              <a:off x="2203" y="3054"/>
              <a:ext cx="202" cy="169"/>
            </a:xfrm>
            <a:custGeom>
              <a:avLst/>
              <a:gdLst/>
              <a:ahLst/>
              <a:cxnLst>
                <a:cxn ang="0">
                  <a:pos x="1" y="0"/>
                </a:cxn>
                <a:cxn ang="0">
                  <a:pos x="0" y="1"/>
                </a:cxn>
              </a:cxnLst>
              <a:pathLst>
                <a:path w="343" h="267">
                  <a:moveTo>
                    <a:pt x="343" y="0"/>
                  </a:moveTo>
                  <a:lnTo>
                    <a:pt x="0" y="267"/>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6" name="Freeform 97"/>
            <p:cNvSpPr/>
            <p:nvPr/>
          </p:nvSpPr>
          <p:spPr>
            <a:xfrm>
              <a:off x="2210" y="2670"/>
              <a:ext cx="204" cy="181"/>
            </a:xfrm>
            <a:custGeom>
              <a:avLst/>
              <a:gdLst/>
              <a:ahLst/>
              <a:cxnLst>
                <a:cxn ang="0">
                  <a:pos x="1" y="0"/>
                </a:cxn>
                <a:cxn ang="0">
                  <a:pos x="0" y="1"/>
                </a:cxn>
              </a:cxnLst>
              <a:pathLst>
                <a:path w="346" h="285">
                  <a:moveTo>
                    <a:pt x="346" y="0"/>
                  </a:moveTo>
                  <a:lnTo>
                    <a:pt x="0" y="285"/>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7" name="Freeform 98"/>
            <p:cNvSpPr/>
            <p:nvPr/>
          </p:nvSpPr>
          <p:spPr>
            <a:xfrm>
              <a:off x="1398" y="3442"/>
              <a:ext cx="223" cy="211"/>
            </a:xfrm>
            <a:custGeom>
              <a:avLst/>
              <a:gdLst/>
              <a:ahLst/>
              <a:cxnLst>
                <a:cxn ang="0">
                  <a:pos x="1" y="0"/>
                </a:cxn>
                <a:cxn ang="0">
                  <a:pos x="0" y="1"/>
                </a:cxn>
              </a:cxnLst>
              <a:pathLst>
                <a:path w="379" h="333">
                  <a:moveTo>
                    <a:pt x="379" y="0"/>
                  </a:moveTo>
                  <a:lnTo>
                    <a:pt x="0" y="333"/>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78" name="Line 99"/>
            <p:cNvSpPr/>
            <p:nvPr/>
          </p:nvSpPr>
          <p:spPr>
            <a:xfrm flipH="1">
              <a:off x="3410" y="2302"/>
              <a:ext cx="149" cy="158"/>
            </a:xfrm>
            <a:prstGeom prst="line">
              <a:avLst/>
            </a:prstGeom>
            <a:ln w="9525" cap="flat" cmpd="sng">
              <a:solidFill>
                <a:srgbClr val="000000"/>
              </a:solidFill>
              <a:prstDash val="solid"/>
              <a:round/>
              <a:headEnd type="none" w="med" len="med"/>
              <a:tailEnd type="triangle" w="sm" len="med"/>
            </a:ln>
          </p:spPr>
        </p:sp>
        <p:sp>
          <p:nvSpPr>
            <p:cNvPr id="71779" name="Line 100"/>
            <p:cNvSpPr/>
            <p:nvPr/>
          </p:nvSpPr>
          <p:spPr>
            <a:xfrm flipH="1">
              <a:off x="3011" y="2302"/>
              <a:ext cx="149" cy="158"/>
            </a:xfrm>
            <a:prstGeom prst="line">
              <a:avLst/>
            </a:prstGeom>
            <a:ln w="9525" cap="flat" cmpd="sng">
              <a:solidFill>
                <a:srgbClr val="000000"/>
              </a:solidFill>
              <a:prstDash val="solid"/>
              <a:round/>
              <a:headEnd type="none" w="med" len="med"/>
              <a:tailEnd type="triangle" w="sm" len="med"/>
            </a:ln>
          </p:spPr>
        </p:sp>
        <p:sp>
          <p:nvSpPr>
            <p:cNvPr id="71780" name="Line 101"/>
            <p:cNvSpPr/>
            <p:nvPr/>
          </p:nvSpPr>
          <p:spPr>
            <a:xfrm flipH="1">
              <a:off x="2599" y="2302"/>
              <a:ext cx="148" cy="158"/>
            </a:xfrm>
            <a:prstGeom prst="line">
              <a:avLst/>
            </a:prstGeom>
            <a:ln w="9525" cap="flat" cmpd="sng">
              <a:solidFill>
                <a:srgbClr val="000000"/>
              </a:solidFill>
              <a:prstDash val="solid"/>
              <a:round/>
              <a:headEnd type="none" w="med" len="med"/>
              <a:tailEnd type="triangle" w="sm" len="med"/>
            </a:ln>
          </p:spPr>
        </p:sp>
        <p:sp>
          <p:nvSpPr>
            <p:cNvPr id="71781" name="Freeform 102"/>
            <p:cNvSpPr/>
            <p:nvPr/>
          </p:nvSpPr>
          <p:spPr>
            <a:xfrm>
              <a:off x="2161" y="2547"/>
              <a:ext cx="247" cy="1"/>
            </a:xfrm>
            <a:custGeom>
              <a:avLst/>
              <a:gdLst/>
              <a:ahLst/>
              <a:cxnLst>
                <a:cxn ang="0">
                  <a:pos x="1" y="0"/>
                </a:cxn>
                <a:cxn ang="0">
                  <a:pos x="0" y="1"/>
                </a:cxn>
              </a:cxnLst>
              <a:pathLst>
                <a:path w="420" h="1">
                  <a:moveTo>
                    <a:pt x="420" y="0"/>
                  </a:moveTo>
                  <a:lnTo>
                    <a:pt x="0" y="1"/>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82" name="Freeform 103"/>
            <p:cNvSpPr/>
            <p:nvPr/>
          </p:nvSpPr>
          <p:spPr>
            <a:xfrm>
              <a:off x="2104" y="2615"/>
              <a:ext cx="304" cy="1"/>
            </a:xfrm>
            <a:custGeom>
              <a:avLst/>
              <a:gdLst/>
              <a:ahLst/>
              <a:cxnLst>
                <a:cxn ang="0">
                  <a:pos x="1" y="0"/>
                </a:cxn>
                <a:cxn ang="0">
                  <a:pos x="0" y="0"/>
                </a:cxn>
              </a:cxnLst>
              <a:pathLst>
                <a:path w="516" h="1">
                  <a:moveTo>
                    <a:pt x="516" y="0"/>
                  </a:moveTo>
                  <a:lnTo>
                    <a:pt x="0"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1783" name="Line 104"/>
            <p:cNvSpPr/>
            <p:nvPr/>
          </p:nvSpPr>
          <p:spPr>
            <a:xfrm flipH="1">
              <a:off x="1751" y="2936"/>
              <a:ext cx="247" cy="0"/>
            </a:xfrm>
            <a:prstGeom prst="line">
              <a:avLst/>
            </a:prstGeom>
            <a:ln w="9525" cap="flat" cmpd="sng">
              <a:solidFill>
                <a:srgbClr val="000000"/>
              </a:solidFill>
              <a:prstDash val="solid"/>
              <a:round/>
              <a:headEnd type="none" w="med" len="med"/>
              <a:tailEnd type="triangle" w="sm" len="med"/>
            </a:ln>
          </p:spPr>
        </p:sp>
        <p:sp>
          <p:nvSpPr>
            <p:cNvPr id="71784" name="Freeform 105"/>
            <p:cNvSpPr/>
            <p:nvPr/>
          </p:nvSpPr>
          <p:spPr>
            <a:xfrm>
              <a:off x="1723" y="2995"/>
              <a:ext cx="282" cy="1"/>
            </a:xfrm>
            <a:custGeom>
              <a:avLst/>
              <a:gdLst/>
              <a:ahLst/>
              <a:cxnLst>
                <a:cxn ang="0">
                  <a:pos x="1" y="0"/>
                </a:cxn>
                <a:cxn ang="0">
                  <a:pos x="0" y="0"/>
                </a:cxn>
              </a:cxnLst>
              <a:pathLst>
                <a:path w="480" h="1">
                  <a:moveTo>
                    <a:pt x="480" y="0"/>
                  </a:moveTo>
                  <a:lnTo>
                    <a:pt x="0"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1785" name="Line 106"/>
            <p:cNvSpPr/>
            <p:nvPr/>
          </p:nvSpPr>
          <p:spPr>
            <a:xfrm flipH="1">
              <a:off x="1409" y="3309"/>
              <a:ext cx="200" cy="0"/>
            </a:xfrm>
            <a:prstGeom prst="line">
              <a:avLst/>
            </a:prstGeom>
            <a:ln w="9525" cap="flat" cmpd="sng">
              <a:solidFill>
                <a:srgbClr val="000000"/>
              </a:solidFill>
              <a:prstDash val="solid"/>
              <a:round/>
              <a:headEnd type="none" w="med" len="med"/>
              <a:tailEnd type="triangle" w="sm" len="med"/>
            </a:ln>
          </p:spPr>
        </p:sp>
        <p:sp>
          <p:nvSpPr>
            <p:cNvPr id="71786" name="Freeform 107"/>
            <p:cNvSpPr/>
            <p:nvPr/>
          </p:nvSpPr>
          <p:spPr>
            <a:xfrm>
              <a:off x="1306" y="3380"/>
              <a:ext cx="311" cy="0"/>
            </a:xfrm>
            <a:custGeom>
              <a:avLst/>
              <a:gdLst/>
              <a:ahLst/>
              <a:cxnLst>
                <a:cxn ang="0">
                  <a:pos x="1" y="0"/>
                </a:cxn>
                <a:cxn ang="0">
                  <a:pos x="0" y="0"/>
                </a:cxn>
              </a:cxnLst>
              <a:pathLst>
                <a:path w="528" h="1">
                  <a:moveTo>
                    <a:pt x="528" y="0"/>
                  </a:moveTo>
                  <a:lnTo>
                    <a:pt x="0" y="0"/>
                  </a:ln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71787" name="Line 108"/>
            <p:cNvSpPr/>
            <p:nvPr/>
          </p:nvSpPr>
          <p:spPr>
            <a:xfrm>
              <a:off x="1309" y="3864"/>
              <a:ext cx="0" cy="179"/>
            </a:xfrm>
            <a:prstGeom prst="line">
              <a:avLst/>
            </a:prstGeom>
            <a:ln w="9525" cap="flat" cmpd="sng">
              <a:solidFill>
                <a:srgbClr val="000000"/>
              </a:solidFill>
              <a:prstDash val="solid"/>
              <a:round/>
              <a:headEnd type="none" w="med" len="med"/>
              <a:tailEnd type="triangle" w="sm" len="med"/>
            </a:ln>
          </p:spPr>
        </p:sp>
        <p:sp>
          <p:nvSpPr>
            <p:cNvPr id="71788" name="Line 109"/>
            <p:cNvSpPr/>
            <p:nvPr/>
          </p:nvSpPr>
          <p:spPr>
            <a:xfrm>
              <a:off x="1715" y="3864"/>
              <a:ext cx="0" cy="179"/>
            </a:xfrm>
            <a:prstGeom prst="line">
              <a:avLst/>
            </a:prstGeom>
            <a:ln w="9525" cap="flat" cmpd="sng">
              <a:solidFill>
                <a:srgbClr val="000000"/>
              </a:solidFill>
              <a:prstDash val="solid"/>
              <a:round/>
              <a:headEnd type="none" w="med" len="med"/>
              <a:tailEnd type="triangle" w="sm" len="med"/>
            </a:ln>
          </p:spPr>
        </p:sp>
        <p:sp>
          <p:nvSpPr>
            <p:cNvPr id="71789" name="Line 110"/>
            <p:cNvSpPr/>
            <p:nvPr/>
          </p:nvSpPr>
          <p:spPr>
            <a:xfrm>
              <a:off x="2121" y="3872"/>
              <a:ext cx="0" cy="179"/>
            </a:xfrm>
            <a:prstGeom prst="line">
              <a:avLst/>
            </a:prstGeom>
            <a:ln w="9525" cap="flat" cmpd="sng">
              <a:solidFill>
                <a:srgbClr val="000000"/>
              </a:solidFill>
              <a:prstDash val="solid"/>
              <a:round/>
              <a:headEnd type="none" w="med" len="med"/>
              <a:tailEnd type="triangle" w="sm" len="med"/>
            </a:ln>
          </p:spPr>
        </p:sp>
        <p:sp>
          <p:nvSpPr>
            <p:cNvPr id="71790" name="Line 111"/>
            <p:cNvSpPr/>
            <p:nvPr/>
          </p:nvSpPr>
          <p:spPr>
            <a:xfrm>
              <a:off x="2497" y="3857"/>
              <a:ext cx="0" cy="179"/>
            </a:xfrm>
            <a:prstGeom prst="line">
              <a:avLst/>
            </a:prstGeom>
            <a:ln w="9525" cap="flat" cmpd="sng">
              <a:solidFill>
                <a:srgbClr val="000000"/>
              </a:solidFill>
              <a:prstDash val="solid"/>
              <a:round/>
              <a:headEnd type="none" w="med" len="med"/>
              <a:tailEnd type="triangle" w="sm" len="med"/>
            </a:ln>
          </p:spPr>
        </p:sp>
        <p:sp>
          <p:nvSpPr>
            <p:cNvPr id="71791" name="Freeform 112"/>
            <p:cNvSpPr/>
            <p:nvPr/>
          </p:nvSpPr>
          <p:spPr>
            <a:xfrm>
              <a:off x="2916" y="3443"/>
              <a:ext cx="1" cy="592"/>
            </a:xfrm>
            <a:custGeom>
              <a:avLst/>
              <a:gdLst/>
              <a:ahLst/>
              <a:cxnLst>
                <a:cxn ang="0">
                  <a:pos x="0" y="0"/>
                </a:cxn>
                <a:cxn ang="0">
                  <a:pos x="0" y="1"/>
                </a:cxn>
              </a:cxnLst>
              <a:pathLst>
                <a:path w="1" h="936">
                  <a:moveTo>
                    <a:pt x="0" y="0"/>
                  </a:moveTo>
                  <a:lnTo>
                    <a:pt x="0" y="936"/>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92" name="Freeform 113"/>
            <p:cNvSpPr/>
            <p:nvPr/>
          </p:nvSpPr>
          <p:spPr>
            <a:xfrm>
              <a:off x="3319" y="3069"/>
              <a:ext cx="1" cy="957"/>
            </a:xfrm>
            <a:custGeom>
              <a:avLst/>
              <a:gdLst/>
              <a:ahLst/>
              <a:cxnLst>
                <a:cxn ang="0">
                  <a:pos x="0" y="0"/>
                </a:cxn>
                <a:cxn ang="0">
                  <a:pos x="0" y="1"/>
                </a:cxn>
              </a:cxnLst>
              <a:pathLst>
                <a:path w="1" h="1479">
                  <a:moveTo>
                    <a:pt x="0" y="0"/>
                  </a:moveTo>
                  <a:lnTo>
                    <a:pt x="0" y="1479"/>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93" name="Freeform 114"/>
            <p:cNvSpPr/>
            <p:nvPr/>
          </p:nvSpPr>
          <p:spPr>
            <a:xfrm>
              <a:off x="3742" y="2684"/>
              <a:ext cx="1" cy="1336"/>
            </a:xfrm>
            <a:custGeom>
              <a:avLst/>
              <a:gdLst/>
              <a:ahLst/>
              <a:cxnLst>
                <a:cxn ang="0">
                  <a:pos x="0" y="0"/>
                </a:cxn>
                <a:cxn ang="0">
                  <a:pos x="0" y="1"/>
                </a:cxn>
              </a:cxnLst>
              <a:pathLst>
                <a:path w="1" h="2076">
                  <a:moveTo>
                    <a:pt x="0" y="0"/>
                  </a:moveTo>
                  <a:lnTo>
                    <a:pt x="0" y="2076"/>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794" name="Freeform 115"/>
            <p:cNvSpPr/>
            <p:nvPr/>
          </p:nvSpPr>
          <p:spPr>
            <a:xfrm>
              <a:off x="1928" y="2753"/>
              <a:ext cx="2266" cy="0"/>
            </a:xfrm>
            <a:custGeom>
              <a:avLst/>
              <a:gdLst/>
              <a:ahLst/>
              <a:cxnLst>
                <a:cxn ang="0">
                  <a:pos x="0" y="0"/>
                </a:cxn>
                <a:cxn ang="0">
                  <a:pos x="1" y="0"/>
                </a:cxn>
              </a:cxnLst>
              <a:pathLst>
                <a:path w="3852" h="1">
                  <a:moveTo>
                    <a:pt x="0" y="0"/>
                  </a:moveTo>
                  <a:lnTo>
                    <a:pt x="3852" y="0"/>
                  </a:lnTo>
                </a:path>
              </a:pathLst>
            </a:custGeom>
            <a:noFill/>
            <a:ln w="9525" cap="flat" cmpd="sng">
              <a:solidFill>
                <a:srgbClr val="000000"/>
              </a:solidFill>
              <a:prstDash val="sysDot"/>
              <a:round/>
              <a:headEnd type="none" w="med" len="med"/>
              <a:tailEnd type="none" w="med" len="med"/>
            </a:ln>
          </p:spPr>
          <p:txBody>
            <a:bodyPr/>
            <a:p>
              <a:endParaRPr lang="zh-CN" altLang="en-US"/>
            </a:p>
          </p:txBody>
        </p:sp>
        <p:sp>
          <p:nvSpPr>
            <p:cNvPr id="71795" name="Freeform 116"/>
            <p:cNvSpPr/>
            <p:nvPr/>
          </p:nvSpPr>
          <p:spPr>
            <a:xfrm>
              <a:off x="1123" y="3507"/>
              <a:ext cx="3036" cy="1"/>
            </a:xfrm>
            <a:custGeom>
              <a:avLst/>
              <a:gdLst/>
              <a:ahLst/>
              <a:cxnLst>
                <a:cxn ang="0">
                  <a:pos x="0" y="0"/>
                </a:cxn>
                <a:cxn ang="0">
                  <a:pos x="1" y="0"/>
                </a:cxn>
              </a:cxnLst>
              <a:pathLst>
                <a:path w="5160" h="1">
                  <a:moveTo>
                    <a:pt x="0" y="0"/>
                  </a:moveTo>
                  <a:lnTo>
                    <a:pt x="5160" y="0"/>
                  </a:lnTo>
                </a:path>
              </a:pathLst>
            </a:custGeom>
            <a:noFill/>
            <a:ln w="9525" cap="flat" cmpd="sng">
              <a:solidFill>
                <a:srgbClr val="000000"/>
              </a:solidFill>
              <a:prstDash val="sysDot"/>
              <a:round/>
              <a:headEnd type="none" w="med" len="med"/>
              <a:tailEnd type="none" w="med" len="med"/>
            </a:ln>
          </p:spPr>
          <p:txBody>
            <a:bodyPr/>
            <a:p>
              <a:endParaRPr lang="zh-CN" altLang="en-US"/>
            </a:p>
          </p:txBody>
        </p:sp>
        <p:sp>
          <p:nvSpPr>
            <p:cNvPr id="71796" name="Freeform 117"/>
            <p:cNvSpPr/>
            <p:nvPr/>
          </p:nvSpPr>
          <p:spPr>
            <a:xfrm>
              <a:off x="1505" y="3145"/>
              <a:ext cx="2655" cy="1"/>
            </a:xfrm>
            <a:custGeom>
              <a:avLst/>
              <a:gdLst/>
              <a:ahLst/>
              <a:cxnLst>
                <a:cxn ang="0">
                  <a:pos x="0" y="0"/>
                </a:cxn>
                <a:cxn ang="0">
                  <a:pos x="1" y="0"/>
                </a:cxn>
              </a:cxnLst>
              <a:pathLst>
                <a:path w="4512" h="1">
                  <a:moveTo>
                    <a:pt x="0" y="0"/>
                  </a:moveTo>
                  <a:lnTo>
                    <a:pt x="4512" y="0"/>
                  </a:lnTo>
                </a:path>
              </a:pathLst>
            </a:custGeom>
            <a:noFill/>
            <a:ln w="9525" cap="flat" cmpd="sng">
              <a:solidFill>
                <a:srgbClr val="000000"/>
              </a:solidFill>
              <a:prstDash val="sysDot"/>
              <a:round/>
              <a:headEnd type="none" w="med" len="med"/>
              <a:tailEnd type="none" w="med" len="med"/>
            </a:ln>
          </p:spPr>
          <p:txBody>
            <a:bodyPr/>
            <a:p>
              <a:endParaRPr lang="zh-CN" altLang="en-US"/>
            </a:p>
          </p:txBody>
        </p:sp>
        <p:sp>
          <p:nvSpPr>
            <p:cNvPr id="71797" name="AutoShape 118"/>
            <p:cNvSpPr/>
            <p:nvPr/>
          </p:nvSpPr>
          <p:spPr>
            <a:xfrm rot="5400000" flipH="1" flipV="1">
              <a:off x="3318" y="1562"/>
              <a:ext cx="108" cy="1201"/>
            </a:xfrm>
            <a:prstGeom prst="rightBrace">
              <a:avLst>
                <a:gd name="adj1" fmla="val 92309"/>
                <a:gd name="adj2" fmla="val 50000"/>
              </a:avLst>
            </a:prstGeom>
            <a:noFill/>
            <a:ln w="9525" cap="flat" cmpd="sng">
              <a:solidFill>
                <a:srgbClr val="000000"/>
              </a:solidFill>
              <a:prstDash val="solid"/>
              <a:round/>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798" name="Line 119"/>
            <p:cNvSpPr/>
            <p:nvPr/>
          </p:nvSpPr>
          <p:spPr>
            <a:xfrm flipH="1">
              <a:off x="960" y="3724"/>
              <a:ext cx="247" cy="0"/>
            </a:xfrm>
            <a:prstGeom prst="line">
              <a:avLst/>
            </a:prstGeom>
            <a:ln w="9525" cap="flat" cmpd="sng">
              <a:solidFill>
                <a:srgbClr val="000000"/>
              </a:solidFill>
              <a:prstDash val="solid"/>
              <a:round/>
              <a:headEnd type="none" w="med" len="med"/>
              <a:tailEnd type="triangle" w="sm" len="med"/>
            </a:ln>
          </p:spPr>
        </p:sp>
        <p:sp>
          <p:nvSpPr>
            <p:cNvPr id="71799" name="Line 120"/>
            <p:cNvSpPr/>
            <p:nvPr/>
          </p:nvSpPr>
          <p:spPr>
            <a:xfrm flipH="1">
              <a:off x="960" y="3792"/>
              <a:ext cx="247" cy="0"/>
            </a:xfrm>
            <a:prstGeom prst="line">
              <a:avLst/>
            </a:prstGeom>
            <a:ln w="9525" cap="flat" cmpd="sng">
              <a:solidFill>
                <a:srgbClr val="000000"/>
              </a:solidFill>
              <a:prstDash val="solid"/>
              <a:round/>
              <a:headEnd type="none" w="med" len="med"/>
              <a:tailEnd type="none" w="med" len="med"/>
            </a:ln>
          </p:spPr>
        </p:sp>
        <p:sp>
          <p:nvSpPr>
            <p:cNvPr id="71800" name="Freeform 121"/>
            <p:cNvSpPr/>
            <p:nvPr/>
          </p:nvSpPr>
          <p:spPr>
            <a:xfrm>
              <a:off x="967" y="3783"/>
              <a:ext cx="1" cy="246"/>
            </a:xfrm>
            <a:custGeom>
              <a:avLst/>
              <a:gdLst/>
              <a:ahLst/>
              <a:cxnLst>
                <a:cxn ang="0">
                  <a:pos x="0" y="0"/>
                </a:cxn>
                <a:cxn ang="0">
                  <a:pos x="1" y="1"/>
                </a:cxn>
              </a:cxnLst>
              <a:pathLst>
                <a:path w="1" h="389">
                  <a:moveTo>
                    <a:pt x="0" y="0"/>
                  </a:moveTo>
                  <a:lnTo>
                    <a:pt x="1" y="389"/>
                  </a:lnTo>
                </a:path>
              </a:pathLst>
            </a:custGeom>
            <a:noFill/>
            <a:ln w="9525" cap="flat" cmpd="sng">
              <a:solidFill>
                <a:srgbClr val="000000"/>
              </a:solidFill>
              <a:prstDash val="solid"/>
              <a:round/>
              <a:headEnd type="none" w="med" len="med"/>
              <a:tailEnd type="triangle" w="sm" len="med"/>
            </a:ln>
          </p:spPr>
          <p:txBody>
            <a:bodyPr/>
            <a:p>
              <a:endParaRPr lang="zh-CN" altLang="en-US"/>
            </a:p>
          </p:txBody>
        </p:sp>
        <p:sp>
          <p:nvSpPr>
            <p:cNvPr id="71801" name="Line 122"/>
            <p:cNvSpPr/>
            <p:nvPr/>
          </p:nvSpPr>
          <p:spPr>
            <a:xfrm>
              <a:off x="1166" y="2840"/>
              <a:ext cx="0" cy="296"/>
            </a:xfrm>
            <a:prstGeom prst="line">
              <a:avLst/>
            </a:prstGeom>
            <a:ln w="9525" cap="flat" cmpd="sng">
              <a:solidFill>
                <a:srgbClr val="000000"/>
              </a:solidFill>
              <a:prstDash val="solid"/>
              <a:round/>
              <a:headEnd type="none" w="med" len="med"/>
              <a:tailEnd type="triangle" w="sm" len="med"/>
            </a:ln>
          </p:spPr>
        </p:sp>
        <p:sp>
          <p:nvSpPr>
            <p:cNvPr id="71802" name="Oval 123"/>
            <p:cNvSpPr/>
            <p:nvPr/>
          </p:nvSpPr>
          <p:spPr>
            <a:xfrm>
              <a:off x="1396" y="2450"/>
              <a:ext cx="34" cy="39"/>
            </a:xfrm>
            <a:prstGeom prst="ellipse">
              <a:avLst/>
            </a:prstGeom>
            <a:solidFill>
              <a:srgbClr val="000000"/>
            </a:solidFill>
            <a:ln w="9525" cap="flat" cmpd="sng">
              <a:solidFill>
                <a:srgbClr val="000000"/>
              </a:solidFill>
              <a:prstDash val="solid"/>
              <a:round/>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803" name="Oval 124"/>
            <p:cNvSpPr/>
            <p:nvPr/>
          </p:nvSpPr>
          <p:spPr>
            <a:xfrm>
              <a:off x="2114" y="2959"/>
              <a:ext cx="34" cy="39"/>
            </a:xfrm>
            <a:prstGeom prst="ellipse">
              <a:avLst/>
            </a:prstGeom>
            <a:solidFill>
              <a:srgbClr val="000000"/>
            </a:solidFill>
            <a:ln w="9525" cap="flat" cmpd="sng">
              <a:solidFill>
                <a:srgbClr val="000000"/>
              </a:solidFill>
              <a:prstDash val="solid"/>
              <a:round/>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804" name="Freeform 125"/>
            <p:cNvSpPr/>
            <p:nvPr/>
          </p:nvSpPr>
          <p:spPr>
            <a:xfrm>
              <a:off x="1424" y="2472"/>
              <a:ext cx="692" cy="501"/>
            </a:xfrm>
            <a:custGeom>
              <a:avLst/>
              <a:gdLst/>
              <a:ahLst/>
              <a:cxnLst>
                <a:cxn ang="0">
                  <a:pos x="0" y="0"/>
                </a:cxn>
                <a:cxn ang="0">
                  <a:pos x="1" y="1"/>
                </a:cxn>
              </a:cxnLst>
              <a:pathLst>
                <a:path w="1176" h="791">
                  <a:moveTo>
                    <a:pt x="0" y="0"/>
                  </a:moveTo>
                  <a:lnTo>
                    <a:pt x="1176" y="791"/>
                  </a:lnTo>
                </a:path>
              </a:pathLst>
            </a:custGeom>
            <a:noFill/>
            <a:ln w="9525" cap="flat" cmpd="sng">
              <a:solidFill>
                <a:srgbClr val="000000"/>
              </a:solidFill>
              <a:prstDash val="sysDot"/>
              <a:round/>
              <a:headEnd type="none" w="med" len="med"/>
              <a:tailEnd type="none" w="med" len="med"/>
            </a:ln>
          </p:spPr>
          <p:txBody>
            <a:bodyPr/>
            <a:p>
              <a:endParaRPr lang="zh-CN" altLang="en-US"/>
            </a:p>
          </p:txBody>
        </p:sp>
        <p:sp>
          <p:nvSpPr>
            <p:cNvPr id="71805" name="Rectangle 126"/>
            <p:cNvSpPr/>
            <p:nvPr/>
          </p:nvSpPr>
          <p:spPr>
            <a:xfrm>
              <a:off x="2014" y="3652"/>
              <a:ext cx="200" cy="215"/>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grpSp>
          <p:nvGrpSpPr>
            <p:cNvPr id="71806" name="Group 127"/>
            <p:cNvGrpSpPr/>
            <p:nvPr/>
          </p:nvGrpSpPr>
          <p:grpSpPr>
            <a:xfrm>
              <a:off x="3825" y="2613"/>
              <a:ext cx="200" cy="1"/>
              <a:chOff x="7280" y="11896"/>
              <a:chExt cx="630" cy="156"/>
            </a:xfrm>
          </p:grpSpPr>
          <p:sp>
            <p:nvSpPr>
              <p:cNvPr id="71807" name="Line 128"/>
              <p:cNvSpPr/>
              <p:nvPr/>
            </p:nvSpPr>
            <p:spPr>
              <a:xfrm flipH="1">
                <a:off x="7280" y="11896"/>
                <a:ext cx="630" cy="0"/>
              </a:xfrm>
              <a:prstGeom prst="line">
                <a:avLst/>
              </a:prstGeom>
              <a:ln w="9525" cap="flat" cmpd="sng">
                <a:solidFill>
                  <a:srgbClr val="000000"/>
                </a:solidFill>
                <a:prstDash val="solid"/>
                <a:round/>
                <a:headEnd type="none" w="med" len="med"/>
                <a:tailEnd type="triangle" w="sm" len="med"/>
              </a:ln>
            </p:spPr>
          </p:sp>
          <p:sp>
            <p:nvSpPr>
              <p:cNvPr id="71808" name="Line 129"/>
              <p:cNvSpPr/>
              <p:nvPr/>
            </p:nvSpPr>
            <p:spPr>
              <a:xfrm flipH="1">
                <a:off x="7280" y="12052"/>
                <a:ext cx="630" cy="0"/>
              </a:xfrm>
              <a:prstGeom prst="line">
                <a:avLst/>
              </a:prstGeom>
              <a:ln w="9525" cap="flat" cmpd="sng">
                <a:solidFill>
                  <a:srgbClr val="000000"/>
                </a:solidFill>
                <a:prstDash val="solid"/>
                <a:round/>
                <a:headEnd type="none" w="med" len="med"/>
                <a:tailEnd type="triangle" w="sm" len="med"/>
              </a:ln>
            </p:spPr>
          </p:sp>
        </p:grpSp>
        <p:sp>
          <p:nvSpPr>
            <p:cNvPr id="71809" name="Rectangle 130"/>
            <p:cNvSpPr/>
            <p:nvPr/>
          </p:nvSpPr>
          <p:spPr>
            <a:xfrm>
              <a:off x="3624" y="2465"/>
              <a:ext cx="201" cy="216"/>
            </a:xfrm>
            <a:prstGeom prst="rect">
              <a:avLst/>
            </a:prstGeom>
            <a:solidFill>
              <a:srgbClr val="FFFFFF"/>
            </a:solidFill>
            <a:ln w="9525" cap="flat" cmpd="sng">
              <a:solidFill>
                <a:srgbClr val="000000"/>
              </a:solidFill>
              <a:prstDash val="solid"/>
              <a:miter/>
              <a:headEnd type="none" w="med" len="med"/>
              <a:tailEnd type="none" w="med" len="med"/>
            </a:ln>
          </p:spPr>
          <p:txBody>
            <a:bodyPr vert="eaVert"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810" name="AutoShape 131"/>
            <p:cNvSpPr/>
            <p:nvPr/>
          </p:nvSpPr>
          <p:spPr>
            <a:xfrm rot="5400000">
              <a:off x="1172" y="2418"/>
              <a:ext cx="144" cy="102"/>
            </a:xfrm>
            <a:prstGeom prst="flowChartDelay">
              <a:avLst/>
            </a:prstGeom>
            <a:solidFill>
              <a:srgbClr val="FFFFFF"/>
            </a:solidFill>
            <a:ln w="9525" cap="flat" cmpd="sng">
              <a:solidFill>
                <a:srgbClr val="000000"/>
              </a:solidFill>
              <a:prstDash val="solid"/>
              <a:miter/>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71811" name="Line 132"/>
            <p:cNvSpPr/>
            <p:nvPr/>
          </p:nvSpPr>
          <p:spPr>
            <a:xfrm>
              <a:off x="1242" y="2536"/>
              <a:ext cx="0" cy="109"/>
            </a:xfrm>
            <a:prstGeom prst="line">
              <a:avLst/>
            </a:prstGeom>
            <a:ln w="9525" cap="flat" cmpd="sng">
              <a:solidFill>
                <a:srgbClr val="000000"/>
              </a:solidFill>
              <a:prstDash val="solid"/>
              <a:round/>
              <a:headEnd type="none" w="med" len="med"/>
              <a:tailEnd type="none" w="med" len="med"/>
            </a:ln>
          </p:spPr>
        </p:sp>
        <p:sp>
          <p:nvSpPr>
            <p:cNvPr id="71812" name="Text Box 133"/>
            <p:cNvSpPr txBox="1"/>
            <p:nvPr/>
          </p:nvSpPr>
          <p:spPr>
            <a:xfrm>
              <a:off x="3104" y="1967"/>
              <a:ext cx="541" cy="262"/>
            </a:xfrm>
            <a:prstGeom prst="rect">
              <a:avLst/>
            </a:prstGeom>
            <a:noFill/>
            <a:ln w="9525">
              <a:noFill/>
            </a:ln>
          </p:spPr>
          <p:txBody>
            <a:bodyPr anchor="t" anchorCtr="0"/>
            <a:p>
              <a:pPr algn="just" eaLnBrk="0" hangingPunct="0"/>
              <a:r>
                <a:rPr lang="zh-CN" altLang="en-US" sz="1200" dirty="0">
                  <a:latin typeface="Times New Roman" panose="02020603050405020304" pitchFamily="18" charset="0"/>
                  <a:ea typeface="宋体" panose="02010600030101010101" pitchFamily="2" charset="-122"/>
                </a:rPr>
                <a:t>被乘数</a:t>
              </a:r>
              <a:r>
                <a:rPr lang="en-US" altLang="zh-CN" sz="1200" dirty="0">
                  <a:latin typeface="Times New Roman" panose="02020603050405020304" pitchFamily="18" charset="0"/>
                </a:rPr>
                <a:t>X</a:t>
              </a:r>
              <a:endParaRPr lang="en-US" altLang="zh-CN" sz="1200" dirty="0">
                <a:latin typeface="Times New Roman" panose="02020603050405020304" pitchFamily="18" charset="0"/>
              </a:endParaRPr>
            </a:p>
          </p:txBody>
        </p:sp>
        <p:sp>
          <p:nvSpPr>
            <p:cNvPr id="71813" name="Text Box 134"/>
            <p:cNvSpPr txBox="1"/>
            <p:nvPr/>
          </p:nvSpPr>
          <p:spPr>
            <a:xfrm>
              <a:off x="802" y="1727"/>
              <a:ext cx="648" cy="306"/>
            </a:xfrm>
            <a:prstGeom prst="rect">
              <a:avLst/>
            </a:prstGeom>
            <a:noFill/>
            <a:ln w="9525">
              <a:noFill/>
            </a:ln>
          </p:spPr>
          <p:txBody>
            <a:bodyPr anchor="t" anchorCtr="0"/>
            <a:p>
              <a:pPr algn="just" eaLnBrk="0" hangingPunct="0"/>
              <a:r>
                <a:rPr lang="zh-CN" altLang="en-US" sz="1200" dirty="0">
                  <a:latin typeface="Times New Roman" panose="02020603050405020304" pitchFamily="18" charset="0"/>
                  <a:ea typeface="宋体" panose="02010600030101010101" pitchFamily="2" charset="-122"/>
                </a:rPr>
                <a:t>部分积输入</a:t>
              </a:r>
              <a:endParaRPr lang="zh-CN" altLang="en-US" sz="1200" dirty="0">
                <a:latin typeface="Times New Roman" panose="02020603050405020304" pitchFamily="18" charset="0"/>
                <a:ea typeface="宋体" panose="02010600030101010101" pitchFamily="2" charset="-122"/>
              </a:endParaRPr>
            </a:p>
          </p:txBody>
        </p:sp>
        <p:sp>
          <p:nvSpPr>
            <p:cNvPr id="71814" name="Text Box 135"/>
            <p:cNvSpPr txBox="1"/>
            <p:nvPr/>
          </p:nvSpPr>
          <p:spPr>
            <a:xfrm>
              <a:off x="1692" y="1835"/>
              <a:ext cx="292" cy="291"/>
            </a:xfrm>
            <a:prstGeom prst="rect">
              <a:avLst/>
            </a:prstGeom>
            <a:noFill/>
            <a:ln w="9525">
              <a:noFill/>
            </a:ln>
          </p:spPr>
          <p:txBody>
            <a:bodyPr anchor="t" anchorCtr="0"/>
            <a:p>
              <a:pPr algn="just" eaLnBrk="0" hangingPunct="0"/>
              <a:r>
                <a:rPr lang="en-US" altLang="zh-CN" sz="1200" dirty="0">
                  <a:latin typeface="Times New Roman" panose="02020603050405020304" pitchFamily="18" charset="0"/>
                </a:rPr>
                <a:t>Ai</a:t>
              </a:r>
              <a:endParaRPr lang="en-US" altLang="zh-CN" sz="1200" dirty="0">
                <a:latin typeface="Times New Roman" panose="02020603050405020304" pitchFamily="18" charset="0"/>
              </a:endParaRPr>
            </a:p>
          </p:txBody>
        </p:sp>
        <p:sp>
          <p:nvSpPr>
            <p:cNvPr id="71815" name="Text Box 136"/>
            <p:cNvSpPr txBox="1"/>
            <p:nvPr/>
          </p:nvSpPr>
          <p:spPr>
            <a:xfrm>
              <a:off x="1728" y="2179"/>
              <a:ext cx="291" cy="298"/>
            </a:xfrm>
            <a:prstGeom prst="rect">
              <a:avLst/>
            </a:prstGeom>
            <a:noFill/>
            <a:ln w="9525">
              <a:noFill/>
            </a:ln>
          </p:spPr>
          <p:txBody>
            <a:bodyPr anchor="t" anchorCtr="0"/>
            <a:p>
              <a:pPr algn="just" eaLnBrk="0" hangingPunct="0"/>
              <a:r>
                <a:rPr lang="en-US" altLang="zh-CN" sz="1200" dirty="0">
                  <a:latin typeface="Times New Roman" panose="02020603050405020304" pitchFamily="18" charset="0"/>
                </a:rPr>
                <a:t>Bi</a:t>
              </a:r>
              <a:endParaRPr lang="en-US" altLang="zh-CN" sz="1200" dirty="0">
                <a:latin typeface="Times New Roman" panose="02020603050405020304" pitchFamily="18" charset="0"/>
              </a:endParaRPr>
            </a:p>
          </p:txBody>
        </p:sp>
        <p:sp>
          <p:nvSpPr>
            <p:cNvPr id="71816" name="Text Box 137"/>
            <p:cNvSpPr txBox="1"/>
            <p:nvPr/>
          </p:nvSpPr>
          <p:spPr>
            <a:xfrm>
              <a:off x="1452" y="2498"/>
              <a:ext cx="529" cy="305"/>
            </a:xfrm>
            <a:prstGeom prst="rect">
              <a:avLst/>
            </a:prstGeom>
            <a:noFill/>
            <a:ln w="9525">
              <a:noFill/>
            </a:ln>
          </p:spPr>
          <p:txBody>
            <a:bodyPr anchor="t" anchorCtr="0"/>
            <a:p>
              <a:pPr algn="just" eaLnBrk="0" hangingPunct="0"/>
              <a:r>
                <a:rPr lang="zh-CN" altLang="en-US" sz="1200" dirty="0">
                  <a:latin typeface="Times New Roman" panose="02020603050405020304" pitchFamily="18" charset="0"/>
                  <a:ea typeface="宋体" panose="02010600030101010101" pitchFamily="2" charset="-122"/>
                </a:rPr>
                <a:t>进位输入</a:t>
              </a:r>
              <a:endParaRPr lang="zh-CN" altLang="en-US" sz="1200" dirty="0">
                <a:latin typeface="Times New Roman" panose="02020603050405020304" pitchFamily="18" charset="0"/>
                <a:ea typeface="宋体" panose="02010600030101010101" pitchFamily="2" charset="-122"/>
              </a:endParaRPr>
            </a:p>
          </p:txBody>
        </p:sp>
        <p:sp>
          <p:nvSpPr>
            <p:cNvPr id="71817" name="Text Box 138"/>
            <p:cNvSpPr txBox="1"/>
            <p:nvPr/>
          </p:nvSpPr>
          <p:spPr>
            <a:xfrm>
              <a:off x="185" y="2507"/>
              <a:ext cx="575" cy="306"/>
            </a:xfrm>
            <a:prstGeom prst="rect">
              <a:avLst/>
            </a:prstGeom>
            <a:noFill/>
            <a:ln w="9525">
              <a:noFill/>
            </a:ln>
          </p:spPr>
          <p:txBody>
            <a:bodyPr anchor="t" anchorCtr="0"/>
            <a:p>
              <a:pPr algn="just" eaLnBrk="0" hangingPunct="0"/>
              <a:r>
                <a:rPr lang="zh-CN" altLang="en-US" sz="1200" dirty="0">
                  <a:latin typeface="Times New Roman" panose="02020603050405020304" pitchFamily="18" charset="0"/>
                  <a:ea typeface="宋体" panose="02010600030101010101" pitchFamily="2" charset="-122"/>
                </a:rPr>
                <a:t>进位输出</a:t>
              </a:r>
              <a:r>
                <a:rPr lang="zh-CN" altLang="en-US" sz="700" b="0" dirty="0">
                  <a:latin typeface="Times New Roman" panose="02020603050405020304" pitchFamily="18" charset="0"/>
                  <a:ea typeface="宋体" panose="02010600030101010101" pitchFamily="2" charset="-122"/>
                </a:rPr>
                <a:t> </a:t>
              </a:r>
              <a:endParaRPr lang="zh-CN" altLang="en-US" sz="700" b="0" dirty="0">
                <a:latin typeface="Times New Roman" panose="02020603050405020304" pitchFamily="18" charset="0"/>
                <a:ea typeface="宋体" panose="02010600030101010101" pitchFamily="2" charset="-122"/>
              </a:endParaRPr>
            </a:p>
            <a:p>
              <a:pPr eaLnBrk="0" hangingPunct="0"/>
              <a:endParaRPr lang="zh-CN" altLang="en-US" dirty="0">
                <a:latin typeface="Times New Roman" panose="02020603050405020304" pitchFamily="18" charset="0"/>
                <a:ea typeface="宋体" panose="02010600030101010101" pitchFamily="2" charset="-122"/>
              </a:endParaRPr>
            </a:p>
          </p:txBody>
        </p:sp>
        <p:sp>
          <p:nvSpPr>
            <p:cNvPr id="71818" name="Text Box 139"/>
            <p:cNvSpPr txBox="1"/>
            <p:nvPr/>
          </p:nvSpPr>
          <p:spPr>
            <a:xfrm>
              <a:off x="820" y="3107"/>
              <a:ext cx="672" cy="305"/>
            </a:xfrm>
            <a:prstGeom prst="rect">
              <a:avLst/>
            </a:prstGeom>
            <a:noFill/>
            <a:ln w="9525">
              <a:noFill/>
            </a:ln>
          </p:spPr>
          <p:txBody>
            <a:bodyPr anchor="t" anchorCtr="0"/>
            <a:p>
              <a:pPr algn="just" eaLnBrk="0" hangingPunct="0"/>
              <a:r>
                <a:rPr lang="zh-CN" altLang="en-US" sz="1200" dirty="0">
                  <a:latin typeface="Times New Roman" panose="02020603050405020304" pitchFamily="18" charset="0"/>
                  <a:ea typeface="宋体" panose="02010600030101010101" pitchFamily="2" charset="-122"/>
                </a:rPr>
                <a:t>部分积输出</a:t>
              </a:r>
              <a:endParaRPr lang="zh-CN" altLang="en-US" sz="1200" dirty="0">
                <a:latin typeface="Times New Roman" panose="02020603050405020304" pitchFamily="18" charset="0"/>
                <a:ea typeface="宋体" panose="02010600030101010101" pitchFamily="2" charset="-122"/>
              </a:endParaRPr>
            </a:p>
          </p:txBody>
        </p:sp>
        <p:sp>
          <p:nvSpPr>
            <p:cNvPr id="71819" name="Text Box 140"/>
            <p:cNvSpPr txBox="1"/>
            <p:nvPr/>
          </p:nvSpPr>
          <p:spPr>
            <a:xfrm>
              <a:off x="4062" y="2423"/>
              <a:ext cx="146" cy="175"/>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B</a:t>
              </a:r>
              <a:r>
                <a:rPr lang="en-US" altLang="zh-CN" sz="1200" baseline="-25000" dirty="0">
                  <a:latin typeface="Times New Roman" panose="02020603050405020304" pitchFamily="18" charset="0"/>
                </a:rPr>
                <a:t>0</a:t>
              </a:r>
              <a:endParaRPr lang="en-US" altLang="zh-CN" sz="1200" baseline="-25000" dirty="0">
                <a:latin typeface="Times New Roman" panose="02020603050405020304" pitchFamily="18" charset="0"/>
              </a:endParaRPr>
            </a:p>
          </p:txBody>
        </p:sp>
        <p:sp>
          <p:nvSpPr>
            <p:cNvPr id="71820" name="Text Box 144"/>
            <p:cNvSpPr txBox="1"/>
            <p:nvPr/>
          </p:nvSpPr>
          <p:spPr>
            <a:xfrm>
              <a:off x="4088" y="2566"/>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21" name="Text Box 148"/>
            <p:cNvSpPr txBox="1"/>
            <p:nvPr/>
          </p:nvSpPr>
          <p:spPr>
            <a:xfrm>
              <a:off x="923" y="4047"/>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P</a:t>
              </a:r>
              <a:r>
                <a:rPr lang="en-US" altLang="zh-CN" sz="1200" baseline="-25000" dirty="0">
                  <a:latin typeface="Times New Roman" panose="02020603050405020304" pitchFamily="18" charset="0"/>
                </a:rPr>
                <a:t>7</a:t>
              </a:r>
              <a:endParaRPr lang="en-US" altLang="zh-CN" sz="1200" dirty="0">
                <a:latin typeface="Times New Roman" panose="02020603050405020304" pitchFamily="18" charset="0"/>
              </a:endParaRPr>
            </a:p>
          </p:txBody>
        </p:sp>
        <p:sp>
          <p:nvSpPr>
            <p:cNvPr id="71822" name="Text Box 149"/>
            <p:cNvSpPr txBox="1"/>
            <p:nvPr/>
          </p:nvSpPr>
          <p:spPr>
            <a:xfrm>
              <a:off x="1268" y="4045"/>
              <a:ext cx="129" cy="203"/>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P</a:t>
              </a:r>
              <a:r>
                <a:rPr lang="en-US" altLang="zh-CN" sz="1200" baseline="-25000" dirty="0">
                  <a:latin typeface="Times New Roman" panose="02020603050405020304" pitchFamily="18" charset="0"/>
                </a:rPr>
                <a:t>6</a:t>
              </a:r>
              <a:endParaRPr lang="en-US" altLang="zh-CN" sz="1200" dirty="0">
                <a:latin typeface="Times New Roman" panose="02020603050405020304" pitchFamily="18" charset="0"/>
              </a:endParaRPr>
            </a:p>
          </p:txBody>
        </p:sp>
        <p:sp>
          <p:nvSpPr>
            <p:cNvPr id="71823" name="Text Box 150"/>
            <p:cNvSpPr txBox="1"/>
            <p:nvPr/>
          </p:nvSpPr>
          <p:spPr>
            <a:xfrm>
              <a:off x="1681" y="4039"/>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P</a:t>
              </a:r>
              <a:r>
                <a:rPr lang="en-US" altLang="zh-CN" sz="1200" baseline="-25000" dirty="0">
                  <a:latin typeface="Times New Roman" panose="02020603050405020304" pitchFamily="18" charset="0"/>
                </a:rPr>
                <a:t>5</a:t>
              </a:r>
              <a:endParaRPr lang="en-US" altLang="zh-CN" sz="1200" dirty="0">
                <a:latin typeface="Times New Roman" panose="02020603050405020304" pitchFamily="18" charset="0"/>
              </a:endParaRPr>
            </a:p>
          </p:txBody>
        </p:sp>
        <p:sp>
          <p:nvSpPr>
            <p:cNvPr id="71824" name="Text Box 151"/>
            <p:cNvSpPr txBox="1"/>
            <p:nvPr/>
          </p:nvSpPr>
          <p:spPr>
            <a:xfrm>
              <a:off x="2091" y="4045"/>
              <a:ext cx="123"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P</a:t>
              </a:r>
              <a:r>
                <a:rPr lang="en-US" altLang="zh-CN" sz="1200" baseline="-25000" dirty="0">
                  <a:latin typeface="Times New Roman" panose="02020603050405020304" pitchFamily="18" charset="0"/>
                </a:rPr>
                <a:t>4</a:t>
              </a:r>
              <a:endParaRPr lang="en-US" altLang="zh-CN" sz="1200" dirty="0">
                <a:latin typeface="Times New Roman" panose="02020603050405020304" pitchFamily="18" charset="0"/>
              </a:endParaRPr>
            </a:p>
          </p:txBody>
        </p:sp>
        <p:sp>
          <p:nvSpPr>
            <p:cNvPr id="71825" name="Text Box 152"/>
            <p:cNvSpPr txBox="1"/>
            <p:nvPr/>
          </p:nvSpPr>
          <p:spPr>
            <a:xfrm>
              <a:off x="2447" y="4033"/>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P</a:t>
              </a:r>
              <a:r>
                <a:rPr lang="en-US" altLang="zh-CN" sz="1200" baseline="-25000" dirty="0">
                  <a:latin typeface="Times New Roman" panose="02020603050405020304" pitchFamily="18" charset="0"/>
                </a:rPr>
                <a:t>3</a:t>
              </a:r>
              <a:endParaRPr lang="en-US" altLang="zh-CN" sz="1200" dirty="0">
                <a:latin typeface="Times New Roman" panose="02020603050405020304" pitchFamily="18" charset="0"/>
              </a:endParaRPr>
            </a:p>
          </p:txBody>
        </p:sp>
        <p:sp>
          <p:nvSpPr>
            <p:cNvPr id="71826" name="Text Box 153"/>
            <p:cNvSpPr txBox="1"/>
            <p:nvPr/>
          </p:nvSpPr>
          <p:spPr>
            <a:xfrm>
              <a:off x="2860" y="4031"/>
              <a:ext cx="142" cy="203"/>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P</a:t>
              </a:r>
              <a:r>
                <a:rPr lang="en-US" altLang="zh-CN" sz="1200" baseline="-25000" dirty="0">
                  <a:latin typeface="Times New Roman" panose="02020603050405020304" pitchFamily="18" charset="0"/>
                </a:rPr>
                <a:t>2</a:t>
              </a:r>
              <a:endParaRPr lang="en-US" altLang="zh-CN" sz="1200" dirty="0">
                <a:latin typeface="Times New Roman" panose="02020603050405020304" pitchFamily="18" charset="0"/>
              </a:endParaRPr>
            </a:p>
          </p:txBody>
        </p:sp>
        <p:sp>
          <p:nvSpPr>
            <p:cNvPr id="71827" name="Text Box 154"/>
            <p:cNvSpPr txBox="1"/>
            <p:nvPr/>
          </p:nvSpPr>
          <p:spPr>
            <a:xfrm>
              <a:off x="3271" y="4026"/>
              <a:ext cx="123"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P</a:t>
              </a:r>
              <a:r>
                <a:rPr lang="en-US" altLang="zh-CN" sz="1200" baseline="-25000" dirty="0">
                  <a:latin typeface="Times New Roman" panose="02020603050405020304" pitchFamily="18" charset="0"/>
                </a:rPr>
                <a:t>1</a:t>
              </a:r>
              <a:endParaRPr lang="en-US" altLang="zh-CN" sz="1200" dirty="0">
                <a:latin typeface="Times New Roman" panose="02020603050405020304" pitchFamily="18" charset="0"/>
              </a:endParaRPr>
            </a:p>
          </p:txBody>
        </p:sp>
        <p:sp>
          <p:nvSpPr>
            <p:cNvPr id="71828" name="Text Box 155"/>
            <p:cNvSpPr txBox="1"/>
            <p:nvPr/>
          </p:nvSpPr>
          <p:spPr>
            <a:xfrm>
              <a:off x="3697" y="4016"/>
              <a:ext cx="130" cy="226"/>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P</a:t>
              </a:r>
              <a:r>
                <a:rPr lang="en-US" altLang="zh-CN" sz="1200" baseline="-250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29" name="Text Box 156"/>
            <p:cNvSpPr txBox="1"/>
            <p:nvPr/>
          </p:nvSpPr>
          <p:spPr>
            <a:xfrm>
              <a:off x="3622" y="2817"/>
              <a:ext cx="146" cy="175"/>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B</a:t>
              </a:r>
              <a:r>
                <a:rPr lang="en-US" altLang="zh-CN" sz="1200" baseline="-25000" dirty="0">
                  <a:latin typeface="Times New Roman" panose="02020603050405020304" pitchFamily="18" charset="0"/>
                </a:rPr>
                <a:t>1</a:t>
              </a:r>
              <a:endParaRPr lang="en-US" altLang="zh-CN" sz="1200" baseline="-25000" dirty="0">
                <a:latin typeface="Times New Roman" panose="02020603050405020304" pitchFamily="18" charset="0"/>
              </a:endParaRPr>
            </a:p>
          </p:txBody>
        </p:sp>
        <p:sp>
          <p:nvSpPr>
            <p:cNvPr id="71830" name="Text Box 157"/>
            <p:cNvSpPr txBox="1"/>
            <p:nvPr/>
          </p:nvSpPr>
          <p:spPr>
            <a:xfrm>
              <a:off x="3642" y="2960"/>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31" name="Text Box 158"/>
            <p:cNvSpPr txBox="1"/>
            <p:nvPr/>
          </p:nvSpPr>
          <p:spPr>
            <a:xfrm>
              <a:off x="3214" y="3195"/>
              <a:ext cx="146" cy="175"/>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B</a:t>
              </a:r>
              <a:r>
                <a:rPr lang="en-US" altLang="zh-CN" sz="1200" baseline="-25000" dirty="0">
                  <a:latin typeface="Times New Roman" panose="02020603050405020304" pitchFamily="18" charset="0"/>
                </a:rPr>
                <a:t>2</a:t>
              </a:r>
              <a:endParaRPr lang="en-US" altLang="zh-CN" sz="1200" baseline="-25000" dirty="0">
                <a:latin typeface="Times New Roman" panose="02020603050405020304" pitchFamily="18" charset="0"/>
              </a:endParaRPr>
            </a:p>
          </p:txBody>
        </p:sp>
        <p:sp>
          <p:nvSpPr>
            <p:cNvPr id="71832" name="Text Box 159"/>
            <p:cNvSpPr txBox="1"/>
            <p:nvPr/>
          </p:nvSpPr>
          <p:spPr>
            <a:xfrm>
              <a:off x="3240" y="3338"/>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33" name="Text Box 160"/>
            <p:cNvSpPr txBox="1"/>
            <p:nvPr/>
          </p:nvSpPr>
          <p:spPr>
            <a:xfrm>
              <a:off x="2812" y="3609"/>
              <a:ext cx="146" cy="175"/>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B</a:t>
              </a:r>
              <a:r>
                <a:rPr lang="en-US" altLang="zh-CN" sz="1200" baseline="-25000" dirty="0">
                  <a:latin typeface="Times New Roman" panose="02020603050405020304" pitchFamily="18" charset="0"/>
                </a:rPr>
                <a:t>3</a:t>
              </a:r>
              <a:endParaRPr lang="en-US" altLang="zh-CN" sz="1200" baseline="-25000" dirty="0">
                <a:latin typeface="Times New Roman" panose="02020603050405020304" pitchFamily="18" charset="0"/>
              </a:endParaRPr>
            </a:p>
          </p:txBody>
        </p:sp>
        <p:sp>
          <p:nvSpPr>
            <p:cNvPr id="71834" name="Text Box 161"/>
            <p:cNvSpPr txBox="1"/>
            <p:nvPr/>
          </p:nvSpPr>
          <p:spPr>
            <a:xfrm>
              <a:off x="2838" y="3752"/>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35" name="Text Box 162"/>
            <p:cNvSpPr txBox="1"/>
            <p:nvPr/>
          </p:nvSpPr>
          <p:spPr>
            <a:xfrm>
              <a:off x="2799" y="2197"/>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A</a:t>
              </a:r>
              <a:r>
                <a:rPr lang="en-US" altLang="zh-CN" sz="1200" baseline="-25000" dirty="0">
                  <a:latin typeface="Times New Roman" panose="02020603050405020304" pitchFamily="18" charset="0"/>
                </a:rPr>
                <a:t>3</a:t>
              </a:r>
              <a:endParaRPr lang="en-US" altLang="zh-CN" sz="1200" dirty="0">
                <a:latin typeface="Times New Roman" panose="02020603050405020304" pitchFamily="18" charset="0"/>
              </a:endParaRPr>
            </a:p>
          </p:txBody>
        </p:sp>
        <p:sp>
          <p:nvSpPr>
            <p:cNvPr id="71836" name="Text Box 163"/>
            <p:cNvSpPr txBox="1"/>
            <p:nvPr/>
          </p:nvSpPr>
          <p:spPr>
            <a:xfrm>
              <a:off x="3144" y="2195"/>
              <a:ext cx="129" cy="203"/>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A</a:t>
              </a:r>
              <a:r>
                <a:rPr lang="en-US" altLang="zh-CN" sz="1200" baseline="-25000" dirty="0">
                  <a:latin typeface="Times New Roman" panose="02020603050405020304" pitchFamily="18" charset="0"/>
                </a:rPr>
                <a:t>2</a:t>
              </a:r>
              <a:endParaRPr lang="en-US" altLang="zh-CN" sz="1200" dirty="0">
                <a:latin typeface="Times New Roman" panose="02020603050405020304" pitchFamily="18" charset="0"/>
              </a:endParaRPr>
            </a:p>
          </p:txBody>
        </p:sp>
        <p:sp>
          <p:nvSpPr>
            <p:cNvPr id="71837" name="Text Box 164"/>
            <p:cNvSpPr txBox="1"/>
            <p:nvPr/>
          </p:nvSpPr>
          <p:spPr>
            <a:xfrm>
              <a:off x="3557" y="2189"/>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A</a:t>
              </a:r>
              <a:r>
                <a:rPr lang="en-US" altLang="zh-CN" sz="1200" baseline="-25000" dirty="0">
                  <a:latin typeface="Times New Roman" panose="02020603050405020304" pitchFamily="18" charset="0"/>
                </a:rPr>
                <a:t>1</a:t>
              </a:r>
              <a:endParaRPr lang="en-US" altLang="zh-CN" sz="1200" dirty="0">
                <a:latin typeface="Times New Roman" panose="02020603050405020304" pitchFamily="18" charset="0"/>
              </a:endParaRPr>
            </a:p>
          </p:txBody>
        </p:sp>
        <p:sp>
          <p:nvSpPr>
            <p:cNvPr id="71838" name="Text Box 165"/>
            <p:cNvSpPr txBox="1"/>
            <p:nvPr/>
          </p:nvSpPr>
          <p:spPr>
            <a:xfrm>
              <a:off x="3967" y="2195"/>
              <a:ext cx="123"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A</a:t>
              </a:r>
              <a:r>
                <a:rPr lang="en-US" altLang="zh-CN" sz="1200" baseline="-250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39" name="Text Box 166"/>
            <p:cNvSpPr txBox="1"/>
            <p:nvPr/>
          </p:nvSpPr>
          <p:spPr>
            <a:xfrm>
              <a:off x="2505" y="2149"/>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40" name="Text Box 167"/>
            <p:cNvSpPr txBox="1"/>
            <p:nvPr/>
          </p:nvSpPr>
          <p:spPr>
            <a:xfrm>
              <a:off x="2922" y="2159"/>
              <a:ext cx="129" cy="203"/>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41" name="Text Box 168"/>
            <p:cNvSpPr txBox="1"/>
            <p:nvPr/>
          </p:nvSpPr>
          <p:spPr>
            <a:xfrm>
              <a:off x="3335" y="2171"/>
              <a:ext cx="122"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71842" name="Text Box 169"/>
            <p:cNvSpPr txBox="1"/>
            <p:nvPr/>
          </p:nvSpPr>
          <p:spPr>
            <a:xfrm>
              <a:off x="3745" y="2171"/>
              <a:ext cx="123" cy="167"/>
            </a:xfrm>
            <a:prstGeom prst="rect">
              <a:avLst/>
            </a:prstGeom>
            <a:noFill/>
            <a:ln w="9525">
              <a:noFill/>
            </a:ln>
          </p:spPr>
          <p:txBody>
            <a:bodyPr lIns="0" tIns="0" rIns="0" bIns="0" anchor="t" anchorCtr="0"/>
            <a:p>
              <a:pPr algn="just" eaLnBrk="0" hangingPunct="0"/>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grpSp>
      <p:sp>
        <p:nvSpPr>
          <p:cNvPr id="428202" name="Line 170"/>
          <p:cNvSpPr/>
          <p:nvPr/>
        </p:nvSpPr>
        <p:spPr>
          <a:xfrm>
            <a:off x="2581275" y="1057275"/>
            <a:ext cx="2390775" cy="0"/>
          </a:xfrm>
          <a:prstGeom prst="line">
            <a:avLst/>
          </a:prstGeom>
          <a:ln w="28575" cap="flat" cmpd="sng">
            <a:solidFill>
              <a:srgbClr val="3333FF"/>
            </a:solidFill>
            <a:prstDash val="solid"/>
            <a:round/>
            <a:headEnd type="none" w="med" len="med"/>
            <a:tailEnd type="triangle" w="med" len="med"/>
          </a:ln>
        </p:spPr>
      </p:sp>
      <p:sp>
        <p:nvSpPr>
          <p:cNvPr id="428203" name="Line 171"/>
          <p:cNvSpPr/>
          <p:nvPr/>
        </p:nvSpPr>
        <p:spPr>
          <a:xfrm>
            <a:off x="2200275" y="1619250"/>
            <a:ext cx="1447800" cy="1524000"/>
          </a:xfrm>
          <a:prstGeom prst="line">
            <a:avLst/>
          </a:prstGeom>
          <a:ln w="28575" cap="flat" cmpd="sng">
            <a:solidFill>
              <a:srgbClr val="3333FF"/>
            </a:solidFill>
            <a:prstDash val="solid"/>
            <a:round/>
            <a:headEnd type="none" w="med" len="med"/>
            <a:tailEnd type="triangle" w="med" len="med"/>
          </a:ln>
        </p:spPr>
      </p:sp>
      <p:sp>
        <p:nvSpPr>
          <p:cNvPr id="428205" name="Rectangle 173"/>
          <p:cNvSpPr/>
          <p:nvPr/>
        </p:nvSpPr>
        <p:spPr>
          <a:xfrm>
            <a:off x="7137400" y="2970213"/>
            <a:ext cx="1682750" cy="1431925"/>
          </a:xfrm>
          <a:prstGeom prst="rect">
            <a:avLst/>
          </a:prstGeom>
          <a:noFill/>
          <a:ln w="12700">
            <a:noFill/>
          </a:ln>
        </p:spPr>
        <p:txBody>
          <a:bodyPr anchor="ctr" anchorCtr="0">
            <a:spAutoFit/>
          </a:bodyPr>
          <a:p>
            <a:pPr eaLnBrk="0" hangingPunct="0"/>
            <a:r>
              <a:rPr lang="zh-CN" altLang="en-US" sz="2200" dirty="0">
                <a:solidFill>
                  <a:srgbClr val="CC0000"/>
                </a:solidFill>
                <a:latin typeface="黑体" panose="02010609060101010101" pitchFamily="49" charset="-122"/>
                <a:ea typeface="黑体" panose="02010609060101010101" pitchFamily="49" charset="-122"/>
              </a:rPr>
              <a:t>速度仅取决于逻辑门和加法器的传输延迟</a:t>
            </a:r>
            <a:r>
              <a:rPr lang="zh-CN" altLang="en-US" sz="2200" dirty="0">
                <a:latin typeface="黑体" panose="02010609060101010101" pitchFamily="49" charset="-122"/>
                <a:ea typeface="黑体" panose="02010609060101010101" pitchFamily="49" charset="-122"/>
              </a:rPr>
              <a:t> </a:t>
            </a:r>
            <a:endParaRPr lang="zh-CN" altLang="en-US" sz="2200" dirty="0">
              <a:latin typeface="黑体" panose="02010609060101010101" pitchFamily="49" charset="-122"/>
              <a:ea typeface="黑体" panose="02010609060101010101" pitchFamily="49" charset="-122"/>
            </a:endParaRPr>
          </a:p>
        </p:txBody>
      </p:sp>
      <p:sp>
        <p:nvSpPr>
          <p:cNvPr id="428206" name="Rectangle 174"/>
          <p:cNvSpPr/>
          <p:nvPr/>
        </p:nvSpPr>
        <p:spPr>
          <a:xfrm>
            <a:off x="6623050" y="4564063"/>
            <a:ext cx="2397125" cy="1920875"/>
          </a:xfrm>
          <a:prstGeom prst="rect">
            <a:avLst/>
          </a:prstGeom>
          <a:noFill/>
          <a:ln w="12700">
            <a:noFill/>
          </a:ln>
        </p:spPr>
        <p:txBody>
          <a:bodyPr anchor="ctr" anchorCtr="0">
            <a:spAutoFit/>
          </a:bodyPr>
          <a:p>
            <a:pPr eaLnBrk="0" hangingPunct="0"/>
            <a:r>
              <a:rPr lang="zh-CN" altLang="en-US" sz="2000" dirty="0">
                <a:solidFill>
                  <a:srgbClr val="3333FF"/>
                </a:solidFill>
                <a:latin typeface="黑体" panose="02010609060101010101" pitchFamily="49" charset="-122"/>
                <a:ea typeface="黑体" panose="02010609060101010101" pitchFamily="49" charset="-122"/>
              </a:rPr>
              <a:t>无符号阵列乘法器</a:t>
            </a:r>
            <a:endParaRPr lang="zh-CN" altLang="en-US" sz="2000" dirty="0">
              <a:solidFill>
                <a:srgbClr val="3333FF"/>
              </a:solidFill>
              <a:latin typeface="黑体" panose="02010609060101010101" pitchFamily="49" charset="-122"/>
              <a:ea typeface="黑体" panose="02010609060101010101" pitchFamily="49" charset="-122"/>
            </a:endParaRPr>
          </a:p>
          <a:p>
            <a:pPr eaLnBrk="0" hangingPunct="0"/>
            <a:endParaRPr lang="zh-CN" altLang="en-US" sz="2000" dirty="0">
              <a:solidFill>
                <a:srgbClr val="3333FF"/>
              </a:solidFill>
              <a:latin typeface="黑体" panose="02010609060101010101" pitchFamily="49" charset="-122"/>
              <a:ea typeface="黑体" panose="02010609060101010101" pitchFamily="49" charset="-122"/>
            </a:endParaRPr>
          </a:p>
          <a:p>
            <a:pPr eaLnBrk="0" hangingPunct="0"/>
            <a:r>
              <a:rPr lang="zh-CN" altLang="en-US" sz="2000" dirty="0">
                <a:solidFill>
                  <a:srgbClr val="3333FF"/>
                </a:solidFill>
                <a:latin typeface="黑体" panose="02010609060101010101" pitchFamily="49" charset="-122"/>
                <a:ea typeface="黑体" panose="02010609060101010101" pitchFamily="49" charset="-122"/>
              </a:rPr>
              <a:t>增加符号处理电路、乘前及乘后求补电路，即可实现带符号整数乘法器。 </a:t>
            </a:r>
            <a:endParaRPr lang="zh-CN" altLang="en-US" sz="2000" dirty="0">
              <a:solidFill>
                <a:srgbClr val="3333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8035">
                                            <p:txEl>
                                              <p:charRg st="0" end="7"/>
                                            </p:txEl>
                                          </p:spTgt>
                                        </p:tgtEl>
                                        <p:attrNameLst>
                                          <p:attrName>style.visibility</p:attrName>
                                        </p:attrNameLst>
                                      </p:cBhvr>
                                      <p:to>
                                        <p:strVal val="visible"/>
                                      </p:to>
                                    </p:set>
                                    <p:animEffect transition="in" filter="blinds(horizontal)">
                                      <p:cBhvr>
                                        <p:cTn id="7" dur="500"/>
                                        <p:tgtEl>
                                          <p:spTgt spid="428035">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8202"/>
                                        </p:tgtEl>
                                        <p:attrNameLst>
                                          <p:attrName>style.visibility</p:attrName>
                                        </p:attrNameLst>
                                      </p:cBhvr>
                                      <p:to>
                                        <p:strVal val="visible"/>
                                      </p:to>
                                    </p:set>
                                    <p:animEffect transition="in" filter="blinds(horizontal)">
                                      <p:cBhvr>
                                        <p:cTn id="12" dur="500"/>
                                        <p:tgtEl>
                                          <p:spTgt spid="4282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8036"/>
                                        </p:tgtEl>
                                        <p:attrNameLst>
                                          <p:attrName>style.visibility</p:attrName>
                                        </p:attrNameLst>
                                      </p:cBhvr>
                                      <p:to>
                                        <p:strVal val="visible"/>
                                      </p:to>
                                    </p:set>
                                    <p:animEffect transition="in" filter="blinds(horizontal)">
                                      <p:cBhvr>
                                        <p:cTn id="17" dur="500"/>
                                        <p:tgtEl>
                                          <p:spTgt spid="42803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8035">
                                            <p:txEl>
                                              <p:charRg st="7" end="13"/>
                                            </p:txEl>
                                          </p:spTgt>
                                        </p:tgtEl>
                                        <p:attrNameLst>
                                          <p:attrName>style.visibility</p:attrName>
                                        </p:attrNameLst>
                                      </p:cBhvr>
                                      <p:to>
                                        <p:strVal val="visible"/>
                                      </p:to>
                                    </p:set>
                                    <p:animEffect transition="in" filter="blinds(horizontal)">
                                      <p:cBhvr>
                                        <p:cTn id="22" dur="500"/>
                                        <p:tgtEl>
                                          <p:spTgt spid="428035">
                                            <p:txEl>
                                              <p:charRg st="7" end="1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28203"/>
                                        </p:tgtEl>
                                        <p:attrNameLst>
                                          <p:attrName>style.visibility</p:attrName>
                                        </p:attrNameLst>
                                      </p:cBhvr>
                                      <p:to>
                                        <p:strVal val="visible"/>
                                      </p:to>
                                    </p:set>
                                    <p:animEffect transition="in" filter="blinds(horizontal)">
                                      <p:cBhvr>
                                        <p:cTn id="27" dur="500"/>
                                        <p:tgtEl>
                                          <p:spTgt spid="42820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28205"/>
                                        </p:tgtEl>
                                        <p:attrNameLst>
                                          <p:attrName>style.visibility</p:attrName>
                                        </p:attrNameLst>
                                      </p:cBhvr>
                                      <p:to>
                                        <p:strVal val="visible"/>
                                      </p:to>
                                    </p:set>
                                    <p:animEffect transition="in" filter="blinds(horizontal)">
                                      <p:cBhvr>
                                        <p:cTn id="37" dur="500"/>
                                        <p:tgtEl>
                                          <p:spTgt spid="42820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28206">
                                            <p:txEl>
                                              <p:charRg st="0" end="9"/>
                                            </p:txEl>
                                          </p:spTgt>
                                        </p:tgtEl>
                                        <p:attrNameLst>
                                          <p:attrName>style.visibility</p:attrName>
                                        </p:attrNameLst>
                                      </p:cBhvr>
                                      <p:to>
                                        <p:strVal val="visible"/>
                                      </p:to>
                                    </p:set>
                                    <p:animEffect transition="in" filter="blinds(horizontal)">
                                      <p:cBhvr>
                                        <p:cTn id="42" dur="500"/>
                                        <p:tgtEl>
                                          <p:spTgt spid="428206">
                                            <p:txEl>
                                              <p:charRg st="0"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28206">
                                            <p:txEl>
                                              <p:charRg st="10" end="44"/>
                                            </p:txEl>
                                          </p:spTgt>
                                        </p:tgtEl>
                                        <p:attrNameLst>
                                          <p:attrName>style.visibility</p:attrName>
                                        </p:attrNameLst>
                                      </p:cBhvr>
                                      <p:to>
                                        <p:strVal val="visible"/>
                                      </p:to>
                                    </p:set>
                                    <p:animEffect transition="in" filter="blinds(horizontal)">
                                      <p:cBhvr>
                                        <p:cTn id="47" dur="500"/>
                                        <p:tgtEl>
                                          <p:spTgt spid="428206">
                                            <p:txEl>
                                              <p:charRg st="10" end="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20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spLocks noGrp="1"/>
          </p:cNvSpPr>
          <p:nvPr>
            <p:ph type="title"/>
          </p:nvPr>
        </p:nvSpPr>
        <p:spPr>
          <a:xfrm>
            <a:off x="457200" y="98425"/>
            <a:ext cx="8229600" cy="533400"/>
          </a:xfrm>
          <a:ln/>
        </p:spPr>
        <p:txBody>
          <a:bodyPr vert="horz" wrap="square" lIns="63500" tIns="25400" rIns="63500" bIns="25400" anchor="t" anchorCtr="0">
            <a:spAutoFit/>
          </a:bodyPr>
          <a:p>
            <a:r>
              <a:rPr lang="zh-CN" altLang="en-US" dirty="0">
                <a:ea typeface="宋体" panose="02010600030101010101" pitchFamily="2" charset="-122"/>
              </a:rPr>
              <a:t>整数的乘运算</a:t>
            </a:r>
            <a:r>
              <a:rPr lang="zh-CN" altLang="en-US" sz="3600" dirty="0">
                <a:ea typeface="宋体" panose="02010600030101010101" pitchFamily="2" charset="-122"/>
              </a:rPr>
              <a:t> </a:t>
            </a:r>
            <a:endParaRPr lang="zh-CN" altLang="en-US" sz="3600" dirty="0">
              <a:ea typeface="宋体" panose="02010600030101010101" pitchFamily="2" charset="-122"/>
            </a:endParaRPr>
          </a:p>
        </p:txBody>
      </p:sp>
      <p:sp>
        <p:nvSpPr>
          <p:cNvPr id="73730" name="Rectangle 3"/>
          <p:cNvSpPr/>
          <p:nvPr/>
        </p:nvSpPr>
        <p:spPr>
          <a:xfrm>
            <a:off x="385763" y="773113"/>
            <a:ext cx="8235950" cy="2466975"/>
          </a:xfrm>
          <a:prstGeom prst="rect">
            <a:avLst/>
          </a:prstGeom>
          <a:noFill/>
          <a:ln w="9525">
            <a:noFill/>
          </a:ln>
        </p:spPr>
        <p:txBody>
          <a:bodyPr anchor="ctr" anchorCtr="0">
            <a:spAutoFit/>
          </a:bodyPr>
          <a:p>
            <a:pPr eaLnBrk="0" hangingPunct="0">
              <a:lnSpc>
                <a:spcPct val="130000"/>
              </a:lnSpc>
              <a:spcBef>
                <a:spcPct val="30000"/>
              </a:spcBef>
            </a:pPr>
            <a:r>
              <a:rPr lang="zh-CN" altLang="en-US" sz="2200" dirty="0">
                <a:latin typeface="微软雅黑" panose="020B0503020204020204" pitchFamily="34" charset="-122"/>
                <a:ea typeface="微软雅黑" panose="020B0503020204020204" pitchFamily="34" charset="-122"/>
              </a:rPr>
              <a:t>结论：假定</a:t>
            </a:r>
            <a:r>
              <a:rPr lang="zh-CN" altLang="en-US" sz="2200" dirty="0">
                <a:solidFill>
                  <a:srgbClr val="FF0000"/>
                </a:solidFill>
                <a:latin typeface="微软雅黑" panose="020B0503020204020204" pitchFamily="34" charset="-122"/>
                <a:ea typeface="微软雅黑" panose="020B0503020204020204" pitchFamily="34" charset="-122"/>
              </a:rPr>
              <a:t>两个</a:t>
            </a:r>
            <a:r>
              <a:rPr lang="en-US" altLang="zh-CN" sz="2200" dirty="0">
                <a:solidFill>
                  <a:srgbClr val="FF0000"/>
                </a:solidFill>
                <a:latin typeface="微软雅黑" panose="020B0503020204020204" pitchFamily="34" charset="-122"/>
                <a:ea typeface="微软雅黑" panose="020B0503020204020204" pitchFamily="34" charset="-122"/>
              </a:rPr>
              <a:t>n</a:t>
            </a:r>
            <a:r>
              <a:rPr lang="zh-CN" altLang="en-US" sz="2200" dirty="0">
                <a:solidFill>
                  <a:srgbClr val="FF0000"/>
                </a:solidFill>
                <a:latin typeface="微软雅黑" panose="020B0503020204020204" pitchFamily="34" charset="-122"/>
                <a:ea typeface="微软雅黑" panose="020B0503020204020204" pitchFamily="34" charset="-122"/>
              </a:rPr>
              <a:t>位无符号</a:t>
            </a:r>
            <a:r>
              <a:rPr lang="zh-CN" altLang="en-US" sz="2200" dirty="0">
                <a:latin typeface="微软雅黑" panose="020B0503020204020204" pitchFamily="34" charset="-122"/>
                <a:ea typeface="微软雅黑" panose="020B0503020204020204" pitchFamily="34" charset="-122"/>
              </a:rPr>
              <a:t>整数</a:t>
            </a:r>
            <a:r>
              <a:rPr lang="en-US" altLang="zh-CN" sz="2200" dirty="0">
                <a:latin typeface="微软雅黑" panose="020B0503020204020204" pitchFamily="34" charset="-122"/>
                <a:ea typeface="微软雅黑" panose="020B0503020204020204" pitchFamily="34" charset="-122"/>
              </a:rPr>
              <a:t>x</a:t>
            </a:r>
            <a:r>
              <a:rPr lang="en-US" altLang="zh-CN" sz="2200" baseline="-25000" dirty="0">
                <a:latin typeface="微软雅黑" panose="020B0503020204020204" pitchFamily="34" charset="-122"/>
                <a:ea typeface="微软雅黑" panose="020B0503020204020204" pitchFamily="34" charset="-122"/>
              </a:rPr>
              <a:t>u</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y</a:t>
            </a:r>
            <a:r>
              <a:rPr lang="en-US" altLang="zh-CN" sz="2200" baseline="-25000" dirty="0">
                <a:latin typeface="微软雅黑" panose="020B0503020204020204" pitchFamily="34" charset="-122"/>
                <a:ea typeface="微软雅黑" panose="020B0503020204020204" pitchFamily="34" charset="-122"/>
              </a:rPr>
              <a:t>u</a:t>
            </a:r>
            <a:r>
              <a:rPr lang="zh-CN" altLang="en-US" sz="2200" dirty="0">
                <a:latin typeface="微软雅黑" panose="020B0503020204020204" pitchFamily="34" charset="-122"/>
                <a:ea typeface="微软雅黑" panose="020B0503020204020204" pitchFamily="34" charset="-122"/>
              </a:rPr>
              <a:t>对应的机器数为</a:t>
            </a:r>
            <a:r>
              <a:rPr lang="en-US" altLang="zh-CN" sz="2200" dirty="0">
                <a:latin typeface="微软雅黑" panose="020B0503020204020204" pitchFamily="34" charset="-122"/>
                <a:ea typeface="微软雅黑" panose="020B0503020204020204" pitchFamily="34" charset="-122"/>
              </a:rPr>
              <a:t>X</a:t>
            </a:r>
            <a:r>
              <a:rPr lang="en-US" altLang="zh-CN" sz="2200" baseline="-25000" dirty="0">
                <a:latin typeface="微软雅黑" panose="020B0503020204020204" pitchFamily="34" charset="-122"/>
                <a:ea typeface="微软雅黑" panose="020B0503020204020204" pitchFamily="34" charset="-122"/>
              </a:rPr>
              <a:t>u</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Y</a:t>
            </a:r>
            <a:r>
              <a:rPr lang="en-US" altLang="zh-CN" sz="2200" baseline="-25000" dirty="0">
                <a:latin typeface="微软雅黑" panose="020B0503020204020204" pitchFamily="34" charset="-122"/>
                <a:ea typeface="微软雅黑" panose="020B0503020204020204" pitchFamily="34" charset="-122"/>
              </a:rPr>
              <a:t>u</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p</a:t>
            </a:r>
            <a:r>
              <a:rPr lang="en-US" altLang="zh-CN" sz="2200" baseline="-25000" dirty="0">
                <a:latin typeface="微软雅黑" panose="020B0503020204020204" pitchFamily="34" charset="-122"/>
                <a:ea typeface="微软雅黑" panose="020B0503020204020204" pitchFamily="34" charset="-122"/>
              </a:rPr>
              <a:t>u</a:t>
            </a:r>
            <a:r>
              <a:rPr lang="en-US" altLang="zh-CN" sz="2200" dirty="0">
                <a:latin typeface="微软雅黑" panose="020B0503020204020204" pitchFamily="34" charset="-122"/>
                <a:ea typeface="微软雅黑" panose="020B0503020204020204" pitchFamily="34" charset="-122"/>
              </a:rPr>
              <a:t>=x</a:t>
            </a:r>
            <a:r>
              <a:rPr lang="en-US" altLang="zh-CN" sz="2200" baseline="-25000" dirty="0">
                <a:latin typeface="微软雅黑" panose="020B0503020204020204" pitchFamily="34" charset="-122"/>
                <a:ea typeface="微软雅黑" panose="020B0503020204020204" pitchFamily="34" charset="-122"/>
              </a:rPr>
              <a:t>u</a:t>
            </a:r>
            <a:r>
              <a:rPr lang="pt-BR"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y</a:t>
            </a:r>
            <a:r>
              <a:rPr lang="en-US" altLang="zh-CN" sz="2200" baseline="-25000" dirty="0">
                <a:latin typeface="微软雅黑" panose="020B0503020204020204" pitchFamily="34" charset="-122"/>
                <a:ea typeface="微软雅黑" panose="020B0503020204020204" pitchFamily="34" charset="-122"/>
              </a:rPr>
              <a:t>u</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p</a:t>
            </a:r>
            <a:r>
              <a:rPr lang="en-US" altLang="zh-CN" sz="2200" baseline="-25000" dirty="0">
                <a:latin typeface="微软雅黑" panose="020B0503020204020204" pitchFamily="34" charset="-122"/>
                <a:ea typeface="微软雅黑" panose="020B0503020204020204" pitchFamily="34" charset="-122"/>
              </a:rPr>
              <a:t>u</a:t>
            </a:r>
            <a:r>
              <a:rPr lang="zh-CN" altLang="en-US" sz="2200" dirty="0">
                <a:latin typeface="微软雅黑" panose="020B0503020204020204" pitchFamily="34" charset="-122"/>
                <a:ea typeface="微软雅黑" panose="020B0503020204020204" pitchFamily="34" charset="-122"/>
              </a:rPr>
              <a:t>为</a:t>
            </a:r>
            <a:r>
              <a:rPr lang="en-US" altLang="zh-CN" sz="2200" dirty="0">
                <a:solidFill>
                  <a:srgbClr val="FF0000"/>
                </a:solidFill>
                <a:latin typeface="微软雅黑" panose="020B0503020204020204" pitchFamily="34" charset="-122"/>
                <a:ea typeface="微软雅黑" panose="020B0503020204020204" pitchFamily="34" charset="-122"/>
              </a:rPr>
              <a:t>n</a:t>
            </a:r>
            <a:r>
              <a:rPr lang="zh-CN" altLang="en-US" sz="2200" dirty="0">
                <a:solidFill>
                  <a:srgbClr val="FF0000"/>
                </a:solidFill>
                <a:latin typeface="微软雅黑" panose="020B0503020204020204" pitchFamily="34" charset="-122"/>
                <a:ea typeface="微软雅黑" panose="020B0503020204020204" pitchFamily="34" charset="-122"/>
              </a:rPr>
              <a:t>位无符号整数</a:t>
            </a:r>
            <a:r>
              <a:rPr lang="zh-CN" altLang="en-US" sz="2200" dirty="0">
                <a:latin typeface="微软雅黑" panose="020B0503020204020204" pitchFamily="34" charset="-122"/>
                <a:ea typeface="微软雅黑" panose="020B0503020204020204" pitchFamily="34" charset="-122"/>
              </a:rPr>
              <a:t>且对应的机器数为</a:t>
            </a:r>
            <a:r>
              <a:rPr lang="en-US" altLang="zh-CN" sz="2200" dirty="0">
                <a:latin typeface="微软雅黑" panose="020B0503020204020204" pitchFamily="34" charset="-122"/>
                <a:ea typeface="微软雅黑" panose="020B0503020204020204" pitchFamily="34" charset="-122"/>
              </a:rPr>
              <a:t>P</a:t>
            </a:r>
            <a:r>
              <a:rPr lang="en-US" altLang="zh-CN" sz="2200" baseline="-25000" dirty="0">
                <a:latin typeface="微软雅黑" panose="020B0503020204020204" pitchFamily="34" charset="-122"/>
                <a:ea typeface="微软雅黑" panose="020B0503020204020204" pitchFamily="34" charset="-122"/>
              </a:rPr>
              <a:t>u</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a:p>
            <a:pPr eaLnBrk="0" hangingPunct="0">
              <a:lnSpc>
                <a:spcPct val="130000"/>
              </a:lnSpc>
              <a:spcBef>
                <a:spcPct val="30000"/>
              </a:spcBef>
            </a:pPr>
            <a:r>
              <a:rPr lang="zh-CN" altLang="en-US" sz="2200" dirty="0">
                <a:solidFill>
                  <a:srgbClr val="FF0000"/>
                </a:solidFill>
                <a:latin typeface="微软雅黑" panose="020B0503020204020204" pitchFamily="34" charset="-122"/>
                <a:ea typeface="微软雅黑" panose="020B0503020204020204" pitchFamily="34" charset="-122"/>
              </a:rPr>
              <a:t>两个</a:t>
            </a:r>
            <a:r>
              <a:rPr lang="en-US" altLang="zh-CN" sz="2200" dirty="0">
                <a:solidFill>
                  <a:srgbClr val="FF0000"/>
                </a:solidFill>
                <a:latin typeface="微软雅黑" panose="020B0503020204020204" pitchFamily="34" charset="-122"/>
                <a:ea typeface="微软雅黑" panose="020B0503020204020204" pitchFamily="34" charset="-122"/>
              </a:rPr>
              <a:t>n</a:t>
            </a:r>
            <a:r>
              <a:rPr lang="zh-CN" altLang="en-US" sz="2200" dirty="0">
                <a:solidFill>
                  <a:srgbClr val="FF0000"/>
                </a:solidFill>
                <a:latin typeface="微软雅黑" panose="020B0503020204020204" pitchFamily="34" charset="-122"/>
                <a:ea typeface="微软雅黑" panose="020B0503020204020204" pitchFamily="34" charset="-122"/>
              </a:rPr>
              <a:t>位带符号</a:t>
            </a:r>
            <a:r>
              <a:rPr lang="zh-CN" altLang="en-US" sz="2200" dirty="0">
                <a:latin typeface="微软雅黑" panose="020B0503020204020204" pitchFamily="34" charset="-122"/>
                <a:ea typeface="微软雅黑" panose="020B0503020204020204" pitchFamily="34" charset="-122"/>
              </a:rPr>
              <a:t>整数</a:t>
            </a:r>
            <a:r>
              <a:rPr lang="en-US" altLang="zh-CN" sz="2200" dirty="0">
                <a:latin typeface="微软雅黑" panose="020B0503020204020204" pitchFamily="34" charset="-122"/>
                <a:ea typeface="微软雅黑" panose="020B0503020204020204" pitchFamily="34" charset="-122"/>
              </a:rPr>
              <a:t>x</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y</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对应的机器数为</a:t>
            </a:r>
            <a:r>
              <a:rPr lang="en-US" altLang="zh-CN" sz="2200" dirty="0">
                <a:latin typeface="微软雅黑" panose="020B0503020204020204" pitchFamily="34" charset="-122"/>
                <a:ea typeface="微软雅黑" panose="020B0503020204020204" pitchFamily="34" charset="-122"/>
              </a:rPr>
              <a:t>X</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Y</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p</a:t>
            </a:r>
            <a:r>
              <a:rPr lang="en-US" altLang="zh-CN" sz="2200" baseline="-25000" dirty="0">
                <a:latin typeface="微软雅黑" panose="020B0503020204020204" pitchFamily="34" charset="-122"/>
                <a:ea typeface="微软雅黑" panose="020B0503020204020204" pitchFamily="34" charset="-122"/>
              </a:rPr>
              <a:t>s</a:t>
            </a:r>
            <a:r>
              <a:rPr lang="en-US" altLang="zh-CN" sz="2200" dirty="0">
                <a:latin typeface="微软雅黑" panose="020B0503020204020204" pitchFamily="34" charset="-122"/>
                <a:ea typeface="微软雅黑" panose="020B0503020204020204" pitchFamily="34" charset="-122"/>
              </a:rPr>
              <a:t>=x</a:t>
            </a:r>
            <a:r>
              <a:rPr lang="en-US" altLang="zh-CN" sz="2200" baseline="-25000" dirty="0">
                <a:latin typeface="微软雅黑" panose="020B0503020204020204" pitchFamily="34" charset="-122"/>
                <a:ea typeface="微软雅黑" panose="020B0503020204020204" pitchFamily="34" charset="-122"/>
              </a:rPr>
              <a:t>s</a:t>
            </a:r>
            <a:r>
              <a:rPr lang="pt-BR" altLang="zh-CN"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y</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p</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为</a:t>
            </a:r>
            <a:r>
              <a:rPr lang="en-US" altLang="zh-CN" sz="2200" dirty="0">
                <a:solidFill>
                  <a:srgbClr val="FF0000"/>
                </a:solidFill>
                <a:latin typeface="微软雅黑" panose="020B0503020204020204" pitchFamily="34" charset="-122"/>
                <a:ea typeface="微软雅黑" panose="020B0503020204020204" pitchFamily="34" charset="-122"/>
              </a:rPr>
              <a:t>n</a:t>
            </a:r>
            <a:r>
              <a:rPr lang="zh-CN" altLang="en-US" sz="2200" dirty="0">
                <a:solidFill>
                  <a:srgbClr val="FF0000"/>
                </a:solidFill>
                <a:latin typeface="微软雅黑" panose="020B0503020204020204" pitchFamily="34" charset="-122"/>
                <a:ea typeface="微软雅黑" panose="020B0503020204020204" pitchFamily="34" charset="-122"/>
              </a:rPr>
              <a:t>位带符号整数</a:t>
            </a:r>
            <a:r>
              <a:rPr lang="zh-CN" altLang="en-US" sz="2200" dirty="0">
                <a:latin typeface="微软雅黑" panose="020B0503020204020204" pitchFamily="34" charset="-122"/>
                <a:ea typeface="微软雅黑" panose="020B0503020204020204" pitchFamily="34" charset="-122"/>
              </a:rPr>
              <a:t>且对应的机器数为</a:t>
            </a:r>
            <a:r>
              <a:rPr lang="en-US" altLang="zh-CN" sz="2200" dirty="0">
                <a:latin typeface="微软雅黑" panose="020B0503020204020204" pitchFamily="34" charset="-122"/>
                <a:ea typeface="微软雅黑" panose="020B0503020204020204" pitchFamily="34" charset="-122"/>
              </a:rPr>
              <a:t>P</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a:p>
            <a:pPr eaLnBrk="0" hangingPunct="0">
              <a:lnSpc>
                <a:spcPct val="130000"/>
              </a:lnSpc>
              <a:spcBef>
                <a:spcPct val="30000"/>
              </a:spcBef>
            </a:pPr>
            <a:r>
              <a:rPr lang="zh-CN" altLang="en-US" sz="2200" dirty="0">
                <a:latin typeface="微软雅黑" panose="020B0503020204020204" pitchFamily="34" charset="-122"/>
                <a:ea typeface="微软雅黑" panose="020B0503020204020204" pitchFamily="34" charset="-122"/>
              </a:rPr>
              <a:t>若</a:t>
            </a:r>
            <a:r>
              <a:rPr lang="en-US" altLang="zh-CN" sz="2200" dirty="0">
                <a:latin typeface="微软雅黑" panose="020B0503020204020204" pitchFamily="34" charset="-122"/>
                <a:ea typeface="微软雅黑" panose="020B0503020204020204" pitchFamily="34" charset="-122"/>
              </a:rPr>
              <a:t>X</a:t>
            </a:r>
            <a:r>
              <a:rPr lang="en-US" altLang="zh-CN" sz="2200" baseline="-25000" dirty="0">
                <a:latin typeface="微软雅黑" panose="020B0503020204020204" pitchFamily="34" charset="-122"/>
                <a:ea typeface="微软雅黑" panose="020B0503020204020204" pitchFamily="34" charset="-122"/>
              </a:rPr>
              <a:t>u</a:t>
            </a:r>
            <a:r>
              <a:rPr lang="en-US" altLang="zh-CN" sz="2200" dirty="0">
                <a:latin typeface="微软雅黑" panose="020B0503020204020204" pitchFamily="34" charset="-122"/>
                <a:ea typeface="微软雅黑" panose="020B0503020204020204" pitchFamily="34" charset="-122"/>
              </a:rPr>
              <a:t>=X</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且</a:t>
            </a:r>
            <a:r>
              <a:rPr lang="en-US" altLang="zh-CN" sz="2200" dirty="0">
                <a:latin typeface="微软雅黑" panose="020B0503020204020204" pitchFamily="34" charset="-122"/>
                <a:ea typeface="微软雅黑" panose="020B0503020204020204" pitchFamily="34" charset="-122"/>
              </a:rPr>
              <a:t>Y</a:t>
            </a:r>
            <a:r>
              <a:rPr lang="en-US" altLang="zh-CN" sz="2200" baseline="-25000" dirty="0">
                <a:latin typeface="微软雅黑" panose="020B0503020204020204" pitchFamily="34" charset="-122"/>
                <a:ea typeface="微软雅黑" panose="020B0503020204020204" pitchFamily="34" charset="-122"/>
              </a:rPr>
              <a:t>u</a:t>
            </a:r>
            <a:r>
              <a:rPr lang="en-US" altLang="zh-CN" sz="2200" dirty="0">
                <a:latin typeface="微软雅黑" panose="020B0503020204020204" pitchFamily="34" charset="-122"/>
                <a:ea typeface="微软雅黑" panose="020B0503020204020204" pitchFamily="34" charset="-122"/>
              </a:rPr>
              <a:t>=Y</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，则</a:t>
            </a:r>
            <a:r>
              <a:rPr lang="en-US" altLang="zh-CN" sz="2200" dirty="0">
                <a:latin typeface="微软雅黑" panose="020B0503020204020204" pitchFamily="34" charset="-122"/>
                <a:ea typeface="微软雅黑" panose="020B0503020204020204" pitchFamily="34" charset="-122"/>
              </a:rPr>
              <a:t>P</a:t>
            </a:r>
            <a:r>
              <a:rPr lang="en-US" altLang="zh-CN" sz="2200" baseline="-25000" dirty="0">
                <a:latin typeface="微软雅黑" panose="020B0503020204020204" pitchFamily="34" charset="-122"/>
                <a:ea typeface="微软雅黑" panose="020B0503020204020204" pitchFamily="34" charset="-122"/>
              </a:rPr>
              <a:t>u</a:t>
            </a:r>
            <a:r>
              <a:rPr lang="en-US" altLang="zh-CN" sz="2200" dirty="0">
                <a:latin typeface="微软雅黑" panose="020B0503020204020204" pitchFamily="34" charset="-122"/>
                <a:ea typeface="微软雅黑" panose="020B0503020204020204" pitchFamily="34" charset="-122"/>
              </a:rPr>
              <a:t>=P</a:t>
            </a:r>
            <a:r>
              <a:rPr lang="en-US" altLang="zh-CN" sz="2200" baseline="-25000" dirty="0">
                <a:latin typeface="微软雅黑" panose="020B0503020204020204" pitchFamily="34" charset="-122"/>
                <a:ea typeface="微软雅黑" panose="020B0503020204020204" pitchFamily="34" charset="-122"/>
              </a:rPr>
              <a:t>s</a:t>
            </a:r>
            <a:r>
              <a:rPr lang="zh-CN" altLang="en-US" sz="2200" dirty="0">
                <a:latin typeface="微软雅黑" panose="020B0503020204020204" pitchFamily="34" charset="-122"/>
                <a:ea typeface="微软雅黑" panose="020B0503020204020204" pitchFamily="34" charset="-122"/>
              </a:rPr>
              <a:t>。 </a:t>
            </a:r>
            <a:endParaRPr lang="zh-CN" altLang="en-US" sz="2200" dirty="0">
              <a:latin typeface="微软雅黑" panose="020B0503020204020204" pitchFamily="34" charset="-122"/>
              <a:ea typeface="微软雅黑" panose="020B0503020204020204" pitchFamily="34" charset="-122"/>
            </a:endParaRPr>
          </a:p>
        </p:txBody>
      </p:sp>
      <p:sp>
        <p:nvSpPr>
          <p:cNvPr id="73731" name="Text Box 4"/>
          <p:cNvSpPr txBox="1"/>
          <p:nvPr/>
        </p:nvSpPr>
        <p:spPr>
          <a:xfrm>
            <a:off x="250825" y="3429000"/>
            <a:ext cx="4456113" cy="762000"/>
          </a:xfrm>
          <a:prstGeom prst="rect">
            <a:avLst/>
          </a:prstGeom>
          <a:noFill/>
          <a:ln w="9525">
            <a:noFill/>
          </a:ln>
        </p:spPr>
        <p:txBody>
          <a:bodyPr anchor="t" anchorCtr="0">
            <a:spAutoFit/>
          </a:bodyPr>
          <a:p>
            <a:pPr>
              <a:spcBef>
                <a:spcPct val="50000"/>
              </a:spcBef>
            </a:pPr>
            <a:r>
              <a:rPr lang="zh-CN" altLang="en-US" sz="2200" dirty="0">
                <a:solidFill>
                  <a:srgbClr val="0000FF"/>
                </a:solidFill>
                <a:latin typeface="微软雅黑" panose="020B0503020204020204" pitchFamily="34" charset="-122"/>
                <a:ea typeface="微软雅黑" panose="020B0503020204020204" pitchFamily="34" charset="-122"/>
              </a:rPr>
              <a:t>可用无符号乘来实现带符号乘，但高</a:t>
            </a:r>
            <a:r>
              <a:rPr lang="en-US" altLang="zh-CN" sz="2200" dirty="0">
                <a:solidFill>
                  <a:srgbClr val="0000FF"/>
                </a:solidFill>
                <a:latin typeface="微软雅黑" panose="020B0503020204020204" pitchFamily="34" charset="-122"/>
                <a:ea typeface="微软雅黑" panose="020B0503020204020204" pitchFamily="34" charset="-122"/>
              </a:rPr>
              <a:t>n</a:t>
            </a:r>
            <a:r>
              <a:rPr lang="zh-CN" altLang="en-US" sz="2200" dirty="0">
                <a:solidFill>
                  <a:srgbClr val="0000FF"/>
                </a:solidFill>
                <a:latin typeface="微软雅黑" panose="020B0503020204020204" pitchFamily="34" charset="-122"/>
                <a:ea typeface="微软雅黑" panose="020B0503020204020204" pitchFamily="34" charset="-122"/>
              </a:rPr>
              <a:t>位无法得到，故不能判断溢出。</a:t>
            </a:r>
            <a:endParaRPr lang="zh-CN" altLang="en-US" sz="2200" dirty="0">
              <a:solidFill>
                <a:srgbClr val="0000FF"/>
              </a:solidFill>
              <a:latin typeface="微软雅黑" panose="020B0503020204020204" pitchFamily="34" charset="-122"/>
              <a:ea typeface="微软雅黑" panose="020B0503020204020204" pitchFamily="34" charset="-122"/>
            </a:endParaRPr>
          </a:p>
        </p:txBody>
      </p:sp>
      <p:sp>
        <p:nvSpPr>
          <p:cNvPr id="73732" name="Text Box 5"/>
          <p:cNvSpPr txBox="1"/>
          <p:nvPr/>
        </p:nvSpPr>
        <p:spPr>
          <a:xfrm>
            <a:off x="1422400" y="5313363"/>
            <a:ext cx="2116138" cy="466725"/>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2400" dirty="0">
                <a:solidFill>
                  <a:srgbClr val="0033CC"/>
                </a:solidFill>
                <a:latin typeface="Arial" panose="020B0604020202020204" pitchFamily="34" charset="0"/>
                <a:ea typeface="微软雅黑" panose="020B0503020204020204" pitchFamily="34" charset="-122"/>
              </a:rPr>
              <a:t>无符号</a:t>
            </a:r>
            <a:r>
              <a:rPr lang="zh-CN" altLang="en-US" sz="2400" dirty="0">
                <a:latin typeface="Arial" panose="020B0604020202020204" pitchFamily="34" charset="0"/>
                <a:ea typeface="微软雅黑" panose="020B0503020204020204" pitchFamily="34" charset="-122"/>
              </a:rPr>
              <a:t>乘法器</a:t>
            </a:r>
            <a:r>
              <a:rPr lang="zh-CN" altLang="en-US"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73733" name="Line 6"/>
          <p:cNvSpPr/>
          <p:nvPr/>
        </p:nvSpPr>
        <p:spPr>
          <a:xfrm flipV="1">
            <a:off x="1827213" y="5762625"/>
            <a:ext cx="0" cy="585788"/>
          </a:xfrm>
          <a:prstGeom prst="line">
            <a:avLst/>
          </a:prstGeom>
          <a:ln w="38100" cap="flat" cmpd="sng">
            <a:solidFill>
              <a:schemeClr val="tx1"/>
            </a:solidFill>
            <a:prstDash val="solid"/>
            <a:round/>
            <a:headEnd type="none" w="med" len="med"/>
            <a:tailEnd type="triangle" w="med" len="med"/>
          </a:ln>
        </p:spPr>
      </p:sp>
      <p:sp>
        <p:nvSpPr>
          <p:cNvPr id="73734" name="Line 7"/>
          <p:cNvSpPr/>
          <p:nvPr/>
        </p:nvSpPr>
        <p:spPr>
          <a:xfrm flipV="1">
            <a:off x="3087688" y="5762625"/>
            <a:ext cx="0" cy="585788"/>
          </a:xfrm>
          <a:prstGeom prst="line">
            <a:avLst/>
          </a:prstGeom>
          <a:ln w="38100" cap="flat" cmpd="sng">
            <a:solidFill>
              <a:schemeClr val="tx1"/>
            </a:solidFill>
            <a:prstDash val="solid"/>
            <a:round/>
            <a:headEnd type="none" w="med" len="med"/>
            <a:tailEnd type="triangle" w="med" len="med"/>
          </a:ln>
        </p:spPr>
      </p:sp>
      <p:sp>
        <p:nvSpPr>
          <p:cNvPr id="73735" name="Line 8"/>
          <p:cNvSpPr/>
          <p:nvPr/>
        </p:nvSpPr>
        <p:spPr>
          <a:xfrm flipV="1">
            <a:off x="2143125" y="4727575"/>
            <a:ext cx="0" cy="585788"/>
          </a:xfrm>
          <a:prstGeom prst="line">
            <a:avLst/>
          </a:prstGeom>
          <a:ln w="38100" cap="flat" cmpd="sng">
            <a:solidFill>
              <a:schemeClr val="tx1"/>
            </a:solidFill>
            <a:prstDash val="solid"/>
            <a:round/>
            <a:headEnd type="none" w="med" len="med"/>
            <a:tailEnd type="triangle" w="med" len="med"/>
          </a:ln>
        </p:spPr>
      </p:sp>
      <p:sp>
        <p:nvSpPr>
          <p:cNvPr id="73736" name="Line 9"/>
          <p:cNvSpPr/>
          <p:nvPr/>
        </p:nvSpPr>
        <p:spPr>
          <a:xfrm flipV="1">
            <a:off x="2727325" y="4727575"/>
            <a:ext cx="0" cy="585788"/>
          </a:xfrm>
          <a:prstGeom prst="line">
            <a:avLst/>
          </a:prstGeom>
          <a:ln w="38100" cap="flat" cmpd="sng">
            <a:solidFill>
              <a:schemeClr val="tx1"/>
            </a:solidFill>
            <a:prstDash val="solid"/>
            <a:round/>
            <a:headEnd type="none" w="med" len="med"/>
            <a:tailEnd type="triangle" w="med" len="med"/>
          </a:ln>
        </p:spPr>
      </p:sp>
      <p:sp>
        <p:nvSpPr>
          <p:cNvPr id="73737" name="Line 10"/>
          <p:cNvSpPr/>
          <p:nvPr/>
        </p:nvSpPr>
        <p:spPr>
          <a:xfrm>
            <a:off x="1738313" y="6032500"/>
            <a:ext cx="179387" cy="90488"/>
          </a:xfrm>
          <a:prstGeom prst="line">
            <a:avLst/>
          </a:prstGeom>
          <a:ln w="38100" cap="flat" cmpd="sng">
            <a:solidFill>
              <a:schemeClr val="tx1"/>
            </a:solidFill>
            <a:prstDash val="solid"/>
            <a:round/>
            <a:headEnd type="none" w="med" len="med"/>
            <a:tailEnd type="none" w="med" len="med"/>
          </a:ln>
        </p:spPr>
      </p:sp>
      <p:sp>
        <p:nvSpPr>
          <p:cNvPr id="73738" name="Line 11"/>
          <p:cNvSpPr/>
          <p:nvPr/>
        </p:nvSpPr>
        <p:spPr>
          <a:xfrm>
            <a:off x="2998788" y="6032500"/>
            <a:ext cx="179387" cy="90488"/>
          </a:xfrm>
          <a:prstGeom prst="line">
            <a:avLst/>
          </a:prstGeom>
          <a:ln w="38100" cap="flat" cmpd="sng">
            <a:solidFill>
              <a:schemeClr val="tx1"/>
            </a:solidFill>
            <a:prstDash val="solid"/>
            <a:round/>
            <a:headEnd type="none" w="med" len="med"/>
            <a:tailEnd type="none" w="med" len="med"/>
          </a:ln>
        </p:spPr>
      </p:sp>
      <p:sp>
        <p:nvSpPr>
          <p:cNvPr id="73739" name="Line 12"/>
          <p:cNvSpPr/>
          <p:nvPr/>
        </p:nvSpPr>
        <p:spPr>
          <a:xfrm>
            <a:off x="2052638" y="4997450"/>
            <a:ext cx="179387" cy="90488"/>
          </a:xfrm>
          <a:prstGeom prst="line">
            <a:avLst/>
          </a:prstGeom>
          <a:ln w="38100" cap="flat" cmpd="sng">
            <a:solidFill>
              <a:schemeClr val="tx1"/>
            </a:solidFill>
            <a:prstDash val="solid"/>
            <a:round/>
            <a:headEnd type="none" w="med" len="med"/>
            <a:tailEnd type="none" w="med" len="med"/>
          </a:ln>
        </p:spPr>
      </p:sp>
      <p:sp>
        <p:nvSpPr>
          <p:cNvPr id="73740" name="Line 13"/>
          <p:cNvSpPr/>
          <p:nvPr/>
        </p:nvSpPr>
        <p:spPr>
          <a:xfrm>
            <a:off x="2638425" y="5041900"/>
            <a:ext cx="179388" cy="90488"/>
          </a:xfrm>
          <a:prstGeom prst="line">
            <a:avLst/>
          </a:prstGeom>
          <a:ln w="38100" cap="flat" cmpd="sng">
            <a:solidFill>
              <a:schemeClr val="tx1"/>
            </a:solidFill>
            <a:prstDash val="solid"/>
            <a:round/>
            <a:headEnd type="none" w="med" len="med"/>
            <a:tailEnd type="none" w="med" len="med"/>
          </a:ln>
        </p:spPr>
      </p:sp>
      <p:sp>
        <p:nvSpPr>
          <p:cNvPr id="73741" name="Text Box 14"/>
          <p:cNvSpPr txBox="1"/>
          <p:nvPr/>
        </p:nvSpPr>
        <p:spPr>
          <a:xfrm>
            <a:off x="1603375" y="6296025"/>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X</a:t>
            </a:r>
            <a:r>
              <a:rPr lang="en-US" altLang="zh-CN" sz="2400" baseline="-25000" dirty="0">
                <a:latin typeface="微软雅黑" panose="020B0503020204020204" pitchFamily="34" charset="-122"/>
                <a:ea typeface="微软雅黑" panose="020B0503020204020204" pitchFamily="34" charset="-122"/>
              </a:rPr>
              <a:t>u</a:t>
            </a:r>
            <a:endParaRPr lang="en-US" altLang="zh-CN" sz="2400" baseline="-25000" dirty="0">
              <a:latin typeface="微软雅黑" panose="020B0503020204020204" pitchFamily="34" charset="-122"/>
              <a:ea typeface="微软雅黑" panose="020B0503020204020204" pitchFamily="34" charset="-122"/>
            </a:endParaRPr>
          </a:p>
        </p:txBody>
      </p:sp>
      <p:sp>
        <p:nvSpPr>
          <p:cNvPr id="73742" name="Text Box 15"/>
          <p:cNvSpPr txBox="1"/>
          <p:nvPr/>
        </p:nvSpPr>
        <p:spPr>
          <a:xfrm>
            <a:off x="2862263" y="6302375"/>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Y</a:t>
            </a:r>
            <a:r>
              <a:rPr lang="en-US" altLang="zh-CN" sz="2400" baseline="-25000" dirty="0">
                <a:latin typeface="微软雅黑" panose="020B0503020204020204" pitchFamily="34" charset="-122"/>
                <a:ea typeface="微软雅黑" panose="020B0503020204020204" pitchFamily="34" charset="-122"/>
              </a:rPr>
              <a:t>u</a:t>
            </a:r>
            <a:endParaRPr lang="en-US" altLang="zh-CN" sz="2400" baseline="-25000" dirty="0">
              <a:latin typeface="微软雅黑" panose="020B0503020204020204" pitchFamily="34" charset="-122"/>
              <a:ea typeface="微软雅黑" panose="020B0503020204020204" pitchFamily="34" charset="-122"/>
            </a:endParaRPr>
          </a:p>
        </p:txBody>
      </p:sp>
      <p:sp>
        <p:nvSpPr>
          <p:cNvPr id="73743" name="Text Box 16"/>
          <p:cNvSpPr txBox="1"/>
          <p:nvPr/>
        </p:nvSpPr>
        <p:spPr>
          <a:xfrm>
            <a:off x="2547938" y="4322763"/>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P</a:t>
            </a:r>
            <a:r>
              <a:rPr lang="en-US" altLang="zh-CN" sz="2400" baseline="-25000" dirty="0">
                <a:latin typeface="微软雅黑" panose="020B0503020204020204" pitchFamily="34" charset="-122"/>
                <a:ea typeface="微软雅黑" panose="020B0503020204020204" pitchFamily="34" charset="-122"/>
              </a:rPr>
              <a:t>u</a:t>
            </a:r>
            <a:endParaRPr lang="en-US" altLang="zh-CN" sz="2400" baseline="-25000" dirty="0">
              <a:latin typeface="微软雅黑" panose="020B0503020204020204" pitchFamily="34" charset="-122"/>
              <a:ea typeface="微软雅黑" panose="020B0503020204020204" pitchFamily="34" charset="-122"/>
            </a:endParaRPr>
          </a:p>
        </p:txBody>
      </p:sp>
      <p:sp>
        <p:nvSpPr>
          <p:cNvPr id="73744" name="Text Box 17"/>
          <p:cNvSpPr txBox="1"/>
          <p:nvPr/>
        </p:nvSpPr>
        <p:spPr>
          <a:xfrm>
            <a:off x="1692275" y="4772025"/>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n</a:t>
            </a:r>
            <a:endParaRPr lang="en-US" altLang="zh-CN" sz="2400" baseline="-25000" dirty="0">
              <a:latin typeface="微软雅黑" panose="020B0503020204020204" pitchFamily="34" charset="-122"/>
              <a:ea typeface="微软雅黑" panose="020B0503020204020204" pitchFamily="34" charset="-122"/>
            </a:endParaRPr>
          </a:p>
        </p:txBody>
      </p:sp>
      <p:sp>
        <p:nvSpPr>
          <p:cNvPr id="73745" name="Text Box 18"/>
          <p:cNvSpPr txBox="1"/>
          <p:nvPr/>
        </p:nvSpPr>
        <p:spPr>
          <a:xfrm>
            <a:off x="2773363" y="4824413"/>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n</a:t>
            </a:r>
            <a:endParaRPr lang="en-US" altLang="zh-CN" sz="2400" baseline="-25000" dirty="0">
              <a:latin typeface="微软雅黑" panose="020B0503020204020204" pitchFamily="34" charset="-122"/>
              <a:ea typeface="微软雅黑" panose="020B0503020204020204" pitchFamily="34" charset="-122"/>
            </a:endParaRPr>
          </a:p>
        </p:txBody>
      </p:sp>
      <p:sp>
        <p:nvSpPr>
          <p:cNvPr id="73746" name="Text Box 19"/>
          <p:cNvSpPr txBox="1"/>
          <p:nvPr/>
        </p:nvSpPr>
        <p:spPr>
          <a:xfrm>
            <a:off x="1873250" y="5853113"/>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n</a:t>
            </a:r>
            <a:endParaRPr lang="en-US" altLang="zh-CN" sz="2400" baseline="-25000" dirty="0">
              <a:latin typeface="微软雅黑" panose="020B0503020204020204" pitchFamily="34" charset="-122"/>
              <a:ea typeface="微软雅黑" panose="020B0503020204020204" pitchFamily="34" charset="-122"/>
            </a:endParaRPr>
          </a:p>
        </p:txBody>
      </p:sp>
      <p:sp>
        <p:nvSpPr>
          <p:cNvPr id="73747" name="Text Box 20"/>
          <p:cNvSpPr txBox="1"/>
          <p:nvPr/>
        </p:nvSpPr>
        <p:spPr>
          <a:xfrm>
            <a:off x="3132138" y="5853113"/>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n</a:t>
            </a:r>
            <a:endParaRPr lang="en-US" altLang="zh-CN" sz="2400" baseline="-25000" dirty="0">
              <a:latin typeface="微软雅黑" panose="020B0503020204020204" pitchFamily="34" charset="-122"/>
              <a:ea typeface="微软雅黑" panose="020B0503020204020204" pitchFamily="34" charset="-122"/>
            </a:endParaRPr>
          </a:p>
        </p:txBody>
      </p:sp>
      <p:sp>
        <p:nvSpPr>
          <p:cNvPr id="73748" name="Rectangle 21"/>
          <p:cNvSpPr/>
          <p:nvPr/>
        </p:nvSpPr>
        <p:spPr>
          <a:xfrm>
            <a:off x="341313" y="4232275"/>
            <a:ext cx="1479550" cy="457200"/>
          </a:xfrm>
          <a:prstGeom prst="rect">
            <a:avLst/>
          </a:prstGeom>
          <a:noFill/>
          <a:ln w="9525">
            <a:noFill/>
          </a:ln>
        </p:spPr>
        <p:txBody>
          <a:bodyPr wrap="none" anchor="t" anchorCtr="0">
            <a:spAutoFit/>
          </a:bodyPr>
          <a:p>
            <a:r>
              <a:rPr lang="en-US" altLang="zh-CN" sz="2400" dirty="0">
                <a:solidFill>
                  <a:srgbClr val="FF0000"/>
                </a:solidFill>
                <a:latin typeface="Arial" panose="020B0604020202020204" pitchFamily="34" charset="0"/>
              </a:rPr>
              <a:t>p</a:t>
            </a:r>
            <a:r>
              <a:rPr lang="en-US" altLang="zh-CN" sz="2400" baseline="-25000" dirty="0">
                <a:solidFill>
                  <a:srgbClr val="FF0000"/>
                </a:solidFill>
                <a:latin typeface="Arial" panose="020B0604020202020204" pitchFamily="34" charset="0"/>
              </a:rPr>
              <a:t>u</a:t>
            </a:r>
            <a:r>
              <a:rPr lang="en-US" altLang="zh-CN" sz="2400" dirty="0">
                <a:solidFill>
                  <a:srgbClr val="FF0000"/>
                </a:solidFill>
                <a:latin typeface="Arial" panose="020B0604020202020204" pitchFamily="34" charset="0"/>
              </a:rPr>
              <a:t>=x</a:t>
            </a:r>
            <a:r>
              <a:rPr lang="en-US" altLang="zh-CN" sz="2400" baseline="-25000" dirty="0">
                <a:solidFill>
                  <a:srgbClr val="FF0000"/>
                </a:solidFill>
                <a:latin typeface="Arial" panose="020B0604020202020204" pitchFamily="34" charset="0"/>
              </a:rPr>
              <a:t>u</a:t>
            </a:r>
            <a:r>
              <a:rPr lang="pt-BR" altLang="zh-CN" sz="2400" dirty="0">
                <a:solidFill>
                  <a:srgbClr val="FF0000"/>
                </a:solidFill>
                <a:latin typeface="Arial" panose="020B0604020202020204" pitchFamily="34" charset="0"/>
              </a:rPr>
              <a:t>*</a:t>
            </a:r>
            <a:r>
              <a:rPr lang="en-US" altLang="zh-CN" sz="2400" dirty="0">
                <a:solidFill>
                  <a:srgbClr val="FF0000"/>
                </a:solidFill>
                <a:latin typeface="Arial" panose="020B0604020202020204" pitchFamily="34" charset="0"/>
              </a:rPr>
              <a:t>y</a:t>
            </a:r>
            <a:r>
              <a:rPr lang="en-US" altLang="zh-CN" sz="2400" baseline="-25000" dirty="0">
                <a:solidFill>
                  <a:srgbClr val="FF0000"/>
                </a:solidFill>
                <a:latin typeface="Arial" panose="020B0604020202020204" pitchFamily="34" charset="0"/>
              </a:rPr>
              <a:t>u</a:t>
            </a:r>
            <a:r>
              <a:rPr lang="en-US" altLang="zh-CN" sz="2400" dirty="0">
                <a:solidFill>
                  <a:srgbClr val="FF0000"/>
                </a:solidFill>
                <a:latin typeface="Arial" panose="020B0604020202020204" pitchFamily="34" charset="0"/>
              </a:rPr>
              <a:t>;</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73749" name="Text Box 22"/>
          <p:cNvSpPr txBox="1"/>
          <p:nvPr/>
        </p:nvSpPr>
        <p:spPr>
          <a:xfrm>
            <a:off x="6418263" y="5321300"/>
            <a:ext cx="2116137" cy="466725"/>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2400" dirty="0">
                <a:solidFill>
                  <a:srgbClr val="0033CC"/>
                </a:solidFill>
                <a:latin typeface="Arial" panose="020B0604020202020204" pitchFamily="34" charset="0"/>
                <a:ea typeface="微软雅黑" panose="020B0503020204020204" pitchFamily="34" charset="-122"/>
              </a:rPr>
              <a:t>带符号</a:t>
            </a:r>
            <a:r>
              <a:rPr lang="zh-CN" altLang="en-US" sz="2400" dirty="0">
                <a:latin typeface="Arial" panose="020B0604020202020204" pitchFamily="34" charset="0"/>
                <a:ea typeface="微软雅黑" panose="020B0503020204020204" pitchFamily="34" charset="-122"/>
              </a:rPr>
              <a:t>乘法器</a:t>
            </a:r>
            <a:r>
              <a:rPr lang="zh-CN" altLang="en-US"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73750" name="Line 23"/>
          <p:cNvSpPr/>
          <p:nvPr/>
        </p:nvSpPr>
        <p:spPr>
          <a:xfrm flipV="1">
            <a:off x="6823075" y="5770563"/>
            <a:ext cx="0" cy="585787"/>
          </a:xfrm>
          <a:prstGeom prst="line">
            <a:avLst/>
          </a:prstGeom>
          <a:ln w="38100" cap="flat" cmpd="sng">
            <a:solidFill>
              <a:schemeClr val="tx1"/>
            </a:solidFill>
            <a:prstDash val="solid"/>
            <a:round/>
            <a:headEnd type="none" w="med" len="med"/>
            <a:tailEnd type="triangle" w="med" len="med"/>
          </a:ln>
        </p:spPr>
      </p:sp>
      <p:sp>
        <p:nvSpPr>
          <p:cNvPr id="73751" name="Line 24"/>
          <p:cNvSpPr/>
          <p:nvPr/>
        </p:nvSpPr>
        <p:spPr>
          <a:xfrm flipV="1">
            <a:off x="8083550" y="5770563"/>
            <a:ext cx="0" cy="585787"/>
          </a:xfrm>
          <a:prstGeom prst="line">
            <a:avLst/>
          </a:prstGeom>
          <a:ln w="38100" cap="flat" cmpd="sng">
            <a:solidFill>
              <a:schemeClr val="tx1"/>
            </a:solidFill>
            <a:prstDash val="solid"/>
            <a:round/>
            <a:headEnd type="none" w="med" len="med"/>
            <a:tailEnd type="triangle" w="med" len="med"/>
          </a:ln>
        </p:spPr>
      </p:sp>
      <p:sp>
        <p:nvSpPr>
          <p:cNvPr id="73752" name="Line 25"/>
          <p:cNvSpPr/>
          <p:nvPr/>
        </p:nvSpPr>
        <p:spPr>
          <a:xfrm flipV="1">
            <a:off x="7138988" y="4735513"/>
            <a:ext cx="0" cy="585787"/>
          </a:xfrm>
          <a:prstGeom prst="line">
            <a:avLst/>
          </a:prstGeom>
          <a:ln w="38100" cap="flat" cmpd="sng">
            <a:solidFill>
              <a:schemeClr val="tx1"/>
            </a:solidFill>
            <a:prstDash val="solid"/>
            <a:round/>
            <a:headEnd type="none" w="med" len="med"/>
            <a:tailEnd type="triangle" w="med" len="med"/>
          </a:ln>
        </p:spPr>
      </p:sp>
      <p:sp>
        <p:nvSpPr>
          <p:cNvPr id="73753" name="Line 26"/>
          <p:cNvSpPr/>
          <p:nvPr/>
        </p:nvSpPr>
        <p:spPr>
          <a:xfrm flipV="1">
            <a:off x="7723188" y="4735513"/>
            <a:ext cx="0" cy="585787"/>
          </a:xfrm>
          <a:prstGeom prst="line">
            <a:avLst/>
          </a:prstGeom>
          <a:ln w="38100" cap="flat" cmpd="sng">
            <a:solidFill>
              <a:schemeClr val="tx1"/>
            </a:solidFill>
            <a:prstDash val="solid"/>
            <a:round/>
            <a:headEnd type="none" w="med" len="med"/>
            <a:tailEnd type="triangle" w="med" len="med"/>
          </a:ln>
        </p:spPr>
      </p:sp>
      <p:sp>
        <p:nvSpPr>
          <p:cNvPr id="73754" name="Line 27"/>
          <p:cNvSpPr/>
          <p:nvPr/>
        </p:nvSpPr>
        <p:spPr>
          <a:xfrm>
            <a:off x="6734175" y="6040438"/>
            <a:ext cx="179388" cy="90487"/>
          </a:xfrm>
          <a:prstGeom prst="line">
            <a:avLst/>
          </a:prstGeom>
          <a:ln w="38100" cap="flat" cmpd="sng">
            <a:solidFill>
              <a:schemeClr val="tx1"/>
            </a:solidFill>
            <a:prstDash val="solid"/>
            <a:round/>
            <a:headEnd type="none" w="med" len="med"/>
            <a:tailEnd type="none" w="med" len="med"/>
          </a:ln>
        </p:spPr>
      </p:sp>
      <p:sp>
        <p:nvSpPr>
          <p:cNvPr id="73755" name="Line 28"/>
          <p:cNvSpPr/>
          <p:nvPr/>
        </p:nvSpPr>
        <p:spPr>
          <a:xfrm>
            <a:off x="7994650" y="6040438"/>
            <a:ext cx="179388" cy="90487"/>
          </a:xfrm>
          <a:prstGeom prst="line">
            <a:avLst/>
          </a:prstGeom>
          <a:ln w="38100" cap="flat" cmpd="sng">
            <a:solidFill>
              <a:schemeClr val="tx1"/>
            </a:solidFill>
            <a:prstDash val="solid"/>
            <a:round/>
            <a:headEnd type="none" w="med" len="med"/>
            <a:tailEnd type="none" w="med" len="med"/>
          </a:ln>
        </p:spPr>
      </p:sp>
      <p:sp>
        <p:nvSpPr>
          <p:cNvPr id="73756" name="Line 29"/>
          <p:cNvSpPr/>
          <p:nvPr/>
        </p:nvSpPr>
        <p:spPr>
          <a:xfrm>
            <a:off x="7048500" y="5005388"/>
            <a:ext cx="179388" cy="90487"/>
          </a:xfrm>
          <a:prstGeom prst="line">
            <a:avLst/>
          </a:prstGeom>
          <a:ln w="38100" cap="flat" cmpd="sng">
            <a:solidFill>
              <a:schemeClr val="tx1"/>
            </a:solidFill>
            <a:prstDash val="solid"/>
            <a:round/>
            <a:headEnd type="none" w="med" len="med"/>
            <a:tailEnd type="none" w="med" len="med"/>
          </a:ln>
        </p:spPr>
      </p:sp>
      <p:sp>
        <p:nvSpPr>
          <p:cNvPr id="73757" name="Line 30"/>
          <p:cNvSpPr/>
          <p:nvPr/>
        </p:nvSpPr>
        <p:spPr>
          <a:xfrm>
            <a:off x="7634288" y="5049838"/>
            <a:ext cx="179387" cy="90487"/>
          </a:xfrm>
          <a:prstGeom prst="line">
            <a:avLst/>
          </a:prstGeom>
          <a:ln w="38100" cap="flat" cmpd="sng">
            <a:solidFill>
              <a:schemeClr val="tx1"/>
            </a:solidFill>
            <a:prstDash val="solid"/>
            <a:round/>
            <a:headEnd type="none" w="med" len="med"/>
            <a:tailEnd type="none" w="med" len="med"/>
          </a:ln>
        </p:spPr>
      </p:sp>
      <p:sp>
        <p:nvSpPr>
          <p:cNvPr id="73758" name="Text Box 31"/>
          <p:cNvSpPr txBox="1"/>
          <p:nvPr/>
        </p:nvSpPr>
        <p:spPr>
          <a:xfrm>
            <a:off x="6599238" y="6303963"/>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X</a:t>
            </a:r>
            <a:r>
              <a:rPr lang="en-US" altLang="zh-CN" sz="2400" baseline="-25000" dirty="0">
                <a:latin typeface="微软雅黑" panose="020B0503020204020204" pitchFamily="34" charset="-122"/>
                <a:ea typeface="微软雅黑" panose="020B0503020204020204" pitchFamily="34" charset="-122"/>
              </a:rPr>
              <a:t>s</a:t>
            </a:r>
            <a:endParaRPr lang="en-US" altLang="zh-CN" sz="2400" baseline="-25000" dirty="0">
              <a:latin typeface="微软雅黑" panose="020B0503020204020204" pitchFamily="34" charset="-122"/>
              <a:ea typeface="微软雅黑" panose="020B0503020204020204" pitchFamily="34" charset="-122"/>
            </a:endParaRPr>
          </a:p>
        </p:txBody>
      </p:sp>
      <p:sp>
        <p:nvSpPr>
          <p:cNvPr id="73759" name="Text Box 32"/>
          <p:cNvSpPr txBox="1"/>
          <p:nvPr/>
        </p:nvSpPr>
        <p:spPr>
          <a:xfrm>
            <a:off x="7858125" y="6310313"/>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Y</a:t>
            </a:r>
            <a:r>
              <a:rPr lang="en-US" altLang="zh-CN" sz="2400" baseline="-25000" dirty="0">
                <a:latin typeface="微软雅黑" panose="020B0503020204020204" pitchFamily="34" charset="-122"/>
                <a:ea typeface="微软雅黑" panose="020B0503020204020204" pitchFamily="34" charset="-122"/>
              </a:rPr>
              <a:t>s</a:t>
            </a:r>
            <a:endParaRPr lang="en-US" altLang="zh-CN" sz="2400" baseline="-25000" dirty="0">
              <a:latin typeface="微软雅黑" panose="020B0503020204020204" pitchFamily="34" charset="-122"/>
              <a:ea typeface="微软雅黑" panose="020B0503020204020204" pitchFamily="34" charset="-122"/>
            </a:endParaRPr>
          </a:p>
        </p:txBody>
      </p:sp>
      <p:sp>
        <p:nvSpPr>
          <p:cNvPr id="73760" name="Text Box 33"/>
          <p:cNvSpPr txBox="1"/>
          <p:nvPr/>
        </p:nvSpPr>
        <p:spPr>
          <a:xfrm>
            <a:off x="7543800" y="4330700"/>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P</a:t>
            </a:r>
            <a:r>
              <a:rPr lang="en-US" altLang="zh-CN" sz="2400" baseline="-25000" dirty="0">
                <a:latin typeface="微软雅黑" panose="020B0503020204020204" pitchFamily="34" charset="-122"/>
                <a:ea typeface="微软雅黑" panose="020B0503020204020204" pitchFamily="34" charset="-122"/>
              </a:rPr>
              <a:t>s</a:t>
            </a:r>
            <a:endParaRPr lang="en-US" altLang="zh-CN" sz="2400" baseline="-25000" dirty="0">
              <a:latin typeface="微软雅黑" panose="020B0503020204020204" pitchFamily="34" charset="-122"/>
              <a:ea typeface="微软雅黑" panose="020B0503020204020204" pitchFamily="34" charset="-122"/>
            </a:endParaRPr>
          </a:p>
        </p:txBody>
      </p:sp>
      <p:sp>
        <p:nvSpPr>
          <p:cNvPr id="73761" name="Text Box 34"/>
          <p:cNvSpPr txBox="1"/>
          <p:nvPr/>
        </p:nvSpPr>
        <p:spPr>
          <a:xfrm>
            <a:off x="6688138" y="4779963"/>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n</a:t>
            </a:r>
            <a:endParaRPr lang="en-US" altLang="zh-CN" sz="2400" baseline="-25000" dirty="0">
              <a:latin typeface="微软雅黑" panose="020B0503020204020204" pitchFamily="34" charset="-122"/>
              <a:ea typeface="微软雅黑" panose="020B0503020204020204" pitchFamily="34" charset="-122"/>
            </a:endParaRPr>
          </a:p>
        </p:txBody>
      </p:sp>
      <p:sp>
        <p:nvSpPr>
          <p:cNvPr id="73762" name="Text Box 35"/>
          <p:cNvSpPr txBox="1"/>
          <p:nvPr/>
        </p:nvSpPr>
        <p:spPr>
          <a:xfrm>
            <a:off x="7769225" y="4826000"/>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n</a:t>
            </a:r>
            <a:endParaRPr lang="en-US" altLang="zh-CN" sz="2400" baseline="-25000" dirty="0">
              <a:latin typeface="微软雅黑" panose="020B0503020204020204" pitchFamily="34" charset="-122"/>
              <a:ea typeface="微软雅黑" panose="020B0503020204020204" pitchFamily="34" charset="-122"/>
            </a:endParaRPr>
          </a:p>
        </p:txBody>
      </p:sp>
      <p:sp>
        <p:nvSpPr>
          <p:cNvPr id="73763" name="Text Box 36"/>
          <p:cNvSpPr txBox="1"/>
          <p:nvPr/>
        </p:nvSpPr>
        <p:spPr>
          <a:xfrm>
            <a:off x="6869113" y="5861050"/>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n</a:t>
            </a:r>
            <a:endParaRPr lang="en-US" altLang="zh-CN" sz="2400" baseline="-25000" dirty="0">
              <a:latin typeface="微软雅黑" panose="020B0503020204020204" pitchFamily="34" charset="-122"/>
              <a:ea typeface="微软雅黑" panose="020B0503020204020204" pitchFamily="34" charset="-122"/>
            </a:endParaRPr>
          </a:p>
        </p:txBody>
      </p:sp>
      <p:sp>
        <p:nvSpPr>
          <p:cNvPr id="73764" name="Text Box 37"/>
          <p:cNvSpPr txBox="1"/>
          <p:nvPr/>
        </p:nvSpPr>
        <p:spPr>
          <a:xfrm>
            <a:off x="8128000" y="5861050"/>
            <a:ext cx="539750"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n</a:t>
            </a:r>
            <a:endParaRPr lang="en-US" altLang="zh-CN" sz="2400" baseline="-25000" dirty="0">
              <a:latin typeface="微软雅黑" panose="020B0503020204020204" pitchFamily="34" charset="-122"/>
              <a:ea typeface="微软雅黑" panose="020B0503020204020204" pitchFamily="34" charset="-122"/>
            </a:endParaRPr>
          </a:p>
        </p:txBody>
      </p:sp>
      <p:sp>
        <p:nvSpPr>
          <p:cNvPr id="73765" name="Rectangle 38"/>
          <p:cNvSpPr/>
          <p:nvPr/>
        </p:nvSpPr>
        <p:spPr>
          <a:xfrm>
            <a:off x="5202238" y="4373563"/>
            <a:ext cx="1446212" cy="457200"/>
          </a:xfrm>
          <a:prstGeom prst="rect">
            <a:avLst/>
          </a:prstGeom>
          <a:noFill/>
          <a:ln w="9525">
            <a:noFill/>
          </a:ln>
        </p:spPr>
        <p:txBody>
          <a:bodyPr wrap="none" anchor="t" anchorCtr="0">
            <a:spAutoFit/>
          </a:bodyPr>
          <a:p>
            <a:r>
              <a:rPr lang="en-US" altLang="zh-CN" sz="2400" dirty="0">
                <a:latin typeface="Arial" panose="020B0604020202020204" pitchFamily="34" charset="0"/>
              </a:rPr>
              <a:t>p</a:t>
            </a:r>
            <a:r>
              <a:rPr lang="en-US" altLang="zh-CN" sz="2400" baseline="-25000" dirty="0">
                <a:latin typeface="Arial" panose="020B0604020202020204" pitchFamily="34" charset="0"/>
              </a:rPr>
              <a:t>s</a:t>
            </a:r>
            <a:r>
              <a:rPr lang="en-US" altLang="zh-CN" sz="2400" dirty="0">
                <a:latin typeface="Arial" panose="020B0604020202020204" pitchFamily="34" charset="0"/>
              </a:rPr>
              <a:t>=x</a:t>
            </a:r>
            <a:r>
              <a:rPr lang="en-US" altLang="zh-CN" sz="2400" baseline="-25000" dirty="0">
                <a:latin typeface="Arial" panose="020B0604020202020204" pitchFamily="34" charset="0"/>
              </a:rPr>
              <a:t>s</a:t>
            </a:r>
            <a:r>
              <a:rPr lang="pt-BR" altLang="zh-CN" sz="2400" dirty="0">
                <a:latin typeface="Arial" panose="020B0604020202020204" pitchFamily="34" charset="0"/>
              </a:rPr>
              <a:t>*</a:t>
            </a:r>
            <a:r>
              <a:rPr lang="en-US" altLang="zh-CN" sz="2400" dirty="0">
                <a:latin typeface="Arial" panose="020B0604020202020204" pitchFamily="34" charset="0"/>
              </a:rPr>
              <a:t>y</a:t>
            </a:r>
            <a:r>
              <a:rPr lang="en-US" altLang="zh-CN" sz="2400" baseline="-25000" dirty="0">
                <a:latin typeface="Arial" panose="020B0604020202020204" pitchFamily="34" charset="0"/>
              </a:rPr>
              <a:t>s</a:t>
            </a:r>
            <a:r>
              <a:rPr lang="en-US" altLang="zh-CN" sz="2400" dirty="0">
                <a:latin typeface="Arial" panose="020B0604020202020204" pitchFamily="34" charset="0"/>
              </a:rPr>
              <a:t>;</a:t>
            </a:r>
            <a:endParaRPr lang="zh-CN" altLang="en-US" sz="2400" dirty="0">
              <a:latin typeface="Arial" panose="020B0604020202020204" pitchFamily="34" charset="0"/>
              <a:ea typeface="宋体" panose="02010600030101010101" pitchFamily="2" charset="-122"/>
            </a:endParaRPr>
          </a:p>
        </p:txBody>
      </p:sp>
      <p:sp>
        <p:nvSpPr>
          <p:cNvPr id="73766" name="Text Box 39"/>
          <p:cNvSpPr txBox="1"/>
          <p:nvPr/>
        </p:nvSpPr>
        <p:spPr>
          <a:xfrm>
            <a:off x="1871663" y="4321175"/>
            <a:ext cx="674687"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P</a:t>
            </a:r>
            <a:r>
              <a:rPr lang="en-US" altLang="zh-CN" sz="2400" baseline="-25000" dirty="0">
                <a:latin typeface="微软雅黑" panose="020B0503020204020204" pitchFamily="34" charset="-122"/>
                <a:ea typeface="微软雅黑" panose="020B0503020204020204" pitchFamily="34" charset="-122"/>
              </a:rPr>
              <a:t>uh</a:t>
            </a:r>
            <a:endParaRPr lang="en-US" altLang="zh-CN" sz="2400" baseline="-25000" dirty="0">
              <a:latin typeface="微软雅黑" panose="020B0503020204020204" pitchFamily="34" charset="-122"/>
              <a:ea typeface="微软雅黑" panose="020B0503020204020204" pitchFamily="34" charset="-122"/>
            </a:endParaRPr>
          </a:p>
        </p:txBody>
      </p:sp>
      <p:sp>
        <p:nvSpPr>
          <p:cNvPr id="73767" name="Text Box 40"/>
          <p:cNvSpPr txBox="1"/>
          <p:nvPr/>
        </p:nvSpPr>
        <p:spPr>
          <a:xfrm>
            <a:off x="6777038" y="4284663"/>
            <a:ext cx="630237" cy="457200"/>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P</a:t>
            </a:r>
            <a:r>
              <a:rPr lang="en-US" altLang="zh-CN" sz="2400" baseline="-25000" dirty="0">
                <a:latin typeface="微软雅黑" panose="020B0503020204020204" pitchFamily="34" charset="-122"/>
                <a:ea typeface="微软雅黑" panose="020B0503020204020204" pitchFamily="34" charset="-122"/>
              </a:rPr>
              <a:t>sh</a:t>
            </a:r>
            <a:endParaRPr lang="en-US" altLang="zh-CN" sz="2400" baseline="-25000" dirty="0">
              <a:latin typeface="微软雅黑" panose="020B0503020204020204" pitchFamily="34" charset="-122"/>
              <a:ea typeface="微软雅黑" panose="020B0503020204020204" pitchFamily="34" charset="-122"/>
            </a:endParaRPr>
          </a:p>
        </p:txBody>
      </p:sp>
      <p:grpSp>
        <p:nvGrpSpPr>
          <p:cNvPr id="73768" name="Group 41"/>
          <p:cNvGrpSpPr/>
          <p:nvPr/>
        </p:nvGrpSpPr>
        <p:grpSpPr>
          <a:xfrm>
            <a:off x="4167188" y="5138738"/>
            <a:ext cx="1574800" cy="463550"/>
            <a:chOff x="2540" y="3233"/>
            <a:chExt cx="992" cy="292"/>
          </a:xfrm>
        </p:grpSpPr>
        <p:sp>
          <p:nvSpPr>
            <p:cNvPr id="73769" name="Text Box 42"/>
            <p:cNvSpPr txBox="1"/>
            <p:nvPr/>
          </p:nvSpPr>
          <p:spPr>
            <a:xfrm>
              <a:off x="2540" y="3237"/>
              <a:ext cx="425" cy="288"/>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P</a:t>
              </a:r>
              <a:r>
                <a:rPr lang="en-US" altLang="zh-CN" sz="2400" baseline="-25000" dirty="0">
                  <a:latin typeface="微软雅黑" panose="020B0503020204020204" pitchFamily="34" charset="-122"/>
                  <a:ea typeface="微软雅黑" panose="020B0503020204020204" pitchFamily="34" charset="-122"/>
                </a:rPr>
                <a:t>uh</a:t>
              </a:r>
              <a:endParaRPr lang="en-US" altLang="zh-CN" sz="2400" baseline="-25000" dirty="0">
                <a:latin typeface="微软雅黑" panose="020B0503020204020204" pitchFamily="34" charset="-122"/>
                <a:ea typeface="微软雅黑" panose="020B0503020204020204" pitchFamily="34" charset="-122"/>
              </a:endParaRPr>
            </a:p>
          </p:txBody>
        </p:sp>
        <p:sp>
          <p:nvSpPr>
            <p:cNvPr id="73770" name="Text Box 43"/>
            <p:cNvSpPr txBox="1"/>
            <p:nvPr/>
          </p:nvSpPr>
          <p:spPr>
            <a:xfrm>
              <a:off x="3135" y="3233"/>
              <a:ext cx="397" cy="288"/>
            </a:xfrm>
            <a:prstGeom prst="rect">
              <a:avLst/>
            </a:prstGeom>
            <a:noFill/>
            <a:ln w="9525">
              <a:noFill/>
            </a:ln>
          </p:spPr>
          <p:txBody>
            <a:bodyPr anchor="t" anchorCtr="0">
              <a:spAutoFit/>
            </a:bodyPr>
            <a:p>
              <a:pPr>
                <a:spcBef>
                  <a:spcPct val="50000"/>
                </a:spcBef>
              </a:pPr>
              <a:r>
                <a:rPr lang="en-US" altLang="zh-CN" sz="2400" dirty="0">
                  <a:latin typeface="微软雅黑" panose="020B0503020204020204" pitchFamily="34" charset="-122"/>
                  <a:ea typeface="微软雅黑" panose="020B0503020204020204" pitchFamily="34" charset="-122"/>
                </a:rPr>
                <a:t>P</a:t>
              </a:r>
              <a:r>
                <a:rPr lang="en-US" altLang="zh-CN" sz="2400" baseline="-25000" dirty="0">
                  <a:latin typeface="微软雅黑" panose="020B0503020204020204" pitchFamily="34" charset="-122"/>
                  <a:ea typeface="微软雅黑" panose="020B0503020204020204" pitchFamily="34" charset="-122"/>
                </a:rPr>
                <a:t>sh</a:t>
              </a:r>
              <a:endParaRPr lang="en-US" altLang="zh-CN" sz="2400" baseline="-25000" dirty="0">
                <a:latin typeface="微软雅黑" panose="020B0503020204020204" pitchFamily="34" charset="-122"/>
                <a:ea typeface="微软雅黑" panose="020B0503020204020204" pitchFamily="34" charset="-122"/>
              </a:endParaRPr>
            </a:p>
          </p:txBody>
        </p:sp>
        <p:sp>
          <p:nvSpPr>
            <p:cNvPr id="73771" name="Text Box 44"/>
            <p:cNvSpPr txBox="1"/>
            <p:nvPr/>
          </p:nvSpPr>
          <p:spPr>
            <a:xfrm>
              <a:off x="2908" y="3237"/>
              <a:ext cx="256" cy="288"/>
            </a:xfrm>
            <a:prstGeom prst="rect">
              <a:avLst/>
            </a:prstGeom>
            <a:noFill/>
            <a:ln w="9525">
              <a:noFill/>
            </a:ln>
          </p:spPr>
          <p:txBody>
            <a:bodyPr anchor="t" anchorCtr="0">
              <a:spAutoFit/>
            </a:bodyPr>
            <a:p>
              <a:pPr>
                <a:spcBef>
                  <a:spcPct val="50000"/>
                </a:spcBef>
              </a:pPr>
              <a:r>
                <a:rPr lang="zh-CN" altLang="en-US" sz="2400" dirty="0">
                  <a:latin typeface="Arial" panose="020B0604020202020204" pitchFamily="34" charset="0"/>
                  <a:ea typeface="微软雅黑" panose="020B0503020204020204" pitchFamily="34" charset="-122"/>
                </a:rPr>
                <a:t>≠</a:t>
              </a:r>
              <a:endParaRPr lang="zh-CN" altLang="en-US" sz="2400" dirty="0">
                <a:latin typeface="Arial" panose="020B0604020202020204" pitchFamily="34" charset="0"/>
                <a:ea typeface="微软雅黑" panose="020B0503020204020204" pitchFamily="34" charset="-122"/>
              </a:endParaRPr>
            </a:p>
          </p:txBody>
        </p:sp>
      </p:grpSp>
      <p:sp>
        <p:nvSpPr>
          <p:cNvPr id="73772" name="Text Box 45"/>
          <p:cNvSpPr txBox="1"/>
          <p:nvPr/>
        </p:nvSpPr>
        <p:spPr>
          <a:xfrm>
            <a:off x="5021263" y="2933700"/>
            <a:ext cx="3689350" cy="1158875"/>
          </a:xfrm>
          <a:prstGeom prst="rect">
            <a:avLst/>
          </a:prstGeom>
          <a:noFill/>
          <a:ln w="9525">
            <a:noFill/>
          </a:ln>
        </p:spPr>
        <p:txBody>
          <a:bodyPr anchor="t" anchorCtr="0">
            <a:spAutoFit/>
          </a:bodyPr>
          <a:p>
            <a:pPr>
              <a:spcBef>
                <a:spcPct val="50000"/>
              </a:spcBef>
            </a:pPr>
            <a:r>
              <a:rPr lang="zh-CN" altLang="en-US" sz="2000" dirty="0">
                <a:solidFill>
                  <a:srgbClr val="FF0000"/>
                </a:solidFill>
                <a:latin typeface="微软雅黑" panose="020B0503020204020204" pitchFamily="34" charset="-122"/>
                <a:ea typeface="微软雅黑" panose="020B0503020204020204" pitchFamily="34" charset="-122"/>
              </a:rPr>
              <a:t>无符号：若</a:t>
            </a:r>
            <a:r>
              <a:rPr lang="en-US" altLang="zh-CN" sz="2000" dirty="0">
                <a:solidFill>
                  <a:srgbClr val="FF0000"/>
                </a:solidFill>
                <a:latin typeface="微软雅黑" panose="020B0503020204020204" pitchFamily="34" charset="-122"/>
                <a:ea typeface="微软雅黑" panose="020B0503020204020204" pitchFamily="34" charset="-122"/>
              </a:rPr>
              <a:t>P</a:t>
            </a:r>
            <a:r>
              <a:rPr lang="en-US" altLang="zh-CN" sz="2000" baseline="-25000" dirty="0">
                <a:solidFill>
                  <a:srgbClr val="FF0000"/>
                </a:solidFill>
                <a:latin typeface="微软雅黑" panose="020B0503020204020204" pitchFamily="34" charset="-122"/>
                <a:ea typeface="微软雅黑" panose="020B0503020204020204" pitchFamily="34" charset="-122"/>
              </a:rPr>
              <a:t>uh</a:t>
            </a:r>
            <a:r>
              <a:rPr lang="en-US" altLang="zh-CN" sz="2000" dirty="0">
                <a:solidFill>
                  <a:srgbClr val="FF0000"/>
                </a:solidFill>
                <a:latin typeface="微软雅黑" panose="020B0503020204020204" pitchFamily="34" charset="-122"/>
                <a:ea typeface="微软雅黑" panose="020B0503020204020204" pitchFamily="34" charset="-122"/>
              </a:rPr>
              <a:t>=0</a:t>
            </a:r>
            <a:r>
              <a:rPr lang="zh-CN" altLang="en-US" sz="2000" dirty="0">
                <a:solidFill>
                  <a:srgbClr val="FF0000"/>
                </a:solidFill>
                <a:latin typeface="微软雅黑" panose="020B0503020204020204" pitchFamily="34" charset="-122"/>
                <a:ea typeface="微软雅黑" panose="020B0503020204020204" pitchFamily="34" charset="-122"/>
              </a:rPr>
              <a:t>，则不溢出</a:t>
            </a:r>
            <a:endParaRPr lang="zh-CN" altLang="en-US" sz="2000" dirty="0">
              <a:solidFill>
                <a:srgbClr val="FF0000"/>
              </a:solidFill>
              <a:latin typeface="微软雅黑" panose="020B0503020204020204" pitchFamily="34" charset="-122"/>
              <a:ea typeface="微软雅黑" panose="020B0503020204020204" pitchFamily="34" charset="-122"/>
            </a:endParaRPr>
          </a:p>
          <a:p>
            <a:pPr>
              <a:spcBef>
                <a:spcPct val="50000"/>
              </a:spcBef>
            </a:pPr>
            <a:r>
              <a:rPr lang="zh-CN" altLang="en-US" sz="2000" dirty="0">
                <a:solidFill>
                  <a:srgbClr val="FF0000"/>
                </a:solidFill>
                <a:latin typeface="微软雅黑" panose="020B0503020204020204" pitchFamily="34" charset="-122"/>
                <a:ea typeface="微软雅黑" panose="020B0503020204020204" pitchFamily="34" charset="-122"/>
              </a:rPr>
              <a:t>带符号：若</a:t>
            </a:r>
            <a:r>
              <a:rPr lang="en-US" altLang="zh-CN" sz="2000" dirty="0">
                <a:solidFill>
                  <a:srgbClr val="FF0000"/>
                </a:solidFill>
                <a:latin typeface="微软雅黑" panose="020B0503020204020204" pitchFamily="34" charset="-122"/>
                <a:ea typeface="微软雅黑" panose="020B0503020204020204" pitchFamily="34" charset="-122"/>
              </a:rPr>
              <a:t>P</a:t>
            </a:r>
            <a:r>
              <a:rPr lang="en-US" altLang="zh-CN" sz="2000" baseline="-25000" dirty="0">
                <a:solidFill>
                  <a:srgbClr val="FF0000"/>
                </a:solidFill>
                <a:latin typeface="微软雅黑" panose="020B0503020204020204" pitchFamily="34" charset="-122"/>
                <a:ea typeface="微软雅黑" panose="020B0503020204020204" pitchFamily="34" charset="-122"/>
              </a:rPr>
              <a:t>sh</a:t>
            </a:r>
            <a:r>
              <a:rPr lang="zh-CN" altLang="en-US" sz="2000" dirty="0">
                <a:solidFill>
                  <a:srgbClr val="FF0000"/>
                </a:solidFill>
                <a:latin typeface="微软雅黑" panose="020B0503020204020204" pitchFamily="34" charset="-122"/>
                <a:ea typeface="微软雅黑" panose="020B0503020204020204" pitchFamily="34" charset="-122"/>
              </a:rPr>
              <a:t>每位都等于</a:t>
            </a:r>
            <a:r>
              <a:rPr lang="en-US" altLang="zh-CN" sz="2000" dirty="0">
                <a:solidFill>
                  <a:srgbClr val="FF0000"/>
                </a:solidFill>
                <a:latin typeface="微软雅黑" panose="020B0503020204020204" pitchFamily="34" charset="-122"/>
                <a:ea typeface="微软雅黑" panose="020B0503020204020204" pitchFamily="34" charset="-122"/>
              </a:rPr>
              <a:t>P</a:t>
            </a:r>
            <a:r>
              <a:rPr lang="en-US" altLang="zh-CN" sz="2000" baseline="-25000" dirty="0">
                <a:solidFill>
                  <a:srgbClr val="FF0000"/>
                </a:solidFill>
                <a:latin typeface="微软雅黑" panose="020B0503020204020204" pitchFamily="34" charset="-122"/>
                <a:ea typeface="微软雅黑" panose="020B0503020204020204" pitchFamily="34" charset="-122"/>
              </a:rPr>
              <a:t>s</a:t>
            </a:r>
            <a:r>
              <a:rPr lang="zh-CN" altLang="en-US" sz="2000" dirty="0">
                <a:solidFill>
                  <a:srgbClr val="FF0000"/>
                </a:solidFill>
                <a:latin typeface="微软雅黑" panose="020B0503020204020204" pitchFamily="34" charset="-122"/>
                <a:ea typeface="微软雅黑" panose="020B0503020204020204" pitchFamily="34" charset="-122"/>
              </a:rPr>
              <a:t>的最高位，则不溢出</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2"/>
          <p:cNvSpPr>
            <a:spLocks noGrp="1"/>
          </p:cNvSpPr>
          <p:nvPr>
            <p:ph type="title"/>
          </p:nvPr>
        </p:nvSpPr>
        <p:spPr>
          <a:xfrm>
            <a:off x="457200" y="98425"/>
            <a:ext cx="8229600" cy="479425"/>
          </a:xfrm>
          <a:ln/>
        </p:spPr>
        <p:txBody>
          <a:bodyPr vert="horz" wrap="square" lIns="63500" tIns="25400" rIns="63500" bIns="25400" anchor="t" anchorCtr="0">
            <a:spAutoFit/>
          </a:bodyPr>
          <a:p>
            <a:r>
              <a:rPr lang="zh-CN" altLang="en-US" dirty="0">
                <a:ea typeface="宋体" panose="02010600030101010101" pitchFamily="2" charset="-122"/>
              </a:rPr>
              <a:t>整数的乘运算</a:t>
            </a:r>
            <a:endParaRPr lang="zh-CN" altLang="en-US" dirty="0">
              <a:ea typeface="宋体" panose="02010600030101010101" pitchFamily="2" charset="-122"/>
            </a:endParaRPr>
          </a:p>
        </p:txBody>
      </p:sp>
      <p:sp>
        <p:nvSpPr>
          <p:cNvPr id="75778" name="Rectangle 3"/>
          <p:cNvSpPr>
            <a:spLocks noGrp="1"/>
          </p:cNvSpPr>
          <p:nvPr>
            <p:ph idx="1"/>
          </p:nvPr>
        </p:nvSpPr>
        <p:spPr>
          <a:xfrm>
            <a:off x="250825" y="746125"/>
            <a:ext cx="8229600" cy="1196975"/>
          </a:xfrm>
          <a:ln/>
        </p:spPr>
        <p:txBody>
          <a:bodyPr vert="horz" wrap="square" lIns="63500" tIns="25400" rIns="63500" bIns="25400" anchor="t" anchorCtr="0">
            <a:spAutoFit/>
          </a:bodyPr>
          <a:p>
            <a:pPr>
              <a:lnSpc>
                <a:spcPct val="100000"/>
              </a:lnSpc>
              <a:spcBef>
                <a:spcPct val="10000"/>
              </a:spcBef>
            </a:pPr>
            <a:r>
              <a:rPr lang="en-US" altLang="zh-CN" sz="2000" dirty="0">
                <a:latin typeface="微软雅黑" panose="020B0503020204020204" pitchFamily="34" charset="-122"/>
                <a:ea typeface="微软雅黑" panose="020B0503020204020204" pitchFamily="34" charset="-122"/>
              </a:rPr>
              <a:t>X</a:t>
            </a:r>
            <a:r>
              <a:rPr lang="pt-BR" altLang="zh-CN" dirty="0">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Y</a:t>
            </a:r>
            <a:r>
              <a:rPr lang="zh-CN" altLang="en-US" sz="2000" dirty="0">
                <a:latin typeface="微软雅黑" panose="020B0503020204020204" pitchFamily="34" charset="-122"/>
                <a:ea typeface="微软雅黑" panose="020B0503020204020204" pitchFamily="34" charset="-122"/>
              </a:rPr>
              <a:t>的高</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位可以用来判断溢出，规则如下：</a:t>
            </a:r>
            <a:endParaRPr lang="zh-CN" altLang="en-US" sz="2000" dirty="0">
              <a:latin typeface="微软雅黑" panose="020B0503020204020204" pitchFamily="34" charset="-122"/>
              <a:ea typeface="微软雅黑" panose="020B0503020204020204" pitchFamily="34" charset="-122"/>
            </a:endParaRPr>
          </a:p>
          <a:p>
            <a:pPr lvl="1">
              <a:lnSpc>
                <a:spcPct val="100000"/>
              </a:lnSpc>
              <a:spcBef>
                <a:spcPct val="10000"/>
              </a:spcBef>
            </a:pPr>
            <a:r>
              <a:rPr lang="zh-CN" altLang="en-US" dirty="0">
                <a:latin typeface="微软雅黑" panose="020B0503020204020204" pitchFamily="34" charset="-122"/>
                <a:ea typeface="微软雅黑" panose="020B0503020204020204" pitchFamily="34" charset="-122"/>
              </a:rPr>
              <a:t>无符号：若高</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位全</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，则不溢出，否则溢出</a:t>
            </a:r>
            <a:endParaRPr lang="zh-CN" altLang="en-US" dirty="0">
              <a:latin typeface="微软雅黑" panose="020B0503020204020204" pitchFamily="34" charset="-122"/>
              <a:ea typeface="微软雅黑" panose="020B0503020204020204" pitchFamily="34" charset="-122"/>
            </a:endParaRPr>
          </a:p>
          <a:p>
            <a:pPr lvl="1">
              <a:lnSpc>
                <a:spcPct val="100000"/>
              </a:lnSpc>
              <a:spcBef>
                <a:spcPct val="10000"/>
              </a:spcBef>
            </a:pPr>
            <a:r>
              <a:rPr lang="zh-CN" altLang="en-US" dirty="0">
                <a:latin typeface="微软雅黑" panose="020B0503020204020204" pitchFamily="34" charset="-122"/>
                <a:ea typeface="微软雅黑" panose="020B0503020204020204" pitchFamily="34" charset="-122"/>
              </a:rPr>
              <a:t>带符号：若高</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位全</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或全</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且等于低</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位的最高位，则不溢出。</a:t>
            </a:r>
            <a:endParaRPr lang="zh-CN" altLang="en-US" dirty="0">
              <a:latin typeface="微软雅黑" panose="020B0503020204020204" pitchFamily="34" charset="-122"/>
              <a:ea typeface="微软雅黑" panose="020B0503020204020204" pitchFamily="34" charset="-122"/>
            </a:endParaRPr>
          </a:p>
        </p:txBody>
      </p:sp>
      <p:pic>
        <p:nvPicPr>
          <p:cNvPr id="75779" name="Picture 4"/>
          <p:cNvPicPr>
            <a:picLocks noChangeAspect="1"/>
          </p:cNvPicPr>
          <p:nvPr/>
        </p:nvPicPr>
        <p:blipFill>
          <a:blip r:embed="rId1"/>
          <a:stretch>
            <a:fillRect/>
          </a:stretch>
        </p:blipFill>
        <p:spPr>
          <a:xfrm>
            <a:off x="341313" y="2079625"/>
            <a:ext cx="8551862" cy="4498975"/>
          </a:xfrm>
          <a:prstGeom prst="rect">
            <a:avLst/>
          </a:prstGeom>
          <a:noFill/>
          <a:ln w="9525">
            <a:noFill/>
          </a:ln>
        </p:spPr>
      </p:pic>
      <p:sp>
        <p:nvSpPr>
          <p:cNvPr id="75780" name="Rectangle 5"/>
          <p:cNvSpPr/>
          <p:nvPr/>
        </p:nvSpPr>
        <p:spPr>
          <a:xfrm>
            <a:off x="341313" y="4554538"/>
            <a:ext cx="8505825" cy="944562"/>
          </a:xfrm>
          <a:prstGeom prst="rect">
            <a:avLst/>
          </a:prstGeom>
          <a:solidFill>
            <a:srgbClr val="FF0000">
              <a:alpha val="23137"/>
            </a:srgbClr>
          </a:solidFill>
          <a:ln w="38100" cap="flat" cmpd="sng">
            <a:solidFill>
              <a:srgbClr val="FF0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5781" name="Rectangle 6"/>
          <p:cNvSpPr/>
          <p:nvPr/>
        </p:nvSpPr>
        <p:spPr>
          <a:xfrm>
            <a:off x="341313" y="2619375"/>
            <a:ext cx="8505825" cy="944563"/>
          </a:xfrm>
          <a:prstGeom prst="rect">
            <a:avLst/>
          </a:prstGeom>
          <a:solidFill>
            <a:schemeClr val="accent1">
              <a:alpha val="34901"/>
            </a:schemeClr>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5782" name="Line 7"/>
          <p:cNvSpPr/>
          <p:nvPr/>
        </p:nvSpPr>
        <p:spPr>
          <a:xfrm>
            <a:off x="5381625" y="6399213"/>
            <a:ext cx="539750" cy="0"/>
          </a:xfrm>
          <a:prstGeom prst="line">
            <a:avLst/>
          </a:prstGeom>
          <a:ln w="57150" cap="flat" cmpd="sng">
            <a:solidFill>
              <a:srgbClr val="0033CC"/>
            </a:solidFill>
            <a:prstDash val="solid"/>
            <a:round/>
            <a:headEnd type="none" w="med" len="med"/>
            <a:tailEnd type="none" w="med" len="med"/>
          </a:ln>
        </p:spPr>
      </p:sp>
      <p:sp>
        <p:nvSpPr>
          <p:cNvPr id="75783" name="Line 8"/>
          <p:cNvSpPr/>
          <p:nvPr/>
        </p:nvSpPr>
        <p:spPr>
          <a:xfrm>
            <a:off x="5381625" y="5454650"/>
            <a:ext cx="539750" cy="0"/>
          </a:xfrm>
          <a:prstGeom prst="line">
            <a:avLst/>
          </a:prstGeom>
          <a:ln w="57150" cap="flat" cmpd="sng">
            <a:solidFill>
              <a:srgbClr val="0033CC"/>
            </a:solidFill>
            <a:prstDash val="solid"/>
            <a:round/>
            <a:headEnd type="none" w="med" len="med"/>
            <a:tailEnd type="none" w="med" len="med"/>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p:nvPr>
        </p:nvSpPr>
        <p:spPr>
          <a:xfrm>
            <a:off x="457200" y="98425"/>
            <a:ext cx="8229600" cy="533400"/>
          </a:xfrm>
          <a:ln/>
        </p:spPr>
        <p:txBody>
          <a:bodyPr vert="horz" wrap="square" lIns="63500" tIns="25400" rIns="63500" bIns="25400" anchor="t" anchorCtr="0">
            <a:spAutoFit/>
          </a:bodyPr>
          <a:p>
            <a:r>
              <a:rPr lang="zh-CN" altLang="en-US" dirty="0">
                <a:ea typeface="宋体" panose="02010600030101010101" pitchFamily="2" charset="-122"/>
              </a:rPr>
              <a:t>整数的乘运算</a:t>
            </a:r>
            <a:r>
              <a:rPr lang="zh-CN" altLang="en-US" sz="3600" dirty="0">
                <a:ea typeface="宋体" panose="02010600030101010101" pitchFamily="2" charset="-122"/>
              </a:rPr>
              <a:t> </a:t>
            </a:r>
            <a:endParaRPr lang="zh-CN" altLang="en-US" sz="3600" dirty="0">
              <a:ea typeface="宋体" panose="02010600030101010101" pitchFamily="2" charset="-122"/>
            </a:endParaRPr>
          </a:p>
        </p:txBody>
      </p:sp>
      <p:sp>
        <p:nvSpPr>
          <p:cNvPr id="77826" name="Rectangle 3"/>
          <p:cNvSpPr/>
          <p:nvPr/>
        </p:nvSpPr>
        <p:spPr>
          <a:xfrm>
            <a:off x="431800" y="908050"/>
            <a:ext cx="4521200" cy="457200"/>
          </a:xfrm>
          <a:prstGeom prst="rect">
            <a:avLst/>
          </a:prstGeom>
          <a:noFill/>
          <a:ln w="9525">
            <a:noFill/>
          </a:ln>
        </p:spPr>
        <p:txBody>
          <a:bodyPr wrap="none" anchor="t" anchorCtr="0">
            <a:spAutoFit/>
          </a:bodyPr>
          <a:p>
            <a:r>
              <a:rPr lang="zh-CN" altLang="en-US" sz="2400" dirty="0">
                <a:latin typeface="微软雅黑" panose="020B0503020204020204" pitchFamily="34" charset="-122"/>
                <a:ea typeface="微软雅黑" panose="020B0503020204020204" pitchFamily="34" charset="-122"/>
              </a:rPr>
              <a:t>在计算机内部，一定有</a:t>
            </a:r>
            <a:r>
              <a:rPr lang="en-US" altLang="zh-CN" sz="2400" dirty="0">
                <a:latin typeface="微软雅黑" panose="020B0503020204020204" pitchFamily="34" charset="-122"/>
                <a:ea typeface="微软雅黑" panose="020B0503020204020204" pitchFamily="34" charset="-122"/>
              </a:rPr>
              <a:t>x</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dirty="0">
                <a:latin typeface="微软雅黑" panose="020B0503020204020204" pitchFamily="34" charset="-122"/>
                <a:ea typeface="微软雅黑" panose="020B0503020204020204" pitchFamily="34" charset="-122"/>
              </a:rPr>
              <a:t> 0</a:t>
            </a:r>
            <a:r>
              <a:rPr lang="zh-CN" altLang="en-US" sz="2400" dirty="0">
                <a:latin typeface="微软雅黑" panose="020B0503020204020204" pitchFamily="34" charset="-122"/>
                <a:ea typeface="微软雅黑" panose="020B0503020204020204" pitchFamily="34" charset="-122"/>
              </a:rPr>
              <a:t>吗</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77827" name="Text Box 4"/>
          <p:cNvSpPr txBox="1"/>
          <p:nvPr/>
        </p:nvSpPr>
        <p:spPr>
          <a:xfrm>
            <a:off x="431800" y="1403350"/>
            <a:ext cx="4905375" cy="895350"/>
          </a:xfrm>
          <a:prstGeom prst="rect">
            <a:avLst/>
          </a:prstGeom>
          <a:noFill/>
          <a:ln w="9525">
            <a:noFill/>
          </a:ln>
        </p:spPr>
        <p:txBody>
          <a:bodyPr anchor="t" anchorCtr="0">
            <a:spAutoFit/>
          </a:bodyPr>
          <a:p>
            <a:pPr>
              <a:spcBef>
                <a:spcPct val="20000"/>
              </a:spcBef>
            </a:pPr>
            <a:r>
              <a:rPr lang="zh-CN" altLang="en-US" sz="2400" dirty="0">
                <a:solidFill>
                  <a:srgbClr val="FF0000"/>
                </a:solidFill>
                <a:latin typeface="Arial" panose="020B0604020202020204" pitchFamily="34" charset="0"/>
                <a:ea typeface="微软雅黑" panose="020B0503020204020204" pitchFamily="34" charset="-122"/>
              </a:rPr>
              <a:t>若</a:t>
            </a:r>
            <a:r>
              <a:rPr lang="en-US" altLang="zh-CN" sz="2400" dirty="0">
                <a:solidFill>
                  <a:srgbClr val="FF0000"/>
                </a:solidFill>
                <a:latin typeface="Arial" panose="020B0604020202020204" pitchFamily="34" charset="0"/>
                <a:ea typeface="微软雅黑" panose="020B0503020204020204" pitchFamily="34" charset="-122"/>
              </a:rPr>
              <a:t>x</a:t>
            </a:r>
            <a:r>
              <a:rPr lang="zh-CN" altLang="en-US" sz="2400" dirty="0">
                <a:solidFill>
                  <a:srgbClr val="FF0000"/>
                </a:solidFill>
                <a:latin typeface="Arial" panose="020B0604020202020204" pitchFamily="34" charset="0"/>
                <a:ea typeface="微软雅黑" panose="020B0503020204020204" pitchFamily="34" charset="-122"/>
              </a:rPr>
              <a:t>是带符号整数，则不一定！</a:t>
            </a:r>
            <a:endParaRPr lang="zh-CN" altLang="en-US" sz="2400" dirty="0">
              <a:solidFill>
                <a:srgbClr val="FF0000"/>
              </a:solidFill>
              <a:latin typeface="Arial" panose="020B0604020202020204" pitchFamily="34" charset="0"/>
              <a:ea typeface="微软雅黑" panose="020B0503020204020204" pitchFamily="34" charset="-122"/>
            </a:endParaRPr>
          </a:p>
          <a:p>
            <a:pPr>
              <a:spcBef>
                <a:spcPct val="20000"/>
              </a:spcBef>
            </a:pPr>
            <a:r>
              <a:rPr lang="zh-CN" altLang="en-US" sz="2400" dirty="0">
                <a:solidFill>
                  <a:srgbClr val="FF0000"/>
                </a:solidFill>
                <a:latin typeface="Arial" panose="020B0604020202020204" pitchFamily="34" charset="0"/>
                <a:ea typeface="微软雅黑" panose="020B0503020204020204" pitchFamily="34" charset="-122"/>
              </a:rPr>
              <a:t>如</a:t>
            </a:r>
            <a:r>
              <a:rPr lang="en-US" altLang="zh-CN" sz="2400" dirty="0">
                <a:solidFill>
                  <a:srgbClr val="FF0000"/>
                </a:solidFill>
                <a:latin typeface="Arial" panose="020B0604020202020204" pitchFamily="34" charset="0"/>
                <a:ea typeface="微软雅黑" panose="020B0503020204020204" pitchFamily="34" charset="-122"/>
              </a:rPr>
              <a:t>x</a:t>
            </a:r>
            <a:r>
              <a:rPr lang="zh-CN" altLang="en-US" sz="2400" dirty="0">
                <a:solidFill>
                  <a:srgbClr val="FF0000"/>
                </a:solidFill>
                <a:latin typeface="Arial" panose="020B0604020202020204" pitchFamily="34" charset="0"/>
                <a:ea typeface="微软雅黑" panose="020B0503020204020204" pitchFamily="34" charset="-122"/>
              </a:rPr>
              <a:t>是浮点数，则一定！</a:t>
            </a:r>
            <a:endParaRPr lang="zh-CN" altLang="en-US" sz="2400" dirty="0">
              <a:solidFill>
                <a:srgbClr val="FF0000"/>
              </a:solidFill>
              <a:latin typeface="Arial" panose="020B0604020202020204" pitchFamily="34" charset="0"/>
              <a:ea typeface="微软雅黑" panose="020B0503020204020204" pitchFamily="34" charset="-122"/>
            </a:endParaRPr>
          </a:p>
        </p:txBody>
      </p:sp>
      <p:sp>
        <p:nvSpPr>
          <p:cNvPr id="77828" name="Text Box 5"/>
          <p:cNvSpPr txBox="1"/>
          <p:nvPr/>
        </p:nvSpPr>
        <p:spPr>
          <a:xfrm>
            <a:off x="385763" y="2393950"/>
            <a:ext cx="4294187" cy="457200"/>
          </a:xfrm>
          <a:prstGeom prst="rect">
            <a:avLst/>
          </a:prstGeom>
          <a:noFill/>
          <a:ln w="9525">
            <a:noFill/>
          </a:ln>
        </p:spPr>
        <p:txBody>
          <a:bodyPr anchor="t" anchorCtr="0">
            <a:spAutoFit/>
          </a:bodyPr>
          <a:p>
            <a:pPr>
              <a:spcBef>
                <a:spcPct val="50000"/>
              </a:spcBef>
            </a:pPr>
            <a:r>
              <a:rPr lang="zh-CN" altLang="en-US" sz="2400" dirty="0">
                <a:latin typeface="微软雅黑" panose="020B0503020204020204" pitchFamily="34" charset="-122"/>
                <a:ea typeface="微软雅黑" panose="020B0503020204020204" pitchFamily="34" charset="-122"/>
              </a:rPr>
              <a:t>例如，当 </a:t>
            </a:r>
            <a:r>
              <a:rPr lang="en-US" altLang="zh-CN" sz="2400" dirty="0">
                <a:latin typeface="微软雅黑" panose="020B0503020204020204" pitchFamily="34" charset="-122"/>
                <a:ea typeface="微软雅黑" panose="020B0503020204020204" pitchFamily="34" charset="-122"/>
              </a:rPr>
              <a:t>n=4 </a:t>
            </a:r>
            <a:r>
              <a:rPr lang="zh-CN" altLang="en-US" sz="2400" dirty="0">
                <a:latin typeface="微软雅黑" panose="020B0503020204020204" pitchFamily="34" charset="-122"/>
                <a:ea typeface="微软雅黑" panose="020B0503020204020204" pitchFamily="34" charset="-122"/>
              </a:rPr>
              <a:t>时</a:t>
            </a:r>
            <a:r>
              <a:rPr lang="en-US" altLang="zh-CN" sz="2400" dirty="0">
                <a:latin typeface="微软雅黑" panose="020B0503020204020204" pitchFamily="34" charset="-122"/>
                <a:ea typeface="微软雅黑" panose="020B0503020204020204" pitchFamily="34" charset="-122"/>
              </a:rPr>
              <a:t>, 5</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=-7&lt;0 !</a:t>
            </a:r>
            <a:endParaRPr lang="en-US" altLang="zh-CN" sz="2400" dirty="0">
              <a:latin typeface="微软雅黑" panose="020B0503020204020204" pitchFamily="34" charset="-122"/>
              <a:ea typeface="微软雅黑" panose="020B0503020204020204" pitchFamily="34" charset="-122"/>
            </a:endParaRPr>
          </a:p>
        </p:txBody>
      </p:sp>
      <p:grpSp>
        <p:nvGrpSpPr>
          <p:cNvPr id="77829" name="Group 6"/>
          <p:cNvGrpSpPr/>
          <p:nvPr/>
        </p:nvGrpSpPr>
        <p:grpSpPr>
          <a:xfrm>
            <a:off x="5427663" y="773113"/>
            <a:ext cx="2655887" cy="2032000"/>
            <a:chOff x="3702" y="2614"/>
            <a:chExt cx="1673" cy="1280"/>
          </a:xfrm>
        </p:grpSpPr>
        <p:sp>
          <p:nvSpPr>
            <p:cNvPr id="77830" name="Text Box 7"/>
            <p:cNvSpPr txBox="1"/>
            <p:nvPr/>
          </p:nvSpPr>
          <p:spPr>
            <a:xfrm>
              <a:off x="4184" y="2614"/>
              <a:ext cx="1191" cy="518"/>
            </a:xfrm>
            <a:prstGeom prst="rect">
              <a:avLst/>
            </a:prstGeom>
            <a:noFill/>
            <a:ln w="9525">
              <a:noFill/>
            </a:ln>
          </p:spPr>
          <p:txBody>
            <a:bodyPr anchor="t" anchorCtr="0">
              <a:spAutoFit/>
            </a:bodyPr>
            <a:p>
              <a:r>
                <a:rPr lang="en-US" altLang="zh-CN" sz="2400" dirty="0">
                  <a:latin typeface="Arial" panose="020B0604020202020204" pitchFamily="34" charset="0"/>
                </a:rPr>
                <a:t>0101</a:t>
              </a:r>
              <a:endParaRPr lang="en-US" altLang="zh-CN" sz="2400" dirty="0">
                <a:latin typeface="Arial" panose="020B0604020202020204" pitchFamily="34" charset="0"/>
              </a:endParaRPr>
            </a:p>
            <a:p>
              <a:r>
                <a:rPr lang="en-US" altLang="zh-CN" sz="2400" dirty="0">
                  <a:latin typeface="Arial" panose="020B0604020202020204" pitchFamily="34" charset="0"/>
                </a:rPr>
                <a:t>0101</a:t>
              </a:r>
              <a:endParaRPr lang="en-US" altLang="zh-CN" sz="2400" dirty="0">
                <a:latin typeface="Arial" panose="020B0604020202020204" pitchFamily="34" charset="0"/>
              </a:endParaRPr>
            </a:p>
          </p:txBody>
        </p:sp>
        <p:sp>
          <p:nvSpPr>
            <p:cNvPr id="77831" name="Line 8"/>
            <p:cNvSpPr/>
            <p:nvPr/>
          </p:nvSpPr>
          <p:spPr>
            <a:xfrm>
              <a:off x="3702" y="3096"/>
              <a:ext cx="1418" cy="0"/>
            </a:xfrm>
            <a:prstGeom prst="line">
              <a:avLst/>
            </a:prstGeom>
            <a:ln w="38100" cap="flat" cmpd="sng">
              <a:solidFill>
                <a:schemeClr val="tx1"/>
              </a:solidFill>
              <a:prstDash val="solid"/>
              <a:round/>
              <a:headEnd type="none" w="med" len="med"/>
              <a:tailEnd type="none" w="med" len="med"/>
            </a:ln>
          </p:spPr>
        </p:sp>
        <p:sp>
          <p:nvSpPr>
            <p:cNvPr id="77832" name="Text Box 9"/>
            <p:cNvSpPr txBox="1"/>
            <p:nvPr/>
          </p:nvSpPr>
          <p:spPr>
            <a:xfrm>
              <a:off x="3957" y="3067"/>
              <a:ext cx="1134" cy="518"/>
            </a:xfrm>
            <a:prstGeom prst="rect">
              <a:avLst/>
            </a:prstGeom>
            <a:noFill/>
            <a:ln w="9525">
              <a:noFill/>
            </a:ln>
          </p:spPr>
          <p:txBody>
            <a:bodyPr anchor="t" anchorCtr="0">
              <a:spAutoFit/>
            </a:bodyPr>
            <a:p>
              <a:r>
                <a:rPr lang="en-US" altLang="zh-CN" sz="2400" dirty="0">
                  <a:latin typeface="Arial" panose="020B0604020202020204" pitchFamily="34" charset="0"/>
                </a:rPr>
                <a:t>    0101</a:t>
              </a:r>
              <a:endParaRPr lang="en-US" altLang="zh-CN" sz="2400" dirty="0">
                <a:latin typeface="Arial" panose="020B0604020202020204" pitchFamily="34" charset="0"/>
              </a:endParaRPr>
            </a:p>
            <a:p>
              <a:r>
                <a:rPr lang="en-US" altLang="zh-CN" sz="2400" dirty="0">
                  <a:latin typeface="Arial" panose="020B0604020202020204" pitchFamily="34" charset="0"/>
                </a:rPr>
                <a:t>0101</a:t>
              </a:r>
              <a:endParaRPr lang="en-US" altLang="zh-CN" sz="2400" dirty="0">
                <a:latin typeface="Arial" panose="020B0604020202020204" pitchFamily="34" charset="0"/>
              </a:endParaRPr>
            </a:p>
          </p:txBody>
        </p:sp>
        <p:sp>
          <p:nvSpPr>
            <p:cNvPr id="77833" name="Line 10"/>
            <p:cNvSpPr/>
            <p:nvPr/>
          </p:nvSpPr>
          <p:spPr>
            <a:xfrm>
              <a:off x="3702" y="3577"/>
              <a:ext cx="1418" cy="0"/>
            </a:xfrm>
            <a:prstGeom prst="line">
              <a:avLst/>
            </a:prstGeom>
            <a:ln w="38100" cap="flat" cmpd="sng">
              <a:solidFill>
                <a:schemeClr val="tx1"/>
              </a:solidFill>
              <a:prstDash val="solid"/>
              <a:round/>
              <a:headEnd type="none" w="med" len="med"/>
              <a:tailEnd type="none" w="med" len="med"/>
            </a:ln>
          </p:spPr>
        </p:sp>
        <p:sp>
          <p:nvSpPr>
            <p:cNvPr id="77834" name="Text Box 11"/>
            <p:cNvSpPr txBox="1"/>
            <p:nvPr/>
          </p:nvSpPr>
          <p:spPr>
            <a:xfrm>
              <a:off x="3929" y="2812"/>
              <a:ext cx="567" cy="288"/>
            </a:xfrm>
            <a:prstGeom prst="rect">
              <a:avLst/>
            </a:prstGeom>
            <a:noFill/>
            <a:ln w="9525">
              <a:noFill/>
            </a:ln>
          </p:spPr>
          <p:txBody>
            <a:bodyPr anchor="t" anchorCtr="0">
              <a:spAutoFit/>
            </a:bodyPr>
            <a:p>
              <a:pPr>
                <a:spcBef>
                  <a:spcPct val="50000"/>
                </a:spcBef>
              </a:pPr>
              <a:r>
                <a:rPr lang="zh-CN" altLang="en-US" sz="2400" dirty="0">
                  <a:latin typeface="Arial" panose="020B0604020202020204" pitchFamily="34" charset="0"/>
                  <a:ea typeface="宋体" panose="02010600030101010101" pitchFamily="2" charset="-122"/>
                  <a:sym typeface="Symbol" panose="05050102010706020507" pitchFamily="18" charset="2"/>
                </a:rPr>
                <a:t></a:t>
              </a:r>
              <a:endParaRPr lang="zh-CN" altLang="en-US" sz="2400" dirty="0">
                <a:latin typeface="Arial" panose="020B0604020202020204" pitchFamily="34" charset="0"/>
                <a:ea typeface="宋体" panose="02010600030101010101" pitchFamily="2" charset="-122"/>
                <a:sym typeface="Symbol" panose="05050102010706020507" pitchFamily="18" charset="2"/>
              </a:endParaRPr>
            </a:p>
          </p:txBody>
        </p:sp>
        <p:sp>
          <p:nvSpPr>
            <p:cNvPr id="77835" name="Text Box 12"/>
            <p:cNvSpPr txBox="1"/>
            <p:nvPr/>
          </p:nvSpPr>
          <p:spPr>
            <a:xfrm>
              <a:off x="3730" y="3261"/>
              <a:ext cx="567" cy="260"/>
            </a:xfrm>
            <a:prstGeom prst="rect">
              <a:avLst/>
            </a:prstGeom>
            <a:noFill/>
            <a:ln w="9525">
              <a:noFill/>
            </a:ln>
          </p:spPr>
          <p:txBody>
            <a:bodyPr anchor="t" anchorCtr="0">
              <a:spAutoFit/>
            </a:bodyPr>
            <a:p>
              <a:r>
                <a:rPr lang="en-US" altLang="zh-CN" sz="3200" baseline="-25000" dirty="0">
                  <a:latin typeface="Arial" panose="020B0604020202020204" pitchFamily="34" charset="0"/>
                  <a:sym typeface="Symbol" panose="05050102010706020507" pitchFamily="18" charset="2"/>
                </a:rPr>
                <a:t>+</a:t>
              </a:r>
              <a:endParaRPr lang="en-US" altLang="zh-CN" sz="3200" baseline="-25000" dirty="0">
                <a:latin typeface="Arial" panose="020B0604020202020204" pitchFamily="34" charset="0"/>
                <a:sym typeface="Symbol" panose="05050102010706020507" pitchFamily="18" charset="2"/>
              </a:endParaRPr>
            </a:p>
          </p:txBody>
        </p:sp>
        <p:sp>
          <p:nvSpPr>
            <p:cNvPr id="77836" name="Text Box 13"/>
            <p:cNvSpPr txBox="1"/>
            <p:nvPr/>
          </p:nvSpPr>
          <p:spPr>
            <a:xfrm>
              <a:off x="3759" y="3606"/>
              <a:ext cx="1191" cy="288"/>
            </a:xfrm>
            <a:prstGeom prst="rect">
              <a:avLst/>
            </a:prstGeom>
            <a:noFill/>
            <a:ln w="9525">
              <a:noFill/>
            </a:ln>
          </p:spPr>
          <p:txBody>
            <a:bodyPr anchor="t" anchorCtr="0">
              <a:spAutoFit/>
            </a:bodyPr>
            <a:p>
              <a:r>
                <a:rPr lang="en-US" altLang="zh-CN" sz="2400" dirty="0">
                  <a:latin typeface="Arial" panose="020B0604020202020204" pitchFamily="34" charset="0"/>
                </a:rPr>
                <a:t>00011001</a:t>
              </a:r>
              <a:endParaRPr lang="en-US" altLang="zh-CN" sz="2400" dirty="0">
                <a:latin typeface="Arial" panose="020B0604020202020204" pitchFamily="34" charset="0"/>
              </a:endParaRPr>
            </a:p>
          </p:txBody>
        </p:sp>
        <p:sp>
          <p:nvSpPr>
            <p:cNvPr id="77837" name="Line 14"/>
            <p:cNvSpPr/>
            <p:nvPr/>
          </p:nvSpPr>
          <p:spPr>
            <a:xfrm>
              <a:off x="4269" y="3861"/>
              <a:ext cx="397" cy="0"/>
            </a:xfrm>
            <a:prstGeom prst="line">
              <a:avLst/>
            </a:prstGeom>
            <a:ln w="38100" cap="flat" cmpd="sng">
              <a:solidFill>
                <a:srgbClr val="FF0000"/>
              </a:solidFill>
              <a:prstDash val="solid"/>
              <a:round/>
              <a:headEnd type="none" w="med" len="med"/>
              <a:tailEnd type="none" w="med" len="med"/>
            </a:ln>
          </p:spPr>
        </p:sp>
      </p:grpSp>
      <p:sp>
        <p:nvSpPr>
          <p:cNvPr id="77838" name="Text Box 15"/>
          <p:cNvSpPr txBox="1"/>
          <p:nvPr/>
        </p:nvSpPr>
        <p:spPr>
          <a:xfrm>
            <a:off x="4797425" y="2889250"/>
            <a:ext cx="3779838" cy="427038"/>
          </a:xfrm>
          <a:prstGeom prst="rect">
            <a:avLst/>
          </a:prstGeom>
          <a:noFill/>
          <a:ln w="9525">
            <a:noFill/>
          </a:ln>
        </p:spPr>
        <p:txBody>
          <a:bodyPr anchor="t" anchorCtr="0">
            <a:spAutoFit/>
          </a:bodyPr>
          <a:p>
            <a:pPr>
              <a:spcBef>
                <a:spcPct val="50000"/>
              </a:spcBef>
            </a:pPr>
            <a:r>
              <a:rPr lang="zh-CN" altLang="en-US" sz="2200" dirty="0">
                <a:solidFill>
                  <a:srgbClr val="0033CC"/>
                </a:solidFill>
                <a:latin typeface="微软雅黑" panose="020B0503020204020204" pitchFamily="34" charset="-122"/>
                <a:ea typeface="微软雅黑" panose="020B0503020204020204" pitchFamily="34" charset="-122"/>
              </a:rPr>
              <a:t>只取低</a:t>
            </a:r>
            <a:r>
              <a:rPr lang="en-US" altLang="zh-CN" sz="2200" dirty="0">
                <a:solidFill>
                  <a:srgbClr val="0033CC"/>
                </a:solidFill>
                <a:latin typeface="微软雅黑" panose="020B0503020204020204" pitchFamily="34" charset="-122"/>
                <a:ea typeface="微软雅黑" panose="020B0503020204020204" pitchFamily="34" charset="-122"/>
              </a:rPr>
              <a:t>4</a:t>
            </a:r>
            <a:r>
              <a:rPr lang="zh-CN" altLang="en-US" sz="2200" dirty="0">
                <a:solidFill>
                  <a:srgbClr val="0033CC"/>
                </a:solidFill>
                <a:latin typeface="微软雅黑" panose="020B0503020204020204" pitchFamily="34" charset="-122"/>
                <a:ea typeface="微软雅黑" panose="020B0503020204020204" pitchFamily="34" charset="-122"/>
              </a:rPr>
              <a:t>位，值为</a:t>
            </a:r>
            <a:r>
              <a:rPr lang="en-US" altLang="zh-CN" sz="2200" dirty="0">
                <a:solidFill>
                  <a:srgbClr val="0033CC"/>
                </a:solidFill>
                <a:latin typeface="微软雅黑" panose="020B0503020204020204" pitchFamily="34" charset="-122"/>
                <a:ea typeface="微软雅黑" panose="020B0503020204020204" pitchFamily="34" charset="-122"/>
              </a:rPr>
              <a:t>-111B=-7</a:t>
            </a:r>
            <a:endParaRPr lang="en-US" altLang="zh-CN" sz="2200" dirty="0">
              <a:solidFill>
                <a:srgbClr val="0033CC"/>
              </a:solidFill>
              <a:latin typeface="微软雅黑" panose="020B0503020204020204" pitchFamily="34" charset="-122"/>
              <a:ea typeface="微软雅黑" panose="020B0503020204020204" pitchFamily="34" charset="-122"/>
            </a:endParaRPr>
          </a:p>
        </p:txBody>
      </p:sp>
      <p:sp>
        <p:nvSpPr>
          <p:cNvPr id="77839" name="Text Box 16"/>
          <p:cNvSpPr txBox="1"/>
          <p:nvPr/>
        </p:nvSpPr>
        <p:spPr>
          <a:xfrm>
            <a:off x="4481513" y="3563938"/>
            <a:ext cx="4456112" cy="2800350"/>
          </a:xfrm>
          <a:prstGeom prst="rect">
            <a:avLst/>
          </a:prstGeom>
          <a:noFill/>
          <a:ln w="9525">
            <a:noFill/>
          </a:ln>
        </p:spPr>
        <p:txBody>
          <a:bodyPr anchor="t" anchorCtr="0">
            <a:spAutoFit/>
          </a:bodyPr>
          <a:p>
            <a:pPr>
              <a:spcBef>
                <a:spcPct val="20000"/>
              </a:spcBef>
            </a:pPr>
            <a:r>
              <a:rPr lang="zh-CN" altLang="en-US" sz="2200" dirty="0">
                <a:solidFill>
                  <a:srgbClr val="0033CC"/>
                </a:solidFill>
                <a:latin typeface="Arial" panose="020B0604020202020204" pitchFamily="34" charset="0"/>
                <a:ea typeface="微软雅黑" panose="020B0503020204020204" pitchFamily="34" charset="-122"/>
              </a:rPr>
              <a:t>高级语言程序如何判断</a:t>
            </a:r>
            <a:r>
              <a:rPr lang="en-US" altLang="zh-CN" sz="2200" dirty="0">
                <a:solidFill>
                  <a:srgbClr val="0033CC"/>
                </a:solidFill>
                <a:latin typeface="Arial" panose="020B0604020202020204" pitchFamily="34" charset="0"/>
                <a:ea typeface="微软雅黑" panose="020B0503020204020204" pitchFamily="34" charset="-122"/>
              </a:rPr>
              <a:t>z</a:t>
            </a:r>
            <a:r>
              <a:rPr lang="zh-CN" altLang="en-US" sz="2200" dirty="0">
                <a:solidFill>
                  <a:srgbClr val="0033CC"/>
                </a:solidFill>
                <a:latin typeface="Arial" panose="020B0604020202020204" pitchFamily="34" charset="0"/>
                <a:ea typeface="微软雅黑" panose="020B0503020204020204" pitchFamily="34" charset="-122"/>
              </a:rPr>
              <a:t>是正确值？</a:t>
            </a:r>
            <a:endParaRPr lang="zh-CN" altLang="en-US" sz="2200" dirty="0">
              <a:solidFill>
                <a:srgbClr val="0033CC"/>
              </a:solidFill>
              <a:latin typeface="Arial" panose="020B0604020202020204" pitchFamily="34" charset="0"/>
              <a:ea typeface="微软雅黑" panose="020B0503020204020204" pitchFamily="34" charset="-122"/>
            </a:endParaRPr>
          </a:p>
          <a:p>
            <a:pPr>
              <a:spcBef>
                <a:spcPct val="20000"/>
              </a:spcBef>
            </a:pPr>
            <a:r>
              <a:rPr lang="zh-CN" altLang="en-US" sz="2200" dirty="0">
                <a:solidFill>
                  <a:srgbClr val="CC3300"/>
                </a:solidFill>
                <a:latin typeface="Arial" panose="020B0604020202020204" pitchFamily="34" charset="0"/>
                <a:ea typeface="微软雅黑" panose="020B0503020204020204" pitchFamily="34" charset="-122"/>
              </a:rPr>
              <a:t>当 </a:t>
            </a:r>
            <a:r>
              <a:rPr lang="en-US" altLang="zh-CN" sz="2200" dirty="0">
                <a:solidFill>
                  <a:srgbClr val="CC3300"/>
                </a:solidFill>
                <a:latin typeface="Arial" panose="020B0604020202020204" pitchFamily="34" charset="0"/>
                <a:ea typeface="微软雅黑" panose="020B0503020204020204" pitchFamily="34" charset="-122"/>
              </a:rPr>
              <a:t>!x || z/x==y </a:t>
            </a:r>
            <a:r>
              <a:rPr lang="zh-CN" altLang="en-US" sz="2200" dirty="0">
                <a:solidFill>
                  <a:srgbClr val="CC3300"/>
                </a:solidFill>
                <a:latin typeface="Arial" panose="020B0604020202020204" pitchFamily="34" charset="0"/>
                <a:ea typeface="微软雅黑" panose="020B0503020204020204" pitchFamily="34" charset="-122"/>
              </a:rPr>
              <a:t>为真时</a:t>
            </a:r>
            <a:endParaRPr lang="zh-CN" altLang="en-US" sz="2200" dirty="0">
              <a:solidFill>
                <a:srgbClr val="CC3300"/>
              </a:solidFill>
              <a:latin typeface="Arial" panose="020B0604020202020204" pitchFamily="34" charset="0"/>
              <a:ea typeface="微软雅黑" panose="020B0503020204020204" pitchFamily="34" charset="-122"/>
            </a:endParaRPr>
          </a:p>
          <a:p>
            <a:pPr>
              <a:spcBef>
                <a:spcPct val="20000"/>
              </a:spcBef>
            </a:pPr>
            <a:r>
              <a:rPr lang="zh-CN" altLang="en-US" sz="2200" dirty="0">
                <a:solidFill>
                  <a:srgbClr val="0033CC"/>
                </a:solidFill>
                <a:latin typeface="Arial" panose="020B0604020202020204" pitchFamily="34" charset="0"/>
                <a:ea typeface="微软雅黑" panose="020B0503020204020204" pitchFamily="34" charset="-122"/>
              </a:rPr>
              <a:t>编译器如何判断？</a:t>
            </a:r>
            <a:endParaRPr lang="zh-CN" altLang="en-US" sz="2200" dirty="0">
              <a:solidFill>
                <a:srgbClr val="0033CC"/>
              </a:solidFill>
              <a:latin typeface="Arial" panose="020B0604020202020204" pitchFamily="34" charset="0"/>
              <a:ea typeface="微软雅黑" panose="020B0503020204020204" pitchFamily="34" charset="-122"/>
            </a:endParaRPr>
          </a:p>
          <a:p>
            <a:pPr>
              <a:spcBef>
                <a:spcPct val="20000"/>
              </a:spcBef>
            </a:pPr>
            <a:r>
              <a:rPr lang="zh-CN" altLang="en-US" sz="2200" dirty="0">
                <a:solidFill>
                  <a:srgbClr val="CC3300"/>
                </a:solidFill>
                <a:latin typeface="Arial" panose="020B0604020202020204" pitchFamily="34" charset="0"/>
                <a:ea typeface="微软雅黑" panose="020B0503020204020204" pitchFamily="34" charset="-122"/>
              </a:rPr>
              <a:t>当 </a:t>
            </a:r>
            <a:r>
              <a:rPr lang="en-US" altLang="zh-CN" sz="2200" dirty="0">
                <a:solidFill>
                  <a:srgbClr val="CC3300"/>
                </a:solidFill>
                <a:latin typeface="Arial" panose="020B0604020202020204" pitchFamily="34" charset="0"/>
                <a:ea typeface="微软雅黑" panose="020B0503020204020204" pitchFamily="34" charset="-122"/>
              </a:rPr>
              <a:t>-2</a:t>
            </a:r>
            <a:r>
              <a:rPr lang="en-US" altLang="zh-CN" sz="2200" baseline="30000" dirty="0">
                <a:solidFill>
                  <a:srgbClr val="CC3300"/>
                </a:solidFill>
                <a:latin typeface="Arial" panose="020B0604020202020204" pitchFamily="34" charset="0"/>
                <a:ea typeface="微软雅黑" panose="020B0503020204020204" pitchFamily="34" charset="-122"/>
              </a:rPr>
              <a:t>n-1</a:t>
            </a:r>
            <a:r>
              <a:rPr lang="en-US" altLang="zh-CN" sz="2200" dirty="0">
                <a:solidFill>
                  <a:srgbClr val="CC3300"/>
                </a:solidFill>
                <a:latin typeface="Arial" panose="020B0604020202020204" pitchFamily="34" charset="0"/>
                <a:ea typeface="微软雅黑" panose="020B0503020204020204" pitchFamily="34" charset="-122"/>
              </a:rPr>
              <a:t> </a:t>
            </a:r>
            <a:r>
              <a:rPr lang="en-US" altLang="zh-CN" sz="2200" dirty="0">
                <a:solidFill>
                  <a:srgbClr val="CC3300"/>
                </a:solidFill>
                <a:latin typeface="Times New Roman" panose="02020603050405020304" pitchFamily="18" charset="0"/>
                <a:ea typeface="微软雅黑" panose="020B0503020204020204" pitchFamily="34" charset="-122"/>
              </a:rPr>
              <a:t>≤ </a:t>
            </a:r>
            <a:r>
              <a:rPr lang="en-US" altLang="zh-CN" sz="2200" dirty="0">
                <a:solidFill>
                  <a:srgbClr val="CC3300"/>
                </a:solidFill>
                <a:latin typeface="Arial" panose="020B0604020202020204" pitchFamily="34" charset="0"/>
                <a:ea typeface="微软雅黑" panose="020B0503020204020204" pitchFamily="34" charset="-122"/>
              </a:rPr>
              <a:t>x*y &lt; 2</a:t>
            </a:r>
            <a:r>
              <a:rPr lang="en-US" altLang="zh-CN" sz="2200" baseline="30000" dirty="0">
                <a:solidFill>
                  <a:srgbClr val="CC3300"/>
                </a:solidFill>
                <a:latin typeface="Arial" panose="020B0604020202020204" pitchFamily="34" charset="0"/>
                <a:ea typeface="微软雅黑" panose="020B0503020204020204" pitchFamily="34" charset="-122"/>
              </a:rPr>
              <a:t>n-1</a:t>
            </a:r>
            <a:r>
              <a:rPr lang="en-US" altLang="zh-CN" sz="2200" dirty="0">
                <a:solidFill>
                  <a:srgbClr val="CC3300"/>
                </a:solidFill>
                <a:latin typeface="Arial" panose="020B0604020202020204" pitchFamily="34" charset="0"/>
                <a:ea typeface="微软雅黑" panose="020B0503020204020204" pitchFamily="34" charset="-122"/>
              </a:rPr>
              <a:t> </a:t>
            </a:r>
            <a:r>
              <a:rPr lang="zh-CN" altLang="en-US" sz="2200" dirty="0">
                <a:latin typeface="Arial" panose="020B0604020202020204" pitchFamily="34" charset="0"/>
                <a:ea typeface="微软雅黑" panose="020B0503020204020204" pitchFamily="34" charset="-122"/>
              </a:rPr>
              <a:t>（不溢出）</a:t>
            </a:r>
            <a:r>
              <a:rPr lang="zh-CN" altLang="en-US" sz="2200" dirty="0">
                <a:solidFill>
                  <a:srgbClr val="CC3300"/>
                </a:solidFill>
                <a:latin typeface="Arial" panose="020B0604020202020204" pitchFamily="34" charset="0"/>
                <a:ea typeface="微软雅黑" panose="020B0503020204020204" pitchFamily="34" charset="-122"/>
              </a:rPr>
              <a:t>时</a:t>
            </a:r>
            <a:endParaRPr lang="zh-CN" altLang="en-US" sz="2200" dirty="0">
              <a:solidFill>
                <a:srgbClr val="CC3300"/>
              </a:solidFill>
              <a:latin typeface="Arial" panose="020B0604020202020204" pitchFamily="34" charset="0"/>
              <a:ea typeface="微软雅黑" panose="020B0503020204020204" pitchFamily="34" charset="-122"/>
            </a:endParaRPr>
          </a:p>
          <a:p>
            <a:pPr>
              <a:spcBef>
                <a:spcPct val="20000"/>
              </a:spcBef>
            </a:pPr>
            <a:r>
              <a:rPr lang="zh-CN" altLang="en-US" sz="2200" dirty="0">
                <a:solidFill>
                  <a:srgbClr val="CC3300"/>
                </a:solidFill>
                <a:latin typeface="Arial" panose="020B0604020202020204" pitchFamily="34" charset="0"/>
                <a:ea typeface="微软雅黑" panose="020B0503020204020204" pitchFamily="34" charset="-122"/>
              </a:rPr>
              <a:t>即：乘积的高</a:t>
            </a:r>
            <a:r>
              <a:rPr lang="en-US" altLang="zh-CN" sz="2200" dirty="0">
                <a:solidFill>
                  <a:srgbClr val="CC3300"/>
                </a:solidFill>
                <a:latin typeface="Arial" panose="020B0604020202020204" pitchFamily="34" charset="0"/>
                <a:ea typeface="微软雅黑" panose="020B0503020204020204" pitchFamily="34" charset="-122"/>
              </a:rPr>
              <a:t>n</a:t>
            </a:r>
            <a:r>
              <a:rPr lang="zh-CN" altLang="en-US" sz="2200" dirty="0">
                <a:solidFill>
                  <a:srgbClr val="CC3300"/>
                </a:solidFill>
                <a:latin typeface="Arial" panose="020B0604020202020204" pitchFamily="34" charset="0"/>
                <a:ea typeface="微软雅黑" panose="020B0503020204020204" pitchFamily="34" charset="-122"/>
              </a:rPr>
              <a:t>位为全</a:t>
            </a:r>
            <a:r>
              <a:rPr lang="en-US" altLang="zh-CN" sz="2200" dirty="0">
                <a:solidFill>
                  <a:srgbClr val="CC3300"/>
                </a:solidFill>
                <a:latin typeface="Arial" panose="020B0604020202020204" pitchFamily="34" charset="0"/>
                <a:ea typeface="微软雅黑" panose="020B0503020204020204" pitchFamily="34" charset="-122"/>
              </a:rPr>
              <a:t>0</a:t>
            </a:r>
            <a:r>
              <a:rPr lang="zh-CN" altLang="en-US" sz="2200" dirty="0">
                <a:solidFill>
                  <a:srgbClr val="CC3300"/>
                </a:solidFill>
                <a:latin typeface="Arial" panose="020B0604020202020204" pitchFamily="34" charset="0"/>
                <a:ea typeface="微软雅黑" panose="020B0503020204020204" pitchFamily="34" charset="-122"/>
              </a:rPr>
              <a:t>或全</a:t>
            </a:r>
            <a:r>
              <a:rPr lang="en-US" altLang="zh-CN" sz="2200" dirty="0">
                <a:solidFill>
                  <a:srgbClr val="CC3300"/>
                </a:solidFill>
                <a:latin typeface="Arial" panose="020B0604020202020204" pitchFamily="34" charset="0"/>
                <a:ea typeface="微软雅黑" panose="020B0503020204020204" pitchFamily="34" charset="-122"/>
              </a:rPr>
              <a:t>1</a:t>
            </a:r>
            <a:r>
              <a:rPr lang="zh-CN" altLang="en-US" sz="2200" dirty="0">
                <a:solidFill>
                  <a:srgbClr val="CC3300"/>
                </a:solidFill>
                <a:latin typeface="Arial" panose="020B0604020202020204" pitchFamily="34" charset="0"/>
                <a:ea typeface="微软雅黑" panose="020B0503020204020204" pitchFamily="34" charset="-122"/>
              </a:rPr>
              <a:t>，并等于低</a:t>
            </a:r>
            <a:r>
              <a:rPr lang="en-US" altLang="zh-CN" sz="2200" dirty="0">
                <a:solidFill>
                  <a:srgbClr val="CC3300"/>
                </a:solidFill>
                <a:latin typeface="Arial" panose="020B0604020202020204" pitchFamily="34" charset="0"/>
                <a:ea typeface="微软雅黑" panose="020B0503020204020204" pitchFamily="34" charset="-122"/>
              </a:rPr>
              <a:t>n</a:t>
            </a:r>
            <a:r>
              <a:rPr lang="zh-CN" altLang="en-US" sz="2200" dirty="0">
                <a:solidFill>
                  <a:srgbClr val="CC3300"/>
                </a:solidFill>
                <a:latin typeface="Arial" panose="020B0604020202020204" pitchFamily="34" charset="0"/>
                <a:ea typeface="微软雅黑" panose="020B0503020204020204" pitchFamily="34" charset="-122"/>
              </a:rPr>
              <a:t>位的最高位！</a:t>
            </a:r>
            <a:endParaRPr lang="zh-CN" altLang="en-US" sz="2200" dirty="0">
              <a:solidFill>
                <a:srgbClr val="CC3300"/>
              </a:solidFill>
              <a:latin typeface="Arial" panose="020B0604020202020204" pitchFamily="34" charset="0"/>
              <a:ea typeface="微软雅黑" panose="020B0503020204020204" pitchFamily="34" charset="-122"/>
            </a:endParaRPr>
          </a:p>
          <a:p>
            <a:pPr>
              <a:spcBef>
                <a:spcPct val="20000"/>
              </a:spcBef>
            </a:pPr>
            <a:r>
              <a:rPr lang="zh-CN" altLang="en-US" sz="2200" dirty="0">
                <a:solidFill>
                  <a:srgbClr val="CC3300"/>
                </a:solidFill>
                <a:latin typeface="Arial" panose="020B0604020202020204" pitchFamily="34" charset="0"/>
                <a:ea typeface="微软雅黑" panose="020B0503020204020204" pitchFamily="34" charset="-122"/>
              </a:rPr>
              <a:t>即：乘积的高</a:t>
            </a:r>
            <a:r>
              <a:rPr lang="en-US" altLang="zh-CN" sz="2200" dirty="0">
                <a:solidFill>
                  <a:srgbClr val="CC3300"/>
                </a:solidFill>
                <a:latin typeface="Arial" panose="020B0604020202020204" pitchFamily="34" charset="0"/>
                <a:ea typeface="微软雅黑" panose="020B0503020204020204" pitchFamily="34" charset="-122"/>
              </a:rPr>
              <a:t>n+1</a:t>
            </a:r>
            <a:r>
              <a:rPr lang="zh-CN" altLang="en-US" sz="2200" dirty="0">
                <a:solidFill>
                  <a:srgbClr val="CC3300"/>
                </a:solidFill>
                <a:latin typeface="Arial" panose="020B0604020202020204" pitchFamily="34" charset="0"/>
                <a:ea typeface="微软雅黑" panose="020B0503020204020204" pitchFamily="34" charset="-122"/>
              </a:rPr>
              <a:t>位为全</a:t>
            </a:r>
            <a:r>
              <a:rPr lang="en-US" altLang="zh-CN" sz="2200" dirty="0">
                <a:solidFill>
                  <a:srgbClr val="CC3300"/>
                </a:solidFill>
                <a:latin typeface="Arial" panose="020B0604020202020204" pitchFamily="34" charset="0"/>
                <a:ea typeface="微软雅黑" panose="020B0503020204020204" pitchFamily="34" charset="-122"/>
              </a:rPr>
              <a:t>0</a:t>
            </a:r>
            <a:r>
              <a:rPr lang="zh-CN" altLang="en-US" sz="2200" dirty="0">
                <a:solidFill>
                  <a:srgbClr val="CC3300"/>
                </a:solidFill>
                <a:latin typeface="Arial" panose="020B0604020202020204" pitchFamily="34" charset="0"/>
                <a:ea typeface="微软雅黑" panose="020B0503020204020204" pitchFamily="34" charset="-122"/>
              </a:rPr>
              <a:t>或全</a:t>
            </a:r>
            <a:r>
              <a:rPr lang="en-US" altLang="zh-CN" sz="2200" dirty="0">
                <a:solidFill>
                  <a:srgbClr val="CC3300"/>
                </a:solidFill>
                <a:latin typeface="Arial" panose="020B0604020202020204" pitchFamily="34" charset="0"/>
                <a:ea typeface="微软雅黑" panose="020B0503020204020204" pitchFamily="34" charset="-122"/>
              </a:rPr>
              <a:t>1</a:t>
            </a:r>
            <a:endParaRPr lang="en-US" altLang="zh-CN" sz="2200" dirty="0">
              <a:solidFill>
                <a:srgbClr val="CC3300"/>
              </a:solidFill>
              <a:latin typeface="Arial" panose="020B0604020202020204" pitchFamily="34" charset="0"/>
              <a:ea typeface="微软雅黑" panose="020B0503020204020204" pitchFamily="34" charset="-122"/>
            </a:endParaRPr>
          </a:p>
        </p:txBody>
      </p:sp>
      <p:sp>
        <p:nvSpPr>
          <p:cNvPr id="77840" name="Rectangle 17"/>
          <p:cNvSpPr/>
          <p:nvPr/>
        </p:nvSpPr>
        <p:spPr>
          <a:xfrm>
            <a:off x="296863" y="3249613"/>
            <a:ext cx="3689350" cy="2073275"/>
          </a:xfrm>
          <a:prstGeom prst="rect">
            <a:avLst/>
          </a:prstGeom>
          <a:solidFill>
            <a:srgbClr val="FFCC99"/>
          </a:solidFill>
          <a:ln w="9525" cap="flat" cmpd="sng">
            <a:solidFill>
              <a:schemeClr val="tx1"/>
            </a:solidFill>
            <a:prstDash val="solid"/>
            <a:miter/>
            <a:headEnd type="none" w="med" len="med"/>
            <a:tailEnd type="none" w="med" len="med"/>
          </a:ln>
        </p:spPr>
        <p:txBody>
          <a:bodyPr anchor="t" anchorCtr="0">
            <a:spAutoFit/>
          </a:bodyPr>
          <a:p>
            <a:pPr lvl="1" indent="0" eaLnBrk="1" hangingPunct="1">
              <a:spcBef>
                <a:spcPct val="10000"/>
              </a:spcBef>
            </a:pPr>
            <a:r>
              <a:rPr lang="en-US" altLang="zh-CN" sz="2400" dirty="0">
                <a:solidFill>
                  <a:srgbClr val="CC3300"/>
                </a:solidFill>
                <a:latin typeface="微软雅黑" panose="020B0503020204020204" pitchFamily="34" charset="-122"/>
                <a:ea typeface="微软雅黑" panose="020B0503020204020204" pitchFamily="34" charset="-122"/>
              </a:rPr>
              <a:t>int</a:t>
            </a:r>
            <a:r>
              <a:rPr lang="en-US" altLang="zh-CN" sz="2400" dirty="0">
                <a:solidFill>
                  <a:srgbClr val="008000"/>
                </a:solidFill>
                <a:latin typeface="微软雅黑" panose="020B0503020204020204" pitchFamily="34" charset="-122"/>
                <a:ea typeface="微软雅黑" panose="020B0503020204020204" pitchFamily="34" charset="-122"/>
              </a:rPr>
              <a:t> mul(</a:t>
            </a:r>
            <a:r>
              <a:rPr lang="en-US" altLang="zh-CN" sz="2400" dirty="0">
                <a:solidFill>
                  <a:srgbClr val="CC3300"/>
                </a:solidFill>
                <a:latin typeface="微软雅黑" panose="020B0503020204020204" pitchFamily="34" charset="-122"/>
                <a:ea typeface="微软雅黑" panose="020B0503020204020204" pitchFamily="34" charset="-122"/>
              </a:rPr>
              <a:t>int</a:t>
            </a:r>
            <a:r>
              <a:rPr lang="en-US" altLang="zh-CN" sz="2400" dirty="0">
                <a:solidFill>
                  <a:srgbClr val="008000"/>
                </a:solidFill>
                <a:latin typeface="微软雅黑" panose="020B0503020204020204" pitchFamily="34" charset="-122"/>
                <a:ea typeface="微软雅黑" panose="020B0503020204020204" pitchFamily="34" charset="-122"/>
              </a:rPr>
              <a:t> x, </a:t>
            </a:r>
            <a:r>
              <a:rPr lang="en-US" altLang="zh-CN" sz="2400" dirty="0">
                <a:solidFill>
                  <a:srgbClr val="CC3300"/>
                </a:solidFill>
                <a:latin typeface="微软雅黑" panose="020B0503020204020204" pitchFamily="34" charset="-122"/>
                <a:ea typeface="微软雅黑" panose="020B0503020204020204" pitchFamily="34" charset="-122"/>
              </a:rPr>
              <a:t>int</a:t>
            </a:r>
            <a:r>
              <a:rPr lang="en-US" altLang="zh-CN" sz="2400" dirty="0">
                <a:solidFill>
                  <a:srgbClr val="008000"/>
                </a:solidFill>
                <a:latin typeface="微软雅黑" panose="020B0503020204020204" pitchFamily="34" charset="-122"/>
                <a:ea typeface="微软雅黑" panose="020B0503020204020204" pitchFamily="34" charset="-122"/>
              </a:rPr>
              <a:t> y)</a:t>
            </a:r>
            <a:endParaRPr lang="en-US" altLang="zh-CN" sz="2400" dirty="0">
              <a:solidFill>
                <a:srgbClr val="008000"/>
              </a:solidFill>
              <a:latin typeface="微软雅黑" panose="020B0503020204020204" pitchFamily="34" charset="-122"/>
              <a:ea typeface="微软雅黑" panose="020B0503020204020204" pitchFamily="34" charset="-122"/>
            </a:endParaRPr>
          </a:p>
          <a:p>
            <a:pPr lvl="1" indent="0" eaLnBrk="1" hangingPunct="1">
              <a:spcBef>
                <a:spcPct val="10000"/>
              </a:spcBef>
            </a:pPr>
            <a:r>
              <a:rPr lang="en-US" altLang="zh-CN" sz="2400" dirty="0">
                <a:solidFill>
                  <a:srgbClr val="008000"/>
                </a:solidFill>
                <a:latin typeface="微软雅黑" panose="020B0503020204020204" pitchFamily="34" charset="-122"/>
                <a:ea typeface="微软雅黑" panose="020B0503020204020204" pitchFamily="34" charset="-122"/>
              </a:rPr>
              <a:t>{ </a:t>
            </a:r>
            <a:endParaRPr lang="en-US" altLang="zh-CN" sz="2400" dirty="0">
              <a:solidFill>
                <a:srgbClr val="008000"/>
              </a:solidFill>
              <a:latin typeface="微软雅黑" panose="020B0503020204020204" pitchFamily="34" charset="-122"/>
              <a:ea typeface="微软雅黑" panose="020B0503020204020204" pitchFamily="34" charset="-122"/>
            </a:endParaRPr>
          </a:p>
          <a:p>
            <a:pPr lvl="1" indent="0" eaLnBrk="1" hangingPunct="1">
              <a:spcBef>
                <a:spcPct val="10000"/>
              </a:spcBef>
            </a:pPr>
            <a:r>
              <a:rPr lang="en-US" altLang="zh-CN" sz="2400" dirty="0">
                <a:solidFill>
                  <a:srgbClr val="008000"/>
                </a:solidFill>
                <a:latin typeface="微软雅黑" panose="020B0503020204020204" pitchFamily="34" charset="-122"/>
                <a:ea typeface="微软雅黑" panose="020B0503020204020204" pitchFamily="34" charset="-122"/>
              </a:rPr>
              <a:t>	</a:t>
            </a:r>
            <a:r>
              <a:rPr lang="en-US" altLang="zh-CN" sz="2400" dirty="0">
                <a:solidFill>
                  <a:srgbClr val="CC3300"/>
                </a:solidFill>
                <a:latin typeface="微软雅黑" panose="020B0503020204020204" pitchFamily="34" charset="-122"/>
                <a:ea typeface="微软雅黑" panose="020B0503020204020204" pitchFamily="34" charset="-122"/>
              </a:rPr>
              <a:t>int</a:t>
            </a:r>
            <a:r>
              <a:rPr lang="en-US" altLang="zh-CN" sz="2400" dirty="0">
                <a:solidFill>
                  <a:srgbClr val="008000"/>
                </a:solidFill>
                <a:latin typeface="微软雅黑" panose="020B0503020204020204" pitchFamily="34" charset="-122"/>
                <a:ea typeface="微软雅黑" panose="020B0503020204020204" pitchFamily="34" charset="-122"/>
              </a:rPr>
              <a:t> z=x*y;</a:t>
            </a:r>
            <a:endParaRPr lang="en-US" altLang="zh-CN" sz="2400" dirty="0">
              <a:solidFill>
                <a:srgbClr val="008000"/>
              </a:solidFill>
              <a:latin typeface="微软雅黑" panose="020B0503020204020204" pitchFamily="34" charset="-122"/>
              <a:ea typeface="微软雅黑" panose="020B0503020204020204" pitchFamily="34" charset="-122"/>
            </a:endParaRPr>
          </a:p>
          <a:p>
            <a:pPr lvl="1" indent="0" eaLnBrk="1" hangingPunct="1">
              <a:spcBef>
                <a:spcPct val="10000"/>
              </a:spcBef>
            </a:pPr>
            <a:r>
              <a:rPr lang="en-US" altLang="zh-CN" sz="2400" dirty="0">
                <a:solidFill>
                  <a:srgbClr val="008000"/>
                </a:solidFill>
                <a:latin typeface="微软雅黑" panose="020B0503020204020204" pitchFamily="34" charset="-122"/>
                <a:ea typeface="微软雅黑" panose="020B0503020204020204" pitchFamily="34" charset="-122"/>
              </a:rPr>
              <a:t>  	return z;</a:t>
            </a:r>
            <a:endParaRPr lang="en-US" altLang="zh-CN" sz="2400" dirty="0">
              <a:solidFill>
                <a:srgbClr val="008000"/>
              </a:solidFill>
              <a:latin typeface="微软雅黑" panose="020B0503020204020204" pitchFamily="34" charset="-122"/>
              <a:ea typeface="微软雅黑" panose="020B0503020204020204" pitchFamily="34" charset="-122"/>
            </a:endParaRPr>
          </a:p>
          <a:p>
            <a:pPr lvl="1" indent="0" eaLnBrk="1" hangingPunct="1">
              <a:spcBef>
                <a:spcPct val="10000"/>
              </a:spcBef>
            </a:pPr>
            <a:r>
              <a:rPr lang="en-US" altLang="zh-CN" sz="2400" dirty="0">
                <a:solidFill>
                  <a:srgbClr val="008000"/>
                </a:solidFill>
                <a:latin typeface="微软雅黑" panose="020B0503020204020204" pitchFamily="34" charset="-122"/>
                <a:ea typeface="微软雅黑" panose="020B0503020204020204" pitchFamily="34" charset="-122"/>
              </a:rPr>
              <a:t>}</a:t>
            </a:r>
            <a:endParaRPr lang="en-US" altLang="zh-CN" sz="2400" dirty="0">
              <a:solidFill>
                <a:srgbClr val="008000"/>
              </a:solidFill>
              <a:latin typeface="微软雅黑" panose="020B0503020204020204" pitchFamily="34" charset="-122"/>
              <a:ea typeface="微软雅黑" panose="020B0503020204020204" pitchFamily="34" charset="-122"/>
            </a:endParaRPr>
          </a:p>
        </p:txBody>
      </p:sp>
      <p:sp>
        <p:nvSpPr>
          <p:cNvPr id="77841" name="Text Box 18"/>
          <p:cNvSpPr txBox="1"/>
          <p:nvPr/>
        </p:nvSpPr>
        <p:spPr>
          <a:xfrm>
            <a:off x="115888" y="5454650"/>
            <a:ext cx="4095750" cy="762000"/>
          </a:xfrm>
          <a:prstGeom prst="rect">
            <a:avLst/>
          </a:prstGeom>
          <a:noFill/>
          <a:ln w="9525">
            <a:noFill/>
          </a:ln>
        </p:spPr>
        <p:txBody>
          <a:bodyPr anchor="t" anchorCtr="0">
            <a:spAutoFit/>
          </a:bodyPr>
          <a:p>
            <a:pPr>
              <a:spcBef>
                <a:spcPct val="50000"/>
              </a:spcBef>
            </a:pPr>
            <a:r>
              <a:rPr lang="zh-CN" altLang="en-US" sz="2200" dirty="0">
                <a:latin typeface="微软雅黑" panose="020B0503020204020204" pitchFamily="34" charset="-122"/>
                <a:ea typeface="微软雅黑" panose="020B0503020204020204" pitchFamily="34" charset="-122"/>
              </a:rPr>
              <a:t>若</a:t>
            </a:r>
            <a:r>
              <a:rPr lang="en-US" altLang="zh-CN" sz="2200" dirty="0">
                <a:latin typeface="微软雅黑" panose="020B0503020204020204" pitchFamily="34" charset="-122"/>
                <a:ea typeface="微软雅黑" panose="020B0503020204020204" pitchFamily="34" charset="-122"/>
              </a:rPr>
              <a:t>x</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y</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z</a:t>
            </a:r>
            <a:r>
              <a:rPr lang="zh-CN" altLang="en-US" sz="2200" dirty="0">
                <a:latin typeface="微软雅黑" panose="020B0503020204020204" pitchFamily="34" charset="-122"/>
                <a:ea typeface="微软雅黑" panose="020B0503020204020204" pitchFamily="34" charset="-122"/>
              </a:rPr>
              <a:t>都改成</a:t>
            </a:r>
            <a:r>
              <a:rPr lang="en-US" altLang="zh-CN" sz="2200" dirty="0">
                <a:solidFill>
                  <a:srgbClr val="FF0000"/>
                </a:solidFill>
                <a:latin typeface="微软雅黑" panose="020B0503020204020204" pitchFamily="34" charset="-122"/>
                <a:ea typeface="微软雅黑" panose="020B0503020204020204" pitchFamily="34" charset="-122"/>
              </a:rPr>
              <a:t>unsigned</a:t>
            </a:r>
            <a:r>
              <a:rPr lang="zh-CN" altLang="en-US" sz="2200" dirty="0">
                <a:latin typeface="微软雅黑" panose="020B0503020204020204" pitchFamily="34" charset="-122"/>
                <a:ea typeface="微软雅黑" panose="020B0503020204020204" pitchFamily="34" charset="-122"/>
              </a:rPr>
              <a:t>类型，则判断方式为</a:t>
            </a:r>
            <a:endParaRPr lang="zh-CN" altLang="en-US" sz="2200" dirty="0">
              <a:latin typeface="微软雅黑" panose="020B0503020204020204" pitchFamily="34" charset="-122"/>
              <a:ea typeface="微软雅黑" panose="020B0503020204020204" pitchFamily="34" charset="-122"/>
            </a:endParaRPr>
          </a:p>
        </p:txBody>
      </p:sp>
      <p:sp>
        <p:nvSpPr>
          <p:cNvPr id="77842" name="Text Box 19"/>
          <p:cNvSpPr txBox="1"/>
          <p:nvPr/>
        </p:nvSpPr>
        <p:spPr>
          <a:xfrm>
            <a:off x="7812088" y="2033588"/>
            <a:ext cx="809625" cy="762000"/>
          </a:xfrm>
          <a:prstGeom prst="rect">
            <a:avLst/>
          </a:prstGeom>
          <a:noFill/>
          <a:ln w="9525">
            <a:noFill/>
          </a:ln>
        </p:spPr>
        <p:txBody>
          <a:bodyPr anchor="t" anchorCtr="0">
            <a:spAutoFit/>
          </a:bodyPr>
          <a:p>
            <a:pPr>
              <a:spcBef>
                <a:spcPct val="50000"/>
              </a:spcBef>
            </a:pPr>
            <a:r>
              <a:rPr lang="zh-CN" altLang="en-US" sz="2200" dirty="0">
                <a:solidFill>
                  <a:srgbClr val="FF0000"/>
                </a:solidFill>
                <a:latin typeface="Arial" panose="020B0604020202020204" pitchFamily="34" charset="0"/>
                <a:ea typeface="微软雅黑" panose="020B0503020204020204" pitchFamily="34" charset="-122"/>
              </a:rPr>
              <a:t>结果溢出</a:t>
            </a:r>
            <a:endParaRPr lang="zh-CN" altLang="en-US" sz="2200" dirty="0">
              <a:solidFill>
                <a:srgbClr val="FF0000"/>
              </a:solidFill>
              <a:latin typeface="Arial" panose="020B0604020202020204" pitchFamily="34" charset="0"/>
              <a:ea typeface="微软雅黑" panose="020B0503020204020204" pitchFamily="34" charset="-122"/>
            </a:endParaRPr>
          </a:p>
        </p:txBody>
      </p:sp>
      <p:sp>
        <p:nvSpPr>
          <p:cNvPr id="77843" name="Rectangle 20"/>
          <p:cNvSpPr/>
          <p:nvPr/>
        </p:nvSpPr>
        <p:spPr>
          <a:xfrm>
            <a:off x="206375" y="6219825"/>
            <a:ext cx="3960813" cy="427038"/>
          </a:xfrm>
          <a:prstGeom prst="rect">
            <a:avLst/>
          </a:prstGeom>
          <a:noFill/>
          <a:ln w="9525">
            <a:noFill/>
          </a:ln>
        </p:spPr>
        <p:txBody>
          <a:bodyPr anchor="t" anchorCtr="0">
            <a:spAutoFit/>
          </a:bodyPr>
          <a:p>
            <a:r>
              <a:rPr lang="zh-CN" altLang="en-US" sz="2200" dirty="0">
                <a:solidFill>
                  <a:srgbClr val="CC3300"/>
                </a:solidFill>
                <a:latin typeface="微软雅黑" panose="020B0503020204020204" pitchFamily="34" charset="-122"/>
                <a:ea typeface="微软雅黑" panose="020B0503020204020204" pitchFamily="34" charset="-122"/>
              </a:rPr>
              <a:t>乘积的高</a:t>
            </a:r>
            <a:r>
              <a:rPr lang="en-US" altLang="zh-CN" sz="2200" dirty="0">
                <a:solidFill>
                  <a:srgbClr val="CC3300"/>
                </a:solidFill>
                <a:latin typeface="微软雅黑" panose="020B0503020204020204" pitchFamily="34" charset="-122"/>
                <a:ea typeface="微软雅黑" panose="020B0503020204020204" pitchFamily="34" charset="-122"/>
              </a:rPr>
              <a:t>n</a:t>
            </a:r>
            <a:r>
              <a:rPr lang="zh-CN" altLang="en-US" sz="2200" dirty="0">
                <a:solidFill>
                  <a:srgbClr val="CC3300"/>
                </a:solidFill>
                <a:latin typeface="微软雅黑" panose="020B0503020204020204" pitchFamily="34" charset="-122"/>
                <a:ea typeface="微软雅黑" panose="020B0503020204020204" pitchFamily="34" charset="-122"/>
              </a:rPr>
              <a:t>位为全</a:t>
            </a:r>
            <a:r>
              <a:rPr lang="en-US" altLang="zh-CN" sz="2200" dirty="0">
                <a:solidFill>
                  <a:srgbClr val="CC3300"/>
                </a:solidFill>
                <a:latin typeface="微软雅黑" panose="020B0503020204020204" pitchFamily="34" charset="-122"/>
                <a:ea typeface="微软雅黑" panose="020B0503020204020204" pitchFamily="34" charset="-122"/>
              </a:rPr>
              <a:t>0</a:t>
            </a:r>
            <a:r>
              <a:rPr lang="zh-CN" altLang="en-US" sz="2200" dirty="0">
                <a:solidFill>
                  <a:srgbClr val="CC3300"/>
                </a:solidFill>
                <a:latin typeface="微软雅黑" panose="020B0503020204020204" pitchFamily="34" charset="-122"/>
                <a:ea typeface="微软雅黑" panose="020B0503020204020204" pitchFamily="34" charset="-122"/>
              </a:rPr>
              <a:t>，则不溢出</a:t>
            </a:r>
            <a:endParaRPr lang="zh-CN" altLang="en-US" sz="2200" dirty="0">
              <a:solidFill>
                <a:srgbClr val="CC3300"/>
              </a:solidFill>
              <a:latin typeface="微软雅黑" panose="020B0503020204020204" pitchFamily="34" charset="-122"/>
              <a:ea typeface="微软雅黑" panose="020B0503020204020204" pitchFamily="34" charset="-122"/>
            </a:endParaRPr>
          </a:p>
        </p:txBody>
      </p:sp>
      <p:sp>
        <p:nvSpPr>
          <p:cNvPr id="77844" name="Line 21"/>
          <p:cNvSpPr/>
          <p:nvPr/>
        </p:nvSpPr>
        <p:spPr>
          <a:xfrm flipV="1">
            <a:off x="2457450" y="4194175"/>
            <a:ext cx="2070100" cy="1755775"/>
          </a:xfrm>
          <a:prstGeom prst="line">
            <a:avLst/>
          </a:prstGeom>
          <a:ln w="38100" cap="flat" cmpd="sng">
            <a:solidFill>
              <a:srgbClr val="FF0000"/>
            </a:solidFill>
            <a:prstDash val="solid"/>
            <a:round/>
            <a:headEnd type="none" w="med" len="med"/>
            <a:tailEnd type="triangle" w="med" len="med"/>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2"/>
          <p:cNvSpPr>
            <a:spLocks noGrp="1"/>
          </p:cNvSpPr>
          <p:nvPr>
            <p:ph type="title"/>
          </p:nvPr>
        </p:nvSpPr>
        <p:spPr>
          <a:xfrm>
            <a:off x="457200" y="98425"/>
            <a:ext cx="8229600" cy="479425"/>
          </a:xfrm>
          <a:ln/>
        </p:spPr>
        <p:txBody>
          <a:bodyPr vert="horz" wrap="square" lIns="63500" tIns="25400" rIns="63500" bIns="25400" anchor="t" anchorCtr="0">
            <a:spAutoFit/>
          </a:bodyPr>
          <a:p>
            <a:r>
              <a:rPr lang="zh-CN" altLang="en-US" dirty="0">
                <a:ea typeface="宋体" panose="02010600030101010101" pitchFamily="2" charset="-122"/>
              </a:rPr>
              <a:t>整数的乘运算</a:t>
            </a:r>
            <a:endParaRPr lang="zh-CN" altLang="en-US" dirty="0">
              <a:ea typeface="宋体" panose="02010600030101010101" pitchFamily="2" charset="-122"/>
            </a:endParaRPr>
          </a:p>
        </p:txBody>
      </p:sp>
      <p:sp>
        <p:nvSpPr>
          <p:cNvPr id="79874" name="Rectangle 3"/>
          <p:cNvSpPr>
            <a:spLocks noGrp="1"/>
          </p:cNvSpPr>
          <p:nvPr>
            <p:ph idx="1"/>
          </p:nvPr>
        </p:nvSpPr>
        <p:spPr>
          <a:xfrm>
            <a:off x="296863" y="747713"/>
            <a:ext cx="8401050" cy="5772150"/>
          </a:xfrm>
          <a:ln/>
        </p:spPr>
        <p:txBody>
          <a:bodyPr vert="horz" wrap="square" lIns="63500" tIns="25400" rIns="63500" bIns="25400" anchor="t" anchorCtr="0">
            <a:spAutoFit/>
          </a:bodyPr>
          <a:p>
            <a:pPr>
              <a:lnSpc>
                <a:spcPts val="2900"/>
              </a:lnSpc>
            </a:pPr>
            <a:r>
              <a:rPr lang="zh-CN" altLang="en-US" sz="2000" dirty="0">
                <a:solidFill>
                  <a:srgbClr val="FF0000"/>
                </a:solidFill>
                <a:latin typeface="微软雅黑" panose="020B0503020204020204" pitchFamily="34" charset="-122"/>
                <a:ea typeface="微软雅黑" panose="020B0503020204020204" pitchFamily="34" charset="-122"/>
              </a:rPr>
              <a:t>硬件</a:t>
            </a:r>
            <a:r>
              <a:rPr lang="zh-CN" altLang="en-US" sz="2000" dirty="0">
                <a:latin typeface="微软雅黑" panose="020B0503020204020204" pitchFamily="34" charset="-122"/>
                <a:ea typeface="微软雅黑" panose="020B0503020204020204" pitchFamily="34" charset="-122"/>
              </a:rPr>
              <a:t>可保留</a:t>
            </a:r>
            <a:r>
              <a:rPr lang="en-US" altLang="zh-CN" sz="2000" dirty="0">
                <a:latin typeface="微软雅黑" panose="020B0503020204020204" pitchFamily="34" charset="-122"/>
                <a:ea typeface="微软雅黑" panose="020B0503020204020204" pitchFamily="34" charset="-122"/>
              </a:rPr>
              <a:t>2n</a:t>
            </a:r>
            <a:r>
              <a:rPr lang="zh-CN" altLang="en-US" sz="2000" dirty="0">
                <a:latin typeface="微软雅黑" panose="020B0503020204020204" pitchFamily="34" charset="-122"/>
                <a:ea typeface="微软雅黑" panose="020B0503020204020204" pitchFamily="34" charset="-122"/>
              </a:rPr>
              <a:t>位乘积，故有些指令的乘积为</a:t>
            </a:r>
            <a:r>
              <a:rPr lang="en-US" altLang="zh-CN" sz="2000" dirty="0">
                <a:latin typeface="微软雅黑" panose="020B0503020204020204" pitchFamily="34" charset="-122"/>
                <a:ea typeface="微软雅黑" panose="020B0503020204020204" pitchFamily="34" charset="-122"/>
              </a:rPr>
              <a:t>2n</a:t>
            </a:r>
            <a:r>
              <a:rPr lang="zh-CN" altLang="en-US" sz="2000" dirty="0">
                <a:latin typeface="微软雅黑" panose="020B0503020204020204" pitchFamily="34" charset="-122"/>
                <a:ea typeface="微软雅黑" panose="020B0503020204020204" pitchFamily="34" charset="-122"/>
              </a:rPr>
              <a:t>位，可供软件使用</a:t>
            </a:r>
            <a:endParaRPr lang="zh-CN" altLang="en-US" sz="2000" dirty="0">
              <a:latin typeface="微软雅黑" panose="020B0503020204020204" pitchFamily="34" charset="-122"/>
              <a:ea typeface="微软雅黑" panose="020B0503020204020204" pitchFamily="34" charset="-122"/>
            </a:endParaRPr>
          </a:p>
          <a:p>
            <a:pPr>
              <a:lnSpc>
                <a:spcPts val="2900"/>
              </a:lnSpc>
            </a:pPr>
            <a:r>
              <a:rPr lang="zh-CN" altLang="en-US" sz="2000" dirty="0">
                <a:latin typeface="微软雅黑" panose="020B0503020204020204" pitchFamily="34" charset="-122"/>
                <a:ea typeface="微软雅黑" panose="020B0503020204020204" pitchFamily="34" charset="-122"/>
              </a:rPr>
              <a:t>如果程序不采用防止溢出的措施，且编译器也不生成用于溢出处理的代码，就会发生一些由于整数溢出而带来的问题。</a:t>
            </a:r>
            <a:endParaRPr lang="zh-CN" altLang="en-US" sz="2000" dirty="0">
              <a:latin typeface="微软雅黑" panose="020B0503020204020204" pitchFamily="34" charset="-122"/>
              <a:ea typeface="微软雅黑" panose="020B0503020204020204" pitchFamily="34" charset="-122"/>
            </a:endParaRPr>
          </a:p>
          <a:p>
            <a:pPr>
              <a:lnSpc>
                <a:spcPts val="2900"/>
              </a:lnSpc>
            </a:pPr>
            <a:r>
              <a:rPr lang="zh-CN" altLang="en-US" sz="2000" dirty="0">
                <a:solidFill>
                  <a:srgbClr val="FF0000"/>
                </a:solidFill>
                <a:latin typeface="微软雅黑" panose="020B0503020204020204" pitchFamily="34" charset="-122"/>
                <a:ea typeface="微软雅黑" panose="020B0503020204020204" pitchFamily="34" charset="-122"/>
              </a:rPr>
              <a:t>指令：</a:t>
            </a:r>
            <a:r>
              <a:rPr lang="zh-CN" altLang="en-US" sz="2000" dirty="0">
                <a:latin typeface="微软雅黑" panose="020B0503020204020204" pitchFamily="34" charset="-122"/>
                <a:ea typeface="微软雅黑" panose="020B0503020204020204" pitchFamily="34" charset="-122"/>
              </a:rPr>
              <a:t>分</a:t>
            </a:r>
            <a:r>
              <a:rPr lang="zh-CN" altLang="en-US" sz="2000" dirty="0">
                <a:solidFill>
                  <a:srgbClr val="FF0000"/>
                </a:solidFill>
                <a:latin typeface="微软雅黑" panose="020B0503020204020204" pitchFamily="34" charset="-122"/>
                <a:ea typeface="微软雅黑" panose="020B0503020204020204" pitchFamily="34" charset="-122"/>
              </a:rPr>
              <a:t>无符号</a:t>
            </a:r>
            <a:r>
              <a:rPr lang="zh-CN" altLang="en-US" sz="2000" dirty="0">
                <a:latin typeface="微软雅黑" panose="020B0503020204020204" pitchFamily="34" charset="-122"/>
                <a:ea typeface="微软雅黑" panose="020B0503020204020204" pitchFamily="34" charset="-122"/>
              </a:rPr>
              <a:t>数乘指令、</a:t>
            </a:r>
            <a:r>
              <a:rPr lang="zh-CN" altLang="en-US" sz="2000" dirty="0">
                <a:solidFill>
                  <a:srgbClr val="FF0000"/>
                </a:solidFill>
                <a:latin typeface="微软雅黑" panose="020B0503020204020204" pitchFamily="34" charset="-122"/>
                <a:ea typeface="微软雅黑" panose="020B0503020204020204" pitchFamily="34" charset="-122"/>
              </a:rPr>
              <a:t>带符号</a:t>
            </a:r>
            <a:r>
              <a:rPr lang="zh-CN" altLang="en-US" sz="2000" dirty="0">
                <a:latin typeface="微软雅黑" panose="020B0503020204020204" pitchFamily="34" charset="-122"/>
                <a:ea typeface="微软雅黑" panose="020B0503020204020204" pitchFamily="34" charset="-122"/>
              </a:rPr>
              <a:t>整数乘指令</a:t>
            </a:r>
            <a:endParaRPr lang="zh-CN" altLang="en-US" sz="2000" dirty="0">
              <a:latin typeface="微软雅黑" panose="020B0503020204020204" pitchFamily="34" charset="-122"/>
              <a:ea typeface="微软雅黑" panose="020B0503020204020204" pitchFamily="34" charset="-122"/>
            </a:endParaRPr>
          </a:p>
          <a:p>
            <a:pPr>
              <a:lnSpc>
                <a:spcPts val="2900"/>
              </a:lnSpc>
            </a:pPr>
            <a:r>
              <a:rPr lang="zh-CN" altLang="en-US" sz="2000" dirty="0">
                <a:latin typeface="微软雅黑" panose="020B0503020204020204" pitchFamily="34" charset="-122"/>
                <a:ea typeface="微软雅黑" panose="020B0503020204020204" pitchFamily="34" charset="-122"/>
              </a:rPr>
              <a:t>乘法指令的操作数长度为</a:t>
            </a:r>
            <a:r>
              <a:rPr lang="en-US" altLang="zh-CN" sz="2000" dirty="0">
                <a:solidFill>
                  <a:srgbClr val="FF0000"/>
                </a:solidFill>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而乘积长度为</a:t>
            </a:r>
            <a:r>
              <a:rPr lang="en-US" altLang="zh-CN" sz="2000" dirty="0">
                <a:solidFill>
                  <a:srgbClr val="FF0000"/>
                </a:solidFill>
                <a:latin typeface="微软雅黑" panose="020B0503020204020204" pitchFamily="34" charset="-122"/>
                <a:ea typeface="微软雅黑" panose="020B0503020204020204" pitchFamily="34" charset="-122"/>
              </a:rPr>
              <a:t>2n</a:t>
            </a:r>
            <a:r>
              <a:rPr lang="zh-CN" altLang="en-US" sz="2000" dirty="0">
                <a:latin typeface="微软雅黑" panose="020B0503020204020204" pitchFamily="34" charset="-122"/>
                <a:ea typeface="微软雅黑" panose="020B0503020204020204" pitchFamily="34" charset="-122"/>
              </a:rPr>
              <a:t>，例如：</a:t>
            </a:r>
            <a:endParaRPr lang="zh-CN" altLang="en-US" sz="2000" dirty="0">
              <a:latin typeface="微软雅黑" panose="020B0503020204020204" pitchFamily="34" charset="-122"/>
              <a:ea typeface="微软雅黑" panose="020B0503020204020204" pitchFamily="34" charset="-122"/>
            </a:endParaRPr>
          </a:p>
          <a:p>
            <a:pPr lvl="1">
              <a:lnSpc>
                <a:spcPts val="2900"/>
              </a:lnSpc>
            </a:pPr>
            <a:r>
              <a:rPr lang="en-US" altLang="zh-CN" dirty="0">
                <a:latin typeface="微软雅黑" panose="020B0503020204020204" pitchFamily="34" charset="-122"/>
                <a:ea typeface="微软雅黑" panose="020B0503020204020204" pitchFamily="34" charset="-122"/>
              </a:rPr>
              <a:t>IA-32</a:t>
            </a:r>
            <a:r>
              <a:rPr lang="zh-CN" altLang="en-US" dirty="0">
                <a:latin typeface="微软雅黑" panose="020B0503020204020204" pitchFamily="34" charset="-122"/>
                <a:ea typeface="微软雅黑" panose="020B0503020204020204" pitchFamily="34" charset="-122"/>
              </a:rPr>
              <a:t>中，若指令只给出一个操作数</a:t>
            </a:r>
            <a:r>
              <a:rPr lang="en-US" altLang="zh-CN" dirty="0">
                <a:latin typeface="微软雅黑" panose="020B0503020204020204" pitchFamily="34" charset="-122"/>
                <a:ea typeface="微软雅黑" panose="020B0503020204020204" pitchFamily="34" charset="-122"/>
              </a:rPr>
              <a:t>SRC</a:t>
            </a:r>
            <a:r>
              <a:rPr lang="zh-CN" altLang="en-US" dirty="0">
                <a:latin typeface="微软雅黑" panose="020B0503020204020204" pitchFamily="34" charset="-122"/>
                <a:ea typeface="微软雅黑" panose="020B0503020204020204" pitchFamily="34" charset="-122"/>
              </a:rPr>
              <a:t>，则另一个源操作数隐含在累加器</a:t>
            </a:r>
            <a:r>
              <a:rPr lang="en-US" altLang="zh-CN" dirty="0">
                <a:latin typeface="微软雅黑" panose="020B0503020204020204" pitchFamily="34" charset="-122"/>
                <a:ea typeface="微软雅黑" panose="020B0503020204020204" pitchFamily="34" charset="-122"/>
              </a:rPr>
              <a:t>AL/AX/EAX</a:t>
            </a:r>
            <a:r>
              <a:rPr lang="zh-CN" altLang="en-US" dirty="0">
                <a:latin typeface="微软雅黑" panose="020B0503020204020204" pitchFamily="34" charset="-122"/>
                <a:ea typeface="微软雅黑" panose="020B0503020204020204" pitchFamily="34" charset="-122"/>
              </a:rPr>
              <a:t>中，将</a:t>
            </a:r>
            <a:r>
              <a:rPr lang="en-US" altLang="zh-CN" dirty="0">
                <a:latin typeface="微软雅黑" panose="020B0503020204020204" pitchFamily="34" charset="-122"/>
                <a:ea typeface="微软雅黑" panose="020B0503020204020204" pitchFamily="34" charset="-122"/>
              </a:rPr>
              <a:t>SRC</a:t>
            </a:r>
            <a:r>
              <a:rPr lang="zh-CN" altLang="en-US" dirty="0">
                <a:latin typeface="微软雅黑" panose="020B0503020204020204" pitchFamily="34" charset="-122"/>
                <a:ea typeface="微软雅黑" panose="020B0503020204020204" pitchFamily="34" charset="-122"/>
              </a:rPr>
              <a:t>和累加器内容相乘，结果存放在</a:t>
            </a:r>
            <a:r>
              <a:rPr lang="en-US" altLang="zh-CN" dirty="0">
                <a:latin typeface="微软雅黑" panose="020B0503020204020204" pitchFamily="34" charset="-122"/>
                <a:ea typeface="微软雅黑" panose="020B0503020204020204" pitchFamily="34" charset="-122"/>
              </a:rPr>
              <a:t>AX</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位时）或</a:t>
            </a:r>
            <a:r>
              <a:rPr lang="en-US" altLang="zh-CN" dirty="0">
                <a:latin typeface="微软雅黑" panose="020B0503020204020204" pitchFamily="34" charset="-122"/>
                <a:ea typeface="微软雅黑" panose="020B0503020204020204" pitchFamily="34" charset="-122"/>
              </a:rPr>
              <a:t>DX-AX</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位时）或</a:t>
            </a:r>
            <a:r>
              <a:rPr lang="en-US" altLang="zh-CN" dirty="0">
                <a:latin typeface="微软雅黑" panose="020B0503020204020204" pitchFamily="34" charset="-122"/>
                <a:ea typeface="微软雅黑" panose="020B0503020204020204" pitchFamily="34" charset="-122"/>
              </a:rPr>
              <a:t>EDX-EAX</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64</a:t>
            </a:r>
            <a:r>
              <a:rPr lang="zh-CN" altLang="en-US" dirty="0">
                <a:latin typeface="微软雅黑" panose="020B0503020204020204" pitchFamily="34" charset="-122"/>
                <a:ea typeface="微软雅黑" panose="020B0503020204020204" pitchFamily="34" charset="-122"/>
              </a:rPr>
              <a:t>位时）中。 </a:t>
            </a:r>
            <a:endParaRPr lang="en-US" altLang="zh-CN" dirty="0">
              <a:latin typeface="微软雅黑" panose="020B0503020204020204" pitchFamily="34" charset="-122"/>
              <a:ea typeface="微软雅黑" panose="020B0503020204020204" pitchFamily="34" charset="-122"/>
            </a:endParaRPr>
          </a:p>
          <a:p>
            <a:pPr lvl="1">
              <a:lnSpc>
                <a:spcPts val="2900"/>
              </a:lnSpc>
            </a:pPr>
            <a:r>
              <a:rPr lang="en-US" altLang="zh-CN" dirty="0">
                <a:latin typeface="微软雅黑" panose="020B0503020204020204" pitchFamily="34" charset="-122"/>
                <a:ea typeface="微软雅黑" panose="020B0503020204020204" pitchFamily="34" charset="-122"/>
              </a:rPr>
              <a:t>MIPS</a:t>
            </a:r>
            <a:r>
              <a:rPr lang="zh-CN" altLang="en-US" dirty="0">
                <a:latin typeface="微软雅黑" panose="020B0503020204020204" pitchFamily="34" charset="-122"/>
                <a:ea typeface="微软雅黑" panose="020B0503020204020204" pitchFamily="34" charset="-122"/>
              </a:rPr>
              <a:t>中，</a:t>
            </a:r>
            <a:r>
              <a:rPr lang="en-US" altLang="zh-CN" dirty="0">
                <a:latin typeface="微软雅黑" panose="020B0503020204020204" pitchFamily="34" charset="-122"/>
                <a:ea typeface="微软雅黑" panose="020B0503020204020204" pitchFamily="34" charset="-122"/>
              </a:rPr>
              <a:t>mult</a:t>
            </a:r>
            <a:r>
              <a:rPr lang="zh-CN" altLang="en-US" dirty="0">
                <a:latin typeface="微软雅黑" panose="020B0503020204020204" pitchFamily="34" charset="-122"/>
                <a:ea typeface="微软雅黑" panose="020B0503020204020204" pitchFamily="34" charset="-122"/>
              </a:rPr>
              <a:t>会将两个</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位带符号整数相乘，得到的</a:t>
            </a:r>
            <a:r>
              <a:rPr lang="en-US" altLang="zh-CN" dirty="0">
                <a:latin typeface="微软雅黑" panose="020B0503020204020204" pitchFamily="34" charset="-122"/>
                <a:ea typeface="微软雅黑" panose="020B0503020204020204" pitchFamily="34" charset="-122"/>
              </a:rPr>
              <a:t>64</a:t>
            </a:r>
            <a:r>
              <a:rPr lang="zh-CN" altLang="en-US" dirty="0">
                <a:latin typeface="微软雅黑" panose="020B0503020204020204" pitchFamily="34" charset="-122"/>
                <a:ea typeface="微软雅黑" panose="020B0503020204020204" pitchFamily="34" charset="-122"/>
              </a:rPr>
              <a:t>位乘积置于两个</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位内部寄存器</a:t>
            </a:r>
            <a:r>
              <a:rPr lang="en-US" altLang="zh-CN" dirty="0">
                <a:latin typeface="微软雅黑" panose="020B0503020204020204" pitchFamily="34" charset="-122"/>
                <a:ea typeface="微软雅黑" panose="020B0503020204020204" pitchFamily="34" charset="-122"/>
              </a:rPr>
              <a:t>Hi</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Lo</a:t>
            </a:r>
            <a:r>
              <a:rPr lang="zh-CN" altLang="en-US" dirty="0">
                <a:latin typeface="微软雅黑" panose="020B0503020204020204" pitchFamily="34" charset="-122"/>
                <a:ea typeface="微软雅黑" panose="020B0503020204020204" pitchFamily="34" charset="-122"/>
              </a:rPr>
              <a:t>中，因此，可以</a:t>
            </a:r>
            <a:r>
              <a:rPr lang="zh-CN" altLang="en-US" dirty="0">
                <a:solidFill>
                  <a:srgbClr val="008000"/>
                </a:solidFill>
                <a:latin typeface="微软雅黑" panose="020B0503020204020204" pitchFamily="34" charset="-122"/>
                <a:ea typeface="微软雅黑" panose="020B0503020204020204" pitchFamily="34" charset="-122"/>
              </a:rPr>
              <a:t>根据</a:t>
            </a:r>
            <a:r>
              <a:rPr lang="en-US" altLang="zh-CN" dirty="0">
                <a:solidFill>
                  <a:srgbClr val="008000"/>
                </a:solidFill>
                <a:latin typeface="微软雅黑" panose="020B0503020204020204" pitchFamily="34" charset="-122"/>
                <a:ea typeface="微软雅黑" panose="020B0503020204020204" pitchFamily="34" charset="-122"/>
              </a:rPr>
              <a:t>Hi</a:t>
            </a:r>
            <a:r>
              <a:rPr lang="zh-CN" altLang="en-US" dirty="0">
                <a:solidFill>
                  <a:srgbClr val="008000"/>
                </a:solidFill>
                <a:latin typeface="微软雅黑" panose="020B0503020204020204" pitchFamily="34" charset="-122"/>
                <a:ea typeface="微软雅黑" panose="020B0503020204020204" pitchFamily="34" charset="-122"/>
              </a:rPr>
              <a:t>寄存器中的每一位是否等于</a:t>
            </a:r>
            <a:r>
              <a:rPr lang="en-US" altLang="zh-CN" dirty="0">
                <a:solidFill>
                  <a:srgbClr val="008000"/>
                </a:solidFill>
                <a:latin typeface="微软雅黑" panose="020B0503020204020204" pitchFamily="34" charset="-122"/>
                <a:ea typeface="微软雅黑" panose="020B0503020204020204" pitchFamily="34" charset="-122"/>
              </a:rPr>
              <a:t>Lo</a:t>
            </a:r>
            <a:r>
              <a:rPr lang="zh-CN" altLang="en-US" dirty="0">
                <a:solidFill>
                  <a:srgbClr val="008000"/>
                </a:solidFill>
                <a:latin typeface="微软雅黑" panose="020B0503020204020204" pitchFamily="34" charset="-122"/>
                <a:ea typeface="微软雅黑" panose="020B0503020204020204" pitchFamily="34" charset="-122"/>
              </a:rPr>
              <a:t>寄存器中的第一位来进行溢出判断</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ts val="2900"/>
              </a:lnSpc>
            </a:pPr>
            <a:r>
              <a:rPr lang="en-US" altLang="zh-CN" dirty="0">
                <a:latin typeface="微软雅黑" panose="020B0503020204020204" pitchFamily="34" charset="-122"/>
                <a:ea typeface="微软雅黑" panose="020B0503020204020204" pitchFamily="34" charset="-122"/>
              </a:rPr>
              <a:t>RISC-V</a:t>
            </a:r>
            <a:r>
              <a:rPr lang="zh-CN" altLang="en-US" dirty="0">
                <a:latin typeface="微软雅黑" panose="020B0503020204020204" pitchFamily="34" charset="-122"/>
                <a:ea typeface="微软雅黑" panose="020B0503020204020204" pitchFamily="34" charset="-122"/>
              </a:rPr>
              <a:t>中，用“</a:t>
            </a:r>
            <a:r>
              <a:rPr lang="en-US" altLang="zh-CN" dirty="0">
                <a:latin typeface="微软雅黑" panose="020B0503020204020204" pitchFamily="34" charset="-122"/>
                <a:ea typeface="微软雅黑" panose="020B0503020204020204" pitchFamily="34" charset="-122"/>
              </a:rPr>
              <a:t>mul rd, rs1, rs2”</a:t>
            </a:r>
            <a:r>
              <a:rPr lang="zh-CN" altLang="en-US" dirty="0">
                <a:latin typeface="微软雅黑" panose="020B0503020204020204" pitchFamily="34" charset="-122"/>
                <a:ea typeface="微软雅黑" panose="020B0503020204020204" pitchFamily="34" charset="-122"/>
              </a:rPr>
              <a:t>获得低</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位乘积并存入结果寄存器</a:t>
            </a:r>
            <a:r>
              <a:rPr lang="en-US" altLang="zh-CN" dirty="0">
                <a:latin typeface="微软雅黑" panose="020B0503020204020204" pitchFamily="34" charset="-122"/>
                <a:ea typeface="微软雅黑" panose="020B0503020204020204" pitchFamily="34" charset="-122"/>
              </a:rPr>
              <a:t>rd</a:t>
            </a:r>
            <a:r>
              <a:rPr lang="zh-CN" altLang="en-US" dirty="0">
                <a:latin typeface="微软雅黑" panose="020B0503020204020204" pitchFamily="34" charset="-122"/>
                <a:ea typeface="微软雅黑" panose="020B0503020204020204" pitchFamily="34" charset="-122"/>
              </a:rPr>
              <a:t>中；</a:t>
            </a:r>
            <a:r>
              <a:rPr lang="en-US" altLang="zh-CN" dirty="0">
                <a:latin typeface="微软雅黑" panose="020B0503020204020204" pitchFamily="34" charset="-122"/>
                <a:ea typeface="微软雅黑" panose="020B0503020204020204" pitchFamily="34" charset="-122"/>
              </a:rPr>
              <a:t>mulh</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mulhu</a:t>
            </a:r>
            <a:r>
              <a:rPr lang="zh-CN" altLang="en-US" dirty="0">
                <a:latin typeface="微软雅黑" panose="020B0503020204020204" pitchFamily="34" charset="-122"/>
                <a:ea typeface="微软雅黑" panose="020B0503020204020204" pitchFamily="34" charset="-122"/>
              </a:rPr>
              <a:t>指令分别将两个乘数同时按带符号整数、同时按无符号整数相乘后，得到的高</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位乘积存入</a:t>
            </a:r>
            <a:r>
              <a:rPr lang="en-US" altLang="zh-CN" dirty="0">
                <a:latin typeface="微软雅黑" panose="020B0503020204020204" pitchFamily="34" charset="-122"/>
                <a:ea typeface="微软雅黑" panose="020B0503020204020204" pitchFamily="34" charset="-122"/>
              </a:rPr>
              <a:t>rd</a:t>
            </a:r>
            <a:r>
              <a:rPr lang="zh-CN" altLang="en-US" dirty="0">
                <a:latin typeface="微软雅黑" panose="020B0503020204020204" pitchFamily="34" charset="-122"/>
                <a:ea typeface="微软雅黑" panose="020B0503020204020204" pitchFamily="34" charset="-122"/>
              </a:rPr>
              <a:t>中</a:t>
            </a:r>
            <a:endParaRPr lang="zh-CN" altLang="en-US" dirty="0">
              <a:latin typeface="微软雅黑" panose="020B0503020204020204" pitchFamily="34" charset="-122"/>
              <a:ea typeface="微软雅黑" panose="020B0503020204020204" pitchFamily="34" charset="-122"/>
            </a:endParaRPr>
          </a:p>
        </p:txBody>
      </p:sp>
      <p:sp>
        <p:nvSpPr>
          <p:cNvPr id="79875" name="Text Box 4"/>
          <p:cNvSpPr txBox="1"/>
          <p:nvPr/>
        </p:nvSpPr>
        <p:spPr>
          <a:xfrm>
            <a:off x="200025" y="6381750"/>
            <a:ext cx="8596313" cy="412750"/>
          </a:xfrm>
          <a:prstGeom prst="rect">
            <a:avLst/>
          </a:prstGeom>
          <a:noFill/>
          <a:ln w="9525">
            <a:noFill/>
          </a:ln>
        </p:spPr>
        <p:txBody>
          <a:bodyPr anchor="t" anchorCtr="0">
            <a:spAutoFit/>
          </a:bodyPr>
          <a:p>
            <a:pPr>
              <a:spcBef>
                <a:spcPct val="50000"/>
              </a:spcBef>
            </a:pPr>
            <a:r>
              <a:rPr lang="zh-CN" altLang="en-US" sz="2100" dirty="0">
                <a:solidFill>
                  <a:srgbClr val="FF0000"/>
                </a:solidFill>
                <a:latin typeface="微软雅黑" panose="020B0503020204020204" pitchFamily="34" charset="-122"/>
                <a:ea typeface="微软雅黑" panose="020B0503020204020204" pitchFamily="34" charset="-122"/>
              </a:rPr>
              <a:t>乘法指令可生成溢出标志，编译器也可使用</a:t>
            </a:r>
            <a:r>
              <a:rPr lang="en-US" altLang="zh-CN" sz="2100" dirty="0">
                <a:solidFill>
                  <a:srgbClr val="FF0000"/>
                </a:solidFill>
                <a:latin typeface="微软雅黑" panose="020B0503020204020204" pitchFamily="34" charset="-122"/>
                <a:ea typeface="微软雅黑" panose="020B0503020204020204" pitchFamily="34" charset="-122"/>
              </a:rPr>
              <a:t>2n</a:t>
            </a:r>
            <a:r>
              <a:rPr lang="zh-CN" altLang="en-US" sz="2100" dirty="0">
                <a:solidFill>
                  <a:srgbClr val="FF0000"/>
                </a:solidFill>
                <a:latin typeface="微软雅黑" panose="020B0503020204020204" pitchFamily="34" charset="-122"/>
                <a:ea typeface="微软雅黑" panose="020B0503020204020204" pitchFamily="34" charset="-122"/>
              </a:rPr>
              <a:t>位乘积来判断是否溢出！</a:t>
            </a:r>
            <a:endParaRPr lang="zh-CN" altLang="en-US" sz="21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p:cNvSpPr>
          <p:nvPr>
            <p:ph type="title"/>
          </p:nvPr>
        </p:nvSpPr>
        <p:spPr>
          <a:xfrm>
            <a:off x="790575" y="230188"/>
            <a:ext cx="1363663" cy="479425"/>
          </a:xfrm>
          <a:ln/>
        </p:spPr>
        <p:txBody>
          <a:bodyPr vert="horz" wrap="none" lIns="63500" tIns="25400" rIns="63500" bIns="25400" anchor="t" anchorCtr="0">
            <a:spAutoFit/>
          </a:bodyPr>
          <a:p>
            <a:r>
              <a:rPr lang="zh-CN" altLang="en-US" dirty="0">
                <a:ea typeface="宋体" panose="02010600030101010101" pitchFamily="2" charset="-122"/>
              </a:rPr>
              <a:t>思考题</a:t>
            </a:r>
            <a:endParaRPr lang="en-US" altLang="zh-CN" dirty="0">
              <a:ea typeface="宋体" panose="02010600030101010101" pitchFamily="2" charset="-122"/>
            </a:endParaRPr>
          </a:p>
        </p:txBody>
      </p:sp>
      <p:sp>
        <p:nvSpPr>
          <p:cNvPr id="3" name="矩形 2"/>
          <p:cNvSpPr/>
          <p:nvPr/>
        </p:nvSpPr>
        <p:spPr>
          <a:xfrm>
            <a:off x="268288" y="957263"/>
            <a:ext cx="8736013" cy="5172075"/>
          </a:xfrm>
          <a:prstGeom prst="rect">
            <a:avLst/>
          </a:prstGeom>
        </p:spPr>
        <p:txBody>
          <a:bodyPr>
            <a:spAutoFit/>
          </a:bodyPr>
          <a:lstStyle/>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在字长为</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32</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位的计算机上，某</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C</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函数原型声明为：</a:t>
            </a:r>
            <a:endPar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imul_overflow</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x, </a:t>
            </a:r>
            <a:r>
              <a:rPr kumimoji="0" lang="en-US" altLang="zh-CN" sz="20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y);</a:t>
            </a:r>
            <a:endPar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该函数用于对两个</a:t>
            </a:r>
            <a:r>
              <a:rPr kumimoji="0" lang="en-US" altLang="zh-CN" sz="20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int</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型变量</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x</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和</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y</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的乘积（也是</a:t>
            </a:r>
            <a:r>
              <a:rPr kumimoji="0" lang="en-US" altLang="zh-CN" sz="20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rPr>
              <a:t>int</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类型）判断是否溢出，若溢出则返回非</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，否则返回</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。请完成下列任务或回答下列问题。</a:t>
            </a:r>
            <a:endPar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1</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）两个</a:t>
            </a: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n</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位无符号数相乘、两个</a:t>
            </a: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n</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位带符号整数相乘的溢出判断规则各是 </a:t>
            </a:r>
            <a:endPar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什么？</a:t>
            </a:r>
            <a:r>
              <a:rPr kumimoji="0" lang="zh-CN" altLang="en-US" sz="2000" b="1" i="0" u="none" strike="noStrike" kern="120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（编译器如何判断溢出？）</a:t>
            </a:r>
            <a:endParaRPr kumimoji="0" lang="zh-CN" altLang="en-US" sz="2000" b="1" i="0" u="none" strike="noStrike" kern="120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2</a:t>
            </a: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）已知入口参数</a:t>
            </a:r>
            <a:r>
              <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x</a:t>
            </a: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y</a:t>
            </a: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分别在寄存器</a:t>
            </a:r>
            <a:r>
              <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a0</a:t>
            </a: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a1</a:t>
            </a: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中，返回值在</a:t>
            </a:r>
            <a:r>
              <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a0</a:t>
            </a: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中，写出实现 </a:t>
            </a:r>
            <a:endPar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1200" cap="none" spc="0" normalizeH="0" baseline="0" noProof="0" dirty="0" err="1">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imul_overflow</a:t>
            </a: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函数功能的</a:t>
            </a:r>
            <a:r>
              <a:rPr kumimoji="0" lang="en-US" altLang="zh-CN"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RISC-V</a:t>
            </a:r>
            <a:r>
              <a:rPr kumimoji="0" lang="zh-CN" altLang="en-US" sz="20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rPr>
              <a:t>汇编指令序列，并给出注解。</a:t>
            </a:r>
            <a:r>
              <a:rPr kumimoji="0" lang="zh-CN" altLang="en-US" sz="2000" b="1" i="0" u="none" strike="noStrike" kern="120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（编</a:t>
            </a:r>
            <a:endParaRPr kumimoji="0" lang="en-US" altLang="zh-CN" sz="2000" b="1" i="0" u="none" strike="noStrike" kern="120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000" b="1" i="0" u="none" strike="noStrike" kern="120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译器中判断溢出的代码，学完第</a:t>
            </a:r>
            <a:r>
              <a:rPr kumimoji="0" lang="en-US" altLang="zh-CN" sz="2000" b="1" i="0" u="none" strike="noStrike" kern="120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7</a:t>
            </a:r>
            <a:r>
              <a:rPr kumimoji="0" lang="zh-CN" altLang="en-US" sz="2000" b="1" i="0" u="none" strike="noStrike" kern="120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章再做）</a:t>
            </a:r>
            <a:endPar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3</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）使用</a:t>
            </a: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64</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位整型（</a:t>
            </a: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long </a:t>
            </a:r>
            <a:r>
              <a:rPr kumimoji="0" lang="en-US" altLang="zh-CN" sz="2000" b="1" i="0" u="none" strike="noStrike" kern="1200" cap="none" spc="0" normalizeH="0" baseline="0" noProof="0" dirty="0" err="1">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long</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）变量来编写</a:t>
            </a:r>
            <a:r>
              <a:rPr kumimoji="0" lang="en-US" altLang="zh-CN" sz="2000" b="1" i="0" u="none" strike="noStrike" kern="1200" cap="none" spc="0" normalizeH="0" baseline="0" noProof="0" dirty="0" err="1">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imul_overflow</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函数的</a:t>
            </a: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C</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代码</a:t>
            </a:r>
            <a:endPar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ts val="0"/>
              </a:spcBef>
              <a:spcAft>
                <a:spcPct val="0"/>
              </a:spcAft>
              <a:buClrTx/>
              <a:buSzTx/>
              <a:buFontTx/>
              <a:buNone/>
              <a:defRPr/>
            </a:pPr>
            <a:r>
              <a:rPr kumimoji="0" lang="en-US" altLang="zh-CN"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rPr>
              <a:t>或描述实现思想。</a:t>
            </a:r>
            <a:endParaRPr kumimoji="0" lang="zh-CN" altLang="en-US" sz="2000" b="1" i="0" u="none" strike="noStrike" kern="120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a:xfrm>
            <a:off x="800100" y="190500"/>
            <a:ext cx="6073775" cy="479425"/>
          </a:xfrm>
          <a:ln/>
        </p:spPr>
        <p:txBody>
          <a:bodyPr vert="horz" wrap="square" lIns="63500" tIns="25400" rIns="63500" bIns="25400" anchor="t" anchorCtr="0">
            <a:spAutoFit/>
          </a:bodyPr>
          <a:p>
            <a:r>
              <a:rPr lang="zh-CN" altLang="en-US" dirty="0">
                <a:ea typeface="宋体" panose="02010600030101010101" pitchFamily="2" charset="-122"/>
              </a:rPr>
              <a:t>思考题的参考答案</a:t>
            </a:r>
            <a:endParaRPr lang="zh-CN" altLang="en-US" dirty="0">
              <a:ea typeface="宋体" panose="02010600030101010101" pitchFamily="2" charset="-122"/>
            </a:endParaRPr>
          </a:p>
        </p:txBody>
      </p:sp>
      <p:sp>
        <p:nvSpPr>
          <p:cNvPr id="82946" name="内容占位符 2"/>
          <p:cNvSpPr>
            <a:spLocks noGrp="1"/>
          </p:cNvSpPr>
          <p:nvPr>
            <p:ph idx="1"/>
          </p:nvPr>
        </p:nvSpPr>
        <p:spPr>
          <a:xfrm>
            <a:off x="247650" y="809625"/>
            <a:ext cx="8647113" cy="5238750"/>
          </a:xfrm>
          <a:ln/>
        </p:spPr>
        <p:txBody>
          <a:bodyPr vert="horz" wrap="square" lIns="63500" tIns="25400" rIns="63500" bIns="25400" anchor="t" anchorCtr="0">
            <a:spAutoFit/>
          </a:bodyPr>
          <a:p>
            <a:pPr marL="0" indent="0">
              <a:buNone/>
            </a:pPr>
            <a:r>
              <a:rPr lang="zh-CN" altLang="en-US" dirty="0">
                <a:solidFill>
                  <a:schemeClr val="accent2"/>
                </a:solidFill>
                <a:latin typeface="微软雅黑" panose="020B0503020204020204" pitchFamily="34" charset="-122"/>
                <a:ea typeface="微软雅黑" panose="020B0503020204020204" pitchFamily="34" charset="-122"/>
              </a:rPr>
              <a:t>（</a:t>
            </a:r>
            <a:r>
              <a:rPr lang="en-US" altLang="zh-CN" dirty="0">
                <a:solidFill>
                  <a:schemeClr val="accent2"/>
                </a:solidFill>
                <a:latin typeface="微软雅黑" panose="020B0503020204020204" pitchFamily="34" charset="-122"/>
                <a:ea typeface="微软雅黑" panose="020B0503020204020204" pitchFamily="34" charset="-122"/>
              </a:rPr>
              <a:t>1</a:t>
            </a:r>
            <a:r>
              <a:rPr lang="zh-CN" altLang="en-US" dirty="0">
                <a:solidFill>
                  <a:schemeClr val="accent2"/>
                </a:solidFill>
                <a:latin typeface="微软雅黑" panose="020B0503020204020204" pitchFamily="34" charset="-122"/>
                <a:ea typeface="微软雅黑" panose="020B0503020204020204" pitchFamily="34" charset="-122"/>
              </a:rPr>
              <a:t>）溢出判断规则</a:t>
            </a:r>
            <a:endParaRPr lang="en-US" altLang="zh-CN" dirty="0">
              <a:solidFill>
                <a:schemeClr val="accent2"/>
              </a:solidFill>
              <a:latin typeface="微软雅黑" panose="020B0503020204020204" pitchFamily="34" charset="-122"/>
              <a:ea typeface="微软雅黑" panose="020B0503020204020204" pitchFamily="34" charset="-122"/>
            </a:endParaRPr>
          </a:p>
          <a:p>
            <a:pPr marL="0" indent="0">
              <a:buNone/>
            </a:pPr>
            <a:r>
              <a:rPr lang="zh-CN" altLang="zh-CN" dirty="0">
                <a:latin typeface="微软雅黑" panose="020B0503020204020204" pitchFamily="34" charset="-122"/>
                <a:ea typeface="微软雅黑" panose="020B0503020204020204" pitchFamily="34" charset="-122"/>
              </a:rPr>
              <a:t>无符号整数相乘：</a:t>
            </a:r>
            <a:r>
              <a:rPr lang="zh-CN" altLang="zh-CN" dirty="0">
                <a:solidFill>
                  <a:srgbClr val="990000"/>
                </a:solidFill>
                <a:latin typeface="微软雅黑" panose="020B0503020204020204" pitchFamily="34" charset="-122"/>
                <a:ea typeface="微软雅黑" panose="020B0503020204020204" pitchFamily="34" charset="-122"/>
              </a:rPr>
              <a:t>若乘积的高</a:t>
            </a:r>
            <a:r>
              <a:rPr lang="en-US" altLang="zh-CN" dirty="0">
                <a:solidFill>
                  <a:srgbClr val="990000"/>
                </a:solidFill>
                <a:latin typeface="微软雅黑" panose="020B0503020204020204" pitchFamily="34" charset="-122"/>
                <a:ea typeface="微软雅黑" panose="020B0503020204020204" pitchFamily="34" charset="-122"/>
              </a:rPr>
              <a:t>n</a:t>
            </a:r>
            <a:r>
              <a:rPr lang="zh-CN" altLang="zh-CN" dirty="0">
                <a:solidFill>
                  <a:srgbClr val="990000"/>
                </a:solidFill>
                <a:latin typeface="微软雅黑" panose="020B0503020204020204" pitchFamily="34" charset="-122"/>
                <a:ea typeface="微软雅黑" panose="020B0503020204020204" pitchFamily="34" charset="-122"/>
              </a:rPr>
              <a:t>位为非</a:t>
            </a:r>
            <a:r>
              <a:rPr lang="en-US" altLang="zh-CN" dirty="0">
                <a:solidFill>
                  <a:srgbClr val="990000"/>
                </a:solidFill>
                <a:latin typeface="微软雅黑" panose="020B0503020204020204" pitchFamily="34" charset="-122"/>
                <a:ea typeface="微软雅黑" panose="020B0503020204020204" pitchFamily="34" charset="-122"/>
              </a:rPr>
              <a:t>0</a:t>
            </a:r>
            <a:r>
              <a:rPr lang="zh-CN" altLang="zh-CN" dirty="0">
                <a:solidFill>
                  <a:srgbClr val="990000"/>
                </a:solidFill>
                <a:latin typeface="微软雅黑" panose="020B0503020204020204" pitchFamily="34" charset="-122"/>
                <a:ea typeface="微软雅黑" panose="020B0503020204020204" pitchFamily="34" charset="-122"/>
              </a:rPr>
              <a:t>，则溢出。</a:t>
            </a:r>
            <a:endParaRPr lang="zh-CN" altLang="zh-CN" dirty="0">
              <a:solidFill>
                <a:srgbClr val="990000"/>
              </a:solidFill>
              <a:latin typeface="微软雅黑" panose="020B0503020204020204" pitchFamily="34" charset="-122"/>
              <a:ea typeface="微软雅黑" panose="020B0503020204020204" pitchFamily="34" charset="-122"/>
            </a:endParaRPr>
          </a:p>
          <a:p>
            <a:pPr marL="0" indent="0">
              <a:buNone/>
            </a:pPr>
            <a:r>
              <a:rPr lang="zh-CN" altLang="zh-CN" dirty="0">
                <a:latin typeface="微软雅黑" panose="020B0503020204020204" pitchFamily="34" charset="-122"/>
                <a:ea typeface="微软雅黑" panose="020B0503020204020204" pitchFamily="34" charset="-122"/>
              </a:rPr>
              <a:t>带符号整数相乘：</a:t>
            </a:r>
            <a:r>
              <a:rPr lang="zh-CN" altLang="zh-CN" dirty="0">
                <a:solidFill>
                  <a:srgbClr val="990000"/>
                </a:solidFill>
                <a:latin typeface="微软雅黑" panose="020B0503020204020204" pitchFamily="34" charset="-122"/>
                <a:ea typeface="微软雅黑" panose="020B0503020204020204" pitchFamily="34" charset="-122"/>
              </a:rPr>
              <a:t>若乘积高</a:t>
            </a:r>
            <a:r>
              <a:rPr lang="en-US" altLang="zh-CN" dirty="0">
                <a:solidFill>
                  <a:srgbClr val="990000"/>
                </a:solidFill>
                <a:latin typeface="微软雅黑" panose="020B0503020204020204" pitchFamily="34" charset="-122"/>
                <a:ea typeface="微软雅黑" panose="020B0503020204020204" pitchFamily="34" charset="-122"/>
              </a:rPr>
              <a:t>n</a:t>
            </a:r>
            <a:r>
              <a:rPr lang="zh-CN" altLang="zh-CN" dirty="0">
                <a:solidFill>
                  <a:srgbClr val="990000"/>
                </a:solidFill>
                <a:latin typeface="微软雅黑" panose="020B0503020204020204" pitchFamily="34" charset="-122"/>
                <a:ea typeface="微软雅黑" panose="020B0503020204020204" pitchFamily="34" charset="-122"/>
              </a:rPr>
              <a:t>位</a:t>
            </a:r>
            <a:r>
              <a:rPr lang="zh-CN" altLang="en-US" dirty="0">
                <a:solidFill>
                  <a:srgbClr val="990000"/>
                </a:solidFill>
                <a:latin typeface="微软雅黑" panose="020B0503020204020204" pitchFamily="34" charset="-122"/>
                <a:ea typeface="微软雅黑" panose="020B0503020204020204" pitchFamily="34" charset="-122"/>
              </a:rPr>
              <a:t>的每一位都相同，且都等于</a:t>
            </a:r>
            <a:r>
              <a:rPr lang="zh-CN" altLang="zh-CN" dirty="0">
                <a:solidFill>
                  <a:srgbClr val="990000"/>
                </a:solidFill>
                <a:latin typeface="微软雅黑" panose="020B0503020204020204" pitchFamily="34" charset="-122"/>
                <a:ea typeface="微软雅黑" panose="020B0503020204020204" pitchFamily="34" charset="-122"/>
              </a:rPr>
              <a:t>乘积低</a:t>
            </a:r>
            <a:r>
              <a:rPr lang="en-US" altLang="zh-CN" dirty="0">
                <a:solidFill>
                  <a:srgbClr val="990000"/>
                </a:solidFill>
                <a:latin typeface="微软雅黑" panose="020B0503020204020204" pitchFamily="34" charset="-122"/>
                <a:ea typeface="微软雅黑" panose="020B0503020204020204" pitchFamily="34" charset="-122"/>
              </a:rPr>
              <a:t>n</a:t>
            </a:r>
            <a:endParaRPr lang="en-US" altLang="zh-CN" dirty="0">
              <a:solidFill>
                <a:srgbClr val="990000"/>
              </a:solidFill>
              <a:latin typeface="微软雅黑" panose="020B0503020204020204" pitchFamily="34" charset="-122"/>
              <a:ea typeface="微软雅黑" panose="020B0503020204020204" pitchFamily="34" charset="-122"/>
            </a:endParaRPr>
          </a:p>
          <a:p>
            <a:pPr marL="0" indent="0">
              <a:buNone/>
            </a:pPr>
            <a:r>
              <a:rPr lang="en-US" altLang="zh-CN" dirty="0">
                <a:solidFill>
                  <a:srgbClr val="990000"/>
                </a:solidFill>
                <a:latin typeface="微软雅黑" panose="020B0503020204020204" pitchFamily="34" charset="-122"/>
                <a:ea typeface="微软雅黑" panose="020B0503020204020204" pitchFamily="34" charset="-122"/>
              </a:rPr>
              <a:t>                           </a:t>
            </a:r>
            <a:r>
              <a:rPr lang="zh-CN" altLang="zh-CN" dirty="0">
                <a:solidFill>
                  <a:srgbClr val="990000"/>
                </a:solidFill>
                <a:latin typeface="微软雅黑" panose="020B0503020204020204" pitchFamily="34" charset="-122"/>
                <a:ea typeface="微软雅黑" panose="020B0503020204020204" pitchFamily="34" charset="-122"/>
              </a:rPr>
              <a:t>位的符号，则不溢出，否则溢出。</a:t>
            </a:r>
            <a:endParaRPr lang="en-US" altLang="zh-CN" dirty="0">
              <a:solidFill>
                <a:srgbClr val="990000"/>
              </a:solidFill>
              <a:latin typeface="微软雅黑" panose="020B0503020204020204" pitchFamily="34" charset="-122"/>
              <a:ea typeface="微软雅黑" panose="020B0503020204020204" pitchFamily="34" charset="-122"/>
            </a:endParaRPr>
          </a:p>
          <a:p>
            <a:pPr marL="0" indent="0">
              <a:buNone/>
            </a:pPr>
            <a:endParaRPr lang="zh-CN" altLang="zh-CN" dirty="0">
              <a:solidFill>
                <a:srgbClr val="990000"/>
              </a:solidFill>
              <a:latin typeface="微软雅黑" panose="020B0503020204020204" pitchFamily="34" charset="-122"/>
              <a:ea typeface="微软雅黑" panose="020B0503020204020204" pitchFamily="34" charset="-122"/>
            </a:endParaRPr>
          </a:p>
          <a:p>
            <a:pPr marL="0" indent="0">
              <a:buNone/>
            </a:pPr>
            <a:r>
              <a:rPr lang="zh-CN" altLang="en-US" dirty="0">
                <a:solidFill>
                  <a:schemeClr val="accent2"/>
                </a:solidFill>
                <a:latin typeface="微软雅黑" panose="020B0503020204020204" pitchFamily="34" charset="-122"/>
                <a:ea typeface="微软雅黑" panose="020B0503020204020204" pitchFamily="34" charset="-122"/>
              </a:rPr>
              <a:t>（</a:t>
            </a:r>
            <a:r>
              <a:rPr lang="en-US" altLang="zh-CN" dirty="0">
                <a:solidFill>
                  <a:schemeClr val="accent2"/>
                </a:solidFill>
                <a:latin typeface="微软雅黑" panose="020B0503020204020204" pitchFamily="34" charset="-122"/>
                <a:ea typeface="微软雅黑" panose="020B0503020204020204" pitchFamily="34" charset="-122"/>
              </a:rPr>
              <a:t>2</a:t>
            </a:r>
            <a:r>
              <a:rPr lang="zh-CN" altLang="en-US" dirty="0">
                <a:solidFill>
                  <a:schemeClr val="accent2"/>
                </a:solidFill>
                <a:latin typeface="微软雅黑" panose="020B0503020204020204" pitchFamily="34" charset="-122"/>
                <a:ea typeface="微软雅黑" panose="020B0503020204020204" pitchFamily="34" charset="-122"/>
              </a:rPr>
              <a:t>）</a:t>
            </a:r>
            <a:r>
              <a:rPr lang="en-US" altLang="zh-CN" dirty="0">
                <a:solidFill>
                  <a:schemeClr val="accent2"/>
                </a:solidFill>
                <a:latin typeface="微软雅黑" panose="020B0503020204020204" pitchFamily="34" charset="-122"/>
                <a:ea typeface="微软雅黑" panose="020B0503020204020204" pitchFamily="34" charset="-122"/>
              </a:rPr>
              <a:t>RISC-V</a:t>
            </a:r>
            <a:r>
              <a:rPr lang="zh-CN" altLang="en-US" dirty="0">
                <a:solidFill>
                  <a:schemeClr val="accent2"/>
                </a:solidFill>
                <a:latin typeface="微软雅黑" panose="020B0503020204020204" pitchFamily="34" charset="-122"/>
                <a:ea typeface="微软雅黑" panose="020B0503020204020204" pitchFamily="34" charset="-122"/>
              </a:rPr>
              <a:t>汇编指令序列</a:t>
            </a:r>
            <a:endParaRPr lang="en-US" altLang="zh-CN" dirty="0">
              <a:solidFill>
                <a:schemeClr val="accent2"/>
              </a:solidFill>
              <a:latin typeface="微软雅黑" panose="020B0503020204020204" pitchFamily="34" charset="-122"/>
              <a:ea typeface="微软雅黑" panose="020B0503020204020204" pitchFamily="34" charset="-122"/>
            </a:endParaRPr>
          </a:p>
          <a:p>
            <a:pPr marL="0" indent="0">
              <a:buNone/>
            </a:pPr>
            <a:r>
              <a:rPr lang="zh-CN" altLang="zh-CN" dirty="0">
                <a:solidFill>
                  <a:srgbClr val="990000"/>
                </a:solidFill>
                <a:latin typeface="微软雅黑" panose="020B0503020204020204" pitchFamily="34" charset="-122"/>
                <a:ea typeface="微软雅黑" panose="020B0503020204020204" pitchFamily="34" charset="-122"/>
              </a:rPr>
              <a:t>实现该功能的汇编指令序列不唯一。</a:t>
            </a:r>
            <a:endParaRPr lang="en-US" altLang="zh-CN" dirty="0">
              <a:solidFill>
                <a:srgbClr val="990000"/>
              </a:solidFill>
              <a:latin typeface="微软雅黑" panose="020B0503020204020204" pitchFamily="34" charset="-122"/>
              <a:ea typeface="微软雅黑" panose="020B0503020204020204" pitchFamily="34" charset="-122"/>
            </a:endParaRPr>
          </a:p>
          <a:p>
            <a:pPr marL="0" indent="0">
              <a:buNone/>
            </a:pPr>
            <a:r>
              <a:rPr lang="zh-CN" altLang="zh-CN" dirty="0">
                <a:latin typeface="微软雅黑" panose="020B0503020204020204" pitchFamily="34" charset="-122"/>
                <a:ea typeface="微软雅黑" panose="020B0503020204020204" pitchFamily="34" charset="-122"/>
              </a:rPr>
              <a:t>某实现方案下的汇编指令序列如下：</a:t>
            </a:r>
            <a:r>
              <a:rPr lang="en-US" altLang="zh-CN" dirty="0">
                <a:solidFill>
                  <a:srgbClr val="990000"/>
                </a:solidFill>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0" indent="0">
              <a:buNone/>
            </a:pPr>
            <a:r>
              <a:rPr lang="en-US" altLang="zh-CN" dirty="0">
                <a:solidFill>
                  <a:srgbClr val="FF0000"/>
                </a:solidFill>
                <a:latin typeface="微软雅黑" panose="020B0503020204020204" pitchFamily="34" charset="-122"/>
                <a:ea typeface="微软雅黑" panose="020B0503020204020204" pitchFamily="34" charset="-122"/>
              </a:rPr>
              <a:t>mul  	t0,</a:t>
            </a:r>
            <a:r>
              <a:rPr lang="zh-CN" altLang="en-US" dirty="0">
                <a:solidFill>
                  <a:srgbClr val="FF0000"/>
                </a:solidFill>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a0,</a:t>
            </a:r>
            <a:r>
              <a:rPr lang="zh-CN" altLang="en-US" dirty="0">
                <a:solidFill>
                  <a:srgbClr val="FF0000"/>
                </a:solidFill>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a1	       # x*y</a:t>
            </a:r>
            <a:r>
              <a:rPr lang="zh-CN" altLang="en-US" dirty="0">
                <a:solidFill>
                  <a:srgbClr val="FF0000"/>
                </a:solidFill>
                <a:latin typeface="微软雅黑" panose="020B0503020204020204" pitchFamily="34" charset="-122"/>
                <a:ea typeface="微软雅黑" panose="020B0503020204020204" pitchFamily="34" charset="-122"/>
              </a:rPr>
              <a:t>的低</a:t>
            </a:r>
            <a:r>
              <a:rPr lang="en-US" altLang="zh-CN" dirty="0">
                <a:solidFill>
                  <a:srgbClr val="FF0000"/>
                </a:solidFill>
                <a:latin typeface="微软雅黑" panose="020B0503020204020204" pitchFamily="34" charset="-122"/>
                <a:ea typeface="微软雅黑" panose="020B0503020204020204" pitchFamily="34" charset="-122"/>
              </a:rPr>
              <a:t>32</a:t>
            </a:r>
            <a:r>
              <a:rPr lang="zh-CN" altLang="en-US" dirty="0">
                <a:solidFill>
                  <a:srgbClr val="FF0000"/>
                </a:solidFill>
                <a:latin typeface="微软雅黑" panose="020B0503020204020204" pitchFamily="34" charset="-122"/>
                <a:ea typeface="微软雅黑" panose="020B0503020204020204" pitchFamily="34" charset="-122"/>
              </a:rPr>
              <a:t>位在</a:t>
            </a:r>
            <a:r>
              <a:rPr lang="en-US" altLang="zh-CN" dirty="0">
                <a:solidFill>
                  <a:srgbClr val="FF0000"/>
                </a:solidFill>
                <a:latin typeface="微软雅黑" panose="020B0503020204020204" pitchFamily="34" charset="-122"/>
                <a:ea typeface="微软雅黑" panose="020B0503020204020204" pitchFamily="34" charset="-122"/>
              </a:rPr>
              <a:t>t0</a:t>
            </a:r>
            <a:r>
              <a:rPr lang="zh-CN" altLang="en-US" dirty="0">
                <a:solidFill>
                  <a:srgbClr val="FF0000"/>
                </a:solidFill>
                <a:latin typeface="微软雅黑" panose="020B0503020204020204" pitchFamily="34" charset="-122"/>
                <a:ea typeface="微软雅黑" panose="020B0503020204020204" pitchFamily="34" charset="-122"/>
              </a:rPr>
              <a:t>中</a:t>
            </a:r>
            <a:endParaRPr lang="zh-CN" altLang="zh-CN" dirty="0">
              <a:solidFill>
                <a:srgbClr val="FF0000"/>
              </a:solidFill>
              <a:latin typeface="微软雅黑" panose="020B0503020204020204" pitchFamily="34" charset="-122"/>
              <a:ea typeface="微软雅黑" panose="020B0503020204020204" pitchFamily="34" charset="-122"/>
            </a:endParaRPr>
          </a:p>
          <a:p>
            <a:pPr marL="0" indent="0">
              <a:buNone/>
            </a:pPr>
            <a:r>
              <a:rPr lang="en-US" altLang="zh-CN" dirty="0">
                <a:solidFill>
                  <a:srgbClr val="FF0000"/>
                </a:solidFill>
                <a:latin typeface="微软雅黑" panose="020B0503020204020204" pitchFamily="34" charset="-122"/>
                <a:ea typeface="微软雅黑" panose="020B0503020204020204" pitchFamily="34" charset="-122"/>
              </a:rPr>
              <a:t>mulh  	a0,</a:t>
            </a:r>
            <a:r>
              <a:rPr lang="zh-CN" altLang="en-US" dirty="0">
                <a:solidFill>
                  <a:srgbClr val="FF0000"/>
                </a:solidFill>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a0,</a:t>
            </a:r>
            <a:r>
              <a:rPr lang="zh-CN" altLang="en-US" dirty="0">
                <a:solidFill>
                  <a:srgbClr val="FF0000"/>
                </a:solidFill>
                <a:latin typeface="微软雅黑" panose="020B0503020204020204" pitchFamily="34" charset="-122"/>
                <a:ea typeface="微软雅黑" panose="020B0503020204020204" pitchFamily="34" charset="-122"/>
              </a:rPr>
              <a:t> </a:t>
            </a:r>
            <a:r>
              <a:rPr lang="en-US" altLang="zh-CN" dirty="0">
                <a:solidFill>
                  <a:srgbClr val="FF0000"/>
                </a:solidFill>
                <a:latin typeface="微软雅黑" panose="020B0503020204020204" pitchFamily="34" charset="-122"/>
                <a:ea typeface="微软雅黑" panose="020B0503020204020204" pitchFamily="34" charset="-122"/>
              </a:rPr>
              <a:t>a1	       # x*y</a:t>
            </a:r>
            <a:r>
              <a:rPr lang="zh-CN" altLang="en-US" dirty="0">
                <a:solidFill>
                  <a:srgbClr val="FF0000"/>
                </a:solidFill>
                <a:latin typeface="微软雅黑" panose="020B0503020204020204" pitchFamily="34" charset="-122"/>
                <a:ea typeface="微软雅黑" panose="020B0503020204020204" pitchFamily="34" charset="-122"/>
              </a:rPr>
              <a:t>的高</a:t>
            </a:r>
            <a:r>
              <a:rPr lang="en-US" altLang="zh-CN" dirty="0">
                <a:solidFill>
                  <a:srgbClr val="FF0000"/>
                </a:solidFill>
                <a:latin typeface="微软雅黑" panose="020B0503020204020204" pitchFamily="34" charset="-122"/>
                <a:ea typeface="微软雅黑" panose="020B0503020204020204" pitchFamily="34" charset="-122"/>
              </a:rPr>
              <a:t>32</a:t>
            </a:r>
            <a:r>
              <a:rPr lang="zh-CN" altLang="en-US" dirty="0">
                <a:solidFill>
                  <a:srgbClr val="FF0000"/>
                </a:solidFill>
                <a:latin typeface="微软雅黑" panose="020B0503020204020204" pitchFamily="34" charset="-122"/>
                <a:ea typeface="微软雅黑" panose="020B0503020204020204" pitchFamily="34" charset="-122"/>
              </a:rPr>
              <a:t>位在</a:t>
            </a:r>
            <a:r>
              <a:rPr lang="en-US" altLang="zh-CN" dirty="0">
                <a:solidFill>
                  <a:srgbClr val="FF0000"/>
                </a:solidFill>
                <a:latin typeface="微软雅黑" panose="020B0503020204020204" pitchFamily="34" charset="-122"/>
                <a:ea typeface="微软雅黑" panose="020B0503020204020204" pitchFamily="34" charset="-122"/>
              </a:rPr>
              <a:t>a0</a:t>
            </a:r>
            <a:r>
              <a:rPr lang="zh-CN" altLang="en-US" dirty="0">
                <a:solidFill>
                  <a:srgbClr val="FF0000"/>
                </a:solidFill>
                <a:latin typeface="微软雅黑" panose="020B0503020204020204" pitchFamily="34" charset="-122"/>
                <a:ea typeface="微软雅黑" panose="020B0503020204020204" pitchFamily="34" charset="-122"/>
              </a:rPr>
              <a:t>中</a:t>
            </a:r>
            <a:endParaRPr lang="zh-CN" altLang="zh-CN" dirty="0">
              <a:solidFill>
                <a:srgbClr val="FF0000"/>
              </a:solidFill>
              <a:latin typeface="微软雅黑" panose="020B0503020204020204" pitchFamily="34" charset="-122"/>
              <a:ea typeface="微软雅黑" panose="020B0503020204020204" pitchFamily="34" charset="-122"/>
            </a:endParaRPr>
          </a:p>
          <a:p>
            <a:pPr marL="0" indent="0">
              <a:buNone/>
            </a:pPr>
            <a:r>
              <a:rPr lang="en-US" altLang="zh-CN" dirty="0">
                <a:latin typeface="微软雅黑" panose="020B0503020204020204" pitchFamily="34" charset="-122"/>
                <a:ea typeface="微软雅黑" panose="020B0503020204020204" pitchFamily="34" charset="-122"/>
              </a:rPr>
              <a:t>srai   	t0, t0, 31	       # </a:t>
            </a:r>
            <a:r>
              <a:rPr lang="zh-CN" altLang="en-US" dirty="0">
                <a:latin typeface="微软雅黑" panose="020B0503020204020204" pitchFamily="34" charset="-122"/>
                <a:ea typeface="微软雅黑" panose="020B0503020204020204" pitchFamily="34" charset="-122"/>
              </a:rPr>
              <a:t>乘积的低</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位算术右移</a:t>
            </a:r>
            <a:r>
              <a:rPr lang="en-US" altLang="zh-CN" dirty="0">
                <a:latin typeface="微软雅黑" panose="020B0503020204020204" pitchFamily="34" charset="-122"/>
                <a:ea typeface="微软雅黑" panose="020B0503020204020204" pitchFamily="34" charset="-122"/>
              </a:rPr>
              <a:t>31</a:t>
            </a:r>
            <a:r>
              <a:rPr lang="zh-CN" altLang="zh-CN" dirty="0">
                <a:latin typeface="微软雅黑" panose="020B0503020204020204" pitchFamily="34" charset="-122"/>
                <a:ea typeface="微软雅黑" panose="020B0503020204020204" pitchFamily="34" charset="-122"/>
              </a:rPr>
              <a:t>位</a:t>
            </a:r>
            <a:endParaRPr lang="zh-CN" altLang="zh-CN" dirty="0">
              <a:latin typeface="微软雅黑" panose="020B0503020204020204" pitchFamily="34" charset="-122"/>
              <a:ea typeface="微软雅黑" panose="020B0503020204020204" pitchFamily="34" charset="-122"/>
            </a:endParaRPr>
          </a:p>
          <a:p>
            <a:pPr marL="0" indent="0">
              <a:buNone/>
            </a:pPr>
            <a:r>
              <a:rPr lang="en-US" altLang="zh-CN" dirty="0">
                <a:latin typeface="微软雅黑" panose="020B0503020204020204" pitchFamily="34" charset="-122"/>
                <a:ea typeface="微软雅黑" panose="020B0503020204020204" pitchFamily="34" charset="-122"/>
              </a:rPr>
              <a:t>xor  	a0, a0, t0	       # </a:t>
            </a:r>
            <a:r>
              <a:rPr lang="zh-CN" altLang="zh-CN" dirty="0">
                <a:latin typeface="微软雅黑" panose="020B0503020204020204" pitchFamily="34" charset="-122"/>
                <a:ea typeface="微软雅黑" panose="020B0503020204020204" pitchFamily="34" charset="-122"/>
              </a:rPr>
              <a:t>按位异或，若结果为</a:t>
            </a:r>
            <a:r>
              <a:rPr lang="en-US" altLang="zh-CN" dirty="0">
                <a:latin typeface="微软雅黑" panose="020B0503020204020204" pitchFamily="34" charset="-122"/>
                <a:ea typeface="微软雅黑" panose="020B0503020204020204" pitchFamily="34" charset="-122"/>
              </a:rPr>
              <a:t>0</a:t>
            </a:r>
            <a:r>
              <a:rPr lang="zh-CN" altLang="zh-CN" dirty="0">
                <a:latin typeface="微软雅黑" panose="020B0503020204020204" pitchFamily="34" charset="-122"/>
                <a:ea typeface="微软雅黑" panose="020B0503020204020204" pitchFamily="34" charset="-122"/>
              </a:rPr>
              <a:t>，表示不溢出</a:t>
            </a:r>
            <a:endParaRPr lang="zh-CN" altLang="zh-CN"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1"/>
          <p:cNvSpPr>
            <a:spLocks noGrp="1"/>
          </p:cNvSpPr>
          <p:nvPr>
            <p:ph type="title"/>
          </p:nvPr>
        </p:nvSpPr>
        <p:spPr>
          <a:xfrm>
            <a:off x="800100" y="190500"/>
            <a:ext cx="6073775" cy="479425"/>
          </a:xfrm>
          <a:ln/>
        </p:spPr>
        <p:txBody>
          <a:bodyPr vert="horz" wrap="square" lIns="63500" tIns="25400" rIns="63500" bIns="25400" anchor="t" anchorCtr="0">
            <a:spAutoFit/>
          </a:bodyPr>
          <a:p>
            <a:r>
              <a:rPr lang="zh-CN" altLang="en-US" dirty="0">
                <a:ea typeface="宋体" panose="02010600030101010101" pitchFamily="2" charset="-122"/>
              </a:rPr>
              <a:t>思考题的参考答案</a:t>
            </a:r>
            <a:endParaRPr lang="zh-CN" altLang="en-US" dirty="0">
              <a:ea typeface="宋体" panose="02010600030101010101" pitchFamily="2" charset="-122"/>
            </a:endParaRPr>
          </a:p>
        </p:txBody>
      </p:sp>
      <p:sp>
        <p:nvSpPr>
          <p:cNvPr id="84994" name="内容占位符 2"/>
          <p:cNvSpPr>
            <a:spLocks noGrp="1"/>
          </p:cNvSpPr>
          <p:nvPr>
            <p:ph idx="1"/>
          </p:nvPr>
        </p:nvSpPr>
        <p:spPr>
          <a:xfrm>
            <a:off x="444500" y="889000"/>
            <a:ext cx="8104188" cy="5438775"/>
          </a:xfrm>
          <a:ln/>
        </p:spPr>
        <p:txBody>
          <a:bodyPr vert="horz" wrap="square" lIns="63500" tIns="25400" rIns="63500" bIns="25400" anchor="t" anchorCtr="0">
            <a:spAutoFit/>
          </a:bodyPr>
          <a:p>
            <a:pPr marL="0" indent="0">
              <a:lnSpc>
                <a:spcPct val="150000"/>
              </a:lnSpc>
              <a:buNone/>
            </a:pPr>
            <a:r>
              <a:rPr lang="zh-CN" altLang="en-US" dirty="0">
                <a:solidFill>
                  <a:schemeClr val="accent2"/>
                </a:solidFill>
                <a:latin typeface="微软雅黑" panose="020B0503020204020204" pitchFamily="34" charset="-122"/>
                <a:ea typeface="微软雅黑" panose="020B0503020204020204" pitchFamily="34" charset="-122"/>
              </a:rPr>
              <a:t>（</a:t>
            </a:r>
            <a:r>
              <a:rPr lang="en-US" altLang="zh-CN" dirty="0">
                <a:solidFill>
                  <a:schemeClr val="accent2"/>
                </a:solidFill>
                <a:latin typeface="微软雅黑" panose="020B0503020204020204" pitchFamily="34" charset="-122"/>
                <a:ea typeface="微软雅黑" panose="020B0503020204020204" pitchFamily="34" charset="-122"/>
              </a:rPr>
              <a:t>3</a:t>
            </a:r>
            <a:r>
              <a:rPr lang="zh-CN" altLang="en-US" dirty="0">
                <a:solidFill>
                  <a:schemeClr val="accent2"/>
                </a:solidFill>
                <a:latin typeface="微软雅黑" panose="020B0503020204020204" pitchFamily="34" charset="-122"/>
                <a:ea typeface="微软雅黑" panose="020B0503020204020204" pitchFamily="34" charset="-122"/>
              </a:rPr>
              <a:t>）采用</a:t>
            </a:r>
            <a:r>
              <a:rPr lang="en-US" altLang="zh-CN" dirty="0">
                <a:solidFill>
                  <a:schemeClr val="accent2"/>
                </a:solidFill>
                <a:latin typeface="微软雅黑" panose="020B0503020204020204" pitchFamily="34" charset="-122"/>
                <a:ea typeface="微软雅黑" panose="020B0503020204020204" pitchFamily="34" charset="-122"/>
              </a:rPr>
              <a:t>long long</a:t>
            </a:r>
            <a:r>
              <a:rPr lang="zh-CN" altLang="en-US" dirty="0">
                <a:solidFill>
                  <a:schemeClr val="accent2"/>
                </a:solidFill>
                <a:latin typeface="微软雅黑" panose="020B0503020204020204" pitchFamily="34" charset="-122"/>
                <a:ea typeface="微软雅黑" panose="020B0503020204020204" pitchFamily="34" charset="-122"/>
              </a:rPr>
              <a:t>型变量实现的</a:t>
            </a:r>
            <a:r>
              <a:rPr lang="en-US" altLang="zh-CN" dirty="0">
                <a:solidFill>
                  <a:schemeClr val="accent2"/>
                </a:solidFill>
                <a:latin typeface="微软雅黑" panose="020B0503020204020204" pitchFamily="34" charset="-122"/>
                <a:ea typeface="微软雅黑" panose="020B0503020204020204" pitchFamily="34" charset="-122"/>
              </a:rPr>
              <a:t>C</a:t>
            </a:r>
            <a:r>
              <a:rPr lang="zh-CN" altLang="en-US" dirty="0">
                <a:solidFill>
                  <a:schemeClr val="accent2"/>
                </a:solidFill>
                <a:latin typeface="微软雅黑" panose="020B0503020204020204" pitchFamily="34" charset="-122"/>
                <a:ea typeface="微软雅黑" panose="020B0503020204020204" pitchFamily="34" charset="-122"/>
              </a:rPr>
              <a:t>程序</a:t>
            </a:r>
            <a:endParaRPr lang="en-US" altLang="zh-CN" dirty="0">
              <a:solidFill>
                <a:schemeClr val="accent2"/>
              </a:solidFill>
              <a:latin typeface="微软雅黑" panose="020B0503020204020204" pitchFamily="34" charset="-122"/>
              <a:ea typeface="微软雅黑" panose="020B0503020204020204" pitchFamily="34" charset="-122"/>
            </a:endParaRPr>
          </a:p>
          <a:p>
            <a:pPr marL="0" indent="0">
              <a:lnSpc>
                <a:spcPct val="150000"/>
              </a:lnSpc>
              <a:buNone/>
            </a:pPr>
            <a:r>
              <a:rPr lang="zh-CN" altLang="zh-CN" dirty="0">
                <a:latin typeface="微软雅黑" panose="020B0503020204020204" pitchFamily="34" charset="-122"/>
                <a:ea typeface="微软雅黑" panose="020B0503020204020204" pitchFamily="34" charset="-122"/>
              </a:rPr>
              <a:t>将</a:t>
            </a:r>
            <a:r>
              <a:rPr lang="en-US" altLang="zh-CN" dirty="0">
                <a:latin typeface="微软雅黑" panose="020B0503020204020204" pitchFamily="34" charset="-122"/>
                <a:ea typeface="微软雅黑" panose="020B0503020204020204" pitchFamily="34" charset="-122"/>
              </a:rPr>
              <a:t>x*y</a:t>
            </a:r>
            <a:r>
              <a:rPr lang="zh-CN" altLang="zh-CN" dirty="0">
                <a:latin typeface="微软雅黑" panose="020B0503020204020204" pitchFamily="34" charset="-122"/>
                <a:ea typeface="微软雅黑" panose="020B0503020204020204" pitchFamily="34" charset="-122"/>
              </a:rPr>
              <a:t>的结果保存在</a:t>
            </a:r>
            <a:r>
              <a:rPr lang="en-US" altLang="zh-CN" dirty="0">
                <a:latin typeface="微软雅黑" panose="020B0503020204020204" pitchFamily="34" charset="-122"/>
                <a:ea typeface="微软雅黑" panose="020B0503020204020204" pitchFamily="34" charset="-122"/>
              </a:rPr>
              <a:t>long long</a:t>
            </a:r>
            <a:r>
              <a:rPr lang="zh-CN" altLang="zh-CN" dirty="0">
                <a:latin typeface="微软雅黑" panose="020B0503020204020204" pitchFamily="34" charset="-122"/>
                <a:ea typeface="微软雅黑" panose="020B0503020204020204" pitchFamily="34" charset="-122"/>
              </a:rPr>
              <a:t>型变量中，得到</a:t>
            </a:r>
            <a:r>
              <a:rPr lang="en-US" altLang="zh-CN" dirty="0">
                <a:latin typeface="微软雅黑" panose="020B0503020204020204" pitchFamily="34" charset="-122"/>
                <a:ea typeface="微软雅黑" panose="020B0503020204020204" pitchFamily="34" charset="-122"/>
              </a:rPr>
              <a:t>64</a:t>
            </a:r>
            <a:r>
              <a:rPr lang="zh-CN" altLang="zh-CN" dirty="0">
                <a:latin typeface="微软雅黑" panose="020B0503020204020204" pitchFamily="34" charset="-122"/>
                <a:ea typeface="微软雅黑" panose="020B0503020204020204" pitchFamily="34" charset="-122"/>
              </a:rPr>
              <a:t>位乘积，然后把</a:t>
            </a:r>
            <a:r>
              <a:rPr lang="en-US" altLang="zh-CN" dirty="0">
                <a:latin typeface="微软雅黑" panose="020B0503020204020204" pitchFamily="34" charset="-122"/>
                <a:ea typeface="微软雅黑" panose="020B0503020204020204" pitchFamily="34" charset="-122"/>
              </a:rPr>
              <a:t>64</a:t>
            </a:r>
            <a:r>
              <a:rPr lang="zh-CN" altLang="zh-CN" dirty="0">
                <a:latin typeface="微软雅黑" panose="020B0503020204020204" pitchFamily="34" charset="-122"/>
                <a:ea typeface="微软雅黑" panose="020B0503020204020204" pitchFamily="34" charset="-122"/>
              </a:rPr>
              <a:t>位乘积强制转换为</a:t>
            </a:r>
            <a:r>
              <a:rPr lang="en-US" altLang="zh-CN" dirty="0">
                <a:latin typeface="微软雅黑" panose="020B0503020204020204" pitchFamily="34" charset="-122"/>
                <a:ea typeface="微软雅黑" panose="020B0503020204020204" pitchFamily="34" charset="-122"/>
              </a:rPr>
              <a:t>32</a:t>
            </a:r>
            <a:r>
              <a:rPr lang="zh-CN" altLang="zh-CN" dirty="0">
                <a:latin typeface="微软雅黑" panose="020B0503020204020204" pitchFamily="34" charset="-122"/>
                <a:ea typeface="微软雅黑" panose="020B0503020204020204" pitchFamily="34" charset="-122"/>
              </a:rPr>
              <a:t>位，再符号扩展成</a:t>
            </a:r>
            <a:r>
              <a:rPr lang="en-US" altLang="zh-CN" dirty="0">
                <a:latin typeface="微软雅黑" panose="020B0503020204020204" pitchFamily="34" charset="-122"/>
                <a:ea typeface="微软雅黑" panose="020B0503020204020204" pitchFamily="34" charset="-122"/>
              </a:rPr>
              <a:t>64</a:t>
            </a:r>
            <a:r>
              <a:rPr lang="zh-CN" altLang="zh-CN" dirty="0">
                <a:latin typeface="微软雅黑" panose="020B0503020204020204" pitchFamily="34" charset="-122"/>
                <a:ea typeface="微软雅黑" panose="020B0503020204020204" pitchFamily="34" charset="-122"/>
              </a:rPr>
              <a:t>位，和原来真正的</a:t>
            </a:r>
            <a:r>
              <a:rPr lang="en-US" altLang="zh-CN" dirty="0">
                <a:latin typeface="微软雅黑" panose="020B0503020204020204" pitchFamily="34" charset="-122"/>
                <a:ea typeface="微软雅黑" panose="020B0503020204020204" pitchFamily="34" charset="-122"/>
              </a:rPr>
              <a:t>64</a:t>
            </a:r>
            <a:r>
              <a:rPr lang="zh-CN" altLang="zh-CN" dirty="0">
                <a:latin typeface="微软雅黑" panose="020B0503020204020204" pitchFamily="34" charset="-122"/>
                <a:ea typeface="微软雅黑" panose="020B0503020204020204" pitchFamily="34" charset="-122"/>
              </a:rPr>
              <a:t>位乘积相比，若不相等则溢出。</a:t>
            </a:r>
            <a:endParaRPr lang="zh-CN" altLang="zh-CN" dirty="0">
              <a:latin typeface="微软雅黑" panose="020B0503020204020204" pitchFamily="34" charset="-122"/>
              <a:ea typeface="微软雅黑" panose="020B0503020204020204" pitchFamily="34" charset="-122"/>
            </a:endParaRPr>
          </a:p>
          <a:p>
            <a:pPr marL="0" indent="0">
              <a:lnSpc>
                <a:spcPct val="150000"/>
              </a:lnSpc>
              <a:buNone/>
            </a:pPr>
            <a:r>
              <a:rPr lang="en-US" altLang="zh-CN" dirty="0">
                <a:solidFill>
                  <a:srgbClr val="990000"/>
                </a:solidFill>
                <a:latin typeface="微软雅黑" panose="020B0503020204020204" pitchFamily="34" charset="-122"/>
                <a:ea typeface="微软雅黑" panose="020B0503020204020204" pitchFamily="34" charset="-122"/>
              </a:rPr>
              <a:t>int imul_overflow(int x, int y)  </a:t>
            </a:r>
            <a:endParaRPr lang="zh-CN" altLang="zh-CN" dirty="0">
              <a:solidFill>
                <a:srgbClr val="990000"/>
              </a:solidFill>
              <a:latin typeface="微软雅黑" panose="020B0503020204020204" pitchFamily="34" charset="-122"/>
              <a:ea typeface="微软雅黑" panose="020B0503020204020204" pitchFamily="34" charset="-122"/>
            </a:endParaRPr>
          </a:p>
          <a:p>
            <a:pPr marL="0" indent="0">
              <a:lnSpc>
                <a:spcPct val="150000"/>
              </a:lnSpc>
              <a:buNone/>
            </a:pPr>
            <a:r>
              <a:rPr lang="en-US" altLang="zh-CN" dirty="0">
                <a:solidFill>
                  <a:srgbClr val="990000"/>
                </a:solidFill>
                <a:latin typeface="微软雅黑" panose="020B0503020204020204" pitchFamily="34" charset="-122"/>
                <a:ea typeface="微软雅黑" panose="020B0503020204020204" pitchFamily="34" charset="-122"/>
              </a:rPr>
              <a:t>{</a:t>
            </a:r>
            <a:endParaRPr lang="zh-CN" altLang="zh-CN" dirty="0">
              <a:solidFill>
                <a:srgbClr val="990000"/>
              </a:solidFill>
              <a:latin typeface="微软雅黑" panose="020B0503020204020204" pitchFamily="34" charset="-122"/>
              <a:ea typeface="微软雅黑" panose="020B0503020204020204" pitchFamily="34" charset="-122"/>
            </a:endParaRPr>
          </a:p>
          <a:p>
            <a:pPr marL="0" indent="0">
              <a:lnSpc>
                <a:spcPct val="150000"/>
              </a:lnSpc>
              <a:buNone/>
            </a:pPr>
            <a:r>
              <a:rPr lang="en-US" altLang="zh-CN" dirty="0">
                <a:solidFill>
                  <a:srgbClr val="990000"/>
                </a:solidFill>
                <a:latin typeface="微软雅黑" panose="020B0503020204020204" pitchFamily="34" charset="-122"/>
                <a:ea typeface="微软雅黑" panose="020B0503020204020204" pitchFamily="34" charset="-122"/>
              </a:rPr>
              <a:t>	long long prod_64= (long long) x*y;</a:t>
            </a:r>
            <a:endParaRPr lang="zh-CN" altLang="zh-CN" dirty="0">
              <a:solidFill>
                <a:srgbClr val="990000"/>
              </a:solidFill>
              <a:latin typeface="微软雅黑" panose="020B0503020204020204" pitchFamily="34" charset="-122"/>
              <a:ea typeface="微软雅黑" panose="020B0503020204020204" pitchFamily="34" charset="-122"/>
            </a:endParaRPr>
          </a:p>
          <a:p>
            <a:pPr marL="0" indent="0">
              <a:lnSpc>
                <a:spcPct val="150000"/>
              </a:lnSpc>
              <a:buNone/>
            </a:pPr>
            <a:r>
              <a:rPr lang="en-US" altLang="zh-CN" dirty="0">
                <a:solidFill>
                  <a:srgbClr val="990000"/>
                </a:solidFill>
                <a:latin typeface="微软雅黑" panose="020B0503020204020204" pitchFamily="34" charset="-122"/>
                <a:ea typeface="微软雅黑" panose="020B0503020204020204" pitchFamily="34" charset="-122"/>
              </a:rPr>
              <a:t>	return prod_64 != (int) prod_64;</a:t>
            </a:r>
            <a:endParaRPr lang="zh-CN" altLang="zh-CN" dirty="0">
              <a:solidFill>
                <a:srgbClr val="990000"/>
              </a:solidFill>
              <a:latin typeface="微软雅黑" panose="020B0503020204020204" pitchFamily="34" charset="-122"/>
              <a:ea typeface="微软雅黑" panose="020B0503020204020204" pitchFamily="34" charset="-122"/>
            </a:endParaRPr>
          </a:p>
          <a:p>
            <a:pPr marL="0" indent="0">
              <a:lnSpc>
                <a:spcPct val="150000"/>
              </a:lnSpc>
              <a:buNone/>
            </a:pPr>
            <a:r>
              <a:rPr lang="en-US" altLang="zh-CN" dirty="0">
                <a:solidFill>
                  <a:srgbClr val="990000"/>
                </a:solidFill>
                <a:latin typeface="微软雅黑" panose="020B0503020204020204" pitchFamily="34" charset="-122"/>
                <a:ea typeface="微软雅黑" panose="020B0503020204020204" pitchFamily="34" charset="-122"/>
              </a:rPr>
              <a:t>} </a:t>
            </a:r>
            <a:endParaRPr lang="zh-CN" altLang="zh-CN" dirty="0">
              <a:solidFill>
                <a:srgbClr val="990000"/>
              </a:solidFill>
              <a:latin typeface="微软雅黑" panose="020B0503020204020204" pitchFamily="34" charset="-122"/>
              <a:ea typeface="微软雅黑" panose="020B0503020204020204" pitchFamily="34" charset="-122"/>
            </a:endParaRPr>
          </a:p>
          <a:p>
            <a:pPr marL="0" indent="0">
              <a:buNone/>
            </a:pPr>
            <a:endParaRPr lang="zh-CN" altLang="zh-CN"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a:xfrm>
            <a:off x="800100" y="190500"/>
            <a:ext cx="6073775" cy="479425"/>
          </a:xfrm>
          <a:ln/>
        </p:spPr>
        <p:txBody>
          <a:bodyPr vert="horz" wrap="square" lIns="63500" tIns="25400" rIns="63500" bIns="25400" anchor="t" anchorCtr="0">
            <a:spAutoFit/>
          </a:bodyPr>
          <a:p>
            <a:r>
              <a:rPr lang="zh-CN" altLang="en-US" dirty="0">
                <a:ea typeface="宋体" panose="02010600030101010101" pitchFamily="2" charset="-122"/>
              </a:rPr>
              <a:t>关于乘运算的几个问题</a:t>
            </a:r>
            <a:endParaRPr lang="zh-CN" altLang="en-US" dirty="0">
              <a:ea typeface="宋体" panose="02010600030101010101" pitchFamily="2" charset="-122"/>
            </a:endParaRPr>
          </a:p>
        </p:txBody>
      </p:sp>
      <p:sp>
        <p:nvSpPr>
          <p:cNvPr id="63491" name="内容占位符 2"/>
          <p:cNvSpPr>
            <a:spLocks noGrp="1"/>
          </p:cNvSpPr>
          <p:nvPr>
            <p:ph idx="1"/>
          </p:nvPr>
        </p:nvSpPr>
        <p:spPr>
          <a:xfrm>
            <a:off x="242888" y="785813"/>
            <a:ext cx="8702675" cy="5899150"/>
          </a:xfrm>
        </p:spPr>
        <p:txBody>
          <a:bodyPr vert="horz" wrap="square" lIns="63500" tIns="25400" rIns="63500" bIns="25400" numCol="1" anchor="t" anchorCtr="0" compatLnSpc="1">
            <a:spAutoFit/>
          </a:bodyPr>
          <a:lstStyle/>
          <a:p>
            <a:pPr marL="203200" marR="0" lvl="0" indent="-203200" algn="l" defTabSz="914400" rtl="0" eaLnBrk="0" fontAlgn="base" latinLnBrk="0" hangingPunct="0">
              <a:lnSpc>
                <a:spcPts val="3000"/>
              </a:lnSpc>
              <a:spcBef>
                <a:spcPts val="0"/>
              </a:spcBef>
              <a:spcAft>
                <a:spcPct val="0"/>
              </a:spcAft>
              <a:buClr>
                <a:schemeClr val="tx1"/>
              </a:buClr>
              <a:buSzPct val="60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假定</a:t>
            </a:r>
            <a:r>
              <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CPU</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中没有乘法器，只有</a:t>
            </a:r>
            <a:r>
              <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ALU</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、移位器以及与、或、非等逻辑电路，则其指令系统能提供乘法指令吗？ </a:t>
            </a:r>
            <a:endPar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ts val="3000"/>
              </a:lnSpc>
              <a:spcBef>
                <a:spcPts val="0"/>
              </a:spcBef>
              <a:spcAft>
                <a:spcPct val="0"/>
              </a:spcAft>
              <a:buClr>
                <a:schemeClr val="tx1"/>
              </a:buClr>
              <a:buSzPct val="60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假定</a:t>
            </a:r>
            <a:r>
              <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ISA</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中不包含乘法指令，但包含加、减、移位以及与、或、非三种逻辑运算指令，则基于该</a:t>
            </a:r>
            <a:r>
              <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ISA</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的系统能执行以下程序吗？ </a:t>
            </a:r>
            <a:endPar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imul</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x, </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y)  {</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return  x*y;</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 </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ts val="3000"/>
              </a:lnSpc>
              <a:spcBef>
                <a:spcPts val="0"/>
              </a:spcBef>
              <a:spcAft>
                <a:spcPct val="0"/>
              </a:spcAft>
              <a:buClr>
                <a:schemeClr val="tx1"/>
              </a:buClr>
              <a:buSzPct val="60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以下两个函数的机器级代码相同吗？ 返回的结果一定相同吗？什么情况下相同？返回的结果一定正确吗？</a:t>
            </a:r>
            <a:endPar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imul</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x, </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int</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y)  {</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return  x*y;</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 </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unsigned </a:t>
            </a:r>
            <a:r>
              <a:rPr kumimoji="0" lang="en-US" altLang="zh-CN" sz="2000" b="1" i="0" u="none" strike="noStrike" kern="0" cap="none" spc="0" normalizeH="0" baseline="0" noProof="0" dirty="0" err="1">
                <a:ln>
                  <a:noFill/>
                </a:ln>
                <a:solidFill>
                  <a:srgbClr val="990000"/>
                </a:solidFill>
                <a:effectLst/>
                <a:uLnTx/>
                <a:uFillTx/>
                <a:latin typeface="微软雅黑" panose="020B0503020204020204" pitchFamily="34" charset="-122"/>
                <a:ea typeface="微软雅黑" panose="020B0503020204020204" pitchFamily="34" charset="-122"/>
                <a:cs typeface="+mn-cs"/>
              </a:rPr>
              <a:t>imul</a:t>
            </a: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(unsigned x, unsigned y)  {</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return  x*y;</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ts val="0"/>
              </a:spcBef>
              <a:spcAft>
                <a:spcPct val="0"/>
              </a:spcAft>
              <a:buClr>
                <a:schemeClr val="tx1"/>
              </a:buClr>
              <a:buSzPct val="60000"/>
              <a:buFont typeface="Wingdings" panose="05000000000000000000" pitchFamily="2" charset="2"/>
              <a:buNone/>
              <a:defRPr/>
            </a:pPr>
            <a:r>
              <a:rPr kumimoji="0" lang="en-US"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rPr>
              <a:t>   } </a:t>
            </a:r>
            <a:endParaRPr kumimoji="0" lang="zh-CN" altLang="zh-CN" sz="2000" b="1" i="0" u="none" strike="noStrike" kern="0" cap="none" spc="0" normalizeH="0" baseline="0" noProof="0" dirty="0">
              <a:ln>
                <a:noFill/>
              </a:ln>
              <a:solidFill>
                <a:srgbClr val="990000"/>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ts val="3000"/>
              </a:lnSpc>
              <a:spcBef>
                <a:spcPts val="0"/>
              </a:spcBef>
              <a:spcAft>
                <a:spcPct val="0"/>
              </a:spcAft>
              <a:buClr>
                <a:schemeClr val="tx1"/>
              </a:buClr>
              <a:buSzPct val="60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上述程序执行时间比较</a:t>
            </a:r>
            <a:endParaRPr kumimoji="0" lang="en-US" altLang="zh-CN" sz="1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ts val="3000"/>
              </a:lnSpc>
              <a:spcBef>
                <a:spcPts val="0"/>
              </a:spcBef>
              <a:spcAft>
                <a:spcPct val="0"/>
              </a:spcAft>
              <a:buClr>
                <a:schemeClr val="tx1"/>
              </a:buClr>
              <a:buSzPct val="60000"/>
              <a:buFont typeface="Wingdings" panose="05000000000000000000" pitchFamily="2" charset="2"/>
              <a:buNone/>
              <a:defRPr/>
            </a:pPr>
            <a:r>
              <a:rPr kumimoji="0" lang="en-US" altLang="zh-CN" sz="1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①</a:t>
            </a: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无乘法指令     </a:t>
            </a:r>
            <a:r>
              <a:rPr kumimoji="0" lang="zh-CN" altLang="en-US" sz="20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②</a:t>
            </a: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有用</a:t>
            </a:r>
            <a:r>
              <a:rPr kumimoji="0" lang="en-US" altLang="zh-CN"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ALU</a:t>
            </a: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实现乘法指令   </a:t>
            </a:r>
            <a:r>
              <a:rPr kumimoji="0" lang="zh-CN" altLang="en-US" sz="20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 ③</a:t>
            </a: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具有用乘法器实现乘法指令</a:t>
            </a:r>
            <a:endParaRPr kumimoji="0" lang="en-US" altLang="zh-CN"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flipH="1">
            <a:off x="1962150" y="6121400"/>
            <a:ext cx="427038" cy="585788"/>
          </a:xfrm>
          <a:prstGeom prst="rect">
            <a:avLst/>
          </a:prstGeom>
          <a:noFill/>
          <a:ln w="9525">
            <a:noFill/>
          </a:ln>
        </p:spPr>
        <p:txBody>
          <a:bodyPr anchor="t" anchorCtr="0">
            <a:spAutoFit/>
          </a:bodyPr>
          <a:p>
            <a:pPr eaLnBrk="0" hangingPunct="0"/>
            <a:r>
              <a:rPr lang="en-US" altLang="zh-CN" sz="3200" dirty="0">
                <a:latin typeface="微软雅黑" panose="020B0503020204020204" pitchFamily="34" charset="-122"/>
                <a:ea typeface="微软雅黑" panose="020B0503020204020204" pitchFamily="34" charset="-122"/>
              </a:rPr>
              <a:t>&gt;</a:t>
            </a:r>
            <a:r>
              <a:rPr lang="en-US" altLang="zh-CN" dirty="0">
                <a:latin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endParaRPr>
          </a:p>
        </p:txBody>
      </p:sp>
      <p:sp>
        <p:nvSpPr>
          <p:cNvPr id="5" name="文本框 4"/>
          <p:cNvSpPr txBox="1"/>
          <p:nvPr/>
        </p:nvSpPr>
        <p:spPr>
          <a:xfrm flipH="1">
            <a:off x="5108575" y="6121400"/>
            <a:ext cx="427038" cy="585788"/>
          </a:xfrm>
          <a:prstGeom prst="rect">
            <a:avLst/>
          </a:prstGeom>
          <a:noFill/>
          <a:ln w="9525">
            <a:noFill/>
          </a:ln>
        </p:spPr>
        <p:txBody>
          <a:bodyPr anchor="t" anchorCtr="0">
            <a:spAutoFit/>
          </a:bodyPr>
          <a:p>
            <a:pPr eaLnBrk="0" hangingPunct="0"/>
            <a:r>
              <a:rPr lang="en-US" altLang="zh-CN" sz="3200" dirty="0">
                <a:latin typeface="微软雅黑" panose="020B0503020204020204" pitchFamily="34" charset="-122"/>
                <a:ea typeface="微软雅黑" panose="020B0503020204020204" pitchFamily="34" charset="-122"/>
              </a:rPr>
              <a:t>&gt;</a:t>
            </a:r>
            <a:r>
              <a:rPr lang="en-US" altLang="zh-CN" dirty="0">
                <a:latin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endParaRPr>
          </a:p>
        </p:txBody>
      </p:sp>
      <p:sp>
        <p:nvSpPr>
          <p:cNvPr id="6" name="文本框 5"/>
          <p:cNvSpPr txBox="1"/>
          <p:nvPr/>
        </p:nvSpPr>
        <p:spPr>
          <a:xfrm flipH="1">
            <a:off x="5980113" y="5006975"/>
            <a:ext cx="3038475" cy="1014413"/>
          </a:xfrm>
          <a:prstGeom prst="rect">
            <a:avLst/>
          </a:prstGeom>
          <a:noFill/>
          <a:ln w="9525">
            <a:noFill/>
          </a:ln>
        </p:spPr>
        <p:txBody>
          <a:bodyPr anchor="t" anchorCtr="0">
            <a:spAutoFit/>
          </a:bodyPr>
          <a:p>
            <a:pPr eaLnBrk="0" hangingPunct="0"/>
            <a:r>
              <a:rPr lang="zh-CN" altLang="en-US" sz="2000" dirty="0">
                <a:solidFill>
                  <a:schemeClr val="accent2"/>
                </a:solidFill>
                <a:latin typeface="微软雅黑" panose="020B0503020204020204" pitchFamily="34" charset="-122"/>
                <a:ea typeface="微软雅黑" panose="020B0503020204020204" pitchFamily="34" charset="-122"/>
              </a:rPr>
              <a:t>①：用循环程序实现</a:t>
            </a:r>
            <a:endParaRPr lang="en-US" altLang="zh-CN" sz="2000" dirty="0">
              <a:solidFill>
                <a:schemeClr val="accent2"/>
              </a:solidFill>
              <a:latin typeface="微软雅黑" panose="020B0503020204020204" pitchFamily="34" charset="-122"/>
              <a:ea typeface="微软雅黑" panose="020B0503020204020204" pitchFamily="34" charset="-122"/>
            </a:endParaRPr>
          </a:p>
          <a:p>
            <a:pPr eaLnBrk="0" hangingPunct="0"/>
            <a:r>
              <a:rPr lang="zh-CN" altLang="zh-CN" sz="2000" dirty="0">
                <a:solidFill>
                  <a:schemeClr val="accent2"/>
                </a:solidFill>
                <a:latin typeface="微软雅黑" panose="020B0503020204020204" pitchFamily="34" charset="-122"/>
                <a:ea typeface="微软雅黑" panose="020B0503020204020204" pitchFamily="34" charset="-122"/>
              </a:rPr>
              <a:t>②</a:t>
            </a:r>
            <a:r>
              <a:rPr lang="zh-CN" altLang="en-US" sz="2000" dirty="0">
                <a:solidFill>
                  <a:schemeClr val="accent2"/>
                </a:solidFill>
                <a:latin typeface="微软雅黑" panose="020B0503020204020204" pitchFamily="34" charset="-122"/>
                <a:ea typeface="微软雅黑" panose="020B0503020204020204" pitchFamily="34" charset="-122"/>
              </a:rPr>
              <a:t>：直接用较慢指令实现</a:t>
            </a:r>
            <a:endParaRPr lang="en-US" altLang="zh-CN" sz="2000" dirty="0">
              <a:solidFill>
                <a:schemeClr val="accent2"/>
              </a:solidFill>
              <a:latin typeface="微软雅黑" panose="020B0503020204020204" pitchFamily="34" charset="-122"/>
              <a:ea typeface="微软雅黑" panose="020B0503020204020204" pitchFamily="34" charset="-122"/>
            </a:endParaRPr>
          </a:p>
          <a:p>
            <a:pPr eaLnBrk="0" hangingPunct="0"/>
            <a:r>
              <a:rPr lang="zh-CN" altLang="zh-CN" sz="2000" dirty="0">
                <a:solidFill>
                  <a:schemeClr val="accent2"/>
                </a:solidFill>
                <a:latin typeface="微软雅黑" panose="020B0503020204020204" pitchFamily="34" charset="-122"/>
                <a:ea typeface="微软雅黑" panose="020B0503020204020204" pitchFamily="34" charset="-122"/>
              </a:rPr>
              <a:t>③</a:t>
            </a:r>
            <a:r>
              <a:rPr lang="zh-CN" altLang="en-US" sz="2000" dirty="0">
                <a:solidFill>
                  <a:schemeClr val="accent2"/>
                </a:solidFill>
                <a:latin typeface="微软雅黑" panose="020B0503020204020204" pitchFamily="34" charset="-122"/>
                <a:ea typeface="微软雅黑" panose="020B0503020204020204" pitchFamily="34" charset="-122"/>
              </a:rPr>
              <a:t>：直接用较快指令实现</a:t>
            </a:r>
            <a:r>
              <a:rPr lang="en-US" altLang="zh-CN" dirty="0">
                <a:latin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3491">
                                            <p:txEl>
                                              <p:charRg st="0" end="51"/>
                                            </p:txEl>
                                          </p:spTgt>
                                        </p:tgtEl>
                                        <p:attrNameLst>
                                          <p:attrName>style.visibility</p:attrName>
                                        </p:attrNameLst>
                                      </p:cBhvr>
                                      <p:to>
                                        <p:strVal val="visible"/>
                                      </p:to>
                                    </p:set>
                                    <p:animEffect transition="in" filter="randombar(horizontal)">
                                      <p:cBhvr>
                                        <p:cTn id="7" dur="500"/>
                                        <p:tgtEl>
                                          <p:spTgt spid="63491">
                                            <p:txEl>
                                              <p:charRg st="0" end="5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3491">
                                            <p:txEl>
                                              <p:charRg st="51" end="111"/>
                                            </p:txEl>
                                          </p:spTgt>
                                        </p:tgtEl>
                                        <p:attrNameLst>
                                          <p:attrName>style.visibility</p:attrName>
                                        </p:attrNameLst>
                                      </p:cBhvr>
                                      <p:to>
                                        <p:strVal val="visible"/>
                                      </p:to>
                                    </p:set>
                                    <p:animEffect transition="in" filter="randombar(horizontal)">
                                      <p:cBhvr>
                                        <p:cTn id="12" dur="500"/>
                                        <p:tgtEl>
                                          <p:spTgt spid="63491">
                                            <p:txEl>
                                              <p:charRg st="51" end="11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63491">
                                            <p:txEl>
                                              <p:charRg st="111" end="140"/>
                                            </p:txEl>
                                          </p:spTgt>
                                        </p:tgtEl>
                                        <p:attrNameLst>
                                          <p:attrName>style.visibility</p:attrName>
                                        </p:attrNameLst>
                                      </p:cBhvr>
                                      <p:to>
                                        <p:strVal val="visible"/>
                                      </p:to>
                                    </p:set>
                                    <p:animEffect transition="in" filter="randombar(horizontal)">
                                      <p:cBhvr>
                                        <p:cTn id="15" dur="500"/>
                                        <p:tgtEl>
                                          <p:spTgt spid="63491">
                                            <p:txEl>
                                              <p:charRg st="111" end="140"/>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63491">
                                            <p:txEl>
                                              <p:charRg st="140" end="154"/>
                                            </p:txEl>
                                          </p:spTgt>
                                        </p:tgtEl>
                                        <p:attrNameLst>
                                          <p:attrName>style.visibility</p:attrName>
                                        </p:attrNameLst>
                                      </p:cBhvr>
                                      <p:to>
                                        <p:strVal val="visible"/>
                                      </p:to>
                                    </p:set>
                                    <p:animEffect transition="in" filter="randombar(horizontal)">
                                      <p:cBhvr>
                                        <p:cTn id="18" dur="500"/>
                                        <p:tgtEl>
                                          <p:spTgt spid="63491">
                                            <p:txEl>
                                              <p:charRg st="140" end="154"/>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63491">
                                            <p:txEl>
                                              <p:charRg st="154" end="160"/>
                                            </p:txEl>
                                          </p:spTgt>
                                        </p:tgtEl>
                                        <p:attrNameLst>
                                          <p:attrName>style.visibility</p:attrName>
                                        </p:attrNameLst>
                                      </p:cBhvr>
                                      <p:to>
                                        <p:strVal val="visible"/>
                                      </p:to>
                                    </p:set>
                                    <p:animEffect transition="in" filter="randombar(horizontal)">
                                      <p:cBhvr>
                                        <p:cTn id="21" dur="500"/>
                                        <p:tgtEl>
                                          <p:spTgt spid="63491">
                                            <p:txEl>
                                              <p:charRg st="154" end="16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63491">
                                            <p:txEl>
                                              <p:charRg st="160" end="208"/>
                                            </p:txEl>
                                          </p:spTgt>
                                        </p:tgtEl>
                                        <p:attrNameLst>
                                          <p:attrName>style.visibility</p:attrName>
                                        </p:attrNameLst>
                                      </p:cBhvr>
                                      <p:to>
                                        <p:strVal val="visible"/>
                                      </p:to>
                                    </p:set>
                                    <p:animEffect transition="in" filter="randombar(horizontal)">
                                      <p:cBhvr>
                                        <p:cTn id="26" dur="500"/>
                                        <p:tgtEl>
                                          <p:spTgt spid="63491">
                                            <p:txEl>
                                              <p:charRg st="160" end="208"/>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63491">
                                            <p:txEl>
                                              <p:charRg st="208" end="237"/>
                                            </p:txEl>
                                          </p:spTgt>
                                        </p:tgtEl>
                                        <p:attrNameLst>
                                          <p:attrName>style.visibility</p:attrName>
                                        </p:attrNameLst>
                                      </p:cBhvr>
                                      <p:to>
                                        <p:strVal val="visible"/>
                                      </p:to>
                                    </p:set>
                                    <p:animEffect transition="in" filter="randombar(horizontal)">
                                      <p:cBhvr>
                                        <p:cTn id="29" dur="500"/>
                                        <p:tgtEl>
                                          <p:spTgt spid="63491">
                                            <p:txEl>
                                              <p:charRg st="208" end="237"/>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63491">
                                            <p:txEl>
                                              <p:charRg st="237" end="251"/>
                                            </p:txEl>
                                          </p:spTgt>
                                        </p:tgtEl>
                                        <p:attrNameLst>
                                          <p:attrName>style.visibility</p:attrName>
                                        </p:attrNameLst>
                                      </p:cBhvr>
                                      <p:to>
                                        <p:strVal val="visible"/>
                                      </p:to>
                                    </p:set>
                                    <p:animEffect transition="in" filter="randombar(horizontal)">
                                      <p:cBhvr>
                                        <p:cTn id="32" dur="500"/>
                                        <p:tgtEl>
                                          <p:spTgt spid="63491">
                                            <p:txEl>
                                              <p:charRg st="237" end="251"/>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63491">
                                            <p:txEl>
                                              <p:charRg st="251" end="257"/>
                                            </p:txEl>
                                          </p:spTgt>
                                        </p:tgtEl>
                                        <p:attrNameLst>
                                          <p:attrName>style.visibility</p:attrName>
                                        </p:attrNameLst>
                                      </p:cBhvr>
                                      <p:to>
                                        <p:strVal val="visible"/>
                                      </p:to>
                                    </p:set>
                                    <p:animEffect transition="in" filter="randombar(horizontal)">
                                      <p:cBhvr>
                                        <p:cTn id="35" dur="500"/>
                                        <p:tgtEl>
                                          <p:spTgt spid="63491">
                                            <p:txEl>
                                              <p:charRg st="251" end="257"/>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63491">
                                            <p:txEl>
                                              <p:charRg st="257" end="300"/>
                                            </p:txEl>
                                          </p:spTgt>
                                        </p:tgtEl>
                                        <p:attrNameLst>
                                          <p:attrName>style.visibility</p:attrName>
                                        </p:attrNameLst>
                                      </p:cBhvr>
                                      <p:to>
                                        <p:strVal val="visible"/>
                                      </p:to>
                                    </p:set>
                                    <p:animEffect transition="in" filter="randombar(horizontal)">
                                      <p:cBhvr>
                                        <p:cTn id="38" dur="500"/>
                                        <p:tgtEl>
                                          <p:spTgt spid="63491">
                                            <p:txEl>
                                              <p:charRg st="257" end="300"/>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63491">
                                            <p:txEl>
                                              <p:charRg st="300" end="314"/>
                                            </p:txEl>
                                          </p:spTgt>
                                        </p:tgtEl>
                                        <p:attrNameLst>
                                          <p:attrName>style.visibility</p:attrName>
                                        </p:attrNameLst>
                                      </p:cBhvr>
                                      <p:to>
                                        <p:strVal val="visible"/>
                                      </p:to>
                                    </p:set>
                                    <p:animEffect transition="in" filter="randombar(horizontal)">
                                      <p:cBhvr>
                                        <p:cTn id="41" dur="500"/>
                                        <p:tgtEl>
                                          <p:spTgt spid="63491">
                                            <p:txEl>
                                              <p:charRg st="300" end="314"/>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63491">
                                            <p:txEl>
                                              <p:charRg st="314" end="320"/>
                                            </p:txEl>
                                          </p:spTgt>
                                        </p:tgtEl>
                                        <p:attrNameLst>
                                          <p:attrName>style.visibility</p:attrName>
                                        </p:attrNameLst>
                                      </p:cBhvr>
                                      <p:to>
                                        <p:strVal val="visible"/>
                                      </p:to>
                                    </p:set>
                                    <p:animEffect transition="in" filter="randombar(horizontal)">
                                      <p:cBhvr>
                                        <p:cTn id="44" dur="500"/>
                                        <p:tgtEl>
                                          <p:spTgt spid="63491">
                                            <p:txEl>
                                              <p:charRg st="314" end="32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nodeType="clickEffect">
                                  <p:stCondLst>
                                    <p:cond delay="0"/>
                                  </p:stCondLst>
                                  <p:childTnLst>
                                    <p:set>
                                      <p:cBhvr>
                                        <p:cTn id="48" dur="1" fill="hold">
                                          <p:stCondLst>
                                            <p:cond delay="0"/>
                                          </p:stCondLst>
                                        </p:cTn>
                                        <p:tgtEl>
                                          <p:spTgt spid="63491">
                                            <p:txEl>
                                              <p:charRg st="320" end="331"/>
                                            </p:txEl>
                                          </p:spTgt>
                                        </p:tgtEl>
                                        <p:attrNameLst>
                                          <p:attrName>style.visibility</p:attrName>
                                        </p:attrNameLst>
                                      </p:cBhvr>
                                      <p:to>
                                        <p:strVal val="visible"/>
                                      </p:to>
                                    </p:set>
                                    <p:animEffect transition="in" filter="randombar(horizontal)">
                                      <p:cBhvr>
                                        <p:cTn id="49" dur="500"/>
                                        <p:tgtEl>
                                          <p:spTgt spid="63491">
                                            <p:txEl>
                                              <p:charRg st="320" end="33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nodeType="clickEffect">
                                  <p:stCondLst>
                                    <p:cond delay="0"/>
                                  </p:stCondLst>
                                  <p:childTnLst>
                                    <p:set>
                                      <p:cBhvr>
                                        <p:cTn id="53" dur="1" fill="hold">
                                          <p:stCondLst>
                                            <p:cond delay="0"/>
                                          </p:stCondLst>
                                        </p:cTn>
                                        <p:tgtEl>
                                          <p:spTgt spid="63491">
                                            <p:txEl>
                                              <p:charRg st="331" end="375"/>
                                            </p:txEl>
                                          </p:spTgt>
                                        </p:tgtEl>
                                        <p:attrNameLst>
                                          <p:attrName>style.visibility</p:attrName>
                                        </p:attrNameLst>
                                      </p:cBhvr>
                                      <p:to>
                                        <p:strVal val="visible"/>
                                      </p:to>
                                    </p:set>
                                    <p:animEffect transition="in" filter="randombar(horizontal)">
                                      <p:cBhvr>
                                        <p:cTn id="54" dur="500"/>
                                        <p:tgtEl>
                                          <p:spTgt spid="63491">
                                            <p:txEl>
                                              <p:charRg st="331" end="37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randombar(horizontal)">
                                      <p:cBhvr>
                                        <p:cTn id="59" dur="500"/>
                                        <p:tgtEl>
                                          <p:spTgt spid="2"/>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grpId="0" nodeType="click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randombar(horizontal)">
                                      <p:cBhvr>
                                        <p:cTn id="64" dur="500"/>
                                        <p:tgtEl>
                                          <p:spTgt spid="5"/>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randombar(horizontal)">
                                      <p:cBhvr>
                                        <p:cTn id="6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type="title"/>
          </p:nvPr>
        </p:nvSpPr>
        <p:spPr>
          <a:xfrm>
            <a:off x="800100" y="198438"/>
            <a:ext cx="6126163" cy="479425"/>
          </a:xfrm>
          <a:ln/>
        </p:spPr>
        <p:txBody>
          <a:bodyPr vert="horz" wrap="none" lIns="63500" tIns="25400" rIns="63500" bIns="25400" anchor="t" anchorCtr="0">
            <a:spAutoFit/>
          </a:bodyPr>
          <a:p>
            <a:r>
              <a:rPr lang="zh-CN" altLang="en-US" dirty="0">
                <a:ea typeface="宋体" panose="02010600030101010101" pitchFamily="2" charset="-122"/>
              </a:rPr>
              <a:t>除法（</a:t>
            </a:r>
            <a:r>
              <a:rPr lang="en-US" altLang="zh-CN" dirty="0">
                <a:ea typeface="宋体" panose="02010600030101010101" pitchFamily="2" charset="-122"/>
              </a:rPr>
              <a:t>Divide</a:t>
            </a:r>
            <a:r>
              <a:rPr lang="zh-CN" altLang="en-US" dirty="0">
                <a:ea typeface="宋体" panose="02010600030101010101" pitchFamily="2" charset="-122"/>
              </a:rPr>
              <a:t>）</a:t>
            </a:r>
            <a:r>
              <a:rPr lang="en-US" altLang="zh-CN" dirty="0">
                <a:ea typeface="宋体" panose="02010600030101010101" pitchFamily="2" charset="-122"/>
              </a:rPr>
              <a:t>: Paper &amp; Pencil</a:t>
            </a:r>
            <a:endParaRPr lang="en-US" altLang="zh-CN" dirty="0">
              <a:ea typeface="宋体" panose="02010600030101010101" pitchFamily="2" charset="-122"/>
            </a:endParaRPr>
          </a:p>
        </p:txBody>
      </p:sp>
      <p:sp>
        <p:nvSpPr>
          <p:cNvPr id="87042" name="Rectangle 3"/>
          <p:cNvSpPr>
            <a:spLocks noGrp="1"/>
          </p:cNvSpPr>
          <p:nvPr>
            <p:ph idx="1"/>
          </p:nvPr>
        </p:nvSpPr>
        <p:spPr>
          <a:xfrm>
            <a:off x="409575" y="1019175"/>
            <a:ext cx="6562725" cy="2979738"/>
          </a:xfrm>
          <a:ln/>
        </p:spPr>
        <p:txBody>
          <a:bodyPr vert="horz" wrap="square" lIns="63500" tIns="25400" rIns="63500" bIns="25400" anchor="t" anchorCtr="0">
            <a:spAutoFit/>
          </a:bodyPr>
          <a:p>
            <a:pPr>
              <a:lnSpc>
                <a:spcPct val="100000"/>
              </a:lnSpc>
              <a:buNone/>
            </a:pPr>
            <a:r>
              <a:rPr lang="zh-CN" altLang="en-US" sz="1800" dirty="0">
                <a:latin typeface="Century Gothic" pitchFamily="34" charset="0"/>
              </a:rPr>
              <a:t>                                       </a:t>
            </a:r>
            <a:r>
              <a:rPr lang="zh-CN" altLang="en-US" sz="2000" dirty="0">
                <a:latin typeface="Century Gothic" pitchFamily="34" charset="0"/>
              </a:rPr>
              <a:t> 	</a:t>
            </a:r>
            <a:r>
              <a:rPr lang="en-US" altLang="zh-CN" sz="2000" dirty="0">
                <a:latin typeface="Century Gothic" pitchFamily="34" charset="0"/>
              </a:rPr>
              <a:t>Quotient(</a:t>
            </a:r>
            <a:r>
              <a:rPr lang="zh-CN" altLang="en-US" dirty="0">
                <a:latin typeface="Century Gothic" pitchFamily="34" charset="0"/>
                <a:ea typeface="黑体" panose="02010609060101010101" pitchFamily="49" charset="-122"/>
              </a:rPr>
              <a:t>商</a:t>
            </a:r>
            <a:r>
              <a:rPr lang="en-US" altLang="zh-CN" sz="2000" dirty="0">
                <a:latin typeface="Century Gothic" pitchFamily="34" charset="0"/>
              </a:rPr>
              <a:t>)    </a:t>
            </a:r>
            <a:r>
              <a:rPr lang="zh-CN" altLang="en-US" sz="2000" dirty="0">
                <a:latin typeface="Century Gothic" pitchFamily="34" charset="0"/>
              </a:rPr>
              <a:t>1001</a:t>
            </a:r>
            <a:endParaRPr lang="en-US" altLang="zh-CN" sz="2000" dirty="0">
              <a:latin typeface="Century Gothic" pitchFamily="34" charset="0"/>
            </a:endParaRPr>
          </a:p>
          <a:p>
            <a:pPr>
              <a:lnSpc>
                <a:spcPct val="100000"/>
              </a:lnSpc>
              <a:buNone/>
            </a:pPr>
            <a:r>
              <a:rPr lang="en-US" altLang="zh-CN" sz="2000" dirty="0">
                <a:latin typeface="Century Gothic" pitchFamily="34" charset="0"/>
              </a:rPr>
              <a:t>     Divisor 1000   1001010 	Dividend(</a:t>
            </a:r>
            <a:r>
              <a:rPr lang="zh-CN" altLang="en-US" dirty="0">
                <a:latin typeface="Century Gothic" pitchFamily="34" charset="0"/>
                <a:ea typeface="黑体" panose="02010609060101010101" pitchFamily="49" charset="-122"/>
              </a:rPr>
              <a:t>被除数</a:t>
            </a:r>
            <a:r>
              <a:rPr lang="en-US" altLang="zh-CN" sz="2000" dirty="0">
                <a:latin typeface="Century Gothic" pitchFamily="34" charset="0"/>
              </a:rPr>
              <a:t>)</a:t>
            </a:r>
            <a:br>
              <a:rPr lang="en-US" altLang="zh-CN" sz="2000" dirty="0">
                <a:latin typeface="Century Gothic" pitchFamily="34" charset="0"/>
              </a:rPr>
            </a:br>
            <a:r>
              <a:rPr lang="en-US" altLang="zh-CN" sz="2000" dirty="0">
                <a:latin typeface="Century Gothic" pitchFamily="34" charset="0"/>
              </a:rPr>
              <a:t>		     -1000</a:t>
            </a:r>
            <a:br>
              <a:rPr lang="en-US" altLang="zh-CN" sz="2000" dirty="0">
                <a:latin typeface="Century Gothic" pitchFamily="34" charset="0"/>
              </a:rPr>
            </a:br>
            <a:r>
              <a:rPr lang="en-US" altLang="zh-CN" sz="2000" dirty="0">
                <a:latin typeface="Century Gothic" pitchFamily="34" charset="0"/>
              </a:rPr>
              <a:t>	                10</a:t>
            </a:r>
            <a:br>
              <a:rPr lang="en-US" altLang="zh-CN" sz="2000" dirty="0">
                <a:latin typeface="Century Gothic" pitchFamily="34" charset="0"/>
              </a:rPr>
            </a:br>
            <a:r>
              <a:rPr lang="en-US" altLang="zh-CN" sz="2000" dirty="0">
                <a:latin typeface="Century Gothic" pitchFamily="34" charset="0"/>
              </a:rPr>
              <a:t>		         101</a:t>
            </a:r>
            <a:br>
              <a:rPr lang="en-US" altLang="zh-CN" sz="2000" dirty="0">
                <a:latin typeface="Century Gothic" pitchFamily="34" charset="0"/>
              </a:rPr>
            </a:br>
            <a:r>
              <a:rPr lang="en-US" altLang="zh-CN" sz="2000" dirty="0">
                <a:latin typeface="Century Gothic" pitchFamily="34" charset="0"/>
              </a:rPr>
              <a:t>    		         1010</a:t>
            </a:r>
            <a:br>
              <a:rPr lang="en-US" altLang="zh-CN" sz="2000" dirty="0">
                <a:latin typeface="Century Gothic" pitchFamily="34" charset="0"/>
              </a:rPr>
            </a:br>
            <a:r>
              <a:rPr lang="en-US" altLang="zh-CN" sz="2000" dirty="0">
                <a:latin typeface="Century Gothic" pitchFamily="34" charset="0"/>
              </a:rPr>
              <a:t>		        -1000</a:t>
            </a:r>
            <a:br>
              <a:rPr lang="en-US" altLang="zh-CN" sz="2000" dirty="0">
                <a:latin typeface="Century Gothic" pitchFamily="34" charset="0"/>
              </a:rPr>
            </a:br>
            <a:r>
              <a:rPr lang="en-US" altLang="zh-CN" sz="2000" dirty="0">
                <a:latin typeface="Century Gothic" pitchFamily="34" charset="0"/>
              </a:rPr>
              <a:t>                        10 Remainder (</a:t>
            </a:r>
            <a:r>
              <a:rPr lang="zh-CN" altLang="en-US" dirty="0">
                <a:latin typeface="Century Gothic" pitchFamily="34" charset="0"/>
                <a:ea typeface="黑体" panose="02010609060101010101" pitchFamily="49" charset="-122"/>
              </a:rPr>
              <a:t>余数</a:t>
            </a:r>
            <a:r>
              <a:rPr lang="en-US" altLang="zh-CN" dirty="0">
                <a:latin typeface="Century Gothic" pitchFamily="34" charset="0"/>
                <a:ea typeface="黑体" panose="02010609060101010101" pitchFamily="49" charset="-122"/>
              </a:rPr>
              <a:t>)</a:t>
            </a:r>
            <a:endParaRPr lang="en-US" altLang="zh-CN" dirty="0">
              <a:latin typeface="Century Gothic" pitchFamily="34" charset="0"/>
              <a:ea typeface="黑体" panose="02010609060101010101" pitchFamily="49" charset="-122"/>
            </a:endParaRPr>
          </a:p>
        </p:txBody>
      </p:sp>
      <p:sp>
        <p:nvSpPr>
          <p:cNvPr id="87043" name="Line 4"/>
          <p:cNvSpPr/>
          <p:nvPr/>
        </p:nvSpPr>
        <p:spPr>
          <a:xfrm flipV="1">
            <a:off x="2882900" y="1684338"/>
            <a:ext cx="0" cy="406400"/>
          </a:xfrm>
          <a:prstGeom prst="line">
            <a:avLst/>
          </a:prstGeom>
          <a:ln w="25400" cap="flat" cmpd="sng">
            <a:solidFill>
              <a:schemeClr val="tx1"/>
            </a:solidFill>
            <a:prstDash val="solid"/>
            <a:round/>
            <a:headEnd type="none" w="med" len="med"/>
            <a:tailEnd type="none" w="med" len="med"/>
          </a:ln>
        </p:spPr>
      </p:sp>
      <p:sp>
        <p:nvSpPr>
          <p:cNvPr id="87044" name="Line 5"/>
          <p:cNvSpPr/>
          <p:nvPr/>
        </p:nvSpPr>
        <p:spPr>
          <a:xfrm>
            <a:off x="2873375" y="1663700"/>
            <a:ext cx="1289050" cy="0"/>
          </a:xfrm>
          <a:prstGeom prst="line">
            <a:avLst/>
          </a:prstGeom>
          <a:ln w="25400" cap="flat" cmpd="sng">
            <a:solidFill>
              <a:schemeClr val="tx1"/>
            </a:solidFill>
            <a:prstDash val="solid"/>
            <a:round/>
            <a:headEnd type="none" w="med" len="med"/>
            <a:tailEnd type="none" w="med" len="med"/>
          </a:ln>
        </p:spPr>
      </p:sp>
      <p:sp>
        <p:nvSpPr>
          <p:cNvPr id="87045" name="Line 6"/>
          <p:cNvSpPr/>
          <p:nvPr/>
        </p:nvSpPr>
        <p:spPr>
          <a:xfrm>
            <a:off x="2909888" y="2428875"/>
            <a:ext cx="931862" cy="0"/>
          </a:xfrm>
          <a:prstGeom prst="line">
            <a:avLst/>
          </a:prstGeom>
          <a:ln w="25400" cap="flat" cmpd="sng">
            <a:solidFill>
              <a:schemeClr val="tx1"/>
            </a:solidFill>
            <a:prstDash val="solid"/>
            <a:round/>
            <a:headEnd type="none" w="med" len="med"/>
            <a:tailEnd type="none" w="med" len="med"/>
          </a:ln>
        </p:spPr>
      </p:sp>
      <p:sp>
        <p:nvSpPr>
          <p:cNvPr id="87046" name="Line 8"/>
          <p:cNvSpPr/>
          <p:nvPr/>
        </p:nvSpPr>
        <p:spPr>
          <a:xfrm>
            <a:off x="3170238" y="3586163"/>
            <a:ext cx="931862" cy="0"/>
          </a:xfrm>
          <a:prstGeom prst="line">
            <a:avLst/>
          </a:prstGeom>
          <a:ln w="25400" cap="flat" cmpd="sng">
            <a:solidFill>
              <a:schemeClr val="tx1"/>
            </a:solidFill>
            <a:prstDash val="solid"/>
            <a:round/>
            <a:headEnd type="none" w="med" len="med"/>
            <a:tailEnd type="none" w="med" len="med"/>
          </a:ln>
        </p:spPr>
      </p:sp>
      <p:sp>
        <p:nvSpPr>
          <p:cNvPr id="87047" name="Rectangle 10"/>
          <p:cNvSpPr/>
          <p:nvPr/>
        </p:nvSpPr>
        <p:spPr>
          <a:xfrm>
            <a:off x="57150" y="3917950"/>
            <a:ext cx="8813800" cy="2092325"/>
          </a:xfrm>
          <a:prstGeom prst="rect">
            <a:avLst/>
          </a:prstGeom>
          <a:noFill/>
          <a:ln w="12700">
            <a:noFill/>
          </a:ln>
        </p:spPr>
        <p:txBody>
          <a:bodyPr lIns="63500" tIns="25400" rIns="63500" bIns="25400" anchor="t" anchorCtr="0">
            <a:spAutoFit/>
          </a:bodyPr>
          <a:p>
            <a:pPr marL="419100" indent="-419100" eaLnBrk="0" hangingPunct="0">
              <a:lnSpc>
                <a:spcPct val="110000"/>
              </a:lnSpc>
              <a:spcBef>
                <a:spcPct val="20000"/>
              </a:spcBef>
              <a:buClr>
                <a:schemeClr val="tx1"/>
              </a:buClr>
              <a:buSzPct val="60000"/>
              <a:buFont typeface="Wingdings" panose="05000000000000000000" pitchFamily="2" charset="2"/>
              <a:buChar char="u"/>
            </a:pPr>
            <a:r>
              <a:rPr lang="zh-CN" altLang="en-US" sz="2200" dirty="0">
                <a:solidFill>
                  <a:srgbClr val="CC3300"/>
                </a:solidFill>
                <a:latin typeface="黑体" panose="02010609060101010101" pitchFamily="49" charset="-122"/>
                <a:ea typeface="黑体" panose="02010609060101010101" pitchFamily="49" charset="-122"/>
              </a:rPr>
              <a:t>手算除法的基本要点</a:t>
            </a:r>
            <a:endParaRPr lang="zh-CN" altLang="en-US" sz="2200" dirty="0">
              <a:solidFill>
                <a:srgbClr val="CC3300"/>
              </a:solidFill>
              <a:latin typeface="黑体" panose="02010609060101010101" pitchFamily="49" charset="-122"/>
              <a:ea typeface="黑体" panose="02010609060101010101" pitchFamily="49" charset="-122"/>
            </a:endParaRPr>
          </a:p>
          <a:p>
            <a:pPr marL="876300" lvl="1" indent="-381000" eaLnBrk="0" hangingPunct="0">
              <a:lnSpc>
                <a:spcPct val="110000"/>
              </a:lnSpc>
              <a:spcBef>
                <a:spcPct val="20000"/>
              </a:spcBef>
            </a:pPr>
            <a:r>
              <a:rPr lang="zh-CN" altLang="en-US" sz="2200" dirty="0">
                <a:solidFill>
                  <a:schemeClr val="accent2"/>
                </a:solidFill>
                <a:latin typeface="Times New Roman" panose="02020603050405020304" pitchFamily="18" charset="0"/>
                <a:ea typeface="宋体" panose="02010600030101010101" pitchFamily="2" charset="-122"/>
              </a:rPr>
              <a:t>① </a:t>
            </a:r>
            <a:r>
              <a:rPr lang="zh-CN" altLang="en-US" sz="2200" dirty="0">
                <a:solidFill>
                  <a:schemeClr val="accent2"/>
                </a:solidFill>
                <a:latin typeface="黑体" panose="02010609060101010101" pitchFamily="49" charset="-122"/>
                <a:ea typeface="黑体" panose="02010609060101010101" pitchFamily="49" charset="-122"/>
              </a:rPr>
              <a:t>被除数与除数相减，够减则上商为</a:t>
            </a:r>
            <a:r>
              <a:rPr lang="en-US" altLang="zh-CN" sz="2200" dirty="0">
                <a:solidFill>
                  <a:schemeClr val="accent2"/>
                </a:solidFill>
                <a:latin typeface="黑体" panose="02010609060101010101" pitchFamily="49" charset="-122"/>
                <a:ea typeface="黑体" panose="02010609060101010101" pitchFamily="49" charset="-122"/>
              </a:rPr>
              <a:t>1</a:t>
            </a:r>
            <a:r>
              <a:rPr lang="zh-CN" altLang="en-US" sz="2200" dirty="0">
                <a:solidFill>
                  <a:schemeClr val="accent2"/>
                </a:solidFill>
                <a:latin typeface="黑体" panose="02010609060101010101" pitchFamily="49" charset="-122"/>
                <a:ea typeface="黑体" panose="02010609060101010101" pitchFamily="49" charset="-122"/>
              </a:rPr>
              <a:t>；不够减则上商为</a:t>
            </a:r>
            <a:r>
              <a:rPr lang="en-US" altLang="zh-CN" sz="2200" dirty="0">
                <a:solidFill>
                  <a:schemeClr val="accent2"/>
                </a:solidFill>
                <a:latin typeface="黑体" panose="02010609060101010101" pitchFamily="49" charset="-122"/>
                <a:ea typeface="黑体" panose="02010609060101010101" pitchFamily="49" charset="-122"/>
              </a:rPr>
              <a:t>0</a:t>
            </a:r>
            <a:r>
              <a:rPr lang="zh-CN" altLang="en-US" sz="2200" dirty="0">
                <a:solidFill>
                  <a:schemeClr val="accent2"/>
                </a:solidFill>
                <a:latin typeface="黑体" panose="02010609060101010101" pitchFamily="49" charset="-122"/>
                <a:ea typeface="黑体" panose="02010609060101010101" pitchFamily="49" charset="-122"/>
              </a:rPr>
              <a:t>。</a:t>
            </a:r>
            <a:endParaRPr lang="zh-CN" altLang="en-US" sz="2200" dirty="0">
              <a:solidFill>
                <a:schemeClr val="accent2"/>
              </a:solidFill>
              <a:latin typeface="黑体" panose="02010609060101010101" pitchFamily="49" charset="-122"/>
              <a:ea typeface="黑体" panose="02010609060101010101" pitchFamily="49" charset="-122"/>
            </a:endParaRPr>
          </a:p>
          <a:p>
            <a:pPr marL="876300" lvl="1" indent="-381000" eaLnBrk="0" hangingPunct="0">
              <a:lnSpc>
                <a:spcPct val="110000"/>
              </a:lnSpc>
              <a:spcBef>
                <a:spcPct val="20000"/>
              </a:spcBef>
            </a:pPr>
            <a:r>
              <a:rPr lang="zh-CN" altLang="en-US" sz="2200" dirty="0">
                <a:solidFill>
                  <a:schemeClr val="accent2"/>
                </a:solidFill>
                <a:latin typeface="Times New Roman" panose="02020603050405020304" pitchFamily="18" charset="0"/>
                <a:ea typeface="宋体" panose="02010600030101010101" pitchFamily="2" charset="-122"/>
              </a:rPr>
              <a:t>② </a:t>
            </a:r>
            <a:r>
              <a:rPr lang="zh-CN" altLang="en-US" sz="2200" dirty="0">
                <a:solidFill>
                  <a:schemeClr val="accent2"/>
                </a:solidFill>
                <a:latin typeface="黑体" panose="02010609060101010101" pitchFamily="49" charset="-122"/>
                <a:ea typeface="黑体" panose="02010609060101010101" pitchFamily="49" charset="-122"/>
              </a:rPr>
              <a:t>每次得到的差为中间余数，将除数右移后与上次的中间余数比较。用中间余数减除数，够减则上商为</a:t>
            </a:r>
            <a:r>
              <a:rPr lang="en-US" altLang="zh-CN" sz="2200" dirty="0">
                <a:solidFill>
                  <a:schemeClr val="accent2"/>
                </a:solidFill>
                <a:latin typeface="黑体" panose="02010609060101010101" pitchFamily="49" charset="-122"/>
                <a:ea typeface="黑体" panose="02010609060101010101" pitchFamily="49" charset="-122"/>
              </a:rPr>
              <a:t>1</a:t>
            </a:r>
            <a:r>
              <a:rPr lang="zh-CN" altLang="en-US" sz="2200" dirty="0">
                <a:solidFill>
                  <a:schemeClr val="accent2"/>
                </a:solidFill>
                <a:latin typeface="黑体" panose="02010609060101010101" pitchFamily="49" charset="-122"/>
                <a:ea typeface="黑体" panose="02010609060101010101" pitchFamily="49" charset="-122"/>
              </a:rPr>
              <a:t>；不够减则上商为</a:t>
            </a:r>
            <a:r>
              <a:rPr lang="en-US" altLang="zh-CN" sz="2200" dirty="0">
                <a:solidFill>
                  <a:schemeClr val="accent2"/>
                </a:solidFill>
                <a:latin typeface="黑体" panose="02010609060101010101" pitchFamily="49" charset="-122"/>
                <a:ea typeface="黑体" panose="02010609060101010101" pitchFamily="49" charset="-122"/>
              </a:rPr>
              <a:t>0</a:t>
            </a:r>
            <a:r>
              <a:rPr lang="zh-CN" altLang="en-US" sz="2200" dirty="0">
                <a:solidFill>
                  <a:schemeClr val="accent2"/>
                </a:solidFill>
                <a:latin typeface="黑体" panose="02010609060101010101" pitchFamily="49" charset="-122"/>
                <a:ea typeface="黑体" panose="02010609060101010101" pitchFamily="49" charset="-122"/>
              </a:rPr>
              <a:t>。</a:t>
            </a:r>
            <a:endParaRPr lang="zh-CN" altLang="en-US" sz="2200" dirty="0">
              <a:solidFill>
                <a:schemeClr val="accent2"/>
              </a:solidFill>
              <a:latin typeface="黑体" panose="02010609060101010101" pitchFamily="49" charset="-122"/>
              <a:ea typeface="黑体" panose="02010609060101010101" pitchFamily="49" charset="-122"/>
            </a:endParaRPr>
          </a:p>
          <a:p>
            <a:pPr marL="876300" lvl="1" indent="-381000" eaLnBrk="0" hangingPunct="0">
              <a:lnSpc>
                <a:spcPct val="110000"/>
              </a:lnSpc>
              <a:spcBef>
                <a:spcPct val="20000"/>
              </a:spcBef>
            </a:pPr>
            <a:r>
              <a:rPr lang="zh-CN" altLang="en-US" sz="2200" dirty="0">
                <a:solidFill>
                  <a:schemeClr val="accent2"/>
                </a:solidFill>
                <a:latin typeface="Times New Roman" panose="02020603050405020304" pitchFamily="18" charset="0"/>
                <a:ea typeface="宋体" panose="02010600030101010101" pitchFamily="2" charset="-122"/>
              </a:rPr>
              <a:t>③ </a:t>
            </a:r>
            <a:r>
              <a:rPr lang="zh-CN" altLang="en-US" sz="2200" dirty="0">
                <a:solidFill>
                  <a:schemeClr val="accent2"/>
                </a:solidFill>
                <a:latin typeface="黑体" panose="02010609060101010101" pitchFamily="49" charset="-122"/>
                <a:ea typeface="黑体" panose="02010609060101010101" pitchFamily="49" charset="-122"/>
              </a:rPr>
              <a:t>重复执行第②步，直到求得的商的位数足够为止。</a:t>
            </a:r>
            <a:endParaRPr lang="zh-CN" altLang="en-US" sz="2200" dirty="0">
              <a:solidFill>
                <a:schemeClr val="accent2"/>
              </a:solidFill>
              <a:latin typeface="黑体" panose="02010609060101010101" pitchFamily="49" charset="-122"/>
              <a:ea typeface="黑体" panose="02010609060101010101" pitchFamily="49" charset="-122"/>
            </a:endParaRPr>
          </a:p>
        </p:txBody>
      </p:sp>
      <p:sp>
        <p:nvSpPr>
          <p:cNvPr id="87048" name="Text Box 11"/>
          <p:cNvSpPr txBox="1"/>
          <p:nvPr/>
        </p:nvSpPr>
        <p:spPr>
          <a:xfrm>
            <a:off x="6070600" y="2589213"/>
            <a:ext cx="1562100" cy="427037"/>
          </a:xfrm>
          <a:prstGeom prst="rect">
            <a:avLst/>
          </a:prstGeom>
          <a:noFill/>
          <a:ln w="12700">
            <a:noFill/>
          </a:ln>
        </p:spPr>
        <p:txBody>
          <a:bodyPr anchor="t" anchorCtr="0">
            <a:spAutoFit/>
          </a:bodyPr>
          <a:p>
            <a:pPr eaLnBrk="0" hangingPunct="0">
              <a:spcBef>
                <a:spcPct val="50000"/>
              </a:spcBef>
            </a:pPr>
            <a:r>
              <a:rPr lang="zh-CN" altLang="en-US" sz="2200" dirty="0">
                <a:latin typeface="Times New Roman" panose="02020603050405020304" pitchFamily="18" charset="0"/>
                <a:ea typeface="黑体" panose="02010609060101010101" pitchFamily="49" charset="-122"/>
              </a:rPr>
              <a:t>中间余数</a:t>
            </a:r>
            <a:endParaRPr lang="zh-CN" altLang="en-US" sz="2200" dirty="0">
              <a:latin typeface="Times New Roman" panose="02020603050405020304" pitchFamily="18" charset="0"/>
              <a:ea typeface="黑体" panose="02010609060101010101" pitchFamily="49" charset="-122"/>
            </a:endParaRPr>
          </a:p>
        </p:txBody>
      </p:sp>
      <p:sp>
        <p:nvSpPr>
          <p:cNvPr id="87049" name="Line 12"/>
          <p:cNvSpPr/>
          <p:nvPr/>
        </p:nvSpPr>
        <p:spPr>
          <a:xfrm flipH="1" flipV="1">
            <a:off x="3848100" y="2589213"/>
            <a:ext cx="2162175" cy="152400"/>
          </a:xfrm>
          <a:prstGeom prst="line">
            <a:avLst/>
          </a:prstGeom>
          <a:ln w="28575" cap="flat" cmpd="sng">
            <a:solidFill>
              <a:srgbClr val="3333FF"/>
            </a:solidFill>
            <a:prstDash val="solid"/>
            <a:round/>
            <a:headEnd type="none" w="med" len="med"/>
            <a:tailEnd type="triangle" w="med" len="med"/>
          </a:ln>
        </p:spPr>
      </p:sp>
      <p:sp>
        <p:nvSpPr>
          <p:cNvPr id="87050" name="Line 13"/>
          <p:cNvSpPr/>
          <p:nvPr/>
        </p:nvSpPr>
        <p:spPr>
          <a:xfrm flipH="1">
            <a:off x="4067175" y="2770188"/>
            <a:ext cx="1905000" cy="133350"/>
          </a:xfrm>
          <a:prstGeom prst="line">
            <a:avLst/>
          </a:prstGeom>
          <a:ln w="28575" cap="flat" cmpd="sng">
            <a:solidFill>
              <a:srgbClr val="3333FF"/>
            </a:solidFill>
            <a:prstDash val="solid"/>
            <a:round/>
            <a:headEnd type="none" w="med" len="med"/>
            <a:tailEnd type="triangle" w="med" len="med"/>
          </a:ln>
        </p:spPr>
      </p:sp>
      <p:sp>
        <p:nvSpPr>
          <p:cNvPr id="87051" name="Line 14"/>
          <p:cNvSpPr/>
          <p:nvPr/>
        </p:nvSpPr>
        <p:spPr>
          <a:xfrm flipH="1">
            <a:off x="4133850" y="2789238"/>
            <a:ext cx="1838325" cy="476250"/>
          </a:xfrm>
          <a:prstGeom prst="line">
            <a:avLst/>
          </a:prstGeom>
          <a:ln w="28575" cap="flat" cmpd="sng">
            <a:solidFill>
              <a:srgbClr val="3333FF"/>
            </a:solidFill>
            <a:prstDash val="solid"/>
            <a:round/>
            <a:headEnd type="none" w="med" len="med"/>
            <a:tailEnd type="triangle" w="med" len="med"/>
          </a:ln>
        </p:spPr>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定点除法运算</a:t>
            </a:r>
            <a:endParaRPr lang="zh-CN" altLang="en-US" dirty="0">
              <a:ea typeface="宋体" panose="02010600030101010101" pitchFamily="2" charset="-122"/>
            </a:endParaRPr>
          </a:p>
        </p:txBody>
      </p:sp>
      <p:sp>
        <p:nvSpPr>
          <p:cNvPr id="430083" name="Rectangle 3"/>
          <p:cNvSpPr>
            <a:spLocks noGrp="1"/>
          </p:cNvSpPr>
          <p:nvPr>
            <p:ph idx="1"/>
          </p:nvPr>
        </p:nvSpPr>
        <p:spPr>
          <a:xfrm>
            <a:off x="139700" y="698500"/>
            <a:ext cx="8689975" cy="4687888"/>
          </a:xfrm>
          <a:ln/>
        </p:spPr>
        <p:txBody>
          <a:bodyPr vert="horz" wrap="square" lIns="63500" tIns="25400" rIns="63500" bIns="25400" anchor="t" anchorCtr="0">
            <a:spAutoFit/>
          </a:bodyPr>
          <a:p>
            <a:pPr marL="419100" indent="-419100">
              <a:lnSpc>
                <a:spcPts val="2800"/>
              </a:lnSpc>
              <a:spcBef>
                <a:spcPct val="10000"/>
              </a:spcBef>
            </a:pPr>
            <a:r>
              <a:rPr lang="zh-CN" altLang="en-US" sz="2000" dirty="0">
                <a:latin typeface="微软雅黑" panose="020B0503020204020204" pitchFamily="34" charset="-122"/>
                <a:ea typeface="微软雅黑" panose="020B0503020204020204" pitchFamily="34" charset="-122"/>
              </a:rPr>
              <a:t>除前预处理</a:t>
            </a:r>
            <a:endParaRPr lang="zh-CN" altLang="en-US" sz="2000" dirty="0">
              <a:latin typeface="微软雅黑" panose="020B0503020204020204" pitchFamily="34" charset="-122"/>
              <a:ea typeface="微软雅黑" panose="020B0503020204020204" pitchFamily="34" charset="-122"/>
            </a:endParaRPr>
          </a:p>
          <a:p>
            <a:pPr marL="876300" lvl="1" indent="-381000">
              <a:lnSpc>
                <a:spcPts val="2800"/>
              </a:lnSpc>
              <a:spcBef>
                <a:spcPct val="10000"/>
              </a:spcBef>
              <a:buNone/>
            </a:pPr>
            <a:r>
              <a:rPr lang="zh-CN" altLang="en-US" dirty="0">
                <a:latin typeface="微软雅黑" panose="020B0503020204020204" pitchFamily="34" charset="-122"/>
                <a:ea typeface="微软雅黑" panose="020B0503020204020204" pitchFamily="34" charset="-122"/>
              </a:rPr>
              <a:t>①</a:t>
            </a:r>
            <a:r>
              <a:rPr lang="zh-CN" altLang="en-US" dirty="0">
                <a:solidFill>
                  <a:schemeClr val="accent2"/>
                </a:solidFill>
                <a:latin typeface="微软雅黑" panose="020B0503020204020204" pitchFamily="34" charset="-122"/>
                <a:ea typeface="微软雅黑" panose="020B0503020204020204" pitchFamily="34" charset="-122"/>
              </a:rPr>
              <a:t>若被除数</a:t>
            </a:r>
            <a:r>
              <a:rPr lang="en-US" altLang="zh-CN" dirty="0">
                <a:solidFill>
                  <a:schemeClr val="accent2"/>
                </a:solidFill>
                <a:latin typeface="微软雅黑" panose="020B0503020204020204" pitchFamily="34" charset="-122"/>
                <a:ea typeface="微软雅黑" panose="020B0503020204020204" pitchFamily="34" charset="-122"/>
              </a:rPr>
              <a:t>=0</a:t>
            </a:r>
            <a:r>
              <a:rPr lang="zh-CN" altLang="en-US" dirty="0">
                <a:solidFill>
                  <a:schemeClr val="accent2"/>
                </a:solidFill>
                <a:latin typeface="微软雅黑" panose="020B0503020204020204" pitchFamily="34" charset="-122"/>
                <a:ea typeface="微软雅黑" panose="020B0503020204020204" pitchFamily="34" charset="-122"/>
              </a:rPr>
              <a:t>且除数≠</a:t>
            </a:r>
            <a:r>
              <a:rPr lang="en-US" altLang="zh-CN" dirty="0">
                <a:solidFill>
                  <a:schemeClr val="accent2"/>
                </a:solidFill>
                <a:latin typeface="微软雅黑" panose="020B0503020204020204" pitchFamily="34" charset="-122"/>
                <a:ea typeface="微软雅黑" panose="020B0503020204020204" pitchFamily="34" charset="-122"/>
              </a:rPr>
              <a:t>0</a:t>
            </a:r>
            <a:r>
              <a:rPr lang="zh-CN" altLang="en-US" dirty="0">
                <a:solidFill>
                  <a:schemeClr val="accent2"/>
                </a:solidFill>
                <a:latin typeface="微软雅黑" panose="020B0503020204020204" pitchFamily="34" charset="-122"/>
                <a:ea typeface="微软雅黑" panose="020B0503020204020204" pitchFamily="34" charset="-122"/>
              </a:rPr>
              <a:t>，或定点整数除法时</a:t>
            </a:r>
            <a:r>
              <a:rPr lang="en-US" altLang="zh-CN" dirty="0">
                <a:solidFill>
                  <a:schemeClr val="accent2"/>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被除数</a:t>
            </a:r>
            <a:r>
              <a:rPr lang="en-US" altLang="zh-CN" dirty="0">
                <a:solidFill>
                  <a:schemeClr val="accent2"/>
                </a:solidFill>
                <a:latin typeface="微软雅黑" panose="020B0503020204020204" pitchFamily="34" charset="-122"/>
                <a:ea typeface="微软雅黑" panose="020B0503020204020204" pitchFamily="34" charset="-122"/>
              </a:rPr>
              <a:t>|&lt;|</a:t>
            </a:r>
            <a:r>
              <a:rPr lang="zh-CN" altLang="en-US" dirty="0">
                <a:solidFill>
                  <a:schemeClr val="accent2"/>
                </a:solidFill>
                <a:latin typeface="微软雅黑" panose="020B0503020204020204" pitchFamily="34" charset="-122"/>
                <a:ea typeface="微软雅黑" panose="020B0503020204020204" pitchFamily="34" charset="-122"/>
              </a:rPr>
              <a:t>除数</a:t>
            </a:r>
            <a:r>
              <a:rPr lang="en-US" altLang="zh-CN" dirty="0">
                <a:solidFill>
                  <a:schemeClr val="accent2"/>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，则商为</a:t>
            </a:r>
            <a:r>
              <a:rPr lang="en-US" altLang="zh-CN" dirty="0">
                <a:solidFill>
                  <a:schemeClr val="accent2"/>
                </a:solidFill>
                <a:latin typeface="微软雅黑" panose="020B0503020204020204" pitchFamily="34" charset="-122"/>
                <a:ea typeface="微软雅黑" panose="020B0503020204020204" pitchFamily="34" charset="-122"/>
              </a:rPr>
              <a:t>0</a:t>
            </a:r>
            <a:r>
              <a:rPr lang="zh-CN" altLang="en-US" dirty="0">
                <a:solidFill>
                  <a:schemeClr val="accent2"/>
                </a:solidFill>
                <a:latin typeface="微软雅黑" panose="020B0503020204020204" pitchFamily="34" charset="-122"/>
                <a:ea typeface="微软雅黑" panose="020B0503020204020204" pitchFamily="34" charset="-122"/>
              </a:rPr>
              <a:t>，不再继续</a:t>
            </a:r>
            <a:endParaRPr lang="zh-CN" altLang="en-US" dirty="0">
              <a:solidFill>
                <a:schemeClr val="accent2"/>
              </a:solidFill>
              <a:latin typeface="微软雅黑" panose="020B0503020204020204" pitchFamily="34" charset="-122"/>
              <a:ea typeface="微软雅黑" panose="020B0503020204020204" pitchFamily="34" charset="-122"/>
            </a:endParaRPr>
          </a:p>
          <a:p>
            <a:pPr marL="876300" lvl="1" indent="-381000">
              <a:lnSpc>
                <a:spcPts val="2800"/>
              </a:lnSpc>
              <a:spcBef>
                <a:spcPct val="10000"/>
              </a:spcBef>
              <a:buNone/>
            </a:pPr>
            <a:r>
              <a:rPr lang="zh-CN" altLang="en-US" dirty="0">
                <a:latin typeface="微软雅黑" panose="020B0503020204020204" pitchFamily="34" charset="-122"/>
                <a:ea typeface="微软雅黑" panose="020B0503020204020204" pitchFamily="34" charset="-122"/>
              </a:rPr>
              <a:t>②</a:t>
            </a:r>
            <a:r>
              <a:rPr lang="zh-CN" altLang="en-US" dirty="0">
                <a:solidFill>
                  <a:schemeClr val="accent2"/>
                </a:solidFill>
                <a:latin typeface="微软雅黑" panose="020B0503020204020204" pitchFamily="34" charset="-122"/>
                <a:ea typeface="微软雅黑" panose="020B0503020204020204" pitchFamily="34" charset="-122"/>
              </a:rPr>
              <a:t>若被除数≠</a:t>
            </a:r>
            <a:r>
              <a:rPr lang="en-US" altLang="zh-CN" dirty="0">
                <a:solidFill>
                  <a:schemeClr val="accent2"/>
                </a:solidFill>
                <a:latin typeface="微软雅黑" panose="020B0503020204020204" pitchFamily="34" charset="-122"/>
                <a:ea typeface="微软雅黑" panose="020B0503020204020204" pitchFamily="34" charset="-122"/>
              </a:rPr>
              <a:t>0</a:t>
            </a:r>
            <a:r>
              <a:rPr lang="zh-CN" altLang="en-US" dirty="0">
                <a:solidFill>
                  <a:schemeClr val="accent2"/>
                </a:solidFill>
                <a:latin typeface="微软雅黑" panose="020B0503020204020204" pitchFamily="34" charset="-122"/>
                <a:ea typeface="微软雅黑" panose="020B0503020204020204" pitchFamily="34" charset="-122"/>
              </a:rPr>
              <a:t>、除数</a:t>
            </a:r>
            <a:r>
              <a:rPr lang="en-US" altLang="zh-CN" dirty="0">
                <a:solidFill>
                  <a:schemeClr val="accent2"/>
                </a:solidFill>
                <a:latin typeface="微软雅黑" panose="020B0503020204020204" pitchFamily="34" charset="-122"/>
                <a:ea typeface="微软雅黑" panose="020B0503020204020204" pitchFamily="34" charset="-122"/>
              </a:rPr>
              <a:t>=0</a:t>
            </a:r>
            <a:r>
              <a:rPr lang="zh-CN" altLang="en-US" dirty="0">
                <a:solidFill>
                  <a:schemeClr val="accent2"/>
                </a:solidFill>
                <a:latin typeface="微软雅黑" panose="020B0503020204020204" pitchFamily="34" charset="-122"/>
                <a:ea typeface="微软雅黑" panose="020B0503020204020204" pitchFamily="34" charset="-122"/>
              </a:rPr>
              <a:t>，则发生“除数为</a:t>
            </a:r>
            <a:r>
              <a:rPr lang="en-US" altLang="zh-CN" dirty="0">
                <a:solidFill>
                  <a:schemeClr val="accent2"/>
                </a:solidFill>
                <a:latin typeface="微软雅黑" panose="020B0503020204020204" pitchFamily="34" charset="-122"/>
                <a:ea typeface="微软雅黑" panose="020B0503020204020204" pitchFamily="34" charset="-122"/>
              </a:rPr>
              <a:t>0”</a:t>
            </a:r>
            <a:r>
              <a:rPr lang="zh-CN" altLang="en-US" dirty="0">
                <a:solidFill>
                  <a:schemeClr val="accent2"/>
                </a:solidFill>
                <a:latin typeface="微软雅黑" panose="020B0503020204020204" pitchFamily="34" charset="-122"/>
                <a:ea typeface="微软雅黑" panose="020B0503020204020204" pitchFamily="34" charset="-122"/>
              </a:rPr>
              <a:t>异常</a:t>
            </a:r>
            <a:r>
              <a:rPr lang="zh-CN" altLang="en-US" dirty="0">
                <a:solidFill>
                  <a:srgbClr val="FF0000"/>
                </a:solidFill>
                <a:latin typeface="微软雅黑" panose="020B0503020204020204" pitchFamily="34" charset="-122"/>
                <a:ea typeface="微软雅黑" panose="020B0503020204020204" pitchFamily="34" charset="-122"/>
              </a:rPr>
              <a:t>（浮点数时为∞）</a:t>
            </a:r>
            <a:endParaRPr lang="zh-CN" altLang="en-US" dirty="0">
              <a:solidFill>
                <a:srgbClr val="FF0000"/>
              </a:solidFill>
              <a:latin typeface="微软雅黑" panose="020B0503020204020204" pitchFamily="34" charset="-122"/>
              <a:ea typeface="微软雅黑" panose="020B0503020204020204" pitchFamily="34" charset="-122"/>
            </a:endParaRPr>
          </a:p>
          <a:p>
            <a:pPr marL="876300" lvl="1" indent="-381000">
              <a:lnSpc>
                <a:spcPts val="2800"/>
              </a:lnSpc>
              <a:spcBef>
                <a:spcPct val="10000"/>
              </a:spcBef>
              <a:buNone/>
            </a:pPr>
            <a:r>
              <a:rPr lang="zh-CN" altLang="en-US" dirty="0">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 （若浮点除法被除数和除数都为</a:t>
            </a:r>
            <a:r>
              <a:rPr lang="en-US" altLang="zh-CN" dirty="0">
                <a:solidFill>
                  <a:srgbClr val="FF0000"/>
                </a:solidFill>
                <a:latin typeface="微软雅黑" panose="020B0503020204020204" pitchFamily="34" charset="-122"/>
                <a:ea typeface="微软雅黑" panose="020B0503020204020204" pitchFamily="34" charset="-122"/>
              </a:rPr>
              <a:t>0</a:t>
            </a:r>
            <a:r>
              <a:rPr lang="zh-CN" altLang="en-US" dirty="0">
                <a:solidFill>
                  <a:srgbClr val="FF0000"/>
                </a:solidFill>
                <a:latin typeface="微软雅黑" panose="020B0503020204020204" pitchFamily="34" charset="-122"/>
                <a:ea typeface="微软雅黑" panose="020B0503020204020204" pitchFamily="34" charset="-122"/>
              </a:rPr>
              <a:t>，则有些机器产生一个不发信号的</a:t>
            </a:r>
            <a:r>
              <a:rPr lang="en-US" altLang="zh-CN" dirty="0">
                <a:solidFill>
                  <a:srgbClr val="FF0000"/>
                </a:solidFill>
                <a:latin typeface="微软雅黑" panose="020B0503020204020204" pitchFamily="34" charset="-122"/>
                <a:ea typeface="微软雅黑" panose="020B0503020204020204" pitchFamily="34" charset="-122"/>
              </a:rPr>
              <a:t>NaN</a:t>
            </a:r>
            <a:r>
              <a:rPr lang="zh-CN" altLang="en-US" dirty="0">
                <a:solidFill>
                  <a:srgbClr val="FF0000"/>
                </a:solidFill>
                <a:latin typeface="微软雅黑" panose="020B0503020204020204" pitchFamily="34" charset="-122"/>
                <a:ea typeface="微软雅黑" panose="020B0503020204020204" pitchFamily="34" charset="-122"/>
              </a:rPr>
              <a:t>，即“</a:t>
            </a:r>
            <a:r>
              <a:rPr lang="en-US" altLang="zh-CN" dirty="0">
                <a:solidFill>
                  <a:srgbClr val="FF0000"/>
                </a:solidFill>
                <a:latin typeface="微软雅黑" panose="020B0503020204020204" pitchFamily="34" charset="-122"/>
                <a:ea typeface="微软雅黑" panose="020B0503020204020204" pitchFamily="34" charset="-122"/>
              </a:rPr>
              <a:t>quiet NaN”</a:t>
            </a:r>
            <a:endParaRPr lang="zh-CN" altLang="en-US" dirty="0">
              <a:solidFill>
                <a:srgbClr val="FF0000"/>
              </a:solidFill>
              <a:latin typeface="微软雅黑" panose="020B0503020204020204" pitchFamily="34" charset="-122"/>
              <a:ea typeface="微软雅黑" panose="020B0503020204020204" pitchFamily="34" charset="-122"/>
            </a:endParaRPr>
          </a:p>
          <a:p>
            <a:pPr marL="419100" indent="-419100">
              <a:lnSpc>
                <a:spcPts val="2800"/>
              </a:lnSpc>
              <a:spcBef>
                <a:spcPct val="10000"/>
              </a:spcBef>
              <a:buNone/>
            </a:pPr>
            <a:r>
              <a:rPr lang="zh-CN" altLang="en-US" sz="2000" dirty="0">
                <a:solidFill>
                  <a:srgbClr val="009900"/>
                </a:solidFill>
                <a:latin typeface="微软雅黑" panose="020B0503020204020204" pitchFamily="34" charset="-122"/>
                <a:ea typeface="微软雅黑" panose="020B0503020204020204" pitchFamily="34" charset="-122"/>
              </a:rPr>
              <a:t>      只有</a:t>
            </a:r>
            <a:r>
              <a:rPr lang="zh-CN" altLang="en-US" sz="2000" dirty="0">
                <a:solidFill>
                  <a:srgbClr val="008000"/>
                </a:solidFill>
                <a:latin typeface="微软雅黑" panose="020B0503020204020204" pitchFamily="34" charset="-122"/>
                <a:ea typeface="微软雅黑" panose="020B0503020204020204" pitchFamily="34" charset="-122"/>
              </a:rPr>
              <a:t>当被除数和除数都≠ </a:t>
            </a:r>
            <a:r>
              <a:rPr lang="en-US" altLang="zh-CN" sz="2000" dirty="0">
                <a:solidFill>
                  <a:srgbClr val="008000"/>
                </a:solidFill>
                <a:latin typeface="微软雅黑" panose="020B0503020204020204" pitchFamily="34" charset="-122"/>
                <a:ea typeface="微软雅黑" panose="020B0503020204020204" pitchFamily="34" charset="-122"/>
              </a:rPr>
              <a:t>0</a:t>
            </a:r>
            <a:r>
              <a:rPr lang="zh-CN" altLang="en-US" sz="2000" dirty="0">
                <a:solidFill>
                  <a:srgbClr val="008000"/>
                </a:solidFill>
                <a:latin typeface="微软雅黑" panose="020B0503020204020204" pitchFamily="34" charset="-122"/>
                <a:ea typeface="微软雅黑" panose="020B0503020204020204" pitchFamily="34" charset="-122"/>
              </a:rPr>
              <a:t>，且商≠ </a:t>
            </a:r>
            <a:r>
              <a:rPr lang="en-US" altLang="zh-CN" sz="2000" dirty="0">
                <a:solidFill>
                  <a:srgbClr val="008000"/>
                </a:solidFill>
                <a:latin typeface="微软雅黑" panose="020B0503020204020204" pitchFamily="34" charset="-122"/>
                <a:ea typeface="微软雅黑" panose="020B0503020204020204" pitchFamily="34" charset="-122"/>
              </a:rPr>
              <a:t>0</a:t>
            </a:r>
            <a:r>
              <a:rPr lang="zh-CN" altLang="en-US" sz="2000" dirty="0">
                <a:solidFill>
                  <a:srgbClr val="008000"/>
                </a:solidFill>
                <a:latin typeface="微软雅黑" panose="020B0503020204020204" pitchFamily="34" charset="-122"/>
                <a:ea typeface="微软雅黑" panose="020B0503020204020204" pitchFamily="34" charset="-122"/>
              </a:rPr>
              <a:t>时，才进一步进行除法运算。</a:t>
            </a:r>
            <a:endParaRPr lang="zh-CN" altLang="en-US" sz="2000" dirty="0">
              <a:solidFill>
                <a:srgbClr val="008000"/>
              </a:solidFill>
              <a:latin typeface="微软雅黑" panose="020B0503020204020204" pitchFamily="34" charset="-122"/>
              <a:ea typeface="微软雅黑" panose="020B0503020204020204" pitchFamily="34" charset="-122"/>
            </a:endParaRPr>
          </a:p>
          <a:p>
            <a:pPr marL="419100" indent="-419100">
              <a:lnSpc>
                <a:spcPts val="2800"/>
              </a:lnSpc>
              <a:spcBef>
                <a:spcPct val="10000"/>
              </a:spcBef>
            </a:pPr>
            <a:r>
              <a:rPr lang="zh-CN" altLang="en-US" sz="2000" dirty="0">
                <a:solidFill>
                  <a:srgbClr val="FF0066"/>
                </a:solidFill>
                <a:latin typeface="微软雅黑" panose="020B0503020204020204" pitchFamily="34" charset="-122"/>
                <a:ea typeface="微软雅黑" panose="020B0503020204020204" pitchFamily="34" charset="-122"/>
              </a:rPr>
              <a:t>计算机内部无符号数除法运算</a:t>
            </a:r>
            <a:endParaRPr lang="en-US" altLang="zh-CN" sz="2000" dirty="0">
              <a:solidFill>
                <a:srgbClr val="FF0066"/>
              </a:solidFill>
              <a:latin typeface="微软雅黑" panose="020B0503020204020204" pitchFamily="34" charset="-122"/>
              <a:ea typeface="微软雅黑" panose="020B0503020204020204" pitchFamily="34" charset="-122"/>
            </a:endParaRPr>
          </a:p>
          <a:p>
            <a:pPr marL="876300" lvl="1" indent="-381000">
              <a:lnSpc>
                <a:spcPts val="2800"/>
              </a:lnSpc>
              <a:spcBef>
                <a:spcPct val="10000"/>
              </a:spcBef>
            </a:pPr>
            <a:r>
              <a:rPr lang="zh-CN" altLang="en-US" dirty="0">
                <a:latin typeface="微软雅黑" panose="020B0503020204020204" pitchFamily="34" charset="-122"/>
                <a:ea typeface="微软雅黑" panose="020B0503020204020204" pitchFamily="34" charset="-122"/>
              </a:rPr>
              <a:t>与手算一样，通过被除数（中间余数）减除数来得到每一位商</a:t>
            </a:r>
            <a:endParaRPr lang="zh-CN" altLang="en-US" dirty="0">
              <a:latin typeface="微软雅黑" panose="020B0503020204020204" pitchFamily="34" charset="-122"/>
              <a:ea typeface="微软雅黑" panose="020B0503020204020204" pitchFamily="34" charset="-122"/>
            </a:endParaRPr>
          </a:p>
          <a:p>
            <a:pPr marL="876300" lvl="1" indent="-381000">
              <a:lnSpc>
                <a:spcPts val="2800"/>
              </a:lnSpc>
              <a:spcBef>
                <a:spcPct val="10000"/>
              </a:spcBef>
              <a:buNone/>
            </a:pPr>
            <a:r>
              <a:rPr lang="zh-CN" altLang="en-US" dirty="0">
                <a:latin typeface="微软雅黑" panose="020B0503020204020204" pitchFamily="34" charset="-122"/>
                <a:ea typeface="微软雅黑" panose="020B0503020204020204" pitchFamily="34" charset="-122"/>
              </a:rPr>
              <a:t>           </a:t>
            </a:r>
            <a:r>
              <a:rPr lang="zh-CN" altLang="en-US" dirty="0">
                <a:solidFill>
                  <a:srgbClr val="CC3300"/>
                </a:solidFill>
                <a:latin typeface="微软雅黑" panose="020B0503020204020204" pitchFamily="34" charset="-122"/>
                <a:ea typeface="微软雅黑" panose="020B0503020204020204" pitchFamily="34" charset="-122"/>
              </a:rPr>
              <a:t>够减上商</a:t>
            </a:r>
            <a:r>
              <a:rPr lang="en-US" altLang="zh-CN" dirty="0">
                <a:solidFill>
                  <a:srgbClr val="CC3300"/>
                </a:solidFill>
                <a:latin typeface="微软雅黑" panose="020B0503020204020204" pitchFamily="34" charset="-122"/>
                <a:ea typeface="微软雅黑" panose="020B0503020204020204" pitchFamily="34" charset="-122"/>
              </a:rPr>
              <a:t>1</a:t>
            </a:r>
            <a:r>
              <a:rPr lang="zh-CN" altLang="en-US" dirty="0">
                <a:solidFill>
                  <a:srgbClr val="CC3300"/>
                </a:solidFill>
                <a:latin typeface="微软雅黑" panose="020B0503020204020204" pitchFamily="34" charset="-122"/>
                <a:ea typeface="微软雅黑" panose="020B0503020204020204" pitchFamily="34" charset="-122"/>
              </a:rPr>
              <a:t>；不够减上商</a:t>
            </a:r>
            <a:r>
              <a:rPr lang="en-US" altLang="zh-CN" dirty="0">
                <a:solidFill>
                  <a:srgbClr val="CC3300"/>
                </a:solidFill>
                <a:latin typeface="微软雅黑" panose="020B0503020204020204" pitchFamily="34" charset="-122"/>
                <a:ea typeface="微软雅黑" panose="020B0503020204020204" pitchFamily="34" charset="-122"/>
              </a:rPr>
              <a:t>0</a:t>
            </a:r>
            <a:r>
              <a:rPr lang="zh-CN" altLang="en-US" dirty="0">
                <a:solidFill>
                  <a:srgbClr val="CC3300"/>
                </a:solidFill>
                <a:latin typeface="微软雅黑" panose="020B0503020204020204" pitchFamily="34" charset="-122"/>
                <a:ea typeface="微软雅黑" panose="020B0503020204020204" pitchFamily="34" charset="-122"/>
              </a:rPr>
              <a:t>（从</a:t>
            </a:r>
            <a:r>
              <a:rPr lang="en-US" altLang="zh-CN" dirty="0">
                <a:solidFill>
                  <a:srgbClr val="CC3300"/>
                </a:solidFill>
                <a:latin typeface="微软雅黑" panose="020B0503020204020204" pitchFamily="34" charset="-122"/>
                <a:ea typeface="微软雅黑" panose="020B0503020204020204" pitchFamily="34" charset="-122"/>
              </a:rPr>
              <a:t>msb→lsb</a:t>
            </a:r>
            <a:r>
              <a:rPr lang="zh-CN" altLang="en-US" dirty="0">
                <a:solidFill>
                  <a:srgbClr val="CC3300"/>
                </a:solidFill>
                <a:latin typeface="微软雅黑" panose="020B0503020204020204" pitchFamily="34" charset="-122"/>
                <a:ea typeface="微软雅黑" panose="020B0503020204020204" pitchFamily="34" charset="-122"/>
              </a:rPr>
              <a:t>得到各位商）</a:t>
            </a:r>
            <a:endParaRPr lang="zh-CN" altLang="en-US" dirty="0">
              <a:solidFill>
                <a:srgbClr val="CC3300"/>
              </a:solidFill>
              <a:latin typeface="微软雅黑" panose="020B0503020204020204" pitchFamily="34" charset="-122"/>
              <a:ea typeface="微软雅黑" panose="020B0503020204020204" pitchFamily="34" charset="-122"/>
            </a:endParaRPr>
          </a:p>
          <a:p>
            <a:pPr marL="876300" lvl="1" indent="-381000">
              <a:lnSpc>
                <a:spcPts val="2800"/>
              </a:lnSpc>
              <a:spcBef>
                <a:spcPct val="10000"/>
              </a:spcBef>
            </a:pPr>
            <a:r>
              <a:rPr lang="zh-CN" altLang="en-US" dirty="0">
                <a:latin typeface="微软雅黑" panose="020B0503020204020204" pitchFamily="34" charset="-122"/>
                <a:ea typeface="微软雅黑" panose="020B0503020204020204" pitchFamily="34" charset="-122"/>
              </a:rPr>
              <a:t>基本操作为减（加）法和移位，故可与乘法合用同一套硬件</a:t>
            </a:r>
            <a:endParaRPr lang="zh-CN" altLang="en-US" dirty="0">
              <a:latin typeface="微软雅黑" panose="020B0503020204020204" pitchFamily="34" charset="-122"/>
              <a:ea typeface="微软雅黑" panose="020B0503020204020204" pitchFamily="34" charset="-122"/>
            </a:endParaRPr>
          </a:p>
          <a:p>
            <a:pPr marL="876300" lvl="1" indent="-381000">
              <a:buNone/>
            </a:pPr>
            <a:endParaRPr lang="zh-CN" altLang="en-US" sz="2200" dirty="0">
              <a:solidFill>
                <a:srgbClr val="009900"/>
              </a:solidFill>
              <a:ea typeface="黑体" panose="02010609060101010101" pitchFamily="49" charset="-122"/>
            </a:endParaRPr>
          </a:p>
        </p:txBody>
      </p:sp>
      <p:sp>
        <p:nvSpPr>
          <p:cNvPr id="163876" name="Rectangle 36"/>
          <p:cNvSpPr/>
          <p:nvPr/>
        </p:nvSpPr>
        <p:spPr>
          <a:xfrm>
            <a:off x="381000" y="4962525"/>
            <a:ext cx="8604250" cy="1587500"/>
          </a:xfrm>
          <a:prstGeom prst="rect">
            <a:avLst/>
          </a:prstGeom>
          <a:noFill/>
          <a:ln w="12700">
            <a:noFill/>
          </a:ln>
        </p:spPr>
        <p:txBody>
          <a:bodyPr anchor="ctr" anchorCtr="0">
            <a:spAutoFit/>
          </a:bodyPr>
          <a:p>
            <a:pPr eaLnBrk="0" hangingPunct="0">
              <a:spcBef>
                <a:spcPct val="30000"/>
              </a:spcBef>
            </a:pPr>
            <a:r>
              <a:rPr lang="zh-CN" altLang="en-US" sz="2000" dirty="0">
                <a:latin typeface="微软雅黑" panose="020B0503020204020204" pitchFamily="34" charset="-122"/>
                <a:ea typeface="微软雅黑" panose="020B0503020204020204" pitchFamily="34" charset="-122"/>
              </a:rPr>
              <a:t>两个</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位数相除的情况：</a:t>
            </a:r>
            <a:endParaRPr lang="zh-CN" altLang="en-US" sz="2000" dirty="0">
              <a:latin typeface="微软雅黑" panose="020B0503020204020204" pitchFamily="34" charset="-122"/>
              <a:ea typeface="微软雅黑" panose="020B0503020204020204" pitchFamily="34" charset="-122"/>
            </a:endParaRPr>
          </a:p>
          <a:p>
            <a:pPr eaLnBrk="0" hangingPunct="0">
              <a:spcBef>
                <a:spcPct val="30000"/>
              </a:spcBef>
            </a:pPr>
            <a:r>
              <a:rPr lang="en-US" altLang="zh-CN" sz="2000" dirty="0">
                <a:solidFill>
                  <a:schemeClr val="accent2"/>
                </a:solidFill>
                <a:latin typeface="微软雅黑" panose="020B0503020204020204" pitchFamily="34" charset="-122"/>
                <a:ea typeface="微软雅黑" panose="020B0503020204020204" pitchFamily="34" charset="-122"/>
              </a:rPr>
              <a:t>(1)</a:t>
            </a:r>
            <a:r>
              <a:rPr lang="zh-CN" altLang="en-US" sz="2000" dirty="0">
                <a:solidFill>
                  <a:schemeClr val="accent2"/>
                </a:solidFill>
                <a:latin typeface="微软雅黑" panose="020B0503020204020204" pitchFamily="34" charset="-122"/>
                <a:ea typeface="微软雅黑" panose="020B0503020204020204" pitchFamily="34" charset="-122"/>
              </a:rPr>
              <a:t>定点正整数（即无符号数 ）相除：在被除数的</a:t>
            </a:r>
            <a:r>
              <a:rPr lang="zh-CN" altLang="en-US" sz="2000" dirty="0">
                <a:solidFill>
                  <a:srgbClr val="CC0000"/>
                </a:solidFill>
                <a:latin typeface="微软雅黑" panose="020B0503020204020204" pitchFamily="34" charset="-122"/>
                <a:ea typeface="微软雅黑" panose="020B0503020204020204" pitchFamily="34" charset="-122"/>
              </a:rPr>
              <a:t>高位添</a:t>
            </a:r>
            <a:r>
              <a:rPr lang="en-US" altLang="zh-CN" sz="2000" dirty="0">
                <a:solidFill>
                  <a:srgbClr val="CC0000"/>
                </a:solidFill>
                <a:latin typeface="微软雅黑" panose="020B0503020204020204" pitchFamily="34" charset="-122"/>
                <a:ea typeface="微软雅黑" panose="020B0503020204020204" pitchFamily="34" charset="-122"/>
              </a:rPr>
              <a:t>n</a:t>
            </a:r>
            <a:r>
              <a:rPr lang="zh-CN" altLang="en-US" sz="2000" dirty="0">
                <a:solidFill>
                  <a:srgbClr val="CC0000"/>
                </a:solidFill>
                <a:latin typeface="微软雅黑" panose="020B0503020204020204" pitchFamily="34" charset="-122"/>
                <a:ea typeface="微软雅黑" panose="020B0503020204020204" pitchFamily="34" charset="-122"/>
              </a:rPr>
              <a:t>个</a:t>
            </a:r>
            <a:r>
              <a:rPr lang="en-US" altLang="zh-CN" sz="2000" dirty="0">
                <a:solidFill>
                  <a:srgbClr val="CC0000"/>
                </a:solidFill>
                <a:latin typeface="微软雅黑" panose="020B0503020204020204" pitchFamily="34" charset="-122"/>
                <a:ea typeface="微软雅黑" panose="020B0503020204020204" pitchFamily="34" charset="-122"/>
              </a:rPr>
              <a:t>0</a:t>
            </a:r>
            <a:endParaRPr lang="zh-CN" altLang="en-US" sz="2000" dirty="0">
              <a:solidFill>
                <a:srgbClr val="CC0000"/>
              </a:solidFill>
              <a:latin typeface="微软雅黑" panose="020B0503020204020204" pitchFamily="34" charset="-122"/>
              <a:ea typeface="微软雅黑" panose="020B0503020204020204" pitchFamily="34" charset="-122"/>
            </a:endParaRPr>
          </a:p>
          <a:p>
            <a:pPr eaLnBrk="0" hangingPunct="0">
              <a:spcBef>
                <a:spcPct val="30000"/>
              </a:spcBef>
            </a:pPr>
            <a:r>
              <a:rPr lang="en-US" altLang="zh-CN" sz="2000" dirty="0">
                <a:solidFill>
                  <a:schemeClr val="accent2"/>
                </a:solidFill>
                <a:latin typeface="微软雅黑" panose="020B0503020204020204" pitchFamily="34" charset="-122"/>
                <a:ea typeface="微软雅黑" panose="020B0503020204020204" pitchFamily="34" charset="-122"/>
              </a:rPr>
              <a:t>(2)</a:t>
            </a:r>
            <a:r>
              <a:rPr lang="zh-CN" altLang="en-US" sz="2000" dirty="0">
                <a:solidFill>
                  <a:schemeClr val="accent2"/>
                </a:solidFill>
                <a:latin typeface="微软雅黑" panose="020B0503020204020204" pitchFamily="34" charset="-122"/>
                <a:ea typeface="微软雅黑" panose="020B0503020204020204" pitchFamily="34" charset="-122"/>
              </a:rPr>
              <a:t>定点正小数（即原码小数）相除：在被除数的</a:t>
            </a:r>
            <a:r>
              <a:rPr lang="zh-CN" altLang="en-US" sz="2000" dirty="0">
                <a:solidFill>
                  <a:srgbClr val="CC0000"/>
                </a:solidFill>
                <a:latin typeface="微软雅黑" panose="020B0503020204020204" pitchFamily="34" charset="-122"/>
                <a:ea typeface="微软雅黑" panose="020B0503020204020204" pitchFamily="34" charset="-122"/>
              </a:rPr>
              <a:t>低位添加</a:t>
            </a:r>
            <a:r>
              <a:rPr lang="en-US" altLang="zh-CN" sz="2000" dirty="0">
                <a:solidFill>
                  <a:srgbClr val="CC0000"/>
                </a:solidFill>
                <a:latin typeface="微软雅黑" panose="020B0503020204020204" pitchFamily="34" charset="-122"/>
                <a:ea typeface="微软雅黑" panose="020B0503020204020204" pitchFamily="34" charset="-122"/>
              </a:rPr>
              <a:t>n</a:t>
            </a:r>
            <a:r>
              <a:rPr lang="zh-CN" altLang="en-US" sz="2000" dirty="0">
                <a:solidFill>
                  <a:srgbClr val="CC0000"/>
                </a:solidFill>
                <a:latin typeface="微软雅黑" panose="020B0503020204020204" pitchFamily="34" charset="-122"/>
                <a:ea typeface="微软雅黑" panose="020B0503020204020204" pitchFamily="34" charset="-122"/>
              </a:rPr>
              <a:t>个</a:t>
            </a:r>
            <a:r>
              <a:rPr lang="en-US" altLang="zh-CN" sz="2000" dirty="0">
                <a:solidFill>
                  <a:srgbClr val="CC0000"/>
                </a:solidFill>
                <a:latin typeface="微软雅黑" panose="020B0503020204020204" pitchFamily="34" charset="-122"/>
                <a:ea typeface="微软雅黑" panose="020B0503020204020204" pitchFamily="34" charset="-122"/>
              </a:rPr>
              <a:t>0</a:t>
            </a:r>
            <a:r>
              <a:rPr lang="zh-CN" altLang="en-US" sz="2000" dirty="0">
                <a:solidFill>
                  <a:schemeClr val="accent2"/>
                </a:solidFill>
                <a:latin typeface="微软雅黑" panose="020B0503020204020204" pitchFamily="34" charset="-122"/>
                <a:ea typeface="微软雅黑" panose="020B0503020204020204" pitchFamily="34" charset="-122"/>
              </a:rPr>
              <a:t> </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spcBef>
                <a:spcPct val="30000"/>
              </a:spcBef>
            </a:pPr>
            <a:r>
              <a:rPr lang="zh-CN" altLang="en-US" sz="2000" dirty="0">
                <a:latin typeface="微软雅黑" panose="020B0503020204020204" pitchFamily="34" charset="-122"/>
                <a:ea typeface="微软雅黑" panose="020B0503020204020204" pitchFamily="34" charset="-122"/>
              </a:rPr>
              <a:t>这样，就将所有情况都统一为：一个</a:t>
            </a:r>
            <a:r>
              <a:rPr lang="en-US" altLang="zh-CN" sz="2000" dirty="0">
                <a:latin typeface="微软雅黑" panose="020B0503020204020204" pitchFamily="34" charset="-122"/>
                <a:ea typeface="微软雅黑" panose="020B0503020204020204" pitchFamily="34" charset="-122"/>
              </a:rPr>
              <a:t>2n</a:t>
            </a:r>
            <a:r>
              <a:rPr lang="zh-CN" altLang="en-US" sz="2000" dirty="0">
                <a:latin typeface="微软雅黑" panose="020B0503020204020204" pitchFamily="34" charset="-122"/>
                <a:ea typeface="微软雅黑" panose="020B0503020204020204" pitchFamily="34" charset="-122"/>
              </a:rPr>
              <a:t>位数除以一个</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位数</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083">
                                            <p:txEl>
                                              <p:charRg st="6" end="48"/>
                                            </p:txEl>
                                          </p:spTgt>
                                        </p:tgtEl>
                                        <p:attrNameLst>
                                          <p:attrName>style.visibility</p:attrName>
                                        </p:attrNameLst>
                                      </p:cBhvr>
                                      <p:to>
                                        <p:strVal val="visible"/>
                                      </p:to>
                                    </p:set>
                                    <p:animEffect transition="in" filter="blinds(horizontal)">
                                      <p:cBhvr>
                                        <p:cTn id="7" dur="500"/>
                                        <p:tgtEl>
                                          <p:spTgt spid="430083">
                                            <p:txEl>
                                              <p:charRg st="6" end="4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083">
                                            <p:txEl>
                                              <p:charRg st="48" end="81"/>
                                            </p:txEl>
                                          </p:spTgt>
                                        </p:tgtEl>
                                        <p:attrNameLst>
                                          <p:attrName>style.visibility</p:attrName>
                                        </p:attrNameLst>
                                      </p:cBhvr>
                                      <p:to>
                                        <p:strVal val="visible"/>
                                      </p:to>
                                    </p:set>
                                    <p:animEffect transition="in" filter="blinds(horizontal)">
                                      <p:cBhvr>
                                        <p:cTn id="12" dur="500"/>
                                        <p:tgtEl>
                                          <p:spTgt spid="430083">
                                            <p:txEl>
                                              <p:charRg st="48" end="8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0083">
                                            <p:txEl>
                                              <p:charRg st="81" end="132"/>
                                            </p:txEl>
                                          </p:spTgt>
                                        </p:tgtEl>
                                        <p:attrNameLst>
                                          <p:attrName>style.visibility</p:attrName>
                                        </p:attrNameLst>
                                      </p:cBhvr>
                                      <p:to>
                                        <p:strVal val="visible"/>
                                      </p:to>
                                    </p:set>
                                    <p:animEffect transition="in" filter="blinds(horizontal)">
                                      <p:cBhvr>
                                        <p:cTn id="17" dur="500"/>
                                        <p:tgtEl>
                                          <p:spTgt spid="430083">
                                            <p:txEl>
                                              <p:charRg st="81" end="13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30083">
                                            <p:txEl>
                                              <p:charRg st="132" end="171"/>
                                            </p:txEl>
                                          </p:spTgt>
                                        </p:tgtEl>
                                        <p:attrNameLst>
                                          <p:attrName>style.visibility</p:attrName>
                                        </p:attrNameLst>
                                      </p:cBhvr>
                                      <p:to>
                                        <p:strVal val="visible"/>
                                      </p:to>
                                    </p:set>
                                    <p:animEffect transition="in" filter="blinds(horizontal)">
                                      <p:cBhvr>
                                        <p:cTn id="22" dur="500"/>
                                        <p:tgtEl>
                                          <p:spTgt spid="430083">
                                            <p:txEl>
                                              <p:charRg st="132" end="17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30083">
                                            <p:txEl>
                                              <p:charRg st="185" end="213"/>
                                            </p:txEl>
                                          </p:spTgt>
                                        </p:tgtEl>
                                        <p:attrNameLst>
                                          <p:attrName>style.visibility</p:attrName>
                                        </p:attrNameLst>
                                      </p:cBhvr>
                                      <p:to>
                                        <p:strVal val="visible"/>
                                      </p:to>
                                    </p:set>
                                    <p:animEffect transition="in" filter="blinds(horizontal)">
                                      <p:cBhvr>
                                        <p:cTn id="27" dur="500"/>
                                        <p:tgtEl>
                                          <p:spTgt spid="430083">
                                            <p:txEl>
                                              <p:charRg st="185" end="21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30083">
                                            <p:txEl>
                                              <p:charRg st="213" end="252"/>
                                            </p:txEl>
                                          </p:spTgt>
                                        </p:tgtEl>
                                        <p:attrNameLst>
                                          <p:attrName>style.visibility</p:attrName>
                                        </p:attrNameLst>
                                      </p:cBhvr>
                                      <p:to>
                                        <p:strVal val="visible"/>
                                      </p:to>
                                    </p:set>
                                    <p:animEffect transition="in" filter="blinds(horizontal)">
                                      <p:cBhvr>
                                        <p:cTn id="32" dur="500"/>
                                        <p:tgtEl>
                                          <p:spTgt spid="430083">
                                            <p:txEl>
                                              <p:charRg st="213" end="25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30083">
                                            <p:txEl>
                                              <p:charRg st="252" end="279"/>
                                            </p:txEl>
                                          </p:spTgt>
                                        </p:tgtEl>
                                        <p:attrNameLst>
                                          <p:attrName>style.visibility</p:attrName>
                                        </p:attrNameLst>
                                      </p:cBhvr>
                                      <p:to>
                                        <p:strVal val="visible"/>
                                      </p:to>
                                    </p:set>
                                    <p:animEffect transition="in" filter="blinds(horizontal)">
                                      <p:cBhvr>
                                        <p:cTn id="37" dur="500"/>
                                        <p:tgtEl>
                                          <p:spTgt spid="430083">
                                            <p:txEl>
                                              <p:charRg st="252" end="27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63876">
                                            <p:txEl>
                                              <p:charRg st="12" end="43"/>
                                            </p:txEl>
                                          </p:spTgt>
                                        </p:tgtEl>
                                        <p:attrNameLst>
                                          <p:attrName>style.visibility</p:attrName>
                                        </p:attrNameLst>
                                      </p:cBhvr>
                                      <p:to>
                                        <p:strVal val="visible"/>
                                      </p:to>
                                    </p:set>
                                    <p:animEffect transition="in" filter="blinds(horizontal)">
                                      <p:cBhvr>
                                        <p:cTn id="42" dur="500"/>
                                        <p:tgtEl>
                                          <p:spTgt spid="163876">
                                            <p:txEl>
                                              <p:charRg st="12" end="4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63876">
                                            <p:txEl>
                                              <p:charRg st="43" end="75"/>
                                            </p:txEl>
                                          </p:spTgt>
                                        </p:tgtEl>
                                        <p:attrNameLst>
                                          <p:attrName>style.visibility</p:attrName>
                                        </p:attrNameLst>
                                      </p:cBhvr>
                                      <p:to>
                                        <p:strVal val="visible"/>
                                      </p:to>
                                    </p:set>
                                    <p:animEffect transition="in" filter="blinds(horizontal)">
                                      <p:cBhvr>
                                        <p:cTn id="47" dur="500"/>
                                        <p:tgtEl>
                                          <p:spTgt spid="163876">
                                            <p:txEl>
                                              <p:charRg st="43" end="7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63876">
                                            <p:txEl>
                                              <p:charRg st="75" end="103"/>
                                            </p:txEl>
                                          </p:spTgt>
                                        </p:tgtEl>
                                        <p:attrNameLst>
                                          <p:attrName>style.visibility</p:attrName>
                                        </p:attrNameLst>
                                      </p:cBhvr>
                                      <p:to>
                                        <p:strVal val="visible"/>
                                      </p:to>
                                    </p:set>
                                    <p:animEffect transition="in" filter="blinds(horizontal)">
                                      <p:cBhvr>
                                        <p:cTn id="52" dur="500"/>
                                        <p:tgtEl>
                                          <p:spTgt spid="163876">
                                            <p:txEl>
                                              <p:charRg st="75" end="1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a:xfrm>
            <a:off x="476250" y="198438"/>
            <a:ext cx="5484813" cy="474662"/>
          </a:xfrm>
          <a:ln/>
        </p:spPr>
        <p:txBody>
          <a:bodyPr vert="horz" wrap="square" lIns="63500" tIns="25400" rIns="63500" bIns="25400" anchor="t" anchorCtr="0">
            <a:spAutoFit/>
          </a:bodyPr>
          <a:p>
            <a:r>
              <a:rPr lang="zh-CN" altLang="en-US" dirty="0">
                <a:ea typeface="宋体" panose="02010600030101010101" pitchFamily="2" charset="-122"/>
              </a:rPr>
              <a:t>第一次试商为</a:t>
            </a:r>
            <a:r>
              <a:rPr lang="en-US" altLang="zh-CN" dirty="0">
                <a:ea typeface="宋体" panose="02010600030101010101" pitchFamily="2" charset="-122"/>
              </a:rPr>
              <a:t>1</a:t>
            </a:r>
            <a:r>
              <a:rPr lang="zh-CN" altLang="en-US" dirty="0">
                <a:ea typeface="宋体" panose="02010600030101010101" pitchFamily="2" charset="-122"/>
              </a:rPr>
              <a:t>时的情况</a:t>
            </a:r>
            <a:endParaRPr lang="en-US" altLang="zh-CN" dirty="0">
              <a:ea typeface="宋体" panose="02010600030101010101" pitchFamily="2" charset="-122"/>
            </a:endParaRPr>
          </a:p>
        </p:txBody>
      </p:sp>
      <p:sp>
        <p:nvSpPr>
          <p:cNvPr id="484386" name="Text Box 34"/>
          <p:cNvSpPr txBox="1"/>
          <p:nvPr/>
        </p:nvSpPr>
        <p:spPr>
          <a:xfrm>
            <a:off x="447675" y="955675"/>
            <a:ext cx="5514975" cy="400050"/>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微软雅黑" panose="020B0503020204020204" pitchFamily="34" charset="-122"/>
                <a:ea typeface="微软雅黑" panose="020B0503020204020204" pitchFamily="34" charset="-122"/>
              </a:rPr>
              <a:t>问题：第一次试商为</a:t>
            </a:r>
            <a:r>
              <a:rPr lang="en-US" altLang="zh-CN" sz="2000" dirty="0">
                <a:solidFill>
                  <a:srgbClr val="FF0066"/>
                </a:solidFill>
                <a:latin typeface="微软雅黑" panose="020B0503020204020204" pitchFamily="34" charset="-122"/>
                <a:ea typeface="微软雅黑" panose="020B0503020204020204" pitchFamily="34" charset="-122"/>
              </a:rPr>
              <a:t>1</a:t>
            </a:r>
            <a:r>
              <a:rPr lang="zh-CN" altLang="en-US" sz="2000" dirty="0">
                <a:solidFill>
                  <a:srgbClr val="FF0066"/>
                </a:solidFill>
                <a:latin typeface="微软雅黑" panose="020B0503020204020204" pitchFamily="34" charset="-122"/>
                <a:ea typeface="微软雅黑" panose="020B0503020204020204" pitchFamily="34" charset="-122"/>
              </a:rPr>
              <a:t>，说明什么？</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84387" name="Text Box 35"/>
          <p:cNvSpPr txBox="1"/>
          <p:nvPr/>
        </p:nvSpPr>
        <p:spPr>
          <a:xfrm>
            <a:off x="381000" y="1622425"/>
            <a:ext cx="8486775" cy="3984625"/>
          </a:xfrm>
          <a:prstGeom prst="rect">
            <a:avLst/>
          </a:prstGeom>
          <a:noFill/>
          <a:ln w="12700">
            <a:noFill/>
          </a:ln>
        </p:spPr>
        <p:txBody>
          <a:bodyPr anchor="t" anchorCtr="0">
            <a:spAutoFit/>
          </a:bodyPr>
          <a:p>
            <a:pPr eaLnBrk="0" hangingPunct="0">
              <a:lnSpc>
                <a:spcPct val="140000"/>
              </a:lnSpc>
              <a:spcBef>
                <a:spcPct val="40000"/>
              </a:spcBef>
            </a:pPr>
            <a:r>
              <a:rPr lang="zh-CN" altLang="en-US" sz="2000" dirty="0">
                <a:latin typeface="微软雅黑" panose="020B0503020204020204" pitchFamily="34" charset="-122"/>
                <a:ea typeface="微软雅黑" panose="020B0503020204020204" pitchFamily="34" charset="-122"/>
              </a:rPr>
              <a:t>若是</a:t>
            </a:r>
            <a:r>
              <a:rPr lang="en-US" altLang="zh-CN" sz="2000" dirty="0">
                <a:solidFill>
                  <a:srgbClr val="CC3300"/>
                </a:solidFill>
                <a:latin typeface="微软雅黑" panose="020B0503020204020204" pitchFamily="34" charset="-122"/>
                <a:ea typeface="微软雅黑" panose="020B0503020204020204" pitchFamily="34" charset="-122"/>
              </a:rPr>
              <a:t>2n</a:t>
            </a:r>
            <a:r>
              <a:rPr lang="zh-CN" altLang="en-US" sz="2000" dirty="0">
                <a:solidFill>
                  <a:srgbClr val="CC3300"/>
                </a:solidFill>
                <a:latin typeface="微软雅黑" panose="020B0503020204020204" pitchFamily="34" charset="-122"/>
                <a:ea typeface="微软雅黑" panose="020B0503020204020204" pitchFamily="34" charset="-122"/>
              </a:rPr>
              <a:t>位除以</a:t>
            </a:r>
            <a:r>
              <a:rPr lang="en-US" altLang="zh-CN" sz="2000" dirty="0">
                <a:solidFill>
                  <a:srgbClr val="CC3300"/>
                </a:solidFill>
                <a:latin typeface="微软雅黑" panose="020B0503020204020204" pitchFamily="34" charset="-122"/>
                <a:ea typeface="微软雅黑" panose="020B0503020204020204" pitchFamily="34" charset="-122"/>
              </a:rPr>
              <a:t>n</a:t>
            </a:r>
            <a:r>
              <a:rPr lang="zh-CN" altLang="en-US" sz="2000" dirty="0">
                <a:solidFill>
                  <a:srgbClr val="CC3300"/>
                </a:solidFill>
                <a:latin typeface="微软雅黑" panose="020B0503020204020204" pitchFamily="34" charset="-122"/>
                <a:ea typeface="微软雅黑" panose="020B0503020204020204" pitchFamily="34" charset="-122"/>
              </a:rPr>
              <a:t>位</a:t>
            </a:r>
            <a:r>
              <a:rPr lang="zh-CN" altLang="en-US" sz="2000" dirty="0">
                <a:solidFill>
                  <a:srgbClr val="3333FF"/>
                </a:solidFill>
                <a:latin typeface="微软雅黑" panose="020B0503020204020204" pitchFamily="34" charset="-122"/>
                <a:ea typeface="微软雅黑" panose="020B0503020204020204" pitchFamily="34" charset="-122"/>
              </a:rPr>
              <a:t>的无符号整数运算，</a:t>
            </a:r>
            <a:r>
              <a:rPr lang="zh-CN" altLang="en-US" sz="2000" dirty="0">
                <a:latin typeface="微软雅黑" panose="020B0503020204020204" pitchFamily="34" charset="-122"/>
                <a:ea typeface="微软雅黑" panose="020B0503020204020204" pitchFamily="34" charset="-122"/>
              </a:rPr>
              <a:t>则说明将会得到多于</a:t>
            </a:r>
            <a:r>
              <a:rPr lang="en-US" altLang="zh-CN" sz="2000" dirty="0">
                <a:latin typeface="微软雅黑" panose="020B0503020204020204" pitchFamily="34" charset="-122"/>
                <a:ea typeface="微软雅黑" panose="020B0503020204020204" pitchFamily="34" charset="-122"/>
              </a:rPr>
              <a:t>n+1</a:t>
            </a:r>
            <a:r>
              <a:rPr lang="zh-CN" altLang="en-US" sz="2000" dirty="0">
                <a:latin typeface="微软雅黑" panose="020B0503020204020204" pitchFamily="34" charset="-122"/>
                <a:ea typeface="微软雅黑" panose="020B0503020204020204" pitchFamily="34" charset="-122"/>
              </a:rPr>
              <a:t>位的商，因而结果“溢出”（即：无法用</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位表示商）。</a:t>
            </a:r>
            <a:endParaRPr lang="zh-CN" altLang="en-US" sz="2000" dirty="0">
              <a:latin typeface="微软雅黑" panose="020B0503020204020204" pitchFamily="34" charset="-122"/>
              <a:ea typeface="微软雅黑" panose="020B0503020204020204" pitchFamily="34" charset="-122"/>
            </a:endParaRPr>
          </a:p>
          <a:p>
            <a:pPr eaLnBrk="0" hangingPunct="0">
              <a:lnSpc>
                <a:spcPct val="140000"/>
              </a:lnSpc>
              <a:spcBef>
                <a:spcPct val="40000"/>
              </a:spcBef>
            </a:pPr>
            <a:endParaRPr lang="zh-CN" altLang="en-US" sz="2000" dirty="0">
              <a:latin typeface="微软雅黑" panose="020B0503020204020204" pitchFamily="34" charset="-122"/>
              <a:ea typeface="微软雅黑" panose="020B0503020204020204" pitchFamily="34" charset="-122"/>
            </a:endParaRPr>
          </a:p>
          <a:p>
            <a:pPr eaLnBrk="0" hangingPunct="0">
              <a:lnSpc>
                <a:spcPct val="140000"/>
              </a:lnSpc>
              <a:spcBef>
                <a:spcPct val="40000"/>
              </a:spcBef>
            </a:pPr>
            <a:r>
              <a:rPr lang="zh-CN" altLang="en-US" sz="2000" dirty="0">
                <a:latin typeface="微软雅黑" panose="020B0503020204020204" pitchFamily="34" charset="-122"/>
                <a:ea typeface="微软雅黑" panose="020B0503020204020204" pitchFamily="34" charset="-122"/>
              </a:rPr>
              <a:t>若是两个</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位数相除，则第一位商为</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，且肯定不会溢出，为什么？</a:t>
            </a:r>
            <a:endParaRPr lang="zh-CN" altLang="en-US" sz="2000" dirty="0">
              <a:latin typeface="微软雅黑" panose="020B0503020204020204" pitchFamily="34" charset="-122"/>
              <a:ea typeface="微软雅黑" panose="020B0503020204020204" pitchFamily="34" charset="-122"/>
            </a:endParaRPr>
          </a:p>
          <a:p>
            <a:pPr eaLnBrk="0" hangingPunct="0">
              <a:lnSpc>
                <a:spcPct val="140000"/>
              </a:lnSpc>
              <a:spcBef>
                <a:spcPct val="40000"/>
              </a:spcBef>
            </a:pPr>
            <a:endParaRPr lang="zh-CN" altLang="en-US" sz="2000" dirty="0">
              <a:latin typeface="微软雅黑" panose="020B0503020204020204" pitchFamily="34" charset="-122"/>
              <a:ea typeface="微软雅黑" panose="020B0503020204020204" pitchFamily="34" charset="-122"/>
            </a:endParaRPr>
          </a:p>
          <a:p>
            <a:pPr eaLnBrk="0" hangingPunct="0">
              <a:lnSpc>
                <a:spcPct val="140000"/>
              </a:lnSpc>
              <a:spcBef>
                <a:spcPct val="40000"/>
              </a:spcBef>
            </a:pPr>
            <a:r>
              <a:rPr lang="zh-CN" altLang="en-US" sz="2000" dirty="0">
                <a:latin typeface="微软雅黑" panose="020B0503020204020204" pitchFamily="34" charset="-122"/>
                <a:ea typeface="微软雅黑" panose="020B0503020204020204" pitchFamily="34" charset="-122"/>
              </a:rPr>
              <a:t>若是</a:t>
            </a:r>
            <a:r>
              <a:rPr lang="zh-CN" altLang="en-US" sz="2000" dirty="0">
                <a:solidFill>
                  <a:srgbClr val="3333FF"/>
                </a:solidFill>
                <a:latin typeface="微软雅黑" panose="020B0503020204020204" pitchFamily="34" charset="-122"/>
                <a:ea typeface="微软雅黑" panose="020B0503020204020204" pitchFamily="34" charset="-122"/>
              </a:rPr>
              <a:t>浮点数中尾数原码小数运算</a:t>
            </a:r>
            <a:r>
              <a:rPr lang="zh-CN" altLang="en-US" sz="2000" dirty="0">
                <a:latin typeface="微软雅黑" panose="020B0503020204020204" pitchFamily="34" charset="-122"/>
                <a:ea typeface="微软雅黑" panose="020B0503020204020204" pitchFamily="34" charset="-122"/>
              </a:rPr>
              <a:t>，第一次试商为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，则说明尾数部分有“溢出”，可通过浮点数的“右规”消除“溢出”。所以，在浮点数运算器中，第一次得到的商“</a:t>
            </a: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要保留。</a:t>
            </a:r>
            <a:endParaRPr lang="zh-CN" altLang="en-US" sz="2000" dirty="0">
              <a:latin typeface="微软雅黑" panose="020B0503020204020204" pitchFamily="34" charset="-122"/>
              <a:ea typeface="微软雅黑" panose="020B0503020204020204" pitchFamily="34" charset="-122"/>
            </a:endParaRPr>
          </a:p>
        </p:txBody>
      </p:sp>
      <p:sp>
        <p:nvSpPr>
          <p:cNvPr id="484388" name="Text Box 36"/>
          <p:cNvSpPr txBox="1"/>
          <p:nvPr/>
        </p:nvSpPr>
        <p:spPr>
          <a:xfrm>
            <a:off x="1160463" y="3783013"/>
            <a:ext cx="5772150" cy="400050"/>
          </a:xfrm>
          <a:prstGeom prst="rect">
            <a:avLst/>
          </a:prstGeom>
          <a:noFill/>
          <a:ln w="12700">
            <a:noFill/>
          </a:ln>
        </p:spPr>
        <p:txBody>
          <a:bodyPr anchor="t" anchorCtr="0">
            <a:spAutoFit/>
          </a:bodyPr>
          <a:p>
            <a:pPr eaLnBrk="0" hangingPunct="0">
              <a:spcBef>
                <a:spcPct val="50000"/>
              </a:spcBef>
            </a:pPr>
            <a:r>
              <a:rPr lang="zh-CN" altLang="en-US" sz="2000" dirty="0">
                <a:solidFill>
                  <a:srgbClr val="CC3300"/>
                </a:solidFill>
                <a:latin typeface="微软雅黑" panose="020B0503020204020204" pitchFamily="34" charset="-122"/>
                <a:ea typeface="微软雅黑" panose="020B0503020204020204" pitchFamily="34" charset="-122"/>
              </a:rPr>
              <a:t>最大商为</a:t>
            </a:r>
            <a:r>
              <a:rPr lang="en-US" altLang="zh-CN" sz="2000" dirty="0">
                <a:solidFill>
                  <a:srgbClr val="CC3300"/>
                </a:solidFill>
                <a:latin typeface="微软雅黑" panose="020B0503020204020204" pitchFamily="34" charset="-122"/>
                <a:ea typeface="微软雅黑" panose="020B0503020204020204" pitchFamily="34" charset="-122"/>
              </a:rPr>
              <a:t>:0000 1111/0001=1111</a:t>
            </a:r>
            <a:endParaRPr lang="en-US" altLang="zh-CN" sz="2000" dirty="0">
              <a:solidFill>
                <a:srgbClr val="CC3300"/>
              </a:solidFill>
              <a:latin typeface="微软雅黑" panose="020B0503020204020204" pitchFamily="34" charset="-122"/>
              <a:ea typeface="微软雅黑" panose="020B0503020204020204" pitchFamily="34" charset="-122"/>
            </a:endParaRPr>
          </a:p>
        </p:txBody>
      </p:sp>
      <p:sp>
        <p:nvSpPr>
          <p:cNvPr id="484390" name="Text Box 38"/>
          <p:cNvSpPr txBox="1"/>
          <p:nvPr/>
        </p:nvSpPr>
        <p:spPr>
          <a:xfrm>
            <a:off x="5440363" y="971550"/>
            <a:ext cx="3460750" cy="400050"/>
          </a:xfrm>
          <a:prstGeom prst="rect">
            <a:avLst/>
          </a:prstGeom>
          <a:noFill/>
          <a:ln w="127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商有</a:t>
            </a:r>
            <a:r>
              <a:rPr lang="en-US" altLang="zh-CN" sz="2000" dirty="0">
                <a:latin typeface="微软雅黑" panose="020B0503020204020204" pitchFamily="34" charset="-122"/>
                <a:ea typeface="微软雅黑" panose="020B0503020204020204" pitchFamily="34" charset="-122"/>
              </a:rPr>
              <a:t>n+1</a:t>
            </a:r>
            <a:r>
              <a:rPr lang="zh-CN" altLang="en-US" sz="2000" dirty="0">
                <a:latin typeface="微软雅黑" panose="020B0503020204020204" pitchFamily="34" charset="-122"/>
                <a:ea typeface="微软雅黑" panose="020B0503020204020204" pitchFamily="34" charset="-122"/>
              </a:rPr>
              <a:t>位数，因而溢出！</a:t>
            </a:r>
            <a:endParaRPr lang="zh-CN" altLang="en-US" sz="2000" dirty="0">
              <a:latin typeface="微软雅黑" panose="020B0503020204020204" pitchFamily="34" charset="-122"/>
              <a:ea typeface="微软雅黑" panose="020B0503020204020204" pitchFamily="34" charset="-122"/>
            </a:endParaRPr>
          </a:p>
        </p:txBody>
      </p:sp>
      <p:sp>
        <p:nvSpPr>
          <p:cNvPr id="484391" name="Text Box 39"/>
          <p:cNvSpPr txBox="1"/>
          <p:nvPr/>
        </p:nvSpPr>
        <p:spPr>
          <a:xfrm>
            <a:off x="547688" y="5903913"/>
            <a:ext cx="6172200" cy="457200"/>
          </a:xfrm>
          <a:prstGeom prst="rect">
            <a:avLst/>
          </a:prstGeom>
          <a:noFill/>
          <a:ln w="12700">
            <a:noFill/>
          </a:ln>
        </p:spPr>
        <p:txBody>
          <a:bodyPr anchor="t" anchorCtr="0">
            <a:spAutoFit/>
          </a:bodyPr>
          <a:p>
            <a:pPr eaLnBrk="0" hangingPunct="0">
              <a:spcBef>
                <a:spcPct val="50000"/>
              </a:spcBef>
            </a:pPr>
            <a:r>
              <a:rPr lang="zh-CN" altLang="en-US" sz="2400" dirty="0">
                <a:solidFill>
                  <a:srgbClr val="CC3300"/>
                </a:solidFill>
                <a:latin typeface="Arial" panose="020B0604020202020204" pitchFamily="34" charset="0"/>
                <a:ea typeface="黑体" panose="02010609060101010101" pitchFamily="49" charset="-122"/>
              </a:rPr>
              <a:t>例：</a:t>
            </a:r>
            <a:r>
              <a:rPr lang="en-US" altLang="zh-CN" sz="2400" dirty="0">
                <a:solidFill>
                  <a:srgbClr val="CC3300"/>
                </a:solidFill>
                <a:latin typeface="Arial" panose="020B0604020202020204" pitchFamily="34" charset="0"/>
                <a:ea typeface="黑体" panose="02010609060101010101" pitchFamily="49" charset="-122"/>
              </a:rPr>
              <a:t>0.11110000/0.1000=+</a:t>
            </a:r>
            <a:r>
              <a:rPr lang="en-US" altLang="zh-CN" sz="2400" dirty="0">
                <a:latin typeface="Arial" panose="020B0604020202020204" pitchFamily="34" charset="0"/>
                <a:ea typeface="黑体" panose="02010609060101010101" pitchFamily="49" charset="-122"/>
              </a:rPr>
              <a:t>1</a:t>
            </a:r>
            <a:r>
              <a:rPr lang="en-US" altLang="zh-CN" sz="2400" dirty="0">
                <a:solidFill>
                  <a:srgbClr val="CC3300"/>
                </a:solidFill>
                <a:latin typeface="Arial" panose="020B0604020202020204" pitchFamily="34" charset="0"/>
                <a:ea typeface="黑体" panose="02010609060101010101" pitchFamily="49" charset="-122"/>
              </a:rPr>
              <a:t>.1110</a:t>
            </a:r>
            <a:endParaRPr lang="en-US" altLang="zh-CN" sz="2400" dirty="0">
              <a:solidFill>
                <a:srgbClr val="CC3300"/>
              </a:solidFill>
              <a:latin typeface="Arial" panose="020B0604020202020204" pitchFamily="34" charset="0"/>
              <a:ea typeface="黑体" panose="02010609060101010101" pitchFamily="49" charset="-122"/>
            </a:endParaRPr>
          </a:p>
        </p:txBody>
      </p:sp>
      <p:sp>
        <p:nvSpPr>
          <p:cNvPr id="484392" name="Text Box 40"/>
          <p:cNvSpPr txBox="1"/>
          <p:nvPr/>
        </p:nvSpPr>
        <p:spPr>
          <a:xfrm>
            <a:off x="1104900" y="2632075"/>
            <a:ext cx="4924425" cy="400050"/>
          </a:xfrm>
          <a:prstGeom prst="rect">
            <a:avLst/>
          </a:prstGeom>
          <a:noFill/>
          <a:ln w="12700">
            <a:noFill/>
          </a:ln>
        </p:spPr>
        <p:txBody>
          <a:bodyPr anchor="t" anchorCtr="0">
            <a:spAutoFit/>
          </a:bodyPr>
          <a:p>
            <a:pPr eaLnBrk="0" hangingPunct="0">
              <a:spcBef>
                <a:spcPct val="50000"/>
              </a:spcBef>
            </a:pPr>
            <a:r>
              <a:rPr lang="zh-CN" altLang="en-US" sz="2000" dirty="0">
                <a:solidFill>
                  <a:srgbClr val="CC3300"/>
                </a:solidFill>
                <a:latin typeface="微软雅黑" panose="020B0503020204020204" pitchFamily="34" charset="-122"/>
                <a:ea typeface="微软雅黑" panose="020B0503020204020204" pitchFamily="34" charset="-122"/>
              </a:rPr>
              <a:t>例：</a:t>
            </a:r>
            <a:r>
              <a:rPr lang="en-US" altLang="zh-CN" sz="2000" dirty="0">
                <a:solidFill>
                  <a:srgbClr val="CC3300"/>
                </a:solidFill>
                <a:latin typeface="微软雅黑" panose="020B0503020204020204" pitchFamily="34" charset="-122"/>
                <a:ea typeface="微软雅黑" panose="020B0503020204020204" pitchFamily="34" charset="-122"/>
              </a:rPr>
              <a:t>1111 1111/1111 = 1 0001</a:t>
            </a:r>
            <a:endParaRPr lang="en-US" altLang="zh-CN" sz="2000" dirty="0">
              <a:solidFill>
                <a:srgbClr val="CC3300"/>
              </a:solidFill>
              <a:latin typeface="微软雅黑" panose="020B0503020204020204" pitchFamily="34" charset="-122"/>
              <a:ea typeface="微软雅黑" panose="020B0503020204020204" pitchFamily="34" charset="-122"/>
            </a:endParaRPr>
          </a:p>
        </p:txBody>
      </p:sp>
      <p:sp>
        <p:nvSpPr>
          <p:cNvPr id="484393" name="Line 41"/>
          <p:cNvSpPr/>
          <p:nvPr/>
        </p:nvSpPr>
        <p:spPr>
          <a:xfrm flipH="1">
            <a:off x="4276725" y="4643438"/>
            <a:ext cx="1611313" cy="1314450"/>
          </a:xfrm>
          <a:prstGeom prst="line">
            <a:avLst/>
          </a:prstGeom>
          <a:ln w="28575" cap="flat" cmpd="sng">
            <a:solidFill>
              <a:srgbClr val="FF0066"/>
            </a:solidFill>
            <a:prstDash val="solid"/>
            <a:round/>
            <a:headEnd type="non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4386"/>
                                        </p:tgtEl>
                                        <p:attrNameLst>
                                          <p:attrName>style.visibility</p:attrName>
                                        </p:attrNameLst>
                                      </p:cBhvr>
                                      <p:to>
                                        <p:strVal val="visible"/>
                                      </p:to>
                                    </p:set>
                                    <p:animEffect transition="in" filter="blinds(horizontal)">
                                      <p:cBhvr>
                                        <p:cTn id="7" dur="500"/>
                                        <p:tgtEl>
                                          <p:spTgt spid="4843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84390"/>
                                        </p:tgtEl>
                                        <p:attrNameLst>
                                          <p:attrName>style.visibility</p:attrName>
                                        </p:attrNameLst>
                                      </p:cBhvr>
                                      <p:to>
                                        <p:strVal val="visible"/>
                                      </p:to>
                                    </p:set>
                                    <p:animEffect transition="in" filter="blinds(horizontal)">
                                      <p:cBhvr>
                                        <p:cTn id="12" dur="500"/>
                                        <p:tgtEl>
                                          <p:spTgt spid="48439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4387">
                                            <p:txEl>
                                              <p:charRg st="0" end="56"/>
                                            </p:txEl>
                                          </p:spTgt>
                                        </p:tgtEl>
                                        <p:attrNameLst>
                                          <p:attrName>style.visibility</p:attrName>
                                        </p:attrNameLst>
                                      </p:cBhvr>
                                      <p:to>
                                        <p:strVal val="visible"/>
                                      </p:to>
                                    </p:set>
                                    <p:animEffect transition="in" filter="blinds(horizontal)">
                                      <p:cBhvr>
                                        <p:cTn id="17" dur="500"/>
                                        <p:tgtEl>
                                          <p:spTgt spid="484387">
                                            <p:txEl>
                                              <p:charRg st="0" end="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84392"/>
                                        </p:tgtEl>
                                        <p:attrNameLst>
                                          <p:attrName>style.visibility</p:attrName>
                                        </p:attrNameLst>
                                      </p:cBhvr>
                                      <p:to>
                                        <p:strVal val="visible"/>
                                      </p:to>
                                    </p:set>
                                    <p:animEffect transition="in" filter="blinds(horizontal)">
                                      <p:cBhvr>
                                        <p:cTn id="22" dur="500"/>
                                        <p:tgtEl>
                                          <p:spTgt spid="48439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84387">
                                            <p:txEl>
                                              <p:charRg st="57" end="88"/>
                                            </p:txEl>
                                          </p:spTgt>
                                        </p:tgtEl>
                                        <p:attrNameLst>
                                          <p:attrName>style.visibility</p:attrName>
                                        </p:attrNameLst>
                                      </p:cBhvr>
                                      <p:to>
                                        <p:strVal val="visible"/>
                                      </p:to>
                                    </p:set>
                                    <p:animEffect transition="in" filter="blinds(horizontal)">
                                      <p:cBhvr>
                                        <p:cTn id="27" dur="500"/>
                                        <p:tgtEl>
                                          <p:spTgt spid="484387">
                                            <p:txEl>
                                              <p:charRg st="57" end="8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84388"/>
                                        </p:tgtEl>
                                        <p:attrNameLst>
                                          <p:attrName>style.visibility</p:attrName>
                                        </p:attrNameLst>
                                      </p:cBhvr>
                                      <p:to>
                                        <p:strVal val="visible"/>
                                      </p:to>
                                    </p:set>
                                    <p:animEffect transition="in" filter="blinds(horizontal)">
                                      <p:cBhvr>
                                        <p:cTn id="32" dur="500"/>
                                        <p:tgtEl>
                                          <p:spTgt spid="48438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84387">
                                            <p:txEl>
                                              <p:charRg st="89" end="171"/>
                                            </p:txEl>
                                          </p:spTgt>
                                        </p:tgtEl>
                                        <p:attrNameLst>
                                          <p:attrName>style.visibility</p:attrName>
                                        </p:attrNameLst>
                                      </p:cBhvr>
                                      <p:to>
                                        <p:strVal val="visible"/>
                                      </p:to>
                                    </p:set>
                                    <p:animEffect transition="in" filter="blinds(horizontal)">
                                      <p:cBhvr>
                                        <p:cTn id="37" dur="500"/>
                                        <p:tgtEl>
                                          <p:spTgt spid="484387">
                                            <p:txEl>
                                              <p:charRg st="89" end="17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84391"/>
                                        </p:tgtEl>
                                        <p:attrNameLst>
                                          <p:attrName>style.visibility</p:attrName>
                                        </p:attrNameLst>
                                      </p:cBhvr>
                                      <p:to>
                                        <p:strVal val="visible"/>
                                      </p:to>
                                    </p:set>
                                    <p:animEffect transition="in" filter="blinds(horizontal)">
                                      <p:cBhvr>
                                        <p:cTn id="42" dur="500"/>
                                        <p:tgtEl>
                                          <p:spTgt spid="48439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84393"/>
                                        </p:tgtEl>
                                        <p:attrNameLst>
                                          <p:attrName>style.visibility</p:attrName>
                                        </p:attrNameLst>
                                      </p:cBhvr>
                                      <p:to>
                                        <p:strVal val="visible"/>
                                      </p:to>
                                    </p:set>
                                    <p:animEffect transition="in" filter="blinds(horizontal)">
                                      <p:cBhvr>
                                        <p:cTn id="47" dur="500"/>
                                        <p:tgtEl>
                                          <p:spTgt spid="484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86" grpId="0"/>
      <p:bldP spid="484388" grpId="0"/>
      <p:bldP spid="484390" grpId="0"/>
      <p:bldP spid="484391" grpId="0"/>
      <p:bldP spid="48439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13"/>
          <p:cNvSpPr>
            <a:spLocks noGrp="1"/>
          </p:cNvSpPr>
          <p:nvPr>
            <p:ph type="title"/>
          </p:nvPr>
        </p:nvSpPr>
        <p:spPr>
          <a:xfrm>
            <a:off x="800100" y="198438"/>
            <a:ext cx="6916738" cy="474662"/>
          </a:xfrm>
          <a:ln/>
        </p:spPr>
        <p:txBody>
          <a:bodyPr vert="horz" wrap="square" lIns="63500" tIns="25400" rIns="63500" bIns="25400" anchor="t" anchorCtr="0">
            <a:spAutoFit/>
          </a:bodyPr>
          <a:p>
            <a:r>
              <a:rPr lang="zh-CN" altLang="en-US" dirty="0">
                <a:ea typeface="宋体" panose="02010600030101010101" pitchFamily="2" charset="-122"/>
              </a:rPr>
              <a:t>无符号数除法算法的硬件实现</a:t>
            </a:r>
            <a:endParaRPr lang="zh-CN" altLang="en-US" dirty="0">
              <a:ea typeface="宋体" panose="02010600030101010101" pitchFamily="2" charset="-122"/>
            </a:endParaRPr>
          </a:p>
        </p:txBody>
      </p:sp>
      <p:sp>
        <p:nvSpPr>
          <p:cNvPr id="176161" name="Rectangle 33"/>
          <p:cNvSpPr>
            <a:spLocks noGrp="1"/>
          </p:cNvSpPr>
          <p:nvPr>
            <p:ph idx="1"/>
          </p:nvPr>
        </p:nvSpPr>
        <p:spPr>
          <a:xfrm>
            <a:off x="303213" y="4489450"/>
            <a:ext cx="8362950" cy="2236788"/>
          </a:xfrm>
          <a:ln/>
        </p:spPr>
        <p:txBody>
          <a:bodyPr vert="horz" wrap="square" lIns="63500" tIns="25400" rIns="63500" bIns="25400" anchor="t" anchorCtr="0">
            <a:spAutoFit/>
          </a:bodyPr>
          <a:p>
            <a:pPr>
              <a:lnSpc>
                <a:spcPct val="90000"/>
              </a:lnSpc>
            </a:pPr>
            <a:r>
              <a:rPr lang="zh-CN" altLang="en-US" sz="2000" dirty="0">
                <a:latin typeface="微软雅黑" panose="020B0503020204020204" pitchFamily="34" charset="-122"/>
                <a:ea typeface="微软雅黑" panose="020B0503020204020204" pitchFamily="34" charset="-122"/>
              </a:rPr>
              <a:t>除数寄存器</a:t>
            </a:r>
            <a:r>
              <a:rPr lang="en-US" altLang="zh-CN" sz="2000" dirty="0">
                <a:latin typeface="微软雅黑" panose="020B0503020204020204" pitchFamily="34" charset="-122"/>
                <a:ea typeface="微软雅黑" panose="020B0503020204020204" pitchFamily="34" charset="-122"/>
              </a:rPr>
              <a:t>Y</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3333FF"/>
                </a:solidFill>
                <a:latin typeface="微软雅黑" panose="020B0503020204020204" pitchFamily="34" charset="-122"/>
                <a:ea typeface="微软雅黑" panose="020B0503020204020204" pitchFamily="34" charset="-122"/>
              </a:rPr>
              <a:t>存放除数。</a:t>
            </a:r>
            <a:endParaRPr lang="zh-CN" altLang="en-US" sz="2000" dirty="0">
              <a:solidFill>
                <a:srgbClr val="3333FF"/>
              </a:solidFill>
              <a:latin typeface="微软雅黑" panose="020B0503020204020204" pitchFamily="34" charset="-122"/>
              <a:ea typeface="微软雅黑" panose="020B0503020204020204" pitchFamily="34" charset="-122"/>
            </a:endParaRPr>
          </a:p>
          <a:p>
            <a:pPr>
              <a:lnSpc>
                <a:spcPct val="90000"/>
              </a:lnSpc>
            </a:pPr>
            <a:r>
              <a:rPr lang="zh-CN" altLang="en-US" sz="2000" dirty="0">
                <a:latin typeface="微软雅黑" panose="020B0503020204020204" pitchFamily="34" charset="-122"/>
                <a:ea typeface="微软雅黑" panose="020B0503020204020204" pitchFamily="34" charset="-122"/>
              </a:rPr>
              <a:t>余数寄存器</a:t>
            </a:r>
            <a:r>
              <a:rPr lang="en-US" altLang="zh-CN" sz="2000" dirty="0">
                <a:latin typeface="微软雅黑" panose="020B0503020204020204" pitchFamily="34" charset="-122"/>
                <a:ea typeface="微软雅黑" panose="020B0503020204020204" pitchFamily="34" charset="-122"/>
              </a:rPr>
              <a:t>R</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3333FF"/>
                </a:solidFill>
                <a:latin typeface="微软雅黑" panose="020B0503020204020204" pitchFamily="34" charset="-122"/>
                <a:ea typeface="微软雅黑" panose="020B0503020204020204" pitchFamily="34" charset="-122"/>
              </a:rPr>
              <a:t>初始时高位部分为高</a:t>
            </a:r>
            <a:r>
              <a:rPr lang="en-US" altLang="zh-CN" sz="2000" dirty="0">
                <a:solidFill>
                  <a:srgbClr val="3333FF"/>
                </a:solidFill>
                <a:latin typeface="微软雅黑" panose="020B0503020204020204" pitchFamily="34" charset="-122"/>
                <a:ea typeface="微软雅黑" panose="020B0503020204020204" pitchFamily="34" charset="-122"/>
              </a:rPr>
              <a:t>32</a:t>
            </a:r>
            <a:r>
              <a:rPr lang="zh-CN" altLang="en-US" sz="2000" dirty="0">
                <a:solidFill>
                  <a:srgbClr val="3333FF"/>
                </a:solidFill>
                <a:latin typeface="微软雅黑" panose="020B0503020204020204" pitchFamily="34" charset="-122"/>
                <a:ea typeface="微软雅黑" panose="020B0503020204020204" pitchFamily="34" charset="-122"/>
              </a:rPr>
              <a:t>位被除数；结束时是余数。</a:t>
            </a:r>
            <a:endParaRPr lang="zh-CN" altLang="en-US" sz="2000" dirty="0">
              <a:solidFill>
                <a:srgbClr val="3333FF"/>
              </a:solidFill>
              <a:latin typeface="微软雅黑" panose="020B0503020204020204" pitchFamily="34" charset="-122"/>
              <a:ea typeface="微软雅黑" panose="020B0503020204020204" pitchFamily="34" charset="-122"/>
            </a:endParaRPr>
          </a:p>
          <a:p>
            <a:pPr>
              <a:lnSpc>
                <a:spcPct val="90000"/>
              </a:lnSpc>
            </a:pPr>
            <a:r>
              <a:rPr lang="zh-CN" altLang="en-US" sz="2000" dirty="0">
                <a:latin typeface="微软雅黑" panose="020B0503020204020204" pitchFamily="34" charset="-122"/>
                <a:ea typeface="微软雅黑" panose="020B0503020204020204" pitchFamily="34" charset="-122"/>
              </a:rPr>
              <a:t>余数</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商寄存器</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3333FF"/>
                </a:solidFill>
                <a:latin typeface="微软雅黑" panose="020B0503020204020204" pitchFamily="34" charset="-122"/>
                <a:ea typeface="微软雅黑" panose="020B0503020204020204" pitchFamily="34" charset="-122"/>
              </a:rPr>
              <a:t>初始时为低</a:t>
            </a:r>
            <a:r>
              <a:rPr lang="en-US" altLang="zh-CN" sz="2000" dirty="0">
                <a:solidFill>
                  <a:srgbClr val="3333FF"/>
                </a:solidFill>
                <a:latin typeface="微软雅黑" panose="020B0503020204020204" pitchFamily="34" charset="-122"/>
                <a:ea typeface="微软雅黑" panose="020B0503020204020204" pitchFamily="34" charset="-122"/>
              </a:rPr>
              <a:t>32</a:t>
            </a:r>
            <a:r>
              <a:rPr lang="zh-CN" altLang="en-US" sz="2000" dirty="0">
                <a:solidFill>
                  <a:srgbClr val="3333FF"/>
                </a:solidFill>
                <a:latin typeface="微软雅黑" panose="020B0503020204020204" pitchFamily="34" charset="-122"/>
                <a:ea typeface="微软雅黑" panose="020B0503020204020204" pitchFamily="34" charset="-122"/>
              </a:rPr>
              <a:t>位被除数；结束时是</a:t>
            </a:r>
            <a:r>
              <a:rPr lang="en-US" altLang="zh-CN" sz="2000" dirty="0">
                <a:solidFill>
                  <a:srgbClr val="3333FF"/>
                </a:solidFill>
                <a:latin typeface="微软雅黑" panose="020B0503020204020204" pitchFamily="34" charset="-122"/>
                <a:ea typeface="微软雅黑" panose="020B0503020204020204" pitchFamily="34" charset="-122"/>
              </a:rPr>
              <a:t>32</a:t>
            </a:r>
            <a:r>
              <a:rPr lang="zh-CN" altLang="en-US" sz="2000" dirty="0">
                <a:solidFill>
                  <a:srgbClr val="3333FF"/>
                </a:solidFill>
                <a:latin typeface="微软雅黑" panose="020B0503020204020204" pitchFamily="34" charset="-122"/>
                <a:ea typeface="微软雅黑" panose="020B0503020204020204" pitchFamily="34" charset="-122"/>
              </a:rPr>
              <a:t>位商。</a:t>
            </a:r>
            <a:endParaRPr lang="zh-CN" altLang="en-US" sz="2000" dirty="0">
              <a:solidFill>
                <a:srgbClr val="3333FF"/>
              </a:solidFill>
              <a:latin typeface="微软雅黑" panose="020B0503020204020204" pitchFamily="34" charset="-122"/>
              <a:ea typeface="微软雅黑" panose="020B0503020204020204" pitchFamily="34" charset="-122"/>
            </a:endParaRPr>
          </a:p>
          <a:p>
            <a:pPr>
              <a:lnSpc>
                <a:spcPct val="90000"/>
              </a:lnSpc>
            </a:pPr>
            <a:r>
              <a:rPr lang="zh-CN" altLang="en-US" sz="2000" dirty="0">
                <a:latin typeface="微软雅黑" panose="020B0503020204020204" pitchFamily="34" charset="-122"/>
                <a:ea typeface="微软雅黑" panose="020B0503020204020204" pitchFamily="34" charset="-122"/>
              </a:rPr>
              <a:t>循环次数计数器</a:t>
            </a:r>
            <a:r>
              <a:rPr lang="en-US" altLang="zh-CN" sz="2000" dirty="0">
                <a:latin typeface="微软雅黑" panose="020B0503020204020204" pitchFamily="34" charset="-122"/>
                <a:ea typeface="微软雅黑" panose="020B0503020204020204" pitchFamily="34" charset="-122"/>
              </a:rPr>
              <a:t>Cn</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3333FF"/>
                </a:solidFill>
                <a:latin typeface="微软雅黑" panose="020B0503020204020204" pitchFamily="34" charset="-122"/>
                <a:ea typeface="微软雅黑" panose="020B0503020204020204" pitchFamily="34" charset="-122"/>
              </a:rPr>
              <a:t>存放循环次数。初值是</a:t>
            </a:r>
            <a:r>
              <a:rPr lang="en-US" altLang="zh-CN" sz="2000" dirty="0">
                <a:solidFill>
                  <a:srgbClr val="3333FF"/>
                </a:solidFill>
                <a:latin typeface="微软雅黑" panose="020B0503020204020204" pitchFamily="34" charset="-122"/>
                <a:ea typeface="微软雅黑" panose="020B0503020204020204" pitchFamily="34" charset="-122"/>
              </a:rPr>
              <a:t>32</a:t>
            </a:r>
            <a:r>
              <a:rPr lang="zh-CN" altLang="en-US" sz="2000" dirty="0">
                <a:solidFill>
                  <a:srgbClr val="3333FF"/>
                </a:solidFill>
                <a:latin typeface="微软雅黑" panose="020B0503020204020204" pitchFamily="34" charset="-122"/>
                <a:ea typeface="微软雅黑" panose="020B0503020204020204" pitchFamily="34" charset="-122"/>
              </a:rPr>
              <a:t>，每循环一次，</a:t>
            </a:r>
            <a:r>
              <a:rPr lang="en-US" altLang="zh-CN" sz="2000" dirty="0">
                <a:solidFill>
                  <a:srgbClr val="3333FF"/>
                </a:solidFill>
                <a:latin typeface="微软雅黑" panose="020B0503020204020204" pitchFamily="34" charset="-122"/>
                <a:ea typeface="微软雅黑" panose="020B0503020204020204" pitchFamily="34" charset="-122"/>
              </a:rPr>
              <a:t>Cn</a:t>
            </a:r>
            <a:r>
              <a:rPr lang="zh-CN" altLang="en-US" sz="2000" dirty="0">
                <a:solidFill>
                  <a:srgbClr val="3333FF"/>
                </a:solidFill>
                <a:latin typeface="微软雅黑" panose="020B0503020204020204" pitchFamily="34" charset="-122"/>
                <a:ea typeface="微软雅黑" panose="020B0503020204020204" pitchFamily="34" charset="-122"/>
              </a:rPr>
              <a:t>减</a:t>
            </a:r>
            <a:r>
              <a:rPr lang="en-US" altLang="zh-CN" sz="2000" dirty="0">
                <a:solidFill>
                  <a:srgbClr val="3333FF"/>
                </a:solidFill>
                <a:latin typeface="微软雅黑" panose="020B0503020204020204" pitchFamily="34" charset="-122"/>
                <a:ea typeface="微软雅黑" panose="020B0503020204020204" pitchFamily="34" charset="-122"/>
              </a:rPr>
              <a:t>1</a:t>
            </a:r>
            <a:r>
              <a:rPr lang="zh-CN" altLang="en-US" sz="2000" dirty="0">
                <a:solidFill>
                  <a:srgbClr val="3333FF"/>
                </a:solidFill>
                <a:latin typeface="微软雅黑" panose="020B0503020204020204" pitchFamily="34" charset="-122"/>
                <a:ea typeface="微软雅黑" panose="020B0503020204020204" pitchFamily="34" charset="-122"/>
              </a:rPr>
              <a:t>，当</a:t>
            </a:r>
            <a:r>
              <a:rPr lang="en-US" altLang="zh-CN" sz="2000" dirty="0">
                <a:solidFill>
                  <a:srgbClr val="3333FF"/>
                </a:solidFill>
                <a:latin typeface="微软雅黑" panose="020B0503020204020204" pitchFamily="34" charset="-122"/>
                <a:ea typeface="微软雅黑" panose="020B0503020204020204" pitchFamily="34" charset="-122"/>
              </a:rPr>
              <a:t>Cn=0</a:t>
            </a:r>
            <a:r>
              <a:rPr lang="zh-CN" altLang="en-US" sz="2000" dirty="0">
                <a:solidFill>
                  <a:srgbClr val="3333FF"/>
                </a:solidFill>
                <a:latin typeface="微软雅黑" panose="020B0503020204020204" pitchFamily="34" charset="-122"/>
                <a:ea typeface="微软雅黑" panose="020B0503020204020204" pitchFamily="34" charset="-122"/>
              </a:rPr>
              <a:t>时，除法运算结束。</a:t>
            </a:r>
            <a:endParaRPr lang="zh-CN" altLang="en-US" sz="2000" dirty="0">
              <a:solidFill>
                <a:srgbClr val="3333FF"/>
              </a:solidFill>
              <a:latin typeface="微软雅黑" panose="020B0503020204020204" pitchFamily="34" charset="-122"/>
              <a:ea typeface="微软雅黑" panose="020B0503020204020204" pitchFamily="34" charset="-122"/>
            </a:endParaRPr>
          </a:p>
          <a:p>
            <a:pPr>
              <a:lnSpc>
                <a:spcPct val="90000"/>
              </a:lnSpc>
            </a:pPr>
            <a:r>
              <a:rPr lang="en-US" altLang="zh-CN" sz="2000" dirty="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：除法核心部件。</a:t>
            </a:r>
            <a:r>
              <a:rPr lang="zh-CN" altLang="en-US" sz="2000" dirty="0">
                <a:solidFill>
                  <a:srgbClr val="3333FF"/>
                </a:solidFill>
                <a:latin typeface="微软雅黑" panose="020B0503020204020204" pitchFamily="34" charset="-122"/>
                <a:ea typeface="微软雅黑" panose="020B0503020204020204" pitchFamily="34" charset="-122"/>
              </a:rPr>
              <a:t>在控制逻辑控制下，对于寄存器</a:t>
            </a:r>
            <a:r>
              <a:rPr lang="en-US" altLang="zh-CN" sz="2000" dirty="0">
                <a:solidFill>
                  <a:srgbClr val="3333FF"/>
                </a:solidFill>
                <a:latin typeface="微软雅黑" panose="020B0503020204020204" pitchFamily="34" charset="-122"/>
                <a:ea typeface="微软雅黑" panose="020B0503020204020204" pitchFamily="34" charset="-122"/>
              </a:rPr>
              <a:t>R</a:t>
            </a:r>
            <a:r>
              <a:rPr lang="zh-CN" altLang="en-US" sz="2000" dirty="0">
                <a:solidFill>
                  <a:srgbClr val="3333FF"/>
                </a:solidFill>
                <a:latin typeface="微软雅黑" panose="020B0503020204020204" pitchFamily="34" charset="-122"/>
                <a:ea typeface="微软雅黑" panose="020B0503020204020204" pitchFamily="34" charset="-122"/>
              </a:rPr>
              <a:t>和</a:t>
            </a:r>
            <a:r>
              <a:rPr lang="en-US" altLang="zh-CN" sz="2000" dirty="0">
                <a:solidFill>
                  <a:srgbClr val="3333FF"/>
                </a:solidFill>
                <a:latin typeface="微软雅黑" panose="020B0503020204020204" pitchFamily="34" charset="-122"/>
                <a:ea typeface="微软雅黑" panose="020B0503020204020204" pitchFamily="34" charset="-122"/>
              </a:rPr>
              <a:t>Y</a:t>
            </a:r>
            <a:r>
              <a:rPr lang="zh-CN" altLang="en-US" sz="2000" dirty="0">
                <a:solidFill>
                  <a:srgbClr val="3333FF"/>
                </a:solidFill>
                <a:latin typeface="微软雅黑" panose="020B0503020204020204" pitchFamily="34" charset="-122"/>
                <a:ea typeface="微软雅黑" panose="020B0503020204020204" pitchFamily="34" charset="-122"/>
              </a:rPr>
              <a:t>的内容进行“加</a:t>
            </a:r>
            <a:r>
              <a:rPr lang="en-US" altLang="zh-CN" sz="2000" dirty="0">
                <a:solidFill>
                  <a:srgbClr val="3333FF"/>
                </a:solidFill>
                <a:latin typeface="微软雅黑" panose="020B0503020204020204" pitchFamily="34" charset="-122"/>
                <a:ea typeface="微软雅黑" panose="020B0503020204020204" pitchFamily="34" charset="-122"/>
              </a:rPr>
              <a:t>/</a:t>
            </a:r>
            <a:r>
              <a:rPr lang="zh-CN" altLang="en-US" sz="2000" dirty="0">
                <a:solidFill>
                  <a:srgbClr val="3333FF"/>
                </a:solidFill>
                <a:latin typeface="微软雅黑" panose="020B0503020204020204" pitchFamily="34" charset="-122"/>
                <a:ea typeface="微软雅黑" panose="020B0503020204020204" pitchFamily="34" charset="-122"/>
              </a:rPr>
              <a:t>减”运算，在“写使能”控制下运算结果被送回寄存器</a:t>
            </a:r>
            <a:r>
              <a:rPr lang="en-US" altLang="zh-CN" sz="2000" dirty="0">
                <a:solidFill>
                  <a:srgbClr val="3333FF"/>
                </a:solidFill>
                <a:latin typeface="微软雅黑" panose="020B0503020204020204" pitchFamily="34" charset="-122"/>
                <a:ea typeface="微软雅黑" panose="020B0503020204020204" pitchFamily="34" charset="-122"/>
              </a:rPr>
              <a:t>R</a:t>
            </a:r>
            <a:r>
              <a:rPr lang="zh-CN" altLang="en-US" sz="2000" dirty="0">
                <a:solidFill>
                  <a:srgbClr val="3333FF"/>
                </a:solidFill>
                <a:latin typeface="微软雅黑" panose="020B0503020204020204" pitchFamily="34" charset="-122"/>
                <a:ea typeface="微软雅黑" panose="020B0503020204020204" pitchFamily="34" charset="-122"/>
              </a:rPr>
              <a:t>。 </a:t>
            </a:r>
            <a:endParaRPr lang="zh-CN" altLang="en-US" sz="2000" dirty="0">
              <a:solidFill>
                <a:srgbClr val="3333FF"/>
              </a:solidFill>
              <a:latin typeface="微软雅黑" panose="020B0503020204020204" pitchFamily="34" charset="-122"/>
              <a:ea typeface="微软雅黑" panose="020B0503020204020204" pitchFamily="34" charset="-122"/>
            </a:endParaRPr>
          </a:p>
        </p:txBody>
      </p:sp>
      <p:pic>
        <p:nvPicPr>
          <p:cNvPr id="90115" name="Picture 34"/>
          <p:cNvPicPr>
            <a:picLocks noChangeAspect="1"/>
          </p:cNvPicPr>
          <p:nvPr/>
        </p:nvPicPr>
        <p:blipFill>
          <a:blip r:embed="rId1"/>
          <a:stretch>
            <a:fillRect/>
          </a:stretch>
        </p:blipFill>
        <p:spPr>
          <a:xfrm>
            <a:off x="323850" y="704850"/>
            <a:ext cx="7327900" cy="3736975"/>
          </a:xfrm>
          <a:prstGeom prst="rect">
            <a:avLst/>
          </a:prstGeom>
          <a:noFill/>
          <a:ln w="9525">
            <a:noFill/>
          </a:ln>
        </p:spPr>
      </p:pic>
      <p:sp>
        <p:nvSpPr>
          <p:cNvPr id="176163" name="Rectangle 35"/>
          <p:cNvSpPr/>
          <p:nvPr/>
        </p:nvSpPr>
        <p:spPr>
          <a:xfrm>
            <a:off x="4151313" y="736600"/>
            <a:ext cx="4940300" cy="1425575"/>
          </a:xfrm>
          <a:prstGeom prst="rect">
            <a:avLst/>
          </a:prstGeom>
          <a:noFill/>
          <a:ln w="12700">
            <a:noFill/>
          </a:ln>
        </p:spPr>
        <p:txBody>
          <a:bodyPr anchor="ctr" anchorCtr="0">
            <a:spAutoFit/>
          </a:bodyPr>
          <a:p>
            <a:pPr eaLnBrk="0" hangingPunct="0">
              <a:lnSpc>
                <a:spcPts val="2600"/>
              </a:lnSpc>
              <a:buClr>
                <a:srgbClr val="FF0066"/>
              </a:buClr>
              <a:buSzPct val="125000"/>
              <a:buChar char="•"/>
            </a:pPr>
            <a:r>
              <a:rPr lang="en-US" altLang="zh-CN" dirty="0">
                <a:solidFill>
                  <a:srgbClr val="009900"/>
                </a:solidFill>
                <a:latin typeface="Times New Roman" panose="02020603050405020304" pitchFamily="18" charset="0"/>
              </a:rPr>
              <a:t>  </a:t>
            </a:r>
            <a:r>
              <a:rPr lang="en-US" altLang="zh-CN" sz="1900" dirty="0">
                <a:solidFill>
                  <a:srgbClr val="FF0066"/>
                </a:solidFill>
                <a:latin typeface="微软雅黑" panose="020B0503020204020204" pitchFamily="34" charset="-122"/>
                <a:ea typeface="微软雅黑" panose="020B0503020204020204" pitchFamily="34" charset="-122"/>
              </a:rPr>
              <a:t>R</a:t>
            </a:r>
            <a:r>
              <a:rPr lang="zh-CN" altLang="en-US" sz="1900" dirty="0">
                <a:solidFill>
                  <a:srgbClr val="FF0066"/>
                </a:solidFill>
                <a:latin typeface="微软雅黑" panose="020B0503020204020204" pitchFamily="34" charset="-122"/>
                <a:ea typeface="微软雅黑" panose="020B0503020204020204" pitchFamily="34" charset="-122"/>
              </a:rPr>
              <a:t>和</a:t>
            </a:r>
            <a:r>
              <a:rPr lang="en-US" altLang="zh-CN" sz="1900" dirty="0">
                <a:solidFill>
                  <a:srgbClr val="FF0066"/>
                </a:solidFill>
                <a:latin typeface="微软雅黑" panose="020B0503020204020204" pitchFamily="34" charset="-122"/>
                <a:ea typeface="微软雅黑" panose="020B0503020204020204" pitchFamily="34" charset="-122"/>
              </a:rPr>
              <a:t>Q</a:t>
            </a:r>
            <a:r>
              <a:rPr lang="zh-CN" altLang="en-US" sz="1900" dirty="0">
                <a:solidFill>
                  <a:srgbClr val="FF0066"/>
                </a:solidFill>
                <a:latin typeface="微软雅黑" panose="020B0503020204020204" pitchFamily="34" charset="-122"/>
                <a:ea typeface="微软雅黑" panose="020B0503020204020204" pitchFamily="34" charset="-122"/>
              </a:rPr>
              <a:t>同步“左移”，</a:t>
            </a:r>
            <a:r>
              <a:rPr lang="en-US" altLang="zh-CN" sz="1900" dirty="0">
                <a:solidFill>
                  <a:srgbClr val="FF0066"/>
                </a:solidFill>
                <a:latin typeface="微软雅黑" panose="020B0503020204020204" pitchFamily="34" charset="-122"/>
                <a:ea typeface="微软雅黑" panose="020B0503020204020204" pitchFamily="34" charset="-122"/>
              </a:rPr>
              <a:t>Q</a:t>
            </a:r>
            <a:r>
              <a:rPr lang="zh-CN" altLang="en-US" sz="1900" dirty="0">
                <a:solidFill>
                  <a:srgbClr val="FF0066"/>
                </a:solidFill>
                <a:latin typeface="微软雅黑" panose="020B0503020204020204" pitchFamily="34" charset="-122"/>
                <a:ea typeface="微软雅黑" panose="020B0503020204020204" pitchFamily="34" charset="-122"/>
              </a:rPr>
              <a:t>空出位上“商”，  </a:t>
            </a:r>
            <a:endParaRPr lang="zh-CN" altLang="en-US" sz="1900" dirty="0">
              <a:solidFill>
                <a:srgbClr val="FF0066"/>
              </a:solidFill>
              <a:latin typeface="微软雅黑" panose="020B0503020204020204" pitchFamily="34" charset="-122"/>
              <a:ea typeface="微软雅黑" panose="020B0503020204020204" pitchFamily="34" charset="-122"/>
            </a:endParaRPr>
          </a:p>
          <a:p>
            <a:pPr eaLnBrk="0" hangingPunct="0">
              <a:lnSpc>
                <a:spcPts val="2600"/>
              </a:lnSpc>
            </a:pPr>
            <a:r>
              <a:rPr lang="zh-CN" altLang="en-US" sz="1900" dirty="0">
                <a:solidFill>
                  <a:srgbClr val="FF0066"/>
                </a:solidFill>
                <a:latin typeface="微软雅黑" panose="020B0503020204020204" pitchFamily="34" charset="-122"/>
                <a:ea typeface="微软雅黑" panose="020B0503020204020204" pitchFamily="34" charset="-122"/>
              </a:rPr>
              <a:t>  商的各位逐次左移到</a:t>
            </a:r>
            <a:r>
              <a:rPr lang="en-US" altLang="zh-CN" sz="1900" dirty="0">
                <a:solidFill>
                  <a:srgbClr val="FF0066"/>
                </a:solidFill>
                <a:latin typeface="微软雅黑" panose="020B0503020204020204" pitchFamily="34" charset="-122"/>
                <a:ea typeface="微软雅黑" panose="020B0503020204020204" pitchFamily="34" charset="-122"/>
              </a:rPr>
              <a:t>Q</a:t>
            </a:r>
            <a:r>
              <a:rPr lang="zh-CN" altLang="en-US" sz="1900" dirty="0">
                <a:solidFill>
                  <a:srgbClr val="FF0066"/>
                </a:solidFill>
                <a:latin typeface="微软雅黑" panose="020B0503020204020204" pitchFamily="34" charset="-122"/>
                <a:ea typeface="微软雅黑" panose="020B0503020204020204" pitchFamily="34" charset="-122"/>
              </a:rPr>
              <a:t>中。</a:t>
            </a:r>
            <a:endParaRPr lang="zh-CN" altLang="en-US" sz="1900" dirty="0">
              <a:solidFill>
                <a:srgbClr val="FF0066"/>
              </a:solidFill>
              <a:latin typeface="微软雅黑" panose="020B0503020204020204" pitchFamily="34" charset="-122"/>
              <a:ea typeface="微软雅黑" panose="020B0503020204020204" pitchFamily="34" charset="-122"/>
            </a:endParaRPr>
          </a:p>
          <a:p>
            <a:pPr eaLnBrk="0" hangingPunct="0">
              <a:lnSpc>
                <a:spcPts val="2600"/>
              </a:lnSpc>
              <a:buChar char="•"/>
            </a:pPr>
            <a:r>
              <a:rPr lang="zh-CN" altLang="en-US" sz="1900" dirty="0">
                <a:solidFill>
                  <a:srgbClr val="FF0066"/>
                </a:solidFill>
                <a:latin typeface="微软雅黑" panose="020B0503020204020204" pitchFamily="34" charset="-122"/>
                <a:ea typeface="微软雅黑" panose="020B0503020204020204" pitchFamily="34" charset="-122"/>
              </a:rPr>
              <a:t> 由控制逻辑根据加减结果决定商为</a:t>
            </a:r>
            <a:r>
              <a:rPr lang="en-US" altLang="zh-CN" sz="1900" dirty="0">
                <a:solidFill>
                  <a:srgbClr val="FF0066"/>
                </a:solidFill>
                <a:latin typeface="微软雅黑" panose="020B0503020204020204" pitchFamily="34" charset="-122"/>
                <a:ea typeface="微软雅黑" panose="020B0503020204020204" pitchFamily="34" charset="-122"/>
              </a:rPr>
              <a:t>0</a:t>
            </a:r>
            <a:r>
              <a:rPr lang="zh-CN" altLang="en-US" sz="1900" dirty="0">
                <a:solidFill>
                  <a:srgbClr val="FF0066"/>
                </a:solidFill>
                <a:latin typeface="微软雅黑" panose="020B0503020204020204" pitchFamily="34" charset="-122"/>
                <a:ea typeface="微软雅黑" panose="020B0503020204020204" pitchFamily="34" charset="-122"/>
              </a:rPr>
              <a:t>还是</a:t>
            </a:r>
            <a:r>
              <a:rPr lang="en-US" altLang="zh-CN" sz="1900" dirty="0">
                <a:solidFill>
                  <a:srgbClr val="FF0066"/>
                </a:solidFill>
                <a:latin typeface="微软雅黑" panose="020B0503020204020204" pitchFamily="34" charset="-122"/>
                <a:ea typeface="微软雅黑" panose="020B0503020204020204" pitchFamily="34" charset="-122"/>
              </a:rPr>
              <a:t>1</a:t>
            </a:r>
            <a:r>
              <a:rPr lang="zh-CN" altLang="en-US" sz="1900" dirty="0">
                <a:solidFill>
                  <a:srgbClr val="FF0066"/>
                </a:solidFill>
                <a:latin typeface="微软雅黑" panose="020B0503020204020204" pitchFamily="34" charset="-122"/>
                <a:ea typeface="微软雅黑" panose="020B0503020204020204" pitchFamily="34" charset="-122"/>
              </a:rPr>
              <a:t> </a:t>
            </a:r>
            <a:endParaRPr lang="zh-CN" altLang="en-US" sz="1900" dirty="0">
              <a:solidFill>
                <a:srgbClr val="FF0066"/>
              </a:solidFill>
              <a:latin typeface="微软雅黑" panose="020B0503020204020204" pitchFamily="34" charset="-122"/>
              <a:ea typeface="微软雅黑" panose="020B0503020204020204" pitchFamily="34" charset="-122"/>
            </a:endParaRPr>
          </a:p>
          <a:p>
            <a:pPr eaLnBrk="0" hangingPunct="0">
              <a:lnSpc>
                <a:spcPts val="2600"/>
              </a:lnSpc>
              <a:buClr>
                <a:srgbClr val="FF0066"/>
              </a:buClr>
              <a:buSzPct val="125000"/>
              <a:buChar char="•"/>
            </a:pPr>
            <a:r>
              <a:rPr lang="zh-CN" altLang="en-US" sz="1900" dirty="0">
                <a:solidFill>
                  <a:srgbClr val="008000"/>
                </a:solidFill>
                <a:latin typeface="微软雅黑" panose="020B0503020204020204" pitchFamily="34" charset="-122"/>
                <a:ea typeface="微软雅黑" panose="020B0503020204020204" pitchFamily="34" charset="-122"/>
              </a:rPr>
              <a:t> 减</a:t>
            </a:r>
            <a:r>
              <a:rPr lang="en-US" altLang="zh-CN" sz="1900" dirty="0">
                <a:solidFill>
                  <a:srgbClr val="008000"/>
                </a:solidFill>
                <a:latin typeface="微软雅黑" panose="020B0503020204020204" pitchFamily="34" charset="-122"/>
                <a:ea typeface="微软雅黑" panose="020B0503020204020204" pitchFamily="34" charset="-122"/>
              </a:rPr>
              <a:t>----</a:t>
            </a:r>
            <a:r>
              <a:rPr lang="zh-CN" altLang="en-US" sz="1900" dirty="0">
                <a:solidFill>
                  <a:srgbClr val="008000"/>
                </a:solidFill>
                <a:latin typeface="微软雅黑" panose="020B0503020204020204" pitchFamily="34" charset="-122"/>
                <a:ea typeface="微软雅黑" panose="020B0503020204020204" pitchFamily="34" charset="-122"/>
              </a:rPr>
              <a:t>试商，加</a:t>
            </a:r>
            <a:r>
              <a:rPr lang="en-US" altLang="zh-CN" sz="1900" dirty="0">
                <a:solidFill>
                  <a:srgbClr val="008000"/>
                </a:solidFill>
                <a:latin typeface="微软雅黑" panose="020B0503020204020204" pitchFamily="34" charset="-122"/>
                <a:ea typeface="微软雅黑" panose="020B0503020204020204" pitchFamily="34" charset="-122"/>
              </a:rPr>
              <a:t>----</a:t>
            </a:r>
            <a:r>
              <a:rPr lang="zh-CN" altLang="en-US" sz="1900" dirty="0">
                <a:solidFill>
                  <a:srgbClr val="008000"/>
                </a:solidFill>
                <a:latin typeface="微软雅黑" panose="020B0503020204020204" pitchFamily="34" charset="-122"/>
                <a:ea typeface="微软雅黑" panose="020B0503020204020204" pitchFamily="34" charset="-122"/>
              </a:rPr>
              <a:t>恢复余数。</a:t>
            </a:r>
            <a:endParaRPr lang="zh-CN" altLang="en-US" sz="1900" dirty="0">
              <a:solidFill>
                <a:srgbClr val="008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6161">
                                            <p:txEl>
                                              <p:charRg st="0" end="13"/>
                                            </p:txEl>
                                          </p:spTgt>
                                        </p:tgtEl>
                                        <p:attrNameLst>
                                          <p:attrName>style.visibility</p:attrName>
                                        </p:attrNameLst>
                                      </p:cBhvr>
                                      <p:to>
                                        <p:strVal val="visible"/>
                                      </p:to>
                                    </p:set>
                                    <p:animEffect transition="in" filter="blinds(horizontal)">
                                      <p:cBhvr>
                                        <p:cTn id="7" dur="500"/>
                                        <p:tgtEl>
                                          <p:spTgt spid="17616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6161">
                                            <p:txEl>
                                              <p:charRg st="13" end="44"/>
                                            </p:txEl>
                                          </p:spTgt>
                                        </p:tgtEl>
                                        <p:attrNameLst>
                                          <p:attrName>style.visibility</p:attrName>
                                        </p:attrNameLst>
                                      </p:cBhvr>
                                      <p:to>
                                        <p:strVal val="visible"/>
                                      </p:to>
                                    </p:set>
                                    <p:animEffect transition="in" filter="blinds(horizontal)">
                                      <p:cBhvr>
                                        <p:cTn id="12" dur="500"/>
                                        <p:tgtEl>
                                          <p:spTgt spid="176161">
                                            <p:txEl>
                                              <p:charRg st="13" end="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6161">
                                            <p:txEl>
                                              <p:charRg st="44" end="75"/>
                                            </p:txEl>
                                          </p:spTgt>
                                        </p:tgtEl>
                                        <p:attrNameLst>
                                          <p:attrName>style.visibility</p:attrName>
                                        </p:attrNameLst>
                                      </p:cBhvr>
                                      <p:to>
                                        <p:strVal val="visible"/>
                                      </p:to>
                                    </p:set>
                                    <p:animEffect transition="in" filter="blinds(horizontal)">
                                      <p:cBhvr>
                                        <p:cTn id="17" dur="500"/>
                                        <p:tgtEl>
                                          <p:spTgt spid="176161">
                                            <p:txEl>
                                              <p:charRg st="44" end="7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6161">
                                            <p:txEl>
                                              <p:charRg st="75" end="124"/>
                                            </p:txEl>
                                          </p:spTgt>
                                        </p:tgtEl>
                                        <p:attrNameLst>
                                          <p:attrName>style.visibility</p:attrName>
                                        </p:attrNameLst>
                                      </p:cBhvr>
                                      <p:to>
                                        <p:strVal val="visible"/>
                                      </p:to>
                                    </p:set>
                                    <p:animEffect transition="in" filter="blinds(horizontal)">
                                      <p:cBhvr>
                                        <p:cTn id="22" dur="500"/>
                                        <p:tgtEl>
                                          <p:spTgt spid="176161">
                                            <p:txEl>
                                              <p:charRg st="75" end="12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6161">
                                            <p:txEl>
                                              <p:charRg st="124" end="188"/>
                                            </p:txEl>
                                          </p:spTgt>
                                        </p:tgtEl>
                                        <p:attrNameLst>
                                          <p:attrName>style.visibility</p:attrName>
                                        </p:attrNameLst>
                                      </p:cBhvr>
                                      <p:to>
                                        <p:strVal val="visible"/>
                                      </p:to>
                                    </p:set>
                                    <p:animEffect transition="in" filter="blinds(horizontal)">
                                      <p:cBhvr>
                                        <p:cTn id="27" dur="500"/>
                                        <p:tgtEl>
                                          <p:spTgt spid="176161">
                                            <p:txEl>
                                              <p:charRg st="124" end="18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6163"/>
                                        </p:tgtEl>
                                        <p:attrNameLst>
                                          <p:attrName>style.visibility</p:attrName>
                                        </p:attrNameLst>
                                      </p:cBhvr>
                                      <p:to>
                                        <p:strVal val="visible"/>
                                      </p:to>
                                    </p:set>
                                    <p:animEffect transition="in" filter="blinds(horizontal)">
                                      <p:cBhvr>
                                        <p:cTn id="32" dur="500"/>
                                        <p:tgtEl>
                                          <p:spTgt spid="176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61" grpId="0" build="p"/>
      <p:bldP spid="17616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a:spLocks noGrp="1"/>
          </p:cNvSpPr>
          <p:nvPr>
            <p:ph type="title"/>
          </p:nvPr>
        </p:nvSpPr>
        <p:spPr>
          <a:xfrm>
            <a:off x="800100" y="198438"/>
            <a:ext cx="5111750" cy="474662"/>
          </a:xfrm>
          <a:ln/>
        </p:spPr>
        <p:txBody>
          <a:bodyPr vert="horz" wrap="none" lIns="63500" tIns="25400" rIns="63500" bIns="25400" anchor="t" anchorCtr="0">
            <a:spAutoFit/>
          </a:bodyPr>
          <a:p>
            <a:r>
              <a:rPr lang="en-US" altLang="zh-CN" dirty="0">
                <a:ea typeface="宋体" panose="02010600030101010101" pitchFamily="2" charset="-122"/>
              </a:rPr>
              <a:t>Divide Algorithm example</a:t>
            </a:r>
            <a:endParaRPr lang="en-US" altLang="zh-CN" dirty="0">
              <a:ea typeface="宋体" panose="02010600030101010101" pitchFamily="2" charset="-122"/>
            </a:endParaRPr>
          </a:p>
        </p:txBody>
      </p:sp>
      <p:sp>
        <p:nvSpPr>
          <p:cNvPr id="179203" name="Rectangle 3"/>
          <p:cNvSpPr/>
          <p:nvPr/>
        </p:nvSpPr>
        <p:spPr>
          <a:xfrm>
            <a:off x="244475" y="1658938"/>
            <a:ext cx="6484938" cy="5064125"/>
          </a:xfrm>
          <a:prstGeom prst="rect">
            <a:avLst/>
          </a:prstGeom>
          <a:noFill/>
          <a:ln w="12700">
            <a:noFill/>
          </a:ln>
        </p:spPr>
        <p:txBody>
          <a:bodyPr anchor="t" anchorCtr="0">
            <a:spAutoFit/>
          </a:bodyPr>
          <a:p>
            <a:pPr eaLnBrk="0" hangingPunct="0">
              <a:lnSpc>
                <a:spcPct val="90000"/>
              </a:lnSpc>
              <a:spcBef>
                <a:spcPct val="50000"/>
              </a:spcBef>
            </a:pPr>
            <a:r>
              <a:rPr lang="zh-CN" altLang="en-US" sz="1100" dirty="0">
                <a:latin typeface="Arial" panose="020B0604020202020204" pitchFamily="34" charset="0"/>
                <a:ea typeface="宋体" panose="02010600030101010101" pitchFamily="2" charset="-122"/>
              </a:rPr>
              <a:t>	                        </a:t>
            </a:r>
            <a:r>
              <a:rPr lang="en-US" altLang="zh-CN" sz="2000" dirty="0">
                <a:latin typeface="Arial" panose="020B0604020202020204" pitchFamily="34" charset="0"/>
              </a:rPr>
              <a:t>D: 0010	         R: 0000 0111</a:t>
            </a:r>
            <a:endParaRPr lang="en-US" altLang="zh-CN" sz="2000" dirty="0">
              <a:latin typeface="Arial" panose="020B0604020202020204" pitchFamily="34" charset="0"/>
            </a:endParaRPr>
          </a:p>
          <a:p>
            <a:pPr eaLnBrk="0" hangingPunct="0">
              <a:lnSpc>
                <a:spcPct val="90000"/>
              </a:lnSpc>
              <a:spcBef>
                <a:spcPct val="50000"/>
              </a:spcBef>
            </a:pPr>
            <a:r>
              <a:rPr lang="en-US" altLang="zh-CN" sz="2000" dirty="0">
                <a:latin typeface="Arial" panose="020B0604020202020204" pitchFamily="34" charset="0"/>
              </a:rPr>
              <a:t>Shl R		D: 0010	         R: 0000 1110</a:t>
            </a:r>
            <a:endParaRPr lang="en-US" altLang="zh-CN" sz="2000" dirty="0">
              <a:latin typeface="Arial" panose="020B0604020202020204" pitchFamily="34" charset="0"/>
            </a:endParaRPr>
          </a:p>
          <a:p>
            <a:pPr eaLnBrk="0" hangingPunct="0">
              <a:lnSpc>
                <a:spcPct val="90000"/>
              </a:lnSpc>
              <a:spcBef>
                <a:spcPct val="50000"/>
              </a:spcBef>
            </a:pPr>
            <a:r>
              <a:rPr lang="en-US" altLang="zh-CN" sz="2000" dirty="0">
                <a:latin typeface="Arial" panose="020B0604020202020204" pitchFamily="34" charset="0"/>
              </a:rPr>
              <a:t>R = R–D 	D: 0010	         R: </a:t>
            </a:r>
            <a:r>
              <a:rPr lang="en-US" altLang="zh-CN" sz="2000" dirty="0">
                <a:solidFill>
                  <a:srgbClr val="CC0000"/>
                </a:solidFill>
                <a:latin typeface="Arial" panose="020B0604020202020204" pitchFamily="34" charset="0"/>
              </a:rPr>
              <a:t>1</a:t>
            </a:r>
            <a:r>
              <a:rPr lang="en-US" altLang="zh-CN" sz="2000" dirty="0">
                <a:latin typeface="Arial" panose="020B0604020202020204" pitchFamily="34" charset="0"/>
              </a:rPr>
              <a:t>110 1110</a:t>
            </a:r>
            <a:endParaRPr lang="en-US" altLang="zh-CN" sz="2000" dirty="0">
              <a:latin typeface="Arial" panose="020B0604020202020204" pitchFamily="34" charset="0"/>
            </a:endParaRPr>
          </a:p>
          <a:p>
            <a:pPr eaLnBrk="0" hangingPunct="0">
              <a:lnSpc>
                <a:spcPct val="90000"/>
              </a:lnSpc>
              <a:spcBef>
                <a:spcPct val="50000"/>
              </a:spcBef>
            </a:pPr>
            <a:r>
              <a:rPr lang="en-US" altLang="zh-CN" sz="2000" dirty="0">
                <a:solidFill>
                  <a:srgbClr val="CC3300"/>
                </a:solidFill>
                <a:latin typeface="Arial" panose="020B0604020202020204" pitchFamily="34" charset="0"/>
              </a:rPr>
              <a:t>+D, sl R, 0</a:t>
            </a:r>
            <a:r>
              <a:rPr lang="en-US" altLang="zh-CN" sz="2000" dirty="0">
                <a:latin typeface="Arial" panose="020B0604020202020204" pitchFamily="34" charset="0"/>
              </a:rPr>
              <a:t> 	D: 0010	         R: 0001 110</a:t>
            </a:r>
            <a:r>
              <a:rPr lang="en-US" altLang="zh-CN" sz="2000" dirty="0">
                <a:solidFill>
                  <a:srgbClr val="0000CC"/>
                </a:solidFill>
                <a:latin typeface="Arial" panose="020B0604020202020204" pitchFamily="34" charset="0"/>
              </a:rPr>
              <a:t>0</a:t>
            </a:r>
            <a:endParaRPr lang="en-US" altLang="zh-CN" sz="2000" dirty="0">
              <a:solidFill>
                <a:srgbClr val="0000CC"/>
              </a:solidFill>
              <a:latin typeface="Arial" panose="020B0604020202020204" pitchFamily="34" charset="0"/>
            </a:endParaRPr>
          </a:p>
          <a:p>
            <a:pPr eaLnBrk="0" hangingPunct="0">
              <a:lnSpc>
                <a:spcPct val="90000"/>
              </a:lnSpc>
              <a:spcBef>
                <a:spcPct val="50000"/>
              </a:spcBef>
            </a:pPr>
            <a:r>
              <a:rPr lang="en-US" altLang="zh-CN" sz="2000" dirty="0">
                <a:latin typeface="Arial" panose="020B0604020202020204" pitchFamily="34" charset="0"/>
              </a:rPr>
              <a:t>R = R–D 	D: 0010         R: </a:t>
            </a:r>
            <a:r>
              <a:rPr lang="en-US" altLang="zh-CN" sz="2000" dirty="0">
                <a:solidFill>
                  <a:srgbClr val="CC0000"/>
                </a:solidFill>
                <a:latin typeface="Arial" panose="020B0604020202020204" pitchFamily="34" charset="0"/>
              </a:rPr>
              <a:t>1</a:t>
            </a:r>
            <a:r>
              <a:rPr lang="en-US" altLang="zh-CN" sz="2000" dirty="0">
                <a:latin typeface="Arial" panose="020B0604020202020204" pitchFamily="34" charset="0"/>
              </a:rPr>
              <a:t>111 110</a:t>
            </a:r>
            <a:r>
              <a:rPr lang="en-US" altLang="zh-CN" sz="2000" dirty="0">
                <a:solidFill>
                  <a:srgbClr val="0000CC"/>
                </a:solidFill>
                <a:latin typeface="Arial" panose="020B0604020202020204" pitchFamily="34" charset="0"/>
              </a:rPr>
              <a:t>0</a:t>
            </a:r>
            <a:endParaRPr lang="en-US" altLang="zh-CN" sz="2000" dirty="0">
              <a:solidFill>
                <a:srgbClr val="0000CC"/>
              </a:solidFill>
              <a:latin typeface="Arial" panose="020B0604020202020204" pitchFamily="34" charset="0"/>
            </a:endParaRPr>
          </a:p>
          <a:p>
            <a:pPr eaLnBrk="0" hangingPunct="0">
              <a:lnSpc>
                <a:spcPct val="90000"/>
              </a:lnSpc>
              <a:spcBef>
                <a:spcPct val="50000"/>
              </a:spcBef>
            </a:pPr>
            <a:r>
              <a:rPr lang="en-US" altLang="zh-CN" sz="2000" dirty="0">
                <a:solidFill>
                  <a:srgbClr val="CC3300"/>
                </a:solidFill>
                <a:latin typeface="Arial" panose="020B0604020202020204" pitchFamily="34" charset="0"/>
              </a:rPr>
              <a:t>+D, sl R, 0</a:t>
            </a:r>
            <a:r>
              <a:rPr lang="en-US" altLang="zh-CN" sz="2000" dirty="0">
                <a:latin typeface="Arial" panose="020B0604020202020204" pitchFamily="34" charset="0"/>
              </a:rPr>
              <a:t>	D: 0010	         R: 0011 10</a:t>
            </a:r>
            <a:r>
              <a:rPr lang="en-US" altLang="zh-CN" sz="2000" dirty="0">
                <a:solidFill>
                  <a:srgbClr val="0000CC"/>
                </a:solidFill>
                <a:latin typeface="Arial" panose="020B0604020202020204" pitchFamily="34" charset="0"/>
              </a:rPr>
              <a:t>00</a:t>
            </a:r>
            <a:endParaRPr lang="en-US" altLang="zh-CN" sz="2000" dirty="0">
              <a:solidFill>
                <a:srgbClr val="0000CC"/>
              </a:solidFill>
              <a:latin typeface="Arial" panose="020B0604020202020204" pitchFamily="34" charset="0"/>
            </a:endParaRPr>
          </a:p>
          <a:p>
            <a:pPr eaLnBrk="0" hangingPunct="0">
              <a:lnSpc>
                <a:spcPct val="90000"/>
              </a:lnSpc>
              <a:spcBef>
                <a:spcPct val="50000"/>
              </a:spcBef>
            </a:pPr>
            <a:r>
              <a:rPr lang="en-US" altLang="zh-CN" sz="2000" dirty="0">
                <a:latin typeface="Arial" panose="020B0604020202020204" pitchFamily="34" charset="0"/>
              </a:rPr>
              <a:t>R = R–D 	D: 0010	         R: </a:t>
            </a:r>
            <a:r>
              <a:rPr lang="en-US" altLang="zh-CN" sz="2000" dirty="0">
                <a:solidFill>
                  <a:srgbClr val="CC0000"/>
                </a:solidFill>
                <a:latin typeface="Arial" panose="020B0604020202020204" pitchFamily="34" charset="0"/>
              </a:rPr>
              <a:t>0</a:t>
            </a:r>
            <a:r>
              <a:rPr lang="en-US" altLang="zh-CN" sz="2000" dirty="0">
                <a:latin typeface="Arial" panose="020B0604020202020204" pitchFamily="34" charset="0"/>
              </a:rPr>
              <a:t>001 10</a:t>
            </a:r>
            <a:r>
              <a:rPr lang="en-US" altLang="zh-CN" sz="2000" dirty="0">
                <a:solidFill>
                  <a:srgbClr val="0000CC"/>
                </a:solidFill>
                <a:latin typeface="Arial" panose="020B0604020202020204" pitchFamily="34" charset="0"/>
              </a:rPr>
              <a:t>00</a:t>
            </a:r>
            <a:endParaRPr lang="en-US" altLang="zh-CN" sz="2000" dirty="0">
              <a:solidFill>
                <a:srgbClr val="0000CC"/>
              </a:solidFill>
              <a:latin typeface="Arial" panose="020B0604020202020204" pitchFamily="34" charset="0"/>
            </a:endParaRPr>
          </a:p>
          <a:p>
            <a:pPr eaLnBrk="0" hangingPunct="0">
              <a:lnSpc>
                <a:spcPct val="90000"/>
              </a:lnSpc>
              <a:spcBef>
                <a:spcPct val="50000"/>
              </a:spcBef>
            </a:pPr>
            <a:r>
              <a:rPr lang="en-US" altLang="zh-CN" sz="2000" dirty="0">
                <a:latin typeface="Arial" panose="020B0604020202020204" pitchFamily="34" charset="0"/>
              </a:rPr>
              <a:t>sl R, 1               D: 0010	         R: 0011 0</a:t>
            </a:r>
            <a:r>
              <a:rPr lang="en-US" altLang="zh-CN" sz="2000" dirty="0">
                <a:solidFill>
                  <a:srgbClr val="0000CC"/>
                </a:solidFill>
                <a:latin typeface="Arial" panose="020B0604020202020204" pitchFamily="34" charset="0"/>
              </a:rPr>
              <a:t>001</a:t>
            </a:r>
            <a:endParaRPr lang="en-US" altLang="zh-CN" sz="2000" dirty="0">
              <a:solidFill>
                <a:srgbClr val="0000CC"/>
              </a:solidFill>
              <a:latin typeface="Arial" panose="020B0604020202020204" pitchFamily="34" charset="0"/>
            </a:endParaRPr>
          </a:p>
          <a:p>
            <a:pPr eaLnBrk="0" hangingPunct="0">
              <a:lnSpc>
                <a:spcPct val="90000"/>
              </a:lnSpc>
              <a:spcBef>
                <a:spcPct val="50000"/>
              </a:spcBef>
            </a:pPr>
            <a:r>
              <a:rPr lang="en-US" altLang="zh-CN" sz="2000" dirty="0">
                <a:latin typeface="Arial" panose="020B0604020202020204" pitchFamily="34" charset="0"/>
              </a:rPr>
              <a:t>R = R–D            D: 0010         R: </a:t>
            </a:r>
            <a:r>
              <a:rPr lang="en-US" altLang="zh-CN" sz="2000" dirty="0">
                <a:solidFill>
                  <a:srgbClr val="CC0000"/>
                </a:solidFill>
                <a:latin typeface="Arial" panose="020B0604020202020204" pitchFamily="34" charset="0"/>
              </a:rPr>
              <a:t>0</a:t>
            </a:r>
            <a:r>
              <a:rPr lang="en-US" altLang="zh-CN" sz="2000" dirty="0">
                <a:latin typeface="Arial" panose="020B0604020202020204" pitchFamily="34" charset="0"/>
              </a:rPr>
              <a:t>001 0</a:t>
            </a:r>
            <a:r>
              <a:rPr lang="en-US" altLang="zh-CN" sz="2000" dirty="0">
                <a:solidFill>
                  <a:srgbClr val="0000CC"/>
                </a:solidFill>
                <a:latin typeface="Arial" panose="020B0604020202020204" pitchFamily="34" charset="0"/>
              </a:rPr>
              <a:t>001</a:t>
            </a:r>
            <a:endParaRPr lang="en-US" altLang="zh-CN" sz="2000" dirty="0">
              <a:solidFill>
                <a:srgbClr val="0000CC"/>
              </a:solidFill>
              <a:latin typeface="Arial" panose="020B0604020202020204" pitchFamily="34" charset="0"/>
            </a:endParaRPr>
          </a:p>
          <a:p>
            <a:pPr eaLnBrk="0" hangingPunct="0">
              <a:lnSpc>
                <a:spcPct val="90000"/>
              </a:lnSpc>
              <a:spcBef>
                <a:spcPct val="50000"/>
              </a:spcBef>
            </a:pPr>
            <a:r>
              <a:rPr lang="en-US" altLang="zh-CN" sz="2000" dirty="0">
                <a:latin typeface="Arial" panose="020B0604020202020204" pitchFamily="34" charset="0"/>
              </a:rPr>
              <a:t>sl R, 1	             D: 0010	         R: 0010 </a:t>
            </a:r>
            <a:r>
              <a:rPr lang="en-US" altLang="zh-CN" sz="2000" dirty="0">
                <a:solidFill>
                  <a:srgbClr val="0000CC"/>
                </a:solidFill>
                <a:latin typeface="Arial" panose="020B0604020202020204" pitchFamily="34" charset="0"/>
              </a:rPr>
              <a:t>0011</a:t>
            </a:r>
            <a:endParaRPr lang="en-US" altLang="zh-CN" sz="2000" dirty="0">
              <a:solidFill>
                <a:srgbClr val="0000CC"/>
              </a:solidFill>
              <a:latin typeface="Arial" panose="020B0604020202020204" pitchFamily="34" charset="0"/>
            </a:endParaRPr>
          </a:p>
          <a:p>
            <a:pPr eaLnBrk="0" hangingPunct="0">
              <a:lnSpc>
                <a:spcPct val="90000"/>
              </a:lnSpc>
              <a:spcBef>
                <a:spcPct val="50000"/>
              </a:spcBef>
            </a:pPr>
            <a:r>
              <a:rPr lang="en-US" altLang="zh-CN" sz="2000" dirty="0">
                <a:latin typeface="Arial" panose="020B0604020202020204" pitchFamily="34" charset="0"/>
              </a:rPr>
              <a:t>Shr R(rh)	D: 0010	         R: 0001 </a:t>
            </a:r>
            <a:r>
              <a:rPr lang="en-US" altLang="zh-CN" sz="2000" dirty="0">
                <a:solidFill>
                  <a:srgbClr val="0000CC"/>
                </a:solidFill>
                <a:latin typeface="Arial" panose="020B0604020202020204" pitchFamily="34" charset="0"/>
              </a:rPr>
              <a:t>0011</a:t>
            </a:r>
            <a:endParaRPr lang="en-US" altLang="zh-CN" sz="2000" dirty="0">
              <a:solidFill>
                <a:srgbClr val="0000CC"/>
              </a:solidFill>
              <a:latin typeface="Arial" panose="020B0604020202020204" pitchFamily="34" charset="0"/>
            </a:endParaRPr>
          </a:p>
          <a:p>
            <a:pPr eaLnBrk="0" hangingPunct="0">
              <a:lnSpc>
                <a:spcPct val="90000"/>
              </a:lnSpc>
              <a:spcBef>
                <a:spcPct val="50000"/>
              </a:spcBef>
            </a:pPr>
            <a:endParaRPr lang="zh-CN" altLang="en-US" sz="2000" dirty="0">
              <a:latin typeface="Arial" panose="020B0604020202020204" pitchFamily="34" charset="0"/>
              <a:ea typeface="宋体" panose="02010600030101010101" pitchFamily="2" charset="-122"/>
            </a:endParaRPr>
          </a:p>
        </p:txBody>
      </p:sp>
      <p:sp>
        <p:nvSpPr>
          <p:cNvPr id="92163" name="Rectangle 5"/>
          <p:cNvSpPr/>
          <p:nvPr/>
        </p:nvSpPr>
        <p:spPr>
          <a:xfrm>
            <a:off x="333375" y="812800"/>
            <a:ext cx="6191250" cy="358775"/>
          </a:xfrm>
          <a:prstGeom prst="rect">
            <a:avLst/>
          </a:prstGeom>
          <a:noFill/>
          <a:ln w="12700">
            <a:noFill/>
          </a:ln>
        </p:spPr>
        <p:txBody>
          <a:bodyPr lIns="63500" tIns="25400" rIns="63500" bIns="25400" anchor="t" anchorCtr="0">
            <a:spAutoFit/>
          </a:bodyPr>
          <a:p>
            <a:pPr marL="203200" indent="-203200" defTabSz="914400" eaLnBrk="0" hangingPunct="0">
              <a:spcBef>
                <a:spcPct val="50000"/>
              </a:spcBef>
              <a:tabLst>
                <a:tab pos="1085850" algn="l"/>
                <a:tab pos="2057400" algn="l"/>
              </a:tabLst>
            </a:pPr>
            <a:r>
              <a:rPr lang="zh-CN" altLang="en-US" sz="2000" dirty="0">
                <a:solidFill>
                  <a:srgbClr val="CC0000"/>
                </a:solidFill>
                <a:latin typeface="微软雅黑" panose="020B0503020204020204" pitchFamily="34" charset="-122"/>
                <a:ea typeface="微软雅黑" panose="020B0503020204020204" pitchFamily="34" charset="-122"/>
              </a:rPr>
              <a:t>验证：</a:t>
            </a:r>
            <a:r>
              <a:rPr lang="en-US" altLang="zh-CN" sz="2000" dirty="0">
                <a:solidFill>
                  <a:srgbClr val="CC0000"/>
                </a:solidFill>
                <a:latin typeface="微软雅黑" panose="020B0503020204020204" pitchFamily="34" charset="-122"/>
                <a:ea typeface="微软雅黑" panose="020B0503020204020204" pitchFamily="34" charset="-122"/>
              </a:rPr>
              <a:t>7 / 2 = 3 </a:t>
            </a:r>
            <a:r>
              <a:rPr lang="zh-CN" altLang="en-US" sz="2000" dirty="0">
                <a:solidFill>
                  <a:srgbClr val="CC0000"/>
                </a:solidFill>
                <a:latin typeface="微软雅黑" panose="020B0503020204020204" pitchFamily="34" charset="-122"/>
                <a:ea typeface="微软雅黑" panose="020B0503020204020204" pitchFamily="34" charset="-122"/>
              </a:rPr>
              <a:t>余 </a:t>
            </a:r>
            <a:r>
              <a:rPr lang="en-US" altLang="zh-CN" sz="2000" dirty="0">
                <a:solidFill>
                  <a:srgbClr val="CC0000"/>
                </a:solidFill>
                <a:latin typeface="微软雅黑" panose="020B0503020204020204" pitchFamily="34" charset="-122"/>
                <a:ea typeface="微软雅黑" panose="020B0503020204020204" pitchFamily="34" charset="-122"/>
              </a:rPr>
              <a:t>1</a:t>
            </a:r>
            <a:endParaRPr lang="en-US" altLang="zh-CN" sz="2000" dirty="0">
              <a:latin typeface="微软雅黑" panose="020B0503020204020204" pitchFamily="34" charset="-122"/>
              <a:ea typeface="微软雅黑" panose="020B0503020204020204" pitchFamily="34" charset="-122"/>
            </a:endParaRPr>
          </a:p>
        </p:txBody>
      </p:sp>
      <p:sp>
        <p:nvSpPr>
          <p:cNvPr id="179207" name="Text Box 7"/>
          <p:cNvSpPr txBox="1"/>
          <p:nvPr/>
        </p:nvSpPr>
        <p:spPr>
          <a:xfrm>
            <a:off x="5695950" y="1879600"/>
            <a:ext cx="3333750" cy="4294188"/>
          </a:xfrm>
          <a:prstGeom prst="rect">
            <a:avLst/>
          </a:prstGeom>
          <a:noFill/>
          <a:ln w="12700">
            <a:noFill/>
          </a:ln>
        </p:spPr>
        <p:txBody>
          <a:bodyPr anchor="t" anchorCtr="0">
            <a:spAutoFit/>
          </a:bodyPr>
          <a:p>
            <a:pPr eaLnBrk="0" hangingPunct="0">
              <a:lnSpc>
                <a:spcPct val="135000"/>
              </a:lnSpc>
            </a:pPr>
            <a:r>
              <a:rPr lang="zh-CN" altLang="en-US" sz="2000" dirty="0">
                <a:latin typeface="微软雅黑" panose="020B0503020204020204" pitchFamily="34" charset="-122"/>
                <a:ea typeface="微软雅黑" panose="020B0503020204020204" pitchFamily="34" charset="-122"/>
              </a:rPr>
              <a:t>从例子可看出：</a:t>
            </a:r>
            <a:endParaRPr lang="zh-CN" altLang="en-US" sz="2000" dirty="0">
              <a:latin typeface="微软雅黑" panose="020B0503020204020204" pitchFamily="34" charset="-122"/>
              <a:ea typeface="微软雅黑" panose="020B0503020204020204" pitchFamily="34" charset="-122"/>
            </a:endParaRPr>
          </a:p>
          <a:p>
            <a:pPr eaLnBrk="0" hangingPunct="0">
              <a:lnSpc>
                <a:spcPct val="135000"/>
              </a:lnSpc>
            </a:pPr>
            <a:r>
              <a:rPr lang="zh-CN" altLang="en-US" sz="2000" dirty="0">
                <a:latin typeface="微软雅黑" panose="020B0503020204020204" pitchFamily="34" charset="-122"/>
                <a:ea typeface="微软雅黑" panose="020B0503020204020204" pitchFamily="34" charset="-122"/>
              </a:rPr>
              <a:t>每次上商为</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时，需做加法以“恢复余数” 。所以，称为</a:t>
            </a:r>
            <a:r>
              <a:rPr lang="zh-CN" altLang="en-US" sz="2000" dirty="0">
                <a:solidFill>
                  <a:srgbClr val="CC0000"/>
                </a:solidFill>
                <a:latin typeface="微软雅黑" panose="020B0503020204020204" pitchFamily="34" charset="-122"/>
                <a:ea typeface="微软雅黑" panose="020B0503020204020204" pitchFamily="34" charset="-122"/>
              </a:rPr>
              <a:t>“恢复余数法</a:t>
            </a:r>
            <a:endParaRPr lang="zh-CN" altLang="en-US" sz="2000" dirty="0">
              <a:latin typeface="微软雅黑" panose="020B0503020204020204" pitchFamily="34" charset="-122"/>
              <a:ea typeface="微软雅黑" panose="020B0503020204020204" pitchFamily="34" charset="-122"/>
            </a:endParaRPr>
          </a:p>
          <a:p>
            <a:pPr eaLnBrk="0" hangingPunct="0">
              <a:lnSpc>
                <a:spcPct val="135000"/>
              </a:lnSpc>
            </a:pPr>
            <a:endParaRPr lang="zh-CN" altLang="en-US" sz="2000" dirty="0">
              <a:latin typeface="微软雅黑" panose="020B0503020204020204" pitchFamily="34" charset="-122"/>
              <a:ea typeface="微软雅黑" panose="020B0503020204020204" pitchFamily="34" charset="-122"/>
            </a:endParaRPr>
          </a:p>
          <a:p>
            <a:pPr eaLnBrk="0" hangingPunct="0">
              <a:lnSpc>
                <a:spcPct val="135000"/>
              </a:lnSpc>
            </a:pPr>
            <a:r>
              <a:rPr lang="zh-CN" altLang="en-US" sz="2000" dirty="0">
                <a:latin typeface="微软雅黑" panose="020B0503020204020204" pitchFamily="34" charset="-122"/>
                <a:ea typeface="微软雅黑" panose="020B0503020204020204" pitchFamily="34" charset="-122"/>
              </a:rPr>
              <a:t>也可在下一步运算时把当前多减的除数补回来。这种方法称为</a:t>
            </a:r>
            <a:r>
              <a:rPr lang="zh-CN" altLang="en-US" sz="2000" dirty="0">
                <a:solidFill>
                  <a:srgbClr val="CC0000"/>
                </a:solidFill>
                <a:latin typeface="微软雅黑" panose="020B0503020204020204" pitchFamily="34" charset="-122"/>
                <a:ea typeface="微软雅黑" panose="020B0503020204020204" pitchFamily="34" charset="-122"/>
              </a:rPr>
              <a:t>“不恢复余数法”，又称“加减交替法”</a:t>
            </a:r>
            <a:r>
              <a:rPr lang="zh-CN" altLang="en-US" sz="2000" dirty="0">
                <a:latin typeface="黑体" panose="02010609060101010101" pitchFamily="49" charset="-122"/>
                <a:ea typeface="黑体" panose="02010609060101010101" pitchFamily="49" charset="-122"/>
              </a:rPr>
              <a:t>。 </a:t>
            </a:r>
            <a:endParaRPr lang="zh-CN" altLang="en-US" sz="2000" dirty="0">
              <a:latin typeface="黑体" panose="02010609060101010101" pitchFamily="49" charset="-122"/>
              <a:ea typeface="黑体" panose="02010609060101010101" pitchFamily="49" charset="-122"/>
            </a:endParaRPr>
          </a:p>
          <a:p>
            <a:pPr eaLnBrk="0" hangingPunct="0">
              <a:spcBef>
                <a:spcPct val="50000"/>
              </a:spcBef>
            </a:pPr>
            <a:endParaRPr lang="zh-CN" altLang="en-US" sz="2000" dirty="0">
              <a:latin typeface="黑体" panose="02010609060101010101" pitchFamily="49" charset="-122"/>
              <a:ea typeface="黑体" panose="02010609060101010101" pitchFamily="49" charset="-122"/>
            </a:endParaRPr>
          </a:p>
        </p:txBody>
      </p:sp>
      <p:sp>
        <p:nvSpPr>
          <p:cNvPr id="92165" name="Rectangle 12"/>
          <p:cNvSpPr/>
          <p:nvPr/>
        </p:nvSpPr>
        <p:spPr>
          <a:xfrm>
            <a:off x="3454400" y="757238"/>
            <a:ext cx="1533525" cy="427037"/>
          </a:xfrm>
          <a:prstGeom prst="rect">
            <a:avLst/>
          </a:prstGeom>
          <a:noFill/>
          <a:ln w="12700">
            <a:noFill/>
          </a:ln>
        </p:spPr>
        <p:txBody>
          <a:bodyPr wrap="none" anchor="t" anchorCtr="0">
            <a:spAutoFit/>
          </a:bodyPr>
          <a:p>
            <a:pPr eaLnBrk="0" hangingPunct="0"/>
            <a:r>
              <a:rPr lang="en-US" altLang="zh-CN" sz="2200" dirty="0">
                <a:latin typeface="Arial" panose="020B0604020202020204" pitchFamily="34" charset="0"/>
              </a:rPr>
              <a:t>–D = 1110</a:t>
            </a:r>
            <a:r>
              <a:rPr lang="en-US" altLang="zh-CN" dirty="0">
                <a:latin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endParaRPr>
          </a:p>
        </p:txBody>
      </p:sp>
      <p:grpSp>
        <p:nvGrpSpPr>
          <p:cNvPr id="2" name="Group 18"/>
          <p:cNvGrpSpPr/>
          <p:nvPr/>
        </p:nvGrpSpPr>
        <p:grpSpPr>
          <a:xfrm>
            <a:off x="4111625" y="2782888"/>
            <a:ext cx="1057275" cy="2778125"/>
            <a:chOff x="2590" y="1614"/>
            <a:chExt cx="666" cy="1750"/>
          </a:xfrm>
        </p:grpSpPr>
        <p:sp>
          <p:nvSpPr>
            <p:cNvPr id="92167" name="Line 13"/>
            <p:cNvSpPr/>
            <p:nvPr/>
          </p:nvSpPr>
          <p:spPr>
            <a:xfrm>
              <a:off x="2622" y="1614"/>
              <a:ext cx="606" cy="132"/>
            </a:xfrm>
            <a:prstGeom prst="line">
              <a:avLst/>
            </a:prstGeom>
            <a:ln w="28575" cap="flat" cmpd="sng">
              <a:solidFill>
                <a:srgbClr val="FF0066"/>
              </a:solidFill>
              <a:prstDash val="solid"/>
              <a:round/>
              <a:headEnd type="none" w="med" len="med"/>
              <a:tailEnd type="triangle" w="med" len="med"/>
            </a:ln>
          </p:spPr>
        </p:sp>
        <p:sp>
          <p:nvSpPr>
            <p:cNvPr id="92168" name="Line 14"/>
            <p:cNvSpPr/>
            <p:nvPr/>
          </p:nvSpPr>
          <p:spPr>
            <a:xfrm>
              <a:off x="2620" y="2152"/>
              <a:ext cx="636" cy="132"/>
            </a:xfrm>
            <a:prstGeom prst="line">
              <a:avLst/>
            </a:prstGeom>
            <a:ln w="28575" cap="flat" cmpd="sng">
              <a:solidFill>
                <a:srgbClr val="FF0066"/>
              </a:solidFill>
              <a:prstDash val="solid"/>
              <a:round/>
              <a:headEnd type="none" w="med" len="med"/>
              <a:tailEnd type="triangle" w="med" len="med"/>
            </a:ln>
          </p:spPr>
        </p:sp>
        <p:sp>
          <p:nvSpPr>
            <p:cNvPr id="92169" name="Line 15"/>
            <p:cNvSpPr/>
            <p:nvPr/>
          </p:nvSpPr>
          <p:spPr>
            <a:xfrm>
              <a:off x="2632" y="2692"/>
              <a:ext cx="618" cy="126"/>
            </a:xfrm>
            <a:prstGeom prst="line">
              <a:avLst/>
            </a:prstGeom>
            <a:ln w="28575" cap="flat" cmpd="sng">
              <a:solidFill>
                <a:srgbClr val="FF0066"/>
              </a:solidFill>
              <a:prstDash val="solid"/>
              <a:round/>
              <a:headEnd type="none" w="med" len="med"/>
              <a:tailEnd type="triangle" w="med" len="med"/>
            </a:ln>
          </p:spPr>
        </p:sp>
        <p:sp>
          <p:nvSpPr>
            <p:cNvPr id="92170" name="Line 16"/>
            <p:cNvSpPr/>
            <p:nvPr/>
          </p:nvSpPr>
          <p:spPr>
            <a:xfrm>
              <a:off x="2590" y="3244"/>
              <a:ext cx="654" cy="120"/>
            </a:xfrm>
            <a:prstGeom prst="line">
              <a:avLst/>
            </a:prstGeom>
            <a:ln w="28575" cap="flat" cmpd="sng">
              <a:solidFill>
                <a:srgbClr val="FF0066"/>
              </a:solidFill>
              <a:prstDash val="solid"/>
              <a:round/>
              <a:headEnd type="none" w="med" len="med"/>
              <a:tailEnd type="triangle" w="med" len="med"/>
            </a:ln>
          </p:spPr>
        </p:sp>
      </p:grpSp>
      <p:grpSp>
        <p:nvGrpSpPr>
          <p:cNvPr id="69650" name="Group 18"/>
          <p:cNvGrpSpPr/>
          <p:nvPr/>
        </p:nvGrpSpPr>
        <p:grpSpPr>
          <a:xfrm>
            <a:off x="4041775" y="5729288"/>
            <a:ext cx="4875213" cy="708025"/>
            <a:chOff x="2514" y="3494"/>
            <a:chExt cx="3306" cy="446"/>
          </a:xfrm>
        </p:grpSpPr>
        <p:sp>
          <p:nvSpPr>
            <p:cNvPr id="92172" name="Text Box 10"/>
            <p:cNvSpPr txBox="1"/>
            <p:nvPr/>
          </p:nvSpPr>
          <p:spPr>
            <a:xfrm>
              <a:off x="3629" y="3494"/>
              <a:ext cx="2191" cy="446"/>
            </a:xfrm>
            <a:prstGeom prst="rect">
              <a:avLst/>
            </a:prstGeom>
            <a:noFill/>
            <a:ln w="12700">
              <a:noFill/>
            </a:ln>
          </p:spPr>
          <p:txBody>
            <a:bodyPr anchor="t" anchorCtr="0">
              <a:spAutoFit/>
            </a:bodyPr>
            <a:p>
              <a:pPr eaLnBrk="0" hangingPunct="0">
                <a:spcBef>
                  <a:spcPts val="2400"/>
                </a:spcBef>
              </a:pPr>
              <a:r>
                <a:rPr lang="zh-CN" altLang="en-US" sz="2000" dirty="0">
                  <a:solidFill>
                    <a:srgbClr val="3333FF"/>
                  </a:solidFill>
                  <a:latin typeface="微软雅黑" panose="020B0503020204020204" pitchFamily="34" charset="-122"/>
                  <a:ea typeface="微软雅黑" panose="020B0503020204020204" pitchFamily="34" charset="-122"/>
                </a:rPr>
                <a:t>开始余数先左移了一位，故最后余数需向右移一位</a:t>
              </a:r>
              <a:endParaRPr lang="zh-CN" altLang="en-US" sz="2000" dirty="0">
                <a:solidFill>
                  <a:srgbClr val="3333FF"/>
                </a:solidFill>
                <a:latin typeface="微软雅黑" panose="020B0503020204020204" pitchFamily="34" charset="-122"/>
                <a:ea typeface="微软雅黑" panose="020B0503020204020204" pitchFamily="34" charset="-122"/>
              </a:endParaRPr>
            </a:p>
          </p:txBody>
        </p:sp>
        <p:sp>
          <p:nvSpPr>
            <p:cNvPr id="92173" name="Rectangle 19"/>
            <p:cNvSpPr/>
            <p:nvPr/>
          </p:nvSpPr>
          <p:spPr>
            <a:xfrm>
              <a:off x="2514" y="3581"/>
              <a:ext cx="408" cy="264"/>
            </a:xfrm>
            <a:prstGeom prst="rect">
              <a:avLst/>
            </a:prstGeom>
            <a:noFill/>
            <a:ln w="28575" cap="flat" cmpd="sng">
              <a:solidFill>
                <a:srgbClr val="FF0066"/>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92174" name="Line 20"/>
            <p:cNvSpPr/>
            <p:nvPr/>
          </p:nvSpPr>
          <p:spPr>
            <a:xfrm>
              <a:off x="2934" y="3791"/>
              <a:ext cx="798" cy="120"/>
            </a:xfrm>
            <a:prstGeom prst="line">
              <a:avLst/>
            </a:prstGeom>
            <a:ln w="28575" cap="flat" cmpd="sng">
              <a:solidFill>
                <a:srgbClr val="000000"/>
              </a:solidFill>
              <a:prstDash val="solid"/>
              <a:round/>
              <a:headEnd type="triangle" w="med" len="med"/>
              <a:tailEnd type="none" w="med" len="med"/>
            </a:ln>
          </p:spPr>
        </p:sp>
      </p:grpSp>
      <p:sp>
        <p:nvSpPr>
          <p:cNvPr id="179222" name="Text Box 22"/>
          <p:cNvSpPr txBox="1"/>
          <p:nvPr/>
        </p:nvSpPr>
        <p:spPr>
          <a:xfrm>
            <a:off x="6113463" y="347663"/>
            <a:ext cx="2803525" cy="1262062"/>
          </a:xfrm>
          <a:prstGeom prst="rect">
            <a:avLst/>
          </a:prstGeom>
          <a:solidFill>
            <a:schemeClr val="bg1"/>
          </a:solidFill>
          <a:ln w="12700">
            <a:noFill/>
          </a:ln>
        </p:spPr>
        <p:txBody>
          <a:bodyPr anchor="t" anchorCtr="0">
            <a:spAutoFit/>
          </a:bodyPr>
          <a:p>
            <a:pPr eaLnBrk="0" hangingPunct="0">
              <a:spcBef>
                <a:spcPct val="50000"/>
              </a:spcBef>
            </a:pPr>
            <a:r>
              <a:rPr lang="zh-CN" altLang="en-US" sz="1900" dirty="0">
                <a:solidFill>
                  <a:srgbClr val="FF0066"/>
                </a:solidFill>
                <a:latin typeface="微软雅黑" panose="020B0503020204020204" pitchFamily="34" charset="-122"/>
                <a:ea typeface="微软雅黑" panose="020B0503020204020204" pitchFamily="34" charset="-122"/>
              </a:rPr>
              <a:t>这里是</a:t>
            </a:r>
            <a:r>
              <a:rPr lang="zh-CN" altLang="en-US" sz="1900" dirty="0">
                <a:solidFill>
                  <a:srgbClr val="008000"/>
                </a:solidFill>
                <a:latin typeface="微软雅黑" panose="020B0503020204020204" pitchFamily="34" charset="-122"/>
                <a:ea typeface="微软雅黑" panose="020B0503020204020204" pitchFamily="34" charset="-122"/>
              </a:rPr>
              <a:t>两个</a:t>
            </a:r>
            <a:r>
              <a:rPr lang="en-US" altLang="zh-CN" sz="1900" dirty="0">
                <a:solidFill>
                  <a:srgbClr val="008000"/>
                </a:solidFill>
                <a:latin typeface="微软雅黑" panose="020B0503020204020204" pitchFamily="34" charset="-122"/>
                <a:ea typeface="微软雅黑" panose="020B0503020204020204" pitchFamily="34" charset="-122"/>
              </a:rPr>
              <a:t>n</a:t>
            </a:r>
            <a:r>
              <a:rPr lang="zh-CN" altLang="en-US" sz="1900" dirty="0">
                <a:solidFill>
                  <a:srgbClr val="008000"/>
                </a:solidFill>
                <a:latin typeface="微软雅黑" panose="020B0503020204020204" pitchFamily="34" charset="-122"/>
                <a:ea typeface="微软雅黑" panose="020B0503020204020204" pitchFamily="34" charset="-122"/>
              </a:rPr>
              <a:t>位无符号数相除</a:t>
            </a:r>
            <a:r>
              <a:rPr lang="zh-CN" altLang="en-US" sz="1900" dirty="0">
                <a:solidFill>
                  <a:srgbClr val="FF0066"/>
                </a:solidFill>
                <a:latin typeface="微软雅黑" panose="020B0503020204020204" pitchFamily="34" charset="-122"/>
                <a:ea typeface="微软雅黑" panose="020B0503020204020204" pitchFamily="34" charset="-122"/>
              </a:rPr>
              <a:t>，肯定不会溢出，故余数先左移而省略判断溢出过程。</a:t>
            </a:r>
            <a:endParaRPr lang="zh-CN" altLang="en-US" sz="1900" dirty="0">
              <a:solidFill>
                <a:srgbClr val="FF0066"/>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244475" y="1209675"/>
            <a:ext cx="4319588" cy="400050"/>
          </a:xfrm>
          <a:prstGeom prst="rect">
            <a:avLst/>
          </a:prstGeom>
          <a:noFill/>
          <a:ln w="9525">
            <a:noFill/>
          </a:ln>
        </p:spPr>
        <p:txBody>
          <a:bodyPr anchor="t" anchorCtr="0">
            <a:spAutoFit/>
          </a:bodyPr>
          <a:p>
            <a:pPr eaLnBrk="0" hangingPunct="0"/>
            <a:r>
              <a:rPr lang="en-US" altLang="zh-CN" sz="2000" dirty="0">
                <a:solidFill>
                  <a:srgbClr val="008000"/>
                </a:solidFill>
                <a:latin typeface="微软雅黑" panose="020B0503020204020204" pitchFamily="34" charset="-122"/>
                <a:ea typeface="微软雅黑" panose="020B0503020204020204" pitchFamily="34" charset="-122"/>
              </a:rPr>
              <a:t>R</a:t>
            </a:r>
            <a:r>
              <a:rPr lang="zh-CN" altLang="en-US" sz="2000" dirty="0">
                <a:solidFill>
                  <a:srgbClr val="008000"/>
                </a:solidFill>
                <a:latin typeface="微软雅黑" panose="020B0503020204020204" pitchFamily="34" charset="-122"/>
                <a:ea typeface="微软雅黑" panose="020B0503020204020204" pitchFamily="34" charset="-122"/>
              </a:rPr>
              <a:t>：被除数（中间余数）</a:t>
            </a:r>
            <a:r>
              <a:rPr lang="en-US" altLang="zh-CN" sz="2000" dirty="0">
                <a:solidFill>
                  <a:srgbClr val="008000"/>
                </a:solidFill>
                <a:latin typeface="微软雅黑" panose="020B0503020204020204" pitchFamily="34" charset="-122"/>
                <a:ea typeface="微软雅黑" panose="020B0503020204020204" pitchFamily="34" charset="-122"/>
              </a:rPr>
              <a:t>;  D</a:t>
            </a:r>
            <a:r>
              <a:rPr lang="zh-CN" altLang="en-US" sz="2000" dirty="0">
                <a:solidFill>
                  <a:srgbClr val="008000"/>
                </a:solidFill>
                <a:latin typeface="微软雅黑" panose="020B0503020204020204" pitchFamily="34" charset="-122"/>
                <a:ea typeface="微软雅黑" panose="020B0503020204020204" pitchFamily="34" charset="-122"/>
              </a:rPr>
              <a:t>：除数</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9203">
                                            <p:txEl>
                                              <p:charRg st="0" end="55"/>
                                            </p:txEl>
                                          </p:spTgt>
                                        </p:tgtEl>
                                        <p:attrNameLst>
                                          <p:attrName>style.visibility</p:attrName>
                                        </p:attrNameLst>
                                      </p:cBhvr>
                                      <p:to>
                                        <p:strVal val="visible"/>
                                      </p:to>
                                    </p:set>
                                    <p:animEffect transition="in" filter="blinds(horizontal)">
                                      <p:cBhvr>
                                        <p:cTn id="12" dur="500"/>
                                        <p:tgtEl>
                                          <p:spTgt spid="179203">
                                            <p:txEl>
                                              <p:charRg st="0" end="5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9203">
                                            <p:txEl>
                                              <p:charRg st="55" end="92"/>
                                            </p:txEl>
                                          </p:spTgt>
                                        </p:tgtEl>
                                        <p:attrNameLst>
                                          <p:attrName>style.visibility</p:attrName>
                                        </p:attrNameLst>
                                      </p:cBhvr>
                                      <p:to>
                                        <p:strVal val="visible"/>
                                      </p:to>
                                    </p:set>
                                    <p:animEffect transition="in" filter="blinds(horizontal)">
                                      <p:cBhvr>
                                        <p:cTn id="17" dur="500"/>
                                        <p:tgtEl>
                                          <p:spTgt spid="179203">
                                            <p:txEl>
                                              <p:charRg st="55" end="9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9203">
                                            <p:txEl>
                                              <p:charRg st="92" end="131"/>
                                            </p:txEl>
                                          </p:spTgt>
                                        </p:tgtEl>
                                        <p:attrNameLst>
                                          <p:attrName>style.visibility</p:attrName>
                                        </p:attrNameLst>
                                      </p:cBhvr>
                                      <p:to>
                                        <p:strVal val="visible"/>
                                      </p:to>
                                    </p:set>
                                    <p:animEffect transition="in" filter="blinds(horizontal)">
                                      <p:cBhvr>
                                        <p:cTn id="22" dur="500"/>
                                        <p:tgtEl>
                                          <p:spTgt spid="179203">
                                            <p:txEl>
                                              <p:charRg st="92" end="13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9203">
                                            <p:txEl>
                                              <p:charRg st="131" end="174"/>
                                            </p:txEl>
                                          </p:spTgt>
                                        </p:tgtEl>
                                        <p:attrNameLst>
                                          <p:attrName>style.visibility</p:attrName>
                                        </p:attrNameLst>
                                      </p:cBhvr>
                                      <p:to>
                                        <p:strVal val="visible"/>
                                      </p:to>
                                    </p:set>
                                    <p:animEffect transition="in" filter="blinds(horizontal)">
                                      <p:cBhvr>
                                        <p:cTn id="27" dur="500"/>
                                        <p:tgtEl>
                                          <p:spTgt spid="179203">
                                            <p:txEl>
                                              <p:charRg st="131" end="17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9203">
                                            <p:txEl>
                                              <p:charRg st="174" end="212"/>
                                            </p:txEl>
                                          </p:spTgt>
                                        </p:tgtEl>
                                        <p:attrNameLst>
                                          <p:attrName>style.visibility</p:attrName>
                                        </p:attrNameLst>
                                      </p:cBhvr>
                                      <p:to>
                                        <p:strVal val="visible"/>
                                      </p:to>
                                    </p:set>
                                    <p:animEffect transition="in" filter="blinds(horizontal)">
                                      <p:cBhvr>
                                        <p:cTn id="32" dur="500"/>
                                        <p:tgtEl>
                                          <p:spTgt spid="179203">
                                            <p:txEl>
                                              <p:charRg st="174" end="21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9203">
                                            <p:txEl>
                                              <p:charRg st="212" end="254"/>
                                            </p:txEl>
                                          </p:spTgt>
                                        </p:tgtEl>
                                        <p:attrNameLst>
                                          <p:attrName>style.visibility</p:attrName>
                                        </p:attrNameLst>
                                      </p:cBhvr>
                                      <p:to>
                                        <p:strVal val="visible"/>
                                      </p:to>
                                    </p:set>
                                    <p:animEffect transition="in" filter="blinds(horizontal)">
                                      <p:cBhvr>
                                        <p:cTn id="37" dur="500"/>
                                        <p:tgtEl>
                                          <p:spTgt spid="179203">
                                            <p:txEl>
                                              <p:charRg st="212" end="25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9203">
                                            <p:txEl>
                                              <p:charRg st="254" end="293"/>
                                            </p:txEl>
                                          </p:spTgt>
                                        </p:tgtEl>
                                        <p:attrNameLst>
                                          <p:attrName>style.visibility</p:attrName>
                                        </p:attrNameLst>
                                      </p:cBhvr>
                                      <p:to>
                                        <p:strVal val="visible"/>
                                      </p:to>
                                    </p:set>
                                    <p:animEffect transition="in" filter="blinds(horizontal)">
                                      <p:cBhvr>
                                        <p:cTn id="42" dur="500"/>
                                        <p:tgtEl>
                                          <p:spTgt spid="179203">
                                            <p:txEl>
                                              <p:charRg st="254" end="29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79203">
                                            <p:txEl>
                                              <p:charRg st="293" end="345"/>
                                            </p:txEl>
                                          </p:spTgt>
                                        </p:tgtEl>
                                        <p:attrNameLst>
                                          <p:attrName>style.visibility</p:attrName>
                                        </p:attrNameLst>
                                      </p:cBhvr>
                                      <p:to>
                                        <p:strVal val="visible"/>
                                      </p:to>
                                    </p:set>
                                    <p:animEffect transition="in" filter="blinds(horizontal)">
                                      <p:cBhvr>
                                        <p:cTn id="47" dur="500"/>
                                        <p:tgtEl>
                                          <p:spTgt spid="179203">
                                            <p:txEl>
                                              <p:charRg st="293" end="34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79203">
                                            <p:txEl>
                                              <p:charRg st="345" end="393"/>
                                            </p:txEl>
                                          </p:spTgt>
                                        </p:tgtEl>
                                        <p:attrNameLst>
                                          <p:attrName>style.visibility</p:attrName>
                                        </p:attrNameLst>
                                      </p:cBhvr>
                                      <p:to>
                                        <p:strVal val="visible"/>
                                      </p:to>
                                    </p:set>
                                    <p:animEffect transition="in" filter="blinds(horizontal)">
                                      <p:cBhvr>
                                        <p:cTn id="52" dur="500"/>
                                        <p:tgtEl>
                                          <p:spTgt spid="179203">
                                            <p:txEl>
                                              <p:charRg st="345" end="39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79203">
                                            <p:txEl>
                                              <p:charRg st="393" end="444"/>
                                            </p:txEl>
                                          </p:spTgt>
                                        </p:tgtEl>
                                        <p:attrNameLst>
                                          <p:attrName>style.visibility</p:attrName>
                                        </p:attrNameLst>
                                      </p:cBhvr>
                                      <p:to>
                                        <p:strVal val="visible"/>
                                      </p:to>
                                    </p:set>
                                    <p:animEffect transition="in" filter="blinds(horizontal)">
                                      <p:cBhvr>
                                        <p:cTn id="57" dur="500"/>
                                        <p:tgtEl>
                                          <p:spTgt spid="179203">
                                            <p:txEl>
                                              <p:charRg st="393" end="44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79203">
                                            <p:txEl>
                                              <p:charRg st="444" end="484"/>
                                            </p:txEl>
                                          </p:spTgt>
                                        </p:tgtEl>
                                        <p:attrNameLst>
                                          <p:attrName>style.visibility</p:attrName>
                                        </p:attrNameLst>
                                      </p:cBhvr>
                                      <p:to>
                                        <p:strVal val="visible"/>
                                      </p:to>
                                    </p:set>
                                    <p:animEffect transition="in" filter="blinds(horizontal)">
                                      <p:cBhvr>
                                        <p:cTn id="62" dur="500"/>
                                        <p:tgtEl>
                                          <p:spTgt spid="179203">
                                            <p:txEl>
                                              <p:charRg st="444" end="48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blinds(horizontal)">
                                      <p:cBhvr>
                                        <p:cTn id="67" dur="500"/>
                                        <p:tgtEl>
                                          <p:spTgt spid="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79207"/>
                                        </p:tgtEl>
                                        <p:attrNameLst>
                                          <p:attrName>style.visibility</p:attrName>
                                        </p:attrNameLst>
                                      </p:cBhvr>
                                      <p:to>
                                        <p:strVal val="visible"/>
                                      </p:to>
                                    </p:set>
                                    <p:animEffect transition="in" filter="blinds(horizontal)">
                                      <p:cBhvr>
                                        <p:cTn id="72" dur="500"/>
                                        <p:tgtEl>
                                          <p:spTgt spid="17920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9650"/>
                                        </p:tgtEl>
                                        <p:attrNameLst>
                                          <p:attrName>style.visibility</p:attrName>
                                        </p:attrNameLst>
                                      </p:cBhvr>
                                      <p:to>
                                        <p:strVal val="visible"/>
                                      </p:to>
                                    </p:set>
                                    <p:animEffect transition="in" filter="blinds(horizontal)">
                                      <p:cBhvr>
                                        <p:cTn id="77" dur="500"/>
                                        <p:tgtEl>
                                          <p:spTgt spid="6965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79222"/>
                                        </p:tgtEl>
                                        <p:attrNameLst>
                                          <p:attrName>style.visibility</p:attrName>
                                        </p:attrNameLst>
                                      </p:cBhvr>
                                      <p:to>
                                        <p:strVal val="visible"/>
                                      </p:to>
                                    </p:set>
                                    <p:animEffect transition="in" filter="blinds(horizontal)">
                                      <p:cBhvr>
                                        <p:cTn id="82" dur="500"/>
                                        <p:tgtEl>
                                          <p:spTgt spid="17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build="p"/>
      <p:bldP spid="179207" grpId="0"/>
      <p:bldP spid="179222" grpId="0" animBg="1"/>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type="title"/>
          </p:nvPr>
        </p:nvSpPr>
        <p:spPr>
          <a:ln/>
        </p:spPr>
        <p:txBody>
          <a:bodyPr vert="horz" wrap="square" lIns="63500" tIns="25400" rIns="63500" bIns="25400" anchor="t" anchorCtr="0">
            <a:spAutoFit/>
          </a:bodyPr>
          <a:p>
            <a:r>
              <a:rPr lang="zh-CN" altLang="en-US" dirty="0">
                <a:latin typeface="方正舒体" pitchFamily="2" charset="-122"/>
                <a:ea typeface="宋体" panose="02010600030101010101" pitchFamily="2" charset="-122"/>
              </a:rPr>
              <a:t>不恢复余数除法(加减交替法)</a:t>
            </a:r>
            <a:endParaRPr lang="zh-CN" altLang="en-US" dirty="0">
              <a:latin typeface="方正舒体" pitchFamily="2" charset="-122"/>
              <a:ea typeface="宋体" panose="02010600030101010101" pitchFamily="2" charset="-122"/>
            </a:endParaRPr>
          </a:p>
        </p:txBody>
      </p:sp>
      <p:sp>
        <p:nvSpPr>
          <p:cNvPr id="234499" name="Rectangle 3"/>
          <p:cNvSpPr>
            <a:spLocks noGrp="1" noChangeArrowheads="1"/>
          </p:cNvSpPr>
          <p:nvPr>
            <p:ph idx="1"/>
          </p:nvPr>
        </p:nvSpPr>
        <p:spPr>
          <a:xfrm>
            <a:off x="396875" y="946150"/>
            <a:ext cx="8232775" cy="5362575"/>
          </a:xfrm>
        </p:spPr>
        <p:txBody>
          <a:bodyPr vert="horz" wrap="square" lIns="63500" tIns="25400" rIns="63500" bIns="25400" numCol="1" anchor="t" anchorCtr="0" compatLnSpc="1">
            <a:spAutoFit/>
          </a:bodyPr>
          <a:lstStyle/>
          <a:p>
            <a:pPr marL="342900" marR="0" lvl="0" indent="-342900" algn="l" defTabSz="914400" rtl="0" eaLnBrk="0" fontAlgn="base" latinLnBrk="0" hangingPunct="0">
              <a:lnSpc>
                <a:spcPct val="90000"/>
              </a:lnSpc>
              <a:spcBef>
                <a:spcPct val="20000"/>
              </a:spcBef>
              <a:spcAft>
                <a:spcPct val="0"/>
              </a:spcAft>
              <a:buClr>
                <a:schemeClr val="tx1"/>
              </a:buClr>
              <a:buSzPct val="60000"/>
              <a:buFont typeface="Monotype Sorts" pitchFamily="2" charset="2"/>
              <a:buNone/>
              <a:defRPr/>
            </a:pPr>
            <a:endParaRPr kumimoji="0" lang="zh-CN" altLang="en-US" sz="2200" b="1" i="0" u="none" strike="noStrike" kern="0" cap="none" spc="0" normalizeH="0" baseline="0" noProof="0">
              <a:ln>
                <a:noFill/>
              </a:ln>
              <a:solidFill>
                <a:srgbClr val="0000FF"/>
              </a:solidFill>
              <a:effectLst/>
              <a:uLnTx/>
              <a:uFillTx/>
              <a:latin typeface="+mn-lt"/>
              <a:ea typeface="+mn-ea"/>
              <a:cs typeface="+mn-cs"/>
            </a:endParaRPr>
          </a:p>
          <a:p>
            <a:pPr marL="342900" marR="0" lvl="0" indent="-342900" algn="l" defTabSz="914400" rtl="0" eaLnBrk="0" fontAlgn="base" latinLnBrk="0" hangingPunct="0">
              <a:lnSpc>
                <a:spcPct val="115000"/>
              </a:lnSpc>
              <a:spcBef>
                <a:spcPct val="20000"/>
              </a:spcBef>
              <a:spcAft>
                <a:spcPct val="0"/>
              </a:spcAft>
              <a:buClr>
                <a:schemeClr val="tx1"/>
              </a:buClr>
              <a:buSzPct val="60000"/>
              <a:buFont typeface="Monotype Sorts" pitchFamily="2" charset="2"/>
              <a:buNone/>
              <a:defRPr/>
            </a:pP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根据恢复余数法(设</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B</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为除数，</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R</a:t>
            </a:r>
            <a:r>
              <a:rPr kumimoji="0" lang="en-US" altLang="en-US" sz="2200" b="1" i="0" u="none" strike="noStrike" kern="0" cap="none" spc="0" normalizeH="0" baseline="-2000" noProof="0">
                <a:ln>
                  <a:noFill/>
                </a:ln>
                <a:solidFill>
                  <a:schemeClr val="tx1"/>
                </a:solidFill>
                <a:effectLst/>
                <a:uLnTx/>
                <a:uFillTx/>
                <a:latin typeface="+mn-lt"/>
                <a:ea typeface="黑体" panose="02010609060101010101" pitchFamily="49" charset="-122"/>
                <a:cs typeface="+mn-cs"/>
              </a:rPr>
              <a:t>i</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为第</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i</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次中间余数)，有：</a:t>
            </a:r>
            <a:endPar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
                <a:schemeClr val="tx1"/>
              </a:buClr>
              <a:buSzPct val="60000"/>
              <a:buFont typeface="Monotype Sorts" pitchFamily="2" charset="2"/>
              <a:buChar char="l"/>
              <a:defRPr/>
            </a:pP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若</a:t>
            </a:r>
            <a:r>
              <a:rPr kumimoji="0" lang="en-US"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R</a:t>
            </a:r>
            <a:r>
              <a:rPr kumimoji="0" lang="en-US" altLang="en-US" sz="2200" b="1" i="0" u="none" strike="noStrike" kern="0" cap="none" spc="0" normalizeH="0" baseline="-2000" noProof="0">
                <a:ln>
                  <a:noFill/>
                </a:ln>
                <a:solidFill>
                  <a:schemeClr val="accent2"/>
                </a:solidFill>
                <a:effectLst/>
                <a:uLnTx/>
                <a:uFillTx/>
                <a:latin typeface="+mn-lt"/>
                <a:ea typeface="黑体" panose="02010609060101010101" pitchFamily="49" charset="-122"/>
                <a:cs typeface="+mn-cs"/>
              </a:rPr>
              <a:t>i</a:t>
            </a:r>
            <a:r>
              <a:rPr kumimoji="0" lang="en-US"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&lt;0</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则商上</a:t>
            </a:r>
            <a:r>
              <a:rPr kumimoji="0" lang="zh-CN"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a:t>
            </a:r>
            <a:r>
              <a:rPr kumimoji="0" lang="en-US" altLang="zh-CN"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0”</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，并做加法恢复余数，即：</a:t>
            </a:r>
            <a:endPar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
                <a:schemeClr val="tx1"/>
              </a:buClr>
              <a:buSzPct val="60000"/>
              <a:buFont typeface="Monotype Sorts" pitchFamily="2" charset="2"/>
              <a:buChar char=" "/>
              <a:defRPr/>
            </a:pP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R</a:t>
            </a:r>
            <a:r>
              <a:rPr kumimoji="0" lang="en-US" altLang="en-US" sz="2200" b="1" i="0" u="none" strike="noStrike" kern="0" cap="none" spc="0" normalizeH="0" baseline="-200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i+1</a:t>
            </a: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2(R</a:t>
            </a:r>
            <a:r>
              <a:rPr kumimoji="0" lang="en-US" altLang="en-US" sz="2200" b="1" i="0" u="none" strike="noStrike" kern="0" cap="none" spc="0" normalizeH="0" baseline="-2000" noProof="0">
                <a:ln>
                  <a:noFill/>
                </a:ln>
                <a:solidFill>
                  <a:schemeClr val="tx1"/>
                </a:solidFill>
                <a:effectLst/>
                <a:uLnTx/>
                <a:uFillTx/>
                <a:latin typeface="+mn-lt"/>
                <a:ea typeface="黑体" panose="02010609060101010101" pitchFamily="49" charset="-122"/>
                <a:cs typeface="+mn-cs"/>
              </a:rPr>
              <a:t>i</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+2</a:t>
            </a:r>
            <a:r>
              <a:rPr kumimoji="0" lang="en-US" altLang="en-US" sz="2200" b="1" i="0" u="none" strike="noStrike" kern="0" cap="none" spc="0" normalizeH="0" baseline="38000" noProof="0">
                <a:ln>
                  <a:noFill/>
                </a:ln>
                <a:solidFill>
                  <a:schemeClr val="tx1"/>
                </a:solidFill>
                <a:effectLst/>
                <a:uLnTx/>
                <a:uFillTx/>
                <a:latin typeface="+mn-lt"/>
                <a:ea typeface="黑体" panose="02010609060101010101" pitchFamily="49" charset="-122"/>
                <a:cs typeface="+mn-cs"/>
              </a:rPr>
              <a:t>n</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|B|)-2</a:t>
            </a:r>
            <a:r>
              <a:rPr kumimoji="0" lang="en-US" altLang="en-US" sz="2200" b="1" i="0" u="none" strike="noStrike" kern="0" cap="none" spc="0" normalizeH="0" baseline="38000" noProof="0">
                <a:ln>
                  <a:noFill/>
                </a:ln>
                <a:solidFill>
                  <a:schemeClr val="tx1"/>
                </a:solidFill>
                <a:effectLst/>
                <a:uLnTx/>
                <a:uFillTx/>
                <a:latin typeface="+mn-lt"/>
                <a:ea typeface="黑体" panose="02010609060101010101" pitchFamily="49" charset="-122"/>
                <a:cs typeface="+mn-cs"/>
              </a:rPr>
              <a:t>n</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|B|=</a:t>
            </a: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2R</a:t>
            </a:r>
            <a:r>
              <a:rPr kumimoji="0" lang="en-US" altLang="en-US" sz="2200" b="1" i="0" u="none" strike="noStrike" kern="0" cap="none" spc="0" normalizeH="0" baseline="-200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i</a:t>
            </a:r>
            <a:r>
              <a:rPr kumimoji="0" lang="en-US" altLang="zh-CN" sz="2200" b="1" i="0" u="none" strike="noStrike" kern="0" cap="none" spc="0" normalizeH="0" baseline="-200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 </a:t>
            </a:r>
            <a:r>
              <a:rPr kumimoji="0" lang="en-US" altLang="en-US" sz="22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黑体" panose="02010609060101010101" pitchFamily="49" charset="-122"/>
                <a:cs typeface="+mn-cs"/>
              </a:rPr>
              <a:t>+</a:t>
            </a:r>
            <a:r>
              <a:rPr kumimoji="0" lang="en-US" altLang="zh-CN" sz="22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黑体" panose="02010609060101010101" pitchFamily="49" charset="-122"/>
                <a:cs typeface="+mn-cs"/>
              </a:rPr>
              <a:t> </a:t>
            </a: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2</a:t>
            </a:r>
            <a:r>
              <a:rPr kumimoji="0" lang="en-US" altLang="en-US" sz="2200" b="1" i="0" u="none" strike="noStrike" kern="0" cap="none" spc="0" normalizeH="0" baseline="3800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n</a:t>
            </a: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|B|</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         </a:t>
            </a:r>
            <a:r>
              <a:rPr kumimoji="0" lang="en-US" altLang="zh-CN" sz="2200" b="1" i="0" u="none" strike="noStrike" kern="0" cap="none" spc="0" normalizeH="0" baseline="0" noProof="0">
                <a:ln>
                  <a:noFill/>
                </a:ln>
                <a:solidFill>
                  <a:srgbClr val="FF0066"/>
                </a:solidFill>
                <a:effectLst/>
                <a:uLnTx/>
                <a:uFillTx/>
                <a:latin typeface="+mn-lt"/>
                <a:ea typeface="黑体" panose="02010609060101010101" pitchFamily="49" charset="-122"/>
                <a:cs typeface="+mn-cs"/>
              </a:rPr>
              <a:t>(</a:t>
            </a:r>
            <a:r>
              <a:rPr kumimoji="0" lang="zh-CN" altLang="en-US" sz="2200" b="1" i="0" u="none" strike="noStrike" kern="0" cap="none" spc="0" normalizeH="0" baseline="0" noProof="0">
                <a:ln>
                  <a:noFill/>
                </a:ln>
                <a:solidFill>
                  <a:srgbClr val="FF0066"/>
                </a:solidFill>
                <a:effectLst/>
                <a:uLnTx/>
                <a:uFillTx/>
                <a:latin typeface="+mn-lt"/>
                <a:ea typeface="黑体" panose="02010609060101010101" pitchFamily="49" charset="-122"/>
                <a:cs typeface="+mn-cs"/>
              </a:rPr>
              <a:t>“负，０，加”)</a:t>
            </a:r>
            <a:endParaRPr kumimoji="0" lang="zh-CN" altLang="en-US" sz="2200" b="1" i="0" u="none" strike="noStrike" kern="0" cap="none" spc="0" normalizeH="0" baseline="0" noProof="0">
              <a:ln>
                <a:noFill/>
              </a:ln>
              <a:solidFill>
                <a:srgbClr val="FF0066"/>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
                <a:schemeClr val="tx1"/>
              </a:buClr>
              <a:buSzPct val="60000"/>
              <a:buFont typeface="Monotype Sorts" pitchFamily="2" charset="2"/>
              <a:buChar char="l"/>
              <a:defRPr/>
            </a:pP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若</a:t>
            </a:r>
            <a:r>
              <a:rPr kumimoji="0" lang="en-US"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R</a:t>
            </a:r>
            <a:r>
              <a:rPr kumimoji="0" lang="en-US" altLang="en-US" sz="2200" b="1" i="0" u="none" strike="noStrike" kern="0" cap="none" spc="0" normalizeH="0" baseline="-2000" noProof="0">
                <a:ln>
                  <a:noFill/>
                </a:ln>
                <a:solidFill>
                  <a:schemeClr val="accent2"/>
                </a:solidFill>
                <a:effectLst/>
                <a:uLnTx/>
                <a:uFillTx/>
                <a:latin typeface="+mn-lt"/>
                <a:ea typeface="黑体" panose="02010609060101010101" pitchFamily="49" charset="-122"/>
                <a:cs typeface="+mn-cs"/>
              </a:rPr>
              <a:t>i</a:t>
            </a:r>
            <a:r>
              <a:rPr kumimoji="0" lang="en-US" altLang="zh-CN"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&gt;=</a:t>
            </a:r>
            <a:r>
              <a:rPr kumimoji="0" lang="en-US"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0</a:t>
            </a:r>
            <a:r>
              <a:rPr kumimoji="0" lang="en-US"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则商上</a:t>
            </a:r>
            <a:r>
              <a:rPr kumimoji="0" lang="zh-CN"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“1”</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，不需恢复余数，即：</a:t>
            </a:r>
            <a:endPar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
                <a:schemeClr val="tx1"/>
              </a:buClr>
              <a:buSzPct val="60000"/>
              <a:buFont typeface="Monotype Sorts" pitchFamily="2" charset="2"/>
              <a:buChar char=" "/>
              <a:defRPr/>
            </a:pP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R</a:t>
            </a:r>
            <a:r>
              <a:rPr kumimoji="0" lang="en-US" altLang="en-US" sz="2200" b="1" i="0" u="none" strike="noStrike" kern="0" cap="none" spc="0" normalizeH="0" baseline="-200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i+1</a:t>
            </a: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=2R</a:t>
            </a:r>
            <a:r>
              <a:rPr kumimoji="0" lang="en-US" altLang="en-US" sz="2200" b="1" i="0" u="none" strike="noStrike" kern="0" cap="none" spc="0" normalizeH="0" baseline="-200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i</a:t>
            </a:r>
            <a:r>
              <a:rPr kumimoji="0" lang="en-US" altLang="zh-CN" sz="2200" b="1" i="0" u="none" strike="noStrike" kern="0" cap="none" spc="0" normalizeH="0" baseline="-200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 </a:t>
            </a:r>
            <a:r>
              <a:rPr kumimoji="0" lang="en-US" altLang="en-US" sz="22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黑体" panose="02010609060101010101" pitchFamily="49" charset="-122"/>
                <a:cs typeface="+mn-cs"/>
              </a:rPr>
              <a:t>-</a:t>
            </a:r>
            <a:r>
              <a:rPr kumimoji="0" lang="en-US" altLang="zh-CN" sz="2200" b="1" i="0" u="none" strike="noStrike" kern="0" cap="none" spc="0" normalizeH="0" baseline="0" noProof="0">
                <a:ln>
                  <a:noFill/>
                </a:ln>
                <a:solidFill>
                  <a:schemeClr val="accent2"/>
                </a:solidFill>
                <a:effectLst>
                  <a:outerShdw blurRad="38100" dist="38100" dir="2700000" algn="tl">
                    <a:srgbClr val="C0C0C0"/>
                  </a:outerShdw>
                </a:effectLst>
                <a:uLnTx/>
                <a:uFillTx/>
                <a:latin typeface="+mn-lt"/>
                <a:ea typeface="黑体" panose="02010609060101010101" pitchFamily="49" charset="-122"/>
                <a:cs typeface="+mn-cs"/>
              </a:rPr>
              <a:t> </a:t>
            </a: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2</a:t>
            </a:r>
            <a:r>
              <a:rPr kumimoji="0" lang="en-US" altLang="en-US" sz="2200" b="1" i="0" u="none" strike="noStrike" kern="0" cap="none" spc="0" normalizeH="0" baseline="3800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n</a:t>
            </a:r>
            <a:r>
              <a:rPr kumimoji="0" lang="en-US"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|B|</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         </a:t>
            </a:r>
            <a:r>
              <a:rPr kumimoji="0" lang="en-US" altLang="zh-CN" sz="2200" b="1" i="0" u="none" strike="noStrike" kern="0" cap="none" spc="0" normalizeH="0" baseline="0" noProof="0">
                <a:ln>
                  <a:noFill/>
                </a:ln>
                <a:solidFill>
                  <a:srgbClr val="FF0066"/>
                </a:solidFill>
                <a:effectLst/>
                <a:uLnTx/>
                <a:uFillTx/>
                <a:latin typeface="+mn-lt"/>
                <a:ea typeface="黑体" panose="02010609060101010101" pitchFamily="49" charset="-122"/>
                <a:cs typeface="+mn-cs"/>
              </a:rPr>
              <a:t>(</a:t>
            </a:r>
            <a:r>
              <a:rPr kumimoji="0" lang="zh-CN" altLang="en-US" sz="2200" b="1" i="0" u="none" strike="noStrike" kern="0" cap="none" spc="0" normalizeH="0" baseline="0" noProof="0">
                <a:ln>
                  <a:noFill/>
                </a:ln>
                <a:solidFill>
                  <a:srgbClr val="FF0066"/>
                </a:solidFill>
                <a:effectLst/>
                <a:uLnTx/>
                <a:uFillTx/>
                <a:latin typeface="+mn-lt"/>
                <a:ea typeface="黑体" panose="02010609060101010101" pitchFamily="49" charset="-122"/>
                <a:cs typeface="+mn-cs"/>
              </a:rPr>
              <a:t>“正，１，减”)</a:t>
            </a:r>
            <a:endParaRPr kumimoji="0" lang="zh-CN" altLang="en-US" sz="2200" b="1" i="0" u="none" strike="noStrike" kern="0" cap="none" spc="0" normalizeH="0" baseline="0" noProof="0">
              <a:ln>
                <a:noFill/>
              </a:ln>
              <a:solidFill>
                <a:srgbClr val="FF0066"/>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
                <a:schemeClr val="tx1"/>
              </a:buClr>
              <a:buSzPct val="60000"/>
              <a:buFont typeface="Monotype Sorts" pitchFamily="2" charset="2"/>
              <a:buNone/>
              <a:defRPr/>
            </a:pPr>
            <a:endParaRPr kumimoji="0" lang="zh-CN" altLang="en-US" sz="2200" b="1" i="0" u="none" strike="noStrike" kern="0" cap="none" spc="0" normalizeH="0" baseline="0" noProof="0">
              <a:ln>
                <a:noFill/>
              </a:ln>
              <a:solidFill>
                <a:srgbClr val="FF0066"/>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
                <a:schemeClr val="tx1"/>
              </a:buClr>
              <a:buSzPct val="60000"/>
              <a:buFont typeface="Monotype Sorts" pitchFamily="2" charset="2"/>
              <a:buNone/>
              <a:defRPr/>
            </a:pPr>
            <a:r>
              <a:rPr kumimoji="0" lang="zh-CN"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rPr>
              <a:t>省去了恢复余数的过程</a:t>
            </a:r>
            <a:endParaRPr kumimoji="0" lang="zh-CN"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90000"/>
              </a:lnSpc>
              <a:spcBef>
                <a:spcPct val="20000"/>
              </a:spcBef>
              <a:spcAft>
                <a:spcPct val="0"/>
              </a:spcAft>
              <a:buClr>
                <a:schemeClr val="tx1"/>
              </a:buClr>
              <a:buSzPct val="60000"/>
              <a:buFont typeface="Monotype Sorts" pitchFamily="2" charset="2"/>
              <a:buNone/>
              <a:defRPr/>
            </a:pPr>
            <a:endParaRPr kumimoji="0" lang="zh-CN" altLang="en-US" sz="2200" b="1" i="0" u="none" strike="noStrike" kern="0" cap="none" spc="0" normalizeH="0" baseline="0" noProof="0">
              <a:ln>
                <a:noFill/>
              </a:ln>
              <a:solidFill>
                <a:schemeClr val="accent2"/>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110000"/>
              </a:lnSpc>
              <a:spcBef>
                <a:spcPct val="5000"/>
              </a:spcBef>
              <a:spcAft>
                <a:spcPct val="0"/>
              </a:spcAft>
              <a:buClr>
                <a:schemeClr val="tx1"/>
              </a:buClr>
              <a:buSzPct val="60000"/>
              <a:buFont typeface="Monotype Sorts" pitchFamily="2" charset="2"/>
              <a:buChar char=" "/>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黑体" panose="02010609060101010101" pitchFamily="49" charset="-122"/>
                <a:cs typeface="+mn-cs"/>
              </a:rPr>
              <a:t>注意：</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最后一次上商为“</a:t>
            </a:r>
            <a:r>
              <a:rPr kumimoji="0" lang="en-US" altLang="zh-CN"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0</a:t>
            </a:r>
            <a:r>
              <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rPr>
              <a:t>”的话，需要“纠余”处理，即把试商时被减掉的除数加回去，恢复真正的余数。</a:t>
            </a:r>
            <a:endPar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110000"/>
              </a:lnSpc>
              <a:spcBef>
                <a:spcPct val="5000"/>
              </a:spcBef>
              <a:spcAft>
                <a:spcPct val="0"/>
              </a:spcAft>
              <a:buClr>
                <a:schemeClr val="tx1"/>
              </a:buClr>
              <a:buSzPct val="60000"/>
              <a:buFont typeface="Monotype Sorts" pitchFamily="2" charset="2"/>
              <a:buChar char=" "/>
              <a:defRPr/>
            </a:pPr>
            <a:endParaRPr kumimoji="0" lang="zh-CN" altLang="en-US" sz="2200" b="1" i="0" u="none" strike="noStrike" kern="0" cap="none" spc="0" normalizeH="0" baseline="0" noProof="0">
              <a:ln>
                <a:noFill/>
              </a:ln>
              <a:solidFill>
                <a:schemeClr val="tx1"/>
              </a:solidFill>
              <a:effectLst/>
              <a:uLnTx/>
              <a:uFillTx/>
              <a:latin typeface="+mn-lt"/>
              <a:ea typeface="黑体" panose="02010609060101010101" pitchFamily="49" charset="-122"/>
              <a:cs typeface="+mn-cs"/>
            </a:endParaRPr>
          </a:p>
          <a:p>
            <a:pPr marL="342900" marR="0" lvl="0" indent="-342900" algn="l" defTabSz="914400" rtl="0" eaLnBrk="0" fontAlgn="base" latinLnBrk="0" hangingPunct="0">
              <a:lnSpc>
                <a:spcPct val="80000"/>
              </a:lnSpc>
              <a:spcBef>
                <a:spcPct val="20000"/>
              </a:spcBef>
              <a:spcAft>
                <a:spcPct val="0"/>
              </a:spcAft>
              <a:buClr>
                <a:schemeClr val="tx1"/>
              </a:buClr>
              <a:buSzPct val="60000"/>
              <a:buFont typeface="Monotype Sorts" pitchFamily="2" charset="2"/>
              <a:buChar char=" "/>
              <a:defRPr/>
            </a:pPr>
            <a:r>
              <a:rPr kumimoji="0" lang="zh-CN" altLang="en-US" sz="2200" b="1" i="0" u="none" strike="noStrike" kern="0" cap="none" spc="0" normalizeH="0" baseline="0" noProof="0">
                <a:ln>
                  <a:noFill/>
                </a:ln>
                <a:solidFill>
                  <a:srgbClr val="0000FF"/>
                </a:solidFill>
                <a:effectLst/>
                <a:uLnTx/>
                <a:uFillTx/>
                <a:latin typeface="+mn-lt"/>
                <a:ea typeface="黑体" panose="02010609060101010101" pitchFamily="49" charset="-122"/>
                <a:cs typeface="+mn-cs"/>
              </a:rPr>
              <a:t>不恢复余数法也称为加减交替法</a:t>
            </a:r>
            <a:endParaRPr kumimoji="0" lang="zh-CN" altLang="en-US" sz="2200" b="1" i="0" u="none" strike="noStrike" kern="0" cap="none" spc="0" normalizeH="0" baseline="0" noProof="0">
              <a:ln>
                <a:noFill/>
              </a:ln>
              <a:solidFill>
                <a:srgbClr val="0000FF"/>
              </a:solidFill>
              <a:effectLst/>
              <a:uLnTx/>
              <a:uFillTx/>
              <a:latin typeface="+mn-lt"/>
              <a:ea typeface="黑体" panose="02010609060101010101" pitchFamily="49" charset="-122"/>
              <a:cs typeface="+mn-cs"/>
            </a:endParaRPr>
          </a:p>
        </p:txBody>
      </p:sp>
      <p:sp>
        <p:nvSpPr>
          <p:cNvPr id="93187" name="Text Box 4"/>
          <p:cNvSpPr txBox="1"/>
          <p:nvPr/>
        </p:nvSpPr>
        <p:spPr>
          <a:xfrm>
            <a:off x="300038" y="804863"/>
            <a:ext cx="7707312" cy="427037"/>
          </a:xfrm>
          <a:prstGeom prst="rect">
            <a:avLst/>
          </a:prstGeom>
          <a:noFill/>
          <a:ln w="12700">
            <a:noFill/>
          </a:ln>
        </p:spPr>
        <p:txBody>
          <a:bodyPr anchor="t" anchorCtr="0">
            <a:spAutoFit/>
          </a:bodyPr>
          <a:p>
            <a:pPr eaLnBrk="0" hangingPunct="0">
              <a:spcBef>
                <a:spcPct val="50000"/>
              </a:spcBef>
            </a:pPr>
            <a:r>
              <a:rPr lang="zh-CN" altLang="en-US" sz="2200" dirty="0">
                <a:solidFill>
                  <a:srgbClr val="FF0066"/>
                </a:solidFill>
                <a:latin typeface="Times New Roman" panose="02020603050405020304" pitchFamily="18" charset="0"/>
                <a:ea typeface="黑体" panose="02010609060101010101" pitchFamily="49" charset="-122"/>
              </a:rPr>
              <a:t>恢复余数法可进一步简化为“加减交替法”</a:t>
            </a:r>
            <a:endParaRPr lang="zh-CN" altLang="en-US" sz="2200" dirty="0">
              <a:solidFill>
                <a:srgbClr val="FF0066"/>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4499">
                                            <p:txEl>
                                              <p:charRg st="1" end="30"/>
                                            </p:txEl>
                                          </p:spTgt>
                                        </p:tgtEl>
                                        <p:attrNameLst>
                                          <p:attrName>style.visibility</p:attrName>
                                        </p:attrNameLst>
                                      </p:cBhvr>
                                      <p:to>
                                        <p:strVal val="visible"/>
                                      </p:to>
                                    </p:set>
                                    <p:animEffect transition="in" filter="blinds(horizontal)">
                                      <p:cBhvr>
                                        <p:cTn id="7" dur="500"/>
                                        <p:tgtEl>
                                          <p:spTgt spid="234499">
                                            <p:txEl>
                                              <p:charRg st="1" end="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4499">
                                            <p:txEl>
                                              <p:charRg st="30" end="55"/>
                                            </p:txEl>
                                          </p:spTgt>
                                        </p:tgtEl>
                                        <p:attrNameLst>
                                          <p:attrName>style.visibility</p:attrName>
                                        </p:attrNameLst>
                                      </p:cBhvr>
                                      <p:to>
                                        <p:strVal val="visible"/>
                                      </p:to>
                                    </p:set>
                                    <p:animEffect transition="in" filter="blinds(horizontal)">
                                      <p:cBhvr>
                                        <p:cTn id="12" dur="500"/>
                                        <p:tgtEl>
                                          <p:spTgt spid="234499">
                                            <p:txEl>
                                              <p:charRg st="30" end="5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34499">
                                            <p:txEl>
                                              <p:charRg st="55" end="108"/>
                                            </p:txEl>
                                          </p:spTgt>
                                        </p:tgtEl>
                                        <p:attrNameLst>
                                          <p:attrName>style.visibility</p:attrName>
                                        </p:attrNameLst>
                                      </p:cBhvr>
                                      <p:to>
                                        <p:strVal val="visible"/>
                                      </p:to>
                                    </p:set>
                                    <p:animEffect transition="in" filter="blinds(horizontal)">
                                      <p:cBhvr>
                                        <p:cTn id="15" dur="500"/>
                                        <p:tgtEl>
                                          <p:spTgt spid="234499">
                                            <p:txEl>
                                              <p:charRg st="55" end="10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34499">
                                            <p:txEl>
                                              <p:charRg st="108" end="132"/>
                                            </p:txEl>
                                          </p:spTgt>
                                        </p:tgtEl>
                                        <p:attrNameLst>
                                          <p:attrName>style.visibility</p:attrName>
                                        </p:attrNameLst>
                                      </p:cBhvr>
                                      <p:to>
                                        <p:strVal val="visible"/>
                                      </p:to>
                                    </p:set>
                                    <p:animEffect transition="in" filter="blinds(horizontal)">
                                      <p:cBhvr>
                                        <p:cTn id="20" dur="500"/>
                                        <p:tgtEl>
                                          <p:spTgt spid="234499">
                                            <p:txEl>
                                              <p:charRg st="108" end="13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34499">
                                            <p:txEl>
                                              <p:charRg st="132" end="167"/>
                                            </p:txEl>
                                          </p:spTgt>
                                        </p:tgtEl>
                                        <p:attrNameLst>
                                          <p:attrName>style.visibility</p:attrName>
                                        </p:attrNameLst>
                                      </p:cBhvr>
                                      <p:to>
                                        <p:strVal val="visible"/>
                                      </p:to>
                                    </p:set>
                                    <p:animEffect transition="in" filter="blinds(horizontal)">
                                      <p:cBhvr>
                                        <p:cTn id="23" dur="500"/>
                                        <p:tgtEl>
                                          <p:spTgt spid="234499">
                                            <p:txEl>
                                              <p:charRg st="132" end="16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34499">
                                            <p:txEl>
                                              <p:charRg st="168" end="179"/>
                                            </p:txEl>
                                          </p:spTgt>
                                        </p:tgtEl>
                                        <p:attrNameLst>
                                          <p:attrName>style.visibility</p:attrName>
                                        </p:attrNameLst>
                                      </p:cBhvr>
                                      <p:to>
                                        <p:strVal val="visible"/>
                                      </p:to>
                                    </p:set>
                                    <p:animEffect transition="in" filter="blinds(horizontal)">
                                      <p:cBhvr>
                                        <p:cTn id="28" dur="500"/>
                                        <p:tgtEl>
                                          <p:spTgt spid="234499">
                                            <p:txEl>
                                              <p:charRg st="168" end="179"/>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34499">
                                            <p:txEl>
                                              <p:charRg st="180" end="229"/>
                                            </p:txEl>
                                          </p:spTgt>
                                        </p:tgtEl>
                                        <p:attrNameLst>
                                          <p:attrName>style.visibility</p:attrName>
                                        </p:attrNameLst>
                                      </p:cBhvr>
                                      <p:to>
                                        <p:strVal val="visible"/>
                                      </p:to>
                                    </p:set>
                                    <p:animEffect transition="in" filter="blinds(horizontal)">
                                      <p:cBhvr>
                                        <p:cTn id="33" dur="500"/>
                                        <p:tgtEl>
                                          <p:spTgt spid="234499">
                                            <p:txEl>
                                              <p:charRg st="180" end="22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34499">
                                            <p:txEl>
                                              <p:charRg st="230" end="245"/>
                                            </p:txEl>
                                          </p:spTgt>
                                        </p:tgtEl>
                                        <p:attrNameLst>
                                          <p:attrName>style.visibility</p:attrName>
                                        </p:attrNameLst>
                                      </p:cBhvr>
                                      <p:to>
                                        <p:strVal val="visible"/>
                                      </p:to>
                                    </p:set>
                                    <p:animEffect transition="in" filter="blinds(horizontal)">
                                      <p:cBhvr>
                                        <p:cTn id="38" dur="500"/>
                                        <p:tgtEl>
                                          <p:spTgt spid="234499">
                                            <p:txEl>
                                              <p:charRg st="230" end="2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带符号数除法</a:t>
            </a:r>
            <a:endParaRPr lang="zh-CN" altLang="en-US" dirty="0">
              <a:ea typeface="宋体" panose="02010600030101010101" pitchFamily="2" charset="-122"/>
            </a:endParaRPr>
          </a:p>
        </p:txBody>
      </p:sp>
      <p:sp>
        <p:nvSpPr>
          <p:cNvPr id="71683" name="Rectangle 4"/>
          <p:cNvSpPr>
            <a:spLocks noGrp="1"/>
          </p:cNvSpPr>
          <p:nvPr>
            <p:ph idx="1"/>
          </p:nvPr>
        </p:nvSpPr>
        <p:spPr>
          <a:xfrm>
            <a:off x="188913" y="790575"/>
            <a:ext cx="8650287" cy="4554538"/>
          </a:xfrm>
          <a:ln/>
        </p:spPr>
        <p:txBody>
          <a:bodyPr vert="horz" wrap="square" lIns="63500" tIns="25400" rIns="63500" bIns="25400" anchor="t" anchorCtr="0">
            <a:spAutoFit/>
          </a:bodyPr>
          <a:p>
            <a:r>
              <a:rPr lang="zh-CN" altLang="en-US" dirty="0">
                <a:ea typeface="黑体" panose="02010609060101010101" pitchFamily="49" charset="-122"/>
              </a:rPr>
              <a:t>原码除法</a:t>
            </a:r>
            <a:endParaRPr lang="zh-CN" altLang="en-US" dirty="0">
              <a:ea typeface="黑体" panose="02010609060101010101" pitchFamily="49" charset="-122"/>
            </a:endParaRPr>
          </a:p>
          <a:p>
            <a:pPr lvl="1">
              <a:lnSpc>
                <a:spcPct val="120000"/>
              </a:lnSpc>
              <a:buChar char="o"/>
            </a:pPr>
            <a:r>
              <a:rPr lang="zh-CN" altLang="en-US" sz="2200" dirty="0">
                <a:solidFill>
                  <a:srgbClr val="008000"/>
                </a:solidFill>
                <a:ea typeface="黑体" panose="02010609060101010101" pitchFamily="49" charset="-122"/>
              </a:rPr>
              <a:t>商符和商值分开处理</a:t>
            </a:r>
            <a:endParaRPr lang="zh-CN" altLang="en-US" sz="2200" dirty="0">
              <a:solidFill>
                <a:srgbClr val="008000"/>
              </a:solidFill>
              <a:ea typeface="黑体" panose="02010609060101010101" pitchFamily="49" charset="-122"/>
            </a:endParaRPr>
          </a:p>
          <a:p>
            <a:pPr lvl="2">
              <a:lnSpc>
                <a:spcPct val="120000"/>
              </a:lnSpc>
              <a:buFont typeface="宋体" panose="02010600030101010101" pitchFamily="2" charset="-122"/>
              <a:buChar char="•"/>
            </a:pPr>
            <a:r>
              <a:rPr lang="zh-CN" altLang="en-US" sz="2200" dirty="0">
                <a:solidFill>
                  <a:srgbClr val="3333FF"/>
                </a:solidFill>
                <a:ea typeface="黑体" panose="02010609060101010101" pitchFamily="49" charset="-122"/>
              </a:rPr>
              <a:t>商的数值部分由无符号数除法求得</a:t>
            </a:r>
            <a:endParaRPr lang="zh-CN" altLang="en-US" sz="2200" dirty="0">
              <a:solidFill>
                <a:srgbClr val="3333FF"/>
              </a:solidFill>
              <a:ea typeface="黑体" panose="02010609060101010101" pitchFamily="49" charset="-122"/>
            </a:endParaRPr>
          </a:p>
          <a:p>
            <a:pPr lvl="2">
              <a:lnSpc>
                <a:spcPct val="120000"/>
              </a:lnSpc>
              <a:buFont typeface="宋体" panose="02010600030101010101" pitchFamily="2" charset="-122"/>
              <a:buChar char="•"/>
            </a:pPr>
            <a:r>
              <a:rPr lang="zh-CN" altLang="en-US" sz="2200" dirty="0">
                <a:solidFill>
                  <a:srgbClr val="3333FF"/>
                </a:solidFill>
                <a:ea typeface="黑体" panose="02010609060101010101" pitchFamily="49" charset="-122"/>
              </a:rPr>
              <a:t>商符由被除数和除数的符号确定：同号为</a:t>
            </a:r>
            <a:r>
              <a:rPr lang="en-US" altLang="zh-CN" sz="2200" dirty="0">
                <a:solidFill>
                  <a:srgbClr val="3333FF"/>
                </a:solidFill>
                <a:ea typeface="黑体" panose="02010609060101010101" pitchFamily="49" charset="-122"/>
              </a:rPr>
              <a:t>0</a:t>
            </a:r>
            <a:r>
              <a:rPr lang="zh-CN" altLang="en-US" sz="2200" dirty="0">
                <a:solidFill>
                  <a:srgbClr val="3333FF"/>
                </a:solidFill>
                <a:ea typeface="黑体" panose="02010609060101010101" pitchFamily="49" charset="-122"/>
              </a:rPr>
              <a:t>，异号为１</a:t>
            </a:r>
            <a:endParaRPr lang="zh-CN" altLang="en-US" sz="2200" dirty="0">
              <a:solidFill>
                <a:srgbClr val="3333FF"/>
              </a:solidFill>
              <a:ea typeface="黑体" panose="02010609060101010101" pitchFamily="49" charset="-122"/>
            </a:endParaRPr>
          </a:p>
          <a:p>
            <a:pPr lvl="1">
              <a:lnSpc>
                <a:spcPct val="120000"/>
              </a:lnSpc>
              <a:buChar char="o"/>
            </a:pPr>
            <a:r>
              <a:rPr lang="zh-CN" altLang="en-US" sz="2200" dirty="0">
                <a:solidFill>
                  <a:srgbClr val="008000"/>
                </a:solidFill>
                <a:ea typeface="黑体" panose="02010609060101010101" pitchFamily="49" charset="-122"/>
              </a:rPr>
              <a:t>余数的符号同被除数的符号</a:t>
            </a:r>
            <a:endParaRPr lang="zh-CN" altLang="en-US" sz="2200" dirty="0">
              <a:solidFill>
                <a:srgbClr val="008000"/>
              </a:solidFill>
              <a:ea typeface="黑体" panose="02010609060101010101" pitchFamily="49" charset="-122"/>
            </a:endParaRPr>
          </a:p>
          <a:p>
            <a:pPr>
              <a:lnSpc>
                <a:spcPct val="120000"/>
              </a:lnSpc>
            </a:pPr>
            <a:r>
              <a:rPr lang="zh-CN" altLang="en-US" dirty="0">
                <a:ea typeface="黑体" panose="02010609060101010101" pitchFamily="49" charset="-122"/>
              </a:rPr>
              <a:t>补码除法</a:t>
            </a:r>
            <a:endParaRPr lang="zh-CN" altLang="en-US" dirty="0">
              <a:ea typeface="黑体" panose="02010609060101010101" pitchFamily="49" charset="-122"/>
            </a:endParaRPr>
          </a:p>
          <a:p>
            <a:pPr lvl="1">
              <a:lnSpc>
                <a:spcPct val="120000"/>
              </a:lnSpc>
              <a:buChar char="o"/>
            </a:pPr>
            <a:r>
              <a:rPr lang="zh-CN" altLang="en-US" sz="2200" dirty="0">
                <a:solidFill>
                  <a:srgbClr val="008000"/>
                </a:solidFill>
                <a:ea typeface="黑体" panose="02010609060101010101" pitchFamily="49" charset="-122"/>
              </a:rPr>
              <a:t>方法1：同原码除法一样，先转换为正数，先用无符号数除法，然后修正商和余数。</a:t>
            </a:r>
            <a:endParaRPr lang="zh-CN" altLang="en-US" sz="2200" dirty="0">
              <a:solidFill>
                <a:srgbClr val="008000"/>
              </a:solidFill>
              <a:ea typeface="黑体" panose="02010609060101010101" pitchFamily="49" charset="-122"/>
            </a:endParaRPr>
          </a:p>
          <a:p>
            <a:pPr lvl="1">
              <a:lnSpc>
                <a:spcPct val="120000"/>
              </a:lnSpc>
              <a:buChar char="o"/>
            </a:pPr>
            <a:r>
              <a:rPr lang="zh-CN" altLang="en-US" sz="2200" dirty="0">
                <a:solidFill>
                  <a:srgbClr val="FF0000"/>
                </a:solidFill>
                <a:ea typeface="黑体" panose="02010609060101010101" pitchFamily="49" charset="-122"/>
              </a:rPr>
              <a:t>方法2：直接用补码除法，符号和数值一起进行运算，商符直接在运算中产生。</a:t>
            </a:r>
            <a:endParaRPr lang="en-US" altLang="zh-CN" sz="2200" dirty="0">
              <a:solidFill>
                <a:srgbClr val="FF0000"/>
              </a:solidFill>
              <a:ea typeface="黑体" panose="02010609060101010101" pitchFamily="49" charset="-122"/>
            </a:endParaRPr>
          </a:p>
        </p:txBody>
      </p:sp>
      <p:sp>
        <p:nvSpPr>
          <p:cNvPr id="71684" name="Text Box 5"/>
          <p:cNvSpPr txBox="1"/>
          <p:nvPr/>
        </p:nvSpPr>
        <p:spPr>
          <a:xfrm>
            <a:off x="501650" y="5495925"/>
            <a:ext cx="8162925" cy="938213"/>
          </a:xfrm>
          <a:prstGeom prst="rect">
            <a:avLst/>
          </a:prstGeom>
          <a:noFill/>
          <a:ln w="12700">
            <a:noFill/>
          </a:ln>
        </p:spPr>
        <p:txBody>
          <a:bodyPr anchor="t" anchorCtr="0">
            <a:spAutoFit/>
          </a:bodyPr>
          <a:p>
            <a:pPr eaLnBrk="0" hangingPunct="0">
              <a:spcBef>
                <a:spcPct val="50000"/>
              </a:spcBef>
            </a:pPr>
            <a:r>
              <a:rPr lang="zh-CN" altLang="en-US" sz="2200" dirty="0">
                <a:latin typeface="Arial" panose="020B0604020202020204" pitchFamily="34" charset="0"/>
                <a:ea typeface="黑体" panose="02010609060101010101" pitchFamily="49" charset="-122"/>
              </a:rPr>
              <a:t>若是两个</a:t>
            </a:r>
            <a:r>
              <a:rPr lang="en-US" altLang="zh-CN" sz="2200" dirty="0">
                <a:latin typeface="Arial" panose="020B0604020202020204" pitchFamily="34" charset="0"/>
                <a:ea typeface="黑体" panose="02010609060101010101" pitchFamily="49" charset="-122"/>
              </a:rPr>
              <a:t>n</a:t>
            </a:r>
            <a:r>
              <a:rPr lang="zh-CN" altLang="en-US" sz="2200" dirty="0">
                <a:latin typeface="Arial" panose="020B0604020202020204" pitchFamily="34" charset="0"/>
                <a:ea typeface="黑体" panose="02010609060101010101" pitchFamily="49" charset="-122"/>
              </a:rPr>
              <a:t>位补码整数除法运算，则被除数进行符号扩展。</a:t>
            </a:r>
            <a:endParaRPr lang="zh-CN" altLang="en-US" sz="2200" dirty="0">
              <a:latin typeface="Arial" panose="020B0604020202020204" pitchFamily="34" charset="0"/>
              <a:ea typeface="黑体" panose="02010609060101010101" pitchFamily="49" charset="-122"/>
            </a:endParaRPr>
          </a:p>
          <a:p>
            <a:pPr eaLnBrk="0" hangingPunct="0">
              <a:spcBef>
                <a:spcPct val="50000"/>
              </a:spcBef>
            </a:pPr>
            <a:r>
              <a:rPr lang="zh-CN" altLang="en-US" sz="2200" dirty="0">
                <a:latin typeface="Arial" panose="020B0604020202020204" pitchFamily="34" charset="0"/>
                <a:ea typeface="黑体" panose="02010609060101010101" pitchFamily="49" charset="-122"/>
              </a:rPr>
              <a:t>若被除数为</a:t>
            </a:r>
            <a:r>
              <a:rPr lang="en-US" altLang="zh-CN" sz="2200" dirty="0">
                <a:latin typeface="Arial" panose="020B0604020202020204" pitchFamily="34" charset="0"/>
                <a:ea typeface="黑体" panose="02010609060101010101" pitchFamily="49" charset="-122"/>
              </a:rPr>
              <a:t>2n</a:t>
            </a:r>
            <a:r>
              <a:rPr lang="zh-CN" altLang="en-US" sz="2200" dirty="0">
                <a:latin typeface="Arial" panose="020B0604020202020204" pitchFamily="34" charset="0"/>
                <a:ea typeface="黑体" panose="02010609060101010101" pitchFamily="49" charset="-122"/>
              </a:rPr>
              <a:t>位，除数为</a:t>
            </a:r>
            <a:r>
              <a:rPr lang="en-US" altLang="zh-CN" sz="2200" dirty="0">
                <a:latin typeface="Arial" panose="020B0604020202020204" pitchFamily="34" charset="0"/>
                <a:ea typeface="黑体" panose="02010609060101010101" pitchFamily="49" charset="-122"/>
              </a:rPr>
              <a:t>n</a:t>
            </a:r>
            <a:r>
              <a:rPr lang="zh-CN" altLang="en-US" sz="2200" dirty="0">
                <a:latin typeface="Arial" panose="020B0604020202020204" pitchFamily="34" charset="0"/>
                <a:ea typeface="黑体" panose="02010609060101010101" pitchFamily="49" charset="-122"/>
              </a:rPr>
              <a:t>位，则被除数无需扩展。 </a:t>
            </a:r>
            <a:endParaRPr lang="zh-CN" altLang="en-US" sz="2200" dirty="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683">
                                            <p:txEl>
                                              <p:charRg st="5" end="15"/>
                                            </p:txEl>
                                          </p:spTgt>
                                        </p:tgtEl>
                                        <p:attrNameLst>
                                          <p:attrName>style.visibility</p:attrName>
                                        </p:attrNameLst>
                                      </p:cBhvr>
                                      <p:to>
                                        <p:strVal val="visible"/>
                                      </p:to>
                                    </p:set>
                                    <p:animEffect transition="in" filter="blinds(horizontal)">
                                      <p:cBhvr>
                                        <p:cTn id="7" dur="500"/>
                                        <p:tgtEl>
                                          <p:spTgt spid="71683">
                                            <p:txEl>
                                              <p:charRg st="5" end="1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683">
                                            <p:txEl>
                                              <p:charRg st="15" end="31"/>
                                            </p:txEl>
                                          </p:spTgt>
                                        </p:tgtEl>
                                        <p:attrNameLst>
                                          <p:attrName>style.visibility</p:attrName>
                                        </p:attrNameLst>
                                      </p:cBhvr>
                                      <p:to>
                                        <p:strVal val="visible"/>
                                      </p:to>
                                    </p:set>
                                    <p:animEffect transition="in" filter="blinds(horizontal)">
                                      <p:cBhvr>
                                        <p:cTn id="10" dur="500"/>
                                        <p:tgtEl>
                                          <p:spTgt spid="71683">
                                            <p:txEl>
                                              <p:charRg st="15" end="3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1683">
                                            <p:txEl>
                                              <p:charRg st="31" end="56"/>
                                            </p:txEl>
                                          </p:spTgt>
                                        </p:tgtEl>
                                        <p:attrNameLst>
                                          <p:attrName>style.visibility</p:attrName>
                                        </p:attrNameLst>
                                      </p:cBhvr>
                                      <p:to>
                                        <p:strVal val="visible"/>
                                      </p:to>
                                    </p:set>
                                    <p:animEffect transition="in" filter="blinds(horizontal)">
                                      <p:cBhvr>
                                        <p:cTn id="13" dur="500"/>
                                        <p:tgtEl>
                                          <p:spTgt spid="71683">
                                            <p:txEl>
                                              <p:charRg st="31" end="5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683">
                                            <p:txEl>
                                              <p:charRg st="56" end="69"/>
                                            </p:txEl>
                                          </p:spTgt>
                                        </p:tgtEl>
                                        <p:attrNameLst>
                                          <p:attrName>style.visibility</p:attrName>
                                        </p:attrNameLst>
                                      </p:cBhvr>
                                      <p:to>
                                        <p:strVal val="visible"/>
                                      </p:to>
                                    </p:set>
                                    <p:animEffect transition="in" filter="blinds(horizontal)">
                                      <p:cBhvr>
                                        <p:cTn id="18" dur="500"/>
                                        <p:tgtEl>
                                          <p:spTgt spid="71683">
                                            <p:txEl>
                                              <p:charRg st="56" end="6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1683">
                                            <p:txEl>
                                              <p:charRg st="74" end="112"/>
                                            </p:txEl>
                                          </p:spTgt>
                                        </p:tgtEl>
                                        <p:attrNameLst>
                                          <p:attrName>style.visibility</p:attrName>
                                        </p:attrNameLst>
                                      </p:cBhvr>
                                      <p:to>
                                        <p:strVal val="visible"/>
                                      </p:to>
                                    </p:set>
                                    <p:animEffect transition="in" filter="blinds(horizontal)">
                                      <p:cBhvr>
                                        <p:cTn id="23" dur="500"/>
                                        <p:tgtEl>
                                          <p:spTgt spid="71683">
                                            <p:txEl>
                                              <p:charRg st="74" end="11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1683">
                                            <p:txEl>
                                              <p:charRg st="112" end="148"/>
                                            </p:txEl>
                                          </p:spTgt>
                                        </p:tgtEl>
                                        <p:attrNameLst>
                                          <p:attrName>style.visibility</p:attrName>
                                        </p:attrNameLst>
                                      </p:cBhvr>
                                      <p:to>
                                        <p:strVal val="visible"/>
                                      </p:to>
                                    </p:set>
                                    <p:animEffect transition="in" filter="blinds(horizontal)">
                                      <p:cBhvr>
                                        <p:cTn id="28" dur="500"/>
                                        <p:tgtEl>
                                          <p:spTgt spid="71683">
                                            <p:txEl>
                                              <p:charRg st="112" end="14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71684"/>
                                        </p:tgtEl>
                                        <p:attrNameLst>
                                          <p:attrName>style.visibility</p:attrName>
                                        </p:attrNameLst>
                                      </p:cBhvr>
                                      <p:to>
                                        <p:strVal val="visible"/>
                                      </p:to>
                                    </p:set>
                                    <p:animEffect transition="in" filter="blinds(horizontal)">
                                      <p:cBhvr>
                                        <p:cTn id="33" dur="500"/>
                                        <p:tgtEl>
                                          <p:spTgt spid="7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type="title"/>
          </p:nvPr>
        </p:nvSpPr>
        <p:spPr>
          <a:xfrm>
            <a:off x="552450" y="180975"/>
            <a:ext cx="6073775" cy="474663"/>
          </a:xfrm>
          <a:ln/>
        </p:spPr>
        <p:txBody>
          <a:bodyPr vert="horz" wrap="square" lIns="63500" tIns="25400" rIns="63500" bIns="25400" anchor="t" anchorCtr="0">
            <a:spAutoFit/>
          </a:bodyPr>
          <a:p>
            <a:r>
              <a:rPr lang="zh-CN" altLang="en-US" dirty="0">
                <a:ea typeface="宋体" panose="02010600030101010101" pitchFamily="2" charset="-122"/>
              </a:rPr>
              <a:t>原码除法举例</a:t>
            </a:r>
            <a:endParaRPr lang="zh-CN" altLang="en-US" dirty="0">
              <a:ea typeface="宋体" panose="02010600030101010101" pitchFamily="2" charset="-122"/>
            </a:endParaRPr>
          </a:p>
        </p:txBody>
      </p:sp>
      <p:sp>
        <p:nvSpPr>
          <p:cNvPr id="432131" name="Rectangle 3"/>
          <p:cNvSpPr>
            <a:spLocks noGrp="1"/>
          </p:cNvSpPr>
          <p:nvPr>
            <p:ph idx="1"/>
          </p:nvPr>
        </p:nvSpPr>
        <p:spPr>
          <a:xfrm>
            <a:off x="187325" y="774700"/>
            <a:ext cx="3143250" cy="4378325"/>
          </a:xfrm>
          <a:ln/>
        </p:spPr>
        <p:txBody>
          <a:bodyPr vert="horz" wrap="square" lIns="63500" tIns="25400" rIns="63500" bIns="25400" anchor="t" anchorCtr="0">
            <a:spAutoFit/>
          </a:bodyPr>
          <a:p>
            <a:pPr>
              <a:buNone/>
            </a:pPr>
            <a:r>
              <a:rPr lang="zh-CN" altLang="en-US" sz="1900" dirty="0">
                <a:ea typeface="黑体" panose="02010609060101010101" pitchFamily="49" charset="-122"/>
              </a:rPr>
              <a:t>已知 </a:t>
            </a:r>
            <a:r>
              <a:rPr lang="en-US" altLang="zh-CN" sz="1900" dirty="0">
                <a:ea typeface="黑体" panose="02010609060101010101" pitchFamily="49" charset="-122"/>
              </a:rPr>
              <a:t>[X]</a:t>
            </a:r>
            <a:r>
              <a:rPr lang="zh-CN" altLang="en-US" sz="1900" baseline="-25000" dirty="0">
                <a:ea typeface="黑体" panose="02010609060101010101" pitchFamily="49" charset="-122"/>
              </a:rPr>
              <a:t>原</a:t>
            </a:r>
            <a:r>
              <a:rPr lang="zh-CN" altLang="en-US" sz="1900" dirty="0">
                <a:ea typeface="黑体" panose="02010609060101010101" pitchFamily="49" charset="-122"/>
              </a:rPr>
              <a:t> </a:t>
            </a:r>
            <a:r>
              <a:rPr lang="en-US" altLang="zh-CN" sz="1900" dirty="0">
                <a:ea typeface="黑体" panose="02010609060101010101" pitchFamily="49" charset="-122"/>
              </a:rPr>
              <a:t>= 0.1011 </a:t>
            </a:r>
            <a:endParaRPr lang="en-US" altLang="zh-CN" sz="1900" dirty="0">
              <a:ea typeface="黑体" panose="02010609060101010101" pitchFamily="49" charset="-122"/>
            </a:endParaRPr>
          </a:p>
          <a:p>
            <a:pPr>
              <a:buNone/>
            </a:pPr>
            <a:r>
              <a:rPr lang="en-US" altLang="zh-CN" sz="1900" dirty="0">
                <a:ea typeface="黑体" panose="02010609060101010101" pitchFamily="49" charset="-122"/>
              </a:rPr>
              <a:t>        [Y]</a:t>
            </a:r>
            <a:r>
              <a:rPr lang="zh-CN" altLang="en-US" sz="1900" baseline="-25000" dirty="0">
                <a:ea typeface="黑体" panose="02010609060101010101" pitchFamily="49" charset="-122"/>
              </a:rPr>
              <a:t>原</a:t>
            </a:r>
            <a:r>
              <a:rPr lang="zh-CN" altLang="en-US" sz="1900" dirty="0">
                <a:ea typeface="黑体" panose="02010609060101010101" pitchFamily="49" charset="-122"/>
              </a:rPr>
              <a:t> </a:t>
            </a:r>
            <a:r>
              <a:rPr lang="en-US" altLang="zh-CN" sz="1900" dirty="0">
                <a:ea typeface="黑体" panose="02010609060101010101" pitchFamily="49" charset="-122"/>
              </a:rPr>
              <a:t>= 1.1101 </a:t>
            </a:r>
            <a:endParaRPr lang="zh-CN" altLang="en-US" sz="1900" dirty="0">
              <a:ea typeface="黑体" panose="02010609060101010101" pitchFamily="49" charset="-122"/>
            </a:endParaRPr>
          </a:p>
          <a:p>
            <a:pPr>
              <a:buNone/>
            </a:pPr>
            <a:r>
              <a:rPr lang="zh-CN" altLang="en-US" sz="1900" dirty="0">
                <a:ea typeface="黑体" panose="02010609060101010101" pitchFamily="49" charset="-122"/>
              </a:rPr>
              <a:t>用</a:t>
            </a:r>
            <a:r>
              <a:rPr lang="zh-CN" altLang="en-US" sz="1900" dirty="0">
                <a:solidFill>
                  <a:schemeClr val="accent2"/>
                </a:solidFill>
                <a:ea typeface="黑体" panose="02010609060101010101" pitchFamily="49" charset="-122"/>
              </a:rPr>
              <a:t>恢复余数法</a:t>
            </a:r>
            <a:r>
              <a:rPr lang="zh-CN" altLang="en-US" sz="1900" dirty="0">
                <a:ea typeface="黑体" panose="02010609060101010101" pitchFamily="49" charset="-122"/>
              </a:rPr>
              <a:t>计算</a:t>
            </a:r>
            <a:r>
              <a:rPr lang="en-US" altLang="zh-CN" sz="1900" dirty="0">
                <a:ea typeface="黑体" panose="02010609060101010101" pitchFamily="49" charset="-122"/>
              </a:rPr>
              <a:t>[X/Y]</a:t>
            </a:r>
            <a:r>
              <a:rPr lang="zh-CN" altLang="en-US" sz="1900" baseline="-25000" dirty="0">
                <a:ea typeface="黑体" panose="02010609060101010101" pitchFamily="49" charset="-122"/>
              </a:rPr>
              <a:t>原</a:t>
            </a:r>
            <a:endParaRPr lang="zh-CN" altLang="en-US" sz="1900" baseline="-25000" dirty="0">
              <a:ea typeface="黑体" panose="02010609060101010101" pitchFamily="49" charset="-122"/>
            </a:endParaRPr>
          </a:p>
          <a:p>
            <a:pPr>
              <a:buNone/>
            </a:pPr>
            <a:r>
              <a:rPr lang="zh-CN" altLang="en-US" sz="1900" dirty="0">
                <a:ea typeface="黑体" panose="02010609060101010101" pitchFamily="49" charset="-122"/>
              </a:rPr>
              <a:t>解：商的符号位：</a:t>
            </a:r>
            <a:r>
              <a:rPr lang="en-US" altLang="zh-CN" sz="1900" dirty="0">
                <a:ea typeface="黑体" panose="02010609060101010101" pitchFamily="49" charset="-122"/>
              </a:rPr>
              <a:t>0 </a:t>
            </a:r>
            <a:r>
              <a:rPr lang="en-US" altLang="zh-CN" sz="1900" dirty="0">
                <a:ea typeface="黑体" panose="02010609060101010101" pitchFamily="49" charset="-122"/>
                <a:sym typeface="Symbol" panose="05050102010706020507" pitchFamily="18" charset="2"/>
              </a:rPr>
              <a:t></a:t>
            </a:r>
            <a:r>
              <a:rPr lang="en-US" altLang="zh-CN" sz="1900" dirty="0">
                <a:ea typeface="黑体" panose="02010609060101010101" pitchFamily="49" charset="-122"/>
              </a:rPr>
              <a:t> 1 = 1</a:t>
            </a:r>
            <a:endParaRPr lang="en-US" altLang="zh-CN" sz="1900" dirty="0">
              <a:ea typeface="黑体" panose="02010609060101010101" pitchFamily="49" charset="-122"/>
            </a:endParaRPr>
          </a:p>
          <a:p>
            <a:pPr>
              <a:buNone/>
            </a:pPr>
            <a:r>
              <a:rPr lang="zh-CN" altLang="en-US" sz="1900" dirty="0">
                <a:ea typeface="黑体" panose="02010609060101010101" pitchFamily="49" charset="-122"/>
              </a:rPr>
              <a:t>   </a:t>
            </a:r>
            <a:r>
              <a:rPr lang="zh-CN" altLang="en-US" sz="1900" dirty="0">
                <a:solidFill>
                  <a:srgbClr val="FF0000"/>
                </a:solidFill>
                <a:ea typeface="黑体" panose="02010609060101010101" pitchFamily="49" charset="-122"/>
              </a:rPr>
              <a:t>减法操作用补码加法实现</a:t>
            </a:r>
            <a:r>
              <a:rPr lang="zh-CN" altLang="en-US" sz="1900" dirty="0">
                <a:solidFill>
                  <a:schemeClr val="accent2"/>
                </a:solidFill>
                <a:ea typeface="黑体" panose="02010609060101010101" pitchFamily="49" charset="-122"/>
              </a:rPr>
              <a:t>，是否够减通过中间余数的符号来判断，所以中间余数要加一位符号位。</a:t>
            </a:r>
            <a:endParaRPr lang="zh-CN" altLang="en-US" sz="1900" dirty="0">
              <a:solidFill>
                <a:schemeClr val="accent2"/>
              </a:solidFill>
              <a:ea typeface="黑体" panose="02010609060101010101" pitchFamily="49" charset="-122"/>
            </a:endParaRPr>
          </a:p>
          <a:p>
            <a:pPr>
              <a:buNone/>
            </a:pPr>
            <a:r>
              <a:rPr lang="zh-CN" altLang="en-US" sz="1900" dirty="0">
                <a:ea typeface="黑体" panose="02010609060101010101" pitchFamily="49" charset="-122"/>
              </a:rPr>
              <a:t>   </a:t>
            </a:r>
            <a:r>
              <a:rPr lang="en-US" altLang="zh-CN" sz="1900" dirty="0">
                <a:ea typeface="黑体" panose="02010609060101010101" pitchFamily="49" charset="-122"/>
              </a:rPr>
              <a:t>[|X|]</a:t>
            </a:r>
            <a:r>
              <a:rPr lang="zh-CN" altLang="en-US" sz="1900" baseline="-25000" dirty="0">
                <a:ea typeface="黑体" panose="02010609060101010101" pitchFamily="49" charset="-122"/>
              </a:rPr>
              <a:t>补</a:t>
            </a:r>
            <a:r>
              <a:rPr lang="zh-CN" altLang="en-US" sz="1900" dirty="0">
                <a:ea typeface="黑体" panose="02010609060101010101" pitchFamily="49" charset="-122"/>
              </a:rPr>
              <a:t> </a:t>
            </a:r>
            <a:r>
              <a:rPr lang="en-US" altLang="zh-CN" sz="1900" dirty="0">
                <a:ea typeface="黑体" panose="02010609060101010101" pitchFamily="49" charset="-122"/>
              </a:rPr>
              <a:t>= 0.1011</a:t>
            </a:r>
            <a:endParaRPr lang="en-US" altLang="zh-CN" sz="1900" dirty="0">
              <a:ea typeface="黑体" panose="02010609060101010101" pitchFamily="49" charset="-122"/>
            </a:endParaRPr>
          </a:p>
          <a:p>
            <a:pPr>
              <a:buNone/>
            </a:pPr>
            <a:r>
              <a:rPr lang="en-US" altLang="zh-CN" sz="1900" dirty="0">
                <a:ea typeface="黑体" panose="02010609060101010101" pitchFamily="49" charset="-122"/>
              </a:rPr>
              <a:t>   [|Y|]</a:t>
            </a:r>
            <a:r>
              <a:rPr lang="zh-CN" altLang="en-US" sz="1900" baseline="-25000" dirty="0">
                <a:ea typeface="黑体" panose="02010609060101010101" pitchFamily="49" charset="-122"/>
              </a:rPr>
              <a:t>补</a:t>
            </a:r>
            <a:r>
              <a:rPr lang="zh-CN" altLang="en-US" sz="1900" dirty="0">
                <a:ea typeface="黑体" panose="02010609060101010101" pitchFamily="49" charset="-122"/>
              </a:rPr>
              <a:t> </a:t>
            </a:r>
            <a:r>
              <a:rPr lang="en-US" altLang="zh-CN" sz="1900" dirty="0">
                <a:ea typeface="黑体" panose="02010609060101010101" pitchFamily="49" charset="-122"/>
              </a:rPr>
              <a:t>= 0.1101</a:t>
            </a:r>
            <a:endParaRPr lang="en-US" altLang="zh-CN" sz="1900" dirty="0">
              <a:ea typeface="黑体" panose="02010609060101010101" pitchFamily="49" charset="-122"/>
            </a:endParaRPr>
          </a:p>
          <a:p>
            <a:pPr>
              <a:buNone/>
            </a:pPr>
            <a:r>
              <a:rPr lang="en-US" altLang="zh-CN" sz="1900" dirty="0">
                <a:ea typeface="黑体" panose="02010609060101010101" pitchFamily="49" charset="-122"/>
              </a:rPr>
              <a:t>   [–|Y|]</a:t>
            </a:r>
            <a:r>
              <a:rPr lang="zh-CN" altLang="en-US" sz="1900" baseline="-25000" dirty="0">
                <a:ea typeface="黑体" panose="02010609060101010101" pitchFamily="49" charset="-122"/>
              </a:rPr>
              <a:t>补</a:t>
            </a:r>
            <a:r>
              <a:rPr lang="zh-CN" altLang="en-US" sz="1900" dirty="0">
                <a:ea typeface="黑体" panose="02010609060101010101" pitchFamily="49" charset="-122"/>
              </a:rPr>
              <a:t> </a:t>
            </a:r>
            <a:r>
              <a:rPr lang="en-US" altLang="zh-CN" sz="1900" dirty="0">
                <a:ea typeface="黑体" panose="02010609060101010101" pitchFamily="49" charset="-122"/>
              </a:rPr>
              <a:t>= 1.0011</a:t>
            </a:r>
            <a:endParaRPr lang="zh-CN" altLang="en-US" sz="1900" dirty="0">
              <a:ea typeface="黑体" panose="02010609060101010101" pitchFamily="49" charset="-122"/>
            </a:endParaRPr>
          </a:p>
          <a:p>
            <a:pPr>
              <a:buNone/>
            </a:pPr>
            <a:r>
              <a:rPr lang="zh-CN" altLang="en-US" sz="1900" dirty="0">
                <a:ea typeface="黑体" panose="02010609060101010101" pitchFamily="49" charset="-122"/>
              </a:rPr>
              <a:t>   小数在低位扩展</a:t>
            </a:r>
            <a:r>
              <a:rPr lang="en-US" altLang="zh-CN" sz="1900" dirty="0">
                <a:ea typeface="黑体" panose="02010609060101010101" pitchFamily="49" charset="-122"/>
              </a:rPr>
              <a:t>0</a:t>
            </a:r>
            <a:endParaRPr lang="zh-CN" altLang="en-US" sz="1900" dirty="0">
              <a:ea typeface="黑体" panose="02010609060101010101" pitchFamily="49" charset="-122"/>
            </a:endParaRPr>
          </a:p>
        </p:txBody>
      </p:sp>
      <p:pic>
        <p:nvPicPr>
          <p:cNvPr id="95235" name="Picture 4"/>
          <p:cNvPicPr>
            <a:picLocks noChangeAspect="1"/>
          </p:cNvPicPr>
          <p:nvPr/>
        </p:nvPicPr>
        <p:blipFill>
          <a:blip r:embed="rId1"/>
          <a:stretch>
            <a:fillRect/>
          </a:stretch>
        </p:blipFill>
        <p:spPr>
          <a:xfrm>
            <a:off x="3333750" y="258763"/>
            <a:ext cx="5810250" cy="6257925"/>
          </a:xfrm>
          <a:prstGeom prst="rect">
            <a:avLst/>
          </a:prstGeom>
          <a:noFill/>
          <a:ln w="9525">
            <a:noFill/>
          </a:ln>
        </p:spPr>
      </p:pic>
      <p:sp>
        <p:nvSpPr>
          <p:cNvPr id="432134" name="Rectangle 6"/>
          <p:cNvSpPr/>
          <p:nvPr/>
        </p:nvSpPr>
        <p:spPr>
          <a:xfrm>
            <a:off x="3686175" y="1038225"/>
            <a:ext cx="3295650" cy="247650"/>
          </a:xfrm>
          <a:prstGeom prst="rect">
            <a:avLst/>
          </a:prstGeom>
          <a:noFill/>
          <a:ln w="19050" cap="flat" cmpd="sng">
            <a:solidFill>
              <a:srgbClr val="CC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2136" name="Rectangle 8"/>
          <p:cNvSpPr/>
          <p:nvPr/>
        </p:nvSpPr>
        <p:spPr>
          <a:xfrm>
            <a:off x="3641725" y="1593850"/>
            <a:ext cx="4200525" cy="247650"/>
          </a:xfrm>
          <a:prstGeom prst="rect">
            <a:avLst/>
          </a:prstGeom>
          <a:noFill/>
          <a:ln w="19050" cap="flat" cmpd="sng">
            <a:solidFill>
              <a:srgbClr val="3333FF"/>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2140" name="Text Box 12"/>
          <p:cNvSpPr txBox="1"/>
          <p:nvPr/>
        </p:nvSpPr>
        <p:spPr>
          <a:xfrm>
            <a:off x="187325" y="5153025"/>
            <a:ext cx="3152775" cy="1662113"/>
          </a:xfrm>
          <a:prstGeom prst="rect">
            <a:avLst/>
          </a:prstGeom>
          <a:noFill/>
          <a:ln w="12700">
            <a:noFill/>
          </a:ln>
        </p:spPr>
        <p:txBody>
          <a:bodyPr anchor="t" anchorCtr="0">
            <a:spAutoFit/>
          </a:bodyPr>
          <a:p>
            <a:pPr eaLnBrk="0" hangingPunct="0">
              <a:spcBef>
                <a:spcPct val="50000"/>
              </a:spcBef>
            </a:pPr>
            <a:r>
              <a:rPr lang="zh-CN" altLang="en-US" sz="1900" dirty="0">
                <a:solidFill>
                  <a:srgbClr val="CC0000"/>
                </a:solidFill>
                <a:latin typeface="Arial" panose="020B0604020202020204" pitchFamily="34" charset="0"/>
                <a:ea typeface="黑体" panose="02010609060101010101" pitchFamily="49" charset="-122"/>
              </a:rPr>
              <a:t>思考：若实现无符号数相除，即</a:t>
            </a:r>
            <a:r>
              <a:rPr lang="en-US" altLang="zh-CN" sz="1900" dirty="0">
                <a:solidFill>
                  <a:srgbClr val="CC0000"/>
                </a:solidFill>
                <a:latin typeface="Arial" panose="020B0604020202020204" pitchFamily="34" charset="0"/>
                <a:ea typeface="黑体" panose="02010609060101010101" pitchFamily="49" charset="-122"/>
              </a:rPr>
              <a:t>1011</a:t>
            </a:r>
            <a:r>
              <a:rPr lang="zh-CN" altLang="en-US" sz="1900" dirty="0">
                <a:solidFill>
                  <a:srgbClr val="CC0000"/>
                </a:solidFill>
                <a:latin typeface="Arial" panose="020B0604020202020204" pitchFamily="34" charset="0"/>
                <a:ea typeface="黑体" panose="02010609060101010101" pitchFamily="49" charset="-122"/>
              </a:rPr>
              <a:t>除以</a:t>
            </a:r>
            <a:r>
              <a:rPr lang="en-US" altLang="zh-CN" sz="1900" dirty="0">
                <a:solidFill>
                  <a:srgbClr val="CC0000"/>
                </a:solidFill>
                <a:latin typeface="Arial" panose="020B0604020202020204" pitchFamily="34" charset="0"/>
                <a:ea typeface="黑体" panose="02010609060101010101" pitchFamily="49" charset="-122"/>
              </a:rPr>
              <a:t>1101</a:t>
            </a:r>
            <a:r>
              <a:rPr lang="zh-CN" altLang="en-US" sz="1900" dirty="0">
                <a:solidFill>
                  <a:srgbClr val="CC0000"/>
                </a:solidFill>
                <a:latin typeface="Arial" panose="020B0604020202020204" pitchFamily="34" charset="0"/>
                <a:ea typeface="黑体" panose="02010609060101010101" pitchFamily="49" charset="-122"/>
              </a:rPr>
              <a:t>，则有何不同？结果是什么？</a:t>
            </a:r>
            <a:endParaRPr lang="zh-CN" altLang="en-US" sz="1900" dirty="0">
              <a:solidFill>
                <a:srgbClr val="CC0000"/>
              </a:solidFill>
              <a:latin typeface="Arial" panose="020B0604020202020204" pitchFamily="34" charset="0"/>
              <a:ea typeface="黑体" panose="02010609060101010101" pitchFamily="49" charset="-122"/>
            </a:endParaRPr>
          </a:p>
          <a:p>
            <a:pPr eaLnBrk="0" hangingPunct="0">
              <a:spcBef>
                <a:spcPts val="600"/>
              </a:spcBef>
            </a:pPr>
            <a:r>
              <a:rPr lang="zh-CN" altLang="en-US" sz="2000" dirty="0">
                <a:solidFill>
                  <a:schemeClr val="accent2"/>
                </a:solidFill>
                <a:latin typeface="Arial" panose="020B0604020202020204" pitchFamily="34" charset="0"/>
                <a:ea typeface="黑体" panose="02010609060101010101" pitchFamily="49" charset="-122"/>
              </a:rPr>
              <a:t>被除数高位补</a:t>
            </a:r>
            <a:r>
              <a:rPr lang="en-US" altLang="zh-CN" sz="2000" dirty="0">
                <a:solidFill>
                  <a:schemeClr val="accent2"/>
                </a:solidFill>
                <a:latin typeface="Arial" panose="020B0604020202020204" pitchFamily="34" charset="0"/>
                <a:ea typeface="黑体" panose="02010609060101010101" pitchFamily="49" charset="-122"/>
              </a:rPr>
              <a:t>0</a:t>
            </a:r>
            <a:r>
              <a:rPr lang="zh-CN" altLang="en-US" sz="2000" dirty="0">
                <a:solidFill>
                  <a:schemeClr val="accent2"/>
                </a:solidFill>
                <a:latin typeface="Arial" panose="020B0604020202020204" pitchFamily="34" charset="0"/>
                <a:ea typeface="黑体" panose="02010609060101010101" pitchFamily="49" charset="-122"/>
              </a:rPr>
              <a:t>，</a:t>
            </a:r>
            <a:r>
              <a:rPr lang="en-US" altLang="zh-CN" sz="2000" dirty="0">
                <a:solidFill>
                  <a:schemeClr val="accent2"/>
                </a:solidFill>
                <a:latin typeface="Arial" panose="020B0604020202020204" pitchFamily="34" charset="0"/>
                <a:ea typeface="黑体" panose="02010609060101010101" pitchFamily="49" charset="-122"/>
              </a:rPr>
              <a:t>1011</a:t>
            </a:r>
            <a:r>
              <a:rPr lang="zh-CN" altLang="en-US" sz="2000" dirty="0">
                <a:solidFill>
                  <a:schemeClr val="accent2"/>
                </a:solidFill>
                <a:latin typeface="Arial" panose="020B0604020202020204" pitchFamily="34" charset="0"/>
                <a:ea typeface="黑体" panose="02010609060101010101" pitchFamily="49" charset="-122"/>
              </a:rPr>
              <a:t>除以</a:t>
            </a:r>
            <a:r>
              <a:rPr lang="en-US" altLang="zh-CN" sz="2000" dirty="0">
                <a:solidFill>
                  <a:schemeClr val="accent2"/>
                </a:solidFill>
                <a:latin typeface="Arial" panose="020B0604020202020204" pitchFamily="34" charset="0"/>
                <a:ea typeface="黑体" panose="02010609060101010101" pitchFamily="49" charset="-122"/>
              </a:rPr>
              <a:t>1101</a:t>
            </a:r>
            <a:r>
              <a:rPr lang="zh-CN" altLang="en-US" sz="2000" dirty="0">
                <a:solidFill>
                  <a:schemeClr val="accent2"/>
                </a:solidFill>
                <a:latin typeface="Arial" panose="020B0604020202020204" pitchFamily="34" charset="0"/>
                <a:ea typeface="黑体" panose="02010609060101010101" pitchFamily="49" charset="-122"/>
              </a:rPr>
              <a:t>，结果等于</a:t>
            </a:r>
            <a:r>
              <a:rPr lang="en-US" altLang="zh-CN" sz="2000" dirty="0">
                <a:solidFill>
                  <a:schemeClr val="accent2"/>
                </a:solidFill>
                <a:latin typeface="Arial" panose="020B0604020202020204" pitchFamily="34" charset="0"/>
                <a:ea typeface="黑体" panose="02010609060101010101" pitchFamily="49" charset="-122"/>
              </a:rPr>
              <a:t>0</a:t>
            </a:r>
            <a:endParaRPr lang="en-US" altLang="zh-CN" sz="2000" dirty="0">
              <a:solidFill>
                <a:schemeClr val="accent2"/>
              </a:solidFill>
              <a:latin typeface="Arial" panose="020B0604020202020204" pitchFamily="34" charset="0"/>
              <a:ea typeface="黑体" panose="02010609060101010101" pitchFamily="49" charset="-122"/>
            </a:endParaRPr>
          </a:p>
        </p:txBody>
      </p:sp>
      <p:grpSp>
        <p:nvGrpSpPr>
          <p:cNvPr id="2" name="Group 18"/>
          <p:cNvGrpSpPr/>
          <p:nvPr/>
        </p:nvGrpSpPr>
        <p:grpSpPr>
          <a:xfrm>
            <a:off x="2314575" y="704850"/>
            <a:ext cx="3219450" cy="4133850"/>
            <a:chOff x="1458" y="444"/>
            <a:chExt cx="2028" cy="2604"/>
          </a:xfrm>
        </p:grpSpPr>
        <p:sp>
          <p:nvSpPr>
            <p:cNvPr id="95240" name="Rectangle 11"/>
            <p:cNvSpPr/>
            <p:nvPr/>
          </p:nvSpPr>
          <p:spPr>
            <a:xfrm>
              <a:off x="3126" y="444"/>
              <a:ext cx="360" cy="204"/>
            </a:xfrm>
            <a:prstGeom prst="rect">
              <a:avLst/>
            </a:prstGeom>
            <a:noFill/>
            <a:ln w="28575" cap="flat" cmpd="sng">
              <a:solidFill>
                <a:srgbClr val="FF0066"/>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95241" name="Line 17"/>
            <p:cNvSpPr/>
            <p:nvPr/>
          </p:nvSpPr>
          <p:spPr>
            <a:xfrm flipV="1">
              <a:off x="1458" y="630"/>
              <a:ext cx="1644" cy="2418"/>
            </a:xfrm>
            <a:prstGeom prst="line">
              <a:avLst/>
            </a:prstGeom>
            <a:ln w="28575" cap="flat" cmpd="sng">
              <a:solidFill>
                <a:srgbClr val="FF0066"/>
              </a:solidFill>
              <a:prstDash val="solid"/>
              <a:round/>
              <a:headEnd type="none" w="med" len="med"/>
              <a:tailEnd type="triangle" w="med" len="med"/>
            </a:ln>
          </p:spPr>
        </p:sp>
      </p:grpSp>
      <p:grpSp>
        <p:nvGrpSpPr>
          <p:cNvPr id="72720" name="Group 16"/>
          <p:cNvGrpSpPr/>
          <p:nvPr/>
        </p:nvGrpSpPr>
        <p:grpSpPr>
          <a:xfrm>
            <a:off x="3409950" y="258763"/>
            <a:ext cx="5734050" cy="1855787"/>
            <a:chOff x="2148" y="163"/>
            <a:chExt cx="3612" cy="1169"/>
          </a:xfrm>
        </p:grpSpPr>
        <p:sp>
          <p:nvSpPr>
            <p:cNvPr id="95243" name="Rectangle 14"/>
            <p:cNvSpPr/>
            <p:nvPr/>
          </p:nvSpPr>
          <p:spPr>
            <a:xfrm>
              <a:off x="2148" y="654"/>
              <a:ext cx="3102" cy="678"/>
            </a:xfrm>
            <a:prstGeom prst="rect">
              <a:avLst/>
            </a:prstGeom>
            <a:solidFill>
              <a:srgbClr val="339966">
                <a:alpha val="38039"/>
              </a:srgbClr>
            </a:solidFill>
            <a:ln w="12700">
              <a:noFill/>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95244" name="Text Box 14"/>
            <p:cNvSpPr txBox="1"/>
            <p:nvPr/>
          </p:nvSpPr>
          <p:spPr>
            <a:xfrm>
              <a:off x="5322" y="163"/>
              <a:ext cx="438" cy="750"/>
            </a:xfrm>
            <a:prstGeom prst="rect">
              <a:avLst/>
            </a:prstGeom>
            <a:noFill/>
            <a:ln w="12700">
              <a:noFill/>
            </a:ln>
          </p:spPr>
          <p:txBody>
            <a:bodyPr anchor="t" anchorCtr="0">
              <a:spAutoFit/>
            </a:bodyPr>
            <a:p>
              <a:pPr eaLnBrk="0" hangingPunct="0">
                <a:spcBef>
                  <a:spcPct val="50000"/>
                </a:spcBef>
              </a:pPr>
              <a:r>
                <a:rPr lang="zh-CN" altLang="en-US" sz="1800" dirty="0">
                  <a:latin typeface="Times New Roman" panose="02020603050405020304" pitchFamily="18" charset="0"/>
                  <a:ea typeface="黑体" panose="02010609060101010101" pitchFamily="49" charset="-122"/>
                </a:rPr>
                <a:t>用于判断是否溢出</a:t>
              </a:r>
              <a:endParaRPr lang="zh-CN" altLang="en-US" sz="1800" dirty="0">
                <a:latin typeface="Times New Roman" panose="02020603050405020304" pitchFamily="18" charset="0"/>
                <a:ea typeface="黑体" panose="02010609060101010101" pitchFamily="49" charset="-122"/>
              </a:endParaRPr>
            </a:p>
          </p:txBody>
        </p:sp>
        <p:sp>
          <p:nvSpPr>
            <p:cNvPr id="95245" name="Line 15"/>
            <p:cNvSpPr/>
            <p:nvPr/>
          </p:nvSpPr>
          <p:spPr>
            <a:xfrm flipH="1">
              <a:off x="4961" y="412"/>
              <a:ext cx="430" cy="216"/>
            </a:xfrm>
            <a:prstGeom prst="line">
              <a:avLst/>
            </a:prstGeom>
            <a:ln w="12700" cap="flat" cmpd="sng">
              <a:solidFill>
                <a:srgbClr val="000000"/>
              </a:solidFill>
              <a:prstDash val="solid"/>
              <a:round/>
              <a:headEnd type="none" w="med" len="med"/>
              <a:tailEnd type="triangle" w="med" len="med"/>
            </a:ln>
          </p:spPr>
        </p:sp>
      </p:grpSp>
      <p:grpSp>
        <p:nvGrpSpPr>
          <p:cNvPr id="72723" name="Group 19"/>
          <p:cNvGrpSpPr/>
          <p:nvPr/>
        </p:nvGrpSpPr>
        <p:grpSpPr>
          <a:xfrm>
            <a:off x="4667250" y="5513388"/>
            <a:ext cx="531813" cy="450850"/>
            <a:chOff x="2940" y="3473"/>
            <a:chExt cx="335" cy="284"/>
          </a:xfrm>
        </p:grpSpPr>
        <p:sp>
          <p:nvSpPr>
            <p:cNvPr id="95247" name="Rectangle 17"/>
            <p:cNvSpPr/>
            <p:nvPr/>
          </p:nvSpPr>
          <p:spPr>
            <a:xfrm>
              <a:off x="3172" y="3473"/>
              <a:ext cx="103" cy="198"/>
            </a:xfrm>
            <a:prstGeom prst="rect">
              <a:avLst/>
            </a:prstGeom>
            <a:noFill/>
            <a:ln w="28575" cap="flat" cmpd="sng">
              <a:solidFill>
                <a:srgbClr val="FF0066"/>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95248" name="Line 18"/>
            <p:cNvSpPr/>
            <p:nvPr/>
          </p:nvSpPr>
          <p:spPr>
            <a:xfrm flipV="1">
              <a:off x="2940" y="3585"/>
              <a:ext cx="215" cy="172"/>
            </a:xfrm>
            <a:prstGeom prst="line">
              <a:avLst/>
            </a:prstGeom>
            <a:ln w="12700" cap="flat" cmpd="sng">
              <a:solidFill>
                <a:srgbClr val="FF0066"/>
              </a:solidFill>
              <a:prstDash val="solid"/>
              <a:round/>
              <a:headEnd type="none" w="med" len="med"/>
              <a:tailEnd type="triangle" w="med" len="med"/>
            </a:ln>
          </p:spPr>
        </p:sp>
      </p:grpSp>
      <p:sp>
        <p:nvSpPr>
          <p:cNvPr id="72724" name="Text Box 20"/>
          <p:cNvSpPr txBox="1"/>
          <p:nvPr/>
        </p:nvSpPr>
        <p:spPr>
          <a:xfrm>
            <a:off x="7481888" y="5281613"/>
            <a:ext cx="1543050" cy="714375"/>
          </a:xfrm>
          <a:prstGeom prst="rect">
            <a:avLst/>
          </a:prstGeom>
          <a:solidFill>
            <a:schemeClr val="bg1"/>
          </a:solidFill>
          <a:ln w="12700" cap="flat" cmpd="sng">
            <a:solidFill>
              <a:srgbClr val="990000"/>
            </a:solidFill>
            <a:prstDash val="solid"/>
            <a:miter/>
            <a:headEnd type="none" w="med" len="med"/>
            <a:tailEnd type="none" w="med" len="med"/>
          </a:ln>
        </p:spPr>
        <p:txBody>
          <a:bodyPr anchor="t" anchorCtr="0">
            <a:spAutoFit/>
          </a:bodyPr>
          <a:p>
            <a:pPr eaLnBrk="0" hangingPunct="0">
              <a:spcBef>
                <a:spcPct val="50000"/>
              </a:spcBef>
            </a:pPr>
            <a:r>
              <a:rPr lang="zh-CN" altLang="en-US" sz="2000" dirty="0">
                <a:solidFill>
                  <a:srgbClr val="FF0000"/>
                </a:solidFill>
                <a:latin typeface="黑体" panose="02010609060101010101" pitchFamily="49" charset="-122"/>
                <a:ea typeface="黑体" panose="02010609060101010101" pitchFamily="49" charset="-122"/>
              </a:rPr>
              <a:t>若求</a:t>
            </a:r>
            <a:r>
              <a:rPr lang="en-US" altLang="zh-CN" sz="2000" dirty="0">
                <a:solidFill>
                  <a:srgbClr val="FF0000"/>
                </a:solidFill>
                <a:latin typeface="黑体" panose="02010609060101010101" pitchFamily="49" charset="-122"/>
                <a:ea typeface="黑体" panose="02010609060101010101" pitchFamily="49" charset="-122"/>
              </a:rPr>
              <a:t>[Y/X]</a:t>
            </a:r>
            <a:r>
              <a:rPr lang="zh-CN" altLang="en-US" sz="2000" baseline="-25000" dirty="0">
                <a:solidFill>
                  <a:srgbClr val="FF0000"/>
                </a:solidFill>
                <a:latin typeface="黑体" panose="02010609060101010101" pitchFamily="49" charset="-122"/>
                <a:ea typeface="黑体" panose="02010609060101010101" pitchFamily="49" charset="-122"/>
              </a:rPr>
              <a:t>原</a:t>
            </a:r>
            <a:r>
              <a:rPr lang="zh-CN" altLang="en-US" sz="2000" dirty="0">
                <a:solidFill>
                  <a:srgbClr val="FF0000"/>
                </a:solidFill>
                <a:latin typeface="黑体" panose="02010609060101010101" pitchFamily="49" charset="-122"/>
                <a:ea typeface="黑体" panose="02010609060101010101" pitchFamily="49" charset="-122"/>
              </a:rPr>
              <a:t>结果如何？</a:t>
            </a:r>
            <a:endParaRPr lang="zh-CN" altLang="en-US" sz="2000"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2131">
                                            <p:txEl>
                                              <p:charRg st="56" end="74"/>
                                            </p:txEl>
                                          </p:spTgt>
                                        </p:tgtEl>
                                        <p:attrNameLst>
                                          <p:attrName>style.visibility</p:attrName>
                                        </p:attrNameLst>
                                      </p:cBhvr>
                                      <p:to>
                                        <p:strVal val="visible"/>
                                      </p:to>
                                    </p:set>
                                    <p:animEffect transition="in" filter="blinds(horizontal)">
                                      <p:cBhvr>
                                        <p:cTn id="7" dur="500"/>
                                        <p:tgtEl>
                                          <p:spTgt spid="432131">
                                            <p:txEl>
                                              <p:charRg st="56" end="7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2131">
                                            <p:txEl>
                                              <p:charRg st="74" end="121"/>
                                            </p:txEl>
                                          </p:spTgt>
                                        </p:tgtEl>
                                        <p:attrNameLst>
                                          <p:attrName>style.visibility</p:attrName>
                                        </p:attrNameLst>
                                      </p:cBhvr>
                                      <p:to>
                                        <p:strVal val="visible"/>
                                      </p:to>
                                    </p:set>
                                    <p:animEffect transition="in" filter="blinds(horizontal)">
                                      <p:cBhvr>
                                        <p:cTn id="12" dur="500"/>
                                        <p:tgtEl>
                                          <p:spTgt spid="432131">
                                            <p:txEl>
                                              <p:charRg st="74" end="12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2131">
                                            <p:txEl>
                                              <p:charRg st="121" end="140"/>
                                            </p:txEl>
                                          </p:spTgt>
                                        </p:tgtEl>
                                        <p:attrNameLst>
                                          <p:attrName>style.visibility</p:attrName>
                                        </p:attrNameLst>
                                      </p:cBhvr>
                                      <p:to>
                                        <p:strVal val="visible"/>
                                      </p:to>
                                    </p:set>
                                    <p:animEffect transition="in" filter="blinds(horizontal)">
                                      <p:cBhvr>
                                        <p:cTn id="17" dur="500"/>
                                        <p:tgtEl>
                                          <p:spTgt spid="432131">
                                            <p:txEl>
                                              <p:charRg st="121" end="140"/>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432131">
                                            <p:txEl>
                                              <p:charRg st="140" end="159"/>
                                            </p:txEl>
                                          </p:spTgt>
                                        </p:tgtEl>
                                        <p:attrNameLst>
                                          <p:attrName>style.visibility</p:attrName>
                                        </p:attrNameLst>
                                      </p:cBhvr>
                                      <p:to>
                                        <p:strVal val="visible"/>
                                      </p:to>
                                    </p:set>
                                    <p:animEffect transition="in" filter="blinds(horizontal)">
                                      <p:cBhvr>
                                        <p:cTn id="20" dur="500"/>
                                        <p:tgtEl>
                                          <p:spTgt spid="432131">
                                            <p:txEl>
                                              <p:charRg st="140" end="159"/>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432131">
                                            <p:txEl>
                                              <p:charRg st="159" end="179"/>
                                            </p:txEl>
                                          </p:spTgt>
                                        </p:tgtEl>
                                        <p:attrNameLst>
                                          <p:attrName>style.visibility</p:attrName>
                                        </p:attrNameLst>
                                      </p:cBhvr>
                                      <p:to>
                                        <p:strVal val="visible"/>
                                      </p:to>
                                    </p:set>
                                    <p:animEffect transition="in" filter="blinds(horizontal)">
                                      <p:cBhvr>
                                        <p:cTn id="23" dur="500"/>
                                        <p:tgtEl>
                                          <p:spTgt spid="432131">
                                            <p:txEl>
                                              <p:charRg st="159" end="17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32131">
                                            <p:txEl>
                                              <p:charRg st="179" end="191"/>
                                            </p:txEl>
                                          </p:spTgt>
                                        </p:tgtEl>
                                        <p:attrNameLst>
                                          <p:attrName>style.visibility</p:attrName>
                                        </p:attrNameLst>
                                      </p:cBhvr>
                                      <p:to>
                                        <p:strVal val="visible"/>
                                      </p:to>
                                    </p:set>
                                    <p:animEffect transition="in" filter="blinds(horizontal)">
                                      <p:cBhvr>
                                        <p:cTn id="28" dur="500"/>
                                        <p:tgtEl>
                                          <p:spTgt spid="432131">
                                            <p:txEl>
                                              <p:charRg st="179" end="19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32134"/>
                                        </p:tgtEl>
                                        <p:attrNameLst>
                                          <p:attrName>style.visibility</p:attrName>
                                        </p:attrNameLst>
                                      </p:cBhvr>
                                      <p:to>
                                        <p:strVal val="visible"/>
                                      </p:to>
                                    </p:set>
                                    <p:animEffect transition="in" filter="blinds(horizontal)">
                                      <p:cBhvr>
                                        <p:cTn id="38" dur="500"/>
                                        <p:tgtEl>
                                          <p:spTgt spid="43213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32136"/>
                                        </p:tgtEl>
                                        <p:attrNameLst>
                                          <p:attrName>style.visibility</p:attrName>
                                        </p:attrNameLst>
                                      </p:cBhvr>
                                      <p:to>
                                        <p:strVal val="visible"/>
                                      </p:to>
                                    </p:set>
                                    <p:animEffect transition="in" filter="blinds(horizontal)">
                                      <p:cBhvr>
                                        <p:cTn id="43" dur="500"/>
                                        <p:tgtEl>
                                          <p:spTgt spid="432136"/>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2720"/>
                                        </p:tgtEl>
                                        <p:attrNameLst>
                                          <p:attrName>style.visibility</p:attrName>
                                        </p:attrNameLst>
                                      </p:cBhvr>
                                      <p:to>
                                        <p:strVal val="visible"/>
                                      </p:to>
                                    </p:set>
                                    <p:animEffect transition="in" filter="blinds(horizontal)">
                                      <p:cBhvr>
                                        <p:cTn id="48" dur="500"/>
                                        <p:tgtEl>
                                          <p:spTgt spid="7272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432140">
                                            <p:txEl>
                                              <p:charRg st="0" end="38"/>
                                            </p:txEl>
                                          </p:spTgt>
                                        </p:tgtEl>
                                        <p:attrNameLst>
                                          <p:attrName>style.visibility</p:attrName>
                                        </p:attrNameLst>
                                      </p:cBhvr>
                                      <p:to>
                                        <p:strVal val="visible"/>
                                      </p:to>
                                    </p:set>
                                    <p:animEffect transition="in" filter="blinds(horizontal)">
                                      <p:cBhvr>
                                        <p:cTn id="53" dur="500"/>
                                        <p:tgtEl>
                                          <p:spTgt spid="432140">
                                            <p:txEl>
                                              <p:charRg st="0" end="3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432140">
                                            <p:txEl>
                                              <p:charRg st="38" end="63"/>
                                            </p:txEl>
                                          </p:spTgt>
                                        </p:tgtEl>
                                        <p:attrNameLst>
                                          <p:attrName>style.visibility</p:attrName>
                                        </p:attrNameLst>
                                      </p:cBhvr>
                                      <p:to>
                                        <p:strVal val="visible"/>
                                      </p:to>
                                    </p:set>
                                    <p:animEffect transition="in" filter="blinds(horizontal)">
                                      <p:cBhvr>
                                        <p:cTn id="58" dur="500"/>
                                        <p:tgtEl>
                                          <p:spTgt spid="432140">
                                            <p:txEl>
                                              <p:charRg st="38" end="6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72723"/>
                                        </p:tgtEl>
                                        <p:attrNameLst>
                                          <p:attrName>style.visibility</p:attrName>
                                        </p:attrNameLst>
                                      </p:cBhvr>
                                      <p:to>
                                        <p:strVal val="visible"/>
                                      </p:to>
                                    </p:set>
                                    <p:animEffect transition="in" filter="blinds(horizontal)">
                                      <p:cBhvr>
                                        <p:cTn id="63" dur="500"/>
                                        <p:tgtEl>
                                          <p:spTgt spid="72723"/>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72724"/>
                                        </p:tgtEl>
                                        <p:attrNameLst>
                                          <p:attrName>style.visibility</p:attrName>
                                        </p:attrNameLst>
                                      </p:cBhvr>
                                      <p:to>
                                        <p:strVal val="visible"/>
                                      </p:to>
                                    </p:set>
                                    <p:animEffect transition="in" filter="blinds(horizontal)">
                                      <p:cBhvr>
                                        <p:cTn id="68" dur="500"/>
                                        <p:tgtEl>
                                          <p:spTgt spid="72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4" grpId="0" animBg="1"/>
      <p:bldP spid="432136" grpId="0" animBg="1"/>
      <p:bldP spid="432140" grpId="0" build="allAtOnce"/>
      <p:bldP spid="7272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11"/>
          <p:cNvSpPr>
            <a:spLocks noGrp="1"/>
          </p:cNvSpPr>
          <p:nvPr>
            <p:ph type="title"/>
          </p:nvPr>
        </p:nvSpPr>
        <p:spPr>
          <a:xfrm>
            <a:off x="552450" y="180975"/>
            <a:ext cx="6073775" cy="474663"/>
          </a:xfrm>
          <a:ln/>
        </p:spPr>
        <p:txBody>
          <a:bodyPr vert="horz" wrap="square" lIns="63500" tIns="25400" rIns="63500" bIns="25400" anchor="t" anchorCtr="0">
            <a:spAutoFit/>
          </a:bodyPr>
          <a:p>
            <a:r>
              <a:rPr lang="zh-CN" altLang="en-US" dirty="0">
                <a:ea typeface="宋体" panose="02010600030101010101" pitchFamily="2" charset="-122"/>
              </a:rPr>
              <a:t>原码除法举例</a:t>
            </a:r>
            <a:endParaRPr lang="zh-CN" altLang="en-US" dirty="0">
              <a:ea typeface="宋体" panose="02010600030101010101" pitchFamily="2" charset="-122"/>
            </a:endParaRPr>
          </a:p>
        </p:txBody>
      </p:sp>
      <p:sp>
        <p:nvSpPr>
          <p:cNvPr id="433164" name="Rectangle 12"/>
          <p:cNvSpPr>
            <a:spLocks noGrp="1"/>
          </p:cNvSpPr>
          <p:nvPr>
            <p:ph idx="1"/>
          </p:nvPr>
        </p:nvSpPr>
        <p:spPr>
          <a:xfrm>
            <a:off x="95250" y="774700"/>
            <a:ext cx="3416300" cy="3597275"/>
          </a:xfrm>
          <a:ln/>
        </p:spPr>
        <p:txBody>
          <a:bodyPr vert="horz" wrap="square" lIns="63500" tIns="25400" rIns="63500" bIns="25400" anchor="t" anchorCtr="0">
            <a:spAutoFit/>
          </a:bodyPr>
          <a:p>
            <a:pPr>
              <a:buNone/>
            </a:pPr>
            <a:r>
              <a:rPr lang="zh-CN" altLang="en-US" sz="1800" dirty="0">
                <a:latin typeface="微软雅黑" panose="020B0503020204020204" pitchFamily="34" charset="-122"/>
                <a:ea typeface="微软雅黑" panose="020B0503020204020204" pitchFamily="34" charset="-122"/>
              </a:rPr>
              <a:t>已知 </a:t>
            </a:r>
            <a:r>
              <a:rPr lang="en-US" altLang="zh-CN" sz="1800" dirty="0">
                <a:latin typeface="微软雅黑" panose="020B0503020204020204" pitchFamily="34" charset="-122"/>
                <a:ea typeface="微软雅黑" panose="020B0503020204020204" pitchFamily="34" charset="-122"/>
              </a:rPr>
              <a:t>[X]</a:t>
            </a:r>
            <a:r>
              <a:rPr lang="zh-CN" altLang="en-US" sz="1800" baseline="-25000" dirty="0">
                <a:latin typeface="微软雅黑" panose="020B0503020204020204" pitchFamily="34" charset="-122"/>
                <a:ea typeface="微软雅黑" panose="020B0503020204020204" pitchFamily="34" charset="-122"/>
              </a:rPr>
              <a:t>原</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0.1011 </a:t>
            </a:r>
            <a:endParaRPr lang="en-US" altLang="zh-CN" sz="1800" dirty="0">
              <a:latin typeface="微软雅黑" panose="020B0503020204020204" pitchFamily="34" charset="-122"/>
              <a:ea typeface="微软雅黑" panose="020B0503020204020204" pitchFamily="34" charset="-122"/>
            </a:endParaRPr>
          </a:p>
          <a:p>
            <a:pPr>
              <a:buNone/>
            </a:pPr>
            <a:r>
              <a:rPr lang="en-US" altLang="zh-CN" sz="1800" dirty="0">
                <a:latin typeface="微软雅黑" panose="020B0503020204020204" pitchFamily="34" charset="-122"/>
                <a:ea typeface="微软雅黑" panose="020B0503020204020204" pitchFamily="34" charset="-122"/>
              </a:rPr>
              <a:t>        [Y]</a:t>
            </a:r>
            <a:r>
              <a:rPr lang="zh-CN" altLang="en-US" sz="1800" baseline="-25000" dirty="0">
                <a:latin typeface="微软雅黑" panose="020B0503020204020204" pitchFamily="34" charset="-122"/>
                <a:ea typeface="微软雅黑" panose="020B0503020204020204" pitchFamily="34" charset="-122"/>
              </a:rPr>
              <a:t>原</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1.1101 </a:t>
            </a:r>
            <a:endParaRPr lang="zh-CN" altLang="en-US" sz="1800" dirty="0">
              <a:latin typeface="微软雅黑" panose="020B0503020204020204" pitchFamily="34" charset="-122"/>
              <a:ea typeface="微软雅黑" panose="020B0503020204020204" pitchFamily="34" charset="-122"/>
            </a:endParaRPr>
          </a:p>
          <a:p>
            <a:pPr>
              <a:buNone/>
            </a:pPr>
            <a:r>
              <a:rPr lang="zh-CN" altLang="en-US" sz="1800" dirty="0">
                <a:latin typeface="微软雅黑" panose="020B0503020204020204" pitchFamily="34" charset="-122"/>
                <a:ea typeface="微软雅黑" panose="020B0503020204020204" pitchFamily="34" charset="-122"/>
              </a:rPr>
              <a:t>用</a:t>
            </a:r>
            <a:r>
              <a:rPr lang="zh-CN" altLang="en-US" sz="1800" dirty="0">
                <a:solidFill>
                  <a:schemeClr val="accent2"/>
                </a:solidFill>
                <a:latin typeface="微软雅黑" panose="020B0503020204020204" pitchFamily="34" charset="-122"/>
                <a:ea typeface="微软雅黑" panose="020B0503020204020204" pitchFamily="34" charset="-122"/>
              </a:rPr>
              <a:t>加减交替法</a:t>
            </a:r>
            <a:r>
              <a:rPr lang="zh-CN" altLang="en-US" sz="1800" dirty="0">
                <a:latin typeface="微软雅黑" panose="020B0503020204020204" pitchFamily="34" charset="-122"/>
                <a:ea typeface="微软雅黑" panose="020B0503020204020204" pitchFamily="34" charset="-122"/>
              </a:rPr>
              <a:t>计算</a:t>
            </a:r>
            <a:r>
              <a:rPr lang="en-US" altLang="zh-CN" sz="1800" dirty="0">
                <a:latin typeface="微软雅黑" panose="020B0503020204020204" pitchFamily="34" charset="-122"/>
                <a:ea typeface="微软雅黑" panose="020B0503020204020204" pitchFamily="34" charset="-122"/>
              </a:rPr>
              <a:t>[X/Y]</a:t>
            </a:r>
            <a:r>
              <a:rPr lang="zh-CN" altLang="en-US" sz="1800" baseline="-25000" dirty="0">
                <a:latin typeface="微软雅黑" panose="020B0503020204020204" pitchFamily="34" charset="-122"/>
                <a:ea typeface="微软雅黑" panose="020B0503020204020204" pitchFamily="34" charset="-122"/>
              </a:rPr>
              <a:t>原</a:t>
            </a:r>
            <a:endParaRPr lang="zh-CN" altLang="en-US" sz="1800" baseline="-25000" dirty="0">
              <a:latin typeface="微软雅黑" panose="020B0503020204020204" pitchFamily="34" charset="-122"/>
              <a:ea typeface="微软雅黑" panose="020B0503020204020204" pitchFamily="34" charset="-122"/>
            </a:endParaRPr>
          </a:p>
          <a:p>
            <a:pPr>
              <a:buNone/>
            </a:pPr>
            <a:r>
              <a:rPr lang="zh-CN" altLang="en-US" sz="1800" dirty="0">
                <a:latin typeface="微软雅黑" panose="020B0503020204020204" pitchFamily="34" charset="-122"/>
                <a:ea typeface="微软雅黑" panose="020B0503020204020204" pitchFamily="34" charset="-122"/>
              </a:rPr>
              <a:t>解：</a:t>
            </a:r>
            <a:r>
              <a:rPr lang="en-US" altLang="zh-CN" sz="1800" dirty="0">
                <a:latin typeface="微软雅黑" panose="020B0503020204020204" pitchFamily="34" charset="-122"/>
                <a:ea typeface="微软雅黑" panose="020B0503020204020204" pitchFamily="34" charset="-122"/>
              </a:rPr>
              <a:t>[|X|]</a:t>
            </a:r>
            <a:r>
              <a:rPr lang="zh-CN" altLang="en-US" sz="1800" baseline="-25000" dirty="0">
                <a:latin typeface="微软雅黑" panose="020B0503020204020204" pitchFamily="34" charset="-122"/>
                <a:ea typeface="微软雅黑" panose="020B0503020204020204" pitchFamily="34" charset="-122"/>
              </a:rPr>
              <a:t>补</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0.1011</a:t>
            </a:r>
            <a:endParaRPr lang="en-US" altLang="zh-CN" sz="1800" dirty="0">
              <a:latin typeface="微软雅黑" panose="020B0503020204020204" pitchFamily="34" charset="-122"/>
              <a:ea typeface="微软雅黑" panose="020B0503020204020204" pitchFamily="34" charset="-122"/>
            </a:endParaRPr>
          </a:p>
          <a:p>
            <a:pPr>
              <a:buNone/>
            </a:pPr>
            <a:r>
              <a:rPr lang="en-US" altLang="zh-CN" sz="1800" dirty="0">
                <a:latin typeface="微软雅黑" panose="020B0503020204020204" pitchFamily="34" charset="-122"/>
                <a:ea typeface="微软雅黑" panose="020B0503020204020204" pitchFamily="34" charset="-122"/>
              </a:rPr>
              <a:t>       [|Y|]</a:t>
            </a:r>
            <a:r>
              <a:rPr lang="zh-CN" altLang="en-US" sz="1800" baseline="-25000" dirty="0">
                <a:latin typeface="微软雅黑" panose="020B0503020204020204" pitchFamily="34" charset="-122"/>
                <a:ea typeface="微软雅黑" panose="020B0503020204020204" pitchFamily="34" charset="-122"/>
              </a:rPr>
              <a:t>补</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0.1101</a:t>
            </a:r>
            <a:endParaRPr lang="en-US" altLang="zh-CN" sz="1800" dirty="0">
              <a:latin typeface="微软雅黑" panose="020B0503020204020204" pitchFamily="34" charset="-122"/>
              <a:ea typeface="微软雅黑" panose="020B0503020204020204" pitchFamily="34" charset="-122"/>
            </a:endParaRPr>
          </a:p>
          <a:p>
            <a:pPr>
              <a:buNone/>
            </a:pPr>
            <a:r>
              <a:rPr lang="en-US" altLang="zh-CN" sz="1800" dirty="0">
                <a:latin typeface="微软雅黑" panose="020B0503020204020204" pitchFamily="34" charset="-122"/>
                <a:ea typeface="微软雅黑" panose="020B0503020204020204" pitchFamily="34" charset="-122"/>
              </a:rPr>
              <a:t>       [–|Y|]</a:t>
            </a:r>
            <a:r>
              <a:rPr lang="zh-CN" altLang="en-US" sz="1800" baseline="-25000" dirty="0">
                <a:latin typeface="微软雅黑" panose="020B0503020204020204" pitchFamily="34" charset="-122"/>
                <a:ea typeface="微软雅黑" panose="020B0503020204020204" pitchFamily="34" charset="-122"/>
              </a:rPr>
              <a:t>补</a:t>
            </a: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1.0011</a:t>
            </a:r>
            <a:endParaRPr lang="zh-CN" altLang="en-US" sz="1800" dirty="0">
              <a:latin typeface="微软雅黑" panose="020B0503020204020204" pitchFamily="34" charset="-122"/>
              <a:ea typeface="微软雅黑" panose="020B0503020204020204" pitchFamily="34" charset="-122"/>
            </a:endParaRPr>
          </a:p>
          <a:p>
            <a:pPr>
              <a:buNone/>
            </a:pPr>
            <a:r>
              <a:rPr lang="zh-CN" altLang="en-US" sz="1800" dirty="0">
                <a:latin typeface="微软雅黑" panose="020B0503020204020204" pitchFamily="34" charset="-122"/>
                <a:ea typeface="微软雅黑" panose="020B0503020204020204" pitchFamily="34" charset="-122"/>
              </a:rPr>
              <a:t> </a:t>
            </a:r>
            <a:endParaRPr lang="zh-CN" altLang="en-US" sz="1800" dirty="0">
              <a:latin typeface="微软雅黑" panose="020B0503020204020204" pitchFamily="34" charset="-122"/>
              <a:ea typeface="微软雅黑" panose="020B0503020204020204" pitchFamily="34" charset="-122"/>
            </a:endParaRPr>
          </a:p>
          <a:p>
            <a:pPr>
              <a:buNone/>
            </a:pPr>
            <a:r>
              <a:rPr lang="zh-CN" altLang="en-US" sz="1800" dirty="0">
                <a:latin typeface="微软雅黑" panose="020B0503020204020204" pitchFamily="34" charset="-122"/>
                <a:ea typeface="微软雅黑" panose="020B0503020204020204" pitchFamily="34" charset="-122"/>
              </a:rPr>
              <a:t>“加减交替法”的要点：</a:t>
            </a:r>
            <a:endParaRPr lang="zh-CN" altLang="en-US" sz="1800" dirty="0">
              <a:latin typeface="微软雅黑" panose="020B0503020204020204" pitchFamily="34" charset="-122"/>
              <a:ea typeface="微软雅黑" panose="020B0503020204020204" pitchFamily="34" charset="-122"/>
            </a:endParaRPr>
          </a:p>
          <a:p>
            <a:pPr>
              <a:buNone/>
            </a:pPr>
            <a:r>
              <a:rPr lang="zh-CN" altLang="en-US" sz="1800" dirty="0">
                <a:solidFill>
                  <a:srgbClr val="CC0000"/>
                </a:solidFill>
                <a:latin typeface="微软雅黑" panose="020B0503020204020204" pitchFamily="34" charset="-122"/>
                <a:ea typeface="微软雅黑" panose="020B0503020204020204" pitchFamily="34" charset="-122"/>
              </a:rPr>
              <a:t>   负、</a:t>
            </a:r>
            <a:r>
              <a:rPr lang="en-US" altLang="zh-CN" sz="1800" dirty="0">
                <a:solidFill>
                  <a:srgbClr val="CC0000"/>
                </a:solidFill>
                <a:latin typeface="微软雅黑" panose="020B0503020204020204" pitchFamily="34" charset="-122"/>
                <a:ea typeface="微软雅黑" panose="020B0503020204020204" pitchFamily="34" charset="-122"/>
              </a:rPr>
              <a:t>0</a:t>
            </a:r>
            <a:r>
              <a:rPr lang="zh-CN" altLang="en-US" sz="1800" dirty="0">
                <a:solidFill>
                  <a:srgbClr val="CC0000"/>
                </a:solidFill>
                <a:latin typeface="微软雅黑" panose="020B0503020204020204" pitchFamily="34" charset="-122"/>
                <a:ea typeface="微软雅黑" panose="020B0503020204020204" pitchFamily="34" charset="-122"/>
              </a:rPr>
              <a:t>、加</a:t>
            </a:r>
            <a:endParaRPr lang="zh-CN" altLang="en-US" sz="1800" dirty="0">
              <a:solidFill>
                <a:srgbClr val="CC0000"/>
              </a:solidFill>
              <a:latin typeface="微软雅黑" panose="020B0503020204020204" pitchFamily="34" charset="-122"/>
              <a:ea typeface="微软雅黑" panose="020B0503020204020204" pitchFamily="34" charset="-122"/>
            </a:endParaRPr>
          </a:p>
          <a:p>
            <a:pPr>
              <a:buNone/>
            </a:pPr>
            <a:r>
              <a:rPr lang="zh-CN" altLang="en-US" sz="1800" dirty="0">
                <a:solidFill>
                  <a:schemeClr val="accent2"/>
                </a:solidFill>
                <a:latin typeface="微软雅黑" panose="020B0503020204020204" pitchFamily="34" charset="-122"/>
                <a:ea typeface="微软雅黑" panose="020B0503020204020204" pitchFamily="34" charset="-122"/>
              </a:rPr>
              <a:t>   正、</a:t>
            </a:r>
            <a:r>
              <a:rPr lang="en-US" altLang="zh-CN" sz="1800" dirty="0">
                <a:solidFill>
                  <a:schemeClr val="accent2"/>
                </a:solidFill>
                <a:latin typeface="微软雅黑" panose="020B0503020204020204" pitchFamily="34" charset="-122"/>
                <a:ea typeface="微软雅黑" panose="020B0503020204020204" pitchFamily="34" charset="-122"/>
              </a:rPr>
              <a:t>1</a:t>
            </a:r>
            <a:r>
              <a:rPr lang="zh-CN" altLang="en-US" sz="1800" dirty="0">
                <a:solidFill>
                  <a:schemeClr val="accent2"/>
                </a:solidFill>
                <a:latin typeface="微软雅黑" panose="020B0503020204020204" pitchFamily="34" charset="-122"/>
                <a:ea typeface="微软雅黑" panose="020B0503020204020204" pitchFamily="34" charset="-122"/>
              </a:rPr>
              <a:t>、减</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grpSp>
        <p:nvGrpSpPr>
          <p:cNvPr id="97283" name="Group 34"/>
          <p:cNvGrpSpPr/>
          <p:nvPr/>
        </p:nvGrpSpPr>
        <p:grpSpPr>
          <a:xfrm>
            <a:off x="3238500" y="250825"/>
            <a:ext cx="5705475" cy="5364163"/>
            <a:chOff x="2160" y="459"/>
            <a:chExt cx="3474" cy="3036"/>
          </a:xfrm>
        </p:grpSpPr>
        <p:pic>
          <p:nvPicPr>
            <p:cNvPr id="97284" name="Picture 18"/>
            <p:cNvPicPr>
              <a:picLocks noChangeAspect="1"/>
            </p:cNvPicPr>
            <p:nvPr/>
          </p:nvPicPr>
          <p:blipFill>
            <a:blip r:embed="rId1"/>
            <a:stretch>
              <a:fillRect/>
            </a:stretch>
          </p:blipFill>
          <p:spPr>
            <a:xfrm>
              <a:off x="2160" y="459"/>
              <a:ext cx="3474" cy="3036"/>
            </a:xfrm>
            <a:prstGeom prst="rect">
              <a:avLst/>
            </a:prstGeom>
            <a:noFill/>
            <a:ln w="9525">
              <a:noFill/>
            </a:ln>
          </p:spPr>
        </p:pic>
        <p:grpSp>
          <p:nvGrpSpPr>
            <p:cNvPr id="97285" name="Group 26"/>
            <p:cNvGrpSpPr/>
            <p:nvPr/>
          </p:nvGrpSpPr>
          <p:grpSpPr>
            <a:xfrm>
              <a:off x="2482" y="1132"/>
              <a:ext cx="1092" cy="498"/>
              <a:chOff x="2482" y="1132"/>
              <a:chExt cx="1092" cy="498"/>
            </a:xfrm>
          </p:grpSpPr>
          <p:sp>
            <p:nvSpPr>
              <p:cNvPr id="97286" name="Rectangle 19"/>
              <p:cNvSpPr/>
              <p:nvPr/>
            </p:nvSpPr>
            <p:spPr>
              <a:xfrm>
                <a:off x="2550" y="1140"/>
                <a:ext cx="114" cy="138"/>
              </a:xfrm>
              <a:prstGeom prst="rect">
                <a:avLst/>
              </a:prstGeom>
              <a:noFill/>
              <a:ln w="19050" cap="flat" cmpd="sng">
                <a:solidFill>
                  <a:srgbClr val="CC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97287" name="Rectangle 20"/>
              <p:cNvSpPr/>
              <p:nvPr/>
            </p:nvSpPr>
            <p:spPr>
              <a:xfrm>
                <a:off x="3460" y="1132"/>
                <a:ext cx="114" cy="138"/>
              </a:xfrm>
              <a:prstGeom prst="rect">
                <a:avLst/>
              </a:prstGeom>
              <a:noFill/>
              <a:ln w="19050" cap="flat" cmpd="sng">
                <a:solidFill>
                  <a:srgbClr val="CC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97288" name="Rectangle 21"/>
              <p:cNvSpPr/>
              <p:nvPr/>
            </p:nvSpPr>
            <p:spPr>
              <a:xfrm>
                <a:off x="2482" y="1492"/>
                <a:ext cx="492" cy="138"/>
              </a:xfrm>
              <a:prstGeom prst="rect">
                <a:avLst/>
              </a:prstGeom>
              <a:noFill/>
              <a:ln w="19050" cap="flat" cmpd="sng">
                <a:solidFill>
                  <a:srgbClr val="CC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97289" name="Group 25"/>
            <p:cNvGrpSpPr/>
            <p:nvPr/>
          </p:nvGrpSpPr>
          <p:grpSpPr>
            <a:xfrm>
              <a:off x="2474" y="2216"/>
              <a:ext cx="1092" cy="498"/>
              <a:chOff x="2474" y="2216"/>
              <a:chExt cx="1092" cy="498"/>
            </a:xfrm>
          </p:grpSpPr>
          <p:sp>
            <p:nvSpPr>
              <p:cNvPr id="97290" name="Rectangle 22"/>
              <p:cNvSpPr/>
              <p:nvPr/>
            </p:nvSpPr>
            <p:spPr>
              <a:xfrm>
                <a:off x="2542" y="2224"/>
                <a:ext cx="114" cy="138"/>
              </a:xfrm>
              <a:prstGeom prst="rect">
                <a:avLst/>
              </a:prstGeom>
              <a:noFill/>
              <a:ln w="19050"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97291" name="Rectangle 23"/>
              <p:cNvSpPr/>
              <p:nvPr/>
            </p:nvSpPr>
            <p:spPr>
              <a:xfrm>
                <a:off x="3452" y="2216"/>
                <a:ext cx="114" cy="138"/>
              </a:xfrm>
              <a:prstGeom prst="rect">
                <a:avLst/>
              </a:prstGeom>
              <a:noFill/>
              <a:ln w="19050"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97292" name="Rectangle 24"/>
              <p:cNvSpPr/>
              <p:nvPr/>
            </p:nvSpPr>
            <p:spPr>
              <a:xfrm>
                <a:off x="2474" y="2576"/>
                <a:ext cx="492" cy="138"/>
              </a:xfrm>
              <a:prstGeom prst="rect">
                <a:avLst/>
              </a:prstGeom>
              <a:noFill/>
              <a:ln w="19050"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grpSp>
      </p:grpSp>
      <p:grpSp>
        <p:nvGrpSpPr>
          <p:cNvPr id="5" name="Group 29"/>
          <p:cNvGrpSpPr/>
          <p:nvPr/>
        </p:nvGrpSpPr>
        <p:grpSpPr>
          <a:xfrm>
            <a:off x="457200" y="4714875"/>
            <a:ext cx="3533775" cy="646113"/>
            <a:chOff x="270" y="3018"/>
            <a:chExt cx="2226" cy="407"/>
          </a:xfrm>
        </p:grpSpPr>
        <p:sp>
          <p:nvSpPr>
            <p:cNvPr id="97294" name="Text Box 27"/>
            <p:cNvSpPr txBox="1"/>
            <p:nvPr/>
          </p:nvSpPr>
          <p:spPr>
            <a:xfrm>
              <a:off x="270" y="3018"/>
              <a:ext cx="1518" cy="407"/>
            </a:xfrm>
            <a:prstGeom prst="rect">
              <a:avLst/>
            </a:prstGeom>
            <a:noFill/>
            <a:ln w="12700">
              <a:noFill/>
            </a:ln>
          </p:spPr>
          <p:txBody>
            <a:bodyPr anchor="t" anchorCtr="0">
              <a:spAutoFit/>
            </a:bodyPr>
            <a:p>
              <a:pPr eaLnBrk="0" hangingPunct="0">
                <a:spcBef>
                  <a:spcPct val="50000"/>
                </a:spcBef>
              </a:pPr>
              <a:r>
                <a:rPr lang="zh-CN" altLang="en-US" sz="1800" dirty="0">
                  <a:latin typeface="微软雅黑" panose="020B0503020204020204" pitchFamily="34" charset="-122"/>
                  <a:ea typeface="微软雅黑" panose="020B0503020204020204" pitchFamily="34" charset="-122"/>
                </a:rPr>
                <a:t>得到的结果与恢复余数法一样！</a:t>
              </a:r>
              <a:endParaRPr lang="zh-CN" altLang="en-US" sz="1800" dirty="0">
                <a:latin typeface="微软雅黑" panose="020B0503020204020204" pitchFamily="34" charset="-122"/>
                <a:ea typeface="微软雅黑" panose="020B0503020204020204" pitchFamily="34" charset="-122"/>
              </a:endParaRPr>
            </a:p>
          </p:txBody>
        </p:sp>
        <p:sp>
          <p:nvSpPr>
            <p:cNvPr id="97295" name="Line 28"/>
            <p:cNvSpPr/>
            <p:nvPr/>
          </p:nvSpPr>
          <p:spPr>
            <a:xfrm>
              <a:off x="1452" y="3270"/>
              <a:ext cx="1044" cy="150"/>
            </a:xfrm>
            <a:prstGeom prst="line">
              <a:avLst/>
            </a:prstGeom>
            <a:ln w="12700" cap="flat" cmpd="sng">
              <a:solidFill>
                <a:srgbClr val="000000"/>
              </a:solidFill>
              <a:prstDash val="solid"/>
              <a:round/>
              <a:headEnd type="none" w="med" len="med"/>
              <a:tailEnd type="triangle" w="med" len="med"/>
            </a:ln>
          </p:spPr>
        </p:sp>
      </p:grpSp>
      <p:sp>
        <p:nvSpPr>
          <p:cNvPr id="433182" name="Text Box 30"/>
          <p:cNvSpPr txBox="1"/>
          <p:nvPr/>
        </p:nvSpPr>
        <p:spPr>
          <a:xfrm>
            <a:off x="228600" y="5521325"/>
            <a:ext cx="3836988" cy="979488"/>
          </a:xfrm>
          <a:prstGeom prst="rect">
            <a:avLst/>
          </a:prstGeom>
          <a:noFill/>
          <a:ln w="12700">
            <a:noFill/>
          </a:ln>
        </p:spPr>
        <p:txBody>
          <a:bodyPr anchor="t" anchorCtr="0">
            <a:spAutoFit/>
          </a:bodyPr>
          <a:p>
            <a:pPr eaLnBrk="0" hangingPunct="0">
              <a:spcBef>
                <a:spcPct val="20000"/>
              </a:spcBef>
            </a:pPr>
            <a:r>
              <a:rPr lang="zh-CN" altLang="en-US" sz="1800" dirty="0">
                <a:solidFill>
                  <a:srgbClr val="CC0000"/>
                </a:solidFill>
                <a:latin typeface="微软雅黑" panose="020B0503020204020204" pitchFamily="34" charset="-122"/>
                <a:ea typeface="微软雅黑" panose="020B0503020204020204" pitchFamily="34" charset="-122"/>
              </a:rPr>
              <a:t>用被除数（中间余数）减除数试商时，怎样确定是否“够减”？</a:t>
            </a:r>
            <a:endParaRPr lang="zh-CN" altLang="en-US" sz="1800" dirty="0">
              <a:solidFill>
                <a:srgbClr val="CC0000"/>
              </a:solidFill>
              <a:latin typeface="微软雅黑" panose="020B0503020204020204" pitchFamily="34" charset="-122"/>
              <a:ea typeface="微软雅黑" panose="020B0503020204020204" pitchFamily="34" charset="-122"/>
            </a:endParaRPr>
          </a:p>
          <a:p>
            <a:pPr eaLnBrk="0" hangingPunct="0">
              <a:spcBef>
                <a:spcPct val="20000"/>
              </a:spcBef>
            </a:pPr>
            <a:r>
              <a:rPr lang="zh-CN" altLang="en-US" sz="1800" dirty="0">
                <a:solidFill>
                  <a:schemeClr val="accent2"/>
                </a:solidFill>
                <a:latin typeface="微软雅黑" panose="020B0503020204020204" pitchFamily="34" charset="-122"/>
                <a:ea typeface="微软雅黑" panose="020B0503020204020204" pitchFamily="34" charset="-122"/>
              </a:rPr>
              <a:t>中间余数的符号！（正数</a:t>
            </a:r>
            <a:r>
              <a:rPr lang="en-US" altLang="zh-CN" sz="1800" dirty="0">
                <a:solidFill>
                  <a:schemeClr val="accent2"/>
                </a:solidFill>
                <a:latin typeface="微软雅黑" panose="020B0503020204020204" pitchFamily="34" charset="-122"/>
                <a:ea typeface="微软雅黑" panose="020B0503020204020204" pitchFamily="34" charset="-122"/>
              </a:rPr>
              <a:t>-</a:t>
            </a:r>
            <a:r>
              <a:rPr lang="zh-CN" altLang="en-US" sz="1800" dirty="0">
                <a:solidFill>
                  <a:schemeClr val="accent2"/>
                </a:solidFill>
                <a:latin typeface="微软雅黑" panose="020B0503020204020204" pitchFamily="34" charset="-122"/>
                <a:ea typeface="微软雅黑" panose="020B0503020204020204" pitchFamily="34" charset="-122"/>
              </a:rPr>
              <a:t>正数）</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
        <p:nvSpPr>
          <p:cNvPr id="433183" name="Text Box 31"/>
          <p:cNvSpPr txBox="1"/>
          <p:nvPr/>
        </p:nvSpPr>
        <p:spPr>
          <a:xfrm>
            <a:off x="4271963" y="5878513"/>
            <a:ext cx="2389187" cy="708025"/>
          </a:xfrm>
          <a:prstGeom prst="rect">
            <a:avLst/>
          </a:prstGeom>
          <a:noFill/>
          <a:ln w="127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补码除法能否这样来判断呢？</a:t>
            </a:r>
            <a:endParaRPr lang="zh-CN" altLang="en-US" sz="2000" dirty="0">
              <a:latin typeface="微软雅黑" panose="020B0503020204020204" pitchFamily="34" charset="-122"/>
              <a:ea typeface="微软雅黑" panose="020B0503020204020204" pitchFamily="34" charset="-122"/>
            </a:endParaRPr>
          </a:p>
        </p:txBody>
      </p:sp>
      <p:sp>
        <p:nvSpPr>
          <p:cNvPr id="73748" name="Line 20"/>
          <p:cNvSpPr/>
          <p:nvPr/>
        </p:nvSpPr>
        <p:spPr>
          <a:xfrm flipV="1">
            <a:off x="1484313" y="1684338"/>
            <a:ext cx="2217737" cy="2152650"/>
          </a:xfrm>
          <a:prstGeom prst="line">
            <a:avLst/>
          </a:prstGeom>
          <a:ln w="28575" cap="flat" cmpd="sng">
            <a:solidFill>
              <a:srgbClr val="990000"/>
            </a:solidFill>
            <a:prstDash val="solid"/>
            <a:round/>
            <a:headEnd type="none" w="med" len="med"/>
            <a:tailEnd type="triangle" w="med" len="med"/>
          </a:ln>
        </p:spPr>
      </p:sp>
      <p:sp>
        <p:nvSpPr>
          <p:cNvPr id="73749" name="Line 21"/>
          <p:cNvSpPr/>
          <p:nvPr/>
        </p:nvSpPr>
        <p:spPr>
          <a:xfrm flipV="1">
            <a:off x="1579563" y="3532188"/>
            <a:ext cx="2122487" cy="646112"/>
          </a:xfrm>
          <a:prstGeom prst="line">
            <a:avLst/>
          </a:prstGeom>
          <a:ln w="28575" cap="flat" cmpd="sng">
            <a:solidFill>
              <a:schemeClr val="accent2"/>
            </a:solidFill>
            <a:prstDash val="solid"/>
            <a:round/>
            <a:headEnd type="none" w="med" len="med"/>
            <a:tailEnd type="triangle" w="med" len="med"/>
          </a:ln>
        </p:spPr>
      </p:sp>
      <p:sp>
        <p:nvSpPr>
          <p:cNvPr id="2" name="Text Box 31"/>
          <p:cNvSpPr txBox="1"/>
          <p:nvPr/>
        </p:nvSpPr>
        <p:spPr>
          <a:xfrm>
            <a:off x="7042150" y="5878513"/>
            <a:ext cx="2060575" cy="708025"/>
          </a:xfrm>
          <a:prstGeom prst="rect">
            <a:avLst/>
          </a:prstGeom>
          <a:noFill/>
          <a:ln w="12700">
            <a:noFill/>
          </a:ln>
        </p:spPr>
        <p:txBody>
          <a:bodyPr anchor="t" anchorCtr="0">
            <a:spAutoFit/>
          </a:bodyPr>
          <a:p>
            <a:pPr eaLnBrk="0" hangingPunct="0">
              <a:spcBef>
                <a:spcPct val="50000"/>
              </a:spcBef>
            </a:pPr>
            <a:r>
              <a:rPr lang="zh-CN" altLang="en-US" sz="2000" dirty="0">
                <a:solidFill>
                  <a:srgbClr val="FF0000"/>
                </a:solidFill>
                <a:latin typeface="微软雅黑" panose="020B0503020204020204" pitchFamily="34" charset="-122"/>
                <a:ea typeface="微软雅黑" panose="020B0503020204020204" pitchFamily="34" charset="-122"/>
              </a:rPr>
              <a:t>不能，因为符号可能不同！</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3164">
                                            <p:txEl>
                                              <p:charRg st="56" end="74"/>
                                            </p:txEl>
                                          </p:spTgt>
                                        </p:tgtEl>
                                        <p:attrNameLst>
                                          <p:attrName>style.visibility</p:attrName>
                                        </p:attrNameLst>
                                      </p:cBhvr>
                                      <p:to>
                                        <p:strVal val="visible"/>
                                      </p:to>
                                    </p:set>
                                    <p:animEffect transition="in" filter="blinds(horizontal)">
                                      <p:cBhvr>
                                        <p:cTn id="7" dur="500"/>
                                        <p:tgtEl>
                                          <p:spTgt spid="433164">
                                            <p:txEl>
                                              <p:charRg st="56" end="74"/>
                                            </p:txEl>
                                          </p:spTgt>
                                        </p:tgtEl>
                                      </p:cBhvr>
                                    </p:animEffect>
                                  </p:childTnLst>
                                  <p:subTnLst>
                                    <p:animClr clrSpc="rgb" dir="cw">
                                      <p:cBhvr override="childStyle">
                                        <p:cTn dur="1" fill="hold" display="0" masterRel="nextClick" afterEffect="1"/>
                                        <p:tgtEl>
                                          <p:spTgt spid="433164">
                                            <p:txEl>
                                              <p:charRg st="56" end="74"/>
                                            </p:txEl>
                                          </p:spTgt>
                                        </p:tgtEl>
                                        <p:attrNameLst>
                                          <p:attrName>ppt_c</p:attrName>
                                        </p:attrNameLst>
                                      </p:cBhvr>
                                      <p:to>
                                        <a:srgbClr val="669900"/>
                                      </p:to>
                                    </p:animClr>
                                  </p:subTnLst>
                                </p:cTn>
                              </p:par>
                              <p:par>
                                <p:cTn id="8" presetID="3" presetClass="entr" presetSubtype="10" fill="hold" nodeType="withEffect">
                                  <p:stCondLst>
                                    <p:cond delay="0"/>
                                  </p:stCondLst>
                                  <p:childTnLst>
                                    <p:set>
                                      <p:cBhvr>
                                        <p:cTn id="9" dur="1" fill="hold">
                                          <p:stCondLst>
                                            <p:cond delay="0"/>
                                          </p:stCondLst>
                                        </p:cTn>
                                        <p:tgtEl>
                                          <p:spTgt spid="433164">
                                            <p:txEl>
                                              <p:charRg st="74" end="97"/>
                                            </p:txEl>
                                          </p:spTgt>
                                        </p:tgtEl>
                                        <p:attrNameLst>
                                          <p:attrName>style.visibility</p:attrName>
                                        </p:attrNameLst>
                                      </p:cBhvr>
                                      <p:to>
                                        <p:strVal val="visible"/>
                                      </p:to>
                                    </p:set>
                                    <p:animEffect transition="in" filter="blinds(horizontal)">
                                      <p:cBhvr>
                                        <p:cTn id="10" dur="500"/>
                                        <p:tgtEl>
                                          <p:spTgt spid="433164">
                                            <p:txEl>
                                              <p:charRg st="74" end="97"/>
                                            </p:txEl>
                                          </p:spTgt>
                                        </p:tgtEl>
                                      </p:cBhvr>
                                    </p:animEffect>
                                  </p:childTnLst>
                                  <p:subTnLst>
                                    <p:animClr clrSpc="rgb" dir="cw">
                                      <p:cBhvr override="childStyle">
                                        <p:cTn dur="1" fill="hold" display="0" masterRel="nextClick" afterEffect="1"/>
                                        <p:tgtEl>
                                          <p:spTgt spid="433164">
                                            <p:txEl>
                                              <p:charRg st="74" end="97"/>
                                            </p:txEl>
                                          </p:spTgt>
                                        </p:tgtEl>
                                        <p:attrNameLst>
                                          <p:attrName>ppt_c</p:attrName>
                                        </p:attrNameLst>
                                      </p:cBhvr>
                                      <p:to>
                                        <a:srgbClr val="669900"/>
                                      </p:to>
                                    </p:animClr>
                                  </p:subTnLst>
                                </p:cTn>
                              </p:par>
                              <p:par>
                                <p:cTn id="11" presetID="3" presetClass="entr" presetSubtype="10" fill="hold" nodeType="withEffect">
                                  <p:stCondLst>
                                    <p:cond delay="0"/>
                                  </p:stCondLst>
                                  <p:childTnLst>
                                    <p:set>
                                      <p:cBhvr>
                                        <p:cTn id="12" dur="1" fill="hold">
                                          <p:stCondLst>
                                            <p:cond delay="0"/>
                                          </p:stCondLst>
                                        </p:cTn>
                                        <p:tgtEl>
                                          <p:spTgt spid="433164">
                                            <p:txEl>
                                              <p:charRg st="97" end="121"/>
                                            </p:txEl>
                                          </p:spTgt>
                                        </p:tgtEl>
                                        <p:attrNameLst>
                                          <p:attrName>style.visibility</p:attrName>
                                        </p:attrNameLst>
                                      </p:cBhvr>
                                      <p:to>
                                        <p:strVal val="visible"/>
                                      </p:to>
                                    </p:set>
                                    <p:animEffect transition="in" filter="blinds(horizontal)">
                                      <p:cBhvr>
                                        <p:cTn id="13" dur="500"/>
                                        <p:tgtEl>
                                          <p:spTgt spid="433164">
                                            <p:txEl>
                                              <p:charRg st="97" end="121"/>
                                            </p:txEl>
                                          </p:spTgt>
                                        </p:tgtEl>
                                      </p:cBhvr>
                                    </p:animEffect>
                                  </p:childTnLst>
                                  <p:subTnLst>
                                    <p:animClr clrSpc="rgb" dir="cw">
                                      <p:cBhvr override="childStyle">
                                        <p:cTn dur="1" fill="hold" display="0" masterRel="nextClick" afterEffect="1"/>
                                        <p:tgtEl>
                                          <p:spTgt spid="433164">
                                            <p:txEl>
                                              <p:charRg st="97" end="121"/>
                                            </p:txEl>
                                          </p:spTgt>
                                        </p:tgtEl>
                                        <p:attrNameLst>
                                          <p:attrName>ppt_c</p:attrName>
                                        </p:attrNameLst>
                                      </p:cBhvr>
                                      <p:to>
                                        <a:srgbClr val="669900"/>
                                      </p:to>
                                    </p:animClr>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33164">
                                            <p:txEl>
                                              <p:charRg st="123" end="135"/>
                                            </p:txEl>
                                          </p:spTgt>
                                        </p:tgtEl>
                                        <p:attrNameLst>
                                          <p:attrName>style.visibility</p:attrName>
                                        </p:attrNameLst>
                                      </p:cBhvr>
                                      <p:to>
                                        <p:strVal val="visible"/>
                                      </p:to>
                                    </p:set>
                                    <p:animEffect transition="in" filter="blinds(horizontal)">
                                      <p:cBhvr>
                                        <p:cTn id="18" dur="500"/>
                                        <p:tgtEl>
                                          <p:spTgt spid="433164">
                                            <p:txEl>
                                              <p:charRg st="123" end="135"/>
                                            </p:txEl>
                                          </p:spTgt>
                                        </p:tgtEl>
                                      </p:cBhvr>
                                    </p:animEffect>
                                  </p:childTnLst>
                                  <p:subTnLst>
                                    <p:animClr clrSpc="rgb" dir="cw">
                                      <p:cBhvr override="childStyle">
                                        <p:cTn dur="1" fill="hold" display="0" masterRel="nextClick" afterEffect="1"/>
                                        <p:tgtEl>
                                          <p:spTgt spid="433164">
                                            <p:txEl>
                                              <p:charRg st="123" end="135"/>
                                            </p:txEl>
                                          </p:spTgt>
                                        </p:tgtEl>
                                        <p:attrNameLst>
                                          <p:attrName>ppt_c</p:attrName>
                                        </p:attrNameLst>
                                      </p:cBhvr>
                                      <p:to>
                                        <a:srgbClr val="669900"/>
                                      </p:to>
                                    </p:animClr>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33164">
                                            <p:txEl>
                                              <p:charRg st="135" end="144"/>
                                            </p:txEl>
                                          </p:spTgt>
                                        </p:tgtEl>
                                        <p:attrNameLst>
                                          <p:attrName>style.visibility</p:attrName>
                                        </p:attrNameLst>
                                      </p:cBhvr>
                                      <p:to>
                                        <p:strVal val="visible"/>
                                      </p:to>
                                    </p:set>
                                    <p:animEffect transition="in" filter="blinds(horizontal)">
                                      <p:cBhvr>
                                        <p:cTn id="23" dur="500"/>
                                        <p:tgtEl>
                                          <p:spTgt spid="433164">
                                            <p:txEl>
                                              <p:charRg st="135" end="14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33164">
                                            <p:txEl>
                                              <p:charRg st="144" end="153"/>
                                            </p:txEl>
                                          </p:spTgt>
                                        </p:tgtEl>
                                        <p:attrNameLst>
                                          <p:attrName>style.visibility</p:attrName>
                                        </p:attrNameLst>
                                      </p:cBhvr>
                                      <p:to>
                                        <p:strVal val="visible"/>
                                      </p:to>
                                    </p:set>
                                    <p:animEffect transition="in" filter="blinds(horizontal)">
                                      <p:cBhvr>
                                        <p:cTn id="28" dur="500"/>
                                        <p:tgtEl>
                                          <p:spTgt spid="433164">
                                            <p:txEl>
                                              <p:charRg st="144" end="15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3748"/>
                                        </p:tgtEl>
                                        <p:attrNameLst>
                                          <p:attrName>style.visibility</p:attrName>
                                        </p:attrNameLst>
                                      </p:cBhvr>
                                      <p:to>
                                        <p:strVal val="visible"/>
                                      </p:to>
                                    </p:set>
                                    <p:animEffect transition="in" filter="blinds(horizontal)">
                                      <p:cBhvr>
                                        <p:cTn id="33" dur="500"/>
                                        <p:tgtEl>
                                          <p:spTgt spid="73748"/>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73749"/>
                                        </p:tgtEl>
                                        <p:attrNameLst>
                                          <p:attrName>style.visibility</p:attrName>
                                        </p:attrNameLst>
                                      </p:cBhvr>
                                      <p:to>
                                        <p:strVal val="visible"/>
                                      </p:to>
                                    </p:set>
                                    <p:animEffect transition="in" filter="blinds(horizontal)">
                                      <p:cBhvr>
                                        <p:cTn id="38" dur="500"/>
                                        <p:tgtEl>
                                          <p:spTgt spid="73749"/>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linds(horizontal)">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33182">
                                            <p:txEl>
                                              <p:charRg st="0" end="29"/>
                                            </p:txEl>
                                          </p:spTgt>
                                        </p:tgtEl>
                                        <p:attrNameLst>
                                          <p:attrName>style.visibility</p:attrName>
                                        </p:attrNameLst>
                                      </p:cBhvr>
                                      <p:to>
                                        <p:strVal val="visible"/>
                                      </p:to>
                                    </p:set>
                                    <p:animEffect transition="in" filter="blinds(horizontal)">
                                      <p:cBhvr>
                                        <p:cTn id="48" dur="500"/>
                                        <p:tgtEl>
                                          <p:spTgt spid="433182">
                                            <p:txEl>
                                              <p:charRg st="0" end="2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433182">
                                            <p:txEl>
                                              <p:charRg st="29" end="45"/>
                                            </p:txEl>
                                          </p:spTgt>
                                        </p:tgtEl>
                                        <p:attrNameLst>
                                          <p:attrName>style.visibility</p:attrName>
                                        </p:attrNameLst>
                                      </p:cBhvr>
                                      <p:to>
                                        <p:strVal val="visible"/>
                                      </p:to>
                                    </p:set>
                                    <p:animEffect transition="in" filter="blinds(horizontal)">
                                      <p:cBhvr>
                                        <p:cTn id="53" dur="500"/>
                                        <p:tgtEl>
                                          <p:spTgt spid="433182">
                                            <p:txEl>
                                              <p:charRg st="29" end="4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33183"/>
                                        </p:tgtEl>
                                        <p:attrNameLst>
                                          <p:attrName>style.visibility</p:attrName>
                                        </p:attrNameLst>
                                      </p:cBhvr>
                                      <p:to>
                                        <p:strVal val="visible"/>
                                      </p:to>
                                    </p:set>
                                    <p:animEffect transition="in" filter="blinds(horizontal)">
                                      <p:cBhvr>
                                        <p:cTn id="58" dur="500"/>
                                        <p:tgtEl>
                                          <p:spTgt spid="433183"/>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blinds(horizontal)">
                                      <p:cBhvr>
                                        <p:cTn id="6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83" grpId="0"/>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a:spLocks noGrp="1"/>
          </p:cNvSpPr>
          <p:nvPr>
            <p:ph type="title"/>
          </p:nvPr>
        </p:nvSpPr>
        <p:spPr>
          <a:xfrm>
            <a:off x="800100" y="190500"/>
            <a:ext cx="7112000" cy="479425"/>
          </a:xfrm>
          <a:ln/>
        </p:spPr>
        <p:txBody>
          <a:bodyPr vert="horz" wrap="square" lIns="63500" tIns="25400" rIns="63500" bIns="25400" anchor="t" anchorCtr="0">
            <a:spAutoFit/>
          </a:bodyPr>
          <a:p>
            <a:r>
              <a:rPr lang="zh-CN" altLang="en-US" dirty="0">
                <a:ea typeface="宋体" panose="02010600030101010101" pitchFamily="2" charset="-122"/>
              </a:rPr>
              <a:t>补码除法</a:t>
            </a:r>
            <a:endParaRPr lang="en-US" altLang="zh-CN" dirty="0">
              <a:ea typeface="宋体" panose="02010600030101010101" pitchFamily="2" charset="-122"/>
            </a:endParaRPr>
          </a:p>
        </p:txBody>
      </p:sp>
      <p:sp>
        <p:nvSpPr>
          <p:cNvPr id="99330" name="Rectangle 5"/>
          <p:cNvSpPr>
            <a:spLocks noGrp="1"/>
          </p:cNvSpPr>
          <p:nvPr>
            <p:ph idx="1"/>
          </p:nvPr>
        </p:nvSpPr>
        <p:spPr>
          <a:xfrm>
            <a:off x="425450" y="908050"/>
            <a:ext cx="8191500" cy="1836738"/>
          </a:xfrm>
          <a:ln/>
        </p:spPr>
        <p:txBody>
          <a:bodyPr vert="horz" wrap="square" lIns="63500" tIns="25400" rIns="63500" bIns="25400" anchor="t" anchorCtr="0">
            <a:spAutoFit/>
          </a:bodyPr>
          <a:p>
            <a:pPr>
              <a:lnSpc>
                <a:spcPct val="100000"/>
              </a:lnSpc>
            </a:pPr>
            <a:r>
              <a:rPr lang="zh-CN" altLang="en-US" sz="2000" dirty="0">
                <a:latin typeface="微软雅黑" panose="020B0503020204020204" pitchFamily="34" charset="-122"/>
                <a:ea typeface="微软雅黑" panose="020B0503020204020204" pitchFamily="34" charset="-122"/>
              </a:rPr>
              <a:t>补码除法判断是否“够减”的规则</a:t>
            </a:r>
            <a:endParaRPr lang="zh-CN" altLang="en-US" sz="2000" dirty="0">
              <a:latin typeface="微软雅黑" panose="020B0503020204020204" pitchFamily="34" charset="-122"/>
              <a:ea typeface="微软雅黑" panose="020B0503020204020204" pitchFamily="34" charset="-122"/>
            </a:endParaRPr>
          </a:p>
          <a:p>
            <a:pPr>
              <a:lnSpc>
                <a:spcPct val="100000"/>
              </a:lnSpc>
              <a:spcBef>
                <a:spcPct val="40000"/>
              </a:spcBef>
              <a:buNone/>
            </a:pP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1</a:t>
            </a:r>
            <a:r>
              <a:rPr lang="zh-CN" altLang="en-US" sz="2000" dirty="0">
                <a:solidFill>
                  <a:schemeClr val="accent2"/>
                </a:solidFill>
                <a:latin typeface="微软雅黑" panose="020B0503020204020204" pitchFamily="34" charset="-122"/>
                <a:ea typeface="微软雅黑" panose="020B0503020204020204" pitchFamily="34" charset="-122"/>
              </a:rPr>
              <a:t>）当被除数（或中间余数）与除数同号时，做减法，若新余数的符号与除数符号一致表示够减，否则为不够减；</a:t>
            </a:r>
            <a:endParaRPr lang="zh-CN" altLang="en-US" sz="2000" dirty="0">
              <a:solidFill>
                <a:schemeClr val="accent2"/>
              </a:solidFill>
              <a:latin typeface="微软雅黑" panose="020B0503020204020204" pitchFamily="34" charset="-122"/>
              <a:ea typeface="微软雅黑" panose="020B0503020204020204" pitchFamily="34" charset="-122"/>
            </a:endParaRPr>
          </a:p>
          <a:p>
            <a:pPr>
              <a:lnSpc>
                <a:spcPct val="100000"/>
              </a:lnSpc>
              <a:spcBef>
                <a:spcPct val="40000"/>
              </a:spcBef>
              <a:buNone/>
            </a:pP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2</a:t>
            </a:r>
            <a:r>
              <a:rPr lang="zh-CN" altLang="en-US" sz="2000" dirty="0">
                <a:solidFill>
                  <a:schemeClr val="accent2"/>
                </a:solidFill>
                <a:latin typeface="微软雅黑" panose="020B0503020204020204" pitchFamily="34" charset="-122"/>
                <a:ea typeface="微软雅黑" panose="020B0503020204020204" pitchFamily="34" charset="-122"/>
              </a:rPr>
              <a:t>）当被除数（或中间余数）与除数异号时，做加法，若得到的新余数的符号与除数符号一致表示不够减，否则为够减。</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graphicFrame>
        <p:nvGraphicFramePr>
          <p:cNvPr id="74798" name="Group 46"/>
          <p:cNvGraphicFramePr>
            <a:graphicFrameLocks noGrp="1"/>
          </p:cNvGraphicFramePr>
          <p:nvPr/>
        </p:nvGraphicFramePr>
        <p:xfrm>
          <a:off x="315913" y="3527425"/>
          <a:ext cx="8540750" cy="2590800"/>
        </p:xfrm>
        <a:graphic>
          <a:graphicData uri="http://schemas.openxmlformats.org/drawingml/2006/table">
            <a:tbl>
              <a:tblPr/>
              <a:tblGrid>
                <a:gridCol w="1387475"/>
                <a:gridCol w="1362075"/>
                <a:gridCol w="1528762"/>
                <a:gridCol w="1444625"/>
                <a:gridCol w="1317625"/>
                <a:gridCol w="1500188"/>
              </a:tblGrid>
              <a:tr h="298450">
                <a:tc rowSpan="2">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中间余数</a:t>
                      </a: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R</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的符号</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除数</a:t>
                      </a: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的符号</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同号：新中间余数</a:t>
                      </a: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R–Y</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（同号为正商）</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异号：新中间余数</a:t>
                      </a: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R+Y</a:t>
                      </a: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（异号为负商）</a:t>
                      </a:r>
                      <a:endPar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314325">
                <a:tc vMerge="1">
                  <a:tcPr/>
                </a:tc>
                <a:tc vMerge="1">
                  <a:tcPr/>
                </a:tc>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76325">
                <a:tc>
                  <a:txBody>
                    <a:bodyPr/>
                    <a:lstStyle>
                      <a:lvl1pPr indent="333375">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333375"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333375">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333375"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333375">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333375"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rPr>
                        <a:t>够减</a:t>
                      </a:r>
                      <a:endParaRPr kumimoji="0" lang="zh-CN" altLang="en-US" sz="2000" b="1" i="0" u="none" strike="noStrike" cap="none" normalizeH="0" baseline="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endPar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endPar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不够减</a:t>
                      </a:r>
                      <a:endPar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333375">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333375"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不够减</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rPr>
                        <a:t>够减</a:t>
                      </a:r>
                      <a:endParaRPr kumimoji="0" lang="zh-CN" altLang="en-US" sz="2000" b="1" i="0" u="none" strike="noStrike" cap="none" normalizeH="0" baseline="0" dirty="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333375">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333375" algn="l" defTabSz="914400" rtl="0" eaLnBrk="0" fontAlgn="base" latinLnBrk="0" hangingPunct="0">
                        <a:lnSpc>
                          <a:spcPct val="100000"/>
                        </a:lnSpc>
                        <a:spcBef>
                          <a:spcPct val="25000"/>
                        </a:spcBef>
                        <a:spcAft>
                          <a:spcPct val="0"/>
                        </a:spcAft>
                        <a:buClrTx/>
                        <a:buSzTx/>
                        <a:buFontTx/>
                        <a:buNone/>
                      </a:pP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ctr" defTabSz="914400" rtl="0" eaLnBrk="0" fontAlgn="base" latinLnBrk="0" hangingPunct="0">
                        <a:lnSpc>
                          <a:spcPct val="100000"/>
                        </a:lnSpc>
                        <a:spcBef>
                          <a:spcPct val="2500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够减      </a:t>
                      </a:r>
                      <a:endPar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ctr" defTabSz="914400" rtl="0" eaLnBrk="0" fontAlgn="base" latinLnBrk="0" hangingPunct="0">
                        <a:lnSpc>
                          <a:spcPct val="100000"/>
                        </a:lnSpc>
                        <a:spcBef>
                          <a:spcPct val="25000"/>
                        </a:spcBef>
                        <a:spcAft>
                          <a:spcPct val="0"/>
                        </a:spcAft>
                        <a:buClrTx/>
                        <a:buSzTx/>
                        <a:buFontTx/>
                        <a:buNone/>
                      </a:pPr>
                      <a:r>
                        <a:rPr kumimoji="0" lang="zh-CN" altLang="en-US" sz="2000" b="1" i="0" u="none" strike="noStrike" cap="none" normalizeH="0" baseline="0" dirty="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rPr>
                        <a:t>不够减</a:t>
                      </a:r>
                      <a:endParaRPr kumimoji="0" lang="zh-CN" altLang="en-US" sz="2000" b="1" i="0" u="none" strike="noStrike" cap="none" normalizeH="0" baseline="0" dirty="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333375">
                        <a:lnSpc>
                          <a:spcPct val="110000"/>
                        </a:lnSpc>
                        <a:spcBef>
                          <a:spcPct val="20000"/>
                        </a:spcBef>
                        <a:buClr>
                          <a:schemeClr val="tx1"/>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742950" indent="-285750">
                        <a:lnSpc>
                          <a:spcPct val="110000"/>
                        </a:lnSpc>
                        <a:spcBef>
                          <a:spcPct val="20000"/>
                        </a:spcBef>
                        <a:buSzPct val="100000"/>
                        <a:defRPr b="1">
                          <a:solidFill>
                            <a:srgbClr val="0000FF"/>
                          </a:solidFill>
                          <a:latin typeface="Arial" panose="020B0604020202020204" pitchFamily="34" charset="0"/>
                          <a:ea typeface="宋体" panose="02010600030101010101" pitchFamily="2" charset="-122"/>
                        </a:defRPr>
                      </a:lvl2pPr>
                      <a:lvl3pPr marL="1143000" indent="-228600">
                        <a:lnSpc>
                          <a:spcPct val="110000"/>
                        </a:lnSpc>
                        <a:spcBef>
                          <a:spcPct val="20000"/>
                        </a:spcBef>
                        <a:buSzPct val="100000"/>
                        <a:defRPr sz="1600" b="1">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333375" algn="l" defTabSz="914400" rtl="0" eaLnBrk="0" fontAlgn="base" latinLnBrk="0" hangingPunct="0">
                        <a:lnSpc>
                          <a:spcPct val="100000"/>
                        </a:lnSpc>
                        <a:spcBef>
                          <a:spcPct val="25000"/>
                        </a:spcBef>
                        <a:spcAft>
                          <a:spcPct val="0"/>
                        </a:spcAft>
                        <a:buClrTx/>
                        <a:buSzTx/>
                        <a:buFontTx/>
                        <a:buNone/>
                      </a:pPr>
                      <a:endParaRPr kumimoji="0" lang="zh-CN" altLang="en-US" sz="2000" b="1" i="0" u="none" strike="noStrike" cap="none" normalizeH="0" baseline="0" dirty="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ctr" latinLnBrk="0" hangingPunct="0">
                        <a:lnSpc>
                          <a:spcPct val="100000"/>
                        </a:lnSpc>
                        <a:spcBef>
                          <a:spcPct val="25000"/>
                        </a:spcBef>
                        <a:spcAft>
                          <a:spcPct val="0"/>
                        </a:spcAft>
                        <a:buClrTx/>
                        <a:buSzTx/>
                        <a:buFontTx/>
                        <a:buNone/>
                      </a:pPr>
                      <a:r>
                        <a:rPr kumimoji="0" lang="zh-CN" altLang="en-US" sz="2000" b="1" i="0" u="none" strike="noStrike" cap="none" normalizeH="0" baseline="0" dirty="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rPr>
                        <a:t>不够减    </a:t>
                      </a:r>
                      <a:endParaRPr kumimoji="0" lang="en-US" altLang="zh-CN" sz="2000" b="1" i="0" u="none" strike="noStrike" cap="none" normalizeH="0" baseline="0" dirty="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333375" algn="l" defTabSz="914400" rtl="0" eaLnBrk="0" fontAlgn="ctr" latinLnBrk="0" hangingPunct="0">
                        <a:lnSpc>
                          <a:spcPct val="100000"/>
                        </a:lnSpc>
                        <a:spcBef>
                          <a:spcPct val="25000"/>
                        </a:spcBef>
                        <a:spcAft>
                          <a:spcPct val="0"/>
                        </a:spcAft>
                        <a:buClrTx/>
                        <a:buSzTx/>
                        <a:buFontTx/>
                        <a:buNone/>
                      </a:pPr>
                      <a:r>
                        <a:rPr kumimoji="0" lang="en-US" altLang="zh-CN" sz="2000" b="1" i="0" u="none" strike="noStrike" cap="none" normalizeH="0" baseline="0" dirty="0">
                          <a:ln>
                            <a:noFill/>
                          </a:ln>
                          <a:solidFill>
                            <a:srgbClr val="0099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够减</a:t>
                      </a:r>
                      <a:endPar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9357" name="Rectangle 105"/>
          <p:cNvSpPr/>
          <p:nvPr/>
        </p:nvSpPr>
        <p:spPr>
          <a:xfrm>
            <a:off x="523875" y="4991100"/>
            <a:ext cx="184150" cy="457200"/>
          </a:xfrm>
          <a:prstGeom prst="rect">
            <a:avLst/>
          </a:prstGeom>
          <a:noFill/>
          <a:ln w="12700">
            <a:noFill/>
          </a:ln>
        </p:spPr>
        <p:txBody>
          <a:bodyPr wrap="none" anchor="ctr" anchorCtr="0">
            <a:spAutoFit/>
          </a:bodyPr>
          <a:p>
            <a:pPr eaLnBrk="0" hangingPunct="0"/>
            <a:endParaRPr lang="zh-CN" altLang="en-US" sz="2400" b="0" dirty="0">
              <a:latin typeface="Times New Roman" panose="02020603050405020304" pitchFamily="18" charset="0"/>
              <a:ea typeface="宋体" panose="02010600030101010101" pitchFamily="2" charset="-122"/>
            </a:endParaRPr>
          </a:p>
        </p:txBody>
      </p:sp>
      <p:sp>
        <p:nvSpPr>
          <p:cNvPr id="99358" name="Text Box 107"/>
          <p:cNvSpPr txBox="1"/>
          <p:nvPr/>
        </p:nvSpPr>
        <p:spPr>
          <a:xfrm>
            <a:off x="447675" y="2928938"/>
            <a:ext cx="5743575" cy="427037"/>
          </a:xfrm>
          <a:prstGeom prst="rect">
            <a:avLst/>
          </a:prstGeom>
          <a:noFill/>
          <a:ln w="12700">
            <a:noFill/>
          </a:ln>
        </p:spPr>
        <p:txBody>
          <a:bodyPr anchor="t" anchorCtr="0">
            <a:spAutoFit/>
          </a:bodyPr>
          <a:p>
            <a:pPr eaLnBrk="0" hangingPunct="0">
              <a:spcBef>
                <a:spcPct val="50000"/>
              </a:spcBef>
            </a:pPr>
            <a:r>
              <a:rPr lang="zh-CN" altLang="en-US" sz="2200" dirty="0">
                <a:latin typeface="微软雅黑" panose="020B0503020204020204" pitchFamily="34" charset="-122"/>
                <a:ea typeface="微软雅黑" panose="020B0503020204020204" pitchFamily="34" charset="-122"/>
              </a:rPr>
              <a:t>上述判断规则归纳如下：</a:t>
            </a:r>
            <a:endParaRPr lang="zh-CN" altLang="en-US" sz="2200" dirty="0">
              <a:latin typeface="微软雅黑" panose="020B0503020204020204" pitchFamily="34" charset="-122"/>
              <a:ea typeface="微软雅黑" panose="020B0503020204020204" pitchFamily="34" charset="-122"/>
            </a:endParaRPr>
          </a:p>
        </p:txBody>
      </p:sp>
      <p:sp>
        <p:nvSpPr>
          <p:cNvPr id="74799" name="Text Box 47"/>
          <p:cNvSpPr txBox="1"/>
          <p:nvPr/>
        </p:nvSpPr>
        <p:spPr>
          <a:xfrm>
            <a:off x="258763" y="6264275"/>
            <a:ext cx="5130800" cy="400050"/>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微软雅黑" panose="020B0503020204020204" pitchFamily="34" charset="-122"/>
                <a:ea typeface="微软雅黑" panose="020B0503020204020204" pitchFamily="34" charset="-122"/>
              </a:rPr>
              <a:t>总结：余数变号不够减，不变号够减</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798"/>
                                        </p:tgtEl>
                                        <p:attrNameLst>
                                          <p:attrName>style.visibility</p:attrName>
                                        </p:attrNameLst>
                                      </p:cBhvr>
                                      <p:to>
                                        <p:strVal val="visible"/>
                                      </p:to>
                                    </p:set>
                                    <p:animEffect transition="in" filter="blinds(horizontal)">
                                      <p:cBhvr>
                                        <p:cTn id="7" dur="500"/>
                                        <p:tgtEl>
                                          <p:spTgt spid="747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799"/>
                                        </p:tgtEl>
                                        <p:attrNameLst>
                                          <p:attrName>style.visibility</p:attrName>
                                        </p:attrNameLst>
                                      </p:cBhvr>
                                      <p:to>
                                        <p:strVal val="visible"/>
                                      </p:to>
                                    </p:set>
                                    <p:animEffect transition="in" filter="blinds(horizontal)">
                                      <p:cBhvr>
                                        <p:cTn id="12" dur="500"/>
                                        <p:tgtEl>
                                          <p:spTgt spid="74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9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type="title"/>
          </p:nvPr>
        </p:nvSpPr>
        <p:spPr>
          <a:xfrm>
            <a:off x="800100" y="190500"/>
            <a:ext cx="7112000" cy="474663"/>
          </a:xfrm>
          <a:ln/>
        </p:spPr>
        <p:txBody>
          <a:bodyPr vert="horz" wrap="square" lIns="63500" tIns="25400" rIns="63500" bIns="25400" anchor="t" anchorCtr="0">
            <a:spAutoFit/>
          </a:bodyPr>
          <a:p>
            <a:r>
              <a:rPr lang="zh-CN" altLang="en-US" dirty="0">
                <a:ea typeface="宋体" panose="02010600030101010101" pitchFamily="2" charset="-122"/>
              </a:rPr>
              <a:t>实现补码除法的基本思想  </a:t>
            </a:r>
            <a:endParaRPr lang="en-US" altLang="zh-CN" dirty="0">
              <a:ea typeface="宋体" panose="02010600030101010101" pitchFamily="2" charset="-122"/>
            </a:endParaRPr>
          </a:p>
        </p:txBody>
      </p:sp>
      <p:sp>
        <p:nvSpPr>
          <p:cNvPr id="100354" name="Rectangle 30"/>
          <p:cNvSpPr/>
          <p:nvPr/>
        </p:nvSpPr>
        <p:spPr>
          <a:xfrm>
            <a:off x="523875" y="4062413"/>
            <a:ext cx="184150" cy="457200"/>
          </a:xfrm>
          <a:prstGeom prst="rect">
            <a:avLst/>
          </a:prstGeom>
          <a:noFill/>
          <a:ln w="12700">
            <a:noFill/>
          </a:ln>
        </p:spPr>
        <p:txBody>
          <a:bodyPr wrap="none" anchor="ctr" anchorCtr="0">
            <a:spAutoFit/>
          </a:bodyPr>
          <a:p>
            <a:pPr eaLnBrk="0" hangingPunct="0"/>
            <a:endParaRPr lang="zh-CN" altLang="en-US" sz="2400" b="0" dirty="0">
              <a:latin typeface="Times New Roman" panose="02020603050405020304" pitchFamily="18" charset="0"/>
              <a:ea typeface="宋体" panose="02010600030101010101" pitchFamily="2" charset="-122"/>
            </a:endParaRPr>
          </a:p>
        </p:txBody>
      </p:sp>
      <p:sp>
        <p:nvSpPr>
          <p:cNvPr id="489504" name="Text Box 32"/>
          <p:cNvSpPr txBox="1"/>
          <p:nvPr/>
        </p:nvSpPr>
        <p:spPr>
          <a:xfrm>
            <a:off x="119063" y="923925"/>
            <a:ext cx="8813800" cy="4894263"/>
          </a:xfrm>
          <a:prstGeom prst="rect">
            <a:avLst/>
          </a:prstGeom>
          <a:noFill/>
          <a:ln w="12700">
            <a:noFill/>
          </a:ln>
        </p:spPr>
        <p:txBody>
          <a:bodyPr anchor="t" anchorCtr="0">
            <a:spAutoFit/>
          </a:bodyPr>
          <a:p>
            <a:pPr eaLnBrk="0" hangingPunct="0">
              <a:lnSpc>
                <a:spcPts val="2900"/>
              </a:lnSpc>
              <a:spcBef>
                <a:spcPct val="10000"/>
              </a:spcBef>
            </a:pPr>
            <a:r>
              <a:rPr lang="zh-CN" altLang="en-US" sz="2000" dirty="0">
                <a:latin typeface="微软雅黑" panose="020B0503020204020204" pitchFamily="34" charset="-122"/>
                <a:ea typeface="微软雅黑" panose="020B0503020204020204" pitchFamily="34" charset="-122"/>
              </a:rPr>
              <a:t>从上表可得到补码除法的基本算法思想：</a:t>
            </a:r>
            <a:endParaRPr lang="zh-CN" altLang="en-US" sz="2000" dirty="0">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1</a:t>
            </a:r>
            <a:r>
              <a:rPr lang="zh-CN" altLang="en-US" sz="2000" dirty="0">
                <a:solidFill>
                  <a:schemeClr val="accent2"/>
                </a:solidFill>
                <a:latin typeface="微软雅黑" panose="020B0503020204020204" pitchFamily="34" charset="-122"/>
                <a:ea typeface="微软雅黑" panose="020B0503020204020204" pitchFamily="34" charset="-122"/>
              </a:rPr>
              <a:t>）运算规则：</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chemeClr val="accent2"/>
                </a:solidFill>
                <a:latin typeface="微软雅黑" panose="020B0503020204020204" pitchFamily="34" charset="-122"/>
                <a:ea typeface="微软雅黑" panose="020B0503020204020204" pitchFamily="34" charset="-122"/>
              </a:rPr>
              <a:t>          </a:t>
            </a:r>
            <a:r>
              <a:rPr lang="zh-CN" altLang="en-US" sz="2000" dirty="0">
                <a:solidFill>
                  <a:srgbClr val="CC3300"/>
                </a:solidFill>
                <a:latin typeface="微软雅黑" panose="020B0503020204020204" pitchFamily="34" charset="-122"/>
                <a:ea typeface="微软雅黑" panose="020B0503020204020204" pitchFamily="34" charset="-122"/>
              </a:rPr>
              <a:t>当被除数（或中间余数）与除数同号时，做减法；</a:t>
            </a:r>
            <a:endParaRPr lang="zh-CN" altLang="en-US" sz="2000" dirty="0">
              <a:solidFill>
                <a:srgbClr val="CC3300"/>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rgbClr val="CC3300"/>
                </a:solidFill>
                <a:latin typeface="微软雅黑" panose="020B0503020204020204" pitchFamily="34" charset="-122"/>
                <a:ea typeface="微软雅黑" panose="020B0503020204020204" pitchFamily="34" charset="-122"/>
              </a:rPr>
              <a:t>                                                             异号时，做加法。</a:t>
            </a:r>
            <a:endParaRPr lang="zh-CN" altLang="en-US" sz="2000" dirty="0">
              <a:solidFill>
                <a:srgbClr val="CC3300"/>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2</a:t>
            </a:r>
            <a:r>
              <a:rPr lang="zh-CN" altLang="en-US" sz="2000" dirty="0">
                <a:solidFill>
                  <a:schemeClr val="accent2"/>
                </a:solidFill>
                <a:latin typeface="微软雅黑" panose="020B0503020204020204" pitchFamily="34" charset="-122"/>
                <a:ea typeface="微软雅黑" panose="020B0503020204020204" pitchFamily="34" charset="-122"/>
              </a:rPr>
              <a:t>）上商规则：</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chemeClr val="accent2"/>
                </a:solidFill>
                <a:latin typeface="微软雅黑" panose="020B0503020204020204" pitchFamily="34" charset="-122"/>
                <a:ea typeface="微软雅黑" panose="020B0503020204020204" pitchFamily="34" charset="-122"/>
              </a:rPr>
              <a:t>          </a:t>
            </a:r>
            <a:r>
              <a:rPr lang="zh-CN" altLang="en-US" sz="2000" dirty="0">
                <a:solidFill>
                  <a:srgbClr val="CC3300"/>
                </a:solidFill>
                <a:latin typeface="微软雅黑" panose="020B0503020204020204" pitchFamily="34" charset="-122"/>
                <a:ea typeface="微软雅黑" panose="020B0503020204020204" pitchFamily="34" charset="-122"/>
              </a:rPr>
              <a:t>若余数符号不变，则够减，商</a:t>
            </a:r>
            <a:r>
              <a:rPr lang="en-US" altLang="zh-CN" sz="2000" dirty="0">
                <a:solidFill>
                  <a:srgbClr val="CC3300"/>
                </a:solidFill>
                <a:latin typeface="微软雅黑" panose="020B0503020204020204" pitchFamily="34" charset="-122"/>
                <a:ea typeface="微软雅黑" panose="020B0503020204020204" pitchFamily="34" charset="-122"/>
              </a:rPr>
              <a:t>1</a:t>
            </a:r>
            <a:r>
              <a:rPr lang="zh-CN" altLang="en-US" sz="2000" dirty="0">
                <a:solidFill>
                  <a:srgbClr val="CC3300"/>
                </a:solidFill>
                <a:latin typeface="微软雅黑" panose="020B0503020204020204" pitchFamily="34" charset="-122"/>
                <a:ea typeface="微软雅黑" panose="020B0503020204020204" pitchFamily="34" charset="-122"/>
              </a:rPr>
              <a:t>；否则不够减，商</a:t>
            </a:r>
            <a:r>
              <a:rPr lang="en-US" altLang="zh-CN" sz="2000" dirty="0">
                <a:solidFill>
                  <a:srgbClr val="CC3300"/>
                </a:solidFill>
                <a:latin typeface="微软雅黑" panose="020B0503020204020204" pitchFamily="34" charset="-122"/>
                <a:ea typeface="微软雅黑" panose="020B0503020204020204" pitchFamily="34" charset="-122"/>
              </a:rPr>
              <a:t>0 </a:t>
            </a:r>
            <a:r>
              <a:rPr lang="zh-CN" altLang="en-US" sz="2000" dirty="0">
                <a:solidFill>
                  <a:srgbClr val="CC3300"/>
                </a:solidFill>
                <a:latin typeface="微软雅黑" panose="020B0503020204020204" pitchFamily="34" charset="-122"/>
                <a:ea typeface="微软雅黑" panose="020B0503020204020204" pitchFamily="34" charset="-122"/>
              </a:rPr>
              <a:t>。</a:t>
            </a:r>
            <a:endParaRPr lang="zh-CN" altLang="en-US" sz="2000" dirty="0">
              <a:solidFill>
                <a:srgbClr val="CC3300"/>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3</a:t>
            </a:r>
            <a:r>
              <a:rPr lang="zh-CN" altLang="en-US" sz="2000" dirty="0">
                <a:solidFill>
                  <a:schemeClr val="accent2"/>
                </a:solidFill>
                <a:latin typeface="微软雅黑" panose="020B0503020204020204" pitchFamily="34" charset="-122"/>
                <a:ea typeface="微软雅黑" panose="020B0503020204020204" pitchFamily="34" charset="-122"/>
              </a:rPr>
              <a:t>）修正规则：</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rgbClr val="009900"/>
                </a:solidFill>
                <a:latin typeface="微软雅黑" panose="020B0503020204020204" pitchFamily="34" charset="-122"/>
                <a:ea typeface="微软雅黑" panose="020B0503020204020204" pitchFamily="34" charset="-122"/>
              </a:rPr>
              <a:t>          若被除数与除数符号一致，则商为正。 此时，“够减，商</a:t>
            </a:r>
            <a:r>
              <a:rPr lang="en-US" altLang="zh-CN" sz="2000" dirty="0">
                <a:solidFill>
                  <a:srgbClr val="009900"/>
                </a:solidFill>
                <a:latin typeface="微软雅黑" panose="020B0503020204020204" pitchFamily="34" charset="-122"/>
                <a:ea typeface="微软雅黑" panose="020B0503020204020204" pitchFamily="34" charset="-122"/>
              </a:rPr>
              <a:t>1</a:t>
            </a:r>
            <a:r>
              <a:rPr lang="zh-CN" altLang="en-US" sz="2000" dirty="0">
                <a:solidFill>
                  <a:srgbClr val="009900"/>
                </a:solidFill>
                <a:latin typeface="微软雅黑" panose="020B0503020204020204" pitchFamily="34" charset="-122"/>
                <a:ea typeface="微软雅黑" panose="020B0503020204020204" pitchFamily="34" charset="-122"/>
              </a:rPr>
              <a:t>；  </a:t>
            </a:r>
            <a:endParaRPr lang="zh-CN" altLang="en-US" sz="2000" dirty="0">
              <a:solidFill>
                <a:srgbClr val="009900"/>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rgbClr val="009900"/>
                </a:solidFill>
                <a:latin typeface="微软雅黑" panose="020B0503020204020204" pitchFamily="34" charset="-122"/>
                <a:ea typeface="微软雅黑" panose="020B0503020204020204" pitchFamily="34" charset="-122"/>
              </a:rPr>
              <a:t>     不够减，商</a:t>
            </a:r>
            <a:r>
              <a:rPr lang="en-US" altLang="zh-CN" sz="2000" dirty="0">
                <a:solidFill>
                  <a:srgbClr val="009900"/>
                </a:solidFill>
                <a:latin typeface="微软雅黑" panose="020B0503020204020204" pitchFamily="34" charset="-122"/>
                <a:ea typeface="微软雅黑" panose="020B0503020204020204" pitchFamily="34" charset="-122"/>
              </a:rPr>
              <a:t>0</a:t>
            </a:r>
            <a:r>
              <a:rPr lang="zh-CN" altLang="en-US" sz="2000" dirty="0">
                <a:solidFill>
                  <a:srgbClr val="009900"/>
                </a:solidFill>
                <a:latin typeface="微软雅黑" panose="020B0503020204020204" pitchFamily="34" charset="-122"/>
                <a:ea typeface="微软雅黑" panose="020B0503020204020204" pitchFamily="34" charset="-122"/>
              </a:rPr>
              <a:t>，故上商规则正确，无需修正”</a:t>
            </a:r>
            <a:endParaRPr lang="zh-CN" altLang="en-US" sz="2000" dirty="0">
              <a:solidFill>
                <a:srgbClr val="009900"/>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rgbClr val="009900"/>
                </a:solidFill>
                <a:latin typeface="微软雅黑" panose="020B0503020204020204" pitchFamily="34" charset="-122"/>
                <a:ea typeface="微软雅黑" panose="020B0503020204020204" pitchFamily="34" charset="-122"/>
              </a:rPr>
              <a:t>          若被除数与除数符号不一致，则商为负。此时，“够减，商</a:t>
            </a:r>
            <a:r>
              <a:rPr lang="en-US" altLang="zh-CN" sz="2000" dirty="0">
                <a:solidFill>
                  <a:srgbClr val="009900"/>
                </a:solidFill>
                <a:latin typeface="微软雅黑" panose="020B0503020204020204" pitchFamily="34" charset="-122"/>
                <a:ea typeface="微软雅黑" panose="020B0503020204020204" pitchFamily="34" charset="-122"/>
              </a:rPr>
              <a:t>0</a:t>
            </a:r>
            <a:r>
              <a:rPr lang="zh-CN" altLang="en-US" sz="2000" dirty="0">
                <a:solidFill>
                  <a:srgbClr val="009900"/>
                </a:solidFill>
                <a:latin typeface="微软雅黑" panose="020B0503020204020204" pitchFamily="34" charset="-122"/>
                <a:ea typeface="微软雅黑" panose="020B0503020204020204" pitchFamily="34" charset="-122"/>
              </a:rPr>
              <a:t>；</a:t>
            </a:r>
            <a:endParaRPr lang="zh-CN" altLang="en-US" sz="2000" dirty="0">
              <a:solidFill>
                <a:srgbClr val="009900"/>
              </a:solidFill>
              <a:latin typeface="微软雅黑" panose="020B0503020204020204" pitchFamily="34" charset="-122"/>
              <a:ea typeface="微软雅黑" panose="020B0503020204020204" pitchFamily="34" charset="-122"/>
            </a:endParaRPr>
          </a:p>
          <a:p>
            <a:pPr eaLnBrk="0" hangingPunct="0">
              <a:lnSpc>
                <a:spcPts val="2900"/>
              </a:lnSpc>
              <a:spcBef>
                <a:spcPct val="10000"/>
              </a:spcBef>
            </a:pPr>
            <a:r>
              <a:rPr lang="zh-CN" altLang="en-US" sz="2000" dirty="0">
                <a:solidFill>
                  <a:srgbClr val="009900"/>
                </a:solidFill>
                <a:latin typeface="微软雅黑" panose="020B0503020204020204" pitchFamily="34" charset="-122"/>
                <a:ea typeface="微软雅黑" panose="020B0503020204020204" pitchFamily="34" charset="-122"/>
              </a:rPr>
              <a:t>      不够减，商</a:t>
            </a:r>
            <a:r>
              <a:rPr lang="en-US" altLang="zh-CN" sz="2000" dirty="0">
                <a:solidFill>
                  <a:srgbClr val="009900"/>
                </a:solidFill>
                <a:latin typeface="微软雅黑" panose="020B0503020204020204" pitchFamily="34" charset="-122"/>
                <a:ea typeface="微软雅黑" panose="020B0503020204020204" pitchFamily="34" charset="-122"/>
              </a:rPr>
              <a:t>1</a:t>
            </a:r>
            <a:r>
              <a:rPr lang="zh-CN" altLang="en-US" sz="2000" dirty="0">
                <a:solidFill>
                  <a:srgbClr val="009900"/>
                </a:solidFill>
                <a:latin typeface="微软雅黑" panose="020B0503020204020204" pitchFamily="34" charset="-122"/>
                <a:ea typeface="微软雅黑" panose="020B0503020204020204" pitchFamily="34" charset="-122"/>
              </a:rPr>
              <a:t>，故上商规则相反，需修正</a:t>
            </a:r>
            <a:r>
              <a:rPr lang="en-US" altLang="zh-CN" sz="2000" dirty="0">
                <a:solidFill>
                  <a:srgbClr val="009900"/>
                </a:solidFill>
                <a:latin typeface="微软雅黑" panose="020B0503020204020204" pitchFamily="34" charset="-122"/>
                <a:ea typeface="微软雅黑" panose="020B0503020204020204" pitchFamily="34" charset="-122"/>
              </a:rPr>
              <a:t>”</a:t>
            </a:r>
            <a:endParaRPr lang="en-US" altLang="zh-CN" sz="2000" dirty="0">
              <a:solidFill>
                <a:srgbClr val="009900"/>
              </a:solidFill>
              <a:latin typeface="微软雅黑" panose="020B0503020204020204" pitchFamily="34" charset="-122"/>
              <a:ea typeface="微软雅黑" panose="020B0503020204020204" pitchFamily="34" charset="-122"/>
            </a:endParaRPr>
          </a:p>
          <a:p>
            <a:pPr eaLnBrk="0" hangingPunct="0">
              <a:spcBef>
                <a:spcPct val="10000"/>
              </a:spcBef>
            </a:pPr>
            <a:endParaRPr lang="zh-CN" altLang="en-US" sz="2000" dirty="0">
              <a:solidFill>
                <a:srgbClr val="CC3300"/>
              </a:solidFill>
              <a:latin typeface="微软雅黑" panose="020B0503020204020204" pitchFamily="34" charset="-122"/>
              <a:ea typeface="微软雅黑" panose="020B0503020204020204" pitchFamily="34" charset="-122"/>
            </a:endParaRPr>
          </a:p>
        </p:txBody>
      </p:sp>
      <p:sp>
        <p:nvSpPr>
          <p:cNvPr id="75781" name="Text Box 33"/>
          <p:cNvSpPr txBox="1"/>
          <p:nvPr/>
        </p:nvSpPr>
        <p:spPr>
          <a:xfrm>
            <a:off x="525463" y="6043613"/>
            <a:ext cx="6524625" cy="400050"/>
          </a:xfrm>
          <a:prstGeom prst="rect">
            <a:avLst/>
          </a:prstGeom>
          <a:noFill/>
          <a:ln w="127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补码除法也有：</a:t>
            </a:r>
            <a:r>
              <a:rPr lang="zh-CN" altLang="en-US" sz="2000" dirty="0">
                <a:solidFill>
                  <a:srgbClr val="CC0000"/>
                </a:solidFill>
                <a:latin typeface="微软雅黑" panose="020B0503020204020204" pitchFamily="34" charset="-122"/>
                <a:ea typeface="微软雅黑" panose="020B0503020204020204" pitchFamily="34" charset="-122"/>
              </a:rPr>
              <a:t>恢复余数法</a:t>
            </a:r>
            <a:r>
              <a:rPr lang="zh-CN" altLang="en-US" sz="2000" dirty="0">
                <a:latin typeface="微软雅黑" panose="020B0503020204020204" pitchFamily="34" charset="-122"/>
                <a:ea typeface="微软雅黑" panose="020B0503020204020204" pitchFamily="34" charset="-122"/>
              </a:rPr>
              <a:t>和</a:t>
            </a:r>
            <a:r>
              <a:rPr lang="zh-CN" altLang="en-US" sz="2000" dirty="0">
                <a:solidFill>
                  <a:srgbClr val="CC0000"/>
                </a:solidFill>
                <a:latin typeface="微软雅黑" panose="020B0503020204020204" pitchFamily="34" charset="-122"/>
                <a:ea typeface="微软雅黑" panose="020B0503020204020204" pitchFamily="34" charset="-122"/>
              </a:rPr>
              <a:t>不恢复余数法</a:t>
            </a:r>
            <a:endParaRPr lang="zh-CN" altLang="en-US" sz="2000" dirty="0">
              <a:solidFill>
                <a:srgbClr val="CC0000"/>
              </a:solidFill>
              <a:latin typeface="微软雅黑" panose="020B0503020204020204" pitchFamily="34" charset="-122"/>
              <a:ea typeface="微软雅黑" panose="020B0503020204020204" pitchFamily="34" charset="-122"/>
            </a:endParaRPr>
          </a:p>
        </p:txBody>
      </p:sp>
      <p:sp>
        <p:nvSpPr>
          <p:cNvPr id="100357" name="Text Box 34"/>
          <p:cNvSpPr txBox="1"/>
          <p:nvPr/>
        </p:nvSpPr>
        <p:spPr>
          <a:xfrm>
            <a:off x="7429500" y="6010275"/>
            <a:ext cx="1047750" cy="336550"/>
          </a:xfrm>
          <a:prstGeom prst="rect">
            <a:avLst/>
          </a:prstGeom>
          <a:noFill/>
          <a:ln w="12700">
            <a:noFill/>
          </a:ln>
        </p:spPr>
        <p:txBody>
          <a:bodyPr anchor="t" anchorCtr="0">
            <a:spAutoFit/>
          </a:bodyPr>
          <a:p>
            <a:pPr eaLnBrk="0" hangingPunct="0">
              <a:spcBef>
                <a:spcPct val="50000"/>
              </a:spcBef>
            </a:pPr>
            <a:r>
              <a:rPr lang="en-US" altLang="zh-CN" dirty="0">
                <a:latin typeface="Times New Roman" panose="02020603050405020304" pitchFamily="18" charset="0"/>
                <a:hlinkClick r:id="rId1" action="ppaction://hlinksldjump"/>
              </a:rPr>
              <a:t>SKIP</a:t>
            </a:r>
            <a:endParaRPr lang="en-US" altLang="zh-CN" dirty="0">
              <a:latin typeface="Times New Roman" panose="02020603050405020304" pitchFamily="18" charset="0"/>
            </a:endParaRPr>
          </a:p>
        </p:txBody>
      </p:sp>
      <p:sp>
        <p:nvSpPr>
          <p:cNvPr id="75784" name="Rectangle 8"/>
          <p:cNvSpPr/>
          <p:nvPr/>
        </p:nvSpPr>
        <p:spPr>
          <a:xfrm>
            <a:off x="357188" y="5424488"/>
            <a:ext cx="7602537" cy="407987"/>
          </a:xfrm>
          <a:prstGeom prst="rect">
            <a:avLst/>
          </a:prstGeom>
          <a:noFill/>
          <a:ln w="12700">
            <a:noFill/>
          </a:ln>
        </p:spPr>
        <p:txBody>
          <a:bodyPr wrap="none" anchor="t" anchorCtr="0">
            <a:spAutoFit/>
          </a:bodyPr>
          <a:p>
            <a:pPr eaLnBrk="0" hangingPunct="0">
              <a:lnSpc>
                <a:spcPct val="110000"/>
              </a:lnSpc>
              <a:spcBef>
                <a:spcPct val="20000"/>
              </a:spcBef>
              <a:buClr>
                <a:schemeClr val="tx1"/>
              </a:buClr>
              <a:buSzPct val="60000"/>
              <a:buFont typeface="Wingdings" panose="05000000000000000000" pitchFamily="2" charset="2"/>
            </a:pPr>
            <a:r>
              <a:rPr lang="zh-CN" altLang="en-US" sz="2000" dirty="0">
                <a:solidFill>
                  <a:srgbClr val="FF0066"/>
                </a:solidFill>
                <a:latin typeface="微软雅黑" panose="020B0503020204020204" pitchFamily="34" charset="-122"/>
                <a:ea typeface="微软雅黑" panose="020B0503020204020204" pitchFamily="34" charset="-122"/>
              </a:rPr>
              <a:t>即：若商为负值，则需要“各位取反，末位加</a:t>
            </a:r>
            <a:r>
              <a:rPr lang="en-US" altLang="zh-CN" sz="2000" dirty="0">
                <a:solidFill>
                  <a:srgbClr val="FF0066"/>
                </a:solidFill>
                <a:latin typeface="微软雅黑" panose="020B0503020204020204" pitchFamily="34" charset="-122"/>
                <a:ea typeface="微软雅黑" panose="020B0503020204020204" pitchFamily="34" charset="-122"/>
              </a:rPr>
              <a:t>1”</a:t>
            </a:r>
            <a:r>
              <a:rPr lang="zh-CN" altLang="en-US" sz="2000" dirty="0">
                <a:solidFill>
                  <a:srgbClr val="FF0066"/>
                </a:solidFill>
                <a:latin typeface="微软雅黑" panose="020B0503020204020204" pitchFamily="34" charset="-122"/>
                <a:ea typeface="微软雅黑" panose="020B0503020204020204" pitchFamily="34" charset="-122"/>
              </a:rPr>
              <a:t>来得到真正的商</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9504">
                                            <p:txEl>
                                              <p:charRg st="28" end="61"/>
                                            </p:txEl>
                                          </p:spTgt>
                                        </p:tgtEl>
                                        <p:attrNameLst>
                                          <p:attrName>style.visibility</p:attrName>
                                        </p:attrNameLst>
                                      </p:cBhvr>
                                      <p:to>
                                        <p:strVal val="visible"/>
                                      </p:to>
                                    </p:set>
                                    <p:animEffect transition="in" filter="blinds(horizontal)">
                                      <p:cBhvr>
                                        <p:cTn id="7" dur="500"/>
                                        <p:tgtEl>
                                          <p:spTgt spid="489504">
                                            <p:txEl>
                                              <p:charRg st="28" end="6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89504">
                                            <p:txEl>
                                              <p:charRg st="61" end="131"/>
                                            </p:txEl>
                                          </p:spTgt>
                                        </p:tgtEl>
                                        <p:attrNameLst>
                                          <p:attrName>style.visibility</p:attrName>
                                        </p:attrNameLst>
                                      </p:cBhvr>
                                      <p:to>
                                        <p:strVal val="visible"/>
                                      </p:to>
                                    </p:set>
                                    <p:animEffect transition="in" filter="blinds(horizontal)">
                                      <p:cBhvr>
                                        <p:cTn id="12" dur="500"/>
                                        <p:tgtEl>
                                          <p:spTgt spid="489504">
                                            <p:txEl>
                                              <p:charRg st="61" end="1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9504">
                                            <p:txEl>
                                              <p:charRg st="140" end="176"/>
                                            </p:txEl>
                                          </p:spTgt>
                                        </p:tgtEl>
                                        <p:attrNameLst>
                                          <p:attrName>style.visibility</p:attrName>
                                        </p:attrNameLst>
                                      </p:cBhvr>
                                      <p:to>
                                        <p:strVal val="visible"/>
                                      </p:to>
                                    </p:set>
                                    <p:animEffect transition="in" filter="blinds(horizontal)">
                                      <p:cBhvr>
                                        <p:cTn id="17" dur="500"/>
                                        <p:tgtEl>
                                          <p:spTgt spid="489504">
                                            <p:txEl>
                                              <p:charRg st="140" end="17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89504">
                                            <p:txEl>
                                              <p:charRg st="185" end="226"/>
                                            </p:txEl>
                                          </p:spTgt>
                                        </p:tgtEl>
                                        <p:attrNameLst>
                                          <p:attrName>style.visibility</p:attrName>
                                        </p:attrNameLst>
                                      </p:cBhvr>
                                      <p:to>
                                        <p:strVal val="visible"/>
                                      </p:to>
                                    </p:set>
                                    <p:animEffect transition="in" filter="blinds(horizontal)">
                                      <p:cBhvr>
                                        <p:cTn id="22" dur="500"/>
                                        <p:tgtEl>
                                          <p:spTgt spid="489504">
                                            <p:txEl>
                                              <p:charRg st="185" end="22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89504">
                                            <p:txEl>
                                              <p:charRg st="226" end="252"/>
                                            </p:txEl>
                                          </p:spTgt>
                                        </p:tgtEl>
                                        <p:attrNameLst>
                                          <p:attrName>style.visibility</p:attrName>
                                        </p:attrNameLst>
                                      </p:cBhvr>
                                      <p:to>
                                        <p:strVal val="visible"/>
                                      </p:to>
                                    </p:set>
                                    <p:animEffect transition="in" filter="blinds(horizontal)">
                                      <p:cBhvr>
                                        <p:cTn id="27" dur="500"/>
                                        <p:tgtEl>
                                          <p:spTgt spid="489504">
                                            <p:txEl>
                                              <p:charRg st="226" end="25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89504">
                                            <p:txEl>
                                              <p:charRg st="252" end="291"/>
                                            </p:txEl>
                                          </p:spTgt>
                                        </p:tgtEl>
                                        <p:attrNameLst>
                                          <p:attrName>style.visibility</p:attrName>
                                        </p:attrNameLst>
                                      </p:cBhvr>
                                      <p:to>
                                        <p:strVal val="visible"/>
                                      </p:to>
                                    </p:set>
                                    <p:animEffect transition="in" filter="blinds(horizontal)">
                                      <p:cBhvr>
                                        <p:cTn id="32" dur="500"/>
                                        <p:tgtEl>
                                          <p:spTgt spid="489504">
                                            <p:txEl>
                                              <p:charRg st="252" end="29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89504">
                                            <p:txEl>
                                              <p:charRg st="291" end="317"/>
                                            </p:txEl>
                                          </p:spTgt>
                                        </p:tgtEl>
                                        <p:attrNameLst>
                                          <p:attrName>style.visibility</p:attrName>
                                        </p:attrNameLst>
                                      </p:cBhvr>
                                      <p:to>
                                        <p:strVal val="visible"/>
                                      </p:to>
                                    </p:set>
                                    <p:animEffect transition="in" filter="blinds(horizontal)">
                                      <p:cBhvr>
                                        <p:cTn id="37" dur="500"/>
                                        <p:tgtEl>
                                          <p:spTgt spid="489504">
                                            <p:txEl>
                                              <p:charRg st="291" end="31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5784"/>
                                        </p:tgtEl>
                                        <p:attrNameLst>
                                          <p:attrName>style.visibility</p:attrName>
                                        </p:attrNameLst>
                                      </p:cBhvr>
                                      <p:to>
                                        <p:strVal val="visible"/>
                                      </p:to>
                                    </p:set>
                                    <p:animEffect transition="in" filter="blinds(horizontal)">
                                      <p:cBhvr>
                                        <p:cTn id="42" dur="500"/>
                                        <p:tgtEl>
                                          <p:spTgt spid="7578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5781"/>
                                        </p:tgtEl>
                                        <p:attrNameLst>
                                          <p:attrName>style.visibility</p:attrName>
                                        </p:attrNameLst>
                                      </p:cBhvr>
                                      <p:to>
                                        <p:strVal val="visible"/>
                                      </p:to>
                                    </p:set>
                                    <p:animEffect transition="in" filter="blinds(horizontal)">
                                      <p:cBhvr>
                                        <p:cTn id="47" dur="500"/>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p:bldP spid="7578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补码恢复余数法 </a:t>
            </a:r>
            <a:endParaRPr lang="zh-CN" altLang="en-US" dirty="0">
              <a:ea typeface="宋体" panose="02010600030101010101" pitchFamily="2" charset="-122"/>
            </a:endParaRPr>
          </a:p>
        </p:txBody>
      </p:sp>
      <p:sp>
        <p:nvSpPr>
          <p:cNvPr id="101378" name="Text Box 4"/>
          <p:cNvSpPr>
            <a:spLocks noGrp="1"/>
          </p:cNvSpPr>
          <p:nvPr>
            <p:ph idx="1"/>
          </p:nvPr>
        </p:nvSpPr>
        <p:spPr>
          <a:xfrm>
            <a:off x="234950" y="765175"/>
            <a:ext cx="8909050" cy="3957638"/>
          </a:xfrm>
          <a:ln/>
        </p:spPr>
        <p:txBody>
          <a:bodyPr vert="horz" wrap="square" lIns="63500" tIns="25400" rIns="63500" bIns="25400" anchor="t" anchorCtr="0">
            <a:spAutoFit/>
          </a:bodyPr>
          <a:p>
            <a:pPr marL="419100" indent="-419100"/>
            <a:r>
              <a:rPr lang="zh-CN" altLang="en-US" sz="1800" dirty="0">
                <a:solidFill>
                  <a:srgbClr val="008000"/>
                </a:solidFill>
                <a:latin typeface="微软雅黑" panose="020B0503020204020204" pitchFamily="34" charset="-122"/>
                <a:ea typeface="微软雅黑" panose="020B0503020204020204" pitchFamily="34" charset="-122"/>
              </a:rPr>
              <a:t>两个</a:t>
            </a:r>
            <a:r>
              <a:rPr lang="en-US" altLang="zh-CN" sz="1800" dirty="0">
                <a:solidFill>
                  <a:srgbClr val="008000"/>
                </a:solidFill>
                <a:latin typeface="微软雅黑" panose="020B0503020204020204" pitchFamily="34" charset="-122"/>
                <a:ea typeface="微软雅黑" panose="020B0503020204020204" pitchFamily="34" charset="-122"/>
              </a:rPr>
              <a:t>n</a:t>
            </a:r>
            <a:r>
              <a:rPr lang="zh-CN" altLang="en-US" sz="1800" dirty="0">
                <a:solidFill>
                  <a:srgbClr val="008000"/>
                </a:solidFill>
                <a:latin typeface="微软雅黑" panose="020B0503020204020204" pitchFamily="34" charset="-122"/>
                <a:ea typeface="微软雅黑" panose="020B0503020204020204" pitchFamily="34" charset="-122"/>
              </a:rPr>
              <a:t>位带符号整数</a:t>
            </a:r>
            <a:r>
              <a:rPr lang="zh-CN" altLang="en-US" sz="1800" dirty="0">
                <a:latin typeface="微软雅黑" panose="020B0503020204020204" pitchFamily="34" charset="-122"/>
                <a:ea typeface="微软雅黑" panose="020B0503020204020204" pitchFamily="34" charset="-122"/>
              </a:rPr>
              <a:t>相除算法要点：</a:t>
            </a:r>
            <a:endParaRPr lang="zh-CN" altLang="en-US" sz="1800" dirty="0">
              <a:latin typeface="微软雅黑" panose="020B0503020204020204" pitchFamily="34" charset="-122"/>
              <a:ea typeface="微软雅黑" panose="020B0503020204020204" pitchFamily="34" charset="-122"/>
            </a:endParaRPr>
          </a:p>
          <a:p>
            <a:pPr marL="419100" indent="-419100">
              <a:buClr>
                <a:schemeClr val="accent2"/>
              </a:buClr>
              <a:buNone/>
            </a:pPr>
            <a:r>
              <a:rPr lang="en-US" altLang="zh-CN" sz="1800" dirty="0">
                <a:solidFill>
                  <a:schemeClr val="accent2"/>
                </a:solidFill>
                <a:latin typeface="微软雅黑" panose="020B0503020204020204" pitchFamily="34" charset="-122"/>
                <a:ea typeface="微软雅黑" panose="020B0503020204020204" pitchFamily="34" charset="-122"/>
              </a:rPr>
              <a:t>(1) </a:t>
            </a:r>
            <a:r>
              <a:rPr lang="zh-CN" altLang="en-US" sz="1800" dirty="0">
                <a:solidFill>
                  <a:schemeClr val="accent2"/>
                </a:solidFill>
                <a:latin typeface="微软雅黑" panose="020B0503020204020204" pitchFamily="34" charset="-122"/>
                <a:ea typeface="微软雅黑" panose="020B0503020204020204" pitchFamily="34" charset="-122"/>
              </a:rPr>
              <a:t>操作数的预置：</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zh-CN" altLang="en-US" sz="1800" dirty="0">
                <a:solidFill>
                  <a:schemeClr val="accent2"/>
                </a:solidFill>
                <a:latin typeface="微软雅黑" panose="020B0503020204020204" pitchFamily="34" charset="-122"/>
                <a:ea typeface="微软雅黑" panose="020B0503020204020204" pitchFamily="34" charset="-122"/>
              </a:rPr>
              <a:t>      除数装入除数寄存器</a:t>
            </a:r>
            <a:r>
              <a:rPr lang="en-US" altLang="zh-CN" sz="1800" dirty="0">
                <a:solidFill>
                  <a:schemeClr val="accent2"/>
                </a:solidFill>
                <a:latin typeface="微软雅黑" panose="020B0503020204020204" pitchFamily="34" charset="-122"/>
                <a:ea typeface="微软雅黑" panose="020B0503020204020204" pitchFamily="34" charset="-122"/>
              </a:rPr>
              <a:t>Y</a:t>
            </a:r>
            <a:r>
              <a:rPr lang="zh-CN" altLang="en-US" sz="1800" dirty="0">
                <a:solidFill>
                  <a:schemeClr val="accent2"/>
                </a:solidFill>
                <a:latin typeface="微软雅黑" panose="020B0503020204020204" pitchFamily="34" charset="-122"/>
                <a:ea typeface="微软雅黑" panose="020B0503020204020204" pitchFamily="34" charset="-122"/>
              </a:rPr>
              <a:t>，被除数经</a:t>
            </a:r>
            <a:r>
              <a:rPr lang="zh-CN" altLang="en-US" sz="1800" dirty="0">
                <a:solidFill>
                  <a:srgbClr val="FF0000"/>
                </a:solidFill>
                <a:latin typeface="微软雅黑" panose="020B0503020204020204" pitchFamily="34" charset="-122"/>
                <a:ea typeface="微软雅黑" panose="020B0503020204020204" pitchFamily="34" charset="-122"/>
              </a:rPr>
              <a:t>符号扩展</a:t>
            </a:r>
            <a:r>
              <a:rPr lang="zh-CN" altLang="en-US" sz="1800" dirty="0">
                <a:solidFill>
                  <a:schemeClr val="accent2"/>
                </a:solidFill>
                <a:latin typeface="微软雅黑" panose="020B0503020204020204" pitchFamily="34" charset="-122"/>
                <a:ea typeface="微软雅黑" panose="020B0503020204020204" pitchFamily="34" charset="-122"/>
              </a:rPr>
              <a:t>后装入余数寄存器</a:t>
            </a:r>
            <a:r>
              <a:rPr lang="en-US" altLang="zh-CN" sz="1800" dirty="0">
                <a:solidFill>
                  <a:schemeClr val="accent2"/>
                </a:solidFill>
                <a:latin typeface="微软雅黑" panose="020B0503020204020204" pitchFamily="34" charset="-122"/>
                <a:ea typeface="微软雅黑" panose="020B0503020204020204" pitchFamily="34" charset="-122"/>
              </a:rPr>
              <a:t>R</a:t>
            </a:r>
            <a:r>
              <a:rPr lang="zh-CN" altLang="en-US" sz="1800" dirty="0">
                <a:solidFill>
                  <a:schemeClr val="accent2"/>
                </a:solidFill>
                <a:latin typeface="微软雅黑" panose="020B0503020204020204" pitchFamily="34" charset="-122"/>
                <a:ea typeface="微软雅黑" panose="020B0503020204020204" pitchFamily="34" charset="-122"/>
              </a:rPr>
              <a:t>和余数</a:t>
            </a:r>
            <a:r>
              <a:rPr lang="en-US" altLang="zh-CN" sz="1800" dirty="0">
                <a:solidFill>
                  <a:schemeClr val="accent2"/>
                </a:solidFill>
                <a:latin typeface="微软雅黑" panose="020B0503020204020204" pitchFamily="34" charset="-122"/>
                <a:ea typeface="微软雅黑" panose="020B0503020204020204" pitchFamily="34" charset="-122"/>
              </a:rPr>
              <a:t>/</a:t>
            </a:r>
            <a:r>
              <a:rPr lang="zh-CN" altLang="en-US" sz="1800" dirty="0">
                <a:solidFill>
                  <a:schemeClr val="accent2"/>
                </a:solidFill>
                <a:latin typeface="微软雅黑" panose="020B0503020204020204" pitchFamily="34" charset="-122"/>
                <a:ea typeface="微软雅黑" panose="020B0503020204020204" pitchFamily="34" charset="-122"/>
              </a:rPr>
              <a:t>商寄存器</a:t>
            </a:r>
            <a:r>
              <a:rPr lang="en-US" altLang="zh-CN" sz="1800" dirty="0">
                <a:solidFill>
                  <a:schemeClr val="accent2"/>
                </a:solidFill>
                <a:latin typeface="微软雅黑" panose="020B0503020204020204" pitchFamily="34" charset="-122"/>
                <a:ea typeface="微软雅黑" panose="020B0503020204020204" pitchFamily="34" charset="-122"/>
              </a:rPr>
              <a:t>Q</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en-US" altLang="zh-CN" sz="1800" dirty="0">
                <a:solidFill>
                  <a:schemeClr val="accent2"/>
                </a:solidFill>
                <a:latin typeface="微软雅黑" panose="020B0503020204020204" pitchFamily="34" charset="-122"/>
                <a:ea typeface="微软雅黑" panose="020B0503020204020204" pitchFamily="34" charset="-122"/>
              </a:rPr>
              <a:t>(2)  R</a:t>
            </a:r>
            <a:r>
              <a:rPr lang="zh-CN" altLang="en-US" sz="1800" dirty="0">
                <a:solidFill>
                  <a:schemeClr val="accent2"/>
                </a:solidFill>
                <a:latin typeface="微软雅黑" panose="020B0503020204020204" pitchFamily="34" charset="-122"/>
                <a:ea typeface="微软雅黑" panose="020B0503020204020204" pitchFamily="34" charset="-122"/>
              </a:rPr>
              <a:t>和</a:t>
            </a:r>
            <a:r>
              <a:rPr lang="en-US" altLang="zh-CN" sz="1800" dirty="0">
                <a:solidFill>
                  <a:schemeClr val="accent2"/>
                </a:solidFill>
                <a:latin typeface="微软雅黑" panose="020B0503020204020204" pitchFamily="34" charset="-122"/>
                <a:ea typeface="微软雅黑" panose="020B0503020204020204" pitchFamily="34" charset="-122"/>
              </a:rPr>
              <a:t>Q</a:t>
            </a:r>
            <a:r>
              <a:rPr lang="zh-CN" altLang="en-US" sz="1800" dirty="0">
                <a:solidFill>
                  <a:schemeClr val="accent2"/>
                </a:solidFill>
                <a:latin typeface="微软雅黑" panose="020B0503020204020204" pitchFamily="34" charset="-122"/>
                <a:ea typeface="微软雅黑" panose="020B0503020204020204" pitchFamily="34" charset="-122"/>
              </a:rPr>
              <a:t>同步串行左移一位。</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en-US" altLang="zh-CN" sz="1800" dirty="0">
                <a:solidFill>
                  <a:schemeClr val="accent2"/>
                </a:solidFill>
                <a:latin typeface="微软雅黑" panose="020B0503020204020204" pitchFamily="34" charset="-122"/>
                <a:ea typeface="微软雅黑" panose="020B0503020204020204" pitchFamily="34" charset="-122"/>
              </a:rPr>
              <a:t>(3) </a:t>
            </a:r>
            <a:r>
              <a:rPr lang="zh-CN" altLang="en-US" sz="1800" dirty="0">
                <a:solidFill>
                  <a:schemeClr val="accent2"/>
                </a:solidFill>
                <a:latin typeface="微软雅黑" panose="020B0503020204020204" pitchFamily="34" charset="-122"/>
                <a:ea typeface="微软雅黑" panose="020B0503020204020204" pitchFamily="34" charset="-122"/>
              </a:rPr>
              <a:t>若</a:t>
            </a:r>
            <a:r>
              <a:rPr lang="en-US" altLang="zh-CN" sz="1800" dirty="0">
                <a:solidFill>
                  <a:schemeClr val="accent2"/>
                </a:solidFill>
                <a:latin typeface="微软雅黑" panose="020B0503020204020204" pitchFamily="34" charset="-122"/>
                <a:ea typeface="微软雅黑" panose="020B0503020204020204" pitchFamily="34" charset="-122"/>
              </a:rPr>
              <a:t>R</a:t>
            </a:r>
            <a:r>
              <a:rPr lang="zh-CN" altLang="en-US" sz="1800" dirty="0">
                <a:solidFill>
                  <a:schemeClr val="accent2"/>
                </a:solidFill>
                <a:latin typeface="微软雅黑" panose="020B0503020204020204" pitchFamily="34" charset="-122"/>
                <a:ea typeface="微软雅黑" panose="020B0503020204020204" pitchFamily="34" charset="-122"/>
              </a:rPr>
              <a:t>与</a:t>
            </a:r>
            <a:r>
              <a:rPr lang="en-US" altLang="zh-CN" sz="1800" dirty="0">
                <a:solidFill>
                  <a:schemeClr val="accent2"/>
                </a:solidFill>
                <a:latin typeface="微软雅黑" panose="020B0503020204020204" pitchFamily="34" charset="-122"/>
                <a:ea typeface="微软雅黑" panose="020B0503020204020204" pitchFamily="34" charset="-122"/>
              </a:rPr>
              <a:t>Y</a:t>
            </a:r>
            <a:r>
              <a:rPr lang="zh-CN" altLang="en-US" sz="1800" dirty="0">
                <a:solidFill>
                  <a:schemeClr val="accent2"/>
                </a:solidFill>
                <a:latin typeface="微软雅黑" panose="020B0503020204020204" pitchFamily="34" charset="-122"/>
                <a:ea typeface="微软雅黑" panose="020B0503020204020204" pitchFamily="34" charset="-122"/>
              </a:rPr>
              <a:t>同号，则</a:t>
            </a:r>
            <a:r>
              <a:rPr lang="en-US" altLang="zh-CN" sz="1800" dirty="0">
                <a:solidFill>
                  <a:schemeClr val="accent2"/>
                </a:solidFill>
                <a:latin typeface="微软雅黑" panose="020B0503020204020204" pitchFamily="34" charset="-122"/>
                <a:ea typeface="微软雅黑" panose="020B0503020204020204" pitchFamily="34" charset="-122"/>
              </a:rPr>
              <a:t>R = R–Y</a:t>
            </a:r>
            <a:r>
              <a:rPr lang="zh-CN" altLang="en-US" sz="1800" dirty="0">
                <a:solidFill>
                  <a:schemeClr val="accent2"/>
                </a:solidFill>
                <a:latin typeface="微软雅黑" panose="020B0503020204020204" pitchFamily="34" charset="-122"/>
                <a:ea typeface="微软雅黑" panose="020B0503020204020204" pitchFamily="34" charset="-122"/>
              </a:rPr>
              <a:t>；否则</a:t>
            </a:r>
            <a:r>
              <a:rPr lang="en-US" altLang="zh-CN" sz="1800" dirty="0">
                <a:solidFill>
                  <a:schemeClr val="accent2"/>
                </a:solidFill>
                <a:latin typeface="微软雅黑" panose="020B0503020204020204" pitchFamily="34" charset="-122"/>
                <a:ea typeface="微软雅黑" panose="020B0503020204020204" pitchFamily="34" charset="-122"/>
              </a:rPr>
              <a:t>R = R+Y</a:t>
            </a:r>
            <a:r>
              <a:rPr lang="zh-CN" altLang="en-US" sz="1800" dirty="0">
                <a:solidFill>
                  <a:schemeClr val="accent2"/>
                </a:solidFill>
                <a:latin typeface="微软雅黑" panose="020B0503020204020204" pitchFamily="34" charset="-122"/>
                <a:ea typeface="微软雅黑" panose="020B0503020204020204" pitchFamily="34" charset="-122"/>
              </a:rPr>
              <a:t>，并按以下规则确定商值</a:t>
            </a:r>
            <a:r>
              <a:rPr lang="en-US" altLang="zh-CN" sz="1800" dirty="0">
                <a:solidFill>
                  <a:schemeClr val="accent2"/>
                </a:solidFill>
                <a:latin typeface="微软雅黑" panose="020B0503020204020204" pitchFamily="34" charset="-122"/>
                <a:ea typeface="微软雅黑" panose="020B0503020204020204" pitchFamily="34" charset="-122"/>
              </a:rPr>
              <a:t>q</a:t>
            </a:r>
            <a:r>
              <a:rPr lang="en-US" altLang="zh-CN" sz="1800" baseline="-25000" dirty="0">
                <a:solidFill>
                  <a:schemeClr val="accent2"/>
                </a:solidFill>
                <a:latin typeface="微软雅黑" panose="020B0503020204020204" pitchFamily="34" charset="-122"/>
                <a:ea typeface="微软雅黑" panose="020B0503020204020204" pitchFamily="34" charset="-122"/>
              </a:rPr>
              <a:t>0</a:t>
            </a:r>
            <a:r>
              <a:rPr lang="en-US" altLang="zh-CN" sz="1800" dirty="0">
                <a:solidFill>
                  <a:schemeClr val="accent2"/>
                </a:solidFill>
                <a:latin typeface="微软雅黑" panose="020B0503020204020204" pitchFamily="34" charset="-122"/>
                <a:ea typeface="微软雅黑" panose="020B0503020204020204" pitchFamily="34" charset="-122"/>
              </a:rPr>
              <a:t> </a:t>
            </a:r>
            <a:r>
              <a:rPr lang="zh-CN" altLang="en-US" sz="1800" dirty="0">
                <a:solidFill>
                  <a:schemeClr val="accent2"/>
                </a:solidFill>
                <a:latin typeface="微软雅黑" panose="020B0503020204020204" pitchFamily="34" charset="-122"/>
                <a:ea typeface="微软雅黑" panose="020B0503020204020204" pitchFamily="34" charset="-122"/>
              </a:rPr>
              <a:t>：</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zh-CN" altLang="en-US" sz="1800" dirty="0">
                <a:solidFill>
                  <a:schemeClr val="accent2"/>
                </a:solidFill>
                <a:latin typeface="微软雅黑" panose="020B0503020204020204" pitchFamily="34" charset="-122"/>
                <a:ea typeface="微软雅黑" panose="020B0503020204020204" pitchFamily="34" charset="-122"/>
              </a:rPr>
              <a:t>     ① 若中间余数</a:t>
            </a:r>
            <a:r>
              <a:rPr lang="en-US" altLang="zh-CN" sz="1800" dirty="0">
                <a:solidFill>
                  <a:schemeClr val="accent2"/>
                </a:solidFill>
                <a:latin typeface="微软雅黑" panose="020B0503020204020204" pitchFamily="34" charset="-122"/>
                <a:ea typeface="微软雅黑" panose="020B0503020204020204" pitchFamily="34" charset="-122"/>
              </a:rPr>
              <a:t>R</a:t>
            </a:r>
            <a:r>
              <a:rPr lang="zh-CN" altLang="en-US" sz="1800" dirty="0">
                <a:solidFill>
                  <a:schemeClr val="accent2"/>
                </a:solidFill>
                <a:latin typeface="微软雅黑" panose="020B0503020204020204" pitchFamily="34" charset="-122"/>
                <a:ea typeface="微软雅黑" panose="020B0503020204020204" pitchFamily="34" charset="-122"/>
              </a:rPr>
              <a:t> </a:t>
            </a:r>
            <a:r>
              <a:rPr lang="en-US" altLang="zh-CN" sz="1800" dirty="0">
                <a:solidFill>
                  <a:schemeClr val="accent2"/>
                </a:solidFill>
                <a:latin typeface="微软雅黑" panose="020B0503020204020204" pitchFamily="34" charset="-122"/>
                <a:ea typeface="微软雅黑" panose="020B0503020204020204" pitchFamily="34" charset="-122"/>
              </a:rPr>
              <a:t>= 0</a:t>
            </a:r>
            <a:r>
              <a:rPr lang="zh-CN" altLang="en-US" sz="1800" dirty="0">
                <a:solidFill>
                  <a:schemeClr val="accent2"/>
                </a:solidFill>
                <a:latin typeface="微软雅黑" panose="020B0503020204020204" pitchFamily="34" charset="-122"/>
                <a:ea typeface="微软雅黑" panose="020B0503020204020204" pitchFamily="34" charset="-122"/>
              </a:rPr>
              <a:t>或</a:t>
            </a:r>
            <a:r>
              <a:rPr lang="en-US" altLang="zh-CN" sz="1800" dirty="0">
                <a:solidFill>
                  <a:schemeClr val="accent2"/>
                </a:solidFill>
                <a:latin typeface="微软雅黑" panose="020B0503020204020204" pitchFamily="34" charset="-122"/>
                <a:ea typeface="微软雅黑" panose="020B0503020204020204" pitchFamily="34" charset="-122"/>
              </a:rPr>
              <a:t>R</a:t>
            </a:r>
            <a:r>
              <a:rPr lang="zh-CN" altLang="en-US" sz="1800" dirty="0">
                <a:solidFill>
                  <a:schemeClr val="accent2"/>
                </a:solidFill>
                <a:latin typeface="微软雅黑" panose="020B0503020204020204" pitchFamily="34" charset="-122"/>
                <a:ea typeface="微软雅黑" panose="020B0503020204020204" pitchFamily="34" charset="-122"/>
              </a:rPr>
              <a:t>操作前后符号未变，表示够减，则</a:t>
            </a:r>
            <a:r>
              <a:rPr lang="en-US" altLang="zh-CN" sz="1800" dirty="0">
                <a:solidFill>
                  <a:schemeClr val="accent2"/>
                </a:solidFill>
                <a:latin typeface="微软雅黑" panose="020B0503020204020204" pitchFamily="34" charset="-122"/>
                <a:ea typeface="微软雅黑" panose="020B0503020204020204" pitchFamily="34" charset="-122"/>
              </a:rPr>
              <a:t>q</a:t>
            </a:r>
            <a:r>
              <a:rPr lang="en-US" altLang="zh-CN" sz="1800" baseline="-25000" dirty="0">
                <a:solidFill>
                  <a:schemeClr val="accent2"/>
                </a:solidFill>
                <a:latin typeface="微软雅黑" panose="020B0503020204020204" pitchFamily="34" charset="-122"/>
                <a:ea typeface="微软雅黑" panose="020B0503020204020204" pitchFamily="34" charset="-122"/>
              </a:rPr>
              <a:t>0</a:t>
            </a:r>
            <a:r>
              <a:rPr lang="zh-CN" altLang="en-US" sz="1800" dirty="0">
                <a:solidFill>
                  <a:schemeClr val="accent2"/>
                </a:solidFill>
                <a:latin typeface="微软雅黑" panose="020B0503020204020204" pitchFamily="34" charset="-122"/>
                <a:ea typeface="微软雅黑" panose="020B0503020204020204" pitchFamily="34" charset="-122"/>
              </a:rPr>
              <a:t>置１，转下一步；</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zh-CN" altLang="en-US" sz="1800" dirty="0">
                <a:solidFill>
                  <a:schemeClr val="accent2"/>
                </a:solidFill>
                <a:latin typeface="微软雅黑" panose="020B0503020204020204" pitchFamily="34" charset="-122"/>
                <a:ea typeface="微软雅黑" panose="020B0503020204020204" pitchFamily="34" charset="-122"/>
              </a:rPr>
              <a:t>     ② 若操作前后</a:t>
            </a:r>
            <a:r>
              <a:rPr lang="en-US" altLang="zh-CN" sz="1800" dirty="0">
                <a:solidFill>
                  <a:schemeClr val="accent2"/>
                </a:solidFill>
                <a:latin typeface="微软雅黑" panose="020B0503020204020204" pitchFamily="34" charset="-122"/>
                <a:ea typeface="微软雅黑" panose="020B0503020204020204" pitchFamily="34" charset="-122"/>
              </a:rPr>
              <a:t>R</a:t>
            </a:r>
            <a:r>
              <a:rPr lang="zh-CN" altLang="en-US" sz="1800" dirty="0">
                <a:solidFill>
                  <a:schemeClr val="accent2"/>
                </a:solidFill>
                <a:latin typeface="微软雅黑" panose="020B0503020204020204" pitchFamily="34" charset="-122"/>
                <a:ea typeface="微软雅黑" panose="020B0503020204020204" pitchFamily="34" charset="-122"/>
              </a:rPr>
              <a:t>的符号已变，表示不够减，则</a:t>
            </a:r>
            <a:r>
              <a:rPr lang="en-US" altLang="zh-CN" sz="1800" dirty="0">
                <a:solidFill>
                  <a:schemeClr val="accent2"/>
                </a:solidFill>
                <a:latin typeface="微软雅黑" panose="020B0503020204020204" pitchFamily="34" charset="-122"/>
                <a:ea typeface="微软雅黑" panose="020B0503020204020204" pitchFamily="34" charset="-122"/>
              </a:rPr>
              <a:t>q</a:t>
            </a:r>
            <a:r>
              <a:rPr lang="en-US" altLang="zh-CN" sz="1800" baseline="-25000" dirty="0">
                <a:solidFill>
                  <a:schemeClr val="accent2"/>
                </a:solidFill>
                <a:latin typeface="微软雅黑" panose="020B0503020204020204" pitchFamily="34" charset="-122"/>
                <a:ea typeface="微软雅黑" panose="020B0503020204020204" pitchFamily="34" charset="-122"/>
              </a:rPr>
              <a:t>0</a:t>
            </a:r>
            <a:r>
              <a:rPr lang="zh-CN" altLang="en-US" sz="1800" dirty="0">
                <a:solidFill>
                  <a:schemeClr val="accent2"/>
                </a:solidFill>
                <a:latin typeface="微软雅黑" panose="020B0503020204020204" pitchFamily="34" charset="-122"/>
                <a:ea typeface="微软雅黑" panose="020B0503020204020204" pitchFamily="34" charset="-122"/>
              </a:rPr>
              <a:t>置</a:t>
            </a:r>
            <a:r>
              <a:rPr lang="en-US" altLang="zh-CN" sz="1800" dirty="0">
                <a:solidFill>
                  <a:schemeClr val="accent2"/>
                </a:solidFill>
                <a:latin typeface="微软雅黑" panose="020B0503020204020204" pitchFamily="34" charset="-122"/>
                <a:ea typeface="微软雅黑" panose="020B0503020204020204" pitchFamily="34" charset="-122"/>
              </a:rPr>
              <a:t>0</a:t>
            </a:r>
            <a:r>
              <a:rPr lang="zh-CN" altLang="en-US" sz="1800" dirty="0">
                <a:solidFill>
                  <a:schemeClr val="accent2"/>
                </a:solidFill>
                <a:latin typeface="微软雅黑" panose="020B0503020204020204" pitchFamily="34" charset="-122"/>
                <a:ea typeface="微软雅黑" panose="020B0503020204020204" pitchFamily="34" charset="-122"/>
              </a:rPr>
              <a:t>，</a:t>
            </a:r>
            <a:r>
              <a:rPr lang="zh-CN" altLang="en-US" sz="1800" dirty="0">
                <a:solidFill>
                  <a:srgbClr val="CC0000"/>
                </a:solidFill>
                <a:latin typeface="微软雅黑" panose="020B0503020204020204" pitchFamily="34" charset="-122"/>
                <a:ea typeface="微软雅黑" panose="020B0503020204020204" pitchFamily="34" charset="-122"/>
              </a:rPr>
              <a:t>恢复</a:t>
            </a:r>
            <a:r>
              <a:rPr lang="en-US" altLang="zh-CN" sz="1800" dirty="0">
                <a:solidFill>
                  <a:srgbClr val="CC0000"/>
                </a:solidFill>
                <a:latin typeface="微软雅黑" panose="020B0503020204020204" pitchFamily="34" charset="-122"/>
                <a:ea typeface="微软雅黑" panose="020B0503020204020204" pitchFamily="34" charset="-122"/>
              </a:rPr>
              <a:t>R</a:t>
            </a:r>
            <a:r>
              <a:rPr lang="zh-CN" altLang="en-US" sz="1800" dirty="0">
                <a:solidFill>
                  <a:srgbClr val="CC0000"/>
                </a:solidFill>
                <a:latin typeface="微软雅黑" panose="020B0503020204020204" pitchFamily="34" charset="-122"/>
                <a:ea typeface="微软雅黑" panose="020B0503020204020204" pitchFamily="34" charset="-122"/>
              </a:rPr>
              <a:t>值</a:t>
            </a:r>
            <a:r>
              <a:rPr lang="zh-CN" altLang="en-US" sz="1800" dirty="0">
                <a:solidFill>
                  <a:schemeClr val="accent2"/>
                </a:solidFill>
                <a:latin typeface="微软雅黑" panose="020B0503020204020204" pitchFamily="34" charset="-122"/>
                <a:ea typeface="微软雅黑" panose="020B0503020204020204" pitchFamily="34" charset="-122"/>
              </a:rPr>
              <a:t>后转下一步；</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en-US" altLang="zh-CN" sz="1800" dirty="0">
                <a:solidFill>
                  <a:schemeClr val="accent2"/>
                </a:solidFill>
                <a:latin typeface="微软雅黑" panose="020B0503020204020204" pitchFamily="34" charset="-122"/>
                <a:ea typeface="微软雅黑" panose="020B0503020204020204" pitchFamily="34" charset="-122"/>
              </a:rPr>
              <a:t>(4) </a:t>
            </a:r>
            <a:r>
              <a:rPr lang="zh-CN" altLang="en-US" sz="1800" dirty="0">
                <a:solidFill>
                  <a:schemeClr val="accent2"/>
                </a:solidFill>
                <a:latin typeface="微软雅黑" panose="020B0503020204020204" pitchFamily="34" charset="-122"/>
                <a:ea typeface="微软雅黑" panose="020B0503020204020204" pitchFamily="34" charset="-122"/>
              </a:rPr>
              <a:t>重复第</a:t>
            </a:r>
            <a:r>
              <a:rPr lang="en-US" altLang="zh-CN" sz="1800" dirty="0">
                <a:solidFill>
                  <a:schemeClr val="accent2"/>
                </a:solidFill>
                <a:latin typeface="微软雅黑" panose="020B0503020204020204" pitchFamily="34" charset="-122"/>
                <a:ea typeface="微软雅黑" panose="020B0503020204020204" pitchFamily="34" charset="-122"/>
              </a:rPr>
              <a:t>(2)</a:t>
            </a:r>
            <a:r>
              <a:rPr lang="zh-CN" altLang="en-US" sz="1800" dirty="0">
                <a:solidFill>
                  <a:schemeClr val="accent2"/>
                </a:solidFill>
                <a:latin typeface="微软雅黑" panose="020B0503020204020204" pitchFamily="34" charset="-122"/>
                <a:ea typeface="微软雅黑" panose="020B0503020204020204" pitchFamily="34" charset="-122"/>
              </a:rPr>
              <a:t>和第</a:t>
            </a:r>
            <a:r>
              <a:rPr lang="en-US" altLang="zh-CN" sz="1800" dirty="0">
                <a:solidFill>
                  <a:schemeClr val="accent2"/>
                </a:solidFill>
                <a:latin typeface="微软雅黑" panose="020B0503020204020204" pitchFamily="34" charset="-122"/>
                <a:ea typeface="微软雅黑" panose="020B0503020204020204" pitchFamily="34" charset="-122"/>
              </a:rPr>
              <a:t>(3)</a:t>
            </a:r>
            <a:r>
              <a:rPr lang="zh-CN" altLang="en-US" sz="1800" dirty="0">
                <a:solidFill>
                  <a:schemeClr val="accent2"/>
                </a:solidFill>
                <a:latin typeface="微软雅黑" panose="020B0503020204020204" pitchFamily="34" charset="-122"/>
                <a:ea typeface="微软雅黑" panose="020B0503020204020204" pitchFamily="34" charset="-122"/>
              </a:rPr>
              <a:t>步，直到取得</a:t>
            </a:r>
            <a:r>
              <a:rPr lang="en-US" altLang="zh-CN" sz="1800" dirty="0">
                <a:solidFill>
                  <a:schemeClr val="accent2"/>
                </a:solidFill>
                <a:latin typeface="微软雅黑" panose="020B0503020204020204" pitchFamily="34" charset="-122"/>
                <a:ea typeface="微软雅黑" panose="020B0503020204020204" pitchFamily="34" charset="-122"/>
              </a:rPr>
              <a:t>n</a:t>
            </a:r>
            <a:r>
              <a:rPr lang="zh-CN" altLang="en-US" sz="1800" dirty="0">
                <a:solidFill>
                  <a:schemeClr val="accent2"/>
                </a:solidFill>
                <a:latin typeface="微软雅黑" panose="020B0503020204020204" pitchFamily="34" charset="-122"/>
                <a:ea typeface="微软雅黑" panose="020B0503020204020204" pitchFamily="34" charset="-122"/>
              </a:rPr>
              <a:t>位商为止。</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en-US" altLang="zh-CN" sz="1800" dirty="0">
                <a:solidFill>
                  <a:schemeClr val="accent2"/>
                </a:solidFill>
                <a:latin typeface="微软雅黑" panose="020B0503020204020204" pitchFamily="34" charset="-122"/>
                <a:ea typeface="微软雅黑" panose="020B0503020204020204" pitchFamily="34" charset="-122"/>
              </a:rPr>
              <a:t>(5) </a:t>
            </a:r>
            <a:r>
              <a:rPr lang="zh-CN" altLang="en-US" sz="1800" dirty="0">
                <a:solidFill>
                  <a:schemeClr val="accent2"/>
                </a:solidFill>
                <a:latin typeface="微软雅黑" panose="020B0503020204020204" pitchFamily="34" charset="-122"/>
                <a:ea typeface="微软雅黑" panose="020B0503020204020204" pitchFamily="34" charset="-122"/>
              </a:rPr>
              <a:t>若被除数与除数同号，则</a:t>
            </a:r>
            <a:r>
              <a:rPr lang="en-US" altLang="zh-CN" sz="1800" dirty="0">
                <a:solidFill>
                  <a:schemeClr val="accent2"/>
                </a:solidFill>
                <a:latin typeface="微软雅黑" panose="020B0503020204020204" pitchFamily="34" charset="-122"/>
                <a:ea typeface="微软雅黑" panose="020B0503020204020204" pitchFamily="34" charset="-122"/>
              </a:rPr>
              <a:t>Q</a:t>
            </a:r>
            <a:r>
              <a:rPr lang="zh-CN" altLang="en-US" sz="1800" dirty="0">
                <a:solidFill>
                  <a:schemeClr val="accent2"/>
                </a:solidFill>
                <a:latin typeface="微软雅黑" panose="020B0503020204020204" pitchFamily="34" charset="-122"/>
                <a:ea typeface="微软雅黑" panose="020B0503020204020204" pitchFamily="34" charset="-122"/>
              </a:rPr>
              <a:t>中就是真正的商；否则，将</a:t>
            </a:r>
            <a:r>
              <a:rPr lang="en-US" altLang="zh-CN" sz="1800" dirty="0">
                <a:solidFill>
                  <a:schemeClr val="accent2"/>
                </a:solidFill>
                <a:latin typeface="微软雅黑" panose="020B0503020204020204" pitchFamily="34" charset="-122"/>
                <a:ea typeface="微软雅黑" panose="020B0503020204020204" pitchFamily="34" charset="-122"/>
              </a:rPr>
              <a:t>Q</a:t>
            </a:r>
            <a:r>
              <a:rPr lang="zh-CN" altLang="en-US" sz="1800" dirty="0">
                <a:solidFill>
                  <a:schemeClr val="accent2"/>
                </a:solidFill>
                <a:latin typeface="微软雅黑" panose="020B0503020204020204" pitchFamily="34" charset="-122"/>
                <a:ea typeface="微软雅黑" panose="020B0503020204020204" pitchFamily="34" charset="-122"/>
              </a:rPr>
              <a:t>求补后是真正的商。</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zh-CN" altLang="en-US" sz="1800" dirty="0">
                <a:solidFill>
                  <a:schemeClr val="accent2"/>
                </a:solidFill>
                <a:latin typeface="微软雅黑" panose="020B0503020204020204" pitchFamily="34" charset="-122"/>
                <a:ea typeface="微软雅黑" panose="020B0503020204020204" pitchFamily="34" charset="-122"/>
              </a:rPr>
              <a:t>（即：若商为负值，则需要“各位取反，末位加</a:t>
            </a:r>
            <a:r>
              <a:rPr lang="en-US" altLang="zh-CN" sz="1800" dirty="0">
                <a:solidFill>
                  <a:schemeClr val="accent2"/>
                </a:solidFill>
                <a:latin typeface="微软雅黑" panose="020B0503020204020204" pitchFamily="34" charset="-122"/>
                <a:ea typeface="微软雅黑" panose="020B0503020204020204" pitchFamily="34" charset="-122"/>
              </a:rPr>
              <a:t>1”</a:t>
            </a:r>
            <a:r>
              <a:rPr lang="zh-CN" altLang="en-US" sz="1800" dirty="0">
                <a:solidFill>
                  <a:schemeClr val="accent2"/>
                </a:solidFill>
                <a:latin typeface="微软雅黑" panose="020B0503020204020204" pitchFamily="34" charset="-122"/>
                <a:ea typeface="微软雅黑" panose="020B0503020204020204" pitchFamily="34" charset="-122"/>
              </a:rPr>
              <a:t>来得到真正的商） </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419100" indent="-419100">
              <a:buNone/>
            </a:pPr>
            <a:r>
              <a:rPr lang="en-US" altLang="zh-CN" sz="1800" dirty="0">
                <a:solidFill>
                  <a:schemeClr val="accent2"/>
                </a:solidFill>
                <a:latin typeface="微软雅黑" panose="020B0503020204020204" pitchFamily="34" charset="-122"/>
                <a:ea typeface="微软雅黑" panose="020B0503020204020204" pitchFamily="34" charset="-122"/>
              </a:rPr>
              <a:t>(6) </a:t>
            </a:r>
            <a:r>
              <a:rPr lang="zh-CN" altLang="en-US" sz="1800" dirty="0">
                <a:solidFill>
                  <a:schemeClr val="accent2"/>
                </a:solidFill>
                <a:latin typeface="微软雅黑" panose="020B0503020204020204" pitchFamily="34" charset="-122"/>
                <a:ea typeface="微软雅黑" panose="020B0503020204020204" pitchFamily="34" charset="-122"/>
              </a:rPr>
              <a:t>余数在</a:t>
            </a:r>
            <a:r>
              <a:rPr lang="en-US" altLang="zh-CN" sz="1800" dirty="0">
                <a:solidFill>
                  <a:schemeClr val="accent2"/>
                </a:solidFill>
                <a:latin typeface="微软雅黑" panose="020B0503020204020204" pitchFamily="34" charset="-122"/>
                <a:ea typeface="微软雅黑" panose="020B0503020204020204" pitchFamily="34" charset="-122"/>
              </a:rPr>
              <a:t>R</a:t>
            </a:r>
            <a:r>
              <a:rPr lang="zh-CN" altLang="en-US" sz="1800" dirty="0">
                <a:solidFill>
                  <a:schemeClr val="accent2"/>
                </a:solidFill>
                <a:latin typeface="微软雅黑" panose="020B0503020204020204" pitchFamily="34" charset="-122"/>
                <a:ea typeface="微软雅黑" panose="020B0503020204020204" pitchFamily="34" charset="-122"/>
              </a:rPr>
              <a:t>中。</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
        <p:nvSpPr>
          <p:cNvPr id="434181" name="Text Box 5"/>
          <p:cNvSpPr txBox="1"/>
          <p:nvPr/>
        </p:nvSpPr>
        <p:spPr>
          <a:xfrm>
            <a:off x="327025" y="5024438"/>
            <a:ext cx="5324475" cy="366712"/>
          </a:xfrm>
          <a:prstGeom prst="rect">
            <a:avLst/>
          </a:prstGeom>
          <a:noFill/>
          <a:ln w="12700">
            <a:noFill/>
          </a:ln>
        </p:spPr>
        <p:txBody>
          <a:bodyPr anchor="t" anchorCtr="0">
            <a:spAutoFit/>
          </a:bodyPr>
          <a:p>
            <a:pPr eaLnBrk="0" hangingPunct="0">
              <a:spcBef>
                <a:spcPct val="50000"/>
              </a:spcBef>
            </a:pPr>
            <a:r>
              <a:rPr lang="zh-CN" altLang="en-US" sz="1800" dirty="0">
                <a:solidFill>
                  <a:srgbClr val="CC0000"/>
                </a:solidFill>
                <a:latin typeface="微软雅黑" panose="020B0503020204020204" pitchFamily="34" charset="-122"/>
                <a:ea typeface="微软雅黑" panose="020B0503020204020204" pitchFamily="34" charset="-122"/>
              </a:rPr>
              <a:t>问题：如何恢复余数？通过“做加法”来恢复吗？</a:t>
            </a:r>
            <a:endParaRPr lang="zh-CN" altLang="en-US" sz="1800" dirty="0">
              <a:solidFill>
                <a:srgbClr val="CC0000"/>
              </a:solidFill>
              <a:latin typeface="微软雅黑" panose="020B0503020204020204" pitchFamily="34" charset="-122"/>
              <a:ea typeface="微软雅黑" panose="020B0503020204020204" pitchFamily="34" charset="-122"/>
            </a:endParaRPr>
          </a:p>
        </p:txBody>
      </p:sp>
      <p:sp>
        <p:nvSpPr>
          <p:cNvPr id="434182" name="Text Box 6"/>
          <p:cNvSpPr txBox="1"/>
          <p:nvPr/>
        </p:nvSpPr>
        <p:spPr>
          <a:xfrm>
            <a:off x="327025" y="5400675"/>
            <a:ext cx="8553450" cy="1192213"/>
          </a:xfrm>
          <a:prstGeom prst="rect">
            <a:avLst/>
          </a:prstGeom>
          <a:noFill/>
          <a:ln w="12700">
            <a:noFill/>
          </a:ln>
        </p:spPr>
        <p:txBody>
          <a:bodyPr anchor="t" anchorCtr="0">
            <a:spAutoFit/>
          </a:bodyPr>
          <a:p>
            <a:pPr eaLnBrk="0" hangingPunct="0">
              <a:spcBef>
                <a:spcPct val="50000"/>
              </a:spcBef>
            </a:pPr>
            <a:r>
              <a:rPr lang="zh-CN" altLang="en-US" sz="1800" dirty="0">
                <a:latin typeface="微软雅黑" panose="020B0503020204020204" pitchFamily="34" charset="-122"/>
                <a:ea typeface="微软雅黑" panose="020B0503020204020204" pitchFamily="34" charset="-122"/>
              </a:rPr>
              <a:t>无符号数（或原码）除法通过“做加法”恢复余数，但补码不是</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eaLnBrk="0" hangingPunct="0">
              <a:spcBef>
                <a:spcPct val="50000"/>
              </a:spcBef>
            </a:pPr>
            <a:r>
              <a:rPr lang="zh-CN" altLang="en-US" sz="1800" dirty="0">
                <a:solidFill>
                  <a:schemeClr val="accent2"/>
                </a:solidFill>
                <a:latin typeface="微软雅黑" panose="020B0503020204020204" pitchFamily="34" charset="-122"/>
                <a:ea typeface="微软雅黑" panose="020B0503020204020204" pitchFamily="34" charset="-122"/>
              </a:rPr>
              <a:t>补码：若原来为</a:t>
            </a:r>
            <a:r>
              <a:rPr lang="en-US" altLang="zh-CN" sz="1800" dirty="0">
                <a:solidFill>
                  <a:schemeClr val="accent2"/>
                </a:solidFill>
                <a:latin typeface="微软雅黑" panose="020B0503020204020204" pitchFamily="34" charset="-122"/>
                <a:ea typeface="微软雅黑" panose="020B0503020204020204" pitchFamily="34" charset="-122"/>
              </a:rPr>
              <a:t>R = R–Y</a:t>
            </a:r>
            <a:r>
              <a:rPr lang="zh-CN" altLang="en-US" sz="1800" dirty="0">
                <a:solidFill>
                  <a:schemeClr val="accent2"/>
                </a:solidFill>
                <a:latin typeface="微软雅黑" panose="020B0503020204020204" pitchFamily="34" charset="-122"/>
                <a:ea typeface="微软雅黑" panose="020B0503020204020204" pitchFamily="34" charset="-122"/>
              </a:rPr>
              <a:t>，则执行</a:t>
            </a:r>
            <a:r>
              <a:rPr lang="en-US" altLang="zh-CN" sz="1800" dirty="0">
                <a:solidFill>
                  <a:schemeClr val="accent2"/>
                </a:solidFill>
                <a:latin typeface="微软雅黑" panose="020B0503020204020204" pitchFamily="34" charset="-122"/>
                <a:ea typeface="微软雅黑" panose="020B0503020204020204" pitchFamily="34" charset="-122"/>
              </a:rPr>
              <a:t>R = R+Y</a:t>
            </a:r>
            <a:r>
              <a:rPr lang="zh-CN" altLang="en-US" sz="1800" dirty="0">
                <a:solidFill>
                  <a:schemeClr val="accent2"/>
                </a:solidFill>
                <a:latin typeface="微软雅黑" panose="020B0503020204020204" pitchFamily="34" charset="-122"/>
                <a:ea typeface="微软雅黑" panose="020B0503020204020204" pitchFamily="34" charset="-122"/>
              </a:rPr>
              <a:t>来恢复余数；</a:t>
            </a:r>
            <a:endParaRPr lang="zh-CN" altLang="en-US" sz="1800" dirty="0">
              <a:solidFill>
                <a:schemeClr val="accent2"/>
              </a:solidFill>
              <a:latin typeface="微软雅黑" panose="020B0503020204020204" pitchFamily="34" charset="-122"/>
              <a:ea typeface="微软雅黑" panose="020B0503020204020204" pitchFamily="34" charset="-122"/>
            </a:endParaRPr>
          </a:p>
          <a:p>
            <a:pPr eaLnBrk="0" hangingPunct="0">
              <a:spcBef>
                <a:spcPct val="50000"/>
              </a:spcBef>
            </a:pPr>
            <a:r>
              <a:rPr lang="zh-CN" altLang="en-US" sz="1800" dirty="0">
                <a:solidFill>
                  <a:schemeClr val="accent2"/>
                </a:solidFill>
                <a:latin typeface="微软雅黑" panose="020B0503020204020204" pitchFamily="34" charset="-122"/>
                <a:ea typeface="微软雅黑" panose="020B0503020204020204" pitchFamily="34" charset="-122"/>
              </a:rPr>
              <a:t>            若原来是</a:t>
            </a:r>
            <a:r>
              <a:rPr lang="en-US" altLang="zh-CN" sz="1800" dirty="0">
                <a:solidFill>
                  <a:schemeClr val="accent2"/>
                </a:solidFill>
                <a:latin typeface="微软雅黑" panose="020B0503020204020204" pitchFamily="34" charset="-122"/>
                <a:ea typeface="微软雅黑" panose="020B0503020204020204" pitchFamily="34" charset="-122"/>
              </a:rPr>
              <a:t>R = R+Y</a:t>
            </a:r>
            <a:r>
              <a:rPr lang="zh-CN" altLang="en-US" sz="1800" dirty="0">
                <a:solidFill>
                  <a:schemeClr val="accent2"/>
                </a:solidFill>
                <a:latin typeface="微软雅黑" panose="020B0503020204020204" pitchFamily="34" charset="-122"/>
                <a:ea typeface="微软雅黑" panose="020B0503020204020204" pitchFamily="34" charset="-122"/>
              </a:rPr>
              <a:t>，则执行</a:t>
            </a:r>
            <a:r>
              <a:rPr lang="en-US" altLang="zh-CN" sz="1800" dirty="0">
                <a:solidFill>
                  <a:schemeClr val="accent2"/>
                </a:solidFill>
                <a:latin typeface="微软雅黑" panose="020B0503020204020204" pitchFamily="34" charset="-122"/>
                <a:ea typeface="微软雅黑" panose="020B0503020204020204" pitchFamily="34" charset="-122"/>
              </a:rPr>
              <a:t>R = R–Y</a:t>
            </a:r>
            <a:r>
              <a:rPr lang="zh-CN" altLang="en-US" sz="1800" dirty="0">
                <a:solidFill>
                  <a:schemeClr val="accent2"/>
                </a:solidFill>
                <a:latin typeface="微软雅黑" panose="020B0503020204020204" pitchFamily="34" charset="-122"/>
                <a:ea typeface="微软雅黑" panose="020B0503020204020204" pitchFamily="34" charset="-122"/>
              </a:rPr>
              <a:t>来恢复余数。</a:t>
            </a:r>
            <a:endParaRPr lang="zh-CN" altLang="en-US" sz="18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4181"/>
                                        </p:tgtEl>
                                        <p:attrNameLst>
                                          <p:attrName>style.visibility</p:attrName>
                                        </p:attrNameLst>
                                      </p:cBhvr>
                                      <p:to>
                                        <p:strVal val="visible"/>
                                      </p:to>
                                    </p:set>
                                    <p:animEffect transition="in" filter="blinds(horizontal)">
                                      <p:cBhvr>
                                        <p:cTn id="7" dur="500"/>
                                        <p:tgtEl>
                                          <p:spTgt spid="4341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4182"/>
                                        </p:tgtEl>
                                        <p:attrNameLst>
                                          <p:attrName>style.visibility</p:attrName>
                                        </p:attrNameLst>
                                      </p:cBhvr>
                                      <p:to>
                                        <p:strVal val="visible"/>
                                      </p:to>
                                    </p:set>
                                    <p:animEffect transition="in" filter="blinds(horizontal)">
                                      <p:cBhvr>
                                        <p:cTn id="12" dur="500"/>
                                        <p:tgtEl>
                                          <p:spTgt spid="434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81" grpId="0"/>
      <p:bldP spid="43418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a:spLocks noGrp="1"/>
          </p:cNvSpPr>
          <p:nvPr>
            <p:ph type="title"/>
          </p:nvPr>
        </p:nvSpPr>
        <p:spPr>
          <a:xfrm>
            <a:off x="520700" y="50800"/>
            <a:ext cx="8305800" cy="474663"/>
          </a:xfrm>
          <a:ln/>
        </p:spPr>
        <p:txBody>
          <a:bodyPr vert="horz" wrap="square" lIns="63500" tIns="25400" rIns="63500" bIns="25400" anchor="t" anchorCtr="0">
            <a:spAutoFit/>
          </a:bodyPr>
          <a:p>
            <a:pPr>
              <a:buNone/>
            </a:pPr>
            <a:r>
              <a:rPr lang="zh-CN" altLang="en-US" dirty="0">
                <a:ea typeface="宋体" panose="02010600030101010101" pitchFamily="2" charset="-122"/>
              </a:rPr>
              <a:t>举例：7/3=?     (-7)/3=?</a:t>
            </a:r>
            <a:endParaRPr lang="zh-CN" altLang="en-US" dirty="0">
              <a:ea typeface="宋体" panose="02010600030101010101" pitchFamily="2" charset="-122"/>
            </a:endParaRPr>
          </a:p>
        </p:txBody>
      </p:sp>
      <p:sp>
        <p:nvSpPr>
          <p:cNvPr id="242691" name="Rectangle 3"/>
          <p:cNvSpPr>
            <a:spLocks noGrp="1" noChangeArrowheads="1"/>
          </p:cNvSpPr>
          <p:nvPr>
            <p:ph idx="1"/>
          </p:nvPr>
        </p:nvSpPr>
        <p:spPr>
          <a:xfrm>
            <a:off x="361950" y="982663"/>
            <a:ext cx="4368800" cy="4776788"/>
          </a:xfrm>
        </p:spPr>
        <p:txBody>
          <a:bodyPr vert="horz" wrap="square" lIns="63500" tIns="25400" rIns="63500" bIns="25400" numCol="1" anchor="t" anchorCtr="0" compatLnSpc="1">
            <a:spAutoFit/>
          </a:bodyPr>
          <a:lstStyle/>
          <a:p>
            <a:pPr marL="342900" marR="0" lvl="0" indent="-342900" algn="l" defTabSz="914400" rtl="0" eaLnBrk="0" fontAlgn="base" latinLnBrk="0" hangingPunct="0">
              <a:lnSpc>
                <a:spcPct val="70000"/>
              </a:lnSpc>
              <a:spcBef>
                <a:spcPct val="20000"/>
              </a:spcBef>
              <a:spcAft>
                <a:spcPct val="0"/>
              </a:spcAft>
              <a:buClr>
                <a:schemeClr val="tx1"/>
              </a:buClr>
              <a:buSzPct val="60000"/>
              <a:buFont typeface="Monotype Sorts" pitchFamily="2" charset="2"/>
              <a:buNone/>
              <a:defRPr/>
            </a:pP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被除数：</a:t>
            </a:r>
            <a:r>
              <a:rPr kumimoji="0" lang="zh-CN"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r>
              <a:rPr kumimoji="0" lang="zh-CN"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0 011</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a:t>
            </a:r>
            <a:r>
              <a:rPr kumimoji="0" lang="zh-CN"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除数</a:t>
            </a:r>
            <a:r>
              <a:rPr kumimoji="0" lang="zh-CN"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r>
              <a:rPr kumimoji="0" lang="zh-CN"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11</a:t>
            </a:r>
            <a:endParaRPr kumimoji="0" lang="zh-CN" altLang="zh-CN" sz="2000" b="1" i="0" u="none" strike="noStrike" kern="0" cap="none" spc="0" normalizeH="0" baseline="-200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0000"/>
              </a:lnSpc>
              <a:spcBef>
                <a:spcPct val="20000"/>
              </a:spcBef>
              <a:spcAft>
                <a:spcPct val="0"/>
              </a:spcAft>
              <a:buClr>
                <a:schemeClr val="tx1"/>
              </a:buClr>
              <a:buSzPct val="60000"/>
              <a:buFont typeface="Monotype Sorts" pitchFamily="2" charset="2"/>
              <a:buNone/>
              <a:defRPr/>
            </a:pPr>
            <a:r>
              <a:rPr kumimoji="0" lang="en-US" altLang="zh-CN" sz="13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3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        Q          M=0011</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0000"/>
              </a:lnSpc>
              <a:spcBef>
                <a:spcPct val="20000"/>
              </a:spcBef>
              <a:spcAft>
                <a:spcPct val="0"/>
              </a:spcAft>
              <a:buClr>
                <a:schemeClr val="tx1"/>
              </a:buClr>
              <a:buSzPct val="60000"/>
              <a:buFont typeface="Monotype Sorts" pitchFamily="2" charset="2"/>
              <a:buNone/>
              <a:defRPr/>
            </a:pPr>
            <a:r>
              <a:rPr kumimoji="0" lang="zh-CN" altLang="zh-CN" sz="15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en-US" altLang="zh-CN" sz="15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zh-CN" sz="1700" b="1"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00</a:t>
            </a:r>
            <a:r>
              <a:rPr kumimoji="0" lang="zh-CN" altLang="en-US" sz="1700" b="1"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0</a:t>
            </a:r>
            <a:r>
              <a:rPr kumimoji="0" lang="zh-CN" altLang="zh-CN" sz="1700" b="1"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0   </a:t>
            </a:r>
            <a:r>
              <a:rPr kumimoji="0" lang="zh-CN" altLang="zh-CN"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011</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a:t>
            </a:r>
            <a:endParaRPr kumimoji="0" lang="zh-CN" altLang="zh-CN"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zh-CN"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r>
              <a:rPr kumimoji="0" lang="zh-CN" altLang="zh-CN"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00</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r>
              <a:rPr kumimoji="0" lang="zh-CN" altLang="zh-CN"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1110</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1101                   减（同号）</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       </a:t>
            </a:r>
            <a:r>
              <a:rPr kumimoji="0" lang="zh-CN" altLang="en-US" sz="17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1101   111</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0011                   恢复(加)商</a:t>
            </a:r>
            <a:r>
              <a:rPr kumimoji="0" lang="en-US" altLang="zh-CN"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a:t>
            </a:r>
            <a:endParaRPr kumimoji="0" lang="en-US" altLang="zh-CN" sz="17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0000   111</a:t>
            </a:r>
            <a:r>
              <a:rPr kumimoji="0" lang="en-US" altLang="zh-CN"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a:t>
            </a:r>
            <a:endParaRPr kumimoji="0" lang="zh-CN" altLang="en-US" sz="17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0001   11</a:t>
            </a:r>
            <a:r>
              <a:rPr kumimoji="0" lang="en-US" altLang="zh-CN"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1101                   减</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7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1110   11</a:t>
            </a:r>
            <a:r>
              <a:rPr kumimoji="0" lang="en-US" altLang="zh-CN"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0011                   恢复(加)商</a:t>
            </a:r>
            <a:r>
              <a:rPr kumimoji="0" lang="en-US" altLang="zh-CN"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a:t>
            </a:r>
            <a:endParaRPr kumimoji="0" lang="zh-CN" altLang="en-US" sz="17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0001   11</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00</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0011   1</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00</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1101                   减</a:t>
            </a:r>
            <a:endPar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7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0000   1</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00</a:t>
            </a:r>
            <a:r>
              <a:rPr kumimoji="0" lang="en-US" altLang="zh-CN"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       </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符同商</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1</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0001   </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00</a:t>
            </a:r>
            <a:r>
              <a:rPr kumimoji="0" lang="en-US" altLang="zh-CN"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a:t>
            </a:r>
            <a:r>
              <a:rPr kumimoji="0" lang="en-US" altLang="zh-CN"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1101                   减</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7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1110 </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001</a:t>
            </a: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 </a:t>
            </a:r>
            <a:endPar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0011                   恢复(加)商</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a:t>
            </a:r>
            <a:endPar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65000"/>
              </a:lnSpc>
              <a:spcBef>
                <a:spcPct val="20000"/>
              </a:spcBef>
              <a:spcAft>
                <a:spcPct val="0"/>
              </a:spcAft>
              <a:buClr>
                <a:schemeClr val="tx1"/>
              </a:buClr>
              <a:buSzPct val="60000"/>
              <a:buFont typeface="Monotype Sorts" pitchFamily="2" charset="2"/>
              <a:buNone/>
              <a:defRPr/>
            </a:pPr>
            <a:r>
              <a:rPr kumimoji="0" lang="zh-CN" altLang="en-US" sz="17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a:t>
            </a:r>
            <a:r>
              <a:rPr kumimoji="0" lang="zh-CN" altLang="en-US" sz="17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1700" b="1"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0001   </a:t>
            </a:r>
            <a:r>
              <a:rPr kumimoji="0" lang="zh-CN" altLang="en-US" sz="17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0010</a:t>
            </a:r>
            <a:endParaRPr kumimoji="0" lang="zh-CN" altLang="zh-CN" sz="1700" b="1" i="0" u="none" strike="noStrike" kern="0" cap="none" spc="0" normalizeH="0" baseline="-200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55000"/>
              </a:lnSpc>
              <a:spcBef>
                <a:spcPct val="20000"/>
              </a:spcBef>
              <a:spcAft>
                <a:spcPct val="0"/>
              </a:spcAft>
              <a:buClr>
                <a:schemeClr val="tx1"/>
              </a:buClr>
              <a:buSzPct val="60000"/>
              <a:buFont typeface="Monotype Sorts" pitchFamily="2" charset="2"/>
              <a:buNone/>
              <a:defRPr/>
            </a:pPr>
            <a:endParaRPr kumimoji="0" lang="zh-CN" altLang="zh-CN" sz="1700" b="1" i="0" u="none" strike="noStrike" kern="0" cap="none" spc="0" normalizeH="0" baseline="-2000" noProof="0" dirty="0">
              <a:ln>
                <a:noFill/>
              </a:ln>
              <a:solidFill>
                <a:schemeClr val="accent2"/>
              </a:solidFill>
              <a:effectLst/>
              <a:uLnTx/>
              <a:uFillTx/>
              <a:latin typeface="Times New Roman" panose="02020603050405020304" pitchFamily="18" charset="0"/>
              <a:ea typeface="+mn-ea"/>
              <a:cs typeface="+mn-cs"/>
            </a:endParaRPr>
          </a:p>
        </p:txBody>
      </p:sp>
      <p:grpSp>
        <p:nvGrpSpPr>
          <p:cNvPr id="102403" name="Group 44"/>
          <p:cNvGrpSpPr/>
          <p:nvPr/>
        </p:nvGrpSpPr>
        <p:grpSpPr>
          <a:xfrm>
            <a:off x="377825" y="1728788"/>
            <a:ext cx="3717925" cy="3773487"/>
            <a:chOff x="238" y="1062"/>
            <a:chExt cx="2342" cy="2377"/>
          </a:xfrm>
        </p:grpSpPr>
        <p:sp>
          <p:nvSpPr>
            <p:cNvPr id="102404" name="Line 4"/>
            <p:cNvSpPr/>
            <p:nvPr/>
          </p:nvSpPr>
          <p:spPr>
            <a:xfrm flipH="1">
              <a:off x="276" y="1086"/>
              <a:ext cx="176" cy="0"/>
            </a:xfrm>
            <a:prstGeom prst="line">
              <a:avLst/>
            </a:prstGeom>
            <a:ln w="28575" cap="flat" cmpd="sng">
              <a:solidFill>
                <a:srgbClr val="0000FF"/>
              </a:solidFill>
              <a:prstDash val="solid"/>
              <a:round/>
              <a:headEnd type="none" w="med" len="med"/>
              <a:tailEnd type="triangle" w="med" len="med"/>
            </a:ln>
          </p:spPr>
        </p:sp>
        <p:sp>
          <p:nvSpPr>
            <p:cNvPr id="102405" name="Text Box 5"/>
            <p:cNvSpPr txBox="1"/>
            <p:nvPr/>
          </p:nvSpPr>
          <p:spPr>
            <a:xfrm>
              <a:off x="240" y="1062"/>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06" name="Line 6"/>
            <p:cNvSpPr/>
            <p:nvPr/>
          </p:nvSpPr>
          <p:spPr>
            <a:xfrm>
              <a:off x="264" y="1280"/>
              <a:ext cx="2296" cy="0"/>
            </a:xfrm>
            <a:prstGeom prst="line">
              <a:avLst/>
            </a:prstGeom>
            <a:ln w="12700" cap="flat" cmpd="sng">
              <a:solidFill>
                <a:srgbClr val="0000FF"/>
              </a:solidFill>
              <a:prstDash val="solid"/>
              <a:round/>
              <a:headEnd type="none" w="med" len="med"/>
              <a:tailEnd type="none" w="med" len="med"/>
            </a:ln>
          </p:spPr>
        </p:sp>
        <p:sp>
          <p:nvSpPr>
            <p:cNvPr id="102407" name="Text Box 7"/>
            <p:cNvSpPr txBox="1"/>
            <p:nvPr/>
          </p:nvSpPr>
          <p:spPr>
            <a:xfrm>
              <a:off x="248" y="1356"/>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08" name="Line 8"/>
            <p:cNvSpPr/>
            <p:nvPr/>
          </p:nvSpPr>
          <p:spPr>
            <a:xfrm>
              <a:off x="248" y="1553"/>
              <a:ext cx="2296" cy="0"/>
            </a:xfrm>
            <a:prstGeom prst="line">
              <a:avLst/>
            </a:prstGeom>
            <a:ln w="12700" cap="flat" cmpd="sng">
              <a:solidFill>
                <a:srgbClr val="0000FF"/>
              </a:solidFill>
              <a:prstDash val="solid"/>
              <a:round/>
              <a:headEnd type="none" w="med" len="med"/>
              <a:tailEnd type="none" w="med" len="med"/>
            </a:ln>
          </p:spPr>
        </p:sp>
        <p:sp>
          <p:nvSpPr>
            <p:cNvPr id="102409" name="Line 9"/>
            <p:cNvSpPr/>
            <p:nvPr/>
          </p:nvSpPr>
          <p:spPr>
            <a:xfrm flipH="1">
              <a:off x="238" y="1776"/>
              <a:ext cx="176" cy="0"/>
            </a:xfrm>
            <a:prstGeom prst="line">
              <a:avLst/>
            </a:prstGeom>
            <a:ln w="28575" cap="flat" cmpd="sng">
              <a:solidFill>
                <a:srgbClr val="0000FF"/>
              </a:solidFill>
              <a:prstDash val="solid"/>
              <a:round/>
              <a:headEnd type="none" w="med" len="med"/>
              <a:tailEnd type="triangle" w="med" len="med"/>
            </a:ln>
          </p:spPr>
        </p:sp>
        <p:sp>
          <p:nvSpPr>
            <p:cNvPr id="102410" name="Text Box 10"/>
            <p:cNvSpPr txBox="1"/>
            <p:nvPr/>
          </p:nvSpPr>
          <p:spPr>
            <a:xfrm>
              <a:off x="256" y="1762"/>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11" name="Line 11"/>
            <p:cNvSpPr/>
            <p:nvPr/>
          </p:nvSpPr>
          <p:spPr>
            <a:xfrm>
              <a:off x="280" y="1974"/>
              <a:ext cx="2296" cy="0"/>
            </a:xfrm>
            <a:prstGeom prst="line">
              <a:avLst/>
            </a:prstGeom>
            <a:ln w="12700" cap="flat" cmpd="sng">
              <a:solidFill>
                <a:srgbClr val="0000FF"/>
              </a:solidFill>
              <a:prstDash val="solid"/>
              <a:round/>
              <a:headEnd type="none" w="med" len="med"/>
              <a:tailEnd type="none" w="med" len="med"/>
            </a:ln>
          </p:spPr>
        </p:sp>
        <p:sp>
          <p:nvSpPr>
            <p:cNvPr id="102412" name="Text Box 12"/>
            <p:cNvSpPr txBox="1"/>
            <p:nvPr/>
          </p:nvSpPr>
          <p:spPr>
            <a:xfrm>
              <a:off x="256" y="2064"/>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13" name="Line 13"/>
            <p:cNvSpPr/>
            <p:nvPr/>
          </p:nvSpPr>
          <p:spPr>
            <a:xfrm>
              <a:off x="280" y="2252"/>
              <a:ext cx="2296" cy="0"/>
            </a:xfrm>
            <a:prstGeom prst="line">
              <a:avLst/>
            </a:prstGeom>
            <a:ln w="12700" cap="flat" cmpd="sng">
              <a:solidFill>
                <a:srgbClr val="0000FF"/>
              </a:solidFill>
              <a:prstDash val="solid"/>
              <a:round/>
              <a:headEnd type="none" w="med" len="med"/>
              <a:tailEnd type="none" w="med" len="med"/>
            </a:ln>
          </p:spPr>
        </p:sp>
        <p:sp>
          <p:nvSpPr>
            <p:cNvPr id="102414" name="Line 14"/>
            <p:cNvSpPr/>
            <p:nvPr/>
          </p:nvSpPr>
          <p:spPr>
            <a:xfrm flipH="1">
              <a:off x="257" y="2469"/>
              <a:ext cx="176" cy="0"/>
            </a:xfrm>
            <a:prstGeom prst="line">
              <a:avLst/>
            </a:prstGeom>
            <a:ln w="28575" cap="flat" cmpd="sng">
              <a:solidFill>
                <a:srgbClr val="0000FF"/>
              </a:solidFill>
              <a:prstDash val="solid"/>
              <a:round/>
              <a:headEnd type="none" w="med" len="med"/>
              <a:tailEnd type="triangle" w="med" len="med"/>
            </a:ln>
          </p:spPr>
        </p:sp>
        <p:sp>
          <p:nvSpPr>
            <p:cNvPr id="102415" name="Text Box 15"/>
            <p:cNvSpPr txBox="1"/>
            <p:nvPr/>
          </p:nvSpPr>
          <p:spPr>
            <a:xfrm>
              <a:off x="272" y="2461"/>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16" name="Line 16"/>
            <p:cNvSpPr/>
            <p:nvPr/>
          </p:nvSpPr>
          <p:spPr>
            <a:xfrm>
              <a:off x="284" y="2667"/>
              <a:ext cx="2296" cy="0"/>
            </a:xfrm>
            <a:prstGeom prst="line">
              <a:avLst/>
            </a:prstGeom>
            <a:ln w="12700" cap="flat" cmpd="sng">
              <a:solidFill>
                <a:srgbClr val="0000FF"/>
              </a:solidFill>
              <a:prstDash val="solid"/>
              <a:round/>
              <a:headEnd type="none" w="med" len="med"/>
              <a:tailEnd type="none" w="med" len="med"/>
            </a:ln>
          </p:spPr>
        </p:sp>
        <p:sp>
          <p:nvSpPr>
            <p:cNvPr id="102417" name="Line 17"/>
            <p:cNvSpPr/>
            <p:nvPr/>
          </p:nvSpPr>
          <p:spPr>
            <a:xfrm flipH="1">
              <a:off x="267" y="2899"/>
              <a:ext cx="176" cy="0"/>
            </a:xfrm>
            <a:prstGeom prst="line">
              <a:avLst/>
            </a:prstGeom>
            <a:ln w="28575" cap="flat" cmpd="sng">
              <a:solidFill>
                <a:srgbClr val="0000FF"/>
              </a:solidFill>
              <a:prstDash val="solid"/>
              <a:round/>
              <a:headEnd type="none" w="med" len="med"/>
              <a:tailEnd type="triangle" w="med" len="med"/>
            </a:ln>
          </p:spPr>
        </p:sp>
        <p:sp>
          <p:nvSpPr>
            <p:cNvPr id="102418" name="Text Box 18"/>
            <p:cNvSpPr txBox="1"/>
            <p:nvPr/>
          </p:nvSpPr>
          <p:spPr>
            <a:xfrm>
              <a:off x="249" y="2878"/>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19" name="Line 19"/>
            <p:cNvSpPr/>
            <p:nvPr/>
          </p:nvSpPr>
          <p:spPr>
            <a:xfrm>
              <a:off x="264" y="3078"/>
              <a:ext cx="2296" cy="0"/>
            </a:xfrm>
            <a:prstGeom prst="line">
              <a:avLst/>
            </a:prstGeom>
            <a:ln w="12700" cap="flat" cmpd="sng">
              <a:solidFill>
                <a:srgbClr val="0000FF"/>
              </a:solidFill>
              <a:prstDash val="solid"/>
              <a:round/>
              <a:headEnd type="none" w="med" len="med"/>
              <a:tailEnd type="none" w="med" len="med"/>
            </a:ln>
          </p:spPr>
        </p:sp>
        <p:sp>
          <p:nvSpPr>
            <p:cNvPr id="102420" name="Text Box 20"/>
            <p:cNvSpPr txBox="1"/>
            <p:nvPr/>
          </p:nvSpPr>
          <p:spPr>
            <a:xfrm>
              <a:off x="262" y="3151"/>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21" name="Line 21"/>
            <p:cNvSpPr/>
            <p:nvPr/>
          </p:nvSpPr>
          <p:spPr>
            <a:xfrm>
              <a:off x="256" y="3357"/>
              <a:ext cx="2296" cy="0"/>
            </a:xfrm>
            <a:prstGeom prst="line">
              <a:avLst/>
            </a:prstGeom>
            <a:ln w="12700" cap="flat" cmpd="sng">
              <a:solidFill>
                <a:srgbClr val="0000FF"/>
              </a:solidFill>
              <a:prstDash val="solid"/>
              <a:round/>
              <a:headEnd type="none" w="med" len="med"/>
              <a:tailEnd type="none" w="med" len="med"/>
            </a:ln>
          </p:spPr>
        </p:sp>
      </p:grpSp>
      <p:sp>
        <p:nvSpPr>
          <p:cNvPr id="102422" name="Text Box 22"/>
          <p:cNvSpPr txBox="1"/>
          <p:nvPr/>
        </p:nvSpPr>
        <p:spPr>
          <a:xfrm>
            <a:off x="425450" y="5876925"/>
            <a:ext cx="2463800" cy="396875"/>
          </a:xfrm>
          <a:prstGeom prst="rect">
            <a:avLst/>
          </a:prstGeom>
          <a:noFill/>
          <a:ln w="9525">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余:0001/商:0010</a:t>
            </a:r>
            <a:endParaRPr lang="zh-CN" altLang="en-US" sz="2000" dirty="0">
              <a:latin typeface="微软雅黑" panose="020B0503020204020204" pitchFamily="34" charset="-122"/>
              <a:ea typeface="微软雅黑" panose="020B0503020204020204" pitchFamily="34" charset="-122"/>
            </a:endParaRPr>
          </a:p>
        </p:txBody>
      </p:sp>
      <p:grpSp>
        <p:nvGrpSpPr>
          <p:cNvPr id="102423" name="Group 43"/>
          <p:cNvGrpSpPr/>
          <p:nvPr/>
        </p:nvGrpSpPr>
        <p:grpSpPr>
          <a:xfrm>
            <a:off x="4597400" y="930275"/>
            <a:ext cx="4368800" cy="5616575"/>
            <a:chOff x="2896" y="490"/>
            <a:chExt cx="2752" cy="3538"/>
          </a:xfrm>
        </p:grpSpPr>
        <p:sp>
          <p:nvSpPr>
            <p:cNvPr id="242711" name="Rectangle 23"/>
            <p:cNvSpPr>
              <a:spLocks noChangeArrowheads="1"/>
            </p:cNvSpPr>
            <p:nvPr/>
          </p:nvSpPr>
          <p:spPr bwMode="auto">
            <a:xfrm>
              <a:off x="2896" y="490"/>
              <a:ext cx="2752" cy="3538"/>
            </a:xfrm>
            <a:prstGeom prst="rect">
              <a:avLst/>
            </a:prstGeom>
            <a:noFill/>
            <a:ln w="9525">
              <a:noFill/>
              <a:miter lim="800000"/>
            </a:ln>
          </p:spPr>
          <p:txBody>
            <a:bodyPr/>
            <a:lstStyle/>
            <a:p>
              <a:pPr marL="342900" marR="0" lvl="0" indent="-342900" algn="l" defTabSz="914400" rtl="0" eaLnBrk="1" fontAlgn="base" latinLnBrk="0" hangingPunct="1">
                <a:lnSpc>
                  <a:spcPct val="70000"/>
                </a:lnSpc>
                <a:spcBef>
                  <a:spcPct val="20000"/>
                </a:spcBef>
                <a:spcAft>
                  <a:spcPct val="0"/>
                </a:spcAft>
                <a:buClr>
                  <a:srgbClr val="00CC99"/>
                </a:buClr>
                <a:buSzPct val="90000"/>
                <a:buFont typeface="Monotype Sorts" pitchFamily="2" charset="2"/>
                <a:buNone/>
                <a:defRPr/>
              </a:pPr>
              <a:r>
                <a:rPr kumimoji="1"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被除数：</a:t>
              </a:r>
              <a:r>
                <a:rPr kumimoji="1" lang="zh-CN"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1111</a:t>
              </a:r>
              <a:r>
                <a:rPr kumimoji="1" lang="zh-CN"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1"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1" lang="zh-CN"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kumimoji="1"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除数</a:t>
              </a:r>
              <a:r>
                <a:rPr kumimoji="1" lang="zh-CN"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0</a:t>
              </a:r>
              <a:r>
                <a:rPr kumimoji="1"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1" lang="zh-CN"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11</a:t>
              </a:r>
              <a:endParaRPr kumimoji="1" lang="zh-CN" altLang="zh-CN" sz="2000" b="1" i="0" u="none" strike="noStrike" kern="1200" cap="none" spc="0" normalizeH="0" baseline="-200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0000"/>
                </a:lnSpc>
                <a:spcBef>
                  <a:spcPct val="20000"/>
                </a:spcBef>
                <a:spcAft>
                  <a:spcPct val="0"/>
                </a:spcAft>
                <a:buClr>
                  <a:srgbClr val="00CC99"/>
                </a:buClr>
                <a:buSzPct val="90000"/>
                <a:buFont typeface="Monotype Sorts" pitchFamily="2" charset="2"/>
                <a:buNone/>
                <a:defRPr/>
              </a:pPr>
              <a:r>
                <a:rPr kumimoji="1"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Q          M=0011</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0000"/>
                </a:lnSpc>
                <a:spcBef>
                  <a:spcPct val="20000"/>
                </a:spcBef>
                <a:spcAft>
                  <a:spcPct val="0"/>
                </a:spcAft>
                <a:buClr>
                  <a:srgbClr val="00CC99"/>
                </a:buClr>
                <a:buSzPct val="90000"/>
                <a:buFont typeface="Monotype Sorts" pitchFamily="2" charset="2"/>
                <a:buNone/>
                <a:defRPr/>
              </a:pPr>
              <a:r>
                <a:rPr kumimoji="1" lang="zh-CN" altLang="zh-CN" sz="17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7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zh-CN" sz="17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1111</a:t>
              </a:r>
              <a:r>
                <a:rPr kumimoji="1" lang="zh-CN" altLang="zh-CN"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1</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001</a:t>
              </a:r>
              <a:endParaRPr kumimoji="1" lang="zh-CN" altLang="zh-CN"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zh-CN"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1111</a:t>
              </a:r>
              <a:r>
                <a:rPr kumimoji="1" lang="zh-CN" altLang="zh-CN"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0010</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0011                   加（异号）</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7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0010   001</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1101                   恢复(减)商</a:t>
              </a:r>
              <a:r>
                <a:rPr kumimoji="1" lang="en-US" altLang="zh-CN"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1" lang="en-US" altLang="zh-CN" sz="17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1111   001</a:t>
              </a:r>
              <a:r>
                <a:rPr kumimoji="1" lang="en-US" altLang="zh-CN"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1" lang="zh-CN" altLang="en-US" sz="17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1110   01</a:t>
              </a:r>
              <a:r>
                <a:rPr kumimoji="1" lang="en-US" altLang="zh-CN"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0011                   加</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0001   01</a:t>
              </a:r>
              <a:r>
                <a:rPr kumimoji="1" lang="en-US" altLang="zh-CN"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1101                   恢复(减)商</a:t>
              </a:r>
              <a:r>
                <a:rPr kumimoji="1" lang="en-US" altLang="zh-CN"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1" lang="zh-CN" altLang="en-US" sz="17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7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1110   01</a:t>
              </a:r>
              <a:r>
                <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00</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1100   1</a:t>
              </a:r>
              <a:r>
                <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00</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0011                   加</a:t>
              </a:r>
              <a:endPar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7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1111   1</a:t>
              </a:r>
              <a:r>
                <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001        </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符同商</a:t>
              </a:r>
              <a:r>
                <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1</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1111   </a:t>
              </a:r>
              <a:r>
                <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001</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 </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0011                   加</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7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0010</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001</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 </a:t>
              </a:r>
              <a:endPar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1101                   恢复(减)商</a:t>
              </a:r>
              <a:r>
                <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a:t>
              </a:r>
              <a:endPar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65000"/>
                </a:lnSpc>
                <a:spcBef>
                  <a:spcPct val="20000"/>
                </a:spcBef>
                <a:spcAft>
                  <a:spcPct val="0"/>
                </a:spcAft>
                <a:buClr>
                  <a:srgbClr val="00CC99"/>
                </a:buClr>
                <a:buSzPct val="90000"/>
                <a:buFont typeface="Monotype Sorts" pitchFamily="2" charset="2"/>
                <a:buNone/>
                <a:defRPr/>
              </a:pPr>
              <a:r>
                <a:rPr kumimoji="1" lang="zh-CN" altLang="en-US" sz="17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7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1111   </a:t>
              </a:r>
              <a:r>
                <a:rPr kumimoji="1" lang="zh-CN" altLang="en-US" sz="17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Times New Roman" panose="02020603050405020304" pitchFamily="18" charset="0"/>
                </a:rPr>
                <a:t>0010</a:t>
              </a:r>
              <a:endParaRPr kumimoji="1" lang="zh-CN" altLang="zh-CN" sz="1700" b="1" i="0" u="none" strike="noStrike" kern="1200" cap="none" spc="0" normalizeH="0" baseline="-2000" noProof="0" dirty="0">
                <a:ln>
                  <a:noFill/>
                </a:ln>
                <a:solidFill>
                  <a:schemeClr val="accent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55000"/>
                </a:lnSpc>
                <a:spcBef>
                  <a:spcPct val="20000"/>
                </a:spcBef>
                <a:spcAft>
                  <a:spcPct val="0"/>
                </a:spcAft>
                <a:buClr>
                  <a:srgbClr val="00CC99"/>
                </a:buClr>
                <a:buSzPct val="90000"/>
                <a:buFont typeface="Monotype Sorts" pitchFamily="2" charset="2"/>
                <a:buNone/>
                <a:defRPr/>
              </a:pPr>
              <a:endParaRPr kumimoji="1" lang="zh-CN" altLang="zh-CN" sz="1700" b="0" i="0" u="none" strike="noStrike" kern="1200" cap="none" spc="0" normalizeH="0" baseline="-2000" noProof="0" dirty="0">
                <a:ln>
                  <a:noFill/>
                </a:ln>
                <a:solidFill>
                  <a:schemeClr val="accent2"/>
                </a:solidFill>
                <a:effectLst/>
                <a:uLnTx/>
                <a:uFillTx/>
                <a:latin typeface="Times New Roman" panose="02020603050405020304" pitchFamily="18" charset="0"/>
                <a:ea typeface="华文新魏" pitchFamily="2" charset="-122"/>
                <a:cs typeface="Times New Roman" panose="02020603050405020304" pitchFamily="18" charset="0"/>
              </a:endParaRPr>
            </a:p>
          </p:txBody>
        </p:sp>
        <p:sp>
          <p:nvSpPr>
            <p:cNvPr id="102425" name="Line 24"/>
            <p:cNvSpPr/>
            <p:nvPr/>
          </p:nvSpPr>
          <p:spPr>
            <a:xfrm flipH="1">
              <a:off x="3000" y="1014"/>
              <a:ext cx="176" cy="0"/>
            </a:xfrm>
            <a:prstGeom prst="line">
              <a:avLst/>
            </a:prstGeom>
            <a:ln w="28575" cap="flat" cmpd="sng">
              <a:solidFill>
                <a:srgbClr val="0000FF"/>
              </a:solidFill>
              <a:prstDash val="solid"/>
              <a:round/>
              <a:headEnd type="none" w="med" len="med"/>
              <a:tailEnd type="triangle" w="med" len="med"/>
            </a:ln>
          </p:spPr>
        </p:sp>
        <p:sp>
          <p:nvSpPr>
            <p:cNvPr id="102426" name="Text Box 25"/>
            <p:cNvSpPr txBox="1"/>
            <p:nvPr/>
          </p:nvSpPr>
          <p:spPr>
            <a:xfrm>
              <a:off x="3000" y="996"/>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27" name="Line 26"/>
            <p:cNvSpPr/>
            <p:nvPr/>
          </p:nvSpPr>
          <p:spPr>
            <a:xfrm>
              <a:off x="3006" y="1214"/>
              <a:ext cx="2296" cy="0"/>
            </a:xfrm>
            <a:prstGeom prst="line">
              <a:avLst/>
            </a:prstGeom>
            <a:ln w="12700" cap="flat" cmpd="sng">
              <a:solidFill>
                <a:srgbClr val="0000FF"/>
              </a:solidFill>
              <a:prstDash val="solid"/>
              <a:round/>
              <a:headEnd type="none" w="med" len="med"/>
              <a:tailEnd type="none" w="med" len="med"/>
            </a:ln>
          </p:spPr>
        </p:sp>
        <p:sp>
          <p:nvSpPr>
            <p:cNvPr id="102428" name="Text Box 27"/>
            <p:cNvSpPr txBox="1"/>
            <p:nvPr/>
          </p:nvSpPr>
          <p:spPr>
            <a:xfrm>
              <a:off x="3008" y="1272"/>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29" name="Line 28"/>
            <p:cNvSpPr/>
            <p:nvPr/>
          </p:nvSpPr>
          <p:spPr>
            <a:xfrm>
              <a:off x="3014" y="1496"/>
              <a:ext cx="2296" cy="0"/>
            </a:xfrm>
            <a:prstGeom prst="line">
              <a:avLst/>
            </a:prstGeom>
            <a:ln w="12700" cap="flat" cmpd="sng">
              <a:solidFill>
                <a:srgbClr val="0000FF"/>
              </a:solidFill>
              <a:prstDash val="solid"/>
              <a:round/>
              <a:headEnd type="none" w="med" len="med"/>
              <a:tailEnd type="none" w="med" len="med"/>
            </a:ln>
          </p:spPr>
        </p:sp>
        <p:sp>
          <p:nvSpPr>
            <p:cNvPr id="102430" name="Line 29"/>
            <p:cNvSpPr/>
            <p:nvPr/>
          </p:nvSpPr>
          <p:spPr>
            <a:xfrm flipH="1">
              <a:off x="3016" y="1714"/>
              <a:ext cx="176" cy="0"/>
            </a:xfrm>
            <a:prstGeom prst="line">
              <a:avLst/>
            </a:prstGeom>
            <a:ln w="28575" cap="flat" cmpd="sng">
              <a:solidFill>
                <a:srgbClr val="0000FF"/>
              </a:solidFill>
              <a:prstDash val="solid"/>
              <a:round/>
              <a:headEnd type="none" w="med" len="med"/>
              <a:tailEnd type="triangle" w="med" len="med"/>
            </a:ln>
          </p:spPr>
        </p:sp>
        <p:sp>
          <p:nvSpPr>
            <p:cNvPr id="102431" name="Text Box 30"/>
            <p:cNvSpPr txBox="1"/>
            <p:nvPr/>
          </p:nvSpPr>
          <p:spPr>
            <a:xfrm>
              <a:off x="3016" y="1696"/>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32" name="Line 31"/>
            <p:cNvSpPr/>
            <p:nvPr/>
          </p:nvSpPr>
          <p:spPr>
            <a:xfrm>
              <a:off x="3022" y="1908"/>
              <a:ext cx="2296" cy="0"/>
            </a:xfrm>
            <a:prstGeom prst="line">
              <a:avLst/>
            </a:prstGeom>
            <a:ln w="12700" cap="flat" cmpd="sng">
              <a:solidFill>
                <a:srgbClr val="0000FF"/>
              </a:solidFill>
              <a:prstDash val="solid"/>
              <a:round/>
              <a:headEnd type="none" w="med" len="med"/>
              <a:tailEnd type="none" w="med" len="med"/>
            </a:ln>
          </p:spPr>
        </p:sp>
        <p:sp>
          <p:nvSpPr>
            <p:cNvPr id="102433" name="Text Box 32"/>
            <p:cNvSpPr txBox="1"/>
            <p:nvPr/>
          </p:nvSpPr>
          <p:spPr>
            <a:xfrm>
              <a:off x="3016" y="1968"/>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34" name="Line 33"/>
            <p:cNvSpPr/>
            <p:nvPr/>
          </p:nvSpPr>
          <p:spPr>
            <a:xfrm>
              <a:off x="2986" y="2186"/>
              <a:ext cx="2296" cy="0"/>
            </a:xfrm>
            <a:prstGeom prst="line">
              <a:avLst/>
            </a:prstGeom>
            <a:ln w="12700" cap="flat" cmpd="sng">
              <a:solidFill>
                <a:srgbClr val="0000FF"/>
              </a:solidFill>
              <a:prstDash val="solid"/>
              <a:round/>
              <a:headEnd type="none" w="med" len="med"/>
              <a:tailEnd type="none" w="med" len="med"/>
            </a:ln>
          </p:spPr>
        </p:sp>
        <p:sp>
          <p:nvSpPr>
            <p:cNvPr id="102435" name="Line 34"/>
            <p:cNvSpPr/>
            <p:nvPr/>
          </p:nvSpPr>
          <p:spPr>
            <a:xfrm flipH="1">
              <a:off x="3008" y="2398"/>
              <a:ext cx="176" cy="0"/>
            </a:xfrm>
            <a:prstGeom prst="line">
              <a:avLst/>
            </a:prstGeom>
            <a:ln w="28575" cap="flat" cmpd="sng">
              <a:solidFill>
                <a:srgbClr val="0000FF"/>
              </a:solidFill>
              <a:prstDash val="solid"/>
              <a:round/>
              <a:headEnd type="none" w="med" len="med"/>
              <a:tailEnd type="triangle" w="med" len="med"/>
            </a:ln>
          </p:spPr>
        </p:sp>
        <p:sp>
          <p:nvSpPr>
            <p:cNvPr id="102436" name="Text Box 35"/>
            <p:cNvSpPr txBox="1"/>
            <p:nvPr/>
          </p:nvSpPr>
          <p:spPr>
            <a:xfrm>
              <a:off x="3026" y="2380"/>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37" name="Line 36"/>
            <p:cNvSpPr/>
            <p:nvPr/>
          </p:nvSpPr>
          <p:spPr>
            <a:xfrm>
              <a:off x="2966" y="2604"/>
              <a:ext cx="2296" cy="0"/>
            </a:xfrm>
            <a:prstGeom prst="line">
              <a:avLst/>
            </a:prstGeom>
            <a:ln w="12700" cap="flat" cmpd="sng">
              <a:solidFill>
                <a:srgbClr val="0000FF"/>
              </a:solidFill>
              <a:prstDash val="solid"/>
              <a:round/>
              <a:headEnd type="none" w="med" len="med"/>
              <a:tailEnd type="none" w="med" len="med"/>
            </a:ln>
          </p:spPr>
        </p:sp>
        <p:sp>
          <p:nvSpPr>
            <p:cNvPr id="102438" name="Line 37"/>
            <p:cNvSpPr/>
            <p:nvPr/>
          </p:nvSpPr>
          <p:spPr>
            <a:xfrm flipH="1">
              <a:off x="3000" y="2824"/>
              <a:ext cx="176" cy="0"/>
            </a:xfrm>
            <a:prstGeom prst="line">
              <a:avLst/>
            </a:prstGeom>
            <a:ln w="28575" cap="flat" cmpd="sng">
              <a:solidFill>
                <a:srgbClr val="0000FF"/>
              </a:solidFill>
              <a:prstDash val="solid"/>
              <a:round/>
              <a:headEnd type="none" w="med" len="med"/>
              <a:tailEnd type="triangle" w="med" len="med"/>
            </a:ln>
          </p:spPr>
        </p:sp>
        <p:sp>
          <p:nvSpPr>
            <p:cNvPr id="102439" name="Text Box 38"/>
            <p:cNvSpPr txBox="1"/>
            <p:nvPr/>
          </p:nvSpPr>
          <p:spPr>
            <a:xfrm>
              <a:off x="3000" y="2764"/>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40" name="Line 39"/>
            <p:cNvSpPr/>
            <p:nvPr/>
          </p:nvSpPr>
          <p:spPr>
            <a:xfrm>
              <a:off x="2952" y="3024"/>
              <a:ext cx="2296" cy="0"/>
            </a:xfrm>
            <a:prstGeom prst="line">
              <a:avLst/>
            </a:prstGeom>
            <a:ln w="12700" cap="flat" cmpd="sng">
              <a:solidFill>
                <a:srgbClr val="0000FF"/>
              </a:solidFill>
              <a:prstDash val="solid"/>
              <a:round/>
              <a:headEnd type="none" w="med" len="med"/>
              <a:tailEnd type="none" w="med" len="med"/>
            </a:ln>
          </p:spPr>
        </p:sp>
        <p:sp>
          <p:nvSpPr>
            <p:cNvPr id="102441" name="Text Box 40"/>
            <p:cNvSpPr txBox="1"/>
            <p:nvPr/>
          </p:nvSpPr>
          <p:spPr>
            <a:xfrm>
              <a:off x="3034" y="3076"/>
              <a:ext cx="232" cy="288"/>
            </a:xfrm>
            <a:prstGeom prst="rect">
              <a:avLst/>
            </a:prstGeom>
            <a:noFill/>
            <a:ln w="9525">
              <a:noFill/>
            </a:ln>
          </p:spPr>
          <p:txBody>
            <a:bodyPr anchor="t" anchorCtr="0">
              <a:spAutoFit/>
            </a:bodyPr>
            <a:p>
              <a:pPr algn="ctr" eaLnBrk="0" hangingPunct="0">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02442" name="Line 41"/>
            <p:cNvSpPr/>
            <p:nvPr/>
          </p:nvSpPr>
          <p:spPr>
            <a:xfrm>
              <a:off x="2956" y="3300"/>
              <a:ext cx="2296" cy="0"/>
            </a:xfrm>
            <a:prstGeom prst="line">
              <a:avLst/>
            </a:prstGeom>
            <a:ln w="12700" cap="flat" cmpd="sng">
              <a:solidFill>
                <a:srgbClr val="0000FF"/>
              </a:solidFill>
              <a:prstDash val="solid"/>
              <a:round/>
              <a:headEnd type="none" w="med" len="med"/>
              <a:tailEnd type="none" w="med" len="med"/>
            </a:ln>
          </p:spPr>
        </p:sp>
      </p:grpSp>
      <p:sp>
        <p:nvSpPr>
          <p:cNvPr id="102443" name="Text Box 42"/>
          <p:cNvSpPr txBox="1"/>
          <p:nvPr/>
        </p:nvSpPr>
        <p:spPr>
          <a:xfrm>
            <a:off x="4711700" y="5876925"/>
            <a:ext cx="2463800" cy="396875"/>
          </a:xfrm>
          <a:prstGeom prst="rect">
            <a:avLst/>
          </a:prstGeom>
          <a:noFill/>
          <a:ln w="9525">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余:1111/商:1110</a:t>
            </a:r>
            <a:endParaRPr lang="zh-CN" altLang="en-US" sz="2000" dirty="0">
              <a:latin typeface="微软雅黑" panose="020B0503020204020204" pitchFamily="34" charset="-122"/>
              <a:ea typeface="微软雅黑" panose="020B0503020204020204" pitchFamily="34" charset="-122"/>
            </a:endParaRPr>
          </a:p>
        </p:txBody>
      </p:sp>
      <p:sp>
        <p:nvSpPr>
          <p:cNvPr id="102444" name="Text Box 45"/>
          <p:cNvSpPr txBox="1"/>
          <p:nvPr/>
        </p:nvSpPr>
        <p:spPr>
          <a:xfrm>
            <a:off x="4733925" y="5572125"/>
            <a:ext cx="3867150" cy="366713"/>
          </a:xfrm>
          <a:prstGeom prst="rect">
            <a:avLst/>
          </a:prstGeom>
          <a:noFill/>
          <a:ln w="12700">
            <a:noFill/>
          </a:ln>
        </p:spPr>
        <p:txBody>
          <a:bodyPr anchor="t" anchorCtr="0">
            <a:spAutoFit/>
          </a:bodyPr>
          <a:p>
            <a:pPr eaLnBrk="0" hangingPunct="0">
              <a:spcBef>
                <a:spcPct val="50000"/>
              </a:spcBef>
            </a:pPr>
            <a:r>
              <a:rPr lang="zh-CN" altLang="en-US" sz="1800" dirty="0">
                <a:solidFill>
                  <a:srgbClr val="CC0000"/>
                </a:solidFill>
                <a:latin typeface="微软雅黑" panose="020B0503020204020204" pitchFamily="34" charset="-122"/>
                <a:ea typeface="微软雅黑" panose="020B0503020204020204" pitchFamily="34" charset="-122"/>
              </a:rPr>
              <a:t>商为负数，需求补：</a:t>
            </a:r>
            <a:r>
              <a:rPr lang="en-US" altLang="zh-CN" sz="1800" dirty="0">
                <a:solidFill>
                  <a:srgbClr val="CC0000"/>
                </a:solidFill>
                <a:latin typeface="微软雅黑" panose="020B0503020204020204" pitchFamily="34" charset="-122"/>
                <a:ea typeface="微软雅黑" panose="020B0503020204020204" pitchFamily="34" charset="-122"/>
              </a:rPr>
              <a:t>0010→1110</a:t>
            </a:r>
            <a:endParaRPr lang="en-US" altLang="zh-CN" sz="1800" dirty="0">
              <a:solidFill>
                <a:srgbClr val="CC0000"/>
              </a:solidFill>
              <a:latin typeface="微软雅黑" panose="020B0503020204020204" pitchFamily="34" charset="-122"/>
              <a:ea typeface="微软雅黑" panose="020B0503020204020204" pitchFamily="34" charset="-122"/>
            </a:endParaRPr>
          </a:p>
        </p:txBody>
      </p:sp>
      <p:sp>
        <p:nvSpPr>
          <p:cNvPr id="102445" name="Rectangle 47"/>
          <p:cNvSpPr/>
          <p:nvPr/>
        </p:nvSpPr>
        <p:spPr>
          <a:xfrm>
            <a:off x="469900" y="6269038"/>
            <a:ext cx="2563813" cy="339725"/>
          </a:xfrm>
          <a:prstGeom prst="rect">
            <a:avLst/>
          </a:prstGeom>
          <a:noFill/>
          <a:ln w="12700">
            <a:noFill/>
          </a:ln>
        </p:spPr>
        <p:txBody>
          <a:bodyPr wrap="none" anchor="ctr" anchorCtr="0">
            <a:spAutoFit/>
          </a:bodyPr>
          <a:p>
            <a:pPr eaLnBrk="0" hangingPunct="0"/>
            <a:r>
              <a:rPr lang="zh-CN" altLang="en-US" dirty="0">
                <a:solidFill>
                  <a:schemeClr val="accent2"/>
                </a:solidFill>
                <a:latin typeface="微软雅黑" panose="020B0503020204020204" pitchFamily="34" charset="-122"/>
                <a:ea typeface="微软雅黑" panose="020B0503020204020204" pitchFamily="34" charset="-122"/>
              </a:rPr>
              <a:t>验证：</a:t>
            </a:r>
            <a:r>
              <a:rPr lang="en-US" altLang="zh-CN" dirty="0">
                <a:solidFill>
                  <a:schemeClr val="accent2"/>
                </a:solidFill>
                <a:latin typeface="微软雅黑" panose="020B0503020204020204" pitchFamily="34" charset="-122"/>
                <a:ea typeface="微软雅黑" panose="020B0503020204020204" pitchFamily="34" charset="-122"/>
              </a:rPr>
              <a:t>7/3 = 2</a:t>
            </a:r>
            <a:r>
              <a:rPr lang="zh-CN" altLang="en-US" dirty="0">
                <a:solidFill>
                  <a:schemeClr val="accent2"/>
                </a:solidFill>
                <a:latin typeface="微软雅黑" panose="020B0503020204020204" pitchFamily="34" charset="-122"/>
                <a:ea typeface="微软雅黑" panose="020B0503020204020204" pitchFamily="34" charset="-122"/>
              </a:rPr>
              <a:t>，余数为</a:t>
            </a:r>
            <a:r>
              <a:rPr lang="en-US" altLang="zh-CN" dirty="0">
                <a:solidFill>
                  <a:schemeClr val="accent2"/>
                </a:solidFill>
                <a:latin typeface="微软雅黑" panose="020B0503020204020204" pitchFamily="34" charset="-122"/>
                <a:ea typeface="微软雅黑" panose="020B0503020204020204" pitchFamily="34" charset="-122"/>
              </a:rPr>
              <a:t>1 </a:t>
            </a:r>
            <a:endParaRPr lang="en-US" altLang="zh-CN" dirty="0">
              <a:solidFill>
                <a:schemeClr val="accent2"/>
              </a:solidFill>
              <a:latin typeface="微软雅黑" panose="020B0503020204020204" pitchFamily="34" charset="-122"/>
              <a:ea typeface="微软雅黑" panose="020B0503020204020204" pitchFamily="34" charset="-122"/>
            </a:endParaRPr>
          </a:p>
        </p:txBody>
      </p:sp>
      <p:sp>
        <p:nvSpPr>
          <p:cNvPr id="102446" name="Rectangle 48"/>
          <p:cNvSpPr/>
          <p:nvPr/>
        </p:nvSpPr>
        <p:spPr>
          <a:xfrm>
            <a:off x="4762500" y="6199188"/>
            <a:ext cx="2832100" cy="339725"/>
          </a:xfrm>
          <a:prstGeom prst="rect">
            <a:avLst/>
          </a:prstGeom>
          <a:noFill/>
          <a:ln w="12700">
            <a:noFill/>
          </a:ln>
        </p:spPr>
        <p:txBody>
          <a:bodyPr wrap="none" anchor="ctr" anchorCtr="0">
            <a:spAutoFit/>
          </a:bodyPr>
          <a:p>
            <a:pPr eaLnBrk="0" hangingPunct="0"/>
            <a:r>
              <a:rPr lang="zh-CN" altLang="en-US" dirty="0">
                <a:solidFill>
                  <a:schemeClr val="accent2"/>
                </a:solidFill>
                <a:latin typeface="微软雅黑" panose="020B0503020204020204" pitchFamily="34" charset="-122"/>
                <a:ea typeface="微软雅黑" panose="020B0503020204020204" pitchFamily="34" charset="-122"/>
              </a:rPr>
              <a:t>验证：</a:t>
            </a:r>
            <a:r>
              <a:rPr lang="en-US" altLang="zh-CN" dirty="0">
                <a:solidFill>
                  <a:schemeClr val="accent2"/>
                </a:solidFill>
                <a:latin typeface="微软雅黑" panose="020B0503020204020204" pitchFamily="34" charset="-122"/>
                <a:ea typeface="微软雅黑" panose="020B0503020204020204" pitchFamily="34" charset="-122"/>
              </a:rPr>
              <a:t>-7/3 =- 2</a:t>
            </a:r>
            <a:r>
              <a:rPr lang="zh-CN" altLang="en-US" dirty="0">
                <a:solidFill>
                  <a:schemeClr val="accent2"/>
                </a:solidFill>
                <a:latin typeface="微软雅黑" panose="020B0503020204020204" pitchFamily="34" charset="-122"/>
                <a:ea typeface="微软雅黑" panose="020B0503020204020204" pitchFamily="34" charset="-122"/>
              </a:rPr>
              <a:t>，余数为</a:t>
            </a:r>
            <a:r>
              <a:rPr lang="en-US" altLang="zh-CN" dirty="0">
                <a:solidFill>
                  <a:schemeClr val="accent2"/>
                </a:solidFill>
                <a:latin typeface="微软雅黑" panose="020B0503020204020204" pitchFamily="34" charset="-122"/>
                <a:ea typeface="微软雅黑" panose="020B0503020204020204" pitchFamily="34" charset="-122"/>
              </a:rPr>
              <a:t>-1 </a:t>
            </a:r>
            <a:endParaRPr lang="en-US" altLang="zh-CN"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补码不恢复余数法 </a:t>
            </a:r>
            <a:endParaRPr lang="zh-CN" altLang="en-US" dirty="0">
              <a:ea typeface="宋体" panose="02010600030101010101" pitchFamily="2" charset="-122"/>
            </a:endParaRPr>
          </a:p>
        </p:txBody>
      </p:sp>
      <p:sp>
        <p:nvSpPr>
          <p:cNvPr id="103426" name="Text Box 3"/>
          <p:cNvSpPr>
            <a:spLocks noGrp="1"/>
          </p:cNvSpPr>
          <p:nvPr>
            <p:ph idx="1"/>
          </p:nvPr>
        </p:nvSpPr>
        <p:spPr>
          <a:xfrm>
            <a:off x="387350" y="708025"/>
            <a:ext cx="8191500" cy="5256213"/>
          </a:xfrm>
          <a:ln/>
        </p:spPr>
        <p:txBody>
          <a:bodyPr vert="horz" wrap="square" lIns="63500" tIns="25400" rIns="63500" bIns="25400" anchor="t" anchorCtr="0">
            <a:spAutoFit/>
          </a:bodyPr>
          <a:p>
            <a:pPr marL="381000" indent="-381000">
              <a:lnSpc>
                <a:spcPct val="115000"/>
              </a:lnSpc>
            </a:pPr>
            <a:r>
              <a:rPr lang="zh-CN" altLang="en-US" sz="2000" dirty="0">
                <a:latin typeface="微软雅黑" panose="020B0503020204020204" pitchFamily="34" charset="-122"/>
                <a:ea typeface="微软雅黑" panose="020B0503020204020204" pitchFamily="34" charset="-122"/>
              </a:rPr>
              <a:t>算法要点：</a:t>
            </a:r>
            <a:endParaRPr lang="zh-CN" altLang="en-US" sz="2000" dirty="0">
              <a:latin typeface="微软雅黑" panose="020B0503020204020204" pitchFamily="34" charset="-122"/>
              <a:ea typeface="微软雅黑" panose="020B0503020204020204" pitchFamily="34" charset="-122"/>
            </a:endParaRPr>
          </a:p>
          <a:p>
            <a:pPr marL="381000" indent="-381000">
              <a:lnSpc>
                <a:spcPct val="115000"/>
              </a:lnSpc>
              <a:buClr>
                <a:schemeClr val="accent2"/>
              </a:buClr>
              <a:buNone/>
            </a:pPr>
            <a:r>
              <a:rPr lang="en-US" altLang="zh-CN" sz="1600" dirty="0">
                <a:solidFill>
                  <a:schemeClr val="accent2"/>
                </a:solidFill>
                <a:latin typeface="微软雅黑" panose="020B0503020204020204" pitchFamily="34" charset="-122"/>
                <a:ea typeface="微软雅黑" panose="020B0503020204020204" pitchFamily="34" charset="-122"/>
              </a:rPr>
              <a:t>(1)  </a:t>
            </a:r>
            <a:r>
              <a:rPr lang="zh-CN" altLang="en-US" sz="1600" dirty="0">
                <a:solidFill>
                  <a:schemeClr val="accent2"/>
                </a:solidFill>
                <a:latin typeface="微软雅黑" panose="020B0503020204020204" pitchFamily="34" charset="-122"/>
                <a:ea typeface="微软雅黑" panose="020B0503020204020204" pitchFamily="34" charset="-122"/>
              </a:rPr>
              <a:t>操作数的预置：</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zh-CN" altLang="en-US" sz="1600" dirty="0">
                <a:solidFill>
                  <a:schemeClr val="accent2"/>
                </a:solidFill>
                <a:latin typeface="微软雅黑" panose="020B0503020204020204" pitchFamily="34" charset="-122"/>
                <a:ea typeface="微软雅黑" panose="020B0503020204020204" pitchFamily="34" charset="-122"/>
              </a:rPr>
              <a:t>       除数装入除数寄存器</a:t>
            </a:r>
            <a:r>
              <a:rPr lang="en-US" altLang="zh-CN" sz="1600" dirty="0">
                <a:solidFill>
                  <a:schemeClr val="accent2"/>
                </a:solidFill>
                <a:latin typeface="微软雅黑" panose="020B0503020204020204" pitchFamily="34" charset="-122"/>
                <a:ea typeface="微软雅黑" panose="020B0503020204020204" pitchFamily="34" charset="-122"/>
              </a:rPr>
              <a:t>Y</a:t>
            </a:r>
            <a:r>
              <a:rPr lang="zh-CN" altLang="en-US" sz="1600" dirty="0">
                <a:solidFill>
                  <a:schemeClr val="accent2"/>
                </a:solidFill>
                <a:latin typeface="微软雅黑" panose="020B0503020204020204" pitchFamily="34" charset="-122"/>
                <a:ea typeface="微软雅黑" panose="020B0503020204020204" pitchFamily="34" charset="-122"/>
              </a:rPr>
              <a:t>，被除数经符号扩展后装入余数寄存器</a:t>
            </a:r>
            <a:r>
              <a:rPr lang="en-US" altLang="zh-CN" sz="1600" dirty="0">
                <a:solidFill>
                  <a:schemeClr val="accent2"/>
                </a:solidFill>
                <a:latin typeface="微软雅黑" panose="020B0503020204020204" pitchFamily="34" charset="-122"/>
                <a:ea typeface="微软雅黑" panose="020B0503020204020204" pitchFamily="34" charset="-122"/>
              </a:rPr>
              <a:t>R</a:t>
            </a:r>
            <a:r>
              <a:rPr lang="zh-CN" altLang="en-US" sz="1600" dirty="0">
                <a:solidFill>
                  <a:schemeClr val="accent2"/>
                </a:solidFill>
                <a:latin typeface="微软雅黑" panose="020B0503020204020204" pitchFamily="34" charset="-122"/>
                <a:ea typeface="微软雅黑" panose="020B0503020204020204" pitchFamily="34" charset="-122"/>
              </a:rPr>
              <a:t>和余数</a:t>
            </a:r>
            <a:r>
              <a:rPr lang="en-US" altLang="zh-CN" sz="1600" dirty="0">
                <a:solidFill>
                  <a:schemeClr val="accent2"/>
                </a:solidFill>
                <a:latin typeface="微软雅黑" panose="020B0503020204020204" pitchFamily="34" charset="-122"/>
                <a:ea typeface="微软雅黑" panose="020B0503020204020204" pitchFamily="34" charset="-122"/>
              </a:rPr>
              <a:t>/</a:t>
            </a:r>
            <a:r>
              <a:rPr lang="zh-CN" altLang="en-US" sz="1600" dirty="0">
                <a:solidFill>
                  <a:schemeClr val="accent2"/>
                </a:solidFill>
                <a:latin typeface="微软雅黑" panose="020B0503020204020204" pitchFamily="34" charset="-122"/>
                <a:ea typeface="微软雅黑" panose="020B0503020204020204" pitchFamily="34" charset="-122"/>
              </a:rPr>
              <a:t>商寄存器</a:t>
            </a:r>
            <a:r>
              <a:rPr lang="en-US" altLang="zh-CN" sz="1600" dirty="0">
                <a:solidFill>
                  <a:schemeClr val="accent2"/>
                </a:solidFill>
                <a:latin typeface="微软雅黑" panose="020B0503020204020204" pitchFamily="34" charset="-122"/>
                <a:ea typeface="微软雅黑" panose="020B0503020204020204" pitchFamily="34" charset="-122"/>
              </a:rPr>
              <a:t>Q</a:t>
            </a:r>
            <a:r>
              <a:rPr lang="zh-CN" altLang="en-US" sz="1600" dirty="0">
                <a:solidFill>
                  <a:schemeClr val="accent2"/>
                </a:solidFill>
                <a:latin typeface="微软雅黑" panose="020B0503020204020204" pitchFamily="34" charset="-122"/>
                <a:ea typeface="微软雅黑" panose="020B0503020204020204" pitchFamily="34" charset="-122"/>
              </a:rPr>
              <a:t>。</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en-US" altLang="zh-CN" sz="1600" dirty="0">
                <a:solidFill>
                  <a:schemeClr val="accent2"/>
                </a:solidFill>
                <a:latin typeface="微软雅黑" panose="020B0503020204020204" pitchFamily="34" charset="-122"/>
                <a:ea typeface="微软雅黑" panose="020B0503020204020204" pitchFamily="34" charset="-122"/>
              </a:rPr>
              <a:t>(2) </a:t>
            </a:r>
            <a:r>
              <a:rPr lang="zh-CN" altLang="en-US" sz="1600" dirty="0">
                <a:solidFill>
                  <a:schemeClr val="accent2"/>
                </a:solidFill>
                <a:latin typeface="微软雅黑" panose="020B0503020204020204" pitchFamily="34" charset="-122"/>
                <a:ea typeface="微软雅黑" panose="020B0503020204020204" pitchFamily="34" charset="-122"/>
              </a:rPr>
              <a:t>根据以下规则求第一位商</a:t>
            </a:r>
            <a:r>
              <a:rPr lang="en-US" altLang="zh-CN" sz="1600" dirty="0">
                <a:solidFill>
                  <a:schemeClr val="accent2"/>
                </a:solidFill>
                <a:latin typeface="微软雅黑" panose="020B0503020204020204" pitchFamily="34" charset="-122"/>
                <a:ea typeface="微软雅黑" panose="020B0503020204020204" pitchFamily="34" charset="-122"/>
              </a:rPr>
              <a:t>q</a:t>
            </a:r>
            <a:r>
              <a:rPr lang="en-US" altLang="zh-CN" sz="1600" baseline="-25000" dirty="0">
                <a:solidFill>
                  <a:schemeClr val="accent2"/>
                </a:solidFill>
                <a:latin typeface="微软雅黑" panose="020B0503020204020204" pitchFamily="34" charset="-122"/>
                <a:ea typeface="微软雅黑" panose="020B0503020204020204" pitchFamily="34" charset="-122"/>
              </a:rPr>
              <a:t>n</a:t>
            </a:r>
            <a:r>
              <a:rPr lang="zh-CN" altLang="en-US" sz="1600" dirty="0">
                <a:solidFill>
                  <a:schemeClr val="accent2"/>
                </a:solidFill>
                <a:latin typeface="微软雅黑" panose="020B0503020204020204" pitchFamily="34" charset="-122"/>
                <a:ea typeface="微软雅黑" panose="020B0503020204020204" pitchFamily="34" charset="-122"/>
              </a:rPr>
              <a:t>：</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zh-CN" altLang="en-US" sz="1600" dirty="0">
                <a:solidFill>
                  <a:schemeClr val="accent2"/>
                </a:solidFill>
                <a:latin typeface="微软雅黑" panose="020B0503020204020204" pitchFamily="34" charset="-122"/>
                <a:ea typeface="微软雅黑" panose="020B0503020204020204" pitchFamily="34" charset="-122"/>
              </a:rPr>
              <a:t>      若被除数</a:t>
            </a:r>
            <a:r>
              <a:rPr lang="en-US" altLang="zh-CN" sz="1600" dirty="0">
                <a:solidFill>
                  <a:schemeClr val="accent2"/>
                </a:solidFill>
                <a:latin typeface="微软雅黑" panose="020B0503020204020204" pitchFamily="34" charset="-122"/>
                <a:ea typeface="微软雅黑" panose="020B0503020204020204" pitchFamily="34" charset="-122"/>
              </a:rPr>
              <a:t>X</a:t>
            </a:r>
            <a:r>
              <a:rPr lang="zh-CN" altLang="en-US" sz="1600" dirty="0">
                <a:solidFill>
                  <a:schemeClr val="accent2"/>
                </a:solidFill>
                <a:latin typeface="微软雅黑" panose="020B0503020204020204" pitchFamily="34" charset="-122"/>
                <a:ea typeface="微软雅黑" panose="020B0503020204020204" pitchFamily="34" charset="-122"/>
              </a:rPr>
              <a:t>与</a:t>
            </a:r>
            <a:r>
              <a:rPr lang="en-US" altLang="zh-CN" sz="1600" dirty="0">
                <a:solidFill>
                  <a:schemeClr val="accent2"/>
                </a:solidFill>
                <a:latin typeface="微软雅黑" panose="020B0503020204020204" pitchFamily="34" charset="-122"/>
                <a:ea typeface="微软雅黑" panose="020B0503020204020204" pitchFamily="34" charset="-122"/>
              </a:rPr>
              <a:t>Y</a:t>
            </a:r>
            <a:r>
              <a:rPr lang="zh-CN" altLang="en-US" sz="1600" dirty="0">
                <a:solidFill>
                  <a:schemeClr val="accent2"/>
                </a:solidFill>
                <a:latin typeface="微软雅黑" panose="020B0503020204020204" pitchFamily="34" charset="-122"/>
                <a:ea typeface="微软雅黑" panose="020B0503020204020204" pitchFamily="34" charset="-122"/>
              </a:rPr>
              <a:t>同号，则</a:t>
            </a:r>
            <a:r>
              <a:rPr lang="en-US" altLang="zh-CN" sz="1600" dirty="0">
                <a:solidFill>
                  <a:schemeClr val="accent2"/>
                </a:solidFill>
                <a:latin typeface="微软雅黑" panose="020B0503020204020204" pitchFamily="34" charset="-122"/>
                <a:ea typeface="微软雅黑" panose="020B0503020204020204" pitchFamily="34" charset="-122"/>
              </a:rPr>
              <a:t>R1=X–Y</a:t>
            </a:r>
            <a:r>
              <a:rPr lang="zh-CN" altLang="en-US" sz="1600" dirty="0">
                <a:solidFill>
                  <a:schemeClr val="accent2"/>
                </a:solidFill>
                <a:latin typeface="微软雅黑" panose="020B0503020204020204" pitchFamily="34" charset="-122"/>
                <a:ea typeface="微软雅黑" panose="020B0503020204020204" pitchFamily="34" charset="-122"/>
              </a:rPr>
              <a:t>；否则</a:t>
            </a:r>
            <a:r>
              <a:rPr lang="en-US" altLang="zh-CN" sz="1600" dirty="0">
                <a:solidFill>
                  <a:schemeClr val="accent2"/>
                </a:solidFill>
                <a:latin typeface="微软雅黑" panose="020B0503020204020204" pitchFamily="34" charset="-122"/>
                <a:ea typeface="微软雅黑" panose="020B0503020204020204" pitchFamily="34" charset="-122"/>
              </a:rPr>
              <a:t>R1 =X+Y</a:t>
            </a:r>
            <a:r>
              <a:rPr lang="zh-CN" altLang="en-US" sz="1600" dirty="0">
                <a:solidFill>
                  <a:schemeClr val="accent2"/>
                </a:solidFill>
                <a:latin typeface="微软雅黑" panose="020B0503020204020204" pitchFamily="34" charset="-122"/>
                <a:ea typeface="微软雅黑" panose="020B0503020204020204" pitchFamily="34" charset="-122"/>
              </a:rPr>
              <a:t>，并按以下规则确定商值</a:t>
            </a:r>
            <a:r>
              <a:rPr lang="en-US" altLang="zh-CN" sz="1600" dirty="0">
                <a:solidFill>
                  <a:schemeClr val="accent2"/>
                </a:solidFill>
                <a:latin typeface="微软雅黑" panose="020B0503020204020204" pitchFamily="34" charset="-122"/>
                <a:ea typeface="微软雅黑" panose="020B0503020204020204" pitchFamily="34" charset="-122"/>
              </a:rPr>
              <a:t>q</a:t>
            </a:r>
            <a:r>
              <a:rPr lang="en-US" altLang="zh-CN" sz="1600" baseline="-25000" dirty="0">
                <a:solidFill>
                  <a:schemeClr val="accent2"/>
                </a:solidFill>
                <a:latin typeface="微软雅黑" panose="020B0503020204020204" pitchFamily="34" charset="-122"/>
                <a:ea typeface="微软雅黑" panose="020B0503020204020204" pitchFamily="34" charset="-122"/>
              </a:rPr>
              <a:t>n</a:t>
            </a:r>
            <a:r>
              <a:rPr lang="zh-CN" altLang="en-US" sz="1600" dirty="0">
                <a:solidFill>
                  <a:schemeClr val="accent2"/>
                </a:solidFill>
                <a:latin typeface="微软雅黑" panose="020B0503020204020204" pitchFamily="34" charset="-122"/>
                <a:ea typeface="微软雅黑" panose="020B0503020204020204" pitchFamily="34" charset="-122"/>
              </a:rPr>
              <a:t>：</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zh-CN" altLang="en-US" sz="1600" dirty="0">
                <a:solidFill>
                  <a:schemeClr val="accent2"/>
                </a:solidFill>
                <a:latin typeface="微软雅黑" panose="020B0503020204020204" pitchFamily="34" charset="-122"/>
                <a:ea typeface="微软雅黑" panose="020B0503020204020204" pitchFamily="34" charset="-122"/>
              </a:rPr>
              <a:t>      ① 若新的中间余数</a:t>
            </a:r>
            <a:r>
              <a:rPr lang="en-US" altLang="zh-CN" sz="1600" dirty="0">
                <a:solidFill>
                  <a:schemeClr val="accent2"/>
                </a:solidFill>
                <a:latin typeface="微软雅黑" panose="020B0503020204020204" pitchFamily="34" charset="-122"/>
                <a:ea typeface="微软雅黑" panose="020B0503020204020204" pitchFamily="34" charset="-122"/>
              </a:rPr>
              <a:t>R1</a:t>
            </a:r>
            <a:r>
              <a:rPr lang="zh-CN" altLang="en-US" sz="1600" dirty="0">
                <a:solidFill>
                  <a:schemeClr val="accent2"/>
                </a:solidFill>
                <a:latin typeface="微软雅黑" panose="020B0503020204020204" pitchFamily="34" charset="-122"/>
                <a:ea typeface="微软雅黑" panose="020B0503020204020204" pitchFamily="34" charset="-122"/>
              </a:rPr>
              <a:t>与</a:t>
            </a:r>
            <a:r>
              <a:rPr lang="en-US" altLang="zh-CN" sz="1600" dirty="0">
                <a:solidFill>
                  <a:schemeClr val="accent2"/>
                </a:solidFill>
                <a:latin typeface="微软雅黑" panose="020B0503020204020204" pitchFamily="34" charset="-122"/>
                <a:ea typeface="微软雅黑" panose="020B0503020204020204" pitchFamily="34" charset="-122"/>
              </a:rPr>
              <a:t>Y</a:t>
            </a:r>
            <a:r>
              <a:rPr lang="zh-CN" altLang="en-US" sz="1600" dirty="0">
                <a:solidFill>
                  <a:schemeClr val="accent2"/>
                </a:solidFill>
                <a:latin typeface="微软雅黑" panose="020B0503020204020204" pitchFamily="34" charset="-122"/>
                <a:ea typeface="微软雅黑" panose="020B0503020204020204" pitchFamily="34" charset="-122"/>
              </a:rPr>
              <a:t>同号，则</a:t>
            </a:r>
            <a:r>
              <a:rPr lang="en-US" altLang="zh-CN" sz="1600" dirty="0">
                <a:solidFill>
                  <a:schemeClr val="accent2"/>
                </a:solidFill>
                <a:latin typeface="微软雅黑" panose="020B0503020204020204" pitchFamily="34" charset="-122"/>
                <a:ea typeface="微软雅黑" panose="020B0503020204020204" pitchFamily="34" charset="-122"/>
              </a:rPr>
              <a:t>q</a:t>
            </a:r>
            <a:r>
              <a:rPr lang="en-US" altLang="zh-CN" sz="1600" baseline="-25000" dirty="0">
                <a:solidFill>
                  <a:schemeClr val="accent2"/>
                </a:solidFill>
                <a:latin typeface="微软雅黑" panose="020B0503020204020204" pitchFamily="34" charset="-122"/>
                <a:ea typeface="微软雅黑" panose="020B0503020204020204" pitchFamily="34" charset="-122"/>
              </a:rPr>
              <a:t>n</a:t>
            </a:r>
            <a:r>
              <a:rPr lang="zh-CN" altLang="en-US" sz="1600" dirty="0">
                <a:solidFill>
                  <a:schemeClr val="accent2"/>
                </a:solidFill>
                <a:latin typeface="微软雅黑" panose="020B0503020204020204" pitchFamily="34" charset="-122"/>
                <a:ea typeface="微软雅黑" panose="020B0503020204020204" pitchFamily="34" charset="-122"/>
              </a:rPr>
              <a:t>置１，转下一步；</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zh-CN" altLang="en-US" sz="1600" dirty="0">
                <a:solidFill>
                  <a:schemeClr val="accent2"/>
                </a:solidFill>
                <a:latin typeface="微软雅黑" panose="020B0503020204020204" pitchFamily="34" charset="-122"/>
                <a:ea typeface="微软雅黑" panose="020B0503020204020204" pitchFamily="34" charset="-122"/>
              </a:rPr>
              <a:t>      ② 若新的中间余数</a:t>
            </a:r>
            <a:r>
              <a:rPr lang="en-US" altLang="zh-CN" sz="1600" dirty="0">
                <a:solidFill>
                  <a:schemeClr val="accent2"/>
                </a:solidFill>
                <a:latin typeface="微软雅黑" panose="020B0503020204020204" pitchFamily="34" charset="-122"/>
                <a:ea typeface="微软雅黑" panose="020B0503020204020204" pitchFamily="34" charset="-122"/>
              </a:rPr>
              <a:t>R1</a:t>
            </a:r>
            <a:r>
              <a:rPr lang="zh-CN" altLang="en-US" sz="1600" dirty="0">
                <a:solidFill>
                  <a:schemeClr val="accent2"/>
                </a:solidFill>
                <a:latin typeface="微软雅黑" panose="020B0503020204020204" pitchFamily="34" charset="-122"/>
                <a:ea typeface="微软雅黑" panose="020B0503020204020204" pitchFamily="34" charset="-122"/>
              </a:rPr>
              <a:t>与</a:t>
            </a:r>
            <a:r>
              <a:rPr lang="en-US" altLang="zh-CN" sz="1600" dirty="0">
                <a:solidFill>
                  <a:schemeClr val="accent2"/>
                </a:solidFill>
                <a:latin typeface="微软雅黑" panose="020B0503020204020204" pitchFamily="34" charset="-122"/>
                <a:ea typeface="微软雅黑" panose="020B0503020204020204" pitchFamily="34" charset="-122"/>
              </a:rPr>
              <a:t>Y</a:t>
            </a:r>
            <a:r>
              <a:rPr lang="zh-CN" altLang="en-US" sz="1600" dirty="0">
                <a:solidFill>
                  <a:schemeClr val="accent2"/>
                </a:solidFill>
                <a:latin typeface="微软雅黑" panose="020B0503020204020204" pitchFamily="34" charset="-122"/>
                <a:ea typeface="微软雅黑" panose="020B0503020204020204" pitchFamily="34" charset="-122"/>
              </a:rPr>
              <a:t>异号，则</a:t>
            </a:r>
            <a:r>
              <a:rPr lang="en-US" altLang="zh-CN" sz="1600" dirty="0">
                <a:solidFill>
                  <a:schemeClr val="accent2"/>
                </a:solidFill>
                <a:latin typeface="微软雅黑" panose="020B0503020204020204" pitchFamily="34" charset="-122"/>
                <a:ea typeface="微软雅黑" panose="020B0503020204020204" pitchFamily="34" charset="-122"/>
              </a:rPr>
              <a:t>q</a:t>
            </a:r>
            <a:r>
              <a:rPr lang="en-US" altLang="zh-CN" sz="1600" baseline="-25000" dirty="0">
                <a:solidFill>
                  <a:schemeClr val="accent2"/>
                </a:solidFill>
                <a:latin typeface="微软雅黑" panose="020B0503020204020204" pitchFamily="34" charset="-122"/>
                <a:ea typeface="微软雅黑" panose="020B0503020204020204" pitchFamily="34" charset="-122"/>
              </a:rPr>
              <a:t>n</a:t>
            </a:r>
            <a:r>
              <a:rPr lang="zh-CN" altLang="en-US" sz="1600" dirty="0">
                <a:solidFill>
                  <a:schemeClr val="accent2"/>
                </a:solidFill>
                <a:latin typeface="微软雅黑" panose="020B0503020204020204" pitchFamily="34" charset="-122"/>
                <a:ea typeface="微软雅黑" panose="020B0503020204020204" pitchFamily="34" charset="-122"/>
              </a:rPr>
              <a:t>置</a:t>
            </a:r>
            <a:r>
              <a:rPr lang="en-US" altLang="zh-CN" sz="1600" dirty="0">
                <a:solidFill>
                  <a:schemeClr val="accent2"/>
                </a:solidFill>
                <a:latin typeface="微软雅黑" panose="020B0503020204020204" pitchFamily="34" charset="-122"/>
                <a:ea typeface="微软雅黑" panose="020B0503020204020204" pitchFamily="34" charset="-122"/>
              </a:rPr>
              <a:t>0</a:t>
            </a:r>
            <a:r>
              <a:rPr lang="zh-CN" altLang="en-US" sz="1600" dirty="0">
                <a:solidFill>
                  <a:schemeClr val="accent2"/>
                </a:solidFill>
                <a:latin typeface="微软雅黑" panose="020B0503020204020204" pitchFamily="34" charset="-122"/>
                <a:ea typeface="微软雅黑" panose="020B0503020204020204" pitchFamily="34" charset="-122"/>
              </a:rPr>
              <a:t>，转下一步；</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en-US" altLang="zh-CN" sz="1600" dirty="0">
                <a:solidFill>
                  <a:schemeClr val="accent2"/>
                </a:solidFill>
                <a:latin typeface="微软雅黑" panose="020B0503020204020204" pitchFamily="34" charset="-122"/>
                <a:ea typeface="微软雅黑" panose="020B0503020204020204" pitchFamily="34" charset="-122"/>
              </a:rPr>
              <a:t>      </a:t>
            </a:r>
            <a:r>
              <a:rPr lang="en-US" altLang="zh-CN" sz="1600" dirty="0">
                <a:solidFill>
                  <a:srgbClr val="CC3300"/>
                </a:solidFill>
                <a:latin typeface="微软雅黑" panose="020B0503020204020204" pitchFamily="34" charset="-122"/>
                <a:ea typeface="微软雅黑" panose="020B0503020204020204" pitchFamily="34" charset="-122"/>
              </a:rPr>
              <a:t>q</a:t>
            </a:r>
            <a:r>
              <a:rPr lang="en-US" altLang="zh-CN" sz="1600" baseline="-25000" dirty="0">
                <a:solidFill>
                  <a:srgbClr val="CC3300"/>
                </a:solidFill>
                <a:latin typeface="微软雅黑" panose="020B0503020204020204" pitchFamily="34" charset="-122"/>
                <a:ea typeface="微软雅黑" panose="020B0503020204020204" pitchFamily="34" charset="-122"/>
              </a:rPr>
              <a:t>n</a:t>
            </a:r>
            <a:r>
              <a:rPr lang="zh-CN" altLang="en-US" sz="1600" dirty="0">
                <a:solidFill>
                  <a:srgbClr val="CC3300"/>
                </a:solidFill>
                <a:latin typeface="微软雅黑" panose="020B0503020204020204" pitchFamily="34" charset="-122"/>
                <a:ea typeface="微软雅黑" panose="020B0503020204020204" pitchFamily="34" charset="-122"/>
              </a:rPr>
              <a:t>用来判断是否溢出，而不是真正的商。以下情况下会发生溢出：</a:t>
            </a:r>
            <a:endParaRPr lang="zh-CN" altLang="en-US" sz="1600" dirty="0">
              <a:solidFill>
                <a:srgbClr val="CC3300"/>
              </a:solidFill>
              <a:latin typeface="微软雅黑" panose="020B0503020204020204" pitchFamily="34" charset="-122"/>
              <a:ea typeface="微软雅黑" panose="020B0503020204020204" pitchFamily="34" charset="-122"/>
            </a:endParaRPr>
          </a:p>
          <a:p>
            <a:pPr marL="381000" indent="-381000">
              <a:lnSpc>
                <a:spcPct val="115000"/>
              </a:lnSpc>
              <a:buNone/>
            </a:pPr>
            <a:r>
              <a:rPr lang="zh-CN" altLang="en-US" sz="1600" dirty="0">
                <a:solidFill>
                  <a:srgbClr val="CC3300"/>
                </a:solidFill>
                <a:latin typeface="微软雅黑" panose="020B0503020204020204" pitchFamily="34" charset="-122"/>
                <a:ea typeface="微软雅黑" panose="020B0503020204020204" pitchFamily="34" charset="-122"/>
              </a:rPr>
              <a:t>      若</a:t>
            </a:r>
            <a:r>
              <a:rPr lang="en-US" altLang="zh-CN" sz="1600" dirty="0">
                <a:solidFill>
                  <a:srgbClr val="CC3300"/>
                </a:solidFill>
                <a:latin typeface="微软雅黑" panose="020B0503020204020204" pitchFamily="34" charset="-122"/>
                <a:ea typeface="微软雅黑" panose="020B0503020204020204" pitchFamily="34" charset="-122"/>
              </a:rPr>
              <a:t>X</a:t>
            </a:r>
            <a:r>
              <a:rPr lang="zh-CN" altLang="en-US" sz="1600" dirty="0">
                <a:solidFill>
                  <a:srgbClr val="CC3300"/>
                </a:solidFill>
                <a:latin typeface="微软雅黑" panose="020B0503020204020204" pitchFamily="34" charset="-122"/>
                <a:ea typeface="微软雅黑" panose="020B0503020204020204" pitchFamily="34" charset="-122"/>
              </a:rPr>
              <a:t>与</a:t>
            </a:r>
            <a:r>
              <a:rPr lang="en-US" altLang="zh-CN" sz="1600" dirty="0">
                <a:solidFill>
                  <a:srgbClr val="CC3300"/>
                </a:solidFill>
                <a:latin typeface="微软雅黑" panose="020B0503020204020204" pitchFamily="34" charset="-122"/>
                <a:ea typeface="微软雅黑" panose="020B0503020204020204" pitchFamily="34" charset="-122"/>
              </a:rPr>
              <a:t>Y</a:t>
            </a:r>
            <a:r>
              <a:rPr lang="zh-CN" altLang="en-US" sz="1600" dirty="0">
                <a:solidFill>
                  <a:srgbClr val="CC3300"/>
                </a:solidFill>
                <a:latin typeface="微软雅黑" panose="020B0503020204020204" pitchFamily="34" charset="-122"/>
                <a:ea typeface="微软雅黑" panose="020B0503020204020204" pitchFamily="34" charset="-122"/>
              </a:rPr>
              <a:t>同号且上商</a:t>
            </a:r>
            <a:r>
              <a:rPr lang="en-US" altLang="zh-CN" sz="1600" dirty="0">
                <a:solidFill>
                  <a:srgbClr val="CC3300"/>
                </a:solidFill>
                <a:latin typeface="微软雅黑" panose="020B0503020204020204" pitchFamily="34" charset="-122"/>
                <a:ea typeface="微软雅黑" panose="020B0503020204020204" pitchFamily="34" charset="-122"/>
              </a:rPr>
              <a:t>q</a:t>
            </a:r>
            <a:r>
              <a:rPr lang="en-US" altLang="zh-CN" sz="1600" baseline="-25000" dirty="0">
                <a:solidFill>
                  <a:srgbClr val="CC3300"/>
                </a:solidFill>
                <a:latin typeface="微软雅黑" panose="020B0503020204020204" pitchFamily="34" charset="-122"/>
                <a:ea typeface="微软雅黑" panose="020B0503020204020204" pitchFamily="34" charset="-122"/>
              </a:rPr>
              <a:t>n</a:t>
            </a:r>
            <a:r>
              <a:rPr lang="en-US" altLang="zh-CN" sz="1600" dirty="0">
                <a:solidFill>
                  <a:srgbClr val="CC3300"/>
                </a:solidFill>
                <a:latin typeface="微软雅黑" panose="020B0503020204020204" pitchFamily="34" charset="-122"/>
                <a:ea typeface="微软雅黑" panose="020B0503020204020204" pitchFamily="34" charset="-122"/>
              </a:rPr>
              <a:t>=1</a:t>
            </a:r>
            <a:r>
              <a:rPr lang="zh-CN" altLang="en-US" sz="1600" dirty="0">
                <a:solidFill>
                  <a:srgbClr val="CC3300"/>
                </a:solidFill>
                <a:latin typeface="微软雅黑" panose="020B0503020204020204" pitchFamily="34" charset="-122"/>
                <a:ea typeface="微软雅黑" panose="020B0503020204020204" pitchFamily="34" charset="-122"/>
              </a:rPr>
              <a:t>，或者，若</a:t>
            </a:r>
            <a:r>
              <a:rPr lang="en-US" altLang="zh-CN" sz="1600" dirty="0">
                <a:solidFill>
                  <a:srgbClr val="CC3300"/>
                </a:solidFill>
                <a:latin typeface="微软雅黑" panose="020B0503020204020204" pitchFamily="34" charset="-122"/>
                <a:ea typeface="微软雅黑" panose="020B0503020204020204" pitchFamily="34" charset="-122"/>
              </a:rPr>
              <a:t>X</a:t>
            </a:r>
            <a:r>
              <a:rPr lang="zh-CN" altLang="en-US" sz="1600" dirty="0">
                <a:solidFill>
                  <a:srgbClr val="CC3300"/>
                </a:solidFill>
                <a:latin typeface="微软雅黑" panose="020B0503020204020204" pitchFamily="34" charset="-122"/>
                <a:ea typeface="微软雅黑" panose="020B0503020204020204" pitchFamily="34" charset="-122"/>
              </a:rPr>
              <a:t>与</a:t>
            </a:r>
            <a:r>
              <a:rPr lang="en-US" altLang="zh-CN" sz="1600" dirty="0">
                <a:solidFill>
                  <a:srgbClr val="CC3300"/>
                </a:solidFill>
                <a:latin typeface="微软雅黑" panose="020B0503020204020204" pitchFamily="34" charset="-122"/>
                <a:ea typeface="微软雅黑" panose="020B0503020204020204" pitchFamily="34" charset="-122"/>
              </a:rPr>
              <a:t>Y</a:t>
            </a:r>
            <a:r>
              <a:rPr lang="zh-CN" altLang="en-US" sz="1600" dirty="0">
                <a:solidFill>
                  <a:srgbClr val="CC3300"/>
                </a:solidFill>
                <a:latin typeface="微软雅黑" panose="020B0503020204020204" pitchFamily="34" charset="-122"/>
                <a:ea typeface="微软雅黑" panose="020B0503020204020204" pitchFamily="34" charset="-122"/>
              </a:rPr>
              <a:t>异号且上商</a:t>
            </a:r>
            <a:r>
              <a:rPr lang="en-US" altLang="zh-CN" sz="1600" dirty="0">
                <a:solidFill>
                  <a:srgbClr val="CC3300"/>
                </a:solidFill>
                <a:latin typeface="微软雅黑" panose="020B0503020204020204" pitchFamily="34" charset="-122"/>
                <a:ea typeface="微软雅黑" panose="020B0503020204020204" pitchFamily="34" charset="-122"/>
              </a:rPr>
              <a:t>q</a:t>
            </a:r>
            <a:r>
              <a:rPr lang="en-US" altLang="zh-CN" sz="1600" baseline="-25000" dirty="0">
                <a:solidFill>
                  <a:srgbClr val="CC3300"/>
                </a:solidFill>
                <a:latin typeface="微软雅黑" panose="020B0503020204020204" pitchFamily="34" charset="-122"/>
                <a:ea typeface="微软雅黑" panose="020B0503020204020204" pitchFamily="34" charset="-122"/>
              </a:rPr>
              <a:t>n</a:t>
            </a:r>
            <a:r>
              <a:rPr lang="en-US" altLang="zh-CN" sz="1600" dirty="0">
                <a:solidFill>
                  <a:srgbClr val="CC3300"/>
                </a:solidFill>
                <a:latin typeface="微软雅黑" panose="020B0503020204020204" pitchFamily="34" charset="-122"/>
                <a:ea typeface="微软雅黑" panose="020B0503020204020204" pitchFamily="34" charset="-122"/>
              </a:rPr>
              <a:t> = 0</a:t>
            </a:r>
            <a:r>
              <a:rPr lang="zh-CN" altLang="en-US" sz="1600" dirty="0">
                <a:solidFill>
                  <a:srgbClr val="CC3300"/>
                </a:solidFill>
                <a:latin typeface="微软雅黑" panose="020B0503020204020204" pitchFamily="34" charset="-122"/>
                <a:ea typeface="微软雅黑" panose="020B0503020204020204" pitchFamily="34" charset="-122"/>
              </a:rPr>
              <a:t>。</a:t>
            </a:r>
            <a:endParaRPr lang="zh-CN" altLang="en-US" sz="1600" dirty="0">
              <a:solidFill>
                <a:srgbClr val="CC3300"/>
              </a:solidFill>
              <a:latin typeface="微软雅黑" panose="020B0503020204020204" pitchFamily="34" charset="-122"/>
              <a:ea typeface="微软雅黑" panose="020B0503020204020204" pitchFamily="34" charset="-122"/>
            </a:endParaRPr>
          </a:p>
          <a:p>
            <a:pPr marL="381000" indent="-381000">
              <a:lnSpc>
                <a:spcPct val="115000"/>
              </a:lnSpc>
              <a:buNone/>
            </a:pPr>
            <a:r>
              <a:rPr lang="en-US" altLang="zh-CN" sz="1600" dirty="0">
                <a:solidFill>
                  <a:schemeClr val="accent2"/>
                </a:solidFill>
                <a:latin typeface="微软雅黑" panose="020B0503020204020204" pitchFamily="34" charset="-122"/>
                <a:ea typeface="微软雅黑" panose="020B0503020204020204" pitchFamily="34" charset="-122"/>
              </a:rPr>
              <a:t>(3) </a:t>
            </a:r>
            <a:r>
              <a:rPr lang="zh-CN" altLang="en-US" sz="1600" dirty="0">
                <a:solidFill>
                  <a:schemeClr val="accent2"/>
                </a:solidFill>
                <a:latin typeface="微软雅黑" panose="020B0503020204020204" pitchFamily="34" charset="-122"/>
                <a:ea typeface="微软雅黑" panose="020B0503020204020204" pitchFamily="34" charset="-122"/>
              </a:rPr>
              <a:t>对于</a:t>
            </a:r>
            <a:r>
              <a:rPr lang="en-US" altLang="zh-CN" sz="1600" dirty="0">
                <a:solidFill>
                  <a:schemeClr val="accent2"/>
                </a:solidFill>
                <a:latin typeface="微软雅黑" panose="020B0503020204020204" pitchFamily="34" charset="-122"/>
                <a:ea typeface="微软雅黑" panose="020B0503020204020204" pitchFamily="34" charset="-122"/>
              </a:rPr>
              <a:t>i =1</a:t>
            </a:r>
            <a:r>
              <a:rPr lang="zh-CN" altLang="en-US" sz="1600" dirty="0">
                <a:solidFill>
                  <a:schemeClr val="accent2"/>
                </a:solidFill>
                <a:latin typeface="微软雅黑" panose="020B0503020204020204" pitchFamily="34" charset="-122"/>
                <a:ea typeface="微软雅黑" panose="020B0503020204020204" pitchFamily="34" charset="-122"/>
              </a:rPr>
              <a:t>到</a:t>
            </a:r>
            <a:r>
              <a:rPr lang="en-US" altLang="zh-CN" sz="1600" dirty="0">
                <a:solidFill>
                  <a:schemeClr val="accent2"/>
                </a:solidFill>
                <a:latin typeface="微软雅黑" panose="020B0503020204020204" pitchFamily="34" charset="-122"/>
                <a:ea typeface="微软雅黑" panose="020B0503020204020204" pitchFamily="34" charset="-122"/>
              </a:rPr>
              <a:t>n </a:t>
            </a:r>
            <a:r>
              <a:rPr lang="zh-CN" altLang="en-US" sz="1600" dirty="0">
                <a:solidFill>
                  <a:schemeClr val="accent2"/>
                </a:solidFill>
                <a:latin typeface="微软雅黑" panose="020B0503020204020204" pitchFamily="34" charset="-122"/>
                <a:ea typeface="微软雅黑" panose="020B0503020204020204" pitchFamily="34" charset="-122"/>
              </a:rPr>
              <a:t>，按以下规则求出</a:t>
            </a:r>
            <a:r>
              <a:rPr lang="en-US" altLang="zh-CN" sz="1600" dirty="0">
                <a:solidFill>
                  <a:schemeClr val="accent2"/>
                </a:solidFill>
                <a:latin typeface="微软雅黑" panose="020B0503020204020204" pitchFamily="34" charset="-122"/>
                <a:ea typeface="微软雅黑" panose="020B0503020204020204" pitchFamily="34" charset="-122"/>
              </a:rPr>
              <a:t>n</a:t>
            </a:r>
            <a:r>
              <a:rPr lang="zh-CN" altLang="en-US" sz="1600" dirty="0">
                <a:solidFill>
                  <a:schemeClr val="accent2"/>
                </a:solidFill>
                <a:latin typeface="微软雅黑" panose="020B0503020204020204" pitchFamily="34" charset="-122"/>
                <a:ea typeface="微软雅黑" panose="020B0503020204020204" pitchFamily="34" charset="-122"/>
              </a:rPr>
              <a:t>位商：</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zh-CN" altLang="en-US" sz="1600" dirty="0">
                <a:solidFill>
                  <a:schemeClr val="accent2"/>
                </a:solidFill>
                <a:latin typeface="微软雅黑" panose="020B0503020204020204" pitchFamily="34" charset="-122"/>
                <a:ea typeface="微软雅黑" panose="020B0503020204020204" pitchFamily="34" charset="-122"/>
              </a:rPr>
              <a:t>      ① 若</a:t>
            </a:r>
            <a:r>
              <a:rPr lang="en-US" altLang="zh-CN" sz="1600" dirty="0">
                <a:solidFill>
                  <a:schemeClr val="accent2"/>
                </a:solidFill>
                <a:latin typeface="微软雅黑" panose="020B0503020204020204" pitchFamily="34" charset="-122"/>
                <a:ea typeface="微软雅黑" panose="020B0503020204020204" pitchFamily="34" charset="-122"/>
              </a:rPr>
              <a:t>Ri</a:t>
            </a:r>
            <a:r>
              <a:rPr lang="zh-CN" altLang="en-US" sz="1600" dirty="0">
                <a:solidFill>
                  <a:schemeClr val="accent2"/>
                </a:solidFill>
                <a:latin typeface="微软雅黑" panose="020B0503020204020204" pitchFamily="34" charset="-122"/>
                <a:ea typeface="微软雅黑" panose="020B0503020204020204" pitchFamily="34" charset="-122"/>
              </a:rPr>
              <a:t>与</a:t>
            </a:r>
            <a:r>
              <a:rPr lang="en-US" altLang="zh-CN" sz="1600" dirty="0">
                <a:solidFill>
                  <a:schemeClr val="accent2"/>
                </a:solidFill>
                <a:latin typeface="微软雅黑" panose="020B0503020204020204" pitchFamily="34" charset="-122"/>
                <a:ea typeface="微软雅黑" panose="020B0503020204020204" pitchFamily="34" charset="-122"/>
              </a:rPr>
              <a:t>Y</a:t>
            </a:r>
            <a:r>
              <a:rPr lang="zh-CN" altLang="en-US" sz="1600" dirty="0">
                <a:solidFill>
                  <a:schemeClr val="accent2"/>
                </a:solidFill>
                <a:latin typeface="微软雅黑" panose="020B0503020204020204" pitchFamily="34" charset="-122"/>
                <a:ea typeface="微软雅黑" panose="020B0503020204020204" pitchFamily="34" charset="-122"/>
              </a:rPr>
              <a:t>同号，则</a:t>
            </a:r>
            <a:r>
              <a:rPr lang="en-US" altLang="zh-CN" sz="1600" dirty="0">
                <a:solidFill>
                  <a:schemeClr val="accent2"/>
                </a:solidFill>
                <a:latin typeface="微软雅黑" panose="020B0503020204020204" pitchFamily="34" charset="-122"/>
                <a:ea typeface="微软雅黑" panose="020B0503020204020204" pitchFamily="34" charset="-122"/>
              </a:rPr>
              <a:t>q</a:t>
            </a:r>
            <a:r>
              <a:rPr lang="en-US" altLang="zh-CN" sz="1600" baseline="-25000" dirty="0">
                <a:solidFill>
                  <a:schemeClr val="accent2"/>
                </a:solidFill>
                <a:latin typeface="微软雅黑" panose="020B0503020204020204" pitchFamily="34" charset="-122"/>
                <a:ea typeface="微软雅黑" panose="020B0503020204020204" pitchFamily="34" charset="-122"/>
              </a:rPr>
              <a:t>n-i</a:t>
            </a:r>
            <a:r>
              <a:rPr lang="zh-CN" altLang="en-US" sz="1600" dirty="0">
                <a:solidFill>
                  <a:schemeClr val="accent2"/>
                </a:solidFill>
                <a:latin typeface="微软雅黑" panose="020B0503020204020204" pitchFamily="34" charset="-122"/>
                <a:ea typeface="微软雅黑" panose="020B0503020204020204" pitchFamily="34" charset="-122"/>
              </a:rPr>
              <a:t>置１，</a:t>
            </a:r>
            <a:r>
              <a:rPr lang="en-US" altLang="zh-CN" sz="1600" dirty="0">
                <a:solidFill>
                  <a:schemeClr val="accent2"/>
                </a:solidFill>
                <a:latin typeface="微软雅黑" panose="020B0503020204020204" pitchFamily="34" charset="-122"/>
                <a:ea typeface="微软雅黑" panose="020B0503020204020204" pitchFamily="34" charset="-122"/>
              </a:rPr>
              <a:t>Ri+1 = 2Ri –[Y]</a:t>
            </a:r>
            <a:r>
              <a:rPr lang="zh-CN" altLang="en-US" sz="1600" dirty="0">
                <a:solidFill>
                  <a:schemeClr val="accent2"/>
                </a:solidFill>
                <a:latin typeface="微软雅黑" panose="020B0503020204020204" pitchFamily="34" charset="-122"/>
                <a:ea typeface="微软雅黑" panose="020B0503020204020204" pitchFamily="34" charset="-122"/>
              </a:rPr>
              <a:t>补，</a:t>
            </a:r>
            <a:r>
              <a:rPr lang="en-US" altLang="zh-CN" sz="1600" dirty="0">
                <a:solidFill>
                  <a:schemeClr val="accent2"/>
                </a:solidFill>
                <a:latin typeface="微软雅黑" panose="020B0503020204020204" pitchFamily="34" charset="-122"/>
                <a:ea typeface="微软雅黑" panose="020B0503020204020204" pitchFamily="34" charset="-122"/>
              </a:rPr>
              <a:t>i = i +1</a:t>
            </a:r>
            <a:r>
              <a:rPr lang="zh-CN" altLang="en-US" sz="1600" dirty="0">
                <a:solidFill>
                  <a:schemeClr val="accent2"/>
                </a:solidFill>
                <a:latin typeface="微软雅黑" panose="020B0503020204020204" pitchFamily="34" charset="-122"/>
                <a:ea typeface="微软雅黑" panose="020B0503020204020204" pitchFamily="34" charset="-122"/>
              </a:rPr>
              <a:t>；</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zh-CN" altLang="en-US" sz="1600" dirty="0">
                <a:solidFill>
                  <a:schemeClr val="accent2"/>
                </a:solidFill>
                <a:latin typeface="微软雅黑" panose="020B0503020204020204" pitchFamily="34" charset="-122"/>
                <a:ea typeface="微软雅黑" panose="020B0503020204020204" pitchFamily="34" charset="-122"/>
              </a:rPr>
              <a:t>      ② 若</a:t>
            </a:r>
            <a:r>
              <a:rPr lang="en-US" altLang="zh-CN" sz="1600" dirty="0">
                <a:solidFill>
                  <a:schemeClr val="accent2"/>
                </a:solidFill>
                <a:latin typeface="微软雅黑" panose="020B0503020204020204" pitchFamily="34" charset="-122"/>
                <a:ea typeface="微软雅黑" panose="020B0503020204020204" pitchFamily="34" charset="-122"/>
              </a:rPr>
              <a:t>Ri</a:t>
            </a:r>
            <a:r>
              <a:rPr lang="zh-CN" altLang="en-US" sz="1600" dirty="0">
                <a:solidFill>
                  <a:schemeClr val="accent2"/>
                </a:solidFill>
                <a:latin typeface="微软雅黑" panose="020B0503020204020204" pitchFamily="34" charset="-122"/>
                <a:ea typeface="微软雅黑" panose="020B0503020204020204" pitchFamily="34" charset="-122"/>
              </a:rPr>
              <a:t>与</a:t>
            </a:r>
            <a:r>
              <a:rPr lang="en-US" altLang="zh-CN" sz="1600" dirty="0">
                <a:solidFill>
                  <a:schemeClr val="accent2"/>
                </a:solidFill>
                <a:latin typeface="微软雅黑" panose="020B0503020204020204" pitchFamily="34" charset="-122"/>
                <a:ea typeface="微软雅黑" panose="020B0503020204020204" pitchFamily="34" charset="-122"/>
              </a:rPr>
              <a:t>Y</a:t>
            </a:r>
            <a:r>
              <a:rPr lang="zh-CN" altLang="en-US" sz="1600" dirty="0">
                <a:solidFill>
                  <a:schemeClr val="accent2"/>
                </a:solidFill>
                <a:latin typeface="微软雅黑" panose="020B0503020204020204" pitchFamily="34" charset="-122"/>
                <a:ea typeface="微软雅黑" panose="020B0503020204020204" pitchFamily="34" charset="-122"/>
              </a:rPr>
              <a:t>异号，则</a:t>
            </a:r>
            <a:r>
              <a:rPr lang="en-US" altLang="zh-CN" sz="1600" dirty="0">
                <a:solidFill>
                  <a:schemeClr val="accent2"/>
                </a:solidFill>
                <a:latin typeface="微软雅黑" panose="020B0503020204020204" pitchFamily="34" charset="-122"/>
                <a:ea typeface="微软雅黑" panose="020B0503020204020204" pitchFamily="34" charset="-122"/>
              </a:rPr>
              <a:t>q</a:t>
            </a:r>
            <a:r>
              <a:rPr lang="en-US" altLang="zh-CN" sz="1600" baseline="-25000" dirty="0">
                <a:solidFill>
                  <a:schemeClr val="accent2"/>
                </a:solidFill>
                <a:latin typeface="微软雅黑" panose="020B0503020204020204" pitchFamily="34" charset="-122"/>
                <a:ea typeface="微软雅黑" panose="020B0503020204020204" pitchFamily="34" charset="-122"/>
              </a:rPr>
              <a:t>n-i</a:t>
            </a:r>
            <a:r>
              <a:rPr lang="zh-CN" altLang="en-US" sz="1600" dirty="0">
                <a:solidFill>
                  <a:schemeClr val="accent2"/>
                </a:solidFill>
                <a:latin typeface="微软雅黑" panose="020B0503020204020204" pitchFamily="34" charset="-122"/>
                <a:ea typeface="微软雅黑" panose="020B0503020204020204" pitchFamily="34" charset="-122"/>
              </a:rPr>
              <a:t>置</a:t>
            </a:r>
            <a:r>
              <a:rPr lang="en-US" altLang="zh-CN" sz="1600" dirty="0">
                <a:solidFill>
                  <a:schemeClr val="accent2"/>
                </a:solidFill>
                <a:latin typeface="微软雅黑" panose="020B0503020204020204" pitchFamily="34" charset="-122"/>
                <a:ea typeface="微软雅黑" panose="020B0503020204020204" pitchFamily="34" charset="-122"/>
              </a:rPr>
              <a:t>0</a:t>
            </a:r>
            <a:r>
              <a:rPr lang="zh-CN" altLang="en-US" sz="1600" dirty="0">
                <a:solidFill>
                  <a:schemeClr val="accent2"/>
                </a:solidFill>
                <a:latin typeface="微软雅黑" panose="020B0503020204020204" pitchFamily="34" charset="-122"/>
                <a:ea typeface="微软雅黑" panose="020B0503020204020204" pitchFamily="34" charset="-122"/>
              </a:rPr>
              <a:t>，</a:t>
            </a:r>
            <a:r>
              <a:rPr lang="en-US" altLang="zh-CN" sz="1600" dirty="0">
                <a:solidFill>
                  <a:schemeClr val="accent2"/>
                </a:solidFill>
                <a:latin typeface="微软雅黑" panose="020B0503020204020204" pitchFamily="34" charset="-122"/>
                <a:ea typeface="微软雅黑" panose="020B0503020204020204" pitchFamily="34" charset="-122"/>
              </a:rPr>
              <a:t>Ri+1 =2Ri+[Y]</a:t>
            </a:r>
            <a:r>
              <a:rPr lang="zh-CN" altLang="en-US" sz="1600" dirty="0">
                <a:solidFill>
                  <a:schemeClr val="accent2"/>
                </a:solidFill>
                <a:latin typeface="微软雅黑" panose="020B0503020204020204" pitchFamily="34" charset="-122"/>
                <a:ea typeface="微软雅黑" panose="020B0503020204020204" pitchFamily="34" charset="-122"/>
              </a:rPr>
              <a:t>补，</a:t>
            </a:r>
            <a:r>
              <a:rPr lang="en-US" altLang="zh-CN" sz="1600" dirty="0">
                <a:solidFill>
                  <a:schemeClr val="accent2"/>
                </a:solidFill>
                <a:latin typeface="微软雅黑" panose="020B0503020204020204" pitchFamily="34" charset="-122"/>
                <a:ea typeface="微软雅黑" panose="020B0503020204020204" pitchFamily="34" charset="-122"/>
              </a:rPr>
              <a:t>i = i +1</a:t>
            </a:r>
            <a:r>
              <a:rPr lang="zh-CN" altLang="en-US" sz="1600" dirty="0">
                <a:solidFill>
                  <a:schemeClr val="accent2"/>
                </a:solidFill>
                <a:latin typeface="微软雅黑" panose="020B0503020204020204" pitchFamily="34" charset="-122"/>
                <a:ea typeface="微软雅黑" panose="020B0503020204020204" pitchFamily="34" charset="-122"/>
              </a:rPr>
              <a:t>；</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en-US" altLang="zh-CN" sz="1600" dirty="0">
                <a:solidFill>
                  <a:schemeClr val="accent2"/>
                </a:solidFill>
                <a:latin typeface="微软雅黑" panose="020B0503020204020204" pitchFamily="34" charset="-122"/>
                <a:ea typeface="微软雅黑" panose="020B0503020204020204" pitchFamily="34" charset="-122"/>
              </a:rPr>
              <a:t>(4) </a:t>
            </a:r>
            <a:r>
              <a:rPr lang="zh-CN" altLang="en-US" sz="1600" dirty="0">
                <a:solidFill>
                  <a:srgbClr val="008000"/>
                </a:solidFill>
                <a:latin typeface="微软雅黑" panose="020B0503020204020204" pitchFamily="34" charset="-122"/>
                <a:ea typeface="微软雅黑" panose="020B0503020204020204" pitchFamily="34" charset="-122"/>
              </a:rPr>
              <a:t>商的修正</a:t>
            </a:r>
            <a:r>
              <a:rPr lang="zh-CN" altLang="en-US" sz="1600" dirty="0">
                <a:solidFill>
                  <a:schemeClr val="accent2"/>
                </a:solidFill>
                <a:latin typeface="微软雅黑" panose="020B0503020204020204" pitchFamily="34" charset="-122"/>
                <a:ea typeface="微软雅黑" panose="020B0503020204020204" pitchFamily="34" charset="-122"/>
              </a:rPr>
              <a:t>：最后一次</a:t>
            </a:r>
            <a:r>
              <a:rPr lang="en-US" altLang="zh-CN" sz="1600" dirty="0">
                <a:solidFill>
                  <a:schemeClr val="accent2"/>
                </a:solidFill>
                <a:latin typeface="微软雅黑" panose="020B0503020204020204" pitchFamily="34" charset="-122"/>
                <a:ea typeface="微软雅黑" panose="020B0503020204020204" pitchFamily="34" charset="-122"/>
              </a:rPr>
              <a:t>Q</a:t>
            </a:r>
            <a:r>
              <a:rPr lang="zh-CN" altLang="en-US" sz="1600" dirty="0">
                <a:solidFill>
                  <a:schemeClr val="accent2"/>
                </a:solidFill>
                <a:latin typeface="微软雅黑" panose="020B0503020204020204" pitchFamily="34" charset="-122"/>
                <a:ea typeface="微软雅黑" panose="020B0503020204020204" pitchFamily="34" charset="-122"/>
              </a:rPr>
              <a:t>寄存器左移一位，将最高位</a:t>
            </a:r>
            <a:r>
              <a:rPr lang="en-US" altLang="zh-CN" sz="1600" dirty="0">
                <a:solidFill>
                  <a:schemeClr val="accent2"/>
                </a:solidFill>
                <a:latin typeface="微软雅黑" panose="020B0503020204020204" pitchFamily="34" charset="-122"/>
                <a:ea typeface="微软雅黑" panose="020B0503020204020204" pitchFamily="34" charset="-122"/>
              </a:rPr>
              <a:t>q</a:t>
            </a:r>
            <a:r>
              <a:rPr lang="en-US" altLang="zh-CN" sz="1600" baseline="-25000" dirty="0">
                <a:solidFill>
                  <a:schemeClr val="accent2"/>
                </a:solidFill>
                <a:latin typeface="微软雅黑" panose="020B0503020204020204" pitchFamily="34" charset="-122"/>
                <a:ea typeface="微软雅黑" panose="020B0503020204020204" pitchFamily="34" charset="-122"/>
              </a:rPr>
              <a:t>n</a:t>
            </a:r>
            <a:r>
              <a:rPr lang="zh-CN" altLang="en-US" sz="1600" dirty="0">
                <a:solidFill>
                  <a:schemeClr val="accent2"/>
                </a:solidFill>
                <a:latin typeface="微软雅黑" panose="020B0503020204020204" pitchFamily="34" charset="-122"/>
                <a:ea typeface="微软雅黑" panose="020B0503020204020204" pitchFamily="34" charset="-122"/>
              </a:rPr>
              <a:t>移出，最低位置上商</a:t>
            </a:r>
            <a:r>
              <a:rPr lang="en-US" altLang="zh-CN" sz="1600" dirty="0">
                <a:solidFill>
                  <a:schemeClr val="accent2"/>
                </a:solidFill>
                <a:latin typeface="微软雅黑" panose="020B0503020204020204" pitchFamily="34" charset="-122"/>
                <a:ea typeface="微软雅黑" panose="020B0503020204020204" pitchFamily="34" charset="-122"/>
              </a:rPr>
              <a:t>q</a:t>
            </a:r>
            <a:r>
              <a:rPr lang="en-US" altLang="zh-CN" sz="1600" baseline="-25000" dirty="0">
                <a:solidFill>
                  <a:schemeClr val="accent2"/>
                </a:solidFill>
                <a:latin typeface="微软雅黑" panose="020B0503020204020204" pitchFamily="34" charset="-122"/>
                <a:ea typeface="微软雅黑" panose="020B0503020204020204" pitchFamily="34" charset="-122"/>
              </a:rPr>
              <a:t>0</a:t>
            </a:r>
            <a:r>
              <a:rPr lang="zh-CN" altLang="en-US" sz="1600" dirty="0">
                <a:solidFill>
                  <a:schemeClr val="accent2"/>
                </a:solidFill>
                <a:latin typeface="微软雅黑" panose="020B0503020204020204" pitchFamily="34" charset="-122"/>
                <a:ea typeface="微软雅黑" panose="020B0503020204020204" pitchFamily="34" charset="-122"/>
              </a:rPr>
              <a:t>。若被除数与除数同号， </a:t>
            </a:r>
            <a:r>
              <a:rPr lang="en-US" altLang="zh-CN" sz="1600" dirty="0">
                <a:solidFill>
                  <a:schemeClr val="accent2"/>
                </a:solidFill>
                <a:latin typeface="微软雅黑" panose="020B0503020204020204" pitchFamily="34" charset="-122"/>
                <a:ea typeface="微软雅黑" panose="020B0503020204020204" pitchFamily="34" charset="-122"/>
              </a:rPr>
              <a:t>Q</a:t>
            </a:r>
            <a:r>
              <a:rPr lang="zh-CN" altLang="en-US" sz="1600" dirty="0">
                <a:solidFill>
                  <a:schemeClr val="accent2"/>
                </a:solidFill>
                <a:latin typeface="微软雅黑" panose="020B0503020204020204" pitchFamily="34" charset="-122"/>
                <a:ea typeface="微软雅黑" panose="020B0503020204020204" pitchFamily="34" charset="-122"/>
              </a:rPr>
              <a:t>中就是真正的商；否则，将</a:t>
            </a:r>
            <a:r>
              <a:rPr lang="en-US" altLang="zh-CN" sz="1600" dirty="0">
                <a:solidFill>
                  <a:schemeClr val="accent2"/>
                </a:solidFill>
                <a:latin typeface="微软雅黑" panose="020B0503020204020204" pitchFamily="34" charset="-122"/>
                <a:ea typeface="微软雅黑" panose="020B0503020204020204" pitchFamily="34" charset="-122"/>
              </a:rPr>
              <a:t>Q</a:t>
            </a:r>
            <a:r>
              <a:rPr lang="zh-CN" altLang="en-US" sz="1600" dirty="0">
                <a:solidFill>
                  <a:schemeClr val="accent2"/>
                </a:solidFill>
                <a:latin typeface="微软雅黑" panose="020B0503020204020204" pitchFamily="34" charset="-122"/>
                <a:ea typeface="微软雅黑" panose="020B0503020204020204" pitchFamily="34" charset="-122"/>
              </a:rPr>
              <a:t>中商的末位加</a:t>
            </a:r>
            <a:r>
              <a:rPr lang="en-US" altLang="zh-CN" sz="1600" dirty="0">
                <a:solidFill>
                  <a:schemeClr val="accent2"/>
                </a:solidFill>
                <a:latin typeface="微软雅黑" panose="020B0503020204020204" pitchFamily="34" charset="-122"/>
                <a:ea typeface="微软雅黑" panose="020B0503020204020204" pitchFamily="34" charset="-122"/>
              </a:rPr>
              <a:t>1</a:t>
            </a:r>
            <a:r>
              <a:rPr lang="zh-CN" altLang="en-US" sz="1600" dirty="0">
                <a:solidFill>
                  <a:schemeClr val="accent2"/>
                </a:solidFill>
                <a:latin typeface="微软雅黑" panose="020B0503020204020204" pitchFamily="34" charset="-122"/>
                <a:ea typeface="微软雅黑" panose="020B0503020204020204" pitchFamily="34" charset="-122"/>
              </a:rPr>
              <a:t>。</a:t>
            </a:r>
            <a:endParaRPr lang="zh-CN" altLang="en-US" sz="1600" dirty="0">
              <a:solidFill>
                <a:schemeClr val="accent2"/>
              </a:solidFill>
              <a:latin typeface="微软雅黑" panose="020B0503020204020204" pitchFamily="34" charset="-122"/>
              <a:ea typeface="微软雅黑" panose="020B0503020204020204" pitchFamily="34" charset="-122"/>
            </a:endParaRPr>
          </a:p>
          <a:p>
            <a:pPr marL="381000" indent="-381000">
              <a:lnSpc>
                <a:spcPct val="115000"/>
              </a:lnSpc>
              <a:buNone/>
            </a:pPr>
            <a:r>
              <a:rPr lang="en-US" altLang="zh-CN" sz="1600" dirty="0">
                <a:solidFill>
                  <a:schemeClr val="accent2"/>
                </a:solidFill>
                <a:latin typeface="微软雅黑" panose="020B0503020204020204" pitchFamily="34" charset="-122"/>
                <a:ea typeface="微软雅黑" panose="020B0503020204020204" pitchFamily="34" charset="-122"/>
              </a:rPr>
              <a:t>(5) </a:t>
            </a:r>
            <a:r>
              <a:rPr lang="zh-CN" altLang="en-US" sz="1600" dirty="0">
                <a:solidFill>
                  <a:srgbClr val="008000"/>
                </a:solidFill>
                <a:latin typeface="微软雅黑" panose="020B0503020204020204" pitchFamily="34" charset="-122"/>
                <a:ea typeface="微软雅黑" panose="020B0503020204020204" pitchFamily="34" charset="-122"/>
              </a:rPr>
              <a:t>余数的修正</a:t>
            </a:r>
            <a:r>
              <a:rPr lang="zh-CN" altLang="en-US" sz="1600" dirty="0">
                <a:solidFill>
                  <a:schemeClr val="accent2"/>
                </a:solidFill>
                <a:latin typeface="微软雅黑" panose="020B0503020204020204" pitchFamily="34" charset="-122"/>
                <a:ea typeface="微软雅黑" panose="020B0503020204020204" pitchFamily="34" charset="-122"/>
              </a:rPr>
              <a:t>：若余数符号同被除数符号，则不需修正，余数在</a:t>
            </a:r>
            <a:r>
              <a:rPr lang="en-US" altLang="zh-CN" sz="1600" dirty="0">
                <a:solidFill>
                  <a:schemeClr val="accent2"/>
                </a:solidFill>
                <a:latin typeface="微软雅黑" panose="020B0503020204020204" pitchFamily="34" charset="-122"/>
                <a:ea typeface="微软雅黑" panose="020B0503020204020204" pitchFamily="34" charset="-122"/>
              </a:rPr>
              <a:t>R</a:t>
            </a:r>
            <a:r>
              <a:rPr lang="zh-CN" altLang="en-US" sz="1600" dirty="0">
                <a:solidFill>
                  <a:schemeClr val="accent2"/>
                </a:solidFill>
                <a:latin typeface="微软雅黑" panose="020B0503020204020204" pitchFamily="34" charset="-122"/>
                <a:ea typeface="微软雅黑" panose="020B0503020204020204" pitchFamily="34" charset="-122"/>
              </a:rPr>
              <a:t>中；否则，按下列规则进行修正：当被除数和除数符号相同时，最后余数加除数；否则，最后余数减除数。</a:t>
            </a:r>
            <a:endParaRPr lang="zh-CN" altLang="en-US" sz="1600" dirty="0">
              <a:solidFill>
                <a:schemeClr val="accent2"/>
              </a:solidFill>
              <a:latin typeface="微软雅黑" panose="020B0503020204020204" pitchFamily="34" charset="-122"/>
              <a:ea typeface="微软雅黑" panose="020B0503020204020204" pitchFamily="34" charset="-122"/>
            </a:endParaRPr>
          </a:p>
        </p:txBody>
      </p:sp>
      <p:sp>
        <p:nvSpPr>
          <p:cNvPr id="435204" name="Text Box 4"/>
          <p:cNvSpPr txBox="1"/>
          <p:nvPr/>
        </p:nvSpPr>
        <p:spPr>
          <a:xfrm>
            <a:off x="476250" y="5991225"/>
            <a:ext cx="7648575" cy="784225"/>
          </a:xfrm>
          <a:prstGeom prst="rect">
            <a:avLst/>
          </a:prstGeom>
          <a:noFill/>
          <a:ln w="12700">
            <a:noFill/>
          </a:ln>
        </p:spPr>
        <p:txBody>
          <a:bodyPr anchor="t" anchorCtr="0">
            <a:spAutoFit/>
          </a:bodyPr>
          <a:p>
            <a:pPr eaLnBrk="0" hangingPunct="0">
              <a:spcBef>
                <a:spcPct val="50000"/>
              </a:spcBef>
            </a:pPr>
            <a:r>
              <a:rPr lang="zh-CN" altLang="en-US" sz="1800" dirty="0">
                <a:latin typeface="微软雅黑" panose="020B0503020204020204" pitchFamily="34" charset="-122"/>
                <a:ea typeface="微软雅黑" panose="020B0503020204020204" pitchFamily="34" charset="-122"/>
              </a:rPr>
              <a:t>补码不恢复余数法也有一个六字口诀</a:t>
            </a:r>
            <a:r>
              <a:rPr lang="zh-CN" altLang="en-US" sz="1800" dirty="0">
                <a:solidFill>
                  <a:srgbClr val="CC0000"/>
                </a:solidFill>
                <a:latin typeface="微软雅黑" panose="020B0503020204020204" pitchFamily="34" charset="-122"/>
                <a:ea typeface="微软雅黑" panose="020B0503020204020204" pitchFamily="34" charset="-122"/>
              </a:rPr>
              <a:t>“同、</a:t>
            </a:r>
            <a:r>
              <a:rPr lang="en-US" altLang="zh-CN" sz="1800" dirty="0">
                <a:solidFill>
                  <a:srgbClr val="CC0000"/>
                </a:solidFill>
                <a:latin typeface="微软雅黑" panose="020B0503020204020204" pitchFamily="34" charset="-122"/>
                <a:ea typeface="微软雅黑" panose="020B0503020204020204" pitchFamily="34" charset="-122"/>
              </a:rPr>
              <a:t>1</a:t>
            </a:r>
            <a:r>
              <a:rPr lang="zh-CN" altLang="en-US" sz="1800" dirty="0">
                <a:solidFill>
                  <a:srgbClr val="CC0000"/>
                </a:solidFill>
                <a:latin typeface="微软雅黑" panose="020B0503020204020204" pitchFamily="34" charset="-122"/>
                <a:ea typeface="微软雅黑" panose="020B0503020204020204" pitchFamily="34" charset="-122"/>
              </a:rPr>
              <a:t>、减；异、</a:t>
            </a:r>
            <a:r>
              <a:rPr lang="en-US" altLang="zh-CN" sz="1800" dirty="0">
                <a:solidFill>
                  <a:srgbClr val="CC0000"/>
                </a:solidFill>
                <a:latin typeface="微软雅黑" panose="020B0503020204020204" pitchFamily="34" charset="-122"/>
                <a:ea typeface="微软雅黑" panose="020B0503020204020204" pitchFamily="34" charset="-122"/>
              </a:rPr>
              <a:t>0</a:t>
            </a:r>
            <a:r>
              <a:rPr lang="zh-CN" altLang="en-US" sz="1800" dirty="0">
                <a:solidFill>
                  <a:srgbClr val="CC0000"/>
                </a:solidFill>
                <a:latin typeface="微软雅黑" panose="020B0503020204020204" pitchFamily="34" charset="-122"/>
                <a:ea typeface="微软雅黑" panose="020B0503020204020204" pitchFamily="34" charset="-122"/>
              </a:rPr>
              <a:t>、加</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eaLnBrk="0" hangingPunct="0">
              <a:spcBef>
                <a:spcPct val="50000"/>
              </a:spcBef>
            </a:pPr>
            <a:r>
              <a:rPr lang="zh-CN" altLang="en-US" sz="1800" dirty="0">
                <a:latin typeface="微软雅黑" panose="020B0503020204020204" pitchFamily="34" charset="-122"/>
                <a:ea typeface="微软雅黑" panose="020B0503020204020204" pitchFamily="34" charset="-122"/>
              </a:rPr>
              <a:t>其运算过程也呈加</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减交替方式，因此也称为“加减交替法”。 </a:t>
            </a:r>
            <a:endParaRPr lang="zh-CN" altLang="en-US" sz="1800" dirty="0">
              <a:latin typeface="微软雅黑" panose="020B0503020204020204" pitchFamily="34" charset="-122"/>
              <a:ea typeface="微软雅黑" panose="020B0503020204020204" pitchFamily="34" charset="-122"/>
            </a:endParaRPr>
          </a:p>
        </p:txBody>
      </p:sp>
      <p:sp>
        <p:nvSpPr>
          <p:cNvPr id="435205" name="Line 5"/>
          <p:cNvSpPr/>
          <p:nvPr/>
        </p:nvSpPr>
        <p:spPr>
          <a:xfrm>
            <a:off x="2038350" y="2409825"/>
            <a:ext cx="3095625" cy="0"/>
          </a:xfrm>
          <a:prstGeom prst="line">
            <a:avLst/>
          </a:prstGeom>
          <a:ln w="19050" cap="flat" cmpd="sng">
            <a:solidFill>
              <a:srgbClr val="CC0000"/>
            </a:solidFill>
            <a:prstDash val="solid"/>
            <a:round/>
            <a:headEnd type="none" w="med" len="med"/>
            <a:tailEnd type="none" w="med" len="med"/>
          </a:ln>
        </p:spPr>
      </p:sp>
      <p:sp>
        <p:nvSpPr>
          <p:cNvPr id="435206" name="Line 6"/>
          <p:cNvSpPr/>
          <p:nvPr/>
        </p:nvSpPr>
        <p:spPr>
          <a:xfrm>
            <a:off x="2254250" y="2749550"/>
            <a:ext cx="3095625" cy="0"/>
          </a:xfrm>
          <a:prstGeom prst="line">
            <a:avLst/>
          </a:prstGeom>
          <a:ln w="19050" cap="flat" cmpd="sng">
            <a:solidFill>
              <a:srgbClr val="CC0000"/>
            </a:solidFill>
            <a:prstDash val="solid"/>
            <a:round/>
            <a:headEnd type="none" w="med" len="med"/>
            <a:tailEnd type="none" w="med" len="med"/>
          </a:ln>
        </p:spPr>
      </p:sp>
      <p:sp>
        <p:nvSpPr>
          <p:cNvPr id="435207" name="Line 7"/>
          <p:cNvSpPr/>
          <p:nvPr/>
        </p:nvSpPr>
        <p:spPr>
          <a:xfrm>
            <a:off x="2298700" y="3108325"/>
            <a:ext cx="3095625" cy="0"/>
          </a:xfrm>
          <a:prstGeom prst="line">
            <a:avLst/>
          </a:prstGeom>
          <a:ln w="19050" cap="flat" cmpd="sng">
            <a:solidFill>
              <a:srgbClr val="CC0000"/>
            </a:solidFill>
            <a:prstDash val="solid"/>
            <a:round/>
            <a:headEnd type="none" w="med" len="med"/>
            <a:tailEnd type="none" w="med" len="med"/>
          </a:ln>
        </p:spPr>
      </p:sp>
      <p:sp>
        <p:nvSpPr>
          <p:cNvPr id="435208" name="Line 8"/>
          <p:cNvSpPr/>
          <p:nvPr/>
        </p:nvSpPr>
        <p:spPr>
          <a:xfrm>
            <a:off x="1841500" y="4403725"/>
            <a:ext cx="3095625" cy="0"/>
          </a:xfrm>
          <a:prstGeom prst="line">
            <a:avLst/>
          </a:prstGeom>
          <a:ln w="19050" cap="flat" cmpd="sng">
            <a:solidFill>
              <a:srgbClr val="CC0000"/>
            </a:solidFill>
            <a:prstDash val="solid"/>
            <a:round/>
            <a:headEnd type="none" w="med" len="med"/>
            <a:tailEnd type="none" w="med" len="med"/>
          </a:ln>
        </p:spPr>
      </p:sp>
      <p:sp>
        <p:nvSpPr>
          <p:cNvPr id="435209" name="Line 9"/>
          <p:cNvSpPr/>
          <p:nvPr/>
        </p:nvSpPr>
        <p:spPr>
          <a:xfrm>
            <a:off x="1831975" y="4746625"/>
            <a:ext cx="3095625" cy="0"/>
          </a:xfrm>
          <a:prstGeom prst="line">
            <a:avLst/>
          </a:prstGeom>
          <a:ln w="19050" cap="flat" cmpd="sng">
            <a:solidFill>
              <a:srgbClr val="CC0000"/>
            </a:solidFill>
            <a:prstDash val="solid"/>
            <a:round/>
            <a:headEnd type="none" w="med" len="med"/>
            <a:tailEnd type="none" w="med" len="med"/>
          </a:ln>
        </p:spPr>
      </p:sp>
      <p:sp>
        <p:nvSpPr>
          <p:cNvPr id="435210" name="Text Box 10"/>
          <p:cNvSpPr txBox="1"/>
          <p:nvPr/>
        </p:nvSpPr>
        <p:spPr>
          <a:xfrm>
            <a:off x="6502400" y="3440113"/>
            <a:ext cx="2598738" cy="1119187"/>
          </a:xfrm>
          <a:prstGeom prst="rect">
            <a:avLst/>
          </a:prstGeom>
          <a:noFill/>
          <a:ln w="12700">
            <a:noFill/>
          </a:ln>
        </p:spPr>
        <p:txBody>
          <a:bodyPr anchor="t" anchorCtr="0">
            <a:spAutoFit/>
          </a:bodyPr>
          <a:p>
            <a:pPr eaLnBrk="0" hangingPunct="0">
              <a:spcBef>
                <a:spcPct val="20000"/>
              </a:spcBef>
            </a:pPr>
            <a:r>
              <a:rPr lang="zh-CN" altLang="en-US" dirty="0">
                <a:latin typeface="微软雅黑" panose="020B0503020204020204" pitchFamily="34" charset="-122"/>
                <a:ea typeface="微软雅黑" panose="020B0503020204020204" pitchFamily="34" charset="-122"/>
              </a:rPr>
              <a:t>判断是否同号与恢复余数法不同，不是新老余数之间！</a:t>
            </a:r>
            <a:r>
              <a:rPr lang="zh-CN" altLang="en-US" dirty="0">
                <a:solidFill>
                  <a:srgbClr val="FF0066"/>
                </a:solidFill>
                <a:latin typeface="微软雅黑" panose="020B0503020204020204" pitchFamily="34" charset="-122"/>
                <a:ea typeface="微软雅黑" panose="020B0503020204020204" pitchFamily="34" charset="-122"/>
              </a:rPr>
              <a:t>而</a:t>
            </a:r>
            <a:r>
              <a:rPr lang="zh-CN" altLang="en-US" dirty="0">
                <a:solidFill>
                  <a:srgbClr val="FF0000"/>
                </a:solidFill>
                <a:latin typeface="微软雅黑" panose="020B0503020204020204" pitchFamily="34" charset="-122"/>
                <a:ea typeface="微软雅黑" panose="020B0503020204020204" pitchFamily="34" charset="-122"/>
              </a:rPr>
              <a:t>是余数和除数之间</a:t>
            </a:r>
            <a:endParaRPr lang="zh-CN" altLang="en-US" dirty="0">
              <a:solidFill>
                <a:srgbClr val="FF0000"/>
              </a:solidFill>
              <a:latin typeface="微软雅黑" panose="020B0503020204020204" pitchFamily="34" charset="-122"/>
              <a:ea typeface="微软雅黑" panose="020B0503020204020204" pitchFamily="34" charset="-122"/>
            </a:endParaRPr>
          </a:p>
          <a:p>
            <a:pPr eaLnBrk="0" hangingPunct="0">
              <a:spcBef>
                <a:spcPct val="20000"/>
              </a:spcBef>
            </a:pPr>
            <a:endParaRPr lang="zh-CN" altLang="en-US" dirty="0">
              <a:solidFill>
                <a:srgbClr val="CC3300"/>
              </a:solidFill>
              <a:latin typeface="微软雅黑" panose="020B0503020204020204" pitchFamily="34" charset="-122"/>
              <a:ea typeface="微软雅黑" panose="020B0503020204020204" pitchFamily="34" charset="-122"/>
            </a:endParaRPr>
          </a:p>
        </p:txBody>
      </p:sp>
      <p:sp>
        <p:nvSpPr>
          <p:cNvPr id="103434" name="Text Box 12"/>
          <p:cNvSpPr txBox="1"/>
          <p:nvPr/>
        </p:nvSpPr>
        <p:spPr>
          <a:xfrm>
            <a:off x="6732588" y="5010150"/>
            <a:ext cx="1981200" cy="336550"/>
          </a:xfrm>
          <a:prstGeom prst="rect">
            <a:avLst/>
          </a:prstGeom>
          <a:noFill/>
          <a:ln w="12700">
            <a:noFill/>
          </a:ln>
        </p:spPr>
        <p:txBody>
          <a:bodyPr anchor="t" anchorCtr="0">
            <a:spAutoFit/>
          </a:bodyPr>
          <a:p>
            <a:pPr eaLnBrk="0" hangingPunct="0">
              <a:spcBef>
                <a:spcPct val="50000"/>
              </a:spcBef>
            </a:pPr>
            <a:r>
              <a:rPr lang="zh-CN" altLang="en-US" dirty="0">
                <a:latin typeface="微软雅黑" panose="020B0503020204020204" pitchFamily="34" charset="-122"/>
                <a:ea typeface="微软雅黑" panose="020B0503020204020204" pitchFamily="34" charset="-122"/>
              </a:rPr>
              <a:t>商已经是“反码”</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5204"/>
                                        </p:tgtEl>
                                        <p:attrNameLst>
                                          <p:attrName>style.visibility</p:attrName>
                                        </p:attrNameLst>
                                      </p:cBhvr>
                                      <p:to>
                                        <p:strVal val="visible"/>
                                      </p:to>
                                    </p:set>
                                    <p:animEffect transition="in" filter="blinds(horizontal)">
                                      <p:cBhvr>
                                        <p:cTn id="7" dur="500"/>
                                        <p:tgtEl>
                                          <p:spTgt spid="4352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5205"/>
                                        </p:tgtEl>
                                        <p:attrNameLst>
                                          <p:attrName>style.visibility</p:attrName>
                                        </p:attrNameLst>
                                      </p:cBhvr>
                                      <p:to>
                                        <p:strVal val="visible"/>
                                      </p:to>
                                    </p:set>
                                    <p:animEffect transition="in" filter="blinds(horizontal)">
                                      <p:cBhvr>
                                        <p:cTn id="12" dur="500"/>
                                        <p:tgtEl>
                                          <p:spTgt spid="435205"/>
                                        </p:tgtEl>
                                      </p:cBhvr>
                                    </p:animEffect>
                                  </p:childTnLst>
                                </p:cTn>
                              </p:par>
                              <p:par>
                                <p:cTn id="13" presetID="3" presetClass="entr" presetSubtype="10" fill="hold" nodeType="withEffect">
                                  <p:stCondLst>
                                    <p:cond delay="0"/>
                                  </p:stCondLst>
                                  <p:childTnLst>
                                    <p:set>
                                      <p:cBhvr>
                                        <p:cTn id="14" dur="1" fill="hold">
                                          <p:stCondLst>
                                            <p:cond delay="0"/>
                                          </p:stCondLst>
                                        </p:cTn>
                                        <p:tgtEl>
                                          <p:spTgt spid="435206"/>
                                        </p:tgtEl>
                                        <p:attrNameLst>
                                          <p:attrName>style.visibility</p:attrName>
                                        </p:attrNameLst>
                                      </p:cBhvr>
                                      <p:to>
                                        <p:strVal val="visible"/>
                                      </p:to>
                                    </p:set>
                                    <p:animEffect transition="in" filter="blinds(horizontal)">
                                      <p:cBhvr>
                                        <p:cTn id="15" dur="500"/>
                                        <p:tgtEl>
                                          <p:spTgt spid="435206"/>
                                        </p:tgtEl>
                                      </p:cBhvr>
                                    </p:animEffect>
                                  </p:childTnLst>
                                </p:cTn>
                              </p:par>
                              <p:par>
                                <p:cTn id="16" presetID="3" presetClass="entr" presetSubtype="10" fill="hold" nodeType="withEffect">
                                  <p:stCondLst>
                                    <p:cond delay="0"/>
                                  </p:stCondLst>
                                  <p:childTnLst>
                                    <p:set>
                                      <p:cBhvr>
                                        <p:cTn id="17" dur="1" fill="hold">
                                          <p:stCondLst>
                                            <p:cond delay="0"/>
                                          </p:stCondLst>
                                        </p:cTn>
                                        <p:tgtEl>
                                          <p:spTgt spid="435207"/>
                                        </p:tgtEl>
                                        <p:attrNameLst>
                                          <p:attrName>style.visibility</p:attrName>
                                        </p:attrNameLst>
                                      </p:cBhvr>
                                      <p:to>
                                        <p:strVal val="visible"/>
                                      </p:to>
                                    </p:set>
                                    <p:animEffect transition="in" filter="blinds(horizontal)">
                                      <p:cBhvr>
                                        <p:cTn id="18" dur="500"/>
                                        <p:tgtEl>
                                          <p:spTgt spid="435207"/>
                                        </p:tgtEl>
                                      </p:cBhvr>
                                    </p:animEffect>
                                  </p:childTnLst>
                                </p:cTn>
                              </p:par>
                              <p:par>
                                <p:cTn id="19" presetID="3" presetClass="entr" presetSubtype="10" fill="hold" nodeType="withEffect">
                                  <p:stCondLst>
                                    <p:cond delay="0"/>
                                  </p:stCondLst>
                                  <p:childTnLst>
                                    <p:set>
                                      <p:cBhvr>
                                        <p:cTn id="20" dur="1" fill="hold">
                                          <p:stCondLst>
                                            <p:cond delay="0"/>
                                          </p:stCondLst>
                                        </p:cTn>
                                        <p:tgtEl>
                                          <p:spTgt spid="435208"/>
                                        </p:tgtEl>
                                        <p:attrNameLst>
                                          <p:attrName>style.visibility</p:attrName>
                                        </p:attrNameLst>
                                      </p:cBhvr>
                                      <p:to>
                                        <p:strVal val="visible"/>
                                      </p:to>
                                    </p:set>
                                    <p:animEffect transition="in" filter="blinds(horizontal)">
                                      <p:cBhvr>
                                        <p:cTn id="21" dur="500"/>
                                        <p:tgtEl>
                                          <p:spTgt spid="435208"/>
                                        </p:tgtEl>
                                      </p:cBhvr>
                                    </p:animEffect>
                                  </p:childTnLst>
                                </p:cTn>
                              </p:par>
                              <p:par>
                                <p:cTn id="22" presetID="3" presetClass="entr" presetSubtype="10" fill="hold" nodeType="withEffect">
                                  <p:stCondLst>
                                    <p:cond delay="0"/>
                                  </p:stCondLst>
                                  <p:childTnLst>
                                    <p:set>
                                      <p:cBhvr>
                                        <p:cTn id="23" dur="1" fill="hold">
                                          <p:stCondLst>
                                            <p:cond delay="0"/>
                                          </p:stCondLst>
                                        </p:cTn>
                                        <p:tgtEl>
                                          <p:spTgt spid="435209"/>
                                        </p:tgtEl>
                                        <p:attrNameLst>
                                          <p:attrName>style.visibility</p:attrName>
                                        </p:attrNameLst>
                                      </p:cBhvr>
                                      <p:to>
                                        <p:strVal val="visible"/>
                                      </p:to>
                                    </p:set>
                                    <p:animEffect transition="in" filter="blinds(horizontal)">
                                      <p:cBhvr>
                                        <p:cTn id="24" dur="500"/>
                                        <p:tgtEl>
                                          <p:spTgt spid="43520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35210">
                                            <p:txEl>
                                              <p:charRg st="0" end="34"/>
                                            </p:txEl>
                                          </p:spTgt>
                                        </p:tgtEl>
                                        <p:attrNameLst>
                                          <p:attrName>style.visibility</p:attrName>
                                        </p:attrNameLst>
                                      </p:cBhvr>
                                      <p:to>
                                        <p:strVal val="visible"/>
                                      </p:to>
                                    </p:set>
                                    <p:animEffect transition="in" filter="blinds(horizontal)">
                                      <p:cBhvr>
                                        <p:cTn id="29" dur="500"/>
                                        <p:tgtEl>
                                          <p:spTgt spid="435210">
                                            <p:txEl>
                                              <p:charRg st="0" end="3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a:spLocks noGrp="1"/>
          </p:cNvSpPr>
          <p:nvPr>
            <p:ph type="title"/>
          </p:nvPr>
        </p:nvSpPr>
        <p:spPr>
          <a:xfrm>
            <a:off x="495300" y="152400"/>
            <a:ext cx="6073775" cy="474663"/>
          </a:xfrm>
          <a:ln/>
        </p:spPr>
        <p:txBody>
          <a:bodyPr vert="horz" wrap="square" lIns="63500" tIns="25400" rIns="63500" bIns="25400" anchor="t" anchorCtr="0">
            <a:spAutoFit/>
          </a:bodyPr>
          <a:p>
            <a:r>
              <a:rPr lang="zh-CN" altLang="en-US" dirty="0">
                <a:ea typeface="宋体" panose="02010600030101010101" pitchFamily="2" charset="-122"/>
              </a:rPr>
              <a:t>举例：</a:t>
            </a:r>
            <a:r>
              <a:rPr lang="en-US" altLang="zh-CN" dirty="0">
                <a:ea typeface="宋体" panose="02010600030101010101" pitchFamily="2" charset="-122"/>
              </a:rPr>
              <a:t>-9/2</a:t>
            </a:r>
            <a:endParaRPr lang="en-US" altLang="zh-CN" dirty="0">
              <a:ea typeface="宋体" panose="02010600030101010101" pitchFamily="2" charset="-122"/>
            </a:endParaRPr>
          </a:p>
        </p:txBody>
      </p:sp>
      <p:sp>
        <p:nvSpPr>
          <p:cNvPr id="104450" name="Rectangle 3"/>
          <p:cNvSpPr>
            <a:spLocks noGrp="1"/>
          </p:cNvSpPr>
          <p:nvPr>
            <p:ph idx="1"/>
          </p:nvPr>
        </p:nvSpPr>
        <p:spPr>
          <a:xfrm>
            <a:off x="139700" y="841375"/>
            <a:ext cx="2590800" cy="2460625"/>
          </a:xfrm>
          <a:ln/>
        </p:spPr>
        <p:txBody>
          <a:bodyPr vert="horz" wrap="square" lIns="63500" tIns="25400" rIns="63500" bIns="25400" anchor="t" anchorCtr="0">
            <a:spAutoFit/>
          </a:bodyPr>
          <a:p>
            <a:pPr>
              <a:buNone/>
            </a:pPr>
            <a:r>
              <a:rPr lang="zh-CN" altLang="en-US" sz="1600" dirty="0"/>
              <a:t>   </a:t>
            </a:r>
            <a:r>
              <a:rPr lang="zh-CN" altLang="en-US" sz="1800" dirty="0">
                <a:latin typeface="微软雅黑" panose="020B0503020204020204" pitchFamily="34" charset="-122"/>
                <a:ea typeface="微软雅黑" panose="020B0503020204020204" pitchFamily="34" charset="-122"/>
              </a:rPr>
              <a:t>将</a:t>
            </a:r>
            <a:r>
              <a:rPr lang="en-US" altLang="zh-CN" sz="1800" dirty="0">
                <a:latin typeface="微软雅黑" panose="020B0503020204020204" pitchFamily="34" charset="-122"/>
                <a:ea typeface="微软雅黑" panose="020B0503020204020204" pitchFamily="34" charset="-122"/>
              </a:rPr>
              <a:t>X=-9</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Y=2</a:t>
            </a:r>
            <a:r>
              <a:rPr lang="zh-CN" altLang="en-US" sz="1800" dirty="0">
                <a:latin typeface="微软雅黑" panose="020B0503020204020204" pitchFamily="34" charset="-122"/>
                <a:ea typeface="微软雅黑" panose="020B0503020204020204" pitchFamily="34" charset="-122"/>
              </a:rPr>
              <a:t>分别表示成</a:t>
            </a:r>
            <a:r>
              <a:rPr lang="en-US" altLang="zh-CN" sz="1800" dirty="0">
                <a:latin typeface="微软雅黑" panose="020B0503020204020204" pitchFamily="34" charset="-122"/>
                <a:ea typeface="微软雅黑" panose="020B0503020204020204" pitchFamily="34" charset="-122"/>
              </a:rPr>
              <a:t>5</a:t>
            </a:r>
            <a:r>
              <a:rPr lang="zh-CN" altLang="en-US" sz="1800" dirty="0">
                <a:latin typeface="微软雅黑" panose="020B0503020204020204" pitchFamily="34" charset="-122"/>
                <a:ea typeface="微软雅黑" panose="020B0503020204020204" pitchFamily="34" charset="-122"/>
              </a:rPr>
              <a:t>位补码形式为：</a:t>
            </a:r>
            <a:endParaRPr lang="zh-CN" altLang="en-US" sz="1800" dirty="0">
              <a:latin typeface="微软雅黑" panose="020B0503020204020204" pitchFamily="34" charset="-122"/>
              <a:ea typeface="微软雅黑" panose="020B0503020204020204" pitchFamily="34" charset="-122"/>
            </a:endParaRPr>
          </a:p>
          <a:p>
            <a:pPr>
              <a:buNone/>
            </a:pPr>
            <a:r>
              <a:rPr lang="en-US" altLang="zh-CN" sz="1800" dirty="0">
                <a:latin typeface="微软雅黑" panose="020B0503020204020204" pitchFamily="34" charset="-122"/>
                <a:ea typeface="微软雅黑" panose="020B0503020204020204" pitchFamily="34" charset="-122"/>
              </a:rPr>
              <a:t>   [X]</a:t>
            </a:r>
            <a:r>
              <a:rPr lang="zh-CN" altLang="en-US" sz="1800" dirty="0">
                <a:latin typeface="微软雅黑" panose="020B0503020204020204" pitchFamily="34" charset="-122"/>
                <a:ea typeface="微软雅黑" panose="020B0503020204020204" pitchFamily="34" charset="-122"/>
              </a:rPr>
              <a:t>补 </a:t>
            </a:r>
            <a:r>
              <a:rPr lang="en-US" altLang="zh-CN" sz="1800" dirty="0">
                <a:latin typeface="微软雅黑" panose="020B0503020204020204" pitchFamily="34" charset="-122"/>
                <a:ea typeface="微软雅黑" panose="020B0503020204020204" pitchFamily="34" charset="-122"/>
              </a:rPr>
              <a:t>= 1 0111 </a:t>
            </a:r>
            <a:endParaRPr lang="en-US" altLang="zh-CN" sz="1800" dirty="0">
              <a:latin typeface="微软雅黑" panose="020B0503020204020204" pitchFamily="34" charset="-122"/>
              <a:ea typeface="微软雅黑" panose="020B0503020204020204" pitchFamily="34" charset="-122"/>
            </a:endParaRPr>
          </a:p>
          <a:p>
            <a:pPr>
              <a:buNone/>
            </a:pPr>
            <a:r>
              <a:rPr lang="en-US" altLang="zh-CN" sz="1800" dirty="0">
                <a:latin typeface="微软雅黑" panose="020B0503020204020204" pitchFamily="34" charset="-122"/>
                <a:ea typeface="微软雅黑" panose="020B0503020204020204" pitchFamily="34" charset="-122"/>
              </a:rPr>
              <a:t>   [Y]</a:t>
            </a:r>
            <a:r>
              <a:rPr lang="zh-CN" altLang="en-US" sz="1800" dirty="0">
                <a:latin typeface="微软雅黑" panose="020B0503020204020204" pitchFamily="34" charset="-122"/>
                <a:ea typeface="微软雅黑" panose="020B0503020204020204" pitchFamily="34" charset="-122"/>
              </a:rPr>
              <a:t>补 </a:t>
            </a:r>
            <a:r>
              <a:rPr lang="en-US" altLang="zh-CN" sz="1800" dirty="0">
                <a:latin typeface="微软雅黑" panose="020B0503020204020204" pitchFamily="34" charset="-122"/>
                <a:ea typeface="微软雅黑" panose="020B0503020204020204" pitchFamily="34" charset="-122"/>
              </a:rPr>
              <a:t>= 0 0010</a:t>
            </a:r>
            <a:endParaRPr lang="zh-CN" altLang="en-US" sz="1800" dirty="0">
              <a:latin typeface="微软雅黑" panose="020B0503020204020204" pitchFamily="34" charset="-122"/>
              <a:ea typeface="微软雅黑" panose="020B0503020204020204" pitchFamily="34" charset="-122"/>
            </a:endParaRPr>
          </a:p>
          <a:p>
            <a:pPr>
              <a:buNone/>
            </a:pPr>
            <a:r>
              <a:rPr lang="zh-CN" altLang="en-US" sz="1800" dirty="0">
                <a:latin typeface="微软雅黑" panose="020B0503020204020204" pitchFamily="34" charset="-122"/>
                <a:ea typeface="微软雅黑" panose="020B0503020204020204" pitchFamily="34" charset="-122"/>
              </a:rPr>
              <a:t>   被除数符号扩展为：</a:t>
            </a:r>
            <a:endParaRPr lang="zh-CN" altLang="en-US" sz="1800" dirty="0">
              <a:latin typeface="微软雅黑" panose="020B0503020204020204" pitchFamily="34" charset="-122"/>
              <a:ea typeface="微软雅黑" panose="020B0503020204020204" pitchFamily="34" charset="-122"/>
            </a:endParaRPr>
          </a:p>
          <a:p>
            <a:pPr>
              <a:buNone/>
            </a:pPr>
            <a:r>
              <a:rPr lang="en-US" altLang="zh-CN" sz="1800" dirty="0">
                <a:latin typeface="微软雅黑" panose="020B0503020204020204" pitchFamily="34" charset="-122"/>
                <a:ea typeface="微软雅黑" panose="020B0503020204020204" pitchFamily="34" charset="-122"/>
              </a:rPr>
              <a:t>   [X]</a:t>
            </a:r>
            <a:r>
              <a:rPr lang="zh-CN" altLang="en-US" sz="1800" dirty="0">
                <a:latin typeface="微软雅黑" panose="020B0503020204020204" pitchFamily="34" charset="-122"/>
                <a:ea typeface="微软雅黑" panose="020B0503020204020204" pitchFamily="34" charset="-122"/>
              </a:rPr>
              <a:t>补</a:t>
            </a:r>
            <a:r>
              <a:rPr lang="en-US" altLang="zh-CN" sz="1800" dirty="0">
                <a:latin typeface="微软雅黑" panose="020B0503020204020204" pitchFamily="34" charset="-122"/>
                <a:ea typeface="微软雅黑" panose="020B0503020204020204" pitchFamily="34" charset="-122"/>
              </a:rPr>
              <a:t>=11111 10111</a:t>
            </a:r>
            <a:endParaRPr lang="en-US" altLang="zh-CN" sz="1800" dirty="0">
              <a:latin typeface="微软雅黑" panose="020B0503020204020204" pitchFamily="34" charset="-122"/>
              <a:ea typeface="微软雅黑" panose="020B0503020204020204" pitchFamily="34" charset="-122"/>
            </a:endParaRPr>
          </a:p>
          <a:p>
            <a:pPr>
              <a:buNone/>
            </a:pPr>
            <a:r>
              <a:rPr lang="en-US" altLang="zh-CN" sz="1800" dirty="0">
                <a:latin typeface="微软雅黑" panose="020B0503020204020204" pitchFamily="34" charset="-122"/>
                <a:ea typeface="微软雅黑" panose="020B0503020204020204" pitchFamily="34" charset="-122"/>
              </a:rPr>
              <a:t>   [–Y] </a:t>
            </a:r>
            <a:r>
              <a:rPr lang="zh-CN" altLang="en-US" sz="1800" dirty="0">
                <a:latin typeface="微软雅黑" panose="020B0503020204020204" pitchFamily="34" charset="-122"/>
                <a:ea typeface="微软雅黑" panose="020B0503020204020204" pitchFamily="34" charset="-122"/>
              </a:rPr>
              <a:t>补 </a:t>
            </a:r>
            <a:r>
              <a:rPr lang="en-US" altLang="zh-CN" sz="1800" dirty="0">
                <a:latin typeface="微软雅黑" panose="020B0503020204020204" pitchFamily="34" charset="-122"/>
                <a:ea typeface="微软雅黑" panose="020B0503020204020204" pitchFamily="34" charset="-122"/>
              </a:rPr>
              <a:t>= 1 1110</a:t>
            </a:r>
            <a:endParaRPr lang="zh-CN" altLang="en-US" sz="1800" dirty="0">
              <a:latin typeface="微软雅黑" panose="020B0503020204020204" pitchFamily="34" charset="-122"/>
              <a:ea typeface="微软雅黑" panose="020B0503020204020204" pitchFamily="34" charset="-122"/>
            </a:endParaRPr>
          </a:p>
        </p:txBody>
      </p:sp>
      <p:pic>
        <p:nvPicPr>
          <p:cNvPr id="104451" name="Picture 4"/>
          <p:cNvPicPr>
            <a:picLocks noChangeAspect="1"/>
          </p:cNvPicPr>
          <p:nvPr/>
        </p:nvPicPr>
        <p:blipFill>
          <a:blip r:embed="rId1"/>
          <a:stretch>
            <a:fillRect/>
          </a:stretch>
        </p:blipFill>
        <p:spPr>
          <a:xfrm>
            <a:off x="2668588" y="98425"/>
            <a:ext cx="6503987" cy="6372225"/>
          </a:xfrm>
          <a:prstGeom prst="rect">
            <a:avLst/>
          </a:prstGeom>
          <a:noFill/>
          <a:ln w="9525">
            <a:noFill/>
          </a:ln>
        </p:spPr>
      </p:pic>
      <p:sp>
        <p:nvSpPr>
          <p:cNvPr id="436229" name="Rectangle 5"/>
          <p:cNvSpPr/>
          <p:nvPr/>
        </p:nvSpPr>
        <p:spPr>
          <a:xfrm>
            <a:off x="428625" y="3302000"/>
            <a:ext cx="1728788" cy="701675"/>
          </a:xfrm>
          <a:prstGeom prst="rect">
            <a:avLst/>
          </a:prstGeom>
          <a:noFill/>
          <a:ln w="12700">
            <a:noFill/>
          </a:ln>
        </p:spPr>
        <p:txBody>
          <a:bodyPr anchor="t" anchorCtr="0">
            <a:spAutoFit/>
          </a:bodyPr>
          <a:p>
            <a:pPr eaLnBrk="0" hangingPunct="0"/>
            <a:r>
              <a:rPr lang="zh-CN" altLang="en-US" sz="2000" dirty="0">
                <a:solidFill>
                  <a:schemeClr val="accent2"/>
                </a:solidFill>
                <a:latin typeface="微软雅黑" panose="020B0503020204020204" pitchFamily="34" charset="-122"/>
                <a:ea typeface="微软雅黑" panose="020B0503020204020204" pitchFamily="34" charset="-122"/>
              </a:rPr>
              <a:t>同、</a:t>
            </a:r>
            <a:r>
              <a:rPr lang="en-US" altLang="zh-CN" sz="2000" dirty="0">
                <a:solidFill>
                  <a:schemeClr val="accent2"/>
                </a:solidFill>
                <a:latin typeface="微软雅黑" panose="020B0503020204020204" pitchFamily="34" charset="-122"/>
                <a:ea typeface="微软雅黑" panose="020B0503020204020204" pitchFamily="34" charset="-122"/>
              </a:rPr>
              <a:t>1</a:t>
            </a:r>
            <a:r>
              <a:rPr lang="zh-CN" altLang="en-US" sz="2000" dirty="0">
                <a:solidFill>
                  <a:schemeClr val="accent2"/>
                </a:solidFill>
                <a:latin typeface="微软雅黑" panose="020B0503020204020204" pitchFamily="34" charset="-122"/>
                <a:ea typeface="微软雅黑" panose="020B0503020204020204" pitchFamily="34" charset="-122"/>
              </a:rPr>
              <a:t>、减</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r>
              <a:rPr lang="zh-CN" altLang="en-US" sz="2000" dirty="0">
                <a:solidFill>
                  <a:srgbClr val="CC0000"/>
                </a:solidFill>
                <a:latin typeface="微软雅黑" panose="020B0503020204020204" pitchFamily="34" charset="-122"/>
                <a:ea typeface="微软雅黑" panose="020B0503020204020204" pitchFamily="34" charset="-122"/>
              </a:rPr>
              <a:t>异、</a:t>
            </a:r>
            <a:r>
              <a:rPr lang="en-US" altLang="zh-CN" sz="2000" dirty="0">
                <a:solidFill>
                  <a:srgbClr val="CC0000"/>
                </a:solidFill>
                <a:latin typeface="微软雅黑" panose="020B0503020204020204" pitchFamily="34" charset="-122"/>
                <a:ea typeface="微软雅黑" panose="020B0503020204020204" pitchFamily="34" charset="-122"/>
              </a:rPr>
              <a:t>0</a:t>
            </a:r>
            <a:r>
              <a:rPr lang="zh-CN" altLang="en-US" sz="2000" dirty="0">
                <a:solidFill>
                  <a:srgbClr val="CC0000"/>
                </a:solidFill>
                <a:latin typeface="微软雅黑" panose="020B0503020204020204" pitchFamily="34" charset="-122"/>
                <a:ea typeface="微软雅黑" panose="020B0503020204020204" pitchFamily="34" charset="-122"/>
              </a:rPr>
              <a:t>、加</a:t>
            </a:r>
            <a:endParaRPr lang="zh-CN" altLang="en-US" sz="2000" dirty="0">
              <a:latin typeface="微软雅黑" panose="020B0503020204020204" pitchFamily="34" charset="-122"/>
              <a:ea typeface="微软雅黑" panose="020B0503020204020204" pitchFamily="34" charset="-122"/>
            </a:endParaRPr>
          </a:p>
        </p:txBody>
      </p:sp>
      <p:sp>
        <p:nvSpPr>
          <p:cNvPr id="436231" name="Rectangle 7"/>
          <p:cNvSpPr/>
          <p:nvPr/>
        </p:nvSpPr>
        <p:spPr>
          <a:xfrm>
            <a:off x="3009900" y="736600"/>
            <a:ext cx="3638550" cy="285750"/>
          </a:xfrm>
          <a:prstGeom prst="rect">
            <a:avLst/>
          </a:prstGeom>
          <a:noFill/>
          <a:ln w="28575" cap="flat" cmpd="sng">
            <a:solidFill>
              <a:srgbClr val="CC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6232" name="Rectangle 8"/>
          <p:cNvSpPr/>
          <p:nvPr/>
        </p:nvSpPr>
        <p:spPr>
          <a:xfrm>
            <a:off x="3111500" y="4114800"/>
            <a:ext cx="3638550" cy="285750"/>
          </a:xfrm>
          <a:prstGeom prst="rect">
            <a:avLst/>
          </a:prstGeom>
          <a:noFill/>
          <a:ln w="28575" cap="flat" cmpd="sng">
            <a:solidFill>
              <a:srgbClr val="CC00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6233" name="Rectangle 9"/>
          <p:cNvSpPr/>
          <p:nvPr/>
        </p:nvSpPr>
        <p:spPr>
          <a:xfrm>
            <a:off x="3089275" y="3292475"/>
            <a:ext cx="3686175" cy="285750"/>
          </a:xfrm>
          <a:prstGeom prst="rect">
            <a:avLst/>
          </a:prstGeom>
          <a:noFill/>
          <a:ln w="28575"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6234" name="Rectangle 10"/>
          <p:cNvSpPr/>
          <p:nvPr/>
        </p:nvSpPr>
        <p:spPr>
          <a:xfrm>
            <a:off x="3086100" y="2422525"/>
            <a:ext cx="3686175" cy="285750"/>
          </a:xfrm>
          <a:prstGeom prst="rect">
            <a:avLst/>
          </a:prstGeom>
          <a:noFill/>
          <a:ln w="28575"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6235" name="Rectangle 11"/>
          <p:cNvSpPr/>
          <p:nvPr/>
        </p:nvSpPr>
        <p:spPr>
          <a:xfrm>
            <a:off x="3048000" y="1574800"/>
            <a:ext cx="3686175" cy="285750"/>
          </a:xfrm>
          <a:prstGeom prst="rect">
            <a:avLst/>
          </a:prstGeom>
          <a:noFill/>
          <a:ln w="28575"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6236" name="Rectangle 12"/>
          <p:cNvSpPr/>
          <p:nvPr/>
        </p:nvSpPr>
        <p:spPr>
          <a:xfrm>
            <a:off x="3086100" y="4965700"/>
            <a:ext cx="3686175" cy="285750"/>
          </a:xfrm>
          <a:prstGeom prst="rect">
            <a:avLst/>
          </a:prstGeom>
          <a:noFill/>
          <a:ln w="28575" cap="flat" cmpd="sng">
            <a:solidFill>
              <a:schemeClr val="accent2"/>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6237" name="Rectangle 13"/>
          <p:cNvSpPr/>
          <p:nvPr/>
        </p:nvSpPr>
        <p:spPr>
          <a:xfrm>
            <a:off x="3057525" y="5527675"/>
            <a:ext cx="5648325" cy="285750"/>
          </a:xfrm>
          <a:prstGeom prst="rect">
            <a:avLst/>
          </a:prstGeom>
          <a:noFill/>
          <a:ln w="28575" cap="flat" cmpd="sng">
            <a:solidFill>
              <a:srgbClr val="669900"/>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436238" name="Text Box 14"/>
          <p:cNvSpPr txBox="1"/>
          <p:nvPr/>
        </p:nvSpPr>
        <p:spPr>
          <a:xfrm>
            <a:off x="266700" y="4079875"/>
            <a:ext cx="2466975" cy="2063750"/>
          </a:xfrm>
          <a:prstGeom prst="rect">
            <a:avLst/>
          </a:prstGeom>
          <a:noFill/>
          <a:ln w="12700">
            <a:noFill/>
          </a:ln>
        </p:spPr>
        <p:txBody>
          <a:bodyPr anchor="t" anchorCtr="0">
            <a:spAutoFit/>
          </a:bodyPr>
          <a:p>
            <a:pPr eaLnBrk="0" hangingPunct="0">
              <a:lnSpc>
                <a:spcPts val="2600"/>
              </a:lnSpc>
            </a:pPr>
            <a:r>
              <a:rPr lang="en-US" altLang="zh-CN" sz="1800" dirty="0">
                <a:latin typeface="微软雅黑" panose="020B0503020204020204" pitchFamily="34" charset="-122"/>
                <a:ea typeface="微软雅黑" panose="020B0503020204020204" pitchFamily="34" charset="-122"/>
              </a:rPr>
              <a:t>X/Y= – 0100B = – 4</a:t>
            </a:r>
            <a:endParaRPr lang="zh-CN" altLang="en-US" sz="1800" dirty="0">
              <a:latin typeface="微软雅黑" panose="020B0503020204020204" pitchFamily="34" charset="-122"/>
              <a:ea typeface="微软雅黑" panose="020B0503020204020204" pitchFamily="34" charset="-122"/>
            </a:endParaRPr>
          </a:p>
          <a:p>
            <a:pPr eaLnBrk="0" hangingPunct="0">
              <a:lnSpc>
                <a:spcPts val="2600"/>
              </a:lnSpc>
            </a:pPr>
            <a:r>
              <a:rPr lang="zh-CN" altLang="en-US" sz="1800" dirty="0">
                <a:latin typeface="微软雅黑" panose="020B0503020204020204" pitchFamily="34" charset="-122"/>
                <a:ea typeface="微软雅黑" panose="020B0503020204020204" pitchFamily="34" charset="-122"/>
              </a:rPr>
              <a:t>余数为 </a:t>
            </a:r>
            <a:r>
              <a:rPr lang="en-US" altLang="zh-CN" sz="1800" dirty="0">
                <a:latin typeface="微软雅黑" panose="020B0503020204020204" pitchFamily="34" charset="-122"/>
                <a:ea typeface="微软雅黑" panose="020B0503020204020204" pitchFamily="34" charset="-122"/>
              </a:rPr>
              <a:t>–0001B = –1</a:t>
            </a:r>
            <a:endParaRPr lang="en-US" altLang="zh-CN" sz="1800" dirty="0">
              <a:latin typeface="微软雅黑" panose="020B0503020204020204" pitchFamily="34" charset="-122"/>
              <a:ea typeface="微软雅黑" panose="020B0503020204020204" pitchFamily="34" charset="-122"/>
            </a:endParaRPr>
          </a:p>
          <a:p>
            <a:pPr eaLnBrk="0" hangingPunct="0">
              <a:lnSpc>
                <a:spcPts val="2600"/>
              </a:lnSpc>
            </a:pPr>
            <a:r>
              <a:rPr lang="zh-CN" altLang="en-US" sz="1800" dirty="0">
                <a:latin typeface="微软雅黑" panose="020B0503020204020204" pitchFamily="34" charset="-122"/>
                <a:ea typeface="微软雅黑" panose="020B0503020204020204" pitchFamily="34" charset="-122"/>
              </a:rPr>
              <a:t>将各数代入公式</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eaLnBrk="0" hangingPunct="0">
              <a:lnSpc>
                <a:spcPts val="2600"/>
              </a:lnSpc>
            </a:pPr>
            <a:r>
              <a:rPr lang="zh-CN" altLang="en-US" sz="1800" dirty="0">
                <a:latin typeface="微软雅黑" panose="020B0503020204020204" pitchFamily="34" charset="-122"/>
                <a:ea typeface="微软雅黑" panose="020B0503020204020204" pitchFamily="34" charset="-122"/>
              </a:rPr>
              <a:t>“除数</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商</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余数</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被除数”进行验证，得</a:t>
            </a:r>
            <a:endParaRPr lang="zh-CN" altLang="en-US" sz="1800" dirty="0">
              <a:latin typeface="微软雅黑" panose="020B0503020204020204" pitchFamily="34" charset="-122"/>
              <a:ea typeface="微软雅黑" panose="020B0503020204020204" pitchFamily="34" charset="-122"/>
            </a:endParaRPr>
          </a:p>
          <a:p>
            <a:pPr eaLnBrk="0" hangingPunct="0">
              <a:lnSpc>
                <a:spcPts val="2600"/>
              </a:lnSpc>
            </a:pPr>
            <a:r>
              <a:rPr lang="en-US" altLang="zh-CN" sz="1800" dirty="0">
                <a:latin typeface="微软雅黑" panose="020B0503020204020204" pitchFamily="34" charset="-122"/>
                <a:ea typeface="微软雅黑" panose="020B0503020204020204" pitchFamily="34" charset="-122"/>
              </a:rPr>
              <a:t>2×(–4) +(–1) = –9</a:t>
            </a:r>
            <a:endParaRPr lang="zh-CN" altLang="en-US" sz="1800" dirty="0">
              <a:latin typeface="微软雅黑" panose="020B0503020204020204" pitchFamily="34" charset="-122"/>
              <a:ea typeface="微软雅黑" panose="020B0503020204020204" pitchFamily="34" charset="-122"/>
            </a:endParaRPr>
          </a:p>
        </p:txBody>
      </p:sp>
      <p:sp>
        <p:nvSpPr>
          <p:cNvPr id="15" name="Rectangle 5"/>
          <p:cNvSpPr/>
          <p:nvPr/>
        </p:nvSpPr>
        <p:spPr>
          <a:xfrm>
            <a:off x="136525" y="6419850"/>
            <a:ext cx="5551488" cy="400050"/>
          </a:xfrm>
          <a:prstGeom prst="rect">
            <a:avLst/>
          </a:prstGeom>
          <a:noFill/>
          <a:ln w="12700">
            <a:noFill/>
          </a:ln>
        </p:spPr>
        <p:txBody>
          <a:bodyPr anchor="t" anchorCtr="0">
            <a:spAutoFit/>
          </a:bodyPr>
          <a:p>
            <a:pPr eaLnBrk="0" hangingPunct="0"/>
            <a:r>
              <a:rPr lang="zh-CN" altLang="en-US" sz="2000" dirty="0">
                <a:solidFill>
                  <a:schemeClr val="accent2"/>
                </a:solidFill>
                <a:latin typeface="微软雅黑" panose="020B0503020204020204" pitchFamily="34" charset="-122"/>
                <a:ea typeface="微软雅黑" panose="020B0503020204020204" pitchFamily="34" charset="-122"/>
              </a:rPr>
              <a:t>编译器遇到</a:t>
            </a:r>
            <a:r>
              <a:rPr lang="en-US" altLang="zh-CN" sz="2000" dirty="0">
                <a:solidFill>
                  <a:schemeClr val="accent2"/>
                </a:solidFill>
                <a:latin typeface="微软雅黑" panose="020B0503020204020204" pitchFamily="34" charset="-122"/>
                <a:ea typeface="微软雅黑" panose="020B0503020204020204" pitchFamily="34" charset="-122"/>
              </a:rPr>
              <a:t>x/2</a:t>
            </a:r>
            <a:r>
              <a:rPr lang="zh-CN" altLang="en-US" sz="2000" dirty="0">
                <a:solidFill>
                  <a:schemeClr val="accent2"/>
                </a:solidFill>
                <a:latin typeface="微软雅黑" panose="020B0503020204020204" pitchFamily="34" charset="-122"/>
                <a:ea typeface="微软雅黑" panose="020B0503020204020204" pitchFamily="34" charset="-122"/>
              </a:rPr>
              <a:t>时会如何做？</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6" name="Rectangle 5"/>
          <p:cNvSpPr/>
          <p:nvPr/>
        </p:nvSpPr>
        <p:spPr>
          <a:xfrm>
            <a:off x="3454400" y="6448425"/>
            <a:ext cx="1727200" cy="400050"/>
          </a:xfrm>
          <a:prstGeom prst="rect">
            <a:avLst/>
          </a:prstGeom>
          <a:noFill/>
          <a:ln w="12700">
            <a:noFill/>
          </a:ln>
        </p:spPr>
        <p:txBody>
          <a:bodyPr anchor="t" anchorCtr="0">
            <a:spAutoFit/>
          </a:bodyPr>
          <a:p>
            <a:pPr eaLnBrk="0" hangingPunct="0"/>
            <a:r>
              <a:rPr lang="zh-CN" altLang="en-US" sz="2000" dirty="0">
                <a:solidFill>
                  <a:srgbClr val="008000"/>
                </a:solidFill>
                <a:latin typeface="微软雅黑" panose="020B0503020204020204" pitchFamily="34" charset="-122"/>
                <a:ea typeface="微软雅黑" panose="020B0503020204020204" pitchFamily="34" charset="-122"/>
              </a:rPr>
              <a:t>右移一位吗！</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104463" name="矩形 1"/>
          <p:cNvSpPr/>
          <p:nvPr/>
        </p:nvSpPr>
        <p:spPr>
          <a:xfrm>
            <a:off x="3454400" y="6143625"/>
            <a:ext cx="2171700" cy="327025"/>
          </a:xfrm>
          <a:prstGeom prst="rect">
            <a:avLst/>
          </a:prstGeom>
          <a:solidFill>
            <a:srgbClr val="C00000">
              <a:alpha val="34117"/>
            </a:srgbClr>
          </a:solidFill>
          <a:ln w="12700" cap="flat" cmpd="sng">
            <a:solidFill>
              <a:srgbClr val="000000"/>
            </a:solidFill>
            <a:prstDash val="solid"/>
            <a:round/>
            <a:headEnd type="none" w="med" len="med"/>
            <a:tailEnd type="none" w="med" len="med"/>
          </a:ln>
        </p:spPr>
        <p:txBody>
          <a:bodyPr anchor="t" anchorCtr="0"/>
          <a:p>
            <a:pPr eaLnBrk="0" hangingPunct="0"/>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6229">
                                            <p:txEl>
                                              <p:charRg st="0" end="6"/>
                                            </p:txEl>
                                          </p:spTgt>
                                        </p:tgtEl>
                                        <p:attrNameLst>
                                          <p:attrName>style.visibility</p:attrName>
                                        </p:attrNameLst>
                                      </p:cBhvr>
                                      <p:to>
                                        <p:strVal val="visible"/>
                                      </p:to>
                                    </p:set>
                                    <p:animEffect transition="in" filter="blinds(horizontal)">
                                      <p:cBhvr>
                                        <p:cTn id="7" dur="500"/>
                                        <p:tgtEl>
                                          <p:spTgt spid="436229">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6235"/>
                                        </p:tgtEl>
                                        <p:attrNameLst>
                                          <p:attrName>style.visibility</p:attrName>
                                        </p:attrNameLst>
                                      </p:cBhvr>
                                      <p:to>
                                        <p:strVal val="visible"/>
                                      </p:to>
                                    </p:set>
                                    <p:animEffect transition="in" filter="blinds(horizontal)">
                                      <p:cBhvr>
                                        <p:cTn id="12" dur="500"/>
                                        <p:tgtEl>
                                          <p:spTgt spid="43623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36234"/>
                                        </p:tgtEl>
                                        <p:attrNameLst>
                                          <p:attrName>style.visibility</p:attrName>
                                        </p:attrNameLst>
                                      </p:cBhvr>
                                      <p:to>
                                        <p:strVal val="visible"/>
                                      </p:to>
                                    </p:set>
                                    <p:animEffect transition="in" filter="blinds(horizontal)">
                                      <p:cBhvr>
                                        <p:cTn id="15" dur="500"/>
                                        <p:tgtEl>
                                          <p:spTgt spid="43623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36233"/>
                                        </p:tgtEl>
                                        <p:attrNameLst>
                                          <p:attrName>style.visibility</p:attrName>
                                        </p:attrNameLst>
                                      </p:cBhvr>
                                      <p:to>
                                        <p:strVal val="visible"/>
                                      </p:to>
                                    </p:set>
                                    <p:animEffect transition="in" filter="blinds(horizontal)">
                                      <p:cBhvr>
                                        <p:cTn id="18" dur="500"/>
                                        <p:tgtEl>
                                          <p:spTgt spid="436233"/>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36236"/>
                                        </p:tgtEl>
                                        <p:attrNameLst>
                                          <p:attrName>style.visibility</p:attrName>
                                        </p:attrNameLst>
                                      </p:cBhvr>
                                      <p:to>
                                        <p:strVal val="visible"/>
                                      </p:to>
                                    </p:set>
                                    <p:animEffect transition="in" filter="blinds(horizontal)">
                                      <p:cBhvr>
                                        <p:cTn id="21" dur="500"/>
                                        <p:tgtEl>
                                          <p:spTgt spid="43623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36229">
                                            <p:txEl>
                                              <p:charRg st="6" end="12"/>
                                            </p:txEl>
                                          </p:spTgt>
                                        </p:tgtEl>
                                        <p:attrNameLst>
                                          <p:attrName>style.visibility</p:attrName>
                                        </p:attrNameLst>
                                      </p:cBhvr>
                                      <p:to>
                                        <p:strVal val="visible"/>
                                      </p:to>
                                    </p:set>
                                    <p:animEffect transition="in" filter="blinds(horizontal)">
                                      <p:cBhvr>
                                        <p:cTn id="26" dur="500"/>
                                        <p:tgtEl>
                                          <p:spTgt spid="436229">
                                            <p:txEl>
                                              <p:charRg st="6" end="1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436231"/>
                                        </p:tgtEl>
                                        <p:attrNameLst>
                                          <p:attrName>style.visibility</p:attrName>
                                        </p:attrNameLst>
                                      </p:cBhvr>
                                      <p:to>
                                        <p:strVal val="visible"/>
                                      </p:to>
                                    </p:set>
                                    <p:animEffect transition="in" filter="blinds(horizontal)">
                                      <p:cBhvr>
                                        <p:cTn id="31" dur="500"/>
                                        <p:tgtEl>
                                          <p:spTgt spid="43623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436232"/>
                                        </p:tgtEl>
                                        <p:attrNameLst>
                                          <p:attrName>style.visibility</p:attrName>
                                        </p:attrNameLst>
                                      </p:cBhvr>
                                      <p:to>
                                        <p:strVal val="visible"/>
                                      </p:to>
                                    </p:set>
                                    <p:animEffect transition="in" filter="blinds(horizontal)">
                                      <p:cBhvr>
                                        <p:cTn id="34" dur="500"/>
                                        <p:tgtEl>
                                          <p:spTgt spid="43623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436237"/>
                                        </p:tgtEl>
                                        <p:attrNameLst>
                                          <p:attrName>style.visibility</p:attrName>
                                        </p:attrNameLst>
                                      </p:cBhvr>
                                      <p:to>
                                        <p:strVal val="visible"/>
                                      </p:to>
                                    </p:set>
                                    <p:animEffect transition="in" filter="blinds(horizontal)">
                                      <p:cBhvr>
                                        <p:cTn id="39" dur="500"/>
                                        <p:tgtEl>
                                          <p:spTgt spid="436237"/>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436238"/>
                                        </p:tgtEl>
                                        <p:attrNameLst>
                                          <p:attrName>style.visibility</p:attrName>
                                        </p:attrNameLst>
                                      </p:cBhvr>
                                      <p:to>
                                        <p:strVal val="visible"/>
                                      </p:to>
                                    </p:set>
                                    <p:animEffect transition="in" filter="blinds(horizontal)">
                                      <p:cBhvr>
                                        <p:cTn id="44" dur="500"/>
                                        <p:tgtEl>
                                          <p:spTgt spid="436238"/>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5">
                                            <p:txEl>
                                              <p:charRg st="0" end="15"/>
                                            </p:txEl>
                                          </p:spTgt>
                                        </p:tgtEl>
                                        <p:attrNameLst>
                                          <p:attrName>style.visibility</p:attrName>
                                        </p:attrNameLst>
                                      </p:cBhvr>
                                      <p:to>
                                        <p:strVal val="visible"/>
                                      </p:to>
                                    </p:set>
                                    <p:animEffect transition="in" filter="blinds(horizontal)">
                                      <p:cBhvr>
                                        <p:cTn id="49" dur="500"/>
                                        <p:tgtEl>
                                          <p:spTgt spid="15">
                                            <p:txEl>
                                              <p:charRg st="0" end="1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6">
                                            <p:txEl>
                                              <p:charRg st="0" end="7"/>
                                            </p:txEl>
                                          </p:spTgt>
                                        </p:tgtEl>
                                        <p:attrNameLst>
                                          <p:attrName>style.visibility</p:attrName>
                                        </p:attrNameLst>
                                      </p:cBhvr>
                                      <p:to>
                                        <p:strVal val="visible"/>
                                      </p:to>
                                    </p:set>
                                    <p:animEffect transition="in" filter="blinds(horizontal)">
                                      <p:cBhvr>
                                        <p:cTn id="54" dur="500"/>
                                        <p:tgtEl>
                                          <p:spTgt spid="16">
                                            <p:txEl>
                                              <p:charRg st="0"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31" grpId="0" animBg="1"/>
      <p:bldP spid="436232" grpId="0" animBg="1"/>
      <p:bldP spid="436233" grpId="0" animBg="1"/>
      <p:bldP spid="436234" grpId="0" animBg="1"/>
      <p:bldP spid="436235" grpId="0" animBg="1"/>
      <p:bldP spid="436236" grpId="0" animBg="1"/>
      <p:bldP spid="436237" grpId="0" animBg="1"/>
      <p:bldP spid="43623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a:spLocks noGrp="1"/>
          </p:cNvSpPr>
          <p:nvPr>
            <p:ph type="title"/>
          </p:nvPr>
        </p:nvSpPr>
        <p:spPr>
          <a:xfrm>
            <a:off x="457200" y="98425"/>
            <a:ext cx="8229600" cy="533400"/>
          </a:xfrm>
          <a:ln/>
        </p:spPr>
        <p:txBody>
          <a:bodyPr vert="horz" wrap="square" lIns="63500" tIns="25400" rIns="63500" bIns="25400" anchor="t" anchorCtr="0">
            <a:spAutoFit/>
          </a:bodyPr>
          <a:p>
            <a:r>
              <a:rPr lang="zh-CN" altLang="en-US" dirty="0">
                <a:ea typeface="宋体" panose="02010600030101010101" pitchFamily="2" charset="-122"/>
              </a:rPr>
              <a:t>变量与常数之间的除运算</a:t>
            </a:r>
            <a:r>
              <a:rPr lang="zh-CN" altLang="en-US" sz="3600" dirty="0">
                <a:ea typeface="宋体" panose="02010600030101010101" pitchFamily="2" charset="-122"/>
              </a:rPr>
              <a:t> </a:t>
            </a:r>
            <a:endParaRPr lang="zh-CN" altLang="en-US" sz="3600" dirty="0">
              <a:ea typeface="宋体" panose="02010600030101010101" pitchFamily="2" charset="-122"/>
            </a:endParaRPr>
          </a:p>
        </p:txBody>
      </p:sp>
      <p:sp>
        <p:nvSpPr>
          <p:cNvPr id="105474" name="Rectangle 3"/>
          <p:cNvSpPr>
            <a:spLocks noGrp="1"/>
          </p:cNvSpPr>
          <p:nvPr>
            <p:ph idx="1"/>
          </p:nvPr>
        </p:nvSpPr>
        <p:spPr>
          <a:xfrm>
            <a:off x="250825" y="819150"/>
            <a:ext cx="8596313" cy="4649788"/>
          </a:xfrm>
          <a:ln/>
        </p:spPr>
        <p:txBody>
          <a:bodyPr vert="horz" wrap="square" lIns="63500" tIns="25400" rIns="63500" bIns="25400" anchor="t" anchorCtr="0">
            <a:spAutoFit/>
          </a:bodyPr>
          <a:p>
            <a:pPr>
              <a:spcBef>
                <a:spcPct val="30000"/>
              </a:spcBef>
            </a:pPr>
            <a:r>
              <a:rPr lang="zh-CN" altLang="en-US" sz="2000" dirty="0">
                <a:latin typeface="微软雅黑" panose="020B0503020204020204" pitchFamily="34" charset="-122"/>
                <a:ea typeface="微软雅黑" panose="020B0503020204020204" pitchFamily="34" charset="-122"/>
              </a:rPr>
              <a:t>不能整除时，采用</a:t>
            </a:r>
            <a:r>
              <a:rPr lang="zh-CN" altLang="en-US" sz="2000" dirty="0">
                <a:solidFill>
                  <a:srgbClr val="CC3300"/>
                </a:solidFill>
                <a:latin typeface="微软雅黑" panose="020B0503020204020204" pitchFamily="34" charset="-122"/>
                <a:ea typeface="微软雅黑" panose="020B0503020204020204" pitchFamily="34" charset="-122"/>
              </a:rPr>
              <a:t>朝零舍入</a:t>
            </a:r>
            <a:r>
              <a:rPr lang="zh-CN" altLang="en-US" sz="2000" dirty="0">
                <a:latin typeface="微软雅黑" panose="020B0503020204020204" pitchFamily="34" charset="-122"/>
                <a:ea typeface="微软雅黑" panose="020B0503020204020204" pitchFamily="34" charset="-122"/>
              </a:rPr>
              <a:t>，即</a:t>
            </a:r>
            <a:r>
              <a:rPr lang="zh-CN" altLang="en-US" sz="2000" dirty="0">
                <a:solidFill>
                  <a:srgbClr val="CC3300"/>
                </a:solidFill>
                <a:latin typeface="微软雅黑" panose="020B0503020204020204" pitchFamily="34" charset="-122"/>
                <a:ea typeface="微软雅黑" panose="020B0503020204020204" pitchFamily="34" charset="-122"/>
              </a:rPr>
              <a:t>截断</a:t>
            </a:r>
            <a:r>
              <a:rPr lang="zh-CN" altLang="en-US" sz="2000" dirty="0">
                <a:latin typeface="微软雅黑" panose="020B0503020204020204" pitchFamily="34" charset="-122"/>
                <a:ea typeface="微软雅黑" panose="020B0503020204020204" pitchFamily="34" charset="-122"/>
              </a:rPr>
              <a:t>方式</a:t>
            </a:r>
            <a:endParaRPr lang="zh-CN" altLang="en-US" sz="2000" dirty="0">
              <a:latin typeface="微软雅黑" panose="020B0503020204020204" pitchFamily="34" charset="-122"/>
              <a:ea typeface="微软雅黑" panose="020B0503020204020204" pitchFamily="34" charset="-122"/>
            </a:endParaRPr>
          </a:p>
          <a:p>
            <a:pPr lvl="1">
              <a:spcBef>
                <a:spcPct val="30000"/>
              </a:spcBef>
            </a:pPr>
            <a:r>
              <a:rPr lang="zh-CN" altLang="en-US" dirty="0">
                <a:latin typeface="微软雅黑" panose="020B0503020204020204" pitchFamily="34" charset="-122"/>
                <a:ea typeface="微软雅黑" panose="020B0503020204020204" pitchFamily="34" charset="-122"/>
              </a:rPr>
              <a:t>无符号数、带符号正整数（地板）：</a:t>
            </a:r>
            <a:r>
              <a:rPr lang="zh-CN" altLang="en-US" dirty="0">
                <a:solidFill>
                  <a:srgbClr val="008000"/>
                </a:solidFill>
                <a:latin typeface="微软雅黑" panose="020B0503020204020204" pitchFamily="34" charset="-122"/>
                <a:ea typeface="微软雅黑" panose="020B0503020204020204" pitchFamily="34" charset="-122"/>
              </a:rPr>
              <a:t>移出的低位直接丢弃</a:t>
            </a:r>
            <a:endParaRPr lang="zh-CN" altLang="en-US" dirty="0">
              <a:solidFill>
                <a:srgbClr val="008000"/>
              </a:solidFill>
              <a:latin typeface="微软雅黑" panose="020B0503020204020204" pitchFamily="34" charset="-122"/>
              <a:ea typeface="微软雅黑" panose="020B0503020204020204" pitchFamily="34" charset="-122"/>
            </a:endParaRPr>
          </a:p>
          <a:p>
            <a:pPr lvl="1">
              <a:spcBef>
                <a:spcPct val="30000"/>
              </a:spcBef>
            </a:pPr>
            <a:r>
              <a:rPr lang="zh-CN" altLang="en-US" dirty="0">
                <a:solidFill>
                  <a:srgbClr val="FF0000"/>
                </a:solidFill>
                <a:latin typeface="微软雅黑" panose="020B0503020204020204" pitchFamily="34" charset="-122"/>
                <a:ea typeface="微软雅黑" panose="020B0503020204020204" pitchFamily="34" charset="-122"/>
              </a:rPr>
              <a:t>带符号负整数（天板）</a:t>
            </a:r>
            <a:r>
              <a:rPr lang="zh-CN" altLang="en-US" dirty="0">
                <a:solidFill>
                  <a:srgbClr val="008000"/>
                </a:solidFill>
                <a:latin typeface="微软雅黑" panose="020B0503020204020204" pitchFamily="34" charset="-122"/>
                <a:ea typeface="微软雅黑" panose="020B0503020204020204" pitchFamily="34" charset="-122"/>
              </a:rPr>
              <a:t>：加偏移量</a:t>
            </a:r>
            <a:r>
              <a:rPr lang="en-US" altLang="zh-CN" dirty="0">
                <a:solidFill>
                  <a:srgbClr val="CC3300"/>
                </a:solidFill>
                <a:latin typeface="微软雅黑" panose="020B0503020204020204" pitchFamily="34" charset="-122"/>
                <a:ea typeface="微软雅黑" panose="020B0503020204020204" pitchFamily="34" charset="-122"/>
              </a:rPr>
              <a:t>(2</a:t>
            </a:r>
            <a:r>
              <a:rPr lang="en-US" altLang="zh-CN" i="1" baseline="30000" dirty="0">
                <a:solidFill>
                  <a:srgbClr val="CC3300"/>
                </a:solidFill>
                <a:latin typeface="微软雅黑" panose="020B0503020204020204" pitchFamily="34" charset="-122"/>
                <a:ea typeface="微软雅黑" panose="020B0503020204020204" pitchFamily="34" charset="-122"/>
              </a:rPr>
              <a:t>k</a:t>
            </a:r>
            <a:r>
              <a:rPr lang="en-US" altLang="zh-CN" dirty="0">
                <a:solidFill>
                  <a:srgbClr val="CC3300"/>
                </a:solidFill>
                <a:latin typeface="微软雅黑" panose="020B0503020204020204" pitchFamily="34" charset="-122"/>
                <a:ea typeface="微软雅黑" panose="020B0503020204020204" pitchFamily="34" charset="-122"/>
              </a:rPr>
              <a:t>-1)</a:t>
            </a:r>
            <a:r>
              <a:rPr lang="zh-CN" altLang="en-US" dirty="0">
                <a:solidFill>
                  <a:srgbClr val="008000"/>
                </a:solidFill>
                <a:latin typeface="微软雅黑" panose="020B0503020204020204" pitchFamily="34" charset="-122"/>
                <a:ea typeface="微软雅黑" panose="020B0503020204020204" pitchFamily="34" charset="-122"/>
              </a:rPr>
              <a:t>，然后再右移</a:t>
            </a:r>
            <a:r>
              <a:rPr lang="en-US" altLang="zh-CN" i="1" dirty="0">
                <a:solidFill>
                  <a:srgbClr val="008000"/>
                </a:solidFill>
                <a:latin typeface="微软雅黑" panose="020B0503020204020204" pitchFamily="34" charset="-122"/>
                <a:ea typeface="微软雅黑" panose="020B0503020204020204" pitchFamily="34" charset="-122"/>
              </a:rPr>
              <a:t>k </a:t>
            </a:r>
            <a:r>
              <a:rPr lang="zh-CN" altLang="en-US" dirty="0">
                <a:solidFill>
                  <a:srgbClr val="008000"/>
                </a:solidFill>
                <a:latin typeface="微软雅黑" panose="020B0503020204020204" pitchFamily="34" charset="-122"/>
                <a:ea typeface="微软雅黑" panose="020B0503020204020204" pitchFamily="34" charset="-122"/>
              </a:rPr>
              <a:t>位 ，低位截断（</a:t>
            </a:r>
            <a:r>
              <a:rPr lang="zh-CN" altLang="en-US" dirty="0">
                <a:solidFill>
                  <a:srgbClr val="CC3300"/>
                </a:solidFill>
                <a:latin typeface="微软雅黑" panose="020B0503020204020204" pitchFamily="34" charset="-122"/>
                <a:ea typeface="微软雅黑" panose="020B0503020204020204" pitchFamily="34" charset="-122"/>
              </a:rPr>
              <a:t>这里</a:t>
            </a:r>
            <a:r>
              <a:rPr lang="en-US" altLang="zh-CN" i="1" dirty="0">
                <a:solidFill>
                  <a:srgbClr val="CC3300"/>
                </a:solidFill>
                <a:latin typeface="微软雅黑" panose="020B0503020204020204" pitchFamily="34" charset="-122"/>
                <a:ea typeface="微软雅黑" panose="020B0503020204020204" pitchFamily="34" charset="-122"/>
              </a:rPr>
              <a:t>K </a:t>
            </a:r>
            <a:r>
              <a:rPr lang="zh-CN" altLang="en-US" dirty="0">
                <a:solidFill>
                  <a:srgbClr val="CC3300"/>
                </a:solidFill>
                <a:latin typeface="微软雅黑" panose="020B0503020204020204" pitchFamily="34" charset="-122"/>
                <a:ea typeface="微软雅黑" panose="020B0503020204020204" pitchFamily="34" charset="-122"/>
              </a:rPr>
              <a:t>是右移位数</a:t>
            </a:r>
            <a:r>
              <a:rPr lang="zh-CN" altLang="en-US" dirty="0">
                <a:solidFill>
                  <a:srgbClr val="008000"/>
                </a:solidFill>
                <a:latin typeface="微软雅黑" panose="020B0503020204020204" pitchFamily="34" charset="-122"/>
                <a:ea typeface="微软雅黑" panose="020B0503020204020204" pitchFamily="34" charset="-122"/>
              </a:rPr>
              <a:t>）</a:t>
            </a:r>
            <a:endParaRPr lang="zh-CN" altLang="en-US" dirty="0">
              <a:solidFill>
                <a:srgbClr val="008000"/>
              </a:solidFill>
              <a:latin typeface="微软雅黑" panose="020B0503020204020204" pitchFamily="34" charset="-122"/>
              <a:ea typeface="微软雅黑" panose="020B0503020204020204" pitchFamily="34" charset="-122"/>
            </a:endParaRPr>
          </a:p>
          <a:p>
            <a:pPr>
              <a:spcBef>
                <a:spcPct val="30000"/>
              </a:spcBef>
              <a:buFontTx/>
              <a:buNone/>
            </a:pPr>
            <a:r>
              <a:rPr lang="zh-CN" altLang="en-US" sz="2000" dirty="0">
                <a:latin typeface="微软雅黑" panose="020B0503020204020204" pitchFamily="34" charset="-122"/>
                <a:ea typeface="微软雅黑" panose="020B0503020204020204" pitchFamily="34" charset="-122"/>
              </a:rPr>
              <a:t>     举例： </a:t>
            </a:r>
            <a:endParaRPr lang="zh-CN" altLang="en-US" sz="2000" dirty="0">
              <a:latin typeface="微软雅黑" panose="020B0503020204020204" pitchFamily="34" charset="-122"/>
              <a:ea typeface="微软雅黑" panose="020B0503020204020204" pitchFamily="34" charset="-122"/>
            </a:endParaRPr>
          </a:p>
          <a:p>
            <a:pPr>
              <a:spcBef>
                <a:spcPct val="30000"/>
              </a:spcBef>
              <a:buFontTx/>
              <a:buNone/>
            </a:pPr>
            <a:r>
              <a:rPr lang="zh-CN" altLang="en-US" dirty="0">
                <a:latin typeface="微软雅黑" panose="020B0503020204020204" pitchFamily="34" charset="-122"/>
                <a:ea typeface="微软雅黑" panose="020B0503020204020204" pitchFamily="34" charset="-122"/>
              </a:rPr>
              <a:t>     </a:t>
            </a:r>
            <a:r>
              <a:rPr lang="zh-CN" altLang="en-US" sz="2000" dirty="0">
                <a:solidFill>
                  <a:srgbClr val="0033CC"/>
                </a:solidFill>
                <a:latin typeface="微软雅黑" panose="020B0503020204020204" pitchFamily="34" charset="-122"/>
                <a:ea typeface="微软雅黑" panose="020B0503020204020204" pitchFamily="34" charset="-122"/>
              </a:rPr>
              <a:t>无符号数   </a:t>
            </a:r>
            <a:r>
              <a:rPr lang="en-US" altLang="zh-CN" sz="2000" dirty="0">
                <a:solidFill>
                  <a:srgbClr val="0033CC"/>
                </a:solidFill>
                <a:latin typeface="微软雅黑" panose="020B0503020204020204" pitchFamily="34" charset="-122"/>
                <a:ea typeface="微软雅黑" panose="020B0503020204020204" pitchFamily="34" charset="-122"/>
              </a:rPr>
              <a:t>14/4=3</a:t>
            </a:r>
            <a:r>
              <a:rPr lang="zh-CN" altLang="en-US" sz="2000" dirty="0">
                <a:solidFill>
                  <a:srgbClr val="0033CC"/>
                </a:solidFill>
                <a:latin typeface="微软雅黑" panose="020B0503020204020204" pitchFamily="34" charset="-122"/>
                <a:ea typeface="微软雅黑" panose="020B0503020204020204" pitchFamily="34" charset="-122"/>
              </a:rPr>
              <a:t>：</a:t>
            </a:r>
            <a:r>
              <a:rPr lang="en-US" altLang="zh-CN" sz="2000" dirty="0">
                <a:solidFill>
                  <a:srgbClr val="0033CC"/>
                </a:solidFill>
                <a:latin typeface="微软雅黑" panose="020B0503020204020204" pitchFamily="34" charset="-122"/>
                <a:ea typeface="微软雅黑" panose="020B0503020204020204" pitchFamily="34" charset="-122"/>
              </a:rPr>
              <a:t>0000 1110&gt;&gt;2=0000 0011</a:t>
            </a:r>
            <a:endParaRPr lang="zh-CN" altLang="en-US" sz="2000" dirty="0">
              <a:solidFill>
                <a:srgbClr val="0033CC"/>
              </a:solidFill>
              <a:latin typeface="微软雅黑" panose="020B0503020204020204" pitchFamily="34" charset="-122"/>
              <a:ea typeface="微软雅黑" panose="020B0503020204020204" pitchFamily="34" charset="-122"/>
            </a:endParaRPr>
          </a:p>
          <a:p>
            <a:pPr>
              <a:spcBef>
                <a:spcPct val="30000"/>
              </a:spcBef>
              <a:buFontTx/>
              <a:buNone/>
            </a:pPr>
            <a:r>
              <a:rPr lang="en-US" altLang="zh-CN" sz="2000" dirty="0">
                <a:solidFill>
                  <a:srgbClr val="0033CC"/>
                </a:solidFill>
                <a:latin typeface="微软雅黑" panose="020B0503020204020204" pitchFamily="34" charset="-122"/>
                <a:ea typeface="微软雅黑" panose="020B0503020204020204" pitchFamily="34" charset="-122"/>
              </a:rPr>
              <a:t>     </a:t>
            </a:r>
            <a:r>
              <a:rPr lang="zh-CN" altLang="en-US" sz="2000" dirty="0">
                <a:solidFill>
                  <a:srgbClr val="0033CC"/>
                </a:solidFill>
                <a:latin typeface="微软雅黑" panose="020B0503020204020204" pitchFamily="34" charset="-122"/>
                <a:ea typeface="微软雅黑" panose="020B0503020204020204" pitchFamily="34" charset="-122"/>
              </a:rPr>
              <a:t>带符号负整数  </a:t>
            </a:r>
            <a:r>
              <a:rPr lang="en-US" altLang="zh-CN" sz="2000" dirty="0">
                <a:solidFill>
                  <a:srgbClr val="0033CC"/>
                </a:solidFill>
                <a:latin typeface="微软雅黑" panose="020B0503020204020204" pitchFamily="34" charset="-122"/>
                <a:ea typeface="微软雅黑" panose="020B0503020204020204" pitchFamily="34" charset="-122"/>
              </a:rPr>
              <a:t>-14/4=-3</a:t>
            </a:r>
            <a:endParaRPr lang="zh-CN" altLang="en-US" sz="2000" dirty="0">
              <a:solidFill>
                <a:srgbClr val="0033CC"/>
              </a:solidFill>
              <a:latin typeface="微软雅黑" panose="020B0503020204020204" pitchFamily="34" charset="-122"/>
              <a:ea typeface="微软雅黑" panose="020B0503020204020204" pitchFamily="34" charset="-122"/>
            </a:endParaRPr>
          </a:p>
          <a:p>
            <a:pPr>
              <a:spcBef>
                <a:spcPct val="30000"/>
              </a:spcBef>
              <a:buFontTx/>
              <a:buNone/>
            </a:pPr>
            <a:r>
              <a:rPr lang="zh-CN" altLang="en-US" sz="2000" dirty="0">
                <a:solidFill>
                  <a:srgbClr val="0033CC"/>
                </a:solidFill>
                <a:latin typeface="微软雅黑" panose="020B0503020204020204" pitchFamily="34" charset="-122"/>
                <a:ea typeface="微软雅黑" panose="020B0503020204020204" pitchFamily="34" charset="-122"/>
              </a:rPr>
              <a:t>     </a:t>
            </a:r>
            <a:r>
              <a:rPr lang="zh-CN" altLang="en-US" sz="2000" dirty="0">
                <a:solidFill>
                  <a:srgbClr val="CC3300"/>
                </a:solidFill>
                <a:latin typeface="微软雅黑" panose="020B0503020204020204" pitchFamily="34" charset="-122"/>
                <a:ea typeface="微软雅黑" panose="020B0503020204020204" pitchFamily="34" charset="-122"/>
              </a:rPr>
              <a:t>若直接截断，则 </a:t>
            </a:r>
            <a:r>
              <a:rPr lang="en-US" altLang="zh-CN" sz="2000" dirty="0">
                <a:solidFill>
                  <a:srgbClr val="CC3300"/>
                </a:solidFill>
                <a:latin typeface="微软雅黑" panose="020B0503020204020204" pitchFamily="34" charset="-122"/>
                <a:ea typeface="微软雅黑" panose="020B0503020204020204" pitchFamily="34" charset="-122"/>
              </a:rPr>
              <a:t>1111 0010 &gt;&gt;2=1111 1100=-4≠-3</a:t>
            </a:r>
            <a:endParaRPr lang="en-US" altLang="zh-CN" sz="2000" dirty="0">
              <a:solidFill>
                <a:srgbClr val="CC3300"/>
              </a:solidFill>
              <a:latin typeface="微软雅黑" panose="020B0503020204020204" pitchFamily="34" charset="-122"/>
              <a:ea typeface="微软雅黑" panose="020B0503020204020204" pitchFamily="34" charset="-122"/>
            </a:endParaRPr>
          </a:p>
          <a:p>
            <a:pPr>
              <a:spcBef>
                <a:spcPct val="30000"/>
              </a:spcBef>
              <a:buFontTx/>
              <a:buNone/>
            </a:pPr>
            <a:r>
              <a:rPr lang="en-US" altLang="zh-CN" sz="2000" dirty="0">
                <a:solidFill>
                  <a:srgbClr val="0033CC"/>
                </a:solidFill>
                <a:latin typeface="微软雅黑" panose="020B0503020204020204" pitchFamily="34" charset="-122"/>
                <a:ea typeface="微软雅黑" panose="020B0503020204020204" pitchFamily="34" charset="-122"/>
              </a:rPr>
              <a:t>     </a:t>
            </a:r>
            <a:r>
              <a:rPr lang="zh-CN" altLang="en-US" sz="2000" dirty="0">
                <a:solidFill>
                  <a:srgbClr val="0033CC"/>
                </a:solidFill>
                <a:latin typeface="微软雅黑" panose="020B0503020204020204" pitchFamily="34" charset="-122"/>
                <a:ea typeface="微软雅黑" panose="020B0503020204020204" pitchFamily="34" charset="-122"/>
              </a:rPr>
              <a:t>应先</a:t>
            </a:r>
            <a:r>
              <a:rPr lang="zh-CN" altLang="en-US" sz="2000" dirty="0">
                <a:solidFill>
                  <a:srgbClr val="CC3300"/>
                </a:solidFill>
                <a:latin typeface="微软雅黑" panose="020B0503020204020204" pitchFamily="34" charset="-122"/>
                <a:ea typeface="微软雅黑" panose="020B0503020204020204" pitchFamily="34" charset="-122"/>
              </a:rPr>
              <a:t>纠偏，再右移</a:t>
            </a:r>
            <a:r>
              <a:rPr lang="en-US" altLang="zh-CN" sz="2000" dirty="0">
                <a:solidFill>
                  <a:srgbClr val="CC3300"/>
                </a:solidFill>
                <a:latin typeface="微软雅黑" panose="020B0503020204020204" pitchFamily="34" charset="-122"/>
                <a:ea typeface="微软雅黑" panose="020B0503020204020204" pitchFamily="34" charset="-122"/>
              </a:rPr>
              <a:t>:</a:t>
            </a:r>
            <a:r>
              <a:rPr lang="en-US" altLang="zh-CN" sz="2000" dirty="0">
                <a:solidFill>
                  <a:srgbClr val="0033CC"/>
                </a:solidFill>
                <a:latin typeface="微软雅黑" panose="020B0503020204020204" pitchFamily="34" charset="-122"/>
                <a:ea typeface="微软雅黑" panose="020B0503020204020204" pitchFamily="34" charset="-122"/>
              </a:rPr>
              <a:t> k=2, </a:t>
            </a:r>
            <a:r>
              <a:rPr lang="zh-CN" altLang="en-US" sz="2000" dirty="0">
                <a:solidFill>
                  <a:srgbClr val="0033CC"/>
                </a:solidFill>
                <a:latin typeface="微软雅黑" panose="020B0503020204020204" pitchFamily="34" charset="-122"/>
                <a:ea typeface="微软雅黑" panose="020B0503020204020204" pitchFamily="34" charset="-122"/>
              </a:rPr>
              <a:t>故</a:t>
            </a:r>
            <a:r>
              <a:rPr lang="en-US" altLang="zh-CN" sz="2000" dirty="0">
                <a:solidFill>
                  <a:srgbClr val="0033CC"/>
                </a:solidFill>
                <a:latin typeface="微软雅黑" panose="020B0503020204020204" pitchFamily="34" charset="-122"/>
                <a:ea typeface="微软雅黑" panose="020B0503020204020204" pitchFamily="34" charset="-122"/>
              </a:rPr>
              <a:t>(-14</a:t>
            </a:r>
            <a:r>
              <a:rPr lang="en-US" altLang="zh-CN" sz="2000" dirty="0">
                <a:solidFill>
                  <a:srgbClr val="CC3300"/>
                </a:solidFill>
                <a:latin typeface="微软雅黑" panose="020B0503020204020204" pitchFamily="34" charset="-122"/>
                <a:ea typeface="微软雅黑" panose="020B0503020204020204" pitchFamily="34" charset="-122"/>
              </a:rPr>
              <a:t>+2</a:t>
            </a:r>
            <a:r>
              <a:rPr lang="en-US" altLang="zh-CN" sz="2000" baseline="30000" dirty="0">
                <a:solidFill>
                  <a:srgbClr val="CC3300"/>
                </a:solidFill>
                <a:latin typeface="微软雅黑" panose="020B0503020204020204" pitchFamily="34" charset="-122"/>
                <a:ea typeface="微软雅黑" panose="020B0503020204020204" pitchFamily="34" charset="-122"/>
              </a:rPr>
              <a:t>2</a:t>
            </a:r>
            <a:r>
              <a:rPr lang="en-US" altLang="zh-CN" sz="2000" dirty="0">
                <a:solidFill>
                  <a:srgbClr val="CC3300"/>
                </a:solidFill>
                <a:latin typeface="微软雅黑" panose="020B0503020204020204" pitchFamily="34" charset="-122"/>
                <a:ea typeface="微软雅黑" panose="020B0503020204020204" pitchFamily="34" charset="-122"/>
              </a:rPr>
              <a:t>-1</a:t>
            </a:r>
            <a:r>
              <a:rPr lang="en-US" altLang="zh-CN" sz="2000" dirty="0">
                <a:solidFill>
                  <a:srgbClr val="0033CC"/>
                </a:solidFill>
                <a:latin typeface="微软雅黑" panose="020B0503020204020204" pitchFamily="34" charset="-122"/>
                <a:ea typeface="微软雅黑" panose="020B0503020204020204" pitchFamily="34" charset="-122"/>
              </a:rPr>
              <a:t>)/4=-3</a:t>
            </a:r>
            <a:endParaRPr lang="zh-CN" altLang="en-US" sz="2000" dirty="0">
              <a:solidFill>
                <a:srgbClr val="0033CC"/>
              </a:solidFill>
              <a:latin typeface="微软雅黑" panose="020B0503020204020204" pitchFamily="34" charset="-122"/>
              <a:ea typeface="微软雅黑" panose="020B0503020204020204" pitchFamily="34" charset="-122"/>
            </a:endParaRPr>
          </a:p>
          <a:p>
            <a:pPr>
              <a:spcBef>
                <a:spcPct val="30000"/>
              </a:spcBef>
              <a:buFontTx/>
              <a:buNone/>
            </a:pPr>
            <a:r>
              <a:rPr lang="en-US" altLang="zh-CN" sz="2000" dirty="0">
                <a:solidFill>
                  <a:srgbClr val="0033CC"/>
                </a:solidFill>
                <a:latin typeface="微软雅黑" panose="020B0503020204020204" pitchFamily="34" charset="-122"/>
                <a:ea typeface="微软雅黑" panose="020B0503020204020204" pitchFamily="34" charset="-122"/>
              </a:rPr>
              <a:t>     </a:t>
            </a:r>
            <a:r>
              <a:rPr lang="zh-CN" altLang="en-US" sz="2000" dirty="0">
                <a:solidFill>
                  <a:srgbClr val="0033CC"/>
                </a:solidFill>
                <a:latin typeface="微软雅黑" panose="020B0503020204020204" pitchFamily="34" charset="-122"/>
                <a:ea typeface="微软雅黑" panose="020B0503020204020204" pitchFamily="34" charset="-122"/>
              </a:rPr>
              <a:t>即： </a:t>
            </a:r>
            <a:r>
              <a:rPr lang="en-US" altLang="zh-CN" sz="2000" dirty="0">
                <a:solidFill>
                  <a:srgbClr val="0033CC"/>
                </a:solidFill>
                <a:latin typeface="微软雅黑" panose="020B0503020204020204" pitchFamily="34" charset="-122"/>
                <a:ea typeface="微软雅黑" panose="020B0503020204020204" pitchFamily="34" charset="-122"/>
              </a:rPr>
              <a:t>1111 0010</a:t>
            </a:r>
            <a:r>
              <a:rPr lang="en-US" altLang="zh-CN" sz="2000" dirty="0">
                <a:solidFill>
                  <a:srgbClr val="CC3300"/>
                </a:solidFill>
                <a:latin typeface="微软雅黑" panose="020B0503020204020204" pitchFamily="34" charset="-122"/>
                <a:ea typeface="微软雅黑" panose="020B0503020204020204" pitchFamily="34" charset="-122"/>
              </a:rPr>
              <a:t>+0000 0011</a:t>
            </a:r>
            <a:r>
              <a:rPr lang="en-US" altLang="zh-CN" sz="2000" dirty="0">
                <a:solidFill>
                  <a:srgbClr val="0033CC"/>
                </a:solidFill>
                <a:latin typeface="微软雅黑" panose="020B0503020204020204" pitchFamily="34" charset="-122"/>
                <a:ea typeface="微软雅黑" panose="020B0503020204020204" pitchFamily="34" charset="-122"/>
              </a:rPr>
              <a:t>=1111 0101</a:t>
            </a:r>
            <a:endParaRPr lang="zh-CN" altLang="en-US" sz="2000" dirty="0">
              <a:solidFill>
                <a:srgbClr val="0033CC"/>
              </a:solidFill>
              <a:latin typeface="微软雅黑" panose="020B0503020204020204" pitchFamily="34" charset="-122"/>
              <a:ea typeface="微软雅黑" panose="020B0503020204020204" pitchFamily="34" charset="-122"/>
            </a:endParaRPr>
          </a:p>
          <a:p>
            <a:pPr>
              <a:spcBef>
                <a:spcPct val="30000"/>
              </a:spcBef>
              <a:buFontTx/>
              <a:buNone/>
            </a:pPr>
            <a:r>
              <a:rPr lang="en-US" altLang="zh-CN" sz="2000" dirty="0">
                <a:solidFill>
                  <a:srgbClr val="0033CC"/>
                </a:solidFill>
                <a:latin typeface="微软雅黑" panose="020B0503020204020204" pitchFamily="34" charset="-122"/>
                <a:ea typeface="微软雅黑" panose="020B0503020204020204" pitchFamily="34" charset="-122"/>
              </a:rPr>
              <a:t>     1111 0101&gt;&gt;2=1111 1101=-3</a:t>
            </a:r>
            <a:endParaRPr lang="en-US" altLang="zh-CN" sz="2000" dirty="0">
              <a:solidFill>
                <a:srgbClr val="0033CC"/>
              </a:solidFill>
              <a:latin typeface="微软雅黑" panose="020B0503020204020204" pitchFamily="34" charset="-122"/>
              <a:ea typeface="微软雅黑" panose="020B0503020204020204" pitchFamily="34" charset="-122"/>
            </a:endParaRPr>
          </a:p>
        </p:txBody>
      </p:sp>
      <p:sp>
        <p:nvSpPr>
          <p:cNvPr id="2" name="矩形 1"/>
          <p:cNvSpPr/>
          <p:nvPr/>
        </p:nvSpPr>
        <p:spPr>
          <a:xfrm>
            <a:off x="758825" y="5657850"/>
            <a:ext cx="4122738" cy="939800"/>
          </a:xfrm>
          <a:prstGeom prst="rect">
            <a:avLst/>
          </a:prstGeom>
          <a:solidFill>
            <a:srgbClr val="00B0F0">
              <a:alpha val="23000"/>
            </a:srgbClr>
          </a:solidFill>
        </p:spPr>
        <p:txBody>
          <a:bodyPr>
            <a:spAutoFit/>
          </a:bodyPr>
          <a:lstStyle/>
          <a:p>
            <a:pPr marL="203200" marR="0" lvl="0" indent="-203200" algn="l" defTabSz="914400" rtl="0" eaLnBrk="0" fontAlgn="base" latinLnBrk="0" hangingPunct="0">
              <a:lnSpc>
                <a:spcPct val="110000"/>
              </a:lnSpc>
              <a:spcBef>
                <a:spcPct val="30000"/>
              </a:spcBef>
              <a:spcAft>
                <a:spcPct val="0"/>
              </a:spcAft>
              <a:buClr>
                <a:srgbClr val="000000"/>
              </a:buClr>
              <a:buSzPct val="60000"/>
              <a:buFontTx/>
              <a:buNone/>
              <a:defRPr/>
            </a:pPr>
            <a:r>
              <a:rPr kumimoji="0" lang="en-US" altLang="zh-CN" sz="2200" b="1" i="0" u="none" strike="noStrike" kern="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-9/2: 10111</a:t>
            </a:r>
            <a:r>
              <a:rPr kumimoji="0" lang="en-US" altLang="zh-CN" sz="2200" b="1"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+00001</a:t>
            </a:r>
            <a:r>
              <a:rPr kumimoji="0" lang="en-US" altLang="zh-CN" sz="2200" b="1" i="0" u="none" strike="noStrike" kern="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=11000</a:t>
            </a:r>
            <a:endParaRPr kumimoji="0" lang="zh-CN" altLang="en-US" sz="2200" b="1" i="0" u="none" strike="noStrike" kern="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ct val="110000"/>
              </a:lnSpc>
              <a:spcBef>
                <a:spcPct val="30000"/>
              </a:spcBef>
              <a:spcAft>
                <a:spcPct val="0"/>
              </a:spcAft>
              <a:buClr>
                <a:srgbClr val="000000"/>
              </a:buClr>
              <a:buSzPct val="60000"/>
              <a:buFontTx/>
              <a:buNone/>
              <a:defRPr/>
            </a:pPr>
            <a:r>
              <a:rPr kumimoji="0" lang="en-US" altLang="zh-CN" sz="2200" b="1" i="0" u="none" strike="noStrike" kern="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         11000&gt;&gt;1=11100=-4</a:t>
            </a:r>
            <a:endParaRPr kumimoji="0" lang="zh-CN" altLang="en-US" sz="2200" b="1" i="0" u="none" strike="noStrike" kern="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p:cNvSpPr>
          <p:nvPr>
            <p:ph type="title"/>
          </p:nvPr>
        </p:nvSpPr>
        <p:spPr>
          <a:xfrm>
            <a:off x="800100" y="190500"/>
            <a:ext cx="7156450" cy="479425"/>
          </a:xfrm>
          <a:ln/>
        </p:spPr>
        <p:txBody>
          <a:bodyPr vert="horz" wrap="square" lIns="63500" tIns="25400" rIns="63500" bIns="25400" anchor="t" anchorCtr="0">
            <a:spAutoFit/>
          </a:bodyPr>
          <a:p>
            <a:r>
              <a:rPr lang="zh-CN" altLang="en-US" dirty="0">
                <a:ea typeface="宋体" panose="02010600030101010101" pitchFamily="2" charset="-122"/>
              </a:rPr>
              <a:t>变量与常数之间的除运算</a:t>
            </a:r>
            <a:r>
              <a:rPr lang="en-US" altLang="zh-CN" dirty="0">
                <a:latin typeface="黑体" panose="02010609060101010101" pitchFamily="49" charset="-122"/>
                <a:ea typeface="黑体" panose="02010609060101010101" pitchFamily="49" charset="-122"/>
              </a:rPr>
              <a:t>—</a:t>
            </a:r>
            <a:r>
              <a:rPr lang="zh-CN" altLang="en-US" dirty="0">
                <a:ea typeface="宋体" panose="02010600030101010101" pitchFamily="2" charset="-122"/>
              </a:rPr>
              <a:t>举例 </a:t>
            </a:r>
            <a:endParaRPr lang="zh-CN" altLang="en-US" dirty="0">
              <a:ea typeface="宋体" panose="02010600030101010101" pitchFamily="2" charset="-122"/>
            </a:endParaRPr>
          </a:p>
        </p:txBody>
      </p:sp>
      <p:sp>
        <p:nvSpPr>
          <p:cNvPr id="106498" name="Rectangle 3"/>
          <p:cNvSpPr>
            <a:spLocks noGrp="1"/>
          </p:cNvSpPr>
          <p:nvPr>
            <p:ph idx="1"/>
          </p:nvPr>
        </p:nvSpPr>
        <p:spPr>
          <a:xfrm>
            <a:off x="206375" y="836613"/>
            <a:ext cx="8640763" cy="3536950"/>
          </a:xfrm>
          <a:ln/>
        </p:spPr>
        <p:txBody>
          <a:bodyPr vert="horz" wrap="square" lIns="63500" tIns="25400" rIns="63500" bIns="25400" anchor="t" anchorCtr="0">
            <a:spAutoFit/>
          </a:bodyPr>
          <a:p>
            <a:pPr>
              <a:lnSpc>
                <a:spcPct val="120000"/>
              </a:lnSpc>
            </a:pPr>
            <a:r>
              <a:rPr lang="zh-CN" altLang="en-US" sz="2000" dirty="0">
                <a:latin typeface="微软雅黑" panose="020B0503020204020204" pitchFamily="34" charset="-122"/>
                <a:ea typeface="微软雅黑" panose="020B0503020204020204" pitchFamily="34" charset="-122"/>
              </a:rPr>
              <a:t>假设</a:t>
            </a:r>
            <a:r>
              <a:rPr lang="en-US" altLang="zh-CN" sz="2000" i="1"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为一个</a:t>
            </a:r>
            <a:r>
              <a:rPr lang="en-US" altLang="zh-CN" sz="2000" dirty="0">
                <a:latin typeface="微软雅黑" panose="020B0503020204020204" pitchFamily="34" charset="-122"/>
                <a:ea typeface="微软雅黑" panose="020B0503020204020204" pitchFamily="34" charset="-122"/>
              </a:rPr>
              <a:t>int</a:t>
            </a:r>
            <a:r>
              <a:rPr lang="zh-CN" altLang="en-US" sz="2000" dirty="0">
                <a:latin typeface="微软雅黑" panose="020B0503020204020204" pitchFamily="34" charset="-122"/>
                <a:ea typeface="微软雅黑" panose="020B0503020204020204" pitchFamily="34" charset="-122"/>
              </a:rPr>
              <a:t>型变量，请给出一个用来计算</a:t>
            </a:r>
            <a:r>
              <a:rPr lang="en-US" altLang="zh-CN" sz="2000" i="1" dirty="0">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/32</a:t>
            </a:r>
            <a:r>
              <a:rPr lang="zh-CN" altLang="en-US" sz="2000" dirty="0">
                <a:latin typeface="微软雅黑" panose="020B0503020204020204" pitchFamily="34" charset="-122"/>
                <a:ea typeface="微软雅黑" panose="020B0503020204020204" pitchFamily="34" charset="-122"/>
              </a:rPr>
              <a:t>的值的函数</a:t>
            </a:r>
            <a:r>
              <a:rPr lang="en-US" altLang="zh-CN" sz="2000" dirty="0">
                <a:latin typeface="微软雅黑" panose="020B0503020204020204" pitchFamily="34" charset="-122"/>
                <a:ea typeface="微软雅黑" panose="020B0503020204020204" pitchFamily="34" charset="-122"/>
              </a:rPr>
              <a:t>div32</a:t>
            </a:r>
            <a:r>
              <a:rPr lang="zh-CN" altLang="en-US" sz="2000" dirty="0">
                <a:latin typeface="微软雅黑" panose="020B0503020204020204" pitchFamily="34" charset="-122"/>
                <a:ea typeface="微软雅黑" panose="020B0503020204020204" pitchFamily="34" charset="-122"/>
              </a:rPr>
              <a:t>。要求不能使用除法、乘法、模运算、比较运算、循环语句和条件语句，可以使用右移、加法以及任何按位运算。</a:t>
            </a:r>
            <a:endParaRPr lang="zh-CN" altLang="en-US" sz="2000" dirty="0">
              <a:latin typeface="微软雅黑" panose="020B0503020204020204" pitchFamily="34" charset="-122"/>
              <a:ea typeface="微软雅黑" panose="020B0503020204020204" pitchFamily="34" charset="-122"/>
            </a:endParaRPr>
          </a:p>
          <a:p>
            <a:pPr>
              <a:lnSpc>
                <a:spcPct val="120000"/>
              </a:lnSpc>
              <a:buFontTx/>
              <a:buNone/>
            </a:pPr>
            <a:r>
              <a:rPr lang="zh-CN" altLang="en-US" sz="2000" dirty="0">
                <a:latin typeface="微软雅黑" panose="020B0503020204020204" pitchFamily="34" charset="-122"/>
                <a:ea typeface="微软雅黑" panose="020B0503020204020204" pitchFamily="34" charset="-122"/>
              </a:rPr>
              <a:t>解：</a:t>
            </a:r>
            <a:r>
              <a:rPr lang="zh-CN" altLang="en-US" sz="2000" dirty="0">
                <a:solidFill>
                  <a:srgbClr val="0033CC"/>
                </a:solidFill>
                <a:latin typeface="微软雅黑" panose="020B0503020204020204" pitchFamily="34" charset="-122"/>
                <a:ea typeface="微软雅黑" panose="020B0503020204020204" pitchFamily="34" charset="-122"/>
              </a:rPr>
              <a:t>若</a:t>
            </a:r>
            <a:r>
              <a:rPr lang="en-US" altLang="zh-CN" sz="2000" dirty="0">
                <a:solidFill>
                  <a:srgbClr val="0033CC"/>
                </a:solidFill>
                <a:latin typeface="微软雅黑" panose="020B0503020204020204" pitchFamily="34" charset="-122"/>
                <a:ea typeface="微软雅黑" panose="020B0503020204020204" pitchFamily="34" charset="-122"/>
              </a:rPr>
              <a:t>x</a:t>
            </a:r>
            <a:r>
              <a:rPr lang="zh-CN" altLang="en-US" sz="2000" dirty="0">
                <a:solidFill>
                  <a:srgbClr val="0033CC"/>
                </a:solidFill>
                <a:latin typeface="微软雅黑" panose="020B0503020204020204" pitchFamily="34" charset="-122"/>
                <a:ea typeface="微软雅黑" panose="020B0503020204020204" pitchFamily="34" charset="-122"/>
              </a:rPr>
              <a:t>为正数，则将</a:t>
            </a:r>
            <a:r>
              <a:rPr lang="en-US" altLang="zh-CN" sz="2000" dirty="0">
                <a:solidFill>
                  <a:srgbClr val="0033CC"/>
                </a:solidFill>
                <a:latin typeface="微软雅黑" panose="020B0503020204020204" pitchFamily="34" charset="-122"/>
                <a:ea typeface="微软雅黑" panose="020B0503020204020204" pitchFamily="34" charset="-122"/>
              </a:rPr>
              <a:t>x</a:t>
            </a:r>
            <a:r>
              <a:rPr lang="zh-CN" altLang="en-US" sz="2000" dirty="0">
                <a:solidFill>
                  <a:srgbClr val="0033CC"/>
                </a:solidFill>
                <a:latin typeface="微软雅黑" panose="020B0503020204020204" pitchFamily="34" charset="-122"/>
                <a:ea typeface="微软雅黑" panose="020B0503020204020204" pitchFamily="34" charset="-122"/>
              </a:rPr>
              <a:t>右移</a:t>
            </a:r>
            <a:r>
              <a:rPr lang="en-US" altLang="zh-CN" sz="2000" dirty="0">
                <a:solidFill>
                  <a:srgbClr val="0033CC"/>
                </a:solidFill>
                <a:latin typeface="微软雅黑" panose="020B0503020204020204" pitchFamily="34" charset="-122"/>
                <a:ea typeface="微软雅黑" panose="020B0503020204020204" pitchFamily="34" charset="-122"/>
              </a:rPr>
              <a:t>k</a:t>
            </a:r>
            <a:r>
              <a:rPr lang="zh-CN" altLang="en-US" sz="2000" dirty="0">
                <a:solidFill>
                  <a:srgbClr val="0033CC"/>
                </a:solidFill>
                <a:latin typeface="微软雅黑" panose="020B0503020204020204" pitchFamily="34" charset="-122"/>
                <a:ea typeface="微软雅黑" panose="020B0503020204020204" pitchFamily="34" charset="-122"/>
              </a:rPr>
              <a:t>位得到商；若</a:t>
            </a:r>
            <a:r>
              <a:rPr lang="en-US" altLang="zh-CN" sz="2000" dirty="0">
                <a:solidFill>
                  <a:srgbClr val="0033CC"/>
                </a:solidFill>
                <a:latin typeface="微软雅黑" panose="020B0503020204020204" pitchFamily="34" charset="-122"/>
                <a:ea typeface="微软雅黑" panose="020B0503020204020204" pitchFamily="34" charset="-122"/>
              </a:rPr>
              <a:t>x</a:t>
            </a:r>
            <a:r>
              <a:rPr lang="zh-CN" altLang="en-US" sz="2000" dirty="0">
                <a:solidFill>
                  <a:srgbClr val="0033CC"/>
                </a:solidFill>
                <a:latin typeface="微软雅黑" panose="020B0503020204020204" pitchFamily="34" charset="-122"/>
                <a:ea typeface="微软雅黑" panose="020B0503020204020204" pitchFamily="34" charset="-122"/>
              </a:rPr>
              <a:t>为负数，则</a:t>
            </a:r>
            <a:r>
              <a:rPr lang="en-US" altLang="zh-CN" sz="2000" dirty="0">
                <a:solidFill>
                  <a:srgbClr val="0033CC"/>
                </a:solidFill>
                <a:latin typeface="微软雅黑" panose="020B0503020204020204" pitchFamily="34" charset="-122"/>
                <a:ea typeface="微软雅黑" panose="020B0503020204020204" pitchFamily="34" charset="-122"/>
              </a:rPr>
              <a:t>x</a:t>
            </a:r>
            <a:r>
              <a:rPr lang="zh-CN" altLang="en-US" sz="2000" dirty="0">
                <a:solidFill>
                  <a:srgbClr val="0033CC"/>
                </a:solidFill>
                <a:latin typeface="微软雅黑" panose="020B0503020204020204" pitchFamily="34" charset="-122"/>
                <a:ea typeface="微软雅黑" panose="020B0503020204020204" pitchFamily="34" charset="-122"/>
              </a:rPr>
              <a:t>需要加一个偏移量</a:t>
            </a:r>
            <a:r>
              <a:rPr lang="en-US" altLang="zh-CN" sz="2000" dirty="0">
                <a:solidFill>
                  <a:srgbClr val="0033CC"/>
                </a:solidFill>
                <a:latin typeface="微软雅黑" panose="020B0503020204020204" pitchFamily="34" charset="-122"/>
                <a:ea typeface="微软雅黑" panose="020B0503020204020204" pitchFamily="34" charset="-122"/>
              </a:rPr>
              <a:t>(2</a:t>
            </a:r>
            <a:r>
              <a:rPr lang="en-US" altLang="zh-CN" sz="2000" baseline="30000" dirty="0">
                <a:solidFill>
                  <a:srgbClr val="0033CC"/>
                </a:solidFill>
                <a:latin typeface="微软雅黑" panose="020B0503020204020204" pitchFamily="34" charset="-122"/>
                <a:ea typeface="微软雅黑" panose="020B0503020204020204" pitchFamily="34" charset="-122"/>
              </a:rPr>
              <a:t>k</a:t>
            </a:r>
            <a:r>
              <a:rPr lang="en-US" altLang="zh-CN" sz="2000" dirty="0">
                <a:solidFill>
                  <a:srgbClr val="0033CC"/>
                </a:solidFill>
                <a:latin typeface="微软雅黑" panose="020B0503020204020204" pitchFamily="34" charset="-122"/>
                <a:ea typeface="微软雅黑" panose="020B0503020204020204" pitchFamily="34" charset="-122"/>
              </a:rPr>
              <a:t>-1)</a:t>
            </a:r>
            <a:r>
              <a:rPr lang="zh-CN" altLang="en-US" sz="2000" dirty="0">
                <a:solidFill>
                  <a:srgbClr val="0033CC"/>
                </a:solidFill>
                <a:latin typeface="微软雅黑" panose="020B0503020204020204" pitchFamily="34" charset="-122"/>
                <a:ea typeface="微软雅黑" panose="020B0503020204020204" pitchFamily="34" charset="-122"/>
              </a:rPr>
              <a:t>后再右移</a:t>
            </a:r>
            <a:r>
              <a:rPr lang="en-US" altLang="zh-CN" sz="2000" dirty="0">
                <a:solidFill>
                  <a:srgbClr val="0033CC"/>
                </a:solidFill>
                <a:latin typeface="微软雅黑" panose="020B0503020204020204" pitchFamily="34" charset="-122"/>
                <a:ea typeface="微软雅黑" panose="020B0503020204020204" pitchFamily="34" charset="-122"/>
              </a:rPr>
              <a:t>k</a:t>
            </a:r>
            <a:r>
              <a:rPr lang="zh-CN" altLang="en-US" sz="2000" dirty="0">
                <a:solidFill>
                  <a:srgbClr val="0033CC"/>
                </a:solidFill>
                <a:latin typeface="微软雅黑" panose="020B0503020204020204" pitchFamily="34" charset="-122"/>
                <a:ea typeface="微软雅黑" panose="020B0503020204020204" pitchFamily="34" charset="-122"/>
              </a:rPr>
              <a:t>位得到商。因为</a:t>
            </a:r>
            <a:r>
              <a:rPr lang="en-US" altLang="zh-CN" sz="2000" dirty="0">
                <a:solidFill>
                  <a:srgbClr val="0033CC"/>
                </a:solidFill>
                <a:latin typeface="微软雅黑" panose="020B0503020204020204" pitchFamily="34" charset="-122"/>
                <a:ea typeface="微软雅黑" panose="020B0503020204020204" pitchFamily="34" charset="-122"/>
              </a:rPr>
              <a:t>32=2</a:t>
            </a:r>
            <a:r>
              <a:rPr lang="en-US" altLang="zh-CN" sz="2000" baseline="30000" dirty="0">
                <a:solidFill>
                  <a:srgbClr val="0033CC"/>
                </a:solidFill>
                <a:latin typeface="微软雅黑" panose="020B0503020204020204" pitchFamily="34" charset="-122"/>
                <a:ea typeface="微软雅黑" panose="020B0503020204020204" pitchFamily="34" charset="-122"/>
              </a:rPr>
              <a:t>5</a:t>
            </a:r>
            <a:r>
              <a:rPr lang="zh-CN" altLang="en-US" sz="2000" dirty="0">
                <a:solidFill>
                  <a:srgbClr val="0033CC"/>
                </a:solidFill>
                <a:latin typeface="微软雅黑" panose="020B0503020204020204" pitchFamily="34" charset="-122"/>
                <a:ea typeface="微软雅黑" panose="020B0503020204020204" pitchFamily="34" charset="-122"/>
              </a:rPr>
              <a:t>，所以 </a:t>
            </a:r>
            <a:r>
              <a:rPr lang="en-US" altLang="zh-CN" sz="2000" dirty="0">
                <a:solidFill>
                  <a:srgbClr val="0033CC"/>
                </a:solidFill>
                <a:latin typeface="微软雅黑" panose="020B0503020204020204" pitchFamily="34" charset="-122"/>
                <a:ea typeface="微软雅黑" panose="020B0503020204020204" pitchFamily="34" charset="-122"/>
              </a:rPr>
              <a:t>k=5</a:t>
            </a:r>
            <a:r>
              <a:rPr lang="zh-CN" altLang="en-US" sz="2000" dirty="0">
                <a:solidFill>
                  <a:srgbClr val="0033CC"/>
                </a:solidFill>
                <a:latin typeface="微软雅黑" panose="020B0503020204020204" pitchFamily="34" charset="-122"/>
                <a:ea typeface="微软雅黑" panose="020B0503020204020204" pitchFamily="34" charset="-122"/>
              </a:rPr>
              <a:t>。</a:t>
            </a:r>
            <a:endParaRPr lang="zh-CN" altLang="en-US" sz="2000" dirty="0">
              <a:solidFill>
                <a:srgbClr val="0033CC"/>
              </a:solidFill>
              <a:latin typeface="微软雅黑" panose="020B0503020204020204" pitchFamily="34" charset="-122"/>
              <a:ea typeface="微软雅黑" panose="020B0503020204020204" pitchFamily="34" charset="-122"/>
            </a:endParaRPr>
          </a:p>
          <a:p>
            <a:pPr>
              <a:lnSpc>
                <a:spcPct val="120000"/>
              </a:lnSpc>
              <a:buFontTx/>
              <a:buNone/>
            </a:pPr>
            <a:r>
              <a:rPr lang="zh-CN" altLang="en-US" sz="2000" dirty="0">
                <a:solidFill>
                  <a:srgbClr val="0033CC"/>
                </a:solidFill>
                <a:latin typeface="微软雅黑" panose="020B0503020204020204" pitchFamily="34" charset="-122"/>
                <a:ea typeface="微软雅黑" panose="020B0503020204020204" pitchFamily="34" charset="-122"/>
              </a:rPr>
              <a:t>     即结果为</a:t>
            </a:r>
            <a:r>
              <a:rPr lang="en-US" altLang="zh-CN" sz="2000" dirty="0">
                <a:solidFill>
                  <a:srgbClr val="0033CC"/>
                </a:solidFill>
                <a:latin typeface="微软雅黑" panose="020B0503020204020204" pitchFamily="34" charset="-122"/>
                <a:ea typeface="微软雅黑" panose="020B0503020204020204" pitchFamily="34" charset="-122"/>
                <a:sym typeface="Wingdings" panose="05000000000000000000" pitchFamily="2" charset="2"/>
              </a:rPr>
              <a:t>: ( </a:t>
            </a:r>
            <a:r>
              <a:rPr lang="en-US" altLang="zh-CN" sz="2000" dirty="0">
                <a:solidFill>
                  <a:srgbClr val="0033CC"/>
                </a:solidFill>
                <a:latin typeface="微软雅黑" panose="020B0503020204020204" pitchFamily="34" charset="-122"/>
                <a:ea typeface="微软雅黑" panose="020B0503020204020204" pitchFamily="34" charset="-122"/>
              </a:rPr>
              <a:t>x&gt;=0 ? x : (x+31))&gt;&gt;5</a:t>
            </a:r>
            <a:endParaRPr lang="en-US" altLang="zh-CN" sz="2000" dirty="0">
              <a:solidFill>
                <a:srgbClr val="0033CC"/>
              </a:solidFill>
              <a:latin typeface="微软雅黑" panose="020B0503020204020204" pitchFamily="34" charset="-122"/>
              <a:ea typeface="微软雅黑" panose="020B0503020204020204" pitchFamily="34" charset="-122"/>
            </a:endParaRPr>
          </a:p>
          <a:p>
            <a:pPr>
              <a:lnSpc>
                <a:spcPct val="120000"/>
              </a:lnSpc>
              <a:buFontTx/>
              <a:buNone/>
            </a:pPr>
            <a:r>
              <a:rPr lang="zh-CN" altLang="en-US" sz="2000" dirty="0">
                <a:solidFill>
                  <a:srgbClr val="0033CC"/>
                </a:solidFill>
                <a:latin typeface="微软雅黑" panose="020B0503020204020204" pitchFamily="34" charset="-122"/>
                <a:ea typeface="微软雅黑" panose="020B0503020204020204" pitchFamily="34" charset="-122"/>
              </a:rPr>
              <a:t>     但题目要求不能用比较和条件语句，因此要找一个计算</a:t>
            </a:r>
            <a:r>
              <a:rPr lang="zh-CN" altLang="en-US" sz="2000" dirty="0">
                <a:solidFill>
                  <a:srgbClr val="CC3300"/>
                </a:solidFill>
                <a:latin typeface="微软雅黑" panose="020B0503020204020204" pitchFamily="34" charset="-122"/>
                <a:ea typeface="微软雅黑" panose="020B0503020204020204" pitchFamily="34" charset="-122"/>
              </a:rPr>
              <a:t>偏移量</a:t>
            </a:r>
            <a:r>
              <a:rPr lang="en-US" altLang="zh-CN" sz="2000" dirty="0">
                <a:solidFill>
                  <a:srgbClr val="CC3300"/>
                </a:solidFill>
                <a:latin typeface="微软雅黑" panose="020B0503020204020204" pitchFamily="34" charset="-122"/>
                <a:ea typeface="微软雅黑" panose="020B0503020204020204" pitchFamily="34" charset="-122"/>
              </a:rPr>
              <a:t>b</a:t>
            </a:r>
            <a:r>
              <a:rPr lang="zh-CN" altLang="en-US" sz="2000" dirty="0">
                <a:solidFill>
                  <a:srgbClr val="0033CC"/>
                </a:solidFill>
                <a:latin typeface="微软雅黑" panose="020B0503020204020204" pitchFamily="34" charset="-122"/>
                <a:ea typeface="微软雅黑" panose="020B0503020204020204" pitchFamily="34" charset="-122"/>
              </a:rPr>
              <a:t>的方式</a:t>
            </a:r>
            <a:endParaRPr lang="zh-CN" altLang="en-US" sz="2000" dirty="0">
              <a:solidFill>
                <a:srgbClr val="0033CC"/>
              </a:solidFill>
              <a:latin typeface="微软雅黑" panose="020B0503020204020204" pitchFamily="34" charset="-122"/>
              <a:ea typeface="微软雅黑" panose="020B0503020204020204" pitchFamily="34" charset="-122"/>
            </a:endParaRPr>
          </a:p>
          <a:p>
            <a:pPr>
              <a:lnSpc>
                <a:spcPct val="120000"/>
              </a:lnSpc>
              <a:buFontTx/>
              <a:buNone/>
            </a:pPr>
            <a:r>
              <a:rPr lang="en-US" altLang="zh-CN" sz="2000" dirty="0">
                <a:solidFill>
                  <a:srgbClr val="0033CC"/>
                </a:solidFill>
                <a:latin typeface="微软雅黑" panose="020B0503020204020204" pitchFamily="34" charset="-122"/>
                <a:ea typeface="微软雅黑" panose="020B0503020204020204" pitchFamily="34" charset="-122"/>
              </a:rPr>
              <a:t>     </a:t>
            </a:r>
            <a:r>
              <a:rPr lang="zh-CN" altLang="en-US" sz="2000" dirty="0">
                <a:solidFill>
                  <a:srgbClr val="0033CC"/>
                </a:solidFill>
                <a:latin typeface="微软雅黑" panose="020B0503020204020204" pitchFamily="34" charset="-122"/>
                <a:ea typeface="微软雅黑" panose="020B0503020204020204" pitchFamily="34" charset="-122"/>
              </a:rPr>
              <a:t>这里，</a:t>
            </a:r>
            <a:r>
              <a:rPr lang="en-US" altLang="zh-CN" sz="2000" dirty="0">
                <a:solidFill>
                  <a:srgbClr val="CC3300"/>
                </a:solidFill>
                <a:latin typeface="微软雅黑" panose="020B0503020204020204" pitchFamily="34" charset="-122"/>
                <a:ea typeface="微软雅黑" panose="020B0503020204020204" pitchFamily="34" charset="-122"/>
              </a:rPr>
              <a:t>x</a:t>
            </a:r>
            <a:r>
              <a:rPr lang="zh-CN" altLang="en-US" sz="2000" dirty="0">
                <a:solidFill>
                  <a:srgbClr val="CC3300"/>
                </a:solidFill>
                <a:latin typeface="微软雅黑" panose="020B0503020204020204" pitchFamily="34" charset="-122"/>
                <a:ea typeface="微软雅黑" panose="020B0503020204020204" pitchFamily="34" charset="-122"/>
              </a:rPr>
              <a:t>为正时</a:t>
            </a:r>
            <a:r>
              <a:rPr lang="en-US" altLang="zh-CN" sz="2000" dirty="0">
                <a:solidFill>
                  <a:srgbClr val="CC3300"/>
                </a:solidFill>
                <a:latin typeface="微软雅黑" panose="020B0503020204020204" pitchFamily="34" charset="-122"/>
                <a:ea typeface="微软雅黑" panose="020B0503020204020204" pitchFamily="34" charset="-122"/>
              </a:rPr>
              <a:t>b=0</a:t>
            </a:r>
            <a:r>
              <a:rPr lang="zh-CN" altLang="en-US" sz="2000" dirty="0">
                <a:solidFill>
                  <a:srgbClr val="CC3300"/>
                </a:solidFill>
                <a:latin typeface="微软雅黑" panose="020B0503020204020204" pitchFamily="34" charset="-122"/>
                <a:ea typeface="微软雅黑" panose="020B0503020204020204" pitchFamily="34" charset="-122"/>
              </a:rPr>
              <a:t>，</a:t>
            </a:r>
            <a:r>
              <a:rPr lang="en-US" altLang="zh-CN" sz="2000" dirty="0">
                <a:solidFill>
                  <a:srgbClr val="CC3300"/>
                </a:solidFill>
                <a:latin typeface="微软雅黑" panose="020B0503020204020204" pitchFamily="34" charset="-122"/>
                <a:ea typeface="微软雅黑" panose="020B0503020204020204" pitchFamily="34" charset="-122"/>
              </a:rPr>
              <a:t>x</a:t>
            </a:r>
            <a:r>
              <a:rPr lang="zh-CN" altLang="en-US" sz="2000" dirty="0">
                <a:solidFill>
                  <a:srgbClr val="CC3300"/>
                </a:solidFill>
                <a:latin typeface="微软雅黑" panose="020B0503020204020204" pitchFamily="34" charset="-122"/>
                <a:ea typeface="微软雅黑" panose="020B0503020204020204" pitchFamily="34" charset="-122"/>
              </a:rPr>
              <a:t>为负时</a:t>
            </a:r>
            <a:r>
              <a:rPr lang="en-US" altLang="zh-CN" sz="2000" dirty="0">
                <a:solidFill>
                  <a:srgbClr val="CC3300"/>
                </a:solidFill>
                <a:latin typeface="微软雅黑" panose="020B0503020204020204" pitchFamily="34" charset="-122"/>
                <a:ea typeface="微软雅黑" panose="020B0503020204020204" pitchFamily="34" charset="-122"/>
              </a:rPr>
              <a:t>b=31</a:t>
            </a:r>
            <a:r>
              <a:rPr lang="en-US" altLang="zh-CN" sz="2000" dirty="0">
                <a:solidFill>
                  <a:srgbClr val="0033CC"/>
                </a:solidFill>
                <a:latin typeface="微软雅黑" panose="020B0503020204020204" pitchFamily="34" charset="-122"/>
                <a:ea typeface="微软雅黑" panose="020B0503020204020204" pitchFamily="34" charset="-122"/>
              </a:rPr>
              <a:t>. </a:t>
            </a:r>
            <a:r>
              <a:rPr lang="zh-CN" altLang="en-US" sz="2000" dirty="0">
                <a:solidFill>
                  <a:srgbClr val="0033CC"/>
                </a:solidFill>
                <a:latin typeface="微软雅黑" panose="020B0503020204020204" pitchFamily="34" charset="-122"/>
                <a:ea typeface="微软雅黑" panose="020B0503020204020204" pitchFamily="34" charset="-122"/>
              </a:rPr>
              <a:t>因此，可以从</a:t>
            </a:r>
            <a:r>
              <a:rPr lang="en-US" altLang="zh-CN" sz="2000" dirty="0">
                <a:solidFill>
                  <a:srgbClr val="0033CC"/>
                </a:solidFill>
                <a:latin typeface="微软雅黑" panose="020B0503020204020204" pitchFamily="34" charset="-122"/>
                <a:ea typeface="微软雅黑" panose="020B0503020204020204" pitchFamily="34" charset="-122"/>
              </a:rPr>
              <a:t>x</a:t>
            </a:r>
            <a:r>
              <a:rPr lang="zh-CN" altLang="en-US" sz="2000" dirty="0">
                <a:solidFill>
                  <a:srgbClr val="0033CC"/>
                </a:solidFill>
                <a:latin typeface="微软雅黑" panose="020B0503020204020204" pitchFamily="34" charset="-122"/>
                <a:ea typeface="微软雅黑" panose="020B0503020204020204" pitchFamily="34" charset="-122"/>
              </a:rPr>
              <a:t>的符号得到</a:t>
            </a:r>
            <a:r>
              <a:rPr lang="en-US" altLang="zh-CN" sz="2000" dirty="0">
                <a:solidFill>
                  <a:srgbClr val="0033CC"/>
                </a:solidFill>
                <a:latin typeface="微软雅黑" panose="020B0503020204020204" pitchFamily="34" charset="-122"/>
                <a:ea typeface="微软雅黑" panose="020B0503020204020204" pitchFamily="34" charset="-122"/>
              </a:rPr>
              <a:t>b</a:t>
            </a:r>
            <a:endParaRPr lang="en-US" altLang="zh-CN" sz="2000" dirty="0">
              <a:solidFill>
                <a:srgbClr val="0033CC"/>
              </a:solidFill>
              <a:latin typeface="微软雅黑" panose="020B0503020204020204" pitchFamily="34" charset="-122"/>
              <a:ea typeface="微软雅黑" panose="020B0503020204020204" pitchFamily="34" charset="-122"/>
            </a:endParaRPr>
          </a:p>
          <a:p>
            <a:pPr>
              <a:lnSpc>
                <a:spcPct val="120000"/>
              </a:lnSpc>
              <a:buFontTx/>
              <a:buNone/>
            </a:pPr>
            <a:r>
              <a:rPr lang="en-US" altLang="zh-CN" sz="2000" dirty="0">
                <a:solidFill>
                  <a:srgbClr val="0033CC"/>
                </a:solidFill>
                <a:latin typeface="微软雅黑" panose="020B0503020204020204" pitchFamily="34" charset="-122"/>
                <a:ea typeface="微软雅黑" panose="020B0503020204020204" pitchFamily="34" charset="-122"/>
              </a:rPr>
              <a:t>     x&gt;&gt;31 </a:t>
            </a:r>
            <a:r>
              <a:rPr lang="zh-CN" altLang="en-US" sz="2000" dirty="0">
                <a:solidFill>
                  <a:srgbClr val="0033CC"/>
                </a:solidFill>
                <a:latin typeface="微软雅黑" panose="020B0503020204020204" pitchFamily="34" charset="-122"/>
                <a:ea typeface="微软雅黑" panose="020B0503020204020204" pitchFamily="34" charset="-122"/>
              </a:rPr>
              <a:t>得到的是</a:t>
            </a:r>
            <a:r>
              <a:rPr lang="en-US" altLang="zh-CN" sz="2000" dirty="0">
                <a:solidFill>
                  <a:srgbClr val="0033CC"/>
                </a:solidFill>
                <a:latin typeface="微软雅黑" panose="020B0503020204020204" pitchFamily="34" charset="-122"/>
                <a:ea typeface="微软雅黑" panose="020B0503020204020204" pitchFamily="34" charset="-122"/>
              </a:rPr>
              <a:t>32</a:t>
            </a:r>
            <a:r>
              <a:rPr lang="zh-CN" altLang="en-US" sz="2000" dirty="0">
                <a:solidFill>
                  <a:srgbClr val="0033CC"/>
                </a:solidFill>
                <a:latin typeface="微软雅黑" panose="020B0503020204020204" pitchFamily="34" charset="-122"/>
                <a:ea typeface="微软雅黑" panose="020B0503020204020204" pitchFamily="34" charset="-122"/>
              </a:rPr>
              <a:t>位符号，取出最低</a:t>
            </a:r>
            <a:r>
              <a:rPr lang="en-US" altLang="zh-CN" sz="2000" dirty="0">
                <a:solidFill>
                  <a:srgbClr val="0033CC"/>
                </a:solidFill>
                <a:latin typeface="微软雅黑" panose="020B0503020204020204" pitchFamily="34" charset="-122"/>
                <a:ea typeface="微软雅黑" panose="020B0503020204020204" pitchFamily="34" charset="-122"/>
              </a:rPr>
              <a:t>5</a:t>
            </a:r>
            <a:r>
              <a:rPr lang="zh-CN" altLang="en-US" sz="2000" dirty="0">
                <a:solidFill>
                  <a:srgbClr val="0033CC"/>
                </a:solidFill>
                <a:latin typeface="微软雅黑" panose="020B0503020204020204" pitchFamily="34" charset="-122"/>
                <a:ea typeface="微软雅黑" panose="020B0503020204020204" pitchFamily="34" charset="-122"/>
              </a:rPr>
              <a:t>位，就是偏移量</a:t>
            </a:r>
            <a:r>
              <a:rPr lang="en-US" altLang="zh-CN" sz="2000" dirty="0">
                <a:solidFill>
                  <a:srgbClr val="0033CC"/>
                </a:solidFill>
                <a:latin typeface="微软雅黑" panose="020B0503020204020204" pitchFamily="34" charset="-122"/>
                <a:ea typeface="微软雅黑" panose="020B0503020204020204" pitchFamily="34" charset="-122"/>
              </a:rPr>
              <a:t>b</a:t>
            </a:r>
            <a:r>
              <a:rPr lang="zh-CN" altLang="en-US" sz="2000" dirty="0">
                <a:solidFill>
                  <a:srgbClr val="0033CC"/>
                </a:solidFill>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    </a:t>
            </a:r>
            <a:endParaRPr lang="zh-CN" altLang="en-US" sz="1800" dirty="0">
              <a:latin typeface="微软雅黑" panose="020B0503020204020204" pitchFamily="34" charset="-122"/>
              <a:ea typeface="微软雅黑" panose="020B0503020204020204" pitchFamily="34" charset="-122"/>
            </a:endParaRPr>
          </a:p>
        </p:txBody>
      </p:sp>
      <p:sp>
        <p:nvSpPr>
          <p:cNvPr id="106499" name="Rectangle 5"/>
          <p:cNvSpPr/>
          <p:nvPr/>
        </p:nvSpPr>
        <p:spPr>
          <a:xfrm>
            <a:off x="403225" y="4643438"/>
            <a:ext cx="4303713" cy="2020887"/>
          </a:xfrm>
          <a:prstGeom prst="rect">
            <a:avLst/>
          </a:prstGeom>
          <a:noFill/>
          <a:ln w="9525">
            <a:noFill/>
          </a:ln>
        </p:spPr>
        <p:txBody>
          <a:bodyPr wrap="none" anchor="ctr" anchorCtr="0">
            <a:spAutoFit/>
          </a:bodyPr>
          <a:p>
            <a:pPr>
              <a:lnSpc>
                <a:spcPct val="115000"/>
              </a:lnSpc>
              <a:buClrTx/>
              <a:buFontTx/>
            </a:pPr>
            <a:r>
              <a:rPr lang="en-US" altLang="zh-CN" sz="2200" dirty="0">
                <a:solidFill>
                  <a:srgbClr val="008000"/>
                </a:solidFill>
                <a:latin typeface="微软雅黑" panose="020B0503020204020204" pitchFamily="34" charset="-122"/>
                <a:ea typeface="微软雅黑" panose="020B0503020204020204" pitchFamily="34" charset="-122"/>
              </a:rPr>
              <a:t>int div32(int x)</a:t>
            </a:r>
            <a:endParaRPr lang="en-US" altLang="zh-CN" sz="2200" dirty="0">
              <a:solidFill>
                <a:srgbClr val="008000"/>
              </a:solidFill>
              <a:latin typeface="微软雅黑" panose="020B0503020204020204" pitchFamily="34" charset="-122"/>
              <a:ea typeface="微软雅黑" panose="020B0503020204020204" pitchFamily="34" charset="-122"/>
            </a:endParaRPr>
          </a:p>
          <a:p>
            <a:pPr>
              <a:lnSpc>
                <a:spcPct val="115000"/>
              </a:lnSpc>
              <a:buClrTx/>
              <a:buFontTx/>
            </a:pPr>
            <a:r>
              <a:rPr lang="en-US" altLang="zh-CN" sz="2200" dirty="0">
                <a:solidFill>
                  <a:srgbClr val="008000"/>
                </a:solidFill>
                <a:latin typeface="微软雅黑" panose="020B0503020204020204" pitchFamily="34" charset="-122"/>
                <a:ea typeface="微软雅黑" panose="020B0503020204020204" pitchFamily="34" charset="-122"/>
              </a:rPr>
              <a:t>{  /* </a:t>
            </a:r>
            <a:r>
              <a:rPr lang="zh-CN" altLang="en-US" sz="2200" dirty="0">
                <a:solidFill>
                  <a:srgbClr val="008000"/>
                </a:solidFill>
                <a:latin typeface="微软雅黑" panose="020B0503020204020204" pitchFamily="34" charset="-122"/>
                <a:ea typeface="微软雅黑" panose="020B0503020204020204" pitchFamily="34" charset="-122"/>
              </a:rPr>
              <a:t>根据</a:t>
            </a:r>
            <a:r>
              <a:rPr lang="en-US" altLang="zh-CN" sz="2200" dirty="0">
                <a:solidFill>
                  <a:srgbClr val="008000"/>
                </a:solidFill>
                <a:latin typeface="微软雅黑" panose="020B0503020204020204" pitchFamily="34" charset="-122"/>
                <a:ea typeface="微软雅黑" panose="020B0503020204020204" pitchFamily="34" charset="-122"/>
              </a:rPr>
              <a:t>x</a:t>
            </a:r>
            <a:r>
              <a:rPr lang="zh-CN" altLang="en-US" sz="2200" dirty="0">
                <a:solidFill>
                  <a:srgbClr val="008000"/>
                </a:solidFill>
                <a:latin typeface="微软雅黑" panose="020B0503020204020204" pitchFamily="34" charset="-122"/>
                <a:ea typeface="微软雅黑" panose="020B0503020204020204" pitchFamily="34" charset="-122"/>
              </a:rPr>
              <a:t>的符号得到偏移量</a:t>
            </a:r>
            <a:r>
              <a:rPr lang="en-US" altLang="zh-CN" sz="2200" dirty="0">
                <a:solidFill>
                  <a:srgbClr val="008000"/>
                </a:solidFill>
                <a:latin typeface="微软雅黑" panose="020B0503020204020204" pitchFamily="34" charset="-122"/>
                <a:ea typeface="微软雅黑" panose="020B0503020204020204" pitchFamily="34" charset="-122"/>
              </a:rPr>
              <a:t>b */</a:t>
            </a:r>
            <a:endParaRPr lang="en-US" altLang="zh-CN" sz="2200" dirty="0">
              <a:solidFill>
                <a:srgbClr val="008000"/>
              </a:solidFill>
              <a:latin typeface="微软雅黑" panose="020B0503020204020204" pitchFamily="34" charset="-122"/>
              <a:ea typeface="微软雅黑" panose="020B0503020204020204" pitchFamily="34" charset="-122"/>
            </a:endParaRPr>
          </a:p>
          <a:p>
            <a:pPr>
              <a:lnSpc>
                <a:spcPct val="115000"/>
              </a:lnSpc>
              <a:buClrTx/>
              <a:buFontTx/>
            </a:pPr>
            <a:r>
              <a:rPr lang="en-US" altLang="zh-CN" sz="2200" dirty="0">
                <a:solidFill>
                  <a:srgbClr val="008000"/>
                </a:solidFill>
                <a:latin typeface="微软雅黑" panose="020B0503020204020204" pitchFamily="34" charset="-122"/>
                <a:ea typeface="微软雅黑" panose="020B0503020204020204" pitchFamily="34" charset="-122"/>
              </a:rPr>
              <a:t>    int b=(x&gt;&gt;31) &amp; 0x1F;</a:t>
            </a:r>
            <a:endParaRPr lang="en-US" altLang="zh-CN" sz="2200" dirty="0">
              <a:solidFill>
                <a:srgbClr val="008000"/>
              </a:solidFill>
              <a:latin typeface="微软雅黑" panose="020B0503020204020204" pitchFamily="34" charset="-122"/>
              <a:ea typeface="微软雅黑" panose="020B0503020204020204" pitchFamily="34" charset="-122"/>
            </a:endParaRPr>
          </a:p>
          <a:p>
            <a:pPr>
              <a:lnSpc>
                <a:spcPct val="115000"/>
              </a:lnSpc>
              <a:buClrTx/>
              <a:buFontTx/>
            </a:pPr>
            <a:r>
              <a:rPr lang="en-US" altLang="zh-CN" sz="2200" dirty="0">
                <a:solidFill>
                  <a:srgbClr val="008000"/>
                </a:solidFill>
                <a:latin typeface="微软雅黑" panose="020B0503020204020204" pitchFamily="34" charset="-122"/>
                <a:ea typeface="微软雅黑" panose="020B0503020204020204" pitchFamily="34" charset="-122"/>
              </a:rPr>
              <a:t>    return (x+b)&gt;&gt;5;</a:t>
            </a:r>
            <a:endParaRPr lang="en-US" altLang="zh-CN" sz="2200" dirty="0">
              <a:solidFill>
                <a:srgbClr val="008000"/>
              </a:solidFill>
              <a:latin typeface="微软雅黑" panose="020B0503020204020204" pitchFamily="34" charset="-122"/>
              <a:ea typeface="微软雅黑" panose="020B0503020204020204" pitchFamily="34" charset="-122"/>
            </a:endParaRPr>
          </a:p>
          <a:p>
            <a:pPr>
              <a:lnSpc>
                <a:spcPct val="115000"/>
              </a:lnSpc>
              <a:buClrTx/>
              <a:buFontTx/>
            </a:pPr>
            <a:r>
              <a:rPr lang="en-US" altLang="zh-CN" sz="2200" dirty="0">
                <a:solidFill>
                  <a:srgbClr val="008000"/>
                </a:solidFill>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2"/>
          <p:cNvSpPr>
            <a:spLocks noGrp="1"/>
          </p:cNvSpPr>
          <p:nvPr>
            <p:ph type="title"/>
          </p:nvPr>
        </p:nvSpPr>
        <p:spPr>
          <a:xfrm>
            <a:off x="800100" y="190500"/>
            <a:ext cx="6073775" cy="479425"/>
          </a:xfrm>
          <a:ln/>
        </p:spPr>
        <p:txBody>
          <a:bodyPr vert="horz" wrap="square" lIns="63500" tIns="25400" rIns="63500" bIns="25400" anchor="t" anchorCtr="0">
            <a:spAutoFit/>
          </a:bodyPr>
          <a:p>
            <a:r>
              <a:rPr lang="en-US" altLang="zh-CN" dirty="0">
                <a:ea typeface="宋体" panose="02010600030101010101" pitchFamily="2" charset="-122"/>
              </a:rPr>
              <a:t>RISC-V</a:t>
            </a:r>
            <a:r>
              <a:rPr lang="zh-CN" altLang="en-US" dirty="0">
                <a:ea typeface="宋体" panose="02010600030101010101" pitchFamily="2" charset="-122"/>
              </a:rPr>
              <a:t>中整数的乘、除运算处理</a:t>
            </a:r>
            <a:endParaRPr lang="zh-CN" altLang="en-US" dirty="0">
              <a:ea typeface="宋体" panose="02010600030101010101" pitchFamily="2" charset="-122"/>
            </a:endParaRPr>
          </a:p>
        </p:txBody>
      </p:sp>
      <p:sp>
        <p:nvSpPr>
          <p:cNvPr id="459779" name="Rectangle 3"/>
          <p:cNvSpPr>
            <a:spLocks noGrp="1"/>
          </p:cNvSpPr>
          <p:nvPr>
            <p:ph idx="1"/>
          </p:nvPr>
        </p:nvSpPr>
        <p:spPr>
          <a:xfrm>
            <a:off x="311150" y="790575"/>
            <a:ext cx="8358188" cy="5638800"/>
          </a:xfrm>
          <a:ln/>
        </p:spPr>
        <p:txBody>
          <a:bodyPr vert="horz" wrap="square" lIns="63500" tIns="25400" rIns="63500" bIns="25400" anchor="t" anchorCtr="0">
            <a:spAutoFit/>
          </a:bodyPr>
          <a:p>
            <a:pPr>
              <a:spcBef>
                <a:spcPct val="35000"/>
              </a:spcBef>
            </a:pPr>
            <a:r>
              <a:rPr lang="zh-CN" altLang="en-US" sz="2000" dirty="0">
                <a:ea typeface="黑体" panose="02010609060101010101" pitchFamily="49" charset="-122"/>
              </a:rPr>
              <a:t>乘法指令</a:t>
            </a:r>
            <a:r>
              <a:rPr lang="en-US" altLang="zh-CN" sz="2000" dirty="0">
                <a:ea typeface="黑体" panose="02010609060101010101" pitchFamily="49" charset="-122"/>
              </a:rPr>
              <a:t>: mul</a:t>
            </a:r>
            <a:r>
              <a:rPr lang="zh-CN" altLang="en-US" sz="2000" dirty="0">
                <a:ea typeface="黑体" panose="02010609060101010101" pitchFamily="49" charset="-122"/>
              </a:rPr>
              <a:t>，</a:t>
            </a:r>
            <a:r>
              <a:rPr lang="en-US" altLang="zh-CN" sz="2000" dirty="0">
                <a:ea typeface="黑体" panose="02010609060101010101" pitchFamily="49" charset="-122"/>
              </a:rPr>
              <a:t>mulh</a:t>
            </a:r>
            <a:r>
              <a:rPr lang="zh-CN" altLang="en-US" sz="2000" dirty="0">
                <a:ea typeface="黑体" panose="02010609060101010101" pitchFamily="49" charset="-122"/>
              </a:rPr>
              <a:t>，</a:t>
            </a:r>
            <a:r>
              <a:rPr lang="en-US" altLang="zh-CN" sz="2000" dirty="0">
                <a:ea typeface="黑体" panose="02010609060101010101" pitchFamily="49" charset="-122"/>
              </a:rPr>
              <a:t>mulhu</a:t>
            </a:r>
            <a:r>
              <a:rPr lang="zh-CN" altLang="en-US" sz="2000" dirty="0">
                <a:ea typeface="黑体" panose="02010609060101010101" pitchFamily="49" charset="-122"/>
              </a:rPr>
              <a:t>，</a:t>
            </a:r>
            <a:r>
              <a:rPr lang="en-US" altLang="zh-CN" sz="2000" dirty="0">
                <a:ea typeface="黑体" panose="02010609060101010101" pitchFamily="49" charset="-122"/>
              </a:rPr>
              <a:t>mulhsu</a:t>
            </a:r>
            <a:endParaRPr lang="en-US" altLang="zh-CN" sz="2000" dirty="0">
              <a:ea typeface="黑体" panose="02010609060101010101" pitchFamily="49" charset="-122"/>
            </a:endParaRPr>
          </a:p>
          <a:p>
            <a:pPr lvl="1">
              <a:spcBef>
                <a:spcPct val="35000"/>
              </a:spcBef>
            </a:pPr>
            <a:r>
              <a:rPr lang="en-US" altLang="zh-CN" dirty="0">
                <a:solidFill>
                  <a:schemeClr val="accent2"/>
                </a:solidFill>
                <a:ea typeface="黑体" panose="02010609060101010101" pitchFamily="49" charset="-122"/>
              </a:rPr>
              <a:t>mul rd, rs1, rs2</a:t>
            </a:r>
            <a:r>
              <a:rPr lang="zh-CN" altLang="en-US" dirty="0">
                <a:solidFill>
                  <a:schemeClr val="accent2"/>
                </a:solidFill>
                <a:ea typeface="黑体" panose="02010609060101010101" pitchFamily="49" charset="-122"/>
              </a:rPr>
              <a:t>：将低</a:t>
            </a:r>
            <a:r>
              <a:rPr lang="en-US" altLang="zh-CN" dirty="0">
                <a:solidFill>
                  <a:schemeClr val="accent2"/>
                </a:solidFill>
                <a:ea typeface="黑体" panose="02010609060101010101" pitchFamily="49" charset="-122"/>
              </a:rPr>
              <a:t>32</a:t>
            </a:r>
            <a:r>
              <a:rPr lang="zh-CN" altLang="en-US" dirty="0">
                <a:solidFill>
                  <a:schemeClr val="accent2"/>
                </a:solidFill>
                <a:ea typeface="黑体" panose="02010609060101010101" pitchFamily="49" charset="-122"/>
              </a:rPr>
              <a:t>位乘积存入结果寄存器</a:t>
            </a:r>
            <a:r>
              <a:rPr lang="en-US" altLang="zh-CN" dirty="0">
                <a:solidFill>
                  <a:schemeClr val="accent2"/>
                </a:solidFill>
                <a:ea typeface="黑体" panose="02010609060101010101" pitchFamily="49" charset="-122"/>
              </a:rPr>
              <a:t>rd</a:t>
            </a:r>
            <a:endParaRPr lang="en-US" altLang="zh-CN" dirty="0">
              <a:solidFill>
                <a:schemeClr val="accent2"/>
              </a:solidFill>
              <a:ea typeface="黑体" panose="02010609060101010101" pitchFamily="49" charset="-122"/>
            </a:endParaRPr>
          </a:p>
          <a:p>
            <a:pPr lvl="1">
              <a:spcBef>
                <a:spcPct val="35000"/>
              </a:spcBef>
            </a:pPr>
            <a:r>
              <a:rPr lang="en-US" altLang="zh-CN" dirty="0">
                <a:solidFill>
                  <a:schemeClr val="accent2"/>
                </a:solidFill>
                <a:ea typeface="黑体" panose="02010609060101010101" pitchFamily="49" charset="-122"/>
              </a:rPr>
              <a:t>mulh</a:t>
            </a:r>
            <a:r>
              <a:rPr lang="zh-CN" altLang="en-US" dirty="0">
                <a:solidFill>
                  <a:schemeClr val="accent2"/>
                </a:solidFill>
                <a:ea typeface="黑体" panose="02010609060101010101" pitchFamily="49" charset="-122"/>
              </a:rPr>
              <a:t>、</a:t>
            </a:r>
            <a:r>
              <a:rPr lang="en-US" altLang="zh-CN" dirty="0">
                <a:solidFill>
                  <a:schemeClr val="accent2"/>
                </a:solidFill>
                <a:ea typeface="黑体" panose="02010609060101010101" pitchFamily="49" charset="-122"/>
              </a:rPr>
              <a:t>mulhu</a:t>
            </a:r>
            <a:r>
              <a:rPr lang="zh-CN" altLang="en-US" dirty="0">
                <a:solidFill>
                  <a:schemeClr val="accent2"/>
                </a:solidFill>
                <a:ea typeface="黑体" panose="02010609060101010101" pitchFamily="49" charset="-122"/>
              </a:rPr>
              <a:t>：将两个乘数同时按带符号整数（</a:t>
            </a:r>
            <a:r>
              <a:rPr lang="en-US" altLang="zh-CN" dirty="0">
                <a:solidFill>
                  <a:schemeClr val="accent2"/>
                </a:solidFill>
                <a:ea typeface="黑体" panose="02010609060101010101" pitchFamily="49" charset="-122"/>
              </a:rPr>
              <a:t>mulh</a:t>
            </a:r>
            <a:r>
              <a:rPr lang="zh-CN" altLang="en-US" dirty="0">
                <a:solidFill>
                  <a:schemeClr val="accent2"/>
                </a:solidFill>
                <a:ea typeface="黑体" panose="02010609060101010101" pitchFamily="49" charset="-122"/>
              </a:rPr>
              <a:t>）、同时按无符号整数（</a:t>
            </a:r>
            <a:r>
              <a:rPr lang="en-US" altLang="zh-CN" dirty="0">
                <a:solidFill>
                  <a:schemeClr val="accent2"/>
                </a:solidFill>
                <a:ea typeface="黑体" panose="02010609060101010101" pitchFamily="49" charset="-122"/>
              </a:rPr>
              <a:t>mulhu</a:t>
            </a:r>
            <a:r>
              <a:rPr lang="zh-CN" altLang="en-US" dirty="0">
                <a:solidFill>
                  <a:schemeClr val="accent2"/>
                </a:solidFill>
                <a:ea typeface="黑体" panose="02010609060101010101" pitchFamily="49" charset="-122"/>
              </a:rPr>
              <a:t>）相乘，高</a:t>
            </a:r>
            <a:r>
              <a:rPr lang="en-US" altLang="zh-CN" dirty="0">
                <a:solidFill>
                  <a:schemeClr val="accent2"/>
                </a:solidFill>
                <a:ea typeface="黑体" panose="02010609060101010101" pitchFamily="49" charset="-122"/>
              </a:rPr>
              <a:t>32</a:t>
            </a:r>
            <a:r>
              <a:rPr lang="zh-CN" altLang="en-US" dirty="0">
                <a:solidFill>
                  <a:schemeClr val="accent2"/>
                </a:solidFill>
                <a:ea typeface="黑体" panose="02010609060101010101" pitchFamily="49" charset="-122"/>
              </a:rPr>
              <a:t>位乘积存入</a:t>
            </a:r>
            <a:r>
              <a:rPr lang="en-US" altLang="zh-CN" dirty="0">
                <a:solidFill>
                  <a:schemeClr val="accent2"/>
                </a:solidFill>
                <a:ea typeface="黑体" panose="02010609060101010101" pitchFamily="49" charset="-122"/>
              </a:rPr>
              <a:t>rd</a:t>
            </a:r>
            <a:r>
              <a:rPr lang="zh-CN" altLang="en-US" dirty="0">
                <a:solidFill>
                  <a:schemeClr val="accent2"/>
                </a:solidFill>
                <a:ea typeface="黑体" panose="02010609060101010101" pitchFamily="49" charset="-122"/>
              </a:rPr>
              <a:t>中</a:t>
            </a:r>
            <a:endParaRPr lang="en-US" altLang="zh-CN" dirty="0">
              <a:solidFill>
                <a:schemeClr val="accent2"/>
              </a:solidFill>
              <a:ea typeface="黑体" panose="02010609060101010101" pitchFamily="49" charset="-122"/>
            </a:endParaRPr>
          </a:p>
          <a:p>
            <a:pPr lvl="1">
              <a:spcBef>
                <a:spcPct val="35000"/>
              </a:spcBef>
            </a:pPr>
            <a:r>
              <a:rPr lang="en-US" altLang="zh-CN" dirty="0">
                <a:solidFill>
                  <a:schemeClr val="accent2"/>
                </a:solidFill>
                <a:ea typeface="黑体" panose="02010609060101010101" pitchFamily="49" charset="-122"/>
              </a:rPr>
              <a:t>mulhsu</a:t>
            </a:r>
            <a:r>
              <a:rPr lang="zh-CN" altLang="en-US" dirty="0">
                <a:solidFill>
                  <a:schemeClr val="accent2"/>
                </a:solidFill>
                <a:ea typeface="黑体" panose="02010609060101010101" pitchFamily="49" charset="-122"/>
              </a:rPr>
              <a:t>：将两个乘数分别作为带符号整数和无符号整数相乘后得到的高</a:t>
            </a:r>
            <a:r>
              <a:rPr lang="en-US" altLang="zh-CN" dirty="0">
                <a:solidFill>
                  <a:schemeClr val="accent2"/>
                </a:solidFill>
                <a:ea typeface="黑体" panose="02010609060101010101" pitchFamily="49" charset="-122"/>
              </a:rPr>
              <a:t>32</a:t>
            </a:r>
            <a:r>
              <a:rPr lang="zh-CN" altLang="en-US" dirty="0">
                <a:solidFill>
                  <a:schemeClr val="accent2"/>
                </a:solidFill>
                <a:ea typeface="黑体" panose="02010609060101010101" pitchFamily="49" charset="-122"/>
              </a:rPr>
              <a:t>位乘积存入</a:t>
            </a:r>
            <a:r>
              <a:rPr lang="en-US" altLang="zh-CN" dirty="0">
                <a:solidFill>
                  <a:schemeClr val="accent2"/>
                </a:solidFill>
                <a:ea typeface="黑体" panose="02010609060101010101" pitchFamily="49" charset="-122"/>
              </a:rPr>
              <a:t>rd</a:t>
            </a:r>
            <a:r>
              <a:rPr lang="zh-CN" altLang="en-US" dirty="0">
                <a:solidFill>
                  <a:schemeClr val="accent2"/>
                </a:solidFill>
                <a:ea typeface="黑体" panose="02010609060101010101" pitchFamily="49" charset="-122"/>
              </a:rPr>
              <a:t>中</a:t>
            </a:r>
            <a:endParaRPr lang="en-US" altLang="zh-CN" dirty="0">
              <a:solidFill>
                <a:schemeClr val="accent2"/>
              </a:solidFill>
              <a:ea typeface="黑体" panose="02010609060101010101" pitchFamily="49" charset="-122"/>
            </a:endParaRPr>
          </a:p>
          <a:p>
            <a:pPr lvl="1">
              <a:spcBef>
                <a:spcPct val="35000"/>
              </a:spcBef>
            </a:pPr>
            <a:r>
              <a:rPr lang="zh-CN" altLang="en-US" dirty="0">
                <a:solidFill>
                  <a:schemeClr val="accent2"/>
                </a:solidFill>
                <a:ea typeface="黑体" panose="02010609060101010101" pitchFamily="49" charset="-122"/>
              </a:rPr>
              <a:t>得到</a:t>
            </a:r>
            <a:r>
              <a:rPr lang="en-US" altLang="zh-CN" dirty="0">
                <a:solidFill>
                  <a:schemeClr val="accent2"/>
                </a:solidFill>
                <a:ea typeface="黑体" panose="02010609060101010101" pitchFamily="49" charset="-122"/>
              </a:rPr>
              <a:t>64</a:t>
            </a:r>
            <a:r>
              <a:rPr lang="zh-CN" altLang="en-US" dirty="0">
                <a:solidFill>
                  <a:schemeClr val="accent2"/>
                </a:solidFill>
                <a:ea typeface="黑体" panose="02010609060101010101" pitchFamily="49" charset="-122"/>
              </a:rPr>
              <a:t>位乘积需要两条连续的指令，其中一定有一条是</a:t>
            </a:r>
            <a:r>
              <a:rPr lang="en-US" altLang="zh-CN" dirty="0">
                <a:solidFill>
                  <a:schemeClr val="accent2"/>
                </a:solidFill>
                <a:ea typeface="黑体" panose="02010609060101010101" pitchFamily="49" charset="-122"/>
              </a:rPr>
              <a:t>mul</a:t>
            </a:r>
            <a:r>
              <a:rPr lang="zh-CN" altLang="en-US" dirty="0">
                <a:solidFill>
                  <a:schemeClr val="accent2"/>
                </a:solidFill>
                <a:ea typeface="黑体" panose="02010609060101010101" pitchFamily="49" charset="-122"/>
              </a:rPr>
              <a:t>指令，实际执行时只有一条指令</a:t>
            </a:r>
            <a:endParaRPr lang="en-US" altLang="zh-CN" dirty="0">
              <a:solidFill>
                <a:schemeClr val="accent2"/>
              </a:solidFill>
              <a:ea typeface="黑体" panose="02010609060101010101" pitchFamily="49" charset="-122"/>
            </a:endParaRPr>
          </a:p>
          <a:p>
            <a:pPr lvl="1">
              <a:spcBef>
                <a:spcPct val="35000"/>
              </a:spcBef>
            </a:pPr>
            <a:r>
              <a:rPr lang="zh-CN" altLang="en-US" dirty="0">
                <a:solidFill>
                  <a:schemeClr val="accent2"/>
                </a:solidFill>
                <a:ea typeface="黑体" panose="02010609060101010101" pitchFamily="49" charset="-122"/>
              </a:rPr>
              <a:t>两种乘法指令都不检测溢出</a:t>
            </a:r>
            <a:r>
              <a:rPr lang="en-US" altLang="zh-CN" dirty="0">
                <a:solidFill>
                  <a:schemeClr val="accent2"/>
                </a:solidFill>
                <a:ea typeface="黑体" panose="02010609060101010101" pitchFamily="49" charset="-122"/>
              </a:rPr>
              <a:t>, </a:t>
            </a:r>
            <a:r>
              <a:rPr lang="zh-CN" altLang="en-US" dirty="0">
                <a:solidFill>
                  <a:schemeClr val="accent2"/>
                </a:solidFill>
                <a:ea typeface="黑体" panose="02010609060101010101" pitchFamily="49" charset="-122"/>
              </a:rPr>
              <a:t>而是直接把结果写入结果寄存器。由软件根据结果寄存器的值自行判断和处理溢出</a:t>
            </a:r>
            <a:endParaRPr lang="zh-CN" altLang="en-US" dirty="0">
              <a:solidFill>
                <a:schemeClr val="accent2"/>
              </a:solidFill>
              <a:ea typeface="黑体" panose="02010609060101010101" pitchFamily="49" charset="-122"/>
            </a:endParaRPr>
          </a:p>
          <a:p>
            <a:r>
              <a:rPr lang="zh-CN" altLang="en-US" sz="2000" dirty="0">
                <a:ea typeface="黑体" panose="02010609060101010101" pitchFamily="49" charset="-122"/>
              </a:rPr>
              <a:t>除法指令</a:t>
            </a:r>
            <a:r>
              <a:rPr lang="en-US" altLang="zh-CN" sz="2000" dirty="0">
                <a:ea typeface="黑体" panose="02010609060101010101" pitchFamily="49" charset="-122"/>
              </a:rPr>
              <a:t>: div </a:t>
            </a:r>
            <a:r>
              <a:rPr lang="zh-CN" altLang="en-US" sz="2000" dirty="0">
                <a:ea typeface="黑体" panose="02010609060101010101" pitchFamily="49" charset="-122"/>
              </a:rPr>
              <a:t>，</a:t>
            </a:r>
            <a:r>
              <a:rPr lang="en-US" altLang="zh-CN" sz="2000" dirty="0">
                <a:ea typeface="黑体" panose="02010609060101010101" pitchFamily="49" charset="-122"/>
              </a:rPr>
              <a:t>divu</a:t>
            </a:r>
            <a:r>
              <a:rPr lang="zh-CN" altLang="en-US" sz="2000" dirty="0">
                <a:ea typeface="黑体" panose="02010609060101010101" pitchFamily="49" charset="-122"/>
              </a:rPr>
              <a:t>，</a:t>
            </a:r>
            <a:r>
              <a:rPr lang="en-US" altLang="zh-CN" sz="2000" dirty="0">
                <a:ea typeface="黑体" panose="02010609060101010101" pitchFamily="49" charset="-122"/>
              </a:rPr>
              <a:t>rem</a:t>
            </a:r>
            <a:r>
              <a:rPr lang="zh-CN" altLang="en-US" sz="2000" dirty="0">
                <a:ea typeface="黑体" panose="02010609060101010101" pitchFamily="49" charset="-122"/>
              </a:rPr>
              <a:t>，</a:t>
            </a:r>
            <a:r>
              <a:rPr lang="en-US" altLang="zh-CN" sz="2000" dirty="0">
                <a:ea typeface="黑体" panose="02010609060101010101" pitchFamily="49" charset="-122"/>
              </a:rPr>
              <a:t>remu</a:t>
            </a:r>
            <a:endParaRPr lang="en-US" altLang="zh-CN" sz="2000" dirty="0">
              <a:ea typeface="黑体" panose="02010609060101010101" pitchFamily="49" charset="-122"/>
            </a:endParaRPr>
          </a:p>
          <a:p>
            <a:pPr lvl="1">
              <a:spcBef>
                <a:spcPct val="35000"/>
              </a:spcBef>
            </a:pPr>
            <a:r>
              <a:rPr lang="en-US" altLang="zh-CN" dirty="0">
                <a:solidFill>
                  <a:schemeClr val="accent2"/>
                </a:solidFill>
                <a:ea typeface="黑体" panose="02010609060101010101" pitchFamily="49" charset="-122"/>
              </a:rPr>
              <a:t>div / rem</a:t>
            </a:r>
            <a:r>
              <a:rPr lang="zh-CN" altLang="en-US" dirty="0">
                <a:solidFill>
                  <a:schemeClr val="accent2"/>
                </a:solidFill>
                <a:ea typeface="黑体" panose="02010609060101010101" pitchFamily="49" charset="-122"/>
              </a:rPr>
              <a:t>：按带符号整数做除法，得到商 </a:t>
            </a:r>
            <a:r>
              <a:rPr lang="en-US" altLang="zh-CN" dirty="0">
                <a:solidFill>
                  <a:schemeClr val="accent2"/>
                </a:solidFill>
                <a:ea typeface="黑体" panose="02010609060101010101" pitchFamily="49" charset="-122"/>
              </a:rPr>
              <a:t>/ </a:t>
            </a:r>
            <a:r>
              <a:rPr lang="zh-CN" altLang="en-US" dirty="0">
                <a:solidFill>
                  <a:schemeClr val="accent2"/>
                </a:solidFill>
                <a:ea typeface="黑体" panose="02010609060101010101" pitchFamily="49" charset="-122"/>
              </a:rPr>
              <a:t>余数</a:t>
            </a:r>
            <a:endParaRPr lang="en-US" altLang="zh-CN" dirty="0">
              <a:solidFill>
                <a:schemeClr val="accent2"/>
              </a:solidFill>
              <a:ea typeface="黑体" panose="02010609060101010101" pitchFamily="49" charset="-122"/>
            </a:endParaRPr>
          </a:p>
          <a:p>
            <a:pPr lvl="1">
              <a:spcBef>
                <a:spcPct val="35000"/>
              </a:spcBef>
            </a:pPr>
            <a:r>
              <a:rPr lang="en-US" altLang="zh-CN" dirty="0">
                <a:solidFill>
                  <a:schemeClr val="accent2"/>
                </a:solidFill>
                <a:ea typeface="黑体" panose="02010609060101010101" pitchFamily="49" charset="-122"/>
              </a:rPr>
              <a:t>divu / remu</a:t>
            </a:r>
            <a:r>
              <a:rPr lang="zh-CN" altLang="en-US" dirty="0">
                <a:solidFill>
                  <a:schemeClr val="accent2"/>
                </a:solidFill>
                <a:ea typeface="黑体" panose="02010609060101010101" pitchFamily="49" charset="-122"/>
              </a:rPr>
              <a:t>：按无符号整数做除法，得到商 </a:t>
            </a:r>
            <a:r>
              <a:rPr lang="en-US" altLang="zh-CN" dirty="0">
                <a:solidFill>
                  <a:schemeClr val="accent2"/>
                </a:solidFill>
                <a:ea typeface="黑体" panose="02010609060101010101" pitchFamily="49" charset="-122"/>
              </a:rPr>
              <a:t>/ </a:t>
            </a:r>
            <a:r>
              <a:rPr lang="zh-CN" altLang="en-US" dirty="0">
                <a:solidFill>
                  <a:schemeClr val="accent2"/>
                </a:solidFill>
                <a:ea typeface="黑体" panose="02010609060101010101" pitchFamily="49" charset="-122"/>
              </a:rPr>
              <a:t>余数</a:t>
            </a:r>
            <a:endParaRPr lang="en-US" altLang="zh-CN" dirty="0">
              <a:solidFill>
                <a:schemeClr val="accent2"/>
              </a:solidFill>
              <a:ea typeface="黑体" panose="02010609060101010101" pitchFamily="49" charset="-122"/>
            </a:endParaRPr>
          </a:p>
          <a:p>
            <a:r>
              <a:rPr lang="en-US" altLang="zh-CN" sz="2000" dirty="0">
                <a:ea typeface="黑体" panose="02010609060101010101" pitchFamily="49" charset="-122"/>
              </a:rPr>
              <a:t>RISC-V</a:t>
            </a:r>
            <a:r>
              <a:rPr lang="zh-CN" altLang="en-US" sz="2000" dirty="0">
                <a:ea typeface="黑体" panose="02010609060101010101" pitchFamily="49" charset="-122"/>
              </a:rPr>
              <a:t>指令不检测和发出异常，而是由系统软件自行处理</a:t>
            </a:r>
            <a:endParaRPr lang="en-US" altLang="zh-CN" sz="2000" dirty="0">
              <a:ea typeface="黑体" panose="02010609060101010101" pitchFamily="49" charset="-122"/>
            </a:endParaRPr>
          </a:p>
        </p:txBody>
      </p:sp>
      <p:sp>
        <p:nvSpPr>
          <p:cNvPr id="459780" name="Text Box 4"/>
          <p:cNvSpPr txBox="1"/>
          <p:nvPr/>
        </p:nvSpPr>
        <p:spPr>
          <a:xfrm>
            <a:off x="6680200" y="4497388"/>
            <a:ext cx="1606550" cy="677862"/>
          </a:xfrm>
          <a:prstGeom prst="rect">
            <a:avLst/>
          </a:prstGeom>
          <a:noFill/>
          <a:ln w="12700">
            <a:noFill/>
          </a:ln>
        </p:spPr>
        <p:txBody>
          <a:bodyPr anchor="t" anchorCtr="0">
            <a:spAutoFit/>
          </a:bodyPr>
          <a:p>
            <a:pPr eaLnBrk="0" hangingPunct="0">
              <a:spcBef>
                <a:spcPct val="50000"/>
              </a:spcBef>
            </a:pPr>
            <a:r>
              <a:rPr lang="zh-CN" altLang="en-US" sz="1900" dirty="0">
                <a:solidFill>
                  <a:srgbClr val="FF0000"/>
                </a:solidFill>
                <a:latin typeface="微软雅黑" panose="020B0503020204020204" pitchFamily="34" charset="-122"/>
                <a:ea typeface="微软雅黑" panose="020B0503020204020204" pitchFamily="34" charset="-122"/>
              </a:rPr>
              <a:t>问题：如何判断溢出？</a:t>
            </a:r>
            <a:endParaRPr lang="zh-CN" altLang="en-US" sz="19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59779">
                                            <p:txEl>
                                              <p:charRg st="28" end="62"/>
                                            </p:txEl>
                                          </p:spTgt>
                                        </p:tgtEl>
                                        <p:attrNameLst>
                                          <p:attrName>style.visibility</p:attrName>
                                        </p:attrNameLst>
                                      </p:cBhvr>
                                      <p:to>
                                        <p:strVal val="visible"/>
                                      </p:to>
                                    </p:set>
                                    <p:animEffect transition="in" filter="randombar(horizontal)">
                                      <p:cBhvr>
                                        <p:cTn id="7" dur="500"/>
                                        <p:tgtEl>
                                          <p:spTgt spid="459779">
                                            <p:txEl>
                                              <p:charRg st="28" end="6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59779">
                                            <p:txEl>
                                              <p:charRg st="62" end="123"/>
                                            </p:txEl>
                                          </p:spTgt>
                                        </p:tgtEl>
                                        <p:attrNameLst>
                                          <p:attrName>style.visibility</p:attrName>
                                        </p:attrNameLst>
                                      </p:cBhvr>
                                      <p:to>
                                        <p:strVal val="visible"/>
                                      </p:to>
                                    </p:set>
                                    <p:animEffect transition="in" filter="randombar(horizontal)">
                                      <p:cBhvr>
                                        <p:cTn id="12" dur="500"/>
                                        <p:tgtEl>
                                          <p:spTgt spid="459779">
                                            <p:txEl>
                                              <p:charRg st="62" end="1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59779">
                                            <p:txEl>
                                              <p:charRg st="123" end="168"/>
                                            </p:txEl>
                                          </p:spTgt>
                                        </p:tgtEl>
                                        <p:attrNameLst>
                                          <p:attrName>style.visibility</p:attrName>
                                        </p:attrNameLst>
                                      </p:cBhvr>
                                      <p:to>
                                        <p:strVal val="visible"/>
                                      </p:to>
                                    </p:set>
                                    <p:animEffect transition="in" filter="randombar(horizontal)">
                                      <p:cBhvr>
                                        <p:cTn id="17" dur="500"/>
                                        <p:tgtEl>
                                          <p:spTgt spid="459779">
                                            <p:txEl>
                                              <p:charRg st="123" end="16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59779">
                                            <p:txEl>
                                              <p:charRg st="168" end="211"/>
                                            </p:txEl>
                                          </p:spTgt>
                                        </p:tgtEl>
                                        <p:attrNameLst>
                                          <p:attrName>style.visibility</p:attrName>
                                        </p:attrNameLst>
                                      </p:cBhvr>
                                      <p:to>
                                        <p:strVal val="visible"/>
                                      </p:to>
                                    </p:set>
                                    <p:animEffect transition="in" filter="randombar(horizontal)">
                                      <p:cBhvr>
                                        <p:cTn id="22" dur="500"/>
                                        <p:tgtEl>
                                          <p:spTgt spid="459779">
                                            <p:txEl>
                                              <p:charRg st="168" end="21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59779">
                                            <p:txEl>
                                              <p:charRg st="211" end="262"/>
                                            </p:txEl>
                                          </p:spTgt>
                                        </p:tgtEl>
                                        <p:attrNameLst>
                                          <p:attrName>style.visibility</p:attrName>
                                        </p:attrNameLst>
                                      </p:cBhvr>
                                      <p:to>
                                        <p:strVal val="visible"/>
                                      </p:to>
                                    </p:set>
                                    <p:animEffect transition="in" filter="blinds(horizontal)">
                                      <p:cBhvr>
                                        <p:cTn id="27" dur="500"/>
                                        <p:tgtEl>
                                          <p:spTgt spid="459779">
                                            <p:txEl>
                                              <p:charRg st="211" end="26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59780"/>
                                        </p:tgtEl>
                                        <p:attrNameLst>
                                          <p:attrName>style.visibility</p:attrName>
                                        </p:attrNameLst>
                                      </p:cBhvr>
                                      <p:to>
                                        <p:strVal val="visible"/>
                                      </p:to>
                                    </p:set>
                                    <p:animEffect transition="in" filter="blinds(horizontal)">
                                      <p:cBhvr>
                                        <p:cTn id="32" dur="500"/>
                                        <p:tgtEl>
                                          <p:spTgt spid="45978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59779">
                                            <p:txEl>
                                              <p:charRg st="287" end="316"/>
                                            </p:txEl>
                                          </p:spTgt>
                                        </p:tgtEl>
                                        <p:attrNameLst>
                                          <p:attrName>style.visibility</p:attrName>
                                        </p:attrNameLst>
                                      </p:cBhvr>
                                      <p:to>
                                        <p:strVal val="visible"/>
                                      </p:to>
                                    </p:set>
                                    <p:animEffect transition="in" filter="blinds(horizontal)">
                                      <p:cBhvr>
                                        <p:cTn id="37" dur="500"/>
                                        <p:tgtEl>
                                          <p:spTgt spid="459779">
                                            <p:txEl>
                                              <p:charRg st="287" end="31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59779">
                                            <p:txEl>
                                              <p:charRg st="316" end="347"/>
                                            </p:txEl>
                                          </p:spTgt>
                                        </p:tgtEl>
                                        <p:attrNameLst>
                                          <p:attrName>style.visibility</p:attrName>
                                        </p:attrNameLst>
                                      </p:cBhvr>
                                      <p:to>
                                        <p:strVal val="visible"/>
                                      </p:to>
                                    </p:set>
                                    <p:animEffect transition="in" filter="blinds(horizontal)">
                                      <p:cBhvr>
                                        <p:cTn id="42" dur="500"/>
                                        <p:tgtEl>
                                          <p:spTgt spid="459779">
                                            <p:txEl>
                                              <p:charRg st="316" end="3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8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定点运算部件</a:t>
            </a:r>
            <a:endParaRPr lang="zh-CN" altLang="en-US" dirty="0">
              <a:ea typeface="宋体" panose="02010600030101010101" pitchFamily="2" charset="-122"/>
            </a:endParaRPr>
          </a:p>
        </p:txBody>
      </p:sp>
      <p:sp>
        <p:nvSpPr>
          <p:cNvPr id="458755" name="Rectangle 3"/>
          <p:cNvSpPr>
            <a:spLocks noGrp="1"/>
          </p:cNvSpPr>
          <p:nvPr>
            <p:ph idx="1"/>
          </p:nvPr>
        </p:nvSpPr>
        <p:spPr>
          <a:xfrm>
            <a:off x="177800" y="812800"/>
            <a:ext cx="8966200" cy="4129088"/>
          </a:xfrm>
          <a:ln/>
        </p:spPr>
        <p:txBody>
          <a:bodyPr vert="horz" wrap="square" lIns="63500" tIns="25400" rIns="63500" bIns="25400" anchor="t" anchorCtr="0">
            <a:spAutoFit/>
          </a:bodyPr>
          <a:p>
            <a:pPr>
              <a:lnSpc>
                <a:spcPct val="115000"/>
              </a:lnSpc>
              <a:spcBef>
                <a:spcPct val="25000"/>
              </a:spcBef>
            </a:pPr>
            <a:r>
              <a:rPr lang="zh-CN" altLang="en-US" sz="2000" dirty="0">
                <a:latin typeface="微软雅黑" panose="020B0503020204020204" pitchFamily="34" charset="-122"/>
                <a:ea typeface="微软雅黑" panose="020B0503020204020204" pitchFamily="34" charset="-122"/>
              </a:rPr>
              <a:t>综合考虑各类定点运算算法后，发现：</a:t>
            </a:r>
            <a:endParaRPr lang="zh-CN" altLang="en-US" sz="2000" dirty="0">
              <a:latin typeface="微软雅黑" panose="020B0503020204020204" pitchFamily="34" charset="-122"/>
              <a:ea typeface="微软雅黑" panose="020B0503020204020204" pitchFamily="34" charset="-122"/>
            </a:endParaRPr>
          </a:p>
          <a:p>
            <a:pPr lvl="1">
              <a:lnSpc>
                <a:spcPct val="115000"/>
              </a:lnSpc>
              <a:spcBef>
                <a:spcPct val="25000"/>
              </a:spcBef>
            </a:pPr>
            <a:r>
              <a:rPr lang="zh-CN" altLang="en-US" dirty="0">
                <a:latin typeface="微软雅黑" panose="020B0503020204020204" pitchFamily="34" charset="-122"/>
                <a:ea typeface="微软雅黑" panose="020B0503020204020204" pitchFamily="34" charset="-122"/>
              </a:rPr>
              <a:t>所有运算都可通过“加”和“移位</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操作实现</a:t>
            </a:r>
            <a:endParaRPr lang="en-US" altLang="zh-CN" dirty="0">
              <a:latin typeface="微软雅黑" panose="020B0503020204020204" pitchFamily="34" charset="-122"/>
              <a:ea typeface="微软雅黑" panose="020B0503020204020204" pitchFamily="34" charset="-122"/>
            </a:endParaRPr>
          </a:p>
          <a:p>
            <a:pPr lvl="1">
              <a:lnSpc>
                <a:spcPct val="115000"/>
              </a:lnSpc>
              <a:spcBef>
                <a:spcPct val="25000"/>
              </a:spcBef>
              <a:buNone/>
            </a:pPr>
            <a:r>
              <a:rPr lang="zh-CN" altLang="en-US" dirty="0">
                <a:latin typeface="微软雅黑" panose="020B0503020204020204" pitchFamily="34" charset="-122"/>
                <a:ea typeface="微软雅黑" panose="020B0503020204020204" pitchFamily="34" charset="-122"/>
              </a:rPr>
              <a:t>   </a:t>
            </a:r>
            <a:r>
              <a:rPr lang="zh-CN" altLang="en-US" dirty="0">
                <a:solidFill>
                  <a:srgbClr val="FF0066"/>
                </a:solidFill>
                <a:latin typeface="微软雅黑" panose="020B0503020204020204" pitchFamily="34" charset="-122"/>
                <a:ea typeface="微软雅黑" panose="020B0503020204020204" pitchFamily="34" charset="-122"/>
              </a:rPr>
              <a:t>以一个或多个</a:t>
            </a:r>
            <a:r>
              <a:rPr lang="en-US" altLang="zh-CN" dirty="0">
                <a:solidFill>
                  <a:srgbClr val="FF0066"/>
                </a:solidFill>
                <a:latin typeface="微软雅黑" panose="020B0503020204020204" pitchFamily="34" charset="-122"/>
                <a:ea typeface="微软雅黑" panose="020B0503020204020204" pitchFamily="34" charset="-122"/>
              </a:rPr>
              <a:t>ALU</a:t>
            </a:r>
            <a:r>
              <a:rPr lang="zh-CN" altLang="en-US" dirty="0">
                <a:solidFill>
                  <a:srgbClr val="FF0066"/>
                </a:solidFill>
                <a:latin typeface="微软雅黑" panose="020B0503020204020204" pitchFamily="34" charset="-122"/>
                <a:ea typeface="微软雅黑" panose="020B0503020204020204" pitchFamily="34" charset="-122"/>
              </a:rPr>
              <a:t>（或加法器）为核心，加上移位器和存放中间临时结果的若干寄存器，在相应控制逻辑的控制下，可以实现各种运算。</a:t>
            </a:r>
            <a:endParaRPr lang="zh-CN" altLang="en-US" dirty="0">
              <a:solidFill>
                <a:srgbClr val="FF0066"/>
              </a:solidFill>
              <a:latin typeface="微软雅黑" panose="020B0503020204020204" pitchFamily="34" charset="-122"/>
              <a:ea typeface="微软雅黑" panose="020B0503020204020204" pitchFamily="34" charset="-122"/>
            </a:endParaRPr>
          </a:p>
          <a:p>
            <a:pPr>
              <a:lnSpc>
                <a:spcPct val="115000"/>
              </a:lnSpc>
              <a:spcBef>
                <a:spcPct val="25000"/>
              </a:spcBef>
            </a:pPr>
            <a:r>
              <a:rPr lang="zh-CN" altLang="en-US" sz="2000" dirty="0">
                <a:latin typeface="微软雅黑" panose="020B0503020204020204" pitchFamily="34" charset="-122"/>
                <a:ea typeface="微软雅黑" panose="020B0503020204020204" pitchFamily="34" charset="-122"/>
              </a:rPr>
              <a:t>运算部件通常指</a:t>
            </a:r>
            <a:r>
              <a:rPr lang="en-US" altLang="zh-CN" sz="2000" dirty="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、移位器、寄存器组，加上用于数据选择的多路选择器和实现数据传送的总线等构成的一个运算数据通路。</a:t>
            </a:r>
            <a:endParaRPr lang="zh-CN" altLang="en-US" sz="2000" dirty="0">
              <a:latin typeface="微软雅黑" panose="020B0503020204020204" pitchFamily="34" charset="-122"/>
              <a:ea typeface="微软雅黑" panose="020B0503020204020204" pitchFamily="34" charset="-122"/>
            </a:endParaRPr>
          </a:p>
          <a:p>
            <a:pPr lvl="1">
              <a:lnSpc>
                <a:spcPct val="115000"/>
              </a:lnSpc>
              <a:spcBef>
                <a:spcPct val="25000"/>
              </a:spcBef>
            </a:pPr>
            <a:r>
              <a:rPr lang="zh-CN" altLang="en-US" dirty="0">
                <a:latin typeface="微软雅黑" panose="020B0503020204020204" pitchFamily="34" charset="-122"/>
                <a:ea typeface="微软雅黑" panose="020B0503020204020204" pitchFamily="34" charset="-122"/>
              </a:rPr>
              <a:t>可用专门运算器芯片实现（如：</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位运算器芯片</a:t>
            </a:r>
            <a:r>
              <a:rPr lang="en-US" altLang="zh-CN" dirty="0">
                <a:latin typeface="微软雅黑" panose="020B0503020204020204" pitchFamily="34" charset="-122"/>
                <a:ea typeface="微软雅黑" panose="020B0503020204020204" pitchFamily="34" charset="-122"/>
                <a:hlinkClick r:id="rId1" action="ppaction://hlinksldjump"/>
              </a:rPr>
              <a:t>AM2901</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lvl="1">
              <a:lnSpc>
                <a:spcPct val="115000"/>
              </a:lnSpc>
              <a:spcBef>
                <a:spcPct val="25000"/>
              </a:spcBef>
            </a:pPr>
            <a:r>
              <a:rPr lang="zh-CN" altLang="en-US" dirty="0">
                <a:latin typeface="微软雅黑" panose="020B0503020204020204" pitchFamily="34" charset="-122"/>
                <a:ea typeface="微软雅黑" panose="020B0503020204020204" pitchFamily="34" charset="-122"/>
              </a:rPr>
              <a:t>可用若干芯片级联实现（如</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AM2901</a:t>
            </a:r>
            <a:r>
              <a:rPr lang="zh-CN" altLang="en-US" dirty="0">
                <a:latin typeface="微软雅黑" panose="020B0503020204020204" pitchFamily="34" charset="-122"/>
                <a:ea typeface="微软雅黑" panose="020B0503020204020204" pitchFamily="34" charset="-122"/>
              </a:rPr>
              <a:t>构成</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位运算器）</a:t>
            </a:r>
            <a:endParaRPr lang="zh-CN" altLang="en-US" dirty="0">
              <a:latin typeface="微软雅黑" panose="020B0503020204020204" pitchFamily="34" charset="-122"/>
              <a:ea typeface="微软雅黑" panose="020B0503020204020204" pitchFamily="34" charset="-122"/>
            </a:endParaRPr>
          </a:p>
          <a:p>
            <a:pPr lvl="1">
              <a:lnSpc>
                <a:spcPct val="115000"/>
              </a:lnSpc>
              <a:spcBef>
                <a:spcPct val="25000"/>
              </a:spcBef>
            </a:pPr>
            <a:r>
              <a:rPr lang="zh-CN" altLang="en-US" dirty="0">
                <a:solidFill>
                  <a:srgbClr val="FF0066"/>
                </a:solidFill>
                <a:latin typeface="微软雅黑" panose="020B0503020204020204" pitchFamily="34" charset="-122"/>
                <a:ea typeface="微软雅黑" panose="020B0503020204020204" pitchFamily="34" charset="-122"/>
              </a:rPr>
              <a:t>现代计算机把运算数据通路和控制器都做在</a:t>
            </a:r>
            <a:r>
              <a:rPr lang="en-US" altLang="zh-CN" dirty="0">
                <a:solidFill>
                  <a:srgbClr val="FF0066"/>
                </a:solidFill>
                <a:latin typeface="微软雅黑" panose="020B0503020204020204" pitchFamily="34" charset="-122"/>
                <a:ea typeface="微软雅黑" panose="020B0503020204020204" pitchFamily="34" charset="-122"/>
              </a:rPr>
              <a:t>CPU</a:t>
            </a:r>
            <a:r>
              <a:rPr lang="zh-CN" altLang="en-US" dirty="0">
                <a:solidFill>
                  <a:srgbClr val="FF0066"/>
                </a:solidFill>
                <a:latin typeface="微软雅黑" panose="020B0503020204020204" pitchFamily="34" charset="-122"/>
                <a:ea typeface="微软雅黑" panose="020B0503020204020204" pitchFamily="34" charset="-122"/>
              </a:rPr>
              <a:t>中，为实现高级流水线，</a:t>
            </a:r>
            <a:r>
              <a:rPr lang="en-US" altLang="zh-CN" dirty="0">
                <a:solidFill>
                  <a:srgbClr val="FF0066"/>
                </a:solidFill>
                <a:latin typeface="微软雅黑" panose="020B0503020204020204" pitchFamily="34" charset="-122"/>
                <a:ea typeface="微软雅黑" panose="020B0503020204020204" pitchFamily="34" charset="-122"/>
              </a:rPr>
              <a:t>CPU</a:t>
            </a:r>
            <a:r>
              <a:rPr lang="zh-CN" altLang="en-US" dirty="0">
                <a:solidFill>
                  <a:srgbClr val="FF0066"/>
                </a:solidFill>
                <a:latin typeface="微软雅黑" panose="020B0503020204020204" pitchFamily="34" charset="-122"/>
                <a:ea typeface="微软雅黑" panose="020B0503020204020204" pitchFamily="34" charset="-122"/>
              </a:rPr>
              <a:t>中有多个运算部件，通常称为“功能部件”或“执行部件”。</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458756" name="Text Box 4"/>
          <p:cNvSpPr txBox="1"/>
          <p:nvPr/>
        </p:nvSpPr>
        <p:spPr>
          <a:xfrm>
            <a:off x="295275" y="5114925"/>
            <a:ext cx="8207375" cy="1246188"/>
          </a:xfrm>
          <a:prstGeom prst="rect">
            <a:avLst/>
          </a:prstGeom>
          <a:noFill/>
          <a:ln w="12700">
            <a:noFill/>
          </a:ln>
        </p:spPr>
        <p:txBody>
          <a:bodyPr anchor="t" anchorCtr="0">
            <a:spAutoFit/>
          </a:bodyPr>
          <a:p>
            <a:pPr eaLnBrk="0" hangingPunct="0">
              <a:lnSpc>
                <a:spcPts val="3000"/>
              </a:lnSpc>
              <a:spcBef>
                <a:spcPct val="50000"/>
              </a:spcBef>
            </a:pPr>
            <a:r>
              <a:rPr lang="en-US" altLang="zh-CN" sz="2000" dirty="0">
                <a:solidFill>
                  <a:srgbClr val="CC3300"/>
                </a:solidFill>
                <a:latin typeface="微软雅黑" panose="020B0503020204020204" pitchFamily="34" charset="-122"/>
                <a:ea typeface="微软雅黑" panose="020B0503020204020204" pitchFamily="34" charset="-122"/>
              </a:rPr>
              <a:t>“</a:t>
            </a:r>
            <a:r>
              <a:rPr lang="zh-CN" altLang="en-US" sz="2000" dirty="0">
                <a:solidFill>
                  <a:srgbClr val="CC3300"/>
                </a:solidFill>
                <a:latin typeface="微软雅黑" panose="020B0503020204020204" pitchFamily="34" charset="-122"/>
                <a:ea typeface="微软雅黑" panose="020B0503020204020204" pitchFamily="34" charset="-122"/>
              </a:rPr>
              <a:t>运算器（</a:t>
            </a:r>
            <a:r>
              <a:rPr lang="en-US" altLang="zh-CN" sz="2000" dirty="0">
                <a:solidFill>
                  <a:srgbClr val="CC3300"/>
                </a:solidFill>
                <a:latin typeface="微软雅黑" panose="020B0503020204020204" pitchFamily="34" charset="-122"/>
                <a:ea typeface="微软雅黑" panose="020B0503020204020204" pitchFamily="34" charset="-122"/>
              </a:rPr>
              <a:t>Operate Unit</a:t>
            </a:r>
            <a:r>
              <a:rPr lang="zh-CN" altLang="en-US" sz="2000" dirty="0">
                <a:solidFill>
                  <a:srgbClr val="CC3300"/>
                </a:solidFill>
                <a:latin typeface="微软雅黑" panose="020B0503020204020204" pitchFamily="34" charset="-122"/>
                <a:ea typeface="微软雅黑" panose="020B0503020204020204" pitchFamily="34" charset="-122"/>
              </a:rPr>
              <a:t>）”、“运算部件（</a:t>
            </a:r>
            <a:r>
              <a:rPr lang="en-US" altLang="zh-CN" sz="2000" dirty="0">
                <a:solidFill>
                  <a:srgbClr val="CC3300"/>
                </a:solidFill>
                <a:latin typeface="微软雅黑" panose="020B0503020204020204" pitchFamily="34" charset="-122"/>
                <a:ea typeface="微软雅黑" panose="020B0503020204020204" pitchFamily="34" charset="-122"/>
              </a:rPr>
              <a:t>Operate Unit</a:t>
            </a:r>
            <a:r>
              <a:rPr lang="zh-CN" altLang="en-US" sz="2000" dirty="0">
                <a:solidFill>
                  <a:srgbClr val="CC3300"/>
                </a:solidFill>
                <a:latin typeface="微软雅黑" panose="020B0503020204020204" pitchFamily="34" charset="-122"/>
                <a:ea typeface="微软雅黑" panose="020B0503020204020204" pitchFamily="34" charset="-122"/>
              </a:rPr>
              <a:t>）</a:t>
            </a:r>
            <a:r>
              <a:rPr lang="en-US" altLang="zh-CN" sz="2000" dirty="0">
                <a:solidFill>
                  <a:srgbClr val="CC3300"/>
                </a:solidFill>
                <a:latin typeface="微软雅黑" panose="020B0503020204020204" pitchFamily="34" charset="-122"/>
                <a:ea typeface="微软雅黑" panose="020B0503020204020204" pitchFamily="34" charset="-122"/>
              </a:rPr>
              <a:t>”</a:t>
            </a:r>
            <a:r>
              <a:rPr lang="zh-CN" altLang="en-US" sz="2000" dirty="0">
                <a:solidFill>
                  <a:srgbClr val="CC3300"/>
                </a:solidFill>
                <a:latin typeface="微软雅黑" panose="020B0503020204020204" pitchFamily="34" charset="-122"/>
                <a:ea typeface="微软雅黑" panose="020B0503020204020204" pitchFamily="34" charset="-122"/>
              </a:rPr>
              <a:t>、“功能部件（</a:t>
            </a:r>
            <a:r>
              <a:rPr lang="en-US" altLang="zh-CN" sz="2000" dirty="0">
                <a:solidFill>
                  <a:srgbClr val="CC3300"/>
                </a:solidFill>
                <a:latin typeface="微软雅黑" panose="020B0503020204020204" pitchFamily="34" charset="-122"/>
                <a:ea typeface="微软雅黑" panose="020B0503020204020204" pitchFamily="34" charset="-122"/>
              </a:rPr>
              <a:t>Function Unit</a:t>
            </a:r>
            <a:r>
              <a:rPr lang="zh-CN" altLang="en-US" sz="2000" dirty="0">
                <a:solidFill>
                  <a:srgbClr val="CC3300"/>
                </a:solidFill>
                <a:latin typeface="微软雅黑" panose="020B0503020204020204" pitchFamily="34" charset="-122"/>
                <a:ea typeface="微软雅黑" panose="020B0503020204020204" pitchFamily="34" charset="-122"/>
              </a:rPr>
              <a:t>）”、“执行部件（</a:t>
            </a:r>
            <a:r>
              <a:rPr lang="en-US" altLang="zh-CN" sz="2000" dirty="0">
                <a:solidFill>
                  <a:srgbClr val="CC3300"/>
                </a:solidFill>
                <a:latin typeface="微软雅黑" panose="020B0503020204020204" pitchFamily="34" charset="-122"/>
                <a:ea typeface="微软雅黑" panose="020B0503020204020204" pitchFamily="34" charset="-122"/>
              </a:rPr>
              <a:t>Execution Unit</a:t>
            </a:r>
            <a:r>
              <a:rPr lang="zh-CN" altLang="en-US" sz="2000" dirty="0">
                <a:solidFill>
                  <a:srgbClr val="CC3300"/>
                </a:solidFill>
                <a:latin typeface="微软雅黑" panose="020B0503020204020204" pitchFamily="34" charset="-122"/>
                <a:ea typeface="微软雅黑" panose="020B0503020204020204" pitchFamily="34" charset="-122"/>
              </a:rPr>
              <a:t>）</a:t>
            </a:r>
            <a:r>
              <a:rPr lang="en-US" altLang="zh-CN" sz="2000" dirty="0">
                <a:solidFill>
                  <a:srgbClr val="CC3300"/>
                </a:solidFill>
                <a:latin typeface="微软雅黑" panose="020B0503020204020204" pitchFamily="34" charset="-122"/>
                <a:ea typeface="微软雅黑" panose="020B0503020204020204" pitchFamily="34" charset="-122"/>
              </a:rPr>
              <a:t>”</a:t>
            </a:r>
            <a:r>
              <a:rPr lang="zh-CN" altLang="en-US" sz="2000" dirty="0">
                <a:solidFill>
                  <a:srgbClr val="CC3300"/>
                </a:solidFill>
                <a:latin typeface="微软雅黑" panose="020B0503020204020204" pitchFamily="34" charset="-122"/>
                <a:ea typeface="微软雅黑" panose="020B0503020204020204" pitchFamily="34" charset="-122"/>
              </a:rPr>
              <a:t>和“数据通路（</a:t>
            </a:r>
            <a:r>
              <a:rPr lang="en-US" altLang="zh-CN" sz="2000" dirty="0">
                <a:solidFill>
                  <a:srgbClr val="CC3300"/>
                </a:solidFill>
                <a:latin typeface="微软雅黑" panose="020B0503020204020204" pitchFamily="34" charset="-122"/>
                <a:ea typeface="微软雅黑" panose="020B0503020204020204" pitchFamily="34" charset="-122"/>
              </a:rPr>
              <a:t>DataPath</a:t>
            </a:r>
            <a:r>
              <a:rPr lang="zh-CN" altLang="en-US" sz="2000" dirty="0">
                <a:solidFill>
                  <a:srgbClr val="CC3300"/>
                </a:solidFill>
                <a:latin typeface="微软雅黑" panose="020B0503020204020204" pitchFamily="34" charset="-122"/>
                <a:ea typeface="微软雅黑" panose="020B0503020204020204" pitchFamily="34" charset="-122"/>
              </a:rPr>
              <a:t>）</a:t>
            </a:r>
            <a:r>
              <a:rPr lang="en-US" altLang="zh-CN" sz="2000" dirty="0">
                <a:solidFill>
                  <a:srgbClr val="CC3300"/>
                </a:solidFill>
                <a:latin typeface="微软雅黑" panose="020B0503020204020204" pitchFamily="34" charset="-122"/>
                <a:ea typeface="微软雅黑" panose="020B0503020204020204" pitchFamily="34" charset="-122"/>
              </a:rPr>
              <a:t>”</a:t>
            </a:r>
            <a:r>
              <a:rPr lang="zh-CN" altLang="en-US" sz="2000" dirty="0">
                <a:solidFill>
                  <a:srgbClr val="CC3300"/>
                </a:solidFill>
                <a:latin typeface="微软雅黑" panose="020B0503020204020204" pitchFamily="34" charset="-122"/>
                <a:ea typeface="微软雅黑" panose="020B0503020204020204" pitchFamily="34" charset="-122"/>
              </a:rPr>
              <a:t>的含义基本上一样，只是强调的侧重不同</a:t>
            </a:r>
            <a:endParaRPr lang="en-US" altLang="zh-CN" sz="2000" dirty="0">
              <a:solidFill>
                <a:srgbClr val="CC3300"/>
              </a:solidFill>
              <a:latin typeface="微软雅黑" panose="020B0503020204020204" pitchFamily="34" charset="-122"/>
              <a:ea typeface="微软雅黑" panose="020B0503020204020204" pitchFamily="34" charset="-122"/>
            </a:endParaRPr>
          </a:p>
        </p:txBody>
      </p:sp>
      <p:sp>
        <p:nvSpPr>
          <p:cNvPr id="108548" name="Text Box 5"/>
          <p:cNvSpPr txBox="1"/>
          <p:nvPr/>
        </p:nvSpPr>
        <p:spPr>
          <a:xfrm>
            <a:off x="6953250" y="6372225"/>
            <a:ext cx="857250" cy="336550"/>
          </a:xfrm>
          <a:prstGeom prst="rect">
            <a:avLst/>
          </a:prstGeom>
          <a:noFill/>
          <a:ln w="12700">
            <a:noFill/>
          </a:ln>
        </p:spPr>
        <p:txBody>
          <a:bodyPr anchor="t" anchorCtr="0">
            <a:spAutoFit/>
          </a:bodyPr>
          <a:p>
            <a:pPr eaLnBrk="0" hangingPunct="0">
              <a:spcBef>
                <a:spcPct val="50000"/>
              </a:spcBef>
            </a:pPr>
            <a:r>
              <a:rPr lang="en-US" altLang="zh-CN" dirty="0">
                <a:latin typeface="Times New Roman" panose="02020603050405020304" pitchFamily="18" charset="0"/>
                <a:hlinkClick r:id="rId2" action="ppaction://hlinksldjump"/>
              </a:rPr>
              <a:t>SKIP</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8755">
                                            <p:txEl>
                                              <p:charRg st="18" end="39"/>
                                            </p:txEl>
                                          </p:spTgt>
                                        </p:tgtEl>
                                        <p:attrNameLst>
                                          <p:attrName>style.visibility</p:attrName>
                                        </p:attrNameLst>
                                      </p:cBhvr>
                                      <p:to>
                                        <p:strVal val="visible"/>
                                      </p:to>
                                    </p:set>
                                    <p:animEffect transition="in" filter="blinds(horizontal)">
                                      <p:cBhvr>
                                        <p:cTn id="7" dur="500"/>
                                        <p:tgtEl>
                                          <p:spTgt spid="458755">
                                            <p:txEl>
                                              <p:charRg st="18"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8755">
                                            <p:txEl>
                                              <p:charRg st="39" end="104"/>
                                            </p:txEl>
                                          </p:spTgt>
                                        </p:tgtEl>
                                        <p:attrNameLst>
                                          <p:attrName>style.visibility</p:attrName>
                                        </p:attrNameLst>
                                      </p:cBhvr>
                                      <p:to>
                                        <p:strVal val="visible"/>
                                      </p:to>
                                    </p:set>
                                    <p:animEffect transition="in" filter="blinds(horizontal)">
                                      <p:cBhvr>
                                        <p:cTn id="12" dur="500"/>
                                        <p:tgtEl>
                                          <p:spTgt spid="458755">
                                            <p:txEl>
                                              <p:charRg st="39" end="10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8755">
                                            <p:txEl>
                                              <p:charRg st="104" end="162"/>
                                            </p:txEl>
                                          </p:spTgt>
                                        </p:tgtEl>
                                        <p:attrNameLst>
                                          <p:attrName>style.visibility</p:attrName>
                                        </p:attrNameLst>
                                      </p:cBhvr>
                                      <p:to>
                                        <p:strVal val="visible"/>
                                      </p:to>
                                    </p:set>
                                    <p:animEffect transition="in" filter="blinds(horizontal)">
                                      <p:cBhvr>
                                        <p:cTn id="17" dur="500"/>
                                        <p:tgtEl>
                                          <p:spTgt spid="458755">
                                            <p:txEl>
                                              <p:charRg st="104" end="16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8755">
                                            <p:txEl>
                                              <p:charRg st="162" end="191"/>
                                            </p:txEl>
                                          </p:spTgt>
                                        </p:tgtEl>
                                        <p:attrNameLst>
                                          <p:attrName>style.visibility</p:attrName>
                                        </p:attrNameLst>
                                      </p:cBhvr>
                                      <p:to>
                                        <p:strVal val="visible"/>
                                      </p:to>
                                    </p:set>
                                    <p:animEffect transition="in" filter="blinds(horizontal)">
                                      <p:cBhvr>
                                        <p:cTn id="22" dur="500"/>
                                        <p:tgtEl>
                                          <p:spTgt spid="458755">
                                            <p:txEl>
                                              <p:charRg st="162" end="19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58755">
                                            <p:txEl>
                                              <p:charRg st="191" end="221"/>
                                            </p:txEl>
                                          </p:spTgt>
                                        </p:tgtEl>
                                        <p:attrNameLst>
                                          <p:attrName>style.visibility</p:attrName>
                                        </p:attrNameLst>
                                      </p:cBhvr>
                                      <p:to>
                                        <p:strVal val="visible"/>
                                      </p:to>
                                    </p:set>
                                    <p:animEffect transition="in" filter="blinds(horizontal)">
                                      <p:cBhvr>
                                        <p:cTn id="27" dur="500"/>
                                        <p:tgtEl>
                                          <p:spTgt spid="458755">
                                            <p:txEl>
                                              <p:charRg st="191" end="22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58755">
                                            <p:txEl>
                                              <p:charRg st="221" end="286"/>
                                            </p:txEl>
                                          </p:spTgt>
                                        </p:tgtEl>
                                        <p:attrNameLst>
                                          <p:attrName>style.visibility</p:attrName>
                                        </p:attrNameLst>
                                      </p:cBhvr>
                                      <p:to>
                                        <p:strVal val="visible"/>
                                      </p:to>
                                    </p:set>
                                    <p:animEffect transition="in" filter="blinds(horizontal)">
                                      <p:cBhvr>
                                        <p:cTn id="32" dur="500"/>
                                        <p:tgtEl>
                                          <p:spTgt spid="458755">
                                            <p:txEl>
                                              <p:charRg st="221" end="28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58756"/>
                                        </p:tgtEl>
                                        <p:attrNameLst>
                                          <p:attrName>style.visibility</p:attrName>
                                        </p:attrNameLst>
                                      </p:cBhvr>
                                      <p:to>
                                        <p:strVal val="visible"/>
                                      </p:to>
                                    </p:set>
                                    <p:animEffect transition="in" filter="blinds(horizontal)">
                                      <p:cBhvr>
                                        <p:cTn id="37" dur="500"/>
                                        <p:tgtEl>
                                          <p:spTgt spid="458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Text Box 2"/>
          <p:cNvSpPr txBox="1"/>
          <p:nvPr/>
        </p:nvSpPr>
        <p:spPr>
          <a:xfrm>
            <a:off x="171450" y="5384800"/>
            <a:ext cx="825500" cy="396875"/>
          </a:xfrm>
          <a:prstGeom prst="rect">
            <a:avLst/>
          </a:prstGeom>
          <a:noFill/>
          <a:ln w="9525">
            <a:noFill/>
          </a:ln>
        </p:spPr>
        <p:txBody>
          <a:bodyPr anchor="t" anchorCtr="0">
            <a:spAutoFit/>
          </a:bodyPr>
          <a:p>
            <a:pPr algn="ctr" eaLnBrk="0" hangingPunct="0">
              <a:spcBef>
                <a:spcPct val="50000"/>
              </a:spcBef>
            </a:pPr>
            <a:r>
              <a:rPr lang="en-US" altLang="zh-CN" sz="2000" dirty="0">
                <a:latin typeface="Times New Roman" panose="02020603050405020304" pitchFamily="18" charset="0"/>
                <a:ea typeface="黑体" panose="02010609060101010101" pitchFamily="49" charset="-122"/>
              </a:rPr>
              <a:t>I</a:t>
            </a:r>
            <a:r>
              <a:rPr lang="en-US" altLang="zh-CN" sz="2000" dirty="0">
                <a:latin typeface="Arial" panose="020B0604020202020204" pitchFamily="34" charset="0"/>
                <a:ea typeface="黑体" panose="02010609060101010101" pitchFamily="49" charset="-122"/>
              </a:rPr>
              <a:t>0-8</a:t>
            </a:r>
            <a:endParaRPr lang="en-US" altLang="zh-CN" sz="2000" dirty="0">
              <a:latin typeface="Arial" panose="020B0604020202020204" pitchFamily="34" charset="0"/>
              <a:ea typeface="黑体" panose="02010609060101010101" pitchFamily="49" charset="-122"/>
            </a:endParaRPr>
          </a:p>
        </p:txBody>
      </p:sp>
      <p:sp>
        <p:nvSpPr>
          <p:cNvPr id="109570" name="Text Box 3"/>
          <p:cNvSpPr txBox="1"/>
          <p:nvPr/>
        </p:nvSpPr>
        <p:spPr>
          <a:xfrm>
            <a:off x="2765425" y="6070600"/>
            <a:ext cx="4826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Z</a:t>
            </a:r>
            <a:endParaRPr lang="en-US" altLang="zh-CN" sz="2000" dirty="0">
              <a:latin typeface="Arial" panose="020B0604020202020204" pitchFamily="34" charset="0"/>
              <a:ea typeface="黑体" panose="02010609060101010101" pitchFamily="49" charset="-122"/>
            </a:endParaRPr>
          </a:p>
        </p:txBody>
      </p:sp>
      <p:sp>
        <p:nvSpPr>
          <p:cNvPr id="109571" name="Text Box 4"/>
          <p:cNvSpPr txBox="1"/>
          <p:nvPr/>
        </p:nvSpPr>
        <p:spPr>
          <a:xfrm>
            <a:off x="3559175" y="6010275"/>
            <a:ext cx="4826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Y</a:t>
            </a:r>
            <a:endParaRPr lang="en-US" altLang="zh-CN" sz="2000" dirty="0">
              <a:latin typeface="Arial" panose="020B0604020202020204" pitchFamily="34" charset="0"/>
              <a:ea typeface="黑体" panose="02010609060101010101" pitchFamily="49" charset="-122"/>
            </a:endParaRPr>
          </a:p>
        </p:txBody>
      </p:sp>
      <p:sp>
        <p:nvSpPr>
          <p:cNvPr id="109572" name="Rectangle 5"/>
          <p:cNvSpPr/>
          <p:nvPr/>
        </p:nvSpPr>
        <p:spPr>
          <a:xfrm>
            <a:off x="2520950" y="1041400"/>
            <a:ext cx="2349500" cy="685800"/>
          </a:xfrm>
          <a:prstGeom prst="rect">
            <a:avLst/>
          </a:prstGeom>
          <a:noFill/>
          <a:ln w="2857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grpSp>
        <p:nvGrpSpPr>
          <p:cNvPr id="109573" name="Group 6"/>
          <p:cNvGrpSpPr/>
          <p:nvPr/>
        </p:nvGrpSpPr>
        <p:grpSpPr>
          <a:xfrm>
            <a:off x="2698750" y="3390900"/>
            <a:ext cx="1803400" cy="774700"/>
            <a:chOff x="1592" y="2152"/>
            <a:chExt cx="1136" cy="488"/>
          </a:xfrm>
        </p:grpSpPr>
        <p:sp>
          <p:nvSpPr>
            <p:cNvPr id="109574" name="Line 7"/>
            <p:cNvSpPr/>
            <p:nvPr/>
          </p:nvSpPr>
          <p:spPr>
            <a:xfrm>
              <a:off x="1864" y="2632"/>
              <a:ext cx="600" cy="0"/>
            </a:xfrm>
            <a:prstGeom prst="line">
              <a:avLst/>
            </a:prstGeom>
            <a:ln w="38100" cap="flat" cmpd="sng">
              <a:solidFill>
                <a:srgbClr val="0000FF"/>
              </a:solidFill>
              <a:prstDash val="solid"/>
              <a:round/>
              <a:headEnd type="none" w="med" len="med"/>
              <a:tailEnd type="none" w="med" len="med"/>
            </a:ln>
          </p:spPr>
        </p:sp>
        <p:sp>
          <p:nvSpPr>
            <p:cNvPr id="109575" name="Line 8"/>
            <p:cNvSpPr/>
            <p:nvPr/>
          </p:nvSpPr>
          <p:spPr>
            <a:xfrm>
              <a:off x="1592" y="2176"/>
              <a:ext cx="272" cy="464"/>
            </a:xfrm>
            <a:prstGeom prst="line">
              <a:avLst/>
            </a:prstGeom>
            <a:ln w="38100" cap="flat" cmpd="sng">
              <a:solidFill>
                <a:srgbClr val="0000FF"/>
              </a:solidFill>
              <a:prstDash val="solid"/>
              <a:round/>
              <a:headEnd type="none" w="med" len="med"/>
              <a:tailEnd type="none" w="med" len="med"/>
            </a:ln>
          </p:spPr>
        </p:sp>
        <p:sp>
          <p:nvSpPr>
            <p:cNvPr id="109576" name="Line 9"/>
            <p:cNvSpPr/>
            <p:nvPr/>
          </p:nvSpPr>
          <p:spPr>
            <a:xfrm flipH="1">
              <a:off x="2456" y="2160"/>
              <a:ext cx="272" cy="472"/>
            </a:xfrm>
            <a:prstGeom prst="line">
              <a:avLst/>
            </a:prstGeom>
            <a:ln w="38100" cap="flat" cmpd="sng">
              <a:solidFill>
                <a:srgbClr val="0000FF"/>
              </a:solidFill>
              <a:prstDash val="solid"/>
              <a:round/>
              <a:headEnd type="none" w="med" len="med"/>
              <a:tailEnd type="none" w="med" len="med"/>
            </a:ln>
          </p:spPr>
        </p:sp>
        <p:sp>
          <p:nvSpPr>
            <p:cNvPr id="109577" name="Line 10"/>
            <p:cNvSpPr/>
            <p:nvPr/>
          </p:nvSpPr>
          <p:spPr>
            <a:xfrm>
              <a:off x="1592" y="2168"/>
              <a:ext cx="400" cy="0"/>
            </a:xfrm>
            <a:prstGeom prst="line">
              <a:avLst/>
            </a:prstGeom>
            <a:ln w="38100" cap="flat" cmpd="sng">
              <a:solidFill>
                <a:srgbClr val="0000FF"/>
              </a:solidFill>
              <a:prstDash val="solid"/>
              <a:round/>
              <a:headEnd type="none" w="med" len="med"/>
              <a:tailEnd type="none" w="med" len="med"/>
            </a:ln>
          </p:spPr>
        </p:sp>
        <p:sp>
          <p:nvSpPr>
            <p:cNvPr id="109578" name="Line 11"/>
            <p:cNvSpPr/>
            <p:nvPr/>
          </p:nvSpPr>
          <p:spPr>
            <a:xfrm>
              <a:off x="2328" y="2160"/>
              <a:ext cx="392" cy="0"/>
            </a:xfrm>
            <a:prstGeom prst="line">
              <a:avLst/>
            </a:prstGeom>
            <a:ln w="38100" cap="flat" cmpd="sng">
              <a:solidFill>
                <a:srgbClr val="0000FF"/>
              </a:solidFill>
              <a:prstDash val="solid"/>
              <a:round/>
              <a:headEnd type="none" w="med" len="med"/>
              <a:tailEnd type="none" w="med" len="med"/>
            </a:ln>
          </p:spPr>
        </p:sp>
        <p:sp>
          <p:nvSpPr>
            <p:cNvPr id="109579" name="Line 12"/>
            <p:cNvSpPr/>
            <p:nvPr/>
          </p:nvSpPr>
          <p:spPr>
            <a:xfrm>
              <a:off x="1976" y="2168"/>
              <a:ext cx="176" cy="144"/>
            </a:xfrm>
            <a:prstGeom prst="line">
              <a:avLst/>
            </a:prstGeom>
            <a:ln w="38100" cap="flat" cmpd="sng">
              <a:solidFill>
                <a:srgbClr val="0000FF"/>
              </a:solidFill>
              <a:prstDash val="solid"/>
              <a:round/>
              <a:headEnd type="none" w="med" len="med"/>
              <a:tailEnd type="none" w="med" len="med"/>
            </a:ln>
          </p:spPr>
        </p:sp>
        <p:sp>
          <p:nvSpPr>
            <p:cNvPr id="109580" name="Line 13"/>
            <p:cNvSpPr/>
            <p:nvPr/>
          </p:nvSpPr>
          <p:spPr>
            <a:xfrm flipH="1">
              <a:off x="2168" y="2152"/>
              <a:ext cx="152" cy="160"/>
            </a:xfrm>
            <a:prstGeom prst="line">
              <a:avLst/>
            </a:prstGeom>
            <a:ln w="38100" cap="flat" cmpd="sng">
              <a:solidFill>
                <a:srgbClr val="0000FF"/>
              </a:solidFill>
              <a:prstDash val="solid"/>
              <a:round/>
              <a:headEnd type="none" w="med" len="med"/>
              <a:tailEnd type="none" w="med" len="med"/>
            </a:ln>
          </p:spPr>
        </p:sp>
        <p:sp>
          <p:nvSpPr>
            <p:cNvPr id="109581" name="Text Box 14"/>
            <p:cNvSpPr txBox="1"/>
            <p:nvPr/>
          </p:nvSpPr>
          <p:spPr>
            <a:xfrm>
              <a:off x="1904" y="2304"/>
              <a:ext cx="552" cy="250"/>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ALU</a:t>
              </a:r>
              <a:endParaRPr lang="en-US" altLang="zh-CN" sz="2000" dirty="0">
                <a:latin typeface="Arial" panose="020B0604020202020204" pitchFamily="34" charset="0"/>
                <a:ea typeface="黑体" panose="02010609060101010101" pitchFamily="49" charset="-122"/>
              </a:endParaRPr>
            </a:p>
          </p:txBody>
        </p:sp>
      </p:grpSp>
      <p:sp>
        <p:nvSpPr>
          <p:cNvPr id="109582" name="Text Box 15"/>
          <p:cNvSpPr txBox="1"/>
          <p:nvPr/>
        </p:nvSpPr>
        <p:spPr>
          <a:xfrm>
            <a:off x="2520950" y="2781300"/>
            <a:ext cx="990600" cy="333375"/>
          </a:xfrm>
          <a:prstGeom prst="rect">
            <a:avLst/>
          </a:prstGeom>
          <a:noFill/>
          <a:ln w="28575" cap="flat" cmpd="sng">
            <a:solidFill>
              <a:schemeClr val="tx1"/>
            </a:solidFill>
            <a:prstDash val="solid"/>
            <a:miter/>
            <a:headEnd type="none" w="med" len="med"/>
            <a:tailEnd type="none" w="med" len="med"/>
          </a:ln>
        </p:spPr>
        <p:txBody>
          <a:bodyPr lIns="18000" tIns="0" rIns="18000" bIns="0"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MUX</a:t>
            </a:r>
            <a:endParaRPr lang="en-US" altLang="zh-CN" sz="2000" dirty="0">
              <a:latin typeface="Arial" panose="020B0604020202020204" pitchFamily="34" charset="0"/>
              <a:ea typeface="黑体" panose="02010609060101010101" pitchFamily="49" charset="-122"/>
            </a:endParaRPr>
          </a:p>
        </p:txBody>
      </p:sp>
      <p:sp>
        <p:nvSpPr>
          <p:cNvPr id="109583" name="Text Box 16"/>
          <p:cNvSpPr txBox="1"/>
          <p:nvPr/>
        </p:nvSpPr>
        <p:spPr>
          <a:xfrm>
            <a:off x="3740150" y="2781300"/>
            <a:ext cx="990600" cy="333375"/>
          </a:xfrm>
          <a:prstGeom prst="rect">
            <a:avLst/>
          </a:prstGeom>
          <a:noFill/>
          <a:ln w="28575" cap="flat" cmpd="sng">
            <a:solidFill>
              <a:schemeClr val="tx1"/>
            </a:solidFill>
            <a:prstDash val="solid"/>
            <a:miter/>
            <a:headEnd type="none" w="med" len="med"/>
            <a:tailEnd type="none" w="med" len="med"/>
          </a:ln>
        </p:spPr>
        <p:txBody>
          <a:bodyPr lIns="18000" tIns="0" rIns="18000" bIns="0"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MUX</a:t>
            </a:r>
            <a:endParaRPr lang="en-US" altLang="zh-CN" sz="2000" dirty="0">
              <a:latin typeface="Arial" panose="020B0604020202020204" pitchFamily="34" charset="0"/>
              <a:ea typeface="黑体" panose="02010609060101010101" pitchFamily="49" charset="-122"/>
            </a:endParaRPr>
          </a:p>
        </p:txBody>
      </p:sp>
      <p:sp>
        <p:nvSpPr>
          <p:cNvPr id="109584" name="Line 17"/>
          <p:cNvSpPr/>
          <p:nvPr/>
        </p:nvSpPr>
        <p:spPr>
          <a:xfrm>
            <a:off x="3016250" y="3136900"/>
            <a:ext cx="0" cy="266700"/>
          </a:xfrm>
          <a:prstGeom prst="line">
            <a:avLst/>
          </a:prstGeom>
          <a:ln w="38100" cap="flat" cmpd="sng">
            <a:solidFill>
              <a:schemeClr val="hlink"/>
            </a:solidFill>
            <a:prstDash val="solid"/>
            <a:round/>
            <a:headEnd type="none" w="med" len="med"/>
            <a:tailEnd type="triangle" w="med" len="med"/>
          </a:ln>
        </p:spPr>
      </p:sp>
      <p:sp>
        <p:nvSpPr>
          <p:cNvPr id="109585" name="Line 18"/>
          <p:cNvSpPr/>
          <p:nvPr/>
        </p:nvSpPr>
        <p:spPr>
          <a:xfrm>
            <a:off x="4235450" y="3124200"/>
            <a:ext cx="0" cy="266700"/>
          </a:xfrm>
          <a:prstGeom prst="line">
            <a:avLst/>
          </a:prstGeom>
          <a:ln w="38100" cap="flat" cmpd="sng">
            <a:solidFill>
              <a:schemeClr val="hlink"/>
            </a:solidFill>
            <a:prstDash val="solid"/>
            <a:round/>
            <a:headEnd type="none" w="med" len="med"/>
            <a:tailEnd type="triangle" w="med" len="med"/>
          </a:ln>
        </p:spPr>
      </p:sp>
      <p:sp>
        <p:nvSpPr>
          <p:cNvPr id="109586" name="Text Box 19"/>
          <p:cNvSpPr txBox="1"/>
          <p:nvPr/>
        </p:nvSpPr>
        <p:spPr>
          <a:xfrm>
            <a:off x="2736850" y="2006600"/>
            <a:ext cx="609600" cy="333375"/>
          </a:xfrm>
          <a:prstGeom prst="rect">
            <a:avLst/>
          </a:prstGeom>
          <a:noFill/>
          <a:ln w="28575" cap="flat" cmpd="sng">
            <a:solidFill>
              <a:schemeClr val="tx1"/>
            </a:solidFill>
            <a:prstDash val="solid"/>
            <a:miter/>
            <a:headEnd type="none" w="med" len="med"/>
            <a:tailEnd type="none" w="med" len="med"/>
          </a:ln>
        </p:spPr>
        <p:txBody>
          <a:bodyPr lIns="18000" tIns="0" rIns="18000" bIns="0"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LA</a:t>
            </a:r>
            <a:endParaRPr lang="en-US" altLang="zh-CN" sz="2000" dirty="0">
              <a:latin typeface="Arial" panose="020B0604020202020204" pitchFamily="34" charset="0"/>
              <a:ea typeface="黑体" panose="02010609060101010101" pitchFamily="49" charset="-122"/>
            </a:endParaRPr>
          </a:p>
        </p:txBody>
      </p:sp>
      <p:sp>
        <p:nvSpPr>
          <p:cNvPr id="109587" name="Text Box 20"/>
          <p:cNvSpPr txBox="1"/>
          <p:nvPr/>
        </p:nvSpPr>
        <p:spPr>
          <a:xfrm>
            <a:off x="3943350" y="1993900"/>
            <a:ext cx="609600" cy="333375"/>
          </a:xfrm>
          <a:prstGeom prst="rect">
            <a:avLst/>
          </a:prstGeom>
          <a:noFill/>
          <a:ln w="28575" cap="flat" cmpd="sng">
            <a:solidFill>
              <a:schemeClr val="tx1"/>
            </a:solidFill>
            <a:prstDash val="solid"/>
            <a:miter/>
            <a:headEnd type="none" w="med" len="med"/>
            <a:tailEnd type="none" w="med" len="med"/>
          </a:ln>
        </p:spPr>
        <p:txBody>
          <a:bodyPr lIns="18000" tIns="0" rIns="18000" bIns="0"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LB</a:t>
            </a:r>
            <a:endParaRPr lang="en-US" altLang="zh-CN" sz="2000" dirty="0">
              <a:latin typeface="Arial" panose="020B0604020202020204" pitchFamily="34" charset="0"/>
              <a:ea typeface="黑体" panose="02010609060101010101" pitchFamily="49" charset="-122"/>
            </a:endParaRPr>
          </a:p>
        </p:txBody>
      </p:sp>
      <p:sp>
        <p:nvSpPr>
          <p:cNvPr id="109588" name="Line 21"/>
          <p:cNvSpPr/>
          <p:nvPr/>
        </p:nvSpPr>
        <p:spPr>
          <a:xfrm>
            <a:off x="3041650" y="1727200"/>
            <a:ext cx="0" cy="304800"/>
          </a:xfrm>
          <a:prstGeom prst="line">
            <a:avLst/>
          </a:prstGeom>
          <a:ln w="38100" cap="flat" cmpd="sng">
            <a:solidFill>
              <a:schemeClr val="hlink"/>
            </a:solidFill>
            <a:prstDash val="solid"/>
            <a:round/>
            <a:headEnd type="none" w="med" len="med"/>
            <a:tailEnd type="triangle" w="med" len="med"/>
          </a:ln>
        </p:spPr>
      </p:sp>
      <p:sp>
        <p:nvSpPr>
          <p:cNvPr id="109589" name="Line 22"/>
          <p:cNvSpPr/>
          <p:nvPr/>
        </p:nvSpPr>
        <p:spPr>
          <a:xfrm>
            <a:off x="4235450" y="1739900"/>
            <a:ext cx="0" cy="266700"/>
          </a:xfrm>
          <a:prstGeom prst="line">
            <a:avLst/>
          </a:prstGeom>
          <a:ln w="38100" cap="flat" cmpd="sng">
            <a:solidFill>
              <a:schemeClr val="hlink"/>
            </a:solidFill>
            <a:prstDash val="solid"/>
            <a:round/>
            <a:headEnd type="none" w="med" len="med"/>
            <a:tailEnd type="triangle" w="med" len="med"/>
          </a:ln>
        </p:spPr>
      </p:sp>
      <p:sp>
        <p:nvSpPr>
          <p:cNvPr id="109590" name="Text Box 23"/>
          <p:cNvSpPr txBox="1"/>
          <p:nvPr/>
        </p:nvSpPr>
        <p:spPr>
          <a:xfrm>
            <a:off x="2368550" y="4470400"/>
            <a:ext cx="2425700" cy="425450"/>
          </a:xfrm>
          <a:prstGeom prst="rect">
            <a:avLst/>
          </a:prstGeom>
          <a:noFill/>
          <a:ln w="28575" cap="flat" cmpd="sng">
            <a:solidFill>
              <a:schemeClr val="tx1"/>
            </a:solidFill>
            <a:prstDash val="solid"/>
            <a:miter/>
            <a:headEnd type="none" w="med" len="med"/>
            <a:tailEnd type="none" w="med" len="med"/>
          </a:ln>
        </p:spPr>
        <p:txBody>
          <a:bodyPr anchor="t" anchorCtr="0">
            <a:spAutoFit/>
          </a:bodyPr>
          <a:p>
            <a:pPr algn="ctr" eaLnBrk="0" hangingPunct="0">
              <a:spcBef>
                <a:spcPct val="50000"/>
              </a:spcBef>
            </a:pPr>
            <a:r>
              <a:rPr lang="en-US" altLang="zh-CN" sz="2000" dirty="0">
                <a:latin typeface="Arial" panose="020B0604020202020204" pitchFamily="34" charset="0"/>
              </a:rPr>
              <a:t>ALU</a:t>
            </a:r>
            <a:r>
              <a:rPr lang="en-US" altLang="zh-CN" sz="2000" dirty="0">
                <a:latin typeface="Times New Roman" panose="02020603050405020304" pitchFamily="18" charset="0"/>
              </a:rPr>
              <a:t> </a:t>
            </a:r>
            <a:r>
              <a:rPr lang="en-US" altLang="zh-CN" sz="2000" dirty="0">
                <a:latin typeface="Arial" panose="020B0604020202020204" pitchFamily="34" charset="0"/>
                <a:ea typeface="黑体" panose="02010609060101010101" pitchFamily="49" charset="-122"/>
              </a:rPr>
              <a:t>Shifter</a:t>
            </a:r>
            <a:endParaRPr lang="en-US" altLang="zh-CN" sz="2000" dirty="0">
              <a:latin typeface="Arial" panose="020B0604020202020204" pitchFamily="34" charset="0"/>
              <a:ea typeface="黑体" panose="02010609060101010101" pitchFamily="49" charset="-122"/>
            </a:endParaRPr>
          </a:p>
        </p:txBody>
      </p:sp>
      <p:sp>
        <p:nvSpPr>
          <p:cNvPr id="109591" name="Line 24"/>
          <p:cNvSpPr/>
          <p:nvPr/>
        </p:nvSpPr>
        <p:spPr>
          <a:xfrm>
            <a:off x="3587750" y="4165600"/>
            <a:ext cx="0" cy="304800"/>
          </a:xfrm>
          <a:prstGeom prst="line">
            <a:avLst/>
          </a:prstGeom>
          <a:ln w="38100" cap="flat" cmpd="sng">
            <a:solidFill>
              <a:schemeClr val="hlink"/>
            </a:solidFill>
            <a:prstDash val="solid"/>
            <a:round/>
            <a:headEnd type="none" w="med" len="med"/>
            <a:tailEnd type="triangle" w="med" len="med"/>
          </a:ln>
        </p:spPr>
      </p:sp>
      <p:sp>
        <p:nvSpPr>
          <p:cNvPr id="109592" name="Text Box 25"/>
          <p:cNvSpPr txBox="1"/>
          <p:nvPr/>
        </p:nvSpPr>
        <p:spPr>
          <a:xfrm>
            <a:off x="5353050" y="4876800"/>
            <a:ext cx="2019300" cy="425450"/>
          </a:xfrm>
          <a:prstGeom prst="rect">
            <a:avLst/>
          </a:prstGeom>
          <a:noFill/>
          <a:ln w="28575" cap="flat" cmpd="sng">
            <a:solidFill>
              <a:schemeClr val="tx1"/>
            </a:solidFill>
            <a:prstDash val="solid"/>
            <a:miter/>
            <a:headEnd type="none" w="med" len="med"/>
            <a:tailEnd type="none" w="med" len="med"/>
          </a:ln>
        </p:spPr>
        <p:txBody>
          <a:bodyPr anchor="t" anchorCtr="0">
            <a:spAutoFit/>
          </a:bodyPr>
          <a:p>
            <a:pPr algn="ctr" eaLnBrk="0" hangingPunct="0">
              <a:spcBef>
                <a:spcPct val="50000"/>
              </a:spcBef>
            </a:pPr>
            <a:r>
              <a:rPr lang="en-US" altLang="zh-CN" sz="2000" dirty="0">
                <a:latin typeface="Times New Roman" panose="02020603050405020304" pitchFamily="18" charset="0"/>
              </a:rPr>
              <a:t>Q </a:t>
            </a:r>
            <a:r>
              <a:rPr lang="en-US" altLang="zh-CN" sz="2000" dirty="0">
                <a:latin typeface="Arial" panose="020B0604020202020204" pitchFamily="34" charset="0"/>
                <a:ea typeface="黑体" panose="02010609060101010101" pitchFamily="49" charset="-122"/>
              </a:rPr>
              <a:t>Shifter</a:t>
            </a:r>
            <a:endParaRPr lang="en-US" altLang="zh-CN" sz="2000" dirty="0">
              <a:latin typeface="Arial" panose="020B0604020202020204" pitchFamily="34" charset="0"/>
              <a:ea typeface="黑体" panose="02010609060101010101" pitchFamily="49" charset="-122"/>
            </a:endParaRPr>
          </a:p>
        </p:txBody>
      </p:sp>
      <p:sp>
        <p:nvSpPr>
          <p:cNvPr id="109593" name="Line 26"/>
          <p:cNvSpPr/>
          <p:nvPr/>
        </p:nvSpPr>
        <p:spPr>
          <a:xfrm>
            <a:off x="6407150" y="5314950"/>
            <a:ext cx="0" cy="304800"/>
          </a:xfrm>
          <a:prstGeom prst="line">
            <a:avLst/>
          </a:prstGeom>
          <a:ln w="38100" cap="flat" cmpd="sng">
            <a:solidFill>
              <a:schemeClr val="hlink"/>
            </a:solidFill>
            <a:prstDash val="solid"/>
            <a:round/>
            <a:headEnd type="none" w="med" len="med"/>
            <a:tailEnd type="triangle" w="med" len="med"/>
          </a:ln>
        </p:spPr>
      </p:sp>
      <p:sp>
        <p:nvSpPr>
          <p:cNvPr id="109594" name="Text Box 27"/>
          <p:cNvSpPr txBox="1"/>
          <p:nvPr/>
        </p:nvSpPr>
        <p:spPr>
          <a:xfrm>
            <a:off x="5340350" y="5626100"/>
            <a:ext cx="2019300" cy="425450"/>
          </a:xfrm>
          <a:prstGeom prst="rect">
            <a:avLst/>
          </a:prstGeom>
          <a:noFill/>
          <a:ln w="28575" cap="flat" cmpd="sng">
            <a:solidFill>
              <a:schemeClr val="tx1"/>
            </a:solidFill>
            <a:prstDash val="solid"/>
            <a:miter/>
            <a:headEnd type="none" w="med" len="med"/>
            <a:tailEnd type="none" w="med" len="med"/>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Q </a:t>
            </a:r>
            <a:r>
              <a:rPr lang="zh-CN" altLang="en-US" sz="2000" dirty="0">
                <a:latin typeface="Arial" panose="020B0604020202020204" pitchFamily="34" charset="0"/>
                <a:ea typeface="黑体" panose="02010609060101010101" pitchFamily="49" charset="-122"/>
              </a:rPr>
              <a:t>（乘商</a:t>
            </a:r>
            <a:r>
              <a:rPr lang="en-US" altLang="zh-CN" sz="2000" dirty="0">
                <a:latin typeface="Arial" panose="020B0604020202020204" pitchFamily="34" charset="0"/>
                <a:ea typeface="黑体" panose="02010609060101010101" pitchFamily="49" charset="-122"/>
              </a:rPr>
              <a:t>R</a:t>
            </a:r>
            <a:r>
              <a:rPr lang="zh-CN" altLang="en-US" sz="2000" dirty="0">
                <a:latin typeface="Arial" panose="020B0604020202020204" pitchFamily="34" charset="0"/>
                <a:ea typeface="黑体" panose="02010609060101010101" pitchFamily="49" charset="-122"/>
              </a:rPr>
              <a:t>）</a:t>
            </a:r>
            <a:endParaRPr lang="zh-CN" altLang="en-US" sz="2000" dirty="0">
              <a:latin typeface="Arial" panose="020B0604020202020204" pitchFamily="34" charset="0"/>
              <a:ea typeface="黑体" panose="02010609060101010101" pitchFamily="49" charset="-122"/>
            </a:endParaRPr>
          </a:p>
        </p:txBody>
      </p:sp>
      <p:sp>
        <p:nvSpPr>
          <p:cNvPr id="109595" name="Line 28"/>
          <p:cNvSpPr/>
          <p:nvPr/>
        </p:nvSpPr>
        <p:spPr>
          <a:xfrm>
            <a:off x="3587750" y="4940300"/>
            <a:ext cx="0" cy="1231900"/>
          </a:xfrm>
          <a:prstGeom prst="line">
            <a:avLst/>
          </a:prstGeom>
          <a:ln w="38100" cap="flat" cmpd="sng">
            <a:solidFill>
              <a:schemeClr val="hlink"/>
            </a:solidFill>
            <a:prstDash val="solid"/>
            <a:round/>
            <a:headEnd type="none" w="med" len="med"/>
            <a:tailEnd type="none" w="med" len="med"/>
          </a:ln>
        </p:spPr>
      </p:sp>
      <p:sp>
        <p:nvSpPr>
          <p:cNvPr id="109596" name="Line 29"/>
          <p:cNvSpPr/>
          <p:nvPr/>
        </p:nvSpPr>
        <p:spPr>
          <a:xfrm flipH="1">
            <a:off x="1225550" y="5130800"/>
            <a:ext cx="4114800" cy="0"/>
          </a:xfrm>
          <a:prstGeom prst="line">
            <a:avLst/>
          </a:prstGeom>
          <a:ln w="38100" cap="flat" cmpd="sng">
            <a:solidFill>
              <a:schemeClr val="hlink"/>
            </a:solidFill>
            <a:prstDash val="solid"/>
            <a:round/>
            <a:headEnd type="none" w="med" len="med"/>
            <a:tailEnd type="none" w="med" len="med"/>
          </a:ln>
        </p:spPr>
      </p:sp>
      <p:sp>
        <p:nvSpPr>
          <p:cNvPr id="109597" name="Line 30"/>
          <p:cNvSpPr/>
          <p:nvPr/>
        </p:nvSpPr>
        <p:spPr>
          <a:xfrm flipH="1">
            <a:off x="1873250" y="5308600"/>
            <a:ext cx="1714500" cy="0"/>
          </a:xfrm>
          <a:prstGeom prst="line">
            <a:avLst/>
          </a:prstGeom>
          <a:ln w="38100" cap="flat" cmpd="sng">
            <a:solidFill>
              <a:schemeClr val="hlink"/>
            </a:solidFill>
            <a:prstDash val="solid"/>
            <a:round/>
            <a:headEnd type="none" w="med" len="med"/>
            <a:tailEnd type="none" w="med" len="med"/>
          </a:ln>
        </p:spPr>
      </p:sp>
      <p:sp>
        <p:nvSpPr>
          <p:cNvPr id="109598" name="Line 31"/>
          <p:cNvSpPr/>
          <p:nvPr/>
        </p:nvSpPr>
        <p:spPr>
          <a:xfrm>
            <a:off x="2851150" y="5308600"/>
            <a:ext cx="0" cy="317500"/>
          </a:xfrm>
          <a:prstGeom prst="line">
            <a:avLst/>
          </a:prstGeom>
          <a:ln w="38100" cap="flat" cmpd="sng">
            <a:solidFill>
              <a:schemeClr val="hlink"/>
            </a:solidFill>
            <a:prstDash val="solid"/>
            <a:round/>
            <a:headEnd type="none" w="med" len="med"/>
            <a:tailEnd type="triangle" w="med" len="med"/>
          </a:ln>
        </p:spPr>
      </p:sp>
      <p:sp>
        <p:nvSpPr>
          <p:cNvPr id="109599" name="Text Box 32"/>
          <p:cNvSpPr txBox="1"/>
          <p:nvPr/>
        </p:nvSpPr>
        <p:spPr>
          <a:xfrm>
            <a:off x="2292350" y="5600700"/>
            <a:ext cx="1104900" cy="333375"/>
          </a:xfrm>
          <a:prstGeom prst="rect">
            <a:avLst/>
          </a:prstGeom>
          <a:noFill/>
          <a:ln w="28575" cap="flat" cmpd="sng">
            <a:solidFill>
              <a:schemeClr val="tx1"/>
            </a:solidFill>
            <a:prstDash val="solid"/>
            <a:miter/>
            <a:headEnd type="none" w="med" len="med"/>
            <a:tailEnd type="none" w="med" len="med"/>
          </a:ln>
        </p:spPr>
        <p:txBody>
          <a:bodyPr tIns="0" bIns="0"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ZERO</a:t>
            </a:r>
            <a:endParaRPr lang="en-US" altLang="zh-CN" sz="2000" dirty="0">
              <a:latin typeface="Arial" panose="020B0604020202020204" pitchFamily="34" charset="0"/>
              <a:ea typeface="黑体" panose="02010609060101010101" pitchFamily="49" charset="-122"/>
            </a:endParaRPr>
          </a:p>
        </p:txBody>
      </p:sp>
      <p:sp>
        <p:nvSpPr>
          <p:cNvPr id="109600" name="Line 33"/>
          <p:cNvSpPr/>
          <p:nvPr/>
        </p:nvSpPr>
        <p:spPr>
          <a:xfrm>
            <a:off x="1873250" y="787400"/>
            <a:ext cx="0" cy="4533900"/>
          </a:xfrm>
          <a:prstGeom prst="line">
            <a:avLst/>
          </a:prstGeom>
          <a:ln w="38100" cap="flat" cmpd="sng">
            <a:solidFill>
              <a:schemeClr val="hlink"/>
            </a:solidFill>
            <a:prstDash val="solid"/>
            <a:round/>
            <a:headEnd type="none" w="med" len="med"/>
            <a:tailEnd type="none" w="med" len="med"/>
          </a:ln>
        </p:spPr>
      </p:sp>
      <p:sp>
        <p:nvSpPr>
          <p:cNvPr id="109601" name="Line 34"/>
          <p:cNvSpPr/>
          <p:nvPr/>
        </p:nvSpPr>
        <p:spPr>
          <a:xfrm>
            <a:off x="1873250" y="787400"/>
            <a:ext cx="1841500" cy="0"/>
          </a:xfrm>
          <a:prstGeom prst="line">
            <a:avLst/>
          </a:prstGeom>
          <a:ln w="38100" cap="flat" cmpd="sng">
            <a:solidFill>
              <a:schemeClr val="hlink"/>
            </a:solidFill>
            <a:prstDash val="solid"/>
            <a:round/>
            <a:headEnd type="none" w="med" len="med"/>
            <a:tailEnd type="none" w="med" len="med"/>
          </a:ln>
        </p:spPr>
      </p:sp>
      <p:sp>
        <p:nvSpPr>
          <p:cNvPr id="109602" name="Line 35"/>
          <p:cNvSpPr/>
          <p:nvPr/>
        </p:nvSpPr>
        <p:spPr>
          <a:xfrm>
            <a:off x="3702050" y="787400"/>
            <a:ext cx="0" cy="254000"/>
          </a:xfrm>
          <a:prstGeom prst="line">
            <a:avLst/>
          </a:prstGeom>
          <a:ln w="38100" cap="flat" cmpd="sng">
            <a:solidFill>
              <a:schemeClr val="hlink"/>
            </a:solidFill>
            <a:prstDash val="solid"/>
            <a:round/>
            <a:headEnd type="none" w="med" len="med"/>
            <a:tailEnd type="triangle" w="med" len="med"/>
          </a:ln>
        </p:spPr>
      </p:sp>
      <p:sp>
        <p:nvSpPr>
          <p:cNvPr id="109603" name="AutoShape 36"/>
          <p:cNvSpPr/>
          <p:nvPr/>
        </p:nvSpPr>
        <p:spPr>
          <a:xfrm>
            <a:off x="806450" y="5054600"/>
            <a:ext cx="431800" cy="1651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04" name="AutoShape 37"/>
          <p:cNvSpPr/>
          <p:nvPr/>
        </p:nvSpPr>
        <p:spPr>
          <a:xfrm flipV="1">
            <a:off x="3498850" y="6134100"/>
            <a:ext cx="190500" cy="3683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05" name="Line 38"/>
          <p:cNvSpPr/>
          <p:nvPr/>
        </p:nvSpPr>
        <p:spPr>
          <a:xfrm>
            <a:off x="2838450" y="5943600"/>
            <a:ext cx="0" cy="406400"/>
          </a:xfrm>
          <a:prstGeom prst="line">
            <a:avLst/>
          </a:prstGeom>
          <a:ln w="38100" cap="flat" cmpd="sng">
            <a:solidFill>
              <a:schemeClr val="hlink"/>
            </a:solidFill>
            <a:prstDash val="solid"/>
            <a:round/>
            <a:headEnd type="none" w="med" len="med"/>
            <a:tailEnd type="triangle" w="med" len="med"/>
          </a:ln>
        </p:spPr>
      </p:sp>
      <p:sp>
        <p:nvSpPr>
          <p:cNvPr id="109606" name="Text Box 39"/>
          <p:cNvSpPr txBox="1"/>
          <p:nvPr/>
        </p:nvSpPr>
        <p:spPr>
          <a:xfrm>
            <a:off x="895350" y="5562600"/>
            <a:ext cx="609600" cy="714375"/>
          </a:xfrm>
          <a:prstGeom prst="rect">
            <a:avLst/>
          </a:prstGeom>
          <a:noFill/>
          <a:ln w="28575" cap="flat" cmpd="sng">
            <a:solidFill>
              <a:schemeClr val="tx1"/>
            </a:solidFill>
            <a:prstDash val="solid"/>
            <a:miter/>
            <a:headEnd type="none" w="med" len="med"/>
            <a:tailEnd type="none" w="med" len="med"/>
          </a:ln>
        </p:spPr>
        <p:txBody>
          <a:bodyPr lIns="0" tIns="190800" rIns="0" bIns="190800" anchor="t" anchorCtr="0">
            <a:spAutoFit/>
          </a:bodyPr>
          <a:p>
            <a:pPr algn="ctr" eaLnBrk="0" hangingPunct="0">
              <a:spcBef>
                <a:spcPct val="50000"/>
              </a:spcBef>
            </a:pPr>
            <a:r>
              <a:rPr lang="en-US" altLang="zh-CN" sz="2000" dirty="0">
                <a:solidFill>
                  <a:schemeClr val="accent2"/>
                </a:solidFill>
                <a:latin typeface="Times New Roman" panose="02020603050405020304" pitchFamily="18" charset="0"/>
              </a:rPr>
              <a:t>CU</a:t>
            </a:r>
            <a:endParaRPr lang="en-US" altLang="zh-CN" sz="2000" dirty="0">
              <a:solidFill>
                <a:schemeClr val="accent2"/>
              </a:solidFill>
              <a:latin typeface="Times New Roman" panose="02020603050405020304" pitchFamily="18" charset="0"/>
            </a:endParaRPr>
          </a:p>
        </p:txBody>
      </p:sp>
      <p:sp>
        <p:nvSpPr>
          <p:cNvPr id="109607" name="Line 40"/>
          <p:cNvSpPr/>
          <p:nvPr/>
        </p:nvSpPr>
        <p:spPr>
          <a:xfrm>
            <a:off x="539750" y="5892800"/>
            <a:ext cx="368300" cy="0"/>
          </a:xfrm>
          <a:prstGeom prst="line">
            <a:avLst/>
          </a:prstGeom>
          <a:ln w="38100" cap="flat" cmpd="sng">
            <a:solidFill>
              <a:schemeClr val="tx1"/>
            </a:solidFill>
            <a:prstDash val="solid"/>
            <a:round/>
            <a:headEnd type="none" w="med" len="med"/>
            <a:tailEnd type="triangle" w="med" len="med"/>
          </a:ln>
        </p:spPr>
      </p:sp>
      <p:sp>
        <p:nvSpPr>
          <p:cNvPr id="109608" name="Line 41"/>
          <p:cNvSpPr/>
          <p:nvPr/>
        </p:nvSpPr>
        <p:spPr>
          <a:xfrm>
            <a:off x="349250" y="5753100"/>
            <a:ext cx="203200" cy="127000"/>
          </a:xfrm>
          <a:prstGeom prst="line">
            <a:avLst/>
          </a:prstGeom>
          <a:ln w="38100" cap="flat" cmpd="sng">
            <a:solidFill>
              <a:schemeClr val="tx1"/>
            </a:solidFill>
            <a:prstDash val="solid"/>
            <a:round/>
            <a:headEnd type="none" w="med" len="med"/>
            <a:tailEnd type="none" w="med" len="med"/>
          </a:ln>
        </p:spPr>
      </p:sp>
      <p:sp>
        <p:nvSpPr>
          <p:cNvPr id="109609" name="Line 42"/>
          <p:cNvSpPr/>
          <p:nvPr/>
        </p:nvSpPr>
        <p:spPr>
          <a:xfrm flipH="1">
            <a:off x="374650" y="5892800"/>
            <a:ext cx="165100" cy="114300"/>
          </a:xfrm>
          <a:prstGeom prst="line">
            <a:avLst/>
          </a:prstGeom>
          <a:ln w="38100" cap="flat" cmpd="sng">
            <a:solidFill>
              <a:schemeClr val="tx1"/>
            </a:solidFill>
            <a:prstDash val="solid"/>
            <a:round/>
            <a:headEnd type="none" w="med" len="med"/>
            <a:tailEnd type="none" w="med" len="med"/>
          </a:ln>
        </p:spPr>
      </p:sp>
      <p:sp>
        <p:nvSpPr>
          <p:cNvPr id="109610" name="Line 43"/>
          <p:cNvSpPr/>
          <p:nvPr/>
        </p:nvSpPr>
        <p:spPr>
          <a:xfrm>
            <a:off x="1504950" y="5651500"/>
            <a:ext cx="317500" cy="0"/>
          </a:xfrm>
          <a:prstGeom prst="line">
            <a:avLst/>
          </a:prstGeom>
          <a:ln w="38100" cap="flat" cmpd="sng">
            <a:solidFill>
              <a:schemeClr val="tx1"/>
            </a:solidFill>
            <a:prstDash val="solid"/>
            <a:round/>
            <a:headEnd type="none" w="med" len="med"/>
            <a:tailEnd type="triangle" w="med" len="med"/>
          </a:ln>
        </p:spPr>
      </p:sp>
      <p:sp>
        <p:nvSpPr>
          <p:cNvPr id="109611" name="Line 44"/>
          <p:cNvSpPr/>
          <p:nvPr/>
        </p:nvSpPr>
        <p:spPr>
          <a:xfrm>
            <a:off x="1517650" y="6172200"/>
            <a:ext cx="317500" cy="0"/>
          </a:xfrm>
          <a:prstGeom prst="line">
            <a:avLst/>
          </a:prstGeom>
          <a:ln w="38100" cap="flat" cmpd="sng">
            <a:solidFill>
              <a:schemeClr val="tx1"/>
            </a:solidFill>
            <a:prstDash val="solid"/>
            <a:round/>
            <a:headEnd type="none" w="med" len="med"/>
            <a:tailEnd type="triangle" w="med" len="med"/>
          </a:ln>
        </p:spPr>
      </p:sp>
      <p:sp>
        <p:nvSpPr>
          <p:cNvPr id="109612" name="Line 45"/>
          <p:cNvSpPr/>
          <p:nvPr/>
        </p:nvSpPr>
        <p:spPr>
          <a:xfrm>
            <a:off x="1631950" y="5791200"/>
            <a:ext cx="0" cy="215900"/>
          </a:xfrm>
          <a:prstGeom prst="line">
            <a:avLst/>
          </a:prstGeom>
          <a:ln w="38100" cap="flat" cmpd="sng">
            <a:solidFill>
              <a:schemeClr val="tx1"/>
            </a:solidFill>
            <a:prstDash val="sysDot"/>
            <a:round/>
            <a:headEnd type="none" w="med" len="med"/>
            <a:tailEnd type="none" w="med" len="med"/>
          </a:ln>
        </p:spPr>
      </p:sp>
      <p:sp>
        <p:nvSpPr>
          <p:cNvPr id="109613" name="Text Box 46"/>
          <p:cNvSpPr txBox="1"/>
          <p:nvPr/>
        </p:nvSpPr>
        <p:spPr>
          <a:xfrm>
            <a:off x="1276350" y="6223000"/>
            <a:ext cx="1333500" cy="396875"/>
          </a:xfrm>
          <a:prstGeom prst="rect">
            <a:avLst/>
          </a:prstGeom>
          <a:noFill/>
          <a:ln w="9525">
            <a:noFill/>
          </a:ln>
        </p:spPr>
        <p:txBody>
          <a:bodyPr anchor="t" anchorCtr="0">
            <a:spAutoFit/>
          </a:bodyPr>
          <a:p>
            <a:pPr algn="ctr" eaLnBrk="0" hangingPunct="0">
              <a:spcBef>
                <a:spcPct val="50000"/>
              </a:spcBef>
            </a:pPr>
            <a:r>
              <a:rPr lang="zh-CN" altLang="en-US" sz="2000" dirty="0">
                <a:latin typeface="Times New Roman" panose="02020603050405020304" pitchFamily="18" charset="0"/>
                <a:ea typeface="黑体" panose="02010609060101010101" pitchFamily="49" charset="-122"/>
              </a:rPr>
              <a:t>控制信号</a:t>
            </a:r>
            <a:endParaRPr lang="zh-CN" altLang="en-US" sz="2000" dirty="0">
              <a:latin typeface="Times New Roman" panose="02020603050405020304" pitchFamily="18" charset="0"/>
              <a:ea typeface="黑体" panose="02010609060101010101" pitchFamily="49" charset="-122"/>
            </a:endParaRPr>
          </a:p>
        </p:txBody>
      </p:sp>
      <p:sp>
        <p:nvSpPr>
          <p:cNvPr id="109614" name="Line 47"/>
          <p:cNvSpPr/>
          <p:nvPr/>
        </p:nvSpPr>
        <p:spPr>
          <a:xfrm flipH="1">
            <a:off x="1263650" y="4711700"/>
            <a:ext cx="1104900" cy="0"/>
          </a:xfrm>
          <a:prstGeom prst="line">
            <a:avLst/>
          </a:prstGeom>
          <a:ln w="38100" cap="flat" cmpd="sng">
            <a:solidFill>
              <a:schemeClr val="hlink"/>
            </a:solidFill>
            <a:prstDash val="solid"/>
            <a:round/>
            <a:headEnd type="none" w="med" len="med"/>
            <a:tailEnd type="none" w="med" len="med"/>
          </a:ln>
        </p:spPr>
      </p:sp>
      <p:sp>
        <p:nvSpPr>
          <p:cNvPr id="109615" name="AutoShape 48"/>
          <p:cNvSpPr/>
          <p:nvPr/>
        </p:nvSpPr>
        <p:spPr>
          <a:xfrm>
            <a:off x="844550" y="4635500"/>
            <a:ext cx="431800" cy="1651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16" name="Line 49"/>
          <p:cNvSpPr/>
          <p:nvPr/>
        </p:nvSpPr>
        <p:spPr>
          <a:xfrm flipH="1" flipV="1">
            <a:off x="7372350" y="5092700"/>
            <a:ext cx="762000" cy="12700"/>
          </a:xfrm>
          <a:prstGeom prst="line">
            <a:avLst/>
          </a:prstGeom>
          <a:ln w="38100" cap="flat" cmpd="sng">
            <a:solidFill>
              <a:schemeClr val="hlink"/>
            </a:solidFill>
            <a:prstDash val="solid"/>
            <a:round/>
            <a:headEnd type="none" w="med" len="med"/>
            <a:tailEnd type="none" w="med" len="med"/>
          </a:ln>
        </p:spPr>
      </p:sp>
      <p:sp>
        <p:nvSpPr>
          <p:cNvPr id="109617" name="Line 50"/>
          <p:cNvSpPr/>
          <p:nvPr/>
        </p:nvSpPr>
        <p:spPr>
          <a:xfrm flipH="1" flipV="1">
            <a:off x="4781550" y="4686300"/>
            <a:ext cx="3327400" cy="0"/>
          </a:xfrm>
          <a:prstGeom prst="line">
            <a:avLst/>
          </a:prstGeom>
          <a:ln w="38100" cap="flat" cmpd="sng">
            <a:solidFill>
              <a:schemeClr val="hlink"/>
            </a:solidFill>
            <a:prstDash val="solid"/>
            <a:round/>
            <a:headEnd type="none" w="med" len="med"/>
            <a:tailEnd type="none" w="med" len="med"/>
          </a:ln>
        </p:spPr>
      </p:sp>
      <p:sp>
        <p:nvSpPr>
          <p:cNvPr id="109618" name="AutoShape 51"/>
          <p:cNvSpPr/>
          <p:nvPr/>
        </p:nvSpPr>
        <p:spPr>
          <a:xfrm>
            <a:off x="8032750" y="5029200"/>
            <a:ext cx="431800" cy="1651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19" name="AutoShape 52"/>
          <p:cNvSpPr/>
          <p:nvPr/>
        </p:nvSpPr>
        <p:spPr>
          <a:xfrm>
            <a:off x="8070850" y="4610100"/>
            <a:ext cx="431800" cy="16510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20" name="Line 53"/>
          <p:cNvSpPr/>
          <p:nvPr/>
        </p:nvSpPr>
        <p:spPr>
          <a:xfrm flipH="1">
            <a:off x="6407150" y="6086475"/>
            <a:ext cx="0" cy="215900"/>
          </a:xfrm>
          <a:prstGeom prst="line">
            <a:avLst/>
          </a:prstGeom>
          <a:ln w="38100" cap="flat" cmpd="sng">
            <a:solidFill>
              <a:schemeClr val="hlink"/>
            </a:solidFill>
            <a:prstDash val="solid"/>
            <a:round/>
            <a:headEnd type="none" w="med" len="med"/>
            <a:tailEnd type="none" w="med" len="med"/>
          </a:ln>
        </p:spPr>
      </p:sp>
      <p:sp>
        <p:nvSpPr>
          <p:cNvPr id="109621" name="Line 54"/>
          <p:cNvSpPr/>
          <p:nvPr/>
        </p:nvSpPr>
        <p:spPr>
          <a:xfrm>
            <a:off x="6407150" y="6289675"/>
            <a:ext cx="1231900" cy="0"/>
          </a:xfrm>
          <a:prstGeom prst="line">
            <a:avLst/>
          </a:prstGeom>
          <a:ln w="38100" cap="flat" cmpd="sng">
            <a:solidFill>
              <a:schemeClr val="hlink"/>
            </a:solidFill>
            <a:prstDash val="solid"/>
            <a:round/>
            <a:headEnd type="none" w="med" len="med"/>
            <a:tailEnd type="none" w="med" len="med"/>
          </a:ln>
        </p:spPr>
      </p:sp>
      <p:sp>
        <p:nvSpPr>
          <p:cNvPr id="109622" name="Line 55"/>
          <p:cNvSpPr/>
          <p:nvPr/>
        </p:nvSpPr>
        <p:spPr>
          <a:xfrm>
            <a:off x="7639050" y="2438400"/>
            <a:ext cx="0" cy="3898900"/>
          </a:xfrm>
          <a:prstGeom prst="line">
            <a:avLst/>
          </a:prstGeom>
          <a:ln w="38100" cap="flat" cmpd="sng">
            <a:solidFill>
              <a:schemeClr val="hlink"/>
            </a:solidFill>
            <a:prstDash val="solid"/>
            <a:round/>
            <a:headEnd type="none" w="med" len="med"/>
            <a:tailEnd type="none" w="med" len="med"/>
          </a:ln>
        </p:spPr>
      </p:sp>
      <p:sp>
        <p:nvSpPr>
          <p:cNvPr id="109623" name="Line 56"/>
          <p:cNvSpPr/>
          <p:nvPr/>
        </p:nvSpPr>
        <p:spPr>
          <a:xfrm>
            <a:off x="3994150" y="2451100"/>
            <a:ext cx="3644900" cy="0"/>
          </a:xfrm>
          <a:prstGeom prst="line">
            <a:avLst/>
          </a:prstGeom>
          <a:ln w="38100" cap="flat" cmpd="sng">
            <a:solidFill>
              <a:schemeClr val="hlink"/>
            </a:solidFill>
            <a:prstDash val="solid"/>
            <a:round/>
            <a:headEnd type="none" w="med" len="med"/>
            <a:tailEnd type="none" w="med" len="med"/>
          </a:ln>
        </p:spPr>
      </p:sp>
      <p:sp>
        <p:nvSpPr>
          <p:cNvPr id="109624" name="Line 57"/>
          <p:cNvSpPr/>
          <p:nvPr/>
        </p:nvSpPr>
        <p:spPr>
          <a:xfrm>
            <a:off x="704850" y="2463800"/>
            <a:ext cx="1943100" cy="0"/>
          </a:xfrm>
          <a:prstGeom prst="line">
            <a:avLst/>
          </a:prstGeom>
          <a:ln w="38100" cap="flat" cmpd="sng">
            <a:solidFill>
              <a:schemeClr val="hlink"/>
            </a:solidFill>
            <a:prstDash val="solid"/>
            <a:round/>
            <a:headEnd type="none" w="med" len="med"/>
            <a:tailEnd type="none" w="med" len="med"/>
          </a:ln>
        </p:spPr>
      </p:sp>
      <p:sp>
        <p:nvSpPr>
          <p:cNvPr id="109625" name="Line 58"/>
          <p:cNvSpPr/>
          <p:nvPr/>
        </p:nvSpPr>
        <p:spPr>
          <a:xfrm>
            <a:off x="501650" y="2349500"/>
            <a:ext cx="203200" cy="127000"/>
          </a:xfrm>
          <a:prstGeom prst="line">
            <a:avLst/>
          </a:prstGeom>
          <a:ln w="38100" cap="flat" cmpd="sng">
            <a:solidFill>
              <a:schemeClr val="hlink"/>
            </a:solidFill>
            <a:prstDash val="solid"/>
            <a:round/>
            <a:headEnd type="none" w="med" len="med"/>
            <a:tailEnd type="none" w="med" len="med"/>
          </a:ln>
        </p:spPr>
      </p:sp>
      <p:sp>
        <p:nvSpPr>
          <p:cNvPr id="109626" name="Line 59"/>
          <p:cNvSpPr/>
          <p:nvPr/>
        </p:nvSpPr>
        <p:spPr>
          <a:xfrm flipH="1">
            <a:off x="527050" y="2463800"/>
            <a:ext cx="165100" cy="114300"/>
          </a:xfrm>
          <a:prstGeom prst="line">
            <a:avLst/>
          </a:prstGeom>
          <a:ln w="38100" cap="flat" cmpd="sng">
            <a:solidFill>
              <a:schemeClr val="hlink"/>
            </a:solidFill>
            <a:prstDash val="solid"/>
            <a:round/>
            <a:headEnd type="none" w="med" len="med"/>
            <a:tailEnd type="none" w="med" len="med"/>
          </a:ln>
        </p:spPr>
      </p:sp>
      <p:sp>
        <p:nvSpPr>
          <p:cNvPr id="109627" name="Line 60"/>
          <p:cNvSpPr/>
          <p:nvPr/>
        </p:nvSpPr>
        <p:spPr>
          <a:xfrm>
            <a:off x="768350" y="1219200"/>
            <a:ext cx="1752600" cy="0"/>
          </a:xfrm>
          <a:prstGeom prst="line">
            <a:avLst/>
          </a:prstGeom>
          <a:ln w="38100" cap="flat" cmpd="sng">
            <a:solidFill>
              <a:schemeClr val="hlink"/>
            </a:solidFill>
            <a:prstDash val="solid"/>
            <a:round/>
            <a:headEnd type="none" w="med" len="med"/>
            <a:tailEnd type="none" w="med" len="med"/>
          </a:ln>
        </p:spPr>
      </p:sp>
      <p:sp>
        <p:nvSpPr>
          <p:cNvPr id="109628" name="Line 61"/>
          <p:cNvSpPr/>
          <p:nvPr/>
        </p:nvSpPr>
        <p:spPr>
          <a:xfrm>
            <a:off x="565150" y="1104900"/>
            <a:ext cx="203200" cy="127000"/>
          </a:xfrm>
          <a:prstGeom prst="line">
            <a:avLst/>
          </a:prstGeom>
          <a:ln w="38100" cap="flat" cmpd="sng">
            <a:solidFill>
              <a:schemeClr val="hlink"/>
            </a:solidFill>
            <a:prstDash val="solid"/>
            <a:round/>
            <a:headEnd type="none" w="med" len="med"/>
            <a:tailEnd type="none" w="med" len="med"/>
          </a:ln>
        </p:spPr>
      </p:sp>
      <p:sp>
        <p:nvSpPr>
          <p:cNvPr id="109629" name="Line 62"/>
          <p:cNvSpPr/>
          <p:nvPr/>
        </p:nvSpPr>
        <p:spPr>
          <a:xfrm flipH="1">
            <a:off x="590550" y="1219200"/>
            <a:ext cx="165100" cy="114300"/>
          </a:xfrm>
          <a:prstGeom prst="line">
            <a:avLst/>
          </a:prstGeom>
          <a:ln w="38100" cap="flat" cmpd="sng">
            <a:solidFill>
              <a:schemeClr val="hlink"/>
            </a:solidFill>
            <a:prstDash val="solid"/>
            <a:round/>
            <a:headEnd type="none" w="med" len="med"/>
            <a:tailEnd type="none" w="med" len="med"/>
          </a:ln>
        </p:spPr>
      </p:sp>
      <p:grpSp>
        <p:nvGrpSpPr>
          <p:cNvPr id="109630" name="Group 63"/>
          <p:cNvGrpSpPr/>
          <p:nvPr/>
        </p:nvGrpSpPr>
        <p:grpSpPr>
          <a:xfrm flipH="1">
            <a:off x="4870450" y="1104900"/>
            <a:ext cx="3492500" cy="228600"/>
            <a:chOff x="3416" y="760"/>
            <a:chExt cx="1232" cy="144"/>
          </a:xfrm>
        </p:grpSpPr>
        <p:sp>
          <p:nvSpPr>
            <p:cNvPr id="109631" name="Line 64"/>
            <p:cNvSpPr/>
            <p:nvPr/>
          </p:nvSpPr>
          <p:spPr>
            <a:xfrm>
              <a:off x="3544" y="832"/>
              <a:ext cx="1104" cy="0"/>
            </a:xfrm>
            <a:prstGeom prst="line">
              <a:avLst/>
            </a:prstGeom>
            <a:ln w="38100" cap="flat" cmpd="sng">
              <a:solidFill>
                <a:schemeClr val="hlink"/>
              </a:solidFill>
              <a:prstDash val="solid"/>
              <a:round/>
              <a:headEnd type="none" w="med" len="med"/>
              <a:tailEnd type="none" w="med" len="med"/>
            </a:ln>
          </p:spPr>
        </p:sp>
        <p:sp>
          <p:nvSpPr>
            <p:cNvPr id="109632" name="Line 65"/>
            <p:cNvSpPr/>
            <p:nvPr/>
          </p:nvSpPr>
          <p:spPr>
            <a:xfrm>
              <a:off x="3416" y="760"/>
              <a:ext cx="128" cy="80"/>
            </a:xfrm>
            <a:prstGeom prst="line">
              <a:avLst/>
            </a:prstGeom>
            <a:ln w="38100" cap="flat" cmpd="sng">
              <a:solidFill>
                <a:schemeClr val="hlink"/>
              </a:solidFill>
              <a:prstDash val="solid"/>
              <a:round/>
              <a:headEnd type="none" w="med" len="med"/>
              <a:tailEnd type="none" w="med" len="med"/>
            </a:ln>
          </p:spPr>
        </p:sp>
        <p:sp>
          <p:nvSpPr>
            <p:cNvPr id="109633" name="Line 66"/>
            <p:cNvSpPr/>
            <p:nvPr/>
          </p:nvSpPr>
          <p:spPr>
            <a:xfrm flipH="1">
              <a:off x="3432" y="832"/>
              <a:ext cx="104" cy="72"/>
            </a:xfrm>
            <a:prstGeom prst="line">
              <a:avLst/>
            </a:prstGeom>
            <a:ln w="38100" cap="flat" cmpd="sng">
              <a:solidFill>
                <a:schemeClr val="hlink"/>
              </a:solidFill>
              <a:prstDash val="solid"/>
              <a:round/>
              <a:headEnd type="none" w="med" len="med"/>
              <a:tailEnd type="none" w="med" len="med"/>
            </a:ln>
          </p:spPr>
        </p:sp>
      </p:grpSp>
      <p:sp>
        <p:nvSpPr>
          <p:cNvPr id="109634" name="Text Box 67"/>
          <p:cNvSpPr txBox="1"/>
          <p:nvPr/>
        </p:nvSpPr>
        <p:spPr>
          <a:xfrm>
            <a:off x="476250" y="1244600"/>
            <a:ext cx="7493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A0-3</a:t>
            </a:r>
            <a:endParaRPr lang="en-US" altLang="zh-CN" sz="2000" dirty="0">
              <a:latin typeface="Arial" panose="020B0604020202020204" pitchFamily="34" charset="0"/>
              <a:ea typeface="黑体" panose="02010609060101010101" pitchFamily="49" charset="-122"/>
            </a:endParaRPr>
          </a:p>
        </p:txBody>
      </p:sp>
      <p:sp>
        <p:nvSpPr>
          <p:cNvPr id="109635" name="Text Box 68"/>
          <p:cNvSpPr txBox="1"/>
          <p:nvPr/>
        </p:nvSpPr>
        <p:spPr>
          <a:xfrm>
            <a:off x="425450" y="2540000"/>
            <a:ext cx="9779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DA0-3</a:t>
            </a:r>
            <a:endParaRPr lang="en-US" altLang="zh-CN" sz="2000" dirty="0">
              <a:latin typeface="Arial" panose="020B0604020202020204" pitchFamily="34" charset="0"/>
              <a:ea typeface="黑体" panose="02010609060101010101" pitchFamily="49" charset="-122"/>
            </a:endParaRPr>
          </a:p>
        </p:txBody>
      </p:sp>
      <p:sp>
        <p:nvSpPr>
          <p:cNvPr id="109636" name="Text Box 69"/>
          <p:cNvSpPr txBox="1"/>
          <p:nvPr/>
        </p:nvSpPr>
        <p:spPr>
          <a:xfrm>
            <a:off x="7893050" y="1270000"/>
            <a:ext cx="7493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B0-3</a:t>
            </a:r>
            <a:endParaRPr lang="en-US" altLang="zh-CN" sz="2000" dirty="0">
              <a:latin typeface="Arial" panose="020B0604020202020204" pitchFamily="34" charset="0"/>
              <a:ea typeface="黑体" panose="02010609060101010101" pitchFamily="49" charset="-122"/>
            </a:endParaRPr>
          </a:p>
        </p:txBody>
      </p:sp>
      <p:sp>
        <p:nvSpPr>
          <p:cNvPr id="109637" name="Text Box 70"/>
          <p:cNvSpPr txBox="1"/>
          <p:nvPr/>
        </p:nvSpPr>
        <p:spPr>
          <a:xfrm>
            <a:off x="7829550" y="2641600"/>
            <a:ext cx="9779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DB0-3</a:t>
            </a:r>
            <a:endParaRPr lang="en-US" altLang="zh-CN" sz="2000" dirty="0">
              <a:latin typeface="Arial" panose="020B0604020202020204" pitchFamily="34" charset="0"/>
              <a:ea typeface="黑体" panose="02010609060101010101" pitchFamily="49" charset="-122"/>
            </a:endParaRPr>
          </a:p>
        </p:txBody>
      </p:sp>
      <p:grpSp>
        <p:nvGrpSpPr>
          <p:cNvPr id="109638" name="Group 71"/>
          <p:cNvGrpSpPr/>
          <p:nvPr/>
        </p:nvGrpSpPr>
        <p:grpSpPr>
          <a:xfrm flipH="1">
            <a:off x="4514850" y="2463800"/>
            <a:ext cx="3759200" cy="241300"/>
            <a:chOff x="3416" y="760"/>
            <a:chExt cx="1232" cy="144"/>
          </a:xfrm>
        </p:grpSpPr>
        <p:sp>
          <p:nvSpPr>
            <p:cNvPr id="109639" name="Line 72"/>
            <p:cNvSpPr/>
            <p:nvPr/>
          </p:nvSpPr>
          <p:spPr>
            <a:xfrm>
              <a:off x="3544" y="832"/>
              <a:ext cx="1104" cy="0"/>
            </a:xfrm>
            <a:prstGeom prst="line">
              <a:avLst/>
            </a:prstGeom>
            <a:ln w="38100" cap="flat" cmpd="sng">
              <a:solidFill>
                <a:schemeClr val="hlink"/>
              </a:solidFill>
              <a:prstDash val="solid"/>
              <a:round/>
              <a:headEnd type="none" w="med" len="med"/>
              <a:tailEnd type="none" w="med" len="med"/>
            </a:ln>
          </p:spPr>
        </p:sp>
        <p:sp>
          <p:nvSpPr>
            <p:cNvPr id="109640" name="Line 73"/>
            <p:cNvSpPr/>
            <p:nvPr/>
          </p:nvSpPr>
          <p:spPr>
            <a:xfrm>
              <a:off x="3416" y="760"/>
              <a:ext cx="128" cy="80"/>
            </a:xfrm>
            <a:prstGeom prst="line">
              <a:avLst/>
            </a:prstGeom>
            <a:ln w="38100" cap="flat" cmpd="sng">
              <a:solidFill>
                <a:schemeClr val="hlink"/>
              </a:solidFill>
              <a:prstDash val="solid"/>
              <a:round/>
              <a:headEnd type="none" w="med" len="med"/>
              <a:tailEnd type="none" w="med" len="med"/>
            </a:ln>
          </p:spPr>
        </p:sp>
        <p:sp>
          <p:nvSpPr>
            <p:cNvPr id="109641" name="Line 74"/>
            <p:cNvSpPr/>
            <p:nvPr/>
          </p:nvSpPr>
          <p:spPr>
            <a:xfrm flipH="1">
              <a:off x="3432" y="832"/>
              <a:ext cx="104" cy="72"/>
            </a:xfrm>
            <a:prstGeom prst="line">
              <a:avLst/>
            </a:prstGeom>
            <a:ln w="38100" cap="flat" cmpd="sng">
              <a:solidFill>
                <a:schemeClr val="hlink"/>
              </a:solidFill>
              <a:prstDash val="solid"/>
              <a:round/>
              <a:headEnd type="none" w="med" len="med"/>
              <a:tailEnd type="none" w="med" len="med"/>
            </a:ln>
          </p:spPr>
        </p:sp>
      </p:grpSp>
      <p:sp>
        <p:nvSpPr>
          <p:cNvPr id="109642" name="Line 75"/>
          <p:cNvSpPr/>
          <p:nvPr/>
        </p:nvSpPr>
        <p:spPr>
          <a:xfrm flipH="1">
            <a:off x="3028950" y="2314575"/>
            <a:ext cx="0" cy="452438"/>
          </a:xfrm>
          <a:prstGeom prst="line">
            <a:avLst/>
          </a:prstGeom>
          <a:ln w="38100" cap="flat" cmpd="sng">
            <a:solidFill>
              <a:schemeClr val="hlink"/>
            </a:solidFill>
            <a:prstDash val="solid"/>
            <a:round/>
            <a:headEnd type="none" w="med" len="med"/>
            <a:tailEnd type="triangle" w="med" len="med"/>
          </a:ln>
        </p:spPr>
      </p:sp>
      <p:sp>
        <p:nvSpPr>
          <p:cNvPr id="109643" name="Line 76"/>
          <p:cNvSpPr/>
          <p:nvPr/>
        </p:nvSpPr>
        <p:spPr>
          <a:xfrm>
            <a:off x="4235450" y="2314575"/>
            <a:ext cx="12700" cy="481013"/>
          </a:xfrm>
          <a:prstGeom prst="line">
            <a:avLst/>
          </a:prstGeom>
          <a:ln w="38100" cap="flat" cmpd="sng">
            <a:solidFill>
              <a:schemeClr val="hlink"/>
            </a:solidFill>
            <a:prstDash val="solid"/>
            <a:round/>
            <a:headEnd type="none" w="med" len="med"/>
            <a:tailEnd type="triangle" w="med" len="med"/>
          </a:ln>
        </p:spPr>
      </p:sp>
      <p:sp>
        <p:nvSpPr>
          <p:cNvPr id="109644" name="Line 77"/>
          <p:cNvSpPr/>
          <p:nvPr/>
        </p:nvSpPr>
        <p:spPr>
          <a:xfrm>
            <a:off x="4006850" y="2435225"/>
            <a:ext cx="0" cy="346075"/>
          </a:xfrm>
          <a:prstGeom prst="line">
            <a:avLst/>
          </a:prstGeom>
          <a:ln w="38100" cap="flat" cmpd="sng">
            <a:solidFill>
              <a:schemeClr val="hlink"/>
            </a:solidFill>
            <a:prstDash val="solid"/>
            <a:round/>
            <a:headEnd type="none" w="med" len="med"/>
            <a:tailEnd type="triangle" w="med" len="med"/>
          </a:ln>
        </p:spPr>
      </p:sp>
      <p:sp>
        <p:nvSpPr>
          <p:cNvPr id="109645" name="Line 78"/>
          <p:cNvSpPr/>
          <p:nvPr/>
        </p:nvSpPr>
        <p:spPr>
          <a:xfrm>
            <a:off x="2635250" y="2470150"/>
            <a:ext cx="0" cy="311150"/>
          </a:xfrm>
          <a:prstGeom prst="line">
            <a:avLst/>
          </a:prstGeom>
          <a:ln w="38100" cap="flat" cmpd="sng">
            <a:solidFill>
              <a:schemeClr val="hlink"/>
            </a:solidFill>
            <a:prstDash val="solid"/>
            <a:round/>
            <a:headEnd type="none" w="med" len="med"/>
            <a:tailEnd type="triangle" w="med" len="med"/>
          </a:ln>
        </p:spPr>
      </p:sp>
      <p:sp>
        <p:nvSpPr>
          <p:cNvPr id="109646" name="Line 79"/>
          <p:cNvSpPr/>
          <p:nvPr/>
        </p:nvSpPr>
        <p:spPr>
          <a:xfrm>
            <a:off x="4514850" y="2568575"/>
            <a:ext cx="0" cy="212725"/>
          </a:xfrm>
          <a:prstGeom prst="line">
            <a:avLst/>
          </a:prstGeom>
          <a:ln w="28575" cap="flat" cmpd="sng">
            <a:solidFill>
              <a:schemeClr val="hlink"/>
            </a:solidFill>
            <a:prstDash val="solid"/>
            <a:round/>
            <a:headEnd type="none" w="med" len="med"/>
            <a:tailEnd type="triangle" w="med" len="med"/>
          </a:ln>
        </p:spPr>
      </p:sp>
      <p:sp>
        <p:nvSpPr>
          <p:cNvPr id="109647" name="Text Box 80"/>
          <p:cNvSpPr txBox="1"/>
          <p:nvPr/>
        </p:nvSpPr>
        <p:spPr>
          <a:xfrm>
            <a:off x="3054350" y="1143000"/>
            <a:ext cx="13208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GRS</a:t>
            </a:r>
            <a:endParaRPr lang="en-US" altLang="zh-CN" sz="2000" dirty="0">
              <a:latin typeface="Arial" panose="020B0604020202020204" pitchFamily="34" charset="0"/>
              <a:ea typeface="黑体" panose="02010609060101010101" pitchFamily="49" charset="-122"/>
            </a:endParaRPr>
          </a:p>
        </p:txBody>
      </p:sp>
      <p:sp>
        <p:nvSpPr>
          <p:cNvPr id="109648" name="Text Box 81"/>
          <p:cNvSpPr txBox="1"/>
          <p:nvPr/>
        </p:nvSpPr>
        <p:spPr>
          <a:xfrm>
            <a:off x="387350" y="4267200"/>
            <a:ext cx="736600" cy="457200"/>
          </a:xfrm>
          <a:prstGeom prst="rect">
            <a:avLst/>
          </a:prstGeom>
          <a:noFill/>
          <a:ln w="9525">
            <a:noFill/>
          </a:ln>
        </p:spPr>
        <p:txBody>
          <a:bodyPr anchor="t" anchorCtr="0">
            <a:spAutoFit/>
          </a:bodyPr>
          <a:p>
            <a:pPr algn="ctr" eaLnBrk="0" hangingPunct="0">
              <a:spcBef>
                <a:spcPct val="50000"/>
              </a:spcBef>
            </a:pPr>
            <a:endParaRPr lang="zh-CN" altLang="en-US" sz="2400" b="0" dirty="0">
              <a:latin typeface="Times New Roman" panose="02020603050405020304" pitchFamily="18" charset="0"/>
              <a:ea typeface="宋体" panose="02010600030101010101" pitchFamily="2" charset="-122"/>
            </a:endParaRPr>
          </a:p>
        </p:txBody>
      </p:sp>
      <p:sp>
        <p:nvSpPr>
          <p:cNvPr id="109649" name="Text Box 82"/>
          <p:cNvSpPr txBox="1"/>
          <p:nvPr/>
        </p:nvSpPr>
        <p:spPr>
          <a:xfrm>
            <a:off x="260350" y="4292600"/>
            <a:ext cx="8255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SIO3</a:t>
            </a:r>
            <a:endParaRPr lang="en-US" altLang="zh-CN" sz="2000" dirty="0">
              <a:latin typeface="Arial" panose="020B0604020202020204" pitchFamily="34" charset="0"/>
              <a:ea typeface="黑体" panose="02010609060101010101" pitchFamily="49" charset="-122"/>
            </a:endParaRPr>
          </a:p>
        </p:txBody>
      </p:sp>
      <p:sp>
        <p:nvSpPr>
          <p:cNvPr id="109650" name="Text Box 83"/>
          <p:cNvSpPr txBox="1"/>
          <p:nvPr/>
        </p:nvSpPr>
        <p:spPr>
          <a:xfrm>
            <a:off x="8235950" y="4279900"/>
            <a:ext cx="8255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SIO0</a:t>
            </a:r>
            <a:endParaRPr lang="en-US" altLang="zh-CN" sz="2000" dirty="0">
              <a:latin typeface="Arial" panose="020B0604020202020204" pitchFamily="34" charset="0"/>
              <a:ea typeface="黑体" panose="02010609060101010101" pitchFamily="49" charset="-122"/>
            </a:endParaRPr>
          </a:p>
        </p:txBody>
      </p:sp>
      <p:sp>
        <p:nvSpPr>
          <p:cNvPr id="109651" name="Text Box 84"/>
          <p:cNvSpPr txBox="1"/>
          <p:nvPr/>
        </p:nvSpPr>
        <p:spPr>
          <a:xfrm>
            <a:off x="8210550" y="4749800"/>
            <a:ext cx="8255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QIO0</a:t>
            </a:r>
            <a:endParaRPr lang="en-US" altLang="zh-CN" sz="2000" dirty="0">
              <a:latin typeface="Arial" panose="020B0604020202020204" pitchFamily="34" charset="0"/>
              <a:ea typeface="黑体" panose="02010609060101010101" pitchFamily="49" charset="-122"/>
            </a:endParaRPr>
          </a:p>
        </p:txBody>
      </p:sp>
      <p:grpSp>
        <p:nvGrpSpPr>
          <p:cNvPr id="109652" name="Group 85"/>
          <p:cNvGrpSpPr/>
          <p:nvPr/>
        </p:nvGrpSpPr>
        <p:grpSpPr>
          <a:xfrm flipH="1">
            <a:off x="4298950" y="3657600"/>
            <a:ext cx="4140200" cy="241300"/>
            <a:chOff x="3416" y="760"/>
            <a:chExt cx="1232" cy="144"/>
          </a:xfrm>
        </p:grpSpPr>
        <p:sp>
          <p:nvSpPr>
            <p:cNvPr id="109653" name="Line 86"/>
            <p:cNvSpPr/>
            <p:nvPr/>
          </p:nvSpPr>
          <p:spPr>
            <a:xfrm>
              <a:off x="3544" y="832"/>
              <a:ext cx="1104" cy="0"/>
            </a:xfrm>
            <a:prstGeom prst="line">
              <a:avLst/>
            </a:prstGeom>
            <a:ln w="38100" cap="flat" cmpd="sng">
              <a:solidFill>
                <a:schemeClr val="hlink"/>
              </a:solidFill>
              <a:prstDash val="solid"/>
              <a:round/>
              <a:headEnd type="none" w="med" len="med"/>
              <a:tailEnd type="none" w="med" len="med"/>
            </a:ln>
          </p:spPr>
        </p:sp>
        <p:sp>
          <p:nvSpPr>
            <p:cNvPr id="109654" name="Line 87"/>
            <p:cNvSpPr/>
            <p:nvPr/>
          </p:nvSpPr>
          <p:spPr>
            <a:xfrm>
              <a:off x="3416" y="760"/>
              <a:ext cx="128" cy="80"/>
            </a:xfrm>
            <a:prstGeom prst="line">
              <a:avLst/>
            </a:prstGeom>
            <a:ln w="38100" cap="flat" cmpd="sng">
              <a:solidFill>
                <a:schemeClr val="hlink"/>
              </a:solidFill>
              <a:prstDash val="solid"/>
              <a:round/>
              <a:headEnd type="none" w="med" len="med"/>
              <a:tailEnd type="none" w="med" len="med"/>
            </a:ln>
          </p:spPr>
        </p:sp>
        <p:sp>
          <p:nvSpPr>
            <p:cNvPr id="109655" name="Line 88"/>
            <p:cNvSpPr/>
            <p:nvPr/>
          </p:nvSpPr>
          <p:spPr>
            <a:xfrm flipH="1">
              <a:off x="3432" y="832"/>
              <a:ext cx="104" cy="72"/>
            </a:xfrm>
            <a:prstGeom prst="line">
              <a:avLst/>
            </a:prstGeom>
            <a:ln w="38100" cap="flat" cmpd="sng">
              <a:solidFill>
                <a:schemeClr val="hlink"/>
              </a:solidFill>
              <a:prstDash val="solid"/>
              <a:round/>
              <a:headEnd type="none" w="med" len="med"/>
              <a:tailEnd type="none" w="med" len="med"/>
            </a:ln>
          </p:spPr>
        </p:sp>
      </p:grpSp>
      <p:sp>
        <p:nvSpPr>
          <p:cNvPr id="109656" name="Line 89"/>
          <p:cNvSpPr/>
          <p:nvPr/>
        </p:nvSpPr>
        <p:spPr>
          <a:xfrm flipH="1">
            <a:off x="857250" y="3543300"/>
            <a:ext cx="1892300" cy="12700"/>
          </a:xfrm>
          <a:prstGeom prst="line">
            <a:avLst/>
          </a:prstGeom>
          <a:ln w="38100" cap="flat" cmpd="sng">
            <a:solidFill>
              <a:schemeClr val="hlink"/>
            </a:solidFill>
            <a:prstDash val="solid"/>
            <a:round/>
            <a:headEnd type="none" w="med" len="med"/>
            <a:tailEnd type="triangle" w="med" len="med"/>
          </a:ln>
        </p:spPr>
      </p:sp>
      <p:sp>
        <p:nvSpPr>
          <p:cNvPr id="109657" name="Line 90"/>
          <p:cNvSpPr/>
          <p:nvPr/>
        </p:nvSpPr>
        <p:spPr>
          <a:xfrm flipH="1">
            <a:off x="869950" y="3822700"/>
            <a:ext cx="2044700" cy="12700"/>
          </a:xfrm>
          <a:prstGeom prst="line">
            <a:avLst/>
          </a:prstGeom>
          <a:ln w="38100" cap="flat" cmpd="sng">
            <a:solidFill>
              <a:schemeClr val="hlink"/>
            </a:solidFill>
            <a:prstDash val="solid"/>
            <a:round/>
            <a:headEnd type="none" w="med" len="med"/>
            <a:tailEnd type="triangle" w="med" len="med"/>
          </a:ln>
        </p:spPr>
      </p:sp>
      <p:sp>
        <p:nvSpPr>
          <p:cNvPr id="109658" name="Line 91"/>
          <p:cNvSpPr/>
          <p:nvPr/>
        </p:nvSpPr>
        <p:spPr>
          <a:xfrm flipH="1">
            <a:off x="895350" y="4064000"/>
            <a:ext cx="2171700" cy="0"/>
          </a:xfrm>
          <a:prstGeom prst="line">
            <a:avLst/>
          </a:prstGeom>
          <a:ln w="38100" cap="flat" cmpd="sng">
            <a:solidFill>
              <a:schemeClr val="hlink"/>
            </a:solidFill>
            <a:prstDash val="solid"/>
            <a:round/>
            <a:headEnd type="none" w="med" len="med"/>
            <a:tailEnd type="triangle" w="med" len="med"/>
          </a:ln>
        </p:spPr>
      </p:sp>
      <p:sp>
        <p:nvSpPr>
          <p:cNvPr id="109659" name="Text Box 92"/>
          <p:cNvSpPr txBox="1"/>
          <p:nvPr/>
        </p:nvSpPr>
        <p:spPr>
          <a:xfrm>
            <a:off x="8020050" y="3835400"/>
            <a:ext cx="9779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C0</a:t>
            </a:r>
            <a:endParaRPr lang="en-US" altLang="zh-CN" sz="2000" dirty="0">
              <a:latin typeface="Arial" panose="020B0604020202020204" pitchFamily="34" charset="0"/>
              <a:ea typeface="黑体" panose="02010609060101010101" pitchFamily="49" charset="-122"/>
            </a:endParaRPr>
          </a:p>
        </p:txBody>
      </p:sp>
      <p:sp>
        <p:nvSpPr>
          <p:cNvPr id="109660" name="Text Box 93"/>
          <p:cNvSpPr txBox="1"/>
          <p:nvPr/>
        </p:nvSpPr>
        <p:spPr>
          <a:xfrm>
            <a:off x="349250" y="3175000"/>
            <a:ext cx="7493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G*/N</a:t>
            </a:r>
            <a:endParaRPr lang="en-US" altLang="zh-CN" sz="2000" dirty="0">
              <a:latin typeface="Arial" panose="020B0604020202020204" pitchFamily="34" charset="0"/>
              <a:ea typeface="黑体" panose="02010609060101010101" pitchFamily="49" charset="-122"/>
            </a:endParaRPr>
          </a:p>
        </p:txBody>
      </p:sp>
      <p:sp>
        <p:nvSpPr>
          <p:cNvPr id="109661" name="Text Box 94"/>
          <p:cNvSpPr txBox="1"/>
          <p:nvPr/>
        </p:nvSpPr>
        <p:spPr>
          <a:xfrm>
            <a:off x="311150" y="3517900"/>
            <a:ext cx="7493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P*/O</a:t>
            </a:r>
            <a:endParaRPr lang="en-US" altLang="zh-CN" sz="2000" dirty="0">
              <a:latin typeface="Arial" panose="020B0604020202020204" pitchFamily="34" charset="0"/>
              <a:ea typeface="黑体" panose="02010609060101010101" pitchFamily="49" charset="-122"/>
            </a:endParaRPr>
          </a:p>
        </p:txBody>
      </p:sp>
      <p:sp>
        <p:nvSpPr>
          <p:cNvPr id="109662" name="Text Box 95"/>
          <p:cNvSpPr txBox="1"/>
          <p:nvPr/>
        </p:nvSpPr>
        <p:spPr>
          <a:xfrm>
            <a:off x="142875" y="3895725"/>
            <a:ext cx="923925"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Cn+4</a:t>
            </a:r>
            <a:endParaRPr lang="en-US" altLang="zh-CN" sz="2000" dirty="0">
              <a:latin typeface="Arial" panose="020B0604020202020204" pitchFamily="34" charset="0"/>
              <a:ea typeface="黑体" panose="02010609060101010101" pitchFamily="49" charset="-122"/>
            </a:endParaRPr>
          </a:p>
        </p:txBody>
      </p:sp>
      <p:sp>
        <p:nvSpPr>
          <p:cNvPr id="109663" name="Text Box 96"/>
          <p:cNvSpPr txBox="1"/>
          <p:nvPr/>
        </p:nvSpPr>
        <p:spPr>
          <a:xfrm>
            <a:off x="234950" y="4737100"/>
            <a:ext cx="825500" cy="396875"/>
          </a:xfrm>
          <a:prstGeom prst="rect">
            <a:avLst/>
          </a:prstGeom>
          <a:noFill/>
          <a:ln w="9525">
            <a:noFill/>
          </a:ln>
        </p:spPr>
        <p:txBody>
          <a:bodyPr anchor="t" anchorCtr="0">
            <a:spAutoFit/>
          </a:bodyPr>
          <a:p>
            <a:pPr algn="ctr" eaLnBrk="0" hangingPunct="0">
              <a:spcBef>
                <a:spcPct val="50000"/>
              </a:spcBef>
            </a:pPr>
            <a:r>
              <a:rPr lang="en-US" altLang="zh-CN" sz="2000" dirty="0">
                <a:latin typeface="Arial" panose="020B0604020202020204" pitchFamily="34" charset="0"/>
                <a:ea typeface="黑体" panose="02010609060101010101" pitchFamily="49" charset="-122"/>
              </a:rPr>
              <a:t>QIO3</a:t>
            </a:r>
            <a:endParaRPr lang="en-US" altLang="zh-CN" sz="2000" dirty="0">
              <a:latin typeface="Arial" panose="020B0604020202020204" pitchFamily="34" charset="0"/>
              <a:ea typeface="黑体" panose="02010609060101010101" pitchFamily="49" charset="-122"/>
            </a:endParaRPr>
          </a:p>
        </p:txBody>
      </p:sp>
      <p:sp>
        <p:nvSpPr>
          <p:cNvPr id="109664" name="Line 97"/>
          <p:cNvSpPr/>
          <p:nvPr/>
        </p:nvSpPr>
        <p:spPr>
          <a:xfrm>
            <a:off x="3587750" y="4254500"/>
            <a:ext cx="2247900" cy="0"/>
          </a:xfrm>
          <a:prstGeom prst="line">
            <a:avLst/>
          </a:prstGeom>
          <a:ln w="38100" cap="flat" cmpd="sng">
            <a:solidFill>
              <a:schemeClr val="hlink"/>
            </a:solidFill>
            <a:prstDash val="solid"/>
            <a:round/>
            <a:headEnd type="none" w="med" len="med"/>
            <a:tailEnd type="none" w="med" len="med"/>
          </a:ln>
        </p:spPr>
      </p:sp>
      <p:sp>
        <p:nvSpPr>
          <p:cNvPr id="109665" name="Line 98"/>
          <p:cNvSpPr/>
          <p:nvPr/>
        </p:nvSpPr>
        <p:spPr>
          <a:xfrm>
            <a:off x="5810250" y="4254500"/>
            <a:ext cx="0" cy="647700"/>
          </a:xfrm>
          <a:prstGeom prst="line">
            <a:avLst/>
          </a:prstGeom>
          <a:ln w="38100" cap="flat" cmpd="sng">
            <a:solidFill>
              <a:schemeClr val="hlink"/>
            </a:solidFill>
            <a:prstDash val="solid"/>
            <a:round/>
            <a:headEnd type="none" w="med" len="med"/>
            <a:tailEnd type="triangle" w="med" len="med"/>
          </a:ln>
        </p:spPr>
      </p:sp>
      <p:sp>
        <p:nvSpPr>
          <p:cNvPr id="109666" name="Oval 99"/>
          <p:cNvSpPr/>
          <p:nvPr/>
        </p:nvSpPr>
        <p:spPr>
          <a:xfrm>
            <a:off x="3549650" y="4191000"/>
            <a:ext cx="88900" cy="889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67" name="Line 100"/>
          <p:cNvSpPr/>
          <p:nvPr/>
        </p:nvSpPr>
        <p:spPr>
          <a:xfrm>
            <a:off x="6737350" y="4229100"/>
            <a:ext cx="914400" cy="0"/>
          </a:xfrm>
          <a:prstGeom prst="line">
            <a:avLst/>
          </a:prstGeom>
          <a:ln w="38100" cap="flat" cmpd="sng">
            <a:solidFill>
              <a:schemeClr val="hlink"/>
            </a:solidFill>
            <a:prstDash val="solid"/>
            <a:round/>
            <a:headEnd type="none" w="med" len="med"/>
            <a:tailEnd type="none" w="med" len="med"/>
          </a:ln>
        </p:spPr>
      </p:sp>
      <p:sp>
        <p:nvSpPr>
          <p:cNvPr id="109668" name="Line 101"/>
          <p:cNvSpPr/>
          <p:nvPr/>
        </p:nvSpPr>
        <p:spPr>
          <a:xfrm>
            <a:off x="6750050" y="4229100"/>
            <a:ext cx="0" cy="673100"/>
          </a:xfrm>
          <a:prstGeom prst="line">
            <a:avLst/>
          </a:prstGeom>
          <a:ln w="38100" cap="flat" cmpd="sng">
            <a:solidFill>
              <a:schemeClr val="hlink"/>
            </a:solidFill>
            <a:prstDash val="solid"/>
            <a:round/>
            <a:headEnd type="none" w="med" len="med"/>
            <a:tailEnd type="triangle" w="med" len="med"/>
          </a:ln>
        </p:spPr>
      </p:sp>
      <p:sp>
        <p:nvSpPr>
          <p:cNvPr id="109669" name="Oval 102"/>
          <p:cNvSpPr/>
          <p:nvPr/>
        </p:nvSpPr>
        <p:spPr>
          <a:xfrm>
            <a:off x="3538538" y="5259388"/>
            <a:ext cx="88900" cy="889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70" name="Oval 103"/>
          <p:cNvSpPr/>
          <p:nvPr/>
        </p:nvSpPr>
        <p:spPr>
          <a:xfrm>
            <a:off x="2801938" y="5259388"/>
            <a:ext cx="88900" cy="889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71" name="Oval 104"/>
          <p:cNvSpPr/>
          <p:nvPr/>
        </p:nvSpPr>
        <p:spPr>
          <a:xfrm>
            <a:off x="7602538" y="4179888"/>
            <a:ext cx="88900" cy="8890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109672" name="Rectangle 105"/>
          <p:cNvSpPr>
            <a:spLocks noGrp="1"/>
          </p:cNvSpPr>
          <p:nvPr>
            <p:ph type="title"/>
          </p:nvPr>
        </p:nvSpPr>
        <p:spPr>
          <a:xfrm>
            <a:off x="619125" y="190500"/>
            <a:ext cx="7597775" cy="474663"/>
          </a:xfrm>
          <a:ln/>
        </p:spPr>
        <p:txBody>
          <a:bodyPr vert="horz" wrap="square" lIns="63500" tIns="25400" rIns="63500" bIns="25400" anchor="t" anchorCtr="0">
            <a:spAutoFit/>
          </a:bodyPr>
          <a:p>
            <a:r>
              <a:rPr lang="zh-CN" altLang="en-US" dirty="0">
                <a:ea typeface="宋体" panose="02010600030101010101" pitchFamily="2" charset="-122"/>
              </a:rPr>
              <a:t>定点运算器芯片举例</a:t>
            </a:r>
            <a:r>
              <a:rPr lang="en-US" altLang="zh-CN" dirty="0">
                <a:ea typeface="宋体" panose="02010600030101010101" pitchFamily="2" charset="-122"/>
              </a:rPr>
              <a:t>-AM2901A</a:t>
            </a:r>
            <a:r>
              <a:rPr lang="zh-CN" altLang="en-US" dirty="0">
                <a:ea typeface="宋体" panose="02010600030101010101" pitchFamily="2" charset="-122"/>
              </a:rPr>
              <a:t>芯片框图</a:t>
            </a:r>
            <a:endParaRPr lang="zh-CN" altLang="en-US" dirty="0">
              <a:ea typeface="宋体" panose="02010600030101010101" pitchFamily="2" charset="-122"/>
            </a:endParaRPr>
          </a:p>
        </p:txBody>
      </p:sp>
      <p:sp>
        <p:nvSpPr>
          <p:cNvPr id="471146" name="Text Box 106"/>
          <p:cNvSpPr txBox="1"/>
          <p:nvPr/>
        </p:nvSpPr>
        <p:spPr>
          <a:xfrm>
            <a:off x="3989388" y="6346825"/>
            <a:ext cx="4962525" cy="396875"/>
          </a:xfrm>
          <a:prstGeom prst="rect">
            <a:avLst/>
          </a:prstGeom>
          <a:solidFill>
            <a:schemeClr val="bg1"/>
          </a:solidFill>
          <a:ln w="12700">
            <a:noFill/>
          </a:ln>
        </p:spPr>
        <p:txBody>
          <a:bodyPr anchor="t" anchorCtr="0">
            <a:spAutoFit/>
          </a:bodyPr>
          <a:p>
            <a:pPr eaLnBrk="0" hangingPunct="0">
              <a:spcBef>
                <a:spcPct val="50000"/>
              </a:spcBef>
            </a:pPr>
            <a:r>
              <a:rPr lang="zh-CN" altLang="en-US" sz="2000" dirty="0">
                <a:solidFill>
                  <a:srgbClr val="FF0066"/>
                </a:solidFill>
                <a:latin typeface="Times New Roman" panose="02020603050405020304" pitchFamily="18" charset="0"/>
                <a:ea typeface="黑体" panose="02010609060101010101" pitchFamily="49" charset="-122"/>
              </a:rPr>
              <a:t>问题：如何级联？两个移位器如何连接？</a:t>
            </a:r>
            <a:endParaRPr lang="zh-CN" altLang="en-US" sz="2000" dirty="0">
              <a:solidFill>
                <a:srgbClr val="FF0066"/>
              </a:solidFill>
              <a:latin typeface="Times New Roman" panose="02020603050405020304" pitchFamily="18" charset="0"/>
              <a:ea typeface="黑体" panose="02010609060101010101" pitchFamily="49" charset="-122"/>
            </a:endParaRPr>
          </a:p>
        </p:txBody>
      </p:sp>
      <p:grpSp>
        <p:nvGrpSpPr>
          <p:cNvPr id="83055" name="Group 111"/>
          <p:cNvGrpSpPr/>
          <p:nvPr/>
        </p:nvGrpSpPr>
        <p:grpSpPr>
          <a:xfrm>
            <a:off x="4848225" y="1400175"/>
            <a:ext cx="3800475" cy="854075"/>
            <a:chOff x="3054" y="882"/>
            <a:chExt cx="2394" cy="538"/>
          </a:xfrm>
        </p:grpSpPr>
        <p:sp>
          <p:nvSpPr>
            <p:cNvPr id="109675" name="Text Box 107"/>
            <p:cNvSpPr txBox="1"/>
            <p:nvPr/>
          </p:nvSpPr>
          <p:spPr>
            <a:xfrm>
              <a:off x="3504" y="978"/>
              <a:ext cx="1944" cy="442"/>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Arial" panose="020B0604020202020204" pitchFamily="34" charset="0"/>
                  <a:ea typeface="黑体" panose="02010609060101010101" pitchFamily="49" charset="-122"/>
                </a:rPr>
                <a:t>通用寄存器组（</a:t>
              </a:r>
              <a:r>
                <a:rPr lang="en-US" altLang="zh-CN" sz="2000" dirty="0">
                  <a:solidFill>
                    <a:srgbClr val="FF0066"/>
                  </a:solidFill>
                  <a:latin typeface="Arial" panose="020B0604020202020204" pitchFamily="34" charset="0"/>
                  <a:ea typeface="黑体" panose="02010609060101010101" pitchFamily="49" charset="-122"/>
                </a:rPr>
                <a:t>General Register Set----GRS</a:t>
              </a:r>
              <a:r>
                <a:rPr lang="zh-CN" altLang="en-US" sz="2000" dirty="0">
                  <a:solidFill>
                    <a:srgbClr val="FF0066"/>
                  </a:solidFill>
                  <a:latin typeface="Arial" panose="020B0604020202020204" pitchFamily="34" charset="0"/>
                  <a:ea typeface="黑体" panose="02010609060101010101" pitchFamily="49" charset="-122"/>
                </a:rPr>
                <a:t>）</a:t>
              </a:r>
              <a:endParaRPr lang="zh-CN" altLang="en-US" sz="2000" dirty="0">
                <a:solidFill>
                  <a:srgbClr val="FF0066"/>
                </a:solidFill>
                <a:latin typeface="Arial" panose="020B0604020202020204" pitchFamily="34" charset="0"/>
                <a:ea typeface="黑体" panose="02010609060101010101" pitchFamily="49" charset="-122"/>
              </a:endParaRPr>
            </a:p>
          </p:txBody>
        </p:sp>
        <p:sp>
          <p:nvSpPr>
            <p:cNvPr id="109676" name="Line 108"/>
            <p:cNvSpPr/>
            <p:nvPr/>
          </p:nvSpPr>
          <p:spPr>
            <a:xfrm flipH="1" flipV="1">
              <a:off x="3054" y="882"/>
              <a:ext cx="444" cy="210"/>
            </a:xfrm>
            <a:prstGeom prst="line">
              <a:avLst/>
            </a:prstGeom>
            <a:ln w="28575" cap="flat" cmpd="sng">
              <a:solidFill>
                <a:srgbClr val="CC3300"/>
              </a:solidFill>
              <a:prstDash val="solid"/>
              <a:round/>
              <a:headEnd type="none" w="med" len="med"/>
              <a:tailEnd type="triangle" w="med" len="med"/>
            </a:ln>
          </p:spPr>
        </p:sp>
      </p:grpSp>
      <p:sp>
        <p:nvSpPr>
          <p:cNvPr id="471150" name="Rectangle 110"/>
          <p:cNvSpPr/>
          <p:nvPr/>
        </p:nvSpPr>
        <p:spPr>
          <a:xfrm>
            <a:off x="5392738" y="195263"/>
            <a:ext cx="3684587" cy="762000"/>
          </a:xfrm>
          <a:prstGeom prst="rect">
            <a:avLst/>
          </a:prstGeom>
          <a:solidFill>
            <a:srgbClr val="CCFFFF"/>
          </a:solidFill>
          <a:ln w="12700">
            <a:noFill/>
          </a:ln>
        </p:spPr>
        <p:txBody>
          <a:bodyPr lIns="378000" anchor="t" anchorCtr="0">
            <a:spAutoFit/>
          </a:bodyPr>
          <a:p>
            <a:pPr eaLnBrk="0" hangingPunct="0"/>
            <a:r>
              <a:rPr lang="zh-CN" altLang="en-US" sz="2200" dirty="0">
                <a:latin typeface="Arial" panose="020B0604020202020204" pitchFamily="34" charset="0"/>
                <a:ea typeface="黑体" panose="02010609060101010101" pitchFamily="49" charset="-122"/>
              </a:rPr>
              <a:t>问题：如何用</a:t>
            </a:r>
            <a:r>
              <a:rPr lang="en-US" altLang="zh-CN" sz="2200" dirty="0">
                <a:latin typeface="Arial" panose="020B0604020202020204" pitchFamily="34" charset="0"/>
                <a:ea typeface="黑体" panose="02010609060101010101" pitchFamily="49" charset="-122"/>
              </a:rPr>
              <a:t>AM2901A</a:t>
            </a:r>
            <a:r>
              <a:rPr lang="zh-CN" altLang="en-US" sz="2200" dirty="0">
                <a:latin typeface="Arial" panose="020B0604020202020204" pitchFamily="34" charset="0"/>
                <a:ea typeface="黑体" panose="02010609060101010101" pitchFamily="49" charset="-122"/>
              </a:rPr>
              <a:t>芯片实现乘</a:t>
            </a:r>
            <a:r>
              <a:rPr lang="en-US" altLang="zh-CN" sz="2200" dirty="0">
                <a:latin typeface="Arial" panose="020B0604020202020204" pitchFamily="34" charset="0"/>
                <a:ea typeface="黑体" panose="02010609060101010101" pitchFamily="49" charset="-122"/>
              </a:rPr>
              <a:t>/</a:t>
            </a:r>
            <a:r>
              <a:rPr lang="zh-CN" altLang="en-US" sz="2200" dirty="0">
                <a:latin typeface="Arial" panose="020B0604020202020204" pitchFamily="34" charset="0"/>
                <a:ea typeface="黑体" panose="02010609060101010101" pitchFamily="49" charset="-122"/>
              </a:rPr>
              <a:t>除运算？</a:t>
            </a:r>
            <a:endParaRPr lang="zh-CN" altLang="en-US" sz="2200" dirty="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3055"/>
                                        </p:tgtEl>
                                        <p:attrNameLst>
                                          <p:attrName>style.visibility</p:attrName>
                                        </p:attrNameLst>
                                      </p:cBhvr>
                                      <p:to>
                                        <p:strVal val="visible"/>
                                      </p:to>
                                    </p:set>
                                    <p:animEffect transition="in" filter="blinds(horizontal)">
                                      <p:cBhvr>
                                        <p:cTn id="7" dur="500"/>
                                        <p:tgtEl>
                                          <p:spTgt spid="8305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1146">
                                            <p:txEl>
                                              <p:charRg st="0" end="19"/>
                                            </p:txEl>
                                          </p:spTgt>
                                        </p:tgtEl>
                                        <p:attrNameLst>
                                          <p:attrName>style.visibility</p:attrName>
                                        </p:attrNameLst>
                                      </p:cBhvr>
                                      <p:to>
                                        <p:strVal val="visible"/>
                                      </p:to>
                                    </p:set>
                                    <p:animEffect transition="in" filter="blinds(horizontal)">
                                      <p:cBhvr>
                                        <p:cTn id="12" dur="500"/>
                                        <p:tgtEl>
                                          <p:spTgt spid="471146">
                                            <p:txEl>
                                              <p:charRg st="0"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1150"/>
                                        </p:tgtEl>
                                        <p:attrNameLst>
                                          <p:attrName>style.visibility</p:attrName>
                                        </p:attrNameLst>
                                      </p:cBhvr>
                                      <p:to>
                                        <p:strVal val="visible"/>
                                      </p:to>
                                    </p:set>
                                    <p:animEffect transition="in" filter="blinds(horizontal)">
                                      <p:cBhvr>
                                        <p:cTn id="17" dur="500"/>
                                        <p:tgtEl>
                                          <p:spTgt spid="471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5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type="title"/>
          </p:nvPr>
        </p:nvSpPr>
        <p:spPr>
          <a:xfrm>
            <a:off x="800100" y="190500"/>
            <a:ext cx="7321550" cy="474663"/>
          </a:xfrm>
          <a:ln/>
        </p:spPr>
        <p:txBody>
          <a:bodyPr vert="horz" wrap="square" lIns="63500" tIns="25400" rIns="63500" bIns="25400" anchor="t" anchorCtr="0">
            <a:spAutoFit/>
          </a:bodyPr>
          <a:p>
            <a:r>
              <a:rPr lang="en-US" altLang="zh-CN" dirty="0">
                <a:ea typeface="宋体" panose="02010600030101010101" pitchFamily="2" charset="-122"/>
              </a:rPr>
              <a:t>AM2901A</a:t>
            </a:r>
            <a:r>
              <a:rPr lang="zh-CN" altLang="en-US" dirty="0">
                <a:ea typeface="宋体" panose="02010600030101010101" pitchFamily="2" charset="-122"/>
              </a:rPr>
              <a:t>的功能和结构</a:t>
            </a:r>
            <a:endParaRPr lang="zh-CN" altLang="en-US" dirty="0">
              <a:ea typeface="宋体" panose="02010600030101010101" pitchFamily="2" charset="-122"/>
            </a:endParaRPr>
          </a:p>
        </p:txBody>
      </p:sp>
      <p:sp>
        <p:nvSpPr>
          <p:cNvPr id="111618" name="Rectangle 3"/>
          <p:cNvSpPr>
            <a:spLocks noGrp="1"/>
          </p:cNvSpPr>
          <p:nvPr>
            <p:ph idx="1"/>
          </p:nvPr>
        </p:nvSpPr>
        <p:spPr>
          <a:xfrm>
            <a:off x="339725" y="803275"/>
            <a:ext cx="8610600" cy="6034088"/>
          </a:xfrm>
          <a:ln/>
        </p:spPr>
        <p:txBody>
          <a:bodyPr vert="horz" wrap="square" lIns="63500" tIns="25400" rIns="63500" bIns="25400" anchor="t" anchorCtr="0">
            <a:spAutoFit/>
          </a:bodyPr>
          <a:p>
            <a:pPr marL="381000" indent="-381000">
              <a:lnSpc>
                <a:spcPct val="120000"/>
              </a:lnSpc>
              <a:spcBef>
                <a:spcPct val="10000"/>
              </a:spcBef>
            </a:pPr>
            <a:r>
              <a:rPr lang="zh-CN" altLang="en-US" sz="1800" dirty="0">
                <a:latin typeface="微软雅黑" panose="020B0503020204020204" pitchFamily="34" charset="-122"/>
                <a:ea typeface="微软雅黑" panose="020B0503020204020204" pitchFamily="34" charset="-122"/>
              </a:rPr>
              <a:t>核心是</a:t>
            </a:r>
            <a:r>
              <a:rPr lang="en-US" altLang="zh-CN" sz="1800" dirty="0">
                <a:latin typeface="微软雅黑" panose="020B0503020204020204" pitchFamily="34" charset="-122"/>
                <a:ea typeface="微软雅黑" panose="020B0503020204020204" pitchFamily="34" charset="-122"/>
              </a:rPr>
              <a:t>ALU(</a:t>
            </a:r>
            <a:r>
              <a:rPr lang="zh-CN" altLang="en-US" sz="1800" dirty="0">
                <a:latin typeface="微软雅黑" panose="020B0503020204020204" pitchFamily="34" charset="-122"/>
                <a:ea typeface="微软雅黑" panose="020B0503020204020204" pitchFamily="34" charset="-122"/>
              </a:rPr>
              <a:t>含移位器</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，可实现</a:t>
            </a:r>
            <a:r>
              <a:rPr lang="en-US" altLang="zh-CN" sz="1800" dirty="0">
                <a:latin typeface="微软雅黑" panose="020B0503020204020204" pitchFamily="34" charset="-122"/>
                <a:ea typeface="微软雅黑" panose="020B0503020204020204" pitchFamily="34" charset="-122"/>
              </a:rPr>
              <a:t>A+B</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A</a:t>
            </a:r>
            <a:r>
              <a:rPr lang="pt-BR"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B</a:t>
            </a:r>
            <a:r>
              <a:rPr lang="pt-BR"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rPr>
              <a:t>和与、或、异或等</a:t>
            </a:r>
            <a:endParaRPr lang="zh-CN" altLang="en-US" sz="1800" dirty="0">
              <a:latin typeface="微软雅黑" panose="020B0503020204020204" pitchFamily="34" charset="-122"/>
              <a:ea typeface="微软雅黑" panose="020B0503020204020204" pitchFamily="34" charset="-122"/>
            </a:endParaRPr>
          </a:p>
          <a:p>
            <a:pPr marL="838200" lvl="1" indent="-342900">
              <a:lnSpc>
                <a:spcPct val="120000"/>
              </a:lnSpc>
              <a:spcBef>
                <a:spcPct val="10000"/>
              </a:spcBef>
            </a:pPr>
            <a:r>
              <a:rPr lang="zh-CN" altLang="en-US" sz="1800" dirty="0">
                <a:latin typeface="微软雅黑" panose="020B0503020204020204" pitchFamily="34" charset="-122"/>
                <a:ea typeface="微软雅黑" panose="020B0503020204020204" pitchFamily="34" charset="-122"/>
              </a:rPr>
              <a:t>进位入</a:t>
            </a:r>
            <a:r>
              <a:rPr lang="en-US" altLang="zh-CN" sz="1800" dirty="0">
                <a:latin typeface="微软雅黑" panose="020B0503020204020204" pitchFamily="34" charset="-122"/>
                <a:ea typeface="微软雅黑" panose="020B0503020204020204" pitchFamily="34" charset="-122"/>
              </a:rPr>
              <a:t>C0</a:t>
            </a:r>
            <a:r>
              <a:rPr lang="zh-CN" altLang="en-US" sz="1800" dirty="0">
                <a:latin typeface="微软雅黑" panose="020B0503020204020204" pitchFamily="34" charset="-122"/>
                <a:ea typeface="微软雅黑" panose="020B0503020204020204" pitchFamily="34" charset="-122"/>
              </a:rPr>
              <a:t>、进位出</a:t>
            </a:r>
            <a:r>
              <a:rPr lang="en-US" altLang="zh-CN" sz="1800" dirty="0">
                <a:latin typeface="微软雅黑" panose="020B0503020204020204" pitchFamily="34" charset="-122"/>
                <a:ea typeface="微软雅黑" panose="020B0503020204020204" pitchFamily="34" charset="-122"/>
              </a:rPr>
              <a:t>Cn+4</a:t>
            </a:r>
            <a:r>
              <a:rPr lang="zh-CN" altLang="en-US" sz="1800" dirty="0">
                <a:latin typeface="微软雅黑" panose="020B0503020204020204" pitchFamily="34" charset="-122"/>
                <a:ea typeface="微软雅黑" panose="020B0503020204020204" pitchFamily="34" charset="-122"/>
              </a:rPr>
              <a:t>、组进位传递</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溢出</a:t>
            </a:r>
            <a:r>
              <a:rPr lang="en-US" altLang="zh-CN" sz="1800" dirty="0">
                <a:latin typeface="微软雅黑" panose="020B0503020204020204" pitchFamily="34" charset="-122"/>
                <a:ea typeface="微软雅黑" panose="020B0503020204020204" pitchFamily="34" charset="-122"/>
              </a:rPr>
              <a:t>P*/O</a:t>
            </a:r>
            <a:r>
              <a:rPr lang="zh-CN" altLang="en-US" sz="1800" dirty="0">
                <a:latin typeface="微软雅黑" panose="020B0503020204020204" pitchFamily="34" charset="-122"/>
                <a:ea typeface="微软雅黑" panose="020B0503020204020204" pitchFamily="34" charset="-122"/>
              </a:rPr>
              <a:t>、组进位生成</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符号</a:t>
            </a:r>
            <a:r>
              <a:rPr lang="en-US" altLang="zh-CN" sz="1800" dirty="0">
                <a:latin typeface="微软雅黑" panose="020B0503020204020204" pitchFamily="34" charset="-122"/>
                <a:ea typeface="微软雅黑" panose="020B0503020204020204" pitchFamily="34" charset="-122"/>
              </a:rPr>
              <a:t>G*/N</a:t>
            </a:r>
            <a:endParaRPr lang="en-US" altLang="zh-CN" sz="1800" dirty="0">
              <a:latin typeface="微软雅黑" panose="020B0503020204020204" pitchFamily="34" charset="-122"/>
              <a:ea typeface="微软雅黑" panose="020B0503020204020204" pitchFamily="34" charset="-122"/>
            </a:endParaRPr>
          </a:p>
          <a:p>
            <a:pPr lvl="2">
              <a:lnSpc>
                <a:spcPct val="120000"/>
              </a:lnSpc>
              <a:spcBef>
                <a:spcPct val="10000"/>
              </a:spcBef>
            </a:pPr>
            <a:r>
              <a:rPr lang="zh-CN" altLang="en-US" dirty="0">
                <a:solidFill>
                  <a:srgbClr val="009900"/>
                </a:solidFill>
                <a:latin typeface="微软雅黑" panose="020B0503020204020204" pitchFamily="34" charset="-122"/>
                <a:ea typeface="微软雅黑" panose="020B0503020204020204" pitchFamily="34" charset="-122"/>
              </a:rPr>
              <a:t>串行级联时，</a:t>
            </a:r>
            <a:r>
              <a:rPr lang="en-US" altLang="zh-CN" dirty="0">
                <a:solidFill>
                  <a:srgbClr val="009900"/>
                </a:solidFill>
                <a:latin typeface="微软雅黑" panose="020B0503020204020204" pitchFamily="34" charset="-122"/>
                <a:ea typeface="微软雅黑" panose="020B0503020204020204" pitchFamily="34" charset="-122"/>
              </a:rPr>
              <a:t>C0</a:t>
            </a:r>
            <a:r>
              <a:rPr lang="zh-CN" altLang="en-US" dirty="0">
                <a:solidFill>
                  <a:srgbClr val="009900"/>
                </a:solidFill>
                <a:latin typeface="微软雅黑" panose="020B0503020204020204" pitchFamily="34" charset="-122"/>
                <a:ea typeface="微软雅黑" panose="020B0503020204020204" pitchFamily="34" charset="-122"/>
              </a:rPr>
              <a:t>和</a:t>
            </a:r>
            <a:r>
              <a:rPr lang="en-US" altLang="zh-CN" dirty="0">
                <a:solidFill>
                  <a:srgbClr val="009900"/>
                </a:solidFill>
                <a:latin typeface="微软雅黑" panose="020B0503020204020204" pitchFamily="34" charset="-122"/>
                <a:ea typeface="微软雅黑" panose="020B0503020204020204" pitchFamily="34" charset="-122"/>
              </a:rPr>
              <a:t>Cn+4</a:t>
            </a:r>
            <a:r>
              <a:rPr lang="zh-CN" altLang="en-US" dirty="0">
                <a:solidFill>
                  <a:srgbClr val="009900"/>
                </a:solidFill>
                <a:latin typeface="微软雅黑" panose="020B0503020204020204" pitchFamily="34" charset="-122"/>
                <a:ea typeface="微软雅黑" panose="020B0503020204020204" pitchFamily="34" charset="-122"/>
              </a:rPr>
              <a:t>用来串行进位传递</a:t>
            </a:r>
            <a:endParaRPr lang="zh-CN" altLang="en-US" dirty="0">
              <a:solidFill>
                <a:srgbClr val="009900"/>
              </a:solidFill>
              <a:latin typeface="微软雅黑" panose="020B0503020204020204" pitchFamily="34" charset="-122"/>
              <a:ea typeface="微软雅黑" panose="020B0503020204020204" pitchFamily="34" charset="-122"/>
            </a:endParaRPr>
          </a:p>
          <a:p>
            <a:pPr lvl="2">
              <a:lnSpc>
                <a:spcPct val="120000"/>
              </a:lnSpc>
              <a:spcBef>
                <a:spcPct val="10000"/>
              </a:spcBef>
            </a:pPr>
            <a:r>
              <a:rPr lang="zh-CN" altLang="en-US" dirty="0">
                <a:solidFill>
                  <a:srgbClr val="009900"/>
                </a:solidFill>
                <a:latin typeface="微软雅黑" panose="020B0503020204020204" pitchFamily="34" charset="-122"/>
                <a:ea typeface="微软雅黑" panose="020B0503020204020204" pitchFamily="34" charset="-122"/>
              </a:rPr>
              <a:t>多级级联时，后两个信号用作组进位传递信号</a:t>
            </a:r>
            <a:r>
              <a:rPr lang="en-US" altLang="zh-CN" dirty="0">
                <a:solidFill>
                  <a:srgbClr val="009900"/>
                </a:solidFill>
                <a:latin typeface="微软雅黑" panose="020B0503020204020204" pitchFamily="34" charset="-122"/>
                <a:ea typeface="微软雅黑" panose="020B0503020204020204" pitchFamily="34" charset="-122"/>
              </a:rPr>
              <a:t>P*</a:t>
            </a:r>
            <a:r>
              <a:rPr lang="zh-CN" altLang="en-US" dirty="0">
                <a:solidFill>
                  <a:srgbClr val="009900"/>
                </a:solidFill>
                <a:latin typeface="微软雅黑" panose="020B0503020204020204" pitchFamily="34" charset="-122"/>
                <a:ea typeface="微软雅黑" panose="020B0503020204020204" pitchFamily="34" charset="-122"/>
              </a:rPr>
              <a:t>和组进位生成信号</a:t>
            </a:r>
            <a:r>
              <a:rPr lang="en-US" altLang="zh-CN" dirty="0">
                <a:solidFill>
                  <a:srgbClr val="009900"/>
                </a:solidFill>
                <a:latin typeface="微软雅黑" panose="020B0503020204020204" pitchFamily="34" charset="-122"/>
                <a:ea typeface="微软雅黑" panose="020B0503020204020204" pitchFamily="34" charset="-122"/>
              </a:rPr>
              <a:t>G*</a:t>
            </a:r>
            <a:endParaRPr lang="en-US" altLang="zh-CN" dirty="0">
              <a:solidFill>
                <a:srgbClr val="009900"/>
              </a:solidFill>
              <a:latin typeface="微软雅黑" panose="020B0503020204020204" pitchFamily="34" charset="-122"/>
              <a:ea typeface="微软雅黑" panose="020B0503020204020204" pitchFamily="34" charset="-122"/>
            </a:endParaRPr>
          </a:p>
          <a:p>
            <a:pPr marL="838200" lvl="1" indent="-342900">
              <a:lnSpc>
                <a:spcPct val="120000"/>
              </a:lnSpc>
              <a:spcBef>
                <a:spcPct val="10000"/>
              </a:spcBef>
            </a:pPr>
            <a:r>
              <a:rPr lang="en-US" altLang="zh-CN" sz="1800" dirty="0">
                <a:solidFill>
                  <a:schemeClr val="accent2"/>
                </a:solidFill>
                <a:latin typeface="微软雅黑" panose="020B0503020204020204" pitchFamily="34" charset="-122"/>
                <a:ea typeface="微软雅黑" panose="020B0503020204020204" pitchFamily="34" charset="-122"/>
              </a:rPr>
              <a:t>ALU</a:t>
            </a:r>
            <a:r>
              <a:rPr lang="zh-CN" altLang="en-US" sz="1800" dirty="0">
                <a:solidFill>
                  <a:schemeClr val="accent2"/>
                </a:solidFill>
                <a:latin typeface="微软雅黑" panose="020B0503020204020204" pitchFamily="34" charset="-122"/>
                <a:ea typeface="微软雅黑" panose="020B0503020204020204" pitchFamily="34" charset="-122"/>
              </a:rPr>
              <a:t>的操作数来自主存或寄存器，</a:t>
            </a:r>
            <a:r>
              <a:rPr lang="en-US" altLang="zh-CN" sz="1800" dirty="0">
                <a:solidFill>
                  <a:schemeClr val="accent2"/>
                </a:solidFill>
                <a:latin typeface="微软雅黑" panose="020B0503020204020204" pitchFamily="34" charset="-122"/>
                <a:ea typeface="微软雅黑" panose="020B0503020204020204" pitchFamily="34" charset="-122"/>
              </a:rPr>
              <a:t>B</a:t>
            </a:r>
            <a:r>
              <a:rPr lang="zh-CN" altLang="en-US" sz="1800" dirty="0">
                <a:solidFill>
                  <a:schemeClr val="accent2"/>
                </a:solidFill>
                <a:latin typeface="微软雅黑" panose="020B0503020204020204" pitchFamily="34" charset="-122"/>
                <a:ea typeface="微软雅黑" panose="020B0503020204020204" pitchFamily="34" charset="-122"/>
              </a:rPr>
              <a:t>输入端还可以是</a:t>
            </a:r>
            <a:r>
              <a:rPr lang="en-US" altLang="zh-CN" sz="1800" dirty="0">
                <a:solidFill>
                  <a:schemeClr val="accent2"/>
                </a:solidFill>
                <a:latin typeface="微软雅黑" panose="020B0503020204020204" pitchFamily="34" charset="-122"/>
                <a:ea typeface="微软雅黑" panose="020B0503020204020204" pitchFamily="34" charset="-122"/>
              </a:rPr>
              <a:t>Q</a:t>
            </a:r>
            <a:r>
              <a:rPr lang="zh-CN" altLang="en-US" sz="1800" dirty="0">
                <a:solidFill>
                  <a:schemeClr val="accent2"/>
                </a:solidFill>
                <a:latin typeface="微软雅黑" panose="020B0503020204020204" pitchFamily="34" charset="-122"/>
                <a:ea typeface="微软雅黑" panose="020B0503020204020204" pitchFamily="34" charset="-122"/>
              </a:rPr>
              <a:t>寄存器</a:t>
            </a:r>
            <a:endParaRPr lang="zh-CN" altLang="en-US" sz="1800" dirty="0">
              <a:solidFill>
                <a:schemeClr val="accent2"/>
              </a:solidFill>
              <a:latin typeface="微软雅黑" panose="020B0503020204020204" pitchFamily="34" charset="-122"/>
              <a:ea typeface="微软雅黑" panose="020B0503020204020204" pitchFamily="34" charset="-122"/>
            </a:endParaRPr>
          </a:p>
          <a:p>
            <a:pPr marL="381000" indent="-381000">
              <a:lnSpc>
                <a:spcPct val="120000"/>
              </a:lnSpc>
              <a:spcBef>
                <a:spcPct val="10000"/>
              </a:spcBef>
            </a:pPr>
            <a:r>
              <a:rPr lang="en-US" altLang="zh-CN" sz="1800" dirty="0">
                <a:latin typeface="微软雅黑" panose="020B0503020204020204" pitchFamily="34" charset="-122"/>
                <a:ea typeface="微软雅黑" panose="020B0503020204020204" pitchFamily="34" charset="-122"/>
              </a:rPr>
              <a:t>4</a:t>
            </a:r>
            <a:r>
              <a:rPr lang="zh-CN" altLang="en-US" sz="1800" dirty="0">
                <a:latin typeface="微软雅黑" panose="020B0503020204020204" pitchFamily="34" charset="-122"/>
                <a:ea typeface="微软雅黑" panose="020B0503020204020204" pitchFamily="34" charset="-122"/>
              </a:rPr>
              <a:t>位双口</a:t>
            </a:r>
            <a:r>
              <a:rPr lang="en-US" altLang="zh-CN" sz="1800" dirty="0">
                <a:latin typeface="微软雅黑" panose="020B0503020204020204" pitchFamily="34" charset="-122"/>
                <a:ea typeface="微软雅黑" panose="020B0503020204020204" pitchFamily="34" charset="-122"/>
              </a:rPr>
              <a:t>GRS(16</a:t>
            </a:r>
            <a:r>
              <a:rPr lang="zh-CN" altLang="en-US" sz="1800" dirty="0">
                <a:latin typeface="微软雅黑" panose="020B0503020204020204" pitchFamily="34" charset="-122"/>
                <a:ea typeface="微软雅黑" panose="020B0503020204020204" pitchFamily="34" charset="-122"/>
              </a:rPr>
              <a:t>个</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，一个写入口、两个读口</a:t>
            </a:r>
            <a:r>
              <a:rPr lang="en-US" altLang="zh-CN" sz="1800" dirty="0">
                <a:latin typeface="微软雅黑" panose="020B0503020204020204" pitchFamily="34" charset="-122"/>
                <a:ea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B</a:t>
            </a:r>
            <a:endParaRPr lang="en-US" altLang="zh-CN" sz="1800" dirty="0">
              <a:latin typeface="微软雅黑" panose="020B0503020204020204" pitchFamily="34" charset="-122"/>
              <a:ea typeface="微软雅黑" panose="020B0503020204020204" pitchFamily="34" charset="-122"/>
            </a:endParaRPr>
          </a:p>
          <a:p>
            <a:pPr marL="838200" lvl="1" indent="-342900">
              <a:lnSpc>
                <a:spcPct val="120000"/>
              </a:lnSpc>
              <a:spcBef>
                <a:spcPct val="10000"/>
              </a:spcBef>
            </a:pPr>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0</a:t>
            </a:r>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rPr>
              <a:t>为读口</a:t>
            </a:r>
            <a:r>
              <a:rPr lang="en-US" altLang="zh-CN" sz="1800" dirty="0">
                <a:latin typeface="微软雅黑" panose="020B0503020204020204" pitchFamily="34" charset="-122"/>
                <a:ea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rPr>
              <a:t>的编号，</a:t>
            </a:r>
            <a:r>
              <a:rPr lang="en-US" altLang="zh-CN" sz="1800" dirty="0">
                <a:latin typeface="微软雅黑" panose="020B0503020204020204" pitchFamily="34" charset="-122"/>
                <a:ea typeface="微软雅黑" panose="020B0503020204020204" pitchFamily="34" charset="-122"/>
              </a:rPr>
              <a:t>B</a:t>
            </a:r>
            <a:r>
              <a:rPr lang="en-US" altLang="zh-CN" sz="1800" baseline="-25000" dirty="0">
                <a:latin typeface="微软雅黑" panose="020B0503020204020204" pitchFamily="34" charset="-122"/>
                <a:ea typeface="微软雅黑" panose="020B0503020204020204" pitchFamily="34" charset="-122"/>
              </a:rPr>
              <a:t>0</a:t>
            </a:r>
            <a:r>
              <a:rPr lang="en-US" altLang="zh-CN" sz="1800" dirty="0">
                <a:latin typeface="微软雅黑" panose="020B0503020204020204" pitchFamily="34" charset="-122"/>
                <a:ea typeface="微软雅黑" panose="020B0503020204020204" pitchFamily="34" charset="-122"/>
              </a:rPr>
              <a:t>–B</a:t>
            </a:r>
            <a:r>
              <a:rPr lang="en-US" altLang="zh-CN" sz="1800" baseline="-25000" dirty="0">
                <a:latin typeface="微软雅黑" panose="020B0503020204020204" pitchFamily="34" charset="-122"/>
                <a:ea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rPr>
              <a:t>为写口或读口</a:t>
            </a:r>
            <a:r>
              <a:rPr lang="en-US" altLang="zh-CN" sz="1800" dirty="0">
                <a:latin typeface="微软雅黑" panose="020B0503020204020204" pitchFamily="34" charset="-122"/>
                <a:ea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rPr>
              <a:t>的编号</a:t>
            </a:r>
            <a:endParaRPr lang="zh-CN" altLang="en-US" sz="1800" dirty="0">
              <a:latin typeface="微软雅黑" panose="020B0503020204020204" pitchFamily="34" charset="-122"/>
              <a:ea typeface="微软雅黑" panose="020B0503020204020204" pitchFamily="34" charset="-122"/>
            </a:endParaRPr>
          </a:p>
          <a:p>
            <a:pPr marL="838200" lvl="1" indent="-342900">
              <a:lnSpc>
                <a:spcPct val="120000"/>
              </a:lnSpc>
              <a:spcBef>
                <a:spcPct val="10000"/>
              </a:spcBef>
            </a:pPr>
            <a:r>
              <a:rPr lang="en-US" altLang="zh-CN" sz="1800" dirty="0">
                <a:latin typeface="微软雅黑" panose="020B0503020204020204" pitchFamily="34" charset="-122"/>
                <a:ea typeface="微软雅黑" panose="020B0503020204020204" pitchFamily="34" charset="-122"/>
              </a:rPr>
              <a:t>A</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B</a:t>
            </a:r>
            <a:r>
              <a:rPr lang="zh-CN" altLang="en-US" sz="1800" dirty="0">
                <a:latin typeface="微软雅黑" panose="020B0503020204020204" pitchFamily="34" charset="-122"/>
                <a:ea typeface="微软雅黑" panose="020B0503020204020204" pitchFamily="34" charset="-122"/>
              </a:rPr>
              <a:t>口可同时读出，分别</a:t>
            </a:r>
            <a:r>
              <a:rPr lang="en-US" altLang="zh-CN" sz="1800" dirty="0">
                <a:latin typeface="微软雅黑" panose="020B0503020204020204" pitchFamily="34" charset="-122"/>
                <a:ea typeface="微软雅黑" panose="020B0503020204020204" pitchFamily="34" charset="-122"/>
              </a:rPr>
              <a:t>LA</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LB</a:t>
            </a:r>
            <a:r>
              <a:rPr lang="zh-CN" altLang="en-US" sz="1800" dirty="0">
                <a:latin typeface="微软雅黑" panose="020B0503020204020204" pitchFamily="34" charset="-122"/>
                <a:ea typeface="微软雅黑" panose="020B0503020204020204" pitchFamily="34" charset="-122"/>
              </a:rPr>
              <a:t>送到多路选择器</a:t>
            </a:r>
            <a:r>
              <a:rPr lang="en-US" altLang="zh-CN" sz="1800" dirty="0">
                <a:latin typeface="微软雅黑" panose="020B0503020204020204" pitchFamily="34" charset="-122"/>
                <a:ea typeface="微软雅黑" panose="020B0503020204020204" pitchFamily="34" charset="-122"/>
              </a:rPr>
              <a:t>MUX</a:t>
            </a:r>
            <a:r>
              <a:rPr lang="zh-CN" altLang="en-US" sz="1800" dirty="0">
                <a:latin typeface="微软雅黑" panose="020B0503020204020204" pitchFamily="34" charset="-122"/>
                <a:ea typeface="微软雅黑" panose="020B0503020204020204" pitchFamily="34" charset="-122"/>
              </a:rPr>
              <a:t>的输入端</a:t>
            </a:r>
            <a:endParaRPr lang="zh-CN" altLang="en-US" sz="1800" dirty="0">
              <a:latin typeface="微软雅黑" panose="020B0503020204020204" pitchFamily="34" charset="-122"/>
              <a:ea typeface="微软雅黑" panose="020B0503020204020204" pitchFamily="34" charset="-122"/>
            </a:endParaRPr>
          </a:p>
          <a:p>
            <a:pPr marL="381000" indent="-381000">
              <a:lnSpc>
                <a:spcPct val="120000"/>
              </a:lnSpc>
              <a:spcBef>
                <a:spcPct val="10000"/>
              </a:spcBef>
            </a:pPr>
            <a:r>
              <a:rPr lang="zh-CN" altLang="en-US" sz="1800" dirty="0">
                <a:latin typeface="微软雅黑" panose="020B0503020204020204" pitchFamily="34" charset="-122"/>
                <a:ea typeface="微软雅黑" panose="020B0503020204020204" pitchFamily="34" charset="-122"/>
              </a:rPr>
              <a:t>一个</a:t>
            </a:r>
            <a:r>
              <a:rPr lang="en-US" altLang="zh-CN" sz="1800" dirty="0">
                <a:latin typeface="微软雅黑" panose="020B0503020204020204" pitchFamily="34" charset="-122"/>
                <a:ea typeface="微软雅黑" panose="020B0503020204020204" pitchFamily="34" charset="-122"/>
              </a:rPr>
              <a:t>Q</a:t>
            </a:r>
            <a:r>
              <a:rPr lang="zh-CN" altLang="en-US" sz="1800" dirty="0">
                <a:latin typeface="微软雅黑" panose="020B0503020204020204" pitchFamily="34" charset="-122"/>
                <a:ea typeface="微软雅黑" panose="020B0503020204020204" pitchFamily="34" charset="-122"/>
              </a:rPr>
              <a:t>寄存器和</a:t>
            </a:r>
            <a:r>
              <a:rPr lang="en-US" altLang="zh-CN" sz="1800" dirty="0">
                <a:latin typeface="微软雅黑" panose="020B0503020204020204" pitchFamily="34" charset="-122"/>
                <a:ea typeface="微软雅黑" panose="020B0503020204020204" pitchFamily="34" charset="-122"/>
              </a:rPr>
              <a:t>Q</a:t>
            </a:r>
            <a:r>
              <a:rPr lang="zh-CN" altLang="en-US" sz="1800" dirty="0">
                <a:latin typeface="微软雅黑" panose="020B0503020204020204" pitchFamily="34" charset="-122"/>
                <a:ea typeface="微软雅黑" panose="020B0503020204020204" pitchFamily="34" charset="-122"/>
              </a:rPr>
              <a:t>移位寄存器，主要用于实现乘</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除运算</a:t>
            </a:r>
            <a:endParaRPr lang="zh-CN" altLang="en-US" sz="1800" dirty="0">
              <a:latin typeface="微软雅黑" panose="020B0503020204020204" pitchFamily="34" charset="-122"/>
              <a:ea typeface="微软雅黑" panose="020B0503020204020204" pitchFamily="34" charset="-122"/>
            </a:endParaRPr>
          </a:p>
          <a:p>
            <a:pPr marL="838200" lvl="1" indent="-342900">
              <a:lnSpc>
                <a:spcPct val="120000"/>
              </a:lnSpc>
              <a:spcBef>
                <a:spcPct val="10000"/>
              </a:spcBef>
            </a:pPr>
            <a:r>
              <a:rPr lang="zh-CN" altLang="en-US" sz="1800" dirty="0">
                <a:latin typeface="微软雅黑" panose="020B0503020204020204" pitchFamily="34" charset="-122"/>
                <a:ea typeface="微软雅黑" panose="020B0503020204020204" pitchFamily="34" charset="-122"/>
              </a:rPr>
              <a:t>乘法的部分积和除法的中间余数都是双倍字长，需放到两个单倍字长寄存器中，并对其同时串行左移（除法）或右移（乘法）</a:t>
            </a:r>
            <a:endParaRPr lang="zh-CN" altLang="en-US" sz="1800" dirty="0">
              <a:latin typeface="微软雅黑" panose="020B0503020204020204" pitchFamily="34" charset="-122"/>
              <a:ea typeface="微软雅黑" panose="020B0503020204020204" pitchFamily="34" charset="-122"/>
            </a:endParaRPr>
          </a:p>
          <a:p>
            <a:pPr marL="838200" lvl="1" indent="-342900">
              <a:lnSpc>
                <a:spcPct val="120000"/>
              </a:lnSpc>
              <a:spcBef>
                <a:spcPct val="10000"/>
              </a:spcBef>
            </a:pPr>
            <a:r>
              <a:rPr lang="en-US" altLang="zh-CN" sz="1800" dirty="0">
                <a:latin typeface="微软雅黑" panose="020B0503020204020204" pitchFamily="34" charset="-122"/>
                <a:ea typeface="微软雅黑" panose="020B0503020204020204" pitchFamily="34" charset="-122"/>
              </a:rPr>
              <a:t>Q</a:t>
            </a:r>
            <a:r>
              <a:rPr lang="zh-CN" altLang="en-US" sz="1800" dirty="0">
                <a:latin typeface="微软雅黑" panose="020B0503020204020204" pitchFamily="34" charset="-122"/>
                <a:ea typeface="微软雅黑" panose="020B0503020204020204" pitchFamily="34" charset="-122"/>
              </a:rPr>
              <a:t>寄存器就是乘数寄存器或商寄存器。因此，也被称为</a:t>
            </a:r>
            <a:r>
              <a:rPr lang="en-US" altLang="zh-CN" sz="1800" dirty="0">
                <a:solidFill>
                  <a:srgbClr val="CC3300"/>
                </a:solidFill>
                <a:latin typeface="微软雅黑" panose="020B0503020204020204" pitchFamily="34" charset="-122"/>
                <a:ea typeface="微软雅黑" panose="020B0503020204020204" pitchFamily="34" charset="-122"/>
              </a:rPr>
              <a:t>Q</a:t>
            </a:r>
            <a:r>
              <a:rPr lang="zh-CN" altLang="en-US" sz="1800" dirty="0">
                <a:solidFill>
                  <a:srgbClr val="CC3300"/>
                </a:solidFill>
                <a:latin typeface="微软雅黑" panose="020B0503020204020204" pitchFamily="34" charset="-122"/>
                <a:ea typeface="微软雅黑" panose="020B0503020204020204" pitchFamily="34" charset="-122"/>
              </a:rPr>
              <a:t>乘商寄存器</a:t>
            </a:r>
            <a:endParaRPr lang="zh-CN" altLang="en-US" sz="1800" dirty="0">
              <a:solidFill>
                <a:srgbClr val="CC3300"/>
              </a:solidFill>
              <a:latin typeface="微软雅黑" panose="020B0503020204020204" pitchFamily="34" charset="-122"/>
              <a:ea typeface="微软雅黑" panose="020B0503020204020204" pitchFamily="34" charset="-122"/>
            </a:endParaRPr>
          </a:p>
          <a:p>
            <a:pPr marL="838200" lvl="1" indent="-342900">
              <a:lnSpc>
                <a:spcPct val="120000"/>
              </a:lnSpc>
              <a:spcBef>
                <a:spcPct val="10000"/>
              </a:spcBef>
            </a:pPr>
            <a:r>
              <a:rPr lang="en-US" altLang="zh-CN" sz="1800" dirty="0">
                <a:latin typeface="微软雅黑" panose="020B0503020204020204" pitchFamily="34" charset="-122"/>
                <a:ea typeface="微软雅黑" panose="020B0503020204020204" pitchFamily="34" charset="-122"/>
              </a:rPr>
              <a:t>ALU</a:t>
            </a:r>
            <a:r>
              <a:rPr lang="zh-CN" altLang="en-US" sz="1800" dirty="0">
                <a:latin typeface="微软雅黑" panose="020B0503020204020204" pitchFamily="34" charset="-122"/>
                <a:ea typeface="微软雅黑" panose="020B0503020204020204" pitchFamily="34" charset="-122"/>
              </a:rPr>
              <a:t>移位器和</a:t>
            </a:r>
            <a:r>
              <a:rPr lang="en-US" altLang="zh-CN" sz="1800" dirty="0">
                <a:latin typeface="微软雅黑" panose="020B0503020204020204" pitchFamily="34" charset="-122"/>
                <a:ea typeface="微软雅黑" panose="020B0503020204020204" pitchFamily="34" charset="-122"/>
              </a:rPr>
              <a:t>Q</a:t>
            </a:r>
            <a:r>
              <a:rPr lang="zh-CN" altLang="en-US" sz="1800" dirty="0">
                <a:latin typeface="微软雅黑" panose="020B0503020204020204" pitchFamily="34" charset="-122"/>
                <a:ea typeface="微软雅黑" panose="020B0503020204020204" pitchFamily="34" charset="-122"/>
              </a:rPr>
              <a:t>移位器一起进行左移或右移，移位后，</a:t>
            </a:r>
            <a:r>
              <a:rPr lang="en-US" altLang="zh-CN" sz="1800" dirty="0">
                <a:latin typeface="微软雅黑" panose="020B0503020204020204" pitchFamily="34" charset="-122"/>
                <a:ea typeface="微软雅黑" panose="020B0503020204020204" pitchFamily="34" charset="-122"/>
              </a:rPr>
              <a:t>ALU</a:t>
            </a:r>
            <a:r>
              <a:rPr lang="zh-CN" altLang="en-US" sz="1800" dirty="0">
                <a:latin typeface="微软雅黑" panose="020B0503020204020204" pitchFamily="34" charset="-122"/>
                <a:ea typeface="微软雅黑" panose="020B0503020204020204" pitchFamily="34" charset="-122"/>
              </a:rPr>
              <a:t>移位器内容送</a:t>
            </a:r>
            <a:r>
              <a:rPr lang="en-US" altLang="zh-CN" sz="1800" dirty="0">
                <a:latin typeface="微软雅黑" panose="020B0503020204020204" pitchFamily="34" charset="-122"/>
                <a:ea typeface="微软雅黑" panose="020B0503020204020204" pitchFamily="34" charset="-122"/>
              </a:rPr>
              <a:t>ALU</a:t>
            </a:r>
            <a:r>
              <a:rPr lang="zh-CN" altLang="en-US" sz="1800" dirty="0">
                <a:latin typeface="微软雅黑" panose="020B0503020204020204" pitchFamily="34" charset="-122"/>
                <a:ea typeface="微软雅黑" panose="020B0503020204020204" pitchFamily="34" charset="-122"/>
              </a:rPr>
              <a:t>继续进行下次运算，而</a:t>
            </a:r>
            <a:r>
              <a:rPr lang="en-US" altLang="zh-CN" sz="1800" dirty="0">
                <a:latin typeface="微软雅黑" panose="020B0503020204020204" pitchFamily="34" charset="-122"/>
                <a:ea typeface="微软雅黑" panose="020B0503020204020204" pitchFamily="34" charset="-122"/>
              </a:rPr>
              <a:t>Q</a:t>
            </a:r>
            <a:r>
              <a:rPr lang="zh-CN" altLang="en-US" sz="1800" dirty="0">
                <a:latin typeface="微软雅黑" panose="020B0503020204020204" pitchFamily="34" charset="-122"/>
                <a:ea typeface="微软雅黑" panose="020B0503020204020204" pitchFamily="34" charset="-122"/>
              </a:rPr>
              <a:t>移位器内容送</a:t>
            </a:r>
            <a:r>
              <a:rPr lang="en-US" altLang="zh-CN" sz="1800" dirty="0">
                <a:latin typeface="微软雅黑" panose="020B0503020204020204" pitchFamily="34" charset="-122"/>
                <a:ea typeface="微软雅黑" panose="020B0503020204020204" pitchFamily="34" charset="-122"/>
              </a:rPr>
              <a:t>Q</a:t>
            </a:r>
            <a:r>
              <a:rPr lang="zh-CN" altLang="en-US" sz="1800" dirty="0">
                <a:latin typeface="微软雅黑" panose="020B0503020204020204" pitchFamily="34" charset="-122"/>
                <a:ea typeface="微软雅黑" panose="020B0503020204020204" pitchFamily="34" charset="-122"/>
              </a:rPr>
              <a:t>乘商寄存器。</a:t>
            </a:r>
            <a:endParaRPr lang="zh-CN" altLang="en-US" sz="1800" dirty="0">
              <a:latin typeface="微软雅黑" panose="020B0503020204020204" pitchFamily="34" charset="-122"/>
              <a:ea typeface="微软雅黑" panose="020B0503020204020204" pitchFamily="34" charset="-122"/>
            </a:endParaRPr>
          </a:p>
          <a:p>
            <a:pPr marL="381000" indent="-381000">
              <a:lnSpc>
                <a:spcPct val="120000"/>
              </a:lnSpc>
              <a:spcBef>
                <a:spcPct val="10000"/>
              </a:spcBef>
            </a:pPr>
            <a:r>
              <a:rPr lang="zh-CN" altLang="en-US" sz="1800" dirty="0">
                <a:latin typeface="微软雅黑" panose="020B0503020204020204" pitchFamily="34" charset="-122"/>
                <a:ea typeface="微软雅黑" panose="020B0503020204020204" pitchFamily="34" charset="-122"/>
              </a:rPr>
              <a:t>将</a:t>
            </a:r>
            <a:r>
              <a:rPr lang="en-US" altLang="zh-CN" sz="1800" dirty="0">
                <a:latin typeface="微软雅黑" panose="020B0503020204020204" pitchFamily="34" charset="-122"/>
                <a:ea typeface="微软雅黑" panose="020B0503020204020204" pitchFamily="34" charset="-122"/>
              </a:rPr>
              <a:t>ALU</a:t>
            </a:r>
            <a:r>
              <a:rPr lang="zh-CN" altLang="en-US" sz="1800" dirty="0">
                <a:latin typeface="微软雅黑" panose="020B0503020204020204" pitchFamily="34" charset="-122"/>
                <a:ea typeface="微软雅黑" panose="020B0503020204020204" pitchFamily="34" charset="-122"/>
              </a:rPr>
              <a:t>的结果进行判“</a:t>
            </a:r>
            <a:r>
              <a:rPr lang="en-US" altLang="zh-CN" sz="1800" dirty="0">
                <a:latin typeface="微软雅黑" panose="020B0503020204020204" pitchFamily="34" charset="-122"/>
                <a:ea typeface="微软雅黑" panose="020B0503020204020204" pitchFamily="34" charset="-122"/>
              </a:rPr>
              <a:t>0”</a:t>
            </a:r>
            <a:r>
              <a:rPr lang="zh-CN" altLang="en-US" sz="1800" dirty="0">
                <a:latin typeface="微软雅黑" panose="020B0503020204020204" pitchFamily="34" charset="-122"/>
                <a:ea typeface="微软雅黑" panose="020B0503020204020204" pitchFamily="34" charset="-122"/>
              </a:rPr>
              <a:t>后可通过</a:t>
            </a:r>
            <a:r>
              <a:rPr lang="en-US" altLang="zh-CN" sz="1800" dirty="0">
                <a:latin typeface="微软雅黑" panose="020B0503020204020204" pitchFamily="34" charset="-122"/>
                <a:ea typeface="微软雅黑" panose="020B0503020204020204" pitchFamily="34" charset="-122"/>
              </a:rPr>
              <a:t>Z</a:t>
            </a:r>
            <a:r>
              <a:rPr lang="zh-CN" altLang="en-US" sz="1800" dirty="0">
                <a:latin typeface="微软雅黑" panose="020B0503020204020204" pitchFamily="34" charset="-122"/>
                <a:ea typeface="微软雅黑" panose="020B0503020204020204" pitchFamily="34" charset="-122"/>
              </a:rPr>
              <a:t>输出端将“零”标志信息输出， </a:t>
            </a:r>
            <a:endParaRPr lang="zh-CN" altLang="en-US" sz="1800" dirty="0">
              <a:latin typeface="微软雅黑" panose="020B0503020204020204" pitchFamily="34" charset="-122"/>
              <a:ea typeface="微软雅黑" panose="020B0503020204020204" pitchFamily="34" charset="-122"/>
            </a:endParaRPr>
          </a:p>
          <a:p>
            <a:pPr marL="381000" indent="-381000">
              <a:lnSpc>
                <a:spcPct val="120000"/>
              </a:lnSpc>
              <a:spcBef>
                <a:spcPct val="10000"/>
              </a:spcBef>
            </a:pPr>
            <a:r>
              <a:rPr lang="en-US" altLang="zh-CN" sz="1800" dirty="0">
                <a:latin typeface="微软雅黑" panose="020B0503020204020204" pitchFamily="34" charset="-122"/>
                <a:ea typeface="微软雅黑" panose="020B0503020204020204" pitchFamily="34" charset="-122"/>
              </a:rPr>
              <a:t>ALU</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MUX</a:t>
            </a:r>
            <a:r>
              <a:rPr lang="zh-CN" altLang="en-US" sz="1800" dirty="0">
                <a:latin typeface="微软雅黑" panose="020B0503020204020204" pitchFamily="34" charset="-122"/>
                <a:ea typeface="微软雅黑" panose="020B0503020204020204" pitchFamily="34" charset="-122"/>
              </a:rPr>
              <a:t>、移位器等的控制信号来自</a:t>
            </a:r>
            <a:r>
              <a:rPr lang="en-US" altLang="zh-CN" sz="1800" dirty="0">
                <a:latin typeface="微软雅黑" panose="020B0503020204020204" pitchFamily="34" charset="-122"/>
                <a:ea typeface="微软雅黑" panose="020B0503020204020204" pitchFamily="34" charset="-122"/>
              </a:rPr>
              <a:t>CCU</a:t>
            </a:r>
            <a:r>
              <a:rPr lang="zh-CN" altLang="en-US" sz="1800" dirty="0">
                <a:latin typeface="微软雅黑" panose="020B0503020204020204" pitchFamily="34" charset="-122"/>
                <a:ea typeface="微软雅黑" panose="020B0503020204020204" pitchFamily="34" charset="-122"/>
              </a:rPr>
              <a:t>，通过对指令操作码</a:t>
            </a:r>
            <a:r>
              <a:rPr lang="en-US" altLang="zh-CN" sz="1800" dirty="0">
                <a:latin typeface="微软雅黑" panose="020B0503020204020204" pitchFamily="34" charset="-122"/>
                <a:ea typeface="微软雅黑" panose="020B0503020204020204" pitchFamily="34" charset="-122"/>
              </a:rPr>
              <a:t>I</a:t>
            </a:r>
            <a:r>
              <a:rPr lang="en-US" altLang="zh-CN" baseline="-25000" dirty="0">
                <a:latin typeface="微软雅黑" panose="020B0503020204020204" pitchFamily="34" charset="-122"/>
                <a:ea typeface="微软雅黑" panose="020B0503020204020204" pitchFamily="34" charset="-122"/>
              </a:rPr>
              <a:t>0</a:t>
            </a:r>
            <a:r>
              <a:rPr lang="en-US" altLang="zh-CN" sz="1800" dirty="0">
                <a:latin typeface="微软雅黑" panose="020B0503020204020204" pitchFamily="34" charset="-122"/>
                <a:ea typeface="微软雅黑" panose="020B0503020204020204" pitchFamily="34" charset="-122"/>
              </a:rPr>
              <a:t>-I</a:t>
            </a:r>
            <a:r>
              <a:rPr lang="en-US" altLang="zh-CN" baseline="-25000" dirty="0">
                <a:latin typeface="微软雅黑" panose="020B0503020204020204" pitchFamily="34" charset="-122"/>
                <a:ea typeface="微软雅黑" panose="020B0503020204020204" pitchFamily="34" charset="-122"/>
              </a:rPr>
              <a:t>8</a:t>
            </a:r>
            <a:r>
              <a:rPr lang="zh-CN" altLang="en-US" sz="1800" dirty="0">
                <a:latin typeface="微软雅黑" panose="020B0503020204020204" pitchFamily="34" charset="-122"/>
                <a:ea typeface="微软雅黑" panose="020B0503020204020204" pitchFamily="34" charset="-122"/>
              </a:rPr>
              <a:t>译码，得到控制信号</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title"/>
          </p:nvPr>
        </p:nvSpPr>
        <p:spPr>
          <a:xfrm>
            <a:off x="800100" y="190500"/>
            <a:ext cx="7321550" cy="474663"/>
          </a:xfrm>
          <a:ln/>
        </p:spPr>
        <p:txBody>
          <a:bodyPr vert="horz" wrap="square" lIns="63500" tIns="25400" rIns="63500" bIns="25400" anchor="t" anchorCtr="0">
            <a:spAutoFit/>
          </a:bodyPr>
          <a:p>
            <a:r>
              <a:rPr lang="en-US" altLang="zh-CN" dirty="0">
                <a:ea typeface="宋体" panose="02010600030101010101" pitchFamily="2" charset="-122"/>
              </a:rPr>
              <a:t>AM2901A</a:t>
            </a:r>
            <a:r>
              <a:rPr lang="zh-CN" altLang="en-US" dirty="0">
                <a:ea typeface="宋体" panose="02010600030101010101" pitchFamily="2" charset="-122"/>
              </a:rPr>
              <a:t>的功能和结构</a:t>
            </a:r>
            <a:endParaRPr lang="zh-CN" altLang="en-US" dirty="0">
              <a:ea typeface="宋体" panose="02010600030101010101" pitchFamily="2" charset="-122"/>
            </a:endParaRPr>
          </a:p>
        </p:txBody>
      </p:sp>
      <p:sp>
        <p:nvSpPr>
          <p:cNvPr id="112642" name="Rectangle 3"/>
          <p:cNvSpPr>
            <a:spLocks noGrp="1"/>
          </p:cNvSpPr>
          <p:nvPr>
            <p:ph idx="1"/>
          </p:nvPr>
        </p:nvSpPr>
        <p:spPr>
          <a:xfrm>
            <a:off x="301625" y="1022350"/>
            <a:ext cx="8429625" cy="3670300"/>
          </a:xfrm>
          <a:ln/>
        </p:spPr>
        <p:txBody>
          <a:bodyPr vert="horz" wrap="square" lIns="63500" tIns="25400" rIns="63500" bIns="25400" anchor="t" anchorCtr="0">
            <a:spAutoFit/>
          </a:bodyPr>
          <a:p>
            <a:pPr marL="381000" indent="-381000">
              <a:lnSpc>
                <a:spcPct val="115000"/>
              </a:lnSpc>
              <a:spcBef>
                <a:spcPct val="30000"/>
              </a:spcBef>
            </a:pPr>
            <a:r>
              <a:rPr lang="zh-CN" altLang="en-US" sz="2000" dirty="0">
                <a:solidFill>
                  <a:srgbClr val="CC3300"/>
                </a:solidFill>
                <a:latin typeface="微软雅黑" panose="020B0503020204020204" pitchFamily="34" charset="-122"/>
                <a:ea typeface="微软雅黑" panose="020B0503020204020204" pitchFamily="34" charset="-122"/>
              </a:rPr>
              <a:t>思考题：如何用</a:t>
            </a:r>
            <a:r>
              <a:rPr lang="en-US" altLang="zh-CN" sz="2000" dirty="0">
                <a:solidFill>
                  <a:srgbClr val="CC3300"/>
                </a:solidFill>
                <a:latin typeface="微软雅黑" panose="020B0503020204020204" pitchFamily="34" charset="-122"/>
                <a:ea typeface="微软雅黑" panose="020B0503020204020204" pitchFamily="34" charset="-122"/>
              </a:rPr>
              <a:t>AM2901A</a:t>
            </a:r>
            <a:r>
              <a:rPr lang="zh-CN" altLang="en-US" sz="2000" dirty="0">
                <a:solidFill>
                  <a:srgbClr val="CC3300"/>
                </a:solidFill>
                <a:latin typeface="微软雅黑" panose="020B0503020204020204" pitchFamily="34" charset="-122"/>
                <a:ea typeface="微软雅黑" panose="020B0503020204020204" pitchFamily="34" charset="-122"/>
              </a:rPr>
              <a:t>芯片实现乘</a:t>
            </a:r>
            <a:r>
              <a:rPr lang="en-US" altLang="zh-CN" sz="2000" dirty="0">
                <a:solidFill>
                  <a:srgbClr val="CC3300"/>
                </a:solidFill>
                <a:latin typeface="微软雅黑" panose="020B0503020204020204" pitchFamily="34" charset="-122"/>
                <a:ea typeface="微软雅黑" panose="020B0503020204020204" pitchFamily="34" charset="-122"/>
              </a:rPr>
              <a:t>/</a:t>
            </a:r>
            <a:r>
              <a:rPr lang="zh-CN" altLang="en-US" sz="2000" dirty="0">
                <a:solidFill>
                  <a:srgbClr val="CC3300"/>
                </a:solidFill>
                <a:latin typeface="微软雅黑" panose="020B0503020204020204" pitchFamily="34" charset="-122"/>
                <a:ea typeface="微软雅黑" panose="020B0503020204020204" pitchFamily="34" charset="-122"/>
              </a:rPr>
              <a:t>除运算？</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marL="838200" lvl="1" indent="-342900">
              <a:lnSpc>
                <a:spcPct val="115000"/>
              </a:lnSpc>
              <a:spcBef>
                <a:spcPct val="30000"/>
              </a:spcBef>
              <a:buAutoNum type="circleNumDbPlain"/>
            </a:pPr>
            <a:r>
              <a:rPr lang="en-US" altLang="zh-CN" dirty="0">
                <a:latin typeface="微软雅黑" panose="020B0503020204020204" pitchFamily="34" charset="-122"/>
                <a:ea typeface="微软雅黑" panose="020B0503020204020204" pitchFamily="34" charset="-122"/>
              </a:rPr>
              <a:t>R0</a:t>
            </a:r>
            <a:r>
              <a:rPr lang="zh-CN" altLang="en-US" dirty="0">
                <a:latin typeface="微软雅黑" panose="020B0503020204020204" pitchFamily="34" charset="-122"/>
                <a:ea typeface="微软雅黑" panose="020B0503020204020204" pitchFamily="34" charset="-122"/>
              </a:rPr>
              <a:t>被预置为</a:t>
            </a:r>
            <a:r>
              <a:rPr lang="en-US" altLang="zh-CN" dirty="0">
                <a:latin typeface="微软雅黑" panose="020B0503020204020204" pitchFamily="34" charset="-122"/>
                <a:ea typeface="微软雅黑" panose="020B0503020204020204" pitchFamily="34" charset="-122"/>
              </a:rPr>
              <a:t>0 / </a:t>
            </a:r>
            <a:r>
              <a:rPr lang="zh-CN" altLang="en-US" dirty="0">
                <a:latin typeface="微软雅黑" panose="020B0503020204020204" pitchFamily="34" charset="-122"/>
                <a:ea typeface="微软雅黑" panose="020B0503020204020204" pitchFamily="34" charset="-122"/>
              </a:rPr>
              <a:t>被除数高位，</a:t>
            </a: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寄存器被预置为乘数</a:t>
            </a:r>
            <a:r>
              <a:rPr lang="en-US" altLang="zh-CN" dirty="0">
                <a:latin typeface="微软雅黑" panose="020B0503020204020204" pitchFamily="34" charset="-122"/>
                <a:ea typeface="微软雅黑" panose="020B0503020204020204" pitchFamily="34" charset="-122"/>
              </a:rPr>
              <a:t> / </a:t>
            </a:r>
            <a:r>
              <a:rPr lang="zh-CN" altLang="en-US" dirty="0">
                <a:latin typeface="微软雅黑" panose="020B0503020204020204" pitchFamily="34" charset="-122"/>
                <a:ea typeface="微软雅黑" panose="020B0503020204020204" pitchFamily="34" charset="-122"/>
              </a:rPr>
              <a:t>被除数低位，</a:t>
            </a:r>
            <a:r>
              <a:rPr lang="en-US" altLang="zh-CN" dirty="0">
                <a:latin typeface="微软雅黑" panose="020B0503020204020204" pitchFamily="34" charset="-122"/>
                <a:ea typeface="微软雅黑" panose="020B0503020204020204" pitchFamily="34" charset="-122"/>
              </a:rPr>
              <a:t>R1</a:t>
            </a:r>
            <a:r>
              <a:rPr lang="zh-CN" altLang="en-US" dirty="0">
                <a:latin typeface="微软雅黑" panose="020B0503020204020204" pitchFamily="34" charset="-122"/>
                <a:ea typeface="微软雅黑" panose="020B0503020204020204" pitchFamily="34" charset="-122"/>
              </a:rPr>
              <a:t>被预置为被乘数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除数</a:t>
            </a:r>
            <a:endParaRPr lang="zh-CN" altLang="en-US" dirty="0">
              <a:latin typeface="微软雅黑" panose="020B0503020204020204" pitchFamily="34" charset="-122"/>
              <a:ea typeface="微软雅黑" panose="020B0503020204020204" pitchFamily="34" charset="-122"/>
            </a:endParaRPr>
          </a:p>
          <a:p>
            <a:pPr marL="838200" lvl="1" indent="-342900">
              <a:lnSpc>
                <a:spcPct val="115000"/>
              </a:lnSpc>
              <a:spcBef>
                <a:spcPct val="30000"/>
              </a:spcBef>
              <a:buAutoNum type="circleNumDbPlain"/>
            </a:pPr>
            <a:r>
              <a:rPr lang="zh-CN" altLang="en-US" dirty="0">
                <a:latin typeface="微软雅黑" panose="020B0503020204020204" pitchFamily="34" charset="-122"/>
                <a:ea typeface="微软雅黑" panose="020B0503020204020204" pitchFamily="34" charset="-122"/>
              </a:rPr>
              <a:t>控制</a:t>
            </a:r>
            <a:r>
              <a:rPr lang="en-US" altLang="zh-CN" dirty="0">
                <a:latin typeface="微软雅黑" panose="020B0503020204020204" pitchFamily="34" charset="-122"/>
                <a:ea typeface="微软雅黑" panose="020B0503020204020204" pitchFamily="34" charset="-122"/>
              </a:rPr>
              <a:t>ALU</a:t>
            </a:r>
            <a:r>
              <a:rPr lang="zh-CN" altLang="en-US" dirty="0">
                <a:latin typeface="微软雅黑" panose="020B0503020204020204" pitchFamily="34" charset="-122"/>
                <a:ea typeface="微软雅黑" panose="020B0503020204020204" pitchFamily="34" charset="-122"/>
              </a:rPr>
              <a:t>执行“加”或“减”，并使</a:t>
            </a:r>
            <a:r>
              <a:rPr lang="en-US" altLang="zh-CN" dirty="0">
                <a:latin typeface="微软雅黑" panose="020B0503020204020204" pitchFamily="34" charset="-122"/>
                <a:ea typeface="微软雅黑" panose="020B0503020204020204" pitchFamily="34" charset="-122"/>
              </a:rPr>
              <a:t>ALU</a:t>
            </a:r>
            <a:r>
              <a:rPr lang="zh-CN" altLang="en-US" dirty="0">
                <a:latin typeface="微软雅黑" panose="020B0503020204020204" pitchFamily="34" charset="-122"/>
                <a:ea typeface="微软雅黑" panose="020B0503020204020204" pitchFamily="34" charset="-122"/>
              </a:rPr>
              <a:t>移位器和</a:t>
            </a: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移位器同时 “右移”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“左移”</a:t>
            </a:r>
            <a:endParaRPr lang="zh-CN" altLang="en-US" dirty="0">
              <a:latin typeface="微软雅黑" panose="020B0503020204020204" pitchFamily="34" charset="-122"/>
              <a:ea typeface="微软雅黑" panose="020B0503020204020204" pitchFamily="34" charset="-122"/>
            </a:endParaRPr>
          </a:p>
          <a:p>
            <a:pPr marL="838200" lvl="1" indent="-342900">
              <a:lnSpc>
                <a:spcPct val="115000"/>
              </a:lnSpc>
              <a:spcBef>
                <a:spcPct val="30000"/>
              </a:spcBef>
              <a:buNone/>
            </a:pPr>
            <a:r>
              <a:rPr lang="zh-CN" altLang="en-US" dirty="0">
                <a:latin typeface="微软雅黑" panose="020B0503020204020204" pitchFamily="34" charset="-122"/>
                <a:ea typeface="微软雅黑" panose="020B0503020204020204" pitchFamily="34" charset="-122"/>
              </a:rPr>
              <a:t>      </a:t>
            </a:r>
            <a:r>
              <a:rPr lang="zh-CN" altLang="en-US" dirty="0">
                <a:solidFill>
                  <a:srgbClr val="FF0066"/>
                </a:solidFill>
                <a:latin typeface="微软雅黑" panose="020B0503020204020204" pitchFamily="34" charset="-122"/>
                <a:ea typeface="微软雅黑" panose="020B0503020204020204" pitchFamily="34" charset="-122"/>
              </a:rPr>
              <a:t>（移位后</a:t>
            </a:r>
            <a:r>
              <a:rPr lang="en-US" altLang="zh-CN" dirty="0">
                <a:solidFill>
                  <a:srgbClr val="FF0066"/>
                </a:solidFill>
                <a:latin typeface="微软雅黑" panose="020B0503020204020204" pitchFamily="34" charset="-122"/>
                <a:ea typeface="微软雅黑" panose="020B0503020204020204" pitchFamily="34" charset="-122"/>
              </a:rPr>
              <a:t>ALU</a:t>
            </a:r>
            <a:r>
              <a:rPr lang="zh-CN" altLang="en-US" dirty="0">
                <a:solidFill>
                  <a:srgbClr val="FF0066"/>
                </a:solidFill>
                <a:latin typeface="微软雅黑" panose="020B0503020204020204" pitchFamily="34" charset="-122"/>
                <a:ea typeface="微软雅黑" panose="020B0503020204020204" pitchFamily="34" charset="-122"/>
              </a:rPr>
              <a:t>移位器中是高位部分积 </a:t>
            </a:r>
            <a:r>
              <a:rPr lang="en-US" altLang="zh-CN" dirty="0">
                <a:solidFill>
                  <a:srgbClr val="FF0066"/>
                </a:solidFill>
                <a:latin typeface="微软雅黑" panose="020B0503020204020204" pitchFamily="34" charset="-122"/>
                <a:ea typeface="微软雅黑" panose="020B0503020204020204" pitchFamily="34" charset="-122"/>
              </a:rPr>
              <a:t>/ </a:t>
            </a:r>
            <a:r>
              <a:rPr lang="zh-CN" altLang="en-US" dirty="0">
                <a:solidFill>
                  <a:srgbClr val="FF0066"/>
                </a:solidFill>
                <a:latin typeface="微软雅黑" panose="020B0503020204020204" pitchFamily="34" charset="-122"/>
                <a:ea typeface="微软雅黑" panose="020B0503020204020204" pitchFamily="34" charset="-122"/>
              </a:rPr>
              <a:t>中间余数，</a:t>
            </a:r>
            <a:r>
              <a:rPr lang="en-US" altLang="zh-CN" dirty="0">
                <a:solidFill>
                  <a:srgbClr val="FF0066"/>
                </a:solidFill>
                <a:latin typeface="微软雅黑" panose="020B0503020204020204" pitchFamily="34" charset="-122"/>
                <a:ea typeface="微软雅黑" panose="020B0503020204020204" pitchFamily="34" charset="-122"/>
              </a:rPr>
              <a:t>Q</a:t>
            </a:r>
            <a:r>
              <a:rPr lang="zh-CN" altLang="en-US" dirty="0">
                <a:solidFill>
                  <a:srgbClr val="FF0066"/>
                </a:solidFill>
                <a:latin typeface="微软雅黑" panose="020B0503020204020204" pitchFamily="34" charset="-122"/>
                <a:ea typeface="微软雅黑" panose="020B0503020204020204" pitchFamily="34" charset="-122"/>
              </a:rPr>
              <a:t>移位器中是低位部分积 </a:t>
            </a:r>
            <a:r>
              <a:rPr lang="en-US" altLang="zh-CN" dirty="0">
                <a:solidFill>
                  <a:srgbClr val="FF0066"/>
                </a:solidFill>
                <a:latin typeface="微软雅黑" panose="020B0503020204020204" pitchFamily="34" charset="-122"/>
                <a:ea typeface="微软雅黑" panose="020B0503020204020204" pitchFamily="34" charset="-122"/>
              </a:rPr>
              <a:t>/ </a:t>
            </a:r>
            <a:r>
              <a:rPr lang="zh-CN" altLang="en-US" dirty="0">
                <a:solidFill>
                  <a:srgbClr val="FF0066"/>
                </a:solidFill>
                <a:latin typeface="微软雅黑" panose="020B0503020204020204" pitchFamily="34" charset="-122"/>
                <a:ea typeface="微软雅黑" panose="020B0503020204020204" pitchFamily="34" charset="-122"/>
              </a:rPr>
              <a:t>中间余数）</a:t>
            </a:r>
            <a:endParaRPr lang="zh-CN" altLang="en-US" dirty="0">
              <a:solidFill>
                <a:srgbClr val="FF0066"/>
              </a:solidFill>
              <a:latin typeface="微软雅黑" panose="020B0503020204020204" pitchFamily="34" charset="-122"/>
              <a:ea typeface="微软雅黑" panose="020B0503020204020204" pitchFamily="34" charset="-122"/>
            </a:endParaRPr>
          </a:p>
          <a:p>
            <a:pPr marL="838200" lvl="1" indent="-342900">
              <a:lnSpc>
                <a:spcPct val="115000"/>
              </a:lnSpc>
              <a:spcBef>
                <a:spcPct val="30000"/>
              </a:spcBef>
              <a:buAutoNum type="circleNumDbPlain" startAt="3"/>
            </a:pPr>
            <a:r>
              <a:rPr lang="en-US" altLang="zh-CN" dirty="0">
                <a:latin typeface="微软雅黑" panose="020B0503020204020204" pitchFamily="34" charset="-122"/>
                <a:ea typeface="微软雅黑" panose="020B0503020204020204" pitchFamily="34" charset="-122"/>
              </a:rPr>
              <a:t>ALU</a:t>
            </a:r>
            <a:r>
              <a:rPr lang="zh-CN" altLang="en-US" dirty="0">
                <a:latin typeface="微软雅黑" panose="020B0503020204020204" pitchFamily="34" charset="-122"/>
                <a:ea typeface="微软雅黑" panose="020B0503020204020204" pitchFamily="34" charset="-122"/>
              </a:rPr>
              <a:t>移位器送</a:t>
            </a:r>
            <a:r>
              <a:rPr lang="en-US" altLang="zh-CN" dirty="0">
                <a:latin typeface="微软雅黑" panose="020B0503020204020204" pitchFamily="34" charset="-122"/>
                <a:ea typeface="微软雅黑" panose="020B0503020204020204" pitchFamily="34" charset="-122"/>
              </a:rPr>
              <a:t>ALU</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端，</a:t>
            </a: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移位器送</a:t>
            </a: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寄存器后，再送回</a:t>
            </a: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移位器</a:t>
            </a:r>
            <a:endParaRPr lang="zh-CN" altLang="en-US" dirty="0">
              <a:latin typeface="微软雅黑" panose="020B0503020204020204" pitchFamily="34" charset="-122"/>
              <a:ea typeface="微软雅黑" panose="020B0503020204020204" pitchFamily="34" charset="-122"/>
            </a:endParaRPr>
          </a:p>
          <a:p>
            <a:pPr marL="838200" lvl="1" indent="-342900">
              <a:lnSpc>
                <a:spcPct val="115000"/>
              </a:lnSpc>
              <a:spcBef>
                <a:spcPct val="30000"/>
              </a:spcBef>
              <a:buAutoNum type="circleNumDbPlain" startAt="3"/>
            </a:pPr>
            <a:r>
              <a:rPr lang="zh-CN" altLang="en-US" dirty="0">
                <a:latin typeface="微软雅黑" panose="020B0503020204020204" pitchFamily="34" charset="-122"/>
                <a:ea typeface="微软雅黑" panose="020B0503020204020204" pitchFamily="34" charset="-122"/>
              </a:rPr>
              <a:t>反复执行第②、③两个步骤，直到得到所有乘积位或商</a:t>
            </a:r>
            <a:endParaRPr lang="zh-CN" altLang="en-US" dirty="0">
              <a:latin typeface="微软雅黑" panose="020B0503020204020204" pitchFamily="34" charset="-122"/>
              <a:ea typeface="微软雅黑" panose="020B0503020204020204" pitchFamily="34" charset="-122"/>
            </a:endParaRPr>
          </a:p>
        </p:txBody>
      </p:sp>
      <p:sp>
        <p:nvSpPr>
          <p:cNvPr id="112643" name="Text Box 4"/>
          <p:cNvSpPr txBox="1"/>
          <p:nvPr/>
        </p:nvSpPr>
        <p:spPr>
          <a:xfrm>
            <a:off x="6743700" y="6276975"/>
            <a:ext cx="838200" cy="336550"/>
          </a:xfrm>
          <a:prstGeom prst="rect">
            <a:avLst/>
          </a:prstGeom>
          <a:noFill/>
          <a:ln w="12700">
            <a:noFill/>
          </a:ln>
        </p:spPr>
        <p:txBody>
          <a:bodyPr anchor="t" anchorCtr="0">
            <a:spAutoFit/>
          </a:bodyPr>
          <a:p>
            <a:pPr eaLnBrk="0" hangingPunct="0">
              <a:spcBef>
                <a:spcPct val="50000"/>
              </a:spcBef>
            </a:pPr>
            <a:r>
              <a:rPr lang="en-US" altLang="zh-CN" dirty="0">
                <a:latin typeface="Times New Roman" panose="02020603050405020304" pitchFamily="18" charset="0"/>
                <a:hlinkClick r:id="rId1" action="ppaction://hlinksldjump"/>
              </a:rPr>
              <a:t>BACK</a:t>
            </a:r>
            <a:endParaRPr lang="en-US" altLang="zh-CN" dirty="0">
              <a:latin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p:nvPr>
        </p:nvSpPr>
        <p:spPr>
          <a:xfrm>
            <a:off x="800100" y="190500"/>
            <a:ext cx="6073775" cy="479425"/>
          </a:xfrm>
          <a:ln/>
        </p:spPr>
        <p:txBody>
          <a:bodyPr vert="horz" wrap="square" lIns="63500" tIns="25400" rIns="63500" bIns="25400" anchor="t" anchorCtr="0">
            <a:spAutoFit/>
          </a:bodyPr>
          <a:p>
            <a:r>
              <a:rPr lang="zh-CN" altLang="en-US" dirty="0">
                <a:ea typeface="宋体" panose="02010600030101010101" pitchFamily="2" charset="-122"/>
              </a:rPr>
              <a:t>第二讲小结</a:t>
            </a:r>
            <a:endParaRPr lang="zh-CN" altLang="en-US" dirty="0">
              <a:ea typeface="宋体" panose="02010600030101010101" pitchFamily="2" charset="-122"/>
            </a:endParaRPr>
          </a:p>
        </p:txBody>
      </p:sp>
      <p:sp>
        <p:nvSpPr>
          <p:cNvPr id="388099" name="Rectangle 3"/>
          <p:cNvSpPr>
            <a:spLocks noGrp="1"/>
          </p:cNvSpPr>
          <p:nvPr>
            <p:ph idx="1"/>
          </p:nvPr>
        </p:nvSpPr>
        <p:spPr>
          <a:xfrm>
            <a:off x="449263" y="738188"/>
            <a:ext cx="7219950" cy="4921250"/>
          </a:xfrm>
          <a:ln/>
        </p:spPr>
        <p:txBody>
          <a:bodyPr vert="horz" wrap="square" lIns="63500" tIns="25400" rIns="63500" bIns="25400" anchor="t" anchorCtr="0">
            <a:spAutoFit/>
          </a:bodyPr>
          <a:p>
            <a:pPr marL="495300" indent="-495300">
              <a:buNone/>
            </a:pPr>
            <a:endParaRPr lang="zh-CN" altLang="en-US" sz="2000" dirty="0"/>
          </a:p>
          <a:p>
            <a:pPr marL="495300" indent="-495300">
              <a:buNone/>
            </a:pPr>
            <a:r>
              <a:rPr lang="zh-CN" altLang="en-US" sz="2000" dirty="0">
                <a:solidFill>
                  <a:srgbClr val="FF0066"/>
                </a:solidFill>
                <a:latin typeface="微软雅黑" panose="020B0503020204020204" pitchFamily="34" charset="-122"/>
                <a:ea typeface="微软雅黑" panose="020B0503020204020204" pitchFamily="34" charset="-122"/>
              </a:rPr>
              <a:t>逻辑运算、移位运算、扩展运算等电路简单</a:t>
            </a:r>
            <a:endParaRPr lang="zh-CN" altLang="en-US" sz="2000" dirty="0">
              <a:solidFill>
                <a:srgbClr val="FF0066"/>
              </a:solidFill>
              <a:latin typeface="微软雅黑" panose="020B0503020204020204" pitchFamily="34" charset="-122"/>
              <a:ea typeface="微软雅黑" panose="020B0503020204020204" pitchFamily="34" charset="-122"/>
            </a:endParaRPr>
          </a:p>
          <a:p>
            <a:pPr marL="495300" indent="-495300">
              <a:buNone/>
            </a:pPr>
            <a:r>
              <a:rPr lang="zh-CN" altLang="en-US" sz="2000" dirty="0">
                <a:solidFill>
                  <a:srgbClr val="FF0066"/>
                </a:solidFill>
                <a:latin typeface="微软雅黑" panose="020B0503020204020204" pitchFamily="34" charset="-122"/>
                <a:ea typeface="微软雅黑" panose="020B0503020204020204" pitchFamily="34" charset="-122"/>
              </a:rPr>
              <a:t>主要考虑算术运算</a:t>
            </a:r>
            <a:endParaRPr lang="zh-CN" altLang="en-US" sz="2000" dirty="0">
              <a:solidFill>
                <a:srgbClr val="FF0066"/>
              </a:solidFill>
              <a:latin typeface="微软雅黑" panose="020B0503020204020204" pitchFamily="34" charset="-122"/>
              <a:ea typeface="微软雅黑" panose="020B0503020204020204" pitchFamily="34" charset="-122"/>
            </a:endParaRPr>
          </a:p>
          <a:p>
            <a:pPr marL="495300" indent="-495300"/>
            <a:r>
              <a:rPr lang="zh-CN" altLang="en-US" sz="2000" dirty="0">
                <a:latin typeface="微软雅黑" panose="020B0503020204020204" pitchFamily="34" charset="-122"/>
                <a:ea typeface="微软雅黑" panose="020B0503020204020204" pitchFamily="34" charset="-122"/>
              </a:rPr>
              <a:t>定点运算涉及的对象</a:t>
            </a:r>
            <a:endParaRPr lang="zh-CN" altLang="en-US" sz="2000" dirty="0">
              <a:latin typeface="微软雅黑" panose="020B0503020204020204" pitchFamily="34" charset="-122"/>
              <a:ea typeface="微软雅黑" panose="020B0503020204020204" pitchFamily="34" charset="-122"/>
            </a:endParaRPr>
          </a:p>
          <a:p>
            <a:pPr marL="949325" lvl="1" indent="-454025">
              <a:buNone/>
            </a:pPr>
            <a:r>
              <a:rPr lang="zh-CN" altLang="en-US" dirty="0">
                <a:latin typeface="微软雅黑" panose="020B0503020204020204" pitchFamily="34" charset="-122"/>
                <a:ea typeface="微软雅黑" panose="020B0503020204020204" pitchFamily="34" charset="-122"/>
              </a:rPr>
              <a:t>无符号数；带符号整数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补码</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；原码小数；移码整数</a:t>
            </a:r>
            <a:endParaRPr lang="zh-CN" altLang="en-US" dirty="0">
              <a:latin typeface="微软雅黑" panose="020B0503020204020204" pitchFamily="34" charset="-122"/>
              <a:ea typeface="微软雅黑" panose="020B0503020204020204" pitchFamily="34" charset="-122"/>
            </a:endParaRPr>
          </a:p>
          <a:p>
            <a:pPr marL="495300" indent="-495300"/>
            <a:r>
              <a:rPr lang="zh-CN" altLang="en-US" sz="2000" dirty="0">
                <a:latin typeface="微软雅黑" panose="020B0503020204020204" pitchFamily="34" charset="-122"/>
                <a:ea typeface="微软雅黑" panose="020B0503020204020204" pitchFamily="34" charset="-122"/>
              </a:rPr>
              <a:t>定点运算：</a:t>
            </a:r>
            <a:r>
              <a:rPr lang="en-US" altLang="zh-CN" sz="2000" dirty="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实现基本算术和逻辑运算，</a:t>
            </a:r>
            <a:r>
              <a:rPr lang="en-US" altLang="zh-CN" sz="2000" dirty="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移位器实现其他运算</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1285875" lvl="2" indent="-371475">
              <a:buNone/>
            </a:pPr>
            <a:r>
              <a:rPr lang="zh-CN" altLang="en-US" sz="2000" dirty="0">
                <a:solidFill>
                  <a:srgbClr val="FF0066"/>
                </a:solidFill>
                <a:latin typeface="微软雅黑" panose="020B0503020204020204" pitchFamily="34" charset="-122"/>
                <a:ea typeface="微软雅黑" panose="020B0503020204020204" pitchFamily="34" charset="-122"/>
              </a:rPr>
              <a:t>补码加</a:t>
            </a:r>
            <a:r>
              <a:rPr lang="en-US" altLang="zh-CN" sz="2000" dirty="0">
                <a:solidFill>
                  <a:srgbClr val="FF0066"/>
                </a:solidFill>
                <a:latin typeface="微软雅黑" panose="020B0503020204020204" pitchFamily="34" charset="-122"/>
                <a:ea typeface="微软雅黑" panose="020B0503020204020204" pitchFamily="34" charset="-122"/>
              </a:rPr>
              <a:t>/</a:t>
            </a:r>
            <a:r>
              <a:rPr lang="zh-CN" altLang="en-US" sz="2000" dirty="0">
                <a:solidFill>
                  <a:srgbClr val="FF0066"/>
                </a:solidFill>
                <a:latin typeface="微软雅黑" panose="020B0503020204020204" pitchFamily="34" charset="-122"/>
                <a:ea typeface="微软雅黑" panose="020B0503020204020204" pitchFamily="34" charset="-122"/>
              </a:rPr>
              <a:t>减：</a:t>
            </a:r>
            <a:r>
              <a:rPr lang="zh-CN" altLang="en-US" sz="2000" dirty="0">
                <a:solidFill>
                  <a:srgbClr val="009900"/>
                </a:solidFill>
                <a:latin typeface="微软雅黑" panose="020B0503020204020204" pitchFamily="34" charset="-122"/>
                <a:ea typeface="微软雅黑" panose="020B0503020204020204" pitchFamily="34" charset="-122"/>
              </a:rPr>
              <a:t>符号位和数值位一起运算，减法用加法实现。同号相加时可能溢出</a:t>
            </a:r>
            <a:endParaRPr lang="zh-CN" altLang="en-US" sz="2000" dirty="0">
              <a:solidFill>
                <a:srgbClr val="009900"/>
              </a:solidFill>
              <a:latin typeface="微软雅黑" panose="020B0503020204020204" pitchFamily="34" charset="-122"/>
              <a:ea typeface="微软雅黑" panose="020B0503020204020204" pitchFamily="34" charset="-122"/>
            </a:endParaRPr>
          </a:p>
          <a:p>
            <a:pPr marL="1285875" lvl="2" indent="-371475">
              <a:buNone/>
            </a:pPr>
            <a:r>
              <a:rPr lang="zh-CN" altLang="en-US" sz="2000" dirty="0">
                <a:solidFill>
                  <a:srgbClr val="FF0066"/>
                </a:solidFill>
                <a:latin typeface="微软雅黑" panose="020B0503020204020204" pitchFamily="34" charset="-122"/>
                <a:ea typeface="微软雅黑" panose="020B0503020204020204" pitchFamily="34" charset="-122"/>
              </a:rPr>
              <a:t>原码加</a:t>
            </a:r>
            <a:r>
              <a:rPr lang="en-US" altLang="zh-CN" sz="2000" dirty="0">
                <a:solidFill>
                  <a:srgbClr val="FF0066"/>
                </a:solidFill>
                <a:latin typeface="微软雅黑" panose="020B0503020204020204" pitchFamily="34" charset="-122"/>
                <a:ea typeface="微软雅黑" panose="020B0503020204020204" pitchFamily="34" charset="-122"/>
              </a:rPr>
              <a:t>/</a:t>
            </a:r>
            <a:r>
              <a:rPr lang="zh-CN" altLang="en-US" sz="2000" dirty="0">
                <a:solidFill>
                  <a:srgbClr val="FF0066"/>
                </a:solidFill>
                <a:latin typeface="微软雅黑" panose="020B0503020204020204" pitchFamily="34" charset="-122"/>
                <a:ea typeface="微软雅黑" panose="020B0503020204020204" pitchFamily="34" charset="-122"/>
              </a:rPr>
              <a:t>减：</a:t>
            </a:r>
            <a:r>
              <a:rPr lang="zh-CN" altLang="en-US" sz="2000" dirty="0">
                <a:solidFill>
                  <a:srgbClr val="009900"/>
                </a:solidFill>
                <a:latin typeface="微软雅黑" panose="020B0503020204020204" pitchFamily="34" charset="-122"/>
                <a:ea typeface="微软雅黑" panose="020B0503020204020204" pitchFamily="34" charset="-122"/>
              </a:rPr>
              <a:t>符号位和数值位分开运算，用于浮点数尾数加</a:t>
            </a:r>
            <a:r>
              <a:rPr lang="en-US" altLang="zh-CN" sz="2000" dirty="0">
                <a:solidFill>
                  <a:srgbClr val="009900"/>
                </a:solidFill>
                <a:latin typeface="微软雅黑" panose="020B0503020204020204" pitchFamily="34" charset="-122"/>
                <a:ea typeface="微软雅黑" panose="020B0503020204020204" pitchFamily="34" charset="-122"/>
              </a:rPr>
              <a:t>/</a:t>
            </a:r>
            <a:r>
              <a:rPr lang="zh-CN" altLang="en-US" sz="2000" dirty="0">
                <a:solidFill>
                  <a:srgbClr val="009900"/>
                </a:solidFill>
                <a:latin typeface="微软雅黑" panose="020B0503020204020204" pitchFamily="34" charset="-122"/>
                <a:ea typeface="微软雅黑" panose="020B0503020204020204" pitchFamily="34" charset="-122"/>
              </a:rPr>
              <a:t>减运算</a:t>
            </a:r>
            <a:endParaRPr lang="zh-CN" altLang="en-US" sz="2000" dirty="0">
              <a:solidFill>
                <a:srgbClr val="009900"/>
              </a:solidFill>
              <a:latin typeface="微软雅黑" panose="020B0503020204020204" pitchFamily="34" charset="-122"/>
              <a:ea typeface="微软雅黑" panose="020B0503020204020204" pitchFamily="34" charset="-122"/>
            </a:endParaRPr>
          </a:p>
          <a:p>
            <a:pPr marL="1285875" lvl="2" indent="-371475">
              <a:buNone/>
            </a:pPr>
            <a:r>
              <a:rPr lang="zh-CN" altLang="en-US" sz="2000" dirty="0">
                <a:solidFill>
                  <a:srgbClr val="FF0066"/>
                </a:solidFill>
                <a:latin typeface="微软雅黑" panose="020B0503020204020204" pitchFamily="34" charset="-122"/>
                <a:ea typeface="微软雅黑" panose="020B0503020204020204" pitchFamily="34" charset="-122"/>
              </a:rPr>
              <a:t>移码加减：</a:t>
            </a:r>
            <a:r>
              <a:rPr lang="zh-CN" altLang="en-US" sz="2000" dirty="0">
                <a:solidFill>
                  <a:srgbClr val="009900"/>
                </a:solidFill>
                <a:latin typeface="微软雅黑" panose="020B0503020204020204" pitchFamily="34" charset="-122"/>
                <a:ea typeface="微软雅黑" panose="020B0503020204020204" pitchFamily="34" charset="-122"/>
              </a:rPr>
              <a:t>移码的和、差等于和、差的补码，用于浮点数阶码加</a:t>
            </a:r>
            <a:r>
              <a:rPr lang="en-US" altLang="zh-CN" sz="2000" dirty="0">
                <a:solidFill>
                  <a:srgbClr val="009900"/>
                </a:solidFill>
                <a:latin typeface="微软雅黑" panose="020B0503020204020204" pitchFamily="34" charset="-122"/>
                <a:ea typeface="微软雅黑" panose="020B0503020204020204" pitchFamily="34" charset="-122"/>
              </a:rPr>
              <a:t>/</a:t>
            </a:r>
            <a:r>
              <a:rPr lang="zh-CN" altLang="en-US" sz="2000" dirty="0">
                <a:solidFill>
                  <a:srgbClr val="009900"/>
                </a:solidFill>
                <a:latin typeface="微软雅黑" panose="020B0503020204020204" pitchFamily="34" charset="-122"/>
                <a:ea typeface="微软雅黑" panose="020B0503020204020204" pitchFamily="34" charset="-122"/>
              </a:rPr>
              <a:t>减运算</a:t>
            </a:r>
            <a:endParaRPr lang="zh-CN" altLang="en-US" sz="2000" dirty="0">
              <a:solidFill>
                <a:srgbClr val="0099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8099">
                                            <p:txEl>
                                              <p:charRg st="40" end="65"/>
                                            </p:txEl>
                                          </p:spTgt>
                                        </p:tgtEl>
                                        <p:attrNameLst>
                                          <p:attrName>style.visibility</p:attrName>
                                        </p:attrNameLst>
                                      </p:cBhvr>
                                      <p:to>
                                        <p:strVal val="visible"/>
                                      </p:to>
                                    </p:set>
                                    <p:animEffect transition="in" filter="blinds(horizontal)">
                                      <p:cBhvr>
                                        <p:cTn id="7" dur="500"/>
                                        <p:tgtEl>
                                          <p:spTgt spid="388099">
                                            <p:txEl>
                                              <p:charRg st="40" end="6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8099">
                                            <p:txEl>
                                              <p:charRg st="101" end="137"/>
                                            </p:txEl>
                                          </p:spTgt>
                                        </p:tgtEl>
                                        <p:attrNameLst>
                                          <p:attrName>style.visibility</p:attrName>
                                        </p:attrNameLst>
                                      </p:cBhvr>
                                      <p:to>
                                        <p:strVal val="visible"/>
                                      </p:to>
                                    </p:set>
                                    <p:animEffect transition="in" filter="blinds(horizontal)">
                                      <p:cBhvr>
                                        <p:cTn id="12" dur="500"/>
                                        <p:tgtEl>
                                          <p:spTgt spid="388099">
                                            <p:txEl>
                                              <p:charRg st="101" end="1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8099">
                                            <p:txEl>
                                              <p:charRg st="137" end="168"/>
                                            </p:txEl>
                                          </p:spTgt>
                                        </p:tgtEl>
                                        <p:attrNameLst>
                                          <p:attrName>style.visibility</p:attrName>
                                        </p:attrNameLst>
                                      </p:cBhvr>
                                      <p:to>
                                        <p:strVal val="visible"/>
                                      </p:to>
                                    </p:set>
                                    <p:animEffect transition="in" filter="blinds(horizontal)">
                                      <p:cBhvr>
                                        <p:cTn id="17" dur="500"/>
                                        <p:tgtEl>
                                          <p:spTgt spid="388099">
                                            <p:txEl>
                                              <p:charRg st="137" end="16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8099">
                                            <p:txEl>
                                              <p:charRg st="168" end="201"/>
                                            </p:txEl>
                                          </p:spTgt>
                                        </p:tgtEl>
                                        <p:attrNameLst>
                                          <p:attrName>style.visibility</p:attrName>
                                        </p:attrNameLst>
                                      </p:cBhvr>
                                      <p:to>
                                        <p:strVal val="visible"/>
                                      </p:to>
                                    </p:set>
                                    <p:animEffect transition="in" filter="blinds(horizontal)">
                                      <p:cBhvr>
                                        <p:cTn id="22" dur="500"/>
                                        <p:tgtEl>
                                          <p:spTgt spid="388099">
                                            <p:txEl>
                                              <p:charRg st="168" end="2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p:nvPr>
        </p:nvSpPr>
        <p:spPr>
          <a:xfrm>
            <a:off x="800100" y="190500"/>
            <a:ext cx="6073775" cy="479425"/>
          </a:xfrm>
          <a:ln/>
        </p:spPr>
        <p:txBody>
          <a:bodyPr vert="horz" wrap="square" lIns="63500" tIns="25400" rIns="63500" bIns="25400" anchor="t" anchorCtr="0">
            <a:spAutoFit/>
          </a:bodyPr>
          <a:p>
            <a:r>
              <a:rPr lang="zh-CN" altLang="en-US" dirty="0">
                <a:ea typeface="宋体" panose="02010600030101010101" pitchFamily="2" charset="-122"/>
              </a:rPr>
              <a:t>第二讲小结</a:t>
            </a:r>
            <a:endParaRPr lang="zh-CN" altLang="en-US" dirty="0">
              <a:ea typeface="宋体" panose="02010600030101010101" pitchFamily="2" charset="-122"/>
            </a:endParaRPr>
          </a:p>
        </p:txBody>
      </p:sp>
      <p:sp>
        <p:nvSpPr>
          <p:cNvPr id="487427" name="Rectangle 3"/>
          <p:cNvSpPr>
            <a:spLocks noGrp="1"/>
          </p:cNvSpPr>
          <p:nvPr>
            <p:ph idx="1"/>
          </p:nvPr>
        </p:nvSpPr>
        <p:spPr>
          <a:xfrm>
            <a:off x="0" y="358775"/>
            <a:ext cx="9144000" cy="5354638"/>
          </a:xfrm>
          <a:ln/>
        </p:spPr>
        <p:txBody>
          <a:bodyPr vert="horz" wrap="square" lIns="63500" tIns="25400" rIns="63500" bIns="25400" anchor="t" anchorCtr="0">
            <a:spAutoFit/>
          </a:bodyPr>
          <a:p>
            <a:pPr marL="495300" indent="-495300">
              <a:buNone/>
            </a:pPr>
            <a:endParaRPr lang="zh-CN" altLang="en-US" sz="2500" b="0" dirty="0">
              <a:solidFill>
                <a:srgbClr val="009900"/>
              </a:solidFill>
              <a:latin typeface="黑体" panose="02010609060101010101" pitchFamily="49" charset="-122"/>
              <a:ea typeface="黑体" panose="02010609060101010101" pitchFamily="49" charset="-122"/>
            </a:endParaRPr>
          </a:p>
          <a:p>
            <a:pPr marL="949325" lvl="1" indent="-454025">
              <a:buNone/>
            </a:pPr>
            <a:r>
              <a:rPr lang="zh-CN" altLang="en-US" dirty="0">
                <a:latin typeface="微软雅黑" panose="020B0503020204020204" pitchFamily="34" charset="-122"/>
                <a:ea typeface="微软雅黑" panose="020B0503020204020204" pitchFamily="34" charset="-122"/>
              </a:rPr>
              <a:t>乘法运算：</a:t>
            </a:r>
            <a:endParaRPr lang="zh-CN" altLang="en-US" dirty="0">
              <a:latin typeface="微软雅黑" panose="020B0503020204020204" pitchFamily="34" charset="-122"/>
              <a:ea typeface="微软雅黑" panose="020B0503020204020204" pitchFamily="34" charset="-122"/>
            </a:endParaRPr>
          </a:p>
          <a:p>
            <a:pPr marL="1285875" lvl="2" indent="-371475">
              <a:buNone/>
            </a:pPr>
            <a:r>
              <a:rPr lang="zh-CN" altLang="en-US" sz="1900" dirty="0">
                <a:solidFill>
                  <a:srgbClr val="FF0066"/>
                </a:solidFill>
                <a:latin typeface="微软雅黑" panose="020B0503020204020204" pitchFamily="34" charset="-122"/>
                <a:ea typeface="微软雅黑" panose="020B0503020204020204" pitchFamily="34" charset="-122"/>
              </a:rPr>
              <a:t>无符号数乘法：</a:t>
            </a:r>
            <a:r>
              <a:rPr lang="zh-CN" altLang="en-US" sz="1900" dirty="0">
                <a:solidFill>
                  <a:srgbClr val="009900"/>
                </a:solidFill>
                <a:latin typeface="微软雅黑" panose="020B0503020204020204" pitchFamily="34" charset="-122"/>
                <a:ea typeface="微软雅黑" panose="020B0503020204020204" pitchFamily="34" charset="-122"/>
              </a:rPr>
              <a:t>“加”</a:t>
            </a:r>
            <a:r>
              <a:rPr lang="en-US" altLang="zh-CN" sz="1900" dirty="0">
                <a:solidFill>
                  <a:srgbClr val="009900"/>
                </a:solidFill>
                <a:latin typeface="微软雅黑" panose="020B0503020204020204" pitchFamily="34" charset="-122"/>
                <a:ea typeface="微软雅黑" panose="020B0503020204020204" pitchFamily="34" charset="-122"/>
              </a:rPr>
              <a:t>+“</a:t>
            </a:r>
            <a:r>
              <a:rPr lang="zh-CN" altLang="en-US" sz="1900" dirty="0">
                <a:solidFill>
                  <a:srgbClr val="009900"/>
                </a:solidFill>
                <a:latin typeface="微软雅黑" panose="020B0503020204020204" pitchFamily="34" charset="-122"/>
                <a:ea typeface="微软雅黑" panose="020B0503020204020204" pitchFamily="34" charset="-122"/>
              </a:rPr>
              <a:t>右移”</a:t>
            </a:r>
            <a:endParaRPr lang="zh-CN" altLang="en-US" sz="1900" dirty="0">
              <a:solidFill>
                <a:srgbClr val="009900"/>
              </a:solidFill>
              <a:latin typeface="微软雅黑" panose="020B0503020204020204" pitchFamily="34" charset="-122"/>
              <a:ea typeface="微软雅黑" panose="020B0503020204020204" pitchFamily="34" charset="-122"/>
            </a:endParaRPr>
          </a:p>
          <a:p>
            <a:pPr marL="1285875" lvl="2" indent="-371475">
              <a:buNone/>
            </a:pPr>
            <a:r>
              <a:rPr lang="zh-CN" altLang="en-US" sz="1900" dirty="0">
                <a:solidFill>
                  <a:srgbClr val="FF0066"/>
                </a:solidFill>
                <a:latin typeface="微软雅黑" panose="020B0503020204020204" pitchFamily="34" charset="-122"/>
                <a:ea typeface="微软雅黑" panose="020B0503020204020204" pitchFamily="34" charset="-122"/>
              </a:rPr>
              <a:t>原码（一位</a:t>
            </a:r>
            <a:r>
              <a:rPr lang="en-US" altLang="zh-CN" sz="1900" dirty="0">
                <a:solidFill>
                  <a:srgbClr val="FF0066"/>
                </a:solidFill>
                <a:latin typeface="微软雅黑" panose="020B0503020204020204" pitchFamily="34" charset="-122"/>
                <a:ea typeface="微软雅黑" panose="020B0503020204020204" pitchFamily="34" charset="-122"/>
              </a:rPr>
              <a:t>/</a:t>
            </a:r>
            <a:r>
              <a:rPr lang="zh-CN" altLang="en-US" sz="1900" dirty="0">
                <a:solidFill>
                  <a:srgbClr val="FF0066"/>
                </a:solidFill>
                <a:latin typeface="微软雅黑" panose="020B0503020204020204" pitchFamily="34" charset="-122"/>
                <a:ea typeface="微软雅黑" panose="020B0503020204020204" pitchFamily="34" charset="-122"/>
              </a:rPr>
              <a:t>两位）乘法：</a:t>
            </a:r>
            <a:r>
              <a:rPr lang="zh-CN" altLang="en-US" sz="1900" dirty="0">
                <a:solidFill>
                  <a:srgbClr val="009900"/>
                </a:solidFill>
                <a:latin typeface="微软雅黑" panose="020B0503020204020204" pitchFamily="34" charset="-122"/>
                <a:ea typeface="微软雅黑" panose="020B0503020204020204" pitchFamily="34" charset="-122"/>
              </a:rPr>
              <a:t>符号和数值分开运算，数值部分用无符号数乘法实现，用于浮点数尾数乘法运算。</a:t>
            </a:r>
            <a:endParaRPr lang="zh-CN" altLang="en-US" sz="1900" dirty="0">
              <a:solidFill>
                <a:srgbClr val="009900"/>
              </a:solidFill>
              <a:latin typeface="微软雅黑" panose="020B0503020204020204" pitchFamily="34" charset="-122"/>
              <a:ea typeface="微软雅黑" panose="020B0503020204020204" pitchFamily="34" charset="-122"/>
            </a:endParaRPr>
          </a:p>
          <a:p>
            <a:pPr marL="1285875" lvl="2" indent="-371475">
              <a:buNone/>
            </a:pPr>
            <a:r>
              <a:rPr lang="zh-CN" altLang="en-US" sz="1900" dirty="0">
                <a:solidFill>
                  <a:srgbClr val="FF0066"/>
                </a:solidFill>
                <a:latin typeface="微软雅黑" panose="020B0503020204020204" pitchFamily="34" charset="-122"/>
                <a:ea typeface="微软雅黑" panose="020B0503020204020204" pitchFamily="34" charset="-122"/>
              </a:rPr>
              <a:t>补码（一位</a:t>
            </a:r>
            <a:r>
              <a:rPr lang="en-US" altLang="zh-CN" sz="1900" dirty="0">
                <a:solidFill>
                  <a:srgbClr val="FF0066"/>
                </a:solidFill>
                <a:latin typeface="微软雅黑" panose="020B0503020204020204" pitchFamily="34" charset="-122"/>
                <a:ea typeface="微软雅黑" panose="020B0503020204020204" pitchFamily="34" charset="-122"/>
              </a:rPr>
              <a:t>/</a:t>
            </a:r>
            <a:r>
              <a:rPr lang="zh-CN" altLang="en-US" sz="1900" dirty="0">
                <a:solidFill>
                  <a:srgbClr val="FF0066"/>
                </a:solidFill>
                <a:latin typeface="微软雅黑" panose="020B0503020204020204" pitchFamily="34" charset="-122"/>
                <a:ea typeface="微软雅黑" panose="020B0503020204020204" pitchFamily="34" charset="-122"/>
              </a:rPr>
              <a:t>两位）乘法：</a:t>
            </a:r>
            <a:r>
              <a:rPr lang="zh-CN" altLang="en-US" sz="1900" dirty="0">
                <a:solidFill>
                  <a:srgbClr val="009900"/>
                </a:solidFill>
                <a:latin typeface="微软雅黑" panose="020B0503020204020204" pitchFamily="34" charset="-122"/>
                <a:ea typeface="微软雅黑" panose="020B0503020204020204" pitchFamily="34" charset="-122"/>
              </a:rPr>
              <a:t>符号和数值一起运算，采用</a:t>
            </a:r>
            <a:r>
              <a:rPr lang="en-US" altLang="zh-CN" sz="1900" dirty="0">
                <a:solidFill>
                  <a:srgbClr val="009900"/>
                </a:solidFill>
                <a:latin typeface="微软雅黑" panose="020B0503020204020204" pitchFamily="34" charset="-122"/>
                <a:ea typeface="微软雅黑" panose="020B0503020204020204" pitchFamily="34" charset="-122"/>
              </a:rPr>
              <a:t>Booth</a:t>
            </a:r>
            <a:r>
              <a:rPr lang="zh-CN" altLang="en-US" sz="1900" dirty="0">
                <a:solidFill>
                  <a:srgbClr val="009900"/>
                </a:solidFill>
                <a:latin typeface="微软雅黑" panose="020B0503020204020204" pitchFamily="34" charset="-122"/>
                <a:ea typeface="微软雅黑" panose="020B0503020204020204" pitchFamily="34" charset="-122"/>
              </a:rPr>
              <a:t>算法。</a:t>
            </a:r>
            <a:endParaRPr lang="zh-CN" altLang="en-US" sz="1900" dirty="0">
              <a:solidFill>
                <a:srgbClr val="009900"/>
              </a:solidFill>
              <a:latin typeface="微软雅黑" panose="020B0503020204020204" pitchFamily="34" charset="-122"/>
              <a:ea typeface="微软雅黑" panose="020B0503020204020204" pitchFamily="34" charset="-122"/>
            </a:endParaRPr>
          </a:p>
          <a:p>
            <a:pPr marL="1285875" lvl="2" indent="-371475">
              <a:buNone/>
            </a:pPr>
            <a:r>
              <a:rPr lang="zh-CN" altLang="en-US" sz="1900" dirty="0">
                <a:solidFill>
                  <a:srgbClr val="FF0066"/>
                </a:solidFill>
                <a:latin typeface="微软雅黑" panose="020B0503020204020204" pitchFamily="34" charset="-122"/>
                <a:ea typeface="微软雅黑" panose="020B0503020204020204" pitchFamily="34" charset="-122"/>
              </a:rPr>
              <a:t>快速乘法器：</a:t>
            </a:r>
            <a:r>
              <a:rPr lang="zh-CN" altLang="en-US" sz="1900" dirty="0">
                <a:solidFill>
                  <a:srgbClr val="009900"/>
                </a:solidFill>
                <a:latin typeface="微软雅黑" panose="020B0503020204020204" pitchFamily="34" charset="-122"/>
                <a:ea typeface="微软雅黑" panose="020B0503020204020204" pitchFamily="34" charset="-122"/>
              </a:rPr>
              <a:t>流水化乘法器、阵列乘法器</a:t>
            </a:r>
            <a:endParaRPr lang="en-US" altLang="zh-CN" sz="1900" dirty="0">
              <a:solidFill>
                <a:srgbClr val="009900"/>
              </a:solidFill>
              <a:latin typeface="微软雅黑" panose="020B0503020204020204" pitchFamily="34" charset="-122"/>
              <a:ea typeface="微软雅黑" panose="020B0503020204020204" pitchFamily="34" charset="-122"/>
            </a:endParaRPr>
          </a:p>
          <a:p>
            <a:pPr marL="495300" indent="-495300">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除法运算：</a:t>
            </a:r>
            <a:endParaRPr lang="zh-CN" altLang="en-US" sz="2000" dirty="0">
              <a:solidFill>
                <a:schemeClr val="accent2"/>
              </a:solidFill>
              <a:latin typeface="微软雅黑" panose="020B0503020204020204" pitchFamily="34" charset="-122"/>
              <a:ea typeface="微软雅黑" panose="020B0503020204020204" pitchFamily="34" charset="-122"/>
            </a:endParaRPr>
          </a:p>
          <a:p>
            <a:pPr marL="495300" indent="-495300">
              <a:buNone/>
            </a:pPr>
            <a:r>
              <a:rPr lang="zh-CN" altLang="en-US" sz="2000" dirty="0">
                <a:latin typeface="微软雅黑" panose="020B0503020204020204" pitchFamily="34" charset="-122"/>
                <a:ea typeface="微软雅黑" panose="020B0503020204020204" pitchFamily="34" charset="-122"/>
              </a:rPr>
              <a:t>          </a:t>
            </a:r>
            <a:r>
              <a:rPr lang="zh-CN" altLang="en-US" sz="1900" dirty="0">
                <a:solidFill>
                  <a:srgbClr val="FF0066"/>
                </a:solidFill>
                <a:latin typeface="微软雅黑" panose="020B0503020204020204" pitchFamily="34" charset="-122"/>
                <a:ea typeface="微软雅黑" panose="020B0503020204020204" pitchFamily="34" charset="-122"/>
              </a:rPr>
              <a:t>无符号数除法：</a:t>
            </a:r>
            <a:r>
              <a:rPr lang="zh-CN" altLang="en-US" sz="1900" dirty="0">
                <a:solidFill>
                  <a:srgbClr val="009900"/>
                </a:solidFill>
                <a:latin typeface="微软雅黑" panose="020B0503020204020204" pitchFamily="34" charset="-122"/>
                <a:ea typeface="微软雅黑" panose="020B0503020204020204" pitchFamily="34" charset="-122"/>
              </a:rPr>
              <a:t>用“加</a:t>
            </a:r>
            <a:r>
              <a:rPr lang="en-US" altLang="zh-CN" sz="1900" dirty="0">
                <a:solidFill>
                  <a:srgbClr val="009900"/>
                </a:solidFill>
                <a:latin typeface="微软雅黑" panose="020B0503020204020204" pitchFamily="34" charset="-122"/>
                <a:ea typeface="微软雅黑" panose="020B0503020204020204" pitchFamily="34" charset="-122"/>
              </a:rPr>
              <a:t>/</a:t>
            </a:r>
            <a:r>
              <a:rPr lang="zh-CN" altLang="en-US" sz="1900" dirty="0">
                <a:solidFill>
                  <a:srgbClr val="009900"/>
                </a:solidFill>
                <a:latin typeface="微软雅黑" panose="020B0503020204020204" pitchFamily="34" charset="-122"/>
                <a:ea typeface="微软雅黑" panose="020B0503020204020204" pitchFamily="34" charset="-122"/>
              </a:rPr>
              <a:t>减”</a:t>
            </a:r>
            <a:r>
              <a:rPr lang="en-US" altLang="zh-CN" sz="1900" dirty="0">
                <a:solidFill>
                  <a:srgbClr val="009900"/>
                </a:solidFill>
                <a:latin typeface="微软雅黑" panose="020B0503020204020204" pitchFamily="34" charset="-122"/>
                <a:ea typeface="微软雅黑" panose="020B0503020204020204" pitchFamily="34" charset="-122"/>
              </a:rPr>
              <a:t>+“</a:t>
            </a:r>
            <a:r>
              <a:rPr lang="zh-CN" altLang="en-US" sz="1900" dirty="0">
                <a:solidFill>
                  <a:srgbClr val="009900"/>
                </a:solidFill>
                <a:latin typeface="微软雅黑" panose="020B0503020204020204" pitchFamily="34" charset="-122"/>
                <a:ea typeface="微软雅黑" panose="020B0503020204020204" pitchFamily="34" charset="-122"/>
              </a:rPr>
              <a:t>左移” ，有恢复余数和不恢复余数两种。</a:t>
            </a:r>
            <a:endParaRPr lang="zh-CN" altLang="en-US" sz="1900" dirty="0">
              <a:solidFill>
                <a:srgbClr val="009900"/>
              </a:solidFill>
              <a:latin typeface="微软雅黑" panose="020B0503020204020204" pitchFamily="34" charset="-122"/>
              <a:ea typeface="微软雅黑" panose="020B0503020204020204" pitchFamily="34" charset="-122"/>
            </a:endParaRPr>
          </a:p>
          <a:p>
            <a:pPr marL="949325" lvl="1" indent="-454025">
              <a:buNone/>
            </a:pPr>
            <a:r>
              <a:rPr lang="zh-CN" altLang="en-US" sz="1900" dirty="0">
                <a:solidFill>
                  <a:srgbClr val="009900"/>
                </a:solidFill>
                <a:latin typeface="微软雅黑" panose="020B0503020204020204" pitchFamily="34" charset="-122"/>
                <a:ea typeface="微软雅黑" panose="020B0503020204020204" pitchFamily="34" charset="-122"/>
              </a:rPr>
              <a:t>    </a:t>
            </a:r>
            <a:r>
              <a:rPr lang="zh-CN" altLang="en-US" sz="1900" dirty="0">
                <a:solidFill>
                  <a:srgbClr val="FF0066"/>
                </a:solidFill>
                <a:latin typeface="微软雅黑" panose="020B0503020204020204" pitchFamily="34" charset="-122"/>
                <a:ea typeface="微软雅黑" panose="020B0503020204020204" pitchFamily="34" charset="-122"/>
              </a:rPr>
              <a:t>原码除法：</a:t>
            </a:r>
            <a:r>
              <a:rPr lang="zh-CN" altLang="en-US" sz="1900" dirty="0">
                <a:solidFill>
                  <a:srgbClr val="009900"/>
                </a:solidFill>
                <a:latin typeface="微软雅黑" panose="020B0503020204020204" pitchFamily="34" charset="-122"/>
                <a:ea typeface="微软雅黑" panose="020B0503020204020204" pitchFamily="34" charset="-122"/>
              </a:rPr>
              <a:t>符号和数值分开，数值部分用无符号数除法实现，用于浮点数尾数除法运算。</a:t>
            </a:r>
            <a:endParaRPr lang="zh-CN" altLang="en-US" sz="1900" dirty="0">
              <a:solidFill>
                <a:srgbClr val="009900"/>
              </a:solidFill>
              <a:latin typeface="微软雅黑" panose="020B0503020204020204" pitchFamily="34" charset="-122"/>
              <a:ea typeface="微软雅黑" panose="020B0503020204020204" pitchFamily="34" charset="-122"/>
            </a:endParaRPr>
          </a:p>
          <a:p>
            <a:pPr marL="949325" lvl="1" indent="-454025">
              <a:buNone/>
            </a:pPr>
            <a:r>
              <a:rPr lang="zh-CN" altLang="en-US" sz="1900" dirty="0">
                <a:solidFill>
                  <a:srgbClr val="009900"/>
                </a:solidFill>
                <a:latin typeface="微软雅黑" panose="020B0503020204020204" pitchFamily="34" charset="-122"/>
                <a:ea typeface="微软雅黑" panose="020B0503020204020204" pitchFamily="34" charset="-122"/>
              </a:rPr>
              <a:t>    </a:t>
            </a:r>
            <a:r>
              <a:rPr lang="zh-CN" altLang="en-US" sz="1900" dirty="0">
                <a:solidFill>
                  <a:srgbClr val="FF0066"/>
                </a:solidFill>
                <a:latin typeface="微软雅黑" panose="020B0503020204020204" pitchFamily="34" charset="-122"/>
                <a:ea typeface="微软雅黑" panose="020B0503020204020204" pitchFamily="34" charset="-122"/>
              </a:rPr>
              <a:t>补码除法：</a:t>
            </a:r>
            <a:r>
              <a:rPr lang="zh-CN" altLang="en-US" sz="1900" dirty="0">
                <a:solidFill>
                  <a:srgbClr val="009900"/>
                </a:solidFill>
                <a:latin typeface="微软雅黑" panose="020B0503020204020204" pitchFamily="34" charset="-122"/>
                <a:ea typeface="微软雅黑" panose="020B0503020204020204" pitchFamily="34" charset="-122"/>
              </a:rPr>
              <a:t>符号位和数值位一起。有恢复余数和不恢复余数两种。</a:t>
            </a:r>
            <a:endParaRPr lang="zh-CN" altLang="en-US" sz="1900" dirty="0">
              <a:solidFill>
                <a:srgbClr val="009900"/>
              </a:solidFill>
              <a:latin typeface="微软雅黑" panose="020B0503020204020204" pitchFamily="34" charset="-122"/>
              <a:ea typeface="微软雅黑" panose="020B0503020204020204" pitchFamily="34" charset="-122"/>
            </a:endParaRPr>
          </a:p>
          <a:p>
            <a:pPr marL="949325" lvl="1" indent="-454025">
              <a:buNone/>
            </a:pPr>
            <a:r>
              <a:rPr lang="zh-CN" altLang="en-US" sz="1900" dirty="0">
                <a:solidFill>
                  <a:srgbClr val="009900"/>
                </a:solidFill>
                <a:latin typeface="微软雅黑" panose="020B0503020204020204" pitchFamily="34" charset="-122"/>
                <a:ea typeface="微软雅黑" panose="020B0503020204020204" pitchFamily="34" charset="-122"/>
              </a:rPr>
              <a:t>    </a:t>
            </a:r>
            <a:r>
              <a:rPr lang="zh-CN" altLang="en-US" sz="1900" dirty="0">
                <a:solidFill>
                  <a:srgbClr val="FF0066"/>
                </a:solidFill>
                <a:latin typeface="微软雅黑" panose="020B0503020204020204" pitchFamily="34" charset="-122"/>
                <a:ea typeface="微软雅黑" panose="020B0503020204020204" pitchFamily="34" charset="-122"/>
              </a:rPr>
              <a:t>快速除法器：</a:t>
            </a:r>
            <a:r>
              <a:rPr lang="zh-CN" altLang="en-US" sz="1900" dirty="0">
                <a:solidFill>
                  <a:srgbClr val="009900"/>
                </a:solidFill>
                <a:latin typeface="微软雅黑" panose="020B0503020204020204" pitchFamily="34" charset="-122"/>
                <a:ea typeface="微软雅黑" panose="020B0503020204020204" pitchFamily="34" charset="-122"/>
              </a:rPr>
              <a:t>很难实现流水化除法器，可实现阵列除法器，或用乘法实现</a:t>
            </a:r>
            <a:endParaRPr lang="zh-CN" altLang="en-US" sz="1900" dirty="0">
              <a:solidFill>
                <a:srgbClr val="009900"/>
              </a:solidFill>
              <a:latin typeface="微软雅黑" panose="020B0503020204020204" pitchFamily="34" charset="-122"/>
              <a:ea typeface="微软雅黑" panose="020B0503020204020204" pitchFamily="34" charset="-122"/>
            </a:endParaRPr>
          </a:p>
          <a:p>
            <a:pPr marL="495300" indent="-495300"/>
            <a:r>
              <a:rPr lang="zh-CN" altLang="en-US" sz="2000" dirty="0">
                <a:latin typeface="微软雅黑" panose="020B0503020204020204" pitchFamily="34" charset="-122"/>
                <a:ea typeface="微软雅黑" panose="020B0503020204020204" pitchFamily="34" charset="-122"/>
              </a:rPr>
              <a:t>定点部件：</a:t>
            </a:r>
            <a:r>
              <a:rPr lang="en-US" altLang="zh-CN" sz="2000" dirty="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GRS</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MUX</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Shifter</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寄存器等，</a:t>
            </a:r>
            <a:r>
              <a:rPr lang="en-US" altLang="zh-CN" sz="2000" dirty="0">
                <a:latin typeface="微软雅黑" panose="020B0503020204020204" pitchFamily="34" charset="-122"/>
                <a:ea typeface="微软雅黑" panose="020B0503020204020204" pitchFamily="34" charset="-122"/>
              </a:rPr>
              <a:t>CU</a:t>
            </a:r>
            <a:r>
              <a:rPr lang="zh-CN" altLang="en-US" sz="2000" dirty="0">
                <a:latin typeface="微软雅黑" panose="020B0503020204020204" pitchFamily="34" charset="-122"/>
                <a:ea typeface="微软雅黑" panose="020B0503020204020204" pitchFamily="34" charset="-122"/>
              </a:rPr>
              <a:t>控制执行</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7427">
                                            <p:txEl>
                                              <p:charRg st="7" end="23"/>
                                            </p:txEl>
                                          </p:spTgt>
                                        </p:tgtEl>
                                        <p:attrNameLst>
                                          <p:attrName>style.visibility</p:attrName>
                                        </p:attrNameLst>
                                      </p:cBhvr>
                                      <p:to>
                                        <p:strVal val="visible"/>
                                      </p:to>
                                    </p:set>
                                    <p:animEffect transition="in" filter="blinds(horizontal)">
                                      <p:cBhvr>
                                        <p:cTn id="7" dur="500"/>
                                        <p:tgtEl>
                                          <p:spTgt spid="487427">
                                            <p:txEl>
                                              <p:charRg st="7"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87427">
                                            <p:txEl>
                                              <p:charRg st="23" end="72"/>
                                            </p:txEl>
                                          </p:spTgt>
                                        </p:tgtEl>
                                        <p:attrNameLst>
                                          <p:attrName>style.visibility</p:attrName>
                                        </p:attrNameLst>
                                      </p:cBhvr>
                                      <p:to>
                                        <p:strVal val="visible"/>
                                      </p:to>
                                    </p:set>
                                    <p:animEffect transition="in" filter="blinds(horizontal)">
                                      <p:cBhvr>
                                        <p:cTn id="12" dur="500"/>
                                        <p:tgtEl>
                                          <p:spTgt spid="487427">
                                            <p:txEl>
                                              <p:charRg st="23" end="7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7427">
                                            <p:txEl>
                                              <p:charRg st="72" end="105"/>
                                            </p:txEl>
                                          </p:spTgt>
                                        </p:tgtEl>
                                        <p:attrNameLst>
                                          <p:attrName>style.visibility</p:attrName>
                                        </p:attrNameLst>
                                      </p:cBhvr>
                                      <p:to>
                                        <p:strVal val="visible"/>
                                      </p:to>
                                    </p:set>
                                    <p:animEffect transition="in" filter="blinds(horizontal)">
                                      <p:cBhvr>
                                        <p:cTn id="17" dur="500"/>
                                        <p:tgtEl>
                                          <p:spTgt spid="487427">
                                            <p:txEl>
                                              <p:charRg st="72" end="10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87427">
                                            <p:txEl>
                                              <p:charRg st="105" end="124"/>
                                            </p:txEl>
                                          </p:spTgt>
                                        </p:tgtEl>
                                        <p:attrNameLst>
                                          <p:attrName>style.visibility</p:attrName>
                                        </p:attrNameLst>
                                      </p:cBhvr>
                                      <p:to>
                                        <p:strVal val="visible"/>
                                      </p:to>
                                    </p:set>
                                    <p:animEffect transition="in" filter="blinds(horizontal)">
                                      <p:cBhvr>
                                        <p:cTn id="22" dur="500"/>
                                        <p:tgtEl>
                                          <p:spTgt spid="487427">
                                            <p:txEl>
                                              <p:charRg st="105" end="12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87427">
                                            <p:txEl>
                                              <p:charRg st="137" end="182"/>
                                            </p:txEl>
                                          </p:spTgt>
                                        </p:tgtEl>
                                        <p:attrNameLst>
                                          <p:attrName>style.visibility</p:attrName>
                                        </p:attrNameLst>
                                      </p:cBhvr>
                                      <p:to>
                                        <p:strVal val="visible"/>
                                      </p:to>
                                    </p:set>
                                    <p:animEffect transition="in" filter="blinds(horizontal)">
                                      <p:cBhvr>
                                        <p:cTn id="27" dur="500"/>
                                        <p:tgtEl>
                                          <p:spTgt spid="487427">
                                            <p:txEl>
                                              <p:charRg st="137" end="18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87427">
                                            <p:txEl>
                                              <p:charRg st="182" end="226"/>
                                            </p:txEl>
                                          </p:spTgt>
                                        </p:tgtEl>
                                        <p:attrNameLst>
                                          <p:attrName>style.visibility</p:attrName>
                                        </p:attrNameLst>
                                      </p:cBhvr>
                                      <p:to>
                                        <p:strVal val="visible"/>
                                      </p:to>
                                    </p:set>
                                    <p:animEffect transition="in" filter="blinds(horizontal)">
                                      <p:cBhvr>
                                        <p:cTn id="32" dur="500"/>
                                        <p:tgtEl>
                                          <p:spTgt spid="487427">
                                            <p:txEl>
                                              <p:charRg st="182" end="22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87427">
                                            <p:txEl>
                                              <p:charRg st="226" end="260"/>
                                            </p:txEl>
                                          </p:spTgt>
                                        </p:tgtEl>
                                        <p:attrNameLst>
                                          <p:attrName>style.visibility</p:attrName>
                                        </p:attrNameLst>
                                      </p:cBhvr>
                                      <p:to>
                                        <p:strVal val="visible"/>
                                      </p:to>
                                    </p:set>
                                    <p:animEffect transition="in" filter="blinds(horizontal)">
                                      <p:cBhvr>
                                        <p:cTn id="37" dur="500"/>
                                        <p:tgtEl>
                                          <p:spTgt spid="487427">
                                            <p:txEl>
                                              <p:charRg st="226" end="26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87427">
                                            <p:txEl>
                                              <p:charRg st="260" end="297"/>
                                            </p:txEl>
                                          </p:spTgt>
                                        </p:tgtEl>
                                        <p:attrNameLst>
                                          <p:attrName>style.visibility</p:attrName>
                                        </p:attrNameLst>
                                      </p:cBhvr>
                                      <p:to>
                                        <p:strVal val="visible"/>
                                      </p:to>
                                    </p:set>
                                    <p:animEffect transition="in" filter="blinds(horizontal)">
                                      <p:cBhvr>
                                        <p:cTn id="42" dur="500"/>
                                        <p:tgtEl>
                                          <p:spTgt spid="487427">
                                            <p:txEl>
                                              <p:charRg st="260" end="29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87427">
                                            <p:txEl>
                                              <p:charRg st="297" end="335"/>
                                            </p:txEl>
                                          </p:spTgt>
                                        </p:tgtEl>
                                        <p:attrNameLst>
                                          <p:attrName>style.visibility</p:attrName>
                                        </p:attrNameLst>
                                      </p:cBhvr>
                                      <p:to>
                                        <p:strVal val="visible"/>
                                      </p:to>
                                    </p:set>
                                    <p:animEffect transition="in" filter="blinds(horizontal)">
                                      <p:cBhvr>
                                        <p:cTn id="47" dur="500"/>
                                        <p:tgtEl>
                                          <p:spTgt spid="487427">
                                            <p:txEl>
                                              <p:charRg st="297" end="3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4"/>
          <p:cNvSpPr/>
          <p:nvPr/>
        </p:nvSpPr>
        <p:spPr>
          <a:xfrm>
            <a:off x="800100" y="190500"/>
            <a:ext cx="6073775" cy="479425"/>
          </a:xfrm>
          <a:prstGeom prst="rect">
            <a:avLst/>
          </a:prstGeom>
          <a:noFill/>
          <a:ln w="12700">
            <a:noFill/>
          </a:ln>
        </p:spPr>
        <p:txBody>
          <a:bodyPr lIns="63500" tIns="25400" rIns="63500" bIns="25400" anchor="t" anchorCtr="0">
            <a:spAutoFit/>
          </a:bodyPr>
          <a:p>
            <a:pPr eaLnBrk="0" hangingPunct="0">
              <a:lnSpc>
                <a:spcPct val="87000"/>
              </a:lnSpc>
            </a:pPr>
            <a:r>
              <a:rPr lang="zh-CN" altLang="en-US" sz="3200" dirty="0">
                <a:solidFill>
                  <a:srgbClr val="CC0000"/>
                </a:solidFill>
                <a:latin typeface="Arial" panose="020B0604020202020204" pitchFamily="34" charset="0"/>
                <a:ea typeface="宋体" panose="02010600030101010101" pitchFamily="2" charset="-122"/>
              </a:rPr>
              <a:t>第三讲：浮点数运算</a:t>
            </a:r>
            <a:endParaRPr lang="zh-CN" altLang="en-US" sz="3200" dirty="0">
              <a:solidFill>
                <a:srgbClr val="CC0000"/>
              </a:solidFill>
              <a:latin typeface="Arial" panose="020B0604020202020204" pitchFamily="34" charset="0"/>
              <a:ea typeface="宋体" panose="02010600030101010101" pitchFamily="2" charset="-122"/>
            </a:endParaRPr>
          </a:p>
        </p:txBody>
      </p:sp>
      <p:sp>
        <p:nvSpPr>
          <p:cNvPr id="115714" name="Rectangle 5"/>
          <p:cNvSpPr/>
          <p:nvPr/>
        </p:nvSpPr>
        <p:spPr>
          <a:xfrm>
            <a:off x="717550" y="1000125"/>
            <a:ext cx="7954963" cy="4964113"/>
          </a:xfrm>
          <a:prstGeom prst="rect">
            <a:avLst/>
          </a:prstGeom>
          <a:noFill/>
          <a:ln w="12700">
            <a:noFill/>
          </a:ln>
        </p:spPr>
        <p:txBody>
          <a:bodyPr lIns="63500" tIns="25400" rIns="63500" bIns="25400" anchor="t" anchorCtr="0">
            <a:spAutoFit/>
          </a:bodyPr>
          <a:p>
            <a:pPr marL="342900" indent="-342900" algn="ctr" eaLnBrk="0" hangingPunct="0">
              <a:lnSpc>
                <a:spcPct val="110000"/>
              </a:lnSpc>
              <a:spcBef>
                <a:spcPct val="10000"/>
              </a:spcBef>
              <a:buClr>
                <a:schemeClr val="tx1"/>
              </a:buClr>
              <a:buSzPct val="60000"/>
              <a:buFont typeface="Wingdings" panose="05000000000000000000" pitchFamily="2" charset="2"/>
            </a:pPr>
            <a:r>
              <a:rPr lang="zh-CN" altLang="en-US" sz="2800" dirty="0">
                <a:solidFill>
                  <a:srgbClr val="CC0000"/>
                </a:solidFill>
                <a:latin typeface="Arial" panose="020B0604020202020204" pitchFamily="34" charset="0"/>
                <a:ea typeface="黑体" panose="02010609060101010101" pitchFamily="49" charset="-122"/>
              </a:rPr>
              <a:t>主    要   内   容</a:t>
            </a:r>
            <a:endParaRPr lang="zh-CN" altLang="en-US" sz="2800" dirty="0">
              <a:solidFill>
                <a:srgbClr val="CC0000"/>
              </a:solidFill>
              <a:latin typeface="Arial" panose="020B0604020202020204" pitchFamily="34" charset="0"/>
              <a:ea typeface="黑体" panose="02010609060101010101" pitchFamily="49"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Arial" panose="020B0604020202020204" pitchFamily="34" charset="0"/>
                <a:ea typeface="黑体" panose="02010609060101010101" pitchFamily="49" charset="-122"/>
              </a:rPr>
              <a:t>指令集中与浮点运算相关的指令（ 以</a:t>
            </a:r>
            <a:r>
              <a:rPr lang="en-US" altLang="zh-CN" sz="2400" dirty="0">
                <a:latin typeface="Arial" panose="020B0604020202020204" pitchFamily="34" charset="0"/>
                <a:ea typeface="黑体" panose="02010609060101010101" pitchFamily="49" charset="-122"/>
              </a:rPr>
              <a:t>MIPS</a:t>
            </a:r>
            <a:r>
              <a:rPr lang="zh-CN" altLang="en-US" sz="2400" dirty="0">
                <a:latin typeface="Arial" panose="020B0604020202020204" pitchFamily="34" charset="0"/>
                <a:ea typeface="黑体" panose="02010609060101010101" pitchFamily="49" charset="-122"/>
              </a:rPr>
              <a:t>为例 ）</a:t>
            </a:r>
            <a:endParaRPr lang="zh-CN" altLang="en-US" sz="2400" dirty="0">
              <a:latin typeface="Arial" panose="020B0604020202020204" pitchFamily="34" charset="0"/>
              <a:ea typeface="黑体" panose="02010609060101010101" pitchFamily="49" charset="-122"/>
            </a:endParaRPr>
          </a:p>
          <a:p>
            <a:pPr marL="742950" lvl="1" indent="-285750" eaLnBrk="0" hangingPunct="0">
              <a:lnSpc>
                <a:spcPct val="110000"/>
              </a:lnSpc>
              <a:spcBef>
                <a:spcPct val="25000"/>
              </a:spcBef>
              <a:buChar char="•"/>
            </a:pPr>
            <a:r>
              <a:rPr lang="zh-CN" altLang="en-US" sz="2400" dirty="0">
                <a:solidFill>
                  <a:srgbClr val="0000FF"/>
                </a:solidFill>
                <a:latin typeface="Arial" panose="020B0604020202020204" pitchFamily="34" charset="0"/>
                <a:ea typeface="黑体" panose="02010609060101010101" pitchFamily="49" charset="-122"/>
              </a:rPr>
              <a:t>涉及到的操作数</a:t>
            </a:r>
            <a:endParaRPr lang="zh-CN" altLang="en-US" sz="2400" dirty="0">
              <a:solidFill>
                <a:srgbClr val="0000FF"/>
              </a:solidFill>
              <a:latin typeface="Arial" panose="020B0604020202020204" pitchFamily="34" charset="0"/>
              <a:ea typeface="黑体" panose="02010609060101010101" pitchFamily="49" charset="-122"/>
            </a:endParaRPr>
          </a:p>
          <a:p>
            <a:pPr marL="1143000" lvl="2" indent="-228600" eaLnBrk="0" hangingPunct="0">
              <a:lnSpc>
                <a:spcPct val="110000"/>
              </a:lnSpc>
              <a:spcBef>
                <a:spcPct val="25000"/>
              </a:spcBef>
              <a:buChar char="-"/>
            </a:pPr>
            <a:r>
              <a:rPr lang="zh-CN" altLang="en-US" sz="2400" dirty="0">
                <a:latin typeface="Arial" panose="020B0604020202020204" pitchFamily="34" charset="0"/>
                <a:ea typeface="黑体" panose="02010609060101010101" pitchFamily="49" charset="-122"/>
              </a:rPr>
              <a:t>单精度浮点数</a:t>
            </a:r>
            <a:endParaRPr lang="zh-CN" altLang="en-US" sz="2400" dirty="0">
              <a:latin typeface="Arial" panose="020B0604020202020204" pitchFamily="34" charset="0"/>
              <a:ea typeface="黑体" panose="02010609060101010101" pitchFamily="49" charset="-122"/>
            </a:endParaRPr>
          </a:p>
          <a:p>
            <a:pPr marL="1143000" lvl="2" indent="-228600" eaLnBrk="0" hangingPunct="0">
              <a:lnSpc>
                <a:spcPct val="110000"/>
              </a:lnSpc>
              <a:spcBef>
                <a:spcPct val="25000"/>
              </a:spcBef>
              <a:buChar char="-"/>
            </a:pPr>
            <a:r>
              <a:rPr lang="zh-CN" altLang="en-US" sz="2400" dirty="0">
                <a:latin typeface="Arial" panose="020B0604020202020204" pitchFamily="34" charset="0"/>
                <a:ea typeface="黑体" panose="02010609060101010101" pitchFamily="49" charset="-122"/>
              </a:rPr>
              <a:t>双精度浮点数</a:t>
            </a:r>
            <a:endParaRPr lang="zh-CN" altLang="en-US" sz="2400" dirty="0">
              <a:latin typeface="Arial" panose="020B0604020202020204" pitchFamily="34" charset="0"/>
              <a:ea typeface="黑体" panose="02010609060101010101" pitchFamily="49" charset="-122"/>
            </a:endParaRPr>
          </a:p>
          <a:p>
            <a:pPr marL="742950" lvl="1" indent="-285750" eaLnBrk="0" hangingPunct="0">
              <a:lnSpc>
                <a:spcPct val="110000"/>
              </a:lnSpc>
              <a:spcBef>
                <a:spcPct val="25000"/>
              </a:spcBef>
              <a:buChar char="•"/>
            </a:pPr>
            <a:r>
              <a:rPr lang="zh-CN" altLang="en-US" sz="2400" dirty="0">
                <a:solidFill>
                  <a:srgbClr val="0000FF"/>
                </a:solidFill>
                <a:latin typeface="Arial" panose="020B0604020202020204" pitchFamily="34" charset="0"/>
                <a:ea typeface="黑体" panose="02010609060101010101" pitchFamily="49" charset="-122"/>
              </a:rPr>
              <a:t>涉及到的运算</a:t>
            </a:r>
            <a:endParaRPr lang="zh-CN" altLang="en-US" sz="2400" dirty="0">
              <a:solidFill>
                <a:srgbClr val="0000FF"/>
              </a:solidFill>
              <a:latin typeface="Arial" panose="020B0604020202020204" pitchFamily="34" charset="0"/>
              <a:ea typeface="黑体" panose="02010609060101010101" pitchFamily="49" charset="-122"/>
            </a:endParaRPr>
          </a:p>
          <a:p>
            <a:pPr marL="1143000" lvl="2" indent="-228600" eaLnBrk="0" hangingPunct="0">
              <a:lnSpc>
                <a:spcPct val="110000"/>
              </a:lnSpc>
              <a:spcBef>
                <a:spcPct val="25000"/>
              </a:spcBef>
              <a:buChar char="-"/>
            </a:pPr>
            <a:r>
              <a:rPr lang="zh-CN" altLang="en-US" sz="2400" dirty="0">
                <a:latin typeface="Arial" panose="020B0604020202020204" pitchFamily="34" charset="0"/>
                <a:ea typeface="黑体" panose="02010609060101010101" pitchFamily="49" charset="-122"/>
              </a:rPr>
              <a:t>算术运算：</a:t>
            </a:r>
            <a:r>
              <a:rPr lang="en-US" altLang="zh-CN" sz="2400" dirty="0">
                <a:solidFill>
                  <a:srgbClr val="CC0000"/>
                </a:solidFill>
                <a:latin typeface="Arial" panose="020B0604020202020204" pitchFamily="34" charset="0"/>
                <a:ea typeface="黑体" panose="02010609060101010101" pitchFamily="49" charset="-122"/>
              </a:rPr>
              <a:t> </a:t>
            </a:r>
            <a:r>
              <a:rPr lang="zh-CN" altLang="en-US" sz="2400" dirty="0">
                <a:solidFill>
                  <a:srgbClr val="CC0000"/>
                </a:solidFill>
                <a:latin typeface="Arial" panose="020B0604020202020204" pitchFamily="34" charset="0"/>
                <a:ea typeface="黑体" panose="02010609060101010101" pitchFamily="49" charset="-122"/>
              </a:rPr>
              <a:t>加 </a:t>
            </a:r>
            <a:r>
              <a:rPr lang="en-US" altLang="zh-CN" sz="2400" dirty="0">
                <a:solidFill>
                  <a:srgbClr val="CC0000"/>
                </a:solidFill>
                <a:latin typeface="Arial" panose="020B0604020202020204" pitchFamily="34" charset="0"/>
                <a:ea typeface="黑体" panose="02010609060101010101" pitchFamily="49" charset="-122"/>
              </a:rPr>
              <a:t>/ </a:t>
            </a:r>
            <a:r>
              <a:rPr lang="zh-CN" altLang="en-US" sz="2400" dirty="0">
                <a:solidFill>
                  <a:srgbClr val="CC0000"/>
                </a:solidFill>
                <a:latin typeface="Arial" panose="020B0604020202020204" pitchFamily="34" charset="0"/>
                <a:ea typeface="黑体" panose="02010609060101010101" pitchFamily="49" charset="-122"/>
              </a:rPr>
              <a:t>减 </a:t>
            </a:r>
            <a:r>
              <a:rPr lang="en-US" altLang="zh-CN" sz="2400" dirty="0">
                <a:solidFill>
                  <a:srgbClr val="CC0000"/>
                </a:solidFill>
                <a:latin typeface="Arial" panose="020B0604020202020204" pitchFamily="34" charset="0"/>
                <a:ea typeface="黑体" panose="02010609060101010101" pitchFamily="49" charset="-122"/>
              </a:rPr>
              <a:t>/ </a:t>
            </a:r>
            <a:r>
              <a:rPr lang="zh-CN" altLang="en-US" sz="2400" dirty="0">
                <a:solidFill>
                  <a:srgbClr val="CC0000"/>
                </a:solidFill>
                <a:latin typeface="Arial" panose="020B0604020202020204" pitchFamily="34" charset="0"/>
                <a:ea typeface="黑体" panose="02010609060101010101" pitchFamily="49" charset="-122"/>
              </a:rPr>
              <a:t>乘 </a:t>
            </a:r>
            <a:r>
              <a:rPr lang="en-US" altLang="zh-CN" sz="2400" dirty="0">
                <a:solidFill>
                  <a:srgbClr val="CC0000"/>
                </a:solidFill>
                <a:latin typeface="Arial" panose="020B0604020202020204" pitchFamily="34" charset="0"/>
                <a:ea typeface="黑体" panose="02010609060101010101" pitchFamily="49" charset="-122"/>
              </a:rPr>
              <a:t>/ </a:t>
            </a:r>
            <a:r>
              <a:rPr lang="zh-CN" altLang="en-US" sz="2400" dirty="0">
                <a:solidFill>
                  <a:srgbClr val="CC0000"/>
                </a:solidFill>
                <a:latin typeface="Arial" panose="020B0604020202020204" pitchFamily="34" charset="0"/>
                <a:ea typeface="黑体" panose="02010609060101010101" pitchFamily="49" charset="-122"/>
              </a:rPr>
              <a:t>除 </a:t>
            </a:r>
            <a:r>
              <a:rPr lang="en-US" altLang="zh-CN" sz="2400" dirty="0">
                <a:solidFill>
                  <a:srgbClr val="CC0000"/>
                </a:solidFill>
                <a:latin typeface="Arial" panose="020B0604020202020204" pitchFamily="34" charset="0"/>
                <a:ea typeface="黑体" panose="02010609060101010101" pitchFamily="49" charset="-122"/>
              </a:rPr>
              <a:t> </a:t>
            </a:r>
            <a:r>
              <a:rPr lang="zh-CN" altLang="en-US" sz="2400" dirty="0">
                <a:solidFill>
                  <a:srgbClr val="CC0000"/>
                </a:solidFill>
                <a:latin typeface="Arial" panose="020B0604020202020204" pitchFamily="34" charset="0"/>
                <a:ea typeface="黑体" panose="02010609060101010101" pitchFamily="49" charset="-122"/>
              </a:rPr>
              <a:t> </a:t>
            </a:r>
            <a:endParaRPr lang="zh-CN" altLang="en-US" sz="2400" dirty="0">
              <a:latin typeface="Arial" panose="020B0604020202020204" pitchFamily="34" charset="0"/>
              <a:ea typeface="黑体" panose="02010609060101010101" pitchFamily="49"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Arial" panose="020B0604020202020204" pitchFamily="34" charset="0"/>
                <a:ea typeface="黑体" panose="02010609060101010101" pitchFamily="49" charset="-122"/>
              </a:rPr>
              <a:t>浮点数加减运算</a:t>
            </a:r>
            <a:endParaRPr lang="zh-CN" altLang="en-US" sz="2400" dirty="0">
              <a:latin typeface="Arial" panose="020B0604020202020204" pitchFamily="34" charset="0"/>
              <a:ea typeface="黑体" panose="02010609060101010101" pitchFamily="49"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Arial" panose="020B0604020202020204" pitchFamily="34" charset="0"/>
                <a:ea typeface="黑体" panose="02010609060101010101" pitchFamily="49" charset="-122"/>
              </a:rPr>
              <a:t>浮点数乘除运算</a:t>
            </a:r>
            <a:endParaRPr lang="zh-CN" altLang="en-US" sz="2400" dirty="0">
              <a:latin typeface="Arial" panose="020B0604020202020204" pitchFamily="34" charset="0"/>
              <a:ea typeface="黑体" panose="02010609060101010101" pitchFamily="49" charset="-122"/>
            </a:endParaRPr>
          </a:p>
          <a:p>
            <a:pPr marL="342900" indent="-342900" eaLnBrk="0" hangingPunct="0">
              <a:lnSpc>
                <a:spcPct val="110000"/>
              </a:lnSpc>
              <a:spcBef>
                <a:spcPct val="25000"/>
              </a:spcBef>
              <a:buClr>
                <a:schemeClr val="tx1"/>
              </a:buClr>
              <a:buSzPct val="60000"/>
              <a:buFont typeface="Wingdings" panose="05000000000000000000" pitchFamily="2" charset="2"/>
              <a:buChar char="u"/>
            </a:pPr>
            <a:r>
              <a:rPr lang="zh-CN" altLang="en-US" sz="2400" dirty="0">
                <a:latin typeface="Arial" panose="020B0604020202020204" pitchFamily="34" charset="0"/>
                <a:ea typeface="黑体" panose="02010609060101010101" pitchFamily="49" charset="-122"/>
              </a:rPr>
              <a:t>浮点数运算的精度问题</a:t>
            </a:r>
            <a:endParaRPr lang="zh-CN" altLang="en-US" sz="2400" dirty="0">
              <a:latin typeface="Arial" panose="020B0604020202020204" pitchFamily="34" charset="0"/>
              <a:ea typeface="黑体" panose="02010609060101010101"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2"/>
          <p:cNvSpPr>
            <a:spLocks noGrp="1"/>
          </p:cNvSpPr>
          <p:nvPr>
            <p:ph type="title"/>
          </p:nvPr>
        </p:nvSpPr>
        <p:spPr>
          <a:xfrm>
            <a:off x="711200" y="114300"/>
            <a:ext cx="6583363" cy="474663"/>
          </a:xfrm>
          <a:ln/>
        </p:spPr>
        <p:txBody>
          <a:bodyPr vert="horz" wrap="none" lIns="63500" tIns="25400" rIns="63500" bIns="25400" anchor="t" anchorCtr="0">
            <a:spAutoFit/>
          </a:bodyPr>
          <a:p>
            <a:r>
              <a:rPr lang="zh-CN" altLang="en-US" dirty="0">
                <a:ea typeface="宋体" panose="02010600030101010101" pitchFamily="2" charset="-122"/>
              </a:rPr>
              <a:t>有关</a:t>
            </a:r>
            <a:r>
              <a:rPr lang="en-US" altLang="zh-CN" dirty="0">
                <a:ea typeface="宋体" panose="02010600030101010101" pitchFamily="2" charset="-122"/>
              </a:rPr>
              <a:t>Floating-point number</a:t>
            </a:r>
            <a:r>
              <a:rPr lang="zh-CN" altLang="en-US" dirty="0">
                <a:ea typeface="宋体" panose="02010600030101010101" pitchFamily="2" charset="-122"/>
              </a:rPr>
              <a:t>的问题 </a:t>
            </a:r>
            <a:endParaRPr lang="zh-CN" altLang="en-US" dirty="0">
              <a:ea typeface="宋体" panose="02010600030101010101" pitchFamily="2" charset="-122"/>
            </a:endParaRPr>
          </a:p>
        </p:txBody>
      </p:sp>
      <p:sp>
        <p:nvSpPr>
          <p:cNvPr id="182295" name="Rectangle 23"/>
          <p:cNvSpPr>
            <a:spLocks noGrp="1"/>
          </p:cNvSpPr>
          <p:nvPr>
            <p:ph idx="1"/>
          </p:nvPr>
        </p:nvSpPr>
        <p:spPr>
          <a:xfrm>
            <a:off x="303213" y="1419225"/>
            <a:ext cx="8648700" cy="4691063"/>
          </a:xfrm>
          <a:ln/>
        </p:spPr>
        <p:txBody>
          <a:bodyPr vert="horz" wrap="square" lIns="63500" tIns="25400" rIns="63500" bIns="25400" anchor="t" anchorCtr="0">
            <a:spAutoFit/>
          </a:bodyPr>
          <a:p>
            <a:pPr lvl="1">
              <a:buNone/>
            </a:pPr>
            <a:r>
              <a:rPr lang="en-US" altLang="zh-CN" sz="2200" dirty="0">
                <a:ea typeface="黑体" panose="02010609060101010101" pitchFamily="49" charset="-122"/>
              </a:rPr>
              <a:t>Issues:</a:t>
            </a:r>
            <a:endParaRPr lang="en-US" altLang="zh-CN" sz="2200" dirty="0">
              <a:ea typeface="黑体" panose="02010609060101010101" pitchFamily="49" charset="-122"/>
            </a:endParaRPr>
          </a:p>
          <a:p>
            <a:pPr lvl="1">
              <a:buNone/>
            </a:pPr>
            <a:r>
              <a:rPr lang="en-US" altLang="zh-CN" sz="2200" dirty="0">
                <a:ea typeface="黑体" panose="02010609060101010101" pitchFamily="49" charset="-122"/>
              </a:rPr>
              <a:t>	° Representation(</a:t>
            </a:r>
            <a:r>
              <a:rPr lang="zh-CN" altLang="en-US" sz="2200" dirty="0">
                <a:ea typeface="黑体" panose="02010609060101010101" pitchFamily="49" charset="-122"/>
              </a:rPr>
              <a:t>表示</a:t>
            </a:r>
            <a:r>
              <a:rPr lang="en-US" altLang="zh-CN" sz="2200" dirty="0">
                <a:ea typeface="黑体" panose="02010609060101010101" pitchFamily="49" charset="-122"/>
              </a:rPr>
              <a:t>)</a:t>
            </a:r>
            <a:r>
              <a:rPr lang="zh-CN" altLang="en-US" sz="2200" dirty="0">
                <a:ea typeface="黑体" panose="02010609060101010101" pitchFamily="49" charset="-122"/>
              </a:rPr>
              <a:t>：</a:t>
            </a:r>
            <a:endParaRPr lang="zh-CN" altLang="en-US" sz="2200" dirty="0">
              <a:ea typeface="黑体" panose="02010609060101010101" pitchFamily="49" charset="-122"/>
            </a:endParaRPr>
          </a:p>
          <a:p>
            <a:pPr lvl="2">
              <a:buNone/>
            </a:pPr>
            <a:r>
              <a:rPr lang="en-US" altLang="zh-CN" sz="2200" dirty="0">
                <a:solidFill>
                  <a:srgbClr val="CC0000"/>
                </a:solidFill>
                <a:ea typeface="黑体" panose="02010609060101010101" pitchFamily="49" charset="-122"/>
              </a:rPr>
              <a:t>Normalized form (</a:t>
            </a:r>
            <a:r>
              <a:rPr lang="zh-CN" altLang="en-US" sz="2200" dirty="0">
                <a:solidFill>
                  <a:srgbClr val="CC0000"/>
                </a:solidFill>
                <a:ea typeface="黑体" panose="02010609060101010101" pitchFamily="49" charset="-122"/>
              </a:rPr>
              <a:t>规格化形式</a:t>
            </a:r>
            <a:r>
              <a:rPr lang="en-US" altLang="zh-CN" sz="2200" dirty="0">
                <a:solidFill>
                  <a:srgbClr val="CC0000"/>
                </a:solidFill>
                <a:ea typeface="黑体" panose="02010609060101010101" pitchFamily="49" charset="-122"/>
              </a:rPr>
              <a:t>) </a:t>
            </a:r>
            <a:r>
              <a:rPr lang="zh-CN" altLang="en-US" sz="2200" dirty="0">
                <a:solidFill>
                  <a:srgbClr val="CC0000"/>
                </a:solidFill>
                <a:ea typeface="黑体" panose="02010609060101010101" pitchFamily="49" charset="-122"/>
              </a:rPr>
              <a:t>和 </a:t>
            </a:r>
            <a:r>
              <a:rPr lang="en-US" altLang="zh-CN" sz="2200" dirty="0">
                <a:solidFill>
                  <a:srgbClr val="CC0000"/>
                </a:solidFill>
                <a:ea typeface="黑体" panose="02010609060101010101" pitchFamily="49" charset="-122"/>
              </a:rPr>
              <a:t>Denormalized form</a:t>
            </a:r>
            <a:endParaRPr lang="en-US" altLang="zh-CN" sz="2200" dirty="0">
              <a:solidFill>
                <a:srgbClr val="CC0000"/>
              </a:solidFill>
              <a:ea typeface="黑体" panose="02010609060101010101" pitchFamily="49" charset="-122"/>
            </a:endParaRPr>
          </a:p>
          <a:p>
            <a:pPr lvl="2">
              <a:buNone/>
            </a:pPr>
            <a:r>
              <a:rPr lang="zh-CN" altLang="en-US" sz="2200" dirty="0">
                <a:solidFill>
                  <a:srgbClr val="CC0000"/>
                </a:solidFill>
                <a:ea typeface="黑体" panose="02010609060101010101" pitchFamily="49" charset="-122"/>
              </a:rPr>
              <a:t>单精度格式  和 双精度格式</a:t>
            </a:r>
            <a:endParaRPr lang="zh-CN" altLang="en-US" sz="2200" dirty="0">
              <a:solidFill>
                <a:srgbClr val="CC0000"/>
              </a:solidFill>
              <a:ea typeface="黑体" panose="02010609060101010101" pitchFamily="49" charset="-122"/>
            </a:endParaRPr>
          </a:p>
          <a:p>
            <a:pPr lvl="1">
              <a:buNone/>
            </a:pPr>
            <a:r>
              <a:rPr lang="en-US" altLang="zh-CN" sz="2200" dirty="0">
                <a:ea typeface="黑体" panose="02010609060101010101" pitchFamily="49" charset="-122"/>
              </a:rPr>
              <a:t>	° Range and Precision (</a:t>
            </a:r>
            <a:r>
              <a:rPr lang="zh-CN" altLang="en-US" sz="2200" dirty="0">
                <a:ea typeface="黑体" panose="02010609060101010101" pitchFamily="49" charset="-122"/>
              </a:rPr>
              <a:t>表数范围和精度</a:t>
            </a:r>
            <a:r>
              <a:rPr lang="en-US" altLang="zh-CN" sz="2200" dirty="0">
                <a:ea typeface="黑体" panose="02010609060101010101" pitchFamily="49" charset="-122"/>
              </a:rPr>
              <a:t>)</a:t>
            </a:r>
            <a:endParaRPr lang="en-US" altLang="zh-CN" sz="2200" dirty="0">
              <a:ea typeface="黑体" panose="02010609060101010101" pitchFamily="49" charset="-122"/>
            </a:endParaRPr>
          </a:p>
          <a:p>
            <a:pPr lvl="1">
              <a:buNone/>
            </a:pPr>
            <a:r>
              <a:rPr lang="en-US" altLang="zh-CN" sz="2200" dirty="0">
                <a:ea typeface="黑体" panose="02010609060101010101" pitchFamily="49" charset="-122"/>
              </a:rPr>
              <a:t>	° Arithmetic (+, -, *, / )</a:t>
            </a:r>
            <a:endParaRPr lang="en-US" altLang="zh-CN" sz="2200" dirty="0">
              <a:ea typeface="黑体" panose="02010609060101010101" pitchFamily="49" charset="-122"/>
            </a:endParaRPr>
          </a:p>
          <a:p>
            <a:pPr lvl="1">
              <a:buNone/>
            </a:pPr>
            <a:r>
              <a:rPr lang="en-US" altLang="zh-CN" sz="2200" dirty="0">
                <a:ea typeface="黑体" panose="02010609060101010101" pitchFamily="49" charset="-122"/>
              </a:rPr>
              <a:t>	° Rounding(</a:t>
            </a:r>
            <a:r>
              <a:rPr lang="zh-CN" altLang="en-US" sz="2200" dirty="0">
                <a:ea typeface="黑体" panose="02010609060101010101" pitchFamily="49" charset="-122"/>
              </a:rPr>
              <a:t>舍入</a:t>
            </a:r>
            <a:r>
              <a:rPr lang="en-US" altLang="zh-CN" sz="2200" dirty="0">
                <a:ea typeface="黑体" panose="02010609060101010101" pitchFamily="49" charset="-122"/>
              </a:rPr>
              <a:t>)</a:t>
            </a:r>
            <a:endParaRPr lang="en-US" altLang="zh-CN" sz="2200" dirty="0">
              <a:ea typeface="黑体" panose="02010609060101010101" pitchFamily="49" charset="-122"/>
            </a:endParaRPr>
          </a:p>
          <a:p>
            <a:pPr lvl="1">
              <a:buNone/>
            </a:pPr>
            <a:r>
              <a:rPr lang="en-US" altLang="zh-CN" sz="2200" dirty="0">
                <a:ea typeface="黑体" panose="02010609060101010101" pitchFamily="49" charset="-122"/>
              </a:rPr>
              <a:t>	° Exceptions (e.g., divide by zero, overflow, underflow)</a:t>
            </a:r>
            <a:endParaRPr lang="en-US" altLang="zh-CN" sz="2200" dirty="0">
              <a:ea typeface="黑体" panose="02010609060101010101" pitchFamily="49" charset="-122"/>
            </a:endParaRPr>
          </a:p>
          <a:p>
            <a:pPr lvl="1">
              <a:buNone/>
            </a:pPr>
            <a:r>
              <a:rPr lang="en-US" altLang="zh-CN" sz="2200" dirty="0">
                <a:ea typeface="黑体" panose="02010609060101010101" pitchFamily="49" charset="-122"/>
              </a:rPr>
              <a:t>        (</a:t>
            </a:r>
            <a:r>
              <a:rPr lang="zh-CN" altLang="en-US" sz="2200" dirty="0">
                <a:ea typeface="黑体" panose="02010609060101010101" pitchFamily="49" charset="-122"/>
              </a:rPr>
              <a:t>异常处理：如除数为</a:t>
            </a:r>
            <a:r>
              <a:rPr lang="en-US" altLang="zh-CN" sz="2200" dirty="0">
                <a:ea typeface="黑体" panose="02010609060101010101" pitchFamily="49" charset="-122"/>
              </a:rPr>
              <a:t>0</a:t>
            </a:r>
            <a:r>
              <a:rPr lang="zh-CN" altLang="en-US" sz="2200" dirty="0">
                <a:ea typeface="黑体" panose="02010609060101010101" pitchFamily="49" charset="-122"/>
              </a:rPr>
              <a:t>，上溢，下溢等</a:t>
            </a:r>
            <a:r>
              <a:rPr lang="en-US" altLang="zh-CN" sz="2200" dirty="0">
                <a:ea typeface="黑体" panose="02010609060101010101" pitchFamily="49" charset="-122"/>
              </a:rPr>
              <a:t>)</a:t>
            </a:r>
            <a:endParaRPr lang="zh-CN" altLang="en-US" sz="2200" dirty="0">
              <a:ea typeface="黑体" panose="02010609060101010101" pitchFamily="49" charset="-122"/>
            </a:endParaRPr>
          </a:p>
          <a:p>
            <a:pPr lvl="1">
              <a:buNone/>
            </a:pPr>
            <a:r>
              <a:rPr lang="en-US" altLang="zh-CN" sz="2200" dirty="0">
                <a:ea typeface="黑体" panose="02010609060101010101" pitchFamily="49" charset="-122"/>
              </a:rPr>
              <a:t>	° Errors (</a:t>
            </a:r>
            <a:r>
              <a:rPr lang="zh-CN" altLang="en-US" sz="2200" dirty="0">
                <a:ea typeface="黑体" panose="02010609060101010101" pitchFamily="49" charset="-122"/>
              </a:rPr>
              <a:t>误差</a:t>
            </a:r>
            <a:r>
              <a:rPr lang="en-US" altLang="zh-CN" sz="2200" dirty="0">
                <a:ea typeface="黑体" panose="02010609060101010101" pitchFamily="49" charset="-122"/>
              </a:rPr>
              <a:t>) </a:t>
            </a:r>
            <a:r>
              <a:rPr lang="zh-CN" altLang="en-US" sz="2200" dirty="0">
                <a:ea typeface="黑体" panose="02010609060101010101" pitchFamily="49" charset="-122"/>
              </a:rPr>
              <a:t>与精度控制</a:t>
            </a:r>
            <a:endParaRPr lang="zh-CN" altLang="en-US" sz="2200" dirty="0">
              <a:ea typeface="黑体" panose="02010609060101010101" pitchFamily="49" charset="-122"/>
            </a:endParaRPr>
          </a:p>
          <a:p>
            <a:pPr lvl="1">
              <a:buNone/>
            </a:pPr>
            <a:r>
              <a:rPr lang="en-US" altLang="zh-CN" sz="1800" dirty="0"/>
              <a:t>	</a:t>
            </a:r>
            <a:endParaRPr lang="en-US" altLang="zh-CN" sz="1800" dirty="0"/>
          </a:p>
        </p:txBody>
      </p:sp>
      <p:sp>
        <p:nvSpPr>
          <p:cNvPr id="116739" name="Text Box 24"/>
          <p:cNvSpPr txBox="1"/>
          <p:nvPr/>
        </p:nvSpPr>
        <p:spPr>
          <a:xfrm>
            <a:off x="784225" y="893763"/>
            <a:ext cx="7677150" cy="457200"/>
          </a:xfrm>
          <a:prstGeom prst="rect">
            <a:avLst/>
          </a:prstGeom>
          <a:noFill/>
          <a:ln w="12700">
            <a:noFill/>
          </a:ln>
        </p:spPr>
        <p:txBody>
          <a:bodyPr anchor="t" anchorCtr="0">
            <a:spAutoFit/>
          </a:bodyPr>
          <a:p>
            <a:pPr eaLnBrk="0" hangingPunct="0">
              <a:spcBef>
                <a:spcPct val="50000"/>
              </a:spcBef>
            </a:pPr>
            <a:r>
              <a:rPr lang="zh-CN" altLang="en-US" sz="2400" dirty="0">
                <a:latin typeface="Times New Roman" panose="02020603050405020304" pitchFamily="18" charset="0"/>
                <a:ea typeface="黑体" panose="02010609060101010101" pitchFamily="49" charset="-122"/>
              </a:rPr>
              <a:t>实现一套浮点数运算指令，要解决的问题有：</a:t>
            </a:r>
            <a:endParaRPr lang="zh-CN" altLang="en-US" sz="2400" dirty="0">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2295">
                                            <p:txEl>
                                              <p:charRg st="8" end="31"/>
                                            </p:txEl>
                                          </p:spTgt>
                                        </p:tgtEl>
                                        <p:attrNameLst>
                                          <p:attrName>style.visibility</p:attrName>
                                        </p:attrNameLst>
                                      </p:cBhvr>
                                      <p:to>
                                        <p:strVal val="visible"/>
                                      </p:to>
                                    </p:set>
                                    <p:animEffect transition="in" filter="blinds(horizontal)">
                                      <p:cBhvr>
                                        <p:cTn id="7" dur="500"/>
                                        <p:tgtEl>
                                          <p:spTgt spid="182295">
                                            <p:txEl>
                                              <p:charRg st="8" end="3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2295">
                                            <p:txEl>
                                              <p:charRg st="31" end="75"/>
                                            </p:txEl>
                                          </p:spTgt>
                                        </p:tgtEl>
                                        <p:attrNameLst>
                                          <p:attrName>style.visibility</p:attrName>
                                        </p:attrNameLst>
                                      </p:cBhvr>
                                      <p:to>
                                        <p:strVal val="visible"/>
                                      </p:to>
                                    </p:set>
                                    <p:animEffect transition="in" filter="blinds(horizontal)">
                                      <p:cBhvr>
                                        <p:cTn id="12" dur="500"/>
                                        <p:tgtEl>
                                          <p:spTgt spid="182295">
                                            <p:txEl>
                                              <p:charRg st="31" end="7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2295">
                                            <p:txEl>
                                              <p:charRg st="75" end="90"/>
                                            </p:txEl>
                                          </p:spTgt>
                                        </p:tgtEl>
                                        <p:attrNameLst>
                                          <p:attrName>style.visibility</p:attrName>
                                        </p:attrNameLst>
                                      </p:cBhvr>
                                      <p:to>
                                        <p:strVal val="visible"/>
                                      </p:to>
                                    </p:set>
                                    <p:animEffect transition="in" filter="blinds(horizontal)">
                                      <p:cBhvr>
                                        <p:cTn id="17" dur="500"/>
                                        <p:tgtEl>
                                          <p:spTgt spid="182295">
                                            <p:txEl>
                                              <p:charRg st="75" end="9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2295">
                                            <p:txEl>
                                              <p:charRg st="90" end="123"/>
                                            </p:txEl>
                                          </p:spTgt>
                                        </p:tgtEl>
                                        <p:attrNameLst>
                                          <p:attrName>style.visibility</p:attrName>
                                        </p:attrNameLst>
                                      </p:cBhvr>
                                      <p:to>
                                        <p:strVal val="visible"/>
                                      </p:to>
                                    </p:set>
                                    <p:animEffect transition="in" filter="blinds(horizontal)">
                                      <p:cBhvr>
                                        <p:cTn id="22" dur="500"/>
                                        <p:tgtEl>
                                          <p:spTgt spid="182295">
                                            <p:txEl>
                                              <p:charRg st="90" end="12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2295">
                                            <p:txEl>
                                              <p:charRg st="123" end="151"/>
                                            </p:txEl>
                                          </p:spTgt>
                                        </p:tgtEl>
                                        <p:attrNameLst>
                                          <p:attrName>style.visibility</p:attrName>
                                        </p:attrNameLst>
                                      </p:cBhvr>
                                      <p:to>
                                        <p:strVal val="visible"/>
                                      </p:to>
                                    </p:set>
                                    <p:animEffect transition="in" filter="blinds(horizontal)">
                                      <p:cBhvr>
                                        <p:cTn id="27" dur="500"/>
                                        <p:tgtEl>
                                          <p:spTgt spid="182295">
                                            <p:txEl>
                                              <p:charRg st="123" end="15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82295">
                                            <p:txEl>
                                              <p:charRg st="151" end="167"/>
                                            </p:txEl>
                                          </p:spTgt>
                                        </p:tgtEl>
                                        <p:attrNameLst>
                                          <p:attrName>style.visibility</p:attrName>
                                        </p:attrNameLst>
                                      </p:cBhvr>
                                      <p:to>
                                        <p:strVal val="visible"/>
                                      </p:to>
                                    </p:set>
                                    <p:animEffect transition="in" filter="blinds(horizontal)">
                                      <p:cBhvr>
                                        <p:cTn id="32" dur="500"/>
                                        <p:tgtEl>
                                          <p:spTgt spid="182295">
                                            <p:txEl>
                                              <p:charRg st="151" end="16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82295">
                                            <p:txEl>
                                              <p:charRg st="167" end="225"/>
                                            </p:txEl>
                                          </p:spTgt>
                                        </p:tgtEl>
                                        <p:attrNameLst>
                                          <p:attrName>style.visibility</p:attrName>
                                        </p:attrNameLst>
                                      </p:cBhvr>
                                      <p:to>
                                        <p:strVal val="visible"/>
                                      </p:to>
                                    </p:set>
                                    <p:animEffect transition="in" filter="blinds(horizontal)">
                                      <p:cBhvr>
                                        <p:cTn id="37" dur="500"/>
                                        <p:tgtEl>
                                          <p:spTgt spid="182295">
                                            <p:txEl>
                                              <p:charRg st="167" end="225"/>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182295">
                                            <p:txEl>
                                              <p:charRg st="225" end="253"/>
                                            </p:txEl>
                                          </p:spTgt>
                                        </p:tgtEl>
                                        <p:attrNameLst>
                                          <p:attrName>style.visibility</p:attrName>
                                        </p:attrNameLst>
                                      </p:cBhvr>
                                      <p:to>
                                        <p:strVal val="visible"/>
                                      </p:to>
                                    </p:set>
                                    <p:animEffect transition="in" filter="blinds(horizontal)">
                                      <p:cBhvr>
                                        <p:cTn id="40" dur="500"/>
                                        <p:tgtEl>
                                          <p:spTgt spid="182295">
                                            <p:txEl>
                                              <p:charRg st="225" end="25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82295">
                                            <p:txEl>
                                              <p:charRg st="253" end="274"/>
                                            </p:txEl>
                                          </p:spTgt>
                                        </p:tgtEl>
                                        <p:attrNameLst>
                                          <p:attrName>style.visibility</p:attrName>
                                        </p:attrNameLst>
                                      </p:cBhvr>
                                      <p:to>
                                        <p:strVal val="visible"/>
                                      </p:to>
                                    </p:set>
                                    <p:animEffect transition="in" filter="blinds(horizontal)">
                                      <p:cBhvr>
                                        <p:cTn id="45" dur="500"/>
                                        <p:tgtEl>
                                          <p:spTgt spid="182295">
                                            <p:txEl>
                                              <p:charRg st="253" end="2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2"/>
          <p:cNvSpPr>
            <a:spLocks noGrp="1"/>
          </p:cNvSpPr>
          <p:nvPr>
            <p:ph type="title" idx="4294967295"/>
          </p:nvPr>
        </p:nvSpPr>
        <p:spPr>
          <a:xfrm>
            <a:off x="482600" y="53975"/>
            <a:ext cx="8305800" cy="600075"/>
          </a:xfrm>
          <a:ln/>
        </p:spPr>
        <p:txBody>
          <a:bodyPr vert="horz" wrap="square" lIns="63500" tIns="25400" rIns="63500" bIns="25400" anchor="t" anchorCtr="0">
            <a:spAutoFit/>
          </a:bodyPr>
          <a:p>
            <a:r>
              <a:rPr lang="zh-CN" altLang="en-US" dirty="0">
                <a:latin typeface="黑体" panose="02010609060101010101" pitchFamily="49" charset="-122"/>
                <a:ea typeface="黑体" panose="02010609060101010101" pitchFamily="49" charset="-122"/>
              </a:rPr>
              <a:t>浮点数运算及结果</a:t>
            </a:r>
            <a:endParaRPr lang="zh-CN" altLang="en-US" sz="3600" dirty="0">
              <a:latin typeface="黑体" panose="02010609060101010101" pitchFamily="49" charset="-122"/>
              <a:ea typeface="黑体" panose="02010609060101010101" pitchFamily="49" charset="-122"/>
            </a:endParaRPr>
          </a:p>
        </p:txBody>
      </p:sp>
      <p:sp>
        <p:nvSpPr>
          <p:cNvPr id="377859" name="Rectangle 3"/>
          <p:cNvSpPr>
            <a:spLocks noGrp="1"/>
          </p:cNvSpPr>
          <p:nvPr>
            <p:ph type="body" idx="4294967295"/>
          </p:nvPr>
        </p:nvSpPr>
        <p:spPr>
          <a:xfrm>
            <a:off x="457200" y="790575"/>
            <a:ext cx="8305800" cy="5667375"/>
          </a:xfrm>
          <a:ln/>
        </p:spPr>
        <p:txBody>
          <a:bodyPr vert="horz" wrap="square" lIns="63500" tIns="25400" rIns="63500" bIns="25400" anchor="t" anchorCtr="0">
            <a:spAutoFit/>
          </a:bodyPr>
          <a:p>
            <a:pPr>
              <a:lnSpc>
                <a:spcPct val="125000"/>
              </a:lnSpc>
              <a:buFontTx/>
              <a:buNone/>
            </a:pPr>
            <a:r>
              <a:rPr lang="zh-CN" altLang="en-US" sz="2000" dirty="0">
                <a:latin typeface="微软雅黑" panose="020B0503020204020204" pitchFamily="34" charset="-122"/>
                <a:ea typeface="微软雅黑" panose="020B0503020204020204" pitchFamily="34" charset="-122"/>
              </a:rPr>
              <a:t>设两个规格化浮点数分别为 </a:t>
            </a:r>
            <a:r>
              <a:rPr lang="en-US" altLang="en-US" sz="2000" dirty="0">
                <a:latin typeface="微软雅黑" panose="020B0503020204020204" pitchFamily="34" charset="-122"/>
                <a:ea typeface="微软雅黑" panose="020B0503020204020204" pitchFamily="34" charset="-122"/>
              </a:rPr>
              <a:t>A=M</a:t>
            </a:r>
            <a:r>
              <a:rPr lang="en-US" altLang="en-US" sz="2000" baseline="-2000" dirty="0">
                <a:latin typeface="微软雅黑" panose="020B0503020204020204" pitchFamily="34" charset="-122"/>
                <a:ea typeface="微软雅黑" panose="020B0503020204020204" pitchFamily="34" charset="-122"/>
              </a:rPr>
              <a:t>a </a:t>
            </a:r>
            <a:r>
              <a:rPr lang="en-US" altLang="en-US" sz="2000" baseline="30000" dirty="0">
                <a:latin typeface="微软雅黑" panose="020B0503020204020204" pitchFamily="34" charset="-122"/>
                <a:ea typeface="微软雅黑" panose="020B0503020204020204" pitchFamily="34" charset="-122"/>
              </a:rPr>
              <a:t>.</a:t>
            </a:r>
            <a:r>
              <a:rPr lang="en-US" altLang="en-US" sz="2000" baseline="-2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2</a:t>
            </a:r>
            <a:r>
              <a:rPr lang="en-US" altLang="en-US" sz="2000" baseline="38000" dirty="0">
                <a:latin typeface="微软雅黑" panose="020B0503020204020204" pitchFamily="34" charset="-122"/>
                <a:ea typeface="微软雅黑" panose="020B0503020204020204" pitchFamily="34" charset="-122"/>
              </a:rPr>
              <a:t>Ea     </a:t>
            </a:r>
            <a:r>
              <a:rPr lang="en-US" altLang="en-US" sz="2000" dirty="0">
                <a:latin typeface="微软雅黑" panose="020B0503020204020204" pitchFamily="34" charset="-122"/>
                <a:ea typeface="微软雅黑" panose="020B0503020204020204" pitchFamily="34" charset="-122"/>
              </a:rPr>
              <a:t>B=M</a:t>
            </a:r>
            <a:r>
              <a:rPr lang="en-US" altLang="en-US" sz="2000" baseline="-2000" dirty="0">
                <a:latin typeface="微软雅黑" panose="020B0503020204020204" pitchFamily="34" charset="-122"/>
                <a:ea typeface="微软雅黑" panose="020B0503020204020204" pitchFamily="34" charset="-122"/>
              </a:rPr>
              <a:t>b</a:t>
            </a:r>
            <a:r>
              <a:rPr lang="en-US" altLang="en-US" sz="2000" baseline="30000" dirty="0">
                <a:latin typeface="微软雅黑" panose="020B0503020204020204" pitchFamily="34" charset="-122"/>
                <a:ea typeface="微软雅黑" panose="020B0503020204020204" pitchFamily="34" charset="-122"/>
              </a:rPr>
              <a:t>.</a:t>
            </a:r>
            <a:r>
              <a:rPr lang="en-US" altLang="en-US" sz="2000" dirty="0">
                <a:latin typeface="微软雅黑" panose="020B0503020204020204" pitchFamily="34" charset="-122"/>
                <a:ea typeface="微软雅黑" panose="020B0503020204020204" pitchFamily="34" charset="-122"/>
              </a:rPr>
              <a:t>2</a:t>
            </a:r>
            <a:r>
              <a:rPr lang="en-US" altLang="en-US" sz="2000" baseline="38000" dirty="0">
                <a:latin typeface="微软雅黑" panose="020B0503020204020204" pitchFamily="34" charset="-122"/>
                <a:ea typeface="微软雅黑" panose="020B0503020204020204" pitchFamily="34" charset="-122"/>
              </a:rPr>
              <a:t>Eb  </a:t>
            </a:r>
            <a:r>
              <a:rPr lang="en-US" altLang="en-US"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则：</a:t>
            </a:r>
            <a:r>
              <a:rPr lang="zh-CN" altLang="en-US" sz="2000" baseline="38000" dirty="0">
                <a:latin typeface="微软雅黑" panose="020B0503020204020204" pitchFamily="34" charset="-122"/>
                <a:ea typeface="微软雅黑" panose="020B0503020204020204" pitchFamily="34" charset="-122"/>
              </a:rPr>
              <a:t> </a:t>
            </a:r>
            <a:endParaRPr lang="zh-CN" altLang="en-US" sz="2000" baseline="38000" dirty="0">
              <a:latin typeface="微软雅黑" panose="020B0503020204020204" pitchFamily="34" charset="-122"/>
              <a:ea typeface="微软雅黑" panose="020B0503020204020204" pitchFamily="34" charset="-122"/>
            </a:endParaRPr>
          </a:p>
          <a:p>
            <a:pPr>
              <a:lnSpc>
                <a:spcPct val="125000"/>
              </a:lnSpc>
              <a:buFontTx/>
              <a:buNone/>
            </a:pPr>
            <a:r>
              <a:rPr lang="zh-CN" altLang="zh-CN" sz="2000" baseline="38000" dirty="0">
                <a:latin typeface="微软雅黑" panose="020B0503020204020204" pitchFamily="34" charset="-122"/>
                <a:ea typeface="微软雅黑" panose="020B0503020204020204" pitchFamily="34" charset="-122"/>
              </a:rPr>
              <a:t>　　</a:t>
            </a:r>
            <a:r>
              <a:rPr lang="en-US" altLang="zh-CN" sz="2000" dirty="0">
                <a:solidFill>
                  <a:schemeClr val="accent2"/>
                </a:solidFill>
                <a:latin typeface="微软雅黑" panose="020B0503020204020204" pitchFamily="34" charset="-122"/>
                <a:ea typeface="微软雅黑" panose="020B0503020204020204" pitchFamily="34" charset="-122"/>
              </a:rPr>
              <a:t>A</a:t>
            </a:r>
            <a:r>
              <a:rPr lang="en-US" altLang="zh-CN" sz="2000" u="sng" baseline="28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B</a:t>
            </a:r>
            <a:r>
              <a:rPr lang="en-US" altLang="en-US" sz="2000" baseline="38000" dirty="0">
                <a:solidFill>
                  <a:schemeClr val="accent2"/>
                </a:solidFill>
                <a:latin typeface="微软雅黑" panose="020B0503020204020204" pitchFamily="34" charset="-122"/>
                <a:ea typeface="微软雅黑" panose="020B0503020204020204" pitchFamily="34" charset="-122"/>
              </a:rPr>
              <a:t> </a:t>
            </a:r>
            <a:r>
              <a:rPr lang="en-US"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a:t>
            </a:r>
            <a:r>
              <a:rPr lang="en-US" altLang="en-US" sz="2000" dirty="0">
                <a:solidFill>
                  <a:schemeClr val="accent2"/>
                </a:solidFill>
                <a:latin typeface="微软雅黑" panose="020B0503020204020204" pitchFamily="34" charset="-122"/>
                <a:ea typeface="微软雅黑" panose="020B0503020204020204" pitchFamily="34" charset="-122"/>
              </a:rPr>
              <a:t>M</a:t>
            </a:r>
            <a:r>
              <a:rPr lang="en-US" altLang="en-US" sz="2000" baseline="-2000" dirty="0">
                <a:solidFill>
                  <a:schemeClr val="accent2"/>
                </a:solidFill>
                <a:latin typeface="微软雅黑" panose="020B0503020204020204" pitchFamily="34" charset="-122"/>
                <a:ea typeface="微软雅黑" panose="020B0503020204020204" pitchFamily="34" charset="-122"/>
              </a:rPr>
              <a:t>a </a:t>
            </a:r>
            <a:r>
              <a:rPr lang="en-US" altLang="zh-CN" sz="2000" u="sng" baseline="28000" dirty="0">
                <a:solidFill>
                  <a:schemeClr val="accent2"/>
                </a:solidFill>
                <a:latin typeface="微软雅黑" panose="020B0503020204020204" pitchFamily="34" charset="-122"/>
                <a:ea typeface="微软雅黑" panose="020B0503020204020204" pitchFamily="34" charset="-122"/>
              </a:rPr>
              <a:t>+</a:t>
            </a:r>
            <a:r>
              <a:rPr lang="en-US" altLang="en-US" sz="2000" baseline="-2000" dirty="0">
                <a:solidFill>
                  <a:schemeClr val="accent2"/>
                </a:solidFill>
                <a:latin typeface="微软雅黑" panose="020B0503020204020204" pitchFamily="34" charset="-122"/>
                <a:ea typeface="微软雅黑" panose="020B0503020204020204" pitchFamily="34" charset="-122"/>
              </a:rPr>
              <a:t> </a:t>
            </a:r>
            <a:r>
              <a:rPr lang="en-US" altLang="en-US" sz="2000" dirty="0">
                <a:solidFill>
                  <a:schemeClr val="accent2"/>
                </a:solidFill>
                <a:latin typeface="微软雅黑" panose="020B0503020204020204" pitchFamily="34" charset="-122"/>
                <a:ea typeface="微软雅黑" panose="020B0503020204020204" pitchFamily="34" charset="-122"/>
              </a:rPr>
              <a:t>M</a:t>
            </a:r>
            <a:r>
              <a:rPr lang="en-US" altLang="en-US" sz="2000" baseline="-2000" dirty="0">
                <a:solidFill>
                  <a:schemeClr val="accent2"/>
                </a:solidFill>
                <a:latin typeface="微软雅黑" panose="020B0503020204020204" pitchFamily="34" charset="-122"/>
                <a:ea typeface="微软雅黑" panose="020B0503020204020204" pitchFamily="34" charset="-122"/>
              </a:rPr>
              <a:t>b</a:t>
            </a:r>
            <a:r>
              <a:rPr lang="en-US" altLang="en-US" sz="2000" baseline="30000" dirty="0">
                <a:solidFill>
                  <a:schemeClr val="accent2"/>
                </a:solidFill>
                <a:latin typeface="微软雅黑" panose="020B0503020204020204" pitchFamily="34" charset="-122"/>
                <a:ea typeface="微软雅黑" panose="020B0503020204020204" pitchFamily="34" charset="-122"/>
              </a:rPr>
              <a:t>.</a:t>
            </a:r>
            <a:r>
              <a:rPr lang="en-US" altLang="en-US" sz="2000" dirty="0">
                <a:solidFill>
                  <a:schemeClr val="accent2"/>
                </a:solidFill>
                <a:latin typeface="微软雅黑" panose="020B0503020204020204" pitchFamily="34" charset="-122"/>
                <a:ea typeface="微软雅黑" panose="020B0503020204020204" pitchFamily="34" charset="-122"/>
              </a:rPr>
              <a:t>2</a:t>
            </a:r>
            <a:r>
              <a:rPr lang="en-US" altLang="en-US" sz="2000" baseline="38000" dirty="0">
                <a:solidFill>
                  <a:schemeClr val="accent2"/>
                </a:solidFill>
                <a:latin typeface="微软雅黑" panose="020B0503020204020204" pitchFamily="34" charset="-122"/>
                <a:ea typeface="微软雅黑" panose="020B0503020204020204" pitchFamily="34" charset="-122"/>
              </a:rPr>
              <a:t>-(Ea-Eb)</a:t>
            </a:r>
            <a:r>
              <a:rPr lang="en-US" altLang="zh-CN" sz="2000" dirty="0">
                <a:solidFill>
                  <a:schemeClr val="accent2"/>
                </a:solidFill>
                <a:latin typeface="微软雅黑" panose="020B0503020204020204" pitchFamily="34" charset="-122"/>
                <a:ea typeface="微软雅黑" panose="020B0503020204020204" pitchFamily="34" charset="-122"/>
              </a:rPr>
              <a:t>)</a:t>
            </a:r>
            <a:r>
              <a:rPr lang="en-US" altLang="en-US" sz="2000" baseline="30000" dirty="0">
                <a:solidFill>
                  <a:schemeClr val="accent2"/>
                </a:solidFill>
                <a:latin typeface="微软雅黑" panose="020B0503020204020204" pitchFamily="34" charset="-122"/>
                <a:ea typeface="微软雅黑" panose="020B0503020204020204" pitchFamily="34" charset="-122"/>
              </a:rPr>
              <a:t>.</a:t>
            </a:r>
            <a:r>
              <a:rPr lang="en-US" altLang="en-US" sz="2000" baseline="-2000" dirty="0">
                <a:solidFill>
                  <a:schemeClr val="accent2"/>
                </a:solidFill>
                <a:latin typeface="微软雅黑" panose="020B0503020204020204" pitchFamily="34" charset="-122"/>
                <a:ea typeface="微软雅黑" panose="020B0503020204020204" pitchFamily="34" charset="-122"/>
              </a:rPr>
              <a:t> </a:t>
            </a:r>
            <a:r>
              <a:rPr lang="en-US" altLang="en-US" sz="2000" dirty="0">
                <a:solidFill>
                  <a:schemeClr val="accent2"/>
                </a:solidFill>
                <a:latin typeface="微软雅黑" panose="020B0503020204020204" pitchFamily="34" charset="-122"/>
                <a:ea typeface="微软雅黑" panose="020B0503020204020204" pitchFamily="34" charset="-122"/>
              </a:rPr>
              <a:t>2</a:t>
            </a:r>
            <a:r>
              <a:rPr lang="en-US" altLang="en-US" sz="2000" baseline="38000" dirty="0">
                <a:solidFill>
                  <a:schemeClr val="accent2"/>
                </a:solidFill>
                <a:latin typeface="微软雅黑" panose="020B0503020204020204" pitchFamily="34" charset="-122"/>
                <a:ea typeface="微软雅黑" panose="020B0503020204020204" pitchFamily="34" charset="-122"/>
              </a:rPr>
              <a:t>Ea      </a:t>
            </a:r>
            <a:r>
              <a:rPr lang="en-US" altLang="en-US" sz="2000" dirty="0">
                <a:solidFill>
                  <a:schemeClr val="accent2"/>
                </a:solidFill>
                <a:latin typeface="微软雅黑" panose="020B0503020204020204" pitchFamily="34" charset="-122"/>
                <a:ea typeface="微软雅黑" panose="020B0503020204020204" pitchFamily="34" charset="-122"/>
              </a:rPr>
              <a:t>(</a:t>
            </a:r>
            <a:r>
              <a:rPr lang="zh-CN" altLang="en-US" sz="2000" dirty="0">
                <a:solidFill>
                  <a:schemeClr val="accent2"/>
                </a:solidFill>
                <a:latin typeface="微软雅黑" panose="020B0503020204020204" pitchFamily="34" charset="-122"/>
                <a:ea typeface="微软雅黑" panose="020B0503020204020204" pitchFamily="34" charset="-122"/>
              </a:rPr>
              <a:t>假设</a:t>
            </a:r>
            <a:r>
              <a:rPr lang="en-US" altLang="en-US" sz="2000" dirty="0">
                <a:solidFill>
                  <a:schemeClr val="accent2"/>
                </a:solidFill>
                <a:latin typeface="微软雅黑" panose="020B0503020204020204" pitchFamily="34" charset="-122"/>
                <a:ea typeface="微软雅黑" panose="020B0503020204020204" pitchFamily="34" charset="-122"/>
              </a:rPr>
              <a:t>Ea</a:t>
            </a:r>
            <a:r>
              <a:rPr lang="en-US" altLang="zh-CN" sz="2000" dirty="0">
                <a:solidFill>
                  <a:schemeClr val="accent2"/>
                </a:solidFill>
                <a:latin typeface="微软雅黑" panose="020B0503020204020204" pitchFamily="34" charset="-122"/>
                <a:ea typeface="微软雅黑" panose="020B0503020204020204" pitchFamily="34" charset="-122"/>
              </a:rPr>
              <a:t>&gt;=</a:t>
            </a:r>
            <a:r>
              <a:rPr lang="en-US" altLang="en-US" sz="2000" dirty="0">
                <a:solidFill>
                  <a:schemeClr val="accent2"/>
                </a:solidFill>
                <a:latin typeface="微软雅黑" panose="020B0503020204020204" pitchFamily="34" charset="-122"/>
                <a:ea typeface="微软雅黑" panose="020B0503020204020204" pitchFamily="34" charset="-122"/>
              </a:rPr>
              <a:t>Eb</a:t>
            </a:r>
            <a:r>
              <a:rPr lang="en-US" altLang="en-US" sz="2000" baseline="38000" dirty="0">
                <a:solidFill>
                  <a:schemeClr val="accent2"/>
                </a:solidFill>
                <a:latin typeface="微软雅黑" panose="020B0503020204020204" pitchFamily="34" charset="-122"/>
                <a:ea typeface="微软雅黑" panose="020B0503020204020204" pitchFamily="34" charset="-122"/>
              </a:rPr>
              <a:t> </a:t>
            </a:r>
            <a:r>
              <a:rPr lang="en-US" altLang="en-US" sz="2000" dirty="0">
                <a:solidFill>
                  <a:schemeClr val="accent2"/>
                </a:solidFill>
                <a:latin typeface="微软雅黑" panose="020B0503020204020204" pitchFamily="34" charset="-122"/>
                <a:ea typeface="微软雅黑" panose="020B0503020204020204" pitchFamily="34" charset="-122"/>
              </a:rPr>
              <a:t>)</a:t>
            </a:r>
            <a:endParaRPr lang="en-US" altLang="en-US" sz="2000" baseline="38000" dirty="0">
              <a:solidFill>
                <a:schemeClr val="accent2"/>
              </a:solidFill>
              <a:latin typeface="微软雅黑" panose="020B0503020204020204" pitchFamily="34" charset="-122"/>
              <a:ea typeface="微软雅黑" panose="020B0503020204020204" pitchFamily="34" charset="-122"/>
            </a:endParaRPr>
          </a:p>
          <a:p>
            <a:pPr>
              <a:lnSpc>
                <a:spcPct val="125000"/>
              </a:lnSpc>
              <a:buFontTx/>
              <a:buNone/>
            </a:pPr>
            <a:r>
              <a:rPr lang="en-US" altLang="zh-CN" sz="2000" baseline="38000" dirty="0">
                <a:latin typeface="微软雅黑" panose="020B0503020204020204" pitchFamily="34" charset="-122"/>
                <a:ea typeface="微软雅黑" panose="020B0503020204020204" pitchFamily="34" charset="-122"/>
              </a:rPr>
              <a:t>　　</a:t>
            </a:r>
            <a:r>
              <a:rPr lang="en-US" altLang="zh-CN" sz="2000" dirty="0">
                <a:solidFill>
                  <a:schemeClr val="accent2"/>
                </a:solidFill>
                <a:latin typeface="微软雅黑" panose="020B0503020204020204" pitchFamily="34" charset="-122"/>
                <a:ea typeface="微软雅黑" panose="020B0503020204020204" pitchFamily="34" charset="-122"/>
              </a:rPr>
              <a:t>A*B</a:t>
            </a:r>
            <a:r>
              <a:rPr lang="en-US" altLang="en-US" sz="2000" baseline="38000" dirty="0">
                <a:solidFill>
                  <a:schemeClr val="accent2"/>
                </a:solidFill>
                <a:latin typeface="微软雅黑" panose="020B0503020204020204" pitchFamily="34" charset="-122"/>
                <a:ea typeface="微软雅黑" panose="020B0503020204020204" pitchFamily="34" charset="-122"/>
              </a:rPr>
              <a:t> </a:t>
            </a:r>
            <a:r>
              <a:rPr lang="en-US" altLang="en-US" sz="2000" dirty="0">
                <a:solidFill>
                  <a:schemeClr val="accent2"/>
                </a:solidFill>
                <a:latin typeface="微软雅黑" panose="020B0503020204020204" pitchFamily="34" charset="-122"/>
                <a:ea typeface="微软雅黑" panose="020B0503020204020204" pitchFamily="34" charset="-122"/>
              </a:rPr>
              <a:t>=(M</a:t>
            </a:r>
            <a:r>
              <a:rPr lang="en-US" altLang="en-US" sz="2000" baseline="-2000" dirty="0">
                <a:solidFill>
                  <a:schemeClr val="accent2"/>
                </a:solidFill>
                <a:latin typeface="微软雅黑" panose="020B0503020204020204" pitchFamily="34" charset="-122"/>
                <a:ea typeface="微软雅黑" panose="020B0503020204020204" pitchFamily="34" charset="-122"/>
              </a:rPr>
              <a:t>a </a:t>
            </a:r>
            <a:r>
              <a:rPr lang="en-US" altLang="zh-CN" sz="2000" dirty="0">
                <a:solidFill>
                  <a:schemeClr val="accent2"/>
                </a:solidFill>
                <a:latin typeface="微软雅黑" panose="020B0503020204020204" pitchFamily="34" charset="-122"/>
                <a:ea typeface="微软雅黑" panose="020B0503020204020204" pitchFamily="34" charset="-122"/>
              </a:rPr>
              <a:t>*</a:t>
            </a:r>
            <a:r>
              <a:rPr lang="en-US" altLang="en-US" sz="2000" baseline="-2000" dirty="0">
                <a:solidFill>
                  <a:schemeClr val="accent2"/>
                </a:solidFill>
                <a:latin typeface="微软雅黑" panose="020B0503020204020204" pitchFamily="34" charset="-122"/>
                <a:ea typeface="微软雅黑" panose="020B0503020204020204" pitchFamily="34" charset="-122"/>
              </a:rPr>
              <a:t> </a:t>
            </a:r>
            <a:r>
              <a:rPr lang="en-US" altLang="en-US" sz="2000" dirty="0">
                <a:solidFill>
                  <a:schemeClr val="accent2"/>
                </a:solidFill>
                <a:latin typeface="微软雅黑" panose="020B0503020204020204" pitchFamily="34" charset="-122"/>
                <a:ea typeface="微软雅黑" panose="020B0503020204020204" pitchFamily="34" charset="-122"/>
              </a:rPr>
              <a:t>M</a:t>
            </a:r>
            <a:r>
              <a:rPr lang="en-US" altLang="en-US" sz="2000" baseline="-2000" dirty="0">
                <a:solidFill>
                  <a:schemeClr val="accent2"/>
                </a:solidFill>
                <a:latin typeface="微软雅黑" panose="020B0503020204020204" pitchFamily="34" charset="-122"/>
                <a:ea typeface="微软雅黑" panose="020B0503020204020204" pitchFamily="34" charset="-122"/>
              </a:rPr>
              <a:t>b</a:t>
            </a:r>
            <a:r>
              <a:rPr lang="en-US" altLang="en-US" sz="2000" dirty="0">
                <a:solidFill>
                  <a:schemeClr val="accent2"/>
                </a:solidFill>
                <a:latin typeface="微软雅黑" panose="020B0503020204020204" pitchFamily="34" charset="-122"/>
                <a:ea typeface="微软雅黑" panose="020B0503020204020204" pitchFamily="34" charset="-122"/>
              </a:rPr>
              <a:t>)</a:t>
            </a:r>
            <a:r>
              <a:rPr lang="en-US" altLang="en-US" sz="2000" baseline="30000" dirty="0">
                <a:solidFill>
                  <a:schemeClr val="accent2"/>
                </a:solidFill>
                <a:latin typeface="微软雅黑" panose="020B0503020204020204" pitchFamily="34" charset="-122"/>
                <a:ea typeface="微软雅黑" panose="020B0503020204020204" pitchFamily="34" charset="-122"/>
              </a:rPr>
              <a:t>.</a:t>
            </a:r>
            <a:r>
              <a:rPr lang="en-US" altLang="en-US" sz="2000" dirty="0">
                <a:solidFill>
                  <a:schemeClr val="accent2"/>
                </a:solidFill>
                <a:latin typeface="微软雅黑" panose="020B0503020204020204" pitchFamily="34" charset="-122"/>
                <a:ea typeface="微软雅黑" panose="020B0503020204020204" pitchFamily="34" charset="-122"/>
              </a:rPr>
              <a:t>2</a:t>
            </a:r>
            <a:r>
              <a:rPr lang="en-US" altLang="en-US" sz="2000" baseline="38000" dirty="0">
                <a:solidFill>
                  <a:schemeClr val="accent2"/>
                </a:solidFill>
                <a:latin typeface="微软雅黑" panose="020B0503020204020204" pitchFamily="34" charset="-122"/>
                <a:ea typeface="微软雅黑" panose="020B0503020204020204" pitchFamily="34" charset="-122"/>
              </a:rPr>
              <a:t>Ea+Eb</a:t>
            </a:r>
            <a:endParaRPr lang="en-US" altLang="en-US" sz="2000" baseline="38000" dirty="0">
              <a:solidFill>
                <a:schemeClr val="accent2"/>
              </a:solidFill>
              <a:latin typeface="微软雅黑" panose="020B0503020204020204" pitchFamily="34" charset="-122"/>
              <a:ea typeface="微软雅黑" panose="020B0503020204020204" pitchFamily="34" charset="-122"/>
            </a:endParaRPr>
          </a:p>
          <a:p>
            <a:pPr>
              <a:lnSpc>
                <a:spcPct val="125000"/>
              </a:lnSpc>
              <a:buFontTx/>
              <a:buNone/>
            </a:pPr>
            <a:r>
              <a:rPr lang="en-US" altLang="zh-CN" sz="2000" baseline="38000" dirty="0">
                <a:solidFill>
                  <a:schemeClr val="accent2"/>
                </a:solidFill>
                <a:latin typeface="微软雅黑" panose="020B0503020204020204" pitchFamily="34" charset="-122"/>
                <a:ea typeface="微软雅黑" panose="020B0503020204020204" pitchFamily="34" charset="-122"/>
              </a:rPr>
              <a:t>　　</a:t>
            </a:r>
            <a:r>
              <a:rPr lang="en-US" altLang="zh-CN" sz="2000" dirty="0">
                <a:solidFill>
                  <a:schemeClr val="accent2"/>
                </a:solidFill>
                <a:latin typeface="微软雅黑" panose="020B0503020204020204" pitchFamily="34" charset="-122"/>
                <a:ea typeface="微软雅黑" panose="020B0503020204020204" pitchFamily="34" charset="-122"/>
              </a:rPr>
              <a:t>A/B</a:t>
            </a:r>
            <a:r>
              <a:rPr lang="en-US" altLang="en-US" sz="2000" baseline="38000" dirty="0">
                <a:solidFill>
                  <a:schemeClr val="accent2"/>
                </a:solidFill>
                <a:latin typeface="微软雅黑" panose="020B0503020204020204" pitchFamily="34" charset="-122"/>
                <a:ea typeface="微软雅黑" panose="020B0503020204020204" pitchFamily="34" charset="-122"/>
              </a:rPr>
              <a:t> </a:t>
            </a:r>
            <a:r>
              <a:rPr lang="en-US" altLang="en-US" sz="2000" dirty="0">
                <a:solidFill>
                  <a:schemeClr val="accent2"/>
                </a:solidFill>
                <a:latin typeface="微软雅黑" panose="020B0503020204020204" pitchFamily="34" charset="-122"/>
                <a:ea typeface="微软雅黑" panose="020B0503020204020204" pitchFamily="34" charset="-122"/>
              </a:rPr>
              <a:t>=(M</a:t>
            </a:r>
            <a:r>
              <a:rPr lang="en-US" altLang="en-US" sz="2000" baseline="-2000" dirty="0">
                <a:solidFill>
                  <a:schemeClr val="accent2"/>
                </a:solidFill>
                <a:latin typeface="微软雅黑" panose="020B0503020204020204" pitchFamily="34" charset="-122"/>
                <a:ea typeface="微软雅黑" panose="020B0503020204020204" pitchFamily="34" charset="-122"/>
              </a:rPr>
              <a:t>a </a:t>
            </a:r>
            <a:r>
              <a:rPr lang="en-US" altLang="zh-CN" sz="2000" dirty="0">
                <a:solidFill>
                  <a:schemeClr val="accent2"/>
                </a:solidFill>
                <a:latin typeface="微软雅黑" panose="020B0503020204020204" pitchFamily="34" charset="-122"/>
                <a:ea typeface="微软雅黑" panose="020B0503020204020204" pitchFamily="34" charset="-122"/>
              </a:rPr>
              <a:t>/</a:t>
            </a:r>
            <a:r>
              <a:rPr lang="en-US" altLang="en-US" sz="2000" baseline="-2000" dirty="0">
                <a:solidFill>
                  <a:schemeClr val="accent2"/>
                </a:solidFill>
                <a:latin typeface="微软雅黑" panose="020B0503020204020204" pitchFamily="34" charset="-122"/>
                <a:ea typeface="微软雅黑" panose="020B0503020204020204" pitchFamily="34" charset="-122"/>
              </a:rPr>
              <a:t> </a:t>
            </a:r>
            <a:r>
              <a:rPr lang="en-US" altLang="en-US" sz="2000" dirty="0">
                <a:solidFill>
                  <a:schemeClr val="accent2"/>
                </a:solidFill>
                <a:latin typeface="微软雅黑" panose="020B0503020204020204" pitchFamily="34" charset="-122"/>
                <a:ea typeface="微软雅黑" panose="020B0503020204020204" pitchFamily="34" charset="-122"/>
              </a:rPr>
              <a:t>M</a:t>
            </a:r>
            <a:r>
              <a:rPr lang="en-US" altLang="en-US" sz="2000" baseline="-2000" dirty="0">
                <a:solidFill>
                  <a:schemeClr val="accent2"/>
                </a:solidFill>
                <a:latin typeface="微软雅黑" panose="020B0503020204020204" pitchFamily="34" charset="-122"/>
                <a:ea typeface="微软雅黑" panose="020B0503020204020204" pitchFamily="34" charset="-122"/>
              </a:rPr>
              <a:t>b</a:t>
            </a:r>
            <a:r>
              <a:rPr lang="en-US" altLang="en-US" sz="2000" dirty="0">
                <a:solidFill>
                  <a:schemeClr val="accent2"/>
                </a:solidFill>
                <a:latin typeface="微软雅黑" panose="020B0503020204020204" pitchFamily="34" charset="-122"/>
                <a:ea typeface="微软雅黑" panose="020B0503020204020204" pitchFamily="34" charset="-122"/>
              </a:rPr>
              <a:t>)</a:t>
            </a:r>
            <a:r>
              <a:rPr lang="en-US" altLang="en-US" sz="2000" baseline="30000" dirty="0">
                <a:solidFill>
                  <a:schemeClr val="accent2"/>
                </a:solidFill>
                <a:latin typeface="微软雅黑" panose="020B0503020204020204" pitchFamily="34" charset="-122"/>
                <a:ea typeface="微软雅黑" panose="020B0503020204020204" pitchFamily="34" charset="-122"/>
              </a:rPr>
              <a:t>.</a:t>
            </a:r>
            <a:r>
              <a:rPr lang="en-US" altLang="en-US" sz="2000" dirty="0">
                <a:solidFill>
                  <a:schemeClr val="accent2"/>
                </a:solidFill>
                <a:latin typeface="微软雅黑" panose="020B0503020204020204" pitchFamily="34" charset="-122"/>
                <a:ea typeface="微软雅黑" panose="020B0503020204020204" pitchFamily="34" charset="-122"/>
              </a:rPr>
              <a:t>2</a:t>
            </a:r>
            <a:r>
              <a:rPr lang="en-US" altLang="en-US" sz="2000" baseline="38000" dirty="0">
                <a:solidFill>
                  <a:schemeClr val="accent2"/>
                </a:solidFill>
                <a:latin typeface="微软雅黑" panose="020B0503020204020204" pitchFamily="34" charset="-122"/>
                <a:ea typeface="微软雅黑" panose="020B0503020204020204" pitchFamily="34" charset="-122"/>
              </a:rPr>
              <a:t>Ea-Eb</a:t>
            </a:r>
            <a:endParaRPr lang="en-US" altLang="en-US" sz="2000" baseline="38000" dirty="0">
              <a:solidFill>
                <a:schemeClr val="accent2"/>
              </a:solidFill>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上述运算结果可能出现以下几种情况：</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solidFill>
                  <a:srgbClr val="0000FF"/>
                </a:solidFill>
                <a:latin typeface="微软雅黑" panose="020B0503020204020204" pitchFamily="34" charset="-122"/>
                <a:ea typeface="微软雅黑" panose="020B0503020204020204" pitchFamily="34" charset="-122"/>
              </a:rPr>
              <a:t>阶码上溢：</a:t>
            </a:r>
            <a:r>
              <a:rPr lang="zh-CN" altLang="en-US" sz="2000" dirty="0">
                <a:latin typeface="微软雅黑" panose="020B0503020204020204" pitchFamily="34" charset="-122"/>
                <a:ea typeface="微软雅黑" panose="020B0503020204020204" pitchFamily="34" charset="-122"/>
              </a:rPr>
              <a:t>一个正指数超过了最大允许值 </a:t>
            </a:r>
            <a:r>
              <a:rPr lang="zh-CN" altLang="en-US" sz="2000" dirty="0">
                <a:solidFill>
                  <a:schemeClr val="accent2"/>
                </a:solidFill>
                <a:latin typeface="微软雅黑" panose="020B0503020204020204" pitchFamily="34" charset="-122"/>
                <a:ea typeface="微软雅黑" panose="020B0503020204020204" pitchFamily="34" charset="-122"/>
              </a:rPr>
              <a:t>=〉+</a:t>
            </a:r>
            <a:r>
              <a:rPr lang="zh-CN" altLang="zh-CN" sz="2000" dirty="0">
                <a:solidFill>
                  <a:schemeClr val="accent2"/>
                </a:solidFill>
                <a:latin typeface="微软雅黑" panose="020B0503020204020204" pitchFamily="34" charset="-122"/>
                <a:ea typeface="微软雅黑" panose="020B0503020204020204" pitchFamily="34" charset="-122"/>
              </a:rPr>
              <a:t>∞/-∞</a:t>
            </a:r>
            <a:r>
              <a:rPr lang="zh-CN" altLang="en-US" sz="2000" dirty="0">
                <a:solidFill>
                  <a:schemeClr val="accent2"/>
                </a:solidFill>
                <a:latin typeface="微软雅黑" panose="020B0503020204020204" pitchFamily="34" charset="-122"/>
                <a:ea typeface="微软雅黑" panose="020B0503020204020204" pitchFamily="34" charset="-122"/>
              </a:rPr>
              <a:t>/溢出</a:t>
            </a:r>
            <a:endParaRPr lang="zh-CN" altLang="zh-CN" sz="2000" dirty="0">
              <a:solidFill>
                <a:schemeClr val="accent2"/>
              </a:solidFill>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solidFill>
                  <a:srgbClr val="0000FF"/>
                </a:solidFill>
                <a:latin typeface="微软雅黑" panose="020B0503020204020204" pitchFamily="34" charset="-122"/>
                <a:ea typeface="微软雅黑" panose="020B0503020204020204" pitchFamily="34" charset="-122"/>
              </a:rPr>
              <a:t>阶码下溢：</a:t>
            </a:r>
            <a:r>
              <a:rPr lang="zh-CN" altLang="en-US" sz="2000" dirty="0">
                <a:latin typeface="微软雅黑" panose="020B0503020204020204" pitchFamily="34" charset="-122"/>
                <a:ea typeface="微软雅黑" panose="020B0503020204020204" pitchFamily="34" charset="-122"/>
              </a:rPr>
              <a:t>一个负指数比最小允许值还小 </a:t>
            </a:r>
            <a:r>
              <a:rPr lang="zh-CN" altLang="en-US" sz="2000" dirty="0">
                <a:solidFill>
                  <a:schemeClr val="accent2"/>
                </a:solidFill>
                <a:latin typeface="微软雅黑" panose="020B0503020204020204" pitchFamily="34" charset="-122"/>
                <a:ea typeface="微软雅黑" panose="020B0503020204020204" pitchFamily="34" charset="-122"/>
              </a:rPr>
              <a:t>=〉+0</a:t>
            </a:r>
            <a:r>
              <a:rPr lang="zh-CN" altLang="zh-CN" sz="2000" dirty="0">
                <a:solidFill>
                  <a:schemeClr val="accent2"/>
                </a:solidFill>
                <a:latin typeface="微软雅黑" panose="020B0503020204020204" pitchFamily="34" charset="-122"/>
                <a:ea typeface="微软雅黑" panose="020B0503020204020204" pitchFamily="34" charset="-122"/>
              </a:rPr>
              <a:t>/-0</a:t>
            </a:r>
            <a:endParaRPr lang="zh-CN" altLang="zh-CN" sz="2000" dirty="0">
              <a:solidFill>
                <a:schemeClr val="accent2"/>
              </a:solidFill>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solidFill>
                  <a:srgbClr val="0000FF"/>
                </a:solidFill>
                <a:latin typeface="微软雅黑" panose="020B0503020204020204" pitchFamily="34" charset="-122"/>
                <a:ea typeface="微软雅黑" panose="020B0503020204020204" pitchFamily="34" charset="-122"/>
              </a:rPr>
              <a:t>尾数溢出：</a:t>
            </a:r>
            <a:r>
              <a:rPr lang="zh-CN" altLang="en-US" sz="2000" dirty="0">
                <a:latin typeface="微软雅黑" panose="020B0503020204020204" pitchFamily="34" charset="-122"/>
                <a:ea typeface="微软雅黑" panose="020B0503020204020204" pitchFamily="34" charset="-122"/>
              </a:rPr>
              <a:t>最高有效位有进位 </a:t>
            </a:r>
            <a:r>
              <a:rPr lang="zh-CN" altLang="en-US" sz="2000" dirty="0">
                <a:solidFill>
                  <a:schemeClr val="accent2"/>
                </a:solidFill>
                <a:latin typeface="微软雅黑" panose="020B0503020204020204" pitchFamily="34" charset="-122"/>
                <a:ea typeface="微软雅黑" panose="020B0503020204020204" pitchFamily="34" charset="-122"/>
              </a:rPr>
              <a:t>=〉右规</a:t>
            </a:r>
            <a:endParaRPr lang="zh-CN" altLang="en-US" sz="2000" dirty="0">
              <a:solidFill>
                <a:schemeClr val="accent2"/>
              </a:solidFill>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solidFill>
                  <a:srgbClr val="0000FF"/>
                </a:solidFill>
                <a:latin typeface="微软雅黑" panose="020B0503020204020204" pitchFamily="34" charset="-122"/>
                <a:ea typeface="微软雅黑" panose="020B0503020204020204" pitchFamily="34" charset="-122"/>
              </a:rPr>
              <a:t>非规格化尾数：</a:t>
            </a:r>
            <a:r>
              <a:rPr lang="zh-CN" altLang="en-US" sz="2000" dirty="0">
                <a:latin typeface="微软雅黑" panose="020B0503020204020204" pitchFamily="34" charset="-122"/>
                <a:ea typeface="微软雅黑" panose="020B0503020204020204" pitchFamily="34" charset="-122"/>
              </a:rPr>
              <a:t>数值部分高位为0 </a:t>
            </a:r>
            <a:r>
              <a:rPr lang="zh-CN" altLang="en-US" sz="2000" dirty="0">
                <a:solidFill>
                  <a:schemeClr val="accent2"/>
                </a:solidFill>
                <a:latin typeface="微软雅黑" panose="020B0503020204020204" pitchFamily="34" charset="-122"/>
                <a:ea typeface="微软雅黑" panose="020B0503020204020204" pitchFamily="34" charset="-122"/>
              </a:rPr>
              <a:t>=〉左规</a:t>
            </a:r>
            <a:endParaRPr lang="zh-CN" altLang="en-US" sz="2000" dirty="0">
              <a:solidFill>
                <a:schemeClr val="accent2"/>
              </a:solidFill>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右规或对阶时，</a:t>
            </a:r>
            <a:r>
              <a:rPr lang="zh-CN" altLang="zh-CN" sz="2000" dirty="0">
                <a:latin typeface="微软雅黑" panose="020B0503020204020204" pitchFamily="34" charset="-122"/>
                <a:ea typeface="微软雅黑" panose="020B0503020204020204" pitchFamily="34" charset="-122"/>
              </a:rPr>
              <a:t>右段</a:t>
            </a:r>
            <a:r>
              <a:rPr lang="zh-CN" altLang="en-US" sz="2000" dirty="0">
                <a:latin typeface="微软雅黑" panose="020B0503020204020204" pitchFamily="34" charset="-122"/>
                <a:ea typeface="微软雅黑" panose="020B0503020204020204" pitchFamily="34" charset="-122"/>
              </a:rPr>
              <a:t>有效位丢失 </a:t>
            </a:r>
            <a:r>
              <a:rPr lang="zh-CN" altLang="en-US" sz="2000" dirty="0">
                <a:solidFill>
                  <a:schemeClr val="accent2"/>
                </a:solidFill>
                <a:latin typeface="微软雅黑" panose="020B0503020204020204" pitchFamily="34" charset="-122"/>
                <a:ea typeface="微软雅黑" panose="020B0503020204020204" pitchFamily="34" charset="-122"/>
              </a:rPr>
              <a:t>=〉尾数舍入</a:t>
            </a:r>
            <a:endParaRPr lang="zh-CN" altLang="en-US" sz="2000" dirty="0">
              <a:solidFill>
                <a:schemeClr val="accent2"/>
              </a:solidFill>
              <a:latin typeface="微软雅黑" panose="020B0503020204020204" pitchFamily="34" charset="-122"/>
              <a:ea typeface="微软雅黑" panose="020B0503020204020204" pitchFamily="34" charset="-122"/>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IEEE</a:t>
            </a:r>
            <a:r>
              <a:rPr lang="zh-CN" altLang="en-US" sz="2000" dirty="0">
                <a:latin typeface="微软雅黑" panose="020B0503020204020204" pitchFamily="34" charset="-122"/>
                <a:ea typeface="微软雅黑" panose="020B0503020204020204" pitchFamily="34" charset="-122"/>
              </a:rPr>
              <a:t>建议实现时为每种异常情况提供一个</a:t>
            </a:r>
            <a:r>
              <a:rPr lang="zh-CN" altLang="en-US" sz="2000" dirty="0">
                <a:solidFill>
                  <a:srgbClr val="CC3300"/>
                </a:solidFill>
                <a:latin typeface="微软雅黑" panose="020B0503020204020204" pitchFamily="34" charset="-122"/>
                <a:ea typeface="微软雅黑" panose="020B0503020204020204" pitchFamily="34" charset="-122"/>
              </a:rPr>
              <a:t>自陷允许位</a:t>
            </a:r>
            <a:r>
              <a:rPr lang="zh-CN" altLang="en-US" sz="2000" dirty="0">
                <a:latin typeface="微软雅黑" panose="020B0503020204020204" pitchFamily="34" charset="-122"/>
                <a:ea typeface="微软雅黑" panose="020B0503020204020204" pitchFamily="34" charset="-122"/>
              </a:rPr>
              <a:t>。若某异常对应的位为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，则发生相应异常时，就调用一个特定的异常处理程序执行。</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endParaRPr lang="zh-CN" altLang="zh-CN" sz="2000" dirty="0">
              <a:ea typeface="黑体" panose="02010609060101010101" pitchFamily="49" charset="-122"/>
            </a:endParaRPr>
          </a:p>
        </p:txBody>
      </p:sp>
      <p:sp>
        <p:nvSpPr>
          <p:cNvPr id="377860" name="Text Box 4"/>
          <p:cNvSpPr txBox="1"/>
          <p:nvPr/>
        </p:nvSpPr>
        <p:spPr>
          <a:xfrm>
            <a:off x="5689600" y="2682875"/>
            <a:ext cx="2951163" cy="396875"/>
          </a:xfrm>
          <a:prstGeom prst="rect">
            <a:avLst/>
          </a:prstGeom>
          <a:noFill/>
          <a:ln w="12700">
            <a:noFill/>
          </a:ln>
        </p:spPr>
        <p:txBody>
          <a:bodyPr anchor="t" anchorCtr="0">
            <a:spAutoFit/>
          </a:bodyPr>
          <a:p>
            <a:pPr eaLnBrk="0" hangingPunct="0">
              <a:spcBef>
                <a:spcPct val="50000"/>
              </a:spcBef>
              <a:buClrTx/>
              <a:buFontTx/>
            </a:pPr>
            <a:r>
              <a:rPr lang="en-US" altLang="zh-CN" sz="2000" dirty="0">
                <a:solidFill>
                  <a:srgbClr val="CC0000"/>
                </a:solidFill>
                <a:latin typeface="微软雅黑" panose="020B0503020204020204" pitchFamily="34" charset="-122"/>
                <a:ea typeface="微软雅黑" panose="020B0503020204020204" pitchFamily="34" charset="-122"/>
              </a:rPr>
              <a:t>SP</a:t>
            </a:r>
            <a:r>
              <a:rPr lang="zh-CN" altLang="en-US" sz="2000" dirty="0">
                <a:solidFill>
                  <a:srgbClr val="CC0000"/>
                </a:solidFill>
                <a:latin typeface="微软雅黑" panose="020B0503020204020204" pitchFamily="34" charset="-122"/>
                <a:ea typeface="微软雅黑" panose="020B0503020204020204" pitchFamily="34" charset="-122"/>
              </a:rPr>
              <a:t>最大指数为多少？</a:t>
            </a:r>
            <a:endParaRPr lang="zh-CN" altLang="en-US" sz="2000" dirty="0">
              <a:solidFill>
                <a:srgbClr val="CC0000"/>
              </a:solidFill>
              <a:latin typeface="微软雅黑" panose="020B0503020204020204" pitchFamily="34" charset="-122"/>
              <a:ea typeface="微软雅黑" panose="020B0503020204020204" pitchFamily="34" charset="-122"/>
            </a:endParaRPr>
          </a:p>
        </p:txBody>
      </p:sp>
      <p:sp>
        <p:nvSpPr>
          <p:cNvPr id="377861" name="Text Box 5"/>
          <p:cNvSpPr txBox="1"/>
          <p:nvPr/>
        </p:nvSpPr>
        <p:spPr>
          <a:xfrm>
            <a:off x="8096250" y="2676525"/>
            <a:ext cx="796925" cy="396875"/>
          </a:xfrm>
          <a:prstGeom prst="rect">
            <a:avLst/>
          </a:prstGeom>
          <a:noFill/>
          <a:ln w="12700">
            <a:noFill/>
          </a:ln>
        </p:spPr>
        <p:txBody>
          <a:bodyPr anchor="t" anchorCtr="0">
            <a:spAutoFit/>
          </a:bodyPr>
          <a:p>
            <a:pPr eaLnBrk="0" hangingPunct="0">
              <a:spcBef>
                <a:spcPct val="50000"/>
              </a:spcBef>
              <a:buClrTx/>
              <a:buFontTx/>
            </a:pPr>
            <a:r>
              <a:rPr lang="en-US" altLang="zh-CN" sz="2000" dirty="0">
                <a:solidFill>
                  <a:schemeClr val="accent2"/>
                </a:solidFill>
                <a:latin typeface="微软雅黑" panose="020B0503020204020204" pitchFamily="34" charset="-122"/>
                <a:ea typeface="微软雅黑" panose="020B0503020204020204" pitchFamily="34" charset="-122"/>
              </a:rPr>
              <a:t>127</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377862" name="Text Box 6"/>
          <p:cNvSpPr txBox="1"/>
          <p:nvPr/>
        </p:nvSpPr>
        <p:spPr>
          <a:xfrm>
            <a:off x="6686550" y="3429000"/>
            <a:ext cx="2116138" cy="396875"/>
          </a:xfrm>
          <a:prstGeom prst="rect">
            <a:avLst/>
          </a:prstGeom>
          <a:noFill/>
          <a:ln w="12700">
            <a:noFill/>
          </a:ln>
        </p:spPr>
        <p:txBody>
          <a:bodyPr anchor="t" anchorCtr="0">
            <a:spAutoFit/>
          </a:bodyPr>
          <a:p>
            <a:pPr eaLnBrk="0" hangingPunct="0">
              <a:spcBef>
                <a:spcPct val="50000"/>
              </a:spcBef>
              <a:buClrTx/>
              <a:buFontTx/>
            </a:pPr>
            <a:r>
              <a:rPr lang="en-US" altLang="zh-CN" sz="2000" dirty="0">
                <a:solidFill>
                  <a:srgbClr val="CC0000"/>
                </a:solidFill>
                <a:latin typeface="微软雅黑" panose="020B0503020204020204" pitchFamily="34" charset="-122"/>
                <a:ea typeface="微软雅黑" panose="020B0503020204020204" pitchFamily="34" charset="-122"/>
              </a:rPr>
              <a:t>SP</a:t>
            </a:r>
            <a:r>
              <a:rPr lang="zh-CN" altLang="en-US" sz="2000" dirty="0">
                <a:solidFill>
                  <a:srgbClr val="CC0000"/>
                </a:solidFill>
                <a:latin typeface="微软雅黑" panose="020B0503020204020204" pitchFamily="34" charset="-122"/>
                <a:ea typeface="微软雅黑" panose="020B0503020204020204" pitchFamily="34" charset="-122"/>
              </a:rPr>
              <a:t>最小指数呢？</a:t>
            </a:r>
            <a:endParaRPr lang="zh-CN" altLang="en-US" sz="2000" dirty="0">
              <a:solidFill>
                <a:srgbClr val="CC0000"/>
              </a:solidFill>
              <a:latin typeface="微软雅黑" panose="020B0503020204020204" pitchFamily="34" charset="-122"/>
              <a:ea typeface="微软雅黑" panose="020B0503020204020204" pitchFamily="34" charset="-122"/>
            </a:endParaRPr>
          </a:p>
        </p:txBody>
      </p:sp>
      <p:sp>
        <p:nvSpPr>
          <p:cNvPr id="377863" name="Text Box 7"/>
          <p:cNvSpPr txBox="1"/>
          <p:nvPr/>
        </p:nvSpPr>
        <p:spPr>
          <a:xfrm>
            <a:off x="7497763" y="3797300"/>
            <a:ext cx="1304925" cy="396875"/>
          </a:xfrm>
          <a:prstGeom prst="rect">
            <a:avLst/>
          </a:prstGeom>
          <a:noFill/>
          <a:ln w="12700">
            <a:noFill/>
          </a:ln>
        </p:spPr>
        <p:txBody>
          <a:bodyPr anchor="t" anchorCtr="0">
            <a:spAutoFit/>
          </a:bodyPr>
          <a:p>
            <a:pPr eaLnBrk="0" hangingPunct="0">
              <a:spcBef>
                <a:spcPct val="50000"/>
              </a:spcBef>
              <a:buClrTx/>
              <a:buFontTx/>
            </a:pPr>
            <a:r>
              <a:rPr lang="en-US" altLang="zh-CN" sz="2000" dirty="0">
                <a:solidFill>
                  <a:schemeClr val="accent2"/>
                </a:solidFill>
                <a:latin typeface="微软雅黑" panose="020B0503020204020204" pitchFamily="34" charset="-122"/>
                <a:ea typeface="微软雅黑" panose="020B0503020204020204" pitchFamily="34" charset="-122"/>
              </a:rPr>
              <a:t>-126</a:t>
            </a:r>
            <a:r>
              <a:rPr lang="en-US" altLang="zh-CN" sz="2000" dirty="0">
                <a:solidFill>
                  <a:srgbClr val="FF0000"/>
                </a:solidFill>
                <a:latin typeface="微软雅黑" panose="020B0503020204020204" pitchFamily="34" charset="-122"/>
                <a:ea typeface="微软雅黑" panose="020B0503020204020204" pitchFamily="34" charset="-122"/>
              </a:rPr>
              <a:t>-23</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377864" name="Text Box 8"/>
          <p:cNvSpPr txBox="1"/>
          <p:nvPr/>
        </p:nvSpPr>
        <p:spPr>
          <a:xfrm>
            <a:off x="5786438" y="4778375"/>
            <a:ext cx="2817812" cy="396875"/>
          </a:xfrm>
          <a:prstGeom prst="rect">
            <a:avLst/>
          </a:prstGeom>
          <a:noFill/>
          <a:ln w="12700">
            <a:noFill/>
          </a:ln>
        </p:spPr>
        <p:txBody>
          <a:bodyPr anchor="t" anchorCtr="0">
            <a:spAutoFit/>
          </a:bodyPr>
          <a:p>
            <a:pPr eaLnBrk="0" hangingPunct="0">
              <a:spcBef>
                <a:spcPct val="50000"/>
              </a:spcBef>
              <a:buClrTx/>
              <a:buFontTx/>
            </a:pPr>
            <a:r>
              <a:rPr lang="zh-CN" altLang="en-US" sz="2000" dirty="0">
                <a:solidFill>
                  <a:srgbClr val="CC0000"/>
                </a:solidFill>
                <a:latin typeface="Times New Roman" panose="02020603050405020304" pitchFamily="18" charset="0"/>
                <a:ea typeface="微软雅黑" panose="020B0503020204020204" pitchFamily="34" charset="-122"/>
              </a:rPr>
              <a:t>运算过程中添加保护位</a:t>
            </a:r>
            <a:endParaRPr lang="zh-CN" altLang="en-US" sz="2000" dirty="0">
              <a:solidFill>
                <a:srgbClr val="CC0000"/>
              </a:solidFill>
              <a:latin typeface="Times New Roman" panose="02020603050405020304" pitchFamily="18" charset="0"/>
              <a:ea typeface="微软雅黑" panose="020B0503020204020204" pitchFamily="34" charset="-122"/>
            </a:endParaRPr>
          </a:p>
        </p:txBody>
      </p:sp>
      <p:sp>
        <p:nvSpPr>
          <p:cNvPr id="377865" name="Text Box 9"/>
          <p:cNvSpPr txBox="1"/>
          <p:nvPr/>
        </p:nvSpPr>
        <p:spPr>
          <a:xfrm>
            <a:off x="5562600" y="4014788"/>
            <a:ext cx="1890713" cy="701675"/>
          </a:xfrm>
          <a:prstGeom prst="rect">
            <a:avLst/>
          </a:prstGeom>
          <a:noFill/>
          <a:ln w="12700">
            <a:noFill/>
          </a:ln>
        </p:spPr>
        <p:txBody>
          <a:bodyPr anchor="t" anchorCtr="0">
            <a:spAutoFit/>
          </a:bodyPr>
          <a:p>
            <a:pPr eaLnBrk="0" hangingPunct="0">
              <a:spcBef>
                <a:spcPct val="50000"/>
              </a:spcBef>
              <a:buClrTx/>
              <a:buFontTx/>
            </a:pPr>
            <a:r>
              <a:rPr lang="zh-CN" altLang="en-US" sz="2000" dirty="0">
                <a:solidFill>
                  <a:srgbClr val="CC0000"/>
                </a:solidFill>
                <a:latin typeface="Times New Roman" panose="02020603050405020304" pitchFamily="18" charset="0"/>
                <a:ea typeface="微软雅黑" panose="020B0503020204020204" pitchFamily="34" charset="-122"/>
              </a:rPr>
              <a:t>尾数溢出，结果不一定溢出</a:t>
            </a:r>
            <a:endParaRPr lang="zh-CN" altLang="en-US" sz="2000" dirty="0">
              <a:solidFill>
                <a:srgbClr val="CC0000"/>
              </a:solidFill>
              <a:latin typeface="Times New Roman" panose="02020603050405020304" pitchFamily="18" charset="0"/>
              <a:ea typeface="微软雅黑" panose="020B0503020204020204" pitchFamily="34" charset="-122"/>
            </a:endParaRPr>
          </a:p>
        </p:txBody>
      </p:sp>
      <p:sp>
        <p:nvSpPr>
          <p:cNvPr id="741386" name="Text Box 10"/>
          <p:cNvSpPr txBox="1"/>
          <p:nvPr/>
        </p:nvSpPr>
        <p:spPr>
          <a:xfrm>
            <a:off x="6677025" y="1379538"/>
            <a:ext cx="1639888" cy="854075"/>
          </a:xfrm>
          <a:prstGeom prst="rect">
            <a:avLst/>
          </a:prstGeom>
          <a:noFill/>
          <a:ln w="12700">
            <a:noFill/>
          </a:ln>
        </p:spPr>
        <p:txBody>
          <a:bodyPr anchor="t" anchorCtr="0">
            <a:spAutoFit/>
          </a:bodyPr>
          <a:p>
            <a:pPr eaLnBrk="0" hangingPunct="0">
              <a:spcBef>
                <a:spcPct val="50000"/>
              </a:spcBef>
              <a:buClrTx/>
              <a:buFontTx/>
            </a:pPr>
            <a:r>
              <a:rPr lang="en-US" altLang="zh-CN" sz="2000" dirty="0">
                <a:solidFill>
                  <a:srgbClr val="009900"/>
                </a:solidFill>
                <a:latin typeface="微软雅黑" panose="020B0503020204020204" pitchFamily="34" charset="-122"/>
                <a:ea typeface="微软雅黑" panose="020B0503020204020204" pitchFamily="34" charset="-122"/>
              </a:rPr>
              <a:t>1.5+1.5=</a:t>
            </a:r>
            <a:r>
              <a:rPr lang="zh-CN" altLang="en-US" sz="2000" dirty="0">
                <a:solidFill>
                  <a:srgbClr val="009900"/>
                </a:solidFill>
                <a:latin typeface="微软雅黑" panose="020B0503020204020204" pitchFamily="34" charset="-122"/>
                <a:ea typeface="微软雅黑" panose="020B0503020204020204" pitchFamily="34" charset="-122"/>
              </a:rPr>
              <a:t>？</a:t>
            </a:r>
            <a:endParaRPr lang="zh-CN" altLang="en-US" sz="2000" dirty="0">
              <a:solidFill>
                <a:srgbClr val="009900"/>
              </a:solidFill>
              <a:latin typeface="微软雅黑" panose="020B0503020204020204" pitchFamily="34" charset="-122"/>
              <a:ea typeface="微软雅黑" panose="020B0503020204020204" pitchFamily="34" charset="-122"/>
            </a:endParaRPr>
          </a:p>
          <a:p>
            <a:pPr eaLnBrk="0" hangingPunct="0">
              <a:spcBef>
                <a:spcPct val="50000"/>
              </a:spcBef>
              <a:buClrTx/>
              <a:buFontTx/>
            </a:pPr>
            <a:r>
              <a:rPr lang="en-US" altLang="zh-CN" sz="2000" dirty="0">
                <a:solidFill>
                  <a:srgbClr val="009900"/>
                </a:solidFill>
                <a:latin typeface="微软雅黑" panose="020B0503020204020204" pitchFamily="34" charset="-122"/>
                <a:ea typeface="微软雅黑" panose="020B0503020204020204" pitchFamily="34" charset="-122"/>
              </a:rPr>
              <a:t>1.5-1.0=</a:t>
            </a:r>
            <a:r>
              <a:rPr lang="zh-CN" altLang="en-US" sz="2000" dirty="0">
                <a:solidFill>
                  <a:srgbClr val="009900"/>
                </a:solidFill>
                <a:latin typeface="微软雅黑" panose="020B0503020204020204" pitchFamily="34" charset="-122"/>
                <a:ea typeface="微软雅黑" panose="020B0503020204020204" pitchFamily="34" charset="-122"/>
              </a:rPr>
              <a:t>？</a:t>
            </a:r>
            <a:endParaRPr lang="zh-CN" altLang="en-US" sz="2000" dirty="0">
              <a:solidFill>
                <a:srgbClr val="0099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7859">
                                            <p:txEl>
                                              <p:charRg st="43" end="92"/>
                                            </p:txEl>
                                          </p:spTgt>
                                        </p:tgtEl>
                                        <p:attrNameLst>
                                          <p:attrName>style.visibility</p:attrName>
                                        </p:attrNameLst>
                                      </p:cBhvr>
                                      <p:to>
                                        <p:strVal val="visible"/>
                                      </p:to>
                                    </p:set>
                                    <p:animEffect transition="in" filter="blinds(horizontal)">
                                      <p:cBhvr>
                                        <p:cTn id="7" dur="500"/>
                                        <p:tgtEl>
                                          <p:spTgt spid="377859">
                                            <p:txEl>
                                              <p:charRg st="43" end="9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7859">
                                            <p:txEl>
                                              <p:charRg st="92" end="116"/>
                                            </p:txEl>
                                          </p:spTgt>
                                        </p:tgtEl>
                                        <p:attrNameLst>
                                          <p:attrName>style.visibility</p:attrName>
                                        </p:attrNameLst>
                                      </p:cBhvr>
                                      <p:to>
                                        <p:strVal val="visible"/>
                                      </p:to>
                                    </p:set>
                                    <p:animEffect transition="in" filter="blinds(horizontal)">
                                      <p:cBhvr>
                                        <p:cTn id="12" dur="500"/>
                                        <p:tgtEl>
                                          <p:spTgt spid="377859">
                                            <p:txEl>
                                              <p:charRg st="92" end="1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7859">
                                            <p:txEl>
                                              <p:charRg st="116" end="140"/>
                                            </p:txEl>
                                          </p:spTgt>
                                        </p:tgtEl>
                                        <p:attrNameLst>
                                          <p:attrName>style.visibility</p:attrName>
                                        </p:attrNameLst>
                                      </p:cBhvr>
                                      <p:to>
                                        <p:strVal val="visible"/>
                                      </p:to>
                                    </p:set>
                                    <p:animEffect transition="in" filter="blinds(horizontal)">
                                      <p:cBhvr>
                                        <p:cTn id="17" dur="500"/>
                                        <p:tgtEl>
                                          <p:spTgt spid="377859">
                                            <p:txEl>
                                              <p:charRg st="116" end="14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7859">
                                            <p:txEl>
                                              <p:charRg st="140" end="158"/>
                                            </p:txEl>
                                          </p:spTgt>
                                        </p:tgtEl>
                                        <p:attrNameLst>
                                          <p:attrName>style.visibility</p:attrName>
                                        </p:attrNameLst>
                                      </p:cBhvr>
                                      <p:to>
                                        <p:strVal val="visible"/>
                                      </p:to>
                                    </p:set>
                                    <p:animEffect transition="in" filter="blinds(horizontal)">
                                      <p:cBhvr>
                                        <p:cTn id="22" dur="500"/>
                                        <p:tgtEl>
                                          <p:spTgt spid="377859">
                                            <p:txEl>
                                              <p:charRg st="140" end="15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7859">
                                            <p:txEl>
                                              <p:charRg st="158" end="188"/>
                                            </p:txEl>
                                          </p:spTgt>
                                        </p:tgtEl>
                                        <p:attrNameLst>
                                          <p:attrName>style.visibility</p:attrName>
                                        </p:attrNameLst>
                                      </p:cBhvr>
                                      <p:to>
                                        <p:strVal val="visible"/>
                                      </p:to>
                                    </p:set>
                                    <p:animEffect transition="in" filter="blinds(horizontal)">
                                      <p:cBhvr>
                                        <p:cTn id="27" dur="500"/>
                                        <p:tgtEl>
                                          <p:spTgt spid="377859">
                                            <p:txEl>
                                              <p:charRg st="158" end="18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7860">
                                            <p:txEl>
                                              <p:charRg st="0" end="11"/>
                                            </p:txEl>
                                          </p:spTgt>
                                        </p:tgtEl>
                                        <p:attrNameLst>
                                          <p:attrName>style.visibility</p:attrName>
                                        </p:attrNameLst>
                                      </p:cBhvr>
                                      <p:to>
                                        <p:strVal val="visible"/>
                                      </p:to>
                                    </p:set>
                                    <p:animEffect transition="in" filter="blinds(horizontal)">
                                      <p:cBhvr>
                                        <p:cTn id="32" dur="500"/>
                                        <p:tgtEl>
                                          <p:spTgt spid="377860">
                                            <p:txEl>
                                              <p:charRg st="0"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77861"/>
                                        </p:tgtEl>
                                        <p:attrNameLst>
                                          <p:attrName>style.visibility</p:attrName>
                                        </p:attrNameLst>
                                      </p:cBhvr>
                                      <p:to>
                                        <p:strVal val="visible"/>
                                      </p:to>
                                    </p:set>
                                    <p:animEffect transition="in" filter="blinds(horizontal)">
                                      <p:cBhvr>
                                        <p:cTn id="37" dur="500"/>
                                        <p:tgtEl>
                                          <p:spTgt spid="37786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7859">
                                            <p:txEl>
                                              <p:charRg st="188" end="215"/>
                                            </p:txEl>
                                          </p:spTgt>
                                        </p:tgtEl>
                                        <p:attrNameLst>
                                          <p:attrName>style.visibility</p:attrName>
                                        </p:attrNameLst>
                                      </p:cBhvr>
                                      <p:to>
                                        <p:strVal val="visible"/>
                                      </p:to>
                                    </p:set>
                                    <p:animEffect transition="in" filter="blinds(horizontal)">
                                      <p:cBhvr>
                                        <p:cTn id="42" dur="500"/>
                                        <p:tgtEl>
                                          <p:spTgt spid="377859">
                                            <p:txEl>
                                              <p:charRg st="188" end="21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77862">
                                            <p:txEl>
                                              <p:charRg st="0" end="9"/>
                                            </p:txEl>
                                          </p:spTgt>
                                        </p:tgtEl>
                                        <p:attrNameLst>
                                          <p:attrName>style.visibility</p:attrName>
                                        </p:attrNameLst>
                                      </p:cBhvr>
                                      <p:to>
                                        <p:strVal val="visible"/>
                                      </p:to>
                                    </p:set>
                                    <p:animEffect transition="in" filter="blinds(horizontal)">
                                      <p:cBhvr>
                                        <p:cTn id="47" dur="500"/>
                                        <p:tgtEl>
                                          <p:spTgt spid="377862">
                                            <p:txEl>
                                              <p:charRg st="0"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7863"/>
                                        </p:tgtEl>
                                        <p:attrNameLst>
                                          <p:attrName>style.visibility</p:attrName>
                                        </p:attrNameLst>
                                      </p:cBhvr>
                                      <p:to>
                                        <p:strVal val="visible"/>
                                      </p:to>
                                    </p:set>
                                    <p:animEffect transition="in" filter="blinds(horizontal)">
                                      <p:cBhvr>
                                        <p:cTn id="52" dur="500"/>
                                        <p:tgtEl>
                                          <p:spTgt spid="37786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77859">
                                            <p:txEl>
                                              <p:charRg st="215" end="234"/>
                                            </p:txEl>
                                          </p:spTgt>
                                        </p:tgtEl>
                                        <p:attrNameLst>
                                          <p:attrName>style.visibility</p:attrName>
                                        </p:attrNameLst>
                                      </p:cBhvr>
                                      <p:to>
                                        <p:strVal val="visible"/>
                                      </p:to>
                                    </p:set>
                                    <p:animEffect transition="in" filter="blinds(horizontal)">
                                      <p:cBhvr>
                                        <p:cTn id="57" dur="500"/>
                                        <p:tgtEl>
                                          <p:spTgt spid="377859">
                                            <p:txEl>
                                              <p:charRg st="215" end="23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741386">
                                            <p:txEl>
                                              <p:charRg st="0" end="10"/>
                                            </p:txEl>
                                          </p:spTgt>
                                        </p:tgtEl>
                                        <p:attrNameLst>
                                          <p:attrName>style.visibility</p:attrName>
                                        </p:attrNameLst>
                                      </p:cBhvr>
                                      <p:to>
                                        <p:strVal val="visible"/>
                                      </p:to>
                                    </p:set>
                                    <p:animEffect transition="in" filter="blinds(horizontal)">
                                      <p:cBhvr>
                                        <p:cTn id="62" dur="500"/>
                                        <p:tgtEl>
                                          <p:spTgt spid="741386">
                                            <p:txEl>
                                              <p:charRg st="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77865"/>
                                        </p:tgtEl>
                                        <p:attrNameLst>
                                          <p:attrName>style.visibility</p:attrName>
                                        </p:attrNameLst>
                                      </p:cBhvr>
                                      <p:to>
                                        <p:strVal val="visible"/>
                                      </p:to>
                                    </p:set>
                                    <p:animEffect transition="in" filter="blinds(horizontal)">
                                      <p:cBhvr>
                                        <p:cTn id="67" dur="500"/>
                                        <p:tgtEl>
                                          <p:spTgt spid="37786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377859">
                                            <p:txEl>
                                              <p:charRg st="234" end="255"/>
                                            </p:txEl>
                                          </p:spTgt>
                                        </p:tgtEl>
                                        <p:attrNameLst>
                                          <p:attrName>style.visibility</p:attrName>
                                        </p:attrNameLst>
                                      </p:cBhvr>
                                      <p:to>
                                        <p:strVal val="visible"/>
                                      </p:to>
                                    </p:set>
                                    <p:animEffect transition="in" filter="blinds(horizontal)">
                                      <p:cBhvr>
                                        <p:cTn id="72" dur="500"/>
                                        <p:tgtEl>
                                          <p:spTgt spid="377859">
                                            <p:txEl>
                                              <p:charRg st="234" end="25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741386">
                                            <p:txEl>
                                              <p:charRg st="10" end="20"/>
                                            </p:txEl>
                                          </p:spTgt>
                                        </p:tgtEl>
                                        <p:attrNameLst>
                                          <p:attrName>style.visibility</p:attrName>
                                        </p:attrNameLst>
                                      </p:cBhvr>
                                      <p:to>
                                        <p:strVal val="visible"/>
                                      </p:to>
                                    </p:set>
                                    <p:animEffect transition="in" filter="blinds(horizontal)">
                                      <p:cBhvr>
                                        <p:cTn id="77" dur="500"/>
                                        <p:tgtEl>
                                          <p:spTgt spid="741386">
                                            <p:txEl>
                                              <p:charRg st="10" end="2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77859">
                                            <p:txEl>
                                              <p:charRg st="255" end="277"/>
                                            </p:txEl>
                                          </p:spTgt>
                                        </p:tgtEl>
                                        <p:attrNameLst>
                                          <p:attrName>style.visibility</p:attrName>
                                        </p:attrNameLst>
                                      </p:cBhvr>
                                      <p:to>
                                        <p:strVal val="visible"/>
                                      </p:to>
                                    </p:set>
                                    <p:animEffect transition="in" filter="blinds(horizontal)">
                                      <p:cBhvr>
                                        <p:cTn id="82" dur="500"/>
                                        <p:tgtEl>
                                          <p:spTgt spid="377859">
                                            <p:txEl>
                                              <p:charRg st="255" end="277"/>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77864"/>
                                        </p:tgtEl>
                                        <p:attrNameLst>
                                          <p:attrName>style.visibility</p:attrName>
                                        </p:attrNameLst>
                                      </p:cBhvr>
                                      <p:to>
                                        <p:strVal val="visible"/>
                                      </p:to>
                                    </p:set>
                                    <p:animEffect transition="in" filter="blinds(horizontal)">
                                      <p:cBhvr>
                                        <p:cTn id="87" dur="500"/>
                                        <p:tgtEl>
                                          <p:spTgt spid="377864"/>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377859">
                                            <p:txEl>
                                              <p:charRg st="277" end="346"/>
                                            </p:txEl>
                                          </p:spTgt>
                                        </p:tgtEl>
                                        <p:attrNameLst>
                                          <p:attrName>style.visibility</p:attrName>
                                        </p:attrNameLst>
                                      </p:cBhvr>
                                      <p:to>
                                        <p:strVal val="visible"/>
                                      </p:to>
                                    </p:set>
                                    <p:animEffect transition="in" filter="blinds(horizontal)">
                                      <p:cBhvr>
                                        <p:cTn id="92" dur="500"/>
                                        <p:tgtEl>
                                          <p:spTgt spid="377859">
                                            <p:txEl>
                                              <p:charRg st="277" end="3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p:bldP spid="377863" grpId="0"/>
      <p:bldP spid="377864" grpId="0"/>
      <p:bldP spid="37786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2"/>
          <p:cNvSpPr>
            <a:spLocks noGrp="1"/>
          </p:cNvSpPr>
          <p:nvPr>
            <p:ph type="title"/>
          </p:nvPr>
        </p:nvSpPr>
        <p:spPr>
          <a:ln/>
        </p:spPr>
        <p:txBody>
          <a:bodyPr vert="horz" wrap="square" lIns="63500" tIns="25400" rIns="63500" bIns="25400" anchor="t" anchorCtr="0">
            <a:spAutoFit/>
          </a:bodyPr>
          <a:p>
            <a:r>
              <a:rPr lang="en-US" altLang="zh-CN" sz="2800" dirty="0">
                <a:ea typeface="宋体" panose="02010600030101010101" pitchFamily="2" charset="-122"/>
              </a:rPr>
              <a:t>IEEE754</a:t>
            </a:r>
            <a:r>
              <a:rPr lang="zh-CN" altLang="en-US" sz="2800" dirty="0">
                <a:ea typeface="宋体" panose="02010600030101010101" pitchFamily="2" charset="-122"/>
              </a:rPr>
              <a:t>标准规定的五种异常情况</a:t>
            </a:r>
            <a:endParaRPr lang="zh-CN" altLang="en-US" sz="2800" dirty="0">
              <a:ea typeface="宋体" panose="02010600030101010101" pitchFamily="2" charset="-122"/>
            </a:endParaRPr>
          </a:p>
        </p:txBody>
      </p:sp>
      <p:sp>
        <p:nvSpPr>
          <p:cNvPr id="378883" name="Rectangle 3"/>
          <p:cNvSpPr>
            <a:spLocks noGrp="1"/>
          </p:cNvSpPr>
          <p:nvPr>
            <p:ph idx="1"/>
          </p:nvPr>
        </p:nvSpPr>
        <p:spPr>
          <a:xfrm>
            <a:off x="215900" y="739775"/>
            <a:ext cx="8813800" cy="4837113"/>
          </a:xfrm>
          <a:ln/>
        </p:spPr>
        <p:txBody>
          <a:bodyPr vert="horz" wrap="square" lIns="63500" tIns="25400" rIns="63500" bIns="25400" anchor="t" anchorCtr="0">
            <a:spAutoFit/>
          </a:bodyPr>
          <a:p>
            <a:pPr marL="609600" indent="-609600">
              <a:lnSpc>
                <a:spcPct val="125000"/>
              </a:lnSpc>
              <a:buFontTx/>
              <a:buNone/>
            </a:pPr>
            <a:r>
              <a:rPr lang="zh-CN" altLang="en-US" sz="2000" dirty="0">
                <a:latin typeface="微软雅黑" panose="020B0503020204020204" pitchFamily="34" charset="-122"/>
                <a:ea typeface="微软雅黑" panose="020B0503020204020204" pitchFamily="34" charset="-122"/>
              </a:rPr>
              <a:t>① 无效运算（无意义）</a:t>
            </a:r>
            <a:endParaRPr lang="zh-CN" altLang="en-US" sz="2000" dirty="0">
              <a:latin typeface="微软雅黑" panose="020B0503020204020204" pitchFamily="34" charset="-122"/>
              <a:ea typeface="微软雅黑" panose="020B0503020204020204" pitchFamily="34" charset="-122"/>
            </a:endParaRPr>
          </a:p>
          <a:p>
            <a:pPr marL="990600" lvl="1" indent="-533400">
              <a:lnSpc>
                <a:spcPct val="125000"/>
              </a:lnSpc>
            </a:pPr>
            <a:r>
              <a:rPr lang="zh-CN" altLang="en-US" dirty="0">
                <a:latin typeface="微软雅黑" panose="020B0503020204020204" pitchFamily="34" charset="-122"/>
                <a:ea typeface="微软雅黑" panose="020B0503020204020204" pitchFamily="34" charset="-122"/>
              </a:rPr>
              <a:t>运算时有一个数是非有限数，如：</a:t>
            </a:r>
            <a:endParaRPr lang="zh-CN" altLang="en-US" dirty="0">
              <a:latin typeface="微软雅黑" panose="020B0503020204020204" pitchFamily="34" charset="-122"/>
              <a:ea typeface="微软雅黑" panose="020B0503020204020204" pitchFamily="34" charset="-122"/>
            </a:endParaRPr>
          </a:p>
          <a:p>
            <a:pPr marL="990600" lvl="1" indent="-533400">
              <a:lnSpc>
                <a:spcPct val="125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      </a:t>
            </a:r>
            <a:r>
              <a:rPr lang="zh-CN" altLang="en-US" dirty="0">
                <a:solidFill>
                  <a:srgbClr val="CC0000"/>
                </a:solidFill>
                <a:latin typeface="微软雅黑" panose="020B0503020204020204" pitchFamily="34" charset="-122"/>
                <a:ea typeface="微软雅黑" panose="020B0503020204020204" pitchFamily="34" charset="-122"/>
              </a:rPr>
              <a:t>加 </a:t>
            </a:r>
            <a:r>
              <a:rPr lang="en-US" altLang="zh-CN" dirty="0">
                <a:solidFill>
                  <a:srgbClr val="CC0000"/>
                </a:solidFill>
                <a:latin typeface="微软雅黑" panose="020B0503020204020204" pitchFamily="34" charset="-122"/>
                <a:ea typeface="微软雅黑" panose="020B0503020204020204" pitchFamily="34" charset="-122"/>
              </a:rPr>
              <a:t>/ </a:t>
            </a:r>
            <a:r>
              <a:rPr lang="zh-CN" altLang="en-US" dirty="0">
                <a:solidFill>
                  <a:srgbClr val="CC0000"/>
                </a:solidFill>
                <a:latin typeface="微软雅黑" panose="020B0503020204020204" pitchFamily="34" charset="-122"/>
                <a:ea typeface="微软雅黑" panose="020B0503020204020204" pitchFamily="34" charset="-122"/>
              </a:rPr>
              <a:t>减</a:t>
            </a:r>
            <a:r>
              <a:rPr lang="zh-CN" altLang="zh-CN" dirty="0">
                <a:solidFill>
                  <a:srgbClr val="CC0000"/>
                </a:solidFill>
                <a:latin typeface="微软雅黑" panose="020B0503020204020204" pitchFamily="34" charset="-122"/>
                <a:ea typeface="微软雅黑" panose="020B0503020204020204" pitchFamily="34" charset="-122"/>
              </a:rPr>
              <a:t>∞、</a:t>
            </a:r>
            <a:r>
              <a:rPr lang="zh-CN" altLang="en-US" dirty="0">
                <a:solidFill>
                  <a:srgbClr val="CC0000"/>
                </a:solidFill>
                <a:latin typeface="微软雅黑" panose="020B0503020204020204" pitchFamily="34" charset="-122"/>
                <a:ea typeface="微软雅黑" panose="020B0503020204020204" pitchFamily="34" charset="-122"/>
              </a:rPr>
              <a:t>0 </a:t>
            </a:r>
            <a:r>
              <a:rPr lang="en-US" altLang="zh-CN" dirty="0">
                <a:solidFill>
                  <a:srgbClr val="CC0000"/>
                </a:solidFill>
                <a:latin typeface="微软雅黑" panose="020B0503020204020204" pitchFamily="34" charset="-122"/>
                <a:ea typeface="微软雅黑" panose="020B0503020204020204" pitchFamily="34" charset="-122"/>
              </a:rPr>
              <a:t>x </a:t>
            </a:r>
            <a:r>
              <a:rPr lang="zh-CN" altLang="zh-CN" dirty="0">
                <a:solidFill>
                  <a:srgbClr val="CC0000"/>
                </a:solidFill>
                <a:latin typeface="微软雅黑" panose="020B0503020204020204" pitchFamily="34" charset="-122"/>
                <a:ea typeface="微软雅黑" panose="020B0503020204020204" pitchFamily="34" charset="-122"/>
              </a:rPr>
              <a:t>∞</a:t>
            </a:r>
            <a:r>
              <a:rPr lang="zh-CN" altLang="en-US" dirty="0">
                <a:solidFill>
                  <a:srgbClr val="CC0000"/>
                </a:solidFill>
                <a:latin typeface="微软雅黑" panose="020B0503020204020204" pitchFamily="34" charset="-122"/>
                <a:ea typeface="微软雅黑" panose="020B0503020204020204" pitchFamily="34" charset="-122"/>
              </a:rPr>
              <a:t>、 </a:t>
            </a:r>
            <a:r>
              <a:rPr lang="zh-CN" altLang="zh-CN" dirty="0">
                <a:solidFill>
                  <a:srgbClr val="CC0000"/>
                </a:solidFill>
                <a:latin typeface="微软雅黑" panose="020B0503020204020204" pitchFamily="34" charset="-122"/>
                <a:ea typeface="微软雅黑" panose="020B0503020204020204" pitchFamily="34" charset="-122"/>
              </a:rPr>
              <a:t>∞</a:t>
            </a:r>
            <a:r>
              <a:rPr lang="zh-CN" altLang="en-US" dirty="0">
                <a:solidFill>
                  <a:srgbClr val="CC0000"/>
                </a:solidFill>
                <a:latin typeface="微软雅黑" panose="020B0503020204020204" pitchFamily="34" charset="-122"/>
                <a:ea typeface="微软雅黑" panose="020B0503020204020204" pitchFamily="34" charset="-122"/>
              </a:rPr>
              <a:t>/</a:t>
            </a:r>
            <a:r>
              <a:rPr lang="zh-CN" altLang="zh-CN" dirty="0">
                <a:solidFill>
                  <a:srgbClr val="CC0000"/>
                </a:solidFill>
                <a:latin typeface="微软雅黑" panose="020B0503020204020204" pitchFamily="34" charset="-122"/>
                <a:ea typeface="微软雅黑" panose="020B0503020204020204" pitchFamily="34" charset="-122"/>
              </a:rPr>
              <a:t>∞</a:t>
            </a:r>
            <a:r>
              <a:rPr lang="zh-CN" altLang="en-US" dirty="0">
                <a:solidFill>
                  <a:srgbClr val="CC0000"/>
                </a:solidFill>
                <a:latin typeface="微软雅黑" panose="020B0503020204020204" pitchFamily="34" charset="-122"/>
                <a:ea typeface="微软雅黑" panose="020B0503020204020204" pitchFamily="34" charset="-122"/>
              </a:rPr>
              <a:t>等</a:t>
            </a:r>
            <a:endParaRPr lang="zh-CN" altLang="en-US" dirty="0">
              <a:solidFill>
                <a:srgbClr val="CC0000"/>
              </a:solidFill>
              <a:latin typeface="微软雅黑" panose="020B0503020204020204" pitchFamily="34" charset="-122"/>
              <a:ea typeface="微软雅黑" panose="020B0503020204020204" pitchFamily="34" charset="-122"/>
            </a:endParaRPr>
          </a:p>
          <a:p>
            <a:pPr marL="990600" lvl="1" indent="-533400">
              <a:lnSpc>
                <a:spcPct val="125000"/>
              </a:lnSpc>
            </a:pPr>
            <a:r>
              <a:rPr lang="zh-CN" altLang="en-US" dirty="0">
                <a:latin typeface="微软雅黑" panose="020B0503020204020204" pitchFamily="34" charset="-122"/>
                <a:ea typeface="微软雅黑" panose="020B0503020204020204" pitchFamily="34" charset="-122"/>
              </a:rPr>
              <a:t>结果无效，如：</a:t>
            </a:r>
            <a:endParaRPr lang="zh-CN" altLang="en-US" dirty="0">
              <a:latin typeface="微软雅黑" panose="020B0503020204020204" pitchFamily="34" charset="-122"/>
              <a:ea typeface="微软雅黑" panose="020B0503020204020204" pitchFamily="34" charset="-122"/>
            </a:endParaRPr>
          </a:p>
          <a:p>
            <a:pPr marL="990600" lvl="1" indent="-533400">
              <a:lnSpc>
                <a:spcPct val="125000"/>
              </a:lnSpc>
              <a:buFont typeface="Wingdings" panose="05000000000000000000" pitchFamily="2" charset="2"/>
              <a:buNone/>
            </a:pPr>
            <a:r>
              <a:rPr lang="zh-CN" altLang="en-US" dirty="0">
                <a:solidFill>
                  <a:schemeClr val="accent2"/>
                </a:solidFill>
                <a:latin typeface="微软雅黑" panose="020B0503020204020204" pitchFamily="34" charset="-122"/>
                <a:ea typeface="微软雅黑" panose="020B0503020204020204" pitchFamily="34" charset="-122"/>
              </a:rPr>
              <a:t>      </a:t>
            </a:r>
            <a:r>
              <a:rPr lang="zh-CN" altLang="en-US" dirty="0">
                <a:solidFill>
                  <a:srgbClr val="CC0000"/>
                </a:solidFill>
                <a:latin typeface="微软雅黑" panose="020B0503020204020204" pitchFamily="34" charset="-122"/>
                <a:ea typeface="微软雅黑" panose="020B0503020204020204" pitchFamily="34" charset="-122"/>
              </a:rPr>
              <a:t>源操作数是</a:t>
            </a:r>
            <a:r>
              <a:rPr lang="en-US" altLang="zh-CN" dirty="0">
                <a:solidFill>
                  <a:srgbClr val="CC0000"/>
                </a:solidFill>
                <a:latin typeface="微软雅黑" panose="020B0503020204020204" pitchFamily="34" charset="-122"/>
                <a:ea typeface="微软雅黑" panose="020B0503020204020204" pitchFamily="34" charset="-122"/>
              </a:rPr>
              <a:t>NaN、0/0、x REM 0、 </a:t>
            </a:r>
            <a:r>
              <a:rPr lang="zh-CN" altLang="zh-CN" dirty="0">
                <a:solidFill>
                  <a:srgbClr val="CC0000"/>
                </a:solidFill>
                <a:latin typeface="微软雅黑" panose="020B0503020204020204" pitchFamily="34" charset="-122"/>
                <a:ea typeface="微软雅黑" panose="020B0503020204020204" pitchFamily="34" charset="-122"/>
              </a:rPr>
              <a:t>∞</a:t>
            </a:r>
            <a:r>
              <a:rPr lang="en-US" altLang="zh-CN" dirty="0">
                <a:solidFill>
                  <a:srgbClr val="CC0000"/>
                </a:solidFill>
                <a:latin typeface="微软雅黑" panose="020B0503020204020204" pitchFamily="34" charset="-122"/>
                <a:ea typeface="微软雅黑" panose="020B0503020204020204" pitchFamily="34" charset="-122"/>
              </a:rPr>
              <a:t> REM y </a:t>
            </a:r>
            <a:r>
              <a:rPr lang="zh-CN" altLang="zh-CN" dirty="0">
                <a:solidFill>
                  <a:srgbClr val="CC0000"/>
                </a:solidFill>
                <a:latin typeface="微软雅黑" panose="020B0503020204020204" pitchFamily="34" charset="-122"/>
                <a:ea typeface="微软雅黑" panose="020B0503020204020204" pitchFamily="34" charset="-122"/>
              </a:rPr>
              <a:t>等</a:t>
            </a:r>
            <a:endParaRPr lang="zh-CN" altLang="en-US" dirty="0">
              <a:solidFill>
                <a:srgbClr val="CC0000"/>
              </a:solidFill>
              <a:latin typeface="微软雅黑" panose="020B0503020204020204" pitchFamily="34" charset="-122"/>
              <a:ea typeface="微软雅黑" panose="020B0503020204020204" pitchFamily="34" charset="-122"/>
            </a:endParaRPr>
          </a:p>
          <a:p>
            <a:pPr marL="609600" indent="-609600">
              <a:lnSpc>
                <a:spcPct val="125000"/>
              </a:lnSpc>
              <a:buNone/>
            </a:pPr>
            <a:r>
              <a:rPr lang="zh-CN" altLang="en-US" sz="2000" dirty="0">
                <a:latin typeface="微软雅黑" panose="020B0503020204020204" pitchFamily="34" charset="-122"/>
                <a:ea typeface="微软雅黑" panose="020B0503020204020204" pitchFamily="34" charset="-122"/>
              </a:rPr>
              <a:t>② 除以0（即：无穷大）</a:t>
            </a:r>
            <a:endParaRPr lang="zh-CN" altLang="en-US" sz="2000" dirty="0">
              <a:latin typeface="微软雅黑" panose="020B0503020204020204" pitchFamily="34" charset="-122"/>
              <a:ea typeface="微软雅黑" panose="020B0503020204020204" pitchFamily="34" charset="-122"/>
            </a:endParaRPr>
          </a:p>
          <a:p>
            <a:pPr marL="609600" indent="-609600">
              <a:lnSpc>
                <a:spcPct val="125000"/>
              </a:lnSpc>
              <a:buNone/>
            </a:pPr>
            <a:r>
              <a:rPr lang="zh-CN" altLang="en-US" sz="2000" dirty="0">
                <a:latin typeface="微软雅黑" panose="020B0503020204020204" pitchFamily="34" charset="-122"/>
                <a:ea typeface="微软雅黑" panose="020B0503020204020204" pitchFamily="34" charset="-122"/>
              </a:rPr>
              <a:t>③ 数太大（阶码上溢）</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对于</a:t>
            </a:r>
            <a:r>
              <a:rPr lang="en-US" altLang="zh-CN" sz="2000" dirty="0">
                <a:latin typeface="微软雅黑" panose="020B0503020204020204" pitchFamily="34" charset="-122"/>
                <a:ea typeface="微软雅黑" panose="020B0503020204020204" pitchFamily="34" charset="-122"/>
              </a:rPr>
              <a:t>SP</a:t>
            </a:r>
            <a:r>
              <a:rPr lang="zh-CN" altLang="en-US" sz="2000" dirty="0">
                <a:latin typeface="微软雅黑" panose="020B0503020204020204" pitchFamily="34" charset="-122"/>
                <a:ea typeface="微软雅黑" panose="020B0503020204020204" pitchFamily="34" charset="-122"/>
              </a:rPr>
              <a:t>，阶码 </a:t>
            </a:r>
            <a:r>
              <a:rPr lang="en-US" altLang="zh-CN" sz="2000" dirty="0">
                <a:latin typeface="微软雅黑" panose="020B0503020204020204" pitchFamily="34" charset="-122"/>
                <a:ea typeface="微软雅黑" panose="020B0503020204020204" pitchFamily="34" charset="-122"/>
              </a:rPr>
              <a:t>E &gt;1111 1110 </a:t>
            </a:r>
            <a:r>
              <a:rPr lang="zh-CN" altLang="en-US" sz="2000" dirty="0">
                <a:latin typeface="微软雅黑" panose="020B0503020204020204" pitchFamily="34" charset="-122"/>
                <a:ea typeface="微软雅黑" panose="020B0503020204020204" pitchFamily="34" charset="-122"/>
              </a:rPr>
              <a:t>（阶大于</a:t>
            </a:r>
            <a:r>
              <a:rPr lang="en-US" altLang="zh-CN" sz="2000" dirty="0">
                <a:latin typeface="微软雅黑" panose="020B0503020204020204" pitchFamily="34" charset="-122"/>
                <a:ea typeface="微软雅黑" panose="020B0503020204020204" pitchFamily="34" charset="-122"/>
              </a:rPr>
              <a:t>127</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609600" indent="-609600">
              <a:lnSpc>
                <a:spcPct val="125000"/>
              </a:lnSpc>
              <a:buNone/>
            </a:pPr>
            <a:r>
              <a:rPr lang="en-US" altLang="zh-CN" sz="2000" dirty="0">
                <a:latin typeface="微软雅黑" panose="020B0503020204020204" pitchFamily="34" charset="-122"/>
                <a:ea typeface="微软雅黑" panose="020B0503020204020204" pitchFamily="34" charset="-122"/>
              </a:rPr>
              <a:t>④ </a:t>
            </a:r>
            <a:r>
              <a:rPr lang="zh-CN" altLang="en-US" sz="2000" dirty="0">
                <a:latin typeface="微软雅黑" panose="020B0503020204020204" pitchFamily="34" charset="-122"/>
                <a:ea typeface="微软雅黑" panose="020B0503020204020204" pitchFamily="34" charset="-122"/>
              </a:rPr>
              <a:t>数太小（阶码下溢）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对于</a:t>
            </a:r>
            <a:r>
              <a:rPr lang="en-US" altLang="zh-CN" sz="2000" dirty="0">
                <a:latin typeface="微软雅黑" panose="020B0503020204020204" pitchFamily="34" charset="-122"/>
                <a:ea typeface="微软雅黑" panose="020B0503020204020204" pitchFamily="34" charset="-122"/>
              </a:rPr>
              <a:t>SP</a:t>
            </a:r>
            <a:r>
              <a:rPr lang="zh-CN" altLang="en-US" sz="2000" dirty="0">
                <a:latin typeface="微软雅黑" panose="020B0503020204020204" pitchFamily="34" charset="-122"/>
                <a:ea typeface="微软雅黑" panose="020B0503020204020204" pitchFamily="34" charset="-122"/>
              </a:rPr>
              <a:t>，阶码 </a:t>
            </a:r>
            <a:r>
              <a:rPr lang="en-US" altLang="zh-CN" sz="2000" dirty="0">
                <a:latin typeface="微软雅黑" panose="020B0503020204020204" pitchFamily="34" charset="-122"/>
                <a:ea typeface="微软雅黑" panose="020B0503020204020204" pitchFamily="34" charset="-122"/>
              </a:rPr>
              <a:t>E &lt; 0000 0001</a:t>
            </a:r>
            <a:r>
              <a:rPr lang="zh-CN" altLang="en-US" sz="2000" dirty="0">
                <a:latin typeface="微软雅黑" panose="020B0503020204020204" pitchFamily="34" charset="-122"/>
                <a:ea typeface="微软雅黑" panose="020B0503020204020204" pitchFamily="34" charset="-122"/>
              </a:rPr>
              <a:t>（阶小于</a:t>
            </a:r>
            <a:r>
              <a:rPr lang="en-US" altLang="zh-CN" sz="2000" dirty="0">
                <a:latin typeface="微软雅黑" panose="020B0503020204020204" pitchFamily="34" charset="-122"/>
                <a:ea typeface="微软雅黑" panose="020B0503020204020204" pitchFamily="34" charset="-122"/>
              </a:rPr>
              <a:t>-126-23</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marL="609600" indent="-609600">
              <a:lnSpc>
                <a:spcPct val="125000"/>
              </a:lnSpc>
              <a:buNone/>
            </a:pPr>
            <a:r>
              <a:rPr lang="en-US" altLang="zh-CN" sz="2000" dirty="0">
                <a:latin typeface="微软雅黑" panose="020B0503020204020204" pitchFamily="34" charset="-122"/>
                <a:ea typeface="微软雅黑" panose="020B0503020204020204" pitchFamily="34" charset="-122"/>
              </a:rPr>
              <a:t>⑤ </a:t>
            </a:r>
            <a:r>
              <a:rPr lang="zh-CN" altLang="en-US" sz="2000" dirty="0">
                <a:latin typeface="微软雅黑" panose="020B0503020204020204" pitchFamily="34" charset="-122"/>
                <a:ea typeface="微软雅黑" panose="020B0503020204020204" pitchFamily="34" charset="-122"/>
              </a:rPr>
              <a:t>结果不精确（舍入时引起），例如</a:t>
            </a:r>
            <a:r>
              <a:rPr lang="en-US" altLang="zh-CN" sz="2000" dirty="0">
                <a:latin typeface="微软雅黑" panose="020B0503020204020204" pitchFamily="34" charset="-122"/>
                <a:ea typeface="微软雅黑" panose="020B0503020204020204" pitchFamily="34" charset="-122"/>
              </a:rPr>
              <a:t>1/3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1/10</a:t>
            </a:r>
            <a:r>
              <a:rPr lang="zh-CN" altLang="en-US" sz="2000" dirty="0">
                <a:latin typeface="微软雅黑" panose="020B0503020204020204" pitchFamily="34" charset="-122"/>
                <a:ea typeface="微软雅黑" panose="020B0503020204020204" pitchFamily="34" charset="-122"/>
              </a:rPr>
              <a:t>等不能精确表示成浮点数</a:t>
            </a:r>
            <a:endParaRPr lang="zh-CN" altLang="en-US" sz="2000" dirty="0">
              <a:latin typeface="微软雅黑" panose="020B0503020204020204" pitchFamily="34" charset="-122"/>
              <a:ea typeface="微软雅黑" panose="020B0503020204020204" pitchFamily="34" charset="-122"/>
            </a:endParaRPr>
          </a:p>
          <a:p>
            <a:pPr marL="609600" indent="-609600">
              <a:lnSpc>
                <a:spcPct val="125000"/>
              </a:lnSpc>
              <a:buNone/>
            </a:pPr>
            <a:r>
              <a:rPr lang="zh-CN" altLang="en-US" sz="2000" dirty="0">
                <a:solidFill>
                  <a:srgbClr val="008000"/>
                </a:solidFill>
                <a:latin typeface="微软雅黑" panose="020B0503020204020204" pitchFamily="34" charset="-122"/>
                <a:ea typeface="微软雅黑" panose="020B0503020204020204" pitchFamily="34" charset="-122"/>
              </a:rPr>
              <a:t>        </a:t>
            </a:r>
            <a:r>
              <a:rPr lang="zh-CN" altLang="en-US" sz="2000" dirty="0">
                <a:solidFill>
                  <a:srgbClr val="FF0066"/>
                </a:solidFill>
                <a:latin typeface="微软雅黑" panose="020B0503020204020204" pitchFamily="34" charset="-122"/>
                <a:ea typeface="微软雅黑" panose="020B0503020204020204" pitchFamily="34" charset="-122"/>
              </a:rPr>
              <a:t>上述情况硬件可以捕捉到，因此这些异常可设定让硬件处理，也可设定让软件处理。让硬件处理时，称为硬件陷阱。</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378886" name="Rectangle 6"/>
          <p:cNvSpPr/>
          <p:nvPr/>
        </p:nvSpPr>
        <p:spPr>
          <a:xfrm>
            <a:off x="342900" y="5651500"/>
            <a:ext cx="8559800" cy="701675"/>
          </a:xfrm>
          <a:prstGeom prst="rect">
            <a:avLst/>
          </a:prstGeom>
          <a:noFill/>
          <a:ln w="12700">
            <a:noFill/>
          </a:ln>
        </p:spPr>
        <p:txBody>
          <a:bodyPr anchor="t" anchorCtr="0">
            <a:spAutoFit/>
          </a:bodyPr>
          <a:p>
            <a:pPr eaLnBrk="0" hangingPunct="0"/>
            <a:r>
              <a:rPr lang="zh-CN" altLang="en-US" sz="2000" dirty="0">
                <a:solidFill>
                  <a:schemeClr val="accent2"/>
                </a:solidFill>
                <a:latin typeface="微软雅黑" panose="020B0503020204020204" pitchFamily="34" charset="-122"/>
                <a:ea typeface="微软雅黑" panose="020B0503020204020204" pitchFamily="34" charset="-122"/>
              </a:rPr>
              <a:t>注：硬件陷阱：事先设定好是否要进行硬件处理（即挖一个陷阱），当出   </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r>
              <a:rPr lang="zh-CN" altLang="en-US" sz="2000" dirty="0">
                <a:solidFill>
                  <a:schemeClr val="accent2"/>
                </a:solidFill>
                <a:latin typeface="微软雅黑" panose="020B0503020204020204" pitchFamily="34" charset="-122"/>
                <a:ea typeface="微软雅黑" panose="020B0503020204020204" pitchFamily="34" charset="-122"/>
              </a:rPr>
              <a:t>      现相应异常时，就由硬件自动进行相应的异常处理（掉入陷阱）。</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883">
                                            <p:txEl>
                                              <p:charRg st="0" end="12"/>
                                            </p:txEl>
                                          </p:spTgt>
                                        </p:tgtEl>
                                        <p:attrNameLst>
                                          <p:attrName>style.visibility</p:attrName>
                                        </p:attrNameLst>
                                      </p:cBhvr>
                                      <p:to>
                                        <p:strVal val="visible"/>
                                      </p:to>
                                    </p:set>
                                    <p:animEffect transition="in" filter="blinds(horizontal)">
                                      <p:cBhvr>
                                        <p:cTn id="7" dur="500"/>
                                        <p:tgtEl>
                                          <p:spTgt spid="378883">
                                            <p:txEl>
                                              <p:charRg st="0" end="1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8883">
                                            <p:txEl>
                                              <p:charRg st="12" end="28"/>
                                            </p:txEl>
                                          </p:spTgt>
                                        </p:tgtEl>
                                        <p:attrNameLst>
                                          <p:attrName>style.visibility</p:attrName>
                                        </p:attrNameLst>
                                      </p:cBhvr>
                                      <p:to>
                                        <p:strVal val="visible"/>
                                      </p:to>
                                    </p:set>
                                    <p:animEffect transition="in" filter="blinds(horizontal)">
                                      <p:cBhvr>
                                        <p:cTn id="10" dur="500"/>
                                        <p:tgtEl>
                                          <p:spTgt spid="378883">
                                            <p:txEl>
                                              <p:charRg st="12" end="2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8883">
                                            <p:txEl>
                                              <p:charRg st="28" end="53"/>
                                            </p:txEl>
                                          </p:spTgt>
                                        </p:tgtEl>
                                        <p:attrNameLst>
                                          <p:attrName>style.visibility</p:attrName>
                                        </p:attrNameLst>
                                      </p:cBhvr>
                                      <p:to>
                                        <p:strVal val="visible"/>
                                      </p:to>
                                    </p:set>
                                    <p:animEffect transition="in" filter="blinds(horizontal)">
                                      <p:cBhvr>
                                        <p:cTn id="13" dur="500"/>
                                        <p:tgtEl>
                                          <p:spTgt spid="378883">
                                            <p:txEl>
                                              <p:charRg st="28" end="5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78883">
                                            <p:txEl>
                                              <p:charRg st="53" end="61"/>
                                            </p:txEl>
                                          </p:spTgt>
                                        </p:tgtEl>
                                        <p:attrNameLst>
                                          <p:attrName>style.visibility</p:attrName>
                                        </p:attrNameLst>
                                      </p:cBhvr>
                                      <p:to>
                                        <p:strVal val="visible"/>
                                      </p:to>
                                    </p:set>
                                    <p:animEffect transition="in" filter="blinds(horizontal)">
                                      <p:cBhvr>
                                        <p:cTn id="16" dur="500"/>
                                        <p:tgtEl>
                                          <p:spTgt spid="378883">
                                            <p:txEl>
                                              <p:charRg st="53" end="6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78883">
                                            <p:txEl>
                                              <p:charRg st="61" end="99"/>
                                            </p:txEl>
                                          </p:spTgt>
                                        </p:tgtEl>
                                        <p:attrNameLst>
                                          <p:attrName>style.visibility</p:attrName>
                                        </p:attrNameLst>
                                      </p:cBhvr>
                                      <p:to>
                                        <p:strVal val="visible"/>
                                      </p:to>
                                    </p:set>
                                    <p:animEffect transition="in" filter="blinds(horizontal)">
                                      <p:cBhvr>
                                        <p:cTn id="19" dur="500"/>
                                        <p:tgtEl>
                                          <p:spTgt spid="378883">
                                            <p:txEl>
                                              <p:charRg st="61" end="9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78883">
                                            <p:txEl>
                                              <p:charRg st="99" end="112"/>
                                            </p:txEl>
                                          </p:spTgt>
                                        </p:tgtEl>
                                        <p:attrNameLst>
                                          <p:attrName>style.visibility</p:attrName>
                                        </p:attrNameLst>
                                      </p:cBhvr>
                                      <p:to>
                                        <p:strVal val="visible"/>
                                      </p:to>
                                    </p:set>
                                    <p:animEffect transition="in" filter="blinds(horizontal)">
                                      <p:cBhvr>
                                        <p:cTn id="24" dur="500"/>
                                        <p:tgtEl>
                                          <p:spTgt spid="378883">
                                            <p:txEl>
                                              <p:charRg st="99" end="11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78883">
                                            <p:txEl>
                                              <p:charRg st="112" end="155"/>
                                            </p:txEl>
                                          </p:spTgt>
                                        </p:tgtEl>
                                        <p:attrNameLst>
                                          <p:attrName>style.visibility</p:attrName>
                                        </p:attrNameLst>
                                      </p:cBhvr>
                                      <p:to>
                                        <p:strVal val="visible"/>
                                      </p:to>
                                    </p:set>
                                    <p:animEffect transition="in" filter="blinds(horizontal)">
                                      <p:cBhvr>
                                        <p:cTn id="29" dur="500"/>
                                        <p:tgtEl>
                                          <p:spTgt spid="378883">
                                            <p:txEl>
                                              <p:charRg st="112" end="15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78883">
                                            <p:txEl>
                                              <p:charRg st="155" end="204"/>
                                            </p:txEl>
                                          </p:spTgt>
                                        </p:tgtEl>
                                        <p:attrNameLst>
                                          <p:attrName>style.visibility</p:attrName>
                                        </p:attrNameLst>
                                      </p:cBhvr>
                                      <p:to>
                                        <p:strVal val="visible"/>
                                      </p:to>
                                    </p:set>
                                    <p:animEffect transition="in" filter="blinds(horizontal)">
                                      <p:cBhvr>
                                        <p:cTn id="34" dur="500"/>
                                        <p:tgtEl>
                                          <p:spTgt spid="378883">
                                            <p:txEl>
                                              <p:charRg st="155" end="20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78883">
                                            <p:txEl>
                                              <p:charRg st="204" end="241"/>
                                            </p:txEl>
                                          </p:spTgt>
                                        </p:tgtEl>
                                        <p:attrNameLst>
                                          <p:attrName>style.visibility</p:attrName>
                                        </p:attrNameLst>
                                      </p:cBhvr>
                                      <p:to>
                                        <p:strVal val="visible"/>
                                      </p:to>
                                    </p:set>
                                    <p:animEffect transition="in" filter="blinds(horizontal)">
                                      <p:cBhvr>
                                        <p:cTn id="39" dur="500"/>
                                        <p:tgtEl>
                                          <p:spTgt spid="378883">
                                            <p:txEl>
                                              <p:charRg st="204" end="24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378883">
                                            <p:txEl>
                                              <p:charRg st="241" end="301"/>
                                            </p:txEl>
                                          </p:spTgt>
                                        </p:tgtEl>
                                        <p:attrNameLst>
                                          <p:attrName>style.visibility</p:attrName>
                                        </p:attrNameLst>
                                      </p:cBhvr>
                                      <p:to>
                                        <p:strVal val="visible"/>
                                      </p:to>
                                    </p:set>
                                    <p:animEffect transition="in" filter="blinds(horizontal)">
                                      <p:cBhvr>
                                        <p:cTn id="44" dur="500"/>
                                        <p:tgtEl>
                                          <p:spTgt spid="378883">
                                            <p:txEl>
                                              <p:charRg st="241" end="30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78886"/>
                                        </p:tgtEl>
                                        <p:attrNameLst>
                                          <p:attrName>style.visibility</p:attrName>
                                        </p:attrNameLst>
                                      </p:cBhvr>
                                      <p:to>
                                        <p:strVal val="visible"/>
                                      </p:to>
                                    </p:set>
                                    <p:animEffect transition="in" filter="blinds(horizontal)">
                                      <p:cBhvr>
                                        <p:cTn id="49" dur="500"/>
                                        <p:tgtEl>
                                          <p:spTgt spid="378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Rectangle 2"/>
          <p:cNvSpPr>
            <a:spLocks noGrp="1"/>
          </p:cNvSpPr>
          <p:nvPr>
            <p:ph type="title"/>
          </p:nvPr>
        </p:nvSpPr>
        <p:spPr>
          <a:xfrm>
            <a:off x="457200" y="98425"/>
            <a:ext cx="8229600" cy="479425"/>
          </a:xfrm>
          <a:ln/>
        </p:spPr>
        <p:txBody>
          <a:bodyPr vert="horz" wrap="square" lIns="63500" tIns="25400" rIns="63500" bIns="25400" anchor="t" anchorCtr="0">
            <a:spAutoFit/>
          </a:bodyPr>
          <a:p>
            <a:r>
              <a:rPr lang="zh-CN" altLang="en-US" dirty="0">
                <a:ea typeface="宋体" panose="02010600030101010101" pitchFamily="2" charset="-122"/>
              </a:rPr>
              <a:t>回顾：浮点数除</a:t>
            </a:r>
            <a:r>
              <a:rPr lang="en-US" altLang="zh-CN" dirty="0">
                <a:ea typeface="宋体" panose="02010600030101010101" pitchFamily="2" charset="-122"/>
              </a:rPr>
              <a:t>0</a:t>
            </a:r>
            <a:r>
              <a:rPr lang="zh-CN" altLang="en-US" dirty="0">
                <a:ea typeface="宋体" panose="02010600030101010101" pitchFamily="2" charset="-122"/>
              </a:rPr>
              <a:t>的问题</a:t>
            </a:r>
            <a:endParaRPr lang="zh-CN" altLang="en-US" dirty="0">
              <a:ea typeface="宋体" panose="02010600030101010101" pitchFamily="2" charset="-122"/>
            </a:endParaRPr>
          </a:p>
        </p:txBody>
      </p:sp>
      <p:sp>
        <p:nvSpPr>
          <p:cNvPr id="119810" name="Rectangle 3"/>
          <p:cNvSpPr>
            <a:spLocks noGrp="1"/>
          </p:cNvSpPr>
          <p:nvPr>
            <p:ph idx="1"/>
          </p:nvPr>
        </p:nvSpPr>
        <p:spPr>
          <a:ln/>
        </p:spPr>
        <p:txBody>
          <a:bodyPr vert="horz" wrap="square" lIns="63500" tIns="25400" rIns="63500" bIns="25400" anchor="t" anchorCtr="0">
            <a:spAutoFit/>
          </a:bodyPr>
          <a:p>
            <a:endParaRPr lang="zh-CN" altLang="en-US" dirty="0"/>
          </a:p>
        </p:txBody>
      </p:sp>
      <p:pic>
        <p:nvPicPr>
          <p:cNvPr id="119811" name="Picture 4"/>
          <p:cNvPicPr>
            <a:picLocks noChangeAspect="1"/>
          </p:cNvPicPr>
          <p:nvPr/>
        </p:nvPicPr>
        <p:blipFill>
          <a:blip r:embed="rId1"/>
          <a:stretch>
            <a:fillRect/>
          </a:stretch>
        </p:blipFill>
        <p:spPr>
          <a:xfrm>
            <a:off x="206375" y="863600"/>
            <a:ext cx="8461375" cy="5626100"/>
          </a:xfrm>
          <a:prstGeom prst="rect">
            <a:avLst/>
          </a:prstGeom>
          <a:noFill/>
          <a:ln w="9525">
            <a:noFill/>
          </a:ln>
        </p:spPr>
      </p:pic>
      <p:sp>
        <p:nvSpPr>
          <p:cNvPr id="119812" name="Rectangle 5"/>
          <p:cNvSpPr/>
          <p:nvPr/>
        </p:nvSpPr>
        <p:spPr>
          <a:xfrm>
            <a:off x="3222625" y="3024188"/>
            <a:ext cx="5192713" cy="1006475"/>
          </a:xfrm>
          <a:prstGeom prst="rect">
            <a:avLst/>
          </a:prstGeom>
          <a:noFill/>
          <a:ln w="9525">
            <a:noFill/>
          </a:ln>
        </p:spPr>
        <p:txBody>
          <a:bodyPr anchor="ctr" anchorCtr="0">
            <a:spAutoFit/>
          </a:bodyPr>
          <a:p>
            <a:pPr eaLnBrk="0" hangingPunct="0">
              <a:lnSpc>
                <a:spcPct val="125000"/>
              </a:lnSpc>
              <a:buClrTx/>
              <a:buFontTx/>
            </a:pPr>
            <a:r>
              <a:rPr lang="zh-CN" altLang="en-US" sz="2400" dirty="0">
                <a:solidFill>
                  <a:srgbClr val="3333CC"/>
                </a:solidFill>
                <a:latin typeface="微软雅黑" panose="020B0503020204020204" pitchFamily="34" charset="-122"/>
                <a:ea typeface="微软雅黑" panose="020B0503020204020204" pitchFamily="34" charset="-122"/>
              </a:rPr>
              <a:t>为什么整数除</a:t>
            </a:r>
            <a:r>
              <a:rPr lang="en-US" altLang="zh-CN" sz="2400" dirty="0">
                <a:solidFill>
                  <a:srgbClr val="3333CC"/>
                </a:solidFill>
                <a:latin typeface="微软雅黑" panose="020B0503020204020204" pitchFamily="34" charset="-122"/>
                <a:ea typeface="微软雅黑" panose="020B0503020204020204" pitchFamily="34" charset="-122"/>
              </a:rPr>
              <a:t>0</a:t>
            </a:r>
            <a:r>
              <a:rPr lang="zh-CN" altLang="en-US" sz="2400" dirty="0">
                <a:solidFill>
                  <a:srgbClr val="3333CC"/>
                </a:solidFill>
                <a:latin typeface="微软雅黑" panose="020B0503020204020204" pitchFamily="34" charset="-122"/>
                <a:ea typeface="微软雅黑" panose="020B0503020204020204" pitchFamily="34" charset="-122"/>
              </a:rPr>
              <a:t>会发生异常？</a:t>
            </a:r>
            <a:endParaRPr lang="zh-CN" altLang="en-US" sz="2400" dirty="0">
              <a:solidFill>
                <a:srgbClr val="3333CC"/>
              </a:solidFill>
              <a:latin typeface="微软雅黑" panose="020B0503020204020204" pitchFamily="34" charset="-122"/>
              <a:ea typeface="微软雅黑" panose="020B0503020204020204" pitchFamily="34" charset="-122"/>
            </a:endParaRPr>
          </a:p>
          <a:p>
            <a:pPr eaLnBrk="0" hangingPunct="0">
              <a:lnSpc>
                <a:spcPct val="125000"/>
              </a:lnSpc>
              <a:buClrTx/>
              <a:buFontTx/>
            </a:pPr>
            <a:r>
              <a:rPr lang="zh-CN" altLang="en-US" sz="2400" dirty="0">
                <a:solidFill>
                  <a:srgbClr val="3333CC"/>
                </a:solidFill>
                <a:latin typeface="微软雅黑" panose="020B0503020204020204" pitchFamily="34" charset="-122"/>
                <a:ea typeface="微软雅黑" panose="020B0503020204020204" pitchFamily="34" charset="-122"/>
              </a:rPr>
              <a:t>为什么浮点数除</a:t>
            </a:r>
            <a:r>
              <a:rPr lang="en-US" altLang="zh-CN" sz="2400" dirty="0">
                <a:solidFill>
                  <a:srgbClr val="3333CC"/>
                </a:solidFill>
                <a:latin typeface="微软雅黑" panose="020B0503020204020204" pitchFamily="34" charset="-122"/>
                <a:ea typeface="微软雅黑" panose="020B0503020204020204" pitchFamily="34" charset="-122"/>
              </a:rPr>
              <a:t>0</a:t>
            </a:r>
            <a:r>
              <a:rPr lang="zh-CN" altLang="en-US" sz="2400" dirty="0">
                <a:solidFill>
                  <a:srgbClr val="3333CC"/>
                </a:solidFill>
                <a:latin typeface="微软雅黑" panose="020B0503020204020204" pitchFamily="34" charset="-122"/>
                <a:ea typeface="微软雅黑" panose="020B0503020204020204" pitchFamily="34" charset="-122"/>
              </a:rPr>
              <a:t>不会出现异常？</a:t>
            </a:r>
            <a:endParaRPr lang="zh-CN" altLang="en-US" sz="2400" dirty="0">
              <a:solidFill>
                <a:srgbClr val="3333CC"/>
              </a:solidFill>
              <a:latin typeface="微软雅黑" panose="020B0503020204020204" pitchFamily="34" charset="-122"/>
              <a:ea typeface="微软雅黑" panose="020B0503020204020204" pitchFamily="34" charset="-122"/>
            </a:endParaRPr>
          </a:p>
        </p:txBody>
      </p:sp>
      <p:sp>
        <p:nvSpPr>
          <p:cNvPr id="119813" name="Text Box 6"/>
          <p:cNvSpPr txBox="1"/>
          <p:nvPr/>
        </p:nvSpPr>
        <p:spPr>
          <a:xfrm>
            <a:off x="3806825" y="998538"/>
            <a:ext cx="3151188" cy="457200"/>
          </a:xfrm>
          <a:prstGeom prst="rect">
            <a:avLst/>
          </a:prstGeom>
          <a:noFill/>
          <a:ln w="9525">
            <a:noFill/>
          </a:ln>
        </p:spPr>
        <p:txBody>
          <a:bodyPr anchor="t" anchorCtr="0">
            <a:spAutoFit/>
          </a:bodyPr>
          <a:p>
            <a:pPr>
              <a:spcBef>
                <a:spcPct val="50000"/>
              </a:spcBef>
              <a:buClrTx/>
              <a:buFontTx/>
            </a:pPr>
            <a:r>
              <a:rPr lang="zh-CN" altLang="en-US" sz="2400" dirty="0">
                <a:solidFill>
                  <a:srgbClr val="008000"/>
                </a:solidFill>
                <a:latin typeface="Arial" panose="020B0604020202020204" pitchFamily="34" charset="0"/>
                <a:ea typeface="微软雅黑" panose="020B0503020204020204" pitchFamily="34" charset="-122"/>
              </a:rPr>
              <a:t>这是网上的一个帖子</a:t>
            </a:r>
            <a:endParaRPr lang="zh-CN" altLang="en-US" sz="2400" dirty="0">
              <a:solidFill>
                <a:srgbClr val="008000"/>
              </a:solidFill>
              <a:latin typeface="Arial" panose="020B0604020202020204" pitchFamily="34" charset="0"/>
              <a:ea typeface="微软雅黑" panose="020B0503020204020204" pitchFamily="34" charset="-122"/>
            </a:endParaRPr>
          </a:p>
        </p:txBody>
      </p:sp>
      <p:sp>
        <p:nvSpPr>
          <p:cNvPr id="119814" name="Line 7"/>
          <p:cNvSpPr/>
          <p:nvPr/>
        </p:nvSpPr>
        <p:spPr>
          <a:xfrm>
            <a:off x="4211638" y="6443663"/>
            <a:ext cx="1169987" cy="0"/>
          </a:xfrm>
          <a:prstGeom prst="line">
            <a:avLst/>
          </a:prstGeom>
          <a:ln w="38100" cap="flat" cmpd="sng">
            <a:solidFill>
              <a:srgbClr val="FF0000"/>
            </a:solidFill>
            <a:prstDash val="solid"/>
            <a:round/>
            <a:headEnd type="none" w="med" len="med"/>
            <a:tailEnd type="none" w="med" len="med"/>
          </a:ln>
        </p:spPr>
      </p:sp>
      <p:sp>
        <p:nvSpPr>
          <p:cNvPr id="119815" name="Line 8"/>
          <p:cNvSpPr/>
          <p:nvPr/>
        </p:nvSpPr>
        <p:spPr>
          <a:xfrm>
            <a:off x="5651500" y="6443663"/>
            <a:ext cx="1169988" cy="0"/>
          </a:xfrm>
          <a:prstGeom prst="line">
            <a:avLst/>
          </a:prstGeom>
          <a:ln w="38100" cap="flat" cmpd="sng">
            <a:solidFill>
              <a:srgbClr val="FF0000"/>
            </a:solidFill>
            <a:prstDash val="solid"/>
            <a:round/>
            <a:headEnd type="none" w="med" len="med"/>
            <a:tailEnd type="none" w="med" len="med"/>
          </a:ln>
        </p:spPr>
      </p:sp>
      <p:sp>
        <p:nvSpPr>
          <p:cNvPr id="743433" name="Text Box 9"/>
          <p:cNvSpPr txBox="1"/>
          <p:nvPr/>
        </p:nvSpPr>
        <p:spPr>
          <a:xfrm>
            <a:off x="3492500" y="4959350"/>
            <a:ext cx="4365625" cy="762000"/>
          </a:xfrm>
          <a:prstGeom prst="rect">
            <a:avLst/>
          </a:prstGeom>
          <a:noFill/>
          <a:ln w="9525">
            <a:noFill/>
          </a:ln>
        </p:spPr>
        <p:txBody>
          <a:bodyPr anchor="t" anchorCtr="0">
            <a:spAutoFit/>
          </a:bodyPr>
          <a:p>
            <a:pPr>
              <a:buClrTx/>
              <a:buFontTx/>
            </a:pPr>
            <a:r>
              <a:rPr lang="zh-CN" altLang="en-US" sz="2200" dirty="0">
                <a:solidFill>
                  <a:srgbClr val="FF0000"/>
                </a:solidFill>
                <a:latin typeface="Arial" panose="020B0604020202020204" pitchFamily="34" charset="0"/>
                <a:ea typeface="微软雅黑" panose="020B0503020204020204" pitchFamily="34" charset="-122"/>
              </a:rPr>
              <a:t>浮点运算中，一个有限数除以</a:t>
            </a:r>
            <a:r>
              <a:rPr lang="en-US" altLang="zh-CN" sz="2200" dirty="0">
                <a:solidFill>
                  <a:srgbClr val="FF0000"/>
                </a:solidFill>
                <a:latin typeface="Arial" panose="020B0604020202020204" pitchFamily="34" charset="0"/>
                <a:ea typeface="微软雅黑" panose="020B0503020204020204" pitchFamily="34" charset="-122"/>
              </a:rPr>
              <a:t>0</a:t>
            </a:r>
            <a:r>
              <a:rPr lang="zh-CN" altLang="en-US" sz="2200" dirty="0">
                <a:solidFill>
                  <a:srgbClr val="FF0000"/>
                </a:solidFill>
                <a:latin typeface="Arial" panose="020B0604020202020204" pitchFamily="34" charset="0"/>
                <a:ea typeface="微软雅黑" panose="020B0503020204020204" pitchFamily="34" charset="-122"/>
              </a:rPr>
              <a:t>，结果为正无穷大（负无穷大）</a:t>
            </a:r>
            <a:endParaRPr lang="zh-CN" altLang="en-US" sz="2200" dirty="0">
              <a:solidFill>
                <a:srgbClr val="FF0000"/>
              </a:solidFill>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3433"/>
                                        </p:tgtEl>
                                        <p:attrNameLst>
                                          <p:attrName>style.visibility</p:attrName>
                                        </p:attrNameLst>
                                      </p:cBhvr>
                                      <p:to>
                                        <p:strVal val="visible"/>
                                      </p:to>
                                    </p:set>
                                    <p:animEffect transition="in" filter="blinds(horizontal)">
                                      <p:cBhvr>
                                        <p:cTn id="7" dur="500"/>
                                        <p:tgtEl>
                                          <p:spTgt spid="743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3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Rectangle 2"/>
          <p:cNvSpPr>
            <a:spLocks noGrp="1"/>
          </p:cNvSpPr>
          <p:nvPr>
            <p:ph type="title" idx="4294967295"/>
          </p:nvPr>
        </p:nvSpPr>
        <p:spPr>
          <a:xfrm>
            <a:off x="457200" y="53975"/>
            <a:ext cx="8229600" cy="479425"/>
          </a:xfrm>
          <a:ln/>
        </p:spPr>
        <p:txBody>
          <a:bodyPr vert="horz" wrap="square" lIns="63500" tIns="25400" rIns="63500" bIns="25400" anchor="t" anchorCtr="0">
            <a:spAutoFit/>
          </a:bodyPr>
          <a:p>
            <a:r>
              <a:rPr lang="zh-CN" altLang="en-US" dirty="0">
                <a:latin typeface="黑体" panose="02010609060101010101" pitchFamily="49" charset="-122"/>
                <a:ea typeface="黑体" panose="02010609060101010101" pitchFamily="49" charset="-122"/>
              </a:rPr>
              <a:t>回顾：浮点数加</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减运算</a:t>
            </a:r>
            <a:endParaRPr lang="zh-CN" altLang="en-US" dirty="0">
              <a:latin typeface="黑体" panose="02010609060101010101" pitchFamily="49" charset="-122"/>
              <a:ea typeface="黑体" panose="02010609060101010101" pitchFamily="49" charset="-122"/>
            </a:endParaRPr>
          </a:p>
        </p:txBody>
      </p:sp>
      <p:sp>
        <p:nvSpPr>
          <p:cNvPr id="455683" name="Rectangle 3"/>
          <p:cNvSpPr>
            <a:spLocks noGrp="1"/>
          </p:cNvSpPr>
          <p:nvPr>
            <p:ph type="body" idx="4294967295"/>
          </p:nvPr>
        </p:nvSpPr>
        <p:spPr>
          <a:xfrm>
            <a:off x="66675" y="793750"/>
            <a:ext cx="8918575" cy="5465763"/>
          </a:xfrm>
          <a:ln/>
        </p:spPr>
        <p:txBody>
          <a:bodyPr vert="horz" wrap="square" lIns="63500" tIns="25400" rIns="63500" bIns="25400" anchor="t" anchorCtr="0">
            <a:spAutoFit/>
          </a:bodyPr>
          <a:p>
            <a:r>
              <a:rPr lang="zh-CN" altLang="en-US" sz="2000" dirty="0">
                <a:latin typeface="微软雅黑" panose="020B0503020204020204" pitchFamily="34" charset="-122"/>
                <a:ea typeface="微软雅黑" panose="020B0503020204020204" pitchFamily="34" charset="-122"/>
              </a:rPr>
              <a:t>十进制科学计数法的加法例子</a:t>
            </a:r>
            <a:endParaRPr lang="zh-CN" altLang="en-US" sz="2000" dirty="0">
              <a:latin typeface="微软雅黑" panose="020B0503020204020204" pitchFamily="34" charset="-122"/>
              <a:ea typeface="微软雅黑" panose="020B0503020204020204" pitchFamily="34" charset="-122"/>
            </a:endParaRPr>
          </a:p>
          <a:p>
            <a:pPr lvl="1">
              <a:buNone/>
            </a:pPr>
            <a:r>
              <a:rPr lang="en-US" altLang="zh-CN" dirty="0">
                <a:latin typeface="微软雅黑" panose="020B0503020204020204" pitchFamily="34" charset="-122"/>
                <a:ea typeface="微软雅黑" panose="020B0503020204020204" pitchFamily="34" charset="-122"/>
              </a:rPr>
              <a:t> 1.123 × 10</a:t>
            </a:r>
            <a:r>
              <a:rPr lang="en-US" altLang="zh-CN" baseline="30000" dirty="0">
                <a:latin typeface="微软雅黑" panose="020B0503020204020204" pitchFamily="34" charset="-122"/>
                <a:ea typeface="微软雅黑" panose="020B0503020204020204" pitchFamily="34" charset="-122"/>
              </a:rPr>
              <a:t>5</a:t>
            </a:r>
            <a:r>
              <a:rPr lang="en-US" altLang="zh-CN" dirty="0">
                <a:latin typeface="微软雅黑" panose="020B0503020204020204" pitchFamily="34" charset="-122"/>
                <a:ea typeface="微软雅黑" panose="020B0503020204020204" pitchFamily="34" charset="-122"/>
              </a:rPr>
              <a:t> + 2.560 ×10</a:t>
            </a:r>
            <a:r>
              <a:rPr lang="en-US" altLang="zh-CN" baseline="30000"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a:p>
            <a:pPr>
              <a:buFontTx/>
              <a:buNone/>
            </a:pPr>
            <a:r>
              <a:rPr lang="zh-CN" altLang="en-US" sz="2000" dirty="0">
                <a:latin typeface="微软雅黑" panose="020B0503020204020204" pitchFamily="34" charset="-122"/>
                <a:ea typeface="微软雅黑" panose="020B0503020204020204" pitchFamily="34" charset="-122"/>
              </a:rPr>
              <a:t>  其计算过程为：</a:t>
            </a:r>
            <a:endParaRPr lang="zh-CN" altLang="en-US" sz="2000" dirty="0">
              <a:latin typeface="微软雅黑" panose="020B0503020204020204" pitchFamily="34" charset="-122"/>
              <a:ea typeface="微软雅黑" panose="020B0503020204020204" pitchFamily="34" charset="-122"/>
            </a:endParaRPr>
          </a:p>
          <a:p>
            <a:pPr lvl="1">
              <a:buNone/>
            </a:pPr>
            <a:r>
              <a:rPr lang="en-US" altLang="zh-CN" dirty="0">
                <a:latin typeface="微软雅黑" panose="020B0503020204020204" pitchFamily="34" charset="-122"/>
                <a:ea typeface="微软雅黑" panose="020B0503020204020204" pitchFamily="34" charset="-122"/>
              </a:rPr>
              <a:t>1.123 ×10</a:t>
            </a:r>
            <a:r>
              <a:rPr lang="en-US" altLang="zh-CN" baseline="30000" dirty="0">
                <a:latin typeface="微软雅黑" panose="020B0503020204020204" pitchFamily="34" charset="-122"/>
                <a:ea typeface="微软雅黑" panose="020B0503020204020204" pitchFamily="34" charset="-122"/>
              </a:rPr>
              <a:t>5</a:t>
            </a:r>
            <a:r>
              <a:rPr lang="en-US" altLang="zh-CN" dirty="0">
                <a:latin typeface="微软雅黑" panose="020B0503020204020204" pitchFamily="34" charset="-122"/>
                <a:ea typeface="微软雅黑" panose="020B0503020204020204" pitchFamily="34" charset="-122"/>
              </a:rPr>
              <a:t> + </a:t>
            </a:r>
            <a:r>
              <a:rPr lang="en-US" altLang="zh-CN" dirty="0">
                <a:solidFill>
                  <a:srgbClr val="FF0000"/>
                </a:solidFill>
                <a:latin typeface="微软雅黑" panose="020B0503020204020204" pitchFamily="34" charset="-122"/>
                <a:ea typeface="微软雅黑" panose="020B0503020204020204" pitchFamily="34" charset="-122"/>
              </a:rPr>
              <a:t>2</a:t>
            </a:r>
            <a:r>
              <a:rPr lang="en-US" altLang="zh-CN" dirty="0">
                <a:latin typeface="微软雅黑" panose="020B0503020204020204" pitchFamily="34" charset="-122"/>
                <a:ea typeface="微软雅黑" panose="020B0503020204020204" pitchFamily="34" charset="-122"/>
              </a:rPr>
              <a:t>.560 ×10</a:t>
            </a:r>
            <a:r>
              <a:rPr lang="en-US" altLang="zh-CN" baseline="30000" dirty="0">
                <a:latin typeface="微软雅黑" panose="020B0503020204020204" pitchFamily="34" charset="-122"/>
                <a:ea typeface="微软雅黑" panose="020B0503020204020204" pitchFamily="34" charset="-122"/>
              </a:rPr>
              <a:t>2</a:t>
            </a:r>
            <a:r>
              <a:rPr lang="en-US" altLang="zh-CN" dirty="0">
                <a:latin typeface="微软雅黑" panose="020B0503020204020204" pitchFamily="34" charset="-122"/>
                <a:ea typeface="微软雅黑" panose="020B0503020204020204" pitchFamily="34" charset="-122"/>
              </a:rPr>
              <a:t> = 1.123 ×10</a:t>
            </a:r>
            <a:r>
              <a:rPr lang="en-US" altLang="zh-CN" baseline="30000" dirty="0">
                <a:latin typeface="微软雅黑" panose="020B0503020204020204" pitchFamily="34" charset="-122"/>
                <a:ea typeface="微软雅黑" panose="020B0503020204020204" pitchFamily="34" charset="-122"/>
              </a:rPr>
              <a:t>5</a:t>
            </a:r>
            <a:r>
              <a:rPr lang="en-US" altLang="zh-CN" dirty="0">
                <a:latin typeface="微软雅黑" panose="020B0503020204020204" pitchFamily="34" charset="-122"/>
                <a:ea typeface="微软雅黑" panose="020B0503020204020204" pitchFamily="34" charset="-122"/>
              </a:rPr>
              <a:t> + 0.00</a:t>
            </a:r>
            <a:r>
              <a:rPr lang="en-US" altLang="zh-CN" dirty="0">
                <a:solidFill>
                  <a:srgbClr val="FF0000"/>
                </a:solidFill>
                <a:latin typeface="微软雅黑" panose="020B0503020204020204" pitchFamily="34" charset="-122"/>
                <a:ea typeface="微软雅黑" panose="020B0503020204020204" pitchFamily="34" charset="-122"/>
              </a:rPr>
              <a:t>2</a:t>
            </a:r>
            <a:r>
              <a:rPr lang="en-US" altLang="zh-CN" dirty="0">
                <a:latin typeface="微软雅黑" panose="020B0503020204020204" pitchFamily="34" charset="-122"/>
                <a:ea typeface="微软雅黑" panose="020B0503020204020204" pitchFamily="34" charset="-122"/>
              </a:rPr>
              <a:t>560 ×10</a:t>
            </a:r>
            <a:r>
              <a:rPr lang="en-US" altLang="zh-CN" baseline="30000" dirty="0">
                <a:latin typeface="微软雅黑" panose="020B0503020204020204" pitchFamily="34" charset="-122"/>
                <a:ea typeface="微软雅黑" panose="020B0503020204020204" pitchFamily="34" charset="-122"/>
              </a:rPr>
              <a:t>5</a:t>
            </a:r>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lvl="1">
              <a:buNone/>
            </a:pPr>
            <a:r>
              <a:rPr lang="en-US" altLang="zh-CN" dirty="0">
                <a:latin typeface="微软雅黑" panose="020B0503020204020204" pitchFamily="34" charset="-122"/>
                <a:ea typeface="微软雅黑" panose="020B0503020204020204" pitchFamily="34" charset="-122"/>
              </a:rPr>
              <a:t>                                        =(1.123 + 0.002</a:t>
            </a:r>
            <a:r>
              <a:rPr lang="en-US" altLang="zh-CN" dirty="0">
                <a:solidFill>
                  <a:srgbClr val="FF0066"/>
                </a:solidFill>
                <a:latin typeface="微软雅黑" panose="020B0503020204020204" pitchFamily="34" charset="-122"/>
                <a:ea typeface="微软雅黑" panose="020B0503020204020204" pitchFamily="34" charset="-122"/>
              </a:rPr>
              <a:t>56</a:t>
            </a:r>
            <a:r>
              <a:rPr lang="en-US" altLang="zh-CN" dirty="0">
                <a:latin typeface="微软雅黑" panose="020B0503020204020204" pitchFamily="34" charset="-122"/>
                <a:ea typeface="微软雅黑" panose="020B0503020204020204" pitchFamily="34" charset="-122"/>
              </a:rPr>
              <a:t>) ×10</a:t>
            </a:r>
            <a:r>
              <a:rPr lang="en-US" altLang="zh-CN" baseline="30000" dirty="0">
                <a:latin typeface="微软雅黑" panose="020B0503020204020204" pitchFamily="34" charset="-122"/>
                <a:ea typeface="微软雅黑" panose="020B0503020204020204" pitchFamily="34" charset="-122"/>
              </a:rPr>
              <a:t>5</a:t>
            </a:r>
            <a:r>
              <a:rPr lang="en-US" altLang="zh-CN" dirty="0">
                <a:latin typeface="微软雅黑" panose="020B0503020204020204" pitchFamily="34" charset="-122"/>
                <a:ea typeface="微软雅黑" panose="020B0503020204020204" pitchFamily="34" charset="-122"/>
              </a:rPr>
              <a:t> = 1.12556 ×10</a:t>
            </a:r>
            <a:r>
              <a:rPr lang="en-US" altLang="zh-CN" baseline="30000" dirty="0">
                <a:latin typeface="微软雅黑" panose="020B0503020204020204" pitchFamily="34" charset="-122"/>
                <a:ea typeface="微软雅黑" panose="020B0503020204020204" pitchFamily="34" charset="-122"/>
              </a:rPr>
              <a:t>5  </a:t>
            </a:r>
            <a:endParaRPr lang="en-US" altLang="zh-CN" baseline="30000" dirty="0">
              <a:latin typeface="微软雅黑" panose="020B0503020204020204" pitchFamily="34" charset="-122"/>
              <a:ea typeface="微软雅黑" panose="020B0503020204020204" pitchFamily="34" charset="-122"/>
            </a:endParaRPr>
          </a:p>
          <a:p>
            <a:pPr lvl="1">
              <a:buNone/>
            </a:pPr>
            <a:r>
              <a:rPr lang="en-US" altLang="zh-CN" baseline="30000"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=1.126 ×10</a:t>
            </a:r>
            <a:r>
              <a:rPr lang="en-US" altLang="zh-CN" baseline="30000" dirty="0">
                <a:latin typeface="微软雅黑" panose="020B0503020204020204" pitchFamily="34" charset="-122"/>
                <a:ea typeface="微软雅黑" panose="020B0503020204020204" pitchFamily="34" charset="-122"/>
              </a:rPr>
              <a:t>5 </a:t>
            </a:r>
            <a:endParaRPr lang="en-US" altLang="zh-CN" dirty="0">
              <a:latin typeface="微软雅黑" panose="020B0503020204020204" pitchFamily="34" charset="-122"/>
              <a:ea typeface="微软雅黑" panose="020B0503020204020204" pitchFamily="34" charset="-122"/>
            </a:endParaRPr>
          </a:p>
          <a:p>
            <a:pPr lvl="1">
              <a:buNone/>
            </a:pPr>
            <a:endParaRPr lang="en-US" altLang="zh-CN" baseline="30000" dirty="0">
              <a:latin typeface="微软雅黑" panose="020B0503020204020204" pitchFamily="34" charset="-122"/>
              <a:ea typeface="微软雅黑" panose="020B0503020204020204" pitchFamily="34" charset="-122"/>
            </a:endParaRPr>
          </a:p>
          <a:p>
            <a:pPr lvl="1">
              <a:buNone/>
            </a:pPr>
            <a:endParaRPr lang="en-US" altLang="zh-CN" baseline="30000" dirty="0">
              <a:latin typeface="微软雅黑" panose="020B0503020204020204" pitchFamily="34" charset="-122"/>
              <a:ea typeface="微软雅黑" panose="020B0503020204020204" pitchFamily="34" charset="-122"/>
            </a:endParaRPr>
          </a:p>
          <a:p>
            <a:pPr lvl="1">
              <a:buNone/>
            </a:pPr>
            <a:endParaRPr lang="en-US" altLang="zh-CN" baseline="30000" dirty="0">
              <a:latin typeface="微软雅黑" panose="020B0503020204020204" pitchFamily="34" charset="-122"/>
              <a:ea typeface="微软雅黑" panose="020B0503020204020204" pitchFamily="34" charset="-122"/>
            </a:endParaRPr>
          </a:p>
          <a:p>
            <a:pPr lvl="1">
              <a:buNone/>
            </a:pPr>
            <a:endParaRPr lang="en-US" altLang="zh-CN" baseline="30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“对阶”操作：</a:t>
            </a:r>
            <a:r>
              <a:rPr lang="zh-CN" altLang="en-US" sz="2000" dirty="0">
                <a:solidFill>
                  <a:srgbClr val="FF0066"/>
                </a:solidFill>
                <a:latin typeface="微软雅黑" panose="020B0503020204020204" pitchFamily="34" charset="-122"/>
                <a:ea typeface="微软雅黑" panose="020B0503020204020204" pitchFamily="34" charset="-122"/>
              </a:rPr>
              <a:t>目的是使两数阶码相等</a:t>
            </a:r>
            <a:endParaRPr lang="zh-CN" altLang="en-US" sz="2000" dirty="0">
              <a:solidFill>
                <a:srgbClr val="FF0066"/>
              </a:solidFill>
              <a:latin typeface="微软雅黑" panose="020B0503020204020204" pitchFamily="34" charset="-122"/>
              <a:ea typeface="微软雅黑" panose="020B0503020204020204" pitchFamily="34" charset="-122"/>
            </a:endParaRPr>
          </a:p>
          <a:p>
            <a:pPr lvl="1"/>
            <a:r>
              <a:rPr lang="zh-CN" altLang="en-US" dirty="0">
                <a:solidFill>
                  <a:schemeClr val="accent2"/>
                </a:solidFill>
                <a:latin typeface="微软雅黑" panose="020B0503020204020204" pitchFamily="34" charset="-122"/>
                <a:ea typeface="微软雅黑" panose="020B0503020204020204" pitchFamily="34" charset="-122"/>
              </a:rPr>
              <a:t>小阶向大阶看齐，阶小的那个数的尾数右移，右移位数等于两个阶码差的绝对值</a:t>
            </a:r>
            <a:endParaRPr lang="zh-CN" altLang="en-US" dirty="0">
              <a:solidFill>
                <a:schemeClr val="accent2"/>
              </a:solidFill>
              <a:latin typeface="微软雅黑" panose="020B0503020204020204" pitchFamily="34" charset="-122"/>
              <a:ea typeface="微软雅黑" panose="020B0503020204020204" pitchFamily="34" charset="-122"/>
            </a:endParaRPr>
          </a:p>
          <a:p>
            <a:pPr lvl="1"/>
            <a:r>
              <a:rPr lang="en-US" altLang="zh-CN" dirty="0">
                <a:solidFill>
                  <a:schemeClr val="accent2"/>
                </a:solidFill>
                <a:latin typeface="微软雅黑" panose="020B0503020204020204" pitchFamily="34" charset="-122"/>
                <a:ea typeface="微软雅黑" panose="020B0503020204020204" pitchFamily="34" charset="-122"/>
              </a:rPr>
              <a:t>IEEE 754</a:t>
            </a:r>
            <a:r>
              <a:rPr lang="zh-CN" altLang="en-US" dirty="0">
                <a:solidFill>
                  <a:schemeClr val="accent2"/>
                </a:solidFill>
                <a:latin typeface="微软雅黑" panose="020B0503020204020204" pitchFamily="34" charset="-122"/>
                <a:ea typeface="微软雅黑" panose="020B0503020204020204" pitchFamily="34" charset="-122"/>
              </a:rPr>
              <a:t>尾数右移时，要将隐含的</a:t>
            </a:r>
            <a:r>
              <a:rPr lang="zh-CN" altLang="en-US" dirty="0">
                <a:solidFill>
                  <a:srgbClr val="FF0000"/>
                </a:solidFill>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chemeClr val="accent2"/>
                </a:solidFill>
                <a:latin typeface="微软雅黑" panose="020B0503020204020204" pitchFamily="34" charset="-122"/>
                <a:ea typeface="微软雅黑" panose="020B0503020204020204" pitchFamily="34" charset="-122"/>
              </a:rPr>
              <a:t>移到小数部分，高位补</a:t>
            </a:r>
            <a:r>
              <a:rPr lang="en-US" altLang="zh-CN" dirty="0">
                <a:solidFill>
                  <a:schemeClr val="accent2"/>
                </a:solidFill>
                <a:latin typeface="微软雅黑" panose="020B0503020204020204" pitchFamily="34" charset="-122"/>
                <a:ea typeface="微软雅黑" panose="020B0503020204020204" pitchFamily="34" charset="-122"/>
              </a:rPr>
              <a:t>0</a:t>
            </a:r>
            <a:r>
              <a:rPr lang="zh-CN" altLang="en-US" dirty="0">
                <a:solidFill>
                  <a:schemeClr val="accent2"/>
                </a:solidFill>
                <a:latin typeface="微软雅黑" panose="020B0503020204020204" pitchFamily="34" charset="-122"/>
                <a:ea typeface="微软雅黑" panose="020B0503020204020204" pitchFamily="34" charset="-122"/>
              </a:rPr>
              <a:t>，移出的低位保留到特定的</a:t>
            </a:r>
            <a:r>
              <a:rPr lang="zh-CN" altLang="en-US" dirty="0">
                <a:solidFill>
                  <a:srgbClr val="FF0066"/>
                </a:solidFill>
                <a:latin typeface="微软雅黑" panose="020B0503020204020204" pitchFamily="34" charset="-122"/>
                <a:ea typeface="微软雅黑" panose="020B0503020204020204" pitchFamily="34" charset="-122"/>
              </a:rPr>
              <a:t>“附加位”</a:t>
            </a:r>
            <a:r>
              <a:rPr lang="zh-CN" altLang="en-US" dirty="0">
                <a:solidFill>
                  <a:schemeClr val="accent2"/>
                </a:solidFill>
                <a:latin typeface="微软雅黑" panose="020B0503020204020204" pitchFamily="34" charset="-122"/>
                <a:ea typeface="微软雅黑" panose="020B0503020204020204" pitchFamily="34" charset="-122"/>
              </a:rPr>
              <a:t>上</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455685" name="Text Box 5"/>
          <p:cNvSpPr txBox="1"/>
          <p:nvPr/>
        </p:nvSpPr>
        <p:spPr>
          <a:xfrm>
            <a:off x="981075" y="3333750"/>
            <a:ext cx="7200900" cy="828675"/>
          </a:xfrm>
          <a:prstGeom prst="rect">
            <a:avLst/>
          </a:prstGeom>
          <a:noFill/>
          <a:ln w="12700">
            <a:noFill/>
          </a:ln>
        </p:spPr>
        <p:txBody>
          <a:bodyPr anchor="t" anchorCtr="0">
            <a:spAutoFit/>
          </a:bodyPr>
          <a:p>
            <a:pPr eaLnBrk="0" hangingPunct="0">
              <a:spcBef>
                <a:spcPct val="20000"/>
              </a:spcBef>
              <a:buClrTx/>
              <a:buFontTx/>
            </a:pPr>
            <a:r>
              <a:rPr lang="zh-CN" altLang="en-US" sz="2200" dirty="0">
                <a:solidFill>
                  <a:srgbClr val="CC3300"/>
                </a:solidFill>
                <a:latin typeface="Arial" panose="020B0604020202020204" pitchFamily="34" charset="0"/>
                <a:ea typeface="微软雅黑" panose="020B0503020204020204" pitchFamily="34" charset="-122"/>
              </a:rPr>
              <a:t>进行尾数加减运算前，必须</a:t>
            </a:r>
            <a:r>
              <a:rPr lang="zh-CN" altLang="en-US" sz="2200" dirty="0">
                <a:solidFill>
                  <a:srgbClr val="CC3300"/>
                </a:solidFill>
                <a:latin typeface="微软雅黑" panose="020B0503020204020204" pitchFamily="34" charset="-122"/>
                <a:ea typeface="微软雅黑" panose="020B0503020204020204" pitchFamily="34" charset="-122"/>
              </a:rPr>
              <a:t>“</a:t>
            </a:r>
            <a:r>
              <a:rPr lang="zh-CN" altLang="en-US" sz="2200" dirty="0">
                <a:solidFill>
                  <a:srgbClr val="CC3300"/>
                </a:solidFill>
                <a:latin typeface="Arial" panose="020B0604020202020204" pitchFamily="34" charset="0"/>
                <a:ea typeface="微软雅黑" panose="020B0503020204020204" pitchFamily="34" charset="-122"/>
              </a:rPr>
              <a:t>对阶</a:t>
            </a:r>
            <a:r>
              <a:rPr lang="zh-CN" altLang="en-US" sz="2200" dirty="0">
                <a:solidFill>
                  <a:srgbClr val="CC3300"/>
                </a:solidFill>
                <a:latin typeface="微软雅黑" panose="020B0503020204020204" pitchFamily="34" charset="-122"/>
                <a:ea typeface="微软雅黑" panose="020B0503020204020204" pitchFamily="34" charset="-122"/>
              </a:rPr>
              <a:t>”</a:t>
            </a:r>
            <a:r>
              <a:rPr lang="zh-CN" altLang="en-US" sz="2200" dirty="0">
                <a:solidFill>
                  <a:srgbClr val="CC3300"/>
                </a:solidFill>
                <a:latin typeface="Arial" panose="020B0604020202020204" pitchFamily="34" charset="0"/>
                <a:ea typeface="微软雅黑" panose="020B0503020204020204" pitchFamily="34" charset="-122"/>
              </a:rPr>
              <a:t>！</a:t>
            </a:r>
            <a:r>
              <a:rPr lang="zh-CN" altLang="en-US" sz="2200" dirty="0">
                <a:solidFill>
                  <a:srgbClr val="FF0066"/>
                </a:solidFill>
                <a:latin typeface="Arial" panose="020B0604020202020204" pitchFamily="34" charset="0"/>
                <a:ea typeface="微软雅黑" panose="020B0503020204020204" pitchFamily="34" charset="-122"/>
              </a:rPr>
              <a:t>最后还要考虑舍入</a:t>
            </a:r>
            <a:endParaRPr lang="zh-CN" altLang="en-US" sz="2200" dirty="0">
              <a:solidFill>
                <a:srgbClr val="FF0066"/>
              </a:solidFill>
              <a:latin typeface="Arial" panose="020B0604020202020204" pitchFamily="34" charset="0"/>
              <a:ea typeface="微软雅黑" panose="020B0503020204020204" pitchFamily="34" charset="-122"/>
            </a:endParaRPr>
          </a:p>
          <a:p>
            <a:pPr eaLnBrk="0" hangingPunct="0">
              <a:spcBef>
                <a:spcPct val="20000"/>
              </a:spcBef>
              <a:buClrTx/>
              <a:buFontTx/>
            </a:pPr>
            <a:r>
              <a:rPr lang="zh-CN" altLang="en-US" sz="2200" dirty="0">
                <a:solidFill>
                  <a:srgbClr val="CC3300"/>
                </a:solidFill>
                <a:latin typeface="Arial" panose="020B0604020202020204" pitchFamily="34" charset="0"/>
                <a:ea typeface="微软雅黑" panose="020B0503020204020204" pitchFamily="34" charset="-122"/>
              </a:rPr>
              <a:t>计算机内部的二进制运算也一样！</a:t>
            </a:r>
            <a:endParaRPr lang="zh-CN" altLang="en-US" sz="2200" dirty="0">
              <a:solidFill>
                <a:srgbClr val="CC3300"/>
              </a:solidFill>
              <a:latin typeface="Arial" panose="020B0604020202020204" pitchFamily="34" charset="0"/>
              <a:ea typeface="微软雅黑" panose="020B0503020204020204" pitchFamily="34" charset="-122"/>
            </a:endParaRPr>
          </a:p>
        </p:txBody>
      </p:sp>
      <p:sp>
        <p:nvSpPr>
          <p:cNvPr id="455689" name="Line 9"/>
          <p:cNvSpPr/>
          <p:nvPr/>
        </p:nvSpPr>
        <p:spPr>
          <a:xfrm flipV="1">
            <a:off x="3762375" y="2708275"/>
            <a:ext cx="2070100" cy="3241675"/>
          </a:xfrm>
          <a:prstGeom prst="line">
            <a:avLst/>
          </a:prstGeom>
          <a:ln w="28575" cap="flat" cmpd="sng">
            <a:solidFill>
              <a:srgbClr val="000000"/>
            </a:solidFill>
            <a:prstDash val="solid"/>
            <a:round/>
            <a:headEnd type="none" w="med" len="med"/>
            <a:tailEnd type="triangle" w="med" len="med"/>
          </a:ln>
        </p:spPr>
      </p:sp>
      <p:sp>
        <p:nvSpPr>
          <p:cNvPr id="455690" name="Rectangle 10"/>
          <p:cNvSpPr/>
          <p:nvPr/>
        </p:nvSpPr>
        <p:spPr>
          <a:xfrm>
            <a:off x="7858125" y="2438400"/>
            <a:ext cx="314325" cy="304800"/>
          </a:xfrm>
          <a:prstGeom prst="rect">
            <a:avLst/>
          </a:prstGeom>
          <a:noFill/>
          <a:ln w="28575" cap="flat" cmpd="sng">
            <a:solidFill>
              <a:srgbClr val="FF0066"/>
            </a:solidFill>
            <a:prstDash val="solid"/>
            <a:miter/>
            <a:headEnd type="none" w="med" len="med"/>
            <a:tailEnd type="none" w="med" len="med"/>
          </a:ln>
        </p:spPr>
        <p:txBody>
          <a:bodyPr wrap="none" anchor="ctr" anchorCtr="0"/>
          <a:p>
            <a:pPr eaLnBrk="0" hangingPunct="0">
              <a:buClrTx/>
              <a:buFontTx/>
            </a:pPr>
            <a:endParaRPr lang="zh-CN" altLang="en-US" dirty="0">
              <a:latin typeface="Times New Roman" panose="02020603050405020304" pitchFamily="18" charset="0"/>
              <a:ea typeface="宋体" panose="02010600030101010101" pitchFamily="2" charset="-122"/>
            </a:endParaRPr>
          </a:p>
        </p:txBody>
      </p:sp>
      <p:sp>
        <p:nvSpPr>
          <p:cNvPr id="455694" name="Line 14"/>
          <p:cNvSpPr/>
          <p:nvPr/>
        </p:nvSpPr>
        <p:spPr>
          <a:xfrm flipV="1">
            <a:off x="7632700" y="2754313"/>
            <a:ext cx="276225" cy="628650"/>
          </a:xfrm>
          <a:prstGeom prst="line">
            <a:avLst/>
          </a:prstGeom>
          <a:ln w="28575" cap="flat" cmpd="sng">
            <a:solidFill>
              <a:srgbClr val="000000"/>
            </a:solidFill>
            <a:prstDash val="solid"/>
            <a:roun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5683">
                                            <p:txEl>
                                              <p:charRg st="50" end="110"/>
                                            </p:txEl>
                                          </p:spTgt>
                                        </p:tgtEl>
                                        <p:attrNameLst>
                                          <p:attrName>style.visibility</p:attrName>
                                        </p:attrNameLst>
                                      </p:cBhvr>
                                      <p:to>
                                        <p:strVal val="visible"/>
                                      </p:to>
                                    </p:set>
                                    <p:animEffect transition="in" filter="blinds(horizontal)">
                                      <p:cBhvr>
                                        <p:cTn id="7" dur="500"/>
                                        <p:tgtEl>
                                          <p:spTgt spid="455683">
                                            <p:txEl>
                                              <p:charRg st="50" end="11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5683">
                                            <p:txEl>
                                              <p:charRg st="110" end="191"/>
                                            </p:txEl>
                                          </p:spTgt>
                                        </p:tgtEl>
                                        <p:attrNameLst>
                                          <p:attrName>style.visibility</p:attrName>
                                        </p:attrNameLst>
                                      </p:cBhvr>
                                      <p:to>
                                        <p:strVal val="visible"/>
                                      </p:to>
                                    </p:set>
                                    <p:animEffect transition="in" filter="blinds(horizontal)">
                                      <p:cBhvr>
                                        <p:cTn id="10" dur="500"/>
                                        <p:tgtEl>
                                          <p:spTgt spid="455683">
                                            <p:txEl>
                                              <p:charRg st="110" end="19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55683">
                                            <p:txEl>
                                              <p:charRg st="191" end="218"/>
                                            </p:txEl>
                                          </p:spTgt>
                                        </p:tgtEl>
                                        <p:attrNameLst>
                                          <p:attrName>style.visibility</p:attrName>
                                        </p:attrNameLst>
                                      </p:cBhvr>
                                      <p:to>
                                        <p:strVal val="visible"/>
                                      </p:to>
                                    </p:set>
                                    <p:animEffect transition="in" filter="blinds(horizontal)">
                                      <p:cBhvr>
                                        <p:cTn id="13" dur="500"/>
                                        <p:tgtEl>
                                          <p:spTgt spid="455683">
                                            <p:txEl>
                                              <p:charRg st="191" end="21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55690"/>
                                        </p:tgtEl>
                                        <p:attrNameLst>
                                          <p:attrName>style.visibility</p:attrName>
                                        </p:attrNameLst>
                                      </p:cBhvr>
                                      <p:to>
                                        <p:strVal val="visible"/>
                                      </p:to>
                                    </p:set>
                                    <p:animEffect transition="in" filter="blinds(horizontal)">
                                      <p:cBhvr>
                                        <p:cTn id="18" dur="500"/>
                                        <p:tgtEl>
                                          <p:spTgt spid="45569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55685"/>
                                        </p:tgtEl>
                                        <p:attrNameLst>
                                          <p:attrName>style.visibility</p:attrName>
                                        </p:attrNameLst>
                                      </p:cBhvr>
                                      <p:to>
                                        <p:strVal val="visible"/>
                                      </p:to>
                                    </p:set>
                                    <p:animEffect transition="in" filter="blinds(horizontal)">
                                      <p:cBhvr>
                                        <p:cTn id="23" dur="500"/>
                                        <p:tgtEl>
                                          <p:spTgt spid="45568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55694"/>
                                        </p:tgtEl>
                                        <p:attrNameLst>
                                          <p:attrName>style.visibility</p:attrName>
                                        </p:attrNameLst>
                                      </p:cBhvr>
                                      <p:to>
                                        <p:strVal val="visible"/>
                                      </p:to>
                                    </p:set>
                                    <p:animEffect transition="in" filter="blinds(horizontal)">
                                      <p:cBhvr>
                                        <p:cTn id="28" dur="500"/>
                                        <p:tgtEl>
                                          <p:spTgt spid="455694"/>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55683">
                                            <p:txEl>
                                              <p:charRg st="222" end="240"/>
                                            </p:txEl>
                                          </p:spTgt>
                                        </p:tgtEl>
                                        <p:attrNameLst>
                                          <p:attrName>style.visibility</p:attrName>
                                        </p:attrNameLst>
                                      </p:cBhvr>
                                      <p:to>
                                        <p:strVal val="visible"/>
                                      </p:to>
                                    </p:set>
                                    <p:animEffect transition="in" filter="blinds(horizontal)">
                                      <p:cBhvr>
                                        <p:cTn id="33" dur="500"/>
                                        <p:tgtEl>
                                          <p:spTgt spid="455683">
                                            <p:txEl>
                                              <p:charRg st="222" end="24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55683">
                                            <p:txEl>
                                              <p:charRg st="240" end="276"/>
                                            </p:txEl>
                                          </p:spTgt>
                                        </p:tgtEl>
                                        <p:attrNameLst>
                                          <p:attrName>style.visibility</p:attrName>
                                        </p:attrNameLst>
                                      </p:cBhvr>
                                      <p:to>
                                        <p:strVal val="visible"/>
                                      </p:to>
                                    </p:set>
                                    <p:animEffect transition="in" filter="blinds(horizontal)">
                                      <p:cBhvr>
                                        <p:cTn id="38" dur="500"/>
                                        <p:tgtEl>
                                          <p:spTgt spid="455683">
                                            <p:txEl>
                                              <p:charRg st="240" end="27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55683">
                                            <p:txEl>
                                              <p:charRg st="276" end="328"/>
                                            </p:txEl>
                                          </p:spTgt>
                                        </p:tgtEl>
                                        <p:attrNameLst>
                                          <p:attrName>style.visibility</p:attrName>
                                        </p:attrNameLst>
                                      </p:cBhvr>
                                      <p:to>
                                        <p:strVal val="visible"/>
                                      </p:to>
                                    </p:set>
                                    <p:animEffect transition="in" filter="blinds(horizontal)">
                                      <p:cBhvr>
                                        <p:cTn id="43" dur="500"/>
                                        <p:tgtEl>
                                          <p:spTgt spid="455683">
                                            <p:txEl>
                                              <p:charRg st="276" end="32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55689"/>
                                        </p:tgtEl>
                                        <p:attrNameLst>
                                          <p:attrName>style.visibility</p:attrName>
                                        </p:attrNameLst>
                                      </p:cBhvr>
                                      <p:to>
                                        <p:strVal val="visible"/>
                                      </p:to>
                                    </p:set>
                                    <p:animEffect transition="in" filter="blinds(horizontal)">
                                      <p:cBhvr>
                                        <p:cTn id="48" dur="500"/>
                                        <p:tgtEl>
                                          <p:spTgt spid="455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5" grpId="0"/>
      <p:bldP spid="45569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Rectangle 2"/>
          <p:cNvSpPr>
            <a:spLocks noGrp="1"/>
          </p:cNvSpPr>
          <p:nvPr>
            <p:ph type="title"/>
          </p:nvPr>
        </p:nvSpPr>
        <p:spPr>
          <a:xfrm>
            <a:off x="800100" y="190500"/>
            <a:ext cx="6073775" cy="479425"/>
          </a:xfrm>
          <a:ln/>
        </p:spPr>
        <p:txBody>
          <a:bodyPr vert="horz" wrap="square" lIns="63500" tIns="25400" rIns="63500" bIns="25400" anchor="t" anchorCtr="0">
            <a:spAutoFit/>
          </a:bodyPr>
          <a:p>
            <a:r>
              <a:rPr lang="zh-CN" altLang="en-US" dirty="0">
                <a:latin typeface="黑体" panose="02010609060101010101" pitchFamily="49" charset="-122"/>
                <a:ea typeface="黑体" panose="02010609060101010101" pitchFamily="49" charset="-122"/>
              </a:rPr>
              <a:t>浮点数加</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减运算</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对阶</a:t>
            </a:r>
            <a:endParaRPr lang="zh-CN" altLang="en-US" dirty="0">
              <a:latin typeface="黑体" panose="02010609060101010101" pitchFamily="49" charset="-122"/>
              <a:ea typeface="黑体" panose="02010609060101010101" pitchFamily="49" charset="-122"/>
            </a:endParaRPr>
          </a:p>
        </p:txBody>
      </p:sp>
      <p:sp>
        <p:nvSpPr>
          <p:cNvPr id="121858" name="Text Box 4"/>
          <p:cNvSpPr txBox="1"/>
          <p:nvPr/>
        </p:nvSpPr>
        <p:spPr>
          <a:xfrm>
            <a:off x="371475" y="4333875"/>
            <a:ext cx="8391525" cy="708025"/>
          </a:xfrm>
          <a:prstGeom prst="rect">
            <a:avLst/>
          </a:prstGeom>
          <a:noFill/>
          <a:ln w="12700">
            <a:noFill/>
          </a:ln>
        </p:spPr>
        <p:txBody>
          <a:bodyPr anchor="t" anchorCtr="0">
            <a:spAutoFit/>
          </a:bodyPr>
          <a:p>
            <a:pPr eaLnBrk="0" hangingPunct="0">
              <a:spcBef>
                <a:spcPct val="20000"/>
              </a:spcBef>
            </a:pPr>
            <a:r>
              <a:rPr lang="zh-CN" altLang="en-US" sz="2000" dirty="0">
                <a:solidFill>
                  <a:srgbClr val="FF0066"/>
                </a:solidFill>
                <a:latin typeface="微软雅黑" panose="020B0503020204020204" pitchFamily="34" charset="-122"/>
                <a:ea typeface="微软雅黑" panose="020B0503020204020204" pitchFamily="34" charset="-122"/>
              </a:rPr>
              <a:t>问题：</a:t>
            </a:r>
            <a:r>
              <a:rPr lang="en-US" altLang="zh-CN" sz="2000" dirty="0">
                <a:solidFill>
                  <a:srgbClr val="FF0066"/>
                </a:solidFill>
                <a:latin typeface="微软雅黑" panose="020B0503020204020204" pitchFamily="34" charset="-122"/>
                <a:ea typeface="微软雅黑" panose="020B0503020204020204" pitchFamily="34" charset="-122"/>
              </a:rPr>
              <a:t>IEEE754 SP</a:t>
            </a:r>
            <a:r>
              <a:rPr lang="zh-CN" altLang="en-US" sz="2000" dirty="0">
                <a:solidFill>
                  <a:srgbClr val="FF0066"/>
                </a:solidFill>
                <a:latin typeface="微软雅黑" panose="020B0503020204020204" pitchFamily="34" charset="-122"/>
                <a:ea typeface="微软雅黑" panose="020B0503020204020204" pitchFamily="34" charset="-122"/>
              </a:rPr>
              <a:t>格式的偏置常数是</a:t>
            </a:r>
            <a:r>
              <a:rPr lang="en-US" altLang="zh-CN" sz="2000" dirty="0">
                <a:solidFill>
                  <a:srgbClr val="FF0066"/>
                </a:solidFill>
                <a:latin typeface="微软雅黑" panose="020B0503020204020204" pitchFamily="34" charset="-122"/>
                <a:ea typeface="微软雅黑" panose="020B0503020204020204" pitchFamily="34" charset="-122"/>
              </a:rPr>
              <a:t>127</a:t>
            </a:r>
            <a:r>
              <a:rPr lang="zh-CN" altLang="en-US" sz="2000" dirty="0">
                <a:solidFill>
                  <a:srgbClr val="FF0066"/>
                </a:solidFill>
                <a:latin typeface="微软雅黑" panose="020B0503020204020204" pitchFamily="34" charset="-122"/>
                <a:ea typeface="微软雅黑" panose="020B0503020204020204" pitchFamily="34" charset="-122"/>
              </a:rPr>
              <a:t>，这会不会影响阶码运算电路的复杂度？</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80261" name="Text Box 5"/>
          <p:cNvSpPr txBox="1"/>
          <p:nvPr/>
        </p:nvSpPr>
        <p:spPr>
          <a:xfrm>
            <a:off x="1676400" y="4668838"/>
            <a:ext cx="5781675" cy="401637"/>
          </a:xfrm>
          <a:prstGeom prst="rect">
            <a:avLst/>
          </a:prstGeom>
          <a:noFill/>
          <a:ln w="127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对计算</a:t>
            </a:r>
            <a:r>
              <a:rPr lang="en-US" altLang="zh-CN" sz="2000" dirty="0">
                <a:latin typeface="微软雅黑" panose="020B0503020204020204" pitchFamily="34" charset="-122"/>
                <a:ea typeface="微软雅黑" panose="020B0503020204020204" pitchFamily="34" charset="-122"/>
              </a:rPr>
              <a:t>[Ex–Ey]</a:t>
            </a:r>
            <a:r>
              <a:rPr lang="zh-CN" altLang="en-US" sz="2000" baseline="-25000" dirty="0">
                <a:latin typeface="微软雅黑" panose="020B0503020204020204" pitchFamily="34" charset="-122"/>
                <a:ea typeface="微软雅黑" panose="020B0503020204020204" pitchFamily="34" charset="-122"/>
              </a:rPr>
              <a:t>补</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mod 2</a:t>
            </a:r>
            <a:r>
              <a:rPr lang="en-US" altLang="zh-CN" sz="2000" baseline="30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 没有影响</a:t>
            </a:r>
            <a:endParaRPr lang="en-US" altLang="zh-CN" sz="2000" dirty="0">
              <a:latin typeface="微软雅黑" panose="020B0503020204020204" pitchFamily="34" charset="-122"/>
              <a:ea typeface="微软雅黑" panose="020B0503020204020204" pitchFamily="34" charset="-122"/>
            </a:endParaRPr>
          </a:p>
        </p:txBody>
      </p:sp>
      <p:sp>
        <p:nvSpPr>
          <p:cNvPr id="480262" name="Text Box 6"/>
          <p:cNvSpPr txBox="1"/>
          <p:nvPr/>
        </p:nvSpPr>
        <p:spPr>
          <a:xfrm>
            <a:off x="498475" y="5191125"/>
            <a:ext cx="8010525" cy="785813"/>
          </a:xfrm>
          <a:prstGeom prst="rect">
            <a:avLst/>
          </a:prstGeom>
          <a:noFill/>
          <a:ln w="12700">
            <a:noFill/>
          </a:ln>
        </p:spPr>
        <p:txBody>
          <a:bodyPr anchor="t" anchorCtr="0">
            <a:spAutoFit/>
          </a:bodyPr>
          <a:p>
            <a:pPr eaLnBrk="0" hangingPunct="0">
              <a:spcBef>
                <a:spcPct val="25000"/>
              </a:spcBef>
            </a:pPr>
            <a:r>
              <a:rPr lang="en-US" altLang="zh-CN"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chemeClr val="accent2"/>
                </a:solidFill>
                <a:latin typeface="微软雅黑" panose="020B0503020204020204" pitchFamily="34" charset="-122"/>
                <a:ea typeface="微软雅黑" panose="020B0503020204020204" pitchFamily="34" charset="-122"/>
              </a:rPr>
              <a:t>E]</a:t>
            </a:r>
            <a:r>
              <a:rPr lang="zh-CN" altLang="en-US" sz="2000" baseline="-25000" dirty="0">
                <a:solidFill>
                  <a:schemeClr val="accent2"/>
                </a:solidFill>
                <a:latin typeface="微软雅黑" panose="020B0503020204020204" pitchFamily="34" charset="-122"/>
                <a:ea typeface="微软雅黑" panose="020B0503020204020204" pitchFamily="34" charset="-122"/>
              </a:rPr>
              <a:t>补</a:t>
            </a:r>
            <a:r>
              <a:rPr lang="en-US" altLang="zh-CN" sz="2000" dirty="0">
                <a:solidFill>
                  <a:schemeClr val="accent2"/>
                </a:solidFill>
                <a:latin typeface="微软雅黑" panose="020B0503020204020204" pitchFamily="34" charset="-122"/>
                <a:ea typeface="微软雅黑" panose="020B0503020204020204" pitchFamily="34" charset="-122"/>
              </a:rPr>
              <a:t>= 256+Ex–Ey=256+127+Ex– (127+Ey)</a:t>
            </a:r>
            <a:endParaRPr lang="en-US" altLang="zh-CN" sz="2000" dirty="0">
              <a:solidFill>
                <a:schemeClr val="accent2"/>
              </a:solidFill>
              <a:latin typeface="微软雅黑" panose="020B0503020204020204" pitchFamily="34" charset="-122"/>
              <a:ea typeface="微软雅黑" panose="020B0503020204020204" pitchFamily="34" charset="-122"/>
            </a:endParaRPr>
          </a:p>
          <a:p>
            <a:pPr eaLnBrk="0" hangingPunct="0">
              <a:spcBef>
                <a:spcPct val="25000"/>
              </a:spcBef>
            </a:pPr>
            <a:r>
              <a:rPr lang="en-US" altLang="zh-CN" sz="2000" dirty="0">
                <a:solidFill>
                  <a:schemeClr val="accent2"/>
                </a:solidFill>
                <a:latin typeface="微软雅黑" panose="020B0503020204020204" pitchFamily="34" charset="-122"/>
                <a:ea typeface="微软雅黑" panose="020B0503020204020204" pitchFamily="34" charset="-122"/>
              </a:rPr>
              <a:t>          = 256 + [Ex]</a:t>
            </a:r>
            <a:r>
              <a:rPr lang="zh-CN" altLang="en-US" sz="2000" baseline="-25000" dirty="0">
                <a:solidFill>
                  <a:schemeClr val="accent2"/>
                </a:solidFill>
                <a:latin typeface="微软雅黑" panose="020B0503020204020204" pitchFamily="34" charset="-122"/>
                <a:ea typeface="微软雅黑" panose="020B0503020204020204" pitchFamily="34" charset="-122"/>
              </a:rPr>
              <a:t>移</a:t>
            </a:r>
            <a:r>
              <a:rPr lang="zh-CN" altLang="en-US" sz="2000" dirty="0">
                <a:solidFill>
                  <a:schemeClr val="accent2"/>
                </a:solidFill>
                <a:latin typeface="微软雅黑" panose="020B0503020204020204" pitchFamily="34" charset="-122"/>
                <a:ea typeface="微软雅黑" panose="020B0503020204020204" pitchFamily="34" charset="-122"/>
              </a:rPr>
              <a:t> </a:t>
            </a:r>
            <a:r>
              <a:rPr lang="en-US" altLang="zh-CN" sz="2000" dirty="0">
                <a:solidFill>
                  <a:schemeClr val="accent2"/>
                </a:solidFill>
                <a:latin typeface="微软雅黑" panose="020B0503020204020204" pitchFamily="34" charset="-122"/>
                <a:ea typeface="微软雅黑" panose="020B0503020204020204" pitchFamily="34" charset="-122"/>
              </a:rPr>
              <a:t>– [Ey]</a:t>
            </a:r>
            <a:r>
              <a:rPr lang="zh-CN" altLang="en-US" sz="2000" baseline="-25000" dirty="0">
                <a:solidFill>
                  <a:schemeClr val="accent2"/>
                </a:solidFill>
                <a:latin typeface="微软雅黑" panose="020B0503020204020204" pitchFamily="34" charset="-122"/>
                <a:ea typeface="微软雅黑" panose="020B0503020204020204" pitchFamily="34" charset="-122"/>
              </a:rPr>
              <a:t>移 </a:t>
            </a:r>
            <a:r>
              <a:rPr lang="en-US" altLang="zh-CN" sz="2000" dirty="0">
                <a:solidFill>
                  <a:schemeClr val="accent2"/>
                </a:solidFill>
                <a:latin typeface="微软雅黑" panose="020B0503020204020204" pitchFamily="34" charset="-122"/>
                <a:ea typeface="微软雅黑" panose="020B0503020204020204" pitchFamily="34" charset="-122"/>
              </a:rPr>
              <a:t>= [Ex]</a:t>
            </a:r>
            <a:r>
              <a:rPr lang="zh-CN" altLang="en-US" sz="2000" baseline="-25000" dirty="0">
                <a:solidFill>
                  <a:schemeClr val="accent2"/>
                </a:solidFill>
                <a:latin typeface="微软雅黑" panose="020B0503020204020204" pitchFamily="34" charset="-122"/>
                <a:ea typeface="微软雅黑" panose="020B0503020204020204" pitchFamily="34" charset="-122"/>
              </a:rPr>
              <a:t>移</a:t>
            </a:r>
            <a:r>
              <a:rPr lang="en-US" altLang="zh-CN" sz="2000" dirty="0">
                <a:solidFill>
                  <a:schemeClr val="accent2"/>
                </a:solidFill>
                <a:latin typeface="微软雅黑" panose="020B0503020204020204" pitchFamily="34" charset="-122"/>
                <a:ea typeface="微软雅黑" panose="020B0503020204020204" pitchFamily="34" charset="-122"/>
              </a:rPr>
              <a:t>+[–[Ey]</a:t>
            </a:r>
            <a:r>
              <a:rPr lang="zh-CN" altLang="en-US" sz="2000" baseline="-25000" dirty="0">
                <a:solidFill>
                  <a:schemeClr val="accent2"/>
                </a:solidFill>
                <a:latin typeface="微软雅黑" panose="020B0503020204020204" pitchFamily="34" charset="-122"/>
                <a:ea typeface="微软雅黑" panose="020B0503020204020204" pitchFamily="34" charset="-122"/>
              </a:rPr>
              <a:t>移</a:t>
            </a:r>
            <a:r>
              <a:rPr lang="en-US" altLang="zh-CN" sz="2000" dirty="0">
                <a:solidFill>
                  <a:schemeClr val="accent2"/>
                </a:solidFill>
                <a:latin typeface="微软雅黑" panose="020B0503020204020204" pitchFamily="34" charset="-122"/>
                <a:ea typeface="微软雅黑" panose="020B0503020204020204" pitchFamily="34" charset="-122"/>
              </a:rPr>
              <a:t>]</a:t>
            </a:r>
            <a:r>
              <a:rPr lang="zh-CN" altLang="en-US" sz="2000" baseline="-25000" dirty="0">
                <a:solidFill>
                  <a:schemeClr val="accent2"/>
                </a:solidFill>
                <a:latin typeface="微软雅黑" panose="020B0503020204020204" pitchFamily="34" charset="-122"/>
                <a:ea typeface="微软雅黑" panose="020B0503020204020204" pitchFamily="34" charset="-122"/>
              </a:rPr>
              <a:t>补</a:t>
            </a:r>
            <a:r>
              <a:rPr lang="zh-CN" altLang="en-US" sz="2000" dirty="0">
                <a:solidFill>
                  <a:schemeClr val="accent2"/>
                </a:solidFill>
                <a:latin typeface="微软雅黑" panose="020B0503020204020204" pitchFamily="34" charset="-122"/>
                <a:ea typeface="微软雅黑" panose="020B0503020204020204" pitchFamily="34" charset="-122"/>
              </a:rPr>
              <a:t>   </a:t>
            </a:r>
            <a:r>
              <a:rPr lang="en-US" altLang="zh-CN" sz="2000" dirty="0">
                <a:solidFill>
                  <a:schemeClr val="accent2"/>
                </a:solidFill>
                <a:latin typeface="微软雅黑" panose="020B0503020204020204" pitchFamily="34" charset="-122"/>
                <a:ea typeface="微软雅黑" panose="020B0503020204020204" pitchFamily="34" charset="-122"/>
              </a:rPr>
              <a:t>(mod 256)</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480263" name="Text Box 7"/>
          <p:cNvSpPr txBox="1"/>
          <p:nvPr/>
        </p:nvSpPr>
        <p:spPr>
          <a:xfrm>
            <a:off x="454025" y="1184275"/>
            <a:ext cx="7172325" cy="801688"/>
          </a:xfrm>
          <a:prstGeom prst="rect">
            <a:avLst/>
          </a:prstGeom>
          <a:noFill/>
          <a:ln w="12700">
            <a:noFill/>
          </a:ln>
        </p:spPr>
        <p:txBody>
          <a:bodyPr anchor="t" anchorCtr="0">
            <a:spAutoFit/>
          </a:bodyPr>
          <a:p>
            <a:pPr eaLnBrk="0" hangingPunct="0">
              <a:spcBef>
                <a:spcPct val="30000"/>
              </a:spcBef>
            </a:pPr>
            <a:r>
              <a:rPr lang="zh-CN" altLang="en-US" sz="2000" dirty="0">
                <a:latin typeface="微软雅黑" panose="020B0503020204020204" pitchFamily="34" charset="-122"/>
                <a:ea typeface="微软雅黑" panose="020B0503020204020204" pitchFamily="34" charset="-122"/>
              </a:rPr>
              <a:t>通过计算</a:t>
            </a:r>
            <a:r>
              <a:rPr lang="en-US"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E]</a:t>
            </a:r>
            <a:r>
              <a:rPr lang="zh-CN" altLang="en-US" sz="2000" baseline="-25000" dirty="0">
                <a:latin typeface="微软雅黑" panose="020B0503020204020204" pitchFamily="34" charset="-122"/>
                <a:ea typeface="微软雅黑" panose="020B0503020204020204" pitchFamily="34" charset="-122"/>
              </a:rPr>
              <a:t>补</a:t>
            </a:r>
            <a:r>
              <a:rPr lang="zh-CN" altLang="en-US" sz="2000" dirty="0">
                <a:latin typeface="微软雅黑" panose="020B0503020204020204" pitchFamily="34" charset="-122"/>
                <a:ea typeface="微软雅黑" panose="020B0503020204020204" pitchFamily="34" charset="-122"/>
              </a:rPr>
              <a:t>来判断两数的阶差：</a:t>
            </a:r>
            <a:endParaRPr lang="zh-CN" altLang="en-US" sz="2000" baseline="-25000" dirty="0">
              <a:latin typeface="微软雅黑" panose="020B0503020204020204" pitchFamily="34" charset="-122"/>
              <a:ea typeface="微软雅黑" panose="020B0503020204020204" pitchFamily="34" charset="-122"/>
            </a:endParaRPr>
          </a:p>
          <a:p>
            <a:pPr eaLnBrk="0" hangingPunct="0">
              <a:spcBef>
                <a:spcPct val="30000"/>
              </a:spcBef>
            </a:pPr>
            <a:r>
              <a:rPr lang="en-US"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E]</a:t>
            </a:r>
            <a:r>
              <a:rPr lang="zh-CN" altLang="en-US" sz="2000" baseline="-25000" dirty="0">
                <a:latin typeface="微软雅黑" panose="020B0503020204020204" pitchFamily="34" charset="-122"/>
                <a:ea typeface="微软雅黑" panose="020B0503020204020204" pitchFamily="34" charset="-122"/>
              </a:rPr>
              <a:t>补</a:t>
            </a:r>
            <a:r>
              <a:rPr lang="en-US" altLang="zh-CN" sz="2000" dirty="0">
                <a:latin typeface="微软雅黑" panose="020B0503020204020204" pitchFamily="34" charset="-122"/>
                <a:ea typeface="微软雅黑" panose="020B0503020204020204" pitchFamily="34" charset="-122"/>
              </a:rPr>
              <a:t>= [Ex–Ey]</a:t>
            </a:r>
            <a:r>
              <a:rPr lang="zh-CN" altLang="en-US" sz="2000" baseline="-25000" dirty="0">
                <a:latin typeface="微软雅黑" panose="020B0503020204020204" pitchFamily="34" charset="-122"/>
                <a:ea typeface="微软雅黑" panose="020B0503020204020204" pitchFamily="34" charset="-122"/>
              </a:rPr>
              <a:t>补</a:t>
            </a:r>
            <a:r>
              <a:rPr lang="en-US" altLang="zh-CN" sz="2000" dirty="0">
                <a:latin typeface="微软雅黑" panose="020B0503020204020204" pitchFamily="34" charset="-122"/>
                <a:ea typeface="微软雅黑" panose="020B0503020204020204" pitchFamily="34" charset="-122"/>
              </a:rPr>
              <a:t>= [Ex]</a:t>
            </a:r>
            <a:r>
              <a:rPr lang="zh-CN" altLang="en-US" sz="2000" baseline="-25000" dirty="0">
                <a:latin typeface="微软雅黑" panose="020B0503020204020204" pitchFamily="34" charset="-122"/>
                <a:ea typeface="微软雅黑" panose="020B0503020204020204" pitchFamily="34" charset="-122"/>
              </a:rPr>
              <a:t>移</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[–[Ey]</a:t>
            </a:r>
            <a:r>
              <a:rPr lang="zh-CN" altLang="en-US" sz="2000" baseline="-25000" dirty="0">
                <a:latin typeface="微软雅黑" panose="020B0503020204020204" pitchFamily="34" charset="-122"/>
                <a:ea typeface="微软雅黑" panose="020B0503020204020204" pitchFamily="34" charset="-122"/>
              </a:rPr>
              <a:t>移</a:t>
            </a:r>
            <a:r>
              <a:rPr lang="en-US" altLang="zh-CN" sz="2000" dirty="0">
                <a:latin typeface="微软雅黑" panose="020B0503020204020204" pitchFamily="34" charset="-122"/>
                <a:ea typeface="微软雅黑" panose="020B0503020204020204" pitchFamily="34" charset="-122"/>
              </a:rPr>
              <a:t>]</a:t>
            </a:r>
            <a:r>
              <a:rPr lang="zh-CN" altLang="en-US" sz="2000" baseline="-25000" dirty="0">
                <a:latin typeface="微软雅黑" panose="020B0503020204020204" pitchFamily="34" charset="-122"/>
                <a:ea typeface="微软雅黑" panose="020B0503020204020204" pitchFamily="34" charset="-122"/>
              </a:rPr>
              <a:t>补</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(mod 2</a:t>
            </a:r>
            <a:r>
              <a:rPr lang="en-US" altLang="zh-CN" sz="2000" baseline="30000"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121862" name="Text Box 8"/>
          <p:cNvSpPr txBox="1"/>
          <p:nvPr/>
        </p:nvSpPr>
        <p:spPr>
          <a:xfrm>
            <a:off x="498475" y="2097088"/>
            <a:ext cx="6375400" cy="400050"/>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微软雅黑" panose="020B0503020204020204" pitchFamily="34" charset="-122"/>
                <a:ea typeface="微软雅黑" panose="020B0503020204020204" pitchFamily="34" charset="-122"/>
              </a:rPr>
              <a:t>问题：在</a:t>
            </a:r>
            <a:r>
              <a:rPr lang="en-US" altLang="zh-CN" sz="2000"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FF0066"/>
                </a:solidFill>
                <a:latin typeface="微软雅黑" panose="020B0503020204020204" pitchFamily="34" charset="-122"/>
                <a:ea typeface="微软雅黑" panose="020B0503020204020204" pitchFamily="34" charset="-122"/>
              </a:rPr>
              <a:t>E</a:t>
            </a:r>
            <a:r>
              <a:rPr lang="zh-CN" altLang="en-US" sz="2000" dirty="0">
                <a:solidFill>
                  <a:srgbClr val="FF0066"/>
                </a:solidFill>
                <a:latin typeface="微软雅黑" panose="020B0503020204020204" pitchFamily="34" charset="-122"/>
                <a:ea typeface="微软雅黑" panose="020B0503020204020204" pitchFamily="34" charset="-122"/>
              </a:rPr>
              <a:t>为何值时无法根据</a:t>
            </a:r>
            <a:r>
              <a:rPr lang="en-US" altLang="zh-CN" sz="2000" dirty="0">
                <a:solidFill>
                  <a:srgbClr val="FF0066"/>
                </a:solidFill>
                <a:latin typeface="微软雅黑" panose="020B0503020204020204" pitchFamily="34" charset="-122"/>
                <a:ea typeface="微软雅黑" panose="020B0503020204020204" pitchFamily="34" charset="-122"/>
              </a:rPr>
              <a:t>[</a:t>
            </a:r>
            <a:r>
              <a:rPr lang="en-US" altLang="zh-CN" sz="2000"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FF0066"/>
                </a:solidFill>
                <a:latin typeface="微软雅黑" panose="020B0503020204020204" pitchFamily="34" charset="-122"/>
                <a:ea typeface="微软雅黑" panose="020B0503020204020204" pitchFamily="34" charset="-122"/>
              </a:rPr>
              <a:t>E]</a:t>
            </a:r>
            <a:r>
              <a:rPr lang="zh-CN" altLang="en-US" sz="2000" baseline="-25000" dirty="0">
                <a:solidFill>
                  <a:srgbClr val="FF0066"/>
                </a:solidFill>
                <a:latin typeface="微软雅黑" panose="020B0503020204020204" pitchFamily="34" charset="-122"/>
                <a:ea typeface="微软雅黑" panose="020B0503020204020204" pitchFamily="34" charset="-122"/>
              </a:rPr>
              <a:t>补</a:t>
            </a:r>
            <a:r>
              <a:rPr lang="zh-CN" altLang="en-US" sz="2000" dirty="0">
                <a:solidFill>
                  <a:srgbClr val="FF0066"/>
                </a:solidFill>
                <a:latin typeface="微软雅黑" panose="020B0503020204020204" pitchFamily="34" charset="-122"/>
                <a:ea typeface="微软雅黑" panose="020B0503020204020204" pitchFamily="34" charset="-122"/>
              </a:rPr>
              <a:t>来判断阶差？</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121863" name="Text Box 9"/>
          <p:cNvSpPr txBox="1"/>
          <p:nvPr/>
        </p:nvSpPr>
        <p:spPr>
          <a:xfrm>
            <a:off x="455613" y="763588"/>
            <a:ext cx="3705225" cy="400050"/>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微软雅黑" panose="020B0503020204020204" pitchFamily="34" charset="-122"/>
                <a:ea typeface="微软雅黑" panose="020B0503020204020204" pitchFamily="34" charset="-122"/>
              </a:rPr>
              <a:t>问题：如何对阶？</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80266" name="Text Box 10"/>
          <p:cNvSpPr txBox="1"/>
          <p:nvPr/>
        </p:nvSpPr>
        <p:spPr>
          <a:xfrm>
            <a:off x="6353175" y="2093913"/>
            <a:ext cx="1400175" cy="427037"/>
          </a:xfrm>
          <a:prstGeom prst="rect">
            <a:avLst/>
          </a:prstGeom>
          <a:noFill/>
          <a:ln w="12700">
            <a:noFill/>
          </a:ln>
        </p:spPr>
        <p:txBody>
          <a:bodyPr anchor="t" anchorCtr="0">
            <a:spAutoFit/>
          </a:bodyPr>
          <a:p>
            <a:pPr eaLnBrk="0" hangingPunct="0">
              <a:spcBef>
                <a:spcPct val="50000"/>
              </a:spcBef>
            </a:pPr>
            <a:r>
              <a:rPr lang="zh-CN" altLang="en-US" sz="2200" dirty="0">
                <a:solidFill>
                  <a:schemeClr val="accent2"/>
                </a:solidFill>
                <a:latin typeface="微软雅黑" panose="020B0503020204020204" pitchFamily="34" charset="-122"/>
                <a:ea typeface="微软雅黑" panose="020B0503020204020204" pitchFamily="34" charset="-122"/>
              </a:rPr>
              <a:t>溢出时！</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480267" name="Text Box 11"/>
          <p:cNvSpPr txBox="1"/>
          <p:nvPr/>
        </p:nvSpPr>
        <p:spPr>
          <a:xfrm>
            <a:off x="498475" y="2617788"/>
            <a:ext cx="8483600" cy="400050"/>
          </a:xfrm>
          <a:prstGeom prst="rect">
            <a:avLst/>
          </a:prstGeom>
          <a:noFill/>
          <a:ln w="127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例：</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位移码，</a:t>
            </a:r>
            <a:r>
              <a:rPr lang="en-US" altLang="zh-CN" sz="2000" dirty="0">
                <a:latin typeface="微软雅黑" panose="020B0503020204020204" pitchFamily="34" charset="-122"/>
                <a:ea typeface="微软雅黑" panose="020B0503020204020204" pitchFamily="34" charset="-122"/>
              </a:rPr>
              <a:t>Ex=7</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Ey=-7</a:t>
            </a:r>
            <a:r>
              <a:rPr lang="zh-CN" altLang="en-US" sz="2000" dirty="0">
                <a:latin typeface="微软雅黑" panose="020B0503020204020204" pitchFamily="34" charset="-122"/>
                <a:ea typeface="微软雅黑" panose="020B0503020204020204" pitchFamily="34" charset="-122"/>
              </a:rPr>
              <a:t>，则</a:t>
            </a:r>
            <a:r>
              <a:rPr lang="en-US"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E]</a:t>
            </a:r>
            <a:r>
              <a:rPr lang="zh-CN" altLang="en-US" sz="2000" baseline="-25000" dirty="0">
                <a:latin typeface="微软雅黑" panose="020B0503020204020204" pitchFamily="34" charset="-122"/>
                <a:ea typeface="微软雅黑" panose="020B0503020204020204" pitchFamily="34" charset="-122"/>
              </a:rPr>
              <a:t>补</a:t>
            </a:r>
            <a:r>
              <a:rPr lang="en-US" altLang="zh-CN" sz="2000" dirty="0">
                <a:latin typeface="微软雅黑" panose="020B0503020204020204" pitchFamily="34" charset="-122"/>
                <a:ea typeface="微软雅黑" panose="020B0503020204020204" pitchFamily="34" charset="-122"/>
              </a:rPr>
              <a:t>=1111+1111=1110</a:t>
            </a:r>
            <a:r>
              <a:rPr lang="zh-CN" altLang="en-US"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E&lt;0,</a:t>
            </a:r>
            <a:r>
              <a:rPr lang="zh-CN" altLang="en-US" sz="2000" dirty="0">
                <a:latin typeface="微软雅黑" panose="020B0503020204020204" pitchFamily="34" charset="-122"/>
                <a:ea typeface="微软雅黑" panose="020B0503020204020204" pitchFamily="34" charset="-122"/>
              </a:rPr>
              <a:t>错</a:t>
            </a:r>
            <a:endParaRPr lang="zh-CN" altLang="en-US" sz="2000" dirty="0">
              <a:latin typeface="微软雅黑" panose="020B0503020204020204" pitchFamily="34" charset="-122"/>
              <a:ea typeface="微软雅黑" panose="020B0503020204020204" pitchFamily="34" charset="-122"/>
            </a:endParaRPr>
          </a:p>
        </p:txBody>
      </p:sp>
      <p:sp>
        <p:nvSpPr>
          <p:cNvPr id="480268" name="Text Box 12"/>
          <p:cNvSpPr txBox="1"/>
          <p:nvPr/>
        </p:nvSpPr>
        <p:spPr>
          <a:xfrm>
            <a:off x="304800" y="6111875"/>
            <a:ext cx="8677275" cy="400050"/>
          </a:xfrm>
          <a:prstGeom prst="rect">
            <a:avLst/>
          </a:prstGeom>
          <a:noFill/>
          <a:ln w="127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但</a:t>
            </a:r>
            <a:r>
              <a:rPr lang="en-US" altLang="zh-CN" sz="2000" dirty="0">
                <a:latin typeface="微软雅黑" panose="020B0503020204020204" pitchFamily="34" charset="-122"/>
                <a:ea typeface="微软雅黑" panose="020B0503020204020204" pitchFamily="34" charset="-122"/>
              </a:rPr>
              <a:t>[Ex+Ey]</a:t>
            </a:r>
            <a:r>
              <a:rPr lang="zh-CN" altLang="en-US" sz="2000" baseline="-25000" dirty="0">
                <a:latin typeface="微软雅黑" panose="020B0503020204020204" pitchFamily="34" charset="-122"/>
                <a:ea typeface="微软雅黑" panose="020B0503020204020204" pitchFamily="34" charset="-122"/>
              </a:rPr>
              <a:t>移</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 [Ex–Ey]</a:t>
            </a:r>
            <a:r>
              <a:rPr lang="zh-CN" altLang="en-US" sz="2000" baseline="-25000" dirty="0">
                <a:latin typeface="微软雅黑" panose="020B0503020204020204" pitchFamily="34" charset="-122"/>
                <a:ea typeface="微软雅黑" panose="020B0503020204020204" pitchFamily="34" charset="-122"/>
              </a:rPr>
              <a:t>移</a:t>
            </a:r>
            <a:r>
              <a:rPr lang="zh-CN" altLang="en-US" sz="2000" dirty="0">
                <a:latin typeface="微软雅黑" panose="020B0503020204020204" pitchFamily="34" charset="-122"/>
                <a:ea typeface="微软雅黑" panose="020B0503020204020204" pitchFamily="34" charset="-122"/>
              </a:rPr>
              <a:t>的计算会变复杂！ 浮点乘除运算涉及之。</a:t>
            </a:r>
            <a:endParaRPr lang="en-US" altLang="zh-CN" sz="2000" dirty="0">
              <a:latin typeface="微软雅黑" panose="020B0503020204020204" pitchFamily="34" charset="-122"/>
              <a:ea typeface="微软雅黑" panose="020B0503020204020204" pitchFamily="34" charset="-122"/>
            </a:endParaRPr>
          </a:p>
        </p:txBody>
      </p:sp>
      <p:sp>
        <p:nvSpPr>
          <p:cNvPr id="121867" name="Text Box 13"/>
          <p:cNvSpPr txBox="1"/>
          <p:nvPr/>
        </p:nvSpPr>
        <p:spPr>
          <a:xfrm>
            <a:off x="454025" y="3092450"/>
            <a:ext cx="8391525" cy="708025"/>
          </a:xfrm>
          <a:prstGeom prst="rect">
            <a:avLst/>
          </a:prstGeom>
          <a:noFill/>
          <a:ln w="12700">
            <a:noFill/>
          </a:ln>
        </p:spPr>
        <p:txBody>
          <a:bodyPr anchor="t" anchorCtr="0">
            <a:spAutoFit/>
          </a:bodyPr>
          <a:p>
            <a:pPr eaLnBrk="0" hangingPunct="0">
              <a:spcBef>
                <a:spcPct val="20000"/>
              </a:spcBef>
            </a:pPr>
            <a:r>
              <a:rPr lang="zh-CN" altLang="en-US" sz="2000" dirty="0">
                <a:solidFill>
                  <a:srgbClr val="FF0066"/>
                </a:solidFill>
                <a:latin typeface="微软雅黑" panose="020B0503020204020204" pitchFamily="34" charset="-122"/>
                <a:ea typeface="微软雅黑" panose="020B0503020204020204" pitchFamily="34" charset="-122"/>
              </a:rPr>
              <a:t>问题：对</a:t>
            </a:r>
            <a:r>
              <a:rPr lang="en-US" altLang="zh-CN" sz="2000" dirty="0">
                <a:solidFill>
                  <a:srgbClr val="FF0066"/>
                </a:solidFill>
                <a:latin typeface="微软雅黑" panose="020B0503020204020204" pitchFamily="34" charset="-122"/>
                <a:ea typeface="微软雅黑" panose="020B0503020204020204" pitchFamily="34" charset="-122"/>
              </a:rPr>
              <a:t>IEEE754 SP</a:t>
            </a:r>
            <a:r>
              <a:rPr lang="zh-CN" altLang="en-US" sz="2000" dirty="0">
                <a:solidFill>
                  <a:srgbClr val="FF0066"/>
                </a:solidFill>
                <a:latin typeface="微软雅黑" panose="020B0503020204020204" pitchFamily="34" charset="-122"/>
                <a:ea typeface="微软雅黑" panose="020B0503020204020204" pitchFamily="34" charset="-122"/>
              </a:rPr>
              <a:t>格式来说， </a:t>
            </a:r>
            <a:r>
              <a:rPr lang="en-US" altLang="zh-CN" sz="2000" dirty="0">
                <a:solidFill>
                  <a:srgbClr val="FF0066"/>
                </a:solidFill>
                <a:latin typeface="微软雅黑" panose="020B0503020204020204" pitchFamily="34" charset="-122"/>
                <a:ea typeface="微软雅黑" panose="020B0503020204020204" pitchFamily="34" charset="-122"/>
              </a:rPr>
              <a:t>|</a:t>
            </a:r>
            <a:r>
              <a:rPr lang="en-US" altLang="zh-CN" sz="2000"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solidFill>
                  <a:srgbClr val="FF0066"/>
                </a:solidFill>
                <a:latin typeface="微软雅黑" panose="020B0503020204020204" pitchFamily="34" charset="-122"/>
                <a:ea typeface="微软雅黑" panose="020B0503020204020204" pitchFamily="34" charset="-122"/>
              </a:rPr>
              <a:t>E|</a:t>
            </a:r>
            <a:r>
              <a:rPr lang="zh-CN" altLang="en-US" sz="2000" dirty="0">
                <a:solidFill>
                  <a:srgbClr val="FF0066"/>
                </a:solidFill>
                <a:latin typeface="微软雅黑" panose="020B0503020204020204" pitchFamily="34" charset="-122"/>
                <a:ea typeface="微软雅黑" panose="020B0503020204020204" pitchFamily="34" charset="-122"/>
              </a:rPr>
              <a:t>大于多少时，结果就等于阶大的那个数（即小数被大数吃掉） ？</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80270" name="Text Box 14"/>
          <p:cNvSpPr txBox="1"/>
          <p:nvPr/>
        </p:nvSpPr>
        <p:spPr>
          <a:xfrm>
            <a:off x="500063" y="3886200"/>
            <a:ext cx="8134350" cy="400050"/>
          </a:xfrm>
          <a:prstGeom prst="rect">
            <a:avLst/>
          </a:prstGeom>
          <a:noFill/>
          <a:ln w="12700">
            <a:noFill/>
          </a:ln>
        </p:spPr>
        <p:txBody>
          <a:bodyPr anchor="t" anchorCtr="0">
            <a:spAutoFit/>
          </a:bodyPr>
          <a:p>
            <a:pPr eaLnBrk="0" hangingPunct="0">
              <a:spcBef>
                <a:spcPct val="50000"/>
              </a:spcBef>
            </a:pPr>
            <a:r>
              <a:rPr lang="en-US" altLang="zh-CN" sz="2000" dirty="0">
                <a:latin typeface="微软雅黑" panose="020B0503020204020204" pitchFamily="34" charset="-122"/>
                <a:ea typeface="微软雅黑" panose="020B0503020204020204" pitchFamily="34" charset="-122"/>
              </a:rPr>
              <a:t>1.xx…x → 0.00…01xx…x(</a:t>
            </a:r>
            <a:r>
              <a:rPr lang="zh-CN" altLang="en-US" sz="2000" dirty="0">
                <a:latin typeface="微软雅黑" panose="020B0503020204020204" pitchFamily="34" charset="-122"/>
                <a:ea typeface="微软雅黑" panose="020B0503020204020204" pitchFamily="34" charset="-122"/>
              </a:rPr>
              <a:t>右移</a:t>
            </a:r>
            <a:r>
              <a:rPr lang="en-US" altLang="zh-CN" sz="2000" dirty="0">
                <a:latin typeface="微软雅黑" panose="020B0503020204020204" pitchFamily="34" charset="-122"/>
                <a:ea typeface="微软雅黑" panose="020B0503020204020204" pitchFamily="34" charset="-122"/>
              </a:rPr>
              <a:t>24</a:t>
            </a:r>
            <a:r>
              <a:rPr lang="zh-CN" altLang="en-US" sz="2000" dirty="0">
                <a:latin typeface="微软雅黑" panose="020B0503020204020204" pitchFamily="34" charset="-122"/>
                <a:ea typeface="微软雅黑" panose="020B0503020204020204" pitchFamily="34" charset="-122"/>
              </a:rPr>
              <a:t>位后，尾数变为</a:t>
            </a:r>
            <a:r>
              <a:rPr lang="en-US" altLang="zh-CN" sz="2000" dirty="0">
                <a:latin typeface="微软雅黑" panose="020B0503020204020204" pitchFamily="34" charset="-122"/>
                <a:ea typeface="微软雅黑" panose="020B0503020204020204" pitchFamily="34" charset="-122"/>
              </a:rPr>
              <a:t>0)</a:t>
            </a:r>
            <a:endParaRPr lang="en-US" altLang="zh-CN" sz="2000" dirty="0">
              <a:latin typeface="微软雅黑" panose="020B0503020204020204" pitchFamily="34" charset="-122"/>
              <a:ea typeface="微软雅黑" panose="020B0503020204020204" pitchFamily="34" charset="-122"/>
            </a:endParaRPr>
          </a:p>
        </p:txBody>
      </p:sp>
      <p:sp>
        <p:nvSpPr>
          <p:cNvPr id="480271" name="Text Box 15"/>
          <p:cNvSpPr txBox="1"/>
          <p:nvPr/>
        </p:nvSpPr>
        <p:spPr>
          <a:xfrm>
            <a:off x="5278438" y="3459163"/>
            <a:ext cx="942975" cy="427037"/>
          </a:xfrm>
          <a:prstGeom prst="rect">
            <a:avLst/>
          </a:prstGeom>
          <a:noFill/>
          <a:ln w="12700">
            <a:noFill/>
          </a:ln>
        </p:spPr>
        <p:txBody>
          <a:bodyPr anchor="t" anchorCtr="0">
            <a:spAutoFit/>
          </a:bodyPr>
          <a:p>
            <a:pPr eaLnBrk="0" hangingPunct="0">
              <a:spcBef>
                <a:spcPct val="50000"/>
              </a:spcBef>
            </a:pPr>
            <a:r>
              <a:rPr lang="en-US" altLang="zh-CN" sz="2200" dirty="0">
                <a:solidFill>
                  <a:schemeClr val="accent2"/>
                </a:solidFill>
                <a:latin typeface="Arial" panose="020B0604020202020204" pitchFamily="34" charset="0"/>
                <a:ea typeface="黑体" panose="02010609060101010101" pitchFamily="49" charset="-122"/>
              </a:rPr>
              <a:t>24</a:t>
            </a:r>
            <a:r>
              <a:rPr lang="zh-CN" altLang="en-US" sz="2200" dirty="0">
                <a:solidFill>
                  <a:schemeClr val="accent2"/>
                </a:solidFill>
                <a:latin typeface="Arial" panose="020B0604020202020204" pitchFamily="34" charset="0"/>
                <a:ea typeface="黑体" panose="02010609060101010101" pitchFamily="49" charset="-122"/>
              </a:rPr>
              <a:t>！</a:t>
            </a:r>
            <a:endParaRPr lang="zh-CN" altLang="en-US" sz="2200" dirty="0">
              <a:solidFill>
                <a:schemeClr val="accent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0263"/>
                                        </p:tgtEl>
                                        <p:attrNameLst>
                                          <p:attrName>style.visibility</p:attrName>
                                        </p:attrNameLst>
                                      </p:cBhvr>
                                      <p:to>
                                        <p:strVal val="visible"/>
                                      </p:to>
                                    </p:set>
                                    <p:animEffect transition="in" filter="blinds(horizontal)">
                                      <p:cBhvr>
                                        <p:cTn id="7" dur="500"/>
                                        <p:tgtEl>
                                          <p:spTgt spid="4802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80266"/>
                                        </p:tgtEl>
                                        <p:attrNameLst>
                                          <p:attrName>style.visibility</p:attrName>
                                        </p:attrNameLst>
                                      </p:cBhvr>
                                      <p:to>
                                        <p:strVal val="visible"/>
                                      </p:to>
                                    </p:set>
                                    <p:animEffect transition="in" filter="blinds(horizontal)">
                                      <p:cBhvr>
                                        <p:cTn id="12" dur="500"/>
                                        <p:tgtEl>
                                          <p:spTgt spid="48026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80267"/>
                                        </p:tgtEl>
                                        <p:attrNameLst>
                                          <p:attrName>style.visibility</p:attrName>
                                        </p:attrNameLst>
                                      </p:cBhvr>
                                      <p:to>
                                        <p:strVal val="visible"/>
                                      </p:to>
                                    </p:set>
                                    <p:animEffect transition="in" filter="blinds(horizontal)">
                                      <p:cBhvr>
                                        <p:cTn id="17" dur="500"/>
                                        <p:tgtEl>
                                          <p:spTgt spid="48026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80271"/>
                                        </p:tgtEl>
                                        <p:attrNameLst>
                                          <p:attrName>style.visibility</p:attrName>
                                        </p:attrNameLst>
                                      </p:cBhvr>
                                      <p:to>
                                        <p:strVal val="visible"/>
                                      </p:to>
                                    </p:set>
                                    <p:animEffect transition="in" filter="blinds(horizontal)">
                                      <p:cBhvr>
                                        <p:cTn id="22" dur="500"/>
                                        <p:tgtEl>
                                          <p:spTgt spid="48027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80270"/>
                                        </p:tgtEl>
                                        <p:attrNameLst>
                                          <p:attrName>style.visibility</p:attrName>
                                        </p:attrNameLst>
                                      </p:cBhvr>
                                      <p:to>
                                        <p:strVal val="visible"/>
                                      </p:to>
                                    </p:set>
                                    <p:animEffect transition="in" filter="blinds(horizontal)">
                                      <p:cBhvr>
                                        <p:cTn id="27" dur="500"/>
                                        <p:tgtEl>
                                          <p:spTgt spid="48027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80261"/>
                                        </p:tgtEl>
                                        <p:attrNameLst>
                                          <p:attrName>style.visibility</p:attrName>
                                        </p:attrNameLst>
                                      </p:cBhvr>
                                      <p:to>
                                        <p:strVal val="visible"/>
                                      </p:to>
                                    </p:set>
                                    <p:animEffect transition="in" filter="blinds(horizontal)">
                                      <p:cBhvr>
                                        <p:cTn id="32" dur="500"/>
                                        <p:tgtEl>
                                          <p:spTgt spid="48026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80262"/>
                                        </p:tgtEl>
                                        <p:attrNameLst>
                                          <p:attrName>style.visibility</p:attrName>
                                        </p:attrNameLst>
                                      </p:cBhvr>
                                      <p:to>
                                        <p:strVal val="visible"/>
                                      </p:to>
                                    </p:set>
                                    <p:animEffect transition="in" filter="blinds(horizontal)">
                                      <p:cBhvr>
                                        <p:cTn id="37" dur="500"/>
                                        <p:tgtEl>
                                          <p:spTgt spid="48026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80268"/>
                                        </p:tgtEl>
                                        <p:attrNameLst>
                                          <p:attrName>style.visibility</p:attrName>
                                        </p:attrNameLst>
                                      </p:cBhvr>
                                      <p:to>
                                        <p:strVal val="visible"/>
                                      </p:to>
                                    </p:set>
                                    <p:animEffect transition="in" filter="blinds(horizontal)">
                                      <p:cBhvr>
                                        <p:cTn id="42" dur="500"/>
                                        <p:tgtEl>
                                          <p:spTgt spid="480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1" grpId="0"/>
      <p:bldP spid="480262" grpId="0"/>
      <p:bldP spid="480263" grpId="0"/>
      <p:bldP spid="480266" grpId="0"/>
      <p:bldP spid="480267" grpId="0"/>
      <p:bldP spid="480268" grpId="0"/>
      <p:bldP spid="480270" grpId="0"/>
      <p:bldP spid="48027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Rectangle 2"/>
          <p:cNvSpPr>
            <a:spLocks noGrp="1"/>
          </p:cNvSpPr>
          <p:nvPr>
            <p:ph type="title" idx="4294967295"/>
          </p:nvPr>
        </p:nvSpPr>
        <p:spPr>
          <a:xfrm>
            <a:off x="836613" y="84138"/>
            <a:ext cx="6651625" cy="479425"/>
          </a:xfrm>
          <a:ln/>
        </p:spPr>
        <p:txBody>
          <a:bodyPr vert="horz" wrap="square" lIns="63500" tIns="25400" rIns="63500" bIns="25400" anchor="t" anchorCtr="0">
            <a:spAutoFit/>
          </a:bodyPr>
          <a:p>
            <a:r>
              <a:rPr lang="zh-CN" altLang="en-US" dirty="0">
                <a:latin typeface="黑体" panose="02010609060101010101" pitchFamily="49" charset="-122"/>
                <a:ea typeface="黑体" panose="02010609060101010101" pitchFamily="49" charset="-122"/>
              </a:rPr>
              <a:t>回顾：浮点数加减法基本要点</a:t>
            </a:r>
            <a:r>
              <a:rPr lang="en-US" altLang="zh-CN" dirty="0">
                <a:ea typeface="宋体" panose="02010600030101010101" pitchFamily="2" charset="-122"/>
              </a:rPr>
              <a:t> </a:t>
            </a:r>
            <a:endParaRPr lang="en-US" altLang="zh-CN" sz="2400" dirty="0">
              <a:ea typeface="宋体" panose="02010600030101010101" pitchFamily="2" charset="-122"/>
            </a:endParaRPr>
          </a:p>
        </p:txBody>
      </p:sp>
      <p:sp>
        <p:nvSpPr>
          <p:cNvPr id="189443" name="Rectangle 3"/>
          <p:cNvSpPr/>
          <p:nvPr/>
        </p:nvSpPr>
        <p:spPr>
          <a:xfrm>
            <a:off x="296863" y="950913"/>
            <a:ext cx="8732837" cy="5267325"/>
          </a:xfrm>
          <a:prstGeom prst="rect">
            <a:avLst/>
          </a:prstGeom>
          <a:noFill/>
          <a:ln w="12700">
            <a:noFill/>
          </a:ln>
        </p:spPr>
        <p:txBody>
          <a:bodyPr lIns="63500" tIns="25400" rIns="63500" bIns="25400" anchor="t" anchorCtr="0">
            <a:spAutoFit/>
          </a:bodyPr>
          <a:p>
            <a:pPr marL="457200" indent="-457200" eaLnBrk="0" hangingPunct="0">
              <a:lnSpc>
                <a:spcPct val="110000"/>
              </a:lnSpc>
              <a:spcBef>
                <a:spcPct val="20000"/>
              </a:spcBef>
              <a:buClrTx/>
              <a:buFontTx/>
              <a:buNone/>
            </a:pPr>
            <a:r>
              <a:rPr lang="zh-CN" altLang="en-US" sz="2000" dirty="0">
                <a:solidFill>
                  <a:schemeClr val="accent2"/>
                </a:solidFill>
                <a:latin typeface="微软雅黑" panose="020B0503020204020204" pitchFamily="34" charset="-122"/>
                <a:ea typeface="微软雅黑" panose="020B0503020204020204" pitchFamily="34" charset="-122"/>
              </a:rPr>
              <a:t>（假定：</a:t>
            </a:r>
            <a:r>
              <a:rPr lang="en-US" altLang="zh-CN" sz="2000" dirty="0">
                <a:solidFill>
                  <a:schemeClr val="accent2"/>
                </a:solidFill>
                <a:latin typeface="微软雅黑" panose="020B0503020204020204" pitchFamily="34" charset="-122"/>
                <a:ea typeface="微软雅黑" panose="020B0503020204020204" pitchFamily="34" charset="-122"/>
              </a:rPr>
              <a:t>Xm</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Ym</a:t>
            </a:r>
            <a:r>
              <a:rPr lang="zh-CN" altLang="en-US" sz="2000" dirty="0">
                <a:solidFill>
                  <a:schemeClr val="accent2"/>
                </a:solidFill>
                <a:latin typeface="微软雅黑" panose="020B0503020204020204" pitchFamily="34" charset="-122"/>
                <a:ea typeface="微软雅黑" panose="020B0503020204020204" pitchFamily="34" charset="-122"/>
              </a:rPr>
              <a:t>分别是</a:t>
            </a:r>
            <a:r>
              <a:rPr lang="en-US" altLang="zh-CN" sz="2000" dirty="0">
                <a:solidFill>
                  <a:schemeClr val="accent2"/>
                </a:solidFill>
                <a:latin typeface="微软雅黑" panose="020B0503020204020204" pitchFamily="34" charset="-122"/>
                <a:ea typeface="微软雅黑" panose="020B0503020204020204" pitchFamily="34" charset="-122"/>
              </a:rPr>
              <a:t>X</a:t>
            </a:r>
            <a:r>
              <a:rPr lang="zh-CN" altLang="en-US" sz="2000" dirty="0">
                <a:solidFill>
                  <a:schemeClr val="accent2"/>
                </a:solidFill>
                <a:latin typeface="微软雅黑" panose="020B0503020204020204" pitchFamily="34" charset="-122"/>
                <a:ea typeface="微软雅黑" panose="020B0503020204020204" pitchFamily="34" charset="-122"/>
              </a:rPr>
              <a:t>和</a:t>
            </a:r>
            <a:r>
              <a:rPr lang="en-US" altLang="zh-CN" sz="2000" dirty="0">
                <a:solidFill>
                  <a:schemeClr val="accent2"/>
                </a:solidFill>
                <a:latin typeface="微软雅黑" panose="020B0503020204020204" pitchFamily="34" charset="-122"/>
                <a:ea typeface="微软雅黑" panose="020B0503020204020204" pitchFamily="34" charset="-122"/>
              </a:rPr>
              <a:t>Y</a:t>
            </a:r>
            <a:r>
              <a:rPr lang="zh-CN" altLang="en-US" sz="2000" dirty="0">
                <a:solidFill>
                  <a:schemeClr val="accent2"/>
                </a:solidFill>
                <a:latin typeface="微软雅黑" panose="020B0503020204020204" pitchFamily="34" charset="-122"/>
                <a:ea typeface="微软雅黑" panose="020B0503020204020204" pitchFamily="34" charset="-122"/>
              </a:rPr>
              <a:t>的尾数， </a:t>
            </a:r>
            <a:r>
              <a:rPr lang="en-US" altLang="zh-CN" sz="2000" dirty="0">
                <a:solidFill>
                  <a:schemeClr val="accent2"/>
                </a:solidFill>
                <a:latin typeface="微软雅黑" panose="020B0503020204020204" pitchFamily="34" charset="-122"/>
                <a:ea typeface="微软雅黑" panose="020B0503020204020204" pitchFamily="34" charset="-122"/>
              </a:rPr>
              <a:t> Xe</a:t>
            </a:r>
            <a:r>
              <a:rPr lang="zh-CN" altLang="en-US" sz="2000" dirty="0">
                <a:solidFill>
                  <a:schemeClr val="accent2"/>
                </a:solidFill>
                <a:latin typeface="微软雅黑" panose="020B0503020204020204" pitchFamily="34" charset="-122"/>
                <a:ea typeface="微软雅黑" panose="020B0503020204020204" pitchFamily="34" charset="-122"/>
              </a:rPr>
              <a:t>和</a:t>
            </a:r>
            <a:r>
              <a:rPr lang="en-US" altLang="zh-CN" sz="2000" dirty="0">
                <a:solidFill>
                  <a:schemeClr val="accent2"/>
                </a:solidFill>
                <a:latin typeface="微软雅黑" panose="020B0503020204020204" pitchFamily="34" charset="-122"/>
                <a:ea typeface="微软雅黑" panose="020B0503020204020204" pitchFamily="34" charset="-122"/>
              </a:rPr>
              <a:t>Ye </a:t>
            </a:r>
            <a:r>
              <a:rPr lang="zh-CN" altLang="en-US" sz="2000" dirty="0">
                <a:solidFill>
                  <a:schemeClr val="accent2"/>
                </a:solidFill>
                <a:latin typeface="微软雅黑" panose="020B0503020204020204" pitchFamily="34" charset="-122"/>
                <a:ea typeface="微软雅黑" panose="020B0503020204020204" pitchFamily="34" charset="-122"/>
              </a:rPr>
              <a:t>分别是</a:t>
            </a:r>
            <a:r>
              <a:rPr lang="en-US" altLang="zh-CN" sz="2000" dirty="0">
                <a:solidFill>
                  <a:schemeClr val="accent2"/>
                </a:solidFill>
                <a:latin typeface="微软雅黑" panose="020B0503020204020204" pitchFamily="34" charset="-122"/>
                <a:ea typeface="微软雅黑" panose="020B0503020204020204" pitchFamily="34" charset="-122"/>
              </a:rPr>
              <a:t>X</a:t>
            </a:r>
            <a:r>
              <a:rPr lang="zh-CN" altLang="en-US" sz="2000" dirty="0">
                <a:solidFill>
                  <a:schemeClr val="accent2"/>
                </a:solidFill>
                <a:latin typeface="微软雅黑" panose="020B0503020204020204" pitchFamily="34" charset="-122"/>
                <a:ea typeface="微软雅黑" panose="020B0503020204020204" pitchFamily="34" charset="-122"/>
              </a:rPr>
              <a:t>和</a:t>
            </a:r>
            <a:r>
              <a:rPr lang="en-US" altLang="zh-CN" sz="2000" dirty="0">
                <a:solidFill>
                  <a:schemeClr val="accent2"/>
                </a:solidFill>
                <a:latin typeface="微软雅黑" panose="020B0503020204020204" pitchFamily="34" charset="-122"/>
                <a:ea typeface="微软雅黑" panose="020B0503020204020204" pitchFamily="34" charset="-122"/>
              </a:rPr>
              <a:t>Y</a:t>
            </a:r>
            <a:r>
              <a:rPr lang="zh-CN" altLang="en-US" sz="2000" dirty="0">
                <a:solidFill>
                  <a:schemeClr val="accent2"/>
                </a:solidFill>
                <a:latin typeface="微软雅黑" panose="020B0503020204020204" pitchFamily="34" charset="-122"/>
                <a:ea typeface="微软雅黑" panose="020B0503020204020204" pitchFamily="34" charset="-122"/>
              </a:rPr>
              <a:t>的阶码 ）</a:t>
            </a:r>
            <a:endParaRPr lang="en-US" altLang="zh-CN" sz="2000" dirty="0">
              <a:solidFill>
                <a:schemeClr val="accent2"/>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求阶差：</a:t>
            </a:r>
            <a:r>
              <a:rPr lang="en-US" altLang="zh-CN" sz="2000" dirty="0">
                <a:latin typeface="微软雅黑" panose="020B0503020204020204" pitchFamily="34" charset="-122"/>
                <a:ea typeface="微软雅黑" panose="020B0503020204020204" pitchFamily="34" charset="-122"/>
              </a:rPr>
              <a:t>∆e=Ye – Xe  (</a:t>
            </a:r>
            <a:r>
              <a:rPr lang="zh-CN" altLang="en-US" sz="2000" dirty="0">
                <a:latin typeface="微软雅黑" panose="020B0503020204020204" pitchFamily="34" charset="-122"/>
                <a:ea typeface="微软雅黑" panose="020B0503020204020204" pitchFamily="34" charset="-122"/>
              </a:rPr>
              <a:t>若</a:t>
            </a:r>
            <a:r>
              <a:rPr lang="en-US" altLang="zh-CN" sz="2000" dirty="0">
                <a:latin typeface="微软雅黑" panose="020B0503020204020204" pitchFamily="34" charset="-122"/>
                <a:ea typeface="微软雅黑" panose="020B0503020204020204" pitchFamily="34" charset="-122"/>
              </a:rPr>
              <a:t>Ye &gt; Xe</a:t>
            </a:r>
            <a:r>
              <a:rPr lang="zh-CN" altLang="en-US" sz="2000" dirty="0">
                <a:latin typeface="微软雅黑" panose="020B0503020204020204" pitchFamily="34" charset="-122"/>
                <a:ea typeface="微软雅黑" panose="020B0503020204020204" pitchFamily="34" charset="-122"/>
              </a:rPr>
              <a:t>，则结果的阶码为</a:t>
            </a:r>
            <a:r>
              <a:rPr lang="en-US" altLang="zh-CN" sz="2000" dirty="0">
                <a:latin typeface="微软雅黑" panose="020B0503020204020204" pitchFamily="34" charset="-122"/>
                <a:ea typeface="微软雅黑" panose="020B0503020204020204" pitchFamily="34" charset="-122"/>
              </a:rPr>
              <a:t>Ye)</a:t>
            </a:r>
            <a:endParaRPr lang="en-US" altLang="zh-CN"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对阶：将</a:t>
            </a:r>
            <a:r>
              <a:rPr lang="en-US" altLang="zh-CN" sz="2000" dirty="0">
                <a:latin typeface="微软雅黑" panose="020B0503020204020204" pitchFamily="34" charset="-122"/>
                <a:ea typeface="微软雅黑" panose="020B0503020204020204" pitchFamily="34" charset="-122"/>
              </a:rPr>
              <a:t>Xm</a:t>
            </a:r>
            <a:r>
              <a:rPr lang="zh-CN" altLang="en-US" sz="2000" dirty="0">
                <a:latin typeface="微软雅黑" panose="020B0503020204020204" pitchFamily="34" charset="-122"/>
                <a:ea typeface="微软雅黑" panose="020B0503020204020204" pitchFamily="34" charset="-122"/>
              </a:rPr>
              <a:t>右移</a:t>
            </a:r>
            <a:r>
              <a:rPr lang="en-US" altLang="zh-CN" sz="2000" dirty="0">
                <a:latin typeface="微软雅黑" panose="020B0503020204020204" pitchFamily="34" charset="-122"/>
                <a:ea typeface="微软雅黑" panose="020B0503020204020204" pitchFamily="34" charset="-122"/>
              </a:rPr>
              <a:t>∆e</a:t>
            </a:r>
            <a:r>
              <a:rPr lang="zh-CN" altLang="en-US" sz="2000" dirty="0">
                <a:latin typeface="微软雅黑" panose="020B0503020204020204" pitchFamily="34" charset="-122"/>
                <a:ea typeface="微软雅黑" panose="020B0503020204020204" pitchFamily="34" charset="-122"/>
              </a:rPr>
              <a:t>位，尾数变为</a:t>
            </a:r>
            <a:r>
              <a:rPr lang="en-US" altLang="zh-CN" sz="2000" dirty="0">
                <a:latin typeface="微软雅黑" panose="020B0503020204020204" pitchFamily="34" charset="-122"/>
                <a:ea typeface="微软雅黑" panose="020B0503020204020204" pitchFamily="34" charset="-122"/>
              </a:rPr>
              <a:t> Xm*2</a:t>
            </a:r>
            <a:r>
              <a:rPr lang="en-US" altLang="zh-CN" sz="2200" baseline="30000" dirty="0">
                <a:latin typeface="微软雅黑" panose="020B0503020204020204" pitchFamily="34" charset="-122"/>
                <a:ea typeface="微软雅黑" panose="020B0503020204020204" pitchFamily="34" charset="-122"/>
              </a:rPr>
              <a:t>Xe-Ye</a:t>
            </a:r>
            <a:r>
              <a:rPr lang="zh-CN" altLang="en-US" sz="2000" dirty="0">
                <a:latin typeface="微软雅黑" panose="020B0503020204020204" pitchFamily="34" charset="-122"/>
                <a:ea typeface="微软雅黑" panose="020B0503020204020204" pitchFamily="34" charset="-122"/>
              </a:rPr>
              <a:t>（保留右移部分</a:t>
            </a:r>
            <a:r>
              <a:rPr lang="zh-CN" altLang="en-US" sz="2000" dirty="0">
                <a:solidFill>
                  <a:srgbClr val="FF0000"/>
                </a:solidFill>
                <a:latin typeface="微软雅黑" panose="020B0503020204020204" pitchFamily="34" charset="-122"/>
                <a:ea typeface="微软雅黑" panose="020B0503020204020204" pitchFamily="34" charset="-122"/>
              </a:rPr>
              <a:t>附加位</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尾数加减： </a:t>
            </a:r>
            <a:r>
              <a:rPr lang="en-US" altLang="zh-CN" sz="2000" dirty="0">
                <a:latin typeface="微软雅黑" panose="020B0503020204020204" pitchFamily="34" charset="-122"/>
                <a:ea typeface="微软雅黑" panose="020B0503020204020204" pitchFamily="34" charset="-122"/>
              </a:rPr>
              <a:t>Xm*2</a:t>
            </a:r>
            <a:r>
              <a:rPr lang="en-US" altLang="zh-CN" sz="2200" baseline="30000" dirty="0">
                <a:latin typeface="微软雅黑" panose="020B0503020204020204" pitchFamily="34" charset="-122"/>
                <a:ea typeface="微软雅黑" panose="020B0503020204020204" pitchFamily="34" charset="-122"/>
              </a:rPr>
              <a:t>Xe-Ye</a:t>
            </a:r>
            <a:r>
              <a:rPr lang="en-US" altLang="zh-CN" sz="2000" dirty="0">
                <a:latin typeface="微软雅黑" panose="020B0503020204020204" pitchFamily="34" charset="-122"/>
                <a:ea typeface="微软雅黑" panose="020B0503020204020204" pitchFamily="34" charset="-122"/>
              </a:rPr>
              <a:t> ± Ym</a:t>
            </a:r>
            <a:endParaRPr lang="en-US" altLang="zh-CN"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规格化：</a:t>
            </a:r>
            <a:endParaRPr lang="zh-CN" altLang="en-US"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r>
              <a:rPr lang="zh-CN" altLang="en-US" sz="2000" dirty="0">
                <a:latin typeface="微软雅黑" panose="020B0503020204020204" pitchFamily="34" charset="-122"/>
                <a:ea typeface="微软雅黑" panose="020B0503020204020204" pitchFamily="34" charset="-122"/>
              </a:rPr>
              <a:t>      当尾数高位为</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，则需左规：</a:t>
            </a:r>
            <a:r>
              <a:rPr lang="zh-CN" altLang="en-US" sz="2000" dirty="0">
                <a:solidFill>
                  <a:srgbClr val="008000"/>
                </a:solidFill>
                <a:latin typeface="微软雅黑" panose="020B0503020204020204" pitchFamily="34" charset="-122"/>
                <a:ea typeface="微软雅黑" panose="020B0503020204020204" pitchFamily="34" charset="-122"/>
              </a:rPr>
              <a:t>尾数左移一次，阶码减</a:t>
            </a:r>
            <a:r>
              <a:rPr lang="en-US" altLang="zh-CN" sz="2000" dirty="0">
                <a:solidFill>
                  <a:srgbClr val="008000"/>
                </a:solidFill>
                <a:latin typeface="微软雅黑" panose="020B0503020204020204" pitchFamily="34" charset="-122"/>
                <a:ea typeface="微软雅黑" panose="020B0503020204020204" pitchFamily="34" charset="-122"/>
              </a:rPr>
              <a:t>1</a:t>
            </a:r>
            <a:r>
              <a:rPr lang="zh-CN" altLang="en-US" sz="2000" dirty="0">
                <a:solidFill>
                  <a:srgbClr val="008000"/>
                </a:solidFill>
                <a:latin typeface="微软雅黑" panose="020B0503020204020204" pitchFamily="34" charset="-122"/>
                <a:ea typeface="微软雅黑" panose="020B0503020204020204" pitchFamily="34" charset="-122"/>
              </a:rPr>
              <a:t>，直到</a:t>
            </a:r>
            <a:r>
              <a:rPr lang="en-US" altLang="zh-CN" sz="2000" dirty="0">
                <a:solidFill>
                  <a:srgbClr val="008000"/>
                </a:solidFill>
                <a:latin typeface="微软雅黑" panose="020B0503020204020204" pitchFamily="34" charset="-122"/>
                <a:ea typeface="微软雅黑" panose="020B0503020204020204" pitchFamily="34" charset="-122"/>
              </a:rPr>
              <a:t>MSB</a:t>
            </a:r>
            <a:r>
              <a:rPr lang="zh-CN" altLang="en-US" sz="2000" dirty="0">
                <a:solidFill>
                  <a:srgbClr val="008000"/>
                </a:solidFill>
                <a:latin typeface="微软雅黑" panose="020B0503020204020204" pitchFamily="34" charset="-122"/>
                <a:ea typeface="微软雅黑" panose="020B0503020204020204" pitchFamily="34" charset="-122"/>
              </a:rPr>
              <a:t>为</a:t>
            </a:r>
            <a:r>
              <a:rPr lang="en-US" altLang="zh-CN" sz="2000" dirty="0">
                <a:solidFill>
                  <a:srgbClr val="008000"/>
                </a:solidFill>
                <a:latin typeface="微软雅黑" panose="020B0503020204020204" pitchFamily="34" charset="-122"/>
                <a:ea typeface="微软雅黑" panose="020B0503020204020204" pitchFamily="34" charset="-122"/>
              </a:rPr>
              <a:t>1</a:t>
            </a:r>
            <a:r>
              <a:rPr lang="zh-CN" altLang="en-US" sz="2000" dirty="0">
                <a:solidFill>
                  <a:srgbClr val="008000"/>
                </a:solidFill>
                <a:latin typeface="微软雅黑" panose="020B0503020204020204" pitchFamily="34" charset="-122"/>
                <a:ea typeface="微软雅黑" panose="020B0503020204020204" pitchFamily="34" charset="-122"/>
              </a:rPr>
              <a:t>或阶码为</a:t>
            </a:r>
            <a:r>
              <a:rPr lang="en-US" altLang="zh-CN" sz="2000" dirty="0">
                <a:solidFill>
                  <a:srgbClr val="008000"/>
                </a:solidFill>
                <a:latin typeface="微软雅黑" panose="020B0503020204020204" pitchFamily="34" charset="-122"/>
                <a:ea typeface="微软雅黑" panose="020B0503020204020204" pitchFamily="34" charset="-122"/>
              </a:rPr>
              <a:t>00000000</a:t>
            </a:r>
            <a:r>
              <a:rPr lang="zh-CN" altLang="en-US" sz="2000" dirty="0">
                <a:solidFill>
                  <a:srgbClr val="008000"/>
                </a:solidFill>
                <a:latin typeface="微软雅黑" panose="020B0503020204020204" pitchFamily="34" charset="-122"/>
                <a:ea typeface="微软雅黑" panose="020B0503020204020204" pitchFamily="34" charset="-122"/>
              </a:rPr>
              <a:t>（</a:t>
            </a:r>
            <a:r>
              <a:rPr lang="en-US" altLang="zh-CN" sz="2000" dirty="0">
                <a:solidFill>
                  <a:srgbClr val="008000"/>
                </a:solidFill>
                <a:latin typeface="微软雅黑" panose="020B0503020204020204" pitchFamily="34" charset="-122"/>
                <a:ea typeface="微软雅黑" panose="020B0503020204020204" pitchFamily="34" charset="-122"/>
              </a:rPr>
              <a:t>-126</a:t>
            </a:r>
            <a:r>
              <a:rPr lang="zh-CN" altLang="en-US" sz="2000" dirty="0">
                <a:solidFill>
                  <a:srgbClr val="008000"/>
                </a:solidFill>
                <a:latin typeface="微软雅黑" panose="020B0503020204020204" pitchFamily="34" charset="-122"/>
                <a:ea typeface="微软雅黑" panose="020B0503020204020204" pitchFamily="34" charset="-122"/>
              </a:rPr>
              <a:t>，非规格化数）</a:t>
            </a:r>
            <a:endParaRPr lang="zh-CN" altLang="en-US" sz="2000" dirty="0">
              <a:solidFill>
                <a:srgbClr val="008000"/>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r>
              <a:rPr lang="zh-CN" altLang="en-US" sz="2000" dirty="0">
                <a:solidFill>
                  <a:srgbClr val="CC0000"/>
                </a:solidFill>
                <a:latin typeface="微软雅黑" panose="020B0503020204020204" pitchFamily="34" charset="-122"/>
                <a:ea typeface="微软雅黑" panose="020B0503020204020204" pitchFamily="34" charset="-122"/>
              </a:rPr>
              <a:t>      </a:t>
            </a:r>
            <a:r>
              <a:rPr lang="zh-CN" altLang="en-US" sz="2000" dirty="0">
                <a:solidFill>
                  <a:srgbClr val="FF0066"/>
                </a:solidFill>
                <a:latin typeface="微软雅黑" panose="020B0503020204020204" pitchFamily="34" charset="-122"/>
                <a:ea typeface="微软雅黑" panose="020B0503020204020204" pitchFamily="34" charset="-122"/>
              </a:rPr>
              <a:t>每次阶码减</a:t>
            </a:r>
            <a:r>
              <a:rPr lang="en-US" altLang="zh-CN" sz="2000" dirty="0">
                <a:solidFill>
                  <a:srgbClr val="FF0066"/>
                </a:solidFill>
                <a:latin typeface="微软雅黑" panose="020B0503020204020204" pitchFamily="34" charset="-122"/>
                <a:ea typeface="微软雅黑" panose="020B0503020204020204" pitchFamily="34" charset="-122"/>
              </a:rPr>
              <a:t>1</a:t>
            </a:r>
            <a:r>
              <a:rPr lang="zh-CN" altLang="en-US" sz="2000" dirty="0">
                <a:solidFill>
                  <a:srgbClr val="FF0066"/>
                </a:solidFill>
                <a:latin typeface="微软雅黑" panose="020B0503020204020204" pitchFamily="34" charset="-122"/>
                <a:ea typeface="微软雅黑" panose="020B0503020204020204" pitchFamily="34" charset="-122"/>
              </a:rPr>
              <a:t>后要判断阶码是否下溢（比最小可表示的阶码还要小）</a:t>
            </a:r>
            <a:endParaRPr lang="zh-CN" altLang="en-US" sz="2000" dirty="0">
              <a:solidFill>
                <a:srgbClr val="FF0066"/>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当尾数最高位有进位，需右规：</a:t>
            </a:r>
            <a:r>
              <a:rPr lang="zh-CN" altLang="en-US" sz="2000" dirty="0">
                <a:solidFill>
                  <a:srgbClr val="008000"/>
                </a:solidFill>
                <a:latin typeface="微软雅黑" panose="020B0503020204020204" pitchFamily="34" charset="-122"/>
                <a:ea typeface="微软雅黑" panose="020B0503020204020204" pitchFamily="34" charset="-122"/>
              </a:rPr>
              <a:t>尾数右移一次，阶码加</a:t>
            </a:r>
            <a:r>
              <a:rPr lang="en-US" altLang="zh-CN" sz="2000" dirty="0">
                <a:solidFill>
                  <a:srgbClr val="008000"/>
                </a:solidFill>
                <a:latin typeface="微软雅黑" panose="020B0503020204020204" pitchFamily="34" charset="-122"/>
                <a:ea typeface="微软雅黑" panose="020B0503020204020204" pitchFamily="34" charset="-122"/>
              </a:rPr>
              <a:t>1</a:t>
            </a:r>
            <a:r>
              <a:rPr lang="zh-CN" altLang="en-US" sz="2000" dirty="0">
                <a:solidFill>
                  <a:srgbClr val="008000"/>
                </a:solidFill>
                <a:latin typeface="微软雅黑" panose="020B0503020204020204" pitchFamily="34" charset="-122"/>
                <a:ea typeface="微软雅黑" panose="020B0503020204020204" pitchFamily="34" charset="-122"/>
              </a:rPr>
              <a:t>，直到</a:t>
            </a:r>
            <a:r>
              <a:rPr lang="en-US" altLang="zh-CN" sz="2000" dirty="0">
                <a:solidFill>
                  <a:srgbClr val="008000"/>
                </a:solidFill>
                <a:latin typeface="微软雅黑" panose="020B0503020204020204" pitchFamily="34" charset="-122"/>
                <a:ea typeface="微软雅黑" panose="020B0503020204020204" pitchFamily="34" charset="-122"/>
              </a:rPr>
              <a:t>MSB</a:t>
            </a:r>
            <a:r>
              <a:rPr lang="zh-CN" altLang="en-US" sz="2000" dirty="0">
                <a:solidFill>
                  <a:srgbClr val="008000"/>
                </a:solidFill>
                <a:latin typeface="微软雅黑" panose="020B0503020204020204" pitchFamily="34" charset="-122"/>
                <a:ea typeface="微软雅黑" panose="020B0503020204020204" pitchFamily="34" charset="-122"/>
              </a:rPr>
              <a:t>为</a:t>
            </a:r>
            <a:r>
              <a:rPr lang="en-US" altLang="zh-CN" sz="2000" dirty="0">
                <a:solidFill>
                  <a:srgbClr val="008000"/>
                </a:solidFill>
                <a:latin typeface="微软雅黑" panose="020B0503020204020204" pitchFamily="34" charset="-122"/>
                <a:ea typeface="微软雅黑" panose="020B0503020204020204" pitchFamily="34" charset="-122"/>
              </a:rPr>
              <a:t>1</a:t>
            </a:r>
            <a:endParaRPr lang="zh-CN" altLang="en-US" sz="2000" dirty="0">
              <a:solidFill>
                <a:srgbClr val="008000"/>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r>
              <a:rPr lang="zh-CN" altLang="en-US" sz="2000" dirty="0">
                <a:solidFill>
                  <a:srgbClr val="CC0000"/>
                </a:solidFill>
                <a:latin typeface="微软雅黑" panose="020B0503020204020204" pitchFamily="34" charset="-122"/>
                <a:ea typeface="微软雅黑" panose="020B0503020204020204" pitchFamily="34" charset="-122"/>
              </a:rPr>
              <a:t>      </a:t>
            </a:r>
            <a:r>
              <a:rPr lang="zh-CN" altLang="en-US" sz="2000" dirty="0">
                <a:solidFill>
                  <a:srgbClr val="FF0066"/>
                </a:solidFill>
                <a:latin typeface="微软雅黑" panose="020B0503020204020204" pitchFamily="34" charset="-122"/>
                <a:ea typeface="微软雅黑" panose="020B0503020204020204" pitchFamily="34" charset="-122"/>
              </a:rPr>
              <a:t>每次阶码加</a:t>
            </a:r>
            <a:r>
              <a:rPr lang="en-US" altLang="zh-CN" sz="2000" dirty="0">
                <a:solidFill>
                  <a:srgbClr val="FF0066"/>
                </a:solidFill>
                <a:latin typeface="微软雅黑" panose="020B0503020204020204" pitchFamily="34" charset="-122"/>
                <a:ea typeface="微软雅黑" panose="020B0503020204020204" pitchFamily="34" charset="-122"/>
              </a:rPr>
              <a:t>1</a:t>
            </a:r>
            <a:r>
              <a:rPr lang="zh-CN" altLang="en-US" sz="2000" dirty="0">
                <a:solidFill>
                  <a:srgbClr val="FF0066"/>
                </a:solidFill>
                <a:latin typeface="微软雅黑" panose="020B0503020204020204" pitchFamily="34" charset="-122"/>
                <a:ea typeface="微软雅黑" panose="020B0503020204020204" pitchFamily="34" charset="-122"/>
              </a:rPr>
              <a:t>后要判断阶码是否上溢（比最大可表示的阶码还要大</a:t>
            </a:r>
            <a:r>
              <a:rPr lang="zh-CN" altLang="en-US" sz="2000" dirty="0">
                <a:solidFill>
                  <a:srgbClr val="006600"/>
                </a:solidFill>
                <a:latin typeface="微软雅黑" panose="020B0503020204020204" pitchFamily="34" charset="-122"/>
                <a:ea typeface="微软雅黑" panose="020B0503020204020204" pitchFamily="34" charset="-122"/>
              </a:rPr>
              <a:t>）</a:t>
            </a:r>
            <a:endParaRPr lang="zh-CN" altLang="en-US" sz="2000" dirty="0">
              <a:solidFill>
                <a:srgbClr val="006600"/>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endParaRPr lang="en-US" altLang="zh-CN" sz="2000" dirty="0">
              <a:solidFill>
                <a:srgbClr val="006600"/>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None/>
            </a:pPr>
            <a:endParaRPr lang="en-US" altLang="zh-CN" sz="1000" dirty="0">
              <a:solidFill>
                <a:srgbClr val="006600"/>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AutoNum type="arabicParenBoth" startAt="5"/>
            </a:pPr>
            <a:r>
              <a:rPr lang="zh-CN" altLang="en-US" sz="2000" dirty="0">
                <a:solidFill>
                  <a:schemeClr val="accent2"/>
                </a:solidFill>
                <a:latin typeface="微软雅黑" panose="020B0503020204020204" pitchFamily="34" charset="-122"/>
                <a:ea typeface="微软雅黑" panose="020B0503020204020204" pitchFamily="34" charset="-122"/>
              </a:rPr>
              <a:t>如果尾数比规定位数长（有附加位），则需考虑舍入（有多种舍入方式）</a:t>
            </a:r>
            <a:endParaRPr lang="en-US" altLang="zh-CN"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ClrTx/>
              <a:buFontTx/>
              <a:buAutoNum type="arabicParenBoth" startAt="6"/>
            </a:pPr>
            <a:r>
              <a:rPr lang="zh-CN" altLang="en-US" sz="2000" dirty="0">
                <a:solidFill>
                  <a:schemeClr val="accent2"/>
                </a:solidFill>
                <a:latin typeface="微软雅黑" panose="020B0503020204020204" pitchFamily="34" charset="-122"/>
                <a:ea typeface="微软雅黑" panose="020B0503020204020204" pitchFamily="34" charset="-122"/>
              </a:rPr>
              <a:t>若</a:t>
            </a:r>
            <a:r>
              <a:rPr lang="zh-CN" altLang="en-US" sz="2000" dirty="0">
                <a:solidFill>
                  <a:srgbClr val="FF0000"/>
                </a:solidFill>
                <a:latin typeface="微软雅黑" panose="020B0503020204020204" pitchFamily="34" charset="-122"/>
                <a:ea typeface="微软雅黑" panose="020B0503020204020204" pitchFamily="34" charset="-122"/>
              </a:rPr>
              <a:t>运算结果尾数</a:t>
            </a:r>
            <a:r>
              <a:rPr lang="zh-CN" altLang="en-US" sz="2000" dirty="0">
                <a:solidFill>
                  <a:schemeClr val="accent2"/>
                </a:solidFill>
                <a:latin typeface="微软雅黑" panose="020B0503020204020204" pitchFamily="34" charset="-122"/>
                <a:ea typeface="微软雅黑" panose="020B0503020204020204" pitchFamily="34" charset="-122"/>
              </a:rPr>
              <a:t>是</a:t>
            </a:r>
            <a:r>
              <a:rPr lang="en-US" altLang="zh-CN" sz="2000" dirty="0">
                <a:solidFill>
                  <a:schemeClr val="accent2"/>
                </a:solidFill>
                <a:latin typeface="微软雅黑" panose="020B0503020204020204" pitchFamily="34" charset="-122"/>
                <a:ea typeface="微软雅黑" panose="020B0503020204020204" pitchFamily="34" charset="-122"/>
              </a:rPr>
              <a:t>0</a:t>
            </a:r>
            <a:r>
              <a:rPr lang="zh-CN" altLang="en-US" sz="2000" dirty="0">
                <a:solidFill>
                  <a:schemeClr val="accent2"/>
                </a:solidFill>
                <a:latin typeface="微软雅黑" panose="020B0503020204020204" pitchFamily="34" charset="-122"/>
                <a:ea typeface="微软雅黑" panose="020B0503020204020204" pitchFamily="34" charset="-122"/>
              </a:rPr>
              <a:t>，则需要将阶码也置</a:t>
            </a:r>
            <a:r>
              <a:rPr lang="en-US" altLang="zh-CN" sz="2000" dirty="0">
                <a:solidFill>
                  <a:schemeClr val="accent2"/>
                </a:solidFill>
                <a:latin typeface="微软雅黑" panose="020B0503020204020204" pitchFamily="34" charset="-122"/>
                <a:ea typeface="微软雅黑" panose="020B0503020204020204" pitchFamily="34" charset="-122"/>
              </a:rPr>
              <a:t>0</a:t>
            </a:r>
            <a:r>
              <a:rPr lang="zh-CN" altLang="en-US" sz="2000" dirty="0">
                <a:solidFill>
                  <a:schemeClr val="accent2"/>
                </a:solidFill>
                <a:latin typeface="微软雅黑" panose="020B0503020204020204" pitchFamily="34" charset="-122"/>
                <a:ea typeface="微软雅黑" panose="020B0503020204020204" pitchFamily="34" charset="-122"/>
              </a:rPr>
              <a:t>。为什么？</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189448" name="Text Box 8"/>
          <p:cNvSpPr txBox="1"/>
          <p:nvPr/>
        </p:nvSpPr>
        <p:spPr>
          <a:xfrm>
            <a:off x="701675" y="4797425"/>
            <a:ext cx="7848600" cy="701675"/>
          </a:xfrm>
          <a:prstGeom prst="rect">
            <a:avLst/>
          </a:prstGeom>
          <a:noFill/>
          <a:ln w="12700">
            <a:noFill/>
          </a:ln>
        </p:spPr>
        <p:txBody>
          <a:bodyPr anchor="t" anchorCtr="0">
            <a:spAutoFit/>
          </a:bodyPr>
          <a:p>
            <a:pPr eaLnBrk="0" hangingPunct="0">
              <a:spcBef>
                <a:spcPct val="50000"/>
              </a:spcBef>
              <a:buClrTx/>
              <a:buFontTx/>
            </a:pPr>
            <a:r>
              <a:rPr lang="zh-CN" altLang="en-US" sz="2000" dirty="0">
                <a:latin typeface="微软雅黑" panose="020B0503020204020204" pitchFamily="34" charset="-122"/>
                <a:ea typeface="微软雅黑" panose="020B0503020204020204" pitchFamily="34" charset="-122"/>
              </a:rPr>
              <a:t>阶码溢出异常处理：阶码上溢，则结果溢出；阶码下溢到无法用非规格化数表示，则结果为</a:t>
            </a:r>
            <a:r>
              <a:rPr lang="en-US" altLang="zh-CN" sz="2000" dirty="0">
                <a:latin typeface="微软雅黑" panose="020B0503020204020204" pitchFamily="34" charset="-122"/>
                <a:ea typeface="微软雅黑" panose="020B0503020204020204" pitchFamily="34" charset="-122"/>
              </a:rPr>
              <a:t>0</a:t>
            </a:r>
            <a:endParaRPr lang="en-US" altLang="zh-CN" sz="2000" dirty="0">
              <a:latin typeface="微软雅黑" panose="020B0503020204020204" pitchFamily="34" charset="-122"/>
              <a:ea typeface="微软雅黑" panose="020B0503020204020204" pitchFamily="34" charset="-122"/>
            </a:endParaRPr>
          </a:p>
        </p:txBody>
      </p:sp>
      <p:sp>
        <p:nvSpPr>
          <p:cNvPr id="189449" name="Text Box 9"/>
          <p:cNvSpPr txBox="1"/>
          <p:nvPr/>
        </p:nvSpPr>
        <p:spPr>
          <a:xfrm>
            <a:off x="711200" y="6242050"/>
            <a:ext cx="7118350" cy="427038"/>
          </a:xfrm>
          <a:prstGeom prst="rect">
            <a:avLst/>
          </a:prstGeom>
          <a:noFill/>
          <a:ln w="12700">
            <a:noFill/>
          </a:ln>
        </p:spPr>
        <p:txBody>
          <a:bodyPr anchor="t" anchorCtr="0">
            <a:spAutoFit/>
          </a:bodyPr>
          <a:p>
            <a:pPr eaLnBrk="0" hangingPunct="0">
              <a:spcBef>
                <a:spcPct val="50000"/>
              </a:spcBef>
              <a:buClrTx/>
              <a:buFontTx/>
            </a:pPr>
            <a:r>
              <a:rPr lang="zh-CN" altLang="en-US" sz="2200" dirty="0">
                <a:solidFill>
                  <a:srgbClr val="008000"/>
                </a:solidFill>
                <a:latin typeface="微软雅黑" panose="020B0503020204020204" pitchFamily="34" charset="-122"/>
                <a:ea typeface="微软雅黑" panose="020B0503020204020204" pitchFamily="34" charset="-122"/>
              </a:rPr>
              <a:t>尾数为</a:t>
            </a:r>
            <a:r>
              <a:rPr lang="en-US" altLang="zh-CN" sz="2200" dirty="0">
                <a:solidFill>
                  <a:srgbClr val="008000"/>
                </a:solidFill>
                <a:latin typeface="微软雅黑" panose="020B0503020204020204" pitchFamily="34" charset="-122"/>
                <a:ea typeface="微软雅黑" panose="020B0503020204020204" pitchFamily="34" charset="-122"/>
              </a:rPr>
              <a:t>0</a:t>
            </a:r>
            <a:r>
              <a:rPr lang="zh-CN" altLang="en-US" sz="2200" dirty="0">
                <a:solidFill>
                  <a:srgbClr val="008000"/>
                </a:solidFill>
                <a:latin typeface="微软雅黑" panose="020B0503020204020204" pitchFamily="34" charset="-122"/>
                <a:ea typeface="微软雅黑" panose="020B0503020204020204" pitchFamily="34" charset="-122"/>
              </a:rPr>
              <a:t>说明结果应该为</a:t>
            </a:r>
            <a:r>
              <a:rPr lang="en-US" altLang="zh-CN" sz="2200" dirty="0">
                <a:solidFill>
                  <a:srgbClr val="008000"/>
                </a:solidFill>
                <a:latin typeface="微软雅黑" panose="020B0503020204020204" pitchFamily="34" charset="-122"/>
                <a:ea typeface="微软雅黑" panose="020B0503020204020204" pitchFamily="34" charset="-122"/>
              </a:rPr>
              <a:t>0</a:t>
            </a:r>
            <a:r>
              <a:rPr lang="zh-CN" altLang="en-US" sz="2200" dirty="0">
                <a:solidFill>
                  <a:srgbClr val="008000"/>
                </a:solidFill>
                <a:latin typeface="微软雅黑" panose="020B0503020204020204" pitchFamily="34" charset="-122"/>
                <a:ea typeface="微软雅黑" panose="020B0503020204020204" pitchFamily="34" charset="-122"/>
              </a:rPr>
              <a:t>（阶码和尾数为全</a:t>
            </a:r>
            <a:r>
              <a:rPr lang="en-US" altLang="zh-CN" sz="2200" dirty="0">
                <a:solidFill>
                  <a:srgbClr val="008000"/>
                </a:solidFill>
                <a:latin typeface="微软雅黑" panose="020B0503020204020204" pitchFamily="34" charset="-122"/>
                <a:ea typeface="微软雅黑" panose="020B0503020204020204" pitchFamily="34" charset="-122"/>
              </a:rPr>
              <a:t>0</a:t>
            </a:r>
            <a:r>
              <a:rPr lang="zh-CN" altLang="en-US" sz="2200" dirty="0">
                <a:solidFill>
                  <a:srgbClr val="008000"/>
                </a:solidFill>
                <a:latin typeface="微软雅黑" panose="020B0503020204020204" pitchFamily="34" charset="-122"/>
                <a:ea typeface="微软雅黑" panose="020B0503020204020204" pitchFamily="34" charset="-122"/>
              </a:rPr>
              <a:t>）。</a:t>
            </a:r>
            <a:endParaRPr lang="zh-CN" altLang="en-US" sz="2200" dirty="0">
              <a:solidFill>
                <a:srgbClr val="008000"/>
              </a:solidFill>
              <a:latin typeface="微软雅黑" panose="020B0503020204020204" pitchFamily="34" charset="-122"/>
              <a:ea typeface="微软雅黑" panose="020B0503020204020204" pitchFamily="34" charset="-122"/>
            </a:endParaRPr>
          </a:p>
        </p:txBody>
      </p:sp>
      <p:grpSp>
        <p:nvGrpSpPr>
          <p:cNvPr id="745481" name="Group 9"/>
          <p:cNvGrpSpPr/>
          <p:nvPr/>
        </p:nvGrpSpPr>
        <p:grpSpPr>
          <a:xfrm>
            <a:off x="5516563" y="2303463"/>
            <a:ext cx="2790825" cy="1395412"/>
            <a:chOff x="3475" y="1451"/>
            <a:chExt cx="1758" cy="879"/>
          </a:xfrm>
        </p:grpSpPr>
        <p:sp>
          <p:nvSpPr>
            <p:cNvPr id="122886" name="Text Box 7"/>
            <p:cNvSpPr txBox="1"/>
            <p:nvPr/>
          </p:nvSpPr>
          <p:spPr>
            <a:xfrm>
              <a:off x="3475" y="1451"/>
              <a:ext cx="1758" cy="269"/>
            </a:xfrm>
            <a:prstGeom prst="rect">
              <a:avLst/>
            </a:prstGeom>
            <a:noFill/>
            <a:ln w="9525">
              <a:noFill/>
            </a:ln>
          </p:spPr>
          <p:txBody>
            <a:bodyPr anchor="t" anchorCtr="0">
              <a:spAutoFit/>
            </a:bodyPr>
            <a:p>
              <a:pPr>
                <a:spcBef>
                  <a:spcPct val="50000"/>
                </a:spcBef>
                <a:buClrTx/>
                <a:buFontTx/>
              </a:pPr>
              <a:r>
                <a:rPr lang="en-US" altLang="zh-CN" sz="2200" dirty="0">
                  <a:latin typeface="微软雅黑" panose="020B0503020204020204" pitchFamily="34" charset="-122"/>
                  <a:ea typeface="微软雅黑" panose="020B0503020204020204" pitchFamily="34" charset="-122"/>
                </a:rPr>
                <a:t>0.00…0</a:t>
              </a:r>
              <a:r>
                <a:rPr lang="en-US" altLang="zh-CN" sz="2200" dirty="0">
                  <a:solidFill>
                    <a:srgbClr val="FF0000"/>
                  </a:solidFill>
                  <a:latin typeface="微软雅黑" panose="020B0503020204020204" pitchFamily="34" charset="-122"/>
                  <a:ea typeface="微软雅黑" panose="020B0503020204020204" pitchFamily="34" charset="-122"/>
                </a:rPr>
                <a:t>001</a:t>
              </a:r>
              <a:r>
                <a:rPr lang="en-US" altLang="zh-CN" sz="2200" dirty="0">
                  <a:latin typeface="微软雅黑" panose="020B0503020204020204" pitchFamily="34" charset="-122"/>
                  <a:ea typeface="微软雅黑" panose="020B0503020204020204" pitchFamily="34" charset="-122"/>
                </a:rPr>
                <a:t>x2</a:t>
              </a:r>
              <a:r>
                <a:rPr lang="en-US" altLang="zh-CN" sz="2200" baseline="30000" dirty="0">
                  <a:latin typeface="微软雅黑" panose="020B0503020204020204" pitchFamily="34" charset="-122"/>
                  <a:ea typeface="微软雅黑" panose="020B0503020204020204" pitchFamily="34" charset="-122"/>
                </a:rPr>
                <a:t>-126</a:t>
              </a:r>
              <a:endParaRPr lang="en-US" altLang="zh-CN" sz="2200" baseline="30000" dirty="0">
                <a:latin typeface="微软雅黑" panose="020B0503020204020204" pitchFamily="34" charset="-122"/>
                <a:ea typeface="微软雅黑" panose="020B0503020204020204" pitchFamily="34" charset="-122"/>
              </a:endParaRPr>
            </a:p>
          </p:txBody>
        </p:sp>
        <p:sp>
          <p:nvSpPr>
            <p:cNvPr id="122887" name="Line 8"/>
            <p:cNvSpPr/>
            <p:nvPr/>
          </p:nvSpPr>
          <p:spPr>
            <a:xfrm flipV="1">
              <a:off x="3844" y="1678"/>
              <a:ext cx="709" cy="652"/>
            </a:xfrm>
            <a:prstGeom prst="line">
              <a:avLst/>
            </a:prstGeom>
            <a:ln w="9525" cap="flat" cmpd="sng">
              <a:solidFill>
                <a:schemeClr val="tx1"/>
              </a:solidFill>
              <a:prstDash val="solid"/>
              <a:round/>
              <a:headEnd type="none" w="med" len="med"/>
              <a:tailEnd type="triangl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9443">
                                            <p:txEl>
                                              <p:charRg st="39" end="81"/>
                                            </p:txEl>
                                          </p:spTgt>
                                        </p:tgtEl>
                                        <p:attrNameLst>
                                          <p:attrName>style.visibility</p:attrName>
                                        </p:attrNameLst>
                                      </p:cBhvr>
                                      <p:to>
                                        <p:strVal val="visible"/>
                                      </p:to>
                                    </p:set>
                                    <p:animEffect transition="in" filter="blinds(horizontal)">
                                      <p:cBhvr>
                                        <p:cTn id="7" dur="500"/>
                                        <p:tgtEl>
                                          <p:spTgt spid="189443">
                                            <p:txEl>
                                              <p:charRg st="39" end="8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9443">
                                            <p:txEl>
                                              <p:charRg st="81" end="124"/>
                                            </p:txEl>
                                          </p:spTgt>
                                        </p:tgtEl>
                                        <p:attrNameLst>
                                          <p:attrName>style.visibility</p:attrName>
                                        </p:attrNameLst>
                                      </p:cBhvr>
                                      <p:to>
                                        <p:strVal val="visible"/>
                                      </p:to>
                                    </p:set>
                                    <p:animEffect transition="in" filter="blinds(horizontal)">
                                      <p:cBhvr>
                                        <p:cTn id="12" dur="500"/>
                                        <p:tgtEl>
                                          <p:spTgt spid="189443">
                                            <p:txEl>
                                              <p:charRg st="81" end="1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9443">
                                            <p:txEl>
                                              <p:charRg st="124" end="150"/>
                                            </p:txEl>
                                          </p:spTgt>
                                        </p:tgtEl>
                                        <p:attrNameLst>
                                          <p:attrName>style.visibility</p:attrName>
                                        </p:attrNameLst>
                                      </p:cBhvr>
                                      <p:to>
                                        <p:strVal val="visible"/>
                                      </p:to>
                                    </p:set>
                                    <p:animEffect transition="in" filter="blinds(horizontal)">
                                      <p:cBhvr>
                                        <p:cTn id="17" dur="500"/>
                                        <p:tgtEl>
                                          <p:spTgt spid="189443">
                                            <p:txEl>
                                              <p:charRg st="124" end="1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9443">
                                            <p:txEl>
                                              <p:charRg st="150" end="159"/>
                                            </p:txEl>
                                          </p:spTgt>
                                        </p:tgtEl>
                                        <p:attrNameLst>
                                          <p:attrName>style.visibility</p:attrName>
                                        </p:attrNameLst>
                                      </p:cBhvr>
                                      <p:to>
                                        <p:strVal val="visible"/>
                                      </p:to>
                                    </p:set>
                                    <p:animEffect transition="in" filter="blinds(horizontal)">
                                      <p:cBhvr>
                                        <p:cTn id="22" dur="500"/>
                                        <p:tgtEl>
                                          <p:spTgt spid="189443">
                                            <p:txEl>
                                              <p:charRg st="150" end="15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9443">
                                            <p:txEl>
                                              <p:charRg st="159" end="222"/>
                                            </p:txEl>
                                          </p:spTgt>
                                        </p:tgtEl>
                                        <p:attrNameLst>
                                          <p:attrName>style.visibility</p:attrName>
                                        </p:attrNameLst>
                                      </p:cBhvr>
                                      <p:to>
                                        <p:strVal val="visible"/>
                                      </p:to>
                                    </p:set>
                                    <p:animEffect transition="in" filter="blinds(horizontal)">
                                      <p:cBhvr>
                                        <p:cTn id="27" dur="500"/>
                                        <p:tgtEl>
                                          <p:spTgt spid="189443">
                                            <p:txEl>
                                              <p:charRg st="159" end="222"/>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89443">
                                            <p:txEl>
                                              <p:charRg st="222" end="259"/>
                                            </p:txEl>
                                          </p:spTgt>
                                        </p:tgtEl>
                                        <p:attrNameLst>
                                          <p:attrName>style.visibility</p:attrName>
                                        </p:attrNameLst>
                                      </p:cBhvr>
                                      <p:to>
                                        <p:strVal val="visible"/>
                                      </p:to>
                                    </p:set>
                                    <p:animEffect transition="in" filter="blinds(horizontal)">
                                      <p:cBhvr>
                                        <p:cTn id="30" dur="500"/>
                                        <p:tgtEl>
                                          <p:spTgt spid="189443">
                                            <p:txEl>
                                              <p:charRg st="222" end="25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45481"/>
                                        </p:tgtEl>
                                        <p:attrNameLst>
                                          <p:attrName>style.visibility</p:attrName>
                                        </p:attrNameLst>
                                      </p:cBhvr>
                                      <p:to>
                                        <p:strVal val="visible"/>
                                      </p:to>
                                    </p:set>
                                    <p:animEffect transition="in" filter="blinds(horizontal)">
                                      <p:cBhvr>
                                        <p:cTn id="35" dur="500"/>
                                        <p:tgtEl>
                                          <p:spTgt spid="745481"/>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89443">
                                            <p:txEl>
                                              <p:charRg st="259" end="299"/>
                                            </p:txEl>
                                          </p:spTgt>
                                        </p:tgtEl>
                                        <p:attrNameLst>
                                          <p:attrName>style.visibility</p:attrName>
                                        </p:attrNameLst>
                                      </p:cBhvr>
                                      <p:to>
                                        <p:strVal val="visible"/>
                                      </p:to>
                                    </p:set>
                                    <p:animEffect transition="in" filter="blinds(horizontal)">
                                      <p:cBhvr>
                                        <p:cTn id="40" dur="500"/>
                                        <p:tgtEl>
                                          <p:spTgt spid="189443">
                                            <p:txEl>
                                              <p:charRg st="259" end="299"/>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89443">
                                            <p:txEl>
                                              <p:charRg st="299" end="336"/>
                                            </p:txEl>
                                          </p:spTgt>
                                        </p:tgtEl>
                                        <p:attrNameLst>
                                          <p:attrName>style.visibility</p:attrName>
                                        </p:attrNameLst>
                                      </p:cBhvr>
                                      <p:to>
                                        <p:strVal val="visible"/>
                                      </p:to>
                                    </p:set>
                                    <p:animEffect transition="in" filter="blinds(horizontal)">
                                      <p:cBhvr>
                                        <p:cTn id="43" dur="500"/>
                                        <p:tgtEl>
                                          <p:spTgt spid="189443">
                                            <p:txEl>
                                              <p:charRg st="299" end="33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89448"/>
                                        </p:tgtEl>
                                        <p:attrNameLst>
                                          <p:attrName>style.visibility</p:attrName>
                                        </p:attrNameLst>
                                      </p:cBhvr>
                                      <p:to>
                                        <p:strVal val="visible"/>
                                      </p:to>
                                    </p:set>
                                    <p:animEffect transition="in" filter="blinds(horizontal)">
                                      <p:cBhvr>
                                        <p:cTn id="48" dur="500"/>
                                        <p:tgtEl>
                                          <p:spTgt spid="18944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89443">
                                            <p:txEl>
                                              <p:charRg st="338" end="371"/>
                                            </p:txEl>
                                          </p:spTgt>
                                        </p:tgtEl>
                                        <p:attrNameLst>
                                          <p:attrName>style.visibility</p:attrName>
                                        </p:attrNameLst>
                                      </p:cBhvr>
                                      <p:to>
                                        <p:strVal val="visible"/>
                                      </p:to>
                                    </p:set>
                                    <p:animEffect transition="in" filter="blinds(horizontal)">
                                      <p:cBhvr>
                                        <p:cTn id="53" dur="500"/>
                                        <p:tgtEl>
                                          <p:spTgt spid="189443">
                                            <p:txEl>
                                              <p:charRg st="338" end="37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89443">
                                            <p:txEl>
                                              <p:charRg st="371" end="396"/>
                                            </p:txEl>
                                          </p:spTgt>
                                        </p:tgtEl>
                                        <p:attrNameLst>
                                          <p:attrName>style.visibility</p:attrName>
                                        </p:attrNameLst>
                                      </p:cBhvr>
                                      <p:to>
                                        <p:strVal val="visible"/>
                                      </p:to>
                                    </p:set>
                                    <p:animEffect transition="in" filter="blinds(horizontal)">
                                      <p:cBhvr>
                                        <p:cTn id="58" dur="500"/>
                                        <p:tgtEl>
                                          <p:spTgt spid="189443">
                                            <p:txEl>
                                              <p:charRg st="371" end="39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89449">
                                            <p:txEl>
                                              <p:charRg st="0" end="24"/>
                                            </p:txEl>
                                          </p:spTgt>
                                        </p:tgtEl>
                                        <p:attrNameLst>
                                          <p:attrName>style.visibility</p:attrName>
                                        </p:attrNameLst>
                                      </p:cBhvr>
                                      <p:to>
                                        <p:strVal val="visible"/>
                                      </p:to>
                                    </p:set>
                                    <p:animEffect transition="in" filter="blinds(horizontal)">
                                      <p:cBhvr>
                                        <p:cTn id="63" dur="500"/>
                                        <p:tgtEl>
                                          <p:spTgt spid="189449">
                                            <p:txEl>
                                              <p:charRg st="0" end="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Rectangle 2"/>
          <p:cNvSpPr>
            <a:spLocks noGrp="1"/>
          </p:cNvSpPr>
          <p:nvPr>
            <p:ph type="title" idx="4294967295"/>
          </p:nvPr>
        </p:nvSpPr>
        <p:spPr>
          <a:xfrm>
            <a:off x="1376363" y="98425"/>
            <a:ext cx="5800725" cy="479425"/>
          </a:xfrm>
          <a:ln/>
        </p:spPr>
        <p:txBody>
          <a:bodyPr vert="horz" wrap="square" lIns="63500" tIns="25400" rIns="63500" bIns="25400" anchor="t" anchorCtr="0">
            <a:spAutoFit/>
          </a:bodyPr>
          <a:p>
            <a:r>
              <a:rPr lang="zh-CN" altLang="en-US" dirty="0">
                <a:latin typeface="黑体" panose="02010609060101010101" pitchFamily="49" charset="-122"/>
                <a:ea typeface="黑体" panose="02010609060101010101" pitchFamily="49" charset="-122"/>
              </a:rPr>
              <a:t>回顾：浮点数加法运算举例</a:t>
            </a:r>
            <a:r>
              <a:rPr lang="zh-CN" altLang="en-US" dirty="0">
                <a:ea typeface="宋体" panose="02010600030101010101" pitchFamily="2" charset="-122"/>
              </a:rPr>
              <a:t> </a:t>
            </a:r>
            <a:endParaRPr lang="zh-CN" altLang="en-US" sz="2400" dirty="0">
              <a:ea typeface="宋体" panose="02010600030101010101" pitchFamily="2" charset="-122"/>
            </a:endParaRPr>
          </a:p>
        </p:txBody>
      </p:sp>
      <p:sp>
        <p:nvSpPr>
          <p:cNvPr id="123906" name="Rectangle 4"/>
          <p:cNvSpPr/>
          <p:nvPr/>
        </p:nvSpPr>
        <p:spPr>
          <a:xfrm>
            <a:off x="4392613" y="3640138"/>
            <a:ext cx="0" cy="182562"/>
          </a:xfrm>
          <a:prstGeom prst="rect">
            <a:avLst/>
          </a:prstGeom>
          <a:noFill/>
          <a:ln w="9525">
            <a:noFill/>
          </a:ln>
        </p:spPr>
        <p:txBody>
          <a:bodyPr wrap="none" lIns="0" tIns="0" rIns="0" bIns="0" anchor="t" anchorCtr="0">
            <a:spAutoFit/>
          </a:bodyPr>
          <a:p>
            <a:pPr eaLnBrk="0" hangingPunct="0">
              <a:buClrTx/>
              <a:buFontTx/>
            </a:pPr>
            <a:endParaRPr lang="zh-CN" altLang="en-US" sz="1200" dirty="0">
              <a:latin typeface="Times New Roman" panose="02020603050405020304" pitchFamily="18" charset="0"/>
              <a:ea typeface="宋体" panose="02010600030101010101" pitchFamily="2" charset="-122"/>
            </a:endParaRPr>
          </a:p>
        </p:txBody>
      </p:sp>
      <p:sp>
        <p:nvSpPr>
          <p:cNvPr id="123907" name="Rectangle 5"/>
          <p:cNvSpPr/>
          <p:nvPr/>
        </p:nvSpPr>
        <p:spPr>
          <a:xfrm>
            <a:off x="5287963" y="2741613"/>
            <a:ext cx="0" cy="182562"/>
          </a:xfrm>
          <a:prstGeom prst="rect">
            <a:avLst/>
          </a:prstGeom>
          <a:noFill/>
          <a:ln w="9525">
            <a:noFill/>
          </a:ln>
        </p:spPr>
        <p:txBody>
          <a:bodyPr wrap="none" lIns="0" tIns="0" rIns="0" bIns="0" anchor="t" anchorCtr="0">
            <a:spAutoFit/>
          </a:bodyPr>
          <a:p>
            <a:pPr eaLnBrk="0" hangingPunct="0">
              <a:buClrTx/>
              <a:buFontTx/>
            </a:pPr>
            <a:endParaRPr lang="zh-CN" altLang="en-US" sz="1200" dirty="0">
              <a:latin typeface="Times New Roman" panose="02020603050405020304" pitchFamily="18" charset="0"/>
              <a:ea typeface="宋体" panose="02010600030101010101" pitchFamily="2" charset="-122"/>
            </a:endParaRPr>
          </a:p>
        </p:txBody>
      </p:sp>
      <p:sp>
        <p:nvSpPr>
          <p:cNvPr id="123908" name="Rectangle 6"/>
          <p:cNvSpPr/>
          <p:nvPr/>
        </p:nvSpPr>
        <p:spPr>
          <a:xfrm>
            <a:off x="5164138" y="2863850"/>
            <a:ext cx="0" cy="182563"/>
          </a:xfrm>
          <a:prstGeom prst="rect">
            <a:avLst/>
          </a:prstGeom>
          <a:noFill/>
          <a:ln w="9525">
            <a:noFill/>
          </a:ln>
        </p:spPr>
        <p:txBody>
          <a:bodyPr wrap="none" lIns="0" tIns="0" rIns="0" bIns="0" anchor="t" anchorCtr="0">
            <a:spAutoFit/>
          </a:bodyPr>
          <a:p>
            <a:pPr eaLnBrk="0" hangingPunct="0">
              <a:buClrTx/>
              <a:buFontTx/>
            </a:pPr>
            <a:endParaRPr lang="zh-CN" altLang="en-US" sz="1200" dirty="0">
              <a:latin typeface="Times New Roman" panose="02020603050405020304" pitchFamily="18" charset="0"/>
              <a:ea typeface="宋体" panose="02010600030101010101" pitchFamily="2" charset="-122"/>
            </a:endParaRPr>
          </a:p>
        </p:txBody>
      </p:sp>
      <p:sp>
        <p:nvSpPr>
          <p:cNvPr id="123909" name="Rectangle 7"/>
          <p:cNvSpPr/>
          <p:nvPr/>
        </p:nvSpPr>
        <p:spPr>
          <a:xfrm>
            <a:off x="5343525" y="1422400"/>
            <a:ext cx="0" cy="182563"/>
          </a:xfrm>
          <a:prstGeom prst="rect">
            <a:avLst/>
          </a:prstGeom>
          <a:noFill/>
          <a:ln w="9525">
            <a:noFill/>
          </a:ln>
        </p:spPr>
        <p:txBody>
          <a:bodyPr wrap="none" lIns="0" tIns="0" rIns="0" bIns="0" anchor="t" anchorCtr="0">
            <a:spAutoFit/>
          </a:bodyPr>
          <a:p>
            <a:pPr eaLnBrk="0" hangingPunct="0">
              <a:buClrTx/>
              <a:buFontTx/>
            </a:pPr>
            <a:endParaRPr lang="zh-CN" altLang="en-US" sz="1200" dirty="0">
              <a:latin typeface="Times New Roman" panose="02020603050405020304" pitchFamily="18" charset="0"/>
              <a:ea typeface="宋体" panose="02010600030101010101" pitchFamily="2" charset="-122"/>
            </a:endParaRPr>
          </a:p>
        </p:txBody>
      </p:sp>
      <p:sp>
        <p:nvSpPr>
          <p:cNvPr id="123910" name="Rectangle 8"/>
          <p:cNvSpPr/>
          <p:nvPr/>
        </p:nvSpPr>
        <p:spPr>
          <a:xfrm>
            <a:off x="5222875" y="1544638"/>
            <a:ext cx="0" cy="182562"/>
          </a:xfrm>
          <a:prstGeom prst="rect">
            <a:avLst/>
          </a:prstGeom>
          <a:noFill/>
          <a:ln w="9525">
            <a:noFill/>
          </a:ln>
        </p:spPr>
        <p:txBody>
          <a:bodyPr wrap="none" lIns="0" tIns="0" rIns="0" bIns="0" anchor="t" anchorCtr="0">
            <a:spAutoFit/>
          </a:bodyPr>
          <a:p>
            <a:pPr eaLnBrk="0" hangingPunct="0">
              <a:buClrTx/>
              <a:buFontTx/>
            </a:pPr>
            <a:endParaRPr lang="zh-CN" altLang="en-US" sz="1200" dirty="0">
              <a:latin typeface="Times New Roman" panose="02020603050405020304" pitchFamily="18" charset="0"/>
              <a:ea typeface="宋体" panose="02010600030101010101" pitchFamily="2" charset="-122"/>
            </a:endParaRPr>
          </a:p>
        </p:txBody>
      </p:sp>
      <p:sp>
        <p:nvSpPr>
          <p:cNvPr id="123911" name="Text Box 442"/>
          <p:cNvSpPr txBox="1"/>
          <p:nvPr/>
        </p:nvSpPr>
        <p:spPr>
          <a:xfrm>
            <a:off x="431800" y="863600"/>
            <a:ext cx="7842250" cy="430213"/>
          </a:xfrm>
          <a:prstGeom prst="rect">
            <a:avLst/>
          </a:prstGeom>
          <a:noFill/>
          <a:ln w="12700">
            <a:noFill/>
          </a:ln>
        </p:spPr>
        <p:txBody>
          <a:bodyPr anchor="t" anchorCtr="0">
            <a:spAutoFit/>
          </a:bodyPr>
          <a:p>
            <a:pPr eaLnBrk="0" hangingPunct="0">
              <a:buClrTx/>
              <a:buFontTx/>
            </a:pPr>
            <a:r>
              <a:rPr lang="zh-CN" altLang="en-US" sz="2200" dirty="0">
                <a:latin typeface="微软雅黑" panose="020B0503020204020204" pitchFamily="34" charset="-122"/>
                <a:ea typeface="微软雅黑" panose="020B0503020204020204" pitchFamily="34" charset="-122"/>
              </a:rPr>
              <a:t>例：用二进制浮点数形式计算 0.5 </a:t>
            </a:r>
            <a:r>
              <a:rPr lang="en-US" altLang="zh-CN" sz="2200" dirty="0">
                <a:latin typeface="微软雅黑" panose="020B0503020204020204" pitchFamily="34" charset="-122"/>
                <a:ea typeface="微软雅黑" panose="020B0503020204020204" pitchFamily="34" charset="-122"/>
              </a:rPr>
              <a:t>+(– 0.4375) =</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p:txBody>
      </p:sp>
      <p:sp>
        <p:nvSpPr>
          <p:cNvPr id="190907" name="Text Box 443"/>
          <p:cNvSpPr txBox="1"/>
          <p:nvPr/>
        </p:nvSpPr>
        <p:spPr>
          <a:xfrm>
            <a:off x="836613" y="2168525"/>
            <a:ext cx="8101012" cy="1865313"/>
          </a:xfrm>
          <a:prstGeom prst="rect">
            <a:avLst/>
          </a:prstGeom>
          <a:noFill/>
          <a:ln w="12700">
            <a:noFill/>
          </a:ln>
        </p:spPr>
        <p:txBody>
          <a:bodyPr anchor="t" anchorCtr="0">
            <a:spAutoFit/>
          </a:bodyPr>
          <a:p>
            <a:pPr eaLnBrk="0" hangingPunct="0">
              <a:buClrTx/>
              <a:buFontTx/>
            </a:pPr>
            <a:endParaRPr lang="en-US" altLang="zh-CN" sz="1400" dirty="0">
              <a:latin typeface="Arial" panose="020B0604020202020204" pitchFamily="34" charset="0"/>
            </a:endParaRPr>
          </a:p>
          <a:p>
            <a:pPr eaLnBrk="0" hangingPunct="0">
              <a:spcBef>
                <a:spcPct val="15000"/>
              </a:spcBef>
              <a:buClrTx/>
              <a:buFontTx/>
            </a:pPr>
            <a:r>
              <a:rPr lang="zh-CN" altLang="en-US" sz="2200" dirty="0">
                <a:solidFill>
                  <a:srgbClr val="FF0066"/>
                </a:solidFill>
                <a:latin typeface="微软雅黑" panose="020B0503020204020204" pitchFamily="34" charset="-122"/>
                <a:ea typeface="微软雅黑" panose="020B0503020204020204" pitchFamily="34" charset="-122"/>
              </a:rPr>
              <a:t>对    阶</a:t>
            </a:r>
            <a:r>
              <a:rPr lang="en-US" altLang="zh-CN" sz="2200" dirty="0">
                <a:solidFill>
                  <a:srgbClr val="FF0066"/>
                </a:solidFill>
                <a:latin typeface="微软雅黑" panose="020B0503020204020204" pitchFamily="34" charset="-122"/>
                <a:ea typeface="微软雅黑" panose="020B0503020204020204" pitchFamily="34" charset="-122"/>
              </a:rPr>
              <a:t>:  -1.110 x 2</a:t>
            </a:r>
            <a:r>
              <a:rPr lang="en-US" altLang="zh-CN" sz="2200" baseline="30000" dirty="0">
                <a:solidFill>
                  <a:srgbClr val="FF0066"/>
                </a:solidFill>
                <a:latin typeface="微软雅黑" panose="020B0503020204020204" pitchFamily="34" charset="-122"/>
                <a:ea typeface="微软雅黑" panose="020B0503020204020204" pitchFamily="34" charset="-122"/>
              </a:rPr>
              <a:t>-2</a:t>
            </a:r>
            <a:r>
              <a:rPr lang="en-US" altLang="zh-CN" sz="2200" dirty="0">
                <a:solidFill>
                  <a:srgbClr val="FF0066"/>
                </a:solidFill>
                <a:latin typeface="微软雅黑" panose="020B0503020204020204" pitchFamily="34" charset="-122"/>
                <a:ea typeface="微软雅黑" panose="020B0503020204020204" pitchFamily="34" charset="-122"/>
              </a:rPr>
              <a:t>   → -0.111 x 2</a:t>
            </a:r>
            <a:r>
              <a:rPr lang="en-US" altLang="zh-CN" sz="2200" baseline="30000" dirty="0">
                <a:solidFill>
                  <a:srgbClr val="FF0066"/>
                </a:solidFill>
                <a:latin typeface="微软雅黑" panose="020B0503020204020204" pitchFamily="34" charset="-122"/>
                <a:ea typeface="微软雅黑" panose="020B0503020204020204" pitchFamily="34" charset="-122"/>
              </a:rPr>
              <a:t>-1</a:t>
            </a:r>
            <a:r>
              <a:rPr lang="en-US" altLang="zh-CN" sz="2200" dirty="0">
                <a:solidFill>
                  <a:srgbClr val="FF0066"/>
                </a:solidFill>
                <a:latin typeface="微软雅黑" panose="020B0503020204020204" pitchFamily="34" charset="-122"/>
                <a:ea typeface="微软雅黑" panose="020B0503020204020204" pitchFamily="34" charset="-122"/>
              </a:rPr>
              <a:t> </a:t>
            </a:r>
            <a:endParaRPr lang="en-US" altLang="zh-CN" sz="2200" dirty="0">
              <a:solidFill>
                <a:srgbClr val="FF0066"/>
              </a:solidFill>
              <a:latin typeface="微软雅黑" panose="020B0503020204020204" pitchFamily="34" charset="-122"/>
              <a:ea typeface="微软雅黑" panose="020B0503020204020204" pitchFamily="34" charset="-122"/>
            </a:endParaRPr>
          </a:p>
          <a:p>
            <a:pPr eaLnBrk="0" hangingPunct="0">
              <a:spcBef>
                <a:spcPct val="15000"/>
              </a:spcBef>
              <a:buClrTx/>
              <a:buFontTx/>
            </a:pPr>
            <a:r>
              <a:rPr lang="zh-CN" altLang="en-US" sz="2200" dirty="0">
                <a:solidFill>
                  <a:srgbClr val="FF0066"/>
                </a:solidFill>
                <a:latin typeface="微软雅黑" panose="020B0503020204020204" pitchFamily="34" charset="-122"/>
                <a:ea typeface="微软雅黑" panose="020B0503020204020204" pitchFamily="34" charset="-122"/>
              </a:rPr>
              <a:t>加    减</a:t>
            </a:r>
            <a:r>
              <a:rPr lang="en-US" altLang="zh-CN" sz="2200" dirty="0">
                <a:solidFill>
                  <a:srgbClr val="FF0066"/>
                </a:solidFill>
                <a:latin typeface="微软雅黑" panose="020B0503020204020204" pitchFamily="34" charset="-122"/>
                <a:ea typeface="微软雅黑" panose="020B0503020204020204" pitchFamily="34" charset="-122"/>
              </a:rPr>
              <a:t>:  1.000 x 2</a:t>
            </a:r>
            <a:r>
              <a:rPr lang="en-US" altLang="zh-CN" sz="2200" baseline="30000" dirty="0">
                <a:solidFill>
                  <a:srgbClr val="FF0066"/>
                </a:solidFill>
                <a:latin typeface="微软雅黑" panose="020B0503020204020204" pitchFamily="34" charset="-122"/>
                <a:ea typeface="微软雅黑" panose="020B0503020204020204" pitchFamily="34" charset="-122"/>
              </a:rPr>
              <a:t>-1</a:t>
            </a:r>
            <a:r>
              <a:rPr lang="en-US" altLang="zh-CN" sz="2200" dirty="0">
                <a:solidFill>
                  <a:srgbClr val="FF0066"/>
                </a:solidFill>
                <a:latin typeface="微软雅黑" panose="020B0503020204020204" pitchFamily="34" charset="-122"/>
                <a:ea typeface="微软雅黑" panose="020B0503020204020204" pitchFamily="34" charset="-122"/>
              </a:rPr>
              <a:t>  +( -0.111 x 2</a:t>
            </a:r>
            <a:r>
              <a:rPr lang="en-US" altLang="zh-CN" sz="2200" baseline="30000" dirty="0">
                <a:solidFill>
                  <a:srgbClr val="FF0066"/>
                </a:solidFill>
                <a:latin typeface="微软雅黑" panose="020B0503020204020204" pitchFamily="34" charset="-122"/>
                <a:ea typeface="微软雅黑" panose="020B0503020204020204" pitchFamily="34" charset="-122"/>
              </a:rPr>
              <a:t>-1</a:t>
            </a:r>
            <a:r>
              <a:rPr lang="en-US" altLang="zh-CN" sz="2200" dirty="0">
                <a:solidFill>
                  <a:srgbClr val="FF0066"/>
                </a:solidFill>
                <a:latin typeface="微软雅黑" panose="020B0503020204020204" pitchFamily="34" charset="-122"/>
                <a:ea typeface="微软雅黑" panose="020B0503020204020204" pitchFamily="34" charset="-122"/>
              </a:rPr>
              <a:t> )  = 0.001 x 2</a:t>
            </a:r>
            <a:r>
              <a:rPr lang="en-US" altLang="zh-CN" sz="2200" baseline="30000" dirty="0">
                <a:solidFill>
                  <a:srgbClr val="FF0066"/>
                </a:solidFill>
                <a:latin typeface="微软雅黑" panose="020B0503020204020204" pitchFamily="34" charset="-122"/>
                <a:ea typeface="微软雅黑" panose="020B0503020204020204" pitchFamily="34" charset="-122"/>
              </a:rPr>
              <a:t>-1</a:t>
            </a:r>
            <a:r>
              <a:rPr lang="en-US" altLang="zh-CN" sz="2200" dirty="0">
                <a:solidFill>
                  <a:srgbClr val="FF0066"/>
                </a:solidFill>
                <a:latin typeface="微软雅黑" panose="020B0503020204020204" pitchFamily="34" charset="-122"/>
                <a:ea typeface="微软雅黑" panose="020B0503020204020204" pitchFamily="34" charset="-122"/>
              </a:rPr>
              <a:t> </a:t>
            </a:r>
            <a:endParaRPr lang="en-US" altLang="zh-CN" sz="2200" dirty="0">
              <a:solidFill>
                <a:srgbClr val="FF0066"/>
              </a:solidFill>
              <a:latin typeface="微软雅黑" panose="020B0503020204020204" pitchFamily="34" charset="-122"/>
              <a:ea typeface="微软雅黑" panose="020B0503020204020204" pitchFamily="34" charset="-122"/>
            </a:endParaRPr>
          </a:p>
          <a:p>
            <a:pPr eaLnBrk="0" hangingPunct="0">
              <a:spcBef>
                <a:spcPct val="15000"/>
              </a:spcBef>
              <a:buClrTx/>
              <a:buFontTx/>
            </a:pPr>
            <a:r>
              <a:rPr lang="zh-CN" altLang="en-US" sz="2200" dirty="0">
                <a:solidFill>
                  <a:srgbClr val="FF0066"/>
                </a:solidFill>
                <a:latin typeface="微软雅黑" panose="020B0503020204020204" pitchFamily="34" charset="-122"/>
                <a:ea typeface="微软雅黑" panose="020B0503020204020204" pitchFamily="34" charset="-122"/>
              </a:rPr>
              <a:t>左    规</a:t>
            </a:r>
            <a:r>
              <a:rPr lang="en-US" altLang="zh-CN" sz="2200" dirty="0">
                <a:solidFill>
                  <a:srgbClr val="FF0066"/>
                </a:solidFill>
                <a:latin typeface="微软雅黑" panose="020B0503020204020204" pitchFamily="34" charset="-122"/>
                <a:ea typeface="微软雅黑" panose="020B0503020204020204" pitchFamily="34" charset="-122"/>
              </a:rPr>
              <a:t>:  0.001 x 2</a:t>
            </a:r>
            <a:r>
              <a:rPr lang="en-US" altLang="zh-CN" sz="2200" baseline="30000" dirty="0">
                <a:solidFill>
                  <a:srgbClr val="FF0066"/>
                </a:solidFill>
                <a:latin typeface="微软雅黑" panose="020B0503020204020204" pitchFamily="34" charset="-122"/>
                <a:ea typeface="微软雅黑" panose="020B0503020204020204" pitchFamily="34" charset="-122"/>
              </a:rPr>
              <a:t>-1</a:t>
            </a:r>
            <a:r>
              <a:rPr lang="en-US" altLang="zh-CN" sz="2200" dirty="0">
                <a:solidFill>
                  <a:srgbClr val="FF0066"/>
                </a:solidFill>
                <a:latin typeface="微软雅黑" panose="020B0503020204020204" pitchFamily="34" charset="-122"/>
                <a:ea typeface="微软雅黑" panose="020B0503020204020204" pitchFamily="34" charset="-122"/>
              </a:rPr>
              <a:t> → 1.000 x 2</a:t>
            </a:r>
            <a:r>
              <a:rPr lang="en-US" altLang="zh-CN" sz="2200" baseline="30000" dirty="0">
                <a:solidFill>
                  <a:srgbClr val="FF0066"/>
                </a:solidFill>
                <a:latin typeface="微软雅黑" panose="020B0503020204020204" pitchFamily="34" charset="-122"/>
                <a:ea typeface="微软雅黑" panose="020B0503020204020204" pitchFamily="34" charset="-122"/>
              </a:rPr>
              <a:t>–4</a:t>
            </a:r>
            <a:endParaRPr lang="en-US" altLang="zh-CN" sz="2200" baseline="30000" dirty="0">
              <a:solidFill>
                <a:srgbClr val="FF0066"/>
              </a:solidFill>
              <a:latin typeface="微软雅黑" panose="020B0503020204020204" pitchFamily="34" charset="-122"/>
              <a:ea typeface="微软雅黑" panose="020B0503020204020204" pitchFamily="34" charset="-122"/>
            </a:endParaRPr>
          </a:p>
          <a:p>
            <a:pPr eaLnBrk="0" hangingPunct="0">
              <a:spcBef>
                <a:spcPct val="15000"/>
              </a:spcBef>
              <a:buClrTx/>
              <a:buFontTx/>
            </a:pPr>
            <a:r>
              <a:rPr lang="zh-CN" altLang="en-US" sz="2200" dirty="0">
                <a:solidFill>
                  <a:srgbClr val="FF0066"/>
                </a:solidFill>
                <a:latin typeface="微软雅黑" panose="020B0503020204020204" pitchFamily="34" charset="-122"/>
                <a:ea typeface="微软雅黑" panose="020B0503020204020204" pitchFamily="34" charset="-122"/>
              </a:rPr>
              <a:t>判溢出</a:t>
            </a:r>
            <a:r>
              <a:rPr lang="en-US" altLang="zh-CN" sz="2200" dirty="0">
                <a:solidFill>
                  <a:srgbClr val="FF0066"/>
                </a:solidFill>
                <a:latin typeface="微软雅黑" panose="020B0503020204020204" pitchFamily="34" charset="-122"/>
                <a:ea typeface="微软雅黑" panose="020B0503020204020204" pitchFamily="34" charset="-122"/>
              </a:rPr>
              <a:t>:  </a:t>
            </a:r>
            <a:r>
              <a:rPr lang="zh-CN" altLang="en-US" sz="2200" dirty="0">
                <a:solidFill>
                  <a:srgbClr val="FF0066"/>
                </a:solidFill>
                <a:latin typeface="微软雅黑" panose="020B0503020204020204" pitchFamily="34" charset="-122"/>
                <a:ea typeface="微软雅黑" panose="020B0503020204020204" pitchFamily="34" charset="-122"/>
              </a:rPr>
              <a:t>无</a:t>
            </a:r>
            <a:endParaRPr lang="en-US" altLang="zh-CN" sz="2200" dirty="0">
              <a:solidFill>
                <a:srgbClr val="006600"/>
              </a:solidFill>
              <a:latin typeface="Arial" panose="020B0604020202020204" pitchFamily="34" charset="0"/>
            </a:endParaRPr>
          </a:p>
        </p:txBody>
      </p:sp>
      <p:sp>
        <p:nvSpPr>
          <p:cNvPr id="190908" name="Rectangle 444"/>
          <p:cNvSpPr/>
          <p:nvPr/>
        </p:nvSpPr>
        <p:spPr>
          <a:xfrm>
            <a:off x="566738" y="1943100"/>
            <a:ext cx="7470775" cy="430213"/>
          </a:xfrm>
          <a:prstGeom prst="rect">
            <a:avLst/>
          </a:prstGeom>
          <a:noFill/>
          <a:ln w="12700">
            <a:noFill/>
          </a:ln>
        </p:spPr>
        <p:txBody>
          <a:bodyPr anchor="t" anchorCtr="0">
            <a:spAutoFit/>
          </a:bodyPr>
          <a:p>
            <a:pPr eaLnBrk="0" hangingPunct="0">
              <a:buClrTx/>
              <a:buFontTx/>
            </a:pPr>
            <a:r>
              <a:rPr lang="zh-CN" altLang="en-US" sz="2200" dirty="0">
                <a:solidFill>
                  <a:schemeClr val="accent2"/>
                </a:solidFill>
                <a:latin typeface="微软雅黑" panose="020B0503020204020204" pitchFamily="34" charset="-122"/>
                <a:ea typeface="微软雅黑" panose="020B0503020204020204" pitchFamily="34" charset="-122"/>
              </a:rPr>
              <a:t>解：0.5 </a:t>
            </a:r>
            <a:r>
              <a:rPr lang="en-US" altLang="zh-CN" sz="2200" dirty="0">
                <a:solidFill>
                  <a:schemeClr val="accent2"/>
                </a:solidFill>
                <a:latin typeface="微软雅黑" panose="020B0503020204020204" pitchFamily="34" charset="-122"/>
                <a:ea typeface="微软雅黑" panose="020B0503020204020204" pitchFamily="34" charset="-122"/>
              </a:rPr>
              <a:t>= 1.000 x 2</a:t>
            </a:r>
            <a:r>
              <a:rPr lang="en-US" altLang="zh-CN" sz="2200" baseline="30000" dirty="0">
                <a:solidFill>
                  <a:schemeClr val="accent2"/>
                </a:solidFill>
                <a:latin typeface="微软雅黑" panose="020B0503020204020204" pitchFamily="34" charset="-122"/>
                <a:ea typeface="微软雅黑" panose="020B0503020204020204" pitchFamily="34" charset="-122"/>
              </a:rPr>
              <a:t>-1</a:t>
            </a:r>
            <a:r>
              <a:rPr lang="zh-CN" altLang="en-US" sz="2200" dirty="0">
                <a:solidFill>
                  <a:schemeClr val="accent2"/>
                </a:solidFill>
                <a:latin typeface="微软雅黑" panose="020B0503020204020204" pitchFamily="34" charset="-122"/>
                <a:ea typeface="微软雅黑" panose="020B0503020204020204" pitchFamily="34" charset="-122"/>
              </a:rPr>
              <a:t>， </a:t>
            </a:r>
            <a:r>
              <a:rPr lang="en-US" altLang="zh-CN" sz="2200" dirty="0">
                <a:solidFill>
                  <a:schemeClr val="accent2"/>
                </a:solidFill>
                <a:latin typeface="微软雅黑" panose="020B0503020204020204" pitchFamily="34" charset="-122"/>
                <a:ea typeface="微软雅黑" panose="020B0503020204020204" pitchFamily="34" charset="-122"/>
              </a:rPr>
              <a:t>- 0.4375 = -1.110 x 2</a:t>
            </a:r>
            <a:r>
              <a:rPr lang="en-US" altLang="zh-CN" sz="2200" baseline="30000" dirty="0">
                <a:solidFill>
                  <a:schemeClr val="accent2"/>
                </a:solidFill>
                <a:latin typeface="微软雅黑" panose="020B0503020204020204" pitchFamily="34" charset="-122"/>
                <a:ea typeface="微软雅黑" panose="020B0503020204020204" pitchFamily="34" charset="-122"/>
              </a:rPr>
              <a:t>-2</a:t>
            </a:r>
            <a:endParaRPr lang="zh-CN" altLang="en-US" sz="2200" baseline="30000" dirty="0">
              <a:solidFill>
                <a:schemeClr val="accent2"/>
              </a:solidFill>
              <a:latin typeface="微软雅黑" panose="020B0503020204020204" pitchFamily="34" charset="-122"/>
              <a:ea typeface="微软雅黑" panose="020B0503020204020204" pitchFamily="34" charset="-122"/>
            </a:endParaRPr>
          </a:p>
        </p:txBody>
      </p:sp>
      <p:sp>
        <p:nvSpPr>
          <p:cNvPr id="190910" name="Text Box 446"/>
          <p:cNvSpPr txBox="1"/>
          <p:nvPr/>
        </p:nvSpPr>
        <p:spPr>
          <a:xfrm>
            <a:off x="522288" y="4238625"/>
            <a:ext cx="7816850" cy="755650"/>
          </a:xfrm>
          <a:prstGeom prst="rect">
            <a:avLst/>
          </a:prstGeom>
          <a:noFill/>
          <a:ln w="12700">
            <a:noFill/>
          </a:ln>
        </p:spPr>
        <p:txBody>
          <a:bodyPr anchor="t" anchorCtr="0">
            <a:spAutoFit/>
          </a:bodyPr>
          <a:p>
            <a:pPr eaLnBrk="0" hangingPunct="0">
              <a:spcBef>
                <a:spcPct val="50000"/>
              </a:spcBef>
              <a:buClrTx/>
              <a:buFontTx/>
            </a:pPr>
            <a:r>
              <a:rPr lang="zh-CN" altLang="en-US" sz="2200" dirty="0">
                <a:latin typeface="微软雅黑" panose="020B0503020204020204" pitchFamily="34" charset="-122"/>
                <a:ea typeface="微软雅黑" panose="020B0503020204020204" pitchFamily="34" charset="-122"/>
              </a:rPr>
              <a:t>结果为： </a:t>
            </a:r>
            <a:r>
              <a:rPr lang="en-US" altLang="zh-CN" sz="2200" dirty="0">
                <a:latin typeface="微软雅黑" panose="020B0503020204020204" pitchFamily="34" charset="-122"/>
                <a:ea typeface="微软雅黑" panose="020B0503020204020204" pitchFamily="34" charset="-122"/>
              </a:rPr>
              <a:t>1.000 x 2</a:t>
            </a:r>
            <a:r>
              <a:rPr lang="en-US" altLang="zh-CN" sz="2200" baseline="30000" dirty="0">
                <a:latin typeface="微软雅黑" panose="020B0503020204020204" pitchFamily="34" charset="-122"/>
                <a:ea typeface="微软雅黑" panose="020B0503020204020204" pitchFamily="34" charset="-122"/>
              </a:rPr>
              <a:t>–4 </a:t>
            </a:r>
            <a:r>
              <a:rPr lang="en-US" altLang="zh-CN" sz="2200" dirty="0">
                <a:latin typeface="微软雅黑" panose="020B0503020204020204" pitchFamily="34" charset="-122"/>
                <a:ea typeface="微软雅黑" panose="020B0503020204020204" pitchFamily="34" charset="-122"/>
              </a:rPr>
              <a:t>= 0.0001000 = 1/16 = 0.0625</a:t>
            </a:r>
            <a:endParaRPr lang="en-US" altLang="zh-CN" sz="2200" dirty="0">
              <a:latin typeface="微软雅黑" panose="020B0503020204020204" pitchFamily="34" charset="-122"/>
              <a:ea typeface="微软雅黑" panose="020B0503020204020204" pitchFamily="34" charset="-122"/>
            </a:endParaRPr>
          </a:p>
          <a:p>
            <a:pPr eaLnBrk="0" hangingPunct="0">
              <a:spcBef>
                <a:spcPct val="50000"/>
              </a:spcBef>
              <a:buClrTx/>
              <a:buFontTx/>
            </a:pPr>
            <a:endParaRPr lang="zh-CN" altLang="en-US" sz="2000" baseline="30000" dirty="0">
              <a:latin typeface="微软雅黑" panose="020B0503020204020204" pitchFamily="34" charset="-122"/>
              <a:ea typeface="微软雅黑" panose="020B0503020204020204" pitchFamily="34" charset="-122"/>
            </a:endParaRPr>
          </a:p>
        </p:txBody>
      </p:sp>
      <p:sp>
        <p:nvSpPr>
          <p:cNvPr id="190920" name="Text Box 456"/>
          <p:cNvSpPr txBox="1"/>
          <p:nvPr/>
        </p:nvSpPr>
        <p:spPr>
          <a:xfrm>
            <a:off x="522288" y="4824413"/>
            <a:ext cx="7620000" cy="430212"/>
          </a:xfrm>
          <a:prstGeom prst="rect">
            <a:avLst/>
          </a:prstGeom>
          <a:noFill/>
          <a:ln w="12700">
            <a:noFill/>
          </a:ln>
        </p:spPr>
        <p:txBody>
          <a:bodyPr anchor="t" anchorCtr="0">
            <a:spAutoFit/>
          </a:bodyPr>
          <a:p>
            <a:pPr eaLnBrk="0" hangingPunct="0">
              <a:spcBef>
                <a:spcPct val="50000"/>
              </a:spcBef>
              <a:buClrTx/>
              <a:buFontTx/>
            </a:pPr>
            <a:r>
              <a:rPr lang="zh-CN" altLang="en-US" sz="2200" dirty="0">
                <a:solidFill>
                  <a:srgbClr val="CC3300"/>
                </a:solidFill>
                <a:latin typeface="微软雅黑" panose="020B0503020204020204" pitchFamily="34" charset="-122"/>
                <a:ea typeface="微软雅黑" panose="020B0503020204020204" pitchFamily="34" charset="-122"/>
              </a:rPr>
              <a:t>问题：为何</a:t>
            </a:r>
            <a:r>
              <a:rPr lang="en-US" altLang="zh-CN" sz="2200" dirty="0">
                <a:solidFill>
                  <a:srgbClr val="CC3300"/>
                </a:solidFill>
                <a:latin typeface="微软雅黑" panose="020B0503020204020204" pitchFamily="34" charset="-122"/>
                <a:ea typeface="微软雅黑" panose="020B0503020204020204" pitchFamily="34" charset="-122"/>
              </a:rPr>
              <a:t>IEEE 754 </a:t>
            </a:r>
            <a:r>
              <a:rPr lang="zh-CN" altLang="en-US" sz="2200" dirty="0">
                <a:solidFill>
                  <a:srgbClr val="CC3300"/>
                </a:solidFill>
                <a:latin typeface="微软雅黑" panose="020B0503020204020204" pitchFamily="34" charset="-122"/>
                <a:ea typeface="微软雅黑" panose="020B0503020204020204" pitchFamily="34" charset="-122"/>
              </a:rPr>
              <a:t>加减运算右规时最多只需一次？</a:t>
            </a:r>
            <a:endParaRPr lang="zh-CN" altLang="en-US" sz="2200" dirty="0">
              <a:solidFill>
                <a:srgbClr val="CC3300"/>
              </a:solidFill>
              <a:latin typeface="微软雅黑" panose="020B0503020204020204" pitchFamily="34" charset="-122"/>
              <a:ea typeface="微软雅黑" panose="020B0503020204020204" pitchFamily="34" charset="-122"/>
            </a:endParaRPr>
          </a:p>
        </p:txBody>
      </p:sp>
      <p:sp>
        <p:nvSpPr>
          <p:cNvPr id="190921" name="Text Box 457"/>
          <p:cNvSpPr txBox="1"/>
          <p:nvPr/>
        </p:nvSpPr>
        <p:spPr>
          <a:xfrm>
            <a:off x="431800" y="5408613"/>
            <a:ext cx="8315325" cy="1182687"/>
          </a:xfrm>
          <a:prstGeom prst="rect">
            <a:avLst/>
          </a:prstGeom>
          <a:noFill/>
          <a:ln w="12700">
            <a:noFill/>
          </a:ln>
        </p:spPr>
        <p:txBody>
          <a:bodyPr anchor="t" anchorCtr="0">
            <a:spAutoFit/>
          </a:bodyPr>
          <a:p>
            <a:pPr eaLnBrk="0" hangingPunct="0">
              <a:lnSpc>
                <a:spcPts val="2900"/>
              </a:lnSpc>
              <a:spcBef>
                <a:spcPct val="50000"/>
              </a:spcBef>
              <a:buClrTx/>
              <a:buFontTx/>
            </a:pPr>
            <a:r>
              <a:rPr lang="zh-CN" altLang="en-US" sz="2200" dirty="0">
                <a:latin typeface="微软雅黑" panose="020B0503020204020204" pitchFamily="34" charset="-122"/>
                <a:ea typeface="微软雅黑" panose="020B0503020204020204" pitchFamily="34" charset="-122"/>
              </a:rPr>
              <a:t>因为即使是两个最大的尾数相加，得到的和的尾数也不会达到</a:t>
            </a:r>
            <a:r>
              <a:rPr lang="en-US" altLang="zh-CN" sz="2200" dirty="0">
                <a:latin typeface="微软雅黑" panose="020B0503020204020204" pitchFamily="34" charset="-122"/>
                <a:ea typeface="微软雅黑" panose="020B0503020204020204" pitchFamily="34" charset="-122"/>
              </a:rPr>
              <a:t>4</a:t>
            </a:r>
            <a:r>
              <a:rPr lang="zh-CN" altLang="en-US" sz="2200" dirty="0">
                <a:latin typeface="微软雅黑" panose="020B0503020204020204" pitchFamily="34" charset="-122"/>
                <a:ea typeface="微软雅黑" panose="020B0503020204020204" pitchFamily="34" charset="-122"/>
              </a:rPr>
              <a:t>，故尾数的整数部分最多有两位，保留一个隐含的“</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后，最多只有一位被右移到小数部分。</a:t>
            </a:r>
            <a:endParaRPr lang="en-US" altLang="zh-CN" sz="2200" dirty="0">
              <a:latin typeface="微软雅黑" panose="020B0503020204020204" pitchFamily="34" charset="-122"/>
              <a:ea typeface="微软雅黑" panose="020B0503020204020204" pitchFamily="34" charset="-122"/>
            </a:endParaRPr>
          </a:p>
        </p:txBody>
      </p:sp>
      <p:sp>
        <p:nvSpPr>
          <p:cNvPr id="746510" name="Text Box 14"/>
          <p:cNvSpPr txBox="1"/>
          <p:nvPr/>
        </p:nvSpPr>
        <p:spPr>
          <a:xfrm>
            <a:off x="2501900" y="1403350"/>
            <a:ext cx="6164263" cy="430213"/>
          </a:xfrm>
          <a:prstGeom prst="rect">
            <a:avLst/>
          </a:prstGeom>
          <a:noFill/>
          <a:ln w="9525">
            <a:noFill/>
          </a:ln>
        </p:spPr>
        <p:txBody>
          <a:bodyPr anchor="t" anchorCtr="0">
            <a:spAutoFit/>
          </a:bodyPr>
          <a:p>
            <a:pPr>
              <a:spcBef>
                <a:spcPct val="50000"/>
              </a:spcBef>
              <a:buClrTx/>
              <a:buFontTx/>
            </a:pPr>
            <a:r>
              <a:rPr lang="en-US" altLang="zh-CN" sz="2200" dirty="0">
                <a:solidFill>
                  <a:srgbClr val="008000"/>
                </a:solidFill>
                <a:latin typeface="微软雅黑" panose="020B0503020204020204" pitchFamily="34" charset="-122"/>
                <a:ea typeface="微软雅黑" panose="020B0503020204020204" pitchFamily="34" charset="-122"/>
              </a:rPr>
              <a:t>0.4375=0.25+0.125+0.0625=0.0111B</a:t>
            </a:r>
            <a:endParaRPr lang="en-US" altLang="zh-CN" sz="2200" dirty="0">
              <a:solidFill>
                <a:srgbClr val="008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0908"/>
                                        </p:tgtEl>
                                        <p:attrNameLst>
                                          <p:attrName>style.visibility</p:attrName>
                                        </p:attrNameLst>
                                      </p:cBhvr>
                                      <p:to>
                                        <p:strVal val="visible"/>
                                      </p:to>
                                    </p:set>
                                    <p:animEffect transition="in" filter="blinds(horizontal)">
                                      <p:cBhvr>
                                        <p:cTn id="7" dur="500"/>
                                        <p:tgtEl>
                                          <p:spTgt spid="19090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6510"/>
                                        </p:tgtEl>
                                        <p:attrNameLst>
                                          <p:attrName>style.visibility</p:attrName>
                                        </p:attrNameLst>
                                      </p:cBhvr>
                                      <p:to>
                                        <p:strVal val="visible"/>
                                      </p:to>
                                    </p:set>
                                    <p:animEffect transition="in" filter="blinds(horizontal)">
                                      <p:cBhvr>
                                        <p:cTn id="12" dur="500"/>
                                        <p:tgtEl>
                                          <p:spTgt spid="7465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0907">
                                            <p:txEl>
                                              <p:charRg st="1" end="41"/>
                                            </p:txEl>
                                          </p:spTgt>
                                        </p:tgtEl>
                                        <p:attrNameLst>
                                          <p:attrName>style.visibility</p:attrName>
                                        </p:attrNameLst>
                                      </p:cBhvr>
                                      <p:to>
                                        <p:strVal val="visible"/>
                                      </p:to>
                                    </p:set>
                                    <p:animEffect transition="in" filter="blinds(horizontal)">
                                      <p:cBhvr>
                                        <p:cTn id="17" dur="500"/>
                                        <p:tgtEl>
                                          <p:spTgt spid="190907">
                                            <p:txEl>
                                              <p:charRg st="1" end="4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0907">
                                            <p:txEl>
                                              <p:charRg st="41" end="97"/>
                                            </p:txEl>
                                          </p:spTgt>
                                        </p:tgtEl>
                                        <p:attrNameLst>
                                          <p:attrName>style.visibility</p:attrName>
                                        </p:attrNameLst>
                                      </p:cBhvr>
                                      <p:to>
                                        <p:strVal val="visible"/>
                                      </p:to>
                                    </p:set>
                                    <p:animEffect transition="in" filter="blinds(horizontal)">
                                      <p:cBhvr>
                                        <p:cTn id="22" dur="500"/>
                                        <p:tgtEl>
                                          <p:spTgt spid="190907">
                                            <p:txEl>
                                              <p:charRg st="41" end="9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0907">
                                            <p:txEl>
                                              <p:charRg st="97" end="132"/>
                                            </p:txEl>
                                          </p:spTgt>
                                        </p:tgtEl>
                                        <p:attrNameLst>
                                          <p:attrName>style.visibility</p:attrName>
                                        </p:attrNameLst>
                                      </p:cBhvr>
                                      <p:to>
                                        <p:strVal val="visible"/>
                                      </p:to>
                                    </p:set>
                                    <p:animEffect transition="in" filter="blinds(horizontal)">
                                      <p:cBhvr>
                                        <p:cTn id="27" dur="500"/>
                                        <p:tgtEl>
                                          <p:spTgt spid="190907">
                                            <p:txEl>
                                              <p:charRg st="97" end="13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0907">
                                            <p:txEl>
                                              <p:charRg st="132" end="140"/>
                                            </p:txEl>
                                          </p:spTgt>
                                        </p:tgtEl>
                                        <p:attrNameLst>
                                          <p:attrName>style.visibility</p:attrName>
                                        </p:attrNameLst>
                                      </p:cBhvr>
                                      <p:to>
                                        <p:strVal val="visible"/>
                                      </p:to>
                                    </p:set>
                                    <p:animEffect transition="in" filter="blinds(horizontal)">
                                      <p:cBhvr>
                                        <p:cTn id="32" dur="500"/>
                                        <p:tgtEl>
                                          <p:spTgt spid="190907">
                                            <p:txEl>
                                              <p:charRg st="132" end="14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0910"/>
                                        </p:tgtEl>
                                        <p:attrNameLst>
                                          <p:attrName>style.visibility</p:attrName>
                                        </p:attrNameLst>
                                      </p:cBhvr>
                                      <p:to>
                                        <p:strVal val="visible"/>
                                      </p:to>
                                    </p:set>
                                    <p:animEffect transition="in" filter="blinds(horizontal)">
                                      <p:cBhvr>
                                        <p:cTn id="37" dur="500"/>
                                        <p:tgtEl>
                                          <p:spTgt spid="19091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90920"/>
                                        </p:tgtEl>
                                        <p:attrNameLst>
                                          <p:attrName>style.visibility</p:attrName>
                                        </p:attrNameLst>
                                      </p:cBhvr>
                                      <p:to>
                                        <p:strVal val="visible"/>
                                      </p:to>
                                    </p:set>
                                    <p:animEffect transition="in" filter="blinds(horizontal)">
                                      <p:cBhvr>
                                        <p:cTn id="42" dur="500"/>
                                        <p:tgtEl>
                                          <p:spTgt spid="19092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0921"/>
                                        </p:tgtEl>
                                        <p:attrNameLst>
                                          <p:attrName>style.visibility</p:attrName>
                                        </p:attrNameLst>
                                      </p:cBhvr>
                                      <p:to>
                                        <p:strVal val="visible"/>
                                      </p:to>
                                    </p:set>
                                    <p:animEffect transition="in" filter="blinds(horizontal)">
                                      <p:cBhvr>
                                        <p:cTn id="47" dur="500"/>
                                        <p:tgtEl>
                                          <p:spTgt spid="190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907" grpId="0" build="p"/>
      <p:bldP spid="190908" grpId="0"/>
      <p:bldP spid="190910" grpId="0"/>
      <p:bldP spid="190920" grpId="0"/>
      <p:bldP spid="190921" grpId="0"/>
      <p:bldP spid="74651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xfrm>
            <a:off x="744538" y="128588"/>
            <a:ext cx="5800725" cy="479425"/>
          </a:xfrm>
          <a:ln/>
        </p:spPr>
        <p:txBody>
          <a:bodyPr vert="horz" wrap="square" lIns="63500" tIns="25400" rIns="63500" bIns="25400" anchor="t" anchorCtr="0">
            <a:spAutoFit/>
          </a:bodyPr>
          <a:p>
            <a:r>
              <a:rPr lang="en-US" altLang="zh-CN" dirty="0">
                <a:latin typeface="黑体" panose="02010609060101010101" pitchFamily="49" charset="-122"/>
                <a:ea typeface="黑体" panose="02010609060101010101" pitchFamily="49" charset="-122"/>
              </a:rPr>
              <a:t>IEEE 754 </a:t>
            </a:r>
            <a:r>
              <a:rPr lang="zh-CN" altLang="en-US" dirty="0">
                <a:latin typeface="黑体" panose="02010609060101010101" pitchFamily="49" charset="-122"/>
                <a:ea typeface="黑体" panose="02010609060101010101" pitchFamily="49" charset="-122"/>
              </a:rPr>
              <a:t>浮点数加法运算</a:t>
            </a:r>
            <a:endParaRPr lang="zh-CN" altLang="en-US" dirty="0">
              <a:latin typeface="黑体" panose="02010609060101010101" pitchFamily="49" charset="-122"/>
              <a:ea typeface="黑体" panose="02010609060101010101" pitchFamily="49" charset="-122"/>
            </a:endParaRPr>
          </a:p>
        </p:txBody>
      </p:sp>
      <p:sp>
        <p:nvSpPr>
          <p:cNvPr id="124930" name="Rectangle 3"/>
          <p:cNvSpPr/>
          <p:nvPr/>
        </p:nvSpPr>
        <p:spPr>
          <a:xfrm>
            <a:off x="5214938" y="4198938"/>
            <a:ext cx="0" cy="182562"/>
          </a:xfrm>
          <a:prstGeom prst="rect">
            <a:avLst/>
          </a:prstGeom>
          <a:noFill/>
          <a:ln w="9525">
            <a:noFill/>
          </a:ln>
        </p:spPr>
        <p:txBody>
          <a:bodyPr wrap="none" lIns="0" tIns="0" rIns="0" bIns="0" anchor="t" anchorCtr="0">
            <a:spAutoFit/>
          </a:bodyPr>
          <a:p>
            <a:pPr eaLnBrk="0" hangingPunct="0"/>
            <a:endParaRPr lang="zh-CN" altLang="en-US" sz="1200" dirty="0">
              <a:latin typeface="Times New Roman" panose="02020603050405020304" pitchFamily="18" charset="0"/>
              <a:ea typeface="宋体" panose="02010600030101010101" pitchFamily="2" charset="-122"/>
            </a:endParaRPr>
          </a:p>
        </p:txBody>
      </p:sp>
      <p:sp>
        <p:nvSpPr>
          <p:cNvPr id="490509" name="Text Box 13"/>
          <p:cNvSpPr txBox="1"/>
          <p:nvPr/>
        </p:nvSpPr>
        <p:spPr>
          <a:xfrm>
            <a:off x="396875" y="896938"/>
            <a:ext cx="8128000" cy="4370387"/>
          </a:xfrm>
          <a:prstGeom prst="rect">
            <a:avLst/>
          </a:prstGeom>
          <a:noFill/>
          <a:ln w="12700">
            <a:noFill/>
          </a:ln>
        </p:spPr>
        <p:txBody>
          <a:bodyPr anchor="t" anchorCtr="0">
            <a:spAutoFit/>
          </a:bodyPr>
          <a:p>
            <a:pPr eaLnBrk="0" hangingPunct="0">
              <a:lnSpc>
                <a:spcPct val="130000"/>
              </a:lnSpc>
              <a:spcBef>
                <a:spcPct val="20000"/>
              </a:spcBef>
            </a:pPr>
            <a:r>
              <a:rPr lang="zh-CN" altLang="en-US" sz="2000" dirty="0">
                <a:solidFill>
                  <a:srgbClr val="CC3300"/>
                </a:solidFill>
                <a:latin typeface="微软雅黑" panose="020B0503020204020204" pitchFamily="34" charset="-122"/>
                <a:ea typeface="微软雅黑" panose="020B0503020204020204" pitchFamily="34" charset="-122"/>
              </a:rPr>
              <a:t>在计算机内部执行上述运算时，必须解决哪些问题？</a:t>
            </a:r>
            <a:endParaRPr lang="zh-CN" altLang="en-US" sz="2000" dirty="0">
              <a:solidFill>
                <a:srgbClr val="CC3300"/>
              </a:solidFill>
              <a:latin typeface="微软雅黑" panose="020B0503020204020204" pitchFamily="34" charset="-122"/>
              <a:ea typeface="微软雅黑" panose="020B0503020204020204" pitchFamily="34" charset="-122"/>
            </a:endParaRPr>
          </a:p>
          <a:p>
            <a:pPr eaLnBrk="0" hangingPunct="0">
              <a:lnSpc>
                <a:spcPct val="130000"/>
              </a:lnSpc>
              <a:spcBef>
                <a:spcPct val="50000"/>
              </a:spcBef>
            </a:pPr>
            <a:r>
              <a:rPr lang="en-US" altLang="zh-CN" sz="2000" dirty="0">
                <a:solidFill>
                  <a:schemeClr val="accent2"/>
                </a:solidFill>
                <a:latin typeface="微软雅黑" panose="020B0503020204020204" pitchFamily="34" charset="-122"/>
                <a:ea typeface="微软雅黑" panose="020B0503020204020204" pitchFamily="34" charset="-122"/>
              </a:rPr>
              <a:t>(1) </a:t>
            </a:r>
            <a:r>
              <a:rPr lang="zh-CN" altLang="en-US" sz="2000" dirty="0">
                <a:solidFill>
                  <a:schemeClr val="accent2"/>
                </a:solidFill>
                <a:latin typeface="微软雅黑" panose="020B0503020204020204" pitchFamily="34" charset="-122"/>
                <a:ea typeface="微软雅黑" panose="020B0503020204020204" pitchFamily="34" charset="-122"/>
              </a:rPr>
              <a:t>如何表示？</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30000"/>
              </a:lnSpc>
              <a:spcBef>
                <a:spcPct val="50000"/>
              </a:spcBef>
            </a:pPr>
            <a:r>
              <a:rPr lang="en-US" altLang="zh-CN" sz="2000" dirty="0">
                <a:solidFill>
                  <a:schemeClr val="accent2"/>
                </a:solidFill>
                <a:latin typeface="微软雅黑" panose="020B0503020204020204" pitchFamily="34" charset="-122"/>
                <a:ea typeface="微软雅黑" panose="020B0503020204020204" pitchFamily="34" charset="-122"/>
              </a:rPr>
              <a:t>(2) </a:t>
            </a:r>
            <a:r>
              <a:rPr lang="zh-CN" altLang="en-US" sz="2000" dirty="0">
                <a:solidFill>
                  <a:schemeClr val="accent2"/>
                </a:solidFill>
                <a:latin typeface="微软雅黑" panose="020B0503020204020204" pitchFamily="34" charset="-122"/>
                <a:ea typeface="微软雅黑" panose="020B0503020204020204" pitchFamily="34" charset="-122"/>
              </a:rPr>
              <a:t>如何判断阶码的大小？求[</a:t>
            </a:r>
            <a:r>
              <a:rPr lang="en-US" altLang="zh-CN" sz="2000" dirty="0">
                <a:solidFill>
                  <a:schemeClr val="accent2"/>
                </a:solidFill>
                <a:latin typeface="微软雅黑" panose="020B0503020204020204" pitchFamily="34" charset="-122"/>
                <a:ea typeface="微软雅黑" panose="020B0503020204020204" pitchFamily="34" charset="-122"/>
              </a:rPr>
              <a:t>Δ</a:t>
            </a:r>
            <a:r>
              <a:rPr lang="en-US" altLang="en-US" sz="2000" dirty="0">
                <a:solidFill>
                  <a:schemeClr val="accent2"/>
                </a:solidFill>
                <a:latin typeface="微软雅黑" panose="020B0503020204020204" pitchFamily="34" charset="-122"/>
                <a:ea typeface="微软雅黑" panose="020B0503020204020204" pitchFamily="34" charset="-122"/>
              </a:rPr>
              <a:t>E</a:t>
            </a:r>
            <a:r>
              <a:rPr lang="en-US" altLang="zh-CN" sz="2000" dirty="0">
                <a:solidFill>
                  <a:schemeClr val="accent2"/>
                </a:solidFill>
                <a:latin typeface="微软雅黑" panose="020B0503020204020204" pitchFamily="34" charset="-122"/>
                <a:ea typeface="微软雅黑" panose="020B0503020204020204" pitchFamily="34" charset="-122"/>
              </a:rPr>
              <a:t>]</a:t>
            </a:r>
            <a:r>
              <a:rPr lang="zh-CN" altLang="en-US" sz="2000" baseline="-25000" dirty="0">
                <a:solidFill>
                  <a:schemeClr val="accent2"/>
                </a:solidFill>
                <a:latin typeface="微软雅黑" panose="020B0503020204020204" pitchFamily="34" charset="-122"/>
                <a:ea typeface="微软雅黑" panose="020B0503020204020204" pitchFamily="34" charset="-122"/>
              </a:rPr>
              <a:t>补</a:t>
            </a:r>
            <a:r>
              <a:rPr lang="zh-CN" altLang="en-US" sz="2000" dirty="0">
                <a:solidFill>
                  <a:schemeClr val="accent2"/>
                </a:solidFill>
                <a:latin typeface="微软雅黑" panose="020B0503020204020204" pitchFamily="34" charset="-122"/>
                <a:ea typeface="微软雅黑" panose="020B0503020204020204" pitchFamily="34" charset="-122"/>
              </a:rPr>
              <a:t>=？</a:t>
            </a:r>
            <a:endParaRPr lang="en-US" altLang="zh-CN"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30000"/>
              </a:lnSpc>
              <a:spcBef>
                <a:spcPct val="50000"/>
              </a:spcBef>
            </a:pPr>
            <a:r>
              <a:rPr lang="en-US" altLang="zh-CN" sz="2000" dirty="0">
                <a:solidFill>
                  <a:schemeClr val="accent2"/>
                </a:solidFill>
                <a:latin typeface="微软雅黑" panose="020B0503020204020204" pitchFamily="34" charset="-122"/>
                <a:ea typeface="微软雅黑" panose="020B0503020204020204" pitchFamily="34" charset="-122"/>
              </a:rPr>
              <a:t>(3) </a:t>
            </a:r>
            <a:r>
              <a:rPr lang="zh-CN" altLang="en-US" sz="2000" dirty="0">
                <a:solidFill>
                  <a:schemeClr val="accent2"/>
                </a:solidFill>
                <a:latin typeface="微软雅黑" panose="020B0503020204020204" pitchFamily="34" charset="-122"/>
                <a:ea typeface="微软雅黑" panose="020B0503020204020204" pitchFamily="34" charset="-122"/>
              </a:rPr>
              <a:t>对阶后尾数的隐含位如何处理？</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30000"/>
              </a:lnSpc>
              <a:spcBef>
                <a:spcPct val="50000"/>
              </a:spcBef>
            </a:pPr>
            <a:r>
              <a:rPr lang="en-US" altLang="zh-CN" sz="2000" dirty="0">
                <a:solidFill>
                  <a:schemeClr val="accent2"/>
                </a:solidFill>
                <a:latin typeface="微软雅黑" panose="020B0503020204020204" pitchFamily="34" charset="-122"/>
                <a:ea typeface="微软雅黑" panose="020B0503020204020204" pitchFamily="34" charset="-122"/>
              </a:rPr>
              <a:t>(4) </a:t>
            </a:r>
            <a:r>
              <a:rPr lang="zh-CN" altLang="en-US" sz="2000" dirty="0">
                <a:solidFill>
                  <a:schemeClr val="accent2"/>
                </a:solidFill>
                <a:latin typeface="微软雅黑" panose="020B0503020204020204" pitchFamily="34" charset="-122"/>
                <a:ea typeface="微软雅黑" panose="020B0503020204020204" pitchFamily="34" charset="-122"/>
              </a:rPr>
              <a:t>如何进行尾数加减？</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30000"/>
              </a:lnSpc>
              <a:spcBef>
                <a:spcPct val="50000"/>
              </a:spcBef>
            </a:pPr>
            <a:r>
              <a:rPr lang="en-US" altLang="zh-CN" sz="2000" dirty="0">
                <a:solidFill>
                  <a:schemeClr val="accent2"/>
                </a:solidFill>
                <a:latin typeface="微软雅黑" panose="020B0503020204020204" pitchFamily="34" charset="-122"/>
                <a:ea typeface="微软雅黑" panose="020B0503020204020204" pitchFamily="34" charset="-122"/>
              </a:rPr>
              <a:t>(5) </a:t>
            </a:r>
            <a:r>
              <a:rPr lang="zh-CN" altLang="en-US" sz="2000" dirty="0">
                <a:solidFill>
                  <a:schemeClr val="accent2"/>
                </a:solidFill>
                <a:latin typeface="微软雅黑" panose="020B0503020204020204" pitchFamily="34" charset="-122"/>
                <a:ea typeface="微软雅黑" panose="020B0503020204020204" pitchFamily="34" charset="-122"/>
              </a:rPr>
              <a:t>何时需要规格化，如何规格化？</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30000"/>
              </a:lnSpc>
              <a:spcBef>
                <a:spcPct val="50000"/>
              </a:spcBef>
            </a:pPr>
            <a:r>
              <a:rPr lang="en-US" altLang="zh-CN" sz="2000" dirty="0">
                <a:solidFill>
                  <a:schemeClr val="accent2"/>
                </a:solidFill>
                <a:latin typeface="微软雅黑" panose="020B0503020204020204" pitchFamily="34" charset="-122"/>
                <a:ea typeface="微软雅黑" panose="020B0503020204020204" pitchFamily="34" charset="-122"/>
              </a:rPr>
              <a:t>(6) </a:t>
            </a:r>
            <a:r>
              <a:rPr lang="zh-CN" altLang="en-US" sz="2000" dirty="0">
                <a:solidFill>
                  <a:schemeClr val="accent2"/>
                </a:solidFill>
                <a:latin typeface="微软雅黑" panose="020B0503020204020204" pitchFamily="34" charset="-122"/>
                <a:ea typeface="微软雅黑" panose="020B0503020204020204" pitchFamily="34" charset="-122"/>
              </a:rPr>
              <a:t>如何</a:t>
            </a:r>
            <a:r>
              <a:rPr lang="zh-CN" altLang="en-US" sz="2000" dirty="0">
                <a:solidFill>
                  <a:schemeClr val="accent2"/>
                </a:solidFill>
                <a:latin typeface="微软雅黑" panose="020B0503020204020204" pitchFamily="34" charset="-122"/>
                <a:ea typeface="微软雅黑" panose="020B0503020204020204" pitchFamily="34" charset="-122"/>
                <a:hlinkClick r:id="rId1" action="ppaction://hlinksldjump"/>
              </a:rPr>
              <a:t>舍入</a:t>
            </a:r>
            <a:r>
              <a:rPr lang="zh-CN" altLang="en-US" sz="2000" dirty="0">
                <a:solidFill>
                  <a:schemeClr val="accent2"/>
                </a:solidFill>
                <a:latin typeface="微软雅黑" panose="020B0503020204020204" pitchFamily="34" charset="-122"/>
                <a:ea typeface="微软雅黑" panose="020B0503020204020204" pitchFamily="34" charset="-122"/>
              </a:rPr>
              <a:t>？</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30000"/>
              </a:lnSpc>
              <a:spcBef>
                <a:spcPct val="50000"/>
              </a:spcBef>
            </a:pPr>
            <a:r>
              <a:rPr lang="en-US" altLang="zh-CN" sz="2000" dirty="0">
                <a:solidFill>
                  <a:schemeClr val="accent2"/>
                </a:solidFill>
                <a:latin typeface="微软雅黑" panose="020B0503020204020204" pitchFamily="34" charset="-122"/>
                <a:ea typeface="微软雅黑" panose="020B0503020204020204" pitchFamily="34" charset="-122"/>
              </a:rPr>
              <a:t>(7) </a:t>
            </a:r>
            <a:r>
              <a:rPr lang="zh-CN" altLang="en-US" sz="2000" dirty="0">
                <a:solidFill>
                  <a:schemeClr val="accent2"/>
                </a:solidFill>
                <a:latin typeface="微软雅黑" panose="020B0503020204020204" pitchFamily="34" charset="-122"/>
                <a:ea typeface="微软雅黑" panose="020B0503020204020204" pitchFamily="34" charset="-122"/>
              </a:rPr>
              <a:t>如何判断溢出？</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490511" name="Rectangle 15"/>
          <p:cNvSpPr/>
          <p:nvPr/>
        </p:nvSpPr>
        <p:spPr>
          <a:xfrm>
            <a:off x="2270125" y="1455738"/>
            <a:ext cx="2409825" cy="427037"/>
          </a:xfrm>
          <a:prstGeom prst="rect">
            <a:avLst/>
          </a:prstGeom>
          <a:noFill/>
          <a:ln w="12700">
            <a:noFill/>
          </a:ln>
        </p:spPr>
        <p:txBody>
          <a:bodyPr wrap="none" anchor="t" anchorCtr="0">
            <a:spAutoFit/>
          </a:bodyPr>
          <a:p>
            <a:pPr eaLnBrk="0" hangingPunct="0"/>
            <a:r>
              <a:rPr lang="zh-CN" altLang="en-US" sz="2200" dirty="0">
                <a:solidFill>
                  <a:srgbClr val="FF0066"/>
                </a:solidFill>
                <a:latin typeface="Arial" panose="020B0604020202020204" pitchFamily="34" charset="0"/>
                <a:ea typeface="黑体" panose="02010609060101010101" pitchFamily="49" charset="-122"/>
              </a:rPr>
              <a:t>用</a:t>
            </a:r>
            <a:r>
              <a:rPr lang="en-US" altLang="zh-CN" sz="2200" dirty="0">
                <a:solidFill>
                  <a:srgbClr val="FF0066"/>
                </a:solidFill>
                <a:latin typeface="Arial" panose="020B0604020202020204" pitchFamily="34" charset="0"/>
                <a:ea typeface="黑体" panose="02010609060101010101" pitchFamily="49" charset="-122"/>
              </a:rPr>
              <a:t>IEEE754</a:t>
            </a:r>
            <a:r>
              <a:rPr lang="zh-CN" altLang="en-US" sz="2200" dirty="0">
                <a:solidFill>
                  <a:srgbClr val="FF0066"/>
                </a:solidFill>
                <a:latin typeface="Arial" panose="020B0604020202020204" pitchFamily="34" charset="0"/>
                <a:ea typeface="黑体" panose="02010609060101010101" pitchFamily="49" charset="-122"/>
              </a:rPr>
              <a:t>标准！</a:t>
            </a:r>
            <a:endParaRPr lang="zh-CN" altLang="en-US" sz="2200" dirty="0">
              <a:solidFill>
                <a:srgbClr val="FF0066"/>
              </a:solidFill>
              <a:latin typeface="Arial" panose="020B0604020202020204" pitchFamily="34" charset="0"/>
              <a:ea typeface="黑体" panose="02010609060101010101" pitchFamily="49" charset="-122"/>
            </a:endParaRPr>
          </a:p>
        </p:txBody>
      </p:sp>
      <p:sp>
        <p:nvSpPr>
          <p:cNvPr id="490512" name="Rectangle 16"/>
          <p:cNvSpPr/>
          <p:nvPr/>
        </p:nvSpPr>
        <p:spPr>
          <a:xfrm>
            <a:off x="4889500" y="2435225"/>
            <a:ext cx="3451225" cy="708025"/>
          </a:xfrm>
          <a:prstGeom prst="rect">
            <a:avLst/>
          </a:prstGeom>
          <a:noFill/>
          <a:ln w="12700">
            <a:noFill/>
          </a:ln>
        </p:spPr>
        <p:txBody>
          <a:bodyPr anchor="t" anchorCtr="0">
            <a:spAutoFit/>
          </a:bodyPr>
          <a:p>
            <a:pPr eaLnBrk="0" hangingPunct="0"/>
            <a:r>
              <a:rPr lang="zh-CN" altLang="en-US" sz="2000" dirty="0">
                <a:solidFill>
                  <a:srgbClr val="FF0066"/>
                </a:solidFill>
                <a:latin typeface="微软雅黑" panose="020B0503020204020204" pitchFamily="34" charset="-122"/>
                <a:ea typeface="微软雅黑" panose="020B0503020204020204" pitchFamily="34" charset="-122"/>
              </a:rPr>
              <a:t>右移到数值部分，高位补</a:t>
            </a:r>
            <a:r>
              <a:rPr lang="en-US" altLang="zh-CN" sz="2000" dirty="0">
                <a:solidFill>
                  <a:srgbClr val="FF0066"/>
                </a:solidFill>
                <a:latin typeface="微软雅黑" panose="020B0503020204020204" pitchFamily="34" charset="-122"/>
                <a:ea typeface="微软雅黑" panose="020B0503020204020204" pitchFamily="34" charset="-122"/>
              </a:rPr>
              <a:t>0</a:t>
            </a:r>
            <a:r>
              <a:rPr lang="zh-CN" altLang="en-US" sz="2000" dirty="0">
                <a:solidFill>
                  <a:srgbClr val="FF0066"/>
                </a:solidFill>
                <a:latin typeface="微软雅黑" panose="020B0503020204020204" pitchFamily="34" charset="-122"/>
                <a:ea typeface="微软雅黑" panose="020B0503020204020204" pitchFamily="34" charset="-122"/>
              </a:rPr>
              <a:t>，</a:t>
            </a:r>
            <a:r>
              <a:rPr lang="zh-CN" altLang="en-US" sz="2000" dirty="0">
                <a:solidFill>
                  <a:srgbClr val="FF0066"/>
                </a:solidFill>
                <a:latin typeface="微软雅黑" panose="020B0503020204020204" pitchFamily="34" charset="-122"/>
                <a:ea typeface="微软雅黑" panose="020B0503020204020204" pitchFamily="34" charset="-122"/>
                <a:hlinkClick r:id="rId2" action="ppaction://hlinksldjump"/>
              </a:rPr>
              <a:t>保留移出低位部分</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90513" name="Rectangle 17"/>
          <p:cNvSpPr/>
          <p:nvPr/>
        </p:nvSpPr>
        <p:spPr>
          <a:xfrm>
            <a:off x="4460875" y="3186113"/>
            <a:ext cx="3879850" cy="708025"/>
          </a:xfrm>
          <a:prstGeom prst="rect">
            <a:avLst/>
          </a:prstGeom>
          <a:noFill/>
          <a:ln w="12700">
            <a:noFill/>
          </a:ln>
        </p:spPr>
        <p:txBody>
          <a:bodyPr anchor="t" anchorCtr="0">
            <a:spAutoFit/>
          </a:bodyPr>
          <a:p>
            <a:pPr eaLnBrk="0" hangingPunct="0"/>
            <a:r>
              <a:rPr lang="zh-CN" altLang="en-US" sz="2000" dirty="0">
                <a:solidFill>
                  <a:srgbClr val="FF0066"/>
                </a:solidFill>
                <a:latin typeface="微软雅黑" panose="020B0503020204020204" pitchFamily="34" charset="-122"/>
                <a:ea typeface="微软雅黑" panose="020B0503020204020204" pitchFamily="34" charset="-122"/>
              </a:rPr>
              <a:t>隐藏位还原后，</a:t>
            </a:r>
            <a:r>
              <a:rPr lang="zh-CN" altLang="en-US" sz="2000" dirty="0">
                <a:solidFill>
                  <a:srgbClr val="FF0066"/>
                </a:solidFill>
                <a:latin typeface="微软雅黑" panose="020B0503020204020204" pitchFamily="34" charset="-122"/>
                <a:ea typeface="微软雅黑" panose="020B0503020204020204" pitchFamily="34" charset="-122"/>
                <a:hlinkClick r:id="rId3" action="ppaction://hlinksldjump"/>
              </a:rPr>
              <a:t>按原码进行加减运算</a:t>
            </a:r>
            <a:r>
              <a:rPr lang="zh-CN" altLang="en-US" sz="2000" dirty="0">
                <a:solidFill>
                  <a:srgbClr val="FF0066"/>
                </a:solidFill>
                <a:latin typeface="微软雅黑" panose="020B0503020204020204" pitchFamily="34" charset="-122"/>
                <a:ea typeface="微软雅黑" panose="020B0503020204020204" pitchFamily="34" charset="-122"/>
              </a:rPr>
              <a:t>，附加位一起运算</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90514" name="Rectangle 18"/>
          <p:cNvSpPr/>
          <p:nvPr/>
        </p:nvSpPr>
        <p:spPr>
          <a:xfrm>
            <a:off x="2481263" y="4032250"/>
            <a:ext cx="6470650" cy="781050"/>
          </a:xfrm>
          <a:prstGeom prst="rect">
            <a:avLst/>
          </a:prstGeom>
          <a:noFill/>
          <a:ln w="12700">
            <a:noFill/>
          </a:ln>
        </p:spPr>
        <p:txBody>
          <a:bodyPr anchor="t" anchorCtr="0">
            <a:spAutoFit/>
          </a:bodyPr>
          <a:p>
            <a:pPr eaLnBrk="0" hangingPunct="0">
              <a:lnSpc>
                <a:spcPts val="2800"/>
              </a:lnSpc>
            </a:pPr>
            <a:r>
              <a:rPr lang="en-US" altLang="zh-CN" sz="2000" dirty="0">
                <a:solidFill>
                  <a:srgbClr val="FF0066"/>
                </a:solidFill>
                <a:latin typeface="微软雅黑" panose="020B0503020204020204" pitchFamily="34" charset="-122"/>
                <a:ea typeface="微软雅黑" panose="020B0503020204020204" pitchFamily="34" charset="-122"/>
              </a:rPr>
              <a:t>±1x .xx……x </a:t>
            </a:r>
            <a:r>
              <a:rPr lang="zh-CN" altLang="en-US" sz="2000" dirty="0">
                <a:solidFill>
                  <a:srgbClr val="FF0066"/>
                </a:solidFill>
                <a:latin typeface="微软雅黑" panose="020B0503020204020204" pitchFamily="34" charset="-122"/>
                <a:ea typeface="微软雅黑" panose="020B0503020204020204" pitchFamily="34" charset="-122"/>
              </a:rPr>
              <a:t>形式时，则右规</a:t>
            </a:r>
            <a:r>
              <a:rPr lang="en-US" altLang="zh-CN" sz="2000" dirty="0">
                <a:solidFill>
                  <a:srgbClr val="FF0066"/>
                </a:solidFill>
                <a:latin typeface="微软雅黑" panose="020B0503020204020204" pitchFamily="34" charset="-122"/>
                <a:ea typeface="微软雅黑" panose="020B0503020204020204" pitchFamily="34" charset="-122"/>
              </a:rPr>
              <a:t>: </a:t>
            </a:r>
            <a:r>
              <a:rPr lang="zh-CN" altLang="en-US" sz="2000" dirty="0">
                <a:solidFill>
                  <a:srgbClr val="FF0066"/>
                </a:solidFill>
                <a:latin typeface="微软雅黑" panose="020B0503020204020204" pitchFamily="34" charset="-122"/>
                <a:ea typeface="微软雅黑" panose="020B0503020204020204" pitchFamily="34" charset="-122"/>
              </a:rPr>
              <a:t>尾数右移</a:t>
            </a:r>
            <a:r>
              <a:rPr lang="en-US" altLang="zh-CN" sz="2000" dirty="0">
                <a:solidFill>
                  <a:srgbClr val="FF0066"/>
                </a:solidFill>
                <a:latin typeface="微软雅黑" panose="020B0503020204020204" pitchFamily="34" charset="-122"/>
                <a:ea typeface="微软雅黑" panose="020B0503020204020204" pitchFamily="34" charset="-122"/>
              </a:rPr>
              <a:t>1</a:t>
            </a:r>
            <a:r>
              <a:rPr lang="zh-CN" altLang="en-US" sz="2000" dirty="0">
                <a:solidFill>
                  <a:srgbClr val="FF0066"/>
                </a:solidFill>
                <a:latin typeface="微软雅黑" panose="020B0503020204020204" pitchFamily="34" charset="-122"/>
                <a:ea typeface="微软雅黑" panose="020B0503020204020204" pitchFamily="34" charset="-122"/>
              </a:rPr>
              <a:t>位</a:t>
            </a:r>
            <a:r>
              <a:rPr lang="en-US" altLang="zh-CN" sz="2000" dirty="0">
                <a:solidFill>
                  <a:srgbClr val="FF0066"/>
                </a:solidFill>
                <a:latin typeface="微软雅黑" panose="020B0503020204020204" pitchFamily="34" charset="-122"/>
                <a:ea typeface="微软雅黑" panose="020B0503020204020204" pitchFamily="34" charset="-122"/>
              </a:rPr>
              <a:t>, </a:t>
            </a:r>
            <a:r>
              <a:rPr lang="zh-CN" altLang="en-US" sz="2000" dirty="0">
                <a:solidFill>
                  <a:srgbClr val="FF0066"/>
                </a:solidFill>
                <a:latin typeface="微软雅黑" panose="020B0503020204020204" pitchFamily="34" charset="-122"/>
                <a:ea typeface="微软雅黑" panose="020B0503020204020204" pitchFamily="34" charset="-122"/>
              </a:rPr>
              <a:t>阶码加</a:t>
            </a:r>
            <a:r>
              <a:rPr lang="en-US" altLang="zh-CN" sz="2000" dirty="0">
                <a:solidFill>
                  <a:srgbClr val="FF0066"/>
                </a:solidFill>
                <a:latin typeface="微软雅黑" panose="020B0503020204020204" pitchFamily="34" charset="-122"/>
                <a:ea typeface="微软雅黑" panose="020B0503020204020204" pitchFamily="34" charset="-122"/>
              </a:rPr>
              <a:t>1 </a:t>
            </a:r>
            <a:endParaRPr lang="en-US" altLang="zh-CN" sz="2000" dirty="0">
              <a:solidFill>
                <a:srgbClr val="FF0066"/>
              </a:solidFill>
              <a:latin typeface="微软雅黑" panose="020B0503020204020204" pitchFamily="34" charset="-122"/>
              <a:ea typeface="微软雅黑" panose="020B0503020204020204" pitchFamily="34" charset="-122"/>
            </a:endParaRPr>
          </a:p>
          <a:p>
            <a:pPr eaLnBrk="0" hangingPunct="0">
              <a:lnSpc>
                <a:spcPts val="2800"/>
              </a:lnSpc>
            </a:pPr>
            <a:r>
              <a:rPr lang="en-US" altLang="zh-CN" sz="2000" dirty="0">
                <a:solidFill>
                  <a:srgbClr val="FF0066"/>
                </a:solidFill>
                <a:latin typeface="微软雅黑" panose="020B0503020204020204" pitchFamily="34" charset="-122"/>
                <a:ea typeface="微软雅黑" panose="020B0503020204020204" pitchFamily="34" charset="-122"/>
              </a:rPr>
              <a:t>± 0.0…01x…x </a:t>
            </a:r>
            <a:r>
              <a:rPr lang="zh-CN" altLang="en-US" sz="2000" dirty="0">
                <a:solidFill>
                  <a:srgbClr val="FF0066"/>
                </a:solidFill>
                <a:latin typeface="微软雅黑" panose="020B0503020204020204" pitchFamily="34" charset="-122"/>
                <a:ea typeface="微软雅黑" panose="020B0503020204020204" pitchFamily="34" charset="-122"/>
              </a:rPr>
              <a:t>形式时，则左规</a:t>
            </a:r>
            <a:r>
              <a:rPr lang="en-US" altLang="zh-CN" sz="2000" dirty="0">
                <a:solidFill>
                  <a:srgbClr val="FF0066"/>
                </a:solidFill>
                <a:latin typeface="微软雅黑" panose="020B0503020204020204" pitchFamily="34" charset="-122"/>
                <a:ea typeface="微软雅黑" panose="020B0503020204020204" pitchFamily="34" charset="-122"/>
              </a:rPr>
              <a:t>: </a:t>
            </a:r>
            <a:r>
              <a:rPr lang="zh-CN" altLang="en-US" sz="2000" dirty="0">
                <a:solidFill>
                  <a:srgbClr val="FF0066"/>
                </a:solidFill>
                <a:latin typeface="微软雅黑" panose="020B0503020204020204" pitchFamily="34" charset="-122"/>
                <a:ea typeface="微软雅黑" panose="020B0503020204020204" pitchFamily="34" charset="-122"/>
              </a:rPr>
              <a:t>尾数左移</a:t>
            </a:r>
            <a:r>
              <a:rPr lang="en-US" altLang="zh-CN" sz="2000" dirty="0">
                <a:solidFill>
                  <a:srgbClr val="FF0066"/>
                </a:solidFill>
                <a:latin typeface="微软雅黑" panose="020B0503020204020204" pitchFamily="34" charset="-122"/>
                <a:ea typeface="微软雅黑" panose="020B0503020204020204" pitchFamily="34" charset="-122"/>
              </a:rPr>
              <a:t>k</a:t>
            </a:r>
            <a:r>
              <a:rPr lang="zh-CN" altLang="en-US" sz="2000" dirty="0">
                <a:solidFill>
                  <a:srgbClr val="FF0066"/>
                </a:solidFill>
                <a:latin typeface="微软雅黑" panose="020B0503020204020204" pitchFamily="34" charset="-122"/>
                <a:ea typeface="微软雅黑" panose="020B0503020204020204" pitchFamily="34" charset="-122"/>
              </a:rPr>
              <a:t>位</a:t>
            </a:r>
            <a:r>
              <a:rPr lang="en-US" altLang="zh-CN" sz="2000" dirty="0">
                <a:solidFill>
                  <a:srgbClr val="FF0066"/>
                </a:solidFill>
                <a:latin typeface="微软雅黑" panose="020B0503020204020204" pitchFamily="34" charset="-122"/>
                <a:ea typeface="微软雅黑" panose="020B0503020204020204" pitchFamily="34" charset="-122"/>
              </a:rPr>
              <a:t>, </a:t>
            </a:r>
            <a:r>
              <a:rPr lang="zh-CN" altLang="en-US" sz="2000" dirty="0">
                <a:solidFill>
                  <a:srgbClr val="FF0066"/>
                </a:solidFill>
                <a:latin typeface="微软雅黑" panose="020B0503020204020204" pitchFamily="34" charset="-122"/>
                <a:ea typeface="微软雅黑" panose="020B0503020204020204" pitchFamily="34" charset="-122"/>
              </a:rPr>
              <a:t>阶码减</a:t>
            </a:r>
            <a:r>
              <a:rPr lang="en-US" altLang="zh-CN" sz="2000" dirty="0">
                <a:solidFill>
                  <a:srgbClr val="FF0066"/>
                </a:solidFill>
                <a:latin typeface="微软雅黑" panose="020B0503020204020204" pitchFamily="34" charset="-122"/>
                <a:ea typeface="微软雅黑" panose="020B0503020204020204" pitchFamily="34" charset="-122"/>
              </a:rPr>
              <a:t>k</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90515" name="Rectangle 19"/>
          <p:cNvSpPr/>
          <p:nvPr/>
        </p:nvSpPr>
        <p:spPr>
          <a:xfrm>
            <a:off x="3005138" y="4951413"/>
            <a:ext cx="5857875" cy="706437"/>
          </a:xfrm>
          <a:prstGeom prst="rect">
            <a:avLst/>
          </a:prstGeom>
          <a:noFill/>
          <a:ln w="12700">
            <a:noFill/>
          </a:ln>
        </p:spPr>
        <p:txBody>
          <a:bodyPr anchor="t" anchorCtr="0">
            <a:spAutoFit/>
          </a:bodyPr>
          <a:p>
            <a:pPr eaLnBrk="0" hangingPunct="0"/>
            <a:r>
              <a:rPr lang="zh-CN" altLang="en-US" sz="2000" dirty="0">
                <a:solidFill>
                  <a:srgbClr val="FF0066"/>
                </a:solidFill>
                <a:latin typeface="微软雅黑" panose="020B0503020204020204" pitchFamily="34" charset="-122"/>
                <a:ea typeface="微软雅黑" panose="020B0503020204020204" pitchFamily="34" charset="-122"/>
              </a:rPr>
              <a:t>最终须把附加位去掉，此时需考虑舍入（</a:t>
            </a:r>
            <a:r>
              <a:rPr lang="en-US" altLang="zh-CN" sz="2000" dirty="0">
                <a:solidFill>
                  <a:srgbClr val="FF0066"/>
                </a:solidFill>
                <a:latin typeface="微软雅黑" panose="020B0503020204020204" pitchFamily="34" charset="-122"/>
                <a:ea typeface="微软雅黑" panose="020B0503020204020204" pitchFamily="34" charset="-122"/>
              </a:rPr>
              <a:t>IEEE754</a:t>
            </a:r>
            <a:r>
              <a:rPr lang="zh-CN" altLang="en-US" sz="2000" dirty="0">
                <a:solidFill>
                  <a:srgbClr val="FF0066"/>
                </a:solidFill>
                <a:latin typeface="微软雅黑" panose="020B0503020204020204" pitchFamily="34" charset="-122"/>
                <a:ea typeface="微软雅黑" panose="020B0503020204020204" pitchFamily="34" charset="-122"/>
              </a:rPr>
              <a:t>有四种舍入方式）</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90516" name="Rectangle 20"/>
          <p:cNvSpPr/>
          <p:nvPr/>
        </p:nvSpPr>
        <p:spPr>
          <a:xfrm>
            <a:off x="396875" y="5795963"/>
            <a:ext cx="6575425" cy="400050"/>
          </a:xfrm>
          <a:prstGeom prst="rect">
            <a:avLst/>
          </a:prstGeom>
          <a:noFill/>
          <a:ln w="12700">
            <a:noFill/>
          </a:ln>
        </p:spPr>
        <p:txBody>
          <a:bodyPr anchor="t" anchorCtr="0">
            <a:spAutoFit/>
          </a:bodyPr>
          <a:p>
            <a:pPr eaLnBrk="0" hangingPunct="0"/>
            <a:r>
              <a:rPr lang="zh-CN" altLang="en-US" sz="2000" dirty="0">
                <a:solidFill>
                  <a:srgbClr val="FF0066"/>
                </a:solidFill>
                <a:latin typeface="微软雅黑" panose="020B0503020204020204" pitchFamily="34" charset="-122"/>
                <a:ea typeface="微软雅黑" panose="020B0503020204020204" pitchFamily="34" charset="-122"/>
              </a:rPr>
              <a:t>若最终阶码为全</a:t>
            </a:r>
            <a:r>
              <a:rPr lang="en-US" altLang="zh-CN" sz="2000" dirty="0">
                <a:solidFill>
                  <a:srgbClr val="FF0066"/>
                </a:solidFill>
                <a:latin typeface="微软雅黑" panose="020B0503020204020204" pitchFamily="34" charset="-122"/>
                <a:ea typeface="微软雅黑" panose="020B0503020204020204" pitchFamily="34" charset="-122"/>
              </a:rPr>
              <a:t>1</a:t>
            </a:r>
            <a:r>
              <a:rPr lang="zh-CN" altLang="en-US" sz="2000" dirty="0">
                <a:solidFill>
                  <a:srgbClr val="FF0066"/>
                </a:solidFill>
                <a:latin typeface="微软雅黑" panose="020B0503020204020204" pitchFamily="34" charset="-122"/>
                <a:ea typeface="微软雅黑" panose="020B0503020204020204" pitchFamily="34" charset="-122"/>
              </a:rPr>
              <a:t>，则上溢；若尾数为全</a:t>
            </a:r>
            <a:r>
              <a:rPr lang="en-US" altLang="zh-CN" sz="2000" dirty="0">
                <a:solidFill>
                  <a:srgbClr val="FF0066"/>
                </a:solidFill>
                <a:latin typeface="微软雅黑" panose="020B0503020204020204" pitchFamily="34" charset="-122"/>
                <a:ea typeface="微软雅黑" panose="020B0503020204020204" pitchFamily="34" charset="-122"/>
              </a:rPr>
              <a:t>0</a:t>
            </a:r>
            <a:r>
              <a:rPr lang="zh-CN" altLang="en-US" sz="2000" dirty="0">
                <a:solidFill>
                  <a:srgbClr val="FF0066"/>
                </a:solidFill>
                <a:latin typeface="微软雅黑" panose="020B0503020204020204" pitchFamily="34" charset="-122"/>
                <a:ea typeface="微软雅黑" panose="020B0503020204020204" pitchFamily="34" charset="-122"/>
              </a:rPr>
              <a:t>，则下溢</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0509">
                                            <p:txEl>
                                              <p:charRg st="0" end="24"/>
                                            </p:txEl>
                                          </p:spTgt>
                                        </p:tgtEl>
                                        <p:attrNameLst>
                                          <p:attrName>style.visibility</p:attrName>
                                        </p:attrNameLst>
                                      </p:cBhvr>
                                      <p:to>
                                        <p:strVal val="visible"/>
                                      </p:to>
                                    </p:set>
                                    <p:animEffect transition="in" filter="blinds(horizontal)">
                                      <p:cBhvr>
                                        <p:cTn id="7" dur="500"/>
                                        <p:tgtEl>
                                          <p:spTgt spid="490509">
                                            <p:txEl>
                                              <p:charRg st="0" end="24"/>
                                            </p:txEl>
                                          </p:spTgt>
                                        </p:tgtEl>
                                      </p:cBhvr>
                                    </p:animEffect>
                                  </p:childTnLst>
                                  <p:subTnLst>
                                    <p:animClr clrSpc="rgb" dir="cw">
                                      <p:cBhvr override="childStyle">
                                        <p:cTn dur="1" fill="hold" display="0" masterRel="nextClick" afterEffect="1"/>
                                        <p:tgtEl>
                                          <p:spTgt spid="490509">
                                            <p:txEl>
                                              <p:charRg st="0" end="24"/>
                                            </p:txEl>
                                          </p:spTgt>
                                        </p:tgtEl>
                                        <p:attrNameLst>
                                          <p:attrName>ppt_c</p:attrName>
                                        </p:attrNameLst>
                                      </p:cBhvr>
                                      <p:to>
                                        <a:srgbClr val="006600"/>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0509">
                                            <p:txEl>
                                              <p:charRg st="24" end="34"/>
                                            </p:txEl>
                                          </p:spTgt>
                                        </p:tgtEl>
                                        <p:attrNameLst>
                                          <p:attrName>style.visibility</p:attrName>
                                        </p:attrNameLst>
                                      </p:cBhvr>
                                      <p:to>
                                        <p:strVal val="visible"/>
                                      </p:to>
                                    </p:set>
                                    <p:animEffect transition="in" filter="blinds(horizontal)">
                                      <p:cBhvr>
                                        <p:cTn id="12" dur="500"/>
                                        <p:tgtEl>
                                          <p:spTgt spid="490509">
                                            <p:txEl>
                                              <p:charRg st="24" end="34"/>
                                            </p:txEl>
                                          </p:spTgt>
                                        </p:tgtEl>
                                      </p:cBhvr>
                                    </p:animEffect>
                                  </p:childTnLst>
                                  <p:subTnLst>
                                    <p:animClr clrSpc="rgb" dir="cw">
                                      <p:cBhvr override="childStyle">
                                        <p:cTn dur="1" fill="hold" display="0" masterRel="nextClick" afterEffect="1"/>
                                        <p:tgtEl>
                                          <p:spTgt spid="490509">
                                            <p:txEl>
                                              <p:charRg st="24" end="34"/>
                                            </p:txEl>
                                          </p:spTgt>
                                        </p:tgtEl>
                                        <p:attrNameLst>
                                          <p:attrName>ppt_c</p:attrName>
                                        </p:attrNameLst>
                                      </p:cBhvr>
                                      <p:to>
                                        <a:srgbClr val="006600"/>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90511"/>
                                        </p:tgtEl>
                                        <p:attrNameLst>
                                          <p:attrName>style.visibility</p:attrName>
                                        </p:attrNameLst>
                                      </p:cBhvr>
                                      <p:to>
                                        <p:strVal val="visible"/>
                                      </p:to>
                                    </p:set>
                                    <p:animEffect transition="in" filter="blinds(horizontal)">
                                      <p:cBhvr>
                                        <p:cTn id="17" dur="500"/>
                                        <p:tgtEl>
                                          <p:spTgt spid="4905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0509">
                                            <p:txEl>
                                              <p:charRg st="34" end="57"/>
                                            </p:txEl>
                                          </p:spTgt>
                                        </p:tgtEl>
                                        <p:attrNameLst>
                                          <p:attrName>style.visibility</p:attrName>
                                        </p:attrNameLst>
                                      </p:cBhvr>
                                      <p:to>
                                        <p:strVal val="visible"/>
                                      </p:to>
                                    </p:set>
                                    <p:animEffect transition="in" filter="blinds(horizontal)">
                                      <p:cBhvr>
                                        <p:cTn id="22" dur="500"/>
                                        <p:tgtEl>
                                          <p:spTgt spid="490509">
                                            <p:txEl>
                                              <p:charRg st="34" end="57"/>
                                            </p:txEl>
                                          </p:spTgt>
                                        </p:tgtEl>
                                      </p:cBhvr>
                                    </p:animEffect>
                                  </p:childTnLst>
                                  <p:subTnLst>
                                    <p:animClr clrSpc="rgb" dir="cw">
                                      <p:cBhvr override="childStyle">
                                        <p:cTn dur="1" fill="hold" display="0" masterRel="nextClick" afterEffect="1"/>
                                        <p:tgtEl>
                                          <p:spTgt spid="490509">
                                            <p:txEl>
                                              <p:charRg st="34" end="57"/>
                                            </p:txEl>
                                          </p:spTgt>
                                        </p:tgtEl>
                                        <p:attrNameLst>
                                          <p:attrName>ppt_c</p:attrName>
                                        </p:attrNameLst>
                                      </p:cBhvr>
                                      <p:to>
                                        <a:srgbClr val="006600"/>
                                      </p:to>
                                    </p:animClr>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90509">
                                            <p:txEl>
                                              <p:charRg st="57" end="76"/>
                                            </p:txEl>
                                          </p:spTgt>
                                        </p:tgtEl>
                                        <p:attrNameLst>
                                          <p:attrName>style.visibility</p:attrName>
                                        </p:attrNameLst>
                                      </p:cBhvr>
                                      <p:to>
                                        <p:strVal val="visible"/>
                                      </p:to>
                                    </p:set>
                                    <p:animEffect transition="in" filter="blinds(horizontal)">
                                      <p:cBhvr>
                                        <p:cTn id="27" dur="500"/>
                                        <p:tgtEl>
                                          <p:spTgt spid="490509">
                                            <p:txEl>
                                              <p:charRg st="57" end="76"/>
                                            </p:txEl>
                                          </p:spTgt>
                                        </p:tgtEl>
                                      </p:cBhvr>
                                    </p:animEffect>
                                  </p:childTnLst>
                                  <p:subTnLst>
                                    <p:animClr clrSpc="rgb" dir="cw">
                                      <p:cBhvr override="childStyle">
                                        <p:cTn dur="1" fill="hold" display="0" masterRel="nextClick" afterEffect="1"/>
                                        <p:tgtEl>
                                          <p:spTgt spid="490509">
                                            <p:txEl>
                                              <p:charRg st="57" end="76"/>
                                            </p:txEl>
                                          </p:spTgt>
                                        </p:tgtEl>
                                        <p:attrNameLst>
                                          <p:attrName>ppt_c</p:attrName>
                                        </p:attrNameLst>
                                      </p:cBhvr>
                                      <p:to>
                                        <a:srgbClr val="006600"/>
                                      </p:to>
                                    </p:animClr>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90512"/>
                                        </p:tgtEl>
                                        <p:attrNameLst>
                                          <p:attrName>style.visibility</p:attrName>
                                        </p:attrNameLst>
                                      </p:cBhvr>
                                      <p:to>
                                        <p:strVal val="visible"/>
                                      </p:to>
                                    </p:set>
                                    <p:animEffect transition="in" filter="blinds(horizontal)">
                                      <p:cBhvr>
                                        <p:cTn id="32" dur="500"/>
                                        <p:tgtEl>
                                          <p:spTgt spid="49051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90509">
                                            <p:txEl>
                                              <p:charRg st="76" end="90"/>
                                            </p:txEl>
                                          </p:spTgt>
                                        </p:tgtEl>
                                        <p:attrNameLst>
                                          <p:attrName>style.visibility</p:attrName>
                                        </p:attrNameLst>
                                      </p:cBhvr>
                                      <p:to>
                                        <p:strVal val="visible"/>
                                      </p:to>
                                    </p:set>
                                    <p:animEffect transition="in" filter="blinds(horizontal)">
                                      <p:cBhvr>
                                        <p:cTn id="37" dur="500"/>
                                        <p:tgtEl>
                                          <p:spTgt spid="490509">
                                            <p:txEl>
                                              <p:charRg st="76" end="90"/>
                                            </p:txEl>
                                          </p:spTgt>
                                        </p:tgtEl>
                                      </p:cBhvr>
                                    </p:animEffect>
                                  </p:childTnLst>
                                  <p:subTnLst>
                                    <p:animClr clrSpc="rgb" dir="cw">
                                      <p:cBhvr override="childStyle">
                                        <p:cTn dur="1" fill="hold" display="0" masterRel="nextClick" afterEffect="1"/>
                                        <p:tgtEl>
                                          <p:spTgt spid="490509">
                                            <p:txEl>
                                              <p:charRg st="76" end="90"/>
                                            </p:txEl>
                                          </p:spTgt>
                                        </p:tgtEl>
                                        <p:attrNameLst>
                                          <p:attrName>ppt_c</p:attrName>
                                        </p:attrNameLst>
                                      </p:cBhvr>
                                      <p:to>
                                        <a:srgbClr val="006600"/>
                                      </p:to>
                                    </p:animClr>
                                  </p:sub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90513"/>
                                        </p:tgtEl>
                                        <p:attrNameLst>
                                          <p:attrName>style.visibility</p:attrName>
                                        </p:attrNameLst>
                                      </p:cBhvr>
                                      <p:to>
                                        <p:strVal val="visible"/>
                                      </p:to>
                                    </p:set>
                                    <p:animEffect transition="in" filter="blinds(horizontal)">
                                      <p:cBhvr>
                                        <p:cTn id="42" dur="500"/>
                                        <p:tgtEl>
                                          <p:spTgt spid="49051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90509">
                                            <p:txEl>
                                              <p:charRg st="90" end="109"/>
                                            </p:txEl>
                                          </p:spTgt>
                                        </p:tgtEl>
                                        <p:attrNameLst>
                                          <p:attrName>style.visibility</p:attrName>
                                        </p:attrNameLst>
                                      </p:cBhvr>
                                      <p:to>
                                        <p:strVal val="visible"/>
                                      </p:to>
                                    </p:set>
                                    <p:animEffect transition="in" filter="blinds(horizontal)">
                                      <p:cBhvr>
                                        <p:cTn id="47" dur="500"/>
                                        <p:tgtEl>
                                          <p:spTgt spid="490509">
                                            <p:txEl>
                                              <p:charRg st="90" end="109"/>
                                            </p:txEl>
                                          </p:spTgt>
                                        </p:tgtEl>
                                      </p:cBhvr>
                                    </p:animEffect>
                                  </p:childTnLst>
                                  <p:subTnLst>
                                    <p:animClr clrSpc="rgb" dir="cw">
                                      <p:cBhvr override="childStyle">
                                        <p:cTn dur="1" fill="hold" display="0" masterRel="nextClick" afterEffect="1"/>
                                        <p:tgtEl>
                                          <p:spTgt spid="490509">
                                            <p:txEl>
                                              <p:charRg st="90" end="109"/>
                                            </p:txEl>
                                          </p:spTgt>
                                        </p:tgtEl>
                                        <p:attrNameLst>
                                          <p:attrName>ppt_c</p:attrName>
                                        </p:attrNameLst>
                                      </p:cBhvr>
                                      <p:to>
                                        <a:srgbClr val="006600"/>
                                      </p:to>
                                    </p:animClr>
                                  </p:sub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90514"/>
                                        </p:tgtEl>
                                        <p:attrNameLst>
                                          <p:attrName>style.visibility</p:attrName>
                                        </p:attrNameLst>
                                      </p:cBhvr>
                                      <p:to>
                                        <p:strVal val="visible"/>
                                      </p:to>
                                    </p:set>
                                    <p:animEffect transition="in" filter="blinds(horizontal)">
                                      <p:cBhvr>
                                        <p:cTn id="52" dur="500"/>
                                        <p:tgtEl>
                                          <p:spTgt spid="49051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490509">
                                            <p:txEl>
                                              <p:charRg st="109" end="119"/>
                                            </p:txEl>
                                          </p:spTgt>
                                        </p:tgtEl>
                                        <p:attrNameLst>
                                          <p:attrName>style.visibility</p:attrName>
                                        </p:attrNameLst>
                                      </p:cBhvr>
                                      <p:to>
                                        <p:strVal val="visible"/>
                                      </p:to>
                                    </p:set>
                                    <p:animEffect transition="in" filter="blinds(horizontal)">
                                      <p:cBhvr>
                                        <p:cTn id="57" dur="500"/>
                                        <p:tgtEl>
                                          <p:spTgt spid="490509">
                                            <p:txEl>
                                              <p:charRg st="109" end="119"/>
                                            </p:txEl>
                                          </p:spTgt>
                                        </p:tgtEl>
                                      </p:cBhvr>
                                    </p:animEffect>
                                  </p:childTnLst>
                                  <p:subTnLst>
                                    <p:animClr clrSpc="rgb" dir="cw">
                                      <p:cBhvr override="childStyle">
                                        <p:cTn dur="1" fill="hold" display="0" masterRel="nextClick" afterEffect="1"/>
                                        <p:tgtEl>
                                          <p:spTgt spid="490509">
                                            <p:txEl>
                                              <p:charRg st="109" end="119"/>
                                            </p:txEl>
                                          </p:spTgt>
                                        </p:tgtEl>
                                        <p:attrNameLst>
                                          <p:attrName>ppt_c</p:attrName>
                                        </p:attrNameLst>
                                      </p:cBhvr>
                                      <p:to>
                                        <a:srgbClr val="006600"/>
                                      </p:to>
                                    </p:animClr>
                                  </p:sub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90515"/>
                                        </p:tgtEl>
                                        <p:attrNameLst>
                                          <p:attrName>style.visibility</p:attrName>
                                        </p:attrNameLst>
                                      </p:cBhvr>
                                      <p:to>
                                        <p:strVal val="visible"/>
                                      </p:to>
                                    </p:set>
                                    <p:animEffect transition="in" filter="blinds(horizontal)">
                                      <p:cBhvr>
                                        <p:cTn id="62" dur="500"/>
                                        <p:tgtEl>
                                          <p:spTgt spid="49051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490509">
                                            <p:txEl>
                                              <p:charRg st="119" end="131"/>
                                            </p:txEl>
                                          </p:spTgt>
                                        </p:tgtEl>
                                        <p:attrNameLst>
                                          <p:attrName>style.visibility</p:attrName>
                                        </p:attrNameLst>
                                      </p:cBhvr>
                                      <p:to>
                                        <p:strVal val="visible"/>
                                      </p:to>
                                    </p:set>
                                    <p:animEffect transition="in" filter="blinds(horizontal)">
                                      <p:cBhvr>
                                        <p:cTn id="67" dur="500"/>
                                        <p:tgtEl>
                                          <p:spTgt spid="490509">
                                            <p:txEl>
                                              <p:charRg st="119" end="131"/>
                                            </p:txEl>
                                          </p:spTgt>
                                        </p:tgtEl>
                                      </p:cBhvr>
                                    </p:animEffect>
                                  </p:childTnLst>
                                  <p:subTnLst>
                                    <p:animClr clrSpc="rgb" dir="cw">
                                      <p:cBhvr override="childStyle">
                                        <p:cTn dur="1" fill="hold" display="0" masterRel="nextClick" afterEffect="1"/>
                                        <p:tgtEl>
                                          <p:spTgt spid="490509">
                                            <p:txEl>
                                              <p:charRg st="119" end="131"/>
                                            </p:txEl>
                                          </p:spTgt>
                                        </p:tgtEl>
                                        <p:attrNameLst>
                                          <p:attrName>ppt_c</p:attrName>
                                        </p:attrNameLst>
                                      </p:cBhvr>
                                      <p:to>
                                        <a:srgbClr val="006600"/>
                                      </p:to>
                                    </p:animClr>
                                  </p:sub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490516"/>
                                        </p:tgtEl>
                                        <p:attrNameLst>
                                          <p:attrName>style.visibility</p:attrName>
                                        </p:attrNameLst>
                                      </p:cBhvr>
                                      <p:to>
                                        <p:strVal val="visible"/>
                                      </p:to>
                                    </p:set>
                                    <p:animEffect transition="in" filter="blinds(horizontal)">
                                      <p:cBhvr>
                                        <p:cTn id="72" dur="500"/>
                                        <p:tgtEl>
                                          <p:spTgt spid="490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511" grpId="0"/>
      <p:bldP spid="490512" grpId="0"/>
      <p:bldP spid="490513" grpId="0"/>
      <p:bldP spid="490514" grpId="0"/>
      <p:bldP spid="490515" grpId="0"/>
      <p:bldP spid="49051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1954" name="Rectangle 2"/>
          <p:cNvSpPr>
            <a:spLocks noGrp="1"/>
          </p:cNvSpPr>
          <p:nvPr>
            <p:ph idx="1"/>
          </p:nvPr>
        </p:nvSpPr>
        <p:spPr>
          <a:xfrm>
            <a:off x="306388" y="698500"/>
            <a:ext cx="8661400" cy="5170488"/>
          </a:xfrm>
          <a:ln/>
        </p:spPr>
        <p:txBody>
          <a:bodyPr vert="horz" wrap="square" lIns="91440" tIns="45720" rIns="91440" bIns="45720" anchor="t" anchorCtr="0">
            <a:spAutoFit/>
          </a:bodyPr>
          <a:p>
            <a:pPr marL="342900" indent="-342900">
              <a:lnSpc>
                <a:spcPct val="120000"/>
              </a:lnSpc>
              <a:buNone/>
            </a:pPr>
            <a:r>
              <a:rPr lang="en-US" altLang="zh-CN" sz="2000" dirty="0">
                <a:latin typeface="微软雅黑" panose="020B0503020204020204" pitchFamily="34" charset="-122"/>
                <a:ea typeface="微软雅黑" panose="020B0503020204020204" pitchFamily="34" charset="-122"/>
              </a:rPr>
              <a:t>已知</a:t>
            </a:r>
            <a:r>
              <a:rPr lang="en-US" altLang="en-US" sz="2000" dirty="0">
                <a:latin typeface="微软雅黑" panose="020B0503020204020204" pitchFamily="34" charset="-122"/>
                <a:ea typeface="微软雅黑" panose="020B0503020204020204" pitchFamily="34" charset="-122"/>
              </a:rPr>
              <a:t>x=0.5</a:t>
            </a:r>
            <a:r>
              <a:rPr lang="en-US" altLang="zh-CN" sz="2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y=-0.4375</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求</a:t>
            </a:r>
            <a:r>
              <a:rPr lang="en-US" altLang="en-US" sz="2000" dirty="0">
                <a:latin typeface="微软雅黑" panose="020B0503020204020204" pitchFamily="34" charset="-122"/>
                <a:ea typeface="微软雅黑" panose="020B0503020204020204" pitchFamily="34" charset="-122"/>
              </a:rPr>
              <a:t>x+y=?</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用</a:t>
            </a:r>
            <a:r>
              <a:rPr lang="en-US" altLang="en-US" sz="2000" dirty="0">
                <a:latin typeface="微软雅黑" panose="020B0503020204020204" pitchFamily="34" charset="-122"/>
                <a:ea typeface="微软雅黑" panose="020B0503020204020204" pitchFamily="34" charset="-122"/>
              </a:rPr>
              <a:t>IEEE754</a:t>
            </a:r>
            <a:r>
              <a:rPr lang="zh-CN" altLang="en-US" sz="2000" dirty="0">
                <a:latin typeface="微软雅黑" panose="020B0503020204020204" pitchFamily="34" charset="-122"/>
                <a:ea typeface="微软雅黑" panose="020B0503020204020204" pitchFamily="34" charset="-122"/>
              </a:rPr>
              <a:t>标准单精度格式计算</a:t>
            </a:r>
            <a:r>
              <a:rPr lang="en-US" altLang="zh-CN" sz="2000" dirty="0">
                <a:latin typeface="微软雅黑" panose="020B0503020204020204" pitchFamily="34" charset="-122"/>
                <a:ea typeface="微软雅黑" panose="020B0503020204020204" pitchFamily="34" charset="-122"/>
              </a:rPr>
              <a:t>)</a:t>
            </a:r>
            <a:endParaRPr lang="en-US" altLang="en-US" sz="2000" dirty="0">
              <a:latin typeface="微软雅黑" panose="020B0503020204020204" pitchFamily="34" charset="-122"/>
              <a:ea typeface="微软雅黑" panose="020B0503020204020204" pitchFamily="34" charset="-122"/>
            </a:endParaRPr>
          </a:p>
          <a:p>
            <a:pPr marL="342900" indent="-342900">
              <a:lnSpc>
                <a:spcPct val="120000"/>
              </a:lnSpc>
              <a:buNone/>
            </a:pPr>
            <a:r>
              <a:rPr lang="zh-CN" altLang="en-US" sz="2000" dirty="0">
                <a:latin typeface="微软雅黑" panose="020B0503020204020204" pitchFamily="34" charset="-122"/>
                <a:ea typeface="微软雅黑" panose="020B0503020204020204" pitchFamily="34" charset="-122"/>
              </a:rPr>
              <a:t>解:  </a:t>
            </a:r>
            <a:r>
              <a:rPr lang="en-US" altLang="zh-CN" sz="2000" dirty="0">
                <a:solidFill>
                  <a:srgbClr val="0000FF"/>
                </a:solidFill>
                <a:latin typeface="微软雅黑" panose="020B0503020204020204" pitchFamily="34" charset="-122"/>
                <a:ea typeface="微软雅黑" panose="020B0503020204020204" pitchFamily="34" charset="-122"/>
              </a:rPr>
              <a:t>x=0.5=1/2=(0.100...0)</a:t>
            </a:r>
            <a:r>
              <a:rPr lang="en-US" altLang="zh-CN" sz="2000" baseline="-2000" dirty="0">
                <a:solidFill>
                  <a:srgbClr val="0000FF"/>
                </a:solidFill>
                <a:latin typeface="微软雅黑" panose="020B0503020204020204" pitchFamily="34" charset="-122"/>
                <a:ea typeface="微软雅黑" panose="020B0503020204020204" pitchFamily="34" charset="-122"/>
              </a:rPr>
              <a:t>2</a:t>
            </a:r>
            <a:r>
              <a:rPr lang="en-US" altLang="zh-CN" sz="2000" dirty="0">
                <a:solidFill>
                  <a:srgbClr val="0000FF"/>
                </a:solidFill>
                <a:latin typeface="微软雅黑" panose="020B0503020204020204" pitchFamily="34" charset="-122"/>
                <a:ea typeface="微软雅黑" panose="020B0503020204020204" pitchFamily="34" charset="-122"/>
              </a:rPr>
              <a:t>=(1.00...0)</a:t>
            </a:r>
            <a:r>
              <a:rPr lang="en-US" altLang="zh-CN" sz="2000" baseline="-2000" dirty="0">
                <a:solidFill>
                  <a:srgbClr val="0000FF"/>
                </a:solidFill>
                <a:latin typeface="微软雅黑" panose="020B0503020204020204" pitchFamily="34" charset="-122"/>
                <a:ea typeface="微软雅黑" panose="020B0503020204020204" pitchFamily="34" charset="-122"/>
              </a:rPr>
              <a:t>2</a:t>
            </a:r>
            <a:r>
              <a:rPr lang="en-US" altLang="zh-CN" sz="2000" dirty="0">
                <a:solidFill>
                  <a:srgbClr val="0000FF"/>
                </a:solidFill>
                <a:latin typeface="微软雅黑" panose="020B0503020204020204" pitchFamily="34" charset="-122"/>
                <a:ea typeface="微软雅黑" panose="020B0503020204020204" pitchFamily="34" charset="-122"/>
              </a:rPr>
              <a:t>x2</a:t>
            </a:r>
            <a:r>
              <a:rPr lang="en-US" altLang="zh-CN" sz="2000" baseline="38000" dirty="0">
                <a:solidFill>
                  <a:srgbClr val="0000FF"/>
                </a:solidFill>
                <a:latin typeface="微软雅黑" panose="020B0503020204020204" pitchFamily="34" charset="-122"/>
                <a:ea typeface="微软雅黑" panose="020B0503020204020204" pitchFamily="34" charset="-122"/>
              </a:rPr>
              <a:t>-1</a:t>
            </a:r>
            <a:r>
              <a:rPr lang="en-US" altLang="zh-CN" sz="2000" dirty="0">
                <a:solidFill>
                  <a:srgbClr val="0000FF"/>
                </a:solidFill>
                <a:latin typeface="微软雅黑" panose="020B0503020204020204" pitchFamily="34" charset="-122"/>
                <a:ea typeface="微软雅黑" panose="020B0503020204020204" pitchFamily="34" charset="-122"/>
              </a:rPr>
              <a:t> </a:t>
            </a:r>
            <a:endParaRPr lang="en-US" altLang="zh-CN" sz="2000" dirty="0">
              <a:solidFill>
                <a:srgbClr val="0000FF"/>
              </a:solidFill>
              <a:latin typeface="微软雅黑" panose="020B0503020204020204" pitchFamily="34" charset="-122"/>
              <a:ea typeface="微软雅黑" panose="020B0503020204020204" pitchFamily="34" charset="-122"/>
            </a:endParaRPr>
          </a:p>
          <a:p>
            <a:pPr marL="342900" indent="-342900">
              <a:lnSpc>
                <a:spcPct val="120000"/>
              </a:lnSpc>
              <a:buNone/>
            </a:pPr>
            <a:r>
              <a:rPr lang="en-US" altLang="zh-CN" sz="2000" dirty="0">
                <a:solidFill>
                  <a:srgbClr val="0000FF"/>
                </a:solidFill>
                <a:latin typeface="微软雅黑" panose="020B0503020204020204" pitchFamily="34" charset="-122"/>
                <a:ea typeface="微软雅黑" panose="020B0503020204020204" pitchFamily="34" charset="-122"/>
              </a:rPr>
              <a:t>       y=-0.4325=(-0.01110...0)</a:t>
            </a:r>
            <a:r>
              <a:rPr lang="en-US" altLang="zh-CN" sz="2000" baseline="-2000" dirty="0">
                <a:solidFill>
                  <a:srgbClr val="0000FF"/>
                </a:solidFill>
                <a:latin typeface="微软雅黑" panose="020B0503020204020204" pitchFamily="34" charset="-122"/>
                <a:ea typeface="微软雅黑" panose="020B0503020204020204" pitchFamily="34" charset="-122"/>
              </a:rPr>
              <a:t>2</a:t>
            </a:r>
            <a:r>
              <a:rPr lang="en-US" altLang="zh-CN" sz="2000" dirty="0">
                <a:solidFill>
                  <a:srgbClr val="0000FF"/>
                </a:solidFill>
                <a:latin typeface="微软雅黑" panose="020B0503020204020204" pitchFamily="34" charset="-122"/>
                <a:ea typeface="微软雅黑" panose="020B0503020204020204" pitchFamily="34" charset="-122"/>
              </a:rPr>
              <a:t>=(-1.110..0)</a:t>
            </a:r>
            <a:r>
              <a:rPr lang="en-US" altLang="zh-CN" sz="2000" baseline="-2000" dirty="0">
                <a:solidFill>
                  <a:srgbClr val="0000FF"/>
                </a:solidFill>
                <a:latin typeface="微软雅黑" panose="020B0503020204020204" pitchFamily="34" charset="-122"/>
                <a:ea typeface="微软雅黑" panose="020B0503020204020204" pitchFamily="34" charset="-122"/>
              </a:rPr>
              <a:t>2</a:t>
            </a:r>
            <a:r>
              <a:rPr lang="en-US" altLang="zh-CN" sz="2000" dirty="0">
                <a:solidFill>
                  <a:srgbClr val="0000FF"/>
                </a:solidFill>
                <a:latin typeface="微软雅黑" panose="020B0503020204020204" pitchFamily="34" charset="-122"/>
                <a:ea typeface="微软雅黑" panose="020B0503020204020204" pitchFamily="34" charset="-122"/>
              </a:rPr>
              <a:t>x2</a:t>
            </a:r>
            <a:r>
              <a:rPr lang="en-US" altLang="zh-CN" sz="2000" baseline="38000" dirty="0">
                <a:solidFill>
                  <a:srgbClr val="0000FF"/>
                </a:solidFill>
                <a:latin typeface="微软雅黑" panose="020B0503020204020204" pitchFamily="34" charset="-122"/>
                <a:ea typeface="微软雅黑" panose="020B0503020204020204" pitchFamily="34" charset="-122"/>
              </a:rPr>
              <a:t>-2</a:t>
            </a:r>
            <a:endParaRPr lang="en-US" altLang="zh-CN" sz="2000" baseline="38000" dirty="0">
              <a:solidFill>
                <a:srgbClr val="0000FF"/>
              </a:solidFill>
              <a:latin typeface="微软雅黑" panose="020B0503020204020204" pitchFamily="34" charset="-122"/>
              <a:ea typeface="微软雅黑" panose="020B0503020204020204" pitchFamily="34" charset="-122"/>
            </a:endParaRPr>
          </a:p>
          <a:p>
            <a:pPr marL="342900" indent="-342900">
              <a:lnSpc>
                <a:spcPct val="120000"/>
              </a:lnSpc>
              <a:buNone/>
            </a:pPr>
            <a:r>
              <a:rPr lang="en-US" altLang="zh-CN" sz="2000" baseline="38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[x]</a:t>
            </a:r>
            <a:r>
              <a:rPr lang="zh-CN" altLang="en-US" sz="2000" baseline="-2000" dirty="0">
                <a:latin typeface="微软雅黑" panose="020B0503020204020204" pitchFamily="34" charset="-122"/>
                <a:ea typeface="微软雅黑" panose="020B0503020204020204" pitchFamily="34" charset="-122"/>
              </a:rPr>
              <a:t>浮</a:t>
            </a:r>
            <a:r>
              <a:rPr lang="zh-CN" altLang="en-US" sz="2000" dirty="0">
                <a:latin typeface="微软雅黑" panose="020B0503020204020204" pitchFamily="34" charset="-122"/>
                <a:ea typeface="微软雅黑" panose="020B0503020204020204" pitchFamily="34" charset="-122"/>
              </a:rPr>
              <a:t>=0 01111110,00…0    </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y]</a:t>
            </a:r>
            <a:r>
              <a:rPr lang="zh-CN" altLang="en-US" sz="2000" baseline="-2000" dirty="0">
                <a:latin typeface="微软雅黑" panose="020B0503020204020204" pitchFamily="34" charset="-122"/>
                <a:ea typeface="微软雅黑" panose="020B0503020204020204" pitchFamily="34" charset="-122"/>
              </a:rPr>
              <a:t>浮</a:t>
            </a:r>
            <a:r>
              <a:rPr lang="zh-CN" altLang="en-US" sz="2000" dirty="0">
                <a:latin typeface="微软雅黑" panose="020B0503020204020204" pitchFamily="34" charset="-122"/>
                <a:ea typeface="微软雅黑" panose="020B0503020204020204" pitchFamily="34" charset="-122"/>
              </a:rPr>
              <a:t>=1 01111101,110…0</a:t>
            </a:r>
            <a:endParaRPr lang="zh-CN" altLang="en-US" sz="2000" dirty="0">
              <a:latin typeface="微软雅黑" panose="020B0503020204020204" pitchFamily="34" charset="-122"/>
              <a:ea typeface="微软雅黑" panose="020B0503020204020204" pitchFamily="34" charset="-122"/>
            </a:endParaRPr>
          </a:p>
          <a:p>
            <a:pPr marL="342900" indent="-342900">
              <a:lnSpc>
                <a:spcPct val="120000"/>
              </a:lnSpc>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对阶:</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Δ</a:t>
            </a:r>
            <a:r>
              <a:rPr lang="en-US" altLang="en-US" sz="2000" dirty="0">
                <a:latin typeface="微软雅黑" panose="020B0503020204020204" pitchFamily="34" charset="-122"/>
                <a:ea typeface="微软雅黑" panose="020B0503020204020204" pitchFamily="34" charset="-122"/>
              </a:rPr>
              <a:t>E</a:t>
            </a:r>
            <a:r>
              <a:rPr lang="en-US" altLang="zh-CN" sz="2000" dirty="0">
                <a:latin typeface="微软雅黑" panose="020B0503020204020204" pitchFamily="34" charset="-122"/>
                <a:ea typeface="微软雅黑" panose="020B0503020204020204" pitchFamily="34" charset="-122"/>
              </a:rPr>
              <a:t>]</a:t>
            </a:r>
            <a:r>
              <a:rPr lang="zh-CN" altLang="en-US" sz="2000" baseline="-2000" dirty="0">
                <a:latin typeface="微软雅黑" panose="020B0503020204020204" pitchFamily="34" charset="-122"/>
                <a:ea typeface="微软雅黑" panose="020B0503020204020204" pitchFamily="34" charset="-122"/>
              </a:rPr>
              <a:t>补</a:t>
            </a:r>
            <a:r>
              <a:rPr lang="zh-CN" altLang="en-US" sz="2000" dirty="0">
                <a:latin typeface="微软雅黑" panose="020B0503020204020204" pitchFamily="34" charset="-122"/>
                <a:ea typeface="微软雅黑" panose="020B0503020204020204" pitchFamily="34" charset="-122"/>
              </a:rPr>
              <a:t>=0111 1110 + 1000 0011=0000 0001，</a:t>
            </a:r>
            <a:r>
              <a:rPr lang="en-US" altLang="zh-CN" sz="2000" dirty="0">
                <a:latin typeface="微软雅黑" panose="020B0503020204020204" pitchFamily="34" charset="-122"/>
                <a:ea typeface="微软雅黑" panose="020B0503020204020204" pitchFamily="34" charset="-122"/>
              </a:rPr>
              <a:t>Δ</a:t>
            </a:r>
            <a:r>
              <a:rPr lang="en-US" altLang="en-US" sz="2000" dirty="0">
                <a:latin typeface="微软雅黑" panose="020B0503020204020204" pitchFamily="34" charset="-122"/>
                <a:ea typeface="微软雅黑" panose="020B0503020204020204" pitchFamily="34" charset="-122"/>
              </a:rPr>
              <a:t>E=1</a:t>
            </a:r>
            <a:endParaRPr lang="zh-CN" altLang="en-US" sz="2000" dirty="0">
              <a:solidFill>
                <a:srgbClr val="009900"/>
              </a:solidFill>
              <a:latin typeface="微软雅黑" panose="020B0503020204020204" pitchFamily="34" charset="-122"/>
              <a:ea typeface="微软雅黑" panose="020B0503020204020204" pitchFamily="34" charset="-122"/>
            </a:endParaRPr>
          </a:p>
          <a:p>
            <a:pPr marL="342900" indent="-342900">
              <a:lnSpc>
                <a:spcPct val="120000"/>
              </a:lnSpc>
              <a:buNone/>
            </a:pPr>
            <a:r>
              <a:rPr lang="en-US" altLang="zh-CN" sz="2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故</a:t>
            </a:r>
            <a:r>
              <a:rPr lang="zh-CN" altLang="zh-CN" sz="2000" dirty="0">
                <a:latin typeface="微软雅黑" panose="020B0503020204020204" pitchFamily="34" charset="-122"/>
                <a:ea typeface="微软雅黑" panose="020B0503020204020204" pitchFamily="34" charset="-122"/>
              </a:rPr>
              <a:t>对</a:t>
            </a:r>
            <a:r>
              <a:rPr lang="en-US" altLang="zh-CN" sz="2000" dirty="0">
                <a:latin typeface="微软雅黑" panose="020B0503020204020204" pitchFamily="34" charset="-122"/>
                <a:ea typeface="微软雅黑" panose="020B0503020204020204" pitchFamily="34" charset="-122"/>
              </a:rPr>
              <a:t>y</a:t>
            </a:r>
            <a:r>
              <a:rPr lang="zh-CN" altLang="zh-CN" sz="2000" dirty="0">
                <a:latin typeface="微软雅黑" panose="020B0503020204020204" pitchFamily="34" charset="-122"/>
                <a:ea typeface="微软雅黑" panose="020B0503020204020204" pitchFamily="34" charset="-122"/>
              </a:rPr>
              <a:t>进行对阶</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y]</a:t>
            </a:r>
            <a:r>
              <a:rPr lang="zh-CN" altLang="en-US" sz="2000" baseline="-2000" dirty="0">
                <a:latin typeface="微软雅黑" panose="020B0503020204020204" pitchFamily="34" charset="-122"/>
                <a:ea typeface="微软雅黑" panose="020B0503020204020204" pitchFamily="34" charset="-122"/>
              </a:rPr>
              <a:t>浮</a:t>
            </a:r>
            <a:r>
              <a:rPr lang="zh-CN" altLang="en-US" sz="2000" dirty="0">
                <a:latin typeface="微软雅黑" panose="020B0503020204020204" pitchFamily="34" charset="-122"/>
                <a:ea typeface="微软雅黑" panose="020B0503020204020204" pitchFamily="34" charset="-122"/>
              </a:rPr>
              <a:t>=1 0111 1110 </a:t>
            </a:r>
            <a:r>
              <a:rPr lang="zh-CN" altLang="en-US" sz="2000" dirty="0">
                <a:solidFill>
                  <a:srgbClr val="CC0000"/>
                </a:solidFill>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110…0</a:t>
            </a:r>
            <a:r>
              <a:rPr lang="zh-CN" altLang="en-US" sz="2000" dirty="0">
                <a:solidFill>
                  <a:srgbClr val="CC0000"/>
                </a:solidFill>
                <a:latin typeface="微软雅黑" panose="020B0503020204020204" pitchFamily="34" charset="-122"/>
                <a:ea typeface="微软雅黑" panose="020B0503020204020204" pitchFamily="34" charset="-122"/>
              </a:rPr>
              <a:t>(高位补隐藏位)</a:t>
            </a:r>
            <a:endParaRPr lang="zh-CN" altLang="en-US" sz="2000" dirty="0">
              <a:solidFill>
                <a:srgbClr val="CC0000"/>
              </a:solidFill>
              <a:latin typeface="微软雅黑" panose="020B0503020204020204" pitchFamily="34" charset="-122"/>
              <a:ea typeface="微软雅黑" panose="020B0503020204020204" pitchFamily="34" charset="-122"/>
            </a:endParaRPr>
          </a:p>
          <a:p>
            <a:pPr marL="342900" indent="-342900">
              <a:lnSpc>
                <a:spcPct val="120000"/>
              </a:lnSpc>
              <a:buNone/>
            </a:pPr>
            <a:r>
              <a:rPr lang="zh-CN" altLang="en-US" sz="2000" dirty="0">
                <a:solidFill>
                  <a:schemeClr val="accent2"/>
                </a:solidFill>
                <a:latin typeface="微软雅黑" panose="020B0503020204020204" pitchFamily="34" charset="-122"/>
                <a:ea typeface="微软雅黑" panose="020B0503020204020204" pitchFamily="34" charset="-122"/>
              </a:rPr>
              <a:t>    尾数相加：</a:t>
            </a:r>
            <a:r>
              <a:rPr lang="zh-CN" altLang="en-US" sz="2000" dirty="0">
                <a:solidFill>
                  <a:srgbClr val="0000FF"/>
                </a:solidFill>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1.0000...0 + (</a:t>
            </a:r>
            <a:r>
              <a:rPr lang="zh-CN" altLang="en-US" sz="2000" dirty="0">
                <a:solidFill>
                  <a:srgbClr val="0000FF"/>
                </a:solidFill>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0.1110...0) = </a:t>
            </a:r>
            <a:r>
              <a:rPr lang="zh-CN" altLang="en-US" sz="2000" dirty="0">
                <a:solidFill>
                  <a:schemeClr val="accent2"/>
                </a:solidFill>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0.00100…0 </a:t>
            </a:r>
            <a:endParaRPr lang="zh-CN" altLang="en-US" sz="2000" dirty="0">
              <a:latin typeface="微软雅黑" panose="020B0503020204020204" pitchFamily="34" charset="-122"/>
              <a:ea typeface="微软雅黑" panose="020B0503020204020204" pitchFamily="34" charset="-122"/>
            </a:endParaRPr>
          </a:p>
          <a:p>
            <a:pPr marL="342900" indent="-342900">
              <a:lnSpc>
                <a:spcPct val="120000"/>
              </a:lnSpc>
              <a:buNone/>
            </a:pPr>
            <a:r>
              <a:rPr lang="zh-CN" altLang="en-US" sz="2000" dirty="0">
                <a:solidFill>
                  <a:srgbClr val="CC0000"/>
                </a:solidFill>
                <a:latin typeface="微软雅黑" panose="020B0503020204020204" pitchFamily="34" charset="-122"/>
                <a:ea typeface="微软雅黑" panose="020B0503020204020204" pitchFamily="34" charset="-122"/>
              </a:rPr>
              <a:t>                (原码加法，最左边一位为符号位，符号位分开处理</a:t>
            </a:r>
            <a:r>
              <a:rPr lang="en-US" altLang="zh-CN" sz="2000" dirty="0">
                <a:solidFill>
                  <a:srgbClr val="CC0000"/>
                </a:solidFill>
                <a:latin typeface="微软雅黑" panose="020B0503020204020204" pitchFamily="34" charset="-122"/>
                <a:ea typeface="微软雅黑" panose="020B0503020204020204" pitchFamily="34" charset="-122"/>
              </a:rPr>
              <a:t>)</a:t>
            </a:r>
            <a:endParaRPr lang="en-US" altLang="zh-CN" sz="2000" dirty="0">
              <a:solidFill>
                <a:srgbClr val="CC0000"/>
              </a:solidFill>
              <a:latin typeface="微软雅黑" panose="020B0503020204020204" pitchFamily="34" charset="-122"/>
              <a:ea typeface="微软雅黑" panose="020B0503020204020204" pitchFamily="34" charset="-122"/>
            </a:endParaRPr>
          </a:p>
          <a:p>
            <a:pPr marL="342900" indent="-342900">
              <a:lnSpc>
                <a:spcPct val="120000"/>
              </a:lnSpc>
              <a:buNone/>
            </a:pPr>
            <a:r>
              <a:rPr lang="zh-CN" altLang="en-US" sz="2000" dirty="0">
                <a:solidFill>
                  <a:schemeClr val="accent2"/>
                </a:solidFill>
                <a:latin typeface="微软雅黑" panose="020B0503020204020204" pitchFamily="34" charset="-122"/>
                <a:ea typeface="微软雅黑" panose="020B0503020204020204" pitchFamily="34" charset="-122"/>
              </a:rPr>
              <a:t>    左规：</a:t>
            </a:r>
            <a:r>
              <a:rPr lang="zh-CN" altLang="en-US"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(0.00100…0)</a:t>
            </a:r>
            <a:r>
              <a:rPr lang="zh-CN" altLang="zh-CN" sz="2000" baseline="-2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x2</a:t>
            </a:r>
            <a:r>
              <a:rPr lang="en-US" altLang="zh-CN" sz="2000" baseline="38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(1.00…0)</a:t>
            </a:r>
            <a:r>
              <a:rPr lang="en-US" altLang="zh-CN" sz="2000" baseline="-2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x2</a:t>
            </a:r>
            <a:r>
              <a:rPr lang="en-US" altLang="zh-CN" sz="2000" baseline="38000" dirty="0">
                <a:latin typeface="微软雅黑" panose="020B0503020204020204" pitchFamily="34" charset="-122"/>
                <a:ea typeface="微软雅黑" panose="020B0503020204020204" pitchFamily="34" charset="-122"/>
              </a:rPr>
              <a:t>-4  </a:t>
            </a:r>
            <a:endParaRPr lang="en-US" altLang="zh-CN" sz="2000" baseline="38000" dirty="0">
              <a:latin typeface="微软雅黑" panose="020B0503020204020204" pitchFamily="34" charset="-122"/>
              <a:ea typeface="微软雅黑" panose="020B0503020204020204" pitchFamily="34" charset="-122"/>
            </a:endParaRPr>
          </a:p>
          <a:p>
            <a:pPr marL="342900" indent="-342900">
              <a:lnSpc>
                <a:spcPct val="120000"/>
              </a:lnSpc>
              <a:buNone/>
            </a:pPr>
            <a:r>
              <a:rPr lang="en-US" altLang="zh-CN" sz="2000" baseline="38000" dirty="0">
                <a:latin typeface="微软雅黑" panose="020B0503020204020204" pitchFamily="34" charset="-122"/>
                <a:ea typeface="微软雅黑" panose="020B0503020204020204" pitchFamily="34" charset="-122"/>
              </a:rPr>
              <a:t>                        </a:t>
            </a:r>
            <a:r>
              <a:rPr lang="zh-CN" altLang="en-US" sz="2000" dirty="0">
                <a:solidFill>
                  <a:srgbClr val="CC0000"/>
                </a:solidFill>
                <a:latin typeface="微软雅黑" panose="020B0503020204020204" pitchFamily="34" charset="-122"/>
                <a:ea typeface="微软雅黑" panose="020B0503020204020204" pitchFamily="34" charset="-122"/>
              </a:rPr>
              <a:t>(阶码减3，实际上是加了三次</a:t>
            </a:r>
            <a:r>
              <a:rPr lang="en-US" altLang="zh-CN" sz="2000" dirty="0">
                <a:solidFill>
                  <a:srgbClr val="CC0000"/>
                </a:solidFill>
                <a:latin typeface="微软雅黑" panose="020B0503020204020204" pitchFamily="34" charset="-122"/>
                <a:ea typeface="微软雅黑" panose="020B0503020204020204" pitchFamily="34" charset="-122"/>
              </a:rPr>
              <a:t>11111111) </a:t>
            </a:r>
            <a:endParaRPr lang="en-US" altLang="zh-CN" sz="2000" dirty="0">
              <a:solidFill>
                <a:srgbClr val="CC0000"/>
              </a:solidFill>
              <a:latin typeface="微软雅黑" panose="020B0503020204020204" pitchFamily="34" charset="-122"/>
              <a:ea typeface="微软雅黑" panose="020B0503020204020204" pitchFamily="34" charset="-122"/>
            </a:endParaRPr>
          </a:p>
          <a:p>
            <a:pPr marL="342900" indent="-342900">
              <a:lnSpc>
                <a:spcPct val="120000"/>
              </a:lnSpc>
              <a:buNone/>
            </a:pPr>
            <a:r>
              <a:rPr lang="en-US" altLang="zh-CN" sz="2000" dirty="0">
                <a:latin typeface="微软雅黑" panose="020B0503020204020204" pitchFamily="34" charset="-122"/>
                <a:ea typeface="微软雅黑" panose="020B0503020204020204" pitchFamily="34" charset="-122"/>
              </a:rPr>
              <a:t>              [x+y]</a:t>
            </a:r>
            <a:r>
              <a:rPr lang="zh-CN" altLang="en-US" sz="2000" baseline="-2000" dirty="0">
                <a:latin typeface="微软雅黑" panose="020B0503020204020204" pitchFamily="34" charset="-122"/>
                <a:ea typeface="微软雅黑" panose="020B0503020204020204" pitchFamily="34" charset="-122"/>
              </a:rPr>
              <a:t>浮</a:t>
            </a:r>
            <a:r>
              <a:rPr lang="zh-CN" altLang="en-US" sz="2000" dirty="0">
                <a:latin typeface="微软雅黑" panose="020B0503020204020204" pitchFamily="34" charset="-122"/>
                <a:ea typeface="微软雅黑" panose="020B0503020204020204" pitchFamily="34" charset="-122"/>
              </a:rPr>
              <a:t>=0 0111 1011 00…0     </a:t>
            </a:r>
            <a:endParaRPr lang="zh-CN" altLang="zh-CN" sz="2000" dirty="0">
              <a:latin typeface="微软雅黑" panose="020B0503020204020204" pitchFamily="34" charset="-122"/>
              <a:ea typeface="微软雅黑" panose="020B0503020204020204" pitchFamily="34" charset="-122"/>
            </a:endParaRPr>
          </a:p>
          <a:p>
            <a:pPr marL="342900" indent="-342900">
              <a:lnSpc>
                <a:spcPct val="120000"/>
              </a:lnSpc>
              <a:buNone/>
            </a:pPr>
            <a:r>
              <a:rPr lang="zh-CN" altLang="en-US" sz="2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x+y=(1.0)</a:t>
            </a:r>
            <a:r>
              <a:rPr lang="en-US" altLang="zh-CN" sz="2000" baseline="-2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x2</a:t>
            </a:r>
            <a:r>
              <a:rPr lang="en-US" altLang="zh-CN" sz="2000" baseline="38000" dirty="0">
                <a:latin typeface="微软雅黑" panose="020B0503020204020204" pitchFamily="34" charset="-122"/>
                <a:ea typeface="微软雅黑" panose="020B0503020204020204" pitchFamily="34" charset="-122"/>
              </a:rPr>
              <a:t>-4</a:t>
            </a:r>
            <a:r>
              <a:rPr lang="en-US" altLang="zh-CN" sz="2000" dirty="0">
                <a:latin typeface="微软雅黑" panose="020B0503020204020204" pitchFamily="34" charset="-122"/>
                <a:ea typeface="微软雅黑" panose="020B0503020204020204" pitchFamily="34" charset="-122"/>
              </a:rPr>
              <a:t>=1/16=0.0625</a:t>
            </a:r>
            <a:r>
              <a:rPr lang="en-US" altLang="zh-CN" sz="2000" baseline="38000" dirty="0">
                <a:latin typeface="微软雅黑" panose="020B0503020204020204" pitchFamily="34" charset="-122"/>
                <a:ea typeface="微软雅黑" panose="020B0503020204020204" pitchFamily="34" charset="-122"/>
              </a:rPr>
              <a:t>      </a:t>
            </a:r>
            <a:endParaRPr lang="zh-CN" altLang="en-US" sz="2000" baseline="38000" dirty="0">
              <a:latin typeface="微软雅黑" panose="020B0503020204020204" pitchFamily="34" charset="-122"/>
              <a:ea typeface="微软雅黑" panose="020B0503020204020204" pitchFamily="34" charset="-122"/>
            </a:endParaRPr>
          </a:p>
        </p:txBody>
      </p:sp>
      <p:sp>
        <p:nvSpPr>
          <p:cNvPr id="125954" name="Rectangle 3"/>
          <p:cNvSpPr>
            <a:spLocks noGrp="1"/>
          </p:cNvSpPr>
          <p:nvPr>
            <p:ph type="title"/>
          </p:nvPr>
        </p:nvSpPr>
        <p:spPr>
          <a:xfrm>
            <a:off x="800100" y="200025"/>
            <a:ext cx="6073775" cy="474663"/>
          </a:xfrm>
          <a:ln/>
        </p:spPr>
        <p:txBody>
          <a:bodyPr vert="horz" wrap="square" lIns="63500" tIns="25400" rIns="63500" bIns="25400" anchor="ctr" anchorCtr="0">
            <a:spAutoFit/>
          </a:bodyPr>
          <a:p>
            <a:r>
              <a:rPr lang="en-US" altLang="zh-CN" dirty="0">
                <a:latin typeface="Times New Roman" panose="02020603050405020304" pitchFamily="18" charset="0"/>
                <a:ea typeface="宋体" panose="02010600030101010101" pitchFamily="2" charset="-122"/>
              </a:rPr>
              <a:t>IEEE 754</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浮点数加法运算举例</a:t>
            </a:r>
            <a:endParaRPr lang="zh-CN" altLang="en-US" dirty="0">
              <a:latin typeface="宋体" panose="02010600030101010101" pitchFamily="2" charset="-122"/>
              <a:ea typeface="宋体" panose="02010600030101010101" pitchFamily="2" charset="-122"/>
            </a:endParaRPr>
          </a:p>
        </p:txBody>
      </p:sp>
      <p:sp>
        <p:nvSpPr>
          <p:cNvPr id="105477" name="Text Box 5"/>
          <p:cNvSpPr txBox="1"/>
          <p:nvPr/>
        </p:nvSpPr>
        <p:spPr>
          <a:xfrm>
            <a:off x="5872163" y="5106988"/>
            <a:ext cx="2940050" cy="708025"/>
          </a:xfrm>
          <a:prstGeom prst="rect">
            <a:avLst/>
          </a:prstGeom>
          <a:noFill/>
          <a:ln w="12700">
            <a:noFill/>
          </a:ln>
        </p:spPr>
        <p:txBody>
          <a:bodyPr anchor="t" anchorCtr="0">
            <a:spAutoFit/>
          </a:bodyPr>
          <a:p>
            <a:pPr eaLnBrk="0" hangingPunct="0">
              <a:spcBef>
                <a:spcPct val="50000"/>
              </a:spcBef>
            </a:pPr>
            <a:r>
              <a:rPr lang="zh-CN" altLang="en-US" sz="2000" dirty="0">
                <a:solidFill>
                  <a:srgbClr val="FF0000"/>
                </a:solidFill>
                <a:latin typeface="微软雅黑" panose="020B0503020204020204" pitchFamily="34" charset="-122"/>
                <a:ea typeface="微软雅黑" panose="020B0503020204020204" pitchFamily="34" charset="-122"/>
              </a:rPr>
              <a:t>问题：尾数加法器最多需要多少位？</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05478" name="Text Box 6"/>
          <p:cNvSpPr txBox="1"/>
          <p:nvPr/>
        </p:nvSpPr>
        <p:spPr>
          <a:xfrm>
            <a:off x="5872163" y="6007100"/>
            <a:ext cx="2389187" cy="396875"/>
          </a:xfrm>
          <a:prstGeom prst="rect">
            <a:avLst/>
          </a:prstGeom>
          <a:noFill/>
          <a:ln w="12700">
            <a:noFill/>
          </a:ln>
        </p:spPr>
        <p:txBody>
          <a:bodyPr anchor="t" anchorCtr="0">
            <a:spAutoFit/>
          </a:bodyPr>
          <a:p>
            <a:pPr eaLnBrk="0" hangingPunct="0">
              <a:spcBef>
                <a:spcPct val="50000"/>
              </a:spcBef>
            </a:pPr>
            <a:r>
              <a:rPr lang="en-US" altLang="zh-CN" sz="2000" dirty="0">
                <a:latin typeface="微软雅黑" panose="020B0503020204020204" pitchFamily="34" charset="-122"/>
                <a:ea typeface="微软雅黑" panose="020B0503020204020204" pitchFamily="34" charset="-122"/>
              </a:rPr>
              <a:t>1+1+23+3=28</a:t>
            </a:r>
            <a:r>
              <a:rPr lang="zh-CN" altLang="en-US" sz="2000" dirty="0">
                <a:latin typeface="微软雅黑" panose="020B0503020204020204" pitchFamily="34" charset="-122"/>
                <a:ea typeface="微软雅黑" panose="020B0503020204020204" pitchFamily="34" charset="-122"/>
              </a:rPr>
              <a:t>位</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1954">
                                            <p:txEl>
                                              <p:charRg st="141" end="195"/>
                                            </p:txEl>
                                          </p:spTgt>
                                        </p:tgtEl>
                                        <p:attrNameLst>
                                          <p:attrName>style.visibility</p:attrName>
                                        </p:attrNameLst>
                                      </p:cBhvr>
                                      <p:to>
                                        <p:strVal val="visible"/>
                                      </p:to>
                                    </p:set>
                                    <p:animEffect transition="in" filter="blinds(horizontal)">
                                      <p:cBhvr>
                                        <p:cTn id="7" dur="500"/>
                                        <p:tgtEl>
                                          <p:spTgt spid="381954">
                                            <p:txEl>
                                              <p:charRg st="141" end="1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1954">
                                            <p:txEl>
                                              <p:charRg st="195" end="246"/>
                                            </p:txEl>
                                          </p:spTgt>
                                        </p:tgtEl>
                                        <p:attrNameLst>
                                          <p:attrName>style.visibility</p:attrName>
                                        </p:attrNameLst>
                                      </p:cBhvr>
                                      <p:to>
                                        <p:strVal val="visible"/>
                                      </p:to>
                                    </p:set>
                                    <p:animEffect transition="in" filter="blinds(horizontal)">
                                      <p:cBhvr>
                                        <p:cTn id="12" dur="500"/>
                                        <p:tgtEl>
                                          <p:spTgt spid="381954">
                                            <p:txEl>
                                              <p:charRg st="195" end="24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1954">
                                            <p:txEl>
                                              <p:charRg st="246" end="292"/>
                                            </p:txEl>
                                          </p:spTgt>
                                        </p:tgtEl>
                                        <p:attrNameLst>
                                          <p:attrName>style.visibility</p:attrName>
                                        </p:attrNameLst>
                                      </p:cBhvr>
                                      <p:to>
                                        <p:strVal val="visible"/>
                                      </p:to>
                                    </p:set>
                                    <p:animEffect transition="in" filter="blinds(horizontal)">
                                      <p:cBhvr>
                                        <p:cTn id="17" dur="500"/>
                                        <p:tgtEl>
                                          <p:spTgt spid="381954">
                                            <p:txEl>
                                              <p:charRg st="246" end="29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1954">
                                            <p:txEl>
                                              <p:charRg st="292" end="343"/>
                                            </p:txEl>
                                          </p:spTgt>
                                        </p:tgtEl>
                                        <p:attrNameLst>
                                          <p:attrName>style.visibility</p:attrName>
                                        </p:attrNameLst>
                                      </p:cBhvr>
                                      <p:to>
                                        <p:strVal val="visible"/>
                                      </p:to>
                                    </p:set>
                                    <p:animEffect transition="in" filter="blinds(horizontal)">
                                      <p:cBhvr>
                                        <p:cTn id="22" dur="500"/>
                                        <p:tgtEl>
                                          <p:spTgt spid="381954">
                                            <p:txEl>
                                              <p:charRg st="292" end="34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1954">
                                            <p:txEl>
                                              <p:charRg st="343" end="384"/>
                                            </p:txEl>
                                          </p:spTgt>
                                        </p:tgtEl>
                                        <p:attrNameLst>
                                          <p:attrName>style.visibility</p:attrName>
                                        </p:attrNameLst>
                                      </p:cBhvr>
                                      <p:to>
                                        <p:strVal val="visible"/>
                                      </p:to>
                                    </p:set>
                                    <p:animEffect transition="in" filter="blinds(horizontal)">
                                      <p:cBhvr>
                                        <p:cTn id="27" dur="500"/>
                                        <p:tgtEl>
                                          <p:spTgt spid="381954">
                                            <p:txEl>
                                              <p:charRg st="343" end="38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81954">
                                            <p:txEl>
                                              <p:charRg st="384" end="427"/>
                                            </p:txEl>
                                          </p:spTgt>
                                        </p:tgtEl>
                                        <p:attrNameLst>
                                          <p:attrName>style.visibility</p:attrName>
                                        </p:attrNameLst>
                                      </p:cBhvr>
                                      <p:to>
                                        <p:strVal val="visible"/>
                                      </p:to>
                                    </p:set>
                                    <p:animEffect transition="in" filter="blinds(horizontal)">
                                      <p:cBhvr>
                                        <p:cTn id="32" dur="500"/>
                                        <p:tgtEl>
                                          <p:spTgt spid="381954">
                                            <p:txEl>
                                              <p:charRg st="384" end="42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81954">
                                            <p:txEl>
                                              <p:charRg st="427" end="476"/>
                                            </p:txEl>
                                          </p:spTgt>
                                        </p:tgtEl>
                                        <p:attrNameLst>
                                          <p:attrName>style.visibility</p:attrName>
                                        </p:attrNameLst>
                                      </p:cBhvr>
                                      <p:to>
                                        <p:strVal val="visible"/>
                                      </p:to>
                                    </p:set>
                                    <p:animEffect transition="in" filter="blinds(horizontal)">
                                      <p:cBhvr>
                                        <p:cTn id="37" dur="500"/>
                                        <p:tgtEl>
                                          <p:spTgt spid="381954">
                                            <p:txEl>
                                              <p:charRg st="427" end="47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81954">
                                            <p:txEl>
                                              <p:charRg st="476" end="519"/>
                                            </p:txEl>
                                          </p:spTgt>
                                        </p:tgtEl>
                                        <p:attrNameLst>
                                          <p:attrName>style.visibility</p:attrName>
                                        </p:attrNameLst>
                                      </p:cBhvr>
                                      <p:to>
                                        <p:strVal val="visible"/>
                                      </p:to>
                                    </p:set>
                                    <p:animEffect transition="in" filter="blinds(horizontal)">
                                      <p:cBhvr>
                                        <p:cTn id="42" dur="500"/>
                                        <p:tgtEl>
                                          <p:spTgt spid="381954">
                                            <p:txEl>
                                              <p:charRg st="476" end="51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81954">
                                            <p:txEl>
                                              <p:charRg st="519" end="566"/>
                                            </p:txEl>
                                          </p:spTgt>
                                        </p:tgtEl>
                                        <p:attrNameLst>
                                          <p:attrName>style.visibility</p:attrName>
                                        </p:attrNameLst>
                                      </p:cBhvr>
                                      <p:to>
                                        <p:strVal val="visible"/>
                                      </p:to>
                                    </p:set>
                                    <p:animEffect transition="in" filter="blinds(horizontal)">
                                      <p:cBhvr>
                                        <p:cTn id="47" dur="500"/>
                                        <p:tgtEl>
                                          <p:spTgt spid="381954">
                                            <p:txEl>
                                              <p:charRg st="519" end="56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5477"/>
                                        </p:tgtEl>
                                        <p:attrNameLst>
                                          <p:attrName>style.visibility</p:attrName>
                                        </p:attrNameLst>
                                      </p:cBhvr>
                                      <p:to>
                                        <p:strVal val="visible"/>
                                      </p:to>
                                    </p:set>
                                    <p:animEffect transition="in" filter="blinds(horizontal)">
                                      <p:cBhvr>
                                        <p:cTn id="52" dur="500"/>
                                        <p:tgtEl>
                                          <p:spTgt spid="10547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5478"/>
                                        </p:tgtEl>
                                        <p:attrNameLst>
                                          <p:attrName>style.visibility</p:attrName>
                                        </p:attrNameLst>
                                      </p:cBhvr>
                                      <p:to>
                                        <p:strVal val="visible"/>
                                      </p:to>
                                    </p:set>
                                    <p:animEffect transition="in" filter="blinds(horizontal)">
                                      <p:cBhvr>
                                        <p:cTn id="57" dur="500"/>
                                        <p:tgtEl>
                                          <p:spTgt spid="105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7" grpId="0"/>
      <p:bldP spid="10547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原码加</a:t>
            </a:r>
            <a:r>
              <a:rPr lang="en-US" altLang="zh-CN" dirty="0">
                <a:ea typeface="宋体" panose="02010600030101010101" pitchFamily="2" charset="-122"/>
              </a:rPr>
              <a:t>/</a:t>
            </a:r>
            <a:r>
              <a:rPr lang="zh-CN" altLang="en-US" dirty="0">
                <a:ea typeface="宋体" panose="02010600030101010101" pitchFamily="2" charset="-122"/>
              </a:rPr>
              <a:t>减运算</a:t>
            </a:r>
            <a:endParaRPr lang="zh-CN" altLang="en-US" dirty="0">
              <a:ea typeface="宋体" panose="02010600030101010101" pitchFamily="2" charset="-122"/>
            </a:endParaRPr>
          </a:p>
        </p:txBody>
      </p:sp>
      <p:sp>
        <p:nvSpPr>
          <p:cNvPr id="420867" name="Rectangle 3"/>
          <p:cNvSpPr>
            <a:spLocks noGrp="1"/>
          </p:cNvSpPr>
          <p:nvPr>
            <p:ph idx="1"/>
          </p:nvPr>
        </p:nvSpPr>
        <p:spPr>
          <a:xfrm>
            <a:off x="434975" y="812800"/>
            <a:ext cx="8562975" cy="5407025"/>
          </a:xfrm>
          <a:ln/>
        </p:spPr>
        <p:txBody>
          <a:bodyPr vert="horz" wrap="square" lIns="63500" tIns="25400" rIns="63500" bIns="25400" anchor="t" anchorCtr="0">
            <a:spAutoFit/>
          </a:bodyPr>
          <a:p>
            <a:pPr marL="419100" indent="-419100"/>
            <a:r>
              <a:rPr lang="zh-CN" altLang="en-US" sz="2000" dirty="0">
                <a:latin typeface="微软雅黑" panose="020B0503020204020204" pitchFamily="34" charset="-122"/>
                <a:ea typeface="微软雅黑" panose="020B0503020204020204" pitchFamily="34" charset="-122"/>
              </a:rPr>
              <a:t>用于浮点数尾数运算</a:t>
            </a:r>
            <a:endParaRPr lang="zh-CN" altLang="en-US" sz="2000" dirty="0">
              <a:latin typeface="微软雅黑" panose="020B0503020204020204" pitchFamily="34" charset="-122"/>
              <a:ea typeface="微软雅黑" panose="020B0503020204020204" pitchFamily="34" charset="-122"/>
            </a:endParaRPr>
          </a:p>
          <a:p>
            <a:pPr marL="419100" indent="-419100"/>
            <a:r>
              <a:rPr lang="zh-CN" altLang="en-US" sz="2000" dirty="0">
                <a:latin typeface="微软雅黑" panose="020B0503020204020204" pitchFamily="34" charset="-122"/>
                <a:ea typeface="微软雅黑" panose="020B0503020204020204" pitchFamily="34" charset="-122"/>
              </a:rPr>
              <a:t>符号位和数值部分分开处理</a:t>
            </a:r>
            <a:endParaRPr lang="zh-CN" altLang="en-US" sz="2000" dirty="0">
              <a:latin typeface="微软雅黑" panose="020B0503020204020204" pitchFamily="34" charset="-122"/>
              <a:ea typeface="微软雅黑" panose="020B0503020204020204" pitchFamily="34" charset="-122"/>
            </a:endParaRPr>
          </a:p>
          <a:p>
            <a:pPr marL="419100" indent="-419100"/>
            <a:r>
              <a:rPr lang="zh-CN" altLang="en-US" sz="2000" dirty="0">
                <a:latin typeface="微软雅黑" panose="020B0503020204020204" pitchFamily="34" charset="-122"/>
                <a:ea typeface="微软雅黑" panose="020B0503020204020204" pitchFamily="34" charset="-122"/>
              </a:rPr>
              <a:t>仅对数值部分进行加减运算，符号位起判断和控制作用</a:t>
            </a:r>
            <a:endParaRPr lang="zh-CN" altLang="en-US" sz="2000" dirty="0">
              <a:latin typeface="微软雅黑" panose="020B0503020204020204" pitchFamily="34" charset="-122"/>
              <a:ea typeface="微软雅黑" panose="020B0503020204020204" pitchFamily="34" charset="-122"/>
            </a:endParaRPr>
          </a:p>
          <a:p>
            <a:pPr marL="419100" indent="-419100"/>
            <a:r>
              <a:rPr lang="zh-CN" altLang="en-US" sz="2000" dirty="0">
                <a:latin typeface="微软雅黑" panose="020B0503020204020204" pitchFamily="34" charset="-122"/>
                <a:ea typeface="微软雅黑" panose="020B0503020204020204" pitchFamily="34" charset="-122"/>
              </a:rPr>
              <a:t>规则如下：</a:t>
            </a:r>
            <a:endParaRPr lang="zh-CN" altLang="en-US" sz="2000" dirty="0">
              <a:latin typeface="微软雅黑" panose="020B0503020204020204" pitchFamily="34" charset="-122"/>
              <a:ea typeface="微软雅黑" panose="020B0503020204020204" pitchFamily="34" charset="-122"/>
            </a:endParaRPr>
          </a:p>
          <a:p>
            <a:pPr marL="876300" lvl="1" indent="-381000"/>
            <a:r>
              <a:rPr lang="zh-CN" altLang="en-US" dirty="0">
                <a:latin typeface="微软雅黑" panose="020B0503020204020204" pitchFamily="34" charset="-122"/>
                <a:ea typeface="微软雅黑" panose="020B0503020204020204" pitchFamily="34" charset="-122"/>
              </a:rPr>
              <a:t>比较两数符号，对加法实行</a:t>
            </a:r>
            <a:r>
              <a:rPr lang="zh-CN" altLang="en-US" dirty="0">
                <a:solidFill>
                  <a:srgbClr val="FF0000"/>
                </a:solidFill>
                <a:latin typeface="微软雅黑" panose="020B0503020204020204" pitchFamily="34" charset="-122"/>
                <a:ea typeface="微软雅黑" panose="020B0503020204020204" pitchFamily="34" charset="-122"/>
              </a:rPr>
              <a:t>“同号求和，异号求差”</a:t>
            </a:r>
            <a:r>
              <a:rPr lang="zh-CN" altLang="en-US" dirty="0">
                <a:latin typeface="微软雅黑" panose="020B0503020204020204" pitchFamily="34" charset="-122"/>
                <a:ea typeface="微软雅黑" panose="020B0503020204020204" pitchFamily="34" charset="-122"/>
              </a:rPr>
              <a:t>，对减法实行“异号求和，同号求差”。</a:t>
            </a:r>
            <a:endParaRPr lang="zh-CN" altLang="en-US" dirty="0">
              <a:latin typeface="微软雅黑" panose="020B0503020204020204" pitchFamily="34" charset="-122"/>
              <a:ea typeface="微软雅黑" panose="020B0503020204020204" pitchFamily="34" charset="-122"/>
            </a:endParaRPr>
          </a:p>
          <a:p>
            <a:pPr marL="876300" lvl="1" indent="-381000"/>
            <a:r>
              <a:rPr lang="zh-CN" altLang="en-US" dirty="0">
                <a:latin typeface="微软雅黑" panose="020B0503020204020204" pitchFamily="34" charset="-122"/>
                <a:ea typeface="微软雅黑" panose="020B0503020204020204" pitchFamily="34" charset="-122"/>
              </a:rPr>
              <a:t>求和：数值位相加，和的符号取被加数（被减数）的符号。若最高位产生进位，则结果溢出。</a:t>
            </a:r>
            <a:endParaRPr lang="zh-CN" altLang="en-US" dirty="0">
              <a:latin typeface="微软雅黑" panose="020B0503020204020204" pitchFamily="34" charset="-122"/>
              <a:ea typeface="微软雅黑" panose="020B0503020204020204" pitchFamily="34" charset="-122"/>
            </a:endParaRPr>
          </a:p>
          <a:p>
            <a:pPr marL="876300" lvl="1" indent="-381000"/>
            <a:r>
              <a:rPr lang="zh-CN" altLang="en-US" dirty="0">
                <a:latin typeface="微软雅黑" panose="020B0503020204020204" pitchFamily="34" charset="-122"/>
                <a:ea typeface="微软雅黑" panose="020B0503020204020204" pitchFamily="34" charset="-122"/>
              </a:rPr>
              <a:t>求差：被加数（被减数）加上加数（减数）的补码。</a:t>
            </a:r>
            <a:endParaRPr lang="zh-CN" altLang="en-US" dirty="0">
              <a:latin typeface="微软雅黑" panose="020B0503020204020204" pitchFamily="34" charset="-122"/>
              <a:ea typeface="微软雅黑" panose="020B0503020204020204" pitchFamily="34" charset="-122"/>
            </a:endParaRPr>
          </a:p>
          <a:p>
            <a:pPr lvl="2">
              <a:buAutoNum type="alphaLcParenR"/>
            </a:pPr>
            <a:r>
              <a:rPr lang="zh-CN" altLang="en-US" sz="2000" dirty="0">
                <a:latin typeface="微软雅黑" panose="020B0503020204020204" pitchFamily="34" charset="-122"/>
                <a:ea typeface="微软雅黑" panose="020B0503020204020204" pitchFamily="34" charset="-122"/>
              </a:rPr>
              <a:t>最高数值位产生进位表明加法结果为正，所得数值位正确。</a:t>
            </a:r>
            <a:endParaRPr lang="zh-CN" altLang="en-US" sz="2000" dirty="0">
              <a:latin typeface="微软雅黑" panose="020B0503020204020204" pitchFamily="34" charset="-122"/>
              <a:ea typeface="微软雅黑" panose="020B0503020204020204" pitchFamily="34" charset="-122"/>
            </a:endParaRPr>
          </a:p>
          <a:p>
            <a:pPr lvl="2">
              <a:buAutoNum type="alphaLcParenR"/>
            </a:pPr>
            <a:r>
              <a:rPr lang="zh-CN" altLang="en-US" sz="2000" dirty="0">
                <a:latin typeface="微软雅黑" panose="020B0503020204020204" pitchFamily="34" charset="-122"/>
                <a:ea typeface="微软雅黑" panose="020B0503020204020204" pitchFamily="34" charset="-122"/>
              </a:rPr>
              <a:t>最高数值位没产生进位表明加法结果为负，得到的是数值位的补码形式，需对结果求补，还原为绝对值形式的数值位。</a:t>
            </a:r>
            <a:endParaRPr lang="zh-CN" altLang="en-US" sz="2000" dirty="0">
              <a:latin typeface="微软雅黑" panose="020B0503020204020204" pitchFamily="34" charset="-122"/>
              <a:ea typeface="微软雅黑" panose="020B0503020204020204" pitchFamily="34" charset="-122"/>
            </a:endParaRPr>
          </a:p>
          <a:p>
            <a:pPr marL="876300" lvl="1" indent="-381000"/>
            <a:r>
              <a:rPr lang="zh-CN" altLang="en-US" dirty="0">
                <a:latin typeface="微软雅黑" panose="020B0503020204020204" pitchFamily="34" charset="-122"/>
                <a:ea typeface="微软雅黑" panose="020B0503020204020204" pitchFamily="34" charset="-122"/>
              </a:rPr>
              <a:t>差的符号位：</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情况下，符号位取被加数（被减数）的符号；</a:t>
            </a:r>
            <a:endParaRPr lang="zh-CN" altLang="en-US" dirty="0">
              <a:latin typeface="微软雅黑" panose="020B0503020204020204" pitchFamily="34" charset="-122"/>
              <a:ea typeface="微软雅黑" panose="020B0503020204020204" pitchFamily="34" charset="-122"/>
            </a:endParaRPr>
          </a:p>
          <a:p>
            <a:pPr marL="876300" lvl="1" indent="-381000">
              <a:buNone/>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情况下，符号位为被加数（被减数）的符号取反。</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0867">
                                            <p:txEl>
                                              <p:charRg st="54" end="96"/>
                                            </p:txEl>
                                          </p:spTgt>
                                        </p:tgtEl>
                                        <p:attrNameLst>
                                          <p:attrName>style.visibility</p:attrName>
                                        </p:attrNameLst>
                                      </p:cBhvr>
                                      <p:to>
                                        <p:strVal val="visible"/>
                                      </p:to>
                                    </p:set>
                                    <p:animEffect transition="in" filter="blinds(horizontal)">
                                      <p:cBhvr>
                                        <p:cTn id="7" dur="500"/>
                                        <p:tgtEl>
                                          <p:spTgt spid="420867">
                                            <p:txEl>
                                              <p:charRg st="54" end="9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0867">
                                            <p:txEl>
                                              <p:charRg st="96" end="138"/>
                                            </p:txEl>
                                          </p:spTgt>
                                        </p:tgtEl>
                                        <p:attrNameLst>
                                          <p:attrName>style.visibility</p:attrName>
                                        </p:attrNameLst>
                                      </p:cBhvr>
                                      <p:to>
                                        <p:strVal val="visible"/>
                                      </p:to>
                                    </p:set>
                                    <p:animEffect transition="in" filter="blinds(horizontal)">
                                      <p:cBhvr>
                                        <p:cTn id="12" dur="500"/>
                                        <p:tgtEl>
                                          <p:spTgt spid="420867">
                                            <p:txEl>
                                              <p:charRg st="96" end="1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0867">
                                            <p:txEl>
                                              <p:charRg st="138" end="162"/>
                                            </p:txEl>
                                          </p:spTgt>
                                        </p:tgtEl>
                                        <p:attrNameLst>
                                          <p:attrName>style.visibility</p:attrName>
                                        </p:attrNameLst>
                                      </p:cBhvr>
                                      <p:to>
                                        <p:strVal val="visible"/>
                                      </p:to>
                                    </p:set>
                                    <p:animEffect transition="in" filter="blinds(horizontal)">
                                      <p:cBhvr>
                                        <p:cTn id="17" dur="500"/>
                                        <p:tgtEl>
                                          <p:spTgt spid="420867">
                                            <p:txEl>
                                              <p:charRg st="138" end="16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0867">
                                            <p:txEl>
                                              <p:charRg st="162" end="189"/>
                                            </p:txEl>
                                          </p:spTgt>
                                        </p:tgtEl>
                                        <p:attrNameLst>
                                          <p:attrName>style.visibility</p:attrName>
                                        </p:attrNameLst>
                                      </p:cBhvr>
                                      <p:to>
                                        <p:strVal val="visible"/>
                                      </p:to>
                                    </p:set>
                                    <p:animEffect transition="in" filter="blinds(horizontal)">
                                      <p:cBhvr>
                                        <p:cTn id="22" dur="500"/>
                                        <p:tgtEl>
                                          <p:spTgt spid="420867">
                                            <p:txEl>
                                              <p:charRg st="162" end="189"/>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20867">
                                            <p:txEl>
                                              <p:charRg st="189" end="242"/>
                                            </p:txEl>
                                          </p:spTgt>
                                        </p:tgtEl>
                                        <p:attrNameLst>
                                          <p:attrName>style.visibility</p:attrName>
                                        </p:attrNameLst>
                                      </p:cBhvr>
                                      <p:to>
                                        <p:strVal val="visible"/>
                                      </p:to>
                                    </p:set>
                                    <p:animEffect transition="in" filter="blinds(horizontal)">
                                      <p:cBhvr>
                                        <p:cTn id="25" dur="500"/>
                                        <p:tgtEl>
                                          <p:spTgt spid="420867">
                                            <p:txEl>
                                              <p:charRg st="189" end="24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20867">
                                            <p:txEl>
                                              <p:charRg st="242" end="271"/>
                                            </p:txEl>
                                          </p:spTgt>
                                        </p:tgtEl>
                                        <p:attrNameLst>
                                          <p:attrName>style.visibility</p:attrName>
                                        </p:attrNameLst>
                                      </p:cBhvr>
                                      <p:to>
                                        <p:strVal val="visible"/>
                                      </p:to>
                                    </p:set>
                                    <p:animEffect transition="in" filter="blinds(horizontal)">
                                      <p:cBhvr>
                                        <p:cTn id="30" dur="500"/>
                                        <p:tgtEl>
                                          <p:spTgt spid="420867">
                                            <p:txEl>
                                              <p:charRg st="242" end="271"/>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20867">
                                            <p:txEl>
                                              <p:charRg st="271" end="321"/>
                                            </p:txEl>
                                          </p:spTgt>
                                        </p:tgtEl>
                                        <p:attrNameLst>
                                          <p:attrName>style.visibility</p:attrName>
                                        </p:attrNameLst>
                                      </p:cBhvr>
                                      <p:to>
                                        <p:strVal val="visible"/>
                                      </p:to>
                                    </p:set>
                                    <p:animEffect transition="in" filter="blinds(horizontal)">
                                      <p:cBhvr>
                                        <p:cTn id="33" dur="500"/>
                                        <p:tgtEl>
                                          <p:spTgt spid="420867">
                                            <p:txEl>
                                              <p:charRg st="271" end="3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原码加</a:t>
            </a:r>
            <a:r>
              <a:rPr lang="en-US" altLang="zh-CN" dirty="0">
                <a:ea typeface="宋体" panose="02010600030101010101" pitchFamily="2" charset="-122"/>
              </a:rPr>
              <a:t>/</a:t>
            </a:r>
            <a:r>
              <a:rPr lang="zh-CN" altLang="en-US" dirty="0">
                <a:ea typeface="宋体" panose="02010600030101010101" pitchFamily="2" charset="-122"/>
              </a:rPr>
              <a:t>减运算</a:t>
            </a:r>
            <a:endParaRPr lang="en-US" altLang="zh-CN" dirty="0">
              <a:ea typeface="宋体" panose="02010600030101010101" pitchFamily="2" charset="-122"/>
            </a:endParaRPr>
          </a:p>
        </p:txBody>
      </p:sp>
      <p:sp>
        <p:nvSpPr>
          <p:cNvPr id="425987" name="Rectangle 3"/>
          <p:cNvSpPr>
            <a:spLocks noGrp="1"/>
          </p:cNvSpPr>
          <p:nvPr>
            <p:ph idx="1"/>
          </p:nvPr>
        </p:nvSpPr>
        <p:spPr>
          <a:xfrm>
            <a:off x="282575" y="765175"/>
            <a:ext cx="8699500" cy="5391150"/>
          </a:xfrm>
          <a:ln/>
        </p:spPr>
        <p:txBody>
          <a:bodyPr vert="horz" wrap="square" lIns="63500" tIns="25400" rIns="63500" bIns="25400" anchor="t" anchorCtr="0">
            <a:spAutoFit/>
          </a:bodyPr>
          <a:p>
            <a:pPr>
              <a:lnSpc>
                <a:spcPct val="115000"/>
              </a:lnSpc>
              <a:buNone/>
            </a:pPr>
            <a:r>
              <a:rPr lang="zh-CN" altLang="en-US" sz="2000" dirty="0">
                <a:latin typeface="微软雅黑" panose="020B0503020204020204" pitchFamily="34" charset="-122"/>
                <a:ea typeface="微软雅黑" panose="020B0503020204020204" pitchFamily="34" charset="-122"/>
              </a:rPr>
              <a:t>例</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：已知 </a:t>
            </a:r>
            <a:r>
              <a:rPr lang="en-US" altLang="zh-CN" sz="2000" dirty="0">
                <a:latin typeface="微软雅黑" panose="020B0503020204020204" pitchFamily="34" charset="-122"/>
                <a:ea typeface="微软雅黑" panose="020B0503020204020204" pitchFamily="34" charset="-122"/>
              </a:rPr>
              <a:t>[X]</a:t>
            </a:r>
            <a:r>
              <a:rPr lang="zh-CN" altLang="en-US" sz="2000" baseline="-25000" dirty="0">
                <a:latin typeface="微软雅黑" panose="020B0503020204020204" pitchFamily="34" charset="-122"/>
                <a:ea typeface="微软雅黑" panose="020B0503020204020204" pitchFamily="34" charset="-122"/>
              </a:rPr>
              <a:t>原</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1.0011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[Y]</a:t>
            </a:r>
            <a:r>
              <a:rPr lang="zh-CN" altLang="en-US" sz="2000" baseline="-25000" dirty="0">
                <a:latin typeface="微软雅黑" panose="020B0503020204020204" pitchFamily="34" charset="-122"/>
                <a:ea typeface="微软雅黑" panose="020B0503020204020204" pitchFamily="34" charset="-122"/>
              </a:rPr>
              <a:t>原</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1.1010</a:t>
            </a:r>
            <a:r>
              <a:rPr lang="zh-CN" altLang="en-US" sz="2000" dirty="0">
                <a:latin typeface="微软雅黑" panose="020B0503020204020204" pitchFamily="34" charset="-122"/>
                <a:ea typeface="微软雅黑" panose="020B0503020204020204" pitchFamily="34" charset="-122"/>
              </a:rPr>
              <a:t>，要求计算</a:t>
            </a:r>
            <a:r>
              <a:rPr lang="en-US" altLang="zh-CN" sz="2000" dirty="0">
                <a:latin typeface="微软雅黑" panose="020B0503020204020204" pitchFamily="34" charset="-122"/>
                <a:ea typeface="微软雅黑" panose="020B0503020204020204" pitchFamily="34" charset="-122"/>
              </a:rPr>
              <a:t>[X+Y]</a:t>
            </a:r>
            <a:r>
              <a:rPr lang="zh-CN" altLang="en-US" sz="2000" baseline="-25000" dirty="0">
                <a:latin typeface="微软雅黑" panose="020B0503020204020204" pitchFamily="34" charset="-122"/>
                <a:ea typeface="微软雅黑" panose="020B0503020204020204" pitchFamily="34" charset="-122"/>
              </a:rPr>
              <a:t>原</a:t>
            </a:r>
            <a:endParaRPr lang="zh-CN" altLang="en-US" sz="2000" baseline="-25000" dirty="0">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解：由原码加减运算规则知：同号相加，则求和，和的符号同被加数符号。</a:t>
            </a:r>
            <a:endParaRPr lang="zh-CN" altLang="en-US"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       和的数值位为：</a:t>
            </a:r>
            <a:r>
              <a:rPr lang="en-US" altLang="zh-CN" sz="2000" dirty="0">
                <a:solidFill>
                  <a:srgbClr val="FF0000"/>
                </a:solidFill>
                <a:latin typeface="微软雅黑" panose="020B0503020204020204" pitchFamily="34" charset="-122"/>
                <a:ea typeface="微软雅黑" panose="020B0503020204020204" pitchFamily="34" charset="-122"/>
              </a:rPr>
              <a:t>0011 + 1010 = 1101  </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ALU</a:t>
            </a:r>
            <a:r>
              <a:rPr lang="zh-CN" altLang="en-US" sz="2000" dirty="0">
                <a:solidFill>
                  <a:srgbClr val="FF0000"/>
                </a:solidFill>
                <a:latin typeface="微软雅黑" panose="020B0503020204020204" pitchFamily="34" charset="-122"/>
                <a:ea typeface="微软雅黑" panose="020B0503020204020204" pitchFamily="34" charset="-122"/>
              </a:rPr>
              <a:t>中无符号数相加）</a:t>
            </a:r>
            <a:endParaRPr lang="zh-CN" altLang="en-US" sz="2000" dirty="0">
              <a:solidFill>
                <a:srgbClr val="FF0000"/>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                  和的符号位为：</a:t>
            </a:r>
            <a:r>
              <a:rPr lang="en-US" altLang="zh-CN" sz="2000" dirty="0">
                <a:solidFill>
                  <a:srgbClr val="3333FF"/>
                </a:solidFill>
                <a:latin typeface="微软雅黑" panose="020B0503020204020204" pitchFamily="34" charset="-122"/>
                <a:ea typeface="微软雅黑" panose="020B0503020204020204" pitchFamily="34" charset="-122"/>
              </a:rPr>
              <a:t>1</a:t>
            </a:r>
            <a:endParaRPr lang="en-US" altLang="zh-CN"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                  </a:t>
            </a:r>
            <a:r>
              <a:rPr lang="en-US" altLang="zh-CN" sz="2000" dirty="0">
                <a:solidFill>
                  <a:srgbClr val="3333FF"/>
                </a:solidFill>
                <a:latin typeface="微软雅黑" panose="020B0503020204020204" pitchFamily="34" charset="-122"/>
                <a:ea typeface="微软雅黑" panose="020B0503020204020204" pitchFamily="34" charset="-122"/>
              </a:rPr>
              <a:t>[X+Y]</a:t>
            </a:r>
            <a:r>
              <a:rPr lang="zh-CN" altLang="en-US" sz="2000" baseline="-25000" dirty="0">
                <a:solidFill>
                  <a:schemeClr val="accent2"/>
                </a:solidFill>
                <a:latin typeface="微软雅黑" panose="020B0503020204020204" pitchFamily="34" charset="-122"/>
                <a:ea typeface="微软雅黑" panose="020B0503020204020204" pitchFamily="34" charset="-122"/>
              </a:rPr>
              <a:t>原</a:t>
            </a:r>
            <a:r>
              <a:rPr lang="zh-CN" altLang="en-US" sz="2000" dirty="0">
                <a:solidFill>
                  <a:srgbClr val="3333FF"/>
                </a:solidFill>
                <a:latin typeface="微软雅黑" panose="020B0503020204020204" pitchFamily="34" charset="-122"/>
                <a:ea typeface="微软雅黑" panose="020B0503020204020204" pitchFamily="34" charset="-122"/>
              </a:rPr>
              <a:t> </a:t>
            </a:r>
            <a:r>
              <a:rPr lang="en-US" altLang="zh-CN" sz="2000" dirty="0">
                <a:solidFill>
                  <a:srgbClr val="3333FF"/>
                </a:solidFill>
                <a:latin typeface="微软雅黑" panose="020B0503020204020204" pitchFamily="34" charset="-122"/>
                <a:ea typeface="微软雅黑" panose="020B0503020204020204" pitchFamily="34" charset="-122"/>
              </a:rPr>
              <a:t>= 1.1101</a:t>
            </a:r>
            <a:endParaRPr lang="en-US" altLang="zh-CN"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endParaRPr lang="en-US" altLang="zh-CN"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latin typeface="微软雅黑" panose="020B0503020204020204" pitchFamily="34" charset="-122"/>
                <a:ea typeface="微软雅黑" panose="020B0503020204020204" pitchFamily="34" charset="-122"/>
              </a:rPr>
              <a:t>例</a:t>
            </a: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：已知 </a:t>
            </a:r>
            <a:r>
              <a:rPr lang="en-US" altLang="zh-CN" sz="2000" dirty="0">
                <a:latin typeface="微软雅黑" panose="020B0503020204020204" pitchFamily="34" charset="-122"/>
                <a:ea typeface="微软雅黑" panose="020B0503020204020204" pitchFamily="34" charset="-122"/>
              </a:rPr>
              <a:t>[X]</a:t>
            </a:r>
            <a:r>
              <a:rPr lang="zh-CN" altLang="en-US" sz="2000" baseline="-25000" dirty="0">
                <a:latin typeface="微软雅黑" panose="020B0503020204020204" pitchFamily="34" charset="-122"/>
                <a:ea typeface="微软雅黑" panose="020B0503020204020204" pitchFamily="34" charset="-122"/>
              </a:rPr>
              <a:t>原</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1.0011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[Y]</a:t>
            </a:r>
            <a:r>
              <a:rPr lang="zh-CN" altLang="en-US" sz="2000" baseline="-25000" dirty="0">
                <a:latin typeface="微软雅黑" panose="020B0503020204020204" pitchFamily="34" charset="-122"/>
                <a:ea typeface="微软雅黑" panose="020B0503020204020204" pitchFamily="34" charset="-122"/>
              </a:rPr>
              <a:t>原</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1.1010</a:t>
            </a:r>
            <a:r>
              <a:rPr lang="zh-CN" altLang="en-US" sz="2000" dirty="0">
                <a:latin typeface="微软雅黑" panose="020B0503020204020204" pitchFamily="34" charset="-122"/>
                <a:ea typeface="微软雅黑" panose="020B0503020204020204" pitchFamily="34" charset="-122"/>
              </a:rPr>
              <a:t>，要求计算</a:t>
            </a:r>
            <a:r>
              <a:rPr lang="en-US" altLang="zh-CN" sz="2000" dirty="0">
                <a:latin typeface="微软雅黑" panose="020B0503020204020204" pitchFamily="34" charset="-122"/>
                <a:ea typeface="微软雅黑" panose="020B0503020204020204" pitchFamily="34" charset="-122"/>
              </a:rPr>
              <a:t>[X</a:t>
            </a:r>
            <a:r>
              <a:rPr lang="pt-BR"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Y]</a:t>
            </a:r>
            <a:r>
              <a:rPr lang="zh-CN" altLang="en-US" sz="2000" baseline="-25000" dirty="0">
                <a:latin typeface="微软雅黑" panose="020B0503020204020204" pitchFamily="34" charset="-122"/>
                <a:ea typeface="微软雅黑" panose="020B0503020204020204" pitchFamily="34" charset="-122"/>
              </a:rPr>
              <a:t>原</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解：由原码加减运算规则知：同号相减，则求差（补码减法）</a:t>
            </a:r>
            <a:endParaRPr lang="zh-CN" altLang="en-US"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       </a:t>
            </a:r>
            <a:r>
              <a:rPr lang="zh-CN" altLang="en-US" sz="2000" dirty="0">
                <a:solidFill>
                  <a:srgbClr val="FF0000"/>
                </a:solidFill>
                <a:latin typeface="微软雅黑" panose="020B0503020204020204" pitchFamily="34" charset="-122"/>
                <a:ea typeface="微软雅黑" panose="020B0503020204020204" pitchFamily="34" charset="-122"/>
              </a:rPr>
              <a:t>差的数值位为：</a:t>
            </a:r>
            <a:r>
              <a:rPr lang="en-US" altLang="zh-CN" sz="2000" dirty="0">
                <a:solidFill>
                  <a:srgbClr val="FF0000"/>
                </a:solidFill>
                <a:latin typeface="微软雅黑" panose="020B0503020204020204" pitchFamily="34" charset="-122"/>
                <a:ea typeface="微软雅黑" panose="020B0503020204020204" pitchFamily="34" charset="-122"/>
              </a:rPr>
              <a:t>0011+(1010)</a:t>
            </a:r>
            <a:r>
              <a:rPr lang="zh-CN" altLang="en-US" sz="2000" baseline="-25000" dirty="0">
                <a:solidFill>
                  <a:srgbClr val="FF0000"/>
                </a:solidFill>
                <a:latin typeface="微软雅黑" panose="020B0503020204020204" pitchFamily="34" charset="-122"/>
                <a:ea typeface="微软雅黑" panose="020B0503020204020204" pitchFamily="34" charset="-122"/>
              </a:rPr>
              <a:t>求补</a:t>
            </a:r>
            <a:r>
              <a:rPr lang="zh-CN" altLang="en-US" sz="2000" dirty="0">
                <a:solidFill>
                  <a:srgbClr val="FF0000"/>
                </a:solidFill>
                <a:latin typeface="微软雅黑" panose="020B0503020204020204" pitchFamily="34" charset="-122"/>
                <a:ea typeface="微软雅黑" panose="020B0503020204020204" pitchFamily="34" charset="-122"/>
              </a:rPr>
              <a:t> </a:t>
            </a:r>
            <a:r>
              <a:rPr lang="en-US" altLang="zh-CN" sz="2000" dirty="0">
                <a:solidFill>
                  <a:srgbClr val="FF0000"/>
                </a:solidFill>
                <a:latin typeface="微软雅黑" panose="020B0503020204020204" pitchFamily="34" charset="-122"/>
                <a:ea typeface="微软雅黑" panose="020B0503020204020204" pitchFamily="34" charset="-122"/>
              </a:rPr>
              <a:t>= 0011 + 0110 = 1001</a:t>
            </a:r>
            <a:r>
              <a:rPr lang="zh-CN" altLang="en-US" sz="2000" dirty="0">
                <a:solidFill>
                  <a:srgbClr val="3333FF"/>
                </a:solidFill>
                <a:latin typeface="微软雅黑" panose="020B0503020204020204" pitchFamily="34" charset="-122"/>
                <a:ea typeface="微软雅黑" panose="020B0503020204020204" pitchFamily="34" charset="-122"/>
              </a:rPr>
              <a:t> </a:t>
            </a:r>
            <a:endParaRPr lang="en-US" altLang="zh-CN"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       最高数值位没有产生进位，表明加法结果为负，需对</a:t>
            </a:r>
            <a:r>
              <a:rPr lang="en-US" altLang="zh-CN" sz="2000" dirty="0">
                <a:solidFill>
                  <a:srgbClr val="3333FF"/>
                </a:solidFill>
                <a:latin typeface="微软雅黑" panose="020B0503020204020204" pitchFamily="34" charset="-122"/>
                <a:ea typeface="微软雅黑" panose="020B0503020204020204" pitchFamily="34" charset="-122"/>
              </a:rPr>
              <a:t>1001</a:t>
            </a:r>
            <a:r>
              <a:rPr lang="zh-CN" altLang="en-US" sz="2000" dirty="0">
                <a:solidFill>
                  <a:srgbClr val="3333FF"/>
                </a:solidFill>
                <a:latin typeface="微软雅黑" panose="020B0503020204020204" pitchFamily="34" charset="-122"/>
                <a:ea typeface="微软雅黑" panose="020B0503020204020204" pitchFamily="34" charset="-122"/>
              </a:rPr>
              <a:t>求补，还    </a:t>
            </a:r>
            <a:endParaRPr lang="zh-CN" altLang="en-US"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       原为绝对值形式的数值位。即：</a:t>
            </a:r>
            <a:r>
              <a:rPr lang="en-US" altLang="zh-CN" sz="2000" dirty="0">
                <a:solidFill>
                  <a:srgbClr val="3333FF"/>
                </a:solidFill>
                <a:latin typeface="微软雅黑" panose="020B0503020204020204" pitchFamily="34" charset="-122"/>
                <a:ea typeface="微软雅黑" panose="020B0503020204020204" pitchFamily="34" charset="-122"/>
              </a:rPr>
              <a:t>(1001)</a:t>
            </a:r>
            <a:r>
              <a:rPr lang="zh-CN" altLang="en-US" sz="2000" baseline="-25000" dirty="0">
                <a:solidFill>
                  <a:srgbClr val="3333FF"/>
                </a:solidFill>
                <a:latin typeface="微软雅黑" panose="020B0503020204020204" pitchFamily="34" charset="-122"/>
                <a:ea typeface="微软雅黑" panose="020B0503020204020204" pitchFamily="34" charset="-122"/>
              </a:rPr>
              <a:t>补</a:t>
            </a:r>
            <a:r>
              <a:rPr lang="en-US" altLang="zh-CN" sz="2000" dirty="0">
                <a:solidFill>
                  <a:srgbClr val="3333FF"/>
                </a:solidFill>
                <a:latin typeface="微软雅黑" panose="020B0503020204020204" pitchFamily="34" charset="-122"/>
                <a:ea typeface="微软雅黑" panose="020B0503020204020204" pitchFamily="34" charset="-122"/>
              </a:rPr>
              <a:t>= 0111</a:t>
            </a:r>
            <a:endParaRPr lang="en-US" altLang="zh-CN"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       差的符号位为</a:t>
            </a:r>
            <a:r>
              <a:rPr lang="en-US" altLang="zh-CN" sz="2000" dirty="0">
                <a:solidFill>
                  <a:srgbClr val="3333FF"/>
                </a:solidFill>
                <a:latin typeface="微软雅黑" panose="020B0503020204020204" pitchFamily="34" charset="-122"/>
                <a:ea typeface="微软雅黑" panose="020B0503020204020204" pitchFamily="34" charset="-122"/>
              </a:rPr>
              <a:t>[X]</a:t>
            </a:r>
            <a:r>
              <a:rPr lang="zh-CN" altLang="en-US" sz="2000" baseline="-25000" dirty="0">
                <a:solidFill>
                  <a:schemeClr val="accent2"/>
                </a:solidFill>
                <a:latin typeface="微软雅黑" panose="020B0503020204020204" pitchFamily="34" charset="-122"/>
                <a:ea typeface="微软雅黑" panose="020B0503020204020204" pitchFamily="34" charset="-122"/>
              </a:rPr>
              <a:t>原</a:t>
            </a:r>
            <a:r>
              <a:rPr lang="zh-CN" altLang="en-US" sz="2000" dirty="0">
                <a:solidFill>
                  <a:srgbClr val="3333FF"/>
                </a:solidFill>
                <a:latin typeface="微软雅黑" panose="020B0503020204020204" pitchFamily="34" charset="-122"/>
                <a:ea typeface="微软雅黑" panose="020B0503020204020204" pitchFamily="34" charset="-122"/>
              </a:rPr>
              <a:t>的符号位取反，即：</a:t>
            </a:r>
            <a:r>
              <a:rPr lang="en-US" altLang="zh-CN" sz="2000" dirty="0">
                <a:solidFill>
                  <a:srgbClr val="3333FF"/>
                </a:solidFill>
                <a:latin typeface="微软雅黑" panose="020B0503020204020204" pitchFamily="34" charset="-122"/>
                <a:ea typeface="微软雅黑" panose="020B0503020204020204" pitchFamily="34" charset="-122"/>
              </a:rPr>
              <a:t>0</a:t>
            </a:r>
            <a:endParaRPr lang="en-US" altLang="zh-CN" sz="2000" dirty="0">
              <a:solidFill>
                <a:srgbClr val="3333FF"/>
              </a:solidFill>
              <a:latin typeface="微软雅黑" panose="020B0503020204020204" pitchFamily="34" charset="-122"/>
              <a:ea typeface="微软雅黑" panose="020B0503020204020204" pitchFamily="34" charset="-122"/>
            </a:endParaRPr>
          </a:p>
          <a:p>
            <a:pPr>
              <a:lnSpc>
                <a:spcPct val="115000"/>
              </a:lnSpc>
              <a:buNone/>
            </a:pPr>
            <a:r>
              <a:rPr lang="zh-CN" altLang="en-US" sz="2000" dirty="0">
                <a:solidFill>
                  <a:srgbClr val="3333FF"/>
                </a:solidFill>
                <a:latin typeface="微软雅黑" panose="020B0503020204020204" pitchFamily="34" charset="-122"/>
                <a:ea typeface="微软雅黑" panose="020B0503020204020204" pitchFamily="34" charset="-122"/>
              </a:rPr>
              <a:t>                  </a:t>
            </a:r>
            <a:r>
              <a:rPr lang="en-US" altLang="zh-CN" sz="2000" dirty="0">
                <a:solidFill>
                  <a:srgbClr val="3333FF"/>
                </a:solidFill>
                <a:latin typeface="微软雅黑" panose="020B0503020204020204" pitchFamily="34" charset="-122"/>
                <a:ea typeface="微软雅黑" panose="020B0503020204020204" pitchFamily="34" charset="-122"/>
              </a:rPr>
              <a:t>[X</a:t>
            </a:r>
            <a:r>
              <a:rPr lang="pt-BR" altLang="zh-CN" sz="2000" dirty="0">
                <a:solidFill>
                  <a:srgbClr val="3333FF"/>
                </a:solidFill>
                <a:latin typeface="微软雅黑" panose="020B0503020204020204" pitchFamily="34" charset="-122"/>
                <a:ea typeface="微软雅黑" panose="020B0503020204020204" pitchFamily="34" charset="-122"/>
              </a:rPr>
              <a:t>–</a:t>
            </a:r>
            <a:r>
              <a:rPr lang="en-US" altLang="zh-CN" sz="2000" dirty="0">
                <a:solidFill>
                  <a:srgbClr val="3333FF"/>
                </a:solidFill>
                <a:latin typeface="微软雅黑" panose="020B0503020204020204" pitchFamily="34" charset="-122"/>
                <a:ea typeface="微软雅黑" panose="020B0503020204020204" pitchFamily="34" charset="-122"/>
              </a:rPr>
              <a:t>Y]</a:t>
            </a:r>
            <a:r>
              <a:rPr lang="zh-CN" altLang="en-US" sz="2000" baseline="-25000" dirty="0">
                <a:solidFill>
                  <a:schemeClr val="accent2"/>
                </a:solidFill>
                <a:latin typeface="微软雅黑" panose="020B0503020204020204" pitchFamily="34" charset="-122"/>
                <a:ea typeface="微软雅黑" panose="020B0503020204020204" pitchFamily="34" charset="-122"/>
              </a:rPr>
              <a:t>原</a:t>
            </a:r>
            <a:r>
              <a:rPr lang="zh-CN" altLang="en-US" sz="2000" dirty="0">
                <a:solidFill>
                  <a:srgbClr val="3333FF"/>
                </a:solidFill>
                <a:latin typeface="微软雅黑" panose="020B0503020204020204" pitchFamily="34" charset="-122"/>
                <a:ea typeface="微软雅黑" panose="020B0503020204020204" pitchFamily="34" charset="-122"/>
              </a:rPr>
              <a:t> </a:t>
            </a:r>
            <a:r>
              <a:rPr lang="en-US" altLang="zh-CN" sz="2000" dirty="0">
                <a:solidFill>
                  <a:srgbClr val="3333FF"/>
                </a:solidFill>
                <a:latin typeface="微软雅黑" panose="020B0503020204020204" pitchFamily="34" charset="-122"/>
                <a:ea typeface="微软雅黑" panose="020B0503020204020204" pitchFamily="34" charset="-122"/>
              </a:rPr>
              <a:t>= 0.0111</a:t>
            </a:r>
            <a:endParaRPr lang="en-US" altLang="zh-CN" sz="2000" dirty="0">
              <a:solidFill>
                <a:srgbClr val="3333FF"/>
              </a:solidFill>
              <a:latin typeface="微软雅黑" panose="020B0503020204020204" pitchFamily="34" charset="-122"/>
              <a:ea typeface="微软雅黑" panose="020B0503020204020204" pitchFamily="34" charset="-122"/>
            </a:endParaRPr>
          </a:p>
        </p:txBody>
      </p:sp>
      <p:sp>
        <p:nvSpPr>
          <p:cNvPr id="425988" name="Text Box 4"/>
          <p:cNvSpPr txBox="1"/>
          <p:nvPr/>
        </p:nvSpPr>
        <p:spPr>
          <a:xfrm>
            <a:off x="285750" y="6286500"/>
            <a:ext cx="7038975" cy="396875"/>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微软雅黑" panose="020B0503020204020204" pitchFamily="34" charset="-122"/>
                <a:ea typeface="微软雅黑" panose="020B0503020204020204" pitchFamily="34" charset="-122"/>
              </a:rPr>
              <a:t>思考题：如何设计一个基于加法器的原码加</a:t>
            </a:r>
            <a:r>
              <a:rPr lang="en-US" altLang="zh-CN" sz="2000" dirty="0">
                <a:solidFill>
                  <a:srgbClr val="FF0066"/>
                </a:solidFill>
                <a:latin typeface="微软雅黑" panose="020B0503020204020204" pitchFamily="34" charset="-122"/>
                <a:ea typeface="微软雅黑" panose="020B0503020204020204" pitchFamily="34" charset="-122"/>
              </a:rPr>
              <a:t>/</a:t>
            </a:r>
            <a:r>
              <a:rPr lang="zh-CN" altLang="en-US" sz="2000" dirty="0">
                <a:solidFill>
                  <a:srgbClr val="FF0066"/>
                </a:solidFill>
                <a:latin typeface="微软雅黑" panose="020B0503020204020204" pitchFamily="34" charset="-122"/>
                <a:ea typeface="微软雅黑" panose="020B0503020204020204" pitchFamily="34" charset="-122"/>
              </a:rPr>
              <a:t>减法器？</a:t>
            </a:r>
            <a:endParaRPr lang="en-US" altLang="zh-CN" sz="2000" dirty="0">
              <a:solidFill>
                <a:srgbClr val="FF0066"/>
              </a:solidFill>
              <a:latin typeface="微软雅黑" panose="020B0503020204020204" pitchFamily="34" charset="-122"/>
              <a:ea typeface="微软雅黑" panose="020B0503020204020204" pitchFamily="34" charset="-122"/>
            </a:endParaRPr>
          </a:p>
        </p:txBody>
      </p:sp>
      <p:sp>
        <p:nvSpPr>
          <p:cNvPr id="425989" name="Text Box 5"/>
          <p:cNvSpPr txBox="1"/>
          <p:nvPr/>
        </p:nvSpPr>
        <p:spPr>
          <a:xfrm>
            <a:off x="3924300" y="2219325"/>
            <a:ext cx="4972050" cy="396875"/>
          </a:xfrm>
          <a:prstGeom prst="rect">
            <a:avLst/>
          </a:prstGeom>
          <a:noFill/>
          <a:ln w="12700">
            <a:noFill/>
          </a:ln>
        </p:spPr>
        <p:txBody>
          <a:bodyPr anchor="t" anchorCtr="0">
            <a:spAutoFit/>
          </a:bodyPr>
          <a:p>
            <a:pPr eaLnBrk="0" hangingPunct="0">
              <a:spcBef>
                <a:spcPct val="50000"/>
              </a:spcBef>
            </a:pPr>
            <a:r>
              <a:rPr lang="zh-CN" altLang="en-US" sz="2000" dirty="0">
                <a:solidFill>
                  <a:srgbClr val="CC3300"/>
                </a:solidFill>
                <a:latin typeface="微软雅黑" panose="020B0503020204020204" pitchFamily="34" charset="-122"/>
                <a:ea typeface="微软雅黑" panose="020B0503020204020204" pitchFamily="34" charset="-122"/>
              </a:rPr>
              <a:t>求和：直接加，有进位则溢出，符号同被</a:t>
            </a:r>
            <a:endParaRPr lang="zh-CN" altLang="en-US" sz="2000" dirty="0">
              <a:solidFill>
                <a:srgbClr val="CC3300"/>
              </a:solidFill>
              <a:latin typeface="微软雅黑" panose="020B0503020204020204" pitchFamily="34" charset="-122"/>
              <a:ea typeface="微软雅黑" panose="020B0503020204020204" pitchFamily="34" charset="-122"/>
            </a:endParaRPr>
          </a:p>
        </p:txBody>
      </p:sp>
      <p:sp>
        <p:nvSpPr>
          <p:cNvPr id="425990" name="Text Box 6"/>
          <p:cNvSpPr txBox="1"/>
          <p:nvPr/>
        </p:nvSpPr>
        <p:spPr>
          <a:xfrm>
            <a:off x="4006850" y="5816600"/>
            <a:ext cx="4708525" cy="396875"/>
          </a:xfrm>
          <a:prstGeom prst="rect">
            <a:avLst/>
          </a:prstGeom>
          <a:noFill/>
          <a:ln w="12700">
            <a:noFill/>
          </a:ln>
        </p:spPr>
        <p:txBody>
          <a:bodyPr anchor="t" anchorCtr="0">
            <a:spAutoFit/>
          </a:bodyPr>
          <a:p>
            <a:pPr eaLnBrk="0" hangingPunct="0">
              <a:spcBef>
                <a:spcPct val="50000"/>
              </a:spcBef>
            </a:pPr>
            <a:r>
              <a:rPr lang="zh-CN" altLang="en-US" sz="2000" dirty="0">
                <a:solidFill>
                  <a:srgbClr val="CC3300"/>
                </a:solidFill>
                <a:latin typeface="微软雅黑" panose="020B0503020204020204" pitchFamily="34" charset="-122"/>
                <a:ea typeface="微软雅黑" panose="020B0503020204020204" pitchFamily="34" charset="-122"/>
              </a:rPr>
              <a:t>求差：加补码，不会溢出，符号分情况</a:t>
            </a:r>
            <a:endParaRPr lang="zh-CN" altLang="en-US" sz="2000" dirty="0">
              <a:solidFill>
                <a:srgbClr val="CC3300"/>
              </a:solidFill>
              <a:latin typeface="微软雅黑" panose="020B0503020204020204" pitchFamily="34" charset="-122"/>
              <a:ea typeface="微软雅黑" panose="020B0503020204020204" pitchFamily="34" charset="-122"/>
            </a:endParaRPr>
          </a:p>
        </p:txBody>
      </p:sp>
      <p:sp>
        <p:nvSpPr>
          <p:cNvPr id="7" name="Text Box 9"/>
          <p:cNvSpPr txBox="1"/>
          <p:nvPr/>
        </p:nvSpPr>
        <p:spPr>
          <a:xfrm>
            <a:off x="7419975" y="5200650"/>
            <a:ext cx="895350" cy="336550"/>
          </a:xfrm>
          <a:prstGeom prst="rect">
            <a:avLst/>
          </a:prstGeom>
          <a:noFill/>
          <a:ln w="12700">
            <a:noFill/>
          </a:ln>
        </p:spPr>
        <p:txBody>
          <a:bodyPr anchor="t" anchorCtr="0">
            <a:spAutoFit/>
          </a:bodyPr>
          <a:p>
            <a:pPr eaLnBrk="0" hangingPunct="0">
              <a:spcBef>
                <a:spcPct val="50000"/>
              </a:spcBef>
            </a:pPr>
            <a:r>
              <a:rPr lang="en-US" altLang="zh-CN" dirty="0">
                <a:latin typeface="微软雅黑" panose="020B0503020204020204" pitchFamily="34" charset="-122"/>
                <a:ea typeface="微软雅黑" panose="020B0503020204020204" pitchFamily="34" charset="-122"/>
                <a:hlinkClick r:id="rId1" action="ppaction://hlinksldjump"/>
              </a:rPr>
              <a:t>BACK</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5987">
                                            <p:txEl>
                                              <p:charRg st="45" end="79"/>
                                            </p:txEl>
                                          </p:spTgt>
                                        </p:tgtEl>
                                        <p:attrNameLst>
                                          <p:attrName>style.visibility</p:attrName>
                                        </p:attrNameLst>
                                      </p:cBhvr>
                                      <p:to>
                                        <p:strVal val="visible"/>
                                      </p:to>
                                    </p:set>
                                    <p:animEffect transition="in" filter="blinds(horizontal)">
                                      <p:cBhvr>
                                        <p:cTn id="7" dur="500"/>
                                        <p:tgtEl>
                                          <p:spTgt spid="425987">
                                            <p:txEl>
                                              <p:charRg st="45" end="7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5987">
                                            <p:txEl>
                                              <p:charRg st="79" end="126"/>
                                            </p:txEl>
                                          </p:spTgt>
                                        </p:tgtEl>
                                        <p:attrNameLst>
                                          <p:attrName>style.visibility</p:attrName>
                                        </p:attrNameLst>
                                      </p:cBhvr>
                                      <p:to>
                                        <p:strVal val="visible"/>
                                      </p:to>
                                    </p:set>
                                    <p:animEffect transition="in" filter="blinds(horizontal)">
                                      <p:cBhvr>
                                        <p:cTn id="10" dur="500"/>
                                        <p:tgtEl>
                                          <p:spTgt spid="425987">
                                            <p:txEl>
                                              <p:charRg st="79" end="12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5987">
                                            <p:txEl>
                                              <p:charRg st="126" end="153"/>
                                            </p:txEl>
                                          </p:spTgt>
                                        </p:tgtEl>
                                        <p:attrNameLst>
                                          <p:attrName>style.visibility</p:attrName>
                                        </p:attrNameLst>
                                      </p:cBhvr>
                                      <p:to>
                                        <p:strVal val="visible"/>
                                      </p:to>
                                    </p:set>
                                    <p:animEffect transition="in" filter="blinds(horizontal)">
                                      <p:cBhvr>
                                        <p:cTn id="13" dur="500"/>
                                        <p:tgtEl>
                                          <p:spTgt spid="425987">
                                            <p:txEl>
                                              <p:charRg st="126" end="15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25987">
                                            <p:txEl>
                                              <p:charRg st="153" end="187"/>
                                            </p:txEl>
                                          </p:spTgt>
                                        </p:tgtEl>
                                        <p:attrNameLst>
                                          <p:attrName>style.visibility</p:attrName>
                                        </p:attrNameLst>
                                      </p:cBhvr>
                                      <p:to>
                                        <p:strVal val="visible"/>
                                      </p:to>
                                    </p:set>
                                    <p:animEffect transition="in" filter="blinds(horizontal)">
                                      <p:cBhvr>
                                        <p:cTn id="16" dur="500"/>
                                        <p:tgtEl>
                                          <p:spTgt spid="425987">
                                            <p:txEl>
                                              <p:charRg st="153" end="18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25989"/>
                                        </p:tgtEl>
                                        <p:attrNameLst>
                                          <p:attrName>style.visibility</p:attrName>
                                        </p:attrNameLst>
                                      </p:cBhvr>
                                      <p:to>
                                        <p:strVal val="visible"/>
                                      </p:to>
                                    </p:set>
                                    <p:animEffect transition="in" filter="blinds(horizontal)">
                                      <p:cBhvr>
                                        <p:cTn id="21" dur="500"/>
                                        <p:tgtEl>
                                          <p:spTgt spid="42598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25987">
                                            <p:txEl>
                                              <p:charRg st="235" end="263"/>
                                            </p:txEl>
                                          </p:spTgt>
                                        </p:tgtEl>
                                        <p:attrNameLst>
                                          <p:attrName>style.visibility</p:attrName>
                                        </p:attrNameLst>
                                      </p:cBhvr>
                                      <p:to>
                                        <p:strVal val="visible"/>
                                      </p:to>
                                    </p:set>
                                    <p:animEffect transition="in" filter="blinds(horizontal)">
                                      <p:cBhvr>
                                        <p:cTn id="26" dur="500"/>
                                        <p:tgtEl>
                                          <p:spTgt spid="425987">
                                            <p:txEl>
                                              <p:charRg st="235" end="263"/>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425987">
                                            <p:txEl>
                                              <p:charRg st="263" end="313"/>
                                            </p:txEl>
                                          </p:spTgt>
                                        </p:tgtEl>
                                        <p:attrNameLst>
                                          <p:attrName>style.visibility</p:attrName>
                                        </p:attrNameLst>
                                      </p:cBhvr>
                                      <p:to>
                                        <p:strVal val="visible"/>
                                      </p:to>
                                    </p:set>
                                    <p:animEffect transition="in" filter="blinds(horizontal)">
                                      <p:cBhvr>
                                        <p:cTn id="29" dur="500"/>
                                        <p:tgtEl>
                                          <p:spTgt spid="425987">
                                            <p:txEl>
                                              <p:charRg st="263" end="313"/>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25987">
                                            <p:txEl>
                                              <p:charRg st="313" end="356"/>
                                            </p:txEl>
                                          </p:spTgt>
                                        </p:tgtEl>
                                        <p:attrNameLst>
                                          <p:attrName>style.visibility</p:attrName>
                                        </p:attrNameLst>
                                      </p:cBhvr>
                                      <p:to>
                                        <p:strVal val="visible"/>
                                      </p:to>
                                    </p:set>
                                    <p:animEffect transition="in" filter="blinds(horizontal)">
                                      <p:cBhvr>
                                        <p:cTn id="32" dur="500"/>
                                        <p:tgtEl>
                                          <p:spTgt spid="425987">
                                            <p:txEl>
                                              <p:charRg st="313" end="35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25987">
                                            <p:txEl>
                                              <p:charRg st="356" end="391"/>
                                            </p:txEl>
                                          </p:spTgt>
                                        </p:tgtEl>
                                        <p:attrNameLst>
                                          <p:attrName>style.visibility</p:attrName>
                                        </p:attrNameLst>
                                      </p:cBhvr>
                                      <p:to>
                                        <p:strVal val="visible"/>
                                      </p:to>
                                    </p:set>
                                    <p:animEffect transition="in" filter="blinds(horizontal)">
                                      <p:cBhvr>
                                        <p:cTn id="35" dur="500"/>
                                        <p:tgtEl>
                                          <p:spTgt spid="425987">
                                            <p:txEl>
                                              <p:charRg st="356" end="39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25987">
                                            <p:txEl>
                                              <p:charRg st="391" end="419"/>
                                            </p:txEl>
                                          </p:spTgt>
                                        </p:tgtEl>
                                        <p:attrNameLst>
                                          <p:attrName>style.visibility</p:attrName>
                                        </p:attrNameLst>
                                      </p:cBhvr>
                                      <p:to>
                                        <p:strVal val="visible"/>
                                      </p:to>
                                    </p:set>
                                    <p:animEffect transition="in" filter="blinds(horizontal)">
                                      <p:cBhvr>
                                        <p:cTn id="38" dur="500"/>
                                        <p:tgtEl>
                                          <p:spTgt spid="425987">
                                            <p:txEl>
                                              <p:charRg st="391" end="419"/>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425987">
                                            <p:txEl>
                                              <p:charRg st="419" end="453"/>
                                            </p:txEl>
                                          </p:spTgt>
                                        </p:tgtEl>
                                        <p:attrNameLst>
                                          <p:attrName>style.visibility</p:attrName>
                                        </p:attrNameLst>
                                      </p:cBhvr>
                                      <p:to>
                                        <p:strVal val="visible"/>
                                      </p:to>
                                    </p:set>
                                    <p:animEffect transition="in" filter="blinds(horizontal)">
                                      <p:cBhvr>
                                        <p:cTn id="41" dur="500"/>
                                        <p:tgtEl>
                                          <p:spTgt spid="425987">
                                            <p:txEl>
                                              <p:charRg st="419" end="45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25990"/>
                                        </p:tgtEl>
                                        <p:attrNameLst>
                                          <p:attrName>style.visibility</p:attrName>
                                        </p:attrNameLst>
                                      </p:cBhvr>
                                      <p:to>
                                        <p:strVal val="visible"/>
                                      </p:to>
                                    </p:set>
                                    <p:animEffect transition="in" filter="blinds(horizontal)">
                                      <p:cBhvr>
                                        <p:cTn id="46" dur="500"/>
                                        <p:tgtEl>
                                          <p:spTgt spid="425990"/>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425988"/>
                                        </p:tgtEl>
                                        <p:attrNameLst>
                                          <p:attrName>style.visibility</p:attrName>
                                        </p:attrNameLst>
                                      </p:cBhvr>
                                      <p:to>
                                        <p:strVal val="visible"/>
                                      </p:to>
                                    </p:set>
                                    <p:animEffect transition="in" filter="blinds(horizontal)">
                                      <p:cBhvr>
                                        <p:cTn id="51" dur="500"/>
                                        <p:tgtEl>
                                          <p:spTgt spid="425988"/>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blinds(horizontal)">
                                      <p:cBhvr>
                                        <p:cTn id="5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8" grpId="0"/>
      <p:bldP spid="425989" grpId="0"/>
      <p:bldP spid="425990" grpId="0"/>
      <p:bldP spid="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浮点加</a:t>
            </a:r>
            <a:r>
              <a:rPr lang="en-US" altLang="zh-CN" dirty="0">
                <a:ea typeface="宋体" panose="02010600030101010101" pitchFamily="2" charset="-122"/>
              </a:rPr>
              <a:t>/</a:t>
            </a:r>
            <a:r>
              <a:rPr lang="zh-CN" altLang="en-US" dirty="0">
                <a:ea typeface="宋体" panose="02010600030101010101" pitchFamily="2" charset="-122"/>
              </a:rPr>
              <a:t>减法器</a:t>
            </a:r>
            <a:endParaRPr lang="zh-CN" altLang="en-US" dirty="0">
              <a:ea typeface="宋体" panose="02010600030101010101" pitchFamily="2" charset="-122"/>
            </a:endParaRPr>
          </a:p>
        </p:txBody>
      </p:sp>
      <p:pic>
        <p:nvPicPr>
          <p:cNvPr id="129026" name="Picture 8" descr="浮点加减ALU"/>
          <p:cNvPicPr>
            <a:picLocks noChangeAspect="1"/>
          </p:cNvPicPr>
          <p:nvPr/>
        </p:nvPicPr>
        <p:blipFill>
          <a:blip r:embed="rId1"/>
          <a:stretch>
            <a:fillRect/>
          </a:stretch>
        </p:blipFill>
        <p:spPr>
          <a:xfrm>
            <a:off x="255588" y="95250"/>
            <a:ext cx="8543925" cy="6588125"/>
          </a:xfrm>
          <a:prstGeom prst="rect">
            <a:avLst/>
          </a:prstGeom>
          <a:noFill/>
          <a:ln w="9525">
            <a:noFill/>
          </a:ln>
        </p:spPr>
      </p:pic>
      <p:sp>
        <p:nvSpPr>
          <p:cNvPr id="129027" name="Text Box 9"/>
          <p:cNvSpPr txBox="1"/>
          <p:nvPr/>
        </p:nvSpPr>
        <p:spPr>
          <a:xfrm>
            <a:off x="493713" y="214313"/>
            <a:ext cx="427037" cy="244475"/>
          </a:xfrm>
          <a:prstGeom prst="rect">
            <a:avLst/>
          </a:prstGeom>
          <a:solidFill>
            <a:schemeClr val="bg1"/>
          </a:solidFill>
          <a:ln w="9525">
            <a:noFill/>
          </a:ln>
        </p:spPr>
        <p:txBody>
          <a:bodyPr lIns="0" tIns="0" rIns="0" bIns="0" anchor="t" anchorCtr="0">
            <a:spAutoFit/>
          </a:bodyPr>
          <a:p>
            <a:r>
              <a:rPr lang="zh-CN" altLang="en-US" dirty="0">
                <a:latin typeface="Arial" panose="020B0604020202020204" pitchFamily="34" charset="0"/>
                <a:ea typeface="宋体" panose="02010600030101010101" pitchFamily="2" charset="-122"/>
              </a:rPr>
              <a:t>  </a:t>
            </a:r>
            <a:r>
              <a:rPr lang="en-US" altLang="zh-CN" dirty="0">
                <a:latin typeface="Arial" panose="020B0604020202020204" pitchFamily="34" charset="0"/>
              </a:rPr>
              <a:t>S</a:t>
            </a:r>
            <a:r>
              <a:rPr lang="en-US" altLang="zh-CN" baseline="-25000" dirty="0">
                <a:latin typeface="Arial" panose="020B0604020202020204" pitchFamily="34" charset="0"/>
              </a:rPr>
              <a:t>x</a:t>
            </a:r>
            <a:endParaRPr lang="en-US" altLang="zh-CN" baseline="-25000" dirty="0">
              <a:latin typeface="Arial" panose="020B0604020202020204" pitchFamily="34" charset="0"/>
            </a:endParaRPr>
          </a:p>
        </p:txBody>
      </p:sp>
      <p:sp>
        <p:nvSpPr>
          <p:cNvPr id="129028" name="Text Box 10"/>
          <p:cNvSpPr txBox="1"/>
          <p:nvPr/>
        </p:nvSpPr>
        <p:spPr>
          <a:xfrm>
            <a:off x="3859213" y="2901950"/>
            <a:ext cx="965200"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  右    移</a:t>
            </a:r>
            <a:endParaRPr lang="zh-CN" altLang="en-US" sz="1400" dirty="0">
              <a:latin typeface="Arial" panose="020B0604020202020204" pitchFamily="34" charset="0"/>
              <a:ea typeface="宋体" panose="02010600030101010101" pitchFamily="2" charset="-122"/>
            </a:endParaRPr>
          </a:p>
        </p:txBody>
      </p:sp>
      <p:sp>
        <p:nvSpPr>
          <p:cNvPr id="129029" name="Text Box 11"/>
          <p:cNvSpPr txBox="1"/>
          <p:nvPr/>
        </p:nvSpPr>
        <p:spPr>
          <a:xfrm>
            <a:off x="1065213" y="206375"/>
            <a:ext cx="838200" cy="244475"/>
          </a:xfrm>
          <a:prstGeom prst="rect">
            <a:avLst/>
          </a:prstGeom>
          <a:solidFill>
            <a:schemeClr val="bg1"/>
          </a:solidFill>
          <a:ln w="9525">
            <a:noFill/>
          </a:ln>
        </p:spPr>
        <p:txBody>
          <a:bodyPr lIns="0" tIns="0" rIns="0" bIns="0" anchor="t" anchorCtr="0">
            <a:spAutoFit/>
          </a:bodyPr>
          <a:p>
            <a:pPr>
              <a:spcBef>
                <a:spcPct val="50000"/>
              </a:spcBef>
            </a:pPr>
            <a:r>
              <a:rPr lang="zh-CN" altLang="en-US" sz="1400" dirty="0">
                <a:latin typeface="Arial" panose="020B0604020202020204" pitchFamily="34" charset="0"/>
                <a:ea typeface="宋体" panose="02010600030101010101" pitchFamily="2" charset="-122"/>
              </a:rPr>
              <a:t>       </a:t>
            </a:r>
            <a:r>
              <a:rPr lang="en-US" altLang="zh-CN" dirty="0">
                <a:latin typeface="Arial" panose="020B0604020202020204" pitchFamily="34" charset="0"/>
              </a:rPr>
              <a:t>E</a:t>
            </a:r>
            <a:r>
              <a:rPr lang="en-US" altLang="zh-CN" baseline="-25000" dirty="0">
                <a:latin typeface="Arial" panose="020B0604020202020204" pitchFamily="34" charset="0"/>
              </a:rPr>
              <a:t>x</a:t>
            </a:r>
            <a:endParaRPr lang="en-US" altLang="zh-CN" baseline="-25000" dirty="0">
              <a:latin typeface="Arial" panose="020B0604020202020204" pitchFamily="34" charset="0"/>
            </a:endParaRPr>
          </a:p>
        </p:txBody>
      </p:sp>
      <p:sp>
        <p:nvSpPr>
          <p:cNvPr id="129030" name="Text Box 12"/>
          <p:cNvSpPr txBox="1"/>
          <p:nvPr/>
        </p:nvSpPr>
        <p:spPr>
          <a:xfrm>
            <a:off x="2216150" y="228600"/>
            <a:ext cx="1365250" cy="212725"/>
          </a:xfrm>
          <a:prstGeom prst="rect">
            <a:avLst/>
          </a:prstGeom>
          <a:solidFill>
            <a:schemeClr val="bg1"/>
          </a:solidFill>
          <a:ln w="9525">
            <a:noFill/>
          </a:ln>
        </p:spPr>
        <p:txBody>
          <a:bodyPr lIns="0" tIns="0" rIns="0" bIns="0" anchor="t" anchorCtr="0">
            <a:spAutoFit/>
          </a:bodyPr>
          <a:p>
            <a:pPr>
              <a:spcBef>
                <a:spcPct val="50000"/>
              </a:spcBef>
            </a:pPr>
            <a:r>
              <a:rPr lang="zh-CN" altLang="en-US" sz="1400" dirty="0">
                <a:latin typeface="Arial" panose="020B0604020202020204" pitchFamily="34" charset="0"/>
                <a:ea typeface="宋体" panose="02010600030101010101" pitchFamily="2" charset="-122"/>
              </a:rPr>
              <a:t>           </a:t>
            </a:r>
            <a:r>
              <a:rPr lang="en-US" altLang="zh-CN" sz="1400" dirty="0">
                <a:latin typeface="Arial" panose="020B0604020202020204" pitchFamily="34" charset="0"/>
              </a:rPr>
              <a:t>M</a:t>
            </a:r>
            <a:r>
              <a:rPr lang="en-US" altLang="zh-CN" baseline="-25000" dirty="0">
                <a:latin typeface="Arial" panose="020B0604020202020204" pitchFamily="34" charset="0"/>
              </a:rPr>
              <a:t>x</a:t>
            </a:r>
            <a:endParaRPr lang="en-US" altLang="zh-CN" baseline="-25000" dirty="0">
              <a:latin typeface="Arial" panose="020B0604020202020204" pitchFamily="34" charset="0"/>
            </a:endParaRPr>
          </a:p>
        </p:txBody>
      </p:sp>
      <p:sp>
        <p:nvSpPr>
          <p:cNvPr id="129031" name="Text Box 13"/>
          <p:cNvSpPr txBox="1"/>
          <p:nvPr/>
        </p:nvSpPr>
        <p:spPr>
          <a:xfrm>
            <a:off x="4503738" y="239713"/>
            <a:ext cx="427037" cy="195262"/>
          </a:xfrm>
          <a:prstGeom prst="rect">
            <a:avLst/>
          </a:prstGeom>
          <a:solidFill>
            <a:schemeClr val="bg1"/>
          </a:solidFill>
          <a:ln w="9525">
            <a:noFill/>
          </a:ln>
        </p:spPr>
        <p:txBody>
          <a:bodyPr lIns="0" tIns="0" rIns="0" bIns="0" anchor="t" anchorCtr="0">
            <a:spAutoFit/>
          </a:bodyPr>
          <a:p>
            <a:pPr>
              <a:lnSpc>
                <a:spcPct val="80000"/>
              </a:lnSpc>
            </a:pPr>
            <a:r>
              <a:rPr lang="zh-CN" altLang="en-US" dirty="0">
                <a:latin typeface="Arial" panose="020B0604020202020204" pitchFamily="34" charset="0"/>
                <a:ea typeface="宋体" panose="02010600030101010101" pitchFamily="2" charset="-122"/>
              </a:rPr>
              <a:t>  </a:t>
            </a:r>
            <a:r>
              <a:rPr lang="en-US" altLang="zh-CN" dirty="0">
                <a:latin typeface="Arial" panose="020B0604020202020204" pitchFamily="34" charset="0"/>
              </a:rPr>
              <a:t>S</a:t>
            </a:r>
            <a:r>
              <a:rPr lang="en-US" altLang="zh-CN" baseline="-25000" dirty="0">
                <a:latin typeface="Arial" panose="020B0604020202020204" pitchFamily="34" charset="0"/>
              </a:rPr>
              <a:t>y</a:t>
            </a:r>
            <a:endParaRPr lang="en-US" altLang="zh-CN" baseline="-25000" dirty="0">
              <a:latin typeface="Arial" panose="020B0604020202020204" pitchFamily="34" charset="0"/>
            </a:endParaRPr>
          </a:p>
        </p:txBody>
      </p:sp>
      <p:sp>
        <p:nvSpPr>
          <p:cNvPr id="129032" name="Text Box 14"/>
          <p:cNvSpPr txBox="1"/>
          <p:nvPr/>
        </p:nvSpPr>
        <p:spPr>
          <a:xfrm>
            <a:off x="5038725" y="231775"/>
            <a:ext cx="839788" cy="207963"/>
          </a:xfrm>
          <a:prstGeom prst="rect">
            <a:avLst/>
          </a:prstGeom>
          <a:solidFill>
            <a:schemeClr val="bg1"/>
          </a:solidFill>
          <a:ln w="9525">
            <a:noFill/>
          </a:ln>
        </p:spPr>
        <p:txBody>
          <a:bodyPr lIns="0" tIns="0" rIns="0" bIns="0" anchor="t" anchorCtr="0">
            <a:spAutoFit/>
          </a:bodyPr>
          <a:p>
            <a:pPr>
              <a:lnSpc>
                <a:spcPct val="85000"/>
              </a:lnSpc>
            </a:pPr>
            <a:r>
              <a:rPr lang="zh-CN" altLang="en-US" sz="1400" dirty="0">
                <a:latin typeface="Arial" panose="020B0604020202020204" pitchFamily="34" charset="0"/>
                <a:ea typeface="宋体" panose="02010600030101010101" pitchFamily="2" charset="-122"/>
              </a:rPr>
              <a:t>       </a:t>
            </a:r>
            <a:r>
              <a:rPr lang="en-US" altLang="zh-CN" dirty="0">
                <a:latin typeface="Arial" panose="020B0604020202020204" pitchFamily="34" charset="0"/>
              </a:rPr>
              <a:t>E</a:t>
            </a:r>
            <a:r>
              <a:rPr lang="en-US" altLang="zh-CN" baseline="-25000" dirty="0">
                <a:latin typeface="Arial" panose="020B0604020202020204" pitchFamily="34" charset="0"/>
              </a:rPr>
              <a:t>y</a:t>
            </a:r>
            <a:endParaRPr lang="en-US" altLang="zh-CN" baseline="-25000" dirty="0">
              <a:latin typeface="Arial" panose="020B0604020202020204" pitchFamily="34" charset="0"/>
            </a:endParaRPr>
          </a:p>
        </p:txBody>
      </p:sp>
      <p:sp>
        <p:nvSpPr>
          <p:cNvPr id="129033" name="Text Box 15"/>
          <p:cNvSpPr txBox="1"/>
          <p:nvPr/>
        </p:nvSpPr>
        <p:spPr>
          <a:xfrm>
            <a:off x="6480175" y="268288"/>
            <a:ext cx="1363663" cy="169862"/>
          </a:xfrm>
          <a:prstGeom prst="rect">
            <a:avLst/>
          </a:prstGeom>
          <a:solidFill>
            <a:schemeClr val="bg1"/>
          </a:solidFill>
          <a:ln w="9525">
            <a:noFill/>
          </a:ln>
        </p:spPr>
        <p:txBody>
          <a:bodyPr lIns="0" tIns="0" rIns="0" bIns="0" anchor="t" anchorCtr="0">
            <a:spAutoFit/>
          </a:bodyPr>
          <a:p>
            <a:pPr>
              <a:lnSpc>
                <a:spcPct val="80000"/>
              </a:lnSpc>
              <a:spcAft>
                <a:spcPct val="10000"/>
              </a:spcAft>
            </a:pPr>
            <a:r>
              <a:rPr lang="zh-CN" altLang="en-US" sz="1400" dirty="0">
                <a:latin typeface="Arial" panose="020B0604020202020204" pitchFamily="34" charset="0"/>
                <a:ea typeface="宋体" panose="02010600030101010101" pitchFamily="2" charset="-122"/>
              </a:rPr>
              <a:t>           </a:t>
            </a:r>
            <a:r>
              <a:rPr lang="en-US" altLang="zh-CN" sz="1400" dirty="0">
                <a:latin typeface="Arial" panose="020B0604020202020204" pitchFamily="34" charset="0"/>
              </a:rPr>
              <a:t>M</a:t>
            </a:r>
            <a:r>
              <a:rPr lang="en-US" altLang="zh-CN" baseline="-25000" dirty="0">
                <a:latin typeface="Arial" panose="020B0604020202020204" pitchFamily="34" charset="0"/>
              </a:rPr>
              <a:t>y</a:t>
            </a:r>
            <a:endParaRPr lang="en-US" altLang="zh-CN" baseline="-25000" dirty="0">
              <a:latin typeface="Arial" panose="020B0604020202020204" pitchFamily="34" charset="0"/>
            </a:endParaRPr>
          </a:p>
        </p:txBody>
      </p:sp>
      <p:sp>
        <p:nvSpPr>
          <p:cNvPr id="129034" name="Text Box 16"/>
          <p:cNvSpPr txBox="1"/>
          <p:nvPr/>
        </p:nvSpPr>
        <p:spPr>
          <a:xfrm>
            <a:off x="1539875" y="1196975"/>
            <a:ext cx="915988" cy="212725"/>
          </a:xfrm>
          <a:prstGeom prst="rect">
            <a:avLst/>
          </a:prstGeom>
          <a:solidFill>
            <a:schemeClr val="bg1"/>
          </a:solidFill>
          <a:ln w="9525">
            <a:noFill/>
          </a:ln>
        </p:spPr>
        <p:txBody>
          <a:bodyPr lIns="0" tIns="0" rIns="0" bIns="0" anchor="t" anchorCtr="0">
            <a:spAutoFit/>
          </a:bodyPr>
          <a:p>
            <a:pPr>
              <a:spcBef>
                <a:spcPct val="50000"/>
              </a:spcBef>
            </a:pPr>
            <a:r>
              <a:rPr lang="zh-CN" altLang="en-US" sz="1400" dirty="0">
                <a:latin typeface="Arial" panose="020B0604020202020204" pitchFamily="34" charset="0"/>
                <a:ea typeface="宋体" panose="02010600030101010101" pitchFamily="2" charset="-122"/>
              </a:rPr>
              <a:t>   小</a:t>
            </a:r>
            <a:r>
              <a:rPr lang="en-US" altLang="zh-CN" sz="1400" dirty="0">
                <a:latin typeface="Arial" panose="020B0604020202020204" pitchFamily="34" charset="0"/>
              </a:rPr>
              <a:t>ALU</a:t>
            </a:r>
            <a:endParaRPr lang="en-US" altLang="zh-CN" sz="1400" dirty="0">
              <a:latin typeface="Arial" panose="020B0604020202020204" pitchFamily="34" charset="0"/>
            </a:endParaRPr>
          </a:p>
        </p:txBody>
      </p:sp>
      <p:sp>
        <p:nvSpPr>
          <p:cNvPr id="129035" name="Text Box 17"/>
          <p:cNvSpPr txBox="1"/>
          <p:nvPr/>
        </p:nvSpPr>
        <p:spPr>
          <a:xfrm>
            <a:off x="4460875" y="3786188"/>
            <a:ext cx="915988" cy="212725"/>
          </a:xfrm>
          <a:prstGeom prst="rect">
            <a:avLst/>
          </a:prstGeom>
          <a:solidFill>
            <a:schemeClr val="bg1"/>
          </a:solidFill>
          <a:ln w="9525">
            <a:noFill/>
          </a:ln>
        </p:spPr>
        <p:txBody>
          <a:bodyPr lIns="0" tIns="0" rIns="0" bIns="0" anchor="t" anchorCtr="0">
            <a:spAutoFit/>
          </a:bodyPr>
          <a:p>
            <a:pPr>
              <a:spcBef>
                <a:spcPct val="50000"/>
              </a:spcBef>
            </a:pPr>
            <a:r>
              <a:rPr lang="zh-CN" altLang="en-US" sz="1400" dirty="0">
                <a:latin typeface="Arial" panose="020B0604020202020204" pitchFamily="34" charset="0"/>
                <a:ea typeface="宋体" panose="02010600030101010101" pitchFamily="2" charset="-122"/>
              </a:rPr>
              <a:t>   大</a:t>
            </a:r>
            <a:r>
              <a:rPr lang="en-US" altLang="zh-CN" sz="1400" dirty="0">
                <a:latin typeface="Arial" panose="020B0604020202020204" pitchFamily="34" charset="0"/>
              </a:rPr>
              <a:t>ALU</a:t>
            </a:r>
            <a:endParaRPr lang="en-US" altLang="zh-CN" sz="1400" dirty="0">
              <a:latin typeface="Arial" panose="020B0604020202020204" pitchFamily="34" charset="0"/>
            </a:endParaRPr>
          </a:p>
        </p:txBody>
      </p:sp>
      <p:sp>
        <p:nvSpPr>
          <p:cNvPr id="129036" name="Rectangle 18"/>
          <p:cNvSpPr/>
          <p:nvPr/>
        </p:nvSpPr>
        <p:spPr>
          <a:xfrm>
            <a:off x="7480300" y="1147763"/>
            <a:ext cx="1230313" cy="396875"/>
          </a:xfrm>
          <a:prstGeom prst="rect">
            <a:avLst/>
          </a:prstGeom>
          <a:solidFill>
            <a:schemeClr val="bg1"/>
          </a:solidFill>
          <a:ln w="9525">
            <a:noFill/>
          </a:ln>
        </p:spPr>
        <p:txBody>
          <a:bodyPr anchor="t" anchorCtr="0">
            <a:spAutoFit/>
          </a:bodyPr>
          <a:p>
            <a:r>
              <a:rPr lang="zh-CN" altLang="en-US" sz="2000" dirty="0">
                <a:solidFill>
                  <a:schemeClr val="accent2"/>
                </a:solidFill>
                <a:latin typeface="Arial" panose="020B0604020202020204" pitchFamily="34" charset="0"/>
                <a:ea typeface="黑体" panose="02010609060101010101" pitchFamily="49" charset="-122"/>
              </a:rPr>
              <a:t>阶码相减</a:t>
            </a:r>
            <a:endParaRPr lang="zh-CN" altLang="en-US" sz="2000" dirty="0">
              <a:solidFill>
                <a:schemeClr val="accent2"/>
              </a:solidFill>
              <a:latin typeface="Arial" panose="020B0604020202020204" pitchFamily="34" charset="0"/>
              <a:ea typeface="黑体" panose="02010609060101010101" pitchFamily="49" charset="-122"/>
            </a:endParaRPr>
          </a:p>
        </p:txBody>
      </p:sp>
      <p:sp>
        <p:nvSpPr>
          <p:cNvPr id="129037" name="Text Box 19"/>
          <p:cNvSpPr txBox="1"/>
          <p:nvPr/>
        </p:nvSpPr>
        <p:spPr>
          <a:xfrm>
            <a:off x="4275138" y="4886325"/>
            <a:ext cx="1292225"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  左移 或 右移</a:t>
            </a:r>
            <a:endParaRPr lang="zh-CN" altLang="en-US" sz="1400" dirty="0">
              <a:latin typeface="Arial" panose="020B0604020202020204" pitchFamily="34" charset="0"/>
              <a:ea typeface="宋体" panose="02010600030101010101" pitchFamily="2" charset="-122"/>
            </a:endParaRPr>
          </a:p>
        </p:txBody>
      </p:sp>
      <p:sp>
        <p:nvSpPr>
          <p:cNvPr id="129038" name="Text Box 20"/>
          <p:cNvSpPr txBox="1"/>
          <p:nvPr/>
        </p:nvSpPr>
        <p:spPr>
          <a:xfrm>
            <a:off x="3402013" y="5646738"/>
            <a:ext cx="1543050"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       舍          入</a:t>
            </a:r>
            <a:endParaRPr lang="zh-CN" altLang="en-US" sz="1400" dirty="0">
              <a:latin typeface="Arial" panose="020B0604020202020204" pitchFamily="34" charset="0"/>
              <a:ea typeface="宋体" panose="02010600030101010101" pitchFamily="2" charset="-122"/>
            </a:endParaRPr>
          </a:p>
        </p:txBody>
      </p:sp>
      <p:sp>
        <p:nvSpPr>
          <p:cNvPr id="129039" name="Text Box 21"/>
          <p:cNvSpPr txBox="1"/>
          <p:nvPr/>
        </p:nvSpPr>
        <p:spPr>
          <a:xfrm>
            <a:off x="1608138" y="1908175"/>
            <a:ext cx="852487" cy="244475"/>
          </a:xfrm>
          <a:prstGeom prst="rect">
            <a:avLst/>
          </a:prstGeom>
          <a:solidFill>
            <a:schemeClr val="bg1"/>
          </a:solidFill>
          <a:ln w="9525">
            <a:noFill/>
          </a:ln>
        </p:spPr>
        <p:txBody>
          <a:bodyPr lIns="0" tIns="0" rIns="0" bIns="0" anchor="t" anchorCtr="0">
            <a:spAutoFit/>
          </a:bodyPr>
          <a:p>
            <a:pPr>
              <a:lnSpc>
                <a:spcPct val="115000"/>
              </a:lnSpc>
              <a:spcBef>
                <a:spcPct val="50000"/>
              </a:spcBef>
              <a:spcAft>
                <a:spcPct val="50000"/>
              </a:spcAft>
            </a:pPr>
            <a:r>
              <a:rPr lang="zh-CN" altLang="en-US" sz="1400" dirty="0">
                <a:latin typeface="Arial" panose="020B0604020202020204" pitchFamily="34" charset="0"/>
                <a:ea typeface="宋体" panose="02010600030101010101" pitchFamily="2" charset="-122"/>
              </a:rPr>
              <a:t>  阶    差</a:t>
            </a:r>
            <a:endParaRPr lang="zh-CN" altLang="en-US" sz="1400" dirty="0">
              <a:latin typeface="Arial" panose="020B0604020202020204" pitchFamily="34" charset="0"/>
              <a:ea typeface="宋体" panose="02010600030101010101" pitchFamily="2" charset="-122"/>
            </a:endParaRPr>
          </a:p>
        </p:txBody>
      </p:sp>
      <p:sp>
        <p:nvSpPr>
          <p:cNvPr id="129040" name="Text Box 22"/>
          <p:cNvSpPr txBox="1"/>
          <p:nvPr/>
        </p:nvSpPr>
        <p:spPr>
          <a:xfrm>
            <a:off x="1546225" y="2882900"/>
            <a:ext cx="1001713" cy="244475"/>
          </a:xfrm>
          <a:prstGeom prst="rect">
            <a:avLst/>
          </a:prstGeom>
          <a:solidFill>
            <a:schemeClr val="bg1"/>
          </a:solidFill>
          <a:ln w="9525">
            <a:noFill/>
          </a:ln>
        </p:spPr>
        <p:txBody>
          <a:bodyPr lIns="0" tIns="0" rIns="0" bIns="0" anchor="t" anchorCtr="0">
            <a:spAutoFit/>
          </a:bodyPr>
          <a:p>
            <a:pPr>
              <a:lnSpc>
                <a:spcPct val="115000"/>
              </a:lnSpc>
              <a:spcBef>
                <a:spcPct val="50000"/>
              </a:spcBef>
              <a:spcAft>
                <a:spcPct val="50000"/>
              </a:spcAft>
            </a:pPr>
            <a:r>
              <a:rPr lang="zh-CN" altLang="en-US" sz="1400" dirty="0">
                <a:latin typeface="Arial" panose="020B0604020202020204" pitchFamily="34" charset="0"/>
                <a:ea typeface="宋体" panose="02010600030101010101" pitchFamily="2" charset="-122"/>
              </a:rPr>
              <a:t>  控制逻辑</a:t>
            </a:r>
            <a:endParaRPr lang="zh-CN" altLang="en-US" sz="1400" dirty="0">
              <a:latin typeface="Arial" panose="020B0604020202020204" pitchFamily="34" charset="0"/>
              <a:ea typeface="宋体" panose="02010600030101010101" pitchFamily="2" charset="-122"/>
            </a:endParaRPr>
          </a:p>
        </p:txBody>
      </p:sp>
      <p:sp>
        <p:nvSpPr>
          <p:cNvPr id="129041" name="Text Box 23"/>
          <p:cNvSpPr txBox="1"/>
          <p:nvPr/>
        </p:nvSpPr>
        <p:spPr>
          <a:xfrm>
            <a:off x="2424113" y="6272213"/>
            <a:ext cx="427037" cy="244475"/>
          </a:xfrm>
          <a:prstGeom prst="rect">
            <a:avLst/>
          </a:prstGeom>
          <a:solidFill>
            <a:schemeClr val="bg1"/>
          </a:solidFill>
          <a:ln w="9525">
            <a:noFill/>
          </a:ln>
        </p:spPr>
        <p:txBody>
          <a:bodyPr lIns="0" tIns="0" rIns="0" bIns="0" anchor="t" anchorCtr="0">
            <a:spAutoFit/>
          </a:bodyPr>
          <a:p>
            <a:r>
              <a:rPr lang="zh-CN" altLang="en-US" dirty="0">
                <a:latin typeface="Arial" panose="020B0604020202020204" pitchFamily="34" charset="0"/>
                <a:ea typeface="宋体" panose="02010600030101010101" pitchFamily="2" charset="-122"/>
              </a:rPr>
              <a:t>  </a:t>
            </a:r>
            <a:r>
              <a:rPr lang="en-US" altLang="zh-CN" dirty="0">
                <a:latin typeface="Arial" panose="020B0604020202020204" pitchFamily="34" charset="0"/>
              </a:rPr>
              <a:t>S</a:t>
            </a:r>
            <a:r>
              <a:rPr lang="en-US" altLang="zh-CN" baseline="-25000" dirty="0">
                <a:latin typeface="Arial" panose="020B0604020202020204" pitchFamily="34" charset="0"/>
              </a:rPr>
              <a:t>b</a:t>
            </a:r>
            <a:endParaRPr lang="en-US" altLang="zh-CN" baseline="-25000" dirty="0">
              <a:latin typeface="Arial" panose="020B0604020202020204" pitchFamily="34" charset="0"/>
            </a:endParaRPr>
          </a:p>
        </p:txBody>
      </p:sp>
      <p:sp>
        <p:nvSpPr>
          <p:cNvPr id="129042" name="Text Box 24"/>
          <p:cNvSpPr txBox="1"/>
          <p:nvPr/>
        </p:nvSpPr>
        <p:spPr>
          <a:xfrm>
            <a:off x="2995613" y="6264275"/>
            <a:ext cx="839787" cy="244475"/>
          </a:xfrm>
          <a:prstGeom prst="rect">
            <a:avLst/>
          </a:prstGeom>
          <a:solidFill>
            <a:schemeClr val="bg1"/>
          </a:solidFill>
          <a:ln w="9525">
            <a:noFill/>
          </a:ln>
        </p:spPr>
        <p:txBody>
          <a:bodyPr lIns="0" tIns="0" rIns="0" bIns="0" anchor="t" anchorCtr="0">
            <a:spAutoFit/>
          </a:bodyPr>
          <a:p>
            <a:pPr>
              <a:spcBef>
                <a:spcPct val="50000"/>
              </a:spcBef>
            </a:pPr>
            <a:r>
              <a:rPr lang="zh-CN" altLang="en-US" sz="1400" dirty="0">
                <a:latin typeface="Arial" panose="020B0604020202020204" pitchFamily="34" charset="0"/>
                <a:ea typeface="宋体" panose="02010600030101010101" pitchFamily="2" charset="-122"/>
              </a:rPr>
              <a:t>       </a:t>
            </a:r>
            <a:r>
              <a:rPr lang="en-US" altLang="zh-CN" dirty="0">
                <a:latin typeface="Arial" panose="020B0604020202020204" pitchFamily="34" charset="0"/>
              </a:rPr>
              <a:t>E</a:t>
            </a:r>
            <a:r>
              <a:rPr lang="en-US" altLang="zh-CN" baseline="-25000" dirty="0">
                <a:latin typeface="Arial" panose="020B0604020202020204" pitchFamily="34" charset="0"/>
              </a:rPr>
              <a:t>b</a:t>
            </a:r>
            <a:endParaRPr lang="en-US" altLang="zh-CN" baseline="-25000" dirty="0">
              <a:latin typeface="Arial" panose="020B0604020202020204" pitchFamily="34" charset="0"/>
            </a:endParaRPr>
          </a:p>
        </p:txBody>
      </p:sp>
      <p:sp>
        <p:nvSpPr>
          <p:cNvPr id="129043" name="Text Box 25"/>
          <p:cNvSpPr txBox="1"/>
          <p:nvPr/>
        </p:nvSpPr>
        <p:spPr>
          <a:xfrm>
            <a:off x="4148138" y="6286500"/>
            <a:ext cx="1365250" cy="212725"/>
          </a:xfrm>
          <a:prstGeom prst="rect">
            <a:avLst/>
          </a:prstGeom>
          <a:solidFill>
            <a:schemeClr val="bg1"/>
          </a:solidFill>
          <a:ln w="9525">
            <a:noFill/>
          </a:ln>
        </p:spPr>
        <p:txBody>
          <a:bodyPr lIns="0" tIns="0" rIns="0" bIns="0" anchor="t" anchorCtr="0">
            <a:spAutoFit/>
          </a:bodyPr>
          <a:p>
            <a:pPr>
              <a:spcBef>
                <a:spcPct val="50000"/>
              </a:spcBef>
            </a:pPr>
            <a:r>
              <a:rPr lang="zh-CN" altLang="en-US" sz="1400" dirty="0">
                <a:latin typeface="Arial" panose="020B0604020202020204" pitchFamily="34" charset="0"/>
                <a:ea typeface="宋体" panose="02010600030101010101" pitchFamily="2" charset="-122"/>
              </a:rPr>
              <a:t>           </a:t>
            </a:r>
            <a:r>
              <a:rPr lang="en-US" altLang="zh-CN" sz="1400" dirty="0">
                <a:latin typeface="Arial" panose="020B0604020202020204" pitchFamily="34" charset="0"/>
              </a:rPr>
              <a:t>M</a:t>
            </a:r>
            <a:r>
              <a:rPr lang="en-US" altLang="zh-CN" baseline="-25000" dirty="0">
                <a:latin typeface="Arial" panose="020B0604020202020204" pitchFamily="34" charset="0"/>
              </a:rPr>
              <a:t>b</a:t>
            </a:r>
            <a:endParaRPr lang="en-US" altLang="zh-CN" baseline="-25000" dirty="0">
              <a:latin typeface="Arial" panose="020B0604020202020204" pitchFamily="34" charset="0"/>
            </a:endParaRPr>
          </a:p>
        </p:txBody>
      </p:sp>
      <p:sp>
        <p:nvSpPr>
          <p:cNvPr id="129044" name="Rectangle 26"/>
          <p:cNvSpPr/>
          <p:nvPr/>
        </p:nvSpPr>
        <p:spPr>
          <a:xfrm>
            <a:off x="7478713" y="2636838"/>
            <a:ext cx="1490662" cy="701675"/>
          </a:xfrm>
          <a:prstGeom prst="rect">
            <a:avLst/>
          </a:prstGeom>
          <a:solidFill>
            <a:schemeClr val="bg1"/>
          </a:solidFill>
          <a:ln w="9525">
            <a:noFill/>
          </a:ln>
        </p:spPr>
        <p:txBody>
          <a:bodyPr anchor="t" anchorCtr="0">
            <a:spAutoFit/>
          </a:bodyPr>
          <a:p>
            <a:r>
              <a:rPr lang="zh-CN" altLang="en-US" sz="2000" dirty="0">
                <a:solidFill>
                  <a:schemeClr val="accent2"/>
                </a:solidFill>
                <a:latin typeface="Arial" panose="020B0604020202020204" pitchFamily="34" charset="0"/>
                <a:ea typeface="黑体" panose="02010609060101010101" pitchFamily="49" charset="-122"/>
              </a:rPr>
              <a:t>阶小的数的尾数右移</a:t>
            </a:r>
            <a:endParaRPr lang="zh-CN" altLang="en-US" sz="2000" dirty="0">
              <a:solidFill>
                <a:schemeClr val="accent2"/>
              </a:solidFill>
              <a:latin typeface="Arial" panose="020B0604020202020204" pitchFamily="34" charset="0"/>
              <a:ea typeface="黑体" panose="02010609060101010101" pitchFamily="49" charset="-122"/>
            </a:endParaRPr>
          </a:p>
        </p:txBody>
      </p:sp>
      <p:sp>
        <p:nvSpPr>
          <p:cNvPr id="129045" name="Rectangle 27"/>
          <p:cNvSpPr/>
          <p:nvPr/>
        </p:nvSpPr>
        <p:spPr>
          <a:xfrm>
            <a:off x="7494588" y="3582988"/>
            <a:ext cx="1276350" cy="396875"/>
          </a:xfrm>
          <a:prstGeom prst="rect">
            <a:avLst/>
          </a:prstGeom>
          <a:solidFill>
            <a:schemeClr val="bg1"/>
          </a:solidFill>
          <a:ln w="9525">
            <a:noFill/>
          </a:ln>
        </p:spPr>
        <p:txBody>
          <a:bodyPr wrap="none" anchor="t" anchorCtr="0">
            <a:spAutoFit/>
          </a:bodyPr>
          <a:p>
            <a:r>
              <a:rPr lang="zh-CN" altLang="en-US" sz="2000" dirty="0">
                <a:solidFill>
                  <a:schemeClr val="accent2"/>
                </a:solidFill>
                <a:latin typeface="Arial" panose="020B0604020202020204" pitchFamily="34" charset="0"/>
                <a:ea typeface="黑体" panose="02010609060101010101" pitchFamily="49" charset="-122"/>
              </a:rPr>
              <a:t>尾数加</a:t>
            </a:r>
            <a:r>
              <a:rPr lang="en-US" altLang="zh-CN" sz="2000" dirty="0">
                <a:solidFill>
                  <a:schemeClr val="accent2"/>
                </a:solidFill>
                <a:latin typeface="Arial" panose="020B0604020202020204" pitchFamily="34" charset="0"/>
                <a:ea typeface="黑体" panose="02010609060101010101" pitchFamily="49" charset="-122"/>
              </a:rPr>
              <a:t>/</a:t>
            </a:r>
            <a:r>
              <a:rPr lang="zh-CN" altLang="en-US" sz="2000" dirty="0">
                <a:solidFill>
                  <a:schemeClr val="accent2"/>
                </a:solidFill>
                <a:latin typeface="Arial" panose="020B0604020202020204" pitchFamily="34" charset="0"/>
                <a:ea typeface="黑体" panose="02010609060101010101" pitchFamily="49" charset="-122"/>
              </a:rPr>
              <a:t>减</a:t>
            </a:r>
            <a:endParaRPr lang="zh-CN" altLang="en-US" sz="2000" dirty="0">
              <a:solidFill>
                <a:schemeClr val="accent2"/>
              </a:solidFill>
              <a:latin typeface="Arial" panose="020B0604020202020204" pitchFamily="34" charset="0"/>
              <a:ea typeface="黑体" panose="02010609060101010101" pitchFamily="49" charset="-122"/>
            </a:endParaRPr>
          </a:p>
        </p:txBody>
      </p:sp>
      <p:sp>
        <p:nvSpPr>
          <p:cNvPr id="129046" name="Rectangle 28"/>
          <p:cNvSpPr/>
          <p:nvPr/>
        </p:nvSpPr>
        <p:spPr>
          <a:xfrm>
            <a:off x="7507288" y="4784725"/>
            <a:ext cx="1136650" cy="396875"/>
          </a:xfrm>
          <a:prstGeom prst="rect">
            <a:avLst/>
          </a:prstGeom>
          <a:solidFill>
            <a:schemeClr val="bg1"/>
          </a:solidFill>
          <a:ln w="9525">
            <a:noFill/>
          </a:ln>
        </p:spPr>
        <p:txBody>
          <a:bodyPr anchor="t" anchorCtr="0">
            <a:spAutoFit/>
          </a:bodyPr>
          <a:p>
            <a:r>
              <a:rPr lang="zh-CN" altLang="en-US" sz="2000" dirty="0">
                <a:solidFill>
                  <a:schemeClr val="accent2"/>
                </a:solidFill>
                <a:latin typeface="Arial" panose="020B0604020202020204" pitchFamily="34" charset="0"/>
                <a:ea typeface="黑体" panose="02010609060101010101" pitchFamily="49" charset="-122"/>
              </a:rPr>
              <a:t>规格化</a:t>
            </a:r>
            <a:endParaRPr lang="zh-CN" altLang="en-US" sz="2000" dirty="0">
              <a:solidFill>
                <a:schemeClr val="accent2"/>
              </a:solidFill>
              <a:latin typeface="Arial" panose="020B0604020202020204" pitchFamily="34" charset="0"/>
              <a:ea typeface="黑体" panose="02010609060101010101" pitchFamily="49" charset="-122"/>
            </a:endParaRPr>
          </a:p>
        </p:txBody>
      </p:sp>
      <p:sp>
        <p:nvSpPr>
          <p:cNvPr id="129047" name="Rectangle 29"/>
          <p:cNvSpPr/>
          <p:nvPr/>
        </p:nvSpPr>
        <p:spPr>
          <a:xfrm>
            <a:off x="7499350" y="5524500"/>
            <a:ext cx="876300" cy="396875"/>
          </a:xfrm>
          <a:prstGeom prst="rect">
            <a:avLst/>
          </a:prstGeom>
          <a:solidFill>
            <a:schemeClr val="bg1"/>
          </a:solidFill>
          <a:ln w="9525">
            <a:noFill/>
          </a:ln>
        </p:spPr>
        <p:txBody>
          <a:bodyPr anchor="t" anchorCtr="0">
            <a:spAutoFit/>
          </a:bodyPr>
          <a:p>
            <a:r>
              <a:rPr lang="zh-CN" altLang="en-US" sz="2000" dirty="0">
                <a:solidFill>
                  <a:schemeClr val="accent2"/>
                </a:solidFill>
                <a:latin typeface="Arial" panose="020B0604020202020204" pitchFamily="34" charset="0"/>
                <a:ea typeface="黑体" panose="02010609060101010101" pitchFamily="49" charset="-122"/>
              </a:rPr>
              <a:t>舍入</a:t>
            </a:r>
            <a:endParaRPr lang="zh-CN" altLang="en-US" sz="2000" dirty="0">
              <a:solidFill>
                <a:schemeClr val="accent2"/>
              </a:solidFill>
              <a:latin typeface="Arial" panose="020B0604020202020204" pitchFamily="34" charset="0"/>
              <a:ea typeface="黑体" panose="02010609060101010101" pitchFamily="49" charset="-122"/>
            </a:endParaRPr>
          </a:p>
        </p:txBody>
      </p:sp>
      <p:sp>
        <p:nvSpPr>
          <p:cNvPr id="129048" name="Text Box 30"/>
          <p:cNvSpPr txBox="1"/>
          <p:nvPr/>
        </p:nvSpPr>
        <p:spPr>
          <a:xfrm>
            <a:off x="2459038" y="4826000"/>
            <a:ext cx="1041400" cy="266700"/>
          </a:xfrm>
          <a:prstGeom prst="rect">
            <a:avLst/>
          </a:prstGeom>
          <a:solidFill>
            <a:schemeClr val="bg1"/>
          </a:solidFill>
          <a:ln w="9525">
            <a:noFill/>
          </a:ln>
        </p:spPr>
        <p:txBody>
          <a:bodyPr lIns="0" tIns="0" rIns="0" bIns="0" anchor="t" anchorCtr="0">
            <a:spAutoFit/>
          </a:bodyPr>
          <a:p>
            <a:pPr>
              <a:lnSpc>
                <a:spcPct val="125000"/>
              </a:lnSpc>
              <a:spcBef>
                <a:spcPct val="50000"/>
              </a:spcBef>
              <a:spcAft>
                <a:spcPct val="50000"/>
              </a:spcAft>
            </a:pPr>
            <a:r>
              <a:rPr lang="zh-CN" altLang="en-US" sz="1400" dirty="0">
                <a:latin typeface="Arial" panose="020B0604020202020204" pitchFamily="34" charset="0"/>
                <a:ea typeface="宋体" panose="02010600030101010101" pitchFamily="2" charset="-122"/>
              </a:rPr>
              <a:t>  阶码增</a:t>
            </a:r>
            <a:r>
              <a:rPr lang="en-US" altLang="zh-CN" sz="1400" dirty="0">
                <a:latin typeface="Arial" panose="020B0604020202020204" pitchFamily="34" charset="0"/>
              </a:rPr>
              <a:t>/</a:t>
            </a:r>
            <a:r>
              <a:rPr lang="zh-CN" altLang="en-US" sz="1400" dirty="0">
                <a:latin typeface="Arial" panose="020B0604020202020204" pitchFamily="34" charset="0"/>
                <a:ea typeface="宋体" panose="02010600030101010101" pitchFamily="2" charset="-122"/>
              </a:rPr>
              <a:t>减</a:t>
            </a:r>
            <a:endParaRPr lang="zh-CN" altLang="en-US" sz="1400" dirty="0">
              <a:latin typeface="Arial" panose="020B0604020202020204" pitchFamily="34" charset="0"/>
              <a:ea typeface="宋体" panose="02010600030101010101" pitchFamily="2" charset="-122"/>
            </a:endParaRPr>
          </a:p>
        </p:txBody>
      </p:sp>
      <p:sp>
        <p:nvSpPr>
          <p:cNvPr id="129049" name="Text Box 31"/>
          <p:cNvSpPr txBox="1"/>
          <p:nvPr/>
        </p:nvSpPr>
        <p:spPr>
          <a:xfrm>
            <a:off x="3348038" y="2159000"/>
            <a:ext cx="323850"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②</a:t>
            </a:r>
            <a:endParaRPr lang="zh-CN" altLang="en-US" sz="1400" dirty="0">
              <a:latin typeface="Arial" panose="020B0604020202020204" pitchFamily="34" charset="0"/>
              <a:ea typeface="宋体" panose="02010600030101010101" pitchFamily="2" charset="-122"/>
            </a:endParaRPr>
          </a:p>
        </p:txBody>
      </p:sp>
      <p:sp>
        <p:nvSpPr>
          <p:cNvPr id="129050" name="Rectangle 32"/>
          <p:cNvSpPr/>
          <p:nvPr/>
        </p:nvSpPr>
        <p:spPr>
          <a:xfrm>
            <a:off x="1417638" y="2336800"/>
            <a:ext cx="361950" cy="304800"/>
          </a:xfrm>
          <a:prstGeom prst="rect">
            <a:avLst/>
          </a:prstGeom>
          <a:noFill/>
          <a:ln w="9525">
            <a:noFill/>
          </a:ln>
        </p:spPr>
        <p:txBody>
          <a:bodyPr wrap="none" anchor="t" anchorCtr="0">
            <a:spAutoFit/>
          </a:bodyPr>
          <a:p>
            <a:r>
              <a:rPr lang="zh-CN" altLang="en-US" sz="1400" dirty="0">
                <a:latin typeface="Arial" panose="020B0604020202020204" pitchFamily="34" charset="0"/>
                <a:ea typeface="宋体" panose="02010600030101010101" pitchFamily="2" charset="-122"/>
              </a:rPr>
              <a:t>①</a:t>
            </a:r>
            <a:endParaRPr lang="zh-CN" altLang="en-US" sz="1400" dirty="0">
              <a:latin typeface="Arial" panose="020B0604020202020204" pitchFamily="34" charset="0"/>
              <a:ea typeface="宋体" panose="02010600030101010101" pitchFamily="2" charset="-122"/>
            </a:endParaRPr>
          </a:p>
        </p:txBody>
      </p:sp>
      <p:sp>
        <p:nvSpPr>
          <p:cNvPr id="129051" name="Text Box 33"/>
          <p:cNvSpPr txBox="1"/>
          <p:nvPr/>
        </p:nvSpPr>
        <p:spPr>
          <a:xfrm>
            <a:off x="4860925" y="2170113"/>
            <a:ext cx="276225"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③</a:t>
            </a:r>
            <a:endParaRPr lang="zh-CN" altLang="en-US" sz="1400" dirty="0">
              <a:latin typeface="Arial" panose="020B0604020202020204" pitchFamily="34" charset="0"/>
              <a:ea typeface="宋体" panose="02010600030101010101" pitchFamily="2" charset="-122"/>
            </a:endParaRPr>
          </a:p>
        </p:txBody>
      </p:sp>
      <p:sp>
        <p:nvSpPr>
          <p:cNvPr id="129052" name="Text Box 34"/>
          <p:cNvSpPr txBox="1"/>
          <p:nvPr/>
        </p:nvSpPr>
        <p:spPr>
          <a:xfrm>
            <a:off x="2873375" y="2779713"/>
            <a:ext cx="325438"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④</a:t>
            </a:r>
            <a:endParaRPr lang="zh-CN" altLang="en-US" sz="1400" dirty="0">
              <a:latin typeface="Arial" panose="020B0604020202020204" pitchFamily="34" charset="0"/>
              <a:ea typeface="宋体" panose="02010600030101010101" pitchFamily="2" charset="-122"/>
            </a:endParaRPr>
          </a:p>
        </p:txBody>
      </p:sp>
      <p:sp>
        <p:nvSpPr>
          <p:cNvPr id="129053" name="Text Box 35"/>
          <p:cNvSpPr txBox="1"/>
          <p:nvPr/>
        </p:nvSpPr>
        <p:spPr>
          <a:xfrm>
            <a:off x="3668713" y="4676775"/>
            <a:ext cx="200025"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⑦</a:t>
            </a:r>
            <a:endParaRPr lang="zh-CN" altLang="en-US" sz="1400" dirty="0">
              <a:latin typeface="Arial" panose="020B0604020202020204" pitchFamily="34" charset="0"/>
              <a:ea typeface="宋体" panose="02010600030101010101" pitchFamily="2" charset="-122"/>
            </a:endParaRPr>
          </a:p>
        </p:txBody>
      </p:sp>
      <p:sp>
        <p:nvSpPr>
          <p:cNvPr id="129054" name="Text Box 36"/>
          <p:cNvSpPr txBox="1"/>
          <p:nvPr/>
        </p:nvSpPr>
        <p:spPr>
          <a:xfrm>
            <a:off x="2308225" y="4541838"/>
            <a:ext cx="174625"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⑥</a:t>
            </a:r>
            <a:endParaRPr lang="zh-CN" altLang="en-US" sz="1400" dirty="0">
              <a:latin typeface="Arial" panose="020B0604020202020204" pitchFamily="34" charset="0"/>
              <a:ea typeface="宋体" panose="02010600030101010101" pitchFamily="2" charset="-122"/>
            </a:endParaRPr>
          </a:p>
        </p:txBody>
      </p:sp>
      <p:sp>
        <p:nvSpPr>
          <p:cNvPr id="129055" name="Text Box 37"/>
          <p:cNvSpPr txBox="1"/>
          <p:nvPr/>
        </p:nvSpPr>
        <p:spPr>
          <a:xfrm>
            <a:off x="2041525" y="5003800"/>
            <a:ext cx="200025"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⑧</a:t>
            </a:r>
            <a:endParaRPr lang="zh-CN" altLang="en-US" sz="1400" dirty="0">
              <a:latin typeface="Arial" panose="020B0604020202020204" pitchFamily="34" charset="0"/>
              <a:ea typeface="宋体" panose="02010600030101010101" pitchFamily="2" charset="-122"/>
            </a:endParaRPr>
          </a:p>
        </p:txBody>
      </p:sp>
      <p:sp>
        <p:nvSpPr>
          <p:cNvPr id="129056" name="Text Box 38"/>
          <p:cNvSpPr txBox="1"/>
          <p:nvPr/>
        </p:nvSpPr>
        <p:spPr>
          <a:xfrm>
            <a:off x="2752725" y="5487988"/>
            <a:ext cx="238125"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⑨</a:t>
            </a:r>
            <a:endParaRPr lang="zh-CN" altLang="en-US" sz="1400" dirty="0">
              <a:latin typeface="Arial" panose="020B0604020202020204" pitchFamily="34" charset="0"/>
              <a:ea typeface="宋体" panose="02010600030101010101" pitchFamily="2" charset="-122"/>
            </a:endParaRPr>
          </a:p>
        </p:txBody>
      </p:sp>
      <p:sp>
        <p:nvSpPr>
          <p:cNvPr id="129057" name="Text Box 39"/>
          <p:cNvSpPr txBox="1"/>
          <p:nvPr/>
        </p:nvSpPr>
        <p:spPr>
          <a:xfrm>
            <a:off x="4302125" y="4283075"/>
            <a:ext cx="185738" cy="212725"/>
          </a:xfrm>
          <a:prstGeom prst="rect">
            <a:avLst/>
          </a:prstGeom>
          <a:solidFill>
            <a:schemeClr val="bg1"/>
          </a:solidFill>
          <a:ln w="9525">
            <a:noFill/>
          </a:ln>
        </p:spPr>
        <p:txBody>
          <a:bodyPr lIns="0" tIns="0" rIns="0" bIns="0" anchor="t" anchorCtr="0">
            <a:spAutoFit/>
          </a:bodyPr>
          <a:p>
            <a:pPr>
              <a:spcBef>
                <a:spcPct val="50000"/>
              </a:spcBef>
              <a:spcAft>
                <a:spcPct val="50000"/>
              </a:spcAft>
            </a:pPr>
            <a:r>
              <a:rPr lang="zh-CN" altLang="en-US" sz="1400" dirty="0">
                <a:latin typeface="Arial" panose="020B0604020202020204" pitchFamily="34" charset="0"/>
                <a:ea typeface="宋体" panose="02010600030101010101" pitchFamily="2" charset="-122"/>
              </a:rPr>
              <a:t>⑤</a:t>
            </a:r>
            <a:endParaRPr lang="zh-CN" altLang="en-US" sz="1400" dirty="0">
              <a:latin typeface="Arial" panose="020B0604020202020204" pitchFamily="34" charset="0"/>
              <a:ea typeface="宋体" panose="02010600030101010101" pitchFamily="2" charset="-122"/>
            </a:endParaRPr>
          </a:p>
        </p:txBody>
      </p:sp>
      <p:sp>
        <p:nvSpPr>
          <p:cNvPr id="129058" name="Line 40"/>
          <p:cNvSpPr/>
          <p:nvPr/>
        </p:nvSpPr>
        <p:spPr>
          <a:xfrm flipV="1">
            <a:off x="4932363" y="5259388"/>
            <a:ext cx="1314450" cy="0"/>
          </a:xfrm>
          <a:prstGeom prst="line">
            <a:avLst/>
          </a:prstGeom>
          <a:ln w="9525" cap="flat" cmpd="sng">
            <a:solidFill>
              <a:schemeClr val="tx1"/>
            </a:solidFill>
            <a:prstDash val="solid"/>
            <a:round/>
            <a:headEnd type="none" w="med" len="med"/>
            <a:tailEnd type="none" w="med" len="med"/>
          </a:ln>
        </p:spPr>
      </p:sp>
      <p:sp>
        <p:nvSpPr>
          <p:cNvPr id="129059" name="Oval 41"/>
          <p:cNvSpPr/>
          <p:nvPr/>
        </p:nvSpPr>
        <p:spPr>
          <a:xfrm>
            <a:off x="6211888" y="5227638"/>
            <a:ext cx="92075" cy="65087"/>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imes New Roman" panose="02020603050405020304" pitchFamily="18" charset="0"/>
              <a:ea typeface="宋体" panose="02010600030101010101" pitchFamily="2" charset="-122"/>
            </a:endParaRPr>
          </a:p>
        </p:txBody>
      </p:sp>
      <p:sp>
        <p:nvSpPr>
          <p:cNvPr id="214021" name="Text Box 5"/>
          <p:cNvSpPr txBox="1"/>
          <p:nvPr/>
        </p:nvSpPr>
        <p:spPr>
          <a:xfrm>
            <a:off x="6153150" y="6181725"/>
            <a:ext cx="2828925" cy="396875"/>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Arial" panose="020B0604020202020204" pitchFamily="34" charset="0"/>
                <a:ea typeface="黑体" panose="02010609060101010101" pitchFamily="49" charset="-122"/>
              </a:rPr>
              <a:t>可用流水线方式实现！</a:t>
            </a:r>
            <a:endParaRPr lang="zh-CN" altLang="en-US" sz="2000" dirty="0">
              <a:solidFill>
                <a:srgbClr val="FF0066"/>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4021"/>
                                        </p:tgtEl>
                                        <p:attrNameLst>
                                          <p:attrName>style.visibility</p:attrName>
                                        </p:attrNameLst>
                                      </p:cBhvr>
                                      <p:to>
                                        <p:strVal val="visible"/>
                                      </p:to>
                                    </p:set>
                                    <p:animEffect transition="in" filter="blinds(horizontal)">
                                      <p:cBhvr>
                                        <p:cTn id="7" dur="500"/>
                                        <p:tgtEl>
                                          <p:spTgt spid="214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1"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Rectangle 2"/>
          <p:cNvSpPr>
            <a:spLocks noGrp="1"/>
          </p:cNvSpPr>
          <p:nvPr>
            <p:ph type="title"/>
          </p:nvPr>
        </p:nvSpPr>
        <p:spPr>
          <a:xfrm>
            <a:off x="800100" y="190500"/>
            <a:ext cx="7016750" cy="474663"/>
          </a:xfrm>
          <a:ln/>
        </p:spPr>
        <p:txBody>
          <a:bodyPr vert="horz" wrap="square" lIns="63500" tIns="25400" rIns="63500" bIns="25400" anchor="t" anchorCtr="0">
            <a:spAutoFit/>
          </a:bodyPr>
          <a:p>
            <a:r>
              <a:rPr lang="zh-CN" altLang="en-US" dirty="0">
                <a:ea typeface="宋体" panose="02010600030101010101" pitchFamily="2" charset="-122"/>
              </a:rPr>
              <a:t>浮点数乘</a:t>
            </a:r>
            <a:r>
              <a:rPr lang="en-US" altLang="zh-CN" dirty="0">
                <a:ea typeface="宋体" panose="02010600030101010101" pitchFamily="2" charset="-122"/>
              </a:rPr>
              <a:t>/</a:t>
            </a:r>
            <a:r>
              <a:rPr lang="zh-CN" altLang="en-US" dirty="0">
                <a:ea typeface="宋体" panose="02010600030101010101" pitchFamily="2" charset="-122"/>
              </a:rPr>
              <a:t>除法基本要点</a:t>
            </a:r>
            <a:endParaRPr lang="zh-CN" altLang="en-US" dirty="0">
              <a:ea typeface="宋体" panose="02010600030101010101" pitchFamily="2" charset="-122"/>
            </a:endParaRPr>
          </a:p>
        </p:txBody>
      </p:sp>
      <p:sp>
        <p:nvSpPr>
          <p:cNvPr id="130050" name="Rectangle 3"/>
          <p:cNvSpPr>
            <a:spLocks noGrp="1"/>
          </p:cNvSpPr>
          <p:nvPr>
            <p:ph idx="1"/>
          </p:nvPr>
        </p:nvSpPr>
        <p:spPr>
          <a:xfrm>
            <a:off x="444500" y="744538"/>
            <a:ext cx="8191500" cy="860425"/>
          </a:xfrm>
          <a:ln/>
        </p:spPr>
        <p:txBody>
          <a:bodyPr vert="horz" wrap="square" lIns="63500" tIns="25400" rIns="63500" bIns="25400" anchor="t" anchorCtr="0">
            <a:spAutoFit/>
          </a:bodyPr>
          <a:p>
            <a:r>
              <a:rPr lang="zh-CN" altLang="en-US" sz="2000" dirty="0">
                <a:latin typeface="微软雅黑" panose="020B0503020204020204" pitchFamily="34" charset="-122"/>
                <a:ea typeface="微软雅黑" panose="020B0503020204020204" pitchFamily="34" charset="-122"/>
              </a:rPr>
              <a:t>浮点数乘法：</a:t>
            </a:r>
            <a:r>
              <a:rPr lang="en-US" altLang="zh-CN" sz="2000" dirty="0">
                <a:latin typeface="微软雅黑" panose="020B0503020204020204" pitchFamily="34" charset="-122"/>
                <a:ea typeface="微软雅黑" panose="020B0503020204020204" pitchFamily="34" charset="-122"/>
              </a:rPr>
              <a:t>A*B</a:t>
            </a:r>
            <a:r>
              <a:rPr lang="en-US" altLang="en-US" sz="2000" baseline="38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=(M</a:t>
            </a:r>
            <a:r>
              <a:rPr lang="en-US" altLang="en-US" sz="2000" baseline="-2000" dirty="0">
                <a:latin typeface="微软雅黑" panose="020B0503020204020204" pitchFamily="34" charset="-122"/>
                <a:ea typeface="微软雅黑" panose="020B0503020204020204" pitchFamily="34" charset="-122"/>
              </a:rPr>
              <a:t>a </a:t>
            </a:r>
            <a:r>
              <a:rPr lang="en-US" altLang="zh-CN" sz="2000" dirty="0">
                <a:latin typeface="微软雅黑" panose="020B0503020204020204" pitchFamily="34" charset="-122"/>
                <a:ea typeface="微软雅黑" panose="020B0503020204020204" pitchFamily="34" charset="-122"/>
              </a:rPr>
              <a:t>*</a:t>
            </a:r>
            <a:r>
              <a:rPr lang="en-US" altLang="en-US" sz="2000" baseline="-2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M</a:t>
            </a:r>
            <a:r>
              <a:rPr lang="en-US" altLang="en-US" sz="2000" baseline="-2000" dirty="0">
                <a:latin typeface="微软雅黑" panose="020B0503020204020204" pitchFamily="34" charset="-122"/>
                <a:ea typeface="微软雅黑" panose="020B0503020204020204" pitchFamily="34" charset="-122"/>
              </a:rPr>
              <a:t>b</a:t>
            </a:r>
            <a:r>
              <a:rPr lang="en-US" altLang="en-US" sz="2000" dirty="0">
                <a:latin typeface="微软雅黑" panose="020B0503020204020204" pitchFamily="34" charset="-122"/>
                <a:ea typeface="微软雅黑" panose="020B0503020204020204" pitchFamily="34" charset="-122"/>
              </a:rPr>
              <a:t>)</a:t>
            </a:r>
            <a:r>
              <a:rPr lang="en-US" altLang="en-US" sz="2000" baseline="30000" dirty="0">
                <a:latin typeface="微软雅黑" panose="020B0503020204020204" pitchFamily="34" charset="-122"/>
                <a:ea typeface="微软雅黑" panose="020B0503020204020204" pitchFamily="34" charset="-122"/>
              </a:rPr>
              <a:t>.</a:t>
            </a:r>
            <a:r>
              <a:rPr lang="en-US" altLang="en-US" sz="2000" dirty="0">
                <a:latin typeface="微软雅黑" panose="020B0503020204020204" pitchFamily="34" charset="-122"/>
                <a:ea typeface="微软雅黑" panose="020B0503020204020204" pitchFamily="34" charset="-122"/>
              </a:rPr>
              <a:t>2 </a:t>
            </a:r>
            <a:r>
              <a:rPr lang="en-US" altLang="en-US" sz="2400" baseline="38000" dirty="0">
                <a:latin typeface="微软雅黑" panose="020B0503020204020204" pitchFamily="34" charset="-122"/>
                <a:ea typeface="微软雅黑" panose="020B0503020204020204" pitchFamily="34" charset="-122"/>
              </a:rPr>
              <a:t>Ea+Eb</a:t>
            </a:r>
            <a:endParaRPr lang="en-US" altLang="en-US" sz="2400" baseline="38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浮点数除法：</a:t>
            </a:r>
            <a:r>
              <a:rPr lang="en-US" altLang="zh-CN" sz="2000" dirty="0">
                <a:latin typeface="微软雅黑" panose="020B0503020204020204" pitchFamily="34" charset="-122"/>
                <a:ea typeface="微软雅黑" panose="020B0503020204020204" pitchFamily="34" charset="-122"/>
              </a:rPr>
              <a:t>A/B</a:t>
            </a:r>
            <a:r>
              <a:rPr lang="en-US" altLang="en-US" sz="2000" baseline="38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=(M</a:t>
            </a:r>
            <a:r>
              <a:rPr lang="en-US" altLang="en-US" sz="2000" baseline="-2000" dirty="0">
                <a:latin typeface="微软雅黑" panose="020B0503020204020204" pitchFamily="34" charset="-122"/>
                <a:ea typeface="微软雅黑" panose="020B0503020204020204" pitchFamily="34" charset="-122"/>
              </a:rPr>
              <a:t>a </a:t>
            </a:r>
            <a:r>
              <a:rPr lang="en-US" altLang="zh-CN" sz="2000" dirty="0">
                <a:latin typeface="微软雅黑" panose="020B0503020204020204" pitchFamily="34" charset="-122"/>
                <a:ea typeface="微软雅黑" panose="020B0503020204020204" pitchFamily="34" charset="-122"/>
              </a:rPr>
              <a:t>/</a:t>
            </a:r>
            <a:r>
              <a:rPr lang="en-US" altLang="en-US" sz="2000" baseline="-2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M</a:t>
            </a:r>
            <a:r>
              <a:rPr lang="en-US" altLang="en-US" sz="2000" baseline="-2000" dirty="0">
                <a:latin typeface="微软雅黑" panose="020B0503020204020204" pitchFamily="34" charset="-122"/>
                <a:ea typeface="微软雅黑" panose="020B0503020204020204" pitchFamily="34" charset="-122"/>
              </a:rPr>
              <a:t>b</a:t>
            </a:r>
            <a:r>
              <a:rPr lang="en-US" altLang="en-US" sz="2000" dirty="0">
                <a:latin typeface="微软雅黑" panose="020B0503020204020204" pitchFamily="34" charset="-122"/>
                <a:ea typeface="微软雅黑" panose="020B0503020204020204" pitchFamily="34" charset="-122"/>
              </a:rPr>
              <a:t>)</a:t>
            </a:r>
            <a:r>
              <a:rPr lang="en-US" altLang="en-US" sz="2000" baseline="30000" dirty="0">
                <a:latin typeface="微软雅黑" panose="020B0503020204020204" pitchFamily="34" charset="-122"/>
                <a:ea typeface="微软雅黑" panose="020B0503020204020204" pitchFamily="34" charset="-122"/>
              </a:rPr>
              <a:t>.</a:t>
            </a:r>
            <a:r>
              <a:rPr lang="en-US" altLang="en-US" sz="2000" dirty="0">
                <a:latin typeface="微软雅黑" panose="020B0503020204020204" pitchFamily="34" charset="-122"/>
                <a:ea typeface="微软雅黑" panose="020B0503020204020204" pitchFamily="34" charset="-122"/>
              </a:rPr>
              <a:t>2 </a:t>
            </a:r>
            <a:r>
              <a:rPr lang="en-US" altLang="en-US" sz="2400" baseline="38000" dirty="0">
                <a:latin typeface="微软雅黑" panose="020B0503020204020204" pitchFamily="34" charset="-122"/>
                <a:ea typeface="微软雅黑" panose="020B0503020204020204" pitchFamily="34" charset="-122"/>
              </a:rPr>
              <a:t>Ea-Eb</a:t>
            </a:r>
            <a:endParaRPr lang="zh-CN" altLang="en-US" sz="2400" dirty="0">
              <a:latin typeface="微软雅黑" panose="020B0503020204020204" pitchFamily="34" charset="-122"/>
              <a:ea typeface="微软雅黑" panose="020B0503020204020204" pitchFamily="34" charset="-122"/>
            </a:endParaRPr>
          </a:p>
        </p:txBody>
      </p:sp>
      <p:sp>
        <p:nvSpPr>
          <p:cNvPr id="376836" name="Rectangle 4"/>
          <p:cNvSpPr/>
          <p:nvPr/>
        </p:nvSpPr>
        <p:spPr>
          <a:xfrm>
            <a:off x="500063" y="1616075"/>
            <a:ext cx="8475662" cy="3567113"/>
          </a:xfrm>
          <a:prstGeom prst="rect">
            <a:avLst/>
          </a:prstGeom>
          <a:noFill/>
          <a:ln w="12700">
            <a:noFill/>
          </a:ln>
        </p:spPr>
        <p:txBody>
          <a:bodyPr lIns="63500" tIns="25400" rIns="63500" bIns="25400" anchor="t" anchorCtr="0">
            <a:spAutoFit/>
          </a:bodyPr>
          <a:p>
            <a:pPr marL="457200" indent="-457200" eaLnBrk="0" hangingPunct="0">
              <a:lnSpc>
                <a:spcPct val="110000"/>
              </a:lnSpc>
              <a:spcBef>
                <a:spcPct val="20000"/>
              </a:spcBef>
              <a:buNone/>
            </a:pPr>
            <a:r>
              <a:rPr lang="zh-CN" altLang="en-US" sz="2000" dirty="0">
                <a:solidFill>
                  <a:schemeClr val="accent2"/>
                </a:solidFill>
                <a:latin typeface="微软雅黑" panose="020B0503020204020204" pitchFamily="34" charset="-122"/>
                <a:ea typeface="微软雅黑" panose="020B0503020204020204" pitchFamily="34" charset="-122"/>
              </a:rPr>
              <a:t>浮点数乘 </a:t>
            </a:r>
            <a:r>
              <a:rPr lang="en-US" altLang="zh-CN" sz="2000" dirty="0">
                <a:solidFill>
                  <a:schemeClr val="accent2"/>
                </a:solidFill>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除法步骤</a:t>
            </a:r>
            <a:endParaRPr lang="zh-CN" altLang="en-US" sz="2000" dirty="0">
              <a:solidFill>
                <a:schemeClr val="accent2"/>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None/>
            </a:pP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Xm</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Ym</a:t>
            </a:r>
            <a:r>
              <a:rPr lang="zh-CN" altLang="en-US" sz="2000" dirty="0">
                <a:solidFill>
                  <a:schemeClr val="accent2"/>
                </a:solidFill>
                <a:latin typeface="微软雅黑" panose="020B0503020204020204" pitchFamily="34" charset="-122"/>
                <a:ea typeface="微软雅黑" panose="020B0503020204020204" pitchFamily="34" charset="-122"/>
              </a:rPr>
              <a:t>分别是</a:t>
            </a:r>
            <a:r>
              <a:rPr lang="en-US" altLang="zh-CN" sz="2000" dirty="0">
                <a:solidFill>
                  <a:schemeClr val="accent2"/>
                </a:solidFill>
                <a:latin typeface="微软雅黑" panose="020B0503020204020204" pitchFamily="34" charset="-122"/>
                <a:ea typeface="微软雅黑" panose="020B0503020204020204" pitchFamily="34" charset="-122"/>
              </a:rPr>
              <a:t>X</a:t>
            </a:r>
            <a:r>
              <a:rPr lang="zh-CN" altLang="en-US" sz="2000" dirty="0">
                <a:solidFill>
                  <a:schemeClr val="accent2"/>
                </a:solidFill>
                <a:latin typeface="微软雅黑" panose="020B0503020204020204" pitchFamily="34" charset="-122"/>
                <a:ea typeface="微软雅黑" panose="020B0503020204020204" pitchFamily="34" charset="-122"/>
              </a:rPr>
              <a:t>和</a:t>
            </a:r>
            <a:r>
              <a:rPr lang="en-US" altLang="zh-CN" sz="2000" dirty="0">
                <a:solidFill>
                  <a:schemeClr val="accent2"/>
                </a:solidFill>
                <a:latin typeface="微软雅黑" panose="020B0503020204020204" pitchFamily="34" charset="-122"/>
                <a:ea typeface="微软雅黑" panose="020B0503020204020204" pitchFamily="34" charset="-122"/>
              </a:rPr>
              <a:t>Y</a:t>
            </a:r>
            <a:r>
              <a:rPr lang="zh-CN" altLang="en-US" sz="2000" dirty="0">
                <a:solidFill>
                  <a:schemeClr val="accent2"/>
                </a:solidFill>
                <a:latin typeface="微软雅黑" panose="020B0503020204020204" pitchFamily="34" charset="-122"/>
                <a:ea typeface="微软雅黑" panose="020B0503020204020204" pitchFamily="34" charset="-122"/>
              </a:rPr>
              <a:t>尾数原码， </a:t>
            </a:r>
            <a:r>
              <a:rPr lang="en-US" altLang="zh-CN" sz="2000" dirty="0">
                <a:solidFill>
                  <a:schemeClr val="accent2"/>
                </a:solidFill>
                <a:latin typeface="微软雅黑" panose="020B0503020204020204" pitchFamily="34" charset="-122"/>
                <a:ea typeface="微软雅黑" panose="020B0503020204020204" pitchFamily="34" charset="-122"/>
              </a:rPr>
              <a:t> Xe</a:t>
            </a:r>
            <a:r>
              <a:rPr lang="zh-CN" altLang="en-US" sz="2000" dirty="0">
                <a:solidFill>
                  <a:schemeClr val="accent2"/>
                </a:solidFill>
                <a:latin typeface="微软雅黑" panose="020B0503020204020204" pitchFamily="34" charset="-122"/>
                <a:ea typeface="微软雅黑" panose="020B0503020204020204" pitchFamily="34" charset="-122"/>
              </a:rPr>
              <a:t>和</a:t>
            </a:r>
            <a:r>
              <a:rPr lang="en-US" altLang="zh-CN" sz="2000" dirty="0">
                <a:solidFill>
                  <a:schemeClr val="accent2"/>
                </a:solidFill>
                <a:latin typeface="微软雅黑" panose="020B0503020204020204" pitchFamily="34" charset="-122"/>
                <a:ea typeface="微软雅黑" panose="020B0503020204020204" pitchFamily="34" charset="-122"/>
              </a:rPr>
              <a:t>Ye </a:t>
            </a:r>
            <a:r>
              <a:rPr lang="zh-CN" altLang="en-US" sz="2000" dirty="0">
                <a:solidFill>
                  <a:schemeClr val="accent2"/>
                </a:solidFill>
                <a:latin typeface="微软雅黑" panose="020B0503020204020204" pitchFamily="34" charset="-122"/>
                <a:ea typeface="微软雅黑" panose="020B0503020204020204" pitchFamily="34" charset="-122"/>
              </a:rPr>
              <a:t>分别是</a:t>
            </a:r>
            <a:r>
              <a:rPr lang="en-US" altLang="zh-CN" sz="2000" dirty="0">
                <a:solidFill>
                  <a:schemeClr val="accent2"/>
                </a:solidFill>
                <a:latin typeface="微软雅黑" panose="020B0503020204020204" pitchFamily="34" charset="-122"/>
                <a:ea typeface="微软雅黑" panose="020B0503020204020204" pitchFamily="34" charset="-122"/>
              </a:rPr>
              <a:t>X</a:t>
            </a:r>
            <a:r>
              <a:rPr lang="zh-CN" altLang="en-US" sz="2000" dirty="0">
                <a:solidFill>
                  <a:schemeClr val="accent2"/>
                </a:solidFill>
                <a:latin typeface="微软雅黑" panose="020B0503020204020204" pitchFamily="34" charset="-122"/>
                <a:ea typeface="微软雅黑" panose="020B0503020204020204" pitchFamily="34" charset="-122"/>
              </a:rPr>
              <a:t>和</a:t>
            </a:r>
            <a:r>
              <a:rPr lang="en-US" altLang="zh-CN" sz="2000" dirty="0">
                <a:solidFill>
                  <a:schemeClr val="accent2"/>
                </a:solidFill>
                <a:latin typeface="微软雅黑" panose="020B0503020204020204" pitchFamily="34" charset="-122"/>
                <a:ea typeface="微软雅黑" panose="020B0503020204020204" pitchFamily="34" charset="-122"/>
              </a:rPr>
              <a:t>Y</a:t>
            </a:r>
            <a:r>
              <a:rPr lang="zh-CN" altLang="en-US" sz="2000" dirty="0">
                <a:solidFill>
                  <a:schemeClr val="accent2"/>
                </a:solidFill>
                <a:latin typeface="微软雅黑" panose="020B0503020204020204" pitchFamily="34" charset="-122"/>
                <a:ea typeface="微软雅黑" panose="020B0503020204020204" pitchFamily="34" charset="-122"/>
              </a:rPr>
              <a:t>阶移码 ）</a:t>
            </a:r>
            <a:endParaRPr lang="en-US" altLang="zh-CN" sz="2000" dirty="0">
              <a:solidFill>
                <a:schemeClr val="accent2"/>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AutoNum type="arabicParenBoth"/>
            </a:pPr>
            <a:r>
              <a:rPr lang="zh-CN" altLang="en-US" sz="2000" dirty="0">
                <a:latin typeface="微软雅黑" panose="020B0503020204020204" pitchFamily="34" charset="-122"/>
                <a:ea typeface="微软雅黑" panose="020B0503020204020204" pitchFamily="34" charset="-122"/>
                <a:hlinkClick r:id="" action="ppaction://hlinkshowjump?jump=nextslide"/>
              </a:rPr>
              <a:t>求阶</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Xe + Ye +  127  </a:t>
            </a:r>
            <a:endParaRPr lang="zh-CN" altLang="en-US"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AutoNum type="arabicParenBoth"/>
            </a:pPr>
            <a:r>
              <a:rPr lang="zh-CN" altLang="en-US" sz="2000" dirty="0">
                <a:latin typeface="微软雅黑" panose="020B0503020204020204" pitchFamily="34" charset="-122"/>
                <a:ea typeface="微软雅黑" panose="020B0503020204020204" pitchFamily="34" charset="-122"/>
              </a:rPr>
              <a:t>尾数相乘除： </a:t>
            </a:r>
            <a:r>
              <a:rPr lang="en-US" altLang="zh-CN" sz="2000" dirty="0">
                <a:latin typeface="微软雅黑" panose="020B0503020204020204" pitchFamily="34" charset="-122"/>
                <a:ea typeface="微软雅黑" panose="020B0503020204020204" pitchFamily="34" charset="-122"/>
              </a:rPr>
              <a:t>Xm */Ym   </a:t>
            </a:r>
            <a:r>
              <a:rPr lang="zh-CN" altLang="en-US" sz="2000" dirty="0">
                <a:solidFill>
                  <a:srgbClr val="009900"/>
                </a:solidFill>
                <a:latin typeface="微软雅黑" panose="020B0503020204020204" pitchFamily="34" charset="-122"/>
                <a:ea typeface="微软雅黑" panose="020B0503020204020204" pitchFamily="34" charset="-122"/>
              </a:rPr>
              <a:t>（两个形为</a:t>
            </a:r>
            <a:r>
              <a:rPr lang="en-US" altLang="zh-CN" sz="2000" dirty="0">
                <a:solidFill>
                  <a:srgbClr val="009900"/>
                </a:solidFill>
                <a:latin typeface="微软雅黑" panose="020B0503020204020204" pitchFamily="34" charset="-122"/>
                <a:ea typeface="微软雅黑" panose="020B0503020204020204" pitchFamily="34" charset="-122"/>
              </a:rPr>
              <a:t>1.xxx</a:t>
            </a:r>
            <a:r>
              <a:rPr lang="zh-CN" altLang="en-US" sz="2000" dirty="0">
                <a:solidFill>
                  <a:srgbClr val="009900"/>
                </a:solidFill>
                <a:latin typeface="微软雅黑" panose="020B0503020204020204" pitchFamily="34" charset="-122"/>
                <a:ea typeface="微软雅黑" panose="020B0503020204020204" pitchFamily="34" charset="-122"/>
              </a:rPr>
              <a:t>的数相乘</a:t>
            </a:r>
            <a:r>
              <a:rPr lang="en-US" altLang="zh-CN" sz="2000" dirty="0">
                <a:solidFill>
                  <a:srgbClr val="009900"/>
                </a:solidFill>
                <a:latin typeface="微软雅黑" panose="020B0503020204020204" pitchFamily="34" charset="-122"/>
                <a:ea typeface="微软雅黑" panose="020B0503020204020204" pitchFamily="34" charset="-122"/>
              </a:rPr>
              <a:t>/</a:t>
            </a:r>
            <a:r>
              <a:rPr lang="zh-CN" altLang="en-US" sz="2000" dirty="0">
                <a:solidFill>
                  <a:srgbClr val="009900"/>
                </a:solidFill>
                <a:latin typeface="微软雅黑" panose="020B0503020204020204" pitchFamily="34" charset="-122"/>
                <a:ea typeface="微软雅黑" panose="020B0503020204020204" pitchFamily="34" charset="-122"/>
              </a:rPr>
              <a:t>除）</a:t>
            </a:r>
            <a:endParaRPr lang="zh-CN" altLang="en-US" sz="2000" dirty="0">
              <a:solidFill>
                <a:srgbClr val="009900"/>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None/>
            </a:pP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两数符号相同，结果为正；两数符号相异，结果为负；</a:t>
            </a:r>
            <a:endParaRPr lang="zh-CN" altLang="en-US"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None/>
            </a:pP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当尾数高位为</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，需左规；当尾数最高位有进位，需右规。</a:t>
            </a:r>
            <a:endParaRPr lang="zh-CN" altLang="en-US"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None/>
            </a:pPr>
            <a:r>
              <a:rPr lang="en-US" altLang="zh-CN" sz="2000" dirty="0">
                <a:latin typeface="微软雅黑" panose="020B0503020204020204" pitchFamily="34" charset="-122"/>
                <a:ea typeface="微软雅黑" panose="020B0503020204020204" pitchFamily="34" charset="-122"/>
              </a:rPr>
              <a:t>(5)  </a:t>
            </a:r>
            <a:r>
              <a:rPr lang="zh-CN" altLang="en-US" sz="2000" dirty="0">
                <a:solidFill>
                  <a:schemeClr val="accent2"/>
                </a:solidFill>
                <a:latin typeface="微软雅黑" panose="020B0503020204020204" pitchFamily="34" charset="-122"/>
                <a:ea typeface="微软雅黑" panose="020B0503020204020204" pitchFamily="34" charset="-122"/>
              </a:rPr>
              <a:t>如果尾数比规定的长，则需考虑舍入。</a:t>
            </a:r>
            <a:endParaRPr lang="en-US" altLang="zh-CN" sz="2000" dirty="0">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AutoNum type="arabicParenBoth" startAt="6"/>
            </a:pPr>
            <a:r>
              <a:rPr lang="zh-CN" altLang="en-US" sz="2000" dirty="0">
                <a:solidFill>
                  <a:schemeClr val="accent2"/>
                </a:solidFill>
                <a:latin typeface="微软雅黑" panose="020B0503020204020204" pitchFamily="34" charset="-122"/>
                <a:ea typeface="微软雅黑" panose="020B0503020204020204" pitchFamily="34" charset="-122"/>
              </a:rPr>
              <a:t>若尾数是</a:t>
            </a:r>
            <a:r>
              <a:rPr lang="en-US" altLang="zh-CN" sz="2000" dirty="0">
                <a:solidFill>
                  <a:schemeClr val="accent2"/>
                </a:solidFill>
                <a:latin typeface="微软雅黑" panose="020B0503020204020204" pitchFamily="34" charset="-122"/>
                <a:ea typeface="微软雅黑" panose="020B0503020204020204" pitchFamily="34" charset="-122"/>
              </a:rPr>
              <a:t>0</a:t>
            </a:r>
            <a:r>
              <a:rPr lang="zh-CN" altLang="en-US" sz="2000" dirty="0">
                <a:solidFill>
                  <a:schemeClr val="accent2"/>
                </a:solidFill>
                <a:latin typeface="微软雅黑" panose="020B0503020204020204" pitchFamily="34" charset="-122"/>
                <a:ea typeface="微软雅黑" panose="020B0503020204020204" pitchFamily="34" charset="-122"/>
              </a:rPr>
              <a:t>，则需要将阶码也置</a:t>
            </a:r>
            <a:r>
              <a:rPr lang="en-US" altLang="zh-CN" sz="2000" dirty="0">
                <a:solidFill>
                  <a:schemeClr val="accent2"/>
                </a:solidFill>
                <a:latin typeface="微软雅黑" panose="020B0503020204020204" pitchFamily="34" charset="-122"/>
                <a:ea typeface="微软雅黑" panose="020B0503020204020204" pitchFamily="34" charset="-122"/>
              </a:rPr>
              <a:t>0</a:t>
            </a:r>
            <a:r>
              <a:rPr lang="zh-CN" altLang="en-US" sz="2000" dirty="0">
                <a:solidFill>
                  <a:schemeClr val="accent2"/>
                </a:solidFill>
                <a:latin typeface="微软雅黑" panose="020B0503020204020204" pitchFamily="34" charset="-122"/>
                <a:ea typeface="微软雅黑" panose="020B0503020204020204" pitchFamily="34" charset="-122"/>
              </a:rPr>
              <a:t>。</a:t>
            </a:r>
            <a:endParaRPr lang="zh-CN" altLang="en-US" sz="2000" dirty="0">
              <a:solidFill>
                <a:schemeClr val="accent2"/>
              </a:solidFill>
              <a:latin typeface="微软雅黑" panose="020B0503020204020204" pitchFamily="34" charset="-122"/>
              <a:ea typeface="微软雅黑" panose="020B0503020204020204" pitchFamily="34" charset="-122"/>
            </a:endParaRPr>
          </a:p>
          <a:p>
            <a:pPr marL="457200" indent="-457200" eaLnBrk="0" hangingPunct="0">
              <a:lnSpc>
                <a:spcPct val="110000"/>
              </a:lnSpc>
              <a:spcBef>
                <a:spcPct val="20000"/>
              </a:spcBef>
              <a:buAutoNum type="arabicParenBoth" startAt="6"/>
            </a:pPr>
            <a:r>
              <a:rPr lang="zh-CN" altLang="en-US" sz="2000" dirty="0">
                <a:solidFill>
                  <a:schemeClr val="accent2"/>
                </a:solidFill>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hlinkClick r:id="rId1" action="ppaction://hlinksldjump"/>
              </a:rPr>
              <a:t>阶码溢出判断</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376840" name="Text Box 8"/>
          <p:cNvSpPr txBox="1"/>
          <p:nvPr/>
        </p:nvSpPr>
        <p:spPr>
          <a:xfrm>
            <a:off x="5405438" y="962025"/>
            <a:ext cx="3665537" cy="400050"/>
          </a:xfrm>
          <a:prstGeom prst="rect">
            <a:avLst/>
          </a:prstGeom>
          <a:noFill/>
          <a:ln w="12700">
            <a:noFill/>
          </a:ln>
        </p:spPr>
        <p:txBody>
          <a:bodyPr anchor="t" anchorCtr="0">
            <a:spAutoFit/>
          </a:bodyPr>
          <a:p>
            <a:pPr eaLnBrk="0" hangingPunct="0">
              <a:spcBef>
                <a:spcPct val="50000"/>
              </a:spcBef>
            </a:pPr>
            <a:r>
              <a:rPr lang="zh-CN" altLang="en-US" sz="2000" dirty="0">
                <a:solidFill>
                  <a:srgbClr val="CC0000"/>
                </a:solidFill>
                <a:latin typeface="微软雅黑" panose="020B0503020204020204" pitchFamily="34" charset="-122"/>
                <a:ea typeface="微软雅黑" panose="020B0503020204020204" pitchFamily="34" charset="-122"/>
              </a:rPr>
              <a:t>浮点数尾数采用原码乘</a:t>
            </a:r>
            <a:r>
              <a:rPr lang="en-US" altLang="zh-CN" sz="2000" dirty="0">
                <a:solidFill>
                  <a:srgbClr val="CC0000"/>
                </a:solidFill>
                <a:latin typeface="微软雅黑" panose="020B0503020204020204" pitchFamily="34" charset="-122"/>
                <a:ea typeface="微软雅黑" panose="020B0503020204020204" pitchFamily="34" charset="-122"/>
              </a:rPr>
              <a:t>/</a:t>
            </a:r>
            <a:r>
              <a:rPr lang="zh-CN" altLang="en-US" sz="2000" dirty="0">
                <a:solidFill>
                  <a:srgbClr val="CC0000"/>
                </a:solidFill>
                <a:latin typeface="微软雅黑" panose="020B0503020204020204" pitchFamily="34" charset="-122"/>
                <a:ea typeface="微软雅黑" panose="020B0503020204020204" pitchFamily="34" charset="-122"/>
              </a:rPr>
              <a:t>除运算</a:t>
            </a:r>
            <a:endParaRPr lang="zh-CN" altLang="en-US" sz="2000" dirty="0">
              <a:solidFill>
                <a:srgbClr val="CC0000"/>
              </a:solidFill>
              <a:latin typeface="微软雅黑" panose="020B0503020204020204" pitchFamily="34" charset="-122"/>
              <a:ea typeface="微软雅黑" panose="020B0503020204020204" pitchFamily="34" charset="-122"/>
            </a:endParaRPr>
          </a:p>
        </p:txBody>
      </p:sp>
      <p:sp>
        <p:nvSpPr>
          <p:cNvPr id="376842" name="Text Box 10"/>
          <p:cNvSpPr txBox="1"/>
          <p:nvPr/>
        </p:nvSpPr>
        <p:spPr>
          <a:xfrm>
            <a:off x="444500" y="5418138"/>
            <a:ext cx="6610350" cy="396875"/>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微软雅黑" panose="020B0503020204020204" pitchFamily="34" charset="-122"/>
                <a:ea typeface="微软雅黑" panose="020B0503020204020204" pitchFamily="34" charset="-122"/>
              </a:rPr>
              <a:t>问题</a:t>
            </a:r>
            <a:r>
              <a:rPr lang="en-US" altLang="zh-CN" sz="2000" dirty="0">
                <a:solidFill>
                  <a:srgbClr val="FF0066"/>
                </a:solidFill>
                <a:latin typeface="微软雅黑" panose="020B0503020204020204" pitchFamily="34" charset="-122"/>
                <a:ea typeface="微软雅黑" panose="020B0503020204020204" pitchFamily="34" charset="-122"/>
              </a:rPr>
              <a:t>1</a:t>
            </a:r>
            <a:r>
              <a:rPr lang="zh-CN" altLang="en-US" sz="2000" dirty="0">
                <a:solidFill>
                  <a:srgbClr val="FF0066"/>
                </a:solidFill>
                <a:latin typeface="微软雅黑" panose="020B0503020204020204" pitchFamily="34" charset="-122"/>
                <a:ea typeface="微软雅黑" panose="020B0503020204020204" pitchFamily="34" charset="-122"/>
              </a:rPr>
              <a:t>：乘法运算结果最多左规几次？最多右规几次？</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376844" name="Text Box 12"/>
          <p:cNvSpPr txBox="1"/>
          <p:nvPr/>
        </p:nvSpPr>
        <p:spPr>
          <a:xfrm>
            <a:off x="5575300" y="5021263"/>
            <a:ext cx="3324225" cy="396875"/>
          </a:xfrm>
          <a:prstGeom prst="rect">
            <a:avLst/>
          </a:prstGeom>
          <a:noFill/>
          <a:ln w="12700">
            <a:noFill/>
          </a:ln>
        </p:spPr>
        <p:txBody>
          <a:bodyPr anchor="t" anchorCtr="0">
            <a:spAutoFit/>
          </a:bodyPr>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不需左规！最多右规</a:t>
            </a:r>
            <a:r>
              <a:rPr lang="en-US" altLang="zh-CN" sz="2000" dirty="0">
                <a:solidFill>
                  <a:schemeClr val="accent2"/>
                </a:solidFill>
                <a:latin typeface="微软雅黑" panose="020B0503020204020204" pitchFamily="34" charset="-122"/>
                <a:ea typeface="微软雅黑" panose="020B0503020204020204" pitchFamily="34" charset="-122"/>
              </a:rPr>
              <a:t>1</a:t>
            </a:r>
            <a:r>
              <a:rPr lang="zh-CN" altLang="en-US" sz="2000" dirty="0">
                <a:solidFill>
                  <a:schemeClr val="accent2"/>
                </a:solidFill>
                <a:latin typeface="微软雅黑" panose="020B0503020204020204" pitchFamily="34" charset="-122"/>
                <a:ea typeface="微软雅黑" panose="020B0503020204020204" pitchFamily="34" charset="-122"/>
              </a:rPr>
              <a:t>次！</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376846" name="Text Box 14"/>
          <p:cNvSpPr txBox="1"/>
          <p:nvPr/>
        </p:nvSpPr>
        <p:spPr>
          <a:xfrm>
            <a:off x="444500" y="5986463"/>
            <a:ext cx="3457575" cy="396875"/>
          </a:xfrm>
          <a:prstGeom prst="rect">
            <a:avLst/>
          </a:prstGeom>
          <a:noFill/>
          <a:ln w="12700">
            <a:noFill/>
          </a:ln>
        </p:spPr>
        <p:txBody>
          <a:bodyPr anchor="t" anchorCtr="0">
            <a:spAutoFit/>
          </a:bodyPr>
          <a:p>
            <a:pPr eaLnBrk="0" hangingPunct="0">
              <a:spcBef>
                <a:spcPct val="50000"/>
              </a:spcBef>
            </a:pPr>
            <a:r>
              <a:rPr lang="zh-CN" altLang="en-US" sz="2000" dirty="0">
                <a:solidFill>
                  <a:srgbClr val="FF0066"/>
                </a:solidFill>
                <a:latin typeface="微软雅黑" panose="020B0503020204020204" pitchFamily="34" charset="-122"/>
                <a:ea typeface="微软雅黑" panose="020B0503020204020204" pitchFamily="34" charset="-122"/>
              </a:rPr>
              <a:t>问题</a:t>
            </a:r>
            <a:r>
              <a:rPr lang="en-US" altLang="zh-CN" sz="2000" dirty="0">
                <a:solidFill>
                  <a:srgbClr val="FF0066"/>
                </a:solidFill>
                <a:latin typeface="微软雅黑" panose="020B0503020204020204" pitchFamily="34" charset="-122"/>
                <a:ea typeface="微软雅黑" panose="020B0503020204020204" pitchFamily="34" charset="-122"/>
              </a:rPr>
              <a:t>2</a:t>
            </a:r>
            <a:r>
              <a:rPr lang="zh-CN" altLang="en-US" sz="2000" dirty="0">
                <a:solidFill>
                  <a:srgbClr val="FF0066"/>
                </a:solidFill>
                <a:latin typeface="微软雅黑" panose="020B0503020204020204" pitchFamily="34" charset="-122"/>
                <a:ea typeface="微软雅黑" panose="020B0503020204020204" pitchFamily="34" charset="-122"/>
              </a:rPr>
              <a:t>：除法呢？</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376847" name="Text Box 15"/>
          <p:cNvSpPr txBox="1"/>
          <p:nvPr/>
        </p:nvSpPr>
        <p:spPr>
          <a:xfrm>
            <a:off x="2579688" y="5986463"/>
            <a:ext cx="3457575" cy="396875"/>
          </a:xfrm>
          <a:prstGeom prst="rect">
            <a:avLst/>
          </a:prstGeom>
          <a:noFill/>
          <a:ln w="12700">
            <a:noFill/>
          </a:ln>
        </p:spPr>
        <p:txBody>
          <a:bodyPr anchor="t" anchorCtr="0">
            <a:spAutoFit/>
          </a:bodyPr>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左规次数不定！不需右规！</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grpSp>
        <p:nvGrpSpPr>
          <p:cNvPr id="2" name="Group 21"/>
          <p:cNvGrpSpPr/>
          <p:nvPr/>
        </p:nvGrpSpPr>
        <p:grpSpPr>
          <a:xfrm>
            <a:off x="2270125" y="2516188"/>
            <a:ext cx="819150" cy="203200"/>
            <a:chOff x="1424" y="1585"/>
            <a:chExt cx="516" cy="128"/>
          </a:xfrm>
        </p:grpSpPr>
        <p:sp>
          <p:nvSpPr>
            <p:cNvPr id="130058" name="Line 18"/>
            <p:cNvSpPr/>
            <p:nvPr/>
          </p:nvSpPr>
          <p:spPr>
            <a:xfrm>
              <a:off x="1424" y="1713"/>
              <a:ext cx="103" cy="0"/>
            </a:xfrm>
            <a:prstGeom prst="line">
              <a:avLst/>
            </a:prstGeom>
            <a:ln w="28575" cap="flat" cmpd="sng">
              <a:solidFill>
                <a:srgbClr val="CC0000"/>
              </a:solidFill>
              <a:prstDash val="solid"/>
              <a:round/>
              <a:headEnd type="none" w="med" len="med"/>
              <a:tailEnd type="none" w="med" len="med"/>
            </a:ln>
          </p:spPr>
        </p:sp>
        <p:sp>
          <p:nvSpPr>
            <p:cNvPr id="130059" name="Line 19"/>
            <p:cNvSpPr/>
            <p:nvPr/>
          </p:nvSpPr>
          <p:spPr>
            <a:xfrm>
              <a:off x="1831" y="1585"/>
              <a:ext cx="109" cy="0"/>
            </a:xfrm>
            <a:prstGeom prst="line">
              <a:avLst/>
            </a:prstGeom>
            <a:ln w="28575" cap="flat" cmpd="sng">
              <a:solidFill>
                <a:srgbClr val="CC0000"/>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6836">
                                            <p:txEl>
                                              <p:charRg st="49" end="70"/>
                                            </p:txEl>
                                          </p:spTgt>
                                        </p:tgtEl>
                                        <p:attrNameLst>
                                          <p:attrName>style.visibility</p:attrName>
                                        </p:attrNameLst>
                                      </p:cBhvr>
                                      <p:to>
                                        <p:strVal val="visible"/>
                                      </p:to>
                                    </p:set>
                                    <p:animEffect transition="in" filter="blinds(horizontal)">
                                      <p:cBhvr>
                                        <p:cTn id="7" dur="500"/>
                                        <p:tgtEl>
                                          <p:spTgt spid="376836">
                                            <p:txEl>
                                              <p:charRg st="49" end="7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6836">
                                            <p:txEl>
                                              <p:charRg st="70" end="105"/>
                                            </p:txEl>
                                          </p:spTgt>
                                        </p:tgtEl>
                                        <p:attrNameLst>
                                          <p:attrName>style.visibility</p:attrName>
                                        </p:attrNameLst>
                                      </p:cBhvr>
                                      <p:to>
                                        <p:strVal val="visible"/>
                                      </p:to>
                                    </p:set>
                                    <p:animEffect transition="in" filter="blinds(horizontal)">
                                      <p:cBhvr>
                                        <p:cTn id="17" dur="500"/>
                                        <p:tgtEl>
                                          <p:spTgt spid="376836">
                                            <p:txEl>
                                              <p:charRg st="70" end="10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6836">
                                            <p:txEl>
                                              <p:charRg st="105" end="135"/>
                                            </p:txEl>
                                          </p:spTgt>
                                        </p:tgtEl>
                                        <p:attrNameLst>
                                          <p:attrName>style.visibility</p:attrName>
                                        </p:attrNameLst>
                                      </p:cBhvr>
                                      <p:to>
                                        <p:strVal val="visible"/>
                                      </p:to>
                                    </p:set>
                                    <p:animEffect transition="in" filter="blinds(horizontal)">
                                      <p:cBhvr>
                                        <p:cTn id="22" dur="500"/>
                                        <p:tgtEl>
                                          <p:spTgt spid="376836">
                                            <p:txEl>
                                              <p:charRg st="105" end="13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6836">
                                            <p:txEl>
                                              <p:charRg st="135" end="167"/>
                                            </p:txEl>
                                          </p:spTgt>
                                        </p:tgtEl>
                                        <p:attrNameLst>
                                          <p:attrName>style.visibility</p:attrName>
                                        </p:attrNameLst>
                                      </p:cBhvr>
                                      <p:to>
                                        <p:strVal val="visible"/>
                                      </p:to>
                                    </p:set>
                                    <p:animEffect transition="in" filter="blinds(horizontal)">
                                      <p:cBhvr>
                                        <p:cTn id="27" dur="500"/>
                                        <p:tgtEl>
                                          <p:spTgt spid="376836">
                                            <p:txEl>
                                              <p:charRg st="135" end="16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6836">
                                            <p:txEl>
                                              <p:charRg st="167" end="190"/>
                                            </p:txEl>
                                          </p:spTgt>
                                        </p:tgtEl>
                                        <p:attrNameLst>
                                          <p:attrName>style.visibility</p:attrName>
                                        </p:attrNameLst>
                                      </p:cBhvr>
                                      <p:to>
                                        <p:strVal val="visible"/>
                                      </p:to>
                                    </p:set>
                                    <p:animEffect transition="in" filter="blinds(horizontal)">
                                      <p:cBhvr>
                                        <p:cTn id="32" dur="500"/>
                                        <p:tgtEl>
                                          <p:spTgt spid="376836">
                                            <p:txEl>
                                              <p:charRg st="167" end="19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76836">
                                            <p:txEl>
                                              <p:charRg st="190" end="207"/>
                                            </p:txEl>
                                          </p:spTgt>
                                        </p:tgtEl>
                                        <p:attrNameLst>
                                          <p:attrName>style.visibility</p:attrName>
                                        </p:attrNameLst>
                                      </p:cBhvr>
                                      <p:to>
                                        <p:strVal val="visible"/>
                                      </p:to>
                                    </p:set>
                                    <p:animEffect transition="in" filter="blinds(horizontal)">
                                      <p:cBhvr>
                                        <p:cTn id="37" dur="500"/>
                                        <p:tgtEl>
                                          <p:spTgt spid="376836">
                                            <p:txEl>
                                              <p:charRg st="190" end="20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6836">
                                            <p:txEl>
                                              <p:charRg st="207" end="215"/>
                                            </p:txEl>
                                          </p:spTgt>
                                        </p:tgtEl>
                                        <p:attrNameLst>
                                          <p:attrName>style.visibility</p:attrName>
                                        </p:attrNameLst>
                                      </p:cBhvr>
                                      <p:to>
                                        <p:strVal val="visible"/>
                                      </p:to>
                                    </p:set>
                                    <p:animEffect transition="in" filter="blinds(horizontal)">
                                      <p:cBhvr>
                                        <p:cTn id="42" dur="500"/>
                                        <p:tgtEl>
                                          <p:spTgt spid="376836">
                                            <p:txEl>
                                              <p:charRg st="207" end="21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76840">
                                            <p:txEl>
                                              <p:charRg st="0" end="15"/>
                                            </p:txEl>
                                          </p:spTgt>
                                        </p:tgtEl>
                                        <p:attrNameLst>
                                          <p:attrName>style.visibility</p:attrName>
                                        </p:attrNameLst>
                                      </p:cBhvr>
                                      <p:to>
                                        <p:strVal val="visible"/>
                                      </p:to>
                                    </p:set>
                                    <p:animEffect transition="in" filter="blinds(horizontal)">
                                      <p:cBhvr>
                                        <p:cTn id="47" dur="500"/>
                                        <p:tgtEl>
                                          <p:spTgt spid="376840">
                                            <p:txEl>
                                              <p:charRg st="0" end="1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6842"/>
                                        </p:tgtEl>
                                        <p:attrNameLst>
                                          <p:attrName>style.visibility</p:attrName>
                                        </p:attrNameLst>
                                      </p:cBhvr>
                                      <p:to>
                                        <p:strVal val="visible"/>
                                      </p:to>
                                    </p:set>
                                    <p:animEffect transition="in" filter="blinds(horizontal)">
                                      <p:cBhvr>
                                        <p:cTn id="52" dur="500"/>
                                        <p:tgtEl>
                                          <p:spTgt spid="37684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6844"/>
                                        </p:tgtEl>
                                        <p:attrNameLst>
                                          <p:attrName>style.visibility</p:attrName>
                                        </p:attrNameLst>
                                      </p:cBhvr>
                                      <p:to>
                                        <p:strVal val="visible"/>
                                      </p:to>
                                    </p:set>
                                    <p:animEffect transition="in" filter="blinds(horizontal)">
                                      <p:cBhvr>
                                        <p:cTn id="57" dur="500"/>
                                        <p:tgtEl>
                                          <p:spTgt spid="37684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76846"/>
                                        </p:tgtEl>
                                        <p:attrNameLst>
                                          <p:attrName>style.visibility</p:attrName>
                                        </p:attrNameLst>
                                      </p:cBhvr>
                                      <p:to>
                                        <p:strVal val="visible"/>
                                      </p:to>
                                    </p:set>
                                    <p:animEffect transition="in" filter="blinds(horizontal)">
                                      <p:cBhvr>
                                        <p:cTn id="62" dur="500"/>
                                        <p:tgtEl>
                                          <p:spTgt spid="37684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76847"/>
                                        </p:tgtEl>
                                        <p:attrNameLst>
                                          <p:attrName>style.visibility</p:attrName>
                                        </p:attrNameLst>
                                      </p:cBhvr>
                                      <p:to>
                                        <p:strVal val="visible"/>
                                      </p:to>
                                    </p:set>
                                    <p:animEffect transition="in" filter="blinds(horizontal)">
                                      <p:cBhvr>
                                        <p:cTn id="67" dur="500"/>
                                        <p:tgtEl>
                                          <p:spTgt spid="376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40" grpId="0" build="allAtOnce"/>
      <p:bldP spid="376842" grpId="0"/>
      <p:bldP spid="376844" grpId="0"/>
      <p:bldP spid="376846" grpId="0"/>
      <p:bldP spid="37684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求阶码的和、差</a:t>
            </a:r>
            <a:endParaRPr lang="zh-CN" altLang="en-US" dirty="0">
              <a:ea typeface="宋体" panose="02010600030101010101" pitchFamily="2" charset="-122"/>
            </a:endParaRPr>
          </a:p>
        </p:txBody>
      </p:sp>
      <p:sp>
        <p:nvSpPr>
          <p:cNvPr id="476163" name="Rectangle 3"/>
          <p:cNvSpPr>
            <a:spLocks noGrp="1" noChangeArrowheads="1"/>
          </p:cNvSpPr>
          <p:nvPr>
            <p:ph idx="1"/>
          </p:nvPr>
        </p:nvSpPr>
        <p:spPr>
          <a:xfrm>
            <a:off x="320675" y="984250"/>
            <a:ext cx="8477250" cy="5068888"/>
          </a:xfrm>
        </p:spPr>
        <p:txBody>
          <a:bodyPr vert="horz" wrap="square" lIns="63500" tIns="25400" rIns="63500" bIns="25400" numCol="1" anchor="t" anchorCtr="0" compatLnSpc="1">
            <a:spAutoFit/>
          </a:bodyPr>
          <a:lstStyle/>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r>
              <a:rPr kumimoji="0" lang="zh-CN" altLang="pt-BR"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设</a:t>
            </a:r>
            <a:r>
              <a:rPr kumimoji="0" lang="pt-BR"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Ex</a:t>
            </a:r>
            <a:r>
              <a:rPr kumimoji="0" lang="zh-CN" altLang="pt-BR"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和</a:t>
            </a:r>
            <a:r>
              <a:rPr kumimoji="0" lang="pt-BR"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Ey</a:t>
            </a:r>
            <a:r>
              <a:rPr kumimoji="0" lang="zh-CN" altLang="pt-BR"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分别是两个操作数的阶码，</a:t>
            </a:r>
            <a:r>
              <a:rPr kumimoji="0" lang="pt-BR"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Eb</a:t>
            </a:r>
            <a:r>
              <a:rPr kumimoji="0" lang="zh-CN" altLang="pt-BR"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是结果的阶码，则：</a:t>
            </a:r>
            <a:endParaRPr kumimoji="0" lang="zh-CN" altLang="pt-BR"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85800" marR="0" lvl="1" indent="-190500" algn="l" defTabSz="914400" rtl="0" eaLnBrk="0" fontAlgn="base" latinLnBrk="0" hangingPunct="0">
              <a:lnSpc>
                <a:spcPct val="130000"/>
              </a:lnSpc>
              <a:spcBef>
                <a:spcPct val="20000"/>
              </a:spcBef>
              <a:spcAft>
                <a:spcPct val="0"/>
              </a:spcAft>
              <a:buClrTx/>
              <a:buSzTx/>
              <a:buFontTx/>
              <a:buChar char="•"/>
              <a:defRPr/>
            </a:pPr>
            <a:r>
              <a:rPr kumimoji="0" lang="zh-CN" altLang="pt-BR"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阶码加法公式为： </a:t>
            </a:r>
            <a:r>
              <a:rPr kumimoji="0" lang="pt-BR"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Eb </a:t>
            </a:r>
            <a:r>
              <a:rPr kumimoji="0" lang="en-US"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sym typeface="Symbol" panose="05050102010706020507" pitchFamily="18" charset="2"/>
              </a:rPr>
              <a:t></a:t>
            </a:r>
            <a:r>
              <a:rPr kumimoji="0" lang="pt-BR"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 Ex+Ey+129 </a:t>
            </a:r>
            <a:r>
              <a:rPr kumimoji="0" lang="zh-CN" altLang="pt-BR"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 </a:t>
            </a:r>
            <a:r>
              <a:rPr kumimoji="0" lang="pt-BR"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mod 2</a:t>
            </a:r>
            <a:r>
              <a:rPr kumimoji="0" lang="pt-BR" altLang="zh-CN" sz="2000" b="1" i="0" u="none" strike="noStrike" kern="0" cap="none" spc="0" normalizeH="0" baseline="3000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8</a:t>
            </a:r>
            <a:r>
              <a:rPr kumimoji="0" lang="zh-CN" altLang="pt-BR"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a:t>
            </a:r>
            <a:endParaRPr kumimoji="0" lang="zh-CN" altLang="pt-BR"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endParaRPr>
          </a:p>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r>
              <a:rPr kumimoji="0" lang="pt-BR"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[E1+E2]</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127 + E1+ E2 = 127 + E1 + 127 + E2 –127</a:t>
            </a:r>
            <a:endPar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r>
              <a:rPr kumimoji="0" lang="pt-BR" altLang="zh-CN"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                                = [E1]</a:t>
            </a:r>
            <a:r>
              <a:rPr kumimoji="0" lang="zh-CN" altLang="pt-BR" sz="2000" b="1" i="0" u="none" strike="noStrike" kern="0" cap="none" spc="0" normalizeH="0" baseline="-2500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 [E2]</a:t>
            </a:r>
            <a:r>
              <a:rPr kumimoji="0" lang="zh-CN" altLang="pt-BR" sz="2000" b="1" i="0" u="none" strike="noStrike" kern="0" cap="none" spc="0" normalizeH="0" baseline="-2500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–127 </a:t>
            </a:r>
            <a:endParaRPr kumimoji="0" lang="pt-BR" altLang="zh-CN"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 [E1]</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[E2]</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+[–127] </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补</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endPar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 [E1]</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[E2]</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+10000001B</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mod 2</a:t>
            </a:r>
            <a:r>
              <a:rPr kumimoji="0" lang="pt-BR" altLang="zh-CN" sz="2000" b="1" i="0" u="none" strike="noStrike" kern="0" cap="none" spc="0" normalizeH="0" baseline="30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8</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a:t>
            </a:r>
            <a:endPar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endParaRPr>
          </a:p>
          <a:p>
            <a:pPr marL="685800" marR="0" lvl="1" indent="-190500" algn="l" defTabSz="914400" rtl="0" eaLnBrk="0" fontAlgn="base" latinLnBrk="0" hangingPunct="0">
              <a:lnSpc>
                <a:spcPct val="130000"/>
              </a:lnSpc>
              <a:spcBef>
                <a:spcPct val="20000"/>
              </a:spcBef>
              <a:spcAft>
                <a:spcPct val="0"/>
              </a:spcAft>
              <a:buClrTx/>
              <a:buSzTx/>
              <a:buFontTx/>
              <a:buChar char="•"/>
              <a:defRPr/>
            </a:pPr>
            <a:r>
              <a:rPr kumimoji="0" lang="zh-CN" altLang="pt-BR"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阶码减法公式为：   </a:t>
            </a:r>
            <a:r>
              <a:rPr kumimoji="0" lang="pt-BR"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Eb </a:t>
            </a:r>
            <a:r>
              <a:rPr kumimoji="0" lang="en-US"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sym typeface="Symbol" panose="05050102010706020507" pitchFamily="18" charset="2"/>
              </a:rPr>
              <a:t></a:t>
            </a:r>
            <a:r>
              <a:rPr kumimoji="0" lang="pt-BR"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 Ex+[–Ey]</a:t>
            </a:r>
            <a:r>
              <a:rPr kumimoji="0" lang="zh-CN" altLang="pt-BR" sz="2000" b="1" i="0" u="none" strike="noStrike" kern="0" cap="none" spc="0" normalizeH="0" baseline="-2500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补</a:t>
            </a:r>
            <a:r>
              <a:rPr kumimoji="0" lang="pt-BR"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+127 </a:t>
            </a:r>
            <a:r>
              <a:rPr kumimoji="0" lang="zh-CN" altLang="pt-BR"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 </a:t>
            </a:r>
            <a:r>
              <a:rPr kumimoji="0" lang="pt-BR" altLang="zh-CN"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mod 2</a:t>
            </a:r>
            <a:r>
              <a:rPr kumimoji="0" lang="pt-BR" altLang="zh-CN" sz="2000" b="1" i="0" u="none" strike="noStrike" kern="0" cap="none" spc="0" normalizeH="0" baseline="3000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8</a:t>
            </a:r>
            <a:r>
              <a:rPr kumimoji="0" lang="zh-CN" altLang="pt-BR"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rPr>
              <a:t>）</a:t>
            </a:r>
            <a:endParaRPr kumimoji="0" lang="zh-CN" altLang="pt-BR" sz="20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ea"/>
            </a:endParaRPr>
          </a:p>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r>
              <a:rPr kumimoji="0" lang="pt-BR"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[E1– E2]</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127 + E1– E2 = 127+E1–(127+E2)+127</a:t>
            </a:r>
            <a:endPar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 [E1]</a:t>
            </a:r>
            <a:r>
              <a:rPr kumimoji="0" lang="zh-CN" altLang="pt-BR" sz="2000" b="1" i="0" u="none" strike="noStrike" kern="0" cap="none" spc="0" normalizeH="0" baseline="-2500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移</a:t>
            </a:r>
            <a:r>
              <a:rPr kumimoji="0" lang="pt-BR" altLang="zh-CN"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–[E2]</a:t>
            </a:r>
            <a:r>
              <a:rPr kumimoji="0" lang="zh-CN" altLang="pt-BR" sz="2000" b="1" i="0" u="none" strike="noStrike" kern="0" cap="none" spc="0" normalizeH="0" baseline="-2500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移</a:t>
            </a:r>
            <a:r>
              <a:rPr kumimoji="0" lang="zh-CN" altLang="pt-BR"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rPr>
              <a:t>+127     </a:t>
            </a:r>
            <a:endParaRPr kumimoji="0" lang="pt-BR" altLang="zh-CN" sz="2000" b="1" i="0" u="none" strike="noStrike" kern="0" cap="none" spc="0" normalizeH="0" baseline="0" noProof="0" dirty="0">
              <a:ln>
                <a:noFill/>
              </a:ln>
              <a:solidFill>
                <a:srgbClr val="008000"/>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 [E1]</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移</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+[–[E2]</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移</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a:t>
            </a:r>
            <a:r>
              <a:rPr kumimoji="0" lang="zh-CN" altLang="pt-BR" sz="2000" b="1" i="0" u="none" strike="noStrike" kern="0" cap="none" spc="0" normalizeH="0" baseline="-25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补</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+01111111B</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 </a:t>
            </a:r>
            <a:r>
              <a:rPr kumimoji="0" lang="pt-BR" altLang="zh-CN"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mod 2</a:t>
            </a:r>
            <a:r>
              <a:rPr kumimoji="0" lang="pt-BR" altLang="zh-CN" sz="2000" b="1" i="0" u="none" strike="noStrike" kern="0" cap="none" spc="0" normalizeH="0" baseline="3000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8</a:t>
            </a:r>
            <a:r>
              <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a:t>
            </a:r>
            <a:endParaRPr kumimoji="0" lang="zh-CN" altLang="pt-BR" sz="2000" b="1" i="0" u="none" strike="noStrike" kern="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endParaRPr>
          </a:p>
          <a:p>
            <a:pPr marL="203200" marR="0" lvl="0" indent="-203200" algn="l" defTabSz="914400" rtl="0" eaLnBrk="0" fontAlgn="base" latinLnBrk="0" hangingPunct="0">
              <a:lnSpc>
                <a:spcPct val="130000"/>
              </a:lnSpc>
              <a:spcBef>
                <a:spcPct val="20000"/>
              </a:spcBef>
              <a:spcAft>
                <a:spcPct val="0"/>
              </a:spcAft>
              <a:buClr>
                <a:schemeClr val="tx1"/>
              </a:buClr>
              <a:buSzPct val="60000"/>
              <a:buFont typeface="Wingdings" panose="05000000000000000000" pitchFamily="2" charset="2"/>
              <a:buNone/>
              <a:defRPr/>
            </a:pPr>
            <a:endParaRPr kumimoji="0" lang="zh-CN" altLang="en-US" sz="2200" b="1" i="0" u="none" strike="noStrike" kern="0" cap="none" spc="0" normalizeH="0" baseline="0" noProof="0" dirty="0">
              <a:ln>
                <a:noFill/>
              </a:ln>
              <a:solidFill>
                <a:srgbClr val="FF0066"/>
              </a:solidFill>
              <a:effectLst/>
              <a:uLnTx/>
              <a:uFillTx/>
              <a:latin typeface="+mn-lt"/>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6163">
                                            <p:txEl>
                                              <p:charRg st="64" end="127"/>
                                            </p:txEl>
                                          </p:spTgt>
                                        </p:tgtEl>
                                        <p:attrNameLst>
                                          <p:attrName>style.visibility</p:attrName>
                                        </p:attrNameLst>
                                      </p:cBhvr>
                                      <p:to>
                                        <p:strVal val="visible"/>
                                      </p:to>
                                    </p:set>
                                    <p:animEffect transition="in" filter="blinds(horizontal)">
                                      <p:cBhvr>
                                        <p:cTn id="7" dur="500"/>
                                        <p:tgtEl>
                                          <p:spTgt spid="476163">
                                            <p:txEl>
                                              <p:charRg st="64" end="12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76163">
                                            <p:txEl>
                                              <p:charRg st="127" end="181"/>
                                            </p:txEl>
                                          </p:spTgt>
                                        </p:tgtEl>
                                        <p:attrNameLst>
                                          <p:attrName>style.visibility</p:attrName>
                                        </p:attrNameLst>
                                      </p:cBhvr>
                                      <p:to>
                                        <p:strVal val="visible"/>
                                      </p:to>
                                    </p:set>
                                    <p:animEffect transition="in" filter="blinds(horizontal)">
                                      <p:cBhvr>
                                        <p:cTn id="10" dur="500"/>
                                        <p:tgtEl>
                                          <p:spTgt spid="476163">
                                            <p:txEl>
                                              <p:charRg st="127" end="18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76163">
                                            <p:txEl>
                                              <p:charRg st="181" end="240"/>
                                            </p:txEl>
                                          </p:spTgt>
                                        </p:tgtEl>
                                        <p:attrNameLst>
                                          <p:attrName>style.visibility</p:attrName>
                                        </p:attrNameLst>
                                      </p:cBhvr>
                                      <p:to>
                                        <p:strVal val="visible"/>
                                      </p:to>
                                    </p:set>
                                    <p:animEffect transition="in" filter="blinds(horizontal)">
                                      <p:cBhvr>
                                        <p:cTn id="13" dur="500"/>
                                        <p:tgtEl>
                                          <p:spTgt spid="476163">
                                            <p:txEl>
                                              <p:charRg st="181" end="24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76163">
                                            <p:txEl>
                                              <p:charRg st="240" end="308"/>
                                            </p:txEl>
                                          </p:spTgt>
                                        </p:tgtEl>
                                        <p:attrNameLst>
                                          <p:attrName>style.visibility</p:attrName>
                                        </p:attrNameLst>
                                      </p:cBhvr>
                                      <p:to>
                                        <p:strVal val="visible"/>
                                      </p:to>
                                    </p:set>
                                    <p:animEffect transition="in" filter="blinds(horizontal)">
                                      <p:cBhvr>
                                        <p:cTn id="16" dur="500"/>
                                        <p:tgtEl>
                                          <p:spTgt spid="476163">
                                            <p:txEl>
                                              <p:charRg st="240" end="30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76163">
                                            <p:txEl>
                                              <p:charRg st="348" end="407"/>
                                            </p:txEl>
                                          </p:spTgt>
                                        </p:tgtEl>
                                        <p:attrNameLst>
                                          <p:attrName>style.visibility</p:attrName>
                                        </p:attrNameLst>
                                      </p:cBhvr>
                                      <p:to>
                                        <p:strVal val="visible"/>
                                      </p:to>
                                    </p:set>
                                    <p:animEffect transition="in" filter="blinds(horizontal)">
                                      <p:cBhvr>
                                        <p:cTn id="21" dur="500"/>
                                        <p:tgtEl>
                                          <p:spTgt spid="476163">
                                            <p:txEl>
                                              <p:charRg st="348" end="40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76163">
                                            <p:txEl>
                                              <p:charRg st="407" end="463"/>
                                            </p:txEl>
                                          </p:spTgt>
                                        </p:tgtEl>
                                        <p:attrNameLst>
                                          <p:attrName>style.visibility</p:attrName>
                                        </p:attrNameLst>
                                      </p:cBhvr>
                                      <p:to>
                                        <p:strVal val="visible"/>
                                      </p:to>
                                    </p:set>
                                    <p:animEffect transition="in" filter="blinds(horizontal)">
                                      <p:cBhvr>
                                        <p:cTn id="24" dur="500"/>
                                        <p:tgtEl>
                                          <p:spTgt spid="476163">
                                            <p:txEl>
                                              <p:charRg st="407" end="463"/>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76163">
                                            <p:txEl>
                                              <p:charRg st="463" end="532"/>
                                            </p:txEl>
                                          </p:spTgt>
                                        </p:tgtEl>
                                        <p:attrNameLst>
                                          <p:attrName>style.visibility</p:attrName>
                                        </p:attrNameLst>
                                      </p:cBhvr>
                                      <p:to>
                                        <p:strVal val="visible"/>
                                      </p:to>
                                    </p:set>
                                    <p:animEffect transition="in" filter="blinds(horizontal)">
                                      <p:cBhvr>
                                        <p:cTn id="27" dur="500"/>
                                        <p:tgtEl>
                                          <p:spTgt spid="476163">
                                            <p:txEl>
                                              <p:charRg st="463" end="5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举例</a:t>
            </a:r>
            <a:endParaRPr lang="zh-CN" altLang="en-US" dirty="0">
              <a:ea typeface="宋体" panose="02010600030101010101" pitchFamily="2" charset="-122"/>
            </a:endParaRPr>
          </a:p>
        </p:txBody>
      </p:sp>
      <p:sp>
        <p:nvSpPr>
          <p:cNvPr id="494596" name="Text Box 4"/>
          <p:cNvSpPr txBox="1"/>
          <p:nvPr/>
        </p:nvSpPr>
        <p:spPr>
          <a:xfrm>
            <a:off x="342900" y="1238250"/>
            <a:ext cx="8801100" cy="4573588"/>
          </a:xfrm>
          <a:prstGeom prst="rect">
            <a:avLst/>
          </a:prstGeom>
          <a:noFill/>
          <a:ln w="12700">
            <a:noFill/>
          </a:ln>
        </p:spPr>
        <p:txBody>
          <a:bodyPr anchor="t" anchorCtr="0">
            <a:spAutoFit/>
          </a:bodyPr>
          <a:p>
            <a:pPr eaLnBrk="0" hangingPunct="0">
              <a:lnSpc>
                <a:spcPct val="115000"/>
              </a:lnSpc>
              <a:spcBef>
                <a:spcPct val="50000"/>
              </a:spcBef>
            </a:pPr>
            <a:r>
              <a:rPr lang="zh-CN" altLang="en-US" sz="2000" dirty="0">
                <a:latin typeface="微软雅黑" panose="020B0503020204020204" pitchFamily="34" charset="-122"/>
                <a:ea typeface="微软雅黑" panose="020B0503020204020204" pitchFamily="34" charset="-122"/>
              </a:rPr>
              <a:t>例：若两个阶码分别为</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，求</a:t>
            </a:r>
            <a:r>
              <a:rPr lang="en-US" altLang="zh-CN" sz="2000" dirty="0">
                <a:latin typeface="微软雅黑" panose="020B0503020204020204" pitchFamily="34" charset="-122"/>
                <a:ea typeface="微软雅黑" panose="020B0503020204020204" pitchFamily="34" charset="-122"/>
              </a:rPr>
              <a:t>10+(-5)</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10-(-5)</a:t>
            </a:r>
            <a:r>
              <a:rPr lang="zh-CN" altLang="en-US" sz="2000" dirty="0">
                <a:latin typeface="微软雅黑" panose="020B0503020204020204" pitchFamily="34" charset="-122"/>
                <a:ea typeface="微软雅黑" panose="020B0503020204020204" pitchFamily="34" charset="-122"/>
              </a:rPr>
              <a:t>的移码。</a:t>
            </a:r>
            <a:endParaRPr lang="zh-CN" altLang="en-US"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zh-CN" altLang="en-US" sz="2000" dirty="0">
                <a:latin typeface="微软雅黑" panose="020B0503020204020204" pitchFamily="34" charset="-122"/>
                <a:ea typeface="微软雅黑" panose="020B0503020204020204" pitchFamily="34" charset="-122"/>
              </a:rPr>
              <a:t>解：</a:t>
            </a:r>
            <a:r>
              <a:rPr lang="en-US" altLang="zh-CN" sz="2000" dirty="0">
                <a:latin typeface="微软雅黑" panose="020B0503020204020204" pitchFamily="34" charset="-122"/>
                <a:ea typeface="微软雅黑" panose="020B0503020204020204" pitchFamily="34" charset="-122"/>
              </a:rPr>
              <a:t>Ex = 127+10 =137=1000 1001B</a:t>
            </a:r>
            <a:endParaRPr lang="zh-CN" altLang="en-US"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en-US" altLang="zh-CN" sz="2000" dirty="0">
                <a:latin typeface="微软雅黑" panose="020B0503020204020204" pitchFamily="34" charset="-122"/>
                <a:ea typeface="微软雅黑" panose="020B0503020204020204" pitchFamily="34" charset="-122"/>
              </a:rPr>
              <a:t>       Ey = 127+ (–5) = 122 = 0111 1010B</a:t>
            </a:r>
            <a:endParaRPr lang="zh-CN" altLang="en-US"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en-US" altLang="zh-CN" sz="2000" dirty="0">
                <a:latin typeface="微软雅黑" panose="020B0503020204020204" pitchFamily="34" charset="-122"/>
                <a:ea typeface="微软雅黑" panose="020B0503020204020204" pitchFamily="34" charset="-122"/>
              </a:rPr>
              <a:t>       [–Ey ]</a:t>
            </a:r>
            <a:r>
              <a:rPr lang="zh-CN" altLang="en-US" sz="2000" dirty="0">
                <a:latin typeface="微软雅黑" panose="020B0503020204020204" pitchFamily="34" charset="-122"/>
                <a:ea typeface="微软雅黑" panose="020B0503020204020204" pitchFamily="34" charset="-122"/>
              </a:rPr>
              <a:t>补</a:t>
            </a:r>
            <a:r>
              <a:rPr lang="en-US" altLang="zh-CN" sz="2000" dirty="0">
                <a:latin typeface="微软雅黑" panose="020B0503020204020204" pitchFamily="34" charset="-122"/>
                <a:ea typeface="微软雅黑" panose="020B0503020204020204" pitchFamily="34" charset="-122"/>
              </a:rPr>
              <a:t>= 1000 0110B</a:t>
            </a:r>
            <a:endParaRPr lang="en-US" altLang="zh-CN"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zh-CN" altLang="en-US" sz="2000" dirty="0">
                <a:latin typeface="微软雅黑" panose="020B0503020204020204" pitchFamily="34" charset="-122"/>
                <a:ea typeface="微软雅黑" panose="020B0503020204020204" pitchFamily="34" charset="-122"/>
              </a:rPr>
              <a:t>       将</a:t>
            </a:r>
            <a:r>
              <a:rPr lang="en-US" altLang="zh-CN" sz="2000" dirty="0">
                <a:latin typeface="微软雅黑" panose="020B0503020204020204" pitchFamily="34" charset="-122"/>
                <a:ea typeface="微软雅黑" panose="020B0503020204020204" pitchFamily="34" charset="-122"/>
              </a:rPr>
              <a:t>Ex</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Ey</a:t>
            </a:r>
            <a:r>
              <a:rPr lang="zh-CN" altLang="en-US" sz="2000" dirty="0">
                <a:latin typeface="微软雅黑" panose="020B0503020204020204" pitchFamily="34" charset="-122"/>
                <a:ea typeface="微软雅黑" panose="020B0503020204020204" pitchFamily="34" charset="-122"/>
              </a:rPr>
              <a:t>代入上述公式，得：</a:t>
            </a:r>
            <a:endParaRPr lang="zh-CN" altLang="en-US"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en-US" altLang="zh-CN" sz="2000" dirty="0">
                <a:latin typeface="微软雅黑" panose="020B0503020204020204" pitchFamily="34" charset="-122"/>
                <a:ea typeface="微软雅黑" panose="020B0503020204020204" pitchFamily="34" charset="-122"/>
              </a:rPr>
              <a:t>        Eb = Ex+Ey +129 = 1000 1001 + 0111 1010 +1000 0001</a:t>
            </a:r>
            <a:endParaRPr lang="en-US" altLang="zh-CN"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en-US" altLang="zh-CN" sz="2000" dirty="0">
                <a:latin typeface="微软雅黑" panose="020B0503020204020204" pitchFamily="34" charset="-122"/>
                <a:ea typeface="微软雅黑" panose="020B0503020204020204" pitchFamily="34" charset="-122"/>
              </a:rPr>
              <a:t>              = 1000 0100B = 132</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mod 2</a:t>
            </a:r>
            <a:r>
              <a:rPr lang="en-US" altLang="zh-CN" sz="2000" baseline="30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zh-CN" altLang="en-US" sz="2000" dirty="0">
                <a:latin typeface="微软雅黑" panose="020B0503020204020204" pitchFamily="34" charset="-122"/>
                <a:ea typeface="微软雅黑" panose="020B0503020204020204" pitchFamily="34" charset="-122"/>
              </a:rPr>
              <a:t>           </a:t>
            </a:r>
            <a:r>
              <a:rPr lang="zh-CN" altLang="en-US" sz="2000" dirty="0">
                <a:solidFill>
                  <a:srgbClr val="FF0066"/>
                </a:solidFill>
                <a:latin typeface="微软雅黑" panose="020B0503020204020204" pitchFamily="34" charset="-122"/>
                <a:ea typeface="微软雅黑" panose="020B0503020204020204" pitchFamily="34" charset="-122"/>
              </a:rPr>
              <a:t>其阶码的和为</a:t>
            </a:r>
            <a:r>
              <a:rPr lang="en-US" altLang="zh-CN" sz="2000" dirty="0">
                <a:solidFill>
                  <a:srgbClr val="FF0066"/>
                </a:solidFill>
                <a:latin typeface="微软雅黑" panose="020B0503020204020204" pitchFamily="34" charset="-122"/>
                <a:ea typeface="微软雅黑" panose="020B0503020204020204" pitchFamily="34" charset="-122"/>
              </a:rPr>
              <a:t>132 – 127 = 5</a:t>
            </a:r>
            <a:r>
              <a:rPr lang="zh-CN" altLang="en-US" sz="2000" dirty="0">
                <a:solidFill>
                  <a:srgbClr val="FF0066"/>
                </a:solidFill>
                <a:latin typeface="微软雅黑" panose="020B0503020204020204" pitchFamily="34" charset="-122"/>
                <a:ea typeface="微软雅黑" panose="020B0503020204020204" pitchFamily="34" charset="-122"/>
              </a:rPr>
              <a:t>，正好等于</a:t>
            </a:r>
            <a:r>
              <a:rPr lang="en-US" altLang="zh-CN" sz="2000" dirty="0">
                <a:solidFill>
                  <a:srgbClr val="FF0066"/>
                </a:solidFill>
                <a:latin typeface="微软雅黑" panose="020B0503020204020204" pitchFamily="34" charset="-122"/>
                <a:ea typeface="微软雅黑" panose="020B0503020204020204" pitchFamily="34" charset="-122"/>
              </a:rPr>
              <a:t>10 + (–5) = 5</a:t>
            </a:r>
            <a:r>
              <a:rPr lang="zh-CN" altLang="en-US" sz="2000" dirty="0">
                <a:solidFill>
                  <a:srgbClr val="FF0066"/>
                </a:solidFill>
                <a:latin typeface="微软雅黑" panose="020B0503020204020204" pitchFamily="34" charset="-122"/>
                <a:ea typeface="微软雅黑" panose="020B0503020204020204" pitchFamily="34" charset="-122"/>
              </a:rPr>
              <a:t>。</a:t>
            </a:r>
            <a:r>
              <a:rPr lang="en-US" altLang="zh-CN" sz="2000" dirty="0">
                <a:solidFill>
                  <a:srgbClr val="009900"/>
                </a:solidFill>
                <a:latin typeface="微软雅黑" panose="020B0503020204020204" pitchFamily="34" charset="-122"/>
                <a:ea typeface="微软雅黑" panose="020B0503020204020204" pitchFamily="34" charset="-122"/>
              </a:rPr>
              <a:t> </a:t>
            </a:r>
            <a:endParaRPr lang="en-US" altLang="zh-CN" sz="2000" dirty="0">
              <a:solidFill>
                <a:srgbClr val="009900"/>
              </a:solidFill>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en-US" altLang="zh-CN" sz="2000" dirty="0">
                <a:latin typeface="微软雅黑" panose="020B0503020204020204" pitchFamily="34" charset="-122"/>
                <a:ea typeface="微软雅黑" panose="020B0503020204020204" pitchFamily="34" charset="-122"/>
              </a:rPr>
              <a:t>        Eb = Ex+[–Ey]</a:t>
            </a:r>
            <a:r>
              <a:rPr lang="zh-CN" altLang="en-US" sz="2000" dirty="0">
                <a:latin typeface="微软雅黑" panose="020B0503020204020204" pitchFamily="34" charset="-122"/>
                <a:ea typeface="微软雅黑" panose="020B0503020204020204" pitchFamily="34" charset="-122"/>
              </a:rPr>
              <a:t>补</a:t>
            </a:r>
            <a:r>
              <a:rPr lang="en-US" altLang="zh-CN" sz="2000" dirty="0">
                <a:latin typeface="微软雅黑" panose="020B0503020204020204" pitchFamily="34" charset="-122"/>
                <a:ea typeface="微软雅黑" panose="020B0503020204020204" pitchFamily="34" charset="-122"/>
              </a:rPr>
              <a:t>+127 = 1000 1001 + 1000 0110 +0111 1111</a:t>
            </a:r>
            <a:endParaRPr lang="en-US" altLang="zh-CN"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pPr>
            <a:r>
              <a:rPr lang="en-US" altLang="zh-CN" sz="2000" dirty="0">
                <a:latin typeface="微软雅黑" panose="020B0503020204020204" pitchFamily="34" charset="-122"/>
                <a:ea typeface="微软雅黑" panose="020B0503020204020204" pitchFamily="34" charset="-122"/>
              </a:rPr>
              <a:t>              = 1000 1110B = 142</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mod 2</a:t>
            </a:r>
            <a:r>
              <a:rPr lang="en-US" altLang="zh-CN" sz="2000" baseline="30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1" indent="0" eaLnBrk="0" hangingPunct="0">
              <a:lnSpc>
                <a:spcPct val="115000"/>
              </a:lnSpc>
              <a:spcBef>
                <a:spcPct val="20000"/>
              </a:spcBef>
            </a:pPr>
            <a:r>
              <a:rPr lang="zh-CN" altLang="en-US" sz="2000" dirty="0">
                <a:solidFill>
                  <a:srgbClr val="FF0066"/>
                </a:solidFill>
                <a:latin typeface="微软雅黑" panose="020B0503020204020204" pitchFamily="34" charset="-122"/>
                <a:ea typeface="微软雅黑" panose="020B0503020204020204" pitchFamily="34" charset="-122"/>
              </a:rPr>
              <a:t>     其阶码的差为</a:t>
            </a:r>
            <a:r>
              <a:rPr lang="en-US" altLang="zh-CN" sz="2000" dirty="0">
                <a:solidFill>
                  <a:srgbClr val="FF0066"/>
                </a:solidFill>
                <a:latin typeface="微软雅黑" panose="020B0503020204020204" pitchFamily="34" charset="-122"/>
                <a:ea typeface="微软雅黑" panose="020B0503020204020204" pitchFamily="34" charset="-122"/>
              </a:rPr>
              <a:t>142–127 = 15</a:t>
            </a:r>
            <a:r>
              <a:rPr lang="zh-CN" altLang="en-US" sz="2000" dirty="0">
                <a:solidFill>
                  <a:srgbClr val="FF0066"/>
                </a:solidFill>
                <a:latin typeface="微软雅黑" panose="020B0503020204020204" pitchFamily="34" charset="-122"/>
                <a:ea typeface="微软雅黑" panose="020B0503020204020204" pitchFamily="34" charset="-122"/>
              </a:rPr>
              <a:t>，正好等于</a:t>
            </a:r>
            <a:r>
              <a:rPr lang="en-US" altLang="zh-CN" sz="2000" dirty="0">
                <a:solidFill>
                  <a:srgbClr val="FF0066"/>
                </a:solidFill>
                <a:latin typeface="微软雅黑" panose="020B0503020204020204" pitchFamily="34" charset="-122"/>
                <a:ea typeface="微软雅黑" panose="020B0503020204020204" pitchFamily="34" charset="-122"/>
              </a:rPr>
              <a:t>10 – (–5) = 15</a:t>
            </a:r>
            <a:r>
              <a:rPr lang="zh-CN" altLang="en-US" sz="2000" dirty="0">
                <a:solidFill>
                  <a:srgbClr val="FF0066"/>
                </a:solidFill>
                <a:latin typeface="微软雅黑" panose="020B0503020204020204" pitchFamily="34" charset="-122"/>
                <a:ea typeface="微软雅黑" panose="020B0503020204020204" pitchFamily="34" charset="-122"/>
              </a:rPr>
              <a:t>。</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132099" name="Text Box 5"/>
          <p:cNvSpPr txBox="1"/>
          <p:nvPr/>
        </p:nvSpPr>
        <p:spPr>
          <a:xfrm>
            <a:off x="6248400" y="6305550"/>
            <a:ext cx="1771650" cy="336550"/>
          </a:xfrm>
          <a:prstGeom prst="rect">
            <a:avLst/>
          </a:prstGeom>
          <a:noFill/>
          <a:ln w="12700">
            <a:noFill/>
          </a:ln>
        </p:spPr>
        <p:txBody>
          <a:bodyPr anchor="t" anchorCtr="0">
            <a:spAutoFit/>
          </a:bodyPr>
          <a:p>
            <a:pPr eaLnBrk="0" hangingPunct="0">
              <a:spcBef>
                <a:spcPct val="50000"/>
              </a:spcBef>
            </a:pPr>
            <a:r>
              <a:rPr lang="en-US" altLang="zh-CN" dirty="0">
                <a:latin typeface="微软雅黑" panose="020B0503020204020204" pitchFamily="34" charset="-122"/>
                <a:ea typeface="微软雅黑" panose="020B0503020204020204" pitchFamily="34" charset="-122"/>
                <a:hlinkClick r:id="rId1" action="ppaction://hlinksldjump"/>
              </a:rPr>
              <a:t>BACK</a:t>
            </a:r>
            <a:endParaRPr lang="en-US" altLang="zh-CN" dirty="0">
              <a:latin typeface="微软雅黑" panose="020B0503020204020204" pitchFamily="34" charset="-122"/>
              <a:ea typeface="微软雅黑" panose="020B0503020204020204" pitchFamily="34" charset="-122"/>
            </a:endParaRPr>
          </a:p>
        </p:txBody>
      </p:sp>
      <p:sp>
        <p:nvSpPr>
          <p:cNvPr id="132100" name="Rectangle 6"/>
          <p:cNvSpPr/>
          <p:nvPr/>
        </p:nvSpPr>
        <p:spPr>
          <a:xfrm>
            <a:off x="300038" y="776288"/>
            <a:ext cx="7759700" cy="400050"/>
          </a:xfrm>
          <a:prstGeom prst="rect">
            <a:avLst/>
          </a:prstGeom>
          <a:noFill/>
          <a:ln w="12700">
            <a:noFill/>
          </a:ln>
        </p:spPr>
        <p:txBody>
          <a:bodyPr wrap="none" anchor="t" anchorCtr="0">
            <a:spAutoFit/>
          </a:bodyPr>
          <a:p>
            <a:pPr eaLnBrk="0" hangingPunct="0"/>
            <a:r>
              <a:rPr lang="zh-CN" altLang="pt-BR" sz="2000" dirty="0">
                <a:solidFill>
                  <a:schemeClr val="accent2"/>
                </a:solidFill>
                <a:latin typeface="微软雅黑" panose="020B0503020204020204" pitchFamily="34" charset="-122"/>
                <a:ea typeface="微软雅黑" panose="020B0503020204020204" pitchFamily="34" charset="-122"/>
              </a:rPr>
              <a:t>设</a:t>
            </a:r>
            <a:r>
              <a:rPr lang="pt-BR" altLang="zh-CN" sz="2000" dirty="0">
                <a:solidFill>
                  <a:schemeClr val="accent2"/>
                </a:solidFill>
                <a:latin typeface="微软雅黑" panose="020B0503020204020204" pitchFamily="34" charset="-122"/>
                <a:ea typeface="微软雅黑" panose="020B0503020204020204" pitchFamily="34" charset="-122"/>
              </a:rPr>
              <a:t>Ex</a:t>
            </a:r>
            <a:r>
              <a:rPr lang="zh-CN" altLang="pt-BR" sz="2000" dirty="0">
                <a:solidFill>
                  <a:schemeClr val="accent2"/>
                </a:solidFill>
                <a:latin typeface="微软雅黑" panose="020B0503020204020204" pitchFamily="34" charset="-122"/>
                <a:ea typeface="微软雅黑" panose="020B0503020204020204" pitchFamily="34" charset="-122"/>
              </a:rPr>
              <a:t>和</a:t>
            </a:r>
            <a:r>
              <a:rPr lang="pt-BR" altLang="zh-CN" sz="2000" dirty="0">
                <a:solidFill>
                  <a:schemeClr val="accent2"/>
                </a:solidFill>
                <a:latin typeface="微软雅黑" panose="020B0503020204020204" pitchFamily="34" charset="-122"/>
                <a:ea typeface="微软雅黑" panose="020B0503020204020204" pitchFamily="34" charset="-122"/>
              </a:rPr>
              <a:t>Ey</a:t>
            </a:r>
            <a:r>
              <a:rPr lang="zh-CN" altLang="pt-BR" sz="2000" dirty="0">
                <a:solidFill>
                  <a:schemeClr val="accent2"/>
                </a:solidFill>
                <a:latin typeface="微软雅黑" panose="020B0503020204020204" pitchFamily="34" charset="-122"/>
                <a:ea typeface="微软雅黑" panose="020B0503020204020204" pitchFamily="34" charset="-122"/>
              </a:rPr>
              <a:t>分别是两个操作数阶码的移码，</a:t>
            </a:r>
            <a:r>
              <a:rPr lang="pt-BR" altLang="zh-CN" sz="2000" dirty="0">
                <a:solidFill>
                  <a:schemeClr val="accent2"/>
                </a:solidFill>
                <a:latin typeface="微软雅黑" panose="020B0503020204020204" pitchFamily="34" charset="-122"/>
                <a:ea typeface="微软雅黑" panose="020B0503020204020204" pitchFamily="34" charset="-122"/>
              </a:rPr>
              <a:t>Eb</a:t>
            </a:r>
            <a:r>
              <a:rPr lang="zh-CN" altLang="pt-BR" sz="2000" dirty="0">
                <a:solidFill>
                  <a:schemeClr val="accent2"/>
                </a:solidFill>
                <a:latin typeface="微软雅黑" panose="020B0503020204020204" pitchFamily="34" charset="-122"/>
                <a:ea typeface="微软雅黑" panose="020B0503020204020204" pitchFamily="34" charset="-122"/>
              </a:rPr>
              <a:t>是结果阶码的移码表示</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4596">
                                            <p:txEl>
                                              <p:charRg st="37" end="67"/>
                                            </p:txEl>
                                          </p:spTgt>
                                        </p:tgtEl>
                                        <p:attrNameLst>
                                          <p:attrName>style.visibility</p:attrName>
                                        </p:attrNameLst>
                                      </p:cBhvr>
                                      <p:to>
                                        <p:strVal val="visible"/>
                                      </p:to>
                                    </p:set>
                                    <p:animEffect transition="in" filter="blinds(horizontal)">
                                      <p:cBhvr>
                                        <p:cTn id="7" dur="500"/>
                                        <p:tgtEl>
                                          <p:spTgt spid="494596">
                                            <p:txEl>
                                              <p:charRg st="37" end="6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4596">
                                            <p:txEl>
                                              <p:charRg st="67" end="108"/>
                                            </p:txEl>
                                          </p:spTgt>
                                        </p:tgtEl>
                                        <p:attrNameLst>
                                          <p:attrName>style.visibility</p:attrName>
                                        </p:attrNameLst>
                                      </p:cBhvr>
                                      <p:to>
                                        <p:strVal val="visible"/>
                                      </p:to>
                                    </p:set>
                                    <p:animEffect transition="in" filter="blinds(horizontal)">
                                      <p:cBhvr>
                                        <p:cTn id="12" dur="500"/>
                                        <p:tgtEl>
                                          <p:spTgt spid="494596">
                                            <p:txEl>
                                              <p:charRg st="67" end="10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94596">
                                            <p:txEl>
                                              <p:charRg st="108" end="135"/>
                                            </p:txEl>
                                          </p:spTgt>
                                        </p:tgtEl>
                                        <p:attrNameLst>
                                          <p:attrName>style.visibility</p:attrName>
                                        </p:attrNameLst>
                                      </p:cBhvr>
                                      <p:to>
                                        <p:strVal val="visible"/>
                                      </p:to>
                                    </p:set>
                                    <p:animEffect transition="in" filter="blinds(horizontal)">
                                      <p:cBhvr>
                                        <p:cTn id="17" dur="500"/>
                                        <p:tgtEl>
                                          <p:spTgt spid="494596">
                                            <p:txEl>
                                              <p:charRg st="108" end="13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4596">
                                            <p:txEl>
                                              <p:charRg st="135" end="158"/>
                                            </p:txEl>
                                          </p:spTgt>
                                        </p:tgtEl>
                                        <p:attrNameLst>
                                          <p:attrName>style.visibility</p:attrName>
                                        </p:attrNameLst>
                                      </p:cBhvr>
                                      <p:to>
                                        <p:strVal val="visible"/>
                                      </p:to>
                                    </p:set>
                                    <p:animEffect transition="in" filter="blinds(horizontal)">
                                      <p:cBhvr>
                                        <p:cTn id="22" dur="500"/>
                                        <p:tgtEl>
                                          <p:spTgt spid="494596">
                                            <p:txEl>
                                              <p:charRg st="135" end="15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94596">
                                            <p:txEl>
                                              <p:charRg st="158" end="217"/>
                                            </p:txEl>
                                          </p:spTgt>
                                        </p:tgtEl>
                                        <p:attrNameLst>
                                          <p:attrName>style.visibility</p:attrName>
                                        </p:attrNameLst>
                                      </p:cBhvr>
                                      <p:to>
                                        <p:strVal val="visible"/>
                                      </p:to>
                                    </p:set>
                                    <p:animEffect transition="in" filter="blinds(horizontal)">
                                      <p:cBhvr>
                                        <p:cTn id="27" dur="500"/>
                                        <p:tgtEl>
                                          <p:spTgt spid="494596">
                                            <p:txEl>
                                              <p:charRg st="158" end="21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94596">
                                            <p:txEl>
                                              <p:charRg st="217" end="259"/>
                                            </p:txEl>
                                          </p:spTgt>
                                        </p:tgtEl>
                                        <p:attrNameLst>
                                          <p:attrName>style.visibility</p:attrName>
                                        </p:attrNameLst>
                                      </p:cBhvr>
                                      <p:to>
                                        <p:strVal val="visible"/>
                                      </p:to>
                                    </p:set>
                                    <p:animEffect transition="in" filter="blinds(horizontal)">
                                      <p:cBhvr>
                                        <p:cTn id="32" dur="500"/>
                                        <p:tgtEl>
                                          <p:spTgt spid="494596">
                                            <p:txEl>
                                              <p:charRg st="217" end="25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94596">
                                            <p:txEl>
                                              <p:charRg st="259" end="310"/>
                                            </p:txEl>
                                          </p:spTgt>
                                        </p:tgtEl>
                                        <p:attrNameLst>
                                          <p:attrName>style.visibility</p:attrName>
                                        </p:attrNameLst>
                                      </p:cBhvr>
                                      <p:to>
                                        <p:strVal val="visible"/>
                                      </p:to>
                                    </p:set>
                                    <p:animEffect transition="in" filter="blinds(horizontal)">
                                      <p:cBhvr>
                                        <p:cTn id="37" dur="500"/>
                                        <p:tgtEl>
                                          <p:spTgt spid="494596">
                                            <p:txEl>
                                              <p:charRg st="259" end="3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94596">
                                            <p:txEl>
                                              <p:charRg st="310" end="372"/>
                                            </p:txEl>
                                          </p:spTgt>
                                        </p:tgtEl>
                                        <p:attrNameLst>
                                          <p:attrName>style.visibility</p:attrName>
                                        </p:attrNameLst>
                                      </p:cBhvr>
                                      <p:to>
                                        <p:strVal val="visible"/>
                                      </p:to>
                                    </p:set>
                                    <p:animEffect transition="in" filter="blinds(horizontal)">
                                      <p:cBhvr>
                                        <p:cTn id="42" dur="500"/>
                                        <p:tgtEl>
                                          <p:spTgt spid="494596">
                                            <p:txEl>
                                              <p:charRg st="310" end="37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94596">
                                            <p:txEl>
                                              <p:charRg st="372" end="414"/>
                                            </p:txEl>
                                          </p:spTgt>
                                        </p:tgtEl>
                                        <p:attrNameLst>
                                          <p:attrName>style.visibility</p:attrName>
                                        </p:attrNameLst>
                                      </p:cBhvr>
                                      <p:to>
                                        <p:strVal val="visible"/>
                                      </p:to>
                                    </p:set>
                                    <p:animEffect transition="in" filter="blinds(horizontal)">
                                      <p:cBhvr>
                                        <p:cTn id="47" dur="500"/>
                                        <p:tgtEl>
                                          <p:spTgt spid="494596">
                                            <p:txEl>
                                              <p:charRg st="372" end="41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94596">
                                            <p:txEl>
                                              <p:charRg st="414" end="458"/>
                                            </p:txEl>
                                          </p:spTgt>
                                        </p:tgtEl>
                                        <p:attrNameLst>
                                          <p:attrName>style.visibility</p:attrName>
                                        </p:attrNameLst>
                                      </p:cBhvr>
                                      <p:to>
                                        <p:strVal val="visible"/>
                                      </p:to>
                                    </p:set>
                                    <p:animEffect transition="in" filter="blinds(horizontal)">
                                      <p:cBhvr>
                                        <p:cTn id="52" dur="500"/>
                                        <p:tgtEl>
                                          <p:spTgt spid="494596">
                                            <p:txEl>
                                              <p:charRg st="414" end="4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Rectangle 2"/>
          <p:cNvSpPr>
            <a:spLocks noGrp="1"/>
          </p:cNvSpPr>
          <p:nvPr>
            <p:ph type="title" idx="4294967295"/>
          </p:nvPr>
        </p:nvSpPr>
        <p:spPr>
          <a:xfrm>
            <a:off x="711200" y="114300"/>
            <a:ext cx="7640638" cy="479425"/>
          </a:xfrm>
          <a:ln/>
        </p:spPr>
        <p:txBody>
          <a:bodyPr vert="horz" wrap="square" lIns="63500" tIns="25400" rIns="63500" bIns="25400" anchor="t" anchorCtr="0">
            <a:spAutoFit/>
          </a:bodyPr>
          <a:p>
            <a:r>
              <a:rPr lang="en-US" altLang="zh-CN" dirty="0">
                <a:ea typeface="宋体" panose="02010600030101010101" pitchFamily="2" charset="-122"/>
              </a:rPr>
              <a:t>Extra Bits(</a:t>
            </a:r>
            <a:r>
              <a:rPr lang="zh-CN" altLang="en-US" dirty="0">
                <a:ea typeface="宋体" panose="02010600030101010101" pitchFamily="2" charset="-122"/>
              </a:rPr>
              <a:t>附加位</a:t>
            </a:r>
            <a:r>
              <a:rPr lang="en-US" altLang="zh-CN" dirty="0">
                <a:ea typeface="宋体" panose="02010600030101010101" pitchFamily="2" charset="-122"/>
              </a:rPr>
              <a:t>)</a:t>
            </a:r>
            <a:endParaRPr lang="zh-CN" altLang="en-US" dirty="0">
              <a:ea typeface="宋体" panose="02010600030101010101" pitchFamily="2" charset="-122"/>
            </a:endParaRPr>
          </a:p>
        </p:txBody>
      </p:sp>
      <p:sp>
        <p:nvSpPr>
          <p:cNvPr id="192515" name="Rectangle 3"/>
          <p:cNvSpPr/>
          <p:nvPr/>
        </p:nvSpPr>
        <p:spPr>
          <a:xfrm>
            <a:off x="206375" y="773113"/>
            <a:ext cx="8758238" cy="1863725"/>
          </a:xfrm>
          <a:prstGeom prst="rect">
            <a:avLst/>
          </a:prstGeom>
          <a:noFill/>
          <a:ln w="12700">
            <a:noFill/>
          </a:ln>
        </p:spPr>
        <p:txBody>
          <a:bodyPr lIns="63500" tIns="25400" rIns="0" bIns="25400" anchor="t" anchorCtr="0">
            <a:spAutoFit/>
          </a:bodyPr>
          <a:p>
            <a:pPr marL="342900" indent="-342900" eaLnBrk="0" hangingPunct="0">
              <a:lnSpc>
                <a:spcPct val="110000"/>
              </a:lnSpc>
              <a:spcBef>
                <a:spcPct val="15000"/>
              </a:spcBef>
              <a:buClrTx/>
              <a:buFontTx/>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Floating Point numbers are like piles of sand; every time you move one you lose a little sand, but you pick up a little dirt.“</a:t>
            </a:r>
            <a:endParaRPr lang="en-US" altLang="zh-CN" sz="2000" dirty="0">
              <a:latin typeface="微软雅黑" panose="020B0503020204020204" pitchFamily="34" charset="-122"/>
              <a:ea typeface="微软雅黑" panose="020B0503020204020204" pitchFamily="34" charset="-122"/>
            </a:endParaRPr>
          </a:p>
          <a:p>
            <a:pPr marL="342900" indent="-342900" eaLnBrk="0" hangingPunct="0">
              <a:lnSpc>
                <a:spcPct val="110000"/>
              </a:lnSpc>
              <a:spcBef>
                <a:spcPct val="15000"/>
              </a:spcBef>
              <a:buClrTx/>
              <a:buFontTx/>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浮点数就像一堆沙，每动一次就会失去一点‘沙</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，并捡回一点 ‘脏’”</a:t>
            </a:r>
            <a:r>
              <a:rPr lang="zh-CN" altLang="en-US" sz="2000" dirty="0">
                <a:solidFill>
                  <a:schemeClr val="accent2"/>
                </a:solidFill>
                <a:latin typeface="微软雅黑" panose="020B0503020204020204" pitchFamily="34" charset="-122"/>
                <a:ea typeface="微软雅黑" panose="020B0503020204020204" pitchFamily="34" charset="-122"/>
              </a:rPr>
              <a:t> </a:t>
            </a:r>
            <a:endParaRPr lang="zh-CN" altLang="en-US" sz="2000" dirty="0">
              <a:solidFill>
                <a:schemeClr val="accent2"/>
              </a:solidFill>
              <a:latin typeface="微软雅黑" panose="020B0503020204020204" pitchFamily="34" charset="-122"/>
              <a:ea typeface="微软雅黑" panose="020B0503020204020204" pitchFamily="34" charset="-122"/>
            </a:endParaRPr>
          </a:p>
          <a:p>
            <a:pPr marL="342900" indent="-342900" eaLnBrk="0" hangingPunct="0">
              <a:lnSpc>
                <a:spcPct val="110000"/>
              </a:lnSpc>
              <a:spcBef>
                <a:spcPct val="15000"/>
              </a:spcBef>
              <a:buClrTx/>
              <a:buFontTx/>
            </a:pPr>
            <a:r>
              <a:rPr lang="zh-CN" altLang="en-US" sz="2000" dirty="0">
                <a:solidFill>
                  <a:schemeClr val="accent2"/>
                </a:solidFill>
                <a:latin typeface="微软雅黑" panose="020B0503020204020204" pitchFamily="34" charset="-122"/>
                <a:ea typeface="微软雅黑" panose="020B0503020204020204" pitchFamily="34" charset="-122"/>
              </a:rPr>
              <a:t>如何才能使失去的“沙” 和捡回的“脏”都尽量少呢？</a:t>
            </a:r>
            <a:endParaRPr lang="zh-CN" altLang="en-US" sz="2000" dirty="0">
              <a:solidFill>
                <a:schemeClr val="accent2"/>
              </a:solidFill>
              <a:latin typeface="微软雅黑" panose="020B0503020204020204" pitchFamily="34" charset="-122"/>
              <a:ea typeface="微软雅黑" panose="020B0503020204020204" pitchFamily="34" charset="-122"/>
            </a:endParaRPr>
          </a:p>
          <a:p>
            <a:pPr marL="342900" indent="-342900" eaLnBrk="0" hangingPunct="0">
              <a:lnSpc>
                <a:spcPct val="110000"/>
              </a:lnSpc>
              <a:spcBef>
                <a:spcPct val="15000"/>
              </a:spcBef>
              <a:buClrTx/>
              <a:buFontTx/>
            </a:pPr>
            <a:r>
              <a:rPr lang="zh-CN" altLang="en-US" sz="2000" dirty="0">
                <a:solidFill>
                  <a:srgbClr val="CC0000"/>
                </a:solidFill>
                <a:latin typeface="微软雅黑" panose="020B0503020204020204" pitchFamily="34" charset="-122"/>
                <a:ea typeface="微软雅黑" panose="020B0503020204020204" pitchFamily="34" charset="-122"/>
              </a:rPr>
              <a:t>加多少附加位才合适？</a:t>
            </a:r>
            <a:endParaRPr lang="en-US" altLang="zh-CN" sz="2000" dirty="0">
              <a:solidFill>
                <a:srgbClr val="CC0000"/>
              </a:solidFill>
              <a:latin typeface="微软雅黑" panose="020B0503020204020204" pitchFamily="34" charset="-122"/>
              <a:ea typeface="微软雅黑" panose="020B0503020204020204" pitchFamily="34" charset="-122"/>
            </a:endParaRPr>
          </a:p>
        </p:txBody>
      </p:sp>
      <p:sp>
        <p:nvSpPr>
          <p:cNvPr id="192518" name="Rectangle 6"/>
          <p:cNvSpPr>
            <a:spLocks noGrp="1"/>
          </p:cNvSpPr>
          <p:nvPr>
            <p:ph type="body" idx="4294967295"/>
          </p:nvPr>
        </p:nvSpPr>
        <p:spPr>
          <a:xfrm>
            <a:off x="476250" y="4373563"/>
            <a:ext cx="8345488" cy="1365250"/>
          </a:xfrm>
          <a:ln/>
        </p:spPr>
        <p:txBody>
          <a:bodyPr vert="horz" wrap="square" lIns="63500" tIns="25400" rIns="63500" bIns="25400" anchor="t" anchorCtr="0">
            <a:spAutoFit/>
          </a:bodyPr>
          <a:p>
            <a:pPr>
              <a:spcBef>
                <a:spcPct val="41000"/>
              </a:spcBef>
              <a:buFontTx/>
              <a:buNone/>
            </a:pPr>
            <a:r>
              <a:rPr lang="en-US" altLang="zh-CN" sz="2100" dirty="0">
                <a:solidFill>
                  <a:srgbClr val="CC0000"/>
                </a:solidFill>
                <a:latin typeface="微软雅黑" panose="020B0503020204020204" pitchFamily="34" charset="-122"/>
                <a:ea typeface="微软雅黑" panose="020B0503020204020204" pitchFamily="34" charset="-122"/>
              </a:rPr>
              <a:t>IEEE754</a:t>
            </a:r>
            <a:r>
              <a:rPr lang="zh-CN" altLang="en-US" sz="2100" dirty="0">
                <a:solidFill>
                  <a:srgbClr val="CC0000"/>
                </a:solidFill>
                <a:latin typeface="微软雅黑" panose="020B0503020204020204" pitchFamily="34" charset="-122"/>
                <a:ea typeface="微软雅黑" panose="020B0503020204020204" pitchFamily="34" charset="-122"/>
              </a:rPr>
              <a:t>规定</a:t>
            </a:r>
            <a:r>
              <a:rPr lang="en-US" altLang="zh-CN" sz="2100" dirty="0">
                <a:solidFill>
                  <a:srgbClr val="CC0000"/>
                </a:solidFill>
                <a:latin typeface="微软雅黑" panose="020B0503020204020204" pitchFamily="34" charset="-122"/>
                <a:ea typeface="微软雅黑" panose="020B0503020204020204" pitchFamily="34" charset="-122"/>
              </a:rPr>
              <a:t>: </a:t>
            </a:r>
            <a:r>
              <a:rPr lang="zh-CN" altLang="en-US" sz="2100" dirty="0">
                <a:solidFill>
                  <a:srgbClr val="CC0000"/>
                </a:solidFill>
                <a:latin typeface="微软雅黑" panose="020B0503020204020204" pitchFamily="34" charset="-122"/>
                <a:ea typeface="微软雅黑" panose="020B0503020204020204" pitchFamily="34" charset="-122"/>
              </a:rPr>
              <a:t>中间结果须在右边加</a:t>
            </a:r>
            <a:r>
              <a:rPr lang="en-US" altLang="zh-CN" sz="2100" dirty="0">
                <a:solidFill>
                  <a:srgbClr val="CC0000"/>
                </a:solidFill>
                <a:latin typeface="微软雅黑" panose="020B0503020204020204" pitchFamily="34" charset="-122"/>
                <a:ea typeface="微软雅黑" panose="020B0503020204020204" pitchFamily="34" charset="-122"/>
              </a:rPr>
              <a:t>2</a:t>
            </a:r>
            <a:r>
              <a:rPr lang="zh-CN" altLang="en-US" sz="2100" dirty="0">
                <a:solidFill>
                  <a:srgbClr val="CC0000"/>
                </a:solidFill>
                <a:latin typeface="微软雅黑" panose="020B0503020204020204" pitchFamily="34" charset="-122"/>
                <a:ea typeface="微软雅黑" panose="020B0503020204020204" pitchFamily="34" charset="-122"/>
              </a:rPr>
              <a:t>个附加位 （</a:t>
            </a:r>
            <a:r>
              <a:rPr lang="en-US" altLang="zh-CN" sz="2100" dirty="0">
                <a:solidFill>
                  <a:srgbClr val="CC0000"/>
                </a:solidFill>
                <a:latin typeface="微软雅黑" panose="020B0503020204020204" pitchFamily="34" charset="-122"/>
                <a:ea typeface="微软雅黑" panose="020B0503020204020204" pitchFamily="34" charset="-122"/>
              </a:rPr>
              <a:t>guard &amp; round</a:t>
            </a:r>
            <a:r>
              <a:rPr lang="zh-CN" altLang="en-US" sz="2100" dirty="0">
                <a:solidFill>
                  <a:srgbClr val="CC0000"/>
                </a:solidFill>
                <a:latin typeface="微软雅黑" panose="020B0503020204020204" pitchFamily="34" charset="-122"/>
                <a:ea typeface="微软雅黑" panose="020B0503020204020204" pitchFamily="34" charset="-122"/>
              </a:rPr>
              <a:t>）</a:t>
            </a:r>
            <a:endParaRPr lang="zh-CN" altLang="en-US" sz="2100" dirty="0">
              <a:solidFill>
                <a:srgbClr val="CC0000"/>
              </a:solidFill>
              <a:latin typeface="微软雅黑" panose="020B0503020204020204" pitchFamily="34" charset="-122"/>
              <a:ea typeface="微软雅黑" panose="020B0503020204020204" pitchFamily="34" charset="-122"/>
            </a:endParaRPr>
          </a:p>
          <a:p>
            <a:pPr>
              <a:buFontTx/>
              <a:buNone/>
            </a:pPr>
            <a:r>
              <a:rPr lang="en-US" altLang="zh-CN" i="1" dirty="0">
                <a:solidFill>
                  <a:schemeClr val="accent2"/>
                </a:solidFill>
                <a:ea typeface="黑体" panose="02010609060101010101" pitchFamily="49" charset="-122"/>
              </a:rPr>
              <a:t>  </a:t>
            </a:r>
            <a:r>
              <a:rPr lang="en-US" altLang="zh-CN" dirty="0">
                <a:solidFill>
                  <a:schemeClr val="accent2"/>
                </a:solidFill>
                <a:latin typeface="微软雅黑" panose="020B0503020204020204" pitchFamily="34" charset="-122"/>
                <a:ea typeface="微软雅黑" panose="020B0503020204020204" pitchFamily="34" charset="-122"/>
              </a:rPr>
              <a:t>Guard (</a:t>
            </a:r>
            <a:r>
              <a:rPr lang="zh-CN" altLang="en-US" dirty="0">
                <a:solidFill>
                  <a:schemeClr val="accent2"/>
                </a:solidFill>
                <a:latin typeface="微软雅黑" panose="020B0503020204020204" pitchFamily="34" charset="-122"/>
                <a:ea typeface="微软雅黑" panose="020B0503020204020204" pitchFamily="34" charset="-122"/>
              </a:rPr>
              <a:t>保护位</a:t>
            </a:r>
            <a:r>
              <a:rPr lang="en-US" altLang="zh-CN" dirty="0">
                <a:solidFill>
                  <a:schemeClr val="accent2"/>
                </a:solidFill>
                <a:latin typeface="微软雅黑" panose="020B0503020204020204" pitchFamily="34" charset="-122"/>
                <a:ea typeface="微软雅黑" panose="020B0503020204020204" pitchFamily="34" charset="-122"/>
              </a:rPr>
              <a:t>)</a:t>
            </a:r>
            <a:r>
              <a:rPr lang="zh-CN" altLang="en-US" dirty="0">
                <a:solidFill>
                  <a:schemeClr val="accent2"/>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significand</a:t>
            </a:r>
            <a:r>
              <a:rPr lang="zh-CN" altLang="en-US" dirty="0">
                <a:latin typeface="微软雅黑" panose="020B0503020204020204" pitchFamily="34" charset="-122"/>
                <a:ea typeface="微软雅黑" panose="020B0503020204020204" pitchFamily="34" charset="-122"/>
              </a:rPr>
              <a:t>右边的位</a:t>
            </a:r>
            <a:endParaRPr lang="zh-CN" altLang="en-US" dirty="0">
              <a:latin typeface="微软雅黑" panose="020B0503020204020204" pitchFamily="34" charset="-122"/>
              <a:ea typeface="微软雅黑" panose="020B0503020204020204" pitchFamily="34" charset="-122"/>
            </a:endParaRPr>
          </a:p>
          <a:p>
            <a:pPr>
              <a:buFontTx/>
              <a:buNone/>
            </a:pPr>
            <a:r>
              <a:rPr lang="zh-CN" altLang="en-US" dirty="0">
                <a:solidFill>
                  <a:srgbClr val="0000FF"/>
                </a:solidFill>
                <a:latin typeface="微软雅黑" panose="020B0503020204020204" pitchFamily="34" charset="-122"/>
                <a:ea typeface="微软雅黑" panose="020B0503020204020204" pitchFamily="34" charset="-122"/>
              </a:rPr>
              <a:t>  </a:t>
            </a:r>
            <a:r>
              <a:rPr lang="en-US" altLang="zh-CN" dirty="0">
                <a:solidFill>
                  <a:schemeClr val="accent2"/>
                </a:solidFill>
                <a:latin typeface="微软雅黑" panose="020B0503020204020204" pitchFamily="34" charset="-122"/>
                <a:ea typeface="微软雅黑" panose="020B0503020204020204" pitchFamily="34" charset="-122"/>
              </a:rPr>
              <a:t>Round (</a:t>
            </a:r>
            <a:r>
              <a:rPr lang="zh-CN" altLang="en-US" dirty="0">
                <a:solidFill>
                  <a:schemeClr val="accent2"/>
                </a:solidFill>
                <a:latin typeface="微软雅黑" panose="020B0503020204020204" pitchFamily="34" charset="-122"/>
                <a:ea typeface="微软雅黑" panose="020B0503020204020204" pitchFamily="34" charset="-122"/>
              </a:rPr>
              <a:t>舍入位</a:t>
            </a:r>
            <a:r>
              <a:rPr lang="en-US" altLang="zh-CN" dirty="0">
                <a:solidFill>
                  <a:schemeClr val="accent2"/>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在保护位右边的位</a:t>
            </a:r>
            <a:endParaRPr lang="zh-CN" altLang="en-US" dirty="0">
              <a:latin typeface="微软雅黑" panose="020B0503020204020204" pitchFamily="34" charset="-122"/>
              <a:ea typeface="微软雅黑" panose="020B0503020204020204" pitchFamily="34" charset="-122"/>
            </a:endParaRPr>
          </a:p>
        </p:txBody>
      </p:sp>
      <p:sp>
        <p:nvSpPr>
          <p:cNvPr id="192516" name="Rectangle 4"/>
          <p:cNvSpPr/>
          <p:nvPr/>
        </p:nvSpPr>
        <p:spPr>
          <a:xfrm>
            <a:off x="338138" y="2738438"/>
            <a:ext cx="8636000" cy="1487487"/>
          </a:xfrm>
          <a:prstGeom prst="rect">
            <a:avLst/>
          </a:prstGeom>
          <a:noFill/>
          <a:ln w="12700">
            <a:noFill/>
          </a:ln>
        </p:spPr>
        <p:txBody>
          <a:bodyPr lIns="63500" tIns="25400" rIns="63500" bIns="25400" anchor="t" anchorCtr="0">
            <a:spAutoFit/>
          </a:bodyPr>
          <a:p>
            <a:pPr marL="342900" indent="-342900" defTabSz="914400" eaLnBrk="0" hangingPunct="0">
              <a:lnSpc>
                <a:spcPct val="87000"/>
              </a:lnSpc>
              <a:spcBef>
                <a:spcPct val="41000"/>
              </a:spcBef>
              <a:buClrTx/>
              <a:buFontTx/>
              <a:tabLst>
                <a:tab pos="939800" algn="l"/>
                <a:tab pos="3048000" algn="l"/>
                <a:tab pos="5257800" algn="l"/>
              </a:tabLst>
            </a:pPr>
            <a:r>
              <a:rPr lang="en-US" altLang="zh-CN" sz="2000" dirty="0">
                <a:latin typeface="Arial" panose="020B0604020202020204" pitchFamily="34" charset="0"/>
              </a:rPr>
              <a:t>Add/Sub:</a:t>
            </a:r>
            <a:endParaRPr lang="en-US" altLang="zh-CN" sz="2000" dirty="0">
              <a:latin typeface="Arial" panose="020B0604020202020204" pitchFamily="34" charset="0"/>
            </a:endParaRPr>
          </a:p>
          <a:p>
            <a:pPr marL="342900" indent="-342900" defTabSz="914400" eaLnBrk="0" hangingPunct="0">
              <a:lnSpc>
                <a:spcPct val="87000"/>
              </a:lnSpc>
              <a:spcBef>
                <a:spcPct val="41000"/>
              </a:spcBef>
              <a:buClrTx/>
              <a:buFontTx/>
              <a:tabLst>
                <a:tab pos="939800" algn="l"/>
                <a:tab pos="3048000" algn="l"/>
                <a:tab pos="5257800" algn="l"/>
              </a:tabLst>
            </a:pPr>
            <a:r>
              <a:rPr lang="en-US" altLang="zh-CN" sz="2000" dirty="0">
                <a:latin typeface="Arial" panose="020B0604020202020204" pitchFamily="34" charset="0"/>
              </a:rPr>
              <a:t>		 1.xxxxx      1.xxxxx              1.xxxxx		      1.xxxxxxxx</a:t>
            </a:r>
            <a:endParaRPr lang="en-US" altLang="zh-CN" sz="2000" dirty="0">
              <a:latin typeface="Arial" panose="020B0604020202020204" pitchFamily="34" charset="0"/>
            </a:endParaRPr>
          </a:p>
          <a:p>
            <a:pPr marL="342900" indent="-342900" defTabSz="914400" eaLnBrk="0" hangingPunct="0">
              <a:lnSpc>
                <a:spcPct val="87000"/>
              </a:lnSpc>
              <a:spcBef>
                <a:spcPct val="41000"/>
              </a:spcBef>
              <a:buClrTx/>
              <a:buFontTx/>
              <a:tabLst>
                <a:tab pos="939800" algn="l"/>
                <a:tab pos="3048000" algn="l"/>
                <a:tab pos="5257800" algn="l"/>
              </a:tabLst>
            </a:pPr>
            <a:r>
              <a:rPr lang="en-US" altLang="zh-CN" sz="2000" dirty="0">
                <a:latin typeface="Arial" panose="020B0604020202020204" pitchFamily="34" charset="0"/>
              </a:rPr>
              <a:t>	    +	 </a:t>
            </a:r>
            <a:r>
              <a:rPr lang="en-US" altLang="zh-CN" sz="2000" u="sng" dirty="0">
                <a:latin typeface="Arial" panose="020B0604020202020204" pitchFamily="34" charset="0"/>
              </a:rPr>
              <a:t>1.xxxxx      0.001xxxxx        0.01xxxxx	     -1.xxxxxxxx      </a:t>
            </a:r>
            <a:endParaRPr lang="en-US" altLang="zh-CN" sz="2000" u="sng" dirty="0">
              <a:latin typeface="Arial" panose="020B0604020202020204" pitchFamily="34" charset="0"/>
            </a:endParaRPr>
          </a:p>
          <a:p>
            <a:pPr marL="342900" indent="-342900" defTabSz="914400" eaLnBrk="0" hangingPunct="0">
              <a:lnSpc>
                <a:spcPct val="87000"/>
              </a:lnSpc>
              <a:spcBef>
                <a:spcPct val="41000"/>
              </a:spcBef>
              <a:buClrTx/>
              <a:buFontTx/>
              <a:tabLst>
                <a:tab pos="939800" algn="l"/>
                <a:tab pos="3048000" algn="l"/>
                <a:tab pos="5257800" algn="l"/>
              </a:tabLst>
            </a:pPr>
            <a:r>
              <a:rPr lang="en-US" altLang="zh-CN" sz="2000" dirty="0">
                <a:latin typeface="Arial" panose="020B0604020202020204" pitchFamily="34" charset="0"/>
              </a:rPr>
              <a:t>	        1x.xxxx</a:t>
            </a:r>
            <a:r>
              <a:rPr lang="en-US" altLang="zh-CN" sz="2000" dirty="0">
                <a:solidFill>
                  <a:srgbClr val="CC0000"/>
                </a:solidFill>
                <a:latin typeface="Arial" panose="020B0604020202020204" pitchFamily="34" charset="0"/>
              </a:rPr>
              <a:t>y</a:t>
            </a:r>
            <a:r>
              <a:rPr lang="en-US" altLang="zh-CN" sz="2000" dirty="0">
                <a:latin typeface="Arial" panose="020B0604020202020204" pitchFamily="34" charset="0"/>
              </a:rPr>
              <a:t>      1.xxxxx</a:t>
            </a:r>
            <a:r>
              <a:rPr lang="en-US" altLang="zh-CN" sz="2000" dirty="0">
                <a:solidFill>
                  <a:srgbClr val="CC0000"/>
                </a:solidFill>
                <a:latin typeface="Arial" panose="020B0604020202020204" pitchFamily="34" charset="0"/>
              </a:rPr>
              <a:t>yyy</a:t>
            </a:r>
            <a:r>
              <a:rPr lang="en-US" altLang="zh-CN" sz="2000" dirty="0">
                <a:latin typeface="Arial" panose="020B0604020202020204" pitchFamily="34" charset="0"/>
              </a:rPr>
              <a:t>      1x.xxxx</a:t>
            </a:r>
            <a:r>
              <a:rPr lang="en-US" altLang="zh-CN" sz="2000" dirty="0">
                <a:solidFill>
                  <a:srgbClr val="CC0000"/>
                </a:solidFill>
                <a:latin typeface="Arial" panose="020B0604020202020204" pitchFamily="34" charset="0"/>
              </a:rPr>
              <a:t>yyy      </a:t>
            </a:r>
            <a:r>
              <a:rPr lang="en-US" altLang="zh-CN" sz="2000" dirty="0">
                <a:latin typeface="Arial" panose="020B0604020202020204" pitchFamily="34" charset="0"/>
              </a:rPr>
              <a:t>0.0…0xxxx</a:t>
            </a:r>
            <a:endParaRPr lang="zh-CN" altLang="en-US" sz="2000" dirty="0">
              <a:latin typeface="Arial" panose="020B0604020202020204" pitchFamily="34" charset="0"/>
              <a:ea typeface="宋体" panose="02010600030101010101" pitchFamily="2" charset="-122"/>
            </a:endParaRPr>
          </a:p>
        </p:txBody>
      </p:sp>
      <p:sp>
        <p:nvSpPr>
          <p:cNvPr id="192520" name="Rectangle 8"/>
          <p:cNvSpPr/>
          <p:nvPr/>
        </p:nvSpPr>
        <p:spPr>
          <a:xfrm>
            <a:off x="388938" y="5826125"/>
            <a:ext cx="8375650" cy="854075"/>
          </a:xfrm>
          <a:prstGeom prst="rect">
            <a:avLst/>
          </a:prstGeom>
          <a:noFill/>
          <a:ln w="12700">
            <a:noFill/>
          </a:ln>
        </p:spPr>
        <p:txBody>
          <a:bodyPr anchor="t" anchorCtr="0">
            <a:spAutoFit/>
          </a:bodyPr>
          <a:p>
            <a:pPr eaLnBrk="0" hangingPunct="0">
              <a:lnSpc>
                <a:spcPct val="115000"/>
              </a:lnSpc>
              <a:spcBef>
                <a:spcPct val="20000"/>
              </a:spcBef>
              <a:buClrTx/>
              <a:buFontTx/>
            </a:pPr>
            <a:r>
              <a:rPr lang="zh-CN" altLang="en-US" sz="2000" dirty="0">
                <a:solidFill>
                  <a:srgbClr val="0033CC"/>
                </a:solidFill>
                <a:latin typeface="微软雅黑" panose="020B0503020204020204" pitchFamily="34" charset="-122"/>
                <a:ea typeface="微软雅黑" panose="020B0503020204020204" pitchFamily="34" charset="-122"/>
              </a:rPr>
              <a:t>附加位的作用</a:t>
            </a:r>
            <a:r>
              <a:rPr lang="zh-CN" altLang="en-US" sz="2000" dirty="0">
                <a:latin typeface="微软雅黑" panose="020B0503020204020204" pitchFamily="34" charset="-122"/>
                <a:ea typeface="微软雅黑" panose="020B0503020204020204" pitchFamily="34" charset="-122"/>
              </a:rPr>
              <a:t>：用以保护对阶时右移的位或运算的中间结果。</a:t>
            </a:r>
            <a:endParaRPr lang="zh-CN" altLang="en-US" sz="2000" dirty="0">
              <a:latin typeface="微软雅黑" panose="020B0503020204020204" pitchFamily="34" charset="-122"/>
              <a:ea typeface="微软雅黑" panose="020B0503020204020204" pitchFamily="34" charset="-122"/>
            </a:endParaRPr>
          </a:p>
          <a:p>
            <a:pPr eaLnBrk="0" hangingPunct="0">
              <a:lnSpc>
                <a:spcPct val="115000"/>
              </a:lnSpc>
              <a:spcBef>
                <a:spcPct val="20000"/>
              </a:spcBef>
              <a:buClrTx/>
              <a:buFontTx/>
            </a:pPr>
            <a:r>
              <a:rPr lang="zh-CN" altLang="en-US" sz="2000" dirty="0">
                <a:solidFill>
                  <a:srgbClr val="008000"/>
                </a:solidFill>
                <a:latin typeface="微软雅黑" panose="020B0503020204020204" pitchFamily="34" charset="-122"/>
                <a:ea typeface="微软雅黑" panose="020B0503020204020204" pitchFamily="34" charset="-122"/>
              </a:rPr>
              <a:t>附加位的处理</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①左规时被移到</a:t>
            </a:r>
            <a:r>
              <a:rPr lang="en-US" altLang="zh-CN" sz="2000" dirty="0">
                <a:latin typeface="微软雅黑" panose="020B0503020204020204" pitchFamily="34" charset="-122"/>
                <a:ea typeface="微软雅黑" panose="020B0503020204020204" pitchFamily="34" charset="-122"/>
              </a:rPr>
              <a:t>significand</a:t>
            </a:r>
            <a:r>
              <a:rPr lang="zh-CN" altLang="en-US" sz="2000" dirty="0">
                <a:latin typeface="微软雅黑" panose="020B0503020204020204" pitchFamily="34" charset="-122"/>
                <a:ea typeface="微软雅黑" panose="020B0503020204020204" pitchFamily="34" charset="-122"/>
              </a:rPr>
              <a:t>中</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② 作为舍入的依据。</a:t>
            </a:r>
            <a:endParaRPr lang="zh-CN" altLang="en-US" sz="2000" dirty="0">
              <a:latin typeface="微软雅黑" panose="020B0503020204020204" pitchFamily="34" charset="-122"/>
              <a:ea typeface="微软雅黑" panose="020B0503020204020204" pitchFamily="34" charset="-122"/>
            </a:endParaRPr>
          </a:p>
        </p:txBody>
      </p:sp>
      <p:sp>
        <p:nvSpPr>
          <p:cNvPr id="192523" name="Text Box 11"/>
          <p:cNvSpPr txBox="1"/>
          <p:nvPr/>
        </p:nvSpPr>
        <p:spPr>
          <a:xfrm>
            <a:off x="6507163" y="1854200"/>
            <a:ext cx="2430462" cy="427038"/>
          </a:xfrm>
          <a:prstGeom prst="rect">
            <a:avLst/>
          </a:prstGeom>
          <a:noFill/>
          <a:ln w="12700">
            <a:noFill/>
          </a:ln>
        </p:spPr>
        <p:txBody>
          <a:bodyPr anchor="t" anchorCtr="0">
            <a:spAutoFit/>
          </a:bodyPr>
          <a:p>
            <a:pPr eaLnBrk="0" hangingPunct="0">
              <a:spcBef>
                <a:spcPct val="50000"/>
              </a:spcBef>
              <a:buClrTx/>
              <a:buFontTx/>
            </a:pPr>
            <a:r>
              <a:rPr lang="zh-CN" altLang="en-US" sz="2200" dirty="0">
                <a:solidFill>
                  <a:srgbClr val="FF0066"/>
                </a:solidFill>
                <a:latin typeface="Arial" panose="020B0604020202020204" pitchFamily="34" charset="0"/>
                <a:ea typeface="微软雅黑" panose="020B0503020204020204" pitchFamily="34" charset="-122"/>
              </a:rPr>
              <a:t>在后面加附加位！</a:t>
            </a:r>
            <a:endParaRPr lang="zh-CN" altLang="en-US" sz="2200" dirty="0">
              <a:solidFill>
                <a:srgbClr val="FF0066"/>
              </a:solidFill>
              <a:latin typeface="Arial" panose="020B0604020202020204" pitchFamily="34" charset="0"/>
              <a:ea typeface="微软雅黑" panose="020B0503020204020204" pitchFamily="34" charset="-122"/>
            </a:endParaRPr>
          </a:p>
        </p:txBody>
      </p:sp>
      <p:sp>
        <p:nvSpPr>
          <p:cNvPr id="192524" name="Text Box 12"/>
          <p:cNvSpPr txBox="1"/>
          <p:nvPr/>
        </p:nvSpPr>
        <p:spPr>
          <a:xfrm>
            <a:off x="3086100" y="2484438"/>
            <a:ext cx="3838575" cy="396875"/>
          </a:xfrm>
          <a:prstGeom prst="rect">
            <a:avLst/>
          </a:prstGeom>
          <a:noFill/>
          <a:ln w="12700">
            <a:noFill/>
          </a:ln>
        </p:spPr>
        <p:txBody>
          <a:bodyPr anchor="t" anchorCtr="0">
            <a:spAutoFit/>
          </a:bodyPr>
          <a:p>
            <a:pPr eaLnBrk="0" hangingPunct="0">
              <a:spcBef>
                <a:spcPct val="50000"/>
              </a:spcBef>
              <a:buClrTx/>
              <a:buFontTx/>
            </a:pPr>
            <a:r>
              <a:rPr lang="zh-CN" altLang="en-US" sz="2000" dirty="0">
                <a:solidFill>
                  <a:schemeClr val="accent2"/>
                </a:solidFill>
                <a:latin typeface="Arial" panose="020B0604020202020204" pitchFamily="34" charset="0"/>
                <a:ea typeface="微软雅黑" panose="020B0503020204020204" pitchFamily="34" charset="-122"/>
              </a:rPr>
              <a:t>无法给出准确的答案！</a:t>
            </a:r>
            <a:endParaRPr lang="zh-CN" altLang="en-US" sz="2000" dirty="0">
              <a:solidFill>
                <a:schemeClr val="accent2"/>
              </a:solidFill>
              <a:latin typeface="Arial" panose="020B0604020202020204" pitchFamily="34" charset="0"/>
              <a:ea typeface="微软雅黑" panose="020B0503020204020204" pitchFamily="34" charset="-122"/>
            </a:endParaRPr>
          </a:p>
        </p:txBody>
      </p:sp>
      <p:sp>
        <p:nvSpPr>
          <p:cNvPr id="9" name="Text Box 9"/>
          <p:cNvSpPr txBox="1"/>
          <p:nvPr/>
        </p:nvSpPr>
        <p:spPr>
          <a:xfrm>
            <a:off x="7419975" y="5200650"/>
            <a:ext cx="895350" cy="336550"/>
          </a:xfrm>
          <a:prstGeom prst="rect">
            <a:avLst/>
          </a:prstGeom>
          <a:noFill/>
          <a:ln w="12700">
            <a:noFill/>
          </a:ln>
        </p:spPr>
        <p:txBody>
          <a:bodyPr anchor="t" anchorCtr="0">
            <a:spAutoFit/>
          </a:bodyPr>
          <a:p>
            <a:pPr eaLnBrk="0" hangingPunct="0">
              <a:spcBef>
                <a:spcPct val="50000"/>
              </a:spcBef>
            </a:pPr>
            <a:r>
              <a:rPr lang="en-US" altLang="zh-CN" dirty="0">
                <a:latin typeface="微软雅黑" panose="020B0503020204020204" pitchFamily="34" charset="-122"/>
                <a:ea typeface="微软雅黑" panose="020B0503020204020204" pitchFamily="34" charset="-122"/>
                <a:hlinkClick r:id="rId1" action="ppaction://hlinksldjump"/>
              </a:rPr>
              <a:t>BACK</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2515">
                                            <p:txEl>
                                              <p:charRg st="0" end="128"/>
                                            </p:txEl>
                                          </p:spTgt>
                                        </p:tgtEl>
                                        <p:attrNameLst>
                                          <p:attrName>style.visibility</p:attrName>
                                        </p:attrNameLst>
                                      </p:cBhvr>
                                      <p:to>
                                        <p:strVal val="visible"/>
                                      </p:to>
                                    </p:set>
                                    <p:animEffect transition="in" filter="blinds(horizontal)">
                                      <p:cBhvr>
                                        <p:cTn id="7" dur="500"/>
                                        <p:tgtEl>
                                          <p:spTgt spid="192515">
                                            <p:txEl>
                                              <p:charRg st="0" end="12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2515">
                                            <p:txEl>
                                              <p:charRg st="128" end="164"/>
                                            </p:txEl>
                                          </p:spTgt>
                                        </p:tgtEl>
                                        <p:attrNameLst>
                                          <p:attrName>style.visibility</p:attrName>
                                        </p:attrNameLst>
                                      </p:cBhvr>
                                      <p:to>
                                        <p:strVal val="visible"/>
                                      </p:to>
                                    </p:set>
                                    <p:animEffect transition="in" filter="blinds(horizontal)">
                                      <p:cBhvr>
                                        <p:cTn id="10" dur="500"/>
                                        <p:tgtEl>
                                          <p:spTgt spid="192515">
                                            <p:txEl>
                                              <p:charRg st="128" end="16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92515">
                                            <p:txEl>
                                              <p:charRg st="164" end="190"/>
                                            </p:txEl>
                                          </p:spTgt>
                                        </p:tgtEl>
                                        <p:attrNameLst>
                                          <p:attrName>style.visibility</p:attrName>
                                        </p:attrNameLst>
                                      </p:cBhvr>
                                      <p:to>
                                        <p:strVal val="visible"/>
                                      </p:to>
                                    </p:set>
                                    <p:animEffect transition="in" filter="blinds(horizontal)">
                                      <p:cBhvr>
                                        <p:cTn id="15" dur="500"/>
                                        <p:tgtEl>
                                          <p:spTgt spid="192515">
                                            <p:txEl>
                                              <p:charRg st="164" end="19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92523"/>
                                        </p:tgtEl>
                                        <p:attrNameLst>
                                          <p:attrName>style.visibility</p:attrName>
                                        </p:attrNameLst>
                                      </p:cBhvr>
                                      <p:to>
                                        <p:strVal val="visible"/>
                                      </p:to>
                                    </p:set>
                                    <p:animEffect transition="in" filter="blinds(horizontal)">
                                      <p:cBhvr>
                                        <p:cTn id="20" dur="500"/>
                                        <p:tgtEl>
                                          <p:spTgt spid="19252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92515">
                                            <p:txEl>
                                              <p:charRg st="190" end="201"/>
                                            </p:txEl>
                                          </p:spTgt>
                                        </p:tgtEl>
                                        <p:attrNameLst>
                                          <p:attrName>style.visibility</p:attrName>
                                        </p:attrNameLst>
                                      </p:cBhvr>
                                      <p:to>
                                        <p:strVal val="visible"/>
                                      </p:to>
                                    </p:set>
                                    <p:animEffect transition="in" filter="blinds(horizontal)">
                                      <p:cBhvr>
                                        <p:cTn id="25" dur="500"/>
                                        <p:tgtEl>
                                          <p:spTgt spid="192515">
                                            <p:txEl>
                                              <p:charRg st="190" end="20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92516"/>
                                        </p:tgtEl>
                                        <p:attrNameLst>
                                          <p:attrName>style.visibility</p:attrName>
                                        </p:attrNameLst>
                                      </p:cBhvr>
                                      <p:to>
                                        <p:strVal val="visible"/>
                                      </p:to>
                                    </p:set>
                                    <p:animEffect transition="in" filter="blinds(horizontal)">
                                      <p:cBhvr>
                                        <p:cTn id="30" dur="500"/>
                                        <p:tgtEl>
                                          <p:spTgt spid="19251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92524"/>
                                        </p:tgtEl>
                                        <p:attrNameLst>
                                          <p:attrName>style.visibility</p:attrName>
                                        </p:attrNameLst>
                                      </p:cBhvr>
                                      <p:to>
                                        <p:strVal val="visible"/>
                                      </p:to>
                                    </p:set>
                                    <p:animEffect transition="in" filter="blinds(horizontal)">
                                      <p:cBhvr>
                                        <p:cTn id="35" dur="500"/>
                                        <p:tgtEl>
                                          <p:spTgt spid="192524"/>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92518">
                                            <p:txEl>
                                              <p:charRg st="0" end="42"/>
                                            </p:txEl>
                                          </p:spTgt>
                                        </p:tgtEl>
                                        <p:attrNameLst>
                                          <p:attrName>style.visibility</p:attrName>
                                        </p:attrNameLst>
                                      </p:cBhvr>
                                      <p:to>
                                        <p:strVal val="visible"/>
                                      </p:to>
                                    </p:set>
                                    <p:animEffect transition="in" filter="blinds(horizontal)">
                                      <p:cBhvr>
                                        <p:cTn id="40" dur="500"/>
                                        <p:tgtEl>
                                          <p:spTgt spid="192518">
                                            <p:txEl>
                                              <p:charRg st="0" end="4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92518">
                                            <p:txEl>
                                              <p:charRg st="42" end="73"/>
                                            </p:txEl>
                                          </p:spTgt>
                                        </p:tgtEl>
                                        <p:attrNameLst>
                                          <p:attrName>style.visibility</p:attrName>
                                        </p:attrNameLst>
                                      </p:cBhvr>
                                      <p:to>
                                        <p:strVal val="visible"/>
                                      </p:to>
                                    </p:set>
                                    <p:animEffect transition="in" filter="blinds(horizontal)">
                                      <p:cBhvr>
                                        <p:cTn id="45" dur="500"/>
                                        <p:tgtEl>
                                          <p:spTgt spid="192518">
                                            <p:txEl>
                                              <p:charRg st="42" end="7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92518">
                                            <p:txEl>
                                              <p:charRg st="73" end="96"/>
                                            </p:txEl>
                                          </p:spTgt>
                                        </p:tgtEl>
                                        <p:attrNameLst>
                                          <p:attrName>style.visibility</p:attrName>
                                        </p:attrNameLst>
                                      </p:cBhvr>
                                      <p:to>
                                        <p:strVal val="visible"/>
                                      </p:to>
                                    </p:set>
                                    <p:animEffect transition="in" filter="blinds(horizontal)">
                                      <p:cBhvr>
                                        <p:cTn id="50" dur="500"/>
                                        <p:tgtEl>
                                          <p:spTgt spid="192518">
                                            <p:txEl>
                                              <p:charRg st="73" end="9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92520"/>
                                        </p:tgtEl>
                                        <p:attrNameLst>
                                          <p:attrName>style.visibility</p:attrName>
                                        </p:attrNameLst>
                                      </p:cBhvr>
                                      <p:to>
                                        <p:strVal val="visible"/>
                                      </p:to>
                                    </p:set>
                                    <p:animEffect transition="in" filter="blinds(horizontal)">
                                      <p:cBhvr>
                                        <p:cTn id="55" dur="500"/>
                                        <p:tgtEl>
                                          <p:spTgt spid="19252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blinds(horizontal)">
                                      <p:cBhvr>
                                        <p:cTn id="6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8" grpId="0" build="p"/>
      <p:bldP spid="192516" grpId="0"/>
      <p:bldP spid="192520" grpId="0"/>
      <p:bldP spid="192523" grpId="0"/>
      <p:bldP spid="192524" grpId="0"/>
      <p:bldP spid="9"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Rectangle 2"/>
          <p:cNvSpPr>
            <a:spLocks noGrp="1"/>
          </p:cNvSpPr>
          <p:nvPr>
            <p:ph type="title" idx="4294967295"/>
          </p:nvPr>
        </p:nvSpPr>
        <p:spPr>
          <a:xfrm>
            <a:off x="1116013" y="82550"/>
            <a:ext cx="6831012" cy="479425"/>
          </a:xfrm>
          <a:ln/>
        </p:spPr>
        <p:txBody>
          <a:bodyPr vert="horz" wrap="square" lIns="63500" tIns="25400" rIns="63500" bIns="25400" anchor="t" anchorCtr="0">
            <a:spAutoFit/>
          </a:bodyPr>
          <a:p>
            <a:r>
              <a:rPr lang="en-US" altLang="zh-CN" dirty="0">
                <a:ea typeface="宋体" panose="02010600030101010101" pitchFamily="2" charset="-122"/>
              </a:rPr>
              <a:t>Rounding Digits(</a:t>
            </a:r>
            <a:r>
              <a:rPr lang="zh-CN" altLang="en-US" dirty="0">
                <a:ea typeface="宋体" panose="02010600030101010101" pitchFamily="2" charset="-122"/>
              </a:rPr>
              <a:t>舍入位</a:t>
            </a:r>
            <a:r>
              <a:rPr lang="en-US" altLang="zh-CN" dirty="0">
                <a:ea typeface="宋体" panose="02010600030101010101" pitchFamily="2" charset="-122"/>
              </a:rPr>
              <a:t>)</a:t>
            </a:r>
            <a:endParaRPr lang="zh-CN" altLang="en-US" dirty="0">
              <a:ea typeface="宋体" panose="02010600030101010101" pitchFamily="2" charset="-122"/>
            </a:endParaRPr>
          </a:p>
        </p:txBody>
      </p:sp>
      <p:sp>
        <p:nvSpPr>
          <p:cNvPr id="134146" name="Rectangle 3"/>
          <p:cNvSpPr/>
          <p:nvPr/>
        </p:nvSpPr>
        <p:spPr>
          <a:xfrm>
            <a:off x="365125" y="742950"/>
            <a:ext cx="8482013" cy="452438"/>
          </a:xfrm>
          <a:prstGeom prst="rect">
            <a:avLst/>
          </a:prstGeom>
          <a:noFill/>
          <a:ln w="12700">
            <a:noFill/>
          </a:ln>
        </p:spPr>
        <p:txBody>
          <a:bodyPr lIns="63500" tIns="25400" rIns="63500" bIns="25400" anchor="t" anchorCtr="0">
            <a:spAutoFit/>
          </a:bodyPr>
          <a:p>
            <a:pPr eaLnBrk="0" hangingPunct="0">
              <a:lnSpc>
                <a:spcPct val="120000"/>
              </a:lnSpc>
              <a:buClrTx/>
              <a:buFontTx/>
            </a:pPr>
            <a:r>
              <a:rPr lang="zh-CN" altLang="en-US" sz="2200" dirty="0">
                <a:latin typeface="微软雅黑" panose="020B0503020204020204" pitchFamily="34" charset="-122"/>
                <a:ea typeface="微软雅黑" panose="020B0503020204020204" pitchFamily="34" charset="-122"/>
              </a:rPr>
              <a:t>举例：若十进制数最终有效位数为</a:t>
            </a:r>
            <a:r>
              <a:rPr lang="en-US" altLang="zh-CN" sz="2200" dirty="0">
                <a:latin typeface="微软雅黑" panose="020B0503020204020204" pitchFamily="34" charset="-122"/>
                <a:ea typeface="微软雅黑" panose="020B0503020204020204" pitchFamily="34" charset="-122"/>
              </a:rPr>
              <a:t> 3</a:t>
            </a:r>
            <a:r>
              <a:rPr lang="zh-CN" altLang="en-US" sz="2200" dirty="0">
                <a:latin typeface="微软雅黑" panose="020B0503020204020204" pitchFamily="34" charset="-122"/>
                <a:ea typeface="微软雅黑" panose="020B0503020204020204" pitchFamily="34" charset="-122"/>
              </a:rPr>
              <a:t>，采用两位附加位（</a:t>
            </a:r>
            <a:r>
              <a:rPr lang="en-US" altLang="zh-CN" sz="2200" dirty="0">
                <a:solidFill>
                  <a:schemeClr val="accent2"/>
                </a:solidFill>
                <a:latin typeface="微软雅黑" panose="020B0503020204020204" pitchFamily="34" charset="-122"/>
                <a:ea typeface="微软雅黑" panose="020B0503020204020204" pitchFamily="34" charset="-122"/>
              </a:rPr>
              <a:t>G</a:t>
            </a:r>
            <a:r>
              <a:rPr lang="zh-CN" altLang="en-US" sz="2200" dirty="0">
                <a:latin typeface="微软雅黑" panose="020B0503020204020204" pitchFamily="34" charset="-122"/>
                <a:ea typeface="微软雅黑" panose="020B0503020204020204" pitchFamily="34" charset="-122"/>
              </a:rPr>
              <a:t>、</a:t>
            </a:r>
            <a:r>
              <a:rPr lang="en-US" altLang="zh-CN" sz="2200" dirty="0">
                <a:solidFill>
                  <a:srgbClr val="CC0000"/>
                </a:solidFill>
                <a:latin typeface="微软雅黑" panose="020B0503020204020204" pitchFamily="34" charset="-122"/>
                <a:ea typeface="微软雅黑" panose="020B0503020204020204" pitchFamily="34" charset="-122"/>
              </a:rPr>
              <a:t>R</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134147" name="Rectangle 13"/>
          <p:cNvSpPr/>
          <p:nvPr/>
        </p:nvSpPr>
        <p:spPr>
          <a:xfrm>
            <a:off x="5041900" y="1384300"/>
            <a:ext cx="1884363" cy="1471613"/>
          </a:xfrm>
          <a:prstGeom prst="rect">
            <a:avLst/>
          </a:prstGeom>
          <a:noFill/>
          <a:ln w="12700">
            <a:noFill/>
          </a:ln>
        </p:spPr>
        <p:txBody>
          <a:bodyPr wrap="none" lIns="63500" tIns="25400" rIns="63500" bIns="25400" anchor="t" anchorCtr="0">
            <a:spAutoFit/>
          </a:bodyPr>
          <a:p>
            <a:pPr eaLnBrk="0" hangingPunct="0">
              <a:lnSpc>
                <a:spcPct val="85000"/>
              </a:lnSpc>
              <a:buClrTx/>
              <a:buFontTx/>
            </a:pPr>
            <a:r>
              <a:rPr lang="zh-CN" altLang="en-US" sz="2200" dirty="0">
                <a:latin typeface="Arial" panose="020B0604020202020204" pitchFamily="34" charset="0"/>
                <a:ea typeface="宋体" panose="02010600030101010101" pitchFamily="2" charset="-122"/>
              </a:rPr>
              <a:t>  </a:t>
            </a:r>
            <a:r>
              <a:rPr lang="en-US" altLang="zh-CN" sz="2200" dirty="0">
                <a:latin typeface="微软雅黑" panose="020B0503020204020204" pitchFamily="34" charset="-122"/>
                <a:ea typeface="微软雅黑" panose="020B0503020204020204" pitchFamily="34" charset="-122"/>
              </a:rPr>
              <a:t>2.34</a:t>
            </a:r>
            <a:r>
              <a:rPr lang="en-US" altLang="zh-CN" sz="2200" dirty="0">
                <a:solidFill>
                  <a:schemeClr val="accent2"/>
                </a:solidFill>
                <a:latin typeface="微软雅黑" panose="020B0503020204020204" pitchFamily="34" charset="-122"/>
                <a:ea typeface="微软雅黑" panose="020B0503020204020204" pitchFamily="34" charset="-122"/>
              </a:rPr>
              <a:t>0</a:t>
            </a:r>
            <a:r>
              <a:rPr lang="en-US" altLang="zh-CN" sz="2200" dirty="0">
                <a:solidFill>
                  <a:srgbClr val="CC0000"/>
                </a:solidFill>
                <a:latin typeface="微软雅黑" panose="020B0503020204020204" pitchFamily="34" charset="-122"/>
                <a:ea typeface="微软雅黑" panose="020B0503020204020204" pitchFamily="34" charset="-122"/>
              </a:rPr>
              <a:t>0</a:t>
            </a:r>
            <a:r>
              <a:rPr lang="en-US" altLang="zh-CN" sz="2200" dirty="0">
                <a:latin typeface="微软雅黑" panose="020B0503020204020204" pitchFamily="34" charset="-122"/>
                <a:ea typeface="微软雅黑" panose="020B0503020204020204" pitchFamily="34" charset="-122"/>
              </a:rPr>
              <a:t> * 10</a:t>
            </a:r>
            <a:endParaRPr lang="en-US" altLang="zh-CN" sz="2200" dirty="0">
              <a:latin typeface="微软雅黑" panose="020B0503020204020204" pitchFamily="34" charset="-122"/>
              <a:ea typeface="微软雅黑" panose="020B0503020204020204" pitchFamily="34" charset="-122"/>
            </a:endParaRPr>
          </a:p>
          <a:p>
            <a:pPr eaLnBrk="0" hangingPunct="0">
              <a:lnSpc>
                <a:spcPct val="85000"/>
              </a:lnSpc>
              <a:buClrTx/>
              <a:buFontTx/>
            </a:pPr>
            <a:endParaRPr lang="zh-CN" altLang="en-US" sz="2200" dirty="0">
              <a:latin typeface="微软雅黑" panose="020B0503020204020204" pitchFamily="34" charset="-122"/>
              <a:ea typeface="微软雅黑" panose="020B0503020204020204" pitchFamily="34" charset="-122"/>
            </a:endParaRPr>
          </a:p>
          <a:p>
            <a:pPr eaLnBrk="0" hangingPunct="0">
              <a:lnSpc>
                <a:spcPct val="85000"/>
              </a:lnSpc>
              <a:buClrTx/>
              <a:buFontTx/>
            </a:pP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0.02</a:t>
            </a:r>
            <a:r>
              <a:rPr lang="en-US" altLang="zh-CN" sz="2200" dirty="0">
                <a:solidFill>
                  <a:schemeClr val="accent2"/>
                </a:solidFill>
                <a:latin typeface="微软雅黑" panose="020B0503020204020204" pitchFamily="34" charset="-122"/>
                <a:ea typeface="微软雅黑" panose="020B0503020204020204" pitchFamily="34" charset="-122"/>
              </a:rPr>
              <a:t>5</a:t>
            </a:r>
            <a:r>
              <a:rPr lang="en-US" altLang="zh-CN" sz="2200" dirty="0">
                <a:solidFill>
                  <a:srgbClr val="CC0000"/>
                </a:solidFill>
                <a:latin typeface="微软雅黑" panose="020B0503020204020204" pitchFamily="34" charset="-122"/>
                <a:ea typeface="微软雅黑" panose="020B0503020204020204" pitchFamily="34" charset="-122"/>
              </a:rPr>
              <a:t>3</a:t>
            </a:r>
            <a:r>
              <a:rPr lang="en-US" altLang="zh-CN" sz="2200" dirty="0">
                <a:latin typeface="微软雅黑" panose="020B0503020204020204" pitchFamily="34" charset="-122"/>
                <a:ea typeface="微软雅黑" panose="020B0503020204020204" pitchFamily="34" charset="-122"/>
              </a:rPr>
              <a:t> * 10</a:t>
            </a:r>
            <a:endParaRPr lang="en-US" altLang="zh-CN" sz="2200" dirty="0">
              <a:latin typeface="微软雅黑" panose="020B0503020204020204" pitchFamily="34" charset="-122"/>
              <a:ea typeface="微软雅黑" panose="020B0503020204020204" pitchFamily="34" charset="-122"/>
            </a:endParaRPr>
          </a:p>
          <a:p>
            <a:pPr eaLnBrk="0" hangingPunct="0">
              <a:lnSpc>
                <a:spcPct val="85000"/>
              </a:lnSpc>
              <a:buClrTx/>
              <a:buFontTx/>
            </a:pPr>
            <a:endParaRPr lang="zh-CN" altLang="en-US" sz="2200" dirty="0">
              <a:latin typeface="微软雅黑" panose="020B0503020204020204" pitchFamily="34" charset="-122"/>
              <a:ea typeface="微软雅黑" panose="020B0503020204020204" pitchFamily="34" charset="-122"/>
            </a:endParaRPr>
          </a:p>
          <a:p>
            <a:pPr eaLnBrk="0" hangingPunct="0">
              <a:lnSpc>
                <a:spcPct val="85000"/>
              </a:lnSpc>
              <a:buClrTx/>
              <a:buFontTx/>
            </a:pP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2.36</a:t>
            </a:r>
            <a:r>
              <a:rPr lang="en-US" altLang="zh-CN" sz="2200" dirty="0">
                <a:solidFill>
                  <a:schemeClr val="accent2"/>
                </a:solidFill>
                <a:latin typeface="微软雅黑" panose="020B0503020204020204" pitchFamily="34" charset="-122"/>
                <a:ea typeface="微软雅黑" panose="020B0503020204020204" pitchFamily="34" charset="-122"/>
              </a:rPr>
              <a:t>5</a:t>
            </a:r>
            <a:r>
              <a:rPr lang="en-US" altLang="zh-CN" sz="2200" dirty="0">
                <a:solidFill>
                  <a:srgbClr val="CC0000"/>
                </a:solidFill>
                <a:latin typeface="微软雅黑" panose="020B0503020204020204" pitchFamily="34" charset="-122"/>
                <a:ea typeface="微软雅黑" panose="020B0503020204020204" pitchFamily="34" charset="-122"/>
              </a:rPr>
              <a:t>3</a:t>
            </a:r>
            <a:r>
              <a:rPr lang="en-US" altLang="zh-CN" sz="2200" dirty="0">
                <a:latin typeface="微软雅黑" panose="020B0503020204020204" pitchFamily="34" charset="-122"/>
                <a:ea typeface="微软雅黑" panose="020B0503020204020204" pitchFamily="34" charset="-122"/>
              </a:rPr>
              <a:t> * 10</a:t>
            </a:r>
            <a:endParaRPr lang="en-US" altLang="zh-CN" sz="2200" dirty="0">
              <a:latin typeface="微软雅黑" panose="020B0503020204020204" pitchFamily="34" charset="-122"/>
              <a:ea typeface="微软雅黑" panose="020B0503020204020204" pitchFamily="34" charset="-122"/>
            </a:endParaRPr>
          </a:p>
        </p:txBody>
      </p:sp>
      <p:sp>
        <p:nvSpPr>
          <p:cNvPr id="134148" name="Rectangle 14"/>
          <p:cNvSpPr/>
          <p:nvPr/>
        </p:nvSpPr>
        <p:spPr>
          <a:xfrm>
            <a:off x="6821488" y="1268413"/>
            <a:ext cx="268287" cy="284162"/>
          </a:xfrm>
          <a:prstGeom prst="rect">
            <a:avLst/>
          </a:prstGeom>
          <a:noFill/>
          <a:ln w="12700">
            <a:noFill/>
          </a:ln>
        </p:spPr>
        <p:txBody>
          <a:bodyPr wrap="none" lIns="63500" tIns="25400" rIns="63500" bIns="25400" anchor="t" anchorCtr="0">
            <a:spAutoFit/>
          </a:bodyPr>
          <a:p>
            <a:pPr eaLnBrk="0" hangingPunct="0">
              <a:lnSpc>
                <a:spcPct val="85000"/>
              </a:lnSpc>
              <a:buClrTx/>
              <a:buFontTx/>
            </a:pPr>
            <a:r>
              <a:rPr lang="zh-CN" altLang="en-US"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sp>
        <p:nvSpPr>
          <p:cNvPr id="134149" name="Rectangle 15"/>
          <p:cNvSpPr/>
          <p:nvPr/>
        </p:nvSpPr>
        <p:spPr>
          <a:xfrm>
            <a:off x="6867525" y="1854200"/>
            <a:ext cx="268288" cy="284163"/>
          </a:xfrm>
          <a:prstGeom prst="rect">
            <a:avLst/>
          </a:prstGeom>
          <a:noFill/>
          <a:ln w="12700">
            <a:noFill/>
          </a:ln>
        </p:spPr>
        <p:txBody>
          <a:bodyPr wrap="none" lIns="63500" tIns="25400" rIns="63500" bIns="25400" anchor="t" anchorCtr="0">
            <a:spAutoFit/>
          </a:bodyPr>
          <a:p>
            <a:pPr eaLnBrk="0" hangingPunct="0">
              <a:lnSpc>
                <a:spcPct val="85000"/>
              </a:lnSpc>
              <a:buClrTx/>
              <a:buFontTx/>
            </a:pPr>
            <a:r>
              <a:rPr lang="zh-CN" altLang="en-US"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sp>
        <p:nvSpPr>
          <p:cNvPr id="134150" name="Rectangle 16"/>
          <p:cNvSpPr/>
          <p:nvPr/>
        </p:nvSpPr>
        <p:spPr>
          <a:xfrm>
            <a:off x="6867525" y="2393950"/>
            <a:ext cx="268288" cy="284163"/>
          </a:xfrm>
          <a:prstGeom prst="rect">
            <a:avLst/>
          </a:prstGeom>
          <a:noFill/>
          <a:ln w="12700">
            <a:noFill/>
          </a:ln>
        </p:spPr>
        <p:txBody>
          <a:bodyPr wrap="none" lIns="63500" tIns="25400" rIns="63500" bIns="25400" anchor="t" anchorCtr="0">
            <a:spAutoFit/>
          </a:bodyPr>
          <a:p>
            <a:pPr eaLnBrk="0" hangingPunct="0">
              <a:lnSpc>
                <a:spcPct val="85000"/>
              </a:lnSpc>
              <a:buClrTx/>
              <a:buFontTx/>
            </a:pPr>
            <a:r>
              <a:rPr lang="zh-CN" altLang="en-US"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p:txBody>
      </p:sp>
      <p:sp>
        <p:nvSpPr>
          <p:cNvPr id="134151" name="Line 17"/>
          <p:cNvSpPr/>
          <p:nvPr/>
        </p:nvSpPr>
        <p:spPr>
          <a:xfrm>
            <a:off x="5222875" y="2349500"/>
            <a:ext cx="1958975" cy="0"/>
          </a:xfrm>
          <a:prstGeom prst="line">
            <a:avLst/>
          </a:prstGeom>
          <a:ln w="38100" cap="flat" cmpd="sng">
            <a:solidFill>
              <a:schemeClr val="tx1"/>
            </a:solidFill>
            <a:prstDash val="solid"/>
            <a:round/>
            <a:headEnd type="none" w="med" len="med"/>
            <a:tailEnd type="none" w="med" len="med"/>
          </a:ln>
        </p:spPr>
      </p:sp>
      <p:sp>
        <p:nvSpPr>
          <p:cNvPr id="193555" name="Rectangle 19"/>
          <p:cNvSpPr/>
          <p:nvPr/>
        </p:nvSpPr>
        <p:spPr>
          <a:xfrm>
            <a:off x="304800" y="2755900"/>
            <a:ext cx="8661400" cy="619125"/>
          </a:xfrm>
          <a:prstGeom prst="rect">
            <a:avLst/>
          </a:prstGeom>
          <a:noFill/>
          <a:ln w="12700">
            <a:noFill/>
          </a:ln>
        </p:spPr>
        <p:txBody>
          <a:bodyPr lIns="63500" tIns="25400" rIns="63500" bIns="25400" anchor="t" anchorCtr="0">
            <a:spAutoFit/>
          </a:bodyPr>
          <a:p>
            <a:pPr eaLnBrk="0" hangingPunct="0">
              <a:lnSpc>
                <a:spcPct val="85000"/>
              </a:lnSpc>
              <a:buClrTx/>
              <a:buFontTx/>
            </a:pPr>
            <a:endParaRPr lang="en-US" altLang="zh-CN" sz="2200" dirty="0">
              <a:latin typeface="Arial" panose="020B0604020202020204" pitchFamily="34" charset="0"/>
              <a:ea typeface="黑体" panose="02010609060101010101" pitchFamily="49" charset="-122"/>
            </a:endParaRPr>
          </a:p>
          <a:p>
            <a:pPr eaLnBrk="0" hangingPunct="0">
              <a:lnSpc>
                <a:spcPct val="85000"/>
              </a:lnSpc>
              <a:buClrTx/>
              <a:buFontTx/>
            </a:pPr>
            <a:r>
              <a:rPr lang="en-US" altLang="zh-CN" sz="2200" dirty="0">
                <a:solidFill>
                  <a:srgbClr val="CC0000"/>
                </a:solidFill>
                <a:latin typeface="微软雅黑" panose="020B0503020204020204" pitchFamily="34" charset="-122"/>
                <a:ea typeface="微软雅黑" panose="020B0503020204020204" pitchFamily="34" charset="-122"/>
              </a:rPr>
              <a:t>IEEE Standard:  four rounding modes</a:t>
            </a:r>
            <a:r>
              <a:rPr lang="zh-CN" altLang="en-US" sz="2200" dirty="0">
                <a:solidFill>
                  <a:srgbClr val="CC0000"/>
                </a:solidFill>
                <a:latin typeface="微软雅黑" panose="020B0503020204020204" pitchFamily="34" charset="-122"/>
                <a:ea typeface="微软雅黑" panose="020B0503020204020204" pitchFamily="34" charset="-122"/>
              </a:rPr>
              <a:t>（</a:t>
            </a:r>
            <a:r>
              <a:rPr lang="zh-CN" altLang="en-US" sz="2200" dirty="0">
                <a:solidFill>
                  <a:srgbClr val="CC0000"/>
                </a:solidFill>
                <a:latin typeface="微软雅黑" panose="020B0503020204020204" pitchFamily="34" charset="-122"/>
                <a:ea typeface="微软雅黑" panose="020B0503020204020204" pitchFamily="34" charset="-122"/>
                <a:hlinkClick r:id="rId1" action="ppaction://hlinksldjump"/>
              </a:rPr>
              <a:t>用图说明</a:t>
            </a:r>
            <a:r>
              <a:rPr lang="zh-CN" altLang="en-US" sz="2200" dirty="0">
                <a:solidFill>
                  <a:srgbClr val="CC0000"/>
                </a:solidFill>
                <a:latin typeface="微软雅黑" panose="020B0503020204020204" pitchFamily="34" charset="-122"/>
                <a:ea typeface="微软雅黑" panose="020B0503020204020204" pitchFamily="34" charset="-122"/>
              </a:rPr>
              <a:t>）</a:t>
            </a:r>
            <a:endParaRPr lang="en-US" altLang="zh-CN" sz="2200" dirty="0">
              <a:solidFill>
                <a:srgbClr val="CC0000"/>
              </a:solidFill>
              <a:latin typeface="微软雅黑" panose="020B0503020204020204" pitchFamily="34" charset="-122"/>
              <a:ea typeface="微软雅黑" panose="020B0503020204020204" pitchFamily="34" charset="-122"/>
            </a:endParaRPr>
          </a:p>
        </p:txBody>
      </p:sp>
      <p:sp>
        <p:nvSpPr>
          <p:cNvPr id="193556" name="Rectangle 20"/>
          <p:cNvSpPr/>
          <p:nvPr/>
        </p:nvSpPr>
        <p:spPr>
          <a:xfrm>
            <a:off x="1736725" y="3519488"/>
            <a:ext cx="7627938" cy="1187450"/>
          </a:xfrm>
          <a:prstGeom prst="rect">
            <a:avLst/>
          </a:prstGeom>
          <a:noFill/>
          <a:ln w="12700">
            <a:noFill/>
          </a:ln>
        </p:spPr>
        <p:txBody>
          <a:bodyPr lIns="63500" tIns="25400" rIns="63500" bIns="25400" anchor="t" anchorCtr="0">
            <a:spAutoFit/>
          </a:bodyPr>
          <a:p>
            <a:pPr eaLnBrk="0" hangingPunct="0">
              <a:lnSpc>
                <a:spcPct val="85000"/>
              </a:lnSpc>
              <a:buClrTx/>
              <a:buFontTx/>
            </a:pPr>
            <a:r>
              <a:rPr lang="en-US" altLang="zh-CN" sz="2200" dirty="0">
                <a:latin typeface="微软雅黑" panose="020B0503020204020204" pitchFamily="34" charset="-122"/>
                <a:ea typeface="微软雅黑" panose="020B0503020204020204" pitchFamily="34" charset="-122"/>
              </a:rPr>
              <a:t>round to nearest  </a:t>
            </a:r>
            <a:r>
              <a:rPr lang="en-US" altLang="zh-CN" sz="2200" dirty="0">
                <a:solidFill>
                  <a:srgbClr val="CC0000"/>
                </a:solidFill>
                <a:latin typeface="微软雅黑" panose="020B0503020204020204" pitchFamily="34" charset="-122"/>
                <a:ea typeface="微软雅黑" panose="020B0503020204020204" pitchFamily="34" charset="-122"/>
              </a:rPr>
              <a:t>(default) </a:t>
            </a:r>
            <a:endParaRPr lang="en-US" altLang="zh-CN" sz="2200" dirty="0">
              <a:solidFill>
                <a:srgbClr val="CC0000"/>
              </a:solidFill>
              <a:latin typeface="微软雅黑" panose="020B0503020204020204" pitchFamily="34" charset="-122"/>
              <a:ea typeface="微软雅黑" panose="020B0503020204020204" pitchFamily="34" charset="-122"/>
            </a:endParaRPr>
          </a:p>
          <a:p>
            <a:pPr eaLnBrk="0" hangingPunct="0">
              <a:lnSpc>
                <a:spcPct val="85000"/>
              </a:lnSpc>
              <a:buClrTx/>
              <a:buFontTx/>
            </a:pPr>
            <a:r>
              <a:rPr lang="en-US" altLang="zh-CN" sz="2200" dirty="0">
                <a:latin typeface="微软雅黑" panose="020B0503020204020204" pitchFamily="34" charset="-122"/>
                <a:ea typeface="微软雅黑" panose="020B0503020204020204" pitchFamily="34" charset="-122"/>
              </a:rPr>
              <a:t>round towards plus infinity (always round up)</a:t>
            </a:r>
            <a:endParaRPr lang="en-US" altLang="zh-CN" sz="2200" dirty="0">
              <a:latin typeface="微软雅黑" panose="020B0503020204020204" pitchFamily="34" charset="-122"/>
              <a:ea typeface="微软雅黑" panose="020B0503020204020204" pitchFamily="34" charset="-122"/>
            </a:endParaRPr>
          </a:p>
          <a:p>
            <a:pPr eaLnBrk="0" hangingPunct="0">
              <a:lnSpc>
                <a:spcPct val="85000"/>
              </a:lnSpc>
              <a:buClrTx/>
              <a:buFontTx/>
            </a:pPr>
            <a:r>
              <a:rPr lang="en-US" altLang="zh-CN" sz="2200" dirty="0">
                <a:latin typeface="微软雅黑" panose="020B0503020204020204" pitchFamily="34" charset="-122"/>
                <a:ea typeface="微软雅黑" panose="020B0503020204020204" pitchFamily="34" charset="-122"/>
              </a:rPr>
              <a:t>round towards minus infinity (always round down)</a:t>
            </a:r>
            <a:endParaRPr lang="en-US" altLang="zh-CN" sz="2200" dirty="0">
              <a:latin typeface="微软雅黑" panose="020B0503020204020204" pitchFamily="34" charset="-122"/>
              <a:ea typeface="微软雅黑" panose="020B0503020204020204" pitchFamily="34" charset="-122"/>
            </a:endParaRPr>
          </a:p>
          <a:p>
            <a:pPr eaLnBrk="0" hangingPunct="0">
              <a:lnSpc>
                <a:spcPct val="85000"/>
              </a:lnSpc>
              <a:buClrTx/>
              <a:buFontTx/>
            </a:pPr>
            <a:r>
              <a:rPr lang="en-US" altLang="zh-CN" sz="2200" dirty="0">
                <a:latin typeface="微软雅黑" panose="020B0503020204020204" pitchFamily="34" charset="-122"/>
                <a:ea typeface="微软雅黑" panose="020B0503020204020204" pitchFamily="34" charset="-122"/>
              </a:rPr>
              <a:t>round towards 0</a:t>
            </a:r>
            <a:endParaRPr lang="en-US" altLang="zh-CN" sz="2200" dirty="0">
              <a:latin typeface="微软雅黑" panose="020B0503020204020204" pitchFamily="34" charset="-122"/>
              <a:ea typeface="微软雅黑" panose="020B0503020204020204" pitchFamily="34" charset="-122"/>
            </a:endParaRPr>
          </a:p>
        </p:txBody>
      </p:sp>
      <p:sp>
        <p:nvSpPr>
          <p:cNvPr id="193557" name="Rectangle 21"/>
          <p:cNvSpPr/>
          <p:nvPr/>
        </p:nvSpPr>
        <p:spPr>
          <a:xfrm>
            <a:off x="206375" y="4943475"/>
            <a:ext cx="8847138" cy="1725613"/>
          </a:xfrm>
          <a:prstGeom prst="rect">
            <a:avLst/>
          </a:prstGeom>
          <a:noFill/>
          <a:ln w="12700">
            <a:noFill/>
          </a:ln>
        </p:spPr>
        <p:txBody>
          <a:bodyPr lIns="63500" tIns="25400" rIns="63500" bIns="25400" anchor="t" anchorCtr="0">
            <a:spAutoFit/>
          </a:bodyPr>
          <a:p>
            <a:pPr eaLnBrk="0" hangingPunct="0">
              <a:lnSpc>
                <a:spcPct val="110000"/>
              </a:lnSpc>
              <a:buClrTx/>
              <a:buFontTx/>
            </a:pPr>
            <a:r>
              <a:rPr lang="en-US" altLang="zh-CN" sz="2000" dirty="0">
                <a:latin typeface="微软雅黑" panose="020B0503020204020204" pitchFamily="34" charset="-122"/>
                <a:ea typeface="微软雅黑" panose="020B0503020204020204" pitchFamily="34" charset="-122"/>
              </a:rPr>
              <a:t>round to nearest:</a:t>
            </a:r>
            <a:endParaRPr lang="en-US" altLang="zh-CN" sz="2000" dirty="0">
              <a:latin typeface="微软雅黑" panose="020B0503020204020204" pitchFamily="34" charset="-122"/>
              <a:ea typeface="微软雅黑" panose="020B0503020204020204" pitchFamily="34" charset="-122"/>
            </a:endParaRPr>
          </a:p>
          <a:p>
            <a:pPr eaLnBrk="0" hangingPunct="0">
              <a:lnSpc>
                <a:spcPct val="110000"/>
              </a:lnSpc>
              <a:buClrTx/>
              <a:buFontTx/>
            </a:pPr>
            <a:r>
              <a:rPr lang="en-US" altLang="zh-CN" sz="2000" dirty="0">
                <a:latin typeface="微软雅黑" panose="020B0503020204020204" pitchFamily="34" charset="-122"/>
                <a:ea typeface="微软雅黑" panose="020B0503020204020204" pitchFamily="34" charset="-122"/>
              </a:rPr>
              <a:t>      round digit &lt; 1/2  then truncate </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截断、丢弃</a:t>
            </a:r>
            <a:r>
              <a:rPr lang="en-US" altLang="zh-CN" sz="2000" dirty="0">
                <a:solidFill>
                  <a:srgbClr val="FF0000"/>
                </a:solidFill>
                <a:latin typeface="微软雅黑" panose="020B0503020204020204" pitchFamily="34" charset="-122"/>
                <a:ea typeface="微软雅黑" panose="020B0503020204020204" pitchFamily="34" charset="-122"/>
              </a:rPr>
              <a:t>)</a:t>
            </a:r>
            <a:endParaRPr lang="en-US" altLang="zh-CN" sz="2000" dirty="0">
              <a:solidFill>
                <a:srgbClr val="FF0000"/>
              </a:solidFill>
              <a:latin typeface="微软雅黑" panose="020B0503020204020204" pitchFamily="34" charset="-122"/>
              <a:ea typeface="微软雅黑" panose="020B0503020204020204" pitchFamily="34" charset="-122"/>
            </a:endParaRPr>
          </a:p>
          <a:p>
            <a:pPr eaLnBrk="0" hangingPunct="0">
              <a:lnSpc>
                <a:spcPct val="110000"/>
              </a:lnSpc>
              <a:buClrTx/>
              <a:buFontTx/>
            </a:pPr>
            <a:r>
              <a:rPr lang="en-US" altLang="zh-CN" sz="2000" dirty="0">
                <a:latin typeface="微软雅黑" panose="020B0503020204020204" pitchFamily="34" charset="-122"/>
                <a:ea typeface="微软雅黑" panose="020B0503020204020204" pitchFamily="34" charset="-122"/>
              </a:rPr>
              <a:t>                          &gt; 1/2  then round up </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末位加</a:t>
            </a:r>
            <a:r>
              <a:rPr lang="en-US" altLang="zh-CN" sz="2000" dirty="0">
                <a:solidFill>
                  <a:srgbClr val="FF0000"/>
                </a:solidFill>
                <a:latin typeface="微软雅黑" panose="020B0503020204020204" pitchFamily="34" charset="-122"/>
                <a:ea typeface="微软雅黑" panose="020B0503020204020204" pitchFamily="34" charset="-122"/>
              </a:rPr>
              <a:t>1)</a:t>
            </a:r>
            <a:endParaRPr lang="en-US" altLang="zh-CN" sz="2000" dirty="0">
              <a:solidFill>
                <a:srgbClr val="FF0000"/>
              </a:solidFill>
              <a:latin typeface="微软雅黑" panose="020B0503020204020204" pitchFamily="34" charset="-122"/>
              <a:ea typeface="微软雅黑" panose="020B0503020204020204" pitchFamily="34" charset="-122"/>
            </a:endParaRPr>
          </a:p>
          <a:p>
            <a:pPr eaLnBrk="0" hangingPunct="0">
              <a:lnSpc>
                <a:spcPct val="110000"/>
              </a:lnSpc>
              <a:buClrTx/>
              <a:buFontTx/>
            </a:pPr>
            <a:r>
              <a:rPr lang="en-US" altLang="zh-CN" sz="2000" dirty="0">
                <a:latin typeface="微软雅黑" panose="020B0503020204020204" pitchFamily="34" charset="-122"/>
                <a:ea typeface="微软雅黑" panose="020B0503020204020204" pitchFamily="34" charset="-122"/>
              </a:rPr>
              <a:t>                          = 1/2  then round to nearest even digit</a:t>
            </a:r>
            <a:r>
              <a:rPr lang="zh-CN" altLang="en-US" sz="2000" dirty="0">
                <a:solidFill>
                  <a:srgbClr val="FF0000"/>
                </a:solidFill>
                <a:latin typeface="微软雅黑" panose="020B0503020204020204" pitchFamily="34" charset="-122"/>
                <a:ea typeface="微软雅黑" panose="020B0503020204020204" pitchFamily="34" charset="-122"/>
              </a:rPr>
              <a:t>（最近偶数）</a:t>
            </a:r>
            <a:endParaRPr lang="zh-CN" altLang="en-US" sz="2000" dirty="0">
              <a:solidFill>
                <a:srgbClr val="FF0000"/>
              </a:solidFill>
              <a:latin typeface="微软雅黑" panose="020B0503020204020204" pitchFamily="34" charset="-122"/>
              <a:ea typeface="微软雅黑" panose="020B0503020204020204" pitchFamily="34" charset="-122"/>
            </a:endParaRPr>
          </a:p>
          <a:p>
            <a:pPr eaLnBrk="0" hangingPunct="0">
              <a:lnSpc>
                <a:spcPct val="110000"/>
              </a:lnSpc>
              <a:buClrTx/>
              <a:buFontTx/>
            </a:pPr>
            <a:r>
              <a:rPr lang="zh-CN" altLang="en-US" sz="2000" i="1" dirty="0">
                <a:solidFill>
                  <a:schemeClr val="accent2"/>
                </a:solidFill>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可以证明默认方式得到的平均误差最小。</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grpSp>
        <p:nvGrpSpPr>
          <p:cNvPr id="2" name="Group 26"/>
          <p:cNvGrpSpPr/>
          <p:nvPr/>
        </p:nvGrpSpPr>
        <p:grpSpPr>
          <a:xfrm>
            <a:off x="522288" y="3698875"/>
            <a:ext cx="1214437" cy="1350963"/>
            <a:chOff x="1179" y="2459"/>
            <a:chExt cx="878" cy="613"/>
          </a:xfrm>
        </p:grpSpPr>
        <p:sp>
          <p:nvSpPr>
            <p:cNvPr id="134156" name="Line 24"/>
            <p:cNvSpPr/>
            <p:nvPr/>
          </p:nvSpPr>
          <p:spPr>
            <a:xfrm flipH="1">
              <a:off x="1179" y="2459"/>
              <a:ext cx="878" cy="330"/>
            </a:xfrm>
            <a:prstGeom prst="line">
              <a:avLst/>
            </a:prstGeom>
            <a:ln w="28575" cap="flat" cmpd="sng">
              <a:solidFill>
                <a:srgbClr val="CC0000"/>
              </a:solidFill>
              <a:prstDash val="solid"/>
              <a:round/>
              <a:headEnd type="none" w="med" len="med"/>
              <a:tailEnd type="none" w="med" len="med"/>
            </a:ln>
          </p:spPr>
        </p:sp>
        <p:sp>
          <p:nvSpPr>
            <p:cNvPr id="134157" name="Line 25"/>
            <p:cNvSpPr/>
            <p:nvPr/>
          </p:nvSpPr>
          <p:spPr>
            <a:xfrm>
              <a:off x="1179" y="2798"/>
              <a:ext cx="183" cy="274"/>
            </a:xfrm>
            <a:prstGeom prst="line">
              <a:avLst/>
            </a:prstGeom>
            <a:ln w="28575" cap="flat" cmpd="sng">
              <a:solidFill>
                <a:srgbClr val="CC0000"/>
              </a:solidFill>
              <a:prstDash val="solid"/>
              <a:round/>
              <a:headEnd type="none" w="med" len="med"/>
              <a:tailEnd type="triangle" w="med" len="med"/>
            </a:ln>
          </p:spPr>
        </p:sp>
      </p:grpSp>
      <p:sp>
        <p:nvSpPr>
          <p:cNvPr id="193563" name="Text Box 27"/>
          <p:cNvSpPr txBox="1"/>
          <p:nvPr/>
        </p:nvSpPr>
        <p:spPr>
          <a:xfrm>
            <a:off x="2862263" y="4868863"/>
            <a:ext cx="3476625" cy="427037"/>
          </a:xfrm>
          <a:prstGeom prst="rect">
            <a:avLst/>
          </a:prstGeom>
          <a:noFill/>
          <a:ln w="12700">
            <a:noFill/>
          </a:ln>
        </p:spPr>
        <p:txBody>
          <a:bodyPr anchor="t" anchorCtr="0">
            <a:spAutoFit/>
          </a:bodyPr>
          <a:p>
            <a:pPr eaLnBrk="0" hangingPunct="0">
              <a:spcBef>
                <a:spcPct val="50000"/>
              </a:spcBef>
              <a:buClrTx/>
              <a:buFontTx/>
            </a:pPr>
            <a:r>
              <a:rPr lang="zh-CN" altLang="en-US" sz="2200" dirty="0">
                <a:solidFill>
                  <a:srgbClr val="FF0066"/>
                </a:solidFill>
                <a:latin typeface="Times New Roman" panose="02020603050405020304" pitchFamily="18" charset="0"/>
                <a:ea typeface="微软雅黑" panose="020B0503020204020204" pitchFamily="34" charset="-122"/>
              </a:rPr>
              <a:t>称为就近舍入到偶数</a:t>
            </a:r>
            <a:endParaRPr lang="zh-CN" altLang="en-US" sz="2200" dirty="0">
              <a:solidFill>
                <a:srgbClr val="FF0066"/>
              </a:solidFill>
              <a:latin typeface="Times New Roman" panose="02020603050405020304" pitchFamily="18" charset="0"/>
              <a:ea typeface="微软雅黑" panose="020B0503020204020204" pitchFamily="34" charset="-122"/>
            </a:endParaRPr>
          </a:p>
        </p:txBody>
      </p:sp>
      <p:sp>
        <p:nvSpPr>
          <p:cNvPr id="193564" name="Text Box 28"/>
          <p:cNvSpPr txBox="1"/>
          <p:nvPr/>
        </p:nvSpPr>
        <p:spPr>
          <a:xfrm>
            <a:off x="266700" y="1362075"/>
            <a:ext cx="4343400" cy="762000"/>
          </a:xfrm>
          <a:prstGeom prst="rect">
            <a:avLst/>
          </a:prstGeom>
          <a:noFill/>
          <a:ln w="12700">
            <a:noFill/>
          </a:ln>
        </p:spPr>
        <p:txBody>
          <a:bodyPr anchor="t" anchorCtr="0">
            <a:spAutoFit/>
          </a:bodyPr>
          <a:p>
            <a:pPr eaLnBrk="0" hangingPunct="0">
              <a:spcBef>
                <a:spcPct val="50000"/>
              </a:spcBef>
              <a:buClrTx/>
              <a:buFontTx/>
            </a:pPr>
            <a:r>
              <a:rPr lang="zh-CN" altLang="en-US" sz="2200" dirty="0">
                <a:solidFill>
                  <a:srgbClr val="CC3300"/>
                </a:solidFill>
                <a:latin typeface="Arial" panose="020B0604020202020204" pitchFamily="34" charset="0"/>
                <a:ea typeface="微软雅黑" panose="020B0503020204020204" pitchFamily="34" charset="-122"/>
              </a:rPr>
              <a:t>问题：若没有舍入位，采用就近舍入到偶数，则结果是什么？</a:t>
            </a:r>
            <a:endParaRPr lang="zh-CN" altLang="en-US" sz="2200" dirty="0">
              <a:solidFill>
                <a:srgbClr val="CC3300"/>
              </a:solidFill>
              <a:latin typeface="Arial" panose="020B0604020202020204" pitchFamily="34" charset="0"/>
              <a:ea typeface="微软雅黑" panose="020B0503020204020204" pitchFamily="34" charset="-122"/>
            </a:endParaRPr>
          </a:p>
        </p:txBody>
      </p:sp>
      <p:sp>
        <p:nvSpPr>
          <p:cNvPr id="193565" name="Text Box 29"/>
          <p:cNvSpPr txBox="1"/>
          <p:nvPr/>
        </p:nvSpPr>
        <p:spPr>
          <a:xfrm>
            <a:off x="266700" y="2219325"/>
            <a:ext cx="4229100" cy="427038"/>
          </a:xfrm>
          <a:prstGeom prst="rect">
            <a:avLst/>
          </a:prstGeom>
          <a:noFill/>
          <a:ln w="12700">
            <a:noFill/>
          </a:ln>
        </p:spPr>
        <p:txBody>
          <a:bodyPr anchor="t" anchorCtr="0">
            <a:spAutoFit/>
          </a:bodyPr>
          <a:p>
            <a:pPr eaLnBrk="0" hangingPunct="0">
              <a:spcBef>
                <a:spcPct val="50000"/>
              </a:spcBef>
              <a:buClrTx/>
              <a:buFontTx/>
            </a:pPr>
            <a:r>
              <a:rPr lang="zh-CN" altLang="en-US" sz="2200" dirty="0">
                <a:latin typeface="微软雅黑" panose="020B0503020204020204" pitchFamily="34" charset="-122"/>
                <a:ea typeface="微软雅黑" panose="020B0503020204020204" pitchFamily="34" charset="-122"/>
              </a:rPr>
              <a:t>结果为</a:t>
            </a:r>
            <a:r>
              <a:rPr lang="en-US" altLang="zh-CN" sz="2200" dirty="0">
                <a:latin typeface="微软雅黑" panose="020B0503020204020204" pitchFamily="34" charset="-122"/>
                <a:ea typeface="微软雅黑" panose="020B0503020204020204" pitchFamily="34" charset="-122"/>
              </a:rPr>
              <a:t>2.36</a:t>
            </a:r>
            <a:r>
              <a:rPr lang="zh-CN" altLang="en-US" sz="2200" dirty="0">
                <a:latin typeface="微软雅黑" panose="020B0503020204020204" pitchFamily="34" charset="-122"/>
                <a:ea typeface="微软雅黑" panose="020B0503020204020204" pitchFamily="34" charset="-122"/>
              </a:rPr>
              <a:t>！精度没有</a:t>
            </a:r>
            <a:r>
              <a:rPr lang="en-US" altLang="zh-CN" sz="2200" dirty="0">
                <a:latin typeface="微软雅黑" panose="020B0503020204020204" pitchFamily="34" charset="-122"/>
                <a:ea typeface="微软雅黑" panose="020B0503020204020204" pitchFamily="34" charset="-122"/>
              </a:rPr>
              <a:t>2.37</a:t>
            </a:r>
            <a:r>
              <a:rPr lang="zh-CN" altLang="en-US" sz="2200" dirty="0">
                <a:latin typeface="微软雅黑" panose="020B0503020204020204" pitchFamily="34" charset="-122"/>
                <a:ea typeface="微软雅黑" panose="020B0503020204020204" pitchFamily="34" charset="-122"/>
              </a:rPr>
              <a:t>高！</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3564"/>
                                        </p:tgtEl>
                                        <p:attrNameLst>
                                          <p:attrName>style.visibility</p:attrName>
                                        </p:attrNameLst>
                                      </p:cBhvr>
                                      <p:to>
                                        <p:strVal val="visible"/>
                                      </p:to>
                                    </p:set>
                                    <p:animEffect transition="in" filter="blinds(horizontal)">
                                      <p:cBhvr>
                                        <p:cTn id="7" dur="500"/>
                                        <p:tgtEl>
                                          <p:spTgt spid="1935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3565"/>
                                        </p:tgtEl>
                                        <p:attrNameLst>
                                          <p:attrName>style.visibility</p:attrName>
                                        </p:attrNameLst>
                                      </p:cBhvr>
                                      <p:to>
                                        <p:strVal val="visible"/>
                                      </p:to>
                                    </p:set>
                                    <p:animEffect transition="in" filter="blinds(horizontal)">
                                      <p:cBhvr>
                                        <p:cTn id="12" dur="500"/>
                                        <p:tgtEl>
                                          <p:spTgt spid="19356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3555">
                                            <p:txEl>
                                              <p:charRg st="1" end="43"/>
                                            </p:txEl>
                                          </p:spTgt>
                                        </p:tgtEl>
                                        <p:attrNameLst>
                                          <p:attrName>style.visibility</p:attrName>
                                        </p:attrNameLst>
                                      </p:cBhvr>
                                      <p:to>
                                        <p:strVal val="visible"/>
                                      </p:to>
                                    </p:set>
                                    <p:animEffect transition="in" filter="blinds(horizontal)">
                                      <p:cBhvr>
                                        <p:cTn id="17" dur="500"/>
                                        <p:tgtEl>
                                          <p:spTgt spid="193555">
                                            <p:txEl>
                                              <p:charRg st="1" end="4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3556">
                                            <p:txEl>
                                              <p:charRg st="0" end="29"/>
                                            </p:txEl>
                                          </p:spTgt>
                                        </p:tgtEl>
                                        <p:attrNameLst>
                                          <p:attrName>style.visibility</p:attrName>
                                        </p:attrNameLst>
                                      </p:cBhvr>
                                      <p:to>
                                        <p:strVal val="visible"/>
                                      </p:to>
                                    </p:set>
                                    <p:animEffect transition="in" filter="blinds(horizontal)">
                                      <p:cBhvr>
                                        <p:cTn id="22" dur="500"/>
                                        <p:tgtEl>
                                          <p:spTgt spid="193556">
                                            <p:txEl>
                                              <p:charRg st="0" end="2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93556">
                                            <p:txEl>
                                              <p:charRg st="29" end="75"/>
                                            </p:txEl>
                                          </p:spTgt>
                                        </p:tgtEl>
                                        <p:attrNameLst>
                                          <p:attrName>style.visibility</p:attrName>
                                        </p:attrNameLst>
                                      </p:cBhvr>
                                      <p:to>
                                        <p:strVal val="visible"/>
                                      </p:to>
                                    </p:set>
                                    <p:animEffect transition="in" filter="blinds(horizontal)">
                                      <p:cBhvr>
                                        <p:cTn id="27" dur="500"/>
                                        <p:tgtEl>
                                          <p:spTgt spid="193556">
                                            <p:txEl>
                                              <p:charRg st="29" end="7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3556">
                                            <p:txEl>
                                              <p:charRg st="75" end="124"/>
                                            </p:txEl>
                                          </p:spTgt>
                                        </p:tgtEl>
                                        <p:attrNameLst>
                                          <p:attrName>style.visibility</p:attrName>
                                        </p:attrNameLst>
                                      </p:cBhvr>
                                      <p:to>
                                        <p:strVal val="visible"/>
                                      </p:to>
                                    </p:set>
                                    <p:animEffect transition="in" filter="blinds(horizontal)">
                                      <p:cBhvr>
                                        <p:cTn id="32" dur="500"/>
                                        <p:tgtEl>
                                          <p:spTgt spid="193556">
                                            <p:txEl>
                                              <p:charRg st="75" end="12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3556">
                                            <p:txEl>
                                              <p:charRg st="124" end="140"/>
                                            </p:txEl>
                                          </p:spTgt>
                                        </p:tgtEl>
                                        <p:attrNameLst>
                                          <p:attrName>style.visibility</p:attrName>
                                        </p:attrNameLst>
                                      </p:cBhvr>
                                      <p:to>
                                        <p:strVal val="visible"/>
                                      </p:to>
                                    </p:set>
                                    <p:animEffect transition="in" filter="blinds(horizontal)">
                                      <p:cBhvr>
                                        <p:cTn id="37" dur="500"/>
                                        <p:tgtEl>
                                          <p:spTgt spid="193556">
                                            <p:txEl>
                                              <p:charRg st="124" end="14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3557">
                                            <p:txEl>
                                              <p:charRg st="0" end="18"/>
                                            </p:txEl>
                                          </p:spTgt>
                                        </p:tgtEl>
                                        <p:attrNameLst>
                                          <p:attrName>style.visibility</p:attrName>
                                        </p:attrNameLst>
                                      </p:cBhvr>
                                      <p:to>
                                        <p:strVal val="visible"/>
                                      </p:to>
                                    </p:set>
                                    <p:animEffect transition="in" filter="blinds(horizontal)">
                                      <p:cBhvr>
                                        <p:cTn id="47" dur="500"/>
                                        <p:tgtEl>
                                          <p:spTgt spid="193557">
                                            <p:txEl>
                                              <p:charRg st="0" end="18"/>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93557">
                                            <p:txEl>
                                              <p:charRg st="18" end="65"/>
                                            </p:txEl>
                                          </p:spTgt>
                                        </p:tgtEl>
                                        <p:attrNameLst>
                                          <p:attrName>style.visibility</p:attrName>
                                        </p:attrNameLst>
                                      </p:cBhvr>
                                      <p:to>
                                        <p:strVal val="visible"/>
                                      </p:to>
                                    </p:set>
                                    <p:animEffect transition="in" filter="blinds(horizontal)">
                                      <p:cBhvr>
                                        <p:cTn id="50" dur="500"/>
                                        <p:tgtEl>
                                          <p:spTgt spid="193557">
                                            <p:txEl>
                                              <p:charRg st="18" end="65"/>
                                            </p:txEl>
                                          </p:spTgt>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93557">
                                            <p:txEl>
                                              <p:charRg st="65" end="119"/>
                                            </p:txEl>
                                          </p:spTgt>
                                        </p:tgtEl>
                                        <p:attrNameLst>
                                          <p:attrName>style.visibility</p:attrName>
                                        </p:attrNameLst>
                                      </p:cBhvr>
                                      <p:to>
                                        <p:strVal val="visible"/>
                                      </p:to>
                                    </p:set>
                                    <p:animEffect transition="in" filter="blinds(horizontal)">
                                      <p:cBhvr>
                                        <p:cTn id="53" dur="500"/>
                                        <p:tgtEl>
                                          <p:spTgt spid="193557">
                                            <p:txEl>
                                              <p:charRg st="65" end="119"/>
                                            </p:txEl>
                                          </p:spTgt>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93557">
                                            <p:txEl>
                                              <p:charRg st="119" end="191"/>
                                            </p:txEl>
                                          </p:spTgt>
                                        </p:tgtEl>
                                        <p:attrNameLst>
                                          <p:attrName>style.visibility</p:attrName>
                                        </p:attrNameLst>
                                      </p:cBhvr>
                                      <p:to>
                                        <p:strVal val="visible"/>
                                      </p:to>
                                    </p:set>
                                    <p:animEffect transition="in" filter="blinds(horizontal)">
                                      <p:cBhvr>
                                        <p:cTn id="56" dur="500"/>
                                        <p:tgtEl>
                                          <p:spTgt spid="193557">
                                            <p:txEl>
                                              <p:charRg st="119" end="19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93557">
                                            <p:txEl>
                                              <p:charRg st="191" end="213"/>
                                            </p:txEl>
                                          </p:spTgt>
                                        </p:tgtEl>
                                        <p:attrNameLst>
                                          <p:attrName>style.visibility</p:attrName>
                                        </p:attrNameLst>
                                      </p:cBhvr>
                                      <p:to>
                                        <p:strVal val="visible"/>
                                      </p:to>
                                    </p:set>
                                    <p:animEffect transition="in" filter="blinds(horizontal)">
                                      <p:cBhvr>
                                        <p:cTn id="61" dur="500"/>
                                        <p:tgtEl>
                                          <p:spTgt spid="193557">
                                            <p:txEl>
                                              <p:charRg st="191" end="213"/>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93563"/>
                                        </p:tgtEl>
                                        <p:attrNameLst>
                                          <p:attrName>style.visibility</p:attrName>
                                        </p:attrNameLst>
                                      </p:cBhvr>
                                      <p:to>
                                        <p:strVal val="visible"/>
                                      </p:to>
                                    </p:set>
                                    <p:animEffect transition="in" filter="blinds(horizontal)">
                                      <p:cBhvr>
                                        <p:cTn id="66" dur="500"/>
                                        <p:tgtEl>
                                          <p:spTgt spid="193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57" grpId="0" build="allAtOnce"/>
      <p:bldP spid="193563" grpId="0"/>
      <p:bldP spid="193564" grpId="0"/>
      <p:bldP spid="19356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Rectangle 2"/>
          <p:cNvSpPr>
            <a:spLocks noGrp="1"/>
          </p:cNvSpPr>
          <p:nvPr>
            <p:ph type="title" idx="4294967295"/>
          </p:nvPr>
        </p:nvSpPr>
        <p:spPr>
          <a:xfrm>
            <a:off x="495300" y="90488"/>
            <a:ext cx="8305800" cy="479425"/>
          </a:xfrm>
          <a:ln/>
        </p:spPr>
        <p:txBody>
          <a:bodyPr vert="horz" wrap="square" lIns="63500" tIns="25400" rIns="63500" bIns="25400" anchor="t" anchorCtr="0">
            <a:spAutoFit/>
          </a:bodyPr>
          <a:p>
            <a:r>
              <a:rPr lang="en-US" altLang="zh-CN" dirty="0">
                <a:ea typeface="宋体" panose="02010600030101010101" pitchFamily="2" charset="-122"/>
              </a:rPr>
              <a:t>IEEE 754</a:t>
            </a:r>
            <a:r>
              <a:rPr lang="zh-CN" altLang="en-US" dirty="0">
                <a:ea typeface="宋体" panose="02010600030101010101" pitchFamily="2" charset="-122"/>
              </a:rPr>
              <a:t>的舍入方式的说明</a:t>
            </a:r>
            <a:endParaRPr lang="zh-CN" altLang="en-US" dirty="0">
              <a:ea typeface="宋体" panose="02010600030101010101" pitchFamily="2" charset="-122"/>
            </a:endParaRPr>
          </a:p>
        </p:txBody>
      </p:sp>
      <p:sp>
        <p:nvSpPr>
          <p:cNvPr id="216067" name="Rectangle 3"/>
          <p:cNvSpPr>
            <a:spLocks noGrp="1"/>
          </p:cNvSpPr>
          <p:nvPr>
            <p:ph type="body" idx="4294967295"/>
          </p:nvPr>
        </p:nvSpPr>
        <p:spPr>
          <a:xfrm>
            <a:off x="635000" y="733425"/>
            <a:ext cx="8186738" cy="5964238"/>
          </a:xfrm>
          <a:ln/>
        </p:spPr>
        <p:txBody>
          <a:bodyPr vert="horz" wrap="square" lIns="63500" tIns="25400" rIns="63500" bIns="25400" anchor="t" anchorCtr="0">
            <a:spAutoFit/>
          </a:bodyPr>
          <a:p>
            <a:pPr>
              <a:lnSpc>
                <a:spcPct val="125000"/>
              </a:lnSpc>
              <a:buFont typeface="Monotype Sorts"/>
              <a:buChar char=" "/>
            </a:pPr>
            <a:r>
              <a:rPr lang="en-US" altLang="zh-CN" dirty="0">
                <a:latin typeface="微软雅黑" panose="020B0503020204020204" pitchFamily="34" charset="-122"/>
                <a:ea typeface="微软雅黑" panose="020B0503020204020204" pitchFamily="34" charset="-122"/>
              </a:rPr>
              <a:t>IEEE 754</a:t>
            </a:r>
            <a:r>
              <a:rPr lang="zh-CN" altLang="en-US" dirty="0">
                <a:latin typeface="微软雅黑" panose="020B0503020204020204" pitchFamily="34" charset="-122"/>
                <a:ea typeface="微软雅黑" panose="020B0503020204020204" pitchFamily="34" charset="-122"/>
              </a:rPr>
              <a:t>的舍入方式</a:t>
            </a:r>
            <a:endParaRPr lang="zh-CN" altLang="en-US" dirty="0">
              <a:latin typeface="微软雅黑" panose="020B0503020204020204" pitchFamily="34" charset="-122"/>
              <a:ea typeface="微软雅黑" panose="020B0503020204020204" pitchFamily="34" charset="-122"/>
            </a:endParaRPr>
          </a:p>
          <a:p>
            <a:pPr>
              <a:lnSpc>
                <a:spcPct val="125000"/>
              </a:lnSpc>
              <a:buFont typeface="Monotype Sorts"/>
              <a:buChar char=" "/>
            </a:pPr>
            <a:endParaRPr lang="zh-CN" altLang="en-US" dirty="0">
              <a:latin typeface="微软雅黑" panose="020B0503020204020204" pitchFamily="34" charset="-122"/>
              <a:ea typeface="微软雅黑" panose="020B0503020204020204" pitchFamily="34" charset="-122"/>
            </a:endParaRPr>
          </a:p>
          <a:p>
            <a:pPr>
              <a:lnSpc>
                <a:spcPct val="125000"/>
              </a:lnSpc>
              <a:buFont typeface="Monotype Sorts"/>
              <a:buChar char=" "/>
            </a:pPr>
            <a:r>
              <a:rPr lang="zh-CN" altLang="zh-CN" dirty="0">
                <a:solidFill>
                  <a:srgbClr val="0000FF"/>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 </a:t>
            </a:r>
            <a:r>
              <a:rPr lang="en-US" altLang="zh-CN" dirty="0">
                <a:solidFill>
                  <a:srgbClr val="0000FF"/>
                </a:solidFill>
                <a:latin typeface="微软雅黑" panose="020B0503020204020204" pitchFamily="34" charset="-122"/>
                <a:ea typeface="微软雅黑" panose="020B0503020204020204" pitchFamily="34" charset="-122"/>
              </a:rPr>
              <a:t>Z1</a:t>
            </a:r>
            <a:r>
              <a:rPr lang="zh-CN" altLang="en-US" dirty="0">
                <a:solidFill>
                  <a:srgbClr val="0000FF"/>
                </a:solidFill>
                <a:latin typeface="微软雅黑" panose="020B0503020204020204" pitchFamily="34" charset="-122"/>
                <a:ea typeface="微软雅黑" panose="020B0503020204020204" pitchFamily="34" charset="-122"/>
              </a:rPr>
              <a:t>和</a:t>
            </a:r>
            <a:r>
              <a:rPr lang="en-US" altLang="zh-CN" dirty="0">
                <a:solidFill>
                  <a:srgbClr val="0000FF"/>
                </a:solidFill>
                <a:latin typeface="微软雅黑" panose="020B0503020204020204" pitchFamily="34" charset="-122"/>
                <a:ea typeface="微软雅黑" panose="020B0503020204020204" pitchFamily="34" charset="-122"/>
              </a:rPr>
              <a:t>Z2</a:t>
            </a:r>
            <a:r>
              <a:rPr lang="zh-CN" altLang="en-US" dirty="0">
                <a:solidFill>
                  <a:srgbClr val="0000FF"/>
                </a:solidFill>
                <a:latin typeface="微软雅黑" panose="020B0503020204020204" pitchFamily="34" charset="-122"/>
                <a:ea typeface="微软雅黑" panose="020B0503020204020204" pitchFamily="34" charset="-122"/>
              </a:rPr>
              <a:t>分别是结果</a:t>
            </a:r>
            <a:r>
              <a:rPr lang="en-US" altLang="en-US" dirty="0">
                <a:solidFill>
                  <a:srgbClr val="0000FF"/>
                </a:solidFill>
                <a:latin typeface="微软雅黑" panose="020B0503020204020204" pitchFamily="34" charset="-122"/>
                <a:ea typeface="微软雅黑" panose="020B0503020204020204" pitchFamily="34" charset="-122"/>
              </a:rPr>
              <a:t>Z</a:t>
            </a:r>
            <a:r>
              <a:rPr lang="zh-CN" altLang="en-US" dirty="0">
                <a:solidFill>
                  <a:srgbClr val="0000FF"/>
                </a:solidFill>
                <a:latin typeface="微软雅黑" panose="020B0503020204020204" pitchFamily="34" charset="-122"/>
                <a:ea typeface="微软雅黑" panose="020B0503020204020204" pitchFamily="34" charset="-122"/>
              </a:rPr>
              <a:t>的最近的可表示的左、右两个数 )</a:t>
            </a:r>
            <a:endParaRPr lang="zh-CN" altLang="en-US" dirty="0">
              <a:solidFill>
                <a:srgbClr val="0000FF"/>
              </a:solidFill>
              <a:latin typeface="微软雅黑" panose="020B0503020204020204" pitchFamily="34" charset="-122"/>
              <a:ea typeface="微软雅黑" panose="020B0503020204020204" pitchFamily="34" charset="-122"/>
            </a:endParaRPr>
          </a:p>
          <a:p>
            <a:pPr>
              <a:lnSpc>
                <a:spcPct val="125000"/>
              </a:lnSpc>
              <a:buFont typeface="Monotype Sorts"/>
              <a:buChar char=" "/>
            </a:pPr>
            <a:r>
              <a:rPr lang="zh-CN" altLang="zh-CN" dirty="0">
                <a:solidFill>
                  <a:schemeClr val="accent2"/>
                </a:solidFill>
                <a:latin typeface="微软雅黑" panose="020B0503020204020204" pitchFamily="34" charset="-122"/>
                <a:ea typeface="微软雅黑" panose="020B0503020204020204" pitchFamily="34" charset="-122"/>
              </a:rPr>
              <a:t>(1)</a:t>
            </a:r>
            <a:r>
              <a:rPr lang="zh-CN" altLang="en-US" dirty="0">
                <a:solidFill>
                  <a:schemeClr val="accent2"/>
                </a:solidFill>
                <a:latin typeface="微软雅黑" panose="020B0503020204020204" pitchFamily="34" charset="-122"/>
                <a:ea typeface="微软雅黑" panose="020B0503020204020204" pitchFamily="34" charset="-122"/>
              </a:rPr>
              <a:t> 就近舍入：</a:t>
            </a:r>
            <a:r>
              <a:rPr lang="zh-CN" altLang="en-US" dirty="0">
                <a:latin typeface="微软雅黑" panose="020B0503020204020204" pitchFamily="34" charset="-122"/>
                <a:ea typeface="微软雅黑" panose="020B0503020204020204" pitchFamily="34" charset="-122"/>
              </a:rPr>
              <a:t>舍入为最近可表示的数</a:t>
            </a:r>
            <a:endParaRPr lang="zh-CN" altLang="en-US" dirty="0">
              <a:latin typeface="微软雅黑" panose="020B0503020204020204" pitchFamily="34" charset="-122"/>
              <a:ea typeface="微软雅黑" panose="020B0503020204020204" pitchFamily="34" charset="-122"/>
            </a:endParaRPr>
          </a:p>
          <a:p>
            <a:pPr>
              <a:lnSpc>
                <a:spcPct val="125000"/>
              </a:lnSpc>
              <a:buFont typeface="Monotype Sorts"/>
              <a:buChar char=" "/>
            </a:pPr>
            <a:r>
              <a:rPr lang="zh-CN" altLang="en-US" dirty="0">
                <a:latin typeface="微软雅黑" panose="020B0503020204020204" pitchFamily="34" charset="-122"/>
                <a:ea typeface="微软雅黑" panose="020B0503020204020204" pitchFamily="34" charset="-122"/>
              </a:rPr>
              <a:t>      非中间值：0舍1入</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25000"/>
              </a:lnSpc>
              <a:buFont typeface="Monotype Sorts"/>
              <a:buChar char=" "/>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中间值：</a:t>
            </a:r>
            <a:r>
              <a:rPr lang="zh-CN" altLang="en-US" dirty="0">
                <a:solidFill>
                  <a:srgbClr val="CC0000"/>
                </a:solidFill>
                <a:latin typeface="微软雅黑" panose="020B0503020204020204" pitchFamily="34" charset="-122"/>
                <a:ea typeface="微软雅黑" panose="020B0503020204020204" pitchFamily="34" charset="-122"/>
              </a:rPr>
              <a:t>强迫结果为偶数-慢</a:t>
            </a:r>
            <a:endParaRPr lang="zh-CN" altLang="en-US" dirty="0">
              <a:latin typeface="微软雅黑" panose="020B0503020204020204" pitchFamily="34" charset="-122"/>
              <a:ea typeface="微软雅黑" panose="020B0503020204020204" pitchFamily="34" charset="-122"/>
            </a:endParaRPr>
          </a:p>
          <a:p>
            <a:pPr>
              <a:lnSpc>
                <a:spcPct val="125000"/>
              </a:lnSpc>
              <a:buFont typeface="Monotype Sorts"/>
              <a:buChar char=" "/>
            </a:pPr>
            <a:endParaRPr lang="zh-CN" altLang="en-US" dirty="0">
              <a:solidFill>
                <a:schemeClr val="accent2"/>
              </a:solidFill>
              <a:latin typeface="微软雅黑" panose="020B0503020204020204" pitchFamily="34" charset="-122"/>
              <a:ea typeface="微软雅黑" panose="020B0503020204020204" pitchFamily="34" charset="-122"/>
            </a:endParaRPr>
          </a:p>
          <a:p>
            <a:pPr>
              <a:lnSpc>
                <a:spcPct val="125000"/>
              </a:lnSpc>
              <a:buFont typeface="Monotype Sorts"/>
              <a:buChar char=" "/>
            </a:pPr>
            <a:endParaRPr lang="zh-CN" altLang="en-US" dirty="0">
              <a:solidFill>
                <a:schemeClr val="accent2"/>
              </a:solidFill>
              <a:latin typeface="微软雅黑" panose="020B0503020204020204" pitchFamily="34" charset="-122"/>
              <a:ea typeface="微软雅黑" panose="020B0503020204020204" pitchFamily="34" charset="-122"/>
            </a:endParaRPr>
          </a:p>
          <a:p>
            <a:pPr>
              <a:lnSpc>
                <a:spcPct val="125000"/>
              </a:lnSpc>
              <a:buFont typeface="Monotype Sorts"/>
              <a:buChar char=" "/>
            </a:pPr>
            <a:endParaRPr lang="zh-CN" altLang="en-US" sz="1200" dirty="0">
              <a:solidFill>
                <a:schemeClr val="accent2"/>
              </a:solidFill>
              <a:latin typeface="微软雅黑" panose="020B0503020204020204" pitchFamily="34" charset="-122"/>
              <a:ea typeface="微软雅黑" panose="020B0503020204020204" pitchFamily="34" charset="-122"/>
            </a:endParaRPr>
          </a:p>
          <a:p>
            <a:pPr>
              <a:lnSpc>
                <a:spcPct val="125000"/>
              </a:lnSpc>
              <a:buFont typeface="Monotype Sorts"/>
              <a:buChar char=" "/>
            </a:pPr>
            <a:r>
              <a:rPr lang="zh-CN" altLang="en-US" dirty="0">
                <a:solidFill>
                  <a:schemeClr val="accent2"/>
                </a:solidFill>
                <a:latin typeface="微软雅黑" panose="020B0503020204020204" pitchFamily="34" charset="-122"/>
                <a:ea typeface="微软雅黑" panose="020B0503020204020204" pitchFamily="34" charset="-122"/>
              </a:rPr>
              <a:t>(2) 朝+∞方向舍入:</a:t>
            </a:r>
            <a:r>
              <a:rPr lang="zh-CN" altLang="en-US" dirty="0">
                <a:latin typeface="微软雅黑" panose="020B0503020204020204" pitchFamily="34" charset="-122"/>
                <a:ea typeface="微软雅黑" panose="020B0503020204020204" pitchFamily="34" charset="-122"/>
              </a:rPr>
              <a:t>舍入为</a:t>
            </a:r>
            <a:r>
              <a:rPr lang="en-US" altLang="en-US" dirty="0">
                <a:latin typeface="微软雅黑" panose="020B0503020204020204" pitchFamily="34" charset="-122"/>
                <a:ea typeface="微软雅黑" panose="020B0503020204020204" pitchFamily="34" charset="-122"/>
              </a:rPr>
              <a:t>Z2(</a:t>
            </a:r>
            <a:r>
              <a:rPr lang="zh-CN" altLang="en-US" dirty="0">
                <a:latin typeface="微软雅黑" panose="020B0503020204020204" pitchFamily="34" charset="-122"/>
                <a:ea typeface="微软雅黑" panose="020B0503020204020204" pitchFamily="34" charset="-122"/>
              </a:rPr>
              <a:t>正向舍入)</a:t>
            </a:r>
            <a:endParaRPr lang="zh-CN" altLang="en-US" dirty="0">
              <a:latin typeface="微软雅黑" panose="020B0503020204020204" pitchFamily="34" charset="-122"/>
              <a:ea typeface="微软雅黑" panose="020B0503020204020204" pitchFamily="34" charset="-122"/>
            </a:endParaRPr>
          </a:p>
          <a:p>
            <a:pPr>
              <a:lnSpc>
                <a:spcPct val="125000"/>
              </a:lnSpc>
              <a:buFont typeface="Monotype Sorts"/>
              <a:buChar char=" "/>
            </a:pPr>
            <a:r>
              <a:rPr lang="zh-CN" altLang="en-US" dirty="0">
                <a:solidFill>
                  <a:schemeClr val="accent2"/>
                </a:solidFill>
                <a:latin typeface="微软雅黑" panose="020B0503020204020204" pitchFamily="34" charset="-122"/>
                <a:ea typeface="微软雅黑" panose="020B0503020204020204" pitchFamily="34" charset="-122"/>
              </a:rPr>
              <a:t>(3) 朝-∞方向舍入:</a:t>
            </a:r>
            <a:r>
              <a:rPr lang="zh-CN" altLang="en-US" dirty="0">
                <a:latin typeface="微软雅黑" panose="020B0503020204020204" pitchFamily="34" charset="-122"/>
                <a:ea typeface="微软雅黑" panose="020B0503020204020204" pitchFamily="34" charset="-122"/>
              </a:rPr>
              <a:t>舍入为</a:t>
            </a:r>
            <a:r>
              <a:rPr lang="en-US" altLang="en-US" dirty="0">
                <a:latin typeface="微软雅黑" panose="020B0503020204020204" pitchFamily="34" charset="-122"/>
                <a:ea typeface="微软雅黑" panose="020B0503020204020204" pitchFamily="34" charset="-122"/>
              </a:rPr>
              <a:t>Z1(</a:t>
            </a:r>
            <a:r>
              <a:rPr lang="zh-CN" altLang="en-US" dirty="0">
                <a:latin typeface="微软雅黑" panose="020B0503020204020204" pitchFamily="34" charset="-122"/>
                <a:ea typeface="微软雅黑" panose="020B0503020204020204" pitchFamily="34" charset="-122"/>
              </a:rPr>
              <a:t>负向舍入)</a:t>
            </a:r>
            <a:endParaRPr lang="zh-CN" altLang="en-US" dirty="0">
              <a:latin typeface="微软雅黑" panose="020B0503020204020204" pitchFamily="34" charset="-122"/>
              <a:ea typeface="微软雅黑" panose="020B0503020204020204" pitchFamily="34" charset="-122"/>
            </a:endParaRPr>
          </a:p>
          <a:p>
            <a:pPr>
              <a:lnSpc>
                <a:spcPct val="125000"/>
              </a:lnSpc>
              <a:buFont typeface="Monotype Sorts"/>
              <a:buChar char=" "/>
            </a:pPr>
            <a:r>
              <a:rPr lang="zh-CN" altLang="en-US" dirty="0">
                <a:solidFill>
                  <a:schemeClr val="accent2"/>
                </a:solidFill>
                <a:latin typeface="微软雅黑" panose="020B0503020204020204" pitchFamily="34" charset="-122"/>
                <a:ea typeface="微软雅黑" panose="020B0503020204020204" pitchFamily="34" charset="-122"/>
              </a:rPr>
              <a:t>(4) 朝0方向舍入：</a:t>
            </a:r>
            <a:r>
              <a:rPr lang="zh-CN" altLang="en-US" dirty="0">
                <a:latin typeface="微软雅黑" panose="020B0503020204020204" pitchFamily="34" charset="-122"/>
                <a:ea typeface="微软雅黑" panose="020B0503020204020204" pitchFamily="34" charset="-122"/>
              </a:rPr>
              <a:t>截去。正数：取</a:t>
            </a:r>
            <a:r>
              <a:rPr lang="en-US" altLang="en-US" dirty="0">
                <a:latin typeface="微软雅黑" panose="020B0503020204020204" pitchFamily="34" charset="-122"/>
                <a:ea typeface="微软雅黑" panose="020B0503020204020204" pitchFamily="34" charset="-122"/>
              </a:rPr>
              <a:t>Z1;</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负数：取</a:t>
            </a:r>
            <a:r>
              <a:rPr lang="en-US" altLang="en-US" dirty="0">
                <a:latin typeface="微软雅黑" panose="020B0503020204020204" pitchFamily="34" charset="-122"/>
                <a:ea typeface="微软雅黑" panose="020B0503020204020204" pitchFamily="34" charset="-122"/>
              </a:rPr>
              <a:t>Z2</a:t>
            </a:r>
            <a:endParaRPr lang="en-US" altLang="zh-CN" dirty="0">
              <a:latin typeface="微软雅黑" panose="020B0503020204020204" pitchFamily="34" charset="-122"/>
              <a:ea typeface="微软雅黑" panose="020B0503020204020204" pitchFamily="34" charset="-122"/>
            </a:endParaRPr>
          </a:p>
          <a:p>
            <a:pPr lvl="1">
              <a:buFont typeface="Monotype Sorts"/>
              <a:buChar char=" "/>
            </a:pPr>
            <a:r>
              <a:rPr lang="en-US" altLang="zh-CN" sz="1800" dirty="0">
                <a:latin typeface="宋体" panose="02010600030101010101" pitchFamily="2" charset="-122"/>
              </a:rPr>
              <a:t>       </a:t>
            </a:r>
            <a:endParaRPr lang="zh-CN" altLang="en-US" sz="1800" dirty="0">
              <a:latin typeface="宋体" panose="02010600030101010101" pitchFamily="2" charset="-122"/>
            </a:endParaRPr>
          </a:p>
        </p:txBody>
      </p:sp>
      <p:sp>
        <p:nvSpPr>
          <p:cNvPr id="136195" name="Line 4"/>
          <p:cNvSpPr/>
          <p:nvPr/>
        </p:nvSpPr>
        <p:spPr>
          <a:xfrm>
            <a:off x="1524000" y="1279525"/>
            <a:ext cx="6553200" cy="0"/>
          </a:xfrm>
          <a:prstGeom prst="line">
            <a:avLst/>
          </a:prstGeom>
          <a:ln w="38100" cap="flat" cmpd="sng">
            <a:solidFill>
              <a:schemeClr val="tx1"/>
            </a:solidFill>
            <a:prstDash val="solid"/>
            <a:round/>
            <a:headEnd type="none" w="med" len="med"/>
            <a:tailEnd type="triangle" w="med" len="med"/>
          </a:ln>
        </p:spPr>
      </p:sp>
      <p:sp>
        <p:nvSpPr>
          <p:cNvPr id="136196" name="Line 5"/>
          <p:cNvSpPr/>
          <p:nvPr/>
        </p:nvSpPr>
        <p:spPr>
          <a:xfrm>
            <a:off x="2438400" y="1203325"/>
            <a:ext cx="0" cy="76200"/>
          </a:xfrm>
          <a:prstGeom prst="line">
            <a:avLst/>
          </a:prstGeom>
          <a:ln w="38100" cap="flat" cmpd="sng">
            <a:solidFill>
              <a:schemeClr val="tx1"/>
            </a:solidFill>
            <a:prstDash val="solid"/>
            <a:round/>
            <a:headEnd type="none" w="med" len="med"/>
            <a:tailEnd type="none" w="med" len="med"/>
          </a:ln>
        </p:spPr>
      </p:sp>
      <p:sp>
        <p:nvSpPr>
          <p:cNvPr id="136197" name="Line 6"/>
          <p:cNvSpPr/>
          <p:nvPr/>
        </p:nvSpPr>
        <p:spPr>
          <a:xfrm>
            <a:off x="6324600" y="1203325"/>
            <a:ext cx="0" cy="76200"/>
          </a:xfrm>
          <a:prstGeom prst="line">
            <a:avLst/>
          </a:prstGeom>
          <a:ln w="38100" cap="flat" cmpd="sng">
            <a:solidFill>
              <a:schemeClr val="tx1"/>
            </a:solidFill>
            <a:prstDash val="solid"/>
            <a:round/>
            <a:headEnd type="none" w="med" len="med"/>
            <a:tailEnd type="none" w="med" len="med"/>
          </a:ln>
        </p:spPr>
      </p:sp>
      <p:sp>
        <p:nvSpPr>
          <p:cNvPr id="136198" name="Text Box 7"/>
          <p:cNvSpPr txBox="1"/>
          <p:nvPr/>
        </p:nvSpPr>
        <p:spPr>
          <a:xfrm>
            <a:off x="6172200" y="1228725"/>
            <a:ext cx="431800" cy="457200"/>
          </a:xfrm>
          <a:prstGeom prst="rect">
            <a:avLst/>
          </a:prstGeom>
          <a:noFill/>
          <a:ln w="38100">
            <a:noFill/>
          </a:ln>
        </p:spPr>
        <p:txBody>
          <a:bodyPr anchor="t" anchorCtr="0">
            <a:spAutoFit/>
          </a:bodyPr>
          <a:p>
            <a:pPr>
              <a:spcBef>
                <a:spcPct val="50000"/>
              </a:spcBef>
              <a:buClrTx/>
              <a:buFontTx/>
            </a:pPr>
            <a:r>
              <a:rPr lang="zh-CN" altLang="en-US" sz="2400" dirty="0">
                <a:solidFill>
                  <a:srgbClr val="FF0066"/>
                </a:solidFill>
                <a:latin typeface="Arial" panose="020B0604020202020204" pitchFamily="34" charset="0"/>
                <a:ea typeface="宋体" panose="02010600030101010101" pitchFamily="2" charset="-122"/>
              </a:rPr>
              <a:t>0</a:t>
            </a:r>
            <a:endParaRPr lang="zh-CN" altLang="en-US" sz="2400" dirty="0">
              <a:solidFill>
                <a:srgbClr val="FF0066"/>
              </a:solidFill>
              <a:latin typeface="Arial" panose="020B0604020202020204" pitchFamily="34" charset="0"/>
              <a:ea typeface="宋体" panose="02010600030101010101" pitchFamily="2" charset="-122"/>
            </a:endParaRPr>
          </a:p>
        </p:txBody>
      </p:sp>
      <p:sp>
        <p:nvSpPr>
          <p:cNvPr id="136199" name="Text Box 8"/>
          <p:cNvSpPr txBox="1"/>
          <p:nvPr/>
        </p:nvSpPr>
        <p:spPr>
          <a:xfrm>
            <a:off x="2273300" y="1228725"/>
            <a:ext cx="400050" cy="457200"/>
          </a:xfrm>
          <a:prstGeom prst="rect">
            <a:avLst/>
          </a:prstGeom>
          <a:noFill/>
          <a:ln w="38100">
            <a:noFill/>
          </a:ln>
        </p:spPr>
        <p:txBody>
          <a:bodyPr anchor="t" anchorCtr="0">
            <a:spAutoFit/>
          </a:bodyPr>
          <a:p>
            <a:pPr>
              <a:buClrTx/>
              <a:buFontTx/>
            </a:pPr>
            <a:r>
              <a:rPr lang="zh-CN" altLang="en-US" sz="2400" dirty="0">
                <a:solidFill>
                  <a:srgbClr val="FF0066"/>
                </a:solidFill>
                <a:latin typeface="Arial" panose="020B0604020202020204" pitchFamily="34" charset="0"/>
                <a:ea typeface="宋体" panose="02010600030101010101" pitchFamily="2" charset="-122"/>
              </a:rPr>
              <a:t>0</a:t>
            </a:r>
            <a:endParaRPr lang="zh-CN" altLang="en-US" sz="2400" dirty="0">
              <a:solidFill>
                <a:srgbClr val="FF0066"/>
              </a:solidFill>
              <a:latin typeface="Arial" panose="020B0604020202020204" pitchFamily="34" charset="0"/>
              <a:ea typeface="宋体" panose="02010600030101010101" pitchFamily="2" charset="-122"/>
            </a:endParaRPr>
          </a:p>
        </p:txBody>
      </p:sp>
      <p:sp>
        <p:nvSpPr>
          <p:cNvPr id="136200" name="Line 9"/>
          <p:cNvSpPr/>
          <p:nvPr/>
        </p:nvSpPr>
        <p:spPr>
          <a:xfrm flipH="1">
            <a:off x="4508500" y="1127125"/>
            <a:ext cx="0" cy="152400"/>
          </a:xfrm>
          <a:prstGeom prst="line">
            <a:avLst/>
          </a:prstGeom>
          <a:ln w="38100" cap="flat" cmpd="sng">
            <a:solidFill>
              <a:schemeClr val="tx1"/>
            </a:solidFill>
            <a:prstDash val="solid"/>
            <a:round/>
            <a:headEnd type="none" w="med" len="med"/>
            <a:tailEnd type="none" w="med" len="med"/>
          </a:ln>
        </p:spPr>
      </p:sp>
      <p:sp>
        <p:nvSpPr>
          <p:cNvPr id="136201" name="Text Box 10"/>
          <p:cNvSpPr txBox="1"/>
          <p:nvPr/>
        </p:nvSpPr>
        <p:spPr>
          <a:xfrm>
            <a:off x="4321175" y="1279525"/>
            <a:ext cx="381000" cy="457200"/>
          </a:xfrm>
          <a:prstGeom prst="rect">
            <a:avLst/>
          </a:prstGeom>
          <a:noFill/>
          <a:ln w="38100">
            <a:noFill/>
          </a:ln>
        </p:spPr>
        <p:txBody>
          <a:bodyPr anchor="t" anchorCtr="0">
            <a:spAutoFit/>
          </a:bodyPr>
          <a:p>
            <a:pPr>
              <a:spcBef>
                <a:spcPct val="50000"/>
              </a:spcBef>
              <a:buClrTx/>
              <a:buFontTx/>
            </a:pPr>
            <a:r>
              <a:rPr lang="en-US" altLang="en-US" sz="2400" dirty="0">
                <a:latin typeface="Arial" panose="020B0604020202020204" pitchFamily="34" charset="0"/>
              </a:rPr>
              <a:t>Z</a:t>
            </a:r>
            <a:endParaRPr lang="en-US" altLang="zh-CN" sz="2400" dirty="0">
              <a:latin typeface="Arial" panose="020B0604020202020204" pitchFamily="34" charset="0"/>
            </a:endParaRPr>
          </a:p>
        </p:txBody>
      </p:sp>
      <p:sp>
        <p:nvSpPr>
          <p:cNvPr id="136202" name="Line 11"/>
          <p:cNvSpPr/>
          <p:nvPr/>
        </p:nvSpPr>
        <p:spPr>
          <a:xfrm>
            <a:off x="3886200" y="1203325"/>
            <a:ext cx="0" cy="76200"/>
          </a:xfrm>
          <a:prstGeom prst="line">
            <a:avLst/>
          </a:prstGeom>
          <a:ln w="38100" cap="flat" cmpd="sng">
            <a:solidFill>
              <a:schemeClr val="tx1"/>
            </a:solidFill>
            <a:prstDash val="solid"/>
            <a:round/>
            <a:headEnd type="none" w="med" len="med"/>
            <a:tailEnd type="none" w="med" len="med"/>
          </a:ln>
        </p:spPr>
      </p:sp>
      <p:sp>
        <p:nvSpPr>
          <p:cNvPr id="136203" name="Line 12"/>
          <p:cNvSpPr/>
          <p:nvPr/>
        </p:nvSpPr>
        <p:spPr>
          <a:xfrm flipH="1">
            <a:off x="5080000" y="1190625"/>
            <a:ext cx="0" cy="114300"/>
          </a:xfrm>
          <a:prstGeom prst="line">
            <a:avLst/>
          </a:prstGeom>
          <a:ln w="38100" cap="flat" cmpd="sng">
            <a:solidFill>
              <a:schemeClr val="tx1"/>
            </a:solidFill>
            <a:prstDash val="solid"/>
            <a:round/>
            <a:headEnd type="none" w="med" len="med"/>
            <a:tailEnd type="none" w="med" len="med"/>
          </a:ln>
        </p:spPr>
      </p:sp>
      <p:sp>
        <p:nvSpPr>
          <p:cNvPr id="136204" name="Text Box 13"/>
          <p:cNvSpPr txBox="1"/>
          <p:nvPr/>
        </p:nvSpPr>
        <p:spPr>
          <a:xfrm>
            <a:off x="3632200" y="1266825"/>
            <a:ext cx="546100" cy="457200"/>
          </a:xfrm>
          <a:prstGeom prst="rect">
            <a:avLst/>
          </a:prstGeom>
          <a:noFill/>
          <a:ln w="38100">
            <a:noFill/>
          </a:ln>
        </p:spPr>
        <p:txBody>
          <a:bodyPr anchor="t" anchorCtr="0">
            <a:spAutoFit/>
          </a:bodyPr>
          <a:p>
            <a:pPr>
              <a:spcBef>
                <a:spcPct val="50000"/>
              </a:spcBef>
              <a:buClrTx/>
              <a:buFontTx/>
            </a:pPr>
            <a:r>
              <a:rPr lang="en-US" altLang="zh-CN" sz="2400" dirty="0">
                <a:latin typeface="Arial" panose="020B0604020202020204" pitchFamily="34" charset="0"/>
              </a:rPr>
              <a:t>Z1</a:t>
            </a:r>
            <a:endParaRPr lang="en-US" altLang="zh-CN" sz="2400" dirty="0">
              <a:latin typeface="Arial" panose="020B0604020202020204" pitchFamily="34" charset="0"/>
            </a:endParaRPr>
          </a:p>
        </p:txBody>
      </p:sp>
      <p:sp>
        <p:nvSpPr>
          <p:cNvPr id="136205" name="Text Box 14"/>
          <p:cNvSpPr txBox="1"/>
          <p:nvPr/>
        </p:nvSpPr>
        <p:spPr>
          <a:xfrm>
            <a:off x="4889500" y="1279525"/>
            <a:ext cx="647700" cy="457200"/>
          </a:xfrm>
          <a:prstGeom prst="rect">
            <a:avLst/>
          </a:prstGeom>
          <a:noFill/>
          <a:ln w="38100">
            <a:noFill/>
          </a:ln>
        </p:spPr>
        <p:txBody>
          <a:bodyPr anchor="t" anchorCtr="0">
            <a:spAutoFit/>
          </a:bodyPr>
          <a:p>
            <a:pPr>
              <a:spcBef>
                <a:spcPct val="50000"/>
              </a:spcBef>
              <a:buClrTx/>
              <a:buFontTx/>
            </a:pPr>
            <a:r>
              <a:rPr lang="en-US" altLang="zh-CN" sz="2400" dirty="0">
                <a:latin typeface="Arial" panose="020B0604020202020204" pitchFamily="34" charset="0"/>
              </a:rPr>
              <a:t>Z2</a:t>
            </a:r>
            <a:endParaRPr lang="en-US" altLang="zh-CN" sz="2400" dirty="0">
              <a:latin typeface="Arial" panose="020B0604020202020204" pitchFamily="34" charset="0"/>
            </a:endParaRPr>
          </a:p>
        </p:txBody>
      </p:sp>
      <p:grpSp>
        <p:nvGrpSpPr>
          <p:cNvPr id="2" name="Group 21"/>
          <p:cNvGrpSpPr/>
          <p:nvPr/>
        </p:nvGrpSpPr>
        <p:grpSpPr>
          <a:xfrm>
            <a:off x="5507038" y="2573338"/>
            <a:ext cx="3430587" cy="1320800"/>
            <a:chOff x="3368" y="1346"/>
            <a:chExt cx="2161" cy="832"/>
          </a:xfrm>
        </p:grpSpPr>
        <p:sp>
          <p:nvSpPr>
            <p:cNvPr id="136207" name="Text Box 16"/>
            <p:cNvSpPr txBox="1"/>
            <p:nvPr/>
          </p:nvSpPr>
          <p:spPr>
            <a:xfrm>
              <a:off x="3550" y="1346"/>
              <a:ext cx="1979" cy="832"/>
            </a:xfrm>
            <a:prstGeom prst="rect">
              <a:avLst/>
            </a:prstGeom>
            <a:solidFill>
              <a:srgbClr val="CCFFFF"/>
            </a:solidFill>
            <a:ln w="9525" cap="flat" cmpd="sng">
              <a:solidFill>
                <a:srgbClr val="0000FF"/>
              </a:solidFill>
              <a:prstDash val="solid"/>
              <a:miter/>
              <a:headEnd type="none" w="med" len="med"/>
              <a:tailEnd type="none" w="med" len="med"/>
            </a:ln>
          </p:spPr>
          <p:txBody>
            <a:bodyPr anchor="t" anchorCtr="0">
              <a:spAutoFit/>
            </a:bodyPr>
            <a:p>
              <a:pPr eaLnBrk="0" hangingPunct="0">
                <a:buClrTx/>
                <a:buFontTx/>
              </a:pPr>
              <a:r>
                <a:rPr lang="zh-CN" altLang="en-US" sz="2000" dirty="0">
                  <a:solidFill>
                    <a:srgbClr val="0000FF"/>
                  </a:solidFill>
                  <a:latin typeface="微软雅黑" panose="020B0503020204020204" pitchFamily="34" charset="-122"/>
                  <a:ea typeface="微软雅黑" panose="020B0503020204020204" pitchFamily="34" charset="-122"/>
                </a:rPr>
                <a:t>例如：附加位为</a:t>
              </a:r>
              <a:endParaRPr lang="zh-CN" altLang="en-US" sz="2000" dirty="0">
                <a:solidFill>
                  <a:srgbClr val="0000FF"/>
                </a:solidFill>
                <a:latin typeface="微软雅黑" panose="020B0503020204020204" pitchFamily="34" charset="-122"/>
                <a:ea typeface="微软雅黑" panose="020B0503020204020204" pitchFamily="34" charset="-122"/>
              </a:endParaRPr>
            </a:p>
            <a:p>
              <a:pPr eaLnBrk="0" hangingPunct="0">
                <a:buClrTx/>
                <a:buFontTx/>
              </a:pPr>
              <a:r>
                <a:rPr lang="zh-CN" altLang="en-US" sz="2000" dirty="0">
                  <a:latin typeface="微软雅黑" panose="020B0503020204020204" pitchFamily="34" charset="-122"/>
                  <a:ea typeface="微软雅黑" panose="020B0503020204020204" pitchFamily="34" charset="-122"/>
                </a:rPr>
                <a:t>01：舍</a:t>
              </a:r>
              <a:endParaRPr lang="zh-CN" altLang="en-US" sz="2000" dirty="0">
                <a:latin typeface="微软雅黑" panose="020B0503020204020204" pitchFamily="34" charset="-122"/>
                <a:ea typeface="微软雅黑" panose="020B0503020204020204" pitchFamily="34" charset="-122"/>
              </a:endParaRPr>
            </a:p>
            <a:p>
              <a:pPr eaLnBrk="0" hangingPunct="0">
                <a:buClrTx/>
                <a:buFontTx/>
              </a:pPr>
              <a:r>
                <a:rPr lang="zh-CN" altLang="en-US" sz="2000" dirty="0">
                  <a:latin typeface="微软雅黑" panose="020B0503020204020204" pitchFamily="34" charset="-122"/>
                  <a:ea typeface="微软雅黑" panose="020B0503020204020204" pitchFamily="34" charset="-122"/>
                </a:rPr>
                <a:t>11：入</a:t>
              </a:r>
              <a:endParaRPr lang="zh-CN" altLang="en-US" sz="2000" dirty="0">
                <a:latin typeface="微软雅黑" panose="020B0503020204020204" pitchFamily="34" charset="-122"/>
                <a:ea typeface="微软雅黑" panose="020B0503020204020204" pitchFamily="34" charset="-122"/>
              </a:endParaRPr>
            </a:p>
            <a:p>
              <a:pPr eaLnBrk="0" hangingPunct="0">
                <a:buClrTx/>
                <a:buFontTx/>
              </a:pPr>
              <a:r>
                <a:rPr lang="zh-CN" altLang="en-US"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：(强迫结果为偶数)</a:t>
              </a:r>
              <a:endParaRPr lang="zh-CN" altLang="en-US" sz="2000" dirty="0">
                <a:latin typeface="微软雅黑" panose="020B0503020204020204" pitchFamily="34" charset="-122"/>
                <a:ea typeface="微软雅黑" panose="020B0503020204020204" pitchFamily="34" charset="-122"/>
              </a:endParaRPr>
            </a:p>
          </p:txBody>
        </p:sp>
        <p:sp>
          <p:nvSpPr>
            <p:cNvPr id="136208" name="AutoShape 17"/>
            <p:cNvSpPr/>
            <p:nvPr/>
          </p:nvSpPr>
          <p:spPr>
            <a:xfrm>
              <a:off x="3368" y="1477"/>
              <a:ext cx="118" cy="541"/>
            </a:xfrm>
            <a:prstGeom prst="rightBrace">
              <a:avLst>
                <a:gd name="adj1" fmla="val 38057"/>
                <a:gd name="adj2" fmla="val 50000"/>
              </a:avLst>
            </a:prstGeom>
            <a:noFill/>
            <a:ln w="28575" cap="flat" cmpd="sng">
              <a:solidFill>
                <a:srgbClr val="0000FF"/>
              </a:solidFill>
              <a:prstDash val="solid"/>
              <a:round/>
              <a:headEnd type="none" w="med" len="med"/>
              <a:tailEnd type="none" w="med" len="med"/>
            </a:ln>
          </p:spPr>
          <p:txBody>
            <a:bodyPr wrap="none" anchor="ctr" anchorCtr="0"/>
            <a:p>
              <a:pPr eaLnBrk="0" hangingPunct="0">
                <a:buClrTx/>
                <a:buFontTx/>
              </a:pPr>
              <a:endParaRPr lang="zh-CN" altLang="en-US" dirty="0">
                <a:latin typeface="Times New Roman" panose="02020603050405020304" pitchFamily="18" charset="0"/>
                <a:ea typeface="宋体" panose="02010600030101010101" pitchFamily="2" charset="-122"/>
              </a:endParaRPr>
            </a:p>
          </p:txBody>
        </p:sp>
      </p:grpSp>
      <p:sp>
        <p:nvSpPr>
          <p:cNvPr id="216082" name="Text Box 18"/>
          <p:cNvSpPr txBox="1"/>
          <p:nvPr/>
        </p:nvSpPr>
        <p:spPr>
          <a:xfrm>
            <a:off x="341313" y="4103688"/>
            <a:ext cx="7569200" cy="762000"/>
          </a:xfrm>
          <a:prstGeom prst="rect">
            <a:avLst/>
          </a:prstGeom>
          <a:noFill/>
          <a:ln w="12700">
            <a:noFill/>
          </a:ln>
        </p:spPr>
        <p:txBody>
          <a:bodyPr anchor="t" anchorCtr="0">
            <a:spAutoFit/>
          </a:bodyPr>
          <a:p>
            <a:pPr eaLnBrk="0" hangingPunct="0">
              <a:buClrTx/>
              <a:buFontTx/>
            </a:pPr>
            <a:r>
              <a:rPr lang="zh-CN" altLang="en-US" sz="2200" dirty="0">
                <a:latin typeface="微软雅黑" panose="020B0503020204020204" pitchFamily="34" charset="-122"/>
                <a:ea typeface="微软雅黑" panose="020B0503020204020204" pitchFamily="34" charset="-122"/>
              </a:rPr>
              <a:t>  例：</a:t>
            </a:r>
            <a:r>
              <a:rPr lang="en-US" altLang="zh-CN" sz="2200" dirty="0">
                <a:latin typeface="微软雅黑" panose="020B0503020204020204" pitchFamily="34" charset="-122"/>
                <a:ea typeface="微软雅黑" panose="020B0503020204020204" pitchFamily="34" charset="-122"/>
              </a:rPr>
              <a:t>1.1101</a:t>
            </a:r>
            <a:r>
              <a:rPr lang="en-US" altLang="zh-CN" sz="2200" dirty="0">
                <a:solidFill>
                  <a:srgbClr val="CC0000"/>
                </a:solidFill>
                <a:latin typeface="微软雅黑" panose="020B0503020204020204" pitchFamily="34" charset="-122"/>
                <a:ea typeface="微软雅黑" panose="020B0503020204020204" pitchFamily="34" charset="-122"/>
              </a:rPr>
              <a:t>11</a:t>
            </a:r>
            <a:r>
              <a:rPr lang="en-US" altLang="zh-CN" sz="2200" dirty="0">
                <a:latin typeface="微软雅黑" panose="020B0503020204020204" pitchFamily="34" charset="-122"/>
                <a:ea typeface="微软雅黑" panose="020B0503020204020204" pitchFamily="34" charset="-122"/>
              </a:rPr>
              <a:t> → 1.1110;    1.1101</a:t>
            </a:r>
            <a:r>
              <a:rPr lang="en-US" altLang="zh-CN" sz="2200" dirty="0">
                <a:solidFill>
                  <a:srgbClr val="CC0000"/>
                </a:solidFill>
                <a:latin typeface="微软雅黑" panose="020B0503020204020204" pitchFamily="34" charset="-122"/>
                <a:ea typeface="微软雅黑" panose="020B0503020204020204" pitchFamily="34" charset="-122"/>
              </a:rPr>
              <a:t>01</a:t>
            </a:r>
            <a:r>
              <a:rPr lang="en-US" altLang="zh-CN" sz="2200"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1.1101;    </a:t>
            </a:r>
            <a:endParaRPr lang="en-US" altLang="zh-CN" sz="2200" dirty="0">
              <a:latin typeface="微软雅黑" panose="020B0503020204020204" pitchFamily="34" charset="-122"/>
              <a:ea typeface="微软雅黑" panose="020B0503020204020204" pitchFamily="34" charset="-122"/>
            </a:endParaRPr>
          </a:p>
          <a:p>
            <a:pPr eaLnBrk="0" hangingPunct="0">
              <a:buClrTx/>
              <a:buFontTx/>
            </a:pPr>
            <a:r>
              <a:rPr lang="en-US" altLang="zh-CN" sz="2200" dirty="0">
                <a:latin typeface="微软雅黑" panose="020B0503020204020204" pitchFamily="34" charset="-122"/>
                <a:ea typeface="微软雅黑" panose="020B0503020204020204" pitchFamily="34" charset="-122"/>
              </a:rPr>
              <a:t>        1.1101</a:t>
            </a:r>
            <a:r>
              <a:rPr lang="en-US" altLang="zh-CN" sz="2200" dirty="0">
                <a:solidFill>
                  <a:srgbClr val="CC0000"/>
                </a:solidFill>
                <a:latin typeface="微软雅黑" panose="020B0503020204020204" pitchFamily="34" charset="-122"/>
                <a:ea typeface="微软雅黑" panose="020B0503020204020204" pitchFamily="34" charset="-122"/>
              </a:rPr>
              <a:t>10</a:t>
            </a:r>
            <a:r>
              <a:rPr lang="en-US" altLang="zh-CN" sz="2200"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1.1110;    1.1111</a:t>
            </a:r>
            <a:r>
              <a:rPr lang="en-US" altLang="zh-CN" sz="2200" dirty="0">
                <a:solidFill>
                  <a:srgbClr val="CC0000"/>
                </a:solidFill>
                <a:latin typeface="微软雅黑" panose="020B0503020204020204" pitchFamily="34" charset="-122"/>
                <a:ea typeface="微软雅黑" panose="020B0503020204020204" pitchFamily="34" charset="-122"/>
              </a:rPr>
              <a:t>10</a:t>
            </a:r>
            <a:r>
              <a:rPr lang="en-US" altLang="zh-CN" sz="2200" dirty="0">
                <a:latin typeface="微软雅黑" panose="020B0503020204020204" pitchFamily="34" charset="-122"/>
                <a:ea typeface="微软雅黑" panose="020B0503020204020204" pitchFamily="34" charset="-122"/>
              </a:rPr>
              <a:t> → 10.0000;</a:t>
            </a:r>
            <a:r>
              <a:rPr lang="en-US" altLang="zh-CN" sz="2200" dirty="0">
                <a:latin typeface="Arial" panose="020B0604020202020204" pitchFamily="34" charset="0"/>
                <a:ea typeface="微软雅黑" panose="020B0503020204020204" pitchFamily="34" charset="-122"/>
              </a:rPr>
              <a:t> </a:t>
            </a:r>
            <a:endParaRPr lang="en-US" altLang="en-US" sz="2200" dirty="0">
              <a:latin typeface="Arial" panose="020B0604020202020204" pitchFamily="34" charset="0"/>
              <a:ea typeface="微软雅黑" panose="020B0503020204020204" pitchFamily="34" charset="-122"/>
            </a:endParaRPr>
          </a:p>
        </p:txBody>
      </p:sp>
      <p:sp>
        <p:nvSpPr>
          <p:cNvPr id="19" name="Text Box 9"/>
          <p:cNvSpPr txBox="1"/>
          <p:nvPr/>
        </p:nvSpPr>
        <p:spPr>
          <a:xfrm>
            <a:off x="7264400" y="5276850"/>
            <a:ext cx="895350" cy="336550"/>
          </a:xfrm>
          <a:prstGeom prst="rect">
            <a:avLst/>
          </a:prstGeom>
          <a:noFill/>
          <a:ln w="12700">
            <a:noFill/>
          </a:ln>
        </p:spPr>
        <p:txBody>
          <a:bodyPr anchor="t" anchorCtr="0">
            <a:spAutoFit/>
          </a:bodyPr>
          <a:p>
            <a:pPr eaLnBrk="0" hangingPunct="0">
              <a:spcBef>
                <a:spcPct val="50000"/>
              </a:spcBef>
            </a:pPr>
            <a:r>
              <a:rPr lang="en-US" altLang="zh-CN" dirty="0">
                <a:latin typeface="微软雅黑" panose="020B0503020204020204" pitchFamily="34" charset="-122"/>
                <a:ea typeface="微软雅黑" panose="020B0503020204020204" pitchFamily="34" charset="-122"/>
                <a:hlinkClick r:id="rId1" action="ppaction://hlinksldjump"/>
              </a:rPr>
              <a:t>BACK</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6067">
                                            <p:txEl>
                                              <p:charRg st="45" end="65"/>
                                            </p:txEl>
                                          </p:spTgt>
                                        </p:tgtEl>
                                        <p:attrNameLst>
                                          <p:attrName>style.visibility</p:attrName>
                                        </p:attrNameLst>
                                      </p:cBhvr>
                                      <p:to>
                                        <p:strVal val="visible"/>
                                      </p:to>
                                    </p:set>
                                    <p:animEffect transition="in" filter="blinds(horizontal)">
                                      <p:cBhvr>
                                        <p:cTn id="7" dur="500"/>
                                        <p:tgtEl>
                                          <p:spTgt spid="216067">
                                            <p:txEl>
                                              <p:charRg st="45" end="6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6067">
                                            <p:txEl>
                                              <p:charRg st="65" end="82"/>
                                            </p:txEl>
                                          </p:spTgt>
                                        </p:tgtEl>
                                        <p:attrNameLst>
                                          <p:attrName>style.visibility</p:attrName>
                                        </p:attrNameLst>
                                      </p:cBhvr>
                                      <p:to>
                                        <p:strVal val="visible"/>
                                      </p:to>
                                    </p:set>
                                    <p:animEffect transition="in" filter="blinds(horizontal)">
                                      <p:cBhvr>
                                        <p:cTn id="12" dur="500"/>
                                        <p:tgtEl>
                                          <p:spTgt spid="216067">
                                            <p:txEl>
                                              <p:charRg st="65" end="8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6067">
                                            <p:txEl>
                                              <p:charRg st="82" end="102"/>
                                            </p:txEl>
                                          </p:spTgt>
                                        </p:tgtEl>
                                        <p:attrNameLst>
                                          <p:attrName>style.visibility</p:attrName>
                                        </p:attrNameLst>
                                      </p:cBhvr>
                                      <p:to>
                                        <p:strVal val="visible"/>
                                      </p:to>
                                    </p:set>
                                    <p:animEffect transition="in" filter="blinds(horizontal)">
                                      <p:cBhvr>
                                        <p:cTn id="17" dur="500"/>
                                        <p:tgtEl>
                                          <p:spTgt spid="216067">
                                            <p:txEl>
                                              <p:charRg st="82" end="10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6082"/>
                                        </p:tgtEl>
                                        <p:attrNameLst>
                                          <p:attrName>style.visibility</p:attrName>
                                        </p:attrNameLst>
                                      </p:cBhvr>
                                      <p:to>
                                        <p:strVal val="visible"/>
                                      </p:to>
                                    </p:set>
                                    <p:animEffect transition="in" filter="blinds(horizontal)">
                                      <p:cBhvr>
                                        <p:cTn id="27" dur="500"/>
                                        <p:tgtEl>
                                          <p:spTgt spid="21608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6067">
                                            <p:txEl>
                                              <p:charRg st="105" end="129"/>
                                            </p:txEl>
                                          </p:spTgt>
                                        </p:tgtEl>
                                        <p:attrNameLst>
                                          <p:attrName>style.visibility</p:attrName>
                                        </p:attrNameLst>
                                      </p:cBhvr>
                                      <p:to>
                                        <p:strVal val="visible"/>
                                      </p:to>
                                    </p:set>
                                    <p:animEffect transition="in" filter="blinds(horizontal)">
                                      <p:cBhvr>
                                        <p:cTn id="32" dur="500"/>
                                        <p:tgtEl>
                                          <p:spTgt spid="216067">
                                            <p:txEl>
                                              <p:charRg st="105" end="12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6067">
                                            <p:txEl>
                                              <p:charRg st="129" end="153"/>
                                            </p:txEl>
                                          </p:spTgt>
                                        </p:tgtEl>
                                        <p:attrNameLst>
                                          <p:attrName>style.visibility</p:attrName>
                                        </p:attrNameLst>
                                      </p:cBhvr>
                                      <p:to>
                                        <p:strVal val="visible"/>
                                      </p:to>
                                    </p:set>
                                    <p:animEffect transition="in" filter="blinds(horizontal)">
                                      <p:cBhvr>
                                        <p:cTn id="37" dur="500"/>
                                        <p:tgtEl>
                                          <p:spTgt spid="216067">
                                            <p:txEl>
                                              <p:charRg st="129" end="15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6067">
                                            <p:txEl>
                                              <p:charRg st="153" end="183"/>
                                            </p:txEl>
                                          </p:spTgt>
                                        </p:tgtEl>
                                        <p:attrNameLst>
                                          <p:attrName>style.visibility</p:attrName>
                                        </p:attrNameLst>
                                      </p:cBhvr>
                                      <p:to>
                                        <p:strVal val="visible"/>
                                      </p:to>
                                    </p:set>
                                    <p:animEffect transition="in" filter="blinds(horizontal)">
                                      <p:cBhvr>
                                        <p:cTn id="42" dur="500"/>
                                        <p:tgtEl>
                                          <p:spTgt spid="216067">
                                            <p:txEl>
                                              <p:charRg st="153" end="18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blinds(horizontal)">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82" grpId="0"/>
      <p:bldP spid="19"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溢出判断</a:t>
            </a:r>
            <a:endParaRPr lang="zh-CN" altLang="en-US" dirty="0">
              <a:ea typeface="宋体" panose="02010600030101010101" pitchFamily="2" charset="-122"/>
            </a:endParaRPr>
          </a:p>
        </p:txBody>
      </p:sp>
      <p:sp>
        <p:nvSpPr>
          <p:cNvPr id="475139" name="Rectangle 3"/>
          <p:cNvSpPr>
            <a:spLocks noGrp="1"/>
          </p:cNvSpPr>
          <p:nvPr>
            <p:ph idx="1"/>
          </p:nvPr>
        </p:nvSpPr>
        <p:spPr>
          <a:xfrm>
            <a:off x="349250" y="927100"/>
            <a:ext cx="8191500" cy="4279900"/>
          </a:xfrm>
          <a:ln/>
        </p:spPr>
        <p:txBody>
          <a:bodyPr vert="horz" wrap="square" lIns="63500" tIns="25400" rIns="63500" bIns="25400" anchor="t" anchorCtr="0">
            <a:spAutoFit/>
          </a:bodyPr>
          <a:p>
            <a:pPr>
              <a:lnSpc>
                <a:spcPct val="130000"/>
              </a:lnSpc>
              <a:buNone/>
            </a:pPr>
            <a:r>
              <a:rPr lang="zh-CN" altLang="en-US" sz="2400" dirty="0">
                <a:latin typeface="微软雅黑" panose="020B0503020204020204" pitchFamily="34" charset="-122"/>
                <a:ea typeface="微软雅黑" panose="020B0503020204020204" pitchFamily="34" charset="-122"/>
              </a:rPr>
              <a:t>以下情况下，可能会导致阶码溢出</a:t>
            </a:r>
            <a:endParaRPr lang="zh-CN" altLang="en-US" sz="2400" dirty="0">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左规（阶码 </a:t>
            </a:r>
            <a:r>
              <a:rPr lang="en-US" altLang="zh-CN" sz="2200" dirty="0">
                <a:latin typeface="微软雅黑" panose="020B0503020204020204" pitchFamily="34" charset="-122"/>
                <a:ea typeface="微软雅黑" panose="020B0503020204020204" pitchFamily="34" charset="-122"/>
              </a:rPr>
              <a:t>- 1</a:t>
            </a:r>
            <a:r>
              <a:rPr lang="zh-CN" altLang="en-US" sz="2200" dirty="0">
                <a:latin typeface="微软雅黑" panose="020B0503020204020204" pitchFamily="34" charset="-122"/>
                <a:ea typeface="微软雅黑" panose="020B0503020204020204" pitchFamily="34" charset="-122"/>
              </a:rPr>
              <a:t>）时</a:t>
            </a:r>
            <a:r>
              <a:rPr lang="en-US" altLang="zh-CN" sz="2200" dirty="0">
                <a:latin typeface="微软雅黑" panose="020B0503020204020204" pitchFamily="34" charset="-122"/>
                <a:ea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endParaRPr>
          </a:p>
          <a:p>
            <a:pPr lvl="2">
              <a:lnSpc>
                <a:spcPct val="130000"/>
              </a:lnSpc>
            </a:pPr>
            <a:r>
              <a:rPr lang="zh-CN" altLang="en-US" sz="2200" dirty="0">
                <a:solidFill>
                  <a:srgbClr val="CC3300"/>
                </a:solidFill>
                <a:latin typeface="微软雅黑" panose="020B0503020204020204" pitchFamily="34" charset="-122"/>
                <a:ea typeface="微软雅黑" panose="020B0503020204020204" pitchFamily="34" charset="-122"/>
              </a:rPr>
              <a:t>左规（</a:t>
            </a:r>
            <a:r>
              <a:rPr lang="en-US" altLang="zh-CN" sz="2200" dirty="0">
                <a:solidFill>
                  <a:srgbClr val="CC3300"/>
                </a:solidFill>
                <a:latin typeface="微软雅黑" panose="020B0503020204020204" pitchFamily="34" charset="-122"/>
                <a:ea typeface="微软雅黑" panose="020B0503020204020204" pitchFamily="34" charset="-122"/>
              </a:rPr>
              <a:t>- 1</a:t>
            </a:r>
            <a:r>
              <a:rPr lang="zh-CN" altLang="en-US" sz="2200" dirty="0">
                <a:solidFill>
                  <a:srgbClr val="CC3300"/>
                </a:solidFill>
                <a:latin typeface="微软雅黑" panose="020B0503020204020204" pitchFamily="34" charset="-122"/>
                <a:ea typeface="微软雅黑" panose="020B0503020204020204" pitchFamily="34" charset="-122"/>
              </a:rPr>
              <a:t>）时：先判断阶码是否为全</a:t>
            </a:r>
            <a:r>
              <a:rPr lang="en-US" altLang="zh-CN" sz="2200" dirty="0">
                <a:solidFill>
                  <a:srgbClr val="CC3300"/>
                </a:solidFill>
                <a:latin typeface="微软雅黑" panose="020B0503020204020204" pitchFamily="34" charset="-122"/>
                <a:ea typeface="微软雅黑" panose="020B0503020204020204" pitchFamily="34" charset="-122"/>
              </a:rPr>
              <a:t>0</a:t>
            </a:r>
            <a:r>
              <a:rPr lang="zh-CN" altLang="en-US" sz="2200" dirty="0">
                <a:solidFill>
                  <a:srgbClr val="CC3300"/>
                </a:solidFill>
                <a:latin typeface="微软雅黑" panose="020B0503020204020204" pitchFamily="34" charset="-122"/>
                <a:ea typeface="微软雅黑" panose="020B0503020204020204" pitchFamily="34" charset="-122"/>
              </a:rPr>
              <a:t>，若是，则直接置阶码下溢；否则，阶码减</a:t>
            </a:r>
            <a:r>
              <a:rPr lang="en-US" altLang="zh-CN" sz="2200" dirty="0">
                <a:solidFill>
                  <a:srgbClr val="CC3300"/>
                </a:solidFill>
                <a:latin typeface="微软雅黑" panose="020B0503020204020204" pitchFamily="34" charset="-122"/>
                <a:ea typeface="微软雅黑" panose="020B0503020204020204" pitchFamily="34" charset="-122"/>
              </a:rPr>
              <a:t>1</a:t>
            </a:r>
            <a:r>
              <a:rPr lang="zh-CN" altLang="en-US" sz="2200" dirty="0">
                <a:solidFill>
                  <a:srgbClr val="CC3300"/>
                </a:solidFill>
                <a:latin typeface="微软雅黑" panose="020B0503020204020204" pitchFamily="34" charset="-122"/>
                <a:ea typeface="微软雅黑" panose="020B0503020204020204" pitchFamily="34" charset="-122"/>
              </a:rPr>
              <a:t>后判断阶码是否为全</a:t>
            </a:r>
            <a:r>
              <a:rPr lang="en-US" altLang="zh-CN" sz="2200" dirty="0">
                <a:solidFill>
                  <a:srgbClr val="CC3300"/>
                </a:solidFill>
                <a:latin typeface="微软雅黑" panose="020B0503020204020204" pitchFamily="34" charset="-122"/>
                <a:ea typeface="微软雅黑" panose="020B0503020204020204" pitchFamily="34" charset="-122"/>
              </a:rPr>
              <a:t>0</a:t>
            </a:r>
            <a:r>
              <a:rPr lang="zh-CN" altLang="en-US" sz="2200" dirty="0">
                <a:solidFill>
                  <a:srgbClr val="CC3300"/>
                </a:solidFill>
                <a:latin typeface="微软雅黑" panose="020B0503020204020204" pitchFamily="34" charset="-122"/>
                <a:ea typeface="微软雅黑" panose="020B0503020204020204" pitchFamily="34" charset="-122"/>
              </a:rPr>
              <a:t>，若是，则阶码下溢。</a:t>
            </a:r>
            <a:endParaRPr lang="zh-CN" altLang="en-US" sz="2200" dirty="0">
              <a:solidFill>
                <a:srgbClr val="CC3300"/>
              </a:solidFill>
              <a:latin typeface="微软雅黑" panose="020B0503020204020204" pitchFamily="34" charset="-122"/>
              <a:ea typeface="微软雅黑" panose="020B0503020204020204" pitchFamily="34" charset="-122"/>
            </a:endParaRPr>
          </a:p>
          <a:p>
            <a:pPr lvl="1">
              <a:lnSpc>
                <a:spcPct val="130000"/>
              </a:lnSpc>
            </a:pPr>
            <a:r>
              <a:rPr lang="zh-CN" altLang="en-US" sz="2200" dirty="0">
                <a:latin typeface="微软雅黑" panose="020B0503020204020204" pitchFamily="34" charset="-122"/>
                <a:ea typeface="微软雅黑" panose="020B0503020204020204" pitchFamily="34" charset="-122"/>
              </a:rPr>
              <a:t>右规（阶码 </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）时</a:t>
            </a:r>
            <a:endParaRPr lang="zh-CN" altLang="en-US" sz="2600" dirty="0">
              <a:solidFill>
                <a:srgbClr val="CC3300"/>
              </a:solidFill>
              <a:latin typeface="微软雅黑" panose="020B0503020204020204" pitchFamily="34" charset="-122"/>
              <a:ea typeface="微软雅黑" panose="020B0503020204020204" pitchFamily="34" charset="-122"/>
            </a:endParaRPr>
          </a:p>
          <a:p>
            <a:pPr lvl="2">
              <a:lnSpc>
                <a:spcPct val="130000"/>
              </a:lnSpc>
            </a:pPr>
            <a:r>
              <a:rPr lang="zh-CN" altLang="en-US" sz="2200" dirty="0">
                <a:solidFill>
                  <a:srgbClr val="CC3300"/>
                </a:solidFill>
                <a:latin typeface="微软雅黑" panose="020B0503020204020204" pitchFamily="34" charset="-122"/>
                <a:ea typeface="微软雅黑" panose="020B0503020204020204" pitchFamily="34" charset="-122"/>
              </a:rPr>
              <a:t>右规（</a:t>
            </a:r>
            <a:r>
              <a:rPr lang="en-US" altLang="zh-CN" sz="2200" dirty="0">
                <a:solidFill>
                  <a:srgbClr val="CC3300"/>
                </a:solidFill>
                <a:latin typeface="微软雅黑" panose="020B0503020204020204" pitchFamily="34" charset="-122"/>
                <a:ea typeface="微软雅黑" panose="020B0503020204020204" pitchFamily="34" charset="-122"/>
              </a:rPr>
              <a:t>+ 1</a:t>
            </a:r>
            <a:r>
              <a:rPr lang="zh-CN" altLang="en-US" sz="2200" dirty="0">
                <a:solidFill>
                  <a:srgbClr val="CC3300"/>
                </a:solidFill>
                <a:latin typeface="微软雅黑" panose="020B0503020204020204" pitchFamily="34" charset="-122"/>
                <a:ea typeface="微软雅黑" panose="020B0503020204020204" pitchFamily="34" charset="-122"/>
              </a:rPr>
              <a:t>）时，先判断阶码是否为全</a:t>
            </a:r>
            <a:r>
              <a:rPr lang="en-US" altLang="zh-CN" sz="2200" dirty="0">
                <a:solidFill>
                  <a:srgbClr val="CC3300"/>
                </a:solidFill>
                <a:latin typeface="微软雅黑" panose="020B0503020204020204" pitchFamily="34" charset="-122"/>
                <a:ea typeface="微软雅黑" panose="020B0503020204020204" pitchFamily="34" charset="-122"/>
              </a:rPr>
              <a:t>1</a:t>
            </a:r>
            <a:r>
              <a:rPr lang="zh-CN" altLang="en-US" sz="2200" dirty="0">
                <a:solidFill>
                  <a:srgbClr val="CC3300"/>
                </a:solidFill>
                <a:latin typeface="微软雅黑" panose="020B0503020204020204" pitchFamily="34" charset="-122"/>
                <a:ea typeface="微软雅黑" panose="020B0503020204020204" pitchFamily="34" charset="-122"/>
              </a:rPr>
              <a:t>，若是，则直接置阶码上溢；否则，阶码加</a:t>
            </a:r>
            <a:r>
              <a:rPr lang="en-US" altLang="zh-CN" sz="2200" dirty="0">
                <a:solidFill>
                  <a:srgbClr val="CC3300"/>
                </a:solidFill>
                <a:latin typeface="微软雅黑" panose="020B0503020204020204" pitchFamily="34" charset="-122"/>
                <a:ea typeface="微软雅黑" panose="020B0503020204020204" pitchFamily="34" charset="-122"/>
              </a:rPr>
              <a:t>1</a:t>
            </a:r>
            <a:r>
              <a:rPr lang="zh-CN" altLang="en-US" sz="2200" dirty="0">
                <a:solidFill>
                  <a:srgbClr val="CC3300"/>
                </a:solidFill>
                <a:latin typeface="微软雅黑" panose="020B0503020204020204" pitchFamily="34" charset="-122"/>
                <a:ea typeface="微软雅黑" panose="020B0503020204020204" pitchFamily="34" charset="-122"/>
              </a:rPr>
              <a:t>后判断阶码是否为全</a:t>
            </a:r>
            <a:r>
              <a:rPr lang="en-US" altLang="zh-CN" sz="2200" dirty="0">
                <a:solidFill>
                  <a:srgbClr val="CC3300"/>
                </a:solidFill>
                <a:latin typeface="微软雅黑" panose="020B0503020204020204" pitchFamily="34" charset="-122"/>
                <a:ea typeface="微软雅黑" panose="020B0503020204020204" pitchFamily="34" charset="-122"/>
              </a:rPr>
              <a:t>1</a:t>
            </a:r>
            <a:r>
              <a:rPr lang="zh-CN" altLang="en-US" sz="2200" dirty="0">
                <a:solidFill>
                  <a:srgbClr val="CC3300"/>
                </a:solidFill>
                <a:latin typeface="微软雅黑" panose="020B0503020204020204" pitchFamily="34" charset="-122"/>
                <a:ea typeface="微软雅黑" panose="020B0503020204020204" pitchFamily="34" charset="-122"/>
              </a:rPr>
              <a:t>，若是，则阶码上溢。 </a:t>
            </a:r>
            <a:endParaRPr lang="zh-CN" altLang="en-US" sz="2200" dirty="0">
              <a:solidFill>
                <a:srgbClr val="CC3300"/>
              </a:solidFill>
              <a:latin typeface="微软雅黑" panose="020B0503020204020204" pitchFamily="34" charset="-122"/>
              <a:ea typeface="微软雅黑" panose="020B0503020204020204" pitchFamily="34" charset="-122"/>
            </a:endParaRPr>
          </a:p>
        </p:txBody>
      </p:sp>
      <p:sp>
        <p:nvSpPr>
          <p:cNvPr id="475142" name="Text Box 6"/>
          <p:cNvSpPr txBox="1"/>
          <p:nvPr/>
        </p:nvSpPr>
        <p:spPr>
          <a:xfrm>
            <a:off x="577850" y="5446713"/>
            <a:ext cx="3867150" cy="430212"/>
          </a:xfrm>
          <a:prstGeom prst="rect">
            <a:avLst/>
          </a:prstGeom>
          <a:noFill/>
          <a:ln w="12700">
            <a:noFill/>
          </a:ln>
        </p:spPr>
        <p:txBody>
          <a:bodyPr anchor="t" anchorCtr="0">
            <a:spAutoFit/>
          </a:bodyPr>
          <a:p>
            <a:pPr eaLnBrk="0" hangingPunct="0">
              <a:spcBef>
                <a:spcPct val="50000"/>
              </a:spcBef>
            </a:pPr>
            <a:r>
              <a:rPr lang="zh-CN" altLang="en-US" sz="2200" dirty="0">
                <a:solidFill>
                  <a:srgbClr val="FF0066"/>
                </a:solidFill>
                <a:latin typeface="微软雅黑" panose="020B0503020204020204" pitchFamily="34" charset="-122"/>
                <a:ea typeface="微软雅黑" panose="020B0503020204020204" pitchFamily="34" charset="-122"/>
              </a:rPr>
              <a:t>问题：机器内部如何减</a:t>
            </a:r>
            <a:r>
              <a:rPr lang="en-US" altLang="zh-CN" sz="2200" dirty="0">
                <a:solidFill>
                  <a:srgbClr val="FF0066"/>
                </a:solidFill>
                <a:latin typeface="微软雅黑" panose="020B0503020204020204" pitchFamily="34" charset="-122"/>
                <a:ea typeface="微软雅黑" panose="020B0503020204020204" pitchFamily="34" charset="-122"/>
              </a:rPr>
              <a:t>1</a:t>
            </a:r>
            <a:r>
              <a:rPr lang="zh-CN" altLang="en-US" sz="2200" dirty="0">
                <a:solidFill>
                  <a:srgbClr val="FF0066"/>
                </a:solidFill>
                <a:latin typeface="微软雅黑" panose="020B0503020204020204" pitchFamily="34" charset="-122"/>
                <a:ea typeface="微软雅黑" panose="020B0503020204020204" pitchFamily="34" charset="-122"/>
              </a:rPr>
              <a:t>？</a:t>
            </a:r>
            <a:endParaRPr lang="zh-CN" altLang="en-US" sz="2200" dirty="0">
              <a:solidFill>
                <a:srgbClr val="FF0066"/>
              </a:solidFill>
              <a:latin typeface="微软雅黑" panose="020B0503020204020204" pitchFamily="34" charset="-122"/>
              <a:ea typeface="微软雅黑" panose="020B0503020204020204" pitchFamily="34" charset="-122"/>
            </a:endParaRPr>
          </a:p>
        </p:txBody>
      </p:sp>
      <p:sp>
        <p:nvSpPr>
          <p:cNvPr id="475144" name="Rectangle 8"/>
          <p:cNvSpPr/>
          <p:nvPr/>
        </p:nvSpPr>
        <p:spPr>
          <a:xfrm>
            <a:off x="4387850" y="5264150"/>
            <a:ext cx="3733800" cy="822325"/>
          </a:xfrm>
          <a:prstGeom prst="rect">
            <a:avLst/>
          </a:prstGeom>
          <a:noFill/>
          <a:ln w="12700">
            <a:noFill/>
          </a:ln>
        </p:spPr>
        <p:txBody>
          <a:bodyPr anchor="t" anchorCtr="0">
            <a:spAutoFit/>
          </a:bodyPr>
          <a:p>
            <a:pPr eaLnBrk="0" hangingPunct="0"/>
            <a:r>
              <a:rPr lang="en-US" altLang="zh-CN" sz="2400" dirty="0">
                <a:latin typeface="Arial" panose="020B0604020202020204" pitchFamily="34" charset="0"/>
                <a:ea typeface="黑体" panose="02010609060101010101" pitchFamily="49" charset="-122"/>
              </a:rPr>
              <a:t>+[-1]</a:t>
            </a:r>
            <a:r>
              <a:rPr lang="zh-CN" altLang="en-US" sz="2400" baseline="-25000" dirty="0">
                <a:latin typeface="Arial" panose="020B0604020202020204" pitchFamily="34" charset="0"/>
                <a:ea typeface="黑体" panose="02010609060101010101" pitchFamily="49" charset="-122"/>
              </a:rPr>
              <a:t>补</a:t>
            </a:r>
            <a:r>
              <a:rPr lang="en-US" altLang="zh-CN" baseline="-25000" dirty="0">
                <a:latin typeface="Times New Roman" panose="02020603050405020304" pitchFamily="18" charset="0"/>
              </a:rPr>
              <a:t> </a:t>
            </a:r>
            <a:r>
              <a:rPr lang="en-US" altLang="zh-CN" sz="2400" dirty="0">
                <a:latin typeface="Arial" panose="020B0604020202020204" pitchFamily="34" charset="0"/>
                <a:ea typeface="黑体" panose="02010609060101010101" pitchFamily="49" charset="-122"/>
              </a:rPr>
              <a:t>= + 11…1 </a:t>
            </a:r>
            <a:endParaRPr lang="en-US" altLang="zh-CN" sz="2400" dirty="0">
              <a:latin typeface="Arial" panose="020B0604020202020204" pitchFamily="34" charset="0"/>
              <a:ea typeface="黑体" panose="02010609060101010101" pitchFamily="49" charset="-122"/>
            </a:endParaRPr>
          </a:p>
          <a:p>
            <a:pPr eaLnBrk="0" hangingPunct="0"/>
            <a:endParaRPr lang="en-US" altLang="zh-CN" sz="2400" dirty="0">
              <a:latin typeface="Arial" panose="020B0604020202020204" pitchFamily="34" charset="0"/>
              <a:ea typeface="黑体" panose="02010609060101010101" pitchFamily="49" charset="-122"/>
            </a:endParaRPr>
          </a:p>
        </p:txBody>
      </p:sp>
      <p:sp>
        <p:nvSpPr>
          <p:cNvPr id="137221" name="Text Box 9"/>
          <p:cNvSpPr txBox="1"/>
          <p:nvPr/>
        </p:nvSpPr>
        <p:spPr>
          <a:xfrm>
            <a:off x="5937250" y="5338763"/>
            <a:ext cx="184150" cy="336550"/>
          </a:xfrm>
          <a:prstGeom prst="rect">
            <a:avLst/>
          </a:prstGeom>
          <a:noFill/>
          <a:ln w="12700">
            <a:noFill/>
          </a:ln>
        </p:spPr>
        <p:txBody>
          <a:bodyPr wrap="none" anchor="t" anchorCtr="0">
            <a:spAutoFit/>
          </a:bodyPr>
          <a:p>
            <a:pPr eaLnBrk="0" hangingPunct="0"/>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5139">
                                            <p:txEl>
                                              <p:charRg st="29" end="89"/>
                                            </p:txEl>
                                          </p:spTgt>
                                        </p:tgtEl>
                                        <p:attrNameLst>
                                          <p:attrName>style.visibility</p:attrName>
                                        </p:attrNameLst>
                                      </p:cBhvr>
                                      <p:to>
                                        <p:strVal val="visible"/>
                                      </p:to>
                                    </p:set>
                                    <p:animEffect transition="in" filter="blinds(horizontal)">
                                      <p:cBhvr>
                                        <p:cTn id="7" dur="500"/>
                                        <p:tgtEl>
                                          <p:spTgt spid="475139">
                                            <p:txEl>
                                              <p:charRg st="29" end="8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5139">
                                            <p:txEl>
                                              <p:charRg st="100" end="161"/>
                                            </p:txEl>
                                          </p:spTgt>
                                        </p:tgtEl>
                                        <p:attrNameLst>
                                          <p:attrName>style.visibility</p:attrName>
                                        </p:attrNameLst>
                                      </p:cBhvr>
                                      <p:to>
                                        <p:strVal val="visible"/>
                                      </p:to>
                                    </p:set>
                                    <p:animEffect transition="in" filter="blinds(horizontal)">
                                      <p:cBhvr>
                                        <p:cTn id="12" dur="500"/>
                                        <p:tgtEl>
                                          <p:spTgt spid="475139">
                                            <p:txEl>
                                              <p:charRg st="100" end="16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75142">
                                            <p:txEl>
                                              <p:charRg st="0" end="13"/>
                                            </p:txEl>
                                          </p:spTgt>
                                        </p:tgtEl>
                                        <p:attrNameLst>
                                          <p:attrName>style.visibility</p:attrName>
                                        </p:attrNameLst>
                                      </p:cBhvr>
                                      <p:to>
                                        <p:strVal val="visible"/>
                                      </p:to>
                                    </p:set>
                                    <p:animEffect transition="in" filter="blinds(horizontal)">
                                      <p:cBhvr>
                                        <p:cTn id="17" dur="500"/>
                                        <p:tgtEl>
                                          <p:spTgt spid="475142">
                                            <p:txEl>
                                              <p:charRg st="0" end="1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75144"/>
                                        </p:tgtEl>
                                        <p:attrNameLst>
                                          <p:attrName>style.visibility</p:attrName>
                                        </p:attrNameLst>
                                      </p:cBhvr>
                                      <p:to>
                                        <p:strVal val="visible"/>
                                      </p:to>
                                    </p:set>
                                    <p:animEffect transition="in" filter="blinds(horizontal)">
                                      <p:cBhvr>
                                        <p:cTn id="22" dur="500"/>
                                        <p:tgtEl>
                                          <p:spTgt spid="475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44"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Rectangle 2"/>
          <p:cNvSpPr>
            <a:spLocks noGrp="1"/>
          </p:cNvSpPr>
          <p:nvPr>
            <p:ph type="title"/>
          </p:nvPr>
        </p:nvSpPr>
        <p:spPr>
          <a:xfrm>
            <a:off x="800100" y="212725"/>
            <a:ext cx="6073775" cy="474663"/>
          </a:xfrm>
          <a:ln/>
        </p:spPr>
        <p:txBody>
          <a:bodyPr vert="horz" wrap="square" lIns="63500" tIns="25400" rIns="63500" bIns="25400" anchor="t" anchorCtr="0">
            <a:spAutoFit/>
          </a:bodyPr>
          <a:p>
            <a:r>
              <a:rPr lang="zh-CN" altLang="en-US" dirty="0">
                <a:ea typeface="宋体" panose="02010600030101010101" pitchFamily="2" charset="-122"/>
              </a:rPr>
              <a:t>举例</a:t>
            </a:r>
            <a:endParaRPr lang="zh-CN" altLang="en-US" dirty="0">
              <a:ea typeface="宋体" panose="02010600030101010101" pitchFamily="2" charset="-122"/>
            </a:endParaRPr>
          </a:p>
        </p:txBody>
      </p:sp>
      <p:sp>
        <p:nvSpPr>
          <p:cNvPr id="495620" name="Text Box 4"/>
          <p:cNvSpPr txBox="1"/>
          <p:nvPr/>
        </p:nvSpPr>
        <p:spPr>
          <a:xfrm>
            <a:off x="242888" y="4348163"/>
            <a:ext cx="8772525" cy="2078037"/>
          </a:xfrm>
          <a:prstGeom prst="rect">
            <a:avLst/>
          </a:prstGeom>
          <a:noFill/>
          <a:ln w="12700">
            <a:noFill/>
          </a:ln>
        </p:spPr>
        <p:txBody>
          <a:bodyPr anchor="t" anchorCtr="0">
            <a:spAutoFit/>
          </a:bodyPr>
          <a:p>
            <a:pPr eaLnBrk="0" hangingPunct="0">
              <a:lnSpc>
                <a:spcPct val="105000"/>
              </a:lnSpc>
              <a:spcBef>
                <a:spcPct val="30000"/>
              </a:spcBef>
            </a:pPr>
            <a:r>
              <a:rPr lang="zh-CN" altLang="en-US" sz="2000" dirty="0">
                <a:latin typeface="微软雅黑" panose="020B0503020204020204" pitchFamily="34" charset="-122"/>
                <a:ea typeface="微软雅黑" panose="020B0503020204020204" pitchFamily="34" charset="-122"/>
              </a:rPr>
              <a:t>例：若</a:t>
            </a:r>
            <a:r>
              <a:rPr lang="en-US" altLang="zh-CN" sz="2000" dirty="0">
                <a:latin typeface="微软雅黑" panose="020B0503020204020204" pitchFamily="34" charset="-122"/>
                <a:ea typeface="微软雅黑" panose="020B0503020204020204" pitchFamily="34" charset="-122"/>
              </a:rPr>
              <a:t>Eb = 0000 0001</a:t>
            </a:r>
            <a:r>
              <a:rPr lang="zh-CN" altLang="en-US" sz="2000" dirty="0">
                <a:latin typeface="微软雅黑" panose="020B0503020204020204" pitchFamily="34" charset="-122"/>
                <a:ea typeface="微软雅黑" panose="020B0503020204020204" pitchFamily="34" charset="-122"/>
              </a:rPr>
              <a:t>，则左规一次后，结果的阶码 </a:t>
            </a:r>
            <a:r>
              <a:rPr lang="en-US" altLang="zh-CN" sz="2000" dirty="0">
                <a:latin typeface="微软雅黑" panose="020B0503020204020204" pitchFamily="34" charset="-122"/>
                <a:ea typeface="微软雅黑" panose="020B0503020204020204" pitchFamily="34" charset="-122"/>
              </a:rPr>
              <a:t>Eb = ?</a:t>
            </a:r>
            <a:endParaRPr lang="en-US" altLang="zh-CN" sz="2000" dirty="0">
              <a:latin typeface="微软雅黑" panose="020B0503020204020204" pitchFamily="34" charset="-122"/>
              <a:ea typeface="微软雅黑" panose="020B0503020204020204" pitchFamily="34" charset="-122"/>
            </a:endParaRPr>
          </a:p>
          <a:p>
            <a:pPr eaLnBrk="0" hangingPunct="0">
              <a:lnSpc>
                <a:spcPct val="105000"/>
              </a:lnSpc>
              <a:spcBef>
                <a:spcPct val="30000"/>
              </a:spcBef>
            </a:pPr>
            <a:r>
              <a:rPr lang="zh-CN" altLang="en-US" sz="2000" dirty="0">
                <a:solidFill>
                  <a:srgbClr val="FF0066"/>
                </a:solidFill>
                <a:latin typeface="微软雅黑" panose="020B0503020204020204" pitchFamily="34" charset="-122"/>
                <a:ea typeface="微软雅黑" panose="020B0503020204020204" pitchFamily="34" charset="-122"/>
              </a:rPr>
              <a:t>解：</a:t>
            </a:r>
            <a:r>
              <a:rPr lang="en-US" altLang="zh-CN" sz="2000" dirty="0">
                <a:solidFill>
                  <a:srgbClr val="FF0066"/>
                </a:solidFill>
                <a:latin typeface="微软雅黑" panose="020B0503020204020204" pitchFamily="34" charset="-122"/>
                <a:ea typeface="微软雅黑" panose="020B0503020204020204" pitchFamily="34" charset="-122"/>
              </a:rPr>
              <a:t>Eb=Eb+[-1]</a:t>
            </a:r>
            <a:r>
              <a:rPr lang="zh-CN" altLang="en-US" sz="2000" baseline="-25000" dirty="0">
                <a:solidFill>
                  <a:srgbClr val="FF0066"/>
                </a:solidFill>
                <a:latin typeface="微软雅黑" panose="020B0503020204020204" pitchFamily="34" charset="-122"/>
                <a:ea typeface="微软雅黑" panose="020B0503020204020204" pitchFamily="34" charset="-122"/>
              </a:rPr>
              <a:t>补</a:t>
            </a:r>
            <a:r>
              <a:rPr lang="en-US" altLang="zh-CN" sz="2000" dirty="0">
                <a:solidFill>
                  <a:srgbClr val="FF0066"/>
                </a:solidFill>
                <a:latin typeface="微软雅黑" panose="020B0503020204020204" pitchFamily="34" charset="-122"/>
                <a:ea typeface="微软雅黑" panose="020B0503020204020204" pitchFamily="34" charset="-122"/>
              </a:rPr>
              <a:t>=0000 0001 + 1111 1111 = 0000 0000   </a:t>
            </a:r>
            <a:r>
              <a:rPr lang="zh-CN" altLang="en-US" sz="2000" dirty="0">
                <a:solidFill>
                  <a:srgbClr val="FF0066"/>
                </a:solidFill>
                <a:latin typeface="微软雅黑" panose="020B0503020204020204" pitchFamily="34" charset="-122"/>
                <a:ea typeface="微软雅黑" panose="020B0503020204020204" pitchFamily="34" charset="-122"/>
              </a:rPr>
              <a:t>阶码下溢！</a:t>
            </a:r>
            <a:endParaRPr lang="zh-CN" altLang="en-US" sz="2000" dirty="0">
              <a:solidFill>
                <a:srgbClr val="FF0066"/>
              </a:solidFill>
              <a:latin typeface="微软雅黑" panose="020B0503020204020204" pitchFamily="34" charset="-122"/>
              <a:ea typeface="微软雅黑" panose="020B0503020204020204" pitchFamily="34" charset="-122"/>
            </a:endParaRPr>
          </a:p>
          <a:p>
            <a:pPr eaLnBrk="0" hangingPunct="0">
              <a:lnSpc>
                <a:spcPct val="105000"/>
              </a:lnSpc>
              <a:spcBef>
                <a:spcPct val="30000"/>
              </a:spcBef>
            </a:pPr>
            <a:r>
              <a:rPr lang="zh-CN" altLang="en-US" sz="2000" dirty="0">
                <a:latin typeface="微软雅黑" panose="020B0503020204020204" pitchFamily="34" charset="-122"/>
                <a:ea typeface="微软雅黑" panose="020B0503020204020204" pitchFamily="34" charset="-122"/>
              </a:rPr>
              <a:t>例：若</a:t>
            </a:r>
            <a:r>
              <a:rPr lang="en-US" altLang="zh-CN" sz="2000" dirty="0">
                <a:latin typeface="微软雅黑" panose="020B0503020204020204" pitchFamily="34" charset="-122"/>
                <a:ea typeface="微软雅黑" panose="020B0503020204020204" pitchFamily="34" charset="-122"/>
              </a:rPr>
              <a:t>Ex=1111 1110</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Ey=1000 0000</a:t>
            </a:r>
            <a:r>
              <a:rPr lang="zh-CN" altLang="en-US" sz="2000" dirty="0">
                <a:latin typeface="微软雅黑" panose="020B0503020204020204" pitchFamily="34" charset="-122"/>
                <a:ea typeface="微软雅黑" panose="020B0503020204020204" pitchFamily="34" charset="-122"/>
              </a:rPr>
              <a:t>，则乘法运算时结果的阶码 </a:t>
            </a:r>
            <a:r>
              <a:rPr lang="en-US" altLang="zh-CN" sz="2000" dirty="0">
                <a:latin typeface="微软雅黑" panose="020B0503020204020204" pitchFamily="34" charset="-122"/>
                <a:ea typeface="微软雅黑" panose="020B0503020204020204" pitchFamily="34" charset="-122"/>
              </a:rPr>
              <a:t>Eb=?</a:t>
            </a:r>
            <a:endParaRPr lang="en-US" altLang="zh-CN" sz="2000" dirty="0">
              <a:latin typeface="微软雅黑" panose="020B0503020204020204" pitchFamily="34" charset="-122"/>
              <a:ea typeface="微软雅黑" panose="020B0503020204020204" pitchFamily="34" charset="-122"/>
            </a:endParaRPr>
          </a:p>
          <a:p>
            <a:pPr eaLnBrk="0" hangingPunct="0">
              <a:lnSpc>
                <a:spcPct val="105000"/>
              </a:lnSpc>
              <a:spcBef>
                <a:spcPct val="30000"/>
              </a:spcBef>
            </a:pPr>
            <a:r>
              <a:rPr lang="zh-CN" altLang="en-US" sz="2000" dirty="0">
                <a:solidFill>
                  <a:srgbClr val="FF0066"/>
                </a:solidFill>
                <a:latin typeface="微软雅黑" panose="020B0503020204020204" pitchFamily="34" charset="-122"/>
                <a:ea typeface="微软雅黑" panose="020B0503020204020204" pitchFamily="34" charset="-122"/>
              </a:rPr>
              <a:t>解：</a:t>
            </a:r>
            <a:r>
              <a:rPr lang="en-US" altLang="zh-CN" sz="2000" dirty="0">
                <a:solidFill>
                  <a:srgbClr val="FF0066"/>
                </a:solidFill>
                <a:latin typeface="微软雅黑" panose="020B0503020204020204" pitchFamily="34" charset="-122"/>
                <a:ea typeface="微软雅黑" panose="020B0503020204020204" pitchFamily="34" charset="-122"/>
              </a:rPr>
              <a:t>Eb=Ex+Ey+129=1111 1110+1000 0000+1000 0001=1111 1111         </a:t>
            </a:r>
            <a:endParaRPr lang="en-US" altLang="zh-CN" sz="2000" dirty="0">
              <a:solidFill>
                <a:srgbClr val="FF0066"/>
              </a:solidFill>
              <a:latin typeface="微软雅黑" panose="020B0503020204020204" pitchFamily="34" charset="-122"/>
              <a:ea typeface="微软雅黑" panose="020B0503020204020204" pitchFamily="34" charset="-122"/>
            </a:endParaRPr>
          </a:p>
          <a:p>
            <a:pPr eaLnBrk="0" hangingPunct="0">
              <a:lnSpc>
                <a:spcPct val="105000"/>
              </a:lnSpc>
              <a:spcBef>
                <a:spcPct val="30000"/>
              </a:spcBef>
            </a:pPr>
            <a:r>
              <a:rPr lang="zh-CN" altLang="en-US" sz="2000" dirty="0">
                <a:solidFill>
                  <a:srgbClr val="FF0066"/>
                </a:solidFill>
                <a:latin typeface="微软雅黑" panose="020B0503020204020204" pitchFamily="34" charset="-122"/>
                <a:ea typeface="微软雅黑" panose="020B0503020204020204" pitchFamily="34" charset="-122"/>
              </a:rPr>
              <a:t>       阶码上溢！</a:t>
            </a:r>
            <a:endParaRPr lang="zh-CN" altLang="en-US" sz="2000" dirty="0">
              <a:solidFill>
                <a:srgbClr val="FF0066"/>
              </a:solidFill>
              <a:latin typeface="微软雅黑" panose="020B0503020204020204" pitchFamily="34" charset="-122"/>
              <a:ea typeface="微软雅黑" panose="020B0503020204020204" pitchFamily="34" charset="-122"/>
            </a:endParaRPr>
          </a:p>
        </p:txBody>
      </p:sp>
      <p:sp>
        <p:nvSpPr>
          <p:cNvPr id="495621" name="Rectangle 5"/>
          <p:cNvSpPr/>
          <p:nvPr/>
        </p:nvSpPr>
        <p:spPr>
          <a:xfrm>
            <a:off x="193675" y="806450"/>
            <a:ext cx="8821738" cy="3427413"/>
          </a:xfrm>
          <a:prstGeom prst="rect">
            <a:avLst/>
          </a:prstGeom>
          <a:noFill/>
          <a:ln w="12700">
            <a:noFill/>
          </a:ln>
        </p:spPr>
        <p:txBody>
          <a:bodyPr lIns="63500" tIns="25400" rIns="63500" bIns="25400" anchor="t" anchorCtr="0">
            <a:spAutoFit/>
          </a:bodyPr>
          <a:p>
            <a:pPr marL="203200" indent="-203200" eaLnBrk="0" hangingPunct="0">
              <a:lnSpc>
                <a:spcPct val="110000"/>
              </a:lnSpc>
              <a:spcBef>
                <a:spcPct val="20000"/>
              </a:spcBef>
              <a:buClr>
                <a:schemeClr val="tx1"/>
              </a:buClr>
              <a:buSzPct val="60000"/>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以下情况下，可能会导致阶码溢出（续）</a:t>
            </a:r>
            <a:endParaRPr lang="zh-CN" altLang="en-US" sz="2000" dirty="0">
              <a:latin typeface="微软雅黑" panose="020B0503020204020204" pitchFamily="34" charset="-122"/>
              <a:ea typeface="微软雅黑" panose="020B0503020204020204" pitchFamily="34" charset="-122"/>
            </a:endParaRPr>
          </a:p>
          <a:p>
            <a:pPr marL="685800" lvl="1" indent="-190500" algn="l" rtl="0" eaLnBrk="0" fontAlgn="base" hangingPunct="0">
              <a:lnSpc>
                <a:spcPct val="110000"/>
              </a:lnSpc>
              <a:spcBef>
                <a:spcPct val="20000"/>
              </a:spcBef>
              <a:spcAft>
                <a:spcPct val="0"/>
              </a:spcAft>
              <a:buChar char="•"/>
            </a:pPr>
            <a:r>
              <a:rPr lang="zh-CN" altLang="en-US" sz="2000" dirty="0">
                <a:solidFill>
                  <a:srgbClr val="0000FF"/>
                </a:solidFill>
                <a:latin typeface="微软雅黑" panose="020B0503020204020204" pitchFamily="34" charset="-122"/>
                <a:ea typeface="微软雅黑" panose="020B0503020204020204" pitchFamily="34" charset="-122"/>
              </a:rPr>
              <a:t>乘法运算求阶码的和时</a:t>
            </a:r>
            <a:endParaRPr lang="zh-CN" altLang="en-US" sz="2000" dirty="0">
              <a:solidFill>
                <a:srgbClr val="0000FF"/>
              </a:solidFill>
              <a:latin typeface="微软雅黑" panose="020B0503020204020204" pitchFamily="34" charset="-122"/>
              <a:ea typeface="微软雅黑" panose="020B0503020204020204" pitchFamily="34" charset="-122"/>
            </a:endParaRPr>
          </a:p>
          <a:p>
            <a:pPr marL="1257300" lvl="2" indent="-342900" algn="l" rtl="0" eaLnBrk="0" fontAlgn="base" hangingPunct="0">
              <a:lnSpc>
                <a:spcPct val="110000"/>
              </a:lnSpc>
              <a:spcBef>
                <a:spcPct val="20000"/>
              </a:spcBef>
              <a:spcAft>
                <a:spcPct val="0"/>
              </a:spcAft>
              <a:buChar char="-"/>
            </a:pPr>
            <a:r>
              <a:rPr lang="zh-CN" altLang="en-US" sz="2000" dirty="0">
                <a:solidFill>
                  <a:schemeClr val="tx1"/>
                </a:solidFill>
                <a:latin typeface="微软雅黑" panose="020B0503020204020204" pitchFamily="34" charset="-122"/>
                <a:ea typeface="微软雅黑" panose="020B0503020204020204" pitchFamily="34" charset="-122"/>
              </a:rPr>
              <a:t>若</a:t>
            </a:r>
            <a:r>
              <a:rPr lang="en-US" altLang="zh-CN" sz="2000" dirty="0">
                <a:solidFill>
                  <a:schemeClr val="tx1"/>
                </a:solidFill>
                <a:latin typeface="微软雅黑" panose="020B0503020204020204" pitchFamily="34" charset="-122"/>
                <a:ea typeface="微软雅黑" panose="020B0503020204020204" pitchFamily="34" charset="-122"/>
              </a:rPr>
              <a:t>Ex</a:t>
            </a:r>
            <a:r>
              <a:rPr lang="zh-CN" altLang="en-US" sz="2000" dirty="0">
                <a:solidFill>
                  <a:schemeClr val="tx1"/>
                </a:solidFill>
                <a:latin typeface="微软雅黑" panose="020B0503020204020204" pitchFamily="34" charset="-122"/>
                <a:ea typeface="微软雅黑" panose="020B0503020204020204" pitchFamily="34" charset="-122"/>
              </a:rPr>
              <a:t>和</a:t>
            </a:r>
            <a:r>
              <a:rPr lang="en-US" altLang="zh-CN" sz="2000" dirty="0">
                <a:solidFill>
                  <a:schemeClr val="tx1"/>
                </a:solidFill>
                <a:latin typeface="微软雅黑" panose="020B0503020204020204" pitchFamily="34" charset="-122"/>
                <a:ea typeface="微软雅黑" panose="020B0503020204020204" pitchFamily="34" charset="-122"/>
              </a:rPr>
              <a:t>Ey</a:t>
            </a:r>
            <a:r>
              <a:rPr lang="zh-CN" altLang="en-US" sz="2000" dirty="0">
                <a:solidFill>
                  <a:schemeClr val="tx1"/>
                </a:solidFill>
                <a:latin typeface="微软雅黑" panose="020B0503020204020204" pitchFamily="34" charset="-122"/>
                <a:ea typeface="微软雅黑" panose="020B0503020204020204" pitchFamily="34" charset="-122"/>
              </a:rPr>
              <a:t>最高位皆</a:t>
            </a:r>
            <a:r>
              <a:rPr lang="en-US" altLang="zh-CN" sz="2000" dirty="0">
                <a:solidFill>
                  <a:schemeClr val="tx1"/>
                </a:solidFill>
                <a:latin typeface="微软雅黑" panose="020B0503020204020204" pitchFamily="34" charset="-122"/>
                <a:ea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rPr>
              <a:t>，而</a:t>
            </a:r>
            <a:r>
              <a:rPr lang="en-US" altLang="zh-CN" sz="2000" dirty="0">
                <a:solidFill>
                  <a:schemeClr val="tx1"/>
                </a:solidFill>
                <a:latin typeface="微软雅黑" panose="020B0503020204020204" pitchFamily="34" charset="-122"/>
                <a:ea typeface="微软雅黑" panose="020B0503020204020204" pitchFamily="34" charset="-122"/>
              </a:rPr>
              <a:t>Eb</a:t>
            </a:r>
            <a:r>
              <a:rPr lang="zh-CN" altLang="en-US" sz="2000" dirty="0">
                <a:solidFill>
                  <a:schemeClr val="tx1"/>
                </a:solidFill>
                <a:latin typeface="微软雅黑" panose="020B0503020204020204" pitchFamily="34" charset="-122"/>
                <a:ea typeface="微软雅黑" panose="020B0503020204020204" pitchFamily="34" charset="-122"/>
              </a:rPr>
              <a:t>最高位是</a:t>
            </a:r>
            <a:r>
              <a:rPr lang="en-US" altLang="zh-CN" sz="2000" dirty="0">
                <a:solidFill>
                  <a:schemeClr val="tx1"/>
                </a:solidFill>
                <a:latin typeface="微软雅黑" panose="020B0503020204020204" pitchFamily="34" charset="-122"/>
                <a:ea typeface="微软雅黑" panose="020B0503020204020204" pitchFamily="34" charset="-122"/>
              </a:rPr>
              <a:t>0</a:t>
            </a:r>
            <a:r>
              <a:rPr lang="zh-CN" altLang="en-US" sz="2000" dirty="0">
                <a:solidFill>
                  <a:srgbClr val="CC3300"/>
                </a:solidFill>
                <a:latin typeface="微软雅黑" panose="020B0503020204020204" pitchFamily="34" charset="-122"/>
                <a:ea typeface="微软雅黑" panose="020B0503020204020204" pitchFamily="34" charset="-122"/>
              </a:rPr>
              <a:t>或</a:t>
            </a:r>
            <a:r>
              <a:rPr lang="en-US" altLang="zh-CN" sz="2000" dirty="0">
                <a:solidFill>
                  <a:srgbClr val="CC3300"/>
                </a:solidFill>
                <a:latin typeface="微软雅黑" panose="020B0503020204020204" pitchFamily="34" charset="-122"/>
                <a:ea typeface="微软雅黑" panose="020B0503020204020204" pitchFamily="34" charset="-122"/>
              </a:rPr>
              <a:t>Eb</a:t>
            </a:r>
            <a:r>
              <a:rPr lang="zh-CN" altLang="en-US" sz="2000" dirty="0">
                <a:solidFill>
                  <a:srgbClr val="CC3300"/>
                </a:solidFill>
                <a:latin typeface="微软雅黑" panose="020B0503020204020204" pitchFamily="34" charset="-122"/>
                <a:ea typeface="微软雅黑" panose="020B0503020204020204" pitchFamily="34" charset="-122"/>
              </a:rPr>
              <a:t>为全</a:t>
            </a:r>
            <a:r>
              <a:rPr lang="en-US" altLang="zh-CN" sz="2000" dirty="0">
                <a:solidFill>
                  <a:srgbClr val="CC3300"/>
                </a:solidFill>
                <a:latin typeface="微软雅黑" panose="020B0503020204020204" pitchFamily="34" charset="-122"/>
                <a:ea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rPr>
              <a:t>，则阶码上溢</a:t>
            </a:r>
            <a:endParaRPr lang="zh-CN" altLang="en-US" sz="2000" dirty="0">
              <a:solidFill>
                <a:schemeClr val="tx1"/>
              </a:solidFill>
              <a:latin typeface="微软雅黑" panose="020B0503020204020204" pitchFamily="34" charset="-122"/>
              <a:ea typeface="微软雅黑" panose="020B0503020204020204" pitchFamily="34" charset="-122"/>
            </a:endParaRPr>
          </a:p>
          <a:p>
            <a:pPr marL="1257300" lvl="2" indent="-342900" algn="l" rtl="0" eaLnBrk="0" fontAlgn="base" hangingPunct="0">
              <a:lnSpc>
                <a:spcPct val="110000"/>
              </a:lnSpc>
              <a:spcBef>
                <a:spcPct val="20000"/>
              </a:spcBef>
              <a:spcAft>
                <a:spcPct val="0"/>
              </a:spcAft>
              <a:buChar char="-"/>
            </a:pPr>
            <a:r>
              <a:rPr lang="zh-CN" altLang="en-US" sz="2000" dirty="0">
                <a:solidFill>
                  <a:schemeClr val="tx1"/>
                </a:solidFill>
                <a:latin typeface="微软雅黑" panose="020B0503020204020204" pitchFamily="34" charset="-122"/>
                <a:ea typeface="微软雅黑" panose="020B0503020204020204" pitchFamily="34" charset="-122"/>
              </a:rPr>
              <a:t>若</a:t>
            </a:r>
            <a:r>
              <a:rPr lang="en-US" altLang="zh-CN" sz="2000" dirty="0">
                <a:solidFill>
                  <a:schemeClr val="tx1"/>
                </a:solidFill>
                <a:latin typeface="微软雅黑" panose="020B0503020204020204" pitchFamily="34" charset="-122"/>
                <a:ea typeface="微软雅黑" panose="020B0503020204020204" pitchFamily="34" charset="-122"/>
              </a:rPr>
              <a:t>Ex</a:t>
            </a:r>
            <a:r>
              <a:rPr lang="zh-CN" altLang="en-US" sz="2000" dirty="0">
                <a:solidFill>
                  <a:schemeClr val="tx1"/>
                </a:solidFill>
                <a:latin typeface="微软雅黑" panose="020B0503020204020204" pitchFamily="34" charset="-122"/>
                <a:ea typeface="微软雅黑" panose="020B0503020204020204" pitchFamily="34" charset="-122"/>
              </a:rPr>
              <a:t>和</a:t>
            </a:r>
            <a:r>
              <a:rPr lang="en-US" altLang="zh-CN" sz="2000" dirty="0">
                <a:solidFill>
                  <a:schemeClr val="tx1"/>
                </a:solidFill>
                <a:latin typeface="微软雅黑" panose="020B0503020204020204" pitchFamily="34" charset="-122"/>
                <a:ea typeface="微软雅黑" panose="020B0503020204020204" pitchFamily="34" charset="-122"/>
              </a:rPr>
              <a:t>Ey</a:t>
            </a:r>
            <a:r>
              <a:rPr lang="zh-CN" altLang="en-US" sz="2000" dirty="0">
                <a:solidFill>
                  <a:schemeClr val="tx1"/>
                </a:solidFill>
                <a:latin typeface="微软雅黑" panose="020B0503020204020204" pitchFamily="34" charset="-122"/>
                <a:ea typeface="微软雅黑" panose="020B0503020204020204" pitchFamily="34" charset="-122"/>
              </a:rPr>
              <a:t>最高位皆</a:t>
            </a:r>
            <a:r>
              <a:rPr lang="en-US" altLang="zh-CN" sz="2000" dirty="0">
                <a:solidFill>
                  <a:schemeClr val="tx1"/>
                </a:solidFill>
                <a:latin typeface="微软雅黑" panose="020B0503020204020204" pitchFamily="34" charset="-122"/>
                <a:ea typeface="微软雅黑" panose="020B0503020204020204" pitchFamily="34" charset="-122"/>
              </a:rPr>
              <a:t>0</a:t>
            </a:r>
            <a:r>
              <a:rPr lang="zh-CN" altLang="en-US" sz="2000" dirty="0">
                <a:solidFill>
                  <a:schemeClr val="tx1"/>
                </a:solidFill>
                <a:latin typeface="微软雅黑" panose="020B0503020204020204" pitchFamily="34" charset="-122"/>
                <a:ea typeface="微软雅黑" panose="020B0503020204020204" pitchFamily="34" charset="-122"/>
              </a:rPr>
              <a:t>，而</a:t>
            </a:r>
            <a:r>
              <a:rPr lang="en-US" altLang="zh-CN" sz="2000" dirty="0">
                <a:solidFill>
                  <a:schemeClr val="tx1"/>
                </a:solidFill>
                <a:latin typeface="微软雅黑" panose="020B0503020204020204" pitchFamily="34" charset="-122"/>
                <a:ea typeface="微软雅黑" panose="020B0503020204020204" pitchFamily="34" charset="-122"/>
              </a:rPr>
              <a:t>Eb</a:t>
            </a:r>
            <a:r>
              <a:rPr lang="zh-CN" altLang="en-US" sz="2000" dirty="0">
                <a:solidFill>
                  <a:schemeClr val="tx1"/>
                </a:solidFill>
                <a:latin typeface="微软雅黑" panose="020B0503020204020204" pitchFamily="34" charset="-122"/>
                <a:ea typeface="微软雅黑" panose="020B0503020204020204" pitchFamily="34" charset="-122"/>
              </a:rPr>
              <a:t>最高位是</a:t>
            </a:r>
            <a:r>
              <a:rPr lang="en-US" altLang="zh-CN" sz="2000" dirty="0">
                <a:solidFill>
                  <a:schemeClr val="tx1"/>
                </a:solidFill>
                <a:latin typeface="微软雅黑" panose="020B0503020204020204" pitchFamily="34" charset="-122"/>
                <a:ea typeface="微软雅黑" panose="020B0503020204020204" pitchFamily="34" charset="-122"/>
              </a:rPr>
              <a:t>1</a:t>
            </a:r>
            <a:r>
              <a:rPr lang="zh-CN" altLang="en-US" sz="2000" dirty="0">
                <a:solidFill>
                  <a:srgbClr val="CC3300"/>
                </a:solidFill>
                <a:latin typeface="微软雅黑" panose="020B0503020204020204" pitchFamily="34" charset="-122"/>
                <a:ea typeface="微软雅黑" panose="020B0503020204020204" pitchFamily="34" charset="-122"/>
              </a:rPr>
              <a:t>或</a:t>
            </a:r>
            <a:r>
              <a:rPr lang="en-US" altLang="zh-CN" sz="2000" dirty="0">
                <a:solidFill>
                  <a:srgbClr val="CC3300"/>
                </a:solidFill>
                <a:latin typeface="微软雅黑" panose="020B0503020204020204" pitchFamily="34" charset="-122"/>
                <a:ea typeface="微软雅黑" panose="020B0503020204020204" pitchFamily="34" charset="-122"/>
              </a:rPr>
              <a:t>Eb</a:t>
            </a:r>
            <a:r>
              <a:rPr lang="zh-CN" altLang="en-US" sz="2000" dirty="0">
                <a:solidFill>
                  <a:srgbClr val="CC3300"/>
                </a:solidFill>
                <a:latin typeface="微软雅黑" panose="020B0503020204020204" pitchFamily="34" charset="-122"/>
                <a:ea typeface="微软雅黑" panose="020B0503020204020204" pitchFamily="34" charset="-122"/>
              </a:rPr>
              <a:t>为全</a:t>
            </a:r>
            <a:r>
              <a:rPr lang="en-US" altLang="zh-CN" sz="2000" dirty="0">
                <a:solidFill>
                  <a:srgbClr val="CC3300"/>
                </a:solidFill>
                <a:latin typeface="微软雅黑" panose="020B0503020204020204" pitchFamily="34" charset="-122"/>
                <a:ea typeface="微软雅黑" panose="020B0503020204020204" pitchFamily="34" charset="-122"/>
              </a:rPr>
              <a:t>0</a:t>
            </a:r>
            <a:r>
              <a:rPr lang="zh-CN" altLang="en-US" sz="2000" dirty="0">
                <a:solidFill>
                  <a:schemeClr val="tx1"/>
                </a:solidFill>
                <a:latin typeface="微软雅黑" panose="020B0503020204020204" pitchFamily="34" charset="-122"/>
                <a:ea typeface="微软雅黑" panose="020B0503020204020204" pitchFamily="34" charset="-122"/>
              </a:rPr>
              <a:t>，则阶码下溢</a:t>
            </a:r>
            <a:endParaRPr lang="zh-CN" altLang="en-US" sz="2000" dirty="0">
              <a:solidFill>
                <a:schemeClr val="tx1"/>
              </a:solidFill>
              <a:latin typeface="微软雅黑" panose="020B0503020204020204" pitchFamily="34" charset="-122"/>
              <a:ea typeface="微软雅黑" panose="020B0503020204020204" pitchFamily="34" charset="-122"/>
            </a:endParaRPr>
          </a:p>
          <a:p>
            <a:pPr marL="685800" lvl="1" indent="-190500" algn="l" rtl="0" eaLnBrk="0" fontAlgn="base" hangingPunct="0">
              <a:lnSpc>
                <a:spcPct val="110000"/>
              </a:lnSpc>
              <a:spcBef>
                <a:spcPct val="20000"/>
              </a:spcBef>
              <a:spcAft>
                <a:spcPct val="0"/>
              </a:spcAft>
              <a:buChar char="•"/>
            </a:pPr>
            <a:r>
              <a:rPr lang="zh-CN" altLang="en-US" sz="2000" dirty="0">
                <a:solidFill>
                  <a:srgbClr val="0000FF"/>
                </a:solidFill>
                <a:latin typeface="微软雅黑" panose="020B0503020204020204" pitchFamily="34" charset="-122"/>
                <a:ea typeface="微软雅黑" panose="020B0503020204020204" pitchFamily="34" charset="-122"/>
              </a:rPr>
              <a:t>除法运算求阶码的差时</a:t>
            </a:r>
            <a:endParaRPr lang="zh-CN" altLang="en-US" sz="2000" dirty="0">
              <a:solidFill>
                <a:srgbClr val="0000FF"/>
              </a:solidFill>
              <a:latin typeface="微软雅黑" panose="020B0503020204020204" pitchFamily="34" charset="-122"/>
              <a:ea typeface="微软雅黑" panose="020B0503020204020204" pitchFamily="34" charset="-122"/>
            </a:endParaRPr>
          </a:p>
          <a:p>
            <a:pPr marL="1257300" lvl="2" indent="-342900" algn="l" rtl="0" eaLnBrk="0" fontAlgn="base" hangingPunct="0">
              <a:lnSpc>
                <a:spcPct val="110000"/>
              </a:lnSpc>
              <a:spcBef>
                <a:spcPct val="20000"/>
              </a:spcBef>
              <a:spcAft>
                <a:spcPct val="0"/>
              </a:spcAft>
              <a:buChar char="-"/>
            </a:pPr>
            <a:r>
              <a:rPr lang="zh-CN" altLang="en-US" sz="2000" dirty="0">
                <a:solidFill>
                  <a:schemeClr val="tx1"/>
                </a:solidFill>
                <a:latin typeface="微软雅黑" panose="020B0503020204020204" pitchFamily="34" charset="-122"/>
                <a:ea typeface="微软雅黑" panose="020B0503020204020204" pitchFamily="34" charset="-122"/>
              </a:rPr>
              <a:t>若</a:t>
            </a:r>
            <a:r>
              <a:rPr lang="en-US" altLang="zh-CN" sz="2000" dirty="0">
                <a:solidFill>
                  <a:schemeClr val="tx1"/>
                </a:solidFill>
                <a:latin typeface="微软雅黑" panose="020B0503020204020204" pitchFamily="34" charset="-122"/>
                <a:ea typeface="微软雅黑" panose="020B0503020204020204" pitchFamily="34" charset="-122"/>
              </a:rPr>
              <a:t>Ex</a:t>
            </a:r>
            <a:r>
              <a:rPr lang="zh-CN" altLang="en-US" sz="2000" dirty="0">
                <a:solidFill>
                  <a:schemeClr val="tx1"/>
                </a:solidFill>
                <a:latin typeface="微软雅黑" panose="020B0503020204020204" pitchFamily="34" charset="-122"/>
                <a:ea typeface="微软雅黑" panose="020B0503020204020204" pitchFamily="34" charset="-122"/>
              </a:rPr>
              <a:t>的最高位是</a:t>
            </a:r>
            <a:r>
              <a:rPr lang="en-US" altLang="zh-CN" sz="2000" dirty="0">
                <a:solidFill>
                  <a:schemeClr val="tx1"/>
                </a:solidFill>
                <a:latin typeface="微软雅黑" panose="020B0503020204020204" pitchFamily="34" charset="-122"/>
                <a:ea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Ey</a:t>
            </a:r>
            <a:r>
              <a:rPr lang="zh-CN" altLang="en-US" sz="2000" dirty="0">
                <a:solidFill>
                  <a:schemeClr val="tx1"/>
                </a:solidFill>
                <a:latin typeface="微软雅黑" panose="020B0503020204020204" pitchFamily="34" charset="-122"/>
                <a:ea typeface="微软雅黑" panose="020B0503020204020204" pitchFamily="34" charset="-122"/>
              </a:rPr>
              <a:t>的最高位是</a:t>
            </a:r>
            <a:r>
              <a:rPr lang="en-US" altLang="zh-CN" sz="2000" dirty="0">
                <a:solidFill>
                  <a:schemeClr val="tx1"/>
                </a:solidFill>
                <a:latin typeface="微软雅黑" panose="020B0503020204020204" pitchFamily="34" charset="-122"/>
                <a:ea typeface="微软雅黑" panose="020B0503020204020204" pitchFamily="34" charset="-122"/>
              </a:rPr>
              <a:t>0</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Eb</a:t>
            </a:r>
            <a:r>
              <a:rPr lang="zh-CN" altLang="en-US" sz="2000" dirty="0">
                <a:solidFill>
                  <a:schemeClr val="tx1"/>
                </a:solidFill>
                <a:latin typeface="微软雅黑" panose="020B0503020204020204" pitchFamily="34" charset="-122"/>
                <a:ea typeface="微软雅黑" panose="020B0503020204020204" pitchFamily="34" charset="-122"/>
              </a:rPr>
              <a:t>的最高位是</a:t>
            </a:r>
            <a:r>
              <a:rPr lang="en-US" altLang="zh-CN" sz="2000" dirty="0">
                <a:solidFill>
                  <a:schemeClr val="tx1"/>
                </a:solidFill>
                <a:latin typeface="微软雅黑" panose="020B0503020204020204" pitchFamily="34" charset="-122"/>
                <a:ea typeface="微软雅黑" panose="020B0503020204020204" pitchFamily="34" charset="-122"/>
              </a:rPr>
              <a:t>0</a:t>
            </a:r>
            <a:r>
              <a:rPr lang="zh-CN" altLang="en-US" sz="2000" dirty="0">
                <a:solidFill>
                  <a:srgbClr val="CC3300"/>
                </a:solidFill>
                <a:latin typeface="微软雅黑" panose="020B0503020204020204" pitchFamily="34" charset="-122"/>
                <a:ea typeface="微软雅黑" panose="020B0503020204020204" pitchFamily="34" charset="-122"/>
              </a:rPr>
              <a:t>或</a:t>
            </a:r>
            <a:r>
              <a:rPr lang="en-US" altLang="zh-CN" sz="2000" dirty="0">
                <a:solidFill>
                  <a:srgbClr val="CC3300"/>
                </a:solidFill>
                <a:latin typeface="微软雅黑" panose="020B0503020204020204" pitchFamily="34" charset="-122"/>
                <a:ea typeface="微软雅黑" panose="020B0503020204020204" pitchFamily="34" charset="-122"/>
              </a:rPr>
              <a:t>Eb</a:t>
            </a:r>
            <a:r>
              <a:rPr lang="zh-CN" altLang="en-US" sz="2000" dirty="0">
                <a:solidFill>
                  <a:srgbClr val="CC3300"/>
                </a:solidFill>
                <a:latin typeface="微软雅黑" panose="020B0503020204020204" pitchFamily="34" charset="-122"/>
                <a:ea typeface="微软雅黑" panose="020B0503020204020204" pitchFamily="34" charset="-122"/>
              </a:rPr>
              <a:t>为全</a:t>
            </a:r>
            <a:r>
              <a:rPr lang="en-US" altLang="zh-CN" sz="2000" dirty="0">
                <a:solidFill>
                  <a:srgbClr val="CC3300"/>
                </a:solidFill>
                <a:latin typeface="微软雅黑" panose="020B0503020204020204" pitchFamily="34" charset="-122"/>
                <a:ea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rPr>
              <a:t>，则阶码上溢。</a:t>
            </a:r>
            <a:endParaRPr lang="zh-CN" altLang="en-US" sz="2000" dirty="0">
              <a:solidFill>
                <a:schemeClr val="tx1"/>
              </a:solidFill>
              <a:latin typeface="微软雅黑" panose="020B0503020204020204" pitchFamily="34" charset="-122"/>
              <a:ea typeface="微软雅黑" panose="020B0503020204020204" pitchFamily="34" charset="-122"/>
            </a:endParaRPr>
          </a:p>
          <a:p>
            <a:pPr marL="1257300" lvl="2" indent="-342900" algn="l" rtl="0" eaLnBrk="0" fontAlgn="base" hangingPunct="0">
              <a:lnSpc>
                <a:spcPct val="110000"/>
              </a:lnSpc>
              <a:spcBef>
                <a:spcPct val="20000"/>
              </a:spcBef>
              <a:spcAft>
                <a:spcPct val="0"/>
              </a:spcAft>
              <a:buChar char="-"/>
            </a:pPr>
            <a:r>
              <a:rPr lang="zh-CN" altLang="en-US" sz="2000" dirty="0">
                <a:solidFill>
                  <a:schemeClr val="tx1"/>
                </a:solidFill>
                <a:latin typeface="微软雅黑" panose="020B0503020204020204" pitchFamily="34" charset="-122"/>
                <a:ea typeface="微软雅黑" panose="020B0503020204020204" pitchFamily="34" charset="-122"/>
              </a:rPr>
              <a:t>若</a:t>
            </a:r>
            <a:r>
              <a:rPr lang="en-US" altLang="zh-CN" sz="2000" dirty="0">
                <a:solidFill>
                  <a:schemeClr val="tx1"/>
                </a:solidFill>
                <a:latin typeface="微软雅黑" panose="020B0503020204020204" pitchFamily="34" charset="-122"/>
                <a:ea typeface="微软雅黑" panose="020B0503020204020204" pitchFamily="34" charset="-122"/>
              </a:rPr>
              <a:t>Ex</a:t>
            </a:r>
            <a:r>
              <a:rPr lang="zh-CN" altLang="en-US" sz="2000" dirty="0">
                <a:solidFill>
                  <a:schemeClr val="tx1"/>
                </a:solidFill>
                <a:latin typeface="微软雅黑" panose="020B0503020204020204" pitchFamily="34" charset="-122"/>
                <a:ea typeface="微软雅黑" panose="020B0503020204020204" pitchFamily="34" charset="-122"/>
              </a:rPr>
              <a:t>的最高位是</a:t>
            </a:r>
            <a:r>
              <a:rPr lang="en-US" altLang="zh-CN" sz="2000" dirty="0">
                <a:solidFill>
                  <a:schemeClr val="tx1"/>
                </a:solidFill>
                <a:latin typeface="微软雅黑" panose="020B0503020204020204" pitchFamily="34" charset="-122"/>
                <a:ea typeface="微软雅黑" panose="020B0503020204020204" pitchFamily="34" charset="-122"/>
              </a:rPr>
              <a:t>0</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Ey</a:t>
            </a:r>
            <a:r>
              <a:rPr lang="zh-CN" altLang="en-US" sz="2000" dirty="0">
                <a:solidFill>
                  <a:schemeClr val="tx1"/>
                </a:solidFill>
                <a:latin typeface="微软雅黑" panose="020B0503020204020204" pitchFamily="34" charset="-122"/>
                <a:ea typeface="微软雅黑" panose="020B0503020204020204" pitchFamily="34" charset="-122"/>
              </a:rPr>
              <a:t>的最高位是</a:t>
            </a:r>
            <a:r>
              <a:rPr lang="en-US" altLang="zh-CN" sz="2000" dirty="0">
                <a:solidFill>
                  <a:schemeClr val="tx1"/>
                </a:solidFill>
                <a:latin typeface="微软雅黑" panose="020B0503020204020204" pitchFamily="34" charset="-122"/>
                <a:ea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rPr>
              <a:t>Eb</a:t>
            </a:r>
            <a:r>
              <a:rPr lang="zh-CN" altLang="en-US" sz="2000" dirty="0">
                <a:solidFill>
                  <a:schemeClr val="tx1"/>
                </a:solidFill>
                <a:latin typeface="微软雅黑" panose="020B0503020204020204" pitchFamily="34" charset="-122"/>
                <a:ea typeface="微软雅黑" panose="020B0503020204020204" pitchFamily="34" charset="-122"/>
              </a:rPr>
              <a:t>的最高位是</a:t>
            </a:r>
            <a:r>
              <a:rPr lang="en-US" altLang="zh-CN" sz="2000" dirty="0">
                <a:solidFill>
                  <a:schemeClr val="tx1"/>
                </a:solidFill>
                <a:latin typeface="微软雅黑" panose="020B0503020204020204" pitchFamily="34" charset="-122"/>
                <a:ea typeface="微软雅黑" panose="020B0503020204020204" pitchFamily="34" charset="-122"/>
              </a:rPr>
              <a:t>1</a:t>
            </a:r>
            <a:r>
              <a:rPr lang="zh-CN" altLang="en-US" sz="2000" dirty="0">
                <a:solidFill>
                  <a:srgbClr val="CC3300"/>
                </a:solidFill>
                <a:latin typeface="微软雅黑" panose="020B0503020204020204" pitchFamily="34" charset="-122"/>
                <a:ea typeface="微软雅黑" panose="020B0503020204020204" pitchFamily="34" charset="-122"/>
              </a:rPr>
              <a:t>或</a:t>
            </a:r>
            <a:r>
              <a:rPr lang="en-US" altLang="zh-CN" sz="2000" dirty="0">
                <a:solidFill>
                  <a:srgbClr val="CC3300"/>
                </a:solidFill>
                <a:latin typeface="微软雅黑" panose="020B0503020204020204" pitchFamily="34" charset="-122"/>
                <a:ea typeface="微软雅黑" panose="020B0503020204020204" pitchFamily="34" charset="-122"/>
              </a:rPr>
              <a:t>Eb</a:t>
            </a:r>
            <a:r>
              <a:rPr lang="zh-CN" altLang="en-US" sz="2000" dirty="0">
                <a:solidFill>
                  <a:srgbClr val="CC3300"/>
                </a:solidFill>
                <a:latin typeface="微软雅黑" panose="020B0503020204020204" pitchFamily="34" charset="-122"/>
                <a:ea typeface="微软雅黑" panose="020B0503020204020204" pitchFamily="34" charset="-122"/>
              </a:rPr>
              <a:t>为全</a:t>
            </a:r>
            <a:r>
              <a:rPr lang="en-US" altLang="zh-CN" sz="2000" dirty="0">
                <a:solidFill>
                  <a:srgbClr val="CC3300"/>
                </a:solidFill>
                <a:latin typeface="微软雅黑" panose="020B0503020204020204" pitchFamily="34" charset="-122"/>
                <a:ea typeface="微软雅黑" panose="020B0503020204020204" pitchFamily="34" charset="-122"/>
              </a:rPr>
              <a:t>0</a:t>
            </a:r>
            <a:r>
              <a:rPr lang="zh-CN" altLang="en-US" sz="2000" dirty="0">
                <a:solidFill>
                  <a:schemeClr val="tx1"/>
                </a:solidFill>
                <a:latin typeface="微软雅黑" panose="020B0503020204020204" pitchFamily="34" charset="-122"/>
                <a:ea typeface="微软雅黑" panose="020B0503020204020204" pitchFamily="34" charset="-122"/>
              </a:rPr>
              <a:t>，则阶码下溢。</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5" name="Text Box 9"/>
          <p:cNvSpPr txBox="1"/>
          <p:nvPr/>
        </p:nvSpPr>
        <p:spPr>
          <a:xfrm>
            <a:off x="5864225" y="6205538"/>
            <a:ext cx="895350" cy="336550"/>
          </a:xfrm>
          <a:prstGeom prst="rect">
            <a:avLst/>
          </a:prstGeom>
          <a:noFill/>
          <a:ln w="12700">
            <a:noFill/>
          </a:ln>
        </p:spPr>
        <p:txBody>
          <a:bodyPr anchor="t" anchorCtr="0">
            <a:spAutoFit/>
          </a:bodyPr>
          <a:p>
            <a:pPr eaLnBrk="0" hangingPunct="0">
              <a:spcBef>
                <a:spcPct val="50000"/>
              </a:spcBef>
            </a:pPr>
            <a:r>
              <a:rPr lang="en-US" altLang="zh-CN" dirty="0">
                <a:latin typeface="微软雅黑" panose="020B0503020204020204" pitchFamily="34" charset="-122"/>
                <a:ea typeface="微软雅黑" panose="020B0503020204020204" pitchFamily="34" charset="-122"/>
                <a:hlinkClick r:id="rId1" action="ppaction://hlinksldjump"/>
              </a:rPr>
              <a:t>BACK</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5621">
                                            <p:txEl>
                                              <p:charRg st="30" end="63"/>
                                            </p:txEl>
                                          </p:spTgt>
                                        </p:tgtEl>
                                        <p:attrNameLst>
                                          <p:attrName>style.visibility</p:attrName>
                                        </p:attrNameLst>
                                      </p:cBhvr>
                                      <p:to>
                                        <p:strVal val="visible"/>
                                      </p:to>
                                    </p:set>
                                    <p:animEffect transition="in" filter="blinds(horizontal)">
                                      <p:cBhvr>
                                        <p:cTn id="7" dur="500"/>
                                        <p:tgtEl>
                                          <p:spTgt spid="495621">
                                            <p:txEl>
                                              <p:charRg st="30" end="6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5621">
                                            <p:txEl>
                                              <p:charRg st="63" end="96"/>
                                            </p:txEl>
                                          </p:spTgt>
                                        </p:tgtEl>
                                        <p:attrNameLst>
                                          <p:attrName>style.visibility</p:attrName>
                                        </p:attrNameLst>
                                      </p:cBhvr>
                                      <p:to>
                                        <p:strVal val="visible"/>
                                      </p:to>
                                    </p:set>
                                    <p:animEffect transition="in" filter="blinds(horizontal)">
                                      <p:cBhvr>
                                        <p:cTn id="12" dur="500"/>
                                        <p:tgtEl>
                                          <p:spTgt spid="495621">
                                            <p:txEl>
                                              <p:charRg st="63" end="9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95621">
                                            <p:txEl>
                                              <p:charRg st="107" end="148"/>
                                            </p:txEl>
                                          </p:spTgt>
                                        </p:tgtEl>
                                        <p:attrNameLst>
                                          <p:attrName>style.visibility</p:attrName>
                                        </p:attrNameLst>
                                      </p:cBhvr>
                                      <p:to>
                                        <p:strVal val="visible"/>
                                      </p:to>
                                    </p:set>
                                    <p:animEffect transition="in" filter="blinds(horizontal)">
                                      <p:cBhvr>
                                        <p:cTn id="17" dur="500"/>
                                        <p:tgtEl>
                                          <p:spTgt spid="495621">
                                            <p:txEl>
                                              <p:charRg st="107" end="14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5621">
                                            <p:txEl>
                                              <p:charRg st="148" end="189"/>
                                            </p:txEl>
                                          </p:spTgt>
                                        </p:tgtEl>
                                        <p:attrNameLst>
                                          <p:attrName>style.visibility</p:attrName>
                                        </p:attrNameLst>
                                      </p:cBhvr>
                                      <p:to>
                                        <p:strVal val="visible"/>
                                      </p:to>
                                    </p:set>
                                    <p:animEffect transition="in" filter="blinds(horizontal)">
                                      <p:cBhvr>
                                        <p:cTn id="22" dur="500"/>
                                        <p:tgtEl>
                                          <p:spTgt spid="495621">
                                            <p:txEl>
                                              <p:charRg st="148" end="18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95620">
                                            <p:txEl>
                                              <p:charRg st="0" end="38"/>
                                            </p:txEl>
                                          </p:spTgt>
                                        </p:tgtEl>
                                        <p:attrNameLst>
                                          <p:attrName>style.visibility</p:attrName>
                                        </p:attrNameLst>
                                      </p:cBhvr>
                                      <p:to>
                                        <p:strVal val="visible"/>
                                      </p:to>
                                    </p:set>
                                    <p:animEffect transition="in" filter="blinds(horizontal)">
                                      <p:cBhvr>
                                        <p:cTn id="27" dur="500"/>
                                        <p:tgtEl>
                                          <p:spTgt spid="495620">
                                            <p:txEl>
                                              <p:charRg st="0" end="3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95620">
                                            <p:txEl>
                                              <p:charRg st="38" end="94"/>
                                            </p:txEl>
                                          </p:spTgt>
                                        </p:tgtEl>
                                        <p:attrNameLst>
                                          <p:attrName>style.visibility</p:attrName>
                                        </p:attrNameLst>
                                      </p:cBhvr>
                                      <p:to>
                                        <p:strVal val="visible"/>
                                      </p:to>
                                    </p:set>
                                    <p:animEffect transition="in" filter="blinds(horizontal)">
                                      <p:cBhvr>
                                        <p:cTn id="32" dur="500"/>
                                        <p:tgtEl>
                                          <p:spTgt spid="495620">
                                            <p:txEl>
                                              <p:charRg st="38" end="9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95620">
                                            <p:txEl>
                                              <p:charRg st="94" end="140"/>
                                            </p:txEl>
                                          </p:spTgt>
                                        </p:tgtEl>
                                        <p:attrNameLst>
                                          <p:attrName>style.visibility</p:attrName>
                                        </p:attrNameLst>
                                      </p:cBhvr>
                                      <p:to>
                                        <p:strVal val="visible"/>
                                      </p:to>
                                    </p:set>
                                    <p:animEffect transition="in" filter="blinds(horizontal)">
                                      <p:cBhvr>
                                        <p:cTn id="37" dur="500"/>
                                        <p:tgtEl>
                                          <p:spTgt spid="495620">
                                            <p:txEl>
                                              <p:charRg st="94" end="14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95620">
                                            <p:txEl>
                                              <p:charRg st="140" end="204"/>
                                            </p:txEl>
                                          </p:spTgt>
                                        </p:tgtEl>
                                        <p:attrNameLst>
                                          <p:attrName>style.visibility</p:attrName>
                                        </p:attrNameLst>
                                      </p:cBhvr>
                                      <p:to>
                                        <p:strVal val="visible"/>
                                      </p:to>
                                    </p:set>
                                    <p:animEffect transition="in" filter="blinds(horizontal)">
                                      <p:cBhvr>
                                        <p:cTn id="42" dur="500"/>
                                        <p:tgtEl>
                                          <p:spTgt spid="495620">
                                            <p:txEl>
                                              <p:charRg st="140" end="20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95620">
                                            <p:txEl>
                                              <p:charRg st="204" end="217"/>
                                            </p:txEl>
                                          </p:spTgt>
                                        </p:tgtEl>
                                        <p:attrNameLst>
                                          <p:attrName>style.visibility</p:attrName>
                                        </p:attrNameLst>
                                      </p:cBhvr>
                                      <p:to>
                                        <p:strVal val="visible"/>
                                      </p:to>
                                    </p:set>
                                    <p:animEffect transition="in" filter="blinds(horizontal)">
                                      <p:cBhvr>
                                        <p:cTn id="47" dur="500"/>
                                        <p:tgtEl>
                                          <p:spTgt spid="495620">
                                            <p:txEl>
                                              <p:charRg st="204" end="21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linds(horizontal)">
                                      <p:cBhvr>
                                        <p:cTn id="5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Rectangle 2"/>
          <p:cNvSpPr>
            <a:spLocks noGrp="1"/>
          </p:cNvSpPr>
          <p:nvPr>
            <p:ph type="title"/>
          </p:nvPr>
        </p:nvSpPr>
        <p:spPr>
          <a:xfrm>
            <a:off x="457200" y="142875"/>
            <a:ext cx="8229600" cy="479425"/>
          </a:xfrm>
          <a:ln/>
        </p:spPr>
        <p:txBody>
          <a:bodyPr vert="horz" wrap="square" lIns="63500" tIns="25400" rIns="63500" bIns="25400" anchor="t" anchorCtr="0">
            <a:spAutoFit/>
          </a:bodyPr>
          <a:p>
            <a:r>
              <a:rPr lang="en-US" altLang="zh-CN" dirty="0">
                <a:ea typeface="宋体" panose="02010600030101010101" pitchFamily="2" charset="-122"/>
              </a:rPr>
              <a:t>C</a:t>
            </a:r>
            <a:r>
              <a:rPr lang="zh-CN" altLang="en-US" dirty="0">
                <a:ea typeface="宋体" panose="02010600030101010101" pitchFamily="2" charset="-122"/>
              </a:rPr>
              <a:t>语言中的浮点数类型</a:t>
            </a:r>
            <a:endParaRPr lang="zh-CN" altLang="en-US" dirty="0">
              <a:ea typeface="宋体" panose="02010600030101010101" pitchFamily="2" charset="-122"/>
            </a:endParaRPr>
          </a:p>
        </p:txBody>
      </p:sp>
      <p:sp>
        <p:nvSpPr>
          <p:cNvPr id="752643" name="Rectangle 3"/>
          <p:cNvSpPr>
            <a:spLocks noGrp="1"/>
          </p:cNvSpPr>
          <p:nvPr>
            <p:ph idx="1"/>
          </p:nvPr>
        </p:nvSpPr>
        <p:spPr>
          <a:xfrm>
            <a:off x="250825" y="866775"/>
            <a:ext cx="8455025" cy="5218113"/>
          </a:xfrm>
          <a:ln/>
        </p:spPr>
        <p:txBody>
          <a:bodyPr vert="horz" wrap="square" lIns="63500" tIns="25400" rIns="63500" bIns="25400" anchor="t" anchorCtr="0">
            <a:spAutoFit/>
          </a:bodyPr>
          <a:p>
            <a:pPr>
              <a:lnSpc>
                <a:spcPct val="120000"/>
              </a:lnSpc>
              <a:spcBef>
                <a:spcPct val="30000"/>
              </a:spcBef>
            </a:pP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语言中有</a:t>
            </a:r>
            <a:r>
              <a:rPr lang="en-US" altLang="zh-CN" dirty="0">
                <a:solidFill>
                  <a:srgbClr val="FF0000"/>
                </a:solidFill>
                <a:latin typeface="微软雅黑" panose="020B0503020204020204" pitchFamily="34" charset="-122"/>
                <a:ea typeface="微软雅黑" panose="020B0503020204020204" pitchFamily="34" charset="-122"/>
              </a:rPr>
              <a:t>float</a:t>
            </a:r>
            <a:r>
              <a:rPr lang="zh-CN" altLang="en-US" dirty="0">
                <a:latin typeface="微软雅黑" panose="020B0503020204020204" pitchFamily="34" charset="-122"/>
                <a:ea typeface="微软雅黑" panose="020B0503020204020204" pitchFamily="34" charset="-122"/>
              </a:rPr>
              <a:t>和</a:t>
            </a:r>
            <a:r>
              <a:rPr lang="en-US" altLang="zh-CN" dirty="0">
                <a:solidFill>
                  <a:srgbClr val="FF0000"/>
                </a:solidFill>
                <a:latin typeface="微软雅黑" panose="020B0503020204020204" pitchFamily="34" charset="-122"/>
                <a:ea typeface="微软雅黑" panose="020B0503020204020204" pitchFamily="34" charset="-122"/>
              </a:rPr>
              <a:t>double</a:t>
            </a:r>
            <a:r>
              <a:rPr lang="zh-CN" altLang="en-US" dirty="0">
                <a:latin typeface="微软雅黑" panose="020B0503020204020204" pitchFamily="34" charset="-122"/>
                <a:ea typeface="微软雅黑" panose="020B0503020204020204" pitchFamily="34" charset="-122"/>
              </a:rPr>
              <a:t>类型，分别对应</a:t>
            </a:r>
            <a:r>
              <a:rPr lang="en-US" altLang="zh-CN" dirty="0">
                <a:latin typeface="微软雅黑" panose="020B0503020204020204" pitchFamily="34" charset="-122"/>
                <a:ea typeface="微软雅黑" panose="020B0503020204020204" pitchFamily="34" charset="-122"/>
              </a:rPr>
              <a:t>IEEE 754</a:t>
            </a:r>
            <a:r>
              <a:rPr lang="zh-CN" altLang="en-US" dirty="0">
                <a:latin typeface="微软雅黑" panose="020B0503020204020204" pitchFamily="34" charset="-122"/>
                <a:ea typeface="微软雅黑" panose="020B0503020204020204" pitchFamily="34" charset="-122"/>
              </a:rPr>
              <a:t>单精度浮点数格式和双精度浮点数格式</a:t>
            </a:r>
            <a:endParaRPr lang="zh-CN" altLang="en-US" dirty="0">
              <a:latin typeface="微软雅黑" panose="020B0503020204020204" pitchFamily="34" charset="-122"/>
              <a:ea typeface="微软雅黑" panose="020B0503020204020204" pitchFamily="34" charset="-122"/>
            </a:endParaRPr>
          </a:p>
          <a:p>
            <a:pPr>
              <a:lnSpc>
                <a:spcPct val="120000"/>
              </a:lnSpc>
              <a:spcBef>
                <a:spcPct val="30000"/>
              </a:spcBef>
            </a:pPr>
            <a:r>
              <a:rPr lang="en-US" altLang="zh-CN" dirty="0">
                <a:solidFill>
                  <a:srgbClr val="FF0000"/>
                </a:solidFill>
                <a:latin typeface="微软雅黑" panose="020B0503020204020204" pitchFamily="34" charset="-122"/>
                <a:ea typeface="微软雅黑" panose="020B0503020204020204" pitchFamily="34" charset="-122"/>
              </a:rPr>
              <a:t>long double</a:t>
            </a:r>
            <a:r>
              <a:rPr lang="zh-CN" altLang="en-US" dirty="0">
                <a:latin typeface="微软雅黑" panose="020B0503020204020204" pitchFamily="34" charset="-122"/>
                <a:ea typeface="微软雅黑" panose="020B0503020204020204" pitchFamily="34" charset="-122"/>
              </a:rPr>
              <a:t>类型的长度和格式随编译器和处理器类型的不同而有所不同，</a:t>
            </a:r>
            <a:r>
              <a:rPr lang="en-US" altLang="zh-CN" dirty="0">
                <a:latin typeface="微软雅黑" panose="020B0503020204020204" pitchFamily="34" charset="-122"/>
                <a:ea typeface="微软雅黑" panose="020B0503020204020204" pitchFamily="34" charset="-122"/>
              </a:rPr>
              <a:t>IA-32</a:t>
            </a:r>
            <a:r>
              <a:rPr lang="zh-CN" altLang="en-US" dirty="0">
                <a:latin typeface="微软雅黑" panose="020B0503020204020204" pitchFamily="34" charset="-122"/>
                <a:ea typeface="微软雅黑" panose="020B0503020204020204" pitchFamily="34" charset="-122"/>
              </a:rPr>
              <a:t>中是</a:t>
            </a:r>
            <a:r>
              <a:rPr lang="en-US" altLang="zh-CN" dirty="0">
                <a:solidFill>
                  <a:srgbClr val="FF0000"/>
                </a:solidFill>
                <a:latin typeface="微软雅黑" panose="020B0503020204020204" pitchFamily="34" charset="-122"/>
                <a:ea typeface="微软雅黑" panose="020B0503020204020204" pitchFamily="34" charset="-122"/>
              </a:rPr>
              <a:t>80</a:t>
            </a:r>
            <a:r>
              <a:rPr lang="zh-CN" altLang="en-US" dirty="0">
                <a:solidFill>
                  <a:srgbClr val="FF0000"/>
                </a:solidFill>
                <a:latin typeface="微软雅黑" panose="020B0503020204020204" pitchFamily="34" charset="-122"/>
                <a:ea typeface="微软雅黑" panose="020B0503020204020204" pitchFamily="34" charset="-122"/>
              </a:rPr>
              <a:t>位扩展精度</a:t>
            </a:r>
            <a:r>
              <a:rPr lang="zh-CN" altLang="en-US" dirty="0">
                <a:latin typeface="微软雅黑" panose="020B0503020204020204" pitchFamily="34" charset="-122"/>
                <a:ea typeface="微软雅黑" panose="020B0503020204020204" pitchFamily="34" charset="-122"/>
              </a:rPr>
              <a:t>格式</a:t>
            </a:r>
            <a:endParaRPr lang="zh-CN" altLang="en-US" dirty="0">
              <a:latin typeface="微软雅黑" panose="020B0503020204020204" pitchFamily="34" charset="-122"/>
              <a:ea typeface="微软雅黑" panose="020B0503020204020204" pitchFamily="34" charset="-122"/>
            </a:endParaRPr>
          </a:p>
          <a:p>
            <a:pPr>
              <a:lnSpc>
                <a:spcPct val="120000"/>
              </a:lnSpc>
              <a:spcBef>
                <a:spcPct val="30000"/>
              </a:spcBef>
            </a:pPr>
            <a:r>
              <a:rPr lang="zh-CN" altLang="en-US" dirty="0">
                <a:latin typeface="微软雅黑" panose="020B0503020204020204" pitchFamily="34" charset="-122"/>
                <a:ea typeface="微软雅黑" panose="020B0503020204020204" pitchFamily="34" charset="-122"/>
              </a:rPr>
              <a:t>从</a:t>
            </a:r>
            <a:r>
              <a:rPr lang="en-US" altLang="zh-CN" dirty="0">
                <a:latin typeface="微软雅黑" panose="020B0503020204020204" pitchFamily="34" charset="-122"/>
                <a:ea typeface="微软雅黑" panose="020B0503020204020204" pitchFamily="34" charset="-122"/>
              </a:rPr>
              <a:t>int</a:t>
            </a:r>
            <a:r>
              <a:rPr lang="zh-CN" altLang="en-US" dirty="0">
                <a:latin typeface="微软雅黑" panose="020B0503020204020204" pitchFamily="34" charset="-122"/>
                <a:ea typeface="微软雅黑" panose="020B0503020204020204" pitchFamily="34" charset="-122"/>
              </a:rPr>
              <a:t>转换为</a:t>
            </a:r>
            <a:r>
              <a:rPr lang="en-US" altLang="zh-CN" dirty="0">
                <a:latin typeface="微软雅黑" panose="020B0503020204020204" pitchFamily="34" charset="-122"/>
                <a:ea typeface="微软雅黑" panose="020B0503020204020204" pitchFamily="34" charset="-122"/>
              </a:rPr>
              <a:t>float</a:t>
            </a:r>
            <a:r>
              <a:rPr lang="zh-CN" altLang="en-US" dirty="0">
                <a:latin typeface="微软雅黑" panose="020B0503020204020204" pitchFamily="34" charset="-122"/>
                <a:ea typeface="微软雅黑" panose="020B0503020204020204" pitchFamily="34" charset="-122"/>
              </a:rPr>
              <a:t>时，不会发生溢出，但可能有数据被舍入 </a:t>
            </a:r>
            <a:endParaRPr lang="zh-CN" altLang="en-US" dirty="0">
              <a:latin typeface="微软雅黑" panose="020B0503020204020204" pitchFamily="34" charset="-122"/>
              <a:ea typeface="微软雅黑" panose="020B0503020204020204" pitchFamily="34" charset="-122"/>
            </a:endParaRPr>
          </a:p>
          <a:p>
            <a:pPr>
              <a:lnSpc>
                <a:spcPct val="120000"/>
              </a:lnSpc>
              <a:spcBef>
                <a:spcPct val="30000"/>
              </a:spcBef>
            </a:pPr>
            <a:r>
              <a:rPr lang="zh-CN" altLang="en-US" dirty="0">
                <a:latin typeface="微软雅黑" panose="020B0503020204020204" pitchFamily="34" charset="-122"/>
                <a:ea typeface="微软雅黑" panose="020B0503020204020204" pitchFamily="34" charset="-122"/>
              </a:rPr>
              <a:t>从</a:t>
            </a:r>
            <a:r>
              <a:rPr lang="en-US" altLang="zh-CN" dirty="0">
                <a:latin typeface="微软雅黑" panose="020B0503020204020204" pitchFamily="34" charset="-122"/>
                <a:ea typeface="微软雅黑" panose="020B0503020204020204" pitchFamily="34" charset="-122"/>
              </a:rPr>
              <a:t>int</a:t>
            </a:r>
            <a:r>
              <a:rPr lang="zh-CN" altLang="en-US" dirty="0">
                <a:latin typeface="微软雅黑" panose="020B0503020204020204" pitchFamily="34" charset="-122"/>
                <a:ea typeface="微软雅黑" panose="020B0503020204020204" pitchFamily="34" charset="-122"/>
              </a:rPr>
              <a:t>或 </a:t>
            </a:r>
            <a:r>
              <a:rPr lang="en-US" altLang="zh-CN" dirty="0">
                <a:latin typeface="微软雅黑" panose="020B0503020204020204" pitchFamily="34" charset="-122"/>
                <a:ea typeface="微软雅黑" panose="020B0503020204020204" pitchFamily="34" charset="-122"/>
              </a:rPr>
              <a:t>float</a:t>
            </a:r>
            <a:r>
              <a:rPr lang="zh-CN" altLang="en-US" dirty="0">
                <a:latin typeface="微软雅黑" panose="020B0503020204020204" pitchFamily="34" charset="-122"/>
                <a:ea typeface="微软雅黑" panose="020B0503020204020204" pitchFamily="34" charset="-122"/>
              </a:rPr>
              <a:t>转换为</a:t>
            </a:r>
            <a:r>
              <a:rPr lang="en-US" altLang="zh-CN" dirty="0">
                <a:latin typeface="微软雅黑" panose="020B0503020204020204" pitchFamily="34" charset="-122"/>
                <a:ea typeface="微软雅黑" panose="020B0503020204020204" pitchFamily="34" charset="-122"/>
              </a:rPr>
              <a:t>double</a:t>
            </a:r>
            <a:r>
              <a:rPr lang="zh-CN" altLang="en-US" dirty="0">
                <a:latin typeface="微软雅黑" panose="020B0503020204020204" pitchFamily="34" charset="-122"/>
                <a:ea typeface="微软雅黑" panose="020B0503020204020204" pitchFamily="34" charset="-122"/>
              </a:rPr>
              <a:t>时，因为</a:t>
            </a:r>
            <a:r>
              <a:rPr lang="en-US" altLang="zh-CN" dirty="0">
                <a:latin typeface="微软雅黑" panose="020B0503020204020204" pitchFamily="34" charset="-122"/>
                <a:ea typeface="微软雅黑" panose="020B0503020204020204" pitchFamily="34" charset="-122"/>
              </a:rPr>
              <a:t>double</a:t>
            </a:r>
            <a:r>
              <a:rPr lang="zh-CN" altLang="en-US" dirty="0">
                <a:latin typeface="微软雅黑" panose="020B0503020204020204" pitchFamily="34" charset="-122"/>
                <a:ea typeface="微软雅黑" panose="020B0503020204020204" pitchFamily="34" charset="-122"/>
              </a:rPr>
              <a:t>的有效位数更多，故能保留精确值 </a:t>
            </a:r>
            <a:endParaRPr lang="zh-CN" altLang="en-US" dirty="0">
              <a:latin typeface="微软雅黑" panose="020B0503020204020204" pitchFamily="34" charset="-122"/>
              <a:ea typeface="微软雅黑" panose="020B0503020204020204" pitchFamily="34" charset="-122"/>
            </a:endParaRPr>
          </a:p>
          <a:p>
            <a:pPr>
              <a:lnSpc>
                <a:spcPct val="120000"/>
              </a:lnSpc>
              <a:spcBef>
                <a:spcPct val="30000"/>
              </a:spcBef>
            </a:pPr>
            <a:r>
              <a:rPr lang="zh-CN" altLang="en-US" dirty="0">
                <a:latin typeface="微软雅黑" panose="020B0503020204020204" pitchFamily="34" charset="-122"/>
                <a:ea typeface="微软雅黑" panose="020B0503020204020204" pitchFamily="34" charset="-122"/>
              </a:rPr>
              <a:t>从</a:t>
            </a:r>
            <a:r>
              <a:rPr lang="en-US" altLang="zh-CN" dirty="0">
                <a:latin typeface="微软雅黑" panose="020B0503020204020204" pitchFamily="34" charset="-122"/>
                <a:ea typeface="微软雅黑" panose="020B0503020204020204" pitchFamily="34" charset="-122"/>
              </a:rPr>
              <a:t>double</a:t>
            </a:r>
            <a:r>
              <a:rPr lang="zh-CN" altLang="en-US" dirty="0">
                <a:latin typeface="微软雅黑" panose="020B0503020204020204" pitchFamily="34" charset="-122"/>
                <a:ea typeface="微软雅黑" panose="020B0503020204020204" pitchFamily="34" charset="-122"/>
              </a:rPr>
              <a:t>转换为</a:t>
            </a:r>
            <a:r>
              <a:rPr lang="en-US" altLang="zh-CN" dirty="0">
                <a:latin typeface="微软雅黑" panose="020B0503020204020204" pitchFamily="34" charset="-122"/>
                <a:ea typeface="微软雅黑" panose="020B0503020204020204" pitchFamily="34" charset="-122"/>
              </a:rPr>
              <a:t>float</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int</a:t>
            </a:r>
            <a:r>
              <a:rPr lang="zh-CN" altLang="en-US" dirty="0">
                <a:latin typeface="微软雅黑" panose="020B0503020204020204" pitchFamily="34" charset="-122"/>
                <a:ea typeface="微软雅黑" panose="020B0503020204020204" pitchFamily="34" charset="-122"/>
              </a:rPr>
              <a:t>时，可能发生溢出，此外，由于有效位数变少，故可能被舍入</a:t>
            </a:r>
            <a:endParaRPr lang="zh-CN" altLang="en-US" dirty="0">
              <a:latin typeface="微软雅黑" panose="020B0503020204020204" pitchFamily="34" charset="-122"/>
              <a:ea typeface="微软雅黑" panose="020B0503020204020204" pitchFamily="34" charset="-122"/>
            </a:endParaRPr>
          </a:p>
          <a:p>
            <a:pPr>
              <a:lnSpc>
                <a:spcPct val="120000"/>
              </a:lnSpc>
              <a:spcBef>
                <a:spcPct val="30000"/>
              </a:spcBef>
            </a:pPr>
            <a:r>
              <a:rPr lang="zh-CN" altLang="en-US" dirty="0">
                <a:latin typeface="微软雅黑" panose="020B0503020204020204" pitchFamily="34" charset="-122"/>
                <a:ea typeface="微软雅黑" panose="020B0503020204020204" pitchFamily="34" charset="-122"/>
              </a:rPr>
              <a:t>从</a:t>
            </a:r>
            <a:r>
              <a:rPr lang="en-US" altLang="zh-CN" dirty="0">
                <a:latin typeface="微软雅黑" panose="020B0503020204020204" pitchFamily="34" charset="-122"/>
                <a:ea typeface="微软雅黑" panose="020B0503020204020204" pitchFamily="34" charset="-122"/>
              </a:rPr>
              <a:t>float </a:t>
            </a:r>
            <a:r>
              <a:rPr lang="zh-CN" altLang="en-US" dirty="0">
                <a:latin typeface="微软雅黑" panose="020B0503020204020204" pitchFamily="34" charset="-122"/>
                <a:ea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rPr>
              <a:t>double</a:t>
            </a:r>
            <a:r>
              <a:rPr lang="zh-CN" altLang="en-US" dirty="0">
                <a:latin typeface="微软雅黑" panose="020B0503020204020204" pitchFamily="34" charset="-122"/>
                <a:ea typeface="微软雅黑" panose="020B0503020204020204" pitchFamily="34" charset="-122"/>
              </a:rPr>
              <a:t>转换为</a:t>
            </a:r>
            <a:r>
              <a:rPr lang="en-US" altLang="zh-CN" dirty="0">
                <a:latin typeface="微软雅黑" panose="020B0503020204020204" pitchFamily="34" charset="-122"/>
                <a:ea typeface="微软雅黑" panose="020B0503020204020204" pitchFamily="34" charset="-122"/>
              </a:rPr>
              <a:t>int</a:t>
            </a:r>
            <a:r>
              <a:rPr lang="zh-CN" altLang="en-US" dirty="0">
                <a:latin typeface="微软雅黑" panose="020B0503020204020204" pitchFamily="34" charset="-122"/>
                <a:ea typeface="微软雅黑" panose="020B0503020204020204" pitchFamily="34" charset="-122"/>
              </a:rPr>
              <a:t>时，因为</a:t>
            </a:r>
            <a:r>
              <a:rPr lang="en-US" altLang="zh-CN" dirty="0">
                <a:latin typeface="微软雅黑" panose="020B0503020204020204" pitchFamily="34" charset="-122"/>
                <a:ea typeface="微软雅黑" panose="020B0503020204020204" pitchFamily="34" charset="-122"/>
              </a:rPr>
              <a:t>int</a:t>
            </a:r>
            <a:r>
              <a:rPr lang="zh-CN" altLang="en-US" dirty="0">
                <a:latin typeface="微软雅黑" panose="020B0503020204020204" pitchFamily="34" charset="-122"/>
                <a:ea typeface="微软雅黑" panose="020B0503020204020204" pitchFamily="34" charset="-122"/>
              </a:rPr>
              <a:t>没有小数部分，所以数据可能会向</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方向被截断</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2643">
                                            <p:txEl>
                                              <p:charRg st="0" end="50"/>
                                            </p:txEl>
                                          </p:spTgt>
                                        </p:tgtEl>
                                        <p:attrNameLst>
                                          <p:attrName>style.visibility</p:attrName>
                                        </p:attrNameLst>
                                      </p:cBhvr>
                                      <p:to>
                                        <p:strVal val="visible"/>
                                      </p:to>
                                    </p:set>
                                    <p:animEffect transition="in" filter="blinds(horizontal)">
                                      <p:cBhvr>
                                        <p:cTn id="7" dur="500"/>
                                        <p:tgtEl>
                                          <p:spTgt spid="752643">
                                            <p:txEl>
                                              <p:charRg st="0" end="5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2643">
                                            <p:txEl>
                                              <p:charRg st="50" end="105"/>
                                            </p:txEl>
                                          </p:spTgt>
                                        </p:tgtEl>
                                        <p:attrNameLst>
                                          <p:attrName>style.visibility</p:attrName>
                                        </p:attrNameLst>
                                      </p:cBhvr>
                                      <p:to>
                                        <p:strVal val="visible"/>
                                      </p:to>
                                    </p:set>
                                    <p:animEffect transition="in" filter="blinds(horizontal)">
                                      <p:cBhvr>
                                        <p:cTn id="12" dur="500"/>
                                        <p:tgtEl>
                                          <p:spTgt spid="752643">
                                            <p:txEl>
                                              <p:charRg st="50" end="10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2643">
                                            <p:txEl>
                                              <p:charRg st="105" end="137"/>
                                            </p:txEl>
                                          </p:spTgt>
                                        </p:tgtEl>
                                        <p:attrNameLst>
                                          <p:attrName>style.visibility</p:attrName>
                                        </p:attrNameLst>
                                      </p:cBhvr>
                                      <p:to>
                                        <p:strVal val="visible"/>
                                      </p:to>
                                    </p:set>
                                    <p:animEffect transition="in" filter="blinds(horizontal)">
                                      <p:cBhvr>
                                        <p:cTn id="17" dur="500"/>
                                        <p:tgtEl>
                                          <p:spTgt spid="752643">
                                            <p:txEl>
                                              <p:charRg st="105" end="1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52643">
                                            <p:txEl>
                                              <p:charRg st="137" end="184"/>
                                            </p:txEl>
                                          </p:spTgt>
                                        </p:tgtEl>
                                        <p:attrNameLst>
                                          <p:attrName>style.visibility</p:attrName>
                                        </p:attrNameLst>
                                      </p:cBhvr>
                                      <p:to>
                                        <p:strVal val="visible"/>
                                      </p:to>
                                    </p:set>
                                    <p:animEffect transition="in" filter="blinds(horizontal)">
                                      <p:cBhvr>
                                        <p:cTn id="22" dur="500"/>
                                        <p:tgtEl>
                                          <p:spTgt spid="752643">
                                            <p:txEl>
                                              <p:charRg st="137" end="18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52643">
                                            <p:txEl>
                                              <p:charRg st="184" end="231"/>
                                            </p:txEl>
                                          </p:spTgt>
                                        </p:tgtEl>
                                        <p:attrNameLst>
                                          <p:attrName>style.visibility</p:attrName>
                                        </p:attrNameLst>
                                      </p:cBhvr>
                                      <p:to>
                                        <p:strVal val="visible"/>
                                      </p:to>
                                    </p:set>
                                    <p:animEffect transition="in" filter="blinds(horizontal)">
                                      <p:cBhvr>
                                        <p:cTn id="27" dur="500"/>
                                        <p:tgtEl>
                                          <p:spTgt spid="752643">
                                            <p:txEl>
                                              <p:charRg st="184" end="23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52643">
                                            <p:txEl>
                                              <p:charRg st="231" end="280"/>
                                            </p:txEl>
                                          </p:spTgt>
                                        </p:tgtEl>
                                        <p:attrNameLst>
                                          <p:attrName>style.visibility</p:attrName>
                                        </p:attrNameLst>
                                      </p:cBhvr>
                                      <p:to>
                                        <p:strVal val="visible"/>
                                      </p:to>
                                    </p:set>
                                    <p:animEffect transition="in" filter="blinds(horizontal)">
                                      <p:cBhvr>
                                        <p:cTn id="32" dur="500"/>
                                        <p:tgtEl>
                                          <p:spTgt spid="752643">
                                            <p:txEl>
                                              <p:charRg st="231" end="2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Rectangle 2"/>
          <p:cNvSpPr>
            <a:spLocks noGrp="1"/>
          </p:cNvSpPr>
          <p:nvPr>
            <p:ph type="title" idx="4294967295"/>
          </p:nvPr>
        </p:nvSpPr>
        <p:spPr>
          <a:xfrm>
            <a:off x="457200" y="53975"/>
            <a:ext cx="8229600" cy="479425"/>
          </a:xfrm>
          <a:ln/>
        </p:spPr>
        <p:txBody>
          <a:bodyPr vert="horz" wrap="square" lIns="63500" tIns="25400" rIns="63500" bIns="25400" anchor="t" anchorCtr="0">
            <a:spAutoFit/>
          </a:bodyPr>
          <a:p>
            <a:r>
              <a:rPr lang="en-US" altLang="zh-CN" dirty="0">
                <a:latin typeface="微软雅黑" panose="020B0503020204020204" pitchFamily="34" charset="-122"/>
                <a:ea typeface="微软雅黑" panose="020B0503020204020204" pitchFamily="34" charset="-122"/>
              </a:rPr>
              <a:t>IEEE 754 </a:t>
            </a:r>
            <a:r>
              <a:rPr lang="zh-CN" altLang="en-US" dirty="0">
                <a:latin typeface="微软雅黑" panose="020B0503020204020204" pitchFamily="34" charset="-122"/>
                <a:ea typeface="微软雅黑" panose="020B0503020204020204" pitchFamily="34" charset="-122"/>
              </a:rPr>
              <a:t>的范围和精度</a:t>
            </a:r>
            <a:endParaRPr lang="zh-CN" altLang="en-US" dirty="0">
              <a:latin typeface="微软雅黑" panose="020B0503020204020204" pitchFamily="34" charset="-122"/>
              <a:ea typeface="微软雅黑" panose="020B0503020204020204" pitchFamily="34" charset="-122"/>
            </a:endParaRPr>
          </a:p>
        </p:txBody>
      </p:sp>
      <p:sp>
        <p:nvSpPr>
          <p:cNvPr id="329731" name="Rectangle 3"/>
          <p:cNvSpPr>
            <a:spLocks noGrp="1"/>
          </p:cNvSpPr>
          <p:nvPr>
            <p:ph type="body" idx="4294967295"/>
          </p:nvPr>
        </p:nvSpPr>
        <p:spPr>
          <a:xfrm>
            <a:off x="385763" y="819150"/>
            <a:ext cx="8501062" cy="5859463"/>
          </a:xfrm>
          <a:ln/>
        </p:spPr>
        <p:txBody>
          <a:bodyPr vert="horz" wrap="square" lIns="63500" tIns="25400" rIns="63500" bIns="25400" anchor="t" anchorCtr="0">
            <a:spAutoFit/>
          </a:bodyPr>
          <a:p>
            <a:pPr>
              <a:lnSpc>
                <a:spcPct val="100000"/>
              </a:lnSpc>
            </a:pPr>
            <a:r>
              <a:rPr lang="zh-CN" altLang="en-US" dirty="0">
                <a:latin typeface="微软雅黑" panose="020B0503020204020204" pitchFamily="34" charset="-122"/>
                <a:ea typeface="微软雅黑" panose="020B0503020204020204" pitchFamily="34" charset="-122"/>
              </a:rPr>
              <a:t>单精度浮点数（</a:t>
            </a:r>
            <a:r>
              <a:rPr lang="en-US" altLang="zh-CN" dirty="0">
                <a:latin typeface="微软雅黑" panose="020B0503020204020204" pitchFamily="34" charset="-122"/>
                <a:ea typeface="微软雅黑" panose="020B0503020204020204" pitchFamily="34" charset="-122"/>
              </a:rPr>
              <a:t>float</a:t>
            </a:r>
            <a:r>
              <a:rPr lang="zh-CN" altLang="en-US" dirty="0">
                <a:latin typeface="微软雅黑" panose="020B0503020204020204" pitchFamily="34" charset="-122"/>
                <a:ea typeface="微软雅黑" panose="020B0503020204020204" pitchFamily="34" charset="-122"/>
              </a:rPr>
              <a:t>型）的表示范围多大</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00000"/>
              </a:lnSpc>
              <a:buNone/>
            </a:pPr>
            <a:r>
              <a:rPr lang="zh-CN" altLang="en-US" sz="2200" dirty="0">
                <a:latin typeface="微软雅黑" panose="020B0503020204020204" pitchFamily="34" charset="-122"/>
                <a:ea typeface="微软雅黑" panose="020B0503020204020204" pitchFamily="34" charset="-122"/>
              </a:rPr>
              <a:t>最大的数据</a:t>
            </a:r>
            <a:r>
              <a:rPr lang="en-US" altLang="zh-CN" sz="2200" dirty="0">
                <a:latin typeface="微软雅黑" panose="020B0503020204020204" pitchFamily="34" charset="-122"/>
                <a:ea typeface="微软雅黑" panose="020B0503020204020204" pitchFamily="34" charset="-122"/>
              </a:rPr>
              <a:t>: +1.11…1X 2</a:t>
            </a:r>
            <a:r>
              <a:rPr lang="en-US" altLang="zh-CN" sz="2200" baseline="30000" dirty="0">
                <a:latin typeface="微软雅黑" panose="020B0503020204020204" pitchFamily="34" charset="-122"/>
                <a:ea typeface="微软雅黑" panose="020B0503020204020204" pitchFamily="34" charset="-122"/>
              </a:rPr>
              <a:t>127 </a:t>
            </a:r>
            <a:endParaRPr lang="en-US" altLang="zh-CN" sz="2200" baseline="30000" dirty="0">
              <a:latin typeface="微软雅黑" panose="020B0503020204020204" pitchFamily="34" charset="-122"/>
              <a:ea typeface="微软雅黑" panose="020B0503020204020204" pitchFamily="34" charset="-122"/>
            </a:endParaRPr>
          </a:p>
          <a:p>
            <a:pPr lvl="1">
              <a:lnSpc>
                <a:spcPct val="100000"/>
              </a:lnSpc>
              <a:buNone/>
            </a:pPr>
            <a:r>
              <a:rPr lang="zh-CN" altLang="en-US" sz="2200" dirty="0">
                <a:latin typeface="微软雅黑" panose="020B0503020204020204" pitchFamily="34" charset="-122"/>
                <a:ea typeface="微软雅黑" panose="020B0503020204020204" pitchFamily="34" charset="-122"/>
              </a:rPr>
              <a:t>双精度浮点数（</a:t>
            </a:r>
            <a:r>
              <a:rPr lang="en-US" altLang="zh-CN" sz="2200" dirty="0">
                <a:latin typeface="微软雅黑" panose="020B0503020204020204" pitchFamily="34" charset="-122"/>
                <a:ea typeface="微软雅黑" panose="020B0503020204020204" pitchFamily="34" charset="-122"/>
              </a:rPr>
              <a:t>double</a:t>
            </a:r>
            <a:r>
              <a:rPr lang="zh-CN" altLang="en-US" sz="2200" dirty="0">
                <a:latin typeface="微软雅黑" panose="020B0503020204020204" pitchFamily="34" charset="-122"/>
                <a:ea typeface="微软雅黑" panose="020B0503020204020204" pitchFamily="34" charset="-122"/>
              </a:rPr>
              <a:t>型）呢</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以下关系表达式是否永真？</a:t>
            </a:r>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a:lnSpc>
                <a:spcPct val="100000"/>
              </a:lnSpc>
              <a:buFontTx/>
              <a:buNone/>
            </a:pPr>
            <a:r>
              <a:rPr lang="en-US" altLang="zh-CN" dirty="0">
                <a:solidFill>
                  <a:srgbClr val="990000"/>
                </a:solidFill>
                <a:latin typeface="微软雅黑" panose="020B0503020204020204" pitchFamily="34" charset="-122"/>
                <a:ea typeface="微软雅黑" panose="020B0503020204020204" pitchFamily="34" charset="-122"/>
              </a:rPr>
              <a:t>      if ( i == (int) ((float) i) )  {</a:t>
            </a:r>
            <a:endParaRPr lang="en-US" altLang="zh-CN" dirty="0">
              <a:solidFill>
                <a:srgbClr val="990000"/>
              </a:solidFill>
              <a:latin typeface="微软雅黑" panose="020B0503020204020204" pitchFamily="34" charset="-122"/>
              <a:ea typeface="微软雅黑" panose="020B0503020204020204" pitchFamily="34" charset="-122"/>
            </a:endParaRPr>
          </a:p>
          <a:p>
            <a:pPr>
              <a:lnSpc>
                <a:spcPct val="100000"/>
              </a:lnSpc>
              <a:buFontTx/>
              <a:buNone/>
            </a:pPr>
            <a:r>
              <a:rPr lang="en-US" altLang="zh-CN" dirty="0">
                <a:solidFill>
                  <a:srgbClr val="990000"/>
                </a:solidFill>
                <a:latin typeface="微软雅黑" panose="020B0503020204020204" pitchFamily="34" charset="-122"/>
                <a:ea typeface="微软雅黑" panose="020B0503020204020204" pitchFamily="34" charset="-122"/>
              </a:rPr>
              <a:t>             printf (“true”);</a:t>
            </a:r>
            <a:endParaRPr lang="en-US" altLang="zh-CN" dirty="0">
              <a:solidFill>
                <a:srgbClr val="990000"/>
              </a:solidFill>
              <a:latin typeface="微软雅黑" panose="020B0503020204020204" pitchFamily="34" charset="-122"/>
              <a:ea typeface="微软雅黑" panose="020B0503020204020204" pitchFamily="34" charset="-122"/>
            </a:endParaRPr>
          </a:p>
          <a:p>
            <a:pPr>
              <a:lnSpc>
                <a:spcPct val="100000"/>
              </a:lnSpc>
              <a:buFontTx/>
              <a:buNone/>
            </a:pPr>
            <a:r>
              <a:rPr lang="en-US" altLang="zh-CN" dirty="0">
                <a:solidFill>
                  <a:srgbClr val="990000"/>
                </a:solidFill>
                <a:latin typeface="微软雅黑" panose="020B0503020204020204" pitchFamily="34" charset="-122"/>
                <a:ea typeface="微软雅黑" panose="020B0503020204020204" pitchFamily="34" charset="-122"/>
              </a:rPr>
              <a:t>      }</a:t>
            </a:r>
            <a:endParaRPr lang="en-US" altLang="zh-CN" dirty="0">
              <a:solidFill>
                <a:srgbClr val="990000"/>
              </a:solidFill>
              <a:latin typeface="微软雅黑" panose="020B0503020204020204" pitchFamily="34" charset="-122"/>
              <a:ea typeface="微软雅黑" panose="020B0503020204020204" pitchFamily="34" charset="-122"/>
            </a:endParaRPr>
          </a:p>
          <a:p>
            <a:pPr>
              <a:lnSpc>
                <a:spcPct val="100000"/>
              </a:lnSpc>
              <a:buFontTx/>
              <a:buNone/>
            </a:pPr>
            <a:r>
              <a:rPr lang="en-US" altLang="zh-CN" dirty="0">
                <a:solidFill>
                  <a:srgbClr val="990000"/>
                </a:solidFill>
                <a:latin typeface="微软雅黑" panose="020B0503020204020204" pitchFamily="34" charset="-122"/>
                <a:ea typeface="微软雅黑" panose="020B0503020204020204" pitchFamily="34" charset="-122"/>
              </a:rPr>
              <a:t>      if ( f == (float) ((int) f) )  {</a:t>
            </a:r>
            <a:endParaRPr lang="en-US" altLang="zh-CN" dirty="0">
              <a:solidFill>
                <a:srgbClr val="990000"/>
              </a:solidFill>
              <a:latin typeface="微软雅黑" panose="020B0503020204020204" pitchFamily="34" charset="-122"/>
              <a:ea typeface="微软雅黑" panose="020B0503020204020204" pitchFamily="34" charset="-122"/>
            </a:endParaRPr>
          </a:p>
          <a:p>
            <a:pPr>
              <a:lnSpc>
                <a:spcPct val="100000"/>
              </a:lnSpc>
              <a:buFontTx/>
              <a:buNone/>
            </a:pPr>
            <a:r>
              <a:rPr lang="en-US" altLang="zh-CN" dirty="0">
                <a:solidFill>
                  <a:srgbClr val="990000"/>
                </a:solidFill>
                <a:latin typeface="微软雅黑" panose="020B0503020204020204" pitchFamily="34" charset="-122"/>
                <a:ea typeface="微软雅黑" panose="020B0503020204020204" pitchFamily="34" charset="-122"/>
              </a:rPr>
              <a:t>            printf (“true”);</a:t>
            </a:r>
            <a:endParaRPr lang="en-US" altLang="zh-CN" dirty="0">
              <a:solidFill>
                <a:srgbClr val="990000"/>
              </a:solidFill>
              <a:latin typeface="微软雅黑" panose="020B0503020204020204" pitchFamily="34" charset="-122"/>
              <a:ea typeface="微软雅黑" panose="020B0503020204020204" pitchFamily="34" charset="-122"/>
            </a:endParaRPr>
          </a:p>
          <a:p>
            <a:pPr>
              <a:lnSpc>
                <a:spcPct val="100000"/>
              </a:lnSpc>
              <a:buFontTx/>
              <a:buNone/>
            </a:pPr>
            <a:r>
              <a:rPr lang="en-US" altLang="zh-CN" dirty="0">
                <a:solidFill>
                  <a:srgbClr val="990000"/>
                </a:solidFill>
                <a:latin typeface="微软雅黑" panose="020B0503020204020204" pitchFamily="34" charset="-122"/>
                <a:ea typeface="微软雅黑" panose="020B0503020204020204" pitchFamily="34" charset="-122"/>
              </a:rPr>
              <a:t>      }</a:t>
            </a:r>
            <a:endParaRPr lang="en-US" altLang="zh-CN" dirty="0">
              <a:solidFill>
                <a:srgbClr val="990000"/>
              </a:solidFill>
              <a:latin typeface="微软雅黑" panose="020B0503020204020204" pitchFamily="34" charset="-122"/>
              <a:ea typeface="微软雅黑" panose="020B0503020204020204" pitchFamily="34" charset="-122"/>
            </a:endParaRPr>
          </a:p>
          <a:p>
            <a:pPr>
              <a:lnSpc>
                <a:spcPct val="100000"/>
              </a:lnSpc>
            </a:pPr>
            <a:r>
              <a:rPr lang="zh-CN" altLang="en-US" dirty="0">
                <a:latin typeface="微软雅黑" panose="020B0503020204020204" pitchFamily="34" charset="-122"/>
                <a:ea typeface="微软雅黑" panose="020B0503020204020204" pitchFamily="34" charset="-122"/>
              </a:rPr>
              <a:t>浮点数加法结合律是否正确</a:t>
            </a:r>
            <a:r>
              <a:rPr lang="en-US" altLang="zh-CN"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a:lnSpc>
                <a:spcPct val="100000"/>
              </a:lnSpc>
              <a:buFontTx/>
              <a:buNone/>
            </a:pPr>
            <a:r>
              <a:rPr lang="en-US" altLang="zh-CN" dirty="0">
                <a:latin typeface="微软雅黑" panose="020B0503020204020204" pitchFamily="34" charset="-122"/>
                <a:ea typeface="微软雅黑" panose="020B0503020204020204" pitchFamily="34" charset="-122"/>
              </a:rPr>
              <a:t>     </a:t>
            </a:r>
            <a:r>
              <a:rPr lang="en-US" altLang="zh-CN" dirty="0">
                <a:solidFill>
                  <a:schemeClr val="accent2"/>
                </a:solidFill>
                <a:latin typeface="微软雅黑" panose="020B0503020204020204" pitchFamily="34" charset="-122"/>
                <a:ea typeface="微软雅黑" panose="020B0503020204020204" pitchFamily="34" charset="-122"/>
              </a:rPr>
              <a:t>x = – 1.5 x 10</a:t>
            </a:r>
            <a:r>
              <a:rPr lang="en-US" altLang="zh-CN" baseline="30000" dirty="0">
                <a:solidFill>
                  <a:schemeClr val="accent2"/>
                </a:solidFill>
                <a:latin typeface="微软雅黑" panose="020B0503020204020204" pitchFamily="34" charset="-122"/>
                <a:ea typeface="微软雅黑" panose="020B0503020204020204" pitchFamily="34" charset="-122"/>
              </a:rPr>
              <a:t>38</a:t>
            </a:r>
            <a:r>
              <a:rPr lang="en-US" altLang="zh-CN" dirty="0">
                <a:solidFill>
                  <a:schemeClr val="accent2"/>
                </a:solidFill>
                <a:latin typeface="微软雅黑" panose="020B0503020204020204" pitchFamily="34" charset="-122"/>
                <a:ea typeface="微软雅黑" panose="020B0503020204020204" pitchFamily="34" charset="-122"/>
              </a:rPr>
              <a:t>,   y = 1.5 x 10</a:t>
            </a:r>
            <a:r>
              <a:rPr lang="en-US" altLang="zh-CN" baseline="30000" dirty="0">
                <a:solidFill>
                  <a:schemeClr val="accent2"/>
                </a:solidFill>
                <a:latin typeface="微软雅黑" panose="020B0503020204020204" pitchFamily="34" charset="-122"/>
                <a:ea typeface="微软雅黑" panose="020B0503020204020204" pitchFamily="34" charset="-122"/>
              </a:rPr>
              <a:t>38</a:t>
            </a:r>
            <a:r>
              <a:rPr lang="en-US" altLang="zh-CN" dirty="0">
                <a:solidFill>
                  <a:schemeClr val="accent2"/>
                </a:solidFill>
                <a:latin typeface="微软雅黑" panose="020B0503020204020204" pitchFamily="34" charset="-122"/>
                <a:ea typeface="微软雅黑" panose="020B0503020204020204" pitchFamily="34" charset="-122"/>
              </a:rPr>
              <a:t>,    z = 1.0</a:t>
            </a:r>
            <a:endParaRPr lang="en-US" altLang="zh-CN" dirty="0">
              <a:solidFill>
                <a:schemeClr val="accent2"/>
              </a:solidFill>
              <a:latin typeface="微软雅黑" panose="020B0503020204020204" pitchFamily="34" charset="-122"/>
              <a:ea typeface="微软雅黑" panose="020B0503020204020204" pitchFamily="34" charset="-122"/>
            </a:endParaRPr>
          </a:p>
          <a:p>
            <a:pPr>
              <a:lnSpc>
                <a:spcPct val="100000"/>
              </a:lnSpc>
              <a:buFontTx/>
              <a:buNone/>
            </a:pPr>
            <a:r>
              <a:rPr lang="en-US" altLang="zh-CN" dirty="0">
                <a:solidFill>
                  <a:srgbClr val="990000"/>
                </a:solidFill>
                <a:latin typeface="微软雅黑" panose="020B0503020204020204" pitchFamily="34" charset="-122"/>
                <a:ea typeface="微软雅黑" panose="020B0503020204020204" pitchFamily="34" charset="-122"/>
              </a:rPr>
              <a:t>     (x+y)+z = (–1.5x10</a:t>
            </a:r>
            <a:r>
              <a:rPr lang="en-US" altLang="zh-CN" baseline="30000" dirty="0">
                <a:solidFill>
                  <a:srgbClr val="990000"/>
                </a:solidFill>
                <a:latin typeface="微软雅黑" panose="020B0503020204020204" pitchFamily="34" charset="-122"/>
                <a:ea typeface="微软雅黑" panose="020B0503020204020204" pitchFamily="34" charset="-122"/>
              </a:rPr>
              <a:t>38</a:t>
            </a:r>
            <a:r>
              <a:rPr lang="en-US" altLang="zh-CN" dirty="0">
                <a:solidFill>
                  <a:srgbClr val="990000"/>
                </a:solidFill>
                <a:latin typeface="微软雅黑" panose="020B0503020204020204" pitchFamily="34" charset="-122"/>
                <a:ea typeface="微软雅黑" panose="020B0503020204020204" pitchFamily="34" charset="-122"/>
              </a:rPr>
              <a:t>+1.5x10</a:t>
            </a:r>
            <a:r>
              <a:rPr lang="en-US" altLang="zh-CN" baseline="30000" dirty="0">
                <a:solidFill>
                  <a:srgbClr val="990000"/>
                </a:solidFill>
                <a:latin typeface="微软雅黑" panose="020B0503020204020204" pitchFamily="34" charset="-122"/>
                <a:ea typeface="微软雅黑" panose="020B0503020204020204" pitchFamily="34" charset="-122"/>
              </a:rPr>
              <a:t>38 </a:t>
            </a:r>
            <a:r>
              <a:rPr lang="en-US" altLang="zh-CN" dirty="0">
                <a:solidFill>
                  <a:srgbClr val="990000"/>
                </a:solidFill>
                <a:latin typeface="微软雅黑" panose="020B0503020204020204" pitchFamily="34" charset="-122"/>
                <a:ea typeface="微软雅黑" panose="020B0503020204020204" pitchFamily="34" charset="-122"/>
              </a:rPr>
              <a:t>)</a:t>
            </a:r>
            <a:r>
              <a:rPr lang="en-US" altLang="zh-CN" baseline="30000" dirty="0">
                <a:solidFill>
                  <a:srgbClr val="990000"/>
                </a:solidFill>
                <a:latin typeface="微软雅黑" panose="020B0503020204020204" pitchFamily="34" charset="-122"/>
                <a:ea typeface="微软雅黑" panose="020B0503020204020204" pitchFamily="34" charset="-122"/>
              </a:rPr>
              <a:t> </a:t>
            </a:r>
            <a:r>
              <a:rPr lang="en-US" altLang="zh-CN" dirty="0">
                <a:solidFill>
                  <a:srgbClr val="990000"/>
                </a:solidFill>
                <a:latin typeface="微软雅黑" panose="020B0503020204020204" pitchFamily="34" charset="-122"/>
                <a:ea typeface="微软雅黑" panose="020B0503020204020204" pitchFamily="34" charset="-122"/>
              </a:rPr>
              <a:t>+1.0 = 1.0</a:t>
            </a:r>
            <a:endParaRPr lang="en-US" altLang="zh-CN" dirty="0">
              <a:solidFill>
                <a:srgbClr val="990000"/>
              </a:solidFill>
              <a:latin typeface="微软雅黑" panose="020B0503020204020204" pitchFamily="34" charset="-122"/>
              <a:ea typeface="微软雅黑" panose="020B0503020204020204" pitchFamily="34" charset="-122"/>
            </a:endParaRPr>
          </a:p>
          <a:p>
            <a:pPr>
              <a:lnSpc>
                <a:spcPct val="100000"/>
              </a:lnSpc>
              <a:buFontTx/>
              <a:buNone/>
            </a:pPr>
            <a:r>
              <a:rPr lang="en-US" altLang="zh-CN" dirty="0">
                <a:solidFill>
                  <a:srgbClr val="990000"/>
                </a:solidFill>
                <a:latin typeface="微软雅黑" panose="020B0503020204020204" pitchFamily="34" charset="-122"/>
                <a:ea typeface="微软雅黑" panose="020B0503020204020204" pitchFamily="34" charset="-122"/>
              </a:rPr>
              <a:t>     x+(y+z) = –1.5x10</a:t>
            </a:r>
            <a:r>
              <a:rPr lang="en-US" altLang="zh-CN" baseline="30000" dirty="0">
                <a:solidFill>
                  <a:srgbClr val="990000"/>
                </a:solidFill>
                <a:latin typeface="微软雅黑" panose="020B0503020204020204" pitchFamily="34" charset="-122"/>
                <a:ea typeface="微软雅黑" panose="020B0503020204020204" pitchFamily="34" charset="-122"/>
              </a:rPr>
              <a:t>38</a:t>
            </a:r>
            <a:r>
              <a:rPr lang="en-US" altLang="zh-CN" dirty="0">
                <a:solidFill>
                  <a:srgbClr val="990000"/>
                </a:solidFill>
                <a:latin typeface="微软雅黑" panose="020B0503020204020204" pitchFamily="34" charset="-122"/>
                <a:ea typeface="微软雅黑" panose="020B0503020204020204" pitchFamily="34" charset="-122"/>
              </a:rPr>
              <a:t>+ (1.5x10</a:t>
            </a:r>
            <a:r>
              <a:rPr lang="en-US" altLang="zh-CN" baseline="30000" dirty="0">
                <a:solidFill>
                  <a:srgbClr val="990000"/>
                </a:solidFill>
                <a:latin typeface="微软雅黑" panose="020B0503020204020204" pitchFamily="34" charset="-122"/>
                <a:ea typeface="微软雅黑" panose="020B0503020204020204" pitchFamily="34" charset="-122"/>
              </a:rPr>
              <a:t>38</a:t>
            </a:r>
            <a:r>
              <a:rPr lang="en-US" altLang="zh-CN" dirty="0">
                <a:solidFill>
                  <a:srgbClr val="990000"/>
                </a:solidFill>
                <a:latin typeface="微软雅黑" panose="020B0503020204020204" pitchFamily="34" charset="-122"/>
                <a:ea typeface="微软雅黑" panose="020B0503020204020204" pitchFamily="34" charset="-122"/>
              </a:rPr>
              <a:t>+1.0) = 0.0</a:t>
            </a:r>
            <a:endParaRPr lang="en-US" altLang="zh-CN" dirty="0">
              <a:solidFill>
                <a:srgbClr val="990000"/>
              </a:solidFill>
              <a:latin typeface="微软雅黑" panose="020B0503020204020204" pitchFamily="34" charset="-122"/>
              <a:ea typeface="微软雅黑" panose="020B0503020204020204" pitchFamily="34" charset="-122"/>
            </a:endParaRPr>
          </a:p>
          <a:p>
            <a:pPr>
              <a:lnSpc>
                <a:spcPct val="90000"/>
              </a:lnSpc>
              <a:buFontTx/>
              <a:buNone/>
            </a:pPr>
            <a:endParaRPr lang="zh-CN" altLang="en-US" baseline="30000" dirty="0">
              <a:solidFill>
                <a:srgbClr val="990000"/>
              </a:solidFill>
              <a:latin typeface="微软雅黑" panose="020B0503020204020204" pitchFamily="34" charset="-122"/>
              <a:ea typeface="微软雅黑" panose="020B0503020204020204" pitchFamily="34" charset="-122"/>
            </a:endParaRPr>
          </a:p>
        </p:txBody>
      </p:sp>
      <p:sp>
        <p:nvSpPr>
          <p:cNvPr id="329732" name="Text Box 4"/>
          <p:cNvSpPr txBox="1"/>
          <p:nvPr/>
        </p:nvSpPr>
        <p:spPr>
          <a:xfrm>
            <a:off x="4392613" y="2843213"/>
            <a:ext cx="2967037" cy="427037"/>
          </a:xfrm>
          <a:prstGeom prst="rect">
            <a:avLst/>
          </a:prstGeom>
          <a:noFill/>
          <a:ln w="12700">
            <a:noFill/>
          </a:ln>
        </p:spPr>
        <p:txBody>
          <a:bodyPr anchor="t" anchorCtr="0">
            <a:spAutoFit/>
          </a:bodyPr>
          <a:p>
            <a:pPr eaLnBrk="0" hangingPunct="0">
              <a:spcBef>
                <a:spcPct val="50000"/>
              </a:spcBef>
              <a:buClrTx/>
              <a:buFontTx/>
            </a:pPr>
            <a:r>
              <a:rPr lang="en-US" altLang="zh-CN" sz="2200" dirty="0">
                <a:solidFill>
                  <a:srgbClr val="FF0066"/>
                </a:solidFill>
                <a:latin typeface="微软雅黑" panose="020B0503020204020204" pitchFamily="34" charset="-122"/>
                <a:ea typeface="微软雅黑" panose="020B0503020204020204" pitchFamily="34" charset="-122"/>
              </a:rPr>
              <a:t>How about double?</a:t>
            </a:r>
            <a:r>
              <a:rPr lang="en-US" altLang="zh-CN" sz="2200" dirty="0">
                <a:solidFill>
                  <a:srgbClr val="006600"/>
                </a:solidFill>
                <a:latin typeface="微软雅黑" panose="020B0503020204020204" pitchFamily="34" charset="-122"/>
                <a:ea typeface="微软雅黑" panose="020B0503020204020204" pitchFamily="34" charset="-122"/>
              </a:rPr>
              <a:t>  </a:t>
            </a:r>
            <a:endParaRPr lang="en-US" altLang="zh-CN" sz="2200" dirty="0">
              <a:solidFill>
                <a:srgbClr val="006600"/>
              </a:solidFill>
              <a:latin typeface="微软雅黑" panose="020B0503020204020204" pitchFamily="34" charset="-122"/>
              <a:ea typeface="微软雅黑" panose="020B0503020204020204" pitchFamily="34" charset="-122"/>
            </a:endParaRPr>
          </a:p>
        </p:txBody>
      </p:sp>
      <p:sp>
        <p:nvSpPr>
          <p:cNvPr id="329733" name="Text Box 5"/>
          <p:cNvSpPr txBox="1"/>
          <p:nvPr/>
        </p:nvSpPr>
        <p:spPr>
          <a:xfrm>
            <a:off x="4527550" y="4149725"/>
            <a:ext cx="3025775" cy="427038"/>
          </a:xfrm>
          <a:prstGeom prst="rect">
            <a:avLst/>
          </a:prstGeom>
          <a:noFill/>
          <a:ln w="12700">
            <a:noFill/>
          </a:ln>
        </p:spPr>
        <p:txBody>
          <a:bodyPr anchor="t" anchorCtr="0">
            <a:spAutoFit/>
          </a:bodyPr>
          <a:p>
            <a:pPr eaLnBrk="0" hangingPunct="0">
              <a:spcBef>
                <a:spcPct val="50000"/>
              </a:spcBef>
              <a:buClrTx/>
              <a:buFontTx/>
            </a:pPr>
            <a:r>
              <a:rPr lang="en-US" altLang="zh-CN" sz="2200" dirty="0">
                <a:solidFill>
                  <a:srgbClr val="FF0066"/>
                </a:solidFill>
                <a:latin typeface="微软雅黑" panose="020B0503020204020204" pitchFamily="34" charset="-122"/>
                <a:ea typeface="微软雅黑" panose="020B0503020204020204" pitchFamily="34" charset="-122"/>
              </a:rPr>
              <a:t>How about double?</a:t>
            </a:r>
            <a:endParaRPr lang="en-US" altLang="zh-CN" sz="2200" dirty="0">
              <a:solidFill>
                <a:srgbClr val="FF0066"/>
              </a:solidFill>
              <a:latin typeface="微软雅黑" panose="020B0503020204020204" pitchFamily="34" charset="-122"/>
              <a:ea typeface="微软雅黑" panose="020B0503020204020204" pitchFamily="34" charset="-122"/>
            </a:endParaRPr>
          </a:p>
        </p:txBody>
      </p:sp>
      <p:sp>
        <p:nvSpPr>
          <p:cNvPr id="329734" name="Text Box 6"/>
          <p:cNvSpPr txBox="1"/>
          <p:nvPr/>
        </p:nvSpPr>
        <p:spPr>
          <a:xfrm>
            <a:off x="7451725" y="2843213"/>
            <a:ext cx="1349375" cy="427037"/>
          </a:xfrm>
          <a:prstGeom prst="rect">
            <a:avLst/>
          </a:prstGeom>
          <a:noFill/>
          <a:ln w="12700">
            <a:noFill/>
          </a:ln>
        </p:spPr>
        <p:txBody>
          <a:bodyPr anchor="t" anchorCtr="0">
            <a:spAutoFit/>
          </a:bodyPr>
          <a:p>
            <a:pPr eaLnBrk="0" hangingPunct="0">
              <a:spcBef>
                <a:spcPct val="50000"/>
              </a:spcBef>
              <a:buClrTx/>
              <a:buFontTx/>
            </a:pPr>
            <a:r>
              <a:rPr lang="en-US" altLang="zh-CN" sz="2200" dirty="0">
                <a:solidFill>
                  <a:srgbClr val="FF0000"/>
                </a:solidFill>
                <a:latin typeface="微软雅黑" panose="020B0503020204020204" pitchFamily="34" charset="-122"/>
                <a:ea typeface="微软雅黑" panose="020B0503020204020204" pitchFamily="34" charset="-122"/>
              </a:rPr>
              <a:t>True!</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329735" name="Text Box 7"/>
          <p:cNvSpPr txBox="1"/>
          <p:nvPr/>
        </p:nvSpPr>
        <p:spPr>
          <a:xfrm>
            <a:off x="4616450" y="2349500"/>
            <a:ext cx="2879725" cy="427038"/>
          </a:xfrm>
          <a:prstGeom prst="rect">
            <a:avLst/>
          </a:prstGeom>
          <a:noFill/>
          <a:ln w="12700">
            <a:noFill/>
          </a:ln>
        </p:spPr>
        <p:txBody>
          <a:bodyPr anchor="t" anchorCtr="0">
            <a:spAutoFit/>
          </a:bodyPr>
          <a:p>
            <a:pPr eaLnBrk="0" hangingPunct="0">
              <a:spcBef>
                <a:spcPct val="50000"/>
              </a:spcBef>
              <a:buClrTx/>
              <a:buFontTx/>
            </a:pPr>
            <a:r>
              <a:rPr lang="en-US" altLang="zh-CN" sz="2200" dirty="0">
                <a:solidFill>
                  <a:srgbClr val="FF0000"/>
                </a:solidFill>
                <a:latin typeface="微软雅黑" panose="020B0503020204020204" pitchFamily="34" charset="-122"/>
                <a:ea typeface="微软雅黑" panose="020B0503020204020204" pitchFamily="34" charset="-122"/>
              </a:rPr>
              <a:t>Not always true!</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329736" name="Rectangle 8"/>
          <p:cNvSpPr/>
          <p:nvPr/>
        </p:nvSpPr>
        <p:spPr>
          <a:xfrm>
            <a:off x="4572000" y="1179513"/>
            <a:ext cx="2674938" cy="457200"/>
          </a:xfrm>
          <a:prstGeom prst="rect">
            <a:avLst/>
          </a:prstGeom>
          <a:noFill/>
          <a:ln w="12700">
            <a:noFill/>
          </a:ln>
        </p:spPr>
        <p:txBody>
          <a:bodyPr wrap="none" anchor="t" anchorCtr="0">
            <a:spAutoFit/>
          </a:bodyPr>
          <a:p>
            <a:pPr lvl="1" indent="0" algn="l" rtl="0" eaLnBrk="0" fontAlgn="base" hangingPunct="0">
              <a:lnSpc>
                <a:spcPct val="100000"/>
              </a:lnSpc>
              <a:spcBef>
                <a:spcPct val="10000"/>
              </a:spcBef>
              <a:spcAft>
                <a:spcPct val="0"/>
              </a:spcAft>
              <a:buNone/>
            </a:pPr>
            <a:r>
              <a:rPr lang="zh-CN" altLang="en-US" sz="2400" dirty="0">
                <a:solidFill>
                  <a:srgbClr val="CC0000"/>
                </a:solidFill>
                <a:latin typeface="微软雅黑" panose="020B0503020204020204" pitchFamily="34" charset="-122"/>
                <a:ea typeface="微软雅黑" panose="020B0503020204020204" pitchFamily="34" charset="-122"/>
              </a:rPr>
              <a:t>约 </a:t>
            </a:r>
            <a:r>
              <a:rPr lang="en-US" altLang="zh-CN" sz="2400" dirty="0">
                <a:solidFill>
                  <a:srgbClr val="CC0000"/>
                </a:solidFill>
                <a:latin typeface="微软雅黑" panose="020B0503020204020204" pitchFamily="34" charset="-122"/>
                <a:ea typeface="微软雅黑" panose="020B0503020204020204" pitchFamily="34" charset="-122"/>
              </a:rPr>
              <a:t>+3.4 </a:t>
            </a:r>
            <a:r>
              <a:rPr lang="en-US" altLang="zh-CN" sz="1800" dirty="0">
                <a:solidFill>
                  <a:srgbClr val="CC0000"/>
                </a:solidFill>
                <a:latin typeface="微软雅黑" panose="020B0503020204020204" pitchFamily="34" charset="-122"/>
                <a:ea typeface="微软雅黑" panose="020B0503020204020204" pitchFamily="34" charset="-122"/>
              </a:rPr>
              <a:t>X </a:t>
            </a:r>
            <a:r>
              <a:rPr lang="en-US" altLang="zh-CN" sz="2400" dirty="0">
                <a:solidFill>
                  <a:srgbClr val="CC0000"/>
                </a:solidFill>
                <a:latin typeface="微软雅黑" panose="020B0503020204020204" pitchFamily="34" charset="-122"/>
                <a:ea typeface="微软雅黑" panose="020B0503020204020204" pitchFamily="34" charset="-122"/>
              </a:rPr>
              <a:t>10</a:t>
            </a:r>
            <a:r>
              <a:rPr lang="en-US" altLang="zh-CN" sz="2400" baseline="30000" dirty="0">
                <a:solidFill>
                  <a:srgbClr val="CC0000"/>
                </a:solidFill>
                <a:latin typeface="微软雅黑" panose="020B0503020204020204" pitchFamily="34" charset="-122"/>
                <a:ea typeface="微软雅黑" panose="020B0503020204020204" pitchFamily="34" charset="-122"/>
              </a:rPr>
              <a:t>38</a:t>
            </a:r>
            <a:endParaRPr lang="zh-CN" altLang="en-US" sz="2400" baseline="30000" dirty="0">
              <a:solidFill>
                <a:srgbClr val="CC0000"/>
              </a:solidFill>
              <a:latin typeface="微软雅黑" panose="020B0503020204020204" pitchFamily="34" charset="-122"/>
              <a:ea typeface="微软雅黑" panose="020B0503020204020204" pitchFamily="34" charset="-122"/>
            </a:endParaRPr>
          </a:p>
        </p:txBody>
      </p:sp>
      <p:sp>
        <p:nvSpPr>
          <p:cNvPr id="329737" name="Rectangle 9"/>
          <p:cNvSpPr/>
          <p:nvPr/>
        </p:nvSpPr>
        <p:spPr>
          <a:xfrm>
            <a:off x="4854575" y="1622425"/>
            <a:ext cx="2822575" cy="457200"/>
          </a:xfrm>
          <a:prstGeom prst="rect">
            <a:avLst/>
          </a:prstGeom>
          <a:noFill/>
          <a:ln w="12700">
            <a:noFill/>
          </a:ln>
        </p:spPr>
        <p:txBody>
          <a:bodyPr wrap="none" anchor="t" anchorCtr="0">
            <a:spAutoFit/>
          </a:bodyPr>
          <a:p>
            <a:pPr lvl="1" indent="0" algn="l" rtl="0" eaLnBrk="0" fontAlgn="base" hangingPunct="0">
              <a:lnSpc>
                <a:spcPct val="100000"/>
              </a:lnSpc>
              <a:spcBef>
                <a:spcPct val="10000"/>
              </a:spcBef>
              <a:spcAft>
                <a:spcPct val="0"/>
              </a:spcAft>
              <a:buNone/>
            </a:pPr>
            <a:r>
              <a:rPr lang="zh-CN" altLang="en-US" sz="2400" dirty="0">
                <a:solidFill>
                  <a:srgbClr val="CC0000"/>
                </a:solidFill>
                <a:latin typeface="微软雅黑" panose="020B0503020204020204" pitchFamily="34" charset="-122"/>
                <a:ea typeface="微软雅黑" panose="020B0503020204020204" pitchFamily="34" charset="-122"/>
              </a:rPr>
              <a:t>约 </a:t>
            </a:r>
            <a:r>
              <a:rPr lang="en-US" altLang="zh-CN" sz="2400" dirty="0">
                <a:solidFill>
                  <a:srgbClr val="CC0000"/>
                </a:solidFill>
                <a:latin typeface="微软雅黑" panose="020B0503020204020204" pitchFamily="34" charset="-122"/>
                <a:ea typeface="微软雅黑" panose="020B0503020204020204" pitchFamily="34" charset="-122"/>
              </a:rPr>
              <a:t>+1.8 </a:t>
            </a:r>
            <a:r>
              <a:rPr lang="en-US" altLang="zh-CN" sz="1800" dirty="0">
                <a:solidFill>
                  <a:srgbClr val="CC0000"/>
                </a:solidFill>
                <a:latin typeface="微软雅黑" panose="020B0503020204020204" pitchFamily="34" charset="-122"/>
                <a:ea typeface="微软雅黑" panose="020B0503020204020204" pitchFamily="34" charset="-122"/>
              </a:rPr>
              <a:t>X</a:t>
            </a:r>
            <a:r>
              <a:rPr lang="en-US" altLang="zh-CN" sz="2400" dirty="0">
                <a:solidFill>
                  <a:srgbClr val="CC0000"/>
                </a:solidFill>
                <a:latin typeface="微软雅黑" panose="020B0503020204020204" pitchFamily="34" charset="-122"/>
                <a:ea typeface="微软雅黑" panose="020B0503020204020204" pitchFamily="34" charset="-122"/>
              </a:rPr>
              <a:t> 10</a:t>
            </a:r>
            <a:r>
              <a:rPr lang="en-US" altLang="zh-CN" sz="2400" baseline="30000" dirty="0">
                <a:solidFill>
                  <a:srgbClr val="CC0000"/>
                </a:solidFill>
                <a:latin typeface="微软雅黑" panose="020B0503020204020204" pitchFamily="34" charset="-122"/>
                <a:ea typeface="微软雅黑" panose="020B0503020204020204" pitchFamily="34" charset="-122"/>
              </a:rPr>
              <a:t>308</a:t>
            </a:r>
            <a:endParaRPr lang="zh-CN" altLang="en-US" sz="2400" baseline="30000" dirty="0">
              <a:solidFill>
                <a:srgbClr val="CC0000"/>
              </a:solidFill>
              <a:latin typeface="微软雅黑" panose="020B0503020204020204" pitchFamily="34" charset="-122"/>
              <a:ea typeface="微软雅黑" panose="020B0503020204020204" pitchFamily="34" charset="-122"/>
            </a:endParaRPr>
          </a:p>
        </p:txBody>
      </p:sp>
      <p:sp>
        <p:nvSpPr>
          <p:cNvPr id="2" name="Text Box 7"/>
          <p:cNvSpPr txBox="1"/>
          <p:nvPr/>
        </p:nvSpPr>
        <p:spPr>
          <a:xfrm>
            <a:off x="4797425" y="3608388"/>
            <a:ext cx="2879725" cy="427037"/>
          </a:xfrm>
          <a:prstGeom prst="rect">
            <a:avLst/>
          </a:prstGeom>
          <a:noFill/>
          <a:ln w="12700">
            <a:noFill/>
          </a:ln>
        </p:spPr>
        <p:txBody>
          <a:bodyPr anchor="t" anchorCtr="0">
            <a:spAutoFit/>
          </a:bodyPr>
          <a:p>
            <a:pPr eaLnBrk="0" hangingPunct="0">
              <a:spcBef>
                <a:spcPct val="50000"/>
              </a:spcBef>
              <a:buClrTx/>
              <a:buFontTx/>
            </a:pPr>
            <a:r>
              <a:rPr lang="en-US" altLang="zh-CN" sz="2200" dirty="0">
                <a:solidFill>
                  <a:srgbClr val="FF0000"/>
                </a:solidFill>
                <a:latin typeface="微软雅黑" panose="020B0503020204020204" pitchFamily="34" charset="-122"/>
                <a:ea typeface="微软雅黑" panose="020B0503020204020204" pitchFamily="34" charset="-122"/>
              </a:rPr>
              <a:t>Not always true!</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3" name="Text Box 6"/>
          <p:cNvSpPr txBox="1"/>
          <p:nvPr/>
        </p:nvSpPr>
        <p:spPr>
          <a:xfrm>
            <a:off x="7586663" y="4149725"/>
            <a:ext cx="1349375" cy="427038"/>
          </a:xfrm>
          <a:prstGeom prst="rect">
            <a:avLst/>
          </a:prstGeom>
          <a:noFill/>
          <a:ln w="12700">
            <a:noFill/>
          </a:ln>
        </p:spPr>
        <p:txBody>
          <a:bodyPr anchor="t" anchorCtr="0">
            <a:spAutoFit/>
          </a:bodyPr>
          <a:p>
            <a:pPr eaLnBrk="0" hangingPunct="0">
              <a:spcBef>
                <a:spcPct val="50000"/>
              </a:spcBef>
              <a:buClrTx/>
              <a:buFontTx/>
            </a:pPr>
            <a:r>
              <a:rPr lang="en-US" altLang="zh-CN" sz="2200" dirty="0">
                <a:solidFill>
                  <a:srgbClr val="FF0000"/>
                </a:solidFill>
                <a:latin typeface="微软雅黑" panose="020B0503020204020204" pitchFamily="34" charset="-122"/>
                <a:ea typeface="微软雅黑" panose="020B0503020204020204" pitchFamily="34" charset="-122"/>
              </a:rPr>
              <a:t>False!</a:t>
            </a:r>
            <a:endParaRPr lang="en-US" altLang="zh-CN" sz="2200" dirty="0">
              <a:solidFill>
                <a:srgbClr val="FF0000"/>
              </a:solidFill>
              <a:latin typeface="微软雅黑" panose="020B0503020204020204" pitchFamily="34" charset="-122"/>
              <a:ea typeface="微软雅黑" panose="020B0503020204020204" pitchFamily="34" charset="-122"/>
            </a:endParaRPr>
          </a:p>
        </p:txBody>
      </p:sp>
      <p:sp>
        <p:nvSpPr>
          <p:cNvPr id="754700" name="Rectangle 12"/>
          <p:cNvSpPr/>
          <p:nvPr/>
        </p:nvSpPr>
        <p:spPr>
          <a:xfrm>
            <a:off x="4572000" y="4778375"/>
            <a:ext cx="1041400" cy="396875"/>
          </a:xfrm>
          <a:prstGeom prst="rect">
            <a:avLst/>
          </a:prstGeom>
          <a:noFill/>
          <a:ln w="9525">
            <a:noFill/>
          </a:ln>
        </p:spPr>
        <p:txBody>
          <a:bodyPr wrap="none" anchor="t" anchorCtr="0">
            <a:spAutoFit/>
          </a:bodyPr>
          <a:p>
            <a:pPr>
              <a:buClrTx/>
              <a:buFontTx/>
            </a:pPr>
            <a:r>
              <a:rPr lang="en-US" altLang="zh-CN" sz="2000" dirty="0">
                <a:solidFill>
                  <a:srgbClr val="FF0000"/>
                </a:solidFill>
                <a:latin typeface="微软雅黑" panose="020B0503020204020204" pitchFamily="34" charset="-122"/>
                <a:ea typeface="微软雅黑" panose="020B0503020204020204" pitchFamily="34" charset="-122"/>
              </a:rPr>
              <a:t>FALSE!</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9731">
                                            <p:txEl>
                                              <p:charRg st="23" end="45"/>
                                            </p:txEl>
                                          </p:spTgt>
                                        </p:tgtEl>
                                        <p:attrNameLst>
                                          <p:attrName>style.visibility</p:attrName>
                                        </p:attrNameLst>
                                      </p:cBhvr>
                                      <p:to>
                                        <p:strVal val="visible"/>
                                      </p:to>
                                    </p:set>
                                    <p:animEffect transition="in" filter="blinds(horizontal)">
                                      <p:cBhvr>
                                        <p:cTn id="7" dur="500"/>
                                        <p:tgtEl>
                                          <p:spTgt spid="329731">
                                            <p:txEl>
                                              <p:charRg st="23" end="4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9736"/>
                                        </p:tgtEl>
                                        <p:attrNameLst>
                                          <p:attrName>style.visibility</p:attrName>
                                        </p:attrNameLst>
                                      </p:cBhvr>
                                      <p:to>
                                        <p:strVal val="visible"/>
                                      </p:to>
                                    </p:set>
                                    <p:animEffect transition="in" filter="blinds(horizontal)">
                                      <p:cBhvr>
                                        <p:cTn id="12" dur="500"/>
                                        <p:tgtEl>
                                          <p:spTgt spid="3297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29731">
                                            <p:txEl>
                                              <p:charRg st="45" end="63"/>
                                            </p:txEl>
                                          </p:spTgt>
                                        </p:tgtEl>
                                        <p:attrNameLst>
                                          <p:attrName>style.visibility</p:attrName>
                                        </p:attrNameLst>
                                      </p:cBhvr>
                                      <p:to>
                                        <p:strVal val="visible"/>
                                      </p:to>
                                    </p:set>
                                    <p:animEffect transition="in" filter="blinds(horizontal)">
                                      <p:cBhvr>
                                        <p:cTn id="17" dur="500"/>
                                        <p:tgtEl>
                                          <p:spTgt spid="329731">
                                            <p:txEl>
                                              <p:charRg st="45" end="6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9737"/>
                                        </p:tgtEl>
                                        <p:attrNameLst>
                                          <p:attrName>style.visibility</p:attrName>
                                        </p:attrNameLst>
                                      </p:cBhvr>
                                      <p:to>
                                        <p:strVal val="visible"/>
                                      </p:to>
                                    </p:set>
                                    <p:animEffect transition="in" filter="blinds(horizontal)">
                                      <p:cBhvr>
                                        <p:cTn id="22" dur="500"/>
                                        <p:tgtEl>
                                          <p:spTgt spid="32973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9731">
                                            <p:txEl>
                                              <p:charRg st="63" end="77"/>
                                            </p:txEl>
                                          </p:spTgt>
                                        </p:tgtEl>
                                        <p:attrNameLst>
                                          <p:attrName>style.visibility</p:attrName>
                                        </p:attrNameLst>
                                      </p:cBhvr>
                                      <p:to>
                                        <p:strVal val="visible"/>
                                      </p:to>
                                    </p:set>
                                    <p:animEffect transition="in" filter="blinds(horizontal)">
                                      <p:cBhvr>
                                        <p:cTn id="27" dur="500"/>
                                        <p:tgtEl>
                                          <p:spTgt spid="329731">
                                            <p:txEl>
                                              <p:charRg st="63" end="7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29731">
                                            <p:txEl>
                                              <p:charRg st="77" end="116"/>
                                            </p:txEl>
                                          </p:spTgt>
                                        </p:tgtEl>
                                        <p:attrNameLst>
                                          <p:attrName>style.visibility</p:attrName>
                                        </p:attrNameLst>
                                      </p:cBhvr>
                                      <p:to>
                                        <p:strVal val="visible"/>
                                      </p:to>
                                    </p:set>
                                    <p:animEffect transition="in" filter="blinds(horizontal)">
                                      <p:cBhvr>
                                        <p:cTn id="32" dur="500"/>
                                        <p:tgtEl>
                                          <p:spTgt spid="329731">
                                            <p:txEl>
                                              <p:charRg st="77" end="11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329731">
                                            <p:txEl>
                                              <p:charRg st="116" end="146"/>
                                            </p:txEl>
                                          </p:spTgt>
                                        </p:tgtEl>
                                        <p:attrNameLst>
                                          <p:attrName>style.visibility</p:attrName>
                                        </p:attrNameLst>
                                      </p:cBhvr>
                                      <p:to>
                                        <p:strVal val="visible"/>
                                      </p:to>
                                    </p:set>
                                    <p:animEffect transition="in" filter="blinds(horizontal)">
                                      <p:cBhvr>
                                        <p:cTn id="35" dur="500"/>
                                        <p:tgtEl>
                                          <p:spTgt spid="329731">
                                            <p:txEl>
                                              <p:charRg st="116" end="146"/>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329731">
                                            <p:txEl>
                                              <p:charRg st="146" end="154"/>
                                            </p:txEl>
                                          </p:spTgt>
                                        </p:tgtEl>
                                        <p:attrNameLst>
                                          <p:attrName>style.visibility</p:attrName>
                                        </p:attrNameLst>
                                      </p:cBhvr>
                                      <p:to>
                                        <p:strVal val="visible"/>
                                      </p:to>
                                    </p:set>
                                    <p:animEffect transition="in" filter="blinds(horizontal)">
                                      <p:cBhvr>
                                        <p:cTn id="38" dur="500"/>
                                        <p:tgtEl>
                                          <p:spTgt spid="329731">
                                            <p:txEl>
                                              <p:charRg st="146" end="15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29735"/>
                                        </p:tgtEl>
                                        <p:attrNameLst>
                                          <p:attrName>style.visibility</p:attrName>
                                        </p:attrNameLst>
                                      </p:cBhvr>
                                      <p:to>
                                        <p:strVal val="visible"/>
                                      </p:to>
                                    </p:set>
                                    <p:animEffect transition="in" filter="blinds(horizontal)">
                                      <p:cBhvr>
                                        <p:cTn id="43" dur="500"/>
                                        <p:tgtEl>
                                          <p:spTgt spid="32973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29732"/>
                                        </p:tgtEl>
                                        <p:attrNameLst>
                                          <p:attrName>style.visibility</p:attrName>
                                        </p:attrNameLst>
                                      </p:cBhvr>
                                      <p:to>
                                        <p:strVal val="visible"/>
                                      </p:to>
                                    </p:set>
                                    <p:animEffect transition="in" filter="blinds(horizontal)">
                                      <p:cBhvr>
                                        <p:cTn id="48" dur="500"/>
                                        <p:tgtEl>
                                          <p:spTgt spid="329732"/>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29734"/>
                                        </p:tgtEl>
                                        <p:attrNameLst>
                                          <p:attrName>style.visibility</p:attrName>
                                        </p:attrNameLst>
                                      </p:cBhvr>
                                      <p:to>
                                        <p:strVal val="visible"/>
                                      </p:to>
                                    </p:set>
                                    <p:animEffect transition="in" filter="blinds(horizontal)">
                                      <p:cBhvr>
                                        <p:cTn id="53" dur="500"/>
                                        <p:tgtEl>
                                          <p:spTgt spid="329734"/>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329731">
                                            <p:txEl>
                                              <p:charRg st="154" end="193"/>
                                            </p:txEl>
                                          </p:spTgt>
                                        </p:tgtEl>
                                        <p:attrNameLst>
                                          <p:attrName>style.visibility</p:attrName>
                                        </p:attrNameLst>
                                      </p:cBhvr>
                                      <p:to>
                                        <p:strVal val="visible"/>
                                      </p:to>
                                    </p:set>
                                    <p:animEffect transition="in" filter="blinds(horizontal)">
                                      <p:cBhvr>
                                        <p:cTn id="58" dur="500"/>
                                        <p:tgtEl>
                                          <p:spTgt spid="329731">
                                            <p:txEl>
                                              <p:charRg st="154" end="193"/>
                                            </p:txEl>
                                          </p:spTgt>
                                        </p:tgtEl>
                                      </p:cBhvr>
                                    </p:animEffect>
                                  </p:childTnLst>
                                </p:cTn>
                              </p:par>
                              <p:par>
                                <p:cTn id="59" presetID="3" presetClass="entr" presetSubtype="10" fill="hold" nodeType="withEffect">
                                  <p:stCondLst>
                                    <p:cond delay="0"/>
                                  </p:stCondLst>
                                  <p:childTnLst>
                                    <p:set>
                                      <p:cBhvr>
                                        <p:cTn id="60" dur="1" fill="hold">
                                          <p:stCondLst>
                                            <p:cond delay="0"/>
                                          </p:stCondLst>
                                        </p:cTn>
                                        <p:tgtEl>
                                          <p:spTgt spid="329731">
                                            <p:txEl>
                                              <p:charRg st="193" end="222"/>
                                            </p:txEl>
                                          </p:spTgt>
                                        </p:tgtEl>
                                        <p:attrNameLst>
                                          <p:attrName>style.visibility</p:attrName>
                                        </p:attrNameLst>
                                      </p:cBhvr>
                                      <p:to>
                                        <p:strVal val="visible"/>
                                      </p:to>
                                    </p:set>
                                    <p:animEffect transition="in" filter="blinds(horizontal)">
                                      <p:cBhvr>
                                        <p:cTn id="61" dur="500"/>
                                        <p:tgtEl>
                                          <p:spTgt spid="329731">
                                            <p:txEl>
                                              <p:charRg st="193" end="222"/>
                                            </p:txEl>
                                          </p:spTgt>
                                        </p:tgtEl>
                                      </p:cBhvr>
                                    </p:animEffect>
                                  </p:childTnLst>
                                </p:cTn>
                              </p:par>
                              <p:par>
                                <p:cTn id="62" presetID="3" presetClass="entr" presetSubtype="10" fill="hold" nodeType="withEffect">
                                  <p:stCondLst>
                                    <p:cond delay="0"/>
                                  </p:stCondLst>
                                  <p:childTnLst>
                                    <p:set>
                                      <p:cBhvr>
                                        <p:cTn id="63" dur="1" fill="hold">
                                          <p:stCondLst>
                                            <p:cond delay="0"/>
                                          </p:stCondLst>
                                        </p:cTn>
                                        <p:tgtEl>
                                          <p:spTgt spid="329731">
                                            <p:txEl>
                                              <p:charRg st="222" end="230"/>
                                            </p:txEl>
                                          </p:spTgt>
                                        </p:tgtEl>
                                        <p:attrNameLst>
                                          <p:attrName>style.visibility</p:attrName>
                                        </p:attrNameLst>
                                      </p:cBhvr>
                                      <p:to>
                                        <p:strVal val="visible"/>
                                      </p:to>
                                    </p:set>
                                    <p:animEffect transition="in" filter="blinds(horizontal)">
                                      <p:cBhvr>
                                        <p:cTn id="64" dur="500"/>
                                        <p:tgtEl>
                                          <p:spTgt spid="329731">
                                            <p:txEl>
                                              <p:charRg st="222" end="23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blinds(horizontal)">
                                      <p:cBhvr>
                                        <p:cTn id="69" dur="500"/>
                                        <p:tgtEl>
                                          <p:spTgt spid="2"/>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29733"/>
                                        </p:tgtEl>
                                        <p:attrNameLst>
                                          <p:attrName>style.visibility</p:attrName>
                                        </p:attrNameLst>
                                      </p:cBhvr>
                                      <p:to>
                                        <p:strVal val="visible"/>
                                      </p:to>
                                    </p:set>
                                    <p:animEffect transition="in" filter="blinds(horizontal)">
                                      <p:cBhvr>
                                        <p:cTn id="74" dur="500"/>
                                        <p:tgtEl>
                                          <p:spTgt spid="329733"/>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animEffect transition="in" filter="blinds(horizontal)">
                                      <p:cBhvr>
                                        <p:cTn id="79" dur="500"/>
                                        <p:tgtEl>
                                          <p:spTgt spid="3"/>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329731">
                                            <p:txEl>
                                              <p:charRg st="230" end="245"/>
                                            </p:txEl>
                                          </p:spTgt>
                                        </p:tgtEl>
                                        <p:attrNameLst>
                                          <p:attrName>style.visibility</p:attrName>
                                        </p:attrNameLst>
                                      </p:cBhvr>
                                      <p:to>
                                        <p:strVal val="visible"/>
                                      </p:to>
                                    </p:set>
                                    <p:animEffect transition="in" filter="blinds(horizontal)">
                                      <p:cBhvr>
                                        <p:cTn id="84" dur="500"/>
                                        <p:tgtEl>
                                          <p:spTgt spid="329731">
                                            <p:txEl>
                                              <p:charRg st="230" end="245"/>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329731">
                                            <p:txEl>
                                              <p:charRg st="245" end="297"/>
                                            </p:txEl>
                                          </p:spTgt>
                                        </p:tgtEl>
                                        <p:attrNameLst>
                                          <p:attrName>style.visibility</p:attrName>
                                        </p:attrNameLst>
                                      </p:cBhvr>
                                      <p:to>
                                        <p:strVal val="visible"/>
                                      </p:to>
                                    </p:set>
                                    <p:animEffect transition="in" filter="blinds(horizontal)">
                                      <p:cBhvr>
                                        <p:cTn id="89" dur="500"/>
                                        <p:tgtEl>
                                          <p:spTgt spid="329731">
                                            <p:txEl>
                                              <p:charRg st="245" end="297"/>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329731">
                                            <p:txEl>
                                              <p:charRg st="297" end="345"/>
                                            </p:txEl>
                                          </p:spTgt>
                                        </p:tgtEl>
                                        <p:attrNameLst>
                                          <p:attrName>style.visibility</p:attrName>
                                        </p:attrNameLst>
                                      </p:cBhvr>
                                      <p:to>
                                        <p:strVal val="visible"/>
                                      </p:to>
                                    </p:set>
                                    <p:animEffect transition="in" filter="blinds(horizontal)">
                                      <p:cBhvr>
                                        <p:cTn id="94" dur="500"/>
                                        <p:tgtEl>
                                          <p:spTgt spid="329731">
                                            <p:txEl>
                                              <p:charRg st="297" end="345"/>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nodeType="clickEffect">
                                  <p:stCondLst>
                                    <p:cond delay="0"/>
                                  </p:stCondLst>
                                  <p:childTnLst>
                                    <p:set>
                                      <p:cBhvr>
                                        <p:cTn id="98" dur="1" fill="hold">
                                          <p:stCondLst>
                                            <p:cond delay="0"/>
                                          </p:stCondLst>
                                        </p:cTn>
                                        <p:tgtEl>
                                          <p:spTgt spid="329731">
                                            <p:txEl>
                                              <p:charRg st="345" end="392"/>
                                            </p:txEl>
                                          </p:spTgt>
                                        </p:tgtEl>
                                        <p:attrNameLst>
                                          <p:attrName>style.visibility</p:attrName>
                                        </p:attrNameLst>
                                      </p:cBhvr>
                                      <p:to>
                                        <p:strVal val="visible"/>
                                      </p:to>
                                    </p:set>
                                    <p:animEffect transition="in" filter="blinds(horizontal)">
                                      <p:cBhvr>
                                        <p:cTn id="99" dur="500"/>
                                        <p:tgtEl>
                                          <p:spTgt spid="329731">
                                            <p:txEl>
                                              <p:charRg st="345" end="392"/>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754700"/>
                                        </p:tgtEl>
                                        <p:attrNameLst>
                                          <p:attrName>style.visibility</p:attrName>
                                        </p:attrNameLst>
                                      </p:cBhvr>
                                      <p:to>
                                        <p:strVal val="visible"/>
                                      </p:to>
                                    </p:set>
                                    <p:animEffect transition="in" filter="blinds(horizontal)">
                                      <p:cBhvr>
                                        <p:cTn id="104" dur="500"/>
                                        <p:tgtEl>
                                          <p:spTgt spid="754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2" grpId="0"/>
      <p:bldP spid="329733" grpId="0"/>
      <p:bldP spid="329734" grpId="0"/>
      <p:bldP spid="329735" grpId="0"/>
      <p:bldP spid="329736" grpId="0"/>
      <p:bldP spid="329737" grpId="0"/>
      <p:bldP spid="2" grpId="0"/>
      <p:bldP spid="3" grpId="0"/>
      <p:bldP spid="754700"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Rectangle 2"/>
          <p:cNvSpPr>
            <a:spLocks noGrp="1"/>
          </p:cNvSpPr>
          <p:nvPr>
            <p:ph type="title"/>
          </p:nvPr>
        </p:nvSpPr>
        <p:spPr>
          <a:xfrm>
            <a:off x="457200" y="98425"/>
            <a:ext cx="8229600" cy="561975"/>
          </a:xfrm>
          <a:ln/>
        </p:spPr>
        <p:txBody>
          <a:bodyPr vert="horz" wrap="square" lIns="63500" tIns="25400" rIns="63500" bIns="25400" anchor="t" anchorCtr="0">
            <a:spAutoFit/>
          </a:bodyPr>
          <a:p>
            <a:r>
              <a:rPr lang="zh-CN" altLang="en-US" dirty="0">
                <a:ea typeface="宋体" panose="02010600030101010101" pitchFamily="2" charset="-122"/>
              </a:rPr>
              <a:t>举例：</a:t>
            </a:r>
            <a:r>
              <a:rPr lang="en-US" altLang="zh-CN" dirty="0">
                <a:ea typeface="宋体" panose="02010600030101010101" pitchFamily="2" charset="-122"/>
              </a:rPr>
              <a:t>Ariana</a:t>
            </a:r>
            <a:r>
              <a:rPr lang="zh-CN" altLang="en-US" dirty="0">
                <a:ea typeface="宋体" panose="02010600030101010101" pitchFamily="2" charset="-122"/>
              </a:rPr>
              <a:t>火箭爆炸</a:t>
            </a:r>
            <a:endParaRPr lang="zh-CN" altLang="en-US" dirty="0">
              <a:ea typeface="宋体" panose="02010600030101010101" pitchFamily="2" charset="-122"/>
            </a:endParaRPr>
          </a:p>
        </p:txBody>
      </p:sp>
      <p:sp>
        <p:nvSpPr>
          <p:cNvPr id="756739" name="Rectangle 3"/>
          <p:cNvSpPr>
            <a:spLocks noGrp="1"/>
          </p:cNvSpPr>
          <p:nvPr>
            <p:ph idx="1"/>
          </p:nvPr>
        </p:nvSpPr>
        <p:spPr>
          <a:xfrm>
            <a:off x="296863" y="836613"/>
            <a:ext cx="8505825" cy="5562600"/>
          </a:xfrm>
          <a:ln/>
        </p:spPr>
        <p:txBody>
          <a:bodyPr vert="horz" wrap="square" lIns="63500" tIns="25400" rIns="63500" bIns="25400" anchor="t" anchorCtr="0">
            <a:spAutoFit/>
          </a:bodyPr>
          <a:p>
            <a:pPr>
              <a:lnSpc>
                <a:spcPct val="120000"/>
              </a:lnSpc>
              <a:spcBef>
                <a:spcPct val="45000"/>
              </a:spcBef>
            </a:pPr>
            <a:r>
              <a:rPr lang="en-US" altLang="zh-CN" dirty="0">
                <a:latin typeface="微软雅黑" panose="020B0503020204020204" pitchFamily="34" charset="-122"/>
                <a:ea typeface="微软雅黑" panose="020B0503020204020204" pitchFamily="34" charset="-122"/>
              </a:rPr>
              <a:t>1996</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日，</a:t>
            </a:r>
            <a:r>
              <a:rPr lang="en-US" altLang="zh-CN" dirty="0">
                <a:latin typeface="微软雅黑" panose="020B0503020204020204" pitchFamily="34" charset="-122"/>
                <a:ea typeface="微软雅黑" panose="020B0503020204020204" pitchFamily="34" charset="-122"/>
              </a:rPr>
              <a:t>Ariana 5</a:t>
            </a:r>
            <a:r>
              <a:rPr lang="zh-CN" altLang="en-US" dirty="0">
                <a:latin typeface="微软雅黑" panose="020B0503020204020204" pitchFamily="34" charset="-122"/>
                <a:ea typeface="微软雅黑" panose="020B0503020204020204" pitchFamily="34" charset="-122"/>
              </a:rPr>
              <a:t>火箭初次航行，在发射仅仅</a:t>
            </a:r>
            <a:r>
              <a:rPr lang="en-US" altLang="zh-CN" dirty="0">
                <a:latin typeface="微软雅黑" panose="020B0503020204020204" pitchFamily="34" charset="-122"/>
                <a:ea typeface="微软雅黑" panose="020B0503020204020204" pitchFamily="34" charset="-122"/>
              </a:rPr>
              <a:t>37</a:t>
            </a:r>
            <a:r>
              <a:rPr lang="zh-CN" altLang="en-US" dirty="0">
                <a:latin typeface="微软雅黑" panose="020B0503020204020204" pitchFamily="34" charset="-122"/>
                <a:ea typeface="微软雅黑" panose="020B0503020204020204" pitchFamily="34" charset="-122"/>
              </a:rPr>
              <a:t>秒钟后，偏离了飞行路线，然后解体爆炸，火箭上载有价值</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亿美元的通信卫星。</a:t>
            </a:r>
            <a:endParaRPr lang="zh-CN" altLang="en-US" dirty="0">
              <a:latin typeface="微软雅黑" panose="020B0503020204020204" pitchFamily="34" charset="-122"/>
              <a:ea typeface="微软雅黑" panose="020B0503020204020204" pitchFamily="34" charset="-122"/>
            </a:endParaRPr>
          </a:p>
          <a:p>
            <a:pPr>
              <a:lnSpc>
                <a:spcPct val="120000"/>
              </a:lnSpc>
              <a:spcBef>
                <a:spcPct val="45000"/>
              </a:spcBef>
            </a:pPr>
            <a:r>
              <a:rPr lang="zh-CN" altLang="en-US" dirty="0">
                <a:latin typeface="微软雅黑" panose="020B0503020204020204" pitchFamily="34" charset="-122"/>
                <a:ea typeface="微软雅黑" panose="020B0503020204020204" pitchFamily="34" charset="-122"/>
              </a:rPr>
              <a:t>原因是</a:t>
            </a:r>
            <a:r>
              <a:rPr lang="zh-CN" altLang="en-US" dirty="0">
                <a:solidFill>
                  <a:srgbClr val="FF0000"/>
                </a:solidFill>
                <a:latin typeface="微软雅黑" panose="020B0503020204020204" pitchFamily="34" charset="-122"/>
                <a:ea typeface="微软雅黑" panose="020B0503020204020204" pitchFamily="34" charset="-122"/>
              </a:rPr>
              <a:t>在将一个</a:t>
            </a:r>
            <a:r>
              <a:rPr lang="en-US" altLang="zh-CN" dirty="0">
                <a:solidFill>
                  <a:srgbClr val="FF0000"/>
                </a:solidFill>
                <a:latin typeface="微软雅黑" panose="020B0503020204020204" pitchFamily="34" charset="-122"/>
                <a:ea typeface="微软雅黑" panose="020B0503020204020204" pitchFamily="34" charset="-122"/>
              </a:rPr>
              <a:t>64</a:t>
            </a:r>
            <a:r>
              <a:rPr lang="zh-CN" altLang="en-US" dirty="0">
                <a:solidFill>
                  <a:srgbClr val="FF0000"/>
                </a:solidFill>
                <a:latin typeface="微软雅黑" panose="020B0503020204020204" pitchFamily="34" charset="-122"/>
                <a:ea typeface="微软雅黑" panose="020B0503020204020204" pitchFamily="34" charset="-122"/>
              </a:rPr>
              <a:t>位浮点数转换为</a:t>
            </a:r>
            <a:r>
              <a:rPr lang="en-US" altLang="zh-CN" dirty="0">
                <a:solidFill>
                  <a:srgbClr val="FF0000"/>
                </a:solidFill>
                <a:latin typeface="微软雅黑" panose="020B0503020204020204" pitchFamily="34" charset="-122"/>
                <a:ea typeface="微软雅黑" panose="020B0503020204020204" pitchFamily="34" charset="-122"/>
              </a:rPr>
              <a:t>16</a:t>
            </a:r>
            <a:r>
              <a:rPr lang="zh-CN" altLang="en-US" dirty="0">
                <a:solidFill>
                  <a:srgbClr val="FF0000"/>
                </a:solidFill>
                <a:latin typeface="微软雅黑" panose="020B0503020204020204" pitchFamily="34" charset="-122"/>
                <a:ea typeface="微软雅黑" panose="020B0503020204020204" pitchFamily="34" charset="-122"/>
              </a:rPr>
              <a:t>位带符号整数时，产生了溢出异常。</a:t>
            </a:r>
            <a:r>
              <a:rPr lang="zh-CN" altLang="en-US" dirty="0">
                <a:latin typeface="微软雅黑" panose="020B0503020204020204" pitchFamily="34" charset="-122"/>
                <a:ea typeface="微软雅黑" panose="020B0503020204020204" pitchFamily="34" charset="-122"/>
              </a:rPr>
              <a:t>溢出的值是火箭的水平速率，这比原来的</a:t>
            </a:r>
            <a:r>
              <a:rPr lang="en-US" altLang="zh-CN" dirty="0">
                <a:latin typeface="微软雅黑" panose="020B0503020204020204" pitchFamily="34" charset="-122"/>
                <a:ea typeface="微软雅黑" panose="020B0503020204020204" pitchFamily="34" charset="-122"/>
              </a:rPr>
              <a:t>Ariana 4</a:t>
            </a:r>
            <a:r>
              <a:rPr lang="zh-CN" altLang="en-US" dirty="0">
                <a:latin typeface="微软雅黑" panose="020B0503020204020204" pitchFamily="34" charset="-122"/>
                <a:ea typeface="微软雅黑" panose="020B0503020204020204" pitchFamily="34" charset="-122"/>
              </a:rPr>
              <a:t>火箭所能达到的速率高出了</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倍。在设计</a:t>
            </a:r>
            <a:r>
              <a:rPr lang="en-US" altLang="zh-CN" dirty="0">
                <a:latin typeface="微软雅黑" panose="020B0503020204020204" pitchFamily="34" charset="-122"/>
                <a:ea typeface="微软雅黑" panose="020B0503020204020204" pitchFamily="34" charset="-122"/>
              </a:rPr>
              <a:t>Ariana 4</a:t>
            </a:r>
            <a:r>
              <a:rPr lang="zh-CN" altLang="en-US" dirty="0">
                <a:latin typeface="微软雅黑" panose="020B0503020204020204" pitchFamily="34" charset="-122"/>
                <a:ea typeface="微软雅黑" panose="020B0503020204020204" pitchFamily="34" charset="-122"/>
              </a:rPr>
              <a:t>火箭软件时，设计者确认水平速率决不会超出一个</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位的整数，但在设计</a:t>
            </a:r>
            <a:r>
              <a:rPr lang="en-US" altLang="zh-CN" dirty="0">
                <a:latin typeface="微软雅黑" panose="020B0503020204020204" pitchFamily="34" charset="-122"/>
                <a:ea typeface="微软雅黑" panose="020B0503020204020204" pitchFamily="34" charset="-122"/>
              </a:rPr>
              <a:t>Ariana 5</a:t>
            </a:r>
            <a:r>
              <a:rPr lang="zh-CN" altLang="en-US" dirty="0">
                <a:latin typeface="微软雅黑" panose="020B0503020204020204" pitchFamily="34" charset="-122"/>
                <a:ea typeface="微软雅黑" panose="020B0503020204020204" pitchFamily="34" charset="-122"/>
              </a:rPr>
              <a:t>时，他们没有重新检查这部分，而是直接使用了原来的设计。</a:t>
            </a:r>
            <a:endParaRPr lang="zh-CN" altLang="en-US" dirty="0">
              <a:latin typeface="微软雅黑" panose="020B0503020204020204" pitchFamily="34" charset="-122"/>
              <a:ea typeface="微软雅黑" panose="020B0503020204020204" pitchFamily="34" charset="-122"/>
            </a:endParaRPr>
          </a:p>
          <a:p>
            <a:pPr>
              <a:lnSpc>
                <a:spcPct val="120000"/>
              </a:lnSpc>
              <a:spcBef>
                <a:spcPct val="45000"/>
              </a:spcBef>
            </a:pPr>
            <a:r>
              <a:rPr lang="zh-CN" altLang="en-US" dirty="0">
                <a:solidFill>
                  <a:srgbClr val="FF0000"/>
                </a:solidFill>
                <a:latin typeface="微软雅黑" panose="020B0503020204020204" pitchFamily="34" charset="-122"/>
                <a:ea typeface="微软雅黑" panose="020B0503020204020204" pitchFamily="34" charset="-122"/>
              </a:rPr>
              <a:t>在不同数据类型之间转换时，往往隐藏着一些不容易被察觉的错误</a:t>
            </a:r>
            <a:r>
              <a:rPr lang="zh-CN" altLang="en-US" dirty="0">
                <a:latin typeface="微软雅黑" panose="020B0503020204020204" pitchFamily="34" charset="-122"/>
                <a:ea typeface="微软雅黑" panose="020B0503020204020204" pitchFamily="34" charset="-122"/>
              </a:rPr>
              <a:t>，这种错误有时会带来重大损失，因此，编程时要非常小心。</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6739">
                                            <p:txEl>
                                              <p:charRg st="0" end="69"/>
                                            </p:txEl>
                                          </p:spTgt>
                                        </p:tgtEl>
                                        <p:attrNameLst>
                                          <p:attrName>style.visibility</p:attrName>
                                        </p:attrNameLst>
                                      </p:cBhvr>
                                      <p:to>
                                        <p:strVal val="visible"/>
                                      </p:to>
                                    </p:set>
                                    <p:animEffect transition="in" filter="blinds(horizontal)">
                                      <p:cBhvr>
                                        <p:cTn id="7" dur="500"/>
                                        <p:tgtEl>
                                          <p:spTgt spid="756739">
                                            <p:txEl>
                                              <p:charRg st="0" end="6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6739">
                                            <p:txEl>
                                              <p:charRg st="69" end="224"/>
                                            </p:txEl>
                                          </p:spTgt>
                                        </p:tgtEl>
                                        <p:attrNameLst>
                                          <p:attrName>style.visibility</p:attrName>
                                        </p:attrNameLst>
                                      </p:cBhvr>
                                      <p:to>
                                        <p:strVal val="visible"/>
                                      </p:to>
                                    </p:set>
                                    <p:animEffect transition="in" filter="blinds(horizontal)">
                                      <p:cBhvr>
                                        <p:cTn id="12" dur="500"/>
                                        <p:tgtEl>
                                          <p:spTgt spid="756739">
                                            <p:txEl>
                                              <p:charRg st="69" end="2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6739">
                                            <p:txEl>
                                              <p:charRg st="224" end="281"/>
                                            </p:txEl>
                                          </p:spTgt>
                                        </p:tgtEl>
                                        <p:attrNameLst>
                                          <p:attrName>style.visibility</p:attrName>
                                        </p:attrNameLst>
                                      </p:cBhvr>
                                      <p:to>
                                        <p:strVal val="visible"/>
                                      </p:to>
                                    </p:set>
                                    <p:animEffect transition="in" filter="blinds(horizontal)">
                                      <p:cBhvr>
                                        <p:cTn id="17" dur="500"/>
                                        <p:tgtEl>
                                          <p:spTgt spid="756739">
                                            <p:txEl>
                                              <p:charRg st="224" end="2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Rectangle 2"/>
          <p:cNvSpPr>
            <a:spLocks noGrp="1"/>
          </p:cNvSpPr>
          <p:nvPr>
            <p:ph type="title"/>
          </p:nvPr>
        </p:nvSpPr>
        <p:spPr>
          <a:xfrm>
            <a:off x="457200" y="98425"/>
            <a:ext cx="8229600" cy="561975"/>
          </a:xfrm>
          <a:ln/>
        </p:spPr>
        <p:txBody>
          <a:bodyPr vert="horz" wrap="square" lIns="63500" tIns="25400" rIns="63500" bIns="25400" anchor="t" anchorCtr="0">
            <a:spAutoFit/>
          </a:bodyPr>
          <a:p>
            <a:r>
              <a:rPr lang="zh-CN" altLang="en-US" dirty="0">
                <a:ea typeface="宋体" panose="02010600030101010101" pitchFamily="2" charset="-122"/>
              </a:rPr>
              <a:t>举例：爱国者导弹定位错误</a:t>
            </a:r>
            <a:endParaRPr lang="zh-CN" altLang="en-US" dirty="0">
              <a:ea typeface="宋体" panose="02010600030101010101" pitchFamily="2" charset="-122"/>
            </a:endParaRPr>
          </a:p>
        </p:txBody>
      </p:sp>
      <p:sp>
        <p:nvSpPr>
          <p:cNvPr id="757763" name="Rectangle 3"/>
          <p:cNvSpPr>
            <a:spLocks noGrp="1"/>
          </p:cNvSpPr>
          <p:nvPr>
            <p:ph idx="1"/>
          </p:nvPr>
        </p:nvSpPr>
        <p:spPr>
          <a:xfrm>
            <a:off x="90488" y="836613"/>
            <a:ext cx="8937625" cy="5788025"/>
          </a:xfrm>
          <a:ln/>
        </p:spPr>
        <p:txBody>
          <a:bodyPr vert="horz" wrap="square" lIns="63500" tIns="25400" rIns="63500" bIns="25400" anchor="t" anchorCtr="0">
            <a:spAutoFit/>
          </a:bodyPr>
          <a:p>
            <a:pPr>
              <a:lnSpc>
                <a:spcPct val="120000"/>
              </a:lnSpc>
              <a:spcBef>
                <a:spcPct val="35000"/>
              </a:spcBef>
            </a:pPr>
            <a:r>
              <a:rPr lang="en-US" altLang="zh-CN" sz="2000" dirty="0">
                <a:latin typeface="微软雅黑" panose="020B0503020204020204" pitchFamily="34" charset="-122"/>
                <a:ea typeface="微软雅黑" panose="020B0503020204020204" pitchFamily="34" charset="-122"/>
              </a:rPr>
              <a:t>1991</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25</a:t>
            </a:r>
            <a:r>
              <a:rPr lang="zh-CN" altLang="en-US" sz="2000" dirty="0">
                <a:latin typeface="微软雅黑" panose="020B0503020204020204" pitchFamily="34" charset="-122"/>
                <a:ea typeface="微软雅黑" panose="020B0503020204020204" pitchFamily="34" charset="-122"/>
              </a:rPr>
              <a:t>日，海湾战争中，美国在沙特阿拉伯达摩地区设置的爱国者导弹拦截伊拉克的飞毛腿导弹失败，致使飞毛腿导弹击中了一个美军军营，杀死了美军</a:t>
            </a:r>
            <a:r>
              <a:rPr lang="en-US" altLang="zh-CN" sz="2000" dirty="0">
                <a:latin typeface="微软雅黑" panose="020B0503020204020204" pitchFamily="34" charset="-122"/>
                <a:ea typeface="微软雅黑" panose="020B0503020204020204" pitchFamily="34" charset="-122"/>
              </a:rPr>
              <a:t>28</a:t>
            </a:r>
            <a:r>
              <a:rPr lang="zh-CN" altLang="en-US" sz="2000" dirty="0">
                <a:latin typeface="微软雅黑" panose="020B0503020204020204" pitchFamily="34" charset="-122"/>
                <a:ea typeface="微软雅黑" panose="020B0503020204020204" pitchFamily="34" charset="-122"/>
              </a:rPr>
              <a:t>名士兵。其原因是由于</a:t>
            </a:r>
            <a:r>
              <a:rPr lang="zh-CN" altLang="en-US" sz="2000" dirty="0">
                <a:solidFill>
                  <a:srgbClr val="008000"/>
                </a:solidFill>
                <a:latin typeface="微软雅黑" panose="020B0503020204020204" pitchFamily="34" charset="-122"/>
                <a:ea typeface="微软雅黑" panose="020B0503020204020204" pitchFamily="34" charset="-122"/>
              </a:rPr>
              <a:t>爱国者导弹系统时钟内的一个软件错误</a:t>
            </a:r>
            <a:r>
              <a:rPr lang="zh-CN" altLang="en-US" sz="2000" dirty="0">
                <a:latin typeface="微软雅黑" panose="020B0503020204020204" pitchFamily="34" charset="-122"/>
                <a:ea typeface="微软雅黑" panose="020B0503020204020204" pitchFamily="34" charset="-122"/>
              </a:rPr>
              <a:t>造成的，引起这个软件错误的原因是</a:t>
            </a:r>
            <a:r>
              <a:rPr lang="zh-CN" altLang="en-US" sz="2000" dirty="0">
                <a:solidFill>
                  <a:srgbClr val="FF0000"/>
                </a:solidFill>
                <a:latin typeface="微软雅黑" panose="020B0503020204020204" pitchFamily="34" charset="-122"/>
                <a:ea typeface="微软雅黑" panose="020B0503020204020204" pitchFamily="34" charset="-122"/>
              </a:rPr>
              <a:t>浮点数的精度问题</a:t>
            </a:r>
            <a:r>
              <a:rPr lang="zh-CN" altLang="en-US" sz="2000" dirty="0">
                <a:latin typeface="微软雅黑" panose="020B0503020204020204" pitchFamily="34" charset="-122"/>
                <a:ea typeface="微软雅黑" panose="020B0503020204020204" pitchFamily="34" charset="-122"/>
              </a:rPr>
              <a:t>。</a:t>
            </a:r>
            <a:r>
              <a:rPr lang="zh-CN" altLang="en-US" sz="2000" dirty="0"/>
              <a:t> </a:t>
            </a:r>
            <a:endParaRPr lang="zh-CN" altLang="en-US" sz="2000" dirty="0"/>
          </a:p>
          <a:p>
            <a:pPr>
              <a:lnSpc>
                <a:spcPct val="120000"/>
              </a:lnSpc>
              <a:spcBef>
                <a:spcPct val="35000"/>
              </a:spcBef>
            </a:pPr>
            <a:r>
              <a:rPr lang="zh-CN" altLang="en-US" sz="2000" dirty="0">
                <a:latin typeface="微软雅黑" panose="020B0503020204020204" pitchFamily="34" charset="-122"/>
                <a:ea typeface="微软雅黑" panose="020B0503020204020204" pitchFamily="34" charset="-122"/>
              </a:rPr>
              <a:t>爱国者导弹系统中有一内置时钟，用计数器实现，</a:t>
            </a:r>
            <a:r>
              <a:rPr lang="zh-CN" altLang="en-US" sz="2000" dirty="0">
                <a:solidFill>
                  <a:srgbClr val="0033CC"/>
                </a:solidFill>
                <a:latin typeface="微软雅黑" panose="020B0503020204020204" pitchFamily="34" charset="-122"/>
                <a:ea typeface="微软雅黑" panose="020B0503020204020204" pitchFamily="34" charset="-122"/>
              </a:rPr>
              <a:t>每隔</a:t>
            </a:r>
            <a:r>
              <a:rPr lang="en-US" altLang="zh-CN" sz="2000" dirty="0">
                <a:solidFill>
                  <a:srgbClr val="0033CC"/>
                </a:solidFill>
                <a:latin typeface="微软雅黑" panose="020B0503020204020204" pitchFamily="34" charset="-122"/>
                <a:ea typeface="微软雅黑" panose="020B0503020204020204" pitchFamily="34" charset="-122"/>
              </a:rPr>
              <a:t>0.1</a:t>
            </a:r>
            <a:r>
              <a:rPr lang="zh-CN" altLang="en-US" sz="2000" dirty="0">
                <a:solidFill>
                  <a:srgbClr val="0033CC"/>
                </a:solidFill>
                <a:latin typeface="微软雅黑" panose="020B0503020204020204" pitchFamily="34" charset="-122"/>
                <a:ea typeface="微软雅黑" panose="020B0503020204020204" pitchFamily="34" charset="-122"/>
              </a:rPr>
              <a:t>秒计数一次</a:t>
            </a:r>
            <a:r>
              <a:rPr lang="zh-CN" altLang="en-US" sz="2000" dirty="0">
                <a:latin typeface="微软雅黑" panose="020B0503020204020204" pitchFamily="34" charset="-122"/>
                <a:ea typeface="微软雅黑" panose="020B0503020204020204" pitchFamily="34" charset="-122"/>
              </a:rPr>
              <a:t>。程序用</a:t>
            </a: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的一个</a:t>
            </a:r>
            <a:r>
              <a:rPr lang="en-US" altLang="zh-CN" sz="2000" dirty="0">
                <a:solidFill>
                  <a:srgbClr val="FF0000"/>
                </a:solidFill>
                <a:latin typeface="微软雅黑" panose="020B0503020204020204" pitchFamily="34" charset="-122"/>
                <a:ea typeface="微软雅黑" panose="020B0503020204020204" pitchFamily="34" charset="-122"/>
              </a:rPr>
              <a:t>24</a:t>
            </a:r>
            <a:r>
              <a:rPr lang="zh-CN" altLang="en-US" sz="2000" dirty="0">
                <a:solidFill>
                  <a:srgbClr val="FF0000"/>
                </a:solidFill>
                <a:latin typeface="微软雅黑" panose="020B0503020204020204" pitchFamily="34" charset="-122"/>
                <a:ea typeface="微软雅黑" panose="020B0503020204020204" pitchFamily="34" charset="-122"/>
              </a:rPr>
              <a:t>位定点二进制小数</a:t>
            </a:r>
            <a:r>
              <a:rPr lang="en-US" altLang="zh-CN" sz="2000" dirty="0">
                <a:solidFill>
                  <a:srgbClr val="FF0000"/>
                </a:solidFill>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来乘以计数值作为以秒为单位的时间</a:t>
            </a:r>
            <a:endParaRPr lang="zh-CN" altLang="en-US" sz="2000" dirty="0">
              <a:latin typeface="微软雅黑" panose="020B0503020204020204" pitchFamily="34" charset="-122"/>
              <a:ea typeface="微软雅黑" panose="020B0503020204020204" pitchFamily="34" charset="-122"/>
            </a:endParaRPr>
          </a:p>
          <a:p>
            <a:pPr>
              <a:lnSpc>
                <a:spcPct val="120000"/>
              </a:lnSpc>
              <a:spcBef>
                <a:spcPct val="35000"/>
              </a:spcBef>
            </a:pPr>
            <a:r>
              <a:rPr lang="zh-CN" altLang="en-US" sz="2000" dirty="0">
                <a:latin typeface="微软雅黑" panose="020B0503020204020204" pitchFamily="34" charset="-122"/>
                <a:ea typeface="微软雅黑" panose="020B0503020204020204" pitchFamily="34" charset="-122"/>
              </a:rPr>
              <a:t>这个</a:t>
            </a:r>
            <a:r>
              <a:rPr lang="en-US" altLang="zh-CN" sz="2000"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的机器数是多少呢？</a:t>
            </a:r>
            <a:endParaRPr lang="zh-CN" altLang="en-US" sz="2000" dirty="0">
              <a:latin typeface="微软雅黑" panose="020B0503020204020204" pitchFamily="34" charset="-122"/>
              <a:ea typeface="微软雅黑" panose="020B0503020204020204" pitchFamily="34" charset="-122"/>
            </a:endParaRPr>
          </a:p>
          <a:p>
            <a:pPr>
              <a:lnSpc>
                <a:spcPct val="120000"/>
              </a:lnSpc>
              <a:spcBef>
                <a:spcPct val="35000"/>
              </a:spcBef>
            </a:pP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的二进制表示是一个无限循环序列：</a:t>
            </a:r>
            <a:r>
              <a:rPr lang="en-US" altLang="zh-CN" sz="2000" dirty="0">
                <a:latin typeface="微软雅黑" panose="020B0503020204020204" pitchFamily="34" charset="-122"/>
                <a:ea typeface="微软雅黑" panose="020B0503020204020204" pitchFamily="34" charset="-122"/>
              </a:rPr>
              <a:t>0.00011[0011]…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x=0.000 1100 1100 1100 1100 1100B</a:t>
            </a:r>
            <a:r>
              <a:rPr lang="zh-CN" altLang="en-US" sz="2000" dirty="0">
                <a:latin typeface="微软雅黑" panose="020B0503020204020204" pitchFamily="34" charset="-122"/>
                <a:ea typeface="微软雅黑" panose="020B0503020204020204" pitchFamily="34" charset="-122"/>
              </a:rPr>
              <a:t>。显然，</a:t>
            </a:r>
            <a:r>
              <a:rPr lang="en-US" altLang="zh-CN" sz="2000" dirty="0">
                <a:solidFill>
                  <a:srgbClr val="0033CC"/>
                </a:solidFill>
                <a:latin typeface="微软雅黑" panose="020B0503020204020204" pitchFamily="34" charset="-122"/>
                <a:ea typeface="微软雅黑" panose="020B0503020204020204" pitchFamily="34" charset="-122"/>
              </a:rPr>
              <a:t>x</a:t>
            </a:r>
            <a:r>
              <a:rPr lang="zh-CN" altLang="en-US" sz="2000" dirty="0">
                <a:solidFill>
                  <a:srgbClr val="0033CC"/>
                </a:solidFill>
                <a:latin typeface="微软雅黑" panose="020B0503020204020204" pitchFamily="34" charset="-122"/>
                <a:ea typeface="微软雅黑" panose="020B0503020204020204" pitchFamily="34" charset="-122"/>
              </a:rPr>
              <a:t>是</a:t>
            </a:r>
            <a:r>
              <a:rPr lang="en-US" altLang="zh-CN" sz="2000" dirty="0">
                <a:solidFill>
                  <a:srgbClr val="0033CC"/>
                </a:solidFill>
                <a:latin typeface="微软雅黑" panose="020B0503020204020204" pitchFamily="34" charset="-122"/>
                <a:ea typeface="微软雅黑" panose="020B0503020204020204" pitchFamily="34" charset="-122"/>
              </a:rPr>
              <a:t>0.1</a:t>
            </a:r>
            <a:r>
              <a:rPr lang="zh-CN" altLang="en-US" sz="2000" dirty="0">
                <a:solidFill>
                  <a:srgbClr val="0033CC"/>
                </a:solidFill>
                <a:latin typeface="微软雅黑" panose="020B0503020204020204" pitchFamily="34" charset="-122"/>
                <a:ea typeface="微软雅黑" panose="020B0503020204020204" pitchFamily="34" charset="-122"/>
              </a:rPr>
              <a:t>的近似表示</a:t>
            </a:r>
            <a:r>
              <a:rPr lang="zh-CN" altLang="en-US" sz="2000" dirty="0">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0.1-x</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ct val="120000"/>
              </a:lnSpc>
              <a:spcBef>
                <a:spcPct val="35000"/>
              </a:spcBef>
              <a:buFontTx/>
              <a:buNone/>
            </a:pPr>
            <a:r>
              <a:rPr lang="en-US" altLang="zh-CN" sz="2000" dirty="0">
                <a:latin typeface="微软雅黑" panose="020B0503020204020204" pitchFamily="34" charset="-122"/>
                <a:ea typeface="微软雅黑" panose="020B0503020204020204" pitchFamily="34" charset="-122"/>
              </a:rPr>
              <a:t>     = 0.000 1100 1100 1100 1100 1100 [1100]… - </a:t>
            </a:r>
            <a:endParaRPr lang="en-US" altLang="zh-CN" sz="2000" dirty="0">
              <a:latin typeface="微软雅黑" panose="020B0503020204020204" pitchFamily="34" charset="-122"/>
              <a:ea typeface="微软雅黑" panose="020B0503020204020204" pitchFamily="34" charset="-122"/>
            </a:endParaRPr>
          </a:p>
          <a:p>
            <a:pPr>
              <a:lnSpc>
                <a:spcPct val="120000"/>
              </a:lnSpc>
              <a:spcBef>
                <a:spcPct val="35000"/>
              </a:spcBef>
              <a:buFontTx/>
              <a:buNone/>
            </a:pPr>
            <a:r>
              <a:rPr lang="en-US" altLang="zh-CN" sz="2000" dirty="0">
                <a:latin typeface="微软雅黑" panose="020B0503020204020204" pitchFamily="34" charset="-122"/>
                <a:ea typeface="微软雅黑" panose="020B0503020204020204" pitchFamily="34" charset="-122"/>
              </a:rPr>
              <a:t>        0.000 1100 1100 1100 1100 1100B</a:t>
            </a:r>
            <a:r>
              <a:rPr lang="zh-CN" altLang="en-US" sz="2000" dirty="0">
                <a:latin typeface="微软雅黑" panose="020B0503020204020204" pitchFamily="34" charset="-122"/>
                <a:ea typeface="微软雅黑" panose="020B0503020204020204" pitchFamily="34" charset="-122"/>
              </a:rPr>
              <a:t>，即为：</a:t>
            </a:r>
            <a:endParaRPr lang="zh-CN" altLang="en-US" sz="2000" dirty="0">
              <a:latin typeface="微软雅黑" panose="020B0503020204020204" pitchFamily="34" charset="-122"/>
              <a:ea typeface="微软雅黑" panose="020B0503020204020204" pitchFamily="34" charset="-122"/>
            </a:endParaRPr>
          </a:p>
          <a:p>
            <a:pPr>
              <a:lnSpc>
                <a:spcPct val="120000"/>
              </a:lnSpc>
              <a:spcBef>
                <a:spcPct val="35000"/>
              </a:spcBef>
              <a:buFontTx/>
              <a:buNone/>
            </a:pPr>
            <a:r>
              <a:rPr lang="en-US" altLang="zh-CN" sz="2000" dirty="0">
                <a:latin typeface="微软雅黑" panose="020B0503020204020204" pitchFamily="34" charset="-122"/>
                <a:ea typeface="微软雅黑" panose="020B0503020204020204" pitchFamily="34" charset="-122"/>
              </a:rPr>
              <a:t>     =0.000 0000 0000 0000 0000 0</a:t>
            </a:r>
            <a:r>
              <a:rPr lang="en-US" altLang="zh-CN" sz="2000" dirty="0">
                <a:solidFill>
                  <a:srgbClr val="0033CC"/>
                </a:solidFill>
                <a:latin typeface="微软雅黑" panose="020B0503020204020204" pitchFamily="34" charset="-122"/>
                <a:ea typeface="微软雅黑" panose="020B0503020204020204" pitchFamily="34" charset="-122"/>
              </a:rPr>
              <a:t>000 1100 [1100]…</a:t>
            </a:r>
            <a:r>
              <a:rPr lang="en-US" altLang="zh-CN" sz="2000" dirty="0">
                <a:latin typeface="微软雅黑" panose="020B0503020204020204" pitchFamily="34" charset="-122"/>
                <a:ea typeface="微软雅黑" panose="020B0503020204020204" pitchFamily="34" charset="-122"/>
              </a:rPr>
              <a:t>B</a:t>
            </a:r>
            <a:endParaRPr lang="en-US" altLang="zh-CN" sz="2000" dirty="0">
              <a:latin typeface="微软雅黑" panose="020B0503020204020204" pitchFamily="34" charset="-122"/>
              <a:ea typeface="微软雅黑" panose="020B0503020204020204" pitchFamily="34" charset="-122"/>
            </a:endParaRPr>
          </a:p>
          <a:p>
            <a:pPr>
              <a:lnSpc>
                <a:spcPct val="120000"/>
              </a:lnSpc>
              <a:spcBef>
                <a:spcPct val="35000"/>
              </a:spcBef>
              <a:buFontTx/>
              <a:buNone/>
            </a:pPr>
            <a:r>
              <a:rPr lang="en-US" altLang="zh-CN" sz="2000" dirty="0">
                <a:latin typeface="微软雅黑" panose="020B0503020204020204" pitchFamily="34" charset="-122"/>
                <a:ea typeface="微软雅黑" panose="020B0503020204020204" pitchFamily="34" charset="-122"/>
              </a:rPr>
              <a:t>     =2</a:t>
            </a:r>
            <a:r>
              <a:rPr lang="en-US" altLang="zh-CN" sz="2000" baseline="30000" dirty="0">
                <a:latin typeface="微软雅黑" panose="020B0503020204020204" pitchFamily="34" charset="-122"/>
                <a:ea typeface="微软雅黑" panose="020B0503020204020204" pitchFamily="34" charset="-122"/>
              </a:rPr>
              <a:t>-20</a:t>
            </a:r>
            <a:r>
              <a:rPr lang="en-US" altLang="zh-CN" sz="2000" dirty="0">
                <a:latin typeface="微软雅黑" panose="020B0503020204020204" pitchFamily="34" charset="-122"/>
                <a:ea typeface="微软雅黑" panose="020B0503020204020204" pitchFamily="34" charset="-122"/>
              </a:rPr>
              <a:t>×0.1 </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000" dirty="0">
                <a:latin typeface="微软雅黑" panose="020B0503020204020204" pitchFamily="34" charset="-122"/>
                <a:ea typeface="微软雅黑" panose="020B0503020204020204" pitchFamily="34" charset="-122"/>
              </a:rPr>
              <a:t>9.54×10</a:t>
            </a:r>
            <a:r>
              <a:rPr lang="en-US" altLang="zh-CN" sz="2000" baseline="30000" dirty="0">
                <a:latin typeface="微软雅黑" panose="020B0503020204020204" pitchFamily="34" charset="-122"/>
                <a:ea typeface="微软雅黑" panose="020B0503020204020204" pitchFamily="34" charset="-122"/>
              </a:rPr>
              <a:t>-8</a:t>
            </a:r>
            <a:endParaRPr lang="zh-CN" altLang="en-US" sz="2000" baseline="30000" dirty="0">
              <a:latin typeface="微软雅黑" panose="020B0503020204020204" pitchFamily="34" charset="-122"/>
              <a:ea typeface="微软雅黑" panose="020B0503020204020204" pitchFamily="34" charset="-122"/>
            </a:endParaRPr>
          </a:p>
        </p:txBody>
      </p:sp>
      <p:sp>
        <p:nvSpPr>
          <p:cNvPr id="757764" name="Text Box 4"/>
          <p:cNvSpPr txBox="1"/>
          <p:nvPr/>
        </p:nvSpPr>
        <p:spPr>
          <a:xfrm>
            <a:off x="3671888" y="6084888"/>
            <a:ext cx="4365625" cy="396875"/>
          </a:xfrm>
          <a:prstGeom prst="rect">
            <a:avLst/>
          </a:prstGeom>
          <a:noFill/>
          <a:ln w="9525">
            <a:noFill/>
          </a:ln>
        </p:spPr>
        <p:txBody>
          <a:bodyPr anchor="t" anchorCtr="0">
            <a:spAutoFit/>
          </a:bodyPr>
          <a:p>
            <a:pPr>
              <a:spcBef>
                <a:spcPct val="50000"/>
              </a:spcBef>
              <a:buClrTx/>
              <a:buFontTx/>
            </a:pPr>
            <a:r>
              <a:rPr lang="zh-CN" altLang="en-US" sz="2000" dirty="0">
                <a:solidFill>
                  <a:srgbClr val="008000"/>
                </a:solidFill>
                <a:latin typeface="Arial" panose="020B0604020202020204" pitchFamily="34" charset="0"/>
                <a:ea typeface="微软雅黑" panose="020B0503020204020204" pitchFamily="34" charset="-122"/>
              </a:rPr>
              <a:t>这就是机器值与真值之间的误差！</a:t>
            </a:r>
            <a:endParaRPr lang="zh-CN" altLang="en-US" sz="2000" dirty="0">
              <a:solidFill>
                <a:srgbClr val="008000"/>
              </a:solidFill>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763">
                                            <p:txEl>
                                              <p:charRg st="0" end="129"/>
                                            </p:txEl>
                                          </p:spTgt>
                                        </p:tgtEl>
                                        <p:attrNameLst>
                                          <p:attrName>style.visibility</p:attrName>
                                        </p:attrNameLst>
                                      </p:cBhvr>
                                      <p:to>
                                        <p:strVal val="visible"/>
                                      </p:to>
                                    </p:set>
                                    <p:animEffect transition="in" filter="blinds(horizontal)">
                                      <p:cBhvr>
                                        <p:cTn id="7" dur="500"/>
                                        <p:tgtEl>
                                          <p:spTgt spid="757763">
                                            <p:txEl>
                                              <p:charRg st="0" end="1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7763">
                                            <p:txEl>
                                              <p:charRg st="129" end="199"/>
                                            </p:txEl>
                                          </p:spTgt>
                                        </p:tgtEl>
                                        <p:attrNameLst>
                                          <p:attrName>style.visibility</p:attrName>
                                        </p:attrNameLst>
                                      </p:cBhvr>
                                      <p:to>
                                        <p:strVal val="visible"/>
                                      </p:to>
                                    </p:set>
                                    <p:animEffect transition="in" filter="blinds(horizontal)">
                                      <p:cBhvr>
                                        <p:cTn id="12" dur="500"/>
                                        <p:tgtEl>
                                          <p:spTgt spid="757763">
                                            <p:txEl>
                                              <p:charRg st="129" end="19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7763">
                                            <p:txEl>
                                              <p:charRg st="199" end="212"/>
                                            </p:txEl>
                                          </p:spTgt>
                                        </p:tgtEl>
                                        <p:attrNameLst>
                                          <p:attrName>style.visibility</p:attrName>
                                        </p:attrNameLst>
                                      </p:cBhvr>
                                      <p:to>
                                        <p:strVal val="visible"/>
                                      </p:to>
                                    </p:set>
                                    <p:animEffect transition="in" filter="blinds(horizontal)">
                                      <p:cBhvr>
                                        <p:cTn id="17" dur="500"/>
                                        <p:tgtEl>
                                          <p:spTgt spid="757763">
                                            <p:txEl>
                                              <p:charRg st="199" end="21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57763">
                                            <p:txEl>
                                              <p:charRg st="212" end="300"/>
                                            </p:txEl>
                                          </p:spTgt>
                                        </p:tgtEl>
                                        <p:attrNameLst>
                                          <p:attrName>style.visibility</p:attrName>
                                        </p:attrNameLst>
                                      </p:cBhvr>
                                      <p:to>
                                        <p:strVal val="visible"/>
                                      </p:to>
                                    </p:set>
                                    <p:animEffect transition="in" filter="blinds(horizontal)">
                                      <p:cBhvr>
                                        <p:cTn id="22" dur="500"/>
                                        <p:tgtEl>
                                          <p:spTgt spid="757763">
                                            <p:txEl>
                                              <p:charRg st="212" end="30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57763">
                                            <p:txEl>
                                              <p:charRg st="300" end="349"/>
                                            </p:txEl>
                                          </p:spTgt>
                                        </p:tgtEl>
                                        <p:attrNameLst>
                                          <p:attrName>style.visibility</p:attrName>
                                        </p:attrNameLst>
                                      </p:cBhvr>
                                      <p:to>
                                        <p:strVal val="visible"/>
                                      </p:to>
                                    </p:set>
                                    <p:animEffect transition="in" filter="blinds(horizontal)">
                                      <p:cBhvr>
                                        <p:cTn id="27" dur="500"/>
                                        <p:tgtEl>
                                          <p:spTgt spid="757763">
                                            <p:txEl>
                                              <p:charRg st="300" end="349"/>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57763">
                                            <p:txEl>
                                              <p:charRg st="349" end="393"/>
                                            </p:txEl>
                                          </p:spTgt>
                                        </p:tgtEl>
                                        <p:attrNameLst>
                                          <p:attrName>style.visibility</p:attrName>
                                        </p:attrNameLst>
                                      </p:cBhvr>
                                      <p:to>
                                        <p:strVal val="visible"/>
                                      </p:to>
                                    </p:set>
                                    <p:animEffect transition="in" filter="blinds(horizontal)">
                                      <p:cBhvr>
                                        <p:cTn id="30" dur="500"/>
                                        <p:tgtEl>
                                          <p:spTgt spid="757763">
                                            <p:txEl>
                                              <p:charRg st="349" end="393"/>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757763">
                                            <p:txEl>
                                              <p:charRg st="393" end="444"/>
                                            </p:txEl>
                                          </p:spTgt>
                                        </p:tgtEl>
                                        <p:attrNameLst>
                                          <p:attrName>style.visibility</p:attrName>
                                        </p:attrNameLst>
                                      </p:cBhvr>
                                      <p:to>
                                        <p:strVal val="visible"/>
                                      </p:to>
                                    </p:set>
                                    <p:animEffect transition="in" filter="blinds(horizontal)">
                                      <p:cBhvr>
                                        <p:cTn id="33" dur="500"/>
                                        <p:tgtEl>
                                          <p:spTgt spid="757763">
                                            <p:txEl>
                                              <p:charRg st="393" end="444"/>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757763">
                                            <p:txEl>
                                              <p:charRg st="444" end="471"/>
                                            </p:txEl>
                                          </p:spTgt>
                                        </p:tgtEl>
                                        <p:attrNameLst>
                                          <p:attrName>style.visibility</p:attrName>
                                        </p:attrNameLst>
                                      </p:cBhvr>
                                      <p:to>
                                        <p:strVal val="visible"/>
                                      </p:to>
                                    </p:set>
                                    <p:animEffect transition="in" filter="blinds(horizontal)">
                                      <p:cBhvr>
                                        <p:cTn id="36" dur="500"/>
                                        <p:tgtEl>
                                          <p:spTgt spid="757763">
                                            <p:txEl>
                                              <p:charRg st="444" end="47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757764"/>
                                        </p:tgtEl>
                                        <p:attrNameLst>
                                          <p:attrName>style.visibility</p:attrName>
                                        </p:attrNameLst>
                                      </p:cBhvr>
                                      <p:to>
                                        <p:strVal val="visible"/>
                                      </p:to>
                                    </p:set>
                                    <p:animEffect transition="in" filter="blinds(horizontal)">
                                      <p:cBhvr>
                                        <p:cTn id="41" dur="500"/>
                                        <p:tgtEl>
                                          <p:spTgt spid="757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6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Rectangle 2"/>
          <p:cNvSpPr>
            <a:spLocks noGrp="1"/>
          </p:cNvSpPr>
          <p:nvPr>
            <p:ph type="title"/>
          </p:nvPr>
        </p:nvSpPr>
        <p:spPr>
          <a:xfrm>
            <a:off x="457200" y="98425"/>
            <a:ext cx="8229600" cy="561975"/>
          </a:xfrm>
          <a:ln/>
        </p:spPr>
        <p:txBody>
          <a:bodyPr vert="horz" wrap="square" lIns="63500" tIns="25400" rIns="63500" bIns="25400" anchor="t" anchorCtr="0">
            <a:spAutoFit/>
          </a:bodyPr>
          <a:p>
            <a:r>
              <a:rPr lang="zh-CN" altLang="en-US" dirty="0">
                <a:ea typeface="宋体" panose="02010600030101010101" pitchFamily="2" charset="-122"/>
              </a:rPr>
              <a:t>举例：爱国者导弹定位错误</a:t>
            </a:r>
            <a:endParaRPr lang="zh-CN" altLang="en-US" dirty="0">
              <a:ea typeface="宋体" panose="02010600030101010101" pitchFamily="2" charset="-122"/>
            </a:endParaRPr>
          </a:p>
        </p:txBody>
      </p:sp>
      <p:sp>
        <p:nvSpPr>
          <p:cNvPr id="758787" name="Rectangle 3"/>
          <p:cNvSpPr>
            <a:spLocks noGrp="1"/>
          </p:cNvSpPr>
          <p:nvPr>
            <p:ph idx="1"/>
          </p:nvPr>
        </p:nvSpPr>
        <p:spPr>
          <a:xfrm>
            <a:off x="0" y="863600"/>
            <a:ext cx="8686800" cy="5218113"/>
          </a:xfrm>
          <a:ln/>
        </p:spPr>
        <p:txBody>
          <a:bodyPr vert="horz" wrap="square" lIns="63500" tIns="25400" rIns="63500" bIns="25400" anchor="t" anchorCtr="0">
            <a:spAutoFit/>
          </a:bodyPr>
          <a:p>
            <a:pPr>
              <a:lnSpc>
                <a:spcPct val="125000"/>
              </a:lnSpc>
              <a:spcBef>
                <a:spcPct val="45000"/>
              </a:spcBef>
              <a:buFontTx/>
              <a:buNone/>
            </a:pPr>
            <a:r>
              <a:rPr lang="zh-CN" altLang="en-US" dirty="0">
                <a:latin typeface="微软雅黑" panose="020B0503020204020204" pitchFamily="34" charset="-122"/>
                <a:ea typeface="微软雅黑" panose="020B0503020204020204" pitchFamily="34" charset="-122"/>
              </a:rPr>
              <a:t>    已知在爱国者导弹准备拦截飞毛腿导弹之前，已经连续工作了</a:t>
            </a:r>
            <a:r>
              <a:rPr lang="en-US" altLang="zh-CN" dirty="0">
                <a:latin typeface="微软雅黑" panose="020B0503020204020204" pitchFamily="34" charset="-122"/>
                <a:ea typeface="微软雅黑" panose="020B0503020204020204" pitchFamily="34" charset="-122"/>
              </a:rPr>
              <a:t>100</a:t>
            </a:r>
            <a:r>
              <a:rPr lang="zh-CN" altLang="en-US" dirty="0">
                <a:latin typeface="微软雅黑" panose="020B0503020204020204" pitchFamily="34" charset="-122"/>
                <a:ea typeface="微软雅黑" panose="020B0503020204020204" pitchFamily="34" charset="-122"/>
              </a:rPr>
              <a:t>小时，飞毛腿的速度大约为</a:t>
            </a:r>
            <a:r>
              <a:rPr lang="en-US" altLang="zh-CN" dirty="0">
                <a:latin typeface="微软雅黑" panose="020B0503020204020204" pitchFamily="34" charset="-122"/>
                <a:ea typeface="微软雅黑" panose="020B0503020204020204" pitchFamily="34" charset="-122"/>
              </a:rPr>
              <a:t>2000</a:t>
            </a:r>
            <a:r>
              <a:rPr lang="zh-CN" altLang="en-US" dirty="0">
                <a:latin typeface="微软雅黑" panose="020B0503020204020204" pitchFamily="34" charset="-122"/>
                <a:ea typeface="微软雅黑" panose="020B0503020204020204" pitchFamily="34" charset="-122"/>
              </a:rPr>
              <a:t>米</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秒，则由于时钟计算误差而导致的距离误差是多少？</a:t>
            </a:r>
            <a:r>
              <a:rPr lang="zh-CN" altLang="en-US" dirty="0"/>
              <a:t> </a:t>
            </a:r>
            <a:endParaRPr lang="zh-CN" altLang="en-US" dirty="0">
              <a:latin typeface="微软雅黑" panose="020B0503020204020204" pitchFamily="34" charset="-122"/>
              <a:ea typeface="微软雅黑" panose="020B0503020204020204" pitchFamily="34" charset="-122"/>
            </a:endParaRPr>
          </a:p>
          <a:p>
            <a:pPr>
              <a:lnSpc>
                <a:spcPct val="125000"/>
              </a:lnSpc>
              <a:spcBef>
                <a:spcPct val="45000"/>
              </a:spcBef>
              <a:buFontTx/>
              <a:buNone/>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100</a:t>
            </a:r>
            <a:r>
              <a:rPr lang="zh-CN" altLang="en-US" dirty="0">
                <a:latin typeface="微软雅黑" panose="020B0503020204020204" pitchFamily="34" charset="-122"/>
                <a:ea typeface="微软雅黑" panose="020B0503020204020204" pitchFamily="34" charset="-122"/>
              </a:rPr>
              <a:t>小时相当于计数了</a:t>
            </a:r>
            <a:r>
              <a:rPr lang="en-US" altLang="zh-CN" dirty="0">
                <a:latin typeface="微软雅黑" panose="020B0503020204020204" pitchFamily="34" charset="-122"/>
                <a:ea typeface="微软雅黑" panose="020B0503020204020204" pitchFamily="34" charset="-122"/>
              </a:rPr>
              <a:t>100×60×60×10=36×10</a:t>
            </a:r>
            <a:r>
              <a:rPr lang="en-US" altLang="zh-CN" baseline="30000"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次，因而导弹的时钟已经偏差了</a:t>
            </a:r>
            <a:r>
              <a:rPr lang="en-US" altLang="zh-CN" dirty="0">
                <a:latin typeface="微软雅黑" panose="020B0503020204020204" pitchFamily="34" charset="-122"/>
                <a:ea typeface="微软雅黑" panose="020B0503020204020204" pitchFamily="34" charset="-122"/>
              </a:rPr>
              <a:t>9.54×10</a:t>
            </a:r>
            <a:r>
              <a:rPr lang="en-US" altLang="zh-CN" baseline="30000" dirty="0">
                <a:latin typeface="微软雅黑" panose="020B0503020204020204" pitchFamily="34" charset="-122"/>
                <a:ea typeface="微软雅黑" panose="020B0503020204020204" pitchFamily="34" charset="-122"/>
              </a:rPr>
              <a:t>-8</a:t>
            </a:r>
            <a:r>
              <a:rPr lang="en-US" altLang="zh-CN" dirty="0">
                <a:latin typeface="微软雅黑" panose="020B0503020204020204" pitchFamily="34" charset="-122"/>
                <a:ea typeface="微软雅黑" panose="020B0503020204020204" pitchFamily="34" charset="-122"/>
              </a:rPr>
              <a:t>×36×10</a:t>
            </a:r>
            <a:r>
              <a:rPr lang="en-US" altLang="zh-CN" baseline="30000" dirty="0">
                <a:latin typeface="微软雅黑" panose="020B0503020204020204" pitchFamily="34" charset="-122"/>
                <a:ea typeface="微软雅黑" panose="020B0503020204020204" pitchFamily="34" charset="-122"/>
              </a:rPr>
              <a:t>5 </a:t>
            </a:r>
            <a:r>
              <a:rPr lang="en-US" altLang="zh-CN" dirty="0">
                <a:latin typeface="微软雅黑" panose="020B0503020204020204" pitchFamily="34" charset="-122"/>
                <a:ea typeface="微软雅黑" panose="020B0503020204020204" pitchFamily="34" charset="-122"/>
                <a:sym typeface="Symbol" panose="05050102010706020507" pitchFamily="18" charset="2"/>
              </a:rPr>
              <a:t> </a:t>
            </a:r>
            <a:r>
              <a:rPr lang="en-US" altLang="zh-CN" dirty="0">
                <a:latin typeface="微软雅黑" panose="020B0503020204020204" pitchFamily="34" charset="-122"/>
                <a:ea typeface="微软雅黑" panose="020B0503020204020204" pitchFamily="34" charset="-122"/>
              </a:rPr>
              <a:t>0.343</a:t>
            </a:r>
            <a:r>
              <a:rPr lang="zh-CN" altLang="en-US" dirty="0">
                <a:latin typeface="微软雅黑" panose="020B0503020204020204" pitchFamily="34" charset="-122"/>
                <a:ea typeface="微软雅黑" panose="020B0503020204020204" pitchFamily="34" charset="-122"/>
                <a:sym typeface="Symbol" panose="05050102010706020507" pitchFamily="18" charset="2"/>
              </a:rPr>
              <a:t>秒</a:t>
            </a:r>
            <a:r>
              <a:rPr lang="zh-CN" altLang="en-US" dirty="0">
                <a:sym typeface="Symbol" panose="05050102010706020507" pitchFamily="18" charset="2"/>
              </a:rPr>
              <a:t> </a:t>
            </a:r>
            <a:endParaRPr lang="zh-CN" altLang="en-US" dirty="0">
              <a:sym typeface="Symbol" panose="05050102010706020507" pitchFamily="18" charset="2"/>
            </a:endParaRPr>
          </a:p>
          <a:p>
            <a:pPr>
              <a:lnSpc>
                <a:spcPct val="125000"/>
              </a:lnSpc>
              <a:spcBef>
                <a:spcPct val="45000"/>
              </a:spcBef>
              <a:buFontTx/>
              <a:buNone/>
            </a:pPr>
            <a:r>
              <a:rPr lang="zh-CN" altLang="en-US" dirty="0">
                <a:latin typeface="微软雅黑" panose="020B0503020204020204" pitchFamily="34" charset="-122"/>
                <a:ea typeface="微软雅黑" panose="020B0503020204020204" pitchFamily="34" charset="-122"/>
              </a:rPr>
              <a:t>    因此，距离误差是</a:t>
            </a:r>
            <a:r>
              <a:rPr lang="en-US" altLang="zh-CN" dirty="0">
                <a:latin typeface="微软雅黑" panose="020B0503020204020204" pitchFamily="34" charset="-122"/>
                <a:ea typeface="微软雅黑" panose="020B0503020204020204" pitchFamily="34" charset="-122"/>
              </a:rPr>
              <a:t>2000×0.343</a:t>
            </a:r>
            <a:r>
              <a:rPr lang="zh-CN" altLang="en-US" dirty="0">
                <a:latin typeface="微软雅黑" panose="020B0503020204020204" pitchFamily="34" charset="-122"/>
                <a:ea typeface="微软雅黑" panose="020B0503020204020204" pitchFamily="34" charset="-122"/>
                <a:sym typeface="Symbol" panose="05050102010706020507" pitchFamily="18" charset="2"/>
              </a:rPr>
              <a:t>秒</a:t>
            </a:r>
            <a:r>
              <a:rPr lang="zh-CN" altLang="en-US" dirty="0">
                <a:sym typeface="Symbol" panose="05050102010706020507" pitchFamily="18" charset="2"/>
              </a:rPr>
              <a:t> </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zh-CN" altLang="en-US" dirty="0">
                <a:sym typeface="Symbol" panose="05050102010706020507" pitchFamily="18" charset="2"/>
              </a:rPr>
              <a:t> </a:t>
            </a:r>
            <a:r>
              <a:rPr lang="en-US" altLang="zh-CN" dirty="0">
                <a:latin typeface="微软雅黑" panose="020B0503020204020204" pitchFamily="34" charset="-122"/>
                <a:ea typeface="微软雅黑" panose="020B0503020204020204" pitchFamily="34" charset="-122"/>
              </a:rPr>
              <a:t>687</a:t>
            </a:r>
            <a:r>
              <a:rPr lang="zh-CN" altLang="en-US" dirty="0">
                <a:latin typeface="微软雅黑" panose="020B0503020204020204" pitchFamily="34" charset="-122"/>
                <a:ea typeface="微软雅黑" panose="020B0503020204020204" pitchFamily="34" charset="-122"/>
              </a:rPr>
              <a:t>米</a:t>
            </a:r>
            <a:endParaRPr lang="zh-CN" altLang="en-US" dirty="0">
              <a:latin typeface="微软雅黑" panose="020B0503020204020204" pitchFamily="34" charset="-122"/>
              <a:ea typeface="微软雅黑" panose="020B0503020204020204" pitchFamily="34" charset="-122"/>
            </a:endParaRPr>
          </a:p>
          <a:p>
            <a:pPr>
              <a:spcBef>
                <a:spcPct val="25000"/>
              </a:spcBef>
            </a:pPr>
            <a:endParaRPr lang="zh-CN" altLang="en-US" dirty="0">
              <a:latin typeface="微软雅黑" panose="020B0503020204020204" pitchFamily="34" charset="-122"/>
              <a:ea typeface="微软雅黑" panose="020B0503020204020204" pitchFamily="34" charset="-122"/>
            </a:endParaRPr>
          </a:p>
        </p:txBody>
      </p:sp>
      <p:sp>
        <p:nvSpPr>
          <p:cNvPr id="758788" name="Rectangle 4"/>
          <p:cNvSpPr/>
          <p:nvPr/>
        </p:nvSpPr>
        <p:spPr>
          <a:xfrm>
            <a:off x="296863" y="4473575"/>
            <a:ext cx="8596312" cy="1806575"/>
          </a:xfrm>
          <a:prstGeom prst="rect">
            <a:avLst/>
          </a:prstGeom>
          <a:noFill/>
          <a:ln w="9525">
            <a:noFill/>
          </a:ln>
        </p:spPr>
        <p:txBody>
          <a:bodyPr anchor="ctr" anchorCtr="0">
            <a:spAutoFit/>
          </a:bodyPr>
          <a:p>
            <a:pPr eaLnBrk="0" hangingPunct="0">
              <a:lnSpc>
                <a:spcPct val="125000"/>
              </a:lnSpc>
              <a:buClrTx/>
              <a:buFontTx/>
            </a:pPr>
            <a:r>
              <a:rPr lang="zh-CN" altLang="en-US" sz="1800" dirty="0">
                <a:solidFill>
                  <a:srgbClr val="FF0000"/>
                </a:solidFill>
                <a:latin typeface="微软雅黑" panose="020B0503020204020204" pitchFamily="34" charset="-122"/>
                <a:ea typeface="微软雅黑" panose="020B0503020204020204" pitchFamily="34" charset="-122"/>
              </a:rPr>
              <a:t>小故事：</a:t>
            </a:r>
            <a:r>
              <a:rPr lang="zh-CN" altLang="en-US" sz="1800" dirty="0">
                <a:latin typeface="微软雅黑" panose="020B0503020204020204" pitchFamily="34" charset="-122"/>
                <a:ea typeface="微软雅黑" panose="020B0503020204020204" pitchFamily="34" charset="-122"/>
              </a:rPr>
              <a:t>实际上，以色列方面已经发现了这个问题并于</a:t>
            </a:r>
            <a:r>
              <a:rPr lang="en-US" altLang="zh-CN" sz="1800" dirty="0">
                <a:latin typeface="微软雅黑" panose="020B0503020204020204" pitchFamily="34" charset="-122"/>
                <a:ea typeface="微软雅黑" panose="020B0503020204020204" pitchFamily="34" charset="-122"/>
              </a:rPr>
              <a:t>1991</a:t>
            </a:r>
            <a:r>
              <a:rPr lang="zh-CN" altLang="en-US" sz="1800" dirty="0">
                <a:latin typeface="微软雅黑" panose="020B0503020204020204" pitchFamily="34" charset="-122"/>
                <a:ea typeface="微软雅黑" panose="020B0503020204020204" pitchFamily="34" charset="-122"/>
              </a:rPr>
              <a:t>年</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月</a:t>
            </a:r>
            <a:r>
              <a:rPr lang="en-US" altLang="zh-CN" sz="1800" dirty="0">
                <a:latin typeface="微软雅黑" panose="020B0503020204020204" pitchFamily="34" charset="-122"/>
                <a:ea typeface="微软雅黑" panose="020B0503020204020204" pitchFamily="34" charset="-122"/>
              </a:rPr>
              <a:t>11</a:t>
            </a:r>
            <a:r>
              <a:rPr lang="zh-CN" altLang="en-US" sz="1800" dirty="0">
                <a:latin typeface="微软雅黑" panose="020B0503020204020204" pitchFamily="34" charset="-122"/>
                <a:ea typeface="微软雅黑" panose="020B0503020204020204" pitchFamily="34" charset="-122"/>
              </a:rPr>
              <a:t>日知会了美国陆军及爱国者计划办公室（软件制造商）。</a:t>
            </a:r>
            <a:r>
              <a:rPr lang="zh-CN" altLang="en-US" sz="1800" dirty="0">
                <a:solidFill>
                  <a:srgbClr val="0033CC"/>
                </a:solidFill>
                <a:latin typeface="微软雅黑" panose="020B0503020204020204" pitchFamily="34" charset="-122"/>
                <a:ea typeface="微软雅黑" panose="020B0503020204020204" pitchFamily="34" charset="-122"/>
              </a:rPr>
              <a:t>以色列方面建议重新启动爱国者系统的电脑作为暂时解决方案，可是美国陆军方面却不知道每次需要间隔多少时间重新启动系统一次。</a:t>
            </a:r>
            <a:r>
              <a:rPr lang="en-US" altLang="zh-CN" sz="1800" dirty="0">
                <a:latin typeface="微软雅黑" panose="020B0503020204020204" pitchFamily="34" charset="-122"/>
                <a:ea typeface="微软雅黑" panose="020B0503020204020204" pitchFamily="34" charset="-122"/>
              </a:rPr>
              <a:t>1991</a:t>
            </a:r>
            <a:r>
              <a:rPr lang="zh-CN" altLang="en-US" sz="1800" dirty="0">
                <a:latin typeface="微软雅黑" panose="020B0503020204020204" pitchFamily="34" charset="-122"/>
                <a:ea typeface="微软雅黑" panose="020B0503020204020204" pitchFamily="34" charset="-122"/>
              </a:rPr>
              <a:t>年</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月</a:t>
            </a:r>
            <a:r>
              <a:rPr lang="en-US" altLang="zh-CN" sz="1800" dirty="0">
                <a:latin typeface="微软雅黑" panose="020B0503020204020204" pitchFamily="34" charset="-122"/>
                <a:ea typeface="微软雅黑" panose="020B0503020204020204" pitchFamily="34" charset="-122"/>
              </a:rPr>
              <a:t>16</a:t>
            </a:r>
            <a:r>
              <a:rPr lang="zh-CN" altLang="en-US" sz="1800" dirty="0">
                <a:latin typeface="微软雅黑" panose="020B0503020204020204" pitchFamily="34" charset="-122"/>
                <a:ea typeface="微软雅黑" panose="020B0503020204020204" pitchFamily="34" charset="-122"/>
              </a:rPr>
              <a:t>日，制造商向美国陆军提供了更新软件，但这个软件最终却在飞毛腿导弹击中军营后的一天才运抵部队。 </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8787">
                                            <p:txEl>
                                              <p:charRg st="0" end="77"/>
                                            </p:txEl>
                                          </p:spTgt>
                                        </p:tgtEl>
                                        <p:attrNameLst>
                                          <p:attrName>style.visibility</p:attrName>
                                        </p:attrNameLst>
                                      </p:cBhvr>
                                      <p:to>
                                        <p:strVal val="visible"/>
                                      </p:to>
                                    </p:set>
                                    <p:animEffect transition="in" filter="blinds(horizontal)">
                                      <p:cBhvr>
                                        <p:cTn id="7" dur="500"/>
                                        <p:tgtEl>
                                          <p:spTgt spid="758787">
                                            <p:txEl>
                                              <p:charRg st="0" end="7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8787">
                                            <p:txEl>
                                              <p:charRg st="77" end="152"/>
                                            </p:txEl>
                                          </p:spTgt>
                                        </p:tgtEl>
                                        <p:attrNameLst>
                                          <p:attrName>style.visibility</p:attrName>
                                        </p:attrNameLst>
                                      </p:cBhvr>
                                      <p:to>
                                        <p:strVal val="visible"/>
                                      </p:to>
                                    </p:set>
                                    <p:animEffect transition="in" filter="blinds(horizontal)">
                                      <p:cBhvr>
                                        <p:cTn id="12" dur="500"/>
                                        <p:tgtEl>
                                          <p:spTgt spid="758787">
                                            <p:txEl>
                                              <p:charRg st="77" end="1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8787">
                                            <p:txEl>
                                              <p:charRg st="152" end="183"/>
                                            </p:txEl>
                                          </p:spTgt>
                                        </p:tgtEl>
                                        <p:attrNameLst>
                                          <p:attrName>style.visibility</p:attrName>
                                        </p:attrNameLst>
                                      </p:cBhvr>
                                      <p:to>
                                        <p:strVal val="visible"/>
                                      </p:to>
                                    </p:set>
                                    <p:animEffect transition="in" filter="blinds(horizontal)">
                                      <p:cBhvr>
                                        <p:cTn id="17" dur="500"/>
                                        <p:tgtEl>
                                          <p:spTgt spid="758787">
                                            <p:txEl>
                                              <p:charRg st="152" end="18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8788"/>
                                        </p:tgtEl>
                                        <p:attrNameLst>
                                          <p:attrName>style.visibility</p:attrName>
                                        </p:attrNameLst>
                                      </p:cBhvr>
                                      <p:to>
                                        <p:strVal val="visible"/>
                                      </p:to>
                                    </p:set>
                                    <p:animEffect transition="in" filter="blinds(horizontal)">
                                      <p:cBhvr>
                                        <p:cTn id="22" dur="500"/>
                                        <p:tgtEl>
                                          <p:spTgt spid="758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788"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Rectangle 2"/>
          <p:cNvSpPr>
            <a:spLocks noGrp="1"/>
          </p:cNvSpPr>
          <p:nvPr>
            <p:ph type="title"/>
          </p:nvPr>
        </p:nvSpPr>
        <p:spPr>
          <a:xfrm>
            <a:off x="457200" y="98425"/>
            <a:ext cx="8229600" cy="561975"/>
          </a:xfrm>
          <a:ln/>
        </p:spPr>
        <p:txBody>
          <a:bodyPr vert="horz" wrap="square" lIns="63500" tIns="25400" rIns="63500" bIns="25400" anchor="t" anchorCtr="0">
            <a:spAutoFit/>
          </a:bodyPr>
          <a:p>
            <a:r>
              <a:rPr lang="zh-CN" altLang="en-US" dirty="0">
                <a:ea typeface="宋体" panose="02010600030101010101" pitchFamily="2" charset="-122"/>
              </a:rPr>
              <a:t>举例：爱国者导弹定位错误</a:t>
            </a:r>
            <a:endParaRPr lang="zh-CN" altLang="en-US" dirty="0">
              <a:ea typeface="宋体" panose="02010600030101010101" pitchFamily="2" charset="-122"/>
            </a:endParaRPr>
          </a:p>
        </p:txBody>
      </p:sp>
      <p:sp>
        <p:nvSpPr>
          <p:cNvPr id="759811" name="Rectangle 3"/>
          <p:cNvSpPr>
            <a:spLocks noGrp="1"/>
          </p:cNvSpPr>
          <p:nvPr>
            <p:ph idx="1"/>
          </p:nvPr>
        </p:nvSpPr>
        <p:spPr>
          <a:xfrm>
            <a:off x="161925" y="819150"/>
            <a:ext cx="8731250" cy="5805488"/>
          </a:xfrm>
          <a:ln/>
        </p:spPr>
        <p:txBody>
          <a:bodyPr vert="horz" wrap="square" lIns="63500" tIns="25400" rIns="63500" bIns="25400" anchor="t" anchorCtr="0">
            <a:spAutoFit/>
          </a:bodyPr>
          <a:p>
            <a:pPr>
              <a:lnSpc>
                <a:spcPct val="125000"/>
              </a:lnSpc>
              <a:spcBef>
                <a:spcPct val="25000"/>
              </a:spcBef>
            </a:pPr>
            <a:r>
              <a:rPr lang="zh-CN" altLang="en-US" dirty="0">
                <a:latin typeface="微软雅黑" panose="020B0503020204020204" pitchFamily="34" charset="-122"/>
                <a:ea typeface="微软雅黑" panose="020B0503020204020204" pitchFamily="34" charset="-122"/>
              </a:rPr>
              <a:t>若</a:t>
            </a:r>
            <a:r>
              <a:rPr lang="en-US" altLang="zh-CN" dirty="0">
                <a:solidFill>
                  <a:srgbClr val="FF0000"/>
                </a:solidFill>
                <a:latin typeface="微软雅黑" panose="020B0503020204020204" pitchFamily="34" charset="-122"/>
                <a:ea typeface="微软雅黑" panose="020B0503020204020204" pitchFamily="34" charset="-122"/>
              </a:rPr>
              <a:t>x</a:t>
            </a:r>
            <a:r>
              <a:rPr lang="zh-CN" altLang="en-US" dirty="0">
                <a:solidFill>
                  <a:srgbClr val="FF0000"/>
                </a:solidFill>
                <a:latin typeface="微软雅黑" panose="020B0503020204020204" pitchFamily="34" charset="-122"/>
                <a:ea typeface="微软雅黑" panose="020B0503020204020204" pitchFamily="34" charset="-122"/>
              </a:rPr>
              <a:t>用</a:t>
            </a:r>
            <a:r>
              <a:rPr lang="en-US" altLang="zh-CN" dirty="0">
                <a:solidFill>
                  <a:srgbClr val="FF0000"/>
                </a:solidFill>
                <a:latin typeface="微软雅黑" panose="020B0503020204020204" pitchFamily="34" charset="-122"/>
                <a:ea typeface="微软雅黑" panose="020B0503020204020204" pitchFamily="34" charset="-122"/>
              </a:rPr>
              <a:t>float</a:t>
            </a:r>
            <a:r>
              <a:rPr lang="zh-CN" altLang="en-US" dirty="0">
                <a:solidFill>
                  <a:srgbClr val="FF0000"/>
                </a:solidFill>
                <a:latin typeface="微软雅黑" panose="020B0503020204020204" pitchFamily="34" charset="-122"/>
                <a:ea typeface="微软雅黑" panose="020B0503020204020204" pitchFamily="34" charset="-122"/>
              </a:rPr>
              <a:t>型表示</a:t>
            </a:r>
            <a:r>
              <a:rPr lang="zh-CN" altLang="en-US" dirty="0">
                <a:latin typeface="微软雅黑" panose="020B0503020204020204" pitchFamily="34" charset="-122"/>
                <a:ea typeface="微软雅黑" panose="020B0503020204020204" pitchFamily="34" charset="-122"/>
              </a:rPr>
              <a:t>，则</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的机器数是什么？</a:t>
            </a:r>
            <a:r>
              <a:rPr lang="en-US" altLang="zh-CN" dirty="0">
                <a:latin typeface="微软雅黑" panose="020B0503020204020204" pitchFamily="34" charset="-122"/>
                <a:ea typeface="微软雅黑" panose="020B0503020204020204" pitchFamily="34" charset="-122"/>
              </a:rPr>
              <a:t>0.1</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的偏差是多少？系统运行</a:t>
            </a:r>
            <a:r>
              <a:rPr lang="en-US" altLang="zh-CN" dirty="0">
                <a:latin typeface="微软雅黑" panose="020B0503020204020204" pitchFamily="34" charset="-122"/>
                <a:ea typeface="微软雅黑" panose="020B0503020204020204" pitchFamily="34" charset="-122"/>
              </a:rPr>
              <a:t>100</a:t>
            </a:r>
            <a:r>
              <a:rPr lang="zh-CN" altLang="en-US" dirty="0">
                <a:latin typeface="微软雅黑" panose="020B0503020204020204" pitchFamily="34" charset="-122"/>
                <a:ea typeface="微软雅黑" panose="020B0503020204020204" pitchFamily="34" charset="-122"/>
              </a:rPr>
              <a:t>小时后的时钟偏差是多少？在飞毛腿速度为</a:t>
            </a:r>
            <a:r>
              <a:rPr lang="en-US" altLang="zh-CN" dirty="0">
                <a:latin typeface="微软雅黑" panose="020B0503020204020204" pitchFamily="34" charset="-122"/>
                <a:ea typeface="微软雅黑" panose="020B0503020204020204" pitchFamily="34" charset="-122"/>
              </a:rPr>
              <a:t>2000</a:t>
            </a:r>
            <a:r>
              <a:rPr lang="zh-CN" altLang="en-US" dirty="0">
                <a:latin typeface="微软雅黑" panose="020B0503020204020204" pitchFamily="34" charset="-122"/>
                <a:ea typeface="微软雅黑" panose="020B0503020204020204" pitchFamily="34" charset="-122"/>
              </a:rPr>
              <a:t>米</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秒的情况下，预测的距离偏差为多少？</a:t>
            </a:r>
            <a:endParaRPr lang="zh-CN" altLang="en-US" dirty="0">
              <a:latin typeface="微软雅黑" panose="020B0503020204020204" pitchFamily="34" charset="-122"/>
              <a:ea typeface="微软雅黑" panose="020B0503020204020204" pitchFamily="34" charset="-122"/>
            </a:endParaRPr>
          </a:p>
          <a:p>
            <a:pPr lvl="1">
              <a:lnSpc>
                <a:spcPct val="125000"/>
              </a:lnSpc>
              <a:spcBef>
                <a:spcPct val="25000"/>
              </a:spcBef>
            </a:pPr>
            <a:r>
              <a:rPr lang="en-US" altLang="zh-CN" sz="2200" dirty="0">
                <a:latin typeface="微软雅黑" panose="020B0503020204020204" pitchFamily="34" charset="-122"/>
                <a:ea typeface="微软雅黑" panose="020B0503020204020204" pitchFamily="34" charset="-122"/>
              </a:rPr>
              <a:t>0.1= 0.0 0011[0011]B=+1.1 0011 0011 0011 0011 0011 00B×2</a:t>
            </a:r>
            <a:r>
              <a:rPr lang="en-US" altLang="zh-CN" sz="2200" baseline="30000" dirty="0">
                <a:latin typeface="微软雅黑" panose="020B0503020204020204" pitchFamily="34" charset="-122"/>
                <a:ea typeface="微软雅黑" panose="020B0503020204020204" pitchFamily="34" charset="-122"/>
              </a:rPr>
              <a:t>-4</a:t>
            </a:r>
            <a:r>
              <a:rPr lang="zh-CN" altLang="en-US" sz="2200" dirty="0">
                <a:latin typeface="微软雅黑" panose="020B0503020204020204" pitchFamily="34" charset="-122"/>
                <a:ea typeface="微软雅黑" panose="020B0503020204020204" pitchFamily="34" charset="-122"/>
              </a:rPr>
              <a:t>，故</a:t>
            </a:r>
            <a:r>
              <a:rPr lang="en-US" altLang="zh-CN" sz="2200" dirty="0">
                <a:latin typeface="微软雅黑" panose="020B0503020204020204" pitchFamily="34" charset="-122"/>
                <a:ea typeface="微软雅黑" panose="020B0503020204020204" pitchFamily="34" charset="-122"/>
              </a:rPr>
              <a:t>x</a:t>
            </a:r>
            <a:r>
              <a:rPr lang="zh-CN" altLang="en-US" sz="2200" dirty="0">
                <a:latin typeface="微软雅黑" panose="020B0503020204020204" pitchFamily="34" charset="-122"/>
                <a:ea typeface="微软雅黑" panose="020B0503020204020204" pitchFamily="34" charset="-122"/>
              </a:rPr>
              <a:t>的机器数为</a:t>
            </a:r>
            <a:r>
              <a:rPr lang="en-US" altLang="zh-CN" sz="2200" dirty="0">
                <a:solidFill>
                  <a:schemeClr val="tx1"/>
                </a:solidFill>
                <a:latin typeface="微软雅黑" panose="020B0503020204020204" pitchFamily="34" charset="-122"/>
                <a:ea typeface="微软雅黑" panose="020B0503020204020204" pitchFamily="34" charset="-122"/>
              </a:rPr>
              <a:t>0</a:t>
            </a:r>
            <a:r>
              <a:rPr lang="en-US" altLang="zh-CN" sz="2200" dirty="0">
                <a:latin typeface="微软雅黑" panose="020B0503020204020204" pitchFamily="34" charset="-122"/>
                <a:ea typeface="微软雅黑" panose="020B0503020204020204" pitchFamily="34" charset="-122"/>
              </a:rPr>
              <a:t> </a:t>
            </a:r>
            <a:r>
              <a:rPr lang="en-US" altLang="zh-CN" sz="2200" dirty="0">
                <a:solidFill>
                  <a:srgbClr val="008000"/>
                </a:solidFill>
                <a:latin typeface="微软雅黑" panose="020B0503020204020204" pitchFamily="34" charset="-122"/>
                <a:ea typeface="微软雅黑" panose="020B0503020204020204" pitchFamily="34" charset="-122"/>
              </a:rPr>
              <a:t>011 1101 1</a:t>
            </a:r>
            <a:r>
              <a:rPr lang="en-US" altLang="zh-CN" sz="2200" dirty="0">
                <a:latin typeface="微软雅黑" panose="020B0503020204020204" pitchFamily="34" charset="-122"/>
                <a:ea typeface="微软雅黑" panose="020B0503020204020204" pitchFamily="34" charset="-122"/>
              </a:rPr>
              <a:t> </a:t>
            </a:r>
            <a:r>
              <a:rPr lang="en-US" altLang="zh-CN" sz="2200" dirty="0">
                <a:solidFill>
                  <a:srgbClr val="FF0000"/>
                </a:solidFill>
                <a:latin typeface="微软雅黑" panose="020B0503020204020204" pitchFamily="34" charset="-122"/>
                <a:ea typeface="微软雅黑" panose="020B0503020204020204" pitchFamily="34" charset="-122"/>
              </a:rPr>
              <a:t>100 1100 1100 1100 1100 1100</a:t>
            </a:r>
            <a:endParaRPr lang="en-US" altLang="zh-CN" sz="2200" dirty="0">
              <a:solidFill>
                <a:srgbClr val="FF0000"/>
              </a:solidFill>
              <a:latin typeface="微软雅黑" panose="020B0503020204020204" pitchFamily="34" charset="-122"/>
              <a:ea typeface="微软雅黑" panose="020B0503020204020204" pitchFamily="34" charset="-122"/>
            </a:endParaRPr>
          </a:p>
          <a:p>
            <a:pPr lvl="1">
              <a:lnSpc>
                <a:spcPct val="125000"/>
              </a:lnSpc>
              <a:spcBef>
                <a:spcPct val="25000"/>
              </a:spcBef>
            </a:pPr>
            <a:r>
              <a:rPr lang="en-US" altLang="zh-CN" sz="2200" dirty="0">
                <a:latin typeface="微软雅黑" panose="020B0503020204020204" pitchFamily="34" charset="-122"/>
                <a:ea typeface="微软雅黑" panose="020B0503020204020204" pitchFamily="34" charset="-122"/>
              </a:rPr>
              <a:t>Float</a:t>
            </a:r>
            <a:r>
              <a:rPr lang="zh-CN" altLang="en-US" sz="2200" dirty="0">
                <a:latin typeface="微软雅黑" panose="020B0503020204020204" pitchFamily="34" charset="-122"/>
                <a:ea typeface="微软雅黑" panose="020B0503020204020204" pitchFamily="34" charset="-122"/>
              </a:rPr>
              <a:t>型仅</a:t>
            </a:r>
            <a:r>
              <a:rPr lang="en-US" altLang="zh-CN" sz="2200" dirty="0">
                <a:latin typeface="微软雅黑" panose="020B0503020204020204" pitchFamily="34" charset="-122"/>
                <a:ea typeface="微软雅黑" panose="020B0503020204020204" pitchFamily="34" charset="-122"/>
              </a:rPr>
              <a:t>24</a:t>
            </a:r>
            <a:r>
              <a:rPr lang="zh-CN" altLang="en-US" sz="2200" dirty="0">
                <a:latin typeface="微软雅黑" panose="020B0503020204020204" pitchFamily="34" charset="-122"/>
                <a:ea typeface="微软雅黑" panose="020B0503020204020204" pitchFamily="34" charset="-122"/>
              </a:rPr>
              <a:t>位有效位数，后面的有效位全被截断，故</a:t>
            </a:r>
            <a:r>
              <a:rPr lang="en-US" altLang="zh-CN" sz="2200" dirty="0">
                <a:latin typeface="微软雅黑" panose="020B0503020204020204" pitchFamily="34" charset="-122"/>
                <a:ea typeface="微软雅黑" panose="020B0503020204020204" pitchFamily="34" charset="-122"/>
              </a:rPr>
              <a:t>x</a:t>
            </a:r>
            <a:r>
              <a:rPr lang="zh-CN" altLang="en-US" sz="2200" dirty="0">
                <a:latin typeface="微软雅黑" panose="020B0503020204020204" pitchFamily="34" charset="-122"/>
                <a:ea typeface="微软雅黑" panose="020B0503020204020204" pitchFamily="34" charset="-122"/>
              </a:rPr>
              <a:t>与</a:t>
            </a:r>
            <a:r>
              <a:rPr lang="en-US" altLang="zh-CN" sz="2200" dirty="0">
                <a:latin typeface="微软雅黑" panose="020B0503020204020204" pitchFamily="34" charset="-122"/>
                <a:ea typeface="微软雅黑" panose="020B0503020204020204" pitchFamily="34" charset="-122"/>
              </a:rPr>
              <a:t>0.1</a:t>
            </a:r>
            <a:r>
              <a:rPr lang="zh-CN" altLang="en-US" sz="2200" dirty="0">
                <a:latin typeface="微软雅黑" panose="020B0503020204020204" pitchFamily="34" charset="-122"/>
                <a:ea typeface="微软雅黑" panose="020B0503020204020204" pitchFamily="34" charset="-122"/>
              </a:rPr>
              <a:t>之间的误差为：</a:t>
            </a:r>
            <a:r>
              <a:rPr lang="en-US" altLang="zh-CN" sz="2200" dirty="0">
                <a:latin typeface="微软雅黑" panose="020B0503020204020204" pitchFamily="34" charset="-122"/>
                <a:ea typeface="微软雅黑" panose="020B0503020204020204" pitchFamily="34" charset="-122"/>
              </a:rPr>
              <a:t>|x–0.1|=0.</a:t>
            </a:r>
            <a:r>
              <a:rPr lang="en-US" altLang="zh-CN" sz="2200" dirty="0">
                <a:solidFill>
                  <a:srgbClr val="CC3300"/>
                </a:solidFill>
                <a:latin typeface="微软雅黑" panose="020B0503020204020204" pitchFamily="34" charset="-122"/>
                <a:ea typeface="微软雅黑" panose="020B0503020204020204" pitchFamily="34" charset="-122"/>
              </a:rPr>
              <a:t>000 0000 0000 0000 0000 0000 0000 </a:t>
            </a:r>
            <a:r>
              <a:rPr lang="en-US" altLang="zh-CN" sz="2200" dirty="0">
                <a:latin typeface="微软雅黑" panose="020B0503020204020204" pitchFamily="34" charset="-122"/>
                <a:ea typeface="微软雅黑" panose="020B0503020204020204" pitchFamily="34" charset="-122"/>
              </a:rPr>
              <a:t>1100 [1100]…B</a:t>
            </a:r>
            <a:r>
              <a:rPr lang="zh-CN" altLang="en-US" sz="2200" dirty="0">
                <a:latin typeface="微软雅黑" panose="020B0503020204020204" pitchFamily="34" charset="-122"/>
                <a:ea typeface="微软雅黑" panose="020B0503020204020204" pitchFamily="34" charset="-122"/>
              </a:rPr>
              <a:t>。这个值等于</a:t>
            </a:r>
            <a:r>
              <a:rPr lang="en-US" altLang="zh-CN" sz="2200" dirty="0">
                <a:latin typeface="微软雅黑" panose="020B0503020204020204" pitchFamily="34" charset="-122"/>
                <a:ea typeface="微软雅黑" panose="020B0503020204020204" pitchFamily="34" charset="-122"/>
              </a:rPr>
              <a:t>2</a:t>
            </a:r>
            <a:r>
              <a:rPr lang="en-US" altLang="zh-CN" sz="2200" baseline="30000" dirty="0">
                <a:latin typeface="微软雅黑" panose="020B0503020204020204" pitchFamily="34" charset="-122"/>
                <a:ea typeface="微软雅黑" panose="020B0503020204020204" pitchFamily="34" charset="-122"/>
              </a:rPr>
              <a:t>-24</a:t>
            </a:r>
            <a:r>
              <a:rPr lang="en-US" altLang="zh-CN" sz="2200" dirty="0">
                <a:latin typeface="微软雅黑" panose="020B0503020204020204" pitchFamily="34" charset="-122"/>
                <a:ea typeface="微软雅黑" panose="020B0503020204020204" pitchFamily="34" charset="-122"/>
              </a:rPr>
              <a:t>×0.1 </a:t>
            </a:r>
            <a:r>
              <a:rPr lang="en-US" altLang="zh-CN" sz="22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200" dirty="0">
                <a:latin typeface="微软雅黑" panose="020B0503020204020204" pitchFamily="34" charset="-122"/>
                <a:ea typeface="微软雅黑" panose="020B0503020204020204" pitchFamily="34" charset="-122"/>
              </a:rPr>
              <a:t> 5.96×10</a:t>
            </a:r>
            <a:r>
              <a:rPr lang="en-US" altLang="zh-CN" sz="2200" baseline="30000" dirty="0">
                <a:latin typeface="微软雅黑" panose="020B0503020204020204" pitchFamily="34" charset="-122"/>
                <a:ea typeface="微软雅黑" panose="020B0503020204020204" pitchFamily="34" charset="-122"/>
              </a:rPr>
              <a:t>-9</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100</a:t>
            </a:r>
            <a:r>
              <a:rPr lang="zh-CN" altLang="en-US" sz="2200" dirty="0">
                <a:latin typeface="微软雅黑" panose="020B0503020204020204" pitchFamily="34" charset="-122"/>
                <a:ea typeface="微软雅黑" panose="020B0503020204020204" pitchFamily="34" charset="-122"/>
              </a:rPr>
              <a:t>小时后时钟偏差</a:t>
            </a:r>
            <a:r>
              <a:rPr lang="en-US" altLang="zh-CN" sz="2200" dirty="0">
                <a:latin typeface="微软雅黑" panose="020B0503020204020204" pitchFamily="34" charset="-122"/>
                <a:ea typeface="微软雅黑" panose="020B0503020204020204" pitchFamily="34" charset="-122"/>
              </a:rPr>
              <a:t>5.96×10</a:t>
            </a:r>
            <a:r>
              <a:rPr lang="en-US" altLang="zh-CN" sz="2200" baseline="30000" dirty="0">
                <a:latin typeface="微软雅黑" panose="020B0503020204020204" pitchFamily="34" charset="-122"/>
                <a:ea typeface="微软雅黑" panose="020B0503020204020204" pitchFamily="34" charset="-122"/>
              </a:rPr>
              <a:t>-9</a:t>
            </a:r>
            <a:r>
              <a:rPr lang="en-US" altLang="zh-CN" sz="2200" dirty="0">
                <a:latin typeface="微软雅黑" panose="020B0503020204020204" pitchFamily="34" charset="-122"/>
                <a:ea typeface="微软雅黑" panose="020B0503020204020204" pitchFamily="34" charset="-122"/>
              </a:rPr>
              <a:t>×36×10</a:t>
            </a:r>
            <a:r>
              <a:rPr lang="en-US" altLang="zh-CN" sz="2200" baseline="30000" dirty="0">
                <a:latin typeface="微软雅黑" panose="020B0503020204020204" pitchFamily="34" charset="-122"/>
                <a:ea typeface="微软雅黑" panose="020B0503020204020204" pitchFamily="34" charset="-122"/>
              </a:rPr>
              <a:t>5 </a:t>
            </a:r>
            <a:r>
              <a:rPr lang="en-US" altLang="zh-CN" sz="22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200" dirty="0">
                <a:latin typeface="微软雅黑" panose="020B0503020204020204" pitchFamily="34" charset="-122"/>
                <a:ea typeface="微软雅黑" panose="020B0503020204020204" pitchFamily="34" charset="-122"/>
              </a:rPr>
              <a:t>0.0215</a:t>
            </a:r>
            <a:r>
              <a:rPr lang="zh-CN" altLang="en-US" sz="2200" dirty="0">
                <a:latin typeface="微软雅黑" panose="020B0503020204020204" pitchFamily="34" charset="-122"/>
                <a:ea typeface="微软雅黑" panose="020B0503020204020204" pitchFamily="34" charset="-122"/>
              </a:rPr>
              <a:t>秒。距离偏差</a:t>
            </a:r>
            <a:r>
              <a:rPr lang="en-US" altLang="zh-CN" sz="2200" dirty="0">
                <a:latin typeface="微软雅黑" panose="020B0503020204020204" pitchFamily="34" charset="-122"/>
                <a:ea typeface="微软雅黑" panose="020B0503020204020204" pitchFamily="34" charset="-122"/>
              </a:rPr>
              <a:t>0.0215×2000</a:t>
            </a:r>
            <a:r>
              <a:rPr lang="en-US" altLang="zh-CN" sz="22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200" dirty="0">
                <a:latin typeface="微软雅黑" panose="020B0503020204020204" pitchFamily="34" charset="-122"/>
                <a:ea typeface="微软雅黑" panose="020B0503020204020204" pitchFamily="34" charset="-122"/>
              </a:rPr>
              <a:t>43</a:t>
            </a:r>
            <a:r>
              <a:rPr lang="zh-CN" altLang="en-US" sz="2200" dirty="0">
                <a:latin typeface="微软雅黑" panose="020B0503020204020204" pitchFamily="34" charset="-122"/>
                <a:ea typeface="微软雅黑" panose="020B0503020204020204" pitchFamily="34" charset="-122"/>
              </a:rPr>
              <a:t>米。比爱国者导弹系统精确约</a:t>
            </a:r>
            <a:r>
              <a:rPr lang="en-US" altLang="zh-CN" sz="2200" dirty="0">
                <a:latin typeface="微软雅黑" panose="020B0503020204020204" pitchFamily="34" charset="-122"/>
                <a:ea typeface="微软雅黑" panose="020B0503020204020204" pitchFamily="34" charset="-122"/>
              </a:rPr>
              <a:t>16</a:t>
            </a:r>
            <a:r>
              <a:rPr lang="zh-CN" altLang="en-US" sz="2200" dirty="0">
                <a:latin typeface="微软雅黑" panose="020B0503020204020204" pitchFamily="34" charset="-122"/>
                <a:ea typeface="微软雅黑" panose="020B0503020204020204" pitchFamily="34" charset="-122"/>
              </a:rPr>
              <a:t>倍。</a:t>
            </a:r>
            <a:r>
              <a:rPr lang="zh-CN" altLang="en-US"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9811">
                                            <p:txEl>
                                              <p:charRg st="0" end="84"/>
                                            </p:txEl>
                                          </p:spTgt>
                                        </p:tgtEl>
                                        <p:attrNameLst>
                                          <p:attrName>style.visibility</p:attrName>
                                        </p:attrNameLst>
                                      </p:cBhvr>
                                      <p:to>
                                        <p:strVal val="visible"/>
                                      </p:to>
                                    </p:set>
                                    <p:animEffect transition="in" filter="blinds(horizontal)">
                                      <p:cBhvr>
                                        <p:cTn id="7" dur="500"/>
                                        <p:tgtEl>
                                          <p:spTgt spid="759811">
                                            <p:txEl>
                                              <p:charRg st="0" end="8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9811">
                                            <p:txEl>
                                              <p:charRg st="84" end="192"/>
                                            </p:txEl>
                                          </p:spTgt>
                                        </p:tgtEl>
                                        <p:attrNameLst>
                                          <p:attrName>style.visibility</p:attrName>
                                        </p:attrNameLst>
                                      </p:cBhvr>
                                      <p:to>
                                        <p:strVal val="visible"/>
                                      </p:to>
                                    </p:set>
                                    <p:animEffect transition="in" filter="blinds(horizontal)">
                                      <p:cBhvr>
                                        <p:cTn id="12" dur="500"/>
                                        <p:tgtEl>
                                          <p:spTgt spid="759811">
                                            <p:txEl>
                                              <p:charRg st="84" end="19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9811">
                                            <p:txEl>
                                              <p:charRg st="192" end="389"/>
                                            </p:txEl>
                                          </p:spTgt>
                                        </p:tgtEl>
                                        <p:attrNameLst>
                                          <p:attrName>style.visibility</p:attrName>
                                        </p:attrNameLst>
                                      </p:cBhvr>
                                      <p:to>
                                        <p:strVal val="visible"/>
                                      </p:to>
                                    </p:set>
                                    <p:animEffect transition="in" filter="blinds(horizontal)">
                                      <p:cBhvr>
                                        <p:cTn id="17" dur="500"/>
                                        <p:tgtEl>
                                          <p:spTgt spid="759811">
                                            <p:txEl>
                                              <p:charRg st="192" end="38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Rectangle 2"/>
          <p:cNvSpPr>
            <a:spLocks noGrp="1"/>
          </p:cNvSpPr>
          <p:nvPr>
            <p:ph type="title"/>
          </p:nvPr>
        </p:nvSpPr>
        <p:spPr>
          <a:xfrm>
            <a:off x="457200" y="98425"/>
            <a:ext cx="8229600" cy="561975"/>
          </a:xfrm>
          <a:ln/>
        </p:spPr>
        <p:txBody>
          <a:bodyPr vert="horz" wrap="square" lIns="63500" tIns="25400" rIns="63500" bIns="25400" anchor="t" anchorCtr="0">
            <a:spAutoFit/>
          </a:bodyPr>
          <a:p>
            <a:r>
              <a:rPr lang="zh-CN" altLang="en-US" dirty="0">
                <a:ea typeface="宋体" panose="02010600030101010101" pitchFamily="2" charset="-122"/>
              </a:rPr>
              <a:t>举例：爱国者导弹定位错误</a:t>
            </a:r>
            <a:endParaRPr lang="zh-CN" altLang="en-US" dirty="0">
              <a:ea typeface="宋体" panose="02010600030101010101" pitchFamily="2" charset="-122"/>
            </a:endParaRPr>
          </a:p>
        </p:txBody>
      </p:sp>
      <p:sp>
        <p:nvSpPr>
          <p:cNvPr id="761859" name="Rectangle 3"/>
          <p:cNvSpPr>
            <a:spLocks noGrp="1"/>
          </p:cNvSpPr>
          <p:nvPr>
            <p:ph idx="1"/>
          </p:nvPr>
        </p:nvSpPr>
        <p:spPr>
          <a:xfrm>
            <a:off x="161925" y="819150"/>
            <a:ext cx="8731250" cy="5805488"/>
          </a:xfrm>
          <a:ln/>
        </p:spPr>
        <p:txBody>
          <a:bodyPr vert="horz" wrap="square" lIns="63500" tIns="25400" rIns="63500" bIns="25400" anchor="t" anchorCtr="0">
            <a:spAutoFit/>
          </a:bodyPr>
          <a:p>
            <a:pPr>
              <a:spcBef>
                <a:spcPct val="25000"/>
              </a:spcBef>
            </a:pPr>
            <a:endParaRPr lang="zh-CN" altLang="en-US" dirty="0">
              <a:latin typeface="微软雅黑" panose="020B0503020204020204" pitchFamily="34" charset="-122"/>
              <a:ea typeface="微软雅黑" panose="020B0503020204020204" pitchFamily="34" charset="-122"/>
            </a:endParaRPr>
          </a:p>
          <a:p>
            <a:pPr>
              <a:lnSpc>
                <a:spcPct val="125000"/>
              </a:lnSpc>
              <a:spcBef>
                <a:spcPct val="25000"/>
              </a:spcBef>
            </a:pPr>
            <a:r>
              <a:rPr lang="zh-CN" altLang="en-US" dirty="0">
                <a:latin typeface="微软雅黑" panose="020B0503020204020204" pitchFamily="34" charset="-122"/>
                <a:ea typeface="微软雅黑" panose="020B0503020204020204" pitchFamily="34" charset="-122"/>
              </a:rPr>
              <a:t>若</a:t>
            </a:r>
            <a:r>
              <a:rPr lang="zh-CN" altLang="en-US" dirty="0">
                <a:solidFill>
                  <a:srgbClr val="FF0000"/>
                </a:solidFill>
                <a:latin typeface="微软雅黑" panose="020B0503020204020204" pitchFamily="34" charset="-122"/>
                <a:ea typeface="微软雅黑" panose="020B0503020204020204" pitchFamily="34" charset="-122"/>
              </a:rPr>
              <a:t>用</a:t>
            </a:r>
            <a:r>
              <a:rPr lang="en-US" altLang="zh-CN" dirty="0">
                <a:solidFill>
                  <a:srgbClr val="FF0000"/>
                </a:solidFill>
                <a:latin typeface="微软雅黑" panose="020B0503020204020204" pitchFamily="34" charset="-122"/>
                <a:ea typeface="微软雅黑" panose="020B0503020204020204" pitchFamily="34" charset="-122"/>
              </a:rPr>
              <a:t>32</a:t>
            </a:r>
            <a:r>
              <a:rPr lang="zh-CN" altLang="en-US" dirty="0">
                <a:solidFill>
                  <a:srgbClr val="FF0000"/>
                </a:solidFill>
                <a:latin typeface="微软雅黑" panose="020B0503020204020204" pitchFamily="34" charset="-122"/>
                <a:ea typeface="微软雅黑" panose="020B0503020204020204" pitchFamily="34" charset="-122"/>
              </a:rPr>
              <a:t>位二进制定点小数</a:t>
            </a:r>
            <a:r>
              <a:rPr lang="en-US" altLang="zh-CN" dirty="0">
                <a:latin typeface="微软雅黑" panose="020B0503020204020204" pitchFamily="34" charset="-122"/>
                <a:ea typeface="微软雅黑" panose="020B0503020204020204" pitchFamily="34" charset="-122"/>
              </a:rPr>
              <a:t>x=0.000 1100 1100 1100 1100 1100 1100 1101 B</a:t>
            </a:r>
            <a:r>
              <a:rPr lang="zh-CN" altLang="en-US" dirty="0">
                <a:latin typeface="微软雅黑" panose="020B0503020204020204" pitchFamily="34" charset="-122"/>
                <a:ea typeface="微软雅黑" panose="020B0503020204020204" pitchFamily="34" charset="-122"/>
              </a:rPr>
              <a:t>表示</a:t>
            </a:r>
            <a:r>
              <a:rPr lang="en-US" altLang="zh-CN" dirty="0">
                <a:latin typeface="微软雅黑" panose="020B0503020204020204" pitchFamily="34" charset="-122"/>
                <a:ea typeface="微软雅黑" panose="020B0503020204020204" pitchFamily="34" charset="-122"/>
              </a:rPr>
              <a:t>0.1</a:t>
            </a:r>
            <a:r>
              <a:rPr lang="zh-CN" altLang="en-US" dirty="0">
                <a:latin typeface="微软雅黑" panose="020B0503020204020204" pitchFamily="34" charset="-122"/>
                <a:ea typeface="微软雅黑" panose="020B0503020204020204" pitchFamily="34" charset="-122"/>
              </a:rPr>
              <a:t>，则误差比用</a:t>
            </a:r>
            <a:r>
              <a:rPr lang="en-US" altLang="zh-CN" dirty="0">
                <a:latin typeface="微软雅黑" panose="020B0503020204020204" pitchFamily="34" charset="-122"/>
                <a:ea typeface="微软雅黑" panose="020B0503020204020204" pitchFamily="34" charset="-122"/>
              </a:rPr>
              <a:t>float</a:t>
            </a:r>
            <a:r>
              <a:rPr lang="zh-CN" altLang="en-US" dirty="0">
                <a:latin typeface="微软雅黑" panose="020B0503020204020204" pitchFamily="34" charset="-122"/>
                <a:ea typeface="微软雅黑" panose="020B0503020204020204" pitchFamily="34" charset="-122"/>
              </a:rPr>
              <a:t>表示误差更大还是更小？</a:t>
            </a:r>
            <a:endParaRPr lang="zh-CN" altLang="en-US" dirty="0">
              <a:latin typeface="微软雅黑" panose="020B0503020204020204" pitchFamily="34" charset="-122"/>
              <a:ea typeface="微软雅黑" panose="020B0503020204020204" pitchFamily="34" charset="-122"/>
            </a:endParaRPr>
          </a:p>
          <a:p>
            <a:pPr lvl="1">
              <a:lnSpc>
                <a:spcPct val="125000"/>
              </a:lnSpc>
              <a:spcBef>
                <a:spcPct val="25000"/>
              </a:spcBef>
            </a:pPr>
            <a:r>
              <a:rPr lang="zh-CN" altLang="en-US" sz="2400" dirty="0">
                <a:latin typeface="微软雅黑" panose="020B0503020204020204" pitchFamily="34" charset="-122"/>
                <a:ea typeface="微软雅黑" panose="020B0503020204020204" pitchFamily="34" charset="-122"/>
              </a:rPr>
              <a:t>当</a:t>
            </a:r>
            <a:r>
              <a:rPr lang="en-US" altLang="zh-CN" sz="2400" dirty="0">
                <a:latin typeface="微软雅黑" panose="020B0503020204020204" pitchFamily="34" charset="-122"/>
                <a:ea typeface="微软雅黑" panose="020B0503020204020204" pitchFamily="34" charset="-122"/>
              </a:rPr>
              <a:t>x=0.000 1100 1100 1100 1100 1100 1100 1101 B</a:t>
            </a:r>
            <a:r>
              <a:rPr lang="zh-CN" altLang="en-US" sz="2400" dirty="0">
                <a:latin typeface="微软雅黑" panose="020B0503020204020204" pitchFamily="34" charset="-122"/>
                <a:ea typeface="微软雅黑" panose="020B0503020204020204" pitchFamily="34" charset="-122"/>
              </a:rPr>
              <a:t>时，与</a:t>
            </a:r>
            <a:r>
              <a:rPr lang="en-US" altLang="zh-CN" sz="2400" dirty="0">
                <a:latin typeface="微软雅黑" panose="020B0503020204020204" pitchFamily="34" charset="-122"/>
                <a:ea typeface="微软雅黑" panose="020B0503020204020204" pitchFamily="34" charset="-122"/>
              </a:rPr>
              <a:t>0.1</a:t>
            </a:r>
            <a:r>
              <a:rPr lang="zh-CN" altLang="en-US" sz="2400" dirty="0">
                <a:latin typeface="微软雅黑" panose="020B0503020204020204" pitchFamily="34" charset="-122"/>
                <a:ea typeface="微软雅黑" panose="020B0503020204020204" pitchFamily="34" charset="-122"/>
              </a:rPr>
              <a:t>之间的误差约为：</a:t>
            </a:r>
            <a:r>
              <a:rPr lang="en-US" altLang="zh-CN" sz="2400" dirty="0">
                <a:latin typeface="微软雅黑" panose="020B0503020204020204" pitchFamily="34" charset="-122"/>
                <a:ea typeface="微软雅黑" panose="020B0503020204020204" pitchFamily="34" charset="-122"/>
              </a:rPr>
              <a:t>|x–0.1|=0.</a:t>
            </a:r>
            <a:r>
              <a:rPr lang="en-US" altLang="zh-CN" sz="2400" dirty="0">
                <a:solidFill>
                  <a:srgbClr val="CC3300"/>
                </a:solidFill>
                <a:latin typeface="微软雅黑" panose="020B0503020204020204" pitchFamily="34" charset="-122"/>
                <a:ea typeface="微软雅黑" panose="020B0503020204020204" pitchFamily="34" charset="-122"/>
              </a:rPr>
              <a:t>000 0000 0000 0000 0000 0000 0000 000</a:t>
            </a:r>
            <a:r>
              <a:rPr lang="en-US" altLang="zh-CN" sz="2400" dirty="0">
                <a:latin typeface="微软雅黑" panose="020B0503020204020204" pitchFamily="34" charset="-122"/>
                <a:ea typeface="微软雅黑" panose="020B0503020204020204" pitchFamily="34" charset="-122"/>
              </a:rPr>
              <a:t>0 00 1100 [1100]…B</a:t>
            </a:r>
            <a:r>
              <a:rPr lang="zh-CN" altLang="en-US" sz="2400" dirty="0">
                <a:latin typeface="微软雅黑" panose="020B0503020204020204" pitchFamily="34" charset="-122"/>
                <a:ea typeface="微软雅黑" panose="020B0503020204020204" pitchFamily="34" charset="-122"/>
              </a:rPr>
              <a:t>。这个值等于</a:t>
            </a:r>
            <a:r>
              <a:rPr lang="en-US" altLang="zh-CN" sz="2400" dirty="0">
                <a:latin typeface="微软雅黑" panose="020B0503020204020204" pitchFamily="34" charset="-122"/>
                <a:ea typeface="微软雅黑" panose="020B0503020204020204" pitchFamily="34" charset="-122"/>
              </a:rPr>
              <a:t>2</a:t>
            </a:r>
            <a:r>
              <a:rPr lang="en-US" altLang="zh-CN" sz="2400" baseline="30000" dirty="0">
                <a:latin typeface="微软雅黑" panose="020B0503020204020204" pitchFamily="34" charset="-122"/>
                <a:ea typeface="微软雅黑" panose="020B0503020204020204" pitchFamily="34" charset="-122"/>
              </a:rPr>
              <a:t>-30</a:t>
            </a:r>
            <a:r>
              <a:rPr lang="en-US" altLang="zh-CN" sz="2400" dirty="0">
                <a:latin typeface="微软雅黑" panose="020B0503020204020204" pitchFamily="34" charset="-122"/>
                <a:ea typeface="微软雅黑" panose="020B0503020204020204" pitchFamily="34" charset="-122"/>
              </a:rPr>
              <a:t>×0.1 </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dirty="0">
                <a:latin typeface="微软雅黑" panose="020B0503020204020204" pitchFamily="34" charset="-122"/>
                <a:ea typeface="微软雅黑" panose="020B0503020204020204" pitchFamily="34" charset="-122"/>
              </a:rPr>
              <a:t> 9.31×10</a:t>
            </a:r>
            <a:r>
              <a:rPr lang="en-US" altLang="zh-CN" sz="2400" baseline="300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小时后时钟偏差</a:t>
            </a:r>
            <a:r>
              <a:rPr lang="en-US" altLang="zh-CN" sz="2400" dirty="0">
                <a:latin typeface="微软雅黑" panose="020B0503020204020204" pitchFamily="34" charset="-122"/>
                <a:ea typeface="微软雅黑" panose="020B0503020204020204" pitchFamily="34" charset="-122"/>
              </a:rPr>
              <a:t>9.31×10</a:t>
            </a:r>
            <a:r>
              <a:rPr lang="en-US" altLang="zh-CN" sz="2400" baseline="30000" dirty="0">
                <a:latin typeface="微软雅黑" panose="020B0503020204020204" pitchFamily="34" charset="-122"/>
                <a:ea typeface="微软雅黑" panose="020B0503020204020204" pitchFamily="34" charset="-122"/>
              </a:rPr>
              <a:t>-11</a:t>
            </a:r>
            <a:r>
              <a:rPr lang="en-US" altLang="zh-CN" sz="2400" dirty="0">
                <a:latin typeface="微软雅黑" panose="020B0503020204020204" pitchFamily="34" charset="-122"/>
                <a:ea typeface="微软雅黑" panose="020B0503020204020204" pitchFamily="34" charset="-122"/>
              </a:rPr>
              <a:t>×36×10</a:t>
            </a:r>
            <a:r>
              <a:rPr lang="en-US" altLang="zh-CN" sz="2400" baseline="30000" dirty="0">
                <a:latin typeface="微软雅黑" panose="020B0503020204020204" pitchFamily="34" charset="-122"/>
                <a:ea typeface="微软雅黑" panose="020B0503020204020204" pitchFamily="34" charset="-122"/>
              </a:rPr>
              <a:t>5 </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400" dirty="0">
                <a:latin typeface="微软雅黑" panose="020B0503020204020204" pitchFamily="34" charset="-122"/>
                <a:ea typeface="微软雅黑" panose="020B0503020204020204" pitchFamily="34" charset="-122"/>
              </a:rPr>
              <a:t>0.000335</a:t>
            </a:r>
            <a:r>
              <a:rPr lang="zh-CN" altLang="en-US" sz="2400" dirty="0">
                <a:latin typeface="微软雅黑" panose="020B0503020204020204" pitchFamily="34" charset="-122"/>
                <a:ea typeface="微软雅黑" panose="020B0503020204020204" pitchFamily="34" charset="-122"/>
              </a:rPr>
              <a:t>秒。预测的距离偏差仅为</a:t>
            </a:r>
            <a:r>
              <a:rPr lang="en-US" altLang="zh-CN" sz="2400" dirty="0">
                <a:latin typeface="微软雅黑" panose="020B0503020204020204" pitchFamily="34" charset="-122"/>
                <a:ea typeface="微软雅黑" panose="020B0503020204020204" pitchFamily="34" charset="-122"/>
              </a:rPr>
              <a:t>0.000335×2000 </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400" dirty="0">
                <a:latin typeface="微软雅黑" panose="020B0503020204020204" pitchFamily="34" charset="-122"/>
                <a:ea typeface="微软雅黑" panose="020B0503020204020204" pitchFamily="34" charset="-122"/>
              </a:rPr>
              <a:t>0.67</a:t>
            </a:r>
            <a:r>
              <a:rPr lang="zh-CN" altLang="en-US" sz="2400" dirty="0">
                <a:latin typeface="微软雅黑" panose="020B0503020204020204" pitchFamily="34" charset="-122"/>
                <a:ea typeface="微软雅黑" panose="020B0503020204020204" pitchFamily="34" charset="-122"/>
              </a:rPr>
              <a:t>米。 </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1859">
                                            <p:txEl>
                                              <p:charRg st="1" end="85"/>
                                            </p:txEl>
                                          </p:spTgt>
                                        </p:tgtEl>
                                        <p:attrNameLst>
                                          <p:attrName>style.visibility</p:attrName>
                                        </p:attrNameLst>
                                      </p:cBhvr>
                                      <p:to>
                                        <p:strVal val="visible"/>
                                      </p:to>
                                    </p:set>
                                    <p:animEffect transition="in" filter="blinds(horizontal)">
                                      <p:cBhvr>
                                        <p:cTn id="7" dur="500"/>
                                        <p:tgtEl>
                                          <p:spTgt spid="761859">
                                            <p:txEl>
                                              <p:charRg st="1" end="8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61859">
                                            <p:txEl>
                                              <p:charRg st="85" end="310"/>
                                            </p:txEl>
                                          </p:spTgt>
                                        </p:tgtEl>
                                        <p:attrNameLst>
                                          <p:attrName>style.visibility</p:attrName>
                                        </p:attrNameLst>
                                      </p:cBhvr>
                                      <p:to>
                                        <p:strVal val="visible"/>
                                      </p:to>
                                    </p:set>
                                    <p:animEffect transition="in" filter="blinds(horizontal)">
                                      <p:cBhvr>
                                        <p:cTn id="12" dur="500"/>
                                        <p:tgtEl>
                                          <p:spTgt spid="761859">
                                            <p:txEl>
                                              <p:charRg st="85" end="3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Rectangle 2"/>
          <p:cNvSpPr>
            <a:spLocks noGrp="1"/>
          </p:cNvSpPr>
          <p:nvPr>
            <p:ph type="title"/>
          </p:nvPr>
        </p:nvSpPr>
        <p:spPr>
          <a:xfrm>
            <a:off x="457200" y="98425"/>
            <a:ext cx="8229600" cy="561975"/>
          </a:xfrm>
          <a:ln/>
        </p:spPr>
        <p:txBody>
          <a:bodyPr vert="horz" wrap="square" lIns="63500" tIns="25400" rIns="63500" bIns="25400" anchor="t" anchorCtr="0">
            <a:spAutoFit/>
          </a:bodyPr>
          <a:p>
            <a:r>
              <a:rPr lang="zh-CN" altLang="en-US" dirty="0">
                <a:ea typeface="宋体" panose="02010600030101010101" pitchFamily="2" charset="-122"/>
              </a:rPr>
              <a:t>举例：浮点数运算的精度问题</a:t>
            </a:r>
            <a:endParaRPr lang="zh-CN" altLang="en-US" dirty="0">
              <a:ea typeface="宋体" panose="02010600030101010101" pitchFamily="2" charset="-122"/>
            </a:endParaRPr>
          </a:p>
        </p:txBody>
      </p:sp>
      <p:sp>
        <p:nvSpPr>
          <p:cNvPr id="760835" name="Rectangle 3"/>
          <p:cNvSpPr>
            <a:spLocks noGrp="1"/>
          </p:cNvSpPr>
          <p:nvPr>
            <p:ph idx="1"/>
          </p:nvPr>
        </p:nvSpPr>
        <p:spPr>
          <a:xfrm>
            <a:off x="468313" y="836613"/>
            <a:ext cx="8229600" cy="5741987"/>
          </a:xfrm>
          <a:ln/>
        </p:spPr>
        <p:txBody>
          <a:bodyPr vert="horz" wrap="square" lIns="63500" tIns="25400" rIns="63500" bIns="25400" anchor="t" anchorCtr="0">
            <a:spAutoFit/>
          </a:bodyPr>
          <a:p>
            <a:r>
              <a:rPr lang="zh-CN" altLang="en-US" dirty="0">
                <a:ea typeface="微软雅黑" panose="020B0503020204020204" pitchFamily="34" charset="-122"/>
              </a:rPr>
              <a:t>从</a:t>
            </a:r>
            <a:r>
              <a:rPr lang="zh-CN" altLang="en-US" dirty="0">
                <a:latin typeface="微软雅黑" panose="020B0503020204020204" pitchFamily="34" charset="-122"/>
                <a:ea typeface="微软雅黑" panose="020B0503020204020204" pitchFamily="34" charset="-122"/>
              </a:rPr>
              <a:t>上述结果可以看出：</a:t>
            </a:r>
            <a:endParaRPr lang="zh-CN" altLang="en-US"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用</a:t>
            </a:r>
            <a:r>
              <a:rPr lang="en-US" altLang="zh-CN" sz="2200" dirty="0">
                <a:latin typeface="微软雅黑" panose="020B0503020204020204" pitchFamily="34" charset="-122"/>
                <a:ea typeface="微软雅黑" panose="020B0503020204020204" pitchFamily="34" charset="-122"/>
              </a:rPr>
              <a:t>32</a:t>
            </a:r>
            <a:r>
              <a:rPr lang="zh-CN" altLang="en-US" sz="2200" dirty="0">
                <a:latin typeface="微软雅黑" panose="020B0503020204020204" pitchFamily="34" charset="-122"/>
                <a:ea typeface="微软雅黑" panose="020B0503020204020204" pitchFamily="34" charset="-122"/>
              </a:rPr>
              <a:t>位定点小数表示</a:t>
            </a:r>
            <a:r>
              <a:rPr lang="en-US" altLang="zh-CN" sz="2200" dirty="0">
                <a:latin typeface="微软雅黑" panose="020B0503020204020204" pitchFamily="34" charset="-122"/>
                <a:ea typeface="微软雅黑" panose="020B0503020204020204" pitchFamily="34" charset="-122"/>
              </a:rPr>
              <a:t>0.1</a:t>
            </a:r>
            <a:r>
              <a:rPr lang="zh-CN" altLang="en-US" sz="2200" dirty="0">
                <a:latin typeface="微软雅黑" panose="020B0503020204020204" pitchFamily="34" charset="-122"/>
                <a:ea typeface="微软雅黑" panose="020B0503020204020204" pitchFamily="34" charset="-122"/>
              </a:rPr>
              <a:t> ，</a:t>
            </a:r>
            <a:r>
              <a:rPr lang="zh-CN" altLang="en-US" sz="2200" dirty="0">
                <a:solidFill>
                  <a:srgbClr val="FF0000"/>
                </a:solidFill>
                <a:latin typeface="微软雅黑" panose="020B0503020204020204" pitchFamily="34" charset="-122"/>
                <a:ea typeface="微软雅黑" panose="020B0503020204020204" pitchFamily="34" charset="-122"/>
              </a:rPr>
              <a:t>比采用</a:t>
            </a:r>
            <a:r>
              <a:rPr lang="en-US" altLang="zh-CN" sz="2200" dirty="0">
                <a:solidFill>
                  <a:srgbClr val="FF0000"/>
                </a:solidFill>
                <a:latin typeface="微软雅黑" panose="020B0503020204020204" pitchFamily="34" charset="-122"/>
                <a:ea typeface="微软雅黑" panose="020B0503020204020204" pitchFamily="34" charset="-122"/>
              </a:rPr>
              <a:t>float</a:t>
            </a:r>
            <a:r>
              <a:rPr lang="zh-CN" altLang="en-US" sz="2200" dirty="0">
                <a:solidFill>
                  <a:srgbClr val="FF0000"/>
                </a:solidFill>
                <a:latin typeface="微软雅黑" panose="020B0503020204020204" pitchFamily="34" charset="-122"/>
                <a:ea typeface="微软雅黑" panose="020B0503020204020204" pitchFamily="34" charset="-122"/>
              </a:rPr>
              <a:t>精度高</a:t>
            </a:r>
            <a:r>
              <a:rPr lang="en-US" altLang="zh-CN" sz="2200" dirty="0">
                <a:latin typeface="微软雅黑" panose="020B0503020204020204" pitchFamily="34" charset="-122"/>
                <a:ea typeface="微软雅黑" panose="020B0503020204020204" pitchFamily="34" charset="-122"/>
              </a:rPr>
              <a:t>64</a:t>
            </a:r>
            <a:r>
              <a:rPr lang="zh-CN" altLang="en-US" sz="2200" dirty="0">
                <a:latin typeface="微软雅黑" panose="020B0503020204020204" pitchFamily="34" charset="-122"/>
                <a:ea typeface="微软雅黑" panose="020B0503020204020204" pitchFamily="34" charset="-122"/>
              </a:rPr>
              <a:t>倍</a:t>
            </a:r>
            <a:endParaRPr lang="zh-CN" altLang="en-US"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用</a:t>
            </a:r>
            <a:r>
              <a:rPr lang="en-US" altLang="zh-CN" sz="2200" dirty="0">
                <a:latin typeface="微软雅黑" panose="020B0503020204020204" pitchFamily="34" charset="-122"/>
                <a:ea typeface="微软雅黑" panose="020B0503020204020204" pitchFamily="34" charset="-122"/>
              </a:rPr>
              <a:t>float</a:t>
            </a:r>
            <a:r>
              <a:rPr lang="zh-CN" altLang="en-US" sz="2200" dirty="0">
                <a:latin typeface="微软雅黑" panose="020B0503020204020204" pitchFamily="34" charset="-122"/>
                <a:ea typeface="微软雅黑" panose="020B0503020204020204" pitchFamily="34" charset="-122"/>
              </a:rPr>
              <a:t>表示在计算速度上更慢，必须先把计数值转换为</a:t>
            </a:r>
            <a:r>
              <a:rPr lang="en-US" altLang="zh-CN" sz="2200" dirty="0">
                <a:latin typeface="微软雅黑" panose="020B0503020204020204" pitchFamily="34" charset="-122"/>
                <a:ea typeface="微软雅黑" panose="020B0503020204020204" pitchFamily="34" charset="-122"/>
              </a:rPr>
              <a:t>IEEE 754</a:t>
            </a:r>
            <a:r>
              <a:rPr lang="zh-CN" altLang="en-US" sz="2200" dirty="0">
                <a:latin typeface="微软雅黑" panose="020B0503020204020204" pitchFamily="34" charset="-122"/>
                <a:ea typeface="微软雅黑" panose="020B0503020204020204" pitchFamily="34" charset="-122"/>
              </a:rPr>
              <a:t>格式浮点数，然后再对两个</a:t>
            </a:r>
            <a:r>
              <a:rPr lang="en-US" altLang="zh-CN" sz="2200" dirty="0">
                <a:latin typeface="微软雅黑" panose="020B0503020204020204" pitchFamily="34" charset="-122"/>
                <a:ea typeface="微软雅黑" panose="020B0503020204020204" pitchFamily="34" charset="-122"/>
              </a:rPr>
              <a:t>IEEE 754</a:t>
            </a:r>
            <a:r>
              <a:rPr lang="zh-CN" altLang="en-US" sz="2200" dirty="0">
                <a:latin typeface="微软雅黑" panose="020B0503020204020204" pitchFamily="34" charset="-122"/>
                <a:ea typeface="微软雅黑" panose="020B0503020204020204" pitchFamily="34" charset="-122"/>
              </a:rPr>
              <a:t>格式的数相乘，故采用</a:t>
            </a:r>
            <a:r>
              <a:rPr lang="en-US" altLang="zh-CN" sz="2200" dirty="0">
                <a:latin typeface="微软雅黑" panose="020B0503020204020204" pitchFamily="34" charset="-122"/>
                <a:ea typeface="微软雅黑" panose="020B0503020204020204" pitchFamily="34" charset="-122"/>
              </a:rPr>
              <a:t>float</a:t>
            </a:r>
            <a:r>
              <a:rPr lang="zh-CN" altLang="en-US" sz="2200" dirty="0">
                <a:solidFill>
                  <a:srgbClr val="FF0000"/>
                </a:solidFill>
                <a:latin typeface="微软雅黑" panose="020B0503020204020204" pitchFamily="34" charset="-122"/>
                <a:ea typeface="微软雅黑" panose="020B0503020204020204" pitchFamily="34" charset="-122"/>
              </a:rPr>
              <a:t>比直接将两个二进制数相乘要慢</a:t>
            </a:r>
            <a:endParaRPr lang="zh-CN" altLang="en-US" sz="2200" dirty="0">
              <a:latin typeface="微软雅黑" panose="020B0503020204020204" pitchFamily="34" charset="-122"/>
              <a:ea typeface="微软雅黑" panose="020B0503020204020204" pitchFamily="34" charset="-122"/>
            </a:endParaRPr>
          </a:p>
          <a:p>
            <a:r>
              <a:rPr lang="en-US" altLang="zh-CN" sz="2600" dirty="0">
                <a:latin typeface="微软雅黑" panose="020B0503020204020204" pitchFamily="34" charset="-122"/>
                <a:ea typeface="微软雅黑" panose="020B0503020204020204" pitchFamily="34" charset="-122"/>
              </a:rPr>
              <a:t>Ariana 5</a:t>
            </a:r>
            <a:r>
              <a:rPr lang="zh-CN" altLang="en-US" sz="2600" dirty="0">
                <a:latin typeface="微软雅黑" panose="020B0503020204020204" pitchFamily="34" charset="-122"/>
                <a:ea typeface="微软雅黑" panose="020B0503020204020204" pitchFamily="34" charset="-122"/>
              </a:rPr>
              <a:t>火箭和爱国者导弹的例子</a:t>
            </a:r>
            <a:r>
              <a:rPr lang="zh-CN" altLang="en-US" dirty="0">
                <a:latin typeface="微软雅黑" panose="020B0503020204020204" pitchFamily="34" charset="-122"/>
                <a:ea typeface="微软雅黑" panose="020B0503020204020204" pitchFamily="34" charset="-122"/>
              </a:rPr>
              <a:t>带来的启示</a:t>
            </a:r>
            <a:endParaRPr lang="zh-CN" altLang="en-US" dirty="0">
              <a:latin typeface="微软雅黑" panose="020B0503020204020204" pitchFamily="34" charset="-122"/>
              <a:ea typeface="微软雅黑" panose="020B0503020204020204" pitchFamily="34" charset="-122"/>
            </a:endParaRPr>
          </a:p>
          <a:p>
            <a:pPr>
              <a:buFont typeface="Wingdings" panose="05000000000000000000" pitchFamily="2" charset="2"/>
              <a:buChar char="ü"/>
            </a:pPr>
            <a:r>
              <a:rPr lang="zh-CN" altLang="en-US" dirty="0">
                <a:solidFill>
                  <a:srgbClr val="0033CC"/>
                </a:solidFill>
                <a:latin typeface="微软雅黑" panose="020B0503020204020204" pitchFamily="34" charset="-122"/>
                <a:ea typeface="微软雅黑" panose="020B0503020204020204" pitchFamily="34" charset="-122"/>
              </a:rPr>
              <a:t>程序员应对底层机器级数据的表示和运算有深刻理解</a:t>
            </a:r>
            <a:endParaRPr lang="zh-CN" altLang="en-US" dirty="0">
              <a:solidFill>
                <a:srgbClr val="0033CC"/>
              </a:solidFill>
              <a:latin typeface="微软雅黑" panose="020B0503020204020204" pitchFamily="34" charset="-122"/>
              <a:ea typeface="微软雅黑" panose="020B0503020204020204" pitchFamily="34" charset="-122"/>
            </a:endParaRPr>
          </a:p>
          <a:p>
            <a:pPr>
              <a:buFont typeface="Wingdings" panose="05000000000000000000" pitchFamily="2" charset="2"/>
              <a:buChar char="ü"/>
            </a:pPr>
            <a:r>
              <a:rPr lang="zh-CN" altLang="en-US" dirty="0">
                <a:solidFill>
                  <a:srgbClr val="0033CC"/>
                </a:solidFill>
                <a:latin typeface="微软雅黑" panose="020B0503020204020204" pitchFamily="34" charset="-122"/>
                <a:ea typeface="微软雅黑" panose="020B0503020204020204" pitchFamily="34" charset="-122"/>
              </a:rPr>
              <a:t>计算机世界里，经常是</a:t>
            </a:r>
            <a:r>
              <a:rPr lang="zh-CN" altLang="en-US" dirty="0">
                <a:solidFill>
                  <a:srgbClr val="FF0000"/>
                </a:solidFill>
                <a:latin typeface="微软雅黑" panose="020B0503020204020204" pitchFamily="34" charset="-122"/>
                <a:ea typeface="微软雅黑" panose="020B0503020204020204" pitchFamily="34" charset="-122"/>
              </a:rPr>
              <a:t>“差之毫厘，失之千里”</a:t>
            </a:r>
            <a:r>
              <a:rPr lang="zh-CN" altLang="en-US" dirty="0">
                <a:solidFill>
                  <a:srgbClr val="0033CC"/>
                </a:solidFill>
                <a:latin typeface="微软雅黑" panose="020B0503020204020204" pitchFamily="34" charset="-122"/>
                <a:ea typeface="微软雅黑" panose="020B0503020204020204" pitchFamily="34" charset="-122"/>
              </a:rPr>
              <a:t>，需要细心再细心，精确再精确</a:t>
            </a:r>
            <a:endParaRPr lang="zh-CN" altLang="en-US" dirty="0">
              <a:solidFill>
                <a:srgbClr val="0033CC"/>
              </a:solidFill>
              <a:latin typeface="微软雅黑" panose="020B0503020204020204" pitchFamily="34" charset="-122"/>
              <a:ea typeface="微软雅黑" panose="020B0503020204020204" pitchFamily="34" charset="-122"/>
            </a:endParaRPr>
          </a:p>
          <a:p>
            <a:pPr>
              <a:buFont typeface="Wingdings" panose="05000000000000000000" pitchFamily="2" charset="2"/>
              <a:buChar char="ü"/>
            </a:pPr>
            <a:r>
              <a:rPr lang="zh-CN" altLang="en-US" dirty="0">
                <a:solidFill>
                  <a:srgbClr val="0033CC"/>
                </a:solidFill>
                <a:latin typeface="微软雅黑" panose="020B0503020204020204" pitchFamily="34" charset="-122"/>
                <a:ea typeface="微软雅黑" panose="020B0503020204020204" pitchFamily="34" charset="-122"/>
              </a:rPr>
              <a:t>不能遇到小数就用浮点数表示，有些情况下（如需要将一个整数变量乘以一个确定的小数常量），可先用一个确定的定点整数与整数变量相乘，然后再通过移位运算来确定小数点</a:t>
            </a:r>
            <a:endParaRPr lang="zh-CN" altLang="en-US" dirty="0">
              <a:solidFill>
                <a:srgbClr val="0033CC"/>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0835">
                                            <p:txEl>
                                              <p:charRg st="11" end="41"/>
                                            </p:txEl>
                                          </p:spTgt>
                                        </p:tgtEl>
                                        <p:attrNameLst>
                                          <p:attrName>style.visibility</p:attrName>
                                        </p:attrNameLst>
                                      </p:cBhvr>
                                      <p:to>
                                        <p:strVal val="visible"/>
                                      </p:to>
                                    </p:set>
                                    <p:animEffect transition="in" filter="blinds(horizontal)">
                                      <p:cBhvr>
                                        <p:cTn id="7" dur="500"/>
                                        <p:tgtEl>
                                          <p:spTgt spid="760835">
                                            <p:txEl>
                                              <p:charRg st="11" end="4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60835">
                                            <p:txEl>
                                              <p:charRg st="41" end="126"/>
                                            </p:txEl>
                                          </p:spTgt>
                                        </p:tgtEl>
                                        <p:attrNameLst>
                                          <p:attrName>style.visibility</p:attrName>
                                        </p:attrNameLst>
                                      </p:cBhvr>
                                      <p:to>
                                        <p:strVal val="visible"/>
                                      </p:to>
                                    </p:set>
                                    <p:animEffect transition="in" filter="blinds(horizontal)">
                                      <p:cBhvr>
                                        <p:cTn id="12" dur="500"/>
                                        <p:tgtEl>
                                          <p:spTgt spid="760835">
                                            <p:txEl>
                                              <p:charRg st="41" end="1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60835">
                                            <p:txEl>
                                              <p:charRg st="151" end="175"/>
                                            </p:txEl>
                                          </p:spTgt>
                                        </p:tgtEl>
                                        <p:attrNameLst>
                                          <p:attrName>style.visibility</p:attrName>
                                        </p:attrNameLst>
                                      </p:cBhvr>
                                      <p:to>
                                        <p:strVal val="visible"/>
                                      </p:to>
                                    </p:set>
                                    <p:animEffect transition="in" filter="blinds(horizontal)">
                                      <p:cBhvr>
                                        <p:cTn id="17" dur="500"/>
                                        <p:tgtEl>
                                          <p:spTgt spid="760835">
                                            <p:txEl>
                                              <p:charRg st="151" end="17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60835">
                                            <p:txEl>
                                              <p:charRg st="175" end="211"/>
                                            </p:txEl>
                                          </p:spTgt>
                                        </p:tgtEl>
                                        <p:attrNameLst>
                                          <p:attrName>style.visibility</p:attrName>
                                        </p:attrNameLst>
                                      </p:cBhvr>
                                      <p:to>
                                        <p:strVal val="visible"/>
                                      </p:to>
                                    </p:set>
                                    <p:animEffect transition="in" filter="blinds(horizontal)">
                                      <p:cBhvr>
                                        <p:cTn id="22" dur="500"/>
                                        <p:tgtEl>
                                          <p:spTgt spid="760835">
                                            <p:txEl>
                                              <p:charRg st="175" end="21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60835">
                                            <p:txEl>
                                              <p:charRg st="211" end="290"/>
                                            </p:txEl>
                                          </p:spTgt>
                                        </p:tgtEl>
                                        <p:attrNameLst>
                                          <p:attrName>style.visibility</p:attrName>
                                        </p:attrNameLst>
                                      </p:cBhvr>
                                      <p:to>
                                        <p:strVal val="visible"/>
                                      </p:to>
                                    </p:set>
                                    <p:animEffect transition="in" filter="blinds(horizontal)">
                                      <p:cBhvr>
                                        <p:cTn id="27" dur="500"/>
                                        <p:tgtEl>
                                          <p:spTgt spid="760835">
                                            <p:txEl>
                                              <p:charRg st="211" end="2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矩形 4"/>
          <p:cNvSpPr/>
          <p:nvPr/>
        </p:nvSpPr>
        <p:spPr>
          <a:xfrm>
            <a:off x="836613" y="5775325"/>
            <a:ext cx="7994650" cy="461963"/>
          </a:xfrm>
          <a:prstGeom prst="rect">
            <a:avLst/>
          </a:prstGeom>
          <a:noFill/>
          <a:ln w="9525">
            <a:noFill/>
          </a:ln>
        </p:spPr>
        <p:txBody>
          <a:bodyPr anchor="t" anchorCtr="0">
            <a:spAutoFit/>
          </a:bodyPr>
          <a:p>
            <a:pPr eaLnBrk="0" hangingPunct="0"/>
            <a:r>
              <a:rPr lang="en-US" altLang="zh-CN" sz="2400" dirty="0">
                <a:latin typeface="Times New Roman" panose="02020603050405020304" pitchFamily="18" charset="0"/>
              </a:rPr>
              <a:t>http://en.wikipedia.org/wiki/Kahan_summation_algorithm</a:t>
            </a:r>
            <a:endParaRPr lang="zh-CN" altLang="en-US" sz="2400" dirty="0">
              <a:latin typeface="Times New Roman" panose="02020603050405020304" pitchFamily="18" charset="0"/>
              <a:ea typeface="宋体" panose="02010600030101010101" pitchFamily="2" charset="-122"/>
            </a:endParaRPr>
          </a:p>
        </p:txBody>
      </p:sp>
      <p:sp>
        <p:nvSpPr>
          <p:cNvPr id="148482" name="标题 1"/>
          <p:cNvSpPr>
            <a:spLocks noGrp="1"/>
          </p:cNvSpPr>
          <p:nvPr>
            <p:ph type="title"/>
          </p:nvPr>
        </p:nvSpPr>
        <p:spPr>
          <a:xfrm>
            <a:off x="800100" y="190500"/>
            <a:ext cx="6073775" cy="479425"/>
          </a:xfrm>
          <a:ln/>
        </p:spPr>
        <p:txBody>
          <a:bodyPr vert="horz" wrap="square" lIns="63500" tIns="25400" rIns="63500" bIns="25400" anchor="t" anchorCtr="0">
            <a:spAutoFit/>
          </a:bodyPr>
          <a:p>
            <a:r>
              <a:rPr lang="zh-CN" altLang="en-US" dirty="0">
                <a:ea typeface="宋体" panose="02010600030101010101" pitchFamily="2" charset="-122"/>
              </a:rPr>
              <a:t>举例：</a:t>
            </a:r>
            <a:r>
              <a:rPr lang="en-US" altLang="zh-CN" dirty="0">
                <a:ea typeface="宋体" panose="02010600030101010101" pitchFamily="2" charset="-122"/>
              </a:rPr>
              <a:t>Kahan</a:t>
            </a:r>
            <a:r>
              <a:rPr lang="zh-CN" altLang="en-US" dirty="0">
                <a:ea typeface="宋体" panose="02010600030101010101" pitchFamily="2" charset="-122"/>
              </a:rPr>
              <a:t>累加算法</a:t>
            </a:r>
            <a:endParaRPr lang="zh-CN" altLang="en-US" dirty="0">
              <a:ea typeface="宋体" panose="02010600030101010101" pitchFamily="2" charset="-122"/>
            </a:endParaRPr>
          </a:p>
        </p:txBody>
      </p:sp>
      <p:sp>
        <p:nvSpPr>
          <p:cNvPr id="148483" name="内容占位符 2"/>
          <p:cNvSpPr>
            <a:spLocks noGrp="1"/>
          </p:cNvSpPr>
          <p:nvPr>
            <p:ph idx="1"/>
          </p:nvPr>
        </p:nvSpPr>
        <p:spPr>
          <a:ln/>
        </p:spPr>
        <p:txBody>
          <a:bodyPr vert="horz" wrap="square" lIns="63500" tIns="25400" rIns="63500" bIns="25400" anchor="t" anchorCtr="0">
            <a:spAutoFit/>
          </a:bodyPr>
          <a:p>
            <a:r>
              <a:rPr lang="en-US" altLang="zh-CN" dirty="0"/>
              <a:t>The Father of Floating Point</a:t>
            </a:r>
            <a:endParaRPr lang="zh-CN" altLang="en-US" dirty="0"/>
          </a:p>
        </p:txBody>
      </p:sp>
      <p:pic>
        <p:nvPicPr>
          <p:cNvPr id="148484" name="Picture 2" descr="William Kahan.jpg">
            <a:hlinkClick r:id="rId1"/>
          </p:cNvPr>
          <p:cNvPicPr>
            <a:picLocks noChangeAspect="1"/>
          </p:cNvPicPr>
          <p:nvPr/>
        </p:nvPicPr>
        <p:blipFill>
          <a:blip r:embed="rId2"/>
          <a:stretch>
            <a:fillRect/>
          </a:stretch>
        </p:blipFill>
        <p:spPr>
          <a:xfrm>
            <a:off x="6507163" y="768350"/>
            <a:ext cx="2095500" cy="1476375"/>
          </a:xfrm>
          <a:prstGeom prst="rect">
            <a:avLst/>
          </a:prstGeom>
          <a:noFill/>
          <a:ln w="9525">
            <a:noFill/>
          </a:ln>
        </p:spPr>
      </p:pic>
      <p:pic>
        <p:nvPicPr>
          <p:cNvPr id="70659" name="Picture 3"/>
          <p:cNvPicPr>
            <a:picLocks noChangeAspect="1"/>
          </p:cNvPicPr>
          <p:nvPr/>
        </p:nvPicPr>
        <p:blipFill>
          <a:blip r:embed="rId3"/>
          <a:stretch>
            <a:fillRect/>
          </a:stretch>
        </p:blipFill>
        <p:spPr>
          <a:xfrm>
            <a:off x="187325" y="1304925"/>
            <a:ext cx="5534025" cy="3886200"/>
          </a:xfrm>
          <a:prstGeom prst="rect">
            <a:avLst/>
          </a:prstGeom>
          <a:noFill/>
          <a:ln w="9525">
            <a:noFill/>
          </a:ln>
        </p:spPr>
      </p:pic>
      <p:pic>
        <p:nvPicPr>
          <p:cNvPr id="3" name="图片 2"/>
          <p:cNvPicPr>
            <a:picLocks noChangeAspect="1"/>
          </p:cNvPicPr>
          <p:nvPr/>
        </p:nvPicPr>
        <p:blipFill>
          <a:blip r:embed="rId4"/>
          <a:stretch>
            <a:fillRect/>
          </a:stretch>
        </p:blipFill>
        <p:spPr>
          <a:xfrm>
            <a:off x="2711450" y="2162175"/>
            <a:ext cx="6181725" cy="1168400"/>
          </a:xfrm>
          <a:prstGeom prst="rect">
            <a:avLst/>
          </a:prstGeom>
          <a:noFill/>
          <a:ln w="9525">
            <a:noFill/>
          </a:ln>
        </p:spPr>
      </p:pic>
      <p:pic>
        <p:nvPicPr>
          <p:cNvPr id="70662" name="Picture 6"/>
          <p:cNvPicPr>
            <a:picLocks noChangeAspect="1"/>
          </p:cNvPicPr>
          <p:nvPr/>
        </p:nvPicPr>
        <p:blipFill>
          <a:blip r:embed="rId5"/>
          <a:stretch>
            <a:fillRect/>
          </a:stretch>
        </p:blipFill>
        <p:spPr>
          <a:xfrm>
            <a:off x="333375" y="1641475"/>
            <a:ext cx="5905500" cy="5200650"/>
          </a:xfrm>
          <a:prstGeom prst="rect">
            <a:avLst/>
          </a:prstGeom>
          <a:noFill/>
          <a:ln w="9525">
            <a:noFill/>
          </a:ln>
        </p:spPr>
      </p:pic>
      <p:pic>
        <p:nvPicPr>
          <p:cNvPr id="2" name="图片 1"/>
          <p:cNvPicPr>
            <a:picLocks noChangeAspect="1"/>
          </p:cNvPicPr>
          <p:nvPr/>
        </p:nvPicPr>
        <p:blipFill>
          <a:blip r:embed="rId6"/>
          <a:stretch>
            <a:fillRect/>
          </a:stretch>
        </p:blipFill>
        <p:spPr>
          <a:xfrm>
            <a:off x="3187700" y="5029200"/>
            <a:ext cx="5903913" cy="15938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066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randombar(horizont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标题 1"/>
          <p:cNvSpPr>
            <a:spLocks noGrp="1"/>
          </p:cNvSpPr>
          <p:nvPr>
            <p:ph type="title"/>
          </p:nvPr>
        </p:nvSpPr>
        <p:spPr>
          <a:xfrm>
            <a:off x="800100" y="190500"/>
            <a:ext cx="6073775" cy="479425"/>
          </a:xfrm>
          <a:ln/>
        </p:spPr>
        <p:txBody>
          <a:bodyPr vert="horz" wrap="square" lIns="63500" tIns="25400" rIns="63500" bIns="25400" anchor="t" anchorCtr="0">
            <a:spAutoFit/>
          </a:bodyPr>
          <a:p>
            <a:r>
              <a:rPr lang="zh-CN" altLang="en-US" dirty="0">
                <a:ea typeface="宋体" panose="02010600030101010101" pitchFamily="2" charset="-122"/>
              </a:rPr>
              <a:t>举例： </a:t>
            </a:r>
            <a:r>
              <a:rPr lang="en-US" altLang="zh-CN" dirty="0">
                <a:ea typeface="宋体" panose="02010600030101010101" pitchFamily="2" charset="-122"/>
              </a:rPr>
              <a:t>Kahan</a:t>
            </a:r>
            <a:r>
              <a:rPr lang="zh-CN" altLang="en-US" dirty="0">
                <a:ea typeface="宋体" panose="02010600030101010101" pitchFamily="2" charset="-122"/>
              </a:rPr>
              <a:t>累加算法（续）</a:t>
            </a:r>
            <a:endParaRPr lang="zh-CN" altLang="en-US" dirty="0">
              <a:ea typeface="宋体" panose="02010600030101010101" pitchFamily="2" charset="-122"/>
            </a:endParaRPr>
          </a:p>
        </p:txBody>
      </p:sp>
      <p:sp>
        <p:nvSpPr>
          <p:cNvPr id="3" name="内容占位符 2"/>
          <p:cNvSpPr>
            <a:spLocks noGrp="1"/>
          </p:cNvSpPr>
          <p:nvPr>
            <p:ph idx="1"/>
          </p:nvPr>
        </p:nvSpPr>
        <p:spPr>
          <a:xfrm>
            <a:off x="4684713" y="863600"/>
            <a:ext cx="4238625" cy="2727325"/>
          </a:xfrm>
          <a:ln/>
        </p:spPr>
        <p:txBody>
          <a:bodyPr vert="horz" wrap="square" lIns="63500" tIns="25400" rIns="63500" bIns="25400" anchor="t" anchorCtr="0">
            <a:spAutoFit/>
          </a:bodyPr>
          <a:p>
            <a:pPr marL="0" indent="0">
              <a:lnSpc>
                <a:spcPct val="100000"/>
              </a:lnSpc>
              <a:buFontTx/>
              <a:buNone/>
            </a:pPr>
            <a:r>
              <a:rPr lang="en-US" altLang="zh-CN" sz="2000" dirty="0"/>
              <a:t>y = 3.14159 - 0</a:t>
            </a:r>
            <a:endParaRPr lang="en-US" altLang="zh-CN" sz="2000" dirty="0"/>
          </a:p>
          <a:p>
            <a:pPr marL="0" indent="0">
              <a:lnSpc>
                <a:spcPct val="100000"/>
              </a:lnSpc>
              <a:buFontTx/>
              <a:buNone/>
            </a:pPr>
            <a:r>
              <a:rPr lang="en-US" altLang="zh-CN" sz="2000" dirty="0"/>
              <a:t>t  = 10000.0 + 3.14159 </a:t>
            </a:r>
            <a:endParaRPr lang="en-US" altLang="zh-CN" sz="2000" dirty="0"/>
          </a:p>
          <a:p>
            <a:pPr marL="0" indent="0">
              <a:lnSpc>
                <a:spcPct val="100000"/>
              </a:lnSpc>
              <a:buFontTx/>
              <a:buNone/>
            </a:pPr>
            <a:r>
              <a:rPr lang="en-US" altLang="zh-CN" sz="2000" dirty="0"/>
              <a:t>   = 10003.1 </a:t>
            </a:r>
            <a:endParaRPr lang="en-US" altLang="zh-CN" sz="2000" dirty="0"/>
          </a:p>
          <a:p>
            <a:pPr marL="0" indent="0">
              <a:lnSpc>
                <a:spcPct val="100000"/>
              </a:lnSpc>
              <a:buFontTx/>
              <a:buNone/>
            </a:pPr>
            <a:r>
              <a:rPr lang="en-US" altLang="zh-CN" sz="2000" dirty="0"/>
              <a:t>c = (10003.1 - 10000.0) - 3.14159 </a:t>
            </a:r>
            <a:endParaRPr lang="en-US" altLang="zh-CN" sz="2000" dirty="0"/>
          </a:p>
          <a:p>
            <a:pPr marL="0" indent="0">
              <a:lnSpc>
                <a:spcPct val="100000"/>
              </a:lnSpc>
              <a:buFontTx/>
              <a:buNone/>
            </a:pPr>
            <a:r>
              <a:rPr lang="en-US" altLang="zh-CN" sz="2000" dirty="0"/>
              <a:t>   = 3.10000 - 3.14159 </a:t>
            </a:r>
            <a:endParaRPr lang="en-US" altLang="zh-CN" sz="2000" dirty="0"/>
          </a:p>
          <a:p>
            <a:pPr marL="0" indent="0">
              <a:lnSpc>
                <a:spcPct val="100000"/>
              </a:lnSpc>
              <a:buFontTx/>
              <a:buNone/>
            </a:pPr>
            <a:r>
              <a:rPr lang="en-US" altLang="zh-CN" sz="2000" dirty="0"/>
              <a:t>   = -.0415900 </a:t>
            </a:r>
            <a:endParaRPr lang="en-US" altLang="zh-CN" sz="2000" dirty="0"/>
          </a:p>
          <a:p>
            <a:pPr marL="0" indent="0">
              <a:lnSpc>
                <a:spcPct val="100000"/>
              </a:lnSpc>
              <a:buFontTx/>
              <a:buNone/>
            </a:pPr>
            <a:r>
              <a:rPr lang="en-US" altLang="zh-CN" sz="2000" dirty="0"/>
              <a:t>sum = 10003.1</a:t>
            </a:r>
            <a:endParaRPr lang="zh-CN" altLang="en-US" sz="2000" dirty="0"/>
          </a:p>
        </p:txBody>
      </p:sp>
      <p:sp>
        <p:nvSpPr>
          <p:cNvPr id="4" name="矩形 3"/>
          <p:cNvSpPr>
            <a:spLocks noChangeArrowheads="1"/>
          </p:cNvSpPr>
          <p:nvPr/>
        </p:nvSpPr>
        <p:spPr bwMode="auto">
          <a:xfrm>
            <a:off x="4683125" y="3743325"/>
            <a:ext cx="4181475" cy="2555875"/>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y = 2.71828 - -.0415900</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2.75987</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t = 10003.1 + 2.75987 </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10005.9  </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c  = (10005.9 - 10003.1) - 2.75987</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2.80000 - 2.75987 </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.040130</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sum = 10005.9</a:t>
            </a:r>
            <a:endParaRPr kumimoji="0" lang="en-US" altLang="zh-CN" sz="20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 name="TextBox 5"/>
          <p:cNvSpPr txBox="1"/>
          <p:nvPr/>
        </p:nvSpPr>
        <p:spPr>
          <a:xfrm>
            <a:off x="487363" y="4284663"/>
            <a:ext cx="3600450" cy="1200150"/>
          </a:xfrm>
          <a:prstGeom prst="rect">
            <a:avLst/>
          </a:prstGeom>
          <a:noFill/>
          <a:ln w="9525">
            <a:noFill/>
          </a:ln>
        </p:spPr>
        <p:txBody>
          <a:bodyPr anchor="t" anchorCtr="0">
            <a:spAutoFit/>
          </a:bodyPr>
          <a:p>
            <a:pPr eaLnBrk="0" hangingPunct="0"/>
            <a:r>
              <a:rPr lang="zh-CN" altLang="en-US" sz="2400" dirty="0">
                <a:solidFill>
                  <a:srgbClr val="C00000"/>
                </a:solidFill>
                <a:latin typeface="微软雅黑" panose="020B0503020204020204" pitchFamily="34" charset="-122"/>
                <a:ea typeface="微软雅黑" panose="020B0503020204020204" pitchFamily="34" charset="-122"/>
              </a:rPr>
              <a:t>将每次累加因舍入造成的截断误差保存起来，再加入到下一次的累加中。</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7" name="矩形 6"/>
          <p:cNvSpPr/>
          <p:nvPr/>
        </p:nvSpPr>
        <p:spPr>
          <a:xfrm>
            <a:off x="341313" y="890588"/>
            <a:ext cx="4140200" cy="2862263"/>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function </a:t>
            </a:r>
            <a:r>
              <a:rPr kumimoji="0" lang="en-US" altLang="zh-CN" sz="2000" b="1" i="0" u="none" strike="noStrike" kern="1200" cap="none" spc="0" normalizeH="0" baseline="0" noProof="0" dirty="0" err="1">
                <a:ln>
                  <a:noFill/>
                </a:ln>
                <a:solidFill>
                  <a:schemeClr val="tx1"/>
                </a:solidFill>
                <a:effectLst/>
                <a:uLnTx/>
                <a:uFillTx/>
                <a:latin typeface="+mn-lt"/>
                <a:ea typeface="微软雅黑" panose="020B0503020204020204" pitchFamily="34" charset="-122"/>
                <a:cs typeface="+mn-cs"/>
              </a:rPr>
              <a:t>KahanSum</a:t>
            </a: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(input)</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a:t>
            </a:r>
            <a:r>
              <a:rPr kumimoji="0" lang="en-US" altLang="zh-CN" sz="2000" b="1" i="0" u="none" strike="noStrike" kern="1200" cap="none" spc="0" normalizeH="0" baseline="0" noProof="0" dirty="0" err="1">
                <a:ln>
                  <a:noFill/>
                </a:ln>
                <a:solidFill>
                  <a:schemeClr val="tx1"/>
                </a:solidFill>
                <a:effectLst/>
                <a:uLnTx/>
                <a:uFillTx/>
                <a:latin typeface="+mn-lt"/>
                <a:ea typeface="微软雅黑" panose="020B0503020204020204" pitchFamily="34" charset="-122"/>
                <a:cs typeface="+mn-cs"/>
              </a:rPr>
              <a:t>var</a:t>
            </a: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sum = 0.0</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a:t>
            </a:r>
            <a:r>
              <a:rPr kumimoji="0" lang="en-US" altLang="zh-CN" sz="2000" b="1" i="0" u="none" strike="noStrike" kern="1200" cap="none" spc="0" normalizeH="0" baseline="0" noProof="0" dirty="0" err="1">
                <a:ln>
                  <a:noFill/>
                </a:ln>
                <a:solidFill>
                  <a:schemeClr val="tx1"/>
                </a:solidFill>
                <a:effectLst/>
                <a:uLnTx/>
                <a:uFillTx/>
                <a:latin typeface="+mn-lt"/>
                <a:ea typeface="微软雅黑" panose="020B0503020204020204" pitchFamily="34" charset="-122"/>
                <a:cs typeface="+mn-cs"/>
              </a:rPr>
              <a:t>var</a:t>
            </a: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c = 0.0</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for </a:t>
            </a:r>
            <a:r>
              <a:rPr kumimoji="0" lang="en-US" altLang="zh-CN" sz="2000" b="1" i="0" u="none" strike="noStrike" kern="1200" cap="none" spc="0" normalizeH="0" baseline="0" noProof="0" dirty="0" err="1">
                <a:ln>
                  <a:noFill/>
                </a:ln>
                <a:solidFill>
                  <a:schemeClr val="tx1"/>
                </a:solidFill>
                <a:effectLst/>
                <a:uLnTx/>
                <a:uFillTx/>
                <a:latin typeface="+mn-lt"/>
                <a:ea typeface="微软雅黑" panose="020B0503020204020204" pitchFamily="34" charset="-122"/>
                <a:cs typeface="+mn-cs"/>
              </a:rPr>
              <a:t>i</a:t>
            </a: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 1 to </a:t>
            </a:r>
            <a:r>
              <a:rPr kumimoji="0" lang="en-US" altLang="zh-CN" sz="2000" b="1" i="0" u="none" strike="noStrike" kern="1200" cap="none" spc="0" normalizeH="0" baseline="0" noProof="0" dirty="0" err="1">
                <a:ln>
                  <a:noFill/>
                </a:ln>
                <a:solidFill>
                  <a:schemeClr val="tx1"/>
                </a:solidFill>
                <a:effectLst/>
                <a:uLnTx/>
                <a:uFillTx/>
                <a:latin typeface="+mn-lt"/>
                <a:ea typeface="微软雅黑" panose="020B0503020204020204" pitchFamily="34" charset="-122"/>
                <a:cs typeface="+mn-cs"/>
              </a:rPr>
              <a:t>input.length</a:t>
            </a: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do</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a:t>
            </a:r>
            <a:r>
              <a:rPr kumimoji="0" lang="en-US" altLang="zh-CN" sz="2000" b="1" i="0" u="none" strike="noStrike" kern="1200" cap="none" spc="0" normalizeH="0" baseline="0" noProof="0" dirty="0" err="1">
                <a:ln>
                  <a:noFill/>
                </a:ln>
                <a:solidFill>
                  <a:schemeClr val="tx1"/>
                </a:solidFill>
                <a:effectLst/>
                <a:uLnTx/>
                <a:uFillTx/>
                <a:latin typeface="+mn-lt"/>
                <a:ea typeface="微软雅黑" panose="020B0503020204020204" pitchFamily="34" charset="-122"/>
                <a:cs typeface="+mn-cs"/>
              </a:rPr>
              <a:t>var</a:t>
            </a: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y = input[</a:t>
            </a:r>
            <a:r>
              <a:rPr kumimoji="0" lang="en-US" altLang="zh-CN" sz="2000" b="1" i="0" u="none" strike="noStrike" kern="1200" cap="none" spc="0" normalizeH="0" baseline="0" noProof="0" dirty="0" err="1">
                <a:ln>
                  <a:noFill/>
                </a:ln>
                <a:solidFill>
                  <a:schemeClr val="tx1"/>
                </a:solidFill>
                <a:effectLst/>
                <a:uLnTx/>
                <a:uFillTx/>
                <a:latin typeface="+mn-lt"/>
                <a:ea typeface="微软雅黑" panose="020B0503020204020204" pitchFamily="34" charset="-122"/>
                <a:cs typeface="+mn-cs"/>
              </a:rPr>
              <a:t>i</a:t>
            </a: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 c </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a:t>
            </a:r>
            <a:r>
              <a:rPr kumimoji="0" lang="en-US" altLang="zh-CN" sz="2000" b="1" i="0" u="none" strike="noStrike" kern="1200" cap="none" spc="0" normalizeH="0" baseline="0" noProof="0" dirty="0" err="1">
                <a:ln>
                  <a:noFill/>
                </a:ln>
                <a:solidFill>
                  <a:schemeClr val="tx1"/>
                </a:solidFill>
                <a:effectLst/>
                <a:uLnTx/>
                <a:uFillTx/>
                <a:latin typeface="+mn-lt"/>
                <a:ea typeface="微软雅黑" panose="020B0503020204020204" pitchFamily="34" charset="-122"/>
                <a:cs typeface="+mn-cs"/>
              </a:rPr>
              <a:t>var</a:t>
            </a: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t = sum + y</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c = (t - sum) - y</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sum = t</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return sum</a:t>
            </a:r>
            <a:endParaRPr kumimoji="0" lang="en-US" altLang="zh-CN" sz="20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Rectangle 2"/>
          <p:cNvSpPr>
            <a:spLocks noGrp="1"/>
          </p:cNvSpPr>
          <p:nvPr>
            <p:ph type="title"/>
          </p:nvPr>
        </p:nvSpPr>
        <p:spPr>
          <a:xfrm>
            <a:off x="800100" y="190500"/>
            <a:ext cx="7061200" cy="479425"/>
          </a:xfrm>
          <a:ln/>
        </p:spPr>
        <p:txBody>
          <a:bodyPr vert="horz" wrap="square" lIns="63500" tIns="25400" rIns="63500" bIns="25400" anchor="t" anchorCtr="0">
            <a:spAutoFit/>
          </a:bodyPr>
          <a:p>
            <a:r>
              <a:rPr lang="zh-CN" altLang="en-US" dirty="0">
                <a:ea typeface="宋体" panose="02010600030101010101" pitchFamily="2" charset="-122"/>
              </a:rPr>
              <a:t>实例</a:t>
            </a:r>
            <a:r>
              <a:rPr lang="en-US" altLang="zh-CN" dirty="0">
                <a:ea typeface="宋体" panose="02010600030101010101" pitchFamily="2" charset="-122"/>
              </a:rPr>
              <a:t>: PowerPC</a:t>
            </a:r>
            <a:r>
              <a:rPr lang="zh-CN" altLang="en-US" dirty="0">
                <a:ea typeface="宋体" panose="02010600030101010101" pitchFamily="2" charset="-122"/>
              </a:rPr>
              <a:t>和</a:t>
            </a:r>
            <a:r>
              <a:rPr lang="en-US" altLang="zh-CN" dirty="0">
                <a:ea typeface="宋体" panose="02010600030101010101" pitchFamily="2" charset="-122"/>
              </a:rPr>
              <a:t>80x86</a:t>
            </a:r>
            <a:r>
              <a:rPr lang="zh-CN" altLang="en-US" dirty="0">
                <a:ea typeface="宋体" panose="02010600030101010101" pitchFamily="2" charset="-122"/>
              </a:rPr>
              <a:t>中的浮点部件</a:t>
            </a:r>
            <a:endParaRPr lang="zh-CN" altLang="en-US" dirty="0">
              <a:ea typeface="宋体" panose="02010600030101010101" pitchFamily="2" charset="-122"/>
            </a:endParaRPr>
          </a:p>
        </p:txBody>
      </p:sp>
      <p:sp>
        <p:nvSpPr>
          <p:cNvPr id="385027" name="Rectangle 3"/>
          <p:cNvSpPr>
            <a:spLocks noGrp="1"/>
          </p:cNvSpPr>
          <p:nvPr>
            <p:ph idx="1"/>
          </p:nvPr>
        </p:nvSpPr>
        <p:spPr>
          <a:xfrm>
            <a:off x="255588" y="774700"/>
            <a:ext cx="8589962" cy="5654675"/>
          </a:xfrm>
          <a:ln/>
        </p:spPr>
        <p:txBody>
          <a:bodyPr vert="horz" wrap="square" lIns="63500" tIns="25400" rIns="63500" bIns="25400" anchor="t" anchorCtr="0">
            <a:spAutoFit/>
          </a:bodyPr>
          <a:p>
            <a:pPr>
              <a:spcBef>
                <a:spcPct val="25000"/>
              </a:spcBef>
            </a:pPr>
            <a:r>
              <a:rPr lang="en-US" altLang="zh-CN" sz="2000" dirty="0">
                <a:latin typeface="微软雅黑" panose="020B0503020204020204" pitchFamily="34" charset="-122"/>
                <a:ea typeface="微软雅黑" panose="020B0503020204020204" pitchFamily="34" charset="-122"/>
              </a:rPr>
              <a:t>PowerPC</a:t>
            </a:r>
            <a:r>
              <a:rPr lang="zh-CN" altLang="en-US" sz="2000" dirty="0">
                <a:latin typeface="微软雅黑" panose="020B0503020204020204" pitchFamily="34" charset="-122"/>
                <a:ea typeface="微软雅黑" panose="020B0503020204020204" pitchFamily="34" charset="-122"/>
              </a:rPr>
              <a:t>中的浮点运算</a:t>
            </a:r>
            <a:endParaRPr lang="zh-CN" altLang="en-US" sz="2000" dirty="0">
              <a:latin typeface="微软雅黑" panose="020B0503020204020204" pitchFamily="34" charset="-122"/>
              <a:ea typeface="微软雅黑" panose="020B0503020204020204" pitchFamily="34" charset="-122"/>
            </a:endParaRPr>
          </a:p>
          <a:p>
            <a:pPr lvl="1">
              <a:spcBef>
                <a:spcPct val="25000"/>
              </a:spcBef>
            </a:pPr>
            <a:r>
              <a:rPr lang="zh-CN" altLang="en-US" dirty="0">
                <a:latin typeface="微软雅黑" panose="020B0503020204020204" pitchFamily="34" charset="-122"/>
                <a:ea typeface="微软雅黑" panose="020B0503020204020204" pitchFamily="34" charset="-122"/>
              </a:rPr>
              <a:t>比</a:t>
            </a:r>
            <a:r>
              <a:rPr lang="en-US" altLang="zh-CN" dirty="0">
                <a:latin typeface="微软雅黑" panose="020B0503020204020204" pitchFamily="34" charset="-122"/>
                <a:ea typeface="微软雅黑" panose="020B0503020204020204" pitchFamily="34" charset="-122"/>
              </a:rPr>
              <a:t>MIPS</a:t>
            </a:r>
            <a:r>
              <a:rPr lang="zh-CN" altLang="en-US" dirty="0">
                <a:latin typeface="微软雅黑" panose="020B0503020204020204" pitchFamily="34" charset="-122"/>
                <a:ea typeface="微软雅黑" panose="020B0503020204020204" pitchFamily="34" charset="-122"/>
              </a:rPr>
              <a:t>多一条浮点指令：乘累加指令</a:t>
            </a:r>
            <a:endParaRPr lang="zh-CN" altLang="en-US" dirty="0">
              <a:latin typeface="微软雅黑" panose="020B0503020204020204" pitchFamily="34" charset="-122"/>
              <a:ea typeface="微软雅黑" panose="020B0503020204020204" pitchFamily="34" charset="-122"/>
            </a:endParaRPr>
          </a:p>
          <a:p>
            <a:pPr lvl="2">
              <a:spcBef>
                <a:spcPct val="25000"/>
              </a:spcBef>
            </a:pPr>
            <a:r>
              <a:rPr lang="zh-CN" altLang="en-US" sz="2000" dirty="0">
                <a:latin typeface="微软雅黑" panose="020B0503020204020204" pitchFamily="34" charset="-122"/>
                <a:ea typeface="微软雅黑" panose="020B0503020204020204" pitchFamily="34" charset="-122"/>
              </a:rPr>
              <a:t>将两个操作数相乘，再与另一个操作数相加，作为结果操作数</a:t>
            </a:r>
            <a:endParaRPr lang="zh-CN" altLang="en-US" sz="2000" dirty="0">
              <a:latin typeface="微软雅黑" panose="020B0503020204020204" pitchFamily="34" charset="-122"/>
              <a:ea typeface="微软雅黑" panose="020B0503020204020204" pitchFamily="34" charset="-122"/>
            </a:endParaRPr>
          </a:p>
          <a:p>
            <a:pPr lvl="2">
              <a:spcBef>
                <a:spcPct val="25000"/>
              </a:spcBef>
            </a:pPr>
            <a:r>
              <a:rPr lang="zh-CN" altLang="en-US" sz="2000" dirty="0">
                <a:latin typeface="微软雅黑" panose="020B0503020204020204" pitchFamily="34" charset="-122"/>
                <a:ea typeface="微软雅黑" panose="020B0503020204020204" pitchFamily="34" charset="-122"/>
              </a:rPr>
              <a:t>可用一条乘累加指令代替两条</a:t>
            </a:r>
            <a:r>
              <a:rPr lang="en-US" altLang="zh-CN" sz="2000" dirty="0">
                <a:latin typeface="微软雅黑" panose="020B0503020204020204" pitchFamily="34" charset="-122"/>
                <a:ea typeface="微软雅黑" panose="020B0503020204020204" pitchFamily="34" charset="-122"/>
              </a:rPr>
              <a:t>MIPS</a:t>
            </a:r>
            <a:r>
              <a:rPr lang="zh-CN" altLang="en-US" sz="2000" dirty="0">
                <a:latin typeface="微软雅黑" panose="020B0503020204020204" pitchFamily="34" charset="-122"/>
                <a:ea typeface="微软雅黑" panose="020B0503020204020204" pitchFamily="34" charset="-122"/>
              </a:rPr>
              <a:t>浮点指令</a:t>
            </a:r>
            <a:endParaRPr lang="zh-CN" altLang="en-US" sz="2000" dirty="0">
              <a:latin typeface="微软雅黑" panose="020B0503020204020204" pitchFamily="34" charset="-122"/>
              <a:ea typeface="微软雅黑" panose="020B0503020204020204" pitchFamily="34" charset="-122"/>
            </a:endParaRPr>
          </a:p>
          <a:p>
            <a:pPr lvl="2">
              <a:spcBef>
                <a:spcPct val="25000"/>
              </a:spcBef>
            </a:pPr>
            <a:r>
              <a:rPr lang="zh-CN" altLang="en-US" sz="2000" dirty="0">
                <a:latin typeface="微软雅黑" panose="020B0503020204020204" pitchFamily="34" charset="-122"/>
                <a:ea typeface="微软雅黑" panose="020B0503020204020204" pitchFamily="34" charset="-122"/>
              </a:rPr>
              <a:t>可为中间结果多保留几位，得到最后结果后再考虑舍入，精度高</a:t>
            </a:r>
            <a:endParaRPr lang="zh-CN" altLang="en-US" sz="2000" dirty="0">
              <a:latin typeface="微软雅黑" panose="020B0503020204020204" pitchFamily="34" charset="-122"/>
              <a:ea typeface="微软雅黑" panose="020B0503020204020204" pitchFamily="34" charset="-122"/>
            </a:endParaRPr>
          </a:p>
          <a:p>
            <a:pPr lvl="2">
              <a:spcBef>
                <a:spcPct val="25000"/>
              </a:spcBef>
            </a:pPr>
            <a:r>
              <a:rPr lang="zh-CN" altLang="en-US" sz="2000" dirty="0">
                <a:latin typeface="微软雅黑" panose="020B0503020204020204" pitchFamily="34" charset="-122"/>
                <a:ea typeface="微软雅黑" panose="020B0503020204020204" pitchFamily="34" charset="-122"/>
              </a:rPr>
              <a:t>利用它来实现除法运算和平方根运算</a:t>
            </a:r>
            <a:endParaRPr lang="zh-CN" altLang="en-US" sz="2000" dirty="0">
              <a:latin typeface="微软雅黑" panose="020B0503020204020204" pitchFamily="34" charset="-122"/>
              <a:ea typeface="微软雅黑" panose="020B0503020204020204" pitchFamily="34" charset="-122"/>
            </a:endParaRPr>
          </a:p>
          <a:p>
            <a:pPr lvl="1">
              <a:spcBef>
                <a:spcPct val="25000"/>
              </a:spcBef>
            </a:pPr>
            <a:r>
              <a:rPr lang="zh-CN" altLang="en-US" dirty="0">
                <a:latin typeface="微软雅黑" panose="020B0503020204020204" pitchFamily="34" charset="-122"/>
                <a:ea typeface="微软雅黑" panose="020B0503020204020204" pitchFamily="34" charset="-122"/>
              </a:rPr>
              <a:t>浮点寄存器的数量多一倍（</a:t>
            </a:r>
            <a:r>
              <a:rPr lang="en-US" altLang="zh-CN" dirty="0">
                <a:latin typeface="微软雅黑" panose="020B0503020204020204" pitchFamily="34" charset="-122"/>
                <a:ea typeface="微软雅黑" panose="020B0503020204020204" pitchFamily="34" charset="-122"/>
              </a:rPr>
              <a:t>32xSPR, 32xDPR</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spcBef>
                <a:spcPct val="25000"/>
              </a:spcBef>
            </a:pPr>
            <a:r>
              <a:rPr lang="en-US" altLang="zh-CN" sz="2000" dirty="0">
                <a:latin typeface="微软雅黑" panose="020B0503020204020204" pitchFamily="34" charset="-122"/>
                <a:ea typeface="微软雅黑" panose="020B0503020204020204" pitchFamily="34" charset="-122"/>
              </a:rPr>
              <a:t>80x86</a:t>
            </a:r>
            <a:r>
              <a:rPr lang="zh-CN" altLang="en-US" sz="2000" dirty="0">
                <a:latin typeface="微软雅黑" panose="020B0503020204020204" pitchFamily="34" charset="-122"/>
                <a:ea typeface="微软雅黑" panose="020B0503020204020204" pitchFamily="34" charset="-122"/>
              </a:rPr>
              <a:t>中的浮点运算</a:t>
            </a:r>
            <a:endParaRPr lang="zh-CN" altLang="en-US" sz="2000" dirty="0">
              <a:latin typeface="微软雅黑" panose="020B0503020204020204" pitchFamily="34" charset="-122"/>
              <a:ea typeface="微软雅黑" panose="020B0503020204020204" pitchFamily="34" charset="-122"/>
            </a:endParaRPr>
          </a:p>
          <a:p>
            <a:pPr lvl="1">
              <a:spcBef>
                <a:spcPct val="25000"/>
              </a:spcBef>
            </a:pPr>
            <a:r>
              <a:rPr lang="zh-CN" altLang="en-US" dirty="0">
                <a:latin typeface="微软雅黑" panose="020B0503020204020204" pitchFamily="34" charset="-122"/>
                <a:ea typeface="微软雅黑" panose="020B0503020204020204" pitchFamily="34" charset="-122"/>
              </a:rPr>
              <a:t>采用寄存器堆栈结构：栈顶两个数作为操作数</a:t>
            </a:r>
            <a:endParaRPr lang="zh-CN" altLang="en-US" dirty="0">
              <a:latin typeface="微软雅黑" panose="020B0503020204020204" pitchFamily="34" charset="-122"/>
              <a:ea typeface="微软雅黑" panose="020B0503020204020204" pitchFamily="34" charset="-122"/>
            </a:endParaRPr>
          </a:p>
          <a:p>
            <a:pPr lvl="1">
              <a:spcBef>
                <a:spcPct val="25000"/>
              </a:spcBef>
            </a:pPr>
            <a:r>
              <a:rPr lang="zh-CN" altLang="en-US" dirty="0">
                <a:latin typeface="微软雅黑" panose="020B0503020204020204" pitchFamily="34" charset="-122"/>
                <a:ea typeface="微软雅黑" panose="020B0503020204020204" pitchFamily="34" charset="-122"/>
              </a:rPr>
              <a:t>寄存器堆栈的精度为</a:t>
            </a:r>
            <a:r>
              <a:rPr lang="en-US" altLang="zh-CN" dirty="0">
                <a:latin typeface="微软雅黑" panose="020B0503020204020204" pitchFamily="34" charset="-122"/>
                <a:ea typeface="微软雅黑" panose="020B0503020204020204" pitchFamily="34" charset="-122"/>
              </a:rPr>
              <a:t>80</a:t>
            </a:r>
            <a:r>
              <a:rPr lang="zh-CN" altLang="en-US" dirty="0">
                <a:latin typeface="微软雅黑" panose="020B0503020204020204" pitchFamily="34" charset="-122"/>
                <a:ea typeface="微软雅黑" panose="020B0503020204020204" pitchFamily="34" charset="-122"/>
              </a:rPr>
              <a:t>位 </a:t>
            </a:r>
            <a:r>
              <a:rPr lang="en-US" altLang="zh-CN" dirty="0">
                <a:latin typeface="微软雅黑" panose="020B0503020204020204" pitchFamily="34" charset="-122"/>
                <a:ea typeface="微软雅黑" panose="020B0503020204020204" pitchFamily="34" charset="-122"/>
              </a:rPr>
              <a:t>(MIPS</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PowerPC</a:t>
            </a:r>
            <a:r>
              <a:rPr lang="zh-CN" altLang="en-US"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位或</a:t>
            </a:r>
            <a:r>
              <a:rPr lang="en-US" altLang="zh-CN" dirty="0">
                <a:latin typeface="微软雅黑" panose="020B0503020204020204" pitchFamily="34" charset="-122"/>
                <a:ea typeface="微软雅黑" panose="020B0503020204020204" pitchFamily="34" charset="-122"/>
              </a:rPr>
              <a:t>64</a:t>
            </a:r>
            <a:r>
              <a:rPr lang="zh-CN" altLang="en-US" dirty="0">
                <a:latin typeface="微软雅黑" panose="020B0503020204020204" pitchFamily="34" charset="-122"/>
                <a:ea typeface="微软雅黑" panose="020B0503020204020204" pitchFamily="34" charset="-122"/>
              </a:rPr>
              <a:t>位</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spcBef>
                <a:spcPct val="25000"/>
              </a:spcBef>
            </a:pPr>
            <a:r>
              <a:rPr lang="zh-CN" altLang="en-US" dirty="0">
                <a:latin typeface="微软雅黑" panose="020B0503020204020204" pitchFamily="34" charset="-122"/>
                <a:ea typeface="微软雅黑" panose="020B0503020204020204" pitchFamily="34" charset="-122"/>
              </a:rPr>
              <a:t>所有浮点运算都转换为</a:t>
            </a:r>
            <a:r>
              <a:rPr lang="en-US" altLang="zh-CN" dirty="0">
                <a:latin typeface="微软雅黑" panose="020B0503020204020204" pitchFamily="34" charset="-122"/>
                <a:ea typeface="微软雅黑" panose="020B0503020204020204" pitchFamily="34" charset="-122"/>
              </a:rPr>
              <a:t>80</a:t>
            </a:r>
            <a:r>
              <a:rPr lang="zh-CN" altLang="en-US" dirty="0">
                <a:latin typeface="微软雅黑" panose="020B0503020204020204" pitchFamily="34" charset="-122"/>
                <a:ea typeface="微软雅黑" panose="020B0503020204020204" pitchFamily="34" charset="-122"/>
              </a:rPr>
              <a:t>位扩展浮点数进行运算，写回存储器时，再转换位</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位（</a:t>
            </a:r>
            <a:r>
              <a:rPr lang="en-US" altLang="zh-CN" dirty="0">
                <a:latin typeface="微软雅黑" panose="020B0503020204020204" pitchFamily="34" charset="-122"/>
                <a:ea typeface="微软雅黑" panose="020B0503020204020204" pitchFamily="34" charset="-122"/>
              </a:rPr>
              <a:t>float</a:t>
            </a:r>
            <a:r>
              <a:rPr lang="zh-CN" altLang="en-US" dirty="0">
                <a:latin typeface="微软雅黑" panose="020B0503020204020204" pitchFamily="34" charset="-122"/>
                <a:ea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rPr>
              <a:t>64</a:t>
            </a:r>
            <a:r>
              <a:rPr lang="zh-CN" altLang="en-US" dirty="0">
                <a:latin typeface="微软雅黑" panose="020B0503020204020204" pitchFamily="34" charset="-122"/>
                <a:ea typeface="微软雅黑" panose="020B0503020204020204" pitchFamily="34" charset="-122"/>
              </a:rPr>
              <a:t>位（</a:t>
            </a:r>
            <a:r>
              <a:rPr lang="en-US" altLang="zh-CN" dirty="0">
                <a:latin typeface="微软雅黑" panose="020B0503020204020204" pitchFamily="34" charset="-122"/>
                <a:ea typeface="微软雅黑" panose="020B0503020204020204" pitchFamily="34" charset="-122"/>
              </a:rPr>
              <a:t>double</a:t>
            </a:r>
            <a:r>
              <a:rPr lang="zh-CN" altLang="en-US"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hlinkClick r:id="rId1" action="ppaction://hlinkfile"/>
              </a:rPr>
              <a:t>编译器需小心处理</a:t>
            </a:r>
            <a:endParaRPr lang="en-US" altLang="zh-CN" dirty="0">
              <a:latin typeface="微软雅黑" panose="020B0503020204020204" pitchFamily="34" charset="-122"/>
              <a:ea typeface="微软雅黑" panose="020B0503020204020204" pitchFamily="34" charset="-122"/>
            </a:endParaRPr>
          </a:p>
          <a:p>
            <a:pPr lvl="1">
              <a:spcBef>
                <a:spcPct val="25000"/>
              </a:spcBef>
            </a:pPr>
            <a:r>
              <a:rPr lang="zh-CN" altLang="en-US" dirty="0">
                <a:latin typeface="微软雅黑" panose="020B0503020204020204" pitchFamily="34" charset="-122"/>
                <a:ea typeface="微软雅黑" panose="020B0503020204020204" pitchFamily="34" charset="-122"/>
              </a:rPr>
              <a:t>由浮点数访存指令自动完成转换</a:t>
            </a:r>
            <a:endParaRPr lang="zh-CN" altLang="en-US" dirty="0">
              <a:latin typeface="微软雅黑" panose="020B0503020204020204" pitchFamily="34" charset="-122"/>
              <a:ea typeface="微软雅黑" panose="020B0503020204020204" pitchFamily="34" charset="-122"/>
            </a:endParaRPr>
          </a:p>
          <a:p>
            <a:pPr lvl="1">
              <a:spcBef>
                <a:spcPct val="25000"/>
              </a:spcBef>
            </a:pPr>
            <a:r>
              <a:rPr lang="zh-CN" altLang="en-US" dirty="0">
                <a:latin typeface="微软雅黑" panose="020B0503020204020204" pitchFamily="34" charset="-122"/>
                <a:ea typeface="微软雅黑" panose="020B0503020204020204" pitchFamily="34" charset="-122"/>
              </a:rPr>
              <a:t>指令类型：访存、算术、比较、函数（正弦、余弦、对数等）</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5027">
                                            <p:txEl>
                                              <p:charRg st="14" end="33"/>
                                            </p:txEl>
                                          </p:spTgt>
                                        </p:tgtEl>
                                        <p:attrNameLst>
                                          <p:attrName>style.visibility</p:attrName>
                                        </p:attrNameLst>
                                      </p:cBhvr>
                                      <p:to>
                                        <p:strVal val="visible"/>
                                      </p:to>
                                    </p:set>
                                    <p:animEffect transition="in" filter="blinds(horizontal)">
                                      <p:cBhvr>
                                        <p:cTn id="7" dur="500"/>
                                        <p:tgtEl>
                                          <p:spTgt spid="385027">
                                            <p:txEl>
                                              <p:charRg st="14" end="3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5027">
                                            <p:txEl>
                                              <p:charRg st="33" end="61"/>
                                            </p:txEl>
                                          </p:spTgt>
                                        </p:tgtEl>
                                        <p:attrNameLst>
                                          <p:attrName>style.visibility</p:attrName>
                                        </p:attrNameLst>
                                      </p:cBhvr>
                                      <p:to>
                                        <p:strVal val="visible"/>
                                      </p:to>
                                    </p:set>
                                    <p:animEffect transition="in" filter="blinds(horizontal)">
                                      <p:cBhvr>
                                        <p:cTn id="12" dur="500"/>
                                        <p:tgtEl>
                                          <p:spTgt spid="385027">
                                            <p:txEl>
                                              <p:charRg st="33" end="6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5027">
                                            <p:txEl>
                                              <p:charRg st="61" end="83"/>
                                            </p:txEl>
                                          </p:spTgt>
                                        </p:tgtEl>
                                        <p:attrNameLst>
                                          <p:attrName>style.visibility</p:attrName>
                                        </p:attrNameLst>
                                      </p:cBhvr>
                                      <p:to>
                                        <p:strVal val="visible"/>
                                      </p:to>
                                    </p:set>
                                    <p:animEffect transition="in" filter="blinds(horizontal)">
                                      <p:cBhvr>
                                        <p:cTn id="17" dur="500"/>
                                        <p:tgtEl>
                                          <p:spTgt spid="385027">
                                            <p:txEl>
                                              <p:charRg st="61" end="8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5027">
                                            <p:txEl>
                                              <p:charRg st="83" end="112"/>
                                            </p:txEl>
                                          </p:spTgt>
                                        </p:tgtEl>
                                        <p:attrNameLst>
                                          <p:attrName>style.visibility</p:attrName>
                                        </p:attrNameLst>
                                      </p:cBhvr>
                                      <p:to>
                                        <p:strVal val="visible"/>
                                      </p:to>
                                    </p:set>
                                    <p:animEffect transition="in" filter="blinds(horizontal)">
                                      <p:cBhvr>
                                        <p:cTn id="22" dur="500"/>
                                        <p:tgtEl>
                                          <p:spTgt spid="385027">
                                            <p:txEl>
                                              <p:charRg st="83" end="11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5027">
                                            <p:txEl>
                                              <p:charRg st="112" end="129"/>
                                            </p:txEl>
                                          </p:spTgt>
                                        </p:tgtEl>
                                        <p:attrNameLst>
                                          <p:attrName>style.visibility</p:attrName>
                                        </p:attrNameLst>
                                      </p:cBhvr>
                                      <p:to>
                                        <p:strVal val="visible"/>
                                      </p:to>
                                    </p:set>
                                    <p:animEffect transition="in" filter="blinds(horizontal)">
                                      <p:cBhvr>
                                        <p:cTn id="27" dur="500"/>
                                        <p:tgtEl>
                                          <p:spTgt spid="385027">
                                            <p:txEl>
                                              <p:charRg st="112" end="12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85027">
                                            <p:txEl>
                                              <p:charRg st="129" end="157"/>
                                            </p:txEl>
                                          </p:spTgt>
                                        </p:tgtEl>
                                        <p:attrNameLst>
                                          <p:attrName>style.visibility</p:attrName>
                                        </p:attrNameLst>
                                      </p:cBhvr>
                                      <p:to>
                                        <p:strVal val="visible"/>
                                      </p:to>
                                    </p:set>
                                    <p:animEffect transition="in" filter="blinds(horizontal)">
                                      <p:cBhvr>
                                        <p:cTn id="32" dur="500"/>
                                        <p:tgtEl>
                                          <p:spTgt spid="385027">
                                            <p:txEl>
                                              <p:charRg st="129" end="15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85027">
                                            <p:txEl>
                                              <p:charRg st="169" end="190"/>
                                            </p:txEl>
                                          </p:spTgt>
                                        </p:tgtEl>
                                        <p:attrNameLst>
                                          <p:attrName>style.visibility</p:attrName>
                                        </p:attrNameLst>
                                      </p:cBhvr>
                                      <p:to>
                                        <p:strVal val="visible"/>
                                      </p:to>
                                    </p:set>
                                    <p:animEffect transition="in" filter="blinds(horizontal)">
                                      <p:cBhvr>
                                        <p:cTn id="37" dur="500"/>
                                        <p:tgtEl>
                                          <p:spTgt spid="385027">
                                            <p:txEl>
                                              <p:charRg st="169" end="19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85027">
                                            <p:txEl>
                                              <p:charRg st="190" end="226"/>
                                            </p:txEl>
                                          </p:spTgt>
                                        </p:tgtEl>
                                        <p:attrNameLst>
                                          <p:attrName>style.visibility</p:attrName>
                                        </p:attrNameLst>
                                      </p:cBhvr>
                                      <p:to>
                                        <p:strVal val="visible"/>
                                      </p:to>
                                    </p:set>
                                    <p:animEffect transition="in" filter="blinds(horizontal)">
                                      <p:cBhvr>
                                        <p:cTn id="42" dur="500"/>
                                        <p:tgtEl>
                                          <p:spTgt spid="385027">
                                            <p:txEl>
                                              <p:charRg st="190" end="22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85027">
                                            <p:txEl>
                                              <p:charRg st="226" end="292"/>
                                            </p:txEl>
                                          </p:spTgt>
                                        </p:tgtEl>
                                        <p:attrNameLst>
                                          <p:attrName>style.visibility</p:attrName>
                                        </p:attrNameLst>
                                      </p:cBhvr>
                                      <p:to>
                                        <p:strVal val="visible"/>
                                      </p:to>
                                    </p:set>
                                    <p:animEffect transition="in" filter="blinds(horizontal)">
                                      <p:cBhvr>
                                        <p:cTn id="47" dur="500"/>
                                        <p:tgtEl>
                                          <p:spTgt spid="385027">
                                            <p:txEl>
                                              <p:charRg st="226" end="29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85027">
                                            <p:txEl>
                                              <p:charRg st="292" end="307"/>
                                            </p:txEl>
                                          </p:spTgt>
                                        </p:tgtEl>
                                        <p:attrNameLst>
                                          <p:attrName>style.visibility</p:attrName>
                                        </p:attrNameLst>
                                      </p:cBhvr>
                                      <p:to>
                                        <p:strVal val="visible"/>
                                      </p:to>
                                    </p:set>
                                    <p:animEffect transition="in" filter="blinds(horizontal)">
                                      <p:cBhvr>
                                        <p:cTn id="52" dur="500"/>
                                        <p:tgtEl>
                                          <p:spTgt spid="385027">
                                            <p:txEl>
                                              <p:charRg st="292" end="30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85027">
                                            <p:txEl>
                                              <p:charRg st="307" end="335"/>
                                            </p:txEl>
                                          </p:spTgt>
                                        </p:tgtEl>
                                        <p:attrNameLst>
                                          <p:attrName>style.visibility</p:attrName>
                                        </p:attrNameLst>
                                      </p:cBhvr>
                                      <p:to>
                                        <p:strVal val="visible"/>
                                      </p:to>
                                    </p:set>
                                    <p:animEffect transition="in" filter="blinds(horizontal)">
                                      <p:cBhvr>
                                        <p:cTn id="57" dur="500"/>
                                        <p:tgtEl>
                                          <p:spTgt spid="385027">
                                            <p:txEl>
                                              <p:charRg st="307" end="3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Rectangle 2"/>
          <p:cNvSpPr>
            <a:spLocks noGrp="1"/>
          </p:cNvSpPr>
          <p:nvPr>
            <p:ph type="title"/>
          </p:nvPr>
        </p:nvSpPr>
        <p:spPr>
          <a:xfrm>
            <a:off x="800100" y="190500"/>
            <a:ext cx="6073775" cy="479425"/>
          </a:xfrm>
          <a:ln/>
        </p:spPr>
        <p:txBody>
          <a:bodyPr vert="horz" wrap="square" lIns="63500" tIns="25400" rIns="63500" bIns="25400" anchor="t" anchorCtr="0">
            <a:spAutoFit/>
          </a:bodyPr>
          <a:p>
            <a:pPr algn="ctr"/>
            <a:r>
              <a:rPr lang="zh-CN" altLang="en-US" dirty="0">
                <a:ea typeface="宋体" panose="02010600030101010101" pitchFamily="2" charset="-122"/>
              </a:rPr>
              <a:t>第三讲小结</a:t>
            </a:r>
            <a:endParaRPr lang="zh-CN" altLang="en-US" dirty="0">
              <a:ea typeface="宋体" panose="02010600030101010101" pitchFamily="2" charset="-122"/>
            </a:endParaRPr>
          </a:p>
        </p:txBody>
      </p:sp>
      <p:sp>
        <p:nvSpPr>
          <p:cNvPr id="386052" name="Rectangle 4"/>
          <p:cNvSpPr>
            <a:spLocks noGrp="1"/>
          </p:cNvSpPr>
          <p:nvPr>
            <p:ph idx="1"/>
          </p:nvPr>
        </p:nvSpPr>
        <p:spPr>
          <a:xfrm>
            <a:off x="349250" y="806450"/>
            <a:ext cx="7580313" cy="5314950"/>
          </a:xfrm>
          <a:ln/>
        </p:spPr>
        <p:txBody>
          <a:bodyPr vert="horz" wrap="square" lIns="63500" tIns="25400" rIns="63500" bIns="25400" anchor="t" anchorCtr="0">
            <a:spAutoFit/>
          </a:bodyPr>
          <a:p>
            <a:pPr marL="342900" indent="-342900">
              <a:spcBef>
                <a:spcPct val="10000"/>
              </a:spcBef>
            </a:pPr>
            <a:r>
              <a:rPr lang="zh-CN" altLang="en-US" sz="1800" dirty="0">
                <a:latin typeface="微软雅黑" panose="020B0503020204020204" pitchFamily="34" charset="-122"/>
                <a:ea typeface="微软雅黑" panose="020B0503020204020204" pitchFamily="34" charset="-122"/>
              </a:rPr>
              <a:t>浮点数的表示（</a:t>
            </a:r>
            <a:r>
              <a:rPr lang="en-US" altLang="zh-CN" sz="1800" dirty="0">
                <a:latin typeface="微软雅黑" panose="020B0503020204020204" pitchFamily="34" charset="-122"/>
                <a:ea typeface="微软雅黑" panose="020B0503020204020204" pitchFamily="34" charset="-122"/>
              </a:rPr>
              <a:t>IEEE754</a:t>
            </a:r>
            <a:r>
              <a:rPr lang="zh-CN" altLang="en-US" sz="1800" dirty="0">
                <a:latin typeface="微软雅黑" panose="020B0503020204020204" pitchFamily="34" charset="-122"/>
                <a:ea typeface="微软雅黑" panose="020B0503020204020204" pitchFamily="34" charset="-122"/>
              </a:rPr>
              <a:t>标准）</a:t>
            </a:r>
            <a:endParaRPr lang="zh-CN" altLang="en-US" sz="1800" dirty="0">
              <a:latin typeface="微软雅黑" panose="020B0503020204020204" pitchFamily="34" charset="-122"/>
              <a:ea typeface="微软雅黑" panose="020B0503020204020204" pitchFamily="34" charset="-122"/>
            </a:endParaRPr>
          </a:p>
          <a:p>
            <a:pPr marL="742950" lvl="1" indent="-285750">
              <a:spcBef>
                <a:spcPct val="10000"/>
              </a:spcBef>
            </a:pPr>
            <a:r>
              <a:rPr lang="zh-CN" altLang="en-US" sz="1800" dirty="0">
                <a:solidFill>
                  <a:srgbClr val="3333FF"/>
                </a:solidFill>
                <a:latin typeface="微软雅黑" panose="020B0503020204020204" pitchFamily="34" charset="-122"/>
                <a:ea typeface="微软雅黑" panose="020B0503020204020204" pitchFamily="34" charset="-122"/>
              </a:rPr>
              <a:t>单精度</a:t>
            </a:r>
            <a:r>
              <a:rPr lang="en-US" altLang="zh-CN" sz="1800" dirty="0">
                <a:solidFill>
                  <a:srgbClr val="3333FF"/>
                </a:solidFill>
                <a:latin typeface="微软雅黑" panose="020B0503020204020204" pitchFamily="34" charset="-122"/>
                <a:ea typeface="微软雅黑" panose="020B0503020204020204" pitchFamily="34" charset="-122"/>
              </a:rPr>
              <a:t>SP</a:t>
            </a:r>
            <a:r>
              <a:rPr lang="zh-CN" altLang="en-US" sz="1800" dirty="0">
                <a:solidFill>
                  <a:srgbClr val="3333FF"/>
                </a:solidFill>
                <a:latin typeface="微软雅黑" panose="020B0503020204020204" pitchFamily="34" charset="-122"/>
                <a:ea typeface="微软雅黑" panose="020B0503020204020204" pitchFamily="34" charset="-122"/>
              </a:rPr>
              <a:t>（</a:t>
            </a:r>
            <a:r>
              <a:rPr lang="en-US" altLang="zh-CN" sz="1800" dirty="0">
                <a:solidFill>
                  <a:srgbClr val="3333FF"/>
                </a:solidFill>
                <a:latin typeface="微软雅黑" panose="020B0503020204020204" pitchFamily="34" charset="-122"/>
                <a:ea typeface="微软雅黑" panose="020B0503020204020204" pitchFamily="34" charset="-122"/>
              </a:rPr>
              <a:t>float</a:t>
            </a:r>
            <a:r>
              <a:rPr lang="zh-CN" altLang="en-US" sz="1800" dirty="0">
                <a:solidFill>
                  <a:srgbClr val="3333FF"/>
                </a:solidFill>
                <a:latin typeface="微软雅黑" panose="020B0503020204020204" pitchFamily="34" charset="-122"/>
                <a:ea typeface="微软雅黑" panose="020B0503020204020204" pitchFamily="34" charset="-122"/>
              </a:rPr>
              <a:t>）和双精度</a:t>
            </a:r>
            <a:r>
              <a:rPr lang="en-US" altLang="zh-CN" sz="1800" dirty="0">
                <a:solidFill>
                  <a:srgbClr val="3333FF"/>
                </a:solidFill>
                <a:latin typeface="微软雅黑" panose="020B0503020204020204" pitchFamily="34" charset="-122"/>
                <a:ea typeface="微软雅黑" panose="020B0503020204020204" pitchFamily="34" charset="-122"/>
              </a:rPr>
              <a:t>DP</a:t>
            </a:r>
            <a:r>
              <a:rPr lang="zh-CN" altLang="en-US" sz="1800" dirty="0">
                <a:solidFill>
                  <a:srgbClr val="3333FF"/>
                </a:solidFill>
                <a:latin typeface="微软雅黑" panose="020B0503020204020204" pitchFamily="34" charset="-122"/>
                <a:ea typeface="微软雅黑" panose="020B0503020204020204" pitchFamily="34" charset="-122"/>
              </a:rPr>
              <a:t>（</a:t>
            </a:r>
            <a:r>
              <a:rPr lang="en-US" altLang="zh-CN" sz="1800" dirty="0">
                <a:solidFill>
                  <a:srgbClr val="3333FF"/>
                </a:solidFill>
                <a:latin typeface="微软雅黑" panose="020B0503020204020204" pitchFamily="34" charset="-122"/>
                <a:ea typeface="微软雅黑" panose="020B0503020204020204" pitchFamily="34" charset="-122"/>
              </a:rPr>
              <a:t>double</a:t>
            </a:r>
            <a:r>
              <a:rPr lang="zh-CN" altLang="en-US" sz="1800" dirty="0">
                <a:solidFill>
                  <a:srgbClr val="3333FF"/>
                </a:solidFill>
                <a:latin typeface="微软雅黑" panose="020B0503020204020204" pitchFamily="34" charset="-122"/>
                <a:ea typeface="微软雅黑" panose="020B0503020204020204" pitchFamily="34" charset="-122"/>
              </a:rPr>
              <a:t>）</a:t>
            </a:r>
            <a:endParaRPr lang="zh-CN" altLang="en-US" sz="1800" dirty="0">
              <a:solidFill>
                <a:srgbClr val="3333FF"/>
              </a:solidFill>
              <a:latin typeface="微软雅黑" panose="020B0503020204020204" pitchFamily="34" charset="-122"/>
              <a:ea typeface="微软雅黑" panose="020B0503020204020204" pitchFamily="34" charset="-122"/>
            </a:endParaRPr>
          </a:p>
          <a:p>
            <a:pPr marL="1143000" lvl="2" indent="-228600">
              <a:spcBef>
                <a:spcPct val="10000"/>
              </a:spcBef>
            </a:pPr>
            <a:r>
              <a:rPr lang="zh-CN" altLang="en-US" dirty="0">
                <a:solidFill>
                  <a:srgbClr val="006600"/>
                </a:solidFill>
                <a:latin typeface="微软雅黑" panose="020B0503020204020204" pitchFamily="34" charset="-122"/>
                <a:ea typeface="微软雅黑" panose="020B0503020204020204" pitchFamily="34" charset="-122"/>
              </a:rPr>
              <a:t>规格化数</a:t>
            </a:r>
            <a:r>
              <a:rPr lang="en-US" altLang="zh-CN" dirty="0">
                <a:solidFill>
                  <a:srgbClr val="006600"/>
                </a:solidFill>
                <a:latin typeface="微软雅黑" panose="020B0503020204020204" pitchFamily="34" charset="-122"/>
                <a:ea typeface="微软雅黑" panose="020B0503020204020204" pitchFamily="34" charset="-122"/>
              </a:rPr>
              <a:t>(SP)</a:t>
            </a:r>
            <a:r>
              <a:rPr lang="zh-CN" altLang="en-US" dirty="0">
                <a:solidFill>
                  <a:srgbClr val="006600"/>
                </a:solidFill>
                <a:latin typeface="微软雅黑" panose="020B0503020204020204" pitchFamily="34" charset="-122"/>
                <a:ea typeface="微软雅黑" panose="020B0503020204020204" pitchFamily="34" charset="-122"/>
              </a:rPr>
              <a:t>：阶码</a:t>
            </a:r>
            <a:r>
              <a:rPr lang="en-US" altLang="zh-CN" dirty="0">
                <a:solidFill>
                  <a:srgbClr val="006600"/>
                </a:solidFill>
                <a:latin typeface="微软雅黑" panose="020B0503020204020204" pitchFamily="34" charset="-122"/>
                <a:ea typeface="微软雅黑" panose="020B0503020204020204" pitchFamily="34" charset="-122"/>
              </a:rPr>
              <a:t>1~254</a:t>
            </a:r>
            <a:r>
              <a:rPr lang="zh-CN" altLang="en-US" dirty="0">
                <a:solidFill>
                  <a:srgbClr val="006600"/>
                </a:solidFill>
                <a:latin typeface="微软雅黑" panose="020B0503020204020204" pitchFamily="34" charset="-122"/>
                <a:ea typeface="微软雅黑" panose="020B0503020204020204" pitchFamily="34" charset="-122"/>
              </a:rPr>
              <a:t>，尾数最高位隐含为</a:t>
            </a:r>
            <a:r>
              <a:rPr lang="en-US" altLang="zh-CN" dirty="0">
                <a:solidFill>
                  <a:srgbClr val="006600"/>
                </a:solidFill>
                <a:latin typeface="微软雅黑" panose="020B0503020204020204" pitchFamily="34" charset="-122"/>
                <a:ea typeface="微软雅黑" panose="020B0503020204020204" pitchFamily="34" charset="-122"/>
              </a:rPr>
              <a:t>1</a:t>
            </a:r>
            <a:endParaRPr lang="en-US" altLang="zh-CN" dirty="0">
              <a:solidFill>
                <a:srgbClr val="006600"/>
              </a:solidFill>
              <a:latin typeface="微软雅黑" panose="020B0503020204020204" pitchFamily="34" charset="-122"/>
              <a:ea typeface="微软雅黑" panose="020B0503020204020204" pitchFamily="34" charset="-122"/>
            </a:endParaRPr>
          </a:p>
          <a:p>
            <a:pPr marL="1143000" lvl="2" indent="-228600">
              <a:spcBef>
                <a:spcPct val="10000"/>
              </a:spcBef>
            </a:pPr>
            <a:r>
              <a:rPr lang="en-US" altLang="zh-CN" dirty="0">
                <a:solidFill>
                  <a:srgbClr val="006600"/>
                </a:solidFill>
                <a:latin typeface="微软雅黑" panose="020B0503020204020204" pitchFamily="34" charset="-122"/>
                <a:ea typeface="微软雅黑" panose="020B0503020204020204" pitchFamily="34" charset="-122"/>
              </a:rPr>
              <a:t>0(</a:t>
            </a:r>
            <a:r>
              <a:rPr lang="zh-CN" altLang="en-US" dirty="0">
                <a:solidFill>
                  <a:srgbClr val="006600"/>
                </a:solidFill>
                <a:latin typeface="微软雅黑" panose="020B0503020204020204" pitchFamily="34" charset="-122"/>
                <a:ea typeface="微软雅黑" panose="020B0503020204020204" pitchFamily="34" charset="-122"/>
              </a:rPr>
              <a:t>阶为全</a:t>
            </a:r>
            <a:r>
              <a:rPr lang="en-US" altLang="zh-CN" dirty="0">
                <a:solidFill>
                  <a:srgbClr val="006600"/>
                </a:solidFill>
                <a:latin typeface="微软雅黑" panose="020B0503020204020204" pitchFamily="34" charset="-122"/>
                <a:ea typeface="微软雅黑" panose="020B0503020204020204" pitchFamily="34" charset="-122"/>
              </a:rPr>
              <a:t>0</a:t>
            </a:r>
            <a:r>
              <a:rPr lang="zh-CN" altLang="en-US" dirty="0">
                <a:solidFill>
                  <a:srgbClr val="006600"/>
                </a:solidFill>
                <a:latin typeface="微软雅黑" panose="020B0503020204020204" pitchFamily="34" charset="-122"/>
                <a:ea typeface="微软雅黑" panose="020B0503020204020204" pitchFamily="34" charset="-122"/>
              </a:rPr>
              <a:t>，尾为全</a:t>
            </a:r>
            <a:r>
              <a:rPr lang="en-US" altLang="zh-CN" dirty="0">
                <a:solidFill>
                  <a:srgbClr val="006600"/>
                </a:solidFill>
                <a:latin typeface="微软雅黑" panose="020B0503020204020204" pitchFamily="34" charset="-122"/>
                <a:ea typeface="微软雅黑" panose="020B0503020204020204" pitchFamily="34" charset="-122"/>
              </a:rPr>
              <a:t>0)</a:t>
            </a:r>
            <a:endParaRPr lang="en-US" altLang="zh-CN" dirty="0">
              <a:solidFill>
                <a:srgbClr val="006600"/>
              </a:solidFill>
              <a:latin typeface="微软雅黑" panose="020B0503020204020204" pitchFamily="34" charset="-122"/>
              <a:ea typeface="微软雅黑" panose="020B0503020204020204" pitchFamily="34" charset="-122"/>
            </a:endParaRPr>
          </a:p>
          <a:p>
            <a:pPr marL="1143000" lvl="2" indent="-228600">
              <a:spcBef>
                <a:spcPct val="10000"/>
              </a:spcBef>
            </a:pPr>
            <a:r>
              <a:rPr lang="zh-CN" altLang="zh-CN" dirty="0">
                <a:solidFill>
                  <a:srgbClr val="006600"/>
                </a:solidFill>
                <a:latin typeface="微软雅黑" panose="020B0503020204020204" pitchFamily="34" charset="-122"/>
                <a:ea typeface="微软雅黑" panose="020B0503020204020204" pitchFamily="34" charset="-122"/>
              </a:rPr>
              <a:t>∞</a:t>
            </a:r>
            <a:r>
              <a:rPr lang="zh-CN" altLang="en-US" dirty="0">
                <a:solidFill>
                  <a:srgbClr val="006600"/>
                </a:solidFill>
                <a:latin typeface="微软雅黑" panose="020B0503020204020204" pitchFamily="34" charset="-122"/>
                <a:ea typeface="微软雅黑" panose="020B0503020204020204" pitchFamily="34" charset="-122"/>
              </a:rPr>
              <a:t>(阶为全</a:t>
            </a:r>
            <a:r>
              <a:rPr lang="en-US" altLang="zh-CN" dirty="0">
                <a:solidFill>
                  <a:srgbClr val="006600"/>
                </a:solidFill>
                <a:latin typeface="微软雅黑" panose="020B0503020204020204" pitchFamily="34" charset="-122"/>
                <a:ea typeface="微软雅黑" panose="020B0503020204020204" pitchFamily="34" charset="-122"/>
              </a:rPr>
              <a:t>1</a:t>
            </a:r>
            <a:r>
              <a:rPr lang="zh-CN" altLang="en-US" dirty="0">
                <a:solidFill>
                  <a:srgbClr val="006600"/>
                </a:solidFill>
                <a:latin typeface="微软雅黑" panose="020B0503020204020204" pitchFamily="34" charset="-122"/>
                <a:ea typeface="微软雅黑" panose="020B0503020204020204" pitchFamily="34" charset="-122"/>
              </a:rPr>
              <a:t>，尾为全</a:t>
            </a:r>
            <a:r>
              <a:rPr lang="en-US" altLang="zh-CN" dirty="0">
                <a:solidFill>
                  <a:srgbClr val="006600"/>
                </a:solidFill>
                <a:latin typeface="微软雅黑" panose="020B0503020204020204" pitchFamily="34" charset="-122"/>
                <a:ea typeface="微软雅黑" panose="020B0503020204020204" pitchFamily="34" charset="-122"/>
              </a:rPr>
              <a:t>0)</a:t>
            </a:r>
            <a:endParaRPr lang="zh-CN" altLang="en-US" dirty="0">
              <a:solidFill>
                <a:srgbClr val="006600"/>
              </a:solidFill>
              <a:latin typeface="微软雅黑" panose="020B0503020204020204" pitchFamily="34" charset="-122"/>
              <a:ea typeface="微软雅黑" panose="020B0503020204020204" pitchFamily="34" charset="-122"/>
            </a:endParaRPr>
          </a:p>
          <a:p>
            <a:pPr marL="1143000" lvl="2" indent="-228600">
              <a:spcBef>
                <a:spcPct val="10000"/>
              </a:spcBef>
            </a:pPr>
            <a:r>
              <a:rPr lang="en-US" altLang="zh-CN" dirty="0">
                <a:solidFill>
                  <a:srgbClr val="006600"/>
                </a:solidFill>
                <a:latin typeface="微软雅黑" panose="020B0503020204020204" pitchFamily="34" charset="-122"/>
                <a:ea typeface="微软雅黑" panose="020B0503020204020204" pitchFamily="34" charset="-122"/>
              </a:rPr>
              <a:t>NaN(</a:t>
            </a:r>
            <a:r>
              <a:rPr lang="zh-CN" altLang="en-US" dirty="0">
                <a:solidFill>
                  <a:srgbClr val="006600"/>
                </a:solidFill>
                <a:latin typeface="微软雅黑" panose="020B0503020204020204" pitchFamily="34" charset="-122"/>
                <a:ea typeface="微软雅黑" panose="020B0503020204020204" pitchFamily="34" charset="-122"/>
              </a:rPr>
              <a:t>阶为全</a:t>
            </a:r>
            <a:r>
              <a:rPr lang="en-US" altLang="zh-CN" dirty="0">
                <a:solidFill>
                  <a:srgbClr val="006600"/>
                </a:solidFill>
                <a:latin typeface="微软雅黑" panose="020B0503020204020204" pitchFamily="34" charset="-122"/>
                <a:ea typeface="微软雅黑" panose="020B0503020204020204" pitchFamily="34" charset="-122"/>
              </a:rPr>
              <a:t>0</a:t>
            </a:r>
            <a:r>
              <a:rPr lang="zh-CN" altLang="en-US" dirty="0">
                <a:solidFill>
                  <a:srgbClr val="006600"/>
                </a:solidFill>
                <a:latin typeface="微软雅黑" panose="020B0503020204020204" pitchFamily="34" charset="-122"/>
                <a:ea typeface="微软雅黑" panose="020B0503020204020204" pitchFamily="34" charset="-122"/>
              </a:rPr>
              <a:t>，尾为非</a:t>
            </a:r>
            <a:r>
              <a:rPr lang="en-US" altLang="zh-CN" dirty="0">
                <a:solidFill>
                  <a:srgbClr val="006600"/>
                </a:solidFill>
                <a:latin typeface="微软雅黑" panose="020B0503020204020204" pitchFamily="34" charset="-122"/>
                <a:ea typeface="微软雅黑" panose="020B0503020204020204" pitchFamily="34" charset="-122"/>
              </a:rPr>
              <a:t>0)</a:t>
            </a:r>
            <a:endParaRPr lang="en-US" altLang="zh-CN" dirty="0">
              <a:solidFill>
                <a:srgbClr val="006600"/>
              </a:solidFill>
              <a:latin typeface="微软雅黑" panose="020B0503020204020204" pitchFamily="34" charset="-122"/>
              <a:ea typeface="微软雅黑" panose="020B0503020204020204" pitchFamily="34" charset="-122"/>
            </a:endParaRPr>
          </a:p>
          <a:p>
            <a:pPr marL="1143000" lvl="2" indent="-228600">
              <a:spcBef>
                <a:spcPct val="10000"/>
              </a:spcBef>
            </a:pPr>
            <a:r>
              <a:rPr lang="zh-CN" altLang="zh-CN" dirty="0">
                <a:solidFill>
                  <a:srgbClr val="006600"/>
                </a:solidFill>
                <a:latin typeface="微软雅黑" panose="020B0503020204020204" pitchFamily="34" charset="-122"/>
                <a:ea typeface="微软雅黑" panose="020B0503020204020204" pitchFamily="34" charset="-122"/>
              </a:rPr>
              <a:t>非规数</a:t>
            </a:r>
            <a:r>
              <a:rPr lang="zh-CN" altLang="en-US" dirty="0">
                <a:solidFill>
                  <a:srgbClr val="006600"/>
                </a:solidFill>
                <a:latin typeface="微软雅黑" panose="020B0503020204020204" pitchFamily="34" charset="-122"/>
                <a:ea typeface="微软雅黑" panose="020B0503020204020204" pitchFamily="34" charset="-122"/>
              </a:rPr>
              <a:t>(阶为全</a:t>
            </a:r>
            <a:r>
              <a:rPr lang="en-US" altLang="zh-CN" dirty="0">
                <a:solidFill>
                  <a:srgbClr val="006600"/>
                </a:solidFill>
                <a:latin typeface="微软雅黑" panose="020B0503020204020204" pitchFamily="34" charset="-122"/>
                <a:ea typeface="微软雅黑" panose="020B0503020204020204" pitchFamily="34" charset="-122"/>
              </a:rPr>
              <a:t>1</a:t>
            </a:r>
            <a:r>
              <a:rPr lang="zh-CN" altLang="en-US" dirty="0">
                <a:solidFill>
                  <a:srgbClr val="006600"/>
                </a:solidFill>
                <a:latin typeface="微软雅黑" panose="020B0503020204020204" pitchFamily="34" charset="-122"/>
                <a:ea typeface="微软雅黑" panose="020B0503020204020204" pitchFamily="34" charset="-122"/>
              </a:rPr>
              <a:t>，尾为非</a:t>
            </a:r>
            <a:r>
              <a:rPr lang="en-US" altLang="zh-CN" dirty="0">
                <a:solidFill>
                  <a:srgbClr val="006600"/>
                </a:solidFill>
                <a:latin typeface="微软雅黑" panose="020B0503020204020204" pitchFamily="34" charset="-122"/>
                <a:ea typeface="微软雅黑" panose="020B0503020204020204" pitchFamily="34" charset="-122"/>
              </a:rPr>
              <a:t>0)</a:t>
            </a:r>
            <a:endParaRPr lang="en-US" altLang="zh-CN" dirty="0">
              <a:solidFill>
                <a:srgbClr val="006600"/>
              </a:solidFill>
              <a:latin typeface="微软雅黑" panose="020B0503020204020204" pitchFamily="34" charset="-122"/>
              <a:ea typeface="微软雅黑" panose="020B0503020204020204" pitchFamily="34" charset="-122"/>
            </a:endParaRPr>
          </a:p>
          <a:p>
            <a:pPr marL="342900" indent="-342900">
              <a:spcBef>
                <a:spcPct val="10000"/>
              </a:spcBef>
            </a:pPr>
            <a:r>
              <a:rPr lang="zh-CN" altLang="en-US" sz="1800" dirty="0">
                <a:latin typeface="微软雅黑" panose="020B0503020204020204" pitchFamily="34" charset="-122"/>
                <a:ea typeface="微软雅黑" panose="020B0503020204020204" pitchFamily="34" charset="-122"/>
              </a:rPr>
              <a:t>浮点数加减运算</a:t>
            </a:r>
            <a:endParaRPr lang="zh-CN" altLang="en-US" sz="1800" dirty="0">
              <a:latin typeface="微软雅黑" panose="020B0503020204020204" pitchFamily="34" charset="-122"/>
              <a:ea typeface="微软雅黑" panose="020B0503020204020204" pitchFamily="34" charset="-122"/>
            </a:endParaRPr>
          </a:p>
          <a:p>
            <a:pPr marL="742950" lvl="1" indent="-285750">
              <a:spcBef>
                <a:spcPct val="10000"/>
              </a:spcBef>
            </a:pPr>
            <a:r>
              <a:rPr lang="zh-CN" altLang="en-US" sz="1800" dirty="0">
                <a:latin typeface="微软雅黑" panose="020B0503020204020204" pitchFamily="34" charset="-122"/>
                <a:ea typeface="微软雅黑" panose="020B0503020204020204" pitchFamily="34" charset="-122"/>
              </a:rPr>
              <a:t>对阶、尾数加减、规格化（上溢</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下溢处理）、舍入</a:t>
            </a:r>
            <a:endParaRPr lang="zh-CN" altLang="en-US" sz="1800" dirty="0">
              <a:latin typeface="微软雅黑" panose="020B0503020204020204" pitchFamily="34" charset="-122"/>
              <a:ea typeface="微软雅黑" panose="020B0503020204020204" pitchFamily="34" charset="-122"/>
            </a:endParaRPr>
          </a:p>
          <a:p>
            <a:pPr marL="342900" indent="-342900">
              <a:spcBef>
                <a:spcPct val="10000"/>
              </a:spcBef>
            </a:pPr>
            <a:r>
              <a:rPr lang="zh-CN" altLang="en-US" sz="1800" dirty="0">
                <a:latin typeface="微软雅黑" panose="020B0503020204020204" pitchFamily="34" charset="-122"/>
                <a:ea typeface="微软雅黑" panose="020B0503020204020204" pitchFamily="34" charset="-122"/>
              </a:rPr>
              <a:t>浮点数乘除运算</a:t>
            </a:r>
            <a:endParaRPr lang="zh-CN" altLang="en-US" sz="1800" dirty="0">
              <a:latin typeface="微软雅黑" panose="020B0503020204020204" pitchFamily="34" charset="-122"/>
              <a:ea typeface="微软雅黑" panose="020B0503020204020204" pitchFamily="34" charset="-122"/>
            </a:endParaRPr>
          </a:p>
          <a:p>
            <a:pPr marL="742950" lvl="1" indent="-285750">
              <a:spcBef>
                <a:spcPct val="10000"/>
              </a:spcBef>
            </a:pPr>
            <a:r>
              <a:rPr lang="zh-CN" altLang="en-US" sz="1800" dirty="0">
                <a:latin typeface="微软雅黑" panose="020B0503020204020204" pitchFamily="34" charset="-122"/>
                <a:ea typeface="微软雅黑" panose="020B0503020204020204" pitchFamily="34" charset="-122"/>
              </a:rPr>
              <a:t>求阶、尾数乘除、规格化（上溢</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下溢处理） 、舍入</a:t>
            </a:r>
            <a:endParaRPr lang="zh-CN" altLang="en-US" sz="1800" dirty="0">
              <a:latin typeface="微软雅黑" panose="020B0503020204020204" pitchFamily="34" charset="-122"/>
              <a:ea typeface="微软雅黑" panose="020B0503020204020204" pitchFamily="34" charset="-122"/>
            </a:endParaRPr>
          </a:p>
          <a:p>
            <a:pPr marL="342900" indent="-342900">
              <a:spcBef>
                <a:spcPct val="10000"/>
              </a:spcBef>
            </a:pPr>
            <a:r>
              <a:rPr lang="zh-CN" altLang="en-US" sz="1800" dirty="0">
                <a:latin typeface="微软雅黑" panose="020B0503020204020204" pitchFamily="34" charset="-122"/>
                <a:ea typeface="微软雅黑" panose="020B0503020204020204" pitchFamily="34" charset="-122"/>
              </a:rPr>
              <a:t>浮点数的精度问题</a:t>
            </a:r>
            <a:endParaRPr lang="zh-CN" altLang="en-US" sz="1800" dirty="0">
              <a:latin typeface="微软雅黑" panose="020B0503020204020204" pitchFamily="34" charset="-122"/>
              <a:ea typeface="微软雅黑" panose="020B0503020204020204" pitchFamily="34" charset="-122"/>
            </a:endParaRPr>
          </a:p>
          <a:p>
            <a:pPr marL="742950" lvl="1" indent="-285750">
              <a:spcBef>
                <a:spcPct val="10000"/>
              </a:spcBef>
            </a:pPr>
            <a:r>
              <a:rPr lang="zh-CN" altLang="en-US" sz="1800" dirty="0">
                <a:latin typeface="微软雅黑" panose="020B0503020204020204" pitchFamily="34" charset="-122"/>
                <a:ea typeface="微软雅黑" panose="020B0503020204020204" pitchFamily="34" charset="-122"/>
              </a:rPr>
              <a:t>中间结果加保护位、舍入位（和粘位）</a:t>
            </a:r>
            <a:endParaRPr lang="zh-CN" altLang="en-US" sz="1800" dirty="0">
              <a:latin typeface="微软雅黑" panose="020B0503020204020204" pitchFamily="34" charset="-122"/>
              <a:ea typeface="微软雅黑" panose="020B0503020204020204" pitchFamily="34" charset="-122"/>
            </a:endParaRPr>
          </a:p>
          <a:p>
            <a:pPr marL="742950" lvl="1" indent="-285750">
              <a:spcBef>
                <a:spcPct val="10000"/>
              </a:spcBef>
            </a:pPr>
            <a:r>
              <a:rPr lang="zh-CN" altLang="en-US" sz="1800" dirty="0">
                <a:latin typeface="微软雅黑" panose="020B0503020204020204" pitchFamily="34" charset="-122"/>
                <a:ea typeface="微软雅黑" panose="020B0503020204020204" pitchFamily="34" charset="-122"/>
              </a:rPr>
              <a:t>最终进行舍入（有四种舍入方式）</a:t>
            </a:r>
            <a:endParaRPr lang="zh-CN" altLang="en-US" sz="1800" dirty="0">
              <a:latin typeface="微软雅黑" panose="020B0503020204020204" pitchFamily="34" charset="-122"/>
              <a:ea typeface="微软雅黑" panose="020B0503020204020204" pitchFamily="34" charset="-122"/>
            </a:endParaRPr>
          </a:p>
          <a:p>
            <a:pPr marL="1143000" lvl="2" indent="-228600">
              <a:spcBef>
                <a:spcPct val="10000"/>
              </a:spcBef>
            </a:pPr>
            <a:r>
              <a:rPr lang="zh-CN" altLang="en-US" dirty="0">
                <a:solidFill>
                  <a:srgbClr val="006600"/>
                </a:solidFill>
                <a:latin typeface="微软雅黑" panose="020B0503020204020204" pitchFamily="34" charset="-122"/>
                <a:ea typeface="微软雅黑" panose="020B0503020204020204" pitchFamily="34" charset="-122"/>
              </a:rPr>
              <a:t>就近（中间值强迫为偶数）、</a:t>
            </a:r>
            <a:r>
              <a:rPr lang="en-US" altLang="zh-CN" dirty="0">
                <a:solidFill>
                  <a:srgbClr val="006600"/>
                </a:solidFill>
                <a:latin typeface="微软雅黑" panose="020B0503020204020204" pitchFamily="34" charset="-122"/>
                <a:ea typeface="微软雅黑" panose="020B0503020204020204" pitchFamily="34" charset="-122"/>
              </a:rPr>
              <a:t>+ </a:t>
            </a:r>
            <a:r>
              <a:rPr lang="zh-CN" altLang="zh-CN" dirty="0">
                <a:solidFill>
                  <a:srgbClr val="006600"/>
                </a:solidFill>
                <a:latin typeface="微软雅黑" panose="020B0503020204020204" pitchFamily="34" charset="-122"/>
                <a:ea typeface="微软雅黑" panose="020B0503020204020204" pitchFamily="34" charset="-122"/>
              </a:rPr>
              <a:t>∞方向、</a:t>
            </a:r>
            <a:r>
              <a:rPr lang="zh-CN" altLang="en-US" dirty="0">
                <a:solidFill>
                  <a:srgbClr val="006600"/>
                </a:solidFill>
                <a:latin typeface="微软雅黑" panose="020B0503020204020204" pitchFamily="34" charset="-122"/>
                <a:ea typeface="微软雅黑" panose="020B0503020204020204" pitchFamily="34" charset="-122"/>
              </a:rPr>
              <a:t>- </a:t>
            </a:r>
            <a:r>
              <a:rPr lang="zh-CN" altLang="zh-CN" dirty="0">
                <a:solidFill>
                  <a:srgbClr val="006600"/>
                </a:solidFill>
                <a:latin typeface="微软雅黑" panose="020B0503020204020204" pitchFamily="34" charset="-122"/>
                <a:ea typeface="微软雅黑" panose="020B0503020204020204" pitchFamily="34" charset="-122"/>
              </a:rPr>
              <a:t>∞方向、</a:t>
            </a:r>
            <a:r>
              <a:rPr lang="zh-CN" altLang="en-US" dirty="0">
                <a:solidFill>
                  <a:srgbClr val="006600"/>
                </a:solidFill>
                <a:latin typeface="微软雅黑" panose="020B0503020204020204" pitchFamily="34" charset="-122"/>
                <a:ea typeface="微软雅黑" panose="020B0503020204020204" pitchFamily="34" charset="-122"/>
              </a:rPr>
              <a:t>0</a:t>
            </a:r>
            <a:r>
              <a:rPr lang="zh-CN" altLang="zh-CN" dirty="0">
                <a:solidFill>
                  <a:srgbClr val="006600"/>
                </a:solidFill>
                <a:latin typeface="微软雅黑" panose="020B0503020204020204" pitchFamily="34" charset="-122"/>
                <a:ea typeface="微软雅黑" panose="020B0503020204020204" pitchFamily="34" charset="-122"/>
              </a:rPr>
              <a:t>方向</a:t>
            </a:r>
            <a:endParaRPr lang="zh-CN" altLang="en-US" dirty="0">
              <a:solidFill>
                <a:srgbClr val="006600"/>
              </a:solidFill>
              <a:latin typeface="微软雅黑" panose="020B0503020204020204" pitchFamily="34" charset="-122"/>
              <a:ea typeface="微软雅黑" panose="020B0503020204020204" pitchFamily="34" charset="-122"/>
            </a:endParaRPr>
          </a:p>
          <a:p>
            <a:pPr marL="1143000" lvl="2" indent="-228600">
              <a:spcBef>
                <a:spcPct val="10000"/>
              </a:spcBef>
            </a:pPr>
            <a:r>
              <a:rPr lang="zh-CN" altLang="en-US" dirty="0">
                <a:solidFill>
                  <a:srgbClr val="006600"/>
                </a:solidFill>
                <a:latin typeface="微软雅黑" panose="020B0503020204020204" pitchFamily="34" charset="-122"/>
                <a:ea typeface="微软雅黑" panose="020B0503020204020204" pitchFamily="34" charset="-122"/>
              </a:rPr>
              <a:t>默认为“就近”舍入方式</a:t>
            </a:r>
            <a:endParaRPr lang="zh-CN" altLang="en-US" dirty="0">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6052">
                                            <p:txEl>
                                              <p:charRg st="18" end="45"/>
                                            </p:txEl>
                                          </p:spTgt>
                                        </p:tgtEl>
                                        <p:attrNameLst>
                                          <p:attrName>style.visibility</p:attrName>
                                        </p:attrNameLst>
                                      </p:cBhvr>
                                      <p:to>
                                        <p:strVal val="visible"/>
                                      </p:to>
                                    </p:set>
                                    <p:animEffect transition="in" filter="blinds(horizontal)">
                                      <p:cBhvr>
                                        <p:cTn id="7" dur="500"/>
                                        <p:tgtEl>
                                          <p:spTgt spid="386052">
                                            <p:txEl>
                                              <p:charRg st="18" end="4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6052">
                                            <p:txEl>
                                              <p:charRg st="45" end="72"/>
                                            </p:txEl>
                                          </p:spTgt>
                                        </p:tgtEl>
                                        <p:attrNameLst>
                                          <p:attrName>style.visibility</p:attrName>
                                        </p:attrNameLst>
                                      </p:cBhvr>
                                      <p:to>
                                        <p:strVal val="visible"/>
                                      </p:to>
                                    </p:set>
                                    <p:animEffect transition="in" filter="blinds(horizontal)">
                                      <p:cBhvr>
                                        <p:cTn id="12" dur="500"/>
                                        <p:tgtEl>
                                          <p:spTgt spid="386052">
                                            <p:txEl>
                                              <p:charRg st="45" end="7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6052">
                                            <p:txEl>
                                              <p:charRg st="72" end="85"/>
                                            </p:txEl>
                                          </p:spTgt>
                                        </p:tgtEl>
                                        <p:attrNameLst>
                                          <p:attrName>style.visibility</p:attrName>
                                        </p:attrNameLst>
                                      </p:cBhvr>
                                      <p:to>
                                        <p:strVal val="visible"/>
                                      </p:to>
                                    </p:set>
                                    <p:animEffect transition="in" filter="blinds(horizontal)">
                                      <p:cBhvr>
                                        <p:cTn id="17" dur="500"/>
                                        <p:tgtEl>
                                          <p:spTgt spid="386052">
                                            <p:txEl>
                                              <p:charRg st="72" end="8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6052">
                                            <p:txEl>
                                              <p:charRg st="85" end="98"/>
                                            </p:txEl>
                                          </p:spTgt>
                                        </p:tgtEl>
                                        <p:attrNameLst>
                                          <p:attrName>style.visibility</p:attrName>
                                        </p:attrNameLst>
                                      </p:cBhvr>
                                      <p:to>
                                        <p:strVal val="visible"/>
                                      </p:to>
                                    </p:set>
                                    <p:animEffect transition="in" filter="blinds(horizontal)">
                                      <p:cBhvr>
                                        <p:cTn id="22" dur="500"/>
                                        <p:tgtEl>
                                          <p:spTgt spid="386052">
                                            <p:txEl>
                                              <p:charRg st="85" end="9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6052">
                                            <p:txEl>
                                              <p:charRg st="98" end="113"/>
                                            </p:txEl>
                                          </p:spTgt>
                                        </p:tgtEl>
                                        <p:attrNameLst>
                                          <p:attrName>style.visibility</p:attrName>
                                        </p:attrNameLst>
                                      </p:cBhvr>
                                      <p:to>
                                        <p:strVal val="visible"/>
                                      </p:to>
                                    </p:set>
                                    <p:animEffect transition="in" filter="blinds(horizontal)">
                                      <p:cBhvr>
                                        <p:cTn id="27" dur="500"/>
                                        <p:tgtEl>
                                          <p:spTgt spid="386052">
                                            <p:txEl>
                                              <p:charRg st="98" end="11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86052">
                                            <p:txEl>
                                              <p:charRg st="113" end="128"/>
                                            </p:txEl>
                                          </p:spTgt>
                                        </p:tgtEl>
                                        <p:attrNameLst>
                                          <p:attrName>style.visibility</p:attrName>
                                        </p:attrNameLst>
                                      </p:cBhvr>
                                      <p:to>
                                        <p:strVal val="visible"/>
                                      </p:to>
                                    </p:set>
                                    <p:animEffect transition="in" filter="blinds(horizontal)">
                                      <p:cBhvr>
                                        <p:cTn id="32" dur="500"/>
                                        <p:tgtEl>
                                          <p:spTgt spid="386052">
                                            <p:txEl>
                                              <p:charRg st="113" end="12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86052">
                                            <p:txEl>
                                              <p:charRg st="136" end="160"/>
                                            </p:txEl>
                                          </p:spTgt>
                                        </p:tgtEl>
                                        <p:attrNameLst>
                                          <p:attrName>style.visibility</p:attrName>
                                        </p:attrNameLst>
                                      </p:cBhvr>
                                      <p:to>
                                        <p:strVal val="visible"/>
                                      </p:to>
                                    </p:set>
                                    <p:animEffect transition="in" filter="blinds(horizontal)">
                                      <p:cBhvr>
                                        <p:cTn id="37" dur="500"/>
                                        <p:tgtEl>
                                          <p:spTgt spid="386052">
                                            <p:txEl>
                                              <p:charRg st="136" end="16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86052">
                                            <p:txEl>
                                              <p:charRg st="168" end="193"/>
                                            </p:txEl>
                                          </p:spTgt>
                                        </p:tgtEl>
                                        <p:attrNameLst>
                                          <p:attrName>style.visibility</p:attrName>
                                        </p:attrNameLst>
                                      </p:cBhvr>
                                      <p:to>
                                        <p:strVal val="visible"/>
                                      </p:to>
                                    </p:set>
                                    <p:animEffect transition="in" filter="blinds(horizontal)">
                                      <p:cBhvr>
                                        <p:cTn id="42" dur="500"/>
                                        <p:tgtEl>
                                          <p:spTgt spid="386052">
                                            <p:txEl>
                                              <p:charRg st="168" end="19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86052">
                                            <p:txEl>
                                              <p:charRg st="202" end="220"/>
                                            </p:txEl>
                                          </p:spTgt>
                                        </p:tgtEl>
                                        <p:attrNameLst>
                                          <p:attrName>style.visibility</p:attrName>
                                        </p:attrNameLst>
                                      </p:cBhvr>
                                      <p:to>
                                        <p:strVal val="visible"/>
                                      </p:to>
                                    </p:set>
                                    <p:animEffect transition="in" filter="blinds(horizontal)">
                                      <p:cBhvr>
                                        <p:cTn id="47" dur="500"/>
                                        <p:tgtEl>
                                          <p:spTgt spid="386052">
                                            <p:txEl>
                                              <p:charRg st="202" end="22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86052">
                                            <p:txEl>
                                              <p:charRg st="220" end="236"/>
                                            </p:txEl>
                                          </p:spTgt>
                                        </p:tgtEl>
                                        <p:attrNameLst>
                                          <p:attrName>style.visibility</p:attrName>
                                        </p:attrNameLst>
                                      </p:cBhvr>
                                      <p:to>
                                        <p:strVal val="visible"/>
                                      </p:to>
                                    </p:set>
                                    <p:animEffect transition="in" filter="blinds(horizontal)">
                                      <p:cBhvr>
                                        <p:cTn id="52" dur="500"/>
                                        <p:tgtEl>
                                          <p:spTgt spid="386052">
                                            <p:txEl>
                                              <p:charRg st="220" end="23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86052">
                                            <p:txEl>
                                              <p:charRg st="236" end="265"/>
                                            </p:txEl>
                                          </p:spTgt>
                                        </p:tgtEl>
                                        <p:attrNameLst>
                                          <p:attrName>style.visibility</p:attrName>
                                        </p:attrNameLst>
                                      </p:cBhvr>
                                      <p:to>
                                        <p:strVal val="visible"/>
                                      </p:to>
                                    </p:set>
                                    <p:animEffect transition="in" filter="blinds(horizontal)">
                                      <p:cBhvr>
                                        <p:cTn id="57" dur="500"/>
                                        <p:tgtEl>
                                          <p:spTgt spid="386052">
                                            <p:txEl>
                                              <p:charRg st="236" end="26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86052">
                                            <p:txEl>
                                              <p:charRg st="265" end="277"/>
                                            </p:txEl>
                                          </p:spTgt>
                                        </p:tgtEl>
                                        <p:attrNameLst>
                                          <p:attrName>style.visibility</p:attrName>
                                        </p:attrNameLst>
                                      </p:cBhvr>
                                      <p:to>
                                        <p:strVal val="visible"/>
                                      </p:to>
                                    </p:set>
                                    <p:animEffect transition="in" filter="blinds(horizontal)">
                                      <p:cBhvr>
                                        <p:cTn id="62" dur="500"/>
                                        <p:tgtEl>
                                          <p:spTgt spid="386052">
                                            <p:txEl>
                                              <p:charRg st="265" end="2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7"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本章总结（</a:t>
            </a:r>
            <a:r>
              <a:rPr lang="en-US" altLang="zh-CN" dirty="0">
                <a:ea typeface="宋体" panose="02010600030101010101" pitchFamily="2" charset="-122"/>
              </a:rPr>
              <a:t>1</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390147" name="Rectangle 3"/>
          <p:cNvSpPr>
            <a:spLocks noGrp="1"/>
          </p:cNvSpPr>
          <p:nvPr>
            <p:ph idx="1"/>
          </p:nvPr>
        </p:nvSpPr>
        <p:spPr>
          <a:xfrm>
            <a:off x="444500" y="700088"/>
            <a:ext cx="8435975" cy="5972175"/>
          </a:xfrm>
          <a:ln/>
        </p:spPr>
        <p:txBody>
          <a:bodyPr vert="horz" wrap="square" lIns="63500" tIns="25400" rIns="63500" bIns="25400" anchor="t" anchorCtr="0">
            <a:spAutoFit/>
          </a:bodyPr>
          <a:p>
            <a:pPr marL="457200" indent="-457200">
              <a:lnSpc>
                <a:spcPct val="100000"/>
              </a:lnSpc>
              <a:buNone/>
            </a:pPr>
            <a:r>
              <a:rPr lang="zh-CN" altLang="en-US" sz="1600" dirty="0">
                <a:ea typeface="黑体" panose="02010609060101010101" pitchFamily="49" charset="-122"/>
              </a:rPr>
              <a:t>定点数运算：由</a:t>
            </a:r>
            <a:r>
              <a:rPr lang="en-US" altLang="zh-CN" sz="1600" dirty="0">
                <a:ea typeface="黑体" panose="02010609060101010101" pitchFamily="49" charset="-122"/>
              </a:rPr>
              <a:t>ALU + </a:t>
            </a:r>
            <a:r>
              <a:rPr lang="zh-CN" altLang="en-US" sz="1600" dirty="0">
                <a:ea typeface="黑体" panose="02010609060101010101" pitchFamily="49" charset="-122"/>
              </a:rPr>
              <a:t>移位器实现各种定点运算</a:t>
            </a:r>
            <a:endParaRPr lang="zh-CN" altLang="en-US" sz="1600" dirty="0">
              <a:ea typeface="黑体" panose="02010609060101010101" pitchFamily="49" charset="-122"/>
            </a:endParaRPr>
          </a:p>
          <a:p>
            <a:pPr marL="457200" indent="-457200">
              <a:lnSpc>
                <a:spcPct val="100000"/>
              </a:lnSpc>
            </a:pPr>
            <a:r>
              <a:rPr lang="zh-CN" altLang="en-US" sz="1600" dirty="0">
                <a:ea typeface="黑体" panose="02010609060101010101" pitchFamily="49" charset="-122"/>
              </a:rPr>
              <a:t>移位运算</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逻辑移位：对无符号数进行，左（右）边补</a:t>
            </a:r>
            <a:r>
              <a:rPr lang="en-US" altLang="zh-CN" sz="1600" dirty="0">
                <a:ea typeface="黑体" panose="02010609060101010101" pitchFamily="49" charset="-122"/>
              </a:rPr>
              <a:t>0</a:t>
            </a:r>
            <a:r>
              <a:rPr lang="zh-CN" altLang="en-US" sz="1600" dirty="0">
                <a:ea typeface="黑体" panose="02010609060101010101" pitchFamily="49" charset="-122"/>
              </a:rPr>
              <a:t>，低（高）位移出</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算术移位：对带符号整数进行，移位前后符号位不变，编码不同，方式不同。</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循环移位：最左（右）边位移到最低（高）位，其他位左（右）移一位。</a:t>
            </a:r>
            <a:endParaRPr lang="zh-CN" altLang="en-US" sz="1600" dirty="0">
              <a:ea typeface="黑体" panose="02010609060101010101" pitchFamily="49" charset="-122"/>
            </a:endParaRPr>
          </a:p>
          <a:p>
            <a:pPr marL="457200" indent="-457200">
              <a:lnSpc>
                <a:spcPct val="100000"/>
              </a:lnSpc>
            </a:pPr>
            <a:r>
              <a:rPr lang="zh-CN" altLang="en-US" sz="1600" dirty="0">
                <a:ea typeface="黑体" panose="02010609060101010101" pitchFamily="49" charset="-122"/>
              </a:rPr>
              <a:t>扩展运算</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零扩展：对无符号整数进行高位补</a:t>
            </a:r>
            <a:r>
              <a:rPr lang="en-US" altLang="zh-CN" sz="1600" dirty="0">
                <a:ea typeface="黑体" panose="02010609060101010101" pitchFamily="49" charset="-122"/>
              </a:rPr>
              <a:t>0</a:t>
            </a:r>
            <a:endParaRPr lang="en-US" altLang="zh-CN"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符号扩展：对补码整数在高位直接补符</a:t>
            </a:r>
            <a:endParaRPr lang="zh-CN" altLang="en-US" sz="1600" dirty="0">
              <a:ea typeface="黑体" panose="02010609060101010101" pitchFamily="49" charset="-122"/>
            </a:endParaRPr>
          </a:p>
          <a:p>
            <a:pPr marL="457200" indent="-457200">
              <a:lnSpc>
                <a:spcPct val="100000"/>
              </a:lnSpc>
            </a:pPr>
            <a:r>
              <a:rPr lang="zh-CN" altLang="en-US" sz="1600" dirty="0">
                <a:ea typeface="黑体" panose="02010609060101010101" pitchFamily="49" charset="-122"/>
              </a:rPr>
              <a:t>加减运算</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补码加</a:t>
            </a:r>
            <a:r>
              <a:rPr lang="en-US" altLang="zh-CN" sz="1600" dirty="0">
                <a:ea typeface="黑体" panose="02010609060101010101" pitchFamily="49" charset="-122"/>
              </a:rPr>
              <a:t>/</a:t>
            </a:r>
            <a:r>
              <a:rPr lang="zh-CN" altLang="en-US" sz="1600" dirty="0">
                <a:ea typeface="黑体" panose="02010609060101010101" pitchFamily="49" charset="-122"/>
              </a:rPr>
              <a:t>减运算：用于整数加</a:t>
            </a:r>
            <a:r>
              <a:rPr lang="en-US" altLang="zh-CN" sz="1600" dirty="0">
                <a:ea typeface="黑体" panose="02010609060101010101" pitchFamily="49" charset="-122"/>
              </a:rPr>
              <a:t>/</a:t>
            </a:r>
            <a:r>
              <a:rPr lang="zh-CN" altLang="en-US" sz="1600" dirty="0">
                <a:ea typeface="黑体" panose="02010609060101010101" pitchFamily="49" charset="-122"/>
              </a:rPr>
              <a:t>减运算。符号位和数值位一起运算，减法用加法实现。同号相加时，若结果的符号不同于加数的符号，则会发生溢出。</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原码加</a:t>
            </a:r>
            <a:r>
              <a:rPr lang="en-US" altLang="zh-CN" sz="1600" dirty="0">
                <a:ea typeface="黑体" panose="02010609060101010101" pitchFamily="49" charset="-122"/>
              </a:rPr>
              <a:t>/</a:t>
            </a:r>
            <a:r>
              <a:rPr lang="zh-CN" altLang="en-US" sz="1600" dirty="0">
                <a:ea typeface="黑体" panose="02010609060101010101" pitchFamily="49" charset="-122"/>
              </a:rPr>
              <a:t>减运算：用于浮点数尾数加</a:t>
            </a:r>
            <a:r>
              <a:rPr lang="en-US" altLang="zh-CN" sz="1600" dirty="0">
                <a:ea typeface="黑体" panose="02010609060101010101" pitchFamily="49" charset="-122"/>
              </a:rPr>
              <a:t>/</a:t>
            </a:r>
            <a:r>
              <a:rPr lang="zh-CN" altLang="en-US" sz="1600" dirty="0">
                <a:ea typeface="黑体" panose="02010609060101010101" pitchFamily="49" charset="-122"/>
              </a:rPr>
              <a:t>减运算。符号位和数值位分开运算，同号相加，异号相减；加法直接加；减法用加负数补码实现。</a:t>
            </a:r>
            <a:endParaRPr lang="zh-CN" altLang="en-US" sz="1600" dirty="0">
              <a:ea typeface="黑体" panose="02010609060101010101" pitchFamily="49" charset="-122"/>
            </a:endParaRPr>
          </a:p>
          <a:p>
            <a:pPr marL="457200" indent="-457200">
              <a:lnSpc>
                <a:spcPct val="100000"/>
              </a:lnSpc>
            </a:pPr>
            <a:r>
              <a:rPr lang="zh-CN" altLang="en-US" sz="1600" dirty="0">
                <a:ea typeface="黑体" panose="02010609060101010101" pitchFamily="49" charset="-122"/>
              </a:rPr>
              <a:t>乘法运算：用加法和右移实现。</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补码乘法：用于整数乘法运算。符号位和数值位一起运算。采用</a:t>
            </a:r>
            <a:r>
              <a:rPr lang="en-US" altLang="zh-CN" sz="1600" dirty="0">
                <a:ea typeface="黑体" panose="02010609060101010101" pitchFamily="49" charset="-122"/>
              </a:rPr>
              <a:t>Booth</a:t>
            </a:r>
            <a:r>
              <a:rPr lang="zh-CN" altLang="en-US" sz="1600" dirty="0">
                <a:ea typeface="黑体" panose="02010609060101010101" pitchFamily="49" charset="-122"/>
              </a:rPr>
              <a:t>算法。</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原码乘法：用于浮点数尾数乘法运算。符号位和数值位分开运算。数值部分用无符号数乘法实现。</a:t>
            </a:r>
            <a:endParaRPr lang="zh-CN" altLang="en-US" sz="1600" dirty="0">
              <a:ea typeface="黑体" panose="02010609060101010101" pitchFamily="49" charset="-122"/>
            </a:endParaRPr>
          </a:p>
          <a:p>
            <a:pPr marL="457200" indent="-457200">
              <a:lnSpc>
                <a:spcPct val="100000"/>
              </a:lnSpc>
            </a:pPr>
            <a:r>
              <a:rPr lang="zh-CN" altLang="en-US" sz="1600" dirty="0">
                <a:ea typeface="黑体" panose="02010609060101010101" pitchFamily="49" charset="-122"/>
              </a:rPr>
              <a:t>除法运算：用加</a:t>
            </a:r>
            <a:r>
              <a:rPr lang="en-US" altLang="zh-CN" sz="1600" dirty="0">
                <a:ea typeface="黑体" panose="02010609060101010101" pitchFamily="49" charset="-122"/>
              </a:rPr>
              <a:t>/</a:t>
            </a:r>
            <a:r>
              <a:rPr lang="zh-CN" altLang="en-US" sz="1600" dirty="0">
                <a:ea typeface="黑体" panose="02010609060101010101" pitchFamily="49" charset="-122"/>
              </a:rPr>
              <a:t>减法和左移实现。</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补码除法：用于整数除法运算。符号位和数值位一起运算。</a:t>
            </a:r>
            <a:endParaRPr lang="zh-CN" altLang="en-US" sz="1600" dirty="0">
              <a:ea typeface="黑体" panose="02010609060101010101" pitchFamily="49" charset="-122"/>
            </a:endParaRPr>
          </a:p>
          <a:p>
            <a:pPr marL="914400" lvl="1" indent="-419100">
              <a:lnSpc>
                <a:spcPct val="100000"/>
              </a:lnSpc>
            </a:pPr>
            <a:r>
              <a:rPr lang="zh-CN" altLang="en-US" sz="1600" dirty="0">
                <a:ea typeface="黑体" panose="02010609060101010101" pitchFamily="49" charset="-122"/>
              </a:rPr>
              <a:t>原码除法：用于浮点数尾数除法运算。符号位和数值位分开运算。数值部分用无符号数除法实现。</a:t>
            </a:r>
            <a:endParaRPr lang="zh-CN" altLang="en-US" sz="1600" dirty="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0147">
                                            <p:txEl>
                                              <p:charRg st="30" end="59"/>
                                            </p:txEl>
                                          </p:spTgt>
                                        </p:tgtEl>
                                        <p:attrNameLst>
                                          <p:attrName>style.visibility</p:attrName>
                                        </p:attrNameLst>
                                      </p:cBhvr>
                                      <p:to>
                                        <p:strVal val="visible"/>
                                      </p:to>
                                    </p:set>
                                    <p:animEffect transition="in" filter="blinds(horizontal)">
                                      <p:cBhvr>
                                        <p:cTn id="7" dur="500"/>
                                        <p:tgtEl>
                                          <p:spTgt spid="390147">
                                            <p:txEl>
                                              <p:charRg st="30"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0147">
                                            <p:txEl>
                                              <p:charRg st="59" end="94"/>
                                            </p:txEl>
                                          </p:spTgt>
                                        </p:tgtEl>
                                        <p:attrNameLst>
                                          <p:attrName>style.visibility</p:attrName>
                                        </p:attrNameLst>
                                      </p:cBhvr>
                                      <p:to>
                                        <p:strVal val="visible"/>
                                      </p:to>
                                    </p:set>
                                    <p:animEffect transition="in" filter="blinds(horizontal)">
                                      <p:cBhvr>
                                        <p:cTn id="12" dur="500"/>
                                        <p:tgtEl>
                                          <p:spTgt spid="390147">
                                            <p:txEl>
                                              <p:charRg st="59" end="9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0147">
                                            <p:txEl>
                                              <p:charRg st="94" end="127"/>
                                            </p:txEl>
                                          </p:spTgt>
                                        </p:tgtEl>
                                        <p:attrNameLst>
                                          <p:attrName>style.visibility</p:attrName>
                                        </p:attrNameLst>
                                      </p:cBhvr>
                                      <p:to>
                                        <p:strVal val="visible"/>
                                      </p:to>
                                    </p:set>
                                    <p:animEffect transition="in" filter="blinds(horizontal)">
                                      <p:cBhvr>
                                        <p:cTn id="17" dur="500"/>
                                        <p:tgtEl>
                                          <p:spTgt spid="390147">
                                            <p:txEl>
                                              <p:charRg st="94" end="12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90147">
                                            <p:txEl>
                                              <p:charRg st="132" end="149"/>
                                            </p:txEl>
                                          </p:spTgt>
                                        </p:tgtEl>
                                        <p:attrNameLst>
                                          <p:attrName>style.visibility</p:attrName>
                                        </p:attrNameLst>
                                      </p:cBhvr>
                                      <p:to>
                                        <p:strVal val="visible"/>
                                      </p:to>
                                    </p:set>
                                    <p:animEffect transition="in" filter="blinds(horizontal)">
                                      <p:cBhvr>
                                        <p:cTn id="22" dur="500"/>
                                        <p:tgtEl>
                                          <p:spTgt spid="390147">
                                            <p:txEl>
                                              <p:charRg st="132" end="14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90147">
                                            <p:txEl>
                                              <p:charRg st="149" end="167"/>
                                            </p:txEl>
                                          </p:spTgt>
                                        </p:tgtEl>
                                        <p:attrNameLst>
                                          <p:attrName>style.visibility</p:attrName>
                                        </p:attrNameLst>
                                      </p:cBhvr>
                                      <p:to>
                                        <p:strVal val="visible"/>
                                      </p:to>
                                    </p:set>
                                    <p:animEffect transition="in" filter="blinds(horizontal)">
                                      <p:cBhvr>
                                        <p:cTn id="27" dur="500"/>
                                        <p:tgtEl>
                                          <p:spTgt spid="390147">
                                            <p:txEl>
                                              <p:charRg st="149" end="16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90147">
                                            <p:txEl>
                                              <p:charRg st="172" end="239"/>
                                            </p:txEl>
                                          </p:spTgt>
                                        </p:tgtEl>
                                        <p:attrNameLst>
                                          <p:attrName>style.visibility</p:attrName>
                                        </p:attrNameLst>
                                      </p:cBhvr>
                                      <p:to>
                                        <p:strVal val="visible"/>
                                      </p:to>
                                    </p:set>
                                    <p:animEffect transition="in" filter="blinds(horizontal)">
                                      <p:cBhvr>
                                        <p:cTn id="32" dur="500"/>
                                        <p:tgtEl>
                                          <p:spTgt spid="390147">
                                            <p:txEl>
                                              <p:charRg st="172" end="23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90147">
                                            <p:txEl>
                                              <p:charRg st="239" end="300"/>
                                            </p:txEl>
                                          </p:spTgt>
                                        </p:tgtEl>
                                        <p:attrNameLst>
                                          <p:attrName>style.visibility</p:attrName>
                                        </p:attrNameLst>
                                      </p:cBhvr>
                                      <p:to>
                                        <p:strVal val="visible"/>
                                      </p:to>
                                    </p:set>
                                    <p:animEffect transition="in" filter="blinds(horizontal)">
                                      <p:cBhvr>
                                        <p:cTn id="37" dur="500"/>
                                        <p:tgtEl>
                                          <p:spTgt spid="390147">
                                            <p:txEl>
                                              <p:charRg st="239" end="30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90147">
                                            <p:txEl>
                                              <p:charRg st="315" end="352"/>
                                            </p:txEl>
                                          </p:spTgt>
                                        </p:tgtEl>
                                        <p:attrNameLst>
                                          <p:attrName>style.visibility</p:attrName>
                                        </p:attrNameLst>
                                      </p:cBhvr>
                                      <p:to>
                                        <p:strVal val="visible"/>
                                      </p:to>
                                    </p:set>
                                    <p:animEffect transition="in" filter="blinds(horizontal)">
                                      <p:cBhvr>
                                        <p:cTn id="42" dur="500"/>
                                        <p:tgtEl>
                                          <p:spTgt spid="390147">
                                            <p:txEl>
                                              <p:charRg st="315" end="35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90147">
                                            <p:txEl>
                                              <p:charRg st="352" end="396"/>
                                            </p:txEl>
                                          </p:spTgt>
                                        </p:tgtEl>
                                        <p:attrNameLst>
                                          <p:attrName>style.visibility</p:attrName>
                                        </p:attrNameLst>
                                      </p:cBhvr>
                                      <p:to>
                                        <p:strVal val="visible"/>
                                      </p:to>
                                    </p:set>
                                    <p:animEffect transition="in" filter="blinds(horizontal)">
                                      <p:cBhvr>
                                        <p:cTn id="47" dur="500"/>
                                        <p:tgtEl>
                                          <p:spTgt spid="390147">
                                            <p:txEl>
                                              <p:charRg st="352" end="39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90147">
                                            <p:txEl>
                                              <p:charRg st="413" end="440"/>
                                            </p:txEl>
                                          </p:spTgt>
                                        </p:tgtEl>
                                        <p:attrNameLst>
                                          <p:attrName>style.visibility</p:attrName>
                                        </p:attrNameLst>
                                      </p:cBhvr>
                                      <p:to>
                                        <p:strVal val="visible"/>
                                      </p:to>
                                    </p:set>
                                    <p:animEffect transition="in" filter="blinds(horizontal)">
                                      <p:cBhvr>
                                        <p:cTn id="52" dur="500"/>
                                        <p:tgtEl>
                                          <p:spTgt spid="390147">
                                            <p:txEl>
                                              <p:charRg st="413" end="44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90147">
                                            <p:txEl>
                                              <p:charRg st="440" end="484"/>
                                            </p:txEl>
                                          </p:spTgt>
                                        </p:tgtEl>
                                        <p:attrNameLst>
                                          <p:attrName>style.visibility</p:attrName>
                                        </p:attrNameLst>
                                      </p:cBhvr>
                                      <p:to>
                                        <p:strVal val="visible"/>
                                      </p:to>
                                    </p:set>
                                    <p:animEffect transition="in" filter="blinds(horizontal)">
                                      <p:cBhvr>
                                        <p:cTn id="57" dur="500"/>
                                        <p:tgtEl>
                                          <p:spTgt spid="390147">
                                            <p:txEl>
                                              <p:charRg st="440" end="4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Rectangle 2"/>
          <p:cNvSpPr>
            <a:spLocks noGrp="1"/>
          </p:cNvSpPr>
          <p:nvPr>
            <p:ph type="title"/>
          </p:nvPr>
        </p:nvSpPr>
        <p:spPr>
          <a:ln/>
        </p:spPr>
        <p:txBody>
          <a:bodyPr vert="horz" wrap="square" lIns="63500" tIns="25400" rIns="63500" bIns="25400" anchor="t" anchorCtr="0">
            <a:spAutoFit/>
          </a:bodyPr>
          <a:p>
            <a:r>
              <a:rPr lang="zh-CN" altLang="en-US" dirty="0">
                <a:ea typeface="宋体" panose="02010600030101010101" pitchFamily="2" charset="-122"/>
              </a:rPr>
              <a:t>本章总结（</a:t>
            </a:r>
            <a:r>
              <a:rPr lang="en-US" altLang="zh-CN" dirty="0">
                <a:ea typeface="宋体" panose="02010600030101010101" pitchFamily="2" charset="-122"/>
              </a:rPr>
              <a:t>2</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391171" name="Rectangle 3"/>
          <p:cNvSpPr>
            <a:spLocks noGrp="1"/>
          </p:cNvSpPr>
          <p:nvPr>
            <p:ph idx="1"/>
          </p:nvPr>
        </p:nvSpPr>
        <p:spPr>
          <a:xfrm>
            <a:off x="444500" y="746125"/>
            <a:ext cx="8699500" cy="5413375"/>
          </a:xfrm>
          <a:ln/>
        </p:spPr>
        <p:txBody>
          <a:bodyPr vert="horz" wrap="square" lIns="63500" tIns="25400" rIns="63500" bIns="25400" anchor="t" anchorCtr="0">
            <a:spAutoFit/>
          </a:bodyPr>
          <a:p>
            <a:pPr marL="457200" indent="-457200">
              <a:lnSpc>
                <a:spcPct val="100000"/>
              </a:lnSpc>
            </a:pPr>
            <a:r>
              <a:rPr lang="zh-CN" altLang="en-US" sz="1800" dirty="0">
                <a:ea typeface="黑体" panose="02010609060101010101" pitchFamily="49" charset="-122"/>
              </a:rPr>
              <a:t>浮点数运算：由多个</a:t>
            </a:r>
            <a:r>
              <a:rPr lang="en-US" altLang="zh-CN" sz="1800" dirty="0">
                <a:ea typeface="黑体" panose="02010609060101010101" pitchFamily="49" charset="-122"/>
              </a:rPr>
              <a:t>ALU + </a:t>
            </a:r>
            <a:r>
              <a:rPr lang="zh-CN" altLang="en-US" sz="1800" dirty="0">
                <a:ea typeface="黑体" panose="02010609060101010101" pitchFamily="49" charset="-122"/>
              </a:rPr>
              <a:t>移位器实现</a:t>
            </a:r>
            <a:endParaRPr lang="zh-CN" altLang="en-US" sz="1800" dirty="0">
              <a:ea typeface="黑体" panose="02010609060101010101" pitchFamily="49" charset="-122"/>
            </a:endParaRPr>
          </a:p>
          <a:p>
            <a:pPr marL="914400" lvl="1" indent="-419100">
              <a:lnSpc>
                <a:spcPct val="100000"/>
              </a:lnSpc>
            </a:pPr>
            <a:r>
              <a:rPr lang="zh-CN" altLang="en-US" sz="1800" dirty="0">
                <a:ea typeface="黑体" panose="02010609060101010101" pitchFamily="49" charset="-122"/>
              </a:rPr>
              <a:t>加减运算</a:t>
            </a:r>
            <a:endParaRPr lang="zh-CN" altLang="en-US" sz="1800" dirty="0">
              <a:ea typeface="黑体" panose="02010609060101010101" pitchFamily="49" charset="-122"/>
            </a:endParaRPr>
          </a:p>
          <a:p>
            <a:pPr lvl="2">
              <a:lnSpc>
                <a:spcPct val="100000"/>
              </a:lnSpc>
            </a:pPr>
            <a:r>
              <a:rPr lang="zh-CN" altLang="en-US" dirty="0">
                <a:solidFill>
                  <a:srgbClr val="CC0000"/>
                </a:solidFill>
                <a:ea typeface="黑体" panose="02010609060101010101" pitchFamily="49" charset="-122"/>
              </a:rPr>
              <a:t>对阶 、尾数相加减、规格化处理、舍入、判断溢出</a:t>
            </a:r>
            <a:endParaRPr lang="zh-CN" altLang="en-US" dirty="0">
              <a:solidFill>
                <a:srgbClr val="CC0000"/>
              </a:solidFill>
              <a:ea typeface="黑体" panose="02010609060101010101" pitchFamily="49" charset="-122"/>
            </a:endParaRPr>
          </a:p>
          <a:p>
            <a:pPr marL="914400" lvl="1" indent="-419100">
              <a:lnSpc>
                <a:spcPct val="100000"/>
              </a:lnSpc>
            </a:pPr>
            <a:r>
              <a:rPr lang="zh-CN" altLang="en-US" sz="1800" dirty="0">
                <a:ea typeface="黑体" panose="02010609060101010101" pitchFamily="49" charset="-122"/>
              </a:rPr>
              <a:t>乘除运算</a:t>
            </a:r>
            <a:endParaRPr lang="zh-CN" altLang="en-US" sz="1800" dirty="0">
              <a:ea typeface="黑体" panose="02010609060101010101" pitchFamily="49" charset="-122"/>
            </a:endParaRPr>
          </a:p>
          <a:p>
            <a:pPr lvl="2">
              <a:lnSpc>
                <a:spcPct val="100000"/>
              </a:lnSpc>
            </a:pPr>
            <a:r>
              <a:rPr lang="zh-CN" altLang="en-US" dirty="0">
                <a:solidFill>
                  <a:srgbClr val="CC0000"/>
                </a:solidFill>
                <a:ea typeface="黑体" panose="02010609060101010101" pitchFamily="49" charset="-122"/>
              </a:rPr>
              <a:t>尾数用定点原码乘</a:t>
            </a:r>
            <a:r>
              <a:rPr lang="en-US" altLang="zh-CN" dirty="0">
                <a:solidFill>
                  <a:srgbClr val="CC0000"/>
                </a:solidFill>
                <a:ea typeface="黑体" panose="02010609060101010101" pitchFamily="49" charset="-122"/>
              </a:rPr>
              <a:t>/</a:t>
            </a:r>
            <a:r>
              <a:rPr lang="zh-CN" altLang="en-US" dirty="0">
                <a:solidFill>
                  <a:srgbClr val="CC0000"/>
                </a:solidFill>
                <a:ea typeface="黑体" panose="02010609060101010101" pitchFamily="49" charset="-122"/>
              </a:rPr>
              <a:t>除运算实现，阶码用定点数加</a:t>
            </a:r>
            <a:r>
              <a:rPr lang="en-US" altLang="zh-CN" dirty="0">
                <a:solidFill>
                  <a:srgbClr val="CC0000"/>
                </a:solidFill>
                <a:ea typeface="黑体" panose="02010609060101010101" pitchFamily="49" charset="-122"/>
              </a:rPr>
              <a:t>/</a:t>
            </a:r>
            <a:r>
              <a:rPr lang="zh-CN" altLang="en-US" dirty="0">
                <a:solidFill>
                  <a:srgbClr val="CC0000"/>
                </a:solidFill>
                <a:ea typeface="黑体" panose="02010609060101010101" pitchFamily="49" charset="-122"/>
              </a:rPr>
              <a:t>减运算实现。</a:t>
            </a:r>
            <a:endParaRPr lang="zh-CN" altLang="en-US" dirty="0">
              <a:solidFill>
                <a:srgbClr val="CC0000"/>
              </a:solidFill>
              <a:ea typeface="黑体" panose="02010609060101010101" pitchFamily="49" charset="-122"/>
            </a:endParaRPr>
          </a:p>
          <a:p>
            <a:pPr marL="914400" lvl="1" indent="-419100">
              <a:lnSpc>
                <a:spcPct val="100000"/>
              </a:lnSpc>
            </a:pPr>
            <a:r>
              <a:rPr lang="zh-CN" altLang="en-US" sz="1800" dirty="0">
                <a:ea typeface="黑体" panose="02010609060101010101" pitchFamily="49" charset="-122"/>
              </a:rPr>
              <a:t>溢出判断</a:t>
            </a:r>
            <a:endParaRPr lang="zh-CN" altLang="en-US" sz="1800" dirty="0">
              <a:ea typeface="黑体" panose="02010609060101010101" pitchFamily="49" charset="-122"/>
            </a:endParaRPr>
          </a:p>
          <a:p>
            <a:pPr lvl="2">
              <a:lnSpc>
                <a:spcPct val="100000"/>
              </a:lnSpc>
            </a:pPr>
            <a:r>
              <a:rPr lang="zh-CN" altLang="en-US" dirty="0">
                <a:solidFill>
                  <a:srgbClr val="CC0000"/>
                </a:solidFill>
                <a:ea typeface="黑体" panose="02010609060101010101" pitchFamily="49" charset="-122"/>
              </a:rPr>
              <a:t>当结果发生阶码上溢时，结果发生溢出，发生阶码下溢时，结果为</a:t>
            </a:r>
            <a:r>
              <a:rPr lang="en-US" altLang="zh-CN" dirty="0">
                <a:solidFill>
                  <a:srgbClr val="CC0000"/>
                </a:solidFill>
                <a:ea typeface="黑体" panose="02010609060101010101" pitchFamily="49" charset="-122"/>
              </a:rPr>
              <a:t>0</a:t>
            </a:r>
            <a:r>
              <a:rPr lang="zh-CN" altLang="en-US" dirty="0">
                <a:solidFill>
                  <a:srgbClr val="CC0000"/>
                </a:solidFill>
                <a:ea typeface="黑体" panose="02010609060101010101" pitchFamily="49" charset="-122"/>
              </a:rPr>
              <a:t>。</a:t>
            </a:r>
            <a:endParaRPr lang="zh-CN" altLang="en-US" dirty="0">
              <a:solidFill>
                <a:srgbClr val="CC0000"/>
              </a:solidFill>
              <a:ea typeface="黑体" panose="02010609060101010101" pitchFamily="49" charset="-122"/>
            </a:endParaRPr>
          </a:p>
          <a:p>
            <a:pPr marL="914400" lvl="1" indent="-419100">
              <a:lnSpc>
                <a:spcPct val="100000"/>
              </a:lnSpc>
            </a:pPr>
            <a:r>
              <a:rPr lang="zh-CN" altLang="en-US" sz="1800" dirty="0">
                <a:ea typeface="黑体" panose="02010609060101010101" pitchFamily="49" charset="-122"/>
              </a:rPr>
              <a:t>精确表示运算结果</a:t>
            </a:r>
            <a:endParaRPr lang="zh-CN" altLang="en-US" sz="1800" dirty="0">
              <a:ea typeface="黑体" panose="02010609060101010101" pitchFamily="49" charset="-122"/>
            </a:endParaRPr>
          </a:p>
          <a:p>
            <a:pPr lvl="2">
              <a:lnSpc>
                <a:spcPct val="100000"/>
              </a:lnSpc>
            </a:pPr>
            <a:r>
              <a:rPr lang="zh-CN" altLang="en-US" dirty="0">
                <a:solidFill>
                  <a:srgbClr val="CC0000"/>
                </a:solidFill>
                <a:ea typeface="黑体" panose="02010609060101010101" pitchFamily="49" charset="-122"/>
              </a:rPr>
              <a:t>中间结果增设保护位、舍入位、粘位</a:t>
            </a:r>
            <a:endParaRPr lang="zh-CN" altLang="en-US" dirty="0">
              <a:solidFill>
                <a:srgbClr val="CC0000"/>
              </a:solidFill>
              <a:ea typeface="黑体" panose="02010609060101010101" pitchFamily="49" charset="-122"/>
            </a:endParaRPr>
          </a:p>
          <a:p>
            <a:pPr lvl="2">
              <a:lnSpc>
                <a:spcPct val="100000"/>
              </a:lnSpc>
            </a:pPr>
            <a:r>
              <a:rPr lang="zh-CN" altLang="en-US" dirty="0">
                <a:solidFill>
                  <a:srgbClr val="CC0000"/>
                </a:solidFill>
                <a:ea typeface="黑体" panose="02010609060101010101" pitchFamily="49" charset="-122"/>
              </a:rPr>
              <a:t>最终结果舍入方式：就近舍入 </a:t>
            </a:r>
            <a:r>
              <a:rPr lang="en-US" altLang="zh-CN" dirty="0">
                <a:solidFill>
                  <a:srgbClr val="CC0000"/>
                </a:solidFill>
                <a:ea typeface="黑体" panose="02010609060101010101" pitchFamily="49" charset="-122"/>
              </a:rPr>
              <a:t>/ </a:t>
            </a:r>
            <a:r>
              <a:rPr lang="zh-CN" altLang="en-US" dirty="0">
                <a:solidFill>
                  <a:srgbClr val="CC0000"/>
                </a:solidFill>
                <a:ea typeface="黑体" panose="02010609060101010101" pitchFamily="49" charset="-122"/>
              </a:rPr>
              <a:t>正向舍入 </a:t>
            </a:r>
            <a:r>
              <a:rPr lang="en-US" altLang="zh-CN" dirty="0">
                <a:solidFill>
                  <a:srgbClr val="CC0000"/>
                </a:solidFill>
                <a:ea typeface="黑体" panose="02010609060101010101" pitchFamily="49" charset="-122"/>
              </a:rPr>
              <a:t>/ </a:t>
            </a:r>
            <a:r>
              <a:rPr lang="zh-CN" altLang="en-US" dirty="0">
                <a:solidFill>
                  <a:srgbClr val="CC0000"/>
                </a:solidFill>
                <a:ea typeface="黑体" panose="02010609060101010101" pitchFamily="49" charset="-122"/>
              </a:rPr>
              <a:t>负向舍入 </a:t>
            </a:r>
            <a:r>
              <a:rPr lang="en-US" altLang="zh-CN" dirty="0">
                <a:solidFill>
                  <a:srgbClr val="CC0000"/>
                </a:solidFill>
                <a:ea typeface="黑体" panose="02010609060101010101" pitchFamily="49" charset="-122"/>
              </a:rPr>
              <a:t>/ </a:t>
            </a:r>
            <a:r>
              <a:rPr lang="zh-CN" altLang="en-US" dirty="0">
                <a:solidFill>
                  <a:srgbClr val="CC0000"/>
                </a:solidFill>
                <a:ea typeface="黑体" panose="02010609060101010101" pitchFamily="49" charset="-122"/>
              </a:rPr>
              <a:t>截去四种方式。</a:t>
            </a:r>
            <a:endParaRPr lang="zh-CN" altLang="en-US" dirty="0">
              <a:solidFill>
                <a:srgbClr val="CC0000"/>
              </a:solidFill>
              <a:ea typeface="黑体" panose="02010609060101010101" pitchFamily="49" charset="-122"/>
            </a:endParaRPr>
          </a:p>
          <a:p>
            <a:pPr marL="457200" indent="-457200">
              <a:lnSpc>
                <a:spcPct val="100000"/>
              </a:lnSpc>
            </a:pPr>
            <a:r>
              <a:rPr lang="en-US" altLang="zh-CN" sz="1800" dirty="0">
                <a:ea typeface="黑体" panose="02010609060101010101" pitchFamily="49" charset="-122"/>
              </a:rPr>
              <a:t>ALU</a:t>
            </a:r>
            <a:r>
              <a:rPr lang="zh-CN" altLang="en-US" sz="1800" dirty="0">
                <a:ea typeface="黑体" panose="02010609060101010101" pitchFamily="49" charset="-122"/>
              </a:rPr>
              <a:t>的实现</a:t>
            </a:r>
            <a:endParaRPr lang="zh-CN" altLang="en-US" sz="1800" dirty="0">
              <a:ea typeface="黑体" panose="02010609060101010101" pitchFamily="49" charset="-122"/>
            </a:endParaRPr>
          </a:p>
          <a:p>
            <a:pPr marL="914400" lvl="1" indent="-419100"/>
            <a:r>
              <a:rPr lang="zh-CN" altLang="en-US" sz="1800" dirty="0">
                <a:ea typeface="黑体" panose="02010609060101010101" pitchFamily="49" charset="-122"/>
              </a:rPr>
              <a:t>算术逻辑单元</a:t>
            </a:r>
            <a:r>
              <a:rPr lang="en-US" altLang="zh-CN" sz="1800" dirty="0">
                <a:ea typeface="黑体" panose="02010609060101010101" pitchFamily="49" charset="-122"/>
              </a:rPr>
              <a:t>ALU</a:t>
            </a:r>
            <a:r>
              <a:rPr lang="zh-CN" altLang="en-US" sz="1800" dirty="0">
                <a:ea typeface="黑体" panose="02010609060101010101" pitchFamily="49" charset="-122"/>
              </a:rPr>
              <a:t>：实现基本的加减运算和逻辑运算。</a:t>
            </a:r>
            <a:endParaRPr lang="zh-CN" altLang="en-US" sz="1800" dirty="0">
              <a:ea typeface="黑体" panose="02010609060101010101" pitchFamily="49" charset="-122"/>
            </a:endParaRPr>
          </a:p>
          <a:p>
            <a:pPr marL="914400" lvl="1" indent="-419100"/>
            <a:r>
              <a:rPr lang="zh-CN" altLang="en-US" sz="1800" dirty="0">
                <a:ea typeface="黑体" panose="02010609060101010101" pitchFamily="49" charset="-122"/>
              </a:rPr>
              <a:t>加法运算是所有定点和浮点运算（加</a:t>
            </a:r>
            <a:r>
              <a:rPr lang="en-US" altLang="zh-CN" sz="1800" dirty="0">
                <a:ea typeface="黑体" panose="02010609060101010101" pitchFamily="49" charset="-122"/>
              </a:rPr>
              <a:t>/</a:t>
            </a:r>
            <a:r>
              <a:rPr lang="zh-CN" altLang="en-US" sz="1800" dirty="0">
                <a:ea typeface="黑体" panose="02010609060101010101" pitchFamily="49" charset="-122"/>
              </a:rPr>
              <a:t>减</a:t>
            </a:r>
            <a:r>
              <a:rPr lang="en-US" altLang="zh-CN" sz="1800" dirty="0">
                <a:ea typeface="黑体" panose="02010609060101010101" pitchFamily="49" charset="-122"/>
              </a:rPr>
              <a:t>/</a:t>
            </a:r>
            <a:r>
              <a:rPr lang="zh-CN" altLang="en-US" sz="1800" dirty="0">
                <a:ea typeface="黑体" panose="02010609060101010101" pitchFamily="49" charset="-122"/>
              </a:rPr>
              <a:t>乘</a:t>
            </a:r>
            <a:r>
              <a:rPr lang="en-US" altLang="zh-CN" sz="1800" dirty="0">
                <a:ea typeface="黑体" panose="02010609060101010101" pitchFamily="49" charset="-122"/>
              </a:rPr>
              <a:t>/</a:t>
            </a:r>
            <a:r>
              <a:rPr lang="zh-CN" altLang="en-US" sz="1800" dirty="0">
                <a:ea typeface="黑体" panose="02010609060101010101" pitchFamily="49" charset="-122"/>
              </a:rPr>
              <a:t>除）的基础，加法速度至关重要</a:t>
            </a:r>
            <a:endParaRPr lang="zh-CN" altLang="en-US" sz="1800" dirty="0">
              <a:ea typeface="黑体" panose="02010609060101010101" pitchFamily="49" charset="-122"/>
            </a:endParaRPr>
          </a:p>
          <a:p>
            <a:pPr marL="914400" lvl="1" indent="-419100"/>
            <a:r>
              <a:rPr lang="zh-CN" altLang="en-US" sz="1800" dirty="0">
                <a:ea typeface="黑体" panose="02010609060101010101" pitchFamily="49" charset="-122"/>
              </a:rPr>
              <a:t>进位方式是影响加法速度的重要因素</a:t>
            </a:r>
            <a:endParaRPr lang="zh-CN" altLang="en-US" sz="1800" dirty="0">
              <a:ea typeface="黑体" panose="02010609060101010101" pitchFamily="49" charset="-122"/>
            </a:endParaRPr>
          </a:p>
          <a:p>
            <a:pPr marL="914400" lvl="1" indent="-419100"/>
            <a:r>
              <a:rPr lang="zh-CN" altLang="en-US" sz="1800" dirty="0">
                <a:ea typeface="黑体" panose="02010609060101010101" pitchFamily="49" charset="-122"/>
              </a:rPr>
              <a:t>并行进位方式能加快加法速度</a:t>
            </a:r>
            <a:endParaRPr lang="zh-CN" altLang="en-US" sz="1800" dirty="0">
              <a:ea typeface="黑体" panose="02010609060101010101" pitchFamily="49" charset="-122"/>
            </a:endParaRPr>
          </a:p>
          <a:p>
            <a:pPr marL="914400" lvl="1" indent="-419100"/>
            <a:r>
              <a:rPr lang="zh-CN" altLang="en-US" sz="1800" dirty="0">
                <a:ea typeface="黑体" panose="02010609060101010101" pitchFamily="49" charset="-122"/>
              </a:rPr>
              <a:t>通过“进位生成”和“进位传递”函数来使各进位独立、并行产生</a:t>
            </a:r>
            <a:endParaRPr lang="zh-CN" altLang="en-US" sz="1800" dirty="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1171">
                                            <p:txEl>
                                              <p:charRg st="26" end="50"/>
                                            </p:txEl>
                                          </p:spTgt>
                                        </p:tgtEl>
                                        <p:attrNameLst>
                                          <p:attrName>style.visibility</p:attrName>
                                        </p:attrNameLst>
                                      </p:cBhvr>
                                      <p:to>
                                        <p:strVal val="visible"/>
                                      </p:to>
                                    </p:set>
                                    <p:animEffect transition="in" filter="blinds(horizontal)">
                                      <p:cBhvr>
                                        <p:cTn id="7" dur="500"/>
                                        <p:tgtEl>
                                          <p:spTgt spid="391171">
                                            <p:txEl>
                                              <p:charRg st="26" end="5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1171">
                                            <p:txEl>
                                              <p:charRg st="55" end="85"/>
                                            </p:txEl>
                                          </p:spTgt>
                                        </p:tgtEl>
                                        <p:attrNameLst>
                                          <p:attrName>style.visibility</p:attrName>
                                        </p:attrNameLst>
                                      </p:cBhvr>
                                      <p:to>
                                        <p:strVal val="visible"/>
                                      </p:to>
                                    </p:set>
                                    <p:animEffect transition="in" filter="blinds(horizontal)">
                                      <p:cBhvr>
                                        <p:cTn id="12" dur="500"/>
                                        <p:tgtEl>
                                          <p:spTgt spid="391171">
                                            <p:txEl>
                                              <p:charRg st="55" end="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1171">
                                            <p:txEl>
                                              <p:charRg st="90" end="122"/>
                                            </p:txEl>
                                          </p:spTgt>
                                        </p:tgtEl>
                                        <p:attrNameLst>
                                          <p:attrName>style.visibility</p:attrName>
                                        </p:attrNameLst>
                                      </p:cBhvr>
                                      <p:to>
                                        <p:strVal val="visible"/>
                                      </p:to>
                                    </p:set>
                                    <p:animEffect transition="in" filter="blinds(horizontal)">
                                      <p:cBhvr>
                                        <p:cTn id="17" dur="500"/>
                                        <p:tgtEl>
                                          <p:spTgt spid="391171">
                                            <p:txEl>
                                              <p:charRg st="90" end="12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91171">
                                            <p:txEl>
                                              <p:charRg st="131" end="148"/>
                                            </p:txEl>
                                          </p:spTgt>
                                        </p:tgtEl>
                                        <p:attrNameLst>
                                          <p:attrName>style.visibility</p:attrName>
                                        </p:attrNameLst>
                                      </p:cBhvr>
                                      <p:to>
                                        <p:strVal val="visible"/>
                                      </p:to>
                                    </p:set>
                                    <p:animEffect transition="in" filter="blinds(horizontal)">
                                      <p:cBhvr>
                                        <p:cTn id="22" dur="500"/>
                                        <p:tgtEl>
                                          <p:spTgt spid="391171">
                                            <p:txEl>
                                              <p:charRg st="131" end="14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91171">
                                            <p:txEl>
                                              <p:charRg st="148" end="186"/>
                                            </p:txEl>
                                          </p:spTgt>
                                        </p:tgtEl>
                                        <p:attrNameLst>
                                          <p:attrName>style.visibility</p:attrName>
                                        </p:attrNameLst>
                                      </p:cBhvr>
                                      <p:to>
                                        <p:strVal val="visible"/>
                                      </p:to>
                                    </p:set>
                                    <p:animEffect transition="in" filter="blinds(horizontal)">
                                      <p:cBhvr>
                                        <p:cTn id="27" dur="500"/>
                                        <p:tgtEl>
                                          <p:spTgt spid="391171">
                                            <p:txEl>
                                              <p:charRg st="148" end="18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91171">
                                            <p:txEl>
                                              <p:charRg st="193" end="219"/>
                                            </p:txEl>
                                          </p:spTgt>
                                        </p:tgtEl>
                                        <p:attrNameLst>
                                          <p:attrName>style.visibility</p:attrName>
                                        </p:attrNameLst>
                                      </p:cBhvr>
                                      <p:to>
                                        <p:strVal val="visible"/>
                                      </p:to>
                                    </p:set>
                                    <p:animEffect transition="in" filter="blinds(horizontal)">
                                      <p:cBhvr>
                                        <p:cTn id="32" dur="500"/>
                                        <p:tgtEl>
                                          <p:spTgt spid="391171">
                                            <p:txEl>
                                              <p:charRg st="193" end="21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91171">
                                            <p:txEl>
                                              <p:charRg st="219" end="255"/>
                                            </p:txEl>
                                          </p:spTgt>
                                        </p:tgtEl>
                                        <p:attrNameLst>
                                          <p:attrName>style.visibility</p:attrName>
                                        </p:attrNameLst>
                                      </p:cBhvr>
                                      <p:to>
                                        <p:strVal val="visible"/>
                                      </p:to>
                                    </p:set>
                                    <p:animEffect transition="in" filter="blinds(horizontal)">
                                      <p:cBhvr>
                                        <p:cTn id="37" dur="500"/>
                                        <p:tgtEl>
                                          <p:spTgt spid="391171">
                                            <p:txEl>
                                              <p:charRg st="219" end="25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91171">
                                            <p:txEl>
                                              <p:charRg st="255" end="272"/>
                                            </p:txEl>
                                          </p:spTgt>
                                        </p:tgtEl>
                                        <p:attrNameLst>
                                          <p:attrName>style.visibility</p:attrName>
                                        </p:attrNameLst>
                                      </p:cBhvr>
                                      <p:to>
                                        <p:strVal val="visible"/>
                                      </p:to>
                                    </p:set>
                                    <p:animEffect transition="in" filter="blinds(horizontal)">
                                      <p:cBhvr>
                                        <p:cTn id="42" dur="500"/>
                                        <p:tgtEl>
                                          <p:spTgt spid="391171">
                                            <p:txEl>
                                              <p:charRg st="255" end="27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91171">
                                            <p:txEl>
                                              <p:charRg st="272" end="286"/>
                                            </p:txEl>
                                          </p:spTgt>
                                        </p:tgtEl>
                                        <p:attrNameLst>
                                          <p:attrName>style.visibility</p:attrName>
                                        </p:attrNameLst>
                                      </p:cBhvr>
                                      <p:to>
                                        <p:strVal val="visible"/>
                                      </p:to>
                                    </p:set>
                                    <p:animEffect transition="in" filter="blinds(horizontal)">
                                      <p:cBhvr>
                                        <p:cTn id="47" dur="500"/>
                                        <p:tgtEl>
                                          <p:spTgt spid="391171">
                                            <p:txEl>
                                              <p:charRg st="272" end="28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91171">
                                            <p:txEl>
                                              <p:charRg st="286" end="316"/>
                                            </p:txEl>
                                          </p:spTgt>
                                        </p:tgtEl>
                                        <p:attrNameLst>
                                          <p:attrName>style.visibility</p:attrName>
                                        </p:attrNameLst>
                                      </p:cBhvr>
                                      <p:to>
                                        <p:strVal val="visible"/>
                                      </p:to>
                                    </p:set>
                                    <p:animEffect transition="in" filter="blinds(horizontal)">
                                      <p:cBhvr>
                                        <p:cTn id="52" dur="500"/>
                                        <p:tgtEl>
                                          <p:spTgt spid="391171">
                                            <p:txEl>
                                              <p:charRg st="286" end="3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NjEwZjI3ZGViZDNjNDNkZGMwZTY4ZjkzYjAzZjYxZDMifQ=="/>
</p:tagLst>
</file>

<file path=ppt/theme/theme1.xml><?xml version="1.0" encoding="utf-8"?>
<a:theme xmlns:a="http://schemas.openxmlformats.org/drawingml/2006/main" name="delay">
  <a:themeElements>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fontScheme name="delay">
      <a:majorFont>
        <a:latin typeface="Arial"/>
        <a:ea typeface=""/>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lay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lay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lay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lay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lay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lay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lay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HD:User Folder:C152 Spring95:delay</Template>
  <TotalTime>0</TotalTime>
  <Words>40710</Words>
  <Application>WPS 演示</Application>
  <PresentationFormat>信纸(8.5x11 英寸)</PresentationFormat>
  <Paragraphs>2764</Paragraphs>
  <Slides>112</Slides>
  <Notes>31</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vt:i4>
      </vt:variant>
      <vt:variant>
        <vt:lpstr>幻灯片标题</vt:lpstr>
      </vt:variant>
      <vt:variant>
        <vt:i4>112</vt:i4>
      </vt:variant>
    </vt:vector>
  </HeadingPairs>
  <TitlesOfParts>
    <vt:vector size="134" baseType="lpstr">
      <vt:lpstr>Arial</vt:lpstr>
      <vt:lpstr>宋体</vt:lpstr>
      <vt:lpstr>Wingdings</vt:lpstr>
      <vt:lpstr>Times New Roman</vt:lpstr>
      <vt:lpstr>黑体</vt:lpstr>
      <vt:lpstr>微软雅黑</vt:lpstr>
      <vt:lpstr>方正舒体</vt:lpstr>
      <vt:lpstr>Symbol</vt:lpstr>
      <vt:lpstr>Berlin Sans FB</vt:lpstr>
      <vt:lpstr>ksdb</vt:lpstr>
      <vt:lpstr>Segoe Print</vt:lpstr>
      <vt:lpstr>Courier New</vt:lpstr>
      <vt:lpstr>华文新魏</vt:lpstr>
      <vt:lpstr>Comic Sans MS</vt:lpstr>
      <vt:lpstr>Century Gothic</vt:lpstr>
      <vt:lpstr>Monotype Sorts</vt:lpstr>
      <vt:lpstr>Wingdings</vt:lpstr>
      <vt:lpstr>Arial Unicode MS</vt:lpstr>
      <vt:lpstr>Monotype Sorts</vt:lpstr>
      <vt:lpstr>delay</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14.0000</AppVersion>
  <Pages>40</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Design Process &amp; ALU Design</dc:title>
  <dc:creator>CFYUAN</dc:creator>
  <cp:lastModifiedBy>CZM</cp:lastModifiedBy>
  <cp:revision>1205</cp:revision>
  <cp:lastPrinted>1998-01-26T05:18:16Z</cp:lastPrinted>
  <dcterms:created xsi:type="dcterms:W3CDTF">1996-09-09T11:27:36Z</dcterms:created>
  <dcterms:modified xsi:type="dcterms:W3CDTF">2023-04-03T02:10:32Z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2</vt:r8>
  </property>
  <property fmtid="{D5CDD505-2E9C-101B-9397-08002B2CF9AE}" pid="3" name="GraphicType">
    <vt:r8>2</vt:r8>
  </property>
  <property fmtid="{D5CDD505-2E9C-101B-9397-08002B2CF9AE}" pid="4" name="Compression">
    <vt:r8>100</vt:r8>
  </property>
  <property fmtid="{D5CDD505-2E9C-101B-9397-08002B2CF9AE}" pid="5" name="ScreenSize">
    <vt:r8>2</vt:r8>
  </property>
  <property fmtid="{D5CDD505-2E9C-101B-9397-08002B2CF9AE}" pid="6" name="ScreenUsage">
    <vt:r8>2</vt:r8>
  </property>
  <property fmtid="{D5CDD505-2E9C-101B-9397-08002B2CF9AE}" pid="7" name="MailAddress">
    <vt:lpwstr>vipin@eng.wayne.edu</vt:lpwstr>
  </property>
  <property fmtid="{D5CDD505-2E9C-101B-9397-08002B2CF9AE}" pid="8" name="HomePage">
    <vt:lpwstr>http://www.pdcl.eng.wayne.edu/~vipin</vt:lpwstr>
  </property>
  <property fmtid="{D5CDD505-2E9C-101B-9397-08002B2CF9AE}" pid="9" name="Other">
    <vt:lpwstr>Vipin Chaudhary
Dept. of Electrical &amp; Computer Engineering
Wayne State University</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3</vt:r8>
  </property>
  <property fmtid="{D5CDD505-2E9C-101B-9397-08002B2CF9AE}" pid="19" name="ShowNotes">
    <vt:bool>true</vt:bool>
  </property>
  <property fmtid="{D5CDD505-2E9C-101B-9397-08002B2CF9AE}" pid="20" name="NavBtnPos">
    <vt:r8>1</vt:r8>
  </property>
  <property fmtid="{D5CDD505-2E9C-101B-9397-08002B2CF9AE}" pid="21" name="OutputDir">
    <vt:lpwstr>C:\WINDOWS\Desktop\VIPIN\WSU\ACADEMIC\COURSES\ECE468\SLIDES\web</vt:lpwstr>
  </property>
  <property fmtid="{D5CDD505-2E9C-101B-9397-08002B2CF9AE}" pid="22" name="ICV">
    <vt:lpwstr>374E4ABA8E994E2399D9A2F8BC5B4375</vt:lpwstr>
  </property>
  <property fmtid="{D5CDD505-2E9C-101B-9397-08002B2CF9AE}" pid="23" name="KSOProductBuildVer">
    <vt:lpwstr>2052-11.1.0.12358</vt:lpwstr>
  </property>
</Properties>
</file>