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handoutMasterIdLst>
    <p:handoutMasterId r:id="rId81"/>
  </p:handoutMasterIdLst>
  <p:sldIdLst>
    <p:sldId id="373" r:id="rId2"/>
    <p:sldId id="421" r:id="rId3"/>
    <p:sldId id="422" r:id="rId4"/>
    <p:sldId id="424" r:id="rId5"/>
    <p:sldId id="425" r:id="rId6"/>
    <p:sldId id="427" r:id="rId7"/>
    <p:sldId id="428" r:id="rId8"/>
    <p:sldId id="429" r:id="rId9"/>
    <p:sldId id="431" r:id="rId10"/>
    <p:sldId id="443" r:id="rId11"/>
    <p:sldId id="444" r:id="rId12"/>
    <p:sldId id="445" r:id="rId13"/>
    <p:sldId id="446" r:id="rId14"/>
    <p:sldId id="447" r:id="rId15"/>
    <p:sldId id="450" r:id="rId16"/>
    <p:sldId id="457" r:id="rId17"/>
    <p:sldId id="458" r:id="rId18"/>
    <p:sldId id="459" r:id="rId19"/>
    <p:sldId id="460" r:id="rId20"/>
    <p:sldId id="463" r:id="rId21"/>
    <p:sldId id="511" r:id="rId22"/>
    <p:sldId id="510" r:id="rId23"/>
    <p:sldId id="434" r:id="rId24"/>
    <p:sldId id="1116" r:id="rId25"/>
    <p:sldId id="477" r:id="rId26"/>
    <p:sldId id="478" r:id="rId27"/>
    <p:sldId id="479" r:id="rId28"/>
    <p:sldId id="480" r:id="rId29"/>
    <p:sldId id="437" r:id="rId30"/>
    <p:sldId id="980" r:id="rId31"/>
    <p:sldId id="972" r:id="rId32"/>
    <p:sldId id="981" r:id="rId33"/>
    <p:sldId id="1021" r:id="rId34"/>
    <p:sldId id="1070" r:id="rId35"/>
    <p:sldId id="1028" r:id="rId36"/>
    <p:sldId id="1069" r:id="rId37"/>
    <p:sldId id="1029" r:id="rId38"/>
    <p:sldId id="1030" r:id="rId39"/>
    <p:sldId id="1031" r:id="rId40"/>
    <p:sldId id="1032" r:id="rId41"/>
    <p:sldId id="1033" r:id="rId42"/>
    <p:sldId id="481" r:id="rId43"/>
    <p:sldId id="384" r:id="rId44"/>
    <p:sldId id="385" r:id="rId45"/>
    <p:sldId id="486" r:id="rId46"/>
    <p:sldId id="452" r:id="rId47"/>
    <p:sldId id="512" r:id="rId48"/>
    <p:sldId id="454" r:id="rId49"/>
    <p:sldId id="488" r:id="rId50"/>
    <p:sldId id="1117" r:id="rId51"/>
    <p:sldId id="1118" r:id="rId52"/>
    <p:sldId id="383" r:id="rId53"/>
    <p:sldId id="1119" r:id="rId54"/>
    <p:sldId id="1120" r:id="rId55"/>
    <p:sldId id="1072" r:id="rId56"/>
    <p:sldId id="1073" r:id="rId57"/>
    <p:sldId id="1074" r:id="rId58"/>
    <p:sldId id="1075" r:id="rId59"/>
    <p:sldId id="1076" r:id="rId60"/>
    <p:sldId id="1077" r:id="rId61"/>
    <p:sldId id="1078" r:id="rId62"/>
    <p:sldId id="1079" r:id="rId63"/>
    <p:sldId id="1080" r:id="rId64"/>
    <p:sldId id="1082" r:id="rId65"/>
    <p:sldId id="1081" r:id="rId66"/>
    <p:sldId id="1083" r:id="rId67"/>
    <p:sldId id="1084" r:id="rId68"/>
    <p:sldId id="1085" r:id="rId69"/>
    <p:sldId id="1086" r:id="rId70"/>
    <p:sldId id="1097" r:id="rId71"/>
    <p:sldId id="1098" r:id="rId72"/>
    <p:sldId id="558" r:id="rId73"/>
    <p:sldId id="629" r:id="rId74"/>
    <p:sldId id="630" r:id="rId75"/>
    <p:sldId id="631" r:id="rId76"/>
    <p:sldId id="1099" r:id="rId77"/>
    <p:sldId id="468" r:id="rId78"/>
    <p:sldId id="469" r:id="rId79"/>
  </p:sldIdLst>
  <p:sldSz cx="9144000" cy="6858000" type="letter"/>
  <p:notesSz cx="7099300" cy="10234613"/>
  <p:kinsoku lang="zh-CN"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800" b="1" kern="1200">
        <a:solidFill>
          <a:schemeClr val="accent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b="1" kern="1200">
        <a:solidFill>
          <a:schemeClr val="accent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b="1" kern="1200">
        <a:solidFill>
          <a:schemeClr val="accent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b="1" kern="1200">
        <a:solidFill>
          <a:schemeClr val="accent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b="1" kern="1200">
        <a:solidFill>
          <a:schemeClr val="accent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b="1" kern="1200">
        <a:solidFill>
          <a:schemeClr val="accent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b="1" kern="1200">
        <a:solidFill>
          <a:schemeClr val="accent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b="1" kern="1200">
        <a:solidFill>
          <a:schemeClr val="accent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b="1" kern="1200">
        <a:solidFill>
          <a:schemeClr val="accent2"/>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CC"/>
    <a:srgbClr val="4B9556"/>
    <a:srgbClr val="388A36"/>
    <a:srgbClr val="A50021"/>
    <a:srgbClr val="3C7845"/>
    <a:srgbClr val="2E5C35"/>
    <a:srgbClr val="C51915"/>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14" autoAdjust="0"/>
    <p:restoredTop sz="96455" autoAdjust="0"/>
  </p:normalViewPr>
  <p:slideViewPr>
    <p:cSldViewPr snapToGrid="0">
      <p:cViewPr varScale="1">
        <p:scale>
          <a:sx n="72" d="100"/>
          <a:sy n="72" d="100"/>
        </p:scale>
        <p:origin x="87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722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037AE57-04F3-4A4A-671E-657C52A43FEC}"/>
              </a:ext>
            </a:extLst>
          </p:cNvPr>
          <p:cNvSpPr>
            <a:spLocks noChangeArrowheads="1" noTextEdit="1"/>
          </p:cNvSpPr>
          <p:nvPr>
            <p:ph type="sldImg" idx="4294967295"/>
          </p:nvPr>
        </p:nvSpPr>
        <p:spPr bwMode="auto">
          <a:xfrm>
            <a:off x="990600" y="644525"/>
            <a:ext cx="5135563"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Tree>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a:extLst>
              <a:ext uri="{FF2B5EF4-FFF2-40B4-BE49-F238E27FC236}">
                <a16:creationId xmlns:a16="http://schemas.microsoft.com/office/drawing/2014/main" id="{4FE43B2E-B003-5740-5CEF-00494F96FE9E}"/>
              </a:ext>
            </a:extLst>
          </p:cNvPr>
          <p:cNvSpPr>
            <a:spLocks noChangeArrowheads="1" noTextEdit="1"/>
          </p:cNvSpPr>
          <p:nvPr>
            <p:ph type="sldImg" idx="4294967295"/>
          </p:nvPr>
        </p:nvSpPr>
        <p:spPr/>
      </p:sp>
      <p:sp>
        <p:nvSpPr>
          <p:cNvPr id="6146" name="文本占位符 2">
            <a:extLst>
              <a:ext uri="{FF2B5EF4-FFF2-40B4-BE49-F238E27FC236}">
                <a16:creationId xmlns:a16="http://schemas.microsoft.com/office/drawing/2014/main" id="{18053DC9-532E-2779-2845-803E3789D20A}"/>
              </a:ext>
            </a:extLst>
          </p:cNvPr>
          <p:cNvSpPr>
            <a:spLocks noGrp="1" noChangeArrowheads="1"/>
          </p:cNvSpPr>
          <p:nvPr>
            <p:ph type="body" sz="quarter" idx="4294967295"/>
          </p:nvPr>
        </p:nvSpPr>
        <p:spPr bwMode="auto">
          <a:xfrm>
            <a:off x="685800" y="4400550"/>
            <a:ext cx="5481638"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a:extLst>
              <a:ext uri="{FF2B5EF4-FFF2-40B4-BE49-F238E27FC236}">
                <a16:creationId xmlns:a16="http://schemas.microsoft.com/office/drawing/2014/main" id="{BF902A68-7A45-380B-BD07-CD08B6FCDC65}"/>
              </a:ext>
            </a:extLst>
          </p:cNvPr>
          <p:cNvSpPr>
            <a:spLocks noGrp="1" noRot="1" noChangeAspect="1" noChangeArrowheads="1" noTextEdit="1"/>
          </p:cNvSpPr>
          <p:nvPr>
            <p:ph type="sldImg" idx="4294967295"/>
          </p:nvPr>
        </p:nvSpPr>
        <p:spPr/>
      </p:sp>
      <p:sp>
        <p:nvSpPr>
          <p:cNvPr id="15362" name="备注占位符 2">
            <a:extLst>
              <a:ext uri="{FF2B5EF4-FFF2-40B4-BE49-F238E27FC236}">
                <a16:creationId xmlns:a16="http://schemas.microsoft.com/office/drawing/2014/main" id="{4C49B59B-7802-DB17-4D1D-2603C14E2D77}"/>
              </a:ext>
            </a:extLst>
          </p:cNvPr>
          <p:cNvSpPr>
            <a:spLocks noGrp="1" noChangeArrowheads="1"/>
          </p:cNvSpPr>
          <p:nvPr>
            <p:ph type="body" idx="4294967295"/>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E032423F-BD74-2299-2ED5-99FB0935EBDE}"/>
              </a:ext>
            </a:extLst>
          </p:cNvPr>
          <p:cNvSpPr>
            <a:spLocks noChangeArrowheads="1" noTextEdit="1"/>
          </p:cNvSpPr>
          <p:nvPr>
            <p:ph type="sldImg" idx="4294967295"/>
          </p:nvPr>
        </p:nvSpPr>
        <p:spPr/>
      </p:sp>
      <p:sp>
        <p:nvSpPr>
          <p:cNvPr id="26626" name="Rectangle 3">
            <a:extLst>
              <a:ext uri="{FF2B5EF4-FFF2-40B4-BE49-F238E27FC236}">
                <a16:creationId xmlns:a16="http://schemas.microsoft.com/office/drawing/2014/main" id="{4FF5EB13-4B57-E26D-089C-0071D6DE0848}"/>
              </a:ext>
            </a:extLst>
          </p:cNvPr>
          <p:cNvSpPr>
            <a:spLocks noGrp="1" noChangeArrowheads="1"/>
          </p:cNvSpPr>
          <p:nvPr>
            <p:ph type="body" idx="4294967295"/>
          </p:nvPr>
        </p:nvSpPr>
        <p:spPr bwMode="auto">
          <a:xfrm>
            <a:off x="946150" y="4821238"/>
            <a:ext cx="5207000" cy="4652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8562" tIns="49282" rIns="98562" bIns="49282"/>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0FFB753E-6698-B3B8-7ECA-3898BFE0BA3C}"/>
              </a:ext>
            </a:extLst>
          </p:cNvPr>
          <p:cNvSpPr>
            <a:spLocks noGrp="1" noChangeArrowheads="1"/>
          </p:cNvSpPr>
          <p:nvPr>
            <p:ph type="body" idx="4294967295"/>
          </p:nvPr>
        </p:nvSpPr>
        <p:spPr bwMode="auto">
          <a:xfrm>
            <a:off x="515938" y="4343400"/>
            <a:ext cx="5910262"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465" tIns="41982" rIns="85465" bIns="41982"/>
          <a:lstStyle/>
          <a:p>
            <a:r>
              <a:rPr lang="en-US" altLang="zh-CN"/>
              <a:t>The best  thing about 2’s complement representation is that your adder does not have to know about negative number.</a:t>
            </a:r>
          </a:p>
          <a:p>
            <a:r>
              <a:rPr lang="en-US" altLang="zh-CN"/>
              <a:t>You just add the two numbers together and the result will take care of itself.</a:t>
            </a:r>
          </a:p>
          <a:p>
            <a:r>
              <a:rPr lang="en-US" altLang="zh-CN"/>
              <a:t>For example, for the operation 7 minus 6, we simply add negative 6 to positive 7 and ignore the Carry bit coming out of the most significant bit, you will have 0001, the correct result.</a:t>
            </a:r>
          </a:p>
          <a:p>
            <a:endParaRPr lang="en-US" altLang="zh-CN"/>
          </a:p>
          <a:p>
            <a:r>
              <a:rPr lang="en-US" altLang="zh-CN"/>
              <a:t>+1 = 24 min. (Y:04)</a:t>
            </a:r>
          </a:p>
        </p:txBody>
      </p:sp>
      <p:sp>
        <p:nvSpPr>
          <p:cNvPr id="28674" name="Rectangle 3">
            <a:extLst>
              <a:ext uri="{FF2B5EF4-FFF2-40B4-BE49-F238E27FC236}">
                <a16:creationId xmlns:a16="http://schemas.microsoft.com/office/drawing/2014/main" id="{1F0783FC-F803-5006-0918-6034D951FBFE}"/>
              </a:ext>
            </a:extLst>
          </p:cNvPr>
          <p:cNvSpPr>
            <a:spLocks noChangeArrowheads="1" noTextEdit="1"/>
          </p:cNvSpPr>
          <p:nvPr>
            <p:ph type="sldImg" idx="4294967295"/>
          </p:nvPr>
        </p:nvSpPr>
        <p:spPr>
          <a:xfrm>
            <a:off x="1143000" y="574675"/>
            <a:ext cx="4589463" cy="344170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A00C6518-8AD8-7D57-7327-9D479155A201}"/>
              </a:ext>
            </a:extLst>
          </p:cNvPr>
          <p:cNvSpPr>
            <a:spLocks noChangeArrowheads="1" noTextEdit="1"/>
          </p:cNvSpPr>
          <p:nvPr>
            <p:ph type="sldImg" idx="4294967295"/>
          </p:nvPr>
        </p:nvSpPr>
        <p:spPr/>
      </p:sp>
      <p:sp>
        <p:nvSpPr>
          <p:cNvPr id="31746" name="Rectangle 3">
            <a:extLst>
              <a:ext uri="{FF2B5EF4-FFF2-40B4-BE49-F238E27FC236}">
                <a16:creationId xmlns:a16="http://schemas.microsoft.com/office/drawing/2014/main" id="{C15D92BB-9A94-B67A-2FE8-EE67ED0C59BF}"/>
              </a:ext>
            </a:extLst>
          </p:cNvPr>
          <p:cNvSpPr>
            <a:spLocks noGrp="1" noChangeArrowheads="1"/>
          </p:cNvSpPr>
          <p:nvPr>
            <p:ph type="body" idx="4294967295"/>
          </p:nvPr>
        </p:nvSpPr>
        <p:spPr bwMode="auto">
          <a:xfrm>
            <a:off x="915988" y="4881563"/>
            <a:ext cx="5267325" cy="45767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51" tIns="45775" rIns="91551" bIns="45775"/>
          <a:lstStyle/>
          <a:p>
            <a:r>
              <a:rPr lang="en-US" altLang="zh-CN"/>
              <a:t>For General Purpose Register: EA(A) means A might be a memory address as well as a register address.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9A743782-11BB-1E7A-9111-E17FB1C1538E}"/>
              </a:ext>
            </a:extLst>
          </p:cNvPr>
          <p:cNvSpPr>
            <a:spLocks noGrp="1" noRot="1" noChangeAspect="1" noChangeArrowheads="1" noTextEdit="1"/>
          </p:cNvSpPr>
          <p:nvPr>
            <p:ph type="sldImg" idx="4294967295"/>
          </p:nvPr>
        </p:nvSpPr>
        <p:spPr>
          <a:xfrm>
            <a:off x="1144588" y="576263"/>
            <a:ext cx="4586287" cy="3440112"/>
          </a:xfrm>
        </p:spPr>
      </p:sp>
      <p:sp>
        <p:nvSpPr>
          <p:cNvPr id="39938" name="Rectangle 3">
            <a:extLst>
              <a:ext uri="{FF2B5EF4-FFF2-40B4-BE49-F238E27FC236}">
                <a16:creationId xmlns:a16="http://schemas.microsoft.com/office/drawing/2014/main" id="{04A932FC-2A09-0435-007E-791A4F914D35}"/>
              </a:ext>
            </a:extLst>
          </p:cNvPr>
          <p:cNvSpPr>
            <a:spLocks noGrp="1" noChangeArrowheads="1"/>
          </p:cNvSpPr>
          <p:nvPr>
            <p:ph type="body" idx="4294967295"/>
          </p:nvPr>
        </p:nvSpPr>
        <p:spPr bwMode="auto">
          <a:xfrm>
            <a:off x="515938" y="4343400"/>
            <a:ext cx="5910262"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一种情况：上课时由于机器死机（</a:t>
            </a:r>
            <a:r>
              <a:rPr lang="en-US" altLang="zh-CN"/>
              <a:t>PPT</a:t>
            </a:r>
            <a:r>
              <a:rPr lang="zh-CN" altLang="en-US"/>
              <a:t>不能放）或屏幕保护（黑屏）等，使上课不能再正常继续下去</a:t>
            </a:r>
            <a:r>
              <a:rPr lang="en-US" altLang="zh-CN"/>
              <a:t>----“</a:t>
            </a:r>
            <a:r>
              <a:rPr lang="zh-CN" altLang="en-US"/>
              <a:t>内部异常”</a:t>
            </a:r>
          </a:p>
          <a:p>
            <a:r>
              <a:rPr lang="zh-CN" altLang="en-US"/>
              <a:t>另一种情况：上课时突然有紧急事情需要上课老师出去处理一下，回头继续上课</a:t>
            </a:r>
            <a:r>
              <a:rPr lang="en-US" altLang="zh-CN"/>
              <a:t>----“</a:t>
            </a:r>
            <a:r>
              <a:rPr lang="zh-CN" altLang="en-US"/>
              <a:t>外部中断”</a:t>
            </a:r>
          </a:p>
          <a:p>
            <a:r>
              <a:rPr lang="zh-CN" altLang="en-US"/>
              <a:t>打铃下课是“内部异常”还是“外部中断”？</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0B4DD203-6792-0F97-AF97-C0ED4954D36C}"/>
              </a:ext>
            </a:extLst>
          </p:cNvPr>
          <p:cNvSpPr>
            <a:spLocks noGrp="1" noRot="1" noChangeAspect="1" noChangeArrowheads="1" noTextEdit="1"/>
          </p:cNvSpPr>
          <p:nvPr>
            <p:ph type="sldImg" idx="4294967295"/>
          </p:nvPr>
        </p:nvSpPr>
        <p:spPr>
          <a:xfrm>
            <a:off x="1108075" y="654050"/>
            <a:ext cx="4652963" cy="3489325"/>
          </a:xfrm>
        </p:spPr>
      </p:sp>
      <p:sp>
        <p:nvSpPr>
          <p:cNvPr id="41986" name="Rectangle 3">
            <a:extLst>
              <a:ext uri="{FF2B5EF4-FFF2-40B4-BE49-F238E27FC236}">
                <a16:creationId xmlns:a16="http://schemas.microsoft.com/office/drawing/2014/main" id="{68986D12-B4D9-A69F-2939-4C45BC3D496B}"/>
              </a:ext>
            </a:extLst>
          </p:cNvPr>
          <p:cNvSpPr>
            <a:spLocks noGrp="1" noChangeArrowheads="1"/>
          </p:cNvSpPr>
          <p:nvPr>
            <p:ph type="body" idx="4294967295"/>
          </p:nvPr>
        </p:nvSpPr>
        <p:spPr bwMode="auto">
          <a:xfrm>
            <a:off x="930275" y="4360863"/>
            <a:ext cx="5008563" cy="40703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630" tIns="43315" rIns="86630" bIns="43315"/>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241E30B-5518-BB59-E64A-48FF3509D143}"/>
              </a:ext>
            </a:extLst>
          </p:cNvPr>
          <p:cNvSpPr>
            <a:spLocks noGrp="1" noRot="1" noChangeAspect="1" noChangeArrowheads="1" noTextEdit="1"/>
          </p:cNvSpPr>
          <p:nvPr>
            <p:ph type="sldImg" idx="4294967295"/>
          </p:nvPr>
        </p:nvSpPr>
        <p:spPr>
          <a:xfrm>
            <a:off x="1144588" y="576263"/>
            <a:ext cx="4586287" cy="3440112"/>
          </a:xfrm>
        </p:spPr>
      </p:sp>
      <p:sp>
        <p:nvSpPr>
          <p:cNvPr id="44034" name="Rectangle 3">
            <a:extLst>
              <a:ext uri="{FF2B5EF4-FFF2-40B4-BE49-F238E27FC236}">
                <a16:creationId xmlns:a16="http://schemas.microsoft.com/office/drawing/2014/main" id="{304B0128-AFA6-3F26-2704-3BBF1F35C81D}"/>
              </a:ext>
            </a:extLst>
          </p:cNvPr>
          <p:cNvSpPr>
            <a:spLocks noGrp="1" noChangeArrowheads="1"/>
          </p:cNvSpPr>
          <p:nvPr>
            <p:ph type="body" idx="4294967295"/>
          </p:nvPr>
        </p:nvSpPr>
        <p:spPr bwMode="auto">
          <a:xfrm>
            <a:off x="515938" y="4343400"/>
            <a:ext cx="5910262"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917886A9-6FDF-DE37-2650-6E0D6EA47600}"/>
              </a:ext>
            </a:extLst>
          </p:cNvPr>
          <p:cNvSpPr>
            <a:spLocks noGrp="1" noRot="1" noChangeAspect="1" noChangeArrowheads="1" noTextEdit="1"/>
          </p:cNvSpPr>
          <p:nvPr>
            <p:ph type="sldImg" idx="4294967295"/>
          </p:nvPr>
        </p:nvSpPr>
        <p:spPr>
          <a:xfrm>
            <a:off x="1144588" y="576263"/>
            <a:ext cx="4586287" cy="3440112"/>
          </a:xfrm>
        </p:spPr>
      </p:sp>
      <p:sp>
        <p:nvSpPr>
          <p:cNvPr id="47106" name="Rectangle 3">
            <a:extLst>
              <a:ext uri="{FF2B5EF4-FFF2-40B4-BE49-F238E27FC236}">
                <a16:creationId xmlns:a16="http://schemas.microsoft.com/office/drawing/2014/main" id="{4A64AC8E-6DCB-E243-38BA-AEB2F200B71F}"/>
              </a:ext>
            </a:extLst>
          </p:cNvPr>
          <p:cNvSpPr>
            <a:spLocks noGrp="1" noChangeArrowheads="1"/>
          </p:cNvSpPr>
          <p:nvPr>
            <p:ph type="body" idx="4294967295"/>
          </p:nvPr>
        </p:nvSpPr>
        <p:spPr bwMode="auto">
          <a:xfrm>
            <a:off x="515938" y="4343400"/>
            <a:ext cx="5910262"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98A37D7C-CCAC-8FBC-0D62-31D04A832999}"/>
              </a:ext>
            </a:extLst>
          </p:cNvPr>
          <p:cNvSpPr>
            <a:spLocks noGrp="1" noRot="1" noChangeAspect="1" noChangeArrowheads="1" noTextEdit="1"/>
          </p:cNvSpPr>
          <p:nvPr>
            <p:ph type="sldImg" idx="4294967295"/>
          </p:nvPr>
        </p:nvSpPr>
        <p:spPr>
          <a:xfrm>
            <a:off x="1144588" y="576263"/>
            <a:ext cx="4586287" cy="3440112"/>
          </a:xfrm>
        </p:spPr>
      </p:sp>
      <p:sp>
        <p:nvSpPr>
          <p:cNvPr id="50178" name="Rectangle 3">
            <a:extLst>
              <a:ext uri="{FF2B5EF4-FFF2-40B4-BE49-F238E27FC236}">
                <a16:creationId xmlns:a16="http://schemas.microsoft.com/office/drawing/2014/main" id="{B618E2C8-AC81-A6B0-82B9-580B293EBEB3}"/>
              </a:ext>
            </a:extLst>
          </p:cNvPr>
          <p:cNvSpPr>
            <a:spLocks noGrp="1" noChangeArrowheads="1"/>
          </p:cNvSpPr>
          <p:nvPr>
            <p:ph type="body" idx="4294967295"/>
          </p:nvPr>
        </p:nvSpPr>
        <p:spPr bwMode="auto">
          <a:xfrm>
            <a:off x="515938" y="4343400"/>
            <a:ext cx="5910262"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A3F1D238-6B2F-73BE-A2F0-D85DF1C3E010}"/>
              </a:ext>
            </a:extLst>
          </p:cNvPr>
          <p:cNvSpPr>
            <a:spLocks noChangeArrowheads="1" noTextEdit="1"/>
          </p:cNvSpPr>
          <p:nvPr>
            <p:ph type="sldImg" idx="4294967295"/>
          </p:nvPr>
        </p:nvSpPr>
        <p:spPr/>
      </p:sp>
      <p:sp>
        <p:nvSpPr>
          <p:cNvPr id="67586" name="Rectangle 3">
            <a:extLst>
              <a:ext uri="{FF2B5EF4-FFF2-40B4-BE49-F238E27FC236}">
                <a16:creationId xmlns:a16="http://schemas.microsoft.com/office/drawing/2014/main" id="{1C4B818A-6413-6E76-D43A-1A48CDC5B022}"/>
              </a:ext>
            </a:extLst>
          </p:cNvPr>
          <p:cNvSpPr>
            <a:spLocks noGrp="1" noChangeArrowheads="1"/>
          </p:cNvSpPr>
          <p:nvPr>
            <p:ph type="body" idx="4294967295"/>
          </p:nvPr>
        </p:nvSpPr>
        <p:spPr bwMode="auto">
          <a:xfrm>
            <a:off x="709613" y="4860925"/>
            <a:ext cx="5680075" cy="4606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60" tIns="48230" rIns="96460" bIns="48230"/>
          <a:lstStyle/>
          <a:p>
            <a:pPr algn="just">
              <a:lnSpc>
                <a:spcPct val="100000"/>
              </a:lnSpc>
              <a:spcBef>
                <a:spcPct val="50000"/>
              </a:spcBef>
            </a:pPr>
            <a:r>
              <a:rPr lang="zh-CN" altLang="en-US" b="1"/>
              <a:t>不管用什么高级语言编写的源程序最终都必须翻译</a:t>
            </a:r>
            <a:r>
              <a:rPr lang="en-US" altLang="zh-CN" b="1"/>
              <a:t>(</a:t>
            </a:r>
            <a:r>
              <a:rPr lang="zh-CN" altLang="en-US" b="1"/>
              <a:t>汇编、解释或编译</a:t>
            </a:r>
            <a:r>
              <a:rPr lang="en-US" altLang="zh-CN" b="1"/>
              <a:t>)</a:t>
            </a:r>
            <a:r>
              <a:rPr lang="zh-CN" altLang="en-US" b="1"/>
              <a:t>成以指令形式表示的机器语言，才能在计算机上运行。本节简单介绍高级语言源程序转换为机器代码过程中涉及的一些基本问题。为方便起见，本节选择具体语言进行说明，高级语言和机器语言分别选用</a:t>
            </a:r>
            <a:r>
              <a:rPr lang="en-US" altLang="zh-CN" b="1"/>
              <a:t>C</a:t>
            </a:r>
            <a:r>
              <a:rPr lang="zh-CN" altLang="en-US" b="1"/>
              <a:t>语言和</a:t>
            </a:r>
            <a:r>
              <a:rPr lang="en-US" altLang="zh-CN" b="1"/>
              <a:t>MIPS</a:t>
            </a:r>
            <a:r>
              <a:rPr lang="zh-CN" altLang="en-US" b="1"/>
              <a:t>指令系统。其他情况下，其基本原理不变。</a:t>
            </a:r>
          </a:p>
          <a:p>
            <a:pPr algn="just">
              <a:lnSpc>
                <a:spcPct val="100000"/>
              </a:lnSpc>
              <a:spcBef>
                <a:spcPct val="50000"/>
              </a:spcBef>
            </a:pPr>
            <a:endParaRPr lang="zh-CN" altLang="en-US"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CB277168-AC54-84B5-1931-2EC330FB85BD}"/>
              </a:ext>
            </a:extLst>
          </p:cNvPr>
          <p:cNvSpPr>
            <a:spLocks noRot="1" noChangeArrowheads="1" noTextEdit="1"/>
          </p:cNvSpPr>
          <p:nvPr>
            <p:ph type="sldImg" idx="4294967295"/>
          </p:nvPr>
        </p:nvSpPr>
        <p:spPr>
          <a:xfrm>
            <a:off x="1254125" y="603250"/>
            <a:ext cx="4810125" cy="3608388"/>
          </a:xfrm>
        </p:spPr>
      </p:sp>
      <p:sp>
        <p:nvSpPr>
          <p:cNvPr id="90114" name="Rectangle 3">
            <a:extLst>
              <a:ext uri="{FF2B5EF4-FFF2-40B4-BE49-F238E27FC236}">
                <a16:creationId xmlns:a16="http://schemas.microsoft.com/office/drawing/2014/main" id="{A115E7CC-B3F7-9C15-AAE2-D32074B0C887}"/>
              </a:ext>
            </a:extLst>
          </p:cNvPr>
          <p:cNvSpPr>
            <a:spLocks noChangeArrowheads="1"/>
          </p:cNvSpPr>
          <p:nvPr>
            <p:ph type="body" idx="4294967295"/>
          </p:nvPr>
        </p:nvSpPr>
        <p:spPr bwMode="auto">
          <a:xfrm>
            <a:off x="2147482688" y="214748268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a:extLst>
              <a:ext uri="{FF2B5EF4-FFF2-40B4-BE49-F238E27FC236}">
                <a16:creationId xmlns:a16="http://schemas.microsoft.com/office/drawing/2014/main" id="{4B0FD567-076E-2962-829C-6433E07D2602}"/>
              </a:ext>
            </a:extLst>
          </p:cNvPr>
          <p:cNvSpPr>
            <a:spLocks noGrp="1" noRot="1" noChangeAspect="1" noChangeArrowheads="1" noTextEdit="1"/>
          </p:cNvSpPr>
          <p:nvPr>
            <p:ph type="sldImg" idx="4294967295"/>
          </p:nvPr>
        </p:nvSpPr>
        <p:spPr>
          <a:xfrm>
            <a:off x="1254125" y="603250"/>
            <a:ext cx="4810125" cy="3608388"/>
          </a:xfrm>
        </p:spPr>
      </p:sp>
      <p:sp>
        <p:nvSpPr>
          <p:cNvPr id="93186" name="备注占位符 2">
            <a:extLst>
              <a:ext uri="{FF2B5EF4-FFF2-40B4-BE49-F238E27FC236}">
                <a16:creationId xmlns:a16="http://schemas.microsoft.com/office/drawing/2014/main" id="{DC833BAF-FD5F-5861-F33C-38AFA0984474}"/>
              </a:ext>
            </a:extLst>
          </p:cNvPr>
          <p:cNvSpPr>
            <a:spLocks noGrp="1" noChangeArrowheads="1"/>
          </p:cNvSpPr>
          <p:nvPr>
            <p:ph type="body" idx="4294967295"/>
          </p:nvPr>
        </p:nvSpPr>
        <p:spPr bwMode="auto">
          <a:xfrm>
            <a:off x="2147482688" y="214748268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887716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177210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3539464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846138"/>
            <a:ext cx="4038600" cy="5280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46138"/>
            <a:ext cx="4038600" cy="5280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524945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538491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578709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68835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3560988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2309666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20553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14300"/>
            <a:ext cx="2057400" cy="60118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114300"/>
            <a:ext cx="6019800" cy="60118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796811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1200" y="114300"/>
            <a:ext cx="7867650" cy="3683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846138"/>
            <a:ext cx="4038600" cy="52800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46138"/>
            <a:ext cx="4038600" cy="52800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115561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04E5ECF-C88F-2B53-9E8E-7482D0752582}"/>
              </a:ext>
            </a:extLst>
          </p:cNvPr>
          <p:cNvSpPr>
            <a:spLocks noGrp="1" noChangeArrowheads="1"/>
          </p:cNvSpPr>
          <p:nvPr>
            <p:ph type="title" idx="4294967295"/>
          </p:nvPr>
        </p:nvSpPr>
        <p:spPr bwMode="auto">
          <a:xfrm>
            <a:off x="711200" y="114300"/>
            <a:ext cx="7867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Title</a:t>
            </a:r>
          </a:p>
        </p:txBody>
      </p:sp>
      <p:sp>
        <p:nvSpPr>
          <p:cNvPr id="1027" name="Rectangle 7">
            <a:extLst>
              <a:ext uri="{FF2B5EF4-FFF2-40B4-BE49-F238E27FC236}">
                <a16:creationId xmlns:a16="http://schemas.microsoft.com/office/drawing/2014/main" id="{857974C8-7A4F-EEE1-0D1C-576649CE2299}"/>
              </a:ext>
            </a:extLst>
          </p:cNvPr>
          <p:cNvSpPr>
            <a:spLocks noGrp="1" noChangeArrowheads="1"/>
          </p:cNvSpPr>
          <p:nvPr>
            <p:ph type="body" idx="4294967295"/>
          </p:nvPr>
        </p:nvSpPr>
        <p:spPr bwMode="auto">
          <a:xfrm>
            <a:off x="457200" y="846138"/>
            <a:ext cx="8229600"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Line 8">
            <a:extLst>
              <a:ext uri="{FF2B5EF4-FFF2-40B4-BE49-F238E27FC236}">
                <a16:creationId xmlns:a16="http://schemas.microsoft.com/office/drawing/2014/main" id="{75B9D484-5511-DA0D-0295-9536525EDB88}"/>
              </a:ext>
            </a:extLst>
          </p:cNvPr>
          <p:cNvSpPr>
            <a:spLocks noChangeShapeType="1"/>
          </p:cNvSpPr>
          <p:nvPr userDrawn="1"/>
        </p:nvSpPr>
        <p:spPr bwMode="auto">
          <a:xfrm>
            <a:off x="257175" y="523875"/>
            <a:ext cx="84296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l" rtl="0" eaLnBrk="0" fontAlgn="base" hangingPunct="0">
        <a:lnSpc>
          <a:spcPct val="87000"/>
        </a:lnSpc>
        <a:spcBef>
          <a:spcPct val="0"/>
        </a:spcBef>
        <a:spcAft>
          <a:spcPct val="0"/>
        </a:spcAft>
        <a:defRPr sz="2400" b="1">
          <a:solidFill>
            <a:srgbClr val="C51915"/>
          </a:solidFill>
          <a:latin typeface="+mj-lt"/>
          <a:ea typeface="+mj-ea"/>
          <a:cs typeface="+mj-cs"/>
        </a:defRPr>
      </a:lvl1pPr>
      <a:lvl2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2pPr>
      <a:lvl3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3pPr>
      <a:lvl4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4pPr>
      <a:lvl5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9pPr>
    </p:titleStyle>
    <p:bodyStyle>
      <a:lvl1pPr marL="285750" indent="-285750" algn="l" rtl="0" eaLnBrk="0" fontAlgn="base" hangingPunct="0">
        <a:lnSpc>
          <a:spcPct val="90000"/>
        </a:lnSpc>
        <a:spcBef>
          <a:spcPct val="30000"/>
        </a:spcBef>
        <a:spcAft>
          <a:spcPct val="0"/>
        </a:spcAft>
        <a:buSzPct val="75000"/>
        <a:buFont typeface="Wingdings" panose="05000000000000000000" pitchFamily="2" charset="2"/>
        <a:buChar char="u"/>
        <a:defRPr sz="20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accent2"/>
          </a:solidFill>
          <a:latin typeface="+mn-lt"/>
          <a:ea typeface="+mn-ea"/>
          <a:cs typeface="+mn-cs"/>
        </a:defRPr>
      </a:lvl2pPr>
      <a:lvl3pPr marL="1143000" indent="-228600" algn="l" rtl="0" eaLnBrk="0" fontAlgn="base" hangingPunct="0">
        <a:lnSpc>
          <a:spcPct val="90000"/>
        </a:lnSpc>
        <a:spcBef>
          <a:spcPct val="30000"/>
        </a:spcBef>
        <a:spcAft>
          <a:spcPct val="0"/>
        </a:spcAft>
        <a:buSzPct val="100000"/>
        <a:buChar char="»"/>
        <a:defRPr b="1">
          <a:solidFill>
            <a:srgbClr val="A50021"/>
          </a:solidFill>
          <a:latin typeface="+mn-lt"/>
          <a:ea typeface="+mn-ea"/>
          <a:cs typeface="+mn-cs"/>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4pPr>
      <a:lvl5pPr marL="20002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5pPr>
      <a:lvl6pPr marL="24574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6pPr>
      <a:lvl7pPr marL="29146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7pPr>
      <a:lvl8pPr marL="33718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8pPr>
      <a:lvl9pPr marL="3829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slide" Target="slide7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 Target="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 Target="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7" name="Rectangle 2">
            <a:extLst>
              <a:ext uri="{FF2B5EF4-FFF2-40B4-BE49-F238E27FC236}">
                <a16:creationId xmlns:a16="http://schemas.microsoft.com/office/drawing/2014/main" id="{0BC42646-85DE-AF72-6C8E-8BC1100BCC96}"/>
              </a:ext>
            </a:extLst>
          </p:cNvPr>
          <p:cNvSpPr>
            <a:spLocks noGrp="1" noChangeArrowheads="1"/>
          </p:cNvSpPr>
          <p:nvPr>
            <p:ph type="ctrTitle"/>
          </p:nvPr>
        </p:nvSpPr>
        <p:spPr>
          <a:xfrm>
            <a:off x="582613" y="1284288"/>
            <a:ext cx="8107362" cy="849312"/>
          </a:xfrm>
        </p:spPr>
        <p:txBody>
          <a:bodyPr/>
          <a:lstStyle/>
          <a:p>
            <a:pPr algn="ctr">
              <a:lnSpc>
                <a:spcPct val="120000"/>
              </a:lnSpc>
              <a:spcBef>
                <a:spcPct val="25000"/>
              </a:spcBef>
            </a:pPr>
            <a:r>
              <a:rPr lang="zh-CN" altLang="en-US" sz="4800">
                <a:solidFill>
                  <a:srgbClr val="0033CC"/>
                </a:solidFill>
                <a:ea typeface="宋体" panose="02010600030101010101" pitchFamily="2" charset="-122"/>
              </a:rPr>
              <a:t>第</a:t>
            </a:r>
            <a:r>
              <a:rPr lang="en-US" altLang="zh-CN" sz="4800">
                <a:solidFill>
                  <a:srgbClr val="0033CC"/>
                </a:solidFill>
                <a:ea typeface="宋体" panose="02010600030101010101" pitchFamily="2" charset="-122"/>
              </a:rPr>
              <a:t>7</a:t>
            </a:r>
            <a:r>
              <a:rPr lang="zh-CN" altLang="en-US" sz="4800">
                <a:solidFill>
                  <a:srgbClr val="0033CC"/>
                </a:solidFill>
                <a:ea typeface="宋体" panose="02010600030101010101" pitchFamily="2" charset="-122"/>
              </a:rPr>
              <a:t>章 指令系统</a:t>
            </a:r>
          </a:p>
        </p:txBody>
      </p:sp>
      <p:sp>
        <p:nvSpPr>
          <p:cNvPr id="252935" name="Rectangle 7">
            <a:extLst>
              <a:ext uri="{FF2B5EF4-FFF2-40B4-BE49-F238E27FC236}">
                <a16:creationId xmlns:a16="http://schemas.microsoft.com/office/drawing/2014/main" id="{689D6C50-426E-1784-6CF0-DFB8621F4EB3}"/>
              </a:ext>
            </a:extLst>
          </p:cNvPr>
          <p:cNvSpPr>
            <a:spLocks noGrp="1" noChangeArrowheads="1"/>
          </p:cNvSpPr>
          <p:nvPr>
            <p:ph type="subTitle" idx="1"/>
          </p:nvPr>
        </p:nvSpPr>
        <p:spPr>
          <a:xfrm>
            <a:off x="895350" y="3617913"/>
            <a:ext cx="7716838" cy="1477962"/>
          </a:xfrm>
        </p:spPr>
        <p:txBody>
          <a:bodyPr/>
          <a:lstStyle/>
          <a:p>
            <a:pPr algn="l">
              <a:lnSpc>
                <a:spcPct val="125000"/>
              </a:lnSpc>
            </a:pPr>
            <a:r>
              <a:rPr lang="zh-CN" altLang="en-US" sz="3200">
                <a:latin typeface="黑体" panose="02010609060101010101" pitchFamily="49" charset="-122"/>
                <a:ea typeface="黑体" panose="02010609060101010101" pitchFamily="49" charset="-122"/>
              </a:rPr>
              <a:t>第</a:t>
            </a:r>
            <a:r>
              <a:rPr lang="en-US" altLang="zh-CN" sz="3200">
                <a:latin typeface="黑体" panose="02010609060101010101" pitchFamily="49" charset="-122"/>
                <a:ea typeface="黑体" panose="02010609060101010101" pitchFamily="49" charset="-122"/>
              </a:rPr>
              <a:t>1</a:t>
            </a:r>
            <a:r>
              <a:rPr lang="zh-CN" altLang="en-US" sz="3200">
                <a:latin typeface="黑体" panose="02010609060101010101" pitchFamily="49" charset="-122"/>
                <a:ea typeface="黑体" panose="02010609060101010101" pitchFamily="49" charset="-122"/>
              </a:rPr>
              <a:t>讲 概述与指令系统设计</a:t>
            </a:r>
          </a:p>
          <a:p>
            <a:pPr algn="l">
              <a:lnSpc>
                <a:spcPct val="125000"/>
              </a:lnSpc>
            </a:pPr>
            <a:r>
              <a:rPr lang="zh-CN" altLang="en-US" sz="3200">
                <a:latin typeface="黑体" panose="02010609060101010101" pitchFamily="49" charset="-122"/>
                <a:ea typeface="黑体" panose="02010609060101010101" pitchFamily="49" charset="-122"/>
              </a:rPr>
              <a:t>第</a:t>
            </a:r>
            <a:r>
              <a:rPr lang="en-US" altLang="zh-CN" sz="3200">
                <a:latin typeface="黑体" panose="02010609060101010101" pitchFamily="49" charset="-122"/>
                <a:ea typeface="黑体" panose="02010609060101010101" pitchFamily="49" charset="-122"/>
              </a:rPr>
              <a:t>2</a:t>
            </a:r>
            <a:r>
              <a:rPr lang="zh-CN" altLang="en-US" sz="3200">
                <a:latin typeface="黑体" panose="02010609060101010101" pitchFamily="49" charset="-122"/>
                <a:ea typeface="黑体" panose="02010609060101010101" pitchFamily="49" charset="-122"/>
              </a:rPr>
              <a:t>讲 指令系统实例：</a:t>
            </a:r>
            <a:r>
              <a:rPr lang="en-US" altLang="zh-CN" sz="3200">
                <a:latin typeface="黑体" panose="02010609060101010101" pitchFamily="49" charset="-122"/>
                <a:ea typeface="黑体" panose="02010609060101010101" pitchFamily="49" charset="-122"/>
              </a:rPr>
              <a:t>RISC-V</a:t>
            </a:r>
            <a:r>
              <a:rPr lang="zh-CN" altLang="en-US" sz="3200">
                <a:latin typeface="黑体" panose="02010609060101010101" pitchFamily="49" charset="-122"/>
                <a:ea typeface="黑体" panose="02010609060101010101" pitchFamily="49" charset="-122"/>
              </a:rPr>
              <a:t>架构</a:t>
            </a:r>
            <a:endParaRPr lang="en-US" altLang="zh-CN" sz="24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2935">
                                            <p:txEl>
                                              <p:pRg st="0" end="0"/>
                                            </p:txEl>
                                          </p:spTgt>
                                        </p:tgtEl>
                                        <p:attrNameLst>
                                          <p:attrName>style.visibility</p:attrName>
                                        </p:attrNameLst>
                                      </p:cBhvr>
                                      <p:to>
                                        <p:strVal val="visible"/>
                                      </p:to>
                                    </p:set>
                                    <p:animEffect transition="in" filter="blinds(horizontal)">
                                      <p:cBhvr>
                                        <p:cTn id="7" dur="500"/>
                                        <p:tgtEl>
                                          <p:spTgt spid="2529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2935">
                                            <p:txEl>
                                              <p:pRg st="1" end="1"/>
                                            </p:txEl>
                                          </p:spTgt>
                                        </p:tgtEl>
                                        <p:attrNameLst>
                                          <p:attrName>style.visibility</p:attrName>
                                        </p:attrNameLst>
                                      </p:cBhvr>
                                      <p:to>
                                        <p:strVal val="visible"/>
                                      </p:to>
                                    </p:set>
                                    <p:animEffect transition="in" filter="blinds(horizontal)">
                                      <p:cBhvr>
                                        <p:cTn id="12" dur="500"/>
                                        <p:tgtEl>
                                          <p:spTgt spid="2529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5970B4BA-C0C6-BAB8-A456-A624A7B278E5}"/>
              </a:ext>
            </a:extLst>
          </p:cNvPr>
          <p:cNvSpPr>
            <a:spLocks noGrp="1" noChangeArrowheads="1"/>
          </p:cNvSpPr>
          <p:nvPr>
            <p:ph type="title"/>
          </p:nvPr>
        </p:nvSpPr>
        <p:spPr>
          <a:xfrm>
            <a:off x="711200" y="122238"/>
            <a:ext cx="7686675" cy="396875"/>
          </a:xfrm>
        </p:spPr>
        <p:txBody>
          <a:bodyPr/>
          <a:lstStyle/>
          <a:p>
            <a:pPr algn="ctr"/>
            <a:r>
              <a:rPr lang="zh-CN" altLang="en-US" sz="2600">
                <a:latin typeface="黑体" panose="02010609060101010101" pitchFamily="49" charset="-122"/>
                <a:ea typeface="黑体" panose="02010609060101010101" pitchFamily="49" charset="-122"/>
              </a:rPr>
              <a:t>第一讲 概述与指令系统设计</a:t>
            </a:r>
          </a:p>
        </p:txBody>
      </p:sp>
      <p:sp>
        <p:nvSpPr>
          <p:cNvPr id="4099" name="Rectangle 3">
            <a:extLst>
              <a:ext uri="{FF2B5EF4-FFF2-40B4-BE49-F238E27FC236}">
                <a16:creationId xmlns:a16="http://schemas.microsoft.com/office/drawing/2014/main" id="{D0AA3942-CC46-9755-DCA1-0647CB457360}"/>
              </a:ext>
            </a:extLst>
          </p:cNvPr>
          <p:cNvSpPr>
            <a:spLocks noGrp="1" noChangeArrowheads="1"/>
          </p:cNvSpPr>
          <p:nvPr>
            <p:ph idx="1"/>
          </p:nvPr>
        </p:nvSpPr>
        <p:spPr>
          <a:xfrm>
            <a:off x="303213" y="1157288"/>
            <a:ext cx="8502650" cy="5205412"/>
          </a:xfrm>
        </p:spPr>
        <p:txBody>
          <a:bodyPr/>
          <a:lstStyle/>
          <a:p>
            <a:pPr>
              <a:lnSpc>
                <a:spcPct val="105000"/>
              </a:lnSpc>
              <a:defRPr/>
            </a:pPr>
            <a:r>
              <a:rPr lang="zh-CN" altLang="en-US" sz="2400" dirty="0">
                <a:latin typeface="Arial" panose="020B0604020202020204" pitchFamily="34" charset="0"/>
                <a:ea typeface="黑体" panose="02010609060101010101" pitchFamily="49" charset="-122"/>
              </a:rPr>
              <a:t>指令系统概述</a:t>
            </a:r>
          </a:p>
          <a:p>
            <a:pPr>
              <a:lnSpc>
                <a:spcPct val="105000"/>
              </a:lnSpc>
              <a:defRPr/>
            </a:pPr>
            <a:r>
              <a:rPr lang="zh-CN" altLang="en-US" sz="2400" dirty="0">
                <a:latin typeface="Arial" panose="020B0604020202020204" pitchFamily="34" charset="0"/>
                <a:ea typeface="黑体" panose="02010609060101010101" pitchFamily="49" charset="-122"/>
              </a:rPr>
              <a:t>操作数及其寻址方式</a:t>
            </a:r>
          </a:p>
          <a:p>
            <a:pPr lvl="1">
              <a:lnSpc>
                <a:spcPct val="105000"/>
              </a:lnSpc>
              <a:buSzTx/>
              <a:defRPr/>
            </a:pPr>
            <a:r>
              <a:rPr lang="zh-CN" altLang="en-US" sz="2400" dirty="0">
                <a:latin typeface="Arial" panose="020B0604020202020204" pitchFamily="34" charset="0"/>
                <a:ea typeface="黑体" panose="02010609060101010101" pitchFamily="49" charset="-122"/>
              </a:rPr>
              <a:t>立即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寄存器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寄存器间接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直接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间接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堆栈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偏移</a:t>
            </a:r>
          </a:p>
          <a:p>
            <a:pPr>
              <a:lnSpc>
                <a:spcPct val="105000"/>
              </a:lnSpc>
              <a:defRPr/>
            </a:pPr>
            <a:r>
              <a:rPr lang="zh-CN" altLang="en-US" sz="2400" dirty="0">
                <a:latin typeface="Arial" panose="020B0604020202020204" pitchFamily="34" charset="0"/>
                <a:ea typeface="黑体" panose="02010609060101010101" pitchFamily="49" charset="-122"/>
              </a:rPr>
              <a:t>操作类型和操作码编码</a:t>
            </a:r>
          </a:p>
          <a:p>
            <a:pPr lvl="1">
              <a:lnSpc>
                <a:spcPct val="105000"/>
              </a:lnSpc>
              <a:buSzTx/>
              <a:defRPr/>
            </a:pPr>
            <a:r>
              <a:rPr lang="zh-CN" altLang="en-US" sz="2400" dirty="0">
                <a:latin typeface="Arial" panose="020B0604020202020204" pitchFamily="34" charset="0"/>
                <a:ea typeface="黑体" panose="02010609060101010101" pitchFamily="49" charset="-122"/>
              </a:rPr>
              <a:t>定长编码法、变长扩展编码法</a:t>
            </a:r>
          </a:p>
          <a:p>
            <a:pPr>
              <a:lnSpc>
                <a:spcPct val="105000"/>
              </a:lnSpc>
              <a:defRPr/>
            </a:pPr>
            <a:r>
              <a:rPr lang="zh-CN" altLang="en-US" sz="2400" dirty="0">
                <a:latin typeface="Arial" panose="020B0604020202020204" pitchFamily="34" charset="0"/>
                <a:ea typeface="黑体" panose="02010609060101010101" pitchFamily="49" charset="-122"/>
              </a:rPr>
              <a:t>标志信息的生成与使用</a:t>
            </a:r>
          </a:p>
          <a:p>
            <a:pPr>
              <a:lnSpc>
                <a:spcPct val="105000"/>
              </a:lnSpc>
              <a:defRPr/>
            </a:pPr>
            <a:r>
              <a:rPr lang="zh-CN" altLang="en-US" sz="2400" dirty="0">
                <a:latin typeface="Arial" panose="020B0604020202020204" pitchFamily="34" charset="0"/>
                <a:ea typeface="黑体" panose="02010609060101010101" pitchFamily="49" charset="-122"/>
              </a:rPr>
              <a:t>指令设计风格 </a:t>
            </a:r>
            <a:endParaRPr lang="en-US" altLang="zh-CN" sz="2400" dirty="0">
              <a:latin typeface="Arial" panose="020B0604020202020204" pitchFamily="34" charset="0"/>
              <a:ea typeface="黑体" panose="02010609060101010101" pitchFamily="49" charset="-122"/>
            </a:endParaRPr>
          </a:p>
          <a:p>
            <a:pPr>
              <a:lnSpc>
                <a:spcPct val="105000"/>
              </a:lnSpc>
              <a:defRPr/>
            </a:pPr>
            <a:r>
              <a:rPr lang="zh-CN" altLang="en-US" sz="2400" dirty="0">
                <a:latin typeface="Arial" panose="020B0604020202020204" pitchFamily="34" charset="0"/>
                <a:ea typeface="黑体" panose="02010609060101010101" pitchFamily="49" charset="-122"/>
              </a:rPr>
              <a:t>异常和中断处理机制</a:t>
            </a:r>
          </a:p>
          <a:p>
            <a:pPr marL="0" indent="0">
              <a:lnSpc>
                <a:spcPct val="105000"/>
              </a:lnSpc>
              <a:buFont typeface="Wingdings" panose="05000000000000000000" pitchFamily="2" charset="2"/>
              <a:buNone/>
              <a:defRPr/>
            </a:pPr>
            <a:endParaRPr lang="zh-CN" altLang="en-US" sz="2400" dirty="0">
              <a:latin typeface="Arial" panose="020B0604020202020204" pitchFamily="34" charset="0"/>
              <a:ea typeface="黑体" panose="02010609060101010101" pitchFamily="49" charset="-122"/>
            </a:endParaRPr>
          </a:p>
        </p:txBody>
      </p:sp>
      <p:sp>
        <p:nvSpPr>
          <p:cNvPr id="5123" name="Text Box 4">
            <a:extLst>
              <a:ext uri="{FF2B5EF4-FFF2-40B4-BE49-F238E27FC236}">
                <a16:creationId xmlns:a16="http://schemas.microsoft.com/office/drawing/2014/main" id="{DCC564C2-36EF-7321-C4C1-B099B96C3C4A}"/>
              </a:ext>
            </a:extLst>
          </p:cNvPr>
          <p:cNvSpPr txBox="1">
            <a:spLocks noChangeArrowheads="1"/>
          </p:cNvSpPr>
          <p:nvPr/>
        </p:nvSpPr>
        <p:spPr bwMode="auto">
          <a:xfrm>
            <a:off x="3486150" y="596900"/>
            <a:ext cx="22796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800">
                <a:solidFill>
                  <a:schemeClr val="accent1"/>
                </a:solidFill>
              </a:rPr>
              <a:t>主  要  内  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DB9BFFAD-2FBF-6A0E-711D-9B34B874D724}"/>
              </a:ext>
            </a:extLst>
          </p:cNvPr>
          <p:cNvSpPr>
            <a:spLocks noGrp="1" noChangeArrowheads="1"/>
          </p:cNvSpPr>
          <p:nvPr>
            <p:ph type="title"/>
          </p:nvPr>
        </p:nvSpPr>
        <p:spPr>
          <a:xfrm>
            <a:off x="711200" y="114300"/>
            <a:ext cx="1984375" cy="373063"/>
          </a:xfrm>
        </p:spPr>
        <p:txBody>
          <a:bodyPr wrap="none"/>
          <a:lstStyle/>
          <a:p>
            <a:r>
              <a:rPr lang="zh-CN" altLang="en-US">
                <a:ea typeface="宋体" panose="02010600030101010101" pitchFamily="2" charset="-122"/>
              </a:rPr>
              <a:t>指令系统概述</a:t>
            </a:r>
            <a:endParaRPr lang="en-US" altLang="zh-CN">
              <a:ea typeface="宋体" panose="02010600030101010101" pitchFamily="2" charset="-122"/>
            </a:endParaRPr>
          </a:p>
        </p:txBody>
      </p:sp>
      <p:grpSp>
        <p:nvGrpSpPr>
          <p:cNvPr id="7170" name="Group 3">
            <a:extLst>
              <a:ext uri="{FF2B5EF4-FFF2-40B4-BE49-F238E27FC236}">
                <a16:creationId xmlns:a16="http://schemas.microsoft.com/office/drawing/2014/main" id="{7B3B9FC8-0EAE-D0C6-9154-99088C2FD82E}"/>
              </a:ext>
            </a:extLst>
          </p:cNvPr>
          <p:cNvGrpSpPr>
            <a:grpSpLocks/>
          </p:cNvGrpSpPr>
          <p:nvPr/>
        </p:nvGrpSpPr>
        <p:grpSpPr bwMode="auto">
          <a:xfrm>
            <a:off x="1293813" y="2443163"/>
            <a:ext cx="6483350" cy="2141537"/>
            <a:chOff x="488" y="532"/>
            <a:chExt cx="4500" cy="2268"/>
          </a:xfrm>
        </p:grpSpPr>
        <p:sp>
          <p:nvSpPr>
            <p:cNvPr id="7171" name="Rectangle 4" descr="Horizontal brick">
              <a:extLst>
                <a:ext uri="{FF2B5EF4-FFF2-40B4-BE49-F238E27FC236}">
                  <a16:creationId xmlns:a16="http://schemas.microsoft.com/office/drawing/2014/main" id="{AE97A637-96EE-B9C8-86F4-AED6A9C11D8C}"/>
                </a:ext>
              </a:extLst>
            </p:cNvPr>
            <p:cNvSpPr>
              <a:spLocks noChangeArrowheads="1"/>
            </p:cNvSpPr>
            <p:nvPr/>
          </p:nvSpPr>
          <p:spPr bwMode="auto">
            <a:xfrm>
              <a:off x="772" y="1396"/>
              <a:ext cx="4216" cy="280"/>
            </a:xfrm>
            <a:prstGeom prst="rect">
              <a:avLst/>
            </a:prstGeom>
            <a:blipFill dpi="0" rotWithShape="0">
              <a:blip r:embed="rId2"/>
              <a:srcRect/>
              <a:tile tx="0" ty="0" sx="100000" sy="100000" flip="none" algn="tl"/>
            </a:blipFill>
            <a:ln w="12700">
              <a:solidFill>
                <a:schemeClr val="tx1"/>
              </a:solidFill>
              <a:miter lim="800000"/>
              <a:headEnd/>
              <a:tailEnd/>
            </a:ln>
          </p:spPr>
          <p:txBody>
            <a:bodyPr wrap="none" anchor="ctr"/>
            <a:lstStyle/>
            <a:p>
              <a:pPr eaLnBrk="0" hangingPunct="0"/>
              <a:endParaRPr lang="zh-CN" altLang="en-US"/>
            </a:p>
          </p:txBody>
        </p:sp>
        <p:sp>
          <p:nvSpPr>
            <p:cNvPr id="7172" name="Oval 5">
              <a:extLst>
                <a:ext uri="{FF2B5EF4-FFF2-40B4-BE49-F238E27FC236}">
                  <a16:creationId xmlns:a16="http://schemas.microsoft.com/office/drawing/2014/main" id="{7190D778-80C6-31E5-CF4E-6E4E24F5A581}"/>
                </a:ext>
              </a:extLst>
            </p:cNvPr>
            <p:cNvSpPr>
              <a:spLocks noChangeArrowheads="1"/>
            </p:cNvSpPr>
            <p:nvPr/>
          </p:nvSpPr>
          <p:spPr bwMode="auto">
            <a:xfrm>
              <a:off x="2308" y="532"/>
              <a:ext cx="232" cy="18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7173" name="Line 6">
              <a:extLst>
                <a:ext uri="{FF2B5EF4-FFF2-40B4-BE49-F238E27FC236}">
                  <a16:creationId xmlns:a16="http://schemas.microsoft.com/office/drawing/2014/main" id="{B406EDF5-2AD6-512F-FC74-3BDEE76F7873}"/>
                </a:ext>
              </a:extLst>
            </p:cNvPr>
            <p:cNvSpPr>
              <a:spLocks noChangeShapeType="1"/>
            </p:cNvSpPr>
            <p:nvPr/>
          </p:nvSpPr>
          <p:spPr bwMode="auto">
            <a:xfrm flipH="1">
              <a:off x="2396" y="724"/>
              <a:ext cx="56" cy="3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 name="Line 7">
              <a:extLst>
                <a:ext uri="{FF2B5EF4-FFF2-40B4-BE49-F238E27FC236}">
                  <a16:creationId xmlns:a16="http://schemas.microsoft.com/office/drawing/2014/main" id="{04ECCCBB-F694-06A7-79E6-C10C8E7DBC51}"/>
                </a:ext>
              </a:extLst>
            </p:cNvPr>
            <p:cNvSpPr>
              <a:spLocks noChangeShapeType="1"/>
            </p:cNvSpPr>
            <p:nvPr/>
          </p:nvSpPr>
          <p:spPr bwMode="auto">
            <a:xfrm>
              <a:off x="2404" y="1104"/>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 name="Line 8">
              <a:extLst>
                <a:ext uri="{FF2B5EF4-FFF2-40B4-BE49-F238E27FC236}">
                  <a16:creationId xmlns:a16="http://schemas.microsoft.com/office/drawing/2014/main" id="{379E9B4B-3DBB-4F2D-C8E9-B404FBE5DF15}"/>
                </a:ext>
              </a:extLst>
            </p:cNvPr>
            <p:cNvSpPr>
              <a:spLocks noChangeShapeType="1"/>
            </p:cNvSpPr>
            <p:nvPr/>
          </p:nvSpPr>
          <p:spPr bwMode="auto">
            <a:xfrm>
              <a:off x="2544" y="1108"/>
              <a:ext cx="0"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 name="Line 9">
              <a:extLst>
                <a:ext uri="{FF2B5EF4-FFF2-40B4-BE49-F238E27FC236}">
                  <a16:creationId xmlns:a16="http://schemas.microsoft.com/office/drawing/2014/main" id="{3D2739BF-115C-2056-C56D-A7B4C0AC1158}"/>
                </a:ext>
              </a:extLst>
            </p:cNvPr>
            <p:cNvSpPr>
              <a:spLocks noChangeShapeType="1"/>
            </p:cNvSpPr>
            <p:nvPr/>
          </p:nvSpPr>
          <p:spPr bwMode="auto">
            <a:xfrm>
              <a:off x="2548" y="1296"/>
              <a:ext cx="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 name="Line 10">
              <a:extLst>
                <a:ext uri="{FF2B5EF4-FFF2-40B4-BE49-F238E27FC236}">
                  <a16:creationId xmlns:a16="http://schemas.microsoft.com/office/drawing/2014/main" id="{342A07F3-481E-0F64-67E5-3B3E7745AC17}"/>
                </a:ext>
              </a:extLst>
            </p:cNvPr>
            <p:cNvSpPr>
              <a:spLocks noChangeShapeType="1"/>
            </p:cNvSpPr>
            <p:nvPr/>
          </p:nvSpPr>
          <p:spPr bwMode="auto">
            <a:xfrm flipH="1">
              <a:off x="2300" y="1108"/>
              <a:ext cx="104" cy="2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8" name="Line 11">
              <a:extLst>
                <a:ext uri="{FF2B5EF4-FFF2-40B4-BE49-F238E27FC236}">
                  <a16:creationId xmlns:a16="http://schemas.microsoft.com/office/drawing/2014/main" id="{322F460A-7B43-62DA-842F-28558BC9593A}"/>
                </a:ext>
              </a:extLst>
            </p:cNvPr>
            <p:cNvSpPr>
              <a:spLocks noChangeShapeType="1"/>
            </p:cNvSpPr>
            <p:nvPr/>
          </p:nvSpPr>
          <p:spPr bwMode="auto">
            <a:xfrm flipH="1">
              <a:off x="2156" y="1348"/>
              <a:ext cx="152" cy="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 name="Line 12">
              <a:extLst>
                <a:ext uri="{FF2B5EF4-FFF2-40B4-BE49-F238E27FC236}">
                  <a16:creationId xmlns:a16="http://schemas.microsoft.com/office/drawing/2014/main" id="{700A893A-E117-C7BF-B833-8A920C86E44A}"/>
                </a:ext>
              </a:extLst>
            </p:cNvPr>
            <p:cNvSpPr>
              <a:spLocks noChangeShapeType="1"/>
            </p:cNvSpPr>
            <p:nvPr/>
          </p:nvSpPr>
          <p:spPr bwMode="auto">
            <a:xfrm>
              <a:off x="2452" y="868"/>
              <a:ext cx="136" cy="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0" name="Line 13">
              <a:extLst>
                <a:ext uri="{FF2B5EF4-FFF2-40B4-BE49-F238E27FC236}">
                  <a16:creationId xmlns:a16="http://schemas.microsoft.com/office/drawing/2014/main" id="{7DDD7DDF-3ECC-259A-27B8-9C462A8CA5B4}"/>
                </a:ext>
              </a:extLst>
            </p:cNvPr>
            <p:cNvSpPr>
              <a:spLocks noChangeShapeType="1"/>
            </p:cNvSpPr>
            <p:nvPr/>
          </p:nvSpPr>
          <p:spPr bwMode="auto">
            <a:xfrm flipV="1">
              <a:off x="2596" y="860"/>
              <a:ext cx="88" cy="1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 name="Line 14">
              <a:extLst>
                <a:ext uri="{FF2B5EF4-FFF2-40B4-BE49-F238E27FC236}">
                  <a16:creationId xmlns:a16="http://schemas.microsoft.com/office/drawing/2014/main" id="{1D3C3871-A43E-AE68-456B-D6A552F69B97}"/>
                </a:ext>
              </a:extLst>
            </p:cNvPr>
            <p:cNvSpPr>
              <a:spLocks noChangeShapeType="1"/>
            </p:cNvSpPr>
            <p:nvPr/>
          </p:nvSpPr>
          <p:spPr bwMode="auto">
            <a:xfrm>
              <a:off x="2404" y="816"/>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 name="Line 15">
              <a:extLst>
                <a:ext uri="{FF2B5EF4-FFF2-40B4-BE49-F238E27FC236}">
                  <a16:creationId xmlns:a16="http://schemas.microsoft.com/office/drawing/2014/main" id="{0DDB3BBE-337A-F2E0-BB9F-91D771633D73}"/>
                </a:ext>
              </a:extLst>
            </p:cNvPr>
            <p:cNvSpPr>
              <a:spLocks noChangeShapeType="1"/>
            </p:cNvSpPr>
            <p:nvPr/>
          </p:nvSpPr>
          <p:spPr bwMode="auto">
            <a:xfrm flipV="1">
              <a:off x="2548" y="716"/>
              <a:ext cx="88" cy="1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 name="Oval 16">
              <a:extLst>
                <a:ext uri="{FF2B5EF4-FFF2-40B4-BE49-F238E27FC236}">
                  <a16:creationId xmlns:a16="http://schemas.microsoft.com/office/drawing/2014/main" id="{13A3D2BE-0865-4DB2-AE36-EE9FBB67CBE8}"/>
                </a:ext>
              </a:extLst>
            </p:cNvPr>
            <p:cNvSpPr>
              <a:spLocks noChangeArrowheads="1"/>
            </p:cNvSpPr>
            <p:nvPr/>
          </p:nvSpPr>
          <p:spPr bwMode="auto">
            <a:xfrm>
              <a:off x="3172" y="580"/>
              <a:ext cx="232" cy="18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7184" name="Line 17">
              <a:extLst>
                <a:ext uri="{FF2B5EF4-FFF2-40B4-BE49-F238E27FC236}">
                  <a16:creationId xmlns:a16="http://schemas.microsoft.com/office/drawing/2014/main" id="{1917C5E1-1BCF-A697-F87E-2A2A2636AFE1}"/>
                </a:ext>
              </a:extLst>
            </p:cNvPr>
            <p:cNvSpPr>
              <a:spLocks noChangeShapeType="1"/>
            </p:cNvSpPr>
            <p:nvPr/>
          </p:nvSpPr>
          <p:spPr bwMode="auto">
            <a:xfrm>
              <a:off x="3316" y="772"/>
              <a:ext cx="40" cy="4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5" name="Line 18">
              <a:extLst>
                <a:ext uri="{FF2B5EF4-FFF2-40B4-BE49-F238E27FC236}">
                  <a16:creationId xmlns:a16="http://schemas.microsoft.com/office/drawing/2014/main" id="{37935EB3-A6BC-BBB9-A2A5-B026CEDE797C}"/>
                </a:ext>
              </a:extLst>
            </p:cNvPr>
            <p:cNvSpPr>
              <a:spLocks noChangeShapeType="1"/>
            </p:cNvSpPr>
            <p:nvPr/>
          </p:nvSpPr>
          <p:spPr bwMode="auto">
            <a:xfrm flipH="1">
              <a:off x="3164" y="1156"/>
              <a:ext cx="20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 name="Line 19">
              <a:extLst>
                <a:ext uri="{FF2B5EF4-FFF2-40B4-BE49-F238E27FC236}">
                  <a16:creationId xmlns:a16="http://schemas.microsoft.com/office/drawing/2014/main" id="{5E68A6AB-485D-FA87-9A5E-9B91E96AF7C3}"/>
                </a:ext>
              </a:extLst>
            </p:cNvPr>
            <p:cNvSpPr>
              <a:spLocks noChangeShapeType="1"/>
            </p:cNvSpPr>
            <p:nvPr/>
          </p:nvSpPr>
          <p:spPr bwMode="auto">
            <a:xfrm>
              <a:off x="3172" y="1300"/>
              <a:ext cx="88"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7" name="Line 20">
              <a:extLst>
                <a:ext uri="{FF2B5EF4-FFF2-40B4-BE49-F238E27FC236}">
                  <a16:creationId xmlns:a16="http://schemas.microsoft.com/office/drawing/2014/main" id="{D439FC63-7772-5E27-B07D-83CF9D7359FC}"/>
                </a:ext>
              </a:extLst>
            </p:cNvPr>
            <p:cNvSpPr>
              <a:spLocks noChangeShapeType="1"/>
            </p:cNvSpPr>
            <p:nvPr/>
          </p:nvSpPr>
          <p:spPr bwMode="auto">
            <a:xfrm>
              <a:off x="3364" y="1156"/>
              <a:ext cx="184"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8" name="Line 21">
              <a:extLst>
                <a:ext uri="{FF2B5EF4-FFF2-40B4-BE49-F238E27FC236}">
                  <a16:creationId xmlns:a16="http://schemas.microsoft.com/office/drawing/2014/main" id="{589C0F98-ECDE-4B8F-1740-E3B8117ED90E}"/>
                </a:ext>
              </a:extLst>
            </p:cNvPr>
            <p:cNvSpPr>
              <a:spLocks noChangeShapeType="1"/>
            </p:cNvSpPr>
            <p:nvPr/>
          </p:nvSpPr>
          <p:spPr bwMode="auto">
            <a:xfrm flipV="1">
              <a:off x="3556" y="1196"/>
              <a:ext cx="136" cy="1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9" name="Line 22">
              <a:extLst>
                <a:ext uri="{FF2B5EF4-FFF2-40B4-BE49-F238E27FC236}">
                  <a16:creationId xmlns:a16="http://schemas.microsoft.com/office/drawing/2014/main" id="{DD2D138E-2194-09DD-B8BD-3393FA91893D}"/>
                </a:ext>
              </a:extLst>
            </p:cNvPr>
            <p:cNvSpPr>
              <a:spLocks noChangeShapeType="1"/>
            </p:cNvSpPr>
            <p:nvPr/>
          </p:nvSpPr>
          <p:spPr bwMode="auto">
            <a:xfrm>
              <a:off x="3700" y="1204"/>
              <a:ext cx="40" cy="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0" name="Line 23">
              <a:extLst>
                <a:ext uri="{FF2B5EF4-FFF2-40B4-BE49-F238E27FC236}">
                  <a16:creationId xmlns:a16="http://schemas.microsoft.com/office/drawing/2014/main" id="{6547E07F-3653-AEBD-2A69-EE3561137DEC}"/>
                </a:ext>
              </a:extLst>
            </p:cNvPr>
            <p:cNvSpPr>
              <a:spLocks noChangeShapeType="1"/>
            </p:cNvSpPr>
            <p:nvPr/>
          </p:nvSpPr>
          <p:spPr bwMode="auto">
            <a:xfrm flipH="1">
              <a:off x="3212" y="916"/>
              <a:ext cx="104"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1" name="Line 24">
              <a:extLst>
                <a:ext uri="{FF2B5EF4-FFF2-40B4-BE49-F238E27FC236}">
                  <a16:creationId xmlns:a16="http://schemas.microsoft.com/office/drawing/2014/main" id="{75674C16-E006-7F9E-CCDF-7B626C601283}"/>
                </a:ext>
              </a:extLst>
            </p:cNvPr>
            <p:cNvSpPr>
              <a:spLocks noChangeShapeType="1"/>
            </p:cNvSpPr>
            <p:nvPr/>
          </p:nvSpPr>
          <p:spPr bwMode="auto">
            <a:xfrm flipH="1" flipV="1">
              <a:off x="3068" y="1004"/>
              <a:ext cx="152" cy="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2" name="Line 25">
              <a:extLst>
                <a:ext uri="{FF2B5EF4-FFF2-40B4-BE49-F238E27FC236}">
                  <a16:creationId xmlns:a16="http://schemas.microsoft.com/office/drawing/2014/main" id="{71FD994D-4EDD-3C86-8014-3F54658A4980}"/>
                </a:ext>
              </a:extLst>
            </p:cNvPr>
            <p:cNvSpPr>
              <a:spLocks noChangeShapeType="1"/>
            </p:cNvSpPr>
            <p:nvPr/>
          </p:nvSpPr>
          <p:spPr bwMode="auto">
            <a:xfrm flipH="1">
              <a:off x="3116" y="864"/>
              <a:ext cx="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3" name="Line 26">
              <a:extLst>
                <a:ext uri="{FF2B5EF4-FFF2-40B4-BE49-F238E27FC236}">
                  <a16:creationId xmlns:a16="http://schemas.microsoft.com/office/drawing/2014/main" id="{0AF9CC79-DE9E-FFD8-5C34-80871678B8AE}"/>
                </a:ext>
              </a:extLst>
            </p:cNvPr>
            <p:cNvSpPr>
              <a:spLocks noChangeShapeType="1"/>
            </p:cNvSpPr>
            <p:nvPr/>
          </p:nvSpPr>
          <p:spPr bwMode="auto">
            <a:xfrm flipH="1" flipV="1">
              <a:off x="2972" y="764"/>
              <a:ext cx="152" cy="1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4" name="Line 27">
              <a:extLst>
                <a:ext uri="{FF2B5EF4-FFF2-40B4-BE49-F238E27FC236}">
                  <a16:creationId xmlns:a16="http://schemas.microsoft.com/office/drawing/2014/main" id="{08A596C7-CFB6-3CB8-53D5-4F16A1ABFDFE}"/>
                </a:ext>
              </a:extLst>
            </p:cNvPr>
            <p:cNvSpPr>
              <a:spLocks noChangeShapeType="1"/>
            </p:cNvSpPr>
            <p:nvPr/>
          </p:nvSpPr>
          <p:spPr bwMode="auto">
            <a:xfrm flipV="1">
              <a:off x="3220" y="668"/>
              <a:ext cx="40" cy="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5" name="Line 28">
              <a:extLst>
                <a:ext uri="{FF2B5EF4-FFF2-40B4-BE49-F238E27FC236}">
                  <a16:creationId xmlns:a16="http://schemas.microsoft.com/office/drawing/2014/main" id="{748D4624-D1FA-CF11-B0DA-AD22AD10D389}"/>
                </a:ext>
              </a:extLst>
            </p:cNvPr>
            <p:cNvSpPr>
              <a:spLocks noChangeShapeType="1"/>
            </p:cNvSpPr>
            <p:nvPr/>
          </p:nvSpPr>
          <p:spPr bwMode="auto">
            <a:xfrm flipH="1" flipV="1">
              <a:off x="2396" y="620"/>
              <a:ext cx="104" cy="1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6" name="Oval 29">
              <a:extLst>
                <a:ext uri="{FF2B5EF4-FFF2-40B4-BE49-F238E27FC236}">
                  <a16:creationId xmlns:a16="http://schemas.microsoft.com/office/drawing/2014/main" id="{05F4C112-081D-86B0-84F4-613A9EC14E20}"/>
                </a:ext>
              </a:extLst>
            </p:cNvPr>
            <p:cNvSpPr>
              <a:spLocks noChangeArrowheads="1"/>
            </p:cNvSpPr>
            <p:nvPr/>
          </p:nvSpPr>
          <p:spPr bwMode="auto">
            <a:xfrm>
              <a:off x="2608" y="1744"/>
              <a:ext cx="400" cy="304"/>
            </a:xfrm>
            <a:prstGeom prst="ellipse">
              <a:avLst/>
            </a:prstGeom>
            <a:noFill/>
            <a:ln w="508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7197" name="Line 30">
              <a:extLst>
                <a:ext uri="{FF2B5EF4-FFF2-40B4-BE49-F238E27FC236}">
                  <a16:creationId xmlns:a16="http://schemas.microsoft.com/office/drawing/2014/main" id="{59F1DC1E-F8EB-9A29-C46E-8ADF78A6A5A5}"/>
                </a:ext>
              </a:extLst>
            </p:cNvPr>
            <p:cNvSpPr>
              <a:spLocks noChangeShapeType="1"/>
            </p:cNvSpPr>
            <p:nvPr/>
          </p:nvSpPr>
          <p:spPr bwMode="auto">
            <a:xfrm flipV="1">
              <a:off x="2752" y="1904"/>
              <a:ext cx="16" cy="8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8" name="Line 31">
              <a:extLst>
                <a:ext uri="{FF2B5EF4-FFF2-40B4-BE49-F238E27FC236}">
                  <a16:creationId xmlns:a16="http://schemas.microsoft.com/office/drawing/2014/main" id="{73C5B13C-E624-6B60-8FD6-8C765B194610}"/>
                </a:ext>
              </a:extLst>
            </p:cNvPr>
            <p:cNvSpPr>
              <a:spLocks noChangeShapeType="1"/>
            </p:cNvSpPr>
            <p:nvPr/>
          </p:nvSpPr>
          <p:spPr bwMode="auto">
            <a:xfrm>
              <a:off x="2800" y="1920"/>
              <a:ext cx="16"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9" name="Line 32">
              <a:extLst>
                <a:ext uri="{FF2B5EF4-FFF2-40B4-BE49-F238E27FC236}">
                  <a16:creationId xmlns:a16="http://schemas.microsoft.com/office/drawing/2014/main" id="{DE468943-9E78-DBBC-F5D4-04E6119D4FF3}"/>
                </a:ext>
              </a:extLst>
            </p:cNvPr>
            <p:cNvSpPr>
              <a:spLocks noChangeShapeType="1"/>
            </p:cNvSpPr>
            <p:nvPr/>
          </p:nvSpPr>
          <p:spPr bwMode="auto">
            <a:xfrm>
              <a:off x="2848" y="1936"/>
              <a:ext cx="16" cy="1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0" name="Line 33">
              <a:extLst>
                <a:ext uri="{FF2B5EF4-FFF2-40B4-BE49-F238E27FC236}">
                  <a16:creationId xmlns:a16="http://schemas.microsoft.com/office/drawing/2014/main" id="{6A57D6C4-584A-333B-ECC2-3B065A5668E9}"/>
                </a:ext>
              </a:extLst>
            </p:cNvPr>
            <p:cNvSpPr>
              <a:spLocks noChangeShapeType="1"/>
            </p:cNvSpPr>
            <p:nvPr/>
          </p:nvSpPr>
          <p:spPr bwMode="auto">
            <a:xfrm>
              <a:off x="2848" y="1824"/>
              <a:ext cx="64"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1" name="Line 34">
              <a:extLst>
                <a:ext uri="{FF2B5EF4-FFF2-40B4-BE49-F238E27FC236}">
                  <a16:creationId xmlns:a16="http://schemas.microsoft.com/office/drawing/2014/main" id="{355F7230-3B5C-DE82-67E4-883913B292BE}"/>
                </a:ext>
              </a:extLst>
            </p:cNvPr>
            <p:cNvSpPr>
              <a:spLocks noChangeShapeType="1"/>
            </p:cNvSpPr>
            <p:nvPr/>
          </p:nvSpPr>
          <p:spPr bwMode="auto">
            <a:xfrm flipH="1">
              <a:off x="2672" y="1824"/>
              <a:ext cx="8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2" name="Line 35">
              <a:extLst>
                <a:ext uri="{FF2B5EF4-FFF2-40B4-BE49-F238E27FC236}">
                  <a16:creationId xmlns:a16="http://schemas.microsoft.com/office/drawing/2014/main" id="{35952D00-A89B-6F53-C9D5-F8917E69EBA9}"/>
                </a:ext>
              </a:extLst>
            </p:cNvPr>
            <p:cNvSpPr>
              <a:spLocks noChangeShapeType="1"/>
            </p:cNvSpPr>
            <p:nvPr/>
          </p:nvSpPr>
          <p:spPr bwMode="auto">
            <a:xfrm flipV="1">
              <a:off x="2400" y="2720"/>
              <a:ext cx="0" cy="8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3" name="Line 36">
              <a:extLst>
                <a:ext uri="{FF2B5EF4-FFF2-40B4-BE49-F238E27FC236}">
                  <a16:creationId xmlns:a16="http://schemas.microsoft.com/office/drawing/2014/main" id="{93516F94-D160-5237-E39E-9822A407A01D}"/>
                </a:ext>
              </a:extLst>
            </p:cNvPr>
            <p:cNvSpPr>
              <a:spLocks noChangeShapeType="1"/>
            </p:cNvSpPr>
            <p:nvPr/>
          </p:nvSpPr>
          <p:spPr bwMode="auto">
            <a:xfrm>
              <a:off x="2832" y="2080"/>
              <a:ext cx="0" cy="352"/>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4" name="Line 37">
              <a:extLst>
                <a:ext uri="{FF2B5EF4-FFF2-40B4-BE49-F238E27FC236}">
                  <a16:creationId xmlns:a16="http://schemas.microsoft.com/office/drawing/2014/main" id="{268D0D10-A8F8-25F9-9B3D-702FDCCF7CCC}"/>
                </a:ext>
              </a:extLst>
            </p:cNvPr>
            <p:cNvSpPr>
              <a:spLocks noChangeShapeType="1"/>
            </p:cNvSpPr>
            <p:nvPr/>
          </p:nvSpPr>
          <p:spPr bwMode="auto">
            <a:xfrm>
              <a:off x="2848" y="2448"/>
              <a:ext cx="208"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5" name="Line 38">
              <a:extLst>
                <a:ext uri="{FF2B5EF4-FFF2-40B4-BE49-F238E27FC236}">
                  <a16:creationId xmlns:a16="http://schemas.microsoft.com/office/drawing/2014/main" id="{9FD3EAAE-0465-E219-1102-ADF0F5365A60}"/>
                </a:ext>
              </a:extLst>
            </p:cNvPr>
            <p:cNvSpPr>
              <a:spLocks noChangeShapeType="1"/>
            </p:cNvSpPr>
            <p:nvPr/>
          </p:nvSpPr>
          <p:spPr bwMode="auto">
            <a:xfrm>
              <a:off x="3088" y="2464"/>
              <a:ext cx="64" cy="25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6" name="Line 39">
              <a:extLst>
                <a:ext uri="{FF2B5EF4-FFF2-40B4-BE49-F238E27FC236}">
                  <a16:creationId xmlns:a16="http://schemas.microsoft.com/office/drawing/2014/main" id="{2B91E44C-FD09-E77E-A2F6-8DBA39B748A6}"/>
                </a:ext>
              </a:extLst>
            </p:cNvPr>
            <p:cNvSpPr>
              <a:spLocks noChangeShapeType="1"/>
            </p:cNvSpPr>
            <p:nvPr/>
          </p:nvSpPr>
          <p:spPr bwMode="auto">
            <a:xfrm flipV="1">
              <a:off x="3184" y="2672"/>
              <a:ext cx="16" cy="8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7" name="Line 40">
              <a:extLst>
                <a:ext uri="{FF2B5EF4-FFF2-40B4-BE49-F238E27FC236}">
                  <a16:creationId xmlns:a16="http://schemas.microsoft.com/office/drawing/2014/main" id="{BD443326-811B-D1D6-766B-23009920FCA5}"/>
                </a:ext>
              </a:extLst>
            </p:cNvPr>
            <p:cNvSpPr>
              <a:spLocks noChangeShapeType="1"/>
            </p:cNvSpPr>
            <p:nvPr/>
          </p:nvSpPr>
          <p:spPr bwMode="auto">
            <a:xfrm flipH="1">
              <a:off x="2576" y="2464"/>
              <a:ext cx="272" cy="1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8" name="Line 41">
              <a:extLst>
                <a:ext uri="{FF2B5EF4-FFF2-40B4-BE49-F238E27FC236}">
                  <a16:creationId xmlns:a16="http://schemas.microsoft.com/office/drawing/2014/main" id="{83D9A9CD-3A01-CF3D-91E6-E08A75DCDD89}"/>
                </a:ext>
              </a:extLst>
            </p:cNvPr>
            <p:cNvSpPr>
              <a:spLocks noChangeShapeType="1"/>
            </p:cNvSpPr>
            <p:nvPr/>
          </p:nvSpPr>
          <p:spPr bwMode="auto">
            <a:xfrm flipH="1">
              <a:off x="2480" y="2512"/>
              <a:ext cx="128" cy="25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9" name="Line 42">
              <a:extLst>
                <a:ext uri="{FF2B5EF4-FFF2-40B4-BE49-F238E27FC236}">
                  <a16:creationId xmlns:a16="http://schemas.microsoft.com/office/drawing/2014/main" id="{B50FD30D-E5DA-25EE-7CFF-8810D3F189E4}"/>
                </a:ext>
              </a:extLst>
            </p:cNvPr>
            <p:cNvSpPr>
              <a:spLocks noChangeShapeType="1"/>
            </p:cNvSpPr>
            <p:nvPr/>
          </p:nvSpPr>
          <p:spPr bwMode="auto">
            <a:xfrm flipH="1">
              <a:off x="2384" y="2784"/>
              <a:ext cx="128"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0" name="Line 43">
              <a:extLst>
                <a:ext uri="{FF2B5EF4-FFF2-40B4-BE49-F238E27FC236}">
                  <a16:creationId xmlns:a16="http://schemas.microsoft.com/office/drawing/2014/main" id="{675149B8-3E97-EA6C-A15F-64B8F1BDEC8C}"/>
                </a:ext>
              </a:extLst>
            </p:cNvPr>
            <p:cNvSpPr>
              <a:spLocks noChangeShapeType="1"/>
            </p:cNvSpPr>
            <p:nvPr/>
          </p:nvSpPr>
          <p:spPr bwMode="auto">
            <a:xfrm>
              <a:off x="2848" y="2080"/>
              <a:ext cx="304" cy="1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1" name="Line 44">
              <a:extLst>
                <a:ext uri="{FF2B5EF4-FFF2-40B4-BE49-F238E27FC236}">
                  <a16:creationId xmlns:a16="http://schemas.microsoft.com/office/drawing/2014/main" id="{A295FAA7-7156-BA0F-E117-8E0A45136563}"/>
                </a:ext>
              </a:extLst>
            </p:cNvPr>
            <p:cNvSpPr>
              <a:spLocks noChangeShapeType="1"/>
            </p:cNvSpPr>
            <p:nvPr/>
          </p:nvSpPr>
          <p:spPr bwMode="auto">
            <a:xfrm flipV="1">
              <a:off x="3184" y="1664"/>
              <a:ext cx="208" cy="464"/>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2" name="Line 45">
              <a:extLst>
                <a:ext uri="{FF2B5EF4-FFF2-40B4-BE49-F238E27FC236}">
                  <a16:creationId xmlns:a16="http://schemas.microsoft.com/office/drawing/2014/main" id="{313277BD-8AA3-12B8-2A5E-EACB020A43E5}"/>
                </a:ext>
              </a:extLst>
            </p:cNvPr>
            <p:cNvSpPr>
              <a:spLocks noChangeShapeType="1"/>
            </p:cNvSpPr>
            <p:nvPr/>
          </p:nvSpPr>
          <p:spPr bwMode="auto">
            <a:xfrm>
              <a:off x="3424" y="1680"/>
              <a:ext cx="112"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3" name="Line 46">
              <a:extLst>
                <a:ext uri="{FF2B5EF4-FFF2-40B4-BE49-F238E27FC236}">
                  <a16:creationId xmlns:a16="http://schemas.microsoft.com/office/drawing/2014/main" id="{EC2985DF-22DD-A381-5266-F19211E1D390}"/>
                </a:ext>
              </a:extLst>
            </p:cNvPr>
            <p:cNvSpPr>
              <a:spLocks noChangeShapeType="1"/>
            </p:cNvSpPr>
            <p:nvPr/>
          </p:nvSpPr>
          <p:spPr bwMode="auto">
            <a:xfrm flipH="1">
              <a:off x="2528" y="2128"/>
              <a:ext cx="320" cy="16"/>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4" name="Line 47">
              <a:extLst>
                <a:ext uri="{FF2B5EF4-FFF2-40B4-BE49-F238E27FC236}">
                  <a16:creationId xmlns:a16="http://schemas.microsoft.com/office/drawing/2014/main" id="{05C4A4BD-4529-7699-6DA8-8A3CFED035F1}"/>
                </a:ext>
              </a:extLst>
            </p:cNvPr>
            <p:cNvSpPr>
              <a:spLocks noChangeShapeType="1"/>
            </p:cNvSpPr>
            <p:nvPr/>
          </p:nvSpPr>
          <p:spPr bwMode="auto">
            <a:xfrm flipH="1" flipV="1">
              <a:off x="2192" y="1664"/>
              <a:ext cx="368" cy="512"/>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5" name="Line 48">
              <a:extLst>
                <a:ext uri="{FF2B5EF4-FFF2-40B4-BE49-F238E27FC236}">
                  <a16:creationId xmlns:a16="http://schemas.microsoft.com/office/drawing/2014/main" id="{827554BA-C6F5-5E6D-9C8A-4AA4125CC270}"/>
                </a:ext>
              </a:extLst>
            </p:cNvPr>
            <p:cNvSpPr>
              <a:spLocks noChangeShapeType="1"/>
            </p:cNvSpPr>
            <p:nvPr/>
          </p:nvSpPr>
          <p:spPr bwMode="auto">
            <a:xfrm flipH="1">
              <a:off x="2048" y="1680"/>
              <a:ext cx="176"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useBgFill="1">
          <p:nvSpPr>
            <p:cNvPr id="7216" name="Rectangle 49">
              <a:extLst>
                <a:ext uri="{FF2B5EF4-FFF2-40B4-BE49-F238E27FC236}">
                  <a16:creationId xmlns:a16="http://schemas.microsoft.com/office/drawing/2014/main" id="{83D5BD76-21D1-51FE-8F4E-D41893B93939}"/>
                </a:ext>
              </a:extLst>
            </p:cNvPr>
            <p:cNvSpPr>
              <a:spLocks noChangeArrowheads="1"/>
            </p:cNvSpPr>
            <p:nvPr/>
          </p:nvSpPr>
          <p:spPr bwMode="auto">
            <a:xfrm>
              <a:off x="2264" y="1448"/>
              <a:ext cx="1252" cy="321"/>
            </a:xfrm>
            <a:prstGeom prst="rect">
              <a:avLst/>
            </a:prstGeom>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92000"/>
                </a:lnSpc>
              </a:pPr>
              <a:r>
                <a:rPr lang="en-US" altLang="zh-CN" sz="1800">
                  <a:solidFill>
                    <a:schemeClr val="tx1"/>
                  </a:solidFill>
                </a:rPr>
                <a:t>instruction set</a:t>
              </a:r>
            </a:p>
          </p:txBody>
        </p:sp>
        <p:sp>
          <p:nvSpPr>
            <p:cNvPr id="7217" name="Rectangle 50">
              <a:extLst>
                <a:ext uri="{FF2B5EF4-FFF2-40B4-BE49-F238E27FC236}">
                  <a16:creationId xmlns:a16="http://schemas.microsoft.com/office/drawing/2014/main" id="{FFE82FA5-B8DB-D0EC-47D5-F6177B83ED2D}"/>
                </a:ext>
              </a:extLst>
            </p:cNvPr>
            <p:cNvSpPr>
              <a:spLocks noChangeArrowheads="1"/>
            </p:cNvSpPr>
            <p:nvPr/>
          </p:nvSpPr>
          <p:spPr bwMode="auto">
            <a:xfrm>
              <a:off x="488" y="878"/>
              <a:ext cx="740"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5000"/>
                </a:lnSpc>
              </a:pPr>
              <a:r>
                <a:rPr lang="en-US" altLang="zh-CN" sz="1800">
                  <a:solidFill>
                    <a:schemeClr val="tx1"/>
                  </a:solidFill>
                </a:rPr>
                <a:t>software</a:t>
              </a:r>
            </a:p>
          </p:txBody>
        </p:sp>
        <p:sp>
          <p:nvSpPr>
            <p:cNvPr id="7218" name="Rectangle 51">
              <a:extLst>
                <a:ext uri="{FF2B5EF4-FFF2-40B4-BE49-F238E27FC236}">
                  <a16:creationId xmlns:a16="http://schemas.microsoft.com/office/drawing/2014/main" id="{458ECDC0-6C48-62C5-2CA9-E8AB5B96B0F0}"/>
                </a:ext>
              </a:extLst>
            </p:cNvPr>
            <p:cNvSpPr>
              <a:spLocks noChangeArrowheads="1"/>
            </p:cNvSpPr>
            <p:nvPr/>
          </p:nvSpPr>
          <p:spPr bwMode="auto">
            <a:xfrm>
              <a:off x="488" y="2080"/>
              <a:ext cx="793"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5000"/>
                </a:lnSpc>
              </a:pPr>
              <a:r>
                <a:rPr lang="en-US" altLang="zh-CN" sz="1800">
                  <a:solidFill>
                    <a:schemeClr val="tx1"/>
                  </a:solidFill>
                </a:rPr>
                <a:t>hardware</a:t>
              </a:r>
            </a:p>
          </p:txBody>
        </p:sp>
      </p:grpSp>
      <p:sp>
        <p:nvSpPr>
          <p:cNvPr id="345140" name="Text Box 52">
            <a:extLst>
              <a:ext uri="{FF2B5EF4-FFF2-40B4-BE49-F238E27FC236}">
                <a16:creationId xmlns:a16="http://schemas.microsoft.com/office/drawing/2014/main" id="{BBD14737-8284-C5B8-FC29-0E4C10E33F70}"/>
              </a:ext>
            </a:extLst>
          </p:cNvPr>
          <p:cNvSpPr txBox="1">
            <a:spLocks noChangeArrowheads="1"/>
          </p:cNvSpPr>
          <p:nvPr/>
        </p:nvSpPr>
        <p:spPr bwMode="auto">
          <a:xfrm>
            <a:off x="731838" y="4656138"/>
            <a:ext cx="724535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spcBef>
                <a:spcPct val="20000"/>
              </a:spcBef>
            </a:pPr>
            <a:r>
              <a:rPr lang="zh-CN" altLang="en-US" sz="2000">
                <a:ea typeface="黑体" panose="02010609060101010101" pitchFamily="49" charset="-122"/>
              </a:rPr>
              <a:t>回顾：冯</a:t>
            </a:r>
            <a:r>
              <a:rPr lang="en-US" altLang="zh-CN" sz="2000">
                <a:ea typeface="黑体" panose="02010609060101010101" pitchFamily="49" charset="-122"/>
              </a:rPr>
              <a:t>.</a:t>
            </a:r>
            <a:r>
              <a:rPr lang="zh-CN" altLang="en-US" sz="2000">
                <a:ea typeface="黑体" panose="02010609060101010101" pitchFamily="49" charset="-122"/>
              </a:rPr>
              <a:t>诺依曼结构机器对指令规定：</a:t>
            </a:r>
          </a:p>
          <a:p>
            <a:pPr eaLnBrk="0" hangingPunct="0">
              <a:spcBef>
                <a:spcPct val="20000"/>
              </a:spcBef>
              <a:buSzPct val="80000"/>
              <a:buFont typeface="Wingdings" panose="05000000000000000000" pitchFamily="2" charset="2"/>
              <a:buChar char="u"/>
            </a:pPr>
            <a:r>
              <a:rPr lang="zh-CN" altLang="en-US" sz="2000">
                <a:solidFill>
                  <a:schemeClr val="tx1"/>
                </a:solidFill>
                <a:ea typeface="黑体" panose="02010609060101010101" pitchFamily="49" charset="-122"/>
              </a:rPr>
              <a:t> 用二进制表示，和数据一起存放在主存中</a:t>
            </a:r>
          </a:p>
          <a:p>
            <a:pPr eaLnBrk="0" hangingPunct="0">
              <a:spcBef>
                <a:spcPct val="20000"/>
              </a:spcBef>
              <a:buSzPct val="80000"/>
              <a:buFont typeface="Wingdings" panose="05000000000000000000" pitchFamily="2" charset="2"/>
              <a:buChar char="u"/>
            </a:pPr>
            <a:r>
              <a:rPr lang="zh-CN" altLang="en-US" sz="2000">
                <a:solidFill>
                  <a:schemeClr val="tx1"/>
                </a:solidFill>
                <a:ea typeface="黑体" panose="02010609060101010101" pitchFamily="49" charset="-122"/>
              </a:rPr>
              <a:t>  由两部分组成：操作码和操作数（或其地址码）</a:t>
            </a:r>
          </a:p>
          <a:p>
            <a:pPr lvl="1" eaLnBrk="0" hangingPunct="0">
              <a:spcBef>
                <a:spcPct val="20000"/>
              </a:spcBef>
              <a:buFontTx/>
              <a:buChar char="•"/>
            </a:pPr>
            <a:r>
              <a:rPr lang="en-US" altLang="zh-CN" sz="2000">
                <a:solidFill>
                  <a:schemeClr val="tx1"/>
                </a:solidFill>
                <a:ea typeface="黑体" panose="02010609060101010101" pitchFamily="49" charset="-122"/>
              </a:rPr>
              <a:t> </a:t>
            </a:r>
            <a:r>
              <a:rPr lang="en-US" altLang="zh-CN" sz="2000">
                <a:solidFill>
                  <a:schemeClr val="accent1"/>
                </a:solidFill>
                <a:ea typeface="黑体" panose="02010609060101010101" pitchFamily="49" charset="-122"/>
              </a:rPr>
              <a:t>Operation Code</a:t>
            </a:r>
            <a:r>
              <a:rPr lang="en-US" altLang="zh-CN" sz="2000">
                <a:solidFill>
                  <a:schemeClr val="tx1"/>
                </a:solidFill>
                <a:ea typeface="黑体" panose="02010609060101010101" pitchFamily="49" charset="-122"/>
              </a:rPr>
              <a:t>:  defines the operation type</a:t>
            </a:r>
          </a:p>
          <a:p>
            <a:pPr lvl="1" eaLnBrk="0" hangingPunct="0">
              <a:spcBef>
                <a:spcPct val="20000"/>
              </a:spcBef>
              <a:buFontTx/>
              <a:buChar char="•"/>
            </a:pPr>
            <a:r>
              <a:rPr lang="en-US" altLang="zh-CN" sz="2000">
                <a:solidFill>
                  <a:schemeClr val="tx1"/>
                </a:solidFill>
                <a:ea typeface="黑体" panose="02010609060101010101" pitchFamily="49" charset="-122"/>
              </a:rPr>
              <a:t> </a:t>
            </a:r>
            <a:r>
              <a:rPr lang="en-US" altLang="zh-CN" sz="2000">
                <a:solidFill>
                  <a:schemeClr val="accent1"/>
                </a:solidFill>
                <a:ea typeface="黑体" panose="02010609060101010101" pitchFamily="49" charset="-122"/>
              </a:rPr>
              <a:t>Operands</a:t>
            </a:r>
            <a:r>
              <a:rPr lang="en-US" altLang="zh-CN" sz="2000">
                <a:solidFill>
                  <a:schemeClr val="tx1"/>
                </a:solidFill>
                <a:ea typeface="黑体" panose="02010609060101010101" pitchFamily="49" charset="-122"/>
              </a:rPr>
              <a:t>:  indicate operation source and destination</a:t>
            </a:r>
          </a:p>
        </p:txBody>
      </p:sp>
      <p:sp>
        <p:nvSpPr>
          <p:cNvPr id="345141" name="Rectangle 53">
            <a:extLst>
              <a:ext uri="{FF2B5EF4-FFF2-40B4-BE49-F238E27FC236}">
                <a16:creationId xmlns:a16="http://schemas.microsoft.com/office/drawing/2014/main" id="{0A0EBBBD-27CA-D98B-1540-A12EB40B22D6}"/>
              </a:ext>
            </a:extLst>
          </p:cNvPr>
          <p:cNvSpPr>
            <a:spLocks noGrp="1" noChangeArrowheads="1"/>
          </p:cNvSpPr>
          <p:nvPr>
            <p:ph idx="1"/>
          </p:nvPr>
        </p:nvSpPr>
        <p:spPr>
          <a:xfrm>
            <a:off x="236538" y="519113"/>
            <a:ext cx="8824912" cy="2087562"/>
          </a:xfrm>
        </p:spPr>
        <p:txBody>
          <a:bodyPr/>
          <a:lstStyle/>
          <a:p>
            <a:pPr marL="342900" indent="-342900">
              <a:lnSpc>
                <a:spcPct val="100000"/>
              </a:lnSpc>
              <a:buSzPct val="70000"/>
            </a:pPr>
            <a:r>
              <a:rPr lang="zh-CN" altLang="en-US" sz="2100">
                <a:latin typeface="Arial" panose="020B0604020202020204" pitchFamily="34" charset="0"/>
                <a:ea typeface="黑体" panose="02010609060101010101" pitchFamily="49" charset="-122"/>
              </a:rPr>
              <a:t>指令系统处在软</a:t>
            </a:r>
            <a:r>
              <a:rPr lang="en-US" altLang="zh-CN" sz="2100">
                <a:latin typeface="Arial" panose="020B0604020202020204" pitchFamily="34" charset="0"/>
                <a:ea typeface="黑体" panose="02010609060101010101" pitchFamily="49" charset="-122"/>
              </a:rPr>
              <a:t>/</a:t>
            </a:r>
            <a:r>
              <a:rPr lang="zh-CN" altLang="en-US" sz="2100">
                <a:latin typeface="Arial" panose="020B0604020202020204" pitchFamily="34" charset="0"/>
                <a:ea typeface="黑体" panose="02010609060101010101" pitchFamily="49" charset="-122"/>
              </a:rPr>
              <a:t>硬件交界面，同时被硬件设计者和系统程序员看到</a:t>
            </a:r>
          </a:p>
          <a:p>
            <a:pPr marL="342900" indent="-342900">
              <a:lnSpc>
                <a:spcPct val="100000"/>
              </a:lnSpc>
              <a:buSzPct val="70000"/>
            </a:pPr>
            <a:r>
              <a:rPr lang="zh-CN" altLang="en-US" sz="2100">
                <a:latin typeface="Arial" panose="020B0604020202020204" pitchFamily="34" charset="0"/>
                <a:ea typeface="黑体" panose="02010609060101010101" pitchFamily="49" charset="-122"/>
              </a:rPr>
              <a:t>硬件设计者角度：指令系统为</a:t>
            </a:r>
            <a:r>
              <a:rPr lang="en-US" altLang="en-US" sz="2100">
                <a:latin typeface="Arial" panose="020B0604020202020204" pitchFamily="34" charset="0"/>
                <a:ea typeface="黑体" panose="02010609060101010101" pitchFamily="49" charset="-122"/>
              </a:rPr>
              <a:t>CPU</a:t>
            </a:r>
            <a:r>
              <a:rPr lang="zh-CN" altLang="en-US" sz="2100">
                <a:latin typeface="Arial" panose="020B0604020202020204" pitchFamily="34" charset="0"/>
                <a:ea typeface="黑体" panose="02010609060101010101" pitchFamily="49" charset="-122"/>
              </a:rPr>
              <a:t>提供功能需求，要求易于硬件设计</a:t>
            </a:r>
          </a:p>
          <a:p>
            <a:pPr marL="342900" indent="-342900">
              <a:lnSpc>
                <a:spcPct val="100000"/>
              </a:lnSpc>
              <a:buSzPct val="70000"/>
            </a:pPr>
            <a:r>
              <a:rPr lang="zh-CN" altLang="en-US" sz="2100">
                <a:latin typeface="Arial" panose="020B0604020202020204" pitchFamily="34" charset="0"/>
                <a:ea typeface="黑体" panose="02010609060101010101" pitchFamily="49" charset="-122"/>
              </a:rPr>
              <a:t>系统程序员角度：通过指令系统来使用硬件，要求易于编写编译器</a:t>
            </a:r>
          </a:p>
          <a:p>
            <a:pPr marL="342900" indent="-342900">
              <a:lnSpc>
                <a:spcPct val="100000"/>
              </a:lnSpc>
              <a:buSzPct val="70000"/>
            </a:pPr>
            <a:r>
              <a:rPr lang="zh-CN" altLang="en-US" sz="2100">
                <a:latin typeface="Arial" panose="020B0604020202020204" pitchFamily="34" charset="0"/>
                <a:ea typeface="黑体" panose="02010609060101010101" pitchFamily="49" charset="-122"/>
              </a:rPr>
              <a:t>指令系统设计的好坏还决定了：计算机的性能和成本</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5141">
                                            <p:txEl>
                                              <p:pRg st="0" end="0"/>
                                            </p:txEl>
                                          </p:spTgt>
                                        </p:tgtEl>
                                        <p:attrNameLst>
                                          <p:attrName>style.visibility</p:attrName>
                                        </p:attrNameLst>
                                      </p:cBhvr>
                                      <p:to>
                                        <p:strVal val="visible"/>
                                      </p:to>
                                    </p:set>
                                    <p:animEffect transition="in" filter="blinds(horizontal)">
                                      <p:cBhvr>
                                        <p:cTn id="7" dur="500"/>
                                        <p:tgtEl>
                                          <p:spTgt spid="34514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5141">
                                            <p:txEl>
                                              <p:pRg st="1" end="1"/>
                                            </p:txEl>
                                          </p:spTgt>
                                        </p:tgtEl>
                                        <p:attrNameLst>
                                          <p:attrName>style.visibility</p:attrName>
                                        </p:attrNameLst>
                                      </p:cBhvr>
                                      <p:to>
                                        <p:strVal val="visible"/>
                                      </p:to>
                                    </p:set>
                                    <p:animEffect transition="in" filter="blinds(horizontal)">
                                      <p:cBhvr>
                                        <p:cTn id="12" dur="500"/>
                                        <p:tgtEl>
                                          <p:spTgt spid="34514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5141">
                                            <p:txEl>
                                              <p:pRg st="2" end="2"/>
                                            </p:txEl>
                                          </p:spTgt>
                                        </p:tgtEl>
                                        <p:attrNameLst>
                                          <p:attrName>style.visibility</p:attrName>
                                        </p:attrNameLst>
                                      </p:cBhvr>
                                      <p:to>
                                        <p:strVal val="visible"/>
                                      </p:to>
                                    </p:set>
                                    <p:animEffect transition="in" filter="blinds(horizontal)">
                                      <p:cBhvr>
                                        <p:cTn id="17" dur="500"/>
                                        <p:tgtEl>
                                          <p:spTgt spid="34514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5141">
                                            <p:txEl>
                                              <p:pRg st="3" end="3"/>
                                            </p:txEl>
                                          </p:spTgt>
                                        </p:tgtEl>
                                        <p:attrNameLst>
                                          <p:attrName>style.visibility</p:attrName>
                                        </p:attrNameLst>
                                      </p:cBhvr>
                                      <p:to>
                                        <p:strVal val="visible"/>
                                      </p:to>
                                    </p:set>
                                    <p:animEffect transition="in" filter="blinds(horizontal)">
                                      <p:cBhvr>
                                        <p:cTn id="22" dur="500"/>
                                        <p:tgtEl>
                                          <p:spTgt spid="34514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45140">
                                            <p:txEl>
                                              <p:pRg st="0" end="0"/>
                                            </p:txEl>
                                          </p:spTgt>
                                        </p:tgtEl>
                                        <p:attrNameLst>
                                          <p:attrName>style.visibility</p:attrName>
                                        </p:attrNameLst>
                                      </p:cBhvr>
                                      <p:to>
                                        <p:strVal val="visible"/>
                                      </p:to>
                                    </p:set>
                                    <p:animEffect transition="in" filter="blinds(horizontal)">
                                      <p:cBhvr>
                                        <p:cTn id="27" dur="500"/>
                                        <p:tgtEl>
                                          <p:spTgt spid="345140">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45140">
                                            <p:txEl>
                                              <p:pRg st="1" end="1"/>
                                            </p:txEl>
                                          </p:spTgt>
                                        </p:tgtEl>
                                        <p:attrNameLst>
                                          <p:attrName>style.visibility</p:attrName>
                                        </p:attrNameLst>
                                      </p:cBhvr>
                                      <p:to>
                                        <p:strVal val="visible"/>
                                      </p:to>
                                    </p:set>
                                    <p:animEffect transition="in" filter="blinds(horizontal)">
                                      <p:cBhvr>
                                        <p:cTn id="32" dur="500"/>
                                        <p:tgtEl>
                                          <p:spTgt spid="345140">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45140">
                                            <p:txEl>
                                              <p:pRg st="2" end="2"/>
                                            </p:txEl>
                                          </p:spTgt>
                                        </p:tgtEl>
                                        <p:attrNameLst>
                                          <p:attrName>style.visibility</p:attrName>
                                        </p:attrNameLst>
                                      </p:cBhvr>
                                      <p:to>
                                        <p:strVal val="visible"/>
                                      </p:to>
                                    </p:set>
                                    <p:animEffect transition="in" filter="blinds(horizontal)">
                                      <p:cBhvr>
                                        <p:cTn id="37" dur="500"/>
                                        <p:tgtEl>
                                          <p:spTgt spid="345140">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45140">
                                            <p:txEl>
                                              <p:pRg st="3" end="3"/>
                                            </p:txEl>
                                          </p:spTgt>
                                        </p:tgtEl>
                                        <p:attrNameLst>
                                          <p:attrName>style.visibility</p:attrName>
                                        </p:attrNameLst>
                                      </p:cBhvr>
                                      <p:to>
                                        <p:strVal val="visible"/>
                                      </p:to>
                                    </p:set>
                                    <p:animEffect transition="in" filter="blinds(horizontal)">
                                      <p:cBhvr>
                                        <p:cTn id="42" dur="500"/>
                                        <p:tgtEl>
                                          <p:spTgt spid="345140">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45140">
                                            <p:txEl>
                                              <p:pRg st="4" end="4"/>
                                            </p:txEl>
                                          </p:spTgt>
                                        </p:tgtEl>
                                        <p:attrNameLst>
                                          <p:attrName>style.visibility</p:attrName>
                                        </p:attrNameLst>
                                      </p:cBhvr>
                                      <p:to>
                                        <p:strVal val="visible"/>
                                      </p:to>
                                    </p:set>
                                    <p:animEffect transition="in" filter="blinds(horizontal)">
                                      <p:cBhvr>
                                        <p:cTn id="47" dur="500"/>
                                        <p:tgtEl>
                                          <p:spTgt spid="3451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4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1E702E88-83A0-DBF6-A20A-CDBD61EAE767}"/>
              </a:ext>
            </a:extLst>
          </p:cNvPr>
          <p:cNvSpPr>
            <a:spLocks noGrp="1" noChangeArrowheads="1"/>
          </p:cNvSpPr>
          <p:nvPr>
            <p:ph type="title"/>
          </p:nvPr>
        </p:nvSpPr>
        <p:spPr>
          <a:xfrm>
            <a:off x="698500" y="42863"/>
            <a:ext cx="6781800" cy="422275"/>
          </a:xfrm>
        </p:spPr>
        <p:txBody>
          <a:bodyPr/>
          <a:lstStyle/>
          <a:p>
            <a:r>
              <a:rPr lang="zh-CN" altLang="en-US" sz="2800">
                <a:latin typeface="宋体" panose="02010600030101010101" pitchFamily="2" charset="-122"/>
                <a:ea typeface="宋体" panose="02010600030101010101" pitchFamily="2" charset="-122"/>
              </a:rPr>
              <a:t>一条指令须包含的信息</a:t>
            </a:r>
            <a:endParaRPr lang="zh-CN" altLang="en-US" sz="3200">
              <a:latin typeface="宋体" panose="02010600030101010101" pitchFamily="2" charset="-122"/>
              <a:ea typeface="宋体" panose="02010600030101010101" pitchFamily="2" charset="-122"/>
            </a:endParaRPr>
          </a:p>
        </p:txBody>
      </p:sp>
      <p:sp>
        <p:nvSpPr>
          <p:cNvPr id="347139" name="Rectangle 3">
            <a:extLst>
              <a:ext uri="{FF2B5EF4-FFF2-40B4-BE49-F238E27FC236}">
                <a16:creationId xmlns:a16="http://schemas.microsoft.com/office/drawing/2014/main" id="{FE1F6058-3529-58C7-DFA7-3A15221306EA}"/>
              </a:ext>
            </a:extLst>
          </p:cNvPr>
          <p:cNvSpPr>
            <a:spLocks noGrp="1" noChangeArrowheads="1"/>
          </p:cNvSpPr>
          <p:nvPr>
            <p:ph idx="1"/>
          </p:nvPr>
        </p:nvSpPr>
        <p:spPr>
          <a:xfrm>
            <a:off x="446088" y="868363"/>
            <a:ext cx="8615362" cy="5354637"/>
          </a:xfrm>
        </p:spPr>
        <p:txBody>
          <a:bodyPr/>
          <a:lstStyle/>
          <a:p>
            <a:pPr marL="342900" indent="-342900">
              <a:lnSpc>
                <a:spcPct val="110000"/>
              </a:lnSpc>
              <a:buFont typeface="Wingdings" panose="05000000000000000000" pitchFamily="2" charset="2"/>
              <a:buNone/>
            </a:pPr>
            <a:r>
              <a:rPr lang="zh-CN" altLang="en-US" sz="2400">
                <a:solidFill>
                  <a:srgbClr val="31209A"/>
                </a:solidFill>
                <a:latin typeface="黑体" panose="02010609060101010101" pitchFamily="49" charset="-122"/>
                <a:ea typeface="黑体" panose="02010609060101010101" pitchFamily="49" charset="-122"/>
              </a:rPr>
              <a:t>问题：一条指令必须</a:t>
            </a:r>
            <a:r>
              <a:rPr lang="zh-CN" altLang="en-US" sz="2400">
                <a:solidFill>
                  <a:schemeClr val="accent1"/>
                </a:solidFill>
                <a:latin typeface="黑体" panose="02010609060101010101" pitchFamily="49" charset="-122"/>
                <a:ea typeface="黑体" panose="02010609060101010101" pitchFamily="49" charset="-122"/>
              </a:rPr>
              <a:t>明显</a:t>
            </a:r>
            <a:r>
              <a:rPr lang="zh-CN" altLang="en-US" sz="2400">
                <a:solidFill>
                  <a:srgbClr val="31209A"/>
                </a:solidFill>
                <a:latin typeface="黑体" panose="02010609060101010101" pitchFamily="49" charset="-122"/>
                <a:ea typeface="黑体" panose="02010609060101010101" pitchFamily="49" charset="-122"/>
              </a:rPr>
              <a:t>或</a:t>
            </a:r>
            <a:r>
              <a:rPr lang="zh-CN" altLang="en-US" sz="2400">
                <a:solidFill>
                  <a:schemeClr val="accent1"/>
                </a:solidFill>
                <a:latin typeface="黑体" panose="02010609060101010101" pitchFamily="49" charset="-122"/>
                <a:ea typeface="黑体" panose="02010609060101010101" pitchFamily="49" charset="-122"/>
              </a:rPr>
              <a:t>隐含</a:t>
            </a:r>
            <a:r>
              <a:rPr lang="zh-CN" altLang="en-US" sz="2400">
                <a:solidFill>
                  <a:srgbClr val="31209A"/>
                </a:solidFill>
                <a:latin typeface="黑体" panose="02010609060101010101" pitchFamily="49" charset="-122"/>
                <a:ea typeface="黑体" panose="02010609060101010101" pitchFamily="49" charset="-122"/>
              </a:rPr>
              <a:t>包含的信息有哪些？</a:t>
            </a:r>
          </a:p>
          <a:p>
            <a:pPr marL="342900" indent="-342900">
              <a:lnSpc>
                <a:spcPct val="110000"/>
              </a:lnSpc>
              <a:buFont typeface="Monotype Sorts"/>
              <a:buNone/>
            </a:pPr>
            <a:r>
              <a:rPr lang="zh-CN" altLang="en-US" sz="2400">
                <a:solidFill>
                  <a:schemeClr val="accent2"/>
                </a:solidFill>
                <a:latin typeface="黑体" panose="02010609060101010101" pitchFamily="49" charset="-122"/>
                <a:ea typeface="黑体" panose="02010609060101010101" pitchFamily="49" charset="-122"/>
              </a:rPr>
              <a:t>操作码：指定操作类型</a:t>
            </a:r>
          </a:p>
          <a:p>
            <a:pPr marL="342900" indent="-342900">
              <a:lnSpc>
                <a:spcPct val="110000"/>
              </a:lnSpc>
              <a:buFont typeface="Monotype Sorts"/>
              <a:buChar char=" "/>
            </a:pPr>
            <a:r>
              <a:rPr lang="zh-CN" altLang="en-US" sz="2400">
                <a:solidFill>
                  <a:srgbClr val="31209A"/>
                </a:solidFill>
                <a:latin typeface="黑体" panose="02010609060101010101" pitchFamily="49" charset="-122"/>
                <a:ea typeface="黑体" panose="02010609060101010101" pitchFamily="49" charset="-122"/>
              </a:rPr>
              <a:t>   </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操作码长度：固定／可变</a:t>
            </a:r>
            <a:r>
              <a:rPr lang="en-US" altLang="zh-CN" sz="2400">
                <a:solidFill>
                  <a:srgbClr val="31209A"/>
                </a:solidFill>
                <a:latin typeface="黑体" panose="02010609060101010101" pitchFamily="49" charset="-122"/>
                <a:ea typeface="黑体" panose="02010609060101010101" pitchFamily="49" charset="-122"/>
              </a:rPr>
              <a:t>)</a:t>
            </a:r>
          </a:p>
          <a:p>
            <a:pPr marL="342900" indent="-342900">
              <a:lnSpc>
                <a:spcPct val="110000"/>
              </a:lnSpc>
              <a:buFont typeface="Monotype Sorts"/>
              <a:buNone/>
            </a:pPr>
            <a:r>
              <a:rPr lang="zh-CN" altLang="en-US" sz="2400">
                <a:solidFill>
                  <a:schemeClr val="accent2"/>
                </a:solidFill>
                <a:latin typeface="黑体" panose="02010609060101010101" pitchFamily="49" charset="-122"/>
                <a:ea typeface="黑体" panose="02010609060101010101" pitchFamily="49" charset="-122"/>
              </a:rPr>
              <a:t>源操作数参照：一个或多个源操作数所在的地址</a:t>
            </a:r>
          </a:p>
          <a:p>
            <a:pPr marL="342900" indent="-342900">
              <a:lnSpc>
                <a:spcPct val="110000"/>
              </a:lnSpc>
              <a:buFont typeface="Monotype Sorts"/>
              <a:buChar char=" "/>
            </a:pPr>
            <a:r>
              <a:rPr lang="zh-CN" altLang="en-US" sz="2400">
                <a:solidFill>
                  <a:srgbClr val="31209A"/>
                </a:solidFill>
                <a:latin typeface="黑体" panose="02010609060101010101" pitchFamily="49" charset="-122"/>
                <a:ea typeface="黑体" panose="02010609060101010101" pitchFamily="49" charset="-122"/>
              </a:rPr>
              <a:t>   </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操作数来源：主</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虚</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存</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寄存器</a:t>
            </a:r>
            <a:r>
              <a:rPr lang="en-US" altLang="zh-CN" sz="2400">
                <a:solidFill>
                  <a:srgbClr val="31209A"/>
                </a:solidFill>
                <a:latin typeface="黑体" panose="02010609060101010101" pitchFamily="49" charset="-122"/>
                <a:ea typeface="黑体" panose="02010609060101010101" pitchFamily="49" charset="-122"/>
              </a:rPr>
              <a:t>/</a:t>
            </a:r>
            <a:r>
              <a:rPr lang="en-US" altLang="en-US" sz="2400">
                <a:solidFill>
                  <a:srgbClr val="31209A"/>
                </a:solidFill>
                <a:latin typeface="黑体" panose="02010609060101010101" pitchFamily="49" charset="-122"/>
                <a:ea typeface="黑体" panose="02010609060101010101" pitchFamily="49" charset="-122"/>
              </a:rPr>
              <a:t>I/O</a:t>
            </a:r>
            <a:r>
              <a:rPr lang="zh-CN" altLang="en-US" sz="2400">
                <a:solidFill>
                  <a:srgbClr val="31209A"/>
                </a:solidFill>
                <a:latin typeface="黑体" panose="02010609060101010101" pitchFamily="49" charset="-122"/>
                <a:ea typeface="黑体" panose="02010609060101010101" pitchFamily="49" charset="-122"/>
              </a:rPr>
              <a:t>端口</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指令本身）</a:t>
            </a:r>
          </a:p>
          <a:p>
            <a:pPr marL="342900" indent="-342900">
              <a:lnSpc>
                <a:spcPct val="110000"/>
              </a:lnSpc>
              <a:buFont typeface="Monotype Sorts"/>
              <a:buNone/>
            </a:pPr>
            <a:r>
              <a:rPr lang="zh-CN" altLang="en-US" sz="2400">
                <a:solidFill>
                  <a:schemeClr val="accent2"/>
                </a:solidFill>
                <a:latin typeface="黑体" panose="02010609060101010101" pitchFamily="49" charset="-122"/>
                <a:ea typeface="黑体" panose="02010609060101010101" pitchFamily="49" charset="-122"/>
              </a:rPr>
              <a:t>结果值参照：产生的结果存放何处（目的操作数）</a:t>
            </a:r>
          </a:p>
          <a:p>
            <a:pPr marL="342900" indent="-342900">
              <a:lnSpc>
                <a:spcPct val="110000"/>
              </a:lnSpc>
              <a:buFont typeface="Monotype Sorts"/>
              <a:buChar char=" "/>
            </a:pPr>
            <a:r>
              <a:rPr lang="zh-CN" altLang="en-US" sz="2400">
                <a:solidFill>
                  <a:srgbClr val="31209A"/>
                </a:solidFill>
                <a:latin typeface="黑体" panose="02010609060101010101" pitchFamily="49" charset="-122"/>
                <a:ea typeface="黑体" panose="02010609060101010101" pitchFamily="49" charset="-122"/>
              </a:rPr>
              <a:t>   </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结果地址：主</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虚</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存</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寄存器</a:t>
            </a:r>
            <a:r>
              <a:rPr lang="en-US" altLang="zh-CN" sz="2400">
                <a:solidFill>
                  <a:srgbClr val="31209A"/>
                </a:solidFill>
                <a:latin typeface="黑体" panose="02010609060101010101" pitchFamily="49" charset="-122"/>
                <a:ea typeface="黑体" panose="02010609060101010101" pitchFamily="49" charset="-122"/>
              </a:rPr>
              <a:t>/</a:t>
            </a:r>
            <a:r>
              <a:rPr lang="en-US" altLang="en-US" sz="2400">
                <a:solidFill>
                  <a:srgbClr val="31209A"/>
                </a:solidFill>
                <a:latin typeface="黑体" panose="02010609060101010101" pitchFamily="49" charset="-122"/>
                <a:ea typeface="黑体" panose="02010609060101010101" pitchFamily="49" charset="-122"/>
              </a:rPr>
              <a:t>I/O</a:t>
            </a:r>
            <a:r>
              <a:rPr lang="zh-CN" altLang="en-US" sz="2400">
                <a:solidFill>
                  <a:srgbClr val="31209A"/>
                </a:solidFill>
                <a:latin typeface="黑体" panose="02010609060101010101" pitchFamily="49" charset="-122"/>
                <a:ea typeface="黑体" panose="02010609060101010101" pitchFamily="49" charset="-122"/>
              </a:rPr>
              <a:t>端口</a:t>
            </a:r>
            <a:r>
              <a:rPr lang="en-US" altLang="zh-CN" sz="2400">
                <a:solidFill>
                  <a:srgbClr val="31209A"/>
                </a:solidFill>
                <a:latin typeface="黑体" panose="02010609060101010101" pitchFamily="49" charset="-122"/>
                <a:ea typeface="黑体" panose="02010609060101010101" pitchFamily="49" charset="-122"/>
              </a:rPr>
              <a:t>)</a:t>
            </a:r>
          </a:p>
          <a:p>
            <a:pPr marL="342900" indent="-342900">
              <a:lnSpc>
                <a:spcPct val="110000"/>
              </a:lnSpc>
              <a:buFont typeface="Monotype Sorts"/>
              <a:buNone/>
            </a:pPr>
            <a:r>
              <a:rPr lang="zh-CN" altLang="en-US" sz="2400">
                <a:solidFill>
                  <a:schemeClr val="accent2"/>
                </a:solidFill>
                <a:latin typeface="黑体" panose="02010609060101010101" pitchFamily="49" charset="-122"/>
                <a:ea typeface="黑体" panose="02010609060101010101" pitchFamily="49" charset="-122"/>
              </a:rPr>
              <a:t>下一条指令地址：下条指令存放何处</a:t>
            </a:r>
          </a:p>
          <a:p>
            <a:pPr marL="342900" indent="-342900">
              <a:lnSpc>
                <a:spcPct val="110000"/>
              </a:lnSpc>
              <a:buFont typeface="Monotype Sorts"/>
              <a:buChar char=" "/>
            </a:pPr>
            <a:r>
              <a:rPr lang="zh-CN" altLang="en-US" sz="2400">
                <a:solidFill>
                  <a:srgbClr val="31209A"/>
                </a:solidFill>
                <a:latin typeface="黑体" panose="02010609060101010101" pitchFamily="49" charset="-122"/>
                <a:ea typeface="黑体" panose="02010609060101010101" pitchFamily="49" charset="-122"/>
              </a:rPr>
              <a:t>   </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下条指令地址 ：主</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虚</a:t>
            </a:r>
            <a:r>
              <a:rPr lang="en-US" altLang="zh-CN" sz="2400">
                <a:solidFill>
                  <a:srgbClr val="31209A"/>
                </a:solidFill>
                <a:latin typeface="黑体" panose="02010609060101010101" pitchFamily="49" charset="-122"/>
                <a:ea typeface="黑体" panose="02010609060101010101" pitchFamily="49" charset="-122"/>
              </a:rPr>
              <a:t>)</a:t>
            </a:r>
            <a:r>
              <a:rPr lang="zh-CN" altLang="en-US" sz="2400">
                <a:solidFill>
                  <a:srgbClr val="31209A"/>
                </a:solidFill>
                <a:latin typeface="黑体" panose="02010609060101010101" pitchFamily="49" charset="-122"/>
                <a:ea typeface="黑体" panose="02010609060101010101" pitchFamily="49" charset="-122"/>
              </a:rPr>
              <a:t>存</a:t>
            </a:r>
            <a:r>
              <a:rPr lang="zh-CN" altLang="zh-CN" sz="2400">
                <a:solidFill>
                  <a:srgbClr val="31209A"/>
                </a:solidFill>
                <a:latin typeface="黑体" panose="02010609060101010101" pitchFamily="49" charset="-122"/>
                <a:ea typeface="黑体" panose="02010609060101010101" pitchFamily="49" charset="-122"/>
              </a:rPr>
              <a:t>)</a:t>
            </a:r>
          </a:p>
          <a:p>
            <a:pPr marL="342900" indent="-342900">
              <a:lnSpc>
                <a:spcPct val="110000"/>
              </a:lnSpc>
              <a:buFont typeface="Monotype Sorts"/>
              <a:buChar char=" "/>
            </a:pPr>
            <a:r>
              <a:rPr lang="en-US" altLang="zh-CN" sz="2400">
                <a:solidFill>
                  <a:srgbClr val="31209A"/>
                </a:solidFill>
                <a:latin typeface="黑体" panose="02010609060101010101" pitchFamily="49" charset="-122"/>
                <a:ea typeface="黑体" panose="02010609060101010101" pitchFamily="49" charset="-122"/>
              </a:rPr>
              <a:t>   (</a:t>
            </a:r>
            <a:r>
              <a:rPr lang="zh-CN" altLang="en-US" sz="2400">
                <a:solidFill>
                  <a:srgbClr val="31209A"/>
                </a:solidFill>
                <a:latin typeface="黑体" panose="02010609060101010101" pitchFamily="49" charset="-122"/>
                <a:ea typeface="黑体" panose="02010609060101010101" pitchFamily="49" charset="-122"/>
              </a:rPr>
              <a:t>正常情况隐含在</a:t>
            </a:r>
            <a:r>
              <a:rPr lang="en-US" altLang="en-US" sz="2400">
                <a:solidFill>
                  <a:srgbClr val="31209A"/>
                </a:solidFill>
                <a:latin typeface="黑体" panose="02010609060101010101" pitchFamily="49" charset="-122"/>
                <a:ea typeface="黑体" panose="02010609060101010101" pitchFamily="49" charset="-122"/>
              </a:rPr>
              <a:t>PC</a:t>
            </a:r>
            <a:r>
              <a:rPr lang="zh-CN" altLang="en-US" sz="2400">
                <a:solidFill>
                  <a:srgbClr val="31209A"/>
                </a:solidFill>
                <a:latin typeface="黑体" panose="02010609060101010101" pitchFamily="49" charset="-122"/>
                <a:ea typeface="黑体" panose="02010609060101010101" pitchFamily="49" charset="-122"/>
              </a:rPr>
              <a:t>中，改变顺序时由指令给出）</a:t>
            </a:r>
          </a:p>
          <a:p>
            <a:pPr marL="342900" indent="-342900">
              <a:lnSpc>
                <a:spcPct val="110000"/>
              </a:lnSpc>
              <a:buFont typeface="Monotype Sorts"/>
              <a:buChar char="l"/>
            </a:pPr>
            <a:endParaRPr lang="zh-CN" altLang="en-US">
              <a:solidFill>
                <a:srgbClr val="31209A"/>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7139">
                                            <p:txEl>
                                              <p:pRg st="1" end="1"/>
                                            </p:txEl>
                                          </p:spTgt>
                                        </p:tgtEl>
                                        <p:attrNameLst>
                                          <p:attrName>style.visibility</p:attrName>
                                        </p:attrNameLst>
                                      </p:cBhvr>
                                      <p:to>
                                        <p:strVal val="visible"/>
                                      </p:to>
                                    </p:set>
                                    <p:animEffect transition="in" filter="blinds(horizontal)">
                                      <p:cBhvr>
                                        <p:cTn id="7" dur="500"/>
                                        <p:tgtEl>
                                          <p:spTgt spid="3471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47139">
                                            <p:txEl>
                                              <p:pRg st="2" end="2"/>
                                            </p:txEl>
                                          </p:spTgt>
                                        </p:tgtEl>
                                        <p:attrNameLst>
                                          <p:attrName>style.visibility</p:attrName>
                                        </p:attrNameLst>
                                      </p:cBhvr>
                                      <p:to>
                                        <p:strVal val="visible"/>
                                      </p:to>
                                    </p:set>
                                    <p:animEffect transition="in" filter="blinds(horizontal)">
                                      <p:cBhvr>
                                        <p:cTn id="10" dur="500"/>
                                        <p:tgtEl>
                                          <p:spTgt spid="347139">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47139">
                                            <p:txEl>
                                              <p:pRg st="3" end="3"/>
                                            </p:txEl>
                                          </p:spTgt>
                                        </p:tgtEl>
                                        <p:attrNameLst>
                                          <p:attrName>style.visibility</p:attrName>
                                        </p:attrNameLst>
                                      </p:cBhvr>
                                      <p:to>
                                        <p:strVal val="visible"/>
                                      </p:to>
                                    </p:set>
                                    <p:animEffect transition="in" filter="blinds(horizontal)">
                                      <p:cBhvr>
                                        <p:cTn id="15" dur="500"/>
                                        <p:tgtEl>
                                          <p:spTgt spid="34713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47139">
                                            <p:txEl>
                                              <p:pRg st="4" end="4"/>
                                            </p:txEl>
                                          </p:spTgt>
                                        </p:tgtEl>
                                        <p:attrNameLst>
                                          <p:attrName>style.visibility</p:attrName>
                                        </p:attrNameLst>
                                      </p:cBhvr>
                                      <p:to>
                                        <p:strVal val="visible"/>
                                      </p:to>
                                    </p:set>
                                    <p:animEffect transition="in" filter="blinds(horizontal)">
                                      <p:cBhvr>
                                        <p:cTn id="18" dur="500"/>
                                        <p:tgtEl>
                                          <p:spTgt spid="347139">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47139">
                                            <p:txEl>
                                              <p:pRg st="5" end="5"/>
                                            </p:txEl>
                                          </p:spTgt>
                                        </p:tgtEl>
                                        <p:attrNameLst>
                                          <p:attrName>style.visibility</p:attrName>
                                        </p:attrNameLst>
                                      </p:cBhvr>
                                      <p:to>
                                        <p:strVal val="visible"/>
                                      </p:to>
                                    </p:set>
                                    <p:animEffect transition="in" filter="blinds(horizontal)">
                                      <p:cBhvr>
                                        <p:cTn id="23" dur="500"/>
                                        <p:tgtEl>
                                          <p:spTgt spid="347139">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47139">
                                            <p:txEl>
                                              <p:pRg st="6" end="6"/>
                                            </p:txEl>
                                          </p:spTgt>
                                        </p:tgtEl>
                                        <p:attrNameLst>
                                          <p:attrName>style.visibility</p:attrName>
                                        </p:attrNameLst>
                                      </p:cBhvr>
                                      <p:to>
                                        <p:strVal val="visible"/>
                                      </p:to>
                                    </p:set>
                                    <p:animEffect transition="in" filter="blinds(horizontal)">
                                      <p:cBhvr>
                                        <p:cTn id="26" dur="500"/>
                                        <p:tgtEl>
                                          <p:spTgt spid="347139">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47139">
                                            <p:txEl>
                                              <p:pRg st="7" end="7"/>
                                            </p:txEl>
                                          </p:spTgt>
                                        </p:tgtEl>
                                        <p:attrNameLst>
                                          <p:attrName>style.visibility</p:attrName>
                                        </p:attrNameLst>
                                      </p:cBhvr>
                                      <p:to>
                                        <p:strVal val="visible"/>
                                      </p:to>
                                    </p:set>
                                    <p:animEffect transition="in" filter="blinds(horizontal)">
                                      <p:cBhvr>
                                        <p:cTn id="31" dur="500"/>
                                        <p:tgtEl>
                                          <p:spTgt spid="347139">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47139">
                                            <p:txEl>
                                              <p:pRg st="8" end="8"/>
                                            </p:txEl>
                                          </p:spTgt>
                                        </p:tgtEl>
                                        <p:attrNameLst>
                                          <p:attrName>style.visibility</p:attrName>
                                        </p:attrNameLst>
                                      </p:cBhvr>
                                      <p:to>
                                        <p:strVal val="visible"/>
                                      </p:to>
                                    </p:set>
                                    <p:animEffect transition="in" filter="blinds(horizontal)">
                                      <p:cBhvr>
                                        <p:cTn id="34" dur="500"/>
                                        <p:tgtEl>
                                          <p:spTgt spid="347139">
                                            <p:txEl>
                                              <p:pRg st="8" end="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47139">
                                            <p:txEl>
                                              <p:pRg st="9" end="9"/>
                                            </p:txEl>
                                          </p:spTgt>
                                        </p:tgtEl>
                                        <p:attrNameLst>
                                          <p:attrName>style.visibility</p:attrName>
                                        </p:attrNameLst>
                                      </p:cBhvr>
                                      <p:to>
                                        <p:strVal val="visible"/>
                                      </p:to>
                                    </p:set>
                                    <p:animEffect transition="in" filter="blinds(horizontal)">
                                      <p:cBhvr>
                                        <p:cTn id="37" dur="500"/>
                                        <p:tgtEl>
                                          <p:spTgt spid="3471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DF0DEC3-3B93-E697-1EBC-E020FBBE9BBC}"/>
              </a:ext>
            </a:extLst>
          </p:cNvPr>
          <p:cNvSpPr>
            <a:spLocks noGrp="1" noChangeArrowheads="1"/>
          </p:cNvSpPr>
          <p:nvPr>
            <p:ph type="title"/>
          </p:nvPr>
        </p:nvSpPr>
        <p:spPr>
          <a:xfrm>
            <a:off x="457200" y="39688"/>
            <a:ext cx="6742113" cy="425450"/>
          </a:xfrm>
        </p:spPr>
        <p:txBody>
          <a:bodyPr anchor="ctr"/>
          <a:lstStyle/>
          <a:p>
            <a:r>
              <a:rPr lang="zh-CN" altLang="en-US" sz="2800">
                <a:latin typeface="宋体" panose="02010600030101010101" pitchFamily="2" charset="-122"/>
                <a:ea typeface="宋体" panose="02010600030101010101" pitchFamily="2" charset="-122"/>
              </a:rPr>
              <a:t>一条指令中应该有几个地址码字段？</a:t>
            </a:r>
          </a:p>
        </p:txBody>
      </p:sp>
      <p:sp>
        <p:nvSpPr>
          <p:cNvPr id="9218" name="Rectangle 3">
            <a:extLst>
              <a:ext uri="{FF2B5EF4-FFF2-40B4-BE49-F238E27FC236}">
                <a16:creationId xmlns:a16="http://schemas.microsoft.com/office/drawing/2014/main" id="{CB0A532C-7AF2-225C-464E-77E1C32AD47A}"/>
              </a:ext>
            </a:extLst>
          </p:cNvPr>
          <p:cNvSpPr>
            <a:spLocks noGrp="1" noChangeArrowheads="1"/>
          </p:cNvSpPr>
          <p:nvPr>
            <p:ph idx="1"/>
          </p:nvPr>
        </p:nvSpPr>
        <p:spPr>
          <a:xfrm>
            <a:off x="231775" y="701675"/>
            <a:ext cx="8458200" cy="3348038"/>
          </a:xfrm>
        </p:spPr>
        <p:txBody>
          <a:bodyPr/>
          <a:lstStyle/>
          <a:p>
            <a:pPr marL="342900" indent="-342900">
              <a:lnSpc>
                <a:spcPct val="110000"/>
              </a:lnSpc>
              <a:buFont typeface="Wingdings" panose="05000000000000000000" pitchFamily="2" charset="2"/>
              <a:buNone/>
            </a:pPr>
            <a:r>
              <a:rPr lang="zh-CN" altLang="en-US" sz="1800">
                <a:solidFill>
                  <a:srgbClr val="CC3300"/>
                </a:solidFill>
                <a:latin typeface="黑体" panose="02010609060101010101" pitchFamily="49" charset="-122"/>
                <a:ea typeface="黑体" panose="02010609060101010101" pitchFamily="49" charset="-122"/>
              </a:rPr>
              <a:t>零地址指令</a:t>
            </a:r>
          </a:p>
          <a:p>
            <a:pPr marL="342900" indent="-342900">
              <a:lnSpc>
                <a:spcPct val="110000"/>
              </a:lnSpc>
              <a:spcBef>
                <a:spcPct val="0"/>
              </a:spcBef>
              <a:buFont typeface="Monotype Sorts"/>
              <a:buChar char=" "/>
            </a:pPr>
            <a:r>
              <a:rPr lang="en-US" altLang="zh-CN" sz="1800">
                <a:solidFill>
                  <a:srgbClr val="31209A"/>
                </a:solidFill>
                <a:latin typeface="黑体" panose="02010609060101010101" pitchFamily="49" charset="-122"/>
                <a:ea typeface="黑体" panose="02010609060101010101" pitchFamily="49" charset="-122"/>
              </a:rPr>
              <a:t>(1) </a:t>
            </a:r>
            <a:r>
              <a:rPr lang="zh-CN" altLang="en-US" sz="1800">
                <a:solidFill>
                  <a:srgbClr val="31209A"/>
                </a:solidFill>
                <a:latin typeface="黑体" panose="02010609060101010101" pitchFamily="49" charset="-122"/>
                <a:ea typeface="黑体" panose="02010609060101010101" pitchFamily="49" charset="-122"/>
              </a:rPr>
              <a:t>无需操作数　如：空操作／停机等</a:t>
            </a:r>
          </a:p>
          <a:p>
            <a:pPr marL="342900" indent="-342900">
              <a:lnSpc>
                <a:spcPct val="110000"/>
              </a:lnSpc>
              <a:spcBef>
                <a:spcPct val="0"/>
              </a:spcBef>
              <a:buFont typeface="Monotype Sorts"/>
              <a:buChar char=" "/>
            </a:pPr>
            <a:r>
              <a:rPr lang="en-US" altLang="zh-CN" sz="1800">
                <a:solidFill>
                  <a:srgbClr val="31209A"/>
                </a:solidFill>
                <a:latin typeface="黑体" panose="02010609060101010101" pitchFamily="49" charset="-122"/>
                <a:ea typeface="黑体" panose="02010609060101010101" pitchFamily="49" charset="-122"/>
              </a:rPr>
              <a:t>(2) </a:t>
            </a:r>
            <a:r>
              <a:rPr lang="zh-CN" altLang="en-US" sz="1800">
                <a:solidFill>
                  <a:srgbClr val="31209A"/>
                </a:solidFill>
                <a:latin typeface="黑体" panose="02010609060101010101" pitchFamily="49" charset="-122"/>
                <a:ea typeface="黑体" panose="02010609060101010101" pitchFamily="49" charset="-122"/>
              </a:rPr>
              <a:t>所需操作数为默认的　如：堆栈／累加器等</a:t>
            </a:r>
          </a:p>
          <a:p>
            <a:pPr marL="342900" indent="-342900">
              <a:lnSpc>
                <a:spcPct val="110000"/>
              </a:lnSpc>
              <a:spcBef>
                <a:spcPct val="0"/>
              </a:spcBef>
              <a:buFont typeface="Monotype Sorts"/>
              <a:buChar char=" "/>
            </a:pPr>
            <a:r>
              <a:rPr lang="zh-CN" altLang="en-US" sz="1800">
                <a:solidFill>
                  <a:srgbClr val="31209A"/>
                </a:solidFill>
                <a:latin typeface="黑体" panose="02010609060101010101" pitchFamily="49" charset="-122"/>
                <a:ea typeface="黑体" panose="02010609060101010101" pitchFamily="49" charset="-122"/>
              </a:rPr>
              <a:t>形式：</a:t>
            </a:r>
          </a:p>
          <a:p>
            <a:pPr marL="342900" indent="-342900">
              <a:lnSpc>
                <a:spcPct val="110000"/>
              </a:lnSpc>
              <a:spcBef>
                <a:spcPct val="0"/>
              </a:spcBef>
              <a:buFont typeface="Monotype Sorts"/>
              <a:buNone/>
            </a:pPr>
            <a:r>
              <a:rPr lang="zh-CN" altLang="en-US" sz="1800">
                <a:solidFill>
                  <a:srgbClr val="CC3300"/>
                </a:solidFill>
                <a:latin typeface="黑体" panose="02010609060101010101" pitchFamily="49" charset="-122"/>
                <a:ea typeface="黑体" panose="02010609060101010101" pitchFamily="49" charset="-122"/>
              </a:rPr>
              <a:t>一地址指令</a:t>
            </a:r>
          </a:p>
          <a:p>
            <a:pPr marL="342900" indent="-342900">
              <a:lnSpc>
                <a:spcPct val="110000"/>
              </a:lnSpc>
              <a:spcBef>
                <a:spcPct val="0"/>
              </a:spcBef>
              <a:buFont typeface="Monotype Sorts"/>
              <a:buChar char=" "/>
            </a:pPr>
            <a:r>
              <a:rPr lang="zh-CN" altLang="zh-CN" sz="1800">
                <a:solidFill>
                  <a:srgbClr val="31209A"/>
                </a:solidFill>
                <a:latin typeface="黑体" panose="02010609060101010101" pitchFamily="49" charset="-122"/>
                <a:ea typeface="黑体" panose="02010609060101010101" pitchFamily="49" charset="-122"/>
              </a:rPr>
              <a:t>其</a:t>
            </a:r>
            <a:r>
              <a:rPr lang="zh-CN" altLang="en-US" sz="1800">
                <a:solidFill>
                  <a:srgbClr val="31209A"/>
                </a:solidFill>
                <a:latin typeface="黑体" panose="02010609060101010101" pitchFamily="49" charset="-122"/>
                <a:ea typeface="黑体" panose="02010609060101010101" pitchFamily="49" charset="-122"/>
              </a:rPr>
              <a:t>地址既是操作数的地址，也是结果的地址</a:t>
            </a:r>
          </a:p>
          <a:p>
            <a:pPr marL="342900" indent="-342900">
              <a:lnSpc>
                <a:spcPct val="110000"/>
              </a:lnSpc>
              <a:spcBef>
                <a:spcPct val="0"/>
              </a:spcBef>
              <a:buFont typeface="Monotype Sorts"/>
              <a:buChar char=" "/>
            </a:pPr>
            <a:r>
              <a:rPr lang="en-US" altLang="zh-CN" sz="1800">
                <a:solidFill>
                  <a:srgbClr val="31209A"/>
                </a:solidFill>
                <a:latin typeface="黑体" panose="02010609060101010101" pitchFamily="49" charset="-122"/>
                <a:ea typeface="黑体" panose="02010609060101010101" pitchFamily="49" charset="-122"/>
              </a:rPr>
              <a:t>(1) </a:t>
            </a:r>
            <a:r>
              <a:rPr lang="zh-CN" altLang="en-US" sz="1800">
                <a:solidFill>
                  <a:srgbClr val="31209A"/>
                </a:solidFill>
                <a:latin typeface="黑体" panose="02010609060101010101" pitchFamily="49" charset="-122"/>
                <a:ea typeface="黑体" panose="02010609060101010101" pitchFamily="49" charset="-122"/>
              </a:rPr>
              <a:t>单目运算：如：取反／取负等</a:t>
            </a:r>
          </a:p>
          <a:p>
            <a:pPr marL="342900" indent="-342900">
              <a:lnSpc>
                <a:spcPct val="110000"/>
              </a:lnSpc>
              <a:spcBef>
                <a:spcPct val="0"/>
              </a:spcBef>
              <a:buFont typeface="Monotype Sorts"/>
              <a:buChar char=" "/>
            </a:pPr>
            <a:r>
              <a:rPr lang="en-US" altLang="zh-CN" sz="1800">
                <a:solidFill>
                  <a:srgbClr val="31209A"/>
                </a:solidFill>
                <a:latin typeface="黑体" panose="02010609060101010101" pitchFamily="49" charset="-122"/>
                <a:ea typeface="黑体" panose="02010609060101010101" pitchFamily="49" charset="-122"/>
              </a:rPr>
              <a:t>(2) </a:t>
            </a:r>
            <a:r>
              <a:rPr lang="zh-CN" altLang="en-US" sz="1800">
                <a:solidFill>
                  <a:srgbClr val="31209A"/>
                </a:solidFill>
                <a:latin typeface="黑体" panose="02010609060101010101" pitchFamily="49" charset="-122"/>
                <a:ea typeface="黑体" panose="02010609060101010101" pitchFamily="49" charset="-122"/>
              </a:rPr>
              <a:t>双目运算：另一操作数为默认的　如：累加器等</a:t>
            </a:r>
          </a:p>
          <a:p>
            <a:pPr marL="342900" indent="-342900">
              <a:lnSpc>
                <a:spcPct val="110000"/>
              </a:lnSpc>
              <a:spcBef>
                <a:spcPct val="0"/>
              </a:spcBef>
              <a:buFont typeface="Monotype Sorts"/>
              <a:buChar char=" "/>
            </a:pPr>
            <a:r>
              <a:rPr lang="zh-CN" altLang="en-US" sz="1800">
                <a:solidFill>
                  <a:srgbClr val="31209A"/>
                </a:solidFill>
                <a:latin typeface="黑体" panose="02010609060101010101" pitchFamily="49" charset="-122"/>
                <a:ea typeface="黑体" panose="02010609060101010101" pitchFamily="49" charset="-122"/>
              </a:rPr>
              <a:t>形式：</a:t>
            </a:r>
            <a:endParaRPr lang="zh-CN" altLang="en-US" sz="1800">
              <a:latin typeface="黑体" panose="02010609060101010101" pitchFamily="49" charset="-122"/>
              <a:ea typeface="黑体" panose="02010609060101010101" pitchFamily="49" charset="-122"/>
            </a:endParaRPr>
          </a:p>
        </p:txBody>
      </p:sp>
      <p:sp>
        <p:nvSpPr>
          <p:cNvPr id="9219" name="Rectangle 12">
            <a:extLst>
              <a:ext uri="{FF2B5EF4-FFF2-40B4-BE49-F238E27FC236}">
                <a16:creationId xmlns:a16="http://schemas.microsoft.com/office/drawing/2014/main" id="{80660C1F-095F-8E57-ACD1-7088936AA24E}"/>
              </a:ext>
            </a:extLst>
          </p:cNvPr>
          <p:cNvSpPr>
            <a:spLocks noChangeArrowheads="1"/>
          </p:cNvSpPr>
          <p:nvPr/>
        </p:nvSpPr>
        <p:spPr bwMode="auto">
          <a:xfrm>
            <a:off x="369888" y="3533775"/>
            <a:ext cx="86106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20000"/>
              </a:lnSpc>
              <a:buSzPct val="75000"/>
              <a:buFont typeface="Wingdings" panose="05000000000000000000" pitchFamily="2" charset="2"/>
              <a:buNone/>
            </a:pPr>
            <a:r>
              <a:rPr lang="zh-CN" altLang="en-US" sz="1800">
                <a:solidFill>
                  <a:srgbClr val="CC3300"/>
                </a:solidFill>
                <a:ea typeface="黑体" panose="02010609060101010101" pitchFamily="49" charset="-122"/>
              </a:rPr>
              <a:t>二地址指令（最常用）</a:t>
            </a:r>
          </a:p>
          <a:p>
            <a:pPr eaLnBrk="0" hangingPunct="0">
              <a:lnSpc>
                <a:spcPct val="120000"/>
              </a:lnSpc>
              <a:buSzPct val="75000"/>
              <a:buFont typeface="Monotype Sorts"/>
              <a:buChar char=" "/>
            </a:pPr>
            <a:r>
              <a:rPr lang="zh-CN" altLang="en-US" sz="1800">
                <a:solidFill>
                  <a:srgbClr val="31209A"/>
                </a:solidFill>
                <a:ea typeface="黑体" panose="02010609060101010101" pitchFamily="49" charset="-122"/>
              </a:rPr>
              <a:t>分别存放双目运算中两个操作数，并将其中一个地址作为结果的地址。 </a:t>
            </a:r>
          </a:p>
          <a:p>
            <a:pPr eaLnBrk="0" hangingPunct="0">
              <a:lnSpc>
                <a:spcPct val="120000"/>
              </a:lnSpc>
              <a:buSzPct val="75000"/>
              <a:buFont typeface="Monotype Sorts"/>
              <a:buChar char=" "/>
            </a:pPr>
            <a:r>
              <a:rPr lang="zh-CN" altLang="en-US" sz="1800">
                <a:solidFill>
                  <a:srgbClr val="31209A"/>
                </a:solidFill>
                <a:ea typeface="黑体" panose="02010609060101010101" pitchFamily="49" charset="-122"/>
              </a:rPr>
              <a:t>形式：</a:t>
            </a:r>
          </a:p>
          <a:p>
            <a:pPr eaLnBrk="0" hangingPunct="0">
              <a:lnSpc>
                <a:spcPct val="120000"/>
              </a:lnSpc>
              <a:buSzPct val="75000"/>
              <a:buFont typeface="Monotype Sorts"/>
              <a:buNone/>
            </a:pPr>
            <a:r>
              <a:rPr lang="zh-CN" altLang="en-US" sz="1800">
                <a:solidFill>
                  <a:srgbClr val="CC3300"/>
                </a:solidFill>
                <a:ea typeface="黑体" panose="02010609060101010101" pitchFamily="49" charset="-122"/>
              </a:rPr>
              <a:t>三地址指令（</a:t>
            </a:r>
            <a:r>
              <a:rPr lang="en-US" altLang="zh-CN" sz="1800">
                <a:solidFill>
                  <a:srgbClr val="CC3300"/>
                </a:solidFill>
                <a:ea typeface="黑体" panose="02010609060101010101" pitchFamily="49" charset="-122"/>
              </a:rPr>
              <a:t>RISC</a:t>
            </a:r>
            <a:r>
              <a:rPr lang="zh-CN" altLang="en-US" sz="1800">
                <a:solidFill>
                  <a:srgbClr val="CC3300"/>
                </a:solidFill>
                <a:ea typeface="黑体" panose="02010609060101010101" pitchFamily="49" charset="-122"/>
              </a:rPr>
              <a:t>风格）</a:t>
            </a:r>
          </a:p>
          <a:p>
            <a:pPr eaLnBrk="0" hangingPunct="0">
              <a:lnSpc>
                <a:spcPct val="120000"/>
              </a:lnSpc>
              <a:buSzPct val="75000"/>
              <a:buFont typeface="Monotype Sorts"/>
              <a:buChar char=" "/>
            </a:pPr>
            <a:r>
              <a:rPr lang="zh-CN" altLang="en-US" sz="1800">
                <a:solidFill>
                  <a:srgbClr val="31209A"/>
                </a:solidFill>
                <a:ea typeface="黑体" panose="02010609060101010101" pitchFamily="49" charset="-122"/>
              </a:rPr>
              <a:t>分别作为双目运算中两个源操作数的地址和一个结果的地址。</a:t>
            </a:r>
          </a:p>
          <a:p>
            <a:pPr eaLnBrk="0" hangingPunct="0">
              <a:lnSpc>
                <a:spcPct val="120000"/>
              </a:lnSpc>
              <a:buSzPct val="75000"/>
              <a:buFont typeface="Monotype Sorts"/>
              <a:buChar char=" "/>
            </a:pPr>
            <a:r>
              <a:rPr lang="zh-CN" altLang="en-US" sz="1800">
                <a:solidFill>
                  <a:srgbClr val="31209A"/>
                </a:solidFill>
                <a:ea typeface="黑体" panose="02010609060101010101" pitchFamily="49" charset="-122"/>
              </a:rPr>
              <a:t>形式：</a:t>
            </a:r>
          </a:p>
          <a:p>
            <a:pPr eaLnBrk="0" hangingPunct="0">
              <a:lnSpc>
                <a:spcPct val="120000"/>
              </a:lnSpc>
              <a:buSzPct val="75000"/>
              <a:buFont typeface="Monotype Sorts"/>
              <a:buNone/>
            </a:pPr>
            <a:r>
              <a:rPr lang="zh-CN" altLang="en-US" sz="1800">
                <a:solidFill>
                  <a:srgbClr val="CC3300"/>
                </a:solidFill>
                <a:ea typeface="黑体" panose="02010609060101010101" pitchFamily="49" charset="-122"/>
              </a:rPr>
              <a:t>多地址指令</a:t>
            </a:r>
          </a:p>
          <a:p>
            <a:pPr eaLnBrk="0" hangingPunct="0">
              <a:lnSpc>
                <a:spcPct val="120000"/>
              </a:lnSpc>
              <a:buSzPct val="75000"/>
              <a:buFont typeface="Monotype Sorts"/>
              <a:buChar char=" "/>
            </a:pPr>
            <a:r>
              <a:rPr lang="zh-CN" altLang="en-US" sz="1800">
                <a:solidFill>
                  <a:srgbClr val="31209A"/>
                </a:solidFill>
                <a:ea typeface="黑体" panose="02010609060101010101" pitchFamily="49" charset="-122"/>
              </a:rPr>
              <a:t>用于成批数据处理的指令，如</a:t>
            </a:r>
            <a:r>
              <a:rPr lang="en-US" altLang="zh-CN" sz="1800">
                <a:solidFill>
                  <a:srgbClr val="31209A"/>
                </a:solidFill>
                <a:ea typeface="黑体" panose="02010609060101010101" pitchFamily="49" charset="-122"/>
              </a:rPr>
              <a:t>:</a:t>
            </a:r>
            <a:r>
              <a:rPr lang="zh-CN" altLang="en-US" sz="1800">
                <a:solidFill>
                  <a:srgbClr val="31209A"/>
                </a:solidFill>
                <a:ea typeface="黑体" panose="02010609060101010101" pitchFamily="49" charset="-122"/>
              </a:rPr>
              <a:t>向量 </a:t>
            </a:r>
            <a:r>
              <a:rPr lang="en-US" altLang="zh-CN" sz="1800">
                <a:solidFill>
                  <a:srgbClr val="31209A"/>
                </a:solidFill>
                <a:ea typeface="黑体" panose="02010609060101010101" pitchFamily="49" charset="-122"/>
              </a:rPr>
              <a:t>/ </a:t>
            </a:r>
            <a:r>
              <a:rPr lang="zh-CN" altLang="en-US" sz="1800">
                <a:solidFill>
                  <a:srgbClr val="31209A"/>
                </a:solidFill>
                <a:ea typeface="黑体" panose="02010609060101010101" pitchFamily="49" charset="-122"/>
              </a:rPr>
              <a:t>矩阵等运算的</a:t>
            </a:r>
            <a:r>
              <a:rPr lang="en-US" altLang="zh-CN" sz="1800">
                <a:solidFill>
                  <a:srgbClr val="31209A"/>
                </a:solidFill>
                <a:ea typeface="黑体" panose="02010609060101010101" pitchFamily="49" charset="-122"/>
              </a:rPr>
              <a:t>SIMD</a:t>
            </a:r>
            <a:r>
              <a:rPr lang="zh-CN" altLang="en-US" sz="1800">
                <a:solidFill>
                  <a:srgbClr val="31209A"/>
                </a:solidFill>
                <a:ea typeface="黑体" panose="02010609060101010101" pitchFamily="49" charset="-122"/>
              </a:rPr>
              <a:t>指令。</a:t>
            </a:r>
            <a:endParaRPr lang="zh-CN" altLang="en-US" sz="1800">
              <a:solidFill>
                <a:schemeClr val="tx1"/>
              </a:solidFill>
              <a:ea typeface="黑体" panose="02010609060101010101" pitchFamily="49" charset="-122"/>
            </a:endParaRPr>
          </a:p>
        </p:txBody>
      </p:sp>
      <p:grpSp>
        <p:nvGrpSpPr>
          <p:cNvPr id="9220" name="组合 40">
            <a:extLst>
              <a:ext uri="{FF2B5EF4-FFF2-40B4-BE49-F238E27FC236}">
                <a16:creationId xmlns:a16="http://schemas.microsoft.com/office/drawing/2014/main" id="{DC4104C2-6D37-47BC-CB06-2332D64C3AE0}"/>
              </a:ext>
            </a:extLst>
          </p:cNvPr>
          <p:cNvGrpSpPr>
            <a:grpSpLocks/>
          </p:cNvGrpSpPr>
          <p:nvPr/>
        </p:nvGrpSpPr>
        <p:grpSpPr bwMode="auto">
          <a:xfrm>
            <a:off x="1393825" y="1646238"/>
            <a:ext cx="3024188" cy="3943350"/>
            <a:chOff x="1393825" y="1878013"/>
            <a:chExt cx="3024188" cy="3943350"/>
          </a:xfrm>
        </p:grpSpPr>
        <p:sp>
          <p:nvSpPr>
            <p:cNvPr id="9221" name="Rectangle 5">
              <a:extLst>
                <a:ext uri="{FF2B5EF4-FFF2-40B4-BE49-F238E27FC236}">
                  <a16:creationId xmlns:a16="http://schemas.microsoft.com/office/drawing/2014/main" id="{78DCB0C5-1B71-0E5A-3813-005B9193BEB5}"/>
                </a:ext>
              </a:extLst>
            </p:cNvPr>
            <p:cNvSpPr>
              <a:spLocks noChangeArrowheads="1"/>
            </p:cNvSpPr>
            <p:nvPr/>
          </p:nvSpPr>
          <p:spPr bwMode="auto">
            <a:xfrm flipV="1">
              <a:off x="1471613" y="1936971"/>
              <a:ext cx="1066800" cy="2358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9222" name="Text Box 6">
              <a:extLst>
                <a:ext uri="{FF2B5EF4-FFF2-40B4-BE49-F238E27FC236}">
                  <a16:creationId xmlns:a16="http://schemas.microsoft.com/office/drawing/2014/main" id="{16D4753F-F0F0-B770-B1F7-A2D652B50019}"/>
                </a:ext>
              </a:extLst>
            </p:cNvPr>
            <p:cNvSpPr txBox="1">
              <a:spLocks noChangeArrowheads="1"/>
            </p:cNvSpPr>
            <p:nvPr/>
          </p:nvSpPr>
          <p:spPr bwMode="auto">
            <a:xfrm>
              <a:off x="1700213" y="1878013"/>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OP</a:t>
              </a:r>
            </a:p>
          </p:txBody>
        </p:sp>
        <p:sp>
          <p:nvSpPr>
            <p:cNvPr id="9223" name="Line 8">
              <a:extLst>
                <a:ext uri="{FF2B5EF4-FFF2-40B4-BE49-F238E27FC236}">
                  <a16:creationId xmlns:a16="http://schemas.microsoft.com/office/drawing/2014/main" id="{7114B9F8-6129-7D59-1E6D-C72C49370B8D}"/>
                </a:ext>
              </a:extLst>
            </p:cNvPr>
            <p:cNvSpPr>
              <a:spLocks noChangeShapeType="1"/>
            </p:cNvSpPr>
            <p:nvPr/>
          </p:nvSpPr>
          <p:spPr bwMode="auto">
            <a:xfrm>
              <a:off x="2401743" y="3443288"/>
              <a:ext cx="0" cy="2613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4" name="Rectangle 9">
              <a:extLst>
                <a:ext uri="{FF2B5EF4-FFF2-40B4-BE49-F238E27FC236}">
                  <a16:creationId xmlns:a16="http://schemas.microsoft.com/office/drawing/2014/main" id="{1692047D-99C7-EB73-867B-11240567651F}"/>
                </a:ext>
              </a:extLst>
            </p:cNvPr>
            <p:cNvSpPr>
              <a:spLocks noChangeArrowheads="1"/>
            </p:cNvSpPr>
            <p:nvPr/>
          </p:nvSpPr>
          <p:spPr bwMode="auto">
            <a:xfrm flipV="1">
              <a:off x="1393825" y="3443288"/>
              <a:ext cx="1763857" cy="2613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9225" name="Text Box 10">
              <a:extLst>
                <a:ext uri="{FF2B5EF4-FFF2-40B4-BE49-F238E27FC236}">
                  <a16:creationId xmlns:a16="http://schemas.microsoft.com/office/drawing/2014/main" id="{8048F49C-B84A-1812-A969-666A6F41CDCF}"/>
                </a:ext>
              </a:extLst>
            </p:cNvPr>
            <p:cNvSpPr txBox="1">
              <a:spLocks noChangeArrowheads="1"/>
            </p:cNvSpPr>
            <p:nvPr/>
          </p:nvSpPr>
          <p:spPr bwMode="auto">
            <a:xfrm>
              <a:off x="1645805" y="3443288"/>
              <a:ext cx="755939"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OP</a:t>
              </a:r>
            </a:p>
          </p:txBody>
        </p:sp>
        <p:sp>
          <p:nvSpPr>
            <p:cNvPr id="9226" name="Text Box 11">
              <a:extLst>
                <a:ext uri="{FF2B5EF4-FFF2-40B4-BE49-F238E27FC236}">
                  <a16:creationId xmlns:a16="http://schemas.microsoft.com/office/drawing/2014/main" id="{8CAC928B-C48C-EB0A-38E3-BC4D6BF77862}"/>
                </a:ext>
              </a:extLst>
            </p:cNvPr>
            <p:cNvSpPr txBox="1">
              <a:spLocks noChangeArrowheads="1"/>
            </p:cNvSpPr>
            <p:nvPr/>
          </p:nvSpPr>
          <p:spPr bwMode="auto">
            <a:xfrm>
              <a:off x="2569730" y="3443288"/>
              <a:ext cx="67194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A1</a:t>
              </a:r>
            </a:p>
          </p:txBody>
        </p:sp>
        <p:sp>
          <p:nvSpPr>
            <p:cNvPr id="9227" name="Line 14">
              <a:extLst>
                <a:ext uri="{FF2B5EF4-FFF2-40B4-BE49-F238E27FC236}">
                  <a16:creationId xmlns:a16="http://schemas.microsoft.com/office/drawing/2014/main" id="{21141AA5-F7D0-C58A-630E-092133CA798D}"/>
                </a:ext>
              </a:extLst>
            </p:cNvPr>
            <p:cNvSpPr>
              <a:spLocks noChangeShapeType="1"/>
            </p:cNvSpPr>
            <p:nvPr/>
          </p:nvSpPr>
          <p:spPr bwMode="auto">
            <a:xfrm>
              <a:off x="2513013" y="5543771"/>
              <a:ext cx="0" cy="2358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8" name="Text Box 15">
              <a:extLst>
                <a:ext uri="{FF2B5EF4-FFF2-40B4-BE49-F238E27FC236}">
                  <a16:creationId xmlns:a16="http://schemas.microsoft.com/office/drawing/2014/main" id="{942C9A02-CC30-4F83-C3A8-349D762D2557}"/>
                </a:ext>
              </a:extLst>
            </p:cNvPr>
            <p:cNvSpPr txBox="1">
              <a:spLocks noChangeArrowheads="1"/>
            </p:cNvSpPr>
            <p:nvPr/>
          </p:nvSpPr>
          <p:spPr bwMode="auto">
            <a:xfrm>
              <a:off x="3198813" y="5484813"/>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A2</a:t>
              </a:r>
            </a:p>
          </p:txBody>
        </p:sp>
        <p:sp>
          <p:nvSpPr>
            <p:cNvPr id="9229" name="Text Box 16">
              <a:extLst>
                <a:ext uri="{FF2B5EF4-FFF2-40B4-BE49-F238E27FC236}">
                  <a16:creationId xmlns:a16="http://schemas.microsoft.com/office/drawing/2014/main" id="{4C1AD310-22AE-11F1-2F14-45BEB09ADA97}"/>
                </a:ext>
              </a:extLst>
            </p:cNvPr>
            <p:cNvSpPr txBox="1">
              <a:spLocks noChangeArrowheads="1"/>
            </p:cNvSpPr>
            <p:nvPr/>
          </p:nvSpPr>
          <p:spPr bwMode="auto">
            <a:xfrm>
              <a:off x="3808413" y="5484813"/>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A3</a:t>
              </a:r>
            </a:p>
          </p:txBody>
        </p:sp>
        <p:sp>
          <p:nvSpPr>
            <p:cNvPr id="9230" name="Rectangle 17">
              <a:extLst>
                <a:ext uri="{FF2B5EF4-FFF2-40B4-BE49-F238E27FC236}">
                  <a16:creationId xmlns:a16="http://schemas.microsoft.com/office/drawing/2014/main" id="{2D8D79A6-7C23-1F7D-D74E-FA79CE884C1E}"/>
                </a:ext>
              </a:extLst>
            </p:cNvPr>
            <p:cNvSpPr>
              <a:spLocks noChangeArrowheads="1"/>
            </p:cNvSpPr>
            <p:nvPr/>
          </p:nvSpPr>
          <p:spPr bwMode="auto">
            <a:xfrm flipV="1">
              <a:off x="1522413" y="5543771"/>
              <a:ext cx="2819400" cy="2358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9231" name="Text Box 18">
              <a:extLst>
                <a:ext uri="{FF2B5EF4-FFF2-40B4-BE49-F238E27FC236}">
                  <a16:creationId xmlns:a16="http://schemas.microsoft.com/office/drawing/2014/main" id="{34E67D1A-220B-55C9-A210-CFF5EA997E21}"/>
                </a:ext>
              </a:extLst>
            </p:cNvPr>
            <p:cNvSpPr txBox="1">
              <a:spLocks noChangeArrowheads="1"/>
            </p:cNvSpPr>
            <p:nvPr/>
          </p:nvSpPr>
          <p:spPr bwMode="auto">
            <a:xfrm>
              <a:off x="1751013" y="5484813"/>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OP</a:t>
              </a:r>
            </a:p>
          </p:txBody>
        </p:sp>
        <p:sp>
          <p:nvSpPr>
            <p:cNvPr id="9232" name="Text Box 19">
              <a:extLst>
                <a:ext uri="{FF2B5EF4-FFF2-40B4-BE49-F238E27FC236}">
                  <a16:creationId xmlns:a16="http://schemas.microsoft.com/office/drawing/2014/main" id="{E9986508-0B07-E384-46CA-557CA5215DCA}"/>
                </a:ext>
              </a:extLst>
            </p:cNvPr>
            <p:cNvSpPr txBox="1">
              <a:spLocks noChangeArrowheads="1"/>
            </p:cNvSpPr>
            <p:nvPr/>
          </p:nvSpPr>
          <p:spPr bwMode="auto">
            <a:xfrm>
              <a:off x="2589213" y="5484813"/>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A1</a:t>
              </a:r>
            </a:p>
          </p:txBody>
        </p:sp>
        <p:sp>
          <p:nvSpPr>
            <p:cNvPr id="9233" name="Line 20">
              <a:extLst>
                <a:ext uri="{FF2B5EF4-FFF2-40B4-BE49-F238E27FC236}">
                  <a16:creationId xmlns:a16="http://schemas.microsoft.com/office/drawing/2014/main" id="{2F23597D-B75B-B1ED-54E2-EE46673CFE20}"/>
                </a:ext>
              </a:extLst>
            </p:cNvPr>
            <p:cNvSpPr>
              <a:spLocks noChangeShapeType="1"/>
            </p:cNvSpPr>
            <p:nvPr/>
          </p:nvSpPr>
          <p:spPr bwMode="auto">
            <a:xfrm>
              <a:off x="3122613" y="5543771"/>
              <a:ext cx="0" cy="2358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4" name="Line 21">
              <a:extLst>
                <a:ext uri="{FF2B5EF4-FFF2-40B4-BE49-F238E27FC236}">
                  <a16:creationId xmlns:a16="http://schemas.microsoft.com/office/drawing/2014/main" id="{7E96744C-EA66-0F65-C5DF-F728F13C7895}"/>
                </a:ext>
              </a:extLst>
            </p:cNvPr>
            <p:cNvSpPr>
              <a:spLocks noChangeShapeType="1"/>
            </p:cNvSpPr>
            <p:nvPr/>
          </p:nvSpPr>
          <p:spPr bwMode="auto">
            <a:xfrm>
              <a:off x="3732213" y="5543771"/>
              <a:ext cx="0" cy="2358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5" name="Text Box 23">
              <a:extLst>
                <a:ext uri="{FF2B5EF4-FFF2-40B4-BE49-F238E27FC236}">
                  <a16:creationId xmlns:a16="http://schemas.microsoft.com/office/drawing/2014/main" id="{64715744-B0F0-B4FE-1022-EAFED8CA8F02}"/>
                </a:ext>
              </a:extLst>
            </p:cNvPr>
            <p:cNvSpPr txBox="1">
              <a:spLocks noChangeArrowheads="1"/>
            </p:cNvSpPr>
            <p:nvPr/>
          </p:nvSpPr>
          <p:spPr bwMode="auto">
            <a:xfrm>
              <a:off x="2619375" y="443865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A1</a:t>
              </a:r>
            </a:p>
          </p:txBody>
        </p:sp>
        <p:sp>
          <p:nvSpPr>
            <p:cNvPr id="9236" name="Rectangle 24">
              <a:extLst>
                <a:ext uri="{FF2B5EF4-FFF2-40B4-BE49-F238E27FC236}">
                  <a16:creationId xmlns:a16="http://schemas.microsoft.com/office/drawing/2014/main" id="{79FEC401-7877-728A-F6FA-A717A8E8F70C}"/>
                </a:ext>
              </a:extLst>
            </p:cNvPr>
            <p:cNvSpPr>
              <a:spLocks noChangeArrowheads="1"/>
            </p:cNvSpPr>
            <p:nvPr/>
          </p:nvSpPr>
          <p:spPr bwMode="auto">
            <a:xfrm flipV="1">
              <a:off x="1476375" y="4501508"/>
              <a:ext cx="2209800" cy="2514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9237" name="Text Box 25">
              <a:extLst>
                <a:ext uri="{FF2B5EF4-FFF2-40B4-BE49-F238E27FC236}">
                  <a16:creationId xmlns:a16="http://schemas.microsoft.com/office/drawing/2014/main" id="{1511A288-5E3B-7718-5E2C-5936938E46EA}"/>
                </a:ext>
              </a:extLst>
            </p:cNvPr>
            <p:cNvSpPr txBox="1">
              <a:spLocks noChangeArrowheads="1"/>
            </p:cNvSpPr>
            <p:nvPr/>
          </p:nvSpPr>
          <p:spPr bwMode="auto">
            <a:xfrm>
              <a:off x="1704975" y="443865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OP</a:t>
              </a:r>
            </a:p>
          </p:txBody>
        </p:sp>
        <p:sp>
          <p:nvSpPr>
            <p:cNvPr id="9238" name="Line 26">
              <a:extLst>
                <a:ext uri="{FF2B5EF4-FFF2-40B4-BE49-F238E27FC236}">
                  <a16:creationId xmlns:a16="http://schemas.microsoft.com/office/drawing/2014/main" id="{341081D3-FAD2-062A-6BB1-EFC4A1EC382D}"/>
                </a:ext>
              </a:extLst>
            </p:cNvPr>
            <p:cNvSpPr>
              <a:spLocks noChangeShapeType="1"/>
            </p:cNvSpPr>
            <p:nvPr/>
          </p:nvSpPr>
          <p:spPr bwMode="auto">
            <a:xfrm>
              <a:off x="2543175" y="4501508"/>
              <a:ext cx="0" cy="251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9" name="Line 27">
              <a:extLst>
                <a:ext uri="{FF2B5EF4-FFF2-40B4-BE49-F238E27FC236}">
                  <a16:creationId xmlns:a16="http://schemas.microsoft.com/office/drawing/2014/main" id="{7EDB1E22-FDBC-B01F-2B79-E7132DF2D594}"/>
                </a:ext>
              </a:extLst>
            </p:cNvPr>
            <p:cNvSpPr>
              <a:spLocks noChangeShapeType="1"/>
            </p:cNvSpPr>
            <p:nvPr/>
          </p:nvSpPr>
          <p:spPr bwMode="auto">
            <a:xfrm>
              <a:off x="3152775" y="4501508"/>
              <a:ext cx="0" cy="2514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0" name="Text Box 28">
              <a:extLst>
                <a:ext uri="{FF2B5EF4-FFF2-40B4-BE49-F238E27FC236}">
                  <a16:creationId xmlns:a16="http://schemas.microsoft.com/office/drawing/2014/main" id="{B8F61685-6ADA-5F9F-4801-D3368FC3A933}"/>
                </a:ext>
              </a:extLst>
            </p:cNvPr>
            <p:cNvSpPr txBox="1">
              <a:spLocks noChangeArrowheads="1"/>
            </p:cNvSpPr>
            <p:nvPr/>
          </p:nvSpPr>
          <p:spPr bwMode="auto">
            <a:xfrm>
              <a:off x="3152775" y="443865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a:solidFill>
                    <a:schemeClr val="tx1"/>
                  </a:solidFill>
                </a:rPr>
                <a:t>A2</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596CB061-437C-B558-624F-CD82E7685567}"/>
              </a:ext>
            </a:extLst>
          </p:cNvPr>
          <p:cNvSpPr>
            <a:spLocks noGrp="1" noChangeArrowheads="1"/>
          </p:cNvSpPr>
          <p:nvPr>
            <p:ph type="title"/>
          </p:nvPr>
        </p:nvSpPr>
        <p:spPr>
          <a:xfrm>
            <a:off x="711200" y="114300"/>
            <a:ext cx="6610350" cy="368300"/>
          </a:xfrm>
        </p:spPr>
        <p:txBody>
          <a:bodyPr/>
          <a:lstStyle/>
          <a:p>
            <a:r>
              <a:rPr lang="zh-CN" altLang="en-US">
                <a:ea typeface="宋体" panose="02010600030101010101" pitchFamily="2" charset="-122"/>
              </a:rPr>
              <a:t>从指令执行周期看指令设计涉及的问题</a:t>
            </a:r>
            <a:endParaRPr lang="en-US" altLang="zh-CN">
              <a:ea typeface="宋体" panose="02010600030101010101" pitchFamily="2" charset="-122"/>
            </a:endParaRPr>
          </a:p>
        </p:txBody>
      </p:sp>
      <p:sp>
        <p:nvSpPr>
          <p:cNvPr id="10242" name="Rectangle 3">
            <a:extLst>
              <a:ext uri="{FF2B5EF4-FFF2-40B4-BE49-F238E27FC236}">
                <a16:creationId xmlns:a16="http://schemas.microsoft.com/office/drawing/2014/main" id="{22A9B68B-5479-4006-F791-802639643D1E}"/>
              </a:ext>
            </a:extLst>
          </p:cNvPr>
          <p:cNvSpPr>
            <a:spLocks noChangeArrowheads="1"/>
          </p:cNvSpPr>
          <p:nvPr/>
        </p:nvSpPr>
        <p:spPr bwMode="auto">
          <a:xfrm>
            <a:off x="933450" y="1009650"/>
            <a:ext cx="1574800" cy="646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ctr" eaLnBrk="0" hangingPunct="0">
              <a:lnSpc>
                <a:spcPct val="86000"/>
              </a:lnSpc>
              <a:spcBef>
                <a:spcPct val="40000"/>
              </a:spcBef>
            </a:pPr>
            <a:r>
              <a:rPr lang="en-US" altLang="zh-CN" sz="1800" i="1">
                <a:solidFill>
                  <a:schemeClr val="tx1"/>
                </a:solidFill>
              </a:rPr>
              <a:t>Instruction</a:t>
            </a:r>
          </a:p>
          <a:p>
            <a:pPr algn="ctr" eaLnBrk="0" hangingPunct="0">
              <a:lnSpc>
                <a:spcPct val="86000"/>
              </a:lnSpc>
              <a:spcBef>
                <a:spcPct val="40000"/>
              </a:spcBef>
            </a:pPr>
            <a:r>
              <a:rPr lang="en-US" altLang="zh-CN" sz="1800" i="1">
                <a:solidFill>
                  <a:schemeClr val="tx1"/>
                </a:solidFill>
              </a:rPr>
              <a:t>Fetch</a:t>
            </a:r>
          </a:p>
        </p:txBody>
      </p:sp>
      <p:sp>
        <p:nvSpPr>
          <p:cNvPr id="10243" name="Rectangle 4">
            <a:extLst>
              <a:ext uri="{FF2B5EF4-FFF2-40B4-BE49-F238E27FC236}">
                <a16:creationId xmlns:a16="http://schemas.microsoft.com/office/drawing/2014/main" id="{A60623BF-6CFD-9A0B-4AAB-690FC7065C91}"/>
              </a:ext>
            </a:extLst>
          </p:cNvPr>
          <p:cNvSpPr>
            <a:spLocks noChangeArrowheads="1"/>
          </p:cNvSpPr>
          <p:nvPr/>
        </p:nvSpPr>
        <p:spPr bwMode="auto">
          <a:xfrm>
            <a:off x="933450" y="2000250"/>
            <a:ext cx="1574800" cy="646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ctr" eaLnBrk="0" hangingPunct="0">
              <a:lnSpc>
                <a:spcPct val="86000"/>
              </a:lnSpc>
              <a:spcBef>
                <a:spcPct val="40000"/>
              </a:spcBef>
            </a:pPr>
            <a:r>
              <a:rPr lang="en-US" altLang="zh-CN" sz="1800" i="1">
                <a:solidFill>
                  <a:schemeClr val="tx1"/>
                </a:solidFill>
              </a:rPr>
              <a:t>Instruction</a:t>
            </a:r>
          </a:p>
          <a:p>
            <a:pPr algn="ctr" eaLnBrk="0" hangingPunct="0">
              <a:lnSpc>
                <a:spcPct val="86000"/>
              </a:lnSpc>
              <a:spcBef>
                <a:spcPct val="40000"/>
              </a:spcBef>
            </a:pPr>
            <a:r>
              <a:rPr lang="en-US" altLang="zh-CN" sz="1800" i="1">
                <a:solidFill>
                  <a:schemeClr val="tx1"/>
                </a:solidFill>
              </a:rPr>
              <a:t>Decode</a:t>
            </a:r>
          </a:p>
        </p:txBody>
      </p:sp>
      <p:sp>
        <p:nvSpPr>
          <p:cNvPr id="10244" name="Rectangle 5">
            <a:extLst>
              <a:ext uri="{FF2B5EF4-FFF2-40B4-BE49-F238E27FC236}">
                <a16:creationId xmlns:a16="http://schemas.microsoft.com/office/drawing/2014/main" id="{0ED617C8-68C3-7964-FB31-BF32794F48DC}"/>
              </a:ext>
            </a:extLst>
          </p:cNvPr>
          <p:cNvSpPr>
            <a:spLocks noChangeArrowheads="1"/>
          </p:cNvSpPr>
          <p:nvPr/>
        </p:nvSpPr>
        <p:spPr bwMode="auto">
          <a:xfrm>
            <a:off x="933450" y="2990850"/>
            <a:ext cx="1574800" cy="646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ctr" eaLnBrk="0" hangingPunct="0">
              <a:lnSpc>
                <a:spcPct val="86000"/>
              </a:lnSpc>
              <a:spcBef>
                <a:spcPct val="40000"/>
              </a:spcBef>
            </a:pPr>
            <a:r>
              <a:rPr lang="en-US" altLang="zh-CN" sz="1800" i="1">
                <a:solidFill>
                  <a:schemeClr val="tx1"/>
                </a:solidFill>
              </a:rPr>
              <a:t>Operand</a:t>
            </a:r>
          </a:p>
          <a:p>
            <a:pPr algn="ctr" eaLnBrk="0" hangingPunct="0">
              <a:lnSpc>
                <a:spcPct val="86000"/>
              </a:lnSpc>
              <a:spcBef>
                <a:spcPct val="40000"/>
              </a:spcBef>
            </a:pPr>
            <a:r>
              <a:rPr lang="en-US" altLang="zh-CN" sz="1800" i="1">
                <a:solidFill>
                  <a:schemeClr val="tx1"/>
                </a:solidFill>
              </a:rPr>
              <a:t>Fetch</a:t>
            </a:r>
          </a:p>
        </p:txBody>
      </p:sp>
      <p:sp>
        <p:nvSpPr>
          <p:cNvPr id="10245" name="Rectangle 6">
            <a:extLst>
              <a:ext uri="{FF2B5EF4-FFF2-40B4-BE49-F238E27FC236}">
                <a16:creationId xmlns:a16="http://schemas.microsoft.com/office/drawing/2014/main" id="{D098468C-C52E-8B58-AF59-91C2920E762A}"/>
              </a:ext>
            </a:extLst>
          </p:cNvPr>
          <p:cNvSpPr>
            <a:spLocks noChangeArrowheads="1"/>
          </p:cNvSpPr>
          <p:nvPr/>
        </p:nvSpPr>
        <p:spPr bwMode="auto">
          <a:xfrm>
            <a:off x="933450" y="3981450"/>
            <a:ext cx="1574800" cy="304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ctr" eaLnBrk="0" hangingPunct="0">
              <a:lnSpc>
                <a:spcPct val="88000"/>
              </a:lnSpc>
              <a:spcBef>
                <a:spcPct val="43000"/>
              </a:spcBef>
            </a:pPr>
            <a:r>
              <a:rPr lang="en-US" altLang="zh-CN" sz="1800" i="1">
                <a:solidFill>
                  <a:schemeClr val="tx1"/>
                </a:solidFill>
              </a:rPr>
              <a:t>Execute</a:t>
            </a:r>
          </a:p>
        </p:txBody>
      </p:sp>
      <p:sp>
        <p:nvSpPr>
          <p:cNvPr id="10246" name="Rectangle 7">
            <a:extLst>
              <a:ext uri="{FF2B5EF4-FFF2-40B4-BE49-F238E27FC236}">
                <a16:creationId xmlns:a16="http://schemas.microsoft.com/office/drawing/2014/main" id="{554C5B8A-2556-5E7C-1EFA-2E89295CF3EF}"/>
              </a:ext>
            </a:extLst>
          </p:cNvPr>
          <p:cNvSpPr>
            <a:spLocks noChangeArrowheads="1"/>
          </p:cNvSpPr>
          <p:nvPr/>
        </p:nvSpPr>
        <p:spPr bwMode="auto">
          <a:xfrm>
            <a:off x="933450" y="4667250"/>
            <a:ext cx="1574800" cy="646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ctr" eaLnBrk="0" hangingPunct="0">
              <a:lnSpc>
                <a:spcPct val="86000"/>
              </a:lnSpc>
              <a:spcBef>
                <a:spcPct val="40000"/>
              </a:spcBef>
            </a:pPr>
            <a:r>
              <a:rPr lang="en-US" altLang="zh-CN" sz="1800" i="1">
                <a:solidFill>
                  <a:schemeClr val="tx1"/>
                </a:solidFill>
              </a:rPr>
              <a:t>Result</a:t>
            </a:r>
          </a:p>
          <a:p>
            <a:pPr algn="ctr" eaLnBrk="0" hangingPunct="0">
              <a:lnSpc>
                <a:spcPct val="86000"/>
              </a:lnSpc>
              <a:spcBef>
                <a:spcPct val="40000"/>
              </a:spcBef>
            </a:pPr>
            <a:r>
              <a:rPr lang="en-US" altLang="zh-CN" sz="1800" i="1">
                <a:solidFill>
                  <a:schemeClr val="tx1"/>
                </a:solidFill>
              </a:rPr>
              <a:t>Store</a:t>
            </a:r>
          </a:p>
        </p:txBody>
      </p:sp>
      <p:sp>
        <p:nvSpPr>
          <p:cNvPr id="10247" name="Rectangle 8">
            <a:extLst>
              <a:ext uri="{FF2B5EF4-FFF2-40B4-BE49-F238E27FC236}">
                <a16:creationId xmlns:a16="http://schemas.microsoft.com/office/drawing/2014/main" id="{370AF699-24F9-B917-B226-F5A870A6D525}"/>
              </a:ext>
            </a:extLst>
          </p:cNvPr>
          <p:cNvSpPr>
            <a:spLocks noChangeArrowheads="1"/>
          </p:cNvSpPr>
          <p:nvPr/>
        </p:nvSpPr>
        <p:spPr bwMode="auto">
          <a:xfrm>
            <a:off x="933450" y="5657850"/>
            <a:ext cx="1574800" cy="646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ctr" eaLnBrk="0" hangingPunct="0">
              <a:lnSpc>
                <a:spcPct val="86000"/>
              </a:lnSpc>
              <a:spcBef>
                <a:spcPct val="40000"/>
              </a:spcBef>
            </a:pPr>
            <a:r>
              <a:rPr lang="en-US" altLang="zh-CN" sz="1800" i="1">
                <a:solidFill>
                  <a:schemeClr val="tx1"/>
                </a:solidFill>
              </a:rPr>
              <a:t>Next</a:t>
            </a:r>
          </a:p>
          <a:p>
            <a:pPr algn="ctr" eaLnBrk="0" hangingPunct="0">
              <a:lnSpc>
                <a:spcPct val="86000"/>
              </a:lnSpc>
              <a:spcBef>
                <a:spcPct val="40000"/>
              </a:spcBef>
            </a:pPr>
            <a:r>
              <a:rPr lang="en-US" altLang="zh-CN" sz="1800" i="1">
                <a:solidFill>
                  <a:schemeClr val="tx1"/>
                </a:solidFill>
              </a:rPr>
              <a:t>Instruction</a:t>
            </a:r>
          </a:p>
        </p:txBody>
      </p:sp>
      <p:sp>
        <p:nvSpPr>
          <p:cNvPr id="10248" name="Line 9">
            <a:extLst>
              <a:ext uri="{FF2B5EF4-FFF2-40B4-BE49-F238E27FC236}">
                <a16:creationId xmlns:a16="http://schemas.microsoft.com/office/drawing/2014/main" id="{8E27FB4A-CCFD-B835-F490-9AF08FB059E0}"/>
              </a:ext>
            </a:extLst>
          </p:cNvPr>
          <p:cNvSpPr>
            <a:spLocks noChangeShapeType="1"/>
          </p:cNvSpPr>
          <p:nvPr/>
        </p:nvSpPr>
        <p:spPr bwMode="auto">
          <a:xfrm>
            <a:off x="1676400" y="1689100"/>
            <a:ext cx="0" cy="279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9" name="Line 10">
            <a:extLst>
              <a:ext uri="{FF2B5EF4-FFF2-40B4-BE49-F238E27FC236}">
                <a16:creationId xmlns:a16="http://schemas.microsoft.com/office/drawing/2014/main" id="{E87A6922-86FE-E6BD-83F6-CD32BDC9DD96}"/>
              </a:ext>
            </a:extLst>
          </p:cNvPr>
          <p:cNvSpPr>
            <a:spLocks noChangeShapeType="1"/>
          </p:cNvSpPr>
          <p:nvPr/>
        </p:nvSpPr>
        <p:spPr bwMode="auto">
          <a:xfrm>
            <a:off x="1676400" y="3670300"/>
            <a:ext cx="0" cy="279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0" name="Line 11">
            <a:extLst>
              <a:ext uri="{FF2B5EF4-FFF2-40B4-BE49-F238E27FC236}">
                <a16:creationId xmlns:a16="http://schemas.microsoft.com/office/drawing/2014/main" id="{4AED5AA3-3E67-F070-8C33-A2064D6DE1E0}"/>
              </a:ext>
            </a:extLst>
          </p:cNvPr>
          <p:cNvSpPr>
            <a:spLocks noChangeShapeType="1"/>
          </p:cNvSpPr>
          <p:nvPr/>
        </p:nvSpPr>
        <p:spPr bwMode="auto">
          <a:xfrm>
            <a:off x="1676400" y="2679700"/>
            <a:ext cx="0" cy="279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1" name="Line 12">
            <a:extLst>
              <a:ext uri="{FF2B5EF4-FFF2-40B4-BE49-F238E27FC236}">
                <a16:creationId xmlns:a16="http://schemas.microsoft.com/office/drawing/2014/main" id="{DEDA9A09-0269-B612-757E-EF0A173A1960}"/>
              </a:ext>
            </a:extLst>
          </p:cNvPr>
          <p:cNvSpPr>
            <a:spLocks noChangeShapeType="1"/>
          </p:cNvSpPr>
          <p:nvPr/>
        </p:nvSpPr>
        <p:spPr bwMode="auto">
          <a:xfrm>
            <a:off x="1676400" y="5346700"/>
            <a:ext cx="0" cy="279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2" name="Line 13">
            <a:extLst>
              <a:ext uri="{FF2B5EF4-FFF2-40B4-BE49-F238E27FC236}">
                <a16:creationId xmlns:a16="http://schemas.microsoft.com/office/drawing/2014/main" id="{8F65B878-D438-F1CB-65B2-FBE56C5ADF55}"/>
              </a:ext>
            </a:extLst>
          </p:cNvPr>
          <p:cNvSpPr>
            <a:spLocks noChangeShapeType="1"/>
          </p:cNvSpPr>
          <p:nvPr/>
        </p:nvSpPr>
        <p:spPr bwMode="auto">
          <a:xfrm>
            <a:off x="1676400" y="4279900"/>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3" name="Line 14">
            <a:extLst>
              <a:ext uri="{FF2B5EF4-FFF2-40B4-BE49-F238E27FC236}">
                <a16:creationId xmlns:a16="http://schemas.microsoft.com/office/drawing/2014/main" id="{F2F0EB3C-6C41-6C76-8224-E5D98A1C6D3A}"/>
              </a:ext>
            </a:extLst>
          </p:cNvPr>
          <p:cNvSpPr>
            <a:spLocks noChangeShapeType="1"/>
          </p:cNvSpPr>
          <p:nvPr/>
        </p:nvSpPr>
        <p:spPr bwMode="auto">
          <a:xfrm>
            <a:off x="1676400" y="63373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 name="Line 15">
            <a:extLst>
              <a:ext uri="{FF2B5EF4-FFF2-40B4-BE49-F238E27FC236}">
                <a16:creationId xmlns:a16="http://schemas.microsoft.com/office/drawing/2014/main" id="{8D28801E-4177-235A-E8A5-78D499BE3B74}"/>
              </a:ext>
            </a:extLst>
          </p:cNvPr>
          <p:cNvSpPr>
            <a:spLocks noChangeShapeType="1"/>
          </p:cNvSpPr>
          <p:nvPr/>
        </p:nvSpPr>
        <p:spPr bwMode="auto">
          <a:xfrm flipH="1">
            <a:off x="596900" y="6477000"/>
            <a:ext cx="1092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 name="Line 16">
            <a:extLst>
              <a:ext uri="{FF2B5EF4-FFF2-40B4-BE49-F238E27FC236}">
                <a16:creationId xmlns:a16="http://schemas.microsoft.com/office/drawing/2014/main" id="{1C8036F2-8B11-101B-35EA-58F46185D08A}"/>
              </a:ext>
            </a:extLst>
          </p:cNvPr>
          <p:cNvSpPr>
            <a:spLocks noChangeShapeType="1"/>
          </p:cNvSpPr>
          <p:nvPr/>
        </p:nvSpPr>
        <p:spPr bwMode="auto">
          <a:xfrm flipV="1">
            <a:off x="609600" y="673100"/>
            <a:ext cx="0" cy="5816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 name="Line 17">
            <a:extLst>
              <a:ext uri="{FF2B5EF4-FFF2-40B4-BE49-F238E27FC236}">
                <a16:creationId xmlns:a16="http://schemas.microsoft.com/office/drawing/2014/main" id="{D5F27D11-1F8E-30BF-ED2F-51CB52B28007}"/>
              </a:ext>
            </a:extLst>
          </p:cNvPr>
          <p:cNvSpPr>
            <a:spLocks noChangeShapeType="1"/>
          </p:cNvSpPr>
          <p:nvPr/>
        </p:nvSpPr>
        <p:spPr bwMode="auto">
          <a:xfrm>
            <a:off x="622300" y="685800"/>
            <a:ext cx="1041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 name="Line 18">
            <a:extLst>
              <a:ext uri="{FF2B5EF4-FFF2-40B4-BE49-F238E27FC236}">
                <a16:creationId xmlns:a16="http://schemas.microsoft.com/office/drawing/2014/main" id="{BC584C7F-1473-00A3-31C1-94D823E54A9E}"/>
              </a:ext>
            </a:extLst>
          </p:cNvPr>
          <p:cNvSpPr>
            <a:spLocks noChangeShapeType="1"/>
          </p:cNvSpPr>
          <p:nvPr/>
        </p:nvSpPr>
        <p:spPr bwMode="auto">
          <a:xfrm>
            <a:off x="1676400" y="698500"/>
            <a:ext cx="0" cy="279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0227" name="Rectangle 19">
            <a:extLst>
              <a:ext uri="{FF2B5EF4-FFF2-40B4-BE49-F238E27FC236}">
                <a16:creationId xmlns:a16="http://schemas.microsoft.com/office/drawing/2014/main" id="{9328DED9-09D2-2E82-C627-03B76C98402F}"/>
              </a:ext>
            </a:extLst>
          </p:cNvPr>
          <p:cNvSpPr>
            <a:spLocks noChangeArrowheads="1"/>
          </p:cNvSpPr>
          <p:nvPr/>
        </p:nvSpPr>
        <p:spPr bwMode="auto">
          <a:xfrm>
            <a:off x="2971800" y="1003300"/>
            <a:ext cx="55499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just" eaLnBrk="0" hangingPunct="0">
              <a:lnSpc>
                <a:spcPct val="97000"/>
              </a:lnSpc>
              <a:spcBef>
                <a:spcPct val="49000"/>
              </a:spcBef>
            </a:pPr>
            <a:r>
              <a:rPr lang="zh-CN" altLang="en-US" sz="2000">
                <a:solidFill>
                  <a:schemeClr val="tx1"/>
                </a:solidFill>
                <a:latin typeface="微软雅黑" panose="020B0503020204020204" pitchFamily="34" charset="-122"/>
                <a:ea typeface="微软雅黑" panose="020B0503020204020204" pitchFamily="34" charset="-122"/>
              </a:rPr>
              <a:t>从存储器取指令</a:t>
            </a:r>
          </a:p>
        </p:txBody>
      </p:sp>
      <p:sp>
        <p:nvSpPr>
          <p:cNvPr id="350228" name="Rectangle 20">
            <a:extLst>
              <a:ext uri="{FF2B5EF4-FFF2-40B4-BE49-F238E27FC236}">
                <a16:creationId xmlns:a16="http://schemas.microsoft.com/office/drawing/2014/main" id="{62B04EF8-B40A-86AF-EE3F-E934F197CAC1}"/>
              </a:ext>
            </a:extLst>
          </p:cNvPr>
          <p:cNvSpPr>
            <a:spLocks noChangeArrowheads="1"/>
          </p:cNvSpPr>
          <p:nvPr/>
        </p:nvSpPr>
        <p:spPr bwMode="auto">
          <a:xfrm>
            <a:off x="2971800" y="1993900"/>
            <a:ext cx="52387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just" eaLnBrk="0" hangingPunct="0">
              <a:lnSpc>
                <a:spcPct val="97000"/>
              </a:lnSpc>
              <a:spcBef>
                <a:spcPct val="49000"/>
              </a:spcBef>
            </a:pPr>
            <a:r>
              <a:rPr lang="zh-CN" altLang="en-US" sz="2000">
                <a:solidFill>
                  <a:schemeClr val="tx1"/>
                </a:solidFill>
                <a:latin typeface="微软雅黑" panose="020B0503020204020204" pitchFamily="34" charset="-122"/>
                <a:ea typeface="微软雅黑" panose="020B0503020204020204" pitchFamily="34" charset="-122"/>
              </a:rPr>
              <a:t>对指令译码，以确定将要做什么操作 </a:t>
            </a:r>
          </a:p>
        </p:txBody>
      </p:sp>
      <p:sp>
        <p:nvSpPr>
          <p:cNvPr id="350229" name="Rectangle 21">
            <a:extLst>
              <a:ext uri="{FF2B5EF4-FFF2-40B4-BE49-F238E27FC236}">
                <a16:creationId xmlns:a16="http://schemas.microsoft.com/office/drawing/2014/main" id="{DDBB7A37-1B88-8D2A-AB13-25B8D75F9878}"/>
              </a:ext>
            </a:extLst>
          </p:cNvPr>
          <p:cNvSpPr>
            <a:spLocks noChangeArrowheads="1"/>
          </p:cNvSpPr>
          <p:nvPr/>
        </p:nvSpPr>
        <p:spPr bwMode="auto">
          <a:xfrm>
            <a:off x="2971800" y="2984500"/>
            <a:ext cx="53213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just" eaLnBrk="0" hangingPunct="0">
              <a:lnSpc>
                <a:spcPct val="97000"/>
              </a:lnSpc>
              <a:spcBef>
                <a:spcPct val="49000"/>
              </a:spcBef>
            </a:pPr>
            <a:r>
              <a:rPr lang="zh-CN" altLang="en-US" sz="2000">
                <a:solidFill>
                  <a:schemeClr val="tx1"/>
                </a:solidFill>
                <a:latin typeface="微软雅黑" panose="020B0503020204020204" pitchFamily="34" charset="-122"/>
                <a:ea typeface="微软雅黑" panose="020B0503020204020204" pitchFamily="34" charset="-122"/>
              </a:rPr>
              <a:t>计算操作数地址并取操作数</a:t>
            </a:r>
          </a:p>
        </p:txBody>
      </p:sp>
      <p:sp>
        <p:nvSpPr>
          <p:cNvPr id="350230" name="Rectangle 22">
            <a:extLst>
              <a:ext uri="{FF2B5EF4-FFF2-40B4-BE49-F238E27FC236}">
                <a16:creationId xmlns:a16="http://schemas.microsoft.com/office/drawing/2014/main" id="{7CC18779-CA5C-6176-B3CD-A8428BB554D0}"/>
              </a:ext>
            </a:extLst>
          </p:cNvPr>
          <p:cNvSpPr>
            <a:spLocks noChangeArrowheads="1"/>
          </p:cNvSpPr>
          <p:nvPr/>
        </p:nvSpPr>
        <p:spPr bwMode="auto">
          <a:xfrm>
            <a:off x="2971800" y="3898900"/>
            <a:ext cx="53213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just" eaLnBrk="0" hangingPunct="0">
              <a:lnSpc>
                <a:spcPct val="97000"/>
              </a:lnSpc>
              <a:spcBef>
                <a:spcPct val="49000"/>
              </a:spcBef>
            </a:pPr>
            <a:r>
              <a:rPr lang="zh-CN" altLang="en-US" sz="2000">
                <a:solidFill>
                  <a:schemeClr val="tx1"/>
                </a:solidFill>
                <a:latin typeface="微软雅黑" panose="020B0503020204020204" pitchFamily="34" charset="-122"/>
                <a:ea typeface="微软雅黑" panose="020B0503020204020204" pitchFamily="34" charset="-122"/>
              </a:rPr>
              <a:t>进行相应计算，并得到标志位</a:t>
            </a:r>
          </a:p>
        </p:txBody>
      </p:sp>
      <p:sp>
        <p:nvSpPr>
          <p:cNvPr id="350231" name="Rectangle 23">
            <a:extLst>
              <a:ext uri="{FF2B5EF4-FFF2-40B4-BE49-F238E27FC236}">
                <a16:creationId xmlns:a16="http://schemas.microsoft.com/office/drawing/2014/main" id="{2205697B-1262-4F66-DA61-22FB804C092B}"/>
              </a:ext>
            </a:extLst>
          </p:cNvPr>
          <p:cNvSpPr>
            <a:spLocks noChangeArrowheads="1"/>
          </p:cNvSpPr>
          <p:nvPr/>
        </p:nvSpPr>
        <p:spPr bwMode="auto">
          <a:xfrm>
            <a:off x="2971800" y="4660900"/>
            <a:ext cx="52451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just" eaLnBrk="0" hangingPunct="0">
              <a:lnSpc>
                <a:spcPct val="97000"/>
              </a:lnSpc>
              <a:spcBef>
                <a:spcPct val="49000"/>
              </a:spcBef>
            </a:pPr>
            <a:r>
              <a:rPr lang="zh-CN" altLang="en-US" sz="2000">
                <a:solidFill>
                  <a:schemeClr val="tx1"/>
                </a:solidFill>
                <a:latin typeface="微软雅黑" panose="020B0503020204020204" pitchFamily="34" charset="-122"/>
                <a:ea typeface="微软雅黑" panose="020B0503020204020204" pitchFamily="34" charset="-122"/>
              </a:rPr>
              <a:t>将计算结果保存到目的地</a:t>
            </a:r>
          </a:p>
        </p:txBody>
      </p:sp>
      <p:sp>
        <p:nvSpPr>
          <p:cNvPr id="350232" name="Rectangle 24">
            <a:extLst>
              <a:ext uri="{FF2B5EF4-FFF2-40B4-BE49-F238E27FC236}">
                <a16:creationId xmlns:a16="http://schemas.microsoft.com/office/drawing/2014/main" id="{E4B7E085-2898-C23B-DFBC-0959D6CEDBC9}"/>
              </a:ext>
            </a:extLst>
          </p:cNvPr>
          <p:cNvSpPr>
            <a:spLocks noChangeArrowheads="1"/>
          </p:cNvSpPr>
          <p:nvPr/>
        </p:nvSpPr>
        <p:spPr bwMode="auto">
          <a:xfrm>
            <a:off x="2971800" y="5651500"/>
            <a:ext cx="55959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gn="just" eaLnBrk="0" hangingPunct="0">
              <a:lnSpc>
                <a:spcPct val="97000"/>
              </a:lnSpc>
              <a:spcBef>
                <a:spcPct val="49000"/>
              </a:spcBef>
            </a:pPr>
            <a:r>
              <a:rPr lang="zh-CN" altLang="en-US" sz="2000">
                <a:solidFill>
                  <a:schemeClr val="tx1"/>
                </a:solidFill>
                <a:latin typeface="微软雅黑" panose="020B0503020204020204" pitchFamily="34" charset="-122"/>
                <a:ea typeface="微软雅黑" panose="020B0503020204020204" pitchFamily="34" charset="-122"/>
              </a:rPr>
              <a:t>计算下条指令地址（通常和取指令同时进行）</a:t>
            </a:r>
          </a:p>
        </p:txBody>
      </p:sp>
      <p:sp>
        <p:nvSpPr>
          <p:cNvPr id="350233" name="Text Box 25">
            <a:extLst>
              <a:ext uri="{FF2B5EF4-FFF2-40B4-BE49-F238E27FC236}">
                <a16:creationId xmlns:a16="http://schemas.microsoft.com/office/drawing/2014/main" id="{426A4384-92DE-632C-E965-7382C440E3B1}"/>
              </a:ext>
            </a:extLst>
          </p:cNvPr>
          <p:cNvSpPr txBox="1">
            <a:spLocks noChangeArrowheads="1"/>
          </p:cNvSpPr>
          <p:nvPr/>
        </p:nvSpPr>
        <p:spPr bwMode="auto">
          <a:xfrm>
            <a:off x="3036888" y="1393825"/>
            <a:ext cx="45450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指令地址、指令长度（定长</a:t>
            </a:r>
            <a:r>
              <a:rPr lang="en-US" altLang="zh-CN" sz="2000">
                <a:ea typeface="黑体" panose="02010609060101010101" pitchFamily="49" charset="-122"/>
              </a:rPr>
              <a:t>/</a:t>
            </a:r>
            <a:r>
              <a:rPr lang="zh-CN" altLang="en-US" sz="2000">
                <a:ea typeface="黑体" panose="02010609060101010101" pitchFamily="49" charset="-122"/>
              </a:rPr>
              <a:t>变长）</a:t>
            </a:r>
          </a:p>
        </p:txBody>
      </p:sp>
      <p:sp>
        <p:nvSpPr>
          <p:cNvPr id="350234" name="Text Box 26">
            <a:extLst>
              <a:ext uri="{FF2B5EF4-FFF2-40B4-BE49-F238E27FC236}">
                <a16:creationId xmlns:a16="http://schemas.microsoft.com/office/drawing/2014/main" id="{2A343CA0-BA34-2B8C-5AFD-F0243B4ECE44}"/>
              </a:ext>
            </a:extLst>
          </p:cNvPr>
          <p:cNvSpPr txBox="1">
            <a:spLocks noChangeArrowheads="1"/>
          </p:cNvSpPr>
          <p:nvPr/>
        </p:nvSpPr>
        <p:spPr bwMode="auto">
          <a:xfrm>
            <a:off x="3021013" y="2405063"/>
            <a:ext cx="45450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指令格式、操作码编码、操作数类型</a:t>
            </a:r>
          </a:p>
        </p:txBody>
      </p:sp>
      <p:sp>
        <p:nvSpPr>
          <p:cNvPr id="350235" name="Text Box 27">
            <a:extLst>
              <a:ext uri="{FF2B5EF4-FFF2-40B4-BE49-F238E27FC236}">
                <a16:creationId xmlns:a16="http://schemas.microsoft.com/office/drawing/2014/main" id="{91C890C1-EC41-145E-B3D8-E87D5D02CA67}"/>
              </a:ext>
            </a:extLst>
          </p:cNvPr>
          <p:cNvSpPr txBox="1">
            <a:spLocks noChangeArrowheads="1"/>
          </p:cNvSpPr>
          <p:nvPr/>
        </p:nvSpPr>
        <p:spPr bwMode="auto">
          <a:xfrm>
            <a:off x="2994025" y="3376613"/>
            <a:ext cx="53578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地址码、寻址方式、操作数格式和存放</a:t>
            </a:r>
          </a:p>
        </p:txBody>
      </p:sp>
      <p:sp>
        <p:nvSpPr>
          <p:cNvPr id="350236" name="Text Box 28">
            <a:extLst>
              <a:ext uri="{FF2B5EF4-FFF2-40B4-BE49-F238E27FC236}">
                <a16:creationId xmlns:a16="http://schemas.microsoft.com/office/drawing/2014/main" id="{1E00F95B-A5C4-91C6-4CCD-6099A1EF61DA}"/>
              </a:ext>
            </a:extLst>
          </p:cNvPr>
          <p:cNvSpPr txBox="1">
            <a:spLocks noChangeArrowheads="1"/>
          </p:cNvSpPr>
          <p:nvPr/>
        </p:nvSpPr>
        <p:spPr bwMode="auto">
          <a:xfrm>
            <a:off x="2971800" y="4244975"/>
            <a:ext cx="45450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操作类型、标志或条件码</a:t>
            </a:r>
          </a:p>
        </p:txBody>
      </p:sp>
      <p:sp>
        <p:nvSpPr>
          <p:cNvPr id="350237" name="Text Box 29">
            <a:extLst>
              <a:ext uri="{FF2B5EF4-FFF2-40B4-BE49-F238E27FC236}">
                <a16:creationId xmlns:a16="http://schemas.microsoft.com/office/drawing/2014/main" id="{80A576F3-48A7-EAF0-C3E6-5113AE2C813B}"/>
              </a:ext>
            </a:extLst>
          </p:cNvPr>
          <p:cNvSpPr txBox="1">
            <a:spLocks noChangeArrowheads="1"/>
          </p:cNvSpPr>
          <p:nvPr/>
        </p:nvSpPr>
        <p:spPr bwMode="auto">
          <a:xfrm>
            <a:off x="2994025" y="5064125"/>
            <a:ext cx="45450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结果数据位置（目的操作数）</a:t>
            </a:r>
          </a:p>
        </p:txBody>
      </p:sp>
      <p:sp>
        <p:nvSpPr>
          <p:cNvPr id="350238" name="Text Box 30">
            <a:extLst>
              <a:ext uri="{FF2B5EF4-FFF2-40B4-BE49-F238E27FC236}">
                <a16:creationId xmlns:a16="http://schemas.microsoft.com/office/drawing/2014/main" id="{700C6182-0B61-B8CC-530E-9C2034E44A6B}"/>
              </a:ext>
            </a:extLst>
          </p:cNvPr>
          <p:cNvSpPr txBox="1">
            <a:spLocks noChangeArrowheads="1"/>
          </p:cNvSpPr>
          <p:nvPr/>
        </p:nvSpPr>
        <p:spPr bwMode="auto">
          <a:xfrm>
            <a:off x="2898775" y="6026150"/>
            <a:ext cx="45450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下条指令地址（顺序 </a:t>
            </a:r>
            <a:r>
              <a:rPr lang="en-US" altLang="zh-CN" sz="2000">
                <a:ea typeface="黑体" panose="02010609060101010101" pitchFamily="49" charset="-122"/>
              </a:rPr>
              <a:t>/ </a:t>
            </a:r>
            <a:r>
              <a:rPr lang="zh-CN" altLang="en-US" sz="2000">
                <a:ea typeface="黑体" panose="02010609060101010101" pitchFamily="49" charset="-122"/>
              </a:rPr>
              <a:t>转移）</a:t>
            </a:r>
            <a:endParaRPr lang="en-US" altLang="zh-CN" sz="2000">
              <a:ea typeface="黑体" panose="02010609060101010101" pitchFamily="49" charset="-122"/>
            </a:endParaRPr>
          </a:p>
        </p:txBody>
      </p:sp>
      <p:sp>
        <p:nvSpPr>
          <p:cNvPr id="31" name="Text Box 30">
            <a:extLst>
              <a:ext uri="{FF2B5EF4-FFF2-40B4-BE49-F238E27FC236}">
                <a16:creationId xmlns:a16="http://schemas.microsoft.com/office/drawing/2014/main" id="{B5EC56DD-33B5-79F2-78A2-61ABB01DB323}"/>
              </a:ext>
            </a:extLst>
          </p:cNvPr>
          <p:cNvSpPr txBox="1">
            <a:spLocks noChangeArrowheads="1"/>
          </p:cNvSpPr>
          <p:nvPr/>
        </p:nvSpPr>
        <p:spPr bwMode="auto">
          <a:xfrm>
            <a:off x="7621588" y="1255713"/>
            <a:ext cx="1522412"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200">
                <a:solidFill>
                  <a:srgbClr val="FF0000"/>
                </a:solidFill>
                <a:latin typeface="微软雅黑" panose="020B0503020204020204" pitchFamily="34" charset="-122"/>
                <a:ea typeface="微软雅黑" panose="020B0503020204020204" pitchFamily="34" charset="-122"/>
              </a:rPr>
              <a:t>指令执行的每一步都可能发生异常或中断，因此，指令集系统架构（</a:t>
            </a:r>
            <a:r>
              <a:rPr lang="en-US" altLang="zh-CN" sz="2200">
                <a:solidFill>
                  <a:srgbClr val="FF0000"/>
                </a:solidFill>
                <a:latin typeface="微软雅黑" panose="020B0503020204020204" pitchFamily="34" charset="-122"/>
                <a:ea typeface="微软雅黑" panose="020B0503020204020204" pitchFamily="34" charset="-122"/>
              </a:rPr>
              <a:t>ISA</a:t>
            </a:r>
            <a:r>
              <a:rPr lang="zh-CN" altLang="en-US" sz="2200">
                <a:solidFill>
                  <a:srgbClr val="FF0000"/>
                </a:solidFill>
                <a:latin typeface="微软雅黑" panose="020B0503020204020204" pitchFamily="34" charset="-122"/>
                <a:ea typeface="微软雅黑" panose="020B0503020204020204" pitchFamily="34" charset="-122"/>
              </a:rPr>
              <a:t>）还需要考虑</a:t>
            </a:r>
            <a:r>
              <a:rPr lang="zh-CN" altLang="en-US" sz="2200">
                <a:solidFill>
                  <a:srgbClr val="388A36"/>
                </a:solidFill>
                <a:latin typeface="微软雅黑" panose="020B0503020204020204" pitchFamily="34" charset="-122"/>
                <a:ea typeface="微软雅黑" panose="020B0503020204020204" pitchFamily="34" charset="-122"/>
              </a:rPr>
              <a:t>异常和中断机制</a:t>
            </a:r>
            <a:endParaRPr lang="en-US" altLang="zh-CN" sz="2200">
              <a:solidFill>
                <a:srgbClr val="388A36"/>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0227">
                                            <p:txEl>
                                              <p:pRg st="0" end="0"/>
                                            </p:txEl>
                                          </p:spTgt>
                                        </p:tgtEl>
                                        <p:attrNameLst>
                                          <p:attrName>style.visibility</p:attrName>
                                        </p:attrNameLst>
                                      </p:cBhvr>
                                      <p:to>
                                        <p:strVal val="visible"/>
                                      </p:to>
                                    </p:set>
                                    <p:animEffect transition="in" filter="blinds(horizontal)">
                                      <p:cBhvr>
                                        <p:cTn id="7" dur="500"/>
                                        <p:tgtEl>
                                          <p:spTgt spid="350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0233"/>
                                        </p:tgtEl>
                                        <p:attrNameLst>
                                          <p:attrName>style.visibility</p:attrName>
                                        </p:attrNameLst>
                                      </p:cBhvr>
                                      <p:to>
                                        <p:strVal val="visible"/>
                                      </p:to>
                                    </p:set>
                                    <p:animEffect transition="in" filter="blinds(horizontal)">
                                      <p:cBhvr>
                                        <p:cTn id="12" dur="500"/>
                                        <p:tgtEl>
                                          <p:spTgt spid="3502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0228">
                                            <p:txEl>
                                              <p:pRg st="0" end="0"/>
                                            </p:txEl>
                                          </p:spTgt>
                                        </p:tgtEl>
                                        <p:attrNameLst>
                                          <p:attrName>style.visibility</p:attrName>
                                        </p:attrNameLst>
                                      </p:cBhvr>
                                      <p:to>
                                        <p:strVal val="visible"/>
                                      </p:to>
                                    </p:set>
                                    <p:animEffect transition="in" filter="blinds(horizontal)">
                                      <p:cBhvr>
                                        <p:cTn id="17" dur="500"/>
                                        <p:tgtEl>
                                          <p:spTgt spid="35022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0234"/>
                                        </p:tgtEl>
                                        <p:attrNameLst>
                                          <p:attrName>style.visibility</p:attrName>
                                        </p:attrNameLst>
                                      </p:cBhvr>
                                      <p:to>
                                        <p:strVal val="visible"/>
                                      </p:to>
                                    </p:set>
                                    <p:animEffect transition="in" filter="blinds(horizontal)">
                                      <p:cBhvr>
                                        <p:cTn id="22" dur="500"/>
                                        <p:tgtEl>
                                          <p:spTgt spid="3502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0229">
                                            <p:txEl>
                                              <p:pRg st="0" end="0"/>
                                            </p:txEl>
                                          </p:spTgt>
                                        </p:tgtEl>
                                        <p:attrNameLst>
                                          <p:attrName>style.visibility</p:attrName>
                                        </p:attrNameLst>
                                      </p:cBhvr>
                                      <p:to>
                                        <p:strVal val="visible"/>
                                      </p:to>
                                    </p:set>
                                    <p:animEffect transition="in" filter="blinds(horizontal)">
                                      <p:cBhvr>
                                        <p:cTn id="27" dur="500"/>
                                        <p:tgtEl>
                                          <p:spTgt spid="35022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0235"/>
                                        </p:tgtEl>
                                        <p:attrNameLst>
                                          <p:attrName>style.visibility</p:attrName>
                                        </p:attrNameLst>
                                      </p:cBhvr>
                                      <p:to>
                                        <p:strVal val="visible"/>
                                      </p:to>
                                    </p:set>
                                    <p:animEffect transition="in" filter="blinds(horizontal)">
                                      <p:cBhvr>
                                        <p:cTn id="32" dur="500"/>
                                        <p:tgtEl>
                                          <p:spTgt spid="3502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50230">
                                            <p:txEl>
                                              <p:pRg st="0" end="0"/>
                                            </p:txEl>
                                          </p:spTgt>
                                        </p:tgtEl>
                                        <p:attrNameLst>
                                          <p:attrName>style.visibility</p:attrName>
                                        </p:attrNameLst>
                                      </p:cBhvr>
                                      <p:to>
                                        <p:strVal val="visible"/>
                                      </p:to>
                                    </p:set>
                                    <p:animEffect transition="in" filter="blinds(horizontal)">
                                      <p:cBhvr>
                                        <p:cTn id="37" dur="500"/>
                                        <p:tgtEl>
                                          <p:spTgt spid="350230">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0236"/>
                                        </p:tgtEl>
                                        <p:attrNameLst>
                                          <p:attrName>style.visibility</p:attrName>
                                        </p:attrNameLst>
                                      </p:cBhvr>
                                      <p:to>
                                        <p:strVal val="visible"/>
                                      </p:to>
                                    </p:set>
                                    <p:animEffect transition="in" filter="blinds(horizontal)">
                                      <p:cBhvr>
                                        <p:cTn id="42" dur="500"/>
                                        <p:tgtEl>
                                          <p:spTgt spid="3502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50231">
                                            <p:txEl>
                                              <p:pRg st="0" end="0"/>
                                            </p:txEl>
                                          </p:spTgt>
                                        </p:tgtEl>
                                        <p:attrNameLst>
                                          <p:attrName>style.visibility</p:attrName>
                                        </p:attrNameLst>
                                      </p:cBhvr>
                                      <p:to>
                                        <p:strVal val="visible"/>
                                      </p:to>
                                    </p:set>
                                    <p:animEffect transition="in" filter="blinds(horizontal)">
                                      <p:cBhvr>
                                        <p:cTn id="47" dur="500"/>
                                        <p:tgtEl>
                                          <p:spTgt spid="350231">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50237"/>
                                        </p:tgtEl>
                                        <p:attrNameLst>
                                          <p:attrName>style.visibility</p:attrName>
                                        </p:attrNameLst>
                                      </p:cBhvr>
                                      <p:to>
                                        <p:strVal val="visible"/>
                                      </p:to>
                                    </p:set>
                                    <p:animEffect transition="in" filter="blinds(horizontal)">
                                      <p:cBhvr>
                                        <p:cTn id="52" dur="500"/>
                                        <p:tgtEl>
                                          <p:spTgt spid="3502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50232">
                                            <p:txEl>
                                              <p:pRg st="0" end="0"/>
                                            </p:txEl>
                                          </p:spTgt>
                                        </p:tgtEl>
                                        <p:attrNameLst>
                                          <p:attrName>style.visibility</p:attrName>
                                        </p:attrNameLst>
                                      </p:cBhvr>
                                      <p:to>
                                        <p:strVal val="visible"/>
                                      </p:to>
                                    </p:set>
                                    <p:animEffect transition="in" filter="blinds(horizontal)">
                                      <p:cBhvr>
                                        <p:cTn id="57" dur="500"/>
                                        <p:tgtEl>
                                          <p:spTgt spid="350232">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0238"/>
                                        </p:tgtEl>
                                        <p:attrNameLst>
                                          <p:attrName>style.visibility</p:attrName>
                                        </p:attrNameLst>
                                      </p:cBhvr>
                                      <p:to>
                                        <p:strVal val="visible"/>
                                      </p:to>
                                    </p:set>
                                    <p:animEffect transition="in" filter="blinds(horizontal)">
                                      <p:cBhvr>
                                        <p:cTn id="62" dur="500"/>
                                        <p:tgtEl>
                                          <p:spTgt spid="35023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blinds(horizontal)">
                                      <p:cBhvr>
                                        <p:cTn id="6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33" grpId="0"/>
      <p:bldP spid="350234" grpId="0"/>
      <p:bldP spid="350235" grpId="0"/>
      <p:bldP spid="350236" grpId="0"/>
      <p:bldP spid="350237" grpId="0"/>
      <p:bldP spid="350238"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7941CAE2-C323-97D6-C433-BE200C18D9B7}"/>
              </a:ext>
            </a:extLst>
          </p:cNvPr>
          <p:cNvSpPr>
            <a:spLocks noGrp="1" noChangeArrowheads="1"/>
          </p:cNvSpPr>
          <p:nvPr>
            <p:ph idx="1"/>
          </p:nvPr>
        </p:nvSpPr>
        <p:spPr>
          <a:xfrm>
            <a:off x="230188" y="620713"/>
            <a:ext cx="8913812" cy="5964237"/>
          </a:xfrm>
        </p:spPr>
        <p:txBody>
          <a:bodyPr/>
          <a:lstStyle/>
          <a:p>
            <a:pPr marL="342900" indent="-342900">
              <a:lnSpc>
                <a:spcPct val="120000"/>
              </a:lnSpc>
              <a:spcBef>
                <a:spcPct val="5000"/>
              </a:spcBef>
              <a:buFont typeface="Wingdings" panose="05000000000000000000" pitchFamily="2" charset="2"/>
              <a:buNone/>
            </a:pPr>
            <a:r>
              <a:rPr lang="zh-CN" altLang="en-US" sz="1800">
                <a:solidFill>
                  <a:srgbClr val="CC3300"/>
                </a:solidFill>
                <a:latin typeface="微软雅黑" panose="020B0503020204020204" pitchFamily="34" charset="-122"/>
                <a:ea typeface="微软雅黑" panose="020B0503020204020204" pitchFamily="34" charset="-122"/>
              </a:rPr>
              <a:t>指令格式的选择应遵循的几条基本原则</a:t>
            </a:r>
          </a:p>
          <a:p>
            <a:pPr marL="342900" indent="-342900">
              <a:lnSpc>
                <a:spcPct val="120000"/>
              </a:lnSpc>
              <a:spcBef>
                <a:spcPct val="5000"/>
              </a:spcBef>
            </a:pPr>
            <a:r>
              <a:rPr lang="zh-CN" altLang="en-US" sz="1800">
                <a:solidFill>
                  <a:srgbClr val="31209A"/>
                </a:solidFill>
                <a:latin typeface="微软雅黑" panose="020B0503020204020204" pitchFamily="34" charset="-122"/>
                <a:ea typeface="微软雅黑" panose="020B0503020204020204" pitchFamily="34" charset="-122"/>
              </a:rPr>
              <a:t>应尽量短</a:t>
            </a:r>
          </a:p>
          <a:p>
            <a:pPr marL="342900" indent="-342900">
              <a:lnSpc>
                <a:spcPct val="120000"/>
              </a:lnSpc>
              <a:spcBef>
                <a:spcPct val="5000"/>
              </a:spcBef>
            </a:pPr>
            <a:r>
              <a:rPr lang="zh-CN" altLang="en-US" sz="1800">
                <a:solidFill>
                  <a:srgbClr val="31209A"/>
                </a:solidFill>
                <a:latin typeface="微软雅黑" panose="020B0503020204020204" pitchFamily="34" charset="-122"/>
                <a:ea typeface="微软雅黑" panose="020B0503020204020204" pitchFamily="34" charset="-122"/>
              </a:rPr>
              <a:t>要有足够的操作码位数</a:t>
            </a:r>
          </a:p>
          <a:p>
            <a:pPr marL="342900" indent="-342900">
              <a:lnSpc>
                <a:spcPct val="120000"/>
              </a:lnSpc>
              <a:spcBef>
                <a:spcPct val="5000"/>
              </a:spcBef>
            </a:pPr>
            <a:r>
              <a:rPr lang="zh-CN" altLang="en-US" sz="1800">
                <a:solidFill>
                  <a:srgbClr val="31209A"/>
                </a:solidFill>
                <a:latin typeface="微软雅黑" panose="020B0503020204020204" pitchFamily="34" charset="-122"/>
                <a:ea typeface="微软雅黑" panose="020B0503020204020204" pitchFamily="34" charset="-122"/>
              </a:rPr>
              <a:t>指令编码必须有唯一的解释，否则是不合法的指令</a:t>
            </a:r>
          </a:p>
          <a:p>
            <a:pPr marL="342900" indent="-342900">
              <a:lnSpc>
                <a:spcPct val="120000"/>
              </a:lnSpc>
              <a:spcBef>
                <a:spcPct val="5000"/>
              </a:spcBef>
            </a:pPr>
            <a:r>
              <a:rPr lang="zh-CN" altLang="en-US" sz="1800">
                <a:solidFill>
                  <a:srgbClr val="31209A"/>
                </a:solidFill>
                <a:latin typeface="微软雅黑" panose="020B0503020204020204" pitchFamily="34" charset="-122"/>
                <a:ea typeface="微软雅黑" panose="020B0503020204020204" pitchFamily="34" charset="-122"/>
              </a:rPr>
              <a:t>指令字长应是字节的整数倍</a:t>
            </a:r>
          </a:p>
          <a:p>
            <a:pPr marL="342900" indent="-342900">
              <a:lnSpc>
                <a:spcPct val="120000"/>
              </a:lnSpc>
              <a:spcBef>
                <a:spcPct val="5000"/>
              </a:spcBef>
            </a:pPr>
            <a:r>
              <a:rPr lang="zh-CN" altLang="en-US" sz="1800">
                <a:solidFill>
                  <a:srgbClr val="31209A"/>
                </a:solidFill>
                <a:latin typeface="微软雅黑" panose="020B0503020204020204" pitchFamily="34" charset="-122"/>
                <a:ea typeface="微软雅黑" panose="020B0503020204020204" pitchFamily="34" charset="-122"/>
              </a:rPr>
              <a:t>合理地选择地址字段的个数</a:t>
            </a:r>
          </a:p>
          <a:p>
            <a:pPr marL="342900" indent="-342900">
              <a:lnSpc>
                <a:spcPct val="120000"/>
              </a:lnSpc>
              <a:spcBef>
                <a:spcPct val="5000"/>
              </a:spcBef>
            </a:pPr>
            <a:r>
              <a:rPr lang="zh-CN" altLang="en-US" sz="1800">
                <a:solidFill>
                  <a:srgbClr val="31209A"/>
                </a:solidFill>
                <a:latin typeface="微软雅黑" panose="020B0503020204020204" pitchFamily="34" charset="-122"/>
                <a:ea typeface="微软雅黑" panose="020B0503020204020204" pitchFamily="34" charset="-122"/>
              </a:rPr>
              <a:t>指令尽量规整</a:t>
            </a:r>
          </a:p>
          <a:p>
            <a:pPr marL="342900" indent="-342900">
              <a:lnSpc>
                <a:spcPct val="120000"/>
              </a:lnSpc>
              <a:spcBef>
                <a:spcPct val="5000"/>
              </a:spcBef>
              <a:buFont typeface="Wingdings" panose="05000000000000000000" pitchFamily="2" charset="2"/>
              <a:buNone/>
            </a:pPr>
            <a:r>
              <a:rPr lang="zh-CN" altLang="en-US" sz="1800">
                <a:solidFill>
                  <a:srgbClr val="CC3300"/>
                </a:solidFill>
                <a:latin typeface="微软雅黑" panose="020B0503020204020204" pitchFamily="34" charset="-122"/>
                <a:ea typeface="微软雅黑" panose="020B0503020204020204" pitchFamily="34" charset="-122"/>
              </a:rPr>
              <a:t>与指令集设计相关的重要方面</a:t>
            </a: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操作码的全部组成：操作码个数 </a:t>
            </a:r>
            <a:r>
              <a:rPr lang="en-US" altLang="zh-CN" sz="1800">
                <a:solidFill>
                  <a:srgbClr val="31209A"/>
                </a:solidFill>
                <a:latin typeface="微软雅黑" panose="020B0503020204020204" pitchFamily="34" charset="-122"/>
                <a:ea typeface="微软雅黑" panose="020B0503020204020204" pitchFamily="34" charset="-122"/>
              </a:rPr>
              <a:t>/ </a:t>
            </a:r>
            <a:r>
              <a:rPr lang="zh-CN" altLang="en-US" sz="1800">
                <a:solidFill>
                  <a:srgbClr val="31209A"/>
                </a:solidFill>
                <a:latin typeface="微软雅黑" panose="020B0503020204020204" pitchFamily="34" charset="-122"/>
                <a:ea typeface="微软雅黑" panose="020B0503020204020204" pitchFamily="34" charset="-122"/>
              </a:rPr>
              <a:t>种类 </a:t>
            </a:r>
            <a:r>
              <a:rPr lang="en-US" altLang="zh-CN" sz="1800">
                <a:solidFill>
                  <a:srgbClr val="31209A"/>
                </a:solidFill>
                <a:latin typeface="微软雅黑" panose="020B0503020204020204" pitchFamily="34" charset="-122"/>
                <a:ea typeface="微软雅黑" panose="020B0503020204020204" pitchFamily="34" charset="-122"/>
              </a:rPr>
              <a:t>/ </a:t>
            </a:r>
            <a:r>
              <a:rPr lang="zh-CN" altLang="en-US" sz="1800">
                <a:solidFill>
                  <a:srgbClr val="31209A"/>
                </a:solidFill>
                <a:latin typeface="微软雅黑" panose="020B0503020204020204" pitchFamily="34" charset="-122"/>
                <a:ea typeface="微软雅黑" panose="020B0503020204020204" pitchFamily="34" charset="-122"/>
              </a:rPr>
              <a:t>复杂度</a:t>
            </a:r>
          </a:p>
          <a:p>
            <a:pPr marL="342900" indent="-342900">
              <a:lnSpc>
                <a:spcPct val="120000"/>
              </a:lnSpc>
              <a:spcBef>
                <a:spcPct val="5000"/>
              </a:spcBef>
              <a:buSzPct val="80000"/>
              <a:buFont typeface="Wingdings" panose="05000000000000000000" pitchFamily="2" charset="2"/>
              <a:buNone/>
            </a:pPr>
            <a:r>
              <a:rPr lang="en-US" altLang="zh-CN" sz="1800">
                <a:latin typeface="微软雅黑" panose="020B0503020204020204" pitchFamily="34" charset="-122"/>
                <a:ea typeface="微软雅黑" panose="020B0503020204020204" pitchFamily="34" charset="-122"/>
              </a:rPr>
              <a:t>       LD/ST/INC/BRN </a:t>
            </a:r>
            <a:r>
              <a:rPr lang="zh-CN" altLang="en-US" sz="1800">
                <a:latin typeface="微软雅黑" panose="020B0503020204020204" pitchFamily="34" charset="-122"/>
                <a:ea typeface="微软雅黑" panose="020B0503020204020204" pitchFamily="34" charset="-122"/>
              </a:rPr>
              <a:t>四种指令已足够编制任何可计算程序，但程序会很长</a:t>
            </a:r>
            <a:endParaRPr lang="zh-CN" altLang="en-US" sz="1800">
              <a:solidFill>
                <a:srgbClr val="31209A"/>
              </a:solidFill>
              <a:latin typeface="微软雅黑" panose="020B0503020204020204" pitchFamily="34" charset="-122"/>
              <a:ea typeface="微软雅黑" panose="020B0503020204020204" pitchFamily="34" charset="-122"/>
            </a:endParaRP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数据类型：对哪几种数据类型完成操作</a:t>
            </a: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指令格式：指令长度 </a:t>
            </a:r>
            <a:r>
              <a:rPr lang="en-US" altLang="zh-CN" sz="1800">
                <a:solidFill>
                  <a:srgbClr val="31209A"/>
                </a:solidFill>
                <a:latin typeface="微软雅黑" panose="020B0503020204020204" pitchFamily="34" charset="-122"/>
                <a:ea typeface="微软雅黑" panose="020B0503020204020204" pitchFamily="34" charset="-122"/>
              </a:rPr>
              <a:t>/ </a:t>
            </a:r>
            <a:r>
              <a:rPr lang="zh-CN" altLang="en-US" sz="1800">
                <a:solidFill>
                  <a:srgbClr val="31209A"/>
                </a:solidFill>
                <a:latin typeface="微软雅黑" panose="020B0503020204020204" pitchFamily="34" charset="-122"/>
                <a:ea typeface="微软雅黑" panose="020B0503020204020204" pitchFamily="34" charset="-122"/>
              </a:rPr>
              <a:t>地址码个数 </a:t>
            </a:r>
            <a:r>
              <a:rPr lang="en-US" altLang="zh-CN" sz="1800">
                <a:solidFill>
                  <a:srgbClr val="31209A"/>
                </a:solidFill>
                <a:latin typeface="微软雅黑" panose="020B0503020204020204" pitchFamily="34" charset="-122"/>
                <a:ea typeface="微软雅黑" panose="020B0503020204020204" pitchFamily="34" charset="-122"/>
              </a:rPr>
              <a:t>/ </a:t>
            </a:r>
            <a:r>
              <a:rPr lang="zh-CN" altLang="en-US" sz="1800">
                <a:solidFill>
                  <a:srgbClr val="31209A"/>
                </a:solidFill>
                <a:latin typeface="微软雅黑" panose="020B0503020204020204" pitchFamily="34" charset="-122"/>
                <a:ea typeface="微软雅黑" panose="020B0503020204020204" pitchFamily="34" charset="-122"/>
              </a:rPr>
              <a:t>各字段长度</a:t>
            </a: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通用寄存器：个数 </a:t>
            </a:r>
            <a:r>
              <a:rPr lang="en-US" altLang="zh-CN" sz="1800">
                <a:solidFill>
                  <a:srgbClr val="31209A"/>
                </a:solidFill>
                <a:latin typeface="微软雅黑" panose="020B0503020204020204" pitchFamily="34" charset="-122"/>
                <a:ea typeface="微软雅黑" panose="020B0503020204020204" pitchFamily="34" charset="-122"/>
              </a:rPr>
              <a:t>/ </a:t>
            </a:r>
            <a:r>
              <a:rPr lang="zh-CN" altLang="en-US" sz="1800">
                <a:solidFill>
                  <a:srgbClr val="31209A"/>
                </a:solidFill>
                <a:latin typeface="微软雅黑" panose="020B0503020204020204" pitchFamily="34" charset="-122"/>
                <a:ea typeface="微软雅黑" panose="020B0503020204020204" pitchFamily="34" charset="-122"/>
              </a:rPr>
              <a:t>功能 </a:t>
            </a:r>
            <a:r>
              <a:rPr lang="en-US" altLang="zh-CN" sz="1800">
                <a:solidFill>
                  <a:srgbClr val="31209A"/>
                </a:solidFill>
                <a:latin typeface="微软雅黑" panose="020B0503020204020204" pitchFamily="34" charset="-122"/>
                <a:ea typeface="微软雅黑" panose="020B0503020204020204" pitchFamily="34" charset="-122"/>
              </a:rPr>
              <a:t>/ </a:t>
            </a:r>
            <a:r>
              <a:rPr lang="zh-CN" altLang="en-US" sz="1800">
                <a:solidFill>
                  <a:srgbClr val="31209A"/>
                </a:solidFill>
                <a:latin typeface="微软雅黑" panose="020B0503020204020204" pitchFamily="34" charset="-122"/>
                <a:ea typeface="微软雅黑" panose="020B0503020204020204" pitchFamily="34" charset="-122"/>
              </a:rPr>
              <a:t>长度</a:t>
            </a: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寻址方式：操作数地址的指定方式</a:t>
            </a: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下条指令的地址如何确定：顺序，</a:t>
            </a:r>
            <a:r>
              <a:rPr lang="en-US" altLang="zh-CN" sz="1800">
                <a:solidFill>
                  <a:srgbClr val="31209A"/>
                </a:solidFill>
                <a:latin typeface="微软雅黑" panose="020B0503020204020204" pitchFamily="34" charset="-122"/>
                <a:ea typeface="微软雅黑" panose="020B0503020204020204" pitchFamily="34" charset="-122"/>
              </a:rPr>
              <a:t>PC+1</a:t>
            </a:r>
            <a:r>
              <a:rPr lang="zh-CN" altLang="en-US" sz="1800">
                <a:solidFill>
                  <a:srgbClr val="31209A"/>
                </a:solidFill>
                <a:latin typeface="微软雅黑" panose="020B0503020204020204" pitchFamily="34" charset="-122"/>
                <a:ea typeface="微软雅黑" panose="020B0503020204020204" pitchFamily="34" charset="-122"/>
              </a:rPr>
              <a:t>；条件转移；无条件转移；</a:t>
            </a:r>
            <a:r>
              <a:rPr lang="en-US" altLang="zh-CN" sz="1800">
                <a:solidFill>
                  <a:srgbClr val="31209A"/>
                </a:solidFill>
                <a:latin typeface="微软雅黑" panose="020B0503020204020204" pitchFamily="34" charset="-122"/>
                <a:ea typeface="微软雅黑" panose="020B0503020204020204" pitchFamily="34" charset="-122"/>
              </a:rPr>
              <a:t>……</a:t>
            </a:r>
          </a:p>
          <a:p>
            <a:pPr marL="342900" indent="-342900">
              <a:lnSpc>
                <a:spcPct val="120000"/>
              </a:lnSpc>
              <a:spcBef>
                <a:spcPct val="5000"/>
              </a:spcBef>
              <a:buSzPct val="80000"/>
            </a:pPr>
            <a:r>
              <a:rPr lang="zh-CN" altLang="en-US" sz="1800">
                <a:solidFill>
                  <a:srgbClr val="31209A"/>
                </a:solidFill>
                <a:latin typeface="微软雅黑" panose="020B0503020204020204" pitchFamily="34" charset="-122"/>
                <a:ea typeface="微软雅黑" panose="020B0503020204020204" pitchFamily="34" charset="-122"/>
              </a:rPr>
              <a:t>异常和中断机制，包括存储保护方式等</a:t>
            </a:r>
            <a:endParaRPr lang="en-US" altLang="zh-CN" sz="1800">
              <a:solidFill>
                <a:srgbClr val="31209A"/>
              </a:solidFill>
              <a:latin typeface="微软雅黑" panose="020B0503020204020204" pitchFamily="34" charset="-122"/>
              <a:ea typeface="微软雅黑" panose="020B0503020204020204" pitchFamily="34" charset="-122"/>
            </a:endParaRPr>
          </a:p>
          <a:p>
            <a:pPr marL="342900" indent="-342900">
              <a:lnSpc>
                <a:spcPct val="120000"/>
              </a:lnSpc>
              <a:spcBef>
                <a:spcPct val="5000"/>
              </a:spcBef>
              <a:buSzPct val="80000"/>
            </a:pPr>
            <a:endParaRPr lang="en-US" altLang="zh-CN" sz="1800">
              <a:solidFill>
                <a:srgbClr val="31209A"/>
              </a:solidFill>
              <a:latin typeface="Arial" panose="020B0604020202020204" pitchFamily="34" charset="0"/>
              <a:ea typeface="黑体" panose="02010609060101010101" pitchFamily="49" charset="-122"/>
            </a:endParaRPr>
          </a:p>
        </p:txBody>
      </p:sp>
      <p:sp>
        <p:nvSpPr>
          <p:cNvPr id="11266" name="Rectangle 3">
            <a:extLst>
              <a:ext uri="{FF2B5EF4-FFF2-40B4-BE49-F238E27FC236}">
                <a16:creationId xmlns:a16="http://schemas.microsoft.com/office/drawing/2014/main" id="{D89ED518-1E39-271F-D65B-DCBE27090DAA}"/>
              </a:ext>
            </a:extLst>
          </p:cNvPr>
          <p:cNvSpPr>
            <a:spLocks noGrp="1" noChangeArrowheads="1"/>
          </p:cNvSpPr>
          <p:nvPr>
            <p:ph type="title"/>
          </p:nvPr>
        </p:nvSpPr>
        <p:spPr>
          <a:xfrm>
            <a:off x="738188" y="76200"/>
            <a:ext cx="3978275" cy="422275"/>
          </a:xfrm>
        </p:spPr>
        <p:txBody>
          <a:bodyPr/>
          <a:lstStyle/>
          <a:p>
            <a:r>
              <a:rPr lang="zh-CN" altLang="en-US" sz="2800">
                <a:ea typeface="宋体" panose="02010600030101010101" pitchFamily="2" charset="-122"/>
              </a:rPr>
              <a:t>指令格式的设计</a:t>
            </a:r>
          </a:p>
        </p:txBody>
      </p:sp>
      <p:sp>
        <p:nvSpPr>
          <p:cNvPr id="351236" name="Rectangle 4">
            <a:extLst>
              <a:ext uri="{FF2B5EF4-FFF2-40B4-BE49-F238E27FC236}">
                <a16:creationId xmlns:a16="http://schemas.microsoft.com/office/drawing/2014/main" id="{A4947F6F-FBF4-63FF-31FB-F6B397275BF3}"/>
              </a:ext>
            </a:extLst>
          </p:cNvPr>
          <p:cNvSpPr>
            <a:spLocks noChangeArrowheads="1"/>
          </p:cNvSpPr>
          <p:nvPr/>
        </p:nvSpPr>
        <p:spPr bwMode="auto">
          <a:xfrm>
            <a:off x="4465638" y="2120900"/>
            <a:ext cx="420687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20000"/>
              </a:lnSpc>
              <a:spcBef>
                <a:spcPct val="30000"/>
              </a:spcBef>
              <a:buFont typeface="Monotype Sorts"/>
              <a:buNone/>
            </a:pPr>
            <a:r>
              <a:rPr lang="zh-CN" altLang="en-US" sz="2000">
                <a:solidFill>
                  <a:srgbClr val="B3110D"/>
                </a:solidFill>
                <a:latin typeface="微软雅黑" panose="020B0503020204020204" pitchFamily="34" charset="-122"/>
                <a:ea typeface="微软雅黑" panose="020B0503020204020204" pitchFamily="34" charset="-122"/>
              </a:rPr>
              <a:t>一般通过对操作码进行不同的编码来定义不同的含义，操作码相同时，再由功能码定义不同的含义</a:t>
            </a:r>
            <a:r>
              <a:rPr lang="en-US" altLang="zh-CN" sz="2000">
                <a:solidFill>
                  <a:srgbClr val="B3110D"/>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animEffect transition="in" filter="blinds(horizontal)">
                                      <p:cBhvr>
                                        <p:cTn id="7" dur="500"/>
                                        <p:tgtEl>
                                          <p:spTgt spid="35123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1234">
                                            <p:txEl>
                                              <p:pRg st="2" end="2"/>
                                            </p:txEl>
                                          </p:spTgt>
                                        </p:tgtEl>
                                        <p:attrNameLst>
                                          <p:attrName>style.visibility</p:attrName>
                                        </p:attrNameLst>
                                      </p:cBhvr>
                                      <p:to>
                                        <p:strVal val="visible"/>
                                      </p:to>
                                    </p:set>
                                    <p:animEffect transition="in" filter="blinds(horizontal)">
                                      <p:cBhvr>
                                        <p:cTn id="12" dur="500"/>
                                        <p:tgtEl>
                                          <p:spTgt spid="35123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1234">
                                            <p:txEl>
                                              <p:pRg st="3" end="3"/>
                                            </p:txEl>
                                          </p:spTgt>
                                        </p:tgtEl>
                                        <p:attrNameLst>
                                          <p:attrName>style.visibility</p:attrName>
                                        </p:attrNameLst>
                                      </p:cBhvr>
                                      <p:to>
                                        <p:strVal val="visible"/>
                                      </p:to>
                                    </p:set>
                                    <p:animEffect transition="in" filter="blinds(horizontal)">
                                      <p:cBhvr>
                                        <p:cTn id="17" dur="500"/>
                                        <p:tgtEl>
                                          <p:spTgt spid="351234">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1234">
                                            <p:txEl>
                                              <p:pRg st="4" end="4"/>
                                            </p:txEl>
                                          </p:spTgt>
                                        </p:tgtEl>
                                        <p:attrNameLst>
                                          <p:attrName>style.visibility</p:attrName>
                                        </p:attrNameLst>
                                      </p:cBhvr>
                                      <p:to>
                                        <p:strVal val="visible"/>
                                      </p:to>
                                    </p:set>
                                    <p:animEffect transition="in" filter="blinds(horizontal)">
                                      <p:cBhvr>
                                        <p:cTn id="22" dur="500"/>
                                        <p:tgtEl>
                                          <p:spTgt spid="351234">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1234">
                                            <p:txEl>
                                              <p:pRg st="5" end="5"/>
                                            </p:txEl>
                                          </p:spTgt>
                                        </p:tgtEl>
                                        <p:attrNameLst>
                                          <p:attrName>style.visibility</p:attrName>
                                        </p:attrNameLst>
                                      </p:cBhvr>
                                      <p:to>
                                        <p:strVal val="visible"/>
                                      </p:to>
                                    </p:set>
                                    <p:animEffect transition="in" filter="blinds(horizontal)">
                                      <p:cBhvr>
                                        <p:cTn id="27" dur="500"/>
                                        <p:tgtEl>
                                          <p:spTgt spid="351234">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51234">
                                            <p:txEl>
                                              <p:pRg st="6" end="6"/>
                                            </p:txEl>
                                          </p:spTgt>
                                        </p:tgtEl>
                                        <p:attrNameLst>
                                          <p:attrName>style.visibility</p:attrName>
                                        </p:attrNameLst>
                                      </p:cBhvr>
                                      <p:to>
                                        <p:strVal val="visible"/>
                                      </p:to>
                                    </p:set>
                                    <p:animEffect transition="in" filter="blinds(horizontal)">
                                      <p:cBhvr>
                                        <p:cTn id="32" dur="500"/>
                                        <p:tgtEl>
                                          <p:spTgt spid="351234">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51234">
                                            <p:txEl>
                                              <p:pRg st="8" end="8"/>
                                            </p:txEl>
                                          </p:spTgt>
                                        </p:tgtEl>
                                        <p:attrNameLst>
                                          <p:attrName>style.visibility</p:attrName>
                                        </p:attrNameLst>
                                      </p:cBhvr>
                                      <p:to>
                                        <p:strVal val="visible"/>
                                      </p:to>
                                    </p:set>
                                    <p:animEffect transition="in" filter="blinds(horizontal)">
                                      <p:cBhvr>
                                        <p:cTn id="37" dur="500"/>
                                        <p:tgtEl>
                                          <p:spTgt spid="351234">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51234">
                                            <p:txEl>
                                              <p:pRg st="9" end="9"/>
                                            </p:txEl>
                                          </p:spTgt>
                                        </p:tgtEl>
                                        <p:attrNameLst>
                                          <p:attrName>style.visibility</p:attrName>
                                        </p:attrNameLst>
                                      </p:cBhvr>
                                      <p:to>
                                        <p:strVal val="visible"/>
                                      </p:to>
                                    </p:set>
                                    <p:animEffect transition="in" filter="blinds(horizontal)">
                                      <p:cBhvr>
                                        <p:cTn id="40" dur="500"/>
                                        <p:tgtEl>
                                          <p:spTgt spid="351234">
                                            <p:txEl>
                                              <p:pRg st="9" end="9"/>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351234">
                                            <p:txEl>
                                              <p:pRg st="10" end="10"/>
                                            </p:txEl>
                                          </p:spTgt>
                                        </p:tgtEl>
                                        <p:attrNameLst>
                                          <p:attrName>style.visibility</p:attrName>
                                        </p:attrNameLst>
                                      </p:cBhvr>
                                      <p:to>
                                        <p:strVal val="visible"/>
                                      </p:to>
                                    </p:set>
                                    <p:animEffect transition="in" filter="blinds(horizontal)">
                                      <p:cBhvr>
                                        <p:cTn id="45" dur="500"/>
                                        <p:tgtEl>
                                          <p:spTgt spid="351234">
                                            <p:txEl>
                                              <p:pRg st="10" end="10"/>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351234">
                                            <p:txEl>
                                              <p:pRg st="11" end="11"/>
                                            </p:txEl>
                                          </p:spTgt>
                                        </p:tgtEl>
                                        <p:attrNameLst>
                                          <p:attrName>style.visibility</p:attrName>
                                        </p:attrNameLst>
                                      </p:cBhvr>
                                      <p:to>
                                        <p:strVal val="visible"/>
                                      </p:to>
                                    </p:set>
                                    <p:animEffect transition="in" filter="blinds(horizontal)">
                                      <p:cBhvr>
                                        <p:cTn id="50" dur="500"/>
                                        <p:tgtEl>
                                          <p:spTgt spid="351234">
                                            <p:txEl>
                                              <p:pRg st="11" end="11"/>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351234">
                                            <p:txEl>
                                              <p:pRg st="12" end="12"/>
                                            </p:txEl>
                                          </p:spTgt>
                                        </p:tgtEl>
                                        <p:attrNameLst>
                                          <p:attrName>style.visibility</p:attrName>
                                        </p:attrNameLst>
                                      </p:cBhvr>
                                      <p:to>
                                        <p:strVal val="visible"/>
                                      </p:to>
                                    </p:set>
                                    <p:animEffect transition="in" filter="blinds(horizontal)">
                                      <p:cBhvr>
                                        <p:cTn id="55" dur="500"/>
                                        <p:tgtEl>
                                          <p:spTgt spid="351234">
                                            <p:txEl>
                                              <p:pRg st="12" end="12"/>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351234">
                                            <p:txEl>
                                              <p:pRg st="13" end="13"/>
                                            </p:txEl>
                                          </p:spTgt>
                                        </p:tgtEl>
                                        <p:attrNameLst>
                                          <p:attrName>style.visibility</p:attrName>
                                        </p:attrNameLst>
                                      </p:cBhvr>
                                      <p:to>
                                        <p:strVal val="visible"/>
                                      </p:to>
                                    </p:set>
                                    <p:animEffect transition="in" filter="blinds(horizontal)">
                                      <p:cBhvr>
                                        <p:cTn id="60" dur="500"/>
                                        <p:tgtEl>
                                          <p:spTgt spid="351234">
                                            <p:txEl>
                                              <p:pRg st="13" end="13"/>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351234">
                                            <p:txEl>
                                              <p:pRg st="14" end="14"/>
                                            </p:txEl>
                                          </p:spTgt>
                                        </p:tgtEl>
                                        <p:attrNameLst>
                                          <p:attrName>style.visibility</p:attrName>
                                        </p:attrNameLst>
                                      </p:cBhvr>
                                      <p:to>
                                        <p:strVal val="visible"/>
                                      </p:to>
                                    </p:set>
                                    <p:animEffect transition="in" filter="blinds(horizontal)">
                                      <p:cBhvr>
                                        <p:cTn id="65" dur="500"/>
                                        <p:tgtEl>
                                          <p:spTgt spid="351234">
                                            <p:txEl>
                                              <p:pRg st="14" end="14"/>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351234">
                                            <p:txEl>
                                              <p:pRg st="15" end="15"/>
                                            </p:txEl>
                                          </p:spTgt>
                                        </p:tgtEl>
                                        <p:attrNameLst>
                                          <p:attrName>style.visibility</p:attrName>
                                        </p:attrNameLst>
                                      </p:cBhvr>
                                      <p:to>
                                        <p:strVal val="visible"/>
                                      </p:to>
                                    </p:set>
                                    <p:animEffect transition="in" filter="blinds(horizontal)">
                                      <p:cBhvr>
                                        <p:cTn id="70" dur="500"/>
                                        <p:tgtEl>
                                          <p:spTgt spid="351234">
                                            <p:txEl>
                                              <p:pRg st="15" end="15"/>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51236"/>
                                        </p:tgtEl>
                                        <p:attrNameLst>
                                          <p:attrName>style.visibility</p:attrName>
                                        </p:attrNameLst>
                                      </p:cBhvr>
                                      <p:to>
                                        <p:strVal val="visible"/>
                                      </p:to>
                                    </p:set>
                                    <p:animEffect transition="in" filter="blinds(horizontal)">
                                      <p:cBhvr>
                                        <p:cTn id="75" dur="500"/>
                                        <p:tgtEl>
                                          <p:spTgt spid="351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91EFEDFC-E666-51E8-3ECE-46DEAE545232}"/>
              </a:ext>
            </a:extLst>
          </p:cNvPr>
          <p:cNvSpPr>
            <a:spLocks noGrp="1" noChangeArrowheads="1"/>
          </p:cNvSpPr>
          <p:nvPr>
            <p:ph type="title"/>
          </p:nvPr>
        </p:nvSpPr>
        <p:spPr>
          <a:xfrm>
            <a:off x="739775" y="-1588"/>
            <a:ext cx="4246563" cy="425451"/>
          </a:xfrm>
        </p:spPr>
        <p:txBody>
          <a:bodyPr anchor="ctr"/>
          <a:lstStyle/>
          <a:p>
            <a:r>
              <a:rPr lang="zh-CN" altLang="en-US" sz="2800">
                <a:latin typeface="宋体" panose="02010600030101010101" pitchFamily="2" charset="-122"/>
                <a:ea typeface="宋体" panose="02010600030101010101" pitchFamily="2" charset="-122"/>
              </a:rPr>
              <a:t>操作数类型和存储方式</a:t>
            </a:r>
          </a:p>
        </p:txBody>
      </p:sp>
      <p:sp>
        <p:nvSpPr>
          <p:cNvPr id="352259" name="Rectangle 3">
            <a:extLst>
              <a:ext uri="{FF2B5EF4-FFF2-40B4-BE49-F238E27FC236}">
                <a16:creationId xmlns:a16="http://schemas.microsoft.com/office/drawing/2014/main" id="{0823B463-BF96-1F37-0F89-73D51D373556}"/>
              </a:ext>
            </a:extLst>
          </p:cNvPr>
          <p:cNvSpPr>
            <a:spLocks noGrp="1" noChangeArrowheads="1"/>
          </p:cNvSpPr>
          <p:nvPr>
            <p:ph idx="1"/>
          </p:nvPr>
        </p:nvSpPr>
        <p:spPr>
          <a:xfrm>
            <a:off x="474663" y="674688"/>
            <a:ext cx="8382000" cy="5783262"/>
          </a:xfrm>
        </p:spPr>
        <p:txBody>
          <a:bodyPr/>
          <a:lstStyle/>
          <a:p>
            <a:pPr marL="342900" indent="-342900">
              <a:lnSpc>
                <a:spcPct val="100000"/>
              </a:lnSpc>
              <a:spcBef>
                <a:spcPct val="15000"/>
              </a:spcBef>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操作数是指令处理的对象，与高级语言数据类型对应，基本类型有哪些？</a:t>
            </a:r>
          </a:p>
          <a:p>
            <a:pPr marL="342900" indent="-342900">
              <a:lnSpc>
                <a:spcPct val="100000"/>
              </a:lnSpc>
              <a:spcBef>
                <a:spcPct val="15000"/>
              </a:spcBef>
              <a:buFont typeface="Wingdings" panose="05000000000000000000" pitchFamily="2" charset="2"/>
              <a:buNone/>
            </a:pPr>
            <a:r>
              <a:rPr lang="zh-CN" altLang="en-US">
                <a:solidFill>
                  <a:srgbClr val="CC3300"/>
                </a:solidFill>
                <a:latin typeface="微软雅黑" panose="020B0503020204020204" pitchFamily="34" charset="-122"/>
                <a:ea typeface="微软雅黑" panose="020B0503020204020204" pitchFamily="34" charset="-122"/>
              </a:rPr>
              <a:t>地址（指针）</a:t>
            </a:r>
          </a:p>
          <a:p>
            <a:pPr marL="342900" indent="-342900">
              <a:lnSpc>
                <a:spcPct val="100000"/>
              </a:lnSpc>
              <a:spcBef>
                <a:spcPct val="15000"/>
              </a:spcBef>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     </a:t>
            </a:r>
            <a:r>
              <a:rPr lang="zh-CN" altLang="en-US">
                <a:solidFill>
                  <a:srgbClr val="0033CC"/>
                </a:solidFill>
                <a:latin typeface="微软雅黑" panose="020B0503020204020204" pitchFamily="34" charset="-122"/>
                <a:ea typeface="微软雅黑" panose="020B0503020204020204" pitchFamily="34" charset="-122"/>
              </a:rPr>
              <a:t>被看成无符号整数，用来参加运算以确定主</a:t>
            </a:r>
            <a:r>
              <a:rPr lang="en-US" altLang="zh-CN">
                <a:solidFill>
                  <a:srgbClr val="0033CC"/>
                </a:solidFill>
                <a:latin typeface="微软雅黑" panose="020B0503020204020204" pitchFamily="34" charset="-122"/>
                <a:ea typeface="微软雅黑" panose="020B0503020204020204" pitchFamily="34" charset="-122"/>
              </a:rPr>
              <a:t>(</a:t>
            </a:r>
            <a:r>
              <a:rPr lang="zh-CN" altLang="en-US">
                <a:solidFill>
                  <a:srgbClr val="0033CC"/>
                </a:solidFill>
                <a:latin typeface="微软雅黑" panose="020B0503020204020204" pitchFamily="34" charset="-122"/>
                <a:ea typeface="微软雅黑" panose="020B0503020204020204" pitchFamily="34" charset="-122"/>
              </a:rPr>
              <a:t>虚</a:t>
            </a:r>
            <a:r>
              <a:rPr lang="en-US" altLang="zh-CN">
                <a:solidFill>
                  <a:srgbClr val="0033CC"/>
                </a:solidFill>
                <a:latin typeface="微软雅黑" panose="020B0503020204020204" pitchFamily="34" charset="-122"/>
                <a:ea typeface="微软雅黑" panose="020B0503020204020204" pitchFamily="34" charset="-122"/>
              </a:rPr>
              <a:t>)</a:t>
            </a:r>
            <a:r>
              <a:rPr lang="zh-CN" altLang="en-US">
                <a:solidFill>
                  <a:srgbClr val="0033CC"/>
                </a:solidFill>
                <a:latin typeface="微软雅黑" panose="020B0503020204020204" pitchFamily="34" charset="-122"/>
                <a:ea typeface="微软雅黑" panose="020B0503020204020204" pitchFamily="34" charset="-122"/>
              </a:rPr>
              <a:t>存地址</a:t>
            </a:r>
          </a:p>
          <a:p>
            <a:pPr marL="342900" indent="-342900">
              <a:lnSpc>
                <a:spcPct val="100000"/>
              </a:lnSpc>
              <a:spcBef>
                <a:spcPct val="15000"/>
              </a:spcBef>
              <a:buFont typeface="Monotype Sorts"/>
              <a:buNone/>
            </a:pPr>
            <a:r>
              <a:rPr lang="zh-CN" altLang="en-US">
                <a:solidFill>
                  <a:srgbClr val="CC3300"/>
                </a:solidFill>
                <a:latin typeface="微软雅黑" panose="020B0503020204020204" pitchFamily="34" charset="-122"/>
                <a:ea typeface="微软雅黑" panose="020B0503020204020204" pitchFamily="34" charset="-122"/>
              </a:rPr>
              <a:t>数值数据</a:t>
            </a:r>
          </a:p>
          <a:p>
            <a:pPr marL="342900" indent="-342900">
              <a:lnSpc>
                <a:spcPct val="100000"/>
              </a:lnSpc>
              <a:spcBef>
                <a:spcPct val="15000"/>
              </a:spcBef>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     </a:t>
            </a:r>
            <a:r>
              <a:rPr lang="zh-CN" altLang="en-US">
                <a:solidFill>
                  <a:srgbClr val="0033CC"/>
                </a:solidFill>
                <a:latin typeface="微软雅黑" panose="020B0503020204020204" pitchFamily="34" charset="-122"/>
                <a:ea typeface="微软雅黑" panose="020B0503020204020204" pitchFamily="34" charset="-122"/>
              </a:rPr>
              <a:t>定点数</a:t>
            </a:r>
            <a:r>
              <a:rPr lang="en-US" altLang="zh-CN">
                <a:solidFill>
                  <a:srgbClr val="0033CC"/>
                </a:solidFill>
                <a:latin typeface="微软雅黑" panose="020B0503020204020204" pitchFamily="34" charset="-122"/>
                <a:ea typeface="微软雅黑" panose="020B0503020204020204" pitchFamily="34" charset="-122"/>
              </a:rPr>
              <a:t>(</a:t>
            </a:r>
            <a:r>
              <a:rPr lang="zh-CN" altLang="en-US">
                <a:solidFill>
                  <a:srgbClr val="0033CC"/>
                </a:solidFill>
                <a:latin typeface="微软雅黑" panose="020B0503020204020204" pitchFamily="34" charset="-122"/>
                <a:ea typeface="微软雅黑" panose="020B0503020204020204" pitchFamily="34" charset="-122"/>
              </a:rPr>
              <a:t>整数</a:t>
            </a:r>
            <a:r>
              <a:rPr lang="en-US" altLang="zh-CN">
                <a:solidFill>
                  <a:srgbClr val="0033CC"/>
                </a:solidFill>
                <a:latin typeface="微软雅黑" panose="020B0503020204020204" pitchFamily="34" charset="-122"/>
                <a:ea typeface="微软雅黑" panose="020B0503020204020204" pitchFamily="34" charset="-122"/>
              </a:rPr>
              <a:t>)</a:t>
            </a:r>
            <a:r>
              <a:rPr lang="zh-CN" altLang="en-US">
                <a:solidFill>
                  <a:srgbClr val="0033CC"/>
                </a:solidFill>
                <a:latin typeface="微软雅黑" panose="020B0503020204020204" pitchFamily="34" charset="-122"/>
                <a:ea typeface="微软雅黑" panose="020B0503020204020204" pitchFamily="34" charset="-122"/>
              </a:rPr>
              <a:t>：一般用二进制补码表示</a:t>
            </a:r>
          </a:p>
          <a:p>
            <a:pPr marL="342900" indent="-342900">
              <a:lnSpc>
                <a:spcPct val="100000"/>
              </a:lnSpc>
              <a:spcBef>
                <a:spcPct val="15000"/>
              </a:spcBef>
              <a:buFont typeface="Wingdings" panose="05000000000000000000" pitchFamily="2" charset="2"/>
              <a:buNone/>
            </a:pPr>
            <a:r>
              <a:rPr lang="zh-CN" altLang="en-US">
                <a:solidFill>
                  <a:srgbClr val="0033CC"/>
                </a:solidFill>
                <a:latin typeface="微软雅黑" panose="020B0503020204020204" pitchFamily="34" charset="-122"/>
                <a:ea typeface="微软雅黑" panose="020B0503020204020204" pitchFamily="34" charset="-122"/>
              </a:rPr>
              <a:t>     浮点数</a:t>
            </a:r>
            <a:r>
              <a:rPr lang="en-US" altLang="zh-CN">
                <a:solidFill>
                  <a:srgbClr val="0033CC"/>
                </a:solidFill>
                <a:latin typeface="微软雅黑" panose="020B0503020204020204" pitchFamily="34" charset="-122"/>
                <a:ea typeface="微软雅黑" panose="020B0503020204020204" pitchFamily="34" charset="-122"/>
              </a:rPr>
              <a:t>(</a:t>
            </a:r>
            <a:r>
              <a:rPr lang="zh-CN" altLang="en-US">
                <a:solidFill>
                  <a:srgbClr val="0033CC"/>
                </a:solidFill>
                <a:latin typeface="微软雅黑" panose="020B0503020204020204" pitchFamily="34" charset="-122"/>
                <a:ea typeface="微软雅黑" panose="020B0503020204020204" pitchFamily="34" charset="-122"/>
              </a:rPr>
              <a:t>实数</a:t>
            </a:r>
            <a:r>
              <a:rPr lang="en-US" altLang="zh-CN">
                <a:solidFill>
                  <a:srgbClr val="0033CC"/>
                </a:solidFill>
                <a:latin typeface="微软雅黑" panose="020B0503020204020204" pitchFamily="34" charset="-122"/>
                <a:ea typeface="微软雅黑" panose="020B0503020204020204" pitchFamily="34" charset="-122"/>
              </a:rPr>
              <a:t>)</a:t>
            </a:r>
            <a:r>
              <a:rPr lang="zh-CN" altLang="en-US">
                <a:solidFill>
                  <a:srgbClr val="0033CC"/>
                </a:solidFill>
                <a:latin typeface="微软雅黑" panose="020B0503020204020204" pitchFamily="34" charset="-122"/>
                <a:ea typeface="微软雅黑" panose="020B0503020204020204" pitchFamily="34" charset="-122"/>
              </a:rPr>
              <a:t>：大多数机器采用</a:t>
            </a:r>
            <a:r>
              <a:rPr lang="en-US" altLang="en-US">
                <a:solidFill>
                  <a:srgbClr val="0033CC"/>
                </a:solidFill>
                <a:latin typeface="微软雅黑" panose="020B0503020204020204" pitchFamily="34" charset="-122"/>
                <a:ea typeface="微软雅黑" panose="020B0503020204020204" pitchFamily="34" charset="-122"/>
              </a:rPr>
              <a:t>IEEE754</a:t>
            </a:r>
            <a:r>
              <a:rPr lang="zh-CN" altLang="en-US">
                <a:solidFill>
                  <a:srgbClr val="0033CC"/>
                </a:solidFill>
                <a:latin typeface="微软雅黑" panose="020B0503020204020204" pitchFamily="34" charset="-122"/>
                <a:ea typeface="微软雅黑" panose="020B0503020204020204" pitchFamily="34" charset="-122"/>
              </a:rPr>
              <a:t>标准</a:t>
            </a:r>
          </a:p>
          <a:p>
            <a:pPr marL="342900" indent="-342900">
              <a:lnSpc>
                <a:spcPct val="100000"/>
              </a:lnSpc>
              <a:spcBef>
                <a:spcPct val="15000"/>
              </a:spcBef>
              <a:buFont typeface="Wingdings" panose="05000000000000000000" pitchFamily="2" charset="2"/>
              <a:buNone/>
            </a:pPr>
            <a:r>
              <a:rPr lang="zh-CN" altLang="en-US">
                <a:solidFill>
                  <a:srgbClr val="0033CC"/>
                </a:solidFill>
                <a:latin typeface="微软雅黑" panose="020B0503020204020204" pitchFamily="34" charset="-122"/>
                <a:ea typeface="微软雅黑" panose="020B0503020204020204" pitchFamily="34" charset="-122"/>
              </a:rPr>
              <a:t>     </a:t>
            </a:r>
            <a:r>
              <a:rPr lang="zh-CN" altLang="en-US">
                <a:solidFill>
                  <a:srgbClr val="2E5C35"/>
                </a:solidFill>
                <a:latin typeface="微软雅黑" panose="020B0503020204020204" pitchFamily="34" charset="-122"/>
                <a:ea typeface="微软雅黑" panose="020B0503020204020204" pitchFamily="34" charset="-122"/>
              </a:rPr>
              <a:t>十进制数：用</a:t>
            </a:r>
            <a:r>
              <a:rPr lang="en-US" altLang="en-US">
                <a:solidFill>
                  <a:srgbClr val="2E5C35"/>
                </a:solidFill>
                <a:latin typeface="微软雅黑" panose="020B0503020204020204" pitchFamily="34" charset="-122"/>
                <a:ea typeface="微软雅黑" panose="020B0503020204020204" pitchFamily="34" charset="-122"/>
              </a:rPr>
              <a:t>NBCD</a:t>
            </a:r>
            <a:r>
              <a:rPr lang="zh-CN" altLang="en-US">
                <a:solidFill>
                  <a:srgbClr val="2E5C35"/>
                </a:solidFill>
                <a:latin typeface="微软雅黑" panose="020B0503020204020204" pitchFamily="34" charset="-122"/>
                <a:ea typeface="微软雅黑" panose="020B0503020204020204" pitchFamily="34" charset="-122"/>
              </a:rPr>
              <a:t>码表示，压缩</a:t>
            </a:r>
            <a:r>
              <a:rPr lang="en-US" altLang="zh-CN">
                <a:solidFill>
                  <a:srgbClr val="2E5C35"/>
                </a:solidFill>
                <a:latin typeface="微软雅黑" panose="020B0503020204020204" pitchFamily="34" charset="-122"/>
                <a:ea typeface="微软雅黑" panose="020B0503020204020204" pitchFamily="34" charset="-122"/>
              </a:rPr>
              <a:t>/</a:t>
            </a:r>
            <a:r>
              <a:rPr lang="zh-CN" altLang="en-US">
                <a:solidFill>
                  <a:srgbClr val="2E5C35"/>
                </a:solidFill>
                <a:latin typeface="微软雅黑" panose="020B0503020204020204" pitchFamily="34" charset="-122"/>
                <a:ea typeface="微软雅黑" panose="020B0503020204020204" pitchFamily="34" charset="-122"/>
              </a:rPr>
              <a:t>非压缩（汇编程序设计时用）</a:t>
            </a:r>
          </a:p>
          <a:p>
            <a:pPr marL="342900" indent="-342900">
              <a:lnSpc>
                <a:spcPct val="100000"/>
              </a:lnSpc>
              <a:spcBef>
                <a:spcPct val="15000"/>
              </a:spcBef>
              <a:buFont typeface="Monotype Sorts"/>
              <a:buNone/>
            </a:pPr>
            <a:r>
              <a:rPr lang="zh-CN" altLang="en-US">
                <a:solidFill>
                  <a:srgbClr val="CC3300"/>
                </a:solidFill>
                <a:latin typeface="微软雅黑" panose="020B0503020204020204" pitchFamily="34" charset="-122"/>
                <a:ea typeface="微软雅黑" panose="020B0503020204020204" pitchFamily="34" charset="-122"/>
              </a:rPr>
              <a:t>位、位串、字符和字符串</a:t>
            </a:r>
            <a:r>
              <a:rPr lang="zh-CN" altLang="en-US">
                <a:latin typeface="微软雅黑" panose="020B0503020204020204" pitchFamily="34" charset="-122"/>
                <a:ea typeface="微软雅黑" panose="020B0503020204020204" pitchFamily="34" charset="-122"/>
              </a:rPr>
              <a:t> </a:t>
            </a:r>
          </a:p>
          <a:p>
            <a:pPr marL="342900" indent="-342900">
              <a:lnSpc>
                <a:spcPct val="100000"/>
              </a:lnSpc>
              <a:spcBef>
                <a:spcPct val="15000"/>
              </a:spcBef>
              <a:buFont typeface="Monotype Sorts"/>
              <a:buChar char=" "/>
            </a:pPr>
            <a:r>
              <a:rPr lang="zh-CN" altLang="en-US">
                <a:latin typeface="微软雅黑" panose="020B0503020204020204" pitchFamily="34" charset="-122"/>
                <a:ea typeface="微软雅黑" panose="020B0503020204020204" pitchFamily="34" charset="-122"/>
              </a:rPr>
              <a:t>   </a:t>
            </a:r>
            <a:r>
              <a:rPr lang="zh-CN" altLang="en-US">
                <a:solidFill>
                  <a:srgbClr val="0033CC"/>
                </a:solidFill>
                <a:latin typeface="微软雅黑" panose="020B0503020204020204" pitchFamily="34" charset="-122"/>
                <a:ea typeface="微软雅黑" panose="020B0503020204020204" pitchFamily="34" charset="-122"/>
              </a:rPr>
              <a:t>用来表示文本、声音和图像等</a:t>
            </a:r>
            <a:endParaRPr lang="en-US" altLang="zh-CN">
              <a:solidFill>
                <a:srgbClr val="0033CC"/>
              </a:solidFill>
              <a:latin typeface="微软雅黑" panose="020B0503020204020204" pitchFamily="34" charset="-122"/>
              <a:ea typeface="微软雅黑" panose="020B0503020204020204" pitchFamily="34" charset="-122"/>
            </a:endParaRPr>
          </a:p>
          <a:p>
            <a:pPr lvl="2">
              <a:lnSpc>
                <a:spcPct val="100000"/>
              </a:lnSpc>
              <a:spcBef>
                <a:spcPct val="15000"/>
              </a:spcBef>
            </a:pPr>
            <a:r>
              <a:rPr lang="en-US" altLang="zh-CN" sz="2000">
                <a:latin typeface="微软雅黑" panose="020B0503020204020204" pitchFamily="34" charset="-122"/>
                <a:ea typeface="微软雅黑" panose="020B0503020204020204" pitchFamily="34" charset="-122"/>
              </a:rPr>
              <a:t>4 bits is a </a:t>
            </a:r>
            <a:r>
              <a:rPr lang="en-US" altLang="zh-CN" sz="2000">
                <a:solidFill>
                  <a:schemeClr val="accent1"/>
                </a:solidFill>
                <a:latin typeface="微软雅黑" panose="020B0503020204020204" pitchFamily="34" charset="-122"/>
                <a:ea typeface="微软雅黑" panose="020B0503020204020204" pitchFamily="34" charset="-122"/>
              </a:rPr>
              <a:t>nibble</a:t>
            </a:r>
            <a:r>
              <a:rPr lang="zh-CN" altLang="en-US" sz="2000">
                <a:solidFill>
                  <a:schemeClr val="accent1"/>
                </a:solidFill>
                <a:latin typeface="微软雅黑" panose="020B0503020204020204" pitchFamily="34" charset="-122"/>
                <a:ea typeface="微软雅黑" panose="020B0503020204020204" pitchFamily="34" charset="-122"/>
              </a:rPr>
              <a:t>（一个十六进制数字）</a:t>
            </a:r>
          </a:p>
          <a:p>
            <a:pPr lvl="2">
              <a:lnSpc>
                <a:spcPct val="100000"/>
              </a:lnSpc>
              <a:spcBef>
                <a:spcPct val="15000"/>
              </a:spcBef>
            </a:pPr>
            <a:r>
              <a:rPr lang="en-US" altLang="zh-CN" sz="2000">
                <a:latin typeface="微软雅黑" panose="020B0503020204020204" pitchFamily="34" charset="-122"/>
                <a:ea typeface="微软雅黑" panose="020B0503020204020204" pitchFamily="34" charset="-122"/>
              </a:rPr>
              <a:t>8 bits is a </a:t>
            </a:r>
            <a:r>
              <a:rPr lang="en-US" altLang="zh-CN" sz="2000">
                <a:solidFill>
                  <a:schemeClr val="accent1"/>
                </a:solidFill>
                <a:latin typeface="微软雅黑" panose="020B0503020204020204" pitchFamily="34" charset="-122"/>
                <a:ea typeface="微软雅黑" panose="020B0503020204020204" pitchFamily="34" charset="-122"/>
              </a:rPr>
              <a:t>byte</a:t>
            </a:r>
            <a:endParaRPr lang="en-US" altLang="zh-CN" sz="2000">
              <a:latin typeface="微软雅黑" panose="020B0503020204020204" pitchFamily="34" charset="-122"/>
              <a:ea typeface="微软雅黑" panose="020B0503020204020204" pitchFamily="34" charset="-122"/>
            </a:endParaRPr>
          </a:p>
          <a:p>
            <a:pPr lvl="2">
              <a:lnSpc>
                <a:spcPct val="100000"/>
              </a:lnSpc>
              <a:spcBef>
                <a:spcPct val="15000"/>
              </a:spcBef>
            </a:pPr>
            <a:r>
              <a:rPr lang="en-US" altLang="zh-CN" sz="2000">
                <a:latin typeface="微软雅黑" panose="020B0503020204020204" pitchFamily="34" charset="-122"/>
                <a:ea typeface="微软雅黑" panose="020B0503020204020204" pitchFamily="34" charset="-122"/>
              </a:rPr>
              <a:t>16 bits is a </a:t>
            </a:r>
            <a:r>
              <a:rPr lang="en-US" altLang="zh-CN" sz="2000">
                <a:solidFill>
                  <a:schemeClr val="accent1"/>
                </a:solidFill>
                <a:latin typeface="微软雅黑" panose="020B0503020204020204" pitchFamily="34" charset="-122"/>
                <a:ea typeface="微软雅黑" panose="020B0503020204020204" pitchFamily="34" charset="-122"/>
              </a:rPr>
              <a:t>half-word</a:t>
            </a:r>
            <a:r>
              <a:rPr lang="en-US" altLang="zh-CN" sz="2000">
                <a:latin typeface="微软雅黑" panose="020B0503020204020204" pitchFamily="34" charset="-122"/>
                <a:ea typeface="微软雅黑" panose="020B0503020204020204" pitchFamily="34" charset="-122"/>
              </a:rPr>
              <a:t> </a:t>
            </a:r>
          </a:p>
          <a:p>
            <a:pPr lvl="2">
              <a:lnSpc>
                <a:spcPct val="100000"/>
              </a:lnSpc>
              <a:spcBef>
                <a:spcPct val="15000"/>
              </a:spcBef>
            </a:pPr>
            <a:r>
              <a:rPr lang="en-US" altLang="zh-CN" sz="2000">
                <a:latin typeface="微软雅黑" panose="020B0503020204020204" pitchFamily="34" charset="-122"/>
                <a:ea typeface="微软雅黑" panose="020B0503020204020204" pitchFamily="34" charset="-122"/>
              </a:rPr>
              <a:t>32 bits is a </a:t>
            </a:r>
            <a:r>
              <a:rPr lang="en-US" altLang="zh-CN" sz="2000">
                <a:solidFill>
                  <a:schemeClr val="accent1"/>
                </a:solidFill>
                <a:latin typeface="微软雅黑" panose="020B0503020204020204" pitchFamily="34" charset="-122"/>
                <a:ea typeface="微软雅黑" panose="020B0503020204020204" pitchFamily="34" charset="-122"/>
              </a:rPr>
              <a:t>word</a:t>
            </a:r>
            <a:endParaRPr lang="zh-CN" altLang="en-US" sz="2000">
              <a:latin typeface="微软雅黑" panose="020B0503020204020204" pitchFamily="34" charset="-122"/>
              <a:ea typeface="微软雅黑" panose="020B0503020204020204" pitchFamily="34" charset="-122"/>
            </a:endParaRPr>
          </a:p>
          <a:p>
            <a:pPr marL="342900" indent="-342900">
              <a:lnSpc>
                <a:spcPct val="100000"/>
              </a:lnSpc>
              <a:spcBef>
                <a:spcPct val="15000"/>
              </a:spcBef>
              <a:buFont typeface="Monotype Sorts"/>
              <a:buNone/>
            </a:pPr>
            <a:r>
              <a:rPr lang="zh-CN" altLang="en-US">
                <a:solidFill>
                  <a:srgbClr val="CC3300"/>
                </a:solidFill>
                <a:latin typeface="微软雅黑" panose="020B0503020204020204" pitchFamily="34" charset="-122"/>
                <a:ea typeface="微软雅黑" panose="020B0503020204020204" pitchFamily="34" charset="-122"/>
              </a:rPr>
              <a:t>逻辑</a:t>
            </a:r>
            <a:r>
              <a:rPr lang="en-US" altLang="zh-CN">
                <a:solidFill>
                  <a:srgbClr val="CC3300"/>
                </a:solidFill>
                <a:latin typeface="微软雅黑" panose="020B0503020204020204" pitchFamily="34" charset="-122"/>
                <a:ea typeface="微软雅黑" panose="020B0503020204020204" pitchFamily="34" charset="-122"/>
              </a:rPr>
              <a:t>(</a:t>
            </a:r>
            <a:r>
              <a:rPr lang="zh-CN" altLang="en-US">
                <a:solidFill>
                  <a:srgbClr val="CC3300"/>
                </a:solidFill>
                <a:latin typeface="微软雅黑" panose="020B0503020204020204" pitchFamily="34" charset="-122"/>
                <a:ea typeface="微软雅黑" panose="020B0503020204020204" pitchFamily="34" charset="-122"/>
              </a:rPr>
              <a:t>布尔</a:t>
            </a:r>
            <a:r>
              <a:rPr lang="en-US" altLang="zh-CN">
                <a:solidFill>
                  <a:srgbClr val="CC3300"/>
                </a:solidFill>
                <a:latin typeface="微软雅黑" panose="020B0503020204020204" pitchFamily="34" charset="-122"/>
                <a:ea typeface="微软雅黑" panose="020B0503020204020204" pitchFamily="34" charset="-122"/>
              </a:rPr>
              <a:t>)</a:t>
            </a:r>
            <a:r>
              <a:rPr lang="zh-CN" altLang="en-US">
                <a:solidFill>
                  <a:srgbClr val="CC3300"/>
                </a:solidFill>
                <a:latin typeface="微软雅黑" panose="020B0503020204020204" pitchFamily="34" charset="-122"/>
                <a:ea typeface="微软雅黑" panose="020B0503020204020204" pitchFamily="34" charset="-122"/>
              </a:rPr>
              <a:t>数据</a:t>
            </a:r>
          </a:p>
          <a:p>
            <a:pPr marL="342900" indent="-342900">
              <a:lnSpc>
                <a:spcPct val="100000"/>
              </a:lnSpc>
              <a:spcBef>
                <a:spcPct val="15000"/>
              </a:spcBef>
              <a:buFont typeface="Monotype Sorts"/>
              <a:buChar char=" "/>
            </a:pPr>
            <a:r>
              <a:rPr lang="zh-CN" altLang="en-US">
                <a:latin typeface="微软雅黑" panose="020B0503020204020204" pitchFamily="34" charset="-122"/>
                <a:ea typeface="微软雅黑" panose="020B0503020204020204" pitchFamily="34" charset="-122"/>
              </a:rPr>
              <a:t>   按位操作（</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假／</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真）</a:t>
            </a:r>
          </a:p>
        </p:txBody>
      </p:sp>
      <p:sp>
        <p:nvSpPr>
          <p:cNvPr id="16389" name="Text Box 5">
            <a:extLst>
              <a:ext uri="{FF2B5EF4-FFF2-40B4-BE49-F238E27FC236}">
                <a16:creationId xmlns:a16="http://schemas.microsoft.com/office/drawing/2014/main" id="{451FD546-B13B-4E71-F30F-75605DDFC882}"/>
              </a:ext>
            </a:extLst>
          </p:cNvPr>
          <p:cNvSpPr txBox="1">
            <a:spLocks noChangeArrowheads="1"/>
          </p:cNvSpPr>
          <p:nvPr/>
        </p:nvSpPr>
        <p:spPr bwMode="auto">
          <a:xfrm>
            <a:off x="5664200" y="4787900"/>
            <a:ext cx="260350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ts val="2900"/>
              </a:lnSpc>
              <a:spcBef>
                <a:spcPct val="50000"/>
              </a:spcBef>
            </a:pPr>
            <a:r>
              <a:rPr lang="zh-CN" altLang="en-US" sz="2000">
                <a:latin typeface="微软雅黑" panose="020B0503020204020204" pitchFamily="34" charset="-122"/>
                <a:ea typeface="微软雅黑" panose="020B0503020204020204" pitchFamily="34" charset="-122"/>
              </a:rPr>
              <a:t>操作数存放在</a:t>
            </a:r>
            <a:r>
              <a:rPr lang="zh-CN" altLang="en-US" sz="2000">
                <a:solidFill>
                  <a:srgbClr val="FF0000"/>
                </a:solidFill>
                <a:latin typeface="微软雅黑" panose="020B0503020204020204" pitchFamily="34" charset="-122"/>
                <a:ea typeface="微软雅黑" panose="020B0503020204020204" pitchFamily="34" charset="-122"/>
              </a:rPr>
              <a:t>寄存器</a:t>
            </a:r>
            <a:r>
              <a:rPr lang="zh-CN" altLang="en-US" sz="2000">
                <a:latin typeface="微软雅黑" panose="020B0503020204020204" pitchFamily="34" charset="-122"/>
                <a:ea typeface="微软雅黑" panose="020B0503020204020204" pitchFamily="34" charset="-122"/>
              </a:rPr>
              <a:t>或</a:t>
            </a:r>
            <a:r>
              <a:rPr lang="zh-CN" altLang="en-US" sz="2000">
                <a:solidFill>
                  <a:srgbClr val="FF0000"/>
                </a:solidFill>
                <a:latin typeface="微软雅黑" panose="020B0503020204020204" pitchFamily="34" charset="-122"/>
                <a:ea typeface="微软雅黑" panose="020B0503020204020204" pitchFamily="34" charset="-122"/>
              </a:rPr>
              <a:t>内存单元</a:t>
            </a:r>
            <a:r>
              <a:rPr lang="zh-CN" altLang="en-US" sz="2000">
                <a:latin typeface="微软雅黑" panose="020B0503020204020204" pitchFamily="34" charset="-122"/>
                <a:ea typeface="微软雅黑" panose="020B0503020204020204" pitchFamily="34" charset="-122"/>
              </a:rPr>
              <a:t>中，也可以</a:t>
            </a:r>
            <a:r>
              <a:rPr lang="zh-CN" altLang="en-US" sz="2000">
                <a:solidFill>
                  <a:srgbClr val="FF0000"/>
                </a:solidFill>
                <a:latin typeface="微软雅黑" panose="020B0503020204020204" pitchFamily="34" charset="-122"/>
                <a:ea typeface="微软雅黑" panose="020B0503020204020204" pitchFamily="34" charset="-122"/>
              </a:rPr>
              <a:t>立即数</a:t>
            </a:r>
            <a:r>
              <a:rPr lang="zh-CN" altLang="en-US" sz="2000">
                <a:latin typeface="微软雅黑" panose="020B0503020204020204" pitchFamily="34" charset="-122"/>
                <a:ea typeface="微软雅黑" panose="020B0503020204020204" pitchFamily="34" charset="-122"/>
              </a:rPr>
              <a:t>的方式直接出现在</a:t>
            </a:r>
            <a:r>
              <a:rPr lang="zh-CN" altLang="en-US" sz="2000">
                <a:solidFill>
                  <a:srgbClr val="0033CC"/>
                </a:solidFill>
                <a:latin typeface="微软雅黑" panose="020B0503020204020204" pitchFamily="34" charset="-122"/>
                <a:ea typeface="微软雅黑" panose="020B0503020204020204" pitchFamily="34" charset="-122"/>
              </a:rPr>
              <a:t>指令中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2259">
                                            <p:txEl>
                                              <p:pRg st="1" end="1"/>
                                            </p:txEl>
                                          </p:spTgt>
                                        </p:tgtEl>
                                        <p:attrNameLst>
                                          <p:attrName>style.visibility</p:attrName>
                                        </p:attrNameLst>
                                      </p:cBhvr>
                                      <p:to>
                                        <p:strVal val="visible"/>
                                      </p:to>
                                    </p:set>
                                    <p:animEffect transition="in" filter="blinds(horizontal)">
                                      <p:cBhvr>
                                        <p:cTn id="7" dur="500"/>
                                        <p:tgtEl>
                                          <p:spTgt spid="35225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2259">
                                            <p:txEl>
                                              <p:pRg st="2" end="2"/>
                                            </p:txEl>
                                          </p:spTgt>
                                        </p:tgtEl>
                                        <p:attrNameLst>
                                          <p:attrName>style.visibility</p:attrName>
                                        </p:attrNameLst>
                                      </p:cBhvr>
                                      <p:to>
                                        <p:strVal val="visible"/>
                                      </p:to>
                                    </p:set>
                                    <p:animEffect transition="in" filter="blinds(horizontal)">
                                      <p:cBhvr>
                                        <p:cTn id="10" dur="500"/>
                                        <p:tgtEl>
                                          <p:spTgt spid="352259">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52259">
                                            <p:txEl>
                                              <p:pRg st="3" end="3"/>
                                            </p:txEl>
                                          </p:spTgt>
                                        </p:tgtEl>
                                        <p:attrNameLst>
                                          <p:attrName>style.visibility</p:attrName>
                                        </p:attrNameLst>
                                      </p:cBhvr>
                                      <p:to>
                                        <p:strVal val="visible"/>
                                      </p:to>
                                    </p:set>
                                    <p:animEffect transition="in" filter="blinds(horizontal)">
                                      <p:cBhvr>
                                        <p:cTn id="15" dur="500"/>
                                        <p:tgtEl>
                                          <p:spTgt spid="35225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52259">
                                            <p:txEl>
                                              <p:pRg st="4" end="4"/>
                                            </p:txEl>
                                          </p:spTgt>
                                        </p:tgtEl>
                                        <p:attrNameLst>
                                          <p:attrName>style.visibility</p:attrName>
                                        </p:attrNameLst>
                                      </p:cBhvr>
                                      <p:to>
                                        <p:strVal val="visible"/>
                                      </p:to>
                                    </p:set>
                                    <p:animEffect transition="in" filter="blinds(horizontal)">
                                      <p:cBhvr>
                                        <p:cTn id="18" dur="500"/>
                                        <p:tgtEl>
                                          <p:spTgt spid="352259">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52259">
                                            <p:txEl>
                                              <p:pRg st="5" end="5"/>
                                            </p:txEl>
                                          </p:spTgt>
                                        </p:tgtEl>
                                        <p:attrNameLst>
                                          <p:attrName>style.visibility</p:attrName>
                                        </p:attrNameLst>
                                      </p:cBhvr>
                                      <p:to>
                                        <p:strVal val="visible"/>
                                      </p:to>
                                    </p:set>
                                    <p:animEffect transition="in" filter="blinds(horizontal)">
                                      <p:cBhvr>
                                        <p:cTn id="21" dur="500"/>
                                        <p:tgtEl>
                                          <p:spTgt spid="352259">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352259">
                                            <p:txEl>
                                              <p:pRg st="6" end="6"/>
                                            </p:txEl>
                                          </p:spTgt>
                                        </p:tgtEl>
                                        <p:attrNameLst>
                                          <p:attrName>style.visibility</p:attrName>
                                        </p:attrNameLst>
                                      </p:cBhvr>
                                      <p:to>
                                        <p:strVal val="visible"/>
                                      </p:to>
                                    </p:set>
                                    <p:animEffect transition="in" filter="blinds(horizontal)">
                                      <p:cBhvr>
                                        <p:cTn id="26" dur="500"/>
                                        <p:tgtEl>
                                          <p:spTgt spid="352259">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52259">
                                            <p:txEl>
                                              <p:pRg st="7" end="7"/>
                                            </p:txEl>
                                          </p:spTgt>
                                        </p:tgtEl>
                                        <p:attrNameLst>
                                          <p:attrName>style.visibility</p:attrName>
                                        </p:attrNameLst>
                                      </p:cBhvr>
                                      <p:to>
                                        <p:strVal val="visible"/>
                                      </p:to>
                                    </p:set>
                                    <p:animEffect transition="in" filter="blinds(horizontal)">
                                      <p:cBhvr>
                                        <p:cTn id="31" dur="500"/>
                                        <p:tgtEl>
                                          <p:spTgt spid="352259">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52259">
                                            <p:txEl>
                                              <p:pRg st="8" end="8"/>
                                            </p:txEl>
                                          </p:spTgt>
                                        </p:tgtEl>
                                        <p:attrNameLst>
                                          <p:attrName>style.visibility</p:attrName>
                                        </p:attrNameLst>
                                      </p:cBhvr>
                                      <p:to>
                                        <p:strVal val="visible"/>
                                      </p:to>
                                    </p:set>
                                    <p:animEffect transition="in" filter="blinds(horizontal)">
                                      <p:cBhvr>
                                        <p:cTn id="34" dur="500"/>
                                        <p:tgtEl>
                                          <p:spTgt spid="352259">
                                            <p:txEl>
                                              <p:pRg st="8" end="8"/>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352259">
                                            <p:txEl>
                                              <p:pRg st="9" end="9"/>
                                            </p:txEl>
                                          </p:spTgt>
                                        </p:tgtEl>
                                        <p:attrNameLst>
                                          <p:attrName>style.visibility</p:attrName>
                                        </p:attrNameLst>
                                      </p:cBhvr>
                                      <p:to>
                                        <p:strVal val="visible"/>
                                      </p:to>
                                    </p:set>
                                    <p:animEffect transition="in" filter="blinds(horizontal)">
                                      <p:cBhvr>
                                        <p:cTn id="39" dur="500"/>
                                        <p:tgtEl>
                                          <p:spTgt spid="352259">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352259">
                                            <p:txEl>
                                              <p:pRg st="10" end="10"/>
                                            </p:txEl>
                                          </p:spTgt>
                                        </p:tgtEl>
                                        <p:attrNameLst>
                                          <p:attrName>style.visibility</p:attrName>
                                        </p:attrNameLst>
                                      </p:cBhvr>
                                      <p:to>
                                        <p:strVal val="visible"/>
                                      </p:to>
                                    </p:set>
                                    <p:animEffect transition="in" filter="blinds(horizontal)">
                                      <p:cBhvr>
                                        <p:cTn id="42" dur="500"/>
                                        <p:tgtEl>
                                          <p:spTgt spid="352259">
                                            <p:txEl>
                                              <p:pRg st="10" end="1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52259">
                                            <p:txEl>
                                              <p:pRg st="11" end="11"/>
                                            </p:txEl>
                                          </p:spTgt>
                                        </p:tgtEl>
                                        <p:attrNameLst>
                                          <p:attrName>style.visibility</p:attrName>
                                        </p:attrNameLst>
                                      </p:cBhvr>
                                      <p:to>
                                        <p:strVal val="visible"/>
                                      </p:to>
                                    </p:set>
                                    <p:animEffect transition="in" filter="blinds(horizontal)">
                                      <p:cBhvr>
                                        <p:cTn id="45" dur="500"/>
                                        <p:tgtEl>
                                          <p:spTgt spid="352259">
                                            <p:txEl>
                                              <p:pRg st="11" end="11"/>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352259">
                                            <p:txEl>
                                              <p:pRg st="12" end="12"/>
                                            </p:txEl>
                                          </p:spTgt>
                                        </p:tgtEl>
                                        <p:attrNameLst>
                                          <p:attrName>style.visibility</p:attrName>
                                        </p:attrNameLst>
                                      </p:cBhvr>
                                      <p:to>
                                        <p:strVal val="visible"/>
                                      </p:to>
                                    </p:set>
                                    <p:animEffect transition="in" filter="blinds(horizontal)">
                                      <p:cBhvr>
                                        <p:cTn id="48" dur="500"/>
                                        <p:tgtEl>
                                          <p:spTgt spid="352259">
                                            <p:txEl>
                                              <p:pRg st="12" end="12"/>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52259">
                                            <p:txEl>
                                              <p:pRg st="13" end="13"/>
                                            </p:txEl>
                                          </p:spTgt>
                                        </p:tgtEl>
                                        <p:attrNameLst>
                                          <p:attrName>style.visibility</p:attrName>
                                        </p:attrNameLst>
                                      </p:cBhvr>
                                      <p:to>
                                        <p:strVal val="visible"/>
                                      </p:to>
                                    </p:set>
                                    <p:animEffect transition="in" filter="blinds(horizontal)">
                                      <p:cBhvr>
                                        <p:cTn id="53" dur="500"/>
                                        <p:tgtEl>
                                          <p:spTgt spid="352259">
                                            <p:txEl>
                                              <p:pRg st="13" end="13"/>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352259">
                                            <p:txEl>
                                              <p:pRg st="14" end="14"/>
                                            </p:txEl>
                                          </p:spTgt>
                                        </p:tgtEl>
                                        <p:attrNameLst>
                                          <p:attrName>style.visibility</p:attrName>
                                        </p:attrNameLst>
                                      </p:cBhvr>
                                      <p:to>
                                        <p:strVal val="visible"/>
                                      </p:to>
                                    </p:set>
                                    <p:animEffect transition="in" filter="blinds(horizontal)">
                                      <p:cBhvr>
                                        <p:cTn id="56" dur="500"/>
                                        <p:tgtEl>
                                          <p:spTgt spid="352259">
                                            <p:txEl>
                                              <p:pRg st="14" end="14"/>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6389"/>
                                        </p:tgtEl>
                                        <p:attrNameLst>
                                          <p:attrName>style.visibility</p:attrName>
                                        </p:attrNameLst>
                                      </p:cBhvr>
                                      <p:to>
                                        <p:strVal val="visible"/>
                                      </p:to>
                                    </p:set>
                                    <p:animEffect transition="in" filter="blinds(horizontal)">
                                      <p:cBhvr>
                                        <p:cTn id="61"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04B63B37-F116-0B3A-9D63-50FB757C55DE}"/>
              </a:ext>
            </a:extLst>
          </p:cNvPr>
          <p:cNvSpPr>
            <a:spLocks noGrp="1" noChangeArrowheads="1"/>
          </p:cNvSpPr>
          <p:nvPr>
            <p:ph type="title"/>
          </p:nvPr>
        </p:nvSpPr>
        <p:spPr>
          <a:xfrm>
            <a:off x="711200" y="85725"/>
            <a:ext cx="4705350" cy="373063"/>
          </a:xfrm>
        </p:spPr>
        <p:txBody>
          <a:bodyPr/>
          <a:lstStyle/>
          <a:p>
            <a:r>
              <a:rPr lang="en-US" altLang="zh-CN">
                <a:ea typeface="宋体" panose="02010600030101010101" pitchFamily="2" charset="-122"/>
              </a:rPr>
              <a:t>IA-32 &amp; RISC-V Data Type</a:t>
            </a:r>
          </a:p>
        </p:txBody>
      </p:sp>
      <p:sp>
        <p:nvSpPr>
          <p:cNvPr id="355331" name="Rectangle 3">
            <a:extLst>
              <a:ext uri="{FF2B5EF4-FFF2-40B4-BE49-F238E27FC236}">
                <a16:creationId xmlns:a16="http://schemas.microsoft.com/office/drawing/2014/main" id="{610BD3DD-EA55-0256-C925-24C88E22CCCB}"/>
              </a:ext>
            </a:extLst>
          </p:cNvPr>
          <p:cNvSpPr>
            <a:spLocks noGrp="1" noChangeArrowheads="1"/>
          </p:cNvSpPr>
          <p:nvPr>
            <p:ph idx="1"/>
          </p:nvPr>
        </p:nvSpPr>
        <p:spPr>
          <a:xfrm>
            <a:off x="490538" y="588963"/>
            <a:ext cx="7794625" cy="6024562"/>
          </a:xfrm>
        </p:spPr>
        <p:txBody>
          <a:bodyPr/>
          <a:lstStyle/>
          <a:p>
            <a:pPr marL="342900" indent="-342900">
              <a:lnSpc>
                <a:spcPct val="100000"/>
              </a:lnSpc>
              <a:spcBef>
                <a:spcPct val="20000"/>
              </a:spcBef>
            </a:pPr>
            <a:r>
              <a:rPr lang="en-US" altLang="zh-CN">
                <a:latin typeface="微软雅黑" panose="020B0503020204020204" pitchFamily="34" charset="-122"/>
                <a:ea typeface="微软雅黑" panose="020B0503020204020204" pitchFamily="34" charset="-122"/>
              </a:rPr>
              <a:t>IA-32</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基本类型：</a:t>
            </a:r>
          </a:p>
          <a:p>
            <a:pPr lvl="2">
              <a:lnSpc>
                <a:spcPct val="100000"/>
              </a:lnSpc>
              <a:spcBef>
                <a:spcPct val="20000"/>
              </a:spcBef>
            </a:pPr>
            <a:r>
              <a:rPr lang="zh-CN" altLang="en-US" sz="2000">
                <a:latin typeface="微软雅黑" panose="020B0503020204020204" pitchFamily="34" charset="-122"/>
                <a:ea typeface="微软雅黑" panose="020B0503020204020204" pitchFamily="34" charset="-122"/>
              </a:rPr>
              <a:t>字节、字</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、双字</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、四字</a:t>
            </a:r>
            <a:r>
              <a:rPr lang="en-US" altLang="zh-CN" sz="2000">
                <a:latin typeface="微软雅黑" panose="020B0503020204020204" pitchFamily="34" charset="-122"/>
                <a:ea typeface="微软雅黑" panose="020B0503020204020204" pitchFamily="34" charset="-122"/>
              </a:rPr>
              <a:t>(64</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 </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整数：</a:t>
            </a:r>
          </a:p>
          <a:p>
            <a:pPr lvl="2">
              <a:lnSpc>
                <a:spcPct val="100000"/>
              </a:lnSpc>
              <a:spcBef>
                <a:spcPct val="20000"/>
              </a:spcBef>
            </a:pPr>
            <a:r>
              <a:rPr lang="zh-CN" altLang="en-US" sz="2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64</a:t>
            </a:r>
            <a:r>
              <a:rPr lang="zh-CN" altLang="en-US" sz="2000">
                <a:latin typeface="微软雅黑" panose="020B0503020204020204" pitchFamily="34" charset="-122"/>
                <a:ea typeface="微软雅黑" panose="020B0503020204020204" pitchFamily="34" charset="-122"/>
              </a:rPr>
              <a:t>位三种</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补码表示的整数</a:t>
            </a:r>
          </a:p>
          <a:p>
            <a:pPr lvl="2">
              <a:lnSpc>
                <a:spcPct val="100000"/>
              </a:lnSpc>
              <a:spcBef>
                <a:spcPct val="20000"/>
              </a:spcBef>
            </a:pPr>
            <a:r>
              <a:rPr lang="zh-CN" altLang="en-US" sz="2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18</a:t>
            </a:r>
            <a:r>
              <a:rPr lang="zh-CN" altLang="en-US" sz="2000">
                <a:latin typeface="微软雅黑" panose="020B0503020204020204" pitchFamily="34" charset="-122"/>
                <a:ea typeface="微软雅黑" panose="020B0503020204020204" pitchFamily="34" charset="-122"/>
              </a:rPr>
              <a:t>位压缩</a:t>
            </a:r>
            <a:r>
              <a:rPr lang="en-US" altLang="zh-CN" sz="2000">
                <a:latin typeface="微软雅黑" panose="020B0503020204020204" pitchFamily="34" charset="-122"/>
                <a:ea typeface="微软雅黑" panose="020B0503020204020204" pitchFamily="34" charset="-122"/>
              </a:rPr>
              <a:t>8421</a:t>
            </a:r>
            <a:r>
              <a:rPr lang="zh-CN" altLang="en-US" sz="2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BCD</a:t>
            </a:r>
            <a:r>
              <a:rPr lang="zh-CN" altLang="en-US" sz="2000">
                <a:latin typeface="微软雅黑" panose="020B0503020204020204" pitchFamily="34" charset="-122"/>
                <a:ea typeface="微软雅黑" panose="020B0503020204020204" pitchFamily="34" charset="-122"/>
              </a:rPr>
              <a:t>码表示的十进制整数</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无符号整数（</a:t>
            </a:r>
            <a:r>
              <a:rPr lang="en-US" altLang="zh-CN" sz="2000">
                <a:latin typeface="微软雅黑" panose="020B0503020204020204" pitchFamily="34" charset="-122"/>
                <a:ea typeface="微软雅黑" panose="020B0503020204020204" pitchFamily="34" charset="-122"/>
              </a:rPr>
              <a:t>8</a:t>
            </a:r>
            <a:r>
              <a:rPr lang="zh-CN" altLang="en-US" sz="200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或</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近指针：</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位段内偏移（有效地址）</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浮点数</a:t>
            </a:r>
            <a:r>
              <a:rPr lang="zh-CN" altLang="en-US" sz="200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a:latin typeface="微软雅黑" panose="020B0503020204020204" pitchFamily="34" charset="-122"/>
                <a:ea typeface="微软雅黑" panose="020B0503020204020204" pitchFamily="34" charset="-122"/>
                <a:sym typeface="Wingdings" panose="05000000000000000000" pitchFamily="2" charset="2"/>
              </a:rPr>
              <a:t>IEEE 754</a:t>
            </a:r>
            <a:r>
              <a:rPr lang="zh-CN" altLang="en-US" sz="200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a:latin typeface="微软雅黑" panose="020B0503020204020204" pitchFamily="34" charset="-122"/>
                <a:ea typeface="微软雅黑" panose="020B0503020204020204" pitchFamily="34" charset="-122"/>
                <a:sym typeface="Wingdings" panose="05000000000000000000" pitchFamily="2" charset="2"/>
              </a:rPr>
              <a:t>80</a:t>
            </a:r>
            <a:r>
              <a:rPr lang="zh-CN" altLang="en-US" sz="2000">
                <a:latin typeface="微软雅黑" panose="020B0503020204020204" pitchFamily="34" charset="-122"/>
                <a:ea typeface="微软雅黑" panose="020B0503020204020204" pitchFamily="34" charset="-122"/>
                <a:sym typeface="Wingdings" panose="05000000000000000000" pitchFamily="2" charset="2"/>
              </a:rPr>
              <a:t>位扩展精度浮点数寄存器）</a:t>
            </a:r>
          </a:p>
          <a:p>
            <a:pPr marL="342900" indent="-342900">
              <a:lnSpc>
                <a:spcPct val="100000"/>
              </a:lnSpc>
              <a:spcBef>
                <a:spcPct val="20000"/>
              </a:spcBef>
            </a:pPr>
            <a:r>
              <a:rPr lang="en-US" altLang="zh-CN">
                <a:latin typeface="微软雅黑" panose="020B0503020204020204" pitchFamily="34" charset="-122"/>
                <a:ea typeface="微软雅黑" panose="020B0503020204020204" pitchFamily="34" charset="-122"/>
                <a:sym typeface="Wingdings" panose="05000000000000000000" pitchFamily="2" charset="2"/>
              </a:rPr>
              <a:t>RISC-V</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基本类型：</a:t>
            </a:r>
          </a:p>
          <a:p>
            <a:pPr lvl="2">
              <a:lnSpc>
                <a:spcPct val="100000"/>
              </a:lnSpc>
              <a:spcBef>
                <a:spcPct val="20000"/>
              </a:spcBef>
            </a:pPr>
            <a:r>
              <a:rPr lang="zh-CN" altLang="en-US" sz="2000">
                <a:latin typeface="微软雅黑" panose="020B0503020204020204" pitchFamily="34" charset="-122"/>
                <a:ea typeface="微软雅黑" panose="020B0503020204020204" pitchFamily="34" charset="-122"/>
              </a:rPr>
              <a:t>字节、半字</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、字</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、双字</a:t>
            </a:r>
            <a:r>
              <a:rPr lang="en-US" altLang="zh-CN" sz="2000">
                <a:latin typeface="微软雅黑" panose="020B0503020204020204" pitchFamily="34" charset="-122"/>
                <a:ea typeface="微软雅黑" panose="020B0503020204020204" pitchFamily="34" charset="-122"/>
              </a:rPr>
              <a:t>(64</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 </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整数： </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64</a:t>
            </a:r>
            <a:r>
              <a:rPr lang="zh-CN" altLang="en-US" sz="2000">
                <a:latin typeface="微软雅黑" panose="020B0503020204020204" pitchFamily="34" charset="-122"/>
                <a:ea typeface="微软雅黑" panose="020B0503020204020204" pitchFamily="34" charset="-122"/>
              </a:rPr>
              <a:t>位三种</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补码表示的整数</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无符号整数：（</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a:t>
            </a:r>
          </a:p>
          <a:p>
            <a:pPr marL="742950" lvl="1" indent="-285750">
              <a:lnSpc>
                <a:spcPct val="100000"/>
              </a:lnSpc>
              <a:spcBef>
                <a:spcPct val="20000"/>
              </a:spcBef>
            </a:pPr>
            <a:r>
              <a:rPr lang="zh-CN" altLang="en-US" sz="2000">
                <a:latin typeface="微软雅黑" panose="020B0503020204020204" pitchFamily="34" charset="-122"/>
                <a:ea typeface="微软雅黑" panose="020B0503020204020204" pitchFamily="34" charset="-122"/>
              </a:rPr>
              <a:t>浮点数</a:t>
            </a:r>
            <a:r>
              <a:rPr lang="zh-CN" altLang="en-US" sz="200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a:latin typeface="微软雅黑" panose="020B0503020204020204" pitchFamily="34" charset="-122"/>
                <a:ea typeface="微软雅黑" panose="020B0503020204020204" pitchFamily="34" charset="-122"/>
                <a:sym typeface="Wingdings" panose="05000000000000000000" pitchFamily="2" charset="2"/>
              </a:rPr>
              <a:t>IEEE 754</a:t>
            </a:r>
            <a:r>
              <a:rPr lang="zh-CN" altLang="en-US" sz="200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a:latin typeface="微软雅黑" panose="020B0503020204020204" pitchFamily="34" charset="-122"/>
                <a:ea typeface="微软雅黑" panose="020B0503020204020204" pitchFamily="34" charset="-122"/>
                <a:sym typeface="Wingdings" panose="05000000000000000000" pitchFamily="2" charset="2"/>
              </a:rPr>
              <a:t>32</a:t>
            </a:r>
            <a:r>
              <a:rPr lang="zh-CN" altLang="en-US" sz="2000">
                <a:latin typeface="微软雅黑" panose="020B0503020204020204" pitchFamily="34" charset="-122"/>
                <a:ea typeface="微软雅黑" panose="020B0503020204020204" pitchFamily="34" charset="-122"/>
                <a:sym typeface="Wingdings" panose="05000000000000000000" pitchFamily="2" charset="2"/>
              </a:rPr>
              <a:t>位</a:t>
            </a:r>
            <a:r>
              <a:rPr lang="en-US" altLang="zh-CN" sz="2000">
                <a:latin typeface="微软雅黑" panose="020B0503020204020204" pitchFamily="34" charset="-122"/>
                <a:ea typeface="微软雅黑" panose="020B0503020204020204" pitchFamily="34" charset="-122"/>
                <a:sym typeface="Wingdings" panose="05000000000000000000" pitchFamily="2" charset="2"/>
              </a:rPr>
              <a:t>/64</a:t>
            </a:r>
            <a:r>
              <a:rPr lang="zh-CN" altLang="en-US" sz="2000">
                <a:latin typeface="微软雅黑" panose="020B0503020204020204" pitchFamily="34" charset="-122"/>
                <a:ea typeface="微软雅黑" panose="020B0503020204020204" pitchFamily="34" charset="-122"/>
                <a:sym typeface="Wingdings" panose="05000000000000000000" pitchFamily="2" charset="2"/>
              </a:rPr>
              <a:t>位浮点数寄存器）</a:t>
            </a:r>
          </a:p>
          <a:p>
            <a:pPr marL="742950" lvl="1" indent="-285750">
              <a:lnSpc>
                <a:spcPct val="100000"/>
              </a:lnSpc>
              <a:spcBef>
                <a:spcPct val="20000"/>
              </a:spcBef>
              <a:buFontTx/>
              <a:buNone/>
            </a:pPr>
            <a:endParaRPr lang="zh-CN" altLang="en-US" sz="200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5331">
                                            <p:txEl>
                                              <p:pRg st="1" end="1"/>
                                            </p:txEl>
                                          </p:spTgt>
                                        </p:tgtEl>
                                        <p:attrNameLst>
                                          <p:attrName>style.visibility</p:attrName>
                                        </p:attrNameLst>
                                      </p:cBhvr>
                                      <p:to>
                                        <p:strVal val="visible"/>
                                      </p:to>
                                    </p:set>
                                    <p:animEffect transition="in" filter="blinds(horizontal)">
                                      <p:cBhvr>
                                        <p:cTn id="7" dur="500"/>
                                        <p:tgtEl>
                                          <p:spTgt spid="3553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5331">
                                            <p:txEl>
                                              <p:pRg st="2" end="2"/>
                                            </p:txEl>
                                          </p:spTgt>
                                        </p:tgtEl>
                                        <p:attrNameLst>
                                          <p:attrName>style.visibility</p:attrName>
                                        </p:attrNameLst>
                                      </p:cBhvr>
                                      <p:to>
                                        <p:strVal val="visible"/>
                                      </p:to>
                                    </p:set>
                                    <p:animEffect transition="in" filter="blinds(horizontal)">
                                      <p:cBhvr>
                                        <p:cTn id="10" dur="500"/>
                                        <p:tgtEl>
                                          <p:spTgt spid="355331">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55331">
                                            <p:txEl>
                                              <p:pRg st="3" end="3"/>
                                            </p:txEl>
                                          </p:spTgt>
                                        </p:tgtEl>
                                        <p:attrNameLst>
                                          <p:attrName>style.visibility</p:attrName>
                                        </p:attrNameLst>
                                      </p:cBhvr>
                                      <p:to>
                                        <p:strVal val="visible"/>
                                      </p:to>
                                    </p:set>
                                    <p:animEffect transition="in" filter="blinds(horizontal)">
                                      <p:cBhvr>
                                        <p:cTn id="15" dur="500"/>
                                        <p:tgtEl>
                                          <p:spTgt spid="355331">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55331">
                                            <p:txEl>
                                              <p:pRg st="4" end="4"/>
                                            </p:txEl>
                                          </p:spTgt>
                                        </p:tgtEl>
                                        <p:attrNameLst>
                                          <p:attrName>style.visibility</p:attrName>
                                        </p:attrNameLst>
                                      </p:cBhvr>
                                      <p:to>
                                        <p:strVal val="visible"/>
                                      </p:to>
                                    </p:set>
                                    <p:animEffect transition="in" filter="blinds(horizontal)">
                                      <p:cBhvr>
                                        <p:cTn id="18" dur="500"/>
                                        <p:tgtEl>
                                          <p:spTgt spid="35533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55331">
                                            <p:txEl>
                                              <p:pRg st="5" end="5"/>
                                            </p:txEl>
                                          </p:spTgt>
                                        </p:tgtEl>
                                        <p:attrNameLst>
                                          <p:attrName>style.visibility</p:attrName>
                                        </p:attrNameLst>
                                      </p:cBhvr>
                                      <p:to>
                                        <p:strVal val="visible"/>
                                      </p:to>
                                    </p:set>
                                    <p:animEffect transition="in" filter="blinds(horizontal)">
                                      <p:cBhvr>
                                        <p:cTn id="21" dur="500"/>
                                        <p:tgtEl>
                                          <p:spTgt spid="355331">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355331">
                                            <p:txEl>
                                              <p:pRg st="6" end="6"/>
                                            </p:txEl>
                                          </p:spTgt>
                                        </p:tgtEl>
                                        <p:attrNameLst>
                                          <p:attrName>style.visibility</p:attrName>
                                        </p:attrNameLst>
                                      </p:cBhvr>
                                      <p:to>
                                        <p:strVal val="visible"/>
                                      </p:to>
                                    </p:set>
                                    <p:animEffect transition="in" filter="blinds(horizontal)">
                                      <p:cBhvr>
                                        <p:cTn id="26" dur="500"/>
                                        <p:tgtEl>
                                          <p:spTgt spid="355331">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55331">
                                            <p:txEl>
                                              <p:pRg st="7" end="7"/>
                                            </p:txEl>
                                          </p:spTgt>
                                        </p:tgtEl>
                                        <p:attrNameLst>
                                          <p:attrName>style.visibility</p:attrName>
                                        </p:attrNameLst>
                                      </p:cBhvr>
                                      <p:to>
                                        <p:strVal val="visible"/>
                                      </p:to>
                                    </p:set>
                                    <p:animEffect transition="in" filter="blinds(horizontal)">
                                      <p:cBhvr>
                                        <p:cTn id="31" dur="500"/>
                                        <p:tgtEl>
                                          <p:spTgt spid="355331">
                                            <p:txEl>
                                              <p:pRg st="7" end="7"/>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355331">
                                            <p:txEl>
                                              <p:pRg st="8" end="8"/>
                                            </p:txEl>
                                          </p:spTgt>
                                        </p:tgtEl>
                                        <p:attrNameLst>
                                          <p:attrName>style.visibility</p:attrName>
                                        </p:attrNameLst>
                                      </p:cBhvr>
                                      <p:to>
                                        <p:strVal val="visible"/>
                                      </p:to>
                                    </p:set>
                                    <p:animEffect transition="in" filter="blinds(horizontal)">
                                      <p:cBhvr>
                                        <p:cTn id="36" dur="500"/>
                                        <p:tgtEl>
                                          <p:spTgt spid="355331">
                                            <p:txEl>
                                              <p:pRg st="8" end="8"/>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355331">
                                            <p:txEl>
                                              <p:pRg st="10" end="10"/>
                                            </p:txEl>
                                          </p:spTgt>
                                        </p:tgtEl>
                                        <p:attrNameLst>
                                          <p:attrName>style.visibility</p:attrName>
                                        </p:attrNameLst>
                                      </p:cBhvr>
                                      <p:to>
                                        <p:strVal val="visible"/>
                                      </p:to>
                                    </p:set>
                                    <p:animEffect transition="in" filter="blinds(horizontal)">
                                      <p:cBhvr>
                                        <p:cTn id="41" dur="500"/>
                                        <p:tgtEl>
                                          <p:spTgt spid="355331">
                                            <p:txEl>
                                              <p:pRg st="10" end="10"/>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355331">
                                            <p:txEl>
                                              <p:pRg st="11" end="11"/>
                                            </p:txEl>
                                          </p:spTgt>
                                        </p:tgtEl>
                                        <p:attrNameLst>
                                          <p:attrName>style.visibility</p:attrName>
                                        </p:attrNameLst>
                                      </p:cBhvr>
                                      <p:to>
                                        <p:strVal val="visible"/>
                                      </p:to>
                                    </p:set>
                                    <p:animEffect transition="in" filter="blinds(horizontal)">
                                      <p:cBhvr>
                                        <p:cTn id="44" dur="500"/>
                                        <p:tgtEl>
                                          <p:spTgt spid="355331">
                                            <p:txEl>
                                              <p:pRg st="11" end="11"/>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355331">
                                            <p:txEl>
                                              <p:pRg st="12" end="12"/>
                                            </p:txEl>
                                          </p:spTgt>
                                        </p:tgtEl>
                                        <p:attrNameLst>
                                          <p:attrName>style.visibility</p:attrName>
                                        </p:attrNameLst>
                                      </p:cBhvr>
                                      <p:to>
                                        <p:strVal val="visible"/>
                                      </p:to>
                                    </p:set>
                                    <p:animEffect transition="in" filter="blinds(horizontal)">
                                      <p:cBhvr>
                                        <p:cTn id="49" dur="500"/>
                                        <p:tgtEl>
                                          <p:spTgt spid="355331">
                                            <p:txEl>
                                              <p:pRg st="12" end="1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355331">
                                            <p:txEl>
                                              <p:pRg st="13" end="13"/>
                                            </p:txEl>
                                          </p:spTgt>
                                        </p:tgtEl>
                                        <p:attrNameLst>
                                          <p:attrName>style.visibility</p:attrName>
                                        </p:attrNameLst>
                                      </p:cBhvr>
                                      <p:to>
                                        <p:strVal val="visible"/>
                                      </p:to>
                                    </p:set>
                                    <p:animEffect transition="in" filter="blinds(horizontal)">
                                      <p:cBhvr>
                                        <p:cTn id="54" dur="500"/>
                                        <p:tgtEl>
                                          <p:spTgt spid="355331">
                                            <p:txEl>
                                              <p:pRg st="13" end="1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355331">
                                            <p:txEl>
                                              <p:pRg st="14" end="14"/>
                                            </p:txEl>
                                          </p:spTgt>
                                        </p:tgtEl>
                                        <p:attrNameLst>
                                          <p:attrName>style.visibility</p:attrName>
                                        </p:attrNameLst>
                                      </p:cBhvr>
                                      <p:to>
                                        <p:strVal val="visible"/>
                                      </p:to>
                                    </p:set>
                                    <p:animEffect transition="in" filter="blinds(horizontal)">
                                      <p:cBhvr>
                                        <p:cTn id="59" dur="500"/>
                                        <p:tgtEl>
                                          <p:spTgt spid="35533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BAB338C9-2FAF-CC0D-ECA7-B32422C51104}"/>
              </a:ext>
            </a:extLst>
          </p:cNvPr>
          <p:cNvSpPr>
            <a:spLocks noGrp="1" noChangeArrowheads="1"/>
          </p:cNvSpPr>
          <p:nvPr>
            <p:ph type="title"/>
          </p:nvPr>
        </p:nvSpPr>
        <p:spPr>
          <a:xfrm>
            <a:off x="609600" y="76200"/>
            <a:ext cx="6597650" cy="368300"/>
          </a:xfrm>
        </p:spPr>
        <p:txBody>
          <a:bodyPr/>
          <a:lstStyle/>
          <a:p>
            <a:r>
              <a:rPr lang="en-US" altLang="zh-CN">
                <a:ea typeface="宋体" panose="02010600030101010101" pitchFamily="2" charset="-122"/>
              </a:rPr>
              <a:t>Addressing Modes</a:t>
            </a:r>
            <a:r>
              <a:rPr lang="zh-CN" altLang="en-US">
                <a:ea typeface="宋体" panose="02010600030101010101" pitchFamily="2" charset="-122"/>
              </a:rPr>
              <a:t>（寻址方式）</a:t>
            </a:r>
          </a:p>
        </p:txBody>
      </p:sp>
      <p:sp>
        <p:nvSpPr>
          <p:cNvPr id="369667" name="Rectangle 3">
            <a:extLst>
              <a:ext uri="{FF2B5EF4-FFF2-40B4-BE49-F238E27FC236}">
                <a16:creationId xmlns:a16="http://schemas.microsoft.com/office/drawing/2014/main" id="{925BD785-275D-1E36-D1A2-E8DBFD6DE753}"/>
              </a:ext>
            </a:extLst>
          </p:cNvPr>
          <p:cNvSpPr>
            <a:spLocks noGrp="1" noChangeArrowheads="1"/>
          </p:cNvSpPr>
          <p:nvPr>
            <p:ph idx="1"/>
          </p:nvPr>
        </p:nvSpPr>
        <p:spPr>
          <a:xfrm>
            <a:off x="233363" y="606425"/>
            <a:ext cx="8788400" cy="3249613"/>
          </a:xfrm>
        </p:spPr>
        <p:txBody>
          <a:bodyPr/>
          <a:lstStyle/>
          <a:p>
            <a:pPr marL="342900" indent="-342900">
              <a:lnSpc>
                <a:spcPct val="110000"/>
              </a:lnSpc>
              <a:spcBef>
                <a:spcPct val="20000"/>
              </a:spcBef>
            </a:pPr>
            <a:r>
              <a:rPr lang="zh-CN" altLang="en-US">
                <a:latin typeface="微软雅黑" panose="020B0503020204020204" pitchFamily="34" charset="-122"/>
                <a:ea typeface="微软雅黑" panose="020B0503020204020204" pitchFamily="34" charset="-122"/>
              </a:rPr>
              <a:t>什么是“寻址方式”？</a:t>
            </a:r>
          </a:p>
          <a:p>
            <a:pPr marL="342900" indent="-342900">
              <a:lnSpc>
                <a:spcPct val="110000"/>
              </a:lnSpc>
              <a:spcBef>
                <a:spcPct val="20000"/>
              </a:spcBef>
              <a:buFont typeface="Wingdings" panose="05000000000000000000" pitchFamily="2" charset="2"/>
              <a:buNone/>
            </a:pPr>
            <a:r>
              <a:rPr lang="zh-CN" altLang="en-US">
                <a:solidFill>
                  <a:srgbClr val="0000FF"/>
                </a:solidFill>
                <a:latin typeface="微软雅黑" panose="020B0503020204020204" pitchFamily="34" charset="-122"/>
                <a:ea typeface="微软雅黑" panose="020B0503020204020204" pitchFamily="34" charset="-122"/>
              </a:rPr>
              <a:t>   指令或操作数地址的指定方式。即：根据地址找到指令或操作数的方法。</a:t>
            </a:r>
          </a:p>
          <a:p>
            <a:pPr marL="342900" indent="-342900">
              <a:lnSpc>
                <a:spcPct val="110000"/>
              </a:lnSpc>
              <a:spcBef>
                <a:spcPct val="20000"/>
              </a:spcBef>
            </a:pPr>
            <a:r>
              <a:rPr lang="zh-CN" altLang="en-US">
                <a:latin typeface="微软雅黑" panose="020B0503020204020204" pitchFamily="34" charset="-122"/>
                <a:ea typeface="微软雅黑" panose="020B0503020204020204" pitchFamily="34" charset="-122"/>
              </a:rPr>
              <a:t>地址码编码由操作数的寻址方式决定</a:t>
            </a:r>
          </a:p>
          <a:p>
            <a:pPr marL="342900" indent="-342900">
              <a:lnSpc>
                <a:spcPct val="110000"/>
              </a:lnSpc>
              <a:spcBef>
                <a:spcPct val="20000"/>
              </a:spcBef>
            </a:pPr>
            <a:r>
              <a:rPr lang="zh-CN" altLang="en-US">
                <a:latin typeface="微软雅黑" panose="020B0503020204020204" pitchFamily="34" charset="-122"/>
                <a:ea typeface="微软雅黑" panose="020B0503020204020204" pitchFamily="34" charset="-122"/>
              </a:rPr>
              <a:t>地址码编码原则：</a:t>
            </a:r>
          </a:p>
          <a:p>
            <a:pPr marL="342900" indent="-342900">
              <a:lnSpc>
                <a:spcPct val="110000"/>
              </a:lnSpc>
              <a:spcBef>
                <a:spcPct val="20000"/>
              </a:spcBef>
              <a:buFont typeface="Monotype Sorts"/>
              <a:buNone/>
            </a:pPr>
            <a:r>
              <a:rPr lang="zh-CN" altLang="en-US">
                <a:latin typeface="微软雅黑" panose="020B0503020204020204" pitchFamily="34" charset="-122"/>
                <a:ea typeface="微软雅黑" panose="020B0503020204020204" pitchFamily="34" charset="-122"/>
              </a:rPr>
              <a:t>   </a:t>
            </a:r>
            <a:r>
              <a:rPr lang="zh-CN" altLang="en-US">
                <a:solidFill>
                  <a:srgbClr val="0000FF"/>
                </a:solidFill>
                <a:latin typeface="微软雅黑" panose="020B0503020204020204" pitchFamily="34" charset="-122"/>
                <a:ea typeface="微软雅黑" panose="020B0503020204020204" pitchFamily="34" charset="-122"/>
              </a:rPr>
              <a:t>指令地址码尽量短</a:t>
            </a:r>
          </a:p>
          <a:p>
            <a:pPr marL="342900" indent="-342900">
              <a:lnSpc>
                <a:spcPct val="110000"/>
              </a:lnSpc>
              <a:spcBef>
                <a:spcPct val="20000"/>
              </a:spcBef>
              <a:buFont typeface="Monotype Sorts"/>
              <a:buNone/>
            </a:pPr>
            <a:r>
              <a:rPr lang="zh-CN" altLang="en-US">
                <a:solidFill>
                  <a:srgbClr val="0000FF"/>
                </a:solidFill>
                <a:latin typeface="微软雅黑" panose="020B0503020204020204" pitchFamily="34" charset="-122"/>
                <a:ea typeface="微软雅黑" panose="020B0503020204020204" pitchFamily="34" charset="-122"/>
              </a:rPr>
              <a:t>   操作数存放位置灵活，空间应尽量大</a:t>
            </a:r>
          </a:p>
          <a:p>
            <a:pPr marL="342900" indent="-342900">
              <a:lnSpc>
                <a:spcPct val="110000"/>
              </a:lnSpc>
              <a:spcBef>
                <a:spcPct val="20000"/>
              </a:spcBef>
              <a:buFont typeface="Monotype Sorts"/>
              <a:buNone/>
            </a:pPr>
            <a:r>
              <a:rPr lang="zh-CN" altLang="en-US">
                <a:solidFill>
                  <a:srgbClr val="0000FF"/>
                </a:solidFill>
                <a:latin typeface="微软雅黑" panose="020B0503020204020204" pitchFamily="34" charset="-122"/>
                <a:ea typeface="微软雅黑" panose="020B0503020204020204" pitchFamily="34" charset="-122"/>
              </a:rPr>
              <a:t>   地址计算过程尽量简单</a:t>
            </a:r>
            <a:endParaRPr lang="zh-CN" altLang="en-US">
              <a:latin typeface="微软雅黑" panose="020B0503020204020204" pitchFamily="34" charset="-122"/>
              <a:ea typeface="微软雅黑" panose="020B0503020204020204" pitchFamily="34" charset="-122"/>
            </a:endParaRPr>
          </a:p>
        </p:txBody>
      </p:sp>
      <p:sp>
        <p:nvSpPr>
          <p:cNvPr id="369668" name="Rectangle 4">
            <a:extLst>
              <a:ext uri="{FF2B5EF4-FFF2-40B4-BE49-F238E27FC236}">
                <a16:creationId xmlns:a16="http://schemas.microsoft.com/office/drawing/2014/main" id="{D1CB5270-5980-9D23-EAD9-418DB1897D14}"/>
              </a:ext>
            </a:extLst>
          </p:cNvPr>
          <p:cNvSpPr>
            <a:spLocks noChangeArrowheads="1"/>
          </p:cNvSpPr>
          <p:nvPr/>
        </p:nvSpPr>
        <p:spPr bwMode="auto">
          <a:xfrm>
            <a:off x="265113" y="3411538"/>
            <a:ext cx="8532812" cy="240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spcBef>
                <a:spcPct val="30000"/>
              </a:spcBef>
              <a:buSzPct val="75000"/>
              <a:buFont typeface="Wingdings" panose="05000000000000000000" pitchFamily="2" charset="2"/>
              <a:buChar char="u"/>
            </a:pPr>
            <a:r>
              <a:rPr lang="zh-CN" altLang="en-US" sz="2000">
                <a:solidFill>
                  <a:schemeClr val="tx1"/>
                </a:solidFill>
                <a:latin typeface="微软雅黑" panose="020B0503020204020204" pitchFamily="34" charset="-122"/>
                <a:ea typeface="微软雅黑" panose="020B0503020204020204" pitchFamily="34" charset="-122"/>
              </a:rPr>
              <a:t>指令的寻址----简单</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spcBef>
                <a:spcPct val="30000"/>
              </a:spcBef>
              <a:buSzPct val="75000"/>
            </a:pPr>
            <a:r>
              <a:rPr lang="en-US" altLang="zh-CN" sz="2000">
                <a:solidFill>
                  <a:schemeClr val="tx1"/>
                </a:solidFill>
                <a:latin typeface="微软雅黑" panose="020B0503020204020204" pitchFamily="34" charset="-122"/>
                <a:ea typeface="微软雅黑" panose="020B0503020204020204" pitchFamily="34" charset="-122"/>
              </a:rPr>
              <a:t>    </a:t>
            </a:r>
            <a:r>
              <a:rPr lang="zh-CN" altLang="en-US" sz="2000">
                <a:solidFill>
                  <a:srgbClr val="0000FF"/>
                </a:solidFill>
                <a:latin typeface="微软雅黑" panose="020B0503020204020204" pitchFamily="34" charset="-122"/>
                <a:ea typeface="微软雅黑" panose="020B0503020204020204" pitchFamily="34" charset="-122"/>
              </a:rPr>
              <a:t>正常：</a:t>
            </a:r>
            <a:r>
              <a:rPr lang="en-US" altLang="en-US" sz="2000">
                <a:solidFill>
                  <a:srgbClr val="0000FF"/>
                </a:solidFill>
                <a:latin typeface="微软雅黑" panose="020B0503020204020204" pitchFamily="34" charset="-122"/>
                <a:ea typeface="微软雅黑" panose="020B0503020204020204" pitchFamily="34" charset="-122"/>
              </a:rPr>
              <a:t>PC</a:t>
            </a:r>
            <a:r>
              <a:rPr lang="zh-CN" altLang="en-US" sz="2000">
                <a:solidFill>
                  <a:srgbClr val="0000FF"/>
                </a:solidFill>
                <a:latin typeface="微软雅黑" panose="020B0503020204020204" pitchFamily="34" charset="-122"/>
                <a:ea typeface="微软雅黑" panose="020B0503020204020204" pitchFamily="34" charset="-122"/>
              </a:rPr>
              <a:t>增值</a:t>
            </a:r>
            <a:endParaRPr lang="en-US" altLang="zh-CN" sz="2000">
              <a:solidFill>
                <a:srgbClr val="0000FF"/>
              </a:solidFill>
              <a:latin typeface="微软雅黑" panose="020B0503020204020204" pitchFamily="34" charset="-122"/>
              <a:ea typeface="微软雅黑" panose="020B0503020204020204" pitchFamily="34" charset="-122"/>
            </a:endParaRPr>
          </a:p>
          <a:p>
            <a:pPr eaLnBrk="0" hangingPunct="0">
              <a:spcBef>
                <a:spcPct val="30000"/>
              </a:spcBef>
              <a:buSzPct val="75000"/>
            </a:pPr>
            <a:r>
              <a:rPr lang="en-US" altLang="zh-CN" sz="2000">
                <a:solidFill>
                  <a:srgbClr val="0000FF"/>
                </a:solidFill>
                <a:latin typeface="微软雅黑" panose="020B0503020204020204" pitchFamily="34" charset="-122"/>
                <a:ea typeface="微软雅黑" panose="020B0503020204020204" pitchFamily="34" charset="-122"/>
              </a:rPr>
              <a:t>    </a:t>
            </a:r>
            <a:r>
              <a:rPr lang="zh-CN" altLang="en-US" sz="2000">
                <a:solidFill>
                  <a:srgbClr val="0000FF"/>
                </a:solidFill>
                <a:latin typeface="微软雅黑" panose="020B0503020204020204" pitchFamily="34" charset="-122"/>
                <a:ea typeface="微软雅黑" panose="020B0503020204020204" pitchFamily="34" charset="-122"/>
              </a:rPr>
              <a:t>跳转 </a:t>
            </a:r>
            <a:r>
              <a:rPr lang="en-US" altLang="zh-CN" sz="2000">
                <a:solidFill>
                  <a:srgbClr val="0000FF"/>
                </a:solidFill>
                <a:latin typeface="微软雅黑" panose="020B0503020204020204" pitchFamily="34" charset="-122"/>
                <a:ea typeface="微软雅黑" panose="020B0503020204020204" pitchFamily="34" charset="-122"/>
              </a:rPr>
              <a:t>( jump / branch / call / return )</a:t>
            </a:r>
            <a:r>
              <a:rPr lang="zh-CN" altLang="en-US" sz="2000">
                <a:solidFill>
                  <a:srgbClr val="0000FF"/>
                </a:solidFill>
                <a:latin typeface="微软雅黑" panose="020B0503020204020204" pitchFamily="34" charset="-122"/>
                <a:ea typeface="微软雅黑" panose="020B0503020204020204" pitchFamily="34" charset="-122"/>
              </a:rPr>
              <a:t>：同操作数的寻址</a:t>
            </a:r>
          </a:p>
          <a:p>
            <a:pPr eaLnBrk="0" hangingPunct="0">
              <a:spcBef>
                <a:spcPct val="30000"/>
              </a:spcBef>
              <a:buSzPct val="75000"/>
              <a:buFont typeface="Wingdings" panose="05000000000000000000" pitchFamily="2" charset="2"/>
              <a:buChar char="u"/>
            </a:pPr>
            <a:r>
              <a:rPr lang="zh-CN" altLang="en-US" sz="2000">
                <a:solidFill>
                  <a:schemeClr val="tx1"/>
                </a:solidFill>
                <a:latin typeface="微软雅黑" panose="020B0503020204020204" pitchFamily="34" charset="-122"/>
                <a:ea typeface="微软雅黑" panose="020B0503020204020204" pitchFamily="34" charset="-122"/>
              </a:rPr>
              <a:t>操作数的寻址----复杂（</a:t>
            </a:r>
            <a:r>
              <a:rPr lang="zh-CN" altLang="en-US" sz="2000">
                <a:solidFill>
                  <a:schemeClr val="accent1"/>
                </a:solidFill>
                <a:latin typeface="微软雅黑" panose="020B0503020204020204" pitchFamily="34" charset="-122"/>
                <a:ea typeface="微软雅黑" panose="020B0503020204020204" pitchFamily="34" charset="-122"/>
              </a:rPr>
              <a:t>想象一下高级语言程序中操作数情况多复杂</a:t>
            </a:r>
            <a:r>
              <a:rPr lang="zh-CN" altLang="en-US" sz="2000">
                <a:solidFill>
                  <a:schemeClr val="tx1"/>
                </a:solidFill>
                <a:latin typeface="微软雅黑" panose="020B0503020204020204" pitchFamily="34" charset="-122"/>
                <a:ea typeface="微软雅黑" panose="020B0503020204020204" pitchFamily="34" charset="-122"/>
              </a:rPr>
              <a:t>）</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spcBef>
                <a:spcPct val="30000"/>
              </a:spcBef>
              <a:buSzPct val="75000"/>
            </a:pPr>
            <a:r>
              <a:rPr lang="en-US" altLang="zh-CN" sz="2000">
                <a:solidFill>
                  <a:schemeClr val="tx1"/>
                </a:solidFill>
                <a:latin typeface="微软雅黑" panose="020B0503020204020204" pitchFamily="34" charset="-122"/>
                <a:ea typeface="微软雅黑" panose="020B0503020204020204" pitchFamily="34" charset="-122"/>
              </a:rPr>
              <a:t>     </a:t>
            </a:r>
            <a:r>
              <a:rPr lang="zh-CN" altLang="en-US" sz="2000">
                <a:solidFill>
                  <a:srgbClr val="0000FF"/>
                </a:solidFill>
                <a:latin typeface="微软雅黑" panose="020B0503020204020204" pitchFamily="34" charset="-122"/>
                <a:ea typeface="微软雅黑" panose="020B0503020204020204" pitchFamily="34" charset="-122"/>
              </a:rPr>
              <a:t>操作数来源：寄存器 / 外设端口 / 主(虚)存 / 栈顶</a:t>
            </a:r>
            <a:endParaRPr lang="en-US" altLang="zh-CN" sz="2000">
              <a:solidFill>
                <a:srgbClr val="0000FF"/>
              </a:solidFill>
              <a:latin typeface="微软雅黑" panose="020B0503020204020204" pitchFamily="34" charset="-122"/>
              <a:ea typeface="微软雅黑" panose="020B0503020204020204" pitchFamily="34" charset="-122"/>
            </a:endParaRPr>
          </a:p>
          <a:p>
            <a:pPr eaLnBrk="0" hangingPunct="0">
              <a:spcBef>
                <a:spcPct val="30000"/>
              </a:spcBef>
              <a:buSzPct val="75000"/>
            </a:pPr>
            <a:r>
              <a:rPr lang="en-US" altLang="zh-CN" sz="2000">
                <a:solidFill>
                  <a:srgbClr val="0000FF"/>
                </a:solidFill>
                <a:latin typeface="微软雅黑" panose="020B0503020204020204" pitchFamily="34" charset="-122"/>
                <a:ea typeface="微软雅黑" panose="020B0503020204020204" pitchFamily="34" charset="-122"/>
              </a:rPr>
              <a:t>     </a:t>
            </a:r>
            <a:r>
              <a:rPr lang="zh-CN" altLang="en-US" sz="2000">
                <a:solidFill>
                  <a:srgbClr val="0000FF"/>
                </a:solidFill>
                <a:latin typeface="微软雅黑" panose="020B0503020204020204" pitchFamily="34" charset="-122"/>
                <a:ea typeface="微软雅黑" panose="020B0503020204020204" pitchFamily="34" charset="-122"/>
              </a:rPr>
              <a:t>操作数结构：位 / 字节 / 半字 / 字 / 双字 / 一维表 / 二维表 /…</a:t>
            </a:r>
            <a:r>
              <a:rPr lang="zh-CN" altLang="en-US" sz="2000">
                <a:latin typeface="微软雅黑" panose="020B0503020204020204" pitchFamily="34" charset="-122"/>
                <a:ea typeface="微软雅黑" panose="020B0503020204020204" pitchFamily="34" charset="-122"/>
              </a:rPr>
              <a:t>   </a:t>
            </a:r>
          </a:p>
        </p:txBody>
      </p:sp>
      <p:sp>
        <p:nvSpPr>
          <p:cNvPr id="369669" name="Rectangle 5">
            <a:extLst>
              <a:ext uri="{FF2B5EF4-FFF2-40B4-BE49-F238E27FC236}">
                <a16:creationId xmlns:a16="http://schemas.microsoft.com/office/drawing/2014/main" id="{2D934331-8D0D-564D-B330-576967814D94}"/>
              </a:ext>
            </a:extLst>
          </p:cNvPr>
          <p:cNvSpPr>
            <a:spLocks noChangeArrowheads="1"/>
          </p:cNvSpPr>
          <p:nvPr/>
        </p:nvSpPr>
        <p:spPr bwMode="auto">
          <a:xfrm>
            <a:off x="609600" y="5981700"/>
            <a:ext cx="4487863"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90000"/>
              </a:lnSpc>
              <a:spcBef>
                <a:spcPct val="30000"/>
              </a:spcBef>
            </a:pPr>
            <a:r>
              <a:rPr lang="zh-CN" altLang="en-US" sz="2000">
                <a:solidFill>
                  <a:schemeClr val="tx1"/>
                </a:solidFill>
                <a:latin typeface="微软雅黑" panose="020B0503020204020204" pitchFamily="34" charset="-122"/>
                <a:ea typeface="微软雅黑" panose="020B0503020204020204" pitchFamily="34" charset="-122"/>
              </a:rPr>
              <a:t>通常寻址方式指</a:t>
            </a:r>
            <a:r>
              <a:rPr lang="zh-CN" altLang="en-US" sz="2000">
                <a:solidFill>
                  <a:srgbClr val="CC3300"/>
                </a:solidFill>
                <a:latin typeface="微软雅黑" panose="020B0503020204020204" pitchFamily="34" charset="-122"/>
                <a:ea typeface="微软雅黑" panose="020B0503020204020204" pitchFamily="34" charset="-122"/>
              </a:rPr>
              <a:t>“操作数的寻址方式”</a:t>
            </a:r>
          </a:p>
        </p:txBody>
      </p:sp>
      <p:sp>
        <p:nvSpPr>
          <p:cNvPr id="369671" name="Text Box 7">
            <a:extLst>
              <a:ext uri="{FF2B5EF4-FFF2-40B4-BE49-F238E27FC236}">
                <a16:creationId xmlns:a16="http://schemas.microsoft.com/office/drawing/2014/main" id="{9911B055-347F-D18A-5CA8-538528B02117}"/>
              </a:ext>
            </a:extLst>
          </p:cNvPr>
          <p:cNvSpPr txBox="1">
            <a:spLocks noChangeArrowheads="1"/>
          </p:cNvSpPr>
          <p:nvPr/>
        </p:nvSpPr>
        <p:spPr bwMode="auto">
          <a:xfrm>
            <a:off x="3816350" y="2005013"/>
            <a:ext cx="106680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1800">
                <a:solidFill>
                  <a:schemeClr val="accent1"/>
                </a:solidFill>
                <a:latin typeface="微软雅黑" panose="020B0503020204020204" pitchFamily="34" charset="-122"/>
                <a:ea typeface="微软雅黑" panose="020B0503020204020204" pitchFamily="34" charset="-122"/>
              </a:rPr>
              <a:t>为什么？</a:t>
            </a:r>
          </a:p>
        </p:txBody>
      </p:sp>
      <p:sp>
        <p:nvSpPr>
          <p:cNvPr id="369672" name="Line 8">
            <a:extLst>
              <a:ext uri="{FF2B5EF4-FFF2-40B4-BE49-F238E27FC236}">
                <a16:creationId xmlns:a16="http://schemas.microsoft.com/office/drawing/2014/main" id="{304F56FB-DC13-B8A5-87E9-98EA70538134}"/>
              </a:ext>
            </a:extLst>
          </p:cNvPr>
          <p:cNvSpPr>
            <a:spLocks noChangeShapeType="1"/>
          </p:cNvSpPr>
          <p:nvPr/>
        </p:nvSpPr>
        <p:spPr bwMode="auto">
          <a:xfrm>
            <a:off x="2938463" y="2428875"/>
            <a:ext cx="2084387" cy="0"/>
          </a:xfrm>
          <a:prstGeom prst="line">
            <a:avLst/>
          </a:prstGeom>
          <a:noFill/>
          <a:ln w="28575">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673" name="Line 9">
            <a:extLst>
              <a:ext uri="{FF2B5EF4-FFF2-40B4-BE49-F238E27FC236}">
                <a16:creationId xmlns:a16="http://schemas.microsoft.com/office/drawing/2014/main" id="{158F7D33-FB80-824D-7822-3661B6802CDB}"/>
              </a:ext>
            </a:extLst>
          </p:cNvPr>
          <p:cNvSpPr>
            <a:spLocks noChangeShapeType="1"/>
          </p:cNvSpPr>
          <p:nvPr/>
        </p:nvSpPr>
        <p:spPr bwMode="auto">
          <a:xfrm flipV="1">
            <a:off x="4699000" y="2811463"/>
            <a:ext cx="327025" cy="0"/>
          </a:xfrm>
          <a:prstGeom prst="line">
            <a:avLst/>
          </a:prstGeom>
          <a:noFill/>
          <a:ln w="28575">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674" name="Line 10">
            <a:extLst>
              <a:ext uri="{FF2B5EF4-FFF2-40B4-BE49-F238E27FC236}">
                <a16:creationId xmlns:a16="http://schemas.microsoft.com/office/drawing/2014/main" id="{EC5ADE37-3D3C-36CD-7154-6183AC30642C}"/>
              </a:ext>
            </a:extLst>
          </p:cNvPr>
          <p:cNvSpPr>
            <a:spLocks noChangeShapeType="1"/>
          </p:cNvSpPr>
          <p:nvPr/>
        </p:nvSpPr>
        <p:spPr bwMode="auto">
          <a:xfrm>
            <a:off x="3205163" y="3182938"/>
            <a:ext cx="1835150" cy="0"/>
          </a:xfrm>
          <a:prstGeom prst="line">
            <a:avLst/>
          </a:prstGeom>
          <a:noFill/>
          <a:ln w="28575">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675" name="Text Box 11">
            <a:extLst>
              <a:ext uri="{FF2B5EF4-FFF2-40B4-BE49-F238E27FC236}">
                <a16:creationId xmlns:a16="http://schemas.microsoft.com/office/drawing/2014/main" id="{B639DD1E-F690-E1E9-FB76-5FBC0FA50C59}"/>
              </a:ext>
            </a:extLst>
          </p:cNvPr>
          <p:cNvSpPr txBox="1">
            <a:spLocks noChangeArrowheads="1"/>
          </p:cNvSpPr>
          <p:nvPr/>
        </p:nvSpPr>
        <p:spPr bwMode="auto">
          <a:xfrm>
            <a:off x="5067300" y="2230438"/>
            <a:ext cx="37306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10000"/>
              </a:lnSpc>
              <a:spcBef>
                <a:spcPct val="20000"/>
              </a:spcBef>
            </a:pPr>
            <a:r>
              <a:rPr lang="zh-CN" altLang="en-US" sz="2000">
                <a:solidFill>
                  <a:schemeClr val="accent1"/>
                </a:solidFill>
                <a:latin typeface="微软雅黑" panose="020B0503020204020204" pitchFamily="34" charset="-122"/>
                <a:ea typeface="微软雅黑" panose="020B0503020204020204" pitchFamily="34" charset="-122"/>
              </a:rPr>
              <a:t>目标代码短，省空间</a:t>
            </a:r>
          </a:p>
          <a:p>
            <a:pPr eaLnBrk="0" hangingPunct="0">
              <a:lnSpc>
                <a:spcPct val="110000"/>
              </a:lnSpc>
              <a:spcBef>
                <a:spcPct val="20000"/>
              </a:spcBef>
            </a:pPr>
            <a:r>
              <a:rPr lang="zh-CN" altLang="en-US" sz="2000">
                <a:solidFill>
                  <a:schemeClr val="accent1"/>
                </a:solidFill>
                <a:latin typeface="微软雅黑" panose="020B0503020204020204" pitchFamily="34" charset="-122"/>
                <a:ea typeface="微软雅黑" panose="020B0503020204020204" pitchFamily="34" charset="-122"/>
              </a:rPr>
              <a:t>利于编译器优化产生高效代码</a:t>
            </a:r>
          </a:p>
          <a:p>
            <a:pPr eaLnBrk="0" hangingPunct="0">
              <a:lnSpc>
                <a:spcPct val="110000"/>
              </a:lnSpc>
              <a:spcBef>
                <a:spcPct val="20000"/>
              </a:spcBef>
            </a:pPr>
            <a:r>
              <a:rPr lang="zh-CN" altLang="en-US" sz="2000">
                <a:solidFill>
                  <a:schemeClr val="accent1"/>
                </a:solidFill>
                <a:latin typeface="微软雅黑" panose="020B0503020204020204" pitchFamily="34" charset="-122"/>
                <a:ea typeface="微软雅黑" panose="020B0503020204020204" pitchFamily="34" charset="-122"/>
              </a:rPr>
              <a:t>指令执行快</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9667">
                                            <p:txEl>
                                              <p:pRg st="1" end="1"/>
                                            </p:txEl>
                                          </p:spTgt>
                                        </p:tgtEl>
                                        <p:attrNameLst>
                                          <p:attrName>style.visibility</p:attrName>
                                        </p:attrNameLst>
                                      </p:cBhvr>
                                      <p:to>
                                        <p:strVal val="visible"/>
                                      </p:to>
                                    </p:set>
                                    <p:animEffect transition="in" filter="blinds(horizontal)">
                                      <p:cBhvr>
                                        <p:cTn id="7" dur="500"/>
                                        <p:tgtEl>
                                          <p:spTgt spid="3696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9667">
                                            <p:txEl>
                                              <p:pRg st="2" end="2"/>
                                            </p:txEl>
                                          </p:spTgt>
                                        </p:tgtEl>
                                        <p:attrNameLst>
                                          <p:attrName>style.visibility</p:attrName>
                                        </p:attrNameLst>
                                      </p:cBhvr>
                                      <p:to>
                                        <p:strVal val="visible"/>
                                      </p:to>
                                    </p:set>
                                    <p:animEffect transition="in" filter="blinds(horizontal)">
                                      <p:cBhvr>
                                        <p:cTn id="12" dur="500"/>
                                        <p:tgtEl>
                                          <p:spTgt spid="3696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9667">
                                            <p:txEl>
                                              <p:pRg st="3" end="3"/>
                                            </p:txEl>
                                          </p:spTgt>
                                        </p:tgtEl>
                                        <p:attrNameLst>
                                          <p:attrName>style.visibility</p:attrName>
                                        </p:attrNameLst>
                                      </p:cBhvr>
                                      <p:to>
                                        <p:strVal val="visible"/>
                                      </p:to>
                                    </p:set>
                                    <p:animEffect transition="in" filter="blinds(horizontal)">
                                      <p:cBhvr>
                                        <p:cTn id="17" dur="500"/>
                                        <p:tgtEl>
                                          <p:spTgt spid="36966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69667">
                                            <p:txEl>
                                              <p:pRg st="4" end="4"/>
                                            </p:txEl>
                                          </p:spTgt>
                                        </p:tgtEl>
                                        <p:attrNameLst>
                                          <p:attrName>style.visibility</p:attrName>
                                        </p:attrNameLst>
                                      </p:cBhvr>
                                      <p:to>
                                        <p:strVal val="visible"/>
                                      </p:to>
                                    </p:set>
                                    <p:animEffect transition="in" filter="blinds(horizontal)">
                                      <p:cBhvr>
                                        <p:cTn id="22" dur="500"/>
                                        <p:tgtEl>
                                          <p:spTgt spid="36966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69667">
                                            <p:txEl>
                                              <p:pRg st="5" end="5"/>
                                            </p:txEl>
                                          </p:spTgt>
                                        </p:tgtEl>
                                        <p:attrNameLst>
                                          <p:attrName>style.visibility</p:attrName>
                                        </p:attrNameLst>
                                      </p:cBhvr>
                                      <p:to>
                                        <p:strVal val="visible"/>
                                      </p:to>
                                    </p:set>
                                    <p:animEffect transition="in" filter="blinds(horizontal)">
                                      <p:cBhvr>
                                        <p:cTn id="27" dur="500"/>
                                        <p:tgtEl>
                                          <p:spTgt spid="36966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69667">
                                            <p:txEl>
                                              <p:pRg st="6" end="6"/>
                                            </p:txEl>
                                          </p:spTgt>
                                        </p:tgtEl>
                                        <p:attrNameLst>
                                          <p:attrName>style.visibility</p:attrName>
                                        </p:attrNameLst>
                                      </p:cBhvr>
                                      <p:to>
                                        <p:strVal val="visible"/>
                                      </p:to>
                                    </p:set>
                                    <p:animEffect transition="in" filter="blinds(horizontal)">
                                      <p:cBhvr>
                                        <p:cTn id="32" dur="500"/>
                                        <p:tgtEl>
                                          <p:spTgt spid="36966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9671"/>
                                        </p:tgtEl>
                                        <p:attrNameLst>
                                          <p:attrName>style.visibility</p:attrName>
                                        </p:attrNameLst>
                                      </p:cBhvr>
                                      <p:to>
                                        <p:strVal val="visible"/>
                                      </p:to>
                                    </p:set>
                                    <p:animEffect transition="in" filter="blinds(horizontal)">
                                      <p:cBhvr>
                                        <p:cTn id="37" dur="500"/>
                                        <p:tgtEl>
                                          <p:spTgt spid="3696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69672"/>
                                        </p:tgtEl>
                                        <p:attrNameLst>
                                          <p:attrName>style.visibility</p:attrName>
                                        </p:attrNameLst>
                                      </p:cBhvr>
                                      <p:to>
                                        <p:strVal val="visible"/>
                                      </p:to>
                                    </p:set>
                                    <p:animEffect transition="in" filter="blinds(horizontal)">
                                      <p:cBhvr>
                                        <p:cTn id="42" dur="500"/>
                                        <p:tgtEl>
                                          <p:spTgt spid="3696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69675">
                                            <p:txEl>
                                              <p:pRg st="0" end="0"/>
                                            </p:txEl>
                                          </p:spTgt>
                                        </p:tgtEl>
                                        <p:attrNameLst>
                                          <p:attrName>style.visibility</p:attrName>
                                        </p:attrNameLst>
                                      </p:cBhvr>
                                      <p:to>
                                        <p:strVal val="visible"/>
                                      </p:to>
                                    </p:set>
                                    <p:animEffect transition="in" filter="blinds(horizontal)">
                                      <p:cBhvr>
                                        <p:cTn id="47" dur="500"/>
                                        <p:tgtEl>
                                          <p:spTgt spid="369675">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69673"/>
                                        </p:tgtEl>
                                        <p:attrNameLst>
                                          <p:attrName>style.visibility</p:attrName>
                                        </p:attrNameLst>
                                      </p:cBhvr>
                                      <p:to>
                                        <p:strVal val="visible"/>
                                      </p:to>
                                    </p:set>
                                    <p:animEffect transition="in" filter="blinds(horizontal)">
                                      <p:cBhvr>
                                        <p:cTn id="52" dur="500"/>
                                        <p:tgtEl>
                                          <p:spTgt spid="36967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69675">
                                            <p:txEl>
                                              <p:pRg st="1" end="1"/>
                                            </p:txEl>
                                          </p:spTgt>
                                        </p:tgtEl>
                                        <p:attrNameLst>
                                          <p:attrName>style.visibility</p:attrName>
                                        </p:attrNameLst>
                                      </p:cBhvr>
                                      <p:to>
                                        <p:strVal val="visible"/>
                                      </p:to>
                                    </p:set>
                                    <p:animEffect transition="in" filter="blinds(horizontal)">
                                      <p:cBhvr>
                                        <p:cTn id="57" dur="500"/>
                                        <p:tgtEl>
                                          <p:spTgt spid="369675">
                                            <p:txEl>
                                              <p:pRg st="1" end="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369674"/>
                                        </p:tgtEl>
                                        <p:attrNameLst>
                                          <p:attrName>style.visibility</p:attrName>
                                        </p:attrNameLst>
                                      </p:cBhvr>
                                      <p:to>
                                        <p:strVal val="visible"/>
                                      </p:to>
                                    </p:set>
                                    <p:animEffect transition="in" filter="blinds(horizontal)">
                                      <p:cBhvr>
                                        <p:cTn id="62" dur="500"/>
                                        <p:tgtEl>
                                          <p:spTgt spid="36967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369675">
                                            <p:txEl>
                                              <p:pRg st="2" end="2"/>
                                            </p:txEl>
                                          </p:spTgt>
                                        </p:tgtEl>
                                        <p:attrNameLst>
                                          <p:attrName>style.visibility</p:attrName>
                                        </p:attrNameLst>
                                      </p:cBhvr>
                                      <p:to>
                                        <p:strVal val="visible"/>
                                      </p:to>
                                    </p:set>
                                    <p:animEffect transition="in" filter="blinds(horizontal)">
                                      <p:cBhvr>
                                        <p:cTn id="67" dur="500"/>
                                        <p:tgtEl>
                                          <p:spTgt spid="369675">
                                            <p:txEl>
                                              <p:pRg st="2" end="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369668">
                                            <p:txEl>
                                              <p:pRg st="0" end="0"/>
                                            </p:txEl>
                                          </p:spTgt>
                                        </p:tgtEl>
                                        <p:attrNameLst>
                                          <p:attrName>style.visibility</p:attrName>
                                        </p:attrNameLst>
                                      </p:cBhvr>
                                      <p:to>
                                        <p:strVal val="visible"/>
                                      </p:to>
                                    </p:set>
                                    <p:animEffect transition="in" filter="blinds(horizontal)">
                                      <p:cBhvr>
                                        <p:cTn id="72" dur="500"/>
                                        <p:tgtEl>
                                          <p:spTgt spid="369668">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369668">
                                            <p:txEl>
                                              <p:pRg st="1" end="1"/>
                                            </p:txEl>
                                          </p:spTgt>
                                        </p:tgtEl>
                                        <p:attrNameLst>
                                          <p:attrName>style.visibility</p:attrName>
                                        </p:attrNameLst>
                                      </p:cBhvr>
                                      <p:to>
                                        <p:strVal val="visible"/>
                                      </p:to>
                                    </p:set>
                                    <p:animEffect transition="in" filter="blinds(horizontal)">
                                      <p:cBhvr>
                                        <p:cTn id="77" dur="500"/>
                                        <p:tgtEl>
                                          <p:spTgt spid="369668">
                                            <p:txEl>
                                              <p:pRg st="1" end="1"/>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369668">
                                            <p:txEl>
                                              <p:pRg st="2" end="2"/>
                                            </p:txEl>
                                          </p:spTgt>
                                        </p:tgtEl>
                                        <p:attrNameLst>
                                          <p:attrName>style.visibility</p:attrName>
                                        </p:attrNameLst>
                                      </p:cBhvr>
                                      <p:to>
                                        <p:strVal val="visible"/>
                                      </p:to>
                                    </p:set>
                                    <p:animEffect transition="in" filter="blinds(horizontal)">
                                      <p:cBhvr>
                                        <p:cTn id="82" dur="500"/>
                                        <p:tgtEl>
                                          <p:spTgt spid="369668">
                                            <p:txEl>
                                              <p:pRg st="2" end="2"/>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369668">
                                            <p:txEl>
                                              <p:pRg st="3" end="3"/>
                                            </p:txEl>
                                          </p:spTgt>
                                        </p:tgtEl>
                                        <p:attrNameLst>
                                          <p:attrName>style.visibility</p:attrName>
                                        </p:attrNameLst>
                                      </p:cBhvr>
                                      <p:to>
                                        <p:strVal val="visible"/>
                                      </p:to>
                                    </p:set>
                                    <p:animEffect transition="in" filter="blinds(horizontal)">
                                      <p:cBhvr>
                                        <p:cTn id="87" dur="500"/>
                                        <p:tgtEl>
                                          <p:spTgt spid="369668">
                                            <p:txEl>
                                              <p:pRg st="3" end="3"/>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369668">
                                            <p:txEl>
                                              <p:pRg st="4" end="4"/>
                                            </p:txEl>
                                          </p:spTgt>
                                        </p:tgtEl>
                                        <p:attrNameLst>
                                          <p:attrName>style.visibility</p:attrName>
                                        </p:attrNameLst>
                                      </p:cBhvr>
                                      <p:to>
                                        <p:strVal val="visible"/>
                                      </p:to>
                                    </p:set>
                                    <p:animEffect transition="in" filter="blinds(horizontal)">
                                      <p:cBhvr>
                                        <p:cTn id="92" dur="500"/>
                                        <p:tgtEl>
                                          <p:spTgt spid="369668">
                                            <p:txEl>
                                              <p:pRg st="4" end="4"/>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369668">
                                            <p:txEl>
                                              <p:pRg st="5" end="5"/>
                                            </p:txEl>
                                          </p:spTgt>
                                        </p:tgtEl>
                                        <p:attrNameLst>
                                          <p:attrName>style.visibility</p:attrName>
                                        </p:attrNameLst>
                                      </p:cBhvr>
                                      <p:to>
                                        <p:strVal val="visible"/>
                                      </p:to>
                                    </p:set>
                                    <p:animEffect transition="in" filter="blinds(horizontal)">
                                      <p:cBhvr>
                                        <p:cTn id="97" dur="500"/>
                                        <p:tgtEl>
                                          <p:spTgt spid="369668">
                                            <p:txEl>
                                              <p:pRg st="5" end="5"/>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369669"/>
                                        </p:tgtEl>
                                        <p:attrNameLst>
                                          <p:attrName>style.visibility</p:attrName>
                                        </p:attrNameLst>
                                      </p:cBhvr>
                                      <p:to>
                                        <p:strVal val="visible"/>
                                      </p:to>
                                    </p:set>
                                    <p:animEffect transition="in" filter="blinds(horizontal)">
                                      <p:cBhvr>
                                        <p:cTn id="102" dur="500"/>
                                        <p:tgtEl>
                                          <p:spTgt spid="369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9" grpId="0"/>
      <p:bldP spid="3696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a:extLst>
              <a:ext uri="{FF2B5EF4-FFF2-40B4-BE49-F238E27FC236}">
                <a16:creationId xmlns:a16="http://schemas.microsoft.com/office/drawing/2014/main" id="{82C6E8C2-5B90-4021-022A-821E4CDBCE65}"/>
              </a:ext>
            </a:extLst>
          </p:cNvPr>
          <p:cNvSpPr>
            <a:spLocks noGrp="1" noChangeArrowheads="1"/>
          </p:cNvSpPr>
          <p:nvPr>
            <p:ph idx="1"/>
          </p:nvPr>
        </p:nvSpPr>
        <p:spPr>
          <a:xfrm>
            <a:off x="533400" y="550863"/>
            <a:ext cx="8310563" cy="6008687"/>
          </a:xfrm>
        </p:spPr>
        <p:txBody>
          <a:bodyPr/>
          <a:lstStyle/>
          <a:p>
            <a:pPr marL="342900" indent="-342900">
              <a:lnSpc>
                <a:spcPct val="115000"/>
              </a:lnSpc>
              <a:spcBef>
                <a:spcPct val="20000"/>
              </a:spcBef>
            </a:pPr>
            <a:r>
              <a:rPr lang="zh-CN" altLang="en-US">
                <a:latin typeface="微软雅黑" panose="020B0503020204020204" pitchFamily="34" charset="-122"/>
                <a:ea typeface="微软雅黑" panose="020B0503020204020204" pitchFamily="34" charset="-122"/>
              </a:rPr>
              <a:t>寻址方式的确定</a:t>
            </a:r>
          </a:p>
          <a:p>
            <a:pPr marL="342900" indent="-342900">
              <a:lnSpc>
                <a:spcPct val="115000"/>
              </a:lnSpc>
              <a:spcBef>
                <a:spcPct val="20000"/>
              </a:spcBef>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   </a:t>
            </a:r>
            <a:r>
              <a:rPr lang="zh-CN" altLang="en-US">
                <a:solidFill>
                  <a:srgbClr val="0000FF"/>
                </a:solidFill>
                <a:latin typeface="微软雅黑" panose="020B0503020204020204" pitchFamily="34" charset="-122"/>
                <a:ea typeface="微软雅黑" panose="020B0503020204020204" pitchFamily="34" charset="-122"/>
              </a:rPr>
              <a:t>（1）没有专门的寻址方式位（由操作码确定寻址方式）</a:t>
            </a:r>
          </a:p>
          <a:p>
            <a:pPr marL="742950" lvl="1" indent="-285750">
              <a:lnSpc>
                <a:spcPct val="115000"/>
              </a:lnSpc>
              <a:spcBef>
                <a:spcPct val="20000"/>
              </a:spcBef>
              <a:buFontTx/>
              <a:buNone/>
            </a:pPr>
            <a:r>
              <a:rPr lang="zh-CN" altLang="en-US" sz="2000">
                <a:solidFill>
                  <a:srgbClr val="A50021"/>
                </a:solidFill>
                <a:latin typeface="微软雅黑" panose="020B0503020204020204" pitchFamily="34" charset="-122"/>
                <a:ea typeface="微软雅黑" panose="020B0503020204020204" pitchFamily="34" charset="-122"/>
              </a:rPr>
              <a:t>    如：</a:t>
            </a:r>
            <a:r>
              <a:rPr lang="en-US" altLang="zh-CN" sz="2000">
                <a:solidFill>
                  <a:srgbClr val="A50021"/>
                </a:solidFill>
                <a:latin typeface="微软雅黑" panose="020B0503020204020204" pitchFamily="34" charset="-122"/>
                <a:ea typeface="微软雅黑" panose="020B0503020204020204" pitchFamily="34" charset="-122"/>
              </a:rPr>
              <a:t>MIPS</a:t>
            </a:r>
            <a:r>
              <a:rPr lang="zh-CN" altLang="en-US" sz="2000">
                <a:solidFill>
                  <a:srgbClr val="A50021"/>
                </a:solidFill>
                <a:latin typeface="微软雅黑" panose="020B0503020204020204" pitchFamily="34" charset="-122"/>
                <a:ea typeface="微软雅黑" panose="020B0503020204020204" pitchFamily="34" charset="-122"/>
              </a:rPr>
              <a:t>指令，一条指令中最多仅有一个主</a:t>
            </a:r>
            <a:r>
              <a:rPr lang="en-US" altLang="zh-CN" sz="2000">
                <a:solidFill>
                  <a:srgbClr val="A50021"/>
                </a:solidFill>
                <a:latin typeface="微软雅黑" panose="020B0503020204020204" pitchFamily="34" charset="-122"/>
                <a:ea typeface="微软雅黑" panose="020B0503020204020204" pitchFamily="34" charset="-122"/>
              </a:rPr>
              <a:t>(</a:t>
            </a:r>
            <a:r>
              <a:rPr lang="zh-CN" altLang="en-US" sz="2000">
                <a:solidFill>
                  <a:srgbClr val="A50021"/>
                </a:solidFill>
                <a:latin typeface="微软雅黑" panose="020B0503020204020204" pitchFamily="34" charset="-122"/>
                <a:ea typeface="微软雅黑" panose="020B0503020204020204" pitchFamily="34" charset="-122"/>
              </a:rPr>
              <a:t>虚</a:t>
            </a:r>
            <a:r>
              <a:rPr lang="en-US" altLang="zh-CN" sz="2000">
                <a:solidFill>
                  <a:srgbClr val="A50021"/>
                </a:solidFill>
                <a:latin typeface="微软雅黑" panose="020B0503020204020204" pitchFamily="34" charset="-122"/>
                <a:ea typeface="微软雅黑" panose="020B0503020204020204" pitchFamily="34" charset="-122"/>
              </a:rPr>
              <a:t>)</a:t>
            </a:r>
            <a:r>
              <a:rPr lang="zh-CN" altLang="en-US" sz="2000">
                <a:solidFill>
                  <a:srgbClr val="A50021"/>
                </a:solidFill>
                <a:latin typeface="微软雅黑" panose="020B0503020204020204" pitchFamily="34" charset="-122"/>
                <a:ea typeface="微软雅黑" panose="020B0503020204020204" pitchFamily="34" charset="-122"/>
              </a:rPr>
              <a:t>存地址，且仅有一到两种寻址方式，</a:t>
            </a:r>
            <a:r>
              <a:rPr lang="en-US" altLang="zh-CN" sz="2000">
                <a:solidFill>
                  <a:srgbClr val="A50021"/>
                </a:solidFill>
                <a:latin typeface="微软雅黑" panose="020B0503020204020204" pitchFamily="34" charset="-122"/>
                <a:ea typeface="微软雅黑" panose="020B0503020204020204" pitchFamily="34" charset="-122"/>
              </a:rPr>
              <a:t>Load/store</a:t>
            </a:r>
            <a:r>
              <a:rPr lang="zh-CN" altLang="en-US" sz="2000">
                <a:solidFill>
                  <a:srgbClr val="A50021"/>
                </a:solidFill>
                <a:latin typeface="微软雅黑" panose="020B0503020204020204" pitchFamily="34" charset="-122"/>
                <a:ea typeface="微软雅黑" panose="020B0503020204020204" pitchFamily="34" charset="-122"/>
              </a:rPr>
              <a:t>型机器指令属于这种情况。</a:t>
            </a:r>
          </a:p>
          <a:p>
            <a:pPr marL="342900" indent="-342900">
              <a:lnSpc>
                <a:spcPct val="115000"/>
              </a:lnSpc>
              <a:spcBef>
                <a:spcPct val="20000"/>
              </a:spcBef>
              <a:buFont typeface="Wingdings" panose="05000000000000000000" pitchFamily="2" charset="2"/>
              <a:buNone/>
            </a:pPr>
            <a:r>
              <a:rPr lang="zh-CN" altLang="en-US">
                <a:solidFill>
                  <a:srgbClr val="0000FF"/>
                </a:solidFill>
                <a:latin typeface="微软雅黑" panose="020B0503020204020204" pitchFamily="34" charset="-122"/>
                <a:ea typeface="微软雅黑" panose="020B0503020204020204" pitchFamily="34" charset="-122"/>
              </a:rPr>
              <a:t>   （2）有专门的寻址方式位</a:t>
            </a:r>
          </a:p>
          <a:p>
            <a:pPr marL="742950" lvl="1" indent="-285750">
              <a:lnSpc>
                <a:spcPct val="115000"/>
              </a:lnSpc>
              <a:spcBef>
                <a:spcPct val="20000"/>
              </a:spcBef>
              <a:buFontTx/>
              <a:buNone/>
            </a:pPr>
            <a:r>
              <a:rPr lang="zh-CN" altLang="en-US" sz="2000">
                <a:solidFill>
                  <a:srgbClr val="A50021"/>
                </a:solidFill>
                <a:latin typeface="微软雅黑" panose="020B0503020204020204" pitchFamily="34" charset="-122"/>
                <a:ea typeface="微软雅黑" panose="020B0503020204020204" pitchFamily="34" charset="-122"/>
              </a:rPr>
              <a:t>    如：</a:t>
            </a:r>
            <a:r>
              <a:rPr lang="en-US" altLang="zh-CN" sz="2000">
                <a:solidFill>
                  <a:srgbClr val="A50021"/>
                </a:solidFill>
                <a:latin typeface="微软雅黑" panose="020B0503020204020204" pitchFamily="34" charset="-122"/>
                <a:ea typeface="微软雅黑" panose="020B0503020204020204" pitchFamily="34" charset="-122"/>
              </a:rPr>
              <a:t>X86</a:t>
            </a:r>
            <a:r>
              <a:rPr lang="zh-CN" altLang="en-US" sz="2000">
                <a:solidFill>
                  <a:srgbClr val="A50021"/>
                </a:solidFill>
                <a:latin typeface="微软雅黑" panose="020B0503020204020204" pitchFamily="34" charset="-122"/>
                <a:ea typeface="微软雅黑" panose="020B0503020204020204" pitchFamily="34" charset="-122"/>
              </a:rPr>
              <a:t>指令，一条指令中有多个操作数，且寻址方式各不相同，需要各自说明寻址方式，因此每个操作数有专门的寻址方式位。</a:t>
            </a:r>
            <a:endParaRPr lang="zh-CN" altLang="en-US" sz="2000">
              <a:solidFill>
                <a:srgbClr val="0000FF"/>
              </a:solidFill>
              <a:latin typeface="微软雅黑" panose="020B0503020204020204" pitchFamily="34" charset="-122"/>
              <a:ea typeface="微软雅黑" panose="020B0503020204020204" pitchFamily="34" charset="-122"/>
            </a:endParaRPr>
          </a:p>
          <a:p>
            <a:pPr marL="342900" indent="-342900">
              <a:lnSpc>
                <a:spcPct val="115000"/>
              </a:lnSpc>
              <a:spcBef>
                <a:spcPct val="20000"/>
              </a:spcBef>
            </a:pPr>
            <a:r>
              <a:rPr lang="zh-CN" altLang="en-US">
                <a:latin typeface="微软雅黑" panose="020B0503020204020204" pitchFamily="34" charset="-122"/>
                <a:ea typeface="微软雅黑" panose="020B0503020204020204" pitchFamily="34" charset="-122"/>
              </a:rPr>
              <a:t>有效地址的含义</a:t>
            </a:r>
          </a:p>
          <a:p>
            <a:pPr marL="342900" indent="-342900">
              <a:lnSpc>
                <a:spcPct val="115000"/>
              </a:lnSpc>
              <a:spcBef>
                <a:spcPct val="20000"/>
              </a:spcBef>
              <a:buFont typeface="Monotype Sorts"/>
              <a:buChar char=" "/>
            </a:pPr>
            <a:r>
              <a:rPr lang="zh-CN" altLang="en-US">
                <a:solidFill>
                  <a:srgbClr val="0000FF"/>
                </a:solidFill>
                <a:latin typeface="微软雅黑" panose="020B0503020204020204" pitchFamily="34" charset="-122"/>
                <a:ea typeface="微软雅黑" panose="020B0503020204020204" pitchFamily="34" charset="-122"/>
              </a:rPr>
              <a:t>操作数所在存储单元的地址（可能是逻辑地址或物理地址），可通过指令的寻址方式和地址码计算得到</a:t>
            </a:r>
          </a:p>
          <a:p>
            <a:pPr marL="342900" indent="-342900">
              <a:lnSpc>
                <a:spcPct val="115000"/>
              </a:lnSpc>
              <a:spcBef>
                <a:spcPct val="20000"/>
              </a:spcBef>
            </a:pPr>
            <a:r>
              <a:rPr lang="zh-CN" altLang="en-US">
                <a:latin typeface="微软雅黑" panose="020B0503020204020204" pitchFamily="34" charset="-122"/>
                <a:ea typeface="微软雅黑" panose="020B0503020204020204" pitchFamily="34" charset="-122"/>
              </a:rPr>
              <a:t>基本寻址方式</a:t>
            </a:r>
          </a:p>
          <a:p>
            <a:pPr marL="342900" indent="-342900">
              <a:lnSpc>
                <a:spcPct val="115000"/>
              </a:lnSpc>
              <a:spcBef>
                <a:spcPct val="20000"/>
              </a:spcBef>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    </a:t>
            </a:r>
            <a:r>
              <a:rPr lang="zh-CN" altLang="en-US">
                <a:solidFill>
                  <a:srgbClr val="0000FF"/>
                </a:solidFill>
                <a:latin typeface="微软雅黑" panose="020B0503020204020204" pitchFamily="34" charset="-122"/>
                <a:ea typeface="微软雅黑" panose="020B0503020204020204" pitchFamily="34" charset="-122"/>
              </a:rPr>
              <a:t>立即 / 直接 / 间接 / 寄存器 / 寄存器间接 / 偏移 / 栈</a:t>
            </a:r>
          </a:p>
          <a:p>
            <a:pPr marL="342900" indent="-342900">
              <a:lnSpc>
                <a:spcPct val="115000"/>
              </a:lnSpc>
              <a:spcBef>
                <a:spcPct val="20000"/>
              </a:spcBef>
            </a:pPr>
            <a:r>
              <a:rPr lang="zh-CN" altLang="en-US">
                <a:latin typeface="微软雅黑" panose="020B0503020204020204" pitchFamily="34" charset="-122"/>
                <a:ea typeface="微软雅黑" panose="020B0503020204020204" pitchFamily="34" charset="-122"/>
              </a:rPr>
              <a:t>基本寻址方式的</a:t>
            </a:r>
            <a:r>
              <a:rPr lang="zh-CN" altLang="en-US">
                <a:latin typeface="微软雅黑" panose="020B0503020204020204" pitchFamily="34" charset="-122"/>
                <a:ea typeface="微软雅黑" panose="020B0503020204020204" pitchFamily="34" charset="-122"/>
                <a:hlinkClick r:id="" action="ppaction://hlinkshowjump?jump=nextslide"/>
              </a:rPr>
              <a:t>算法及优缺点</a:t>
            </a:r>
            <a:endParaRPr lang="zh-CN" altLang="en-US">
              <a:latin typeface="微软雅黑" panose="020B0503020204020204" pitchFamily="34" charset="-122"/>
              <a:ea typeface="微软雅黑" panose="020B0503020204020204" pitchFamily="34" charset="-122"/>
            </a:endParaRPr>
          </a:p>
          <a:p>
            <a:pPr marL="342900" indent="-342900">
              <a:lnSpc>
                <a:spcPct val="115000"/>
              </a:lnSpc>
              <a:spcBef>
                <a:spcPct val="20000"/>
              </a:spcBef>
              <a:buFont typeface="Monotype Sorts"/>
              <a:buNone/>
            </a:pPr>
            <a:r>
              <a:rPr lang="zh-CN" altLang="en-US">
                <a:latin typeface="微软雅黑" panose="020B0503020204020204" pitchFamily="34" charset="-122"/>
                <a:ea typeface="微软雅黑" panose="020B0503020204020204" pitchFamily="34" charset="-122"/>
              </a:rPr>
              <a:t>     </a:t>
            </a:r>
            <a:r>
              <a:rPr lang="zh-CN" altLang="en-US">
                <a:solidFill>
                  <a:schemeClr val="accent2"/>
                </a:solidFill>
                <a:latin typeface="微软雅黑" panose="020B0503020204020204" pitchFamily="34" charset="-122"/>
                <a:ea typeface="微软雅黑" panose="020B0503020204020204" pitchFamily="34" charset="-122"/>
              </a:rPr>
              <a:t>（见下页）</a:t>
            </a:r>
          </a:p>
        </p:txBody>
      </p:sp>
      <p:sp>
        <p:nvSpPr>
          <p:cNvPr id="16386" name="Rectangle 3">
            <a:extLst>
              <a:ext uri="{FF2B5EF4-FFF2-40B4-BE49-F238E27FC236}">
                <a16:creationId xmlns:a16="http://schemas.microsoft.com/office/drawing/2014/main" id="{B676C770-DECF-6A0D-FB91-8BD27C7980BA}"/>
              </a:ext>
            </a:extLst>
          </p:cNvPr>
          <p:cNvSpPr>
            <a:spLocks noGrp="1" noChangeArrowheads="1"/>
          </p:cNvSpPr>
          <p:nvPr>
            <p:ph type="title"/>
          </p:nvPr>
        </p:nvSpPr>
        <p:spPr>
          <a:xfrm>
            <a:off x="685800" y="85725"/>
            <a:ext cx="3017838" cy="371475"/>
          </a:xfrm>
        </p:spPr>
        <p:txBody>
          <a:bodyPr/>
          <a:lstStyle/>
          <a:p>
            <a:r>
              <a:rPr lang="en-US" altLang="zh-CN">
                <a:ea typeface="宋体" panose="02010600030101010101" pitchFamily="2" charset="-122"/>
              </a:rPr>
              <a:t>Addressing Modes</a:t>
            </a:r>
            <a:endParaRPr lang="zh-CN" altLang="en-US">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0690">
                                            <p:txEl>
                                              <p:pRg st="1" end="1"/>
                                            </p:txEl>
                                          </p:spTgt>
                                        </p:tgtEl>
                                        <p:attrNameLst>
                                          <p:attrName>style.visibility</p:attrName>
                                        </p:attrNameLst>
                                      </p:cBhvr>
                                      <p:to>
                                        <p:strVal val="visible"/>
                                      </p:to>
                                    </p:set>
                                    <p:animEffect transition="in" filter="blinds(horizontal)">
                                      <p:cBhvr>
                                        <p:cTn id="7" dur="500"/>
                                        <p:tgtEl>
                                          <p:spTgt spid="37069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0690">
                                            <p:txEl>
                                              <p:pRg st="2" end="2"/>
                                            </p:txEl>
                                          </p:spTgt>
                                        </p:tgtEl>
                                        <p:attrNameLst>
                                          <p:attrName>style.visibility</p:attrName>
                                        </p:attrNameLst>
                                      </p:cBhvr>
                                      <p:to>
                                        <p:strVal val="visible"/>
                                      </p:to>
                                    </p:set>
                                    <p:animEffect transition="in" filter="blinds(horizontal)">
                                      <p:cBhvr>
                                        <p:cTn id="12" dur="500"/>
                                        <p:tgtEl>
                                          <p:spTgt spid="37069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0690">
                                            <p:txEl>
                                              <p:pRg st="3" end="3"/>
                                            </p:txEl>
                                          </p:spTgt>
                                        </p:tgtEl>
                                        <p:attrNameLst>
                                          <p:attrName>style.visibility</p:attrName>
                                        </p:attrNameLst>
                                      </p:cBhvr>
                                      <p:to>
                                        <p:strVal val="visible"/>
                                      </p:to>
                                    </p:set>
                                    <p:animEffect transition="in" filter="blinds(horizontal)">
                                      <p:cBhvr>
                                        <p:cTn id="17" dur="500"/>
                                        <p:tgtEl>
                                          <p:spTgt spid="37069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0690">
                                            <p:txEl>
                                              <p:pRg st="4" end="4"/>
                                            </p:txEl>
                                          </p:spTgt>
                                        </p:tgtEl>
                                        <p:attrNameLst>
                                          <p:attrName>style.visibility</p:attrName>
                                        </p:attrNameLst>
                                      </p:cBhvr>
                                      <p:to>
                                        <p:strVal val="visible"/>
                                      </p:to>
                                    </p:set>
                                    <p:animEffect transition="in" filter="blinds(horizontal)">
                                      <p:cBhvr>
                                        <p:cTn id="22" dur="500"/>
                                        <p:tgtEl>
                                          <p:spTgt spid="370690">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0690">
                                            <p:txEl>
                                              <p:pRg st="6" end="6"/>
                                            </p:txEl>
                                          </p:spTgt>
                                        </p:tgtEl>
                                        <p:attrNameLst>
                                          <p:attrName>style.visibility</p:attrName>
                                        </p:attrNameLst>
                                      </p:cBhvr>
                                      <p:to>
                                        <p:strVal val="visible"/>
                                      </p:to>
                                    </p:set>
                                    <p:animEffect transition="in" filter="blinds(horizontal)">
                                      <p:cBhvr>
                                        <p:cTn id="27" dur="500"/>
                                        <p:tgtEl>
                                          <p:spTgt spid="370690">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70690">
                                            <p:txEl>
                                              <p:pRg st="8" end="8"/>
                                            </p:txEl>
                                          </p:spTgt>
                                        </p:tgtEl>
                                        <p:attrNameLst>
                                          <p:attrName>style.visibility</p:attrName>
                                        </p:attrNameLst>
                                      </p:cBhvr>
                                      <p:to>
                                        <p:strVal val="visible"/>
                                      </p:to>
                                    </p:set>
                                    <p:animEffect transition="in" filter="blinds(horizontal)">
                                      <p:cBhvr>
                                        <p:cTn id="32" dur="500"/>
                                        <p:tgtEl>
                                          <p:spTgt spid="370690">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70690">
                                            <p:txEl>
                                              <p:pRg st="10" end="10"/>
                                            </p:txEl>
                                          </p:spTgt>
                                        </p:tgtEl>
                                        <p:attrNameLst>
                                          <p:attrName>style.visibility</p:attrName>
                                        </p:attrNameLst>
                                      </p:cBhvr>
                                      <p:to>
                                        <p:strVal val="visible"/>
                                      </p:to>
                                    </p:set>
                                    <p:animEffect transition="in" filter="blinds(horizontal)">
                                      <p:cBhvr>
                                        <p:cTn id="37" dur="500"/>
                                        <p:tgtEl>
                                          <p:spTgt spid="37069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1C67B9DE-BC2E-B8BE-2145-3DC767431E52}"/>
              </a:ext>
            </a:extLst>
          </p:cNvPr>
          <p:cNvSpPr>
            <a:spLocks noGrp="1" noChangeArrowheads="1"/>
          </p:cNvSpPr>
          <p:nvPr>
            <p:ph type="title"/>
          </p:nvPr>
        </p:nvSpPr>
        <p:spPr>
          <a:xfrm>
            <a:off x="711200" y="82550"/>
            <a:ext cx="4700588" cy="368300"/>
          </a:xfrm>
        </p:spPr>
        <p:txBody>
          <a:bodyPr anchor="ctr"/>
          <a:lstStyle/>
          <a:p>
            <a:r>
              <a:rPr lang="zh-CN" altLang="en-US">
                <a:ea typeface="宋体" panose="02010600030101010101" pitchFamily="2" charset="-122"/>
              </a:rPr>
              <a:t>基本寻址方式的算法和优缺点</a:t>
            </a:r>
          </a:p>
        </p:txBody>
      </p:sp>
      <p:sp>
        <p:nvSpPr>
          <p:cNvPr id="371715" name="Rectangle 3">
            <a:extLst>
              <a:ext uri="{FF2B5EF4-FFF2-40B4-BE49-F238E27FC236}">
                <a16:creationId xmlns:a16="http://schemas.microsoft.com/office/drawing/2014/main" id="{816CCA8A-1907-343F-F439-486A9A40BF83}"/>
              </a:ext>
            </a:extLst>
          </p:cNvPr>
          <p:cNvSpPr>
            <a:spLocks noGrp="1" noChangeArrowheads="1"/>
          </p:cNvSpPr>
          <p:nvPr>
            <p:ph idx="1"/>
          </p:nvPr>
        </p:nvSpPr>
        <p:spPr>
          <a:xfrm>
            <a:off x="604838" y="1335088"/>
            <a:ext cx="8158162" cy="4700587"/>
          </a:xfrm>
        </p:spPr>
        <p:txBody>
          <a:bodyPr/>
          <a:lstStyle/>
          <a:p>
            <a:pPr marL="342900" indent="-342900">
              <a:lnSpc>
                <a:spcPct val="120000"/>
              </a:lnSpc>
              <a:buFont typeface="Wingdings" panose="05000000000000000000" pitchFamily="2" charset="2"/>
              <a:buNone/>
            </a:pPr>
            <a:r>
              <a:rPr lang="zh-CN" altLang="en-US" sz="1800">
                <a:solidFill>
                  <a:srgbClr val="0000FF"/>
                </a:solidFill>
                <a:latin typeface="微软雅黑" panose="020B0503020204020204" pitchFamily="34" charset="-122"/>
                <a:ea typeface="微软雅黑" panose="020B0503020204020204" pitchFamily="34" charset="-122"/>
              </a:rPr>
              <a:t>方式	     </a:t>
            </a:r>
            <a:r>
              <a:rPr lang="en-US" altLang="zh-CN" sz="1800">
                <a:solidFill>
                  <a:srgbClr val="0000FF"/>
                </a:solidFill>
                <a:latin typeface="微软雅黑" panose="020B0503020204020204" pitchFamily="34" charset="-122"/>
                <a:ea typeface="微软雅黑" panose="020B0503020204020204" pitchFamily="34" charset="-122"/>
              </a:rPr>
              <a:t>	</a:t>
            </a:r>
            <a:r>
              <a:rPr lang="zh-CN" altLang="en-US" sz="1800">
                <a:solidFill>
                  <a:srgbClr val="0000FF"/>
                </a:solidFill>
                <a:latin typeface="微软雅黑" panose="020B0503020204020204" pitchFamily="34" charset="-122"/>
                <a:ea typeface="微软雅黑" panose="020B0503020204020204" pitchFamily="34" charset="-122"/>
              </a:rPr>
              <a:t> 算法	            主要优点	                      主要缺点</a:t>
            </a:r>
          </a:p>
          <a:p>
            <a:pPr marL="342900" indent="-342900">
              <a:lnSpc>
                <a:spcPct val="12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立即数	    </a:t>
            </a:r>
            <a:r>
              <a:rPr lang="en-US"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操作数=</a:t>
            </a:r>
            <a:r>
              <a:rPr lang="en-US" altLang="en-US" sz="1800">
                <a:latin typeface="微软雅黑" panose="020B0503020204020204" pitchFamily="34" charset="-122"/>
                <a:ea typeface="微软雅黑" panose="020B0503020204020204" pitchFamily="34" charset="-122"/>
              </a:rPr>
              <a:t>A      </a:t>
            </a:r>
            <a:r>
              <a:rPr lang="en-US"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指令执行速度快            操作数幅值有限</a:t>
            </a:r>
          </a:p>
          <a:p>
            <a:pPr marL="342900" indent="-342900">
              <a:lnSpc>
                <a:spcPct val="12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直接       </a:t>
            </a:r>
            <a:r>
              <a:rPr lang="en-US" altLang="zh-CN" sz="1800">
                <a:latin typeface="微软雅黑" panose="020B0503020204020204" pitchFamily="34" charset="-122"/>
                <a:ea typeface="微软雅黑" panose="020B0503020204020204" pitchFamily="34" charset="-122"/>
              </a:rPr>
              <a:t>	</a:t>
            </a:r>
            <a:r>
              <a:rPr lang="en-US" altLang="en-US" sz="1800">
                <a:latin typeface="微软雅黑" panose="020B0503020204020204" pitchFamily="34" charset="-122"/>
                <a:ea typeface="微软雅黑" panose="020B0503020204020204" pitchFamily="34" charset="-122"/>
              </a:rPr>
              <a:t>EA=A               </a:t>
            </a:r>
            <a:r>
              <a:rPr lang="en-US" altLang="zh-CN" sz="1800">
                <a:latin typeface="微软雅黑" panose="020B0503020204020204" pitchFamily="34" charset="-122"/>
                <a:ea typeface="微软雅黑" panose="020B0503020204020204" pitchFamily="34" charset="-122"/>
              </a:rPr>
              <a:t>有效</a:t>
            </a:r>
            <a:r>
              <a:rPr lang="zh-CN" altLang="en-US" sz="1800">
                <a:latin typeface="微软雅黑" panose="020B0503020204020204" pitchFamily="34" charset="-122"/>
                <a:ea typeface="微软雅黑" panose="020B0503020204020204" pitchFamily="34" charset="-122"/>
              </a:rPr>
              <a:t>地址计算简单        地址范围有限</a:t>
            </a:r>
          </a:p>
          <a:p>
            <a:pPr marL="342900" indent="-342900">
              <a:lnSpc>
                <a:spcPct val="12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间接      </a:t>
            </a:r>
            <a:r>
              <a:rPr lang="en-US" altLang="zh-CN" sz="1800">
                <a:latin typeface="微软雅黑" panose="020B0503020204020204" pitchFamily="34" charset="-122"/>
                <a:ea typeface="微软雅黑" panose="020B0503020204020204" pitchFamily="34" charset="-122"/>
              </a:rPr>
              <a:t>		</a:t>
            </a:r>
            <a:r>
              <a:rPr lang="en-US" altLang="en-US" sz="1800">
                <a:latin typeface="微软雅黑" panose="020B0503020204020204" pitchFamily="34" charset="-122"/>
                <a:ea typeface="微软雅黑" panose="020B0503020204020204" pitchFamily="34" charset="-122"/>
              </a:rPr>
              <a:t>EA=</a:t>
            </a:r>
            <a:r>
              <a:rPr lang="en-US" altLang="zh-CN" sz="1800">
                <a:latin typeface="微软雅黑" panose="020B0503020204020204" pitchFamily="34" charset="-122"/>
                <a:ea typeface="微软雅黑" panose="020B0503020204020204" pitchFamily="34" charset="-122"/>
              </a:rPr>
              <a:t>(A)             </a:t>
            </a:r>
            <a:r>
              <a:rPr lang="zh-CN" altLang="en-US" sz="1800">
                <a:latin typeface="微软雅黑" panose="020B0503020204020204" pitchFamily="34" charset="-122"/>
                <a:ea typeface="微软雅黑" panose="020B0503020204020204" pitchFamily="34" charset="-122"/>
              </a:rPr>
              <a:t>有效地址范围大           多次存储器访问</a:t>
            </a:r>
          </a:p>
          <a:p>
            <a:pPr marL="342900" indent="-342900">
              <a:lnSpc>
                <a:spcPct val="12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寄存器     </a:t>
            </a:r>
            <a:r>
              <a:rPr lang="en-US"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操作数</a:t>
            </a:r>
            <a:r>
              <a:rPr lang="en-US"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a:t>
            </a:r>
            <a:r>
              <a:rPr lang="en-US" altLang="en-US" sz="1800">
                <a:latin typeface="微软雅黑" panose="020B0503020204020204" pitchFamily="34" charset="-122"/>
                <a:ea typeface="微软雅黑" panose="020B0503020204020204" pitchFamily="34" charset="-122"/>
              </a:rPr>
              <a:t>R</a:t>
            </a:r>
            <a:r>
              <a:rPr lang="en-US" altLang="zh-CN" sz="1800">
                <a:latin typeface="微软雅黑" panose="020B0503020204020204" pitchFamily="34" charset="-122"/>
                <a:ea typeface="微软雅黑" panose="020B0503020204020204" pitchFamily="34" charset="-122"/>
              </a:rPr>
              <a:t>)</a:t>
            </a:r>
            <a:r>
              <a:rPr lang="en-US" altLang="en-US" sz="1800">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指令</a:t>
            </a:r>
            <a:r>
              <a:rPr lang="zh-CN" altLang="en-US" sz="1800">
                <a:latin typeface="微软雅黑" panose="020B0503020204020204" pitchFamily="34" charset="-122"/>
                <a:ea typeface="微软雅黑" panose="020B0503020204020204" pitchFamily="34" charset="-122"/>
              </a:rPr>
              <a:t>执行快，指令短   地址范围有限 </a:t>
            </a:r>
          </a:p>
          <a:p>
            <a:pPr marL="342900" indent="-342900">
              <a:lnSpc>
                <a:spcPct val="12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寄存器间接     </a:t>
            </a:r>
            <a:r>
              <a:rPr lang="en-US" altLang="zh-CN" sz="1800">
                <a:latin typeface="微软雅黑" panose="020B0503020204020204" pitchFamily="34" charset="-122"/>
                <a:ea typeface="微软雅黑" panose="020B0503020204020204" pitchFamily="34" charset="-122"/>
              </a:rPr>
              <a:t>	</a:t>
            </a:r>
            <a:r>
              <a:rPr lang="en-US" altLang="en-US" sz="1800">
                <a:latin typeface="微软雅黑" panose="020B0503020204020204" pitchFamily="34" charset="-122"/>
                <a:ea typeface="微软雅黑" panose="020B0503020204020204" pitchFamily="34" charset="-122"/>
              </a:rPr>
              <a:t>EA=</a:t>
            </a:r>
            <a:r>
              <a:rPr lang="en-US" altLang="zh-CN" sz="1800">
                <a:latin typeface="微软雅黑" panose="020B0503020204020204" pitchFamily="34" charset="-122"/>
                <a:ea typeface="微软雅黑" panose="020B0503020204020204" pitchFamily="34" charset="-122"/>
              </a:rPr>
              <a:t>(R)              </a:t>
            </a:r>
            <a:r>
              <a:rPr lang="zh-CN" altLang="zh-CN" sz="1800">
                <a:latin typeface="微软雅黑" panose="020B0503020204020204" pitchFamily="34" charset="-122"/>
                <a:ea typeface="微软雅黑" panose="020B0503020204020204" pitchFamily="34" charset="-122"/>
              </a:rPr>
              <a:t>地址范围大          </a:t>
            </a:r>
            <a:r>
              <a:rPr lang="zh-CN" altLang="en-US" sz="1800">
                <a:latin typeface="微软雅黑" panose="020B0503020204020204" pitchFamily="34" charset="-122"/>
                <a:ea typeface="微软雅黑" panose="020B0503020204020204" pitchFamily="34" charset="-122"/>
              </a:rPr>
              <a:t>   </a:t>
            </a:r>
            <a:r>
              <a:rPr lang="zh-CN"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    </a:t>
            </a:r>
            <a:r>
              <a:rPr lang="zh-CN" altLang="zh-CN" sz="1800">
                <a:latin typeface="微软雅黑" panose="020B0503020204020204" pitchFamily="34" charset="-122"/>
                <a:ea typeface="微软雅黑" panose="020B0503020204020204" pitchFamily="34" charset="-122"/>
              </a:rPr>
              <a:t>额外存储器访问</a:t>
            </a:r>
          </a:p>
          <a:p>
            <a:pPr marL="342900" indent="-342900">
              <a:lnSpc>
                <a:spcPct val="120000"/>
              </a:lnSpc>
              <a:buFont typeface="Wingdings" panose="05000000000000000000" pitchFamily="2" charset="2"/>
              <a:buNone/>
            </a:pPr>
            <a:r>
              <a:rPr lang="zh-CN" altLang="zh-CN" sz="1800">
                <a:latin typeface="微软雅黑" panose="020B0503020204020204" pitchFamily="34" charset="-122"/>
                <a:ea typeface="微软雅黑" panose="020B0503020204020204" pitchFamily="34" charset="-122"/>
              </a:rPr>
              <a:t>偏移        </a:t>
            </a:r>
            <a:r>
              <a:rPr lang="en-US" altLang="zh-CN" sz="1800">
                <a:latin typeface="微软雅黑" panose="020B0503020204020204" pitchFamily="34" charset="-122"/>
                <a:ea typeface="微软雅黑" panose="020B0503020204020204" pitchFamily="34" charset="-122"/>
              </a:rPr>
              <a:t>	EA=A+(R)         </a:t>
            </a:r>
            <a:r>
              <a:rPr lang="zh-CN" altLang="en-US" sz="1800">
                <a:latin typeface="微软雅黑" panose="020B0503020204020204" pitchFamily="34" charset="-122"/>
                <a:ea typeface="微软雅黑" panose="020B0503020204020204" pitchFamily="34" charset="-122"/>
              </a:rPr>
              <a:t>灵活                            复杂</a:t>
            </a:r>
          </a:p>
          <a:p>
            <a:pPr marL="342900" indent="-342900">
              <a:lnSpc>
                <a:spcPct val="12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栈            </a:t>
            </a:r>
            <a:r>
              <a:rPr lang="en-US" altLang="zh-CN" sz="1800">
                <a:latin typeface="微软雅黑" panose="020B0503020204020204" pitchFamily="34" charset="-122"/>
                <a:ea typeface="微软雅黑" panose="020B0503020204020204" pitchFamily="34" charset="-122"/>
              </a:rPr>
              <a:t>	</a:t>
            </a:r>
            <a:r>
              <a:rPr lang="en-US" altLang="en-US" sz="1800">
                <a:latin typeface="微软雅黑" panose="020B0503020204020204" pitchFamily="34" charset="-122"/>
                <a:ea typeface="微软雅黑" panose="020B0503020204020204" pitchFamily="34" charset="-122"/>
              </a:rPr>
              <a:t>EA=</a:t>
            </a:r>
            <a:r>
              <a:rPr lang="zh-CN" altLang="en-US" sz="1800">
                <a:latin typeface="微软雅黑" panose="020B0503020204020204" pitchFamily="34" charset="-122"/>
                <a:ea typeface="微软雅黑" panose="020B0503020204020204" pitchFamily="34" charset="-122"/>
              </a:rPr>
              <a:t>栈顶           指令短                          应用有限</a:t>
            </a:r>
          </a:p>
          <a:p>
            <a:pPr marL="342900" indent="-342900">
              <a:lnSpc>
                <a:spcPct val="70000"/>
              </a:lnSpc>
              <a:buFont typeface="Wingdings" panose="05000000000000000000" pitchFamily="2" charset="2"/>
              <a:buNone/>
            </a:pPr>
            <a:endParaRPr lang="en-US" altLang="zh-CN" sz="1800">
              <a:latin typeface="微软雅黑" panose="020B0503020204020204" pitchFamily="34" charset="-122"/>
              <a:ea typeface="微软雅黑" panose="020B0503020204020204" pitchFamily="34" charset="-122"/>
              <a:hlinkClick r:id="" action="ppaction://hlinkshowjump?jump=nextslide"/>
            </a:endParaRPr>
          </a:p>
          <a:p>
            <a:pPr marL="342900" indent="-342900">
              <a:lnSpc>
                <a:spcPct val="7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偏移方式：将直接方式和寄存器间接方式结合起来。</a:t>
            </a:r>
          </a:p>
          <a:p>
            <a:pPr marL="342900" indent="-342900">
              <a:lnSpc>
                <a:spcPct val="70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          有：相对 </a:t>
            </a:r>
            <a:r>
              <a:rPr lang="zh-CN" altLang="zh-CN" sz="1800">
                <a:latin typeface="微软雅黑" panose="020B0503020204020204" pitchFamily="34" charset="-122"/>
                <a:ea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rPr>
              <a:t> 基址 / 变址三种 </a:t>
            </a:r>
            <a:r>
              <a:rPr lang="zh-CN" altLang="en-US" sz="1800">
                <a:solidFill>
                  <a:schemeClr val="accent2"/>
                </a:solidFill>
                <a:latin typeface="微软雅黑" panose="020B0503020204020204" pitchFamily="34" charset="-122"/>
                <a:ea typeface="微软雅黑" panose="020B0503020204020204" pitchFamily="34" charset="-122"/>
              </a:rPr>
              <a:t>（见后面几页！）</a:t>
            </a:r>
          </a:p>
          <a:p>
            <a:pPr marL="342900" indent="-342900">
              <a:lnSpc>
                <a:spcPct val="70000"/>
              </a:lnSpc>
              <a:buFont typeface="Wingdings" panose="05000000000000000000" pitchFamily="2" charset="2"/>
              <a:buNone/>
            </a:pPr>
            <a:r>
              <a:rPr lang="zh-CN" altLang="en-US" sz="1800">
                <a:latin typeface="Arial" panose="020B0604020202020204" pitchFamily="34" charset="0"/>
                <a:ea typeface="黑体" panose="02010609060101010101" pitchFamily="49" charset="-122"/>
              </a:rPr>
              <a:t>			       	</a:t>
            </a:r>
          </a:p>
        </p:txBody>
      </p:sp>
      <p:sp>
        <p:nvSpPr>
          <p:cNvPr id="17411" name="Line 4">
            <a:extLst>
              <a:ext uri="{FF2B5EF4-FFF2-40B4-BE49-F238E27FC236}">
                <a16:creationId xmlns:a16="http://schemas.microsoft.com/office/drawing/2014/main" id="{4555C415-1471-0F25-C38E-5FA4B4F768A1}"/>
              </a:ext>
            </a:extLst>
          </p:cNvPr>
          <p:cNvSpPr>
            <a:spLocks noChangeShapeType="1"/>
          </p:cNvSpPr>
          <p:nvPr/>
        </p:nvSpPr>
        <p:spPr bwMode="auto">
          <a:xfrm>
            <a:off x="530225" y="1730375"/>
            <a:ext cx="7696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2" name="Line 5">
            <a:extLst>
              <a:ext uri="{FF2B5EF4-FFF2-40B4-BE49-F238E27FC236}">
                <a16:creationId xmlns:a16="http://schemas.microsoft.com/office/drawing/2014/main" id="{C020713A-8EC8-7A9C-3C8B-6CF0240D274B}"/>
              </a:ext>
            </a:extLst>
          </p:cNvPr>
          <p:cNvSpPr>
            <a:spLocks noChangeShapeType="1"/>
          </p:cNvSpPr>
          <p:nvPr/>
        </p:nvSpPr>
        <p:spPr bwMode="auto">
          <a:xfrm>
            <a:off x="530225" y="4608513"/>
            <a:ext cx="7696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3" name="Rectangle 6">
            <a:extLst>
              <a:ext uri="{FF2B5EF4-FFF2-40B4-BE49-F238E27FC236}">
                <a16:creationId xmlns:a16="http://schemas.microsoft.com/office/drawing/2014/main" id="{A549A0C2-CBEB-8062-30F7-D8BA25AB4E3B}"/>
              </a:ext>
            </a:extLst>
          </p:cNvPr>
          <p:cNvSpPr>
            <a:spLocks noChangeArrowheads="1"/>
          </p:cNvSpPr>
          <p:nvPr/>
        </p:nvSpPr>
        <p:spPr bwMode="auto">
          <a:xfrm>
            <a:off x="65088" y="630238"/>
            <a:ext cx="451643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r>
              <a:rPr lang="zh-CN" altLang="en-US" sz="1800">
                <a:solidFill>
                  <a:srgbClr val="A50021"/>
                </a:solidFill>
                <a:latin typeface="微软雅黑" panose="020B0503020204020204" pitchFamily="34" charset="-122"/>
                <a:ea typeface="微软雅黑" panose="020B0503020204020204" pitchFamily="34" charset="-122"/>
              </a:rPr>
              <a:t>假设：</a:t>
            </a:r>
            <a:r>
              <a:rPr lang="en-US" altLang="en-US" sz="1800">
                <a:solidFill>
                  <a:srgbClr val="A50021"/>
                </a:solidFill>
                <a:latin typeface="微软雅黑" panose="020B0503020204020204" pitchFamily="34" charset="-122"/>
                <a:ea typeface="微软雅黑" panose="020B0503020204020204" pitchFamily="34" charset="-122"/>
              </a:rPr>
              <a:t>A</a:t>
            </a:r>
            <a:r>
              <a:rPr lang="en-US" altLang="zh-CN" sz="1800">
                <a:solidFill>
                  <a:srgbClr val="A50021"/>
                </a:solidFill>
                <a:latin typeface="微软雅黑" panose="020B0503020204020204" pitchFamily="34" charset="-122"/>
                <a:ea typeface="微软雅黑" panose="020B0503020204020204" pitchFamily="34" charset="-122"/>
              </a:rPr>
              <a:t>=</a:t>
            </a:r>
            <a:r>
              <a:rPr lang="zh-CN" altLang="en-US" sz="1800">
                <a:solidFill>
                  <a:srgbClr val="A50021"/>
                </a:solidFill>
                <a:latin typeface="微软雅黑" panose="020B0503020204020204" pitchFamily="34" charset="-122"/>
                <a:ea typeface="微软雅黑" panose="020B0503020204020204" pitchFamily="34" charset="-122"/>
              </a:rPr>
              <a:t>地址字段值，</a:t>
            </a:r>
            <a:r>
              <a:rPr lang="en-US" altLang="zh-CN" sz="1800">
                <a:solidFill>
                  <a:srgbClr val="A50021"/>
                </a:solidFill>
                <a:latin typeface="微软雅黑" panose="020B0503020204020204" pitchFamily="34" charset="-122"/>
                <a:ea typeface="微软雅黑" panose="020B0503020204020204" pitchFamily="34" charset="-122"/>
              </a:rPr>
              <a:t>R=</a:t>
            </a:r>
            <a:r>
              <a:rPr lang="zh-CN" altLang="en-US" sz="1800">
                <a:solidFill>
                  <a:srgbClr val="A50021"/>
                </a:solidFill>
                <a:latin typeface="微软雅黑" panose="020B0503020204020204" pitchFamily="34" charset="-122"/>
                <a:ea typeface="微软雅黑" panose="020B0503020204020204" pitchFamily="34" charset="-122"/>
              </a:rPr>
              <a:t>寄存器编号，</a:t>
            </a:r>
          </a:p>
          <a:p>
            <a:pPr eaLnBrk="0" hangingPunct="0"/>
            <a:r>
              <a:rPr lang="en-US" altLang="zh-CN" sz="1800">
                <a:solidFill>
                  <a:srgbClr val="A50021"/>
                </a:solidFill>
                <a:latin typeface="微软雅黑" panose="020B0503020204020204" pitchFamily="34" charset="-122"/>
                <a:ea typeface="微软雅黑" panose="020B0503020204020204" pitchFamily="34" charset="-122"/>
              </a:rPr>
              <a:t>           </a:t>
            </a:r>
            <a:r>
              <a:rPr lang="en-US" altLang="en-US" sz="1800">
                <a:solidFill>
                  <a:srgbClr val="A50021"/>
                </a:solidFill>
                <a:latin typeface="微软雅黑" panose="020B0503020204020204" pitchFamily="34" charset="-122"/>
                <a:ea typeface="微软雅黑" panose="020B0503020204020204" pitchFamily="34" charset="-122"/>
              </a:rPr>
              <a:t>EA=</a:t>
            </a:r>
            <a:r>
              <a:rPr lang="zh-CN" altLang="en-US" sz="1800">
                <a:solidFill>
                  <a:srgbClr val="A50021"/>
                </a:solidFill>
                <a:latin typeface="微软雅黑" panose="020B0503020204020204" pitchFamily="34" charset="-122"/>
                <a:ea typeface="微软雅黑" panose="020B0503020204020204" pitchFamily="34" charset="-122"/>
              </a:rPr>
              <a:t>有效地址， (</a:t>
            </a:r>
            <a:r>
              <a:rPr lang="en-US" altLang="zh-CN" sz="1800">
                <a:solidFill>
                  <a:srgbClr val="A50021"/>
                </a:solidFill>
                <a:latin typeface="微软雅黑" panose="020B0503020204020204" pitchFamily="34" charset="-122"/>
                <a:ea typeface="微软雅黑" panose="020B0503020204020204" pitchFamily="34" charset="-122"/>
              </a:rPr>
              <a:t>X)=</a:t>
            </a:r>
            <a:r>
              <a:rPr lang="en-US" altLang="en-US" sz="1800">
                <a:solidFill>
                  <a:srgbClr val="A50021"/>
                </a:solidFill>
                <a:latin typeface="微软雅黑" panose="020B0503020204020204" pitchFamily="34" charset="-122"/>
                <a:ea typeface="微软雅黑" panose="020B0503020204020204" pitchFamily="34" charset="-122"/>
              </a:rPr>
              <a:t>X</a:t>
            </a:r>
            <a:r>
              <a:rPr lang="zh-CN" altLang="en-US" sz="1800">
                <a:solidFill>
                  <a:srgbClr val="A50021"/>
                </a:solidFill>
                <a:latin typeface="微软雅黑" panose="020B0503020204020204" pitchFamily="34" charset="-122"/>
                <a:ea typeface="微软雅黑" panose="020B0503020204020204" pitchFamily="34" charset="-122"/>
              </a:rPr>
              <a:t>中的内容</a:t>
            </a:r>
          </a:p>
        </p:txBody>
      </p:sp>
      <p:sp>
        <p:nvSpPr>
          <p:cNvPr id="371720" name="Text Box 8">
            <a:extLst>
              <a:ext uri="{FF2B5EF4-FFF2-40B4-BE49-F238E27FC236}">
                <a16:creationId xmlns:a16="http://schemas.microsoft.com/office/drawing/2014/main" id="{5193828E-6703-38FF-83EE-E40EC9C8AE15}"/>
              </a:ext>
            </a:extLst>
          </p:cNvPr>
          <p:cNvSpPr txBox="1">
            <a:spLocks noChangeArrowheads="1"/>
          </p:cNvSpPr>
          <p:nvPr/>
        </p:nvSpPr>
        <p:spPr bwMode="auto">
          <a:xfrm>
            <a:off x="442913" y="5538788"/>
            <a:ext cx="809466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solidFill>
                  <a:srgbClr val="EE3900"/>
                </a:solidFill>
                <a:latin typeface="微软雅黑" panose="020B0503020204020204" pitchFamily="34" charset="-122"/>
                <a:ea typeface="微软雅黑" panose="020B0503020204020204" pitchFamily="34" charset="-122"/>
              </a:rPr>
              <a:t>问题：以上各种寻址方式下，操作数在寄存器中还是在存储器中？</a:t>
            </a:r>
          </a:p>
        </p:txBody>
      </p:sp>
      <p:sp>
        <p:nvSpPr>
          <p:cNvPr id="371721" name="Text Box 9">
            <a:extLst>
              <a:ext uri="{FF2B5EF4-FFF2-40B4-BE49-F238E27FC236}">
                <a16:creationId xmlns:a16="http://schemas.microsoft.com/office/drawing/2014/main" id="{11A4206B-0A77-D962-B12A-FC7E793DD007}"/>
              </a:ext>
            </a:extLst>
          </p:cNvPr>
          <p:cNvSpPr txBox="1">
            <a:spLocks noChangeArrowheads="1"/>
          </p:cNvSpPr>
          <p:nvPr/>
        </p:nvSpPr>
        <p:spPr bwMode="auto">
          <a:xfrm>
            <a:off x="417513" y="6075363"/>
            <a:ext cx="85328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latin typeface="微软雅黑" panose="020B0503020204020204" pitchFamily="34" charset="-122"/>
                <a:ea typeface="微软雅黑" panose="020B0503020204020204" pitchFamily="34" charset="-122"/>
              </a:rPr>
              <a:t>需要计算有效地址</a:t>
            </a:r>
            <a:r>
              <a:rPr lang="en-US" altLang="zh-CN" sz="2000">
                <a:latin typeface="微软雅黑" panose="020B0503020204020204" pitchFamily="34" charset="-122"/>
                <a:ea typeface="微软雅黑" panose="020B0503020204020204" pitchFamily="34" charset="-122"/>
              </a:rPr>
              <a:t>EA</a:t>
            </a:r>
            <a:r>
              <a:rPr lang="zh-CN" altLang="en-US" sz="2000">
                <a:latin typeface="微软雅黑" panose="020B0503020204020204" pitchFamily="34" charset="-122"/>
                <a:ea typeface="微软雅黑" panose="020B0503020204020204" pitchFamily="34" charset="-122"/>
              </a:rPr>
              <a:t>的操作数都是在存储器中</a:t>
            </a:r>
          </a:p>
        </p:txBody>
      </p:sp>
      <p:sp>
        <p:nvSpPr>
          <p:cNvPr id="17416" name="矩形 9">
            <a:extLst>
              <a:ext uri="{FF2B5EF4-FFF2-40B4-BE49-F238E27FC236}">
                <a16:creationId xmlns:a16="http://schemas.microsoft.com/office/drawing/2014/main" id="{44FCB969-2B59-9F76-305C-E02F4A9B1E4C}"/>
              </a:ext>
            </a:extLst>
          </p:cNvPr>
          <p:cNvSpPr>
            <a:spLocks noChangeArrowheads="1"/>
          </p:cNvSpPr>
          <p:nvPr/>
        </p:nvSpPr>
        <p:spPr bwMode="auto">
          <a:xfrm>
            <a:off x="5186363" y="641350"/>
            <a:ext cx="3467100" cy="436563"/>
          </a:xfrm>
          <a:prstGeom prst="rect">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63500" tIns="25400" rIns="63500" bIns="25400"/>
          <a:lstStyle/>
          <a:p>
            <a:pPr eaLnBrk="0" hangingPunct="0"/>
            <a:endParaRPr lang="zh-CN" altLang="en-US"/>
          </a:p>
        </p:txBody>
      </p:sp>
      <p:cxnSp>
        <p:nvCxnSpPr>
          <p:cNvPr id="17417" name="直接连接符 21">
            <a:extLst>
              <a:ext uri="{FF2B5EF4-FFF2-40B4-BE49-F238E27FC236}">
                <a16:creationId xmlns:a16="http://schemas.microsoft.com/office/drawing/2014/main" id="{EFDE6B23-E318-41A1-F01F-5AC3370E6697}"/>
              </a:ext>
            </a:extLst>
          </p:cNvPr>
          <p:cNvCxnSpPr>
            <a:cxnSpLocks noChangeShapeType="1"/>
          </p:cNvCxnSpPr>
          <p:nvPr/>
        </p:nvCxnSpPr>
        <p:spPr bwMode="auto">
          <a:xfrm>
            <a:off x="6953250" y="641350"/>
            <a:ext cx="0" cy="4365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7418" name="直接连接符 25">
            <a:extLst>
              <a:ext uri="{FF2B5EF4-FFF2-40B4-BE49-F238E27FC236}">
                <a16:creationId xmlns:a16="http://schemas.microsoft.com/office/drawing/2014/main" id="{09641363-6956-71A1-3431-69024E340308}"/>
              </a:ext>
            </a:extLst>
          </p:cNvPr>
          <p:cNvCxnSpPr>
            <a:cxnSpLocks noChangeShapeType="1"/>
          </p:cNvCxnSpPr>
          <p:nvPr/>
        </p:nvCxnSpPr>
        <p:spPr bwMode="auto">
          <a:xfrm>
            <a:off x="6000750" y="642938"/>
            <a:ext cx="0" cy="4381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7419" name="TextBox 26">
            <a:extLst>
              <a:ext uri="{FF2B5EF4-FFF2-40B4-BE49-F238E27FC236}">
                <a16:creationId xmlns:a16="http://schemas.microsoft.com/office/drawing/2014/main" id="{914C2078-3CE9-B36D-8ACA-1F797D87E47D}"/>
              </a:ext>
            </a:extLst>
          </p:cNvPr>
          <p:cNvSpPr txBox="1">
            <a:spLocks noChangeArrowheads="1"/>
          </p:cNvSpPr>
          <p:nvPr/>
        </p:nvSpPr>
        <p:spPr bwMode="auto">
          <a:xfrm>
            <a:off x="5295900" y="655638"/>
            <a:ext cx="6000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200"/>
              <a:t>OP</a:t>
            </a:r>
            <a:endParaRPr lang="zh-CN" altLang="en-US" sz="2200"/>
          </a:p>
        </p:txBody>
      </p:sp>
      <p:sp>
        <p:nvSpPr>
          <p:cNvPr id="17420" name="TextBox 27">
            <a:extLst>
              <a:ext uri="{FF2B5EF4-FFF2-40B4-BE49-F238E27FC236}">
                <a16:creationId xmlns:a16="http://schemas.microsoft.com/office/drawing/2014/main" id="{53C42046-E5B1-A0B4-216B-25AF90DF2291}"/>
              </a:ext>
            </a:extLst>
          </p:cNvPr>
          <p:cNvSpPr txBox="1">
            <a:spLocks noChangeArrowheads="1"/>
          </p:cNvSpPr>
          <p:nvPr/>
        </p:nvSpPr>
        <p:spPr bwMode="auto">
          <a:xfrm>
            <a:off x="6226175" y="642938"/>
            <a:ext cx="6000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200"/>
              <a:t>R</a:t>
            </a:r>
            <a:endParaRPr lang="zh-CN" altLang="en-US" sz="2200"/>
          </a:p>
        </p:txBody>
      </p:sp>
      <p:sp>
        <p:nvSpPr>
          <p:cNvPr id="17421" name="TextBox 28">
            <a:extLst>
              <a:ext uri="{FF2B5EF4-FFF2-40B4-BE49-F238E27FC236}">
                <a16:creationId xmlns:a16="http://schemas.microsoft.com/office/drawing/2014/main" id="{4CD33B81-191B-9D6B-E4C7-382A5AF45ACC}"/>
              </a:ext>
            </a:extLst>
          </p:cNvPr>
          <p:cNvSpPr txBox="1">
            <a:spLocks noChangeArrowheads="1"/>
          </p:cNvSpPr>
          <p:nvPr/>
        </p:nvSpPr>
        <p:spPr bwMode="auto">
          <a:xfrm>
            <a:off x="7319963" y="660400"/>
            <a:ext cx="6000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200"/>
              <a:t>A</a:t>
            </a:r>
            <a:endParaRPr lang="zh-CN" altLang="en-US" sz="2200"/>
          </a:p>
        </p:txBody>
      </p:sp>
      <p:cxnSp>
        <p:nvCxnSpPr>
          <p:cNvPr id="17422" name="直接连接符 29">
            <a:extLst>
              <a:ext uri="{FF2B5EF4-FFF2-40B4-BE49-F238E27FC236}">
                <a16:creationId xmlns:a16="http://schemas.microsoft.com/office/drawing/2014/main" id="{B8863888-0114-7D27-30E3-65F651638223}"/>
              </a:ext>
            </a:extLst>
          </p:cNvPr>
          <p:cNvCxnSpPr>
            <a:cxnSpLocks noChangeShapeType="1"/>
          </p:cNvCxnSpPr>
          <p:nvPr/>
        </p:nvCxnSpPr>
        <p:spPr bwMode="auto">
          <a:xfrm>
            <a:off x="7993063" y="642938"/>
            <a:ext cx="0" cy="4381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7423" name="TextBox 30">
            <a:extLst>
              <a:ext uri="{FF2B5EF4-FFF2-40B4-BE49-F238E27FC236}">
                <a16:creationId xmlns:a16="http://schemas.microsoft.com/office/drawing/2014/main" id="{163170DF-95E3-8657-B7AE-BC2E38664FE4}"/>
              </a:ext>
            </a:extLst>
          </p:cNvPr>
          <p:cNvSpPr txBox="1">
            <a:spLocks noChangeArrowheads="1"/>
          </p:cNvSpPr>
          <p:nvPr/>
        </p:nvSpPr>
        <p:spPr bwMode="auto">
          <a:xfrm>
            <a:off x="8099425" y="566738"/>
            <a:ext cx="6016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200"/>
              <a:t>…</a:t>
            </a:r>
            <a:endParaRPr lang="zh-CN" altLang="en-US" sz="2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1715">
                                            <p:txEl>
                                              <p:pRg st="1" end="1"/>
                                            </p:txEl>
                                          </p:spTgt>
                                        </p:tgtEl>
                                        <p:attrNameLst>
                                          <p:attrName>style.visibility</p:attrName>
                                        </p:attrNameLst>
                                      </p:cBhvr>
                                      <p:to>
                                        <p:strVal val="visible"/>
                                      </p:to>
                                    </p:set>
                                    <p:animEffect transition="in" filter="blinds(horizontal)">
                                      <p:cBhvr>
                                        <p:cTn id="7" dur="500"/>
                                        <p:tgtEl>
                                          <p:spTgt spid="3717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1715">
                                            <p:txEl>
                                              <p:pRg st="2" end="2"/>
                                            </p:txEl>
                                          </p:spTgt>
                                        </p:tgtEl>
                                        <p:attrNameLst>
                                          <p:attrName>style.visibility</p:attrName>
                                        </p:attrNameLst>
                                      </p:cBhvr>
                                      <p:to>
                                        <p:strVal val="visible"/>
                                      </p:to>
                                    </p:set>
                                    <p:animEffect transition="in" filter="blinds(horizontal)">
                                      <p:cBhvr>
                                        <p:cTn id="12" dur="500"/>
                                        <p:tgtEl>
                                          <p:spTgt spid="3717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1715">
                                            <p:txEl>
                                              <p:pRg st="3" end="3"/>
                                            </p:txEl>
                                          </p:spTgt>
                                        </p:tgtEl>
                                        <p:attrNameLst>
                                          <p:attrName>style.visibility</p:attrName>
                                        </p:attrNameLst>
                                      </p:cBhvr>
                                      <p:to>
                                        <p:strVal val="visible"/>
                                      </p:to>
                                    </p:set>
                                    <p:animEffect transition="in" filter="blinds(horizontal)">
                                      <p:cBhvr>
                                        <p:cTn id="17" dur="500"/>
                                        <p:tgtEl>
                                          <p:spTgt spid="3717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1715">
                                            <p:txEl>
                                              <p:pRg st="4" end="4"/>
                                            </p:txEl>
                                          </p:spTgt>
                                        </p:tgtEl>
                                        <p:attrNameLst>
                                          <p:attrName>style.visibility</p:attrName>
                                        </p:attrNameLst>
                                      </p:cBhvr>
                                      <p:to>
                                        <p:strVal val="visible"/>
                                      </p:to>
                                    </p:set>
                                    <p:animEffect transition="in" filter="blinds(horizontal)">
                                      <p:cBhvr>
                                        <p:cTn id="22" dur="500"/>
                                        <p:tgtEl>
                                          <p:spTgt spid="3717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1715">
                                            <p:txEl>
                                              <p:pRg st="5" end="5"/>
                                            </p:txEl>
                                          </p:spTgt>
                                        </p:tgtEl>
                                        <p:attrNameLst>
                                          <p:attrName>style.visibility</p:attrName>
                                        </p:attrNameLst>
                                      </p:cBhvr>
                                      <p:to>
                                        <p:strVal val="visible"/>
                                      </p:to>
                                    </p:set>
                                    <p:animEffect transition="in" filter="blinds(horizontal)">
                                      <p:cBhvr>
                                        <p:cTn id="27" dur="500"/>
                                        <p:tgtEl>
                                          <p:spTgt spid="3717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71715">
                                            <p:txEl>
                                              <p:pRg st="6" end="6"/>
                                            </p:txEl>
                                          </p:spTgt>
                                        </p:tgtEl>
                                        <p:attrNameLst>
                                          <p:attrName>style.visibility</p:attrName>
                                        </p:attrNameLst>
                                      </p:cBhvr>
                                      <p:to>
                                        <p:strVal val="visible"/>
                                      </p:to>
                                    </p:set>
                                    <p:animEffect transition="in" filter="blinds(horizontal)">
                                      <p:cBhvr>
                                        <p:cTn id="32" dur="500"/>
                                        <p:tgtEl>
                                          <p:spTgt spid="37171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71715">
                                            <p:txEl>
                                              <p:pRg st="7" end="7"/>
                                            </p:txEl>
                                          </p:spTgt>
                                        </p:tgtEl>
                                        <p:attrNameLst>
                                          <p:attrName>style.visibility</p:attrName>
                                        </p:attrNameLst>
                                      </p:cBhvr>
                                      <p:to>
                                        <p:strVal val="visible"/>
                                      </p:to>
                                    </p:set>
                                    <p:animEffect transition="in" filter="blinds(horizontal)">
                                      <p:cBhvr>
                                        <p:cTn id="37" dur="500"/>
                                        <p:tgtEl>
                                          <p:spTgt spid="37171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71715">
                                            <p:txEl>
                                              <p:pRg st="9" end="9"/>
                                            </p:txEl>
                                          </p:spTgt>
                                        </p:tgtEl>
                                        <p:attrNameLst>
                                          <p:attrName>style.visibility</p:attrName>
                                        </p:attrNameLst>
                                      </p:cBhvr>
                                      <p:to>
                                        <p:strVal val="visible"/>
                                      </p:to>
                                    </p:set>
                                    <p:animEffect transition="in" filter="blinds(horizontal)">
                                      <p:cBhvr>
                                        <p:cTn id="42" dur="500"/>
                                        <p:tgtEl>
                                          <p:spTgt spid="371715">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71715">
                                            <p:txEl>
                                              <p:pRg st="10" end="10"/>
                                            </p:txEl>
                                          </p:spTgt>
                                        </p:tgtEl>
                                        <p:attrNameLst>
                                          <p:attrName>style.visibility</p:attrName>
                                        </p:attrNameLst>
                                      </p:cBhvr>
                                      <p:to>
                                        <p:strVal val="visible"/>
                                      </p:to>
                                    </p:set>
                                    <p:animEffect transition="in" filter="blinds(horizontal)">
                                      <p:cBhvr>
                                        <p:cTn id="47" dur="500"/>
                                        <p:tgtEl>
                                          <p:spTgt spid="371715">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1720"/>
                                        </p:tgtEl>
                                        <p:attrNameLst>
                                          <p:attrName>style.visibility</p:attrName>
                                        </p:attrNameLst>
                                      </p:cBhvr>
                                      <p:to>
                                        <p:strVal val="visible"/>
                                      </p:to>
                                    </p:set>
                                    <p:animEffect transition="in" filter="blinds(horizontal)">
                                      <p:cBhvr>
                                        <p:cTn id="52" dur="500"/>
                                        <p:tgtEl>
                                          <p:spTgt spid="3717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1721"/>
                                        </p:tgtEl>
                                        <p:attrNameLst>
                                          <p:attrName>style.visibility</p:attrName>
                                        </p:attrNameLst>
                                      </p:cBhvr>
                                      <p:to>
                                        <p:strVal val="visible"/>
                                      </p:to>
                                    </p:set>
                                    <p:animEffect transition="in" filter="blinds(horizontal)">
                                      <p:cBhvr>
                                        <p:cTn id="57" dur="500"/>
                                        <p:tgtEl>
                                          <p:spTgt spid="371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0" grpId="0"/>
      <p:bldP spid="3717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1D83BDE8-6A7C-DCA5-737A-782FB950C10F}"/>
              </a:ext>
            </a:extLst>
          </p:cNvPr>
          <p:cNvSpPr>
            <a:spLocks noGrp="1" noChangeArrowheads="1"/>
          </p:cNvSpPr>
          <p:nvPr>
            <p:ph type="title"/>
          </p:nvPr>
        </p:nvSpPr>
        <p:spPr>
          <a:xfrm>
            <a:off x="595313" y="82550"/>
            <a:ext cx="2290762" cy="368300"/>
          </a:xfrm>
        </p:spPr>
        <p:txBody>
          <a:bodyPr anchor="ctr"/>
          <a:lstStyle/>
          <a:p>
            <a:r>
              <a:rPr lang="zh-CN" altLang="en-US">
                <a:ea typeface="宋体" panose="02010600030101010101" pitchFamily="2" charset="-122"/>
              </a:rPr>
              <a:t>偏移寻址方式</a:t>
            </a:r>
          </a:p>
        </p:txBody>
      </p:sp>
      <p:sp>
        <p:nvSpPr>
          <p:cNvPr id="18434" name="Rectangle 3">
            <a:extLst>
              <a:ext uri="{FF2B5EF4-FFF2-40B4-BE49-F238E27FC236}">
                <a16:creationId xmlns:a16="http://schemas.microsoft.com/office/drawing/2014/main" id="{0678A033-53FD-E42F-A00B-C1CDFFF5E476}"/>
              </a:ext>
            </a:extLst>
          </p:cNvPr>
          <p:cNvSpPr>
            <a:spLocks noChangeArrowheads="1"/>
          </p:cNvSpPr>
          <p:nvPr/>
        </p:nvSpPr>
        <p:spPr bwMode="auto">
          <a:xfrm>
            <a:off x="2193925" y="820738"/>
            <a:ext cx="3081338" cy="5778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18435" name="Line 4">
            <a:extLst>
              <a:ext uri="{FF2B5EF4-FFF2-40B4-BE49-F238E27FC236}">
                <a16:creationId xmlns:a16="http://schemas.microsoft.com/office/drawing/2014/main" id="{3B188E90-63CD-8018-A5AE-3AE101BD6117}"/>
              </a:ext>
            </a:extLst>
          </p:cNvPr>
          <p:cNvSpPr>
            <a:spLocks noChangeShapeType="1"/>
          </p:cNvSpPr>
          <p:nvPr/>
        </p:nvSpPr>
        <p:spPr bwMode="auto">
          <a:xfrm>
            <a:off x="2867025" y="820738"/>
            <a:ext cx="0" cy="5778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6" name="Text Box 5">
            <a:extLst>
              <a:ext uri="{FF2B5EF4-FFF2-40B4-BE49-F238E27FC236}">
                <a16:creationId xmlns:a16="http://schemas.microsoft.com/office/drawing/2014/main" id="{D8685220-F5FD-DDA4-BA67-E1B35F7E0B3B}"/>
              </a:ext>
            </a:extLst>
          </p:cNvPr>
          <p:cNvSpPr txBox="1">
            <a:spLocks noChangeArrowheads="1"/>
          </p:cNvSpPr>
          <p:nvPr/>
        </p:nvSpPr>
        <p:spPr bwMode="auto">
          <a:xfrm>
            <a:off x="3068638" y="846138"/>
            <a:ext cx="417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rPr>
              <a:t>R</a:t>
            </a:r>
          </a:p>
        </p:txBody>
      </p:sp>
      <p:sp>
        <p:nvSpPr>
          <p:cNvPr id="18437" name="Rectangle 6">
            <a:extLst>
              <a:ext uri="{FF2B5EF4-FFF2-40B4-BE49-F238E27FC236}">
                <a16:creationId xmlns:a16="http://schemas.microsoft.com/office/drawing/2014/main" id="{2DED3F18-4C61-EDEE-3D81-DE716BDB2966}"/>
              </a:ext>
            </a:extLst>
          </p:cNvPr>
          <p:cNvSpPr>
            <a:spLocks noChangeArrowheads="1"/>
          </p:cNvSpPr>
          <p:nvPr/>
        </p:nvSpPr>
        <p:spPr bwMode="auto">
          <a:xfrm>
            <a:off x="5894388" y="863600"/>
            <a:ext cx="1584325" cy="240347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18438" name="Text Box 7">
            <a:extLst>
              <a:ext uri="{FF2B5EF4-FFF2-40B4-BE49-F238E27FC236}">
                <a16:creationId xmlns:a16="http://schemas.microsoft.com/office/drawing/2014/main" id="{4F9A1B5A-5C2C-7CD0-CABB-60132AABFE9B}"/>
              </a:ext>
            </a:extLst>
          </p:cNvPr>
          <p:cNvSpPr txBox="1">
            <a:spLocks noChangeArrowheads="1"/>
          </p:cNvSpPr>
          <p:nvPr/>
        </p:nvSpPr>
        <p:spPr bwMode="auto">
          <a:xfrm>
            <a:off x="6075363" y="457200"/>
            <a:ext cx="1377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0000FF"/>
                </a:solidFill>
                <a:latin typeface="Times New Roman" panose="02020603050405020304" pitchFamily="18" charset="0"/>
                <a:ea typeface="黑体" panose="02010609060101010101" pitchFamily="49" charset="-122"/>
              </a:rPr>
              <a:t>存储器</a:t>
            </a:r>
          </a:p>
        </p:txBody>
      </p:sp>
      <p:sp>
        <p:nvSpPr>
          <p:cNvPr id="18439" name="Line 8">
            <a:extLst>
              <a:ext uri="{FF2B5EF4-FFF2-40B4-BE49-F238E27FC236}">
                <a16:creationId xmlns:a16="http://schemas.microsoft.com/office/drawing/2014/main" id="{6F135292-6550-E3FD-B752-B19C9A3C5102}"/>
              </a:ext>
            </a:extLst>
          </p:cNvPr>
          <p:cNvSpPr>
            <a:spLocks noChangeShapeType="1"/>
          </p:cNvSpPr>
          <p:nvPr/>
        </p:nvSpPr>
        <p:spPr bwMode="auto">
          <a:xfrm>
            <a:off x="5894388" y="2163763"/>
            <a:ext cx="15843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0" name="Line 9">
            <a:extLst>
              <a:ext uri="{FF2B5EF4-FFF2-40B4-BE49-F238E27FC236}">
                <a16:creationId xmlns:a16="http://schemas.microsoft.com/office/drawing/2014/main" id="{DB2F933C-0AD9-3111-5E20-B68F52048A1A}"/>
              </a:ext>
            </a:extLst>
          </p:cNvPr>
          <p:cNvSpPr>
            <a:spLocks noChangeShapeType="1"/>
          </p:cNvSpPr>
          <p:nvPr/>
        </p:nvSpPr>
        <p:spPr bwMode="auto">
          <a:xfrm>
            <a:off x="5889625" y="2576513"/>
            <a:ext cx="15843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1" name="Text Box 10">
            <a:extLst>
              <a:ext uri="{FF2B5EF4-FFF2-40B4-BE49-F238E27FC236}">
                <a16:creationId xmlns:a16="http://schemas.microsoft.com/office/drawing/2014/main" id="{FF1D8F86-1AC0-2160-6911-1B08ECF64C25}"/>
              </a:ext>
            </a:extLst>
          </p:cNvPr>
          <p:cNvSpPr txBox="1">
            <a:spLocks noChangeArrowheads="1"/>
          </p:cNvSpPr>
          <p:nvPr/>
        </p:nvSpPr>
        <p:spPr bwMode="auto">
          <a:xfrm>
            <a:off x="6199188" y="2154238"/>
            <a:ext cx="1012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zh-CN" altLang="en-US" sz="1800">
                <a:solidFill>
                  <a:srgbClr val="A50021"/>
                </a:solidFill>
                <a:latin typeface="Times New Roman" panose="02020603050405020304" pitchFamily="18" charset="0"/>
                <a:ea typeface="黑体" panose="02010609060101010101" pitchFamily="49" charset="-122"/>
              </a:rPr>
              <a:t>操作数</a:t>
            </a:r>
          </a:p>
        </p:txBody>
      </p:sp>
      <p:sp>
        <p:nvSpPr>
          <p:cNvPr id="18442" name="Line 11">
            <a:extLst>
              <a:ext uri="{FF2B5EF4-FFF2-40B4-BE49-F238E27FC236}">
                <a16:creationId xmlns:a16="http://schemas.microsoft.com/office/drawing/2014/main" id="{349E80EA-A288-8BE6-F027-103DF39C0348}"/>
              </a:ext>
            </a:extLst>
          </p:cNvPr>
          <p:cNvSpPr>
            <a:spLocks noChangeShapeType="1"/>
          </p:cNvSpPr>
          <p:nvPr/>
        </p:nvSpPr>
        <p:spPr bwMode="auto">
          <a:xfrm>
            <a:off x="3602038" y="820738"/>
            <a:ext cx="0" cy="5778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443" name="Group 12">
            <a:extLst>
              <a:ext uri="{FF2B5EF4-FFF2-40B4-BE49-F238E27FC236}">
                <a16:creationId xmlns:a16="http://schemas.microsoft.com/office/drawing/2014/main" id="{886547D4-896C-3F18-9099-8CFAEE6DE3D2}"/>
              </a:ext>
            </a:extLst>
          </p:cNvPr>
          <p:cNvGrpSpPr>
            <a:grpSpLocks/>
          </p:cNvGrpSpPr>
          <p:nvPr/>
        </p:nvGrpSpPr>
        <p:grpSpPr bwMode="auto">
          <a:xfrm>
            <a:off x="1938338" y="1306513"/>
            <a:ext cx="1136650" cy="2482850"/>
            <a:chOff x="1544" y="1177"/>
            <a:chExt cx="716" cy="1564"/>
          </a:xfrm>
        </p:grpSpPr>
        <p:sp>
          <p:nvSpPr>
            <p:cNvPr id="18444" name="Line 13">
              <a:extLst>
                <a:ext uri="{FF2B5EF4-FFF2-40B4-BE49-F238E27FC236}">
                  <a16:creationId xmlns:a16="http://schemas.microsoft.com/office/drawing/2014/main" id="{2C679C42-FA33-A0FC-AD93-DE4BF502EF85}"/>
                </a:ext>
              </a:extLst>
            </p:cNvPr>
            <p:cNvSpPr>
              <a:spLocks noChangeShapeType="1"/>
            </p:cNvSpPr>
            <p:nvPr/>
          </p:nvSpPr>
          <p:spPr bwMode="auto">
            <a:xfrm>
              <a:off x="2251" y="1177"/>
              <a:ext cx="0" cy="26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5" name="Line 14">
              <a:extLst>
                <a:ext uri="{FF2B5EF4-FFF2-40B4-BE49-F238E27FC236}">
                  <a16:creationId xmlns:a16="http://schemas.microsoft.com/office/drawing/2014/main" id="{C47F97DE-19F5-9718-AB2E-B157A0797E8F}"/>
                </a:ext>
              </a:extLst>
            </p:cNvPr>
            <p:cNvSpPr>
              <a:spLocks noChangeShapeType="1"/>
            </p:cNvSpPr>
            <p:nvPr/>
          </p:nvSpPr>
          <p:spPr bwMode="auto">
            <a:xfrm>
              <a:off x="1544" y="2741"/>
              <a:ext cx="503" cy="0"/>
            </a:xfrm>
            <a:prstGeom prst="line">
              <a:avLst/>
            </a:prstGeom>
            <a:noFill/>
            <a:ln w="38100">
              <a:solidFill>
                <a:schemeClr val="accent2"/>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8446" name="Line 15">
              <a:extLst>
                <a:ext uri="{FF2B5EF4-FFF2-40B4-BE49-F238E27FC236}">
                  <a16:creationId xmlns:a16="http://schemas.microsoft.com/office/drawing/2014/main" id="{9123EF69-4421-F64F-0300-ACD428F9842E}"/>
                </a:ext>
              </a:extLst>
            </p:cNvPr>
            <p:cNvSpPr>
              <a:spLocks noChangeShapeType="1"/>
            </p:cNvSpPr>
            <p:nvPr/>
          </p:nvSpPr>
          <p:spPr bwMode="auto">
            <a:xfrm flipV="1">
              <a:off x="1554" y="1443"/>
              <a:ext cx="706" cy="1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7" name="Line 16">
              <a:extLst>
                <a:ext uri="{FF2B5EF4-FFF2-40B4-BE49-F238E27FC236}">
                  <a16:creationId xmlns:a16="http://schemas.microsoft.com/office/drawing/2014/main" id="{DCC14821-022A-4B0C-6651-5CE2D3900634}"/>
                </a:ext>
              </a:extLst>
            </p:cNvPr>
            <p:cNvSpPr>
              <a:spLocks noChangeShapeType="1"/>
            </p:cNvSpPr>
            <p:nvPr/>
          </p:nvSpPr>
          <p:spPr bwMode="auto">
            <a:xfrm>
              <a:off x="1554" y="1443"/>
              <a:ext cx="0" cy="129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448" name="Rectangle 17">
            <a:extLst>
              <a:ext uri="{FF2B5EF4-FFF2-40B4-BE49-F238E27FC236}">
                <a16:creationId xmlns:a16="http://schemas.microsoft.com/office/drawing/2014/main" id="{BB5199CF-9C10-DF4B-AB75-A9F0D6B8D177}"/>
              </a:ext>
            </a:extLst>
          </p:cNvPr>
          <p:cNvSpPr>
            <a:spLocks noChangeArrowheads="1"/>
          </p:cNvSpPr>
          <p:nvPr/>
        </p:nvSpPr>
        <p:spPr bwMode="auto">
          <a:xfrm>
            <a:off x="2698750" y="3022600"/>
            <a:ext cx="1584325" cy="146843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18449" name="Text Box 18">
            <a:extLst>
              <a:ext uri="{FF2B5EF4-FFF2-40B4-BE49-F238E27FC236}">
                <a16:creationId xmlns:a16="http://schemas.microsoft.com/office/drawing/2014/main" id="{8DF79A96-9D67-EA01-AFB0-6FF319329AA6}"/>
              </a:ext>
            </a:extLst>
          </p:cNvPr>
          <p:cNvSpPr txBox="1">
            <a:spLocks noChangeArrowheads="1"/>
          </p:cNvSpPr>
          <p:nvPr/>
        </p:nvSpPr>
        <p:spPr bwMode="auto">
          <a:xfrm>
            <a:off x="2746375" y="2609850"/>
            <a:ext cx="169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Times New Roman" panose="02020603050405020304" pitchFamily="18" charset="0"/>
                <a:ea typeface="黑体" panose="02010609060101010101" pitchFamily="49" charset="-122"/>
              </a:rPr>
              <a:t>寄存器堆</a:t>
            </a:r>
            <a:endParaRPr lang="en-US" altLang="zh-CN" sz="2000">
              <a:solidFill>
                <a:schemeClr val="tx1"/>
              </a:solidFill>
              <a:latin typeface="Times New Roman" panose="02020603050405020304" pitchFamily="18" charset="0"/>
              <a:ea typeface="黑体" panose="02010609060101010101" pitchFamily="49" charset="-122"/>
            </a:endParaRPr>
          </a:p>
        </p:txBody>
      </p:sp>
      <p:sp>
        <p:nvSpPr>
          <p:cNvPr id="18450" name="Line 19">
            <a:extLst>
              <a:ext uri="{FF2B5EF4-FFF2-40B4-BE49-F238E27FC236}">
                <a16:creationId xmlns:a16="http://schemas.microsoft.com/office/drawing/2014/main" id="{B37D0660-C375-404F-03F0-6B2814AAAB97}"/>
              </a:ext>
            </a:extLst>
          </p:cNvPr>
          <p:cNvSpPr>
            <a:spLocks noChangeShapeType="1"/>
          </p:cNvSpPr>
          <p:nvPr/>
        </p:nvSpPr>
        <p:spPr bwMode="auto">
          <a:xfrm>
            <a:off x="2698750" y="3527425"/>
            <a:ext cx="15843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1" name="Line 20">
            <a:extLst>
              <a:ext uri="{FF2B5EF4-FFF2-40B4-BE49-F238E27FC236}">
                <a16:creationId xmlns:a16="http://schemas.microsoft.com/office/drawing/2014/main" id="{85D99916-02C9-F161-0261-C356A3099A09}"/>
              </a:ext>
            </a:extLst>
          </p:cNvPr>
          <p:cNvSpPr>
            <a:spLocks noChangeShapeType="1"/>
          </p:cNvSpPr>
          <p:nvPr/>
        </p:nvSpPr>
        <p:spPr bwMode="auto">
          <a:xfrm>
            <a:off x="2692400" y="3940175"/>
            <a:ext cx="15843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Line 21">
            <a:extLst>
              <a:ext uri="{FF2B5EF4-FFF2-40B4-BE49-F238E27FC236}">
                <a16:creationId xmlns:a16="http://schemas.microsoft.com/office/drawing/2014/main" id="{D1E24497-483B-F423-D033-5DB967557483}"/>
              </a:ext>
            </a:extLst>
          </p:cNvPr>
          <p:cNvSpPr>
            <a:spLocks noChangeShapeType="1"/>
          </p:cNvSpPr>
          <p:nvPr/>
        </p:nvSpPr>
        <p:spPr bwMode="auto">
          <a:xfrm>
            <a:off x="4916488" y="2363788"/>
            <a:ext cx="973137" cy="0"/>
          </a:xfrm>
          <a:prstGeom prst="line">
            <a:avLst/>
          </a:prstGeom>
          <a:noFill/>
          <a:ln w="38100">
            <a:solidFill>
              <a:schemeClr val="tx2"/>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8453" name="Text Box 22">
            <a:extLst>
              <a:ext uri="{FF2B5EF4-FFF2-40B4-BE49-F238E27FC236}">
                <a16:creationId xmlns:a16="http://schemas.microsoft.com/office/drawing/2014/main" id="{DE27E288-B434-9C4D-DB76-21504BCAF416}"/>
              </a:ext>
            </a:extLst>
          </p:cNvPr>
          <p:cNvSpPr txBox="1">
            <a:spLocks noChangeArrowheads="1"/>
          </p:cNvSpPr>
          <p:nvPr/>
        </p:nvSpPr>
        <p:spPr bwMode="auto">
          <a:xfrm>
            <a:off x="3849688" y="820738"/>
            <a:ext cx="417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rPr>
              <a:t>A</a:t>
            </a:r>
          </a:p>
        </p:txBody>
      </p:sp>
      <p:sp>
        <p:nvSpPr>
          <p:cNvPr id="18454" name="Line 23">
            <a:extLst>
              <a:ext uri="{FF2B5EF4-FFF2-40B4-BE49-F238E27FC236}">
                <a16:creationId xmlns:a16="http://schemas.microsoft.com/office/drawing/2014/main" id="{E253812D-7346-2D9D-BEA6-DE494A3B3052}"/>
              </a:ext>
            </a:extLst>
          </p:cNvPr>
          <p:cNvSpPr>
            <a:spLocks noChangeShapeType="1"/>
          </p:cNvSpPr>
          <p:nvPr/>
        </p:nvSpPr>
        <p:spPr bwMode="auto">
          <a:xfrm flipH="1">
            <a:off x="4737100" y="2498725"/>
            <a:ext cx="0" cy="1300163"/>
          </a:xfrm>
          <a:prstGeom prst="line">
            <a:avLst/>
          </a:prstGeom>
          <a:noFill/>
          <a:ln w="38100">
            <a:solidFill>
              <a:schemeClr val="accent2"/>
            </a:solidFill>
            <a:round/>
            <a:headEnd type="arrow"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24">
            <a:extLst>
              <a:ext uri="{FF2B5EF4-FFF2-40B4-BE49-F238E27FC236}">
                <a16:creationId xmlns:a16="http://schemas.microsoft.com/office/drawing/2014/main" id="{F13AFA1C-E6E4-7736-5A6F-EA27155DF151}"/>
              </a:ext>
            </a:extLst>
          </p:cNvPr>
          <p:cNvSpPr>
            <a:spLocks noChangeShapeType="1"/>
          </p:cNvSpPr>
          <p:nvPr/>
        </p:nvSpPr>
        <p:spPr bwMode="auto">
          <a:xfrm>
            <a:off x="4248150" y="3789363"/>
            <a:ext cx="48895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6" name="Line 25">
            <a:extLst>
              <a:ext uri="{FF2B5EF4-FFF2-40B4-BE49-F238E27FC236}">
                <a16:creationId xmlns:a16="http://schemas.microsoft.com/office/drawing/2014/main" id="{1E7406BD-D79E-62A0-5BC2-17E6D4907FFB}"/>
              </a:ext>
            </a:extLst>
          </p:cNvPr>
          <p:cNvSpPr>
            <a:spLocks noChangeShapeType="1"/>
          </p:cNvSpPr>
          <p:nvPr/>
        </p:nvSpPr>
        <p:spPr bwMode="auto">
          <a:xfrm>
            <a:off x="4035425" y="1355725"/>
            <a:ext cx="0" cy="30321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7" name="Line 26">
            <a:extLst>
              <a:ext uri="{FF2B5EF4-FFF2-40B4-BE49-F238E27FC236}">
                <a16:creationId xmlns:a16="http://schemas.microsoft.com/office/drawing/2014/main" id="{E8559518-6BE3-0F3B-585E-07F5A9DA110A}"/>
              </a:ext>
            </a:extLst>
          </p:cNvPr>
          <p:cNvSpPr>
            <a:spLocks noChangeShapeType="1"/>
          </p:cNvSpPr>
          <p:nvPr/>
        </p:nvSpPr>
        <p:spPr bwMode="auto">
          <a:xfrm>
            <a:off x="4035425" y="1658938"/>
            <a:ext cx="70167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8" name="Line 27">
            <a:extLst>
              <a:ext uri="{FF2B5EF4-FFF2-40B4-BE49-F238E27FC236}">
                <a16:creationId xmlns:a16="http://schemas.microsoft.com/office/drawing/2014/main" id="{24CCA9AB-33AD-0FA3-0E16-F1281EC4DE1D}"/>
              </a:ext>
            </a:extLst>
          </p:cNvPr>
          <p:cNvSpPr>
            <a:spLocks noChangeShapeType="1"/>
          </p:cNvSpPr>
          <p:nvPr/>
        </p:nvSpPr>
        <p:spPr bwMode="auto">
          <a:xfrm>
            <a:off x="4721225" y="1658938"/>
            <a:ext cx="0" cy="447675"/>
          </a:xfrm>
          <a:prstGeom prst="line">
            <a:avLst/>
          </a:prstGeom>
          <a:noFill/>
          <a:ln w="38100">
            <a:solidFill>
              <a:schemeClr val="accent2"/>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8459" name="Oval 28">
            <a:extLst>
              <a:ext uri="{FF2B5EF4-FFF2-40B4-BE49-F238E27FC236}">
                <a16:creationId xmlns:a16="http://schemas.microsoft.com/office/drawing/2014/main" id="{93465887-2EC7-862E-29A6-1F50EDF78030}"/>
              </a:ext>
            </a:extLst>
          </p:cNvPr>
          <p:cNvSpPr>
            <a:spLocks noChangeArrowheads="1"/>
          </p:cNvSpPr>
          <p:nvPr/>
        </p:nvSpPr>
        <p:spPr bwMode="auto">
          <a:xfrm>
            <a:off x="4554538" y="2122488"/>
            <a:ext cx="361950" cy="396875"/>
          </a:xfrm>
          <a:prstGeom prst="ellipse">
            <a:avLst/>
          </a:prstGeom>
          <a:solidFill>
            <a:schemeClr val="hlink"/>
          </a:solidFill>
          <a:ln w="38100">
            <a:solidFill>
              <a:schemeClr val="tx1"/>
            </a:solidFill>
            <a:round/>
            <a:headEnd/>
            <a:tailEnd/>
          </a:ln>
        </p:spPr>
        <p:txBody>
          <a:bodyPr wrap="none" anchor="ctr"/>
          <a:lstStyle/>
          <a:p>
            <a:pPr eaLnBrk="0" hangingPunct="0"/>
            <a:endParaRPr lang="zh-CN" altLang="en-US"/>
          </a:p>
        </p:txBody>
      </p:sp>
      <p:sp>
        <p:nvSpPr>
          <p:cNvPr id="18460" name="Text Box 29">
            <a:extLst>
              <a:ext uri="{FF2B5EF4-FFF2-40B4-BE49-F238E27FC236}">
                <a16:creationId xmlns:a16="http://schemas.microsoft.com/office/drawing/2014/main" id="{5A7D1AF9-49F5-9EBB-23F1-E5816EFC7B1E}"/>
              </a:ext>
            </a:extLst>
          </p:cNvPr>
          <p:cNvSpPr txBox="1">
            <a:spLocks noChangeArrowheads="1"/>
          </p:cNvSpPr>
          <p:nvPr/>
        </p:nvSpPr>
        <p:spPr bwMode="auto">
          <a:xfrm>
            <a:off x="4554538" y="2070100"/>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zh-CN" altLang="en-US" sz="2400">
                <a:solidFill>
                  <a:schemeClr val="tx1"/>
                </a:solidFill>
              </a:rPr>
              <a:t>+</a:t>
            </a:r>
          </a:p>
        </p:txBody>
      </p:sp>
      <p:sp>
        <p:nvSpPr>
          <p:cNvPr id="18461" name="Line 30">
            <a:extLst>
              <a:ext uri="{FF2B5EF4-FFF2-40B4-BE49-F238E27FC236}">
                <a16:creationId xmlns:a16="http://schemas.microsoft.com/office/drawing/2014/main" id="{1DD2891D-6F39-09C7-D539-0D153708EC42}"/>
              </a:ext>
            </a:extLst>
          </p:cNvPr>
          <p:cNvSpPr>
            <a:spLocks noChangeShapeType="1"/>
          </p:cNvSpPr>
          <p:nvPr/>
        </p:nvSpPr>
        <p:spPr bwMode="auto">
          <a:xfrm>
            <a:off x="5889625" y="1306513"/>
            <a:ext cx="15843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2" name="Line 31">
            <a:extLst>
              <a:ext uri="{FF2B5EF4-FFF2-40B4-BE49-F238E27FC236}">
                <a16:creationId xmlns:a16="http://schemas.microsoft.com/office/drawing/2014/main" id="{5EB5C2F2-C816-E255-51EE-92FA9C4A8CDA}"/>
              </a:ext>
            </a:extLst>
          </p:cNvPr>
          <p:cNvSpPr>
            <a:spLocks noChangeShapeType="1"/>
          </p:cNvSpPr>
          <p:nvPr/>
        </p:nvSpPr>
        <p:spPr bwMode="auto">
          <a:xfrm>
            <a:off x="4737100" y="3797300"/>
            <a:ext cx="3132138"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3" name="Line 32">
            <a:extLst>
              <a:ext uri="{FF2B5EF4-FFF2-40B4-BE49-F238E27FC236}">
                <a16:creationId xmlns:a16="http://schemas.microsoft.com/office/drawing/2014/main" id="{DA3776BC-BE3E-2CEE-8395-BA985E230887}"/>
              </a:ext>
            </a:extLst>
          </p:cNvPr>
          <p:cNvSpPr>
            <a:spLocks noChangeShapeType="1"/>
          </p:cNvSpPr>
          <p:nvPr/>
        </p:nvSpPr>
        <p:spPr bwMode="auto">
          <a:xfrm>
            <a:off x="7869238" y="1306513"/>
            <a:ext cx="0" cy="247650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4" name="Line 33">
            <a:extLst>
              <a:ext uri="{FF2B5EF4-FFF2-40B4-BE49-F238E27FC236}">
                <a16:creationId xmlns:a16="http://schemas.microsoft.com/office/drawing/2014/main" id="{B120813C-A73E-F6AB-2EBB-9E4F2C14232E}"/>
              </a:ext>
            </a:extLst>
          </p:cNvPr>
          <p:cNvSpPr>
            <a:spLocks noChangeShapeType="1"/>
          </p:cNvSpPr>
          <p:nvPr/>
        </p:nvSpPr>
        <p:spPr bwMode="auto">
          <a:xfrm flipH="1">
            <a:off x="7478713" y="1306513"/>
            <a:ext cx="390525" cy="0"/>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5" name="Line 34">
            <a:extLst>
              <a:ext uri="{FF2B5EF4-FFF2-40B4-BE49-F238E27FC236}">
                <a16:creationId xmlns:a16="http://schemas.microsoft.com/office/drawing/2014/main" id="{300F9F1B-0D9F-7916-E05D-16142D35324E}"/>
              </a:ext>
            </a:extLst>
          </p:cNvPr>
          <p:cNvSpPr>
            <a:spLocks noChangeShapeType="1"/>
          </p:cNvSpPr>
          <p:nvPr/>
        </p:nvSpPr>
        <p:spPr bwMode="auto">
          <a:xfrm>
            <a:off x="5484813" y="1306513"/>
            <a:ext cx="404812"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6" name="Line 35">
            <a:extLst>
              <a:ext uri="{FF2B5EF4-FFF2-40B4-BE49-F238E27FC236}">
                <a16:creationId xmlns:a16="http://schemas.microsoft.com/office/drawing/2014/main" id="{573FF46A-BD76-423C-7CB4-9620B9E158CF}"/>
              </a:ext>
            </a:extLst>
          </p:cNvPr>
          <p:cNvSpPr>
            <a:spLocks noChangeShapeType="1"/>
          </p:cNvSpPr>
          <p:nvPr/>
        </p:nvSpPr>
        <p:spPr bwMode="auto">
          <a:xfrm>
            <a:off x="5699125" y="1306513"/>
            <a:ext cx="0" cy="422275"/>
          </a:xfrm>
          <a:prstGeom prst="line">
            <a:avLst/>
          </a:prstGeom>
          <a:noFill/>
          <a:ln w="38100">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67" name="Line 36">
            <a:extLst>
              <a:ext uri="{FF2B5EF4-FFF2-40B4-BE49-F238E27FC236}">
                <a16:creationId xmlns:a16="http://schemas.microsoft.com/office/drawing/2014/main" id="{C39C45D4-2887-5B73-3919-C8B856829796}"/>
              </a:ext>
            </a:extLst>
          </p:cNvPr>
          <p:cNvSpPr>
            <a:spLocks noChangeShapeType="1"/>
          </p:cNvSpPr>
          <p:nvPr/>
        </p:nvSpPr>
        <p:spPr bwMode="auto">
          <a:xfrm>
            <a:off x="5699125" y="1658938"/>
            <a:ext cx="0" cy="704850"/>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8" name="Text Box 37">
            <a:extLst>
              <a:ext uri="{FF2B5EF4-FFF2-40B4-BE49-F238E27FC236}">
                <a16:creationId xmlns:a16="http://schemas.microsoft.com/office/drawing/2014/main" id="{24730D45-9BAD-4C04-2B4A-3ACE992D6336}"/>
              </a:ext>
            </a:extLst>
          </p:cNvPr>
          <p:cNvSpPr txBox="1">
            <a:spLocks noChangeArrowheads="1"/>
          </p:cNvSpPr>
          <p:nvPr/>
        </p:nvSpPr>
        <p:spPr bwMode="auto">
          <a:xfrm>
            <a:off x="5307013" y="1487488"/>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en-US" altLang="zh-CN" sz="2400" b="0">
                <a:solidFill>
                  <a:schemeClr val="tx1"/>
                </a:solidFill>
                <a:latin typeface="Times New Roman" panose="02020603050405020304" pitchFamily="18" charset="0"/>
              </a:rPr>
              <a:t>A</a:t>
            </a:r>
          </a:p>
        </p:txBody>
      </p:sp>
      <p:sp>
        <p:nvSpPr>
          <p:cNvPr id="18469" name="Text Box 38">
            <a:extLst>
              <a:ext uri="{FF2B5EF4-FFF2-40B4-BE49-F238E27FC236}">
                <a16:creationId xmlns:a16="http://schemas.microsoft.com/office/drawing/2014/main" id="{4C0DF8B1-CA02-5BB9-88C3-4E84A784ED26}"/>
              </a:ext>
            </a:extLst>
          </p:cNvPr>
          <p:cNvSpPr txBox="1">
            <a:spLocks noChangeArrowheads="1"/>
          </p:cNvSpPr>
          <p:nvPr/>
        </p:nvSpPr>
        <p:spPr bwMode="auto">
          <a:xfrm>
            <a:off x="2195513" y="8588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rPr>
              <a:t>OP</a:t>
            </a:r>
          </a:p>
        </p:txBody>
      </p:sp>
      <p:sp>
        <p:nvSpPr>
          <p:cNvPr id="372775" name="Rectangle 39">
            <a:extLst>
              <a:ext uri="{FF2B5EF4-FFF2-40B4-BE49-F238E27FC236}">
                <a16:creationId xmlns:a16="http://schemas.microsoft.com/office/drawing/2014/main" id="{444B43D1-29E5-A7AE-8F5D-51B07F15C226}"/>
              </a:ext>
            </a:extLst>
          </p:cNvPr>
          <p:cNvSpPr>
            <a:spLocks noChangeArrowheads="1"/>
          </p:cNvSpPr>
          <p:nvPr/>
        </p:nvSpPr>
        <p:spPr bwMode="auto">
          <a:xfrm>
            <a:off x="192088" y="4549775"/>
            <a:ext cx="8269287"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20000"/>
              </a:lnSpc>
              <a:spcBef>
                <a:spcPct val="20000"/>
              </a:spcBef>
            </a:pPr>
            <a:r>
              <a:rPr lang="zh-CN" altLang="en-US" sz="2000">
                <a:solidFill>
                  <a:srgbClr val="A50021"/>
                </a:solidFill>
                <a:latin typeface="微软雅黑" panose="020B0503020204020204" pitchFamily="34" charset="-122"/>
                <a:ea typeface="微软雅黑" panose="020B0503020204020204" pitchFamily="34" charset="-122"/>
              </a:rPr>
              <a:t>偏移寻址：</a:t>
            </a:r>
            <a:r>
              <a:rPr lang="en-US" altLang="zh-CN" sz="2000">
                <a:solidFill>
                  <a:srgbClr val="A50021"/>
                </a:solidFill>
                <a:latin typeface="微软雅黑" panose="020B0503020204020204" pitchFamily="34" charset="-122"/>
                <a:ea typeface="微软雅黑" panose="020B0503020204020204" pitchFamily="34" charset="-122"/>
              </a:rPr>
              <a:t>EA=A+(R)   R</a:t>
            </a:r>
            <a:r>
              <a:rPr lang="zh-CN" altLang="en-US" sz="2000">
                <a:solidFill>
                  <a:srgbClr val="A50021"/>
                </a:solidFill>
                <a:latin typeface="微软雅黑" panose="020B0503020204020204" pitchFamily="34" charset="-122"/>
                <a:ea typeface="微软雅黑" panose="020B0503020204020204" pitchFamily="34" charset="-122"/>
              </a:rPr>
              <a:t>可以明显给出，也可以隐含给出</a:t>
            </a:r>
          </a:p>
          <a:p>
            <a:pPr eaLnBrk="0" hangingPunct="0">
              <a:lnSpc>
                <a:spcPct val="120000"/>
              </a:lnSpc>
              <a:spcBef>
                <a:spcPct val="20000"/>
              </a:spcBef>
            </a:pPr>
            <a:r>
              <a:rPr lang="zh-CN" altLang="en-US" sz="2000">
                <a:solidFill>
                  <a:srgbClr val="A50021"/>
                </a:solidFill>
                <a:latin typeface="微软雅黑" panose="020B0503020204020204" pitchFamily="34" charset="-122"/>
                <a:ea typeface="微软雅黑" panose="020B0503020204020204" pitchFamily="34" charset="-122"/>
              </a:rPr>
              <a:t>                                      </a:t>
            </a:r>
            <a:r>
              <a:rPr lang="en-US" altLang="zh-CN" sz="2000">
                <a:solidFill>
                  <a:srgbClr val="A50021"/>
                </a:solidFill>
                <a:latin typeface="微软雅黑" panose="020B0503020204020204" pitchFamily="34" charset="-122"/>
                <a:ea typeface="微软雅黑" panose="020B0503020204020204" pitchFamily="34" charset="-122"/>
              </a:rPr>
              <a:t>R</a:t>
            </a:r>
            <a:r>
              <a:rPr lang="zh-CN" altLang="en-US" sz="2000">
                <a:solidFill>
                  <a:srgbClr val="A50021"/>
                </a:solidFill>
                <a:latin typeface="微软雅黑" panose="020B0503020204020204" pitchFamily="34" charset="-122"/>
                <a:ea typeface="微软雅黑" panose="020B0503020204020204" pitchFamily="34" charset="-122"/>
              </a:rPr>
              <a:t>可以为</a:t>
            </a:r>
            <a:r>
              <a:rPr lang="en-US" altLang="zh-CN" sz="2000">
                <a:solidFill>
                  <a:srgbClr val="A50021"/>
                </a:solidFill>
                <a:latin typeface="微软雅黑" panose="020B0503020204020204" pitchFamily="34" charset="-122"/>
                <a:ea typeface="微软雅黑" panose="020B0503020204020204" pitchFamily="34" charset="-122"/>
              </a:rPr>
              <a:t>PC</a:t>
            </a:r>
            <a:r>
              <a:rPr lang="zh-CN" altLang="en-US" sz="2000">
                <a:solidFill>
                  <a:srgbClr val="A50021"/>
                </a:solidFill>
                <a:latin typeface="微软雅黑" panose="020B0503020204020204" pitchFamily="34" charset="-122"/>
                <a:ea typeface="微软雅黑" panose="020B0503020204020204" pitchFamily="34" charset="-122"/>
              </a:rPr>
              <a:t>、基址寄存器</a:t>
            </a:r>
            <a:r>
              <a:rPr lang="en-US" altLang="zh-CN" sz="2000">
                <a:solidFill>
                  <a:srgbClr val="A50021"/>
                </a:solidFill>
                <a:latin typeface="微软雅黑" panose="020B0503020204020204" pitchFamily="34" charset="-122"/>
                <a:ea typeface="微软雅黑" panose="020B0503020204020204" pitchFamily="34" charset="-122"/>
              </a:rPr>
              <a:t>B</a:t>
            </a:r>
            <a:r>
              <a:rPr lang="zh-CN" altLang="en-US" sz="2000">
                <a:solidFill>
                  <a:srgbClr val="A50021"/>
                </a:solidFill>
                <a:latin typeface="微软雅黑" panose="020B0503020204020204" pitchFamily="34" charset="-122"/>
                <a:ea typeface="微软雅黑" panose="020B0503020204020204" pitchFamily="34" charset="-122"/>
              </a:rPr>
              <a:t>、变址寄存器 </a:t>
            </a:r>
            <a:r>
              <a:rPr lang="en-US" altLang="zh-CN" sz="2000">
                <a:solidFill>
                  <a:srgbClr val="A50021"/>
                </a:solidFill>
                <a:latin typeface="微软雅黑" panose="020B0503020204020204" pitchFamily="34" charset="-122"/>
                <a:ea typeface="微软雅黑" panose="020B0503020204020204" pitchFamily="34" charset="-122"/>
              </a:rPr>
              <a:t>I</a:t>
            </a:r>
          </a:p>
          <a:p>
            <a:pPr lvl="1" eaLnBrk="0" hangingPunct="0">
              <a:lnSpc>
                <a:spcPct val="120000"/>
              </a:lnSpc>
              <a:spcBef>
                <a:spcPct val="20000"/>
              </a:spcBef>
              <a:buFontTx/>
              <a:buChar char="•"/>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相对寻址： </a:t>
            </a:r>
            <a:r>
              <a:rPr lang="en-US" altLang="zh-CN" sz="2000">
                <a:latin typeface="微软雅黑" panose="020B0503020204020204" pitchFamily="34" charset="-122"/>
                <a:ea typeface="微软雅黑" panose="020B0503020204020204" pitchFamily="34" charset="-122"/>
              </a:rPr>
              <a:t>EA=A+(PC)    </a:t>
            </a:r>
            <a:r>
              <a:rPr lang="zh-CN" altLang="en-US" sz="2000">
                <a:latin typeface="微软雅黑" panose="020B0503020204020204" pitchFamily="34" charset="-122"/>
                <a:ea typeface="微软雅黑" panose="020B0503020204020204" pitchFamily="34" charset="-122"/>
              </a:rPr>
              <a:t>相对于</a:t>
            </a:r>
            <a:r>
              <a:rPr lang="zh-CN" altLang="en-US" sz="2000">
                <a:solidFill>
                  <a:schemeClr val="accent1"/>
                </a:solidFill>
                <a:latin typeface="微软雅黑" panose="020B0503020204020204" pitchFamily="34" charset="-122"/>
                <a:ea typeface="微软雅黑" panose="020B0503020204020204" pitchFamily="34" charset="-122"/>
              </a:rPr>
              <a:t>当前指令处</a:t>
            </a:r>
            <a:r>
              <a:rPr lang="zh-CN" altLang="en-US" sz="2000">
                <a:latin typeface="微软雅黑" panose="020B0503020204020204" pitchFamily="34" charset="-122"/>
                <a:ea typeface="微软雅黑" panose="020B0503020204020204" pitchFamily="34" charset="-122"/>
              </a:rPr>
              <a:t>位移量为</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的单元</a:t>
            </a:r>
          </a:p>
          <a:p>
            <a:pPr lvl="1" eaLnBrk="0" hangingPunct="0">
              <a:lnSpc>
                <a:spcPct val="120000"/>
              </a:lnSpc>
              <a:spcBef>
                <a:spcPct val="20000"/>
              </a:spcBef>
              <a:buFontTx/>
              <a:buChar char="•"/>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基址寻址： </a:t>
            </a:r>
            <a:r>
              <a:rPr lang="en-US" altLang="zh-CN" sz="2000">
                <a:latin typeface="微软雅黑" panose="020B0503020204020204" pitchFamily="34" charset="-122"/>
                <a:ea typeface="微软雅黑" panose="020B0503020204020204" pitchFamily="34" charset="-122"/>
              </a:rPr>
              <a:t>EA=A+(B)      </a:t>
            </a:r>
            <a:r>
              <a:rPr lang="zh-CN" altLang="en-US" sz="2000">
                <a:latin typeface="微软雅黑" panose="020B0503020204020204" pitchFamily="34" charset="-122"/>
                <a:ea typeface="微软雅黑" panose="020B0503020204020204" pitchFamily="34" charset="-122"/>
              </a:rPr>
              <a:t>相对于</a:t>
            </a:r>
            <a:r>
              <a:rPr lang="zh-CN" altLang="en-US" sz="2000">
                <a:solidFill>
                  <a:schemeClr val="accent1"/>
                </a:solidFill>
                <a:latin typeface="微软雅黑" panose="020B0503020204020204" pitchFamily="34" charset="-122"/>
                <a:ea typeface="微软雅黑" panose="020B0503020204020204" pitchFamily="34" charset="-122"/>
              </a:rPr>
              <a:t>基址</a:t>
            </a:r>
            <a:r>
              <a:rPr lang="en-US" altLang="zh-CN" sz="2000">
                <a:solidFill>
                  <a:schemeClr val="accent1"/>
                </a:solidFill>
                <a:latin typeface="微软雅黑" panose="020B0503020204020204" pitchFamily="34" charset="-122"/>
                <a:ea typeface="微软雅黑" panose="020B0503020204020204" pitchFamily="34" charset="-122"/>
              </a:rPr>
              <a:t>(B)</a:t>
            </a:r>
            <a:r>
              <a:rPr lang="zh-CN" altLang="en-US" sz="2000">
                <a:solidFill>
                  <a:schemeClr val="accent1"/>
                </a:solidFill>
                <a:latin typeface="微软雅黑" panose="020B0503020204020204" pitchFamily="34" charset="-122"/>
                <a:ea typeface="微软雅黑" panose="020B0503020204020204" pitchFamily="34" charset="-122"/>
              </a:rPr>
              <a:t>处</a:t>
            </a:r>
            <a:r>
              <a:rPr lang="zh-CN" altLang="en-US" sz="2000">
                <a:latin typeface="微软雅黑" panose="020B0503020204020204" pitchFamily="34" charset="-122"/>
                <a:ea typeface="微软雅黑" panose="020B0503020204020204" pitchFamily="34" charset="-122"/>
              </a:rPr>
              <a:t>位移量为</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的单元</a:t>
            </a:r>
          </a:p>
          <a:p>
            <a:pPr lvl="1" eaLnBrk="0" hangingPunct="0">
              <a:lnSpc>
                <a:spcPct val="120000"/>
              </a:lnSpc>
              <a:spcBef>
                <a:spcPct val="20000"/>
              </a:spcBef>
              <a:buFontTx/>
              <a:buChar char="•"/>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变址寻址： </a:t>
            </a:r>
            <a:r>
              <a:rPr lang="en-US" altLang="zh-CN" sz="2000">
                <a:latin typeface="微软雅黑" panose="020B0503020204020204" pitchFamily="34" charset="-122"/>
                <a:ea typeface="微软雅黑" panose="020B0503020204020204" pitchFamily="34" charset="-122"/>
              </a:rPr>
              <a:t>EA=A+(I)        </a:t>
            </a:r>
            <a:r>
              <a:rPr lang="zh-CN" altLang="en-US" sz="2000">
                <a:latin typeface="微软雅黑" panose="020B0503020204020204" pitchFamily="34" charset="-122"/>
                <a:ea typeface="微软雅黑" panose="020B0503020204020204" pitchFamily="34" charset="-122"/>
              </a:rPr>
              <a:t>相对于</a:t>
            </a:r>
            <a:r>
              <a:rPr lang="zh-CN" altLang="en-US" sz="2000">
                <a:solidFill>
                  <a:schemeClr val="accent1"/>
                </a:solidFill>
                <a:latin typeface="微软雅黑" panose="020B0503020204020204" pitchFamily="34" charset="-122"/>
                <a:ea typeface="微软雅黑" panose="020B0503020204020204" pitchFamily="34" charset="-122"/>
              </a:rPr>
              <a:t>首址</a:t>
            </a:r>
            <a:r>
              <a:rPr lang="en-US" altLang="zh-CN" sz="2000">
                <a:solidFill>
                  <a:schemeClr val="accent1"/>
                </a:solidFill>
                <a:latin typeface="微软雅黑" panose="020B0503020204020204" pitchFamily="34" charset="-122"/>
                <a:ea typeface="微软雅黑" panose="020B0503020204020204" pitchFamily="34" charset="-122"/>
              </a:rPr>
              <a:t>A</a:t>
            </a:r>
            <a:r>
              <a:rPr lang="zh-CN" altLang="en-US" sz="2000">
                <a:solidFill>
                  <a:schemeClr val="accent1"/>
                </a:solidFill>
                <a:latin typeface="微软雅黑" panose="020B0503020204020204" pitchFamily="34" charset="-122"/>
                <a:ea typeface="微软雅黑" panose="020B0503020204020204" pitchFamily="34" charset="-122"/>
              </a:rPr>
              <a:t>处</a:t>
            </a:r>
            <a:r>
              <a:rPr lang="zh-CN" altLang="en-US" sz="2000">
                <a:latin typeface="微软雅黑" panose="020B0503020204020204" pitchFamily="34" charset="-122"/>
                <a:ea typeface="微软雅黑" panose="020B0503020204020204" pitchFamily="34" charset="-122"/>
              </a:rPr>
              <a:t>位移量为</a:t>
            </a:r>
            <a:r>
              <a:rPr lang="en-US" altLang="zh-CN" sz="2000">
                <a:latin typeface="微软雅黑" panose="020B0503020204020204" pitchFamily="34" charset="-122"/>
                <a:ea typeface="微软雅黑" panose="020B0503020204020204" pitchFamily="34" charset="-122"/>
              </a:rPr>
              <a:t>(I)</a:t>
            </a:r>
            <a:r>
              <a:rPr lang="zh-CN" altLang="en-US" sz="2000">
                <a:latin typeface="微软雅黑" panose="020B0503020204020204" pitchFamily="34" charset="-122"/>
                <a:ea typeface="微软雅黑" panose="020B0503020204020204" pitchFamily="34" charset="-122"/>
              </a:rPr>
              <a:t>的单元</a:t>
            </a:r>
          </a:p>
        </p:txBody>
      </p:sp>
      <p:sp>
        <p:nvSpPr>
          <p:cNvPr id="18471" name="Line 40">
            <a:extLst>
              <a:ext uri="{FF2B5EF4-FFF2-40B4-BE49-F238E27FC236}">
                <a16:creationId xmlns:a16="http://schemas.microsoft.com/office/drawing/2014/main" id="{1FE1DC80-66B7-CFBE-1737-134C56406A16}"/>
              </a:ext>
            </a:extLst>
          </p:cNvPr>
          <p:cNvSpPr>
            <a:spLocks noChangeShapeType="1"/>
          </p:cNvSpPr>
          <p:nvPr/>
        </p:nvSpPr>
        <p:spPr bwMode="auto">
          <a:xfrm>
            <a:off x="4403725" y="815975"/>
            <a:ext cx="0" cy="5778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2" name="Text Box 41">
            <a:extLst>
              <a:ext uri="{FF2B5EF4-FFF2-40B4-BE49-F238E27FC236}">
                <a16:creationId xmlns:a16="http://schemas.microsoft.com/office/drawing/2014/main" id="{4B3E756B-C081-FA81-7C47-5C6033875E6F}"/>
              </a:ext>
            </a:extLst>
          </p:cNvPr>
          <p:cNvSpPr txBox="1">
            <a:spLocks noChangeArrowheads="1"/>
          </p:cNvSpPr>
          <p:nvPr/>
        </p:nvSpPr>
        <p:spPr bwMode="auto">
          <a:xfrm>
            <a:off x="4516438" y="841375"/>
            <a:ext cx="76676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2000">
                <a:solidFill>
                  <a:schemeClr val="tx1"/>
                </a:solidFill>
              </a:rPr>
              <a:t>......</a:t>
            </a:r>
          </a:p>
        </p:txBody>
      </p:sp>
      <p:sp>
        <p:nvSpPr>
          <p:cNvPr id="372778" name="Text Box 42">
            <a:extLst>
              <a:ext uri="{FF2B5EF4-FFF2-40B4-BE49-F238E27FC236}">
                <a16:creationId xmlns:a16="http://schemas.microsoft.com/office/drawing/2014/main" id="{E423103B-54CF-A7C6-E2A8-ADB47E32DB09}"/>
              </a:ext>
            </a:extLst>
          </p:cNvPr>
          <p:cNvSpPr txBox="1">
            <a:spLocks noChangeArrowheads="1"/>
          </p:cNvSpPr>
          <p:nvPr/>
        </p:nvSpPr>
        <p:spPr bwMode="auto">
          <a:xfrm>
            <a:off x="246063" y="1238250"/>
            <a:ext cx="12700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20000"/>
              </a:lnSpc>
              <a:spcBef>
                <a:spcPct val="50000"/>
              </a:spcBef>
            </a:pPr>
            <a:r>
              <a:rPr lang="zh-CN" altLang="en-US" sz="2000">
                <a:latin typeface="微软雅黑" panose="020B0503020204020204" pitchFamily="34" charset="-122"/>
                <a:ea typeface="微软雅黑" panose="020B0503020204020204" pitchFamily="34" charset="-122"/>
              </a:rPr>
              <a:t>指令中给出的地址码</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称为</a:t>
            </a:r>
            <a:r>
              <a:rPr lang="zh-CN" altLang="en-US" sz="2000">
                <a:solidFill>
                  <a:srgbClr val="A50021"/>
                </a:solidFill>
                <a:latin typeface="微软雅黑" panose="020B0503020204020204" pitchFamily="34" charset="-122"/>
                <a:ea typeface="微软雅黑" panose="020B0503020204020204" pitchFamily="34" charset="-122"/>
              </a:rPr>
              <a:t>形式地址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2775">
                                            <p:txEl>
                                              <p:pRg st="2" end="2"/>
                                            </p:txEl>
                                          </p:spTgt>
                                        </p:tgtEl>
                                        <p:attrNameLst>
                                          <p:attrName>style.visibility</p:attrName>
                                        </p:attrNameLst>
                                      </p:cBhvr>
                                      <p:to>
                                        <p:strVal val="visible"/>
                                      </p:to>
                                    </p:set>
                                    <p:animEffect transition="in" filter="blinds(horizontal)">
                                      <p:cBhvr>
                                        <p:cTn id="7" dur="500"/>
                                        <p:tgtEl>
                                          <p:spTgt spid="37277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2775">
                                            <p:txEl>
                                              <p:pRg st="3" end="3"/>
                                            </p:txEl>
                                          </p:spTgt>
                                        </p:tgtEl>
                                        <p:attrNameLst>
                                          <p:attrName>style.visibility</p:attrName>
                                        </p:attrNameLst>
                                      </p:cBhvr>
                                      <p:to>
                                        <p:strVal val="visible"/>
                                      </p:to>
                                    </p:set>
                                    <p:animEffect transition="in" filter="blinds(horizontal)">
                                      <p:cBhvr>
                                        <p:cTn id="12" dur="500"/>
                                        <p:tgtEl>
                                          <p:spTgt spid="37277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2775">
                                            <p:txEl>
                                              <p:pRg st="4" end="4"/>
                                            </p:txEl>
                                          </p:spTgt>
                                        </p:tgtEl>
                                        <p:attrNameLst>
                                          <p:attrName>style.visibility</p:attrName>
                                        </p:attrNameLst>
                                      </p:cBhvr>
                                      <p:to>
                                        <p:strVal val="visible"/>
                                      </p:to>
                                    </p:set>
                                    <p:animEffect transition="in" filter="blinds(horizontal)">
                                      <p:cBhvr>
                                        <p:cTn id="17" dur="500"/>
                                        <p:tgtEl>
                                          <p:spTgt spid="37277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2778"/>
                                        </p:tgtEl>
                                        <p:attrNameLst>
                                          <p:attrName>style.visibility</p:attrName>
                                        </p:attrNameLst>
                                      </p:cBhvr>
                                      <p:to>
                                        <p:strVal val="visible"/>
                                      </p:to>
                                    </p:set>
                                    <p:animEffect transition="in" filter="blinds(horizontal)">
                                      <p:cBhvr>
                                        <p:cTn id="22" dur="500"/>
                                        <p:tgtEl>
                                          <p:spTgt spid="37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7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23E7D6AB-4806-CD66-3CA0-580B67D15385}"/>
              </a:ext>
            </a:extLst>
          </p:cNvPr>
          <p:cNvSpPr>
            <a:spLocks noGrp="1" noChangeArrowheads="1"/>
          </p:cNvSpPr>
          <p:nvPr>
            <p:ph type="title"/>
          </p:nvPr>
        </p:nvSpPr>
        <p:spPr>
          <a:xfrm>
            <a:off x="711200" y="34925"/>
            <a:ext cx="2054225" cy="422275"/>
          </a:xfrm>
        </p:spPr>
        <p:txBody>
          <a:bodyPr anchor="ctr"/>
          <a:lstStyle/>
          <a:p>
            <a:r>
              <a:rPr lang="zh-CN" altLang="en-US">
                <a:ea typeface="宋体" panose="02010600030101010101" pitchFamily="2" charset="-122"/>
              </a:rPr>
              <a:t>偏移寻址方式</a:t>
            </a:r>
            <a:r>
              <a:rPr lang="zh-CN" altLang="en-US" sz="2800">
                <a:ea typeface="宋体" panose="02010600030101010101" pitchFamily="2" charset="-122"/>
              </a:rPr>
              <a:t> </a:t>
            </a:r>
          </a:p>
        </p:txBody>
      </p:sp>
      <p:sp>
        <p:nvSpPr>
          <p:cNvPr id="373763" name="Rectangle 3">
            <a:extLst>
              <a:ext uri="{FF2B5EF4-FFF2-40B4-BE49-F238E27FC236}">
                <a16:creationId xmlns:a16="http://schemas.microsoft.com/office/drawing/2014/main" id="{85186D47-7388-E307-4E54-2ED7B0396134}"/>
              </a:ext>
            </a:extLst>
          </p:cNvPr>
          <p:cNvSpPr>
            <a:spLocks noGrp="1" noChangeArrowheads="1"/>
          </p:cNvSpPr>
          <p:nvPr>
            <p:ph idx="1"/>
          </p:nvPr>
        </p:nvSpPr>
        <p:spPr>
          <a:xfrm>
            <a:off x="182563" y="623888"/>
            <a:ext cx="8704262" cy="5715000"/>
          </a:xfrm>
        </p:spPr>
        <p:txBody>
          <a:bodyPr/>
          <a:lstStyle/>
          <a:p>
            <a:pPr marL="342900" indent="-342900">
              <a:lnSpc>
                <a:spcPct val="110000"/>
              </a:lnSpc>
              <a:buFont typeface="Monotype Sorts" pitchFamily="2" charset="2"/>
              <a:buChar char="l"/>
              <a:defRPr/>
            </a:pPr>
            <a:r>
              <a:rPr lang="zh-CN" altLang="en-US" dirty="0">
                <a:solidFill>
                  <a:srgbClr val="0000FF"/>
                </a:solidFill>
                <a:latin typeface="微软雅黑" panose="020B0503020204020204" pitchFamily="34" charset="-122"/>
                <a:ea typeface="微软雅黑" panose="020B0503020204020204" pitchFamily="34" charset="-122"/>
              </a:rPr>
              <a:t>相对寻址</a:t>
            </a:r>
          </a:p>
          <a:p>
            <a:pPr marL="342900" indent="-342900">
              <a:lnSpc>
                <a:spcPct val="110000"/>
              </a:lnSpc>
              <a:buFont typeface="Monotype Sorts" pitchFamily="2" charset="2"/>
              <a:buChar char=" "/>
              <a:defRPr/>
            </a:pPr>
            <a:r>
              <a:rPr lang="zh-CN" altLang="en-US" dirty="0">
                <a:latin typeface="微软雅黑" panose="020B0503020204020204" pitchFamily="34" charset="-122"/>
                <a:ea typeface="微软雅黑" panose="020B0503020204020204" pitchFamily="34" charset="-122"/>
              </a:rPr>
              <a:t>指令地址码给出一个偏移量(带符号数)，基准地址</a:t>
            </a:r>
            <a:r>
              <a:rPr lang="zh-CN" altLang="en-US" dirty="0">
                <a:effectLst>
                  <a:outerShdw blurRad="38100" dist="38100" dir="2700000" algn="tl">
                    <a:srgbClr val="C0C0C0"/>
                  </a:outerShdw>
                </a:effectLst>
                <a:latin typeface="微软雅黑" panose="020B0503020204020204" pitchFamily="34" charset="-122"/>
                <a:ea typeface="微软雅黑" panose="020B0503020204020204" pitchFamily="34" charset="-122"/>
              </a:rPr>
              <a:t>隐含</a:t>
            </a:r>
            <a:r>
              <a:rPr lang="zh-CN" altLang="en-US" dirty="0">
                <a:latin typeface="微软雅黑" panose="020B0503020204020204" pitchFamily="34" charset="-122"/>
                <a:ea typeface="微软雅黑" panose="020B0503020204020204" pitchFamily="34" charset="-122"/>
              </a:rPr>
              <a:t>由</a:t>
            </a:r>
            <a:r>
              <a:rPr lang="en-US" altLang="en-US" dirty="0">
                <a:latin typeface="微软雅黑" panose="020B0503020204020204" pitchFamily="34" charset="-122"/>
                <a:ea typeface="微软雅黑" panose="020B0503020204020204" pitchFamily="34" charset="-122"/>
              </a:rPr>
              <a:t>PC</a:t>
            </a:r>
            <a:r>
              <a:rPr lang="zh-CN" altLang="en-US" dirty="0">
                <a:latin typeface="微软雅黑" panose="020B0503020204020204" pitchFamily="34" charset="-122"/>
                <a:ea typeface="微软雅黑" panose="020B0503020204020204" pitchFamily="34" charset="-122"/>
              </a:rPr>
              <a:t>给出。</a:t>
            </a:r>
          </a:p>
          <a:p>
            <a:pPr marL="342900" indent="-342900">
              <a:lnSpc>
                <a:spcPct val="110000"/>
              </a:lnSpc>
              <a:buFont typeface="Monotype Sorts" pitchFamily="2" charset="2"/>
              <a:buChar char=" "/>
              <a:defRPr/>
            </a:pPr>
            <a:r>
              <a:rPr lang="zh-CN" altLang="en-US" dirty="0">
                <a:latin typeface="微软雅黑" panose="020B0503020204020204" pitchFamily="34" charset="-122"/>
                <a:ea typeface="微软雅黑" panose="020B0503020204020204" pitchFamily="34" charset="-122"/>
              </a:rPr>
              <a:t>即：</a:t>
            </a:r>
            <a:r>
              <a:rPr lang="en-US" altLang="en-US" dirty="0">
                <a:latin typeface="微软雅黑" panose="020B0503020204020204" pitchFamily="34" charset="-122"/>
                <a:ea typeface="微软雅黑" panose="020B0503020204020204" pitchFamily="34" charset="-122"/>
              </a:rPr>
              <a:t>EA=(PC)+A</a:t>
            </a:r>
          </a:p>
          <a:p>
            <a:pPr marL="342900" indent="-342900">
              <a:lnSpc>
                <a:spcPct val="110000"/>
              </a:lnSpc>
              <a:buFont typeface="Monotype Sorts" pitchFamily="2" charset="2"/>
              <a:buChar char=" "/>
              <a:defRPr/>
            </a:pPr>
            <a:r>
              <a:rPr lang="zh-CN" altLang="en-US" dirty="0">
                <a:solidFill>
                  <a:srgbClr val="0000FF"/>
                </a:solidFill>
                <a:latin typeface="微软雅黑" panose="020B0503020204020204" pitchFamily="34" charset="-122"/>
                <a:ea typeface="微软雅黑" panose="020B0503020204020204" pitchFamily="34" charset="-122"/>
              </a:rPr>
              <a:t>可用来实现程序(公共子程序)的浮动 或 指定转移目标地址</a:t>
            </a:r>
          </a:p>
          <a:p>
            <a:pPr marL="342900" indent="-342900">
              <a:lnSpc>
                <a:spcPct val="110000"/>
              </a:lnSpc>
              <a:buFont typeface="Monotype Sorts" pitchFamily="2" charset="2"/>
              <a:buChar char=" "/>
              <a:defRPr/>
            </a:pPr>
            <a:r>
              <a:rPr lang="zh-CN" altLang="en-US" dirty="0">
                <a:solidFill>
                  <a:srgbClr val="4B9556"/>
                </a:solidFill>
                <a:latin typeface="微软雅黑" panose="020B0503020204020204" pitchFamily="34" charset="-122"/>
                <a:ea typeface="微软雅黑" panose="020B0503020204020204" pitchFamily="34" charset="-122"/>
              </a:rPr>
              <a:t>注意：当前</a:t>
            </a:r>
            <a:r>
              <a:rPr lang="en-US" altLang="zh-CN" dirty="0">
                <a:solidFill>
                  <a:srgbClr val="4B9556"/>
                </a:solidFill>
                <a:latin typeface="微软雅黑" panose="020B0503020204020204" pitchFamily="34" charset="-122"/>
                <a:ea typeface="微软雅黑" panose="020B0503020204020204" pitchFamily="34" charset="-122"/>
              </a:rPr>
              <a:t>PC</a:t>
            </a:r>
            <a:r>
              <a:rPr lang="zh-CN" altLang="en-US" dirty="0">
                <a:solidFill>
                  <a:srgbClr val="4B9556"/>
                </a:solidFill>
                <a:latin typeface="微软雅黑" panose="020B0503020204020204" pitchFamily="34" charset="-122"/>
                <a:ea typeface="微软雅黑" panose="020B0503020204020204" pitchFamily="34" charset="-122"/>
              </a:rPr>
              <a:t>的值可以是正在执行指令的地址或下条指令的地址</a:t>
            </a:r>
          </a:p>
          <a:p>
            <a:pPr marL="342900" indent="-342900">
              <a:lnSpc>
                <a:spcPct val="110000"/>
              </a:lnSpc>
              <a:buFont typeface="Monotype Sorts" pitchFamily="2" charset="2"/>
              <a:buChar char="l"/>
              <a:defRPr/>
            </a:pPr>
            <a:r>
              <a:rPr lang="zh-CN" altLang="en-US" dirty="0">
                <a:solidFill>
                  <a:srgbClr val="0000FF"/>
                </a:solidFill>
                <a:latin typeface="微软雅黑" panose="020B0503020204020204" pitchFamily="34" charset="-122"/>
                <a:ea typeface="微软雅黑" panose="020B0503020204020204" pitchFamily="34" charset="-122"/>
              </a:rPr>
              <a:t>基址寻址</a:t>
            </a:r>
          </a:p>
          <a:p>
            <a:pPr marL="342900" indent="-342900">
              <a:lnSpc>
                <a:spcPct val="110000"/>
              </a:lnSpc>
              <a:buFont typeface="Monotype Sorts" pitchFamily="2" charset="2"/>
              <a:buChar char=" "/>
              <a:defRPr/>
            </a:pPr>
            <a:r>
              <a:rPr lang="zh-CN" altLang="en-US" dirty="0">
                <a:latin typeface="微软雅黑" panose="020B0503020204020204" pitchFamily="34" charset="-122"/>
                <a:ea typeface="微软雅黑" panose="020B0503020204020204" pitchFamily="34" charset="-122"/>
              </a:rPr>
              <a:t>指令地址码给出一个偏移量，基准地址</a:t>
            </a:r>
            <a:r>
              <a:rPr lang="zh-CN" altLang="en-US" dirty="0">
                <a:effectLst>
                  <a:outerShdw blurRad="38100" dist="38100" dir="2700000" algn="tl">
                    <a:srgbClr val="C0C0C0"/>
                  </a:outerShdw>
                </a:effectLst>
                <a:latin typeface="微软雅黑" panose="020B0503020204020204" pitchFamily="34" charset="-122"/>
                <a:ea typeface="微软雅黑" panose="020B0503020204020204" pitchFamily="34" charset="-122"/>
              </a:rPr>
              <a:t>明显或隐含</a:t>
            </a:r>
            <a:r>
              <a:rPr lang="zh-CN" altLang="en-US" dirty="0">
                <a:latin typeface="微软雅黑" panose="020B0503020204020204" pitchFamily="34" charset="-122"/>
                <a:ea typeface="微软雅黑" panose="020B0503020204020204" pitchFamily="34" charset="-122"/>
              </a:rPr>
              <a:t>由基址寄存器</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给出。即：</a:t>
            </a:r>
            <a:r>
              <a:rPr lang="en-US" altLang="en-US" dirty="0">
                <a:latin typeface="微软雅黑" panose="020B0503020204020204" pitchFamily="34" charset="-122"/>
                <a:ea typeface="微软雅黑" panose="020B0503020204020204" pitchFamily="34" charset="-122"/>
              </a:rPr>
              <a:t>EA=(B)+A</a:t>
            </a:r>
          </a:p>
          <a:p>
            <a:pPr marL="342900" indent="-342900">
              <a:lnSpc>
                <a:spcPct val="110000"/>
              </a:lnSpc>
              <a:buFont typeface="Monotype Sorts" pitchFamily="2" charset="2"/>
              <a:buChar char=" "/>
              <a:defRPr/>
            </a:pPr>
            <a:r>
              <a:rPr lang="zh-CN" altLang="en-US" dirty="0">
                <a:solidFill>
                  <a:srgbClr val="0000FF"/>
                </a:solidFill>
                <a:latin typeface="微软雅黑" panose="020B0503020204020204" pitchFamily="34" charset="-122"/>
                <a:ea typeface="微软雅黑" panose="020B0503020204020204" pitchFamily="34" charset="-122"/>
              </a:rPr>
              <a:t>可用来实现多道程序重定位 </a:t>
            </a:r>
            <a:r>
              <a:rPr lang="zh-CN" altLang="en-US" dirty="0">
                <a:solidFill>
                  <a:schemeClr val="accent2"/>
                </a:solidFill>
                <a:latin typeface="微软雅黑" panose="020B0503020204020204" pitchFamily="34" charset="-122"/>
                <a:ea typeface="微软雅黑" panose="020B0503020204020204" pitchFamily="34" charset="-122"/>
              </a:rPr>
              <a:t>或 过程调用中参数的访问</a:t>
            </a:r>
          </a:p>
          <a:p>
            <a:pPr marL="342900" indent="-342900">
              <a:lnSpc>
                <a:spcPct val="110000"/>
              </a:lnSpc>
              <a:buFont typeface="Monotype Sorts" pitchFamily="2" charset="2"/>
              <a:buChar char="l"/>
              <a:defRPr/>
            </a:pPr>
            <a:r>
              <a:rPr lang="zh-CN" altLang="en-US" dirty="0">
                <a:solidFill>
                  <a:srgbClr val="0000FF"/>
                </a:solidFill>
                <a:latin typeface="微软雅黑" panose="020B0503020204020204" pitchFamily="34" charset="-122"/>
                <a:ea typeface="微软雅黑" panose="020B0503020204020204" pitchFamily="34" charset="-122"/>
                <a:hlinkClick r:id="rId2" action="ppaction://hlinksldjump"/>
              </a:rPr>
              <a:t>变址寻址</a:t>
            </a:r>
            <a:endParaRPr lang="zh-CN" altLang="en-US" dirty="0">
              <a:solidFill>
                <a:srgbClr val="0000FF"/>
              </a:solidFill>
              <a:latin typeface="微软雅黑" panose="020B0503020204020204" pitchFamily="34" charset="-122"/>
              <a:ea typeface="微软雅黑" panose="020B0503020204020204" pitchFamily="34" charset="-122"/>
            </a:endParaRPr>
          </a:p>
          <a:p>
            <a:pPr marL="342900" indent="-342900">
              <a:lnSpc>
                <a:spcPct val="110000"/>
              </a:lnSpc>
              <a:buFont typeface="Monotype Sorts" pitchFamily="2" charset="2"/>
              <a:buChar char=" "/>
              <a:defRPr/>
            </a:pPr>
            <a:r>
              <a:rPr lang="zh-CN" altLang="en-US" dirty="0">
                <a:latin typeface="微软雅黑" panose="020B0503020204020204" pitchFamily="34" charset="-122"/>
                <a:ea typeface="微软雅黑" panose="020B0503020204020204" pitchFamily="34" charset="-122"/>
              </a:rPr>
              <a:t>指令地址码给出一个基准地址，而偏移量(无符号数)</a:t>
            </a:r>
            <a:r>
              <a:rPr lang="zh-CN" altLang="en-US" dirty="0">
                <a:effectLst>
                  <a:outerShdw blurRad="38100" dist="38100" dir="2700000" algn="tl">
                    <a:srgbClr val="C0C0C0"/>
                  </a:outerShdw>
                </a:effectLst>
                <a:latin typeface="微软雅黑" panose="020B0503020204020204" pitchFamily="34" charset="-122"/>
                <a:ea typeface="微软雅黑" panose="020B0503020204020204" pitchFamily="34" charset="-122"/>
              </a:rPr>
              <a:t>明显或隐含</a:t>
            </a:r>
            <a:r>
              <a:rPr lang="zh-CN" altLang="en-US" dirty="0">
                <a:latin typeface="微软雅黑" panose="020B0503020204020204" pitchFamily="34" charset="-122"/>
                <a:ea typeface="微软雅黑" panose="020B0503020204020204" pitchFamily="34" charset="-122"/>
              </a:rPr>
              <a:t>由变址寄存器 </a:t>
            </a:r>
            <a:r>
              <a:rPr lang="en-US" altLang="zh-CN" dirty="0">
                <a:latin typeface="微软雅黑" panose="020B0503020204020204" pitchFamily="34" charset="-122"/>
                <a:ea typeface="微软雅黑" panose="020B0503020204020204" pitchFamily="34" charset="-122"/>
              </a:rPr>
              <a:t>I </a:t>
            </a:r>
            <a:r>
              <a:rPr lang="zh-CN" altLang="en-US" dirty="0">
                <a:latin typeface="微软雅黑" panose="020B0503020204020204" pitchFamily="34" charset="-122"/>
                <a:ea typeface="微软雅黑" panose="020B0503020204020204" pitchFamily="34" charset="-122"/>
              </a:rPr>
              <a:t>给出。即：</a:t>
            </a:r>
            <a:r>
              <a:rPr lang="en-US" altLang="en-US" dirty="0">
                <a:latin typeface="微软雅黑" panose="020B0503020204020204" pitchFamily="34" charset="-122"/>
                <a:ea typeface="微软雅黑" panose="020B0503020204020204" pitchFamily="34" charset="-122"/>
              </a:rPr>
              <a:t>EA=(I)+A</a:t>
            </a:r>
          </a:p>
          <a:p>
            <a:pPr marL="342900" indent="-342900">
              <a:lnSpc>
                <a:spcPct val="110000"/>
              </a:lnSpc>
              <a:buFont typeface="Monotype Sorts" pitchFamily="2" charset="2"/>
              <a:buChar char=" "/>
              <a:defRPr/>
            </a:pPr>
            <a:r>
              <a:rPr lang="zh-CN" altLang="en-US" dirty="0">
                <a:solidFill>
                  <a:srgbClr val="0000FF"/>
                </a:solidFill>
                <a:latin typeface="微软雅黑" panose="020B0503020204020204" pitchFamily="34" charset="-122"/>
                <a:ea typeface="微软雅黑" panose="020B0503020204020204" pitchFamily="34" charset="-122"/>
              </a:rPr>
              <a:t>可为循环重复操作提供一种高效机制，如实现对线性表的方便操作</a:t>
            </a:r>
          </a:p>
        </p:txBody>
      </p:sp>
      <p:sp>
        <p:nvSpPr>
          <p:cNvPr id="373764" name="Text Box 4">
            <a:extLst>
              <a:ext uri="{FF2B5EF4-FFF2-40B4-BE49-F238E27FC236}">
                <a16:creationId xmlns:a16="http://schemas.microsoft.com/office/drawing/2014/main" id="{B24B6D77-F39A-E553-5473-61012A35F114}"/>
              </a:ext>
            </a:extLst>
          </p:cNvPr>
          <p:cNvSpPr txBox="1">
            <a:spLocks noChangeArrowheads="1"/>
          </p:cNvSpPr>
          <p:nvPr/>
        </p:nvSpPr>
        <p:spPr bwMode="auto">
          <a:xfrm>
            <a:off x="6170613" y="6251575"/>
            <a:ext cx="19304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t>SKIP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3763">
                                            <p:txEl>
                                              <p:pRg st="1" end="1"/>
                                            </p:txEl>
                                          </p:spTgt>
                                        </p:tgtEl>
                                        <p:attrNameLst>
                                          <p:attrName>style.visibility</p:attrName>
                                        </p:attrNameLst>
                                      </p:cBhvr>
                                      <p:to>
                                        <p:strVal val="visible"/>
                                      </p:to>
                                    </p:set>
                                    <p:animEffect transition="in" filter="blinds(horizontal)">
                                      <p:cBhvr>
                                        <p:cTn id="7" dur="500"/>
                                        <p:tgtEl>
                                          <p:spTgt spid="3737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3763">
                                            <p:txEl>
                                              <p:pRg st="2" end="2"/>
                                            </p:txEl>
                                          </p:spTgt>
                                        </p:tgtEl>
                                        <p:attrNameLst>
                                          <p:attrName>style.visibility</p:attrName>
                                        </p:attrNameLst>
                                      </p:cBhvr>
                                      <p:to>
                                        <p:strVal val="visible"/>
                                      </p:to>
                                    </p:set>
                                    <p:animEffect transition="in" filter="blinds(horizontal)">
                                      <p:cBhvr>
                                        <p:cTn id="10" dur="500"/>
                                        <p:tgtEl>
                                          <p:spTgt spid="373763">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73763">
                                            <p:txEl>
                                              <p:pRg st="3" end="3"/>
                                            </p:txEl>
                                          </p:spTgt>
                                        </p:tgtEl>
                                        <p:attrNameLst>
                                          <p:attrName>style.visibility</p:attrName>
                                        </p:attrNameLst>
                                      </p:cBhvr>
                                      <p:to>
                                        <p:strVal val="visible"/>
                                      </p:to>
                                    </p:set>
                                    <p:animEffect transition="in" filter="blinds(horizontal)">
                                      <p:cBhvr>
                                        <p:cTn id="15" dur="500"/>
                                        <p:tgtEl>
                                          <p:spTgt spid="373763">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73763">
                                            <p:txEl>
                                              <p:pRg st="4" end="4"/>
                                            </p:txEl>
                                          </p:spTgt>
                                        </p:tgtEl>
                                        <p:attrNameLst>
                                          <p:attrName>style.visibility</p:attrName>
                                        </p:attrNameLst>
                                      </p:cBhvr>
                                      <p:to>
                                        <p:strVal val="visible"/>
                                      </p:to>
                                    </p:set>
                                    <p:animEffect transition="in" filter="blinds(horizontal)">
                                      <p:cBhvr>
                                        <p:cTn id="20" dur="500"/>
                                        <p:tgtEl>
                                          <p:spTgt spid="373763">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73763">
                                            <p:txEl>
                                              <p:pRg st="6" end="6"/>
                                            </p:txEl>
                                          </p:spTgt>
                                        </p:tgtEl>
                                        <p:attrNameLst>
                                          <p:attrName>style.visibility</p:attrName>
                                        </p:attrNameLst>
                                      </p:cBhvr>
                                      <p:to>
                                        <p:strVal val="visible"/>
                                      </p:to>
                                    </p:set>
                                    <p:animEffect transition="in" filter="blinds(horizontal)">
                                      <p:cBhvr>
                                        <p:cTn id="25" dur="500"/>
                                        <p:tgtEl>
                                          <p:spTgt spid="373763">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373763">
                                            <p:txEl>
                                              <p:pRg st="7" end="7"/>
                                            </p:txEl>
                                          </p:spTgt>
                                        </p:tgtEl>
                                        <p:attrNameLst>
                                          <p:attrName>style.visibility</p:attrName>
                                        </p:attrNameLst>
                                      </p:cBhvr>
                                      <p:to>
                                        <p:strVal val="visible"/>
                                      </p:to>
                                    </p:set>
                                    <p:animEffect transition="in" filter="blinds(horizontal)">
                                      <p:cBhvr>
                                        <p:cTn id="30" dur="500"/>
                                        <p:tgtEl>
                                          <p:spTgt spid="373763">
                                            <p:txEl>
                                              <p:pRg st="7" end="7"/>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373763">
                                            <p:txEl>
                                              <p:pRg st="9" end="9"/>
                                            </p:txEl>
                                          </p:spTgt>
                                        </p:tgtEl>
                                        <p:attrNameLst>
                                          <p:attrName>style.visibility</p:attrName>
                                        </p:attrNameLst>
                                      </p:cBhvr>
                                      <p:to>
                                        <p:strVal val="visible"/>
                                      </p:to>
                                    </p:set>
                                    <p:animEffect transition="in" filter="blinds(horizontal)">
                                      <p:cBhvr>
                                        <p:cTn id="35" dur="500"/>
                                        <p:tgtEl>
                                          <p:spTgt spid="373763">
                                            <p:txEl>
                                              <p:pRg st="9" end="9"/>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373763">
                                            <p:txEl>
                                              <p:pRg st="10" end="10"/>
                                            </p:txEl>
                                          </p:spTgt>
                                        </p:tgtEl>
                                        <p:attrNameLst>
                                          <p:attrName>style.visibility</p:attrName>
                                        </p:attrNameLst>
                                      </p:cBhvr>
                                      <p:to>
                                        <p:strVal val="visible"/>
                                      </p:to>
                                    </p:set>
                                    <p:animEffect transition="in" filter="blinds(horizontal)">
                                      <p:cBhvr>
                                        <p:cTn id="40" dur="500"/>
                                        <p:tgtEl>
                                          <p:spTgt spid="373763">
                                            <p:txEl>
                                              <p:pRg st="10" end="1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73764"/>
                                        </p:tgtEl>
                                        <p:attrNameLst>
                                          <p:attrName>style.visibility</p:attrName>
                                        </p:attrNameLst>
                                      </p:cBhvr>
                                      <p:to>
                                        <p:strVal val="visible"/>
                                      </p:to>
                                    </p:set>
                                    <p:animEffect transition="in" filter="blinds(horizontal)">
                                      <p:cBhvr>
                                        <p:cTn id="45" dur="500"/>
                                        <p:tgtEl>
                                          <p:spTgt spid="373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A9F05A3E-7705-4746-DA2B-18F74702C58C}"/>
              </a:ext>
            </a:extLst>
          </p:cNvPr>
          <p:cNvSpPr>
            <a:spLocks noGrp="1" noChangeArrowheads="1"/>
          </p:cNvSpPr>
          <p:nvPr>
            <p:ph type="title"/>
          </p:nvPr>
        </p:nvSpPr>
        <p:spPr>
          <a:xfrm>
            <a:off x="711200" y="87313"/>
            <a:ext cx="5672138" cy="368300"/>
          </a:xfrm>
        </p:spPr>
        <p:txBody>
          <a:bodyPr/>
          <a:lstStyle/>
          <a:p>
            <a:r>
              <a:rPr lang="zh-CN" altLang="en-US">
                <a:ea typeface="宋体" panose="02010600030101010101" pitchFamily="2" charset="-122"/>
              </a:rPr>
              <a:t>变址寻址实现</a:t>
            </a:r>
            <a:r>
              <a:rPr lang="zh-CN" altLang="en-US">
                <a:solidFill>
                  <a:schemeClr val="tx1"/>
                </a:solidFill>
                <a:ea typeface="宋体" panose="02010600030101010101" pitchFamily="2" charset="-122"/>
              </a:rPr>
              <a:t>线性表元素的存取</a:t>
            </a:r>
          </a:p>
        </p:txBody>
      </p:sp>
      <p:sp>
        <p:nvSpPr>
          <p:cNvPr id="376835" name="Rectangle 3">
            <a:extLst>
              <a:ext uri="{FF2B5EF4-FFF2-40B4-BE49-F238E27FC236}">
                <a16:creationId xmlns:a16="http://schemas.microsoft.com/office/drawing/2014/main" id="{E53C04C9-88C4-E649-CB43-7C7367C6F822}"/>
              </a:ext>
            </a:extLst>
          </p:cNvPr>
          <p:cNvSpPr>
            <a:spLocks noGrp="1" noChangeArrowheads="1"/>
          </p:cNvSpPr>
          <p:nvPr>
            <p:ph idx="1"/>
          </p:nvPr>
        </p:nvSpPr>
        <p:spPr>
          <a:xfrm>
            <a:off x="220663" y="688975"/>
            <a:ext cx="3938587" cy="5672138"/>
          </a:xfrm>
        </p:spPr>
        <p:txBody>
          <a:bodyPr/>
          <a:lstStyle/>
          <a:p>
            <a:pPr marL="342900" indent="-342900">
              <a:lnSpc>
                <a:spcPct val="125000"/>
              </a:lnSpc>
            </a:pPr>
            <a:r>
              <a:rPr lang="zh-CN" altLang="en-US" sz="1800">
                <a:solidFill>
                  <a:srgbClr val="A50021"/>
                </a:solidFill>
                <a:latin typeface="微软雅黑" panose="020B0503020204020204" pitchFamily="34" charset="-122"/>
                <a:ea typeface="微软雅黑" panose="020B0503020204020204" pitchFamily="34" charset="-122"/>
              </a:rPr>
              <a:t>自动变址</a:t>
            </a:r>
          </a:p>
          <a:p>
            <a:pPr marL="342900" indent="-342900">
              <a:lnSpc>
                <a:spcPct val="125000"/>
              </a:lnSpc>
              <a:buFont typeface="Wingdings" panose="05000000000000000000" pitchFamily="2" charset="2"/>
              <a:buNone/>
            </a:pPr>
            <a:r>
              <a:rPr lang="zh-CN" altLang="en-US" sz="1800">
                <a:solidFill>
                  <a:srgbClr val="A50021"/>
                </a:solidFill>
                <a:latin typeface="微软雅黑" panose="020B0503020204020204" pitchFamily="34" charset="-122"/>
                <a:ea typeface="微软雅黑" panose="020B0503020204020204" pitchFamily="34" charset="-122"/>
              </a:rPr>
              <a:t>     指令中的地址码</a:t>
            </a:r>
            <a:r>
              <a:rPr lang="en-US" altLang="zh-CN" sz="1800">
                <a:solidFill>
                  <a:srgbClr val="A50021"/>
                </a:solidFill>
                <a:latin typeface="微软雅黑" panose="020B0503020204020204" pitchFamily="34" charset="-122"/>
                <a:ea typeface="微软雅黑" panose="020B0503020204020204" pitchFamily="34" charset="-122"/>
              </a:rPr>
              <a:t>A</a:t>
            </a:r>
            <a:r>
              <a:rPr lang="zh-CN" altLang="en-US" sz="1800">
                <a:solidFill>
                  <a:srgbClr val="A50021"/>
                </a:solidFill>
                <a:latin typeface="微软雅黑" panose="020B0503020204020204" pitchFamily="34" charset="-122"/>
                <a:ea typeface="微软雅黑" panose="020B0503020204020204" pitchFamily="34" charset="-122"/>
              </a:rPr>
              <a:t>给定数组首址，变址器</a:t>
            </a:r>
            <a:r>
              <a:rPr lang="en-US" altLang="zh-CN" sz="1800">
                <a:solidFill>
                  <a:srgbClr val="A50021"/>
                </a:solidFill>
                <a:latin typeface="微软雅黑" panose="020B0503020204020204" pitchFamily="34" charset="-122"/>
                <a:ea typeface="微软雅黑" panose="020B0503020204020204" pitchFamily="34" charset="-122"/>
              </a:rPr>
              <a:t>I</a:t>
            </a:r>
            <a:r>
              <a:rPr lang="zh-CN" altLang="en-US" sz="1800">
                <a:solidFill>
                  <a:srgbClr val="A50021"/>
                </a:solidFill>
                <a:latin typeface="微软雅黑" panose="020B0503020204020204" pitchFamily="34" charset="-122"/>
                <a:ea typeface="微软雅黑" panose="020B0503020204020204" pitchFamily="34" charset="-122"/>
              </a:rPr>
              <a:t>每次</a:t>
            </a:r>
            <a:r>
              <a:rPr lang="zh-CN" altLang="en-US" sz="1800">
                <a:solidFill>
                  <a:schemeClr val="accent1"/>
                </a:solidFill>
                <a:latin typeface="微软雅黑" panose="020B0503020204020204" pitchFamily="34" charset="-122"/>
                <a:ea typeface="微软雅黑" panose="020B0503020204020204" pitchFamily="34" charset="-122"/>
              </a:rPr>
              <a:t>自动加</a:t>
            </a:r>
            <a:r>
              <a:rPr lang="en-US" altLang="zh-CN" sz="1800">
                <a:solidFill>
                  <a:schemeClr val="accent1"/>
                </a:solidFill>
                <a:latin typeface="微软雅黑" panose="020B0503020204020204" pitchFamily="34" charset="-122"/>
                <a:ea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rPr>
              <a:t>减</a:t>
            </a:r>
            <a:r>
              <a:rPr lang="zh-CN" altLang="en-US" sz="1800">
                <a:solidFill>
                  <a:srgbClr val="A50021"/>
                </a:solidFill>
                <a:latin typeface="微软雅黑" panose="020B0503020204020204" pitchFamily="34" charset="-122"/>
                <a:ea typeface="微软雅黑" panose="020B0503020204020204" pitchFamily="34" charset="-122"/>
              </a:rPr>
              <a:t>数组元素的长度</a:t>
            </a:r>
            <a:r>
              <a:rPr lang="en-US" altLang="zh-CN" sz="1800">
                <a:solidFill>
                  <a:srgbClr val="A50021"/>
                </a:solidFill>
                <a:latin typeface="微软雅黑" panose="020B0503020204020204" pitchFamily="34" charset="-122"/>
                <a:ea typeface="微软雅黑" panose="020B0503020204020204" pitchFamily="34" charset="-122"/>
              </a:rPr>
              <a:t>x</a:t>
            </a:r>
            <a:r>
              <a:rPr lang="zh-CN" altLang="en-US" sz="1800">
                <a:solidFill>
                  <a:srgbClr val="A50021"/>
                </a:solidFill>
                <a:latin typeface="微软雅黑" panose="020B0503020204020204" pitchFamily="34" charset="-122"/>
                <a:ea typeface="微软雅黑" panose="020B0503020204020204" pitchFamily="34" charset="-122"/>
              </a:rPr>
              <a:t>。</a:t>
            </a:r>
          </a:p>
          <a:p>
            <a:pPr marL="342900" indent="-342900">
              <a:lnSpc>
                <a:spcPct val="125000"/>
              </a:lnSpc>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EA=( I )+A</a:t>
            </a:r>
          </a:p>
          <a:p>
            <a:pPr marL="342900" indent="-342900">
              <a:lnSpc>
                <a:spcPct val="125000"/>
              </a:lnSpc>
              <a:buFont typeface="Wingdings" panose="05000000000000000000" pitchFamily="2" charset="2"/>
              <a:buNone/>
            </a:pPr>
            <a:r>
              <a:rPr lang="en-US" altLang="zh-CN" sz="1800">
                <a:latin typeface="微软雅黑" panose="020B0503020204020204" pitchFamily="34" charset="-122"/>
                <a:ea typeface="微软雅黑" panose="020B0503020204020204" pitchFamily="34" charset="-122"/>
              </a:rPr>
              <a:t>      I=( I ) ± x</a:t>
            </a:r>
            <a:endParaRPr lang="zh-CN" altLang="en-US" sz="1800">
              <a:latin typeface="微软雅黑" panose="020B0503020204020204" pitchFamily="34" charset="-122"/>
              <a:ea typeface="微软雅黑" panose="020B0503020204020204" pitchFamily="34" charset="-122"/>
            </a:endParaRPr>
          </a:p>
          <a:p>
            <a:pPr marL="342900" indent="-342900">
              <a:lnSpc>
                <a:spcPct val="125000"/>
              </a:lnSpc>
              <a:buFont typeface="Wingdings" panose="05000000000000000000" pitchFamily="2" charset="2"/>
              <a:buNone/>
            </a:pPr>
            <a:r>
              <a:rPr lang="en-US"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例如，</a:t>
            </a:r>
            <a:r>
              <a:rPr lang="en-US" altLang="zh-CN" sz="1800">
                <a:latin typeface="微软雅黑" panose="020B0503020204020204" pitchFamily="34" charset="-122"/>
                <a:ea typeface="微软雅黑" panose="020B0503020204020204" pitchFamily="34" charset="-122"/>
              </a:rPr>
              <a:t>X86</a:t>
            </a:r>
            <a:r>
              <a:rPr lang="zh-CN" altLang="en-US" sz="1800">
                <a:latin typeface="微软雅黑" panose="020B0503020204020204" pitchFamily="34" charset="-122"/>
                <a:ea typeface="微软雅黑" panose="020B0503020204020204" pitchFamily="34" charset="-122"/>
              </a:rPr>
              <a:t>中的串操作指令</a:t>
            </a:r>
          </a:p>
          <a:p>
            <a:pPr marL="342900" indent="-342900">
              <a:lnSpc>
                <a:spcPct val="125000"/>
              </a:lnSpc>
              <a:spcBef>
                <a:spcPct val="10000"/>
              </a:spcBef>
              <a:buSzPct val="70000"/>
            </a:pPr>
            <a:r>
              <a:rPr lang="zh-CN" altLang="en-US" sz="1800">
                <a:solidFill>
                  <a:srgbClr val="0000FF"/>
                </a:solidFill>
                <a:latin typeface="微软雅黑" panose="020B0503020204020204" pitchFamily="34" charset="-122"/>
                <a:ea typeface="微软雅黑" panose="020B0503020204020204" pitchFamily="34" charset="-122"/>
              </a:rPr>
              <a:t>对于“</a:t>
            </a:r>
            <a:r>
              <a:rPr lang="en-US" altLang="zh-CN" sz="1800">
                <a:solidFill>
                  <a:srgbClr val="0000FF"/>
                </a:solidFill>
                <a:latin typeface="微软雅黑" panose="020B0503020204020204" pitchFamily="34" charset="-122"/>
                <a:ea typeface="微软雅黑" panose="020B0503020204020204" pitchFamily="34" charset="-122"/>
              </a:rPr>
              <a:t>for (i=0;i&lt;N;i++) ….”</a:t>
            </a:r>
            <a:r>
              <a:rPr lang="zh-CN" altLang="en-US" sz="1800">
                <a:solidFill>
                  <a:srgbClr val="0000FF"/>
                </a:solidFill>
                <a:latin typeface="微软雅黑" panose="020B0503020204020204" pitchFamily="34" charset="-122"/>
                <a:ea typeface="微软雅黑" panose="020B0503020204020204" pitchFamily="34" charset="-122"/>
              </a:rPr>
              <a:t>，即</a:t>
            </a:r>
            <a:r>
              <a:rPr lang="zh-CN" altLang="en-US" sz="1800">
                <a:solidFill>
                  <a:srgbClr val="FF0000"/>
                </a:solidFill>
                <a:latin typeface="微软雅黑" panose="020B0503020204020204" pitchFamily="34" charset="-122"/>
                <a:ea typeface="微软雅黑" panose="020B0503020204020204" pitchFamily="34" charset="-122"/>
              </a:rPr>
              <a:t>地址从低</a:t>
            </a:r>
            <a:r>
              <a:rPr lang="en-US" altLang="zh-CN" sz="1800">
                <a:solidFill>
                  <a:srgbClr val="FF0000"/>
                </a:solidFill>
                <a:latin typeface="微软雅黑" panose="020B0503020204020204" pitchFamily="34" charset="-122"/>
                <a:ea typeface="微软雅黑" panose="020B0503020204020204" pitchFamily="34" charset="-122"/>
              </a:rPr>
              <a:t>→</a:t>
            </a:r>
            <a:r>
              <a:rPr lang="zh-CN" altLang="en-US" sz="1800">
                <a:solidFill>
                  <a:srgbClr val="FF0000"/>
                </a:solidFill>
                <a:latin typeface="微软雅黑" panose="020B0503020204020204" pitchFamily="34" charset="-122"/>
                <a:ea typeface="微软雅黑" panose="020B0503020204020204" pitchFamily="34" charset="-122"/>
              </a:rPr>
              <a:t>高增长：加</a:t>
            </a:r>
          </a:p>
          <a:p>
            <a:pPr marL="342900" indent="-342900">
              <a:lnSpc>
                <a:spcPct val="125000"/>
              </a:lnSpc>
              <a:spcBef>
                <a:spcPct val="10000"/>
              </a:spcBef>
              <a:buSzPct val="70000"/>
            </a:pPr>
            <a:r>
              <a:rPr lang="zh-CN" altLang="en-US" sz="1800">
                <a:solidFill>
                  <a:srgbClr val="0000FF"/>
                </a:solidFill>
                <a:latin typeface="微软雅黑" panose="020B0503020204020204" pitchFamily="34" charset="-122"/>
                <a:ea typeface="微软雅黑" panose="020B0503020204020204" pitchFamily="34" charset="-122"/>
              </a:rPr>
              <a:t>对于“</a:t>
            </a:r>
            <a:r>
              <a:rPr lang="en-US" altLang="zh-CN" sz="1800">
                <a:solidFill>
                  <a:srgbClr val="0000FF"/>
                </a:solidFill>
                <a:latin typeface="微软雅黑" panose="020B0503020204020204" pitchFamily="34" charset="-122"/>
                <a:ea typeface="微软雅黑" panose="020B0503020204020204" pitchFamily="34" charset="-122"/>
              </a:rPr>
              <a:t>for (i=N-1;i&gt;=0;i--) ….”,</a:t>
            </a:r>
            <a:r>
              <a:rPr lang="zh-CN" altLang="en-US" sz="1800">
                <a:solidFill>
                  <a:srgbClr val="0000FF"/>
                </a:solidFill>
                <a:latin typeface="微软雅黑" panose="020B0503020204020204" pitchFamily="34" charset="-122"/>
                <a:ea typeface="微软雅黑" panose="020B0503020204020204" pitchFamily="34" charset="-122"/>
              </a:rPr>
              <a:t>即</a:t>
            </a:r>
            <a:r>
              <a:rPr lang="zh-CN" altLang="en-US" sz="1800">
                <a:solidFill>
                  <a:srgbClr val="FF0000"/>
                </a:solidFill>
                <a:latin typeface="微软雅黑" panose="020B0503020204020204" pitchFamily="34" charset="-122"/>
                <a:ea typeface="微软雅黑" panose="020B0503020204020204" pitchFamily="34" charset="-122"/>
              </a:rPr>
              <a:t>地址从高</a:t>
            </a:r>
            <a:r>
              <a:rPr lang="en-US" altLang="zh-CN" sz="1800">
                <a:solidFill>
                  <a:srgbClr val="FF0000"/>
                </a:solidFill>
                <a:latin typeface="微软雅黑" panose="020B0503020204020204" pitchFamily="34" charset="-122"/>
                <a:ea typeface="微软雅黑" panose="020B0503020204020204" pitchFamily="34" charset="-122"/>
              </a:rPr>
              <a:t>→</a:t>
            </a:r>
            <a:r>
              <a:rPr lang="zh-CN" altLang="en-US" sz="1800">
                <a:solidFill>
                  <a:srgbClr val="FF0000"/>
                </a:solidFill>
                <a:latin typeface="微软雅黑" panose="020B0503020204020204" pitchFamily="34" charset="-122"/>
                <a:ea typeface="微软雅黑" panose="020B0503020204020204" pitchFamily="34" charset="-122"/>
              </a:rPr>
              <a:t>低增长：减</a:t>
            </a:r>
          </a:p>
          <a:p>
            <a:pPr marL="342900" indent="-342900">
              <a:lnSpc>
                <a:spcPct val="125000"/>
              </a:lnSpc>
              <a:buSzPct val="70000"/>
            </a:pPr>
            <a:r>
              <a:rPr lang="zh-CN" altLang="en-US" sz="1800">
                <a:solidFill>
                  <a:srgbClr val="0000FF"/>
                </a:solidFill>
                <a:latin typeface="微软雅黑" panose="020B0503020204020204" pitchFamily="34" charset="-122"/>
                <a:ea typeface="微软雅黑" panose="020B0503020204020204" pitchFamily="34" charset="-122"/>
              </a:rPr>
              <a:t>可提供对线性表的方便访问</a:t>
            </a:r>
          </a:p>
        </p:txBody>
      </p:sp>
      <p:sp>
        <p:nvSpPr>
          <p:cNvPr id="376842" name="Text Box 10">
            <a:extLst>
              <a:ext uri="{FF2B5EF4-FFF2-40B4-BE49-F238E27FC236}">
                <a16:creationId xmlns:a16="http://schemas.microsoft.com/office/drawing/2014/main" id="{4ED2BF57-662E-3626-F014-8344ABA41965}"/>
              </a:ext>
            </a:extLst>
          </p:cNvPr>
          <p:cNvSpPr txBox="1">
            <a:spLocks noChangeArrowheads="1"/>
          </p:cNvSpPr>
          <p:nvPr/>
        </p:nvSpPr>
        <p:spPr bwMode="auto">
          <a:xfrm>
            <a:off x="4159250" y="4538663"/>
            <a:ext cx="4525963"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1800">
                <a:solidFill>
                  <a:schemeClr val="accent1"/>
                </a:solidFill>
                <a:latin typeface="微软雅黑" panose="020B0503020204020204" pitchFamily="34" charset="-122"/>
                <a:ea typeface="微软雅黑" panose="020B0503020204020204" pitchFamily="34" charset="-122"/>
              </a:rPr>
              <a:t>若每个元素为一个字节，则 </a:t>
            </a:r>
            <a:r>
              <a:rPr lang="en-US" altLang="zh-CN" sz="1800">
                <a:solidFill>
                  <a:schemeClr val="accent1"/>
                </a:solidFill>
                <a:latin typeface="微软雅黑" panose="020B0503020204020204" pitchFamily="34" charset="-122"/>
                <a:ea typeface="微软雅黑" panose="020B0503020204020204" pitchFamily="34" charset="-122"/>
              </a:rPr>
              <a:t>I=(I) ± 1</a:t>
            </a:r>
          </a:p>
          <a:p>
            <a:pPr eaLnBrk="0" hangingPunct="0">
              <a:spcBef>
                <a:spcPct val="50000"/>
              </a:spcBef>
            </a:pPr>
            <a:r>
              <a:rPr lang="zh-CN" altLang="en-US" sz="1800">
                <a:solidFill>
                  <a:schemeClr val="accent1"/>
                </a:solidFill>
                <a:latin typeface="微软雅黑" panose="020B0503020204020204" pitchFamily="34" charset="-122"/>
                <a:ea typeface="微软雅黑" panose="020B0503020204020204" pitchFamily="34" charset="-122"/>
              </a:rPr>
              <a:t>若每个元素为</a:t>
            </a:r>
            <a:r>
              <a:rPr lang="en-US" altLang="zh-CN" sz="1800">
                <a:solidFill>
                  <a:schemeClr val="accent1"/>
                </a:solidFill>
                <a:latin typeface="微软雅黑" panose="020B0503020204020204" pitchFamily="34" charset="-122"/>
                <a:ea typeface="微软雅黑" panose="020B0503020204020204" pitchFamily="34" charset="-122"/>
              </a:rPr>
              <a:t>4</a:t>
            </a:r>
            <a:r>
              <a:rPr lang="zh-CN" altLang="en-US" sz="1800">
                <a:solidFill>
                  <a:schemeClr val="accent1"/>
                </a:solidFill>
                <a:latin typeface="微软雅黑" panose="020B0503020204020204" pitchFamily="34" charset="-122"/>
                <a:ea typeface="微软雅黑" panose="020B0503020204020204" pitchFamily="34" charset="-122"/>
              </a:rPr>
              <a:t>个字节，则 </a:t>
            </a:r>
            <a:r>
              <a:rPr lang="en-US" altLang="zh-CN" sz="1800">
                <a:solidFill>
                  <a:schemeClr val="accent1"/>
                </a:solidFill>
                <a:latin typeface="微软雅黑" panose="020B0503020204020204" pitchFamily="34" charset="-122"/>
                <a:ea typeface="微软雅黑" panose="020B0503020204020204" pitchFamily="34" charset="-122"/>
              </a:rPr>
              <a:t>I=(I) ± 4</a:t>
            </a:r>
            <a:endParaRPr lang="zh-CN" altLang="en-US" sz="1800">
              <a:solidFill>
                <a:schemeClr val="accent1"/>
              </a:solidFill>
              <a:latin typeface="微软雅黑" panose="020B0503020204020204" pitchFamily="34" charset="-122"/>
              <a:ea typeface="微软雅黑" panose="020B0503020204020204" pitchFamily="34" charset="-122"/>
            </a:endParaRPr>
          </a:p>
        </p:txBody>
      </p:sp>
      <p:grpSp>
        <p:nvGrpSpPr>
          <p:cNvPr id="2" name="Group 28">
            <a:extLst>
              <a:ext uri="{FF2B5EF4-FFF2-40B4-BE49-F238E27FC236}">
                <a16:creationId xmlns:a16="http://schemas.microsoft.com/office/drawing/2014/main" id="{581A3D0B-748B-D5E0-BAFE-6E4ED75579A3}"/>
              </a:ext>
            </a:extLst>
          </p:cNvPr>
          <p:cNvGrpSpPr>
            <a:grpSpLocks/>
          </p:cNvGrpSpPr>
          <p:nvPr/>
        </p:nvGrpSpPr>
        <p:grpSpPr bwMode="auto">
          <a:xfrm>
            <a:off x="4148138" y="1276350"/>
            <a:ext cx="4672012" cy="3071813"/>
            <a:chOff x="2725" y="804"/>
            <a:chExt cx="2859" cy="1935"/>
          </a:xfrm>
        </p:grpSpPr>
        <p:sp>
          <p:nvSpPr>
            <p:cNvPr id="376836" name="Text Box 4">
              <a:extLst>
                <a:ext uri="{FF2B5EF4-FFF2-40B4-BE49-F238E27FC236}">
                  <a16:creationId xmlns:a16="http://schemas.microsoft.com/office/drawing/2014/main" id="{1F374741-652D-3467-55B5-B5FF0FFF859B}"/>
                </a:ext>
              </a:extLst>
            </p:cNvPr>
            <p:cNvSpPr txBox="1">
              <a:spLocks noChangeArrowheads="1"/>
            </p:cNvSpPr>
            <p:nvPr/>
          </p:nvSpPr>
          <p:spPr bwMode="auto">
            <a:xfrm>
              <a:off x="3813" y="1059"/>
              <a:ext cx="651" cy="288"/>
            </a:xfrm>
            <a:prstGeom prst="rect">
              <a:avLst/>
            </a:prstGeom>
            <a:noFill/>
            <a:ln w="9525">
              <a:noFill/>
              <a:miter lim="800000"/>
            </a:ln>
            <a:effectLst/>
          </p:spPr>
          <p:txBody>
            <a:bodyPr>
              <a:spAutoFit/>
            </a:bodyPr>
            <a:lstStyle/>
            <a:p>
              <a:pPr eaLnBrk="0" hangingPunct="0">
                <a:spcBef>
                  <a:spcPct val="50000"/>
                </a:spcBef>
                <a:defRPr/>
              </a:pPr>
              <a:r>
                <a:rPr lang="en-US" altLang="zh-CN" sz="2400">
                  <a:solidFill>
                    <a:srgbClr val="C2228D"/>
                  </a:solidFill>
                  <a:effectLst>
                    <a:outerShdw blurRad="38100" dist="38100" dir="2700000" algn="tl">
                      <a:srgbClr val="C0C0C0"/>
                    </a:outerShdw>
                  </a:effectLst>
                  <a:latin typeface="Times New Roman" panose="02020603050405020304" pitchFamily="18" charset="0"/>
                </a:rPr>
                <a:t>A=100</a:t>
              </a:r>
            </a:p>
          </p:txBody>
        </p:sp>
        <p:sp>
          <p:nvSpPr>
            <p:cNvPr id="376837" name="Text Box 5">
              <a:extLst>
                <a:ext uri="{FF2B5EF4-FFF2-40B4-BE49-F238E27FC236}">
                  <a16:creationId xmlns:a16="http://schemas.microsoft.com/office/drawing/2014/main" id="{9839F74B-1BF5-BAF6-2383-41E8DD382C40}"/>
                </a:ext>
              </a:extLst>
            </p:cNvPr>
            <p:cNvSpPr txBox="1">
              <a:spLocks noChangeArrowheads="1"/>
            </p:cNvSpPr>
            <p:nvPr/>
          </p:nvSpPr>
          <p:spPr bwMode="auto">
            <a:xfrm>
              <a:off x="2725" y="1308"/>
              <a:ext cx="768" cy="269"/>
            </a:xfrm>
            <a:prstGeom prst="rect">
              <a:avLst/>
            </a:prstGeom>
            <a:noFill/>
            <a:ln w="9525">
              <a:noFill/>
              <a:miter lim="800000"/>
            </a:ln>
            <a:effectLst/>
          </p:spPr>
          <p:txBody>
            <a:bodyPr>
              <a:spAutoFit/>
            </a:bodyPr>
            <a:lstStyle/>
            <a:p>
              <a:pPr eaLnBrk="0" hangingPunct="0">
                <a:spcBef>
                  <a:spcPct val="50000"/>
                </a:spcBef>
                <a:defRPr/>
              </a:pPr>
              <a:r>
                <a:rPr lang="zh-CN" altLang="en-US" sz="2200">
                  <a:solidFill>
                    <a:srgbClr val="C2228D"/>
                  </a:solidFill>
                  <a:effectLst>
                    <a:outerShdw blurRad="38100" dist="38100" dir="2700000" algn="tl">
                      <a:srgbClr val="C0C0C0"/>
                    </a:outerShdw>
                  </a:effectLst>
                  <a:latin typeface="黑体" panose="02010609060101010101" pitchFamily="49" charset="-122"/>
                  <a:ea typeface="黑体" panose="02010609060101010101" pitchFamily="49" charset="-122"/>
                </a:rPr>
                <a:t>变址器</a:t>
              </a:r>
              <a:r>
                <a:rPr lang="en-US" altLang="zh-CN" sz="2200">
                  <a:solidFill>
                    <a:srgbClr val="C2228D"/>
                  </a:solidFill>
                  <a:effectLst>
                    <a:outerShdw blurRad="38100" dist="38100" dir="2700000" algn="tl">
                      <a:srgbClr val="C0C0C0"/>
                    </a:outerShdw>
                  </a:effectLst>
                  <a:latin typeface="黑体" panose="02010609060101010101" pitchFamily="49" charset="-122"/>
                  <a:ea typeface="黑体" panose="02010609060101010101" pitchFamily="49" charset="-122"/>
                </a:rPr>
                <a:t>I</a:t>
              </a:r>
            </a:p>
          </p:txBody>
        </p:sp>
        <p:sp>
          <p:nvSpPr>
            <p:cNvPr id="20487" name="Line 6">
              <a:extLst>
                <a:ext uri="{FF2B5EF4-FFF2-40B4-BE49-F238E27FC236}">
                  <a16:creationId xmlns:a16="http://schemas.microsoft.com/office/drawing/2014/main" id="{6510E0ED-B187-7C39-6F2C-603E3A2D7B1D}"/>
                </a:ext>
              </a:extLst>
            </p:cNvPr>
            <p:cNvSpPr>
              <a:spLocks noChangeShapeType="1"/>
            </p:cNvSpPr>
            <p:nvPr/>
          </p:nvSpPr>
          <p:spPr bwMode="auto">
            <a:xfrm flipV="1">
              <a:off x="3493" y="1524"/>
              <a:ext cx="971" cy="23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8" name="Line 7">
              <a:extLst>
                <a:ext uri="{FF2B5EF4-FFF2-40B4-BE49-F238E27FC236}">
                  <a16:creationId xmlns:a16="http://schemas.microsoft.com/office/drawing/2014/main" id="{CCB12D21-7533-0A5B-A870-644943B2F38F}"/>
                </a:ext>
              </a:extLst>
            </p:cNvPr>
            <p:cNvSpPr>
              <a:spLocks noChangeShapeType="1"/>
            </p:cNvSpPr>
            <p:nvPr/>
          </p:nvSpPr>
          <p:spPr bwMode="auto">
            <a:xfrm flipV="1">
              <a:off x="3493" y="1228"/>
              <a:ext cx="971" cy="53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9" name="Line 8">
              <a:extLst>
                <a:ext uri="{FF2B5EF4-FFF2-40B4-BE49-F238E27FC236}">
                  <a16:creationId xmlns:a16="http://schemas.microsoft.com/office/drawing/2014/main" id="{8C11CE82-116C-6EC3-1EDF-343A7C69769B}"/>
                </a:ext>
              </a:extLst>
            </p:cNvPr>
            <p:cNvSpPr>
              <a:spLocks noChangeShapeType="1"/>
            </p:cNvSpPr>
            <p:nvPr/>
          </p:nvSpPr>
          <p:spPr bwMode="auto">
            <a:xfrm>
              <a:off x="3493" y="1758"/>
              <a:ext cx="97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0" name="Line 9">
              <a:extLst>
                <a:ext uri="{FF2B5EF4-FFF2-40B4-BE49-F238E27FC236}">
                  <a16:creationId xmlns:a16="http://schemas.microsoft.com/office/drawing/2014/main" id="{C225471E-F96E-0791-2645-9268564B5A8A}"/>
                </a:ext>
              </a:extLst>
            </p:cNvPr>
            <p:cNvSpPr>
              <a:spLocks noChangeShapeType="1"/>
            </p:cNvSpPr>
            <p:nvPr/>
          </p:nvSpPr>
          <p:spPr bwMode="auto">
            <a:xfrm>
              <a:off x="4184" y="2022"/>
              <a:ext cx="0" cy="306"/>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1" name="Text Box 11">
              <a:extLst>
                <a:ext uri="{FF2B5EF4-FFF2-40B4-BE49-F238E27FC236}">
                  <a16:creationId xmlns:a16="http://schemas.microsoft.com/office/drawing/2014/main" id="{22E3B320-D828-B2FD-0484-D9E97EED6CD5}"/>
                </a:ext>
              </a:extLst>
            </p:cNvPr>
            <p:cNvSpPr txBox="1">
              <a:spLocks noChangeArrowheads="1"/>
            </p:cNvSpPr>
            <p:nvPr/>
          </p:nvSpPr>
          <p:spPr bwMode="auto">
            <a:xfrm>
              <a:off x="2843" y="1619"/>
              <a:ext cx="649" cy="294"/>
            </a:xfrm>
            <a:prstGeom prst="rect">
              <a:avLst/>
            </a:prstGeom>
            <a:solidFill>
              <a:schemeClr val="bg1"/>
            </a:solidFill>
            <a:ln w="9525">
              <a:solidFill>
                <a:schemeClr val="tx1"/>
              </a:solidFill>
              <a:miter lim="800000"/>
              <a:headEnd/>
              <a:tailEnd/>
            </a:ln>
          </p:spPr>
          <p:txBody>
            <a:bodyPr>
              <a:spAutoFit/>
            </a:bodyPr>
            <a:lstStyle/>
            <a:p>
              <a:pPr algn="ctr" eaLnBrk="0" hangingPunct="0">
                <a:spcBef>
                  <a:spcPct val="50000"/>
                </a:spcBef>
              </a:pPr>
              <a:r>
                <a:rPr lang="zh-CN" altLang="en-US" sz="2400" b="0">
                  <a:solidFill>
                    <a:schemeClr val="tx1"/>
                  </a:solidFill>
                  <a:latin typeface="Times New Roman" panose="02020603050405020304" pitchFamily="18" charset="0"/>
                </a:rPr>
                <a:t>0</a:t>
              </a:r>
            </a:p>
          </p:txBody>
        </p:sp>
        <p:grpSp>
          <p:nvGrpSpPr>
            <p:cNvPr id="20492" name="Group 14">
              <a:extLst>
                <a:ext uri="{FF2B5EF4-FFF2-40B4-BE49-F238E27FC236}">
                  <a16:creationId xmlns:a16="http://schemas.microsoft.com/office/drawing/2014/main" id="{FAD55168-F8A9-1AC6-BECD-DE0716AED801}"/>
                </a:ext>
              </a:extLst>
            </p:cNvPr>
            <p:cNvGrpSpPr>
              <a:grpSpLocks/>
            </p:cNvGrpSpPr>
            <p:nvPr/>
          </p:nvGrpSpPr>
          <p:grpSpPr bwMode="auto">
            <a:xfrm>
              <a:off x="4464" y="804"/>
              <a:ext cx="1120" cy="1935"/>
              <a:chOff x="4464" y="804"/>
              <a:chExt cx="1120" cy="1935"/>
            </a:xfrm>
          </p:grpSpPr>
          <p:sp>
            <p:nvSpPr>
              <p:cNvPr id="20493" name="Rectangle 15">
                <a:extLst>
                  <a:ext uri="{FF2B5EF4-FFF2-40B4-BE49-F238E27FC236}">
                    <a16:creationId xmlns:a16="http://schemas.microsoft.com/office/drawing/2014/main" id="{1BC27CD1-B33A-5311-DB44-6F6992A588C1}"/>
                  </a:ext>
                </a:extLst>
              </p:cNvPr>
              <p:cNvSpPr>
                <a:spLocks noChangeArrowheads="1"/>
              </p:cNvSpPr>
              <p:nvPr/>
            </p:nvSpPr>
            <p:spPr bwMode="auto">
              <a:xfrm>
                <a:off x="4464" y="1059"/>
                <a:ext cx="1104" cy="16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20494" name="Line 16">
                <a:extLst>
                  <a:ext uri="{FF2B5EF4-FFF2-40B4-BE49-F238E27FC236}">
                    <a16:creationId xmlns:a16="http://schemas.microsoft.com/office/drawing/2014/main" id="{3F8ABC0F-46A3-5B12-6A7D-67190E1EBA21}"/>
                  </a:ext>
                </a:extLst>
              </p:cNvPr>
              <p:cNvSpPr>
                <a:spLocks noChangeShapeType="1"/>
              </p:cNvSpPr>
              <p:nvPr/>
            </p:nvSpPr>
            <p:spPr bwMode="auto">
              <a:xfrm>
                <a:off x="4464" y="1347"/>
                <a:ext cx="11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5" name="Line 17">
                <a:extLst>
                  <a:ext uri="{FF2B5EF4-FFF2-40B4-BE49-F238E27FC236}">
                    <a16:creationId xmlns:a16="http://schemas.microsoft.com/office/drawing/2014/main" id="{7F65ED50-AAF1-5CD3-A875-806172DEA19F}"/>
                  </a:ext>
                </a:extLst>
              </p:cNvPr>
              <p:cNvSpPr>
                <a:spLocks noChangeShapeType="1"/>
              </p:cNvSpPr>
              <p:nvPr/>
            </p:nvSpPr>
            <p:spPr bwMode="auto">
              <a:xfrm>
                <a:off x="4464" y="1635"/>
                <a:ext cx="11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6" name="Line 18">
                <a:extLst>
                  <a:ext uri="{FF2B5EF4-FFF2-40B4-BE49-F238E27FC236}">
                    <a16:creationId xmlns:a16="http://schemas.microsoft.com/office/drawing/2014/main" id="{ED4A11D5-8AD0-C415-1895-DEE75BE7F032}"/>
                  </a:ext>
                </a:extLst>
              </p:cNvPr>
              <p:cNvSpPr>
                <a:spLocks noChangeShapeType="1"/>
              </p:cNvSpPr>
              <p:nvPr/>
            </p:nvSpPr>
            <p:spPr bwMode="auto">
              <a:xfrm>
                <a:off x="4464" y="1875"/>
                <a:ext cx="11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7" name="Line 19">
                <a:extLst>
                  <a:ext uri="{FF2B5EF4-FFF2-40B4-BE49-F238E27FC236}">
                    <a16:creationId xmlns:a16="http://schemas.microsoft.com/office/drawing/2014/main" id="{D4D1B59A-6788-5055-4F64-D2684551BC95}"/>
                  </a:ext>
                </a:extLst>
              </p:cNvPr>
              <p:cNvSpPr>
                <a:spLocks noChangeShapeType="1"/>
              </p:cNvSpPr>
              <p:nvPr/>
            </p:nvSpPr>
            <p:spPr bwMode="auto">
              <a:xfrm>
                <a:off x="4464" y="2175"/>
                <a:ext cx="11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8" name="Text Box 20">
                <a:extLst>
                  <a:ext uri="{FF2B5EF4-FFF2-40B4-BE49-F238E27FC236}">
                    <a16:creationId xmlns:a16="http://schemas.microsoft.com/office/drawing/2014/main" id="{F6BCE040-F489-2888-99AE-3783CB45105E}"/>
                  </a:ext>
                </a:extLst>
              </p:cNvPr>
              <p:cNvSpPr txBox="1">
                <a:spLocks noChangeArrowheads="1"/>
              </p:cNvSpPr>
              <p:nvPr/>
            </p:nvSpPr>
            <p:spPr bwMode="auto">
              <a:xfrm>
                <a:off x="4813" y="1056"/>
                <a:ext cx="6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latin typeface="Times New Roman" panose="02020603050405020304" pitchFamily="18" charset="0"/>
                  </a:rPr>
                  <a:t>A[0]</a:t>
                </a:r>
              </a:p>
            </p:txBody>
          </p:sp>
          <p:sp>
            <p:nvSpPr>
              <p:cNvPr id="20499" name="Text Box 21">
                <a:extLst>
                  <a:ext uri="{FF2B5EF4-FFF2-40B4-BE49-F238E27FC236}">
                    <a16:creationId xmlns:a16="http://schemas.microsoft.com/office/drawing/2014/main" id="{96640CC5-D984-2C22-A569-6A30CCEAFCD8}"/>
                  </a:ext>
                </a:extLst>
              </p:cNvPr>
              <p:cNvSpPr txBox="1">
                <a:spLocks noChangeArrowheads="1"/>
              </p:cNvSpPr>
              <p:nvPr/>
            </p:nvSpPr>
            <p:spPr bwMode="auto">
              <a:xfrm>
                <a:off x="4812" y="1344"/>
                <a:ext cx="6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latin typeface="Times New Roman" panose="02020603050405020304" pitchFamily="18" charset="0"/>
                  </a:rPr>
                  <a:t>A[1]</a:t>
                </a:r>
              </a:p>
            </p:txBody>
          </p:sp>
          <p:sp>
            <p:nvSpPr>
              <p:cNvPr id="20500" name="Text Box 22">
                <a:extLst>
                  <a:ext uri="{FF2B5EF4-FFF2-40B4-BE49-F238E27FC236}">
                    <a16:creationId xmlns:a16="http://schemas.microsoft.com/office/drawing/2014/main" id="{39A40D40-D6C1-948C-CD44-DC690D19B2DC}"/>
                  </a:ext>
                </a:extLst>
              </p:cNvPr>
              <p:cNvSpPr txBox="1">
                <a:spLocks noChangeArrowheads="1"/>
              </p:cNvSpPr>
              <p:nvPr/>
            </p:nvSpPr>
            <p:spPr bwMode="auto">
              <a:xfrm>
                <a:off x="4813" y="1596"/>
                <a:ext cx="6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latin typeface="Times New Roman" panose="02020603050405020304" pitchFamily="18" charset="0"/>
                  </a:rPr>
                  <a:t>A[2]</a:t>
                </a:r>
              </a:p>
            </p:txBody>
          </p:sp>
          <p:sp>
            <p:nvSpPr>
              <p:cNvPr id="20501" name="Text Box 23">
                <a:extLst>
                  <a:ext uri="{FF2B5EF4-FFF2-40B4-BE49-F238E27FC236}">
                    <a16:creationId xmlns:a16="http://schemas.microsoft.com/office/drawing/2014/main" id="{8351E231-7FF2-52B7-7D2A-D8D725134FA9}"/>
                  </a:ext>
                </a:extLst>
              </p:cNvPr>
              <p:cNvSpPr txBox="1">
                <a:spLocks noChangeArrowheads="1"/>
              </p:cNvSpPr>
              <p:nvPr/>
            </p:nvSpPr>
            <p:spPr bwMode="auto">
              <a:xfrm>
                <a:off x="4812" y="1884"/>
                <a:ext cx="6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latin typeface="Times New Roman" panose="02020603050405020304" pitchFamily="18" charset="0"/>
                  </a:rPr>
                  <a:t>A[3]</a:t>
                </a:r>
              </a:p>
            </p:txBody>
          </p:sp>
          <p:sp>
            <p:nvSpPr>
              <p:cNvPr id="20502" name="Line 24">
                <a:extLst>
                  <a:ext uri="{FF2B5EF4-FFF2-40B4-BE49-F238E27FC236}">
                    <a16:creationId xmlns:a16="http://schemas.microsoft.com/office/drawing/2014/main" id="{BA1A566A-BAB1-1F08-849B-0B2F7DFEF28F}"/>
                  </a:ext>
                </a:extLst>
              </p:cNvPr>
              <p:cNvSpPr>
                <a:spLocks noChangeShapeType="1"/>
              </p:cNvSpPr>
              <p:nvPr/>
            </p:nvSpPr>
            <p:spPr bwMode="auto">
              <a:xfrm>
                <a:off x="5029" y="2256"/>
                <a:ext cx="0" cy="306"/>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3" name="Text Box 25">
                <a:extLst>
                  <a:ext uri="{FF2B5EF4-FFF2-40B4-BE49-F238E27FC236}">
                    <a16:creationId xmlns:a16="http://schemas.microsoft.com/office/drawing/2014/main" id="{25E471FD-8AE7-DA4A-85F3-BC0FEFE2EB27}"/>
                  </a:ext>
                </a:extLst>
              </p:cNvPr>
              <p:cNvSpPr txBox="1">
                <a:spLocks noChangeArrowheads="1"/>
              </p:cNvSpPr>
              <p:nvPr/>
            </p:nvSpPr>
            <p:spPr bwMode="auto">
              <a:xfrm>
                <a:off x="4707" y="804"/>
                <a:ext cx="87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存储器</a:t>
                </a:r>
              </a:p>
            </p:txBody>
          </p:sp>
        </p:grpSp>
      </p:grpSp>
      <p:sp>
        <p:nvSpPr>
          <p:cNvPr id="376858" name="Text Box 26">
            <a:extLst>
              <a:ext uri="{FF2B5EF4-FFF2-40B4-BE49-F238E27FC236}">
                <a16:creationId xmlns:a16="http://schemas.microsoft.com/office/drawing/2014/main" id="{A533E7E4-6B5E-3B58-7054-F0A1C418DF47}"/>
              </a:ext>
            </a:extLst>
          </p:cNvPr>
          <p:cNvSpPr txBox="1">
            <a:spLocks noChangeArrowheads="1"/>
          </p:cNvSpPr>
          <p:nvPr/>
        </p:nvSpPr>
        <p:spPr bwMode="auto">
          <a:xfrm>
            <a:off x="4454525" y="782638"/>
            <a:ext cx="44561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假定一维数组</a:t>
            </a:r>
            <a:r>
              <a:rPr lang="en-US" altLang="zh-CN" sz="2000">
                <a:ea typeface="黑体" panose="02010609060101010101" pitchFamily="49" charset="-122"/>
              </a:rPr>
              <a:t>A</a:t>
            </a:r>
            <a:r>
              <a:rPr lang="zh-CN" altLang="en-US" sz="2000">
                <a:ea typeface="黑体" panose="02010609060101010101" pitchFamily="49" charset="-122"/>
              </a:rPr>
              <a:t>从内存</a:t>
            </a:r>
            <a:r>
              <a:rPr lang="en-US" altLang="zh-CN" sz="2000">
                <a:ea typeface="黑体" panose="02010609060101010101" pitchFamily="49" charset="-122"/>
              </a:rPr>
              <a:t>100</a:t>
            </a:r>
            <a:r>
              <a:rPr lang="zh-CN" altLang="en-US" sz="2000">
                <a:ea typeface="黑体" panose="02010609060101010101" pitchFamily="49" charset="-122"/>
              </a:rPr>
              <a:t>号单元开始</a:t>
            </a:r>
          </a:p>
        </p:txBody>
      </p:sp>
      <p:sp>
        <p:nvSpPr>
          <p:cNvPr id="26653" name="Text Box 29">
            <a:extLst>
              <a:ext uri="{FF2B5EF4-FFF2-40B4-BE49-F238E27FC236}">
                <a16:creationId xmlns:a16="http://schemas.microsoft.com/office/drawing/2014/main" id="{F27F596D-D042-5DC8-6492-028371CACF4C}"/>
              </a:ext>
            </a:extLst>
          </p:cNvPr>
          <p:cNvSpPr txBox="1">
            <a:spLocks noChangeArrowheads="1"/>
          </p:cNvSpPr>
          <p:nvPr/>
        </p:nvSpPr>
        <p:spPr bwMode="auto">
          <a:xfrm>
            <a:off x="322263" y="5816600"/>
            <a:ext cx="560387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latin typeface="微软雅黑" panose="020B0503020204020204" pitchFamily="34" charset="-122"/>
                <a:ea typeface="微软雅黑" panose="020B0503020204020204" pitchFamily="34" charset="-122"/>
              </a:rPr>
              <a:t>一般</a:t>
            </a:r>
            <a:r>
              <a:rPr lang="en-US" altLang="zh-CN" sz="2000">
                <a:latin typeface="微软雅黑" panose="020B0503020204020204" pitchFamily="34" charset="-122"/>
                <a:ea typeface="微软雅黑" panose="020B0503020204020204" pitchFamily="34" charset="-122"/>
              </a:rPr>
              <a:t>RISC</a:t>
            </a:r>
            <a:r>
              <a:rPr lang="zh-CN" altLang="en-US" sz="2000">
                <a:latin typeface="微软雅黑" panose="020B0503020204020204" pitchFamily="34" charset="-122"/>
                <a:ea typeface="微软雅黑" panose="020B0503020204020204" pitchFamily="34" charset="-122"/>
              </a:rPr>
              <a:t>机器不提供自动变址寻址，并将变址和基址寻址统一成一种偏移寻址方式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6835">
                                            <p:txEl>
                                              <p:pRg st="2" end="2"/>
                                            </p:txEl>
                                          </p:spTgt>
                                        </p:tgtEl>
                                        <p:attrNameLst>
                                          <p:attrName>style.visibility</p:attrName>
                                        </p:attrNameLst>
                                      </p:cBhvr>
                                      <p:to>
                                        <p:strVal val="visible"/>
                                      </p:to>
                                    </p:set>
                                    <p:animEffect transition="in" filter="blinds(horizontal)">
                                      <p:cBhvr>
                                        <p:cTn id="7" dur="500"/>
                                        <p:tgtEl>
                                          <p:spTgt spid="37683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6835">
                                            <p:txEl>
                                              <p:pRg st="3" end="3"/>
                                            </p:txEl>
                                          </p:spTgt>
                                        </p:tgtEl>
                                        <p:attrNameLst>
                                          <p:attrName>style.visibility</p:attrName>
                                        </p:attrNameLst>
                                      </p:cBhvr>
                                      <p:to>
                                        <p:strVal val="visible"/>
                                      </p:to>
                                    </p:set>
                                    <p:animEffect transition="in" filter="blinds(horizontal)">
                                      <p:cBhvr>
                                        <p:cTn id="12" dur="500"/>
                                        <p:tgtEl>
                                          <p:spTgt spid="37683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6835">
                                            <p:txEl>
                                              <p:pRg st="4" end="4"/>
                                            </p:txEl>
                                          </p:spTgt>
                                        </p:tgtEl>
                                        <p:attrNameLst>
                                          <p:attrName>style.visibility</p:attrName>
                                        </p:attrNameLst>
                                      </p:cBhvr>
                                      <p:to>
                                        <p:strVal val="visible"/>
                                      </p:to>
                                    </p:set>
                                    <p:animEffect transition="in" filter="blinds(horizontal)">
                                      <p:cBhvr>
                                        <p:cTn id="17" dur="500"/>
                                        <p:tgtEl>
                                          <p:spTgt spid="37683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6858"/>
                                        </p:tgtEl>
                                        <p:attrNameLst>
                                          <p:attrName>style.visibility</p:attrName>
                                        </p:attrNameLst>
                                      </p:cBhvr>
                                      <p:to>
                                        <p:strVal val="visible"/>
                                      </p:to>
                                    </p:set>
                                    <p:animEffect transition="in" filter="blinds(horizontal)">
                                      <p:cBhvr>
                                        <p:cTn id="22" dur="500"/>
                                        <p:tgtEl>
                                          <p:spTgt spid="3768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6842"/>
                                        </p:tgtEl>
                                        <p:attrNameLst>
                                          <p:attrName>style.visibility</p:attrName>
                                        </p:attrNameLst>
                                      </p:cBhvr>
                                      <p:to>
                                        <p:strVal val="visible"/>
                                      </p:to>
                                    </p:set>
                                    <p:animEffect transition="in" filter="blinds(horizontal)">
                                      <p:cBhvr>
                                        <p:cTn id="32" dur="500"/>
                                        <p:tgtEl>
                                          <p:spTgt spid="3768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76835">
                                            <p:txEl>
                                              <p:pRg st="5" end="5"/>
                                            </p:txEl>
                                          </p:spTgt>
                                        </p:tgtEl>
                                        <p:attrNameLst>
                                          <p:attrName>style.visibility</p:attrName>
                                        </p:attrNameLst>
                                      </p:cBhvr>
                                      <p:to>
                                        <p:strVal val="visible"/>
                                      </p:to>
                                    </p:set>
                                    <p:animEffect transition="in" filter="blinds(horizontal)">
                                      <p:cBhvr>
                                        <p:cTn id="37" dur="500"/>
                                        <p:tgtEl>
                                          <p:spTgt spid="37683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76835">
                                            <p:txEl>
                                              <p:pRg st="6" end="6"/>
                                            </p:txEl>
                                          </p:spTgt>
                                        </p:tgtEl>
                                        <p:attrNameLst>
                                          <p:attrName>style.visibility</p:attrName>
                                        </p:attrNameLst>
                                      </p:cBhvr>
                                      <p:to>
                                        <p:strVal val="visible"/>
                                      </p:to>
                                    </p:set>
                                    <p:animEffect transition="in" filter="blinds(horizontal)">
                                      <p:cBhvr>
                                        <p:cTn id="42" dur="500"/>
                                        <p:tgtEl>
                                          <p:spTgt spid="376835">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76835">
                                            <p:txEl>
                                              <p:pRg st="7" end="7"/>
                                            </p:txEl>
                                          </p:spTgt>
                                        </p:tgtEl>
                                        <p:attrNameLst>
                                          <p:attrName>style.visibility</p:attrName>
                                        </p:attrNameLst>
                                      </p:cBhvr>
                                      <p:to>
                                        <p:strVal val="visible"/>
                                      </p:to>
                                    </p:set>
                                    <p:animEffect transition="in" filter="blinds(horizontal)">
                                      <p:cBhvr>
                                        <p:cTn id="47" dur="500"/>
                                        <p:tgtEl>
                                          <p:spTgt spid="376835">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53"/>
                                        </p:tgtEl>
                                        <p:attrNameLst>
                                          <p:attrName>style.visibility</p:attrName>
                                        </p:attrNameLst>
                                      </p:cBhvr>
                                      <p:to>
                                        <p:strVal val="visible"/>
                                      </p:to>
                                    </p:set>
                                    <p:animEffect transition="in" filter="blinds(horizontal)">
                                      <p:cBhvr>
                                        <p:cTn id="52" dur="500"/>
                                        <p:tgtEl>
                                          <p:spTgt spid="26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42" grpId="0"/>
      <p:bldP spid="376858" grpId="0"/>
      <p:bldP spid="266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C04657D8-743A-B21D-5D6E-4CA6C1FD0A29}"/>
              </a:ext>
            </a:extLst>
          </p:cNvPr>
          <p:cNvSpPr>
            <a:spLocks noGrp="1" noChangeArrowheads="1"/>
          </p:cNvSpPr>
          <p:nvPr>
            <p:ph type="title"/>
          </p:nvPr>
        </p:nvSpPr>
        <p:spPr>
          <a:xfrm>
            <a:off x="711200" y="114300"/>
            <a:ext cx="4492625" cy="368300"/>
          </a:xfrm>
        </p:spPr>
        <p:txBody>
          <a:bodyPr/>
          <a:lstStyle/>
          <a:p>
            <a:r>
              <a:rPr lang="en-US" altLang="zh-CN">
                <a:ea typeface="宋体" panose="02010600030101010101" pitchFamily="2" charset="-122"/>
              </a:rPr>
              <a:t>Instruction Format(</a:t>
            </a:r>
            <a:r>
              <a:rPr lang="zh-CN" altLang="en-US">
                <a:ea typeface="宋体" panose="02010600030101010101" pitchFamily="2" charset="-122"/>
              </a:rPr>
              <a:t>指令格式</a:t>
            </a:r>
            <a:r>
              <a:rPr lang="en-US" altLang="zh-CN">
                <a:ea typeface="宋体" panose="02010600030101010101" pitchFamily="2" charset="-122"/>
              </a:rPr>
              <a:t>)</a:t>
            </a:r>
          </a:p>
        </p:txBody>
      </p:sp>
      <p:sp>
        <p:nvSpPr>
          <p:cNvPr id="385027" name="Rectangle 3">
            <a:extLst>
              <a:ext uri="{FF2B5EF4-FFF2-40B4-BE49-F238E27FC236}">
                <a16:creationId xmlns:a16="http://schemas.microsoft.com/office/drawing/2014/main" id="{3416D9B8-221A-5B6D-ECE8-22E9176700FF}"/>
              </a:ext>
            </a:extLst>
          </p:cNvPr>
          <p:cNvSpPr>
            <a:spLocks noChangeArrowheads="1"/>
          </p:cNvSpPr>
          <p:nvPr/>
        </p:nvSpPr>
        <p:spPr bwMode="auto">
          <a:xfrm>
            <a:off x="450850" y="693738"/>
            <a:ext cx="78549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spcBef>
                <a:spcPct val="35000"/>
              </a:spcBef>
              <a:buSzPct val="60000"/>
              <a:buFont typeface="Wingdings" panose="05000000000000000000" pitchFamily="2" charset="2"/>
              <a:buChar char="u"/>
            </a:pPr>
            <a:r>
              <a:rPr lang="zh-CN" altLang="en-US" sz="2400">
                <a:solidFill>
                  <a:schemeClr val="tx1"/>
                </a:solidFill>
              </a:rPr>
              <a:t> </a:t>
            </a:r>
            <a:r>
              <a:rPr lang="zh-CN" altLang="en-US" sz="2000">
                <a:solidFill>
                  <a:schemeClr val="tx1"/>
                </a:solidFill>
                <a:latin typeface="微软雅黑" panose="020B0503020204020204" pitchFamily="34" charset="-122"/>
                <a:ea typeface="微软雅黑" panose="020B0503020204020204" pitchFamily="34" charset="-122"/>
              </a:rPr>
              <a:t>操作码的编码有两种方式</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spcBef>
                <a:spcPct val="35000"/>
              </a:spcBef>
            </a:pPr>
            <a:r>
              <a:rPr lang="en-US" altLang="zh-CN" sz="2000">
                <a:latin typeface="微软雅黑" panose="020B0503020204020204" pitchFamily="34" charset="-122"/>
                <a:ea typeface="微软雅黑" panose="020B0503020204020204" pitchFamily="34" charset="-122"/>
              </a:rPr>
              <a:t>   </a:t>
            </a:r>
            <a:r>
              <a:rPr lang="en-US" altLang="zh-CN" sz="2000" b="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Fixed Length Opcodes </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定长操作码法</a:t>
            </a:r>
            <a:r>
              <a:rPr lang="en-US" altLang="zh-CN" sz="2000">
                <a:solidFill>
                  <a:schemeClr val="accent1"/>
                </a:solidFill>
                <a:latin typeface="微软雅黑" panose="020B0503020204020204" pitchFamily="34" charset="-122"/>
                <a:ea typeface="微软雅黑" panose="020B0503020204020204" pitchFamily="34" charset="-122"/>
              </a:rPr>
              <a:t>)</a:t>
            </a:r>
          </a:p>
          <a:p>
            <a:pPr eaLnBrk="0" hangingPunct="0">
              <a:spcBef>
                <a:spcPct val="35000"/>
              </a:spcBef>
            </a:pPr>
            <a:r>
              <a:rPr lang="en-US" altLang="zh-CN" sz="2000">
                <a:latin typeface="微软雅黑" panose="020B0503020204020204" pitchFamily="34" charset="-122"/>
                <a:ea typeface="微软雅黑" panose="020B0503020204020204" pitchFamily="34" charset="-122"/>
              </a:rPr>
              <a:t>   - Expanding Opcodes </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扩展操作码编法</a:t>
            </a:r>
            <a:r>
              <a:rPr lang="en-US" altLang="zh-CN" sz="2000">
                <a:solidFill>
                  <a:schemeClr val="accent1"/>
                </a:solidFill>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eaLnBrk="0" hangingPunct="0">
              <a:spcBef>
                <a:spcPct val="35000"/>
              </a:spcBef>
              <a:buSzPct val="60000"/>
              <a:buFont typeface="Wingdings" panose="05000000000000000000" pitchFamily="2" charset="2"/>
              <a:buChar char="u"/>
            </a:pPr>
            <a:r>
              <a:rPr lang="en-US" altLang="zh-CN" sz="2000">
                <a:solidFill>
                  <a:schemeClr val="tx1"/>
                </a:solidFill>
                <a:latin typeface="微软雅黑" panose="020B0503020204020204" pitchFamily="34" charset="-122"/>
                <a:ea typeface="微软雅黑" panose="020B0503020204020204" pitchFamily="34" charset="-122"/>
              </a:rPr>
              <a:t> instructions size</a:t>
            </a:r>
          </a:p>
          <a:p>
            <a:pPr lvl="1" eaLnBrk="0" hangingPunct="0">
              <a:spcBef>
                <a:spcPct val="35000"/>
              </a:spcBef>
              <a:buFontTx/>
              <a:buChar char="•"/>
            </a:pPr>
            <a:r>
              <a:rPr lang="en-US" altLang="zh-CN" sz="2000">
                <a:solidFill>
                  <a:srgbClr val="0033CC"/>
                </a:solidFill>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代码长度更重要时：采用变长指令字、变长操作码</a:t>
            </a:r>
          </a:p>
          <a:p>
            <a:pPr lvl="1" eaLnBrk="0" hangingPunct="0">
              <a:spcBef>
                <a:spcPct val="35000"/>
              </a:spcBef>
              <a:buFontTx/>
              <a:buChar char="•"/>
            </a:pPr>
            <a:r>
              <a:rPr lang="zh-CN" altLang="en-US" sz="2000">
                <a:latin typeface="微软雅黑" panose="020B0503020204020204" pitchFamily="34" charset="-122"/>
                <a:ea typeface="微软雅黑" panose="020B0503020204020204" pitchFamily="34" charset="-122"/>
              </a:rPr>
              <a:t> 性能更重要时：采用定长指令字、定长操作码</a:t>
            </a:r>
          </a:p>
          <a:p>
            <a:pPr lvl="1" eaLnBrk="0" hangingPunct="0">
              <a:spcBef>
                <a:spcPct val="35000"/>
              </a:spcBef>
            </a:pPr>
            <a:r>
              <a:rPr lang="zh-CN" altLang="en-US" sz="2000">
                <a:solidFill>
                  <a:srgbClr val="A50021"/>
                </a:solidFill>
                <a:latin typeface="微软雅黑" panose="020B0503020204020204" pitchFamily="34" charset="-122"/>
                <a:ea typeface="微软雅黑" panose="020B0503020204020204" pitchFamily="34" charset="-122"/>
              </a:rPr>
              <a:t>   为什么？</a:t>
            </a:r>
            <a:endParaRPr lang="en-US" altLang="zh-CN" sz="2000">
              <a:latin typeface="微软雅黑" panose="020B0503020204020204" pitchFamily="34" charset="-122"/>
              <a:ea typeface="微软雅黑" panose="020B0503020204020204" pitchFamily="34" charset="-122"/>
            </a:endParaRPr>
          </a:p>
        </p:txBody>
      </p:sp>
      <p:sp>
        <p:nvSpPr>
          <p:cNvPr id="385030" name="Text Box 6">
            <a:extLst>
              <a:ext uri="{FF2B5EF4-FFF2-40B4-BE49-F238E27FC236}">
                <a16:creationId xmlns:a16="http://schemas.microsoft.com/office/drawing/2014/main" id="{8D389BD3-A6C6-BA90-8B35-6C7694AA1427}"/>
              </a:ext>
            </a:extLst>
          </p:cNvPr>
          <p:cNvSpPr txBox="1">
            <a:spLocks noChangeArrowheads="1"/>
          </p:cNvSpPr>
          <p:nvPr/>
        </p:nvSpPr>
        <p:spPr bwMode="auto">
          <a:xfrm>
            <a:off x="280988" y="4891088"/>
            <a:ext cx="858996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solidFill>
                  <a:srgbClr val="EE3900"/>
                </a:solidFill>
                <a:latin typeface="微软雅黑" panose="020B0503020204020204" pitchFamily="34" charset="-122"/>
                <a:ea typeface="微软雅黑" panose="020B0503020204020204" pitchFamily="34" charset="-122"/>
              </a:rPr>
              <a:t>问题：是否可以有定长指令字、变长操作码？定长操作码、变长指令字呢？</a:t>
            </a:r>
          </a:p>
        </p:txBody>
      </p:sp>
      <p:sp>
        <p:nvSpPr>
          <p:cNvPr id="385031" name="Text Box 7">
            <a:extLst>
              <a:ext uri="{FF2B5EF4-FFF2-40B4-BE49-F238E27FC236}">
                <a16:creationId xmlns:a16="http://schemas.microsoft.com/office/drawing/2014/main" id="{08D99B67-9473-B7D3-B2B0-73EF150026B9}"/>
              </a:ext>
            </a:extLst>
          </p:cNvPr>
          <p:cNvSpPr txBox="1">
            <a:spLocks noChangeArrowheads="1"/>
          </p:cNvSpPr>
          <p:nvPr/>
        </p:nvSpPr>
        <p:spPr bwMode="auto">
          <a:xfrm>
            <a:off x="280988" y="5289550"/>
            <a:ext cx="841375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25000"/>
              </a:lnSpc>
              <a:spcBef>
                <a:spcPct val="50000"/>
              </a:spcBef>
            </a:pPr>
            <a:r>
              <a:rPr lang="zh-CN" altLang="en-US" sz="2000">
                <a:solidFill>
                  <a:srgbClr val="4B9556"/>
                </a:solidFill>
                <a:latin typeface="微软雅黑" panose="020B0503020204020204" pitchFamily="34" charset="-122"/>
                <a:ea typeface="微软雅黑" panose="020B0503020204020204" pitchFamily="34" charset="-122"/>
              </a:rPr>
              <a:t>指令长度是否可变与操作码长度是否可变没有绝对关系，但通常是 “定长操作码不一定是定长指令字”、 “变长操作码一般是变长指令字”。</a:t>
            </a:r>
          </a:p>
        </p:txBody>
      </p:sp>
      <p:sp>
        <p:nvSpPr>
          <p:cNvPr id="385032" name="Text Box 8">
            <a:extLst>
              <a:ext uri="{FF2B5EF4-FFF2-40B4-BE49-F238E27FC236}">
                <a16:creationId xmlns:a16="http://schemas.microsoft.com/office/drawing/2014/main" id="{7AC10B04-E7BF-69F2-179E-E29C94FD5D33}"/>
              </a:ext>
            </a:extLst>
          </p:cNvPr>
          <p:cNvSpPr txBox="1">
            <a:spLocks noChangeArrowheads="1"/>
          </p:cNvSpPr>
          <p:nvPr/>
        </p:nvSpPr>
        <p:spPr bwMode="auto">
          <a:xfrm>
            <a:off x="412750" y="3778250"/>
            <a:ext cx="815022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30000"/>
              </a:lnSpc>
              <a:spcBef>
                <a:spcPct val="20000"/>
              </a:spcBef>
            </a:pPr>
            <a:r>
              <a:rPr lang="zh-CN" altLang="en-US" sz="2000">
                <a:solidFill>
                  <a:srgbClr val="388A36"/>
                </a:solidFill>
                <a:latin typeface="微软雅黑" panose="020B0503020204020204" pitchFamily="34" charset="-122"/>
                <a:ea typeface="微软雅黑" panose="020B0503020204020204" pitchFamily="34" charset="-122"/>
              </a:rPr>
              <a:t>变长指令字和变长操作码使机器代码更紧凑；定长指令字和定长操作码便于快速访问和译码。学了</a:t>
            </a:r>
            <a:r>
              <a:rPr lang="en-US" altLang="zh-CN" sz="2000">
                <a:solidFill>
                  <a:srgbClr val="388A36"/>
                </a:solidFill>
                <a:latin typeface="微软雅黑" panose="020B0503020204020204" pitchFamily="34" charset="-122"/>
                <a:ea typeface="微软雅黑" panose="020B0503020204020204" pitchFamily="34" charset="-122"/>
              </a:rPr>
              <a:t>CPU</a:t>
            </a:r>
            <a:r>
              <a:rPr lang="zh-CN" altLang="en-US" sz="2000">
                <a:solidFill>
                  <a:srgbClr val="388A36"/>
                </a:solidFill>
                <a:latin typeface="微软雅黑" panose="020B0503020204020204" pitchFamily="34" charset="-122"/>
                <a:ea typeface="微软雅黑" panose="020B0503020204020204" pitchFamily="34" charset="-122"/>
              </a:rPr>
              <a:t>设计就更明白了。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5027">
                                            <p:txEl>
                                              <p:pRg st="1" end="1"/>
                                            </p:txEl>
                                          </p:spTgt>
                                        </p:tgtEl>
                                        <p:attrNameLst>
                                          <p:attrName>style.visibility</p:attrName>
                                        </p:attrNameLst>
                                      </p:cBhvr>
                                      <p:to>
                                        <p:strVal val="visible"/>
                                      </p:to>
                                    </p:set>
                                    <p:animEffect transition="in" filter="blinds(horizontal)">
                                      <p:cBhvr>
                                        <p:cTn id="7" dur="500"/>
                                        <p:tgtEl>
                                          <p:spTgt spid="3850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5027">
                                            <p:txEl>
                                              <p:pRg st="2" end="2"/>
                                            </p:txEl>
                                          </p:spTgt>
                                        </p:tgtEl>
                                        <p:attrNameLst>
                                          <p:attrName>style.visibility</p:attrName>
                                        </p:attrNameLst>
                                      </p:cBhvr>
                                      <p:to>
                                        <p:strVal val="visible"/>
                                      </p:to>
                                    </p:set>
                                    <p:animEffect transition="in" filter="blinds(horizontal)">
                                      <p:cBhvr>
                                        <p:cTn id="12" dur="500"/>
                                        <p:tgtEl>
                                          <p:spTgt spid="3850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5027">
                                            <p:txEl>
                                              <p:pRg st="4" end="4"/>
                                            </p:txEl>
                                          </p:spTgt>
                                        </p:tgtEl>
                                        <p:attrNameLst>
                                          <p:attrName>style.visibility</p:attrName>
                                        </p:attrNameLst>
                                      </p:cBhvr>
                                      <p:to>
                                        <p:strVal val="visible"/>
                                      </p:to>
                                    </p:set>
                                    <p:animEffect transition="in" filter="blinds(horizontal)">
                                      <p:cBhvr>
                                        <p:cTn id="17" dur="500"/>
                                        <p:tgtEl>
                                          <p:spTgt spid="38502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5027">
                                            <p:txEl>
                                              <p:pRg st="5" end="5"/>
                                            </p:txEl>
                                          </p:spTgt>
                                        </p:tgtEl>
                                        <p:attrNameLst>
                                          <p:attrName>style.visibility</p:attrName>
                                        </p:attrNameLst>
                                      </p:cBhvr>
                                      <p:to>
                                        <p:strVal val="visible"/>
                                      </p:to>
                                    </p:set>
                                    <p:animEffect transition="in" filter="blinds(horizontal)">
                                      <p:cBhvr>
                                        <p:cTn id="22" dur="500"/>
                                        <p:tgtEl>
                                          <p:spTgt spid="38502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5027">
                                            <p:txEl>
                                              <p:pRg st="6" end="6"/>
                                            </p:txEl>
                                          </p:spTgt>
                                        </p:tgtEl>
                                        <p:attrNameLst>
                                          <p:attrName>style.visibility</p:attrName>
                                        </p:attrNameLst>
                                      </p:cBhvr>
                                      <p:to>
                                        <p:strVal val="visible"/>
                                      </p:to>
                                    </p:set>
                                    <p:animEffect transition="in" filter="blinds(horizontal)">
                                      <p:cBhvr>
                                        <p:cTn id="27" dur="500"/>
                                        <p:tgtEl>
                                          <p:spTgt spid="38502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5032"/>
                                        </p:tgtEl>
                                        <p:attrNameLst>
                                          <p:attrName>style.visibility</p:attrName>
                                        </p:attrNameLst>
                                      </p:cBhvr>
                                      <p:to>
                                        <p:strVal val="visible"/>
                                      </p:to>
                                    </p:set>
                                    <p:animEffect transition="in" filter="blinds(horizontal)">
                                      <p:cBhvr>
                                        <p:cTn id="32" dur="500"/>
                                        <p:tgtEl>
                                          <p:spTgt spid="3850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85030"/>
                                        </p:tgtEl>
                                        <p:attrNameLst>
                                          <p:attrName>style.visibility</p:attrName>
                                        </p:attrNameLst>
                                      </p:cBhvr>
                                      <p:to>
                                        <p:strVal val="visible"/>
                                      </p:to>
                                    </p:set>
                                    <p:animEffect transition="in" filter="blinds(horizontal)">
                                      <p:cBhvr>
                                        <p:cTn id="37" dur="500"/>
                                        <p:tgtEl>
                                          <p:spTgt spid="3850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85031"/>
                                        </p:tgtEl>
                                        <p:attrNameLst>
                                          <p:attrName>style.visibility</p:attrName>
                                        </p:attrNameLst>
                                      </p:cBhvr>
                                      <p:to>
                                        <p:strVal val="visible"/>
                                      </p:to>
                                    </p:set>
                                    <p:animEffect transition="in" filter="blinds(horizontal)">
                                      <p:cBhvr>
                                        <p:cTn id="42" dur="500"/>
                                        <p:tgtEl>
                                          <p:spTgt spid="385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0" grpId="0"/>
      <p:bldP spid="385031" grpId="0"/>
      <p:bldP spid="3850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B1C37BA5-25DD-1752-12F7-4B7F6926E55B}"/>
              </a:ext>
            </a:extLst>
          </p:cNvPr>
          <p:cNvSpPr>
            <a:spLocks noGrp="1" noChangeArrowheads="1"/>
          </p:cNvSpPr>
          <p:nvPr>
            <p:ph type="title"/>
          </p:nvPr>
        </p:nvSpPr>
        <p:spPr>
          <a:xfrm>
            <a:off x="654050" y="85725"/>
            <a:ext cx="8118475" cy="373063"/>
          </a:xfrm>
        </p:spPr>
        <p:txBody>
          <a:bodyPr/>
          <a:lstStyle/>
          <a:p>
            <a:r>
              <a:rPr lang="zh-CN" altLang="en-US">
                <a:ea typeface="宋体" panose="02010600030101010101" pitchFamily="2" charset="-122"/>
              </a:rPr>
              <a:t>定长操作码编码 </a:t>
            </a:r>
            <a:r>
              <a:rPr lang="en-US" altLang="zh-CN">
                <a:ea typeface="宋体" panose="02010600030101010101" pitchFamily="2" charset="-122"/>
              </a:rPr>
              <a:t>Fixed Length Opcodes </a:t>
            </a:r>
          </a:p>
        </p:txBody>
      </p:sp>
      <p:sp>
        <p:nvSpPr>
          <p:cNvPr id="386051" name="Rectangle 3">
            <a:extLst>
              <a:ext uri="{FF2B5EF4-FFF2-40B4-BE49-F238E27FC236}">
                <a16:creationId xmlns:a16="http://schemas.microsoft.com/office/drawing/2014/main" id="{E34FEF77-6FD2-DCA4-B722-ABC98D58D05E}"/>
              </a:ext>
            </a:extLst>
          </p:cNvPr>
          <p:cNvSpPr>
            <a:spLocks noChangeArrowheads="1"/>
          </p:cNvSpPr>
          <p:nvPr/>
        </p:nvSpPr>
        <p:spPr bwMode="auto">
          <a:xfrm>
            <a:off x="546100" y="825500"/>
            <a:ext cx="8039100"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a:lnSpc>
                <a:spcPct val="115000"/>
              </a:lnSpc>
              <a:spcBef>
                <a:spcPct val="50000"/>
              </a:spcBef>
              <a:buSzPct val="60000"/>
              <a:buFont typeface="Wingdings" panose="05000000000000000000" pitchFamily="2" charset="2"/>
              <a:buNone/>
            </a:pPr>
            <a:r>
              <a:rPr lang="zh-CN" altLang="en-US" sz="2400">
                <a:solidFill>
                  <a:schemeClr val="tx1"/>
                </a:solidFill>
                <a:ea typeface="黑体" panose="02010609060101010101" pitchFamily="49" charset="-122"/>
              </a:rPr>
              <a:t>  </a:t>
            </a:r>
            <a:r>
              <a:rPr lang="zh-CN" altLang="en-US" sz="2400">
                <a:solidFill>
                  <a:schemeClr val="tx1"/>
                </a:solidFill>
                <a:latin typeface="微软雅黑" panose="020B0503020204020204" pitchFamily="34" charset="-122"/>
                <a:ea typeface="微软雅黑" panose="020B0503020204020204" pitchFamily="34" charset="-122"/>
              </a:rPr>
              <a:t>基本思想</a:t>
            </a:r>
          </a:p>
          <a:p>
            <a:pPr>
              <a:lnSpc>
                <a:spcPct val="115000"/>
              </a:lnSpc>
              <a:spcBef>
                <a:spcPct val="50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指令的操作码部分采用固定长度的编码</a:t>
            </a:r>
          </a:p>
          <a:p>
            <a:pPr>
              <a:lnSpc>
                <a:spcPct val="115000"/>
              </a:lnSpc>
              <a:spcBef>
                <a:spcPct val="50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如：假设操作码固定为</a:t>
            </a:r>
            <a:r>
              <a:rPr lang="en-US" altLang="zh-CN" sz="2000">
                <a:solidFill>
                  <a:srgbClr val="0000FF"/>
                </a:solidFill>
                <a:latin typeface="微软雅黑" panose="020B0503020204020204" pitchFamily="34" charset="-122"/>
                <a:ea typeface="微软雅黑" panose="020B0503020204020204" pitchFamily="34" charset="-122"/>
              </a:rPr>
              <a:t>6</a:t>
            </a:r>
            <a:r>
              <a:rPr lang="zh-CN" altLang="en-US" sz="2000">
                <a:solidFill>
                  <a:srgbClr val="0000FF"/>
                </a:solidFill>
                <a:latin typeface="微软雅黑" panose="020B0503020204020204" pitchFamily="34" charset="-122"/>
                <a:ea typeface="微软雅黑" panose="020B0503020204020204" pitchFamily="34" charset="-122"/>
              </a:rPr>
              <a:t>位，则系统最多可表示</a:t>
            </a:r>
            <a:r>
              <a:rPr lang="en-US" altLang="zh-CN" sz="2000">
                <a:solidFill>
                  <a:srgbClr val="0000FF"/>
                </a:solidFill>
                <a:latin typeface="微软雅黑" panose="020B0503020204020204" pitchFamily="34" charset="-122"/>
                <a:ea typeface="微软雅黑" panose="020B0503020204020204" pitchFamily="34" charset="-122"/>
              </a:rPr>
              <a:t>64</a:t>
            </a:r>
            <a:r>
              <a:rPr lang="zh-CN" altLang="en-US" sz="2000">
                <a:solidFill>
                  <a:srgbClr val="0000FF"/>
                </a:solidFill>
                <a:latin typeface="微软雅黑" panose="020B0503020204020204" pitchFamily="34" charset="-122"/>
                <a:ea typeface="微软雅黑" panose="020B0503020204020204" pitchFamily="34" charset="-122"/>
              </a:rPr>
              <a:t>种指令</a:t>
            </a:r>
          </a:p>
          <a:p>
            <a:pPr>
              <a:lnSpc>
                <a:spcPct val="115000"/>
              </a:lnSpc>
              <a:spcBef>
                <a:spcPct val="50000"/>
              </a:spcBef>
              <a:buSzPct val="60000"/>
              <a:buFont typeface="Wingdings" panose="05000000000000000000" pitchFamily="2" charset="2"/>
              <a:buNone/>
            </a:pPr>
            <a:r>
              <a:rPr lang="zh-CN" altLang="en-US" sz="2400">
                <a:solidFill>
                  <a:schemeClr val="tx1"/>
                </a:solidFill>
                <a:latin typeface="微软雅黑" panose="020B0503020204020204" pitchFamily="34" charset="-122"/>
                <a:ea typeface="微软雅黑" panose="020B0503020204020204" pitchFamily="34" charset="-122"/>
              </a:rPr>
              <a:t>   特点</a:t>
            </a:r>
          </a:p>
          <a:p>
            <a:pPr>
              <a:lnSpc>
                <a:spcPct val="115000"/>
              </a:lnSpc>
              <a:spcBef>
                <a:spcPct val="50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译码方便，但有信息冗余</a:t>
            </a:r>
          </a:p>
          <a:p>
            <a:pPr>
              <a:lnSpc>
                <a:spcPct val="115000"/>
              </a:lnSpc>
              <a:spcBef>
                <a:spcPct val="50000"/>
              </a:spcBef>
              <a:buSzPct val="60000"/>
              <a:buFont typeface="Wingdings" panose="05000000000000000000" pitchFamily="2" charset="2"/>
              <a:buNone/>
            </a:pPr>
            <a:r>
              <a:rPr lang="zh-CN" altLang="en-US" sz="2400">
                <a:solidFill>
                  <a:schemeClr val="tx1"/>
                </a:solidFill>
                <a:latin typeface="微软雅黑" panose="020B0503020204020204" pitchFamily="34" charset="-122"/>
                <a:ea typeface="微软雅黑" panose="020B0503020204020204" pitchFamily="34" charset="-122"/>
              </a:rPr>
              <a:t>   举例</a:t>
            </a:r>
          </a:p>
          <a:p>
            <a:pPr>
              <a:lnSpc>
                <a:spcPct val="110000"/>
              </a:lnSpc>
              <a:spcBef>
                <a:spcPct val="20000"/>
              </a:spcBef>
              <a:buFont typeface="Monotype Sorts"/>
              <a:buChar char=" "/>
            </a:pPr>
            <a:r>
              <a:rPr lang="en-US" altLang="zh-CN" sz="2000">
                <a:solidFill>
                  <a:srgbClr val="0000FF"/>
                </a:solidFill>
                <a:latin typeface="微软雅黑" panose="020B0503020204020204" pitchFamily="34" charset="-122"/>
                <a:ea typeface="微软雅黑" panose="020B0503020204020204" pitchFamily="34" charset="-122"/>
                <a:hlinkClick r:id="" action="ppaction://hlinkshowjump?jump=nextslide"/>
              </a:rPr>
              <a:t>IBM360/370</a:t>
            </a:r>
            <a:r>
              <a:rPr lang="zh-CN" altLang="zh-CN" sz="2000">
                <a:solidFill>
                  <a:srgbClr val="0000FF"/>
                </a:solidFill>
                <a:latin typeface="微软雅黑" panose="020B0503020204020204" pitchFamily="34" charset="-122"/>
                <a:ea typeface="微软雅黑" panose="020B0503020204020204" pitchFamily="34" charset="-122"/>
              </a:rPr>
              <a:t>采用</a:t>
            </a:r>
            <a:r>
              <a:rPr lang="zh-CN" altLang="en-US" sz="2000">
                <a:solidFill>
                  <a:srgbClr val="0000FF"/>
                </a:solidFill>
                <a:latin typeface="微软雅黑" panose="020B0503020204020204" pitchFamily="34" charset="-122"/>
                <a:ea typeface="微软雅黑" panose="020B0503020204020204" pitchFamily="34" charset="-122"/>
              </a:rPr>
              <a:t>:</a:t>
            </a:r>
          </a:p>
          <a:p>
            <a:pPr>
              <a:lnSpc>
                <a:spcPct val="110000"/>
              </a:lnSpc>
              <a:spcBef>
                <a:spcPct val="20000"/>
              </a:spcBef>
              <a:buFont typeface="Monotype Sorts"/>
              <a:buChar char=" "/>
            </a:pPr>
            <a:r>
              <a:rPr lang="en-US" altLang="zh-CN" sz="2000">
                <a:solidFill>
                  <a:srgbClr val="0000FF"/>
                </a:solidFill>
                <a:latin typeface="微软雅黑" panose="020B0503020204020204" pitchFamily="34" charset="-122"/>
                <a:ea typeface="微软雅黑" panose="020B0503020204020204" pitchFamily="34" charset="-122"/>
              </a:rPr>
              <a:t>8</a:t>
            </a:r>
            <a:r>
              <a:rPr lang="zh-CN" altLang="zh-CN" sz="2000">
                <a:solidFill>
                  <a:srgbClr val="0000FF"/>
                </a:solidFill>
                <a:latin typeface="微软雅黑" panose="020B0503020204020204" pitchFamily="34" charset="-122"/>
                <a:ea typeface="微软雅黑" panose="020B0503020204020204" pitchFamily="34" charset="-122"/>
              </a:rPr>
              <a:t>位定长操作码，最多可有256条指令</a:t>
            </a:r>
            <a:endParaRPr lang="zh-CN" altLang="en-US" sz="2000">
              <a:solidFill>
                <a:srgbClr val="0000FF"/>
              </a:solidFill>
              <a:latin typeface="微软雅黑" panose="020B0503020204020204" pitchFamily="34" charset="-122"/>
              <a:ea typeface="微软雅黑" panose="020B0503020204020204" pitchFamily="34" charset="-122"/>
            </a:endParaRPr>
          </a:p>
          <a:p>
            <a:pPr>
              <a:lnSpc>
                <a:spcPct val="110000"/>
              </a:lnSpc>
              <a:spcBef>
                <a:spcPct val="20000"/>
              </a:spcBef>
              <a:buFont typeface="Monotype Sorts"/>
              <a:buChar char=" "/>
            </a:pPr>
            <a:r>
              <a:rPr lang="zh-CN" altLang="zh-CN" sz="2000">
                <a:solidFill>
                  <a:srgbClr val="0000FF"/>
                </a:solidFill>
                <a:latin typeface="微软雅黑" panose="020B0503020204020204" pitchFamily="34" charset="-122"/>
                <a:ea typeface="微软雅黑" panose="020B0503020204020204" pitchFamily="34" charset="-122"/>
              </a:rPr>
              <a:t>只提供了</a:t>
            </a:r>
            <a:r>
              <a:rPr lang="zh-CN" altLang="en-US" sz="2000">
                <a:solidFill>
                  <a:srgbClr val="0000FF"/>
                </a:solidFill>
                <a:latin typeface="微软雅黑" panose="020B0503020204020204" pitchFamily="34" charset="-122"/>
                <a:ea typeface="微软雅黑" panose="020B0503020204020204" pitchFamily="34" charset="-122"/>
              </a:rPr>
              <a:t>183条指令，有73种编码为冗余信息</a:t>
            </a:r>
          </a:p>
          <a:p>
            <a:pPr>
              <a:lnSpc>
                <a:spcPct val="110000"/>
              </a:lnSpc>
              <a:spcBef>
                <a:spcPct val="20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机器字长32位，按字节编址</a:t>
            </a:r>
          </a:p>
          <a:p>
            <a:pPr>
              <a:lnSpc>
                <a:spcPct val="110000"/>
              </a:lnSpc>
              <a:spcBef>
                <a:spcPct val="20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有16个32位通用寄存器，基址器</a:t>
            </a:r>
            <a:r>
              <a:rPr lang="en-US" altLang="zh-CN" sz="2000">
                <a:solidFill>
                  <a:srgbClr val="0000FF"/>
                </a:solidFill>
                <a:latin typeface="微软雅黑" panose="020B0503020204020204" pitchFamily="34" charset="-122"/>
                <a:ea typeface="微软雅黑" panose="020B0503020204020204" pitchFamily="34" charset="-122"/>
              </a:rPr>
              <a:t>B</a:t>
            </a:r>
            <a:r>
              <a:rPr lang="zh-CN" altLang="en-US" sz="2000">
                <a:solidFill>
                  <a:srgbClr val="0000FF"/>
                </a:solidFill>
                <a:latin typeface="微软雅黑" panose="020B0503020204020204" pitchFamily="34" charset="-122"/>
                <a:ea typeface="微软雅黑" panose="020B0503020204020204" pitchFamily="34" charset="-122"/>
              </a:rPr>
              <a:t>和变址器</a:t>
            </a:r>
            <a:r>
              <a:rPr lang="en-US" altLang="zh-CN" sz="2000">
                <a:solidFill>
                  <a:srgbClr val="0000FF"/>
                </a:solidFill>
                <a:latin typeface="微软雅黑" panose="020B0503020204020204" pitchFamily="34" charset="-122"/>
                <a:ea typeface="微软雅黑" panose="020B0503020204020204" pitchFamily="34" charset="-122"/>
              </a:rPr>
              <a:t>X</a:t>
            </a:r>
            <a:r>
              <a:rPr lang="zh-CN" altLang="en-US" sz="2000">
                <a:solidFill>
                  <a:srgbClr val="0000FF"/>
                </a:solidFill>
                <a:latin typeface="微软雅黑" panose="020B0503020204020204" pitchFamily="34" charset="-122"/>
                <a:ea typeface="微软雅黑" panose="020B0503020204020204" pitchFamily="34" charset="-122"/>
              </a:rPr>
              <a:t>可用其中任意一个</a:t>
            </a:r>
            <a:endParaRPr lang="en-US" altLang="zh-CN" sz="2000">
              <a:solidFill>
                <a:srgbClr val="0000FF"/>
              </a:solidFill>
              <a:latin typeface="微软雅黑" panose="020B0503020204020204" pitchFamily="34" charset="-122"/>
              <a:ea typeface="微软雅黑" panose="020B0503020204020204" pitchFamily="34" charset="-122"/>
            </a:endParaRPr>
          </a:p>
          <a:p>
            <a:pPr>
              <a:lnSpc>
                <a:spcPct val="110000"/>
              </a:lnSpc>
              <a:spcBef>
                <a:spcPct val="20000"/>
              </a:spcBef>
              <a:buFont typeface="Monotype Sorts"/>
              <a:buChar char=" "/>
            </a:pPr>
            <a:r>
              <a:rPr lang="zh-CN" altLang="en-US" sz="2000">
                <a:solidFill>
                  <a:srgbClr val="FF0000"/>
                </a:solidFill>
                <a:latin typeface="微软雅黑" panose="020B0503020204020204" pitchFamily="34" charset="-122"/>
                <a:ea typeface="微软雅黑" panose="020B0503020204020204" pitchFamily="34" charset="-122"/>
              </a:rPr>
              <a:t>问题：通用寄存器编号有几位？</a:t>
            </a:r>
            <a:r>
              <a:rPr lang="en-US" altLang="zh-CN" sz="2000">
                <a:solidFill>
                  <a:srgbClr val="FF0000"/>
                </a:solidFill>
                <a:latin typeface="微软雅黑" panose="020B0503020204020204" pitchFamily="34" charset="-122"/>
                <a:ea typeface="微软雅黑" panose="020B0503020204020204" pitchFamily="34" charset="-122"/>
              </a:rPr>
              <a:t>B</a:t>
            </a:r>
            <a:r>
              <a:rPr lang="zh-CN" altLang="en-US" sz="2000">
                <a:solidFill>
                  <a:srgbClr val="FF0000"/>
                </a:solidFill>
                <a:latin typeface="微软雅黑" panose="020B0503020204020204" pitchFamily="34" charset="-122"/>
                <a:ea typeface="微软雅黑" panose="020B0503020204020204" pitchFamily="34" charset="-122"/>
              </a:rPr>
              <a:t>和</a:t>
            </a:r>
            <a:r>
              <a:rPr lang="en-US" altLang="zh-CN" sz="2000">
                <a:solidFill>
                  <a:srgbClr val="FF0000"/>
                </a:solidFill>
                <a:latin typeface="微软雅黑" panose="020B0503020204020204" pitchFamily="34" charset="-122"/>
                <a:ea typeface="微软雅黑" panose="020B0503020204020204" pitchFamily="34" charset="-122"/>
              </a:rPr>
              <a:t>X</a:t>
            </a:r>
            <a:r>
              <a:rPr lang="zh-CN" altLang="en-US" sz="2000">
                <a:solidFill>
                  <a:srgbClr val="FF0000"/>
                </a:solidFill>
                <a:latin typeface="微软雅黑" panose="020B0503020204020204" pitchFamily="34" charset="-122"/>
                <a:ea typeface="微软雅黑" panose="020B0503020204020204" pitchFamily="34" charset="-122"/>
              </a:rPr>
              <a:t>的编号占几位？</a:t>
            </a:r>
            <a:endParaRPr lang="en-US" altLang="zh-CN" sz="2000">
              <a:solidFill>
                <a:srgbClr val="FF0000"/>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643DBA98-9689-AD2E-6013-AF5E2E438CB6}"/>
              </a:ext>
            </a:extLst>
          </p:cNvPr>
          <p:cNvSpPr txBox="1">
            <a:spLocks noChangeArrowheads="1"/>
          </p:cNvSpPr>
          <p:nvPr/>
        </p:nvSpPr>
        <p:spPr bwMode="auto">
          <a:xfrm>
            <a:off x="6932613" y="6013450"/>
            <a:ext cx="16525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200">
                <a:solidFill>
                  <a:schemeClr val="tx1"/>
                </a:solidFill>
                <a:latin typeface="微软雅黑" panose="020B0503020204020204" pitchFamily="34" charset="-122"/>
                <a:ea typeface="微软雅黑" panose="020B0503020204020204" pitchFamily="34" charset="-122"/>
              </a:rPr>
              <a:t>都是</a:t>
            </a:r>
            <a:r>
              <a:rPr lang="en-US" altLang="zh-CN" sz="2200">
                <a:solidFill>
                  <a:schemeClr val="tx1"/>
                </a:solidFill>
                <a:latin typeface="微软雅黑" panose="020B0503020204020204" pitchFamily="34" charset="-122"/>
                <a:ea typeface="微软雅黑" panose="020B0503020204020204" pitchFamily="34" charset="-122"/>
              </a:rPr>
              <a:t>4</a:t>
            </a:r>
            <a:r>
              <a:rPr lang="zh-CN" altLang="en-US" sz="2200">
                <a:solidFill>
                  <a:schemeClr val="tx1"/>
                </a:solidFill>
                <a:latin typeface="微软雅黑" panose="020B0503020204020204" pitchFamily="34" charset="-122"/>
                <a:ea typeface="微软雅黑" panose="020B0503020204020204" pitchFamily="34" charset="-122"/>
              </a:rPr>
              <a:t>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6051">
                                            <p:txEl>
                                              <p:pRg st="1" end="1"/>
                                            </p:txEl>
                                          </p:spTgt>
                                        </p:tgtEl>
                                        <p:attrNameLst>
                                          <p:attrName>style.visibility</p:attrName>
                                        </p:attrNameLst>
                                      </p:cBhvr>
                                      <p:to>
                                        <p:strVal val="visible"/>
                                      </p:to>
                                    </p:set>
                                    <p:animEffect transition="in" filter="blinds(horizontal)">
                                      <p:cBhvr>
                                        <p:cTn id="7" dur="500"/>
                                        <p:tgtEl>
                                          <p:spTgt spid="3860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6051">
                                            <p:txEl>
                                              <p:pRg st="2" end="2"/>
                                            </p:txEl>
                                          </p:spTgt>
                                        </p:tgtEl>
                                        <p:attrNameLst>
                                          <p:attrName>style.visibility</p:attrName>
                                        </p:attrNameLst>
                                      </p:cBhvr>
                                      <p:to>
                                        <p:strVal val="visible"/>
                                      </p:to>
                                    </p:set>
                                    <p:animEffect transition="in" filter="blinds(horizontal)">
                                      <p:cBhvr>
                                        <p:cTn id="12" dur="500"/>
                                        <p:tgtEl>
                                          <p:spTgt spid="3860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6051">
                                            <p:txEl>
                                              <p:pRg st="4" end="4"/>
                                            </p:txEl>
                                          </p:spTgt>
                                        </p:tgtEl>
                                        <p:attrNameLst>
                                          <p:attrName>style.visibility</p:attrName>
                                        </p:attrNameLst>
                                      </p:cBhvr>
                                      <p:to>
                                        <p:strVal val="visible"/>
                                      </p:to>
                                    </p:set>
                                    <p:animEffect transition="in" filter="blinds(horizontal)">
                                      <p:cBhvr>
                                        <p:cTn id="17" dur="500"/>
                                        <p:tgtEl>
                                          <p:spTgt spid="38605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6051">
                                            <p:txEl>
                                              <p:pRg st="6" end="6"/>
                                            </p:txEl>
                                          </p:spTgt>
                                        </p:tgtEl>
                                        <p:attrNameLst>
                                          <p:attrName>style.visibility</p:attrName>
                                        </p:attrNameLst>
                                      </p:cBhvr>
                                      <p:to>
                                        <p:strVal val="visible"/>
                                      </p:to>
                                    </p:set>
                                    <p:animEffect transition="in" filter="blinds(horizontal)">
                                      <p:cBhvr>
                                        <p:cTn id="22" dur="500"/>
                                        <p:tgtEl>
                                          <p:spTgt spid="38605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6051">
                                            <p:txEl>
                                              <p:pRg st="7" end="7"/>
                                            </p:txEl>
                                          </p:spTgt>
                                        </p:tgtEl>
                                        <p:attrNameLst>
                                          <p:attrName>style.visibility</p:attrName>
                                        </p:attrNameLst>
                                      </p:cBhvr>
                                      <p:to>
                                        <p:strVal val="visible"/>
                                      </p:to>
                                    </p:set>
                                    <p:animEffect transition="in" filter="blinds(horizontal)">
                                      <p:cBhvr>
                                        <p:cTn id="27" dur="500"/>
                                        <p:tgtEl>
                                          <p:spTgt spid="386051">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86051">
                                            <p:txEl>
                                              <p:pRg st="8" end="8"/>
                                            </p:txEl>
                                          </p:spTgt>
                                        </p:tgtEl>
                                        <p:attrNameLst>
                                          <p:attrName>style.visibility</p:attrName>
                                        </p:attrNameLst>
                                      </p:cBhvr>
                                      <p:to>
                                        <p:strVal val="visible"/>
                                      </p:to>
                                    </p:set>
                                    <p:animEffect transition="in" filter="blinds(horizontal)">
                                      <p:cBhvr>
                                        <p:cTn id="32" dur="500"/>
                                        <p:tgtEl>
                                          <p:spTgt spid="386051">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86051">
                                            <p:txEl>
                                              <p:pRg st="9" end="9"/>
                                            </p:txEl>
                                          </p:spTgt>
                                        </p:tgtEl>
                                        <p:attrNameLst>
                                          <p:attrName>style.visibility</p:attrName>
                                        </p:attrNameLst>
                                      </p:cBhvr>
                                      <p:to>
                                        <p:strVal val="visible"/>
                                      </p:to>
                                    </p:set>
                                    <p:animEffect transition="in" filter="blinds(horizontal)">
                                      <p:cBhvr>
                                        <p:cTn id="37" dur="500"/>
                                        <p:tgtEl>
                                          <p:spTgt spid="386051">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86051">
                                            <p:txEl>
                                              <p:pRg st="10" end="10"/>
                                            </p:txEl>
                                          </p:spTgt>
                                        </p:tgtEl>
                                        <p:attrNameLst>
                                          <p:attrName>style.visibility</p:attrName>
                                        </p:attrNameLst>
                                      </p:cBhvr>
                                      <p:to>
                                        <p:strVal val="visible"/>
                                      </p:to>
                                    </p:set>
                                    <p:animEffect transition="in" filter="blinds(horizontal)">
                                      <p:cBhvr>
                                        <p:cTn id="42" dur="500"/>
                                        <p:tgtEl>
                                          <p:spTgt spid="386051">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86051">
                                            <p:txEl>
                                              <p:pRg st="11" end="11"/>
                                            </p:txEl>
                                          </p:spTgt>
                                        </p:tgtEl>
                                        <p:attrNameLst>
                                          <p:attrName>style.visibility</p:attrName>
                                        </p:attrNameLst>
                                      </p:cBhvr>
                                      <p:to>
                                        <p:strVal val="visible"/>
                                      </p:to>
                                    </p:set>
                                    <p:animEffect transition="in" filter="blinds(horizontal)">
                                      <p:cBhvr>
                                        <p:cTn id="47" dur="500"/>
                                        <p:tgtEl>
                                          <p:spTgt spid="386051">
                                            <p:txEl>
                                              <p:pRg st="11" end="1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B646836-AAFC-E4FA-79A7-57134D244619}"/>
              </a:ext>
            </a:extLst>
          </p:cNvPr>
          <p:cNvSpPr>
            <a:spLocks noGrp="1" noChangeArrowheads="1"/>
          </p:cNvSpPr>
          <p:nvPr>
            <p:ph type="title"/>
          </p:nvPr>
        </p:nvSpPr>
        <p:spPr>
          <a:xfrm>
            <a:off x="711200" y="114300"/>
            <a:ext cx="5434013" cy="368300"/>
          </a:xfrm>
        </p:spPr>
        <p:txBody>
          <a:bodyPr/>
          <a:lstStyle/>
          <a:p>
            <a:r>
              <a:rPr lang="en-US" altLang="zh-CN">
                <a:ea typeface="宋体" panose="02010600030101010101" pitchFamily="2" charset="-122"/>
              </a:rPr>
              <a:t>IBM370</a:t>
            </a:r>
            <a:r>
              <a:rPr lang="zh-CN" altLang="en-US">
                <a:ea typeface="宋体" panose="02010600030101010101" pitchFamily="2" charset="-122"/>
              </a:rPr>
              <a:t>指令格式</a:t>
            </a:r>
          </a:p>
        </p:txBody>
      </p:sp>
      <p:grpSp>
        <p:nvGrpSpPr>
          <p:cNvPr id="23554" name="Group 3">
            <a:extLst>
              <a:ext uri="{FF2B5EF4-FFF2-40B4-BE49-F238E27FC236}">
                <a16:creationId xmlns:a16="http://schemas.microsoft.com/office/drawing/2014/main" id="{1A980F73-27CC-B1EA-809C-A5EF51DB37C4}"/>
              </a:ext>
            </a:extLst>
          </p:cNvPr>
          <p:cNvGrpSpPr>
            <a:grpSpLocks/>
          </p:cNvGrpSpPr>
          <p:nvPr/>
        </p:nvGrpSpPr>
        <p:grpSpPr bwMode="auto">
          <a:xfrm>
            <a:off x="300038" y="571500"/>
            <a:ext cx="8221662" cy="4570413"/>
            <a:chOff x="108" y="720"/>
            <a:chExt cx="5316" cy="3155"/>
          </a:xfrm>
        </p:grpSpPr>
        <p:sp>
          <p:nvSpPr>
            <p:cNvPr id="23555" name="Text Box 4">
              <a:extLst>
                <a:ext uri="{FF2B5EF4-FFF2-40B4-BE49-F238E27FC236}">
                  <a16:creationId xmlns:a16="http://schemas.microsoft.com/office/drawing/2014/main" id="{B89C781F-3B0B-D5A3-1A89-AEEDB22D28D8}"/>
                </a:ext>
              </a:extLst>
            </p:cNvPr>
            <p:cNvSpPr txBox="1">
              <a:spLocks noChangeArrowheads="1"/>
            </p:cNvSpPr>
            <p:nvPr/>
          </p:nvSpPr>
          <p:spPr bwMode="auto">
            <a:xfrm>
              <a:off x="982" y="3292"/>
              <a:ext cx="270"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8</a:t>
              </a:r>
            </a:p>
          </p:txBody>
        </p:sp>
        <p:sp>
          <p:nvSpPr>
            <p:cNvPr id="23556" name="Text Box 5">
              <a:extLst>
                <a:ext uri="{FF2B5EF4-FFF2-40B4-BE49-F238E27FC236}">
                  <a16:creationId xmlns:a16="http://schemas.microsoft.com/office/drawing/2014/main" id="{E0ACA24E-63AE-7431-E7EE-A9508E6E2A4B}"/>
                </a:ext>
              </a:extLst>
            </p:cNvPr>
            <p:cNvSpPr txBox="1">
              <a:spLocks noChangeArrowheads="1"/>
            </p:cNvSpPr>
            <p:nvPr/>
          </p:nvSpPr>
          <p:spPr bwMode="auto">
            <a:xfrm>
              <a:off x="1630" y="3301"/>
              <a:ext cx="27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8</a:t>
              </a:r>
            </a:p>
          </p:txBody>
        </p:sp>
        <p:sp>
          <p:nvSpPr>
            <p:cNvPr id="23557" name="Text Box 6">
              <a:extLst>
                <a:ext uri="{FF2B5EF4-FFF2-40B4-BE49-F238E27FC236}">
                  <a16:creationId xmlns:a16="http://schemas.microsoft.com/office/drawing/2014/main" id="{F0741FD7-A5EB-BCB8-38C4-C293AFF30F3E}"/>
                </a:ext>
              </a:extLst>
            </p:cNvPr>
            <p:cNvSpPr txBox="1">
              <a:spLocks noChangeArrowheads="1"/>
            </p:cNvSpPr>
            <p:nvPr/>
          </p:nvSpPr>
          <p:spPr bwMode="auto">
            <a:xfrm>
              <a:off x="2102" y="3295"/>
              <a:ext cx="27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4</a:t>
              </a:r>
            </a:p>
          </p:txBody>
        </p:sp>
        <p:sp>
          <p:nvSpPr>
            <p:cNvPr id="23558" name="Text Box 7">
              <a:extLst>
                <a:ext uri="{FF2B5EF4-FFF2-40B4-BE49-F238E27FC236}">
                  <a16:creationId xmlns:a16="http://schemas.microsoft.com/office/drawing/2014/main" id="{4BE13847-9EF6-4BDD-617A-BCC8D383C259}"/>
                </a:ext>
              </a:extLst>
            </p:cNvPr>
            <p:cNvSpPr txBox="1">
              <a:spLocks noChangeArrowheads="1"/>
            </p:cNvSpPr>
            <p:nvPr/>
          </p:nvSpPr>
          <p:spPr bwMode="auto">
            <a:xfrm>
              <a:off x="2793" y="3295"/>
              <a:ext cx="380"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12</a:t>
              </a:r>
            </a:p>
          </p:txBody>
        </p:sp>
        <p:sp>
          <p:nvSpPr>
            <p:cNvPr id="23559" name="Text Box 8">
              <a:extLst>
                <a:ext uri="{FF2B5EF4-FFF2-40B4-BE49-F238E27FC236}">
                  <a16:creationId xmlns:a16="http://schemas.microsoft.com/office/drawing/2014/main" id="{BF7048A9-D58A-D6BE-A729-7BA5EA2CB8A3}"/>
                </a:ext>
              </a:extLst>
            </p:cNvPr>
            <p:cNvSpPr txBox="1">
              <a:spLocks noChangeArrowheads="1"/>
            </p:cNvSpPr>
            <p:nvPr/>
          </p:nvSpPr>
          <p:spPr bwMode="auto">
            <a:xfrm>
              <a:off x="3523" y="3295"/>
              <a:ext cx="27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4</a:t>
              </a:r>
            </a:p>
          </p:txBody>
        </p:sp>
        <p:sp>
          <p:nvSpPr>
            <p:cNvPr id="23560" name="Text Box 9">
              <a:extLst>
                <a:ext uri="{FF2B5EF4-FFF2-40B4-BE49-F238E27FC236}">
                  <a16:creationId xmlns:a16="http://schemas.microsoft.com/office/drawing/2014/main" id="{FB50B3E3-BFBA-7D7F-050C-B3AE4D8949AB}"/>
                </a:ext>
              </a:extLst>
            </p:cNvPr>
            <p:cNvSpPr txBox="1">
              <a:spLocks noChangeArrowheads="1"/>
            </p:cNvSpPr>
            <p:nvPr/>
          </p:nvSpPr>
          <p:spPr bwMode="auto">
            <a:xfrm>
              <a:off x="4185" y="3301"/>
              <a:ext cx="44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12</a:t>
              </a:r>
            </a:p>
          </p:txBody>
        </p:sp>
        <p:sp>
          <p:nvSpPr>
            <p:cNvPr id="23561" name="Line 10">
              <a:extLst>
                <a:ext uri="{FF2B5EF4-FFF2-40B4-BE49-F238E27FC236}">
                  <a16:creationId xmlns:a16="http://schemas.microsoft.com/office/drawing/2014/main" id="{8F1DE718-E6FB-0DB3-8DEA-2E105A022E1F}"/>
                </a:ext>
              </a:extLst>
            </p:cNvPr>
            <p:cNvSpPr>
              <a:spLocks noChangeShapeType="1"/>
            </p:cNvSpPr>
            <p:nvPr/>
          </p:nvSpPr>
          <p:spPr bwMode="auto">
            <a:xfrm>
              <a:off x="720" y="3328"/>
              <a:ext cx="0" cy="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2" name="Line 11">
              <a:extLst>
                <a:ext uri="{FF2B5EF4-FFF2-40B4-BE49-F238E27FC236}">
                  <a16:creationId xmlns:a16="http://schemas.microsoft.com/office/drawing/2014/main" id="{9A730916-0A30-1DCF-995C-039AC405C1EA}"/>
                </a:ext>
              </a:extLst>
            </p:cNvPr>
            <p:cNvSpPr>
              <a:spLocks noChangeShapeType="1"/>
            </p:cNvSpPr>
            <p:nvPr/>
          </p:nvSpPr>
          <p:spPr bwMode="auto">
            <a:xfrm>
              <a:off x="2066" y="3447"/>
              <a:ext cx="0" cy="3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3" name="Line 12">
              <a:extLst>
                <a:ext uri="{FF2B5EF4-FFF2-40B4-BE49-F238E27FC236}">
                  <a16:creationId xmlns:a16="http://schemas.microsoft.com/office/drawing/2014/main" id="{B5ACE564-0F86-528D-1F33-7000DBA728DC}"/>
                </a:ext>
              </a:extLst>
            </p:cNvPr>
            <p:cNvSpPr>
              <a:spLocks noChangeShapeType="1"/>
            </p:cNvSpPr>
            <p:nvPr/>
          </p:nvSpPr>
          <p:spPr bwMode="auto">
            <a:xfrm>
              <a:off x="3487" y="3447"/>
              <a:ext cx="0" cy="3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4" name="Line 13">
              <a:extLst>
                <a:ext uri="{FF2B5EF4-FFF2-40B4-BE49-F238E27FC236}">
                  <a16:creationId xmlns:a16="http://schemas.microsoft.com/office/drawing/2014/main" id="{94414165-017B-F282-0641-4A415540C214}"/>
                </a:ext>
              </a:extLst>
            </p:cNvPr>
            <p:cNvSpPr>
              <a:spLocks noChangeShapeType="1"/>
            </p:cNvSpPr>
            <p:nvPr/>
          </p:nvSpPr>
          <p:spPr bwMode="auto">
            <a:xfrm>
              <a:off x="4882" y="3447"/>
              <a:ext cx="0" cy="3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5" name="Line 14">
              <a:extLst>
                <a:ext uri="{FF2B5EF4-FFF2-40B4-BE49-F238E27FC236}">
                  <a16:creationId xmlns:a16="http://schemas.microsoft.com/office/drawing/2014/main" id="{83107907-7F3D-2304-EB1F-3E86DFC24CD7}"/>
                </a:ext>
              </a:extLst>
            </p:cNvPr>
            <p:cNvSpPr>
              <a:spLocks noChangeShapeType="1"/>
            </p:cNvSpPr>
            <p:nvPr/>
          </p:nvSpPr>
          <p:spPr bwMode="auto">
            <a:xfrm flipH="1">
              <a:off x="723" y="3706"/>
              <a:ext cx="2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6" name="Line 15">
              <a:extLst>
                <a:ext uri="{FF2B5EF4-FFF2-40B4-BE49-F238E27FC236}">
                  <a16:creationId xmlns:a16="http://schemas.microsoft.com/office/drawing/2014/main" id="{DE7F71F2-38A3-0CC9-10C9-D5DDC760C979}"/>
                </a:ext>
              </a:extLst>
            </p:cNvPr>
            <p:cNvSpPr>
              <a:spLocks noChangeShapeType="1"/>
            </p:cNvSpPr>
            <p:nvPr/>
          </p:nvSpPr>
          <p:spPr bwMode="auto">
            <a:xfrm flipH="1">
              <a:off x="1822" y="3706"/>
              <a:ext cx="244"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67" name="Text Box 16">
              <a:extLst>
                <a:ext uri="{FF2B5EF4-FFF2-40B4-BE49-F238E27FC236}">
                  <a16:creationId xmlns:a16="http://schemas.microsoft.com/office/drawing/2014/main" id="{4D09B75A-EEAB-135D-0EB8-6A925511ECFB}"/>
                </a:ext>
              </a:extLst>
            </p:cNvPr>
            <p:cNvSpPr txBox="1">
              <a:spLocks noChangeArrowheads="1"/>
            </p:cNvSpPr>
            <p:nvPr/>
          </p:nvSpPr>
          <p:spPr bwMode="auto">
            <a:xfrm>
              <a:off x="918" y="3571"/>
              <a:ext cx="109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200">
                  <a:solidFill>
                    <a:srgbClr val="0033CC"/>
                  </a:solidFill>
                  <a:ea typeface="黑体" panose="02010609060101010101" pitchFamily="49" charset="-122"/>
                </a:rPr>
                <a:t>第</a:t>
              </a:r>
              <a:r>
                <a:rPr lang="en-US" altLang="zh-CN" sz="2200">
                  <a:solidFill>
                    <a:srgbClr val="0033CC"/>
                  </a:solidFill>
                  <a:ea typeface="黑体" panose="02010609060101010101" pitchFamily="49" charset="-122"/>
                </a:rPr>
                <a:t>1</a:t>
              </a:r>
              <a:r>
                <a:rPr lang="zh-CN" altLang="en-US" sz="2200">
                  <a:solidFill>
                    <a:srgbClr val="0033CC"/>
                  </a:solidFill>
                  <a:ea typeface="黑体" panose="02010609060101010101" pitchFamily="49" charset="-122"/>
                </a:rPr>
                <a:t>个半字</a:t>
              </a:r>
            </a:p>
          </p:txBody>
        </p:sp>
        <p:sp>
          <p:nvSpPr>
            <p:cNvPr id="23568" name="Line 17">
              <a:extLst>
                <a:ext uri="{FF2B5EF4-FFF2-40B4-BE49-F238E27FC236}">
                  <a16:creationId xmlns:a16="http://schemas.microsoft.com/office/drawing/2014/main" id="{9C4AEAC9-CC9A-2961-16A7-C5AEF8D42FDB}"/>
                </a:ext>
              </a:extLst>
            </p:cNvPr>
            <p:cNvSpPr>
              <a:spLocks noChangeShapeType="1"/>
            </p:cNvSpPr>
            <p:nvPr/>
          </p:nvSpPr>
          <p:spPr bwMode="auto">
            <a:xfrm flipH="1">
              <a:off x="2075" y="3709"/>
              <a:ext cx="2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9" name="Line 18">
              <a:extLst>
                <a:ext uri="{FF2B5EF4-FFF2-40B4-BE49-F238E27FC236}">
                  <a16:creationId xmlns:a16="http://schemas.microsoft.com/office/drawing/2014/main" id="{6AD59CA5-A3B2-2E2B-37B7-F5BC3A28F29F}"/>
                </a:ext>
              </a:extLst>
            </p:cNvPr>
            <p:cNvSpPr>
              <a:spLocks noChangeShapeType="1"/>
            </p:cNvSpPr>
            <p:nvPr/>
          </p:nvSpPr>
          <p:spPr bwMode="auto">
            <a:xfrm flipH="1">
              <a:off x="3237" y="3709"/>
              <a:ext cx="244"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70" name="Text Box 19">
              <a:extLst>
                <a:ext uri="{FF2B5EF4-FFF2-40B4-BE49-F238E27FC236}">
                  <a16:creationId xmlns:a16="http://schemas.microsoft.com/office/drawing/2014/main" id="{41721E20-5CA9-C3B8-7853-812040879A0C}"/>
                </a:ext>
              </a:extLst>
            </p:cNvPr>
            <p:cNvSpPr txBox="1">
              <a:spLocks noChangeArrowheads="1"/>
            </p:cNvSpPr>
            <p:nvPr/>
          </p:nvSpPr>
          <p:spPr bwMode="auto">
            <a:xfrm>
              <a:off x="2270" y="3574"/>
              <a:ext cx="1098"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200">
                  <a:solidFill>
                    <a:srgbClr val="0033CC"/>
                  </a:solidFill>
                  <a:ea typeface="黑体" panose="02010609060101010101" pitchFamily="49" charset="-122"/>
                </a:rPr>
                <a:t>第</a:t>
              </a:r>
              <a:r>
                <a:rPr lang="en-US" altLang="zh-CN" sz="2200">
                  <a:solidFill>
                    <a:srgbClr val="0033CC"/>
                  </a:solidFill>
                  <a:ea typeface="黑体" panose="02010609060101010101" pitchFamily="49" charset="-122"/>
                </a:rPr>
                <a:t>2</a:t>
              </a:r>
              <a:r>
                <a:rPr lang="zh-CN" altLang="en-US" sz="2200">
                  <a:solidFill>
                    <a:srgbClr val="0033CC"/>
                  </a:solidFill>
                  <a:ea typeface="黑体" panose="02010609060101010101" pitchFamily="49" charset="-122"/>
                </a:rPr>
                <a:t>个半字</a:t>
              </a:r>
            </a:p>
          </p:txBody>
        </p:sp>
        <p:sp>
          <p:nvSpPr>
            <p:cNvPr id="23571" name="Line 20">
              <a:extLst>
                <a:ext uri="{FF2B5EF4-FFF2-40B4-BE49-F238E27FC236}">
                  <a16:creationId xmlns:a16="http://schemas.microsoft.com/office/drawing/2014/main" id="{44344CEF-0593-26DD-8E37-A341AF39517E}"/>
                </a:ext>
              </a:extLst>
            </p:cNvPr>
            <p:cNvSpPr>
              <a:spLocks noChangeShapeType="1"/>
            </p:cNvSpPr>
            <p:nvPr/>
          </p:nvSpPr>
          <p:spPr bwMode="auto">
            <a:xfrm flipH="1">
              <a:off x="3486" y="3715"/>
              <a:ext cx="2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2" name="Line 21">
              <a:extLst>
                <a:ext uri="{FF2B5EF4-FFF2-40B4-BE49-F238E27FC236}">
                  <a16:creationId xmlns:a16="http://schemas.microsoft.com/office/drawing/2014/main" id="{07AF3181-B7FD-0364-0F0E-B960BD1D600D}"/>
                </a:ext>
              </a:extLst>
            </p:cNvPr>
            <p:cNvSpPr>
              <a:spLocks noChangeShapeType="1"/>
            </p:cNvSpPr>
            <p:nvPr/>
          </p:nvSpPr>
          <p:spPr bwMode="auto">
            <a:xfrm flipH="1">
              <a:off x="4639" y="3715"/>
              <a:ext cx="244"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73" name="Text Box 22">
              <a:extLst>
                <a:ext uri="{FF2B5EF4-FFF2-40B4-BE49-F238E27FC236}">
                  <a16:creationId xmlns:a16="http://schemas.microsoft.com/office/drawing/2014/main" id="{B3B5656F-F1DC-4FFB-8742-1782CA58060C}"/>
                </a:ext>
              </a:extLst>
            </p:cNvPr>
            <p:cNvSpPr txBox="1">
              <a:spLocks noChangeArrowheads="1"/>
            </p:cNvSpPr>
            <p:nvPr/>
          </p:nvSpPr>
          <p:spPr bwMode="auto">
            <a:xfrm>
              <a:off x="3699" y="3580"/>
              <a:ext cx="1098"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200">
                  <a:solidFill>
                    <a:srgbClr val="0033CC"/>
                  </a:solidFill>
                  <a:ea typeface="黑体" panose="02010609060101010101" pitchFamily="49" charset="-122"/>
                </a:rPr>
                <a:t>第</a:t>
              </a:r>
              <a:r>
                <a:rPr lang="en-US" altLang="zh-CN" sz="2200">
                  <a:solidFill>
                    <a:srgbClr val="0033CC"/>
                  </a:solidFill>
                  <a:ea typeface="黑体" panose="02010609060101010101" pitchFamily="49" charset="-122"/>
                </a:rPr>
                <a:t>3</a:t>
              </a:r>
              <a:r>
                <a:rPr lang="zh-CN" altLang="en-US" sz="2200">
                  <a:solidFill>
                    <a:srgbClr val="0033CC"/>
                  </a:solidFill>
                  <a:ea typeface="黑体" panose="02010609060101010101" pitchFamily="49" charset="-122"/>
                </a:rPr>
                <a:t>个半字</a:t>
              </a:r>
            </a:p>
          </p:txBody>
        </p:sp>
        <p:grpSp>
          <p:nvGrpSpPr>
            <p:cNvPr id="23574" name="Group 23">
              <a:extLst>
                <a:ext uri="{FF2B5EF4-FFF2-40B4-BE49-F238E27FC236}">
                  <a16:creationId xmlns:a16="http://schemas.microsoft.com/office/drawing/2014/main" id="{F3AE8A4B-AC4D-A032-82EA-4B694F7E7403}"/>
                </a:ext>
              </a:extLst>
            </p:cNvPr>
            <p:cNvGrpSpPr>
              <a:grpSpLocks/>
            </p:cNvGrpSpPr>
            <p:nvPr/>
          </p:nvGrpSpPr>
          <p:grpSpPr bwMode="auto">
            <a:xfrm>
              <a:off x="108" y="720"/>
              <a:ext cx="5316" cy="2581"/>
              <a:chOff x="108" y="720"/>
              <a:chExt cx="5316" cy="2581"/>
            </a:xfrm>
          </p:grpSpPr>
          <p:grpSp>
            <p:nvGrpSpPr>
              <p:cNvPr id="23575" name="Group 24">
                <a:extLst>
                  <a:ext uri="{FF2B5EF4-FFF2-40B4-BE49-F238E27FC236}">
                    <a16:creationId xmlns:a16="http://schemas.microsoft.com/office/drawing/2014/main" id="{3F487F9A-FE16-CB49-66AF-6FF6DE98A336}"/>
                  </a:ext>
                </a:extLst>
              </p:cNvPr>
              <p:cNvGrpSpPr>
                <a:grpSpLocks/>
              </p:cNvGrpSpPr>
              <p:nvPr/>
            </p:nvGrpSpPr>
            <p:grpSpPr bwMode="auto">
              <a:xfrm>
                <a:off x="108" y="896"/>
                <a:ext cx="4774" cy="2405"/>
                <a:chOff x="108" y="896"/>
                <a:chExt cx="4774" cy="2405"/>
              </a:xfrm>
            </p:grpSpPr>
            <p:sp>
              <p:nvSpPr>
                <p:cNvPr id="23576" name="Rectangle 25" descr="新闻纸">
                  <a:extLst>
                    <a:ext uri="{FF2B5EF4-FFF2-40B4-BE49-F238E27FC236}">
                      <a16:creationId xmlns:a16="http://schemas.microsoft.com/office/drawing/2014/main" id="{84E9C89A-9BEA-BDE4-DF29-77834462496A}"/>
                    </a:ext>
                  </a:extLst>
                </p:cNvPr>
                <p:cNvSpPr>
                  <a:spLocks noChangeArrowheads="1"/>
                </p:cNvSpPr>
                <p:nvPr/>
              </p:nvSpPr>
              <p:spPr bwMode="auto">
                <a:xfrm>
                  <a:off x="698" y="896"/>
                  <a:ext cx="1368" cy="366"/>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23577" name="Line 26">
                  <a:extLst>
                    <a:ext uri="{FF2B5EF4-FFF2-40B4-BE49-F238E27FC236}">
                      <a16:creationId xmlns:a16="http://schemas.microsoft.com/office/drawing/2014/main" id="{CB9FBCB2-F384-87A2-7B65-DFCFD3486499}"/>
                    </a:ext>
                  </a:extLst>
                </p:cNvPr>
                <p:cNvSpPr>
                  <a:spLocks noChangeShapeType="1"/>
                </p:cNvSpPr>
                <p:nvPr/>
              </p:nvSpPr>
              <p:spPr bwMode="auto">
                <a:xfrm>
                  <a:off x="1355" y="896"/>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8" name="Text Box 27">
                  <a:extLst>
                    <a:ext uri="{FF2B5EF4-FFF2-40B4-BE49-F238E27FC236}">
                      <a16:creationId xmlns:a16="http://schemas.microsoft.com/office/drawing/2014/main" id="{3A2FFB2F-DC10-4E89-1491-FFB0910472D9}"/>
                    </a:ext>
                  </a:extLst>
                </p:cNvPr>
                <p:cNvSpPr txBox="1">
                  <a:spLocks noChangeArrowheads="1"/>
                </p:cNvSpPr>
                <p:nvPr/>
              </p:nvSpPr>
              <p:spPr bwMode="auto">
                <a:xfrm>
                  <a:off x="108" y="914"/>
                  <a:ext cx="69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RR</a:t>
                  </a:r>
                  <a:r>
                    <a:rPr lang="zh-CN" altLang="en-US" sz="2200">
                      <a:solidFill>
                        <a:schemeClr val="tx1"/>
                      </a:solidFill>
                      <a:ea typeface="黑体" panose="02010609060101010101" pitchFamily="49" charset="-122"/>
                    </a:rPr>
                    <a:t>型</a:t>
                  </a:r>
                </a:p>
              </p:txBody>
            </p:sp>
            <p:sp>
              <p:nvSpPr>
                <p:cNvPr id="23579" name="Line 28">
                  <a:extLst>
                    <a:ext uri="{FF2B5EF4-FFF2-40B4-BE49-F238E27FC236}">
                      <a16:creationId xmlns:a16="http://schemas.microsoft.com/office/drawing/2014/main" id="{1FD6E074-3829-C9FC-4754-3AEFAFFB4614}"/>
                    </a:ext>
                  </a:extLst>
                </p:cNvPr>
                <p:cNvSpPr>
                  <a:spLocks noChangeShapeType="1"/>
                </p:cNvSpPr>
                <p:nvPr/>
              </p:nvSpPr>
              <p:spPr bwMode="auto">
                <a:xfrm>
                  <a:off x="1737" y="896"/>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0" name="Text Box 29">
                  <a:extLst>
                    <a:ext uri="{FF2B5EF4-FFF2-40B4-BE49-F238E27FC236}">
                      <a16:creationId xmlns:a16="http://schemas.microsoft.com/office/drawing/2014/main" id="{5B95C009-2AC5-B56B-9423-9BF007A925D6}"/>
                    </a:ext>
                  </a:extLst>
                </p:cNvPr>
                <p:cNvSpPr txBox="1">
                  <a:spLocks noChangeArrowheads="1"/>
                </p:cNvSpPr>
                <p:nvPr/>
              </p:nvSpPr>
              <p:spPr bwMode="auto">
                <a:xfrm>
                  <a:off x="813" y="932"/>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OP</a:t>
                  </a:r>
                </a:p>
              </p:txBody>
            </p:sp>
            <p:sp>
              <p:nvSpPr>
                <p:cNvPr id="23581" name="Text Box 30">
                  <a:extLst>
                    <a:ext uri="{FF2B5EF4-FFF2-40B4-BE49-F238E27FC236}">
                      <a16:creationId xmlns:a16="http://schemas.microsoft.com/office/drawing/2014/main" id="{3C866F6B-0F76-6770-2FFD-F4F47AC6D78F}"/>
                    </a:ext>
                  </a:extLst>
                </p:cNvPr>
                <p:cNvSpPr txBox="1">
                  <a:spLocks noChangeArrowheads="1"/>
                </p:cNvSpPr>
                <p:nvPr/>
              </p:nvSpPr>
              <p:spPr bwMode="auto">
                <a:xfrm>
                  <a:off x="1370" y="920"/>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R1</a:t>
                  </a:r>
                </a:p>
              </p:txBody>
            </p:sp>
            <p:sp>
              <p:nvSpPr>
                <p:cNvPr id="23582" name="Text Box 31">
                  <a:extLst>
                    <a:ext uri="{FF2B5EF4-FFF2-40B4-BE49-F238E27FC236}">
                      <a16:creationId xmlns:a16="http://schemas.microsoft.com/office/drawing/2014/main" id="{2D7E5009-D0EB-841D-19FB-07B7311ECD27}"/>
                    </a:ext>
                  </a:extLst>
                </p:cNvPr>
                <p:cNvSpPr txBox="1">
                  <a:spLocks noChangeArrowheads="1"/>
                </p:cNvSpPr>
                <p:nvPr/>
              </p:nvSpPr>
              <p:spPr bwMode="auto">
                <a:xfrm>
                  <a:off x="1721" y="932"/>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R2</a:t>
                  </a:r>
                </a:p>
              </p:txBody>
            </p:sp>
            <p:sp>
              <p:nvSpPr>
                <p:cNvPr id="23583" name="Rectangle 32" descr="新闻纸">
                  <a:extLst>
                    <a:ext uri="{FF2B5EF4-FFF2-40B4-BE49-F238E27FC236}">
                      <a16:creationId xmlns:a16="http://schemas.microsoft.com/office/drawing/2014/main" id="{3694BEA4-76B7-6F28-3C97-EEFCAFFBF9D7}"/>
                    </a:ext>
                  </a:extLst>
                </p:cNvPr>
                <p:cNvSpPr>
                  <a:spLocks noChangeArrowheads="1"/>
                </p:cNvSpPr>
                <p:nvPr/>
              </p:nvSpPr>
              <p:spPr bwMode="auto">
                <a:xfrm>
                  <a:off x="705" y="1387"/>
                  <a:ext cx="2782" cy="366"/>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23584" name="Line 33">
                  <a:extLst>
                    <a:ext uri="{FF2B5EF4-FFF2-40B4-BE49-F238E27FC236}">
                      <a16:creationId xmlns:a16="http://schemas.microsoft.com/office/drawing/2014/main" id="{B96FFC82-6F62-C8C0-FD42-50B0501B37A2}"/>
                    </a:ext>
                  </a:extLst>
                </p:cNvPr>
                <p:cNvSpPr>
                  <a:spLocks noChangeShapeType="1"/>
                </p:cNvSpPr>
                <p:nvPr/>
              </p:nvSpPr>
              <p:spPr bwMode="auto">
                <a:xfrm>
                  <a:off x="1362" y="1387"/>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5" name="Text Box 34">
                  <a:extLst>
                    <a:ext uri="{FF2B5EF4-FFF2-40B4-BE49-F238E27FC236}">
                      <a16:creationId xmlns:a16="http://schemas.microsoft.com/office/drawing/2014/main" id="{AE475583-6E1C-F00B-8AA9-D35D9DC18D7D}"/>
                    </a:ext>
                  </a:extLst>
                </p:cNvPr>
                <p:cNvSpPr txBox="1">
                  <a:spLocks noChangeArrowheads="1"/>
                </p:cNvSpPr>
                <p:nvPr/>
              </p:nvSpPr>
              <p:spPr bwMode="auto">
                <a:xfrm>
                  <a:off x="115" y="1405"/>
                  <a:ext cx="69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RX</a:t>
                  </a:r>
                  <a:r>
                    <a:rPr lang="zh-CN" altLang="en-US" sz="2200">
                      <a:solidFill>
                        <a:schemeClr val="tx1"/>
                      </a:solidFill>
                      <a:ea typeface="黑体" panose="02010609060101010101" pitchFamily="49" charset="-122"/>
                    </a:rPr>
                    <a:t>型</a:t>
                  </a:r>
                </a:p>
              </p:txBody>
            </p:sp>
            <p:sp>
              <p:nvSpPr>
                <p:cNvPr id="23586" name="Line 35">
                  <a:extLst>
                    <a:ext uri="{FF2B5EF4-FFF2-40B4-BE49-F238E27FC236}">
                      <a16:creationId xmlns:a16="http://schemas.microsoft.com/office/drawing/2014/main" id="{A5FA5E90-DBE7-A3DF-956F-0983A12B77B0}"/>
                    </a:ext>
                  </a:extLst>
                </p:cNvPr>
                <p:cNvSpPr>
                  <a:spLocks noChangeShapeType="1"/>
                </p:cNvSpPr>
                <p:nvPr/>
              </p:nvSpPr>
              <p:spPr bwMode="auto">
                <a:xfrm>
                  <a:off x="1744" y="1387"/>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7" name="Text Box 36">
                  <a:extLst>
                    <a:ext uri="{FF2B5EF4-FFF2-40B4-BE49-F238E27FC236}">
                      <a16:creationId xmlns:a16="http://schemas.microsoft.com/office/drawing/2014/main" id="{39E88919-CDC5-7D4F-C8DE-C022305F5873}"/>
                    </a:ext>
                  </a:extLst>
                </p:cNvPr>
                <p:cNvSpPr txBox="1">
                  <a:spLocks noChangeArrowheads="1"/>
                </p:cNvSpPr>
                <p:nvPr/>
              </p:nvSpPr>
              <p:spPr bwMode="auto">
                <a:xfrm>
                  <a:off x="820" y="1424"/>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OP</a:t>
                  </a:r>
                </a:p>
              </p:txBody>
            </p:sp>
            <p:sp>
              <p:nvSpPr>
                <p:cNvPr id="23588" name="Text Box 37">
                  <a:extLst>
                    <a:ext uri="{FF2B5EF4-FFF2-40B4-BE49-F238E27FC236}">
                      <a16:creationId xmlns:a16="http://schemas.microsoft.com/office/drawing/2014/main" id="{264A6183-7293-0A1A-EEAB-3738A74676D6}"/>
                    </a:ext>
                  </a:extLst>
                </p:cNvPr>
                <p:cNvSpPr txBox="1">
                  <a:spLocks noChangeArrowheads="1"/>
                </p:cNvSpPr>
                <p:nvPr/>
              </p:nvSpPr>
              <p:spPr bwMode="auto">
                <a:xfrm>
                  <a:off x="1377" y="1411"/>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R1</a:t>
                  </a:r>
                </a:p>
              </p:txBody>
            </p:sp>
            <p:sp>
              <p:nvSpPr>
                <p:cNvPr id="23589" name="Text Box 38">
                  <a:extLst>
                    <a:ext uri="{FF2B5EF4-FFF2-40B4-BE49-F238E27FC236}">
                      <a16:creationId xmlns:a16="http://schemas.microsoft.com/office/drawing/2014/main" id="{5531D643-2AE6-F692-A750-486F95C861C7}"/>
                    </a:ext>
                  </a:extLst>
                </p:cNvPr>
                <p:cNvSpPr txBox="1">
                  <a:spLocks noChangeArrowheads="1"/>
                </p:cNvSpPr>
                <p:nvPr/>
              </p:nvSpPr>
              <p:spPr bwMode="auto">
                <a:xfrm>
                  <a:off x="1800" y="1424"/>
                  <a:ext cx="29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X</a:t>
                  </a:r>
                </a:p>
              </p:txBody>
            </p:sp>
            <p:sp>
              <p:nvSpPr>
                <p:cNvPr id="23590" name="Rectangle 39" descr="新闻纸">
                  <a:extLst>
                    <a:ext uri="{FF2B5EF4-FFF2-40B4-BE49-F238E27FC236}">
                      <a16:creationId xmlns:a16="http://schemas.microsoft.com/office/drawing/2014/main" id="{C5CE433E-3C9A-9ABD-4C4D-DBF98DC8B3CC}"/>
                    </a:ext>
                  </a:extLst>
                </p:cNvPr>
                <p:cNvSpPr>
                  <a:spLocks noChangeArrowheads="1"/>
                </p:cNvSpPr>
                <p:nvPr/>
              </p:nvSpPr>
              <p:spPr bwMode="auto">
                <a:xfrm>
                  <a:off x="711" y="1887"/>
                  <a:ext cx="2776" cy="366"/>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23591" name="Line 40">
                  <a:extLst>
                    <a:ext uri="{FF2B5EF4-FFF2-40B4-BE49-F238E27FC236}">
                      <a16:creationId xmlns:a16="http://schemas.microsoft.com/office/drawing/2014/main" id="{BC68D47E-B139-6409-A54F-A801E5B30688}"/>
                    </a:ext>
                  </a:extLst>
                </p:cNvPr>
                <p:cNvSpPr>
                  <a:spLocks noChangeShapeType="1"/>
                </p:cNvSpPr>
                <p:nvPr/>
              </p:nvSpPr>
              <p:spPr bwMode="auto">
                <a:xfrm>
                  <a:off x="1368" y="1887"/>
                  <a:ext cx="1"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2" name="Text Box 41">
                  <a:extLst>
                    <a:ext uri="{FF2B5EF4-FFF2-40B4-BE49-F238E27FC236}">
                      <a16:creationId xmlns:a16="http://schemas.microsoft.com/office/drawing/2014/main" id="{0B80C43D-83E2-221A-01EC-12CA935BBBC2}"/>
                    </a:ext>
                  </a:extLst>
                </p:cNvPr>
                <p:cNvSpPr txBox="1">
                  <a:spLocks noChangeArrowheads="1"/>
                </p:cNvSpPr>
                <p:nvPr/>
              </p:nvSpPr>
              <p:spPr bwMode="auto">
                <a:xfrm>
                  <a:off x="121" y="1904"/>
                  <a:ext cx="69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RS</a:t>
                  </a:r>
                  <a:r>
                    <a:rPr lang="zh-CN" altLang="en-US" sz="2200">
                      <a:solidFill>
                        <a:schemeClr val="tx1"/>
                      </a:solidFill>
                      <a:ea typeface="黑体" panose="02010609060101010101" pitchFamily="49" charset="-122"/>
                    </a:rPr>
                    <a:t>型</a:t>
                  </a:r>
                </a:p>
              </p:txBody>
            </p:sp>
            <p:sp>
              <p:nvSpPr>
                <p:cNvPr id="23593" name="Line 42">
                  <a:extLst>
                    <a:ext uri="{FF2B5EF4-FFF2-40B4-BE49-F238E27FC236}">
                      <a16:creationId xmlns:a16="http://schemas.microsoft.com/office/drawing/2014/main" id="{AA7FC6E6-76A0-BDA9-735C-8FDBFD81A482}"/>
                    </a:ext>
                  </a:extLst>
                </p:cNvPr>
                <p:cNvSpPr>
                  <a:spLocks noChangeShapeType="1"/>
                </p:cNvSpPr>
                <p:nvPr/>
              </p:nvSpPr>
              <p:spPr bwMode="auto">
                <a:xfrm flipH="1">
                  <a:off x="1746" y="1887"/>
                  <a:ext cx="4"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4" name="Text Box 43">
                  <a:extLst>
                    <a:ext uri="{FF2B5EF4-FFF2-40B4-BE49-F238E27FC236}">
                      <a16:creationId xmlns:a16="http://schemas.microsoft.com/office/drawing/2014/main" id="{C71573C0-A067-03F0-F116-13C7871ED23E}"/>
                    </a:ext>
                  </a:extLst>
                </p:cNvPr>
                <p:cNvSpPr txBox="1">
                  <a:spLocks noChangeArrowheads="1"/>
                </p:cNvSpPr>
                <p:nvPr/>
              </p:nvSpPr>
              <p:spPr bwMode="auto">
                <a:xfrm>
                  <a:off x="827" y="1923"/>
                  <a:ext cx="438"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OP</a:t>
                  </a:r>
                </a:p>
              </p:txBody>
            </p:sp>
            <p:sp>
              <p:nvSpPr>
                <p:cNvPr id="23595" name="Text Box 44">
                  <a:extLst>
                    <a:ext uri="{FF2B5EF4-FFF2-40B4-BE49-F238E27FC236}">
                      <a16:creationId xmlns:a16="http://schemas.microsoft.com/office/drawing/2014/main" id="{423A9750-F3A6-4268-4DDE-2178C76DB0EA}"/>
                    </a:ext>
                  </a:extLst>
                </p:cNvPr>
                <p:cNvSpPr txBox="1">
                  <a:spLocks noChangeArrowheads="1"/>
                </p:cNvSpPr>
                <p:nvPr/>
              </p:nvSpPr>
              <p:spPr bwMode="auto">
                <a:xfrm>
                  <a:off x="1383" y="1911"/>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R1</a:t>
                  </a:r>
                </a:p>
              </p:txBody>
            </p:sp>
            <p:sp>
              <p:nvSpPr>
                <p:cNvPr id="23596" name="Text Box 45">
                  <a:extLst>
                    <a:ext uri="{FF2B5EF4-FFF2-40B4-BE49-F238E27FC236}">
                      <a16:creationId xmlns:a16="http://schemas.microsoft.com/office/drawing/2014/main" id="{84E368AD-B85E-E4C6-ED0B-76E07575B4C2}"/>
                    </a:ext>
                  </a:extLst>
                </p:cNvPr>
                <p:cNvSpPr txBox="1">
                  <a:spLocks noChangeArrowheads="1"/>
                </p:cNvSpPr>
                <p:nvPr/>
              </p:nvSpPr>
              <p:spPr bwMode="auto">
                <a:xfrm>
                  <a:off x="1734" y="1923"/>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R3</a:t>
                  </a:r>
                </a:p>
              </p:txBody>
            </p:sp>
            <p:sp>
              <p:nvSpPr>
                <p:cNvPr id="23597" name="Rectangle 46" descr="新闻纸">
                  <a:extLst>
                    <a:ext uri="{FF2B5EF4-FFF2-40B4-BE49-F238E27FC236}">
                      <a16:creationId xmlns:a16="http://schemas.microsoft.com/office/drawing/2014/main" id="{39D4FC7D-DDC2-806A-71B8-04C868B0B1B8}"/>
                    </a:ext>
                  </a:extLst>
                </p:cNvPr>
                <p:cNvSpPr>
                  <a:spLocks noChangeArrowheads="1"/>
                </p:cNvSpPr>
                <p:nvPr/>
              </p:nvSpPr>
              <p:spPr bwMode="auto">
                <a:xfrm>
                  <a:off x="723" y="2398"/>
                  <a:ext cx="2764" cy="366"/>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23598" name="Line 47">
                  <a:extLst>
                    <a:ext uri="{FF2B5EF4-FFF2-40B4-BE49-F238E27FC236}">
                      <a16:creationId xmlns:a16="http://schemas.microsoft.com/office/drawing/2014/main" id="{AD67DA6C-47A9-5581-E3E0-B7D76104F23B}"/>
                    </a:ext>
                  </a:extLst>
                </p:cNvPr>
                <p:cNvSpPr>
                  <a:spLocks noChangeShapeType="1"/>
                </p:cNvSpPr>
                <p:nvPr/>
              </p:nvSpPr>
              <p:spPr bwMode="auto">
                <a:xfrm>
                  <a:off x="1380" y="2398"/>
                  <a:ext cx="1"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9" name="Text Box 48">
                  <a:extLst>
                    <a:ext uri="{FF2B5EF4-FFF2-40B4-BE49-F238E27FC236}">
                      <a16:creationId xmlns:a16="http://schemas.microsoft.com/office/drawing/2014/main" id="{9EA592FE-1DD3-E1EF-6DAE-7AA8CD552B7C}"/>
                    </a:ext>
                  </a:extLst>
                </p:cNvPr>
                <p:cNvSpPr txBox="1">
                  <a:spLocks noChangeArrowheads="1"/>
                </p:cNvSpPr>
                <p:nvPr/>
              </p:nvSpPr>
              <p:spPr bwMode="auto">
                <a:xfrm>
                  <a:off x="133" y="2416"/>
                  <a:ext cx="69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SI</a:t>
                  </a:r>
                  <a:r>
                    <a:rPr lang="zh-CN" altLang="en-US" sz="2200">
                      <a:solidFill>
                        <a:schemeClr val="tx1"/>
                      </a:solidFill>
                      <a:ea typeface="黑体" panose="02010609060101010101" pitchFamily="49" charset="-122"/>
                    </a:rPr>
                    <a:t>型</a:t>
                  </a:r>
                </a:p>
              </p:txBody>
            </p:sp>
            <p:sp>
              <p:nvSpPr>
                <p:cNvPr id="23600" name="Text Box 49">
                  <a:extLst>
                    <a:ext uri="{FF2B5EF4-FFF2-40B4-BE49-F238E27FC236}">
                      <a16:creationId xmlns:a16="http://schemas.microsoft.com/office/drawing/2014/main" id="{C52543D4-7F5B-8C67-9478-011CEFB6493D}"/>
                    </a:ext>
                  </a:extLst>
                </p:cNvPr>
                <p:cNvSpPr txBox="1">
                  <a:spLocks noChangeArrowheads="1"/>
                </p:cNvSpPr>
                <p:nvPr/>
              </p:nvSpPr>
              <p:spPr bwMode="auto">
                <a:xfrm>
                  <a:off x="838" y="2434"/>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OP</a:t>
                  </a:r>
                </a:p>
              </p:txBody>
            </p:sp>
            <p:sp>
              <p:nvSpPr>
                <p:cNvPr id="23601" name="Text Box 50">
                  <a:extLst>
                    <a:ext uri="{FF2B5EF4-FFF2-40B4-BE49-F238E27FC236}">
                      <a16:creationId xmlns:a16="http://schemas.microsoft.com/office/drawing/2014/main" id="{93694949-1683-E3D1-7E8D-26529919A194}"/>
                    </a:ext>
                  </a:extLst>
                </p:cNvPr>
                <p:cNvSpPr txBox="1">
                  <a:spLocks noChangeArrowheads="1"/>
                </p:cNvSpPr>
                <p:nvPr/>
              </p:nvSpPr>
              <p:spPr bwMode="auto">
                <a:xfrm>
                  <a:off x="1666" y="2441"/>
                  <a:ext cx="23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I</a:t>
                  </a:r>
                </a:p>
              </p:txBody>
            </p:sp>
            <p:sp>
              <p:nvSpPr>
                <p:cNvPr id="23602" name="Rectangle 51" descr="新闻纸">
                  <a:extLst>
                    <a:ext uri="{FF2B5EF4-FFF2-40B4-BE49-F238E27FC236}">
                      <a16:creationId xmlns:a16="http://schemas.microsoft.com/office/drawing/2014/main" id="{8FB077AB-1890-2358-7706-085B20128390}"/>
                    </a:ext>
                  </a:extLst>
                </p:cNvPr>
                <p:cNvSpPr>
                  <a:spLocks noChangeArrowheads="1"/>
                </p:cNvSpPr>
                <p:nvPr/>
              </p:nvSpPr>
              <p:spPr bwMode="auto">
                <a:xfrm>
                  <a:off x="720" y="2935"/>
                  <a:ext cx="4162" cy="366"/>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23603" name="Line 52">
                  <a:extLst>
                    <a:ext uri="{FF2B5EF4-FFF2-40B4-BE49-F238E27FC236}">
                      <a16:creationId xmlns:a16="http://schemas.microsoft.com/office/drawing/2014/main" id="{4A040656-50FB-DFFA-B795-8F99EC9646C7}"/>
                    </a:ext>
                  </a:extLst>
                </p:cNvPr>
                <p:cNvSpPr>
                  <a:spLocks noChangeShapeType="1"/>
                </p:cNvSpPr>
                <p:nvPr/>
              </p:nvSpPr>
              <p:spPr bwMode="auto">
                <a:xfrm>
                  <a:off x="1377" y="2935"/>
                  <a:ext cx="1"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4" name="Text Box 53">
                  <a:extLst>
                    <a:ext uri="{FF2B5EF4-FFF2-40B4-BE49-F238E27FC236}">
                      <a16:creationId xmlns:a16="http://schemas.microsoft.com/office/drawing/2014/main" id="{4BB174BA-C45C-D34D-8E38-7590B157C00D}"/>
                    </a:ext>
                  </a:extLst>
                </p:cNvPr>
                <p:cNvSpPr txBox="1">
                  <a:spLocks noChangeArrowheads="1"/>
                </p:cNvSpPr>
                <p:nvPr/>
              </p:nvSpPr>
              <p:spPr bwMode="auto">
                <a:xfrm>
                  <a:off x="130" y="2954"/>
                  <a:ext cx="69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SS</a:t>
                  </a:r>
                  <a:r>
                    <a:rPr lang="zh-CN" altLang="en-US" sz="2200">
                      <a:solidFill>
                        <a:schemeClr val="tx1"/>
                      </a:solidFill>
                      <a:ea typeface="黑体" panose="02010609060101010101" pitchFamily="49" charset="-122"/>
                    </a:rPr>
                    <a:t>型</a:t>
                  </a:r>
                </a:p>
              </p:txBody>
            </p:sp>
            <p:sp>
              <p:nvSpPr>
                <p:cNvPr id="23605" name="Line 54">
                  <a:extLst>
                    <a:ext uri="{FF2B5EF4-FFF2-40B4-BE49-F238E27FC236}">
                      <a16:creationId xmlns:a16="http://schemas.microsoft.com/office/drawing/2014/main" id="{833B2C86-6F01-DB58-3C11-574D0BE4611B}"/>
                    </a:ext>
                  </a:extLst>
                </p:cNvPr>
                <p:cNvSpPr>
                  <a:spLocks noChangeShapeType="1"/>
                </p:cNvSpPr>
                <p:nvPr/>
              </p:nvSpPr>
              <p:spPr bwMode="auto">
                <a:xfrm>
                  <a:off x="2079" y="2935"/>
                  <a:ext cx="1"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6" name="Text Box 55">
                  <a:extLst>
                    <a:ext uri="{FF2B5EF4-FFF2-40B4-BE49-F238E27FC236}">
                      <a16:creationId xmlns:a16="http://schemas.microsoft.com/office/drawing/2014/main" id="{69EAF896-226A-7C94-1BBD-33AA7E60D0A7}"/>
                    </a:ext>
                  </a:extLst>
                </p:cNvPr>
                <p:cNvSpPr txBox="1">
                  <a:spLocks noChangeArrowheads="1"/>
                </p:cNvSpPr>
                <p:nvPr/>
              </p:nvSpPr>
              <p:spPr bwMode="auto">
                <a:xfrm>
                  <a:off x="835" y="2971"/>
                  <a:ext cx="43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OP</a:t>
                  </a:r>
                </a:p>
              </p:txBody>
            </p:sp>
            <p:sp>
              <p:nvSpPr>
                <p:cNvPr id="23607" name="Line 56">
                  <a:extLst>
                    <a:ext uri="{FF2B5EF4-FFF2-40B4-BE49-F238E27FC236}">
                      <a16:creationId xmlns:a16="http://schemas.microsoft.com/office/drawing/2014/main" id="{DE9C9B45-6608-CC55-921B-A87768AA66F7}"/>
                    </a:ext>
                  </a:extLst>
                </p:cNvPr>
                <p:cNvSpPr>
                  <a:spLocks noChangeShapeType="1"/>
                </p:cNvSpPr>
                <p:nvPr/>
              </p:nvSpPr>
              <p:spPr bwMode="auto">
                <a:xfrm>
                  <a:off x="2079" y="1387"/>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8" name="Line 57">
                  <a:extLst>
                    <a:ext uri="{FF2B5EF4-FFF2-40B4-BE49-F238E27FC236}">
                      <a16:creationId xmlns:a16="http://schemas.microsoft.com/office/drawing/2014/main" id="{235CC883-9BC5-F2E3-677C-A1070F95A584}"/>
                    </a:ext>
                  </a:extLst>
                </p:cNvPr>
                <p:cNvSpPr>
                  <a:spLocks noChangeShapeType="1"/>
                </p:cNvSpPr>
                <p:nvPr/>
              </p:nvSpPr>
              <p:spPr bwMode="auto">
                <a:xfrm>
                  <a:off x="2408" y="1387"/>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9" name="Line 58">
                  <a:extLst>
                    <a:ext uri="{FF2B5EF4-FFF2-40B4-BE49-F238E27FC236}">
                      <a16:creationId xmlns:a16="http://schemas.microsoft.com/office/drawing/2014/main" id="{57E142C1-6877-1E45-C506-EDEB19FDEE4F}"/>
                    </a:ext>
                  </a:extLst>
                </p:cNvPr>
                <p:cNvSpPr>
                  <a:spLocks noChangeShapeType="1"/>
                </p:cNvSpPr>
                <p:nvPr/>
              </p:nvSpPr>
              <p:spPr bwMode="auto">
                <a:xfrm>
                  <a:off x="2079" y="1884"/>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0" name="Line 59">
                  <a:extLst>
                    <a:ext uri="{FF2B5EF4-FFF2-40B4-BE49-F238E27FC236}">
                      <a16:creationId xmlns:a16="http://schemas.microsoft.com/office/drawing/2014/main" id="{6CE88BDF-C794-FEA6-6C31-DEF8D0EDE646}"/>
                    </a:ext>
                  </a:extLst>
                </p:cNvPr>
                <p:cNvSpPr>
                  <a:spLocks noChangeShapeType="1"/>
                </p:cNvSpPr>
                <p:nvPr/>
              </p:nvSpPr>
              <p:spPr bwMode="auto">
                <a:xfrm>
                  <a:off x="2408" y="1884"/>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1" name="Line 60">
                  <a:extLst>
                    <a:ext uri="{FF2B5EF4-FFF2-40B4-BE49-F238E27FC236}">
                      <a16:creationId xmlns:a16="http://schemas.microsoft.com/office/drawing/2014/main" id="{9618AAFF-3626-11CC-73B0-5D3875D4514A}"/>
                    </a:ext>
                  </a:extLst>
                </p:cNvPr>
                <p:cNvSpPr>
                  <a:spLocks noChangeShapeType="1"/>
                </p:cNvSpPr>
                <p:nvPr/>
              </p:nvSpPr>
              <p:spPr bwMode="auto">
                <a:xfrm>
                  <a:off x="2408" y="2935"/>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2" name="Line 61">
                  <a:extLst>
                    <a:ext uri="{FF2B5EF4-FFF2-40B4-BE49-F238E27FC236}">
                      <a16:creationId xmlns:a16="http://schemas.microsoft.com/office/drawing/2014/main" id="{4189759C-CDEC-B175-9FB7-7B961E63C5A3}"/>
                    </a:ext>
                  </a:extLst>
                </p:cNvPr>
                <p:cNvSpPr>
                  <a:spLocks noChangeShapeType="1"/>
                </p:cNvSpPr>
                <p:nvPr/>
              </p:nvSpPr>
              <p:spPr bwMode="auto">
                <a:xfrm>
                  <a:off x="3487" y="2935"/>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3" name="Text Box 62">
                  <a:extLst>
                    <a:ext uri="{FF2B5EF4-FFF2-40B4-BE49-F238E27FC236}">
                      <a16:creationId xmlns:a16="http://schemas.microsoft.com/office/drawing/2014/main" id="{F092F1AB-0CBD-CC32-6043-25D31EAC0E31}"/>
                    </a:ext>
                  </a:extLst>
                </p:cNvPr>
                <p:cNvSpPr txBox="1">
                  <a:spLocks noChangeArrowheads="1"/>
                </p:cNvSpPr>
                <p:nvPr/>
              </p:nvSpPr>
              <p:spPr bwMode="auto">
                <a:xfrm>
                  <a:off x="2130" y="1424"/>
                  <a:ext cx="29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B</a:t>
                  </a:r>
                </a:p>
              </p:txBody>
            </p:sp>
            <p:sp>
              <p:nvSpPr>
                <p:cNvPr id="23614" name="Text Box 63">
                  <a:extLst>
                    <a:ext uri="{FF2B5EF4-FFF2-40B4-BE49-F238E27FC236}">
                      <a16:creationId xmlns:a16="http://schemas.microsoft.com/office/drawing/2014/main" id="{71947930-E4DB-6E3A-5D8A-992E924B3FCC}"/>
                    </a:ext>
                  </a:extLst>
                </p:cNvPr>
                <p:cNvSpPr txBox="1">
                  <a:spLocks noChangeArrowheads="1"/>
                </p:cNvSpPr>
                <p:nvPr/>
              </p:nvSpPr>
              <p:spPr bwMode="auto">
                <a:xfrm>
                  <a:off x="2747" y="1420"/>
                  <a:ext cx="29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D</a:t>
                  </a:r>
                </a:p>
              </p:txBody>
            </p:sp>
            <p:sp>
              <p:nvSpPr>
                <p:cNvPr id="23615" name="Text Box 64">
                  <a:extLst>
                    <a:ext uri="{FF2B5EF4-FFF2-40B4-BE49-F238E27FC236}">
                      <a16:creationId xmlns:a16="http://schemas.microsoft.com/office/drawing/2014/main" id="{0234CE07-708A-1F1D-9332-A6FFF0071938}"/>
                    </a:ext>
                  </a:extLst>
                </p:cNvPr>
                <p:cNvSpPr txBox="1">
                  <a:spLocks noChangeArrowheads="1"/>
                </p:cNvSpPr>
                <p:nvPr/>
              </p:nvSpPr>
              <p:spPr bwMode="auto">
                <a:xfrm>
                  <a:off x="2124" y="1923"/>
                  <a:ext cx="29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B</a:t>
                  </a:r>
                </a:p>
              </p:txBody>
            </p:sp>
            <p:sp>
              <p:nvSpPr>
                <p:cNvPr id="23616" name="Text Box 65">
                  <a:extLst>
                    <a:ext uri="{FF2B5EF4-FFF2-40B4-BE49-F238E27FC236}">
                      <a16:creationId xmlns:a16="http://schemas.microsoft.com/office/drawing/2014/main" id="{0DF6DFA4-B270-7925-43B9-C76283808982}"/>
                    </a:ext>
                  </a:extLst>
                </p:cNvPr>
                <p:cNvSpPr txBox="1">
                  <a:spLocks noChangeArrowheads="1"/>
                </p:cNvSpPr>
                <p:nvPr/>
              </p:nvSpPr>
              <p:spPr bwMode="auto">
                <a:xfrm>
                  <a:off x="2741" y="1920"/>
                  <a:ext cx="29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D</a:t>
                  </a:r>
                </a:p>
              </p:txBody>
            </p:sp>
            <p:sp>
              <p:nvSpPr>
                <p:cNvPr id="23617" name="Line 66">
                  <a:extLst>
                    <a:ext uri="{FF2B5EF4-FFF2-40B4-BE49-F238E27FC236}">
                      <a16:creationId xmlns:a16="http://schemas.microsoft.com/office/drawing/2014/main" id="{A5F17D22-8D0C-4684-FED1-28F837531AE3}"/>
                    </a:ext>
                  </a:extLst>
                </p:cNvPr>
                <p:cNvSpPr>
                  <a:spLocks noChangeShapeType="1"/>
                </p:cNvSpPr>
                <p:nvPr/>
              </p:nvSpPr>
              <p:spPr bwMode="auto">
                <a:xfrm>
                  <a:off x="2079" y="2398"/>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8" name="Line 67">
                  <a:extLst>
                    <a:ext uri="{FF2B5EF4-FFF2-40B4-BE49-F238E27FC236}">
                      <a16:creationId xmlns:a16="http://schemas.microsoft.com/office/drawing/2014/main" id="{D8E3608C-6CF8-49A8-C589-03A50397F846}"/>
                    </a:ext>
                  </a:extLst>
                </p:cNvPr>
                <p:cNvSpPr>
                  <a:spLocks noChangeShapeType="1"/>
                </p:cNvSpPr>
                <p:nvPr/>
              </p:nvSpPr>
              <p:spPr bwMode="auto">
                <a:xfrm>
                  <a:off x="2408" y="2398"/>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9" name="Text Box 68">
                  <a:extLst>
                    <a:ext uri="{FF2B5EF4-FFF2-40B4-BE49-F238E27FC236}">
                      <a16:creationId xmlns:a16="http://schemas.microsoft.com/office/drawing/2014/main" id="{17F7BB23-5759-926A-6747-6CF5EE12D949}"/>
                    </a:ext>
                  </a:extLst>
                </p:cNvPr>
                <p:cNvSpPr txBox="1">
                  <a:spLocks noChangeArrowheads="1"/>
                </p:cNvSpPr>
                <p:nvPr/>
              </p:nvSpPr>
              <p:spPr bwMode="auto">
                <a:xfrm>
                  <a:off x="2124" y="2446"/>
                  <a:ext cx="29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B</a:t>
                  </a:r>
                </a:p>
              </p:txBody>
            </p:sp>
            <p:sp>
              <p:nvSpPr>
                <p:cNvPr id="23620" name="Text Box 69">
                  <a:extLst>
                    <a:ext uri="{FF2B5EF4-FFF2-40B4-BE49-F238E27FC236}">
                      <a16:creationId xmlns:a16="http://schemas.microsoft.com/office/drawing/2014/main" id="{1AC7D0FC-1474-4105-B84A-B0B33E4015C4}"/>
                    </a:ext>
                  </a:extLst>
                </p:cNvPr>
                <p:cNvSpPr txBox="1">
                  <a:spLocks noChangeArrowheads="1"/>
                </p:cNvSpPr>
                <p:nvPr/>
              </p:nvSpPr>
              <p:spPr bwMode="auto">
                <a:xfrm>
                  <a:off x="2741" y="2443"/>
                  <a:ext cx="29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D</a:t>
                  </a:r>
                </a:p>
              </p:txBody>
            </p:sp>
            <p:sp>
              <p:nvSpPr>
                <p:cNvPr id="23621" name="Line 70">
                  <a:extLst>
                    <a:ext uri="{FF2B5EF4-FFF2-40B4-BE49-F238E27FC236}">
                      <a16:creationId xmlns:a16="http://schemas.microsoft.com/office/drawing/2014/main" id="{E1019AEA-9CA4-3367-B425-78815924A02F}"/>
                    </a:ext>
                  </a:extLst>
                </p:cNvPr>
                <p:cNvSpPr>
                  <a:spLocks noChangeShapeType="1"/>
                </p:cNvSpPr>
                <p:nvPr/>
              </p:nvSpPr>
              <p:spPr bwMode="auto">
                <a:xfrm>
                  <a:off x="3840" y="2935"/>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22" name="Text Box 71">
                  <a:extLst>
                    <a:ext uri="{FF2B5EF4-FFF2-40B4-BE49-F238E27FC236}">
                      <a16:creationId xmlns:a16="http://schemas.microsoft.com/office/drawing/2014/main" id="{FA0DE83D-1EF4-E918-6311-3E498E309BF8}"/>
                    </a:ext>
                  </a:extLst>
                </p:cNvPr>
                <p:cNvSpPr txBox="1">
                  <a:spLocks noChangeArrowheads="1"/>
                </p:cNvSpPr>
                <p:nvPr/>
              </p:nvSpPr>
              <p:spPr bwMode="auto">
                <a:xfrm>
                  <a:off x="1666" y="2962"/>
                  <a:ext cx="23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L</a:t>
                  </a:r>
                </a:p>
              </p:txBody>
            </p:sp>
            <p:sp>
              <p:nvSpPr>
                <p:cNvPr id="23623" name="Text Box 72">
                  <a:extLst>
                    <a:ext uri="{FF2B5EF4-FFF2-40B4-BE49-F238E27FC236}">
                      <a16:creationId xmlns:a16="http://schemas.microsoft.com/office/drawing/2014/main" id="{947F4589-88EE-29A5-2C23-61A20B55B6D8}"/>
                    </a:ext>
                  </a:extLst>
                </p:cNvPr>
                <p:cNvSpPr txBox="1">
                  <a:spLocks noChangeArrowheads="1"/>
                </p:cNvSpPr>
                <p:nvPr/>
              </p:nvSpPr>
              <p:spPr bwMode="auto">
                <a:xfrm>
                  <a:off x="2066" y="2968"/>
                  <a:ext cx="352"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B1</a:t>
                  </a:r>
                </a:p>
              </p:txBody>
            </p:sp>
            <p:sp>
              <p:nvSpPr>
                <p:cNvPr id="23624" name="Text Box 73">
                  <a:extLst>
                    <a:ext uri="{FF2B5EF4-FFF2-40B4-BE49-F238E27FC236}">
                      <a16:creationId xmlns:a16="http://schemas.microsoft.com/office/drawing/2014/main" id="{5BA3860A-2EB7-3044-ACFA-72936585260E}"/>
                    </a:ext>
                  </a:extLst>
                </p:cNvPr>
                <p:cNvSpPr txBox="1">
                  <a:spLocks noChangeArrowheads="1"/>
                </p:cNvSpPr>
                <p:nvPr/>
              </p:nvSpPr>
              <p:spPr bwMode="auto">
                <a:xfrm>
                  <a:off x="2741" y="2964"/>
                  <a:ext cx="432"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D1</a:t>
                  </a:r>
                </a:p>
              </p:txBody>
            </p:sp>
            <p:sp>
              <p:nvSpPr>
                <p:cNvPr id="23625" name="Text Box 74">
                  <a:extLst>
                    <a:ext uri="{FF2B5EF4-FFF2-40B4-BE49-F238E27FC236}">
                      <a16:creationId xmlns:a16="http://schemas.microsoft.com/office/drawing/2014/main" id="{F218D6B3-6FEE-3B9E-F09F-D578F4D2E6F8}"/>
                    </a:ext>
                  </a:extLst>
                </p:cNvPr>
                <p:cNvSpPr txBox="1">
                  <a:spLocks noChangeArrowheads="1"/>
                </p:cNvSpPr>
                <p:nvPr/>
              </p:nvSpPr>
              <p:spPr bwMode="auto">
                <a:xfrm>
                  <a:off x="3487" y="2980"/>
                  <a:ext cx="35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B2</a:t>
                  </a:r>
                </a:p>
              </p:txBody>
            </p:sp>
            <p:sp>
              <p:nvSpPr>
                <p:cNvPr id="23626" name="Text Box 75">
                  <a:extLst>
                    <a:ext uri="{FF2B5EF4-FFF2-40B4-BE49-F238E27FC236}">
                      <a16:creationId xmlns:a16="http://schemas.microsoft.com/office/drawing/2014/main" id="{C57E3B33-FE14-25E6-6D51-438CBB4D75DF}"/>
                    </a:ext>
                  </a:extLst>
                </p:cNvPr>
                <p:cNvSpPr txBox="1">
                  <a:spLocks noChangeArrowheads="1"/>
                </p:cNvSpPr>
                <p:nvPr/>
              </p:nvSpPr>
              <p:spPr bwMode="auto">
                <a:xfrm>
                  <a:off x="4185" y="2977"/>
                  <a:ext cx="441"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rgbClr val="0033CC"/>
                      </a:solidFill>
                      <a:ea typeface="黑体" panose="02010609060101010101" pitchFamily="49" charset="-122"/>
                    </a:rPr>
                    <a:t>D2</a:t>
                  </a:r>
                </a:p>
              </p:txBody>
            </p:sp>
          </p:grpSp>
          <p:sp>
            <p:nvSpPr>
              <p:cNvPr id="23627" name="Text Box 76">
                <a:extLst>
                  <a:ext uri="{FF2B5EF4-FFF2-40B4-BE49-F238E27FC236}">
                    <a16:creationId xmlns:a16="http://schemas.microsoft.com/office/drawing/2014/main" id="{AC96FC6F-2BC4-1272-7E1B-F29DCB3C18D7}"/>
                  </a:ext>
                </a:extLst>
              </p:cNvPr>
              <p:cNvSpPr txBox="1">
                <a:spLocks noChangeArrowheads="1"/>
              </p:cNvSpPr>
              <p:nvPr/>
            </p:nvSpPr>
            <p:spPr bwMode="auto">
              <a:xfrm>
                <a:off x="4004" y="720"/>
                <a:ext cx="1420" cy="2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200">
                    <a:solidFill>
                      <a:schemeClr val="tx1"/>
                    </a:solidFill>
                    <a:ea typeface="黑体" panose="02010609060101010101" pitchFamily="49" charset="-122"/>
                  </a:rPr>
                  <a:t>Ri</a:t>
                </a:r>
                <a:r>
                  <a:rPr lang="zh-CN" altLang="en-US" sz="2200">
                    <a:solidFill>
                      <a:schemeClr val="tx1"/>
                    </a:solidFill>
                    <a:ea typeface="黑体" panose="02010609060101010101" pitchFamily="49" charset="-122"/>
                  </a:rPr>
                  <a:t>：寄存器</a:t>
                </a:r>
              </a:p>
              <a:p>
                <a:pPr eaLnBrk="0" hangingPunct="0">
                  <a:spcBef>
                    <a:spcPct val="50000"/>
                  </a:spcBef>
                </a:pPr>
                <a:r>
                  <a:rPr lang="en-US" altLang="zh-CN" sz="2200">
                    <a:solidFill>
                      <a:schemeClr val="tx1"/>
                    </a:solidFill>
                    <a:ea typeface="黑体" panose="02010609060101010101" pitchFamily="49" charset="-122"/>
                  </a:rPr>
                  <a:t>X</a:t>
                </a:r>
                <a:r>
                  <a:rPr lang="zh-CN" altLang="en-US" sz="2200">
                    <a:solidFill>
                      <a:schemeClr val="tx1"/>
                    </a:solidFill>
                    <a:ea typeface="黑体" panose="02010609060101010101" pitchFamily="49" charset="-122"/>
                  </a:rPr>
                  <a:t>：变址器</a:t>
                </a:r>
              </a:p>
              <a:p>
                <a:pPr eaLnBrk="0" hangingPunct="0">
                  <a:spcBef>
                    <a:spcPct val="50000"/>
                  </a:spcBef>
                </a:pPr>
                <a:r>
                  <a:rPr lang="en-US" altLang="zh-CN" sz="2200">
                    <a:solidFill>
                      <a:schemeClr val="tx1"/>
                    </a:solidFill>
                    <a:ea typeface="黑体" panose="02010609060101010101" pitchFamily="49" charset="-122"/>
                  </a:rPr>
                  <a:t>Bi</a:t>
                </a:r>
                <a:r>
                  <a:rPr lang="zh-CN" altLang="en-US" sz="2200">
                    <a:solidFill>
                      <a:schemeClr val="tx1"/>
                    </a:solidFill>
                    <a:ea typeface="黑体" panose="02010609060101010101" pitchFamily="49" charset="-122"/>
                  </a:rPr>
                  <a:t>：基址器</a:t>
                </a:r>
              </a:p>
              <a:p>
                <a:pPr eaLnBrk="0" hangingPunct="0">
                  <a:spcBef>
                    <a:spcPct val="50000"/>
                  </a:spcBef>
                </a:pPr>
                <a:r>
                  <a:rPr lang="en-US" altLang="zh-CN" sz="2200">
                    <a:solidFill>
                      <a:schemeClr val="tx1"/>
                    </a:solidFill>
                    <a:ea typeface="黑体" panose="02010609060101010101" pitchFamily="49" charset="-122"/>
                  </a:rPr>
                  <a:t>Di</a:t>
                </a:r>
                <a:r>
                  <a:rPr lang="zh-CN" altLang="en-US" sz="2200">
                    <a:solidFill>
                      <a:schemeClr val="tx1"/>
                    </a:solidFill>
                    <a:ea typeface="黑体" panose="02010609060101010101" pitchFamily="49" charset="-122"/>
                  </a:rPr>
                  <a:t>：位移量</a:t>
                </a:r>
              </a:p>
              <a:p>
                <a:pPr eaLnBrk="0" hangingPunct="0">
                  <a:spcBef>
                    <a:spcPct val="50000"/>
                  </a:spcBef>
                </a:pPr>
                <a:r>
                  <a:rPr lang="en-US" altLang="zh-CN" sz="2200">
                    <a:solidFill>
                      <a:schemeClr val="tx1"/>
                    </a:solidFill>
                    <a:ea typeface="黑体" panose="02010609060101010101" pitchFamily="49" charset="-122"/>
                  </a:rPr>
                  <a:t>I</a:t>
                </a:r>
                <a:r>
                  <a:rPr lang="zh-CN" altLang="en-US" sz="2200">
                    <a:solidFill>
                      <a:schemeClr val="tx1"/>
                    </a:solidFill>
                    <a:ea typeface="黑体" panose="02010609060101010101" pitchFamily="49" charset="-122"/>
                  </a:rPr>
                  <a:t>：立即数</a:t>
                </a:r>
              </a:p>
              <a:p>
                <a:pPr eaLnBrk="0" hangingPunct="0">
                  <a:spcBef>
                    <a:spcPct val="50000"/>
                  </a:spcBef>
                </a:pPr>
                <a:r>
                  <a:rPr lang="en-US" altLang="zh-CN" sz="2200">
                    <a:solidFill>
                      <a:schemeClr val="tx1"/>
                    </a:solidFill>
                    <a:ea typeface="黑体" panose="02010609060101010101" pitchFamily="49" charset="-122"/>
                  </a:rPr>
                  <a:t>L</a:t>
                </a:r>
                <a:r>
                  <a:rPr lang="zh-CN" altLang="en-US" sz="2200">
                    <a:solidFill>
                      <a:schemeClr val="tx1"/>
                    </a:solidFill>
                    <a:ea typeface="黑体" panose="02010609060101010101" pitchFamily="49" charset="-122"/>
                  </a:rPr>
                  <a:t>：数的长度</a:t>
                </a:r>
              </a:p>
            </p:txBody>
          </p:sp>
        </p:grpSp>
      </p:grpSp>
      <p:sp>
        <p:nvSpPr>
          <p:cNvPr id="23628" name="Text Box 78">
            <a:extLst>
              <a:ext uri="{FF2B5EF4-FFF2-40B4-BE49-F238E27FC236}">
                <a16:creationId xmlns:a16="http://schemas.microsoft.com/office/drawing/2014/main" id="{D73A9C69-4AA9-CC94-933D-8B95B972AF2F}"/>
              </a:ext>
            </a:extLst>
          </p:cNvPr>
          <p:cNvSpPr txBox="1">
            <a:spLocks noChangeArrowheads="1"/>
          </p:cNvSpPr>
          <p:nvPr/>
        </p:nvSpPr>
        <p:spPr bwMode="auto">
          <a:xfrm>
            <a:off x="769938" y="5354638"/>
            <a:ext cx="736441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25000"/>
              </a:spcBef>
            </a:pPr>
            <a:r>
              <a:rPr lang="en-US" altLang="zh-CN" sz="2000">
                <a:solidFill>
                  <a:srgbClr val="388A36"/>
                </a:solidFill>
                <a:ea typeface="黑体" panose="02010609060101010101" pitchFamily="49" charset="-122"/>
              </a:rPr>
              <a:t>RR</a:t>
            </a:r>
            <a:r>
              <a:rPr lang="zh-CN" altLang="en-US" sz="2000">
                <a:solidFill>
                  <a:srgbClr val="388A36"/>
                </a:solidFill>
                <a:ea typeface="黑体" panose="02010609060101010101" pitchFamily="49" charset="-122"/>
              </a:rPr>
              <a:t>：寄存器 </a:t>
            </a:r>
            <a:r>
              <a:rPr lang="en-US" altLang="zh-CN" sz="2000">
                <a:solidFill>
                  <a:srgbClr val="388A36"/>
                </a:solidFill>
                <a:ea typeface="黑体" panose="02010609060101010101" pitchFamily="49" charset="-122"/>
              </a:rPr>
              <a:t>- </a:t>
            </a:r>
            <a:r>
              <a:rPr lang="zh-CN" altLang="en-US" sz="2000">
                <a:solidFill>
                  <a:srgbClr val="388A36"/>
                </a:solidFill>
                <a:ea typeface="黑体" panose="02010609060101010101" pitchFamily="49" charset="-122"/>
              </a:rPr>
              <a:t>寄存器 	       	</a:t>
            </a:r>
            <a:r>
              <a:rPr lang="en-US" altLang="zh-CN" sz="2000">
                <a:solidFill>
                  <a:srgbClr val="388A36"/>
                </a:solidFill>
                <a:ea typeface="黑体" panose="02010609060101010101" pitchFamily="49" charset="-122"/>
              </a:rPr>
              <a:t>SS</a:t>
            </a:r>
            <a:r>
              <a:rPr lang="zh-CN" altLang="en-US" sz="2000">
                <a:solidFill>
                  <a:srgbClr val="388A36"/>
                </a:solidFill>
                <a:ea typeface="黑体" panose="02010609060101010101" pitchFamily="49" charset="-122"/>
              </a:rPr>
              <a:t>：基址存储器 </a:t>
            </a:r>
            <a:r>
              <a:rPr lang="en-US" altLang="zh-CN" sz="2000">
                <a:solidFill>
                  <a:srgbClr val="388A36"/>
                </a:solidFill>
                <a:ea typeface="黑体" panose="02010609060101010101" pitchFamily="49" charset="-122"/>
              </a:rPr>
              <a:t>- </a:t>
            </a:r>
            <a:r>
              <a:rPr lang="zh-CN" altLang="en-US" sz="2000">
                <a:solidFill>
                  <a:srgbClr val="388A36"/>
                </a:solidFill>
                <a:ea typeface="黑体" panose="02010609060101010101" pitchFamily="49" charset="-122"/>
              </a:rPr>
              <a:t>基址存储器</a:t>
            </a:r>
          </a:p>
          <a:p>
            <a:pPr eaLnBrk="0" hangingPunct="0">
              <a:spcBef>
                <a:spcPct val="25000"/>
              </a:spcBef>
            </a:pPr>
            <a:r>
              <a:rPr lang="en-US" altLang="zh-CN" sz="2000">
                <a:solidFill>
                  <a:srgbClr val="388A36"/>
                </a:solidFill>
                <a:ea typeface="黑体" panose="02010609060101010101" pitchFamily="49" charset="-122"/>
              </a:rPr>
              <a:t>RX</a:t>
            </a:r>
            <a:r>
              <a:rPr lang="zh-CN" altLang="en-US" sz="2000">
                <a:solidFill>
                  <a:srgbClr val="388A36"/>
                </a:solidFill>
                <a:ea typeface="黑体" panose="02010609060101010101" pitchFamily="49" charset="-122"/>
              </a:rPr>
              <a:t>：寄存器 </a:t>
            </a:r>
            <a:r>
              <a:rPr lang="en-US" altLang="zh-CN" sz="2000">
                <a:solidFill>
                  <a:srgbClr val="388A36"/>
                </a:solidFill>
                <a:ea typeface="黑体" panose="02010609060101010101" pitchFamily="49" charset="-122"/>
              </a:rPr>
              <a:t>- </a:t>
            </a:r>
            <a:r>
              <a:rPr lang="zh-CN" altLang="en-US" sz="2000">
                <a:solidFill>
                  <a:srgbClr val="388A36"/>
                </a:solidFill>
                <a:ea typeface="黑体" panose="02010609060101010101" pitchFamily="49" charset="-122"/>
              </a:rPr>
              <a:t>变址存储器	</a:t>
            </a:r>
            <a:r>
              <a:rPr lang="en-US" altLang="zh-CN" sz="2000">
                <a:solidFill>
                  <a:srgbClr val="388A36"/>
                </a:solidFill>
                <a:ea typeface="黑体" panose="02010609060101010101" pitchFamily="49" charset="-122"/>
              </a:rPr>
              <a:t>SI</a:t>
            </a:r>
            <a:r>
              <a:rPr lang="zh-CN" altLang="en-US" sz="2000">
                <a:solidFill>
                  <a:srgbClr val="388A36"/>
                </a:solidFill>
                <a:ea typeface="黑体" panose="02010609060101010101" pitchFamily="49" charset="-122"/>
              </a:rPr>
              <a:t>：基址存储器 </a:t>
            </a:r>
            <a:r>
              <a:rPr lang="en-US" altLang="zh-CN" sz="2000">
                <a:solidFill>
                  <a:srgbClr val="388A36"/>
                </a:solidFill>
                <a:ea typeface="黑体" panose="02010609060101010101" pitchFamily="49" charset="-122"/>
              </a:rPr>
              <a:t>- </a:t>
            </a:r>
            <a:r>
              <a:rPr lang="zh-CN" altLang="en-US" sz="2000">
                <a:solidFill>
                  <a:srgbClr val="388A36"/>
                </a:solidFill>
                <a:ea typeface="黑体" panose="02010609060101010101" pitchFamily="49" charset="-122"/>
              </a:rPr>
              <a:t>立即数</a:t>
            </a:r>
          </a:p>
          <a:p>
            <a:pPr eaLnBrk="0" hangingPunct="0">
              <a:spcBef>
                <a:spcPct val="25000"/>
              </a:spcBef>
            </a:pPr>
            <a:r>
              <a:rPr lang="en-US" altLang="zh-CN" sz="2000">
                <a:solidFill>
                  <a:srgbClr val="388A36"/>
                </a:solidFill>
                <a:ea typeface="黑体" panose="02010609060101010101" pitchFamily="49" charset="-122"/>
              </a:rPr>
              <a:t>RS</a:t>
            </a:r>
            <a:r>
              <a:rPr lang="zh-CN" altLang="en-US" sz="2000">
                <a:solidFill>
                  <a:srgbClr val="388A36"/>
                </a:solidFill>
                <a:ea typeface="黑体" panose="02010609060101010101" pitchFamily="49" charset="-122"/>
              </a:rPr>
              <a:t>：寄存器 </a:t>
            </a:r>
            <a:r>
              <a:rPr lang="en-US" altLang="zh-CN" sz="2000">
                <a:solidFill>
                  <a:srgbClr val="388A36"/>
                </a:solidFill>
                <a:ea typeface="黑体" panose="02010609060101010101" pitchFamily="49" charset="-122"/>
              </a:rPr>
              <a:t>– </a:t>
            </a:r>
            <a:r>
              <a:rPr lang="zh-CN" altLang="en-US" sz="2000">
                <a:solidFill>
                  <a:srgbClr val="388A36"/>
                </a:solidFill>
                <a:ea typeface="黑体" panose="02010609060101010101" pitchFamily="49" charset="-122"/>
              </a:rPr>
              <a:t>基址存储器</a:t>
            </a:r>
          </a:p>
        </p:txBody>
      </p:sp>
      <p:sp>
        <p:nvSpPr>
          <p:cNvPr id="78" name="TextBox 77">
            <a:extLst>
              <a:ext uri="{FF2B5EF4-FFF2-40B4-BE49-F238E27FC236}">
                <a16:creationId xmlns:a16="http://schemas.microsoft.com/office/drawing/2014/main" id="{D9265FFB-4A85-6827-8BEB-EE99CF3C2622}"/>
              </a:ext>
            </a:extLst>
          </p:cNvPr>
          <p:cNvSpPr txBox="1">
            <a:spLocks noChangeArrowheads="1"/>
          </p:cNvSpPr>
          <p:nvPr/>
        </p:nvSpPr>
        <p:spPr bwMode="auto">
          <a:xfrm>
            <a:off x="4162425" y="6149975"/>
            <a:ext cx="4640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a:solidFill>
                  <a:schemeClr val="tx1"/>
                </a:solidFill>
                <a:latin typeface="黑体" panose="02010609060101010101" pitchFamily="49" charset="-122"/>
                <a:ea typeface="黑体" panose="02010609060101010101" pitchFamily="49" charset="-122"/>
              </a:rPr>
              <a:t>格式：定长操作码、变长指令字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blinds(horizontal)">
                                      <p:cBhvr>
                                        <p:cTn id="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BFE89B40-9E1C-1A54-7516-D9533B6C3CEF}"/>
              </a:ext>
            </a:extLst>
          </p:cNvPr>
          <p:cNvSpPr>
            <a:spLocks noGrp="1" noChangeArrowheads="1"/>
          </p:cNvSpPr>
          <p:nvPr>
            <p:ph type="title"/>
          </p:nvPr>
        </p:nvSpPr>
        <p:spPr>
          <a:xfrm>
            <a:off x="711200" y="114300"/>
            <a:ext cx="6805613" cy="368300"/>
          </a:xfrm>
        </p:spPr>
        <p:txBody>
          <a:bodyPr/>
          <a:lstStyle/>
          <a:p>
            <a:r>
              <a:rPr lang="zh-CN" altLang="en-US">
                <a:ea typeface="宋体" panose="02010600030101010101" pitchFamily="2" charset="-122"/>
              </a:rPr>
              <a:t>扩展（变长）操作码编码 </a:t>
            </a:r>
            <a:r>
              <a:rPr lang="en-US" altLang="zh-CN">
                <a:ea typeface="宋体" panose="02010600030101010101" pitchFamily="2" charset="-122"/>
              </a:rPr>
              <a:t>Expanding Opcodes</a:t>
            </a:r>
          </a:p>
        </p:txBody>
      </p:sp>
      <p:sp>
        <p:nvSpPr>
          <p:cNvPr id="388099" name="Rectangle 3">
            <a:extLst>
              <a:ext uri="{FF2B5EF4-FFF2-40B4-BE49-F238E27FC236}">
                <a16:creationId xmlns:a16="http://schemas.microsoft.com/office/drawing/2014/main" id="{A8DD241B-FA05-4634-DB63-F8AF7C882178}"/>
              </a:ext>
            </a:extLst>
          </p:cNvPr>
          <p:cNvSpPr>
            <a:spLocks noChangeArrowheads="1"/>
          </p:cNvSpPr>
          <p:nvPr/>
        </p:nvSpPr>
        <p:spPr bwMode="auto">
          <a:xfrm>
            <a:off x="242888" y="660400"/>
            <a:ext cx="8605837"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35000"/>
              </a:spcBef>
              <a:buFont typeface="Wingdings" panose="05000000000000000000" pitchFamily="2" charset="2"/>
              <a:buNone/>
            </a:pPr>
            <a:r>
              <a:rPr lang="zh-CN" altLang="en-US" sz="2000">
                <a:solidFill>
                  <a:schemeClr val="tx1"/>
                </a:solidFill>
                <a:ea typeface="黑体" panose="02010609060101010101" pitchFamily="49" charset="-122"/>
              </a:rPr>
              <a:t>    </a:t>
            </a:r>
            <a:r>
              <a:rPr lang="zh-CN" altLang="en-US" sz="2000">
                <a:solidFill>
                  <a:schemeClr val="tx1"/>
                </a:solidFill>
                <a:latin typeface="微软雅黑" panose="020B0503020204020204" pitchFamily="34" charset="-122"/>
                <a:ea typeface="微软雅黑" panose="020B0503020204020204" pitchFamily="34" charset="-122"/>
              </a:rPr>
              <a:t>基本思想</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将操作码的编码长度分成几种固定长的格式。被大多数指令集采用。</a:t>
            </a:r>
            <a:r>
              <a:rPr lang="en-US" altLang="zh-CN" sz="2000">
                <a:solidFill>
                  <a:srgbClr val="0000FF"/>
                </a:solidFill>
                <a:latin typeface="微软雅黑" panose="020B0503020204020204" pitchFamily="34" charset="-122"/>
                <a:ea typeface="微软雅黑" panose="020B0503020204020204" pitchFamily="34" charset="-122"/>
              </a:rPr>
              <a:t>PDP-11</a:t>
            </a:r>
            <a:r>
              <a:rPr lang="zh-CN" altLang="en-US" sz="2000">
                <a:solidFill>
                  <a:srgbClr val="0000FF"/>
                </a:solidFill>
                <a:latin typeface="微软雅黑" panose="020B0503020204020204" pitchFamily="34" charset="-122"/>
                <a:ea typeface="微软雅黑" panose="020B0503020204020204" pitchFamily="34" charset="-122"/>
              </a:rPr>
              <a:t>是典型的变长操作码机器。</a:t>
            </a:r>
          </a:p>
          <a:p>
            <a:pPr eaLnBrk="0" hangingPunct="0">
              <a:lnSpc>
                <a:spcPct val="115000"/>
              </a:lnSpc>
              <a:spcBef>
                <a:spcPct val="35000"/>
              </a:spcBef>
              <a:buFont typeface="Wingdings" panose="05000000000000000000" pitchFamily="2" charset="2"/>
              <a:buNone/>
            </a:pPr>
            <a:r>
              <a:rPr lang="zh-CN" altLang="en-US" sz="2000">
                <a:solidFill>
                  <a:schemeClr val="tx1"/>
                </a:solidFill>
                <a:latin typeface="微软雅黑" panose="020B0503020204020204" pitchFamily="34" charset="-122"/>
                <a:ea typeface="微软雅黑" panose="020B0503020204020204" pitchFamily="34" charset="-122"/>
              </a:rPr>
              <a:t>    种类</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等长扩展法：4-8-12；3-6-9；…... / 不等长扩展法</a:t>
            </a:r>
          </a:p>
          <a:p>
            <a:pPr eaLnBrk="0" hangingPunct="0">
              <a:lnSpc>
                <a:spcPct val="115000"/>
              </a:lnSpc>
              <a:spcBef>
                <a:spcPct val="35000"/>
              </a:spcBef>
              <a:buFont typeface="Wingdings" panose="05000000000000000000" pitchFamily="2" charset="2"/>
              <a:buNone/>
            </a:pPr>
            <a:r>
              <a:rPr lang="zh-CN" altLang="en-US" sz="2000">
                <a:solidFill>
                  <a:schemeClr val="tx1"/>
                </a:solidFill>
                <a:latin typeface="微软雅黑" panose="020B0503020204020204" pitchFamily="34" charset="-122"/>
                <a:ea typeface="微软雅黑" panose="020B0503020204020204" pitchFamily="34" charset="-122"/>
              </a:rPr>
              <a:t>    举例说明如何扩展</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设某指令系统指令字是16位，每个地址码为6位。若二地址指令15条，一地址指令34条，则剩下零地址指令最多有多少条？</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解:操作码按短到长进行扩展编码</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     二地址指令</a:t>
            </a:r>
            <a:r>
              <a:rPr lang="en-US" altLang="zh-CN" sz="2000">
                <a:solidFill>
                  <a:srgbClr val="0000FF"/>
                </a:solidFill>
                <a:latin typeface="微软雅黑" panose="020B0503020204020204" pitchFamily="34" charset="-122"/>
                <a:ea typeface="微软雅黑" panose="020B0503020204020204" pitchFamily="34" charset="-122"/>
                <a:sym typeface="Wingdings" panose="05000000000000000000" pitchFamily="2" charset="2"/>
              </a:rPr>
              <a:t>: (</a:t>
            </a:r>
            <a:r>
              <a:rPr lang="en-US" altLang="zh-CN" sz="2000">
                <a:solidFill>
                  <a:srgbClr val="0000FF"/>
                </a:solidFill>
                <a:latin typeface="微软雅黑" panose="020B0503020204020204" pitchFamily="34" charset="-122"/>
                <a:ea typeface="微软雅黑" panose="020B0503020204020204" pitchFamily="34" charset="-122"/>
              </a:rPr>
              <a:t>0000 </a:t>
            </a:r>
            <a:r>
              <a:rPr lang="zh-CN" altLang="en-US" sz="2000">
                <a:solidFill>
                  <a:srgbClr val="0000FF"/>
                </a:solidFill>
                <a:latin typeface="微软雅黑" panose="020B0503020204020204" pitchFamily="34" charset="-122"/>
                <a:ea typeface="微软雅黑" panose="020B0503020204020204" pitchFamily="34" charset="-122"/>
              </a:rPr>
              <a:t>～ </a:t>
            </a:r>
            <a:r>
              <a:rPr lang="en-US" altLang="zh-CN" sz="2000">
                <a:solidFill>
                  <a:srgbClr val="0000FF"/>
                </a:solidFill>
                <a:latin typeface="微软雅黑" panose="020B0503020204020204" pitchFamily="34" charset="-122"/>
                <a:ea typeface="微软雅黑" panose="020B0503020204020204" pitchFamily="34" charset="-122"/>
              </a:rPr>
              <a:t>1110) </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     一地址指令: </a:t>
            </a:r>
            <a:r>
              <a:rPr lang="zh-CN" altLang="en-US" sz="2000">
                <a:solidFill>
                  <a:srgbClr val="C2228D"/>
                </a:solidFill>
                <a:latin typeface="微软雅黑" panose="020B0503020204020204" pitchFamily="34" charset="-122"/>
                <a:ea typeface="微软雅黑" panose="020B0503020204020204" pitchFamily="34" charset="-122"/>
              </a:rPr>
              <a:t>11110</a:t>
            </a:r>
            <a:r>
              <a:rPr lang="zh-CN" altLang="en-US" sz="2000">
                <a:solidFill>
                  <a:srgbClr val="0000FF"/>
                </a:solidFill>
                <a:latin typeface="微软雅黑" panose="020B0503020204020204" pitchFamily="34" charset="-122"/>
                <a:ea typeface="微软雅黑" panose="020B0503020204020204" pitchFamily="34" charset="-122"/>
              </a:rPr>
              <a:t> </a:t>
            </a:r>
            <a:r>
              <a:rPr lang="en-US" altLang="zh-CN" sz="2000">
                <a:solidFill>
                  <a:srgbClr val="0000FF"/>
                </a:solidFill>
                <a:latin typeface="微软雅黑" panose="020B0503020204020204" pitchFamily="34" charset="-122"/>
                <a:ea typeface="微软雅黑" panose="020B0503020204020204" pitchFamily="34" charset="-122"/>
              </a:rPr>
              <a:t>(00000 </a:t>
            </a:r>
            <a:r>
              <a:rPr lang="zh-CN" altLang="en-US" sz="2000">
                <a:solidFill>
                  <a:srgbClr val="0000FF"/>
                </a:solidFill>
                <a:latin typeface="微软雅黑" panose="020B0503020204020204" pitchFamily="34" charset="-122"/>
                <a:ea typeface="微软雅黑" panose="020B0503020204020204" pitchFamily="34" charset="-122"/>
              </a:rPr>
              <a:t>～</a:t>
            </a:r>
            <a:r>
              <a:rPr lang="en-US" altLang="zh-CN" sz="2000">
                <a:solidFill>
                  <a:srgbClr val="0000FF"/>
                </a:solidFill>
                <a:latin typeface="微软雅黑" panose="020B0503020204020204" pitchFamily="34" charset="-122"/>
                <a:ea typeface="微软雅黑" panose="020B0503020204020204" pitchFamily="34" charset="-122"/>
              </a:rPr>
              <a:t> 11111); </a:t>
            </a:r>
            <a:r>
              <a:rPr lang="en-US" altLang="zh-CN" sz="2000">
                <a:solidFill>
                  <a:srgbClr val="C2228D"/>
                </a:solidFill>
                <a:latin typeface="微软雅黑" panose="020B0503020204020204" pitchFamily="34" charset="-122"/>
                <a:ea typeface="微软雅黑" panose="020B0503020204020204" pitchFamily="34" charset="-122"/>
              </a:rPr>
              <a:t>11111</a:t>
            </a:r>
            <a:r>
              <a:rPr lang="en-US" altLang="zh-CN" sz="2000">
                <a:solidFill>
                  <a:srgbClr val="0000FF"/>
                </a:solidFill>
                <a:latin typeface="微软雅黑" panose="020B0503020204020204" pitchFamily="34" charset="-122"/>
                <a:ea typeface="微软雅黑" panose="020B0503020204020204" pitchFamily="34" charset="-122"/>
              </a:rPr>
              <a:t> (00000 </a:t>
            </a:r>
            <a:r>
              <a:rPr lang="zh-CN" altLang="en-US" sz="2000">
                <a:solidFill>
                  <a:srgbClr val="0000FF"/>
                </a:solidFill>
                <a:latin typeface="微软雅黑" panose="020B0503020204020204" pitchFamily="34" charset="-122"/>
                <a:ea typeface="微软雅黑" panose="020B0503020204020204" pitchFamily="34" charset="-122"/>
              </a:rPr>
              <a:t>～</a:t>
            </a:r>
            <a:r>
              <a:rPr lang="en-US" altLang="zh-CN" sz="2000">
                <a:solidFill>
                  <a:srgbClr val="0000FF"/>
                </a:solidFill>
                <a:latin typeface="微软雅黑" panose="020B0503020204020204" pitchFamily="34" charset="-122"/>
                <a:ea typeface="微软雅黑" panose="020B0503020204020204" pitchFamily="34" charset="-122"/>
              </a:rPr>
              <a:t> 00001) </a:t>
            </a:r>
          </a:p>
          <a:p>
            <a:pPr eaLnBrk="0" hangingPunct="0">
              <a:lnSpc>
                <a:spcPct val="115000"/>
              </a:lnSpc>
              <a:spcBef>
                <a:spcPct val="35000"/>
              </a:spcBef>
              <a:buFont typeface="Monotype Sorts"/>
              <a:buChar char=" "/>
            </a:pPr>
            <a:r>
              <a:rPr lang="zh-CN" altLang="en-US" sz="2000">
                <a:solidFill>
                  <a:srgbClr val="0000FF"/>
                </a:solidFill>
                <a:latin typeface="微软雅黑" panose="020B0503020204020204" pitchFamily="34" charset="-122"/>
                <a:ea typeface="微软雅黑" panose="020B0503020204020204" pitchFamily="34" charset="-122"/>
              </a:rPr>
              <a:t>     零地址指令: </a:t>
            </a:r>
            <a:r>
              <a:rPr lang="zh-CN" altLang="en-US" sz="2000">
                <a:solidFill>
                  <a:srgbClr val="C2228D"/>
                </a:solidFill>
                <a:latin typeface="微软雅黑" panose="020B0503020204020204" pitchFamily="34" charset="-122"/>
                <a:ea typeface="微软雅黑" panose="020B0503020204020204" pitchFamily="34" charset="-122"/>
              </a:rPr>
              <a:t>11111</a:t>
            </a:r>
            <a:r>
              <a:rPr lang="zh-CN" altLang="en-US" sz="2000">
                <a:solidFill>
                  <a:srgbClr val="0000FF"/>
                </a:solidFill>
                <a:latin typeface="微软雅黑" panose="020B0503020204020204" pitchFamily="34" charset="-122"/>
                <a:ea typeface="微软雅黑" panose="020B0503020204020204" pitchFamily="34" charset="-122"/>
              </a:rPr>
              <a:t> </a:t>
            </a:r>
            <a:r>
              <a:rPr lang="en-US" altLang="zh-CN" sz="2000">
                <a:solidFill>
                  <a:srgbClr val="0000FF"/>
                </a:solidFill>
                <a:latin typeface="微软雅黑" panose="020B0503020204020204" pitchFamily="34" charset="-122"/>
                <a:ea typeface="微软雅黑" panose="020B0503020204020204" pitchFamily="34" charset="-122"/>
              </a:rPr>
              <a:t>(00010 </a:t>
            </a:r>
            <a:r>
              <a:rPr lang="zh-CN" altLang="en-US" sz="2000">
                <a:solidFill>
                  <a:srgbClr val="0000FF"/>
                </a:solidFill>
                <a:latin typeface="微软雅黑" panose="020B0503020204020204" pitchFamily="34" charset="-122"/>
                <a:ea typeface="微软雅黑" panose="020B0503020204020204" pitchFamily="34" charset="-122"/>
              </a:rPr>
              <a:t>～</a:t>
            </a:r>
            <a:r>
              <a:rPr lang="en-US" altLang="zh-CN" sz="2000">
                <a:solidFill>
                  <a:srgbClr val="0000FF"/>
                </a:solidFill>
                <a:latin typeface="微软雅黑" panose="020B0503020204020204" pitchFamily="34" charset="-122"/>
                <a:ea typeface="微软雅黑" panose="020B0503020204020204" pitchFamily="34" charset="-122"/>
              </a:rPr>
              <a:t> 11111) (000000 </a:t>
            </a:r>
            <a:r>
              <a:rPr lang="zh-CN" altLang="en-US" sz="2000">
                <a:solidFill>
                  <a:srgbClr val="0000FF"/>
                </a:solidFill>
                <a:latin typeface="微软雅黑" panose="020B0503020204020204" pitchFamily="34" charset="-122"/>
                <a:ea typeface="微软雅黑" panose="020B0503020204020204" pitchFamily="34" charset="-122"/>
              </a:rPr>
              <a:t>～</a:t>
            </a:r>
            <a:r>
              <a:rPr lang="en-US" altLang="zh-CN" sz="2000">
                <a:solidFill>
                  <a:srgbClr val="0000FF"/>
                </a:solidFill>
                <a:latin typeface="微软雅黑" panose="020B0503020204020204" pitchFamily="34" charset="-122"/>
                <a:ea typeface="微软雅黑" panose="020B0503020204020204" pitchFamily="34" charset="-122"/>
              </a:rPr>
              <a:t> 111111)</a:t>
            </a:r>
          </a:p>
          <a:p>
            <a:pPr eaLnBrk="0" hangingPunct="0">
              <a:lnSpc>
                <a:spcPct val="115000"/>
              </a:lnSpc>
              <a:spcBef>
                <a:spcPct val="35000"/>
              </a:spcBef>
              <a:buFont typeface="Monotype Sorts"/>
              <a:buChar char=" "/>
            </a:pPr>
            <a:r>
              <a:rPr lang="zh-CN" altLang="en-US" sz="2000" b="0">
                <a:solidFill>
                  <a:srgbClr val="0000FF"/>
                </a:solidFill>
                <a:latin typeface="微软雅黑" panose="020B0503020204020204" pitchFamily="34" charset="-122"/>
                <a:ea typeface="微软雅黑" panose="020B0503020204020204" pitchFamily="34" charset="-122"/>
              </a:rPr>
              <a:t>     </a:t>
            </a:r>
            <a:r>
              <a:rPr lang="zh-CN" altLang="en-US" sz="2000">
                <a:solidFill>
                  <a:srgbClr val="0000FF"/>
                </a:solidFill>
                <a:latin typeface="微软雅黑" panose="020B0503020204020204" pitchFamily="34" charset="-122"/>
                <a:ea typeface="微软雅黑" panose="020B0503020204020204" pitchFamily="34" charset="-122"/>
              </a:rPr>
              <a:t>故零地址指令最多有 30</a:t>
            </a:r>
            <a:r>
              <a:rPr lang="en-US" altLang="zh-CN" sz="2000">
                <a:solidFill>
                  <a:srgbClr val="0000FF"/>
                </a:solidFill>
                <a:latin typeface="微软雅黑" panose="020B0503020204020204" pitchFamily="34" charset="-122"/>
                <a:ea typeface="微软雅黑" panose="020B0503020204020204" pitchFamily="34" charset="-122"/>
              </a:rPr>
              <a:t>x2</a:t>
            </a:r>
            <a:r>
              <a:rPr lang="en-US" altLang="zh-CN" sz="2000" baseline="38000">
                <a:solidFill>
                  <a:srgbClr val="0000FF"/>
                </a:solidFill>
                <a:latin typeface="微软雅黑" panose="020B0503020204020204" pitchFamily="34" charset="-122"/>
                <a:ea typeface="微软雅黑" panose="020B0503020204020204" pitchFamily="34" charset="-122"/>
              </a:rPr>
              <a:t>6</a:t>
            </a:r>
            <a:r>
              <a:rPr lang="en-US" altLang="zh-CN" sz="2000">
                <a:solidFill>
                  <a:srgbClr val="0000FF"/>
                </a:solidFill>
                <a:latin typeface="微软雅黑" panose="020B0503020204020204" pitchFamily="34" charset="-122"/>
                <a:ea typeface="微软雅黑" panose="020B0503020204020204" pitchFamily="34" charset="-122"/>
              </a:rPr>
              <a:t>=15x2</a:t>
            </a:r>
            <a:r>
              <a:rPr lang="en-US" altLang="zh-CN" sz="2000" baseline="38000">
                <a:solidFill>
                  <a:srgbClr val="0000FF"/>
                </a:solidFill>
                <a:latin typeface="微软雅黑" panose="020B0503020204020204" pitchFamily="34" charset="-122"/>
                <a:ea typeface="微软雅黑" panose="020B0503020204020204" pitchFamily="34" charset="-122"/>
              </a:rPr>
              <a:t>7</a:t>
            </a:r>
            <a:r>
              <a:rPr lang="en-US" altLang="zh-CN" sz="2000">
                <a:solidFill>
                  <a:srgbClr val="0000FF"/>
                </a:solidFill>
                <a:latin typeface="微软雅黑" panose="020B0503020204020204" pitchFamily="34" charset="-122"/>
                <a:ea typeface="微软雅黑" panose="020B0503020204020204" pitchFamily="34" charset="-122"/>
              </a:rPr>
              <a:t> </a:t>
            </a:r>
            <a:r>
              <a:rPr lang="zh-CN" altLang="en-US" sz="2000">
                <a:solidFill>
                  <a:srgbClr val="0000FF"/>
                </a:solidFill>
                <a:latin typeface="微软雅黑" panose="020B0503020204020204" pitchFamily="34" charset="-122"/>
                <a:ea typeface="微软雅黑" panose="020B0503020204020204" pitchFamily="34" charset="-122"/>
              </a:rPr>
              <a:t>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8099">
                                            <p:txEl>
                                              <p:pRg st="1" end="1"/>
                                            </p:txEl>
                                          </p:spTgt>
                                        </p:tgtEl>
                                        <p:attrNameLst>
                                          <p:attrName>style.visibility</p:attrName>
                                        </p:attrNameLst>
                                      </p:cBhvr>
                                      <p:to>
                                        <p:strVal val="visible"/>
                                      </p:to>
                                    </p:set>
                                    <p:animEffect transition="in" filter="blinds(horizontal)">
                                      <p:cBhvr>
                                        <p:cTn id="7" dur="500"/>
                                        <p:tgtEl>
                                          <p:spTgt spid="3880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8099">
                                            <p:txEl>
                                              <p:pRg st="3" end="3"/>
                                            </p:txEl>
                                          </p:spTgt>
                                        </p:tgtEl>
                                        <p:attrNameLst>
                                          <p:attrName>style.visibility</p:attrName>
                                        </p:attrNameLst>
                                      </p:cBhvr>
                                      <p:to>
                                        <p:strVal val="visible"/>
                                      </p:to>
                                    </p:set>
                                    <p:animEffect transition="in" filter="blinds(horizontal)">
                                      <p:cBhvr>
                                        <p:cTn id="12" dur="500"/>
                                        <p:tgtEl>
                                          <p:spTgt spid="38809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8099">
                                            <p:txEl>
                                              <p:pRg st="5" end="5"/>
                                            </p:txEl>
                                          </p:spTgt>
                                        </p:tgtEl>
                                        <p:attrNameLst>
                                          <p:attrName>style.visibility</p:attrName>
                                        </p:attrNameLst>
                                      </p:cBhvr>
                                      <p:to>
                                        <p:strVal val="visible"/>
                                      </p:to>
                                    </p:set>
                                    <p:animEffect transition="in" filter="blinds(horizontal)">
                                      <p:cBhvr>
                                        <p:cTn id="17" dur="500"/>
                                        <p:tgtEl>
                                          <p:spTgt spid="388099">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8099">
                                            <p:txEl>
                                              <p:pRg st="6" end="6"/>
                                            </p:txEl>
                                          </p:spTgt>
                                        </p:tgtEl>
                                        <p:attrNameLst>
                                          <p:attrName>style.visibility</p:attrName>
                                        </p:attrNameLst>
                                      </p:cBhvr>
                                      <p:to>
                                        <p:strVal val="visible"/>
                                      </p:to>
                                    </p:set>
                                    <p:animEffect transition="in" filter="blinds(horizontal)">
                                      <p:cBhvr>
                                        <p:cTn id="22" dur="500"/>
                                        <p:tgtEl>
                                          <p:spTgt spid="388099">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8099">
                                            <p:txEl>
                                              <p:pRg st="7" end="7"/>
                                            </p:txEl>
                                          </p:spTgt>
                                        </p:tgtEl>
                                        <p:attrNameLst>
                                          <p:attrName>style.visibility</p:attrName>
                                        </p:attrNameLst>
                                      </p:cBhvr>
                                      <p:to>
                                        <p:strVal val="visible"/>
                                      </p:to>
                                    </p:set>
                                    <p:animEffect transition="in" filter="blinds(horizontal)">
                                      <p:cBhvr>
                                        <p:cTn id="27" dur="500"/>
                                        <p:tgtEl>
                                          <p:spTgt spid="388099">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88099">
                                            <p:txEl>
                                              <p:pRg st="8" end="8"/>
                                            </p:txEl>
                                          </p:spTgt>
                                        </p:tgtEl>
                                        <p:attrNameLst>
                                          <p:attrName>style.visibility</p:attrName>
                                        </p:attrNameLst>
                                      </p:cBhvr>
                                      <p:to>
                                        <p:strVal val="visible"/>
                                      </p:to>
                                    </p:set>
                                    <p:animEffect transition="in" filter="blinds(horizontal)">
                                      <p:cBhvr>
                                        <p:cTn id="32" dur="500"/>
                                        <p:tgtEl>
                                          <p:spTgt spid="388099">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88099">
                                            <p:txEl>
                                              <p:pRg st="9" end="9"/>
                                            </p:txEl>
                                          </p:spTgt>
                                        </p:tgtEl>
                                        <p:attrNameLst>
                                          <p:attrName>style.visibility</p:attrName>
                                        </p:attrNameLst>
                                      </p:cBhvr>
                                      <p:to>
                                        <p:strVal val="visible"/>
                                      </p:to>
                                    </p:set>
                                    <p:animEffect transition="in" filter="blinds(horizontal)">
                                      <p:cBhvr>
                                        <p:cTn id="37" dur="500"/>
                                        <p:tgtEl>
                                          <p:spTgt spid="388099">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88099">
                                            <p:txEl>
                                              <p:pRg st="10" end="10"/>
                                            </p:txEl>
                                          </p:spTgt>
                                        </p:tgtEl>
                                        <p:attrNameLst>
                                          <p:attrName>style.visibility</p:attrName>
                                        </p:attrNameLst>
                                      </p:cBhvr>
                                      <p:to>
                                        <p:strVal val="visible"/>
                                      </p:to>
                                    </p:set>
                                    <p:animEffect transition="in" filter="blinds(horizontal)">
                                      <p:cBhvr>
                                        <p:cTn id="42" dur="500"/>
                                        <p:tgtEl>
                                          <p:spTgt spid="3880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7FD9D06-E8A2-4D0B-9EF5-CEEF565E6BFF}"/>
              </a:ext>
            </a:extLst>
          </p:cNvPr>
          <p:cNvSpPr>
            <a:spLocks noGrp="1" noChangeArrowheads="1"/>
          </p:cNvSpPr>
          <p:nvPr>
            <p:ph type="title"/>
          </p:nvPr>
        </p:nvSpPr>
        <p:spPr>
          <a:xfrm>
            <a:off x="820738" y="139700"/>
            <a:ext cx="6924675" cy="368300"/>
          </a:xfrm>
        </p:spPr>
        <p:txBody>
          <a:bodyPr/>
          <a:lstStyle/>
          <a:p>
            <a:r>
              <a:rPr lang="zh-CN" altLang="en-US">
                <a:ea typeface="宋体" panose="02010600030101010101" pitchFamily="2" charset="-122"/>
              </a:rPr>
              <a:t>条件测试方式</a:t>
            </a:r>
            <a:endParaRPr lang="en-US" altLang="zh-CN">
              <a:ea typeface="宋体" panose="02010600030101010101" pitchFamily="2" charset="-122"/>
            </a:endParaRPr>
          </a:p>
        </p:txBody>
      </p:sp>
      <p:sp>
        <p:nvSpPr>
          <p:cNvPr id="391171" name="Rectangle 3">
            <a:extLst>
              <a:ext uri="{FF2B5EF4-FFF2-40B4-BE49-F238E27FC236}">
                <a16:creationId xmlns:a16="http://schemas.microsoft.com/office/drawing/2014/main" id="{BBCD325F-9B71-C942-8E1E-61A217CB8EAC}"/>
              </a:ext>
            </a:extLst>
          </p:cNvPr>
          <p:cNvSpPr>
            <a:spLocks noGrp="1" noChangeArrowheads="1"/>
          </p:cNvSpPr>
          <p:nvPr>
            <p:ph idx="1"/>
          </p:nvPr>
        </p:nvSpPr>
        <p:spPr>
          <a:xfrm>
            <a:off x="157163" y="708025"/>
            <a:ext cx="8986837" cy="5580063"/>
          </a:xfrm>
        </p:spPr>
        <p:txBody>
          <a:bodyPr lIns="63500" tIns="25400" rIns="63500" bIns="25400">
            <a:spAutoFit/>
          </a:bodyPr>
          <a:lstStyle/>
          <a:p>
            <a:pPr marL="342900" indent="-342900">
              <a:lnSpc>
                <a:spcPct val="120000"/>
              </a:lnSpc>
              <a:spcBef>
                <a:spcPct val="20000"/>
              </a:spcBef>
              <a:buFont typeface="Wingdings" panose="05000000000000000000" pitchFamily="2" charset="2"/>
              <a:buNone/>
              <a:tabLst>
                <a:tab pos="965200" algn="l"/>
              </a:tabLst>
              <a:defRPr/>
            </a:pPr>
            <a:r>
              <a:rPr lang="zh-CN" altLang="en-US" sz="1600" dirty="0"/>
              <a:t>° </a:t>
            </a:r>
            <a:r>
              <a:rPr lang="zh-CN" altLang="en-US" sz="1800" dirty="0">
                <a:latin typeface="微软雅黑" panose="020B0503020204020204" pitchFamily="34" charset="-122"/>
                <a:ea typeface="微软雅黑" panose="020B0503020204020204" pitchFamily="34" charset="-122"/>
              </a:rPr>
              <a:t>条件转移指令通常根据</a:t>
            </a:r>
            <a:r>
              <a:rPr lang="en-US" altLang="zh-CN" sz="1800" dirty="0">
                <a:solidFill>
                  <a:schemeClr val="accent1"/>
                </a:solidFill>
                <a:latin typeface="微软雅黑" panose="020B0503020204020204" pitchFamily="34" charset="-122"/>
                <a:ea typeface="微软雅黑" panose="020B0503020204020204" pitchFamily="34" charset="-122"/>
              </a:rPr>
              <a:t>Condition Codes (</a:t>
            </a:r>
            <a:r>
              <a:rPr lang="zh-CN" altLang="en-US" sz="1800" dirty="0">
                <a:solidFill>
                  <a:schemeClr val="accent1"/>
                </a:solidFill>
                <a:latin typeface="微软雅黑" panose="020B0503020204020204" pitchFamily="34" charset="-122"/>
                <a:ea typeface="微软雅黑" panose="020B0503020204020204" pitchFamily="34" charset="-122"/>
              </a:rPr>
              <a:t>条件码 </a:t>
            </a:r>
            <a:r>
              <a:rPr lang="en-US" altLang="zh-CN" sz="1800" dirty="0">
                <a:solidFill>
                  <a:schemeClr val="accent1"/>
                </a:solidFill>
                <a:latin typeface="微软雅黑" panose="020B0503020204020204" pitchFamily="34" charset="-122"/>
                <a:ea typeface="微软雅黑" panose="020B0503020204020204" pitchFamily="34" charset="-122"/>
              </a:rPr>
              <a:t>CC/ </a:t>
            </a:r>
            <a:r>
              <a:rPr lang="zh-CN" altLang="en-US" sz="1800" dirty="0">
                <a:solidFill>
                  <a:schemeClr val="accent1"/>
                </a:solidFill>
                <a:latin typeface="微软雅黑" panose="020B0503020204020204" pitchFamily="34" charset="-122"/>
                <a:ea typeface="微软雅黑" panose="020B0503020204020204" pitchFamily="34" charset="-122"/>
              </a:rPr>
              <a:t>状态位 </a:t>
            </a:r>
            <a:r>
              <a:rPr lang="en-US" altLang="zh-CN" sz="1800" dirty="0">
                <a:solidFill>
                  <a:schemeClr val="accent1"/>
                </a:solidFill>
                <a:latin typeface="微软雅黑" panose="020B0503020204020204" pitchFamily="34" charset="-122"/>
                <a:ea typeface="微软雅黑" panose="020B0503020204020204" pitchFamily="34" charset="-122"/>
              </a:rPr>
              <a:t>/ </a:t>
            </a:r>
            <a:r>
              <a:rPr lang="zh-CN" altLang="en-US" sz="1800" dirty="0">
                <a:solidFill>
                  <a:schemeClr val="accent1"/>
                </a:solidFill>
                <a:latin typeface="微软雅黑" panose="020B0503020204020204" pitchFamily="34" charset="-122"/>
                <a:ea typeface="微软雅黑" panose="020B0503020204020204" pitchFamily="34" charset="-122"/>
              </a:rPr>
              <a:t>标志位</a:t>
            </a:r>
            <a:r>
              <a:rPr lang="en-US" altLang="zh-CN" sz="1800" dirty="0">
                <a:solidFill>
                  <a:schemeClr val="accent1"/>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转移 </a:t>
            </a:r>
            <a:endParaRPr lang="en-US" altLang="zh-CN" sz="1800" dirty="0">
              <a:solidFill>
                <a:schemeClr val="accent1"/>
              </a:solidFill>
              <a:latin typeface="微软雅黑" panose="020B0503020204020204" pitchFamily="34" charset="-122"/>
              <a:ea typeface="微软雅黑" panose="020B0503020204020204" pitchFamily="34" charset="-122"/>
            </a:endParaRPr>
          </a:p>
          <a:p>
            <a:pPr marL="342900" indent="-342900">
              <a:lnSpc>
                <a:spcPct val="12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zh-CN" altLang="en-US" sz="1800" dirty="0">
                <a:solidFill>
                  <a:schemeClr val="accent2"/>
                </a:solidFill>
                <a:latin typeface="微软雅黑" panose="020B0503020204020204" pitchFamily="34" charset="-122"/>
                <a:ea typeface="微软雅黑" panose="020B0503020204020204" pitchFamily="34" charset="-122"/>
              </a:rPr>
              <a:t>通过执行算术指令或显式地由比较和测试指令来设置</a:t>
            </a:r>
            <a:r>
              <a:rPr lang="en-US" altLang="zh-CN" sz="1800" dirty="0">
                <a:solidFill>
                  <a:schemeClr val="accent2"/>
                </a:solidFill>
                <a:latin typeface="微软雅黑" panose="020B0503020204020204" pitchFamily="34" charset="-122"/>
                <a:ea typeface="微软雅黑" panose="020B0503020204020204" pitchFamily="34" charset="-122"/>
              </a:rPr>
              <a:t>CC</a:t>
            </a:r>
          </a:p>
          <a:p>
            <a:pPr marL="342900" indent="-342900">
              <a:lnSpc>
                <a:spcPct val="10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en-US" altLang="zh-CN" sz="1800" dirty="0">
                <a:solidFill>
                  <a:srgbClr val="A50021"/>
                </a:solidFill>
                <a:latin typeface="微软雅黑" panose="020B0503020204020204" pitchFamily="34" charset="-122"/>
                <a:ea typeface="微软雅黑" panose="020B0503020204020204" pitchFamily="34" charset="-122"/>
              </a:rPr>
              <a:t>ex: sub</a:t>
            </a:r>
            <a:r>
              <a:rPr lang="zh-CN" altLang="en-US" sz="1800" dirty="0">
                <a:solidFill>
                  <a:srgbClr val="A50021"/>
                </a:solidFill>
                <a:latin typeface="微软雅黑" panose="020B0503020204020204" pitchFamily="34" charset="-122"/>
                <a:ea typeface="微软雅黑" panose="020B0503020204020204" pitchFamily="34" charset="-122"/>
              </a:rPr>
              <a:t> </a:t>
            </a:r>
            <a:r>
              <a:rPr lang="en-US" altLang="zh-CN" sz="1800" dirty="0">
                <a:solidFill>
                  <a:srgbClr val="A50021"/>
                </a:solidFill>
                <a:latin typeface="微软雅黑" panose="020B0503020204020204" pitchFamily="34" charset="-122"/>
                <a:ea typeface="微软雅黑" panose="020B0503020204020204" pitchFamily="34" charset="-122"/>
              </a:rPr>
              <a:t>r1, r2, r3   ;r2</a:t>
            </a:r>
            <a:r>
              <a:rPr lang="zh-CN" altLang="en-US" sz="1800" dirty="0">
                <a:solidFill>
                  <a:srgbClr val="A50021"/>
                </a:solidFill>
                <a:latin typeface="微软雅黑" panose="020B0503020204020204" pitchFamily="34" charset="-122"/>
                <a:ea typeface="微软雅黑" panose="020B0503020204020204" pitchFamily="34" charset="-122"/>
              </a:rPr>
              <a:t>和</a:t>
            </a:r>
            <a:r>
              <a:rPr lang="en-US" altLang="zh-CN" sz="1800" dirty="0">
                <a:solidFill>
                  <a:srgbClr val="A50021"/>
                </a:solidFill>
                <a:latin typeface="微软雅黑" panose="020B0503020204020204" pitchFamily="34" charset="-122"/>
                <a:ea typeface="微软雅黑" panose="020B0503020204020204" pitchFamily="34" charset="-122"/>
              </a:rPr>
              <a:t>r3</a:t>
            </a:r>
            <a:r>
              <a:rPr lang="zh-CN" altLang="en-US" sz="1800" dirty="0">
                <a:solidFill>
                  <a:srgbClr val="A50021"/>
                </a:solidFill>
                <a:latin typeface="微软雅黑" panose="020B0503020204020204" pitchFamily="34" charset="-122"/>
                <a:ea typeface="微软雅黑" panose="020B0503020204020204" pitchFamily="34" charset="-122"/>
              </a:rPr>
              <a:t>相减</a:t>
            </a:r>
            <a:r>
              <a:rPr lang="en-US" altLang="zh-CN" sz="1800" dirty="0">
                <a:solidFill>
                  <a:srgbClr val="A50021"/>
                </a:solidFill>
                <a:latin typeface="微软雅黑" panose="020B0503020204020204" pitchFamily="34" charset="-122"/>
                <a:ea typeface="微软雅黑" panose="020B0503020204020204" pitchFamily="34" charset="-122"/>
              </a:rPr>
              <a:t>, </a:t>
            </a:r>
            <a:r>
              <a:rPr lang="zh-CN" altLang="en-US" sz="1800" dirty="0">
                <a:solidFill>
                  <a:srgbClr val="A50021"/>
                </a:solidFill>
                <a:latin typeface="微软雅黑" panose="020B0503020204020204" pitchFamily="34" charset="-122"/>
                <a:ea typeface="微软雅黑" panose="020B0503020204020204" pitchFamily="34" charset="-122"/>
              </a:rPr>
              <a:t>结果在</a:t>
            </a:r>
            <a:r>
              <a:rPr lang="en-US" altLang="zh-CN" sz="1800" dirty="0">
                <a:solidFill>
                  <a:srgbClr val="A50021"/>
                </a:solidFill>
                <a:latin typeface="微软雅黑" panose="020B0503020204020204" pitchFamily="34" charset="-122"/>
                <a:ea typeface="微软雅黑" panose="020B0503020204020204" pitchFamily="34" charset="-122"/>
              </a:rPr>
              <a:t>r1</a:t>
            </a:r>
            <a:r>
              <a:rPr lang="zh-CN" altLang="en-US" sz="1800" dirty="0">
                <a:solidFill>
                  <a:srgbClr val="A50021"/>
                </a:solidFill>
                <a:latin typeface="微软雅黑" panose="020B0503020204020204" pitchFamily="34" charset="-122"/>
                <a:ea typeface="微软雅黑" panose="020B0503020204020204" pitchFamily="34" charset="-122"/>
              </a:rPr>
              <a:t>中，并生成标志位</a:t>
            </a:r>
            <a:r>
              <a:rPr lang="en-US" altLang="zh-CN" sz="1800" dirty="0">
                <a:solidFill>
                  <a:srgbClr val="A50021"/>
                </a:solidFill>
                <a:latin typeface="微软雅黑" panose="020B0503020204020204" pitchFamily="34" charset="-122"/>
                <a:ea typeface="微软雅黑" panose="020B0503020204020204" pitchFamily="34" charset="-122"/>
              </a:rPr>
              <a:t>ZF</a:t>
            </a:r>
            <a:r>
              <a:rPr lang="zh-CN" altLang="en-US" sz="1800" dirty="0">
                <a:solidFill>
                  <a:srgbClr val="A50021"/>
                </a:solidFill>
                <a:latin typeface="微软雅黑" panose="020B0503020204020204" pitchFamily="34" charset="-122"/>
                <a:ea typeface="微软雅黑" panose="020B0503020204020204" pitchFamily="34" charset="-122"/>
              </a:rPr>
              <a:t>、</a:t>
            </a:r>
            <a:r>
              <a:rPr lang="en-US" altLang="zh-CN" sz="1800" dirty="0">
                <a:solidFill>
                  <a:srgbClr val="A50021"/>
                </a:solidFill>
                <a:latin typeface="微软雅黑" panose="020B0503020204020204" pitchFamily="34" charset="-122"/>
                <a:ea typeface="微软雅黑" panose="020B0503020204020204" pitchFamily="34" charset="-122"/>
              </a:rPr>
              <a:t>CF</a:t>
            </a:r>
            <a:r>
              <a:rPr lang="zh-CN" altLang="en-US" sz="1800" dirty="0">
                <a:solidFill>
                  <a:srgbClr val="A50021"/>
                </a:solidFill>
                <a:latin typeface="微软雅黑" panose="020B0503020204020204" pitchFamily="34" charset="-122"/>
                <a:ea typeface="微软雅黑" panose="020B0503020204020204" pitchFamily="34" charset="-122"/>
              </a:rPr>
              <a:t>等</a:t>
            </a:r>
          </a:p>
          <a:p>
            <a:pPr marL="342900" indent="-342900">
              <a:lnSpc>
                <a:spcPct val="100000"/>
              </a:lnSpc>
              <a:spcBef>
                <a:spcPct val="20000"/>
              </a:spcBef>
              <a:buFont typeface="Wingdings" panose="05000000000000000000" pitchFamily="2" charset="2"/>
              <a:buNone/>
              <a:tabLst>
                <a:tab pos="965200" algn="l"/>
              </a:tabLst>
              <a:defRPr/>
            </a:pPr>
            <a:r>
              <a:rPr lang="en-US" altLang="zh-CN" sz="1800" dirty="0">
                <a:solidFill>
                  <a:srgbClr val="A50021"/>
                </a:solidFill>
                <a:latin typeface="微软雅黑" panose="020B0503020204020204" pitchFamily="34" charset="-122"/>
                <a:ea typeface="微软雅黑" panose="020B0503020204020204" pitchFamily="34" charset="-122"/>
              </a:rPr>
              <a:t>	       </a:t>
            </a:r>
            <a:r>
              <a:rPr lang="en-US" altLang="zh-CN" sz="1800" dirty="0" err="1">
                <a:solidFill>
                  <a:srgbClr val="A50021"/>
                </a:solidFill>
                <a:latin typeface="微软雅黑" panose="020B0503020204020204" pitchFamily="34" charset="-122"/>
                <a:ea typeface="微软雅黑" panose="020B0503020204020204" pitchFamily="34" charset="-122"/>
              </a:rPr>
              <a:t>bz</a:t>
            </a:r>
            <a:r>
              <a:rPr lang="en-US" altLang="zh-CN" sz="1800" dirty="0">
                <a:solidFill>
                  <a:srgbClr val="A50021"/>
                </a:solidFill>
                <a:latin typeface="微软雅黑" panose="020B0503020204020204" pitchFamily="34" charset="-122"/>
                <a:ea typeface="微软雅黑" panose="020B0503020204020204" pitchFamily="34" charset="-122"/>
              </a:rPr>
              <a:t> label</a:t>
            </a:r>
            <a:r>
              <a:rPr lang="zh-CN" altLang="en-US" sz="1800" dirty="0">
                <a:solidFill>
                  <a:srgbClr val="A50021"/>
                </a:solidFill>
                <a:latin typeface="微软雅黑" panose="020B0503020204020204" pitchFamily="34" charset="-122"/>
                <a:ea typeface="微软雅黑" panose="020B0503020204020204" pitchFamily="34" charset="-122"/>
              </a:rPr>
              <a:t>	         </a:t>
            </a:r>
            <a:r>
              <a:rPr lang="en-US" altLang="zh-CN" sz="1800" dirty="0">
                <a:solidFill>
                  <a:srgbClr val="A50021"/>
                </a:solidFill>
                <a:latin typeface="微软雅黑" panose="020B0503020204020204" pitchFamily="34" charset="-122"/>
                <a:ea typeface="微软雅黑" panose="020B0503020204020204" pitchFamily="34" charset="-122"/>
              </a:rPr>
              <a:t>;</a:t>
            </a:r>
            <a:r>
              <a:rPr lang="zh-CN" altLang="en-US" sz="1800" dirty="0">
                <a:solidFill>
                  <a:srgbClr val="A50021"/>
                </a:solidFill>
                <a:latin typeface="微软雅黑" panose="020B0503020204020204" pitchFamily="34" charset="-122"/>
                <a:ea typeface="微软雅黑" panose="020B0503020204020204" pitchFamily="34" charset="-122"/>
              </a:rPr>
              <a:t>标志位</a:t>
            </a:r>
            <a:r>
              <a:rPr lang="en-US" altLang="zh-CN" sz="1800" dirty="0">
                <a:solidFill>
                  <a:srgbClr val="A50021"/>
                </a:solidFill>
                <a:latin typeface="微软雅黑" panose="020B0503020204020204" pitchFamily="34" charset="-122"/>
                <a:ea typeface="微软雅黑" panose="020B0503020204020204" pitchFamily="34" charset="-122"/>
              </a:rPr>
              <a:t>ZF=1</a:t>
            </a:r>
            <a:r>
              <a:rPr lang="zh-CN" altLang="en-US" sz="1800" dirty="0">
                <a:solidFill>
                  <a:srgbClr val="A50021"/>
                </a:solidFill>
                <a:latin typeface="微软雅黑" panose="020B0503020204020204" pitchFamily="34" charset="-122"/>
                <a:ea typeface="微软雅黑" panose="020B0503020204020204" pitchFamily="34" charset="-122"/>
              </a:rPr>
              <a:t>时转到</a:t>
            </a:r>
            <a:r>
              <a:rPr lang="en-US" altLang="zh-CN" sz="1800" dirty="0">
                <a:solidFill>
                  <a:srgbClr val="A50021"/>
                </a:solidFill>
                <a:latin typeface="微软雅黑" panose="020B0503020204020204" pitchFamily="34" charset="-122"/>
                <a:ea typeface="微软雅黑" panose="020B0503020204020204" pitchFamily="34" charset="-122"/>
              </a:rPr>
              <a:t>label</a:t>
            </a:r>
            <a:r>
              <a:rPr lang="zh-CN" altLang="en-US" sz="1800" dirty="0">
                <a:solidFill>
                  <a:srgbClr val="A50021"/>
                </a:solidFill>
                <a:latin typeface="微软雅黑" panose="020B0503020204020204" pitchFamily="34" charset="-122"/>
                <a:ea typeface="微软雅黑" panose="020B0503020204020204" pitchFamily="34" charset="-122"/>
              </a:rPr>
              <a:t>处执行；否则顺序执行</a:t>
            </a:r>
          </a:p>
          <a:p>
            <a:pPr marL="342900" indent="-342900">
              <a:lnSpc>
                <a:spcPct val="135000"/>
              </a:lnSpc>
              <a:spcBef>
                <a:spcPct val="20000"/>
              </a:spcBef>
              <a:buFont typeface="Wingdings" panose="05000000000000000000" pitchFamily="2" charset="2"/>
              <a:buNone/>
              <a:tabLst>
                <a:tab pos="965200" algn="l"/>
              </a:tabLst>
              <a:defRPr/>
            </a:pPr>
            <a:r>
              <a:rPr lang="zh-CN" altLang="en-US" sz="16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常用的标志（条件码）有四种（</a:t>
            </a:r>
            <a:r>
              <a:rPr lang="zh-CN" altLang="en-US" sz="1800" dirty="0">
                <a:solidFill>
                  <a:srgbClr val="C51915"/>
                </a:solidFill>
                <a:latin typeface="微软雅黑" panose="020B0503020204020204" pitchFamily="34" charset="-122"/>
                <a:ea typeface="微软雅黑" panose="020B0503020204020204" pitchFamily="34" charset="-122"/>
              </a:rPr>
              <a:t>哪四种？</a:t>
            </a:r>
            <a:r>
              <a:rPr lang="zh-CN" altLang="en-US" sz="1800" dirty="0">
                <a:latin typeface="微软雅黑" panose="020B0503020204020204" pitchFamily="34" charset="-122"/>
                <a:ea typeface="微软雅黑" panose="020B0503020204020204" pitchFamily="34" charset="-122"/>
              </a:rPr>
              <a:t>）</a:t>
            </a:r>
            <a:endParaRPr lang="zh-CN" altLang="en-US" sz="1800" i="1" dirty="0">
              <a:latin typeface="微软雅黑" panose="020B0503020204020204" pitchFamily="34" charset="-122"/>
              <a:ea typeface="微软雅黑" panose="020B0503020204020204" pitchFamily="34" charset="-122"/>
            </a:endParaRPr>
          </a:p>
          <a:p>
            <a:pPr marL="342900" indent="-342900">
              <a:lnSpc>
                <a:spcPct val="10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en-US" altLang="zh-CN" sz="1800" dirty="0">
                <a:solidFill>
                  <a:schemeClr val="accent2"/>
                </a:solidFill>
                <a:latin typeface="微软雅黑" panose="020B0503020204020204" pitchFamily="34" charset="-122"/>
                <a:ea typeface="微软雅黑" panose="020B0503020204020204" pitchFamily="34" charset="-122"/>
              </a:rPr>
              <a:t>SF – negative   OF</a:t>
            </a:r>
            <a:r>
              <a:rPr lang="zh-CN" altLang="en-US" sz="1800" dirty="0">
                <a:solidFill>
                  <a:schemeClr val="accent2"/>
                </a:solidFill>
                <a:latin typeface="微软雅黑" panose="020B0503020204020204" pitchFamily="34" charset="-122"/>
                <a:ea typeface="微软雅黑" panose="020B0503020204020204" pitchFamily="34" charset="-122"/>
              </a:rPr>
              <a:t> </a:t>
            </a:r>
            <a:r>
              <a:rPr lang="en-US" altLang="zh-CN" sz="1800" dirty="0">
                <a:solidFill>
                  <a:schemeClr val="accent2"/>
                </a:solidFill>
                <a:latin typeface="微软雅黑" panose="020B0503020204020204" pitchFamily="34" charset="-122"/>
                <a:ea typeface="微软雅黑" panose="020B0503020204020204" pitchFamily="34" charset="-122"/>
              </a:rPr>
              <a:t> – overflow  </a:t>
            </a:r>
          </a:p>
          <a:p>
            <a:pPr marL="342900" indent="-342900">
              <a:lnSpc>
                <a:spcPct val="100000"/>
              </a:lnSpc>
              <a:spcBef>
                <a:spcPct val="20000"/>
              </a:spcBef>
              <a:buFont typeface="Wingdings" panose="05000000000000000000" pitchFamily="2" charset="2"/>
              <a:buNone/>
              <a:tabLst>
                <a:tab pos="965200" algn="l"/>
              </a:tabLst>
              <a:defRPr/>
            </a:pPr>
            <a:r>
              <a:rPr lang="en-US" altLang="zh-CN" sz="1800" dirty="0">
                <a:solidFill>
                  <a:schemeClr val="accent2"/>
                </a:solidFill>
                <a:latin typeface="微软雅黑" panose="020B0503020204020204" pitchFamily="34" charset="-122"/>
                <a:ea typeface="微软雅黑" panose="020B0503020204020204" pitchFamily="34" charset="-122"/>
              </a:rPr>
              <a:t>      </a:t>
            </a:r>
            <a:r>
              <a:rPr lang="en-US" altLang="zh-CN" sz="1800" dirty="0">
                <a:solidFill>
                  <a:schemeClr val="accent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CF – </a:t>
            </a:r>
            <a:r>
              <a:rPr lang="zh-CN" altLang="en-US" sz="1800" dirty="0">
                <a:solidFill>
                  <a:schemeClr val="accent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进位</a:t>
            </a:r>
            <a:r>
              <a:rPr lang="en-US" altLang="zh-CN" sz="1800" dirty="0">
                <a:solidFill>
                  <a:schemeClr val="accent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1800" dirty="0">
                <a:solidFill>
                  <a:schemeClr val="accent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借位</a:t>
            </a:r>
            <a:r>
              <a:rPr lang="zh-CN" altLang="en-US" dirty="0">
                <a:solidFill>
                  <a:schemeClr val="accent2"/>
                </a:solidFill>
                <a:latin typeface="微软雅黑" panose="020B0503020204020204" pitchFamily="34" charset="-122"/>
                <a:ea typeface="微软雅黑" panose="020B0503020204020204" pitchFamily="34" charset="-122"/>
              </a:rPr>
              <a:t>   </a:t>
            </a:r>
            <a:r>
              <a:rPr lang="zh-CN" altLang="en-US" sz="1800" dirty="0">
                <a:solidFill>
                  <a:schemeClr val="accent2"/>
                </a:solidFill>
                <a:latin typeface="微软雅黑" panose="020B0503020204020204" pitchFamily="34" charset="-122"/>
                <a:ea typeface="微软雅黑" panose="020B0503020204020204" pitchFamily="34" charset="-122"/>
              </a:rPr>
              <a:t> </a:t>
            </a:r>
            <a:r>
              <a:rPr lang="en-US" altLang="zh-CN" sz="1800" dirty="0">
                <a:solidFill>
                  <a:schemeClr val="accent2"/>
                </a:solidFill>
                <a:latin typeface="微软雅黑" panose="020B0503020204020204" pitchFamily="34" charset="-122"/>
                <a:ea typeface="微软雅黑" panose="020B0503020204020204" pitchFamily="34" charset="-122"/>
              </a:rPr>
              <a:t>ZF – zero</a:t>
            </a:r>
          </a:p>
          <a:p>
            <a:pPr marL="342900" indent="-342900">
              <a:lnSpc>
                <a:spcPct val="10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借位如何生成？</a:t>
            </a:r>
            <a:r>
              <a:rPr lang="en-US" altLang="zh-CN" sz="1800" dirty="0">
                <a:latin typeface="微软雅黑" panose="020B0503020204020204" pitchFamily="34" charset="-122"/>
                <a:ea typeface="微软雅黑" panose="020B0503020204020204" pitchFamily="34" charset="-122"/>
              </a:rPr>
              <a:t>CF=</a:t>
            </a:r>
            <a:r>
              <a:rPr lang="en-US" altLang="zh-CN" sz="1800" dirty="0" err="1">
                <a:latin typeface="微软雅黑" panose="020B0503020204020204" pitchFamily="34" charset="-122"/>
                <a:ea typeface="微软雅黑" panose="020B0503020204020204" pitchFamily="34" charset="-122"/>
              </a:rPr>
              <a:t>Cout⊕sub</a:t>
            </a:r>
            <a:endParaRPr lang="en-US" altLang="zh-CN" sz="1800" dirty="0">
              <a:latin typeface="微软雅黑" panose="020B0503020204020204" pitchFamily="34" charset="-122"/>
              <a:ea typeface="微软雅黑" panose="020B0503020204020204" pitchFamily="34" charset="-122"/>
            </a:endParaRPr>
          </a:p>
          <a:p>
            <a:pPr marL="342900" indent="-342900">
              <a:lnSpc>
                <a:spcPct val="12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标志可存</a:t>
            </a:r>
            <a:r>
              <a:rPr lang="zh-CN" altLang="en-US" sz="1800" dirty="0">
                <a:solidFill>
                  <a:schemeClr val="accent1"/>
                </a:solidFill>
                <a:latin typeface="微软雅黑" panose="020B0503020204020204" pitchFamily="34" charset="-122"/>
                <a:ea typeface="微软雅黑" panose="020B0503020204020204" pitchFamily="34" charset="-122"/>
              </a:rPr>
              <a:t>标志寄存器</a:t>
            </a:r>
            <a:r>
              <a:rPr lang="en-US" altLang="zh-CN" sz="1800" dirty="0">
                <a:latin typeface="微软雅黑" panose="020B0503020204020204" pitchFamily="34" charset="-122"/>
                <a:ea typeface="微软雅黑" panose="020B0503020204020204" pitchFamily="34" charset="-122"/>
              </a:rPr>
              <a:t>/</a:t>
            </a:r>
            <a:r>
              <a:rPr lang="zh-CN" altLang="en-US" sz="1800" dirty="0">
                <a:solidFill>
                  <a:schemeClr val="accent1"/>
                </a:solidFill>
                <a:latin typeface="微软雅黑" panose="020B0503020204020204" pitchFamily="34" charset="-122"/>
                <a:ea typeface="微软雅黑" panose="020B0503020204020204" pitchFamily="34" charset="-122"/>
              </a:rPr>
              <a:t>条件码寄存器</a:t>
            </a:r>
          </a:p>
          <a:p>
            <a:pPr marL="342900" indent="-342900">
              <a:lnSpc>
                <a:spcPct val="120000"/>
              </a:lnSpc>
              <a:spcBef>
                <a:spcPct val="20000"/>
              </a:spcBef>
              <a:buFont typeface="Wingdings" panose="05000000000000000000" pitchFamily="2" charset="2"/>
              <a:buNone/>
              <a:tabLst>
                <a:tab pos="965200" algn="l"/>
              </a:tabLst>
              <a:defRPr/>
            </a:pPr>
            <a:r>
              <a:rPr lang="en-US" altLang="zh-CN" sz="1800" dirty="0">
                <a:solidFill>
                  <a:schemeClr val="accent1"/>
                </a:solidFill>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a:t>
            </a:r>
            <a:r>
              <a:rPr lang="zh-CN" altLang="en-US" sz="1800" dirty="0">
                <a:solidFill>
                  <a:schemeClr val="accent1"/>
                </a:solidFill>
                <a:latin typeface="微软雅黑" panose="020B0503020204020204" pitchFamily="34" charset="-122"/>
                <a:ea typeface="微软雅黑" panose="020B0503020204020204" pitchFamily="34" charset="-122"/>
              </a:rPr>
              <a:t>状态寄存器</a:t>
            </a:r>
            <a:r>
              <a:rPr lang="en-US" altLang="zh-CN" sz="1800" dirty="0">
                <a:latin typeface="微软雅黑" panose="020B0503020204020204" pitchFamily="34" charset="-122"/>
                <a:ea typeface="微软雅黑" panose="020B0503020204020204" pitchFamily="34" charset="-122"/>
              </a:rPr>
              <a:t>/</a:t>
            </a:r>
            <a:r>
              <a:rPr lang="zh-CN" altLang="en-US" sz="1800" dirty="0">
                <a:solidFill>
                  <a:schemeClr val="accent1"/>
                </a:solidFill>
                <a:latin typeface="微软雅黑" panose="020B0503020204020204" pitchFamily="34" charset="-122"/>
                <a:ea typeface="微软雅黑" panose="020B0503020204020204" pitchFamily="34" charset="-122"/>
              </a:rPr>
              <a:t>程序状态字寄存器</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342900" indent="-342900">
              <a:lnSpc>
                <a:spcPct val="120000"/>
              </a:lnSpc>
              <a:spcBef>
                <a:spcPct val="20000"/>
              </a:spcBef>
              <a:buFont typeface="Wingdings" panose="05000000000000000000" pitchFamily="2" charset="2"/>
              <a:buNone/>
              <a:tabLst>
                <a:tab pos="965200" algn="l"/>
              </a:tabLst>
              <a:defRPr/>
            </a:pPr>
            <a:r>
              <a:rPr lang="zh-CN" altLang="en-US" sz="1800" dirty="0">
                <a:solidFill>
                  <a:schemeClr val="accent2"/>
                </a:solidFill>
                <a:latin typeface="微软雅黑" panose="020B0503020204020204" pitchFamily="34" charset="-122"/>
                <a:ea typeface="微软雅黑" panose="020B0503020204020204" pitchFamily="34" charset="-122"/>
              </a:rPr>
              <a:t>     也可由指定的通用寄存器来存放状态位</a:t>
            </a:r>
          </a:p>
          <a:p>
            <a:pPr marL="342900" indent="-342900">
              <a:lnSpc>
                <a:spcPct val="12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en-US" altLang="zh-CN" sz="1800" dirty="0">
                <a:solidFill>
                  <a:srgbClr val="A50021"/>
                </a:solidFill>
                <a:latin typeface="微软雅黑" panose="020B0503020204020204" pitchFamily="34" charset="-122"/>
                <a:ea typeface="微软雅黑" panose="020B0503020204020204" pitchFamily="34" charset="-122"/>
              </a:rPr>
              <a:t>Ex:	</a:t>
            </a:r>
            <a:r>
              <a:rPr lang="en-US" altLang="zh-CN" sz="1800" dirty="0" err="1">
                <a:solidFill>
                  <a:srgbClr val="A50021"/>
                </a:solidFill>
                <a:latin typeface="微软雅黑" panose="020B0503020204020204" pitchFamily="34" charset="-122"/>
                <a:ea typeface="微软雅黑" panose="020B0503020204020204" pitchFamily="34" charset="-122"/>
              </a:rPr>
              <a:t>cmp</a:t>
            </a:r>
            <a:r>
              <a:rPr lang="en-US" altLang="zh-CN" sz="1800" dirty="0">
                <a:solidFill>
                  <a:srgbClr val="A50021"/>
                </a:solidFill>
                <a:latin typeface="微软雅黑" panose="020B0503020204020204" pitchFamily="34" charset="-122"/>
                <a:ea typeface="微软雅黑" panose="020B0503020204020204" pitchFamily="34" charset="-122"/>
              </a:rPr>
              <a:t> r1, r2, r3    ;</a:t>
            </a:r>
            <a:r>
              <a:rPr lang="zh-CN" altLang="en-US" sz="1800" dirty="0">
                <a:solidFill>
                  <a:srgbClr val="A50021"/>
                </a:solidFill>
                <a:latin typeface="微软雅黑" panose="020B0503020204020204" pitchFamily="34" charset="-122"/>
                <a:ea typeface="微软雅黑" panose="020B0503020204020204" pitchFamily="34" charset="-122"/>
              </a:rPr>
              <a:t>比较</a:t>
            </a:r>
            <a:r>
              <a:rPr lang="en-US" altLang="zh-CN" sz="1800" dirty="0">
                <a:solidFill>
                  <a:srgbClr val="A50021"/>
                </a:solidFill>
                <a:latin typeface="微软雅黑" panose="020B0503020204020204" pitchFamily="34" charset="-122"/>
                <a:ea typeface="微软雅黑" panose="020B0503020204020204" pitchFamily="34" charset="-122"/>
              </a:rPr>
              <a:t>r2</a:t>
            </a:r>
            <a:r>
              <a:rPr lang="zh-CN" altLang="en-US" sz="1800" dirty="0">
                <a:solidFill>
                  <a:srgbClr val="A50021"/>
                </a:solidFill>
                <a:latin typeface="微软雅黑" panose="020B0503020204020204" pitchFamily="34" charset="-122"/>
                <a:ea typeface="微软雅黑" panose="020B0503020204020204" pitchFamily="34" charset="-122"/>
              </a:rPr>
              <a:t>和</a:t>
            </a:r>
            <a:r>
              <a:rPr lang="en-US" altLang="zh-CN" sz="1800" dirty="0">
                <a:solidFill>
                  <a:srgbClr val="A50021"/>
                </a:solidFill>
                <a:latin typeface="微软雅黑" panose="020B0503020204020204" pitchFamily="34" charset="-122"/>
                <a:ea typeface="微软雅黑" panose="020B0503020204020204" pitchFamily="34" charset="-122"/>
              </a:rPr>
              <a:t>r3, </a:t>
            </a:r>
            <a:r>
              <a:rPr lang="zh-CN" altLang="en-US" sz="1800" dirty="0">
                <a:solidFill>
                  <a:srgbClr val="A50021"/>
                </a:solidFill>
                <a:latin typeface="微软雅黑" panose="020B0503020204020204" pitchFamily="34" charset="-122"/>
                <a:ea typeface="微软雅黑" panose="020B0503020204020204" pitchFamily="34" charset="-122"/>
              </a:rPr>
              <a:t>标志位存储在</a:t>
            </a:r>
            <a:r>
              <a:rPr lang="en-US" altLang="zh-CN" sz="1800" dirty="0">
                <a:solidFill>
                  <a:srgbClr val="A50021"/>
                </a:solidFill>
                <a:latin typeface="微软雅黑" panose="020B0503020204020204" pitchFamily="34" charset="-122"/>
                <a:ea typeface="微软雅黑" panose="020B0503020204020204" pitchFamily="34" charset="-122"/>
              </a:rPr>
              <a:t>r1</a:t>
            </a:r>
            <a:r>
              <a:rPr lang="zh-CN" altLang="en-US" sz="1800" dirty="0">
                <a:solidFill>
                  <a:srgbClr val="A50021"/>
                </a:solidFill>
                <a:latin typeface="微软雅黑" panose="020B0503020204020204" pitchFamily="34" charset="-122"/>
                <a:ea typeface="微软雅黑" panose="020B0503020204020204" pitchFamily="34" charset="-122"/>
              </a:rPr>
              <a:t>中</a:t>
            </a:r>
          </a:p>
          <a:p>
            <a:pPr marL="342900" indent="-342900">
              <a:lnSpc>
                <a:spcPct val="120000"/>
              </a:lnSpc>
              <a:spcBef>
                <a:spcPct val="20000"/>
              </a:spcBef>
              <a:buFont typeface="Wingdings" panose="05000000000000000000" pitchFamily="2" charset="2"/>
              <a:buNone/>
              <a:tabLst>
                <a:tab pos="965200" algn="l"/>
              </a:tabLst>
              <a:defRPr/>
            </a:pPr>
            <a:r>
              <a:rPr lang="en-US" altLang="zh-CN" sz="1800" dirty="0">
                <a:solidFill>
                  <a:srgbClr val="A50021"/>
                </a:solidFill>
                <a:latin typeface="微软雅黑" panose="020B0503020204020204" pitchFamily="34" charset="-122"/>
                <a:ea typeface="微软雅黑" panose="020B0503020204020204" pitchFamily="34" charset="-122"/>
              </a:rPr>
              <a:t>		</a:t>
            </a:r>
            <a:r>
              <a:rPr lang="en-US" altLang="zh-CN" sz="1800" dirty="0" err="1">
                <a:solidFill>
                  <a:srgbClr val="A50021"/>
                </a:solidFill>
                <a:latin typeface="微软雅黑" panose="020B0503020204020204" pitchFamily="34" charset="-122"/>
                <a:ea typeface="微软雅黑" panose="020B0503020204020204" pitchFamily="34" charset="-122"/>
              </a:rPr>
              <a:t>bgt</a:t>
            </a:r>
            <a:r>
              <a:rPr lang="en-US" altLang="zh-CN" sz="1800" dirty="0">
                <a:solidFill>
                  <a:srgbClr val="A50021"/>
                </a:solidFill>
                <a:latin typeface="微软雅黑" panose="020B0503020204020204" pitchFamily="34" charset="-122"/>
                <a:ea typeface="微软雅黑" panose="020B0503020204020204" pitchFamily="34" charset="-122"/>
              </a:rPr>
              <a:t> r1, label       ;</a:t>
            </a:r>
            <a:r>
              <a:rPr lang="zh-CN" altLang="en-US" sz="1800" dirty="0">
                <a:solidFill>
                  <a:srgbClr val="A50021"/>
                </a:solidFill>
                <a:latin typeface="微软雅黑" panose="020B0503020204020204" pitchFamily="34" charset="-122"/>
                <a:ea typeface="微软雅黑" panose="020B0503020204020204" pitchFamily="34" charset="-122"/>
              </a:rPr>
              <a:t>判断</a:t>
            </a:r>
            <a:r>
              <a:rPr lang="en-US" altLang="zh-CN" sz="1800" dirty="0">
                <a:solidFill>
                  <a:srgbClr val="A50021"/>
                </a:solidFill>
                <a:latin typeface="微软雅黑" panose="020B0503020204020204" pitchFamily="34" charset="-122"/>
                <a:ea typeface="微软雅黑" panose="020B0503020204020204" pitchFamily="34" charset="-122"/>
              </a:rPr>
              <a:t>r1</a:t>
            </a:r>
            <a:r>
              <a:rPr lang="zh-CN" altLang="en-US" sz="1800" dirty="0">
                <a:solidFill>
                  <a:srgbClr val="A50021"/>
                </a:solidFill>
                <a:latin typeface="微软雅黑" panose="020B0503020204020204" pitchFamily="34" charset="-122"/>
                <a:ea typeface="微软雅黑" panose="020B0503020204020204" pitchFamily="34" charset="-122"/>
              </a:rPr>
              <a:t>是否大于</a:t>
            </a:r>
            <a:r>
              <a:rPr lang="en-US" altLang="zh-CN" sz="1800" dirty="0">
                <a:solidFill>
                  <a:srgbClr val="A50021"/>
                </a:solidFill>
                <a:latin typeface="微软雅黑" panose="020B0503020204020204" pitchFamily="34" charset="-122"/>
                <a:ea typeface="微软雅黑" panose="020B0503020204020204" pitchFamily="34" charset="-122"/>
              </a:rPr>
              <a:t>0</a:t>
            </a:r>
            <a:r>
              <a:rPr lang="zh-CN" altLang="en-US" sz="1800" dirty="0">
                <a:solidFill>
                  <a:srgbClr val="A50021"/>
                </a:solidFill>
                <a:latin typeface="微软雅黑" panose="020B0503020204020204" pitchFamily="34" charset="-122"/>
                <a:ea typeface="微软雅黑" panose="020B0503020204020204" pitchFamily="34" charset="-122"/>
              </a:rPr>
              <a:t>，是则转移到</a:t>
            </a:r>
            <a:r>
              <a:rPr lang="en-US" altLang="zh-CN" sz="1800" dirty="0">
                <a:solidFill>
                  <a:srgbClr val="A50021"/>
                </a:solidFill>
                <a:latin typeface="微软雅黑" panose="020B0503020204020204" pitchFamily="34" charset="-122"/>
                <a:ea typeface="微软雅黑" panose="020B0503020204020204" pitchFamily="34" charset="-122"/>
              </a:rPr>
              <a:t>label</a:t>
            </a:r>
            <a:r>
              <a:rPr lang="zh-CN" altLang="en-US" sz="1800" dirty="0">
                <a:solidFill>
                  <a:srgbClr val="A50021"/>
                </a:solidFill>
                <a:latin typeface="微软雅黑" panose="020B0503020204020204" pitchFamily="34" charset="-122"/>
                <a:ea typeface="微软雅黑" panose="020B0503020204020204" pitchFamily="34" charset="-122"/>
              </a:rPr>
              <a:t>处</a:t>
            </a:r>
          </a:p>
          <a:p>
            <a:pPr marL="342900" indent="-342900">
              <a:lnSpc>
                <a:spcPct val="12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可以将两条指令合成一条指令，即：计算并转移</a:t>
            </a:r>
          </a:p>
          <a:p>
            <a:pPr marL="342900" indent="-342900">
              <a:lnSpc>
                <a:spcPct val="120000"/>
              </a:lnSpc>
              <a:spcBef>
                <a:spcPct val="20000"/>
              </a:spcBef>
              <a:buFont typeface="Wingdings" panose="05000000000000000000" pitchFamily="2" charset="2"/>
              <a:buNone/>
              <a:tabLst>
                <a:tab pos="965200" algn="l"/>
              </a:tabLst>
              <a:defRPr/>
            </a:pPr>
            <a:r>
              <a:rPr lang="en-US" altLang="zh-CN" sz="1800" dirty="0">
                <a:latin typeface="微软雅黑" panose="020B0503020204020204" pitchFamily="34" charset="-122"/>
                <a:ea typeface="微软雅黑" panose="020B0503020204020204" pitchFamily="34" charset="-122"/>
              </a:rPr>
              <a:t>	</a:t>
            </a:r>
            <a:r>
              <a:rPr lang="en-US" altLang="zh-CN" sz="1800" dirty="0">
                <a:solidFill>
                  <a:srgbClr val="A50021"/>
                </a:solidFill>
                <a:latin typeface="微软雅黑" panose="020B0503020204020204" pitchFamily="34" charset="-122"/>
                <a:ea typeface="微软雅黑" panose="020B0503020204020204" pitchFamily="34" charset="-122"/>
              </a:rPr>
              <a:t>Ex:	</a:t>
            </a:r>
            <a:r>
              <a:rPr lang="en-US" altLang="zh-CN" sz="1800" dirty="0" err="1">
                <a:solidFill>
                  <a:srgbClr val="A50021"/>
                </a:solidFill>
                <a:latin typeface="微软雅黑" panose="020B0503020204020204" pitchFamily="34" charset="-122"/>
                <a:ea typeface="微软雅黑" panose="020B0503020204020204" pitchFamily="34" charset="-122"/>
              </a:rPr>
              <a:t>bgt</a:t>
            </a:r>
            <a:r>
              <a:rPr lang="en-US" altLang="zh-CN" sz="1800" dirty="0">
                <a:solidFill>
                  <a:srgbClr val="A50021"/>
                </a:solidFill>
                <a:latin typeface="微软雅黑" panose="020B0503020204020204" pitchFamily="34" charset="-122"/>
                <a:ea typeface="微软雅黑" panose="020B0503020204020204" pitchFamily="34" charset="-122"/>
              </a:rPr>
              <a:t> r1, r2, label   ;</a:t>
            </a:r>
            <a:r>
              <a:rPr lang="zh-CN" altLang="en-US" sz="1800" dirty="0">
                <a:solidFill>
                  <a:srgbClr val="A50021"/>
                </a:solidFill>
                <a:latin typeface="微软雅黑" panose="020B0503020204020204" pitchFamily="34" charset="-122"/>
                <a:ea typeface="微软雅黑" panose="020B0503020204020204" pitchFamily="34" charset="-122"/>
              </a:rPr>
              <a:t>如果</a:t>
            </a:r>
            <a:r>
              <a:rPr lang="en-US" altLang="zh-CN" sz="1800" dirty="0">
                <a:solidFill>
                  <a:srgbClr val="A50021"/>
                </a:solidFill>
                <a:latin typeface="微软雅黑" panose="020B0503020204020204" pitchFamily="34" charset="-122"/>
                <a:ea typeface="微软雅黑" panose="020B0503020204020204" pitchFamily="34" charset="-122"/>
              </a:rPr>
              <a:t>r1&gt;r2</a:t>
            </a:r>
            <a:r>
              <a:rPr lang="zh-CN" altLang="en-US" sz="1800" dirty="0">
                <a:solidFill>
                  <a:srgbClr val="A50021"/>
                </a:solidFill>
                <a:latin typeface="微软雅黑" panose="020B0503020204020204" pitchFamily="34" charset="-122"/>
                <a:ea typeface="微软雅黑" panose="020B0503020204020204" pitchFamily="34" charset="-122"/>
              </a:rPr>
              <a:t>，则转移到</a:t>
            </a:r>
            <a:r>
              <a:rPr lang="en-US" altLang="zh-CN" sz="1800" dirty="0">
                <a:solidFill>
                  <a:srgbClr val="A50021"/>
                </a:solidFill>
                <a:latin typeface="微软雅黑" panose="020B0503020204020204" pitchFamily="34" charset="-122"/>
                <a:ea typeface="微软雅黑" panose="020B0503020204020204" pitchFamily="34" charset="-122"/>
              </a:rPr>
              <a:t>label</a:t>
            </a:r>
            <a:r>
              <a:rPr lang="zh-CN" altLang="en-US" sz="1800" dirty="0">
                <a:solidFill>
                  <a:srgbClr val="A50021"/>
                </a:solidFill>
                <a:latin typeface="微软雅黑" panose="020B0503020204020204" pitchFamily="34" charset="-122"/>
                <a:ea typeface="微软雅黑" panose="020B0503020204020204" pitchFamily="34" charset="-122"/>
              </a:rPr>
              <a:t>处执行；否则顺序执行</a:t>
            </a:r>
          </a:p>
        </p:txBody>
      </p:sp>
      <p:sp>
        <p:nvSpPr>
          <p:cNvPr id="2" name="Text Box 4">
            <a:extLst>
              <a:ext uri="{FF2B5EF4-FFF2-40B4-BE49-F238E27FC236}">
                <a16:creationId xmlns:a16="http://schemas.microsoft.com/office/drawing/2014/main" id="{A0831465-4F62-0F7E-E43D-EE1424D3751F}"/>
              </a:ext>
            </a:extLst>
          </p:cNvPr>
          <p:cNvSpPr txBox="1">
            <a:spLocks noChangeArrowheads="1"/>
          </p:cNvSpPr>
          <p:nvPr/>
        </p:nvSpPr>
        <p:spPr bwMode="auto">
          <a:xfrm>
            <a:off x="5346700" y="2238375"/>
            <a:ext cx="3357563"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1800">
                <a:solidFill>
                  <a:srgbClr val="388A36"/>
                </a:solidFill>
                <a:latin typeface="微软雅黑" panose="020B0503020204020204" pitchFamily="34" charset="-122"/>
                <a:ea typeface="微软雅黑" panose="020B0503020204020204" pitchFamily="34" charset="-122"/>
              </a:rPr>
              <a:t>对于带符号和无符号整数运算，标志生成方式有没有不同？</a:t>
            </a:r>
          </a:p>
          <a:p>
            <a:pPr eaLnBrk="0" hangingPunct="0">
              <a:spcBef>
                <a:spcPct val="50000"/>
              </a:spcBef>
            </a:pPr>
            <a:r>
              <a:rPr lang="zh-CN" altLang="en-US" sz="1800">
                <a:solidFill>
                  <a:srgbClr val="388A36"/>
                </a:solidFill>
                <a:latin typeface="微软雅黑" panose="020B0503020204020204" pitchFamily="34" charset="-122"/>
                <a:ea typeface="微软雅黑" panose="020B0503020204020204" pitchFamily="34" charset="-122"/>
              </a:rPr>
              <a:t>没有，因为加法电路不知道是无符号整数还是带符号整数！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1171">
                                            <p:txEl>
                                              <p:pRg st="2" end="2"/>
                                            </p:txEl>
                                          </p:spTgt>
                                        </p:tgtEl>
                                        <p:attrNameLst>
                                          <p:attrName>style.visibility</p:attrName>
                                        </p:attrNameLst>
                                      </p:cBhvr>
                                      <p:to>
                                        <p:strVal val="visible"/>
                                      </p:to>
                                    </p:set>
                                    <p:animEffect transition="in" filter="blinds(horizontal)">
                                      <p:cBhvr>
                                        <p:cTn id="7" dur="500"/>
                                        <p:tgtEl>
                                          <p:spTgt spid="3911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1171">
                                            <p:txEl>
                                              <p:pRg st="3" end="3"/>
                                            </p:txEl>
                                          </p:spTgt>
                                        </p:tgtEl>
                                        <p:attrNameLst>
                                          <p:attrName>style.visibility</p:attrName>
                                        </p:attrNameLst>
                                      </p:cBhvr>
                                      <p:to>
                                        <p:strVal val="visible"/>
                                      </p:to>
                                    </p:set>
                                    <p:animEffect transition="in" filter="blinds(horizontal)">
                                      <p:cBhvr>
                                        <p:cTn id="10" dur="500"/>
                                        <p:tgtEl>
                                          <p:spTgt spid="391171">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91171">
                                            <p:txEl>
                                              <p:pRg st="5" end="5"/>
                                            </p:txEl>
                                          </p:spTgt>
                                        </p:tgtEl>
                                        <p:attrNameLst>
                                          <p:attrName>style.visibility</p:attrName>
                                        </p:attrNameLst>
                                      </p:cBhvr>
                                      <p:to>
                                        <p:strVal val="visible"/>
                                      </p:to>
                                    </p:set>
                                    <p:animEffect transition="in" filter="blinds(horizontal)">
                                      <p:cBhvr>
                                        <p:cTn id="15" dur="500"/>
                                        <p:tgtEl>
                                          <p:spTgt spid="391171">
                                            <p:txEl>
                                              <p:pRg st="5" end="5"/>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91171">
                                            <p:txEl>
                                              <p:pRg st="6" end="6"/>
                                            </p:txEl>
                                          </p:spTgt>
                                        </p:tgtEl>
                                        <p:attrNameLst>
                                          <p:attrName>style.visibility</p:attrName>
                                        </p:attrNameLst>
                                      </p:cBhvr>
                                      <p:to>
                                        <p:strVal val="visible"/>
                                      </p:to>
                                    </p:set>
                                    <p:animEffect transition="in" filter="blinds(horizontal)">
                                      <p:cBhvr>
                                        <p:cTn id="20" dur="500"/>
                                        <p:tgtEl>
                                          <p:spTgt spid="391171">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91171">
                                            <p:txEl>
                                              <p:pRg st="7" end="7"/>
                                            </p:txEl>
                                          </p:spTgt>
                                        </p:tgtEl>
                                        <p:attrNameLst>
                                          <p:attrName>style.visibility</p:attrName>
                                        </p:attrNameLst>
                                      </p:cBhvr>
                                      <p:to>
                                        <p:strVal val="visible"/>
                                      </p:to>
                                    </p:set>
                                    <p:animEffect transition="in" filter="blinds(horizontal)">
                                      <p:cBhvr>
                                        <p:cTn id="25" dur="500"/>
                                        <p:tgtEl>
                                          <p:spTgt spid="391171">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2">
                                            <p:txEl>
                                              <p:pRg st="0" end="0"/>
                                            </p:txEl>
                                          </p:spTgt>
                                        </p:tgtEl>
                                        <p:attrNameLst>
                                          <p:attrName>style.visibility</p:attrName>
                                        </p:attrNameLst>
                                      </p:cBhvr>
                                      <p:to>
                                        <p:strVal val="visible"/>
                                      </p:to>
                                    </p:set>
                                    <p:animEffect transition="in" filter="blinds(horizontal)">
                                      <p:cBhvr>
                                        <p:cTn id="30" dur="500"/>
                                        <p:tgtEl>
                                          <p:spTgt spid="2">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Effect transition="in" filter="blinds(horizontal)">
                                      <p:cBhvr>
                                        <p:cTn id="35" dur="500"/>
                                        <p:tgtEl>
                                          <p:spTgt spid="2">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391171">
                                            <p:txEl>
                                              <p:pRg st="8" end="8"/>
                                            </p:txEl>
                                          </p:spTgt>
                                        </p:tgtEl>
                                        <p:attrNameLst>
                                          <p:attrName>style.visibility</p:attrName>
                                        </p:attrNameLst>
                                      </p:cBhvr>
                                      <p:to>
                                        <p:strVal val="visible"/>
                                      </p:to>
                                    </p:set>
                                    <p:animEffect transition="in" filter="blinds(horizontal)">
                                      <p:cBhvr>
                                        <p:cTn id="40" dur="500"/>
                                        <p:tgtEl>
                                          <p:spTgt spid="391171">
                                            <p:txEl>
                                              <p:pRg st="8" end="8"/>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91171">
                                            <p:txEl>
                                              <p:pRg st="9" end="9"/>
                                            </p:txEl>
                                          </p:spTgt>
                                        </p:tgtEl>
                                        <p:attrNameLst>
                                          <p:attrName>style.visibility</p:attrName>
                                        </p:attrNameLst>
                                      </p:cBhvr>
                                      <p:to>
                                        <p:strVal val="visible"/>
                                      </p:to>
                                    </p:set>
                                    <p:animEffect transition="in" filter="blinds(horizontal)">
                                      <p:cBhvr>
                                        <p:cTn id="43" dur="500"/>
                                        <p:tgtEl>
                                          <p:spTgt spid="391171">
                                            <p:txEl>
                                              <p:pRg st="9" end="9"/>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91171">
                                            <p:txEl>
                                              <p:pRg st="10" end="10"/>
                                            </p:txEl>
                                          </p:spTgt>
                                        </p:tgtEl>
                                        <p:attrNameLst>
                                          <p:attrName>style.visibility</p:attrName>
                                        </p:attrNameLst>
                                      </p:cBhvr>
                                      <p:to>
                                        <p:strVal val="visible"/>
                                      </p:to>
                                    </p:set>
                                    <p:animEffect transition="in" filter="blinds(horizontal)">
                                      <p:cBhvr>
                                        <p:cTn id="48" dur="500"/>
                                        <p:tgtEl>
                                          <p:spTgt spid="391171">
                                            <p:txEl>
                                              <p:pRg st="10" end="1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91171">
                                            <p:txEl>
                                              <p:pRg st="11" end="11"/>
                                            </p:txEl>
                                          </p:spTgt>
                                        </p:tgtEl>
                                        <p:attrNameLst>
                                          <p:attrName>style.visibility</p:attrName>
                                        </p:attrNameLst>
                                      </p:cBhvr>
                                      <p:to>
                                        <p:strVal val="visible"/>
                                      </p:to>
                                    </p:set>
                                    <p:animEffect transition="in" filter="blinds(horizontal)">
                                      <p:cBhvr>
                                        <p:cTn id="53" dur="500"/>
                                        <p:tgtEl>
                                          <p:spTgt spid="391171">
                                            <p:txEl>
                                              <p:pRg st="11" end="11"/>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391171">
                                            <p:txEl>
                                              <p:pRg st="12" end="12"/>
                                            </p:txEl>
                                          </p:spTgt>
                                        </p:tgtEl>
                                        <p:attrNameLst>
                                          <p:attrName>style.visibility</p:attrName>
                                        </p:attrNameLst>
                                      </p:cBhvr>
                                      <p:to>
                                        <p:strVal val="visible"/>
                                      </p:to>
                                    </p:set>
                                    <p:animEffect transition="in" filter="blinds(horizontal)">
                                      <p:cBhvr>
                                        <p:cTn id="56" dur="500"/>
                                        <p:tgtEl>
                                          <p:spTgt spid="391171">
                                            <p:txEl>
                                              <p:pRg st="12" end="12"/>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391171">
                                            <p:txEl>
                                              <p:pRg st="13" end="13"/>
                                            </p:txEl>
                                          </p:spTgt>
                                        </p:tgtEl>
                                        <p:attrNameLst>
                                          <p:attrName>style.visibility</p:attrName>
                                        </p:attrNameLst>
                                      </p:cBhvr>
                                      <p:to>
                                        <p:strVal val="visible"/>
                                      </p:to>
                                    </p:set>
                                    <p:animEffect transition="in" filter="blinds(horizontal)">
                                      <p:cBhvr>
                                        <p:cTn id="61" dur="500"/>
                                        <p:tgtEl>
                                          <p:spTgt spid="391171">
                                            <p:txEl>
                                              <p:pRg st="13" end="13"/>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391171">
                                            <p:txEl>
                                              <p:pRg st="14" end="14"/>
                                            </p:txEl>
                                          </p:spTgt>
                                        </p:tgtEl>
                                        <p:attrNameLst>
                                          <p:attrName>style.visibility</p:attrName>
                                        </p:attrNameLst>
                                      </p:cBhvr>
                                      <p:to>
                                        <p:strVal val="visible"/>
                                      </p:to>
                                    </p:set>
                                    <p:animEffect transition="in" filter="blinds(horizontal)">
                                      <p:cBhvr>
                                        <p:cTn id="66" dur="500"/>
                                        <p:tgtEl>
                                          <p:spTgt spid="39117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EAB6D6C7-C383-E100-7B31-A674E172E02B}"/>
              </a:ext>
            </a:extLst>
          </p:cNvPr>
          <p:cNvSpPr>
            <a:spLocks noGrp="1" noChangeArrowheads="1"/>
          </p:cNvSpPr>
          <p:nvPr>
            <p:ph type="title" idx="4294967295"/>
          </p:nvPr>
        </p:nvSpPr>
        <p:spPr>
          <a:xfrm>
            <a:off x="522288" y="100013"/>
            <a:ext cx="8156575" cy="538162"/>
          </a:xfrm>
        </p:spPr>
        <p:txBody>
          <a:bodyPr/>
          <a:lstStyle/>
          <a:p>
            <a:r>
              <a:rPr lang="zh-CN" altLang="en-US" sz="3200">
                <a:ea typeface="宋体" panose="02010600030101010101" pitchFamily="2" charset="-122"/>
              </a:rPr>
              <a:t>标志信息是干什么的？</a:t>
            </a:r>
          </a:p>
        </p:txBody>
      </p:sp>
      <p:sp>
        <p:nvSpPr>
          <p:cNvPr id="742403" name="Rectangle 3">
            <a:extLst>
              <a:ext uri="{FF2B5EF4-FFF2-40B4-BE49-F238E27FC236}">
                <a16:creationId xmlns:a16="http://schemas.microsoft.com/office/drawing/2014/main" id="{5B92094C-3923-6BEF-57DF-78049222F296}"/>
              </a:ext>
            </a:extLst>
          </p:cNvPr>
          <p:cNvSpPr>
            <a:spLocks noGrp="1" noChangeArrowheads="1"/>
          </p:cNvSpPr>
          <p:nvPr>
            <p:ph type="body" idx="4294967295"/>
          </p:nvPr>
        </p:nvSpPr>
        <p:spPr>
          <a:xfrm>
            <a:off x="296863" y="1089025"/>
            <a:ext cx="8574087" cy="811213"/>
          </a:xfrm>
        </p:spPr>
        <p:txBody>
          <a:bodyPr lIns="63500" tIns="25400" rIns="63500" bIns="25400">
            <a:spAutoFit/>
          </a:bodyPr>
          <a:lstStyle/>
          <a:p>
            <a:pPr>
              <a:lnSpc>
                <a:spcPct val="95000"/>
              </a:lnSpc>
              <a:spcBef>
                <a:spcPct val="0"/>
              </a:spcBef>
              <a:buFontTx/>
              <a:buNone/>
              <a:defRPr/>
            </a:pPr>
            <a:r>
              <a:rPr lang="en-US" altLang="zh-CN" sz="2500" dirty="0">
                <a:latin typeface="+mj-ea"/>
                <a:ea typeface="+mj-ea"/>
              </a:rPr>
              <a:t>Ex1:  -7- 6 = -7 + (-6) = +3              6 - (-7) = 6 + 7 = -3</a:t>
            </a:r>
            <a:endParaRPr lang="zh-CN" altLang="en-US" sz="2500" dirty="0">
              <a:latin typeface="+mj-ea"/>
              <a:ea typeface="+mj-ea"/>
            </a:endParaRPr>
          </a:p>
          <a:p>
            <a:pPr>
              <a:lnSpc>
                <a:spcPct val="80000"/>
              </a:lnSpc>
              <a:spcBef>
                <a:spcPct val="0"/>
              </a:spcBef>
              <a:buFontTx/>
              <a:buNone/>
              <a:defRPr/>
            </a:pPr>
            <a:r>
              <a:rPr lang="en-US" altLang="zh-CN" sz="3200" dirty="0"/>
              <a:t>    </a:t>
            </a:r>
            <a:r>
              <a:rPr lang="en-US" altLang="zh-CN" sz="2500" dirty="0">
                <a:latin typeface="+mj-lt"/>
              </a:rPr>
              <a:t>9 - 6 = 3 		               6 - 9 = 13</a:t>
            </a:r>
          </a:p>
        </p:txBody>
      </p:sp>
      <p:sp>
        <p:nvSpPr>
          <p:cNvPr id="27651" name="Rectangle 4">
            <a:extLst>
              <a:ext uri="{FF2B5EF4-FFF2-40B4-BE49-F238E27FC236}">
                <a16:creationId xmlns:a16="http://schemas.microsoft.com/office/drawing/2014/main" id="{FD62413F-FE95-BCD8-CE19-AE3C631B2134}"/>
              </a:ext>
            </a:extLst>
          </p:cNvPr>
          <p:cNvSpPr>
            <a:spLocks noChangeArrowheads="1"/>
          </p:cNvSpPr>
          <p:nvPr/>
        </p:nvSpPr>
        <p:spPr bwMode="auto">
          <a:xfrm>
            <a:off x="1935163" y="24685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52" name="Rectangle 8">
            <a:extLst>
              <a:ext uri="{FF2B5EF4-FFF2-40B4-BE49-F238E27FC236}">
                <a16:creationId xmlns:a16="http://schemas.microsoft.com/office/drawing/2014/main" id="{47B2EDF9-ACED-3B1B-F539-40C1611F64D1}"/>
              </a:ext>
            </a:extLst>
          </p:cNvPr>
          <p:cNvSpPr>
            <a:spLocks noChangeArrowheads="1"/>
          </p:cNvSpPr>
          <p:nvPr/>
        </p:nvSpPr>
        <p:spPr bwMode="auto">
          <a:xfrm>
            <a:off x="1935163" y="281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53" name="Rectangle 12">
            <a:extLst>
              <a:ext uri="{FF2B5EF4-FFF2-40B4-BE49-F238E27FC236}">
                <a16:creationId xmlns:a16="http://schemas.microsoft.com/office/drawing/2014/main" id="{CE9440A0-75F7-884B-8F77-F7004575E23C}"/>
              </a:ext>
            </a:extLst>
          </p:cNvPr>
          <p:cNvSpPr>
            <a:spLocks noChangeArrowheads="1"/>
          </p:cNvSpPr>
          <p:nvPr/>
        </p:nvSpPr>
        <p:spPr bwMode="auto">
          <a:xfrm>
            <a:off x="1173163" y="2849563"/>
            <a:ext cx="3286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a:t>
            </a:r>
          </a:p>
        </p:txBody>
      </p:sp>
      <p:sp>
        <p:nvSpPr>
          <p:cNvPr id="27654" name="Line 13">
            <a:extLst>
              <a:ext uri="{FF2B5EF4-FFF2-40B4-BE49-F238E27FC236}">
                <a16:creationId xmlns:a16="http://schemas.microsoft.com/office/drawing/2014/main" id="{F81F5756-2091-ED17-01CA-6AFE68D72EE1}"/>
              </a:ext>
            </a:extLst>
          </p:cNvPr>
          <p:cNvSpPr>
            <a:spLocks noChangeShapeType="1"/>
          </p:cNvSpPr>
          <p:nvPr/>
        </p:nvSpPr>
        <p:spPr bwMode="auto">
          <a:xfrm>
            <a:off x="1193800" y="3154363"/>
            <a:ext cx="280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5" name="Rectangle 38">
            <a:extLst>
              <a:ext uri="{FF2B5EF4-FFF2-40B4-BE49-F238E27FC236}">
                <a16:creationId xmlns:a16="http://schemas.microsoft.com/office/drawing/2014/main" id="{15A0861F-7119-F834-F866-EE9378C5168A}"/>
              </a:ext>
            </a:extLst>
          </p:cNvPr>
          <p:cNvSpPr>
            <a:spLocks noChangeArrowheads="1"/>
          </p:cNvSpPr>
          <p:nvPr/>
        </p:nvSpPr>
        <p:spPr bwMode="auto">
          <a:xfrm>
            <a:off x="1866900" y="2033588"/>
            <a:ext cx="32543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56" name="Line 39">
            <a:extLst>
              <a:ext uri="{FF2B5EF4-FFF2-40B4-BE49-F238E27FC236}">
                <a16:creationId xmlns:a16="http://schemas.microsoft.com/office/drawing/2014/main" id="{7AE48BFA-22F9-E9BE-CD8C-9FBED09743DC}"/>
              </a:ext>
            </a:extLst>
          </p:cNvPr>
          <p:cNvSpPr>
            <a:spLocks noChangeShapeType="1"/>
          </p:cNvSpPr>
          <p:nvPr/>
        </p:nvSpPr>
        <p:spPr bwMode="auto">
          <a:xfrm flipH="1" flipV="1">
            <a:off x="2171700" y="2309813"/>
            <a:ext cx="393700" cy="69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7" name="Line 41">
            <a:extLst>
              <a:ext uri="{FF2B5EF4-FFF2-40B4-BE49-F238E27FC236}">
                <a16:creationId xmlns:a16="http://schemas.microsoft.com/office/drawing/2014/main" id="{B2146E05-FA01-0AD3-666A-CA868DBBB7BC}"/>
              </a:ext>
            </a:extLst>
          </p:cNvPr>
          <p:cNvSpPr>
            <a:spLocks noChangeShapeType="1"/>
          </p:cNvSpPr>
          <p:nvPr/>
        </p:nvSpPr>
        <p:spPr bwMode="auto">
          <a:xfrm flipH="1" flipV="1">
            <a:off x="1562100" y="2309813"/>
            <a:ext cx="393700" cy="69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8" name="Rectangle 87">
            <a:extLst>
              <a:ext uri="{FF2B5EF4-FFF2-40B4-BE49-F238E27FC236}">
                <a16:creationId xmlns:a16="http://schemas.microsoft.com/office/drawing/2014/main" id="{762C5F41-EEC9-28A4-57EB-4392172297F3}"/>
              </a:ext>
            </a:extLst>
          </p:cNvPr>
          <p:cNvSpPr>
            <a:spLocks noChangeArrowheads="1"/>
          </p:cNvSpPr>
          <p:nvPr/>
        </p:nvSpPr>
        <p:spPr bwMode="auto">
          <a:xfrm>
            <a:off x="2527300" y="2484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59" name="Rectangle 88">
            <a:extLst>
              <a:ext uri="{FF2B5EF4-FFF2-40B4-BE49-F238E27FC236}">
                <a16:creationId xmlns:a16="http://schemas.microsoft.com/office/drawing/2014/main" id="{00A38968-BC08-28AF-8AEF-1B1AA16D4081}"/>
              </a:ext>
            </a:extLst>
          </p:cNvPr>
          <p:cNvSpPr>
            <a:spLocks noChangeArrowheads="1"/>
          </p:cNvSpPr>
          <p:nvPr/>
        </p:nvSpPr>
        <p:spPr bwMode="auto">
          <a:xfrm>
            <a:off x="3119438" y="2495550"/>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60" name="Rectangle 89">
            <a:extLst>
              <a:ext uri="{FF2B5EF4-FFF2-40B4-BE49-F238E27FC236}">
                <a16:creationId xmlns:a16="http://schemas.microsoft.com/office/drawing/2014/main" id="{1A6A0817-3BBD-98BC-C2DB-C483F85DFFA9}"/>
              </a:ext>
            </a:extLst>
          </p:cNvPr>
          <p:cNvSpPr>
            <a:spLocks noChangeArrowheads="1"/>
          </p:cNvSpPr>
          <p:nvPr/>
        </p:nvSpPr>
        <p:spPr bwMode="auto">
          <a:xfrm>
            <a:off x="3138488" y="2816225"/>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61" name="Rectangle 90">
            <a:extLst>
              <a:ext uri="{FF2B5EF4-FFF2-40B4-BE49-F238E27FC236}">
                <a16:creationId xmlns:a16="http://schemas.microsoft.com/office/drawing/2014/main" id="{F148AD81-A398-C4C1-78CF-A2709A3B1CA4}"/>
              </a:ext>
            </a:extLst>
          </p:cNvPr>
          <p:cNvSpPr>
            <a:spLocks noChangeArrowheads="1"/>
          </p:cNvSpPr>
          <p:nvPr/>
        </p:nvSpPr>
        <p:spPr bwMode="auto">
          <a:xfrm>
            <a:off x="3743325" y="24860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62" name="Rectangle 91">
            <a:extLst>
              <a:ext uri="{FF2B5EF4-FFF2-40B4-BE49-F238E27FC236}">
                <a16:creationId xmlns:a16="http://schemas.microsoft.com/office/drawing/2014/main" id="{25BAE9AE-7D79-A283-FF20-E08942C81461}"/>
              </a:ext>
            </a:extLst>
          </p:cNvPr>
          <p:cNvSpPr>
            <a:spLocks noChangeArrowheads="1"/>
          </p:cNvSpPr>
          <p:nvPr/>
        </p:nvSpPr>
        <p:spPr bwMode="auto">
          <a:xfrm>
            <a:off x="3743325" y="32432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63" name="Rectangle 103">
            <a:extLst>
              <a:ext uri="{FF2B5EF4-FFF2-40B4-BE49-F238E27FC236}">
                <a16:creationId xmlns:a16="http://schemas.microsoft.com/office/drawing/2014/main" id="{2C9B32BB-2B4A-C68D-D855-2D78373A7A88}"/>
              </a:ext>
            </a:extLst>
          </p:cNvPr>
          <p:cNvSpPr>
            <a:spLocks noChangeArrowheads="1"/>
          </p:cNvSpPr>
          <p:nvPr/>
        </p:nvSpPr>
        <p:spPr bwMode="auto">
          <a:xfrm>
            <a:off x="1354138" y="2047875"/>
            <a:ext cx="3254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64" name="Rectangle 104">
            <a:extLst>
              <a:ext uri="{FF2B5EF4-FFF2-40B4-BE49-F238E27FC236}">
                <a16:creationId xmlns:a16="http://schemas.microsoft.com/office/drawing/2014/main" id="{18626FDF-BC2E-1C52-E1CD-0978F59FAD35}"/>
              </a:ext>
            </a:extLst>
          </p:cNvPr>
          <p:cNvSpPr>
            <a:spLocks noChangeArrowheads="1"/>
          </p:cNvSpPr>
          <p:nvPr/>
        </p:nvSpPr>
        <p:spPr bwMode="auto">
          <a:xfrm>
            <a:off x="1936750" y="32131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65" name="Rectangle 105">
            <a:extLst>
              <a:ext uri="{FF2B5EF4-FFF2-40B4-BE49-F238E27FC236}">
                <a16:creationId xmlns:a16="http://schemas.microsoft.com/office/drawing/2014/main" id="{BCDB83CA-D5A0-9174-E3B9-547456BE96FD}"/>
              </a:ext>
            </a:extLst>
          </p:cNvPr>
          <p:cNvSpPr>
            <a:spLocks noChangeArrowheads="1"/>
          </p:cNvSpPr>
          <p:nvPr/>
        </p:nvSpPr>
        <p:spPr bwMode="auto">
          <a:xfrm>
            <a:off x="2524125" y="322897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0</a:t>
            </a:r>
          </a:p>
        </p:txBody>
      </p:sp>
      <p:sp>
        <p:nvSpPr>
          <p:cNvPr id="27666" name="Rectangle 106">
            <a:extLst>
              <a:ext uri="{FF2B5EF4-FFF2-40B4-BE49-F238E27FC236}">
                <a16:creationId xmlns:a16="http://schemas.microsoft.com/office/drawing/2014/main" id="{8FF006A1-82D8-4A41-00DE-AD18F248476E}"/>
              </a:ext>
            </a:extLst>
          </p:cNvPr>
          <p:cNvSpPr>
            <a:spLocks noChangeArrowheads="1"/>
          </p:cNvSpPr>
          <p:nvPr/>
        </p:nvSpPr>
        <p:spPr bwMode="auto">
          <a:xfrm>
            <a:off x="2525713" y="2828925"/>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0</a:t>
            </a:r>
          </a:p>
        </p:txBody>
      </p:sp>
      <p:sp>
        <p:nvSpPr>
          <p:cNvPr id="27667" name="Rectangle 107">
            <a:extLst>
              <a:ext uri="{FF2B5EF4-FFF2-40B4-BE49-F238E27FC236}">
                <a16:creationId xmlns:a16="http://schemas.microsoft.com/office/drawing/2014/main" id="{5B964231-F91D-9579-00D6-F5A4B64D1FB5}"/>
              </a:ext>
            </a:extLst>
          </p:cNvPr>
          <p:cNvSpPr>
            <a:spLocks noChangeArrowheads="1"/>
          </p:cNvSpPr>
          <p:nvPr/>
        </p:nvSpPr>
        <p:spPr bwMode="auto">
          <a:xfrm>
            <a:off x="3125788" y="32305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68" name="Rectangle 108">
            <a:extLst>
              <a:ext uri="{FF2B5EF4-FFF2-40B4-BE49-F238E27FC236}">
                <a16:creationId xmlns:a16="http://schemas.microsoft.com/office/drawing/2014/main" id="{B09F7E76-D983-BCE3-8309-D3B83EFB3674}"/>
              </a:ext>
            </a:extLst>
          </p:cNvPr>
          <p:cNvSpPr>
            <a:spLocks noChangeArrowheads="1"/>
          </p:cNvSpPr>
          <p:nvPr/>
        </p:nvSpPr>
        <p:spPr bwMode="auto">
          <a:xfrm>
            <a:off x="3741738" y="2832100"/>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0</a:t>
            </a:r>
          </a:p>
        </p:txBody>
      </p:sp>
      <p:sp>
        <p:nvSpPr>
          <p:cNvPr id="27669" name="Rectangle 145">
            <a:extLst>
              <a:ext uri="{FF2B5EF4-FFF2-40B4-BE49-F238E27FC236}">
                <a16:creationId xmlns:a16="http://schemas.microsoft.com/office/drawing/2014/main" id="{CB703622-6DEE-DC05-DD05-03F92B2E1F43}"/>
              </a:ext>
            </a:extLst>
          </p:cNvPr>
          <p:cNvSpPr>
            <a:spLocks noChangeArrowheads="1"/>
          </p:cNvSpPr>
          <p:nvPr/>
        </p:nvSpPr>
        <p:spPr bwMode="auto">
          <a:xfrm>
            <a:off x="1930400" y="2447925"/>
            <a:ext cx="377825" cy="108902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1600">
              <a:solidFill>
                <a:schemeClr val="tx1"/>
              </a:solidFill>
              <a:latin typeface="Times New Roman" panose="02020603050405020304" pitchFamily="18" charset="0"/>
            </a:endParaRPr>
          </a:p>
        </p:txBody>
      </p:sp>
      <p:sp>
        <p:nvSpPr>
          <p:cNvPr id="27670" name="Text Box 61">
            <a:extLst>
              <a:ext uri="{FF2B5EF4-FFF2-40B4-BE49-F238E27FC236}">
                <a16:creationId xmlns:a16="http://schemas.microsoft.com/office/drawing/2014/main" id="{33A895AF-8C44-8CB5-6F3F-1A2D7384F3E4}"/>
              </a:ext>
            </a:extLst>
          </p:cNvPr>
          <p:cNvSpPr txBox="1">
            <a:spLocks noChangeArrowheads="1"/>
          </p:cNvSpPr>
          <p:nvPr/>
        </p:nvSpPr>
        <p:spPr bwMode="auto">
          <a:xfrm>
            <a:off x="1150938" y="5003800"/>
            <a:ext cx="616585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15000"/>
              </a:spcBef>
            </a:pPr>
            <a:r>
              <a:rPr lang="zh-CN" altLang="en-US" sz="2400">
                <a:solidFill>
                  <a:srgbClr val="3333CC"/>
                </a:solidFill>
                <a:latin typeface="微软雅黑" panose="020B0503020204020204" pitchFamily="34" charset="-122"/>
                <a:ea typeface="微软雅黑" panose="020B0503020204020204" pitchFamily="34" charset="-122"/>
              </a:rPr>
              <a:t>做减法以比较大小</a:t>
            </a:r>
            <a:r>
              <a:rPr lang="zh-CN" altLang="en-US" sz="2400">
                <a:solidFill>
                  <a:srgbClr val="008000"/>
                </a:solidFill>
                <a:latin typeface="微软雅黑" panose="020B0503020204020204" pitchFamily="34" charset="-122"/>
                <a:ea typeface="微软雅黑" panose="020B0503020204020204" pitchFamily="34" charset="-122"/>
              </a:rPr>
              <a:t>，规则：</a:t>
            </a:r>
          </a:p>
          <a:p>
            <a:pPr eaLnBrk="0" hangingPunct="0">
              <a:spcBef>
                <a:spcPct val="15000"/>
              </a:spcBef>
            </a:pPr>
            <a:r>
              <a:rPr lang="en-US" altLang="zh-CN" sz="2400">
                <a:solidFill>
                  <a:srgbClr val="008000"/>
                </a:solidFill>
                <a:latin typeface="微软雅黑" panose="020B0503020204020204" pitchFamily="34" charset="-122"/>
                <a:ea typeface="微软雅黑" panose="020B0503020204020204" pitchFamily="34" charset="-122"/>
              </a:rPr>
              <a:t>Unsigned: CF=0</a:t>
            </a:r>
            <a:r>
              <a:rPr lang="zh-CN" altLang="en-US" sz="2400">
                <a:solidFill>
                  <a:srgbClr val="008000"/>
                </a:solidFill>
                <a:latin typeface="微软雅黑" panose="020B0503020204020204" pitchFamily="34" charset="-122"/>
                <a:ea typeface="微软雅黑" panose="020B0503020204020204" pitchFamily="34" charset="-122"/>
              </a:rPr>
              <a:t>时，大于</a:t>
            </a:r>
          </a:p>
          <a:p>
            <a:pPr eaLnBrk="0" hangingPunct="0">
              <a:spcBef>
                <a:spcPct val="15000"/>
              </a:spcBef>
            </a:pPr>
            <a:r>
              <a:rPr lang="en-US" altLang="zh-CN" sz="2400">
                <a:solidFill>
                  <a:srgbClr val="008000"/>
                </a:solidFill>
                <a:latin typeface="微软雅黑" panose="020B0503020204020204" pitchFamily="34" charset="-122"/>
                <a:ea typeface="微软雅黑" panose="020B0503020204020204" pitchFamily="34" charset="-122"/>
              </a:rPr>
              <a:t>Signed</a:t>
            </a:r>
            <a:r>
              <a:rPr lang="zh-CN" altLang="en-US" sz="2400">
                <a:solidFill>
                  <a:srgbClr val="008000"/>
                </a:solidFill>
                <a:latin typeface="微软雅黑" panose="020B0503020204020204" pitchFamily="34" charset="-122"/>
                <a:ea typeface="微软雅黑" panose="020B0503020204020204" pitchFamily="34" charset="-122"/>
              </a:rPr>
              <a:t>：</a:t>
            </a:r>
            <a:r>
              <a:rPr lang="en-US" altLang="zh-CN" sz="2400">
                <a:solidFill>
                  <a:srgbClr val="008000"/>
                </a:solidFill>
                <a:latin typeface="微软雅黑" panose="020B0503020204020204" pitchFamily="34" charset="-122"/>
                <a:ea typeface="微软雅黑" panose="020B0503020204020204" pitchFamily="34" charset="-122"/>
              </a:rPr>
              <a:t>OF</a:t>
            </a:r>
            <a:r>
              <a:rPr lang="en-US" altLang="zh-CN" sz="2400">
                <a:solidFill>
                  <a:srgbClr val="008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a:solidFill>
                  <a:srgbClr val="008000"/>
                </a:solidFill>
                <a:latin typeface="微软雅黑" panose="020B0503020204020204" pitchFamily="34" charset="-122"/>
                <a:ea typeface="微软雅黑" panose="020B0503020204020204" pitchFamily="34" charset="-122"/>
              </a:rPr>
              <a:t>SF</a:t>
            </a:r>
            <a:r>
              <a:rPr lang="zh-CN" altLang="en-US" sz="2400">
                <a:solidFill>
                  <a:srgbClr val="008000"/>
                </a:solidFill>
                <a:latin typeface="微软雅黑" panose="020B0503020204020204" pitchFamily="34" charset="-122"/>
                <a:ea typeface="微软雅黑" panose="020B0503020204020204" pitchFamily="34" charset="-122"/>
              </a:rPr>
              <a:t>时，大于</a:t>
            </a:r>
          </a:p>
        </p:txBody>
      </p:sp>
      <p:sp>
        <p:nvSpPr>
          <p:cNvPr id="27671" name="Text Box 63">
            <a:extLst>
              <a:ext uri="{FF2B5EF4-FFF2-40B4-BE49-F238E27FC236}">
                <a16:creationId xmlns:a16="http://schemas.microsoft.com/office/drawing/2014/main" id="{FE15EDC5-C90B-DD9A-BE26-9344DBF34CB9}"/>
              </a:ext>
            </a:extLst>
          </p:cNvPr>
          <p:cNvSpPr txBox="1">
            <a:spLocks noChangeArrowheads="1"/>
          </p:cNvSpPr>
          <p:nvPr/>
        </p:nvSpPr>
        <p:spPr bwMode="auto">
          <a:xfrm>
            <a:off x="692150" y="3883025"/>
            <a:ext cx="40957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15000"/>
              </a:spcBef>
            </a:pPr>
            <a:r>
              <a:rPr lang="en-US" altLang="zh-CN" sz="2400">
                <a:solidFill>
                  <a:srgbClr val="FF3300"/>
                </a:solidFill>
                <a:latin typeface="微软雅黑" panose="020B0503020204020204" pitchFamily="34" charset="-122"/>
                <a:ea typeface="微软雅黑" panose="020B0503020204020204" pitchFamily="34" charset="-122"/>
              </a:rPr>
              <a:t>OF=1</a:t>
            </a:r>
            <a:r>
              <a:rPr lang="zh-CN" altLang="en-US" sz="2400">
                <a:solidFill>
                  <a:srgbClr val="FF3300"/>
                </a:solidFill>
                <a:latin typeface="微软雅黑" panose="020B0503020204020204" pitchFamily="34" charset="-122"/>
                <a:ea typeface="微软雅黑" panose="020B0503020204020204" pitchFamily="34" charset="-122"/>
              </a:rPr>
              <a:t>、</a:t>
            </a:r>
            <a:r>
              <a:rPr lang="en-US" altLang="zh-CN" sz="2400">
                <a:solidFill>
                  <a:srgbClr val="FF3300"/>
                </a:solidFill>
                <a:latin typeface="微软雅黑" panose="020B0503020204020204" pitchFamily="34" charset="-122"/>
                <a:ea typeface="微软雅黑" panose="020B0503020204020204" pitchFamily="34" charset="-122"/>
              </a:rPr>
              <a:t>ZF=0</a:t>
            </a:r>
          </a:p>
          <a:p>
            <a:pPr eaLnBrk="0" hangingPunct="0">
              <a:spcBef>
                <a:spcPct val="15000"/>
              </a:spcBef>
            </a:pPr>
            <a:r>
              <a:rPr lang="en-US" altLang="zh-CN" sz="2400">
                <a:solidFill>
                  <a:srgbClr val="FF3300"/>
                </a:solidFill>
                <a:latin typeface="微软雅黑" panose="020B0503020204020204" pitchFamily="34" charset="-122"/>
                <a:ea typeface="微软雅黑" panose="020B0503020204020204" pitchFamily="34" charset="-122"/>
              </a:rPr>
              <a:t>SF=0</a:t>
            </a:r>
            <a:r>
              <a:rPr lang="zh-CN" altLang="en-US" sz="2400">
                <a:solidFill>
                  <a:srgbClr val="FF3300"/>
                </a:solidFill>
                <a:latin typeface="微软雅黑" panose="020B0503020204020204" pitchFamily="34" charset="-122"/>
                <a:ea typeface="微软雅黑" panose="020B0503020204020204" pitchFamily="34" charset="-122"/>
              </a:rPr>
              <a:t>、借位</a:t>
            </a:r>
            <a:r>
              <a:rPr lang="en-US" altLang="zh-CN" sz="2400">
                <a:solidFill>
                  <a:srgbClr val="FF3300"/>
                </a:solidFill>
                <a:latin typeface="微软雅黑" panose="020B0503020204020204" pitchFamily="34" charset="-122"/>
                <a:ea typeface="微软雅黑" panose="020B0503020204020204" pitchFamily="34" charset="-122"/>
              </a:rPr>
              <a:t>CF=0</a:t>
            </a:r>
          </a:p>
        </p:txBody>
      </p:sp>
      <p:sp>
        <p:nvSpPr>
          <p:cNvPr id="27672" name="Rectangle 28">
            <a:extLst>
              <a:ext uri="{FF2B5EF4-FFF2-40B4-BE49-F238E27FC236}">
                <a16:creationId xmlns:a16="http://schemas.microsoft.com/office/drawing/2014/main" id="{F8DF6511-EE70-0049-4580-689D2D2AD36B}"/>
              </a:ext>
            </a:extLst>
          </p:cNvPr>
          <p:cNvSpPr>
            <a:spLocks noChangeArrowheads="1"/>
          </p:cNvSpPr>
          <p:nvPr/>
        </p:nvSpPr>
        <p:spPr bwMode="auto">
          <a:xfrm>
            <a:off x="5211763" y="2849563"/>
            <a:ext cx="3286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a:t>
            </a:r>
          </a:p>
        </p:txBody>
      </p:sp>
      <p:sp>
        <p:nvSpPr>
          <p:cNvPr id="27673" name="Line 29">
            <a:extLst>
              <a:ext uri="{FF2B5EF4-FFF2-40B4-BE49-F238E27FC236}">
                <a16:creationId xmlns:a16="http://schemas.microsoft.com/office/drawing/2014/main" id="{2BBAF8D0-B155-D5F9-F137-C0F3AB724184}"/>
              </a:ext>
            </a:extLst>
          </p:cNvPr>
          <p:cNvSpPr>
            <a:spLocks noChangeShapeType="1"/>
          </p:cNvSpPr>
          <p:nvPr/>
        </p:nvSpPr>
        <p:spPr bwMode="auto">
          <a:xfrm>
            <a:off x="5232400" y="3154363"/>
            <a:ext cx="27305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4" name="Rectangle 92">
            <a:extLst>
              <a:ext uri="{FF2B5EF4-FFF2-40B4-BE49-F238E27FC236}">
                <a16:creationId xmlns:a16="http://schemas.microsoft.com/office/drawing/2014/main" id="{E4DDA557-EFA7-530D-0277-DCDFD990DF8F}"/>
              </a:ext>
            </a:extLst>
          </p:cNvPr>
          <p:cNvSpPr>
            <a:spLocks noChangeArrowheads="1"/>
          </p:cNvSpPr>
          <p:nvPr/>
        </p:nvSpPr>
        <p:spPr bwMode="auto">
          <a:xfrm>
            <a:off x="5937250" y="3159125"/>
            <a:ext cx="3254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75" name="Rectangle 93">
            <a:extLst>
              <a:ext uri="{FF2B5EF4-FFF2-40B4-BE49-F238E27FC236}">
                <a16:creationId xmlns:a16="http://schemas.microsoft.com/office/drawing/2014/main" id="{EBFE2AC2-18A8-8C00-1BFE-8DCBCE78D888}"/>
              </a:ext>
            </a:extLst>
          </p:cNvPr>
          <p:cNvSpPr>
            <a:spLocks noChangeArrowheads="1"/>
          </p:cNvSpPr>
          <p:nvPr/>
        </p:nvSpPr>
        <p:spPr bwMode="auto">
          <a:xfrm>
            <a:off x="6532563" y="31448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76" name="Rectangle 94">
            <a:extLst>
              <a:ext uri="{FF2B5EF4-FFF2-40B4-BE49-F238E27FC236}">
                <a16:creationId xmlns:a16="http://schemas.microsoft.com/office/drawing/2014/main" id="{655AF92F-7A70-3192-B36C-7D4F57B4CE2A}"/>
              </a:ext>
            </a:extLst>
          </p:cNvPr>
          <p:cNvSpPr>
            <a:spLocks noChangeArrowheads="1"/>
          </p:cNvSpPr>
          <p:nvPr/>
        </p:nvSpPr>
        <p:spPr bwMode="auto">
          <a:xfrm>
            <a:off x="7118350" y="31702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77" name="Rectangle 95">
            <a:extLst>
              <a:ext uri="{FF2B5EF4-FFF2-40B4-BE49-F238E27FC236}">
                <a16:creationId xmlns:a16="http://schemas.microsoft.com/office/drawing/2014/main" id="{BF8320F1-AA09-F576-12A3-9065B7888D71}"/>
              </a:ext>
            </a:extLst>
          </p:cNvPr>
          <p:cNvSpPr>
            <a:spLocks noChangeArrowheads="1"/>
          </p:cNvSpPr>
          <p:nvPr/>
        </p:nvSpPr>
        <p:spPr bwMode="auto">
          <a:xfrm>
            <a:off x="7091363" y="2751138"/>
            <a:ext cx="3254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78" name="Rectangle 96">
            <a:extLst>
              <a:ext uri="{FF2B5EF4-FFF2-40B4-BE49-F238E27FC236}">
                <a16:creationId xmlns:a16="http://schemas.microsoft.com/office/drawing/2014/main" id="{1376D03B-9AA6-97E3-3D39-A88F799479B6}"/>
              </a:ext>
            </a:extLst>
          </p:cNvPr>
          <p:cNvSpPr>
            <a:spLocks noChangeArrowheads="1"/>
          </p:cNvSpPr>
          <p:nvPr/>
        </p:nvSpPr>
        <p:spPr bwMode="auto">
          <a:xfrm>
            <a:off x="7645400" y="27432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79" name="Rectangle 97">
            <a:extLst>
              <a:ext uri="{FF2B5EF4-FFF2-40B4-BE49-F238E27FC236}">
                <a16:creationId xmlns:a16="http://schemas.microsoft.com/office/drawing/2014/main" id="{B5FB7BB2-A050-4CF7-93D1-13F1FFFF8E5B}"/>
              </a:ext>
            </a:extLst>
          </p:cNvPr>
          <p:cNvSpPr>
            <a:spLocks noChangeArrowheads="1"/>
          </p:cNvSpPr>
          <p:nvPr/>
        </p:nvSpPr>
        <p:spPr bwMode="auto">
          <a:xfrm>
            <a:off x="7651750" y="24082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80" name="Rectangle 98">
            <a:extLst>
              <a:ext uri="{FF2B5EF4-FFF2-40B4-BE49-F238E27FC236}">
                <a16:creationId xmlns:a16="http://schemas.microsoft.com/office/drawing/2014/main" id="{2F8414B3-843A-53C6-1E2F-33843F32DE9C}"/>
              </a:ext>
            </a:extLst>
          </p:cNvPr>
          <p:cNvSpPr>
            <a:spLocks noChangeArrowheads="1"/>
          </p:cNvSpPr>
          <p:nvPr/>
        </p:nvSpPr>
        <p:spPr bwMode="auto">
          <a:xfrm>
            <a:off x="7081838" y="2495550"/>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81" name="Rectangle 99">
            <a:extLst>
              <a:ext uri="{FF2B5EF4-FFF2-40B4-BE49-F238E27FC236}">
                <a16:creationId xmlns:a16="http://schemas.microsoft.com/office/drawing/2014/main" id="{ED239EDD-2849-D8BD-0745-0BDE97396566}"/>
              </a:ext>
            </a:extLst>
          </p:cNvPr>
          <p:cNvSpPr>
            <a:spLocks noChangeArrowheads="1"/>
          </p:cNvSpPr>
          <p:nvPr/>
        </p:nvSpPr>
        <p:spPr bwMode="auto">
          <a:xfrm>
            <a:off x="5930900" y="28051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grpSp>
        <p:nvGrpSpPr>
          <p:cNvPr id="27682" name="Group 137">
            <a:extLst>
              <a:ext uri="{FF2B5EF4-FFF2-40B4-BE49-F238E27FC236}">
                <a16:creationId xmlns:a16="http://schemas.microsoft.com/office/drawing/2014/main" id="{DC5A62A2-F819-1C7B-77F0-140BA9139628}"/>
              </a:ext>
            </a:extLst>
          </p:cNvPr>
          <p:cNvGrpSpPr>
            <a:grpSpLocks/>
          </p:cNvGrpSpPr>
          <p:nvPr/>
        </p:nvGrpSpPr>
        <p:grpSpPr bwMode="auto">
          <a:xfrm>
            <a:off x="6462713" y="2095500"/>
            <a:ext cx="1277937" cy="895350"/>
            <a:chOff x="4075" y="768"/>
            <a:chExt cx="805" cy="564"/>
          </a:xfrm>
        </p:grpSpPr>
        <p:sp>
          <p:nvSpPr>
            <p:cNvPr id="27683" name="Line 34">
              <a:extLst>
                <a:ext uri="{FF2B5EF4-FFF2-40B4-BE49-F238E27FC236}">
                  <a16:creationId xmlns:a16="http://schemas.microsoft.com/office/drawing/2014/main" id="{B72566AC-418D-E491-7FD2-9BA83E211F51}"/>
                </a:ext>
              </a:extLst>
            </p:cNvPr>
            <p:cNvSpPr>
              <a:spLocks noChangeShapeType="1"/>
            </p:cNvSpPr>
            <p:nvPr/>
          </p:nvSpPr>
          <p:spPr bwMode="auto">
            <a:xfrm flipH="1" flipV="1">
              <a:off x="4248"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4" name="Line 37">
              <a:extLst>
                <a:ext uri="{FF2B5EF4-FFF2-40B4-BE49-F238E27FC236}">
                  <a16:creationId xmlns:a16="http://schemas.microsoft.com/office/drawing/2014/main" id="{08F795FF-F693-83F9-56EC-5F165E2E37CA}"/>
                </a:ext>
              </a:extLst>
            </p:cNvPr>
            <p:cNvSpPr>
              <a:spLocks noChangeShapeType="1"/>
            </p:cNvSpPr>
            <p:nvPr/>
          </p:nvSpPr>
          <p:spPr bwMode="auto">
            <a:xfrm flipH="1" flipV="1">
              <a:off x="4632"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5" name="Rectangle 100">
              <a:extLst>
                <a:ext uri="{FF2B5EF4-FFF2-40B4-BE49-F238E27FC236}">
                  <a16:creationId xmlns:a16="http://schemas.microsoft.com/office/drawing/2014/main" id="{5442E978-9269-36BD-91F4-48DB1288F89A}"/>
                </a:ext>
              </a:extLst>
            </p:cNvPr>
            <p:cNvSpPr>
              <a:spLocks noChangeArrowheads="1"/>
            </p:cNvSpPr>
            <p:nvPr/>
          </p:nvSpPr>
          <p:spPr bwMode="auto">
            <a:xfrm>
              <a:off x="4459" y="768"/>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sp>
          <p:nvSpPr>
            <p:cNvPr id="27686" name="Rectangle 101">
              <a:extLst>
                <a:ext uri="{FF2B5EF4-FFF2-40B4-BE49-F238E27FC236}">
                  <a16:creationId xmlns:a16="http://schemas.microsoft.com/office/drawing/2014/main" id="{641E1601-8537-9D29-F16B-BBDDD71B9C8F}"/>
                </a:ext>
              </a:extLst>
            </p:cNvPr>
            <p:cNvSpPr>
              <a:spLocks noChangeArrowheads="1"/>
            </p:cNvSpPr>
            <p:nvPr/>
          </p:nvSpPr>
          <p:spPr bwMode="auto">
            <a:xfrm>
              <a:off x="4075" y="798"/>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grpSp>
      <p:sp>
        <p:nvSpPr>
          <p:cNvPr id="27687" name="Rectangle 109">
            <a:extLst>
              <a:ext uri="{FF2B5EF4-FFF2-40B4-BE49-F238E27FC236}">
                <a16:creationId xmlns:a16="http://schemas.microsoft.com/office/drawing/2014/main" id="{5438389C-6BEA-41D0-3BFF-6357F94939C6}"/>
              </a:ext>
            </a:extLst>
          </p:cNvPr>
          <p:cNvSpPr>
            <a:spLocks noChangeArrowheads="1"/>
          </p:cNvSpPr>
          <p:nvPr/>
        </p:nvSpPr>
        <p:spPr bwMode="auto">
          <a:xfrm>
            <a:off x="7654925" y="3157538"/>
            <a:ext cx="32543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88" name="Rectangle 110">
            <a:extLst>
              <a:ext uri="{FF2B5EF4-FFF2-40B4-BE49-F238E27FC236}">
                <a16:creationId xmlns:a16="http://schemas.microsoft.com/office/drawing/2014/main" id="{1CABA872-14C3-4A02-C590-187B3EF5640F}"/>
              </a:ext>
            </a:extLst>
          </p:cNvPr>
          <p:cNvSpPr>
            <a:spLocks noChangeArrowheads="1"/>
          </p:cNvSpPr>
          <p:nvPr/>
        </p:nvSpPr>
        <p:spPr bwMode="auto">
          <a:xfrm>
            <a:off x="6526213" y="2765425"/>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89" name="Rectangle 111">
            <a:extLst>
              <a:ext uri="{FF2B5EF4-FFF2-40B4-BE49-F238E27FC236}">
                <a16:creationId xmlns:a16="http://schemas.microsoft.com/office/drawing/2014/main" id="{AE357F3C-E057-7EAE-BFA5-45B297B818C9}"/>
              </a:ext>
            </a:extLst>
          </p:cNvPr>
          <p:cNvSpPr>
            <a:spLocks noChangeArrowheads="1"/>
          </p:cNvSpPr>
          <p:nvPr/>
        </p:nvSpPr>
        <p:spPr bwMode="auto">
          <a:xfrm>
            <a:off x="6519863" y="249078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1</a:t>
            </a:r>
          </a:p>
        </p:txBody>
      </p:sp>
      <p:sp>
        <p:nvSpPr>
          <p:cNvPr id="27690" name="Rectangle 112">
            <a:extLst>
              <a:ext uri="{FF2B5EF4-FFF2-40B4-BE49-F238E27FC236}">
                <a16:creationId xmlns:a16="http://schemas.microsoft.com/office/drawing/2014/main" id="{B58FF4A4-6965-28FF-8BCD-40FF6386C627}"/>
              </a:ext>
            </a:extLst>
          </p:cNvPr>
          <p:cNvSpPr>
            <a:spLocks noChangeArrowheads="1"/>
          </p:cNvSpPr>
          <p:nvPr/>
        </p:nvSpPr>
        <p:spPr bwMode="auto">
          <a:xfrm>
            <a:off x="5949950" y="249237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grpSp>
        <p:nvGrpSpPr>
          <p:cNvPr id="27691" name="Group 138">
            <a:extLst>
              <a:ext uri="{FF2B5EF4-FFF2-40B4-BE49-F238E27FC236}">
                <a16:creationId xmlns:a16="http://schemas.microsoft.com/office/drawing/2014/main" id="{4C7241F2-986F-5AF0-5096-2EF3E7BB09BC}"/>
              </a:ext>
            </a:extLst>
          </p:cNvPr>
          <p:cNvGrpSpPr>
            <a:grpSpLocks/>
          </p:cNvGrpSpPr>
          <p:nvPr/>
        </p:nvGrpSpPr>
        <p:grpSpPr bwMode="auto">
          <a:xfrm>
            <a:off x="5256213" y="2146300"/>
            <a:ext cx="1277937" cy="849313"/>
            <a:chOff x="4075" y="797"/>
            <a:chExt cx="805" cy="535"/>
          </a:xfrm>
        </p:grpSpPr>
        <p:sp>
          <p:nvSpPr>
            <p:cNvPr id="27692" name="Line 139">
              <a:extLst>
                <a:ext uri="{FF2B5EF4-FFF2-40B4-BE49-F238E27FC236}">
                  <a16:creationId xmlns:a16="http://schemas.microsoft.com/office/drawing/2014/main" id="{F8864B4A-1863-794D-AE4F-23D50288AC50}"/>
                </a:ext>
              </a:extLst>
            </p:cNvPr>
            <p:cNvSpPr>
              <a:spLocks noChangeShapeType="1"/>
            </p:cNvSpPr>
            <p:nvPr/>
          </p:nvSpPr>
          <p:spPr bwMode="auto">
            <a:xfrm flipH="1" flipV="1">
              <a:off x="4248"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3" name="Line 140">
              <a:extLst>
                <a:ext uri="{FF2B5EF4-FFF2-40B4-BE49-F238E27FC236}">
                  <a16:creationId xmlns:a16="http://schemas.microsoft.com/office/drawing/2014/main" id="{6ABD2D7F-E7A5-0E0F-72DC-EADC7CFB7269}"/>
                </a:ext>
              </a:extLst>
            </p:cNvPr>
            <p:cNvSpPr>
              <a:spLocks noChangeShapeType="1"/>
            </p:cNvSpPr>
            <p:nvPr/>
          </p:nvSpPr>
          <p:spPr bwMode="auto">
            <a:xfrm flipH="1" flipV="1">
              <a:off x="4632" y="892"/>
              <a:ext cx="248" cy="44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4" name="Rectangle 141">
              <a:extLst>
                <a:ext uri="{FF2B5EF4-FFF2-40B4-BE49-F238E27FC236}">
                  <a16:creationId xmlns:a16="http://schemas.microsoft.com/office/drawing/2014/main" id="{7DDFFDDF-632C-1D41-A1CC-F78858265AF2}"/>
                </a:ext>
              </a:extLst>
            </p:cNvPr>
            <p:cNvSpPr>
              <a:spLocks noChangeArrowheads="1"/>
            </p:cNvSpPr>
            <p:nvPr/>
          </p:nvSpPr>
          <p:spPr bwMode="auto">
            <a:xfrm>
              <a:off x="4470" y="797"/>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000">
                  <a:solidFill>
                    <a:schemeClr val="tx1"/>
                  </a:solidFill>
                </a:rPr>
                <a:t>1</a:t>
              </a:r>
            </a:p>
          </p:txBody>
        </p:sp>
        <p:sp>
          <p:nvSpPr>
            <p:cNvPr id="27695" name="Rectangle 142">
              <a:extLst>
                <a:ext uri="{FF2B5EF4-FFF2-40B4-BE49-F238E27FC236}">
                  <a16:creationId xmlns:a16="http://schemas.microsoft.com/office/drawing/2014/main" id="{9B7130EA-B1BE-83FB-416A-CA386EBDF302}"/>
                </a:ext>
              </a:extLst>
            </p:cNvPr>
            <p:cNvSpPr>
              <a:spLocks noChangeArrowheads="1"/>
            </p:cNvSpPr>
            <p:nvPr/>
          </p:nvSpPr>
          <p:spPr bwMode="auto">
            <a:xfrm>
              <a:off x="4075" y="798"/>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solidFill>
                    <a:schemeClr val="tx1"/>
                  </a:solidFill>
                </a:rPr>
                <a:t>0</a:t>
              </a:r>
            </a:p>
          </p:txBody>
        </p:sp>
      </p:grpSp>
      <p:sp>
        <p:nvSpPr>
          <p:cNvPr id="27696" name="Text Box 90">
            <a:extLst>
              <a:ext uri="{FF2B5EF4-FFF2-40B4-BE49-F238E27FC236}">
                <a16:creationId xmlns:a16="http://schemas.microsoft.com/office/drawing/2014/main" id="{FB1E2DF7-AAC6-37E7-A20E-F97FED8D245D}"/>
              </a:ext>
            </a:extLst>
          </p:cNvPr>
          <p:cNvSpPr txBox="1">
            <a:spLocks noChangeArrowheads="1"/>
          </p:cNvSpPr>
          <p:nvPr/>
        </p:nvSpPr>
        <p:spPr bwMode="auto">
          <a:xfrm>
            <a:off x="5446713" y="3819525"/>
            <a:ext cx="3367087"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15000"/>
              </a:spcBef>
            </a:pPr>
            <a:r>
              <a:rPr lang="en-US" altLang="zh-CN" sz="2400">
                <a:solidFill>
                  <a:srgbClr val="FF3300"/>
                </a:solidFill>
                <a:latin typeface="微软雅黑" panose="020B0503020204020204" pitchFamily="34" charset="-122"/>
                <a:ea typeface="微软雅黑" panose="020B0503020204020204" pitchFamily="34" charset="-122"/>
              </a:rPr>
              <a:t>OF=1</a:t>
            </a:r>
            <a:r>
              <a:rPr lang="zh-CN" altLang="en-US" sz="2400">
                <a:solidFill>
                  <a:srgbClr val="FF3300"/>
                </a:solidFill>
                <a:latin typeface="微软雅黑" panose="020B0503020204020204" pitchFamily="34" charset="-122"/>
                <a:ea typeface="微软雅黑" panose="020B0503020204020204" pitchFamily="34" charset="-122"/>
              </a:rPr>
              <a:t>、</a:t>
            </a:r>
            <a:r>
              <a:rPr lang="en-US" altLang="zh-CN" sz="2400">
                <a:solidFill>
                  <a:srgbClr val="FF3300"/>
                </a:solidFill>
                <a:latin typeface="微软雅黑" panose="020B0503020204020204" pitchFamily="34" charset="-122"/>
                <a:ea typeface="微软雅黑" panose="020B0503020204020204" pitchFamily="34" charset="-122"/>
              </a:rPr>
              <a:t>ZF=0</a:t>
            </a:r>
          </a:p>
          <a:p>
            <a:pPr eaLnBrk="0" hangingPunct="0">
              <a:spcBef>
                <a:spcPct val="15000"/>
              </a:spcBef>
            </a:pPr>
            <a:r>
              <a:rPr lang="en-US" altLang="zh-CN" sz="2400">
                <a:solidFill>
                  <a:srgbClr val="FF3300"/>
                </a:solidFill>
                <a:latin typeface="微软雅黑" panose="020B0503020204020204" pitchFamily="34" charset="-122"/>
                <a:ea typeface="微软雅黑" panose="020B0503020204020204" pitchFamily="34" charset="-122"/>
              </a:rPr>
              <a:t>SF=1</a:t>
            </a:r>
            <a:r>
              <a:rPr lang="zh-CN" altLang="en-US" sz="2400">
                <a:solidFill>
                  <a:srgbClr val="FF3300"/>
                </a:solidFill>
                <a:latin typeface="微软雅黑" panose="020B0503020204020204" pitchFamily="34" charset="-122"/>
                <a:ea typeface="微软雅黑" panose="020B0503020204020204" pitchFamily="34" charset="-122"/>
              </a:rPr>
              <a:t>、借位</a:t>
            </a:r>
            <a:r>
              <a:rPr lang="en-US" altLang="zh-CN" sz="2400">
                <a:solidFill>
                  <a:srgbClr val="FF3300"/>
                </a:solidFill>
                <a:latin typeface="微软雅黑" panose="020B0503020204020204" pitchFamily="34" charset="-122"/>
                <a:ea typeface="微软雅黑" panose="020B0503020204020204" pitchFamily="34" charset="-122"/>
              </a:rPr>
              <a:t>CF=1</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B1BEEF4D-8734-8683-829E-891615A9BDE7}"/>
              </a:ext>
            </a:extLst>
          </p:cNvPr>
          <p:cNvSpPr>
            <a:spLocks noGrp="1" noChangeArrowheads="1"/>
          </p:cNvSpPr>
          <p:nvPr>
            <p:ph type="title"/>
          </p:nvPr>
        </p:nvSpPr>
        <p:spPr>
          <a:xfrm>
            <a:off x="457200" y="98425"/>
            <a:ext cx="8229600" cy="425450"/>
          </a:xfrm>
        </p:spPr>
        <p:txBody>
          <a:bodyPr/>
          <a:lstStyle/>
          <a:p>
            <a:r>
              <a:rPr lang="en-US" altLang="zh-CN" sz="2800">
                <a:ea typeface="宋体" panose="02010600030101010101" pitchFamily="2" charset="-122"/>
              </a:rPr>
              <a:t>IA-32</a:t>
            </a:r>
            <a:r>
              <a:rPr lang="zh-CN" altLang="en-US" sz="2800">
                <a:ea typeface="宋体" panose="02010600030101010101" pitchFamily="2" charset="-122"/>
              </a:rPr>
              <a:t>中的条件转移指令</a:t>
            </a:r>
          </a:p>
        </p:txBody>
      </p:sp>
      <p:sp>
        <p:nvSpPr>
          <p:cNvPr id="633859" name="Rectangle 3">
            <a:extLst>
              <a:ext uri="{FF2B5EF4-FFF2-40B4-BE49-F238E27FC236}">
                <a16:creationId xmlns:a16="http://schemas.microsoft.com/office/drawing/2014/main" id="{2B5EC689-78C5-3DD6-33D1-7C02F02663F2}"/>
              </a:ext>
            </a:extLst>
          </p:cNvPr>
          <p:cNvSpPr>
            <a:spLocks noGrp="1" noChangeArrowheads="1"/>
          </p:cNvSpPr>
          <p:nvPr>
            <p:ph idx="1"/>
          </p:nvPr>
        </p:nvSpPr>
        <p:spPr>
          <a:xfrm>
            <a:off x="115888" y="911225"/>
            <a:ext cx="1709737" cy="5218113"/>
          </a:xfrm>
        </p:spPr>
        <p:txBody>
          <a:bodyPr/>
          <a:lstStyle/>
          <a:p>
            <a:pPr>
              <a:buFontTx/>
              <a:buNone/>
            </a:pPr>
            <a:r>
              <a:rPr lang="zh-CN" altLang="en-US">
                <a:ea typeface="微软雅黑" panose="020B0503020204020204" pitchFamily="34" charset="-122"/>
              </a:rPr>
              <a:t>分三类：</a:t>
            </a:r>
          </a:p>
          <a:p>
            <a:pPr>
              <a:spcBef>
                <a:spcPct val="45000"/>
              </a:spcBef>
              <a:buFontTx/>
              <a:buNone/>
            </a:pPr>
            <a:r>
              <a:rPr lang="en-US" altLang="zh-CN" sz="2200">
                <a:solidFill>
                  <a:srgbClr val="3333CC"/>
                </a:solidFill>
                <a:latin typeface="微软雅黑" panose="020B0503020204020204" pitchFamily="34" charset="-122"/>
                <a:ea typeface="微软雅黑" panose="020B0503020204020204" pitchFamily="34" charset="-122"/>
              </a:rPr>
              <a:t>(1)</a:t>
            </a:r>
            <a:r>
              <a:rPr lang="zh-CN" altLang="en-US" sz="2200">
                <a:solidFill>
                  <a:srgbClr val="3333CC"/>
                </a:solidFill>
                <a:latin typeface="微软雅黑" panose="020B0503020204020204" pitchFamily="34" charset="-122"/>
                <a:ea typeface="微软雅黑" panose="020B0503020204020204" pitchFamily="34" charset="-122"/>
              </a:rPr>
              <a:t>根据单个标志的值转移</a:t>
            </a:r>
          </a:p>
          <a:p>
            <a:pPr>
              <a:spcBef>
                <a:spcPct val="45000"/>
              </a:spcBef>
              <a:buFontTx/>
              <a:buNone/>
            </a:pPr>
            <a:r>
              <a:rPr lang="en-US" altLang="zh-CN" sz="2200">
                <a:solidFill>
                  <a:srgbClr val="3333CC"/>
                </a:solidFill>
                <a:latin typeface="微软雅黑" panose="020B0503020204020204" pitchFamily="34" charset="-122"/>
                <a:ea typeface="微软雅黑" panose="020B0503020204020204" pitchFamily="34" charset="-122"/>
              </a:rPr>
              <a:t>(2)</a:t>
            </a:r>
            <a:r>
              <a:rPr lang="zh-CN" altLang="en-US" sz="2200">
                <a:solidFill>
                  <a:srgbClr val="3333CC"/>
                </a:solidFill>
                <a:latin typeface="微软雅黑" panose="020B0503020204020204" pitchFamily="34" charset="-122"/>
                <a:ea typeface="微软雅黑" panose="020B0503020204020204" pitchFamily="34" charset="-122"/>
              </a:rPr>
              <a:t>按无符号整数比较转移</a:t>
            </a:r>
          </a:p>
          <a:p>
            <a:pPr>
              <a:spcBef>
                <a:spcPct val="45000"/>
              </a:spcBef>
              <a:buFontTx/>
              <a:buNone/>
            </a:pPr>
            <a:r>
              <a:rPr lang="en-US" altLang="zh-CN" sz="2200">
                <a:solidFill>
                  <a:srgbClr val="3333CC"/>
                </a:solidFill>
                <a:latin typeface="微软雅黑" panose="020B0503020204020204" pitchFamily="34" charset="-122"/>
                <a:ea typeface="微软雅黑" panose="020B0503020204020204" pitchFamily="34" charset="-122"/>
              </a:rPr>
              <a:t>(3)</a:t>
            </a:r>
            <a:r>
              <a:rPr lang="zh-CN" altLang="en-US" sz="2200">
                <a:solidFill>
                  <a:srgbClr val="3333CC"/>
                </a:solidFill>
                <a:latin typeface="微软雅黑" panose="020B0503020204020204" pitchFamily="34" charset="-122"/>
                <a:ea typeface="微软雅黑" panose="020B0503020204020204" pitchFamily="34" charset="-122"/>
              </a:rPr>
              <a:t>按带符号整数比较转移</a:t>
            </a:r>
          </a:p>
        </p:txBody>
      </p:sp>
      <p:grpSp>
        <p:nvGrpSpPr>
          <p:cNvPr id="633864" name="Group 8">
            <a:extLst>
              <a:ext uri="{FF2B5EF4-FFF2-40B4-BE49-F238E27FC236}">
                <a16:creationId xmlns:a16="http://schemas.microsoft.com/office/drawing/2014/main" id="{DEAC32E4-3AFC-F55B-DF43-0BEEC7E953B9}"/>
              </a:ext>
            </a:extLst>
          </p:cNvPr>
          <p:cNvGrpSpPr>
            <a:grpSpLocks/>
          </p:cNvGrpSpPr>
          <p:nvPr/>
        </p:nvGrpSpPr>
        <p:grpSpPr bwMode="auto">
          <a:xfrm>
            <a:off x="1916113" y="188913"/>
            <a:ext cx="7137400" cy="6480175"/>
            <a:chOff x="1207" y="516"/>
            <a:chExt cx="4496" cy="3685"/>
          </a:xfrm>
        </p:grpSpPr>
        <p:pic>
          <p:nvPicPr>
            <p:cNvPr id="29700" name="Picture 4">
              <a:extLst>
                <a:ext uri="{FF2B5EF4-FFF2-40B4-BE49-F238E27FC236}">
                  <a16:creationId xmlns:a16="http://schemas.microsoft.com/office/drawing/2014/main" id="{290C1483-ABA3-60CD-D835-52748959A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 y="516"/>
              <a:ext cx="4496" cy="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Rectangle 5">
              <a:extLst>
                <a:ext uri="{FF2B5EF4-FFF2-40B4-BE49-F238E27FC236}">
                  <a16:creationId xmlns:a16="http://schemas.microsoft.com/office/drawing/2014/main" id="{66E7841F-21E8-F18D-2565-241BDA07AAAE}"/>
                </a:ext>
              </a:extLst>
            </p:cNvPr>
            <p:cNvSpPr>
              <a:spLocks noChangeArrowheads="1"/>
            </p:cNvSpPr>
            <p:nvPr/>
          </p:nvSpPr>
          <p:spPr bwMode="auto">
            <a:xfrm>
              <a:off x="1633" y="743"/>
              <a:ext cx="4025" cy="1700"/>
            </a:xfrm>
            <a:prstGeom prst="rect">
              <a:avLst/>
            </a:prstGeom>
            <a:solidFill>
              <a:schemeClr val="accent1">
                <a:alpha val="18039"/>
              </a:schemeClr>
            </a:solidFill>
            <a:ln w="9525">
              <a:solidFill>
                <a:schemeClr val="tx1"/>
              </a:solidFill>
              <a:miter lim="800000"/>
              <a:headEnd/>
              <a:tailEnd/>
            </a:ln>
          </p:spPr>
          <p:txBody>
            <a:bodyPr wrap="none" anchor="ctr"/>
            <a:lstStyle/>
            <a:p>
              <a:pPr eaLnBrk="0" hangingPunct="0"/>
              <a:endParaRPr lang="zh-CN" altLang="en-US"/>
            </a:p>
          </p:txBody>
        </p:sp>
        <p:sp>
          <p:nvSpPr>
            <p:cNvPr id="29702" name="Rectangle 6">
              <a:extLst>
                <a:ext uri="{FF2B5EF4-FFF2-40B4-BE49-F238E27FC236}">
                  <a16:creationId xmlns:a16="http://schemas.microsoft.com/office/drawing/2014/main" id="{475BC52F-B94F-4D36-B1AD-A4CA6462AC10}"/>
                </a:ext>
              </a:extLst>
            </p:cNvPr>
            <p:cNvSpPr>
              <a:spLocks noChangeArrowheads="1"/>
            </p:cNvSpPr>
            <p:nvPr/>
          </p:nvSpPr>
          <p:spPr bwMode="auto">
            <a:xfrm>
              <a:off x="1633" y="2443"/>
              <a:ext cx="4025" cy="851"/>
            </a:xfrm>
            <a:prstGeom prst="rect">
              <a:avLst/>
            </a:prstGeom>
            <a:solidFill>
              <a:srgbClr val="FF0000">
                <a:alpha val="18039"/>
              </a:srgbClr>
            </a:solidFill>
            <a:ln w="9525">
              <a:solidFill>
                <a:schemeClr val="tx1"/>
              </a:solidFill>
              <a:miter lim="800000"/>
              <a:headEnd/>
              <a:tailEnd/>
            </a:ln>
          </p:spPr>
          <p:txBody>
            <a:bodyPr wrap="none" anchor="ctr"/>
            <a:lstStyle/>
            <a:p>
              <a:pPr eaLnBrk="0" hangingPunct="0"/>
              <a:endParaRPr lang="zh-CN" altLang="en-US"/>
            </a:p>
          </p:txBody>
        </p:sp>
        <p:sp>
          <p:nvSpPr>
            <p:cNvPr id="29703" name="Rectangle 7">
              <a:extLst>
                <a:ext uri="{FF2B5EF4-FFF2-40B4-BE49-F238E27FC236}">
                  <a16:creationId xmlns:a16="http://schemas.microsoft.com/office/drawing/2014/main" id="{34923182-DD11-24EC-07B0-0EAB172A1B99}"/>
                </a:ext>
              </a:extLst>
            </p:cNvPr>
            <p:cNvSpPr>
              <a:spLocks noChangeArrowheads="1"/>
            </p:cNvSpPr>
            <p:nvPr/>
          </p:nvSpPr>
          <p:spPr bwMode="auto">
            <a:xfrm>
              <a:off x="1633" y="3294"/>
              <a:ext cx="4025" cy="850"/>
            </a:xfrm>
            <a:prstGeom prst="rect">
              <a:avLst/>
            </a:prstGeom>
            <a:solidFill>
              <a:srgbClr val="FFFF00">
                <a:alpha val="18039"/>
              </a:srgbClr>
            </a:solidFill>
            <a:ln w="9525">
              <a:solidFill>
                <a:schemeClr val="tx1"/>
              </a:solidFill>
              <a:miter lim="800000"/>
              <a:headEnd/>
              <a:tailEnd/>
            </a:ln>
          </p:spPr>
          <p:txBody>
            <a:bodyPr wrap="none" anchor="ctr"/>
            <a:lstStyle/>
            <a:p>
              <a:pPr eaLnBrk="0" hangingPunct="0"/>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3864"/>
                                        </p:tgtEl>
                                        <p:attrNameLst>
                                          <p:attrName>style.visibility</p:attrName>
                                        </p:attrNameLst>
                                      </p:cBhvr>
                                      <p:to>
                                        <p:strVal val="visible"/>
                                      </p:to>
                                    </p:set>
                                    <p:animEffect transition="in" filter="blinds(horizontal)">
                                      <p:cBhvr>
                                        <p:cTn id="7" dur="500"/>
                                        <p:tgtEl>
                                          <p:spTgt spid="6338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3859">
                                            <p:txEl>
                                              <p:pRg st="0" end="0"/>
                                            </p:txEl>
                                          </p:spTgt>
                                        </p:tgtEl>
                                        <p:attrNameLst>
                                          <p:attrName>style.visibility</p:attrName>
                                        </p:attrNameLst>
                                      </p:cBhvr>
                                      <p:to>
                                        <p:strVal val="visible"/>
                                      </p:to>
                                    </p:set>
                                    <p:animEffect transition="in" filter="blinds(horizontal)">
                                      <p:cBhvr>
                                        <p:cTn id="12" dur="500"/>
                                        <p:tgtEl>
                                          <p:spTgt spid="6338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3859">
                                            <p:txEl>
                                              <p:pRg st="1" end="1"/>
                                            </p:txEl>
                                          </p:spTgt>
                                        </p:tgtEl>
                                        <p:attrNameLst>
                                          <p:attrName>style.visibility</p:attrName>
                                        </p:attrNameLst>
                                      </p:cBhvr>
                                      <p:to>
                                        <p:strVal val="visible"/>
                                      </p:to>
                                    </p:set>
                                    <p:animEffect transition="in" filter="blinds(horizontal)">
                                      <p:cBhvr>
                                        <p:cTn id="17" dur="500"/>
                                        <p:tgtEl>
                                          <p:spTgt spid="6338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3859">
                                            <p:txEl>
                                              <p:pRg st="2" end="2"/>
                                            </p:txEl>
                                          </p:spTgt>
                                        </p:tgtEl>
                                        <p:attrNameLst>
                                          <p:attrName>style.visibility</p:attrName>
                                        </p:attrNameLst>
                                      </p:cBhvr>
                                      <p:to>
                                        <p:strVal val="visible"/>
                                      </p:to>
                                    </p:set>
                                    <p:animEffect transition="in" filter="blinds(horizontal)">
                                      <p:cBhvr>
                                        <p:cTn id="22" dur="500"/>
                                        <p:tgtEl>
                                          <p:spTgt spid="63385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33859">
                                            <p:txEl>
                                              <p:pRg st="3" end="3"/>
                                            </p:txEl>
                                          </p:spTgt>
                                        </p:tgtEl>
                                        <p:attrNameLst>
                                          <p:attrName>style.visibility</p:attrName>
                                        </p:attrNameLst>
                                      </p:cBhvr>
                                      <p:to>
                                        <p:strVal val="visible"/>
                                      </p:to>
                                    </p:set>
                                    <p:animEffect transition="in" filter="blinds(horizontal)">
                                      <p:cBhvr>
                                        <p:cTn id="27" dur="500"/>
                                        <p:tgtEl>
                                          <p:spTgt spid="633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F474FB43-8E62-0BC6-A6E2-93964A00D8F2}"/>
              </a:ext>
            </a:extLst>
          </p:cNvPr>
          <p:cNvSpPr>
            <a:spLocks noGrp="1" noChangeArrowheads="1"/>
          </p:cNvSpPr>
          <p:nvPr>
            <p:ph type="title"/>
          </p:nvPr>
        </p:nvSpPr>
        <p:spPr>
          <a:xfrm>
            <a:off x="711200" y="80963"/>
            <a:ext cx="7400925" cy="368300"/>
          </a:xfrm>
        </p:spPr>
        <p:txBody>
          <a:bodyPr/>
          <a:lstStyle/>
          <a:p>
            <a:r>
              <a:rPr lang="zh-CN" altLang="en-US">
                <a:ea typeface="宋体" panose="02010600030101010101" pitchFamily="2" charset="-122"/>
              </a:rPr>
              <a:t>指令设计风格 </a:t>
            </a:r>
            <a:r>
              <a:rPr lang="en-US" altLang="zh-CN">
                <a:ea typeface="宋体" panose="02010600030101010101" pitchFamily="2" charset="-122"/>
              </a:rPr>
              <a:t>-- </a:t>
            </a:r>
            <a:r>
              <a:rPr lang="zh-CN" altLang="en-US">
                <a:ea typeface="宋体" panose="02010600030101010101" pitchFamily="2" charset="-122"/>
              </a:rPr>
              <a:t>按操作数位置指定风格来分</a:t>
            </a:r>
          </a:p>
        </p:txBody>
      </p:sp>
      <p:sp>
        <p:nvSpPr>
          <p:cNvPr id="358403" name="Rectangle 3">
            <a:extLst>
              <a:ext uri="{FF2B5EF4-FFF2-40B4-BE49-F238E27FC236}">
                <a16:creationId xmlns:a16="http://schemas.microsoft.com/office/drawing/2014/main" id="{923BE215-2E78-398B-24D8-3D827CBCD146}"/>
              </a:ext>
            </a:extLst>
          </p:cNvPr>
          <p:cNvSpPr>
            <a:spLocks noGrp="1" noChangeArrowheads="1"/>
          </p:cNvSpPr>
          <p:nvPr>
            <p:ph idx="1"/>
          </p:nvPr>
        </p:nvSpPr>
        <p:spPr>
          <a:xfrm>
            <a:off x="274638" y="630238"/>
            <a:ext cx="8585200" cy="5922962"/>
          </a:xfrm>
        </p:spPr>
        <p:txBody>
          <a:bodyPr lIns="63500" tIns="25400" rIns="63500" bIns="25400">
            <a:spAutoFit/>
          </a:bodyPr>
          <a:lstStyle/>
          <a:p>
            <a:pPr marL="342900" indent="-342900">
              <a:lnSpc>
                <a:spcPct val="100000"/>
              </a:lnSpc>
              <a:spcBef>
                <a:spcPct val="15000"/>
              </a:spcBef>
              <a:buFont typeface="Wingdings" panose="05000000000000000000" pitchFamily="2" charset="2"/>
              <a:buNone/>
              <a:tabLst>
                <a:tab pos="1828800" algn="l"/>
                <a:tab pos="3657600" algn="l"/>
              </a:tabLst>
            </a:pPr>
            <a:r>
              <a:rPr lang="en-US" altLang="zh-CN" u="sng">
                <a:solidFill>
                  <a:schemeClr val="accent2"/>
                </a:solidFill>
                <a:latin typeface="Arial" panose="020B0604020202020204" pitchFamily="34" charset="0"/>
                <a:ea typeface="黑体" panose="02010609060101010101" pitchFamily="49" charset="-122"/>
              </a:rPr>
              <a:t>Accumulator: </a:t>
            </a:r>
            <a:r>
              <a:rPr lang="en-US" altLang="zh-CN">
                <a:solidFill>
                  <a:schemeClr val="accent2"/>
                </a:solidFill>
                <a:latin typeface="Arial" panose="020B0604020202020204" pitchFamily="34" charset="0"/>
                <a:ea typeface="黑体" panose="02010609060101010101" pitchFamily="49" charset="-122"/>
              </a:rPr>
              <a:t>(earliest machines</a:t>
            </a:r>
            <a:r>
              <a:rPr lang="en-US" altLang="zh-CN" u="sng">
                <a:solidFill>
                  <a:schemeClr val="accent2"/>
                </a:solidFill>
                <a:latin typeface="Arial" panose="020B0604020202020204" pitchFamily="34" charset="0"/>
                <a:ea typeface="黑体" panose="02010609060101010101" pitchFamily="49" charset="-122"/>
              </a:rPr>
              <a:t>) </a:t>
            </a:r>
            <a:r>
              <a:rPr lang="zh-CN" altLang="en-US" u="sng">
                <a:solidFill>
                  <a:schemeClr val="accent2"/>
                </a:solidFill>
                <a:latin typeface="Arial" panose="020B0604020202020204" pitchFamily="34" charset="0"/>
                <a:ea typeface="黑体" panose="02010609060101010101" pitchFamily="49" charset="-122"/>
              </a:rPr>
              <a:t>累加器型</a:t>
            </a:r>
          </a:p>
          <a:p>
            <a:pPr marL="342900" indent="-342900">
              <a:lnSpc>
                <a:spcPct val="100000"/>
              </a:lnSpc>
              <a:spcBef>
                <a:spcPct val="15000"/>
              </a:spcBef>
              <a:buFont typeface="Wingdings" panose="05000000000000000000" pitchFamily="2" charset="2"/>
              <a:buNone/>
              <a:tabLst>
                <a:tab pos="1828800" algn="l"/>
                <a:tab pos="3657600" algn="l"/>
              </a:tabLst>
            </a:pPr>
            <a:r>
              <a:rPr lang="zh-CN" altLang="en-US">
                <a:solidFill>
                  <a:schemeClr val="accent1"/>
                </a:solidFill>
                <a:latin typeface="Arial" panose="020B0604020202020204" pitchFamily="34" charset="0"/>
                <a:ea typeface="黑体" panose="02010609060101010101" pitchFamily="49" charset="-122"/>
              </a:rPr>
              <a:t>特点：其中一个操作数（源操作数</a:t>
            </a:r>
            <a:r>
              <a:rPr lang="en-US" altLang="zh-CN">
                <a:solidFill>
                  <a:schemeClr val="accent1"/>
                </a:solidFill>
                <a:latin typeface="Arial" panose="020B0604020202020204" pitchFamily="34" charset="0"/>
                <a:ea typeface="黑体" panose="02010609060101010101" pitchFamily="49" charset="-122"/>
              </a:rPr>
              <a:t>1</a:t>
            </a:r>
            <a:r>
              <a:rPr lang="zh-CN" altLang="en-US">
                <a:solidFill>
                  <a:schemeClr val="accent1"/>
                </a:solidFill>
                <a:latin typeface="Arial" panose="020B0604020202020204" pitchFamily="34" charset="0"/>
                <a:ea typeface="黑体" panose="02010609060101010101" pitchFamily="49" charset="-122"/>
              </a:rPr>
              <a:t>）和目的操作数总在累加器中</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1 address	          add A	    acc  </a:t>
            </a:r>
            <a:r>
              <a:rPr lang="en-US" altLang="zh-CN"/>
              <a:t>←</a:t>
            </a:r>
            <a:r>
              <a:rPr lang="en-US" altLang="zh-CN">
                <a:latin typeface="Arial" panose="020B0604020202020204" pitchFamily="34" charset="0"/>
                <a:ea typeface="黑体" panose="02010609060101010101" pitchFamily="49" charset="-122"/>
              </a:rPr>
              <a:t> acc + mem[A]</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1(+x) address        add x A	    acc </a:t>
            </a:r>
            <a:r>
              <a:rPr lang="en-US" altLang="zh-CN"/>
              <a:t>←</a:t>
            </a:r>
            <a:r>
              <a:rPr lang="en-US" altLang="zh-CN">
                <a:latin typeface="Arial" panose="020B0604020202020204" pitchFamily="34" charset="0"/>
                <a:ea typeface="黑体" panose="02010609060101010101" pitchFamily="49" charset="-122"/>
              </a:rPr>
              <a:t> acc + mem[A + x]</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u="sng">
                <a:solidFill>
                  <a:schemeClr val="accent2"/>
                </a:solidFill>
                <a:latin typeface="Arial" panose="020B0604020202020204" pitchFamily="34" charset="0"/>
                <a:ea typeface="黑体" panose="02010609060101010101" pitchFamily="49" charset="-122"/>
              </a:rPr>
              <a:t>Stack: </a:t>
            </a:r>
            <a:r>
              <a:rPr lang="en-US" altLang="zh-CN">
                <a:solidFill>
                  <a:schemeClr val="accent2"/>
                </a:solidFill>
                <a:latin typeface="Arial" panose="020B0604020202020204" pitchFamily="34" charset="0"/>
                <a:ea typeface="黑体" panose="02010609060101010101" pitchFamily="49" charset="-122"/>
              </a:rPr>
              <a:t>(e.g. HP calculator, Java virtual machines</a:t>
            </a:r>
            <a:r>
              <a:rPr lang="en-US" altLang="zh-CN" u="sng">
                <a:solidFill>
                  <a:schemeClr val="accent2"/>
                </a:solidFill>
                <a:latin typeface="Arial" panose="020B0604020202020204" pitchFamily="34" charset="0"/>
                <a:ea typeface="黑体" panose="02010609060101010101" pitchFamily="49" charset="-122"/>
              </a:rPr>
              <a:t>) </a:t>
            </a:r>
            <a:r>
              <a:rPr lang="zh-CN" altLang="en-US" u="sng">
                <a:solidFill>
                  <a:schemeClr val="accent2"/>
                </a:solidFill>
                <a:latin typeface="Arial" panose="020B0604020202020204" pitchFamily="34" charset="0"/>
                <a:ea typeface="黑体" panose="02010609060101010101" pitchFamily="49" charset="-122"/>
              </a:rPr>
              <a:t>栈型</a:t>
            </a:r>
          </a:p>
          <a:p>
            <a:pPr marL="342900" indent="-342900">
              <a:lnSpc>
                <a:spcPct val="100000"/>
              </a:lnSpc>
              <a:spcBef>
                <a:spcPct val="15000"/>
              </a:spcBef>
              <a:buFont typeface="Wingdings" panose="05000000000000000000" pitchFamily="2" charset="2"/>
              <a:buNone/>
              <a:tabLst>
                <a:tab pos="1828800" algn="l"/>
                <a:tab pos="3657600" algn="l"/>
              </a:tabLst>
            </a:pPr>
            <a:r>
              <a:rPr lang="zh-CN" altLang="en-US">
                <a:solidFill>
                  <a:schemeClr val="accent1"/>
                </a:solidFill>
                <a:latin typeface="Arial" panose="020B0604020202020204" pitchFamily="34" charset="0"/>
                <a:ea typeface="黑体" panose="02010609060101010101" pitchFamily="49" charset="-122"/>
              </a:rPr>
              <a:t>特点：总是将栈顶两个操作数进行运算，指令无需指定操作数地址</a:t>
            </a:r>
            <a:endParaRPr lang="zh-CN" altLang="en-US" u="sng">
              <a:solidFill>
                <a:schemeClr val="accent1"/>
              </a:solidFill>
              <a:latin typeface="Arial" panose="020B0604020202020204" pitchFamily="34" charset="0"/>
              <a:ea typeface="黑体" panose="02010609060101010101" pitchFamily="49" charset="-122"/>
            </a:endParaRP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0 address	           add	    tos </a:t>
            </a:r>
            <a:r>
              <a:rPr lang="en-US" altLang="zh-CN"/>
              <a:t>←</a:t>
            </a:r>
            <a:r>
              <a:rPr lang="en-US" altLang="zh-CN">
                <a:latin typeface="Arial" panose="020B0604020202020204" pitchFamily="34" charset="0"/>
                <a:ea typeface="黑体" panose="02010609060101010101" pitchFamily="49" charset="-122"/>
              </a:rPr>
              <a:t> tos + next</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u="sng">
                <a:solidFill>
                  <a:schemeClr val="accent2"/>
                </a:solidFill>
                <a:latin typeface="Arial" panose="020B0604020202020204" pitchFamily="34" charset="0"/>
                <a:ea typeface="黑体" panose="02010609060101010101" pitchFamily="49" charset="-122"/>
              </a:rPr>
              <a:t>General Purpose Register: </a:t>
            </a:r>
            <a:r>
              <a:rPr lang="en-US" altLang="zh-CN">
                <a:solidFill>
                  <a:schemeClr val="accent2"/>
                </a:solidFill>
                <a:latin typeface="Arial" panose="020B0604020202020204" pitchFamily="34" charset="0"/>
                <a:ea typeface="黑体" panose="02010609060101010101" pitchFamily="49" charset="-122"/>
              </a:rPr>
              <a:t>(e.g. IA-32, Motorola 68xxx) </a:t>
            </a:r>
            <a:r>
              <a:rPr lang="zh-CN" altLang="en-US">
                <a:solidFill>
                  <a:schemeClr val="accent2"/>
                </a:solidFill>
                <a:latin typeface="Arial" panose="020B0604020202020204" pitchFamily="34" charset="0"/>
                <a:ea typeface="黑体" panose="02010609060101010101" pitchFamily="49" charset="-122"/>
              </a:rPr>
              <a:t> </a:t>
            </a:r>
            <a:r>
              <a:rPr lang="zh-CN" altLang="en-US" u="sng">
                <a:solidFill>
                  <a:schemeClr val="accent2"/>
                </a:solidFill>
                <a:latin typeface="Arial" panose="020B0604020202020204" pitchFamily="34" charset="0"/>
                <a:ea typeface="黑体" panose="02010609060101010101" pitchFamily="49" charset="-122"/>
              </a:rPr>
              <a:t>通用寄存器型</a:t>
            </a:r>
          </a:p>
          <a:p>
            <a:pPr marL="342900" indent="-342900">
              <a:lnSpc>
                <a:spcPct val="100000"/>
              </a:lnSpc>
              <a:spcBef>
                <a:spcPct val="15000"/>
              </a:spcBef>
              <a:buFont typeface="Wingdings" panose="05000000000000000000" pitchFamily="2" charset="2"/>
              <a:buNone/>
              <a:tabLst>
                <a:tab pos="1828800" algn="l"/>
                <a:tab pos="3657600" algn="l"/>
              </a:tabLst>
            </a:pPr>
            <a:r>
              <a:rPr lang="zh-CN" altLang="en-US">
                <a:solidFill>
                  <a:schemeClr val="accent1"/>
                </a:solidFill>
                <a:latin typeface="Arial" panose="020B0604020202020204" pitchFamily="34" charset="0"/>
                <a:ea typeface="黑体" panose="02010609060101010101" pitchFamily="49" charset="-122"/>
              </a:rPr>
              <a:t>特点：操作数可以是寄存器或存储器数据（即</a:t>
            </a:r>
            <a:r>
              <a:rPr lang="en-US" altLang="zh-CN">
                <a:solidFill>
                  <a:schemeClr val="accent1"/>
                </a:solidFill>
                <a:latin typeface="Arial" panose="020B0604020202020204" pitchFamily="34" charset="0"/>
                <a:ea typeface="黑体" panose="02010609060101010101" pitchFamily="49" charset="-122"/>
              </a:rPr>
              <a:t>A</a:t>
            </a:r>
            <a:r>
              <a:rPr lang="zh-CN" altLang="en-US">
                <a:solidFill>
                  <a:schemeClr val="accent1"/>
                </a:solidFill>
                <a:latin typeface="Arial" panose="020B0604020202020204" pitchFamily="34" charset="0"/>
                <a:ea typeface="黑体" panose="02010609060101010101" pitchFamily="49" charset="-122"/>
              </a:rPr>
              <a:t>、</a:t>
            </a:r>
            <a:r>
              <a:rPr lang="en-US" altLang="zh-CN">
                <a:solidFill>
                  <a:schemeClr val="accent1"/>
                </a:solidFill>
                <a:latin typeface="Arial" panose="020B0604020202020204" pitchFamily="34" charset="0"/>
                <a:ea typeface="黑体" panose="02010609060101010101" pitchFamily="49" charset="-122"/>
              </a:rPr>
              <a:t>B</a:t>
            </a:r>
            <a:r>
              <a:rPr lang="zh-CN" altLang="en-US">
                <a:solidFill>
                  <a:schemeClr val="accent1"/>
                </a:solidFill>
                <a:latin typeface="Arial" panose="020B0604020202020204" pitchFamily="34" charset="0"/>
                <a:ea typeface="黑体" panose="02010609060101010101" pitchFamily="49" charset="-122"/>
              </a:rPr>
              <a:t>和</a:t>
            </a:r>
            <a:r>
              <a:rPr lang="en-US" altLang="zh-CN">
                <a:solidFill>
                  <a:schemeClr val="accent1"/>
                </a:solidFill>
                <a:latin typeface="Arial" panose="020B0604020202020204" pitchFamily="34" charset="0"/>
                <a:ea typeface="黑体" panose="02010609060101010101" pitchFamily="49" charset="-122"/>
              </a:rPr>
              <a:t>C</a:t>
            </a:r>
            <a:r>
              <a:rPr lang="zh-CN" altLang="en-US">
                <a:solidFill>
                  <a:schemeClr val="accent1"/>
                </a:solidFill>
                <a:latin typeface="Arial" panose="020B0604020202020204" pitchFamily="34" charset="0"/>
                <a:ea typeface="黑体" panose="02010609060101010101" pitchFamily="49" charset="-122"/>
              </a:rPr>
              <a:t>可以是寄存器或存储单元）</a:t>
            </a:r>
            <a:endParaRPr lang="en-US" altLang="zh-CN" u="sng">
              <a:solidFill>
                <a:schemeClr val="accent1"/>
              </a:solidFill>
              <a:latin typeface="Arial" panose="020B0604020202020204" pitchFamily="34" charset="0"/>
              <a:ea typeface="黑体" panose="02010609060101010101" pitchFamily="49" charset="-122"/>
            </a:endParaRP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2 address	          add A B	    EA(A) </a:t>
            </a:r>
            <a:r>
              <a:rPr lang="en-US" altLang="zh-CN"/>
              <a:t>←</a:t>
            </a:r>
            <a:r>
              <a:rPr lang="en-US" altLang="zh-CN">
                <a:latin typeface="Arial" panose="020B0604020202020204" pitchFamily="34" charset="0"/>
                <a:ea typeface="黑体" panose="02010609060101010101" pitchFamily="49" charset="-122"/>
              </a:rPr>
              <a:t> EA(A) + EA(B)</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3 address	          add A B C   EA(A) </a:t>
            </a:r>
            <a:r>
              <a:rPr lang="en-US" altLang="zh-CN"/>
              <a:t>←</a:t>
            </a:r>
            <a:r>
              <a:rPr lang="en-US" altLang="zh-CN">
                <a:latin typeface="Arial" panose="020B0604020202020204" pitchFamily="34" charset="0"/>
                <a:ea typeface="黑体" panose="02010609060101010101" pitchFamily="49" charset="-122"/>
              </a:rPr>
              <a:t> EA(B) + EA(C)</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u="sng">
                <a:solidFill>
                  <a:schemeClr val="accent2"/>
                </a:solidFill>
                <a:latin typeface="Arial" panose="020B0604020202020204" pitchFamily="34" charset="0"/>
                <a:ea typeface="黑体" panose="02010609060101010101" pitchFamily="49" charset="-122"/>
              </a:rPr>
              <a:t>Load/Store: </a:t>
            </a:r>
            <a:r>
              <a:rPr lang="en-US" altLang="zh-CN">
                <a:solidFill>
                  <a:schemeClr val="accent2"/>
                </a:solidFill>
                <a:latin typeface="Arial" panose="020B0604020202020204" pitchFamily="34" charset="0"/>
                <a:ea typeface="黑体" panose="02010609060101010101" pitchFamily="49" charset="-122"/>
              </a:rPr>
              <a:t>(e.g. SPARC, MIPS, RISC-V) </a:t>
            </a:r>
            <a:r>
              <a:rPr lang="zh-CN" altLang="en-US" u="sng">
                <a:solidFill>
                  <a:schemeClr val="accent2"/>
                </a:solidFill>
                <a:latin typeface="Arial" panose="020B0604020202020204" pitchFamily="34" charset="0"/>
                <a:ea typeface="黑体" panose="02010609060101010101" pitchFamily="49" charset="-122"/>
              </a:rPr>
              <a:t>装入</a:t>
            </a:r>
            <a:r>
              <a:rPr lang="en-US" altLang="zh-CN" u="sng">
                <a:solidFill>
                  <a:schemeClr val="accent2"/>
                </a:solidFill>
                <a:latin typeface="Arial" panose="020B0604020202020204" pitchFamily="34" charset="0"/>
                <a:ea typeface="黑体" panose="02010609060101010101" pitchFamily="49" charset="-122"/>
              </a:rPr>
              <a:t>/</a:t>
            </a:r>
            <a:r>
              <a:rPr lang="zh-CN" altLang="en-US" u="sng">
                <a:solidFill>
                  <a:schemeClr val="accent2"/>
                </a:solidFill>
                <a:latin typeface="Arial" panose="020B0604020202020204" pitchFamily="34" charset="0"/>
                <a:ea typeface="黑体" panose="02010609060101010101" pitchFamily="49" charset="-122"/>
              </a:rPr>
              <a:t>存储型</a:t>
            </a:r>
          </a:p>
          <a:p>
            <a:pPr marL="342900" indent="-342900">
              <a:lnSpc>
                <a:spcPct val="100000"/>
              </a:lnSpc>
              <a:spcBef>
                <a:spcPct val="15000"/>
              </a:spcBef>
              <a:buFont typeface="Wingdings" panose="05000000000000000000" pitchFamily="2" charset="2"/>
              <a:buNone/>
              <a:tabLst>
                <a:tab pos="1828800" algn="l"/>
                <a:tab pos="3657600" algn="l"/>
              </a:tabLst>
            </a:pPr>
            <a:r>
              <a:rPr lang="zh-CN" altLang="en-US">
                <a:solidFill>
                  <a:schemeClr val="accent1"/>
                </a:solidFill>
                <a:latin typeface="Arial" panose="020B0604020202020204" pitchFamily="34" charset="0"/>
                <a:ea typeface="黑体" panose="02010609060101010101" pitchFamily="49" charset="-122"/>
              </a:rPr>
              <a:t>特点：运算操作数只能是寄存器数据，只有</a:t>
            </a:r>
            <a:r>
              <a:rPr lang="en-US" altLang="zh-CN">
                <a:solidFill>
                  <a:schemeClr val="accent1"/>
                </a:solidFill>
                <a:latin typeface="Arial" panose="020B0604020202020204" pitchFamily="34" charset="0"/>
                <a:ea typeface="黑体" panose="02010609060101010101" pitchFamily="49" charset="-122"/>
              </a:rPr>
              <a:t>load/store</a:t>
            </a:r>
            <a:r>
              <a:rPr lang="zh-CN" altLang="en-US">
                <a:solidFill>
                  <a:schemeClr val="accent1"/>
                </a:solidFill>
                <a:latin typeface="Arial" panose="020B0604020202020204" pitchFamily="34" charset="0"/>
                <a:ea typeface="黑体" panose="02010609060101010101" pitchFamily="49" charset="-122"/>
              </a:rPr>
              <a:t>能访问存储器</a:t>
            </a:r>
            <a:endParaRPr lang="zh-CN" altLang="en-US" u="sng">
              <a:solidFill>
                <a:schemeClr val="accent1"/>
              </a:solidFill>
              <a:latin typeface="Arial" panose="020B0604020202020204" pitchFamily="34" charset="0"/>
              <a:ea typeface="黑体" panose="02010609060101010101" pitchFamily="49" charset="-122"/>
            </a:endParaRP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3 address	add Ra Rb Rc	   Ra </a:t>
            </a:r>
            <a:r>
              <a:rPr lang="en-US" altLang="zh-CN"/>
              <a:t>←</a:t>
            </a:r>
            <a:r>
              <a:rPr lang="en-US" altLang="zh-CN">
                <a:latin typeface="Arial" panose="020B0604020202020204" pitchFamily="34" charset="0"/>
                <a:ea typeface="黑体" panose="02010609060101010101" pitchFamily="49" charset="-122"/>
              </a:rPr>
              <a:t> Rb + Rc</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load Ra Rb	   Ra </a:t>
            </a:r>
            <a:r>
              <a:rPr lang="en-US" altLang="zh-CN"/>
              <a:t>←</a:t>
            </a:r>
            <a:r>
              <a:rPr lang="en-US" altLang="zh-CN">
                <a:latin typeface="Arial" panose="020B0604020202020204" pitchFamily="34" charset="0"/>
                <a:ea typeface="黑体" panose="02010609060101010101" pitchFamily="49" charset="-122"/>
              </a:rPr>
              <a:t>mem[Rb]</a:t>
            </a:r>
          </a:p>
          <a:p>
            <a:pPr marL="342900" indent="-342900">
              <a:lnSpc>
                <a:spcPct val="100000"/>
              </a:lnSpc>
              <a:spcBef>
                <a:spcPct val="15000"/>
              </a:spcBef>
              <a:buFont typeface="Wingdings" panose="05000000000000000000" pitchFamily="2" charset="2"/>
              <a:buNone/>
              <a:tabLst>
                <a:tab pos="1828800" algn="l"/>
                <a:tab pos="3657600" algn="l"/>
              </a:tabLst>
            </a:pPr>
            <a:r>
              <a:rPr lang="en-US" altLang="zh-CN">
                <a:latin typeface="Arial" panose="020B0604020202020204" pitchFamily="34" charset="0"/>
                <a:ea typeface="黑体" panose="02010609060101010101" pitchFamily="49" charset="-122"/>
              </a:rPr>
              <a:t>		store Ra Rb	   mem[Rb] </a:t>
            </a:r>
            <a:r>
              <a:rPr lang="en-US" altLang="zh-CN"/>
              <a:t>←</a:t>
            </a:r>
            <a:r>
              <a:rPr lang="en-US" altLang="zh-CN">
                <a:latin typeface="Arial" panose="020B0604020202020204" pitchFamily="34" charset="0"/>
                <a:ea typeface="黑体" panose="02010609060101010101" pitchFamily="49" charset="-122"/>
              </a:rPr>
              <a:t> Ra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403">
                                            <p:txEl>
                                              <p:pRg st="1" end="1"/>
                                            </p:txEl>
                                          </p:spTgt>
                                        </p:tgtEl>
                                        <p:attrNameLst>
                                          <p:attrName>style.visibility</p:attrName>
                                        </p:attrNameLst>
                                      </p:cBhvr>
                                      <p:to>
                                        <p:strVal val="visible"/>
                                      </p:to>
                                    </p:set>
                                    <p:animEffect transition="in" filter="blinds(horizontal)">
                                      <p:cBhvr>
                                        <p:cTn id="7" dur="500"/>
                                        <p:tgtEl>
                                          <p:spTgt spid="3584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403">
                                            <p:txEl>
                                              <p:pRg st="2" end="2"/>
                                            </p:txEl>
                                          </p:spTgt>
                                        </p:tgtEl>
                                        <p:attrNameLst>
                                          <p:attrName>style.visibility</p:attrName>
                                        </p:attrNameLst>
                                      </p:cBhvr>
                                      <p:to>
                                        <p:strVal val="visible"/>
                                      </p:to>
                                    </p:set>
                                    <p:animEffect transition="in" filter="blinds(horizontal)">
                                      <p:cBhvr>
                                        <p:cTn id="12" dur="500"/>
                                        <p:tgtEl>
                                          <p:spTgt spid="3584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8403">
                                            <p:txEl>
                                              <p:pRg st="3" end="3"/>
                                            </p:txEl>
                                          </p:spTgt>
                                        </p:tgtEl>
                                        <p:attrNameLst>
                                          <p:attrName>style.visibility</p:attrName>
                                        </p:attrNameLst>
                                      </p:cBhvr>
                                      <p:to>
                                        <p:strVal val="visible"/>
                                      </p:to>
                                    </p:set>
                                    <p:animEffect transition="in" filter="blinds(horizontal)">
                                      <p:cBhvr>
                                        <p:cTn id="17" dur="500"/>
                                        <p:tgtEl>
                                          <p:spTgt spid="35840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8403">
                                            <p:txEl>
                                              <p:pRg st="5" end="5"/>
                                            </p:txEl>
                                          </p:spTgt>
                                        </p:tgtEl>
                                        <p:attrNameLst>
                                          <p:attrName>style.visibility</p:attrName>
                                        </p:attrNameLst>
                                      </p:cBhvr>
                                      <p:to>
                                        <p:strVal val="visible"/>
                                      </p:to>
                                    </p:set>
                                    <p:animEffect transition="in" filter="blinds(horizontal)">
                                      <p:cBhvr>
                                        <p:cTn id="22" dur="500"/>
                                        <p:tgtEl>
                                          <p:spTgt spid="35840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8403">
                                            <p:txEl>
                                              <p:pRg st="6" end="6"/>
                                            </p:txEl>
                                          </p:spTgt>
                                        </p:tgtEl>
                                        <p:attrNameLst>
                                          <p:attrName>style.visibility</p:attrName>
                                        </p:attrNameLst>
                                      </p:cBhvr>
                                      <p:to>
                                        <p:strVal val="visible"/>
                                      </p:to>
                                    </p:set>
                                    <p:animEffect transition="in" filter="blinds(horizontal)">
                                      <p:cBhvr>
                                        <p:cTn id="27" dur="500"/>
                                        <p:tgtEl>
                                          <p:spTgt spid="35840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58403">
                                            <p:txEl>
                                              <p:pRg st="8" end="8"/>
                                            </p:txEl>
                                          </p:spTgt>
                                        </p:tgtEl>
                                        <p:attrNameLst>
                                          <p:attrName>style.visibility</p:attrName>
                                        </p:attrNameLst>
                                      </p:cBhvr>
                                      <p:to>
                                        <p:strVal val="visible"/>
                                      </p:to>
                                    </p:set>
                                    <p:animEffect transition="in" filter="blinds(horizontal)">
                                      <p:cBhvr>
                                        <p:cTn id="32" dur="500"/>
                                        <p:tgtEl>
                                          <p:spTgt spid="358403">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58403">
                                            <p:txEl>
                                              <p:pRg st="9" end="9"/>
                                            </p:txEl>
                                          </p:spTgt>
                                        </p:tgtEl>
                                        <p:attrNameLst>
                                          <p:attrName>style.visibility</p:attrName>
                                        </p:attrNameLst>
                                      </p:cBhvr>
                                      <p:to>
                                        <p:strVal val="visible"/>
                                      </p:to>
                                    </p:set>
                                    <p:animEffect transition="in" filter="blinds(horizontal)">
                                      <p:cBhvr>
                                        <p:cTn id="37" dur="500"/>
                                        <p:tgtEl>
                                          <p:spTgt spid="358403">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58403">
                                            <p:txEl>
                                              <p:pRg st="10" end="10"/>
                                            </p:txEl>
                                          </p:spTgt>
                                        </p:tgtEl>
                                        <p:attrNameLst>
                                          <p:attrName>style.visibility</p:attrName>
                                        </p:attrNameLst>
                                      </p:cBhvr>
                                      <p:to>
                                        <p:strVal val="visible"/>
                                      </p:to>
                                    </p:set>
                                    <p:animEffect transition="in" filter="blinds(horizontal)">
                                      <p:cBhvr>
                                        <p:cTn id="42" dur="500"/>
                                        <p:tgtEl>
                                          <p:spTgt spid="358403">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58403">
                                            <p:txEl>
                                              <p:pRg st="12" end="12"/>
                                            </p:txEl>
                                          </p:spTgt>
                                        </p:tgtEl>
                                        <p:attrNameLst>
                                          <p:attrName>style.visibility</p:attrName>
                                        </p:attrNameLst>
                                      </p:cBhvr>
                                      <p:to>
                                        <p:strVal val="visible"/>
                                      </p:to>
                                    </p:set>
                                    <p:animEffect transition="in" filter="blinds(horizontal)">
                                      <p:cBhvr>
                                        <p:cTn id="47" dur="500"/>
                                        <p:tgtEl>
                                          <p:spTgt spid="358403">
                                            <p:txEl>
                                              <p:pRg st="12" end="1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58403">
                                            <p:txEl>
                                              <p:pRg st="13" end="13"/>
                                            </p:txEl>
                                          </p:spTgt>
                                        </p:tgtEl>
                                        <p:attrNameLst>
                                          <p:attrName>style.visibility</p:attrName>
                                        </p:attrNameLst>
                                      </p:cBhvr>
                                      <p:to>
                                        <p:strVal val="visible"/>
                                      </p:to>
                                    </p:set>
                                    <p:animEffect transition="in" filter="blinds(horizontal)">
                                      <p:cBhvr>
                                        <p:cTn id="52" dur="500"/>
                                        <p:tgtEl>
                                          <p:spTgt spid="358403">
                                            <p:txEl>
                                              <p:pRg st="13" end="1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58403">
                                            <p:txEl>
                                              <p:pRg st="14" end="14"/>
                                            </p:txEl>
                                          </p:spTgt>
                                        </p:tgtEl>
                                        <p:attrNameLst>
                                          <p:attrName>style.visibility</p:attrName>
                                        </p:attrNameLst>
                                      </p:cBhvr>
                                      <p:to>
                                        <p:strVal val="visible"/>
                                      </p:to>
                                    </p:set>
                                    <p:animEffect transition="in" filter="blinds(horizontal)">
                                      <p:cBhvr>
                                        <p:cTn id="57" dur="500"/>
                                        <p:tgtEl>
                                          <p:spTgt spid="358403">
                                            <p:txEl>
                                              <p:pRg st="14" end="14"/>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358403">
                                            <p:txEl>
                                              <p:pRg st="15" end="15"/>
                                            </p:txEl>
                                          </p:spTgt>
                                        </p:tgtEl>
                                        <p:attrNameLst>
                                          <p:attrName>style.visibility</p:attrName>
                                        </p:attrNameLst>
                                      </p:cBhvr>
                                      <p:to>
                                        <p:strVal val="visible"/>
                                      </p:to>
                                    </p:set>
                                    <p:animEffect transition="in" filter="blinds(horizontal)">
                                      <p:cBhvr>
                                        <p:cTn id="62" dur="500"/>
                                        <p:tgtEl>
                                          <p:spTgt spid="35840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5FACA776-BA76-D9CD-C116-A88A2BED2695}"/>
              </a:ext>
            </a:extLst>
          </p:cNvPr>
          <p:cNvSpPr>
            <a:spLocks noGrp="1" noChangeArrowheads="1"/>
          </p:cNvSpPr>
          <p:nvPr>
            <p:ph type="title"/>
          </p:nvPr>
        </p:nvSpPr>
        <p:spPr>
          <a:xfrm>
            <a:off x="525463" y="100013"/>
            <a:ext cx="1955800" cy="368300"/>
          </a:xfrm>
        </p:spPr>
        <p:txBody>
          <a:bodyPr wrap="none"/>
          <a:lstStyle/>
          <a:p>
            <a:r>
              <a:rPr lang="zh-CN" altLang="en-US">
                <a:ea typeface="宋体" panose="02010600030101010101" pitchFamily="2" charset="-122"/>
              </a:rPr>
              <a:t>指令风格比较</a:t>
            </a:r>
          </a:p>
        </p:txBody>
      </p:sp>
      <p:sp>
        <p:nvSpPr>
          <p:cNvPr id="32770" name="Rectangle 4">
            <a:extLst>
              <a:ext uri="{FF2B5EF4-FFF2-40B4-BE49-F238E27FC236}">
                <a16:creationId xmlns:a16="http://schemas.microsoft.com/office/drawing/2014/main" id="{4B2B3661-0E94-4702-F0BD-73EA446E6DEC}"/>
              </a:ext>
            </a:extLst>
          </p:cNvPr>
          <p:cNvSpPr>
            <a:spLocks noChangeArrowheads="1"/>
          </p:cNvSpPr>
          <p:nvPr/>
        </p:nvSpPr>
        <p:spPr bwMode="auto">
          <a:xfrm>
            <a:off x="455613" y="742950"/>
            <a:ext cx="63150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a:lnSpc>
                <a:spcPct val="85000"/>
              </a:lnSpc>
            </a:pPr>
            <a:r>
              <a:rPr lang="zh-CN" altLang="en-US" sz="2400"/>
              <a:t>思考：指令长度？指令条数？指令执行效率？</a:t>
            </a:r>
            <a:endParaRPr lang="en-US" altLang="zh-CN" sz="2400"/>
          </a:p>
        </p:txBody>
      </p:sp>
      <p:sp>
        <p:nvSpPr>
          <p:cNvPr id="32771" name="AutoShape 6">
            <a:extLst>
              <a:ext uri="{FF2B5EF4-FFF2-40B4-BE49-F238E27FC236}">
                <a16:creationId xmlns:a16="http://schemas.microsoft.com/office/drawing/2014/main" id="{35B5E4EC-3A4D-3CA1-6703-1BF0D0FAE5E1}"/>
              </a:ext>
            </a:extLst>
          </p:cNvPr>
          <p:cNvSpPr>
            <a:spLocks noChangeAspect="1" noChangeArrowheads="1" noTextEdit="1"/>
          </p:cNvSpPr>
          <p:nvPr/>
        </p:nvSpPr>
        <p:spPr bwMode="auto">
          <a:xfrm>
            <a:off x="346075" y="311150"/>
            <a:ext cx="8191500"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772" name="Rectangle 7">
            <a:extLst>
              <a:ext uri="{FF2B5EF4-FFF2-40B4-BE49-F238E27FC236}">
                <a16:creationId xmlns:a16="http://schemas.microsoft.com/office/drawing/2014/main" id="{CC4F13EA-C6BE-1874-4EC0-ED883C998018}"/>
              </a:ext>
            </a:extLst>
          </p:cNvPr>
          <p:cNvSpPr>
            <a:spLocks noChangeArrowheads="1"/>
          </p:cNvSpPr>
          <p:nvPr/>
        </p:nvSpPr>
        <p:spPr bwMode="auto">
          <a:xfrm>
            <a:off x="714375" y="306388"/>
            <a:ext cx="1588"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zh-CN"/>
          </a:p>
        </p:txBody>
      </p:sp>
      <p:grpSp>
        <p:nvGrpSpPr>
          <p:cNvPr id="32773" name="Group 8">
            <a:extLst>
              <a:ext uri="{FF2B5EF4-FFF2-40B4-BE49-F238E27FC236}">
                <a16:creationId xmlns:a16="http://schemas.microsoft.com/office/drawing/2014/main" id="{F1EC16D1-4F36-5D71-E139-ABB3EB43CF00}"/>
              </a:ext>
            </a:extLst>
          </p:cNvPr>
          <p:cNvGrpSpPr>
            <a:grpSpLocks/>
          </p:cNvGrpSpPr>
          <p:nvPr/>
        </p:nvGrpSpPr>
        <p:grpSpPr bwMode="auto">
          <a:xfrm>
            <a:off x="409575" y="1265238"/>
            <a:ext cx="8029575" cy="2605087"/>
            <a:chOff x="328" y="1264"/>
            <a:chExt cx="5058" cy="1641"/>
          </a:xfrm>
        </p:grpSpPr>
        <p:sp>
          <p:nvSpPr>
            <p:cNvPr id="32774" name="Rectangle 9">
              <a:extLst>
                <a:ext uri="{FF2B5EF4-FFF2-40B4-BE49-F238E27FC236}">
                  <a16:creationId xmlns:a16="http://schemas.microsoft.com/office/drawing/2014/main" id="{6F3E6A18-0EEF-82BC-3A20-6CA5800D9E06}"/>
                </a:ext>
              </a:extLst>
            </p:cNvPr>
            <p:cNvSpPr>
              <a:spLocks noChangeArrowheads="1"/>
            </p:cNvSpPr>
            <p:nvPr/>
          </p:nvSpPr>
          <p:spPr bwMode="auto">
            <a:xfrm>
              <a:off x="328" y="1338"/>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0">
                  <a:solidFill>
                    <a:srgbClr val="000000"/>
                  </a:solidFill>
                </a:rPr>
                <a:t>°</a:t>
              </a:r>
              <a:endParaRPr lang="en-US" altLang="zh-CN"/>
            </a:p>
          </p:txBody>
        </p:sp>
        <p:sp>
          <p:nvSpPr>
            <p:cNvPr id="32775" name="Rectangle 10">
              <a:extLst>
                <a:ext uri="{FF2B5EF4-FFF2-40B4-BE49-F238E27FC236}">
                  <a16:creationId xmlns:a16="http://schemas.microsoft.com/office/drawing/2014/main" id="{F3FFAC87-41BD-6841-4C90-F520E697EE40}"/>
                </a:ext>
              </a:extLst>
            </p:cNvPr>
            <p:cNvSpPr>
              <a:spLocks noChangeArrowheads="1"/>
            </p:cNvSpPr>
            <p:nvPr/>
          </p:nvSpPr>
          <p:spPr bwMode="auto">
            <a:xfrm>
              <a:off x="456" y="1264"/>
              <a:ext cx="22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a:solidFill>
                    <a:srgbClr val="000000"/>
                  </a:solidFill>
                </a:rPr>
                <a:t>表达式 </a:t>
              </a:r>
              <a:r>
                <a:rPr lang="en-US" altLang="zh-CN" sz="1800">
                  <a:solidFill>
                    <a:srgbClr val="000000"/>
                  </a:solidFill>
                </a:rPr>
                <a:t>C = A + B  </a:t>
              </a:r>
              <a:r>
                <a:rPr lang="zh-CN" altLang="en-US" sz="1800">
                  <a:solidFill>
                    <a:srgbClr val="000000"/>
                  </a:solidFill>
                </a:rPr>
                <a:t>可以怎么实现：</a:t>
              </a:r>
              <a:endParaRPr lang="en-US" altLang="zh-CN"/>
            </a:p>
          </p:txBody>
        </p:sp>
        <p:sp>
          <p:nvSpPr>
            <p:cNvPr id="32776" name="Rectangle 11">
              <a:extLst>
                <a:ext uri="{FF2B5EF4-FFF2-40B4-BE49-F238E27FC236}">
                  <a16:creationId xmlns:a16="http://schemas.microsoft.com/office/drawing/2014/main" id="{2B8068FF-E897-7CCC-3D99-1A4DFC0B108A}"/>
                </a:ext>
              </a:extLst>
            </p:cNvPr>
            <p:cNvSpPr>
              <a:spLocks noChangeArrowheads="1"/>
            </p:cNvSpPr>
            <p:nvPr/>
          </p:nvSpPr>
          <p:spPr bwMode="auto">
            <a:xfrm>
              <a:off x="328" y="1471"/>
              <a:ext cx="3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chemeClr val="accent1"/>
                  </a:solidFill>
                </a:rPr>
                <a:t>Stack</a:t>
              </a:r>
              <a:endParaRPr lang="en-US" altLang="zh-CN">
                <a:solidFill>
                  <a:schemeClr val="accent1"/>
                </a:solidFill>
              </a:endParaRPr>
            </a:p>
          </p:txBody>
        </p:sp>
        <p:sp>
          <p:nvSpPr>
            <p:cNvPr id="32777" name="Rectangle 12">
              <a:extLst>
                <a:ext uri="{FF2B5EF4-FFF2-40B4-BE49-F238E27FC236}">
                  <a16:creationId xmlns:a16="http://schemas.microsoft.com/office/drawing/2014/main" id="{344888C4-A05D-AF29-4B26-9F31BAE8BE25}"/>
                </a:ext>
              </a:extLst>
            </p:cNvPr>
            <p:cNvSpPr>
              <a:spLocks noChangeArrowheads="1"/>
            </p:cNvSpPr>
            <p:nvPr/>
          </p:nvSpPr>
          <p:spPr bwMode="auto">
            <a:xfrm>
              <a:off x="1478" y="1471"/>
              <a:ext cx="8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chemeClr val="accent1"/>
                  </a:solidFill>
                </a:rPr>
                <a:t>Accumulator</a:t>
              </a:r>
              <a:endParaRPr lang="en-US" altLang="zh-CN">
                <a:solidFill>
                  <a:schemeClr val="accent1"/>
                </a:solidFill>
              </a:endParaRPr>
            </a:p>
          </p:txBody>
        </p:sp>
        <p:sp>
          <p:nvSpPr>
            <p:cNvPr id="32778" name="Rectangle 13">
              <a:extLst>
                <a:ext uri="{FF2B5EF4-FFF2-40B4-BE49-F238E27FC236}">
                  <a16:creationId xmlns:a16="http://schemas.microsoft.com/office/drawing/2014/main" id="{BDFE0D83-A6C5-A120-52BE-14EC9CA992BF}"/>
                </a:ext>
              </a:extLst>
            </p:cNvPr>
            <p:cNvSpPr>
              <a:spLocks noChangeArrowheads="1"/>
            </p:cNvSpPr>
            <p:nvPr/>
          </p:nvSpPr>
          <p:spPr bwMode="auto">
            <a:xfrm>
              <a:off x="2628" y="1489"/>
              <a:ext cx="6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chemeClr val="accent1"/>
                  </a:solidFill>
                </a:rPr>
                <a:t>Register </a:t>
              </a:r>
              <a:endParaRPr lang="en-US" altLang="zh-CN">
                <a:solidFill>
                  <a:schemeClr val="accent1"/>
                </a:solidFill>
              </a:endParaRPr>
            </a:p>
          </p:txBody>
        </p:sp>
        <p:sp>
          <p:nvSpPr>
            <p:cNvPr id="32779" name="Rectangle 14">
              <a:extLst>
                <a:ext uri="{FF2B5EF4-FFF2-40B4-BE49-F238E27FC236}">
                  <a16:creationId xmlns:a16="http://schemas.microsoft.com/office/drawing/2014/main" id="{70CAD5E0-6FC8-C226-2058-0B6D9DFA9FE7}"/>
                </a:ext>
              </a:extLst>
            </p:cNvPr>
            <p:cNvSpPr>
              <a:spLocks noChangeArrowheads="1"/>
            </p:cNvSpPr>
            <p:nvPr/>
          </p:nvSpPr>
          <p:spPr bwMode="auto">
            <a:xfrm>
              <a:off x="4354" y="1489"/>
              <a:ext cx="6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chemeClr val="accent1"/>
                  </a:solidFill>
                </a:rPr>
                <a:t>Register</a:t>
              </a:r>
              <a:r>
                <a:rPr lang="en-US" altLang="zh-CN" sz="1800">
                  <a:solidFill>
                    <a:srgbClr val="000000"/>
                  </a:solidFill>
                </a:rPr>
                <a:t> </a:t>
              </a:r>
              <a:endParaRPr lang="en-US" altLang="zh-CN"/>
            </a:p>
          </p:txBody>
        </p:sp>
        <p:sp>
          <p:nvSpPr>
            <p:cNvPr id="32780" name="Rectangle 15">
              <a:extLst>
                <a:ext uri="{FF2B5EF4-FFF2-40B4-BE49-F238E27FC236}">
                  <a16:creationId xmlns:a16="http://schemas.microsoft.com/office/drawing/2014/main" id="{08CD2999-50EA-FEEA-9D64-A7B723C1A50A}"/>
                </a:ext>
              </a:extLst>
            </p:cNvPr>
            <p:cNvSpPr>
              <a:spLocks noChangeArrowheads="1"/>
            </p:cNvSpPr>
            <p:nvPr/>
          </p:nvSpPr>
          <p:spPr bwMode="auto">
            <a:xfrm>
              <a:off x="2628" y="1723"/>
              <a:ext cx="1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chemeClr val="accent1"/>
                  </a:solidFill>
                </a:rPr>
                <a:t>(register- memory)</a:t>
              </a:r>
              <a:endParaRPr lang="en-US" altLang="zh-CN">
                <a:solidFill>
                  <a:schemeClr val="accent1"/>
                </a:solidFill>
              </a:endParaRPr>
            </a:p>
          </p:txBody>
        </p:sp>
        <p:sp>
          <p:nvSpPr>
            <p:cNvPr id="32781" name="Rectangle 16">
              <a:extLst>
                <a:ext uri="{FF2B5EF4-FFF2-40B4-BE49-F238E27FC236}">
                  <a16:creationId xmlns:a16="http://schemas.microsoft.com/office/drawing/2014/main" id="{FB8D7F88-BE72-9933-04C0-5A2EE32DE1CF}"/>
                </a:ext>
              </a:extLst>
            </p:cNvPr>
            <p:cNvSpPr>
              <a:spLocks noChangeArrowheads="1"/>
            </p:cNvSpPr>
            <p:nvPr/>
          </p:nvSpPr>
          <p:spPr bwMode="auto">
            <a:xfrm>
              <a:off x="4354" y="1723"/>
              <a:ext cx="8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chemeClr val="accent1"/>
                  </a:solidFill>
                </a:rPr>
                <a:t>(load - store)</a:t>
              </a:r>
              <a:endParaRPr lang="en-US" altLang="zh-CN">
                <a:solidFill>
                  <a:schemeClr val="accent1"/>
                </a:solidFill>
              </a:endParaRPr>
            </a:p>
          </p:txBody>
        </p:sp>
        <p:sp>
          <p:nvSpPr>
            <p:cNvPr id="32782" name="Rectangle 17">
              <a:extLst>
                <a:ext uri="{FF2B5EF4-FFF2-40B4-BE49-F238E27FC236}">
                  <a16:creationId xmlns:a16="http://schemas.microsoft.com/office/drawing/2014/main" id="{32A695D1-1FD8-25B0-2A06-2E23ADFFECC0}"/>
                </a:ext>
              </a:extLst>
            </p:cNvPr>
            <p:cNvSpPr>
              <a:spLocks noChangeArrowheads="1"/>
            </p:cNvSpPr>
            <p:nvPr/>
          </p:nvSpPr>
          <p:spPr bwMode="auto">
            <a:xfrm>
              <a:off x="328" y="2033"/>
              <a:ext cx="4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Push A</a:t>
              </a:r>
              <a:endParaRPr lang="en-US" altLang="zh-CN"/>
            </a:p>
          </p:txBody>
        </p:sp>
        <p:sp>
          <p:nvSpPr>
            <p:cNvPr id="32783" name="Rectangle 18">
              <a:extLst>
                <a:ext uri="{FF2B5EF4-FFF2-40B4-BE49-F238E27FC236}">
                  <a16:creationId xmlns:a16="http://schemas.microsoft.com/office/drawing/2014/main" id="{F3D0B877-DD40-90B1-D8E8-F530C5B13C69}"/>
                </a:ext>
              </a:extLst>
            </p:cNvPr>
            <p:cNvSpPr>
              <a:spLocks noChangeArrowheads="1"/>
            </p:cNvSpPr>
            <p:nvPr/>
          </p:nvSpPr>
          <p:spPr bwMode="auto">
            <a:xfrm>
              <a:off x="1478" y="2033"/>
              <a:ext cx="5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Load  A</a:t>
              </a:r>
              <a:endParaRPr lang="en-US" altLang="zh-CN"/>
            </a:p>
          </p:txBody>
        </p:sp>
        <p:sp>
          <p:nvSpPr>
            <p:cNvPr id="32784" name="Rectangle 19">
              <a:extLst>
                <a:ext uri="{FF2B5EF4-FFF2-40B4-BE49-F238E27FC236}">
                  <a16:creationId xmlns:a16="http://schemas.microsoft.com/office/drawing/2014/main" id="{FFEAE985-A94F-0CA0-724E-F08AF5AF440B}"/>
                </a:ext>
              </a:extLst>
            </p:cNvPr>
            <p:cNvSpPr>
              <a:spLocks noChangeArrowheads="1"/>
            </p:cNvSpPr>
            <p:nvPr/>
          </p:nvSpPr>
          <p:spPr bwMode="auto">
            <a:xfrm>
              <a:off x="2628" y="2033"/>
              <a:ext cx="7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Load  R1,A</a:t>
              </a:r>
              <a:endParaRPr lang="en-US" altLang="zh-CN"/>
            </a:p>
          </p:txBody>
        </p:sp>
        <p:sp>
          <p:nvSpPr>
            <p:cNvPr id="32785" name="Rectangle 20">
              <a:extLst>
                <a:ext uri="{FF2B5EF4-FFF2-40B4-BE49-F238E27FC236}">
                  <a16:creationId xmlns:a16="http://schemas.microsoft.com/office/drawing/2014/main" id="{7EF969B0-BE6F-4D52-AF64-01D8DFBA4D1C}"/>
                </a:ext>
              </a:extLst>
            </p:cNvPr>
            <p:cNvSpPr>
              <a:spLocks noChangeArrowheads="1"/>
            </p:cNvSpPr>
            <p:nvPr/>
          </p:nvSpPr>
          <p:spPr bwMode="auto">
            <a:xfrm>
              <a:off x="4354" y="2033"/>
              <a:ext cx="7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Load  R1,A</a:t>
              </a:r>
              <a:endParaRPr lang="en-US" altLang="zh-CN"/>
            </a:p>
          </p:txBody>
        </p:sp>
        <p:sp>
          <p:nvSpPr>
            <p:cNvPr id="32786" name="Rectangle 21">
              <a:extLst>
                <a:ext uri="{FF2B5EF4-FFF2-40B4-BE49-F238E27FC236}">
                  <a16:creationId xmlns:a16="http://schemas.microsoft.com/office/drawing/2014/main" id="{A0EA23CB-7CBF-2132-59E8-C33658C02788}"/>
                </a:ext>
              </a:extLst>
            </p:cNvPr>
            <p:cNvSpPr>
              <a:spLocks noChangeArrowheads="1"/>
            </p:cNvSpPr>
            <p:nvPr/>
          </p:nvSpPr>
          <p:spPr bwMode="auto">
            <a:xfrm>
              <a:off x="328" y="2266"/>
              <a:ext cx="4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Push B</a:t>
              </a:r>
              <a:endParaRPr lang="en-US" altLang="zh-CN"/>
            </a:p>
          </p:txBody>
        </p:sp>
        <p:sp>
          <p:nvSpPr>
            <p:cNvPr id="32787" name="Rectangle 22">
              <a:extLst>
                <a:ext uri="{FF2B5EF4-FFF2-40B4-BE49-F238E27FC236}">
                  <a16:creationId xmlns:a16="http://schemas.microsoft.com/office/drawing/2014/main" id="{0C7D8837-FC34-83CF-A02A-FD53CC6F57E1}"/>
                </a:ext>
              </a:extLst>
            </p:cNvPr>
            <p:cNvSpPr>
              <a:spLocks noChangeArrowheads="1"/>
            </p:cNvSpPr>
            <p:nvPr/>
          </p:nvSpPr>
          <p:spPr bwMode="auto">
            <a:xfrm>
              <a:off x="1478" y="2266"/>
              <a:ext cx="5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Add   B</a:t>
              </a:r>
              <a:endParaRPr lang="en-US" altLang="zh-CN"/>
            </a:p>
          </p:txBody>
        </p:sp>
        <p:sp>
          <p:nvSpPr>
            <p:cNvPr id="32788" name="Rectangle 23">
              <a:extLst>
                <a:ext uri="{FF2B5EF4-FFF2-40B4-BE49-F238E27FC236}">
                  <a16:creationId xmlns:a16="http://schemas.microsoft.com/office/drawing/2014/main" id="{A14BA846-A99F-2767-AC2A-E15AF4DFE791}"/>
                </a:ext>
              </a:extLst>
            </p:cNvPr>
            <p:cNvSpPr>
              <a:spLocks noChangeArrowheads="1"/>
            </p:cNvSpPr>
            <p:nvPr/>
          </p:nvSpPr>
          <p:spPr bwMode="auto">
            <a:xfrm>
              <a:off x="2627" y="2266"/>
              <a:ext cx="7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Add   R1,B</a:t>
              </a:r>
              <a:endParaRPr lang="en-US" altLang="zh-CN"/>
            </a:p>
          </p:txBody>
        </p:sp>
        <p:sp>
          <p:nvSpPr>
            <p:cNvPr id="32789" name="Rectangle 24">
              <a:extLst>
                <a:ext uri="{FF2B5EF4-FFF2-40B4-BE49-F238E27FC236}">
                  <a16:creationId xmlns:a16="http://schemas.microsoft.com/office/drawing/2014/main" id="{C3AD7D63-50FD-D8E1-0ACD-55E42C148974}"/>
                </a:ext>
              </a:extLst>
            </p:cNvPr>
            <p:cNvSpPr>
              <a:spLocks noChangeArrowheads="1"/>
            </p:cNvSpPr>
            <p:nvPr/>
          </p:nvSpPr>
          <p:spPr bwMode="auto">
            <a:xfrm>
              <a:off x="4354" y="2266"/>
              <a:ext cx="7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Load  R2,B</a:t>
              </a:r>
              <a:endParaRPr lang="en-US" altLang="zh-CN"/>
            </a:p>
          </p:txBody>
        </p:sp>
        <p:sp>
          <p:nvSpPr>
            <p:cNvPr id="32790" name="Rectangle 25">
              <a:extLst>
                <a:ext uri="{FF2B5EF4-FFF2-40B4-BE49-F238E27FC236}">
                  <a16:creationId xmlns:a16="http://schemas.microsoft.com/office/drawing/2014/main" id="{3F76A167-0F10-C326-4F3A-5A683210D017}"/>
                </a:ext>
              </a:extLst>
            </p:cNvPr>
            <p:cNvSpPr>
              <a:spLocks noChangeArrowheads="1"/>
            </p:cNvSpPr>
            <p:nvPr/>
          </p:nvSpPr>
          <p:spPr bwMode="auto">
            <a:xfrm>
              <a:off x="328" y="2499"/>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Add</a:t>
              </a:r>
              <a:endParaRPr lang="en-US" altLang="zh-CN"/>
            </a:p>
          </p:txBody>
        </p:sp>
        <p:sp>
          <p:nvSpPr>
            <p:cNvPr id="32791" name="Rectangle 26">
              <a:extLst>
                <a:ext uri="{FF2B5EF4-FFF2-40B4-BE49-F238E27FC236}">
                  <a16:creationId xmlns:a16="http://schemas.microsoft.com/office/drawing/2014/main" id="{2A852AA9-051D-55DC-5A3C-FE3A74D27C96}"/>
                </a:ext>
              </a:extLst>
            </p:cNvPr>
            <p:cNvSpPr>
              <a:spLocks noChangeArrowheads="1"/>
            </p:cNvSpPr>
            <p:nvPr/>
          </p:nvSpPr>
          <p:spPr bwMode="auto">
            <a:xfrm>
              <a:off x="1477" y="2499"/>
              <a:ext cx="5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Store C</a:t>
              </a:r>
              <a:endParaRPr lang="en-US" altLang="zh-CN"/>
            </a:p>
          </p:txBody>
        </p:sp>
        <p:sp>
          <p:nvSpPr>
            <p:cNvPr id="32792" name="Rectangle 27">
              <a:extLst>
                <a:ext uri="{FF2B5EF4-FFF2-40B4-BE49-F238E27FC236}">
                  <a16:creationId xmlns:a16="http://schemas.microsoft.com/office/drawing/2014/main" id="{0EC1D7A3-CB74-0BB6-FB20-1D669A77735C}"/>
                </a:ext>
              </a:extLst>
            </p:cNvPr>
            <p:cNvSpPr>
              <a:spLocks noChangeArrowheads="1"/>
            </p:cNvSpPr>
            <p:nvPr/>
          </p:nvSpPr>
          <p:spPr bwMode="auto">
            <a:xfrm>
              <a:off x="2628" y="2499"/>
              <a:ext cx="7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Store C, R1</a:t>
              </a:r>
              <a:endParaRPr lang="en-US" altLang="zh-CN"/>
            </a:p>
          </p:txBody>
        </p:sp>
        <p:sp>
          <p:nvSpPr>
            <p:cNvPr id="32793" name="Rectangle 28">
              <a:extLst>
                <a:ext uri="{FF2B5EF4-FFF2-40B4-BE49-F238E27FC236}">
                  <a16:creationId xmlns:a16="http://schemas.microsoft.com/office/drawing/2014/main" id="{D3756B6C-62C6-3947-7D1D-AE2D806FAD44}"/>
                </a:ext>
              </a:extLst>
            </p:cNvPr>
            <p:cNvSpPr>
              <a:spLocks noChangeArrowheads="1"/>
            </p:cNvSpPr>
            <p:nvPr/>
          </p:nvSpPr>
          <p:spPr bwMode="auto">
            <a:xfrm>
              <a:off x="4354" y="2499"/>
              <a:ext cx="10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Add   R3,R1,R2</a:t>
              </a:r>
              <a:endParaRPr lang="en-US" altLang="zh-CN"/>
            </a:p>
          </p:txBody>
        </p:sp>
        <p:sp>
          <p:nvSpPr>
            <p:cNvPr id="32794" name="Rectangle 29">
              <a:extLst>
                <a:ext uri="{FF2B5EF4-FFF2-40B4-BE49-F238E27FC236}">
                  <a16:creationId xmlns:a16="http://schemas.microsoft.com/office/drawing/2014/main" id="{84DFF5D1-D61B-5744-43DA-2358C2C89F35}"/>
                </a:ext>
              </a:extLst>
            </p:cNvPr>
            <p:cNvSpPr>
              <a:spLocks noChangeArrowheads="1"/>
            </p:cNvSpPr>
            <p:nvPr/>
          </p:nvSpPr>
          <p:spPr bwMode="auto">
            <a:xfrm>
              <a:off x="328" y="2732"/>
              <a:ext cx="4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Pop  C</a:t>
              </a:r>
              <a:endParaRPr lang="en-US" altLang="zh-CN"/>
            </a:p>
          </p:txBody>
        </p:sp>
        <p:sp>
          <p:nvSpPr>
            <p:cNvPr id="32795" name="Rectangle 30">
              <a:extLst>
                <a:ext uri="{FF2B5EF4-FFF2-40B4-BE49-F238E27FC236}">
                  <a16:creationId xmlns:a16="http://schemas.microsoft.com/office/drawing/2014/main" id="{A4A10283-85DA-84A6-FE90-732FC431E918}"/>
                </a:ext>
              </a:extLst>
            </p:cNvPr>
            <p:cNvSpPr>
              <a:spLocks noChangeArrowheads="1"/>
            </p:cNvSpPr>
            <p:nvPr/>
          </p:nvSpPr>
          <p:spPr bwMode="auto">
            <a:xfrm>
              <a:off x="4353" y="2732"/>
              <a:ext cx="7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rPr>
                <a:t>Store C,R3</a:t>
              </a:r>
              <a:endParaRPr lang="en-US" altLang="zh-CN"/>
            </a:p>
          </p:txBody>
        </p:sp>
      </p:grpSp>
      <p:sp>
        <p:nvSpPr>
          <p:cNvPr id="32796" name="Rectangle 34">
            <a:extLst>
              <a:ext uri="{FF2B5EF4-FFF2-40B4-BE49-F238E27FC236}">
                <a16:creationId xmlns:a16="http://schemas.microsoft.com/office/drawing/2014/main" id="{1E9A062E-7A67-CC15-956D-D9E8A7E920EC}"/>
              </a:ext>
            </a:extLst>
          </p:cNvPr>
          <p:cNvSpPr>
            <a:spLocks noChangeArrowheads="1"/>
          </p:cNvSpPr>
          <p:nvPr/>
        </p:nvSpPr>
        <p:spPr bwMode="auto">
          <a:xfrm>
            <a:off x="293688" y="4260850"/>
            <a:ext cx="8294687"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a:spcBef>
                <a:spcPct val="50000"/>
              </a:spcBef>
            </a:pPr>
            <a:r>
              <a:rPr lang="zh-CN" altLang="en-US" sz="2000">
                <a:ea typeface="黑体" panose="02010609060101010101" pitchFamily="49" charset="-122"/>
              </a:rPr>
              <a:t>复杂表达式时，累加器型风格指令条数变多，因为所有运算都要用累加器，使得程序中多出许多移入 </a:t>
            </a:r>
            <a:r>
              <a:rPr lang="en-US" altLang="zh-CN" sz="2000">
                <a:ea typeface="黑体" panose="02010609060101010101" pitchFamily="49" charset="-122"/>
              </a:rPr>
              <a:t>/ </a:t>
            </a:r>
            <a:r>
              <a:rPr lang="zh-CN" altLang="en-US" sz="2000">
                <a:ea typeface="黑体" panose="02010609060101010101" pitchFamily="49" charset="-122"/>
              </a:rPr>
              <a:t>移出累加器的指令！</a:t>
            </a:r>
          </a:p>
        </p:txBody>
      </p:sp>
      <p:sp>
        <p:nvSpPr>
          <p:cNvPr id="360483" name="Rectangle 35">
            <a:extLst>
              <a:ext uri="{FF2B5EF4-FFF2-40B4-BE49-F238E27FC236}">
                <a16:creationId xmlns:a16="http://schemas.microsoft.com/office/drawing/2014/main" id="{C58D3CBE-2240-966F-13ED-44D1211D70E6}"/>
              </a:ext>
            </a:extLst>
          </p:cNvPr>
          <p:cNvSpPr>
            <a:spLocks noChangeArrowheads="1"/>
          </p:cNvSpPr>
          <p:nvPr/>
        </p:nvSpPr>
        <p:spPr bwMode="auto">
          <a:xfrm>
            <a:off x="250825" y="5376863"/>
            <a:ext cx="85248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a:lnSpc>
                <a:spcPct val="110000"/>
              </a:lnSpc>
            </a:pPr>
            <a:r>
              <a:rPr lang="en-US" altLang="zh-CN" sz="2000">
                <a:solidFill>
                  <a:schemeClr val="accent1"/>
                </a:solidFill>
              </a:rPr>
              <a:t> </a:t>
            </a:r>
            <a:r>
              <a:rPr lang="en-US" altLang="zh-CN" sz="2000">
                <a:solidFill>
                  <a:schemeClr val="accent1"/>
                </a:solidFill>
                <a:ea typeface="黑体" panose="02010609060101010101" pitchFamily="49" charset="-122"/>
              </a:rPr>
              <a:t>75</a:t>
            </a:r>
            <a:r>
              <a:rPr lang="zh-CN" altLang="en-US" sz="2000">
                <a:solidFill>
                  <a:schemeClr val="accent1"/>
                </a:solidFill>
                <a:ea typeface="黑体" panose="02010609060101010101" pitchFamily="49" charset="-122"/>
              </a:rPr>
              <a:t>年开始，寄存器型占主导地位，原因：</a:t>
            </a:r>
            <a:endParaRPr lang="en-US" altLang="zh-CN" sz="2000">
              <a:solidFill>
                <a:schemeClr val="tx1"/>
              </a:solidFill>
              <a:ea typeface="黑体" panose="02010609060101010101" pitchFamily="49" charset="-122"/>
            </a:endParaRPr>
          </a:p>
          <a:p>
            <a:pPr lvl="1">
              <a:lnSpc>
                <a:spcPct val="110000"/>
              </a:lnSpc>
              <a:buFontTx/>
              <a:buChar char="•"/>
            </a:pPr>
            <a:r>
              <a:rPr lang="zh-CN" altLang="en-US" sz="2000">
                <a:solidFill>
                  <a:schemeClr val="tx1"/>
                </a:solidFill>
                <a:ea typeface="黑体" panose="02010609060101010101" pitchFamily="49" charset="-122"/>
              </a:rPr>
              <a:t>  寄存器速度快，使用大量通用寄存器可减少访存操作</a:t>
            </a:r>
          </a:p>
          <a:p>
            <a:pPr lvl="1">
              <a:lnSpc>
                <a:spcPct val="110000"/>
              </a:lnSpc>
              <a:buFontTx/>
              <a:buChar char="•"/>
            </a:pPr>
            <a:r>
              <a:rPr lang="zh-CN" altLang="en-US" sz="2000">
                <a:solidFill>
                  <a:schemeClr val="tx1"/>
                </a:solidFill>
                <a:ea typeface="黑体" panose="02010609060101010101" pitchFamily="49" charset="-122"/>
              </a:rPr>
              <a:t>  表达式编译时与顺序无关（相对于</a:t>
            </a:r>
            <a:r>
              <a:rPr lang="en-US" altLang="zh-CN" sz="2000">
                <a:solidFill>
                  <a:schemeClr val="tx1"/>
                </a:solidFill>
                <a:ea typeface="黑体" panose="02010609060101010101" pitchFamily="49" charset="-122"/>
              </a:rPr>
              <a:t>Stack</a:t>
            </a:r>
            <a:r>
              <a:rPr lang="zh-CN" altLang="en-US" sz="2000">
                <a:solidFill>
                  <a:schemeClr val="tx1"/>
                </a:solidFill>
                <a:ea typeface="黑体" panose="02010609060101010101" pitchFamily="49" charset="-122"/>
              </a:rPr>
              <a:t>）</a:t>
            </a:r>
          </a:p>
        </p:txBody>
      </p:sp>
      <p:sp>
        <p:nvSpPr>
          <p:cNvPr id="32798" name="Rectangle 36">
            <a:extLst>
              <a:ext uri="{FF2B5EF4-FFF2-40B4-BE49-F238E27FC236}">
                <a16:creationId xmlns:a16="http://schemas.microsoft.com/office/drawing/2014/main" id="{25C55AD8-4257-6401-C78F-934220C71521}"/>
              </a:ext>
            </a:extLst>
          </p:cNvPr>
          <p:cNvSpPr>
            <a:spLocks noChangeArrowheads="1"/>
          </p:cNvSpPr>
          <p:nvPr/>
        </p:nvSpPr>
        <p:spPr bwMode="auto">
          <a:xfrm>
            <a:off x="3990975" y="1597025"/>
            <a:ext cx="4252913" cy="842963"/>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63500" tIns="25400" rIns="63500" bIns="25400" anchor="ctr">
            <a:spAutoFit/>
          </a:bodyPr>
          <a:lstStyle/>
          <a:p>
            <a:endParaRPr lang="zh-CN" altLang="en-US"/>
          </a:p>
        </p:txBody>
      </p:sp>
      <p:sp>
        <p:nvSpPr>
          <p:cNvPr id="37" name="矩形 36">
            <a:extLst>
              <a:ext uri="{FF2B5EF4-FFF2-40B4-BE49-F238E27FC236}">
                <a16:creationId xmlns:a16="http://schemas.microsoft.com/office/drawing/2014/main" id="{D070731A-7EDB-2A4F-7940-1246099FE6F1}"/>
              </a:ext>
            </a:extLst>
          </p:cNvPr>
          <p:cNvSpPr>
            <a:spLocks noChangeArrowheads="1"/>
          </p:cNvSpPr>
          <p:nvPr/>
        </p:nvSpPr>
        <p:spPr bwMode="auto">
          <a:xfrm>
            <a:off x="1036638" y="6419850"/>
            <a:ext cx="618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solidFill>
                  <a:srgbClr val="C00000"/>
                </a:solidFill>
                <a:ea typeface="黑体" panose="02010609060101010101" pitchFamily="49" charset="-122"/>
              </a:rPr>
              <a:t>( Java Virtual Machine </a:t>
            </a:r>
            <a:r>
              <a:rPr lang="zh-CN" altLang="en-US" sz="2000">
                <a:solidFill>
                  <a:srgbClr val="C00000"/>
                </a:solidFill>
                <a:ea typeface="黑体" panose="02010609060101010101" pitchFamily="49" charset="-122"/>
              </a:rPr>
              <a:t>采用</a:t>
            </a:r>
            <a:r>
              <a:rPr lang="en-US" altLang="zh-CN" sz="2000">
                <a:solidFill>
                  <a:srgbClr val="C00000"/>
                </a:solidFill>
                <a:ea typeface="黑体" panose="02010609060101010101" pitchFamily="49" charset="-122"/>
              </a:rPr>
              <a:t>Stack</a:t>
            </a:r>
            <a:r>
              <a:rPr lang="zh-CN" altLang="en-US" sz="2000">
                <a:solidFill>
                  <a:srgbClr val="C00000"/>
                </a:solidFill>
                <a:ea typeface="黑体" panose="02010609060101010101" pitchFamily="49" charset="-122"/>
              </a:rPr>
              <a:t>型</a:t>
            </a:r>
            <a:r>
              <a:rPr lang="en-US" altLang="zh-CN" sz="2000">
                <a:solidFill>
                  <a:srgbClr val="C00000"/>
                </a:solidFill>
                <a:ea typeface="黑体" panose="02010609060101010101" pitchFamily="49" charset="-122"/>
              </a:rPr>
              <a:t>)</a:t>
            </a:r>
            <a:endParaRPr lang="zh-CN" altLang="en-US">
              <a:solidFill>
                <a:srgbClr val="C00000"/>
              </a:solidFill>
            </a:endParaRPr>
          </a:p>
        </p:txBody>
      </p:sp>
      <p:sp>
        <p:nvSpPr>
          <p:cNvPr id="38" name="矩形 37">
            <a:extLst>
              <a:ext uri="{FF2B5EF4-FFF2-40B4-BE49-F238E27FC236}">
                <a16:creationId xmlns:a16="http://schemas.microsoft.com/office/drawing/2014/main" id="{950A2FD6-1630-4270-48FE-C11500E866EC}"/>
              </a:ext>
            </a:extLst>
          </p:cNvPr>
          <p:cNvSpPr>
            <a:spLocks noChangeArrowheads="1"/>
          </p:cNvSpPr>
          <p:nvPr/>
        </p:nvSpPr>
        <p:spPr bwMode="auto">
          <a:xfrm>
            <a:off x="315913" y="4933950"/>
            <a:ext cx="7189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C00000"/>
                </a:solidFill>
                <a:ea typeface="黑体" panose="02010609060101010101" pitchFamily="49" charset="-122"/>
              </a:rPr>
              <a:t>想象一下“</a:t>
            </a:r>
            <a:r>
              <a:rPr lang="en-US" altLang="zh-CN" sz="2000">
                <a:solidFill>
                  <a:srgbClr val="C00000"/>
                </a:solidFill>
                <a:ea typeface="黑体" panose="02010609060101010101" pitchFamily="49" charset="-122"/>
              </a:rPr>
              <a:t>C=a</a:t>
            </a:r>
            <a:r>
              <a:rPr lang="zh-CN" altLang="en-US" sz="2000">
                <a:solidFill>
                  <a:srgbClr val="C00000"/>
                </a:solidFill>
                <a:ea typeface="黑体" panose="02010609060101010101" pitchFamily="49" charset="-122"/>
              </a:rPr>
              <a:t>*</a:t>
            </a:r>
            <a:r>
              <a:rPr lang="en-US" altLang="zh-CN" sz="2000">
                <a:solidFill>
                  <a:srgbClr val="C00000"/>
                </a:solidFill>
                <a:ea typeface="黑体" panose="02010609060101010101" pitchFamily="49" charset="-122"/>
              </a:rPr>
              <a:t>x+b*y+x*y</a:t>
            </a:r>
            <a:r>
              <a:rPr lang="zh-CN" altLang="en-US" sz="2000">
                <a:solidFill>
                  <a:srgbClr val="C00000"/>
                </a:solidFill>
                <a:ea typeface="黑体" panose="02010609060101010101" pitchFamily="49" charset="-122"/>
              </a:rPr>
              <a:t>”用累加器型风格实现的情况！</a:t>
            </a:r>
            <a:endParaRPr lang="zh-CN" altLang="en-US">
              <a:solidFill>
                <a:srgbClr val="C00000"/>
              </a:solidFill>
            </a:endParaRPr>
          </a:p>
        </p:txBody>
      </p:sp>
      <p:grpSp>
        <p:nvGrpSpPr>
          <p:cNvPr id="32801" name="Group 31">
            <a:extLst>
              <a:ext uri="{FF2B5EF4-FFF2-40B4-BE49-F238E27FC236}">
                <a16:creationId xmlns:a16="http://schemas.microsoft.com/office/drawing/2014/main" id="{ECC4CD2B-AA68-0897-4405-37B7B29C08E2}"/>
              </a:ext>
            </a:extLst>
          </p:cNvPr>
          <p:cNvGrpSpPr>
            <a:grpSpLocks/>
          </p:cNvGrpSpPr>
          <p:nvPr/>
        </p:nvGrpSpPr>
        <p:grpSpPr bwMode="auto">
          <a:xfrm>
            <a:off x="2149475" y="3522663"/>
            <a:ext cx="3197225" cy="714375"/>
            <a:chOff x="1550" y="2437"/>
            <a:chExt cx="1782" cy="1148"/>
          </a:xfrm>
        </p:grpSpPr>
        <p:sp>
          <p:nvSpPr>
            <p:cNvPr id="32802" name="AutoShape 32">
              <a:extLst>
                <a:ext uri="{FF2B5EF4-FFF2-40B4-BE49-F238E27FC236}">
                  <a16:creationId xmlns:a16="http://schemas.microsoft.com/office/drawing/2014/main" id="{A10BFBCF-7D77-5D78-AAD2-2053097ED977}"/>
                </a:ext>
              </a:extLst>
            </p:cNvPr>
            <p:cNvSpPr>
              <a:spLocks/>
            </p:cNvSpPr>
            <p:nvPr/>
          </p:nvSpPr>
          <p:spPr bwMode="auto">
            <a:xfrm rot="5400000">
              <a:off x="2177" y="1810"/>
              <a:ext cx="528" cy="1782"/>
            </a:xfrm>
            <a:prstGeom prst="rightBrace">
              <a:avLst>
                <a:gd name="adj1" fmla="val 49000"/>
                <a:gd name="adj2" fmla="val 50056"/>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rot="10800000" vert="eaVert" lIns="63500" tIns="25400" rIns="63500" bIns="25400" anchor="ctr">
              <a:spAutoFit/>
            </a:bodyPr>
            <a:lstStyle/>
            <a:p>
              <a:pPr algn="ctr"/>
              <a:endParaRPr lang="zh-CN" altLang="en-US"/>
            </a:p>
          </p:txBody>
        </p:sp>
        <p:sp>
          <p:nvSpPr>
            <p:cNvPr id="32803" name="Text Box 33">
              <a:extLst>
                <a:ext uri="{FF2B5EF4-FFF2-40B4-BE49-F238E27FC236}">
                  <a16:creationId xmlns:a16="http://schemas.microsoft.com/office/drawing/2014/main" id="{B463EF04-BBA1-49F8-86EE-D5147937993D}"/>
                </a:ext>
              </a:extLst>
            </p:cNvPr>
            <p:cNvSpPr txBox="1">
              <a:spLocks noChangeArrowheads="1"/>
            </p:cNvSpPr>
            <p:nvPr/>
          </p:nvSpPr>
          <p:spPr bwMode="auto">
            <a:xfrm>
              <a:off x="1857" y="3014"/>
              <a:ext cx="952"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a:spcBef>
                  <a:spcPct val="50000"/>
                </a:spcBef>
              </a:pPr>
              <a:r>
                <a:rPr lang="zh-CN" altLang="en-US" sz="2000">
                  <a:solidFill>
                    <a:srgbClr val="3C7845"/>
                  </a:solidFill>
                  <a:ea typeface="黑体" panose="02010609060101010101" pitchFamily="49" charset="-122"/>
                </a:rPr>
                <a:t>指令条数较少</a:t>
              </a:r>
              <a:endParaRPr lang="en-US" altLang="zh-CN" sz="2000">
                <a:solidFill>
                  <a:srgbClr val="3C7845"/>
                </a:solidFill>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0483">
                                            <p:txEl>
                                              <p:pRg st="0" end="0"/>
                                            </p:txEl>
                                          </p:spTgt>
                                        </p:tgtEl>
                                        <p:attrNameLst>
                                          <p:attrName>style.visibility</p:attrName>
                                        </p:attrNameLst>
                                      </p:cBhvr>
                                      <p:to>
                                        <p:strVal val="visible"/>
                                      </p:to>
                                    </p:set>
                                    <p:animEffect transition="in" filter="blinds(horizontal)">
                                      <p:cBhvr>
                                        <p:cTn id="12" dur="500"/>
                                        <p:tgtEl>
                                          <p:spTgt spid="3604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0483">
                                            <p:txEl>
                                              <p:pRg st="1" end="1"/>
                                            </p:txEl>
                                          </p:spTgt>
                                        </p:tgtEl>
                                        <p:attrNameLst>
                                          <p:attrName>style.visibility</p:attrName>
                                        </p:attrNameLst>
                                      </p:cBhvr>
                                      <p:to>
                                        <p:strVal val="visible"/>
                                      </p:to>
                                    </p:set>
                                    <p:animEffect transition="in" filter="blinds(horizontal)">
                                      <p:cBhvr>
                                        <p:cTn id="17" dur="500"/>
                                        <p:tgtEl>
                                          <p:spTgt spid="36048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60483">
                                            <p:txEl>
                                              <p:pRg st="2" end="2"/>
                                            </p:txEl>
                                          </p:spTgt>
                                        </p:tgtEl>
                                        <p:attrNameLst>
                                          <p:attrName>style.visibility</p:attrName>
                                        </p:attrNameLst>
                                      </p:cBhvr>
                                      <p:to>
                                        <p:strVal val="visible"/>
                                      </p:to>
                                    </p:set>
                                    <p:animEffect transition="in" filter="blinds(horizontal)">
                                      <p:cBhvr>
                                        <p:cTn id="22" dur="500"/>
                                        <p:tgtEl>
                                          <p:spTgt spid="36048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linds(horizontal)">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A9680971-C547-2607-3C88-4E8412A27FEE}"/>
              </a:ext>
            </a:extLst>
          </p:cNvPr>
          <p:cNvSpPr>
            <a:spLocks noGrp="1" noChangeArrowheads="1"/>
          </p:cNvSpPr>
          <p:nvPr>
            <p:ph type="title"/>
          </p:nvPr>
        </p:nvSpPr>
        <p:spPr>
          <a:xfrm>
            <a:off x="711200" y="106363"/>
            <a:ext cx="6283325" cy="368300"/>
          </a:xfrm>
        </p:spPr>
        <p:txBody>
          <a:bodyPr anchor="ctr"/>
          <a:lstStyle/>
          <a:p>
            <a:r>
              <a:rPr lang="zh-CN" altLang="en-US">
                <a:ea typeface="宋体" panose="02010600030101010101" pitchFamily="2" charset="-122"/>
              </a:rPr>
              <a:t>指令设计风格 </a:t>
            </a:r>
            <a:r>
              <a:rPr lang="en-US" altLang="zh-CN">
                <a:ea typeface="宋体" panose="02010600030101010101" pitchFamily="2" charset="-122"/>
              </a:rPr>
              <a:t>– </a:t>
            </a:r>
            <a:r>
              <a:rPr lang="zh-CN" altLang="en-US">
                <a:ea typeface="宋体" panose="02010600030101010101" pitchFamily="2" charset="-122"/>
              </a:rPr>
              <a:t>按指令格式的复杂度来分</a:t>
            </a:r>
          </a:p>
        </p:txBody>
      </p:sp>
      <p:sp>
        <p:nvSpPr>
          <p:cNvPr id="410627" name="Rectangle 3">
            <a:extLst>
              <a:ext uri="{FF2B5EF4-FFF2-40B4-BE49-F238E27FC236}">
                <a16:creationId xmlns:a16="http://schemas.microsoft.com/office/drawing/2014/main" id="{56F2C489-FA15-00AC-808A-004D46805EA1}"/>
              </a:ext>
            </a:extLst>
          </p:cNvPr>
          <p:cNvSpPr>
            <a:spLocks noGrp="1" noChangeArrowheads="1"/>
          </p:cNvSpPr>
          <p:nvPr>
            <p:ph idx="1"/>
          </p:nvPr>
        </p:nvSpPr>
        <p:spPr>
          <a:xfrm>
            <a:off x="233363" y="1630363"/>
            <a:ext cx="8385175" cy="3511550"/>
          </a:xfrm>
        </p:spPr>
        <p:txBody>
          <a:bodyPr/>
          <a:lstStyle/>
          <a:p>
            <a:pPr>
              <a:lnSpc>
                <a:spcPct val="140000"/>
              </a:lnSpc>
              <a:buFont typeface="Wingdings" panose="05000000000000000000" pitchFamily="2" charset="2"/>
              <a:buNone/>
            </a:pPr>
            <a:r>
              <a:rPr lang="zh-CN" altLang="en-US" sz="1800">
                <a:latin typeface="Arial" panose="020B0604020202020204" pitchFamily="34" charset="0"/>
                <a:ea typeface="黑体" panose="02010609060101010101" pitchFamily="49" charset="-122"/>
              </a:rPr>
              <a:t>早期</a:t>
            </a:r>
            <a:r>
              <a:rPr lang="en-US" altLang="en-US" sz="1800">
                <a:latin typeface="Arial" panose="020B0604020202020204" pitchFamily="34" charset="0"/>
                <a:ea typeface="黑体" panose="02010609060101010101" pitchFamily="49" charset="-122"/>
              </a:rPr>
              <a:t>CISC</a:t>
            </a:r>
            <a:r>
              <a:rPr lang="zh-CN" altLang="en-US" sz="1800">
                <a:latin typeface="Arial" panose="020B0604020202020204" pitchFamily="34" charset="0"/>
                <a:ea typeface="黑体" panose="02010609060101010101" pitchFamily="49" charset="-122"/>
              </a:rPr>
              <a:t>设计风格的主要特点</a:t>
            </a:r>
          </a:p>
          <a:p>
            <a:pPr>
              <a:lnSpc>
                <a:spcPct val="110000"/>
              </a:lnSpc>
              <a:spcBef>
                <a:spcPct val="10000"/>
              </a:spcBef>
              <a:buFont typeface="Monotype Sorts"/>
              <a:buChar char=" "/>
            </a:pPr>
            <a:r>
              <a:rPr lang="zh-CN" altLang="en-US" sz="1800">
                <a:solidFill>
                  <a:srgbClr val="0033CC"/>
                </a:solidFill>
                <a:latin typeface="Arial" panose="020B0604020202020204" pitchFamily="34" charset="0"/>
                <a:ea typeface="黑体" panose="02010609060101010101" pitchFamily="49" charset="-122"/>
              </a:rPr>
              <a:t>(1) 指令系统复杂</a:t>
            </a:r>
          </a:p>
          <a:p>
            <a:pPr>
              <a:lnSpc>
                <a:spcPct val="110000"/>
              </a:lnSpc>
              <a:spcBef>
                <a:spcPct val="10000"/>
              </a:spcBef>
              <a:buFont typeface="Monotype Sorts"/>
              <a:buChar char=" "/>
            </a:pPr>
            <a:r>
              <a:rPr lang="zh-CN" altLang="en-US" sz="1800">
                <a:solidFill>
                  <a:srgbClr val="C2228D"/>
                </a:solidFill>
                <a:latin typeface="Arial" panose="020B0604020202020204" pitchFamily="34" charset="0"/>
                <a:ea typeface="黑体" panose="02010609060101010101" pitchFamily="49" charset="-122"/>
              </a:rPr>
              <a:t>     </a:t>
            </a:r>
            <a:r>
              <a:rPr lang="zh-CN" altLang="en-US" sz="1800">
                <a:solidFill>
                  <a:srgbClr val="A50021"/>
                </a:solidFill>
                <a:latin typeface="Arial" panose="020B0604020202020204" pitchFamily="34" charset="0"/>
                <a:ea typeface="黑体" panose="02010609060101010101" pitchFamily="49" charset="-122"/>
              </a:rPr>
              <a:t>变长操作码 </a:t>
            </a:r>
            <a:r>
              <a:rPr lang="en-US" altLang="zh-CN" sz="1800">
                <a:solidFill>
                  <a:srgbClr val="A50021"/>
                </a:solidFill>
                <a:latin typeface="Arial" panose="020B0604020202020204" pitchFamily="34" charset="0"/>
                <a:ea typeface="黑体" panose="02010609060101010101" pitchFamily="49" charset="-122"/>
              </a:rPr>
              <a:t>/ </a:t>
            </a:r>
            <a:r>
              <a:rPr lang="zh-CN" altLang="en-US" sz="1800">
                <a:solidFill>
                  <a:srgbClr val="A50021"/>
                </a:solidFill>
                <a:latin typeface="Arial" panose="020B0604020202020204" pitchFamily="34" charset="0"/>
                <a:ea typeface="黑体" panose="02010609060101010101" pitchFamily="49" charset="-122"/>
              </a:rPr>
              <a:t>变长指令字 </a:t>
            </a:r>
            <a:r>
              <a:rPr lang="en-US" altLang="zh-CN" sz="1800">
                <a:solidFill>
                  <a:srgbClr val="A50021"/>
                </a:solidFill>
                <a:latin typeface="Arial" panose="020B0604020202020204" pitchFamily="34" charset="0"/>
                <a:ea typeface="黑体" panose="02010609060101010101" pitchFamily="49" charset="-122"/>
              </a:rPr>
              <a:t>/ </a:t>
            </a:r>
            <a:r>
              <a:rPr lang="zh-CN" altLang="en-US" sz="1800">
                <a:solidFill>
                  <a:srgbClr val="A50021"/>
                </a:solidFill>
                <a:latin typeface="Arial" panose="020B0604020202020204" pitchFamily="34" charset="0"/>
                <a:ea typeface="黑体" panose="02010609060101010101" pitchFamily="49" charset="-122"/>
              </a:rPr>
              <a:t>指令多 / 寻址方式多 / 指令格式多 </a:t>
            </a:r>
          </a:p>
          <a:p>
            <a:pPr>
              <a:lnSpc>
                <a:spcPct val="110000"/>
              </a:lnSpc>
              <a:spcBef>
                <a:spcPct val="10000"/>
              </a:spcBef>
              <a:buFont typeface="Monotype Sorts"/>
              <a:buChar char=" "/>
            </a:pPr>
            <a:r>
              <a:rPr lang="zh-CN" altLang="en-US" sz="1800">
                <a:solidFill>
                  <a:srgbClr val="0033CC"/>
                </a:solidFill>
                <a:latin typeface="Arial" panose="020B0604020202020204" pitchFamily="34" charset="0"/>
                <a:ea typeface="黑体" panose="02010609060101010101" pitchFamily="49" charset="-122"/>
              </a:rPr>
              <a:t>(2) 指令周期长</a:t>
            </a:r>
          </a:p>
          <a:p>
            <a:pPr>
              <a:lnSpc>
                <a:spcPct val="110000"/>
              </a:lnSpc>
              <a:spcBef>
                <a:spcPct val="10000"/>
              </a:spcBef>
              <a:buFont typeface="Monotype Sorts"/>
              <a:buChar char=" "/>
            </a:pPr>
            <a:r>
              <a:rPr lang="zh-CN" altLang="en-US" sz="1800">
                <a:solidFill>
                  <a:srgbClr val="C2228D"/>
                </a:solidFill>
                <a:latin typeface="Arial" panose="020B0604020202020204" pitchFamily="34" charset="0"/>
                <a:ea typeface="黑体" panose="02010609060101010101" pitchFamily="49" charset="-122"/>
              </a:rPr>
              <a:t>      </a:t>
            </a:r>
            <a:r>
              <a:rPr lang="zh-CN" altLang="en-US" sz="1800">
                <a:solidFill>
                  <a:srgbClr val="A50021"/>
                </a:solidFill>
                <a:latin typeface="Arial" panose="020B0604020202020204" pitchFamily="34" charset="0"/>
                <a:ea typeface="黑体" panose="02010609060101010101" pitchFamily="49" charset="-122"/>
              </a:rPr>
              <a:t>绝大多数指令需要多个时钟周期才能完成</a:t>
            </a:r>
          </a:p>
          <a:p>
            <a:pPr>
              <a:lnSpc>
                <a:spcPct val="110000"/>
              </a:lnSpc>
              <a:spcBef>
                <a:spcPct val="10000"/>
              </a:spcBef>
              <a:buFont typeface="Monotype Sorts"/>
              <a:buChar char=" "/>
            </a:pPr>
            <a:r>
              <a:rPr lang="zh-CN" altLang="en-US" sz="1800">
                <a:solidFill>
                  <a:srgbClr val="0033CC"/>
                </a:solidFill>
                <a:latin typeface="Arial" panose="020B0604020202020204" pitchFamily="34" charset="0"/>
                <a:ea typeface="黑体" panose="02010609060101010101" pitchFamily="49" charset="-122"/>
              </a:rPr>
              <a:t>(3) 各种指令都能访问存储器</a:t>
            </a:r>
          </a:p>
          <a:p>
            <a:pPr>
              <a:lnSpc>
                <a:spcPct val="110000"/>
              </a:lnSpc>
              <a:spcBef>
                <a:spcPct val="10000"/>
              </a:spcBef>
              <a:buFont typeface="Monotype Sorts"/>
              <a:buChar char=" "/>
            </a:pPr>
            <a:r>
              <a:rPr lang="zh-CN" altLang="en-US" sz="1800">
                <a:solidFill>
                  <a:srgbClr val="C2228D"/>
                </a:solidFill>
                <a:latin typeface="Arial" panose="020B0604020202020204" pitchFamily="34" charset="0"/>
                <a:ea typeface="黑体" panose="02010609060101010101" pitchFamily="49" charset="-122"/>
              </a:rPr>
              <a:t>      </a:t>
            </a:r>
            <a:r>
              <a:rPr lang="zh-CN" altLang="en-US" sz="1800">
                <a:solidFill>
                  <a:srgbClr val="A50021"/>
                </a:solidFill>
                <a:latin typeface="Arial" panose="020B0604020202020204" pitchFamily="34" charset="0"/>
                <a:ea typeface="黑体" panose="02010609060101010101" pitchFamily="49" charset="-122"/>
              </a:rPr>
              <a:t>除了专门的存储器读写指令外，运算指令也能访问存储器</a:t>
            </a:r>
          </a:p>
          <a:p>
            <a:pPr>
              <a:lnSpc>
                <a:spcPct val="110000"/>
              </a:lnSpc>
              <a:spcBef>
                <a:spcPct val="10000"/>
              </a:spcBef>
              <a:buFont typeface="Monotype Sorts"/>
              <a:buChar char=" "/>
            </a:pPr>
            <a:r>
              <a:rPr lang="zh-CN" altLang="en-US" sz="1800">
                <a:solidFill>
                  <a:srgbClr val="C2228D"/>
                </a:solidFill>
                <a:latin typeface="Arial" panose="020B0604020202020204" pitchFamily="34" charset="0"/>
                <a:ea typeface="黑体" panose="02010609060101010101" pitchFamily="49" charset="-122"/>
              </a:rPr>
              <a:t> </a:t>
            </a:r>
            <a:r>
              <a:rPr lang="zh-CN" altLang="en-US" sz="1800">
                <a:solidFill>
                  <a:srgbClr val="0033CC"/>
                </a:solidFill>
                <a:latin typeface="Arial" panose="020B0604020202020204" pitchFamily="34" charset="0"/>
                <a:ea typeface="黑体" panose="02010609060101010101" pitchFamily="49" charset="-122"/>
              </a:rPr>
              <a:t>(4) 采用微程序控制</a:t>
            </a:r>
          </a:p>
          <a:p>
            <a:pPr>
              <a:lnSpc>
                <a:spcPct val="110000"/>
              </a:lnSpc>
              <a:spcBef>
                <a:spcPct val="10000"/>
              </a:spcBef>
              <a:buFont typeface="Monotype Sorts"/>
              <a:buChar char=" "/>
            </a:pPr>
            <a:r>
              <a:rPr lang="zh-CN" altLang="en-US" sz="1800">
                <a:solidFill>
                  <a:srgbClr val="0033CC"/>
                </a:solidFill>
                <a:latin typeface="Arial" panose="020B0604020202020204" pitchFamily="34" charset="0"/>
                <a:ea typeface="黑体" panose="02010609060101010101" pitchFamily="49" charset="-122"/>
              </a:rPr>
              <a:t> (5) 有专用寄存器</a:t>
            </a:r>
          </a:p>
          <a:p>
            <a:pPr>
              <a:lnSpc>
                <a:spcPct val="110000"/>
              </a:lnSpc>
              <a:spcBef>
                <a:spcPct val="10000"/>
              </a:spcBef>
              <a:buFont typeface="Monotype Sorts"/>
              <a:buChar char=" "/>
            </a:pPr>
            <a:r>
              <a:rPr lang="zh-CN" altLang="en-US" sz="1800">
                <a:solidFill>
                  <a:srgbClr val="0033CC"/>
                </a:solidFill>
                <a:latin typeface="Arial" panose="020B0604020202020204" pitchFamily="34" charset="0"/>
                <a:ea typeface="黑体" panose="02010609060101010101" pitchFamily="49" charset="-122"/>
              </a:rPr>
              <a:t> (6) 难以进行编译优化来生成高效目标代码</a:t>
            </a:r>
          </a:p>
        </p:txBody>
      </p:sp>
      <p:sp>
        <p:nvSpPr>
          <p:cNvPr id="410628" name="Rectangle 4">
            <a:extLst>
              <a:ext uri="{FF2B5EF4-FFF2-40B4-BE49-F238E27FC236}">
                <a16:creationId xmlns:a16="http://schemas.microsoft.com/office/drawing/2014/main" id="{327158D9-4C18-0CEB-A669-11A1A0F575B8}"/>
              </a:ext>
            </a:extLst>
          </p:cNvPr>
          <p:cNvSpPr>
            <a:spLocks noChangeArrowheads="1"/>
          </p:cNvSpPr>
          <p:nvPr/>
        </p:nvSpPr>
        <p:spPr bwMode="auto">
          <a:xfrm>
            <a:off x="962025" y="5157788"/>
            <a:ext cx="690086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20000"/>
              </a:lnSpc>
            </a:pPr>
            <a:r>
              <a:rPr lang="zh-CN" altLang="en-US" sz="1800">
                <a:solidFill>
                  <a:schemeClr val="tx1"/>
                </a:solidFill>
                <a:ea typeface="黑体" panose="02010609060101010101" pitchFamily="49" charset="-122"/>
              </a:rPr>
              <a:t>例如，</a:t>
            </a:r>
            <a:r>
              <a:rPr lang="en-US" altLang="zh-CN" sz="1800">
                <a:solidFill>
                  <a:schemeClr val="tx1"/>
                </a:solidFill>
                <a:ea typeface="黑体" panose="02010609060101010101" pitchFamily="49" charset="-122"/>
              </a:rPr>
              <a:t>VAX-11/780</a:t>
            </a:r>
            <a:r>
              <a:rPr lang="zh-CN" altLang="en-US" sz="1800">
                <a:solidFill>
                  <a:schemeClr val="tx1"/>
                </a:solidFill>
                <a:ea typeface="黑体" panose="02010609060101010101" pitchFamily="49" charset="-122"/>
              </a:rPr>
              <a:t>小型机</a:t>
            </a:r>
          </a:p>
          <a:p>
            <a:pPr lvl="1" eaLnBrk="0" hangingPunct="0">
              <a:lnSpc>
                <a:spcPct val="120000"/>
              </a:lnSpc>
            </a:pPr>
            <a:r>
              <a:rPr lang="zh-CN" altLang="en-US" sz="1800">
                <a:ea typeface="黑体" panose="02010609060101010101" pitchFamily="49" charset="-122"/>
              </a:rPr>
              <a:t>16种寻址方式；9种数据格式；303条指令；</a:t>
            </a:r>
          </a:p>
          <a:p>
            <a:pPr lvl="1" eaLnBrk="0" hangingPunct="0">
              <a:lnSpc>
                <a:spcPct val="120000"/>
              </a:lnSpc>
            </a:pPr>
            <a:r>
              <a:rPr lang="zh-CN" altLang="en-US" sz="1800">
                <a:ea typeface="黑体" panose="02010609060101010101" pitchFamily="49" charset="-122"/>
              </a:rPr>
              <a:t>一条指令包括1～2个字节的操作码和下续</a:t>
            </a:r>
            <a:r>
              <a:rPr lang="en-US" altLang="zh-CN" sz="1800">
                <a:ea typeface="黑体" panose="02010609060101010101" pitchFamily="49" charset="-122"/>
              </a:rPr>
              <a:t>N</a:t>
            </a:r>
            <a:r>
              <a:rPr lang="zh-CN" altLang="en-US" sz="1800">
                <a:ea typeface="黑体" panose="02010609060101010101" pitchFamily="49" charset="-122"/>
              </a:rPr>
              <a:t>个操作数说明符。一个说明符的长度达1 ～10个字节。</a:t>
            </a:r>
            <a:endParaRPr lang="zh-CN" altLang="en-US" sz="1800" b="0">
              <a:solidFill>
                <a:schemeClr val="tx1"/>
              </a:solidFill>
              <a:ea typeface="黑体" panose="02010609060101010101" pitchFamily="49" charset="-122"/>
            </a:endParaRPr>
          </a:p>
        </p:txBody>
      </p:sp>
      <p:sp>
        <p:nvSpPr>
          <p:cNvPr id="33796" name="Rectangle 6">
            <a:extLst>
              <a:ext uri="{FF2B5EF4-FFF2-40B4-BE49-F238E27FC236}">
                <a16:creationId xmlns:a16="http://schemas.microsoft.com/office/drawing/2014/main" id="{37333062-D56E-DCA1-E8B9-D14B3F3B3C6E}"/>
              </a:ext>
            </a:extLst>
          </p:cNvPr>
          <p:cNvSpPr>
            <a:spLocks noChangeArrowheads="1"/>
          </p:cNvSpPr>
          <p:nvPr/>
        </p:nvSpPr>
        <p:spPr bwMode="auto">
          <a:xfrm>
            <a:off x="304800" y="614363"/>
            <a:ext cx="7813675"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spcBef>
                <a:spcPct val="25000"/>
              </a:spcBef>
            </a:pPr>
            <a:r>
              <a:rPr lang="zh-CN" altLang="en-US" sz="1800">
                <a:solidFill>
                  <a:schemeClr val="tx1"/>
                </a:solidFill>
                <a:ea typeface="黑体" panose="02010609060101010101" pitchFamily="49" charset="-122"/>
              </a:rPr>
              <a:t>按指令格式的复杂度来分，有两种类型计算机：</a:t>
            </a:r>
          </a:p>
          <a:p>
            <a:pPr lvl="1" eaLnBrk="0" hangingPunct="0">
              <a:spcBef>
                <a:spcPct val="25000"/>
              </a:spcBef>
            </a:pPr>
            <a:r>
              <a:rPr lang="zh-CN" altLang="en-US" sz="1800">
                <a:ea typeface="黑体" panose="02010609060101010101" pitchFamily="49" charset="-122"/>
              </a:rPr>
              <a:t>复杂指令集计算机</a:t>
            </a:r>
            <a:r>
              <a:rPr lang="en-US" altLang="zh-CN" sz="1800">
                <a:ea typeface="黑体" panose="02010609060101010101" pitchFamily="49" charset="-122"/>
              </a:rPr>
              <a:t>CISC (Complex Instruction Set Computer)</a:t>
            </a:r>
          </a:p>
          <a:p>
            <a:pPr lvl="1" eaLnBrk="0" hangingPunct="0">
              <a:spcBef>
                <a:spcPct val="25000"/>
              </a:spcBef>
            </a:pPr>
            <a:r>
              <a:rPr lang="zh-CN" altLang="en-US" sz="1800">
                <a:ea typeface="黑体" panose="02010609060101010101" pitchFamily="49" charset="-122"/>
              </a:rPr>
              <a:t>精简指令集计算机</a:t>
            </a:r>
            <a:r>
              <a:rPr lang="en-US" altLang="zh-CN" sz="1800">
                <a:ea typeface="黑体" panose="02010609060101010101" pitchFamily="49" charset="-122"/>
              </a:rPr>
              <a:t>RISC (Reduce</a:t>
            </a:r>
            <a:r>
              <a:rPr lang="zh-CN" altLang="en-US" sz="1800">
                <a:ea typeface="黑体" panose="02010609060101010101" pitchFamily="49" charset="-122"/>
              </a:rPr>
              <a:t> </a:t>
            </a:r>
            <a:r>
              <a:rPr lang="en-US" altLang="zh-CN" sz="1800">
                <a:ea typeface="黑体" panose="02010609060101010101" pitchFamily="49" charset="-122"/>
              </a:rPr>
              <a:t>Instruction Set Computer)</a:t>
            </a:r>
            <a:endParaRPr lang="zh-CN" altLang="en-US" sz="180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animEffect transition="in" filter="blinds(horizontal)">
                                      <p:cBhvr>
                                        <p:cTn id="7" dur="500"/>
                                        <p:tgtEl>
                                          <p:spTgt spid="41062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627">
                                            <p:txEl>
                                              <p:pRg st="2" end="2"/>
                                            </p:txEl>
                                          </p:spTgt>
                                        </p:tgtEl>
                                        <p:attrNameLst>
                                          <p:attrName>style.visibility</p:attrName>
                                        </p:attrNameLst>
                                      </p:cBhvr>
                                      <p:to>
                                        <p:strVal val="visible"/>
                                      </p:to>
                                    </p:set>
                                    <p:animEffect transition="in" filter="blinds(horizontal)">
                                      <p:cBhvr>
                                        <p:cTn id="10" dur="500"/>
                                        <p:tgtEl>
                                          <p:spTgt spid="410627">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0627">
                                            <p:txEl>
                                              <p:pRg st="3" end="3"/>
                                            </p:txEl>
                                          </p:spTgt>
                                        </p:tgtEl>
                                        <p:attrNameLst>
                                          <p:attrName>style.visibility</p:attrName>
                                        </p:attrNameLst>
                                      </p:cBhvr>
                                      <p:to>
                                        <p:strVal val="visible"/>
                                      </p:to>
                                    </p:set>
                                    <p:animEffect transition="in" filter="blinds(horizontal)">
                                      <p:cBhvr>
                                        <p:cTn id="15" dur="500"/>
                                        <p:tgtEl>
                                          <p:spTgt spid="41062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0627">
                                            <p:txEl>
                                              <p:pRg st="4" end="4"/>
                                            </p:txEl>
                                          </p:spTgt>
                                        </p:tgtEl>
                                        <p:attrNameLst>
                                          <p:attrName>style.visibility</p:attrName>
                                        </p:attrNameLst>
                                      </p:cBhvr>
                                      <p:to>
                                        <p:strVal val="visible"/>
                                      </p:to>
                                    </p:set>
                                    <p:animEffect transition="in" filter="blinds(horizontal)">
                                      <p:cBhvr>
                                        <p:cTn id="18" dur="500"/>
                                        <p:tgtEl>
                                          <p:spTgt spid="410627">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10627">
                                            <p:txEl>
                                              <p:pRg st="5" end="5"/>
                                            </p:txEl>
                                          </p:spTgt>
                                        </p:tgtEl>
                                        <p:attrNameLst>
                                          <p:attrName>style.visibility</p:attrName>
                                        </p:attrNameLst>
                                      </p:cBhvr>
                                      <p:to>
                                        <p:strVal val="visible"/>
                                      </p:to>
                                    </p:set>
                                    <p:animEffect transition="in" filter="blinds(horizontal)">
                                      <p:cBhvr>
                                        <p:cTn id="23" dur="500"/>
                                        <p:tgtEl>
                                          <p:spTgt spid="410627">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0627">
                                            <p:txEl>
                                              <p:pRg st="6" end="6"/>
                                            </p:txEl>
                                          </p:spTgt>
                                        </p:tgtEl>
                                        <p:attrNameLst>
                                          <p:attrName>style.visibility</p:attrName>
                                        </p:attrNameLst>
                                      </p:cBhvr>
                                      <p:to>
                                        <p:strVal val="visible"/>
                                      </p:to>
                                    </p:set>
                                    <p:animEffect transition="in" filter="blinds(horizontal)">
                                      <p:cBhvr>
                                        <p:cTn id="26" dur="500"/>
                                        <p:tgtEl>
                                          <p:spTgt spid="410627">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10627">
                                            <p:txEl>
                                              <p:pRg st="7" end="7"/>
                                            </p:txEl>
                                          </p:spTgt>
                                        </p:tgtEl>
                                        <p:attrNameLst>
                                          <p:attrName>style.visibility</p:attrName>
                                        </p:attrNameLst>
                                      </p:cBhvr>
                                      <p:to>
                                        <p:strVal val="visible"/>
                                      </p:to>
                                    </p:set>
                                    <p:animEffect transition="in" filter="blinds(horizontal)">
                                      <p:cBhvr>
                                        <p:cTn id="31" dur="500"/>
                                        <p:tgtEl>
                                          <p:spTgt spid="410627">
                                            <p:txEl>
                                              <p:pRg st="7" end="7"/>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10627">
                                            <p:txEl>
                                              <p:pRg st="8" end="8"/>
                                            </p:txEl>
                                          </p:spTgt>
                                        </p:tgtEl>
                                        <p:attrNameLst>
                                          <p:attrName>style.visibility</p:attrName>
                                        </p:attrNameLst>
                                      </p:cBhvr>
                                      <p:to>
                                        <p:strVal val="visible"/>
                                      </p:to>
                                    </p:set>
                                    <p:animEffect transition="in" filter="blinds(horizontal)">
                                      <p:cBhvr>
                                        <p:cTn id="36" dur="500"/>
                                        <p:tgtEl>
                                          <p:spTgt spid="410627">
                                            <p:txEl>
                                              <p:pRg st="8" end="8"/>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410627">
                                            <p:txEl>
                                              <p:pRg st="9" end="9"/>
                                            </p:txEl>
                                          </p:spTgt>
                                        </p:tgtEl>
                                        <p:attrNameLst>
                                          <p:attrName>style.visibility</p:attrName>
                                        </p:attrNameLst>
                                      </p:cBhvr>
                                      <p:to>
                                        <p:strVal val="visible"/>
                                      </p:to>
                                    </p:set>
                                    <p:animEffect transition="in" filter="blinds(horizontal)">
                                      <p:cBhvr>
                                        <p:cTn id="41" dur="500"/>
                                        <p:tgtEl>
                                          <p:spTgt spid="410627">
                                            <p:txEl>
                                              <p:pRg st="9" end="9"/>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10628"/>
                                        </p:tgtEl>
                                        <p:attrNameLst>
                                          <p:attrName>style.visibility</p:attrName>
                                        </p:attrNameLst>
                                      </p:cBhvr>
                                      <p:to>
                                        <p:strVal val="visible"/>
                                      </p:to>
                                    </p:set>
                                    <p:animEffect transition="in" filter="blinds(horizontal)">
                                      <p:cBhvr>
                                        <p:cTn id="46" dur="500"/>
                                        <p:tgtEl>
                                          <p:spTgt spid="410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4920ACA3-82D8-62D0-216F-135D5FA63086}"/>
              </a:ext>
            </a:extLst>
          </p:cNvPr>
          <p:cNvSpPr>
            <a:spLocks noGrp="1" noChangeArrowheads="1"/>
          </p:cNvSpPr>
          <p:nvPr>
            <p:ph type="title"/>
          </p:nvPr>
        </p:nvSpPr>
        <p:spPr>
          <a:xfrm>
            <a:off x="711200" y="114300"/>
            <a:ext cx="3306763" cy="368300"/>
          </a:xfrm>
        </p:spPr>
        <p:txBody>
          <a:bodyPr/>
          <a:lstStyle/>
          <a:p>
            <a:r>
              <a:rPr lang="zh-CN" altLang="en-US">
                <a:ea typeface="宋体" panose="02010600030101010101" pitchFamily="2" charset="-122"/>
              </a:rPr>
              <a:t>复杂指令集计算机</a:t>
            </a:r>
            <a:r>
              <a:rPr lang="en-US" altLang="zh-CN">
                <a:ea typeface="宋体" panose="02010600030101010101" pitchFamily="2" charset="-122"/>
              </a:rPr>
              <a:t>CISC</a:t>
            </a:r>
          </a:p>
        </p:txBody>
      </p:sp>
      <p:sp>
        <p:nvSpPr>
          <p:cNvPr id="411651" name="Rectangle 3">
            <a:extLst>
              <a:ext uri="{FF2B5EF4-FFF2-40B4-BE49-F238E27FC236}">
                <a16:creationId xmlns:a16="http://schemas.microsoft.com/office/drawing/2014/main" id="{EFAA2AFF-0F8D-4AC2-A71A-5546F084E249}"/>
              </a:ext>
            </a:extLst>
          </p:cNvPr>
          <p:cNvSpPr>
            <a:spLocks noGrp="1" noChangeArrowheads="1"/>
          </p:cNvSpPr>
          <p:nvPr>
            <p:ph idx="1"/>
          </p:nvPr>
        </p:nvSpPr>
        <p:spPr>
          <a:xfrm>
            <a:off x="519113" y="3133725"/>
            <a:ext cx="8153400" cy="3443288"/>
          </a:xfrm>
        </p:spPr>
        <p:txBody>
          <a:bodyPr/>
          <a:lstStyle/>
          <a:p>
            <a:pPr>
              <a:lnSpc>
                <a:spcPct val="140000"/>
              </a:lnSpc>
            </a:pPr>
            <a:r>
              <a:rPr lang="zh-CN" altLang="en-US">
                <a:latin typeface="Arial" panose="020B0604020202020204" pitchFamily="34" charset="0"/>
                <a:ea typeface="黑体" panose="02010609060101010101" pitchFamily="49" charset="-122"/>
              </a:rPr>
              <a:t>对</a:t>
            </a:r>
            <a:r>
              <a:rPr lang="en-US" altLang="zh-CN">
                <a:latin typeface="Arial" panose="020B0604020202020204" pitchFamily="34" charset="0"/>
                <a:ea typeface="黑体" panose="02010609060101010101" pitchFamily="49" charset="-122"/>
              </a:rPr>
              <a:t>CISC</a:t>
            </a:r>
            <a:r>
              <a:rPr lang="zh-CN" altLang="en-US">
                <a:latin typeface="Arial" panose="020B0604020202020204" pitchFamily="34" charset="0"/>
                <a:ea typeface="黑体" panose="02010609060101010101" pitchFamily="49" charset="-122"/>
              </a:rPr>
              <a:t>进行测试，发现一个</a:t>
            </a:r>
            <a:r>
              <a:rPr lang="zh-CN" altLang="en-US">
                <a:latin typeface="Arial" panose="020B0604020202020204" pitchFamily="34" charset="0"/>
                <a:ea typeface="黑体" panose="02010609060101010101" pitchFamily="49" charset="-122"/>
                <a:hlinkClick r:id="" action="ppaction://hlinkshowjump?jump=nextslide"/>
              </a:rPr>
              <a:t>事实</a:t>
            </a:r>
            <a:r>
              <a:rPr lang="zh-CN" altLang="en-US">
                <a:latin typeface="Arial" panose="020B0604020202020204" pitchFamily="34" charset="0"/>
                <a:ea typeface="黑体" panose="02010609060101010101" pitchFamily="49" charset="-122"/>
              </a:rPr>
              <a:t>：</a:t>
            </a:r>
          </a:p>
          <a:p>
            <a:pPr lvl="1">
              <a:lnSpc>
                <a:spcPct val="140000"/>
              </a:lnSpc>
            </a:pPr>
            <a:r>
              <a:rPr lang="zh-CN" altLang="en-US" sz="2000">
                <a:latin typeface="Arial" panose="020B0604020202020204" pitchFamily="34" charset="0"/>
                <a:ea typeface="黑体" panose="02010609060101010101" pitchFamily="49" charset="-122"/>
              </a:rPr>
              <a:t>在程序中各种指令出现的频率悬殊很大，最常使用的是一些简单指令，这些指令占程序的80%，但只占指令系统的20%。而且在微程序控制的计算机中，占指令总数20%的复杂指令占用了控制存储器容量的80%。</a:t>
            </a:r>
          </a:p>
          <a:p>
            <a:pPr>
              <a:lnSpc>
                <a:spcPct val="140000"/>
              </a:lnSpc>
            </a:pPr>
            <a:r>
              <a:rPr lang="zh-CN" altLang="en-US">
                <a:latin typeface="Arial" panose="020B0604020202020204" pitchFamily="34" charset="0"/>
                <a:ea typeface="黑体" panose="02010609060101010101" pitchFamily="49" charset="-122"/>
              </a:rPr>
              <a:t>1982年美国加州伯克利大学的</a:t>
            </a:r>
            <a:r>
              <a:rPr lang="en-US" altLang="zh-CN">
                <a:solidFill>
                  <a:srgbClr val="C2228D"/>
                </a:solidFill>
                <a:latin typeface="Arial" panose="020B0604020202020204" pitchFamily="34" charset="0"/>
                <a:ea typeface="黑体" panose="02010609060101010101" pitchFamily="49" charset="-122"/>
              </a:rPr>
              <a:t>RISC-I</a:t>
            </a:r>
            <a:r>
              <a:rPr lang="en-US" altLang="zh-CN">
                <a:latin typeface="Arial" panose="020B0604020202020204" pitchFamily="34" charset="0"/>
                <a:ea typeface="黑体" panose="02010609060101010101" pitchFamily="49" charset="-122"/>
              </a:rPr>
              <a:t>，</a:t>
            </a:r>
            <a:r>
              <a:rPr lang="zh-CN" altLang="en-US">
                <a:latin typeface="Arial" panose="020B0604020202020204" pitchFamily="34" charset="0"/>
                <a:ea typeface="黑体" panose="02010609060101010101" pitchFamily="49" charset="-122"/>
              </a:rPr>
              <a:t>斯坦福大学的</a:t>
            </a:r>
            <a:r>
              <a:rPr lang="en-US" altLang="zh-CN">
                <a:solidFill>
                  <a:srgbClr val="C2228D"/>
                </a:solidFill>
                <a:latin typeface="Arial" panose="020B0604020202020204" pitchFamily="34" charset="0"/>
                <a:ea typeface="黑体" panose="02010609060101010101" pitchFamily="49" charset="-122"/>
              </a:rPr>
              <a:t>MIPS</a:t>
            </a:r>
            <a:r>
              <a:rPr lang="en-US" altLang="zh-CN">
                <a:latin typeface="Arial" panose="020B0604020202020204" pitchFamily="34" charset="0"/>
                <a:ea typeface="黑体" panose="02010609060101010101" pitchFamily="49" charset="-122"/>
              </a:rPr>
              <a:t>，IBM</a:t>
            </a:r>
            <a:r>
              <a:rPr lang="zh-CN" altLang="en-US">
                <a:latin typeface="Arial" panose="020B0604020202020204" pitchFamily="34" charset="0"/>
                <a:ea typeface="黑体" panose="02010609060101010101" pitchFamily="49" charset="-122"/>
              </a:rPr>
              <a:t>公司的</a:t>
            </a:r>
            <a:r>
              <a:rPr lang="en-US" altLang="zh-CN">
                <a:solidFill>
                  <a:srgbClr val="C2228D"/>
                </a:solidFill>
                <a:latin typeface="Arial" panose="020B0604020202020204" pitchFamily="34" charset="0"/>
                <a:ea typeface="黑体" panose="02010609060101010101" pitchFamily="49" charset="-122"/>
              </a:rPr>
              <a:t>IBM801</a:t>
            </a:r>
            <a:r>
              <a:rPr lang="zh-CN" altLang="en-US">
                <a:latin typeface="Arial" panose="020B0604020202020204" pitchFamily="34" charset="0"/>
                <a:ea typeface="黑体" panose="02010609060101010101" pitchFamily="49" charset="-122"/>
              </a:rPr>
              <a:t>相继宣告完成，这些机器被称为</a:t>
            </a:r>
            <a:r>
              <a:rPr lang="zh-CN" altLang="en-US">
                <a:solidFill>
                  <a:srgbClr val="C2228D"/>
                </a:solidFill>
                <a:latin typeface="Arial" panose="020B0604020202020204" pitchFamily="34" charset="0"/>
                <a:ea typeface="黑体" panose="02010609060101010101" pitchFamily="49" charset="-122"/>
              </a:rPr>
              <a:t>第一代</a:t>
            </a:r>
            <a:r>
              <a:rPr lang="en-US" altLang="zh-CN">
                <a:solidFill>
                  <a:srgbClr val="C2228D"/>
                </a:solidFill>
                <a:latin typeface="Arial" panose="020B0604020202020204" pitchFamily="34" charset="0"/>
                <a:ea typeface="黑体" panose="02010609060101010101" pitchFamily="49" charset="-122"/>
              </a:rPr>
              <a:t>RISC</a:t>
            </a:r>
            <a:r>
              <a:rPr lang="zh-CN" altLang="en-US">
                <a:solidFill>
                  <a:srgbClr val="C2228D"/>
                </a:solidFill>
                <a:latin typeface="Arial" panose="020B0604020202020204" pitchFamily="34" charset="0"/>
                <a:ea typeface="黑体" panose="02010609060101010101" pitchFamily="49" charset="-122"/>
              </a:rPr>
              <a:t>机</a:t>
            </a:r>
            <a:r>
              <a:rPr lang="zh-CN" altLang="en-US">
                <a:latin typeface="Arial" panose="020B0604020202020204" pitchFamily="34" charset="0"/>
                <a:ea typeface="黑体" panose="02010609060101010101" pitchFamily="49" charset="-122"/>
              </a:rPr>
              <a:t>。</a:t>
            </a:r>
          </a:p>
        </p:txBody>
      </p:sp>
      <p:sp>
        <p:nvSpPr>
          <p:cNvPr id="411652" name="Rectangle 4">
            <a:extLst>
              <a:ext uri="{FF2B5EF4-FFF2-40B4-BE49-F238E27FC236}">
                <a16:creationId xmlns:a16="http://schemas.microsoft.com/office/drawing/2014/main" id="{D308FD30-43ED-F44F-7DA2-39DFA82FAE63}"/>
              </a:ext>
            </a:extLst>
          </p:cNvPr>
          <p:cNvSpPr>
            <a:spLocks noChangeArrowheads="1"/>
          </p:cNvSpPr>
          <p:nvPr/>
        </p:nvSpPr>
        <p:spPr bwMode="auto">
          <a:xfrm>
            <a:off x="536575" y="661988"/>
            <a:ext cx="8434388" cy="274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90000"/>
              </a:lnSpc>
              <a:spcBef>
                <a:spcPct val="30000"/>
              </a:spcBef>
              <a:buSzPct val="75000"/>
              <a:buFont typeface="Wingdings" panose="05000000000000000000" pitchFamily="2" charset="2"/>
              <a:buChar char="u"/>
            </a:pPr>
            <a:r>
              <a:rPr lang="en-US" altLang="zh-CN" sz="2000">
                <a:solidFill>
                  <a:schemeClr val="tx1"/>
                </a:solidFill>
                <a:ea typeface="黑体" panose="02010609060101010101" pitchFamily="49" charset="-122"/>
              </a:rPr>
              <a:t>CISC</a:t>
            </a:r>
            <a:r>
              <a:rPr lang="zh-CN" altLang="en-US" sz="2000">
                <a:solidFill>
                  <a:schemeClr val="tx1"/>
                </a:solidFill>
                <a:ea typeface="黑体" panose="02010609060101010101" pitchFamily="49" charset="-122"/>
              </a:rPr>
              <a:t>的缺陷</a:t>
            </a:r>
          </a:p>
          <a:p>
            <a:pPr lvl="1" eaLnBrk="0" hangingPunct="0">
              <a:lnSpc>
                <a:spcPct val="130000"/>
              </a:lnSpc>
              <a:spcBef>
                <a:spcPct val="30000"/>
              </a:spcBef>
              <a:buFontTx/>
              <a:buChar char="–"/>
            </a:pPr>
            <a:r>
              <a:rPr lang="zh-CN" altLang="en-US" sz="2000">
                <a:solidFill>
                  <a:srgbClr val="0000FF"/>
                </a:solidFill>
                <a:ea typeface="黑体" panose="02010609060101010101" pitchFamily="49" charset="-122"/>
              </a:rPr>
              <a:t>日趋庞大的指令系统不但使计算机的</a:t>
            </a:r>
            <a:r>
              <a:rPr lang="zh-CN" altLang="en-US" sz="2000">
                <a:solidFill>
                  <a:srgbClr val="C2228D"/>
                </a:solidFill>
                <a:ea typeface="黑体" panose="02010609060101010101" pitchFamily="49" charset="-122"/>
              </a:rPr>
              <a:t>研制周期变长</a:t>
            </a:r>
            <a:r>
              <a:rPr lang="zh-CN" altLang="en-US" sz="2000">
                <a:solidFill>
                  <a:srgbClr val="0000FF"/>
                </a:solidFill>
                <a:ea typeface="黑体" panose="02010609060101010101" pitchFamily="49" charset="-122"/>
              </a:rPr>
              <a:t>，而且</a:t>
            </a:r>
            <a:r>
              <a:rPr lang="zh-CN" altLang="en-US" sz="2000">
                <a:solidFill>
                  <a:srgbClr val="C2228D"/>
                </a:solidFill>
                <a:ea typeface="黑体" panose="02010609060101010101" pitchFamily="49" charset="-122"/>
              </a:rPr>
              <a:t>难以保证设计的正确性，难以调试和维护，</a:t>
            </a:r>
            <a:r>
              <a:rPr lang="zh-CN" altLang="en-US" sz="2000">
                <a:solidFill>
                  <a:srgbClr val="0000FF"/>
                </a:solidFill>
                <a:ea typeface="黑体" panose="02010609060101010101" pitchFamily="49" charset="-122"/>
              </a:rPr>
              <a:t>并且因指令操作复杂而</a:t>
            </a:r>
            <a:r>
              <a:rPr lang="zh-CN" altLang="en-US" sz="2000">
                <a:solidFill>
                  <a:srgbClr val="C2228D"/>
                </a:solidFill>
                <a:ea typeface="黑体" panose="02010609060101010101" pitchFamily="49" charset="-122"/>
              </a:rPr>
              <a:t>增加机器周期</a:t>
            </a:r>
            <a:r>
              <a:rPr lang="zh-CN" altLang="en-US" sz="2000">
                <a:solidFill>
                  <a:srgbClr val="0000FF"/>
                </a:solidFill>
                <a:ea typeface="黑体" panose="02010609060101010101" pitchFamily="49" charset="-122"/>
              </a:rPr>
              <a:t>，从而</a:t>
            </a:r>
            <a:r>
              <a:rPr lang="zh-CN" altLang="en-US" sz="2000">
                <a:solidFill>
                  <a:srgbClr val="C2228D"/>
                </a:solidFill>
                <a:ea typeface="黑体" panose="02010609060101010101" pitchFamily="49" charset="-122"/>
              </a:rPr>
              <a:t>降低了系统性能。</a:t>
            </a:r>
          </a:p>
          <a:p>
            <a:pPr eaLnBrk="0" hangingPunct="0">
              <a:lnSpc>
                <a:spcPct val="140000"/>
              </a:lnSpc>
              <a:spcBef>
                <a:spcPct val="30000"/>
              </a:spcBef>
              <a:buSzPct val="75000"/>
              <a:buFont typeface="Wingdings" panose="05000000000000000000" pitchFamily="2" charset="2"/>
              <a:buChar char="u"/>
            </a:pPr>
            <a:r>
              <a:rPr lang="zh-CN" altLang="en-US" sz="2000">
                <a:solidFill>
                  <a:schemeClr val="tx1"/>
                </a:solidFill>
                <a:ea typeface="黑体" panose="02010609060101010101" pitchFamily="49" charset="-122"/>
              </a:rPr>
              <a:t>1975年</a:t>
            </a:r>
            <a:r>
              <a:rPr lang="en-US" altLang="zh-CN" sz="2000">
                <a:solidFill>
                  <a:schemeClr val="tx1"/>
                </a:solidFill>
                <a:ea typeface="黑体" panose="02010609060101010101" pitchFamily="49" charset="-122"/>
              </a:rPr>
              <a:t>IBM</a:t>
            </a:r>
            <a:r>
              <a:rPr lang="zh-CN" altLang="en-US" sz="2000">
                <a:solidFill>
                  <a:schemeClr val="tx1"/>
                </a:solidFill>
                <a:ea typeface="黑体" panose="02010609060101010101" pitchFamily="49" charset="-122"/>
              </a:rPr>
              <a:t>公司开始研究</a:t>
            </a:r>
            <a:r>
              <a:rPr lang="zh-CN" altLang="en-US" sz="2000">
                <a:solidFill>
                  <a:srgbClr val="C2228D"/>
                </a:solidFill>
                <a:ea typeface="黑体" panose="02010609060101010101" pitchFamily="49" charset="-122"/>
              </a:rPr>
              <a:t>指令系统的合理性问题</a:t>
            </a:r>
            <a:r>
              <a:rPr lang="zh-CN" altLang="en-US" sz="2000">
                <a:solidFill>
                  <a:schemeClr val="tx1"/>
                </a:solidFill>
                <a:ea typeface="黑体" panose="02010609060101010101" pitchFamily="49" charset="-122"/>
              </a:rPr>
              <a:t>，</a:t>
            </a:r>
            <a:r>
              <a:rPr lang="en-US" altLang="zh-CN" sz="2000">
                <a:solidFill>
                  <a:schemeClr val="tx1"/>
                </a:solidFill>
                <a:ea typeface="黑体" panose="02010609060101010101" pitchFamily="49" charset="-122"/>
              </a:rPr>
              <a:t>John Cocks</a:t>
            </a:r>
            <a:r>
              <a:rPr lang="zh-CN" altLang="en-US" sz="2000">
                <a:solidFill>
                  <a:schemeClr val="tx1"/>
                </a:solidFill>
                <a:ea typeface="黑体" panose="02010609060101010101" pitchFamily="49" charset="-122"/>
              </a:rPr>
              <a:t>提出精简指令系统计算机 </a:t>
            </a:r>
            <a:r>
              <a:rPr lang="en-US" altLang="zh-CN" sz="2000">
                <a:ea typeface="黑体" panose="02010609060101010101" pitchFamily="49" charset="-122"/>
              </a:rPr>
              <a:t>RISC ( Reduce Instruction Set Computer )</a:t>
            </a:r>
            <a:r>
              <a:rPr lang="zh-CN" altLang="en-US" sz="2000">
                <a:solidFill>
                  <a:schemeClr val="tx1"/>
                </a:solidFill>
                <a:ea typeface="黑体" panose="02010609060101010101" pitchFamily="49" charset="-122"/>
              </a:rPr>
              <a:t>。</a:t>
            </a:r>
          </a:p>
        </p:txBody>
      </p:sp>
      <p:sp>
        <p:nvSpPr>
          <p:cNvPr id="5" name="Text Box 6">
            <a:extLst>
              <a:ext uri="{FF2B5EF4-FFF2-40B4-BE49-F238E27FC236}">
                <a16:creationId xmlns:a16="http://schemas.microsoft.com/office/drawing/2014/main" id="{46821B30-6F13-31FD-CADA-AFB08C7AB25D}"/>
              </a:ext>
            </a:extLst>
          </p:cNvPr>
          <p:cNvSpPr txBox="1">
            <a:spLocks noChangeArrowheads="1"/>
          </p:cNvSpPr>
          <p:nvPr/>
        </p:nvSpPr>
        <p:spPr bwMode="auto">
          <a:xfrm>
            <a:off x="8059738" y="6253163"/>
            <a:ext cx="89535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hlinkClick r:id="rId2" action="ppaction://hlinksldjump"/>
              </a:rPr>
              <a:t>SKIP</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1652">
                                            <p:txEl>
                                              <p:pRg st="1" end="1"/>
                                            </p:txEl>
                                          </p:spTgt>
                                        </p:tgtEl>
                                        <p:attrNameLst>
                                          <p:attrName>style.visibility</p:attrName>
                                        </p:attrNameLst>
                                      </p:cBhvr>
                                      <p:to>
                                        <p:strVal val="visible"/>
                                      </p:to>
                                    </p:set>
                                    <p:animEffect transition="in" filter="blinds(horizontal)">
                                      <p:cBhvr>
                                        <p:cTn id="7" dur="500"/>
                                        <p:tgtEl>
                                          <p:spTgt spid="41165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1652">
                                            <p:txEl>
                                              <p:pRg st="2" end="2"/>
                                            </p:txEl>
                                          </p:spTgt>
                                        </p:tgtEl>
                                        <p:attrNameLst>
                                          <p:attrName>style.visibility</p:attrName>
                                        </p:attrNameLst>
                                      </p:cBhvr>
                                      <p:to>
                                        <p:strVal val="visible"/>
                                      </p:to>
                                    </p:set>
                                    <p:animEffect transition="in" filter="blinds(horizontal)">
                                      <p:cBhvr>
                                        <p:cTn id="12" dur="500"/>
                                        <p:tgtEl>
                                          <p:spTgt spid="41165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1651">
                                            <p:txEl>
                                              <p:pRg st="0" end="0"/>
                                            </p:txEl>
                                          </p:spTgt>
                                        </p:tgtEl>
                                        <p:attrNameLst>
                                          <p:attrName>style.visibility</p:attrName>
                                        </p:attrNameLst>
                                      </p:cBhvr>
                                      <p:to>
                                        <p:strVal val="visible"/>
                                      </p:to>
                                    </p:set>
                                    <p:animEffect transition="in" filter="blinds(horizontal)">
                                      <p:cBhvr>
                                        <p:cTn id="17" dur="500"/>
                                        <p:tgtEl>
                                          <p:spTgt spid="41165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11651">
                                            <p:txEl>
                                              <p:pRg st="1" end="1"/>
                                            </p:txEl>
                                          </p:spTgt>
                                        </p:tgtEl>
                                        <p:attrNameLst>
                                          <p:attrName>style.visibility</p:attrName>
                                        </p:attrNameLst>
                                      </p:cBhvr>
                                      <p:to>
                                        <p:strVal val="visible"/>
                                      </p:to>
                                    </p:set>
                                    <p:animEffect transition="in" filter="blinds(horizontal)">
                                      <p:cBhvr>
                                        <p:cTn id="22" dur="500"/>
                                        <p:tgtEl>
                                          <p:spTgt spid="411651">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11651">
                                            <p:txEl>
                                              <p:pRg st="2" end="2"/>
                                            </p:txEl>
                                          </p:spTgt>
                                        </p:tgtEl>
                                        <p:attrNameLst>
                                          <p:attrName>style.visibility</p:attrName>
                                        </p:attrNameLst>
                                      </p:cBhvr>
                                      <p:to>
                                        <p:strVal val="visible"/>
                                      </p:to>
                                    </p:set>
                                    <p:animEffect transition="in" filter="blinds(horizontal)">
                                      <p:cBhvr>
                                        <p:cTn id="27" dur="500"/>
                                        <p:tgtEl>
                                          <p:spTgt spid="411651">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49B1E783-A645-68AC-C749-7B572431E3D1}"/>
              </a:ext>
            </a:extLst>
          </p:cNvPr>
          <p:cNvSpPr>
            <a:spLocks noGrp="1" noChangeArrowheads="1"/>
          </p:cNvSpPr>
          <p:nvPr>
            <p:ph type="title"/>
          </p:nvPr>
        </p:nvSpPr>
        <p:spPr>
          <a:xfrm>
            <a:off x="711200" y="114300"/>
            <a:ext cx="3868738" cy="368300"/>
          </a:xfrm>
        </p:spPr>
        <p:txBody>
          <a:bodyPr wrap="none"/>
          <a:lstStyle/>
          <a:p>
            <a:r>
              <a:rPr lang="en-US" altLang="zh-CN">
                <a:ea typeface="宋体" panose="02010600030101010101" pitchFamily="2" charset="-122"/>
              </a:rPr>
              <a:t>Top 10 80x86 Instructions</a:t>
            </a:r>
          </a:p>
        </p:txBody>
      </p:sp>
      <p:pic>
        <p:nvPicPr>
          <p:cNvPr id="35842" name="Picture 3">
            <a:extLst>
              <a:ext uri="{FF2B5EF4-FFF2-40B4-BE49-F238E27FC236}">
                <a16:creationId xmlns:a16="http://schemas.microsoft.com/office/drawing/2014/main" id="{D5BCFC0C-89CB-E8DB-ABC0-2DD655841C5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50" y="735013"/>
            <a:ext cx="8772525" cy="514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43" name="Text Box 4">
            <a:extLst>
              <a:ext uri="{FF2B5EF4-FFF2-40B4-BE49-F238E27FC236}">
                <a16:creationId xmlns:a16="http://schemas.microsoft.com/office/drawing/2014/main" id="{2C07035E-684B-FD81-40C8-3CFFC32949E1}"/>
              </a:ext>
            </a:extLst>
          </p:cNvPr>
          <p:cNvSpPr txBox="1">
            <a:spLocks noChangeArrowheads="1"/>
          </p:cNvSpPr>
          <p:nvPr/>
        </p:nvSpPr>
        <p:spPr bwMode="auto">
          <a:xfrm>
            <a:off x="747713" y="6067425"/>
            <a:ext cx="61531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2000">
                <a:ea typeface="黑体" panose="02010609060101010101" pitchFamily="49" charset="-122"/>
              </a:rPr>
              <a:t>( </a:t>
            </a:r>
            <a:r>
              <a:rPr lang="zh-CN" altLang="en-US" sz="2000">
                <a:ea typeface="黑体" panose="02010609060101010101" pitchFamily="49" charset="-122"/>
              </a:rPr>
              <a:t>简单指令占主要部分，使用频率高！</a:t>
            </a:r>
            <a:r>
              <a:rPr lang="en-US" altLang="zh-CN" sz="2000">
                <a:ea typeface="黑体" panose="02010609060101010101" pitchFamily="49" charset="-122"/>
              </a:rPr>
              <a:t>)</a:t>
            </a:r>
          </a:p>
        </p:txBody>
      </p:sp>
      <p:sp>
        <p:nvSpPr>
          <p:cNvPr id="35844" name="Rectangle 5">
            <a:extLst>
              <a:ext uri="{FF2B5EF4-FFF2-40B4-BE49-F238E27FC236}">
                <a16:creationId xmlns:a16="http://schemas.microsoft.com/office/drawing/2014/main" id="{F54B1444-4CF6-BFD2-4B50-F0A321C51DA7}"/>
              </a:ext>
            </a:extLst>
          </p:cNvPr>
          <p:cNvSpPr>
            <a:spLocks noGrp="1" noChangeArrowheads="1"/>
          </p:cNvSpPr>
          <p:nvPr>
            <p:ph idx="1"/>
          </p:nvPr>
        </p:nvSpPr>
        <p:spPr/>
        <p:txBody>
          <a:bodyPr/>
          <a:lstStyle/>
          <a:p>
            <a:pPr algn="just">
              <a:lnSpc>
                <a:spcPct val="86000"/>
              </a:lnSpc>
              <a:spcBef>
                <a:spcPct val="40000"/>
              </a:spcBef>
              <a:buFont typeface="Wingdings" panose="05000000000000000000" pitchFamily="2" charset="2"/>
              <a:buNone/>
            </a:pPr>
            <a:r>
              <a:rPr lang="en-US" altLang="zh-CN" sz="1600"/>
              <a:t>   </a:t>
            </a:r>
          </a:p>
        </p:txBody>
      </p:sp>
      <p:sp>
        <p:nvSpPr>
          <p:cNvPr id="39942" name="Text Box 6">
            <a:extLst>
              <a:ext uri="{FF2B5EF4-FFF2-40B4-BE49-F238E27FC236}">
                <a16:creationId xmlns:a16="http://schemas.microsoft.com/office/drawing/2014/main" id="{955CA30F-6457-081D-6F6B-4B9B8D935FEB}"/>
              </a:ext>
            </a:extLst>
          </p:cNvPr>
          <p:cNvSpPr txBox="1">
            <a:spLocks noChangeArrowheads="1"/>
          </p:cNvSpPr>
          <p:nvPr/>
        </p:nvSpPr>
        <p:spPr bwMode="auto">
          <a:xfrm>
            <a:off x="7094538" y="6046788"/>
            <a:ext cx="114617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hlinkClick r:id="" action="ppaction://hlinkshowjump?jump=previousslide"/>
              </a:rPr>
              <a:t>BACK</a:t>
            </a: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blinds(horizontal)">
                                      <p:cBhvr>
                                        <p:cTn id="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DFA6B052-4341-906A-A151-8F51C2050489}"/>
              </a:ext>
            </a:extLst>
          </p:cNvPr>
          <p:cNvSpPr>
            <a:spLocks noGrp="1" noChangeArrowheads="1"/>
          </p:cNvSpPr>
          <p:nvPr>
            <p:ph type="title"/>
          </p:nvPr>
        </p:nvSpPr>
        <p:spPr>
          <a:xfrm>
            <a:off x="711200" y="114300"/>
            <a:ext cx="4846638" cy="368300"/>
          </a:xfrm>
        </p:spPr>
        <p:txBody>
          <a:bodyPr anchor="ctr"/>
          <a:lstStyle/>
          <a:p>
            <a:r>
              <a:rPr lang="en-US" altLang="zh-CN">
                <a:ea typeface="宋体" panose="02010600030101010101" pitchFamily="2" charset="-122"/>
              </a:rPr>
              <a:t>RISC</a:t>
            </a:r>
            <a:r>
              <a:rPr lang="zh-CN" altLang="en-US">
                <a:ea typeface="宋体" panose="02010600030101010101" pitchFamily="2" charset="-122"/>
              </a:rPr>
              <a:t>设计风格的主要特点</a:t>
            </a:r>
          </a:p>
        </p:txBody>
      </p:sp>
      <p:sp>
        <p:nvSpPr>
          <p:cNvPr id="413699" name="Rectangle 3">
            <a:extLst>
              <a:ext uri="{FF2B5EF4-FFF2-40B4-BE49-F238E27FC236}">
                <a16:creationId xmlns:a16="http://schemas.microsoft.com/office/drawing/2014/main" id="{78458D5F-DD13-C498-08B4-3F6C59EE8E50}"/>
              </a:ext>
            </a:extLst>
          </p:cNvPr>
          <p:cNvSpPr>
            <a:spLocks noGrp="1" noChangeArrowheads="1"/>
          </p:cNvSpPr>
          <p:nvPr>
            <p:ph idx="1"/>
          </p:nvPr>
        </p:nvSpPr>
        <p:spPr>
          <a:xfrm>
            <a:off x="269875" y="638175"/>
            <a:ext cx="8607425" cy="4586288"/>
          </a:xfrm>
        </p:spPr>
        <p:txBody>
          <a:bodyPr/>
          <a:lstStyle/>
          <a:p>
            <a:pPr marL="342900" indent="-342900">
              <a:lnSpc>
                <a:spcPct val="115000"/>
              </a:lnSpc>
              <a:buFont typeface="Monotype Sorts"/>
              <a:buChar char=" "/>
            </a:pPr>
            <a:r>
              <a:rPr lang="zh-CN" altLang="en-US">
                <a:solidFill>
                  <a:srgbClr val="0000FF"/>
                </a:solidFill>
                <a:latin typeface="Arial" panose="020B0604020202020204" pitchFamily="34" charset="0"/>
                <a:ea typeface="黑体" panose="02010609060101010101" pitchFamily="49" charset="-122"/>
              </a:rPr>
              <a:t>(1) 简化的指令系统</a:t>
            </a:r>
          </a:p>
          <a:p>
            <a:pPr marL="342900" indent="-342900">
              <a:lnSpc>
                <a:spcPct val="115000"/>
              </a:lnSpc>
              <a:buFont typeface="Monotype Sorts"/>
              <a:buChar char=" "/>
            </a:pPr>
            <a:r>
              <a:rPr lang="zh-CN" altLang="en-US">
                <a:solidFill>
                  <a:srgbClr val="C2228D"/>
                </a:solidFill>
                <a:latin typeface="Arial" panose="020B0604020202020204" pitchFamily="34" charset="0"/>
                <a:ea typeface="黑体" panose="02010609060101010101" pitchFamily="49" charset="-122"/>
              </a:rPr>
              <a:t>     指令少 / 寻址方式少 / 指令格式少 / 指令长度一致</a:t>
            </a:r>
          </a:p>
          <a:p>
            <a:pPr marL="342900" indent="-342900">
              <a:lnSpc>
                <a:spcPct val="115000"/>
              </a:lnSpc>
              <a:buFont typeface="Monotype Sorts"/>
              <a:buChar char=" "/>
            </a:pPr>
            <a:r>
              <a:rPr lang="zh-CN" altLang="en-US">
                <a:solidFill>
                  <a:srgbClr val="0000FF"/>
                </a:solidFill>
                <a:latin typeface="Arial" panose="020B0604020202020204" pitchFamily="34" charset="0"/>
                <a:ea typeface="黑体" panose="02010609060101010101" pitchFamily="49" charset="-122"/>
              </a:rPr>
              <a:t>(2) 以</a:t>
            </a:r>
            <a:r>
              <a:rPr lang="en-US" altLang="zh-CN">
                <a:solidFill>
                  <a:srgbClr val="0000FF"/>
                </a:solidFill>
                <a:latin typeface="Arial" panose="020B0604020202020204" pitchFamily="34" charset="0"/>
                <a:ea typeface="黑体" panose="02010609060101010101" pitchFamily="49" charset="-122"/>
              </a:rPr>
              <a:t>RR</a:t>
            </a:r>
            <a:r>
              <a:rPr lang="zh-CN" altLang="en-US">
                <a:solidFill>
                  <a:srgbClr val="0000FF"/>
                </a:solidFill>
                <a:latin typeface="Arial" panose="020B0604020202020204" pitchFamily="34" charset="0"/>
                <a:ea typeface="黑体" panose="02010609060101010101" pitchFamily="49" charset="-122"/>
              </a:rPr>
              <a:t>方式工作</a:t>
            </a:r>
          </a:p>
          <a:p>
            <a:pPr marL="342900" indent="-342900">
              <a:lnSpc>
                <a:spcPct val="115000"/>
              </a:lnSpc>
              <a:buFont typeface="Monotype Sorts"/>
              <a:buChar char=" "/>
            </a:pPr>
            <a:r>
              <a:rPr lang="zh-CN" altLang="en-US">
                <a:solidFill>
                  <a:srgbClr val="C2228D"/>
                </a:solidFill>
                <a:latin typeface="Arial" panose="020B0604020202020204" pitchFamily="34" charset="0"/>
                <a:ea typeface="黑体" panose="02010609060101010101" pitchFamily="49" charset="-122"/>
              </a:rPr>
              <a:t>      除</a:t>
            </a:r>
            <a:r>
              <a:rPr lang="en-US" altLang="zh-CN">
                <a:solidFill>
                  <a:srgbClr val="C2228D"/>
                </a:solidFill>
                <a:latin typeface="Arial" panose="020B0604020202020204" pitchFamily="34" charset="0"/>
                <a:ea typeface="黑体" panose="02010609060101010101" pitchFamily="49" charset="-122"/>
              </a:rPr>
              <a:t>Load/Store</a:t>
            </a:r>
            <a:r>
              <a:rPr lang="zh-CN" altLang="en-US">
                <a:solidFill>
                  <a:srgbClr val="C2228D"/>
                </a:solidFill>
                <a:latin typeface="Arial" panose="020B0604020202020204" pitchFamily="34" charset="0"/>
                <a:ea typeface="黑体" panose="02010609060101010101" pitchFamily="49" charset="-122"/>
              </a:rPr>
              <a:t>指令可访问存储器外，其余指令都只访问寄存器。</a:t>
            </a:r>
          </a:p>
          <a:p>
            <a:pPr marL="342900" indent="-342900">
              <a:lnSpc>
                <a:spcPct val="115000"/>
              </a:lnSpc>
              <a:buFont typeface="Monotype Sorts"/>
              <a:buChar char=" "/>
            </a:pPr>
            <a:r>
              <a:rPr lang="zh-CN" altLang="en-US">
                <a:solidFill>
                  <a:srgbClr val="0000FF"/>
                </a:solidFill>
                <a:latin typeface="Arial" panose="020B0604020202020204" pitchFamily="34" charset="0"/>
                <a:ea typeface="黑体" panose="02010609060101010101" pitchFamily="49" charset="-122"/>
              </a:rPr>
              <a:t>(3) 指令周期短</a:t>
            </a:r>
          </a:p>
          <a:p>
            <a:pPr marL="342900" indent="-342900">
              <a:lnSpc>
                <a:spcPct val="115000"/>
              </a:lnSpc>
              <a:buFont typeface="Monotype Sorts"/>
              <a:buChar char=" "/>
            </a:pPr>
            <a:r>
              <a:rPr lang="zh-CN" altLang="en-US">
                <a:solidFill>
                  <a:srgbClr val="C2228D"/>
                </a:solidFill>
                <a:latin typeface="Arial" panose="020B0604020202020204" pitchFamily="34" charset="0"/>
                <a:ea typeface="黑体" panose="02010609060101010101" pitchFamily="49" charset="-122"/>
              </a:rPr>
              <a:t>      以流水线方式工作，</a:t>
            </a:r>
            <a:r>
              <a:rPr lang="zh-CN" altLang="en-US">
                <a:latin typeface="Arial" panose="020B0604020202020204" pitchFamily="34" charset="0"/>
                <a:ea typeface="黑体" panose="02010609060101010101" pitchFamily="49" charset="-122"/>
              </a:rPr>
              <a:t> </a:t>
            </a:r>
            <a:r>
              <a:rPr lang="zh-CN" altLang="en-US">
                <a:solidFill>
                  <a:srgbClr val="C2228D"/>
                </a:solidFill>
                <a:latin typeface="Arial" panose="020B0604020202020204" pitchFamily="34" charset="0"/>
                <a:ea typeface="黑体" panose="02010609060101010101" pitchFamily="49" charset="-122"/>
              </a:rPr>
              <a:t>因而除</a:t>
            </a:r>
            <a:r>
              <a:rPr lang="en-US" altLang="zh-CN">
                <a:solidFill>
                  <a:srgbClr val="C2228D"/>
                </a:solidFill>
                <a:latin typeface="Arial" panose="020B0604020202020204" pitchFamily="34" charset="0"/>
                <a:ea typeface="黑体" panose="02010609060101010101" pitchFamily="49" charset="-122"/>
              </a:rPr>
              <a:t>Load/Store</a:t>
            </a:r>
            <a:r>
              <a:rPr lang="zh-CN" altLang="en-US">
                <a:solidFill>
                  <a:srgbClr val="C2228D"/>
                </a:solidFill>
                <a:latin typeface="Arial" panose="020B0604020202020204" pitchFamily="34" charset="0"/>
                <a:ea typeface="黑体" panose="02010609060101010101" pitchFamily="49" charset="-122"/>
              </a:rPr>
              <a:t>指令外，其他简单指令都只需一个或一个不到的时钟周期就可完成。</a:t>
            </a:r>
          </a:p>
          <a:p>
            <a:pPr marL="342900" indent="-342900">
              <a:lnSpc>
                <a:spcPct val="115000"/>
              </a:lnSpc>
              <a:buFont typeface="Monotype Sorts"/>
              <a:buChar char=" "/>
            </a:pPr>
            <a:r>
              <a:rPr lang="zh-CN" altLang="en-US">
                <a:solidFill>
                  <a:srgbClr val="0000FF"/>
                </a:solidFill>
                <a:latin typeface="Arial" panose="020B0604020202020204" pitchFamily="34" charset="0"/>
                <a:ea typeface="黑体" panose="02010609060101010101" pitchFamily="49" charset="-122"/>
              </a:rPr>
              <a:t> (4) 采用大量通用寄存器，以减少访存次数</a:t>
            </a:r>
          </a:p>
          <a:p>
            <a:pPr marL="342900" indent="-342900">
              <a:lnSpc>
                <a:spcPct val="115000"/>
              </a:lnSpc>
              <a:buFont typeface="Monotype Sorts"/>
              <a:buChar char=" "/>
            </a:pPr>
            <a:r>
              <a:rPr lang="zh-CN" altLang="en-US">
                <a:solidFill>
                  <a:srgbClr val="0000FF"/>
                </a:solidFill>
                <a:latin typeface="Arial" panose="020B0604020202020204" pitchFamily="34" charset="0"/>
                <a:ea typeface="黑体" panose="02010609060101010101" pitchFamily="49" charset="-122"/>
              </a:rPr>
              <a:t> (5) 采用组合逻辑电路控制，不用或少用微程序控制</a:t>
            </a:r>
          </a:p>
          <a:p>
            <a:pPr marL="342900" indent="-342900">
              <a:lnSpc>
                <a:spcPct val="115000"/>
              </a:lnSpc>
              <a:buFont typeface="Monotype Sorts"/>
              <a:buChar char=" "/>
            </a:pPr>
            <a:r>
              <a:rPr lang="zh-CN" altLang="en-US">
                <a:solidFill>
                  <a:srgbClr val="0000FF"/>
                </a:solidFill>
                <a:latin typeface="Arial" panose="020B0604020202020204" pitchFamily="34" charset="0"/>
                <a:ea typeface="黑体" panose="02010609060101010101" pitchFamily="49" charset="-122"/>
              </a:rPr>
              <a:t> (6)  采用优化的编译系统，力求有效地支持高级语言程序</a:t>
            </a:r>
          </a:p>
        </p:txBody>
      </p:sp>
      <p:sp>
        <p:nvSpPr>
          <p:cNvPr id="413700" name="Text Box 4">
            <a:extLst>
              <a:ext uri="{FF2B5EF4-FFF2-40B4-BE49-F238E27FC236}">
                <a16:creationId xmlns:a16="http://schemas.microsoft.com/office/drawing/2014/main" id="{DA5261C1-1E7D-0877-E9AC-68EED600C41E}"/>
              </a:ext>
            </a:extLst>
          </p:cNvPr>
          <p:cNvSpPr txBox="1">
            <a:spLocks noChangeArrowheads="1"/>
          </p:cNvSpPr>
          <p:nvPr/>
        </p:nvSpPr>
        <p:spPr bwMode="auto">
          <a:xfrm>
            <a:off x="501650" y="5380038"/>
            <a:ext cx="8526463"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2000">
                <a:solidFill>
                  <a:schemeClr val="tx1"/>
                </a:solidFill>
                <a:ea typeface="黑体" panose="02010609060101010101" pitchFamily="49" charset="-122"/>
              </a:rPr>
              <a:t>MIPS</a:t>
            </a:r>
            <a:r>
              <a:rPr lang="zh-CN" altLang="en-US" sz="2000">
                <a:solidFill>
                  <a:schemeClr val="tx1"/>
                </a:solidFill>
                <a:ea typeface="黑体" panose="02010609060101010101" pitchFamily="49" charset="-122"/>
              </a:rPr>
              <a:t>、</a:t>
            </a:r>
            <a:r>
              <a:rPr lang="en-US" altLang="zh-CN" sz="2000">
                <a:solidFill>
                  <a:schemeClr val="tx1"/>
                </a:solidFill>
                <a:ea typeface="黑体" panose="02010609060101010101" pitchFamily="49" charset="-122"/>
              </a:rPr>
              <a:t>RISC(RISC-I</a:t>
            </a:r>
            <a:r>
              <a:rPr lang="zh-CN" altLang="en-US" sz="2000">
                <a:solidFill>
                  <a:schemeClr val="tx1"/>
                </a:solidFill>
                <a:ea typeface="黑体" panose="02010609060101010101" pitchFamily="49" charset="-122"/>
              </a:rPr>
              <a:t>到</a:t>
            </a:r>
            <a:r>
              <a:rPr lang="en-US" altLang="zh-CN" sz="2000">
                <a:solidFill>
                  <a:schemeClr val="tx1"/>
                </a:solidFill>
                <a:ea typeface="黑体" panose="02010609060101010101" pitchFamily="49" charset="-122"/>
              </a:rPr>
              <a:t>RISC-V</a:t>
            </a:r>
            <a:r>
              <a:rPr lang="zh-CN" altLang="en-US" sz="2000">
                <a:solidFill>
                  <a:schemeClr val="tx1"/>
                </a:solidFill>
                <a:ea typeface="黑体" panose="02010609060101010101" pitchFamily="49" charset="-122"/>
              </a:rPr>
              <a:t>）系列架构是典型的</a:t>
            </a:r>
            <a:r>
              <a:rPr lang="en-US" altLang="zh-CN" sz="2000">
                <a:solidFill>
                  <a:schemeClr val="tx1"/>
                </a:solidFill>
                <a:ea typeface="黑体" panose="02010609060101010101" pitchFamily="49" charset="-122"/>
              </a:rPr>
              <a:t>RISC</a:t>
            </a:r>
            <a:r>
              <a:rPr lang="zh-CN" altLang="en-US" sz="2000">
                <a:solidFill>
                  <a:schemeClr val="tx1"/>
                </a:solidFill>
                <a:ea typeface="黑体" panose="02010609060101010101" pitchFamily="49" charset="-122"/>
              </a:rPr>
              <a:t>处理器，</a:t>
            </a:r>
            <a:r>
              <a:rPr lang="en-US" altLang="zh-CN" sz="2000">
                <a:solidFill>
                  <a:schemeClr val="tx1"/>
                </a:solidFill>
                <a:ea typeface="黑体" panose="02010609060101010101" pitchFamily="49" charset="-122"/>
              </a:rPr>
              <a:t>82</a:t>
            </a:r>
            <a:r>
              <a:rPr lang="zh-CN" altLang="en-US" sz="2000">
                <a:solidFill>
                  <a:schemeClr val="tx1"/>
                </a:solidFill>
                <a:ea typeface="黑体" panose="02010609060101010101" pitchFamily="49" charset="-122"/>
              </a:rPr>
              <a:t>年以来新的指令集大多采用</a:t>
            </a:r>
            <a:r>
              <a:rPr lang="en-US" altLang="zh-CN" sz="2000">
                <a:solidFill>
                  <a:schemeClr val="tx1"/>
                </a:solidFill>
                <a:ea typeface="黑体" panose="02010609060101010101" pitchFamily="49" charset="-122"/>
              </a:rPr>
              <a:t>RISC</a:t>
            </a:r>
            <a:r>
              <a:rPr lang="zh-CN" altLang="en-US" sz="2000">
                <a:solidFill>
                  <a:schemeClr val="tx1"/>
                </a:solidFill>
                <a:ea typeface="黑体" panose="02010609060101010101" pitchFamily="49" charset="-122"/>
              </a:rPr>
              <a:t>体系结构</a:t>
            </a:r>
          </a:p>
          <a:p>
            <a:pPr eaLnBrk="0" hangingPunct="0">
              <a:spcBef>
                <a:spcPct val="50000"/>
              </a:spcBef>
            </a:pPr>
            <a:r>
              <a:rPr lang="en-US" altLang="zh-CN" sz="2000">
                <a:solidFill>
                  <a:schemeClr val="tx1"/>
                </a:solidFill>
                <a:ea typeface="黑体" panose="02010609060101010101" pitchFamily="49" charset="-122"/>
              </a:rPr>
              <a:t>x86</a:t>
            </a:r>
            <a:r>
              <a:rPr lang="zh-CN" altLang="en-US" sz="2000">
                <a:solidFill>
                  <a:schemeClr val="tx1"/>
                </a:solidFill>
                <a:ea typeface="黑体" panose="02010609060101010101" pitchFamily="49" charset="-122"/>
              </a:rPr>
              <a:t>因为“兼容”的需要，保留了</a:t>
            </a:r>
            <a:r>
              <a:rPr lang="en-US" altLang="zh-CN" sz="2000">
                <a:solidFill>
                  <a:schemeClr val="tx1"/>
                </a:solidFill>
                <a:ea typeface="黑体" panose="02010609060101010101" pitchFamily="49" charset="-122"/>
              </a:rPr>
              <a:t>CISC</a:t>
            </a:r>
            <a:r>
              <a:rPr lang="zh-CN" altLang="en-US" sz="2000">
                <a:solidFill>
                  <a:schemeClr val="tx1"/>
                </a:solidFill>
                <a:ea typeface="黑体" panose="02010609060101010101" pitchFamily="49" charset="-122"/>
              </a:rPr>
              <a:t>的风格，同时也借鉴了</a:t>
            </a:r>
            <a:r>
              <a:rPr lang="en-US" altLang="zh-CN" sz="2000">
                <a:solidFill>
                  <a:schemeClr val="tx1"/>
                </a:solidFill>
                <a:ea typeface="黑体" panose="02010609060101010101" pitchFamily="49" charset="-122"/>
              </a:rPr>
              <a:t>RISC</a:t>
            </a:r>
            <a:r>
              <a:rPr lang="zh-CN" altLang="en-US" sz="2000">
                <a:solidFill>
                  <a:schemeClr val="tx1"/>
                </a:solidFill>
                <a:ea typeface="黑体" panose="02010609060101010101" pitchFamily="49" charset="-122"/>
              </a:rPr>
              <a:t>思想</a:t>
            </a:r>
            <a:r>
              <a:rPr lang="zh-CN" altLang="en-US" sz="2000">
                <a:solidFill>
                  <a:schemeClr val="tx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Effect transition="in" filter="blinds(horizontal)">
                                      <p:cBhvr>
                                        <p:cTn id="7" dur="500"/>
                                        <p:tgtEl>
                                          <p:spTgt spid="4136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3699">
                                            <p:txEl>
                                              <p:pRg st="1" end="1"/>
                                            </p:txEl>
                                          </p:spTgt>
                                        </p:tgtEl>
                                        <p:attrNameLst>
                                          <p:attrName>style.visibility</p:attrName>
                                        </p:attrNameLst>
                                      </p:cBhvr>
                                      <p:to>
                                        <p:strVal val="visible"/>
                                      </p:to>
                                    </p:set>
                                    <p:animEffect transition="in" filter="blinds(horizontal)">
                                      <p:cBhvr>
                                        <p:cTn id="10" dur="500"/>
                                        <p:tgtEl>
                                          <p:spTgt spid="4136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3699">
                                            <p:txEl>
                                              <p:pRg st="2" end="2"/>
                                            </p:txEl>
                                          </p:spTgt>
                                        </p:tgtEl>
                                        <p:attrNameLst>
                                          <p:attrName>style.visibility</p:attrName>
                                        </p:attrNameLst>
                                      </p:cBhvr>
                                      <p:to>
                                        <p:strVal val="visible"/>
                                      </p:to>
                                    </p:set>
                                    <p:animEffect transition="in" filter="blinds(horizontal)">
                                      <p:cBhvr>
                                        <p:cTn id="15" dur="500"/>
                                        <p:tgtEl>
                                          <p:spTgt spid="41369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3699">
                                            <p:txEl>
                                              <p:pRg st="3" end="3"/>
                                            </p:txEl>
                                          </p:spTgt>
                                        </p:tgtEl>
                                        <p:attrNameLst>
                                          <p:attrName>style.visibility</p:attrName>
                                        </p:attrNameLst>
                                      </p:cBhvr>
                                      <p:to>
                                        <p:strVal val="visible"/>
                                      </p:to>
                                    </p:set>
                                    <p:animEffect transition="in" filter="blinds(horizontal)">
                                      <p:cBhvr>
                                        <p:cTn id="18" dur="500"/>
                                        <p:tgtEl>
                                          <p:spTgt spid="41369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13699">
                                            <p:txEl>
                                              <p:pRg st="4" end="4"/>
                                            </p:txEl>
                                          </p:spTgt>
                                        </p:tgtEl>
                                        <p:attrNameLst>
                                          <p:attrName>style.visibility</p:attrName>
                                        </p:attrNameLst>
                                      </p:cBhvr>
                                      <p:to>
                                        <p:strVal val="visible"/>
                                      </p:to>
                                    </p:set>
                                    <p:animEffect transition="in" filter="blinds(horizontal)">
                                      <p:cBhvr>
                                        <p:cTn id="23" dur="500"/>
                                        <p:tgtEl>
                                          <p:spTgt spid="41369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3699">
                                            <p:txEl>
                                              <p:pRg st="5" end="5"/>
                                            </p:txEl>
                                          </p:spTgt>
                                        </p:tgtEl>
                                        <p:attrNameLst>
                                          <p:attrName>style.visibility</p:attrName>
                                        </p:attrNameLst>
                                      </p:cBhvr>
                                      <p:to>
                                        <p:strVal val="visible"/>
                                      </p:to>
                                    </p:set>
                                    <p:animEffect transition="in" filter="blinds(horizontal)">
                                      <p:cBhvr>
                                        <p:cTn id="26" dur="500"/>
                                        <p:tgtEl>
                                          <p:spTgt spid="413699">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13699">
                                            <p:txEl>
                                              <p:pRg st="6" end="6"/>
                                            </p:txEl>
                                          </p:spTgt>
                                        </p:tgtEl>
                                        <p:attrNameLst>
                                          <p:attrName>style.visibility</p:attrName>
                                        </p:attrNameLst>
                                      </p:cBhvr>
                                      <p:to>
                                        <p:strVal val="visible"/>
                                      </p:to>
                                    </p:set>
                                    <p:animEffect transition="in" filter="blinds(horizontal)">
                                      <p:cBhvr>
                                        <p:cTn id="31" dur="500"/>
                                        <p:tgtEl>
                                          <p:spTgt spid="413699">
                                            <p:txEl>
                                              <p:pRg st="6" end="6"/>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13699">
                                            <p:txEl>
                                              <p:pRg st="7" end="7"/>
                                            </p:txEl>
                                          </p:spTgt>
                                        </p:tgtEl>
                                        <p:attrNameLst>
                                          <p:attrName>style.visibility</p:attrName>
                                        </p:attrNameLst>
                                      </p:cBhvr>
                                      <p:to>
                                        <p:strVal val="visible"/>
                                      </p:to>
                                    </p:set>
                                    <p:animEffect transition="in" filter="blinds(horizontal)">
                                      <p:cBhvr>
                                        <p:cTn id="36" dur="500"/>
                                        <p:tgtEl>
                                          <p:spTgt spid="413699">
                                            <p:txEl>
                                              <p:pRg st="7" end="7"/>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413699">
                                            <p:txEl>
                                              <p:pRg st="8" end="8"/>
                                            </p:txEl>
                                          </p:spTgt>
                                        </p:tgtEl>
                                        <p:attrNameLst>
                                          <p:attrName>style.visibility</p:attrName>
                                        </p:attrNameLst>
                                      </p:cBhvr>
                                      <p:to>
                                        <p:strVal val="visible"/>
                                      </p:to>
                                    </p:set>
                                    <p:animEffect transition="in" filter="blinds(horizontal)">
                                      <p:cBhvr>
                                        <p:cTn id="41" dur="500"/>
                                        <p:tgtEl>
                                          <p:spTgt spid="413699">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413700">
                                            <p:txEl>
                                              <p:pRg st="0" end="0"/>
                                            </p:txEl>
                                          </p:spTgt>
                                        </p:tgtEl>
                                        <p:attrNameLst>
                                          <p:attrName>style.visibility</p:attrName>
                                        </p:attrNameLst>
                                      </p:cBhvr>
                                      <p:to>
                                        <p:strVal val="visible"/>
                                      </p:to>
                                    </p:set>
                                    <p:animEffect transition="in" filter="blinds(horizontal)">
                                      <p:cBhvr>
                                        <p:cTn id="46" dur="500"/>
                                        <p:tgtEl>
                                          <p:spTgt spid="413700">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413700">
                                            <p:txEl>
                                              <p:pRg st="1" end="1"/>
                                            </p:txEl>
                                          </p:spTgt>
                                        </p:tgtEl>
                                        <p:attrNameLst>
                                          <p:attrName>style.visibility</p:attrName>
                                        </p:attrNameLst>
                                      </p:cBhvr>
                                      <p:to>
                                        <p:strVal val="visible"/>
                                      </p:to>
                                    </p:set>
                                    <p:animEffect transition="in" filter="blinds(horizontal)">
                                      <p:cBhvr>
                                        <p:cTn id="51" dur="500"/>
                                        <p:tgtEl>
                                          <p:spTgt spid="4137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7FA5BD3-7347-B7EC-8254-D88AB7FBA53F}"/>
              </a:ext>
            </a:extLst>
          </p:cNvPr>
          <p:cNvSpPr>
            <a:spLocks noGrp="1" noChangeArrowheads="1"/>
          </p:cNvSpPr>
          <p:nvPr>
            <p:ph type="title"/>
          </p:nvPr>
        </p:nvSpPr>
        <p:spPr>
          <a:xfrm>
            <a:off x="711200" y="114300"/>
            <a:ext cx="4227513" cy="368300"/>
          </a:xfrm>
        </p:spPr>
        <p:txBody>
          <a:bodyPr wrap="none"/>
          <a:lstStyle/>
          <a:p>
            <a:r>
              <a:rPr lang="en-US" altLang="zh-CN">
                <a:ea typeface="宋体" panose="02010600030101010101" pitchFamily="2" charset="-122"/>
              </a:rPr>
              <a:t>Examples of Register Usage</a:t>
            </a:r>
          </a:p>
        </p:txBody>
      </p:sp>
      <p:sp>
        <p:nvSpPr>
          <p:cNvPr id="37890" name="Rectangle 3">
            <a:extLst>
              <a:ext uri="{FF2B5EF4-FFF2-40B4-BE49-F238E27FC236}">
                <a16:creationId xmlns:a16="http://schemas.microsoft.com/office/drawing/2014/main" id="{8CFF7884-50D0-627C-8FED-1AE3187DEA0D}"/>
              </a:ext>
            </a:extLst>
          </p:cNvPr>
          <p:cNvSpPr>
            <a:spLocks noChangeArrowheads="1"/>
          </p:cNvSpPr>
          <p:nvPr/>
        </p:nvSpPr>
        <p:spPr bwMode="auto">
          <a:xfrm>
            <a:off x="360363" y="571500"/>
            <a:ext cx="46085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90000"/>
              </a:lnSpc>
            </a:pPr>
            <a:endParaRPr lang="en-US" altLang="zh-CN" sz="1800">
              <a:solidFill>
                <a:srgbClr val="000000"/>
              </a:solidFill>
            </a:endParaRPr>
          </a:p>
          <a:p>
            <a:pPr eaLnBrk="0" hangingPunct="0">
              <a:lnSpc>
                <a:spcPct val="90000"/>
              </a:lnSpc>
            </a:pPr>
            <a:r>
              <a:rPr lang="zh-CN" altLang="en-US" sz="2000">
                <a:ea typeface="黑体" panose="02010609060101010101" pitchFamily="49" charset="-122"/>
              </a:rPr>
              <a:t>每条典型</a:t>
            </a:r>
            <a:r>
              <a:rPr lang="en-US" altLang="zh-CN" sz="2000">
                <a:ea typeface="黑体" panose="02010609060101010101" pitchFamily="49" charset="-122"/>
              </a:rPr>
              <a:t>ALU</a:t>
            </a:r>
            <a:r>
              <a:rPr lang="zh-CN" altLang="en-US" sz="2000">
                <a:ea typeface="黑体" panose="02010609060101010101" pitchFamily="49" charset="-122"/>
              </a:rPr>
              <a:t>指令中的存储器地址个数</a:t>
            </a:r>
            <a:endParaRPr lang="en-US" altLang="zh-CN" sz="2000">
              <a:ea typeface="黑体" panose="02010609060101010101" pitchFamily="49" charset="-122"/>
            </a:endParaRPr>
          </a:p>
        </p:txBody>
      </p:sp>
      <p:sp>
        <p:nvSpPr>
          <p:cNvPr id="37891" name="Rectangle 4">
            <a:extLst>
              <a:ext uri="{FF2B5EF4-FFF2-40B4-BE49-F238E27FC236}">
                <a16:creationId xmlns:a16="http://schemas.microsoft.com/office/drawing/2014/main" id="{1090E690-E8DC-6D3F-EAB0-AC8FD01E49DA}"/>
              </a:ext>
            </a:extLst>
          </p:cNvPr>
          <p:cNvSpPr>
            <a:spLocks noChangeArrowheads="1"/>
          </p:cNvSpPr>
          <p:nvPr/>
        </p:nvSpPr>
        <p:spPr bwMode="auto">
          <a:xfrm>
            <a:off x="1331913" y="1063625"/>
            <a:ext cx="48752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90000"/>
              </a:lnSpc>
            </a:pPr>
            <a:endParaRPr lang="en-US" altLang="zh-CN" sz="1800">
              <a:solidFill>
                <a:srgbClr val="000000"/>
              </a:solidFill>
            </a:endParaRPr>
          </a:p>
          <a:p>
            <a:pPr eaLnBrk="0" hangingPunct="0">
              <a:lnSpc>
                <a:spcPct val="90000"/>
              </a:lnSpc>
            </a:pPr>
            <a:r>
              <a:rPr lang="zh-CN" altLang="en-US" sz="2000">
                <a:ea typeface="黑体" panose="02010609060101010101" pitchFamily="49" charset="-122"/>
              </a:rPr>
              <a:t>每条典型</a:t>
            </a:r>
            <a:r>
              <a:rPr lang="en-US" altLang="zh-CN" sz="2000">
                <a:ea typeface="黑体" panose="02010609060101010101" pitchFamily="49" charset="-122"/>
              </a:rPr>
              <a:t>ALU</a:t>
            </a:r>
            <a:r>
              <a:rPr lang="zh-CN" altLang="en-US" sz="2000">
                <a:ea typeface="黑体" panose="02010609060101010101" pitchFamily="49" charset="-122"/>
              </a:rPr>
              <a:t>指令中的最多操作数个数</a:t>
            </a:r>
            <a:endParaRPr lang="en-US" altLang="zh-CN" sz="2000">
              <a:ea typeface="黑体" panose="02010609060101010101" pitchFamily="49" charset="-122"/>
            </a:endParaRPr>
          </a:p>
        </p:txBody>
      </p:sp>
      <p:sp>
        <p:nvSpPr>
          <p:cNvPr id="37892" name="Rectangle 5">
            <a:extLst>
              <a:ext uri="{FF2B5EF4-FFF2-40B4-BE49-F238E27FC236}">
                <a16:creationId xmlns:a16="http://schemas.microsoft.com/office/drawing/2014/main" id="{DC894836-9918-F6A8-73DE-3F1216D9E972}"/>
              </a:ext>
            </a:extLst>
          </p:cNvPr>
          <p:cNvSpPr>
            <a:spLocks noChangeArrowheads="1"/>
          </p:cNvSpPr>
          <p:nvPr/>
        </p:nvSpPr>
        <p:spPr bwMode="auto">
          <a:xfrm>
            <a:off x="2392363" y="1712913"/>
            <a:ext cx="10668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en-US" altLang="zh-CN" sz="1800">
                <a:solidFill>
                  <a:srgbClr val="000000"/>
                </a:solidFill>
              </a:rPr>
              <a:t>Examples</a:t>
            </a:r>
            <a:endParaRPr lang="en-US" altLang="zh-CN" sz="2000">
              <a:solidFill>
                <a:schemeClr val="tx1"/>
              </a:solidFill>
            </a:endParaRPr>
          </a:p>
        </p:txBody>
      </p:sp>
      <p:sp>
        <p:nvSpPr>
          <p:cNvPr id="37893" name="Rectangle 6">
            <a:extLst>
              <a:ext uri="{FF2B5EF4-FFF2-40B4-BE49-F238E27FC236}">
                <a16:creationId xmlns:a16="http://schemas.microsoft.com/office/drawing/2014/main" id="{51A7906E-AA99-AD42-E036-0A27F4A465E0}"/>
              </a:ext>
            </a:extLst>
          </p:cNvPr>
          <p:cNvSpPr>
            <a:spLocks noChangeArrowheads="1"/>
          </p:cNvSpPr>
          <p:nvPr/>
        </p:nvSpPr>
        <p:spPr bwMode="auto">
          <a:xfrm>
            <a:off x="533400" y="2174875"/>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0</a:t>
            </a:r>
            <a:endParaRPr lang="zh-CN" altLang="en-US" sz="2000">
              <a:solidFill>
                <a:schemeClr val="tx1"/>
              </a:solidFill>
            </a:endParaRPr>
          </a:p>
        </p:txBody>
      </p:sp>
      <p:sp>
        <p:nvSpPr>
          <p:cNvPr id="37894" name="Rectangle 7">
            <a:extLst>
              <a:ext uri="{FF2B5EF4-FFF2-40B4-BE49-F238E27FC236}">
                <a16:creationId xmlns:a16="http://schemas.microsoft.com/office/drawing/2014/main" id="{C951E2EA-85FA-B252-03A3-B1D208D40F5A}"/>
              </a:ext>
            </a:extLst>
          </p:cNvPr>
          <p:cNvSpPr>
            <a:spLocks noChangeArrowheads="1"/>
          </p:cNvSpPr>
          <p:nvPr/>
        </p:nvSpPr>
        <p:spPr bwMode="auto">
          <a:xfrm>
            <a:off x="1446213" y="2174875"/>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3</a:t>
            </a:r>
            <a:endParaRPr lang="zh-CN" altLang="en-US" sz="2000">
              <a:solidFill>
                <a:schemeClr val="tx1"/>
              </a:solidFill>
            </a:endParaRPr>
          </a:p>
        </p:txBody>
      </p:sp>
      <p:sp>
        <p:nvSpPr>
          <p:cNvPr id="37895" name="Rectangle 8">
            <a:extLst>
              <a:ext uri="{FF2B5EF4-FFF2-40B4-BE49-F238E27FC236}">
                <a16:creationId xmlns:a16="http://schemas.microsoft.com/office/drawing/2014/main" id="{95586D30-6476-56F3-8FA8-D1BADF0854AE}"/>
              </a:ext>
            </a:extLst>
          </p:cNvPr>
          <p:cNvSpPr>
            <a:spLocks noChangeArrowheads="1"/>
          </p:cNvSpPr>
          <p:nvPr/>
        </p:nvSpPr>
        <p:spPr bwMode="auto">
          <a:xfrm>
            <a:off x="2359025" y="2174875"/>
            <a:ext cx="6413500"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90000"/>
              </a:lnSpc>
            </a:pPr>
            <a:r>
              <a:rPr lang="en-US" altLang="zh-CN" sz="1800">
                <a:solidFill>
                  <a:srgbClr val="000000"/>
                </a:solidFill>
              </a:rPr>
              <a:t>SPARC, MIPS, Precision Architecture, Power PC</a:t>
            </a:r>
            <a:r>
              <a:rPr lang="zh-CN" altLang="en-US" sz="1800">
                <a:solidFill>
                  <a:srgbClr val="000000"/>
                </a:solidFill>
              </a:rPr>
              <a:t>，</a:t>
            </a:r>
            <a:r>
              <a:rPr lang="en-US" altLang="zh-CN" sz="1800">
                <a:solidFill>
                  <a:srgbClr val="000000"/>
                </a:solidFill>
              </a:rPr>
              <a:t>RISC-V</a:t>
            </a:r>
            <a:endParaRPr lang="en-US" altLang="zh-CN" sz="2000">
              <a:solidFill>
                <a:schemeClr val="tx1"/>
              </a:solidFill>
            </a:endParaRPr>
          </a:p>
        </p:txBody>
      </p:sp>
      <p:sp>
        <p:nvSpPr>
          <p:cNvPr id="37896" name="Rectangle 9">
            <a:extLst>
              <a:ext uri="{FF2B5EF4-FFF2-40B4-BE49-F238E27FC236}">
                <a16:creationId xmlns:a16="http://schemas.microsoft.com/office/drawing/2014/main" id="{808DF307-B7DE-3872-DCFC-93E5F0266F39}"/>
              </a:ext>
            </a:extLst>
          </p:cNvPr>
          <p:cNvSpPr>
            <a:spLocks noChangeArrowheads="1"/>
          </p:cNvSpPr>
          <p:nvPr/>
        </p:nvSpPr>
        <p:spPr bwMode="auto">
          <a:xfrm>
            <a:off x="533400" y="2509838"/>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1</a:t>
            </a:r>
            <a:endParaRPr lang="zh-CN" altLang="en-US" sz="2000">
              <a:solidFill>
                <a:schemeClr val="tx1"/>
              </a:solidFill>
            </a:endParaRPr>
          </a:p>
        </p:txBody>
      </p:sp>
      <p:sp>
        <p:nvSpPr>
          <p:cNvPr id="37897" name="Rectangle 10">
            <a:extLst>
              <a:ext uri="{FF2B5EF4-FFF2-40B4-BE49-F238E27FC236}">
                <a16:creationId xmlns:a16="http://schemas.microsoft.com/office/drawing/2014/main" id="{1DF49CA6-759D-BB45-D10A-00C85CE2EDFB}"/>
              </a:ext>
            </a:extLst>
          </p:cNvPr>
          <p:cNvSpPr>
            <a:spLocks noChangeArrowheads="1"/>
          </p:cNvSpPr>
          <p:nvPr/>
        </p:nvSpPr>
        <p:spPr bwMode="auto">
          <a:xfrm>
            <a:off x="1446213" y="2509838"/>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2</a:t>
            </a:r>
            <a:endParaRPr lang="zh-CN" altLang="en-US" sz="2000">
              <a:solidFill>
                <a:schemeClr val="tx1"/>
              </a:solidFill>
            </a:endParaRPr>
          </a:p>
        </p:txBody>
      </p:sp>
      <p:sp>
        <p:nvSpPr>
          <p:cNvPr id="37898" name="Rectangle 11">
            <a:extLst>
              <a:ext uri="{FF2B5EF4-FFF2-40B4-BE49-F238E27FC236}">
                <a16:creationId xmlns:a16="http://schemas.microsoft.com/office/drawing/2014/main" id="{EDF99782-5954-4D1F-48C7-4175C23558AE}"/>
              </a:ext>
            </a:extLst>
          </p:cNvPr>
          <p:cNvSpPr>
            <a:spLocks noChangeArrowheads="1"/>
          </p:cNvSpPr>
          <p:nvPr/>
        </p:nvSpPr>
        <p:spPr bwMode="auto">
          <a:xfrm>
            <a:off x="2359025" y="2509838"/>
            <a:ext cx="29591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en-US" altLang="zh-CN" sz="1800">
                <a:solidFill>
                  <a:srgbClr val="000000"/>
                </a:solidFill>
              </a:rPr>
              <a:t>Intel 80x86, Motorola 68000</a:t>
            </a:r>
            <a:endParaRPr lang="en-US" altLang="zh-CN" sz="2000">
              <a:solidFill>
                <a:schemeClr val="tx1"/>
              </a:solidFill>
            </a:endParaRPr>
          </a:p>
        </p:txBody>
      </p:sp>
      <p:sp>
        <p:nvSpPr>
          <p:cNvPr id="37899" name="Rectangle 12">
            <a:extLst>
              <a:ext uri="{FF2B5EF4-FFF2-40B4-BE49-F238E27FC236}">
                <a16:creationId xmlns:a16="http://schemas.microsoft.com/office/drawing/2014/main" id="{6DA4B405-4680-0624-CB4E-11A611280182}"/>
              </a:ext>
            </a:extLst>
          </p:cNvPr>
          <p:cNvSpPr>
            <a:spLocks noChangeArrowheads="1"/>
          </p:cNvSpPr>
          <p:nvPr/>
        </p:nvSpPr>
        <p:spPr bwMode="auto">
          <a:xfrm>
            <a:off x="533400" y="2859088"/>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2</a:t>
            </a:r>
            <a:endParaRPr lang="zh-CN" altLang="en-US" sz="2000">
              <a:solidFill>
                <a:schemeClr val="tx1"/>
              </a:solidFill>
            </a:endParaRPr>
          </a:p>
        </p:txBody>
      </p:sp>
      <p:sp>
        <p:nvSpPr>
          <p:cNvPr id="37900" name="Rectangle 13">
            <a:extLst>
              <a:ext uri="{FF2B5EF4-FFF2-40B4-BE49-F238E27FC236}">
                <a16:creationId xmlns:a16="http://schemas.microsoft.com/office/drawing/2014/main" id="{B28F4AED-B2AC-8020-51A7-50079E4570EE}"/>
              </a:ext>
            </a:extLst>
          </p:cNvPr>
          <p:cNvSpPr>
            <a:spLocks noChangeArrowheads="1"/>
          </p:cNvSpPr>
          <p:nvPr/>
        </p:nvSpPr>
        <p:spPr bwMode="auto">
          <a:xfrm>
            <a:off x="1446213" y="2859088"/>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2</a:t>
            </a:r>
            <a:endParaRPr lang="zh-CN" altLang="en-US" sz="2000">
              <a:solidFill>
                <a:schemeClr val="tx1"/>
              </a:solidFill>
            </a:endParaRPr>
          </a:p>
        </p:txBody>
      </p:sp>
      <p:sp>
        <p:nvSpPr>
          <p:cNvPr id="37901" name="Rectangle 14">
            <a:extLst>
              <a:ext uri="{FF2B5EF4-FFF2-40B4-BE49-F238E27FC236}">
                <a16:creationId xmlns:a16="http://schemas.microsoft.com/office/drawing/2014/main" id="{632489F2-5E8C-C8A8-8AF4-CE1330F5D785}"/>
              </a:ext>
            </a:extLst>
          </p:cNvPr>
          <p:cNvSpPr>
            <a:spLocks noChangeArrowheads="1"/>
          </p:cNvSpPr>
          <p:nvPr/>
        </p:nvSpPr>
        <p:spPr bwMode="auto">
          <a:xfrm>
            <a:off x="2359025" y="2859088"/>
            <a:ext cx="36703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en-US" altLang="zh-CN" sz="1800">
                <a:solidFill>
                  <a:srgbClr val="000000"/>
                </a:solidFill>
              </a:rPr>
              <a:t>VAX (also has 3-operand formats)</a:t>
            </a:r>
            <a:endParaRPr lang="en-US" altLang="zh-CN" sz="2000">
              <a:solidFill>
                <a:schemeClr val="tx1"/>
              </a:solidFill>
            </a:endParaRPr>
          </a:p>
        </p:txBody>
      </p:sp>
      <p:sp>
        <p:nvSpPr>
          <p:cNvPr id="37902" name="Rectangle 15">
            <a:extLst>
              <a:ext uri="{FF2B5EF4-FFF2-40B4-BE49-F238E27FC236}">
                <a16:creationId xmlns:a16="http://schemas.microsoft.com/office/drawing/2014/main" id="{3DEC0E5E-6E35-6750-919B-FB5736F06438}"/>
              </a:ext>
            </a:extLst>
          </p:cNvPr>
          <p:cNvSpPr>
            <a:spLocks noChangeArrowheads="1"/>
          </p:cNvSpPr>
          <p:nvPr/>
        </p:nvSpPr>
        <p:spPr bwMode="auto">
          <a:xfrm>
            <a:off x="533400" y="3206750"/>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3</a:t>
            </a:r>
            <a:endParaRPr lang="zh-CN" altLang="en-US" sz="2000">
              <a:solidFill>
                <a:schemeClr val="tx1"/>
              </a:solidFill>
            </a:endParaRPr>
          </a:p>
        </p:txBody>
      </p:sp>
      <p:sp>
        <p:nvSpPr>
          <p:cNvPr id="37903" name="Rectangle 16">
            <a:extLst>
              <a:ext uri="{FF2B5EF4-FFF2-40B4-BE49-F238E27FC236}">
                <a16:creationId xmlns:a16="http://schemas.microsoft.com/office/drawing/2014/main" id="{C690C2D2-75B1-30F3-3F34-25D6DE5E62C6}"/>
              </a:ext>
            </a:extLst>
          </p:cNvPr>
          <p:cNvSpPr>
            <a:spLocks noChangeArrowheads="1"/>
          </p:cNvSpPr>
          <p:nvPr/>
        </p:nvSpPr>
        <p:spPr bwMode="auto">
          <a:xfrm>
            <a:off x="1446213" y="3206750"/>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zh-CN" altLang="en-US" sz="1800">
                <a:solidFill>
                  <a:srgbClr val="000000"/>
                </a:solidFill>
              </a:rPr>
              <a:t>3</a:t>
            </a:r>
            <a:endParaRPr lang="zh-CN" altLang="en-US" sz="2000">
              <a:solidFill>
                <a:schemeClr val="tx1"/>
              </a:solidFill>
            </a:endParaRPr>
          </a:p>
        </p:txBody>
      </p:sp>
      <p:sp>
        <p:nvSpPr>
          <p:cNvPr id="37904" name="Rectangle 17">
            <a:extLst>
              <a:ext uri="{FF2B5EF4-FFF2-40B4-BE49-F238E27FC236}">
                <a16:creationId xmlns:a16="http://schemas.microsoft.com/office/drawing/2014/main" id="{DFA13218-A2B1-7D84-F10F-20363F687777}"/>
              </a:ext>
            </a:extLst>
          </p:cNvPr>
          <p:cNvSpPr>
            <a:spLocks noChangeArrowheads="1"/>
          </p:cNvSpPr>
          <p:nvPr/>
        </p:nvSpPr>
        <p:spPr bwMode="auto">
          <a:xfrm>
            <a:off x="2359025" y="3206750"/>
            <a:ext cx="36703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lnSpc>
                <a:spcPct val="90000"/>
              </a:lnSpc>
            </a:pPr>
            <a:r>
              <a:rPr lang="en-US" altLang="zh-CN" sz="1800">
                <a:solidFill>
                  <a:srgbClr val="000000"/>
                </a:solidFill>
              </a:rPr>
              <a:t>VAX (also has 2-operand formats)</a:t>
            </a:r>
            <a:endParaRPr lang="en-US" altLang="zh-CN" sz="2000">
              <a:solidFill>
                <a:schemeClr val="tx1"/>
              </a:solidFill>
            </a:endParaRPr>
          </a:p>
        </p:txBody>
      </p:sp>
      <p:sp>
        <p:nvSpPr>
          <p:cNvPr id="37905" name="Line 18">
            <a:extLst>
              <a:ext uri="{FF2B5EF4-FFF2-40B4-BE49-F238E27FC236}">
                <a16:creationId xmlns:a16="http://schemas.microsoft.com/office/drawing/2014/main" id="{81D026C4-66FA-BE0D-779D-08479839C1C3}"/>
              </a:ext>
            </a:extLst>
          </p:cNvPr>
          <p:cNvSpPr>
            <a:spLocks noChangeShapeType="1"/>
          </p:cNvSpPr>
          <p:nvPr/>
        </p:nvSpPr>
        <p:spPr bwMode="auto">
          <a:xfrm flipH="1">
            <a:off x="590550" y="1143000"/>
            <a:ext cx="0" cy="98901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6" name="Line 19">
            <a:extLst>
              <a:ext uri="{FF2B5EF4-FFF2-40B4-BE49-F238E27FC236}">
                <a16:creationId xmlns:a16="http://schemas.microsoft.com/office/drawing/2014/main" id="{734E676C-7AB7-3ECC-5C0F-CCA2D1DAE6DD}"/>
              </a:ext>
            </a:extLst>
          </p:cNvPr>
          <p:cNvSpPr>
            <a:spLocks noChangeShapeType="1"/>
          </p:cNvSpPr>
          <p:nvPr/>
        </p:nvSpPr>
        <p:spPr bwMode="auto">
          <a:xfrm flipH="1">
            <a:off x="1512888" y="1589088"/>
            <a:ext cx="0" cy="5095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3540" name="Text Box 20">
            <a:extLst>
              <a:ext uri="{FF2B5EF4-FFF2-40B4-BE49-F238E27FC236}">
                <a16:creationId xmlns:a16="http://schemas.microsoft.com/office/drawing/2014/main" id="{42ACA829-310C-0CCA-6FB1-9D69FF5822F9}"/>
              </a:ext>
            </a:extLst>
          </p:cNvPr>
          <p:cNvSpPr txBox="1">
            <a:spLocks noChangeArrowheads="1"/>
          </p:cNvSpPr>
          <p:nvPr/>
        </p:nvSpPr>
        <p:spPr bwMode="auto">
          <a:xfrm>
            <a:off x="550863" y="3575050"/>
            <a:ext cx="794385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25000"/>
              </a:lnSpc>
            </a:pPr>
            <a:r>
              <a:rPr lang="en-US" altLang="zh-CN" sz="1800">
                <a:solidFill>
                  <a:schemeClr val="tx1"/>
                </a:solidFill>
              </a:rPr>
              <a:t>In VAX</a:t>
            </a:r>
            <a:r>
              <a:rPr lang="en-US" altLang="zh-CN" sz="1800">
                <a:solidFill>
                  <a:srgbClr val="0033CC"/>
                </a:solidFill>
              </a:rPr>
              <a:t>(CISC)</a:t>
            </a:r>
            <a:r>
              <a:rPr lang="en-US" altLang="zh-CN" sz="1800">
                <a:solidFill>
                  <a:schemeClr val="tx1"/>
                </a:solidFill>
              </a:rPr>
              <a:t>:	</a:t>
            </a:r>
            <a:r>
              <a:rPr lang="en-US" altLang="zh-CN" sz="1800">
                <a:solidFill>
                  <a:schemeClr val="accent1"/>
                </a:solidFill>
              </a:rPr>
              <a:t>ADDL (R9), (R10), (R11)</a:t>
            </a:r>
            <a:endParaRPr lang="en-US" altLang="zh-CN" sz="1800">
              <a:solidFill>
                <a:schemeClr val="tx1"/>
              </a:solidFill>
            </a:endParaRPr>
          </a:p>
          <a:p>
            <a:pPr eaLnBrk="0" hangingPunct="0">
              <a:lnSpc>
                <a:spcPct val="125000"/>
              </a:lnSpc>
            </a:pPr>
            <a:r>
              <a:rPr lang="en-US" altLang="zh-CN" sz="1800">
                <a:solidFill>
                  <a:schemeClr val="tx1"/>
                </a:solidFill>
              </a:rPr>
              <a:t>			</a:t>
            </a:r>
            <a:r>
              <a:rPr lang="zh-CN" altLang="en-US" sz="1800">
                <a:solidFill>
                  <a:schemeClr val="tx1"/>
                </a:solidFill>
              </a:rPr>
              <a:t>；</a:t>
            </a:r>
            <a:r>
              <a:rPr lang="en-US" altLang="zh-CN" sz="2000">
                <a:solidFill>
                  <a:schemeClr val="tx1"/>
                </a:solidFill>
              </a:rPr>
              <a:t>mem[R9] </a:t>
            </a:r>
            <a:r>
              <a:rPr lang="en-US" altLang="zh-CN" sz="2000">
                <a:solidFill>
                  <a:schemeClr val="tx1"/>
                </a:solidFill>
                <a:latin typeface="宋体" panose="02010600030101010101" pitchFamily="2" charset="-122"/>
              </a:rPr>
              <a:t>←</a:t>
            </a:r>
            <a:r>
              <a:rPr lang="en-US" altLang="zh-CN" sz="2000">
                <a:solidFill>
                  <a:schemeClr val="tx1"/>
                </a:solidFill>
              </a:rPr>
              <a:t>mem[R10] + mem[R11]</a:t>
            </a:r>
          </a:p>
        </p:txBody>
      </p:sp>
      <p:sp>
        <p:nvSpPr>
          <p:cNvPr id="363541" name="Text Box 21">
            <a:extLst>
              <a:ext uri="{FF2B5EF4-FFF2-40B4-BE49-F238E27FC236}">
                <a16:creationId xmlns:a16="http://schemas.microsoft.com/office/drawing/2014/main" id="{30CC2621-B7C4-B914-0115-1CB6FCB6F4B7}"/>
              </a:ext>
            </a:extLst>
          </p:cNvPr>
          <p:cNvSpPr txBox="1">
            <a:spLocks noChangeArrowheads="1"/>
          </p:cNvSpPr>
          <p:nvPr/>
        </p:nvSpPr>
        <p:spPr bwMode="auto">
          <a:xfrm>
            <a:off x="479425" y="4270375"/>
            <a:ext cx="639127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lnSpc>
                <a:spcPct val="120000"/>
              </a:lnSpc>
            </a:pPr>
            <a:r>
              <a:rPr lang="zh-CN" altLang="en-US" sz="2000">
                <a:solidFill>
                  <a:schemeClr val="tx1"/>
                </a:solidFill>
              </a:rPr>
              <a:t> </a:t>
            </a:r>
            <a:r>
              <a:rPr lang="en-US" altLang="zh-CN" sz="1800">
                <a:solidFill>
                  <a:schemeClr val="tx1"/>
                </a:solidFill>
              </a:rPr>
              <a:t>In MIPS</a:t>
            </a:r>
            <a:r>
              <a:rPr lang="en-US" altLang="zh-CN" sz="1800">
                <a:solidFill>
                  <a:srgbClr val="0033CC"/>
                </a:solidFill>
              </a:rPr>
              <a:t>(RISC)</a:t>
            </a:r>
            <a:r>
              <a:rPr lang="en-US" altLang="zh-CN" sz="1800">
                <a:solidFill>
                  <a:schemeClr val="tx1"/>
                </a:solidFill>
              </a:rPr>
              <a:t>:</a:t>
            </a:r>
          </a:p>
          <a:p>
            <a:pPr eaLnBrk="0" hangingPunct="0">
              <a:lnSpc>
                <a:spcPct val="120000"/>
              </a:lnSpc>
            </a:pPr>
            <a:r>
              <a:rPr lang="en-US" altLang="zh-CN" sz="1800">
                <a:solidFill>
                  <a:schemeClr val="tx1"/>
                </a:solidFill>
              </a:rPr>
              <a:t>                             </a:t>
            </a:r>
            <a:r>
              <a:rPr lang="en-US" altLang="zh-CN" sz="2000">
                <a:solidFill>
                  <a:schemeClr val="tx1"/>
                </a:solidFill>
              </a:rPr>
              <a:t>lw   R1, (R10)	   </a:t>
            </a:r>
            <a:r>
              <a:rPr lang="zh-CN" altLang="en-US" sz="2000">
                <a:solidFill>
                  <a:schemeClr val="tx1"/>
                </a:solidFill>
              </a:rPr>
              <a:t>： </a:t>
            </a:r>
            <a:r>
              <a:rPr lang="en-US" altLang="zh-CN" sz="2000">
                <a:solidFill>
                  <a:schemeClr val="tx1"/>
                </a:solidFill>
              </a:rPr>
              <a:t>R1 ← mem[R10]</a:t>
            </a:r>
            <a:r>
              <a:rPr lang="en-US" altLang="zh-CN" sz="2000"/>
              <a:t> </a:t>
            </a:r>
            <a:endParaRPr lang="en-US" altLang="zh-CN" sz="2000">
              <a:solidFill>
                <a:schemeClr val="tx1"/>
              </a:solidFill>
            </a:endParaRPr>
          </a:p>
          <a:p>
            <a:pPr eaLnBrk="0" hangingPunct="0">
              <a:lnSpc>
                <a:spcPct val="120000"/>
              </a:lnSpc>
            </a:pPr>
            <a:r>
              <a:rPr lang="en-US" altLang="zh-CN" sz="2000">
                <a:solidFill>
                  <a:schemeClr val="tx1"/>
                </a:solidFill>
              </a:rPr>
              <a:t>		lw   R2, (R11)       </a:t>
            </a:r>
            <a:r>
              <a:rPr lang="zh-CN" altLang="en-US" sz="2000">
                <a:solidFill>
                  <a:schemeClr val="tx1"/>
                </a:solidFill>
              </a:rPr>
              <a:t>：</a:t>
            </a:r>
            <a:r>
              <a:rPr lang="en-US" altLang="zh-CN" sz="2000">
                <a:solidFill>
                  <a:schemeClr val="tx1"/>
                </a:solidFill>
              </a:rPr>
              <a:t>R2 ← mem[R11]</a:t>
            </a:r>
            <a:r>
              <a:rPr lang="en-US" altLang="zh-CN" sz="2000"/>
              <a:t> </a:t>
            </a:r>
            <a:endParaRPr lang="en-US" altLang="zh-CN" sz="2000">
              <a:solidFill>
                <a:schemeClr val="tx1"/>
              </a:solidFill>
            </a:endParaRPr>
          </a:p>
          <a:p>
            <a:pPr eaLnBrk="0" hangingPunct="0">
              <a:lnSpc>
                <a:spcPct val="120000"/>
              </a:lnSpc>
            </a:pPr>
            <a:r>
              <a:rPr lang="en-US" altLang="zh-CN" sz="2000">
                <a:solidFill>
                  <a:schemeClr val="tx1"/>
                </a:solidFill>
              </a:rPr>
              <a:t>		</a:t>
            </a:r>
            <a:r>
              <a:rPr lang="en-US" altLang="zh-CN" sz="2000">
                <a:solidFill>
                  <a:schemeClr val="accent1"/>
                </a:solidFill>
              </a:rPr>
              <a:t>add  R3, R1, R2 </a:t>
            </a:r>
            <a:r>
              <a:rPr lang="en-US" altLang="zh-CN" sz="2000">
                <a:solidFill>
                  <a:schemeClr val="tx1"/>
                </a:solidFill>
              </a:rPr>
              <a:t>  </a:t>
            </a:r>
            <a:r>
              <a:rPr lang="zh-CN" altLang="en-US" sz="2000">
                <a:solidFill>
                  <a:schemeClr val="tx1"/>
                </a:solidFill>
              </a:rPr>
              <a:t>：</a:t>
            </a:r>
            <a:r>
              <a:rPr lang="en-US" altLang="zh-CN" sz="2000">
                <a:solidFill>
                  <a:schemeClr val="tx1"/>
                </a:solidFill>
              </a:rPr>
              <a:t>R3 ← R1+R2</a:t>
            </a:r>
          </a:p>
          <a:p>
            <a:pPr eaLnBrk="0" hangingPunct="0">
              <a:lnSpc>
                <a:spcPct val="120000"/>
              </a:lnSpc>
            </a:pPr>
            <a:r>
              <a:rPr lang="en-US" altLang="zh-CN" sz="2000">
                <a:solidFill>
                  <a:schemeClr val="tx1"/>
                </a:solidFill>
              </a:rPr>
              <a:t>		sw  R3, (R9)	   </a:t>
            </a:r>
            <a:r>
              <a:rPr lang="zh-CN" altLang="en-US" sz="2000">
                <a:solidFill>
                  <a:schemeClr val="tx1"/>
                </a:solidFill>
              </a:rPr>
              <a:t>：</a:t>
            </a:r>
            <a:r>
              <a:rPr lang="en-US" altLang="zh-CN" sz="2000">
                <a:solidFill>
                  <a:schemeClr val="tx1"/>
                </a:solidFill>
              </a:rPr>
              <a:t>mem[R9]</a:t>
            </a:r>
            <a:r>
              <a:rPr lang="en-US" altLang="zh-CN" sz="2000"/>
              <a:t> </a:t>
            </a:r>
            <a:r>
              <a:rPr lang="en-US" altLang="zh-CN" sz="2000">
                <a:solidFill>
                  <a:schemeClr val="tx1"/>
                </a:solidFill>
              </a:rPr>
              <a:t>← R3</a:t>
            </a:r>
          </a:p>
        </p:txBody>
      </p:sp>
      <p:sp>
        <p:nvSpPr>
          <p:cNvPr id="363542" name="Text Box 22">
            <a:extLst>
              <a:ext uri="{FF2B5EF4-FFF2-40B4-BE49-F238E27FC236}">
                <a16:creationId xmlns:a16="http://schemas.microsoft.com/office/drawing/2014/main" id="{BBF490C0-325E-9166-F6D8-DC75005A97DC}"/>
              </a:ext>
            </a:extLst>
          </p:cNvPr>
          <p:cNvSpPr txBox="1">
            <a:spLocks noChangeArrowheads="1"/>
          </p:cNvSpPr>
          <p:nvPr/>
        </p:nvSpPr>
        <p:spPr bwMode="auto">
          <a:xfrm>
            <a:off x="5759450" y="3656013"/>
            <a:ext cx="17081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一条指令！</a:t>
            </a:r>
          </a:p>
        </p:txBody>
      </p:sp>
      <p:grpSp>
        <p:nvGrpSpPr>
          <p:cNvPr id="2" name="Group 23">
            <a:extLst>
              <a:ext uri="{FF2B5EF4-FFF2-40B4-BE49-F238E27FC236}">
                <a16:creationId xmlns:a16="http://schemas.microsoft.com/office/drawing/2014/main" id="{03C55C6E-3918-7769-6FA0-2DF4D1BE1162}"/>
              </a:ext>
            </a:extLst>
          </p:cNvPr>
          <p:cNvGrpSpPr>
            <a:grpSpLocks/>
          </p:cNvGrpSpPr>
          <p:nvPr/>
        </p:nvGrpSpPr>
        <p:grpSpPr bwMode="auto">
          <a:xfrm>
            <a:off x="6721475" y="4851400"/>
            <a:ext cx="1957388" cy="1273175"/>
            <a:chOff x="3840" y="3182"/>
            <a:chExt cx="959" cy="676"/>
          </a:xfrm>
        </p:grpSpPr>
        <p:sp>
          <p:nvSpPr>
            <p:cNvPr id="37911" name="Text Box 24">
              <a:extLst>
                <a:ext uri="{FF2B5EF4-FFF2-40B4-BE49-F238E27FC236}">
                  <a16:creationId xmlns:a16="http://schemas.microsoft.com/office/drawing/2014/main" id="{2FC3D443-0C16-6671-C612-68B782B300D5}"/>
                </a:ext>
              </a:extLst>
            </p:cNvPr>
            <p:cNvSpPr txBox="1">
              <a:spLocks noChangeArrowheads="1"/>
            </p:cNvSpPr>
            <p:nvPr/>
          </p:nvSpPr>
          <p:spPr bwMode="auto">
            <a:xfrm>
              <a:off x="4039" y="3408"/>
              <a:ext cx="76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四条指令！</a:t>
              </a:r>
            </a:p>
          </p:txBody>
        </p:sp>
        <p:sp>
          <p:nvSpPr>
            <p:cNvPr id="37912" name="AutoShape 25">
              <a:extLst>
                <a:ext uri="{FF2B5EF4-FFF2-40B4-BE49-F238E27FC236}">
                  <a16:creationId xmlns:a16="http://schemas.microsoft.com/office/drawing/2014/main" id="{4250EF6D-CB83-F39A-8A17-7665309ACEF0}"/>
                </a:ext>
              </a:extLst>
            </p:cNvPr>
            <p:cNvSpPr>
              <a:spLocks/>
            </p:cNvSpPr>
            <p:nvPr/>
          </p:nvSpPr>
          <p:spPr bwMode="auto">
            <a:xfrm>
              <a:off x="3840" y="3182"/>
              <a:ext cx="119" cy="676"/>
            </a:xfrm>
            <a:prstGeom prst="rightBrace">
              <a:avLst>
                <a:gd name="adj1" fmla="val 47234"/>
                <a:gd name="adj2" fmla="val 50000"/>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lIns="63500" tIns="25400" rIns="63500" bIns="25400" anchor="ctr">
              <a:spAutoFit/>
            </a:bodyPr>
            <a:lstStyle/>
            <a:p>
              <a:pPr eaLnBrk="0" hangingPunct="0"/>
              <a:endParaRPr lang="zh-CN" altLang="en-US"/>
            </a:p>
          </p:txBody>
        </p:sp>
      </p:grpSp>
      <p:sp>
        <p:nvSpPr>
          <p:cNvPr id="363546" name="Text Box 26">
            <a:extLst>
              <a:ext uri="{FF2B5EF4-FFF2-40B4-BE49-F238E27FC236}">
                <a16:creationId xmlns:a16="http://schemas.microsoft.com/office/drawing/2014/main" id="{A2A0479A-DFDE-9F48-A227-AB66DCD2DEF8}"/>
              </a:ext>
            </a:extLst>
          </p:cNvPr>
          <p:cNvSpPr txBox="1">
            <a:spLocks noChangeArrowheads="1"/>
          </p:cNvSpPr>
          <p:nvPr/>
        </p:nvSpPr>
        <p:spPr bwMode="auto">
          <a:xfrm>
            <a:off x="709613" y="6269038"/>
            <a:ext cx="726916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solidFill>
                  <a:srgbClr val="EE3900"/>
                </a:solidFill>
                <a:ea typeface="黑体" panose="02010609060101010101" pitchFamily="49" charset="-122"/>
              </a:rPr>
              <a:t>哪一种风格更好呢？学了</a:t>
            </a:r>
            <a:r>
              <a:rPr lang="en-US" altLang="zh-CN" sz="2000">
                <a:solidFill>
                  <a:srgbClr val="EE3900"/>
                </a:solidFill>
                <a:ea typeface="黑体" panose="02010609060101010101" pitchFamily="49" charset="-122"/>
              </a:rPr>
              <a:t>CPU</a:t>
            </a:r>
            <a:r>
              <a:rPr lang="zh-CN" altLang="en-US" sz="2000">
                <a:solidFill>
                  <a:srgbClr val="EE3900"/>
                </a:solidFill>
                <a:ea typeface="黑体" panose="02010609060101010101" pitchFamily="49" charset="-122"/>
              </a:rPr>
              <a:t>设计之后会有更深的体会！</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3540"/>
                                        </p:tgtEl>
                                        <p:attrNameLst>
                                          <p:attrName>style.visibility</p:attrName>
                                        </p:attrNameLst>
                                      </p:cBhvr>
                                      <p:to>
                                        <p:strVal val="visible"/>
                                      </p:to>
                                    </p:set>
                                    <p:animEffect transition="in" filter="blinds(horizontal)">
                                      <p:cBhvr>
                                        <p:cTn id="7" dur="500"/>
                                        <p:tgtEl>
                                          <p:spTgt spid="363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3541"/>
                                        </p:tgtEl>
                                        <p:attrNameLst>
                                          <p:attrName>style.visibility</p:attrName>
                                        </p:attrNameLst>
                                      </p:cBhvr>
                                      <p:to>
                                        <p:strVal val="visible"/>
                                      </p:to>
                                    </p:set>
                                    <p:animEffect transition="in" filter="blinds(horizontal)">
                                      <p:cBhvr>
                                        <p:cTn id="12" dur="500"/>
                                        <p:tgtEl>
                                          <p:spTgt spid="3635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3542"/>
                                        </p:tgtEl>
                                        <p:attrNameLst>
                                          <p:attrName>style.visibility</p:attrName>
                                        </p:attrNameLst>
                                      </p:cBhvr>
                                      <p:to>
                                        <p:strVal val="visible"/>
                                      </p:to>
                                    </p:set>
                                    <p:animEffect transition="in" filter="blinds(horizontal)">
                                      <p:cBhvr>
                                        <p:cTn id="17" dur="500"/>
                                        <p:tgtEl>
                                          <p:spTgt spid="3635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3546"/>
                                        </p:tgtEl>
                                        <p:attrNameLst>
                                          <p:attrName>style.visibility</p:attrName>
                                        </p:attrNameLst>
                                      </p:cBhvr>
                                      <p:to>
                                        <p:strVal val="visible"/>
                                      </p:to>
                                    </p:set>
                                    <p:animEffect transition="in" filter="blinds(horizontal)">
                                      <p:cBhvr>
                                        <p:cTn id="27" dur="500"/>
                                        <p:tgtEl>
                                          <p:spTgt spid="363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40" grpId="0"/>
      <p:bldP spid="363541" grpId="0"/>
      <p:bldP spid="363542" grpId="0"/>
      <p:bldP spid="36354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3D618CA9-5D70-4AC1-830E-3FE90A3AF01F}"/>
              </a:ext>
            </a:extLst>
          </p:cNvPr>
          <p:cNvSpPr>
            <a:spLocks noGrp="1" noChangeArrowheads="1"/>
          </p:cNvSpPr>
          <p:nvPr>
            <p:ph type="title"/>
          </p:nvPr>
        </p:nvSpPr>
        <p:spPr/>
        <p:txBody>
          <a:bodyPr/>
          <a:lstStyle/>
          <a:p>
            <a:r>
              <a:rPr lang="zh-CN" altLang="en-US">
                <a:ea typeface="宋体" panose="02010600030101010101" pitchFamily="2" charset="-122"/>
              </a:rPr>
              <a:t>异常和中断</a:t>
            </a:r>
          </a:p>
        </p:txBody>
      </p:sp>
      <p:sp>
        <p:nvSpPr>
          <p:cNvPr id="707587" name="Rectangle 3">
            <a:extLst>
              <a:ext uri="{FF2B5EF4-FFF2-40B4-BE49-F238E27FC236}">
                <a16:creationId xmlns:a16="http://schemas.microsoft.com/office/drawing/2014/main" id="{DBAD7FC8-D3C5-6C2C-CAAF-B59A739D1B6B}"/>
              </a:ext>
            </a:extLst>
          </p:cNvPr>
          <p:cNvSpPr>
            <a:spLocks noGrp="1" noChangeArrowheads="1"/>
          </p:cNvSpPr>
          <p:nvPr>
            <p:ph idx="1"/>
          </p:nvPr>
        </p:nvSpPr>
        <p:spPr>
          <a:xfrm>
            <a:off x="125413" y="279400"/>
            <a:ext cx="8759825" cy="6086475"/>
          </a:xfrm>
        </p:spPr>
        <p:txBody>
          <a:bodyPr/>
          <a:lstStyle/>
          <a:p>
            <a:pPr>
              <a:lnSpc>
                <a:spcPct val="125000"/>
              </a:lnSpc>
              <a:buFontTx/>
              <a:buNone/>
            </a:pPr>
            <a:endParaRPr lang="zh-CN" altLang="en-US" sz="2800"/>
          </a:p>
          <a:p>
            <a:pPr>
              <a:lnSpc>
                <a:spcPct val="120000"/>
              </a:lnSpc>
            </a:pPr>
            <a:r>
              <a:rPr lang="zh-CN" altLang="en-US">
                <a:latin typeface="微软雅黑" panose="020B0503020204020204" pitchFamily="34" charset="-122"/>
                <a:ea typeface="微软雅黑" panose="020B0503020204020204" pitchFamily="34" charset="-122"/>
              </a:rPr>
              <a:t>程序执行过程中</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会遇到一些特殊情况，使正在执行的程序被“中断”</a:t>
            </a:r>
          </a:p>
          <a:p>
            <a:pPr lvl="1">
              <a:lnSpc>
                <a:spcPct val="120000"/>
              </a:lnSpc>
            </a:pP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中止原来正在执行的程序，转到处理异常情况或特殊事件的程序去执行，结束后再返回到原被中止的程序处</a:t>
            </a:r>
            <a:r>
              <a:rPr lang="zh-CN" altLang="en-US">
                <a:solidFill>
                  <a:srgbClr val="FF0000"/>
                </a:solidFill>
                <a:latin typeface="微软雅黑" panose="020B0503020204020204" pitchFamily="34" charset="-122"/>
                <a:ea typeface="微软雅黑" panose="020B0503020204020204" pitchFamily="34" charset="-122"/>
              </a:rPr>
              <a:t>（断点）</a:t>
            </a:r>
            <a:r>
              <a:rPr lang="zh-CN" altLang="en-US">
                <a:latin typeface="微软雅黑" panose="020B0503020204020204" pitchFamily="34" charset="-122"/>
                <a:ea typeface="微软雅黑" panose="020B0503020204020204" pitchFamily="34" charset="-122"/>
              </a:rPr>
              <a:t>继续执行。</a:t>
            </a:r>
          </a:p>
          <a:p>
            <a:pPr>
              <a:lnSpc>
                <a:spcPct val="120000"/>
              </a:lnSpc>
            </a:pPr>
            <a:r>
              <a:rPr lang="zh-CN" altLang="en-US">
                <a:latin typeface="微软雅黑" panose="020B0503020204020204" pitchFamily="34" charset="-122"/>
                <a:ea typeface="微软雅黑" panose="020B0503020204020204" pitchFamily="34" charset="-122"/>
              </a:rPr>
              <a:t>程序执行被 “中断” 的事件有两类</a:t>
            </a:r>
          </a:p>
          <a:p>
            <a:pPr lvl="1">
              <a:lnSpc>
                <a:spcPct val="120000"/>
              </a:lnSpc>
            </a:pPr>
            <a:r>
              <a:rPr lang="zh-CN" altLang="en-US">
                <a:latin typeface="微软雅黑" panose="020B0503020204020204" pitchFamily="34" charset="-122"/>
                <a:ea typeface="微软雅黑" panose="020B0503020204020204" pitchFamily="34" charset="-122"/>
              </a:rPr>
              <a:t>内部“异常”：在</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内部发生的意外事件或特殊事件</a:t>
            </a:r>
          </a:p>
          <a:p>
            <a:pPr lvl="2">
              <a:lnSpc>
                <a:spcPct val="120000"/>
              </a:lnSpc>
              <a:buFontTx/>
              <a:buNone/>
            </a:pPr>
            <a:r>
              <a:rPr lang="zh-CN" altLang="en-US" sz="2000">
                <a:latin typeface="微软雅黑" panose="020B0503020204020204" pitchFamily="34" charset="-122"/>
                <a:ea typeface="微软雅黑" panose="020B0503020204020204" pitchFamily="34" charset="-122"/>
              </a:rPr>
              <a:t>按发生原因分为</a:t>
            </a:r>
            <a:r>
              <a:rPr lang="zh-CN" altLang="en-US" sz="2000">
                <a:solidFill>
                  <a:srgbClr val="FF0000"/>
                </a:solidFill>
                <a:latin typeface="微软雅黑" panose="020B0503020204020204" pitchFamily="34" charset="-122"/>
                <a:ea typeface="微软雅黑" panose="020B0503020204020204" pitchFamily="34" charset="-122"/>
              </a:rPr>
              <a:t>硬故障中断</a:t>
            </a:r>
            <a:r>
              <a:rPr lang="zh-CN" altLang="en-US" sz="2000">
                <a:latin typeface="微软雅黑" panose="020B0503020204020204" pitchFamily="34" charset="-122"/>
                <a:ea typeface="微软雅黑" panose="020B0503020204020204" pitchFamily="34" charset="-122"/>
              </a:rPr>
              <a:t>和</a:t>
            </a:r>
            <a:r>
              <a:rPr lang="zh-CN" altLang="en-US" sz="2000">
                <a:solidFill>
                  <a:srgbClr val="FF0000"/>
                </a:solidFill>
                <a:latin typeface="微软雅黑" panose="020B0503020204020204" pitchFamily="34" charset="-122"/>
                <a:ea typeface="微软雅黑" panose="020B0503020204020204" pitchFamily="34" charset="-122"/>
              </a:rPr>
              <a:t>程序性中断</a:t>
            </a:r>
            <a:r>
              <a:rPr lang="zh-CN" altLang="en-US" sz="2000">
                <a:latin typeface="微软雅黑" panose="020B0503020204020204" pitchFamily="34" charset="-122"/>
                <a:ea typeface="微软雅黑" panose="020B0503020204020204" pitchFamily="34" charset="-122"/>
              </a:rPr>
              <a:t>两类</a:t>
            </a:r>
          </a:p>
          <a:p>
            <a:pPr lvl="2">
              <a:lnSpc>
                <a:spcPct val="120000"/>
              </a:lnSpc>
              <a:buFontTx/>
              <a:buNone/>
            </a:pPr>
            <a:r>
              <a:rPr lang="zh-CN" altLang="en-US" sz="2000">
                <a:solidFill>
                  <a:srgbClr val="FF0000"/>
                </a:solidFill>
                <a:latin typeface="微软雅黑" panose="020B0503020204020204" pitchFamily="34" charset="-122"/>
                <a:ea typeface="微软雅黑" panose="020B0503020204020204" pitchFamily="34" charset="-122"/>
              </a:rPr>
              <a:t>硬故障中断：</a:t>
            </a:r>
            <a:r>
              <a:rPr lang="zh-CN" altLang="en-US" sz="2000">
                <a:latin typeface="微软雅黑" panose="020B0503020204020204" pitchFamily="34" charset="-122"/>
                <a:ea typeface="微软雅黑" panose="020B0503020204020204" pitchFamily="34" charset="-122"/>
              </a:rPr>
              <a:t>如电源掉电、硬件线路故障等</a:t>
            </a:r>
          </a:p>
          <a:p>
            <a:pPr lvl="2">
              <a:lnSpc>
                <a:spcPct val="120000"/>
              </a:lnSpc>
              <a:buFontTx/>
              <a:buNone/>
            </a:pPr>
            <a:r>
              <a:rPr lang="zh-CN" altLang="en-US" sz="2000">
                <a:solidFill>
                  <a:srgbClr val="FF0000"/>
                </a:solidFill>
                <a:latin typeface="微软雅黑" panose="020B0503020204020204" pitchFamily="34" charset="-122"/>
                <a:ea typeface="微软雅黑" panose="020B0503020204020204" pitchFamily="34" charset="-122"/>
              </a:rPr>
              <a:t>程序性中断：</a:t>
            </a:r>
            <a:r>
              <a:rPr lang="zh-CN" altLang="en-US" sz="2000">
                <a:latin typeface="微软雅黑" panose="020B0503020204020204" pitchFamily="34" charset="-122"/>
                <a:ea typeface="微软雅黑" panose="020B0503020204020204" pitchFamily="34" charset="-122"/>
              </a:rPr>
              <a:t>执行某条指令时发生的“例外</a:t>
            </a:r>
            <a:r>
              <a:rPr lang="en-US" altLang="zh-CN" sz="2000">
                <a:latin typeface="微软雅黑" panose="020B0503020204020204" pitchFamily="34" charset="-122"/>
                <a:ea typeface="微软雅黑" panose="020B0503020204020204" pitchFamily="34" charset="-122"/>
              </a:rPr>
              <a:t>(Exception)”</a:t>
            </a:r>
            <a:r>
              <a:rPr lang="zh-CN" altLang="en-US" sz="2000">
                <a:latin typeface="微软雅黑" panose="020B0503020204020204" pitchFamily="34" charset="-122"/>
                <a:ea typeface="微软雅黑" panose="020B0503020204020204" pitchFamily="34" charset="-122"/>
              </a:rPr>
              <a:t>事件，如溢出、缺页、越界、越权、越级、非法指令、除数为</a:t>
            </a:r>
            <a:r>
              <a:rPr lang="en-US" altLang="zh-CN" sz="2000">
                <a:latin typeface="微软雅黑" panose="020B0503020204020204" pitchFamily="34" charset="-122"/>
                <a:ea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rPr>
              <a:t>、堆</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栈溢出、访问超时、断点设置、单步、系统调用等</a:t>
            </a:r>
          </a:p>
          <a:p>
            <a:pPr lvl="1">
              <a:lnSpc>
                <a:spcPct val="120000"/>
              </a:lnSpc>
            </a:pPr>
            <a:r>
              <a:rPr lang="zh-CN" altLang="en-US">
                <a:latin typeface="微软雅黑" panose="020B0503020204020204" pitchFamily="34" charset="-122"/>
                <a:ea typeface="微软雅黑" panose="020B0503020204020204" pitchFamily="34" charset="-122"/>
              </a:rPr>
              <a:t>外部“中断”：在</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外部发生的特殊事件</a:t>
            </a:r>
            <a:r>
              <a:rPr lang="zh-CN" altLang="en-US">
                <a:solidFill>
                  <a:srgbClr val="009242"/>
                </a:solidFill>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通过“中断请求”信号</a:t>
            </a:r>
            <a:r>
              <a:rPr lang="zh-CN" altLang="en-US">
                <a:latin typeface="微软雅黑" panose="020B0503020204020204" pitchFamily="34" charset="-122"/>
                <a:ea typeface="微软雅黑" panose="020B0503020204020204" pitchFamily="34" charset="-122"/>
              </a:rPr>
              <a:t>向</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请求处理。</a:t>
            </a:r>
            <a:r>
              <a:rPr lang="zh-CN" altLang="en-US">
                <a:solidFill>
                  <a:srgbClr val="006600"/>
                </a:solidFill>
                <a:latin typeface="微软雅黑" panose="020B0503020204020204" pitchFamily="34" charset="-122"/>
                <a:ea typeface="微软雅黑" panose="020B0503020204020204" pitchFamily="34" charset="-122"/>
              </a:rPr>
              <a:t>如实时钟、控制台、打印机缺纸、外设准备好、采样计时到、</a:t>
            </a:r>
            <a:r>
              <a:rPr lang="en-US" altLang="zh-CN">
                <a:solidFill>
                  <a:srgbClr val="006600"/>
                </a:solidFill>
                <a:latin typeface="微软雅黑" panose="020B0503020204020204" pitchFamily="34" charset="-122"/>
                <a:ea typeface="微软雅黑" panose="020B0503020204020204" pitchFamily="34" charset="-122"/>
              </a:rPr>
              <a:t>DMA</a:t>
            </a:r>
            <a:r>
              <a:rPr lang="zh-CN" altLang="en-US">
                <a:solidFill>
                  <a:srgbClr val="006600"/>
                </a:solidFill>
                <a:latin typeface="微软雅黑" panose="020B0503020204020204" pitchFamily="34" charset="-122"/>
                <a:ea typeface="微软雅黑" panose="020B0503020204020204" pitchFamily="34" charset="-122"/>
              </a:rPr>
              <a:t>传输结束等。</a:t>
            </a:r>
          </a:p>
          <a:p>
            <a:pPr lvl="2">
              <a:lnSpc>
                <a:spcPct val="120000"/>
              </a:lnSpc>
              <a:buFontTx/>
              <a:buNone/>
            </a:pP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7587">
                                            <p:txEl>
                                              <p:pRg st="2" end="2"/>
                                            </p:txEl>
                                          </p:spTgt>
                                        </p:tgtEl>
                                        <p:attrNameLst>
                                          <p:attrName>style.visibility</p:attrName>
                                        </p:attrNameLst>
                                      </p:cBhvr>
                                      <p:to>
                                        <p:strVal val="visible"/>
                                      </p:to>
                                    </p:set>
                                    <p:animEffect transition="in" filter="blinds(horizontal)">
                                      <p:cBhvr>
                                        <p:cTn id="7" dur="500"/>
                                        <p:tgtEl>
                                          <p:spTgt spid="70758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7587">
                                            <p:txEl>
                                              <p:pRg st="4" end="4"/>
                                            </p:txEl>
                                          </p:spTgt>
                                        </p:tgtEl>
                                        <p:attrNameLst>
                                          <p:attrName>style.visibility</p:attrName>
                                        </p:attrNameLst>
                                      </p:cBhvr>
                                      <p:to>
                                        <p:strVal val="visible"/>
                                      </p:to>
                                    </p:set>
                                    <p:animEffect transition="in" filter="blinds(horizontal)">
                                      <p:cBhvr>
                                        <p:cTn id="12" dur="500"/>
                                        <p:tgtEl>
                                          <p:spTgt spid="707587">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07587">
                                            <p:txEl>
                                              <p:pRg st="5" end="5"/>
                                            </p:txEl>
                                          </p:spTgt>
                                        </p:tgtEl>
                                        <p:attrNameLst>
                                          <p:attrName>style.visibility</p:attrName>
                                        </p:attrNameLst>
                                      </p:cBhvr>
                                      <p:to>
                                        <p:strVal val="visible"/>
                                      </p:to>
                                    </p:set>
                                    <p:animEffect transition="in" filter="blinds(horizontal)">
                                      <p:cBhvr>
                                        <p:cTn id="17" dur="500"/>
                                        <p:tgtEl>
                                          <p:spTgt spid="70758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07587">
                                            <p:txEl>
                                              <p:pRg st="6" end="6"/>
                                            </p:txEl>
                                          </p:spTgt>
                                        </p:tgtEl>
                                        <p:attrNameLst>
                                          <p:attrName>style.visibility</p:attrName>
                                        </p:attrNameLst>
                                      </p:cBhvr>
                                      <p:to>
                                        <p:strVal val="visible"/>
                                      </p:to>
                                    </p:set>
                                    <p:animEffect transition="in" filter="blinds(horizontal)">
                                      <p:cBhvr>
                                        <p:cTn id="22" dur="500"/>
                                        <p:tgtEl>
                                          <p:spTgt spid="70758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07587">
                                            <p:txEl>
                                              <p:pRg st="7" end="7"/>
                                            </p:txEl>
                                          </p:spTgt>
                                        </p:tgtEl>
                                        <p:attrNameLst>
                                          <p:attrName>style.visibility</p:attrName>
                                        </p:attrNameLst>
                                      </p:cBhvr>
                                      <p:to>
                                        <p:strVal val="visible"/>
                                      </p:to>
                                    </p:set>
                                    <p:animEffect transition="in" filter="blinds(horizontal)">
                                      <p:cBhvr>
                                        <p:cTn id="27" dur="500"/>
                                        <p:tgtEl>
                                          <p:spTgt spid="707587">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07587">
                                            <p:txEl>
                                              <p:pRg st="8" end="8"/>
                                            </p:txEl>
                                          </p:spTgt>
                                        </p:tgtEl>
                                        <p:attrNameLst>
                                          <p:attrName>style.visibility</p:attrName>
                                        </p:attrNameLst>
                                      </p:cBhvr>
                                      <p:to>
                                        <p:strVal val="visible"/>
                                      </p:to>
                                    </p:set>
                                    <p:animEffect transition="in" filter="blinds(horizontal)">
                                      <p:cBhvr>
                                        <p:cTn id="32" dur="500"/>
                                        <p:tgtEl>
                                          <p:spTgt spid="7075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7">
            <a:extLst>
              <a:ext uri="{FF2B5EF4-FFF2-40B4-BE49-F238E27FC236}">
                <a16:creationId xmlns:a16="http://schemas.microsoft.com/office/drawing/2014/main" id="{77718D7B-55C9-64F7-BF6C-14247959EA74}"/>
              </a:ext>
            </a:extLst>
          </p:cNvPr>
          <p:cNvSpPr>
            <a:spLocks noChangeArrowheads="1"/>
          </p:cNvSpPr>
          <p:nvPr/>
        </p:nvSpPr>
        <p:spPr bwMode="auto">
          <a:xfrm>
            <a:off x="825500" y="2273300"/>
            <a:ext cx="7570788" cy="2971800"/>
          </a:xfrm>
          <a:prstGeom prst="rect">
            <a:avLst/>
          </a:prstGeom>
          <a:solidFill>
            <a:srgbClr val="E9E1C9"/>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nchorCtr="1"/>
          <a:lstStyle/>
          <a:p>
            <a:pPr algn="ctr" eaLnBrk="0" hangingPunct="0"/>
            <a:endParaRPr lang="en-US" altLang="zh-CN" sz="2400">
              <a:solidFill>
                <a:schemeClr val="tx1"/>
              </a:solidFill>
              <a:latin typeface="Calibri" panose="020F0502020204030204" pitchFamily="34" charset="0"/>
            </a:endParaRPr>
          </a:p>
        </p:txBody>
      </p:sp>
      <p:sp>
        <p:nvSpPr>
          <p:cNvPr id="40962" name="Rectangle 2">
            <a:extLst>
              <a:ext uri="{FF2B5EF4-FFF2-40B4-BE49-F238E27FC236}">
                <a16:creationId xmlns:a16="http://schemas.microsoft.com/office/drawing/2014/main" id="{CD04D902-2A82-DE3B-11C7-257BA668B82F}"/>
              </a:ext>
            </a:extLst>
          </p:cNvPr>
          <p:cNvSpPr>
            <a:spLocks noGrp="1" noChangeArrowheads="1"/>
          </p:cNvSpPr>
          <p:nvPr>
            <p:ph type="title" idx="4294967295"/>
          </p:nvPr>
        </p:nvSpPr>
        <p:spPr>
          <a:xfrm>
            <a:off x="476250" y="88900"/>
            <a:ext cx="7740650" cy="549275"/>
          </a:xfrm>
        </p:spPr>
        <p:txBody>
          <a:bodyPr lIns="91294" tIns="45647" rIns="91294" bIns="45647"/>
          <a:lstStyle/>
          <a:p>
            <a:r>
              <a:rPr lang="zh-CN" altLang="en-US">
                <a:ea typeface="宋体" panose="02010600030101010101" pitchFamily="2" charset="-122"/>
              </a:rPr>
              <a:t>异常和中断的处理</a:t>
            </a:r>
          </a:p>
        </p:txBody>
      </p:sp>
      <p:sp>
        <p:nvSpPr>
          <p:cNvPr id="476163" name="Rectangle 3">
            <a:extLst>
              <a:ext uri="{FF2B5EF4-FFF2-40B4-BE49-F238E27FC236}">
                <a16:creationId xmlns:a16="http://schemas.microsoft.com/office/drawing/2014/main" id="{A12C574B-CE94-6297-70A1-999131DC05BD}"/>
              </a:ext>
            </a:extLst>
          </p:cNvPr>
          <p:cNvSpPr>
            <a:spLocks noGrp="1" noChangeArrowheads="1"/>
          </p:cNvSpPr>
          <p:nvPr>
            <p:ph type="body" idx="4294967295"/>
          </p:nvPr>
        </p:nvSpPr>
        <p:spPr>
          <a:xfrm>
            <a:off x="150813" y="730250"/>
            <a:ext cx="8893175" cy="1098550"/>
          </a:xfrm>
        </p:spPr>
        <p:txBody>
          <a:bodyPr/>
          <a:lstStyle/>
          <a:p>
            <a:pPr>
              <a:lnSpc>
                <a:spcPct val="150000"/>
              </a:lnSpc>
            </a:pPr>
            <a:r>
              <a:rPr lang="zh-CN" altLang="en-US" sz="2200">
                <a:latin typeface="微软雅黑" panose="020B0503020204020204" pitchFamily="34" charset="-122"/>
                <a:ea typeface="微软雅黑" panose="020B0503020204020204" pitchFamily="34" charset="-122"/>
              </a:rPr>
              <a:t>发生</a:t>
            </a:r>
            <a:r>
              <a:rPr lang="zh-CN" altLang="en-US" sz="2200">
                <a:solidFill>
                  <a:srgbClr val="FF0000"/>
                </a:solidFill>
                <a:latin typeface="微软雅黑" panose="020B0503020204020204" pitchFamily="34" charset="-122"/>
                <a:ea typeface="微软雅黑" panose="020B0503020204020204" pitchFamily="34" charset="-122"/>
              </a:rPr>
              <a:t>异常</a:t>
            </a:r>
            <a:r>
              <a:rPr lang="en-US" altLang="zh-CN" sz="2200">
                <a:solidFill>
                  <a:srgbClr val="FF0000"/>
                </a:solidFill>
                <a:latin typeface="微软雅黑" panose="020B0503020204020204" pitchFamily="34" charset="-122"/>
                <a:ea typeface="微软雅黑" panose="020B0503020204020204" pitchFamily="34" charset="-122"/>
              </a:rPr>
              <a:t>(exception)</a:t>
            </a:r>
            <a:r>
              <a:rPr lang="zh-CN" altLang="en-US" sz="2200">
                <a:latin typeface="微软雅黑" panose="020B0503020204020204" pitchFamily="34" charset="-122"/>
                <a:ea typeface="微软雅黑" panose="020B0503020204020204" pitchFamily="34" charset="-122"/>
              </a:rPr>
              <a:t>和</a:t>
            </a:r>
            <a:r>
              <a:rPr lang="zh-CN" altLang="en-US" sz="2200">
                <a:solidFill>
                  <a:srgbClr val="FF0000"/>
                </a:solidFill>
                <a:latin typeface="微软雅黑" panose="020B0503020204020204" pitchFamily="34" charset="-122"/>
                <a:ea typeface="微软雅黑" panose="020B0503020204020204" pitchFamily="34" charset="-122"/>
              </a:rPr>
              <a:t>中断</a:t>
            </a:r>
            <a:r>
              <a:rPr lang="en-US" altLang="zh-CN" sz="2200">
                <a:solidFill>
                  <a:srgbClr val="FF0000"/>
                </a:solidFill>
                <a:latin typeface="微软雅黑" panose="020B0503020204020204" pitchFamily="34" charset="-122"/>
                <a:ea typeface="微软雅黑" panose="020B0503020204020204" pitchFamily="34" charset="-122"/>
              </a:rPr>
              <a:t>(interrupt)</a:t>
            </a:r>
            <a:r>
              <a:rPr lang="zh-CN" altLang="en-US" sz="2200">
                <a:latin typeface="微软雅黑" panose="020B0503020204020204" pitchFamily="34" charset="-122"/>
                <a:ea typeface="微软雅黑" panose="020B0503020204020204" pitchFamily="34" charset="-122"/>
              </a:rPr>
              <a:t>事件后，系统将进入</a:t>
            </a:r>
            <a:r>
              <a:rPr lang="en-US" altLang="zh-CN" sz="2200">
                <a:latin typeface="微软雅黑" panose="020B0503020204020204" pitchFamily="34" charset="-122"/>
                <a:ea typeface="微软雅黑" panose="020B0503020204020204" pitchFamily="34" charset="-122"/>
              </a:rPr>
              <a:t>OS</a:t>
            </a:r>
            <a:r>
              <a:rPr lang="zh-CN" altLang="en-US" sz="2200">
                <a:latin typeface="微软雅黑" panose="020B0503020204020204" pitchFamily="34" charset="-122"/>
                <a:ea typeface="微软雅黑" panose="020B0503020204020204" pitchFamily="34" charset="-122"/>
              </a:rPr>
              <a:t>内核态对相应事件进行处理，即改变处理器状态</a:t>
            </a:r>
            <a:r>
              <a:rPr lang="zh-CN" altLang="en-US" sz="2200">
                <a:solidFill>
                  <a:srgbClr val="FF0000"/>
                </a:solidFill>
                <a:latin typeface="微软雅黑" panose="020B0503020204020204" pitchFamily="34" charset="-122"/>
                <a:ea typeface="微软雅黑" panose="020B0503020204020204" pitchFamily="34" charset="-122"/>
              </a:rPr>
              <a:t>（用户态</a:t>
            </a:r>
            <a:r>
              <a:rPr lang="zh-CN" altLang="en-US" sz="2200">
                <a:solidFill>
                  <a:srgbClr val="FF0000"/>
                </a:solidFill>
                <a:ea typeface="微软雅黑" panose="020B0503020204020204" pitchFamily="34" charset="-122"/>
              </a:rPr>
              <a:t>→内核态</a:t>
            </a:r>
            <a:r>
              <a:rPr lang="zh-CN" altLang="en-US" sz="2200">
                <a:solidFill>
                  <a:srgbClr val="FF0000"/>
                </a:solidFill>
                <a:latin typeface="微软雅黑" panose="020B0503020204020204" pitchFamily="34" charset="-122"/>
                <a:ea typeface="微软雅黑" panose="020B0503020204020204" pitchFamily="34" charset="-122"/>
              </a:rPr>
              <a:t>）</a:t>
            </a:r>
            <a:endParaRPr lang="en-US" altLang="zh-CN" sz="2200" b="0">
              <a:solidFill>
                <a:srgbClr val="FF0000"/>
              </a:solidFill>
            </a:endParaRPr>
          </a:p>
        </p:txBody>
      </p:sp>
      <p:sp>
        <p:nvSpPr>
          <p:cNvPr id="476164" name="Rectangle 4">
            <a:extLst>
              <a:ext uri="{FF2B5EF4-FFF2-40B4-BE49-F238E27FC236}">
                <a16:creationId xmlns:a16="http://schemas.microsoft.com/office/drawing/2014/main" id="{A9A1635B-B315-47CE-3197-6D8B55088A2F}"/>
              </a:ext>
            </a:extLst>
          </p:cNvPr>
          <p:cNvSpPr>
            <a:spLocks noChangeArrowheads="1"/>
          </p:cNvSpPr>
          <p:nvPr/>
        </p:nvSpPr>
        <p:spPr bwMode="auto">
          <a:xfrm>
            <a:off x="2419350" y="2344738"/>
            <a:ext cx="1400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p>
            <a:pPr eaLnBrk="0" hangingPunct="0"/>
            <a:r>
              <a:rPr lang="zh-CN" altLang="en-US" sz="2400">
                <a:solidFill>
                  <a:srgbClr val="CC3300"/>
                </a:solidFill>
                <a:latin typeface="Calibri" panose="020F0502020204030204" pitchFamily="34" charset="0"/>
                <a:ea typeface="微软雅黑" panose="020B0503020204020204" pitchFamily="34" charset="-122"/>
              </a:rPr>
              <a:t>用户进程</a:t>
            </a:r>
          </a:p>
        </p:txBody>
      </p:sp>
      <p:sp>
        <p:nvSpPr>
          <p:cNvPr id="476165" name="Rectangle 5">
            <a:extLst>
              <a:ext uri="{FF2B5EF4-FFF2-40B4-BE49-F238E27FC236}">
                <a16:creationId xmlns:a16="http://schemas.microsoft.com/office/drawing/2014/main" id="{C76BEA99-0567-E864-CE52-65056BE596D2}"/>
              </a:ext>
            </a:extLst>
          </p:cNvPr>
          <p:cNvSpPr>
            <a:spLocks noChangeArrowheads="1"/>
          </p:cNvSpPr>
          <p:nvPr/>
        </p:nvSpPr>
        <p:spPr bwMode="auto">
          <a:xfrm>
            <a:off x="5651500" y="2474913"/>
            <a:ext cx="6143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p>
            <a:pPr eaLnBrk="0" hangingPunct="0"/>
            <a:r>
              <a:rPr lang="en-US" altLang="zh-CN" sz="2400">
                <a:solidFill>
                  <a:srgbClr val="CC3300"/>
                </a:solidFill>
                <a:latin typeface="微软雅黑" panose="020B0503020204020204" pitchFamily="34" charset="-122"/>
                <a:ea typeface="微软雅黑" panose="020B0503020204020204" pitchFamily="34" charset="-122"/>
              </a:rPr>
              <a:t>OS</a:t>
            </a:r>
          </a:p>
        </p:txBody>
      </p:sp>
      <p:sp>
        <p:nvSpPr>
          <p:cNvPr id="692231" name="Line 6">
            <a:extLst>
              <a:ext uri="{FF2B5EF4-FFF2-40B4-BE49-F238E27FC236}">
                <a16:creationId xmlns:a16="http://schemas.microsoft.com/office/drawing/2014/main" id="{4AA3A0E1-6027-6533-3DFE-EF29F008A84D}"/>
              </a:ext>
            </a:extLst>
          </p:cNvPr>
          <p:cNvSpPr>
            <a:spLocks noChangeShapeType="1"/>
          </p:cNvSpPr>
          <p:nvPr/>
        </p:nvSpPr>
        <p:spPr bwMode="auto">
          <a:xfrm>
            <a:off x="3233738" y="2867025"/>
            <a:ext cx="0" cy="5984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6168" name="Line 8">
            <a:extLst>
              <a:ext uri="{FF2B5EF4-FFF2-40B4-BE49-F238E27FC236}">
                <a16:creationId xmlns:a16="http://schemas.microsoft.com/office/drawing/2014/main" id="{1FCC15EF-8BAF-5D5F-BCB4-466949783F9D}"/>
              </a:ext>
            </a:extLst>
          </p:cNvPr>
          <p:cNvSpPr>
            <a:spLocks noChangeShapeType="1"/>
          </p:cNvSpPr>
          <p:nvPr/>
        </p:nvSpPr>
        <p:spPr bwMode="auto">
          <a:xfrm>
            <a:off x="6053138" y="3478213"/>
            <a:ext cx="0" cy="596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6170" name="Line 10">
            <a:extLst>
              <a:ext uri="{FF2B5EF4-FFF2-40B4-BE49-F238E27FC236}">
                <a16:creationId xmlns:a16="http://schemas.microsoft.com/office/drawing/2014/main" id="{0964F6EE-3E74-687A-A53D-7E1E272868D7}"/>
              </a:ext>
            </a:extLst>
          </p:cNvPr>
          <p:cNvSpPr>
            <a:spLocks noChangeShapeType="1"/>
          </p:cNvSpPr>
          <p:nvPr/>
        </p:nvSpPr>
        <p:spPr bwMode="auto">
          <a:xfrm>
            <a:off x="3233738" y="3568700"/>
            <a:ext cx="0" cy="15128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6171" name="Rectangle 11">
            <a:extLst>
              <a:ext uri="{FF2B5EF4-FFF2-40B4-BE49-F238E27FC236}">
                <a16:creationId xmlns:a16="http://schemas.microsoft.com/office/drawing/2014/main" id="{8458B697-C9F6-6DDD-DA1D-8CA66231A0D8}"/>
              </a:ext>
            </a:extLst>
          </p:cNvPr>
          <p:cNvSpPr>
            <a:spLocks noChangeArrowheads="1"/>
          </p:cNvSpPr>
          <p:nvPr/>
        </p:nvSpPr>
        <p:spPr bwMode="auto">
          <a:xfrm>
            <a:off x="3587750" y="3068638"/>
            <a:ext cx="2225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p>
            <a:pPr eaLnBrk="0" hangingPunct="0"/>
            <a:r>
              <a:rPr lang="zh-CN" altLang="en-US" sz="2000">
                <a:latin typeface="微软雅黑" panose="020B0503020204020204" pitchFamily="34" charset="-122"/>
                <a:ea typeface="微软雅黑" panose="020B0503020204020204" pitchFamily="34" charset="-122"/>
              </a:rPr>
              <a:t>响应异常</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中断</a:t>
            </a:r>
          </a:p>
        </p:txBody>
      </p:sp>
      <p:sp>
        <p:nvSpPr>
          <p:cNvPr id="476172" name="Rectangle 12">
            <a:extLst>
              <a:ext uri="{FF2B5EF4-FFF2-40B4-BE49-F238E27FC236}">
                <a16:creationId xmlns:a16="http://schemas.microsoft.com/office/drawing/2014/main" id="{03B90B4B-BB17-F372-D0FD-30972D0FA9C5}"/>
              </a:ext>
            </a:extLst>
          </p:cNvPr>
          <p:cNvSpPr>
            <a:spLocks noChangeArrowheads="1"/>
          </p:cNvSpPr>
          <p:nvPr/>
        </p:nvSpPr>
        <p:spPr bwMode="auto">
          <a:xfrm>
            <a:off x="6215063" y="3417888"/>
            <a:ext cx="1668462"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p>
            <a:pPr eaLnBrk="0" hangingPunct="0"/>
            <a:r>
              <a:rPr lang="zh-CN" altLang="en-US" sz="2000">
                <a:solidFill>
                  <a:schemeClr val="tx1"/>
                </a:solidFill>
                <a:latin typeface="Calibri" panose="020F0502020204030204" pitchFamily="34" charset="0"/>
                <a:ea typeface="微软雅黑" panose="020B0503020204020204" pitchFamily="34" charset="-122"/>
              </a:rPr>
              <a:t>具体的异常或中断处理</a:t>
            </a:r>
          </a:p>
          <a:p>
            <a:pPr eaLnBrk="0" hangingPunct="0"/>
            <a:endParaRPr lang="en-US" altLang="zh-CN" sz="1800" b="0" i="1">
              <a:solidFill>
                <a:schemeClr val="tx1"/>
              </a:solidFill>
              <a:latin typeface="Calibri" panose="020F0502020204030204" pitchFamily="34" charset="0"/>
            </a:endParaRPr>
          </a:p>
        </p:txBody>
      </p:sp>
      <p:sp>
        <p:nvSpPr>
          <p:cNvPr id="476173" name="Rectangle 13">
            <a:extLst>
              <a:ext uri="{FF2B5EF4-FFF2-40B4-BE49-F238E27FC236}">
                <a16:creationId xmlns:a16="http://schemas.microsoft.com/office/drawing/2014/main" id="{716E5D00-73B0-C012-BB02-FB8E2CE2A765}"/>
              </a:ext>
            </a:extLst>
          </p:cNvPr>
          <p:cNvSpPr>
            <a:spLocks noChangeArrowheads="1"/>
          </p:cNvSpPr>
          <p:nvPr/>
        </p:nvSpPr>
        <p:spPr bwMode="auto">
          <a:xfrm>
            <a:off x="3471863" y="3883025"/>
            <a:ext cx="18700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p>
            <a:pPr eaLnBrk="0" hangingPunct="0">
              <a:buFontTx/>
              <a:buChar char="•"/>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返回当前指令</a:t>
            </a:r>
          </a:p>
          <a:p>
            <a:pPr eaLnBrk="0" hangingPunct="0">
              <a:buFontTx/>
              <a:buChar char="•"/>
            </a:pPr>
            <a:r>
              <a:rPr lang="zh-CN" altLang="en-US" sz="2000">
                <a:latin typeface="微软雅黑" panose="020B0503020204020204" pitchFamily="34" charset="-122"/>
                <a:ea typeface="微软雅黑" panose="020B0503020204020204" pitchFamily="34" charset="-122"/>
              </a:rPr>
              <a:t> 返回下条指令</a:t>
            </a:r>
          </a:p>
          <a:p>
            <a:pPr eaLnBrk="0" hangingPunct="0">
              <a:buFontTx/>
              <a:buChar char="•"/>
            </a:pPr>
            <a:r>
              <a:rPr lang="zh-CN" altLang="en-US" sz="2000">
                <a:latin typeface="微软雅黑" panose="020B0503020204020204" pitchFamily="34" charset="-122"/>
                <a:ea typeface="微软雅黑" panose="020B0503020204020204" pitchFamily="34" charset="-122"/>
              </a:rPr>
              <a:t> 终止</a:t>
            </a:r>
            <a:r>
              <a:rPr lang="en-US" altLang="zh-CN" sz="2000">
                <a:latin typeface="微软雅黑" panose="020B0503020204020204" pitchFamily="34" charset="-122"/>
                <a:ea typeface="微软雅黑" panose="020B0503020204020204" pitchFamily="34" charset="-122"/>
              </a:rPr>
              <a:t>(abort)</a:t>
            </a:r>
          </a:p>
        </p:txBody>
      </p:sp>
      <p:sp>
        <p:nvSpPr>
          <p:cNvPr id="476174" name="Rectangle 14">
            <a:extLst>
              <a:ext uri="{FF2B5EF4-FFF2-40B4-BE49-F238E27FC236}">
                <a16:creationId xmlns:a16="http://schemas.microsoft.com/office/drawing/2014/main" id="{D71AA529-5628-5300-6589-801F3F80B24F}"/>
              </a:ext>
            </a:extLst>
          </p:cNvPr>
          <p:cNvSpPr>
            <a:spLocks noChangeArrowheads="1"/>
          </p:cNvSpPr>
          <p:nvPr/>
        </p:nvSpPr>
        <p:spPr bwMode="auto">
          <a:xfrm>
            <a:off x="909638" y="3217863"/>
            <a:ext cx="804862"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p>
            <a:pPr eaLnBrk="0" hangingPunct="0"/>
            <a:r>
              <a:rPr lang="zh-CN" altLang="en-US" sz="2200">
                <a:solidFill>
                  <a:srgbClr val="C00000"/>
                </a:solidFill>
                <a:latin typeface="Calibri" panose="020F0502020204030204" pitchFamily="34" charset="0"/>
                <a:ea typeface="微软雅黑" panose="020B0503020204020204" pitchFamily="34" charset="-122"/>
              </a:rPr>
              <a:t>事件</a:t>
            </a:r>
          </a:p>
        </p:txBody>
      </p:sp>
      <p:sp>
        <p:nvSpPr>
          <p:cNvPr id="692240" name="Text Box 15">
            <a:extLst>
              <a:ext uri="{FF2B5EF4-FFF2-40B4-BE49-F238E27FC236}">
                <a16:creationId xmlns:a16="http://schemas.microsoft.com/office/drawing/2014/main" id="{3819C4F2-1B08-DA27-4B46-9F730A6594C7}"/>
              </a:ext>
            </a:extLst>
          </p:cNvPr>
          <p:cNvSpPr txBox="1">
            <a:spLocks noChangeArrowheads="1"/>
          </p:cNvSpPr>
          <p:nvPr/>
        </p:nvSpPr>
        <p:spPr bwMode="auto">
          <a:xfrm>
            <a:off x="2009775" y="3182938"/>
            <a:ext cx="138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eaLnBrk="0" hangingPunct="0"/>
            <a:r>
              <a:rPr lang="zh-CN" altLang="en-US" sz="2000">
                <a:solidFill>
                  <a:schemeClr val="tx1"/>
                </a:solidFill>
                <a:latin typeface="微软雅黑" panose="020B0503020204020204" pitchFamily="34" charset="-122"/>
                <a:ea typeface="微软雅黑" panose="020B0503020204020204" pitchFamily="34" charset="-122"/>
              </a:rPr>
              <a:t>当前指令</a:t>
            </a:r>
          </a:p>
        </p:txBody>
      </p:sp>
      <p:sp>
        <p:nvSpPr>
          <p:cNvPr id="476176" name="Text Box 16">
            <a:extLst>
              <a:ext uri="{FF2B5EF4-FFF2-40B4-BE49-F238E27FC236}">
                <a16:creationId xmlns:a16="http://schemas.microsoft.com/office/drawing/2014/main" id="{6D60E09B-7EBC-BD39-2802-17A014AAF8D9}"/>
              </a:ext>
            </a:extLst>
          </p:cNvPr>
          <p:cNvSpPr txBox="1">
            <a:spLocks noChangeArrowheads="1"/>
          </p:cNvSpPr>
          <p:nvPr/>
        </p:nvSpPr>
        <p:spPr bwMode="auto">
          <a:xfrm>
            <a:off x="2019300" y="358933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eaLnBrk="0" hangingPunct="0"/>
            <a:r>
              <a:rPr lang="zh-CN" altLang="en-US" sz="2000">
                <a:solidFill>
                  <a:schemeClr val="tx1"/>
                </a:solidFill>
                <a:latin typeface="Calibri" panose="020F0502020204030204" pitchFamily="34" charset="0"/>
                <a:ea typeface="微软雅黑" panose="020B0503020204020204" pitchFamily="34" charset="-122"/>
              </a:rPr>
              <a:t>下条指令</a:t>
            </a:r>
          </a:p>
        </p:txBody>
      </p:sp>
      <p:sp>
        <p:nvSpPr>
          <p:cNvPr id="476177" name="Line 17">
            <a:extLst>
              <a:ext uri="{FF2B5EF4-FFF2-40B4-BE49-F238E27FC236}">
                <a16:creationId xmlns:a16="http://schemas.microsoft.com/office/drawing/2014/main" id="{D3211887-FF6F-1661-58D5-E7C6DEF99D04}"/>
              </a:ext>
            </a:extLst>
          </p:cNvPr>
          <p:cNvSpPr>
            <a:spLocks noChangeShapeType="1"/>
          </p:cNvSpPr>
          <p:nvPr/>
        </p:nvSpPr>
        <p:spPr bwMode="auto">
          <a:xfrm>
            <a:off x="1658938" y="3403600"/>
            <a:ext cx="409575" cy="0"/>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2245" name="Line 21">
            <a:extLst>
              <a:ext uri="{FF2B5EF4-FFF2-40B4-BE49-F238E27FC236}">
                <a16:creationId xmlns:a16="http://schemas.microsoft.com/office/drawing/2014/main" id="{3D9ADA78-9F61-E9FC-755E-7C04FF9008D5}"/>
              </a:ext>
            </a:extLst>
          </p:cNvPr>
          <p:cNvSpPr>
            <a:spLocks noChangeShapeType="1"/>
          </p:cNvSpPr>
          <p:nvPr/>
        </p:nvSpPr>
        <p:spPr bwMode="auto">
          <a:xfrm>
            <a:off x="3208338" y="3449638"/>
            <a:ext cx="2728912" cy="0"/>
          </a:xfrm>
          <a:prstGeom prst="line">
            <a:avLst/>
          </a:prstGeom>
          <a:noFill/>
          <a:ln w="571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2246" name="Line 22">
            <a:extLst>
              <a:ext uri="{FF2B5EF4-FFF2-40B4-BE49-F238E27FC236}">
                <a16:creationId xmlns:a16="http://schemas.microsoft.com/office/drawing/2014/main" id="{4F29C73B-2423-164C-7EB6-AED0C226E372}"/>
              </a:ext>
            </a:extLst>
          </p:cNvPr>
          <p:cNvSpPr>
            <a:spLocks noChangeShapeType="1"/>
          </p:cNvSpPr>
          <p:nvPr/>
        </p:nvSpPr>
        <p:spPr bwMode="auto">
          <a:xfrm flipH="1" flipV="1">
            <a:off x="3249613" y="3552825"/>
            <a:ext cx="2700337" cy="493713"/>
          </a:xfrm>
          <a:prstGeom prst="line">
            <a:avLst/>
          </a:prstGeom>
          <a:noFill/>
          <a:ln w="571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2247" name="Line 23">
            <a:extLst>
              <a:ext uri="{FF2B5EF4-FFF2-40B4-BE49-F238E27FC236}">
                <a16:creationId xmlns:a16="http://schemas.microsoft.com/office/drawing/2014/main" id="{228D6DDC-4338-F603-A602-CF096B646FC5}"/>
              </a:ext>
            </a:extLst>
          </p:cNvPr>
          <p:cNvSpPr>
            <a:spLocks noChangeShapeType="1"/>
          </p:cNvSpPr>
          <p:nvPr/>
        </p:nvSpPr>
        <p:spPr bwMode="auto">
          <a:xfrm flipH="1" flipV="1">
            <a:off x="7227888" y="4105275"/>
            <a:ext cx="623887" cy="14382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2248" name="Text Box 24">
            <a:extLst>
              <a:ext uri="{FF2B5EF4-FFF2-40B4-BE49-F238E27FC236}">
                <a16:creationId xmlns:a16="http://schemas.microsoft.com/office/drawing/2014/main" id="{5F0CF4AA-7123-08A3-F4D7-86EDFF625514}"/>
              </a:ext>
            </a:extLst>
          </p:cNvPr>
          <p:cNvSpPr txBox="1">
            <a:spLocks noChangeArrowheads="1"/>
          </p:cNvSpPr>
          <p:nvPr/>
        </p:nvSpPr>
        <p:spPr bwMode="auto">
          <a:xfrm>
            <a:off x="2619375" y="5535613"/>
            <a:ext cx="5975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solidFill>
                  <a:srgbClr val="008000"/>
                </a:solidFill>
                <a:ea typeface="微软雅黑" panose="020B0503020204020204" pitchFamily="34" charset="-122"/>
              </a:rPr>
              <a:t>用户进程的正常控制流中插入了一段</a:t>
            </a:r>
            <a:r>
              <a:rPr lang="zh-CN" altLang="en-US" sz="2000">
                <a:solidFill>
                  <a:srgbClr val="FF0000"/>
                </a:solidFill>
                <a:ea typeface="微软雅黑" panose="020B0503020204020204" pitchFamily="34" charset="-122"/>
              </a:rPr>
              <a:t>内核控制路径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6163">
                                            <p:txEl>
                                              <p:pRg st="0" end="0"/>
                                            </p:txEl>
                                          </p:spTgt>
                                        </p:tgtEl>
                                        <p:attrNameLst>
                                          <p:attrName>style.visibility</p:attrName>
                                        </p:attrNameLst>
                                      </p:cBhvr>
                                      <p:to>
                                        <p:strVal val="visible"/>
                                      </p:to>
                                    </p:set>
                                    <p:animEffect transition="in" filter="blinds(horizontal)">
                                      <p:cBhvr>
                                        <p:cTn id="7" dur="500"/>
                                        <p:tgtEl>
                                          <p:spTgt spid="4761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6164"/>
                                        </p:tgtEl>
                                        <p:attrNameLst>
                                          <p:attrName>style.visibility</p:attrName>
                                        </p:attrNameLst>
                                      </p:cBhvr>
                                      <p:to>
                                        <p:strVal val="visible"/>
                                      </p:to>
                                    </p:set>
                                    <p:animEffect transition="in" filter="blinds(horizontal)">
                                      <p:cBhvr>
                                        <p:cTn id="12" dur="500"/>
                                        <p:tgtEl>
                                          <p:spTgt spid="4761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92231"/>
                                        </p:tgtEl>
                                        <p:attrNameLst>
                                          <p:attrName>style.visibility</p:attrName>
                                        </p:attrNameLst>
                                      </p:cBhvr>
                                      <p:to>
                                        <p:strVal val="visible"/>
                                      </p:to>
                                    </p:set>
                                    <p:animEffect transition="in" filter="blinds(horizontal)">
                                      <p:cBhvr>
                                        <p:cTn id="17" dur="500"/>
                                        <p:tgtEl>
                                          <p:spTgt spid="6922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2240"/>
                                        </p:tgtEl>
                                        <p:attrNameLst>
                                          <p:attrName>style.visibility</p:attrName>
                                        </p:attrNameLst>
                                      </p:cBhvr>
                                      <p:to>
                                        <p:strVal val="visible"/>
                                      </p:to>
                                    </p:set>
                                    <p:animEffect transition="in" filter="blinds(horizontal)">
                                      <p:cBhvr>
                                        <p:cTn id="22" dur="500"/>
                                        <p:tgtEl>
                                          <p:spTgt spid="6922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6165"/>
                                        </p:tgtEl>
                                        <p:attrNameLst>
                                          <p:attrName>style.visibility</p:attrName>
                                        </p:attrNameLst>
                                      </p:cBhvr>
                                      <p:to>
                                        <p:strVal val="visible"/>
                                      </p:to>
                                    </p:set>
                                    <p:animEffect transition="in" filter="blinds(horizontal)">
                                      <p:cBhvr>
                                        <p:cTn id="27" dur="500"/>
                                        <p:tgtEl>
                                          <p:spTgt spid="4761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47617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76174"/>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76171"/>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92245"/>
                                        </p:tgtEl>
                                        <p:attrNameLst>
                                          <p:attrName>style.visibility</p:attrName>
                                        </p:attrNameLst>
                                      </p:cBhvr>
                                      <p:to>
                                        <p:strVal val="visible"/>
                                      </p:to>
                                    </p:set>
                                    <p:animEffect transition="in" filter="blinds(horizontal)">
                                      <p:cBhvr>
                                        <p:cTn id="42" dur="500"/>
                                        <p:tgtEl>
                                          <p:spTgt spid="69224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47616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6172"/>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617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692246"/>
                                        </p:tgtEl>
                                        <p:attrNameLst>
                                          <p:attrName>style.visibility</p:attrName>
                                        </p:attrNameLst>
                                      </p:cBhvr>
                                      <p:to>
                                        <p:strVal val="visible"/>
                                      </p:to>
                                    </p:set>
                                    <p:animEffect transition="in" filter="blinds(horizontal)">
                                      <p:cBhvr>
                                        <p:cTn id="57" dur="500"/>
                                        <p:tgtEl>
                                          <p:spTgt spid="69224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76176"/>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76170"/>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692247"/>
                                        </p:tgtEl>
                                        <p:attrNameLst>
                                          <p:attrName>style.visibility</p:attrName>
                                        </p:attrNameLst>
                                      </p:cBhvr>
                                      <p:to>
                                        <p:strVal val="visible"/>
                                      </p:to>
                                    </p:set>
                                    <p:animEffect transition="in" filter="blinds(horizontal)">
                                      <p:cBhvr>
                                        <p:cTn id="68" dur="500"/>
                                        <p:tgtEl>
                                          <p:spTgt spid="69224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692248"/>
                                        </p:tgtEl>
                                        <p:attrNameLst>
                                          <p:attrName>style.visibility</p:attrName>
                                        </p:attrNameLst>
                                      </p:cBhvr>
                                      <p:to>
                                        <p:strVal val="visible"/>
                                      </p:to>
                                    </p:set>
                                    <p:animEffect transition="in" filter="blinds(horizontal)">
                                      <p:cBhvr>
                                        <p:cTn id="73" dur="500"/>
                                        <p:tgtEl>
                                          <p:spTgt spid="692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P spid="476164" grpId="0"/>
      <p:bldP spid="476165" grpId="0"/>
      <p:bldP spid="476171" grpId="0"/>
      <p:bldP spid="476172" grpId="0"/>
      <p:bldP spid="476173" grpId="0"/>
      <p:bldP spid="476174" grpId="0"/>
      <p:bldP spid="692240" grpId="0"/>
      <p:bldP spid="476176" grpId="0"/>
      <p:bldP spid="6922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E95F1A51-C861-B7CB-6B0D-5D98958E9988}"/>
              </a:ext>
            </a:extLst>
          </p:cNvPr>
          <p:cNvSpPr>
            <a:spLocks noGrp="1" noChangeArrowheads="1"/>
          </p:cNvSpPr>
          <p:nvPr>
            <p:ph type="title"/>
          </p:nvPr>
        </p:nvSpPr>
        <p:spPr>
          <a:xfrm>
            <a:off x="628650" y="98425"/>
            <a:ext cx="7499350" cy="528638"/>
          </a:xfrm>
        </p:spPr>
        <p:txBody>
          <a:bodyPr/>
          <a:lstStyle/>
          <a:p>
            <a:r>
              <a:rPr lang="zh-CN" altLang="en-US">
                <a:ea typeface="宋体" panose="02010600030101010101" pitchFamily="2" charset="-122"/>
              </a:rPr>
              <a:t>异常的分类</a:t>
            </a:r>
          </a:p>
        </p:txBody>
      </p:sp>
      <p:sp>
        <p:nvSpPr>
          <p:cNvPr id="709635" name="Rectangle 3">
            <a:extLst>
              <a:ext uri="{FF2B5EF4-FFF2-40B4-BE49-F238E27FC236}">
                <a16:creationId xmlns:a16="http://schemas.microsoft.com/office/drawing/2014/main" id="{9A3A3AD7-CAC3-0618-A283-79D1672CDB17}"/>
              </a:ext>
            </a:extLst>
          </p:cNvPr>
          <p:cNvSpPr>
            <a:spLocks noGrp="1" noChangeArrowheads="1"/>
          </p:cNvSpPr>
          <p:nvPr>
            <p:ph idx="1"/>
          </p:nvPr>
        </p:nvSpPr>
        <p:spPr>
          <a:xfrm>
            <a:off x="196850" y="820738"/>
            <a:ext cx="8410575" cy="3281362"/>
          </a:xfrm>
        </p:spPr>
        <p:txBody>
          <a:bodyPr/>
          <a:lstStyle/>
          <a:p>
            <a:pPr>
              <a:lnSpc>
                <a:spcPct val="120000"/>
              </a:lnSpc>
              <a:spcBef>
                <a:spcPct val="15000"/>
              </a:spcBef>
              <a:buFontTx/>
              <a:buNone/>
            </a:pPr>
            <a:r>
              <a:rPr lang="zh-CN" altLang="en-US">
                <a:latin typeface="微软雅黑" panose="020B0503020204020204" pitchFamily="34" charset="-122"/>
                <a:ea typeface="微软雅黑" panose="020B0503020204020204" pitchFamily="34" charset="-122"/>
              </a:rPr>
              <a:t>“异常” 按处理方式分为故障、自陷和终止三类</a:t>
            </a: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故障</a:t>
            </a:r>
            <a:r>
              <a:rPr lang="en-US" altLang="zh-CN">
                <a:solidFill>
                  <a:srgbClr val="FF0000"/>
                </a:solidFill>
                <a:latin typeface="微软雅黑" panose="020B0503020204020204" pitchFamily="34" charset="-122"/>
                <a:ea typeface="微软雅黑" panose="020B0503020204020204" pitchFamily="34" charset="-122"/>
              </a:rPr>
              <a:t>(fault)</a:t>
            </a:r>
            <a:r>
              <a:rPr lang="zh-CN" altLang="en-US">
                <a:solidFill>
                  <a:srgbClr val="00CC00"/>
                </a:solidFill>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执行指令引起的异常事件，如溢出、非法指令、缺页、访问越权等。</a:t>
            </a: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自陷</a:t>
            </a:r>
            <a:r>
              <a:rPr lang="en-US" altLang="zh-CN">
                <a:solidFill>
                  <a:srgbClr val="FF0000"/>
                </a:solidFill>
                <a:latin typeface="微软雅黑" panose="020B0503020204020204" pitchFamily="34" charset="-122"/>
                <a:ea typeface="微软雅黑" panose="020B0503020204020204" pitchFamily="34" charset="-122"/>
              </a:rPr>
              <a:t>(Trap)</a:t>
            </a:r>
            <a:r>
              <a:rPr lang="zh-CN" altLang="en-US">
                <a:solidFill>
                  <a:srgbClr val="006600"/>
                </a:solidFill>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预先安排的事件</a:t>
            </a:r>
            <a:r>
              <a:rPr lang="zh-CN" altLang="en-US">
                <a:solidFill>
                  <a:srgbClr val="FF000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埋地雷”）</a:t>
            </a:r>
            <a:r>
              <a:rPr lang="zh-CN" altLang="en-US">
                <a:latin typeface="微软雅黑" panose="020B0503020204020204" pitchFamily="34" charset="-122"/>
                <a:ea typeface="微软雅黑" panose="020B0503020204020204" pitchFamily="34" charset="-122"/>
              </a:rPr>
              <a:t>，如单步跟踪、断点、系统调用 </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执行</a:t>
            </a:r>
            <a:r>
              <a:rPr lang="zh-CN" altLang="en-US">
                <a:solidFill>
                  <a:srgbClr val="996600"/>
                </a:solidFill>
                <a:latin typeface="微软雅黑" panose="020B0503020204020204" pitchFamily="34" charset="-122"/>
                <a:ea typeface="微软雅黑" panose="020B0503020204020204" pitchFamily="34" charset="-122"/>
              </a:rPr>
              <a:t>访管指令</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等。</a:t>
            </a:r>
            <a:r>
              <a:rPr lang="zh-CN" altLang="en-US">
                <a:solidFill>
                  <a:srgbClr val="A50021"/>
                </a:solidFill>
                <a:latin typeface="微软雅黑" panose="020B0503020204020204" pitchFamily="34" charset="-122"/>
                <a:ea typeface="微软雅黑" panose="020B0503020204020204" pitchFamily="34" charset="-122"/>
              </a:rPr>
              <a:t>是一种自愿中断。</a:t>
            </a:r>
          </a:p>
          <a:p>
            <a:pPr lvl="1">
              <a:lnSpc>
                <a:spcPct val="120000"/>
              </a:lnSpc>
              <a:spcBef>
                <a:spcPct val="15000"/>
              </a:spcBef>
              <a:buFontTx/>
              <a:buNone/>
            </a:pPr>
            <a:endParaRPr lang="zh-CN" altLang="en-US">
              <a:solidFill>
                <a:srgbClr val="FF0000"/>
              </a:solidFill>
              <a:latin typeface="微软雅黑" panose="020B0503020204020204" pitchFamily="34" charset="-122"/>
              <a:ea typeface="微软雅黑" panose="020B0503020204020204" pitchFamily="34" charset="-122"/>
            </a:endParaRP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终止</a:t>
            </a:r>
            <a:r>
              <a:rPr lang="en-US" altLang="zh-CN">
                <a:solidFill>
                  <a:srgbClr val="FF0000"/>
                </a:solidFill>
                <a:latin typeface="微软雅黑" panose="020B0503020204020204" pitchFamily="34" charset="-122"/>
                <a:ea typeface="微软雅黑" panose="020B0503020204020204" pitchFamily="34" charset="-122"/>
              </a:rPr>
              <a:t>(Abort)</a:t>
            </a:r>
            <a:r>
              <a:rPr lang="zh-CN" altLang="en-US">
                <a:solidFill>
                  <a:srgbClr val="006600"/>
                </a:solidFill>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硬故障事件，此时机器将“终止”，调出中断服务程序来重启操作系统。</a:t>
            </a:r>
          </a:p>
        </p:txBody>
      </p:sp>
      <p:sp>
        <p:nvSpPr>
          <p:cNvPr id="709636" name="Rectangle 4">
            <a:extLst>
              <a:ext uri="{FF2B5EF4-FFF2-40B4-BE49-F238E27FC236}">
                <a16:creationId xmlns:a16="http://schemas.microsoft.com/office/drawing/2014/main" id="{6111323C-A8A6-5BEA-A19E-4DB668520065}"/>
              </a:ext>
            </a:extLst>
          </p:cNvPr>
          <p:cNvSpPr>
            <a:spLocks noChangeArrowheads="1"/>
          </p:cNvSpPr>
          <p:nvPr/>
        </p:nvSpPr>
        <p:spPr bwMode="auto">
          <a:xfrm>
            <a:off x="76200" y="5980113"/>
            <a:ext cx="8645525" cy="3778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15000"/>
              </a:lnSpc>
              <a:spcBef>
                <a:spcPct val="20000"/>
              </a:spcBef>
            </a:pPr>
            <a:r>
              <a:rPr lang="zh-CN" altLang="en-US" sz="2000">
                <a:solidFill>
                  <a:srgbClr val="008000"/>
                </a:solidFill>
                <a:ea typeface="微软雅黑" panose="020B0503020204020204" pitchFamily="34" charset="-122"/>
              </a:rPr>
              <a:t>“断点”：异常处理结束后回到原来被“中断”的程序执行时的起始指令。</a:t>
            </a:r>
          </a:p>
        </p:txBody>
      </p:sp>
      <p:sp>
        <p:nvSpPr>
          <p:cNvPr id="709638" name="Rectangle 6">
            <a:extLst>
              <a:ext uri="{FF2B5EF4-FFF2-40B4-BE49-F238E27FC236}">
                <a16:creationId xmlns:a16="http://schemas.microsoft.com/office/drawing/2014/main" id="{82B263A7-59B3-3C4C-5209-53BCB1DA4D49}"/>
              </a:ext>
            </a:extLst>
          </p:cNvPr>
          <p:cNvSpPr>
            <a:spLocks noChangeArrowheads="1"/>
          </p:cNvSpPr>
          <p:nvPr/>
        </p:nvSpPr>
        <p:spPr bwMode="auto">
          <a:xfrm>
            <a:off x="0" y="4486275"/>
            <a:ext cx="8721725"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lvl="1" eaLnBrk="0" hangingPunct="0">
              <a:lnSpc>
                <a:spcPct val="120000"/>
              </a:lnSpc>
            </a:pPr>
            <a:r>
              <a:rPr lang="zh-CN" altLang="en-US" sz="2200">
                <a:solidFill>
                  <a:srgbClr val="FF0000"/>
                </a:solidFill>
                <a:latin typeface="微软雅黑" panose="020B0503020204020204" pitchFamily="34" charset="-122"/>
                <a:ea typeface="微软雅黑" panose="020B0503020204020204" pitchFamily="34" charset="-122"/>
              </a:rPr>
              <a:t>思考</a:t>
            </a:r>
            <a:r>
              <a:rPr lang="en-US" altLang="zh-CN" sz="2200">
                <a:solidFill>
                  <a:srgbClr val="FF0000"/>
                </a:solidFill>
                <a:latin typeface="微软雅黑" panose="020B0503020204020204" pitchFamily="34" charset="-122"/>
                <a:ea typeface="微软雅黑" panose="020B0503020204020204" pitchFamily="34" charset="-122"/>
              </a:rPr>
              <a:t>2</a:t>
            </a:r>
            <a:r>
              <a:rPr lang="zh-CN" altLang="en-US" sz="2200">
                <a:solidFill>
                  <a:srgbClr val="FF0000"/>
                </a:solidFill>
                <a:latin typeface="微软雅黑" panose="020B0503020204020204" pitchFamily="34" charset="-122"/>
                <a:ea typeface="微软雅黑" panose="020B0503020204020204" pitchFamily="34" charset="-122"/>
              </a:rPr>
              <a:t>：哪些故障补救后可继续执行，哪些只好终止当前进程？</a:t>
            </a:r>
          </a:p>
          <a:p>
            <a:pPr lvl="1" eaLnBrk="0" hangingPunct="0">
              <a:lnSpc>
                <a:spcPct val="120000"/>
              </a:lnSpc>
            </a:pPr>
            <a:r>
              <a:rPr lang="zh-CN" altLang="en-US" sz="2200">
                <a:solidFill>
                  <a:schemeClr val="accent1"/>
                </a:solidFill>
                <a:latin typeface="微软雅黑" panose="020B0503020204020204" pitchFamily="34" charset="-122"/>
                <a:ea typeface="微软雅黑" panose="020B0503020204020204" pitchFamily="34" charset="-122"/>
              </a:rPr>
              <a:t>   </a:t>
            </a:r>
            <a:r>
              <a:rPr lang="zh-CN" altLang="en-US" sz="2000">
                <a:solidFill>
                  <a:srgbClr val="B7011F"/>
                </a:solidFill>
                <a:latin typeface="微软雅黑" panose="020B0503020204020204" pitchFamily="34" charset="-122"/>
                <a:ea typeface="微软雅黑" panose="020B0503020204020204" pitchFamily="34" charset="-122"/>
              </a:rPr>
              <a:t>缺页、</a:t>
            </a:r>
            <a:r>
              <a:rPr lang="en-US" altLang="zh-CN" sz="2000">
                <a:solidFill>
                  <a:srgbClr val="B7011F"/>
                </a:solidFill>
                <a:latin typeface="微软雅黑" panose="020B0503020204020204" pitchFamily="34" charset="-122"/>
                <a:ea typeface="微软雅黑" panose="020B0503020204020204" pitchFamily="34" charset="-122"/>
              </a:rPr>
              <a:t>TLB</a:t>
            </a:r>
            <a:r>
              <a:rPr lang="zh-CN" altLang="en-US" sz="2000">
                <a:solidFill>
                  <a:srgbClr val="B7011F"/>
                </a:solidFill>
                <a:latin typeface="微软雅黑" panose="020B0503020204020204" pitchFamily="34" charset="-122"/>
                <a:ea typeface="微软雅黑" panose="020B0503020204020204" pitchFamily="34" charset="-122"/>
              </a:rPr>
              <a:t>缺失等：</a:t>
            </a:r>
            <a:r>
              <a:rPr lang="zh-CN" altLang="en-US" sz="2000">
                <a:solidFill>
                  <a:srgbClr val="0066CC"/>
                </a:solidFill>
                <a:latin typeface="微软雅黑" panose="020B0503020204020204" pitchFamily="34" charset="-122"/>
                <a:ea typeface="微软雅黑" panose="020B0503020204020204" pitchFamily="34" charset="-122"/>
              </a:rPr>
              <a:t>补救后可继续，回到发生故障的指令重新执行。</a:t>
            </a:r>
            <a:r>
              <a:rPr lang="zh-CN" altLang="en-US" sz="2000">
                <a:solidFill>
                  <a:srgbClr val="B7011F"/>
                </a:solidFill>
                <a:latin typeface="微软雅黑" panose="020B0503020204020204" pitchFamily="34" charset="-122"/>
                <a:ea typeface="微软雅黑" panose="020B0503020204020204" pitchFamily="34" charset="-122"/>
              </a:rPr>
              <a:t>  </a:t>
            </a:r>
          </a:p>
          <a:p>
            <a:pPr lvl="1" eaLnBrk="0" hangingPunct="0">
              <a:lnSpc>
                <a:spcPct val="120000"/>
              </a:lnSpc>
            </a:pPr>
            <a:r>
              <a:rPr lang="zh-CN" altLang="en-US" sz="2000">
                <a:solidFill>
                  <a:srgbClr val="B7011F"/>
                </a:solidFill>
                <a:latin typeface="微软雅黑" panose="020B0503020204020204" pitchFamily="34" charset="-122"/>
                <a:ea typeface="微软雅黑" panose="020B0503020204020204" pitchFamily="34" charset="-122"/>
              </a:rPr>
              <a:t>    溢出、除数为</a:t>
            </a:r>
            <a:r>
              <a:rPr lang="en-US" altLang="zh-CN" sz="2000">
                <a:solidFill>
                  <a:srgbClr val="B7011F"/>
                </a:solidFill>
                <a:latin typeface="微软雅黑" panose="020B0503020204020204" pitchFamily="34" charset="-122"/>
                <a:ea typeface="微软雅黑" panose="020B0503020204020204" pitchFamily="34" charset="-122"/>
              </a:rPr>
              <a:t>0</a:t>
            </a:r>
            <a:r>
              <a:rPr lang="zh-CN" altLang="en-US" sz="2000">
                <a:solidFill>
                  <a:srgbClr val="B7011F"/>
                </a:solidFill>
                <a:latin typeface="微软雅黑" panose="020B0503020204020204" pitchFamily="34" charset="-122"/>
                <a:ea typeface="微软雅黑" panose="020B0503020204020204" pitchFamily="34" charset="-122"/>
              </a:rPr>
              <a:t>、非法指令、内存保护错等：</a:t>
            </a:r>
            <a:r>
              <a:rPr lang="zh-CN" altLang="en-US" sz="2000">
                <a:solidFill>
                  <a:srgbClr val="0066CC"/>
                </a:solidFill>
                <a:latin typeface="微软雅黑" panose="020B0503020204020204" pitchFamily="34" charset="-122"/>
                <a:ea typeface="微软雅黑" panose="020B0503020204020204" pitchFamily="34" charset="-122"/>
              </a:rPr>
              <a:t>终止当前进程。</a:t>
            </a:r>
          </a:p>
        </p:txBody>
      </p:sp>
      <p:sp>
        <p:nvSpPr>
          <p:cNvPr id="709640" name="Rectangle 8">
            <a:extLst>
              <a:ext uri="{FF2B5EF4-FFF2-40B4-BE49-F238E27FC236}">
                <a16:creationId xmlns:a16="http://schemas.microsoft.com/office/drawing/2014/main" id="{34220C19-0A7D-A230-7034-6F68087C58F3}"/>
              </a:ext>
            </a:extLst>
          </p:cNvPr>
          <p:cNvSpPr>
            <a:spLocks noChangeArrowheads="1"/>
          </p:cNvSpPr>
          <p:nvPr/>
        </p:nvSpPr>
        <p:spPr bwMode="auto">
          <a:xfrm>
            <a:off x="6043613" y="4089400"/>
            <a:ext cx="1979612" cy="43656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20000"/>
              </a:spcBef>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200">
                <a:solidFill>
                  <a:schemeClr val="tx1"/>
                </a:solidFill>
                <a:latin typeface="微软雅黑" panose="020B0503020204020204" pitchFamily="34" charset="-122"/>
                <a:ea typeface="微软雅黑" panose="020B0503020204020204" pitchFamily="34" charset="-122"/>
              </a:rPr>
              <a:t>回到下条指令</a:t>
            </a:r>
          </a:p>
        </p:txBody>
      </p:sp>
      <p:sp>
        <p:nvSpPr>
          <p:cNvPr id="709641" name="Text Box 9">
            <a:extLst>
              <a:ext uri="{FF2B5EF4-FFF2-40B4-BE49-F238E27FC236}">
                <a16:creationId xmlns:a16="http://schemas.microsoft.com/office/drawing/2014/main" id="{03DA42A5-B33F-0D91-6E6B-0E5CB1172450}"/>
              </a:ext>
            </a:extLst>
          </p:cNvPr>
          <p:cNvSpPr txBox="1">
            <a:spLocks noChangeArrowheads="1"/>
          </p:cNvSpPr>
          <p:nvPr/>
        </p:nvSpPr>
        <p:spPr bwMode="auto">
          <a:xfrm>
            <a:off x="2971800" y="1581150"/>
            <a:ext cx="4338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“断点”为发生故障的指令的地址</a:t>
            </a:r>
          </a:p>
        </p:txBody>
      </p:sp>
      <p:sp>
        <p:nvSpPr>
          <p:cNvPr id="709642" name="Text Box 10">
            <a:extLst>
              <a:ext uri="{FF2B5EF4-FFF2-40B4-BE49-F238E27FC236}">
                <a16:creationId xmlns:a16="http://schemas.microsoft.com/office/drawing/2014/main" id="{CB9A96E6-6CA7-EBBB-C203-4D1AF0ADEA16}"/>
              </a:ext>
            </a:extLst>
          </p:cNvPr>
          <p:cNvSpPr txBox="1">
            <a:spLocks noChangeArrowheads="1"/>
          </p:cNvSpPr>
          <p:nvPr/>
        </p:nvSpPr>
        <p:spPr bwMode="auto">
          <a:xfrm>
            <a:off x="3082925" y="2713038"/>
            <a:ext cx="3900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0" tIns="0" rIns="0" bIns="0">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“断点”为自陷指令下条指令地址</a:t>
            </a:r>
          </a:p>
        </p:txBody>
      </p:sp>
      <p:sp>
        <p:nvSpPr>
          <p:cNvPr id="709643" name="Text Box 11">
            <a:extLst>
              <a:ext uri="{FF2B5EF4-FFF2-40B4-BE49-F238E27FC236}">
                <a16:creationId xmlns:a16="http://schemas.microsoft.com/office/drawing/2014/main" id="{CCBDCD01-6808-6F2C-73E5-F3477DADC415}"/>
              </a:ext>
            </a:extLst>
          </p:cNvPr>
          <p:cNvSpPr txBox="1">
            <a:spLocks noChangeArrowheads="1"/>
          </p:cNvSpPr>
          <p:nvPr/>
        </p:nvSpPr>
        <p:spPr bwMode="auto">
          <a:xfrm>
            <a:off x="2971800" y="3443288"/>
            <a:ext cx="353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“断点”是什么？ 随便！</a:t>
            </a:r>
          </a:p>
        </p:txBody>
      </p:sp>
      <p:sp>
        <p:nvSpPr>
          <p:cNvPr id="709644" name="Rectangle 12">
            <a:extLst>
              <a:ext uri="{FF2B5EF4-FFF2-40B4-BE49-F238E27FC236}">
                <a16:creationId xmlns:a16="http://schemas.microsoft.com/office/drawing/2014/main" id="{8C000BD0-0271-EDA7-08B1-A1A117674B12}"/>
              </a:ext>
            </a:extLst>
          </p:cNvPr>
          <p:cNvSpPr>
            <a:spLocks noChangeArrowheads="1"/>
          </p:cNvSpPr>
          <p:nvPr/>
        </p:nvSpPr>
        <p:spPr bwMode="auto">
          <a:xfrm>
            <a:off x="461963" y="4110038"/>
            <a:ext cx="56657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200">
                <a:solidFill>
                  <a:srgbClr val="FF0000"/>
                </a:solidFill>
                <a:latin typeface="微软雅黑" panose="020B0503020204020204" pitchFamily="34" charset="-122"/>
                <a:ea typeface="微软雅黑" panose="020B0503020204020204" pitchFamily="34" charset="-122"/>
              </a:rPr>
              <a:t>思考</a:t>
            </a:r>
            <a:r>
              <a:rPr lang="en-US" altLang="zh-CN" sz="2200">
                <a:solidFill>
                  <a:srgbClr val="FF0000"/>
                </a:solidFill>
                <a:latin typeface="微软雅黑" panose="020B0503020204020204" pitchFamily="34" charset="-122"/>
                <a:ea typeface="微软雅黑" panose="020B0503020204020204" pitchFamily="34" charset="-122"/>
              </a:rPr>
              <a:t>1</a:t>
            </a:r>
            <a:r>
              <a:rPr lang="zh-CN" altLang="en-US" sz="2200">
                <a:solidFill>
                  <a:srgbClr val="FF0000"/>
                </a:solidFill>
                <a:latin typeface="微软雅黑" panose="020B0503020204020204" pitchFamily="34" charset="-122"/>
                <a:ea typeface="微软雅黑" panose="020B0503020204020204" pitchFamily="34" charset="-122"/>
              </a:rPr>
              <a:t>：自陷处理完成后回到哪条指令执行？</a:t>
            </a:r>
          </a:p>
        </p:txBody>
      </p:sp>
      <p:sp>
        <p:nvSpPr>
          <p:cNvPr id="11" name="Rectangle 11">
            <a:extLst>
              <a:ext uri="{FF2B5EF4-FFF2-40B4-BE49-F238E27FC236}">
                <a16:creationId xmlns:a16="http://schemas.microsoft.com/office/drawing/2014/main" id="{40C061E1-E909-5064-364A-EAB7217461D4}"/>
              </a:ext>
            </a:extLst>
          </p:cNvPr>
          <p:cNvSpPr>
            <a:spLocks noChangeArrowheads="1"/>
          </p:cNvSpPr>
          <p:nvPr/>
        </p:nvSpPr>
        <p:spPr bwMode="auto">
          <a:xfrm>
            <a:off x="566738" y="1271588"/>
            <a:ext cx="8010525" cy="669925"/>
          </a:xfrm>
          <a:prstGeom prst="rect">
            <a:avLst/>
          </a:prstGeom>
          <a:solidFill>
            <a:schemeClr val="accent1">
              <a:alpha val="25882"/>
            </a:schemeClr>
          </a:solidFill>
          <a:ln w="9525">
            <a:solidFill>
              <a:schemeClr val="tx1"/>
            </a:solidFill>
            <a:miter lim="800000"/>
            <a:headEnd/>
            <a:tailEnd/>
          </a:ln>
        </p:spPr>
        <p:txBody>
          <a:bodyPr wrap="none" anchor="ctr"/>
          <a:lstStyle/>
          <a:p>
            <a:endParaRPr lang="zh-CN" altLang="en-US" sz="1800" b="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9635">
                                            <p:txEl>
                                              <p:pRg st="0" end="0"/>
                                            </p:txEl>
                                          </p:spTgt>
                                        </p:tgtEl>
                                        <p:attrNameLst>
                                          <p:attrName>style.visibility</p:attrName>
                                        </p:attrNameLst>
                                      </p:cBhvr>
                                      <p:to>
                                        <p:strVal val="visible"/>
                                      </p:to>
                                    </p:set>
                                    <p:animEffect transition="in" filter="blinds(horizontal)">
                                      <p:cBhvr>
                                        <p:cTn id="7" dur="500"/>
                                        <p:tgtEl>
                                          <p:spTgt spid="709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9635">
                                            <p:txEl>
                                              <p:pRg st="1" end="1"/>
                                            </p:txEl>
                                          </p:spTgt>
                                        </p:tgtEl>
                                        <p:attrNameLst>
                                          <p:attrName>style.visibility</p:attrName>
                                        </p:attrNameLst>
                                      </p:cBhvr>
                                      <p:to>
                                        <p:strVal val="visible"/>
                                      </p:to>
                                    </p:set>
                                    <p:animEffect transition="in" filter="blinds(horizontal)">
                                      <p:cBhvr>
                                        <p:cTn id="12" dur="500"/>
                                        <p:tgtEl>
                                          <p:spTgt spid="7096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09635">
                                            <p:txEl>
                                              <p:pRg st="2" end="2"/>
                                            </p:txEl>
                                          </p:spTgt>
                                        </p:tgtEl>
                                        <p:attrNameLst>
                                          <p:attrName>style.visibility</p:attrName>
                                        </p:attrNameLst>
                                      </p:cBhvr>
                                      <p:to>
                                        <p:strVal val="visible"/>
                                      </p:to>
                                    </p:set>
                                    <p:animEffect transition="in" filter="blinds(horizontal)">
                                      <p:cBhvr>
                                        <p:cTn id="17" dur="500"/>
                                        <p:tgtEl>
                                          <p:spTgt spid="7096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09635">
                                            <p:txEl>
                                              <p:pRg st="4" end="4"/>
                                            </p:txEl>
                                          </p:spTgt>
                                        </p:tgtEl>
                                        <p:attrNameLst>
                                          <p:attrName>style.visibility</p:attrName>
                                        </p:attrNameLst>
                                      </p:cBhvr>
                                      <p:to>
                                        <p:strVal val="visible"/>
                                      </p:to>
                                    </p:set>
                                    <p:animEffect transition="in" filter="blinds(horizontal)">
                                      <p:cBhvr>
                                        <p:cTn id="22" dur="500"/>
                                        <p:tgtEl>
                                          <p:spTgt spid="70963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09644"/>
                                        </p:tgtEl>
                                        <p:attrNameLst>
                                          <p:attrName>style.visibility</p:attrName>
                                        </p:attrNameLst>
                                      </p:cBhvr>
                                      <p:to>
                                        <p:strVal val="visible"/>
                                      </p:to>
                                    </p:set>
                                    <p:animEffect transition="in" filter="blinds(horizontal)">
                                      <p:cBhvr>
                                        <p:cTn id="27" dur="500"/>
                                        <p:tgtEl>
                                          <p:spTgt spid="7096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09640"/>
                                        </p:tgtEl>
                                        <p:attrNameLst>
                                          <p:attrName>style.visibility</p:attrName>
                                        </p:attrNameLst>
                                      </p:cBhvr>
                                      <p:to>
                                        <p:strVal val="visible"/>
                                      </p:to>
                                    </p:set>
                                    <p:animEffect transition="in" filter="blinds(horizontal)">
                                      <p:cBhvr>
                                        <p:cTn id="32" dur="500"/>
                                        <p:tgtEl>
                                          <p:spTgt spid="7096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09638">
                                            <p:txEl>
                                              <p:pRg st="0" end="0"/>
                                            </p:txEl>
                                          </p:spTgt>
                                        </p:tgtEl>
                                        <p:attrNameLst>
                                          <p:attrName>style.visibility</p:attrName>
                                        </p:attrNameLst>
                                      </p:cBhvr>
                                      <p:to>
                                        <p:strVal val="visible"/>
                                      </p:to>
                                    </p:set>
                                    <p:animEffect transition="in" filter="blinds(horizontal)">
                                      <p:cBhvr>
                                        <p:cTn id="37" dur="500"/>
                                        <p:tgtEl>
                                          <p:spTgt spid="709638">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09638">
                                            <p:txEl>
                                              <p:pRg st="1" end="1"/>
                                            </p:txEl>
                                          </p:spTgt>
                                        </p:tgtEl>
                                        <p:attrNameLst>
                                          <p:attrName>style.visibility</p:attrName>
                                        </p:attrNameLst>
                                      </p:cBhvr>
                                      <p:to>
                                        <p:strVal val="visible"/>
                                      </p:to>
                                    </p:set>
                                    <p:animEffect transition="in" filter="blinds(horizontal)">
                                      <p:cBhvr>
                                        <p:cTn id="42" dur="500"/>
                                        <p:tgtEl>
                                          <p:spTgt spid="709638">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09638">
                                            <p:txEl>
                                              <p:pRg st="2" end="2"/>
                                            </p:txEl>
                                          </p:spTgt>
                                        </p:tgtEl>
                                        <p:attrNameLst>
                                          <p:attrName>style.visibility</p:attrName>
                                        </p:attrNameLst>
                                      </p:cBhvr>
                                      <p:to>
                                        <p:strVal val="visible"/>
                                      </p:to>
                                    </p:set>
                                    <p:animEffect transition="in" filter="blinds(horizontal)">
                                      <p:cBhvr>
                                        <p:cTn id="47" dur="500"/>
                                        <p:tgtEl>
                                          <p:spTgt spid="709638">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09636"/>
                                        </p:tgtEl>
                                        <p:attrNameLst>
                                          <p:attrName>style.visibility</p:attrName>
                                        </p:attrNameLst>
                                      </p:cBhvr>
                                      <p:to>
                                        <p:strVal val="visible"/>
                                      </p:to>
                                    </p:set>
                                    <p:animEffect transition="in" filter="blinds(horizontal)">
                                      <p:cBhvr>
                                        <p:cTn id="52" dur="500"/>
                                        <p:tgtEl>
                                          <p:spTgt spid="70963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09641"/>
                                        </p:tgtEl>
                                        <p:attrNameLst>
                                          <p:attrName>style.visibility</p:attrName>
                                        </p:attrNameLst>
                                      </p:cBhvr>
                                      <p:to>
                                        <p:strVal val="visible"/>
                                      </p:to>
                                    </p:set>
                                    <p:animEffect transition="in" filter="blinds(horizontal)">
                                      <p:cBhvr>
                                        <p:cTn id="57" dur="500"/>
                                        <p:tgtEl>
                                          <p:spTgt spid="7096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709642">
                                            <p:txEl>
                                              <p:pRg st="0" end="0"/>
                                            </p:txEl>
                                          </p:spTgt>
                                        </p:tgtEl>
                                        <p:attrNameLst>
                                          <p:attrName>style.visibility</p:attrName>
                                        </p:attrNameLst>
                                      </p:cBhvr>
                                      <p:to>
                                        <p:strVal val="visible"/>
                                      </p:to>
                                    </p:set>
                                    <p:animEffect transition="in" filter="blinds(horizontal)">
                                      <p:cBhvr>
                                        <p:cTn id="62" dur="500"/>
                                        <p:tgtEl>
                                          <p:spTgt spid="709642">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09643"/>
                                        </p:tgtEl>
                                        <p:attrNameLst>
                                          <p:attrName>style.visibility</p:attrName>
                                        </p:attrNameLst>
                                      </p:cBhvr>
                                      <p:to>
                                        <p:strVal val="visible"/>
                                      </p:to>
                                    </p:set>
                                    <p:animEffect transition="in" filter="blinds(horizontal)">
                                      <p:cBhvr>
                                        <p:cTn id="67" dur="500"/>
                                        <p:tgtEl>
                                          <p:spTgt spid="70964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randombar(horizontal)">
                                      <p:cBhvr>
                                        <p:cTn id="7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6" grpId="0" animBg="1"/>
      <p:bldP spid="709640" grpId="0" animBg="1"/>
      <p:bldP spid="709641" grpId="0"/>
      <p:bldP spid="709643" grpId="0"/>
      <p:bldP spid="709644" grpId="0"/>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1AC2991D-88B3-BFCA-83D7-D70C377DF57B}"/>
              </a:ext>
            </a:extLst>
          </p:cNvPr>
          <p:cNvSpPr>
            <a:spLocks noGrp="1" noChangeArrowheads="1"/>
          </p:cNvSpPr>
          <p:nvPr>
            <p:ph type="title"/>
          </p:nvPr>
        </p:nvSpPr>
        <p:spPr>
          <a:xfrm>
            <a:off x="711200" y="114300"/>
            <a:ext cx="7867650" cy="373063"/>
          </a:xfrm>
        </p:spPr>
        <p:txBody>
          <a:bodyPr/>
          <a:lstStyle/>
          <a:p>
            <a:r>
              <a:rPr lang="zh-CN" altLang="en-US">
                <a:ea typeface="宋体" panose="02010600030101010101" pitchFamily="2" charset="-122"/>
              </a:rPr>
              <a:t>故障（</a:t>
            </a:r>
            <a:r>
              <a:rPr lang="en-US" altLang="zh-CN">
                <a:ea typeface="宋体" panose="02010600030101010101" pitchFamily="2" charset="-122"/>
              </a:rPr>
              <a:t>fault</a:t>
            </a:r>
            <a:r>
              <a:rPr lang="zh-CN" altLang="en-US">
                <a:ea typeface="宋体" panose="02010600030101010101" pitchFamily="2" charset="-122"/>
              </a:rPr>
              <a:t>）异常</a:t>
            </a:r>
          </a:p>
        </p:txBody>
      </p:sp>
      <p:sp>
        <p:nvSpPr>
          <p:cNvPr id="763907" name="Rectangle 3">
            <a:extLst>
              <a:ext uri="{FF2B5EF4-FFF2-40B4-BE49-F238E27FC236}">
                <a16:creationId xmlns:a16="http://schemas.microsoft.com/office/drawing/2014/main" id="{3342B26A-32A1-F0A3-79C0-7817F1454606}"/>
              </a:ext>
            </a:extLst>
          </p:cNvPr>
          <p:cNvSpPr>
            <a:spLocks noGrp="1" noChangeArrowheads="1"/>
          </p:cNvSpPr>
          <p:nvPr>
            <p:ph idx="1"/>
          </p:nvPr>
        </p:nvSpPr>
        <p:spPr>
          <a:xfrm>
            <a:off x="498475" y="3600450"/>
            <a:ext cx="8229600" cy="2590800"/>
          </a:xfrm>
        </p:spPr>
        <p:txBody>
          <a:bodyPr/>
          <a:lstStyle/>
          <a:p>
            <a:pPr>
              <a:lnSpc>
                <a:spcPct val="110000"/>
              </a:lnSpc>
              <a:spcBef>
                <a:spcPct val="15000"/>
              </a:spcBef>
            </a:pPr>
            <a:r>
              <a:rPr lang="zh-CN" altLang="en-US" sz="2200">
                <a:solidFill>
                  <a:srgbClr val="388A36"/>
                </a:solidFill>
                <a:latin typeface="微软雅黑" panose="020B0503020204020204" pitchFamily="34" charset="-122"/>
                <a:ea typeface="微软雅黑" panose="020B0503020204020204" pitchFamily="34" charset="-122"/>
              </a:rPr>
              <a:t>以下几种情况都会发生“页故障”</a:t>
            </a:r>
          </a:p>
          <a:p>
            <a:pPr lvl="1">
              <a:lnSpc>
                <a:spcPct val="110000"/>
              </a:lnSpc>
              <a:spcBef>
                <a:spcPct val="15000"/>
              </a:spcBef>
            </a:pPr>
            <a:r>
              <a:rPr lang="zh-CN" altLang="en-US" sz="2100">
                <a:solidFill>
                  <a:srgbClr val="00B0F0"/>
                </a:solidFill>
                <a:latin typeface="微软雅黑" panose="020B0503020204020204" pitchFamily="34" charset="-122"/>
                <a:ea typeface="微软雅黑" panose="020B0503020204020204" pitchFamily="34" charset="-122"/>
              </a:rPr>
              <a:t>缺页：页表项有效位为</a:t>
            </a:r>
            <a:r>
              <a:rPr lang="en-US" altLang="zh-CN" sz="2100">
                <a:solidFill>
                  <a:srgbClr val="00B0F0"/>
                </a:solidFill>
                <a:latin typeface="微软雅黑" panose="020B0503020204020204" pitchFamily="34" charset="-122"/>
                <a:ea typeface="微软雅黑" panose="020B0503020204020204" pitchFamily="34" charset="-122"/>
              </a:rPr>
              <a:t>0</a:t>
            </a:r>
          </a:p>
          <a:p>
            <a:pPr lvl="1">
              <a:lnSpc>
                <a:spcPct val="110000"/>
              </a:lnSpc>
              <a:spcBef>
                <a:spcPct val="15000"/>
              </a:spcBef>
            </a:pPr>
            <a:r>
              <a:rPr lang="zh-CN" altLang="en-US" sz="2100">
                <a:solidFill>
                  <a:srgbClr val="00B0F0"/>
                </a:solidFill>
                <a:latin typeface="微软雅黑" panose="020B0503020204020204" pitchFamily="34" charset="-122"/>
                <a:ea typeface="微软雅黑" panose="020B0503020204020204" pitchFamily="34" charset="-122"/>
              </a:rPr>
              <a:t>地址越界：地址大于最大界限</a:t>
            </a:r>
          </a:p>
          <a:p>
            <a:pPr lvl="1">
              <a:lnSpc>
                <a:spcPct val="110000"/>
              </a:lnSpc>
              <a:spcBef>
                <a:spcPct val="15000"/>
              </a:spcBef>
            </a:pPr>
            <a:r>
              <a:rPr lang="zh-CN" altLang="en-US" sz="2100">
                <a:solidFill>
                  <a:srgbClr val="00B0F0"/>
                </a:solidFill>
                <a:latin typeface="微软雅黑" panose="020B0503020204020204" pitchFamily="34" charset="-122"/>
                <a:ea typeface="微软雅黑" panose="020B0503020204020204" pitchFamily="34" charset="-122"/>
              </a:rPr>
              <a:t>访问越级或越权（保护违例）：</a:t>
            </a:r>
          </a:p>
          <a:p>
            <a:pPr lvl="2">
              <a:lnSpc>
                <a:spcPct val="110000"/>
              </a:lnSpc>
              <a:spcBef>
                <a:spcPct val="15000"/>
              </a:spcBef>
            </a:pPr>
            <a:r>
              <a:rPr lang="zh-CN" altLang="en-US" sz="2100">
                <a:solidFill>
                  <a:srgbClr val="FF0000"/>
                </a:solidFill>
                <a:latin typeface="微软雅黑" panose="020B0503020204020204" pitchFamily="34" charset="-122"/>
                <a:ea typeface="微软雅黑" panose="020B0503020204020204" pitchFamily="34" charset="-122"/>
              </a:rPr>
              <a:t>越级：</a:t>
            </a:r>
            <a:r>
              <a:rPr lang="zh-CN" altLang="en-US" sz="2100">
                <a:latin typeface="微软雅黑" panose="020B0503020204020204" pitchFamily="34" charset="-122"/>
                <a:ea typeface="微软雅黑" panose="020B0503020204020204" pitchFamily="34" charset="-122"/>
              </a:rPr>
              <a:t>用户进程访问内核数据</a:t>
            </a:r>
            <a:endParaRPr lang="en-US" altLang="zh-CN" sz="2100">
              <a:latin typeface="微软雅黑" panose="020B0503020204020204" pitchFamily="34" charset="-122"/>
              <a:ea typeface="微软雅黑" panose="020B0503020204020204" pitchFamily="34" charset="-122"/>
            </a:endParaRPr>
          </a:p>
          <a:p>
            <a:pPr lvl="2">
              <a:lnSpc>
                <a:spcPct val="110000"/>
              </a:lnSpc>
              <a:spcBef>
                <a:spcPct val="15000"/>
              </a:spcBef>
            </a:pPr>
            <a:r>
              <a:rPr lang="zh-CN" altLang="en-US" sz="2100">
                <a:solidFill>
                  <a:srgbClr val="FF0000"/>
                </a:solidFill>
                <a:latin typeface="微软雅黑" panose="020B0503020204020204" pitchFamily="34" charset="-122"/>
                <a:ea typeface="微软雅黑" panose="020B0503020204020204" pitchFamily="34" charset="-122"/>
              </a:rPr>
              <a:t>越权：</a:t>
            </a:r>
            <a:r>
              <a:rPr lang="zh-CN" altLang="en-US" sz="2100">
                <a:latin typeface="微软雅黑" panose="020B0503020204020204" pitchFamily="34" charset="-122"/>
                <a:ea typeface="微软雅黑" panose="020B0503020204020204" pitchFamily="34" charset="-122"/>
              </a:rPr>
              <a:t>读写权限不相符（如对只读段进行了写操作）</a:t>
            </a:r>
          </a:p>
        </p:txBody>
      </p:sp>
      <p:grpSp>
        <p:nvGrpSpPr>
          <p:cNvPr id="763910" name="Group 6">
            <a:extLst>
              <a:ext uri="{FF2B5EF4-FFF2-40B4-BE49-F238E27FC236}">
                <a16:creationId xmlns:a16="http://schemas.microsoft.com/office/drawing/2014/main" id="{A8CEC27E-ED76-4612-7CDE-B1483F183B5D}"/>
              </a:ext>
            </a:extLst>
          </p:cNvPr>
          <p:cNvGrpSpPr>
            <a:grpSpLocks/>
          </p:cNvGrpSpPr>
          <p:nvPr/>
        </p:nvGrpSpPr>
        <p:grpSpPr bwMode="auto">
          <a:xfrm>
            <a:off x="4370388" y="4025900"/>
            <a:ext cx="4070350" cy="396875"/>
            <a:chOff x="2743" y="787"/>
            <a:chExt cx="2564" cy="250"/>
          </a:xfrm>
        </p:grpSpPr>
        <p:sp>
          <p:nvSpPr>
            <p:cNvPr id="45060" name="Rectangle 4">
              <a:extLst>
                <a:ext uri="{FF2B5EF4-FFF2-40B4-BE49-F238E27FC236}">
                  <a16:creationId xmlns:a16="http://schemas.microsoft.com/office/drawing/2014/main" id="{FE76F5EA-8A5E-4A22-7505-95E7E3F65EE0}"/>
                </a:ext>
              </a:extLst>
            </p:cNvPr>
            <p:cNvSpPr>
              <a:spLocks noChangeArrowheads="1"/>
            </p:cNvSpPr>
            <p:nvPr/>
          </p:nvSpPr>
          <p:spPr bwMode="auto">
            <a:xfrm>
              <a:off x="3198" y="787"/>
              <a:ext cx="21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FF0000"/>
                  </a:solidFill>
                  <a:ea typeface="微软雅黑" panose="020B0503020204020204" pitchFamily="34" charset="-122"/>
                </a:rPr>
                <a:t>可通过读文件恢复故障</a:t>
              </a:r>
            </a:p>
          </p:txBody>
        </p:sp>
        <p:sp>
          <p:nvSpPr>
            <p:cNvPr id="45061" name="Line 5">
              <a:extLst>
                <a:ext uri="{FF2B5EF4-FFF2-40B4-BE49-F238E27FC236}">
                  <a16:creationId xmlns:a16="http://schemas.microsoft.com/office/drawing/2014/main" id="{0E07C2A9-ED86-D843-7F54-608EFD57BD96}"/>
                </a:ext>
              </a:extLst>
            </p:cNvPr>
            <p:cNvSpPr>
              <a:spLocks noChangeShapeType="1"/>
            </p:cNvSpPr>
            <p:nvPr/>
          </p:nvSpPr>
          <p:spPr bwMode="auto">
            <a:xfrm flipH="1" flipV="1">
              <a:off x="2743" y="923"/>
              <a:ext cx="449" cy="1"/>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63914" name="Group 10">
            <a:extLst>
              <a:ext uri="{FF2B5EF4-FFF2-40B4-BE49-F238E27FC236}">
                <a16:creationId xmlns:a16="http://schemas.microsoft.com/office/drawing/2014/main" id="{F83222CA-8168-FF8D-85B2-2E5C4B98F741}"/>
              </a:ext>
            </a:extLst>
          </p:cNvPr>
          <p:cNvGrpSpPr>
            <a:grpSpLocks/>
          </p:cNvGrpSpPr>
          <p:nvPr/>
        </p:nvGrpSpPr>
        <p:grpSpPr bwMode="auto">
          <a:xfrm>
            <a:off x="5110163" y="4387850"/>
            <a:ext cx="3489325" cy="842963"/>
            <a:chOff x="3200" y="1206"/>
            <a:chExt cx="2198" cy="531"/>
          </a:xfrm>
        </p:grpSpPr>
        <p:sp>
          <p:nvSpPr>
            <p:cNvPr id="45063" name="Rectangle 7">
              <a:extLst>
                <a:ext uri="{FF2B5EF4-FFF2-40B4-BE49-F238E27FC236}">
                  <a16:creationId xmlns:a16="http://schemas.microsoft.com/office/drawing/2014/main" id="{8FBF3FAE-800E-F344-72D1-C60E4E5BAF94}"/>
                </a:ext>
              </a:extLst>
            </p:cNvPr>
            <p:cNvSpPr>
              <a:spLocks noChangeArrowheads="1"/>
            </p:cNvSpPr>
            <p:nvPr/>
          </p:nvSpPr>
          <p:spPr bwMode="auto">
            <a:xfrm>
              <a:off x="3476" y="1263"/>
              <a:ext cx="192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2100">
                  <a:solidFill>
                    <a:srgbClr val="FF0000"/>
                  </a:solidFill>
                  <a:ea typeface="微软雅黑" panose="020B0503020204020204" pitchFamily="34" charset="-122"/>
                </a:rPr>
                <a:t>不可恢复，称为</a:t>
              </a:r>
              <a:r>
                <a:rPr lang="zh-CN" altLang="fr-FR" sz="2100">
                  <a:solidFill>
                    <a:srgbClr val="FF0000"/>
                  </a:solidFill>
                  <a:latin typeface="微软雅黑" panose="020B0503020204020204" pitchFamily="34" charset="-122"/>
                  <a:ea typeface="微软雅黑" panose="020B0503020204020204" pitchFamily="34" charset="-122"/>
                </a:rPr>
                <a:t>“</a:t>
              </a:r>
              <a:r>
                <a:rPr lang="zh-CN" altLang="fr-FR" sz="2100">
                  <a:solidFill>
                    <a:srgbClr val="FF0000"/>
                  </a:solidFill>
                  <a:ea typeface="微软雅黑" panose="020B0503020204020204" pitchFamily="34" charset="-122"/>
                </a:rPr>
                <a:t>段故障（</a:t>
              </a:r>
              <a:r>
                <a:rPr lang="fr-FR" altLang="zh-CN" sz="2100">
                  <a:solidFill>
                    <a:srgbClr val="FF0000"/>
                  </a:solidFill>
                  <a:ea typeface="微软雅黑" panose="020B0503020204020204" pitchFamily="34" charset="-122"/>
                </a:rPr>
                <a:t>segmentation fault</a:t>
              </a:r>
              <a:r>
                <a:rPr lang="zh-CN" altLang="fr-FR" sz="2100">
                  <a:solidFill>
                    <a:srgbClr val="FF0000"/>
                  </a:solidFill>
                  <a:ea typeface="微软雅黑" panose="020B0503020204020204" pitchFamily="34" charset="-122"/>
                </a:rPr>
                <a:t>）</a:t>
              </a:r>
              <a:r>
                <a:rPr lang="zh-CN" altLang="fr-FR" sz="2100">
                  <a:solidFill>
                    <a:srgbClr val="FF0000"/>
                  </a:solidFill>
                  <a:latin typeface="微软雅黑" panose="020B0503020204020204" pitchFamily="34" charset="-122"/>
                  <a:ea typeface="微软雅黑" panose="020B0503020204020204" pitchFamily="34" charset="-122"/>
                </a:rPr>
                <a:t>”</a:t>
              </a:r>
              <a:r>
                <a:rPr lang="zh-CN" altLang="fr-FR" sz="2100">
                  <a:solidFill>
                    <a:srgbClr val="FF0000"/>
                  </a:solidFill>
                  <a:ea typeface="微软雅黑" panose="020B0503020204020204" pitchFamily="34" charset="-122"/>
                </a:rPr>
                <a:t> </a:t>
              </a:r>
              <a:endParaRPr lang="zh-CN" altLang="en-US" sz="2100">
                <a:solidFill>
                  <a:srgbClr val="FF0000"/>
                </a:solidFill>
                <a:ea typeface="微软雅黑" panose="020B0503020204020204" pitchFamily="34" charset="-122"/>
              </a:endParaRPr>
            </a:p>
          </p:txBody>
        </p:sp>
        <p:sp>
          <p:nvSpPr>
            <p:cNvPr id="45064" name="AutoShape 8">
              <a:extLst>
                <a:ext uri="{FF2B5EF4-FFF2-40B4-BE49-F238E27FC236}">
                  <a16:creationId xmlns:a16="http://schemas.microsoft.com/office/drawing/2014/main" id="{A798A744-185B-6F08-96B9-515059B654E0}"/>
                </a:ext>
              </a:extLst>
            </p:cNvPr>
            <p:cNvSpPr>
              <a:spLocks/>
            </p:cNvSpPr>
            <p:nvPr/>
          </p:nvSpPr>
          <p:spPr bwMode="auto">
            <a:xfrm>
              <a:off x="3200" y="1206"/>
              <a:ext cx="192" cy="531"/>
            </a:xfrm>
            <a:prstGeom prst="rightBrace">
              <a:avLst>
                <a:gd name="adj1" fmla="val 22996"/>
                <a:gd name="adj2" fmla="val 50000"/>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800" b="0">
                <a:solidFill>
                  <a:schemeClr val="tx1"/>
                </a:solidFill>
              </a:endParaRPr>
            </a:p>
          </p:txBody>
        </p:sp>
      </p:grpSp>
      <p:sp>
        <p:nvSpPr>
          <p:cNvPr id="45065" name="Text Box 11">
            <a:extLst>
              <a:ext uri="{FF2B5EF4-FFF2-40B4-BE49-F238E27FC236}">
                <a16:creationId xmlns:a16="http://schemas.microsoft.com/office/drawing/2014/main" id="{6EB97CED-868E-ECC4-2FCF-AA9C2737A134}"/>
              </a:ext>
            </a:extLst>
          </p:cNvPr>
          <p:cNvSpPr txBox="1">
            <a:spLocks noChangeArrowheads="1"/>
          </p:cNvSpPr>
          <p:nvPr/>
        </p:nvSpPr>
        <p:spPr bwMode="auto">
          <a:xfrm>
            <a:off x="196850" y="1423988"/>
            <a:ext cx="55737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a:solidFill>
                  <a:schemeClr val="tx1"/>
                </a:solidFill>
                <a:latin typeface="微软雅黑" panose="020B0503020204020204" pitchFamily="34" charset="-122"/>
                <a:ea typeface="微软雅黑" panose="020B0503020204020204" pitchFamily="34" charset="-122"/>
              </a:rPr>
              <a:t>“</a:t>
            </a:r>
            <a:r>
              <a:rPr lang="zh-CN" altLang="en-US" sz="2200">
                <a:solidFill>
                  <a:schemeClr val="tx1"/>
                </a:solidFill>
                <a:ea typeface="微软雅黑" panose="020B0503020204020204" pitchFamily="34" charset="-122"/>
              </a:rPr>
              <a:t>除数为</a:t>
            </a:r>
            <a:r>
              <a:rPr lang="en-US" altLang="zh-CN" sz="2200">
                <a:solidFill>
                  <a:schemeClr val="tx1"/>
                </a:solidFill>
                <a:ea typeface="微软雅黑" panose="020B0503020204020204" pitchFamily="34" charset="-122"/>
              </a:rPr>
              <a:t>0</a:t>
            </a:r>
            <a:r>
              <a:rPr lang="zh-CN" altLang="en-US" sz="2200">
                <a:solidFill>
                  <a:schemeClr val="tx1"/>
                </a:solidFill>
                <a:latin typeface="微软雅黑" panose="020B0503020204020204" pitchFamily="34" charset="-122"/>
                <a:ea typeface="微软雅黑" panose="020B0503020204020204" pitchFamily="34" charset="-122"/>
              </a:rPr>
              <a:t>”</a:t>
            </a:r>
            <a:r>
              <a:rPr lang="zh-CN" altLang="en-US" sz="2200">
                <a:solidFill>
                  <a:schemeClr val="tx1"/>
                </a:solidFill>
                <a:ea typeface="微软雅黑" panose="020B0503020204020204" pitchFamily="34" charset="-122"/>
              </a:rPr>
              <a:t>故障何时发现？如何发现？</a:t>
            </a:r>
          </a:p>
        </p:txBody>
      </p:sp>
      <p:sp>
        <p:nvSpPr>
          <p:cNvPr id="763917" name="Text Box 13">
            <a:extLst>
              <a:ext uri="{FF2B5EF4-FFF2-40B4-BE49-F238E27FC236}">
                <a16:creationId xmlns:a16="http://schemas.microsoft.com/office/drawing/2014/main" id="{90ABC0BF-C475-5F49-56AB-6C82569FC1BB}"/>
              </a:ext>
            </a:extLst>
          </p:cNvPr>
          <p:cNvSpPr txBox="1">
            <a:spLocks noChangeArrowheads="1"/>
          </p:cNvSpPr>
          <p:nvPr/>
        </p:nvSpPr>
        <p:spPr bwMode="auto">
          <a:xfrm>
            <a:off x="385763" y="1893888"/>
            <a:ext cx="805497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100">
                <a:solidFill>
                  <a:srgbClr val="0000CC"/>
                </a:solidFill>
                <a:latin typeface="微软雅黑" panose="020B0503020204020204" pitchFamily="34" charset="-122"/>
                <a:ea typeface="微软雅黑" panose="020B0503020204020204" pitchFamily="34" charset="-122"/>
              </a:rPr>
              <a:t>执行除法指令时，会先判断除数是否为</a:t>
            </a:r>
            <a:r>
              <a:rPr lang="en-US" altLang="zh-CN" sz="2100">
                <a:solidFill>
                  <a:srgbClr val="0000CC"/>
                </a:solidFill>
                <a:latin typeface="微软雅黑" panose="020B0503020204020204" pitchFamily="34" charset="-122"/>
                <a:ea typeface="微软雅黑" panose="020B0503020204020204" pitchFamily="34" charset="-122"/>
              </a:rPr>
              <a:t>0</a:t>
            </a:r>
            <a:endParaRPr lang="zh-CN" altLang="en-US" sz="2100">
              <a:solidFill>
                <a:srgbClr val="0000CC"/>
              </a:solidFill>
              <a:latin typeface="微软雅黑" panose="020B0503020204020204" pitchFamily="34" charset="-122"/>
              <a:ea typeface="微软雅黑" panose="020B0503020204020204" pitchFamily="34" charset="-122"/>
            </a:endParaRPr>
          </a:p>
          <a:p>
            <a:pPr>
              <a:spcBef>
                <a:spcPct val="20000"/>
              </a:spcBef>
            </a:pPr>
            <a:r>
              <a:rPr lang="zh-CN" altLang="en-US" sz="2100">
                <a:solidFill>
                  <a:srgbClr val="0000CC"/>
                </a:solidFill>
                <a:latin typeface="微软雅黑" panose="020B0503020204020204" pitchFamily="34" charset="-122"/>
                <a:ea typeface="微软雅黑" panose="020B0503020204020204" pitchFamily="34" charset="-122"/>
              </a:rPr>
              <a:t>因此，硬件（</a:t>
            </a:r>
            <a:r>
              <a:rPr lang="en-US" altLang="zh-CN" sz="2100">
                <a:solidFill>
                  <a:srgbClr val="0000CC"/>
                </a:solidFill>
                <a:latin typeface="微软雅黑" panose="020B0503020204020204" pitchFamily="34" charset="-122"/>
                <a:ea typeface="微软雅黑" panose="020B0503020204020204" pitchFamily="34" charset="-122"/>
              </a:rPr>
              <a:t>CPU</a:t>
            </a:r>
            <a:r>
              <a:rPr lang="zh-CN" altLang="en-US" sz="2100">
                <a:solidFill>
                  <a:srgbClr val="0000CC"/>
                </a:solidFill>
                <a:latin typeface="微软雅黑" panose="020B0503020204020204" pitchFamily="34" charset="-122"/>
                <a:ea typeface="微软雅黑" panose="020B0503020204020204" pitchFamily="34" charset="-122"/>
              </a:rPr>
              <a:t>）在执行指令时发现“除数为</a:t>
            </a:r>
            <a:r>
              <a:rPr lang="en-US" altLang="zh-CN" sz="2100">
                <a:solidFill>
                  <a:srgbClr val="0000CC"/>
                </a:solidFill>
                <a:latin typeface="微软雅黑" panose="020B0503020204020204" pitchFamily="34" charset="-122"/>
                <a:ea typeface="微软雅黑" panose="020B0503020204020204" pitchFamily="34" charset="-122"/>
              </a:rPr>
              <a:t>0</a:t>
            </a:r>
            <a:r>
              <a:rPr lang="zh-CN" altLang="en-US" sz="2100">
                <a:solidFill>
                  <a:srgbClr val="0000CC"/>
                </a:solidFill>
                <a:latin typeface="微软雅黑" panose="020B0503020204020204" pitchFamily="34" charset="-122"/>
                <a:ea typeface="微软雅黑" panose="020B0503020204020204" pitchFamily="34" charset="-122"/>
              </a:rPr>
              <a:t>”故障！</a:t>
            </a:r>
          </a:p>
        </p:txBody>
      </p:sp>
      <p:sp>
        <p:nvSpPr>
          <p:cNvPr id="45067" name="Text Box 14">
            <a:extLst>
              <a:ext uri="{FF2B5EF4-FFF2-40B4-BE49-F238E27FC236}">
                <a16:creationId xmlns:a16="http://schemas.microsoft.com/office/drawing/2014/main" id="{75996647-EA7E-AD4A-A2D0-E15894F7AD65}"/>
              </a:ext>
            </a:extLst>
          </p:cNvPr>
          <p:cNvSpPr txBox="1">
            <a:spLocks noChangeArrowheads="1"/>
          </p:cNvSpPr>
          <p:nvPr/>
        </p:nvSpPr>
        <p:spPr bwMode="auto">
          <a:xfrm>
            <a:off x="196850" y="2733675"/>
            <a:ext cx="72564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a:solidFill>
                  <a:schemeClr val="tx1"/>
                </a:solidFill>
                <a:latin typeface="微软雅黑" panose="020B0503020204020204" pitchFamily="34" charset="-122"/>
                <a:ea typeface="微软雅黑" panose="020B0503020204020204" pitchFamily="34" charset="-122"/>
              </a:rPr>
              <a:t>“</a:t>
            </a:r>
            <a:r>
              <a:rPr lang="zh-CN" altLang="en-US" sz="2200">
                <a:solidFill>
                  <a:schemeClr val="tx1"/>
                </a:solidFill>
                <a:ea typeface="微软雅黑" panose="020B0503020204020204" pitchFamily="34" charset="-122"/>
              </a:rPr>
              <a:t>页故障</a:t>
            </a:r>
            <a:r>
              <a:rPr lang="zh-CN" altLang="en-US" sz="2200">
                <a:solidFill>
                  <a:schemeClr val="tx1"/>
                </a:solidFill>
                <a:latin typeface="微软雅黑" panose="020B0503020204020204" pitchFamily="34" charset="-122"/>
                <a:ea typeface="微软雅黑" panose="020B0503020204020204" pitchFamily="34" charset="-122"/>
              </a:rPr>
              <a:t>”</a:t>
            </a:r>
            <a:r>
              <a:rPr lang="zh-CN" altLang="en-US" sz="2200">
                <a:solidFill>
                  <a:schemeClr val="tx1"/>
                </a:solidFill>
                <a:ea typeface="微软雅黑" panose="020B0503020204020204" pitchFamily="34" charset="-122"/>
              </a:rPr>
              <a:t>事件是软件发现的还是硬件发现的？</a:t>
            </a:r>
          </a:p>
        </p:txBody>
      </p:sp>
      <p:sp>
        <p:nvSpPr>
          <p:cNvPr id="763919" name="Text Box 15">
            <a:extLst>
              <a:ext uri="{FF2B5EF4-FFF2-40B4-BE49-F238E27FC236}">
                <a16:creationId xmlns:a16="http://schemas.microsoft.com/office/drawing/2014/main" id="{B3109AA4-F5EB-EE2E-EF39-51A549659334}"/>
              </a:ext>
            </a:extLst>
          </p:cNvPr>
          <p:cNvSpPr txBox="1">
            <a:spLocks noChangeArrowheads="1"/>
          </p:cNvSpPr>
          <p:nvPr/>
        </p:nvSpPr>
        <p:spPr bwMode="auto">
          <a:xfrm>
            <a:off x="417513" y="3135313"/>
            <a:ext cx="852963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20000"/>
              </a:spcBef>
            </a:pPr>
            <a:r>
              <a:rPr lang="zh-CN" altLang="en-US" sz="2100">
                <a:latin typeface="微软雅黑" panose="020B0503020204020204" pitchFamily="34" charset="-122"/>
                <a:ea typeface="微软雅黑" panose="020B0503020204020204" pitchFamily="34" charset="-122"/>
              </a:rPr>
              <a:t>逻辑地址向物理地址的转换由硬件实现，故“页故障”事件由硬件发现</a:t>
            </a:r>
            <a:endParaRPr lang="zh-CN" altLang="en-US" sz="2100">
              <a:solidFill>
                <a:srgbClr val="FF0000"/>
              </a:solidFill>
              <a:latin typeface="微软雅黑" panose="020B0503020204020204" pitchFamily="34" charset="-122"/>
              <a:ea typeface="微软雅黑" panose="020B0503020204020204" pitchFamily="34" charset="-122"/>
            </a:endParaRPr>
          </a:p>
        </p:txBody>
      </p:sp>
      <p:sp>
        <p:nvSpPr>
          <p:cNvPr id="45069" name="Text Box 11">
            <a:extLst>
              <a:ext uri="{FF2B5EF4-FFF2-40B4-BE49-F238E27FC236}">
                <a16:creationId xmlns:a16="http://schemas.microsoft.com/office/drawing/2014/main" id="{F0A0887B-FFE1-42D1-6C32-0272FFD82C7A}"/>
              </a:ext>
            </a:extLst>
          </p:cNvPr>
          <p:cNvSpPr txBox="1">
            <a:spLocks noChangeArrowheads="1"/>
          </p:cNvSpPr>
          <p:nvPr/>
        </p:nvSpPr>
        <p:spPr bwMode="auto">
          <a:xfrm>
            <a:off x="146050" y="542925"/>
            <a:ext cx="55737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a:solidFill>
                  <a:schemeClr val="tx1"/>
                </a:solidFill>
                <a:latin typeface="微软雅黑" panose="020B0503020204020204" pitchFamily="34" charset="-122"/>
                <a:ea typeface="微软雅黑" panose="020B0503020204020204" pitchFamily="34" charset="-122"/>
              </a:rPr>
              <a:t>“</a:t>
            </a:r>
            <a:r>
              <a:rPr lang="zh-CN" altLang="en-US" sz="2200">
                <a:solidFill>
                  <a:schemeClr val="tx1"/>
                </a:solidFill>
                <a:ea typeface="微软雅黑" panose="020B0503020204020204" pitchFamily="34" charset="-122"/>
              </a:rPr>
              <a:t>非法指令</a:t>
            </a:r>
            <a:r>
              <a:rPr lang="zh-CN" altLang="en-US" sz="2200">
                <a:solidFill>
                  <a:schemeClr val="tx1"/>
                </a:solidFill>
                <a:latin typeface="微软雅黑" panose="020B0503020204020204" pitchFamily="34" charset="-122"/>
                <a:ea typeface="微软雅黑" panose="020B0503020204020204" pitchFamily="34" charset="-122"/>
              </a:rPr>
              <a:t>”</a:t>
            </a:r>
            <a:r>
              <a:rPr lang="zh-CN" altLang="en-US" sz="2200">
                <a:solidFill>
                  <a:schemeClr val="tx1"/>
                </a:solidFill>
                <a:ea typeface="微软雅黑" panose="020B0503020204020204" pitchFamily="34" charset="-122"/>
              </a:rPr>
              <a:t>故障何时发现？如何发现？</a:t>
            </a:r>
          </a:p>
        </p:txBody>
      </p:sp>
      <p:sp>
        <p:nvSpPr>
          <p:cNvPr id="15" name="Text Box 13">
            <a:extLst>
              <a:ext uri="{FF2B5EF4-FFF2-40B4-BE49-F238E27FC236}">
                <a16:creationId xmlns:a16="http://schemas.microsoft.com/office/drawing/2014/main" id="{3AC71D78-F563-5AD0-4364-1013F60C06E6}"/>
              </a:ext>
            </a:extLst>
          </p:cNvPr>
          <p:cNvSpPr txBox="1">
            <a:spLocks noChangeArrowheads="1"/>
          </p:cNvSpPr>
          <p:nvPr/>
        </p:nvSpPr>
        <p:spPr bwMode="auto">
          <a:xfrm>
            <a:off x="334963" y="1012825"/>
            <a:ext cx="8054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2100">
                <a:solidFill>
                  <a:srgbClr val="0000CC"/>
                </a:solidFill>
                <a:latin typeface="微软雅黑" panose="020B0503020204020204" pitchFamily="34" charset="-122"/>
                <a:ea typeface="微软雅黑" panose="020B0503020204020204" pitchFamily="34" charset="-122"/>
              </a:rPr>
              <a:t>CPU</a:t>
            </a:r>
            <a:r>
              <a:rPr lang="zh-CN" altLang="en-US" sz="2100">
                <a:solidFill>
                  <a:srgbClr val="0000CC"/>
                </a:solidFill>
                <a:latin typeface="微软雅黑" panose="020B0503020204020204" pitchFamily="34" charset="-122"/>
                <a:ea typeface="微软雅黑" panose="020B0503020204020204" pitchFamily="34" charset="-122"/>
              </a:rPr>
              <a:t>执行指令前，先进行指令译码，此时会发现“非法指令”故障！</a:t>
            </a:r>
          </a:p>
        </p:txBody>
      </p:sp>
      <p:sp>
        <p:nvSpPr>
          <p:cNvPr id="16" name="Text Box 15">
            <a:extLst>
              <a:ext uri="{FF2B5EF4-FFF2-40B4-BE49-F238E27FC236}">
                <a16:creationId xmlns:a16="http://schemas.microsoft.com/office/drawing/2014/main" id="{C276D23C-8590-40F3-65FD-6B20070A8096}"/>
              </a:ext>
            </a:extLst>
          </p:cNvPr>
          <p:cNvSpPr txBox="1">
            <a:spLocks noChangeArrowheads="1"/>
          </p:cNvSpPr>
          <p:nvPr/>
        </p:nvSpPr>
        <p:spPr bwMode="auto">
          <a:xfrm>
            <a:off x="528638" y="6169025"/>
            <a:ext cx="636746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20000"/>
              </a:spcBef>
            </a:pPr>
            <a:r>
              <a:rPr lang="zh-CN" altLang="en-US" sz="2100">
                <a:solidFill>
                  <a:srgbClr val="FF0000"/>
                </a:solidFill>
                <a:latin typeface="微软雅黑" panose="020B0503020204020204" pitchFamily="34" charset="-122"/>
                <a:ea typeface="微软雅黑" panose="020B0503020204020204" pitchFamily="34" charset="-122"/>
              </a:rPr>
              <a:t>所有异常和中断事件都由硬件检测发现！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63917"/>
                                        </p:tgtEl>
                                        <p:attrNameLst>
                                          <p:attrName>style.visibility</p:attrName>
                                        </p:attrNameLst>
                                      </p:cBhvr>
                                      <p:to>
                                        <p:strVal val="visible"/>
                                      </p:to>
                                    </p:set>
                                    <p:animEffect transition="in" filter="blinds(horizontal)">
                                      <p:cBhvr>
                                        <p:cTn id="12" dur="500"/>
                                        <p:tgtEl>
                                          <p:spTgt spid="763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63919"/>
                                        </p:tgtEl>
                                        <p:attrNameLst>
                                          <p:attrName>style.visibility</p:attrName>
                                        </p:attrNameLst>
                                      </p:cBhvr>
                                      <p:to>
                                        <p:strVal val="visible"/>
                                      </p:to>
                                    </p:set>
                                    <p:animEffect transition="in" filter="blinds(horizontal)">
                                      <p:cBhvr>
                                        <p:cTn id="17" dur="500"/>
                                        <p:tgtEl>
                                          <p:spTgt spid="7639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63907">
                                            <p:txEl>
                                              <p:pRg st="1" end="1"/>
                                            </p:txEl>
                                          </p:spTgt>
                                        </p:tgtEl>
                                        <p:attrNameLst>
                                          <p:attrName>style.visibility</p:attrName>
                                        </p:attrNameLst>
                                      </p:cBhvr>
                                      <p:to>
                                        <p:strVal val="visible"/>
                                      </p:to>
                                    </p:set>
                                    <p:animEffect transition="in" filter="blinds(horizontal)">
                                      <p:cBhvr>
                                        <p:cTn id="22" dur="500"/>
                                        <p:tgtEl>
                                          <p:spTgt spid="76390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63907">
                                            <p:txEl>
                                              <p:pRg st="2" end="2"/>
                                            </p:txEl>
                                          </p:spTgt>
                                        </p:tgtEl>
                                        <p:attrNameLst>
                                          <p:attrName>style.visibility</p:attrName>
                                        </p:attrNameLst>
                                      </p:cBhvr>
                                      <p:to>
                                        <p:strVal val="visible"/>
                                      </p:to>
                                    </p:set>
                                    <p:animEffect transition="in" filter="blinds(horizontal)">
                                      <p:cBhvr>
                                        <p:cTn id="27" dur="500"/>
                                        <p:tgtEl>
                                          <p:spTgt spid="763907">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63907">
                                            <p:txEl>
                                              <p:pRg st="3" end="3"/>
                                            </p:txEl>
                                          </p:spTgt>
                                        </p:tgtEl>
                                        <p:attrNameLst>
                                          <p:attrName>style.visibility</p:attrName>
                                        </p:attrNameLst>
                                      </p:cBhvr>
                                      <p:to>
                                        <p:strVal val="visible"/>
                                      </p:to>
                                    </p:set>
                                    <p:animEffect transition="in" filter="blinds(horizontal)">
                                      <p:cBhvr>
                                        <p:cTn id="32" dur="500"/>
                                        <p:tgtEl>
                                          <p:spTgt spid="763907">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63907">
                                            <p:txEl>
                                              <p:pRg st="4" end="4"/>
                                            </p:txEl>
                                          </p:spTgt>
                                        </p:tgtEl>
                                        <p:attrNameLst>
                                          <p:attrName>style.visibility</p:attrName>
                                        </p:attrNameLst>
                                      </p:cBhvr>
                                      <p:to>
                                        <p:strVal val="visible"/>
                                      </p:to>
                                    </p:set>
                                    <p:animEffect transition="in" filter="blinds(horizontal)">
                                      <p:cBhvr>
                                        <p:cTn id="37" dur="500"/>
                                        <p:tgtEl>
                                          <p:spTgt spid="763907">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63907">
                                            <p:txEl>
                                              <p:pRg st="5" end="5"/>
                                            </p:txEl>
                                          </p:spTgt>
                                        </p:tgtEl>
                                        <p:attrNameLst>
                                          <p:attrName>style.visibility</p:attrName>
                                        </p:attrNameLst>
                                      </p:cBhvr>
                                      <p:to>
                                        <p:strVal val="visible"/>
                                      </p:to>
                                    </p:set>
                                    <p:animEffect transition="in" filter="blinds(horizontal)">
                                      <p:cBhvr>
                                        <p:cTn id="42" dur="500"/>
                                        <p:tgtEl>
                                          <p:spTgt spid="763907">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63910"/>
                                        </p:tgtEl>
                                        <p:attrNameLst>
                                          <p:attrName>style.visibility</p:attrName>
                                        </p:attrNameLst>
                                      </p:cBhvr>
                                      <p:to>
                                        <p:strVal val="visible"/>
                                      </p:to>
                                    </p:set>
                                    <p:animEffect transition="in" filter="blinds(horizontal)">
                                      <p:cBhvr>
                                        <p:cTn id="47" dur="500"/>
                                        <p:tgtEl>
                                          <p:spTgt spid="7639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63914"/>
                                        </p:tgtEl>
                                        <p:attrNameLst>
                                          <p:attrName>style.visibility</p:attrName>
                                        </p:attrNameLst>
                                      </p:cBhvr>
                                      <p:to>
                                        <p:strVal val="visible"/>
                                      </p:to>
                                    </p:set>
                                    <p:animEffect transition="in" filter="blinds(horizontal)">
                                      <p:cBhvr>
                                        <p:cTn id="52" dur="500"/>
                                        <p:tgtEl>
                                          <p:spTgt spid="7639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linds(horizontal)">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17" grpId="0"/>
      <p:bldP spid="763919" grpId="0"/>
      <p:bldP spid="15"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5B721A18-359D-2833-3B68-8A65ADE4DF1E}"/>
              </a:ext>
            </a:extLst>
          </p:cNvPr>
          <p:cNvSpPr>
            <a:spLocks noGrp="1" noChangeArrowheads="1"/>
          </p:cNvSpPr>
          <p:nvPr>
            <p:ph type="title"/>
          </p:nvPr>
        </p:nvSpPr>
        <p:spPr>
          <a:xfrm>
            <a:off x="628650" y="98425"/>
            <a:ext cx="7499350" cy="528638"/>
          </a:xfrm>
        </p:spPr>
        <p:txBody>
          <a:bodyPr/>
          <a:lstStyle/>
          <a:p>
            <a:r>
              <a:rPr lang="zh-CN" altLang="en-US">
                <a:ea typeface="宋体" panose="02010600030101010101" pitchFamily="2" charset="-122"/>
              </a:rPr>
              <a:t>异常的分类</a:t>
            </a:r>
          </a:p>
        </p:txBody>
      </p:sp>
      <p:sp>
        <p:nvSpPr>
          <p:cNvPr id="46082" name="Rectangle 3">
            <a:extLst>
              <a:ext uri="{FF2B5EF4-FFF2-40B4-BE49-F238E27FC236}">
                <a16:creationId xmlns:a16="http://schemas.microsoft.com/office/drawing/2014/main" id="{07306C48-8041-00CA-E7AB-B96B35F2647B}"/>
              </a:ext>
            </a:extLst>
          </p:cNvPr>
          <p:cNvSpPr>
            <a:spLocks noGrp="1" noChangeArrowheads="1"/>
          </p:cNvSpPr>
          <p:nvPr>
            <p:ph idx="1"/>
          </p:nvPr>
        </p:nvSpPr>
        <p:spPr>
          <a:xfrm>
            <a:off x="196850" y="820738"/>
            <a:ext cx="8410575" cy="3281362"/>
          </a:xfrm>
        </p:spPr>
        <p:txBody>
          <a:bodyPr/>
          <a:lstStyle/>
          <a:p>
            <a:pPr>
              <a:lnSpc>
                <a:spcPct val="120000"/>
              </a:lnSpc>
              <a:spcBef>
                <a:spcPct val="15000"/>
              </a:spcBef>
              <a:buFontTx/>
              <a:buNone/>
            </a:pPr>
            <a:r>
              <a:rPr lang="zh-CN" altLang="en-US">
                <a:latin typeface="微软雅黑" panose="020B0503020204020204" pitchFamily="34" charset="-122"/>
                <a:ea typeface="微软雅黑" panose="020B0503020204020204" pitchFamily="34" charset="-122"/>
              </a:rPr>
              <a:t>“异常” 按处理方式分为故障、自陷和终止三类</a:t>
            </a: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故障</a:t>
            </a:r>
            <a:r>
              <a:rPr lang="en-US" altLang="zh-CN">
                <a:solidFill>
                  <a:srgbClr val="FF0000"/>
                </a:solidFill>
                <a:latin typeface="微软雅黑" panose="020B0503020204020204" pitchFamily="34" charset="-122"/>
                <a:ea typeface="微软雅黑" panose="020B0503020204020204" pitchFamily="34" charset="-122"/>
              </a:rPr>
              <a:t>(fault)</a:t>
            </a:r>
            <a:r>
              <a:rPr lang="zh-CN" altLang="en-US">
                <a:solidFill>
                  <a:srgbClr val="00CC00"/>
                </a:solidFill>
                <a:latin typeface="微软雅黑" panose="020B0503020204020204" pitchFamily="34" charset="-122"/>
                <a:ea typeface="微软雅黑" panose="020B0503020204020204" pitchFamily="34" charset="-122"/>
              </a:rPr>
              <a:t> </a:t>
            </a:r>
            <a:r>
              <a:rPr lang="zh-CN" altLang="en-US">
                <a:solidFill>
                  <a:srgbClr val="008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执行指令引起的异常事件，如溢出、缺页、堆栈溢出、访问超时等。</a:t>
            </a: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自陷</a:t>
            </a:r>
            <a:r>
              <a:rPr lang="en-US" altLang="zh-CN">
                <a:solidFill>
                  <a:srgbClr val="FF0000"/>
                </a:solidFill>
                <a:latin typeface="微软雅黑" panose="020B0503020204020204" pitchFamily="34" charset="-122"/>
                <a:ea typeface="微软雅黑" panose="020B0503020204020204" pitchFamily="34" charset="-122"/>
              </a:rPr>
              <a:t>(Trap)</a:t>
            </a:r>
            <a:r>
              <a:rPr lang="zh-CN" altLang="en-US">
                <a:solidFill>
                  <a:srgbClr val="006600"/>
                </a:solidFill>
                <a:latin typeface="微软雅黑" panose="020B0503020204020204" pitchFamily="34" charset="-122"/>
                <a:ea typeface="微软雅黑" panose="020B0503020204020204" pitchFamily="34" charset="-122"/>
              </a:rPr>
              <a:t> </a:t>
            </a:r>
            <a:r>
              <a:rPr lang="zh-CN" altLang="en-US">
                <a:solidFill>
                  <a:srgbClr val="008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预先安排的事件</a:t>
            </a:r>
            <a:r>
              <a:rPr lang="zh-CN" altLang="en-US">
                <a:solidFill>
                  <a:srgbClr val="FF000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埋地雷”）</a:t>
            </a:r>
            <a:r>
              <a:rPr lang="zh-CN" altLang="en-US">
                <a:latin typeface="微软雅黑" panose="020B0503020204020204" pitchFamily="34" charset="-122"/>
                <a:ea typeface="微软雅黑" panose="020B0503020204020204" pitchFamily="34" charset="-122"/>
              </a:rPr>
              <a:t>，如单步跟踪、断点、系统调用 </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执行</a:t>
            </a:r>
            <a:r>
              <a:rPr lang="zh-CN" altLang="en-US">
                <a:solidFill>
                  <a:srgbClr val="996600"/>
                </a:solidFill>
                <a:latin typeface="微软雅黑" panose="020B0503020204020204" pitchFamily="34" charset="-122"/>
                <a:ea typeface="微软雅黑" panose="020B0503020204020204" pitchFamily="34" charset="-122"/>
              </a:rPr>
              <a:t>访管指令</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等。</a:t>
            </a:r>
            <a:r>
              <a:rPr lang="zh-CN" altLang="en-US">
                <a:solidFill>
                  <a:srgbClr val="A50021"/>
                </a:solidFill>
                <a:latin typeface="微软雅黑" panose="020B0503020204020204" pitchFamily="34" charset="-122"/>
                <a:ea typeface="微软雅黑" panose="020B0503020204020204" pitchFamily="34" charset="-122"/>
              </a:rPr>
              <a:t>是一种自愿中断。</a:t>
            </a:r>
          </a:p>
          <a:p>
            <a:pPr lvl="1">
              <a:lnSpc>
                <a:spcPct val="120000"/>
              </a:lnSpc>
              <a:spcBef>
                <a:spcPct val="15000"/>
              </a:spcBef>
              <a:buFontTx/>
              <a:buNone/>
            </a:pPr>
            <a:endParaRPr lang="zh-CN" altLang="en-US">
              <a:solidFill>
                <a:srgbClr val="FF0000"/>
              </a:solidFill>
              <a:latin typeface="微软雅黑" panose="020B0503020204020204" pitchFamily="34" charset="-122"/>
              <a:ea typeface="微软雅黑" panose="020B0503020204020204" pitchFamily="34" charset="-122"/>
            </a:endParaRP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终止</a:t>
            </a:r>
            <a:r>
              <a:rPr lang="en-US" altLang="zh-CN">
                <a:solidFill>
                  <a:srgbClr val="FF0000"/>
                </a:solidFill>
                <a:latin typeface="微软雅黑" panose="020B0503020204020204" pitchFamily="34" charset="-122"/>
                <a:ea typeface="微软雅黑" panose="020B0503020204020204" pitchFamily="34" charset="-122"/>
              </a:rPr>
              <a:t>(Abort)</a:t>
            </a:r>
            <a:r>
              <a:rPr lang="zh-CN" altLang="en-US">
                <a:solidFill>
                  <a:srgbClr val="006600"/>
                </a:solidFill>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硬故障事件，此时机器将“终止”，调出中断服务程序来重启操作系统。</a:t>
            </a:r>
          </a:p>
        </p:txBody>
      </p:sp>
      <p:sp>
        <p:nvSpPr>
          <p:cNvPr id="46083" name="Rectangle 4">
            <a:extLst>
              <a:ext uri="{FF2B5EF4-FFF2-40B4-BE49-F238E27FC236}">
                <a16:creationId xmlns:a16="http://schemas.microsoft.com/office/drawing/2014/main" id="{E537571B-B5DD-08C0-6B9B-188E022B2534}"/>
              </a:ext>
            </a:extLst>
          </p:cNvPr>
          <p:cNvSpPr>
            <a:spLocks noChangeArrowheads="1"/>
          </p:cNvSpPr>
          <p:nvPr/>
        </p:nvSpPr>
        <p:spPr bwMode="auto">
          <a:xfrm>
            <a:off x="344488" y="5851525"/>
            <a:ext cx="6773862" cy="7524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20000"/>
              </a:spcBef>
              <a:buFontTx/>
              <a:buChar char="•"/>
            </a:pPr>
            <a:r>
              <a:rPr lang="zh-CN" altLang="en-US" sz="2000">
                <a:solidFill>
                  <a:schemeClr val="tx1"/>
                </a:solidFill>
                <a:ea typeface="微软雅黑" panose="020B0503020204020204" pitchFamily="34" charset="-122"/>
              </a:rPr>
              <a:t>不同体系结构和教科书对</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异常</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和</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中断</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定义的内涵不同，在看书时要注意！</a:t>
            </a:r>
          </a:p>
        </p:txBody>
      </p:sp>
      <p:sp>
        <p:nvSpPr>
          <p:cNvPr id="46084" name="Rectangle 5">
            <a:extLst>
              <a:ext uri="{FF2B5EF4-FFF2-40B4-BE49-F238E27FC236}">
                <a16:creationId xmlns:a16="http://schemas.microsoft.com/office/drawing/2014/main" id="{A58D1AFE-AE97-9D4E-E2BD-537D073CA44F}"/>
              </a:ext>
            </a:extLst>
          </p:cNvPr>
          <p:cNvSpPr>
            <a:spLocks noChangeArrowheads="1"/>
          </p:cNvSpPr>
          <p:nvPr/>
        </p:nvSpPr>
        <p:spPr bwMode="auto">
          <a:xfrm>
            <a:off x="0" y="4486275"/>
            <a:ext cx="872172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lvl="1" eaLnBrk="0" hangingPunct="0">
              <a:lnSpc>
                <a:spcPct val="120000"/>
              </a:lnSpc>
            </a:pPr>
            <a:r>
              <a:rPr lang="zh-CN" altLang="en-US" sz="2200">
                <a:solidFill>
                  <a:srgbClr val="FF0000"/>
                </a:solidFill>
                <a:latin typeface="微软雅黑" panose="020B0503020204020204" pitchFamily="34" charset="-122"/>
                <a:ea typeface="微软雅黑" panose="020B0503020204020204" pitchFamily="34" charset="-122"/>
              </a:rPr>
              <a:t>思考</a:t>
            </a:r>
            <a:r>
              <a:rPr lang="en-US" altLang="zh-CN" sz="2200">
                <a:solidFill>
                  <a:srgbClr val="FF0000"/>
                </a:solidFill>
                <a:latin typeface="微软雅黑" panose="020B0503020204020204" pitchFamily="34" charset="-122"/>
                <a:ea typeface="微软雅黑" panose="020B0503020204020204" pitchFamily="34" charset="-122"/>
              </a:rPr>
              <a:t>2</a:t>
            </a:r>
            <a:r>
              <a:rPr lang="zh-CN" altLang="en-US" sz="2200">
                <a:solidFill>
                  <a:srgbClr val="FF0000"/>
                </a:solidFill>
                <a:latin typeface="微软雅黑" panose="020B0503020204020204" pitchFamily="34" charset="-122"/>
                <a:ea typeface="微软雅黑" panose="020B0503020204020204" pitchFamily="34" charset="-122"/>
              </a:rPr>
              <a:t>：哪些故障补救后可继续执行，哪些只好终止当前进程？</a:t>
            </a:r>
          </a:p>
          <a:p>
            <a:pPr lvl="1" eaLnBrk="0" hangingPunct="0">
              <a:lnSpc>
                <a:spcPct val="120000"/>
              </a:lnSpc>
            </a:pPr>
            <a:r>
              <a:rPr lang="zh-CN" altLang="en-US" sz="2200">
                <a:solidFill>
                  <a:schemeClr val="accent1"/>
                </a:solidFill>
                <a:latin typeface="微软雅黑" panose="020B0503020204020204" pitchFamily="34" charset="-122"/>
                <a:ea typeface="微软雅黑" panose="020B0503020204020204" pitchFamily="34" charset="-122"/>
              </a:rPr>
              <a:t>   </a:t>
            </a:r>
            <a:r>
              <a:rPr lang="zh-CN" altLang="en-US" sz="2000">
                <a:solidFill>
                  <a:srgbClr val="B7011F"/>
                </a:solidFill>
                <a:latin typeface="微软雅黑" panose="020B0503020204020204" pitchFamily="34" charset="-122"/>
                <a:ea typeface="微软雅黑" panose="020B0503020204020204" pitchFamily="34" charset="-122"/>
              </a:rPr>
              <a:t>缺页、</a:t>
            </a:r>
            <a:r>
              <a:rPr lang="en-US" altLang="zh-CN" sz="2000">
                <a:solidFill>
                  <a:srgbClr val="B7011F"/>
                </a:solidFill>
                <a:latin typeface="微软雅黑" panose="020B0503020204020204" pitchFamily="34" charset="-122"/>
                <a:ea typeface="微软雅黑" panose="020B0503020204020204" pitchFamily="34" charset="-122"/>
              </a:rPr>
              <a:t>TLB</a:t>
            </a:r>
            <a:r>
              <a:rPr lang="zh-CN" altLang="en-US" sz="2000">
                <a:solidFill>
                  <a:srgbClr val="B7011F"/>
                </a:solidFill>
                <a:latin typeface="微软雅黑" panose="020B0503020204020204" pitchFamily="34" charset="-122"/>
                <a:ea typeface="微软雅黑" panose="020B0503020204020204" pitchFamily="34" charset="-122"/>
              </a:rPr>
              <a:t>缺失等：</a:t>
            </a:r>
            <a:r>
              <a:rPr lang="zh-CN" altLang="en-US" sz="2000">
                <a:solidFill>
                  <a:srgbClr val="0066CC"/>
                </a:solidFill>
                <a:latin typeface="微软雅黑" panose="020B0503020204020204" pitchFamily="34" charset="-122"/>
                <a:ea typeface="微软雅黑" panose="020B0503020204020204" pitchFamily="34" charset="-122"/>
              </a:rPr>
              <a:t>补救后可继续，回到发生故障的指令重新执行。</a:t>
            </a:r>
            <a:r>
              <a:rPr lang="zh-CN" altLang="en-US" sz="2000">
                <a:solidFill>
                  <a:srgbClr val="B7011F"/>
                </a:solidFill>
                <a:latin typeface="微软雅黑" panose="020B0503020204020204" pitchFamily="34" charset="-122"/>
                <a:ea typeface="微软雅黑" panose="020B0503020204020204" pitchFamily="34" charset="-122"/>
              </a:rPr>
              <a:t>  </a:t>
            </a:r>
          </a:p>
          <a:p>
            <a:pPr lvl="1" eaLnBrk="0" hangingPunct="0">
              <a:lnSpc>
                <a:spcPct val="120000"/>
              </a:lnSpc>
            </a:pPr>
            <a:r>
              <a:rPr lang="zh-CN" altLang="en-US" sz="2000">
                <a:solidFill>
                  <a:srgbClr val="B7011F"/>
                </a:solidFill>
                <a:latin typeface="微软雅黑" panose="020B0503020204020204" pitchFamily="34" charset="-122"/>
                <a:ea typeface="微软雅黑" panose="020B0503020204020204" pitchFamily="34" charset="-122"/>
              </a:rPr>
              <a:t>    溢出、除数为</a:t>
            </a:r>
            <a:r>
              <a:rPr lang="en-US" altLang="zh-CN" sz="2000">
                <a:solidFill>
                  <a:srgbClr val="B7011F"/>
                </a:solidFill>
                <a:latin typeface="微软雅黑" panose="020B0503020204020204" pitchFamily="34" charset="-122"/>
                <a:ea typeface="微软雅黑" panose="020B0503020204020204" pitchFamily="34" charset="-122"/>
              </a:rPr>
              <a:t>0</a:t>
            </a:r>
            <a:r>
              <a:rPr lang="zh-CN" altLang="en-US" sz="2000">
                <a:solidFill>
                  <a:srgbClr val="B7011F"/>
                </a:solidFill>
                <a:latin typeface="微软雅黑" panose="020B0503020204020204" pitchFamily="34" charset="-122"/>
                <a:ea typeface="微软雅黑" panose="020B0503020204020204" pitchFamily="34" charset="-122"/>
              </a:rPr>
              <a:t>、非法操作、内存保护错等：</a:t>
            </a:r>
            <a:r>
              <a:rPr lang="zh-CN" altLang="en-US" sz="2000">
                <a:solidFill>
                  <a:srgbClr val="0066CC"/>
                </a:solidFill>
                <a:latin typeface="微软雅黑" panose="020B0503020204020204" pitchFamily="34" charset="-122"/>
                <a:ea typeface="微软雅黑" panose="020B0503020204020204" pitchFamily="34" charset="-122"/>
              </a:rPr>
              <a:t>终止当前进程。</a:t>
            </a:r>
          </a:p>
        </p:txBody>
      </p:sp>
      <p:sp>
        <p:nvSpPr>
          <p:cNvPr id="46085" name="Rectangle 6">
            <a:extLst>
              <a:ext uri="{FF2B5EF4-FFF2-40B4-BE49-F238E27FC236}">
                <a16:creationId xmlns:a16="http://schemas.microsoft.com/office/drawing/2014/main" id="{6F7C8E2E-C640-7F81-722B-83428B3E3C49}"/>
              </a:ext>
            </a:extLst>
          </p:cNvPr>
          <p:cNvSpPr>
            <a:spLocks noChangeArrowheads="1"/>
          </p:cNvSpPr>
          <p:nvPr/>
        </p:nvSpPr>
        <p:spPr bwMode="auto">
          <a:xfrm>
            <a:off x="6043613" y="4089400"/>
            <a:ext cx="1979612" cy="43656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20000"/>
              </a:spcBef>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200">
                <a:solidFill>
                  <a:schemeClr val="tx1"/>
                </a:solidFill>
                <a:latin typeface="微软雅黑" panose="020B0503020204020204" pitchFamily="34" charset="-122"/>
                <a:ea typeface="微软雅黑" panose="020B0503020204020204" pitchFamily="34" charset="-122"/>
              </a:rPr>
              <a:t>回到下条指令</a:t>
            </a:r>
          </a:p>
        </p:txBody>
      </p:sp>
      <p:sp>
        <p:nvSpPr>
          <p:cNvPr id="46086" name="Text Box 7">
            <a:extLst>
              <a:ext uri="{FF2B5EF4-FFF2-40B4-BE49-F238E27FC236}">
                <a16:creationId xmlns:a16="http://schemas.microsoft.com/office/drawing/2014/main" id="{A996DDB0-D2BD-E8A0-2DDF-3D0385724360}"/>
              </a:ext>
            </a:extLst>
          </p:cNvPr>
          <p:cNvSpPr txBox="1">
            <a:spLocks noChangeArrowheads="1"/>
          </p:cNvSpPr>
          <p:nvPr/>
        </p:nvSpPr>
        <p:spPr bwMode="auto">
          <a:xfrm>
            <a:off x="2971800" y="1581150"/>
            <a:ext cx="4338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“断点”为发生故障指令的地址</a:t>
            </a:r>
          </a:p>
        </p:txBody>
      </p:sp>
      <p:sp>
        <p:nvSpPr>
          <p:cNvPr id="46087" name="Text Box 8">
            <a:extLst>
              <a:ext uri="{FF2B5EF4-FFF2-40B4-BE49-F238E27FC236}">
                <a16:creationId xmlns:a16="http://schemas.microsoft.com/office/drawing/2014/main" id="{EE47C4D8-6109-997D-5AAD-2364A37F1CE1}"/>
              </a:ext>
            </a:extLst>
          </p:cNvPr>
          <p:cNvSpPr txBox="1">
            <a:spLocks noChangeArrowheads="1"/>
          </p:cNvSpPr>
          <p:nvPr/>
        </p:nvSpPr>
        <p:spPr bwMode="auto">
          <a:xfrm>
            <a:off x="3008313" y="2636838"/>
            <a:ext cx="3900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0" tIns="0" rIns="0" bIns="0">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“断点”为自陷指令下条指令地址</a:t>
            </a:r>
          </a:p>
        </p:txBody>
      </p:sp>
      <p:sp>
        <p:nvSpPr>
          <p:cNvPr id="46088" name="Text Box 9">
            <a:extLst>
              <a:ext uri="{FF2B5EF4-FFF2-40B4-BE49-F238E27FC236}">
                <a16:creationId xmlns:a16="http://schemas.microsoft.com/office/drawing/2014/main" id="{FCE6F900-BAB6-7367-18B5-C529641ACF22}"/>
              </a:ext>
            </a:extLst>
          </p:cNvPr>
          <p:cNvSpPr txBox="1">
            <a:spLocks noChangeArrowheads="1"/>
          </p:cNvSpPr>
          <p:nvPr/>
        </p:nvSpPr>
        <p:spPr bwMode="auto">
          <a:xfrm>
            <a:off x="3375025" y="3609975"/>
            <a:ext cx="353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“断点”是什么？ 随便！</a:t>
            </a:r>
          </a:p>
        </p:txBody>
      </p:sp>
      <p:sp>
        <p:nvSpPr>
          <p:cNvPr id="46089" name="Rectangle 10">
            <a:extLst>
              <a:ext uri="{FF2B5EF4-FFF2-40B4-BE49-F238E27FC236}">
                <a16:creationId xmlns:a16="http://schemas.microsoft.com/office/drawing/2014/main" id="{AD098BAE-32E5-3F8E-2F2E-79E4BC745F69}"/>
              </a:ext>
            </a:extLst>
          </p:cNvPr>
          <p:cNvSpPr>
            <a:spLocks noChangeArrowheads="1"/>
          </p:cNvSpPr>
          <p:nvPr/>
        </p:nvSpPr>
        <p:spPr bwMode="auto">
          <a:xfrm>
            <a:off x="461963" y="4110038"/>
            <a:ext cx="56657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200">
                <a:solidFill>
                  <a:srgbClr val="FF0000"/>
                </a:solidFill>
                <a:latin typeface="微软雅黑" panose="020B0503020204020204" pitchFamily="34" charset="-122"/>
                <a:ea typeface="微软雅黑" panose="020B0503020204020204" pitchFamily="34" charset="-122"/>
              </a:rPr>
              <a:t>思考</a:t>
            </a:r>
            <a:r>
              <a:rPr lang="en-US" altLang="zh-CN" sz="2200">
                <a:solidFill>
                  <a:srgbClr val="FF0000"/>
                </a:solidFill>
                <a:latin typeface="微软雅黑" panose="020B0503020204020204" pitchFamily="34" charset="-122"/>
                <a:ea typeface="微软雅黑" panose="020B0503020204020204" pitchFamily="34" charset="-122"/>
              </a:rPr>
              <a:t>1</a:t>
            </a:r>
            <a:r>
              <a:rPr lang="zh-CN" altLang="en-US" sz="2200">
                <a:solidFill>
                  <a:srgbClr val="FF0000"/>
                </a:solidFill>
                <a:latin typeface="微软雅黑" panose="020B0503020204020204" pitchFamily="34" charset="-122"/>
                <a:ea typeface="微软雅黑" panose="020B0503020204020204" pitchFamily="34" charset="-122"/>
              </a:rPr>
              <a:t>：自陷处理完成后回到哪条指令执行？</a:t>
            </a:r>
          </a:p>
        </p:txBody>
      </p:sp>
      <p:sp>
        <p:nvSpPr>
          <p:cNvPr id="46090" name="Rectangle 11">
            <a:extLst>
              <a:ext uri="{FF2B5EF4-FFF2-40B4-BE49-F238E27FC236}">
                <a16:creationId xmlns:a16="http://schemas.microsoft.com/office/drawing/2014/main" id="{C10DE9DB-5637-8577-B475-7AA25E59CDBE}"/>
              </a:ext>
            </a:extLst>
          </p:cNvPr>
          <p:cNvSpPr>
            <a:spLocks noChangeArrowheads="1"/>
          </p:cNvSpPr>
          <p:nvPr/>
        </p:nvSpPr>
        <p:spPr bwMode="auto">
          <a:xfrm>
            <a:off x="566738" y="1951038"/>
            <a:ext cx="8010525" cy="1039812"/>
          </a:xfrm>
          <a:prstGeom prst="rect">
            <a:avLst/>
          </a:prstGeom>
          <a:solidFill>
            <a:schemeClr val="accent1">
              <a:alpha val="25882"/>
            </a:schemeClr>
          </a:solidFill>
          <a:ln w="9525">
            <a:solidFill>
              <a:schemeClr val="tx1"/>
            </a:solidFill>
            <a:miter lim="800000"/>
            <a:headEnd/>
            <a:tailEnd/>
          </a:ln>
        </p:spPr>
        <p:txBody>
          <a:bodyPr wrap="none" anchor="ctr"/>
          <a:lstStyle/>
          <a:p>
            <a:endParaRPr lang="zh-CN" altLang="en-US" sz="1800" b="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EC57BA78-C5B8-497F-8ADD-B9E224AD4ABA}"/>
              </a:ext>
            </a:extLst>
          </p:cNvPr>
          <p:cNvSpPr>
            <a:spLocks noGrp="1" noChangeArrowheads="1"/>
          </p:cNvSpPr>
          <p:nvPr>
            <p:ph type="title"/>
          </p:nvPr>
        </p:nvSpPr>
        <p:spPr/>
        <p:txBody>
          <a:bodyPr/>
          <a:lstStyle/>
          <a:p>
            <a:r>
              <a:rPr lang="zh-CN" altLang="en-US">
                <a:ea typeface="宋体" panose="02010600030101010101" pitchFamily="2" charset="-122"/>
              </a:rPr>
              <a:t>陷阱（</a:t>
            </a:r>
            <a:r>
              <a:rPr lang="en-US" altLang="zh-CN">
                <a:ea typeface="宋体" panose="02010600030101010101" pitchFamily="2" charset="-122"/>
              </a:rPr>
              <a:t>Trap</a:t>
            </a:r>
            <a:r>
              <a:rPr lang="zh-CN" altLang="en-US">
                <a:ea typeface="宋体" panose="02010600030101010101" pitchFamily="2" charset="-122"/>
              </a:rPr>
              <a:t>）异常</a:t>
            </a:r>
          </a:p>
        </p:txBody>
      </p:sp>
      <p:sp>
        <p:nvSpPr>
          <p:cNvPr id="771075" name="Rectangle 3">
            <a:extLst>
              <a:ext uri="{FF2B5EF4-FFF2-40B4-BE49-F238E27FC236}">
                <a16:creationId xmlns:a16="http://schemas.microsoft.com/office/drawing/2014/main" id="{1750D004-7B73-CDFF-5168-D91406846017}"/>
              </a:ext>
            </a:extLst>
          </p:cNvPr>
          <p:cNvSpPr>
            <a:spLocks noGrp="1" noChangeArrowheads="1"/>
          </p:cNvSpPr>
          <p:nvPr>
            <p:ph idx="1"/>
          </p:nvPr>
        </p:nvSpPr>
        <p:spPr>
          <a:xfrm>
            <a:off x="207963" y="1835150"/>
            <a:ext cx="8650287" cy="4811713"/>
          </a:xfrm>
        </p:spPr>
        <p:txBody>
          <a:bodyPr/>
          <a:lstStyle/>
          <a:p>
            <a:pPr>
              <a:lnSpc>
                <a:spcPct val="105000"/>
              </a:lnSpc>
            </a:pPr>
            <a:r>
              <a:rPr lang="zh-CN" altLang="en-US">
                <a:ea typeface="微软雅黑" panose="020B0503020204020204" pitchFamily="34" charset="-122"/>
              </a:rPr>
              <a:t>利用陷阱机制可实现程序调试功能，包括</a:t>
            </a:r>
            <a:r>
              <a:rPr lang="zh-CN" altLang="en-US">
                <a:solidFill>
                  <a:srgbClr val="FF0000"/>
                </a:solidFill>
                <a:ea typeface="微软雅黑" panose="020B0503020204020204" pitchFamily="34" charset="-122"/>
              </a:rPr>
              <a:t>设置断点</a:t>
            </a:r>
            <a:r>
              <a:rPr lang="zh-CN" altLang="en-US">
                <a:ea typeface="微软雅黑" panose="020B0503020204020204" pitchFamily="34" charset="-122"/>
              </a:rPr>
              <a:t>和</a:t>
            </a:r>
            <a:r>
              <a:rPr lang="zh-CN" altLang="en-US">
                <a:solidFill>
                  <a:srgbClr val="FF0000"/>
                </a:solidFill>
                <a:ea typeface="微软雅黑" panose="020B0503020204020204" pitchFamily="34" charset="-122"/>
              </a:rPr>
              <a:t>单步跟踪</a:t>
            </a:r>
            <a:endParaRPr lang="zh-CN" altLang="en-US">
              <a:ea typeface="微软雅黑" panose="020B0503020204020204" pitchFamily="34" charset="-122"/>
            </a:endParaRPr>
          </a:p>
          <a:p>
            <a:pPr lvl="1">
              <a:lnSpc>
                <a:spcPct val="114000"/>
              </a:lnSpc>
            </a:pPr>
            <a:r>
              <a:rPr lang="en-US" altLang="zh-CN">
                <a:latin typeface="微软雅黑" panose="020B0503020204020204" pitchFamily="34" charset="-122"/>
                <a:ea typeface="微软雅黑" panose="020B0503020204020204" pitchFamily="34" charset="-122"/>
              </a:rPr>
              <a:t>IA-32</a:t>
            </a:r>
            <a:r>
              <a:rPr lang="zh-CN" altLang="en-US">
                <a:latin typeface="微软雅黑" panose="020B0503020204020204" pitchFamily="34" charset="-122"/>
                <a:ea typeface="微软雅黑" panose="020B0503020204020204" pitchFamily="34" charset="-122"/>
              </a:rPr>
              <a:t>中，当</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处于单步跟踪状态（</a:t>
            </a:r>
            <a:r>
              <a:rPr lang="en-US" altLang="zh-CN">
                <a:solidFill>
                  <a:srgbClr val="FF0000"/>
                </a:solidFill>
                <a:latin typeface="微软雅黑" panose="020B0503020204020204" pitchFamily="34" charset="-122"/>
                <a:ea typeface="微软雅黑" panose="020B0503020204020204" pitchFamily="34" charset="-122"/>
              </a:rPr>
              <a:t>TF=1</a:t>
            </a:r>
            <a:r>
              <a:rPr lang="zh-CN" altLang="en-US">
                <a:solidFill>
                  <a:srgbClr val="FF0000"/>
                </a:solidFill>
                <a:latin typeface="微软雅黑" panose="020B0503020204020204" pitchFamily="34" charset="-122"/>
                <a:ea typeface="微软雅黑" panose="020B0503020204020204" pitchFamily="34" charset="-122"/>
              </a:rPr>
              <a:t>且</a:t>
            </a:r>
            <a:r>
              <a:rPr lang="en-US" altLang="zh-CN">
                <a:solidFill>
                  <a:srgbClr val="FF0000"/>
                </a:solidFill>
                <a:latin typeface="微软雅黑" panose="020B0503020204020204" pitchFamily="34" charset="-122"/>
                <a:ea typeface="微软雅黑" panose="020B0503020204020204" pitchFamily="34" charset="-122"/>
              </a:rPr>
              <a:t>IF=1</a:t>
            </a:r>
            <a:r>
              <a:rPr lang="zh-CN" altLang="en-US">
                <a:latin typeface="微软雅黑" panose="020B0503020204020204" pitchFamily="34" charset="-122"/>
                <a:ea typeface="微软雅黑" panose="020B0503020204020204" pitchFamily="34" charset="-122"/>
              </a:rPr>
              <a:t>）时，</a:t>
            </a:r>
            <a:r>
              <a:rPr lang="zh-CN" altLang="en-US">
                <a:solidFill>
                  <a:srgbClr val="FF0000"/>
                </a:solidFill>
                <a:latin typeface="微软雅黑" panose="020B0503020204020204" pitchFamily="34" charset="-122"/>
                <a:ea typeface="微软雅黑" panose="020B0503020204020204" pitchFamily="34" charset="-122"/>
              </a:rPr>
              <a:t>每条指令都被设置成了陷阱指令</a:t>
            </a:r>
            <a:r>
              <a:rPr lang="zh-CN" altLang="en-US">
                <a:latin typeface="微软雅黑" panose="020B0503020204020204" pitchFamily="34" charset="-122"/>
                <a:ea typeface="微软雅黑" panose="020B0503020204020204" pitchFamily="34" charset="-122"/>
              </a:rPr>
              <a:t>，执行每条指令后，都会发生中断类型号为</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的“调试”异常，从而转去执行“单步跟踪处理程序”。</a:t>
            </a:r>
            <a:r>
              <a:rPr lang="zh-CN" altLang="en-US"/>
              <a:t> </a:t>
            </a:r>
          </a:p>
          <a:p>
            <a:pPr lvl="1">
              <a:lnSpc>
                <a:spcPct val="114000"/>
              </a:lnSpc>
              <a:buFontTx/>
              <a:buNone/>
            </a:pPr>
            <a:r>
              <a:rPr lang="zh-CN" altLang="en-US"/>
              <a:t>    </a:t>
            </a:r>
            <a:r>
              <a:rPr lang="zh-CN" altLang="en-US">
                <a:solidFill>
                  <a:srgbClr val="008000"/>
                </a:solidFill>
                <a:ea typeface="微软雅黑" panose="020B0503020204020204" pitchFamily="34" charset="-122"/>
              </a:rPr>
              <a:t>注意：</a:t>
            </a:r>
            <a:r>
              <a:rPr lang="zh-CN" altLang="en-US">
                <a:solidFill>
                  <a:srgbClr val="008000"/>
                </a:solidFill>
              </a:rPr>
              <a:t> </a:t>
            </a:r>
            <a:r>
              <a:rPr lang="zh-CN" altLang="en-US">
                <a:solidFill>
                  <a:srgbClr val="008000"/>
                </a:solidFill>
                <a:latin typeface="微软雅黑" panose="020B0503020204020204" pitchFamily="34" charset="-122"/>
                <a:ea typeface="微软雅黑" panose="020B0503020204020204" pitchFamily="34" charset="-122"/>
              </a:rPr>
              <a:t>当陷阱指令是转移指令时，不能返回到转移指令的下条指令执行，而是返回到转移目标指令执行。</a:t>
            </a:r>
            <a:r>
              <a:rPr lang="zh-CN" altLang="en-US">
                <a:latin typeface="微软雅黑" panose="020B0503020204020204" pitchFamily="34" charset="-122"/>
                <a:ea typeface="微软雅黑" panose="020B0503020204020204" pitchFamily="34" charset="-122"/>
              </a:rPr>
              <a:t> </a:t>
            </a:r>
          </a:p>
          <a:p>
            <a:pPr lvl="1">
              <a:lnSpc>
                <a:spcPct val="114000"/>
              </a:lnSpc>
              <a:buFontTx/>
              <a:buNone/>
            </a:pPr>
            <a:r>
              <a:rPr lang="zh-CN" altLang="en-US">
                <a:latin typeface="微软雅黑" panose="020B0503020204020204" pitchFamily="34" charset="-122"/>
                <a:ea typeface="微软雅黑" panose="020B0503020204020204" pitchFamily="34" charset="-122"/>
              </a:rPr>
              <a:t>   </a:t>
            </a:r>
            <a:r>
              <a:rPr lang="zh-CN" altLang="en-US">
                <a:solidFill>
                  <a:srgbClr val="FF0000"/>
                </a:solidFill>
                <a:latin typeface="微软雅黑" panose="020B0503020204020204" pitchFamily="34" charset="-122"/>
                <a:ea typeface="微软雅黑" panose="020B0503020204020204" pitchFamily="34" charset="-122"/>
              </a:rPr>
              <a:t>（在一定的条件下，每条指令都变成“地雷”）</a:t>
            </a:r>
          </a:p>
          <a:p>
            <a:pPr lvl="1">
              <a:lnSpc>
                <a:spcPct val="114000"/>
              </a:lnSpc>
            </a:pPr>
            <a:r>
              <a:rPr lang="en-US" altLang="zh-CN">
                <a:latin typeface="微软雅黑" panose="020B0503020204020204" pitchFamily="34" charset="-122"/>
                <a:ea typeface="微软雅黑" panose="020B0503020204020204" pitchFamily="34" charset="-122"/>
              </a:rPr>
              <a:t>IA-32</a:t>
            </a:r>
            <a:r>
              <a:rPr lang="zh-CN" altLang="en-US">
                <a:latin typeface="微软雅黑" panose="020B0503020204020204" pitchFamily="34" charset="-122"/>
                <a:ea typeface="微软雅黑" panose="020B0503020204020204" pitchFamily="34" charset="-122"/>
              </a:rPr>
              <a:t>中，用于程序调试的</a:t>
            </a:r>
            <a:r>
              <a:rPr lang="zh-CN" altLang="en-US">
                <a:solidFill>
                  <a:srgbClr val="FF0000"/>
                </a:solidFill>
                <a:latin typeface="微软雅黑" panose="020B0503020204020204" pitchFamily="34" charset="-122"/>
                <a:ea typeface="微软雅黑" panose="020B0503020204020204" pitchFamily="34" charset="-122"/>
              </a:rPr>
              <a:t>“断点设置”陷阱指令</a:t>
            </a:r>
            <a:r>
              <a:rPr lang="zh-CN" altLang="en-US">
                <a:latin typeface="微软雅黑" panose="020B0503020204020204" pitchFamily="34" charset="-122"/>
                <a:ea typeface="微软雅黑" panose="020B0503020204020204" pitchFamily="34" charset="-122"/>
              </a:rPr>
              <a:t>为</a:t>
            </a:r>
            <a:r>
              <a:rPr lang="en-US" altLang="zh-CN">
                <a:latin typeface="微软雅黑" panose="020B0503020204020204" pitchFamily="34" charset="-122"/>
                <a:ea typeface="微软雅黑" panose="020B0503020204020204" pitchFamily="34" charset="-122"/>
              </a:rPr>
              <a:t>int 3</a:t>
            </a:r>
            <a:r>
              <a:rPr lang="zh-CN" altLang="en-US">
                <a:latin typeface="微软雅黑" panose="020B0503020204020204" pitchFamily="34" charset="-122"/>
                <a:ea typeface="微软雅黑" panose="020B0503020204020204" pitchFamily="34" charset="-122"/>
              </a:rPr>
              <a:t>，对应机器码为</a:t>
            </a:r>
            <a:r>
              <a:rPr lang="en-US" altLang="zh-CN">
                <a:solidFill>
                  <a:srgbClr val="990000"/>
                </a:solidFill>
                <a:latin typeface="微软雅黑" panose="020B0503020204020204" pitchFamily="34" charset="-122"/>
                <a:ea typeface="微软雅黑" panose="020B0503020204020204" pitchFamily="34" charset="-122"/>
              </a:rPr>
              <a:t>CCH</a:t>
            </a:r>
            <a:r>
              <a:rPr lang="zh-CN" altLang="en-US">
                <a:latin typeface="微软雅黑" panose="020B0503020204020204" pitchFamily="34" charset="-122"/>
                <a:ea typeface="微软雅黑" panose="020B0503020204020204" pitchFamily="34" charset="-122"/>
              </a:rPr>
              <a:t>。若</a:t>
            </a:r>
            <a:r>
              <a:rPr lang="zh-CN" altLang="en-US">
                <a:solidFill>
                  <a:srgbClr val="FF0000"/>
                </a:solidFill>
                <a:latin typeface="微软雅黑" panose="020B0503020204020204" pitchFamily="34" charset="-122"/>
                <a:ea typeface="微软雅黑" panose="020B0503020204020204" pitchFamily="34" charset="-122"/>
              </a:rPr>
              <a:t>调试程序</a:t>
            </a:r>
            <a:r>
              <a:rPr lang="zh-CN" altLang="en-US">
                <a:latin typeface="微软雅黑" panose="020B0503020204020204" pitchFamily="34" charset="-122"/>
                <a:ea typeface="微软雅黑" panose="020B0503020204020204" pitchFamily="34" charset="-122"/>
              </a:rPr>
              <a:t>在</a:t>
            </a:r>
            <a:r>
              <a:rPr lang="zh-CN" altLang="en-US">
                <a:solidFill>
                  <a:srgbClr val="008000"/>
                </a:solidFill>
                <a:latin typeface="微软雅黑" panose="020B0503020204020204" pitchFamily="34" charset="-122"/>
                <a:ea typeface="微软雅黑" panose="020B0503020204020204" pitchFamily="34" charset="-122"/>
              </a:rPr>
              <a:t>被调试程序</a:t>
            </a:r>
            <a:r>
              <a:rPr lang="zh-CN" altLang="en-US">
                <a:latin typeface="微软雅黑" panose="020B0503020204020204" pitchFamily="34" charset="-122"/>
                <a:ea typeface="微软雅黑" panose="020B0503020204020204" pitchFamily="34" charset="-122"/>
              </a:rPr>
              <a:t>某处设置了断点，则调试程序就在该处</a:t>
            </a:r>
            <a:r>
              <a:rPr lang="zh-CN" altLang="en-US">
                <a:solidFill>
                  <a:srgbClr val="990000"/>
                </a:solidFill>
                <a:latin typeface="微软雅黑" panose="020B0503020204020204" pitchFamily="34" charset="-122"/>
                <a:ea typeface="微软雅黑" panose="020B0503020204020204" pitchFamily="34" charset="-122"/>
              </a:rPr>
              <a:t>“加”</a:t>
            </a:r>
            <a:r>
              <a:rPr lang="zh-CN" altLang="en-US">
                <a:latin typeface="微软雅黑" panose="020B0503020204020204" pitchFamily="34" charset="-122"/>
                <a:ea typeface="微软雅黑" panose="020B0503020204020204" pitchFamily="34" charset="-122"/>
              </a:rPr>
              <a:t>一条</a:t>
            </a:r>
            <a:r>
              <a:rPr lang="en-US" altLang="zh-CN">
                <a:latin typeface="微软雅黑" panose="020B0503020204020204" pitchFamily="34" charset="-122"/>
                <a:ea typeface="微软雅黑" panose="020B0503020204020204" pitchFamily="34" charset="-122"/>
              </a:rPr>
              <a:t>int 3</a:t>
            </a:r>
            <a:r>
              <a:rPr lang="zh-CN" altLang="en-US">
                <a:latin typeface="微软雅黑" panose="020B0503020204020204" pitchFamily="34" charset="-122"/>
                <a:ea typeface="微软雅黑" panose="020B0503020204020204" pitchFamily="34" charset="-122"/>
              </a:rPr>
              <a:t>指令</a:t>
            </a:r>
            <a:r>
              <a:rPr lang="zh-CN" altLang="en-US">
                <a:solidFill>
                  <a:srgbClr val="990000"/>
                </a:solidFill>
                <a:latin typeface="微软雅黑" panose="020B0503020204020204" pitchFamily="34" charset="-122"/>
                <a:ea typeface="微软雅黑" panose="020B0503020204020204" pitchFamily="34" charset="-122"/>
              </a:rPr>
              <a:t>（该首字节）</a:t>
            </a:r>
            <a:r>
              <a:rPr lang="zh-CN" altLang="en-US">
                <a:latin typeface="微软雅黑" panose="020B0503020204020204" pitchFamily="34" charset="-122"/>
                <a:ea typeface="微软雅黑" panose="020B0503020204020204" pitchFamily="34" charset="-122"/>
              </a:rPr>
              <a:t>。执行到该指令时，会暂停被调试程序的运行，并发出</a:t>
            </a:r>
            <a:r>
              <a:rPr lang="zh-CN" altLang="en-US">
                <a:solidFill>
                  <a:srgbClr val="FF000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EXCEPTION_BREAKPOINT”</a:t>
            </a:r>
            <a:r>
              <a:rPr lang="zh-CN" altLang="en-US">
                <a:latin typeface="微软雅黑" panose="020B0503020204020204" pitchFamily="34" charset="-122"/>
                <a:ea typeface="微软雅黑" panose="020B0503020204020204" pitchFamily="34" charset="-122"/>
              </a:rPr>
              <a:t>异常，以调出调试程序执行，执行结束后回到被调试程序执行。</a:t>
            </a:r>
          </a:p>
          <a:p>
            <a:pPr lvl="1">
              <a:lnSpc>
                <a:spcPct val="114000"/>
              </a:lnSpc>
              <a:buFontTx/>
              <a:buNone/>
            </a:pPr>
            <a:r>
              <a:rPr lang="zh-CN" altLang="en-US">
                <a:latin typeface="微软雅黑" panose="020B0503020204020204" pitchFamily="34" charset="-122"/>
                <a:ea typeface="微软雅黑" panose="020B0503020204020204" pitchFamily="34" charset="-122"/>
              </a:rPr>
              <a:t>   </a:t>
            </a:r>
            <a:r>
              <a:rPr lang="zh-CN" altLang="en-US">
                <a:solidFill>
                  <a:srgbClr val="FF000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int 3</a:t>
            </a:r>
            <a:r>
              <a:rPr lang="zh-CN" altLang="en-US">
                <a:solidFill>
                  <a:srgbClr val="FF0000"/>
                </a:solidFill>
                <a:latin typeface="微软雅黑" panose="020B0503020204020204" pitchFamily="34" charset="-122"/>
                <a:ea typeface="微软雅黑" panose="020B0503020204020204" pitchFamily="34" charset="-122"/>
              </a:rPr>
              <a:t>是一定爆炸的“地雷”）</a:t>
            </a:r>
          </a:p>
        </p:txBody>
      </p:sp>
      <p:sp>
        <p:nvSpPr>
          <p:cNvPr id="48131" name="Text Box 4">
            <a:extLst>
              <a:ext uri="{FF2B5EF4-FFF2-40B4-BE49-F238E27FC236}">
                <a16:creationId xmlns:a16="http://schemas.microsoft.com/office/drawing/2014/main" id="{809E3688-ABFF-B42A-EF3F-B3759C880FD7}"/>
              </a:ext>
            </a:extLst>
          </p:cNvPr>
          <p:cNvSpPr txBox="1">
            <a:spLocks noChangeArrowheads="1"/>
          </p:cNvSpPr>
          <p:nvPr/>
        </p:nvSpPr>
        <p:spPr bwMode="auto">
          <a:xfrm>
            <a:off x="425450" y="747713"/>
            <a:ext cx="788035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Bef>
                <a:spcPct val="50000"/>
              </a:spcBef>
            </a:pPr>
            <a:r>
              <a:rPr lang="zh-CN" altLang="en-US" sz="2200">
                <a:solidFill>
                  <a:srgbClr val="008000"/>
                </a:solidFill>
                <a:ea typeface="微软雅黑" panose="020B0503020204020204" pitchFamily="34" charset="-122"/>
              </a:rPr>
              <a:t>问题：你用过</a:t>
            </a:r>
            <a:r>
              <a:rPr lang="zh-CN" altLang="en-US" sz="2200">
                <a:solidFill>
                  <a:srgbClr val="FF0000"/>
                </a:solidFill>
                <a:ea typeface="微软雅黑" panose="020B0503020204020204" pitchFamily="34" charset="-122"/>
              </a:rPr>
              <a:t>单步跟踪</a:t>
            </a:r>
            <a:r>
              <a:rPr lang="zh-CN" altLang="en-US" sz="2200">
                <a:solidFill>
                  <a:srgbClr val="008000"/>
                </a:solidFill>
                <a:ea typeface="微软雅黑" panose="020B0503020204020204" pitchFamily="34" charset="-122"/>
              </a:rPr>
              <a:t>、</a:t>
            </a:r>
            <a:r>
              <a:rPr lang="zh-CN" altLang="en-US" sz="2200">
                <a:solidFill>
                  <a:srgbClr val="FF0000"/>
                </a:solidFill>
                <a:ea typeface="微软雅黑" panose="020B0503020204020204" pitchFamily="34" charset="-122"/>
              </a:rPr>
              <a:t>断点设置</a:t>
            </a:r>
            <a:r>
              <a:rPr lang="zh-CN" altLang="en-US" sz="2200">
                <a:solidFill>
                  <a:srgbClr val="008000"/>
                </a:solidFill>
                <a:ea typeface="微软雅黑" panose="020B0503020204020204" pitchFamily="34" charset="-122"/>
              </a:rPr>
              <a:t>等调试功能吗？你知道这些功能是如何实现的吗？</a:t>
            </a:r>
          </a:p>
        </p:txBody>
      </p:sp>
      <p:sp>
        <p:nvSpPr>
          <p:cNvPr id="771078" name="Text Box 6">
            <a:extLst>
              <a:ext uri="{FF2B5EF4-FFF2-40B4-BE49-F238E27FC236}">
                <a16:creationId xmlns:a16="http://schemas.microsoft.com/office/drawing/2014/main" id="{2D5B100D-21CD-1E82-FBD6-89B4B0ADF097}"/>
              </a:ext>
            </a:extLst>
          </p:cNvPr>
          <p:cNvSpPr txBox="1">
            <a:spLocks noChangeArrowheads="1"/>
          </p:cNvSpPr>
          <p:nvPr/>
        </p:nvSpPr>
        <p:spPr bwMode="auto">
          <a:xfrm>
            <a:off x="3586163" y="1281113"/>
            <a:ext cx="3352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ea typeface="微软雅黑" panose="020B0503020204020204" pitchFamily="34" charset="-122"/>
              </a:rPr>
              <a:t>通过</a:t>
            </a:r>
            <a:r>
              <a:rPr lang="zh-CN" altLang="en-US" sz="2000">
                <a:latin typeface="微软雅黑" panose="020B0503020204020204" pitchFamily="34" charset="-122"/>
                <a:ea typeface="微软雅黑" panose="020B0503020204020204" pitchFamily="34" charset="-122"/>
              </a:rPr>
              <a:t>“</a:t>
            </a:r>
            <a:r>
              <a:rPr lang="zh-CN" altLang="en-US" sz="2000">
                <a:ea typeface="微软雅黑" panose="020B0503020204020204" pitchFamily="34" charset="-122"/>
              </a:rPr>
              <a:t>埋地雷</a:t>
            </a:r>
            <a:r>
              <a:rPr lang="zh-CN" altLang="en-US" sz="2000">
                <a:latin typeface="微软雅黑" panose="020B0503020204020204" pitchFamily="34" charset="-122"/>
                <a:ea typeface="微软雅黑" panose="020B0503020204020204" pitchFamily="34" charset="-122"/>
              </a:rPr>
              <a:t>”</a:t>
            </a:r>
            <a:r>
              <a:rPr lang="zh-CN" altLang="en-US" sz="2000">
                <a:ea typeface="微软雅黑" panose="020B0503020204020204" pitchFamily="34" charset="-122"/>
              </a:rPr>
              <a:t>的方式实现</a:t>
            </a:r>
          </a:p>
        </p:txBody>
      </p:sp>
      <p:sp>
        <p:nvSpPr>
          <p:cNvPr id="6" name="Text Box 22">
            <a:extLst>
              <a:ext uri="{FF2B5EF4-FFF2-40B4-BE49-F238E27FC236}">
                <a16:creationId xmlns:a16="http://schemas.microsoft.com/office/drawing/2014/main" id="{37136F0E-595B-372B-52CE-D08AC1729453}"/>
              </a:ext>
            </a:extLst>
          </p:cNvPr>
          <p:cNvSpPr txBox="1">
            <a:spLocks noChangeArrowheads="1"/>
          </p:cNvSpPr>
          <p:nvPr/>
        </p:nvSpPr>
        <p:spPr bwMode="auto">
          <a:xfrm>
            <a:off x="7083425" y="6226175"/>
            <a:ext cx="987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a:solidFill>
                  <a:schemeClr val="tx1"/>
                </a:solidFill>
                <a:hlinkClick r:id="rId2" action="ppaction://hlinksldjump"/>
              </a:rPr>
              <a:t>SKIP</a:t>
            </a:r>
            <a:endParaRPr lang="en-US" altLang="zh-CN"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1078"/>
                                        </p:tgtEl>
                                        <p:attrNameLst>
                                          <p:attrName>style.visibility</p:attrName>
                                        </p:attrNameLst>
                                      </p:cBhvr>
                                      <p:to>
                                        <p:strVal val="visible"/>
                                      </p:to>
                                    </p:set>
                                    <p:animEffect transition="in" filter="blinds(horizontal)">
                                      <p:cBhvr>
                                        <p:cTn id="7" dur="500"/>
                                        <p:tgtEl>
                                          <p:spTgt spid="7710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1075">
                                            <p:txEl>
                                              <p:pRg st="0" end="0"/>
                                            </p:txEl>
                                          </p:spTgt>
                                        </p:tgtEl>
                                        <p:attrNameLst>
                                          <p:attrName>style.visibility</p:attrName>
                                        </p:attrNameLst>
                                      </p:cBhvr>
                                      <p:to>
                                        <p:strVal val="visible"/>
                                      </p:to>
                                    </p:set>
                                    <p:animEffect transition="in" filter="blinds(horizontal)">
                                      <p:cBhvr>
                                        <p:cTn id="12" dur="500"/>
                                        <p:tgtEl>
                                          <p:spTgt spid="7710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71075">
                                            <p:txEl>
                                              <p:pRg st="1" end="1"/>
                                            </p:txEl>
                                          </p:spTgt>
                                        </p:tgtEl>
                                        <p:attrNameLst>
                                          <p:attrName>style.visibility</p:attrName>
                                        </p:attrNameLst>
                                      </p:cBhvr>
                                      <p:to>
                                        <p:strVal val="visible"/>
                                      </p:to>
                                    </p:set>
                                    <p:animEffect transition="in" filter="blinds(horizontal)">
                                      <p:cBhvr>
                                        <p:cTn id="17" dur="500"/>
                                        <p:tgtEl>
                                          <p:spTgt spid="77107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71075">
                                            <p:txEl>
                                              <p:pRg st="2" end="2"/>
                                            </p:txEl>
                                          </p:spTgt>
                                        </p:tgtEl>
                                        <p:attrNameLst>
                                          <p:attrName>style.visibility</p:attrName>
                                        </p:attrNameLst>
                                      </p:cBhvr>
                                      <p:to>
                                        <p:strVal val="visible"/>
                                      </p:to>
                                    </p:set>
                                    <p:animEffect transition="in" filter="blinds(horizontal)">
                                      <p:cBhvr>
                                        <p:cTn id="22" dur="500"/>
                                        <p:tgtEl>
                                          <p:spTgt spid="77107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71075">
                                            <p:txEl>
                                              <p:pRg st="3" end="3"/>
                                            </p:txEl>
                                          </p:spTgt>
                                        </p:tgtEl>
                                        <p:attrNameLst>
                                          <p:attrName>style.visibility</p:attrName>
                                        </p:attrNameLst>
                                      </p:cBhvr>
                                      <p:to>
                                        <p:strVal val="visible"/>
                                      </p:to>
                                    </p:set>
                                    <p:animEffect transition="in" filter="blinds(horizontal)">
                                      <p:cBhvr>
                                        <p:cTn id="27" dur="500"/>
                                        <p:tgtEl>
                                          <p:spTgt spid="77107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71075">
                                            <p:txEl>
                                              <p:pRg st="4" end="4"/>
                                            </p:txEl>
                                          </p:spTgt>
                                        </p:tgtEl>
                                        <p:attrNameLst>
                                          <p:attrName>style.visibility</p:attrName>
                                        </p:attrNameLst>
                                      </p:cBhvr>
                                      <p:to>
                                        <p:strVal val="visible"/>
                                      </p:to>
                                    </p:set>
                                    <p:animEffect transition="in" filter="blinds(horizontal)">
                                      <p:cBhvr>
                                        <p:cTn id="32" dur="500"/>
                                        <p:tgtEl>
                                          <p:spTgt spid="77107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71075">
                                            <p:txEl>
                                              <p:pRg st="5" end="5"/>
                                            </p:txEl>
                                          </p:spTgt>
                                        </p:tgtEl>
                                        <p:attrNameLst>
                                          <p:attrName>style.visibility</p:attrName>
                                        </p:attrNameLst>
                                      </p:cBhvr>
                                      <p:to>
                                        <p:strVal val="visible"/>
                                      </p:to>
                                    </p:set>
                                    <p:animEffect transition="in" filter="blinds(horizontal)">
                                      <p:cBhvr>
                                        <p:cTn id="37" dur="500"/>
                                        <p:tgtEl>
                                          <p:spTgt spid="77107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1000" fill="hold"/>
                                        <p:tgtEl>
                                          <p:spTgt spid="6"/>
                                        </p:tgtEl>
                                        <p:attrNameLst>
                                          <p:attrName>ppt_w</p:attrName>
                                        </p:attrNameLst>
                                      </p:cBhvr>
                                      <p:tavLst>
                                        <p:tav tm="0">
                                          <p:val>
                                            <p:fltVal val="0"/>
                                          </p:val>
                                        </p:tav>
                                        <p:tav tm="100000">
                                          <p:val>
                                            <p:strVal val="#ppt_w"/>
                                          </p:val>
                                        </p:tav>
                                      </p:tavLst>
                                    </p:anim>
                                    <p:anim calcmode="lin" valueType="num">
                                      <p:cBhvr>
                                        <p:cTn id="43" dur="1000" fill="hold"/>
                                        <p:tgtEl>
                                          <p:spTgt spid="6"/>
                                        </p:tgtEl>
                                        <p:attrNameLst>
                                          <p:attrName>ppt_h</p:attrName>
                                        </p:attrNameLst>
                                      </p:cBhvr>
                                      <p:tavLst>
                                        <p:tav tm="0">
                                          <p:val>
                                            <p:fltVal val="0"/>
                                          </p:val>
                                        </p:tav>
                                        <p:tav tm="100000">
                                          <p:val>
                                            <p:strVal val="#ppt_h"/>
                                          </p:val>
                                        </p:tav>
                                      </p:tavLst>
                                    </p:anim>
                                    <p:anim calcmode="lin" valueType="num">
                                      <p:cBhvr>
                                        <p:cTn id="44" dur="1000" fill="hold"/>
                                        <p:tgtEl>
                                          <p:spTgt spid="6"/>
                                        </p:tgtEl>
                                        <p:attrNameLst>
                                          <p:attrName>style.rotation</p:attrName>
                                        </p:attrNameLst>
                                      </p:cBhvr>
                                      <p:tavLst>
                                        <p:tav tm="0">
                                          <p:val>
                                            <p:fltVal val="90"/>
                                          </p:val>
                                        </p:tav>
                                        <p:tav tm="100000">
                                          <p:val>
                                            <p:fltVal val="0"/>
                                          </p:val>
                                        </p:tav>
                                      </p:tavLst>
                                    </p:anim>
                                    <p:animEffect transition="in" filter="fade">
                                      <p:cBhvr>
                                        <p:cTn id="4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8"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095B05D-23C0-97EC-5E3F-50149105E639}"/>
              </a:ext>
            </a:extLst>
          </p:cNvPr>
          <p:cNvSpPr>
            <a:spLocks noGrp="1" noChangeArrowheads="1"/>
          </p:cNvSpPr>
          <p:nvPr>
            <p:ph type="title"/>
          </p:nvPr>
        </p:nvSpPr>
        <p:spPr>
          <a:xfrm>
            <a:off x="628650" y="98425"/>
            <a:ext cx="7499350" cy="528638"/>
          </a:xfrm>
        </p:spPr>
        <p:txBody>
          <a:bodyPr/>
          <a:lstStyle/>
          <a:p>
            <a:r>
              <a:rPr lang="zh-CN" altLang="en-US">
                <a:ea typeface="宋体" panose="02010600030101010101" pitchFamily="2" charset="-122"/>
              </a:rPr>
              <a:t>异常的分类</a:t>
            </a:r>
          </a:p>
        </p:txBody>
      </p:sp>
      <p:sp>
        <p:nvSpPr>
          <p:cNvPr id="49154" name="Rectangle 3">
            <a:extLst>
              <a:ext uri="{FF2B5EF4-FFF2-40B4-BE49-F238E27FC236}">
                <a16:creationId xmlns:a16="http://schemas.microsoft.com/office/drawing/2014/main" id="{BED24C3B-77B9-5227-792E-D3A086847DFB}"/>
              </a:ext>
            </a:extLst>
          </p:cNvPr>
          <p:cNvSpPr>
            <a:spLocks noGrp="1" noChangeArrowheads="1"/>
          </p:cNvSpPr>
          <p:nvPr>
            <p:ph idx="1"/>
          </p:nvPr>
        </p:nvSpPr>
        <p:spPr>
          <a:xfrm>
            <a:off x="196850" y="820738"/>
            <a:ext cx="8410575" cy="3281362"/>
          </a:xfrm>
        </p:spPr>
        <p:txBody>
          <a:bodyPr/>
          <a:lstStyle/>
          <a:p>
            <a:pPr>
              <a:lnSpc>
                <a:spcPct val="120000"/>
              </a:lnSpc>
              <a:spcBef>
                <a:spcPct val="15000"/>
              </a:spcBef>
              <a:buFontTx/>
              <a:buNone/>
            </a:pPr>
            <a:r>
              <a:rPr lang="zh-CN" altLang="en-US">
                <a:latin typeface="微软雅黑" panose="020B0503020204020204" pitchFamily="34" charset="-122"/>
                <a:ea typeface="微软雅黑" panose="020B0503020204020204" pitchFamily="34" charset="-122"/>
              </a:rPr>
              <a:t>“异常” 按处理方式分为故障、自陷和终止三类</a:t>
            </a: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故障</a:t>
            </a:r>
            <a:r>
              <a:rPr lang="en-US" altLang="zh-CN">
                <a:solidFill>
                  <a:srgbClr val="FF0000"/>
                </a:solidFill>
                <a:latin typeface="微软雅黑" panose="020B0503020204020204" pitchFamily="34" charset="-122"/>
                <a:ea typeface="微软雅黑" panose="020B0503020204020204" pitchFamily="34" charset="-122"/>
              </a:rPr>
              <a:t>(fault)</a:t>
            </a:r>
            <a:r>
              <a:rPr lang="zh-CN" altLang="en-US">
                <a:solidFill>
                  <a:srgbClr val="00CC00"/>
                </a:solidFill>
                <a:latin typeface="微软雅黑" panose="020B0503020204020204" pitchFamily="34" charset="-122"/>
                <a:ea typeface="微软雅黑" panose="020B0503020204020204" pitchFamily="34" charset="-122"/>
              </a:rPr>
              <a:t> </a:t>
            </a:r>
            <a:r>
              <a:rPr lang="zh-CN" altLang="en-US">
                <a:solidFill>
                  <a:srgbClr val="008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执行指令引起的异常事件，如溢出、缺页、堆栈溢出、访问超时等。</a:t>
            </a: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自陷</a:t>
            </a:r>
            <a:r>
              <a:rPr lang="en-US" altLang="zh-CN">
                <a:solidFill>
                  <a:srgbClr val="FF0000"/>
                </a:solidFill>
                <a:latin typeface="微软雅黑" panose="020B0503020204020204" pitchFamily="34" charset="-122"/>
                <a:ea typeface="微软雅黑" panose="020B0503020204020204" pitchFamily="34" charset="-122"/>
              </a:rPr>
              <a:t>(Trap)</a:t>
            </a:r>
            <a:r>
              <a:rPr lang="zh-CN" altLang="en-US">
                <a:solidFill>
                  <a:srgbClr val="006600"/>
                </a:solidFill>
                <a:latin typeface="微软雅黑" panose="020B0503020204020204" pitchFamily="34" charset="-122"/>
                <a:ea typeface="微软雅黑" panose="020B0503020204020204" pitchFamily="34" charset="-122"/>
              </a:rPr>
              <a:t> </a:t>
            </a:r>
            <a:r>
              <a:rPr lang="zh-CN" altLang="en-US">
                <a:solidFill>
                  <a:srgbClr val="008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预先安排的事件</a:t>
            </a:r>
            <a:r>
              <a:rPr lang="zh-CN" altLang="en-US">
                <a:solidFill>
                  <a:srgbClr val="FF000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埋地雷”）</a:t>
            </a:r>
            <a:r>
              <a:rPr lang="zh-CN" altLang="en-US">
                <a:latin typeface="微软雅黑" panose="020B0503020204020204" pitchFamily="34" charset="-122"/>
                <a:ea typeface="微软雅黑" panose="020B0503020204020204" pitchFamily="34" charset="-122"/>
              </a:rPr>
              <a:t>，如单步跟踪、断点、系统调用 </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执行</a:t>
            </a:r>
            <a:r>
              <a:rPr lang="zh-CN" altLang="en-US">
                <a:solidFill>
                  <a:srgbClr val="996600"/>
                </a:solidFill>
                <a:latin typeface="微软雅黑" panose="020B0503020204020204" pitchFamily="34" charset="-122"/>
                <a:ea typeface="微软雅黑" panose="020B0503020204020204" pitchFamily="34" charset="-122"/>
              </a:rPr>
              <a:t>访管指令</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等。</a:t>
            </a:r>
            <a:r>
              <a:rPr lang="zh-CN" altLang="en-US">
                <a:solidFill>
                  <a:srgbClr val="A50021"/>
                </a:solidFill>
                <a:latin typeface="微软雅黑" panose="020B0503020204020204" pitchFamily="34" charset="-122"/>
                <a:ea typeface="微软雅黑" panose="020B0503020204020204" pitchFamily="34" charset="-122"/>
              </a:rPr>
              <a:t>是一种自愿中断。</a:t>
            </a:r>
          </a:p>
          <a:p>
            <a:pPr lvl="1">
              <a:lnSpc>
                <a:spcPct val="120000"/>
              </a:lnSpc>
              <a:spcBef>
                <a:spcPct val="15000"/>
              </a:spcBef>
              <a:buFontTx/>
              <a:buNone/>
            </a:pPr>
            <a:endParaRPr lang="zh-CN" altLang="en-US">
              <a:solidFill>
                <a:srgbClr val="FF0000"/>
              </a:solidFill>
              <a:latin typeface="微软雅黑" panose="020B0503020204020204" pitchFamily="34" charset="-122"/>
              <a:ea typeface="微软雅黑" panose="020B0503020204020204" pitchFamily="34" charset="-122"/>
            </a:endParaRPr>
          </a:p>
          <a:p>
            <a:pPr lvl="1">
              <a:lnSpc>
                <a:spcPct val="120000"/>
              </a:lnSpc>
              <a:spcBef>
                <a:spcPct val="15000"/>
              </a:spcBef>
              <a:buFontTx/>
              <a:buNone/>
            </a:pPr>
            <a:r>
              <a:rPr lang="zh-CN" altLang="en-US">
                <a:solidFill>
                  <a:srgbClr val="FF0000"/>
                </a:solidFill>
                <a:latin typeface="微软雅黑" panose="020B0503020204020204" pitchFamily="34" charset="-122"/>
                <a:ea typeface="微软雅黑" panose="020B0503020204020204" pitchFamily="34" charset="-122"/>
              </a:rPr>
              <a:t>终止</a:t>
            </a:r>
            <a:r>
              <a:rPr lang="en-US" altLang="zh-CN">
                <a:solidFill>
                  <a:srgbClr val="FF0000"/>
                </a:solidFill>
                <a:latin typeface="微软雅黑" panose="020B0503020204020204" pitchFamily="34" charset="-122"/>
                <a:ea typeface="微软雅黑" panose="020B0503020204020204" pitchFamily="34" charset="-122"/>
              </a:rPr>
              <a:t>(Abort)</a:t>
            </a:r>
            <a:r>
              <a:rPr lang="zh-CN" altLang="en-US">
                <a:solidFill>
                  <a:srgbClr val="006600"/>
                </a:solidFill>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硬故障事件，此时机器将“终止”，调出中断服务程序来重启操作系统。</a:t>
            </a:r>
          </a:p>
        </p:txBody>
      </p:sp>
      <p:sp>
        <p:nvSpPr>
          <p:cNvPr id="49155" name="Rectangle 4">
            <a:extLst>
              <a:ext uri="{FF2B5EF4-FFF2-40B4-BE49-F238E27FC236}">
                <a16:creationId xmlns:a16="http://schemas.microsoft.com/office/drawing/2014/main" id="{5303F8DE-B2F3-3978-BB88-7F451F09ADB5}"/>
              </a:ext>
            </a:extLst>
          </p:cNvPr>
          <p:cNvSpPr>
            <a:spLocks noChangeArrowheads="1"/>
          </p:cNvSpPr>
          <p:nvPr/>
        </p:nvSpPr>
        <p:spPr bwMode="auto">
          <a:xfrm>
            <a:off x="344488" y="5851525"/>
            <a:ext cx="6773862" cy="7524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20000"/>
              </a:spcBef>
              <a:buFontTx/>
              <a:buChar char="•"/>
            </a:pPr>
            <a:r>
              <a:rPr lang="zh-CN" altLang="en-US" sz="2000">
                <a:solidFill>
                  <a:schemeClr val="tx1"/>
                </a:solidFill>
                <a:ea typeface="微软雅黑" panose="020B0503020204020204" pitchFamily="34" charset="-122"/>
              </a:rPr>
              <a:t>不同体系结构和教科书对</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异常</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和</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中断</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定义的内涵不同，在看书时要注意！</a:t>
            </a:r>
          </a:p>
        </p:txBody>
      </p:sp>
      <p:sp>
        <p:nvSpPr>
          <p:cNvPr id="49156" name="Rectangle 5">
            <a:extLst>
              <a:ext uri="{FF2B5EF4-FFF2-40B4-BE49-F238E27FC236}">
                <a16:creationId xmlns:a16="http://schemas.microsoft.com/office/drawing/2014/main" id="{7BEACC8E-538B-DB5F-B7C1-1AEA45F5471B}"/>
              </a:ext>
            </a:extLst>
          </p:cNvPr>
          <p:cNvSpPr>
            <a:spLocks noChangeArrowheads="1"/>
          </p:cNvSpPr>
          <p:nvPr/>
        </p:nvSpPr>
        <p:spPr bwMode="auto">
          <a:xfrm>
            <a:off x="0" y="4486275"/>
            <a:ext cx="872172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lvl="1" eaLnBrk="0" hangingPunct="0">
              <a:lnSpc>
                <a:spcPct val="120000"/>
              </a:lnSpc>
            </a:pPr>
            <a:r>
              <a:rPr lang="zh-CN" altLang="en-US" sz="2200">
                <a:solidFill>
                  <a:srgbClr val="FF0000"/>
                </a:solidFill>
                <a:latin typeface="微软雅黑" panose="020B0503020204020204" pitchFamily="34" charset="-122"/>
                <a:ea typeface="微软雅黑" panose="020B0503020204020204" pitchFamily="34" charset="-122"/>
              </a:rPr>
              <a:t>思考</a:t>
            </a:r>
            <a:r>
              <a:rPr lang="en-US" altLang="zh-CN" sz="2200">
                <a:solidFill>
                  <a:srgbClr val="FF0000"/>
                </a:solidFill>
                <a:latin typeface="微软雅黑" panose="020B0503020204020204" pitchFamily="34" charset="-122"/>
                <a:ea typeface="微软雅黑" panose="020B0503020204020204" pitchFamily="34" charset="-122"/>
              </a:rPr>
              <a:t>2</a:t>
            </a:r>
            <a:r>
              <a:rPr lang="zh-CN" altLang="en-US" sz="2200">
                <a:solidFill>
                  <a:srgbClr val="FF0000"/>
                </a:solidFill>
                <a:latin typeface="微软雅黑" panose="020B0503020204020204" pitchFamily="34" charset="-122"/>
                <a:ea typeface="微软雅黑" panose="020B0503020204020204" pitchFamily="34" charset="-122"/>
              </a:rPr>
              <a:t>：哪些故障补救后可继续执行，哪些只好终止当前进程？</a:t>
            </a:r>
          </a:p>
          <a:p>
            <a:pPr lvl="1" eaLnBrk="0" hangingPunct="0">
              <a:lnSpc>
                <a:spcPct val="120000"/>
              </a:lnSpc>
            </a:pPr>
            <a:r>
              <a:rPr lang="zh-CN" altLang="en-US" sz="2200">
                <a:solidFill>
                  <a:schemeClr val="accent1"/>
                </a:solidFill>
                <a:latin typeface="微软雅黑" panose="020B0503020204020204" pitchFamily="34" charset="-122"/>
                <a:ea typeface="微软雅黑" panose="020B0503020204020204" pitchFamily="34" charset="-122"/>
              </a:rPr>
              <a:t>   </a:t>
            </a:r>
            <a:r>
              <a:rPr lang="zh-CN" altLang="en-US" sz="2000">
                <a:solidFill>
                  <a:srgbClr val="B7011F"/>
                </a:solidFill>
                <a:latin typeface="微软雅黑" panose="020B0503020204020204" pitchFamily="34" charset="-122"/>
                <a:ea typeface="微软雅黑" panose="020B0503020204020204" pitchFamily="34" charset="-122"/>
              </a:rPr>
              <a:t>缺页、</a:t>
            </a:r>
            <a:r>
              <a:rPr lang="en-US" altLang="zh-CN" sz="2000">
                <a:solidFill>
                  <a:srgbClr val="B7011F"/>
                </a:solidFill>
                <a:latin typeface="微软雅黑" panose="020B0503020204020204" pitchFamily="34" charset="-122"/>
                <a:ea typeface="微软雅黑" panose="020B0503020204020204" pitchFamily="34" charset="-122"/>
              </a:rPr>
              <a:t>TLB</a:t>
            </a:r>
            <a:r>
              <a:rPr lang="zh-CN" altLang="en-US" sz="2000">
                <a:solidFill>
                  <a:srgbClr val="B7011F"/>
                </a:solidFill>
                <a:latin typeface="微软雅黑" panose="020B0503020204020204" pitchFamily="34" charset="-122"/>
                <a:ea typeface="微软雅黑" panose="020B0503020204020204" pitchFamily="34" charset="-122"/>
              </a:rPr>
              <a:t>缺失等：</a:t>
            </a:r>
            <a:r>
              <a:rPr lang="zh-CN" altLang="en-US" sz="2000">
                <a:solidFill>
                  <a:srgbClr val="0066CC"/>
                </a:solidFill>
                <a:latin typeface="微软雅黑" panose="020B0503020204020204" pitchFamily="34" charset="-122"/>
                <a:ea typeface="微软雅黑" panose="020B0503020204020204" pitchFamily="34" charset="-122"/>
              </a:rPr>
              <a:t>补救后可继续，回到发生故障的指令重新执行。</a:t>
            </a:r>
            <a:r>
              <a:rPr lang="zh-CN" altLang="en-US" sz="2000">
                <a:solidFill>
                  <a:srgbClr val="B7011F"/>
                </a:solidFill>
                <a:latin typeface="微软雅黑" panose="020B0503020204020204" pitchFamily="34" charset="-122"/>
                <a:ea typeface="微软雅黑" panose="020B0503020204020204" pitchFamily="34" charset="-122"/>
              </a:rPr>
              <a:t>  </a:t>
            </a:r>
          </a:p>
          <a:p>
            <a:pPr lvl="1" eaLnBrk="0" hangingPunct="0">
              <a:lnSpc>
                <a:spcPct val="120000"/>
              </a:lnSpc>
            </a:pPr>
            <a:r>
              <a:rPr lang="zh-CN" altLang="en-US" sz="2000">
                <a:solidFill>
                  <a:srgbClr val="B7011F"/>
                </a:solidFill>
                <a:latin typeface="微软雅黑" panose="020B0503020204020204" pitchFamily="34" charset="-122"/>
                <a:ea typeface="微软雅黑" panose="020B0503020204020204" pitchFamily="34" charset="-122"/>
              </a:rPr>
              <a:t>    溢出、除数为</a:t>
            </a:r>
            <a:r>
              <a:rPr lang="en-US" altLang="zh-CN" sz="2000">
                <a:solidFill>
                  <a:srgbClr val="B7011F"/>
                </a:solidFill>
                <a:latin typeface="微软雅黑" panose="020B0503020204020204" pitchFamily="34" charset="-122"/>
                <a:ea typeface="微软雅黑" panose="020B0503020204020204" pitchFamily="34" charset="-122"/>
              </a:rPr>
              <a:t>0</a:t>
            </a:r>
            <a:r>
              <a:rPr lang="zh-CN" altLang="en-US" sz="2000">
                <a:solidFill>
                  <a:srgbClr val="B7011F"/>
                </a:solidFill>
                <a:latin typeface="微软雅黑" panose="020B0503020204020204" pitchFamily="34" charset="-122"/>
                <a:ea typeface="微软雅黑" panose="020B0503020204020204" pitchFamily="34" charset="-122"/>
              </a:rPr>
              <a:t>、非法操作、内存保护错等：</a:t>
            </a:r>
            <a:r>
              <a:rPr lang="zh-CN" altLang="en-US" sz="2000">
                <a:solidFill>
                  <a:srgbClr val="0066CC"/>
                </a:solidFill>
                <a:latin typeface="微软雅黑" panose="020B0503020204020204" pitchFamily="34" charset="-122"/>
                <a:ea typeface="微软雅黑" panose="020B0503020204020204" pitchFamily="34" charset="-122"/>
              </a:rPr>
              <a:t>终止当前进程。</a:t>
            </a:r>
          </a:p>
        </p:txBody>
      </p:sp>
      <p:sp>
        <p:nvSpPr>
          <p:cNvPr id="49157" name="Rectangle 6">
            <a:extLst>
              <a:ext uri="{FF2B5EF4-FFF2-40B4-BE49-F238E27FC236}">
                <a16:creationId xmlns:a16="http://schemas.microsoft.com/office/drawing/2014/main" id="{699091A7-C9A1-5C70-7401-55E1ABA72013}"/>
              </a:ext>
            </a:extLst>
          </p:cNvPr>
          <p:cNvSpPr>
            <a:spLocks noChangeArrowheads="1"/>
          </p:cNvSpPr>
          <p:nvPr/>
        </p:nvSpPr>
        <p:spPr bwMode="auto">
          <a:xfrm>
            <a:off x="6043613" y="4089400"/>
            <a:ext cx="1979612" cy="43656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20000"/>
              </a:spcBef>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200">
                <a:solidFill>
                  <a:schemeClr val="tx1"/>
                </a:solidFill>
                <a:latin typeface="微软雅黑" panose="020B0503020204020204" pitchFamily="34" charset="-122"/>
                <a:ea typeface="微软雅黑" panose="020B0503020204020204" pitchFamily="34" charset="-122"/>
              </a:rPr>
              <a:t>回到下条指令</a:t>
            </a:r>
          </a:p>
        </p:txBody>
      </p:sp>
      <p:sp>
        <p:nvSpPr>
          <p:cNvPr id="49158" name="Text Box 7">
            <a:extLst>
              <a:ext uri="{FF2B5EF4-FFF2-40B4-BE49-F238E27FC236}">
                <a16:creationId xmlns:a16="http://schemas.microsoft.com/office/drawing/2014/main" id="{AA87B45F-1218-05C2-D130-6BB36CEEC979}"/>
              </a:ext>
            </a:extLst>
          </p:cNvPr>
          <p:cNvSpPr txBox="1">
            <a:spLocks noChangeArrowheads="1"/>
          </p:cNvSpPr>
          <p:nvPr/>
        </p:nvSpPr>
        <p:spPr bwMode="auto">
          <a:xfrm>
            <a:off x="2971800" y="1581150"/>
            <a:ext cx="4338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“断点”为发生故障指令的地址</a:t>
            </a:r>
          </a:p>
        </p:txBody>
      </p:sp>
      <p:sp>
        <p:nvSpPr>
          <p:cNvPr id="49159" name="Text Box 8">
            <a:extLst>
              <a:ext uri="{FF2B5EF4-FFF2-40B4-BE49-F238E27FC236}">
                <a16:creationId xmlns:a16="http://schemas.microsoft.com/office/drawing/2014/main" id="{9F954C0D-9611-6311-9B59-AE95E567E41F}"/>
              </a:ext>
            </a:extLst>
          </p:cNvPr>
          <p:cNvSpPr txBox="1">
            <a:spLocks noChangeArrowheads="1"/>
          </p:cNvSpPr>
          <p:nvPr/>
        </p:nvSpPr>
        <p:spPr bwMode="auto">
          <a:xfrm>
            <a:off x="3008313" y="2636838"/>
            <a:ext cx="3900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0" tIns="0" rIns="0" bIns="0">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“断点”为自陷指令下条指令地址</a:t>
            </a:r>
          </a:p>
        </p:txBody>
      </p:sp>
      <p:sp>
        <p:nvSpPr>
          <p:cNvPr id="49160" name="Text Box 9">
            <a:extLst>
              <a:ext uri="{FF2B5EF4-FFF2-40B4-BE49-F238E27FC236}">
                <a16:creationId xmlns:a16="http://schemas.microsoft.com/office/drawing/2014/main" id="{93FAFD6C-6105-B512-C1FC-65BC8C5F5826}"/>
              </a:ext>
            </a:extLst>
          </p:cNvPr>
          <p:cNvSpPr txBox="1">
            <a:spLocks noChangeArrowheads="1"/>
          </p:cNvSpPr>
          <p:nvPr/>
        </p:nvSpPr>
        <p:spPr bwMode="auto">
          <a:xfrm>
            <a:off x="3375025" y="3609975"/>
            <a:ext cx="353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chemeClr val="tx1"/>
                </a:solidFill>
                <a:latin typeface="微软雅黑" panose="020B0503020204020204" pitchFamily="34" charset="-122"/>
                <a:ea typeface="微软雅黑" panose="020B0503020204020204" pitchFamily="34" charset="-122"/>
              </a:rPr>
              <a:t>“断点”是什么？ 随便！</a:t>
            </a:r>
          </a:p>
        </p:txBody>
      </p:sp>
      <p:sp>
        <p:nvSpPr>
          <p:cNvPr id="49161" name="Rectangle 10">
            <a:extLst>
              <a:ext uri="{FF2B5EF4-FFF2-40B4-BE49-F238E27FC236}">
                <a16:creationId xmlns:a16="http://schemas.microsoft.com/office/drawing/2014/main" id="{DB053337-B4E9-D1A4-2ECF-2B6D10F5CF0E}"/>
              </a:ext>
            </a:extLst>
          </p:cNvPr>
          <p:cNvSpPr>
            <a:spLocks noChangeArrowheads="1"/>
          </p:cNvSpPr>
          <p:nvPr/>
        </p:nvSpPr>
        <p:spPr bwMode="auto">
          <a:xfrm>
            <a:off x="461963" y="4110038"/>
            <a:ext cx="56657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200">
                <a:solidFill>
                  <a:srgbClr val="FF0000"/>
                </a:solidFill>
                <a:latin typeface="微软雅黑" panose="020B0503020204020204" pitchFamily="34" charset="-122"/>
                <a:ea typeface="微软雅黑" panose="020B0503020204020204" pitchFamily="34" charset="-122"/>
              </a:rPr>
              <a:t>思考</a:t>
            </a:r>
            <a:r>
              <a:rPr lang="en-US" altLang="zh-CN" sz="2200">
                <a:solidFill>
                  <a:srgbClr val="FF0000"/>
                </a:solidFill>
                <a:latin typeface="微软雅黑" panose="020B0503020204020204" pitchFamily="34" charset="-122"/>
                <a:ea typeface="微软雅黑" panose="020B0503020204020204" pitchFamily="34" charset="-122"/>
              </a:rPr>
              <a:t>1</a:t>
            </a:r>
            <a:r>
              <a:rPr lang="zh-CN" altLang="en-US" sz="2200">
                <a:solidFill>
                  <a:srgbClr val="FF0000"/>
                </a:solidFill>
                <a:latin typeface="微软雅黑" panose="020B0503020204020204" pitchFamily="34" charset="-122"/>
                <a:ea typeface="微软雅黑" panose="020B0503020204020204" pitchFamily="34" charset="-122"/>
              </a:rPr>
              <a:t>：自陷处理完成后回到哪条指令执行？</a:t>
            </a:r>
          </a:p>
        </p:txBody>
      </p:sp>
      <p:sp>
        <p:nvSpPr>
          <p:cNvPr id="49162" name="Rectangle 11">
            <a:extLst>
              <a:ext uri="{FF2B5EF4-FFF2-40B4-BE49-F238E27FC236}">
                <a16:creationId xmlns:a16="http://schemas.microsoft.com/office/drawing/2014/main" id="{0955EF34-1666-32AC-0F2F-5525FD38FEF6}"/>
              </a:ext>
            </a:extLst>
          </p:cNvPr>
          <p:cNvSpPr>
            <a:spLocks noChangeArrowheads="1"/>
          </p:cNvSpPr>
          <p:nvPr/>
        </p:nvSpPr>
        <p:spPr bwMode="auto">
          <a:xfrm>
            <a:off x="566738" y="3024188"/>
            <a:ext cx="8010525" cy="928687"/>
          </a:xfrm>
          <a:prstGeom prst="rect">
            <a:avLst/>
          </a:prstGeom>
          <a:solidFill>
            <a:schemeClr val="accent1">
              <a:alpha val="25882"/>
            </a:schemeClr>
          </a:solidFill>
          <a:ln w="9525">
            <a:solidFill>
              <a:schemeClr val="tx1"/>
            </a:solidFill>
            <a:miter lim="800000"/>
            <a:headEnd/>
            <a:tailEnd/>
          </a:ln>
        </p:spPr>
        <p:txBody>
          <a:bodyPr wrap="none" anchor="ctr"/>
          <a:lstStyle/>
          <a:p>
            <a:endParaRPr lang="zh-CN" altLang="en-US" sz="1800" b="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EEA04EF-2189-A5CC-A1D2-FA5B57DA516A}"/>
              </a:ext>
            </a:extLst>
          </p:cNvPr>
          <p:cNvSpPr>
            <a:spLocks noGrp="1" noChangeArrowheads="1"/>
          </p:cNvSpPr>
          <p:nvPr>
            <p:ph type="title"/>
          </p:nvPr>
        </p:nvSpPr>
        <p:spPr/>
        <p:txBody>
          <a:bodyPr/>
          <a:lstStyle/>
          <a:p>
            <a:r>
              <a:rPr lang="zh-CN" altLang="en-US">
                <a:ea typeface="宋体" panose="02010600030101010101" pitchFamily="2" charset="-122"/>
              </a:rPr>
              <a:t>终止（</a:t>
            </a:r>
            <a:r>
              <a:rPr lang="en-US" altLang="zh-CN">
                <a:ea typeface="宋体" panose="02010600030101010101" pitchFamily="2" charset="-122"/>
              </a:rPr>
              <a:t>Abort</a:t>
            </a:r>
            <a:r>
              <a:rPr lang="zh-CN" altLang="en-US">
                <a:ea typeface="宋体" panose="02010600030101010101" pitchFamily="2" charset="-122"/>
              </a:rPr>
              <a:t>）异常</a:t>
            </a:r>
          </a:p>
        </p:txBody>
      </p:sp>
      <p:sp>
        <p:nvSpPr>
          <p:cNvPr id="51202" name="Rectangle 3">
            <a:extLst>
              <a:ext uri="{FF2B5EF4-FFF2-40B4-BE49-F238E27FC236}">
                <a16:creationId xmlns:a16="http://schemas.microsoft.com/office/drawing/2014/main" id="{75F134D6-A085-D535-F47B-1C60751D3C00}"/>
              </a:ext>
            </a:extLst>
          </p:cNvPr>
          <p:cNvSpPr>
            <a:spLocks noGrp="1" noChangeArrowheads="1"/>
          </p:cNvSpPr>
          <p:nvPr>
            <p:ph idx="1"/>
          </p:nvPr>
        </p:nvSpPr>
        <p:spPr>
          <a:xfrm>
            <a:off x="468313" y="836613"/>
            <a:ext cx="8229600" cy="2243137"/>
          </a:xfrm>
        </p:spPr>
        <p:txBody>
          <a:bodyPr/>
          <a:lstStyle/>
          <a:p>
            <a:r>
              <a:rPr lang="zh-CN" altLang="en-US" sz="2200">
                <a:latin typeface="微软雅黑" panose="020B0503020204020204" pitchFamily="34" charset="-122"/>
                <a:ea typeface="微软雅黑" panose="020B0503020204020204" pitchFamily="34" charset="-122"/>
              </a:rPr>
              <a:t>如果在执行指令过程中发生了严重错误，例如，控制器出现问题，访问</a:t>
            </a:r>
            <a:r>
              <a:rPr lang="en-US" altLang="zh-CN" sz="2200">
                <a:latin typeface="微软雅黑" panose="020B0503020204020204" pitchFamily="34" charset="-122"/>
                <a:ea typeface="微软雅黑" panose="020B0503020204020204" pitchFamily="34" charset="-122"/>
              </a:rPr>
              <a:t>DRAM</a:t>
            </a:r>
            <a:r>
              <a:rPr lang="zh-CN" altLang="en-US" sz="2200">
                <a:latin typeface="微软雅黑" panose="020B0503020204020204" pitchFamily="34" charset="-122"/>
                <a:ea typeface="微软雅黑" panose="020B0503020204020204" pitchFamily="34" charset="-122"/>
              </a:rPr>
              <a:t>或</a:t>
            </a:r>
            <a:r>
              <a:rPr lang="en-US" altLang="zh-CN" sz="2200">
                <a:latin typeface="微软雅黑" panose="020B0503020204020204" pitchFamily="34" charset="-122"/>
                <a:ea typeface="微软雅黑" panose="020B0503020204020204" pitchFamily="34" charset="-122"/>
              </a:rPr>
              <a:t>SRAM</a:t>
            </a:r>
            <a:r>
              <a:rPr lang="zh-CN" altLang="en-US" sz="2200">
                <a:latin typeface="微软雅黑" panose="020B0503020204020204" pitchFamily="34" charset="-122"/>
                <a:ea typeface="微软雅黑" panose="020B0503020204020204" pitchFamily="34" charset="-122"/>
              </a:rPr>
              <a:t>时发生校验错等，则程序将无法继续执行，只好</a:t>
            </a:r>
            <a:r>
              <a:rPr lang="zh-CN" altLang="en-US" sz="2200">
                <a:solidFill>
                  <a:srgbClr val="FF0000"/>
                </a:solidFill>
                <a:latin typeface="微软雅黑" panose="020B0503020204020204" pitchFamily="34" charset="-122"/>
                <a:ea typeface="微软雅黑" panose="020B0503020204020204" pitchFamily="34" charset="-122"/>
              </a:rPr>
              <a:t>终止发生问题的进程</a:t>
            </a:r>
            <a:r>
              <a:rPr lang="zh-CN" altLang="en-US" sz="2200">
                <a:latin typeface="微软雅黑" panose="020B0503020204020204" pitchFamily="34" charset="-122"/>
                <a:ea typeface="微软雅黑" panose="020B0503020204020204" pitchFamily="34" charset="-122"/>
              </a:rPr>
              <a:t>，在有些严重的情况下，甚至要</a:t>
            </a:r>
            <a:r>
              <a:rPr lang="zh-CN" altLang="en-US" sz="2200">
                <a:solidFill>
                  <a:srgbClr val="FF0000"/>
                </a:solidFill>
                <a:latin typeface="微软雅黑" panose="020B0503020204020204" pitchFamily="34" charset="-122"/>
                <a:ea typeface="微软雅黑" panose="020B0503020204020204" pitchFamily="34" charset="-122"/>
              </a:rPr>
              <a:t>重启系统</a:t>
            </a:r>
            <a:r>
              <a:rPr lang="zh-CN" altLang="en-US" sz="2200">
                <a:latin typeface="微软雅黑" panose="020B0503020204020204" pitchFamily="34" charset="-122"/>
                <a:ea typeface="微软雅黑" panose="020B0503020204020204" pitchFamily="34" charset="-122"/>
              </a:rPr>
              <a:t>。</a:t>
            </a:r>
          </a:p>
          <a:p>
            <a:r>
              <a:rPr lang="zh-CN" altLang="en-US" sz="2200">
                <a:latin typeface="微软雅黑" panose="020B0503020204020204" pitchFamily="34" charset="-122"/>
                <a:ea typeface="微软雅黑" panose="020B0503020204020204" pitchFamily="34" charset="-122"/>
              </a:rPr>
              <a:t>这种异常是随机发生的，无法确定发生异常的是哪条指令。 </a:t>
            </a:r>
          </a:p>
        </p:txBody>
      </p:sp>
      <p:grpSp>
        <p:nvGrpSpPr>
          <p:cNvPr id="772103" name="Group 7">
            <a:extLst>
              <a:ext uri="{FF2B5EF4-FFF2-40B4-BE49-F238E27FC236}">
                <a16:creationId xmlns:a16="http://schemas.microsoft.com/office/drawing/2014/main" id="{F3A7A02F-52D7-877E-042A-071A4AE40C3E}"/>
              </a:ext>
            </a:extLst>
          </p:cNvPr>
          <p:cNvGrpSpPr>
            <a:grpSpLocks/>
          </p:cNvGrpSpPr>
          <p:nvPr/>
        </p:nvGrpSpPr>
        <p:grpSpPr bwMode="auto">
          <a:xfrm>
            <a:off x="447675" y="3255963"/>
            <a:ext cx="7754938" cy="2854325"/>
            <a:chOff x="282" y="2051"/>
            <a:chExt cx="4885" cy="1798"/>
          </a:xfrm>
        </p:grpSpPr>
        <p:pic>
          <p:nvPicPr>
            <p:cNvPr id="51204" name="Picture 4">
              <a:extLst>
                <a:ext uri="{FF2B5EF4-FFF2-40B4-BE49-F238E27FC236}">
                  <a16:creationId xmlns:a16="http://schemas.microsoft.com/office/drawing/2014/main" id="{459F7CF0-7FB9-27F4-AAFE-B4729AC41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 y="2051"/>
              <a:ext cx="4885" cy="1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Line 5">
              <a:extLst>
                <a:ext uri="{FF2B5EF4-FFF2-40B4-BE49-F238E27FC236}">
                  <a16:creationId xmlns:a16="http://schemas.microsoft.com/office/drawing/2014/main" id="{C6394FD6-F8A9-0FA2-70B7-F2E5F9F98420}"/>
                </a:ext>
              </a:extLst>
            </p:cNvPr>
            <p:cNvSpPr>
              <a:spLocks noChangeShapeType="1"/>
            </p:cNvSpPr>
            <p:nvPr/>
          </p:nvSpPr>
          <p:spPr bwMode="auto">
            <a:xfrm>
              <a:off x="3977" y="3108"/>
              <a:ext cx="686"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6" name="Line 6">
              <a:extLst>
                <a:ext uri="{FF2B5EF4-FFF2-40B4-BE49-F238E27FC236}">
                  <a16:creationId xmlns:a16="http://schemas.microsoft.com/office/drawing/2014/main" id="{AA887A76-CE24-6C88-6DF6-D9BB0C544EFF}"/>
                </a:ext>
              </a:extLst>
            </p:cNvPr>
            <p:cNvSpPr>
              <a:spLocks noChangeShapeType="1"/>
            </p:cNvSpPr>
            <p:nvPr/>
          </p:nvSpPr>
          <p:spPr bwMode="auto">
            <a:xfrm>
              <a:off x="2682" y="3340"/>
              <a:ext cx="686"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772104" name="Picture 8">
            <a:extLst>
              <a:ext uri="{FF2B5EF4-FFF2-40B4-BE49-F238E27FC236}">
                <a16:creationId xmlns:a16="http://schemas.microsoft.com/office/drawing/2014/main" id="{66CCF2AA-E75E-19BB-50CF-E80463A1A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646113"/>
            <a:ext cx="8164513"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2105" name="Text Box 9">
            <a:extLst>
              <a:ext uri="{FF2B5EF4-FFF2-40B4-BE49-F238E27FC236}">
                <a16:creationId xmlns:a16="http://schemas.microsoft.com/office/drawing/2014/main" id="{665CDF3D-FC7E-4D73-8D26-AF043781FB8C}"/>
              </a:ext>
            </a:extLst>
          </p:cNvPr>
          <p:cNvSpPr txBox="1">
            <a:spLocks noChangeArrowheads="1"/>
          </p:cNvSpPr>
          <p:nvPr/>
        </p:nvSpPr>
        <p:spPr bwMode="auto">
          <a:xfrm>
            <a:off x="5326063" y="3644900"/>
            <a:ext cx="3063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a:solidFill>
                  <a:srgbClr val="FF0000"/>
                </a:solidFill>
                <a:latin typeface="微软雅黑" panose="020B0503020204020204" pitchFamily="34" charset="-122"/>
                <a:ea typeface="微软雅黑" panose="020B0503020204020204" pitchFamily="34" charset="-122"/>
              </a:rPr>
              <a:t>0xc00000096</a:t>
            </a:r>
            <a:r>
              <a:rPr lang="zh-CN" altLang="en-US" sz="2000">
                <a:solidFill>
                  <a:srgbClr val="FF0000"/>
                </a:solidFill>
                <a:latin typeface="微软雅黑" panose="020B0503020204020204" pitchFamily="34" charset="-122"/>
                <a:ea typeface="微软雅黑" panose="020B0503020204020204" pitchFamily="34" charset="-122"/>
              </a:rPr>
              <a:t>为出错</a:t>
            </a:r>
            <a:r>
              <a:rPr lang="en-US" altLang="zh-CN" sz="2000">
                <a:solidFill>
                  <a:srgbClr val="FF0000"/>
                </a:solidFill>
                <a:latin typeface="微软雅黑" panose="020B0503020204020204" pitchFamily="34" charset="-122"/>
                <a:ea typeface="微软雅黑" panose="020B0503020204020204" pitchFamily="34" charset="-122"/>
              </a:rPr>
              <a:t>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2103"/>
                                        </p:tgtEl>
                                        <p:attrNameLst>
                                          <p:attrName>style.visibility</p:attrName>
                                        </p:attrNameLst>
                                      </p:cBhvr>
                                      <p:to>
                                        <p:strVal val="visible"/>
                                      </p:to>
                                    </p:set>
                                    <p:animEffect transition="in" filter="blinds(horizontal)">
                                      <p:cBhvr>
                                        <p:cTn id="7" dur="500"/>
                                        <p:tgtEl>
                                          <p:spTgt spid="7721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2104"/>
                                        </p:tgtEl>
                                        <p:attrNameLst>
                                          <p:attrName>style.visibility</p:attrName>
                                        </p:attrNameLst>
                                      </p:cBhvr>
                                      <p:to>
                                        <p:strVal val="visible"/>
                                      </p:to>
                                    </p:set>
                                    <p:animEffect transition="in" filter="blinds(horizontal)">
                                      <p:cBhvr>
                                        <p:cTn id="12" dur="500"/>
                                        <p:tgtEl>
                                          <p:spTgt spid="7721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2105"/>
                                        </p:tgtEl>
                                        <p:attrNameLst>
                                          <p:attrName>style.visibility</p:attrName>
                                        </p:attrNameLst>
                                      </p:cBhvr>
                                      <p:to>
                                        <p:strVal val="visible"/>
                                      </p:to>
                                    </p:set>
                                    <p:animEffect transition="in" filter="blinds(horizontal)">
                                      <p:cBhvr>
                                        <p:cTn id="17" dur="500"/>
                                        <p:tgtEl>
                                          <p:spTgt spid="772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0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7BA25300-CB94-C255-2899-A16EF98885A3}"/>
              </a:ext>
            </a:extLst>
          </p:cNvPr>
          <p:cNvSpPr>
            <a:spLocks noGrp="1" noChangeArrowheads="1"/>
          </p:cNvSpPr>
          <p:nvPr>
            <p:ph type="title"/>
          </p:nvPr>
        </p:nvSpPr>
        <p:spPr/>
        <p:txBody>
          <a:bodyPr/>
          <a:lstStyle/>
          <a:p>
            <a:r>
              <a:rPr lang="zh-CN" altLang="en-US">
                <a:ea typeface="宋体" panose="02010600030101010101" pitchFamily="2" charset="-122"/>
              </a:rPr>
              <a:t>中断的概念</a:t>
            </a:r>
          </a:p>
        </p:txBody>
      </p:sp>
      <p:sp>
        <p:nvSpPr>
          <p:cNvPr id="773123" name="Rectangle 3">
            <a:extLst>
              <a:ext uri="{FF2B5EF4-FFF2-40B4-BE49-F238E27FC236}">
                <a16:creationId xmlns:a16="http://schemas.microsoft.com/office/drawing/2014/main" id="{331F22EE-28D7-D7F2-9A89-4803625685BE}"/>
              </a:ext>
            </a:extLst>
          </p:cNvPr>
          <p:cNvSpPr>
            <a:spLocks noGrp="1" noChangeArrowheads="1"/>
          </p:cNvSpPr>
          <p:nvPr>
            <p:ph idx="1"/>
          </p:nvPr>
        </p:nvSpPr>
        <p:spPr>
          <a:xfrm>
            <a:off x="188913" y="696913"/>
            <a:ext cx="8678862" cy="3360737"/>
          </a:xfrm>
        </p:spPr>
        <p:txBody>
          <a:bodyPr/>
          <a:lstStyle/>
          <a:p>
            <a:pPr>
              <a:lnSpc>
                <a:spcPct val="105000"/>
              </a:lnSpc>
            </a:pPr>
            <a:r>
              <a:rPr lang="zh-CN" altLang="en-US" sz="1900">
                <a:latin typeface="微软雅黑" panose="020B0503020204020204" pitchFamily="34" charset="-122"/>
                <a:ea typeface="微软雅黑" panose="020B0503020204020204" pitchFamily="34" charset="-122"/>
              </a:rPr>
              <a:t>外设通过</a:t>
            </a:r>
            <a:r>
              <a:rPr lang="zh-CN" altLang="en-US" sz="1900">
                <a:solidFill>
                  <a:srgbClr val="FF0000"/>
                </a:solidFill>
                <a:latin typeface="微软雅黑" panose="020B0503020204020204" pitchFamily="34" charset="-122"/>
                <a:ea typeface="微软雅黑" panose="020B0503020204020204" pitchFamily="34" charset="-122"/>
              </a:rPr>
              <a:t>中断请求信号线</a:t>
            </a:r>
            <a:r>
              <a:rPr lang="zh-CN" altLang="en-US" sz="1900">
                <a:latin typeface="微软雅黑" panose="020B0503020204020204" pitchFamily="34" charset="-122"/>
                <a:ea typeface="微软雅黑" panose="020B0503020204020204" pitchFamily="34" charset="-122"/>
              </a:rPr>
              <a:t>向</a:t>
            </a: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提出“中断”请求，不由指令引起，故中断也称为</a:t>
            </a:r>
            <a:r>
              <a:rPr lang="zh-CN" altLang="en-US" sz="1900">
                <a:solidFill>
                  <a:srgbClr val="CC3300"/>
                </a:solidFill>
                <a:latin typeface="微软雅黑" panose="020B0503020204020204" pitchFamily="34" charset="-122"/>
                <a:ea typeface="微软雅黑" panose="020B0503020204020204" pitchFamily="34" charset="-122"/>
              </a:rPr>
              <a:t>异步异常</a:t>
            </a:r>
            <a:r>
              <a:rPr lang="zh-CN" altLang="en-US" sz="1900">
                <a:latin typeface="微软雅黑" panose="020B0503020204020204" pitchFamily="34" charset="-122"/>
                <a:ea typeface="微软雅黑" panose="020B0503020204020204" pitchFamily="34" charset="-122"/>
              </a:rPr>
              <a:t>。</a:t>
            </a:r>
          </a:p>
          <a:p>
            <a:pPr>
              <a:lnSpc>
                <a:spcPct val="105000"/>
              </a:lnSpc>
            </a:pPr>
            <a:r>
              <a:rPr lang="zh-CN" altLang="en-US" sz="1900">
                <a:latin typeface="微软雅黑" panose="020B0503020204020204" pitchFamily="34" charset="-122"/>
                <a:ea typeface="微软雅黑" panose="020B0503020204020204" pitchFamily="34" charset="-122"/>
              </a:rPr>
              <a:t>事件：</a:t>
            </a:r>
            <a:r>
              <a:rPr lang="en-US" altLang="zh-CN" sz="1900">
                <a:solidFill>
                  <a:srgbClr val="0066FF"/>
                </a:solidFill>
                <a:latin typeface="微软雅黑" panose="020B0503020204020204" pitchFamily="34" charset="-122"/>
                <a:ea typeface="微软雅黑" panose="020B0503020204020204" pitchFamily="34" charset="-122"/>
              </a:rPr>
              <a:t>Ctrl-C</a:t>
            </a:r>
            <a:r>
              <a:rPr lang="zh-CN" altLang="en-US" sz="1900">
                <a:latin typeface="微软雅黑" panose="020B0503020204020204" pitchFamily="34" charset="-122"/>
                <a:ea typeface="微软雅黑" panose="020B0503020204020204" pitchFamily="34" charset="-122"/>
              </a:rPr>
              <a:t>、</a:t>
            </a:r>
            <a:r>
              <a:rPr lang="en-US" altLang="zh-CN" sz="1900">
                <a:solidFill>
                  <a:srgbClr val="0066FF"/>
                </a:solidFill>
                <a:latin typeface="微软雅黑" panose="020B0503020204020204" pitchFamily="34" charset="-122"/>
                <a:ea typeface="微软雅黑" panose="020B0503020204020204" pitchFamily="34" charset="-122"/>
              </a:rPr>
              <a:t>DMA</a:t>
            </a:r>
            <a:r>
              <a:rPr lang="zh-CN" altLang="en-US" sz="1900">
                <a:solidFill>
                  <a:srgbClr val="0066FF"/>
                </a:solidFill>
                <a:latin typeface="微软雅黑" panose="020B0503020204020204" pitchFamily="34" charset="-122"/>
                <a:ea typeface="微软雅黑" panose="020B0503020204020204" pitchFamily="34" charset="-122"/>
              </a:rPr>
              <a:t>传送结束</a:t>
            </a:r>
            <a:r>
              <a:rPr lang="zh-CN" altLang="en-US" sz="1900">
                <a:latin typeface="微软雅黑" panose="020B0503020204020204" pitchFamily="34" charset="-122"/>
                <a:ea typeface="微软雅黑" panose="020B0503020204020204" pitchFamily="34" charset="-122"/>
              </a:rPr>
              <a:t>、</a:t>
            </a:r>
            <a:r>
              <a:rPr lang="zh-CN" altLang="en-US" sz="1900">
                <a:solidFill>
                  <a:srgbClr val="0066FF"/>
                </a:solidFill>
                <a:latin typeface="微软雅黑" panose="020B0503020204020204" pitchFamily="34" charset="-122"/>
                <a:ea typeface="微软雅黑" panose="020B0503020204020204" pitchFamily="34" charset="-122"/>
              </a:rPr>
              <a:t>网络数据到达</a:t>
            </a:r>
            <a:r>
              <a:rPr lang="zh-CN" altLang="en-US" sz="1900">
                <a:latin typeface="微软雅黑" panose="020B0503020204020204" pitchFamily="34" charset="-122"/>
                <a:ea typeface="微软雅黑" panose="020B0503020204020204" pitchFamily="34" charset="-122"/>
              </a:rPr>
              <a:t>、</a:t>
            </a:r>
            <a:r>
              <a:rPr lang="zh-CN" altLang="en-US" sz="1900">
                <a:solidFill>
                  <a:srgbClr val="0066FF"/>
                </a:solidFill>
                <a:latin typeface="微软雅黑" panose="020B0503020204020204" pitchFamily="34" charset="-122"/>
                <a:ea typeface="微软雅黑" panose="020B0503020204020204" pitchFamily="34" charset="-122"/>
              </a:rPr>
              <a:t>打印缺纸</a:t>
            </a:r>
            <a:r>
              <a:rPr lang="zh-CN" altLang="en-US" sz="1900">
                <a:latin typeface="微软雅黑" panose="020B0503020204020204" pitchFamily="34" charset="-122"/>
                <a:ea typeface="微软雅黑" panose="020B0503020204020204" pitchFamily="34" charset="-122"/>
              </a:rPr>
              <a:t>、</a:t>
            </a:r>
            <a:r>
              <a:rPr lang="en-US" altLang="zh-CN" sz="1900">
                <a:latin typeface="微软雅黑" panose="020B0503020204020204" pitchFamily="34" charset="-122"/>
                <a:ea typeface="微软雅黑" panose="020B0503020204020204" pitchFamily="34" charset="-122"/>
              </a:rPr>
              <a:t>……</a:t>
            </a:r>
          </a:p>
          <a:p>
            <a:pPr>
              <a:lnSpc>
                <a:spcPct val="105000"/>
              </a:lnSpc>
            </a:pPr>
            <a:r>
              <a:rPr lang="zh-CN" altLang="en-US" sz="1900">
                <a:latin typeface="微软雅黑" panose="020B0503020204020204" pitchFamily="34" charset="-122"/>
                <a:ea typeface="微软雅黑" panose="020B0503020204020204" pitchFamily="34" charset="-122"/>
              </a:rPr>
              <a:t>每执行完一条指令，</a:t>
            </a: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就查看中断请求引脚，若</a:t>
            </a:r>
            <a:r>
              <a:rPr lang="zh-CN" altLang="en-US" sz="1900">
                <a:solidFill>
                  <a:srgbClr val="990000"/>
                </a:solidFill>
                <a:latin typeface="微软雅黑" panose="020B0503020204020204" pitchFamily="34" charset="-122"/>
                <a:ea typeface="微软雅黑" panose="020B0503020204020204" pitchFamily="34" charset="-122"/>
              </a:rPr>
              <a:t>引脚的信号有效</a:t>
            </a:r>
            <a:r>
              <a:rPr lang="zh-CN" altLang="en-US" sz="1900">
                <a:latin typeface="微软雅黑" panose="020B0503020204020204" pitchFamily="34" charset="-122"/>
                <a:ea typeface="微软雅黑" panose="020B0503020204020204" pitchFamily="34" charset="-122"/>
              </a:rPr>
              <a:t>，则进行</a:t>
            </a:r>
            <a:r>
              <a:rPr lang="zh-CN" altLang="en-US" sz="1900">
                <a:solidFill>
                  <a:srgbClr val="FF0000"/>
                </a:solidFill>
                <a:latin typeface="微软雅黑" panose="020B0503020204020204" pitchFamily="34" charset="-122"/>
                <a:ea typeface="微软雅黑" panose="020B0503020204020204" pitchFamily="34" charset="-122"/>
              </a:rPr>
              <a:t>中断响应</a:t>
            </a:r>
            <a:r>
              <a:rPr lang="zh-CN" altLang="en-US" sz="1900">
                <a:latin typeface="微软雅黑" panose="020B0503020204020204" pitchFamily="34" charset="-122"/>
                <a:ea typeface="微软雅黑" panose="020B0503020204020204" pitchFamily="34" charset="-122"/>
              </a:rPr>
              <a:t>：</a:t>
            </a:r>
            <a:r>
              <a:rPr lang="zh-CN" altLang="en-US" sz="1900">
                <a:solidFill>
                  <a:srgbClr val="009242"/>
                </a:solidFill>
                <a:latin typeface="微软雅黑" panose="020B0503020204020204" pitchFamily="34" charset="-122"/>
                <a:ea typeface="微软雅黑" panose="020B0503020204020204" pitchFamily="34" charset="-122"/>
              </a:rPr>
              <a:t>将当前</a:t>
            </a:r>
            <a:r>
              <a:rPr lang="en-US" altLang="zh-CN" sz="1900">
                <a:solidFill>
                  <a:srgbClr val="009242"/>
                </a:solidFill>
                <a:latin typeface="微软雅黑" panose="020B0503020204020204" pitchFamily="34" charset="-122"/>
                <a:ea typeface="微软雅黑" panose="020B0503020204020204" pitchFamily="34" charset="-122"/>
              </a:rPr>
              <a:t>PC</a:t>
            </a:r>
            <a:r>
              <a:rPr lang="zh-CN" altLang="en-US" sz="1900">
                <a:solidFill>
                  <a:srgbClr val="009242"/>
                </a:solidFill>
                <a:latin typeface="微软雅黑" panose="020B0503020204020204" pitchFamily="34" charset="-122"/>
                <a:ea typeface="微软雅黑" panose="020B0503020204020204" pitchFamily="34" charset="-122"/>
              </a:rPr>
              <a:t>（断点）和当前机器状态保存到栈中，并“关中断”，然后，从数据总线读取中断类型号，根据中断类型号跳转到对应的中断服务程序执行。</a:t>
            </a:r>
            <a:r>
              <a:rPr lang="zh-CN" altLang="en-US" sz="1900">
                <a:solidFill>
                  <a:srgbClr val="FF0000"/>
                </a:solidFill>
                <a:latin typeface="微软雅黑" panose="020B0503020204020204" pitchFamily="34" charset="-122"/>
                <a:ea typeface="微软雅黑" panose="020B0503020204020204" pitchFamily="34" charset="-122"/>
              </a:rPr>
              <a:t>中断检测及响应过程由硬件完成</a:t>
            </a:r>
            <a:r>
              <a:rPr lang="zh-CN" altLang="en-US" sz="1900">
                <a:latin typeface="微软雅黑" panose="020B0503020204020204" pitchFamily="34" charset="-122"/>
                <a:ea typeface="微软雅黑" panose="020B0503020204020204" pitchFamily="34" charset="-122"/>
              </a:rPr>
              <a:t>。</a:t>
            </a:r>
          </a:p>
          <a:p>
            <a:pPr>
              <a:lnSpc>
                <a:spcPct val="105000"/>
              </a:lnSpc>
            </a:pPr>
            <a:r>
              <a:rPr lang="zh-CN" altLang="en-US" sz="1900">
                <a:latin typeface="微软雅黑" panose="020B0503020204020204" pitchFamily="34" charset="-122"/>
                <a:ea typeface="微软雅黑" panose="020B0503020204020204" pitchFamily="34" charset="-122"/>
              </a:rPr>
              <a:t>中断服务程序执行具体的中断处理工作，中断处理完成后，再回到被打断程序的“断点”处继续执行。 </a:t>
            </a:r>
          </a:p>
        </p:txBody>
      </p:sp>
      <p:sp>
        <p:nvSpPr>
          <p:cNvPr id="773124" name="Rectangle 4">
            <a:extLst>
              <a:ext uri="{FF2B5EF4-FFF2-40B4-BE49-F238E27FC236}">
                <a16:creationId xmlns:a16="http://schemas.microsoft.com/office/drawing/2014/main" id="{4126C145-96BD-03DB-6E1F-F81A8992A214}"/>
              </a:ext>
            </a:extLst>
          </p:cNvPr>
          <p:cNvSpPr>
            <a:spLocks noChangeArrowheads="1"/>
          </p:cNvSpPr>
          <p:nvPr/>
        </p:nvSpPr>
        <p:spPr bwMode="auto">
          <a:xfrm>
            <a:off x="7251700" y="4530725"/>
            <a:ext cx="16160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spcBef>
                <a:spcPct val="20000"/>
              </a:spcBef>
            </a:pPr>
            <a:r>
              <a:rPr lang="zh-CN" altLang="en-US" sz="2100">
                <a:solidFill>
                  <a:srgbClr val="008000"/>
                </a:solidFill>
                <a:latin typeface="微软雅黑" panose="020B0503020204020204" pitchFamily="34" charset="-122"/>
                <a:ea typeface="微软雅黑" panose="020B0503020204020204" pitchFamily="34" charset="-122"/>
              </a:rPr>
              <a:t>溢出、整除</a:t>
            </a:r>
            <a:r>
              <a:rPr lang="en-US" altLang="zh-CN" sz="2100">
                <a:solidFill>
                  <a:srgbClr val="008000"/>
                </a:solidFill>
                <a:latin typeface="微软雅黑" panose="020B0503020204020204" pitchFamily="34" charset="-122"/>
                <a:ea typeface="微软雅黑" panose="020B0503020204020204" pitchFamily="34" charset="-122"/>
              </a:rPr>
              <a:t>0</a:t>
            </a:r>
            <a:r>
              <a:rPr lang="zh-CN" altLang="en-US" sz="2100">
                <a:solidFill>
                  <a:srgbClr val="008000"/>
                </a:solidFill>
                <a:latin typeface="微软雅黑" panose="020B0503020204020204" pitchFamily="34" charset="-122"/>
                <a:ea typeface="微软雅黑" panose="020B0503020204020204" pitchFamily="34" charset="-122"/>
              </a:rPr>
              <a:t>、缺页等异常和外部中断都是由硬件检测并响应的！</a:t>
            </a:r>
          </a:p>
        </p:txBody>
      </p:sp>
      <p:grpSp>
        <p:nvGrpSpPr>
          <p:cNvPr id="773141" name="Group 21">
            <a:extLst>
              <a:ext uri="{FF2B5EF4-FFF2-40B4-BE49-F238E27FC236}">
                <a16:creationId xmlns:a16="http://schemas.microsoft.com/office/drawing/2014/main" id="{76709C56-FB23-6192-CEA4-1B46331CDC94}"/>
              </a:ext>
            </a:extLst>
          </p:cNvPr>
          <p:cNvGrpSpPr>
            <a:grpSpLocks/>
          </p:cNvGrpSpPr>
          <p:nvPr/>
        </p:nvGrpSpPr>
        <p:grpSpPr bwMode="auto">
          <a:xfrm>
            <a:off x="93663" y="4243388"/>
            <a:ext cx="6894512" cy="2470150"/>
            <a:chOff x="59" y="2673"/>
            <a:chExt cx="4343" cy="1556"/>
          </a:xfrm>
        </p:grpSpPr>
        <p:sp>
          <p:nvSpPr>
            <p:cNvPr id="52229" name="AutoShape 6">
              <a:extLst>
                <a:ext uri="{FF2B5EF4-FFF2-40B4-BE49-F238E27FC236}">
                  <a16:creationId xmlns:a16="http://schemas.microsoft.com/office/drawing/2014/main" id="{C26D532D-2E27-C0DE-48F2-1072A9BC5FC8}"/>
                </a:ext>
              </a:extLst>
            </p:cNvPr>
            <p:cNvSpPr>
              <a:spLocks noChangeAspect="1" noChangeArrowheads="1"/>
            </p:cNvSpPr>
            <p:nvPr/>
          </p:nvSpPr>
          <p:spPr bwMode="auto">
            <a:xfrm>
              <a:off x="371" y="2673"/>
              <a:ext cx="3788" cy="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b="0">
                <a:solidFill>
                  <a:schemeClr val="tx1"/>
                </a:solidFill>
              </a:endParaRPr>
            </a:p>
          </p:txBody>
        </p:sp>
        <p:sp>
          <p:nvSpPr>
            <p:cNvPr id="52230" name="Rectangle 4">
              <a:extLst>
                <a:ext uri="{FF2B5EF4-FFF2-40B4-BE49-F238E27FC236}">
                  <a16:creationId xmlns:a16="http://schemas.microsoft.com/office/drawing/2014/main" id="{228317F4-0934-2D68-88C6-F284C49DF8E9}"/>
                </a:ext>
              </a:extLst>
            </p:cNvPr>
            <p:cNvSpPr>
              <a:spLocks noChangeArrowheads="1"/>
            </p:cNvSpPr>
            <p:nvPr/>
          </p:nvSpPr>
          <p:spPr bwMode="auto">
            <a:xfrm>
              <a:off x="1379" y="2673"/>
              <a:ext cx="81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0" rIns="90479" bIns="0"/>
            <a:lstStyle/>
            <a:p>
              <a:pPr algn="just"/>
              <a:r>
                <a:rPr lang="zh-CN" altLang="en-US" sz="1900">
                  <a:solidFill>
                    <a:srgbClr val="CC3300"/>
                  </a:solidFill>
                  <a:latin typeface="微软雅黑" panose="020B0503020204020204" pitchFamily="34" charset="-122"/>
                  <a:ea typeface="微软雅黑" panose="020B0503020204020204" pitchFamily="34" charset="-122"/>
                </a:rPr>
                <a:t>用户进程</a:t>
              </a:r>
            </a:p>
          </p:txBody>
        </p:sp>
        <p:sp>
          <p:nvSpPr>
            <p:cNvPr id="52231" name="Rectangle 5">
              <a:extLst>
                <a:ext uri="{FF2B5EF4-FFF2-40B4-BE49-F238E27FC236}">
                  <a16:creationId xmlns:a16="http://schemas.microsoft.com/office/drawing/2014/main" id="{2200D445-2BC7-CB3C-534A-BE3E510FD7B0}"/>
                </a:ext>
              </a:extLst>
            </p:cNvPr>
            <p:cNvSpPr>
              <a:spLocks noChangeArrowheads="1"/>
            </p:cNvSpPr>
            <p:nvPr/>
          </p:nvSpPr>
          <p:spPr bwMode="auto">
            <a:xfrm>
              <a:off x="2764" y="2858"/>
              <a:ext cx="624"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lstStyle/>
            <a:p>
              <a:r>
                <a:rPr lang="zh-CN" altLang="en-US" sz="1900">
                  <a:solidFill>
                    <a:srgbClr val="CC3300"/>
                  </a:solidFill>
                  <a:latin typeface="微软雅黑" panose="020B0503020204020204" pitchFamily="34" charset="-122"/>
                  <a:ea typeface="微软雅黑" panose="020B0503020204020204" pitchFamily="34" charset="-122"/>
                </a:rPr>
                <a:t>中断服务程序</a:t>
              </a:r>
            </a:p>
          </p:txBody>
        </p:sp>
        <p:sp>
          <p:nvSpPr>
            <p:cNvPr id="52232" name="Line 7">
              <a:extLst>
                <a:ext uri="{FF2B5EF4-FFF2-40B4-BE49-F238E27FC236}">
                  <a16:creationId xmlns:a16="http://schemas.microsoft.com/office/drawing/2014/main" id="{B7328ACF-6C31-A94C-E858-6EC41428C109}"/>
                </a:ext>
              </a:extLst>
            </p:cNvPr>
            <p:cNvSpPr>
              <a:spLocks noChangeShapeType="1"/>
            </p:cNvSpPr>
            <p:nvPr/>
          </p:nvSpPr>
          <p:spPr bwMode="auto">
            <a:xfrm>
              <a:off x="1580" y="3325"/>
              <a:ext cx="1488" cy="1"/>
            </a:xfrm>
            <a:prstGeom prst="line">
              <a:avLst/>
            </a:prstGeom>
            <a:noFill/>
            <a:ln w="381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3" name="Line 8">
              <a:extLst>
                <a:ext uri="{FF2B5EF4-FFF2-40B4-BE49-F238E27FC236}">
                  <a16:creationId xmlns:a16="http://schemas.microsoft.com/office/drawing/2014/main" id="{C08D93B4-05D7-C047-F656-51A9E4A71230}"/>
                </a:ext>
              </a:extLst>
            </p:cNvPr>
            <p:cNvSpPr>
              <a:spLocks noChangeShapeType="1"/>
            </p:cNvSpPr>
            <p:nvPr/>
          </p:nvSpPr>
          <p:spPr bwMode="auto">
            <a:xfrm>
              <a:off x="3071" y="3332"/>
              <a:ext cx="0" cy="63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4" name="Line 9">
              <a:extLst>
                <a:ext uri="{FF2B5EF4-FFF2-40B4-BE49-F238E27FC236}">
                  <a16:creationId xmlns:a16="http://schemas.microsoft.com/office/drawing/2014/main" id="{F9DD863A-BC8E-4484-9274-21079E1E17E0}"/>
                </a:ext>
              </a:extLst>
            </p:cNvPr>
            <p:cNvSpPr>
              <a:spLocks noChangeShapeType="1"/>
            </p:cNvSpPr>
            <p:nvPr/>
          </p:nvSpPr>
          <p:spPr bwMode="auto">
            <a:xfrm flipH="1" flipV="1">
              <a:off x="1574" y="3510"/>
              <a:ext cx="1501" cy="466"/>
            </a:xfrm>
            <a:prstGeom prst="line">
              <a:avLst/>
            </a:prstGeom>
            <a:noFill/>
            <a:ln w="381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5" name="Line 10">
              <a:extLst>
                <a:ext uri="{FF2B5EF4-FFF2-40B4-BE49-F238E27FC236}">
                  <a16:creationId xmlns:a16="http://schemas.microsoft.com/office/drawing/2014/main" id="{07E0E391-1EA4-A8C0-F1FA-CFB49E092C9C}"/>
                </a:ext>
              </a:extLst>
            </p:cNvPr>
            <p:cNvSpPr>
              <a:spLocks noChangeShapeType="1"/>
            </p:cNvSpPr>
            <p:nvPr/>
          </p:nvSpPr>
          <p:spPr bwMode="auto">
            <a:xfrm flipH="1">
              <a:off x="1563" y="3498"/>
              <a:ext cx="5" cy="52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6" name="Rectangle 11">
              <a:extLst>
                <a:ext uri="{FF2B5EF4-FFF2-40B4-BE49-F238E27FC236}">
                  <a16:creationId xmlns:a16="http://schemas.microsoft.com/office/drawing/2014/main" id="{7D9C9403-3441-5681-CE20-1FBC478EE772}"/>
                </a:ext>
              </a:extLst>
            </p:cNvPr>
            <p:cNvSpPr>
              <a:spLocks noChangeArrowheads="1"/>
            </p:cNvSpPr>
            <p:nvPr/>
          </p:nvSpPr>
          <p:spPr bwMode="auto">
            <a:xfrm>
              <a:off x="1904" y="3071"/>
              <a:ext cx="72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p>
              <a:pPr algn="just"/>
              <a:r>
                <a:rPr lang="zh-CN" altLang="en-US" sz="1900">
                  <a:solidFill>
                    <a:schemeClr val="tx1"/>
                  </a:solidFill>
                  <a:latin typeface="微软雅黑" panose="020B0503020204020204" pitchFamily="34" charset="-122"/>
                  <a:ea typeface="微软雅黑" panose="020B0503020204020204" pitchFamily="34" charset="-122"/>
                </a:rPr>
                <a:t>中断响应</a:t>
              </a:r>
            </a:p>
          </p:txBody>
        </p:sp>
        <p:sp>
          <p:nvSpPr>
            <p:cNvPr id="52237" name="Rectangle 12">
              <a:extLst>
                <a:ext uri="{FF2B5EF4-FFF2-40B4-BE49-F238E27FC236}">
                  <a16:creationId xmlns:a16="http://schemas.microsoft.com/office/drawing/2014/main" id="{738BC893-CA94-E612-D196-B54FD8FE6A4E}"/>
                </a:ext>
              </a:extLst>
            </p:cNvPr>
            <p:cNvSpPr>
              <a:spLocks noChangeArrowheads="1"/>
            </p:cNvSpPr>
            <p:nvPr/>
          </p:nvSpPr>
          <p:spPr bwMode="auto">
            <a:xfrm>
              <a:off x="3111" y="3214"/>
              <a:ext cx="1291" cy="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p>
              <a:r>
                <a:rPr lang="zh-CN" altLang="en-US" sz="1900">
                  <a:solidFill>
                    <a:srgbClr val="0066FF"/>
                  </a:solidFill>
                  <a:latin typeface="微软雅黑" panose="020B0503020204020204" pitchFamily="34" charset="-122"/>
                  <a:ea typeface="微软雅黑" panose="020B0503020204020204" pitchFamily="34" charset="-122"/>
                </a:rPr>
                <a:t>进行中断处理，例如，键盘中断时，将键盘缓冲区的字符取到存储器中</a:t>
              </a:r>
            </a:p>
          </p:txBody>
        </p:sp>
        <p:sp>
          <p:nvSpPr>
            <p:cNvPr id="52238" name="Rectangle 13">
              <a:extLst>
                <a:ext uri="{FF2B5EF4-FFF2-40B4-BE49-F238E27FC236}">
                  <a16:creationId xmlns:a16="http://schemas.microsoft.com/office/drawing/2014/main" id="{3FCD98BC-5D10-A884-D2FF-8B2919EB7B36}"/>
                </a:ext>
              </a:extLst>
            </p:cNvPr>
            <p:cNvSpPr>
              <a:spLocks noChangeArrowheads="1"/>
            </p:cNvSpPr>
            <p:nvPr/>
          </p:nvSpPr>
          <p:spPr bwMode="auto">
            <a:xfrm>
              <a:off x="1708" y="3787"/>
              <a:ext cx="762"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p>
              <a:pPr algn="just"/>
              <a:r>
                <a:rPr lang="zh-CN" altLang="en-US" sz="1900">
                  <a:solidFill>
                    <a:schemeClr val="tx1"/>
                  </a:solidFill>
                  <a:latin typeface="微软雅黑" panose="020B0503020204020204" pitchFamily="34" charset="-122"/>
                  <a:ea typeface="微软雅黑" panose="020B0503020204020204" pitchFamily="34" charset="-122"/>
                </a:rPr>
                <a:t>返回下条指令执行</a:t>
              </a:r>
            </a:p>
          </p:txBody>
        </p:sp>
        <p:sp>
          <p:nvSpPr>
            <p:cNvPr id="52239" name="Text Box 15">
              <a:extLst>
                <a:ext uri="{FF2B5EF4-FFF2-40B4-BE49-F238E27FC236}">
                  <a16:creationId xmlns:a16="http://schemas.microsoft.com/office/drawing/2014/main" id="{A01DA5B5-29E3-D813-0472-BCB1FD709570}"/>
                </a:ext>
              </a:extLst>
            </p:cNvPr>
            <p:cNvSpPr txBox="1">
              <a:spLocks noChangeArrowheads="1"/>
            </p:cNvSpPr>
            <p:nvPr/>
          </p:nvSpPr>
          <p:spPr bwMode="auto">
            <a:xfrm>
              <a:off x="59" y="3193"/>
              <a:ext cx="167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lgn="just"/>
              <a:r>
                <a:rPr lang="en-US" altLang="zh-CN" sz="1900">
                  <a:solidFill>
                    <a:schemeClr val="tx1"/>
                  </a:solidFill>
                  <a:latin typeface="微软雅黑" panose="020B0503020204020204" pitchFamily="34" charset="-122"/>
                  <a:ea typeface="微软雅黑" panose="020B0503020204020204" pitchFamily="34" charset="-122"/>
                </a:rPr>
                <a:t>8048500:  pushl …</a:t>
              </a:r>
            </a:p>
            <a:p>
              <a:pPr algn="just"/>
              <a:r>
                <a:rPr lang="en-US" altLang="zh-CN" sz="1900">
                  <a:solidFill>
                    <a:schemeClr val="tx1"/>
                  </a:solidFill>
                  <a:latin typeface="微软雅黑" panose="020B0503020204020204" pitchFamily="34" charset="-122"/>
                  <a:ea typeface="微软雅黑" panose="020B0503020204020204" pitchFamily="34" charset="-122"/>
                </a:rPr>
                <a:t>8048402:  movl …</a:t>
              </a:r>
            </a:p>
          </p:txBody>
        </p:sp>
        <p:sp>
          <p:nvSpPr>
            <p:cNvPr id="52240" name="Line 17">
              <a:extLst>
                <a:ext uri="{FF2B5EF4-FFF2-40B4-BE49-F238E27FC236}">
                  <a16:creationId xmlns:a16="http://schemas.microsoft.com/office/drawing/2014/main" id="{1A29DBBD-E453-0E6D-4190-0CD839B797B5}"/>
                </a:ext>
              </a:extLst>
            </p:cNvPr>
            <p:cNvSpPr>
              <a:spLocks noChangeShapeType="1"/>
            </p:cNvSpPr>
            <p:nvPr/>
          </p:nvSpPr>
          <p:spPr bwMode="auto">
            <a:xfrm>
              <a:off x="1572" y="2912"/>
              <a:ext cx="1" cy="39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3138" name="Text Box 18">
            <a:extLst>
              <a:ext uri="{FF2B5EF4-FFF2-40B4-BE49-F238E27FC236}">
                <a16:creationId xmlns:a16="http://schemas.microsoft.com/office/drawing/2014/main" id="{55544DE2-3A8A-1418-E0FB-646428CD1C30}"/>
              </a:ext>
            </a:extLst>
          </p:cNvPr>
          <p:cNvSpPr txBox="1">
            <a:spLocks noChangeArrowheads="1"/>
          </p:cNvSpPr>
          <p:nvPr/>
        </p:nvSpPr>
        <p:spPr bwMode="auto">
          <a:xfrm>
            <a:off x="204788" y="6110288"/>
            <a:ext cx="1900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solidFill>
                  <a:srgbClr val="FF0000"/>
                </a:solidFill>
                <a:ea typeface="微软雅黑" panose="020B0503020204020204" pitchFamily="34" charset="-122"/>
              </a:rPr>
              <a:t>断点是什么？</a:t>
            </a:r>
          </a:p>
        </p:txBody>
      </p:sp>
      <p:sp>
        <p:nvSpPr>
          <p:cNvPr id="773139" name="Line 19">
            <a:extLst>
              <a:ext uri="{FF2B5EF4-FFF2-40B4-BE49-F238E27FC236}">
                <a16:creationId xmlns:a16="http://schemas.microsoft.com/office/drawing/2014/main" id="{16939EA3-6A20-EE51-D4E2-4CC524848490}"/>
              </a:ext>
            </a:extLst>
          </p:cNvPr>
          <p:cNvSpPr>
            <a:spLocks noChangeShapeType="1"/>
          </p:cNvSpPr>
          <p:nvPr/>
        </p:nvSpPr>
        <p:spPr bwMode="auto">
          <a:xfrm flipV="1">
            <a:off x="625475" y="5630863"/>
            <a:ext cx="203200" cy="5365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73144" name="Group 24">
            <a:extLst>
              <a:ext uri="{FF2B5EF4-FFF2-40B4-BE49-F238E27FC236}">
                <a16:creationId xmlns:a16="http://schemas.microsoft.com/office/drawing/2014/main" id="{71514EF0-55AD-BA43-ADC7-935025765C72}"/>
              </a:ext>
            </a:extLst>
          </p:cNvPr>
          <p:cNvGrpSpPr>
            <a:grpSpLocks/>
          </p:cNvGrpSpPr>
          <p:nvPr/>
        </p:nvGrpSpPr>
        <p:grpSpPr bwMode="auto">
          <a:xfrm>
            <a:off x="3687763" y="2725738"/>
            <a:ext cx="4821237" cy="2193925"/>
            <a:chOff x="2323" y="1717"/>
            <a:chExt cx="3037" cy="1382"/>
          </a:xfrm>
        </p:grpSpPr>
        <p:sp>
          <p:nvSpPr>
            <p:cNvPr id="52244" name="Line 22">
              <a:extLst>
                <a:ext uri="{FF2B5EF4-FFF2-40B4-BE49-F238E27FC236}">
                  <a16:creationId xmlns:a16="http://schemas.microsoft.com/office/drawing/2014/main" id="{55EF6CE6-3A83-27CA-AE58-3CFB9A28AB27}"/>
                </a:ext>
              </a:extLst>
            </p:cNvPr>
            <p:cNvSpPr>
              <a:spLocks noChangeShapeType="1"/>
            </p:cNvSpPr>
            <p:nvPr/>
          </p:nvSpPr>
          <p:spPr bwMode="auto">
            <a:xfrm flipH="1">
              <a:off x="2331" y="1717"/>
              <a:ext cx="1374" cy="1382"/>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5" name="Text Box 23">
              <a:extLst>
                <a:ext uri="{FF2B5EF4-FFF2-40B4-BE49-F238E27FC236}">
                  <a16:creationId xmlns:a16="http://schemas.microsoft.com/office/drawing/2014/main" id="{A575677D-7B3D-9ED7-EBC4-4DD760F57D66}"/>
                </a:ext>
              </a:extLst>
            </p:cNvPr>
            <p:cNvSpPr txBox="1">
              <a:spLocks noChangeArrowheads="1"/>
            </p:cNvSpPr>
            <p:nvPr/>
          </p:nvSpPr>
          <p:spPr bwMode="auto">
            <a:xfrm>
              <a:off x="2323" y="2477"/>
              <a:ext cx="303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900">
                  <a:solidFill>
                    <a:srgbClr val="009242"/>
                  </a:solidFill>
                  <a:ea typeface="微软雅黑" panose="020B0503020204020204" pitchFamily="34" charset="-122"/>
                </a:rPr>
                <a:t>保护断点和程序状态、关中断、转中断处理</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3123">
                                            <p:txEl>
                                              <p:pRg st="0" end="0"/>
                                            </p:txEl>
                                          </p:spTgt>
                                        </p:tgtEl>
                                        <p:attrNameLst>
                                          <p:attrName>style.visibility</p:attrName>
                                        </p:attrNameLst>
                                      </p:cBhvr>
                                      <p:to>
                                        <p:strVal val="visible"/>
                                      </p:to>
                                    </p:set>
                                    <p:animEffect transition="in" filter="blinds(horizontal)">
                                      <p:cBhvr>
                                        <p:cTn id="7" dur="500"/>
                                        <p:tgtEl>
                                          <p:spTgt spid="773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3123">
                                            <p:txEl>
                                              <p:pRg st="1" end="1"/>
                                            </p:txEl>
                                          </p:spTgt>
                                        </p:tgtEl>
                                        <p:attrNameLst>
                                          <p:attrName>style.visibility</p:attrName>
                                        </p:attrNameLst>
                                      </p:cBhvr>
                                      <p:to>
                                        <p:strVal val="visible"/>
                                      </p:to>
                                    </p:set>
                                    <p:animEffect transition="in" filter="blinds(horizontal)">
                                      <p:cBhvr>
                                        <p:cTn id="12" dur="500"/>
                                        <p:tgtEl>
                                          <p:spTgt spid="7731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73123">
                                            <p:txEl>
                                              <p:pRg st="2" end="2"/>
                                            </p:txEl>
                                          </p:spTgt>
                                        </p:tgtEl>
                                        <p:attrNameLst>
                                          <p:attrName>style.visibility</p:attrName>
                                        </p:attrNameLst>
                                      </p:cBhvr>
                                      <p:to>
                                        <p:strVal val="visible"/>
                                      </p:to>
                                    </p:set>
                                    <p:animEffect transition="in" filter="blinds(horizontal)">
                                      <p:cBhvr>
                                        <p:cTn id="17" dur="500"/>
                                        <p:tgtEl>
                                          <p:spTgt spid="7731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73124"/>
                                        </p:tgtEl>
                                        <p:attrNameLst>
                                          <p:attrName>style.visibility</p:attrName>
                                        </p:attrNameLst>
                                      </p:cBhvr>
                                      <p:to>
                                        <p:strVal val="visible"/>
                                      </p:to>
                                    </p:set>
                                    <p:animEffect transition="in" filter="blinds(horizontal)">
                                      <p:cBhvr>
                                        <p:cTn id="22" dur="500"/>
                                        <p:tgtEl>
                                          <p:spTgt spid="7731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73123">
                                            <p:txEl>
                                              <p:pRg st="3" end="3"/>
                                            </p:txEl>
                                          </p:spTgt>
                                        </p:tgtEl>
                                        <p:attrNameLst>
                                          <p:attrName>style.visibility</p:attrName>
                                        </p:attrNameLst>
                                      </p:cBhvr>
                                      <p:to>
                                        <p:strVal val="visible"/>
                                      </p:to>
                                    </p:set>
                                    <p:animEffect transition="in" filter="blinds(horizontal)">
                                      <p:cBhvr>
                                        <p:cTn id="27" dur="500"/>
                                        <p:tgtEl>
                                          <p:spTgt spid="77312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73141"/>
                                        </p:tgtEl>
                                        <p:attrNameLst>
                                          <p:attrName>style.visibility</p:attrName>
                                        </p:attrNameLst>
                                      </p:cBhvr>
                                      <p:to>
                                        <p:strVal val="visible"/>
                                      </p:to>
                                    </p:set>
                                    <p:animEffect transition="in" filter="blinds(horizontal)">
                                      <p:cBhvr>
                                        <p:cTn id="32" dur="500"/>
                                        <p:tgtEl>
                                          <p:spTgt spid="7731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73144"/>
                                        </p:tgtEl>
                                        <p:attrNameLst>
                                          <p:attrName>style.visibility</p:attrName>
                                        </p:attrNameLst>
                                      </p:cBhvr>
                                      <p:to>
                                        <p:strVal val="visible"/>
                                      </p:to>
                                    </p:set>
                                    <p:animEffect transition="in" filter="blinds(horizontal)">
                                      <p:cBhvr>
                                        <p:cTn id="37" dur="500"/>
                                        <p:tgtEl>
                                          <p:spTgt spid="7731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73138"/>
                                        </p:tgtEl>
                                        <p:attrNameLst>
                                          <p:attrName>style.visibility</p:attrName>
                                        </p:attrNameLst>
                                      </p:cBhvr>
                                      <p:to>
                                        <p:strVal val="visible"/>
                                      </p:to>
                                    </p:set>
                                    <p:animEffect transition="in" filter="blinds(horizontal)">
                                      <p:cBhvr>
                                        <p:cTn id="42" dur="500"/>
                                        <p:tgtEl>
                                          <p:spTgt spid="7731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73139"/>
                                        </p:tgtEl>
                                        <p:attrNameLst>
                                          <p:attrName>style.visibility</p:attrName>
                                        </p:attrNameLst>
                                      </p:cBhvr>
                                      <p:to>
                                        <p:strVal val="visible"/>
                                      </p:to>
                                    </p:set>
                                    <p:animEffect transition="in" filter="blinds(horizontal)">
                                      <p:cBhvr>
                                        <p:cTn id="47" dur="500"/>
                                        <p:tgtEl>
                                          <p:spTgt spid="773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3124" grpId="0"/>
      <p:bldP spid="7731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9BE6F287-D1C0-EE9B-8B9C-DE27755787CE}"/>
              </a:ext>
            </a:extLst>
          </p:cNvPr>
          <p:cNvSpPr>
            <a:spLocks noGrp="1" noChangeArrowheads="1"/>
          </p:cNvSpPr>
          <p:nvPr>
            <p:ph type="title"/>
          </p:nvPr>
        </p:nvSpPr>
        <p:spPr>
          <a:xfrm>
            <a:off x="457200" y="82550"/>
            <a:ext cx="8229600" cy="561975"/>
          </a:xfrm>
        </p:spPr>
        <p:txBody>
          <a:bodyPr/>
          <a:lstStyle/>
          <a:p>
            <a:r>
              <a:rPr lang="zh-CN" altLang="en-US">
                <a:ea typeface="宋体" panose="02010600030101010101" pitchFamily="2" charset="-122"/>
              </a:rPr>
              <a:t>中断的分类</a:t>
            </a:r>
            <a:endParaRPr lang="en-US" altLang="zh-CN">
              <a:ea typeface="宋体" panose="02010600030101010101" pitchFamily="2" charset="-122"/>
            </a:endParaRPr>
          </a:p>
        </p:txBody>
      </p:sp>
      <p:sp>
        <p:nvSpPr>
          <p:cNvPr id="53250" name="Rectangle 3">
            <a:extLst>
              <a:ext uri="{FF2B5EF4-FFF2-40B4-BE49-F238E27FC236}">
                <a16:creationId xmlns:a16="http://schemas.microsoft.com/office/drawing/2014/main" id="{1E624CF3-47B3-D00E-F4BE-44715F828E6E}"/>
              </a:ext>
            </a:extLst>
          </p:cNvPr>
          <p:cNvSpPr>
            <a:spLocks noGrp="1" noChangeArrowheads="1"/>
          </p:cNvSpPr>
          <p:nvPr>
            <p:ph idx="1"/>
          </p:nvPr>
        </p:nvSpPr>
        <p:spPr>
          <a:xfrm>
            <a:off x="468313" y="836613"/>
            <a:ext cx="8229600" cy="3389312"/>
          </a:xfrm>
        </p:spPr>
        <p:txBody>
          <a:bodyPr/>
          <a:lstStyle/>
          <a:p>
            <a:pPr>
              <a:lnSpc>
                <a:spcPct val="125000"/>
              </a:lnSpc>
            </a:pPr>
            <a:r>
              <a:rPr lang="en-US" altLang="zh-CN" sz="2200">
                <a:latin typeface="微软雅黑" panose="020B0503020204020204" pitchFamily="34" charset="-122"/>
                <a:ea typeface="微软雅黑" panose="020B0503020204020204" pitchFamily="34" charset="-122"/>
              </a:rPr>
              <a:t>Intel</a:t>
            </a:r>
            <a:r>
              <a:rPr lang="zh-CN" altLang="en-US" sz="2200">
                <a:latin typeface="微软雅黑" panose="020B0503020204020204" pitchFamily="34" charset="-122"/>
                <a:ea typeface="微软雅黑" panose="020B0503020204020204" pitchFamily="34" charset="-122"/>
              </a:rPr>
              <a:t>将中断分成</a:t>
            </a:r>
            <a:r>
              <a:rPr lang="zh-CN" altLang="en-US" sz="2200">
                <a:solidFill>
                  <a:srgbClr val="FF0000"/>
                </a:solidFill>
                <a:latin typeface="微软雅黑" panose="020B0503020204020204" pitchFamily="34" charset="-122"/>
                <a:ea typeface="微软雅黑" panose="020B0503020204020204" pitchFamily="34" charset="-122"/>
              </a:rPr>
              <a:t>可屏蔽中断</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maskable interrupt</a:t>
            </a:r>
            <a:r>
              <a:rPr lang="zh-CN" altLang="en-US" sz="2200">
                <a:latin typeface="微软雅黑" panose="020B0503020204020204" pitchFamily="34" charset="-122"/>
                <a:ea typeface="微软雅黑" panose="020B0503020204020204" pitchFamily="34" charset="-122"/>
              </a:rPr>
              <a:t>）和</a:t>
            </a:r>
            <a:r>
              <a:rPr lang="zh-CN" altLang="en-US" sz="2200">
                <a:solidFill>
                  <a:srgbClr val="FF0000"/>
                </a:solidFill>
                <a:latin typeface="微软雅黑" panose="020B0503020204020204" pitchFamily="34" charset="-122"/>
                <a:ea typeface="微软雅黑" panose="020B0503020204020204" pitchFamily="34" charset="-122"/>
              </a:rPr>
              <a:t>不可屏蔽中断</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nonmaskable interrupt</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NMI</a:t>
            </a:r>
            <a:r>
              <a:rPr lang="zh-CN" altLang="en-US" sz="2200">
                <a:latin typeface="微软雅黑" panose="020B0503020204020204" pitchFamily="34" charset="-122"/>
                <a:ea typeface="微软雅黑" panose="020B0503020204020204" pitchFamily="34" charset="-122"/>
              </a:rPr>
              <a:t>）。</a:t>
            </a:r>
          </a:p>
          <a:p>
            <a:pPr lvl="1">
              <a:lnSpc>
                <a:spcPct val="125000"/>
              </a:lnSpc>
              <a:spcBef>
                <a:spcPct val="50000"/>
              </a:spcBef>
            </a:pPr>
            <a:r>
              <a:rPr lang="zh-CN" altLang="en-US">
                <a:solidFill>
                  <a:srgbClr val="008000"/>
                </a:solidFill>
                <a:latin typeface="微软雅黑" panose="020B0503020204020204" pitchFamily="34" charset="-122"/>
                <a:ea typeface="微软雅黑" panose="020B0503020204020204" pitchFamily="34" charset="-122"/>
              </a:rPr>
              <a:t>可屏蔽中断</a:t>
            </a:r>
            <a:r>
              <a:rPr lang="zh-CN" altLang="en-US">
                <a:latin typeface="微软雅黑" panose="020B0503020204020204" pitchFamily="34" charset="-122"/>
                <a:ea typeface="微软雅黑" panose="020B0503020204020204" pitchFamily="34" charset="-122"/>
              </a:rPr>
              <a:t>：通过 </a:t>
            </a:r>
            <a:r>
              <a:rPr lang="en-US" altLang="zh-CN">
                <a:latin typeface="微软雅黑" panose="020B0503020204020204" pitchFamily="34" charset="-122"/>
                <a:ea typeface="微软雅黑" panose="020B0503020204020204" pitchFamily="34" charset="-122"/>
              </a:rPr>
              <a:t>INTR </a:t>
            </a:r>
            <a:r>
              <a:rPr lang="zh-CN" altLang="en-US">
                <a:latin typeface="微软雅黑" panose="020B0503020204020204" pitchFamily="34" charset="-122"/>
                <a:ea typeface="微软雅黑" panose="020B0503020204020204" pitchFamily="34" charset="-122"/>
              </a:rPr>
              <a:t>向</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请求，可通过设置</a:t>
            </a:r>
            <a:r>
              <a:rPr lang="zh-CN" altLang="en-US">
                <a:solidFill>
                  <a:srgbClr val="FF0000"/>
                </a:solidFill>
                <a:latin typeface="微软雅黑" panose="020B0503020204020204" pitchFamily="34" charset="-122"/>
                <a:ea typeface="微软雅黑" panose="020B0503020204020204" pitchFamily="34" charset="-122"/>
              </a:rPr>
              <a:t>屏蔽字</a:t>
            </a:r>
            <a:r>
              <a:rPr lang="zh-CN" altLang="en-US">
                <a:latin typeface="微软雅黑" panose="020B0503020204020204" pitchFamily="34" charset="-122"/>
                <a:ea typeface="微软雅黑" panose="020B0503020204020204" pitchFamily="34" charset="-122"/>
              </a:rPr>
              <a:t>来屏蔽请求，若中断请求被屏蔽，则不会被送到</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a:t>
            </a:r>
          </a:p>
          <a:p>
            <a:pPr lvl="1">
              <a:lnSpc>
                <a:spcPct val="125000"/>
              </a:lnSpc>
              <a:spcBef>
                <a:spcPct val="50000"/>
              </a:spcBef>
            </a:pPr>
            <a:r>
              <a:rPr lang="zh-CN" altLang="en-US">
                <a:solidFill>
                  <a:srgbClr val="008000"/>
                </a:solidFill>
                <a:latin typeface="微软雅黑" panose="020B0503020204020204" pitchFamily="34" charset="-122"/>
                <a:ea typeface="微软雅黑" panose="020B0503020204020204" pitchFamily="34" charset="-122"/>
              </a:rPr>
              <a:t>不可屏蔽中断</a:t>
            </a:r>
            <a:r>
              <a:rPr lang="zh-CN" altLang="en-US">
                <a:latin typeface="微软雅黑" panose="020B0503020204020204" pitchFamily="34" charset="-122"/>
                <a:ea typeface="微软雅黑" panose="020B0503020204020204" pitchFamily="34" charset="-122"/>
              </a:rPr>
              <a:t>：非常紧急的硬件故障，如：电源掉电，硬件线路故障等。通过 </a:t>
            </a:r>
            <a:r>
              <a:rPr lang="en-US" altLang="zh-CN">
                <a:latin typeface="微软雅黑" panose="020B0503020204020204" pitchFamily="34" charset="-122"/>
                <a:ea typeface="微软雅黑" panose="020B0503020204020204" pitchFamily="34" charset="-122"/>
              </a:rPr>
              <a:t>NMI </a:t>
            </a:r>
            <a:r>
              <a:rPr lang="zh-CN" altLang="en-US">
                <a:latin typeface="微软雅黑" panose="020B0503020204020204" pitchFamily="34" charset="-122"/>
                <a:ea typeface="微软雅黑" panose="020B0503020204020204" pitchFamily="34" charset="-122"/>
              </a:rPr>
              <a:t>向</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请求。一旦产生，就被立即送</a:t>
            </a:r>
            <a:r>
              <a:rPr lang="en-US" altLang="zh-CN">
                <a:latin typeface="微软雅黑" panose="020B0503020204020204" pitchFamily="34" charset="-122"/>
                <a:ea typeface="微软雅黑" panose="020B0503020204020204" pitchFamily="34" charset="-122"/>
              </a:rPr>
              <a:t>CPU</a:t>
            </a:r>
            <a:r>
              <a:rPr lang="zh-CN" altLang="en-US">
                <a:latin typeface="微软雅黑" panose="020B0503020204020204" pitchFamily="34" charset="-122"/>
                <a:ea typeface="微软雅黑" panose="020B0503020204020204" pitchFamily="34" charset="-122"/>
              </a:rPr>
              <a:t>，以便快速处理。这种情况下，中断服务程序会尽快保存系统重要信息，然后在屏幕上显示相应的消息或直接重启系统。    </a:t>
            </a:r>
          </a:p>
        </p:txBody>
      </p:sp>
      <p:sp>
        <p:nvSpPr>
          <p:cNvPr id="63492" name="Rectangle 4">
            <a:extLst>
              <a:ext uri="{FF2B5EF4-FFF2-40B4-BE49-F238E27FC236}">
                <a16:creationId xmlns:a16="http://schemas.microsoft.com/office/drawing/2014/main" id="{EC95ED71-B449-CA80-7403-4B782ACC11DD}"/>
              </a:ext>
            </a:extLst>
          </p:cNvPr>
          <p:cNvSpPr>
            <a:spLocks noChangeArrowheads="1"/>
          </p:cNvSpPr>
          <p:nvPr/>
        </p:nvSpPr>
        <p:spPr bwMode="auto">
          <a:xfrm>
            <a:off x="857250" y="4802188"/>
            <a:ext cx="1784350" cy="1466850"/>
          </a:xfrm>
          <a:prstGeom prst="rect">
            <a:avLst/>
          </a:prstGeom>
          <a:solidFill>
            <a:schemeClr val="accent1">
              <a:lumMod val="20000"/>
              <a:lumOff val="80000"/>
            </a:schemeClr>
          </a:solidFill>
          <a:ln w="9525">
            <a:solidFill>
              <a:schemeClr val="tx1"/>
            </a:solidFill>
            <a:miter lim="800000"/>
          </a:ln>
          <a:effec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defRPr/>
            </a:pPr>
            <a:endParaRPr lang="zh-CN" altLang="en-US" sz="1800" b="0"/>
          </a:p>
        </p:txBody>
      </p:sp>
      <p:sp>
        <p:nvSpPr>
          <p:cNvPr id="53252" name="Text Box 5">
            <a:extLst>
              <a:ext uri="{FF2B5EF4-FFF2-40B4-BE49-F238E27FC236}">
                <a16:creationId xmlns:a16="http://schemas.microsoft.com/office/drawing/2014/main" id="{40158CA7-C414-BE12-A20B-316ED35AF248}"/>
              </a:ext>
            </a:extLst>
          </p:cNvPr>
          <p:cNvSpPr txBox="1">
            <a:spLocks noChangeArrowheads="1"/>
          </p:cNvSpPr>
          <p:nvPr/>
        </p:nvSpPr>
        <p:spPr bwMode="auto">
          <a:xfrm>
            <a:off x="1320800" y="5268913"/>
            <a:ext cx="1074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a:solidFill>
                  <a:schemeClr val="tx1"/>
                </a:solidFill>
                <a:latin typeface="微软雅黑" panose="020B0503020204020204" pitchFamily="34" charset="-122"/>
                <a:ea typeface="微软雅黑" panose="020B0503020204020204" pitchFamily="34" charset="-122"/>
              </a:rPr>
              <a:t>CPU</a:t>
            </a:r>
          </a:p>
        </p:txBody>
      </p:sp>
      <p:sp>
        <p:nvSpPr>
          <p:cNvPr id="63494" name="Rectangle 6">
            <a:extLst>
              <a:ext uri="{FF2B5EF4-FFF2-40B4-BE49-F238E27FC236}">
                <a16:creationId xmlns:a16="http://schemas.microsoft.com/office/drawing/2014/main" id="{7F067715-ED8E-5330-B989-D8E339B53EBC}"/>
              </a:ext>
            </a:extLst>
          </p:cNvPr>
          <p:cNvSpPr>
            <a:spLocks noChangeArrowheads="1"/>
          </p:cNvSpPr>
          <p:nvPr/>
        </p:nvSpPr>
        <p:spPr bwMode="auto">
          <a:xfrm>
            <a:off x="5041900" y="4764088"/>
            <a:ext cx="1885950" cy="1466850"/>
          </a:xfrm>
          <a:prstGeom prst="rect">
            <a:avLst/>
          </a:prstGeom>
          <a:solidFill>
            <a:schemeClr val="accent1">
              <a:lumMod val="20000"/>
              <a:lumOff val="80000"/>
            </a:schemeClr>
          </a:solidFill>
          <a:ln w="9525">
            <a:solidFill>
              <a:schemeClr val="tx1"/>
            </a:solidFill>
            <a:miter lim="800000"/>
          </a:ln>
          <a:effec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defRPr/>
            </a:pPr>
            <a:endParaRPr lang="zh-CN" altLang="en-US" sz="1800" b="0"/>
          </a:p>
        </p:txBody>
      </p:sp>
      <p:sp>
        <p:nvSpPr>
          <p:cNvPr id="53254" name="Text Box 7">
            <a:extLst>
              <a:ext uri="{FF2B5EF4-FFF2-40B4-BE49-F238E27FC236}">
                <a16:creationId xmlns:a16="http://schemas.microsoft.com/office/drawing/2014/main" id="{815A19F5-9182-6212-F376-7B836FA69A2C}"/>
              </a:ext>
            </a:extLst>
          </p:cNvPr>
          <p:cNvSpPr txBox="1">
            <a:spLocks noChangeArrowheads="1"/>
          </p:cNvSpPr>
          <p:nvPr/>
        </p:nvSpPr>
        <p:spPr bwMode="auto">
          <a:xfrm>
            <a:off x="5143500" y="5230813"/>
            <a:ext cx="172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a:solidFill>
                  <a:schemeClr val="tx1"/>
                </a:solidFill>
                <a:latin typeface="微软雅黑" panose="020B0503020204020204" pitchFamily="34" charset="-122"/>
                <a:ea typeface="微软雅黑" panose="020B0503020204020204" pitchFamily="34" charset="-122"/>
              </a:rPr>
              <a:t>中断控制器</a:t>
            </a:r>
          </a:p>
        </p:txBody>
      </p:sp>
      <p:sp>
        <p:nvSpPr>
          <p:cNvPr id="53255" name="Line 8">
            <a:extLst>
              <a:ext uri="{FF2B5EF4-FFF2-40B4-BE49-F238E27FC236}">
                <a16:creationId xmlns:a16="http://schemas.microsoft.com/office/drawing/2014/main" id="{96B358DA-DC4B-BCD1-9F45-81E3B85A5C2A}"/>
              </a:ext>
            </a:extLst>
          </p:cNvPr>
          <p:cNvSpPr>
            <a:spLocks noChangeShapeType="1"/>
          </p:cNvSpPr>
          <p:nvPr/>
        </p:nvSpPr>
        <p:spPr bwMode="auto">
          <a:xfrm flipH="1">
            <a:off x="2641600" y="5080000"/>
            <a:ext cx="23796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56" name="Text Box 9">
            <a:extLst>
              <a:ext uri="{FF2B5EF4-FFF2-40B4-BE49-F238E27FC236}">
                <a16:creationId xmlns:a16="http://schemas.microsoft.com/office/drawing/2014/main" id="{12AF17FF-90C8-C5A7-5E81-EE1800E97CB9}"/>
              </a:ext>
            </a:extLst>
          </p:cNvPr>
          <p:cNvSpPr txBox="1">
            <a:spLocks noChangeArrowheads="1"/>
          </p:cNvSpPr>
          <p:nvPr/>
        </p:nvSpPr>
        <p:spPr bwMode="auto">
          <a:xfrm>
            <a:off x="2755900" y="4730750"/>
            <a:ext cx="928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800">
                <a:solidFill>
                  <a:schemeClr val="tx1"/>
                </a:solidFill>
                <a:latin typeface="微软雅黑" panose="020B0503020204020204" pitchFamily="34" charset="-122"/>
                <a:ea typeface="微软雅黑" panose="020B0503020204020204" pitchFamily="34" charset="-122"/>
              </a:rPr>
              <a:t>NMI</a:t>
            </a:r>
          </a:p>
        </p:txBody>
      </p:sp>
      <p:sp>
        <p:nvSpPr>
          <p:cNvPr id="53257" name="Line 10">
            <a:extLst>
              <a:ext uri="{FF2B5EF4-FFF2-40B4-BE49-F238E27FC236}">
                <a16:creationId xmlns:a16="http://schemas.microsoft.com/office/drawing/2014/main" id="{FCC06334-3DAF-26FE-373B-3A7D72400869}"/>
              </a:ext>
            </a:extLst>
          </p:cNvPr>
          <p:cNvSpPr>
            <a:spLocks noChangeShapeType="1"/>
          </p:cNvSpPr>
          <p:nvPr/>
        </p:nvSpPr>
        <p:spPr bwMode="auto">
          <a:xfrm flipH="1">
            <a:off x="2646363" y="5491163"/>
            <a:ext cx="23796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58" name="Text Box 11">
            <a:extLst>
              <a:ext uri="{FF2B5EF4-FFF2-40B4-BE49-F238E27FC236}">
                <a16:creationId xmlns:a16="http://schemas.microsoft.com/office/drawing/2014/main" id="{0E8979AA-9490-24A2-0BC5-13FF01A6E6AE}"/>
              </a:ext>
            </a:extLst>
          </p:cNvPr>
          <p:cNvSpPr txBox="1">
            <a:spLocks noChangeArrowheads="1"/>
          </p:cNvSpPr>
          <p:nvPr/>
        </p:nvSpPr>
        <p:spPr bwMode="auto">
          <a:xfrm>
            <a:off x="2719388" y="5170488"/>
            <a:ext cx="928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800">
                <a:solidFill>
                  <a:schemeClr val="tx1"/>
                </a:solidFill>
                <a:latin typeface="微软雅黑" panose="020B0503020204020204" pitchFamily="34" charset="-122"/>
                <a:ea typeface="微软雅黑" panose="020B0503020204020204" pitchFamily="34" charset="-122"/>
              </a:rPr>
              <a:t>INTR</a:t>
            </a:r>
          </a:p>
        </p:txBody>
      </p:sp>
      <p:sp>
        <p:nvSpPr>
          <p:cNvPr id="53259" name="Line 13">
            <a:extLst>
              <a:ext uri="{FF2B5EF4-FFF2-40B4-BE49-F238E27FC236}">
                <a16:creationId xmlns:a16="http://schemas.microsoft.com/office/drawing/2014/main" id="{E3CBF357-0C44-2125-7642-04D1BC387BBB}"/>
              </a:ext>
            </a:extLst>
          </p:cNvPr>
          <p:cNvSpPr>
            <a:spLocks noChangeShapeType="1"/>
          </p:cNvSpPr>
          <p:nvPr/>
        </p:nvSpPr>
        <p:spPr bwMode="auto">
          <a:xfrm>
            <a:off x="2641600" y="5965825"/>
            <a:ext cx="2395538"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0" name="Line 14">
            <a:extLst>
              <a:ext uri="{FF2B5EF4-FFF2-40B4-BE49-F238E27FC236}">
                <a16:creationId xmlns:a16="http://schemas.microsoft.com/office/drawing/2014/main" id="{5A2150D7-62C5-41F0-B00E-C72EA0E0CF91}"/>
              </a:ext>
            </a:extLst>
          </p:cNvPr>
          <p:cNvSpPr>
            <a:spLocks noChangeShapeType="1"/>
          </p:cNvSpPr>
          <p:nvPr/>
        </p:nvSpPr>
        <p:spPr bwMode="auto">
          <a:xfrm>
            <a:off x="3671888" y="5835650"/>
            <a:ext cx="247650" cy="246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2ECD2E07-41AE-695E-CBD6-C4F96F6A32C4}"/>
              </a:ext>
            </a:extLst>
          </p:cNvPr>
          <p:cNvSpPr>
            <a:spLocks noGrp="1" noChangeArrowheads="1"/>
          </p:cNvSpPr>
          <p:nvPr>
            <p:ph type="title"/>
          </p:nvPr>
        </p:nvSpPr>
        <p:spPr>
          <a:xfrm>
            <a:off x="457200" y="96838"/>
            <a:ext cx="8229600" cy="561975"/>
          </a:xfrm>
        </p:spPr>
        <p:txBody>
          <a:bodyPr/>
          <a:lstStyle/>
          <a:p>
            <a:r>
              <a:rPr lang="zh-CN" altLang="en-US">
                <a:ea typeface="宋体" panose="02010600030101010101" pitchFamily="2" charset="-122"/>
              </a:rPr>
              <a:t>异常</a:t>
            </a:r>
            <a:r>
              <a:rPr lang="en-US" altLang="zh-CN">
                <a:ea typeface="宋体" panose="02010600030101010101" pitchFamily="2" charset="-122"/>
              </a:rPr>
              <a:t>/</a:t>
            </a:r>
            <a:r>
              <a:rPr lang="zh-CN" altLang="en-US">
                <a:ea typeface="宋体" panose="02010600030101010101" pitchFamily="2" charset="-122"/>
              </a:rPr>
              <a:t>中断响应过程</a:t>
            </a:r>
          </a:p>
        </p:txBody>
      </p:sp>
      <p:sp>
        <p:nvSpPr>
          <p:cNvPr id="775171" name="Rectangle 3">
            <a:extLst>
              <a:ext uri="{FF2B5EF4-FFF2-40B4-BE49-F238E27FC236}">
                <a16:creationId xmlns:a16="http://schemas.microsoft.com/office/drawing/2014/main" id="{AD6A5F12-39BA-A1C7-D59D-FDE6A0E8BBF9}"/>
              </a:ext>
            </a:extLst>
          </p:cNvPr>
          <p:cNvSpPr>
            <a:spLocks noChangeArrowheads="1"/>
          </p:cNvSpPr>
          <p:nvPr/>
        </p:nvSpPr>
        <p:spPr bwMode="auto">
          <a:xfrm>
            <a:off x="184150" y="882650"/>
            <a:ext cx="8766175" cy="534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800" b="1">
                <a:solidFill>
                  <a:schemeClr val="accent2"/>
                </a:solidFill>
                <a:latin typeface="Arial" panose="020B0604020202020204" pitchFamily="34" charset="0"/>
                <a:ea typeface="宋体" panose="02010600030101010101" pitchFamily="2" charset="-122"/>
              </a:defRPr>
            </a:lvl1pPr>
            <a:lvl2pPr marL="952500" indent="-495300">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25000"/>
              </a:lnSpc>
              <a:spcBef>
                <a:spcPct val="30000"/>
              </a:spcBef>
              <a:buSzPct val="75000"/>
              <a:buFont typeface="Wingdings" panose="05000000000000000000" pitchFamily="2" charset="2"/>
              <a:buNone/>
            </a:pPr>
            <a:r>
              <a:rPr lang="zh-CN" altLang="en-US" sz="2200">
                <a:solidFill>
                  <a:schemeClr val="tx1"/>
                </a:solidFill>
                <a:latin typeface="微软雅黑" panose="020B0503020204020204" pitchFamily="34" charset="-122"/>
                <a:ea typeface="微软雅黑" panose="020B0503020204020204" pitchFamily="34" charset="-122"/>
              </a:rPr>
              <a:t>检测到异常或中断时，</a:t>
            </a:r>
            <a:r>
              <a:rPr lang="en-US" altLang="zh-CN" sz="2200">
                <a:solidFill>
                  <a:schemeClr val="tx1"/>
                </a:solidFill>
                <a:latin typeface="微软雅黑" panose="020B0503020204020204" pitchFamily="34" charset="-122"/>
                <a:ea typeface="微软雅黑" panose="020B0503020204020204" pitchFamily="34" charset="-122"/>
              </a:rPr>
              <a:t>CPU</a:t>
            </a:r>
            <a:r>
              <a:rPr lang="zh-CN" altLang="en-US" sz="2200">
                <a:solidFill>
                  <a:schemeClr val="tx1"/>
                </a:solidFill>
                <a:latin typeface="微软雅黑" panose="020B0503020204020204" pitchFamily="34" charset="-122"/>
                <a:ea typeface="微软雅黑" panose="020B0503020204020204" pitchFamily="34" charset="-122"/>
              </a:rPr>
              <a:t>须进行以下基本处理：</a:t>
            </a:r>
          </a:p>
          <a:p>
            <a:pPr eaLnBrk="0" hangingPunct="0">
              <a:lnSpc>
                <a:spcPct val="125000"/>
              </a:lnSpc>
              <a:spcBef>
                <a:spcPct val="30000"/>
              </a:spcBef>
              <a:buSzPct val="75000"/>
              <a:buFont typeface="Wingdings" panose="05000000000000000000" pitchFamily="2" charset="2"/>
              <a:buNone/>
            </a:pPr>
            <a:r>
              <a:rPr lang="en-US" altLang="zh-CN" sz="2000">
                <a:solidFill>
                  <a:schemeClr val="tx1"/>
                </a:solidFill>
                <a:latin typeface="微软雅黑" panose="020B0503020204020204" pitchFamily="34" charset="-122"/>
                <a:ea typeface="微软雅黑" panose="020B0503020204020204" pitchFamily="34" charset="-122"/>
              </a:rPr>
              <a:t>① </a:t>
            </a:r>
            <a:r>
              <a:rPr lang="zh-CN" altLang="en-US" sz="2000">
                <a:solidFill>
                  <a:schemeClr val="tx1"/>
                </a:solidFill>
                <a:latin typeface="微软雅黑" panose="020B0503020204020204" pitchFamily="34" charset="-122"/>
                <a:ea typeface="微软雅黑" panose="020B0503020204020204" pitchFamily="34" charset="-122"/>
              </a:rPr>
              <a:t>关中断（“中断允许位” 清</a:t>
            </a:r>
            <a:r>
              <a:rPr lang="en-US" altLang="zh-CN" sz="2000">
                <a:solidFill>
                  <a:schemeClr val="tx1"/>
                </a:solidFill>
                <a:latin typeface="微软雅黑" panose="020B0503020204020204" pitchFamily="34" charset="-122"/>
                <a:ea typeface="微软雅黑" panose="020B0503020204020204" pitchFamily="34" charset="-122"/>
              </a:rPr>
              <a:t>0</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rgbClr val="A50021"/>
                </a:solidFill>
                <a:latin typeface="微软雅黑" panose="020B0503020204020204" pitchFamily="34" charset="-122"/>
                <a:ea typeface="微软雅黑" panose="020B0503020204020204" pitchFamily="34" charset="-122"/>
              </a:rPr>
              <a:t>使</a:t>
            </a:r>
            <a:r>
              <a:rPr lang="en-US" altLang="zh-CN" sz="2000">
                <a:solidFill>
                  <a:srgbClr val="A50021"/>
                </a:solidFill>
                <a:latin typeface="微软雅黑" panose="020B0503020204020204" pitchFamily="34" charset="-122"/>
                <a:ea typeface="微软雅黑" panose="020B0503020204020204" pitchFamily="34" charset="-122"/>
              </a:rPr>
              <a:t>CPU</a:t>
            </a:r>
            <a:r>
              <a:rPr lang="zh-CN" altLang="en-US" sz="2000">
                <a:solidFill>
                  <a:srgbClr val="A50021"/>
                </a:solidFill>
                <a:latin typeface="微软雅黑" panose="020B0503020204020204" pitchFamily="34" charset="-122"/>
                <a:ea typeface="微软雅黑" panose="020B0503020204020204" pitchFamily="34" charset="-122"/>
              </a:rPr>
              <a:t>处于“禁止中断”状态，以防止新中断破坏</a:t>
            </a:r>
            <a:r>
              <a:rPr lang="zh-CN" altLang="en-US" sz="2000">
                <a:solidFill>
                  <a:srgbClr val="008000"/>
                </a:solidFill>
                <a:latin typeface="微软雅黑" panose="020B0503020204020204" pitchFamily="34" charset="-122"/>
                <a:ea typeface="微软雅黑" panose="020B0503020204020204" pitchFamily="34" charset="-122"/>
              </a:rPr>
              <a:t>断点（</a:t>
            </a:r>
            <a:r>
              <a:rPr lang="en-US" altLang="zh-CN" sz="2000">
                <a:latin typeface="微软雅黑" panose="020B0503020204020204" pitchFamily="34" charset="-122"/>
                <a:ea typeface="微软雅黑" panose="020B0503020204020204" pitchFamily="34" charset="-122"/>
              </a:rPr>
              <a:t>PC</a:t>
            </a:r>
            <a:r>
              <a:rPr lang="zh-CN" altLang="en-US" sz="2000">
                <a:solidFill>
                  <a:srgbClr val="008000"/>
                </a:solidFill>
                <a:latin typeface="微软雅黑" panose="020B0503020204020204" pitchFamily="34" charset="-122"/>
                <a:ea typeface="微软雅黑" panose="020B0503020204020204" pitchFamily="34" charset="-122"/>
              </a:rPr>
              <a:t>）、程序状态（</a:t>
            </a:r>
            <a:r>
              <a:rPr lang="en-US" altLang="zh-CN" sz="2000">
                <a:latin typeface="微软雅黑" panose="020B0503020204020204" pitchFamily="34" charset="-122"/>
                <a:ea typeface="微软雅黑" panose="020B0503020204020204" pitchFamily="34" charset="-122"/>
              </a:rPr>
              <a:t>PSW</a:t>
            </a:r>
            <a:r>
              <a:rPr lang="zh-CN" altLang="en-US" sz="2000">
                <a:solidFill>
                  <a:srgbClr val="008000"/>
                </a:solidFill>
                <a:latin typeface="微软雅黑" panose="020B0503020204020204" pitchFamily="34" charset="-122"/>
                <a:ea typeface="微软雅黑" panose="020B0503020204020204" pitchFamily="34" charset="-122"/>
              </a:rPr>
              <a:t>）</a:t>
            </a:r>
            <a:r>
              <a:rPr lang="zh-CN" altLang="en-US" sz="2000">
                <a:solidFill>
                  <a:srgbClr val="990000"/>
                </a:solidFill>
                <a:latin typeface="微软雅黑" panose="020B0503020204020204" pitchFamily="34" charset="-122"/>
                <a:ea typeface="微软雅黑" panose="020B0503020204020204" pitchFamily="34" charset="-122"/>
              </a:rPr>
              <a:t>和</a:t>
            </a:r>
            <a:r>
              <a:rPr lang="zh-CN" altLang="en-US" sz="2000">
                <a:solidFill>
                  <a:srgbClr val="008000"/>
                </a:solidFill>
                <a:latin typeface="微软雅黑" panose="020B0503020204020204" pitchFamily="34" charset="-122"/>
                <a:ea typeface="微软雅黑" panose="020B0503020204020204" pitchFamily="34" charset="-122"/>
              </a:rPr>
              <a:t>现场</a:t>
            </a:r>
            <a:r>
              <a:rPr lang="zh-CN" altLang="en-US" sz="2000">
                <a:latin typeface="微软雅黑" panose="020B0503020204020204" pitchFamily="34" charset="-122"/>
                <a:ea typeface="微软雅黑" panose="020B0503020204020204" pitchFamily="34" charset="-122"/>
              </a:rPr>
              <a:t>（通用寄存器）。</a:t>
            </a:r>
            <a:endParaRPr lang="en-US" altLang="zh-CN" sz="2000">
              <a:latin typeface="微软雅黑" panose="020B0503020204020204" pitchFamily="34" charset="-122"/>
              <a:ea typeface="微软雅黑" panose="020B0503020204020204" pitchFamily="34" charset="-122"/>
            </a:endParaRPr>
          </a:p>
          <a:p>
            <a:pPr eaLnBrk="0" hangingPunct="0">
              <a:lnSpc>
                <a:spcPct val="125000"/>
              </a:lnSpc>
              <a:spcBef>
                <a:spcPct val="30000"/>
              </a:spcBef>
              <a:buSzPct val="75000"/>
              <a:buFont typeface="Wingdings" panose="05000000000000000000" pitchFamily="2" charset="2"/>
              <a:buNone/>
            </a:pPr>
            <a:r>
              <a:rPr lang="en-US" altLang="zh-CN" sz="2000">
                <a:solidFill>
                  <a:schemeClr val="tx1"/>
                </a:solidFill>
                <a:latin typeface="微软雅黑" panose="020B0503020204020204" pitchFamily="34" charset="-122"/>
                <a:ea typeface="微软雅黑" panose="020B0503020204020204" pitchFamily="34" charset="-122"/>
              </a:rPr>
              <a:t>② </a:t>
            </a:r>
            <a:r>
              <a:rPr lang="zh-CN" altLang="en-US" sz="2000">
                <a:solidFill>
                  <a:schemeClr val="tx1"/>
                </a:solidFill>
                <a:latin typeface="微软雅黑" panose="020B0503020204020204" pitchFamily="34" charset="-122"/>
                <a:ea typeface="微软雅黑" panose="020B0503020204020204" pitchFamily="34" charset="-122"/>
              </a:rPr>
              <a:t>保护断点和程序状态：</a:t>
            </a:r>
            <a:r>
              <a:rPr lang="zh-CN" altLang="en-US" sz="2000">
                <a:solidFill>
                  <a:srgbClr val="A50021"/>
                </a:solidFill>
                <a:latin typeface="微软雅黑" panose="020B0503020204020204" pitchFamily="34" charset="-122"/>
                <a:ea typeface="微软雅黑" panose="020B0503020204020204" pitchFamily="34" charset="-122"/>
              </a:rPr>
              <a:t>将断点和程序状态保存到栈或特殊寄存器中</a:t>
            </a:r>
          </a:p>
          <a:p>
            <a:pPr lvl="1" eaLnBrk="0" hangingPunct="0">
              <a:lnSpc>
                <a:spcPct val="125000"/>
              </a:lnSpc>
              <a:spcBef>
                <a:spcPct val="30000"/>
              </a:spcBef>
            </a:pPr>
            <a:r>
              <a:rPr lang="zh-CN" altLang="en-US" sz="2000">
                <a:solidFill>
                  <a:srgbClr val="0000CC"/>
                </a:solidFill>
                <a:latin typeface="微软雅黑" panose="020B0503020204020204" pitchFamily="34" charset="-122"/>
                <a:ea typeface="微软雅黑" panose="020B0503020204020204" pitchFamily="34" charset="-122"/>
              </a:rPr>
              <a:t> </a:t>
            </a:r>
            <a:r>
              <a:rPr lang="en-US" altLang="zh-CN" sz="2000">
                <a:solidFill>
                  <a:srgbClr val="0000CC"/>
                </a:solidFill>
                <a:latin typeface="微软雅黑" panose="020B0503020204020204" pitchFamily="34" charset="-122"/>
                <a:ea typeface="微软雅黑" panose="020B0503020204020204" pitchFamily="34" charset="-122"/>
              </a:rPr>
              <a:t>PC→</a:t>
            </a:r>
            <a:r>
              <a:rPr lang="zh-CN" altLang="en-US" sz="2000">
                <a:solidFill>
                  <a:srgbClr val="0000CC"/>
                </a:solidFill>
                <a:latin typeface="微软雅黑" panose="020B0503020204020204" pitchFamily="34" charset="-122"/>
                <a:ea typeface="微软雅黑" panose="020B0503020204020204" pitchFamily="34" charset="-122"/>
              </a:rPr>
              <a:t>栈 或 </a:t>
            </a:r>
            <a:r>
              <a:rPr lang="en-US" altLang="zh-CN" sz="2000">
                <a:solidFill>
                  <a:srgbClr val="0000CC"/>
                </a:solidFill>
                <a:latin typeface="微软雅黑" panose="020B0503020204020204" pitchFamily="34" charset="-122"/>
                <a:ea typeface="微软雅黑" panose="020B0503020204020204" pitchFamily="34" charset="-122"/>
              </a:rPr>
              <a:t>EPC</a:t>
            </a:r>
            <a:r>
              <a:rPr lang="zh-CN" altLang="en-US" sz="2000">
                <a:solidFill>
                  <a:srgbClr val="006600"/>
                </a:solidFill>
                <a:latin typeface="微软雅黑" panose="020B0503020204020204" pitchFamily="34" charset="-122"/>
                <a:ea typeface="微软雅黑" panose="020B0503020204020204" pitchFamily="34" charset="-122"/>
              </a:rPr>
              <a:t>（专门存放断点的寄存器）</a:t>
            </a:r>
          </a:p>
          <a:p>
            <a:pPr lvl="1" eaLnBrk="0" hangingPunct="0">
              <a:lnSpc>
                <a:spcPct val="125000"/>
              </a:lnSpc>
              <a:spcBef>
                <a:spcPct val="30000"/>
              </a:spcBef>
            </a:pPr>
            <a:r>
              <a:rPr lang="en-US" altLang="zh-CN" sz="2000">
                <a:solidFill>
                  <a:srgbClr val="0000CC"/>
                </a:solidFill>
                <a:latin typeface="微软雅黑" panose="020B0503020204020204" pitchFamily="34" charset="-122"/>
                <a:ea typeface="微软雅黑" panose="020B0503020204020204" pitchFamily="34" charset="-122"/>
              </a:rPr>
              <a:t> PSWR →</a:t>
            </a:r>
            <a:r>
              <a:rPr lang="zh-CN" altLang="en-US" sz="2000">
                <a:solidFill>
                  <a:srgbClr val="0000CC"/>
                </a:solidFill>
                <a:latin typeface="微软雅黑" panose="020B0503020204020204" pitchFamily="34" charset="-122"/>
                <a:ea typeface="微软雅黑" panose="020B0503020204020204" pitchFamily="34" charset="-122"/>
              </a:rPr>
              <a:t>栈 或 </a:t>
            </a:r>
            <a:r>
              <a:rPr lang="en-US" altLang="zh-CN" sz="2000">
                <a:solidFill>
                  <a:srgbClr val="0000CC"/>
                </a:solidFill>
                <a:latin typeface="微软雅黑" panose="020B0503020204020204" pitchFamily="34" charset="-122"/>
                <a:ea typeface="微软雅黑" panose="020B0503020204020204" pitchFamily="34" charset="-122"/>
              </a:rPr>
              <a:t>EPSWR </a:t>
            </a:r>
            <a:r>
              <a:rPr lang="zh-CN" altLang="en-US" sz="2000">
                <a:solidFill>
                  <a:srgbClr val="006600"/>
                </a:solidFill>
                <a:latin typeface="微软雅黑" panose="020B0503020204020204" pitchFamily="34" charset="-122"/>
                <a:ea typeface="微软雅黑" panose="020B0503020204020204" pitchFamily="34" charset="-122"/>
              </a:rPr>
              <a:t>（专门保存程序状态的寄存器）</a:t>
            </a:r>
            <a:endParaRPr lang="en-US" altLang="zh-CN" sz="2000">
              <a:solidFill>
                <a:srgbClr val="006600"/>
              </a:solidFill>
              <a:latin typeface="微软雅黑" panose="020B0503020204020204" pitchFamily="34" charset="-122"/>
              <a:ea typeface="微软雅黑" panose="020B0503020204020204" pitchFamily="34" charset="-122"/>
            </a:endParaRPr>
          </a:p>
          <a:p>
            <a:pPr lvl="1" eaLnBrk="0" hangingPunct="0">
              <a:lnSpc>
                <a:spcPct val="125000"/>
              </a:lnSpc>
              <a:spcBef>
                <a:spcPct val="30000"/>
              </a:spcBef>
            </a:pPr>
            <a:r>
              <a:rPr lang="en-US" altLang="zh-CN" sz="2000">
                <a:solidFill>
                  <a:srgbClr val="006600"/>
                </a:solidFill>
                <a:latin typeface="微软雅黑" panose="020B0503020204020204" pitchFamily="34" charset="-122"/>
                <a:ea typeface="微软雅黑" panose="020B0503020204020204" pitchFamily="34" charset="-122"/>
              </a:rPr>
              <a:t>PSW</a:t>
            </a:r>
            <a:r>
              <a:rPr lang="zh-CN" altLang="en-US" sz="2000">
                <a:solidFill>
                  <a:srgbClr val="006600"/>
                </a:solidFill>
                <a:latin typeface="微软雅黑" panose="020B0503020204020204" pitchFamily="34" charset="-122"/>
                <a:ea typeface="微软雅黑" panose="020B0503020204020204" pitchFamily="34" charset="-122"/>
              </a:rPr>
              <a:t>（</a:t>
            </a:r>
            <a:r>
              <a:rPr lang="en-US" altLang="zh-CN" sz="2000">
                <a:solidFill>
                  <a:srgbClr val="006600"/>
                </a:solidFill>
                <a:latin typeface="微软雅黑" panose="020B0503020204020204" pitchFamily="34" charset="-122"/>
                <a:ea typeface="微软雅黑" panose="020B0503020204020204" pitchFamily="34" charset="-122"/>
              </a:rPr>
              <a:t>Program Status Word</a:t>
            </a:r>
            <a:r>
              <a:rPr lang="zh-CN" altLang="en-US" sz="2000">
                <a:solidFill>
                  <a:srgbClr val="006600"/>
                </a:solidFill>
                <a:latin typeface="微软雅黑" panose="020B0503020204020204" pitchFamily="34" charset="-122"/>
                <a:ea typeface="微软雅黑" panose="020B0503020204020204" pitchFamily="34" charset="-122"/>
              </a:rPr>
              <a:t>）：</a:t>
            </a:r>
            <a:r>
              <a:rPr lang="zh-CN" altLang="en-US" sz="2000">
                <a:solidFill>
                  <a:srgbClr val="0000CC"/>
                </a:solidFill>
                <a:latin typeface="微软雅黑" panose="020B0503020204020204" pitchFamily="34" charset="-122"/>
                <a:ea typeface="微软雅黑" panose="020B0503020204020204" pitchFamily="34" charset="-122"/>
              </a:rPr>
              <a:t>程序状态字</a:t>
            </a:r>
          </a:p>
          <a:p>
            <a:pPr lvl="1" eaLnBrk="0" hangingPunct="0">
              <a:lnSpc>
                <a:spcPct val="125000"/>
              </a:lnSpc>
              <a:spcBef>
                <a:spcPct val="30000"/>
              </a:spcBef>
            </a:pPr>
            <a:r>
              <a:rPr lang="en-US" altLang="zh-CN" sz="2000">
                <a:solidFill>
                  <a:srgbClr val="006600"/>
                </a:solidFill>
                <a:latin typeface="微软雅黑" panose="020B0503020204020204" pitchFamily="34" charset="-122"/>
                <a:ea typeface="微软雅黑" panose="020B0503020204020204" pitchFamily="34" charset="-122"/>
              </a:rPr>
              <a:t>PSWR</a:t>
            </a:r>
            <a:r>
              <a:rPr lang="zh-CN" altLang="en-US" sz="2000">
                <a:solidFill>
                  <a:srgbClr val="006600"/>
                </a:solidFill>
                <a:latin typeface="微软雅黑" panose="020B0503020204020204" pitchFamily="34" charset="-122"/>
                <a:ea typeface="微软雅黑" panose="020B0503020204020204" pitchFamily="34" charset="-122"/>
              </a:rPr>
              <a:t>（</a:t>
            </a:r>
            <a:r>
              <a:rPr lang="en-US" altLang="zh-CN" sz="2000">
                <a:solidFill>
                  <a:srgbClr val="006600"/>
                </a:solidFill>
                <a:latin typeface="微软雅黑" panose="020B0503020204020204" pitchFamily="34" charset="-122"/>
                <a:ea typeface="微软雅黑" panose="020B0503020204020204" pitchFamily="34" charset="-122"/>
              </a:rPr>
              <a:t>PSW</a:t>
            </a:r>
            <a:r>
              <a:rPr lang="zh-CN" altLang="en-US" sz="2000">
                <a:solidFill>
                  <a:srgbClr val="006600"/>
                </a:solidFill>
                <a:latin typeface="微软雅黑" panose="020B0503020204020204" pitchFamily="34" charset="-122"/>
                <a:ea typeface="微软雅黑" panose="020B0503020204020204" pitchFamily="34" charset="-122"/>
              </a:rPr>
              <a:t>寄存器）：</a:t>
            </a:r>
            <a:r>
              <a:rPr lang="zh-CN" altLang="en-US" sz="2000">
                <a:solidFill>
                  <a:srgbClr val="0000CC"/>
                </a:solidFill>
                <a:latin typeface="微软雅黑" panose="020B0503020204020204" pitchFamily="34" charset="-122"/>
                <a:ea typeface="微软雅黑" panose="020B0503020204020204" pitchFamily="34" charset="-122"/>
              </a:rPr>
              <a:t>如</a:t>
            </a:r>
            <a:r>
              <a:rPr lang="en-US" altLang="zh-CN" sz="2000">
                <a:solidFill>
                  <a:srgbClr val="0000CC"/>
                </a:solidFill>
                <a:latin typeface="微软雅黑" panose="020B0503020204020204" pitchFamily="34" charset="-122"/>
                <a:ea typeface="微软雅黑" panose="020B0503020204020204" pitchFamily="34" charset="-122"/>
              </a:rPr>
              <a:t>IA-32</a:t>
            </a:r>
            <a:r>
              <a:rPr lang="zh-CN" altLang="en-US" sz="2000">
                <a:solidFill>
                  <a:srgbClr val="0000CC"/>
                </a:solidFill>
                <a:latin typeface="微软雅黑" panose="020B0503020204020204" pitchFamily="34" charset="-122"/>
                <a:ea typeface="微软雅黑" panose="020B0503020204020204" pitchFamily="34" charset="-122"/>
              </a:rPr>
              <a:t>中的的</a:t>
            </a:r>
            <a:r>
              <a:rPr lang="en-US" altLang="zh-CN" sz="2000">
                <a:solidFill>
                  <a:srgbClr val="0000CC"/>
                </a:solidFill>
                <a:latin typeface="微软雅黑" panose="020B0503020204020204" pitchFamily="34" charset="-122"/>
                <a:ea typeface="微软雅黑" panose="020B0503020204020204" pitchFamily="34" charset="-122"/>
              </a:rPr>
              <a:t>EFLAGS</a:t>
            </a:r>
            <a:r>
              <a:rPr lang="zh-CN" altLang="en-US" sz="2000">
                <a:solidFill>
                  <a:srgbClr val="0000CC"/>
                </a:solidFill>
                <a:latin typeface="微软雅黑" panose="020B0503020204020204" pitchFamily="34" charset="-122"/>
                <a:ea typeface="微软雅黑" panose="020B0503020204020204" pitchFamily="34" charset="-122"/>
              </a:rPr>
              <a:t>寄存器</a:t>
            </a:r>
          </a:p>
          <a:p>
            <a:pPr eaLnBrk="0" hangingPunct="0">
              <a:lnSpc>
                <a:spcPct val="125000"/>
              </a:lnSpc>
              <a:spcBef>
                <a:spcPct val="30000"/>
              </a:spcBef>
            </a:pPr>
            <a:r>
              <a:rPr lang="en-US" altLang="zh-CN" sz="2000">
                <a:solidFill>
                  <a:schemeClr val="tx1"/>
                </a:solidFill>
                <a:latin typeface="微软雅黑" panose="020B0503020204020204" pitchFamily="34" charset="-122"/>
                <a:ea typeface="微软雅黑" panose="020B0503020204020204" pitchFamily="34" charset="-122"/>
              </a:rPr>
              <a:t>③ </a:t>
            </a:r>
            <a:r>
              <a:rPr lang="zh-CN" altLang="en-US" sz="2000">
                <a:solidFill>
                  <a:schemeClr val="tx1"/>
                </a:solidFill>
                <a:latin typeface="微软雅黑" panose="020B0503020204020204" pitchFamily="34" charset="-122"/>
                <a:ea typeface="微软雅黑" panose="020B0503020204020204" pitchFamily="34" charset="-122"/>
              </a:rPr>
              <a:t>识别中断事件</a:t>
            </a:r>
          </a:p>
          <a:p>
            <a:pPr eaLnBrk="0" hangingPunct="0">
              <a:lnSpc>
                <a:spcPct val="125000"/>
              </a:lnSpc>
              <a:spcBef>
                <a:spcPct val="30000"/>
              </a:spcBef>
            </a:pPr>
            <a:r>
              <a:rPr lang="zh-CN" altLang="en-US" sz="2000">
                <a:solidFill>
                  <a:schemeClr val="tx1"/>
                </a:solidFill>
                <a:latin typeface="微软雅黑" panose="020B0503020204020204" pitchFamily="34" charset="-122"/>
                <a:ea typeface="微软雅黑" panose="020B0503020204020204" pitchFamily="34" charset="-122"/>
              </a:rPr>
              <a:t>     </a:t>
            </a:r>
            <a:r>
              <a:rPr lang="zh-CN" altLang="en-US" sz="2000">
                <a:solidFill>
                  <a:srgbClr val="A50021"/>
                </a:solidFill>
                <a:latin typeface="微软雅黑" panose="020B0503020204020204" pitchFamily="34" charset="-122"/>
                <a:ea typeface="微软雅黑" panose="020B0503020204020204" pitchFamily="34" charset="-122"/>
              </a:rPr>
              <a:t>有</a:t>
            </a:r>
            <a:r>
              <a:rPr lang="zh-CN" altLang="en-US" sz="2000">
                <a:latin typeface="微软雅黑" panose="020B0503020204020204" pitchFamily="34" charset="-122"/>
                <a:ea typeface="微软雅黑" panose="020B0503020204020204" pitchFamily="34" charset="-122"/>
              </a:rPr>
              <a:t>软件识别</a:t>
            </a:r>
            <a:r>
              <a:rPr lang="zh-CN" altLang="en-US" sz="2000">
                <a:solidFill>
                  <a:srgbClr val="A50021"/>
                </a:solidFill>
                <a:latin typeface="微软雅黑" panose="020B0503020204020204" pitchFamily="34" charset="-122"/>
                <a:ea typeface="微软雅黑" panose="020B0503020204020204" pitchFamily="34" charset="-122"/>
              </a:rPr>
              <a:t>和</a:t>
            </a:r>
            <a:r>
              <a:rPr lang="zh-CN" altLang="en-US" sz="2000">
                <a:latin typeface="微软雅黑" panose="020B0503020204020204" pitchFamily="34" charset="-122"/>
                <a:ea typeface="微软雅黑" panose="020B0503020204020204" pitchFamily="34" charset="-122"/>
              </a:rPr>
              <a:t>硬件识别（向量中断）</a:t>
            </a:r>
            <a:r>
              <a:rPr lang="zh-CN" altLang="en-US" sz="2000">
                <a:solidFill>
                  <a:srgbClr val="A50021"/>
                </a:solidFill>
                <a:latin typeface="微软雅黑" panose="020B0503020204020204" pitchFamily="34" charset="-122"/>
                <a:ea typeface="微软雅黑" panose="020B0503020204020204" pitchFamily="34" charset="-122"/>
              </a:rPr>
              <a:t>两种不同的方式。</a:t>
            </a:r>
          </a:p>
        </p:txBody>
      </p:sp>
      <p:sp>
        <p:nvSpPr>
          <p:cNvPr id="775173" name="Text Box 5">
            <a:extLst>
              <a:ext uri="{FF2B5EF4-FFF2-40B4-BE49-F238E27FC236}">
                <a16:creationId xmlns:a16="http://schemas.microsoft.com/office/drawing/2014/main" id="{801C9186-7CA1-60A0-91F2-CC8F1707E008}"/>
              </a:ext>
            </a:extLst>
          </p:cNvPr>
          <p:cNvSpPr txBox="1">
            <a:spLocks noChangeArrowheads="1"/>
          </p:cNvSpPr>
          <p:nvPr/>
        </p:nvSpPr>
        <p:spPr bwMode="auto">
          <a:xfrm>
            <a:off x="784225" y="5849938"/>
            <a:ext cx="696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a:solidFill>
                  <a:srgbClr val="FF0000"/>
                </a:solidFill>
                <a:latin typeface="微软雅黑" panose="020B0503020204020204" pitchFamily="34" charset="-122"/>
                <a:ea typeface="微软雅黑" panose="020B0503020204020204" pitchFamily="34" charset="-122"/>
              </a:rPr>
              <a:t>IA-32</a:t>
            </a:r>
            <a:r>
              <a:rPr lang="zh-CN" altLang="en-US" sz="2000">
                <a:solidFill>
                  <a:srgbClr val="FF0000"/>
                </a:solidFill>
                <a:latin typeface="微软雅黑" panose="020B0503020204020204" pitchFamily="34" charset="-122"/>
                <a:ea typeface="微软雅黑" panose="020B0503020204020204" pitchFamily="34" charset="-122"/>
              </a:rPr>
              <a:t>中，响应</a:t>
            </a:r>
            <a:r>
              <a:rPr lang="zh-CN" altLang="en-US" sz="2000">
                <a:solidFill>
                  <a:srgbClr val="0066FF"/>
                </a:solidFill>
                <a:latin typeface="微软雅黑" panose="020B0503020204020204" pitchFamily="34" charset="-122"/>
                <a:ea typeface="微软雅黑" panose="020B0503020204020204" pitchFamily="34" charset="-122"/>
              </a:rPr>
              <a:t>异常</a:t>
            </a:r>
            <a:r>
              <a:rPr lang="zh-CN" altLang="en-US" sz="2000">
                <a:solidFill>
                  <a:srgbClr val="FF0000"/>
                </a:solidFill>
                <a:latin typeface="微软雅黑" panose="020B0503020204020204" pitchFamily="34" charset="-122"/>
                <a:ea typeface="微软雅黑" panose="020B0503020204020204" pitchFamily="34" charset="-122"/>
              </a:rPr>
              <a:t>时不关中断，只在响应</a:t>
            </a:r>
            <a:r>
              <a:rPr lang="zh-CN" altLang="en-US" sz="2000">
                <a:solidFill>
                  <a:srgbClr val="0066FF"/>
                </a:solidFill>
                <a:latin typeface="微软雅黑" panose="020B0503020204020204" pitchFamily="34" charset="-122"/>
                <a:ea typeface="微软雅黑" panose="020B0503020204020204" pitchFamily="34" charset="-122"/>
              </a:rPr>
              <a:t>中断</a:t>
            </a:r>
            <a:r>
              <a:rPr lang="zh-CN" altLang="en-US" sz="2000">
                <a:solidFill>
                  <a:srgbClr val="FF0000"/>
                </a:solidFill>
                <a:latin typeface="微软雅黑" panose="020B0503020204020204" pitchFamily="34" charset="-122"/>
                <a:ea typeface="微软雅黑" panose="020B0503020204020204" pitchFamily="34" charset="-122"/>
              </a:rPr>
              <a:t>时关中断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5171">
                                            <p:txEl>
                                              <p:pRg st="1" end="1"/>
                                            </p:txEl>
                                          </p:spTgt>
                                        </p:tgtEl>
                                        <p:attrNameLst>
                                          <p:attrName>style.visibility</p:attrName>
                                        </p:attrNameLst>
                                      </p:cBhvr>
                                      <p:to>
                                        <p:strVal val="visible"/>
                                      </p:to>
                                    </p:set>
                                    <p:animEffect transition="in" filter="blinds(horizontal)">
                                      <p:cBhvr>
                                        <p:cTn id="7" dur="500"/>
                                        <p:tgtEl>
                                          <p:spTgt spid="7751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5171">
                                            <p:txEl>
                                              <p:pRg st="2" end="2"/>
                                            </p:txEl>
                                          </p:spTgt>
                                        </p:tgtEl>
                                        <p:attrNameLst>
                                          <p:attrName>style.visibility</p:attrName>
                                        </p:attrNameLst>
                                      </p:cBhvr>
                                      <p:to>
                                        <p:strVal val="visible"/>
                                      </p:to>
                                    </p:set>
                                    <p:animEffect transition="in" filter="blinds(horizontal)">
                                      <p:cBhvr>
                                        <p:cTn id="12" dur="500"/>
                                        <p:tgtEl>
                                          <p:spTgt spid="7751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75171">
                                            <p:txEl>
                                              <p:pRg st="3" end="3"/>
                                            </p:txEl>
                                          </p:spTgt>
                                        </p:tgtEl>
                                        <p:attrNameLst>
                                          <p:attrName>style.visibility</p:attrName>
                                        </p:attrNameLst>
                                      </p:cBhvr>
                                      <p:to>
                                        <p:strVal val="visible"/>
                                      </p:to>
                                    </p:set>
                                    <p:animEffect transition="in" filter="blinds(horizontal)">
                                      <p:cBhvr>
                                        <p:cTn id="17" dur="500"/>
                                        <p:tgtEl>
                                          <p:spTgt spid="7751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75171">
                                            <p:txEl>
                                              <p:pRg st="4" end="4"/>
                                            </p:txEl>
                                          </p:spTgt>
                                        </p:tgtEl>
                                        <p:attrNameLst>
                                          <p:attrName>style.visibility</p:attrName>
                                        </p:attrNameLst>
                                      </p:cBhvr>
                                      <p:to>
                                        <p:strVal val="visible"/>
                                      </p:to>
                                    </p:set>
                                    <p:animEffect transition="in" filter="blinds(horizontal)">
                                      <p:cBhvr>
                                        <p:cTn id="22" dur="500"/>
                                        <p:tgtEl>
                                          <p:spTgt spid="775171">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775171">
                                            <p:txEl>
                                              <p:pRg st="5" end="5"/>
                                            </p:txEl>
                                          </p:spTgt>
                                        </p:tgtEl>
                                        <p:attrNameLst>
                                          <p:attrName>style.visibility</p:attrName>
                                        </p:attrNameLst>
                                      </p:cBhvr>
                                      <p:to>
                                        <p:strVal val="visible"/>
                                      </p:to>
                                    </p:set>
                                    <p:animEffect transition="in" filter="blinds(horizontal)">
                                      <p:cBhvr>
                                        <p:cTn id="25" dur="500"/>
                                        <p:tgtEl>
                                          <p:spTgt spid="775171">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775171">
                                            <p:txEl>
                                              <p:pRg st="6" end="6"/>
                                            </p:txEl>
                                          </p:spTgt>
                                        </p:tgtEl>
                                        <p:attrNameLst>
                                          <p:attrName>style.visibility</p:attrName>
                                        </p:attrNameLst>
                                      </p:cBhvr>
                                      <p:to>
                                        <p:strVal val="visible"/>
                                      </p:to>
                                    </p:set>
                                    <p:animEffect transition="in" filter="blinds(horizontal)">
                                      <p:cBhvr>
                                        <p:cTn id="28" dur="500"/>
                                        <p:tgtEl>
                                          <p:spTgt spid="775171">
                                            <p:txEl>
                                              <p:pRg st="6" end="6"/>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75171">
                                            <p:txEl>
                                              <p:pRg st="7" end="7"/>
                                            </p:txEl>
                                          </p:spTgt>
                                        </p:tgtEl>
                                        <p:attrNameLst>
                                          <p:attrName>style.visibility</p:attrName>
                                        </p:attrNameLst>
                                      </p:cBhvr>
                                      <p:to>
                                        <p:strVal val="visible"/>
                                      </p:to>
                                    </p:set>
                                    <p:animEffect transition="in" filter="blinds(horizontal)">
                                      <p:cBhvr>
                                        <p:cTn id="33" dur="500"/>
                                        <p:tgtEl>
                                          <p:spTgt spid="775171">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775171">
                                            <p:txEl>
                                              <p:pRg st="8" end="8"/>
                                            </p:txEl>
                                          </p:spTgt>
                                        </p:tgtEl>
                                        <p:attrNameLst>
                                          <p:attrName>style.visibility</p:attrName>
                                        </p:attrNameLst>
                                      </p:cBhvr>
                                      <p:to>
                                        <p:strVal val="visible"/>
                                      </p:to>
                                    </p:set>
                                    <p:animEffect transition="in" filter="blinds(horizontal)">
                                      <p:cBhvr>
                                        <p:cTn id="38" dur="500"/>
                                        <p:tgtEl>
                                          <p:spTgt spid="775171">
                                            <p:txEl>
                                              <p:pRg st="8" end="8"/>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75173"/>
                                        </p:tgtEl>
                                        <p:attrNameLst>
                                          <p:attrName>style.visibility</p:attrName>
                                        </p:attrNameLst>
                                      </p:cBhvr>
                                      <p:to>
                                        <p:strVal val="visible"/>
                                      </p:to>
                                    </p:set>
                                    <p:animEffect transition="in" filter="blinds(horizontal)">
                                      <p:cBhvr>
                                        <p:cTn id="43" dur="500"/>
                                        <p:tgtEl>
                                          <p:spTgt spid="775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94F9B6B-4F83-2063-8931-F6A631A05F42}"/>
              </a:ext>
            </a:extLst>
          </p:cNvPr>
          <p:cNvSpPr>
            <a:spLocks noGrp="1" noChangeArrowheads="1"/>
          </p:cNvSpPr>
          <p:nvPr>
            <p:ph type="title"/>
          </p:nvPr>
        </p:nvSpPr>
        <p:spPr/>
        <p:txBody>
          <a:bodyPr/>
          <a:lstStyle/>
          <a:p>
            <a:r>
              <a:rPr lang="zh-CN" altLang="en-US">
                <a:ea typeface="宋体" panose="02010600030101010101" pitchFamily="2" charset="-122"/>
              </a:rPr>
              <a:t>异常</a:t>
            </a:r>
            <a:r>
              <a:rPr lang="en-US" altLang="zh-CN">
                <a:ea typeface="宋体" panose="02010600030101010101" pitchFamily="2" charset="-122"/>
              </a:rPr>
              <a:t>/</a:t>
            </a:r>
            <a:r>
              <a:rPr lang="zh-CN" altLang="en-US">
                <a:ea typeface="宋体" panose="02010600030101010101" pitchFamily="2" charset="-122"/>
              </a:rPr>
              <a:t>中断响应过程</a:t>
            </a:r>
          </a:p>
        </p:txBody>
      </p:sp>
      <p:sp>
        <p:nvSpPr>
          <p:cNvPr id="776195" name="Rectangle 3">
            <a:extLst>
              <a:ext uri="{FF2B5EF4-FFF2-40B4-BE49-F238E27FC236}">
                <a16:creationId xmlns:a16="http://schemas.microsoft.com/office/drawing/2014/main" id="{25B06F39-C5DD-15D1-0371-5C562E1BF0CD}"/>
              </a:ext>
            </a:extLst>
          </p:cNvPr>
          <p:cNvSpPr>
            <a:spLocks noChangeArrowheads="1"/>
          </p:cNvSpPr>
          <p:nvPr/>
        </p:nvSpPr>
        <p:spPr bwMode="auto">
          <a:xfrm>
            <a:off x="373063" y="725488"/>
            <a:ext cx="8491537" cy="564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20000"/>
              </a:lnSpc>
              <a:spcBef>
                <a:spcPct val="25000"/>
              </a:spcBef>
              <a:buSzPct val="75000"/>
              <a:buFont typeface="Wingdings" panose="05000000000000000000" pitchFamily="2" charset="2"/>
              <a:buNone/>
            </a:pPr>
            <a:r>
              <a:rPr lang="zh-CN" altLang="en-US" sz="2000">
                <a:solidFill>
                  <a:srgbClr val="A50021"/>
                </a:solidFill>
                <a:latin typeface="微软雅黑" panose="020B0503020204020204" pitchFamily="34" charset="-122"/>
                <a:ea typeface="微软雅黑" panose="020B0503020204020204" pitchFamily="34" charset="-122"/>
              </a:rPr>
              <a:t>有两种不同的识别方式：软件识别和硬件识别（向量中断）。</a:t>
            </a:r>
          </a:p>
          <a:p>
            <a:pPr eaLnBrk="0" hangingPunct="0">
              <a:lnSpc>
                <a:spcPct val="120000"/>
              </a:lnSpc>
              <a:spcBef>
                <a:spcPct val="25000"/>
              </a:spcBef>
            </a:pPr>
            <a:r>
              <a:rPr lang="zh-CN" altLang="en-US" sz="2000">
                <a:solidFill>
                  <a:srgbClr val="FF0000"/>
                </a:solidFill>
                <a:latin typeface="微软雅黑" panose="020B0503020204020204" pitchFamily="34" charset="-122"/>
                <a:ea typeface="微软雅黑" panose="020B0503020204020204" pitchFamily="34" charset="-122"/>
              </a:rPr>
              <a:t>     （</a:t>
            </a:r>
            <a:r>
              <a:rPr lang="en-US" altLang="zh-CN" sz="2000">
                <a:solidFill>
                  <a:srgbClr val="FF0000"/>
                </a:solidFill>
                <a:latin typeface="微软雅黑" panose="020B0503020204020204" pitchFamily="34" charset="-122"/>
                <a:ea typeface="微软雅黑" panose="020B0503020204020204" pitchFamily="34" charset="-122"/>
              </a:rPr>
              <a:t>1</a:t>
            </a:r>
            <a:r>
              <a:rPr lang="zh-CN" altLang="en-US" sz="2000">
                <a:solidFill>
                  <a:srgbClr val="FF0000"/>
                </a:solidFill>
                <a:latin typeface="微软雅黑" panose="020B0503020204020204" pitchFamily="34" charset="-122"/>
                <a:ea typeface="微软雅黑" panose="020B0503020204020204" pitchFamily="34" charset="-122"/>
              </a:rPr>
              <a:t>）软件识别（</a:t>
            </a:r>
            <a:r>
              <a:rPr lang="en-US" altLang="zh-CN" sz="2000">
                <a:solidFill>
                  <a:srgbClr val="FF0000"/>
                </a:solidFill>
                <a:latin typeface="微软雅黑" panose="020B0503020204020204" pitchFamily="34" charset="-122"/>
                <a:ea typeface="微软雅黑" panose="020B0503020204020204" pitchFamily="34" charset="-122"/>
              </a:rPr>
              <a:t>RISC-V</a:t>
            </a:r>
            <a:r>
              <a:rPr lang="zh-CN" altLang="en-US" sz="2000">
                <a:solidFill>
                  <a:srgbClr val="FF0000"/>
                </a:solidFill>
                <a:latin typeface="微软雅黑" panose="020B0503020204020204" pitchFamily="34" charset="-122"/>
                <a:ea typeface="微软雅黑" panose="020B0503020204020204" pitchFamily="34" charset="-122"/>
              </a:rPr>
              <a:t>、</a:t>
            </a:r>
            <a:r>
              <a:rPr lang="en-US" altLang="zh-CN" sz="2000">
                <a:solidFill>
                  <a:srgbClr val="FF0000"/>
                </a:solidFill>
                <a:latin typeface="微软雅黑" panose="020B0503020204020204" pitchFamily="34" charset="-122"/>
                <a:ea typeface="微软雅黑" panose="020B0503020204020204" pitchFamily="34" charset="-122"/>
              </a:rPr>
              <a:t>MIPS</a:t>
            </a:r>
            <a:r>
              <a:rPr lang="zh-CN" altLang="en-US" sz="2000">
                <a:solidFill>
                  <a:srgbClr val="FF0000"/>
                </a:solidFill>
                <a:latin typeface="微软雅黑" panose="020B0503020204020204" pitchFamily="34" charset="-122"/>
                <a:ea typeface="微软雅黑" panose="020B0503020204020204" pitchFamily="34" charset="-122"/>
              </a:rPr>
              <a:t>采用）</a:t>
            </a:r>
            <a:r>
              <a:rPr lang="zh-CN" altLang="en-US" sz="2000">
                <a:solidFill>
                  <a:srgbClr val="008000"/>
                </a:solidFill>
                <a:latin typeface="微软雅黑" panose="020B0503020204020204" pitchFamily="34" charset="-122"/>
                <a:ea typeface="微软雅黑" panose="020B0503020204020204" pitchFamily="34" charset="-122"/>
              </a:rPr>
              <a:t> </a:t>
            </a:r>
          </a:p>
          <a:p>
            <a:pPr eaLnBrk="0" hangingPunct="0">
              <a:lnSpc>
                <a:spcPct val="120000"/>
              </a:lnSpc>
              <a:spcBef>
                <a:spcPct val="25000"/>
              </a:spcBef>
            </a:pPr>
            <a:r>
              <a:rPr lang="zh-CN" altLang="en-US" sz="2000">
                <a:latin typeface="微软雅黑" panose="020B0503020204020204" pitchFamily="34" charset="-122"/>
                <a:ea typeface="微软雅黑" panose="020B0503020204020204" pitchFamily="34" charset="-122"/>
              </a:rPr>
              <a:t>       设置一个原因寄存器（</a:t>
            </a:r>
            <a:r>
              <a:rPr lang="en-US" altLang="zh-CN" sz="2000">
                <a:latin typeface="微软雅黑" panose="020B0503020204020204" pitchFamily="34" charset="-122"/>
                <a:ea typeface="微软雅黑" panose="020B0503020204020204" pitchFamily="34" charset="-122"/>
              </a:rPr>
              <a:t>Cause</a:t>
            </a:r>
            <a:r>
              <a:rPr lang="zh-CN" altLang="en-US" sz="2000">
                <a:latin typeface="微软雅黑" panose="020B0503020204020204" pitchFamily="34" charset="-122"/>
                <a:ea typeface="微软雅黑" panose="020B0503020204020204" pitchFamily="34" charset="-122"/>
              </a:rPr>
              <a:t>寄存器），用于记录异常原因。操作系统使用一个</a:t>
            </a:r>
            <a:r>
              <a:rPr lang="zh-CN" altLang="en-US" sz="2000">
                <a:solidFill>
                  <a:srgbClr val="008000"/>
                </a:solidFill>
                <a:latin typeface="微软雅黑" panose="020B0503020204020204" pitchFamily="34" charset="-122"/>
                <a:ea typeface="微软雅黑" panose="020B0503020204020204" pitchFamily="34" charset="-122"/>
              </a:rPr>
              <a:t>统一的异常处理程序</a:t>
            </a:r>
            <a:r>
              <a:rPr lang="zh-CN" altLang="en-US" sz="2000">
                <a:latin typeface="微软雅黑" panose="020B0503020204020204" pitchFamily="34" charset="-122"/>
                <a:ea typeface="微软雅黑" panose="020B0503020204020204" pitchFamily="34" charset="-122"/>
              </a:rPr>
              <a:t>，该程序按优先级顺序查询异常状态寄存器，识别出异常事件。</a:t>
            </a:r>
          </a:p>
          <a:p>
            <a:pPr eaLnBrk="0" hangingPunct="0">
              <a:lnSpc>
                <a:spcPct val="120000"/>
              </a:lnSpc>
              <a:spcBef>
                <a:spcPct val="25000"/>
              </a:spcBef>
            </a:pPr>
            <a:r>
              <a:rPr lang="zh-CN" altLang="en-US" sz="2000">
                <a:solidFill>
                  <a:srgbClr val="1E7C34"/>
                </a:solidFill>
                <a:latin typeface="微软雅黑" panose="020B0503020204020204" pitchFamily="34" charset="-122"/>
                <a:ea typeface="微软雅黑" panose="020B0503020204020204" pitchFamily="34" charset="-122"/>
              </a:rPr>
              <a:t>        </a:t>
            </a:r>
            <a:r>
              <a:rPr lang="zh-CN" altLang="en-US" sz="2000">
                <a:solidFill>
                  <a:srgbClr val="006600"/>
                </a:solidFill>
                <a:latin typeface="微软雅黑" panose="020B0503020204020204" pitchFamily="34" charset="-122"/>
                <a:ea typeface="微软雅黑" panose="020B0503020204020204" pitchFamily="34" charset="-122"/>
              </a:rPr>
              <a:t>（例如：</a:t>
            </a:r>
            <a:r>
              <a:rPr lang="en-US" altLang="zh-CN" sz="2000">
                <a:solidFill>
                  <a:srgbClr val="006600"/>
                </a:solidFill>
                <a:latin typeface="微软雅黑" panose="020B0503020204020204" pitchFamily="34" charset="-122"/>
                <a:ea typeface="微软雅黑" panose="020B0503020204020204" pitchFamily="34" charset="-122"/>
              </a:rPr>
              <a:t>MIPS</a:t>
            </a:r>
            <a:r>
              <a:rPr lang="zh-CN" altLang="en-US" sz="2000">
                <a:solidFill>
                  <a:srgbClr val="006600"/>
                </a:solidFill>
                <a:latin typeface="微软雅黑" panose="020B0503020204020204" pitchFamily="34" charset="-122"/>
                <a:ea typeface="微软雅黑" panose="020B0503020204020204" pitchFamily="34" charset="-122"/>
              </a:rPr>
              <a:t>中位于内核地址</a:t>
            </a:r>
            <a:r>
              <a:rPr lang="en-US" altLang="zh-CN" sz="2000">
                <a:solidFill>
                  <a:srgbClr val="006600"/>
                </a:solidFill>
                <a:latin typeface="微软雅黑" panose="020B0503020204020204" pitchFamily="34" charset="-122"/>
                <a:ea typeface="微软雅黑" panose="020B0503020204020204" pitchFamily="34" charset="-122"/>
              </a:rPr>
              <a:t>0x8000 0180</a:t>
            </a:r>
            <a:r>
              <a:rPr lang="zh-CN" altLang="en-US" sz="2000">
                <a:solidFill>
                  <a:srgbClr val="006600"/>
                </a:solidFill>
                <a:latin typeface="微软雅黑" panose="020B0503020204020204" pitchFamily="34" charset="-122"/>
                <a:ea typeface="微软雅黑" panose="020B0503020204020204" pitchFamily="34" charset="-122"/>
              </a:rPr>
              <a:t>处有一个专门的异常处理程序，用于检测异常的具体原因，然后转到内核中相应的异常处理程序段中进行具体的处理）</a:t>
            </a:r>
          </a:p>
          <a:p>
            <a:pPr eaLnBrk="0" hangingPunct="0">
              <a:lnSpc>
                <a:spcPct val="120000"/>
              </a:lnSpc>
              <a:spcBef>
                <a:spcPct val="25000"/>
              </a:spcBef>
            </a:pPr>
            <a:r>
              <a:rPr lang="en-US" altLang="zh-CN" sz="2000">
                <a:solidFill>
                  <a:srgbClr val="FF0000"/>
                </a:solidFill>
                <a:latin typeface="微软雅黑" panose="020B0503020204020204" pitchFamily="34" charset="-122"/>
                <a:ea typeface="微软雅黑" panose="020B0503020204020204" pitchFamily="34" charset="-122"/>
              </a:rPr>
              <a:t>     </a:t>
            </a:r>
            <a:r>
              <a:rPr lang="zh-CN" altLang="en-US" sz="2000">
                <a:solidFill>
                  <a:srgbClr val="FF0000"/>
                </a:solidFill>
                <a:latin typeface="微软雅黑" panose="020B0503020204020204" pitchFamily="34" charset="-122"/>
                <a:ea typeface="微软雅黑" panose="020B0503020204020204" pitchFamily="34" charset="-122"/>
              </a:rPr>
              <a:t>（</a:t>
            </a:r>
            <a:r>
              <a:rPr lang="en-US" altLang="zh-CN" sz="2000">
                <a:solidFill>
                  <a:srgbClr val="FF0000"/>
                </a:solidFill>
                <a:latin typeface="微软雅黑" panose="020B0503020204020204" pitchFamily="34" charset="-122"/>
                <a:ea typeface="微软雅黑" panose="020B0503020204020204" pitchFamily="34" charset="-122"/>
              </a:rPr>
              <a:t>2</a:t>
            </a:r>
            <a:r>
              <a:rPr lang="zh-CN" altLang="en-US" sz="2000">
                <a:solidFill>
                  <a:srgbClr val="FF0000"/>
                </a:solidFill>
                <a:latin typeface="微软雅黑" panose="020B0503020204020204" pitchFamily="34" charset="-122"/>
                <a:ea typeface="微软雅黑" panose="020B0503020204020204" pitchFamily="34" charset="-122"/>
              </a:rPr>
              <a:t>）硬件识别（向量中断）（</a:t>
            </a:r>
            <a:r>
              <a:rPr lang="en-US" altLang="zh-CN" sz="2000">
                <a:solidFill>
                  <a:srgbClr val="FF0000"/>
                </a:solidFill>
                <a:latin typeface="微软雅黑" panose="020B0503020204020204" pitchFamily="34" charset="-122"/>
                <a:ea typeface="微软雅黑" panose="020B0503020204020204" pitchFamily="34" charset="-122"/>
              </a:rPr>
              <a:t>IA-32</a:t>
            </a:r>
            <a:r>
              <a:rPr lang="zh-CN" altLang="en-US" sz="2000">
                <a:solidFill>
                  <a:srgbClr val="FF0000"/>
                </a:solidFill>
                <a:latin typeface="微软雅黑" panose="020B0503020204020204" pitchFamily="34" charset="-122"/>
                <a:ea typeface="微软雅黑" panose="020B0503020204020204" pitchFamily="34" charset="-122"/>
              </a:rPr>
              <a:t>采用）</a:t>
            </a:r>
          </a:p>
          <a:p>
            <a:pPr eaLnBrk="0" hangingPunct="0">
              <a:lnSpc>
                <a:spcPct val="120000"/>
              </a:lnSpc>
              <a:spcBef>
                <a:spcPct val="25000"/>
              </a:spcBef>
            </a:pPr>
            <a:r>
              <a:rPr lang="zh-CN" altLang="en-US" sz="2000">
                <a:latin typeface="微软雅黑" panose="020B0503020204020204" pitchFamily="34" charset="-122"/>
                <a:ea typeface="微软雅黑" panose="020B0503020204020204" pitchFamily="34" charset="-122"/>
              </a:rPr>
              <a:t>       用专门的硬件查询电路按优先级顺序识别中断，得到“中断类型号”，根据此号，到中断向量表中读取对应的</a:t>
            </a:r>
            <a:r>
              <a:rPr lang="zh-CN" altLang="en-US" sz="2000">
                <a:solidFill>
                  <a:srgbClr val="008000"/>
                </a:solidFill>
                <a:latin typeface="微软雅黑" panose="020B0503020204020204" pitchFamily="34" charset="-122"/>
                <a:ea typeface="微软雅黑" panose="020B0503020204020204" pitchFamily="34" charset="-122"/>
              </a:rPr>
              <a:t>中断服务程序</a:t>
            </a:r>
            <a:r>
              <a:rPr lang="zh-CN" altLang="en-US" sz="2000">
                <a:latin typeface="微软雅黑" panose="020B0503020204020204" pitchFamily="34" charset="-122"/>
                <a:ea typeface="微软雅黑" panose="020B0503020204020204" pitchFamily="34" charset="-122"/>
              </a:rPr>
              <a:t>的入口地址。</a:t>
            </a:r>
            <a:r>
              <a:rPr lang="zh-CN" altLang="en-US" sz="2000">
                <a:solidFill>
                  <a:schemeClr val="tx1"/>
                </a:solidFill>
                <a:latin typeface="微软雅黑" panose="020B0503020204020204" pitchFamily="34" charset="-122"/>
                <a:ea typeface="微软雅黑" panose="020B0503020204020204" pitchFamily="34" charset="-122"/>
              </a:rPr>
              <a:t>     </a:t>
            </a:r>
          </a:p>
        </p:txBody>
      </p:sp>
      <p:sp>
        <p:nvSpPr>
          <p:cNvPr id="776196" name="Text Box 4">
            <a:extLst>
              <a:ext uri="{FF2B5EF4-FFF2-40B4-BE49-F238E27FC236}">
                <a16:creationId xmlns:a16="http://schemas.microsoft.com/office/drawing/2014/main" id="{815BD719-B90F-7CA0-3DD2-7797CF77B2A4}"/>
              </a:ext>
            </a:extLst>
          </p:cNvPr>
          <p:cNvSpPr txBox="1">
            <a:spLocks noChangeArrowheads="1"/>
          </p:cNvSpPr>
          <p:nvPr/>
        </p:nvSpPr>
        <p:spPr bwMode="auto">
          <a:xfrm>
            <a:off x="639763" y="5341938"/>
            <a:ext cx="77914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lnSpc>
                <a:spcPct val="130000"/>
              </a:lnSpc>
              <a:spcBef>
                <a:spcPct val="35000"/>
              </a:spcBef>
            </a:pPr>
            <a:r>
              <a:rPr lang="zh-CN" altLang="en-US" sz="2000">
                <a:solidFill>
                  <a:schemeClr val="tx1"/>
                </a:solidFill>
                <a:ea typeface="微软雅黑" panose="020B0503020204020204" pitchFamily="34" charset="-122"/>
              </a:rPr>
              <a:t>所有事件都被分配一个</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中断类型号</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，每个中断都有相应的</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中断服务程序</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ea typeface="微软雅黑" panose="020B0503020204020204" pitchFamily="34" charset="-122"/>
              </a:rPr>
              <a:t>，可根据中断类型号找到中断服务程序的入口地址。</a:t>
            </a:r>
          </a:p>
        </p:txBody>
      </p:sp>
      <p:sp>
        <p:nvSpPr>
          <p:cNvPr id="776197" name="Text Box 5">
            <a:extLst>
              <a:ext uri="{FF2B5EF4-FFF2-40B4-BE49-F238E27FC236}">
                <a16:creationId xmlns:a16="http://schemas.microsoft.com/office/drawing/2014/main" id="{C4B94140-E00F-6828-1A7A-CE714391D766}"/>
              </a:ext>
            </a:extLst>
          </p:cNvPr>
          <p:cNvSpPr txBox="1">
            <a:spLocks noChangeArrowheads="1"/>
          </p:cNvSpPr>
          <p:nvPr/>
        </p:nvSpPr>
        <p:spPr bwMode="auto">
          <a:xfrm>
            <a:off x="392113" y="6302375"/>
            <a:ext cx="8215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solidFill>
                  <a:srgbClr val="FF0000"/>
                </a:solidFill>
                <a:ea typeface="微软雅黑" panose="020B0503020204020204" pitchFamily="34" charset="-122"/>
              </a:rPr>
              <a:t>中断类型号相当于中断向量表的索引，表中存放中断服务程序首地址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6195">
                                            <p:txEl>
                                              <p:pRg st="1" end="1"/>
                                            </p:txEl>
                                          </p:spTgt>
                                        </p:tgtEl>
                                        <p:attrNameLst>
                                          <p:attrName>style.visibility</p:attrName>
                                        </p:attrNameLst>
                                      </p:cBhvr>
                                      <p:to>
                                        <p:strVal val="visible"/>
                                      </p:to>
                                    </p:set>
                                    <p:animEffect transition="in" filter="blinds(horizontal)">
                                      <p:cBhvr>
                                        <p:cTn id="7" dur="500"/>
                                        <p:tgtEl>
                                          <p:spTgt spid="7761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76195">
                                            <p:txEl>
                                              <p:pRg st="2" end="2"/>
                                            </p:txEl>
                                          </p:spTgt>
                                        </p:tgtEl>
                                        <p:attrNameLst>
                                          <p:attrName>style.visibility</p:attrName>
                                        </p:attrNameLst>
                                      </p:cBhvr>
                                      <p:to>
                                        <p:strVal val="visible"/>
                                      </p:to>
                                    </p:set>
                                    <p:animEffect transition="in" filter="blinds(horizontal)">
                                      <p:cBhvr>
                                        <p:cTn id="12" dur="500"/>
                                        <p:tgtEl>
                                          <p:spTgt spid="7761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76195">
                                            <p:txEl>
                                              <p:pRg st="3" end="3"/>
                                            </p:txEl>
                                          </p:spTgt>
                                        </p:tgtEl>
                                        <p:attrNameLst>
                                          <p:attrName>style.visibility</p:attrName>
                                        </p:attrNameLst>
                                      </p:cBhvr>
                                      <p:to>
                                        <p:strVal val="visible"/>
                                      </p:to>
                                    </p:set>
                                    <p:animEffect transition="in" filter="blinds(horizontal)">
                                      <p:cBhvr>
                                        <p:cTn id="17" dur="500"/>
                                        <p:tgtEl>
                                          <p:spTgt spid="77619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76195">
                                            <p:txEl>
                                              <p:pRg st="4" end="4"/>
                                            </p:txEl>
                                          </p:spTgt>
                                        </p:tgtEl>
                                        <p:attrNameLst>
                                          <p:attrName>style.visibility</p:attrName>
                                        </p:attrNameLst>
                                      </p:cBhvr>
                                      <p:to>
                                        <p:strVal val="visible"/>
                                      </p:to>
                                    </p:set>
                                    <p:animEffect transition="in" filter="blinds(horizontal)">
                                      <p:cBhvr>
                                        <p:cTn id="22" dur="500"/>
                                        <p:tgtEl>
                                          <p:spTgt spid="77619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76195">
                                            <p:txEl>
                                              <p:pRg st="5" end="5"/>
                                            </p:txEl>
                                          </p:spTgt>
                                        </p:tgtEl>
                                        <p:attrNameLst>
                                          <p:attrName>style.visibility</p:attrName>
                                        </p:attrNameLst>
                                      </p:cBhvr>
                                      <p:to>
                                        <p:strVal val="visible"/>
                                      </p:to>
                                    </p:set>
                                    <p:animEffect transition="in" filter="blinds(horizontal)">
                                      <p:cBhvr>
                                        <p:cTn id="27" dur="500"/>
                                        <p:tgtEl>
                                          <p:spTgt spid="77619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76196"/>
                                        </p:tgtEl>
                                        <p:attrNameLst>
                                          <p:attrName>style.visibility</p:attrName>
                                        </p:attrNameLst>
                                      </p:cBhvr>
                                      <p:to>
                                        <p:strVal val="visible"/>
                                      </p:to>
                                    </p:set>
                                    <p:animEffect transition="in" filter="blinds(horizontal)">
                                      <p:cBhvr>
                                        <p:cTn id="32" dur="500"/>
                                        <p:tgtEl>
                                          <p:spTgt spid="7761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76197"/>
                                        </p:tgtEl>
                                        <p:attrNameLst>
                                          <p:attrName>style.visibility</p:attrName>
                                        </p:attrNameLst>
                                      </p:cBhvr>
                                      <p:to>
                                        <p:strVal val="visible"/>
                                      </p:to>
                                    </p:set>
                                    <p:animEffect transition="in" filter="blinds(horizontal)">
                                      <p:cBhvr>
                                        <p:cTn id="37" dur="500"/>
                                        <p:tgtEl>
                                          <p:spTgt spid="77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196" grpId="0"/>
      <p:bldP spid="77619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B51780D6-BFB2-FA31-6C2C-3927CDA0D8FB}"/>
              </a:ext>
            </a:extLst>
          </p:cNvPr>
          <p:cNvSpPr>
            <a:spLocks noGrp="1" noChangeArrowheads="1"/>
          </p:cNvSpPr>
          <p:nvPr>
            <p:ph type="title"/>
          </p:nvPr>
        </p:nvSpPr>
        <p:spPr>
          <a:xfrm>
            <a:off x="711200" y="114300"/>
            <a:ext cx="6804025" cy="368300"/>
          </a:xfrm>
        </p:spPr>
        <p:txBody>
          <a:bodyPr/>
          <a:lstStyle/>
          <a:p>
            <a:r>
              <a:rPr lang="zh-CN" altLang="en-US">
                <a:ea typeface="宋体" panose="02010600030101010101" pitchFamily="2" charset="-122"/>
              </a:rPr>
              <a:t>指令系统举例</a:t>
            </a:r>
            <a:r>
              <a:rPr lang="en-US" altLang="zh-CN">
                <a:ea typeface="宋体" panose="02010600030101010101" pitchFamily="2" charset="-122"/>
              </a:rPr>
              <a:t>: Address &amp; Registers</a:t>
            </a:r>
          </a:p>
        </p:txBody>
      </p:sp>
      <p:sp>
        <p:nvSpPr>
          <p:cNvPr id="56322" name="Rectangle 3">
            <a:extLst>
              <a:ext uri="{FF2B5EF4-FFF2-40B4-BE49-F238E27FC236}">
                <a16:creationId xmlns:a16="http://schemas.microsoft.com/office/drawing/2014/main" id="{7235B580-971B-8512-50A7-1BF180670F38}"/>
              </a:ext>
            </a:extLst>
          </p:cNvPr>
          <p:cNvSpPr>
            <a:spLocks noChangeArrowheads="1"/>
          </p:cNvSpPr>
          <p:nvPr/>
        </p:nvSpPr>
        <p:spPr bwMode="auto">
          <a:xfrm>
            <a:off x="1649413" y="769938"/>
            <a:ext cx="1304925"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5000"/>
              </a:lnSpc>
            </a:pPr>
            <a:r>
              <a:rPr lang="en-US" altLang="zh-CN" sz="1800">
                <a:solidFill>
                  <a:schemeClr val="tx1"/>
                </a:solidFill>
              </a:rPr>
              <a:t>Intel 8086</a:t>
            </a: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r>
              <a:rPr lang="en-US" altLang="zh-CN" sz="1800">
                <a:solidFill>
                  <a:schemeClr val="tx1"/>
                </a:solidFill>
              </a:rPr>
              <a:t>VAX 11</a:t>
            </a: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r>
              <a:rPr lang="en-US" altLang="zh-CN" sz="1800">
                <a:solidFill>
                  <a:schemeClr val="tx1"/>
                </a:solidFill>
              </a:rPr>
              <a:t>MC 68000</a:t>
            </a: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r>
              <a:rPr lang="en-US" altLang="zh-CN" sz="1800">
                <a:solidFill>
                  <a:schemeClr val="tx1"/>
                </a:solidFill>
              </a:rPr>
              <a:t>MIPS32</a:t>
            </a:r>
          </a:p>
        </p:txBody>
      </p:sp>
      <p:sp>
        <p:nvSpPr>
          <p:cNvPr id="56323" name="Rectangle 4">
            <a:extLst>
              <a:ext uri="{FF2B5EF4-FFF2-40B4-BE49-F238E27FC236}">
                <a16:creationId xmlns:a16="http://schemas.microsoft.com/office/drawing/2014/main" id="{62BD0190-25BA-8FC7-9DB1-AD70BA185C61}"/>
              </a:ext>
            </a:extLst>
          </p:cNvPr>
          <p:cNvSpPr>
            <a:spLocks noChangeArrowheads="1"/>
          </p:cNvSpPr>
          <p:nvPr/>
        </p:nvSpPr>
        <p:spPr bwMode="auto">
          <a:xfrm>
            <a:off x="3479800" y="723900"/>
            <a:ext cx="2563813" cy="548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5000"/>
              </a:lnSpc>
            </a:pPr>
            <a:r>
              <a:rPr lang="zh-CN" altLang="en-US" sz="2000">
                <a:solidFill>
                  <a:schemeClr val="tx1"/>
                </a:solidFill>
              </a:rPr>
              <a:t>2     </a:t>
            </a:r>
            <a:r>
              <a:rPr lang="en-US" altLang="zh-CN" sz="2000">
                <a:solidFill>
                  <a:schemeClr val="tx1"/>
                </a:solidFill>
              </a:rPr>
              <a:t>x 8 bit bytes</a:t>
            </a:r>
          </a:p>
          <a:p>
            <a:pPr eaLnBrk="0" hangingPunct="0">
              <a:lnSpc>
                <a:spcPct val="85000"/>
              </a:lnSpc>
            </a:pPr>
            <a:r>
              <a:rPr lang="en-US" altLang="zh-CN" sz="2000">
                <a:solidFill>
                  <a:schemeClr val="tx1"/>
                </a:solidFill>
              </a:rPr>
              <a:t>AX, BX, CX, DX</a:t>
            </a:r>
          </a:p>
          <a:p>
            <a:pPr eaLnBrk="0" hangingPunct="0">
              <a:lnSpc>
                <a:spcPct val="85000"/>
              </a:lnSpc>
            </a:pPr>
            <a:r>
              <a:rPr lang="en-US" altLang="zh-CN" sz="2000">
                <a:solidFill>
                  <a:schemeClr val="tx1"/>
                </a:solidFill>
              </a:rPr>
              <a:t>SP, BP, SI, DI</a:t>
            </a:r>
          </a:p>
          <a:p>
            <a:pPr eaLnBrk="0" hangingPunct="0">
              <a:lnSpc>
                <a:spcPct val="85000"/>
              </a:lnSpc>
            </a:pPr>
            <a:r>
              <a:rPr lang="en-US" altLang="zh-CN" sz="2000">
                <a:solidFill>
                  <a:schemeClr val="tx1"/>
                </a:solidFill>
              </a:rPr>
              <a:t>CS, SS, DS</a:t>
            </a:r>
          </a:p>
          <a:p>
            <a:pPr eaLnBrk="0" hangingPunct="0">
              <a:lnSpc>
                <a:spcPct val="85000"/>
              </a:lnSpc>
            </a:pPr>
            <a:r>
              <a:rPr lang="en-US" altLang="zh-CN" sz="2000">
                <a:solidFill>
                  <a:srgbClr val="EE3900"/>
                </a:solidFill>
              </a:rPr>
              <a:t>IP</a:t>
            </a:r>
            <a:r>
              <a:rPr lang="en-US" altLang="zh-CN" sz="2000">
                <a:solidFill>
                  <a:schemeClr val="tx1"/>
                </a:solidFill>
              </a:rPr>
              <a:t>, Flags</a:t>
            </a:r>
          </a:p>
          <a:p>
            <a:pPr eaLnBrk="0" hangingPunct="0">
              <a:lnSpc>
                <a:spcPct val="85000"/>
              </a:lnSpc>
            </a:pPr>
            <a:endParaRPr lang="en-US" altLang="zh-CN" sz="2000">
              <a:solidFill>
                <a:schemeClr val="tx1"/>
              </a:solidFill>
            </a:endParaRPr>
          </a:p>
          <a:p>
            <a:pPr eaLnBrk="0" hangingPunct="0">
              <a:lnSpc>
                <a:spcPct val="85000"/>
              </a:lnSpc>
            </a:pPr>
            <a:endParaRPr lang="en-US" altLang="zh-CN" sz="2000">
              <a:solidFill>
                <a:schemeClr val="tx1"/>
              </a:solidFill>
            </a:endParaRPr>
          </a:p>
          <a:p>
            <a:pPr eaLnBrk="0" hangingPunct="0">
              <a:lnSpc>
                <a:spcPct val="85000"/>
              </a:lnSpc>
            </a:pPr>
            <a:r>
              <a:rPr lang="en-US" altLang="zh-CN" sz="2000">
                <a:solidFill>
                  <a:schemeClr val="tx1"/>
                </a:solidFill>
              </a:rPr>
              <a:t>2    x 8 bit bytes</a:t>
            </a:r>
          </a:p>
          <a:p>
            <a:pPr eaLnBrk="0" hangingPunct="0">
              <a:lnSpc>
                <a:spcPct val="85000"/>
              </a:lnSpc>
            </a:pPr>
            <a:r>
              <a:rPr lang="en-US" altLang="zh-CN" sz="2000">
                <a:solidFill>
                  <a:schemeClr val="tx1"/>
                </a:solidFill>
              </a:rPr>
              <a:t>16 x 32 bit GPRs</a:t>
            </a:r>
          </a:p>
          <a:p>
            <a:pPr eaLnBrk="0" hangingPunct="0">
              <a:lnSpc>
                <a:spcPct val="85000"/>
              </a:lnSpc>
            </a:pPr>
            <a:endParaRPr lang="en-US" altLang="zh-CN" sz="2000">
              <a:solidFill>
                <a:schemeClr val="tx1"/>
              </a:solidFill>
            </a:endParaRPr>
          </a:p>
          <a:p>
            <a:pPr eaLnBrk="0" hangingPunct="0">
              <a:lnSpc>
                <a:spcPct val="85000"/>
              </a:lnSpc>
            </a:pPr>
            <a:endParaRPr lang="en-US" altLang="zh-CN" sz="2000">
              <a:solidFill>
                <a:schemeClr val="tx1"/>
              </a:solidFill>
            </a:endParaRPr>
          </a:p>
          <a:p>
            <a:pPr eaLnBrk="0" hangingPunct="0">
              <a:lnSpc>
                <a:spcPct val="85000"/>
              </a:lnSpc>
            </a:pPr>
            <a:r>
              <a:rPr lang="en-US" altLang="zh-CN" sz="2000">
                <a:solidFill>
                  <a:schemeClr val="tx1"/>
                </a:solidFill>
              </a:rPr>
              <a:t>2    x 8 bit bytes</a:t>
            </a:r>
          </a:p>
          <a:p>
            <a:pPr eaLnBrk="0" hangingPunct="0">
              <a:lnSpc>
                <a:spcPct val="85000"/>
              </a:lnSpc>
            </a:pPr>
            <a:r>
              <a:rPr lang="en-US" altLang="zh-CN" sz="2000">
                <a:solidFill>
                  <a:schemeClr val="tx1"/>
                </a:solidFill>
              </a:rPr>
              <a:t>8 x 32 bit GPRs</a:t>
            </a:r>
          </a:p>
          <a:p>
            <a:pPr eaLnBrk="0" hangingPunct="0">
              <a:lnSpc>
                <a:spcPct val="85000"/>
              </a:lnSpc>
            </a:pPr>
            <a:r>
              <a:rPr lang="en-US" altLang="zh-CN" sz="2000">
                <a:solidFill>
                  <a:schemeClr val="tx1"/>
                </a:solidFill>
              </a:rPr>
              <a:t>7 x 32 bit addr reg</a:t>
            </a:r>
          </a:p>
          <a:p>
            <a:pPr eaLnBrk="0" hangingPunct="0">
              <a:lnSpc>
                <a:spcPct val="85000"/>
              </a:lnSpc>
            </a:pPr>
            <a:r>
              <a:rPr lang="en-US" altLang="zh-CN" sz="2000">
                <a:solidFill>
                  <a:schemeClr val="tx1"/>
                </a:solidFill>
              </a:rPr>
              <a:t>1 x 32 bit SP</a:t>
            </a:r>
          </a:p>
          <a:p>
            <a:pPr eaLnBrk="0" hangingPunct="0">
              <a:lnSpc>
                <a:spcPct val="85000"/>
              </a:lnSpc>
            </a:pPr>
            <a:r>
              <a:rPr lang="en-US" altLang="zh-CN" sz="2000">
                <a:solidFill>
                  <a:schemeClr val="tx1"/>
                </a:solidFill>
              </a:rPr>
              <a:t>1 x 32 bit </a:t>
            </a:r>
            <a:r>
              <a:rPr lang="en-US" altLang="zh-CN" sz="2000">
                <a:solidFill>
                  <a:srgbClr val="EE3900"/>
                </a:solidFill>
              </a:rPr>
              <a:t>PC</a:t>
            </a:r>
          </a:p>
          <a:p>
            <a:pPr eaLnBrk="0" hangingPunct="0">
              <a:lnSpc>
                <a:spcPct val="85000"/>
              </a:lnSpc>
            </a:pPr>
            <a:endParaRPr lang="en-US" altLang="zh-CN" sz="2000">
              <a:solidFill>
                <a:schemeClr val="tx1"/>
              </a:solidFill>
            </a:endParaRPr>
          </a:p>
          <a:p>
            <a:pPr eaLnBrk="0" hangingPunct="0">
              <a:lnSpc>
                <a:spcPct val="85000"/>
              </a:lnSpc>
            </a:pPr>
            <a:r>
              <a:rPr lang="en-US" altLang="zh-CN" sz="2000">
                <a:solidFill>
                  <a:schemeClr val="tx1"/>
                </a:solidFill>
              </a:rPr>
              <a:t>2    x 8 bit bytes</a:t>
            </a:r>
          </a:p>
          <a:p>
            <a:pPr eaLnBrk="0" hangingPunct="0">
              <a:lnSpc>
                <a:spcPct val="85000"/>
              </a:lnSpc>
            </a:pPr>
            <a:r>
              <a:rPr lang="en-US" altLang="zh-CN" sz="2000">
                <a:solidFill>
                  <a:schemeClr val="tx1"/>
                </a:solidFill>
              </a:rPr>
              <a:t>32 x 32 bit GPRs</a:t>
            </a:r>
          </a:p>
          <a:p>
            <a:pPr eaLnBrk="0" hangingPunct="0">
              <a:lnSpc>
                <a:spcPct val="85000"/>
              </a:lnSpc>
            </a:pPr>
            <a:r>
              <a:rPr lang="en-US" altLang="zh-CN" sz="2000">
                <a:solidFill>
                  <a:schemeClr val="tx1"/>
                </a:solidFill>
              </a:rPr>
              <a:t>32 x 32 bit FPRs</a:t>
            </a:r>
          </a:p>
          <a:p>
            <a:pPr eaLnBrk="0" hangingPunct="0">
              <a:lnSpc>
                <a:spcPct val="85000"/>
              </a:lnSpc>
            </a:pPr>
            <a:r>
              <a:rPr lang="en-US" altLang="zh-CN" sz="2000">
                <a:solidFill>
                  <a:schemeClr val="tx1"/>
                </a:solidFill>
              </a:rPr>
              <a:t>HI, LO, </a:t>
            </a:r>
            <a:r>
              <a:rPr lang="en-US" altLang="zh-CN" sz="2000">
                <a:solidFill>
                  <a:srgbClr val="EE3900"/>
                </a:solidFill>
              </a:rPr>
              <a:t>PC</a:t>
            </a:r>
          </a:p>
        </p:txBody>
      </p:sp>
      <p:sp>
        <p:nvSpPr>
          <p:cNvPr id="56324" name="Rectangle 5">
            <a:extLst>
              <a:ext uri="{FF2B5EF4-FFF2-40B4-BE49-F238E27FC236}">
                <a16:creationId xmlns:a16="http://schemas.microsoft.com/office/drawing/2014/main" id="{71A75376-9AD4-2735-6481-C09FACCE88DA}"/>
              </a:ext>
            </a:extLst>
          </p:cNvPr>
          <p:cNvSpPr>
            <a:spLocks noChangeArrowheads="1"/>
          </p:cNvSpPr>
          <p:nvPr/>
        </p:nvSpPr>
        <p:spPr bwMode="auto">
          <a:xfrm>
            <a:off x="5819775" y="788988"/>
            <a:ext cx="3170238"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5000"/>
              </a:lnSpc>
            </a:pPr>
            <a:r>
              <a:rPr lang="en-US" altLang="zh-CN" sz="2000">
                <a:solidFill>
                  <a:schemeClr val="tx1"/>
                </a:solidFill>
              </a:rPr>
              <a:t>acc, index, count, quot</a:t>
            </a:r>
          </a:p>
          <a:p>
            <a:pPr eaLnBrk="0" hangingPunct="0">
              <a:lnSpc>
                <a:spcPct val="85000"/>
              </a:lnSpc>
            </a:pPr>
            <a:r>
              <a:rPr lang="en-US" altLang="zh-CN" sz="2000">
                <a:solidFill>
                  <a:schemeClr val="tx1"/>
                </a:solidFill>
              </a:rPr>
              <a:t>stack, stack frame, string</a:t>
            </a:r>
          </a:p>
          <a:p>
            <a:pPr eaLnBrk="0" hangingPunct="0">
              <a:lnSpc>
                <a:spcPct val="85000"/>
              </a:lnSpc>
            </a:pPr>
            <a:r>
              <a:rPr lang="en-US" altLang="zh-CN" sz="2000">
                <a:solidFill>
                  <a:schemeClr val="tx1"/>
                </a:solidFill>
              </a:rPr>
              <a:t>code,stack,data segment</a:t>
            </a:r>
          </a:p>
          <a:p>
            <a:pPr eaLnBrk="0" hangingPunct="0">
              <a:lnSpc>
                <a:spcPct val="85000"/>
              </a:lnSpc>
            </a:pPr>
            <a:endParaRPr lang="en-US" altLang="zh-CN" sz="2000">
              <a:solidFill>
                <a:schemeClr val="tx1"/>
              </a:solidFill>
            </a:endParaRPr>
          </a:p>
          <a:p>
            <a:pPr eaLnBrk="0" hangingPunct="0">
              <a:lnSpc>
                <a:spcPct val="85000"/>
              </a:lnSpc>
            </a:pPr>
            <a:endParaRPr lang="en-US" altLang="zh-CN" sz="2000">
              <a:solidFill>
                <a:schemeClr val="tx1"/>
              </a:solidFill>
            </a:endParaRPr>
          </a:p>
          <a:p>
            <a:pPr eaLnBrk="0" hangingPunct="0">
              <a:lnSpc>
                <a:spcPct val="85000"/>
              </a:lnSpc>
            </a:pPr>
            <a:endParaRPr lang="en-US" altLang="zh-CN" sz="2000">
              <a:solidFill>
                <a:schemeClr val="tx1"/>
              </a:solidFill>
            </a:endParaRPr>
          </a:p>
          <a:p>
            <a:pPr eaLnBrk="0" hangingPunct="0">
              <a:lnSpc>
                <a:spcPct val="85000"/>
              </a:lnSpc>
            </a:pPr>
            <a:r>
              <a:rPr lang="en-US" altLang="zh-CN" sz="2000">
                <a:solidFill>
                  <a:srgbClr val="EE3900"/>
                </a:solidFill>
              </a:rPr>
              <a:t>r15-- program counter</a:t>
            </a:r>
          </a:p>
          <a:p>
            <a:pPr eaLnBrk="0" hangingPunct="0">
              <a:lnSpc>
                <a:spcPct val="85000"/>
              </a:lnSpc>
            </a:pPr>
            <a:r>
              <a:rPr lang="en-US" altLang="zh-CN" sz="2000">
                <a:solidFill>
                  <a:schemeClr val="tx1"/>
                </a:solidFill>
              </a:rPr>
              <a:t>r14-- stack pointer</a:t>
            </a:r>
          </a:p>
          <a:p>
            <a:pPr eaLnBrk="0" hangingPunct="0">
              <a:lnSpc>
                <a:spcPct val="85000"/>
              </a:lnSpc>
            </a:pPr>
            <a:r>
              <a:rPr lang="en-US" altLang="zh-CN" sz="2000">
                <a:solidFill>
                  <a:schemeClr val="tx1"/>
                </a:solidFill>
              </a:rPr>
              <a:t>r13-- frame pointer</a:t>
            </a:r>
          </a:p>
          <a:p>
            <a:pPr eaLnBrk="0" hangingPunct="0">
              <a:lnSpc>
                <a:spcPct val="85000"/>
              </a:lnSpc>
            </a:pPr>
            <a:r>
              <a:rPr lang="en-US" altLang="zh-CN" sz="2000">
                <a:solidFill>
                  <a:schemeClr val="tx1"/>
                </a:solidFill>
              </a:rPr>
              <a:t>r12-- argument pointer</a:t>
            </a:r>
          </a:p>
          <a:p>
            <a:pPr eaLnBrk="0" hangingPunct="0">
              <a:lnSpc>
                <a:spcPct val="85000"/>
              </a:lnSpc>
            </a:pPr>
            <a:endParaRPr lang="en-US" altLang="zh-CN" sz="20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hangingPunct="0">
              <a:lnSpc>
                <a:spcPct val="85000"/>
              </a:lnSpc>
            </a:pPr>
            <a:endParaRPr lang="en-US" altLang="zh-CN" sz="1800">
              <a:solidFill>
                <a:schemeClr val="tx1"/>
              </a:solidFill>
            </a:endParaRPr>
          </a:p>
          <a:p>
            <a:pPr eaLnBrk="0" latinLnBrk="1" hangingPunct="0">
              <a:lnSpc>
                <a:spcPct val="85000"/>
              </a:lnSpc>
            </a:pPr>
            <a:endParaRPr lang="zh-CN" altLang="en-US" sz="1800">
              <a:solidFill>
                <a:schemeClr val="tx1"/>
              </a:solidFill>
            </a:endParaRPr>
          </a:p>
        </p:txBody>
      </p:sp>
      <p:sp>
        <p:nvSpPr>
          <p:cNvPr id="56325" name="Rectangle 6">
            <a:extLst>
              <a:ext uri="{FF2B5EF4-FFF2-40B4-BE49-F238E27FC236}">
                <a16:creationId xmlns:a16="http://schemas.microsoft.com/office/drawing/2014/main" id="{E2062B99-EA6E-31B9-E023-6F0D6BC7CD16}"/>
              </a:ext>
            </a:extLst>
          </p:cNvPr>
          <p:cNvSpPr>
            <a:spLocks noChangeArrowheads="1"/>
          </p:cNvSpPr>
          <p:nvPr/>
        </p:nvSpPr>
        <p:spPr bwMode="auto">
          <a:xfrm>
            <a:off x="3617913" y="2420938"/>
            <a:ext cx="381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5000"/>
              </a:lnSpc>
            </a:pPr>
            <a:r>
              <a:rPr lang="zh-CN" altLang="en-US" sz="1800">
                <a:solidFill>
                  <a:schemeClr val="tx1"/>
                </a:solidFill>
              </a:rPr>
              <a:t>32</a:t>
            </a:r>
          </a:p>
        </p:txBody>
      </p:sp>
      <p:sp>
        <p:nvSpPr>
          <p:cNvPr id="56326" name="Rectangle 7">
            <a:extLst>
              <a:ext uri="{FF2B5EF4-FFF2-40B4-BE49-F238E27FC236}">
                <a16:creationId xmlns:a16="http://schemas.microsoft.com/office/drawing/2014/main" id="{D8568070-57A0-D669-C978-1B0638DBF5F9}"/>
              </a:ext>
            </a:extLst>
          </p:cNvPr>
          <p:cNvSpPr>
            <a:spLocks noChangeArrowheads="1"/>
          </p:cNvSpPr>
          <p:nvPr/>
        </p:nvSpPr>
        <p:spPr bwMode="auto">
          <a:xfrm>
            <a:off x="3630613" y="5040313"/>
            <a:ext cx="381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5000"/>
              </a:lnSpc>
            </a:pPr>
            <a:r>
              <a:rPr lang="zh-CN" altLang="en-US" sz="1800">
                <a:solidFill>
                  <a:schemeClr val="tx1"/>
                </a:solidFill>
              </a:rPr>
              <a:t>32</a:t>
            </a:r>
          </a:p>
        </p:txBody>
      </p:sp>
      <p:sp>
        <p:nvSpPr>
          <p:cNvPr id="56327" name="Rectangle 8">
            <a:extLst>
              <a:ext uri="{FF2B5EF4-FFF2-40B4-BE49-F238E27FC236}">
                <a16:creationId xmlns:a16="http://schemas.microsoft.com/office/drawing/2014/main" id="{352F6CBF-F906-EC64-0429-D9AB072D194F}"/>
              </a:ext>
            </a:extLst>
          </p:cNvPr>
          <p:cNvSpPr>
            <a:spLocks noChangeArrowheads="1"/>
          </p:cNvSpPr>
          <p:nvPr/>
        </p:nvSpPr>
        <p:spPr bwMode="auto">
          <a:xfrm>
            <a:off x="3630613" y="3468688"/>
            <a:ext cx="381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5000"/>
              </a:lnSpc>
            </a:pPr>
            <a:r>
              <a:rPr lang="zh-CN" altLang="en-US" sz="1800">
                <a:solidFill>
                  <a:schemeClr val="tx1"/>
                </a:solidFill>
              </a:rPr>
              <a:t>24</a:t>
            </a:r>
          </a:p>
        </p:txBody>
      </p:sp>
      <p:sp>
        <p:nvSpPr>
          <p:cNvPr id="56328" name="Rectangle 9">
            <a:extLst>
              <a:ext uri="{FF2B5EF4-FFF2-40B4-BE49-F238E27FC236}">
                <a16:creationId xmlns:a16="http://schemas.microsoft.com/office/drawing/2014/main" id="{1430B5E8-7772-F804-93AE-A924668DDBAE}"/>
              </a:ext>
            </a:extLst>
          </p:cNvPr>
          <p:cNvSpPr>
            <a:spLocks noChangeArrowheads="1"/>
          </p:cNvSpPr>
          <p:nvPr/>
        </p:nvSpPr>
        <p:spPr bwMode="auto">
          <a:xfrm>
            <a:off x="3652838" y="609600"/>
            <a:ext cx="38100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5000"/>
              </a:lnSpc>
            </a:pPr>
            <a:r>
              <a:rPr lang="zh-CN" altLang="en-US" sz="1800">
                <a:solidFill>
                  <a:schemeClr val="tx1"/>
                </a:solidFill>
              </a:rPr>
              <a:t>20</a:t>
            </a:r>
          </a:p>
        </p:txBody>
      </p:sp>
      <p:sp>
        <p:nvSpPr>
          <p:cNvPr id="417803" name="Text Box 11">
            <a:extLst>
              <a:ext uri="{FF2B5EF4-FFF2-40B4-BE49-F238E27FC236}">
                <a16:creationId xmlns:a16="http://schemas.microsoft.com/office/drawing/2014/main" id="{307D1E76-48F1-7EB9-ED0C-E8F88F2C7D6D}"/>
              </a:ext>
            </a:extLst>
          </p:cNvPr>
          <p:cNvSpPr txBox="1">
            <a:spLocks noChangeArrowheads="1"/>
          </p:cNvSpPr>
          <p:nvPr/>
        </p:nvSpPr>
        <p:spPr bwMode="auto">
          <a:xfrm>
            <a:off x="301625" y="5778500"/>
            <a:ext cx="26606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ea typeface="黑体" panose="02010609060101010101" pitchFamily="49" charset="-122"/>
              </a:rPr>
              <a:t>问题：</a:t>
            </a:r>
            <a:r>
              <a:rPr lang="en-US" altLang="zh-CN" sz="2000">
                <a:ea typeface="黑体" panose="02010609060101010101" pitchFamily="49" charset="-122"/>
              </a:rPr>
              <a:t>GPR</a:t>
            </a:r>
            <a:r>
              <a:rPr lang="zh-CN" altLang="en-US" sz="2000">
                <a:ea typeface="黑体" panose="02010609060101010101" pitchFamily="49" charset="-122"/>
              </a:rPr>
              <a:t>是什么？</a:t>
            </a:r>
            <a:r>
              <a:rPr lang="en-US" altLang="zh-CN" sz="2000">
                <a:ea typeface="黑体" panose="02010609060101010101" pitchFamily="49" charset="-122"/>
              </a:rPr>
              <a:t>Flags</a:t>
            </a:r>
            <a:r>
              <a:rPr lang="zh-CN" altLang="en-US" sz="2000">
                <a:ea typeface="黑体" panose="02010609060101010101" pitchFamily="49" charset="-122"/>
              </a:rPr>
              <a:t>是什么？</a:t>
            </a:r>
          </a:p>
        </p:txBody>
      </p:sp>
      <p:sp>
        <p:nvSpPr>
          <p:cNvPr id="56330" name="Rectangle 12">
            <a:extLst>
              <a:ext uri="{FF2B5EF4-FFF2-40B4-BE49-F238E27FC236}">
                <a16:creationId xmlns:a16="http://schemas.microsoft.com/office/drawing/2014/main" id="{7C911FFF-13B2-97F0-B731-B34FC6395D86}"/>
              </a:ext>
            </a:extLst>
          </p:cNvPr>
          <p:cNvSpPr>
            <a:spLocks noChangeArrowheads="1"/>
          </p:cNvSpPr>
          <p:nvPr/>
        </p:nvSpPr>
        <p:spPr bwMode="auto">
          <a:xfrm>
            <a:off x="711200" y="114300"/>
            <a:ext cx="2066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7000"/>
              </a:lnSpc>
            </a:pPr>
            <a:r>
              <a:rPr lang="zh-CN" altLang="en-US" sz="2400"/>
              <a:t>指令系统举例</a:t>
            </a:r>
            <a:r>
              <a:rPr lang="en-US" altLang="zh-CN" sz="2400"/>
              <a:t>:</a:t>
            </a:r>
            <a:endParaRPr lang="zh-CN" altLang="en-US" sz="2400"/>
          </a:p>
        </p:txBody>
      </p:sp>
      <p:sp>
        <p:nvSpPr>
          <p:cNvPr id="417805" name="Text Box 13">
            <a:extLst>
              <a:ext uri="{FF2B5EF4-FFF2-40B4-BE49-F238E27FC236}">
                <a16:creationId xmlns:a16="http://schemas.microsoft.com/office/drawing/2014/main" id="{03DA7FC5-E0E8-6757-F38B-9B5A49D90EE6}"/>
              </a:ext>
            </a:extLst>
          </p:cNvPr>
          <p:cNvSpPr txBox="1">
            <a:spLocks noChangeArrowheads="1"/>
          </p:cNvSpPr>
          <p:nvPr/>
        </p:nvSpPr>
        <p:spPr bwMode="auto">
          <a:xfrm>
            <a:off x="5929313" y="5194300"/>
            <a:ext cx="2395537"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2000">
                <a:latin typeface="黑体" panose="02010609060101010101" pitchFamily="49" charset="-122"/>
                <a:ea typeface="黑体" panose="02010609060101010101" pitchFamily="49" charset="-122"/>
              </a:rPr>
              <a:t>HI</a:t>
            </a:r>
            <a:r>
              <a:rPr lang="zh-CN" altLang="en-US" sz="2000">
                <a:latin typeface="黑体" panose="02010609060101010101" pitchFamily="49" charset="-122"/>
                <a:ea typeface="黑体" panose="02010609060101010101" pitchFamily="49" charset="-122"/>
              </a:rPr>
              <a:t>和</a:t>
            </a:r>
            <a:r>
              <a:rPr lang="en-US" altLang="zh-CN" sz="2000">
                <a:latin typeface="黑体" panose="02010609060101010101" pitchFamily="49" charset="-122"/>
                <a:ea typeface="黑体" panose="02010609060101010101" pitchFamily="49" charset="-122"/>
              </a:rPr>
              <a:t>LO</a:t>
            </a:r>
            <a:r>
              <a:rPr lang="zh-CN" altLang="en-US" sz="2000">
                <a:latin typeface="黑体" panose="02010609060101010101" pitchFamily="49" charset="-122"/>
                <a:ea typeface="黑体" panose="02010609060101010101" pitchFamily="49" charset="-122"/>
              </a:rPr>
              <a:t>是</a:t>
            </a:r>
            <a:r>
              <a:rPr lang="en-US" altLang="zh-CN" sz="2000">
                <a:latin typeface="黑体" panose="02010609060101010101" pitchFamily="49" charset="-122"/>
                <a:ea typeface="黑体" panose="02010609060101010101" pitchFamily="49" charset="-122"/>
              </a:rPr>
              <a:t>MIPS</a:t>
            </a:r>
            <a:r>
              <a:rPr lang="zh-CN" altLang="en-US" sz="2000">
                <a:latin typeface="黑体" panose="02010609060101010101" pitchFamily="49" charset="-122"/>
                <a:ea typeface="黑体" panose="02010609060101010101" pitchFamily="49" charset="-122"/>
              </a:rPr>
              <a:t>内部的乘商寄存器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7803"/>
                                        </p:tgtEl>
                                        <p:attrNameLst>
                                          <p:attrName>style.visibility</p:attrName>
                                        </p:attrNameLst>
                                      </p:cBhvr>
                                      <p:to>
                                        <p:strVal val="visible"/>
                                      </p:to>
                                    </p:set>
                                    <p:animEffect transition="in" filter="blinds(horizontal)">
                                      <p:cBhvr>
                                        <p:cTn id="7" dur="500"/>
                                        <p:tgtEl>
                                          <p:spTgt spid="4178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7805"/>
                                        </p:tgtEl>
                                        <p:attrNameLst>
                                          <p:attrName>style.visibility</p:attrName>
                                        </p:attrNameLst>
                                      </p:cBhvr>
                                      <p:to>
                                        <p:strVal val="visible"/>
                                      </p:to>
                                    </p:set>
                                    <p:animEffect transition="in" filter="blinds(horizontal)">
                                      <p:cBhvr>
                                        <p:cTn id="12" dur="500"/>
                                        <p:tgtEl>
                                          <p:spTgt spid="417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803" grpId="0"/>
      <p:bldP spid="41780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9B390430-9088-D3AD-D73C-F2F0F858F8F0}"/>
              </a:ext>
            </a:extLst>
          </p:cNvPr>
          <p:cNvSpPr>
            <a:spLocks noGrp="1" noChangeArrowheads="1"/>
          </p:cNvSpPr>
          <p:nvPr>
            <p:ph type="title"/>
          </p:nvPr>
        </p:nvSpPr>
        <p:spPr>
          <a:xfrm>
            <a:off x="2846388" y="115888"/>
            <a:ext cx="3378200" cy="373062"/>
          </a:xfrm>
        </p:spPr>
        <p:txBody>
          <a:bodyPr/>
          <a:lstStyle/>
          <a:p>
            <a:r>
              <a:rPr lang="en-US" altLang="zh-CN">
                <a:ea typeface="宋体" panose="02010600030101010101" pitchFamily="2" charset="-122"/>
              </a:rPr>
              <a:t>MIPS32</a:t>
            </a:r>
            <a:r>
              <a:rPr lang="zh-CN" altLang="en-US">
                <a:ea typeface="宋体" panose="02010600030101010101" pitchFamily="2" charset="-122"/>
              </a:rPr>
              <a:t>的指令格式</a:t>
            </a:r>
          </a:p>
        </p:txBody>
      </p:sp>
      <p:sp>
        <p:nvSpPr>
          <p:cNvPr id="266245" name="Rectangle 5">
            <a:extLst>
              <a:ext uri="{FF2B5EF4-FFF2-40B4-BE49-F238E27FC236}">
                <a16:creationId xmlns:a16="http://schemas.microsoft.com/office/drawing/2014/main" id="{30184DF4-5AAE-F997-D030-F32C0CA3B705}"/>
              </a:ext>
            </a:extLst>
          </p:cNvPr>
          <p:cNvSpPr>
            <a:spLocks noChangeArrowheads="1"/>
          </p:cNvSpPr>
          <p:nvPr/>
        </p:nvSpPr>
        <p:spPr bwMode="auto">
          <a:xfrm>
            <a:off x="261938" y="1068388"/>
            <a:ext cx="81629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90000"/>
              </a:lnSpc>
              <a:spcBef>
                <a:spcPct val="30000"/>
              </a:spcBef>
              <a:buSzPct val="75000"/>
              <a:buFont typeface="Wingdings" panose="05000000000000000000" pitchFamily="2" charset="2"/>
              <a:buChar char="u"/>
            </a:pPr>
            <a:endParaRPr lang="zh-CN" altLang="en-US" sz="2000">
              <a:solidFill>
                <a:schemeClr val="tx1"/>
              </a:solidFill>
            </a:endParaRPr>
          </a:p>
          <a:p>
            <a:pPr eaLnBrk="0" hangingPunct="0">
              <a:lnSpc>
                <a:spcPct val="90000"/>
              </a:lnSpc>
              <a:spcBef>
                <a:spcPct val="30000"/>
              </a:spcBef>
              <a:buSzPct val="75000"/>
              <a:buFont typeface="Wingdings" panose="05000000000000000000" pitchFamily="2" charset="2"/>
              <a:buChar char="u"/>
            </a:pPr>
            <a:r>
              <a:rPr lang="zh-CN" altLang="en-US" sz="1800">
                <a:solidFill>
                  <a:schemeClr val="tx1"/>
                </a:solidFill>
                <a:ea typeface="黑体" panose="02010609060101010101" pitchFamily="49" charset="-122"/>
              </a:rPr>
              <a:t>有三种指令格式</a:t>
            </a:r>
            <a:endParaRPr lang="en-US" altLang="zh-CN" sz="1800">
              <a:solidFill>
                <a:schemeClr val="tx1"/>
              </a:solidFill>
              <a:ea typeface="黑体" panose="02010609060101010101" pitchFamily="49" charset="-122"/>
            </a:endParaRPr>
          </a:p>
          <a:p>
            <a:pPr lvl="1" eaLnBrk="0" hangingPunct="0">
              <a:lnSpc>
                <a:spcPct val="90000"/>
              </a:lnSpc>
              <a:spcBef>
                <a:spcPct val="30000"/>
              </a:spcBef>
              <a:buFontTx/>
              <a:buChar char="–"/>
            </a:pPr>
            <a:r>
              <a:rPr lang="en-US" altLang="zh-CN" sz="1800">
                <a:ea typeface="黑体" panose="02010609060101010101" pitchFamily="49" charset="-122"/>
              </a:rPr>
              <a:t>R-Type</a:t>
            </a:r>
          </a:p>
          <a:p>
            <a:pPr lvl="2" eaLnBrk="0" hangingPunct="0">
              <a:lnSpc>
                <a:spcPct val="90000"/>
              </a:lnSpc>
              <a:spcBef>
                <a:spcPct val="30000"/>
              </a:spcBef>
            </a:pPr>
            <a:r>
              <a:rPr lang="zh-CN" altLang="en-US" sz="2000">
                <a:solidFill>
                  <a:srgbClr val="A50021"/>
                </a:solidFill>
                <a:ea typeface="黑体" panose="02010609060101010101" pitchFamily="49" charset="-122"/>
              </a:rPr>
              <a:t>两个操作数和结果都在寄存器的运算指令。如：</a:t>
            </a:r>
            <a:r>
              <a:rPr lang="en-US" altLang="zh-CN" sz="2000">
                <a:solidFill>
                  <a:srgbClr val="A50021"/>
                </a:solidFill>
                <a:ea typeface="黑体" panose="02010609060101010101" pitchFamily="49" charset="-122"/>
              </a:rPr>
              <a:t>sub rd, rs, rt</a:t>
            </a:r>
          </a:p>
          <a:p>
            <a:pPr lvl="2" eaLnBrk="0" hangingPunct="0">
              <a:lnSpc>
                <a:spcPct val="90000"/>
              </a:lnSpc>
              <a:spcBef>
                <a:spcPct val="30000"/>
              </a:spcBef>
            </a:pPr>
            <a:endParaRPr lang="en-US" altLang="zh-CN" sz="900">
              <a:ea typeface="黑体" panose="02010609060101010101" pitchFamily="49" charset="-122"/>
            </a:endParaRPr>
          </a:p>
          <a:p>
            <a:pPr lvl="1" eaLnBrk="0" hangingPunct="0">
              <a:lnSpc>
                <a:spcPct val="90000"/>
              </a:lnSpc>
              <a:spcBef>
                <a:spcPct val="30000"/>
              </a:spcBef>
              <a:buFontTx/>
              <a:buChar char="–"/>
            </a:pPr>
            <a:r>
              <a:rPr lang="en-US" altLang="zh-CN" sz="1800">
                <a:ea typeface="黑体" panose="02010609060101010101" pitchFamily="49" charset="-122"/>
              </a:rPr>
              <a:t>I-Type</a:t>
            </a:r>
          </a:p>
          <a:p>
            <a:pPr lvl="2" eaLnBrk="0" hangingPunct="0">
              <a:lnSpc>
                <a:spcPct val="90000"/>
              </a:lnSpc>
              <a:spcBef>
                <a:spcPct val="30000"/>
              </a:spcBef>
              <a:buFontTx/>
              <a:buChar char="•"/>
            </a:pPr>
            <a:r>
              <a:rPr lang="zh-CN" altLang="en-US" sz="2000">
                <a:solidFill>
                  <a:srgbClr val="A50021"/>
                </a:solidFill>
                <a:ea typeface="黑体" panose="02010609060101010101" pitchFamily="49" charset="-122"/>
              </a:rPr>
              <a:t>运算指令：一个寄存器、一个立即数。如：</a:t>
            </a:r>
            <a:r>
              <a:rPr lang="en-US" altLang="zh-CN" sz="2000">
                <a:solidFill>
                  <a:srgbClr val="A50021"/>
                </a:solidFill>
                <a:ea typeface="黑体" panose="02010609060101010101" pitchFamily="49" charset="-122"/>
              </a:rPr>
              <a:t>ori  rt, rs, imm16</a:t>
            </a:r>
          </a:p>
          <a:p>
            <a:pPr lvl="2" eaLnBrk="0" hangingPunct="0">
              <a:lnSpc>
                <a:spcPct val="90000"/>
              </a:lnSpc>
              <a:spcBef>
                <a:spcPct val="30000"/>
              </a:spcBef>
              <a:buFontTx/>
              <a:buChar char="•"/>
            </a:pPr>
            <a:r>
              <a:rPr lang="en-US" altLang="zh-CN" sz="2000">
                <a:solidFill>
                  <a:srgbClr val="A50021"/>
                </a:solidFill>
                <a:ea typeface="黑体" panose="02010609060101010101" pitchFamily="49" charset="-122"/>
              </a:rPr>
              <a:t>LOAD</a:t>
            </a:r>
            <a:r>
              <a:rPr lang="zh-CN" altLang="en-US" sz="2000">
                <a:solidFill>
                  <a:srgbClr val="A50021"/>
                </a:solidFill>
                <a:ea typeface="黑体" panose="02010609060101010101" pitchFamily="49" charset="-122"/>
              </a:rPr>
              <a:t>和</a:t>
            </a:r>
            <a:r>
              <a:rPr lang="en-US" altLang="zh-CN" sz="2000">
                <a:solidFill>
                  <a:srgbClr val="A50021"/>
                </a:solidFill>
                <a:ea typeface="黑体" panose="02010609060101010101" pitchFamily="49" charset="-122"/>
              </a:rPr>
              <a:t>STORE</a:t>
            </a:r>
            <a:r>
              <a:rPr lang="zh-CN" altLang="en-US" sz="2000">
                <a:solidFill>
                  <a:srgbClr val="A50021"/>
                </a:solidFill>
                <a:ea typeface="黑体" panose="02010609060101010101" pitchFamily="49" charset="-122"/>
              </a:rPr>
              <a:t>指令。如：</a:t>
            </a:r>
            <a:r>
              <a:rPr lang="en-US" altLang="zh-CN" sz="2000">
                <a:solidFill>
                  <a:srgbClr val="A50021"/>
                </a:solidFill>
                <a:ea typeface="黑体" panose="02010609060101010101" pitchFamily="49" charset="-122"/>
              </a:rPr>
              <a:t>lw rt, rs, imm16</a:t>
            </a:r>
          </a:p>
          <a:p>
            <a:pPr lvl="2" eaLnBrk="0" hangingPunct="0">
              <a:lnSpc>
                <a:spcPct val="90000"/>
              </a:lnSpc>
              <a:spcBef>
                <a:spcPct val="30000"/>
              </a:spcBef>
              <a:buFontTx/>
              <a:buChar char="•"/>
            </a:pPr>
            <a:r>
              <a:rPr lang="zh-CN" altLang="en-US" sz="2000">
                <a:solidFill>
                  <a:srgbClr val="A50021"/>
                </a:solidFill>
                <a:ea typeface="黑体" panose="02010609060101010101" pitchFamily="49" charset="-122"/>
              </a:rPr>
              <a:t>条件分支指令。如：</a:t>
            </a:r>
            <a:r>
              <a:rPr lang="en-US" altLang="zh-CN" sz="2000">
                <a:solidFill>
                  <a:srgbClr val="A50021"/>
                </a:solidFill>
                <a:ea typeface="黑体" panose="02010609060101010101" pitchFamily="49" charset="-122"/>
              </a:rPr>
              <a:t>beq rs, rt, imm16</a:t>
            </a:r>
          </a:p>
          <a:p>
            <a:pPr lvl="2" eaLnBrk="0" hangingPunct="0">
              <a:lnSpc>
                <a:spcPct val="90000"/>
              </a:lnSpc>
              <a:spcBef>
                <a:spcPct val="30000"/>
              </a:spcBef>
            </a:pPr>
            <a:endParaRPr lang="en-US" altLang="zh-CN" sz="1800">
              <a:solidFill>
                <a:srgbClr val="A50021"/>
              </a:solidFill>
              <a:ea typeface="黑体" panose="02010609060101010101" pitchFamily="49" charset="-122"/>
            </a:endParaRPr>
          </a:p>
          <a:p>
            <a:pPr lvl="2" eaLnBrk="0" hangingPunct="0">
              <a:lnSpc>
                <a:spcPct val="90000"/>
              </a:lnSpc>
              <a:spcBef>
                <a:spcPct val="30000"/>
              </a:spcBef>
            </a:pPr>
            <a:endParaRPr lang="en-US" altLang="zh-CN" sz="1800">
              <a:solidFill>
                <a:srgbClr val="A50021"/>
              </a:solidFill>
              <a:ea typeface="黑体" panose="02010609060101010101" pitchFamily="49" charset="-122"/>
            </a:endParaRPr>
          </a:p>
          <a:p>
            <a:pPr lvl="1" eaLnBrk="0" hangingPunct="0">
              <a:lnSpc>
                <a:spcPct val="90000"/>
              </a:lnSpc>
              <a:spcBef>
                <a:spcPct val="30000"/>
              </a:spcBef>
              <a:buFontTx/>
              <a:buChar char="–"/>
            </a:pPr>
            <a:endParaRPr lang="en-US" altLang="zh-CN" sz="1800">
              <a:ea typeface="黑体" panose="02010609060101010101" pitchFamily="49" charset="-122"/>
            </a:endParaRPr>
          </a:p>
          <a:p>
            <a:pPr lvl="1" eaLnBrk="0" hangingPunct="0">
              <a:lnSpc>
                <a:spcPct val="90000"/>
              </a:lnSpc>
              <a:spcBef>
                <a:spcPct val="30000"/>
              </a:spcBef>
              <a:buFontTx/>
              <a:buChar char="–"/>
            </a:pPr>
            <a:r>
              <a:rPr lang="en-US" altLang="zh-CN" sz="1800">
                <a:ea typeface="黑体" panose="02010609060101010101" pitchFamily="49" charset="-122"/>
              </a:rPr>
              <a:t>J-Type</a:t>
            </a:r>
          </a:p>
          <a:p>
            <a:pPr lvl="2" eaLnBrk="0" hangingPunct="0">
              <a:lnSpc>
                <a:spcPct val="90000"/>
              </a:lnSpc>
              <a:spcBef>
                <a:spcPct val="30000"/>
              </a:spcBef>
            </a:pPr>
            <a:r>
              <a:rPr lang="zh-CN" altLang="en-US" sz="1800">
                <a:solidFill>
                  <a:srgbClr val="A50021"/>
                </a:solidFill>
                <a:ea typeface="黑体" panose="02010609060101010101" pitchFamily="49" charset="-122"/>
              </a:rPr>
              <a:t>无条件跳转指令。如：</a:t>
            </a:r>
            <a:r>
              <a:rPr lang="en-US" altLang="zh-CN" sz="1800">
                <a:solidFill>
                  <a:srgbClr val="A50021"/>
                </a:solidFill>
                <a:ea typeface="黑体" panose="02010609060101010101" pitchFamily="49" charset="-122"/>
              </a:rPr>
              <a:t>j  target</a:t>
            </a:r>
          </a:p>
        </p:txBody>
      </p:sp>
      <p:grpSp>
        <p:nvGrpSpPr>
          <p:cNvPr id="2" name="Group 80">
            <a:extLst>
              <a:ext uri="{FF2B5EF4-FFF2-40B4-BE49-F238E27FC236}">
                <a16:creationId xmlns:a16="http://schemas.microsoft.com/office/drawing/2014/main" id="{9A409E29-18EE-5203-67A6-2D708031FBF1}"/>
              </a:ext>
            </a:extLst>
          </p:cNvPr>
          <p:cNvGrpSpPr>
            <a:grpSpLocks/>
          </p:cNvGrpSpPr>
          <p:nvPr/>
        </p:nvGrpSpPr>
        <p:grpSpPr bwMode="auto">
          <a:xfrm>
            <a:off x="2854325" y="852488"/>
            <a:ext cx="6248400" cy="1244600"/>
            <a:chOff x="1931" y="537"/>
            <a:chExt cx="3936" cy="784"/>
          </a:xfrm>
        </p:grpSpPr>
        <p:grpSp>
          <p:nvGrpSpPr>
            <p:cNvPr id="57348" name="Group 18">
              <a:extLst>
                <a:ext uri="{FF2B5EF4-FFF2-40B4-BE49-F238E27FC236}">
                  <a16:creationId xmlns:a16="http://schemas.microsoft.com/office/drawing/2014/main" id="{4B2E2471-8489-B920-55A5-3F68D8FDD9BD}"/>
                </a:ext>
              </a:extLst>
            </p:cNvPr>
            <p:cNvGrpSpPr>
              <a:grpSpLocks/>
            </p:cNvGrpSpPr>
            <p:nvPr/>
          </p:nvGrpSpPr>
          <p:grpSpPr bwMode="auto">
            <a:xfrm>
              <a:off x="1931" y="708"/>
              <a:ext cx="3756" cy="613"/>
              <a:chOff x="1918" y="672"/>
              <a:chExt cx="3756" cy="613"/>
            </a:xfrm>
          </p:grpSpPr>
          <p:grpSp>
            <p:nvGrpSpPr>
              <p:cNvPr id="57349" name="Group 19">
                <a:extLst>
                  <a:ext uri="{FF2B5EF4-FFF2-40B4-BE49-F238E27FC236}">
                    <a16:creationId xmlns:a16="http://schemas.microsoft.com/office/drawing/2014/main" id="{1EED83EE-A59F-C4B6-69C9-62507EE4C4DF}"/>
                  </a:ext>
                </a:extLst>
              </p:cNvPr>
              <p:cNvGrpSpPr>
                <a:grpSpLocks/>
              </p:cNvGrpSpPr>
              <p:nvPr/>
            </p:nvGrpSpPr>
            <p:grpSpPr bwMode="auto">
              <a:xfrm>
                <a:off x="1918" y="672"/>
                <a:ext cx="3756" cy="402"/>
                <a:chOff x="1918" y="672"/>
                <a:chExt cx="3756" cy="402"/>
              </a:xfrm>
            </p:grpSpPr>
            <p:grpSp>
              <p:nvGrpSpPr>
                <p:cNvPr id="57350" name="Group 20">
                  <a:extLst>
                    <a:ext uri="{FF2B5EF4-FFF2-40B4-BE49-F238E27FC236}">
                      <a16:creationId xmlns:a16="http://schemas.microsoft.com/office/drawing/2014/main" id="{4638A44D-DBD3-2468-044C-AA874525A4FE}"/>
                    </a:ext>
                  </a:extLst>
                </p:cNvPr>
                <p:cNvGrpSpPr>
                  <a:grpSpLocks/>
                </p:cNvGrpSpPr>
                <p:nvPr/>
              </p:nvGrpSpPr>
              <p:grpSpPr bwMode="auto">
                <a:xfrm>
                  <a:off x="1979" y="836"/>
                  <a:ext cx="3607" cy="238"/>
                  <a:chOff x="1979" y="836"/>
                  <a:chExt cx="3607" cy="238"/>
                </a:xfrm>
              </p:grpSpPr>
              <p:sp>
                <p:nvSpPr>
                  <p:cNvPr id="57351" name="Rectangle 21">
                    <a:extLst>
                      <a:ext uri="{FF2B5EF4-FFF2-40B4-BE49-F238E27FC236}">
                        <a16:creationId xmlns:a16="http://schemas.microsoft.com/office/drawing/2014/main" id="{AF9885FD-9EE3-197B-4CEE-2E09C834F16B}"/>
                      </a:ext>
                    </a:extLst>
                  </p:cNvPr>
                  <p:cNvSpPr>
                    <a:spLocks noChangeArrowheads="1"/>
                  </p:cNvSpPr>
                  <p:nvPr/>
                </p:nvSpPr>
                <p:spPr bwMode="auto">
                  <a:xfrm>
                    <a:off x="1983" y="872"/>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grpSp>
                <p:nvGrpSpPr>
                  <p:cNvPr id="57352" name="Group 22">
                    <a:extLst>
                      <a:ext uri="{FF2B5EF4-FFF2-40B4-BE49-F238E27FC236}">
                        <a16:creationId xmlns:a16="http://schemas.microsoft.com/office/drawing/2014/main" id="{7CCFC2AE-4DF0-82CB-6629-C126445BAA82}"/>
                      </a:ext>
                    </a:extLst>
                  </p:cNvPr>
                  <p:cNvGrpSpPr>
                    <a:grpSpLocks/>
                  </p:cNvGrpSpPr>
                  <p:nvPr/>
                </p:nvGrpSpPr>
                <p:grpSpPr bwMode="auto">
                  <a:xfrm>
                    <a:off x="1979" y="836"/>
                    <a:ext cx="3607" cy="238"/>
                    <a:chOff x="1979" y="836"/>
                    <a:chExt cx="3607" cy="238"/>
                  </a:xfrm>
                </p:grpSpPr>
                <p:grpSp>
                  <p:nvGrpSpPr>
                    <p:cNvPr id="57353" name="Group 23">
                      <a:extLst>
                        <a:ext uri="{FF2B5EF4-FFF2-40B4-BE49-F238E27FC236}">
                          <a16:creationId xmlns:a16="http://schemas.microsoft.com/office/drawing/2014/main" id="{47DE972D-D5F8-2044-1992-29B53B5F42FA}"/>
                        </a:ext>
                      </a:extLst>
                    </p:cNvPr>
                    <p:cNvGrpSpPr>
                      <a:grpSpLocks/>
                    </p:cNvGrpSpPr>
                    <p:nvPr/>
                  </p:nvGrpSpPr>
                  <p:grpSpPr bwMode="auto">
                    <a:xfrm>
                      <a:off x="1979" y="836"/>
                      <a:ext cx="624" cy="229"/>
                      <a:chOff x="1979" y="836"/>
                      <a:chExt cx="624" cy="229"/>
                    </a:xfrm>
                  </p:grpSpPr>
                  <p:sp>
                    <p:nvSpPr>
                      <p:cNvPr id="57354" name="Rectangle 24">
                        <a:extLst>
                          <a:ext uri="{FF2B5EF4-FFF2-40B4-BE49-F238E27FC236}">
                            <a16:creationId xmlns:a16="http://schemas.microsoft.com/office/drawing/2014/main" id="{FCCF2B04-9EDA-D798-0DA5-7337AE60EC78}"/>
                          </a:ext>
                        </a:extLst>
                      </p:cNvPr>
                      <p:cNvSpPr>
                        <a:spLocks noChangeArrowheads="1"/>
                      </p:cNvSpPr>
                      <p:nvPr/>
                    </p:nvSpPr>
                    <p:spPr bwMode="auto">
                      <a:xfrm>
                        <a:off x="1979" y="868"/>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55" name="Rectangle 25">
                        <a:extLst>
                          <a:ext uri="{FF2B5EF4-FFF2-40B4-BE49-F238E27FC236}">
                            <a16:creationId xmlns:a16="http://schemas.microsoft.com/office/drawing/2014/main" id="{1CDA0B9E-F42D-6B29-4427-ECE278902803}"/>
                          </a:ext>
                        </a:extLst>
                      </p:cNvPr>
                      <p:cNvSpPr>
                        <a:spLocks noChangeArrowheads="1"/>
                      </p:cNvSpPr>
                      <p:nvPr/>
                    </p:nvSpPr>
                    <p:spPr bwMode="auto">
                      <a:xfrm>
                        <a:off x="2161" y="836"/>
                        <a:ext cx="26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op</a:t>
                        </a:r>
                      </a:p>
                    </p:txBody>
                  </p:sp>
                </p:grpSp>
                <p:grpSp>
                  <p:nvGrpSpPr>
                    <p:cNvPr id="57356" name="Group 26">
                      <a:extLst>
                        <a:ext uri="{FF2B5EF4-FFF2-40B4-BE49-F238E27FC236}">
                          <a16:creationId xmlns:a16="http://schemas.microsoft.com/office/drawing/2014/main" id="{51FAAA9E-A87F-F836-B5E0-8B77357954BD}"/>
                        </a:ext>
                      </a:extLst>
                    </p:cNvPr>
                    <p:cNvGrpSpPr>
                      <a:grpSpLocks/>
                    </p:cNvGrpSpPr>
                    <p:nvPr/>
                  </p:nvGrpSpPr>
                  <p:grpSpPr bwMode="auto">
                    <a:xfrm>
                      <a:off x="2611" y="836"/>
                      <a:ext cx="580" cy="229"/>
                      <a:chOff x="2611" y="836"/>
                      <a:chExt cx="580" cy="229"/>
                    </a:xfrm>
                  </p:grpSpPr>
                  <p:sp>
                    <p:nvSpPr>
                      <p:cNvPr id="57357" name="Rectangle 27">
                        <a:extLst>
                          <a:ext uri="{FF2B5EF4-FFF2-40B4-BE49-F238E27FC236}">
                            <a16:creationId xmlns:a16="http://schemas.microsoft.com/office/drawing/2014/main" id="{D9168F38-5C96-812B-C984-2838DD019A02}"/>
                          </a:ext>
                        </a:extLst>
                      </p:cNvPr>
                      <p:cNvSpPr>
                        <a:spLocks noChangeArrowheads="1"/>
                      </p:cNvSpPr>
                      <p:nvPr/>
                    </p:nvSpPr>
                    <p:spPr bwMode="auto">
                      <a:xfrm>
                        <a:off x="2611" y="86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58" name="Rectangle 28">
                        <a:extLst>
                          <a:ext uri="{FF2B5EF4-FFF2-40B4-BE49-F238E27FC236}">
                            <a16:creationId xmlns:a16="http://schemas.microsoft.com/office/drawing/2014/main" id="{1ACA4904-CDCC-B8FC-4C3E-FB2957067368}"/>
                          </a:ext>
                        </a:extLst>
                      </p:cNvPr>
                      <p:cNvSpPr>
                        <a:spLocks noChangeArrowheads="1"/>
                      </p:cNvSpPr>
                      <p:nvPr/>
                    </p:nvSpPr>
                    <p:spPr bwMode="auto">
                      <a:xfrm>
                        <a:off x="2776" y="836"/>
                        <a:ext cx="23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rs</a:t>
                        </a:r>
                      </a:p>
                    </p:txBody>
                  </p:sp>
                </p:grpSp>
                <p:grpSp>
                  <p:nvGrpSpPr>
                    <p:cNvPr id="57359" name="Group 29">
                      <a:extLst>
                        <a:ext uri="{FF2B5EF4-FFF2-40B4-BE49-F238E27FC236}">
                          <a16:creationId xmlns:a16="http://schemas.microsoft.com/office/drawing/2014/main" id="{80EBD404-CD05-1EDC-5667-8B78A4DBBDEE}"/>
                        </a:ext>
                      </a:extLst>
                    </p:cNvPr>
                    <p:cNvGrpSpPr>
                      <a:grpSpLocks/>
                    </p:cNvGrpSpPr>
                    <p:nvPr/>
                  </p:nvGrpSpPr>
                  <p:grpSpPr bwMode="auto">
                    <a:xfrm>
                      <a:off x="3199" y="836"/>
                      <a:ext cx="579" cy="229"/>
                      <a:chOff x="3199" y="836"/>
                      <a:chExt cx="579" cy="229"/>
                    </a:xfrm>
                  </p:grpSpPr>
                  <p:sp>
                    <p:nvSpPr>
                      <p:cNvPr id="57360" name="Rectangle 30">
                        <a:extLst>
                          <a:ext uri="{FF2B5EF4-FFF2-40B4-BE49-F238E27FC236}">
                            <a16:creationId xmlns:a16="http://schemas.microsoft.com/office/drawing/2014/main" id="{76FE0E87-98F6-A612-CE48-56F6F2865002}"/>
                          </a:ext>
                        </a:extLst>
                      </p:cNvPr>
                      <p:cNvSpPr>
                        <a:spLocks noChangeArrowheads="1"/>
                      </p:cNvSpPr>
                      <p:nvPr/>
                    </p:nvSpPr>
                    <p:spPr bwMode="auto">
                      <a:xfrm>
                        <a:off x="3199" y="86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61" name="Rectangle 31">
                        <a:extLst>
                          <a:ext uri="{FF2B5EF4-FFF2-40B4-BE49-F238E27FC236}">
                            <a16:creationId xmlns:a16="http://schemas.microsoft.com/office/drawing/2014/main" id="{EB8D87D9-3924-6299-5131-CA39CB936314}"/>
                          </a:ext>
                        </a:extLst>
                      </p:cNvPr>
                      <p:cNvSpPr>
                        <a:spLocks noChangeArrowheads="1"/>
                      </p:cNvSpPr>
                      <p:nvPr/>
                    </p:nvSpPr>
                    <p:spPr bwMode="auto">
                      <a:xfrm>
                        <a:off x="3363" y="836"/>
                        <a:ext cx="22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rt</a:t>
                        </a:r>
                      </a:p>
                    </p:txBody>
                  </p:sp>
                </p:grpSp>
                <p:grpSp>
                  <p:nvGrpSpPr>
                    <p:cNvPr id="57362" name="Group 32">
                      <a:extLst>
                        <a:ext uri="{FF2B5EF4-FFF2-40B4-BE49-F238E27FC236}">
                          <a16:creationId xmlns:a16="http://schemas.microsoft.com/office/drawing/2014/main" id="{6DF0F098-A698-BE0A-7AEF-F2B87570A455}"/>
                        </a:ext>
                      </a:extLst>
                    </p:cNvPr>
                    <p:cNvGrpSpPr>
                      <a:grpSpLocks/>
                    </p:cNvGrpSpPr>
                    <p:nvPr/>
                  </p:nvGrpSpPr>
                  <p:grpSpPr bwMode="auto">
                    <a:xfrm>
                      <a:off x="3786" y="836"/>
                      <a:ext cx="579" cy="229"/>
                      <a:chOff x="3786" y="836"/>
                      <a:chExt cx="579" cy="229"/>
                    </a:xfrm>
                  </p:grpSpPr>
                  <p:sp>
                    <p:nvSpPr>
                      <p:cNvPr id="57363" name="Rectangle 33">
                        <a:extLst>
                          <a:ext uri="{FF2B5EF4-FFF2-40B4-BE49-F238E27FC236}">
                            <a16:creationId xmlns:a16="http://schemas.microsoft.com/office/drawing/2014/main" id="{2B704F5A-6469-C9B4-F4E8-BFA874280828}"/>
                          </a:ext>
                        </a:extLst>
                      </p:cNvPr>
                      <p:cNvSpPr>
                        <a:spLocks noChangeArrowheads="1"/>
                      </p:cNvSpPr>
                      <p:nvPr/>
                    </p:nvSpPr>
                    <p:spPr bwMode="auto">
                      <a:xfrm>
                        <a:off x="3786" y="86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64" name="Rectangle 34">
                        <a:extLst>
                          <a:ext uri="{FF2B5EF4-FFF2-40B4-BE49-F238E27FC236}">
                            <a16:creationId xmlns:a16="http://schemas.microsoft.com/office/drawing/2014/main" id="{69922598-8311-6FB8-67A5-16C812983AA5}"/>
                          </a:ext>
                        </a:extLst>
                      </p:cNvPr>
                      <p:cNvSpPr>
                        <a:spLocks noChangeArrowheads="1"/>
                      </p:cNvSpPr>
                      <p:nvPr/>
                    </p:nvSpPr>
                    <p:spPr bwMode="auto">
                      <a:xfrm>
                        <a:off x="3951" y="836"/>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rd</a:t>
                        </a:r>
                      </a:p>
                    </p:txBody>
                  </p:sp>
                </p:grpSp>
                <p:grpSp>
                  <p:nvGrpSpPr>
                    <p:cNvPr id="57365" name="Group 35">
                      <a:extLst>
                        <a:ext uri="{FF2B5EF4-FFF2-40B4-BE49-F238E27FC236}">
                          <a16:creationId xmlns:a16="http://schemas.microsoft.com/office/drawing/2014/main" id="{855E75DB-0D6B-40FB-A6C5-5058A4B5FFE6}"/>
                        </a:ext>
                      </a:extLst>
                    </p:cNvPr>
                    <p:cNvGrpSpPr>
                      <a:grpSpLocks/>
                    </p:cNvGrpSpPr>
                    <p:nvPr/>
                  </p:nvGrpSpPr>
                  <p:grpSpPr bwMode="auto">
                    <a:xfrm>
                      <a:off x="4373" y="845"/>
                      <a:ext cx="580" cy="229"/>
                      <a:chOff x="4373" y="845"/>
                      <a:chExt cx="580" cy="229"/>
                    </a:xfrm>
                  </p:grpSpPr>
                  <p:sp>
                    <p:nvSpPr>
                      <p:cNvPr id="57366" name="Rectangle 36">
                        <a:extLst>
                          <a:ext uri="{FF2B5EF4-FFF2-40B4-BE49-F238E27FC236}">
                            <a16:creationId xmlns:a16="http://schemas.microsoft.com/office/drawing/2014/main" id="{E1FD9F6F-2DCF-9E98-7033-2FA53DAE4969}"/>
                          </a:ext>
                        </a:extLst>
                      </p:cNvPr>
                      <p:cNvSpPr>
                        <a:spLocks noChangeArrowheads="1"/>
                      </p:cNvSpPr>
                      <p:nvPr/>
                    </p:nvSpPr>
                    <p:spPr bwMode="auto">
                      <a:xfrm>
                        <a:off x="4373" y="86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67" name="Rectangle 37">
                        <a:extLst>
                          <a:ext uri="{FF2B5EF4-FFF2-40B4-BE49-F238E27FC236}">
                            <a16:creationId xmlns:a16="http://schemas.microsoft.com/office/drawing/2014/main" id="{57CF8B42-9687-73BA-CCA8-9E1D487C34DC}"/>
                          </a:ext>
                        </a:extLst>
                      </p:cNvPr>
                      <p:cNvSpPr>
                        <a:spLocks noChangeArrowheads="1"/>
                      </p:cNvSpPr>
                      <p:nvPr/>
                    </p:nvSpPr>
                    <p:spPr bwMode="auto">
                      <a:xfrm>
                        <a:off x="4448" y="845"/>
                        <a:ext cx="49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shamt</a:t>
                        </a:r>
                      </a:p>
                    </p:txBody>
                  </p:sp>
                </p:grpSp>
                <p:grpSp>
                  <p:nvGrpSpPr>
                    <p:cNvPr id="57368" name="Group 38">
                      <a:extLst>
                        <a:ext uri="{FF2B5EF4-FFF2-40B4-BE49-F238E27FC236}">
                          <a16:creationId xmlns:a16="http://schemas.microsoft.com/office/drawing/2014/main" id="{E90461BD-744F-0893-F9D5-9A06FC9EF5BD}"/>
                        </a:ext>
                      </a:extLst>
                    </p:cNvPr>
                    <p:cNvGrpSpPr>
                      <a:grpSpLocks/>
                    </p:cNvGrpSpPr>
                    <p:nvPr/>
                  </p:nvGrpSpPr>
                  <p:grpSpPr bwMode="auto">
                    <a:xfrm>
                      <a:off x="4961" y="845"/>
                      <a:ext cx="625" cy="229"/>
                      <a:chOff x="4961" y="845"/>
                      <a:chExt cx="625" cy="229"/>
                    </a:xfrm>
                  </p:grpSpPr>
                  <p:sp>
                    <p:nvSpPr>
                      <p:cNvPr id="57369" name="Rectangle 39">
                        <a:extLst>
                          <a:ext uri="{FF2B5EF4-FFF2-40B4-BE49-F238E27FC236}">
                            <a16:creationId xmlns:a16="http://schemas.microsoft.com/office/drawing/2014/main" id="{D68C5C44-47A6-C011-B2A4-B150C9CCCAF1}"/>
                          </a:ext>
                        </a:extLst>
                      </p:cNvPr>
                      <p:cNvSpPr>
                        <a:spLocks noChangeArrowheads="1"/>
                      </p:cNvSpPr>
                      <p:nvPr/>
                    </p:nvSpPr>
                    <p:spPr bwMode="auto">
                      <a:xfrm>
                        <a:off x="4961" y="868"/>
                        <a:ext cx="62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70" name="Rectangle 40">
                        <a:extLst>
                          <a:ext uri="{FF2B5EF4-FFF2-40B4-BE49-F238E27FC236}">
                            <a16:creationId xmlns:a16="http://schemas.microsoft.com/office/drawing/2014/main" id="{1D8C3971-1915-FAC9-64C8-F7F2F713216B}"/>
                          </a:ext>
                        </a:extLst>
                      </p:cNvPr>
                      <p:cNvSpPr>
                        <a:spLocks noChangeArrowheads="1"/>
                      </p:cNvSpPr>
                      <p:nvPr/>
                    </p:nvSpPr>
                    <p:spPr bwMode="auto">
                      <a:xfrm>
                        <a:off x="5143" y="845"/>
                        <a:ext cx="3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func</a:t>
                        </a:r>
                      </a:p>
                    </p:txBody>
                  </p:sp>
                </p:grpSp>
              </p:grpSp>
            </p:grpSp>
            <p:sp>
              <p:nvSpPr>
                <p:cNvPr id="57371" name="Rectangle 41">
                  <a:extLst>
                    <a:ext uri="{FF2B5EF4-FFF2-40B4-BE49-F238E27FC236}">
                      <a16:creationId xmlns:a16="http://schemas.microsoft.com/office/drawing/2014/main" id="{81C0EADC-E533-34AB-21A4-5A4451E4BBBC}"/>
                    </a:ext>
                  </a:extLst>
                </p:cNvPr>
                <p:cNvSpPr>
                  <a:spLocks noChangeArrowheads="1"/>
                </p:cNvSpPr>
                <p:nvPr/>
              </p:nvSpPr>
              <p:spPr bwMode="auto">
                <a:xfrm>
                  <a:off x="5488" y="672"/>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0</a:t>
                  </a:r>
                </a:p>
              </p:txBody>
            </p:sp>
            <p:sp>
              <p:nvSpPr>
                <p:cNvPr id="57372" name="Rectangle 42">
                  <a:extLst>
                    <a:ext uri="{FF2B5EF4-FFF2-40B4-BE49-F238E27FC236}">
                      <a16:creationId xmlns:a16="http://schemas.microsoft.com/office/drawing/2014/main" id="{8EA04C73-1B5C-767C-46FF-3E5B8AFC06E1}"/>
                    </a:ext>
                  </a:extLst>
                </p:cNvPr>
                <p:cNvSpPr>
                  <a:spLocks noChangeArrowheads="1"/>
                </p:cNvSpPr>
                <p:nvPr/>
              </p:nvSpPr>
              <p:spPr bwMode="auto">
                <a:xfrm>
                  <a:off x="4810" y="672"/>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a:t>
                  </a:r>
                </a:p>
              </p:txBody>
            </p:sp>
            <p:sp>
              <p:nvSpPr>
                <p:cNvPr id="57373" name="Rectangle 43">
                  <a:extLst>
                    <a:ext uri="{FF2B5EF4-FFF2-40B4-BE49-F238E27FC236}">
                      <a16:creationId xmlns:a16="http://schemas.microsoft.com/office/drawing/2014/main" id="{C8A52E30-8413-D29F-5248-630B8D36FE68}"/>
                    </a:ext>
                  </a:extLst>
                </p:cNvPr>
                <p:cNvSpPr>
                  <a:spLocks noChangeArrowheads="1"/>
                </p:cNvSpPr>
                <p:nvPr/>
              </p:nvSpPr>
              <p:spPr bwMode="auto">
                <a:xfrm>
                  <a:off x="4177"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11</a:t>
                  </a:r>
                </a:p>
              </p:txBody>
            </p:sp>
            <p:sp>
              <p:nvSpPr>
                <p:cNvPr id="57374" name="Rectangle 44">
                  <a:extLst>
                    <a:ext uri="{FF2B5EF4-FFF2-40B4-BE49-F238E27FC236}">
                      <a16:creationId xmlns:a16="http://schemas.microsoft.com/office/drawing/2014/main" id="{D13A65B7-6722-227A-263B-331FA4C06277}"/>
                    </a:ext>
                  </a:extLst>
                </p:cNvPr>
                <p:cNvSpPr>
                  <a:spLocks noChangeArrowheads="1"/>
                </p:cNvSpPr>
                <p:nvPr/>
              </p:nvSpPr>
              <p:spPr bwMode="auto">
                <a:xfrm>
                  <a:off x="3590"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16</a:t>
                  </a:r>
                </a:p>
              </p:txBody>
            </p:sp>
            <p:sp>
              <p:nvSpPr>
                <p:cNvPr id="57375" name="Rectangle 45">
                  <a:extLst>
                    <a:ext uri="{FF2B5EF4-FFF2-40B4-BE49-F238E27FC236}">
                      <a16:creationId xmlns:a16="http://schemas.microsoft.com/office/drawing/2014/main" id="{64DB6663-9F23-D3B6-21AF-259C6262C916}"/>
                    </a:ext>
                  </a:extLst>
                </p:cNvPr>
                <p:cNvSpPr>
                  <a:spLocks noChangeArrowheads="1"/>
                </p:cNvSpPr>
                <p:nvPr/>
              </p:nvSpPr>
              <p:spPr bwMode="auto">
                <a:xfrm>
                  <a:off x="3002"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21</a:t>
                  </a:r>
                </a:p>
              </p:txBody>
            </p:sp>
            <p:sp>
              <p:nvSpPr>
                <p:cNvPr id="57376" name="Rectangle 46">
                  <a:extLst>
                    <a:ext uri="{FF2B5EF4-FFF2-40B4-BE49-F238E27FC236}">
                      <a16:creationId xmlns:a16="http://schemas.microsoft.com/office/drawing/2014/main" id="{BB94D150-D555-CD4A-54F8-BF14EF1233DC}"/>
                    </a:ext>
                  </a:extLst>
                </p:cNvPr>
                <p:cNvSpPr>
                  <a:spLocks noChangeArrowheads="1"/>
                </p:cNvSpPr>
                <p:nvPr/>
              </p:nvSpPr>
              <p:spPr bwMode="auto">
                <a:xfrm>
                  <a:off x="2414"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p>
              </p:txBody>
            </p:sp>
            <p:sp>
              <p:nvSpPr>
                <p:cNvPr id="57377" name="Rectangle 47">
                  <a:extLst>
                    <a:ext uri="{FF2B5EF4-FFF2-40B4-BE49-F238E27FC236}">
                      <a16:creationId xmlns:a16="http://schemas.microsoft.com/office/drawing/2014/main" id="{3643022A-AD50-DEF8-5C60-D167C7671594}"/>
                    </a:ext>
                  </a:extLst>
                </p:cNvPr>
                <p:cNvSpPr>
                  <a:spLocks noChangeArrowheads="1"/>
                </p:cNvSpPr>
                <p:nvPr/>
              </p:nvSpPr>
              <p:spPr bwMode="auto">
                <a:xfrm>
                  <a:off x="1918"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31</a:t>
                  </a:r>
                </a:p>
              </p:txBody>
            </p:sp>
          </p:grpSp>
          <p:sp>
            <p:nvSpPr>
              <p:cNvPr id="57378" name="Rectangle 48">
                <a:extLst>
                  <a:ext uri="{FF2B5EF4-FFF2-40B4-BE49-F238E27FC236}">
                    <a16:creationId xmlns:a16="http://schemas.microsoft.com/office/drawing/2014/main" id="{F07670DF-C829-8FEF-BBE6-4090D4F1C239}"/>
                  </a:ext>
                </a:extLst>
              </p:cNvPr>
              <p:cNvSpPr>
                <a:spLocks noChangeArrowheads="1"/>
              </p:cNvSpPr>
              <p:nvPr/>
            </p:nvSpPr>
            <p:spPr bwMode="auto">
              <a:xfrm>
                <a:off x="2143"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7379" name="Rectangle 49">
                <a:extLst>
                  <a:ext uri="{FF2B5EF4-FFF2-40B4-BE49-F238E27FC236}">
                    <a16:creationId xmlns:a16="http://schemas.microsoft.com/office/drawing/2014/main" id="{B65F62CB-E133-5C53-9046-737E9BC6915B}"/>
                  </a:ext>
                </a:extLst>
              </p:cNvPr>
              <p:cNvSpPr>
                <a:spLocks noChangeArrowheads="1"/>
              </p:cNvSpPr>
              <p:nvPr/>
            </p:nvSpPr>
            <p:spPr bwMode="auto">
              <a:xfrm>
                <a:off x="5126"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7380" name="Rectangle 50">
                <a:extLst>
                  <a:ext uri="{FF2B5EF4-FFF2-40B4-BE49-F238E27FC236}">
                    <a16:creationId xmlns:a16="http://schemas.microsoft.com/office/drawing/2014/main" id="{1D8F90F1-B8F2-8309-3A8E-93B0189F4FBE}"/>
                  </a:ext>
                </a:extLst>
              </p:cNvPr>
              <p:cNvSpPr>
                <a:spLocks noChangeArrowheads="1"/>
              </p:cNvSpPr>
              <p:nvPr/>
            </p:nvSpPr>
            <p:spPr bwMode="auto">
              <a:xfrm>
                <a:off x="4493"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sp>
            <p:nvSpPr>
              <p:cNvPr id="57381" name="Rectangle 51">
                <a:extLst>
                  <a:ext uri="{FF2B5EF4-FFF2-40B4-BE49-F238E27FC236}">
                    <a16:creationId xmlns:a16="http://schemas.microsoft.com/office/drawing/2014/main" id="{5A2DD749-174E-9CF7-60B0-614868593D1C}"/>
                  </a:ext>
                </a:extLst>
              </p:cNvPr>
              <p:cNvSpPr>
                <a:spLocks noChangeArrowheads="1"/>
              </p:cNvSpPr>
              <p:nvPr/>
            </p:nvSpPr>
            <p:spPr bwMode="auto">
              <a:xfrm>
                <a:off x="3906" y="1056"/>
                <a:ext cx="44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a:t>
                </a:r>
                <a:r>
                  <a:rPr lang="zh-CN" altLang="en-US" sz="1600" b="0">
                    <a:solidFill>
                      <a:schemeClr val="tx1"/>
                    </a:solidFill>
                    <a:latin typeface="Times New Roman" panose="02020603050405020304" pitchFamily="18" charset="0"/>
                  </a:rPr>
                  <a:t> </a:t>
                </a:r>
                <a:r>
                  <a:rPr lang="en-US" altLang="zh-CN" sz="1800">
                    <a:solidFill>
                      <a:schemeClr val="tx1"/>
                    </a:solidFill>
                    <a:latin typeface="Times New Roman" panose="02020603050405020304" pitchFamily="18" charset="0"/>
                  </a:rPr>
                  <a:t>bits</a:t>
                </a:r>
              </a:p>
            </p:txBody>
          </p:sp>
          <p:sp>
            <p:nvSpPr>
              <p:cNvPr id="57382" name="Rectangle 52">
                <a:extLst>
                  <a:ext uri="{FF2B5EF4-FFF2-40B4-BE49-F238E27FC236}">
                    <a16:creationId xmlns:a16="http://schemas.microsoft.com/office/drawing/2014/main" id="{FD1F1BE9-9D2B-0739-8463-E48CDA318F9B}"/>
                  </a:ext>
                </a:extLst>
              </p:cNvPr>
              <p:cNvSpPr>
                <a:spLocks noChangeArrowheads="1"/>
              </p:cNvSpPr>
              <p:nvPr/>
            </p:nvSpPr>
            <p:spPr bwMode="auto">
              <a:xfrm>
                <a:off x="3318"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sp>
            <p:nvSpPr>
              <p:cNvPr id="57383" name="Rectangle 53">
                <a:extLst>
                  <a:ext uri="{FF2B5EF4-FFF2-40B4-BE49-F238E27FC236}">
                    <a16:creationId xmlns:a16="http://schemas.microsoft.com/office/drawing/2014/main" id="{C7B53CE8-3A51-4932-08F9-A54A96F87D7F}"/>
                  </a:ext>
                </a:extLst>
              </p:cNvPr>
              <p:cNvSpPr>
                <a:spLocks noChangeArrowheads="1"/>
              </p:cNvSpPr>
              <p:nvPr/>
            </p:nvSpPr>
            <p:spPr bwMode="auto">
              <a:xfrm>
                <a:off x="2731"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grpSp>
        <p:sp>
          <p:nvSpPr>
            <p:cNvPr id="57384" name="Text Box 77">
              <a:extLst>
                <a:ext uri="{FF2B5EF4-FFF2-40B4-BE49-F238E27FC236}">
                  <a16:creationId xmlns:a16="http://schemas.microsoft.com/office/drawing/2014/main" id="{FF597E13-958F-B602-496C-B4A3A96DF5A0}"/>
                </a:ext>
              </a:extLst>
            </p:cNvPr>
            <p:cNvSpPr txBox="1">
              <a:spLocks noChangeArrowheads="1"/>
            </p:cNvSpPr>
            <p:nvPr/>
          </p:nvSpPr>
          <p:spPr bwMode="auto">
            <a:xfrm>
              <a:off x="4624" y="537"/>
              <a:ext cx="1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ea typeface="黑体" panose="02010609060101010101" pitchFamily="49" charset="-122"/>
                </a:rPr>
                <a:t>R-Type</a:t>
              </a:r>
              <a:r>
                <a:rPr lang="zh-CN" altLang="en-US" sz="1800">
                  <a:ea typeface="黑体" panose="02010609060101010101" pitchFamily="49" charset="-122"/>
                </a:rPr>
                <a:t>指令</a:t>
              </a:r>
            </a:p>
          </p:txBody>
        </p:sp>
      </p:grpSp>
      <p:grpSp>
        <p:nvGrpSpPr>
          <p:cNvPr id="13" name="Group 81">
            <a:extLst>
              <a:ext uri="{FF2B5EF4-FFF2-40B4-BE49-F238E27FC236}">
                <a16:creationId xmlns:a16="http://schemas.microsoft.com/office/drawing/2014/main" id="{92F62B37-B6AD-CB68-4B33-A2FC773F0EF3}"/>
              </a:ext>
            </a:extLst>
          </p:cNvPr>
          <p:cNvGrpSpPr>
            <a:grpSpLocks/>
          </p:cNvGrpSpPr>
          <p:nvPr/>
        </p:nvGrpSpPr>
        <p:grpSpPr bwMode="auto">
          <a:xfrm>
            <a:off x="3013075" y="3965575"/>
            <a:ext cx="6383338" cy="1162050"/>
            <a:chOff x="1889" y="2598"/>
            <a:chExt cx="4021" cy="732"/>
          </a:xfrm>
        </p:grpSpPr>
        <p:grpSp>
          <p:nvGrpSpPr>
            <p:cNvPr id="57386" name="Group 54">
              <a:extLst>
                <a:ext uri="{FF2B5EF4-FFF2-40B4-BE49-F238E27FC236}">
                  <a16:creationId xmlns:a16="http://schemas.microsoft.com/office/drawing/2014/main" id="{CBED1AD8-1EA9-FF60-5B26-3CD6EE60AE7E}"/>
                </a:ext>
              </a:extLst>
            </p:cNvPr>
            <p:cNvGrpSpPr>
              <a:grpSpLocks/>
            </p:cNvGrpSpPr>
            <p:nvPr/>
          </p:nvGrpSpPr>
          <p:grpSpPr bwMode="auto">
            <a:xfrm>
              <a:off x="1889" y="2717"/>
              <a:ext cx="3756" cy="613"/>
              <a:chOff x="1918" y="1392"/>
              <a:chExt cx="3756" cy="613"/>
            </a:xfrm>
          </p:grpSpPr>
          <p:sp>
            <p:nvSpPr>
              <p:cNvPr id="57387" name="Rectangle 55">
                <a:extLst>
                  <a:ext uri="{FF2B5EF4-FFF2-40B4-BE49-F238E27FC236}">
                    <a16:creationId xmlns:a16="http://schemas.microsoft.com/office/drawing/2014/main" id="{A0F2DB92-1F53-EEF2-3EE0-AA37D7033B1B}"/>
                  </a:ext>
                </a:extLst>
              </p:cNvPr>
              <p:cNvSpPr>
                <a:spLocks noChangeArrowheads="1"/>
              </p:cNvSpPr>
              <p:nvPr/>
            </p:nvSpPr>
            <p:spPr bwMode="auto">
              <a:xfrm>
                <a:off x="1983" y="1592"/>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grpSp>
            <p:nvGrpSpPr>
              <p:cNvPr id="57388" name="Group 56">
                <a:extLst>
                  <a:ext uri="{FF2B5EF4-FFF2-40B4-BE49-F238E27FC236}">
                    <a16:creationId xmlns:a16="http://schemas.microsoft.com/office/drawing/2014/main" id="{18303B1E-A488-0644-84AC-D4A7AC105314}"/>
                  </a:ext>
                </a:extLst>
              </p:cNvPr>
              <p:cNvGrpSpPr>
                <a:grpSpLocks/>
              </p:cNvGrpSpPr>
              <p:nvPr/>
            </p:nvGrpSpPr>
            <p:grpSpPr bwMode="auto">
              <a:xfrm>
                <a:off x="1979" y="1556"/>
                <a:ext cx="624" cy="229"/>
                <a:chOff x="1979" y="1556"/>
                <a:chExt cx="624" cy="229"/>
              </a:xfrm>
            </p:grpSpPr>
            <p:sp>
              <p:nvSpPr>
                <p:cNvPr id="57389" name="Rectangle 57">
                  <a:extLst>
                    <a:ext uri="{FF2B5EF4-FFF2-40B4-BE49-F238E27FC236}">
                      <a16:creationId xmlns:a16="http://schemas.microsoft.com/office/drawing/2014/main" id="{8F67A960-9B6A-713D-0A37-95BA5175F851}"/>
                    </a:ext>
                  </a:extLst>
                </p:cNvPr>
                <p:cNvSpPr>
                  <a:spLocks noChangeArrowheads="1"/>
                </p:cNvSpPr>
                <p:nvPr/>
              </p:nvSpPr>
              <p:spPr bwMode="auto">
                <a:xfrm>
                  <a:off x="1979" y="1588"/>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90" name="Rectangle 58">
                  <a:extLst>
                    <a:ext uri="{FF2B5EF4-FFF2-40B4-BE49-F238E27FC236}">
                      <a16:creationId xmlns:a16="http://schemas.microsoft.com/office/drawing/2014/main" id="{6F240261-1980-190D-913F-D240BB537AEA}"/>
                    </a:ext>
                  </a:extLst>
                </p:cNvPr>
                <p:cNvSpPr>
                  <a:spLocks noChangeArrowheads="1"/>
                </p:cNvSpPr>
                <p:nvPr/>
              </p:nvSpPr>
              <p:spPr bwMode="auto">
                <a:xfrm>
                  <a:off x="2161" y="1556"/>
                  <a:ext cx="26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op</a:t>
                  </a:r>
                </a:p>
              </p:txBody>
            </p:sp>
          </p:grpSp>
          <p:grpSp>
            <p:nvGrpSpPr>
              <p:cNvPr id="57391" name="Group 59">
                <a:extLst>
                  <a:ext uri="{FF2B5EF4-FFF2-40B4-BE49-F238E27FC236}">
                    <a16:creationId xmlns:a16="http://schemas.microsoft.com/office/drawing/2014/main" id="{4655F6AC-2688-9379-9719-94E8CFB52F72}"/>
                  </a:ext>
                </a:extLst>
              </p:cNvPr>
              <p:cNvGrpSpPr>
                <a:grpSpLocks/>
              </p:cNvGrpSpPr>
              <p:nvPr/>
            </p:nvGrpSpPr>
            <p:grpSpPr bwMode="auto">
              <a:xfrm>
                <a:off x="2611" y="1565"/>
                <a:ext cx="580" cy="229"/>
                <a:chOff x="2611" y="1565"/>
                <a:chExt cx="580" cy="229"/>
              </a:xfrm>
            </p:grpSpPr>
            <p:sp>
              <p:nvSpPr>
                <p:cNvPr id="57392" name="Rectangle 60">
                  <a:extLst>
                    <a:ext uri="{FF2B5EF4-FFF2-40B4-BE49-F238E27FC236}">
                      <a16:creationId xmlns:a16="http://schemas.microsoft.com/office/drawing/2014/main" id="{9E6C5FDB-F19D-51F7-4749-AB2A315AEBB1}"/>
                    </a:ext>
                  </a:extLst>
                </p:cNvPr>
                <p:cNvSpPr>
                  <a:spLocks noChangeArrowheads="1"/>
                </p:cNvSpPr>
                <p:nvPr/>
              </p:nvSpPr>
              <p:spPr bwMode="auto">
                <a:xfrm>
                  <a:off x="2611" y="158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93" name="Rectangle 61">
                  <a:extLst>
                    <a:ext uri="{FF2B5EF4-FFF2-40B4-BE49-F238E27FC236}">
                      <a16:creationId xmlns:a16="http://schemas.microsoft.com/office/drawing/2014/main" id="{007C039A-587A-FA0D-78EA-A49E18077C51}"/>
                    </a:ext>
                  </a:extLst>
                </p:cNvPr>
                <p:cNvSpPr>
                  <a:spLocks noChangeArrowheads="1"/>
                </p:cNvSpPr>
                <p:nvPr/>
              </p:nvSpPr>
              <p:spPr bwMode="auto">
                <a:xfrm>
                  <a:off x="2776" y="1565"/>
                  <a:ext cx="23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rs</a:t>
                  </a:r>
                </a:p>
              </p:txBody>
            </p:sp>
          </p:grpSp>
          <p:grpSp>
            <p:nvGrpSpPr>
              <p:cNvPr id="57394" name="Group 62">
                <a:extLst>
                  <a:ext uri="{FF2B5EF4-FFF2-40B4-BE49-F238E27FC236}">
                    <a16:creationId xmlns:a16="http://schemas.microsoft.com/office/drawing/2014/main" id="{08F90481-2F89-3A1F-B40A-615082A40975}"/>
                  </a:ext>
                </a:extLst>
              </p:cNvPr>
              <p:cNvGrpSpPr>
                <a:grpSpLocks/>
              </p:cNvGrpSpPr>
              <p:nvPr/>
            </p:nvGrpSpPr>
            <p:grpSpPr bwMode="auto">
              <a:xfrm>
                <a:off x="3199" y="1565"/>
                <a:ext cx="579" cy="229"/>
                <a:chOff x="3199" y="1565"/>
                <a:chExt cx="579" cy="229"/>
              </a:xfrm>
            </p:grpSpPr>
            <p:sp>
              <p:nvSpPr>
                <p:cNvPr id="57395" name="Rectangle 63">
                  <a:extLst>
                    <a:ext uri="{FF2B5EF4-FFF2-40B4-BE49-F238E27FC236}">
                      <a16:creationId xmlns:a16="http://schemas.microsoft.com/office/drawing/2014/main" id="{EF5A8491-668F-C488-9137-FA89412342EE}"/>
                    </a:ext>
                  </a:extLst>
                </p:cNvPr>
                <p:cNvSpPr>
                  <a:spLocks noChangeArrowheads="1"/>
                </p:cNvSpPr>
                <p:nvPr/>
              </p:nvSpPr>
              <p:spPr bwMode="auto">
                <a:xfrm>
                  <a:off x="3199" y="158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96" name="Rectangle 64">
                  <a:extLst>
                    <a:ext uri="{FF2B5EF4-FFF2-40B4-BE49-F238E27FC236}">
                      <a16:creationId xmlns:a16="http://schemas.microsoft.com/office/drawing/2014/main" id="{090B6BC2-0B76-D38F-7943-FA6674698246}"/>
                    </a:ext>
                  </a:extLst>
                </p:cNvPr>
                <p:cNvSpPr>
                  <a:spLocks noChangeArrowheads="1"/>
                </p:cNvSpPr>
                <p:nvPr/>
              </p:nvSpPr>
              <p:spPr bwMode="auto">
                <a:xfrm>
                  <a:off x="3363" y="1565"/>
                  <a:ext cx="22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rt</a:t>
                  </a:r>
                </a:p>
              </p:txBody>
            </p:sp>
          </p:grpSp>
          <p:sp>
            <p:nvSpPr>
              <p:cNvPr id="57397" name="Rectangle 65">
                <a:extLst>
                  <a:ext uri="{FF2B5EF4-FFF2-40B4-BE49-F238E27FC236}">
                    <a16:creationId xmlns:a16="http://schemas.microsoft.com/office/drawing/2014/main" id="{25909265-A20D-F029-19CD-FDB5EEA87580}"/>
                  </a:ext>
                </a:extLst>
              </p:cNvPr>
              <p:cNvSpPr>
                <a:spLocks noChangeArrowheads="1"/>
              </p:cNvSpPr>
              <p:nvPr/>
            </p:nvSpPr>
            <p:spPr bwMode="auto">
              <a:xfrm>
                <a:off x="3786" y="1588"/>
                <a:ext cx="180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398" name="Rectangle 66">
                <a:extLst>
                  <a:ext uri="{FF2B5EF4-FFF2-40B4-BE49-F238E27FC236}">
                    <a16:creationId xmlns:a16="http://schemas.microsoft.com/office/drawing/2014/main" id="{D4653DF5-5A29-B3F9-0021-F3E4E13F9EC9}"/>
                  </a:ext>
                </a:extLst>
              </p:cNvPr>
              <p:cNvSpPr>
                <a:spLocks noChangeArrowheads="1"/>
              </p:cNvSpPr>
              <p:nvPr/>
            </p:nvSpPr>
            <p:spPr bwMode="auto">
              <a:xfrm>
                <a:off x="4289" y="1556"/>
                <a:ext cx="76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immediate</a:t>
                </a:r>
              </a:p>
            </p:txBody>
          </p:sp>
          <p:sp>
            <p:nvSpPr>
              <p:cNvPr id="57399" name="Rectangle 67">
                <a:extLst>
                  <a:ext uri="{FF2B5EF4-FFF2-40B4-BE49-F238E27FC236}">
                    <a16:creationId xmlns:a16="http://schemas.microsoft.com/office/drawing/2014/main" id="{995A2441-E3F8-A727-3E43-1511955BA091}"/>
                  </a:ext>
                </a:extLst>
              </p:cNvPr>
              <p:cNvSpPr>
                <a:spLocks noChangeArrowheads="1"/>
              </p:cNvSpPr>
              <p:nvPr/>
            </p:nvSpPr>
            <p:spPr bwMode="auto">
              <a:xfrm>
                <a:off x="5488" y="1392"/>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0</a:t>
                </a:r>
              </a:p>
            </p:txBody>
          </p:sp>
          <p:sp>
            <p:nvSpPr>
              <p:cNvPr id="57400" name="Rectangle 68">
                <a:extLst>
                  <a:ext uri="{FF2B5EF4-FFF2-40B4-BE49-F238E27FC236}">
                    <a16:creationId xmlns:a16="http://schemas.microsoft.com/office/drawing/2014/main" id="{97B4D6EF-E749-632A-A9DC-70E11AC5B5D4}"/>
                  </a:ext>
                </a:extLst>
              </p:cNvPr>
              <p:cNvSpPr>
                <a:spLocks noChangeArrowheads="1"/>
              </p:cNvSpPr>
              <p:nvPr/>
            </p:nvSpPr>
            <p:spPr bwMode="auto">
              <a:xfrm>
                <a:off x="3590"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16</a:t>
                </a:r>
              </a:p>
            </p:txBody>
          </p:sp>
          <p:sp>
            <p:nvSpPr>
              <p:cNvPr id="57401" name="Rectangle 69">
                <a:extLst>
                  <a:ext uri="{FF2B5EF4-FFF2-40B4-BE49-F238E27FC236}">
                    <a16:creationId xmlns:a16="http://schemas.microsoft.com/office/drawing/2014/main" id="{17513A8E-0CBE-602C-BD5B-DFAAF916C61E}"/>
                  </a:ext>
                </a:extLst>
              </p:cNvPr>
              <p:cNvSpPr>
                <a:spLocks noChangeArrowheads="1"/>
              </p:cNvSpPr>
              <p:nvPr/>
            </p:nvSpPr>
            <p:spPr bwMode="auto">
              <a:xfrm>
                <a:off x="3002"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21</a:t>
                </a:r>
              </a:p>
            </p:txBody>
          </p:sp>
          <p:sp>
            <p:nvSpPr>
              <p:cNvPr id="57402" name="Rectangle 70">
                <a:extLst>
                  <a:ext uri="{FF2B5EF4-FFF2-40B4-BE49-F238E27FC236}">
                    <a16:creationId xmlns:a16="http://schemas.microsoft.com/office/drawing/2014/main" id="{E92341D4-C592-485C-66CF-01F5F5658E15}"/>
                  </a:ext>
                </a:extLst>
              </p:cNvPr>
              <p:cNvSpPr>
                <a:spLocks noChangeArrowheads="1"/>
              </p:cNvSpPr>
              <p:nvPr/>
            </p:nvSpPr>
            <p:spPr bwMode="auto">
              <a:xfrm>
                <a:off x="2414"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p>
            </p:txBody>
          </p:sp>
          <p:sp>
            <p:nvSpPr>
              <p:cNvPr id="57403" name="Rectangle 71">
                <a:extLst>
                  <a:ext uri="{FF2B5EF4-FFF2-40B4-BE49-F238E27FC236}">
                    <a16:creationId xmlns:a16="http://schemas.microsoft.com/office/drawing/2014/main" id="{32CF52C8-153C-8364-574B-B40C073BB4E5}"/>
                  </a:ext>
                </a:extLst>
              </p:cNvPr>
              <p:cNvSpPr>
                <a:spLocks noChangeArrowheads="1"/>
              </p:cNvSpPr>
              <p:nvPr/>
            </p:nvSpPr>
            <p:spPr bwMode="auto">
              <a:xfrm>
                <a:off x="1918"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31</a:t>
                </a:r>
              </a:p>
            </p:txBody>
          </p:sp>
          <p:sp>
            <p:nvSpPr>
              <p:cNvPr id="57404" name="Rectangle 72">
                <a:extLst>
                  <a:ext uri="{FF2B5EF4-FFF2-40B4-BE49-F238E27FC236}">
                    <a16:creationId xmlns:a16="http://schemas.microsoft.com/office/drawing/2014/main" id="{FE96C410-9F41-D936-BBEC-EBB57D0ADEAE}"/>
                  </a:ext>
                </a:extLst>
              </p:cNvPr>
              <p:cNvSpPr>
                <a:spLocks noChangeArrowheads="1"/>
              </p:cNvSpPr>
              <p:nvPr/>
            </p:nvSpPr>
            <p:spPr bwMode="auto">
              <a:xfrm>
                <a:off x="2143" y="177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7405" name="Rectangle 73">
                <a:extLst>
                  <a:ext uri="{FF2B5EF4-FFF2-40B4-BE49-F238E27FC236}">
                    <a16:creationId xmlns:a16="http://schemas.microsoft.com/office/drawing/2014/main" id="{E87E5E0F-92DD-DA14-3E53-33F6D751350D}"/>
                  </a:ext>
                </a:extLst>
              </p:cNvPr>
              <p:cNvSpPr>
                <a:spLocks noChangeArrowheads="1"/>
              </p:cNvSpPr>
              <p:nvPr/>
            </p:nvSpPr>
            <p:spPr bwMode="auto">
              <a:xfrm>
                <a:off x="4448" y="1776"/>
                <a:ext cx="5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16 </a:t>
                </a:r>
                <a:r>
                  <a:rPr lang="en-US" altLang="zh-CN" sz="1800">
                    <a:solidFill>
                      <a:schemeClr val="tx1"/>
                    </a:solidFill>
                    <a:latin typeface="Times New Roman" panose="02020603050405020304" pitchFamily="18" charset="0"/>
                  </a:rPr>
                  <a:t>bits</a:t>
                </a:r>
              </a:p>
            </p:txBody>
          </p:sp>
          <p:sp>
            <p:nvSpPr>
              <p:cNvPr id="57406" name="Rectangle 74">
                <a:extLst>
                  <a:ext uri="{FF2B5EF4-FFF2-40B4-BE49-F238E27FC236}">
                    <a16:creationId xmlns:a16="http://schemas.microsoft.com/office/drawing/2014/main" id="{F30AF816-A22B-0807-66C7-7F1766906A48}"/>
                  </a:ext>
                </a:extLst>
              </p:cNvPr>
              <p:cNvSpPr>
                <a:spLocks noChangeArrowheads="1"/>
              </p:cNvSpPr>
              <p:nvPr/>
            </p:nvSpPr>
            <p:spPr bwMode="auto">
              <a:xfrm>
                <a:off x="3318" y="177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sp>
            <p:nvSpPr>
              <p:cNvPr id="57407" name="Rectangle 75">
                <a:extLst>
                  <a:ext uri="{FF2B5EF4-FFF2-40B4-BE49-F238E27FC236}">
                    <a16:creationId xmlns:a16="http://schemas.microsoft.com/office/drawing/2014/main" id="{8E9DA911-5ED5-FF1E-E982-D8F51F51DAB7}"/>
                  </a:ext>
                </a:extLst>
              </p:cNvPr>
              <p:cNvSpPr>
                <a:spLocks noChangeArrowheads="1"/>
              </p:cNvSpPr>
              <p:nvPr/>
            </p:nvSpPr>
            <p:spPr bwMode="auto">
              <a:xfrm>
                <a:off x="2731" y="177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grpSp>
        <p:sp>
          <p:nvSpPr>
            <p:cNvPr id="57408" name="Text Box 78">
              <a:extLst>
                <a:ext uri="{FF2B5EF4-FFF2-40B4-BE49-F238E27FC236}">
                  <a16:creationId xmlns:a16="http://schemas.microsoft.com/office/drawing/2014/main" id="{5E3784A4-3FFD-AD02-B233-0708DF74C9EB}"/>
                </a:ext>
              </a:extLst>
            </p:cNvPr>
            <p:cNvSpPr txBox="1">
              <a:spLocks noChangeArrowheads="1"/>
            </p:cNvSpPr>
            <p:nvPr/>
          </p:nvSpPr>
          <p:spPr bwMode="auto">
            <a:xfrm>
              <a:off x="4667" y="2598"/>
              <a:ext cx="1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ea typeface="黑体" panose="02010609060101010101" pitchFamily="49" charset="-122"/>
                </a:rPr>
                <a:t>I-Type</a:t>
              </a:r>
              <a:r>
                <a:rPr lang="zh-CN" altLang="en-US" sz="1800">
                  <a:ea typeface="黑体" panose="02010609060101010101" pitchFamily="49" charset="-122"/>
                </a:rPr>
                <a:t>指令</a:t>
              </a:r>
            </a:p>
          </p:txBody>
        </p:sp>
      </p:grpSp>
      <p:grpSp>
        <p:nvGrpSpPr>
          <p:cNvPr id="18" name="Group 82">
            <a:extLst>
              <a:ext uri="{FF2B5EF4-FFF2-40B4-BE49-F238E27FC236}">
                <a16:creationId xmlns:a16="http://schemas.microsoft.com/office/drawing/2014/main" id="{CDE1951F-935A-EC16-505D-25AFE97626D7}"/>
              </a:ext>
            </a:extLst>
          </p:cNvPr>
          <p:cNvGrpSpPr>
            <a:grpSpLocks/>
          </p:cNvGrpSpPr>
          <p:nvPr/>
        </p:nvGrpSpPr>
        <p:grpSpPr bwMode="auto">
          <a:xfrm>
            <a:off x="3008313" y="5541963"/>
            <a:ext cx="6281737" cy="1131887"/>
            <a:chOff x="1886" y="3489"/>
            <a:chExt cx="3957" cy="713"/>
          </a:xfrm>
        </p:grpSpPr>
        <p:grpSp>
          <p:nvGrpSpPr>
            <p:cNvPr id="57410" name="Group 6">
              <a:extLst>
                <a:ext uri="{FF2B5EF4-FFF2-40B4-BE49-F238E27FC236}">
                  <a16:creationId xmlns:a16="http://schemas.microsoft.com/office/drawing/2014/main" id="{2E94207E-673C-DB7B-929C-BFC6DAD4EE40}"/>
                </a:ext>
              </a:extLst>
            </p:cNvPr>
            <p:cNvGrpSpPr>
              <a:grpSpLocks/>
            </p:cNvGrpSpPr>
            <p:nvPr/>
          </p:nvGrpSpPr>
          <p:grpSpPr bwMode="auto">
            <a:xfrm>
              <a:off x="1886" y="3589"/>
              <a:ext cx="3756" cy="613"/>
              <a:chOff x="1918" y="3360"/>
              <a:chExt cx="3756" cy="613"/>
            </a:xfrm>
          </p:grpSpPr>
          <p:sp>
            <p:nvSpPr>
              <p:cNvPr id="57411" name="Rectangle 7">
                <a:extLst>
                  <a:ext uri="{FF2B5EF4-FFF2-40B4-BE49-F238E27FC236}">
                    <a16:creationId xmlns:a16="http://schemas.microsoft.com/office/drawing/2014/main" id="{408EABF8-E96C-6880-953A-E0EC83B2FB89}"/>
                  </a:ext>
                </a:extLst>
              </p:cNvPr>
              <p:cNvSpPr>
                <a:spLocks noChangeArrowheads="1"/>
              </p:cNvSpPr>
              <p:nvPr/>
            </p:nvSpPr>
            <p:spPr bwMode="auto">
              <a:xfrm>
                <a:off x="1983" y="3560"/>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grpSp>
            <p:nvGrpSpPr>
              <p:cNvPr id="57412" name="Group 8">
                <a:extLst>
                  <a:ext uri="{FF2B5EF4-FFF2-40B4-BE49-F238E27FC236}">
                    <a16:creationId xmlns:a16="http://schemas.microsoft.com/office/drawing/2014/main" id="{0891B266-46A8-E64E-7058-7C502C2C0FD2}"/>
                  </a:ext>
                </a:extLst>
              </p:cNvPr>
              <p:cNvGrpSpPr>
                <a:grpSpLocks/>
              </p:cNvGrpSpPr>
              <p:nvPr/>
            </p:nvGrpSpPr>
            <p:grpSpPr bwMode="auto">
              <a:xfrm>
                <a:off x="1979" y="3524"/>
                <a:ext cx="624" cy="229"/>
                <a:chOff x="1979" y="3524"/>
                <a:chExt cx="624" cy="229"/>
              </a:xfrm>
            </p:grpSpPr>
            <p:sp>
              <p:nvSpPr>
                <p:cNvPr id="57413" name="Rectangle 9">
                  <a:extLst>
                    <a:ext uri="{FF2B5EF4-FFF2-40B4-BE49-F238E27FC236}">
                      <a16:creationId xmlns:a16="http://schemas.microsoft.com/office/drawing/2014/main" id="{B7F5FF4A-A8D6-6E26-1A47-7895B6D73916}"/>
                    </a:ext>
                  </a:extLst>
                </p:cNvPr>
                <p:cNvSpPr>
                  <a:spLocks noChangeArrowheads="1"/>
                </p:cNvSpPr>
                <p:nvPr/>
              </p:nvSpPr>
              <p:spPr bwMode="auto">
                <a:xfrm>
                  <a:off x="1979" y="3556"/>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414" name="Rectangle 10">
                  <a:extLst>
                    <a:ext uri="{FF2B5EF4-FFF2-40B4-BE49-F238E27FC236}">
                      <a16:creationId xmlns:a16="http://schemas.microsoft.com/office/drawing/2014/main" id="{7D5107EB-6903-3CF4-535C-3F82D951824C}"/>
                    </a:ext>
                  </a:extLst>
                </p:cNvPr>
                <p:cNvSpPr>
                  <a:spLocks noChangeArrowheads="1"/>
                </p:cNvSpPr>
                <p:nvPr/>
              </p:nvSpPr>
              <p:spPr bwMode="auto">
                <a:xfrm>
                  <a:off x="2161" y="3524"/>
                  <a:ext cx="26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op</a:t>
                  </a:r>
                </a:p>
              </p:txBody>
            </p:sp>
          </p:grpSp>
          <p:sp>
            <p:nvSpPr>
              <p:cNvPr id="57415" name="Rectangle 11">
                <a:extLst>
                  <a:ext uri="{FF2B5EF4-FFF2-40B4-BE49-F238E27FC236}">
                    <a16:creationId xmlns:a16="http://schemas.microsoft.com/office/drawing/2014/main" id="{C20D9E01-437E-AEEF-A538-43A7AB9D1B22}"/>
                  </a:ext>
                </a:extLst>
              </p:cNvPr>
              <p:cNvSpPr>
                <a:spLocks noChangeArrowheads="1"/>
              </p:cNvSpPr>
              <p:nvPr/>
            </p:nvSpPr>
            <p:spPr bwMode="auto">
              <a:xfrm>
                <a:off x="2611" y="3556"/>
                <a:ext cx="297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7416" name="Rectangle 12">
                <a:extLst>
                  <a:ext uri="{FF2B5EF4-FFF2-40B4-BE49-F238E27FC236}">
                    <a16:creationId xmlns:a16="http://schemas.microsoft.com/office/drawing/2014/main" id="{088E119F-5DAD-F406-4103-6C57D0A98F1C}"/>
                  </a:ext>
                </a:extLst>
              </p:cNvPr>
              <p:cNvSpPr>
                <a:spLocks noChangeArrowheads="1"/>
              </p:cNvSpPr>
              <p:nvPr/>
            </p:nvSpPr>
            <p:spPr bwMode="auto">
              <a:xfrm>
                <a:off x="3554" y="3533"/>
                <a:ext cx="99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target address</a:t>
                </a:r>
              </a:p>
            </p:txBody>
          </p:sp>
          <p:sp>
            <p:nvSpPr>
              <p:cNvPr id="57417" name="Rectangle 13">
                <a:extLst>
                  <a:ext uri="{FF2B5EF4-FFF2-40B4-BE49-F238E27FC236}">
                    <a16:creationId xmlns:a16="http://schemas.microsoft.com/office/drawing/2014/main" id="{5DBCC766-7EEC-2C41-B255-03AFE55F4951}"/>
                  </a:ext>
                </a:extLst>
              </p:cNvPr>
              <p:cNvSpPr>
                <a:spLocks noChangeArrowheads="1"/>
              </p:cNvSpPr>
              <p:nvPr/>
            </p:nvSpPr>
            <p:spPr bwMode="auto">
              <a:xfrm>
                <a:off x="5488" y="3360"/>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0</a:t>
                </a:r>
              </a:p>
            </p:txBody>
          </p:sp>
          <p:sp>
            <p:nvSpPr>
              <p:cNvPr id="57418" name="Rectangle 14">
                <a:extLst>
                  <a:ext uri="{FF2B5EF4-FFF2-40B4-BE49-F238E27FC236}">
                    <a16:creationId xmlns:a16="http://schemas.microsoft.com/office/drawing/2014/main" id="{43BA0C58-E412-CC95-5F14-2C1F9DDCA694}"/>
                  </a:ext>
                </a:extLst>
              </p:cNvPr>
              <p:cNvSpPr>
                <a:spLocks noChangeArrowheads="1"/>
              </p:cNvSpPr>
              <p:nvPr/>
            </p:nvSpPr>
            <p:spPr bwMode="auto">
              <a:xfrm>
                <a:off x="2414" y="3360"/>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p>
            </p:txBody>
          </p:sp>
          <p:sp>
            <p:nvSpPr>
              <p:cNvPr id="57419" name="Rectangle 15">
                <a:extLst>
                  <a:ext uri="{FF2B5EF4-FFF2-40B4-BE49-F238E27FC236}">
                    <a16:creationId xmlns:a16="http://schemas.microsoft.com/office/drawing/2014/main" id="{D0D51342-2C90-226A-658D-7A2F8E9B818C}"/>
                  </a:ext>
                </a:extLst>
              </p:cNvPr>
              <p:cNvSpPr>
                <a:spLocks noChangeArrowheads="1"/>
              </p:cNvSpPr>
              <p:nvPr/>
            </p:nvSpPr>
            <p:spPr bwMode="auto">
              <a:xfrm>
                <a:off x="1918" y="3360"/>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31</a:t>
                </a:r>
              </a:p>
            </p:txBody>
          </p:sp>
          <p:sp>
            <p:nvSpPr>
              <p:cNvPr id="57420" name="Rectangle 16">
                <a:extLst>
                  <a:ext uri="{FF2B5EF4-FFF2-40B4-BE49-F238E27FC236}">
                    <a16:creationId xmlns:a16="http://schemas.microsoft.com/office/drawing/2014/main" id="{92D380E8-3FE7-B86B-6577-E88AF5AD9FAF}"/>
                  </a:ext>
                </a:extLst>
              </p:cNvPr>
              <p:cNvSpPr>
                <a:spLocks noChangeArrowheads="1"/>
              </p:cNvSpPr>
              <p:nvPr/>
            </p:nvSpPr>
            <p:spPr bwMode="auto">
              <a:xfrm>
                <a:off x="2143" y="3744"/>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7421" name="Rectangle 17">
                <a:extLst>
                  <a:ext uri="{FF2B5EF4-FFF2-40B4-BE49-F238E27FC236}">
                    <a16:creationId xmlns:a16="http://schemas.microsoft.com/office/drawing/2014/main" id="{C5DE4482-1094-E5B8-B0A5-7494C9EF661E}"/>
                  </a:ext>
                </a:extLst>
              </p:cNvPr>
              <p:cNvSpPr>
                <a:spLocks noChangeArrowheads="1"/>
              </p:cNvSpPr>
              <p:nvPr/>
            </p:nvSpPr>
            <p:spPr bwMode="auto">
              <a:xfrm>
                <a:off x="3816" y="3744"/>
                <a:ext cx="5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r>
                  <a:rPr lang="zh-CN" altLang="en-US" sz="1600" b="0">
                    <a:solidFill>
                      <a:schemeClr val="tx1"/>
                    </a:solidFill>
                    <a:latin typeface="Times New Roman" panose="02020603050405020304" pitchFamily="18" charset="0"/>
                  </a:rPr>
                  <a:t> </a:t>
                </a:r>
                <a:r>
                  <a:rPr lang="en-US" altLang="zh-CN" sz="1800">
                    <a:solidFill>
                      <a:schemeClr val="tx1"/>
                    </a:solidFill>
                    <a:latin typeface="Times New Roman" panose="02020603050405020304" pitchFamily="18" charset="0"/>
                  </a:rPr>
                  <a:t>bits</a:t>
                </a:r>
              </a:p>
            </p:txBody>
          </p:sp>
        </p:grpSp>
        <p:sp>
          <p:nvSpPr>
            <p:cNvPr id="57422" name="Text Box 79">
              <a:extLst>
                <a:ext uri="{FF2B5EF4-FFF2-40B4-BE49-F238E27FC236}">
                  <a16:creationId xmlns:a16="http://schemas.microsoft.com/office/drawing/2014/main" id="{BCB85472-9F4F-4DBF-BD59-11D804F2E158}"/>
                </a:ext>
              </a:extLst>
            </p:cNvPr>
            <p:cNvSpPr txBox="1">
              <a:spLocks noChangeArrowheads="1"/>
            </p:cNvSpPr>
            <p:nvPr/>
          </p:nvSpPr>
          <p:spPr bwMode="auto">
            <a:xfrm>
              <a:off x="4600" y="3489"/>
              <a:ext cx="1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ea typeface="黑体" panose="02010609060101010101" pitchFamily="49" charset="-122"/>
                </a:rPr>
                <a:t>J-Type</a:t>
              </a:r>
              <a:r>
                <a:rPr lang="zh-CN" altLang="en-US" sz="1800">
                  <a:ea typeface="黑体" panose="02010609060101010101" pitchFamily="49" charset="-122"/>
                </a:rPr>
                <a:t>指令</a:t>
              </a:r>
            </a:p>
          </p:txBody>
        </p:sp>
      </p:grpSp>
      <p:sp>
        <p:nvSpPr>
          <p:cNvPr id="57423" name="Rectangle 83">
            <a:extLst>
              <a:ext uri="{FF2B5EF4-FFF2-40B4-BE49-F238E27FC236}">
                <a16:creationId xmlns:a16="http://schemas.microsoft.com/office/drawing/2014/main" id="{F94F7E4E-6353-4E93-DECD-BD4F820FC142}"/>
              </a:ext>
            </a:extLst>
          </p:cNvPr>
          <p:cNvSpPr>
            <a:spLocks noChangeArrowheads="1"/>
          </p:cNvSpPr>
          <p:nvPr/>
        </p:nvSpPr>
        <p:spPr bwMode="auto">
          <a:xfrm>
            <a:off x="209550" y="598488"/>
            <a:ext cx="7991475"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90000"/>
              </a:lnSpc>
              <a:spcBef>
                <a:spcPct val="30000"/>
              </a:spcBef>
              <a:buSzPct val="75000"/>
              <a:buFont typeface="Wingdings" panose="05000000000000000000" pitchFamily="2" charset="2"/>
              <a:buChar char="u"/>
            </a:pPr>
            <a:r>
              <a:rPr lang="en-US" altLang="zh-CN" sz="2000">
                <a:solidFill>
                  <a:schemeClr val="tx1"/>
                </a:solidFill>
                <a:ea typeface="黑体" panose="02010609060101010101" pitchFamily="49" charset="-122"/>
              </a:rPr>
              <a:t>32</a:t>
            </a:r>
            <a:r>
              <a:rPr lang="zh-CN" altLang="en-US" sz="2000">
                <a:solidFill>
                  <a:schemeClr val="tx1"/>
                </a:solidFill>
                <a:ea typeface="黑体" panose="02010609060101010101" pitchFamily="49" charset="-122"/>
              </a:rPr>
              <a:t>个通用寄存器，所有指令都是</a:t>
            </a:r>
            <a:r>
              <a:rPr lang="en-US" altLang="zh-CN" sz="2000">
                <a:solidFill>
                  <a:schemeClr val="tx1"/>
                </a:solidFill>
                <a:ea typeface="黑体" panose="02010609060101010101" pitchFamily="49" charset="-122"/>
              </a:rPr>
              <a:t>32</a:t>
            </a:r>
            <a:r>
              <a:rPr lang="zh-CN" altLang="en-US" sz="2000">
                <a:solidFill>
                  <a:schemeClr val="tx1"/>
                </a:solidFill>
                <a:ea typeface="黑体" panose="02010609060101010101" pitchFamily="49" charset="-122"/>
              </a:rPr>
              <a:t>位宽，须按字地址对齐</a:t>
            </a:r>
          </a:p>
          <a:p>
            <a:pPr eaLnBrk="0" hangingPunct="0">
              <a:lnSpc>
                <a:spcPct val="90000"/>
              </a:lnSpc>
              <a:spcBef>
                <a:spcPct val="30000"/>
              </a:spcBef>
              <a:buSzPct val="75000"/>
              <a:buFont typeface="Wingdings" panose="05000000000000000000" pitchFamily="2" charset="2"/>
              <a:buNone/>
            </a:pPr>
            <a:r>
              <a:rPr lang="en-US" altLang="zh-CN" sz="2000">
                <a:solidFill>
                  <a:schemeClr val="tx1"/>
                </a:solidFill>
                <a:ea typeface="黑体" panose="02010609060101010101" pitchFamily="49" charset="-122"/>
              </a:rPr>
              <a:t>    </a:t>
            </a:r>
            <a:r>
              <a:rPr lang="zh-CN" altLang="en-US" sz="2000">
                <a:solidFill>
                  <a:schemeClr val="tx1"/>
                </a:solidFill>
                <a:ea typeface="黑体" panose="02010609060101010101" pitchFamily="49" charset="-122"/>
              </a:rPr>
              <a:t>字地址为</a:t>
            </a:r>
            <a:r>
              <a:rPr lang="en-US" altLang="zh-CN" sz="2000">
                <a:solidFill>
                  <a:schemeClr val="tx1"/>
                </a:solidFill>
                <a:ea typeface="黑体" panose="02010609060101010101" pitchFamily="49" charset="-122"/>
              </a:rPr>
              <a:t>4</a:t>
            </a:r>
            <a:r>
              <a:rPr lang="zh-CN" altLang="en-US" sz="2000">
                <a:solidFill>
                  <a:schemeClr val="tx1"/>
                </a:solidFill>
                <a:ea typeface="黑体" panose="02010609060101010101" pitchFamily="49" charset="-122"/>
              </a:rPr>
              <a:t>的倍数！</a:t>
            </a:r>
          </a:p>
        </p:txBody>
      </p:sp>
      <p:sp>
        <p:nvSpPr>
          <p:cNvPr id="57424" name="Rectangle 12">
            <a:extLst>
              <a:ext uri="{FF2B5EF4-FFF2-40B4-BE49-F238E27FC236}">
                <a16:creationId xmlns:a16="http://schemas.microsoft.com/office/drawing/2014/main" id="{4139C92C-A9C1-48AF-FD40-B02BCBA682A5}"/>
              </a:ext>
            </a:extLst>
          </p:cNvPr>
          <p:cNvSpPr>
            <a:spLocks noChangeArrowheads="1"/>
          </p:cNvSpPr>
          <p:nvPr/>
        </p:nvSpPr>
        <p:spPr bwMode="auto">
          <a:xfrm>
            <a:off x="711200" y="114300"/>
            <a:ext cx="2066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7000"/>
              </a:lnSpc>
            </a:pPr>
            <a:r>
              <a:rPr lang="zh-CN" altLang="en-US" sz="2400"/>
              <a:t>指令系统举例</a:t>
            </a:r>
            <a:r>
              <a:rPr lang="en-US" altLang="zh-CN" sz="2400"/>
              <a:t>:</a:t>
            </a:r>
            <a:endParaRPr lang="zh-CN" altLang="en-US" sz="2400"/>
          </a:p>
        </p:txBody>
      </p:sp>
      <p:sp>
        <p:nvSpPr>
          <p:cNvPr id="82" name="Text Box 16">
            <a:extLst>
              <a:ext uri="{FF2B5EF4-FFF2-40B4-BE49-F238E27FC236}">
                <a16:creationId xmlns:a16="http://schemas.microsoft.com/office/drawing/2014/main" id="{E471B002-7DDF-5C85-8887-C524D841C641}"/>
              </a:ext>
            </a:extLst>
          </p:cNvPr>
          <p:cNvSpPr txBox="1">
            <a:spLocks noChangeArrowheads="1"/>
          </p:cNvSpPr>
          <p:nvPr/>
        </p:nvSpPr>
        <p:spPr bwMode="auto">
          <a:xfrm>
            <a:off x="201613" y="5845175"/>
            <a:ext cx="2528887"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1800">
                <a:solidFill>
                  <a:srgbClr val="EE3900"/>
                </a:solidFill>
                <a:latin typeface="微软雅黑" panose="020B0503020204020204" pitchFamily="34" charset="-122"/>
                <a:ea typeface="微软雅黑" panose="020B0503020204020204" pitchFamily="34" charset="-122"/>
              </a:rPr>
              <a:t>问题</a:t>
            </a:r>
            <a:r>
              <a:rPr lang="en-US" altLang="zh-CN" sz="1800">
                <a:solidFill>
                  <a:srgbClr val="EE3900"/>
                </a:solidFill>
                <a:latin typeface="微软雅黑" panose="020B0503020204020204" pitchFamily="34" charset="-122"/>
                <a:ea typeface="微软雅黑" panose="020B0503020204020204" pitchFamily="34" charset="-122"/>
              </a:rPr>
              <a:t>: </a:t>
            </a:r>
            <a:r>
              <a:rPr lang="zh-CN" altLang="en-US" sz="1800">
                <a:solidFill>
                  <a:srgbClr val="EE3900"/>
                </a:solidFill>
                <a:latin typeface="微软雅黑" panose="020B0503020204020204" pitchFamily="34" charset="-122"/>
                <a:ea typeface="微软雅黑" panose="020B0503020204020204" pitchFamily="34" charset="-122"/>
              </a:rPr>
              <a:t>是累加器型、通用寄存器型、</a:t>
            </a:r>
            <a:r>
              <a:rPr lang="en-US" altLang="zh-CN" sz="1800">
                <a:solidFill>
                  <a:srgbClr val="EE3900"/>
                </a:solidFill>
                <a:latin typeface="微软雅黑" panose="020B0503020204020204" pitchFamily="34" charset="-122"/>
                <a:ea typeface="微软雅黑" panose="020B0503020204020204" pitchFamily="34" charset="-122"/>
              </a:rPr>
              <a:t>ld/st</a:t>
            </a:r>
            <a:r>
              <a:rPr lang="zh-CN" altLang="en-US" sz="1800">
                <a:solidFill>
                  <a:srgbClr val="EE3900"/>
                </a:solidFill>
                <a:latin typeface="微软雅黑" panose="020B0503020204020204" pitchFamily="34" charset="-122"/>
                <a:ea typeface="微软雅黑" panose="020B0503020204020204" pitchFamily="34" charset="-122"/>
              </a:rPr>
              <a:t>型？是</a:t>
            </a:r>
            <a:r>
              <a:rPr lang="en-US" altLang="zh-CN" sz="1800">
                <a:solidFill>
                  <a:srgbClr val="EE3900"/>
                </a:solidFill>
                <a:latin typeface="微软雅黑" panose="020B0503020204020204" pitchFamily="34" charset="-122"/>
                <a:ea typeface="微软雅黑" panose="020B0503020204020204" pitchFamily="34" charset="-122"/>
              </a:rPr>
              <a:t>CISC</a:t>
            </a:r>
            <a:r>
              <a:rPr lang="zh-CN" altLang="en-US" sz="1800">
                <a:solidFill>
                  <a:srgbClr val="EE3900"/>
                </a:solidFill>
                <a:latin typeface="微软雅黑" panose="020B0503020204020204" pitchFamily="34" charset="-122"/>
                <a:ea typeface="微软雅黑" panose="020B0503020204020204" pitchFamily="34" charset="-122"/>
              </a:rPr>
              <a:t>型、</a:t>
            </a:r>
            <a:r>
              <a:rPr lang="en-US" altLang="zh-CN" sz="1800">
                <a:solidFill>
                  <a:srgbClr val="EE3900"/>
                </a:solidFill>
                <a:latin typeface="微软雅黑" panose="020B0503020204020204" pitchFamily="34" charset="-122"/>
                <a:ea typeface="微软雅黑" panose="020B0503020204020204" pitchFamily="34" charset="-122"/>
              </a:rPr>
              <a:t>RISC</a:t>
            </a:r>
            <a:r>
              <a:rPr lang="zh-CN" altLang="en-US" sz="1800">
                <a:solidFill>
                  <a:srgbClr val="EE3900"/>
                </a:solidFill>
                <a:latin typeface="微软雅黑" panose="020B0503020204020204" pitchFamily="34" charset="-122"/>
                <a:ea typeface="微软雅黑" panose="020B0503020204020204" pitchFamily="34" charset="-122"/>
              </a:rPr>
              <a:t>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6245">
                                            <p:txEl>
                                              <p:pRg st="1" end="1"/>
                                            </p:txEl>
                                          </p:spTgt>
                                        </p:tgtEl>
                                        <p:attrNameLst>
                                          <p:attrName>style.visibility</p:attrName>
                                        </p:attrNameLst>
                                      </p:cBhvr>
                                      <p:to>
                                        <p:strVal val="visible"/>
                                      </p:to>
                                    </p:set>
                                    <p:animEffect transition="in" filter="blinds(horizontal)">
                                      <p:cBhvr>
                                        <p:cTn id="7" dur="500"/>
                                        <p:tgtEl>
                                          <p:spTgt spid="26624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6245">
                                            <p:txEl>
                                              <p:pRg st="2" end="2"/>
                                            </p:txEl>
                                          </p:spTgt>
                                        </p:tgtEl>
                                        <p:attrNameLst>
                                          <p:attrName>style.visibility</p:attrName>
                                        </p:attrNameLst>
                                      </p:cBhvr>
                                      <p:to>
                                        <p:strVal val="visible"/>
                                      </p:to>
                                    </p:set>
                                    <p:animEffect transition="in" filter="blinds(horizontal)">
                                      <p:cBhvr>
                                        <p:cTn id="12" dur="500"/>
                                        <p:tgtEl>
                                          <p:spTgt spid="26624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45">
                                            <p:txEl>
                                              <p:pRg st="3" end="3"/>
                                            </p:txEl>
                                          </p:spTgt>
                                        </p:tgtEl>
                                        <p:attrNameLst>
                                          <p:attrName>style.visibility</p:attrName>
                                        </p:attrNameLst>
                                      </p:cBhvr>
                                      <p:to>
                                        <p:strVal val="visible"/>
                                      </p:to>
                                    </p:set>
                                    <p:animEffect transition="in" filter="blinds(horizontal)">
                                      <p:cBhvr>
                                        <p:cTn id="22" dur="500"/>
                                        <p:tgtEl>
                                          <p:spTgt spid="26624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6245">
                                            <p:txEl>
                                              <p:pRg st="5" end="5"/>
                                            </p:txEl>
                                          </p:spTgt>
                                        </p:tgtEl>
                                        <p:attrNameLst>
                                          <p:attrName>style.visibility</p:attrName>
                                        </p:attrNameLst>
                                      </p:cBhvr>
                                      <p:to>
                                        <p:strVal val="visible"/>
                                      </p:to>
                                    </p:set>
                                    <p:animEffect transition="in" filter="blinds(horizontal)">
                                      <p:cBhvr>
                                        <p:cTn id="27" dur="500"/>
                                        <p:tgtEl>
                                          <p:spTgt spid="26624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6245">
                                            <p:txEl>
                                              <p:pRg st="6" end="6"/>
                                            </p:txEl>
                                          </p:spTgt>
                                        </p:tgtEl>
                                        <p:attrNameLst>
                                          <p:attrName>style.visibility</p:attrName>
                                        </p:attrNameLst>
                                      </p:cBhvr>
                                      <p:to>
                                        <p:strVal val="visible"/>
                                      </p:to>
                                    </p:set>
                                    <p:animEffect transition="in" filter="blinds(horizontal)">
                                      <p:cBhvr>
                                        <p:cTn id="37" dur="500"/>
                                        <p:tgtEl>
                                          <p:spTgt spid="26624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66245">
                                            <p:txEl>
                                              <p:pRg st="7" end="7"/>
                                            </p:txEl>
                                          </p:spTgt>
                                        </p:tgtEl>
                                        <p:attrNameLst>
                                          <p:attrName>style.visibility</p:attrName>
                                        </p:attrNameLst>
                                      </p:cBhvr>
                                      <p:to>
                                        <p:strVal val="visible"/>
                                      </p:to>
                                    </p:set>
                                    <p:animEffect transition="in" filter="blinds(horizontal)">
                                      <p:cBhvr>
                                        <p:cTn id="42" dur="500"/>
                                        <p:tgtEl>
                                          <p:spTgt spid="26624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66245">
                                            <p:txEl>
                                              <p:pRg st="8" end="8"/>
                                            </p:txEl>
                                          </p:spTgt>
                                        </p:tgtEl>
                                        <p:attrNameLst>
                                          <p:attrName>style.visibility</p:attrName>
                                        </p:attrNameLst>
                                      </p:cBhvr>
                                      <p:to>
                                        <p:strVal val="visible"/>
                                      </p:to>
                                    </p:set>
                                    <p:animEffect transition="in" filter="blinds(horizontal)">
                                      <p:cBhvr>
                                        <p:cTn id="47" dur="500"/>
                                        <p:tgtEl>
                                          <p:spTgt spid="26624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66245">
                                            <p:txEl>
                                              <p:pRg st="12" end="12"/>
                                            </p:txEl>
                                          </p:spTgt>
                                        </p:tgtEl>
                                        <p:attrNameLst>
                                          <p:attrName>style.visibility</p:attrName>
                                        </p:attrNameLst>
                                      </p:cBhvr>
                                      <p:to>
                                        <p:strVal val="visible"/>
                                      </p:to>
                                    </p:set>
                                    <p:animEffect transition="in" filter="blinds(horizontal)">
                                      <p:cBhvr>
                                        <p:cTn id="52" dur="500"/>
                                        <p:tgtEl>
                                          <p:spTgt spid="266245">
                                            <p:txEl>
                                              <p:pRg st="12" end="1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blinds(horizontal)">
                                      <p:cBhvr>
                                        <p:cTn id="57" dur="500"/>
                                        <p:tgtEl>
                                          <p:spTgt spid="1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66245">
                                            <p:txEl>
                                              <p:pRg st="13" end="13"/>
                                            </p:txEl>
                                          </p:spTgt>
                                        </p:tgtEl>
                                        <p:attrNameLst>
                                          <p:attrName>style.visibility</p:attrName>
                                        </p:attrNameLst>
                                      </p:cBhvr>
                                      <p:to>
                                        <p:strVal val="visible"/>
                                      </p:to>
                                    </p:set>
                                    <p:animEffect transition="in" filter="blinds(horizontal)">
                                      <p:cBhvr>
                                        <p:cTn id="62" dur="500"/>
                                        <p:tgtEl>
                                          <p:spTgt spid="266245">
                                            <p:txEl>
                                              <p:pRg st="13" end="1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blinds(horizontal)">
                                      <p:cBhvr>
                                        <p:cTn id="6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95BEB64B-7B33-979A-4BE7-03B639B32F93}"/>
              </a:ext>
            </a:extLst>
          </p:cNvPr>
          <p:cNvSpPr>
            <a:spLocks noGrp="1" noChangeArrowheads="1"/>
          </p:cNvSpPr>
          <p:nvPr>
            <p:ph type="title"/>
          </p:nvPr>
        </p:nvSpPr>
        <p:spPr>
          <a:xfrm>
            <a:off x="2913063" y="85725"/>
            <a:ext cx="4362450" cy="693738"/>
          </a:xfrm>
        </p:spPr>
        <p:txBody>
          <a:bodyPr/>
          <a:lstStyle/>
          <a:p>
            <a:r>
              <a:rPr lang="en-US" altLang="zh-CN">
                <a:ea typeface="宋体" panose="02010600030101010101" pitchFamily="2" charset="-122"/>
              </a:rPr>
              <a:t>MIPS32</a:t>
            </a:r>
            <a:r>
              <a:rPr lang="zh-CN" altLang="en-US">
                <a:ea typeface="宋体" panose="02010600030101010101" pitchFamily="2" charset="-122"/>
              </a:rPr>
              <a:t>指令字段含义</a:t>
            </a:r>
          </a:p>
        </p:txBody>
      </p:sp>
      <p:sp>
        <p:nvSpPr>
          <p:cNvPr id="267267" name="Rectangle 3">
            <a:extLst>
              <a:ext uri="{FF2B5EF4-FFF2-40B4-BE49-F238E27FC236}">
                <a16:creationId xmlns:a16="http://schemas.microsoft.com/office/drawing/2014/main" id="{16B7ABB7-5C29-3D56-1EA0-C595B6800C82}"/>
              </a:ext>
            </a:extLst>
          </p:cNvPr>
          <p:cNvSpPr>
            <a:spLocks noGrp="1" noChangeArrowheads="1"/>
          </p:cNvSpPr>
          <p:nvPr>
            <p:ph idx="1"/>
          </p:nvPr>
        </p:nvSpPr>
        <p:spPr>
          <a:xfrm>
            <a:off x="312738" y="1003300"/>
            <a:ext cx="8497887" cy="5280025"/>
          </a:xfrm>
        </p:spPr>
        <p:txBody>
          <a:bodyPr/>
          <a:lstStyle/>
          <a:p>
            <a:pPr>
              <a:lnSpc>
                <a:spcPct val="80000"/>
              </a:lnSpc>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OP</a:t>
            </a:r>
            <a:r>
              <a:rPr lang="zh-CN" altLang="en-US" sz="1800">
                <a:solidFill>
                  <a:srgbClr val="A50021"/>
                </a:solidFill>
                <a:latin typeface="Arial" panose="020B0604020202020204" pitchFamily="34" charset="0"/>
                <a:ea typeface="黑体" panose="02010609060101010101" pitchFamily="49" charset="-122"/>
              </a:rPr>
              <a:t>：操作码</a:t>
            </a:r>
          </a:p>
          <a:p>
            <a:pPr>
              <a:lnSpc>
                <a:spcPct val="100000"/>
              </a:lnSpc>
              <a:spcBef>
                <a:spcPct val="60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rs</a:t>
            </a:r>
            <a:r>
              <a:rPr lang="zh-CN" altLang="en-US" sz="1800">
                <a:solidFill>
                  <a:srgbClr val="A50021"/>
                </a:solidFill>
                <a:latin typeface="Arial" panose="020B0604020202020204" pitchFamily="34" charset="0"/>
                <a:ea typeface="黑体" panose="02010609060101010101" pitchFamily="49" charset="-122"/>
              </a:rPr>
              <a:t>：第一个源操</a:t>
            </a:r>
          </a:p>
          <a:p>
            <a:pPr>
              <a:lnSpc>
                <a:spcPct val="80000"/>
              </a:lnSpc>
              <a:buFont typeface="Wingdings" panose="05000000000000000000" pitchFamily="2" charset="2"/>
              <a:buNone/>
            </a:pPr>
            <a:r>
              <a:rPr lang="zh-CN" altLang="en-US" sz="1800">
                <a:solidFill>
                  <a:srgbClr val="A50021"/>
                </a:solidFill>
                <a:latin typeface="Arial" panose="020B0604020202020204" pitchFamily="34" charset="0"/>
                <a:ea typeface="黑体" panose="02010609060101010101" pitchFamily="49" charset="-122"/>
              </a:rPr>
              <a:t>    作数寄存器</a:t>
            </a:r>
          </a:p>
          <a:p>
            <a:pPr>
              <a:lnSpc>
                <a:spcPct val="100000"/>
              </a:lnSpc>
              <a:spcBef>
                <a:spcPct val="60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rt</a:t>
            </a:r>
            <a:r>
              <a:rPr lang="zh-CN" altLang="en-US" sz="1800">
                <a:solidFill>
                  <a:srgbClr val="A50021"/>
                </a:solidFill>
                <a:latin typeface="Arial" panose="020B0604020202020204" pitchFamily="34" charset="0"/>
                <a:ea typeface="黑体" panose="02010609060101010101" pitchFamily="49" charset="-122"/>
              </a:rPr>
              <a:t>：第二个源操</a:t>
            </a:r>
          </a:p>
          <a:p>
            <a:pPr>
              <a:lnSpc>
                <a:spcPct val="80000"/>
              </a:lnSpc>
              <a:buFont typeface="Wingdings" panose="05000000000000000000" pitchFamily="2" charset="2"/>
              <a:buNone/>
            </a:pPr>
            <a:r>
              <a:rPr lang="zh-CN" altLang="en-US" sz="1800">
                <a:solidFill>
                  <a:srgbClr val="A50021"/>
                </a:solidFill>
                <a:latin typeface="Arial" panose="020B0604020202020204" pitchFamily="34" charset="0"/>
                <a:ea typeface="黑体" panose="02010609060101010101" pitchFamily="49" charset="-122"/>
              </a:rPr>
              <a:t>    作数寄存器</a:t>
            </a:r>
          </a:p>
          <a:p>
            <a:pPr>
              <a:lnSpc>
                <a:spcPct val="100000"/>
              </a:lnSpc>
              <a:spcBef>
                <a:spcPct val="60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rd</a:t>
            </a:r>
            <a:r>
              <a:rPr lang="zh-CN" altLang="en-US" sz="1800">
                <a:solidFill>
                  <a:srgbClr val="A50021"/>
                </a:solidFill>
                <a:latin typeface="Arial" panose="020B0604020202020204" pitchFamily="34" charset="0"/>
                <a:ea typeface="黑体" panose="02010609060101010101" pitchFamily="49" charset="-122"/>
              </a:rPr>
              <a:t>：结果寄存器</a:t>
            </a:r>
          </a:p>
          <a:p>
            <a:pPr>
              <a:lnSpc>
                <a:spcPct val="100000"/>
              </a:lnSpc>
              <a:spcBef>
                <a:spcPct val="60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shamt</a:t>
            </a:r>
            <a:r>
              <a:rPr lang="zh-CN" altLang="en-US" sz="1800">
                <a:solidFill>
                  <a:srgbClr val="A50021"/>
                </a:solidFill>
                <a:latin typeface="Arial" panose="020B0604020202020204" pitchFamily="34" charset="0"/>
                <a:ea typeface="黑体" panose="02010609060101010101" pitchFamily="49" charset="-122"/>
              </a:rPr>
              <a:t>：移位指令</a:t>
            </a:r>
          </a:p>
          <a:p>
            <a:pPr>
              <a:lnSpc>
                <a:spcPct val="100000"/>
              </a:lnSpc>
              <a:spcBef>
                <a:spcPct val="20000"/>
              </a:spcBef>
              <a:buFont typeface="Wingdings" panose="05000000000000000000" pitchFamily="2" charset="2"/>
              <a:buNone/>
            </a:pPr>
            <a:r>
              <a:rPr lang="zh-CN" altLang="en-US" sz="1800">
                <a:solidFill>
                  <a:srgbClr val="A50021"/>
                </a:solidFill>
                <a:latin typeface="Arial" panose="020B0604020202020204" pitchFamily="34" charset="0"/>
                <a:ea typeface="黑体" panose="02010609060101010101" pitchFamily="49" charset="-122"/>
              </a:rPr>
              <a:t>		的位移量</a:t>
            </a:r>
          </a:p>
          <a:p>
            <a:pPr>
              <a:lnSpc>
                <a:spcPct val="100000"/>
              </a:lnSpc>
              <a:spcBef>
                <a:spcPct val="40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func</a:t>
            </a:r>
            <a:r>
              <a:rPr lang="zh-CN" altLang="en-US" sz="1800">
                <a:solidFill>
                  <a:srgbClr val="A50021"/>
                </a:solidFill>
                <a:latin typeface="Arial" panose="020B0604020202020204" pitchFamily="34" charset="0"/>
                <a:ea typeface="黑体" panose="02010609060101010101" pitchFamily="49" charset="-122"/>
              </a:rPr>
              <a:t>：</a:t>
            </a:r>
            <a:r>
              <a:rPr lang="en-US" altLang="zh-CN" sz="1800">
                <a:solidFill>
                  <a:srgbClr val="A50021"/>
                </a:solidFill>
                <a:latin typeface="Arial" panose="020B0604020202020204" pitchFamily="34" charset="0"/>
                <a:ea typeface="黑体" panose="02010609060101010101" pitchFamily="49" charset="-122"/>
              </a:rPr>
              <a:t>R-Type</a:t>
            </a:r>
            <a:r>
              <a:rPr lang="zh-CN" altLang="en-US" sz="1800">
                <a:solidFill>
                  <a:srgbClr val="A50021"/>
                </a:solidFill>
                <a:latin typeface="Arial" panose="020B0604020202020204" pitchFamily="34" charset="0"/>
                <a:ea typeface="黑体" panose="02010609060101010101" pitchFamily="49" charset="-122"/>
              </a:rPr>
              <a:t>指令的</a:t>
            </a:r>
            <a:r>
              <a:rPr lang="en-US" altLang="zh-CN" sz="1800">
                <a:solidFill>
                  <a:srgbClr val="A50021"/>
                </a:solidFill>
                <a:latin typeface="Arial" panose="020B0604020202020204" pitchFamily="34" charset="0"/>
                <a:ea typeface="黑体" panose="02010609060101010101" pitchFamily="49" charset="-122"/>
              </a:rPr>
              <a:t>OP</a:t>
            </a:r>
            <a:r>
              <a:rPr lang="zh-CN" altLang="en-US" sz="1800">
                <a:solidFill>
                  <a:srgbClr val="A50021"/>
                </a:solidFill>
                <a:latin typeface="Arial" panose="020B0604020202020204" pitchFamily="34" charset="0"/>
                <a:ea typeface="黑体" panose="02010609060101010101" pitchFamily="49" charset="-122"/>
              </a:rPr>
              <a:t>字段是特定的“</a:t>
            </a:r>
            <a:r>
              <a:rPr lang="en-US" altLang="zh-CN" sz="1800">
                <a:solidFill>
                  <a:srgbClr val="A50021"/>
                </a:solidFill>
                <a:latin typeface="Arial" panose="020B0604020202020204" pitchFamily="34" charset="0"/>
                <a:ea typeface="黑体" panose="02010609060101010101" pitchFamily="49" charset="-122"/>
              </a:rPr>
              <a:t>000000”</a:t>
            </a:r>
            <a:r>
              <a:rPr lang="zh-CN" altLang="en-US" sz="1800">
                <a:solidFill>
                  <a:srgbClr val="A50021"/>
                </a:solidFill>
                <a:latin typeface="Arial" panose="020B0604020202020204" pitchFamily="34" charset="0"/>
                <a:ea typeface="黑体" panose="02010609060101010101" pitchFamily="49" charset="-122"/>
              </a:rPr>
              <a:t>，具体操作由</a:t>
            </a:r>
            <a:r>
              <a:rPr lang="en-US" altLang="zh-CN" sz="1800">
                <a:solidFill>
                  <a:srgbClr val="A50021"/>
                </a:solidFill>
                <a:latin typeface="Arial" panose="020B0604020202020204" pitchFamily="34" charset="0"/>
                <a:ea typeface="黑体" panose="02010609060101010101" pitchFamily="49" charset="-122"/>
              </a:rPr>
              <a:t>func</a:t>
            </a:r>
            <a:r>
              <a:rPr lang="zh-CN" altLang="en-US" sz="1800">
                <a:solidFill>
                  <a:srgbClr val="A50021"/>
                </a:solidFill>
                <a:latin typeface="Arial" panose="020B0604020202020204" pitchFamily="34" charset="0"/>
                <a:ea typeface="黑体" panose="02010609060101010101" pitchFamily="49" charset="-122"/>
              </a:rPr>
              <a:t>字段给定。例如：</a:t>
            </a:r>
            <a:r>
              <a:rPr lang="en-US" altLang="zh-CN" sz="1800">
                <a:solidFill>
                  <a:srgbClr val="A50021"/>
                </a:solidFill>
                <a:latin typeface="Arial" panose="020B0604020202020204" pitchFamily="34" charset="0"/>
                <a:ea typeface="黑体" panose="02010609060101010101" pitchFamily="49" charset="-122"/>
              </a:rPr>
              <a:t>func=“100000”</a:t>
            </a:r>
            <a:r>
              <a:rPr lang="zh-CN" altLang="en-US" sz="1800">
                <a:solidFill>
                  <a:srgbClr val="A50021"/>
                </a:solidFill>
                <a:latin typeface="Arial" panose="020B0604020202020204" pitchFamily="34" charset="0"/>
                <a:ea typeface="黑体" panose="02010609060101010101" pitchFamily="49" charset="-122"/>
              </a:rPr>
              <a:t>时，表示“加法”运算。</a:t>
            </a:r>
          </a:p>
          <a:p>
            <a:pPr>
              <a:lnSpc>
                <a:spcPct val="100000"/>
              </a:lnSpc>
              <a:spcBef>
                <a:spcPct val="40000"/>
              </a:spcBef>
              <a:buFont typeface="Wingdings" panose="05000000000000000000" pitchFamily="2" charset="2"/>
              <a:buNone/>
            </a:pPr>
            <a:endParaRPr lang="zh-CN" altLang="en-US" sz="1800">
              <a:solidFill>
                <a:srgbClr val="A50021"/>
              </a:solidFill>
              <a:latin typeface="Arial" panose="020B0604020202020204" pitchFamily="34" charset="0"/>
              <a:ea typeface="黑体" panose="02010609060101010101" pitchFamily="49" charset="-122"/>
            </a:endParaRPr>
          </a:p>
          <a:p>
            <a:pPr>
              <a:lnSpc>
                <a:spcPct val="100000"/>
              </a:lnSpc>
              <a:spcBef>
                <a:spcPct val="45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immediate</a:t>
            </a:r>
            <a:r>
              <a:rPr lang="zh-CN" altLang="en-US" sz="1800">
                <a:solidFill>
                  <a:srgbClr val="A50021"/>
                </a:solidFill>
                <a:latin typeface="Arial" panose="020B0604020202020204" pitchFamily="34" charset="0"/>
                <a:ea typeface="黑体" panose="02010609060101010101" pitchFamily="49" charset="-122"/>
              </a:rPr>
              <a:t>：立即数或</a:t>
            </a:r>
            <a:r>
              <a:rPr lang="en-US" altLang="zh-CN" sz="1800">
                <a:solidFill>
                  <a:srgbClr val="A50021"/>
                </a:solidFill>
                <a:latin typeface="Arial" panose="020B0604020202020204" pitchFamily="34" charset="0"/>
                <a:ea typeface="黑体" panose="02010609060101010101" pitchFamily="49" charset="-122"/>
              </a:rPr>
              <a:t>load/store</a:t>
            </a:r>
            <a:r>
              <a:rPr lang="zh-CN" altLang="en-US" sz="1800">
                <a:solidFill>
                  <a:srgbClr val="A50021"/>
                </a:solidFill>
                <a:latin typeface="Arial" panose="020B0604020202020204" pitchFamily="34" charset="0"/>
                <a:ea typeface="黑体" panose="02010609060101010101" pitchFamily="49" charset="-122"/>
              </a:rPr>
              <a:t>指令和分支指令的偏移地址</a:t>
            </a:r>
          </a:p>
          <a:p>
            <a:pPr>
              <a:lnSpc>
                <a:spcPct val="100000"/>
              </a:lnSpc>
              <a:spcBef>
                <a:spcPct val="45000"/>
              </a:spcBef>
              <a:buFont typeface="Wingdings" panose="05000000000000000000" pitchFamily="2" charset="2"/>
              <a:buNone/>
            </a:pPr>
            <a:r>
              <a:rPr lang="en-US" altLang="zh-CN" sz="1800">
                <a:solidFill>
                  <a:srgbClr val="A50021"/>
                </a:solidFill>
                <a:latin typeface="Arial" panose="020B0604020202020204" pitchFamily="34" charset="0"/>
                <a:ea typeface="黑体" panose="02010609060101010101" pitchFamily="49" charset="-122"/>
              </a:rPr>
              <a:t>target address</a:t>
            </a:r>
            <a:r>
              <a:rPr lang="zh-CN" altLang="en-US" sz="1800">
                <a:solidFill>
                  <a:srgbClr val="A50021"/>
                </a:solidFill>
                <a:latin typeface="Arial" panose="020B0604020202020204" pitchFamily="34" charset="0"/>
                <a:ea typeface="黑体" panose="02010609060101010101" pitchFamily="49" charset="-122"/>
              </a:rPr>
              <a:t>：无条件转移地址的低</a:t>
            </a:r>
            <a:r>
              <a:rPr lang="en-US" altLang="zh-CN" sz="1800">
                <a:solidFill>
                  <a:srgbClr val="A50021"/>
                </a:solidFill>
                <a:latin typeface="Arial" panose="020B0604020202020204" pitchFamily="34" charset="0"/>
                <a:ea typeface="黑体" panose="02010609060101010101" pitchFamily="49" charset="-122"/>
              </a:rPr>
              <a:t>26</a:t>
            </a:r>
            <a:r>
              <a:rPr lang="zh-CN" altLang="en-US" sz="1800">
                <a:solidFill>
                  <a:srgbClr val="A50021"/>
                </a:solidFill>
                <a:latin typeface="Arial" panose="020B0604020202020204" pitchFamily="34" charset="0"/>
                <a:ea typeface="黑体" panose="02010609060101010101" pitchFamily="49" charset="-122"/>
              </a:rPr>
              <a:t>位。将</a:t>
            </a:r>
            <a:r>
              <a:rPr lang="en-US" altLang="zh-CN" sz="1800">
                <a:solidFill>
                  <a:srgbClr val="A50021"/>
                </a:solidFill>
                <a:latin typeface="Arial" panose="020B0604020202020204" pitchFamily="34" charset="0"/>
                <a:ea typeface="黑体" panose="02010609060101010101" pitchFamily="49" charset="-122"/>
              </a:rPr>
              <a:t>PC</a:t>
            </a:r>
            <a:r>
              <a:rPr lang="zh-CN" altLang="en-US" sz="1800">
                <a:solidFill>
                  <a:srgbClr val="A50021"/>
                </a:solidFill>
                <a:latin typeface="Arial" panose="020B0604020202020204" pitchFamily="34" charset="0"/>
                <a:ea typeface="黑体" panose="02010609060101010101" pitchFamily="49" charset="-122"/>
              </a:rPr>
              <a:t>高</a:t>
            </a:r>
            <a:r>
              <a:rPr lang="en-US" altLang="zh-CN" sz="1800">
                <a:solidFill>
                  <a:srgbClr val="A50021"/>
                </a:solidFill>
                <a:latin typeface="Arial" panose="020B0604020202020204" pitchFamily="34" charset="0"/>
                <a:ea typeface="黑体" panose="02010609060101010101" pitchFamily="49" charset="-122"/>
              </a:rPr>
              <a:t>4</a:t>
            </a:r>
            <a:r>
              <a:rPr lang="zh-CN" altLang="en-US" sz="1800">
                <a:solidFill>
                  <a:srgbClr val="A50021"/>
                </a:solidFill>
                <a:latin typeface="Arial" panose="020B0604020202020204" pitchFamily="34" charset="0"/>
                <a:ea typeface="黑体" panose="02010609060101010101" pitchFamily="49" charset="-122"/>
              </a:rPr>
              <a:t>位拼上</a:t>
            </a:r>
            <a:r>
              <a:rPr lang="en-US" altLang="zh-CN" sz="1800">
                <a:solidFill>
                  <a:srgbClr val="A50021"/>
                </a:solidFill>
                <a:latin typeface="Arial" panose="020B0604020202020204" pitchFamily="34" charset="0"/>
                <a:ea typeface="黑体" panose="02010609060101010101" pitchFamily="49" charset="-122"/>
              </a:rPr>
              <a:t>26</a:t>
            </a:r>
            <a:r>
              <a:rPr lang="zh-CN" altLang="en-US" sz="1800">
                <a:solidFill>
                  <a:srgbClr val="A50021"/>
                </a:solidFill>
                <a:latin typeface="Arial" panose="020B0604020202020204" pitchFamily="34" charset="0"/>
                <a:ea typeface="黑体" panose="02010609060101010101" pitchFamily="49" charset="-122"/>
              </a:rPr>
              <a:t>位直接地址，最后添</a:t>
            </a:r>
            <a:r>
              <a:rPr lang="en-US" altLang="zh-CN" sz="1800">
                <a:solidFill>
                  <a:srgbClr val="A50021"/>
                </a:solidFill>
                <a:latin typeface="Arial" panose="020B0604020202020204" pitchFamily="34" charset="0"/>
                <a:ea typeface="黑体" panose="02010609060101010101" pitchFamily="49" charset="-122"/>
              </a:rPr>
              <a:t>2</a:t>
            </a:r>
            <a:r>
              <a:rPr lang="zh-CN" altLang="en-US" sz="1800">
                <a:solidFill>
                  <a:srgbClr val="A50021"/>
                </a:solidFill>
                <a:latin typeface="Arial" panose="020B0604020202020204" pitchFamily="34" charset="0"/>
                <a:ea typeface="黑体" panose="02010609060101010101" pitchFamily="49" charset="-122"/>
              </a:rPr>
              <a:t>个“</a:t>
            </a:r>
            <a:r>
              <a:rPr lang="en-US" altLang="zh-CN" sz="1800">
                <a:solidFill>
                  <a:srgbClr val="A50021"/>
                </a:solidFill>
                <a:latin typeface="Arial" panose="020B0604020202020204" pitchFamily="34" charset="0"/>
                <a:ea typeface="黑体" panose="02010609060101010101" pitchFamily="49" charset="-122"/>
              </a:rPr>
              <a:t>0”</a:t>
            </a:r>
            <a:r>
              <a:rPr lang="zh-CN" altLang="en-US" sz="1800">
                <a:solidFill>
                  <a:srgbClr val="A50021"/>
                </a:solidFill>
                <a:latin typeface="Arial" panose="020B0604020202020204" pitchFamily="34" charset="0"/>
                <a:ea typeface="黑体" panose="02010609060101010101" pitchFamily="49" charset="-122"/>
              </a:rPr>
              <a:t>就是</a:t>
            </a:r>
            <a:r>
              <a:rPr lang="en-US" altLang="zh-CN" sz="1800">
                <a:solidFill>
                  <a:srgbClr val="A50021"/>
                </a:solidFill>
                <a:latin typeface="Arial" panose="020B0604020202020204" pitchFamily="34" charset="0"/>
                <a:ea typeface="黑体" panose="02010609060101010101" pitchFamily="49" charset="-122"/>
              </a:rPr>
              <a:t>32</a:t>
            </a:r>
            <a:r>
              <a:rPr lang="zh-CN" altLang="en-US" sz="1800">
                <a:solidFill>
                  <a:srgbClr val="A50021"/>
                </a:solidFill>
                <a:latin typeface="Arial" panose="020B0604020202020204" pitchFamily="34" charset="0"/>
                <a:ea typeface="黑体" panose="02010609060101010101" pitchFamily="49" charset="-122"/>
              </a:rPr>
              <a:t>位目标地址。为何最后两位要添“</a:t>
            </a:r>
            <a:r>
              <a:rPr lang="en-US" altLang="zh-CN" sz="1800">
                <a:solidFill>
                  <a:srgbClr val="A50021"/>
                </a:solidFill>
                <a:latin typeface="Arial" panose="020B0604020202020204" pitchFamily="34" charset="0"/>
                <a:ea typeface="黑体" panose="02010609060101010101" pitchFamily="49" charset="-122"/>
              </a:rPr>
              <a:t>0”</a:t>
            </a:r>
            <a:r>
              <a:rPr lang="zh-CN" altLang="en-US" sz="1800">
                <a:solidFill>
                  <a:srgbClr val="A50021"/>
                </a:solidFill>
                <a:latin typeface="Arial" panose="020B0604020202020204" pitchFamily="34" charset="0"/>
                <a:ea typeface="黑体" panose="02010609060101010101" pitchFamily="49" charset="-122"/>
              </a:rPr>
              <a:t>？</a:t>
            </a:r>
          </a:p>
          <a:p>
            <a:pPr>
              <a:lnSpc>
                <a:spcPct val="100000"/>
              </a:lnSpc>
              <a:spcBef>
                <a:spcPct val="20000"/>
              </a:spcBef>
              <a:buFont typeface="Wingdings" panose="05000000000000000000" pitchFamily="2" charset="2"/>
              <a:buNone/>
            </a:pPr>
            <a:endParaRPr lang="en-US" altLang="zh-CN" sz="1800">
              <a:solidFill>
                <a:srgbClr val="A50021"/>
              </a:solidFill>
              <a:latin typeface="Arial" panose="020B0604020202020204" pitchFamily="34" charset="0"/>
              <a:ea typeface="黑体" panose="02010609060101010101" pitchFamily="49" charset="-122"/>
            </a:endParaRPr>
          </a:p>
        </p:txBody>
      </p:sp>
      <p:sp>
        <p:nvSpPr>
          <p:cNvPr id="267344" name="Rectangle 80">
            <a:extLst>
              <a:ext uri="{FF2B5EF4-FFF2-40B4-BE49-F238E27FC236}">
                <a16:creationId xmlns:a16="http://schemas.microsoft.com/office/drawing/2014/main" id="{917BBFD9-9131-72F7-FB5D-319D5019B84F}"/>
              </a:ext>
            </a:extLst>
          </p:cNvPr>
          <p:cNvSpPr>
            <a:spLocks noChangeArrowheads="1"/>
          </p:cNvSpPr>
          <p:nvPr/>
        </p:nvSpPr>
        <p:spPr bwMode="auto">
          <a:xfrm>
            <a:off x="282575" y="4676775"/>
            <a:ext cx="85788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120000"/>
              </a:lnSpc>
              <a:spcBef>
                <a:spcPct val="30000"/>
              </a:spcBef>
              <a:buFont typeface="Monotype Sorts"/>
              <a:buNone/>
            </a:pPr>
            <a:r>
              <a:rPr lang="zh-CN" altLang="en-US" sz="1800">
                <a:solidFill>
                  <a:srgbClr val="3C7845"/>
                </a:solidFill>
                <a:ea typeface="黑体" panose="02010609060101010101" pitchFamily="49" charset="-122"/>
              </a:rPr>
              <a:t>操作码的不同编码定义不同的含义，操作码相同时，再由功能码定义不同的含义</a:t>
            </a:r>
            <a:r>
              <a:rPr lang="en-US" altLang="zh-CN" sz="1800">
                <a:solidFill>
                  <a:srgbClr val="3C7845"/>
                </a:solidFill>
                <a:ea typeface="黑体" panose="02010609060101010101" pitchFamily="49" charset="-122"/>
              </a:rPr>
              <a:t>!</a:t>
            </a:r>
          </a:p>
        </p:txBody>
      </p:sp>
      <p:sp>
        <p:nvSpPr>
          <p:cNvPr id="267345" name="Text Box 81">
            <a:extLst>
              <a:ext uri="{FF2B5EF4-FFF2-40B4-BE49-F238E27FC236}">
                <a16:creationId xmlns:a16="http://schemas.microsoft.com/office/drawing/2014/main" id="{6281C882-3FC5-64B4-4E06-7F0BF3199856}"/>
              </a:ext>
            </a:extLst>
          </p:cNvPr>
          <p:cNvSpPr txBox="1">
            <a:spLocks noChangeArrowheads="1"/>
          </p:cNvSpPr>
          <p:nvPr/>
        </p:nvSpPr>
        <p:spPr bwMode="auto">
          <a:xfrm>
            <a:off x="433388" y="6221413"/>
            <a:ext cx="7627937"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1800">
                <a:ea typeface="黑体" panose="02010609060101010101" pitchFamily="49" charset="-122"/>
              </a:rPr>
              <a:t>指令按字地址对齐，所以每条指令的地址都是</a:t>
            </a:r>
            <a:r>
              <a:rPr lang="en-US" altLang="zh-CN" sz="1800">
                <a:ea typeface="黑体" panose="02010609060101010101" pitchFamily="49" charset="-122"/>
              </a:rPr>
              <a:t>4</a:t>
            </a:r>
            <a:r>
              <a:rPr lang="zh-CN" altLang="en-US" sz="1800">
                <a:ea typeface="黑体" panose="02010609060101010101" pitchFamily="49" charset="-122"/>
              </a:rPr>
              <a:t>的倍数（最后两位为</a:t>
            </a:r>
            <a:r>
              <a:rPr lang="en-US" altLang="zh-CN" sz="1800">
                <a:ea typeface="黑体" panose="02010609060101010101" pitchFamily="49" charset="-122"/>
              </a:rPr>
              <a:t>0</a:t>
            </a:r>
            <a:r>
              <a:rPr lang="zh-CN" altLang="en-US" sz="1800">
                <a:ea typeface="黑体" panose="02010609060101010101" pitchFamily="49" charset="-122"/>
              </a:rPr>
              <a:t>）。</a:t>
            </a:r>
          </a:p>
        </p:txBody>
      </p:sp>
      <p:grpSp>
        <p:nvGrpSpPr>
          <p:cNvPr id="2" name="Group 82">
            <a:extLst>
              <a:ext uri="{FF2B5EF4-FFF2-40B4-BE49-F238E27FC236}">
                <a16:creationId xmlns:a16="http://schemas.microsoft.com/office/drawing/2014/main" id="{E82E4EBC-0EA7-4DCD-1856-19C2C963BFCB}"/>
              </a:ext>
            </a:extLst>
          </p:cNvPr>
          <p:cNvGrpSpPr>
            <a:grpSpLocks/>
          </p:cNvGrpSpPr>
          <p:nvPr/>
        </p:nvGrpSpPr>
        <p:grpSpPr bwMode="auto">
          <a:xfrm>
            <a:off x="2809875" y="608013"/>
            <a:ext cx="5962650" cy="1266825"/>
            <a:chOff x="1931" y="523"/>
            <a:chExt cx="3756" cy="798"/>
          </a:xfrm>
        </p:grpSpPr>
        <p:grpSp>
          <p:nvGrpSpPr>
            <p:cNvPr id="58374" name="Group 83">
              <a:extLst>
                <a:ext uri="{FF2B5EF4-FFF2-40B4-BE49-F238E27FC236}">
                  <a16:creationId xmlns:a16="http://schemas.microsoft.com/office/drawing/2014/main" id="{7DDA53CE-F541-C011-40D9-F1B93D8B4E37}"/>
                </a:ext>
              </a:extLst>
            </p:cNvPr>
            <p:cNvGrpSpPr>
              <a:grpSpLocks/>
            </p:cNvGrpSpPr>
            <p:nvPr/>
          </p:nvGrpSpPr>
          <p:grpSpPr bwMode="auto">
            <a:xfrm>
              <a:off x="1931" y="708"/>
              <a:ext cx="3756" cy="613"/>
              <a:chOff x="1918" y="672"/>
              <a:chExt cx="3756" cy="613"/>
            </a:xfrm>
          </p:grpSpPr>
          <p:grpSp>
            <p:nvGrpSpPr>
              <p:cNvPr id="58375" name="Group 84">
                <a:extLst>
                  <a:ext uri="{FF2B5EF4-FFF2-40B4-BE49-F238E27FC236}">
                    <a16:creationId xmlns:a16="http://schemas.microsoft.com/office/drawing/2014/main" id="{74AAA79D-1D3E-6808-16E9-CD953BDCB9A9}"/>
                  </a:ext>
                </a:extLst>
              </p:cNvPr>
              <p:cNvGrpSpPr>
                <a:grpSpLocks/>
              </p:cNvGrpSpPr>
              <p:nvPr/>
            </p:nvGrpSpPr>
            <p:grpSpPr bwMode="auto">
              <a:xfrm>
                <a:off x="1918" y="672"/>
                <a:ext cx="3756" cy="393"/>
                <a:chOff x="1918" y="672"/>
                <a:chExt cx="3756" cy="393"/>
              </a:xfrm>
            </p:grpSpPr>
            <p:grpSp>
              <p:nvGrpSpPr>
                <p:cNvPr id="58376" name="Group 85">
                  <a:extLst>
                    <a:ext uri="{FF2B5EF4-FFF2-40B4-BE49-F238E27FC236}">
                      <a16:creationId xmlns:a16="http://schemas.microsoft.com/office/drawing/2014/main" id="{E7442102-31D0-1E9A-39FC-ABBE9131D0D7}"/>
                    </a:ext>
                  </a:extLst>
                </p:cNvPr>
                <p:cNvGrpSpPr>
                  <a:grpSpLocks/>
                </p:cNvGrpSpPr>
                <p:nvPr/>
              </p:nvGrpSpPr>
              <p:grpSpPr bwMode="auto">
                <a:xfrm>
                  <a:off x="1979" y="836"/>
                  <a:ext cx="3607" cy="229"/>
                  <a:chOff x="1979" y="836"/>
                  <a:chExt cx="3607" cy="229"/>
                </a:xfrm>
              </p:grpSpPr>
              <p:sp>
                <p:nvSpPr>
                  <p:cNvPr id="58377" name="Rectangle 86">
                    <a:extLst>
                      <a:ext uri="{FF2B5EF4-FFF2-40B4-BE49-F238E27FC236}">
                        <a16:creationId xmlns:a16="http://schemas.microsoft.com/office/drawing/2014/main" id="{824BCFE6-D320-5A3E-0A1C-61F8248783A7}"/>
                      </a:ext>
                    </a:extLst>
                  </p:cNvPr>
                  <p:cNvSpPr>
                    <a:spLocks noChangeArrowheads="1"/>
                  </p:cNvSpPr>
                  <p:nvPr/>
                </p:nvSpPr>
                <p:spPr bwMode="auto">
                  <a:xfrm>
                    <a:off x="1983" y="872"/>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grpSp>
                <p:nvGrpSpPr>
                  <p:cNvPr id="58378" name="Group 87">
                    <a:extLst>
                      <a:ext uri="{FF2B5EF4-FFF2-40B4-BE49-F238E27FC236}">
                        <a16:creationId xmlns:a16="http://schemas.microsoft.com/office/drawing/2014/main" id="{59ED508A-07D1-269C-F7DE-E15831002CA0}"/>
                      </a:ext>
                    </a:extLst>
                  </p:cNvPr>
                  <p:cNvGrpSpPr>
                    <a:grpSpLocks/>
                  </p:cNvGrpSpPr>
                  <p:nvPr/>
                </p:nvGrpSpPr>
                <p:grpSpPr bwMode="auto">
                  <a:xfrm>
                    <a:off x="1979" y="836"/>
                    <a:ext cx="3607" cy="229"/>
                    <a:chOff x="1979" y="836"/>
                    <a:chExt cx="3607" cy="229"/>
                  </a:xfrm>
                </p:grpSpPr>
                <p:grpSp>
                  <p:nvGrpSpPr>
                    <p:cNvPr id="58379" name="Group 88">
                      <a:extLst>
                        <a:ext uri="{FF2B5EF4-FFF2-40B4-BE49-F238E27FC236}">
                          <a16:creationId xmlns:a16="http://schemas.microsoft.com/office/drawing/2014/main" id="{4B829F60-D797-32E9-BE7C-FBFB1B0D8079}"/>
                        </a:ext>
                      </a:extLst>
                    </p:cNvPr>
                    <p:cNvGrpSpPr>
                      <a:grpSpLocks/>
                    </p:cNvGrpSpPr>
                    <p:nvPr/>
                  </p:nvGrpSpPr>
                  <p:grpSpPr bwMode="auto">
                    <a:xfrm>
                      <a:off x="1979" y="836"/>
                      <a:ext cx="624" cy="229"/>
                      <a:chOff x="1979" y="836"/>
                      <a:chExt cx="624" cy="229"/>
                    </a:xfrm>
                  </p:grpSpPr>
                  <p:sp>
                    <p:nvSpPr>
                      <p:cNvPr id="58380" name="Rectangle 89">
                        <a:extLst>
                          <a:ext uri="{FF2B5EF4-FFF2-40B4-BE49-F238E27FC236}">
                            <a16:creationId xmlns:a16="http://schemas.microsoft.com/office/drawing/2014/main" id="{35D733ED-F502-48BB-D0B7-BB293D87BBAB}"/>
                          </a:ext>
                        </a:extLst>
                      </p:cNvPr>
                      <p:cNvSpPr>
                        <a:spLocks noChangeArrowheads="1"/>
                      </p:cNvSpPr>
                      <p:nvPr/>
                    </p:nvSpPr>
                    <p:spPr bwMode="auto">
                      <a:xfrm>
                        <a:off x="1979" y="868"/>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381" name="Rectangle 90">
                        <a:extLst>
                          <a:ext uri="{FF2B5EF4-FFF2-40B4-BE49-F238E27FC236}">
                            <a16:creationId xmlns:a16="http://schemas.microsoft.com/office/drawing/2014/main" id="{A1F826E3-A298-49F1-FAFB-8C8D8E750711}"/>
                          </a:ext>
                        </a:extLst>
                      </p:cNvPr>
                      <p:cNvSpPr>
                        <a:spLocks noChangeArrowheads="1"/>
                      </p:cNvSpPr>
                      <p:nvPr/>
                    </p:nvSpPr>
                    <p:spPr bwMode="auto">
                      <a:xfrm>
                        <a:off x="2189" y="836"/>
                        <a:ext cx="26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op</a:t>
                        </a:r>
                      </a:p>
                    </p:txBody>
                  </p:sp>
                </p:grpSp>
                <p:grpSp>
                  <p:nvGrpSpPr>
                    <p:cNvPr id="58382" name="Group 91">
                      <a:extLst>
                        <a:ext uri="{FF2B5EF4-FFF2-40B4-BE49-F238E27FC236}">
                          <a16:creationId xmlns:a16="http://schemas.microsoft.com/office/drawing/2014/main" id="{2D08BE49-2EE7-3B51-4ECD-B8F7E5554E4F}"/>
                        </a:ext>
                      </a:extLst>
                    </p:cNvPr>
                    <p:cNvGrpSpPr>
                      <a:grpSpLocks/>
                    </p:cNvGrpSpPr>
                    <p:nvPr/>
                  </p:nvGrpSpPr>
                  <p:grpSpPr bwMode="auto">
                    <a:xfrm>
                      <a:off x="2611" y="836"/>
                      <a:ext cx="580" cy="229"/>
                      <a:chOff x="2611" y="836"/>
                      <a:chExt cx="580" cy="229"/>
                    </a:xfrm>
                  </p:grpSpPr>
                  <p:sp>
                    <p:nvSpPr>
                      <p:cNvPr id="58383" name="Rectangle 92">
                        <a:extLst>
                          <a:ext uri="{FF2B5EF4-FFF2-40B4-BE49-F238E27FC236}">
                            <a16:creationId xmlns:a16="http://schemas.microsoft.com/office/drawing/2014/main" id="{5438EF7A-755E-B636-BCBF-2CEA8335B8E4}"/>
                          </a:ext>
                        </a:extLst>
                      </p:cNvPr>
                      <p:cNvSpPr>
                        <a:spLocks noChangeArrowheads="1"/>
                      </p:cNvSpPr>
                      <p:nvPr/>
                    </p:nvSpPr>
                    <p:spPr bwMode="auto">
                      <a:xfrm>
                        <a:off x="2611" y="86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384" name="Rectangle 93">
                        <a:extLst>
                          <a:ext uri="{FF2B5EF4-FFF2-40B4-BE49-F238E27FC236}">
                            <a16:creationId xmlns:a16="http://schemas.microsoft.com/office/drawing/2014/main" id="{1C310CBF-D111-3A45-1591-504481EAB063}"/>
                          </a:ext>
                        </a:extLst>
                      </p:cNvPr>
                      <p:cNvSpPr>
                        <a:spLocks noChangeArrowheads="1"/>
                      </p:cNvSpPr>
                      <p:nvPr/>
                    </p:nvSpPr>
                    <p:spPr bwMode="auto">
                      <a:xfrm>
                        <a:off x="2804" y="836"/>
                        <a:ext cx="23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rs</a:t>
                        </a:r>
                      </a:p>
                    </p:txBody>
                  </p:sp>
                </p:grpSp>
                <p:grpSp>
                  <p:nvGrpSpPr>
                    <p:cNvPr id="58385" name="Group 94">
                      <a:extLst>
                        <a:ext uri="{FF2B5EF4-FFF2-40B4-BE49-F238E27FC236}">
                          <a16:creationId xmlns:a16="http://schemas.microsoft.com/office/drawing/2014/main" id="{84E2C62B-9E75-8D34-54FD-1553DEBCFCE5}"/>
                        </a:ext>
                      </a:extLst>
                    </p:cNvPr>
                    <p:cNvGrpSpPr>
                      <a:grpSpLocks/>
                    </p:cNvGrpSpPr>
                    <p:nvPr/>
                  </p:nvGrpSpPr>
                  <p:grpSpPr bwMode="auto">
                    <a:xfrm>
                      <a:off x="3199" y="836"/>
                      <a:ext cx="579" cy="229"/>
                      <a:chOff x="3199" y="836"/>
                      <a:chExt cx="579" cy="229"/>
                    </a:xfrm>
                  </p:grpSpPr>
                  <p:sp>
                    <p:nvSpPr>
                      <p:cNvPr id="58386" name="Rectangle 95">
                        <a:extLst>
                          <a:ext uri="{FF2B5EF4-FFF2-40B4-BE49-F238E27FC236}">
                            <a16:creationId xmlns:a16="http://schemas.microsoft.com/office/drawing/2014/main" id="{4A4C3CD5-8BC7-FA8A-D6C6-8348F24EE631}"/>
                          </a:ext>
                        </a:extLst>
                      </p:cNvPr>
                      <p:cNvSpPr>
                        <a:spLocks noChangeArrowheads="1"/>
                      </p:cNvSpPr>
                      <p:nvPr/>
                    </p:nvSpPr>
                    <p:spPr bwMode="auto">
                      <a:xfrm>
                        <a:off x="3199" y="86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387" name="Rectangle 96">
                        <a:extLst>
                          <a:ext uri="{FF2B5EF4-FFF2-40B4-BE49-F238E27FC236}">
                            <a16:creationId xmlns:a16="http://schemas.microsoft.com/office/drawing/2014/main" id="{CCACB971-E59A-EB3D-E218-C40CA5B0DF43}"/>
                          </a:ext>
                        </a:extLst>
                      </p:cNvPr>
                      <p:cNvSpPr>
                        <a:spLocks noChangeArrowheads="1"/>
                      </p:cNvSpPr>
                      <p:nvPr/>
                    </p:nvSpPr>
                    <p:spPr bwMode="auto">
                      <a:xfrm>
                        <a:off x="3391" y="836"/>
                        <a:ext cx="22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rt</a:t>
                        </a:r>
                      </a:p>
                    </p:txBody>
                  </p:sp>
                </p:grpSp>
                <p:grpSp>
                  <p:nvGrpSpPr>
                    <p:cNvPr id="58388" name="Group 97">
                      <a:extLst>
                        <a:ext uri="{FF2B5EF4-FFF2-40B4-BE49-F238E27FC236}">
                          <a16:creationId xmlns:a16="http://schemas.microsoft.com/office/drawing/2014/main" id="{A662FF7F-761C-6701-1F59-1ADFE4077A99}"/>
                        </a:ext>
                      </a:extLst>
                    </p:cNvPr>
                    <p:cNvGrpSpPr>
                      <a:grpSpLocks/>
                    </p:cNvGrpSpPr>
                    <p:nvPr/>
                  </p:nvGrpSpPr>
                  <p:grpSpPr bwMode="auto">
                    <a:xfrm>
                      <a:off x="3786" y="836"/>
                      <a:ext cx="579" cy="229"/>
                      <a:chOff x="3786" y="836"/>
                      <a:chExt cx="579" cy="229"/>
                    </a:xfrm>
                  </p:grpSpPr>
                  <p:sp>
                    <p:nvSpPr>
                      <p:cNvPr id="58389" name="Rectangle 98">
                        <a:extLst>
                          <a:ext uri="{FF2B5EF4-FFF2-40B4-BE49-F238E27FC236}">
                            <a16:creationId xmlns:a16="http://schemas.microsoft.com/office/drawing/2014/main" id="{F1716E1E-723A-0C11-6610-61D389E7256F}"/>
                          </a:ext>
                        </a:extLst>
                      </p:cNvPr>
                      <p:cNvSpPr>
                        <a:spLocks noChangeArrowheads="1"/>
                      </p:cNvSpPr>
                      <p:nvPr/>
                    </p:nvSpPr>
                    <p:spPr bwMode="auto">
                      <a:xfrm>
                        <a:off x="3786" y="86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390" name="Rectangle 99">
                        <a:extLst>
                          <a:ext uri="{FF2B5EF4-FFF2-40B4-BE49-F238E27FC236}">
                            <a16:creationId xmlns:a16="http://schemas.microsoft.com/office/drawing/2014/main" id="{C9CB87E9-C3E6-DB2B-83FF-402F2EE22C5E}"/>
                          </a:ext>
                        </a:extLst>
                      </p:cNvPr>
                      <p:cNvSpPr>
                        <a:spLocks noChangeArrowheads="1"/>
                      </p:cNvSpPr>
                      <p:nvPr/>
                    </p:nvSpPr>
                    <p:spPr bwMode="auto">
                      <a:xfrm>
                        <a:off x="3979" y="836"/>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rd</a:t>
                        </a:r>
                      </a:p>
                    </p:txBody>
                  </p:sp>
                </p:grpSp>
                <p:grpSp>
                  <p:nvGrpSpPr>
                    <p:cNvPr id="58391" name="Group 100">
                      <a:extLst>
                        <a:ext uri="{FF2B5EF4-FFF2-40B4-BE49-F238E27FC236}">
                          <a16:creationId xmlns:a16="http://schemas.microsoft.com/office/drawing/2014/main" id="{7D523969-D731-04D8-6E45-89BDCD7C23DF}"/>
                        </a:ext>
                      </a:extLst>
                    </p:cNvPr>
                    <p:cNvGrpSpPr>
                      <a:grpSpLocks/>
                    </p:cNvGrpSpPr>
                    <p:nvPr/>
                  </p:nvGrpSpPr>
                  <p:grpSpPr bwMode="auto">
                    <a:xfrm>
                      <a:off x="4373" y="836"/>
                      <a:ext cx="580" cy="229"/>
                      <a:chOff x="4373" y="836"/>
                      <a:chExt cx="580" cy="229"/>
                    </a:xfrm>
                  </p:grpSpPr>
                  <p:sp>
                    <p:nvSpPr>
                      <p:cNvPr id="58392" name="Rectangle 101">
                        <a:extLst>
                          <a:ext uri="{FF2B5EF4-FFF2-40B4-BE49-F238E27FC236}">
                            <a16:creationId xmlns:a16="http://schemas.microsoft.com/office/drawing/2014/main" id="{76A6335F-82DA-A69B-B9AA-DDC904F9C2B6}"/>
                          </a:ext>
                        </a:extLst>
                      </p:cNvPr>
                      <p:cNvSpPr>
                        <a:spLocks noChangeArrowheads="1"/>
                      </p:cNvSpPr>
                      <p:nvPr/>
                    </p:nvSpPr>
                    <p:spPr bwMode="auto">
                      <a:xfrm>
                        <a:off x="4373" y="86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393" name="Rectangle 102">
                        <a:extLst>
                          <a:ext uri="{FF2B5EF4-FFF2-40B4-BE49-F238E27FC236}">
                            <a16:creationId xmlns:a16="http://schemas.microsoft.com/office/drawing/2014/main" id="{694CAC7E-4161-F864-EEDD-6FF589AA1C6A}"/>
                          </a:ext>
                        </a:extLst>
                      </p:cNvPr>
                      <p:cNvSpPr>
                        <a:spLocks noChangeArrowheads="1"/>
                      </p:cNvSpPr>
                      <p:nvPr/>
                    </p:nvSpPr>
                    <p:spPr bwMode="auto">
                      <a:xfrm>
                        <a:off x="4448" y="836"/>
                        <a:ext cx="49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shamt</a:t>
                        </a:r>
                      </a:p>
                    </p:txBody>
                  </p:sp>
                </p:grpSp>
                <p:grpSp>
                  <p:nvGrpSpPr>
                    <p:cNvPr id="58394" name="Group 103">
                      <a:extLst>
                        <a:ext uri="{FF2B5EF4-FFF2-40B4-BE49-F238E27FC236}">
                          <a16:creationId xmlns:a16="http://schemas.microsoft.com/office/drawing/2014/main" id="{BBA98EF5-7388-F524-9F63-787E6471B645}"/>
                        </a:ext>
                      </a:extLst>
                    </p:cNvPr>
                    <p:cNvGrpSpPr>
                      <a:grpSpLocks/>
                    </p:cNvGrpSpPr>
                    <p:nvPr/>
                  </p:nvGrpSpPr>
                  <p:grpSpPr bwMode="auto">
                    <a:xfrm>
                      <a:off x="4961" y="836"/>
                      <a:ext cx="625" cy="229"/>
                      <a:chOff x="4961" y="836"/>
                      <a:chExt cx="625" cy="229"/>
                    </a:xfrm>
                  </p:grpSpPr>
                  <p:sp>
                    <p:nvSpPr>
                      <p:cNvPr id="58395" name="Rectangle 104">
                        <a:extLst>
                          <a:ext uri="{FF2B5EF4-FFF2-40B4-BE49-F238E27FC236}">
                            <a16:creationId xmlns:a16="http://schemas.microsoft.com/office/drawing/2014/main" id="{4D05A886-5C62-3C93-E402-4457CF34ACDB}"/>
                          </a:ext>
                        </a:extLst>
                      </p:cNvPr>
                      <p:cNvSpPr>
                        <a:spLocks noChangeArrowheads="1"/>
                      </p:cNvSpPr>
                      <p:nvPr/>
                    </p:nvSpPr>
                    <p:spPr bwMode="auto">
                      <a:xfrm>
                        <a:off x="4961" y="868"/>
                        <a:ext cx="62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396" name="Rectangle 105">
                        <a:extLst>
                          <a:ext uri="{FF2B5EF4-FFF2-40B4-BE49-F238E27FC236}">
                            <a16:creationId xmlns:a16="http://schemas.microsoft.com/office/drawing/2014/main" id="{91E50A69-C6E6-5895-BFAB-E2575B607F8C}"/>
                          </a:ext>
                        </a:extLst>
                      </p:cNvPr>
                      <p:cNvSpPr>
                        <a:spLocks noChangeArrowheads="1"/>
                      </p:cNvSpPr>
                      <p:nvPr/>
                    </p:nvSpPr>
                    <p:spPr bwMode="auto">
                      <a:xfrm>
                        <a:off x="5143" y="836"/>
                        <a:ext cx="3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func</a:t>
                        </a:r>
                      </a:p>
                    </p:txBody>
                  </p:sp>
                </p:grpSp>
              </p:grpSp>
            </p:grpSp>
            <p:sp>
              <p:nvSpPr>
                <p:cNvPr id="58397" name="Rectangle 106">
                  <a:extLst>
                    <a:ext uri="{FF2B5EF4-FFF2-40B4-BE49-F238E27FC236}">
                      <a16:creationId xmlns:a16="http://schemas.microsoft.com/office/drawing/2014/main" id="{2A69451C-3F8C-79E3-4E0A-9B0419E5E114}"/>
                    </a:ext>
                  </a:extLst>
                </p:cNvPr>
                <p:cNvSpPr>
                  <a:spLocks noChangeArrowheads="1"/>
                </p:cNvSpPr>
                <p:nvPr/>
              </p:nvSpPr>
              <p:spPr bwMode="auto">
                <a:xfrm>
                  <a:off x="5488" y="672"/>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0</a:t>
                  </a:r>
                </a:p>
              </p:txBody>
            </p:sp>
            <p:sp>
              <p:nvSpPr>
                <p:cNvPr id="58398" name="Rectangle 107">
                  <a:extLst>
                    <a:ext uri="{FF2B5EF4-FFF2-40B4-BE49-F238E27FC236}">
                      <a16:creationId xmlns:a16="http://schemas.microsoft.com/office/drawing/2014/main" id="{70A707E7-1E4A-5A2B-ED37-3FE7A81D2BF9}"/>
                    </a:ext>
                  </a:extLst>
                </p:cNvPr>
                <p:cNvSpPr>
                  <a:spLocks noChangeArrowheads="1"/>
                </p:cNvSpPr>
                <p:nvPr/>
              </p:nvSpPr>
              <p:spPr bwMode="auto">
                <a:xfrm>
                  <a:off x="4810" y="672"/>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a:t>
                  </a:r>
                </a:p>
              </p:txBody>
            </p:sp>
            <p:sp>
              <p:nvSpPr>
                <p:cNvPr id="58399" name="Rectangle 108">
                  <a:extLst>
                    <a:ext uri="{FF2B5EF4-FFF2-40B4-BE49-F238E27FC236}">
                      <a16:creationId xmlns:a16="http://schemas.microsoft.com/office/drawing/2014/main" id="{CDF792F4-8E21-3861-62F6-C370C724BAA9}"/>
                    </a:ext>
                  </a:extLst>
                </p:cNvPr>
                <p:cNvSpPr>
                  <a:spLocks noChangeArrowheads="1"/>
                </p:cNvSpPr>
                <p:nvPr/>
              </p:nvSpPr>
              <p:spPr bwMode="auto">
                <a:xfrm>
                  <a:off x="4177"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11</a:t>
                  </a:r>
                </a:p>
              </p:txBody>
            </p:sp>
            <p:sp>
              <p:nvSpPr>
                <p:cNvPr id="58400" name="Rectangle 109">
                  <a:extLst>
                    <a:ext uri="{FF2B5EF4-FFF2-40B4-BE49-F238E27FC236}">
                      <a16:creationId xmlns:a16="http://schemas.microsoft.com/office/drawing/2014/main" id="{4B2CB594-1116-1909-400F-7A21C96A267E}"/>
                    </a:ext>
                  </a:extLst>
                </p:cNvPr>
                <p:cNvSpPr>
                  <a:spLocks noChangeArrowheads="1"/>
                </p:cNvSpPr>
                <p:nvPr/>
              </p:nvSpPr>
              <p:spPr bwMode="auto">
                <a:xfrm>
                  <a:off x="3590"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16</a:t>
                  </a:r>
                </a:p>
              </p:txBody>
            </p:sp>
            <p:sp>
              <p:nvSpPr>
                <p:cNvPr id="58401" name="Rectangle 110">
                  <a:extLst>
                    <a:ext uri="{FF2B5EF4-FFF2-40B4-BE49-F238E27FC236}">
                      <a16:creationId xmlns:a16="http://schemas.microsoft.com/office/drawing/2014/main" id="{A93FD9B9-B9C7-1974-0079-0D8F6DAF7DCD}"/>
                    </a:ext>
                  </a:extLst>
                </p:cNvPr>
                <p:cNvSpPr>
                  <a:spLocks noChangeArrowheads="1"/>
                </p:cNvSpPr>
                <p:nvPr/>
              </p:nvSpPr>
              <p:spPr bwMode="auto">
                <a:xfrm>
                  <a:off x="3002"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21</a:t>
                  </a:r>
                </a:p>
              </p:txBody>
            </p:sp>
            <p:sp>
              <p:nvSpPr>
                <p:cNvPr id="58402" name="Rectangle 111">
                  <a:extLst>
                    <a:ext uri="{FF2B5EF4-FFF2-40B4-BE49-F238E27FC236}">
                      <a16:creationId xmlns:a16="http://schemas.microsoft.com/office/drawing/2014/main" id="{BAD10807-7785-741D-8C15-5D0217E701AA}"/>
                    </a:ext>
                  </a:extLst>
                </p:cNvPr>
                <p:cNvSpPr>
                  <a:spLocks noChangeArrowheads="1"/>
                </p:cNvSpPr>
                <p:nvPr/>
              </p:nvSpPr>
              <p:spPr bwMode="auto">
                <a:xfrm>
                  <a:off x="2414"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p>
              </p:txBody>
            </p:sp>
            <p:sp>
              <p:nvSpPr>
                <p:cNvPr id="58403" name="Rectangle 112">
                  <a:extLst>
                    <a:ext uri="{FF2B5EF4-FFF2-40B4-BE49-F238E27FC236}">
                      <a16:creationId xmlns:a16="http://schemas.microsoft.com/office/drawing/2014/main" id="{73208C0F-3B1B-B51E-FDF6-E6F30B53E7A5}"/>
                    </a:ext>
                  </a:extLst>
                </p:cNvPr>
                <p:cNvSpPr>
                  <a:spLocks noChangeArrowheads="1"/>
                </p:cNvSpPr>
                <p:nvPr/>
              </p:nvSpPr>
              <p:spPr bwMode="auto">
                <a:xfrm>
                  <a:off x="1918" y="67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31</a:t>
                  </a:r>
                </a:p>
              </p:txBody>
            </p:sp>
          </p:grpSp>
          <p:sp>
            <p:nvSpPr>
              <p:cNvPr id="58404" name="Rectangle 113">
                <a:extLst>
                  <a:ext uri="{FF2B5EF4-FFF2-40B4-BE49-F238E27FC236}">
                    <a16:creationId xmlns:a16="http://schemas.microsoft.com/office/drawing/2014/main" id="{03019B5F-59C4-0833-5694-B17C63B5829E}"/>
                  </a:ext>
                </a:extLst>
              </p:cNvPr>
              <p:cNvSpPr>
                <a:spLocks noChangeArrowheads="1"/>
              </p:cNvSpPr>
              <p:nvPr/>
            </p:nvSpPr>
            <p:spPr bwMode="auto">
              <a:xfrm>
                <a:off x="2143"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8405" name="Rectangle 114">
                <a:extLst>
                  <a:ext uri="{FF2B5EF4-FFF2-40B4-BE49-F238E27FC236}">
                    <a16:creationId xmlns:a16="http://schemas.microsoft.com/office/drawing/2014/main" id="{4405A712-7769-8B3B-F044-7DB5FC31DB8C}"/>
                  </a:ext>
                </a:extLst>
              </p:cNvPr>
              <p:cNvSpPr>
                <a:spLocks noChangeArrowheads="1"/>
              </p:cNvSpPr>
              <p:nvPr/>
            </p:nvSpPr>
            <p:spPr bwMode="auto">
              <a:xfrm>
                <a:off x="5126"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8406" name="Rectangle 115">
                <a:extLst>
                  <a:ext uri="{FF2B5EF4-FFF2-40B4-BE49-F238E27FC236}">
                    <a16:creationId xmlns:a16="http://schemas.microsoft.com/office/drawing/2014/main" id="{9C862DDD-17C8-D1C4-B372-F9A7C3F6EAD2}"/>
                  </a:ext>
                </a:extLst>
              </p:cNvPr>
              <p:cNvSpPr>
                <a:spLocks noChangeArrowheads="1"/>
              </p:cNvSpPr>
              <p:nvPr/>
            </p:nvSpPr>
            <p:spPr bwMode="auto">
              <a:xfrm>
                <a:off x="4493"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sp>
            <p:nvSpPr>
              <p:cNvPr id="58407" name="Rectangle 116">
                <a:extLst>
                  <a:ext uri="{FF2B5EF4-FFF2-40B4-BE49-F238E27FC236}">
                    <a16:creationId xmlns:a16="http://schemas.microsoft.com/office/drawing/2014/main" id="{29BFCA81-27EE-2211-06EF-6D3138F14019}"/>
                  </a:ext>
                </a:extLst>
              </p:cNvPr>
              <p:cNvSpPr>
                <a:spLocks noChangeArrowheads="1"/>
              </p:cNvSpPr>
              <p:nvPr/>
            </p:nvSpPr>
            <p:spPr bwMode="auto">
              <a:xfrm>
                <a:off x="3906" y="1056"/>
                <a:ext cx="44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a:t>
                </a:r>
                <a:r>
                  <a:rPr lang="zh-CN" altLang="en-US" sz="1600" b="0">
                    <a:solidFill>
                      <a:schemeClr val="tx1"/>
                    </a:solidFill>
                    <a:latin typeface="Times New Roman" panose="02020603050405020304" pitchFamily="18" charset="0"/>
                  </a:rPr>
                  <a:t> </a:t>
                </a:r>
                <a:r>
                  <a:rPr lang="en-US" altLang="zh-CN" sz="1800">
                    <a:solidFill>
                      <a:schemeClr val="tx1"/>
                    </a:solidFill>
                    <a:latin typeface="Times New Roman" panose="02020603050405020304" pitchFamily="18" charset="0"/>
                  </a:rPr>
                  <a:t>bits</a:t>
                </a:r>
              </a:p>
            </p:txBody>
          </p:sp>
          <p:sp>
            <p:nvSpPr>
              <p:cNvPr id="58408" name="Rectangle 117">
                <a:extLst>
                  <a:ext uri="{FF2B5EF4-FFF2-40B4-BE49-F238E27FC236}">
                    <a16:creationId xmlns:a16="http://schemas.microsoft.com/office/drawing/2014/main" id="{18FA9016-F9A2-E5FE-26DF-9BFDE3DDDF61}"/>
                  </a:ext>
                </a:extLst>
              </p:cNvPr>
              <p:cNvSpPr>
                <a:spLocks noChangeArrowheads="1"/>
              </p:cNvSpPr>
              <p:nvPr/>
            </p:nvSpPr>
            <p:spPr bwMode="auto">
              <a:xfrm>
                <a:off x="3318"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sp>
            <p:nvSpPr>
              <p:cNvPr id="58409" name="Rectangle 118">
                <a:extLst>
                  <a:ext uri="{FF2B5EF4-FFF2-40B4-BE49-F238E27FC236}">
                    <a16:creationId xmlns:a16="http://schemas.microsoft.com/office/drawing/2014/main" id="{EA83B864-4D49-5B3E-9202-895418C34D0E}"/>
                  </a:ext>
                </a:extLst>
              </p:cNvPr>
              <p:cNvSpPr>
                <a:spLocks noChangeArrowheads="1"/>
              </p:cNvSpPr>
              <p:nvPr/>
            </p:nvSpPr>
            <p:spPr bwMode="auto">
              <a:xfrm>
                <a:off x="2731" y="105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grpSp>
        <p:sp>
          <p:nvSpPr>
            <p:cNvPr id="58410" name="Text Box 119">
              <a:extLst>
                <a:ext uri="{FF2B5EF4-FFF2-40B4-BE49-F238E27FC236}">
                  <a16:creationId xmlns:a16="http://schemas.microsoft.com/office/drawing/2014/main" id="{C3794A6A-91D0-EBB3-8FC1-BCC2AB625B45}"/>
                </a:ext>
              </a:extLst>
            </p:cNvPr>
            <p:cNvSpPr txBox="1">
              <a:spLocks noChangeArrowheads="1"/>
            </p:cNvSpPr>
            <p:nvPr/>
          </p:nvSpPr>
          <p:spPr bwMode="auto">
            <a:xfrm>
              <a:off x="3876" y="523"/>
              <a:ext cx="1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latin typeface="Times New Roman" panose="02020603050405020304" pitchFamily="18" charset="0"/>
                </a:rPr>
                <a:t>R-Type</a:t>
              </a:r>
              <a:r>
                <a:rPr lang="zh-CN" altLang="en-US" sz="1800">
                  <a:latin typeface="Times New Roman" panose="02020603050405020304" pitchFamily="18" charset="0"/>
                </a:rPr>
                <a:t>指令</a:t>
              </a:r>
            </a:p>
          </p:txBody>
        </p:sp>
      </p:grpSp>
      <p:grpSp>
        <p:nvGrpSpPr>
          <p:cNvPr id="13" name="Group 120">
            <a:extLst>
              <a:ext uri="{FF2B5EF4-FFF2-40B4-BE49-F238E27FC236}">
                <a16:creationId xmlns:a16="http://schemas.microsoft.com/office/drawing/2014/main" id="{FEE67317-B204-8393-E6D9-B64EB2E9C8B0}"/>
              </a:ext>
            </a:extLst>
          </p:cNvPr>
          <p:cNvGrpSpPr>
            <a:grpSpLocks/>
          </p:cNvGrpSpPr>
          <p:nvPr/>
        </p:nvGrpSpPr>
        <p:grpSpPr bwMode="auto">
          <a:xfrm>
            <a:off x="2813050" y="1951038"/>
            <a:ext cx="5962650" cy="1147762"/>
            <a:chOff x="1889" y="2607"/>
            <a:chExt cx="3756" cy="723"/>
          </a:xfrm>
        </p:grpSpPr>
        <p:grpSp>
          <p:nvGrpSpPr>
            <p:cNvPr id="58412" name="Group 121">
              <a:extLst>
                <a:ext uri="{FF2B5EF4-FFF2-40B4-BE49-F238E27FC236}">
                  <a16:creationId xmlns:a16="http://schemas.microsoft.com/office/drawing/2014/main" id="{E2DA1997-D05C-C223-1DDF-17F0E2E0F8C1}"/>
                </a:ext>
              </a:extLst>
            </p:cNvPr>
            <p:cNvGrpSpPr>
              <a:grpSpLocks/>
            </p:cNvGrpSpPr>
            <p:nvPr/>
          </p:nvGrpSpPr>
          <p:grpSpPr bwMode="auto">
            <a:xfrm>
              <a:off x="1889" y="2717"/>
              <a:ext cx="3756" cy="613"/>
              <a:chOff x="1918" y="1392"/>
              <a:chExt cx="3756" cy="613"/>
            </a:xfrm>
          </p:grpSpPr>
          <p:sp>
            <p:nvSpPr>
              <p:cNvPr id="58413" name="Rectangle 122">
                <a:extLst>
                  <a:ext uri="{FF2B5EF4-FFF2-40B4-BE49-F238E27FC236}">
                    <a16:creationId xmlns:a16="http://schemas.microsoft.com/office/drawing/2014/main" id="{1FD96CBD-EE0C-D78E-7D50-BF1968A0D02A}"/>
                  </a:ext>
                </a:extLst>
              </p:cNvPr>
              <p:cNvSpPr>
                <a:spLocks noChangeArrowheads="1"/>
              </p:cNvSpPr>
              <p:nvPr/>
            </p:nvSpPr>
            <p:spPr bwMode="auto">
              <a:xfrm>
                <a:off x="1983" y="1592"/>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grpSp>
            <p:nvGrpSpPr>
              <p:cNvPr id="58414" name="Group 123">
                <a:extLst>
                  <a:ext uri="{FF2B5EF4-FFF2-40B4-BE49-F238E27FC236}">
                    <a16:creationId xmlns:a16="http://schemas.microsoft.com/office/drawing/2014/main" id="{C5EF531E-694F-06E7-096B-4A2E7ED6AE42}"/>
                  </a:ext>
                </a:extLst>
              </p:cNvPr>
              <p:cNvGrpSpPr>
                <a:grpSpLocks/>
              </p:cNvGrpSpPr>
              <p:nvPr/>
            </p:nvGrpSpPr>
            <p:grpSpPr bwMode="auto">
              <a:xfrm>
                <a:off x="1979" y="1556"/>
                <a:ext cx="624" cy="229"/>
                <a:chOff x="1979" y="1556"/>
                <a:chExt cx="624" cy="229"/>
              </a:xfrm>
            </p:grpSpPr>
            <p:sp>
              <p:nvSpPr>
                <p:cNvPr id="58415" name="Rectangle 124">
                  <a:extLst>
                    <a:ext uri="{FF2B5EF4-FFF2-40B4-BE49-F238E27FC236}">
                      <a16:creationId xmlns:a16="http://schemas.microsoft.com/office/drawing/2014/main" id="{A748CEF0-A9DE-04EB-F48A-61DFAE0172F7}"/>
                    </a:ext>
                  </a:extLst>
                </p:cNvPr>
                <p:cNvSpPr>
                  <a:spLocks noChangeArrowheads="1"/>
                </p:cNvSpPr>
                <p:nvPr/>
              </p:nvSpPr>
              <p:spPr bwMode="auto">
                <a:xfrm>
                  <a:off x="1979" y="1588"/>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416" name="Rectangle 125">
                  <a:extLst>
                    <a:ext uri="{FF2B5EF4-FFF2-40B4-BE49-F238E27FC236}">
                      <a16:creationId xmlns:a16="http://schemas.microsoft.com/office/drawing/2014/main" id="{4C1FB182-7321-032E-3FFC-A1BCEBD6D73A}"/>
                    </a:ext>
                  </a:extLst>
                </p:cNvPr>
                <p:cNvSpPr>
                  <a:spLocks noChangeArrowheads="1"/>
                </p:cNvSpPr>
                <p:nvPr/>
              </p:nvSpPr>
              <p:spPr bwMode="auto">
                <a:xfrm>
                  <a:off x="2180" y="1556"/>
                  <a:ext cx="26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op</a:t>
                  </a:r>
                </a:p>
              </p:txBody>
            </p:sp>
          </p:grpSp>
          <p:grpSp>
            <p:nvGrpSpPr>
              <p:cNvPr id="58417" name="Group 126">
                <a:extLst>
                  <a:ext uri="{FF2B5EF4-FFF2-40B4-BE49-F238E27FC236}">
                    <a16:creationId xmlns:a16="http://schemas.microsoft.com/office/drawing/2014/main" id="{4F5AD615-2FE0-4C02-107F-F256001C532A}"/>
                  </a:ext>
                </a:extLst>
              </p:cNvPr>
              <p:cNvGrpSpPr>
                <a:grpSpLocks/>
              </p:cNvGrpSpPr>
              <p:nvPr/>
            </p:nvGrpSpPr>
            <p:grpSpPr bwMode="auto">
              <a:xfrm>
                <a:off x="2611" y="1556"/>
                <a:ext cx="580" cy="229"/>
                <a:chOff x="2611" y="1556"/>
                <a:chExt cx="580" cy="229"/>
              </a:xfrm>
            </p:grpSpPr>
            <p:sp>
              <p:nvSpPr>
                <p:cNvPr id="58418" name="Rectangle 127">
                  <a:extLst>
                    <a:ext uri="{FF2B5EF4-FFF2-40B4-BE49-F238E27FC236}">
                      <a16:creationId xmlns:a16="http://schemas.microsoft.com/office/drawing/2014/main" id="{B4459A7F-DC7E-4868-EAF7-0A488D5B4C93}"/>
                    </a:ext>
                  </a:extLst>
                </p:cNvPr>
                <p:cNvSpPr>
                  <a:spLocks noChangeArrowheads="1"/>
                </p:cNvSpPr>
                <p:nvPr/>
              </p:nvSpPr>
              <p:spPr bwMode="auto">
                <a:xfrm>
                  <a:off x="2611" y="158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419" name="Rectangle 128">
                  <a:extLst>
                    <a:ext uri="{FF2B5EF4-FFF2-40B4-BE49-F238E27FC236}">
                      <a16:creationId xmlns:a16="http://schemas.microsoft.com/office/drawing/2014/main" id="{8526F50B-E2C3-550D-AD06-A140B24061A7}"/>
                    </a:ext>
                  </a:extLst>
                </p:cNvPr>
                <p:cNvSpPr>
                  <a:spLocks noChangeArrowheads="1"/>
                </p:cNvSpPr>
                <p:nvPr/>
              </p:nvSpPr>
              <p:spPr bwMode="auto">
                <a:xfrm>
                  <a:off x="2795" y="1556"/>
                  <a:ext cx="23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rs</a:t>
                  </a:r>
                </a:p>
              </p:txBody>
            </p:sp>
          </p:grpSp>
          <p:grpSp>
            <p:nvGrpSpPr>
              <p:cNvPr id="58420" name="Group 129">
                <a:extLst>
                  <a:ext uri="{FF2B5EF4-FFF2-40B4-BE49-F238E27FC236}">
                    <a16:creationId xmlns:a16="http://schemas.microsoft.com/office/drawing/2014/main" id="{AEBC2064-CF03-9D66-0A85-24ED6DF055D3}"/>
                  </a:ext>
                </a:extLst>
              </p:cNvPr>
              <p:cNvGrpSpPr>
                <a:grpSpLocks/>
              </p:cNvGrpSpPr>
              <p:nvPr/>
            </p:nvGrpSpPr>
            <p:grpSpPr bwMode="auto">
              <a:xfrm>
                <a:off x="3199" y="1556"/>
                <a:ext cx="579" cy="229"/>
                <a:chOff x="3199" y="1556"/>
                <a:chExt cx="579" cy="229"/>
              </a:xfrm>
            </p:grpSpPr>
            <p:sp>
              <p:nvSpPr>
                <p:cNvPr id="58421" name="Rectangle 130">
                  <a:extLst>
                    <a:ext uri="{FF2B5EF4-FFF2-40B4-BE49-F238E27FC236}">
                      <a16:creationId xmlns:a16="http://schemas.microsoft.com/office/drawing/2014/main" id="{8987AC32-5CC1-A26A-C320-50D34619461C}"/>
                    </a:ext>
                  </a:extLst>
                </p:cNvPr>
                <p:cNvSpPr>
                  <a:spLocks noChangeArrowheads="1"/>
                </p:cNvSpPr>
                <p:nvPr/>
              </p:nvSpPr>
              <p:spPr bwMode="auto">
                <a:xfrm>
                  <a:off x="3199" y="158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422" name="Rectangle 131">
                  <a:extLst>
                    <a:ext uri="{FF2B5EF4-FFF2-40B4-BE49-F238E27FC236}">
                      <a16:creationId xmlns:a16="http://schemas.microsoft.com/office/drawing/2014/main" id="{4A374543-A54E-4756-2345-88638B9E479B}"/>
                    </a:ext>
                  </a:extLst>
                </p:cNvPr>
                <p:cNvSpPr>
                  <a:spLocks noChangeArrowheads="1"/>
                </p:cNvSpPr>
                <p:nvPr/>
              </p:nvSpPr>
              <p:spPr bwMode="auto">
                <a:xfrm>
                  <a:off x="3382" y="1556"/>
                  <a:ext cx="22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rt</a:t>
                  </a:r>
                </a:p>
              </p:txBody>
            </p:sp>
          </p:grpSp>
          <p:sp>
            <p:nvSpPr>
              <p:cNvPr id="58423" name="Rectangle 132">
                <a:extLst>
                  <a:ext uri="{FF2B5EF4-FFF2-40B4-BE49-F238E27FC236}">
                    <a16:creationId xmlns:a16="http://schemas.microsoft.com/office/drawing/2014/main" id="{EB42BF2D-6EEF-AF67-071B-0F584EBF59E3}"/>
                  </a:ext>
                </a:extLst>
              </p:cNvPr>
              <p:cNvSpPr>
                <a:spLocks noChangeArrowheads="1"/>
              </p:cNvSpPr>
              <p:nvPr/>
            </p:nvSpPr>
            <p:spPr bwMode="auto">
              <a:xfrm>
                <a:off x="3786" y="1588"/>
                <a:ext cx="180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424" name="Rectangle 133">
                <a:extLst>
                  <a:ext uri="{FF2B5EF4-FFF2-40B4-BE49-F238E27FC236}">
                    <a16:creationId xmlns:a16="http://schemas.microsoft.com/office/drawing/2014/main" id="{3D870B28-5B3D-0D59-32DE-75D769223699}"/>
                  </a:ext>
                </a:extLst>
              </p:cNvPr>
              <p:cNvSpPr>
                <a:spLocks noChangeArrowheads="1"/>
              </p:cNvSpPr>
              <p:nvPr/>
            </p:nvSpPr>
            <p:spPr bwMode="auto">
              <a:xfrm>
                <a:off x="4308" y="1556"/>
                <a:ext cx="76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immediate</a:t>
                </a:r>
              </a:p>
            </p:txBody>
          </p:sp>
          <p:sp>
            <p:nvSpPr>
              <p:cNvPr id="58425" name="Rectangle 134">
                <a:extLst>
                  <a:ext uri="{FF2B5EF4-FFF2-40B4-BE49-F238E27FC236}">
                    <a16:creationId xmlns:a16="http://schemas.microsoft.com/office/drawing/2014/main" id="{799E11AE-C71A-4DD0-0B95-202EA84035CD}"/>
                  </a:ext>
                </a:extLst>
              </p:cNvPr>
              <p:cNvSpPr>
                <a:spLocks noChangeArrowheads="1"/>
              </p:cNvSpPr>
              <p:nvPr/>
            </p:nvSpPr>
            <p:spPr bwMode="auto">
              <a:xfrm>
                <a:off x="5488" y="1392"/>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0</a:t>
                </a:r>
              </a:p>
            </p:txBody>
          </p:sp>
          <p:sp>
            <p:nvSpPr>
              <p:cNvPr id="58426" name="Rectangle 135">
                <a:extLst>
                  <a:ext uri="{FF2B5EF4-FFF2-40B4-BE49-F238E27FC236}">
                    <a16:creationId xmlns:a16="http://schemas.microsoft.com/office/drawing/2014/main" id="{8987ACA6-38AE-7C54-92D6-6017637DBBAE}"/>
                  </a:ext>
                </a:extLst>
              </p:cNvPr>
              <p:cNvSpPr>
                <a:spLocks noChangeArrowheads="1"/>
              </p:cNvSpPr>
              <p:nvPr/>
            </p:nvSpPr>
            <p:spPr bwMode="auto">
              <a:xfrm>
                <a:off x="3590"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16</a:t>
                </a:r>
              </a:p>
            </p:txBody>
          </p:sp>
          <p:sp>
            <p:nvSpPr>
              <p:cNvPr id="58427" name="Rectangle 136">
                <a:extLst>
                  <a:ext uri="{FF2B5EF4-FFF2-40B4-BE49-F238E27FC236}">
                    <a16:creationId xmlns:a16="http://schemas.microsoft.com/office/drawing/2014/main" id="{A94D6C27-50DE-8107-D3F3-8980205A81C5}"/>
                  </a:ext>
                </a:extLst>
              </p:cNvPr>
              <p:cNvSpPr>
                <a:spLocks noChangeArrowheads="1"/>
              </p:cNvSpPr>
              <p:nvPr/>
            </p:nvSpPr>
            <p:spPr bwMode="auto">
              <a:xfrm>
                <a:off x="3002"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21</a:t>
                </a:r>
              </a:p>
            </p:txBody>
          </p:sp>
          <p:sp>
            <p:nvSpPr>
              <p:cNvPr id="58428" name="Rectangle 137">
                <a:extLst>
                  <a:ext uri="{FF2B5EF4-FFF2-40B4-BE49-F238E27FC236}">
                    <a16:creationId xmlns:a16="http://schemas.microsoft.com/office/drawing/2014/main" id="{25A2DB15-EF96-A99C-7C62-01AC11921603}"/>
                  </a:ext>
                </a:extLst>
              </p:cNvPr>
              <p:cNvSpPr>
                <a:spLocks noChangeArrowheads="1"/>
              </p:cNvSpPr>
              <p:nvPr/>
            </p:nvSpPr>
            <p:spPr bwMode="auto">
              <a:xfrm>
                <a:off x="2414"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p>
            </p:txBody>
          </p:sp>
          <p:sp>
            <p:nvSpPr>
              <p:cNvPr id="58429" name="Rectangle 138">
                <a:extLst>
                  <a:ext uri="{FF2B5EF4-FFF2-40B4-BE49-F238E27FC236}">
                    <a16:creationId xmlns:a16="http://schemas.microsoft.com/office/drawing/2014/main" id="{F6AF296F-E3D7-298F-8AD5-53FD01175CEF}"/>
                  </a:ext>
                </a:extLst>
              </p:cNvPr>
              <p:cNvSpPr>
                <a:spLocks noChangeArrowheads="1"/>
              </p:cNvSpPr>
              <p:nvPr/>
            </p:nvSpPr>
            <p:spPr bwMode="auto">
              <a:xfrm>
                <a:off x="1918" y="1392"/>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31</a:t>
                </a:r>
              </a:p>
            </p:txBody>
          </p:sp>
          <p:sp>
            <p:nvSpPr>
              <p:cNvPr id="58430" name="Rectangle 139">
                <a:extLst>
                  <a:ext uri="{FF2B5EF4-FFF2-40B4-BE49-F238E27FC236}">
                    <a16:creationId xmlns:a16="http://schemas.microsoft.com/office/drawing/2014/main" id="{13CFBFA9-1A9C-022E-D34F-4C7B65B20C23}"/>
                  </a:ext>
                </a:extLst>
              </p:cNvPr>
              <p:cNvSpPr>
                <a:spLocks noChangeArrowheads="1"/>
              </p:cNvSpPr>
              <p:nvPr/>
            </p:nvSpPr>
            <p:spPr bwMode="auto">
              <a:xfrm>
                <a:off x="2143" y="177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8431" name="Rectangle 140">
                <a:extLst>
                  <a:ext uri="{FF2B5EF4-FFF2-40B4-BE49-F238E27FC236}">
                    <a16:creationId xmlns:a16="http://schemas.microsoft.com/office/drawing/2014/main" id="{7D5D4A26-24F8-1D65-626B-88FC0785FD8D}"/>
                  </a:ext>
                </a:extLst>
              </p:cNvPr>
              <p:cNvSpPr>
                <a:spLocks noChangeArrowheads="1"/>
              </p:cNvSpPr>
              <p:nvPr/>
            </p:nvSpPr>
            <p:spPr bwMode="auto">
              <a:xfrm>
                <a:off x="4448" y="1776"/>
                <a:ext cx="5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16 </a:t>
                </a:r>
                <a:r>
                  <a:rPr lang="en-US" altLang="zh-CN" sz="1800">
                    <a:solidFill>
                      <a:schemeClr val="tx1"/>
                    </a:solidFill>
                    <a:latin typeface="Times New Roman" panose="02020603050405020304" pitchFamily="18" charset="0"/>
                  </a:rPr>
                  <a:t>bits</a:t>
                </a:r>
              </a:p>
            </p:txBody>
          </p:sp>
          <p:sp>
            <p:nvSpPr>
              <p:cNvPr id="58432" name="Rectangle 141">
                <a:extLst>
                  <a:ext uri="{FF2B5EF4-FFF2-40B4-BE49-F238E27FC236}">
                    <a16:creationId xmlns:a16="http://schemas.microsoft.com/office/drawing/2014/main" id="{C044DF62-F75A-77E5-E2F0-2C3E57B9ECD9}"/>
                  </a:ext>
                </a:extLst>
              </p:cNvPr>
              <p:cNvSpPr>
                <a:spLocks noChangeArrowheads="1"/>
              </p:cNvSpPr>
              <p:nvPr/>
            </p:nvSpPr>
            <p:spPr bwMode="auto">
              <a:xfrm>
                <a:off x="3318" y="177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sp>
            <p:nvSpPr>
              <p:cNvPr id="58433" name="Rectangle 142">
                <a:extLst>
                  <a:ext uri="{FF2B5EF4-FFF2-40B4-BE49-F238E27FC236}">
                    <a16:creationId xmlns:a16="http://schemas.microsoft.com/office/drawing/2014/main" id="{91DBC57A-F44E-D6C3-F518-A6D91D593A6C}"/>
                  </a:ext>
                </a:extLst>
              </p:cNvPr>
              <p:cNvSpPr>
                <a:spLocks noChangeArrowheads="1"/>
              </p:cNvSpPr>
              <p:nvPr/>
            </p:nvSpPr>
            <p:spPr bwMode="auto">
              <a:xfrm>
                <a:off x="2731" y="1776"/>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5 </a:t>
                </a:r>
                <a:r>
                  <a:rPr lang="en-US" altLang="zh-CN" sz="1800">
                    <a:solidFill>
                      <a:schemeClr val="tx1"/>
                    </a:solidFill>
                    <a:latin typeface="Times New Roman" panose="02020603050405020304" pitchFamily="18" charset="0"/>
                  </a:rPr>
                  <a:t>bits</a:t>
                </a:r>
              </a:p>
            </p:txBody>
          </p:sp>
        </p:grpSp>
        <p:sp>
          <p:nvSpPr>
            <p:cNvPr id="58434" name="Text Box 143">
              <a:extLst>
                <a:ext uri="{FF2B5EF4-FFF2-40B4-BE49-F238E27FC236}">
                  <a16:creationId xmlns:a16="http://schemas.microsoft.com/office/drawing/2014/main" id="{62A08D89-6DE7-2A9E-B652-3CD2B00343D3}"/>
                </a:ext>
              </a:extLst>
            </p:cNvPr>
            <p:cNvSpPr txBox="1">
              <a:spLocks noChangeArrowheads="1"/>
            </p:cNvSpPr>
            <p:nvPr/>
          </p:nvSpPr>
          <p:spPr bwMode="auto">
            <a:xfrm>
              <a:off x="3912" y="2607"/>
              <a:ext cx="1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latin typeface="Times New Roman" panose="02020603050405020304" pitchFamily="18" charset="0"/>
                </a:rPr>
                <a:t>I-Type</a:t>
              </a:r>
              <a:r>
                <a:rPr lang="zh-CN" altLang="en-US" sz="1800">
                  <a:latin typeface="Times New Roman" panose="02020603050405020304" pitchFamily="18" charset="0"/>
                </a:rPr>
                <a:t>指令</a:t>
              </a:r>
            </a:p>
          </p:txBody>
        </p:sp>
      </p:grpSp>
      <p:grpSp>
        <p:nvGrpSpPr>
          <p:cNvPr id="18" name="Group 144">
            <a:extLst>
              <a:ext uri="{FF2B5EF4-FFF2-40B4-BE49-F238E27FC236}">
                <a16:creationId xmlns:a16="http://schemas.microsoft.com/office/drawing/2014/main" id="{DD56BFDC-6331-C1C9-190F-4F0EC20CB27B}"/>
              </a:ext>
            </a:extLst>
          </p:cNvPr>
          <p:cNvGrpSpPr>
            <a:grpSpLocks/>
          </p:cNvGrpSpPr>
          <p:nvPr/>
        </p:nvGrpSpPr>
        <p:grpSpPr bwMode="auto">
          <a:xfrm>
            <a:off x="2774950" y="3036888"/>
            <a:ext cx="5962650" cy="1044575"/>
            <a:chOff x="1886" y="3544"/>
            <a:chExt cx="3756" cy="658"/>
          </a:xfrm>
        </p:grpSpPr>
        <p:grpSp>
          <p:nvGrpSpPr>
            <p:cNvPr id="58436" name="Group 145">
              <a:extLst>
                <a:ext uri="{FF2B5EF4-FFF2-40B4-BE49-F238E27FC236}">
                  <a16:creationId xmlns:a16="http://schemas.microsoft.com/office/drawing/2014/main" id="{CE101A5A-C1C5-AD45-B649-07CD7523E508}"/>
                </a:ext>
              </a:extLst>
            </p:cNvPr>
            <p:cNvGrpSpPr>
              <a:grpSpLocks/>
            </p:cNvGrpSpPr>
            <p:nvPr/>
          </p:nvGrpSpPr>
          <p:grpSpPr bwMode="auto">
            <a:xfrm>
              <a:off x="1886" y="3589"/>
              <a:ext cx="3756" cy="613"/>
              <a:chOff x="1918" y="3360"/>
              <a:chExt cx="3756" cy="613"/>
            </a:xfrm>
          </p:grpSpPr>
          <p:sp>
            <p:nvSpPr>
              <p:cNvPr id="58437" name="Rectangle 146">
                <a:extLst>
                  <a:ext uri="{FF2B5EF4-FFF2-40B4-BE49-F238E27FC236}">
                    <a16:creationId xmlns:a16="http://schemas.microsoft.com/office/drawing/2014/main" id="{27EC9315-3027-191F-B1BD-51062B39D075}"/>
                  </a:ext>
                </a:extLst>
              </p:cNvPr>
              <p:cNvSpPr>
                <a:spLocks noChangeArrowheads="1"/>
              </p:cNvSpPr>
              <p:nvPr/>
            </p:nvSpPr>
            <p:spPr bwMode="auto">
              <a:xfrm>
                <a:off x="1983" y="3560"/>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grpSp>
            <p:nvGrpSpPr>
              <p:cNvPr id="58438" name="Group 147">
                <a:extLst>
                  <a:ext uri="{FF2B5EF4-FFF2-40B4-BE49-F238E27FC236}">
                    <a16:creationId xmlns:a16="http://schemas.microsoft.com/office/drawing/2014/main" id="{726A23B3-13A2-F34B-3852-D78E3278BF1E}"/>
                  </a:ext>
                </a:extLst>
              </p:cNvPr>
              <p:cNvGrpSpPr>
                <a:grpSpLocks/>
              </p:cNvGrpSpPr>
              <p:nvPr/>
            </p:nvGrpSpPr>
            <p:grpSpPr bwMode="auto">
              <a:xfrm>
                <a:off x="1979" y="3524"/>
                <a:ext cx="624" cy="229"/>
                <a:chOff x="1979" y="3524"/>
                <a:chExt cx="624" cy="229"/>
              </a:xfrm>
            </p:grpSpPr>
            <p:sp>
              <p:nvSpPr>
                <p:cNvPr id="58439" name="Rectangle 148">
                  <a:extLst>
                    <a:ext uri="{FF2B5EF4-FFF2-40B4-BE49-F238E27FC236}">
                      <a16:creationId xmlns:a16="http://schemas.microsoft.com/office/drawing/2014/main" id="{A1FBB17D-470A-5168-9F2C-0272EFA4659F}"/>
                    </a:ext>
                  </a:extLst>
                </p:cNvPr>
                <p:cNvSpPr>
                  <a:spLocks noChangeArrowheads="1"/>
                </p:cNvSpPr>
                <p:nvPr/>
              </p:nvSpPr>
              <p:spPr bwMode="auto">
                <a:xfrm>
                  <a:off x="1979" y="3556"/>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440" name="Rectangle 149">
                  <a:extLst>
                    <a:ext uri="{FF2B5EF4-FFF2-40B4-BE49-F238E27FC236}">
                      <a16:creationId xmlns:a16="http://schemas.microsoft.com/office/drawing/2014/main" id="{A8C0F5FE-FE74-1DDA-5198-7CFCDE847260}"/>
                    </a:ext>
                  </a:extLst>
                </p:cNvPr>
                <p:cNvSpPr>
                  <a:spLocks noChangeArrowheads="1"/>
                </p:cNvSpPr>
                <p:nvPr/>
              </p:nvSpPr>
              <p:spPr bwMode="auto">
                <a:xfrm>
                  <a:off x="2161" y="3524"/>
                  <a:ext cx="26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op</a:t>
                  </a:r>
                </a:p>
              </p:txBody>
            </p:sp>
          </p:grpSp>
          <p:sp>
            <p:nvSpPr>
              <p:cNvPr id="58441" name="Rectangle 150">
                <a:extLst>
                  <a:ext uri="{FF2B5EF4-FFF2-40B4-BE49-F238E27FC236}">
                    <a16:creationId xmlns:a16="http://schemas.microsoft.com/office/drawing/2014/main" id="{5F1298AB-98D2-2CAF-7FF3-29CE4B1D7007}"/>
                  </a:ext>
                </a:extLst>
              </p:cNvPr>
              <p:cNvSpPr>
                <a:spLocks noChangeArrowheads="1"/>
              </p:cNvSpPr>
              <p:nvPr/>
            </p:nvSpPr>
            <p:spPr bwMode="auto">
              <a:xfrm>
                <a:off x="2611" y="3556"/>
                <a:ext cx="297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58442" name="Rectangle 151">
                <a:extLst>
                  <a:ext uri="{FF2B5EF4-FFF2-40B4-BE49-F238E27FC236}">
                    <a16:creationId xmlns:a16="http://schemas.microsoft.com/office/drawing/2014/main" id="{20D2E03E-0284-C154-BA1D-C352A209AFF7}"/>
                  </a:ext>
                </a:extLst>
              </p:cNvPr>
              <p:cNvSpPr>
                <a:spLocks noChangeArrowheads="1"/>
              </p:cNvSpPr>
              <p:nvPr/>
            </p:nvSpPr>
            <p:spPr bwMode="auto">
              <a:xfrm>
                <a:off x="3554" y="3524"/>
                <a:ext cx="99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solidFill>
                      <a:schemeClr val="tx1"/>
                    </a:solidFill>
                    <a:latin typeface="Times New Roman" panose="02020603050405020304" pitchFamily="18" charset="0"/>
                  </a:rPr>
                  <a:t>target address</a:t>
                </a:r>
              </a:p>
            </p:txBody>
          </p:sp>
          <p:sp>
            <p:nvSpPr>
              <p:cNvPr id="58443" name="Rectangle 152">
                <a:extLst>
                  <a:ext uri="{FF2B5EF4-FFF2-40B4-BE49-F238E27FC236}">
                    <a16:creationId xmlns:a16="http://schemas.microsoft.com/office/drawing/2014/main" id="{77C3E642-365A-7BD3-98F6-77034A2679B9}"/>
                  </a:ext>
                </a:extLst>
              </p:cNvPr>
              <p:cNvSpPr>
                <a:spLocks noChangeArrowheads="1"/>
              </p:cNvSpPr>
              <p:nvPr/>
            </p:nvSpPr>
            <p:spPr bwMode="auto">
              <a:xfrm>
                <a:off x="5488" y="3360"/>
                <a:ext cx="1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0</a:t>
                </a:r>
              </a:p>
            </p:txBody>
          </p:sp>
          <p:sp>
            <p:nvSpPr>
              <p:cNvPr id="58444" name="Rectangle 153">
                <a:extLst>
                  <a:ext uri="{FF2B5EF4-FFF2-40B4-BE49-F238E27FC236}">
                    <a16:creationId xmlns:a16="http://schemas.microsoft.com/office/drawing/2014/main" id="{016A92E2-683E-2ECA-5D96-3A561D577B9F}"/>
                  </a:ext>
                </a:extLst>
              </p:cNvPr>
              <p:cNvSpPr>
                <a:spLocks noChangeArrowheads="1"/>
              </p:cNvSpPr>
              <p:nvPr/>
            </p:nvSpPr>
            <p:spPr bwMode="auto">
              <a:xfrm>
                <a:off x="2414" y="3360"/>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p>
            </p:txBody>
          </p:sp>
          <p:sp>
            <p:nvSpPr>
              <p:cNvPr id="58445" name="Rectangle 154">
                <a:extLst>
                  <a:ext uri="{FF2B5EF4-FFF2-40B4-BE49-F238E27FC236}">
                    <a16:creationId xmlns:a16="http://schemas.microsoft.com/office/drawing/2014/main" id="{4BFCDFE2-C2DF-D063-FAA8-4BC18E1F0CF0}"/>
                  </a:ext>
                </a:extLst>
              </p:cNvPr>
              <p:cNvSpPr>
                <a:spLocks noChangeArrowheads="1"/>
              </p:cNvSpPr>
              <p:nvPr/>
            </p:nvSpPr>
            <p:spPr bwMode="auto">
              <a:xfrm>
                <a:off x="1918" y="3360"/>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31</a:t>
                </a:r>
              </a:p>
            </p:txBody>
          </p:sp>
          <p:sp>
            <p:nvSpPr>
              <p:cNvPr id="58446" name="Rectangle 155">
                <a:extLst>
                  <a:ext uri="{FF2B5EF4-FFF2-40B4-BE49-F238E27FC236}">
                    <a16:creationId xmlns:a16="http://schemas.microsoft.com/office/drawing/2014/main" id="{DF261F05-D0C9-134B-9EF3-DC66E124249B}"/>
                  </a:ext>
                </a:extLst>
              </p:cNvPr>
              <p:cNvSpPr>
                <a:spLocks noChangeArrowheads="1"/>
              </p:cNvSpPr>
              <p:nvPr/>
            </p:nvSpPr>
            <p:spPr bwMode="auto">
              <a:xfrm>
                <a:off x="2143" y="3744"/>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6 </a:t>
                </a:r>
                <a:r>
                  <a:rPr lang="en-US" altLang="zh-CN" sz="1800">
                    <a:solidFill>
                      <a:schemeClr val="tx1"/>
                    </a:solidFill>
                    <a:latin typeface="Times New Roman" panose="02020603050405020304" pitchFamily="18" charset="0"/>
                  </a:rPr>
                  <a:t>bits</a:t>
                </a:r>
              </a:p>
            </p:txBody>
          </p:sp>
          <p:sp>
            <p:nvSpPr>
              <p:cNvPr id="58447" name="Rectangle 156">
                <a:extLst>
                  <a:ext uri="{FF2B5EF4-FFF2-40B4-BE49-F238E27FC236}">
                    <a16:creationId xmlns:a16="http://schemas.microsoft.com/office/drawing/2014/main" id="{29DD519A-4C99-3B3E-78BD-8A1C95D6921E}"/>
                  </a:ext>
                </a:extLst>
              </p:cNvPr>
              <p:cNvSpPr>
                <a:spLocks noChangeArrowheads="1"/>
              </p:cNvSpPr>
              <p:nvPr/>
            </p:nvSpPr>
            <p:spPr bwMode="auto">
              <a:xfrm>
                <a:off x="3816" y="3744"/>
                <a:ext cx="5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solidFill>
                      <a:schemeClr val="tx1"/>
                    </a:solidFill>
                    <a:latin typeface="Times New Roman" panose="02020603050405020304" pitchFamily="18" charset="0"/>
                  </a:rPr>
                  <a:t>26</a:t>
                </a:r>
                <a:r>
                  <a:rPr lang="zh-CN" altLang="en-US" sz="1600" b="0">
                    <a:solidFill>
                      <a:schemeClr val="tx1"/>
                    </a:solidFill>
                    <a:latin typeface="Times New Roman" panose="02020603050405020304" pitchFamily="18" charset="0"/>
                  </a:rPr>
                  <a:t> </a:t>
                </a:r>
                <a:r>
                  <a:rPr lang="en-US" altLang="zh-CN" sz="1800">
                    <a:solidFill>
                      <a:schemeClr val="tx1"/>
                    </a:solidFill>
                    <a:latin typeface="Times New Roman" panose="02020603050405020304" pitchFamily="18" charset="0"/>
                  </a:rPr>
                  <a:t>bits</a:t>
                </a:r>
              </a:p>
            </p:txBody>
          </p:sp>
        </p:grpSp>
        <p:sp>
          <p:nvSpPr>
            <p:cNvPr id="58448" name="Text Box 157">
              <a:extLst>
                <a:ext uri="{FF2B5EF4-FFF2-40B4-BE49-F238E27FC236}">
                  <a16:creationId xmlns:a16="http://schemas.microsoft.com/office/drawing/2014/main" id="{8ADE3DEC-6C16-A578-61D6-1AA211F0F6C1}"/>
                </a:ext>
              </a:extLst>
            </p:cNvPr>
            <p:cNvSpPr txBox="1">
              <a:spLocks noChangeArrowheads="1"/>
            </p:cNvSpPr>
            <p:nvPr/>
          </p:nvSpPr>
          <p:spPr bwMode="auto">
            <a:xfrm>
              <a:off x="3838" y="3544"/>
              <a:ext cx="1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latin typeface="Times New Roman" panose="02020603050405020304" pitchFamily="18" charset="0"/>
                </a:rPr>
                <a:t>J-Type</a:t>
              </a:r>
              <a:r>
                <a:rPr lang="zh-CN" altLang="en-US" sz="1800">
                  <a:latin typeface="Times New Roman" panose="02020603050405020304" pitchFamily="18" charset="0"/>
                </a:rPr>
                <a:t>指令</a:t>
              </a:r>
            </a:p>
          </p:txBody>
        </p:sp>
      </p:grpSp>
      <p:sp>
        <p:nvSpPr>
          <p:cNvPr id="58449" name="Rectangle 12">
            <a:extLst>
              <a:ext uri="{FF2B5EF4-FFF2-40B4-BE49-F238E27FC236}">
                <a16:creationId xmlns:a16="http://schemas.microsoft.com/office/drawing/2014/main" id="{F6A25C79-CB89-1728-5824-8BB63217826D}"/>
              </a:ext>
            </a:extLst>
          </p:cNvPr>
          <p:cNvSpPr>
            <a:spLocks noChangeArrowheads="1"/>
          </p:cNvSpPr>
          <p:nvPr/>
        </p:nvSpPr>
        <p:spPr bwMode="auto">
          <a:xfrm>
            <a:off x="711200" y="114300"/>
            <a:ext cx="2066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p>
            <a:pPr eaLnBrk="0" hangingPunct="0">
              <a:lnSpc>
                <a:spcPct val="87000"/>
              </a:lnSpc>
            </a:pPr>
            <a:r>
              <a:rPr lang="zh-CN" altLang="en-US" sz="2400"/>
              <a:t>指令系统举例</a:t>
            </a:r>
            <a:r>
              <a:rPr lang="en-US" altLang="zh-CN" sz="2400"/>
              <a:t>:</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7267">
                                            <p:txEl>
                                              <p:pRg st="0" end="0"/>
                                            </p:txEl>
                                          </p:spTgt>
                                        </p:tgtEl>
                                        <p:attrNameLst>
                                          <p:attrName>style.visibility</p:attrName>
                                        </p:attrNameLst>
                                      </p:cBhvr>
                                      <p:to>
                                        <p:strVal val="visible"/>
                                      </p:to>
                                    </p:set>
                                    <p:animEffect transition="in" filter="blinds(horizontal)">
                                      <p:cBhvr>
                                        <p:cTn id="22" dur="500"/>
                                        <p:tgtEl>
                                          <p:spTgt spid="267267">
                                            <p:txEl>
                                              <p:pRg st="0" end="0"/>
                                            </p:txEl>
                                          </p:spTgt>
                                        </p:tgtEl>
                                      </p:cBhvr>
                                    </p:animEffect>
                                  </p:childTnLst>
                                  <p:subTnLst>
                                    <p:animClr clrSpc="rgb" dir="cw">
                                      <p:cBhvr override="childStyle">
                                        <p:cTn dur="1" fill="hold" display="0" masterRel="nextClick" afterEffect="1"/>
                                        <p:tgtEl>
                                          <p:spTgt spid="267267">
                                            <p:txEl>
                                              <p:pRg st="0" end="0"/>
                                            </p:txEl>
                                          </p:spTgt>
                                        </p:tgtEl>
                                        <p:attrNameLst>
                                          <p:attrName>ppt_c</p:attrName>
                                        </p:attrNameLst>
                                      </p:cBhvr>
                                      <p:to>
                                        <a:srgbClr val="26BFFC"/>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7267">
                                            <p:txEl>
                                              <p:pRg st="1" end="1"/>
                                            </p:txEl>
                                          </p:spTgt>
                                        </p:tgtEl>
                                        <p:attrNameLst>
                                          <p:attrName>style.visibility</p:attrName>
                                        </p:attrNameLst>
                                      </p:cBhvr>
                                      <p:to>
                                        <p:strVal val="visible"/>
                                      </p:to>
                                    </p:set>
                                    <p:animEffect transition="in" filter="blinds(horizontal)">
                                      <p:cBhvr>
                                        <p:cTn id="27" dur="500"/>
                                        <p:tgtEl>
                                          <p:spTgt spid="267267">
                                            <p:txEl>
                                              <p:pRg st="1" end="1"/>
                                            </p:txEl>
                                          </p:spTgt>
                                        </p:tgtEl>
                                      </p:cBhvr>
                                    </p:animEffect>
                                  </p:childTnLst>
                                  <p:subTnLst>
                                    <p:animClr clrSpc="rgb" dir="cw">
                                      <p:cBhvr override="childStyle">
                                        <p:cTn dur="1" fill="hold" display="0" masterRel="nextClick" afterEffect="1"/>
                                        <p:tgtEl>
                                          <p:spTgt spid="267267">
                                            <p:txEl>
                                              <p:pRg st="1" end="1"/>
                                            </p:txEl>
                                          </p:spTgt>
                                        </p:tgtEl>
                                        <p:attrNameLst>
                                          <p:attrName>ppt_c</p:attrName>
                                        </p:attrNameLst>
                                      </p:cBhvr>
                                      <p:to>
                                        <a:srgbClr val="26BFFC"/>
                                      </p:to>
                                    </p:animClr>
                                  </p:subTnLst>
                                </p:cTn>
                              </p:par>
                              <p:par>
                                <p:cTn id="28" presetID="3" presetClass="entr" presetSubtype="10" fill="hold" nodeType="withEffect">
                                  <p:stCondLst>
                                    <p:cond delay="0"/>
                                  </p:stCondLst>
                                  <p:childTnLst>
                                    <p:set>
                                      <p:cBhvr>
                                        <p:cTn id="29" dur="1" fill="hold">
                                          <p:stCondLst>
                                            <p:cond delay="0"/>
                                          </p:stCondLst>
                                        </p:cTn>
                                        <p:tgtEl>
                                          <p:spTgt spid="267267">
                                            <p:txEl>
                                              <p:pRg st="2" end="2"/>
                                            </p:txEl>
                                          </p:spTgt>
                                        </p:tgtEl>
                                        <p:attrNameLst>
                                          <p:attrName>style.visibility</p:attrName>
                                        </p:attrNameLst>
                                      </p:cBhvr>
                                      <p:to>
                                        <p:strVal val="visible"/>
                                      </p:to>
                                    </p:set>
                                    <p:animEffect transition="in" filter="blinds(horizontal)">
                                      <p:cBhvr>
                                        <p:cTn id="30" dur="500"/>
                                        <p:tgtEl>
                                          <p:spTgt spid="267267">
                                            <p:txEl>
                                              <p:pRg st="2" end="2"/>
                                            </p:txEl>
                                          </p:spTgt>
                                        </p:tgtEl>
                                      </p:cBhvr>
                                    </p:animEffect>
                                  </p:childTnLst>
                                  <p:subTnLst>
                                    <p:animClr clrSpc="rgb" dir="cw">
                                      <p:cBhvr override="childStyle">
                                        <p:cTn dur="1" fill="hold" display="0" masterRel="nextClick" afterEffect="1"/>
                                        <p:tgtEl>
                                          <p:spTgt spid="267267">
                                            <p:txEl>
                                              <p:pRg st="2" end="2"/>
                                            </p:txEl>
                                          </p:spTgt>
                                        </p:tgtEl>
                                        <p:attrNameLst>
                                          <p:attrName>ppt_c</p:attrName>
                                        </p:attrNameLst>
                                      </p:cBhvr>
                                      <p:to>
                                        <a:srgbClr val="26BFFC"/>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67267">
                                            <p:txEl>
                                              <p:pRg st="3" end="3"/>
                                            </p:txEl>
                                          </p:spTgt>
                                        </p:tgtEl>
                                        <p:attrNameLst>
                                          <p:attrName>style.visibility</p:attrName>
                                        </p:attrNameLst>
                                      </p:cBhvr>
                                      <p:to>
                                        <p:strVal val="visible"/>
                                      </p:to>
                                    </p:set>
                                    <p:animEffect transition="in" filter="blinds(horizontal)">
                                      <p:cBhvr>
                                        <p:cTn id="35" dur="500"/>
                                        <p:tgtEl>
                                          <p:spTgt spid="267267">
                                            <p:txEl>
                                              <p:pRg st="3" end="3"/>
                                            </p:txEl>
                                          </p:spTgt>
                                        </p:tgtEl>
                                      </p:cBhvr>
                                    </p:animEffect>
                                  </p:childTnLst>
                                  <p:subTnLst>
                                    <p:animClr clrSpc="rgb" dir="cw">
                                      <p:cBhvr override="childStyle">
                                        <p:cTn dur="1" fill="hold" display="0" masterRel="nextClick" afterEffect="1"/>
                                        <p:tgtEl>
                                          <p:spTgt spid="267267">
                                            <p:txEl>
                                              <p:pRg st="3" end="3"/>
                                            </p:txEl>
                                          </p:spTgt>
                                        </p:tgtEl>
                                        <p:attrNameLst>
                                          <p:attrName>ppt_c</p:attrName>
                                        </p:attrNameLst>
                                      </p:cBhvr>
                                      <p:to>
                                        <a:srgbClr val="26BFFC"/>
                                      </p:to>
                                    </p:animClr>
                                  </p:subTnLst>
                                </p:cTn>
                              </p:par>
                              <p:par>
                                <p:cTn id="36" presetID="3" presetClass="entr" presetSubtype="10" fill="hold" nodeType="withEffect">
                                  <p:stCondLst>
                                    <p:cond delay="0"/>
                                  </p:stCondLst>
                                  <p:childTnLst>
                                    <p:set>
                                      <p:cBhvr>
                                        <p:cTn id="37" dur="1" fill="hold">
                                          <p:stCondLst>
                                            <p:cond delay="0"/>
                                          </p:stCondLst>
                                        </p:cTn>
                                        <p:tgtEl>
                                          <p:spTgt spid="267267">
                                            <p:txEl>
                                              <p:pRg st="4" end="4"/>
                                            </p:txEl>
                                          </p:spTgt>
                                        </p:tgtEl>
                                        <p:attrNameLst>
                                          <p:attrName>style.visibility</p:attrName>
                                        </p:attrNameLst>
                                      </p:cBhvr>
                                      <p:to>
                                        <p:strVal val="visible"/>
                                      </p:to>
                                    </p:set>
                                    <p:animEffect transition="in" filter="blinds(horizontal)">
                                      <p:cBhvr>
                                        <p:cTn id="38" dur="500"/>
                                        <p:tgtEl>
                                          <p:spTgt spid="267267">
                                            <p:txEl>
                                              <p:pRg st="4" end="4"/>
                                            </p:txEl>
                                          </p:spTgt>
                                        </p:tgtEl>
                                      </p:cBhvr>
                                    </p:animEffect>
                                  </p:childTnLst>
                                  <p:subTnLst>
                                    <p:animClr clrSpc="rgb" dir="cw">
                                      <p:cBhvr override="childStyle">
                                        <p:cTn dur="1" fill="hold" display="0" masterRel="nextClick" afterEffect="1"/>
                                        <p:tgtEl>
                                          <p:spTgt spid="267267">
                                            <p:txEl>
                                              <p:pRg st="4" end="4"/>
                                            </p:txEl>
                                          </p:spTgt>
                                        </p:tgtEl>
                                        <p:attrNameLst>
                                          <p:attrName>ppt_c</p:attrName>
                                        </p:attrNameLst>
                                      </p:cBhvr>
                                      <p:to>
                                        <a:srgbClr val="26BFFC"/>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267267">
                                            <p:txEl>
                                              <p:pRg st="5" end="5"/>
                                            </p:txEl>
                                          </p:spTgt>
                                        </p:tgtEl>
                                        <p:attrNameLst>
                                          <p:attrName>style.visibility</p:attrName>
                                        </p:attrNameLst>
                                      </p:cBhvr>
                                      <p:to>
                                        <p:strVal val="visible"/>
                                      </p:to>
                                    </p:set>
                                    <p:animEffect transition="in" filter="blinds(horizontal)">
                                      <p:cBhvr>
                                        <p:cTn id="43" dur="500"/>
                                        <p:tgtEl>
                                          <p:spTgt spid="267267">
                                            <p:txEl>
                                              <p:pRg st="5" end="5"/>
                                            </p:txEl>
                                          </p:spTgt>
                                        </p:tgtEl>
                                      </p:cBhvr>
                                    </p:animEffect>
                                  </p:childTnLst>
                                  <p:subTnLst>
                                    <p:animClr clrSpc="rgb" dir="cw">
                                      <p:cBhvr override="childStyle">
                                        <p:cTn dur="1" fill="hold" display="0" masterRel="nextClick" afterEffect="1"/>
                                        <p:tgtEl>
                                          <p:spTgt spid="267267">
                                            <p:txEl>
                                              <p:pRg st="5" end="5"/>
                                            </p:txEl>
                                          </p:spTgt>
                                        </p:tgtEl>
                                        <p:attrNameLst>
                                          <p:attrName>ppt_c</p:attrName>
                                        </p:attrNameLst>
                                      </p:cBhvr>
                                      <p:to>
                                        <a:srgbClr val="26BFFC"/>
                                      </p:to>
                                    </p:animClr>
                                  </p:sub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267267">
                                            <p:txEl>
                                              <p:pRg st="6" end="6"/>
                                            </p:txEl>
                                          </p:spTgt>
                                        </p:tgtEl>
                                        <p:attrNameLst>
                                          <p:attrName>style.visibility</p:attrName>
                                        </p:attrNameLst>
                                      </p:cBhvr>
                                      <p:to>
                                        <p:strVal val="visible"/>
                                      </p:to>
                                    </p:set>
                                    <p:animEffect transition="in" filter="blinds(horizontal)">
                                      <p:cBhvr>
                                        <p:cTn id="48" dur="500"/>
                                        <p:tgtEl>
                                          <p:spTgt spid="267267">
                                            <p:txEl>
                                              <p:pRg st="6" end="6"/>
                                            </p:txEl>
                                          </p:spTgt>
                                        </p:tgtEl>
                                      </p:cBhvr>
                                    </p:animEffect>
                                  </p:childTnLst>
                                  <p:subTnLst>
                                    <p:animClr clrSpc="rgb" dir="cw">
                                      <p:cBhvr override="childStyle">
                                        <p:cTn dur="1" fill="hold" display="0" masterRel="nextClick" afterEffect="1"/>
                                        <p:tgtEl>
                                          <p:spTgt spid="267267">
                                            <p:txEl>
                                              <p:pRg st="6" end="6"/>
                                            </p:txEl>
                                          </p:spTgt>
                                        </p:tgtEl>
                                        <p:attrNameLst>
                                          <p:attrName>ppt_c</p:attrName>
                                        </p:attrNameLst>
                                      </p:cBhvr>
                                      <p:to>
                                        <a:srgbClr val="26BFFC"/>
                                      </p:to>
                                    </p:animClr>
                                  </p:subTnLst>
                                </p:cTn>
                              </p:par>
                              <p:par>
                                <p:cTn id="49" presetID="3" presetClass="entr" presetSubtype="10" fill="hold" nodeType="withEffect">
                                  <p:stCondLst>
                                    <p:cond delay="0"/>
                                  </p:stCondLst>
                                  <p:childTnLst>
                                    <p:set>
                                      <p:cBhvr>
                                        <p:cTn id="50" dur="1" fill="hold">
                                          <p:stCondLst>
                                            <p:cond delay="0"/>
                                          </p:stCondLst>
                                        </p:cTn>
                                        <p:tgtEl>
                                          <p:spTgt spid="267267">
                                            <p:txEl>
                                              <p:pRg st="7" end="7"/>
                                            </p:txEl>
                                          </p:spTgt>
                                        </p:tgtEl>
                                        <p:attrNameLst>
                                          <p:attrName>style.visibility</p:attrName>
                                        </p:attrNameLst>
                                      </p:cBhvr>
                                      <p:to>
                                        <p:strVal val="visible"/>
                                      </p:to>
                                    </p:set>
                                    <p:animEffect transition="in" filter="blinds(horizontal)">
                                      <p:cBhvr>
                                        <p:cTn id="51" dur="500"/>
                                        <p:tgtEl>
                                          <p:spTgt spid="267267">
                                            <p:txEl>
                                              <p:pRg st="7" end="7"/>
                                            </p:txEl>
                                          </p:spTgt>
                                        </p:tgtEl>
                                      </p:cBhvr>
                                    </p:animEffect>
                                  </p:childTnLst>
                                  <p:subTnLst>
                                    <p:animClr clrSpc="rgb" dir="cw">
                                      <p:cBhvr override="childStyle">
                                        <p:cTn dur="1" fill="hold" display="0" masterRel="nextClick" afterEffect="1"/>
                                        <p:tgtEl>
                                          <p:spTgt spid="267267">
                                            <p:txEl>
                                              <p:pRg st="7" end="7"/>
                                            </p:txEl>
                                          </p:spTgt>
                                        </p:tgtEl>
                                        <p:attrNameLst>
                                          <p:attrName>ppt_c</p:attrName>
                                        </p:attrNameLst>
                                      </p:cBhvr>
                                      <p:to>
                                        <a:srgbClr val="26BFFC"/>
                                      </p:to>
                                    </p:animClr>
                                  </p:sub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267267">
                                            <p:txEl>
                                              <p:pRg st="8" end="8"/>
                                            </p:txEl>
                                          </p:spTgt>
                                        </p:tgtEl>
                                        <p:attrNameLst>
                                          <p:attrName>style.visibility</p:attrName>
                                        </p:attrNameLst>
                                      </p:cBhvr>
                                      <p:to>
                                        <p:strVal val="visible"/>
                                      </p:to>
                                    </p:set>
                                    <p:animEffect transition="in" filter="blinds(horizontal)">
                                      <p:cBhvr>
                                        <p:cTn id="56" dur="500"/>
                                        <p:tgtEl>
                                          <p:spTgt spid="267267">
                                            <p:txEl>
                                              <p:pRg st="8" end="8"/>
                                            </p:txEl>
                                          </p:spTgt>
                                        </p:tgtEl>
                                      </p:cBhvr>
                                    </p:animEffect>
                                  </p:childTnLst>
                                  <p:subTnLst>
                                    <p:animClr clrSpc="rgb" dir="cw">
                                      <p:cBhvr override="childStyle">
                                        <p:cTn dur="1" fill="hold" display="0" masterRel="nextClick" afterEffect="1"/>
                                        <p:tgtEl>
                                          <p:spTgt spid="267267">
                                            <p:txEl>
                                              <p:pRg st="8" end="8"/>
                                            </p:txEl>
                                          </p:spTgt>
                                        </p:tgtEl>
                                        <p:attrNameLst>
                                          <p:attrName>ppt_c</p:attrName>
                                        </p:attrNameLst>
                                      </p:cBhvr>
                                      <p:to>
                                        <a:srgbClr val="26BFFC"/>
                                      </p:to>
                                    </p:animClr>
                                  </p:sub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67344"/>
                                        </p:tgtEl>
                                        <p:attrNameLst>
                                          <p:attrName>style.visibility</p:attrName>
                                        </p:attrNameLst>
                                      </p:cBhvr>
                                      <p:to>
                                        <p:strVal val="visible"/>
                                      </p:to>
                                    </p:set>
                                    <p:animEffect transition="in" filter="blinds(horizontal)">
                                      <p:cBhvr>
                                        <p:cTn id="61" dur="500"/>
                                        <p:tgtEl>
                                          <p:spTgt spid="26734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267267">
                                            <p:txEl>
                                              <p:pRg st="10" end="10"/>
                                            </p:txEl>
                                          </p:spTgt>
                                        </p:tgtEl>
                                        <p:attrNameLst>
                                          <p:attrName>style.visibility</p:attrName>
                                        </p:attrNameLst>
                                      </p:cBhvr>
                                      <p:to>
                                        <p:strVal val="visible"/>
                                      </p:to>
                                    </p:set>
                                    <p:animEffect transition="in" filter="blinds(horizontal)">
                                      <p:cBhvr>
                                        <p:cTn id="66" dur="500"/>
                                        <p:tgtEl>
                                          <p:spTgt spid="267267">
                                            <p:txEl>
                                              <p:pRg st="10" end="10"/>
                                            </p:txEl>
                                          </p:spTgt>
                                        </p:tgtEl>
                                      </p:cBhvr>
                                    </p:animEffect>
                                  </p:childTnLst>
                                  <p:subTnLst>
                                    <p:animClr clrSpc="rgb" dir="cw">
                                      <p:cBhvr override="childStyle">
                                        <p:cTn dur="1" fill="hold" display="0" masterRel="nextClick" afterEffect="1"/>
                                        <p:tgtEl>
                                          <p:spTgt spid="267267">
                                            <p:txEl>
                                              <p:pRg st="10" end="10"/>
                                            </p:txEl>
                                          </p:spTgt>
                                        </p:tgtEl>
                                        <p:attrNameLst>
                                          <p:attrName>ppt_c</p:attrName>
                                        </p:attrNameLst>
                                      </p:cBhvr>
                                      <p:to>
                                        <a:srgbClr val="26BFFC"/>
                                      </p:to>
                                    </p:animClr>
                                  </p:sub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267267">
                                            <p:txEl>
                                              <p:pRg st="11" end="11"/>
                                            </p:txEl>
                                          </p:spTgt>
                                        </p:tgtEl>
                                        <p:attrNameLst>
                                          <p:attrName>style.visibility</p:attrName>
                                        </p:attrNameLst>
                                      </p:cBhvr>
                                      <p:to>
                                        <p:strVal val="visible"/>
                                      </p:to>
                                    </p:set>
                                    <p:animEffect transition="in" filter="blinds(horizontal)">
                                      <p:cBhvr>
                                        <p:cTn id="71" dur="500"/>
                                        <p:tgtEl>
                                          <p:spTgt spid="267267">
                                            <p:txEl>
                                              <p:pRg st="11" end="11"/>
                                            </p:txEl>
                                          </p:spTgt>
                                        </p:tgtEl>
                                      </p:cBhvr>
                                    </p:animEffect>
                                  </p:childTnLst>
                                  <p:subTnLst>
                                    <p:animClr clrSpc="rgb" dir="cw">
                                      <p:cBhvr override="childStyle">
                                        <p:cTn dur="1" fill="hold" display="0" masterRel="nextClick" afterEffect="1"/>
                                        <p:tgtEl>
                                          <p:spTgt spid="267267">
                                            <p:txEl>
                                              <p:pRg st="11" end="11"/>
                                            </p:txEl>
                                          </p:spTgt>
                                        </p:tgtEl>
                                        <p:attrNameLst>
                                          <p:attrName>ppt_c</p:attrName>
                                        </p:attrNameLst>
                                      </p:cBhvr>
                                      <p:to>
                                        <a:srgbClr val="26BFFC"/>
                                      </p:to>
                                    </p:animClr>
                                  </p:sub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67345"/>
                                        </p:tgtEl>
                                        <p:attrNameLst>
                                          <p:attrName>style.visibility</p:attrName>
                                        </p:attrNameLst>
                                      </p:cBhvr>
                                      <p:to>
                                        <p:strVal val="visible"/>
                                      </p:to>
                                    </p:set>
                                    <p:animEffect transition="in" filter="blinds(horizontal)">
                                      <p:cBhvr>
                                        <p:cTn id="76" dur="500"/>
                                        <p:tgtEl>
                                          <p:spTgt spid="267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344" grpId="0"/>
      <p:bldP spid="26734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5">
            <a:extLst>
              <a:ext uri="{FF2B5EF4-FFF2-40B4-BE49-F238E27FC236}">
                <a16:creationId xmlns:a16="http://schemas.microsoft.com/office/drawing/2014/main" id="{4EC569C4-2733-F320-C6DB-2202B7C2DAD6}"/>
              </a:ext>
            </a:extLst>
          </p:cNvPr>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nchor="ctr">
            <a:spAutoFit/>
          </a:bodyPr>
          <a:lstStyle/>
          <a:p>
            <a:pPr eaLnBrk="0" hangingPunct="0"/>
            <a:endParaRPr lang="zh-CN" altLang="en-US"/>
          </a:p>
        </p:txBody>
      </p:sp>
      <p:graphicFrame>
        <p:nvGraphicFramePr>
          <p:cNvPr id="422916" name="Object 4">
            <a:extLst>
              <a:ext uri="{FF2B5EF4-FFF2-40B4-BE49-F238E27FC236}">
                <a16:creationId xmlns:a16="http://schemas.microsoft.com/office/drawing/2014/main" id="{3A18E67B-4389-CDC1-6171-CAF513569EF8}"/>
              </a:ext>
            </a:extLst>
          </p:cNvPr>
          <p:cNvGraphicFramePr>
            <a:graphicFrameLocks noChangeAspect="1"/>
          </p:cNvGraphicFramePr>
          <p:nvPr/>
        </p:nvGraphicFramePr>
        <p:xfrm>
          <a:off x="304800" y="981075"/>
          <a:ext cx="8275638" cy="760413"/>
        </p:xfrm>
        <a:graphic>
          <a:graphicData uri="http://schemas.openxmlformats.org/presentationml/2006/ole">
            <mc:AlternateContent xmlns:mc="http://schemas.openxmlformats.org/markup-compatibility/2006">
              <mc:Choice xmlns:v="urn:schemas-microsoft-com:vml" Requires="v">
                <p:oleObj r:id="rId2" imgW="3816096" imgH="396240" progId="Visio.Drawing.5">
                  <p:embed/>
                </p:oleObj>
              </mc:Choice>
              <mc:Fallback>
                <p:oleObj r:id="rId2" imgW="3816096" imgH="396240" progId="Visio.Drawing.5">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81075"/>
                        <a:ext cx="8275638"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22918" name="Picture 6">
            <a:extLst>
              <a:ext uri="{FF2B5EF4-FFF2-40B4-BE49-F238E27FC236}">
                <a16:creationId xmlns:a16="http://schemas.microsoft.com/office/drawing/2014/main" id="{33FF8EA6-05FC-02C8-98D3-8604694B0B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588" y="3243263"/>
            <a:ext cx="8410575"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7">
            <a:extLst>
              <a:ext uri="{FF2B5EF4-FFF2-40B4-BE49-F238E27FC236}">
                <a16:creationId xmlns:a16="http://schemas.microsoft.com/office/drawing/2014/main" id="{BF4315C0-06D4-EC9F-C55D-60688E1BCC75}"/>
              </a:ext>
            </a:extLst>
          </p:cNvPr>
          <p:cNvSpPr>
            <a:spLocks noChangeArrowheads="1"/>
          </p:cNvSpPr>
          <p:nvPr/>
        </p:nvSpPr>
        <p:spPr bwMode="auto">
          <a:xfrm>
            <a:off x="711200" y="114300"/>
            <a:ext cx="695642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7000"/>
              </a:lnSpc>
            </a:pPr>
            <a:r>
              <a:rPr lang="zh-CN" altLang="en-US" sz="2400"/>
              <a:t>指令系统举例：</a:t>
            </a:r>
            <a:r>
              <a:rPr lang="en-US" altLang="zh-CN" sz="2400">
                <a:solidFill>
                  <a:srgbClr val="C00000"/>
                </a:solidFill>
              </a:rPr>
              <a:t>IA-32</a:t>
            </a:r>
            <a:r>
              <a:rPr lang="zh-CN" altLang="en-US" sz="2400">
                <a:solidFill>
                  <a:srgbClr val="C00000"/>
                </a:solidFill>
              </a:rPr>
              <a:t>的指令格式</a:t>
            </a:r>
          </a:p>
        </p:txBody>
      </p:sp>
      <p:sp>
        <p:nvSpPr>
          <p:cNvPr id="59397" name="Text Box 8">
            <a:extLst>
              <a:ext uri="{FF2B5EF4-FFF2-40B4-BE49-F238E27FC236}">
                <a16:creationId xmlns:a16="http://schemas.microsoft.com/office/drawing/2014/main" id="{F78A755B-049D-8767-63FE-94F9981B2DAE}"/>
              </a:ext>
            </a:extLst>
          </p:cNvPr>
          <p:cNvSpPr txBox="1">
            <a:spLocks noChangeArrowheads="1"/>
          </p:cNvSpPr>
          <p:nvPr/>
        </p:nvSpPr>
        <p:spPr bwMode="auto">
          <a:xfrm>
            <a:off x="781050" y="800100"/>
            <a:ext cx="200977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endParaRPr lang="zh-CN" altLang="en-US"/>
          </a:p>
        </p:txBody>
      </p:sp>
      <p:sp>
        <p:nvSpPr>
          <p:cNvPr id="59398" name="Text Box 10">
            <a:extLst>
              <a:ext uri="{FF2B5EF4-FFF2-40B4-BE49-F238E27FC236}">
                <a16:creationId xmlns:a16="http://schemas.microsoft.com/office/drawing/2014/main" id="{14D16BB8-4DEB-D3EB-E17D-9A1DBE61AB42}"/>
              </a:ext>
            </a:extLst>
          </p:cNvPr>
          <p:cNvSpPr txBox="1">
            <a:spLocks noChangeArrowheads="1"/>
          </p:cNvSpPr>
          <p:nvPr/>
        </p:nvSpPr>
        <p:spPr bwMode="auto">
          <a:xfrm>
            <a:off x="212725" y="593725"/>
            <a:ext cx="628491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20000"/>
              </a:spcBef>
            </a:pPr>
            <a:r>
              <a:rPr lang="zh-CN" altLang="en-US" sz="1800">
                <a:solidFill>
                  <a:srgbClr val="EE3900"/>
                </a:solidFill>
                <a:ea typeface="黑体" panose="02010609060101010101" pitchFamily="49" charset="-122"/>
              </a:rPr>
              <a:t>前缀：</a:t>
            </a:r>
            <a:r>
              <a:rPr lang="zh-CN" altLang="en-US" sz="1800">
                <a:ea typeface="黑体" panose="02010609060101010101" pitchFamily="49" charset="-122"/>
              </a:rPr>
              <a:t>包括指令、段、操作数长度、地址长度四种类型</a:t>
            </a:r>
          </a:p>
        </p:txBody>
      </p:sp>
      <p:sp>
        <p:nvSpPr>
          <p:cNvPr id="59399" name="Text Box 12">
            <a:extLst>
              <a:ext uri="{FF2B5EF4-FFF2-40B4-BE49-F238E27FC236}">
                <a16:creationId xmlns:a16="http://schemas.microsoft.com/office/drawing/2014/main" id="{36B977E6-ABB2-1470-D939-E5AD63ADBBF7}"/>
              </a:ext>
            </a:extLst>
          </p:cNvPr>
          <p:cNvSpPr txBox="1">
            <a:spLocks noChangeArrowheads="1"/>
          </p:cNvSpPr>
          <p:nvPr/>
        </p:nvSpPr>
        <p:spPr bwMode="auto">
          <a:xfrm>
            <a:off x="184150" y="1789113"/>
            <a:ext cx="8793163" cy="14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10000"/>
              </a:spcBef>
            </a:pPr>
            <a:r>
              <a:rPr lang="zh-CN" altLang="en-US" sz="1800">
                <a:solidFill>
                  <a:srgbClr val="EE3900"/>
                </a:solidFill>
                <a:ea typeface="黑体" panose="02010609060101010101" pitchFamily="49" charset="-122"/>
              </a:rPr>
              <a:t>指令：</a:t>
            </a:r>
            <a:r>
              <a:rPr lang="zh-CN" altLang="en-US" sz="1800">
                <a:ea typeface="黑体" panose="02010609060101010101" pitchFamily="49" charset="-122"/>
              </a:rPr>
              <a:t>含</a:t>
            </a:r>
            <a:r>
              <a:rPr lang="zh-CN" altLang="en-US" sz="1800">
                <a:solidFill>
                  <a:srgbClr val="EE3900"/>
                </a:solidFill>
                <a:ea typeface="黑体" panose="02010609060101010101" pitchFamily="49" charset="-122"/>
              </a:rPr>
              <a:t>操作码、寻址方式、</a:t>
            </a:r>
            <a:r>
              <a:rPr lang="en-US" altLang="zh-CN" sz="1800">
                <a:solidFill>
                  <a:srgbClr val="EE3900"/>
                </a:solidFill>
                <a:ea typeface="黑体" panose="02010609060101010101" pitchFamily="49" charset="-122"/>
              </a:rPr>
              <a:t>SIB</a:t>
            </a:r>
            <a:r>
              <a:rPr lang="zh-CN" altLang="en-US" sz="1800">
                <a:solidFill>
                  <a:srgbClr val="EE3900"/>
                </a:solidFill>
                <a:ea typeface="黑体" panose="02010609060101010101" pitchFamily="49" charset="-122"/>
              </a:rPr>
              <a:t>、位移量和直接数据</a:t>
            </a:r>
            <a:r>
              <a:rPr lang="zh-CN" altLang="en-US" sz="1800">
                <a:ea typeface="黑体" panose="02010609060101010101" pitchFamily="49" charset="-122"/>
              </a:rPr>
              <a:t>五部分，位移量和立即数都可是</a:t>
            </a:r>
            <a:r>
              <a:rPr lang="en-US" altLang="zh-CN" sz="1800">
                <a:ea typeface="黑体" panose="02010609060101010101" pitchFamily="49" charset="-122"/>
              </a:rPr>
              <a:t>1/2/4B</a:t>
            </a:r>
            <a:r>
              <a:rPr lang="zh-CN" altLang="en-US" sz="1800">
                <a:ea typeface="黑体" panose="02010609060101010101" pitchFamily="49" charset="-122"/>
              </a:rPr>
              <a:t>。</a:t>
            </a:r>
            <a:r>
              <a:rPr lang="en-US" altLang="zh-CN" sz="1800">
                <a:ea typeface="黑体" panose="02010609060101010101" pitchFamily="49" charset="-122"/>
              </a:rPr>
              <a:t>SIB</a:t>
            </a:r>
            <a:r>
              <a:rPr lang="zh-CN" altLang="en-US" sz="1800">
                <a:ea typeface="黑体" panose="02010609060101010101" pitchFamily="49" charset="-122"/>
              </a:rPr>
              <a:t>中基址</a:t>
            </a:r>
            <a:r>
              <a:rPr lang="en-US" altLang="zh-CN" sz="1800">
                <a:ea typeface="黑体" panose="02010609060101010101" pitchFamily="49" charset="-122"/>
              </a:rPr>
              <a:t>B</a:t>
            </a:r>
            <a:r>
              <a:rPr lang="zh-CN" altLang="en-US" sz="1800">
                <a:ea typeface="黑体" panose="02010609060101010101" pitchFamily="49" charset="-122"/>
              </a:rPr>
              <a:t>和变址</a:t>
            </a:r>
            <a:r>
              <a:rPr lang="en-US" altLang="zh-CN" sz="1800">
                <a:ea typeface="黑体" panose="02010609060101010101" pitchFamily="49" charset="-122"/>
              </a:rPr>
              <a:t>I</a:t>
            </a:r>
            <a:r>
              <a:rPr lang="zh-CN" altLang="en-US" sz="1800">
                <a:ea typeface="黑体" panose="02010609060101010101" pitchFamily="49" charset="-122"/>
              </a:rPr>
              <a:t>都可是</a:t>
            </a:r>
            <a:r>
              <a:rPr lang="en-US" altLang="zh-CN" sz="1800">
                <a:ea typeface="黑体" panose="02010609060101010101" pitchFamily="49" charset="-122"/>
              </a:rPr>
              <a:t>8</a:t>
            </a:r>
            <a:r>
              <a:rPr lang="zh-CN" altLang="en-US" sz="1800">
                <a:ea typeface="黑体" panose="02010609060101010101" pitchFamily="49" charset="-122"/>
              </a:rPr>
              <a:t>个</a:t>
            </a:r>
            <a:r>
              <a:rPr lang="en-US" altLang="zh-CN" sz="1800">
                <a:ea typeface="黑体" panose="02010609060101010101" pitchFamily="49" charset="-122"/>
              </a:rPr>
              <a:t>GRS</a:t>
            </a:r>
            <a:r>
              <a:rPr lang="zh-CN" altLang="en-US" sz="1800">
                <a:ea typeface="黑体" panose="02010609060101010101" pitchFamily="49" charset="-122"/>
              </a:rPr>
              <a:t>中任一个。</a:t>
            </a:r>
            <a:r>
              <a:rPr lang="en-US" altLang="zh-CN" sz="1800">
                <a:ea typeface="黑体" panose="02010609060101010101" pitchFamily="49" charset="-122"/>
              </a:rPr>
              <a:t>SS</a:t>
            </a:r>
            <a:r>
              <a:rPr lang="zh-CN" altLang="en-US" sz="1800">
                <a:ea typeface="黑体" panose="02010609060101010101" pitchFamily="49" charset="-122"/>
              </a:rPr>
              <a:t>给出比例因子。操作码：</a:t>
            </a:r>
            <a:r>
              <a:rPr lang="en-US" altLang="zh-CN" sz="1800">
                <a:solidFill>
                  <a:srgbClr val="A50021"/>
                </a:solidFill>
                <a:ea typeface="黑体" panose="02010609060101010101" pitchFamily="49" charset="-122"/>
              </a:rPr>
              <a:t>opcode; w</a:t>
            </a:r>
            <a:r>
              <a:rPr lang="zh-CN" altLang="en-US" sz="1800">
                <a:solidFill>
                  <a:srgbClr val="A50021"/>
                </a:solidFill>
                <a:ea typeface="黑体" panose="02010609060101010101" pitchFamily="49" charset="-122"/>
              </a:rPr>
              <a:t>：与机器模式（</a:t>
            </a:r>
            <a:r>
              <a:rPr lang="en-US" altLang="zh-CN" sz="1800">
                <a:solidFill>
                  <a:srgbClr val="A50021"/>
                </a:solidFill>
                <a:ea typeface="黑体" panose="02010609060101010101" pitchFamily="49" charset="-122"/>
              </a:rPr>
              <a:t>16 / 32</a:t>
            </a:r>
            <a:r>
              <a:rPr lang="zh-CN" altLang="en-US" sz="1800">
                <a:solidFill>
                  <a:srgbClr val="A50021"/>
                </a:solidFill>
                <a:ea typeface="黑体" panose="02010609060101010101" pitchFamily="49" charset="-122"/>
              </a:rPr>
              <a:t>位）一起确定寄存器位数（</a:t>
            </a:r>
            <a:r>
              <a:rPr lang="en-US" altLang="zh-CN" sz="1800">
                <a:solidFill>
                  <a:srgbClr val="A50021"/>
                </a:solidFill>
                <a:ea typeface="黑体" panose="02010609060101010101" pitchFamily="49" charset="-122"/>
              </a:rPr>
              <a:t>AL / AX / EAX</a:t>
            </a:r>
            <a:r>
              <a:rPr lang="zh-CN" altLang="en-US" sz="1800">
                <a:solidFill>
                  <a:srgbClr val="A50021"/>
                </a:solidFill>
                <a:ea typeface="黑体" panose="02010609060101010101" pitchFamily="49" charset="-122"/>
              </a:rPr>
              <a:t>）</a:t>
            </a:r>
            <a:r>
              <a:rPr lang="en-US" altLang="zh-CN" sz="1800">
                <a:solidFill>
                  <a:srgbClr val="A50021"/>
                </a:solidFill>
                <a:ea typeface="黑体" panose="02010609060101010101" pitchFamily="49" charset="-122"/>
              </a:rPr>
              <a:t>; d</a:t>
            </a:r>
            <a:r>
              <a:rPr lang="zh-CN" altLang="en-US" sz="1800">
                <a:solidFill>
                  <a:srgbClr val="A50021"/>
                </a:solidFill>
                <a:ea typeface="黑体" panose="02010609060101010101" pitchFamily="49" charset="-122"/>
              </a:rPr>
              <a:t>：操作方向；</a:t>
            </a:r>
            <a:r>
              <a:rPr lang="zh-CN" altLang="en-US" sz="1800">
                <a:ea typeface="黑体" panose="02010609060101010101" pitchFamily="49" charset="-122"/>
              </a:rPr>
              <a:t>寻址方式：</a:t>
            </a:r>
            <a:r>
              <a:rPr lang="en-US" altLang="zh-CN" sz="1800">
                <a:solidFill>
                  <a:srgbClr val="A50021"/>
                </a:solidFill>
                <a:ea typeface="黑体" panose="02010609060101010101" pitchFamily="49" charset="-122"/>
              </a:rPr>
              <a:t> mod</a:t>
            </a:r>
            <a:r>
              <a:rPr lang="zh-CN" altLang="en-US" sz="1800">
                <a:solidFill>
                  <a:srgbClr val="A50021"/>
                </a:solidFill>
                <a:ea typeface="黑体" panose="02010609060101010101" pitchFamily="49" charset="-122"/>
              </a:rPr>
              <a:t>、</a:t>
            </a:r>
            <a:r>
              <a:rPr lang="en-US" altLang="zh-CN" sz="1800">
                <a:solidFill>
                  <a:srgbClr val="A50021"/>
                </a:solidFill>
                <a:ea typeface="黑体" panose="02010609060101010101" pitchFamily="49" charset="-122"/>
              </a:rPr>
              <a:t>r/m</a:t>
            </a:r>
            <a:r>
              <a:rPr lang="zh-CN" altLang="en-US" sz="1800">
                <a:solidFill>
                  <a:srgbClr val="A50021"/>
                </a:solidFill>
                <a:ea typeface="黑体" panose="02010609060101010101" pitchFamily="49" charset="-122"/>
              </a:rPr>
              <a:t>、 </a:t>
            </a:r>
            <a:r>
              <a:rPr lang="en-US" altLang="zh-CN" sz="1800">
                <a:solidFill>
                  <a:srgbClr val="A50021"/>
                </a:solidFill>
                <a:ea typeface="黑体" panose="02010609060101010101" pitchFamily="49" charset="-122"/>
              </a:rPr>
              <a:t>reg/op</a:t>
            </a:r>
            <a:r>
              <a:rPr lang="zh-CN" altLang="en-US" sz="1800">
                <a:solidFill>
                  <a:srgbClr val="A50021"/>
                </a:solidFill>
                <a:ea typeface="黑体" panose="02010609060101010101" pitchFamily="49" charset="-122"/>
              </a:rPr>
              <a:t>三个字段与</a:t>
            </a:r>
            <a:r>
              <a:rPr lang="en-US" altLang="zh-CN" sz="1800">
                <a:solidFill>
                  <a:srgbClr val="A50021"/>
                </a:solidFill>
                <a:ea typeface="黑体" panose="02010609060101010101" pitchFamily="49" charset="-122"/>
              </a:rPr>
              <a:t>w</a:t>
            </a:r>
            <a:r>
              <a:rPr lang="zh-CN" altLang="en-US" sz="1800">
                <a:solidFill>
                  <a:srgbClr val="A50021"/>
                </a:solidFill>
                <a:ea typeface="黑体" panose="02010609060101010101" pitchFamily="49" charset="-122"/>
              </a:rPr>
              <a:t>字段和机器模式一起确定操作数所在的寄存器编号或有效地址计算方式</a:t>
            </a:r>
          </a:p>
        </p:txBody>
      </p:sp>
      <p:sp>
        <p:nvSpPr>
          <p:cNvPr id="422926" name="Rectangle 14">
            <a:extLst>
              <a:ext uri="{FF2B5EF4-FFF2-40B4-BE49-F238E27FC236}">
                <a16:creationId xmlns:a16="http://schemas.microsoft.com/office/drawing/2014/main" id="{D5813D51-5AD2-E398-C8D7-562B7249351F}"/>
              </a:ext>
            </a:extLst>
          </p:cNvPr>
          <p:cNvSpPr>
            <a:spLocks noGrp="1" noChangeArrowheads="1"/>
          </p:cNvSpPr>
          <p:nvPr>
            <p:ph idx="1"/>
          </p:nvPr>
        </p:nvSpPr>
        <p:spPr>
          <a:xfrm>
            <a:off x="200025" y="4652963"/>
            <a:ext cx="4254500" cy="1363662"/>
          </a:xfrm>
        </p:spPr>
        <p:txBody>
          <a:bodyPr/>
          <a:lstStyle/>
          <a:p>
            <a:pPr>
              <a:lnSpc>
                <a:spcPct val="70000"/>
              </a:lnSpc>
            </a:pPr>
            <a:endParaRPr lang="en-US" altLang="zh-CN" sz="800"/>
          </a:p>
          <a:p>
            <a:pPr>
              <a:lnSpc>
                <a:spcPct val="70000"/>
              </a:lnSpc>
              <a:buFont typeface="Wingdings" panose="05000000000000000000" pitchFamily="2" charset="2"/>
              <a:buNone/>
            </a:pPr>
            <a:r>
              <a:rPr lang="zh-CN" altLang="en-US" sz="1800">
                <a:solidFill>
                  <a:schemeClr val="accent2"/>
                </a:solidFill>
                <a:latin typeface="Arial" panose="020B0604020202020204" pitchFamily="34" charset="0"/>
                <a:ea typeface="黑体" panose="02010609060101010101" pitchFamily="49" charset="-122"/>
              </a:rPr>
              <a:t>变长指令字：</a:t>
            </a:r>
            <a:r>
              <a:rPr lang="en-US" altLang="zh-CN" sz="1800">
                <a:solidFill>
                  <a:schemeClr val="accent2"/>
                </a:solidFill>
                <a:latin typeface="Arial" panose="020B0604020202020204" pitchFamily="34" charset="0"/>
                <a:ea typeface="黑体" panose="02010609060101010101" pitchFamily="49" charset="-122"/>
              </a:rPr>
              <a:t>1B~17B</a:t>
            </a:r>
          </a:p>
          <a:p>
            <a:pPr>
              <a:lnSpc>
                <a:spcPct val="70000"/>
              </a:lnSpc>
              <a:buFont typeface="Wingdings" panose="05000000000000000000" pitchFamily="2" charset="2"/>
              <a:buNone/>
            </a:pPr>
            <a:r>
              <a:rPr lang="zh-CN" altLang="en-US" sz="1800">
                <a:solidFill>
                  <a:schemeClr val="accent2"/>
                </a:solidFill>
                <a:latin typeface="Arial" panose="020B0604020202020204" pitchFamily="34" charset="0"/>
                <a:ea typeface="黑体" panose="02010609060101010101" pitchFamily="49" charset="-122"/>
              </a:rPr>
              <a:t>变长操作码：</a:t>
            </a:r>
            <a:r>
              <a:rPr lang="en-US" altLang="zh-CN" sz="1800">
                <a:solidFill>
                  <a:schemeClr val="accent2"/>
                </a:solidFill>
                <a:latin typeface="Arial" panose="020B0604020202020204" pitchFamily="34" charset="0"/>
                <a:ea typeface="黑体" panose="02010609060101010101" pitchFamily="49" charset="-122"/>
              </a:rPr>
              <a:t>4b / 5b / 6b / 7b / 8b /……</a:t>
            </a:r>
          </a:p>
          <a:p>
            <a:pPr>
              <a:lnSpc>
                <a:spcPct val="70000"/>
              </a:lnSpc>
              <a:buFont typeface="Wingdings" panose="05000000000000000000" pitchFamily="2" charset="2"/>
              <a:buNone/>
            </a:pPr>
            <a:r>
              <a:rPr lang="zh-CN" altLang="en-US" sz="1800">
                <a:solidFill>
                  <a:schemeClr val="accent2"/>
                </a:solidFill>
                <a:latin typeface="Arial" panose="020B0604020202020204" pitchFamily="34" charset="0"/>
                <a:ea typeface="黑体" panose="02010609060101010101" pitchFamily="49" charset="-122"/>
              </a:rPr>
              <a:t>变长操作数：</a:t>
            </a:r>
            <a:r>
              <a:rPr lang="en-US" altLang="zh-CN" sz="1800">
                <a:solidFill>
                  <a:schemeClr val="accent2"/>
                </a:solidFill>
                <a:latin typeface="Arial" panose="020B0604020202020204" pitchFamily="34" charset="0"/>
                <a:ea typeface="黑体" panose="02010609060101010101" pitchFamily="49" charset="-122"/>
              </a:rPr>
              <a:t>Byte / Word / DW / QW</a:t>
            </a:r>
          </a:p>
          <a:p>
            <a:pPr>
              <a:lnSpc>
                <a:spcPct val="70000"/>
              </a:lnSpc>
              <a:buFont typeface="Wingdings" panose="05000000000000000000" pitchFamily="2" charset="2"/>
              <a:buNone/>
            </a:pPr>
            <a:r>
              <a:rPr lang="zh-CN" altLang="en-US" sz="1800">
                <a:solidFill>
                  <a:schemeClr val="accent2"/>
                </a:solidFill>
                <a:latin typeface="Arial" panose="020B0604020202020204" pitchFamily="34" charset="0"/>
                <a:ea typeface="黑体" panose="02010609060101010101" pitchFamily="49" charset="-122"/>
              </a:rPr>
              <a:t>变长寄存器：</a:t>
            </a:r>
            <a:r>
              <a:rPr lang="en-US" altLang="zh-CN" sz="1800">
                <a:solidFill>
                  <a:schemeClr val="accent2"/>
                </a:solidFill>
                <a:latin typeface="Arial" panose="020B0604020202020204" pitchFamily="34" charset="0"/>
                <a:ea typeface="黑体" panose="02010609060101010101" pitchFamily="49" charset="-122"/>
              </a:rPr>
              <a:t>8</a:t>
            </a:r>
            <a:r>
              <a:rPr lang="zh-CN" altLang="en-US" sz="1800">
                <a:solidFill>
                  <a:schemeClr val="accent2"/>
                </a:solidFill>
                <a:latin typeface="Arial" panose="020B0604020202020204" pitchFamily="34" charset="0"/>
                <a:ea typeface="黑体" panose="02010609060101010101" pitchFamily="49" charset="-122"/>
              </a:rPr>
              <a:t>位 </a:t>
            </a:r>
            <a:r>
              <a:rPr lang="en-US" altLang="zh-CN" sz="1800">
                <a:solidFill>
                  <a:schemeClr val="accent2"/>
                </a:solidFill>
                <a:latin typeface="Arial" panose="020B0604020202020204" pitchFamily="34" charset="0"/>
                <a:ea typeface="黑体" panose="02010609060101010101" pitchFamily="49" charset="-122"/>
              </a:rPr>
              <a:t>/ 16</a:t>
            </a:r>
            <a:r>
              <a:rPr lang="zh-CN" altLang="en-US" sz="1800">
                <a:solidFill>
                  <a:schemeClr val="accent2"/>
                </a:solidFill>
                <a:latin typeface="Arial" panose="020B0604020202020204" pitchFamily="34" charset="0"/>
                <a:ea typeface="黑体" panose="02010609060101010101" pitchFamily="49" charset="-122"/>
              </a:rPr>
              <a:t>位 </a:t>
            </a:r>
            <a:r>
              <a:rPr lang="en-US" altLang="zh-CN" sz="1800">
                <a:solidFill>
                  <a:schemeClr val="accent2"/>
                </a:solidFill>
                <a:latin typeface="Arial" panose="020B0604020202020204" pitchFamily="34" charset="0"/>
                <a:ea typeface="黑体" panose="02010609060101010101" pitchFamily="49" charset="-122"/>
              </a:rPr>
              <a:t>/32</a:t>
            </a:r>
            <a:r>
              <a:rPr lang="zh-CN" altLang="en-US" sz="1800">
                <a:solidFill>
                  <a:schemeClr val="accent2"/>
                </a:solidFill>
                <a:latin typeface="Arial" panose="020B0604020202020204" pitchFamily="34" charset="0"/>
                <a:ea typeface="黑体" panose="02010609060101010101" pitchFamily="49" charset="-122"/>
              </a:rPr>
              <a:t>位</a:t>
            </a:r>
          </a:p>
        </p:txBody>
      </p:sp>
      <p:sp>
        <p:nvSpPr>
          <p:cNvPr id="422927" name="Rectangle 15">
            <a:extLst>
              <a:ext uri="{FF2B5EF4-FFF2-40B4-BE49-F238E27FC236}">
                <a16:creationId xmlns:a16="http://schemas.microsoft.com/office/drawing/2014/main" id="{45E1162A-43E9-4807-8A7C-28B6F0E55BB3}"/>
              </a:ext>
            </a:extLst>
          </p:cNvPr>
          <p:cNvSpPr>
            <a:spLocks noChangeArrowheads="1"/>
          </p:cNvSpPr>
          <p:nvPr/>
        </p:nvSpPr>
        <p:spPr bwMode="auto">
          <a:xfrm>
            <a:off x="4602163" y="4754563"/>
            <a:ext cx="4259262"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5000"/>
              </a:lnSpc>
              <a:spcBef>
                <a:spcPct val="10000"/>
              </a:spcBef>
              <a:buSzPct val="75000"/>
              <a:buFont typeface="Wingdings" panose="05000000000000000000" pitchFamily="2" charset="2"/>
              <a:buNone/>
            </a:pPr>
            <a:r>
              <a:rPr lang="zh-CN" altLang="en-US" sz="1800">
                <a:solidFill>
                  <a:srgbClr val="C51915"/>
                </a:solidFill>
                <a:ea typeface="黑体" panose="02010609060101010101" pitchFamily="49" charset="-122"/>
              </a:rPr>
              <a:t>调用指令自动把返回地址压栈</a:t>
            </a:r>
          </a:p>
          <a:p>
            <a:pPr eaLnBrk="0" hangingPunct="0">
              <a:spcBef>
                <a:spcPct val="10000"/>
              </a:spcBef>
              <a:buSzPct val="75000"/>
              <a:buFont typeface="Wingdings" panose="05000000000000000000" pitchFamily="2" charset="2"/>
              <a:buNone/>
            </a:pPr>
            <a:r>
              <a:rPr lang="zh-CN" altLang="en-US" sz="1800">
                <a:solidFill>
                  <a:srgbClr val="C51915"/>
                </a:solidFill>
                <a:ea typeface="黑体" panose="02010609060101010101" pitchFamily="49" charset="-122"/>
              </a:rPr>
              <a:t>专门的</a:t>
            </a:r>
            <a:r>
              <a:rPr lang="en-US" altLang="zh-CN" sz="1800">
                <a:solidFill>
                  <a:srgbClr val="C51915"/>
                </a:solidFill>
                <a:ea typeface="黑体" panose="02010609060101010101" pitchFamily="49" charset="-122"/>
              </a:rPr>
              <a:t>push/pop</a:t>
            </a:r>
            <a:r>
              <a:rPr lang="zh-CN" altLang="en-US" sz="1800">
                <a:solidFill>
                  <a:srgbClr val="C51915"/>
                </a:solidFill>
                <a:ea typeface="黑体" panose="02010609060101010101" pitchFamily="49" charset="-122"/>
              </a:rPr>
              <a:t>指令，自动修改栈指针</a:t>
            </a:r>
          </a:p>
          <a:p>
            <a:pPr eaLnBrk="0" hangingPunct="0">
              <a:spcBef>
                <a:spcPct val="10000"/>
              </a:spcBef>
              <a:buSzPct val="75000"/>
              <a:buFont typeface="Wingdings" panose="05000000000000000000" pitchFamily="2" charset="2"/>
              <a:buNone/>
            </a:pPr>
            <a:r>
              <a:rPr lang="en-US" altLang="zh-CN" sz="1800">
                <a:solidFill>
                  <a:srgbClr val="C51915"/>
                </a:solidFill>
                <a:ea typeface="黑体" panose="02010609060101010101" pitchFamily="49" charset="-122"/>
              </a:rPr>
              <a:t>ALU</a:t>
            </a:r>
            <a:r>
              <a:rPr lang="zh-CN" altLang="en-US" sz="1800">
                <a:solidFill>
                  <a:srgbClr val="C51915"/>
                </a:solidFill>
                <a:ea typeface="黑体" panose="02010609060101010101" pitchFamily="49" charset="-122"/>
              </a:rPr>
              <a:t>指令在</a:t>
            </a:r>
            <a:r>
              <a:rPr lang="en-US" altLang="zh-CN" sz="1800">
                <a:solidFill>
                  <a:srgbClr val="C51915"/>
                </a:solidFill>
                <a:ea typeface="黑体" panose="02010609060101010101" pitchFamily="49" charset="-122"/>
              </a:rPr>
              <a:t>Flags</a:t>
            </a:r>
            <a:r>
              <a:rPr lang="zh-CN" altLang="en-US" sz="1800">
                <a:solidFill>
                  <a:srgbClr val="C51915"/>
                </a:solidFill>
                <a:ea typeface="黑体" panose="02010609060101010101" pitchFamily="49" charset="-122"/>
              </a:rPr>
              <a:t>中隐含生成条件码</a:t>
            </a:r>
          </a:p>
          <a:p>
            <a:pPr eaLnBrk="0" hangingPunct="0">
              <a:spcBef>
                <a:spcPct val="10000"/>
              </a:spcBef>
              <a:buSzPct val="75000"/>
              <a:buFont typeface="Wingdings" panose="05000000000000000000" pitchFamily="2" charset="2"/>
              <a:buNone/>
            </a:pPr>
            <a:r>
              <a:rPr lang="en-US" altLang="zh-CN" sz="1800">
                <a:solidFill>
                  <a:srgbClr val="C51915"/>
                </a:solidFill>
                <a:ea typeface="黑体" panose="02010609060101010101" pitchFamily="49" charset="-122"/>
              </a:rPr>
              <a:t>ALU</a:t>
            </a:r>
            <a:r>
              <a:rPr lang="zh-CN" altLang="en-US" sz="1800">
                <a:solidFill>
                  <a:srgbClr val="C51915"/>
                </a:solidFill>
                <a:ea typeface="黑体" panose="02010609060101010101" pitchFamily="49" charset="-122"/>
              </a:rPr>
              <a:t>指令中的一个操作数可来自存储器</a:t>
            </a:r>
          </a:p>
          <a:p>
            <a:pPr eaLnBrk="0" hangingPunct="0">
              <a:spcBef>
                <a:spcPct val="10000"/>
              </a:spcBef>
              <a:buSzPct val="75000"/>
              <a:buFont typeface="Wingdings" panose="05000000000000000000" pitchFamily="2" charset="2"/>
              <a:buNone/>
            </a:pPr>
            <a:r>
              <a:rPr lang="zh-CN" altLang="en-US" sz="1800">
                <a:solidFill>
                  <a:srgbClr val="C51915"/>
                </a:solidFill>
                <a:ea typeface="黑体" panose="02010609060101010101" pitchFamily="49" charset="-122"/>
              </a:rPr>
              <a:t>提供基址加比例索引寻址</a:t>
            </a:r>
          </a:p>
          <a:p>
            <a:pPr eaLnBrk="0" hangingPunct="0">
              <a:spcBef>
                <a:spcPct val="10000"/>
              </a:spcBef>
              <a:buSzPct val="75000"/>
              <a:buFont typeface="Wingdings" panose="05000000000000000000" pitchFamily="2" charset="2"/>
              <a:buNone/>
            </a:pPr>
            <a:endParaRPr lang="zh-CN" altLang="en-US" sz="1600">
              <a:solidFill>
                <a:srgbClr val="C51915"/>
              </a:solidFill>
              <a:latin typeface="宋体" panose="02010600030101010101" pitchFamily="2" charset="-122"/>
            </a:endParaRPr>
          </a:p>
        </p:txBody>
      </p:sp>
      <p:sp>
        <p:nvSpPr>
          <p:cNvPr id="422928" name="Text Box 16">
            <a:extLst>
              <a:ext uri="{FF2B5EF4-FFF2-40B4-BE49-F238E27FC236}">
                <a16:creationId xmlns:a16="http://schemas.microsoft.com/office/drawing/2014/main" id="{C392D2A8-968C-5897-7EC3-62248593FEF7}"/>
              </a:ext>
            </a:extLst>
          </p:cNvPr>
          <p:cNvSpPr txBox="1">
            <a:spLocks noChangeArrowheads="1"/>
          </p:cNvSpPr>
          <p:nvPr/>
        </p:nvSpPr>
        <p:spPr bwMode="auto">
          <a:xfrm>
            <a:off x="222250" y="6037263"/>
            <a:ext cx="3879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1800">
                <a:solidFill>
                  <a:srgbClr val="EE3900"/>
                </a:solidFill>
                <a:ea typeface="黑体" panose="02010609060101010101" pitchFamily="49" charset="-122"/>
              </a:rPr>
              <a:t>问题</a:t>
            </a:r>
            <a:r>
              <a:rPr lang="en-US" altLang="zh-CN" sz="1800">
                <a:solidFill>
                  <a:srgbClr val="EE3900"/>
                </a:solidFill>
                <a:ea typeface="黑体" panose="02010609060101010101" pitchFamily="49" charset="-122"/>
              </a:rPr>
              <a:t>: </a:t>
            </a:r>
            <a:r>
              <a:rPr lang="zh-CN" altLang="en-US" sz="1800">
                <a:solidFill>
                  <a:srgbClr val="EE3900"/>
                </a:solidFill>
                <a:ea typeface="黑体" panose="02010609060101010101" pitchFamily="49" charset="-122"/>
              </a:rPr>
              <a:t>是累加器型、通用寄存器型、</a:t>
            </a:r>
            <a:r>
              <a:rPr lang="en-US" altLang="zh-CN" sz="1800">
                <a:solidFill>
                  <a:srgbClr val="EE3900"/>
                </a:solidFill>
                <a:ea typeface="黑体" panose="02010609060101010101" pitchFamily="49" charset="-122"/>
              </a:rPr>
              <a:t>ld/st</a:t>
            </a:r>
            <a:r>
              <a:rPr lang="zh-CN" altLang="en-US" sz="1800">
                <a:solidFill>
                  <a:srgbClr val="EE3900"/>
                </a:solidFill>
                <a:ea typeface="黑体" panose="02010609060101010101" pitchFamily="49" charset="-122"/>
              </a:rPr>
              <a:t>型？是</a:t>
            </a:r>
            <a:r>
              <a:rPr lang="en-US" altLang="zh-CN" sz="1800">
                <a:solidFill>
                  <a:srgbClr val="EE3900"/>
                </a:solidFill>
                <a:ea typeface="黑体" panose="02010609060101010101" pitchFamily="49" charset="-122"/>
              </a:rPr>
              <a:t>CISC</a:t>
            </a:r>
            <a:r>
              <a:rPr lang="zh-CN" altLang="en-US" sz="1800">
                <a:solidFill>
                  <a:srgbClr val="EE3900"/>
                </a:solidFill>
                <a:ea typeface="黑体" panose="02010609060101010101" pitchFamily="49" charset="-122"/>
              </a:rPr>
              <a:t>型、</a:t>
            </a:r>
            <a:r>
              <a:rPr lang="en-US" altLang="zh-CN" sz="1800">
                <a:solidFill>
                  <a:srgbClr val="EE3900"/>
                </a:solidFill>
                <a:ea typeface="黑体" panose="02010609060101010101" pitchFamily="49" charset="-122"/>
              </a:rPr>
              <a:t>RISC</a:t>
            </a:r>
            <a:r>
              <a:rPr lang="zh-CN" altLang="en-US" sz="1800">
                <a:solidFill>
                  <a:srgbClr val="EE3900"/>
                </a:solidFill>
                <a:ea typeface="黑体" panose="02010609060101010101" pitchFamily="49" charset="-122"/>
              </a:rPr>
              <a:t>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2916"/>
                                        </p:tgtEl>
                                        <p:attrNameLst>
                                          <p:attrName>style.visibility</p:attrName>
                                        </p:attrNameLst>
                                      </p:cBhvr>
                                      <p:to>
                                        <p:strVal val="visible"/>
                                      </p:to>
                                    </p:set>
                                    <p:animEffect transition="in" filter="blinds(horizontal)">
                                      <p:cBhvr>
                                        <p:cTn id="7" dur="500"/>
                                        <p:tgtEl>
                                          <p:spTgt spid="4229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2918"/>
                                        </p:tgtEl>
                                        <p:attrNameLst>
                                          <p:attrName>style.visibility</p:attrName>
                                        </p:attrNameLst>
                                      </p:cBhvr>
                                      <p:to>
                                        <p:strVal val="visible"/>
                                      </p:to>
                                    </p:set>
                                    <p:animEffect transition="in" filter="blinds(horizontal)">
                                      <p:cBhvr>
                                        <p:cTn id="12" dur="500"/>
                                        <p:tgtEl>
                                          <p:spTgt spid="4229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2926">
                                            <p:txEl>
                                              <p:pRg st="1" end="1"/>
                                            </p:txEl>
                                          </p:spTgt>
                                        </p:tgtEl>
                                        <p:attrNameLst>
                                          <p:attrName>style.visibility</p:attrName>
                                        </p:attrNameLst>
                                      </p:cBhvr>
                                      <p:to>
                                        <p:strVal val="visible"/>
                                      </p:to>
                                    </p:set>
                                    <p:animEffect transition="in" filter="blinds(horizontal)">
                                      <p:cBhvr>
                                        <p:cTn id="17" dur="500"/>
                                        <p:tgtEl>
                                          <p:spTgt spid="42292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22926">
                                            <p:txEl>
                                              <p:pRg st="2" end="2"/>
                                            </p:txEl>
                                          </p:spTgt>
                                        </p:tgtEl>
                                        <p:attrNameLst>
                                          <p:attrName>style.visibility</p:attrName>
                                        </p:attrNameLst>
                                      </p:cBhvr>
                                      <p:to>
                                        <p:strVal val="visible"/>
                                      </p:to>
                                    </p:set>
                                    <p:animEffect transition="in" filter="blinds(horizontal)">
                                      <p:cBhvr>
                                        <p:cTn id="22" dur="500"/>
                                        <p:tgtEl>
                                          <p:spTgt spid="42292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22926">
                                            <p:txEl>
                                              <p:pRg st="3" end="3"/>
                                            </p:txEl>
                                          </p:spTgt>
                                        </p:tgtEl>
                                        <p:attrNameLst>
                                          <p:attrName>style.visibility</p:attrName>
                                        </p:attrNameLst>
                                      </p:cBhvr>
                                      <p:to>
                                        <p:strVal val="visible"/>
                                      </p:to>
                                    </p:set>
                                    <p:animEffect transition="in" filter="blinds(horizontal)">
                                      <p:cBhvr>
                                        <p:cTn id="27" dur="500"/>
                                        <p:tgtEl>
                                          <p:spTgt spid="42292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22926">
                                            <p:txEl>
                                              <p:pRg st="4" end="4"/>
                                            </p:txEl>
                                          </p:spTgt>
                                        </p:tgtEl>
                                        <p:attrNameLst>
                                          <p:attrName>style.visibility</p:attrName>
                                        </p:attrNameLst>
                                      </p:cBhvr>
                                      <p:to>
                                        <p:strVal val="visible"/>
                                      </p:to>
                                    </p:set>
                                    <p:animEffect transition="in" filter="blinds(horizontal)">
                                      <p:cBhvr>
                                        <p:cTn id="32" dur="500"/>
                                        <p:tgtEl>
                                          <p:spTgt spid="42292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22927">
                                            <p:txEl>
                                              <p:pRg st="0" end="0"/>
                                            </p:txEl>
                                          </p:spTgt>
                                        </p:tgtEl>
                                        <p:attrNameLst>
                                          <p:attrName>style.visibility</p:attrName>
                                        </p:attrNameLst>
                                      </p:cBhvr>
                                      <p:to>
                                        <p:strVal val="visible"/>
                                      </p:to>
                                    </p:set>
                                    <p:animEffect transition="in" filter="blinds(horizontal)">
                                      <p:cBhvr>
                                        <p:cTn id="37" dur="500"/>
                                        <p:tgtEl>
                                          <p:spTgt spid="42292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22927">
                                            <p:txEl>
                                              <p:pRg st="1" end="1"/>
                                            </p:txEl>
                                          </p:spTgt>
                                        </p:tgtEl>
                                        <p:attrNameLst>
                                          <p:attrName>style.visibility</p:attrName>
                                        </p:attrNameLst>
                                      </p:cBhvr>
                                      <p:to>
                                        <p:strVal val="visible"/>
                                      </p:to>
                                    </p:set>
                                    <p:animEffect transition="in" filter="blinds(horizontal)">
                                      <p:cBhvr>
                                        <p:cTn id="42" dur="500"/>
                                        <p:tgtEl>
                                          <p:spTgt spid="422927">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22927">
                                            <p:txEl>
                                              <p:pRg st="2" end="2"/>
                                            </p:txEl>
                                          </p:spTgt>
                                        </p:tgtEl>
                                        <p:attrNameLst>
                                          <p:attrName>style.visibility</p:attrName>
                                        </p:attrNameLst>
                                      </p:cBhvr>
                                      <p:to>
                                        <p:strVal val="visible"/>
                                      </p:to>
                                    </p:set>
                                    <p:animEffect transition="in" filter="blinds(horizontal)">
                                      <p:cBhvr>
                                        <p:cTn id="47" dur="500"/>
                                        <p:tgtEl>
                                          <p:spTgt spid="422927">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22927">
                                            <p:txEl>
                                              <p:pRg st="3" end="3"/>
                                            </p:txEl>
                                          </p:spTgt>
                                        </p:tgtEl>
                                        <p:attrNameLst>
                                          <p:attrName>style.visibility</p:attrName>
                                        </p:attrNameLst>
                                      </p:cBhvr>
                                      <p:to>
                                        <p:strVal val="visible"/>
                                      </p:to>
                                    </p:set>
                                    <p:animEffect transition="in" filter="blinds(horizontal)">
                                      <p:cBhvr>
                                        <p:cTn id="52" dur="500"/>
                                        <p:tgtEl>
                                          <p:spTgt spid="422927">
                                            <p:txEl>
                                              <p:pRg st="3" end="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422927">
                                            <p:txEl>
                                              <p:pRg st="4" end="4"/>
                                            </p:txEl>
                                          </p:spTgt>
                                        </p:tgtEl>
                                        <p:attrNameLst>
                                          <p:attrName>style.visibility</p:attrName>
                                        </p:attrNameLst>
                                      </p:cBhvr>
                                      <p:to>
                                        <p:strVal val="visible"/>
                                      </p:to>
                                    </p:set>
                                    <p:animEffect transition="in" filter="blinds(horizontal)">
                                      <p:cBhvr>
                                        <p:cTn id="57" dur="500"/>
                                        <p:tgtEl>
                                          <p:spTgt spid="422927">
                                            <p:txEl>
                                              <p:pRg st="4" end="4"/>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22928"/>
                                        </p:tgtEl>
                                        <p:attrNameLst>
                                          <p:attrName>style.visibility</p:attrName>
                                        </p:attrNameLst>
                                      </p:cBhvr>
                                      <p:to>
                                        <p:strVal val="visible"/>
                                      </p:to>
                                    </p:set>
                                    <p:animEffect transition="in" filter="blinds(horizontal)">
                                      <p:cBhvr>
                                        <p:cTn id="62" dur="500"/>
                                        <p:tgtEl>
                                          <p:spTgt spid="422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2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B09EF789-E536-2A09-FD30-F1BA666F1100}"/>
              </a:ext>
            </a:extLst>
          </p:cNvPr>
          <p:cNvSpPr>
            <a:spLocks noGrp="1" noChangeArrowheads="1"/>
          </p:cNvSpPr>
          <p:nvPr>
            <p:ph type="title"/>
          </p:nvPr>
        </p:nvSpPr>
        <p:spPr>
          <a:xfrm>
            <a:off x="2332038" y="122238"/>
            <a:ext cx="5827712" cy="373062"/>
          </a:xfrm>
        </p:spPr>
        <p:txBody>
          <a:bodyPr anchor="ctr"/>
          <a:lstStyle/>
          <a:p>
            <a:r>
              <a:rPr lang="en-US" altLang="zh-CN">
                <a:ea typeface="宋体" panose="02010600030101010101" pitchFamily="2" charset="-122"/>
              </a:rPr>
              <a:t>IA-32</a:t>
            </a:r>
            <a:r>
              <a:rPr lang="zh-CN" altLang="en-US">
                <a:ea typeface="宋体" panose="02010600030101010101" pitchFamily="2" charset="-122"/>
              </a:rPr>
              <a:t>的寻址方式</a:t>
            </a:r>
          </a:p>
        </p:txBody>
      </p:sp>
      <p:sp>
        <p:nvSpPr>
          <p:cNvPr id="378883" name="Rectangle 3">
            <a:extLst>
              <a:ext uri="{FF2B5EF4-FFF2-40B4-BE49-F238E27FC236}">
                <a16:creationId xmlns:a16="http://schemas.microsoft.com/office/drawing/2014/main" id="{BCD2C4DA-2DC4-0E35-F343-B1949EB623FC}"/>
              </a:ext>
            </a:extLst>
          </p:cNvPr>
          <p:cNvSpPr>
            <a:spLocks noGrp="1" noChangeArrowheads="1"/>
          </p:cNvSpPr>
          <p:nvPr>
            <p:ph idx="1"/>
          </p:nvPr>
        </p:nvSpPr>
        <p:spPr>
          <a:xfrm>
            <a:off x="209550" y="561975"/>
            <a:ext cx="8763000" cy="5322888"/>
          </a:xfrm>
        </p:spPr>
        <p:txBody>
          <a:bodyPr/>
          <a:lstStyle/>
          <a:p>
            <a:pPr marL="342900" indent="-342900">
              <a:lnSpc>
                <a:spcPct val="115000"/>
              </a:lnSpc>
              <a:spcBef>
                <a:spcPct val="20000"/>
              </a:spcBef>
              <a:buFont typeface="Wingdings" panose="05000000000000000000" pitchFamily="2" charset="2"/>
              <a:buNone/>
            </a:pPr>
            <a:r>
              <a:rPr lang="zh-CN" altLang="en-US">
                <a:latin typeface="Arial" panose="020B0604020202020204" pitchFamily="34" charset="0"/>
              </a:rPr>
              <a:t>      </a:t>
            </a:r>
            <a:r>
              <a:rPr lang="zh-CN" altLang="en-US">
                <a:latin typeface="Arial" panose="020B0604020202020204" pitchFamily="34" charset="0"/>
                <a:ea typeface="黑体" panose="02010609060101010101" pitchFamily="49" charset="-122"/>
              </a:rPr>
              <a:t>操作数的来源：</a:t>
            </a:r>
          </a:p>
          <a:p>
            <a:pPr marL="742950" lvl="1" indent="-285750">
              <a:lnSpc>
                <a:spcPct val="115000"/>
              </a:lnSpc>
              <a:spcBef>
                <a:spcPct val="20000"/>
              </a:spcBef>
              <a:buSzTx/>
              <a:buFont typeface="Wingdings" panose="05000000000000000000" pitchFamily="2" charset="2"/>
              <a:buNone/>
            </a:pPr>
            <a:r>
              <a:rPr lang="zh-CN" altLang="en-US" sz="2000">
                <a:solidFill>
                  <a:srgbClr val="CC3300"/>
                </a:solidFill>
                <a:latin typeface="Arial" panose="020B0604020202020204" pitchFamily="34" charset="0"/>
                <a:ea typeface="黑体" panose="02010609060101010101" pitchFamily="49" charset="-122"/>
              </a:rPr>
              <a:t>    立即数(立即寻址)</a:t>
            </a:r>
            <a:r>
              <a:rPr lang="zh-CN" altLang="en-US" sz="2000">
                <a:latin typeface="Arial" panose="020B0604020202020204" pitchFamily="34" charset="0"/>
                <a:ea typeface="黑体" panose="02010609060101010101" pitchFamily="49" charset="-122"/>
              </a:rPr>
              <a:t>：直接来自指令</a:t>
            </a:r>
          </a:p>
          <a:p>
            <a:pPr marL="742950" lvl="1" indent="-285750">
              <a:lnSpc>
                <a:spcPct val="115000"/>
              </a:lnSpc>
              <a:spcBef>
                <a:spcPct val="20000"/>
              </a:spcBef>
              <a:buSzTx/>
              <a:buFont typeface="Wingdings" panose="05000000000000000000" pitchFamily="2" charset="2"/>
              <a:buNone/>
            </a:pPr>
            <a:r>
              <a:rPr lang="zh-CN" altLang="en-US" sz="2000">
                <a:solidFill>
                  <a:srgbClr val="CC3300"/>
                </a:solidFill>
                <a:latin typeface="Arial" panose="020B0604020202020204" pitchFamily="34" charset="0"/>
                <a:ea typeface="黑体" panose="02010609060101010101" pitchFamily="49" charset="-122"/>
              </a:rPr>
              <a:t>    寄存器(寄存器寻址)</a:t>
            </a:r>
            <a:r>
              <a:rPr lang="zh-CN" altLang="en-US" sz="2000">
                <a:latin typeface="Arial" panose="020B0604020202020204" pitchFamily="34" charset="0"/>
                <a:ea typeface="黑体" panose="02010609060101010101" pitchFamily="49" charset="-122"/>
              </a:rPr>
              <a:t>：来自32位 / 16位 / 8位通用寄存器</a:t>
            </a:r>
          </a:p>
          <a:p>
            <a:pPr marL="742950" lvl="1" indent="-285750">
              <a:lnSpc>
                <a:spcPct val="115000"/>
              </a:lnSpc>
              <a:spcBef>
                <a:spcPct val="20000"/>
              </a:spcBef>
              <a:buSzTx/>
              <a:buFont typeface="Wingdings" panose="05000000000000000000" pitchFamily="2" charset="2"/>
              <a:buNone/>
            </a:pPr>
            <a:r>
              <a:rPr lang="zh-CN" altLang="en-US" sz="2000">
                <a:solidFill>
                  <a:srgbClr val="CC3300"/>
                </a:solidFill>
                <a:latin typeface="Arial" panose="020B0604020202020204" pitchFamily="34" charset="0"/>
                <a:ea typeface="黑体" panose="02010609060101010101" pitchFamily="49" charset="-122"/>
              </a:rPr>
              <a:t>    存储单元(其他寻址)</a:t>
            </a:r>
            <a:r>
              <a:rPr lang="zh-CN" altLang="en-US" sz="2000">
                <a:latin typeface="Arial" panose="020B0604020202020204" pitchFamily="34" charset="0"/>
                <a:ea typeface="黑体" panose="02010609060101010101" pitchFamily="49" charset="-122"/>
              </a:rPr>
              <a:t>：需进行地址转换</a:t>
            </a:r>
          </a:p>
          <a:p>
            <a:pPr marL="342900" indent="-342900">
              <a:lnSpc>
                <a:spcPct val="115000"/>
              </a:lnSpc>
              <a:spcBef>
                <a:spcPct val="20000"/>
              </a:spcBef>
              <a:buFont typeface="Monotype Sorts"/>
              <a:buNone/>
            </a:pPr>
            <a:r>
              <a:rPr lang="zh-CN" altLang="en-US">
                <a:latin typeface="Arial" panose="020B0604020202020204" pitchFamily="34" charset="0"/>
                <a:ea typeface="黑体" panose="02010609060101010101" pitchFamily="49" charset="-122"/>
              </a:rPr>
              <a:t>          </a:t>
            </a:r>
            <a:r>
              <a:rPr lang="zh-CN" altLang="en-US">
                <a:solidFill>
                  <a:srgbClr val="C2228D"/>
                </a:solidFill>
                <a:effectLst>
                  <a:outerShdw blurRad="38100" dist="38100" dir="2700000" algn="tl">
                    <a:srgbClr val="C0C0C0"/>
                  </a:outerShdw>
                </a:effectLst>
                <a:latin typeface="Arial" panose="020B0604020202020204" pitchFamily="34" charset="0"/>
                <a:ea typeface="黑体" panose="02010609060101010101" pitchFamily="49" charset="-122"/>
              </a:rPr>
              <a:t>虚拟地址 =&gt; 线性地址</a:t>
            </a:r>
            <a:r>
              <a:rPr lang="en-US" altLang="zh-CN">
                <a:solidFill>
                  <a:srgbClr val="C2228D"/>
                </a:solidFill>
                <a:effectLst>
                  <a:outerShdw blurRad="38100" dist="38100" dir="2700000" algn="tl">
                    <a:srgbClr val="C0C0C0"/>
                  </a:outerShdw>
                </a:effectLst>
                <a:latin typeface="Arial" panose="020B0604020202020204" pitchFamily="34" charset="0"/>
                <a:ea typeface="黑体" panose="02010609060101010101" pitchFamily="49" charset="-122"/>
              </a:rPr>
              <a:t>LA ( =&gt; </a:t>
            </a:r>
            <a:r>
              <a:rPr lang="zh-CN" altLang="en-US">
                <a:solidFill>
                  <a:srgbClr val="C2228D"/>
                </a:solidFill>
                <a:effectLst>
                  <a:outerShdw blurRad="38100" dist="38100" dir="2700000" algn="tl">
                    <a:srgbClr val="C0C0C0"/>
                  </a:outerShdw>
                </a:effectLst>
                <a:latin typeface="Arial" panose="020B0604020202020204" pitchFamily="34" charset="0"/>
                <a:ea typeface="黑体" panose="02010609060101010101" pitchFamily="49" charset="-122"/>
              </a:rPr>
              <a:t>内存地址)</a:t>
            </a:r>
            <a:endParaRPr lang="zh-CN" altLang="en-US">
              <a:latin typeface="Arial" panose="020B0604020202020204" pitchFamily="34" charset="0"/>
              <a:ea typeface="黑体" panose="02010609060101010101" pitchFamily="49" charset="-122"/>
            </a:endParaRPr>
          </a:p>
          <a:p>
            <a:pPr marL="342900" indent="-342900">
              <a:lnSpc>
                <a:spcPct val="115000"/>
              </a:lnSpc>
              <a:spcBef>
                <a:spcPct val="20000"/>
              </a:spcBef>
              <a:buFont typeface="Monotype Sorts"/>
              <a:buNone/>
            </a:pPr>
            <a:r>
              <a:rPr lang="zh-CN" altLang="en-US">
                <a:solidFill>
                  <a:srgbClr val="C2228D"/>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lang="zh-CN" altLang="en-US">
                <a:solidFill>
                  <a:srgbClr val="0099FF"/>
                </a:solidFill>
                <a:latin typeface="Arial" panose="020B0604020202020204" pitchFamily="34" charset="0"/>
                <a:ea typeface="黑体" panose="02010609060101010101" pitchFamily="49" charset="-122"/>
              </a:rPr>
              <a:t>分段                     分页</a:t>
            </a:r>
          </a:p>
          <a:p>
            <a:pPr marL="742950" lvl="1" indent="-285750">
              <a:lnSpc>
                <a:spcPct val="115000"/>
              </a:lnSpc>
              <a:spcBef>
                <a:spcPct val="20000"/>
              </a:spcBef>
              <a:buSzTx/>
              <a:buFont typeface="Wingdings" panose="05000000000000000000" pitchFamily="2" charset="2"/>
              <a:buNone/>
            </a:pPr>
            <a:r>
              <a:rPr lang="zh-CN" altLang="en-US" sz="2000">
                <a:solidFill>
                  <a:schemeClr val="tx1"/>
                </a:solidFill>
                <a:latin typeface="Arial" panose="020B0604020202020204" pitchFamily="34" charset="0"/>
                <a:ea typeface="黑体" panose="02010609060101010101" pitchFamily="49" charset="-122"/>
              </a:rPr>
              <a:t>指令中的信息：</a:t>
            </a:r>
            <a:r>
              <a:rPr lang="zh-CN" altLang="en-US" sz="2000">
                <a:solidFill>
                  <a:srgbClr val="0000FF"/>
                </a:solidFill>
                <a:latin typeface="Arial" panose="020B0604020202020204" pitchFamily="34" charset="0"/>
                <a:ea typeface="黑体" panose="02010609060101010101" pitchFamily="49" charset="-122"/>
              </a:rPr>
              <a:t> </a:t>
            </a:r>
          </a:p>
          <a:p>
            <a:pPr marL="742950" lvl="1" indent="-285750">
              <a:lnSpc>
                <a:spcPct val="115000"/>
              </a:lnSpc>
              <a:spcBef>
                <a:spcPct val="20000"/>
              </a:spcBef>
              <a:buSzTx/>
              <a:buFont typeface="Wingdings" panose="05000000000000000000" pitchFamily="2" charset="2"/>
              <a:buNone/>
            </a:pPr>
            <a:r>
              <a:rPr lang="zh-CN" altLang="en-US" sz="2000">
                <a:solidFill>
                  <a:srgbClr val="0000FF"/>
                </a:solidFill>
                <a:latin typeface="Arial" panose="020B0604020202020204" pitchFamily="34" charset="0"/>
                <a:ea typeface="黑体" panose="02010609060101010101" pitchFamily="49" charset="-122"/>
              </a:rPr>
              <a:t> (1) </a:t>
            </a:r>
            <a:r>
              <a:rPr lang="zh-CN" altLang="en-US" sz="2000">
                <a:solidFill>
                  <a:srgbClr val="C2228D"/>
                </a:solidFill>
                <a:latin typeface="Arial" panose="020B0604020202020204" pitchFamily="34" charset="0"/>
                <a:ea typeface="黑体" panose="02010609060101010101" pitchFamily="49" charset="-122"/>
              </a:rPr>
              <a:t>段寄存器</a:t>
            </a:r>
            <a:r>
              <a:rPr lang="en-US" altLang="zh-CN" sz="2000">
                <a:solidFill>
                  <a:srgbClr val="C2228D"/>
                </a:solidFill>
                <a:latin typeface="Arial" panose="020B0604020202020204" pitchFamily="34" charset="0"/>
                <a:ea typeface="黑体" panose="02010609060101010101" pitchFamily="49" charset="-122"/>
              </a:rPr>
              <a:t>SR</a:t>
            </a:r>
            <a:r>
              <a:rPr lang="zh-CN" altLang="en-US" sz="2000">
                <a:solidFill>
                  <a:srgbClr val="0033CC"/>
                </a:solidFill>
                <a:latin typeface="Arial" panose="020B0604020202020204" pitchFamily="34" charset="0"/>
                <a:ea typeface="黑体" panose="02010609060101010101" pitchFamily="49" charset="-122"/>
              </a:rPr>
              <a:t>（</a:t>
            </a:r>
            <a:r>
              <a:rPr lang="zh-CN" altLang="en-US" sz="2000">
                <a:solidFill>
                  <a:srgbClr val="0000FF"/>
                </a:solidFill>
                <a:latin typeface="Arial" panose="020B0604020202020204" pitchFamily="34" charset="0"/>
                <a:ea typeface="黑体" panose="02010609060101010101" pitchFamily="49" charset="-122"/>
              </a:rPr>
              <a:t>隐含或显式给出）</a:t>
            </a:r>
          </a:p>
          <a:p>
            <a:pPr marL="342900" indent="-342900">
              <a:lnSpc>
                <a:spcPct val="115000"/>
              </a:lnSpc>
              <a:spcBef>
                <a:spcPct val="20000"/>
              </a:spcBef>
              <a:buFont typeface="Wingdings" panose="05000000000000000000" pitchFamily="2" charset="2"/>
              <a:buNone/>
            </a:pPr>
            <a:r>
              <a:rPr lang="zh-CN" altLang="en-US">
                <a:solidFill>
                  <a:srgbClr val="0000FF"/>
                </a:solidFill>
                <a:latin typeface="Arial" panose="020B0604020202020204" pitchFamily="34" charset="0"/>
                <a:ea typeface="黑体" panose="02010609060101010101" pitchFamily="49" charset="-122"/>
              </a:rPr>
              <a:t>        (2) </a:t>
            </a:r>
            <a:r>
              <a:rPr lang="zh-CN" altLang="en-US">
                <a:solidFill>
                  <a:srgbClr val="A50021"/>
                </a:solidFill>
                <a:latin typeface="Arial" panose="020B0604020202020204" pitchFamily="34" charset="0"/>
                <a:ea typeface="黑体" panose="02010609060101010101" pitchFamily="49" charset="-122"/>
              </a:rPr>
              <a:t>8/16/32位</a:t>
            </a:r>
            <a:r>
              <a:rPr lang="zh-CN" altLang="en-US">
                <a:solidFill>
                  <a:srgbClr val="C2228D"/>
                </a:solidFill>
                <a:latin typeface="Arial" panose="020B0604020202020204" pitchFamily="34" charset="0"/>
                <a:ea typeface="黑体" panose="02010609060101010101" pitchFamily="49" charset="-122"/>
              </a:rPr>
              <a:t>偏移量</a:t>
            </a:r>
            <a:r>
              <a:rPr lang="en-US" altLang="zh-CN">
                <a:solidFill>
                  <a:srgbClr val="C2228D"/>
                </a:solidFill>
                <a:latin typeface="Arial" panose="020B0604020202020204" pitchFamily="34" charset="0"/>
                <a:ea typeface="黑体" panose="02010609060101010101" pitchFamily="49" charset="-122"/>
              </a:rPr>
              <a:t>A </a:t>
            </a:r>
            <a:r>
              <a:rPr lang="zh-CN" altLang="en-US">
                <a:solidFill>
                  <a:srgbClr val="0033CC"/>
                </a:solidFill>
                <a:latin typeface="Arial" panose="020B0604020202020204" pitchFamily="34" charset="0"/>
                <a:ea typeface="黑体" panose="02010609060101010101" pitchFamily="49" charset="-122"/>
              </a:rPr>
              <a:t>（</a:t>
            </a:r>
            <a:r>
              <a:rPr lang="zh-CN" altLang="en-US">
                <a:solidFill>
                  <a:srgbClr val="0000FF"/>
                </a:solidFill>
                <a:latin typeface="Arial" panose="020B0604020202020204" pitchFamily="34" charset="0"/>
                <a:ea typeface="黑体" panose="02010609060101010101" pitchFamily="49" charset="-122"/>
              </a:rPr>
              <a:t>显式给出）</a:t>
            </a:r>
          </a:p>
          <a:p>
            <a:pPr marL="342900" indent="-342900">
              <a:lnSpc>
                <a:spcPct val="115000"/>
              </a:lnSpc>
              <a:spcBef>
                <a:spcPct val="20000"/>
              </a:spcBef>
              <a:buFont typeface="Wingdings" panose="05000000000000000000" pitchFamily="2" charset="2"/>
              <a:buNone/>
            </a:pPr>
            <a:r>
              <a:rPr lang="zh-CN" altLang="en-US">
                <a:solidFill>
                  <a:srgbClr val="0000FF"/>
                </a:solidFill>
                <a:latin typeface="Arial" panose="020B0604020202020204" pitchFamily="34" charset="0"/>
                <a:ea typeface="黑体" panose="02010609060101010101" pitchFamily="49" charset="-122"/>
              </a:rPr>
              <a:t>        (2) </a:t>
            </a:r>
            <a:r>
              <a:rPr lang="zh-CN" altLang="en-US">
                <a:solidFill>
                  <a:srgbClr val="C2228D"/>
                </a:solidFill>
                <a:latin typeface="Arial" panose="020B0604020202020204" pitchFamily="34" charset="0"/>
                <a:ea typeface="黑体" panose="02010609060101010101" pitchFamily="49" charset="-122"/>
              </a:rPr>
              <a:t>基址寄存器</a:t>
            </a:r>
            <a:r>
              <a:rPr lang="en-US" altLang="en-US">
                <a:solidFill>
                  <a:srgbClr val="C2228D"/>
                </a:solidFill>
                <a:latin typeface="Arial" panose="020B0604020202020204" pitchFamily="34" charset="0"/>
                <a:ea typeface="黑体" panose="02010609060101010101" pitchFamily="49" charset="-122"/>
              </a:rPr>
              <a:t>B </a:t>
            </a:r>
            <a:r>
              <a:rPr lang="zh-CN" altLang="en-US">
                <a:solidFill>
                  <a:srgbClr val="0033CC"/>
                </a:solidFill>
                <a:latin typeface="Arial" panose="020B0604020202020204" pitchFamily="34" charset="0"/>
                <a:ea typeface="黑体" panose="02010609060101010101" pitchFamily="49" charset="-122"/>
              </a:rPr>
              <a:t>（</a:t>
            </a:r>
            <a:r>
              <a:rPr lang="zh-CN" altLang="en-US">
                <a:solidFill>
                  <a:srgbClr val="0000FF"/>
                </a:solidFill>
                <a:latin typeface="Arial" panose="020B0604020202020204" pitchFamily="34" charset="0"/>
                <a:ea typeface="黑体" panose="02010609060101010101" pitchFamily="49" charset="-122"/>
              </a:rPr>
              <a:t>明显给出，任意通用寄存器皆可）</a:t>
            </a:r>
          </a:p>
          <a:p>
            <a:pPr marL="342900" indent="-342900">
              <a:lnSpc>
                <a:spcPct val="115000"/>
              </a:lnSpc>
              <a:spcBef>
                <a:spcPct val="20000"/>
              </a:spcBef>
              <a:buFont typeface="Wingdings" panose="05000000000000000000" pitchFamily="2" charset="2"/>
              <a:buNone/>
            </a:pPr>
            <a:r>
              <a:rPr lang="zh-CN" altLang="en-US">
                <a:solidFill>
                  <a:srgbClr val="0000FF"/>
                </a:solidFill>
                <a:latin typeface="Arial" panose="020B0604020202020204" pitchFamily="34" charset="0"/>
                <a:ea typeface="黑体" panose="02010609060101010101" pitchFamily="49" charset="-122"/>
              </a:rPr>
              <a:t>        (3) </a:t>
            </a:r>
            <a:r>
              <a:rPr lang="zh-CN" altLang="en-US">
                <a:solidFill>
                  <a:srgbClr val="C2228D"/>
                </a:solidFill>
                <a:latin typeface="Arial" panose="020B0604020202020204" pitchFamily="34" charset="0"/>
                <a:ea typeface="黑体" panose="02010609060101010101" pitchFamily="49" charset="-122"/>
              </a:rPr>
              <a:t>变址寄存器</a:t>
            </a:r>
            <a:r>
              <a:rPr lang="en-US" altLang="zh-CN">
                <a:solidFill>
                  <a:srgbClr val="C2228D"/>
                </a:solidFill>
                <a:latin typeface="Arial" panose="020B0604020202020204" pitchFamily="34" charset="0"/>
                <a:ea typeface="黑体" panose="02010609060101010101" pitchFamily="49" charset="-122"/>
              </a:rPr>
              <a:t>I </a:t>
            </a:r>
            <a:r>
              <a:rPr lang="zh-CN" altLang="en-US">
                <a:solidFill>
                  <a:srgbClr val="0033CC"/>
                </a:solidFill>
                <a:latin typeface="Arial" panose="020B0604020202020204" pitchFamily="34" charset="0"/>
                <a:ea typeface="黑体" panose="02010609060101010101" pitchFamily="49" charset="-122"/>
              </a:rPr>
              <a:t>（</a:t>
            </a:r>
            <a:r>
              <a:rPr lang="zh-CN" altLang="en-US">
                <a:solidFill>
                  <a:srgbClr val="0000FF"/>
                </a:solidFill>
                <a:latin typeface="Arial" panose="020B0604020202020204" pitchFamily="34" charset="0"/>
                <a:ea typeface="黑体" panose="02010609060101010101" pitchFamily="49" charset="-122"/>
              </a:rPr>
              <a:t>明显给出，除</a:t>
            </a:r>
            <a:r>
              <a:rPr lang="en-US" altLang="en-US">
                <a:solidFill>
                  <a:srgbClr val="0000FF"/>
                </a:solidFill>
                <a:latin typeface="Arial" panose="020B0604020202020204" pitchFamily="34" charset="0"/>
                <a:ea typeface="黑体" panose="02010609060101010101" pitchFamily="49" charset="-122"/>
              </a:rPr>
              <a:t>ESP</a:t>
            </a:r>
            <a:r>
              <a:rPr lang="zh-CN" altLang="en-US">
                <a:solidFill>
                  <a:srgbClr val="0000FF"/>
                </a:solidFill>
                <a:latin typeface="Arial" panose="020B0604020202020204" pitchFamily="34" charset="0"/>
                <a:ea typeface="黑体" panose="02010609060101010101" pitchFamily="49" charset="-122"/>
              </a:rPr>
              <a:t>外的任意通用寄存器皆可。）</a:t>
            </a:r>
          </a:p>
          <a:p>
            <a:pPr lvl="2">
              <a:lnSpc>
                <a:spcPct val="115000"/>
              </a:lnSpc>
              <a:spcBef>
                <a:spcPct val="20000"/>
              </a:spcBef>
              <a:buSzTx/>
              <a:buFont typeface="Wingdings" panose="05000000000000000000" pitchFamily="2" charset="2"/>
              <a:buChar char="Ø"/>
            </a:pPr>
            <a:r>
              <a:rPr lang="zh-CN" altLang="en-US" sz="2000">
                <a:solidFill>
                  <a:srgbClr val="0000FF"/>
                </a:solidFill>
                <a:latin typeface="Arial" panose="020B0604020202020204" pitchFamily="34" charset="0"/>
                <a:ea typeface="黑体" panose="02010609060101010101" pitchFamily="49" charset="-122"/>
              </a:rPr>
              <a:t>有比例变址和非比例变址</a:t>
            </a:r>
          </a:p>
          <a:p>
            <a:pPr lvl="2">
              <a:lnSpc>
                <a:spcPct val="115000"/>
              </a:lnSpc>
              <a:spcBef>
                <a:spcPct val="20000"/>
              </a:spcBef>
              <a:buSzTx/>
              <a:buFont typeface="Wingdings" panose="05000000000000000000" pitchFamily="2" charset="2"/>
              <a:buChar char="Ø"/>
            </a:pPr>
            <a:r>
              <a:rPr lang="zh-CN" altLang="en-US" sz="2000">
                <a:solidFill>
                  <a:srgbClr val="0000FF"/>
                </a:solidFill>
                <a:latin typeface="Arial" panose="020B0604020202020204" pitchFamily="34" charset="0"/>
                <a:ea typeface="黑体" panose="02010609060101010101" pitchFamily="49" charset="-122"/>
              </a:rPr>
              <a:t>比例变址时要乘以</a:t>
            </a:r>
            <a:r>
              <a:rPr lang="zh-CN" altLang="en-US" sz="2000">
                <a:solidFill>
                  <a:srgbClr val="C2228D"/>
                </a:solidFill>
                <a:latin typeface="Arial" panose="020B0604020202020204" pitchFamily="34" charset="0"/>
                <a:ea typeface="黑体" panose="02010609060101010101" pitchFamily="49" charset="-122"/>
              </a:rPr>
              <a:t>比例因子</a:t>
            </a:r>
            <a:r>
              <a:rPr lang="en-US" altLang="zh-CN" sz="2000">
                <a:solidFill>
                  <a:srgbClr val="C2228D"/>
                </a:solidFill>
                <a:latin typeface="Arial" panose="020B0604020202020204" pitchFamily="34" charset="0"/>
                <a:ea typeface="黑体" panose="02010609060101010101" pitchFamily="49" charset="-122"/>
              </a:rPr>
              <a:t>S</a:t>
            </a:r>
            <a:r>
              <a:rPr lang="zh-CN" altLang="en-US" sz="2000">
                <a:solidFill>
                  <a:srgbClr val="C2228D"/>
                </a:solidFill>
                <a:latin typeface="Arial" panose="020B0604020202020204" pitchFamily="34" charset="0"/>
                <a:ea typeface="黑体" panose="02010609060101010101" pitchFamily="49" charset="-122"/>
              </a:rPr>
              <a:t> </a:t>
            </a:r>
            <a:r>
              <a:rPr lang="en-US" altLang="zh-CN" sz="2000">
                <a:solidFill>
                  <a:srgbClr val="0033CC"/>
                </a:solidFill>
                <a:latin typeface="Arial" panose="020B0604020202020204" pitchFamily="34" charset="0"/>
                <a:ea typeface="黑体" panose="02010609060101010101" pitchFamily="49" charset="-122"/>
              </a:rPr>
              <a:t>(</a:t>
            </a:r>
            <a:r>
              <a:rPr lang="en-US" altLang="zh-CN" sz="2000">
                <a:solidFill>
                  <a:srgbClr val="0000FF"/>
                </a:solidFill>
                <a:latin typeface="Arial" panose="020B0604020202020204" pitchFamily="34" charset="0"/>
                <a:ea typeface="黑体" panose="02010609060101010101" pitchFamily="49" charset="-122"/>
              </a:rPr>
              <a:t>1</a:t>
            </a:r>
            <a:r>
              <a:rPr lang="zh-CN" altLang="zh-CN" sz="2000">
                <a:solidFill>
                  <a:srgbClr val="0000FF"/>
                </a:solidFill>
                <a:latin typeface="Arial" panose="020B0604020202020204" pitchFamily="34" charset="0"/>
                <a:ea typeface="黑体" panose="02010609060101010101" pitchFamily="49" charset="-122"/>
              </a:rPr>
              <a:t>:</a:t>
            </a:r>
            <a:r>
              <a:rPr lang="en-US" altLang="zh-CN" sz="2000">
                <a:solidFill>
                  <a:srgbClr val="0000FF"/>
                </a:solidFill>
                <a:latin typeface="Arial" panose="020B0604020202020204" pitchFamily="34" charset="0"/>
                <a:ea typeface="黑体" panose="02010609060101010101" pitchFamily="49" charset="-122"/>
              </a:rPr>
              <a:t>8</a:t>
            </a:r>
            <a:r>
              <a:rPr lang="zh-CN" altLang="en-US" sz="2000">
                <a:solidFill>
                  <a:srgbClr val="0000FF"/>
                </a:solidFill>
                <a:latin typeface="Arial" panose="020B0604020202020204" pitchFamily="34" charset="0"/>
                <a:ea typeface="黑体" panose="02010609060101010101" pitchFamily="49" charset="-122"/>
              </a:rPr>
              <a:t>位 / 2</a:t>
            </a:r>
            <a:r>
              <a:rPr lang="zh-CN" altLang="zh-CN" sz="2000">
                <a:solidFill>
                  <a:srgbClr val="0000FF"/>
                </a:solidFill>
                <a:latin typeface="Arial" panose="020B0604020202020204" pitchFamily="34" charset="0"/>
                <a:ea typeface="黑体" panose="02010609060101010101" pitchFamily="49" charset="-122"/>
              </a:rPr>
              <a:t>:16</a:t>
            </a:r>
            <a:r>
              <a:rPr lang="zh-CN" altLang="en-US" sz="2000">
                <a:solidFill>
                  <a:srgbClr val="0000FF"/>
                </a:solidFill>
                <a:latin typeface="Arial" panose="020B0604020202020204" pitchFamily="34" charset="0"/>
                <a:ea typeface="黑体" panose="02010609060101010101" pitchFamily="49" charset="-122"/>
              </a:rPr>
              <a:t>位 / 4:32位 / 8:64位</a:t>
            </a:r>
            <a:r>
              <a:rPr lang="en-US" altLang="zh-CN" sz="2000">
                <a:solidFill>
                  <a:srgbClr val="0000FF"/>
                </a:solidFill>
                <a:latin typeface="Arial" panose="020B0604020202020204" pitchFamily="34" charset="0"/>
                <a:ea typeface="黑体" panose="02010609060101010101" pitchFamily="49" charset="-122"/>
              </a:rPr>
              <a:t>) </a:t>
            </a:r>
          </a:p>
          <a:p>
            <a:pPr marL="342900" indent="-342900">
              <a:lnSpc>
                <a:spcPct val="100000"/>
              </a:lnSpc>
              <a:buFont typeface="Monotype Sorts"/>
              <a:buNone/>
            </a:pPr>
            <a:endParaRPr lang="zh-CN" altLang="en-US">
              <a:latin typeface="Arial" panose="020B0604020202020204" pitchFamily="34" charset="0"/>
            </a:endParaRPr>
          </a:p>
        </p:txBody>
      </p:sp>
      <p:sp>
        <p:nvSpPr>
          <p:cNvPr id="4" name="Text Box 11">
            <a:extLst>
              <a:ext uri="{FF2B5EF4-FFF2-40B4-BE49-F238E27FC236}">
                <a16:creationId xmlns:a16="http://schemas.microsoft.com/office/drawing/2014/main" id="{F9AB5ADC-AE42-50E5-1AF0-B6FE8A24BA57}"/>
              </a:ext>
            </a:extLst>
          </p:cNvPr>
          <p:cNvSpPr txBox="1">
            <a:spLocks noChangeArrowheads="1"/>
          </p:cNvSpPr>
          <p:nvPr/>
        </p:nvSpPr>
        <p:spPr bwMode="auto">
          <a:xfrm>
            <a:off x="301625" y="6029325"/>
            <a:ext cx="862171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000">
                <a:solidFill>
                  <a:srgbClr val="FF0000"/>
                </a:solidFill>
                <a:ea typeface="黑体" panose="02010609060101010101" pitchFamily="49" charset="-122"/>
              </a:rPr>
              <a:t>指令“ </a:t>
            </a:r>
            <a:r>
              <a:rPr lang="en-US" altLang="zh-CN" sz="2000">
                <a:solidFill>
                  <a:srgbClr val="FF0000"/>
                </a:solidFill>
                <a:ea typeface="黑体" panose="02010609060101010101" pitchFamily="49" charset="-122"/>
              </a:rPr>
              <a:t>MOV EAX, ES: [EBP+ESI*8+100]</a:t>
            </a:r>
            <a:r>
              <a:rPr lang="zh-CN" altLang="en-US" sz="2000">
                <a:solidFill>
                  <a:srgbClr val="FF0000"/>
                </a:solidFill>
                <a:ea typeface="黑体" panose="02010609060101010101" pitchFamily="49" charset="-122"/>
              </a:rPr>
              <a:t>”的含义是什么？</a:t>
            </a:r>
          </a:p>
        </p:txBody>
      </p:sp>
      <p:sp>
        <p:nvSpPr>
          <p:cNvPr id="60420" name="Rectangle 7">
            <a:extLst>
              <a:ext uri="{FF2B5EF4-FFF2-40B4-BE49-F238E27FC236}">
                <a16:creationId xmlns:a16="http://schemas.microsoft.com/office/drawing/2014/main" id="{433B568C-9025-3183-0DF1-06A49823B936}"/>
              </a:ext>
            </a:extLst>
          </p:cNvPr>
          <p:cNvSpPr>
            <a:spLocks noChangeArrowheads="1"/>
          </p:cNvSpPr>
          <p:nvPr/>
        </p:nvSpPr>
        <p:spPr bwMode="auto">
          <a:xfrm>
            <a:off x="209550" y="120650"/>
            <a:ext cx="69564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7000"/>
              </a:lnSpc>
            </a:pPr>
            <a:r>
              <a:rPr lang="zh-CN" altLang="en-US" sz="2400"/>
              <a:t>指令系统举例：</a:t>
            </a:r>
            <a:endParaRPr lang="zh-CN" altLang="en-US" sz="24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8883">
                                            <p:txEl>
                                              <p:pRg st="1" end="1"/>
                                            </p:txEl>
                                          </p:spTgt>
                                        </p:tgtEl>
                                        <p:attrNameLst>
                                          <p:attrName>style.visibility</p:attrName>
                                        </p:attrNameLst>
                                      </p:cBhvr>
                                      <p:to>
                                        <p:strVal val="visible"/>
                                      </p:to>
                                    </p:set>
                                    <p:animEffect transition="in" filter="blinds(horizontal)">
                                      <p:cBhvr>
                                        <p:cTn id="7" dur="500"/>
                                        <p:tgtEl>
                                          <p:spTgt spid="3788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8883">
                                            <p:txEl>
                                              <p:pRg st="2" end="2"/>
                                            </p:txEl>
                                          </p:spTgt>
                                        </p:tgtEl>
                                        <p:attrNameLst>
                                          <p:attrName>style.visibility</p:attrName>
                                        </p:attrNameLst>
                                      </p:cBhvr>
                                      <p:to>
                                        <p:strVal val="visible"/>
                                      </p:to>
                                    </p:set>
                                    <p:animEffect transition="in" filter="blinds(horizontal)">
                                      <p:cBhvr>
                                        <p:cTn id="12" dur="500"/>
                                        <p:tgtEl>
                                          <p:spTgt spid="3788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8883">
                                            <p:txEl>
                                              <p:pRg st="3" end="3"/>
                                            </p:txEl>
                                          </p:spTgt>
                                        </p:tgtEl>
                                        <p:attrNameLst>
                                          <p:attrName>style.visibility</p:attrName>
                                        </p:attrNameLst>
                                      </p:cBhvr>
                                      <p:to>
                                        <p:strVal val="visible"/>
                                      </p:to>
                                    </p:set>
                                    <p:animEffect transition="in" filter="blinds(horizontal)">
                                      <p:cBhvr>
                                        <p:cTn id="17" dur="500"/>
                                        <p:tgtEl>
                                          <p:spTgt spid="3788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8883">
                                            <p:txEl>
                                              <p:pRg st="4" end="4"/>
                                            </p:txEl>
                                          </p:spTgt>
                                        </p:tgtEl>
                                        <p:attrNameLst>
                                          <p:attrName>style.visibility</p:attrName>
                                        </p:attrNameLst>
                                      </p:cBhvr>
                                      <p:to>
                                        <p:strVal val="visible"/>
                                      </p:to>
                                    </p:set>
                                    <p:animEffect transition="in" filter="blinds(horizontal)">
                                      <p:cBhvr>
                                        <p:cTn id="22" dur="500"/>
                                        <p:tgtEl>
                                          <p:spTgt spid="37888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8883">
                                            <p:txEl>
                                              <p:pRg st="5" end="5"/>
                                            </p:txEl>
                                          </p:spTgt>
                                        </p:tgtEl>
                                        <p:attrNameLst>
                                          <p:attrName>style.visibility</p:attrName>
                                        </p:attrNameLst>
                                      </p:cBhvr>
                                      <p:to>
                                        <p:strVal val="visible"/>
                                      </p:to>
                                    </p:set>
                                    <p:animEffect transition="in" filter="blinds(horizontal)">
                                      <p:cBhvr>
                                        <p:cTn id="27" dur="500"/>
                                        <p:tgtEl>
                                          <p:spTgt spid="37888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78883">
                                            <p:txEl>
                                              <p:pRg st="7" end="7"/>
                                            </p:txEl>
                                          </p:spTgt>
                                        </p:tgtEl>
                                        <p:attrNameLst>
                                          <p:attrName>style.visibility</p:attrName>
                                        </p:attrNameLst>
                                      </p:cBhvr>
                                      <p:to>
                                        <p:strVal val="visible"/>
                                      </p:to>
                                    </p:set>
                                    <p:animEffect transition="in" filter="blinds(horizontal)">
                                      <p:cBhvr>
                                        <p:cTn id="32" dur="500"/>
                                        <p:tgtEl>
                                          <p:spTgt spid="37888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78883">
                                            <p:txEl>
                                              <p:pRg st="8" end="8"/>
                                            </p:txEl>
                                          </p:spTgt>
                                        </p:tgtEl>
                                        <p:attrNameLst>
                                          <p:attrName>style.visibility</p:attrName>
                                        </p:attrNameLst>
                                      </p:cBhvr>
                                      <p:to>
                                        <p:strVal val="visible"/>
                                      </p:to>
                                    </p:set>
                                    <p:animEffect transition="in" filter="blinds(horizontal)">
                                      <p:cBhvr>
                                        <p:cTn id="37" dur="500"/>
                                        <p:tgtEl>
                                          <p:spTgt spid="378883">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78883">
                                            <p:txEl>
                                              <p:pRg st="9" end="9"/>
                                            </p:txEl>
                                          </p:spTgt>
                                        </p:tgtEl>
                                        <p:attrNameLst>
                                          <p:attrName>style.visibility</p:attrName>
                                        </p:attrNameLst>
                                      </p:cBhvr>
                                      <p:to>
                                        <p:strVal val="visible"/>
                                      </p:to>
                                    </p:set>
                                    <p:animEffect transition="in" filter="blinds(horizontal)">
                                      <p:cBhvr>
                                        <p:cTn id="42" dur="500"/>
                                        <p:tgtEl>
                                          <p:spTgt spid="378883">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78883">
                                            <p:txEl>
                                              <p:pRg st="10" end="10"/>
                                            </p:txEl>
                                          </p:spTgt>
                                        </p:tgtEl>
                                        <p:attrNameLst>
                                          <p:attrName>style.visibility</p:attrName>
                                        </p:attrNameLst>
                                      </p:cBhvr>
                                      <p:to>
                                        <p:strVal val="visible"/>
                                      </p:to>
                                    </p:set>
                                    <p:animEffect transition="in" filter="blinds(horizontal)">
                                      <p:cBhvr>
                                        <p:cTn id="47" dur="500"/>
                                        <p:tgtEl>
                                          <p:spTgt spid="378883">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78883">
                                            <p:txEl>
                                              <p:pRg st="11" end="11"/>
                                            </p:txEl>
                                          </p:spTgt>
                                        </p:tgtEl>
                                        <p:attrNameLst>
                                          <p:attrName>style.visibility</p:attrName>
                                        </p:attrNameLst>
                                      </p:cBhvr>
                                      <p:to>
                                        <p:strVal val="visible"/>
                                      </p:to>
                                    </p:set>
                                    <p:animEffect transition="in" filter="blinds(horizontal)">
                                      <p:cBhvr>
                                        <p:cTn id="52" dur="500"/>
                                        <p:tgtEl>
                                          <p:spTgt spid="378883">
                                            <p:txEl>
                                              <p:pRg st="11" end="1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78883">
                                            <p:txEl>
                                              <p:pRg st="12" end="12"/>
                                            </p:txEl>
                                          </p:spTgt>
                                        </p:tgtEl>
                                        <p:attrNameLst>
                                          <p:attrName>style.visibility</p:attrName>
                                        </p:attrNameLst>
                                      </p:cBhvr>
                                      <p:to>
                                        <p:strVal val="visible"/>
                                      </p:to>
                                    </p:set>
                                    <p:animEffect transition="in" filter="blinds(horizontal)">
                                      <p:cBhvr>
                                        <p:cTn id="57" dur="500"/>
                                        <p:tgtEl>
                                          <p:spTgt spid="378883">
                                            <p:txEl>
                                              <p:pRg st="12" end="1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linds(horizontal)">
                                      <p:cBhvr>
                                        <p:cTn id="6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A06636CC-F702-BDE8-BD25-F5EEC996683B}"/>
              </a:ext>
            </a:extLst>
          </p:cNvPr>
          <p:cNvSpPr>
            <a:spLocks noGrp="1" noChangeArrowheads="1"/>
          </p:cNvSpPr>
          <p:nvPr>
            <p:ph type="title"/>
          </p:nvPr>
        </p:nvSpPr>
        <p:spPr>
          <a:xfrm>
            <a:off x="457200" y="98425"/>
            <a:ext cx="8229600" cy="400050"/>
          </a:xfrm>
        </p:spPr>
        <p:txBody>
          <a:bodyPr/>
          <a:lstStyle/>
          <a:p>
            <a:r>
              <a:rPr lang="en-US" altLang="zh-CN" sz="2600">
                <a:ea typeface="宋体" panose="02010600030101010101" pitchFamily="2" charset="-122"/>
              </a:rPr>
              <a:t>IA-32</a:t>
            </a:r>
            <a:r>
              <a:rPr lang="zh-CN" altLang="en-US" sz="2600">
                <a:ea typeface="宋体" panose="02010600030101010101" pitchFamily="2" charset="-122"/>
              </a:rPr>
              <a:t>保护模式下的寻址方式</a:t>
            </a:r>
          </a:p>
        </p:txBody>
      </p:sp>
      <p:sp>
        <p:nvSpPr>
          <p:cNvPr id="612355" name="Rectangle 3">
            <a:extLst>
              <a:ext uri="{FF2B5EF4-FFF2-40B4-BE49-F238E27FC236}">
                <a16:creationId xmlns:a16="http://schemas.microsoft.com/office/drawing/2014/main" id="{A5DCB1D2-8248-434B-8949-4CD38B2D26C4}"/>
              </a:ext>
            </a:extLst>
          </p:cNvPr>
          <p:cNvSpPr>
            <a:spLocks noGrp="1" noChangeArrowheads="1"/>
          </p:cNvSpPr>
          <p:nvPr>
            <p:ph idx="1"/>
          </p:nvPr>
        </p:nvSpPr>
        <p:spPr>
          <a:xfrm>
            <a:off x="250825" y="5543550"/>
            <a:ext cx="8408988" cy="1268413"/>
          </a:xfrm>
        </p:spPr>
        <p:txBody>
          <a:bodyPr/>
          <a:lstStyle/>
          <a:p>
            <a:pPr>
              <a:lnSpc>
                <a:spcPct val="100000"/>
              </a:lnSpc>
            </a:pPr>
            <a:r>
              <a:rPr lang="en-US" altLang="zh-CN">
                <a:solidFill>
                  <a:srgbClr val="007635"/>
                </a:solidFill>
                <a:latin typeface="微软雅黑" panose="020B0503020204020204" pitchFamily="34" charset="-122"/>
                <a:ea typeface="微软雅黑" panose="020B0503020204020204" pitchFamily="34" charset="-122"/>
              </a:rPr>
              <a:t>SR</a:t>
            </a:r>
            <a:r>
              <a:rPr lang="zh-CN" altLang="en-US">
                <a:solidFill>
                  <a:srgbClr val="007635"/>
                </a:solidFill>
                <a:latin typeface="微软雅黑" panose="020B0503020204020204" pitchFamily="34" charset="-122"/>
                <a:ea typeface="微软雅黑" panose="020B0503020204020204" pitchFamily="34" charset="-122"/>
              </a:rPr>
              <a:t>段寄存器（间接）确定操作数所在段的</a:t>
            </a:r>
            <a:r>
              <a:rPr lang="zh-CN" altLang="en-US">
                <a:solidFill>
                  <a:srgbClr val="FF3300"/>
                </a:solidFill>
                <a:latin typeface="微软雅黑" panose="020B0503020204020204" pitchFamily="34" charset="-122"/>
                <a:ea typeface="微软雅黑" panose="020B0503020204020204" pitchFamily="34" charset="-122"/>
              </a:rPr>
              <a:t>段基址</a:t>
            </a:r>
          </a:p>
          <a:p>
            <a:pPr>
              <a:lnSpc>
                <a:spcPct val="100000"/>
              </a:lnSpc>
            </a:pPr>
            <a:r>
              <a:rPr lang="zh-CN" altLang="en-US">
                <a:solidFill>
                  <a:srgbClr val="FF3300"/>
                </a:solidFill>
                <a:latin typeface="微软雅黑" panose="020B0503020204020204" pitchFamily="34" charset="-122"/>
                <a:ea typeface="微软雅黑" panose="020B0503020204020204" pitchFamily="34" charset="-122"/>
              </a:rPr>
              <a:t>有效地址</a:t>
            </a:r>
            <a:r>
              <a:rPr lang="zh-CN" altLang="en-US">
                <a:solidFill>
                  <a:srgbClr val="007635"/>
                </a:solidFill>
                <a:latin typeface="微软雅黑" panose="020B0503020204020204" pitchFamily="34" charset="-122"/>
                <a:ea typeface="微软雅黑" panose="020B0503020204020204" pitchFamily="34" charset="-122"/>
              </a:rPr>
              <a:t>给出操作数在所在段的偏移地址</a:t>
            </a:r>
          </a:p>
          <a:p>
            <a:pPr>
              <a:lnSpc>
                <a:spcPct val="100000"/>
              </a:lnSpc>
            </a:pPr>
            <a:r>
              <a:rPr lang="zh-CN" altLang="en-US">
                <a:solidFill>
                  <a:srgbClr val="007635"/>
                </a:solidFill>
                <a:latin typeface="微软雅黑" panose="020B0503020204020204" pitchFamily="34" charset="-122"/>
                <a:ea typeface="微软雅黑" panose="020B0503020204020204" pitchFamily="34" charset="-122"/>
              </a:rPr>
              <a:t>寻址过程涉及到“</a:t>
            </a:r>
            <a:r>
              <a:rPr lang="zh-CN" altLang="en-US">
                <a:solidFill>
                  <a:srgbClr val="FF3300"/>
                </a:solidFill>
                <a:latin typeface="微软雅黑" panose="020B0503020204020204" pitchFamily="34" charset="-122"/>
                <a:ea typeface="微软雅黑" panose="020B0503020204020204" pitchFamily="34" charset="-122"/>
              </a:rPr>
              <a:t>分段虚拟管理方式</a:t>
            </a:r>
            <a:r>
              <a:rPr lang="zh-CN" altLang="en-US">
                <a:solidFill>
                  <a:srgbClr val="007635"/>
                </a:solidFill>
                <a:latin typeface="微软雅黑" panose="020B0503020204020204" pitchFamily="34" charset="-122"/>
                <a:ea typeface="微软雅黑" panose="020B0503020204020204" pitchFamily="34" charset="-122"/>
              </a:rPr>
              <a:t>”，将在第</a:t>
            </a:r>
            <a:r>
              <a:rPr lang="en-US" altLang="zh-CN">
                <a:solidFill>
                  <a:srgbClr val="007635"/>
                </a:solidFill>
                <a:latin typeface="微软雅黑" panose="020B0503020204020204" pitchFamily="34" charset="-122"/>
                <a:ea typeface="微软雅黑" panose="020B0503020204020204" pitchFamily="34" charset="-122"/>
              </a:rPr>
              <a:t>9</a:t>
            </a:r>
            <a:r>
              <a:rPr lang="zh-CN" altLang="en-US">
                <a:solidFill>
                  <a:srgbClr val="007635"/>
                </a:solidFill>
                <a:latin typeface="微软雅黑" panose="020B0503020204020204" pitchFamily="34" charset="-122"/>
                <a:ea typeface="微软雅黑" panose="020B0503020204020204" pitchFamily="34" charset="-122"/>
              </a:rPr>
              <a:t>章讨论</a:t>
            </a:r>
            <a:endParaRPr lang="zh-CN" altLang="en-US" sz="2200">
              <a:solidFill>
                <a:srgbClr val="007635"/>
              </a:solidFill>
              <a:latin typeface="微软雅黑" panose="020B0503020204020204" pitchFamily="34" charset="-122"/>
              <a:ea typeface="微软雅黑" panose="020B0503020204020204" pitchFamily="34" charset="-122"/>
            </a:endParaRPr>
          </a:p>
        </p:txBody>
      </p:sp>
      <p:pic>
        <p:nvPicPr>
          <p:cNvPr id="61443" name="Picture 4">
            <a:extLst>
              <a:ext uri="{FF2B5EF4-FFF2-40B4-BE49-F238E27FC236}">
                <a16:creationId xmlns:a16="http://schemas.microsoft.com/office/drawing/2014/main" id="{C64DA314-9DD7-7D04-235D-E35AA4078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728663"/>
            <a:ext cx="898207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2357" name="Rectangle 5">
            <a:extLst>
              <a:ext uri="{FF2B5EF4-FFF2-40B4-BE49-F238E27FC236}">
                <a16:creationId xmlns:a16="http://schemas.microsoft.com/office/drawing/2014/main" id="{A0651CE3-0F8F-0707-9F5E-68082DB1B768}"/>
              </a:ext>
            </a:extLst>
          </p:cNvPr>
          <p:cNvSpPr>
            <a:spLocks noChangeArrowheads="1"/>
          </p:cNvSpPr>
          <p:nvPr/>
        </p:nvSpPr>
        <p:spPr bwMode="auto">
          <a:xfrm>
            <a:off x="161925" y="1943100"/>
            <a:ext cx="8596313" cy="2249488"/>
          </a:xfrm>
          <a:prstGeom prst="rect">
            <a:avLst/>
          </a:prstGeom>
          <a:solidFill>
            <a:schemeClr val="accent1">
              <a:alpha val="27058"/>
            </a:schemeClr>
          </a:solidFill>
          <a:ln w="9525">
            <a:solidFill>
              <a:schemeClr val="tx1"/>
            </a:solidFill>
            <a:miter lim="800000"/>
            <a:headEnd/>
            <a:tailEnd/>
          </a:ln>
        </p:spPr>
        <p:txBody>
          <a:bodyPr wrap="none" anchor="ctr"/>
          <a:lstStyle/>
          <a:p>
            <a:pPr eaLnBrk="0" hangingPunct="0"/>
            <a:endParaRPr lang="zh-CN" altLang="en-US"/>
          </a:p>
        </p:txBody>
      </p:sp>
      <p:sp>
        <p:nvSpPr>
          <p:cNvPr id="612358" name="Rectangle 6">
            <a:extLst>
              <a:ext uri="{FF2B5EF4-FFF2-40B4-BE49-F238E27FC236}">
                <a16:creationId xmlns:a16="http://schemas.microsoft.com/office/drawing/2014/main" id="{B67F2EA6-1EB8-0FD0-1343-EBDC5DABC269}"/>
              </a:ext>
            </a:extLst>
          </p:cNvPr>
          <p:cNvSpPr>
            <a:spLocks noChangeArrowheads="1"/>
          </p:cNvSpPr>
          <p:nvPr/>
        </p:nvSpPr>
        <p:spPr bwMode="auto">
          <a:xfrm>
            <a:off x="161925" y="4194175"/>
            <a:ext cx="8596313" cy="360363"/>
          </a:xfrm>
          <a:prstGeom prst="rect">
            <a:avLst/>
          </a:prstGeom>
          <a:solidFill>
            <a:srgbClr val="FF3300">
              <a:alpha val="25098"/>
            </a:srgbClr>
          </a:solidFill>
          <a:ln w="9525">
            <a:solidFill>
              <a:schemeClr val="tx1"/>
            </a:solidFill>
            <a:miter lim="800000"/>
            <a:headEnd/>
            <a:tailEnd/>
          </a:ln>
        </p:spPr>
        <p:txBody>
          <a:bodyPr wrap="none" anchor="ctr"/>
          <a:lstStyle/>
          <a:p>
            <a:pPr eaLnBrk="0" hangingPunct="0"/>
            <a:endParaRPr lang="zh-CN" altLang="en-US"/>
          </a:p>
        </p:txBody>
      </p:sp>
      <p:grpSp>
        <p:nvGrpSpPr>
          <p:cNvPr id="612362" name="Group 10">
            <a:extLst>
              <a:ext uri="{FF2B5EF4-FFF2-40B4-BE49-F238E27FC236}">
                <a16:creationId xmlns:a16="http://schemas.microsoft.com/office/drawing/2014/main" id="{8DA59631-BF1E-6499-15CC-3CAA6916A441}"/>
              </a:ext>
            </a:extLst>
          </p:cNvPr>
          <p:cNvGrpSpPr>
            <a:grpSpLocks/>
          </p:cNvGrpSpPr>
          <p:nvPr/>
        </p:nvGrpSpPr>
        <p:grpSpPr bwMode="auto">
          <a:xfrm>
            <a:off x="1466850" y="1943100"/>
            <a:ext cx="6254750" cy="4005263"/>
            <a:chOff x="924" y="1224"/>
            <a:chExt cx="3940" cy="2523"/>
          </a:xfrm>
        </p:grpSpPr>
        <p:sp>
          <p:nvSpPr>
            <p:cNvPr id="61447" name="Rectangle 8">
              <a:extLst>
                <a:ext uri="{FF2B5EF4-FFF2-40B4-BE49-F238E27FC236}">
                  <a16:creationId xmlns:a16="http://schemas.microsoft.com/office/drawing/2014/main" id="{91B4756D-7E7B-DDA0-751D-6268C150DB22}"/>
                </a:ext>
              </a:extLst>
            </p:cNvPr>
            <p:cNvSpPr>
              <a:spLocks noChangeArrowheads="1"/>
            </p:cNvSpPr>
            <p:nvPr/>
          </p:nvSpPr>
          <p:spPr bwMode="auto">
            <a:xfrm>
              <a:off x="3447" y="1224"/>
              <a:ext cx="1417" cy="1417"/>
            </a:xfrm>
            <a:prstGeom prst="rect">
              <a:avLst/>
            </a:prstGeom>
            <a:solidFill>
              <a:srgbClr val="800080">
                <a:alpha val="16862"/>
              </a:srgbClr>
            </a:solidFill>
            <a:ln w="9525">
              <a:solidFill>
                <a:schemeClr val="tx1"/>
              </a:solidFill>
              <a:miter lim="800000"/>
              <a:headEnd/>
              <a:tailEnd/>
            </a:ln>
          </p:spPr>
          <p:txBody>
            <a:bodyPr wrap="none" anchor="ctr"/>
            <a:lstStyle/>
            <a:p>
              <a:pPr eaLnBrk="0" hangingPunct="0"/>
              <a:endParaRPr lang="zh-CN" altLang="en-US"/>
            </a:p>
          </p:txBody>
        </p:sp>
        <p:sp>
          <p:nvSpPr>
            <p:cNvPr id="61448" name="Line 9">
              <a:extLst>
                <a:ext uri="{FF2B5EF4-FFF2-40B4-BE49-F238E27FC236}">
                  <a16:creationId xmlns:a16="http://schemas.microsoft.com/office/drawing/2014/main" id="{A398EE3A-B3F9-3DBB-379C-69E7A90C51E0}"/>
                </a:ext>
              </a:extLst>
            </p:cNvPr>
            <p:cNvSpPr>
              <a:spLocks noChangeShapeType="1"/>
            </p:cNvSpPr>
            <p:nvPr/>
          </p:nvSpPr>
          <p:spPr bwMode="auto">
            <a:xfrm flipV="1">
              <a:off x="924" y="2641"/>
              <a:ext cx="2977" cy="1106"/>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2365" name="Group 13">
            <a:extLst>
              <a:ext uri="{FF2B5EF4-FFF2-40B4-BE49-F238E27FC236}">
                <a16:creationId xmlns:a16="http://schemas.microsoft.com/office/drawing/2014/main" id="{4FF87C24-5667-9B3A-08BF-823AB48DB277}"/>
              </a:ext>
            </a:extLst>
          </p:cNvPr>
          <p:cNvGrpSpPr>
            <a:grpSpLocks/>
          </p:cNvGrpSpPr>
          <p:nvPr/>
        </p:nvGrpSpPr>
        <p:grpSpPr bwMode="auto">
          <a:xfrm>
            <a:off x="4616450" y="1943100"/>
            <a:ext cx="1169988" cy="3735388"/>
            <a:chOff x="2908" y="1224"/>
            <a:chExt cx="737" cy="2297"/>
          </a:xfrm>
        </p:grpSpPr>
        <p:sp>
          <p:nvSpPr>
            <p:cNvPr id="61450" name="Line 11">
              <a:extLst>
                <a:ext uri="{FF2B5EF4-FFF2-40B4-BE49-F238E27FC236}">
                  <a16:creationId xmlns:a16="http://schemas.microsoft.com/office/drawing/2014/main" id="{27C3A52A-9503-BCDA-E122-5BEF883C269F}"/>
                </a:ext>
              </a:extLst>
            </p:cNvPr>
            <p:cNvSpPr>
              <a:spLocks noChangeShapeType="1"/>
            </p:cNvSpPr>
            <p:nvPr/>
          </p:nvSpPr>
          <p:spPr bwMode="auto">
            <a:xfrm flipH="1" flipV="1">
              <a:off x="3249" y="2557"/>
              <a:ext cx="396" cy="964"/>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1" name="Rectangle 12">
              <a:extLst>
                <a:ext uri="{FF2B5EF4-FFF2-40B4-BE49-F238E27FC236}">
                  <a16:creationId xmlns:a16="http://schemas.microsoft.com/office/drawing/2014/main" id="{6C1CF0E8-A862-FC18-3007-3849DDA69EDA}"/>
                </a:ext>
              </a:extLst>
            </p:cNvPr>
            <p:cNvSpPr>
              <a:spLocks noChangeArrowheads="1"/>
            </p:cNvSpPr>
            <p:nvPr/>
          </p:nvSpPr>
          <p:spPr bwMode="auto">
            <a:xfrm>
              <a:off x="2908" y="1224"/>
              <a:ext cx="426" cy="1361"/>
            </a:xfrm>
            <a:prstGeom prst="rect">
              <a:avLst/>
            </a:prstGeom>
            <a:solidFill>
              <a:srgbClr val="800080">
                <a:alpha val="25098"/>
              </a:srgbClr>
            </a:solidFill>
            <a:ln w="9525">
              <a:solidFill>
                <a:schemeClr val="tx1"/>
              </a:solidFill>
              <a:miter lim="800000"/>
              <a:headEnd/>
              <a:tailEnd/>
            </a:ln>
          </p:spPr>
          <p:txBody>
            <a:bodyPr wrap="none" anchor="ctr"/>
            <a:lstStyle/>
            <a:p>
              <a:pPr eaLnBrk="0" hangingPunct="0"/>
              <a:endParaRPr lang="zh-CN" altLang="en-US"/>
            </a:p>
          </p:txBody>
        </p:sp>
      </p:grpSp>
      <p:grpSp>
        <p:nvGrpSpPr>
          <p:cNvPr id="612369" name="Group 17">
            <a:extLst>
              <a:ext uri="{FF2B5EF4-FFF2-40B4-BE49-F238E27FC236}">
                <a16:creationId xmlns:a16="http://schemas.microsoft.com/office/drawing/2014/main" id="{20354392-C308-CC5D-009D-34BFF385DBD0}"/>
              </a:ext>
            </a:extLst>
          </p:cNvPr>
          <p:cNvGrpSpPr>
            <a:grpSpLocks/>
          </p:cNvGrpSpPr>
          <p:nvPr/>
        </p:nvGrpSpPr>
        <p:grpSpPr bwMode="auto">
          <a:xfrm>
            <a:off x="7812088" y="2033588"/>
            <a:ext cx="765175" cy="2055812"/>
            <a:chOff x="4921" y="1281"/>
            <a:chExt cx="482" cy="1295"/>
          </a:xfrm>
        </p:grpSpPr>
        <p:sp>
          <p:nvSpPr>
            <p:cNvPr id="61453" name="AutoShape 14">
              <a:extLst>
                <a:ext uri="{FF2B5EF4-FFF2-40B4-BE49-F238E27FC236}">
                  <a16:creationId xmlns:a16="http://schemas.microsoft.com/office/drawing/2014/main" id="{FCE50D26-A0B8-088F-8875-A889B7097F2F}"/>
                </a:ext>
              </a:extLst>
            </p:cNvPr>
            <p:cNvSpPr>
              <a:spLocks/>
            </p:cNvSpPr>
            <p:nvPr/>
          </p:nvSpPr>
          <p:spPr bwMode="auto">
            <a:xfrm>
              <a:off x="4921" y="1281"/>
              <a:ext cx="114" cy="1276"/>
            </a:xfrm>
            <a:prstGeom prst="rightBrace">
              <a:avLst>
                <a:gd name="adj1" fmla="val 93068"/>
                <a:gd name="adj2" fmla="val 50000"/>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61454" name="Text Box 15">
              <a:extLst>
                <a:ext uri="{FF2B5EF4-FFF2-40B4-BE49-F238E27FC236}">
                  <a16:creationId xmlns:a16="http://schemas.microsoft.com/office/drawing/2014/main" id="{DB645A1E-F754-3219-213F-9933C26996DC}"/>
                </a:ext>
              </a:extLst>
            </p:cNvPr>
            <p:cNvSpPr txBox="1">
              <a:spLocks noChangeArrowheads="1"/>
            </p:cNvSpPr>
            <p:nvPr/>
          </p:nvSpPr>
          <p:spPr bwMode="auto">
            <a:xfrm>
              <a:off x="5063" y="1366"/>
              <a:ext cx="340" cy="1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latin typeface="微软雅黑" panose="020B0503020204020204" pitchFamily="34" charset="-122"/>
                  <a:ea typeface="微软雅黑" panose="020B0503020204020204" pitchFamily="34" charset="-122"/>
                </a:rPr>
                <a:t>存储器操作数</a:t>
              </a:r>
            </a:p>
          </p:txBody>
        </p:sp>
      </p:grpSp>
      <p:sp>
        <p:nvSpPr>
          <p:cNvPr id="612368" name="Text Box 16">
            <a:extLst>
              <a:ext uri="{FF2B5EF4-FFF2-40B4-BE49-F238E27FC236}">
                <a16:creationId xmlns:a16="http://schemas.microsoft.com/office/drawing/2014/main" id="{69E04FEC-BB43-21D2-8B04-CE67FB06123D}"/>
              </a:ext>
            </a:extLst>
          </p:cNvPr>
          <p:cNvSpPr txBox="1">
            <a:spLocks noChangeArrowheads="1"/>
          </p:cNvSpPr>
          <p:nvPr/>
        </p:nvSpPr>
        <p:spPr bwMode="auto">
          <a:xfrm>
            <a:off x="6192838" y="4194175"/>
            <a:ext cx="25193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900">
                <a:solidFill>
                  <a:srgbClr val="007635"/>
                </a:solidFill>
              </a:rPr>
              <a:t>跳转目标指令地址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2357"/>
                                        </p:tgtEl>
                                        <p:attrNameLst>
                                          <p:attrName>style.visibility</p:attrName>
                                        </p:attrNameLst>
                                      </p:cBhvr>
                                      <p:to>
                                        <p:strVal val="visible"/>
                                      </p:to>
                                    </p:set>
                                    <p:animEffect transition="in" filter="blinds(horizontal)">
                                      <p:cBhvr>
                                        <p:cTn id="7" dur="500"/>
                                        <p:tgtEl>
                                          <p:spTgt spid="6123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2369"/>
                                        </p:tgtEl>
                                        <p:attrNameLst>
                                          <p:attrName>style.visibility</p:attrName>
                                        </p:attrNameLst>
                                      </p:cBhvr>
                                      <p:to>
                                        <p:strVal val="visible"/>
                                      </p:to>
                                    </p:set>
                                    <p:animEffect transition="in" filter="blinds(horizontal)">
                                      <p:cBhvr>
                                        <p:cTn id="12" dur="500"/>
                                        <p:tgtEl>
                                          <p:spTgt spid="6123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2355">
                                            <p:txEl>
                                              <p:pRg st="0" end="0"/>
                                            </p:txEl>
                                          </p:spTgt>
                                        </p:tgtEl>
                                        <p:attrNameLst>
                                          <p:attrName>style.visibility</p:attrName>
                                        </p:attrNameLst>
                                      </p:cBhvr>
                                      <p:to>
                                        <p:strVal val="visible"/>
                                      </p:to>
                                    </p:set>
                                    <p:animEffect transition="in" filter="blinds(horizontal)">
                                      <p:cBhvr>
                                        <p:cTn id="17" dur="500"/>
                                        <p:tgtEl>
                                          <p:spTgt spid="6123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2365"/>
                                        </p:tgtEl>
                                        <p:attrNameLst>
                                          <p:attrName>style.visibility</p:attrName>
                                        </p:attrNameLst>
                                      </p:cBhvr>
                                      <p:to>
                                        <p:strVal val="visible"/>
                                      </p:to>
                                    </p:set>
                                    <p:animEffect transition="in" filter="blinds(horizontal)">
                                      <p:cBhvr>
                                        <p:cTn id="22" dur="500"/>
                                        <p:tgtEl>
                                          <p:spTgt spid="6123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2355">
                                            <p:txEl>
                                              <p:pRg st="1" end="1"/>
                                            </p:txEl>
                                          </p:spTgt>
                                        </p:tgtEl>
                                        <p:attrNameLst>
                                          <p:attrName>style.visibility</p:attrName>
                                        </p:attrNameLst>
                                      </p:cBhvr>
                                      <p:to>
                                        <p:strVal val="visible"/>
                                      </p:to>
                                    </p:set>
                                    <p:animEffect transition="in" filter="blinds(horizontal)">
                                      <p:cBhvr>
                                        <p:cTn id="27" dur="500"/>
                                        <p:tgtEl>
                                          <p:spTgt spid="61235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2362"/>
                                        </p:tgtEl>
                                        <p:attrNameLst>
                                          <p:attrName>style.visibility</p:attrName>
                                        </p:attrNameLst>
                                      </p:cBhvr>
                                      <p:to>
                                        <p:strVal val="visible"/>
                                      </p:to>
                                    </p:set>
                                    <p:animEffect transition="in" filter="blinds(horizontal)">
                                      <p:cBhvr>
                                        <p:cTn id="32" dur="500"/>
                                        <p:tgtEl>
                                          <p:spTgt spid="6123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12355">
                                            <p:txEl>
                                              <p:pRg st="2" end="2"/>
                                            </p:txEl>
                                          </p:spTgt>
                                        </p:tgtEl>
                                        <p:attrNameLst>
                                          <p:attrName>style.visibility</p:attrName>
                                        </p:attrNameLst>
                                      </p:cBhvr>
                                      <p:to>
                                        <p:strVal val="visible"/>
                                      </p:to>
                                    </p:set>
                                    <p:animEffect transition="in" filter="blinds(horizontal)">
                                      <p:cBhvr>
                                        <p:cTn id="37" dur="500"/>
                                        <p:tgtEl>
                                          <p:spTgt spid="612355">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2358"/>
                                        </p:tgtEl>
                                        <p:attrNameLst>
                                          <p:attrName>style.visibility</p:attrName>
                                        </p:attrNameLst>
                                      </p:cBhvr>
                                      <p:to>
                                        <p:strVal val="visible"/>
                                      </p:to>
                                    </p:set>
                                    <p:animEffect transition="in" filter="blinds(horizontal)">
                                      <p:cBhvr>
                                        <p:cTn id="42" dur="500"/>
                                        <p:tgtEl>
                                          <p:spTgt spid="6123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2368"/>
                                        </p:tgtEl>
                                        <p:attrNameLst>
                                          <p:attrName>style.visibility</p:attrName>
                                        </p:attrNameLst>
                                      </p:cBhvr>
                                      <p:to>
                                        <p:strVal val="visible"/>
                                      </p:to>
                                    </p:set>
                                    <p:animEffect transition="in" filter="blinds(horizontal)">
                                      <p:cBhvr>
                                        <p:cTn id="47" dur="500"/>
                                        <p:tgtEl>
                                          <p:spTgt spid="612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7" grpId="0" animBg="1"/>
      <p:bldP spid="612358" grpId="0" animBg="1"/>
      <p:bldP spid="61236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7ECA42DC-E464-C0A4-E60E-26189B5A3936}"/>
              </a:ext>
            </a:extLst>
          </p:cNvPr>
          <p:cNvSpPr>
            <a:spLocks noGrp="1" noChangeArrowheads="1"/>
          </p:cNvSpPr>
          <p:nvPr>
            <p:ph type="title"/>
          </p:nvPr>
        </p:nvSpPr>
        <p:spPr>
          <a:xfrm>
            <a:off x="685800" y="100013"/>
            <a:ext cx="6457950" cy="373062"/>
          </a:xfrm>
        </p:spPr>
        <p:txBody>
          <a:bodyPr/>
          <a:lstStyle/>
          <a:p>
            <a:r>
              <a:rPr lang="en-US" altLang="zh-CN">
                <a:ea typeface="宋体" panose="02010600030101010101" pitchFamily="2" charset="-122"/>
              </a:rPr>
              <a:t>IA-32</a:t>
            </a:r>
            <a:r>
              <a:rPr lang="zh-CN" altLang="en-US">
                <a:ea typeface="宋体" panose="02010600030101010101" pitchFamily="2" charset="-122"/>
              </a:rPr>
              <a:t>的存储器寻址</a:t>
            </a:r>
          </a:p>
        </p:txBody>
      </p:sp>
      <p:sp>
        <p:nvSpPr>
          <p:cNvPr id="62466" name="AutoShape 3">
            <a:extLst>
              <a:ext uri="{FF2B5EF4-FFF2-40B4-BE49-F238E27FC236}">
                <a16:creationId xmlns:a16="http://schemas.microsoft.com/office/drawing/2014/main" id="{4B8559E6-6FC4-2475-301B-A6F934EAF0D2}"/>
              </a:ext>
            </a:extLst>
          </p:cNvPr>
          <p:cNvSpPr>
            <a:spLocks noChangeArrowheads="1"/>
          </p:cNvSpPr>
          <p:nvPr/>
        </p:nvSpPr>
        <p:spPr bwMode="auto">
          <a:xfrm>
            <a:off x="6858000" y="1706563"/>
            <a:ext cx="1600200" cy="3657600"/>
          </a:xfrm>
          <a:prstGeom prst="wave">
            <a:avLst>
              <a:gd name="adj1" fmla="val 4167"/>
              <a:gd name="adj2" fmla="val 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62467" name="Rectangle 4" descr="宽下对角线">
            <a:extLst>
              <a:ext uri="{FF2B5EF4-FFF2-40B4-BE49-F238E27FC236}">
                <a16:creationId xmlns:a16="http://schemas.microsoft.com/office/drawing/2014/main" id="{A8EEC27E-24F3-0BC2-949A-F093E2E87537}"/>
              </a:ext>
            </a:extLst>
          </p:cNvPr>
          <p:cNvSpPr>
            <a:spLocks noChangeArrowheads="1"/>
          </p:cNvSpPr>
          <p:nvPr/>
        </p:nvSpPr>
        <p:spPr bwMode="auto">
          <a:xfrm>
            <a:off x="6858000" y="2849563"/>
            <a:ext cx="1600200" cy="6096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62468" name="Rectangle 5" descr="宽下对角线">
            <a:extLst>
              <a:ext uri="{FF2B5EF4-FFF2-40B4-BE49-F238E27FC236}">
                <a16:creationId xmlns:a16="http://schemas.microsoft.com/office/drawing/2014/main" id="{2F816432-7F75-EF6B-D1F0-E0C6648211E6}"/>
              </a:ext>
            </a:extLst>
          </p:cNvPr>
          <p:cNvSpPr>
            <a:spLocks noChangeArrowheads="1"/>
          </p:cNvSpPr>
          <p:nvPr/>
        </p:nvSpPr>
        <p:spPr bwMode="auto">
          <a:xfrm>
            <a:off x="6858000" y="3763963"/>
            <a:ext cx="1600200" cy="914400"/>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p>
            <a:pPr eaLnBrk="0" hangingPunct="0"/>
            <a:endParaRPr lang="zh-CN" altLang="en-US"/>
          </a:p>
        </p:txBody>
      </p:sp>
      <p:sp>
        <p:nvSpPr>
          <p:cNvPr id="62469" name="Rectangle 6">
            <a:extLst>
              <a:ext uri="{FF2B5EF4-FFF2-40B4-BE49-F238E27FC236}">
                <a16:creationId xmlns:a16="http://schemas.microsoft.com/office/drawing/2014/main" id="{F3EA68B4-E35C-DD5B-1470-74AE2E37F186}"/>
              </a:ext>
            </a:extLst>
          </p:cNvPr>
          <p:cNvSpPr>
            <a:spLocks noChangeArrowheads="1"/>
          </p:cNvSpPr>
          <p:nvPr/>
        </p:nvSpPr>
        <p:spPr bwMode="auto">
          <a:xfrm>
            <a:off x="762000" y="1325563"/>
            <a:ext cx="19050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380935" name="Text Box 7">
            <a:extLst>
              <a:ext uri="{FF2B5EF4-FFF2-40B4-BE49-F238E27FC236}">
                <a16:creationId xmlns:a16="http://schemas.microsoft.com/office/drawing/2014/main" id="{4CDD4A30-DEF6-6307-4126-6231D1B3568E}"/>
              </a:ext>
            </a:extLst>
          </p:cNvPr>
          <p:cNvSpPr txBox="1">
            <a:spLocks noChangeArrowheads="1"/>
          </p:cNvSpPr>
          <p:nvPr/>
        </p:nvSpPr>
        <p:spPr bwMode="auto">
          <a:xfrm>
            <a:off x="838200" y="868363"/>
            <a:ext cx="1905000" cy="457200"/>
          </a:xfrm>
          <a:prstGeom prst="rect">
            <a:avLst/>
          </a:prstGeom>
          <a:noFill/>
          <a:ln w="9525">
            <a:noFill/>
            <a:miter lim="800000"/>
          </a:ln>
          <a:effectLst/>
        </p:spPr>
        <p:txBody>
          <a:bodyPr>
            <a:spAutoFit/>
          </a:bodyPr>
          <a:lstStyle/>
          <a:p>
            <a:pPr eaLnBrk="0" hangingPunct="0">
              <a:spcBef>
                <a:spcPct val="50000"/>
              </a:spcBef>
              <a:defRPr/>
            </a:pPr>
            <a:r>
              <a:rPr lang="zh-CN" altLang="en-US" sz="2400" b="0">
                <a:solidFill>
                  <a:srgbClr val="C2228D"/>
                </a:solidFill>
                <a:effectLst>
                  <a:outerShdw blurRad="38100" dist="38100" dir="2700000" algn="tl">
                    <a:srgbClr val="C0C0C0"/>
                  </a:outerShdw>
                </a:effectLst>
                <a:latin typeface="Times New Roman" panose="02020603050405020304" pitchFamily="18" charset="0"/>
              </a:rPr>
              <a:t>段寄存器</a:t>
            </a:r>
          </a:p>
        </p:txBody>
      </p:sp>
      <p:sp>
        <p:nvSpPr>
          <p:cNvPr id="62471" name="Rectangle 8">
            <a:extLst>
              <a:ext uri="{FF2B5EF4-FFF2-40B4-BE49-F238E27FC236}">
                <a16:creationId xmlns:a16="http://schemas.microsoft.com/office/drawing/2014/main" id="{57F3A96F-84E8-A717-8013-CE40210B277C}"/>
              </a:ext>
            </a:extLst>
          </p:cNvPr>
          <p:cNvSpPr>
            <a:spLocks noChangeArrowheads="1"/>
          </p:cNvSpPr>
          <p:nvPr/>
        </p:nvSpPr>
        <p:spPr bwMode="auto">
          <a:xfrm>
            <a:off x="914400" y="1477963"/>
            <a:ext cx="1905000" cy="838200"/>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72" name="Rectangle 9">
            <a:extLst>
              <a:ext uri="{FF2B5EF4-FFF2-40B4-BE49-F238E27FC236}">
                <a16:creationId xmlns:a16="http://schemas.microsoft.com/office/drawing/2014/main" id="{00CDF817-22E1-B9C2-2D84-998139854C7B}"/>
              </a:ext>
            </a:extLst>
          </p:cNvPr>
          <p:cNvSpPr>
            <a:spLocks noChangeArrowheads="1"/>
          </p:cNvSpPr>
          <p:nvPr/>
        </p:nvSpPr>
        <p:spPr bwMode="auto">
          <a:xfrm>
            <a:off x="1066800" y="1630363"/>
            <a:ext cx="1905000" cy="838200"/>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73" name="Rectangle 10">
            <a:extLst>
              <a:ext uri="{FF2B5EF4-FFF2-40B4-BE49-F238E27FC236}">
                <a16:creationId xmlns:a16="http://schemas.microsoft.com/office/drawing/2014/main" id="{EF326B28-9A83-E1B4-2B11-45640AE2ABB3}"/>
              </a:ext>
            </a:extLst>
          </p:cNvPr>
          <p:cNvSpPr>
            <a:spLocks noChangeArrowheads="1"/>
          </p:cNvSpPr>
          <p:nvPr/>
        </p:nvSpPr>
        <p:spPr bwMode="auto">
          <a:xfrm>
            <a:off x="1219200" y="1782763"/>
            <a:ext cx="1905000" cy="838200"/>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74" name="Rectangle 11">
            <a:extLst>
              <a:ext uri="{FF2B5EF4-FFF2-40B4-BE49-F238E27FC236}">
                <a16:creationId xmlns:a16="http://schemas.microsoft.com/office/drawing/2014/main" id="{E0DE6D90-0B7A-D90C-16C7-43B3AF4ED513}"/>
              </a:ext>
            </a:extLst>
          </p:cNvPr>
          <p:cNvSpPr>
            <a:spLocks noChangeArrowheads="1"/>
          </p:cNvSpPr>
          <p:nvPr/>
        </p:nvSpPr>
        <p:spPr bwMode="auto">
          <a:xfrm>
            <a:off x="1371600" y="1935163"/>
            <a:ext cx="1905000" cy="838200"/>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75" name="Rectangle 12">
            <a:extLst>
              <a:ext uri="{FF2B5EF4-FFF2-40B4-BE49-F238E27FC236}">
                <a16:creationId xmlns:a16="http://schemas.microsoft.com/office/drawing/2014/main" id="{3B483E44-0754-E0B7-93A8-3D5E4008FB3A}"/>
              </a:ext>
            </a:extLst>
          </p:cNvPr>
          <p:cNvSpPr>
            <a:spLocks noChangeArrowheads="1"/>
          </p:cNvSpPr>
          <p:nvPr/>
        </p:nvSpPr>
        <p:spPr bwMode="auto">
          <a:xfrm>
            <a:off x="1524000" y="2087563"/>
            <a:ext cx="1905000" cy="838200"/>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76" name="Text Box 13">
            <a:extLst>
              <a:ext uri="{FF2B5EF4-FFF2-40B4-BE49-F238E27FC236}">
                <a16:creationId xmlns:a16="http://schemas.microsoft.com/office/drawing/2014/main" id="{435EA0AB-4555-5849-A964-5C5507FDB2DF}"/>
              </a:ext>
            </a:extLst>
          </p:cNvPr>
          <p:cNvSpPr txBox="1">
            <a:spLocks noChangeArrowheads="1"/>
          </p:cNvSpPr>
          <p:nvPr/>
        </p:nvSpPr>
        <p:spPr bwMode="auto">
          <a:xfrm>
            <a:off x="152400" y="16303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b="0">
                <a:solidFill>
                  <a:schemeClr val="tx1"/>
                </a:solidFill>
                <a:latin typeface="Times New Roman" panose="02020603050405020304" pitchFamily="18" charset="0"/>
              </a:rPr>
              <a:t>SS</a:t>
            </a:r>
          </a:p>
        </p:txBody>
      </p:sp>
      <p:sp>
        <p:nvSpPr>
          <p:cNvPr id="62477" name="Text Box 14">
            <a:extLst>
              <a:ext uri="{FF2B5EF4-FFF2-40B4-BE49-F238E27FC236}">
                <a16:creationId xmlns:a16="http://schemas.microsoft.com/office/drawing/2014/main" id="{D40F6268-81D7-C662-9308-CA5F7B5A4CB3}"/>
              </a:ext>
            </a:extLst>
          </p:cNvPr>
          <p:cNvSpPr txBox="1">
            <a:spLocks noChangeArrowheads="1"/>
          </p:cNvSpPr>
          <p:nvPr/>
        </p:nvSpPr>
        <p:spPr bwMode="auto">
          <a:xfrm>
            <a:off x="838200" y="25447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b="0">
                <a:solidFill>
                  <a:schemeClr val="tx1"/>
                </a:solidFill>
                <a:latin typeface="Times New Roman" panose="02020603050405020304" pitchFamily="18" charset="0"/>
              </a:rPr>
              <a:t>CS</a:t>
            </a:r>
          </a:p>
        </p:txBody>
      </p:sp>
      <p:sp>
        <p:nvSpPr>
          <p:cNvPr id="380943" name="Text Box 15">
            <a:extLst>
              <a:ext uri="{FF2B5EF4-FFF2-40B4-BE49-F238E27FC236}">
                <a16:creationId xmlns:a16="http://schemas.microsoft.com/office/drawing/2014/main" id="{56B7F4E2-8043-05FD-4D37-81AB7E8ABE59}"/>
              </a:ext>
            </a:extLst>
          </p:cNvPr>
          <p:cNvSpPr txBox="1">
            <a:spLocks noChangeArrowheads="1"/>
          </p:cNvSpPr>
          <p:nvPr/>
        </p:nvSpPr>
        <p:spPr bwMode="auto">
          <a:xfrm>
            <a:off x="1828800" y="2163763"/>
            <a:ext cx="1447800" cy="457200"/>
          </a:xfrm>
          <a:prstGeom prst="rect">
            <a:avLst/>
          </a:prstGeom>
          <a:noFill/>
          <a:ln w="9525">
            <a:noFill/>
            <a:miter lim="800000"/>
          </a:ln>
          <a:effectLst/>
        </p:spPr>
        <p:txBody>
          <a:bodyPr>
            <a:spAutoFit/>
          </a:bodyPr>
          <a:lstStyle/>
          <a:p>
            <a:pPr eaLnBrk="0" hangingPunct="0">
              <a:spcBef>
                <a:spcPct val="50000"/>
              </a:spcBef>
              <a:defRPr/>
            </a:pPr>
            <a:r>
              <a:rPr lang="zh-CN" altLang="en-US" sz="2400" b="0">
                <a:solidFill>
                  <a:srgbClr val="0000FF"/>
                </a:solidFill>
                <a:effectLst>
                  <a:outerShdw blurRad="38100" dist="38100" dir="2700000" algn="tl">
                    <a:srgbClr val="C0C0C0"/>
                  </a:outerShdw>
                </a:effectLst>
                <a:latin typeface="Times New Roman" panose="02020603050405020304" pitchFamily="18" charset="0"/>
              </a:rPr>
              <a:t>段选择符</a:t>
            </a:r>
          </a:p>
        </p:txBody>
      </p:sp>
      <p:sp>
        <p:nvSpPr>
          <p:cNvPr id="380944" name="Text Box 16">
            <a:extLst>
              <a:ext uri="{FF2B5EF4-FFF2-40B4-BE49-F238E27FC236}">
                <a16:creationId xmlns:a16="http://schemas.microsoft.com/office/drawing/2014/main" id="{1D714C88-DB19-EACA-B12E-929A7F467CCE}"/>
              </a:ext>
            </a:extLst>
          </p:cNvPr>
          <p:cNvSpPr txBox="1">
            <a:spLocks noChangeArrowheads="1"/>
          </p:cNvSpPr>
          <p:nvPr/>
        </p:nvSpPr>
        <p:spPr bwMode="auto">
          <a:xfrm>
            <a:off x="762000" y="3502025"/>
            <a:ext cx="2705100" cy="457200"/>
          </a:xfrm>
          <a:prstGeom prst="rect">
            <a:avLst/>
          </a:prstGeom>
          <a:noFill/>
          <a:ln w="9525">
            <a:noFill/>
            <a:miter lim="800000"/>
          </a:ln>
          <a:effectLst/>
        </p:spPr>
        <p:txBody>
          <a:bodyPr>
            <a:spAutoFit/>
          </a:bodyPr>
          <a:lstStyle/>
          <a:p>
            <a:pPr eaLnBrk="0" hangingPunct="0">
              <a:spcBef>
                <a:spcPct val="50000"/>
              </a:spcBef>
              <a:defRPr/>
            </a:pPr>
            <a:r>
              <a:rPr lang="zh-CN" altLang="en-US" sz="2400" b="0">
                <a:solidFill>
                  <a:srgbClr val="C2228D"/>
                </a:solidFill>
                <a:effectLst>
                  <a:outerShdw blurRad="38100" dist="38100" dir="2700000" algn="tl">
                    <a:srgbClr val="C0C0C0"/>
                  </a:outerShdw>
                </a:effectLst>
                <a:latin typeface="Times New Roman" panose="02020603050405020304" pitchFamily="18" charset="0"/>
              </a:rPr>
              <a:t>段表项(段描述符 )</a:t>
            </a:r>
          </a:p>
        </p:txBody>
      </p:sp>
      <p:grpSp>
        <p:nvGrpSpPr>
          <p:cNvPr id="62480" name="Group 17">
            <a:extLst>
              <a:ext uri="{FF2B5EF4-FFF2-40B4-BE49-F238E27FC236}">
                <a16:creationId xmlns:a16="http://schemas.microsoft.com/office/drawing/2014/main" id="{B50C3CB3-054E-2DEE-3DB6-58E3F7C0E29B}"/>
              </a:ext>
            </a:extLst>
          </p:cNvPr>
          <p:cNvGrpSpPr>
            <a:grpSpLocks/>
          </p:cNvGrpSpPr>
          <p:nvPr/>
        </p:nvGrpSpPr>
        <p:grpSpPr bwMode="auto">
          <a:xfrm>
            <a:off x="457200" y="2925763"/>
            <a:ext cx="1905000" cy="3224212"/>
            <a:chOff x="288" y="1920"/>
            <a:chExt cx="1200" cy="2031"/>
          </a:xfrm>
        </p:grpSpPr>
        <p:sp>
          <p:nvSpPr>
            <p:cNvPr id="62481" name="Line 18">
              <a:extLst>
                <a:ext uri="{FF2B5EF4-FFF2-40B4-BE49-F238E27FC236}">
                  <a16:creationId xmlns:a16="http://schemas.microsoft.com/office/drawing/2014/main" id="{529759A9-612A-F18E-9C81-680CE3CA5283}"/>
                </a:ext>
              </a:extLst>
            </p:cNvPr>
            <p:cNvSpPr>
              <a:spLocks noChangeShapeType="1"/>
            </p:cNvSpPr>
            <p:nvPr/>
          </p:nvSpPr>
          <p:spPr bwMode="auto">
            <a:xfrm>
              <a:off x="1488" y="1920"/>
              <a:ext cx="0" cy="33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2" name="Line 19">
              <a:extLst>
                <a:ext uri="{FF2B5EF4-FFF2-40B4-BE49-F238E27FC236}">
                  <a16:creationId xmlns:a16="http://schemas.microsoft.com/office/drawing/2014/main" id="{73BC33F9-3939-81BE-9A80-88EBE71C7141}"/>
                </a:ext>
              </a:extLst>
            </p:cNvPr>
            <p:cNvSpPr>
              <a:spLocks noChangeShapeType="1"/>
            </p:cNvSpPr>
            <p:nvPr/>
          </p:nvSpPr>
          <p:spPr bwMode="auto">
            <a:xfrm>
              <a:off x="288" y="2247"/>
              <a:ext cx="12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3" name="Line 20">
              <a:extLst>
                <a:ext uri="{FF2B5EF4-FFF2-40B4-BE49-F238E27FC236}">
                  <a16:creationId xmlns:a16="http://schemas.microsoft.com/office/drawing/2014/main" id="{50A36FBD-1286-6079-C5D1-CF3835482375}"/>
                </a:ext>
              </a:extLst>
            </p:cNvPr>
            <p:cNvSpPr>
              <a:spLocks noChangeShapeType="1"/>
            </p:cNvSpPr>
            <p:nvPr/>
          </p:nvSpPr>
          <p:spPr bwMode="auto">
            <a:xfrm>
              <a:off x="306" y="2256"/>
              <a:ext cx="0" cy="169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4" name="Line 21">
              <a:extLst>
                <a:ext uri="{FF2B5EF4-FFF2-40B4-BE49-F238E27FC236}">
                  <a16:creationId xmlns:a16="http://schemas.microsoft.com/office/drawing/2014/main" id="{C653461D-163B-F49C-6BF8-685F4FC053AE}"/>
                </a:ext>
              </a:extLst>
            </p:cNvPr>
            <p:cNvSpPr>
              <a:spLocks noChangeShapeType="1"/>
            </p:cNvSpPr>
            <p:nvPr/>
          </p:nvSpPr>
          <p:spPr bwMode="auto">
            <a:xfrm>
              <a:off x="306" y="3951"/>
              <a:ext cx="774"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2485" name="Rectangle 22">
            <a:extLst>
              <a:ext uri="{FF2B5EF4-FFF2-40B4-BE49-F238E27FC236}">
                <a16:creationId xmlns:a16="http://schemas.microsoft.com/office/drawing/2014/main" id="{180C3396-0D6E-6D73-CFEE-26437E31CFF5}"/>
              </a:ext>
            </a:extLst>
          </p:cNvPr>
          <p:cNvSpPr>
            <a:spLocks noChangeArrowheads="1"/>
          </p:cNvSpPr>
          <p:nvPr/>
        </p:nvSpPr>
        <p:spPr bwMode="auto">
          <a:xfrm>
            <a:off x="952500" y="4035425"/>
            <a:ext cx="1905000" cy="1165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p>
        </p:txBody>
      </p:sp>
      <p:sp>
        <p:nvSpPr>
          <p:cNvPr id="62486" name="Rectangle 23">
            <a:extLst>
              <a:ext uri="{FF2B5EF4-FFF2-40B4-BE49-F238E27FC236}">
                <a16:creationId xmlns:a16="http://schemas.microsoft.com/office/drawing/2014/main" id="{BF8665DE-155E-865B-9268-B955781C3749}"/>
              </a:ext>
            </a:extLst>
          </p:cNvPr>
          <p:cNvSpPr>
            <a:spLocks noChangeArrowheads="1"/>
          </p:cNvSpPr>
          <p:nvPr/>
        </p:nvSpPr>
        <p:spPr bwMode="auto">
          <a:xfrm>
            <a:off x="1104900" y="4246563"/>
            <a:ext cx="1905000" cy="1165225"/>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87" name="Rectangle 24">
            <a:extLst>
              <a:ext uri="{FF2B5EF4-FFF2-40B4-BE49-F238E27FC236}">
                <a16:creationId xmlns:a16="http://schemas.microsoft.com/office/drawing/2014/main" id="{7E8A1B11-25F1-BD57-21E2-7230AEDDC5D3}"/>
              </a:ext>
            </a:extLst>
          </p:cNvPr>
          <p:cNvSpPr>
            <a:spLocks noChangeArrowheads="1"/>
          </p:cNvSpPr>
          <p:nvPr/>
        </p:nvSpPr>
        <p:spPr bwMode="auto">
          <a:xfrm>
            <a:off x="1257300" y="4459288"/>
            <a:ext cx="1905000" cy="1163637"/>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88" name="Rectangle 25">
            <a:extLst>
              <a:ext uri="{FF2B5EF4-FFF2-40B4-BE49-F238E27FC236}">
                <a16:creationId xmlns:a16="http://schemas.microsoft.com/office/drawing/2014/main" id="{42C5B824-0947-0441-9953-849C54178F1F}"/>
              </a:ext>
            </a:extLst>
          </p:cNvPr>
          <p:cNvSpPr>
            <a:spLocks noChangeArrowheads="1"/>
          </p:cNvSpPr>
          <p:nvPr/>
        </p:nvSpPr>
        <p:spPr bwMode="auto">
          <a:xfrm>
            <a:off x="1409700" y="4670425"/>
            <a:ext cx="1905000" cy="1165225"/>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89" name="Rectangle 26">
            <a:extLst>
              <a:ext uri="{FF2B5EF4-FFF2-40B4-BE49-F238E27FC236}">
                <a16:creationId xmlns:a16="http://schemas.microsoft.com/office/drawing/2014/main" id="{9B9DD9F9-B476-51C3-D538-C135409CCE80}"/>
              </a:ext>
            </a:extLst>
          </p:cNvPr>
          <p:cNvSpPr>
            <a:spLocks noChangeArrowheads="1"/>
          </p:cNvSpPr>
          <p:nvPr/>
        </p:nvSpPr>
        <p:spPr bwMode="auto">
          <a:xfrm>
            <a:off x="1562100" y="4883150"/>
            <a:ext cx="1905000" cy="1163638"/>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90" name="Rectangle 27">
            <a:extLst>
              <a:ext uri="{FF2B5EF4-FFF2-40B4-BE49-F238E27FC236}">
                <a16:creationId xmlns:a16="http://schemas.microsoft.com/office/drawing/2014/main" id="{40B32917-C4E8-A896-3941-A89FA8DB7B25}"/>
              </a:ext>
            </a:extLst>
          </p:cNvPr>
          <p:cNvSpPr>
            <a:spLocks noChangeArrowheads="1"/>
          </p:cNvSpPr>
          <p:nvPr/>
        </p:nvSpPr>
        <p:spPr bwMode="auto">
          <a:xfrm>
            <a:off x="1714500" y="5113338"/>
            <a:ext cx="1905000" cy="1165225"/>
          </a:xfrm>
          <a:prstGeom prst="rect">
            <a:avLst/>
          </a:prstGeom>
          <a:solidFill>
            <a:srgbClr val="DDFCFB"/>
          </a:solidFill>
          <a:ln w="9525">
            <a:solidFill>
              <a:schemeClr val="tx1"/>
            </a:solidFill>
            <a:miter lim="800000"/>
            <a:headEnd/>
            <a:tailEnd/>
          </a:ln>
        </p:spPr>
        <p:txBody>
          <a:bodyPr wrap="none" anchor="ctr"/>
          <a:lstStyle/>
          <a:p>
            <a:pPr eaLnBrk="0" hangingPunct="0"/>
            <a:endParaRPr lang="zh-CN" altLang="en-US"/>
          </a:p>
        </p:txBody>
      </p:sp>
      <p:sp>
        <p:nvSpPr>
          <p:cNvPr id="62491" name="Line 28">
            <a:extLst>
              <a:ext uri="{FF2B5EF4-FFF2-40B4-BE49-F238E27FC236}">
                <a16:creationId xmlns:a16="http://schemas.microsoft.com/office/drawing/2014/main" id="{2D28DB2E-BF48-5191-806F-1C3963BF2C68}"/>
              </a:ext>
            </a:extLst>
          </p:cNvPr>
          <p:cNvSpPr>
            <a:spLocks noChangeShapeType="1"/>
          </p:cNvSpPr>
          <p:nvPr/>
        </p:nvSpPr>
        <p:spPr bwMode="auto">
          <a:xfrm>
            <a:off x="1714500" y="5495925"/>
            <a:ext cx="1905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2" name="Line 29">
            <a:extLst>
              <a:ext uri="{FF2B5EF4-FFF2-40B4-BE49-F238E27FC236}">
                <a16:creationId xmlns:a16="http://schemas.microsoft.com/office/drawing/2014/main" id="{B6CAB13A-8804-10C0-F9D4-059AA1C84E13}"/>
              </a:ext>
            </a:extLst>
          </p:cNvPr>
          <p:cNvSpPr>
            <a:spLocks noChangeShapeType="1"/>
          </p:cNvSpPr>
          <p:nvPr/>
        </p:nvSpPr>
        <p:spPr bwMode="auto">
          <a:xfrm>
            <a:off x="1724025" y="5862638"/>
            <a:ext cx="1905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958" name="Text Box 30">
            <a:extLst>
              <a:ext uri="{FF2B5EF4-FFF2-40B4-BE49-F238E27FC236}">
                <a16:creationId xmlns:a16="http://schemas.microsoft.com/office/drawing/2014/main" id="{F42BEE6D-2770-0422-6485-2340D8FA9F43}"/>
              </a:ext>
            </a:extLst>
          </p:cNvPr>
          <p:cNvSpPr txBox="1">
            <a:spLocks noChangeArrowheads="1"/>
          </p:cNvSpPr>
          <p:nvPr/>
        </p:nvSpPr>
        <p:spPr bwMode="auto">
          <a:xfrm>
            <a:off x="2143125" y="5099050"/>
            <a:ext cx="1485900" cy="396875"/>
          </a:xfrm>
          <a:prstGeom prst="rect">
            <a:avLst/>
          </a:prstGeom>
          <a:noFill/>
          <a:ln w="9525">
            <a:noFill/>
            <a:miter lim="800000"/>
          </a:ln>
          <a:effectLst/>
        </p:spPr>
        <p:txBody>
          <a:bodyPr>
            <a:spAutoFit/>
          </a:bodyPr>
          <a:lstStyle/>
          <a:p>
            <a:pPr eaLnBrk="0" hangingPunct="0">
              <a:spcBef>
                <a:spcPct val="50000"/>
              </a:spcBef>
              <a:defRPr/>
            </a:pPr>
            <a:r>
              <a:rPr lang="zh-CN" altLang="en-US" sz="2000" b="0">
                <a:solidFill>
                  <a:srgbClr val="A50021"/>
                </a:solidFill>
                <a:effectLst>
                  <a:outerShdw blurRad="38100" dist="38100" dir="2700000" algn="tl">
                    <a:srgbClr val="C0C0C0"/>
                  </a:outerShdw>
                </a:effectLst>
                <a:latin typeface="Times New Roman" panose="02020603050405020304" pitchFamily="18" charset="0"/>
              </a:rPr>
              <a:t>存取权限</a:t>
            </a:r>
          </a:p>
        </p:txBody>
      </p:sp>
      <p:sp>
        <p:nvSpPr>
          <p:cNvPr id="380959" name="Text Box 31">
            <a:extLst>
              <a:ext uri="{FF2B5EF4-FFF2-40B4-BE49-F238E27FC236}">
                <a16:creationId xmlns:a16="http://schemas.microsoft.com/office/drawing/2014/main" id="{518B91C4-DC50-006B-4ABA-938A84A50DF5}"/>
              </a:ext>
            </a:extLst>
          </p:cNvPr>
          <p:cNvSpPr txBox="1">
            <a:spLocks noChangeArrowheads="1"/>
          </p:cNvSpPr>
          <p:nvPr/>
        </p:nvSpPr>
        <p:spPr bwMode="auto">
          <a:xfrm>
            <a:off x="2152650" y="5480050"/>
            <a:ext cx="1147763" cy="396875"/>
          </a:xfrm>
          <a:prstGeom prst="rect">
            <a:avLst/>
          </a:prstGeom>
          <a:noFill/>
          <a:ln w="9525">
            <a:noFill/>
            <a:miter lim="800000"/>
          </a:ln>
          <a:effectLst/>
        </p:spPr>
        <p:txBody>
          <a:bodyPr>
            <a:spAutoFit/>
          </a:bodyPr>
          <a:lstStyle/>
          <a:p>
            <a:pPr eaLnBrk="0" hangingPunct="0">
              <a:spcBef>
                <a:spcPct val="50000"/>
              </a:spcBef>
              <a:defRPr/>
            </a:pPr>
            <a:r>
              <a:rPr lang="zh-CN" altLang="en-US" sz="2000" b="0">
                <a:solidFill>
                  <a:srgbClr val="A50021"/>
                </a:solidFill>
                <a:effectLst>
                  <a:outerShdw blurRad="38100" dist="38100" dir="2700000" algn="tl">
                    <a:srgbClr val="C0C0C0"/>
                  </a:outerShdw>
                </a:effectLst>
                <a:latin typeface="Times New Roman" panose="02020603050405020304" pitchFamily="18" charset="0"/>
              </a:rPr>
              <a:t>段限</a:t>
            </a:r>
          </a:p>
        </p:txBody>
      </p:sp>
      <p:sp>
        <p:nvSpPr>
          <p:cNvPr id="380960" name="Text Box 32">
            <a:extLst>
              <a:ext uri="{FF2B5EF4-FFF2-40B4-BE49-F238E27FC236}">
                <a16:creationId xmlns:a16="http://schemas.microsoft.com/office/drawing/2014/main" id="{C716F2DB-09C2-9BA1-A3C7-CEC770C21807}"/>
              </a:ext>
            </a:extLst>
          </p:cNvPr>
          <p:cNvSpPr txBox="1">
            <a:spLocks noChangeArrowheads="1"/>
          </p:cNvSpPr>
          <p:nvPr/>
        </p:nvSpPr>
        <p:spPr bwMode="auto">
          <a:xfrm>
            <a:off x="2147888" y="5889625"/>
            <a:ext cx="1138237" cy="396875"/>
          </a:xfrm>
          <a:prstGeom prst="rect">
            <a:avLst/>
          </a:prstGeom>
          <a:noFill/>
          <a:ln w="9525">
            <a:noFill/>
            <a:miter lim="800000"/>
          </a:ln>
          <a:effectLst/>
        </p:spPr>
        <p:txBody>
          <a:bodyPr>
            <a:spAutoFit/>
          </a:bodyPr>
          <a:lstStyle/>
          <a:p>
            <a:pPr eaLnBrk="0" hangingPunct="0">
              <a:spcBef>
                <a:spcPct val="50000"/>
              </a:spcBef>
              <a:defRPr/>
            </a:pPr>
            <a:r>
              <a:rPr lang="zh-CN" altLang="en-US" sz="2000" b="0">
                <a:solidFill>
                  <a:srgbClr val="A50021"/>
                </a:solidFill>
                <a:effectLst>
                  <a:outerShdw blurRad="38100" dist="38100" dir="2700000" algn="tl">
                    <a:srgbClr val="C0C0C0"/>
                  </a:outerShdw>
                </a:effectLst>
                <a:latin typeface="Times New Roman" panose="02020603050405020304" pitchFamily="18" charset="0"/>
              </a:rPr>
              <a:t>基地址</a:t>
            </a:r>
          </a:p>
        </p:txBody>
      </p:sp>
      <p:sp>
        <p:nvSpPr>
          <p:cNvPr id="62496" name="Text Box 33" descr="新闻纸">
            <a:extLst>
              <a:ext uri="{FF2B5EF4-FFF2-40B4-BE49-F238E27FC236}">
                <a16:creationId xmlns:a16="http://schemas.microsoft.com/office/drawing/2014/main" id="{8261DE39-9846-10C7-F5BE-42AFB17468A7}"/>
              </a:ext>
            </a:extLst>
          </p:cNvPr>
          <p:cNvSpPr txBox="1">
            <a:spLocks noChangeArrowheads="1"/>
          </p:cNvSpPr>
          <p:nvPr/>
        </p:nvSpPr>
        <p:spPr bwMode="auto">
          <a:xfrm>
            <a:off x="4630738" y="925513"/>
            <a:ext cx="1770062" cy="466725"/>
          </a:xfrm>
          <a:prstGeom prst="rect">
            <a:avLst/>
          </a:prstGeom>
          <a:blipFill dpi="0" rotWithShape="0">
            <a:blip r:embed="rId3"/>
            <a:srcRect/>
            <a:tile tx="0" ty="0" sx="100000" sy="100000" flip="none" algn="tl"/>
          </a:blipFill>
          <a:ln w="9525">
            <a:solidFill>
              <a:schemeClr val="tx1"/>
            </a:solidFill>
            <a:miter lim="800000"/>
            <a:headEnd/>
            <a:tailEnd/>
          </a:ln>
        </p:spPr>
        <p:txBody>
          <a:bodyPr>
            <a:spAutoFit/>
          </a:bodyPr>
          <a:lstStyle/>
          <a:p>
            <a:pPr eaLnBrk="0" hangingPunct="0">
              <a:spcBef>
                <a:spcPct val="50000"/>
              </a:spcBef>
            </a:pPr>
            <a:r>
              <a:rPr lang="zh-CN" altLang="en-US" sz="2400">
                <a:solidFill>
                  <a:srgbClr val="009900"/>
                </a:solidFill>
                <a:latin typeface="Times New Roman" panose="02020603050405020304" pitchFamily="18" charset="0"/>
              </a:rPr>
              <a:t>基址寄存器</a:t>
            </a:r>
          </a:p>
        </p:txBody>
      </p:sp>
      <p:sp>
        <p:nvSpPr>
          <p:cNvPr id="62497" name="Text Box 34" descr="粉色砂纸">
            <a:extLst>
              <a:ext uri="{FF2B5EF4-FFF2-40B4-BE49-F238E27FC236}">
                <a16:creationId xmlns:a16="http://schemas.microsoft.com/office/drawing/2014/main" id="{F099DF33-7336-473F-4B11-71071EB9D13D}"/>
              </a:ext>
            </a:extLst>
          </p:cNvPr>
          <p:cNvSpPr txBox="1">
            <a:spLocks noChangeArrowheads="1"/>
          </p:cNvSpPr>
          <p:nvPr/>
        </p:nvSpPr>
        <p:spPr bwMode="auto">
          <a:xfrm>
            <a:off x="4630738" y="1530350"/>
            <a:ext cx="1770062" cy="466725"/>
          </a:xfrm>
          <a:prstGeom prst="rect">
            <a:avLst/>
          </a:prstGeom>
          <a:blipFill dpi="0" rotWithShape="0">
            <a:blip r:embed="rId4"/>
            <a:srcRect/>
            <a:tile tx="0" ty="0" sx="100000" sy="100000" flip="none" algn="tl"/>
          </a:blipFill>
          <a:ln w="9525">
            <a:solidFill>
              <a:schemeClr val="tx1"/>
            </a:solidFill>
            <a:miter lim="800000"/>
            <a:headEnd/>
            <a:tailEnd/>
          </a:ln>
        </p:spPr>
        <p:txBody>
          <a:bodyPr>
            <a:spAutoFit/>
          </a:bodyPr>
          <a:lstStyle/>
          <a:p>
            <a:pPr eaLnBrk="0" hangingPunct="0">
              <a:spcBef>
                <a:spcPct val="50000"/>
              </a:spcBef>
            </a:pPr>
            <a:r>
              <a:rPr lang="zh-CN" altLang="en-US" sz="2400">
                <a:solidFill>
                  <a:srgbClr val="009900"/>
                </a:solidFill>
                <a:latin typeface="Times New Roman" panose="02020603050405020304" pitchFamily="18" charset="0"/>
              </a:rPr>
              <a:t>变址寄存器</a:t>
            </a:r>
          </a:p>
        </p:txBody>
      </p:sp>
      <p:sp>
        <p:nvSpPr>
          <p:cNvPr id="62498" name="Text Box 35" descr="粉色砂纸">
            <a:extLst>
              <a:ext uri="{FF2B5EF4-FFF2-40B4-BE49-F238E27FC236}">
                <a16:creationId xmlns:a16="http://schemas.microsoft.com/office/drawing/2014/main" id="{5A7347F1-5587-C304-4972-2F15386E6122}"/>
              </a:ext>
            </a:extLst>
          </p:cNvPr>
          <p:cNvSpPr txBox="1">
            <a:spLocks noChangeArrowheads="1"/>
          </p:cNvSpPr>
          <p:nvPr/>
        </p:nvSpPr>
        <p:spPr bwMode="auto">
          <a:xfrm>
            <a:off x="4787900" y="2835275"/>
            <a:ext cx="1481138" cy="762000"/>
          </a:xfrm>
          <a:prstGeom prst="rect">
            <a:avLst/>
          </a:prstGeom>
          <a:blipFill dpi="0" rotWithShape="0">
            <a:blip r:embed="rId4"/>
            <a:srcRect/>
            <a:tile tx="0" ty="0" sx="100000" sy="100000" flip="none" algn="tl"/>
          </a:blipFill>
          <a:ln w="9525">
            <a:solidFill>
              <a:schemeClr val="tx1"/>
            </a:solidFill>
            <a:miter lim="800000"/>
            <a:headEnd/>
            <a:tailEnd/>
          </a:ln>
        </p:spPr>
        <p:txBody>
          <a:bodyPr tIns="10800" bIns="10800">
            <a:spAutoFit/>
          </a:bodyPr>
          <a:lstStyle/>
          <a:p>
            <a:pPr algn="ctr" eaLnBrk="0" hangingPunct="0">
              <a:spcBef>
                <a:spcPct val="50000"/>
              </a:spcBef>
            </a:pPr>
            <a:r>
              <a:rPr lang="zh-CN" altLang="en-US" sz="2400">
                <a:solidFill>
                  <a:srgbClr val="009900"/>
                </a:solidFill>
                <a:latin typeface="Times New Roman" panose="02020603050405020304" pitchFamily="18" charset="0"/>
              </a:rPr>
              <a:t>比例因子1/2/4/8</a:t>
            </a:r>
          </a:p>
        </p:txBody>
      </p:sp>
      <p:sp>
        <p:nvSpPr>
          <p:cNvPr id="62499" name="Text Box 36" descr="花束">
            <a:extLst>
              <a:ext uri="{FF2B5EF4-FFF2-40B4-BE49-F238E27FC236}">
                <a16:creationId xmlns:a16="http://schemas.microsoft.com/office/drawing/2014/main" id="{F42A462E-61E0-8B48-16F4-BE70AEA01811}"/>
              </a:ext>
            </a:extLst>
          </p:cNvPr>
          <p:cNvSpPr txBox="1">
            <a:spLocks noChangeArrowheads="1"/>
          </p:cNvSpPr>
          <p:nvPr/>
        </p:nvSpPr>
        <p:spPr bwMode="auto">
          <a:xfrm>
            <a:off x="4787900" y="3811588"/>
            <a:ext cx="1481138" cy="831850"/>
          </a:xfrm>
          <a:prstGeom prst="rect">
            <a:avLst/>
          </a:prstGeom>
          <a:blipFill dpi="0" rotWithShape="0">
            <a:blip r:embed="rId5"/>
            <a:srcRect/>
            <a:tile tx="0" ty="0" sx="100000" sy="100000" flip="none" algn="tl"/>
          </a:blipFill>
          <a:ln w="9525">
            <a:solidFill>
              <a:schemeClr val="tx1"/>
            </a:solidFill>
            <a:miter lim="800000"/>
            <a:headEnd/>
            <a:tailEnd/>
          </a:ln>
        </p:spPr>
        <p:txBody>
          <a:bodyPr>
            <a:spAutoFit/>
          </a:bodyPr>
          <a:lstStyle/>
          <a:p>
            <a:pPr algn="ctr" eaLnBrk="0" hangingPunct="0">
              <a:spcBef>
                <a:spcPct val="50000"/>
              </a:spcBef>
            </a:pPr>
            <a:r>
              <a:rPr lang="zh-CN" altLang="en-US" sz="2400">
                <a:solidFill>
                  <a:schemeClr val="tx2"/>
                </a:solidFill>
                <a:latin typeface="Times New Roman" panose="02020603050405020304" pitchFamily="18" charset="0"/>
              </a:rPr>
              <a:t>偏移量8/16/32位</a:t>
            </a:r>
          </a:p>
        </p:txBody>
      </p:sp>
      <p:sp>
        <p:nvSpPr>
          <p:cNvPr id="62500" name="Oval 37">
            <a:extLst>
              <a:ext uri="{FF2B5EF4-FFF2-40B4-BE49-F238E27FC236}">
                <a16:creationId xmlns:a16="http://schemas.microsoft.com/office/drawing/2014/main" id="{947B3668-EDA1-06E1-E03B-E73216C92590}"/>
              </a:ext>
            </a:extLst>
          </p:cNvPr>
          <p:cNvSpPr>
            <a:spLocks noChangeArrowheads="1"/>
          </p:cNvSpPr>
          <p:nvPr/>
        </p:nvSpPr>
        <p:spPr bwMode="auto">
          <a:xfrm>
            <a:off x="5348288" y="2287588"/>
            <a:ext cx="385762" cy="323850"/>
          </a:xfrm>
          <a:prstGeom prst="ellipse">
            <a:avLst/>
          </a:prstGeom>
          <a:solidFill>
            <a:schemeClr val="hlink"/>
          </a:solidFill>
          <a:ln w="9525">
            <a:solidFill>
              <a:schemeClr val="tx1"/>
            </a:solidFill>
            <a:round/>
            <a:headEnd/>
            <a:tailEnd/>
          </a:ln>
        </p:spPr>
        <p:txBody>
          <a:bodyPr wrap="none" anchor="ctr"/>
          <a:lstStyle/>
          <a:p>
            <a:pPr eaLnBrk="0" hangingPunct="0"/>
            <a:endParaRPr lang="zh-CN" altLang="en-US"/>
          </a:p>
        </p:txBody>
      </p:sp>
      <p:sp>
        <p:nvSpPr>
          <p:cNvPr id="62501" name="Text Box 38">
            <a:extLst>
              <a:ext uri="{FF2B5EF4-FFF2-40B4-BE49-F238E27FC236}">
                <a16:creationId xmlns:a16="http://schemas.microsoft.com/office/drawing/2014/main" id="{4343F90A-0D69-78CF-8852-5A4ABD73EFDD}"/>
              </a:ext>
            </a:extLst>
          </p:cNvPr>
          <p:cNvSpPr txBox="1">
            <a:spLocks noChangeArrowheads="1"/>
          </p:cNvSpPr>
          <p:nvPr/>
        </p:nvSpPr>
        <p:spPr bwMode="auto">
          <a:xfrm>
            <a:off x="5362575" y="2197100"/>
            <a:ext cx="276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a:solidFill>
                  <a:schemeClr val="tx1"/>
                </a:solidFill>
              </a:rPr>
              <a:t>x</a:t>
            </a:r>
          </a:p>
        </p:txBody>
      </p:sp>
      <p:sp>
        <p:nvSpPr>
          <p:cNvPr id="62502" name="Oval 39">
            <a:extLst>
              <a:ext uri="{FF2B5EF4-FFF2-40B4-BE49-F238E27FC236}">
                <a16:creationId xmlns:a16="http://schemas.microsoft.com/office/drawing/2014/main" id="{5C15D05B-EAC0-D7C4-4D96-40958F6C4F47}"/>
              </a:ext>
            </a:extLst>
          </p:cNvPr>
          <p:cNvSpPr>
            <a:spLocks noChangeArrowheads="1"/>
          </p:cNvSpPr>
          <p:nvPr/>
        </p:nvSpPr>
        <p:spPr bwMode="auto">
          <a:xfrm>
            <a:off x="4033838" y="4106863"/>
            <a:ext cx="385762" cy="323850"/>
          </a:xfrm>
          <a:prstGeom prst="ellipse">
            <a:avLst/>
          </a:prstGeom>
          <a:solidFill>
            <a:schemeClr val="hlink"/>
          </a:solidFill>
          <a:ln w="9525">
            <a:solidFill>
              <a:schemeClr val="tx1"/>
            </a:solidFill>
            <a:round/>
            <a:headEnd/>
            <a:tailEnd/>
          </a:ln>
        </p:spPr>
        <p:txBody>
          <a:bodyPr wrap="none" anchor="ctr"/>
          <a:lstStyle/>
          <a:p>
            <a:pPr eaLnBrk="0" hangingPunct="0"/>
            <a:endParaRPr lang="zh-CN" altLang="en-US"/>
          </a:p>
        </p:txBody>
      </p:sp>
      <p:sp>
        <p:nvSpPr>
          <p:cNvPr id="62503" name="Text Box 40">
            <a:extLst>
              <a:ext uri="{FF2B5EF4-FFF2-40B4-BE49-F238E27FC236}">
                <a16:creationId xmlns:a16="http://schemas.microsoft.com/office/drawing/2014/main" id="{8716C7BA-8854-7C41-8D42-DEC0319E112D}"/>
              </a:ext>
            </a:extLst>
          </p:cNvPr>
          <p:cNvSpPr txBox="1">
            <a:spLocks noChangeArrowheads="1"/>
          </p:cNvSpPr>
          <p:nvPr/>
        </p:nvSpPr>
        <p:spPr bwMode="auto">
          <a:xfrm>
            <a:off x="4049713" y="4044950"/>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400">
                <a:solidFill>
                  <a:schemeClr val="tx1"/>
                </a:solidFill>
              </a:rPr>
              <a:t>+</a:t>
            </a:r>
          </a:p>
        </p:txBody>
      </p:sp>
      <p:grpSp>
        <p:nvGrpSpPr>
          <p:cNvPr id="62504" name="Group 41">
            <a:extLst>
              <a:ext uri="{FF2B5EF4-FFF2-40B4-BE49-F238E27FC236}">
                <a16:creationId xmlns:a16="http://schemas.microsoft.com/office/drawing/2014/main" id="{58AF5FBB-1187-2C51-A3E9-DB6924AC08C7}"/>
              </a:ext>
            </a:extLst>
          </p:cNvPr>
          <p:cNvGrpSpPr>
            <a:grpSpLocks/>
          </p:cNvGrpSpPr>
          <p:nvPr/>
        </p:nvGrpSpPr>
        <p:grpSpPr bwMode="auto">
          <a:xfrm>
            <a:off x="3678238" y="1139825"/>
            <a:ext cx="1846262" cy="3106738"/>
            <a:chOff x="2317" y="795"/>
            <a:chExt cx="1163" cy="1957"/>
          </a:xfrm>
        </p:grpSpPr>
        <p:sp>
          <p:nvSpPr>
            <p:cNvPr id="62505" name="Line 42">
              <a:extLst>
                <a:ext uri="{FF2B5EF4-FFF2-40B4-BE49-F238E27FC236}">
                  <a16:creationId xmlns:a16="http://schemas.microsoft.com/office/drawing/2014/main" id="{E91C7301-A268-8C54-7755-0B71A9C96255}"/>
                </a:ext>
              </a:extLst>
            </p:cNvPr>
            <p:cNvSpPr>
              <a:spLocks noChangeShapeType="1"/>
            </p:cNvSpPr>
            <p:nvPr/>
          </p:nvSpPr>
          <p:spPr bwMode="auto">
            <a:xfrm>
              <a:off x="3474" y="1338"/>
              <a:ext cx="0" cy="180"/>
            </a:xfrm>
            <a:prstGeom prst="line">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06" name="Line 43">
              <a:extLst>
                <a:ext uri="{FF2B5EF4-FFF2-40B4-BE49-F238E27FC236}">
                  <a16:creationId xmlns:a16="http://schemas.microsoft.com/office/drawing/2014/main" id="{6E69191D-9AA0-742F-FDA7-D7DEE7F756E7}"/>
                </a:ext>
              </a:extLst>
            </p:cNvPr>
            <p:cNvSpPr>
              <a:spLocks noChangeShapeType="1"/>
            </p:cNvSpPr>
            <p:nvPr/>
          </p:nvSpPr>
          <p:spPr bwMode="auto">
            <a:xfrm>
              <a:off x="3480" y="1695"/>
              <a:ext cx="0" cy="180"/>
            </a:xfrm>
            <a:prstGeom prst="line">
              <a:avLst/>
            </a:prstGeom>
            <a:noFill/>
            <a:ln w="28575">
              <a:solidFill>
                <a:srgbClr val="A5002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62507" name="Group 44">
              <a:extLst>
                <a:ext uri="{FF2B5EF4-FFF2-40B4-BE49-F238E27FC236}">
                  <a16:creationId xmlns:a16="http://schemas.microsoft.com/office/drawing/2014/main" id="{46AE8B30-B6FB-1A6E-776A-A652FB8D5A8C}"/>
                </a:ext>
              </a:extLst>
            </p:cNvPr>
            <p:cNvGrpSpPr>
              <a:grpSpLocks/>
            </p:cNvGrpSpPr>
            <p:nvPr/>
          </p:nvGrpSpPr>
          <p:grpSpPr bwMode="auto">
            <a:xfrm>
              <a:off x="2317" y="795"/>
              <a:ext cx="1001" cy="1957"/>
              <a:chOff x="2317" y="795"/>
              <a:chExt cx="1001" cy="1957"/>
            </a:xfrm>
          </p:grpSpPr>
          <p:sp>
            <p:nvSpPr>
              <p:cNvPr id="62508" name="Line 45">
                <a:extLst>
                  <a:ext uri="{FF2B5EF4-FFF2-40B4-BE49-F238E27FC236}">
                    <a16:creationId xmlns:a16="http://schemas.microsoft.com/office/drawing/2014/main" id="{4D0E0E5E-2968-24EF-6946-3F0E2E40A124}"/>
                  </a:ext>
                </a:extLst>
              </p:cNvPr>
              <p:cNvSpPr>
                <a:spLocks noChangeShapeType="1"/>
              </p:cNvSpPr>
              <p:nvPr/>
            </p:nvSpPr>
            <p:spPr bwMode="auto">
              <a:xfrm flipH="1">
                <a:off x="2326" y="795"/>
                <a:ext cx="591" cy="0"/>
              </a:xfrm>
              <a:prstGeom prst="line">
                <a:avLst/>
              </a:prstGeom>
              <a:noFill/>
              <a:ln w="28575">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9" name="Line 46">
                <a:extLst>
                  <a:ext uri="{FF2B5EF4-FFF2-40B4-BE49-F238E27FC236}">
                    <a16:creationId xmlns:a16="http://schemas.microsoft.com/office/drawing/2014/main" id="{0E8A1C37-8706-4BE1-3666-98D7845A5148}"/>
                  </a:ext>
                </a:extLst>
              </p:cNvPr>
              <p:cNvSpPr>
                <a:spLocks noChangeShapeType="1"/>
              </p:cNvSpPr>
              <p:nvPr/>
            </p:nvSpPr>
            <p:spPr bwMode="auto">
              <a:xfrm>
                <a:off x="2326" y="795"/>
                <a:ext cx="0" cy="1957"/>
              </a:xfrm>
              <a:prstGeom prst="line">
                <a:avLst/>
              </a:prstGeom>
              <a:noFill/>
              <a:ln w="28575">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0" name="Line 47">
                <a:extLst>
                  <a:ext uri="{FF2B5EF4-FFF2-40B4-BE49-F238E27FC236}">
                    <a16:creationId xmlns:a16="http://schemas.microsoft.com/office/drawing/2014/main" id="{E44EFD4B-8BC5-032A-F027-8241F0483467}"/>
                  </a:ext>
                </a:extLst>
              </p:cNvPr>
              <p:cNvSpPr>
                <a:spLocks noChangeShapeType="1"/>
              </p:cNvSpPr>
              <p:nvPr/>
            </p:nvSpPr>
            <p:spPr bwMode="auto">
              <a:xfrm flipH="1">
                <a:off x="2661" y="1614"/>
                <a:ext cx="657" cy="0"/>
              </a:xfrm>
              <a:prstGeom prst="line">
                <a:avLst/>
              </a:prstGeom>
              <a:noFill/>
              <a:ln w="28575">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1" name="Line 48">
                <a:extLst>
                  <a:ext uri="{FF2B5EF4-FFF2-40B4-BE49-F238E27FC236}">
                    <a16:creationId xmlns:a16="http://schemas.microsoft.com/office/drawing/2014/main" id="{935CA7A3-F559-8934-66CF-9867285F2C8C}"/>
                  </a:ext>
                </a:extLst>
              </p:cNvPr>
              <p:cNvSpPr>
                <a:spLocks noChangeShapeType="1"/>
              </p:cNvSpPr>
              <p:nvPr/>
            </p:nvSpPr>
            <p:spPr bwMode="auto">
              <a:xfrm flipH="1">
                <a:off x="2776" y="2752"/>
                <a:ext cx="240" cy="0"/>
              </a:xfrm>
              <a:prstGeom prst="line">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12" name="Line 49">
                <a:extLst>
                  <a:ext uri="{FF2B5EF4-FFF2-40B4-BE49-F238E27FC236}">
                    <a16:creationId xmlns:a16="http://schemas.microsoft.com/office/drawing/2014/main" id="{7DE0FB8B-255B-33FC-1256-5718577FB19D}"/>
                  </a:ext>
                </a:extLst>
              </p:cNvPr>
              <p:cNvSpPr>
                <a:spLocks noChangeShapeType="1"/>
              </p:cNvSpPr>
              <p:nvPr/>
            </p:nvSpPr>
            <p:spPr bwMode="auto">
              <a:xfrm>
                <a:off x="2661" y="1614"/>
                <a:ext cx="0" cy="1050"/>
              </a:xfrm>
              <a:prstGeom prst="line">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13" name="Line 50">
                <a:extLst>
                  <a:ext uri="{FF2B5EF4-FFF2-40B4-BE49-F238E27FC236}">
                    <a16:creationId xmlns:a16="http://schemas.microsoft.com/office/drawing/2014/main" id="{87A10BDE-FF23-A7C1-9CED-72880A0B24ED}"/>
                  </a:ext>
                </a:extLst>
              </p:cNvPr>
              <p:cNvSpPr>
                <a:spLocks noChangeShapeType="1"/>
              </p:cNvSpPr>
              <p:nvPr/>
            </p:nvSpPr>
            <p:spPr bwMode="auto">
              <a:xfrm>
                <a:off x="2317" y="2752"/>
                <a:ext cx="216" cy="0"/>
              </a:xfrm>
              <a:prstGeom prst="line">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2514" name="Oval 51">
            <a:extLst>
              <a:ext uri="{FF2B5EF4-FFF2-40B4-BE49-F238E27FC236}">
                <a16:creationId xmlns:a16="http://schemas.microsoft.com/office/drawing/2014/main" id="{09B185A0-22B4-A2FB-A3D8-0DC15E8A463D}"/>
              </a:ext>
            </a:extLst>
          </p:cNvPr>
          <p:cNvSpPr>
            <a:spLocks noChangeArrowheads="1"/>
          </p:cNvSpPr>
          <p:nvPr/>
        </p:nvSpPr>
        <p:spPr bwMode="auto">
          <a:xfrm>
            <a:off x="5410200" y="5030788"/>
            <a:ext cx="385763" cy="323850"/>
          </a:xfrm>
          <a:prstGeom prst="ellipse">
            <a:avLst/>
          </a:prstGeom>
          <a:solidFill>
            <a:schemeClr val="hlink"/>
          </a:solidFill>
          <a:ln w="9525">
            <a:solidFill>
              <a:schemeClr val="tx1"/>
            </a:solidFill>
            <a:round/>
            <a:headEnd/>
            <a:tailEnd/>
          </a:ln>
        </p:spPr>
        <p:txBody>
          <a:bodyPr wrap="none" anchor="ctr"/>
          <a:lstStyle/>
          <a:p>
            <a:pPr eaLnBrk="0" hangingPunct="0"/>
            <a:endParaRPr lang="zh-CN" altLang="en-US"/>
          </a:p>
        </p:txBody>
      </p:sp>
      <p:sp>
        <p:nvSpPr>
          <p:cNvPr id="62515" name="Text Box 52">
            <a:extLst>
              <a:ext uri="{FF2B5EF4-FFF2-40B4-BE49-F238E27FC236}">
                <a16:creationId xmlns:a16="http://schemas.microsoft.com/office/drawing/2014/main" id="{8793C235-8003-D00E-884E-78B6507A8588}"/>
              </a:ext>
            </a:extLst>
          </p:cNvPr>
          <p:cNvSpPr txBox="1">
            <a:spLocks noChangeArrowheads="1"/>
          </p:cNvSpPr>
          <p:nvPr/>
        </p:nvSpPr>
        <p:spPr bwMode="auto">
          <a:xfrm>
            <a:off x="5424488" y="4954588"/>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400">
                <a:solidFill>
                  <a:schemeClr val="tx1"/>
                </a:solidFill>
              </a:rPr>
              <a:t>+</a:t>
            </a:r>
          </a:p>
        </p:txBody>
      </p:sp>
      <p:grpSp>
        <p:nvGrpSpPr>
          <p:cNvPr id="62516" name="Group 53">
            <a:extLst>
              <a:ext uri="{FF2B5EF4-FFF2-40B4-BE49-F238E27FC236}">
                <a16:creationId xmlns:a16="http://schemas.microsoft.com/office/drawing/2014/main" id="{3A0F0791-9F5E-3EEE-82EE-0BEB98C4C35D}"/>
              </a:ext>
            </a:extLst>
          </p:cNvPr>
          <p:cNvGrpSpPr>
            <a:grpSpLocks/>
          </p:cNvGrpSpPr>
          <p:nvPr/>
        </p:nvGrpSpPr>
        <p:grpSpPr bwMode="auto">
          <a:xfrm>
            <a:off x="3619500" y="4459288"/>
            <a:ext cx="2019300" cy="1647825"/>
            <a:chOff x="2280" y="2886"/>
            <a:chExt cx="1272" cy="1038"/>
          </a:xfrm>
        </p:grpSpPr>
        <p:sp>
          <p:nvSpPr>
            <p:cNvPr id="62517" name="Line 54">
              <a:extLst>
                <a:ext uri="{FF2B5EF4-FFF2-40B4-BE49-F238E27FC236}">
                  <a16:creationId xmlns:a16="http://schemas.microsoft.com/office/drawing/2014/main" id="{9F31F82E-5BB1-5813-BAE1-480E413CF2DF}"/>
                </a:ext>
              </a:extLst>
            </p:cNvPr>
            <p:cNvSpPr>
              <a:spLocks noChangeShapeType="1"/>
            </p:cNvSpPr>
            <p:nvPr/>
          </p:nvSpPr>
          <p:spPr bwMode="auto">
            <a:xfrm>
              <a:off x="2661" y="2886"/>
              <a:ext cx="0" cy="46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8" name="Line 55">
              <a:extLst>
                <a:ext uri="{FF2B5EF4-FFF2-40B4-BE49-F238E27FC236}">
                  <a16:creationId xmlns:a16="http://schemas.microsoft.com/office/drawing/2014/main" id="{E638EF68-9AEC-48A8-1445-B58BC72A2430}"/>
                </a:ext>
              </a:extLst>
            </p:cNvPr>
            <p:cNvSpPr>
              <a:spLocks noChangeShapeType="1"/>
            </p:cNvSpPr>
            <p:nvPr/>
          </p:nvSpPr>
          <p:spPr bwMode="auto">
            <a:xfrm>
              <a:off x="2280" y="3924"/>
              <a:ext cx="1272"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9" name="Line 56">
              <a:extLst>
                <a:ext uri="{FF2B5EF4-FFF2-40B4-BE49-F238E27FC236}">
                  <a16:creationId xmlns:a16="http://schemas.microsoft.com/office/drawing/2014/main" id="{BF13AD22-E483-9BC7-8CFF-F5F452EE1D8E}"/>
                </a:ext>
              </a:extLst>
            </p:cNvPr>
            <p:cNvSpPr>
              <a:spLocks noChangeShapeType="1"/>
            </p:cNvSpPr>
            <p:nvPr/>
          </p:nvSpPr>
          <p:spPr bwMode="auto">
            <a:xfrm flipV="1">
              <a:off x="2659" y="3343"/>
              <a:ext cx="767" cy="0"/>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20" name="Line 57">
              <a:extLst>
                <a:ext uri="{FF2B5EF4-FFF2-40B4-BE49-F238E27FC236}">
                  <a16:creationId xmlns:a16="http://schemas.microsoft.com/office/drawing/2014/main" id="{7C2BB824-8CA5-EFB0-8DBA-11203923D19A}"/>
                </a:ext>
              </a:extLst>
            </p:cNvPr>
            <p:cNvSpPr>
              <a:spLocks noChangeShapeType="1"/>
            </p:cNvSpPr>
            <p:nvPr/>
          </p:nvSpPr>
          <p:spPr bwMode="auto">
            <a:xfrm>
              <a:off x="3534" y="3441"/>
              <a:ext cx="0" cy="483"/>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2521" name="Group 58">
            <a:extLst>
              <a:ext uri="{FF2B5EF4-FFF2-40B4-BE49-F238E27FC236}">
                <a16:creationId xmlns:a16="http://schemas.microsoft.com/office/drawing/2014/main" id="{3349FAE2-4807-339C-3CD0-D9C76528F28B}"/>
              </a:ext>
            </a:extLst>
          </p:cNvPr>
          <p:cNvGrpSpPr>
            <a:grpSpLocks/>
          </p:cNvGrpSpPr>
          <p:nvPr/>
        </p:nvGrpSpPr>
        <p:grpSpPr bwMode="auto">
          <a:xfrm>
            <a:off x="5795963" y="3611563"/>
            <a:ext cx="1062037" cy="1573212"/>
            <a:chOff x="3651" y="2352"/>
            <a:chExt cx="669" cy="991"/>
          </a:xfrm>
        </p:grpSpPr>
        <p:sp>
          <p:nvSpPr>
            <p:cNvPr id="62522" name="Line 59">
              <a:extLst>
                <a:ext uri="{FF2B5EF4-FFF2-40B4-BE49-F238E27FC236}">
                  <a16:creationId xmlns:a16="http://schemas.microsoft.com/office/drawing/2014/main" id="{038326DD-982F-4A9E-149B-63D78B169C84}"/>
                </a:ext>
              </a:extLst>
            </p:cNvPr>
            <p:cNvSpPr>
              <a:spLocks noChangeShapeType="1"/>
            </p:cNvSpPr>
            <p:nvPr/>
          </p:nvSpPr>
          <p:spPr bwMode="auto">
            <a:xfrm flipH="1">
              <a:off x="3651" y="3334"/>
              <a:ext cx="4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3" name="Line 60">
              <a:extLst>
                <a:ext uri="{FF2B5EF4-FFF2-40B4-BE49-F238E27FC236}">
                  <a16:creationId xmlns:a16="http://schemas.microsoft.com/office/drawing/2014/main" id="{56D5789C-4E16-5CEE-2C8F-F0E3EC4922CC}"/>
                </a:ext>
              </a:extLst>
            </p:cNvPr>
            <p:cNvSpPr>
              <a:spLocks noChangeShapeType="1"/>
            </p:cNvSpPr>
            <p:nvPr/>
          </p:nvSpPr>
          <p:spPr bwMode="auto">
            <a:xfrm>
              <a:off x="4140" y="2352"/>
              <a:ext cx="0" cy="9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4" name="Line 61">
              <a:extLst>
                <a:ext uri="{FF2B5EF4-FFF2-40B4-BE49-F238E27FC236}">
                  <a16:creationId xmlns:a16="http://schemas.microsoft.com/office/drawing/2014/main" id="{A968F292-DF81-8B74-0613-9DAF786D31AD}"/>
                </a:ext>
              </a:extLst>
            </p:cNvPr>
            <p:cNvSpPr>
              <a:spLocks noChangeShapeType="1"/>
            </p:cNvSpPr>
            <p:nvPr/>
          </p:nvSpPr>
          <p:spPr bwMode="auto">
            <a:xfrm>
              <a:off x="4140" y="2352"/>
              <a:ext cx="18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2525" name="Text Box 62">
            <a:extLst>
              <a:ext uri="{FF2B5EF4-FFF2-40B4-BE49-F238E27FC236}">
                <a16:creationId xmlns:a16="http://schemas.microsoft.com/office/drawing/2014/main" id="{E39066CA-BD50-9E65-71A5-D185B95BE531}"/>
              </a:ext>
            </a:extLst>
          </p:cNvPr>
          <p:cNvSpPr txBox="1">
            <a:spLocks noChangeArrowheads="1"/>
          </p:cNvSpPr>
          <p:nvPr/>
        </p:nvSpPr>
        <p:spPr bwMode="auto">
          <a:xfrm>
            <a:off x="5664200" y="5222875"/>
            <a:ext cx="1722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0000FF"/>
                </a:solidFill>
                <a:latin typeface="Times New Roman" panose="02020603050405020304" pitchFamily="18" charset="0"/>
              </a:rPr>
              <a:t>线性地址</a:t>
            </a:r>
          </a:p>
        </p:txBody>
      </p:sp>
      <p:sp>
        <p:nvSpPr>
          <p:cNvPr id="62526" name="Text Box 63">
            <a:extLst>
              <a:ext uri="{FF2B5EF4-FFF2-40B4-BE49-F238E27FC236}">
                <a16:creationId xmlns:a16="http://schemas.microsoft.com/office/drawing/2014/main" id="{26C00CAB-03F7-E988-4A3A-EC83D656659A}"/>
              </a:ext>
            </a:extLst>
          </p:cNvPr>
          <p:cNvSpPr txBox="1">
            <a:spLocks noChangeArrowheads="1"/>
          </p:cNvSpPr>
          <p:nvPr/>
        </p:nvSpPr>
        <p:spPr bwMode="auto">
          <a:xfrm>
            <a:off x="4192588" y="4799013"/>
            <a:ext cx="1722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0000FF"/>
                </a:solidFill>
                <a:latin typeface="Times New Roman" panose="02020603050405020304" pitchFamily="18" charset="0"/>
              </a:rPr>
              <a:t>有效地址</a:t>
            </a:r>
          </a:p>
        </p:txBody>
      </p:sp>
      <p:sp>
        <p:nvSpPr>
          <p:cNvPr id="62527" name="Rectangle 64">
            <a:extLst>
              <a:ext uri="{FF2B5EF4-FFF2-40B4-BE49-F238E27FC236}">
                <a16:creationId xmlns:a16="http://schemas.microsoft.com/office/drawing/2014/main" id="{AD8EEA89-B1A6-B29B-BD7C-FBE8E9CFFA0D}"/>
              </a:ext>
            </a:extLst>
          </p:cNvPr>
          <p:cNvSpPr>
            <a:spLocks noChangeArrowheads="1"/>
          </p:cNvSpPr>
          <p:nvPr/>
        </p:nvSpPr>
        <p:spPr bwMode="auto">
          <a:xfrm>
            <a:off x="6858000" y="3459163"/>
            <a:ext cx="1600200" cy="304800"/>
          </a:xfrm>
          <a:prstGeom prst="rect">
            <a:avLst/>
          </a:prstGeom>
          <a:solidFill>
            <a:schemeClr val="accent1"/>
          </a:solidFill>
          <a:ln w="9525">
            <a:solidFill>
              <a:schemeClr val="tx1"/>
            </a:solidFill>
            <a:miter lim="800000"/>
            <a:headEnd/>
            <a:tailEnd/>
          </a:ln>
        </p:spPr>
        <p:txBody>
          <a:bodyPr wrap="none" anchor="ctr"/>
          <a:lstStyle/>
          <a:p>
            <a:pPr eaLnBrk="0" hangingPunct="0"/>
            <a:endParaRPr lang="zh-CN" altLang="en-US"/>
          </a:p>
        </p:txBody>
      </p:sp>
      <p:sp>
        <p:nvSpPr>
          <p:cNvPr id="62528" name="Line 65">
            <a:extLst>
              <a:ext uri="{FF2B5EF4-FFF2-40B4-BE49-F238E27FC236}">
                <a16:creationId xmlns:a16="http://schemas.microsoft.com/office/drawing/2014/main" id="{15655918-37D1-51C5-9C13-FB4B65639848}"/>
              </a:ext>
            </a:extLst>
          </p:cNvPr>
          <p:cNvSpPr>
            <a:spLocks noChangeShapeType="1"/>
          </p:cNvSpPr>
          <p:nvPr/>
        </p:nvSpPr>
        <p:spPr bwMode="auto">
          <a:xfrm flipV="1">
            <a:off x="8458200" y="2854325"/>
            <a:ext cx="482600" cy="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9" name="Line 66">
            <a:extLst>
              <a:ext uri="{FF2B5EF4-FFF2-40B4-BE49-F238E27FC236}">
                <a16:creationId xmlns:a16="http://schemas.microsoft.com/office/drawing/2014/main" id="{C42A63EC-0258-9B5B-FCAD-E62FB3BD2508}"/>
              </a:ext>
            </a:extLst>
          </p:cNvPr>
          <p:cNvSpPr>
            <a:spLocks noChangeShapeType="1"/>
          </p:cNvSpPr>
          <p:nvPr/>
        </p:nvSpPr>
        <p:spPr bwMode="auto">
          <a:xfrm>
            <a:off x="8458200" y="4684713"/>
            <a:ext cx="482600" cy="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0" name="Line 67">
            <a:extLst>
              <a:ext uri="{FF2B5EF4-FFF2-40B4-BE49-F238E27FC236}">
                <a16:creationId xmlns:a16="http://schemas.microsoft.com/office/drawing/2014/main" id="{BC6E8C9A-DB85-8DB3-7A41-1AEE70E6BC1D}"/>
              </a:ext>
            </a:extLst>
          </p:cNvPr>
          <p:cNvSpPr>
            <a:spLocks noChangeShapeType="1"/>
          </p:cNvSpPr>
          <p:nvPr/>
        </p:nvSpPr>
        <p:spPr bwMode="auto">
          <a:xfrm>
            <a:off x="8709025" y="2854325"/>
            <a:ext cx="0" cy="742950"/>
          </a:xfrm>
          <a:prstGeom prst="line">
            <a:avLst/>
          </a:prstGeom>
          <a:noFill/>
          <a:ln w="1905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31" name="Line 68">
            <a:extLst>
              <a:ext uri="{FF2B5EF4-FFF2-40B4-BE49-F238E27FC236}">
                <a16:creationId xmlns:a16="http://schemas.microsoft.com/office/drawing/2014/main" id="{B3DFDAFC-9CFF-6D2C-09B2-62E55B47A6F6}"/>
              </a:ext>
            </a:extLst>
          </p:cNvPr>
          <p:cNvSpPr>
            <a:spLocks noChangeShapeType="1"/>
          </p:cNvSpPr>
          <p:nvPr/>
        </p:nvSpPr>
        <p:spPr bwMode="auto">
          <a:xfrm>
            <a:off x="8709025" y="3959225"/>
            <a:ext cx="0" cy="723900"/>
          </a:xfrm>
          <a:prstGeom prst="line">
            <a:avLst/>
          </a:prstGeom>
          <a:noFill/>
          <a:ln w="19050">
            <a:solidFill>
              <a:srgbClr val="CC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0997" name="Text Box 69">
            <a:extLst>
              <a:ext uri="{FF2B5EF4-FFF2-40B4-BE49-F238E27FC236}">
                <a16:creationId xmlns:a16="http://schemas.microsoft.com/office/drawing/2014/main" id="{A77EA42C-BA09-22B8-0641-0FF3C4E7A016}"/>
              </a:ext>
            </a:extLst>
          </p:cNvPr>
          <p:cNvSpPr txBox="1">
            <a:spLocks noChangeArrowheads="1"/>
          </p:cNvSpPr>
          <p:nvPr/>
        </p:nvSpPr>
        <p:spPr bwMode="auto">
          <a:xfrm>
            <a:off x="8377238" y="3562350"/>
            <a:ext cx="806450" cy="396875"/>
          </a:xfrm>
          <a:prstGeom prst="rect">
            <a:avLst/>
          </a:prstGeom>
          <a:noFill/>
          <a:ln w="9525">
            <a:noFill/>
            <a:miter lim="800000"/>
          </a:ln>
          <a:effectLst/>
        </p:spPr>
        <p:txBody>
          <a:bodyPr>
            <a:spAutoFit/>
          </a:bodyPr>
          <a:lstStyle/>
          <a:p>
            <a:pPr eaLnBrk="0" hangingPunct="0">
              <a:spcBef>
                <a:spcPct val="50000"/>
              </a:spcBef>
              <a:defRPr/>
            </a:pPr>
            <a:r>
              <a:rPr lang="zh-CN" altLang="en-US" sz="2000" b="0">
                <a:solidFill>
                  <a:srgbClr val="C2228D"/>
                </a:solidFill>
                <a:effectLst>
                  <a:outerShdw blurRad="38100" dist="38100" dir="2700000" algn="tl">
                    <a:srgbClr val="C0C0C0"/>
                  </a:outerShdw>
                </a:effectLst>
                <a:latin typeface="Times New Roman" panose="02020603050405020304" pitchFamily="18" charset="0"/>
              </a:rPr>
              <a:t>段限</a:t>
            </a:r>
          </a:p>
        </p:txBody>
      </p:sp>
      <p:sp>
        <p:nvSpPr>
          <p:cNvPr id="380998" name="Text Box 70">
            <a:extLst>
              <a:ext uri="{FF2B5EF4-FFF2-40B4-BE49-F238E27FC236}">
                <a16:creationId xmlns:a16="http://schemas.microsoft.com/office/drawing/2014/main" id="{71BA045C-C30D-91BC-FF3E-91D2A8B097EB}"/>
              </a:ext>
            </a:extLst>
          </p:cNvPr>
          <p:cNvSpPr txBox="1">
            <a:spLocks noChangeArrowheads="1"/>
          </p:cNvSpPr>
          <p:nvPr/>
        </p:nvSpPr>
        <p:spPr bwMode="auto">
          <a:xfrm>
            <a:off x="8440738" y="2797175"/>
            <a:ext cx="563562" cy="396875"/>
          </a:xfrm>
          <a:prstGeom prst="rect">
            <a:avLst/>
          </a:prstGeom>
          <a:noFill/>
          <a:ln w="9525">
            <a:noFill/>
            <a:miter lim="800000"/>
          </a:ln>
          <a:effectLst/>
        </p:spPr>
        <p:txBody>
          <a:bodyPr lIns="0" rIns="0">
            <a:spAutoFit/>
          </a:bodyPr>
          <a:lstStyle/>
          <a:p>
            <a:pPr eaLnBrk="0" hangingPunct="0">
              <a:spcBef>
                <a:spcPct val="50000"/>
              </a:spcBef>
              <a:defRPr/>
            </a:pPr>
            <a:r>
              <a:rPr lang="zh-CN" altLang="en-US" sz="2000" b="0">
                <a:solidFill>
                  <a:srgbClr val="C2228D"/>
                </a:solidFill>
                <a:effectLst>
                  <a:outerShdw blurRad="38100" dist="38100" dir="2700000" algn="tl">
                    <a:srgbClr val="C0C0C0"/>
                  </a:outerShdw>
                </a:effectLst>
                <a:latin typeface="Times New Roman" panose="02020603050405020304" pitchFamily="18" charset="0"/>
              </a:rPr>
              <a:t>基址</a:t>
            </a:r>
          </a:p>
        </p:txBody>
      </p:sp>
      <p:sp>
        <p:nvSpPr>
          <p:cNvPr id="62534" name="Text Box 71">
            <a:extLst>
              <a:ext uri="{FF2B5EF4-FFF2-40B4-BE49-F238E27FC236}">
                <a16:creationId xmlns:a16="http://schemas.microsoft.com/office/drawing/2014/main" id="{4E82A24E-0A94-B8AA-5E19-6799E05966AC}"/>
              </a:ext>
            </a:extLst>
          </p:cNvPr>
          <p:cNvSpPr txBox="1">
            <a:spLocks noChangeArrowheads="1"/>
          </p:cNvSpPr>
          <p:nvPr/>
        </p:nvSpPr>
        <p:spPr bwMode="auto">
          <a:xfrm>
            <a:off x="6808788" y="1162050"/>
            <a:ext cx="1722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0000FF"/>
                </a:solidFill>
                <a:latin typeface="Times New Roman" panose="02020603050405020304" pitchFamily="18" charset="0"/>
              </a:rPr>
              <a:t>线性地址空间</a:t>
            </a:r>
          </a:p>
        </p:txBody>
      </p:sp>
      <p:sp>
        <p:nvSpPr>
          <p:cNvPr id="62535" name="Text Box 72">
            <a:extLst>
              <a:ext uri="{FF2B5EF4-FFF2-40B4-BE49-F238E27FC236}">
                <a16:creationId xmlns:a16="http://schemas.microsoft.com/office/drawing/2014/main" id="{2244A6B1-A55B-9928-C15F-18D5DAF2DFF7}"/>
              </a:ext>
            </a:extLst>
          </p:cNvPr>
          <p:cNvSpPr txBox="1">
            <a:spLocks noChangeArrowheads="1"/>
          </p:cNvSpPr>
          <p:nvPr/>
        </p:nvSpPr>
        <p:spPr bwMode="auto">
          <a:xfrm>
            <a:off x="6007100" y="5754688"/>
            <a:ext cx="3109913"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zh-CN" altLang="en-US" sz="2200">
                <a:solidFill>
                  <a:srgbClr val="C00000"/>
                </a:solidFill>
                <a:latin typeface="黑体" panose="02010609060101010101" pitchFamily="49" charset="-122"/>
                <a:ea typeface="黑体" panose="02010609060101010101" pitchFamily="49" charset="-122"/>
              </a:rPr>
              <a:t>需要时再对线性地址空间进行分页处理。</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B2A288DA-1C34-EEF2-2F0B-4C72F3579919}"/>
              </a:ext>
            </a:extLst>
          </p:cNvPr>
          <p:cNvSpPr>
            <a:spLocks noGrp="1" noChangeArrowheads="1"/>
          </p:cNvSpPr>
          <p:nvPr>
            <p:ph type="title"/>
          </p:nvPr>
        </p:nvSpPr>
        <p:spPr>
          <a:xfrm>
            <a:off x="0" y="114300"/>
            <a:ext cx="8637588" cy="368300"/>
          </a:xfrm>
        </p:spPr>
        <p:txBody>
          <a:bodyPr/>
          <a:lstStyle/>
          <a:p>
            <a:r>
              <a:rPr lang="en-US" altLang="zh-CN">
                <a:latin typeface="Times New Roman" panose="02020603050405020304" pitchFamily="18" charset="0"/>
                <a:ea typeface="宋体" panose="02010600030101010101" pitchFamily="2" charset="-122"/>
              </a:rPr>
              <a:t>  MMX(Microprocessor Media Extension)</a:t>
            </a:r>
            <a:r>
              <a:rPr lang="zh-CN" altLang="en-US">
                <a:ea typeface="宋体" panose="02010600030101010101" pitchFamily="2" charset="-122"/>
              </a:rPr>
              <a:t>指令技术</a:t>
            </a:r>
          </a:p>
        </p:txBody>
      </p:sp>
      <p:sp>
        <p:nvSpPr>
          <p:cNvPr id="424963" name="Rectangle 3">
            <a:extLst>
              <a:ext uri="{FF2B5EF4-FFF2-40B4-BE49-F238E27FC236}">
                <a16:creationId xmlns:a16="http://schemas.microsoft.com/office/drawing/2014/main" id="{3153C841-CEC6-0800-5879-7A7C281D05DD}"/>
              </a:ext>
            </a:extLst>
          </p:cNvPr>
          <p:cNvSpPr>
            <a:spLocks noGrp="1" noChangeArrowheads="1"/>
          </p:cNvSpPr>
          <p:nvPr>
            <p:ph idx="1"/>
          </p:nvPr>
        </p:nvSpPr>
        <p:spPr>
          <a:xfrm>
            <a:off x="304800" y="508000"/>
            <a:ext cx="8839200" cy="6272213"/>
          </a:xfrm>
        </p:spPr>
        <p:txBody>
          <a:bodyPr/>
          <a:lstStyle/>
          <a:p>
            <a:pPr>
              <a:lnSpc>
                <a:spcPct val="100000"/>
              </a:lnSpc>
              <a:spcBef>
                <a:spcPct val="15000"/>
              </a:spcBef>
            </a:pPr>
            <a:r>
              <a:rPr lang="zh-CN" altLang="en-US" sz="1700">
                <a:latin typeface="Arial" panose="020B0604020202020204" pitchFamily="34" charset="0"/>
                <a:ea typeface="黑体" panose="02010609060101010101" pitchFamily="49" charset="-122"/>
              </a:rPr>
              <a:t>图形</a:t>
            </a:r>
            <a:r>
              <a:rPr lang="en-US" altLang="zh-CN" sz="1700">
                <a:latin typeface="Arial" panose="020B0604020202020204" pitchFamily="34" charset="0"/>
                <a:ea typeface="黑体" panose="02010609060101010101" pitchFamily="49" charset="-122"/>
              </a:rPr>
              <a:t>/</a:t>
            </a:r>
            <a:r>
              <a:rPr lang="zh-CN" altLang="en-US" sz="1700">
                <a:latin typeface="Arial" panose="020B0604020202020204" pitchFamily="34" charset="0"/>
                <a:ea typeface="黑体" panose="02010609060101010101" pitchFamily="49" charset="-122"/>
              </a:rPr>
              <a:t>像、音</a:t>
            </a:r>
            <a:r>
              <a:rPr lang="en-US" altLang="zh-CN" sz="1700">
                <a:latin typeface="Arial" panose="020B0604020202020204" pitchFamily="34" charset="0"/>
                <a:ea typeface="黑体" panose="02010609060101010101" pitchFamily="49" charset="-122"/>
              </a:rPr>
              <a:t>/</a:t>
            </a:r>
            <a:r>
              <a:rPr lang="zh-CN" altLang="en-US" sz="1700">
                <a:latin typeface="Arial" panose="020B0604020202020204" pitchFamily="34" charset="0"/>
                <a:ea typeface="黑体" panose="02010609060101010101" pitchFamily="49" charset="-122"/>
              </a:rPr>
              <a:t>视频多媒体信息处理特点</a:t>
            </a:r>
          </a:p>
          <a:p>
            <a:pPr lvl="1">
              <a:lnSpc>
                <a:spcPct val="100000"/>
              </a:lnSpc>
              <a:spcBef>
                <a:spcPct val="15000"/>
              </a:spcBef>
            </a:pPr>
            <a:r>
              <a:rPr lang="zh-CN" altLang="en-US" sz="1700">
                <a:latin typeface="Arial" panose="020B0604020202020204" pitchFamily="34" charset="0"/>
                <a:ea typeface="黑体" panose="02010609060101010101" pitchFamily="49" charset="-122"/>
              </a:rPr>
              <a:t>多个短整数并行操作（如</a:t>
            </a:r>
            <a:r>
              <a:rPr lang="en-US" altLang="zh-CN" sz="1700">
                <a:latin typeface="Arial" panose="020B0604020202020204" pitchFamily="34" charset="0"/>
                <a:ea typeface="黑体" panose="02010609060101010101" pitchFamily="49" charset="-122"/>
              </a:rPr>
              <a:t>8</a:t>
            </a:r>
            <a:r>
              <a:rPr lang="zh-CN" altLang="en-US" sz="1700">
                <a:latin typeface="Arial" panose="020B0604020202020204" pitchFamily="34" charset="0"/>
                <a:ea typeface="黑体" panose="02010609060101010101" pitchFamily="49" charset="-122"/>
              </a:rPr>
              <a:t>位图形像素和</a:t>
            </a:r>
            <a:r>
              <a:rPr lang="en-US" altLang="zh-CN" sz="1700">
                <a:latin typeface="Arial" panose="020B0604020202020204" pitchFamily="34" charset="0"/>
                <a:ea typeface="黑体" panose="02010609060101010101" pitchFamily="49" charset="-122"/>
              </a:rPr>
              <a:t>16</a:t>
            </a:r>
            <a:r>
              <a:rPr lang="zh-CN" altLang="en-US" sz="1700">
                <a:latin typeface="Arial" panose="020B0604020202020204" pitchFamily="34" charset="0"/>
                <a:ea typeface="黑体" panose="02010609060101010101" pitchFamily="49" charset="-122"/>
              </a:rPr>
              <a:t>位音频信号）</a:t>
            </a:r>
          </a:p>
          <a:p>
            <a:pPr lvl="1">
              <a:lnSpc>
                <a:spcPct val="100000"/>
              </a:lnSpc>
              <a:spcBef>
                <a:spcPct val="15000"/>
              </a:spcBef>
            </a:pPr>
            <a:r>
              <a:rPr lang="zh-CN" altLang="en-US" sz="1700">
                <a:latin typeface="Arial" panose="020B0604020202020204" pitchFamily="34" charset="0"/>
                <a:ea typeface="黑体" panose="02010609060101010101" pitchFamily="49" charset="-122"/>
              </a:rPr>
              <a:t>频繁的乘</a:t>
            </a:r>
            <a:r>
              <a:rPr lang="en-US" altLang="zh-CN" sz="1700">
                <a:latin typeface="Arial" panose="020B0604020202020204" pitchFamily="34" charset="0"/>
                <a:ea typeface="黑体" panose="02010609060101010101" pitchFamily="49" charset="-122"/>
              </a:rPr>
              <a:t>-</a:t>
            </a:r>
            <a:r>
              <a:rPr lang="zh-CN" altLang="en-US" sz="1700">
                <a:latin typeface="Arial" panose="020B0604020202020204" pitchFamily="34" charset="0"/>
                <a:ea typeface="黑体" panose="02010609060101010101" pitchFamily="49" charset="-122"/>
              </a:rPr>
              <a:t>累加（如</a:t>
            </a:r>
            <a:r>
              <a:rPr lang="en-US" altLang="zh-CN" sz="1700">
                <a:latin typeface="Arial" panose="020B0604020202020204" pitchFamily="34" charset="0"/>
                <a:ea typeface="黑体" panose="02010609060101010101" pitchFamily="49" charset="-122"/>
              </a:rPr>
              <a:t>FIR</a:t>
            </a:r>
            <a:r>
              <a:rPr lang="zh-CN" altLang="en-US" sz="1700">
                <a:latin typeface="Arial" panose="020B0604020202020204" pitchFamily="34" charset="0"/>
                <a:ea typeface="黑体" panose="02010609060101010101" pitchFamily="49" charset="-122"/>
              </a:rPr>
              <a:t>滤波，矩阵运算）</a:t>
            </a:r>
          </a:p>
          <a:p>
            <a:pPr>
              <a:lnSpc>
                <a:spcPct val="100000"/>
              </a:lnSpc>
              <a:spcBef>
                <a:spcPct val="15000"/>
              </a:spcBef>
            </a:pPr>
            <a:r>
              <a:rPr lang="en-US" altLang="zh-CN" sz="1700">
                <a:latin typeface="Arial" panose="020B0604020202020204" pitchFamily="34" charset="0"/>
                <a:ea typeface="黑体" panose="02010609060101010101" pitchFamily="49" charset="-122"/>
              </a:rPr>
              <a:t>MMX</a:t>
            </a:r>
            <a:r>
              <a:rPr lang="zh-CN" altLang="en-US" sz="1700">
                <a:latin typeface="Arial" panose="020B0604020202020204" pitchFamily="34" charset="0"/>
                <a:ea typeface="黑体" panose="02010609060101010101" pitchFamily="49" charset="-122"/>
              </a:rPr>
              <a:t>的出发点</a:t>
            </a:r>
          </a:p>
          <a:p>
            <a:pPr lvl="1">
              <a:lnSpc>
                <a:spcPct val="100000"/>
              </a:lnSpc>
              <a:spcBef>
                <a:spcPct val="15000"/>
              </a:spcBef>
            </a:pPr>
            <a:r>
              <a:rPr lang="zh-CN" altLang="en-US" sz="1700">
                <a:latin typeface="Arial" panose="020B0604020202020204" pitchFamily="34" charset="0"/>
                <a:ea typeface="黑体" panose="02010609060101010101" pitchFamily="49" charset="-122"/>
              </a:rPr>
              <a:t>使用专门指令对大量数据进行并行、复杂处理</a:t>
            </a:r>
          </a:p>
          <a:p>
            <a:pPr lvl="1">
              <a:lnSpc>
                <a:spcPct val="100000"/>
              </a:lnSpc>
              <a:spcBef>
                <a:spcPct val="15000"/>
              </a:spcBef>
            </a:pPr>
            <a:r>
              <a:rPr lang="zh-CN" altLang="en-US" sz="1700">
                <a:latin typeface="Arial" panose="020B0604020202020204" pitchFamily="34" charset="0"/>
                <a:ea typeface="黑体" panose="02010609060101010101" pitchFamily="49" charset="-122"/>
              </a:rPr>
              <a:t>处理的数据基本单位是</a:t>
            </a:r>
            <a:r>
              <a:rPr lang="en-US" altLang="zh-CN" sz="1700">
                <a:latin typeface="Arial" panose="020B0604020202020204" pitchFamily="34" charset="0"/>
                <a:ea typeface="黑体" panose="02010609060101010101" pitchFamily="49" charset="-122"/>
              </a:rPr>
              <a:t>8b</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16b</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32b</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64b</a:t>
            </a:r>
            <a:r>
              <a:rPr lang="zh-CN" altLang="en-US" sz="1700">
                <a:latin typeface="Arial" panose="020B0604020202020204" pitchFamily="34" charset="0"/>
                <a:ea typeface="黑体" panose="02010609060101010101" pitchFamily="49" charset="-122"/>
              </a:rPr>
              <a:t>等</a:t>
            </a:r>
          </a:p>
          <a:p>
            <a:pPr>
              <a:lnSpc>
                <a:spcPct val="100000"/>
              </a:lnSpc>
              <a:spcBef>
                <a:spcPct val="15000"/>
              </a:spcBef>
            </a:pPr>
            <a:r>
              <a:rPr lang="en-US" altLang="zh-CN" sz="1700">
                <a:latin typeface="Arial" panose="020B0604020202020204" pitchFamily="34" charset="0"/>
                <a:ea typeface="黑体" panose="02010609060101010101" pitchFamily="49" charset="-122"/>
              </a:rPr>
              <a:t>MMX</a:t>
            </a:r>
            <a:r>
              <a:rPr lang="zh-CN" altLang="en-US" sz="1700">
                <a:latin typeface="Arial" panose="020B0604020202020204" pitchFamily="34" charset="0"/>
                <a:ea typeface="黑体" panose="02010609060101010101" pitchFamily="49" charset="-122"/>
              </a:rPr>
              <a:t>指令集由</a:t>
            </a:r>
            <a:r>
              <a:rPr lang="en-US" altLang="zh-CN" sz="1700">
                <a:latin typeface="Arial" panose="020B0604020202020204" pitchFamily="34" charset="0"/>
                <a:ea typeface="黑体" panose="02010609060101010101" pitchFamily="49" charset="-122"/>
              </a:rPr>
              <a:t>Intel</a:t>
            </a:r>
            <a:r>
              <a:rPr lang="zh-CN" altLang="en-US" sz="1700">
                <a:latin typeface="Arial" panose="020B0604020202020204" pitchFamily="34" charset="0"/>
                <a:ea typeface="黑体" panose="02010609060101010101" pitchFamily="49" charset="-122"/>
              </a:rPr>
              <a:t>提出，</a:t>
            </a:r>
            <a:r>
              <a:rPr lang="en-US" altLang="zh-CN" sz="1700">
                <a:latin typeface="Arial" panose="020B0604020202020204" pitchFamily="34" charset="0"/>
                <a:ea typeface="黑体" panose="02010609060101010101" pitchFamily="49" charset="-122"/>
              </a:rPr>
              <a:t>1997</a:t>
            </a:r>
            <a:r>
              <a:rPr lang="zh-CN" altLang="en-US" sz="1700">
                <a:latin typeface="Arial" panose="020B0604020202020204" pitchFamily="34" charset="0"/>
                <a:ea typeface="黑体" panose="02010609060101010101" pitchFamily="49" charset="-122"/>
              </a:rPr>
              <a:t>年首次用于</a:t>
            </a:r>
            <a:r>
              <a:rPr lang="en-US" altLang="zh-CN" sz="1700">
                <a:latin typeface="Arial" panose="020B0604020202020204" pitchFamily="34" charset="0"/>
                <a:ea typeface="黑体" panose="02010609060101010101" pitchFamily="49" charset="-122"/>
              </a:rPr>
              <a:t>P54C Pentium</a:t>
            </a:r>
            <a:r>
              <a:rPr lang="zh-CN" altLang="en-US" sz="1700">
                <a:latin typeface="Arial" panose="020B0604020202020204" pitchFamily="34" charset="0"/>
                <a:ea typeface="黑体" panose="02010609060101010101" pitchFamily="49" charset="-122"/>
              </a:rPr>
              <a:t>处理器</a:t>
            </a:r>
          </a:p>
          <a:p>
            <a:pPr lvl="1">
              <a:lnSpc>
                <a:spcPct val="100000"/>
              </a:lnSpc>
              <a:spcBef>
                <a:spcPct val="15000"/>
              </a:spcBef>
            </a:pPr>
            <a:r>
              <a:rPr lang="zh-CN" altLang="en-US" sz="1700">
                <a:latin typeface="Arial" panose="020B0604020202020204" pitchFamily="34" charset="0"/>
                <a:ea typeface="黑体" panose="02010609060101010101" pitchFamily="49" charset="-122"/>
              </a:rPr>
              <a:t>引入新的数据类型和通用寄存器 </a:t>
            </a:r>
          </a:p>
          <a:p>
            <a:pPr lvl="2">
              <a:lnSpc>
                <a:spcPct val="100000"/>
              </a:lnSpc>
              <a:spcBef>
                <a:spcPct val="15000"/>
              </a:spcBef>
            </a:pPr>
            <a:r>
              <a:rPr lang="zh-CN" altLang="en-US" sz="1700">
                <a:latin typeface="Arial" panose="020B0604020202020204" pitchFamily="34" charset="0"/>
                <a:ea typeface="黑体" panose="02010609060101010101" pitchFamily="49" charset="-122"/>
              </a:rPr>
              <a:t>四种</a:t>
            </a:r>
            <a:r>
              <a:rPr lang="en-US" altLang="zh-CN" sz="1700">
                <a:latin typeface="Arial" panose="020B0604020202020204" pitchFamily="34" charset="0"/>
                <a:ea typeface="黑体" panose="02010609060101010101" pitchFamily="49" charset="-122"/>
              </a:rPr>
              <a:t>64</a:t>
            </a:r>
            <a:r>
              <a:rPr lang="zh-CN" altLang="en-US" sz="1700">
                <a:latin typeface="Arial" panose="020B0604020202020204" pitchFamily="34" charset="0"/>
                <a:ea typeface="黑体" panose="02010609060101010101" pitchFamily="49" charset="-122"/>
              </a:rPr>
              <a:t>位紧缩定点整数类型（</a:t>
            </a:r>
            <a:r>
              <a:rPr lang="en-US" altLang="zh-CN" sz="1700">
                <a:latin typeface="Arial" panose="020B0604020202020204" pitchFamily="34" charset="0"/>
                <a:ea typeface="黑体" panose="02010609060101010101" pitchFamily="49" charset="-122"/>
              </a:rPr>
              <a:t>8 x 1B</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4 x 1W</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2 x 2W</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1 x 4W</a:t>
            </a:r>
            <a:r>
              <a:rPr lang="zh-CN" altLang="en-US" sz="1700">
                <a:latin typeface="Arial" panose="020B0604020202020204" pitchFamily="34" charset="0"/>
                <a:ea typeface="黑体" panose="02010609060101010101" pitchFamily="49" charset="-122"/>
              </a:rPr>
              <a:t>）</a:t>
            </a:r>
          </a:p>
          <a:p>
            <a:pPr lvl="2">
              <a:lnSpc>
                <a:spcPct val="100000"/>
              </a:lnSpc>
              <a:spcBef>
                <a:spcPct val="15000"/>
              </a:spcBef>
            </a:pPr>
            <a:r>
              <a:rPr lang="en-US" altLang="zh-CN" sz="1700">
                <a:latin typeface="Arial" panose="020B0604020202020204" pitchFamily="34" charset="0"/>
                <a:ea typeface="黑体" panose="02010609060101010101" pitchFamily="49" charset="-122"/>
              </a:rPr>
              <a:t>8</a:t>
            </a:r>
            <a:r>
              <a:rPr lang="zh-CN" altLang="en-US" sz="1700">
                <a:latin typeface="Arial" panose="020B0604020202020204" pitchFamily="34" charset="0"/>
                <a:ea typeface="黑体" panose="02010609060101010101" pitchFamily="49" charset="-122"/>
              </a:rPr>
              <a:t>个</a:t>
            </a:r>
            <a:r>
              <a:rPr lang="en-US" altLang="zh-CN" sz="1700">
                <a:latin typeface="Arial" panose="020B0604020202020204" pitchFamily="34" charset="0"/>
                <a:ea typeface="黑体" panose="02010609060101010101" pitchFamily="49" charset="-122"/>
              </a:rPr>
              <a:t>64</a:t>
            </a:r>
            <a:r>
              <a:rPr lang="zh-CN" altLang="en-US" sz="1700">
                <a:latin typeface="Arial" panose="020B0604020202020204" pitchFamily="34" charset="0"/>
                <a:ea typeface="黑体" panose="02010609060101010101" pitchFamily="49" charset="-122"/>
              </a:rPr>
              <a:t>位通用寄存器</a:t>
            </a:r>
            <a:r>
              <a:rPr lang="en-US" altLang="zh-CN" sz="1700">
                <a:latin typeface="Arial" panose="020B0604020202020204" pitchFamily="34" charset="0"/>
                <a:ea typeface="黑体" panose="02010609060101010101" pitchFamily="49" charset="-122"/>
              </a:rPr>
              <a:t>MX0</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MX7</a:t>
            </a:r>
            <a:r>
              <a:rPr lang="zh-CN" altLang="en-US" sz="1700">
                <a:latin typeface="Arial" panose="020B0604020202020204" pitchFamily="34" charset="0"/>
                <a:ea typeface="黑体" panose="02010609060101010101" pitchFamily="49" charset="-122"/>
              </a:rPr>
              <a:t>（借用</a:t>
            </a:r>
            <a:r>
              <a:rPr lang="en-US" altLang="zh-CN" sz="1700">
                <a:latin typeface="Arial" panose="020B0604020202020204" pitchFamily="34" charset="0"/>
                <a:ea typeface="黑体" panose="02010609060101010101" pitchFamily="49" charset="-122"/>
              </a:rPr>
              <a:t>8</a:t>
            </a:r>
            <a:r>
              <a:rPr lang="zh-CN" altLang="en-US" sz="1700">
                <a:latin typeface="Arial" panose="020B0604020202020204" pitchFamily="34" charset="0"/>
                <a:ea typeface="黑体" panose="02010609060101010101" pitchFamily="49" charset="-122"/>
              </a:rPr>
              <a:t>个</a:t>
            </a:r>
            <a:r>
              <a:rPr lang="en-US" altLang="zh-CN" sz="1700">
                <a:latin typeface="Arial" panose="020B0604020202020204" pitchFamily="34" charset="0"/>
                <a:ea typeface="黑体" panose="02010609060101010101" pitchFamily="49" charset="-122"/>
              </a:rPr>
              <a:t>80</a:t>
            </a:r>
            <a:r>
              <a:rPr lang="zh-CN" altLang="en-US" sz="1700">
                <a:latin typeface="Arial" panose="020B0604020202020204" pitchFamily="34" charset="0"/>
                <a:ea typeface="黑体" panose="02010609060101010101" pitchFamily="49" charset="-122"/>
              </a:rPr>
              <a:t>位浮点寄存器）</a:t>
            </a:r>
          </a:p>
          <a:p>
            <a:pPr lvl="1">
              <a:lnSpc>
                <a:spcPct val="100000"/>
              </a:lnSpc>
              <a:spcBef>
                <a:spcPct val="15000"/>
              </a:spcBef>
            </a:pPr>
            <a:r>
              <a:rPr lang="zh-CN" altLang="en-US" sz="1700">
                <a:latin typeface="Arial" panose="020B0604020202020204" pitchFamily="34" charset="0"/>
                <a:ea typeface="黑体" panose="02010609060101010101" pitchFamily="49" charset="-122"/>
              </a:rPr>
              <a:t>采用</a:t>
            </a:r>
            <a:r>
              <a:rPr lang="en-US" altLang="zh-CN" sz="1700">
                <a:latin typeface="Arial" panose="020B0604020202020204" pitchFamily="34" charset="0"/>
                <a:ea typeface="黑体" panose="02010609060101010101" pitchFamily="49" charset="-122"/>
              </a:rPr>
              <a:t>SIMD</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Single Instruction Multi Data</a:t>
            </a:r>
            <a:r>
              <a:rPr lang="zh-CN" altLang="en-US" sz="1700">
                <a:latin typeface="Arial" panose="020B0604020202020204" pitchFamily="34" charset="0"/>
                <a:ea typeface="黑体" panose="02010609060101010101" pitchFamily="49" charset="-122"/>
              </a:rPr>
              <a:t>）技术 </a:t>
            </a:r>
          </a:p>
          <a:p>
            <a:pPr lvl="2">
              <a:lnSpc>
                <a:spcPct val="100000"/>
              </a:lnSpc>
              <a:spcBef>
                <a:spcPct val="15000"/>
              </a:spcBef>
            </a:pPr>
            <a:r>
              <a:rPr lang="zh-CN" altLang="en-US" sz="1700">
                <a:latin typeface="Arial" panose="020B0604020202020204" pitchFamily="34" charset="0"/>
                <a:ea typeface="黑体" panose="02010609060101010101" pitchFamily="49" charset="-122"/>
              </a:rPr>
              <a:t>单条指令同时并行处理多个数据元素 </a:t>
            </a:r>
          </a:p>
          <a:p>
            <a:pPr lvl="2">
              <a:lnSpc>
                <a:spcPct val="100000"/>
              </a:lnSpc>
              <a:spcBef>
                <a:spcPct val="15000"/>
              </a:spcBef>
              <a:buFontTx/>
              <a:buNone/>
            </a:pPr>
            <a:r>
              <a:rPr lang="zh-CN" altLang="en-US" sz="1700">
                <a:solidFill>
                  <a:srgbClr val="2E5C35"/>
                </a:solidFill>
                <a:latin typeface="Arial" panose="020B0604020202020204" pitchFamily="34" charset="0"/>
                <a:ea typeface="黑体" panose="02010609060101010101" pitchFamily="49" charset="-122"/>
              </a:rPr>
              <a:t>例如，一条指令完成图像中</a:t>
            </a:r>
            <a:r>
              <a:rPr lang="en-US" altLang="zh-CN" sz="1700">
                <a:solidFill>
                  <a:srgbClr val="2E5C35"/>
                </a:solidFill>
                <a:latin typeface="Arial" panose="020B0604020202020204" pitchFamily="34" charset="0"/>
                <a:ea typeface="黑体" panose="02010609060101010101" pitchFamily="49" charset="-122"/>
              </a:rPr>
              <a:t>8</a:t>
            </a:r>
            <a:r>
              <a:rPr lang="zh-CN" altLang="en-US" sz="1700">
                <a:solidFill>
                  <a:srgbClr val="2E5C35"/>
                </a:solidFill>
                <a:latin typeface="Arial" panose="020B0604020202020204" pitchFamily="34" charset="0"/>
                <a:ea typeface="黑体" panose="02010609060101010101" pitchFamily="49" charset="-122"/>
              </a:rPr>
              <a:t>个像素的并行操作 </a:t>
            </a:r>
          </a:p>
          <a:p>
            <a:pPr lvl="1">
              <a:lnSpc>
                <a:spcPct val="100000"/>
              </a:lnSpc>
              <a:spcBef>
                <a:spcPct val="15000"/>
              </a:spcBef>
            </a:pPr>
            <a:r>
              <a:rPr lang="zh-CN" altLang="en-US" sz="1700">
                <a:latin typeface="Arial" panose="020B0604020202020204" pitchFamily="34" charset="0"/>
                <a:ea typeface="黑体" panose="02010609060101010101" pitchFamily="49" charset="-122"/>
              </a:rPr>
              <a:t>引入饱和（</a:t>
            </a:r>
            <a:r>
              <a:rPr lang="en-US" altLang="zh-CN" sz="1700">
                <a:latin typeface="Arial" panose="020B0604020202020204" pitchFamily="34" charset="0"/>
                <a:ea typeface="黑体" panose="02010609060101010101" pitchFamily="49" charset="-122"/>
              </a:rPr>
              <a:t>Situration</a:t>
            </a:r>
            <a:r>
              <a:rPr lang="zh-CN" altLang="en-US" sz="1700">
                <a:latin typeface="Arial" panose="020B0604020202020204" pitchFamily="34" charset="0"/>
                <a:ea typeface="黑体" panose="02010609060101010101" pitchFamily="49" charset="-122"/>
              </a:rPr>
              <a:t>）运算 </a:t>
            </a:r>
          </a:p>
          <a:p>
            <a:pPr lvl="2">
              <a:lnSpc>
                <a:spcPct val="100000"/>
              </a:lnSpc>
              <a:spcBef>
                <a:spcPct val="15000"/>
              </a:spcBef>
              <a:buFontTx/>
              <a:buNone/>
            </a:pPr>
            <a:r>
              <a:rPr lang="zh-CN" altLang="en-US" sz="1700">
                <a:latin typeface="Arial" panose="020B0604020202020204" pitchFamily="34" charset="0"/>
                <a:ea typeface="黑体" panose="02010609060101010101" pitchFamily="49" charset="-122"/>
              </a:rPr>
              <a:t>非饱和</a:t>
            </a:r>
            <a:r>
              <a:rPr lang="en-US" altLang="zh-CN" sz="1700">
                <a:latin typeface="Arial" panose="020B0604020202020204" pitchFamily="34" charset="0"/>
                <a:ea typeface="黑体" panose="02010609060101010101" pitchFamily="49" charset="-122"/>
              </a:rPr>
              <a:t>(</a:t>
            </a:r>
            <a:r>
              <a:rPr lang="zh-CN" altLang="en-US" sz="1700">
                <a:latin typeface="Arial" panose="020B0604020202020204" pitchFamily="34" charset="0"/>
                <a:ea typeface="黑体" panose="02010609060101010101" pitchFamily="49" charset="-122"/>
              </a:rPr>
              <a:t>环绕</a:t>
            </a:r>
            <a:r>
              <a:rPr lang="en-US" altLang="zh-CN" sz="1700">
                <a:latin typeface="Arial" panose="020B0604020202020204" pitchFamily="34" charset="0"/>
                <a:ea typeface="黑体" panose="02010609060101010101" pitchFamily="49" charset="-122"/>
              </a:rPr>
              <a:t>)</a:t>
            </a:r>
            <a:r>
              <a:rPr lang="zh-CN" altLang="en-US" sz="1700">
                <a:latin typeface="Arial" panose="020B0604020202020204" pitchFamily="34" charset="0"/>
                <a:ea typeface="黑体" panose="02010609060101010101" pitchFamily="49" charset="-122"/>
              </a:rPr>
              <a:t>运算：上溢时高位数据被截去；饱和运算：上溢时结果取最大值</a:t>
            </a:r>
          </a:p>
          <a:p>
            <a:pPr lvl="2">
              <a:lnSpc>
                <a:spcPct val="100000"/>
              </a:lnSpc>
              <a:spcBef>
                <a:spcPct val="15000"/>
              </a:spcBef>
              <a:buFontTx/>
              <a:buNone/>
            </a:pPr>
            <a:r>
              <a:rPr lang="zh-CN" altLang="en-US" sz="1700">
                <a:solidFill>
                  <a:srgbClr val="2E5C35"/>
                </a:solidFill>
                <a:latin typeface="Arial" panose="020B0604020202020204" pitchFamily="34" charset="0"/>
                <a:ea typeface="黑体" panose="02010609060101010101" pitchFamily="49" charset="-122"/>
              </a:rPr>
              <a:t>例如，图像插值运算：若</a:t>
            </a:r>
            <a:r>
              <a:rPr lang="en-US" altLang="zh-CN" sz="1700">
                <a:solidFill>
                  <a:srgbClr val="2E5C35"/>
                </a:solidFill>
                <a:latin typeface="Arial" panose="020B0604020202020204" pitchFamily="34" charset="0"/>
                <a:ea typeface="黑体" panose="02010609060101010101" pitchFamily="49" charset="-122"/>
              </a:rPr>
              <a:t>a</a:t>
            </a:r>
            <a:r>
              <a:rPr lang="zh-CN" altLang="en-US" sz="1700">
                <a:solidFill>
                  <a:srgbClr val="2E5C35"/>
                </a:solidFill>
                <a:latin typeface="Arial" panose="020B0604020202020204" pitchFamily="34" charset="0"/>
                <a:ea typeface="黑体" panose="02010609060101010101" pitchFamily="49" charset="-122"/>
              </a:rPr>
              <a:t>点亮度</a:t>
            </a:r>
            <a:r>
              <a:rPr lang="en-US" altLang="zh-CN" sz="1700">
                <a:solidFill>
                  <a:srgbClr val="2E5C35"/>
                </a:solidFill>
                <a:latin typeface="Arial" panose="020B0604020202020204" pitchFamily="34" charset="0"/>
                <a:ea typeface="黑体" panose="02010609060101010101" pitchFamily="49" charset="-122"/>
              </a:rPr>
              <a:t>F3H</a:t>
            </a:r>
            <a:r>
              <a:rPr lang="zh-CN" altLang="en-US" sz="1700">
                <a:solidFill>
                  <a:srgbClr val="2E5C35"/>
                </a:solidFill>
                <a:latin typeface="Arial" panose="020B0604020202020204" pitchFamily="34" charset="0"/>
                <a:ea typeface="黑体" panose="02010609060101010101" pitchFamily="49" charset="-122"/>
              </a:rPr>
              <a:t>，</a:t>
            </a:r>
            <a:r>
              <a:rPr lang="en-US" altLang="zh-CN" sz="1700">
                <a:solidFill>
                  <a:srgbClr val="2E5C35"/>
                </a:solidFill>
                <a:latin typeface="Arial" panose="020B0604020202020204" pitchFamily="34" charset="0"/>
                <a:ea typeface="黑体" panose="02010609060101010101" pitchFamily="49" charset="-122"/>
              </a:rPr>
              <a:t>b</a:t>
            </a:r>
            <a:r>
              <a:rPr lang="zh-CN" altLang="en-US" sz="1700">
                <a:solidFill>
                  <a:srgbClr val="2E5C35"/>
                </a:solidFill>
                <a:latin typeface="Arial" panose="020B0604020202020204" pitchFamily="34" charset="0"/>
                <a:ea typeface="黑体" panose="02010609060101010101" pitchFamily="49" charset="-122"/>
              </a:rPr>
              <a:t>点亮度</a:t>
            </a:r>
            <a:r>
              <a:rPr lang="en-US" altLang="zh-CN" sz="1700">
                <a:solidFill>
                  <a:srgbClr val="2E5C35"/>
                </a:solidFill>
                <a:latin typeface="Arial" panose="020B0604020202020204" pitchFamily="34" charset="0"/>
                <a:ea typeface="黑体" panose="02010609060101010101" pitchFamily="49" charset="-122"/>
              </a:rPr>
              <a:t>1DH</a:t>
            </a:r>
            <a:r>
              <a:rPr lang="zh-CN" altLang="en-US" sz="1700">
                <a:solidFill>
                  <a:srgbClr val="2E5C35"/>
                </a:solidFill>
                <a:latin typeface="Arial" panose="020B0604020202020204" pitchFamily="34" charset="0"/>
                <a:ea typeface="黑体" panose="02010609060101010101" pitchFamily="49" charset="-122"/>
              </a:rPr>
              <a:t>，对</a:t>
            </a:r>
            <a:r>
              <a:rPr lang="en-US" altLang="zh-CN" sz="1700">
                <a:solidFill>
                  <a:srgbClr val="2E5C35"/>
                </a:solidFill>
                <a:latin typeface="Arial" panose="020B0604020202020204" pitchFamily="34" charset="0"/>
                <a:ea typeface="黑体" panose="02010609060101010101" pitchFamily="49" charset="-122"/>
              </a:rPr>
              <a:t>a</a:t>
            </a:r>
            <a:r>
              <a:rPr lang="zh-CN" altLang="en-US" sz="1700">
                <a:solidFill>
                  <a:srgbClr val="2E5C35"/>
                </a:solidFill>
                <a:latin typeface="Arial" panose="020B0604020202020204" pitchFamily="34" charset="0"/>
                <a:ea typeface="黑体" panose="02010609060101010101" pitchFamily="49" charset="-122"/>
              </a:rPr>
              <a:t>和</a:t>
            </a:r>
            <a:r>
              <a:rPr lang="en-US" altLang="zh-CN" sz="1700">
                <a:solidFill>
                  <a:srgbClr val="2E5C35"/>
                </a:solidFill>
                <a:latin typeface="Arial" panose="020B0604020202020204" pitchFamily="34" charset="0"/>
                <a:ea typeface="黑体" panose="02010609060101010101" pitchFamily="49" charset="-122"/>
              </a:rPr>
              <a:t>b</a:t>
            </a:r>
            <a:r>
              <a:rPr lang="zh-CN" altLang="en-US" sz="1700">
                <a:solidFill>
                  <a:srgbClr val="2E5C35"/>
                </a:solidFill>
                <a:latin typeface="Arial" panose="020B0604020202020204" pitchFamily="34" charset="0"/>
                <a:ea typeface="黑体" panose="02010609060101010101" pitchFamily="49" charset="-122"/>
              </a:rPr>
              <a:t>线性插值结果为：</a:t>
            </a:r>
          </a:p>
          <a:p>
            <a:pPr lvl="2">
              <a:lnSpc>
                <a:spcPct val="100000"/>
              </a:lnSpc>
              <a:spcBef>
                <a:spcPct val="15000"/>
              </a:spcBef>
              <a:buFontTx/>
              <a:buNone/>
            </a:pPr>
            <a:r>
              <a:rPr lang="zh-CN" altLang="en-US" sz="1700">
                <a:solidFill>
                  <a:srgbClr val="2E5C35"/>
                </a:solidFill>
                <a:latin typeface="Arial" panose="020B0604020202020204" pitchFamily="34" charset="0"/>
                <a:ea typeface="黑体" panose="02010609060101010101" pitchFamily="49" charset="-122"/>
              </a:rPr>
              <a:t>环绕运算：</a:t>
            </a:r>
            <a:r>
              <a:rPr lang="en-US" altLang="zh-CN" sz="1700">
                <a:solidFill>
                  <a:srgbClr val="2E5C35"/>
                </a:solidFill>
                <a:latin typeface="Arial" panose="020B0604020202020204" pitchFamily="34" charset="0"/>
                <a:ea typeface="黑体" panose="02010609060101010101" pitchFamily="49" charset="-122"/>
              </a:rPr>
              <a:t>(F3H+1DH)/2=10H/2=08H     </a:t>
            </a:r>
            <a:r>
              <a:rPr lang="zh-CN" altLang="en-US" sz="1700">
                <a:solidFill>
                  <a:srgbClr val="2E5C35"/>
                </a:solidFill>
                <a:latin typeface="Arial" panose="020B0604020202020204" pitchFamily="34" charset="0"/>
                <a:ea typeface="黑体" panose="02010609060101010101" pitchFamily="49" charset="-122"/>
              </a:rPr>
              <a:t>插值点的亮度比</a:t>
            </a:r>
            <a:r>
              <a:rPr lang="en-US" altLang="zh-CN" sz="1700">
                <a:solidFill>
                  <a:srgbClr val="2E5C35"/>
                </a:solidFill>
                <a:latin typeface="Arial" panose="020B0604020202020204" pitchFamily="34" charset="0"/>
                <a:ea typeface="黑体" panose="02010609060101010101" pitchFamily="49" charset="-122"/>
              </a:rPr>
              <a:t>1DH</a:t>
            </a:r>
            <a:r>
              <a:rPr lang="zh-CN" altLang="en-US" sz="1700">
                <a:solidFill>
                  <a:srgbClr val="2E5C35"/>
                </a:solidFill>
                <a:latin typeface="Arial" panose="020B0604020202020204" pitchFamily="34" charset="0"/>
                <a:ea typeface="黑体" panose="02010609060101010101" pitchFamily="49" charset="-122"/>
              </a:rPr>
              <a:t>还低，不合理！</a:t>
            </a:r>
          </a:p>
          <a:p>
            <a:pPr lvl="2">
              <a:lnSpc>
                <a:spcPct val="100000"/>
              </a:lnSpc>
              <a:spcBef>
                <a:spcPct val="15000"/>
              </a:spcBef>
              <a:buFontTx/>
              <a:buNone/>
            </a:pPr>
            <a:r>
              <a:rPr lang="zh-CN" altLang="en-US" sz="1700">
                <a:solidFill>
                  <a:srgbClr val="2E5C35"/>
                </a:solidFill>
                <a:latin typeface="Arial" panose="020B0604020202020204" pitchFamily="34" charset="0"/>
                <a:ea typeface="黑体" panose="02010609060101010101" pitchFamily="49" charset="-122"/>
              </a:rPr>
              <a:t>饱和运算： </a:t>
            </a:r>
            <a:r>
              <a:rPr lang="en-US" altLang="zh-CN" sz="1700">
                <a:solidFill>
                  <a:srgbClr val="2E5C35"/>
                </a:solidFill>
                <a:latin typeface="Arial" panose="020B0604020202020204" pitchFamily="34" charset="0"/>
                <a:ea typeface="黑体" panose="02010609060101010101" pitchFamily="49" charset="-122"/>
              </a:rPr>
              <a:t>(F3H+1DH)/2=FFH/2=7FH    </a:t>
            </a:r>
            <a:r>
              <a:rPr lang="zh-CN" altLang="en-US" sz="1700">
                <a:solidFill>
                  <a:srgbClr val="2E5C35"/>
                </a:solidFill>
                <a:latin typeface="Arial" panose="020B0604020202020204" pitchFamily="34" charset="0"/>
                <a:ea typeface="黑体" panose="02010609060101010101" pitchFamily="49" charset="-122"/>
              </a:rPr>
              <a:t>合理</a:t>
            </a:r>
          </a:p>
          <a:p>
            <a:pPr>
              <a:lnSpc>
                <a:spcPct val="100000"/>
              </a:lnSpc>
              <a:spcBef>
                <a:spcPct val="15000"/>
              </a:spcBef>
            </a:pPr>
            <a:r>
              <a:rPr lang="zh-CN" altLang="en-US" sz="1700">
                <a:latin typeface="Arial" panose="020B0604020202020204" pitchFamily="34" charset="0"/>
                <a:ea typeface="黑体" panose="02010609060101010101" pitchFamily="49" charset="-122"/>
              </a:rPr>
              <a:t>在</a:t>
            </a:r>
            <a:r>
              <a:rPr lang="en-US" altLang="zh-CN" sz="1700">
                <a:latin typeface="Arial" panose="020B0604020202020204" pitchFamily="34" charset="0"/>
                <a:ea typeface="黑体" panose="02010609060101010101" pitchFamily="49" charset="-122"/>
              </a:rPr>
              <a:t>Intel</a:t>
            </a:r>
            <a:r>
              <a:rPr lang="zh-CN" altLang="en-US" sz="1700">
                <a:latin typeface="Arial" panose="020B0604020202020204" pitchFamily="34" charset="0"/>
                <a:ea typeface="黑体" panose="02010609060101010101" pitchFamily="49" charset="-122"/>
              </a:rPr>
              <a:t>以后的处理器中又增加了</a:t>
            </a:r>
            <a:r>
              <a:rPr lang="en-US" altLang="zh-CN" sz="1700">
                <a:latin typeface="Arial" panose="020B0604020202020204" pitchFamily="34" charset="0"/>
                <a:ea typeface="黑体" panose="02010609060101010101" pitchFamily="49" charset="-122"/>
              </a:rPr>
              <a:t>SSE</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SSE2</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SSE3</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AVX</a:t>
            </a:r>
            <a:r>
              <a:rPr lang="zh-CN" altLang="en-US" sz="1700">
                <a:latin typeface="Arial" panose="020B0604020202020204" pitchFamily="34" charset="0"/>
                <a:ea typeface="黑体" panose="02010609060101010101" pitchFamily="49" charset="-122"/>
              </a:rPr>
              <a:t>等指令集</a:t>
            </a:r>
          </a:p>
          <a:p>
            <a:pPr lvl="1">
              <a:lnSpc>
                <a:spcPct val="100000"/>
              </a:lnSpc>
              <a:spcBef>
                <a:spcPct val="15000"/>
              </a:spcBef>
              <a:buFontTx/>
              <a:buNone/>
            </a:pPr>
            <a:r>
              <a:rPr lang="en-US" altLang="zh-CN" sz="1700">
                <a:latin typeface="Arial" panose="020B0604020202020204" pitchFamily="34" charset="0"/>
                <a:ea typeface="黑体" panose="02010609060101010101" pitchFamily="49" charset="-122"/>
              </a:rPr>
              <a:t>    SSE</a:t>
            </a:r>
            <a:r>
              <a:rPr lang="zh-CN" altLang="en-US" sz="1700">
                <a:latin typeface="Arial" panose="020B0604020202020204" pitchFamily="34" charset="0"/>
                <a:ea typeface="黑体" panose="02010609060101010101" pitchFamily="49" charset="-122"/>
              </a:rPr>
              <a:t>（</a:t>
            </a:r>
            <a:r>
              <a:rPr lang="en-US" altLang="zh-CN" sz="1700">
                <a:latin typeface="Arial" panose="020B0604020202020204" pitchFamily="34" charset="0"/>
                <a:ea typeface="黑体" panose="02010609060101010101" pitchFamily="49" charset="-122"/>
              </a:rPr>
              <a:t>Streaming SIMD extensions</a:t>
            </a:r>
            <a:r>
              <a:rPr lang="zh-CN" altLang="en-US" sz="1700">
                <a:latin typeface="Arial" panose="020B0604020202020204" pitchFamily="34" charset="0"/>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4963">
                                            <p:txEl>
                                              <p:pRg st="1" end="1"/>
                                            </p:txEl>
                                          </p:spTgt>
                                        </p:tgtEl>
                                        <p:attrNameLst>
                                          <p:attrName>style.visibility</p:attrName>
                                        </p:attrNameLst>
                                      </p:cBhvr>
                                      <p:to>
                                        <p:strVal val="visible"/>
                                      </p:to>
                                    </p:set>
                                    <p:animEffect transition="in" filter="blinds(horizontal)">
                                      <p:cBhvr>
                                        <p:cTn id="7" dur="500"/>
                                        <p:tgtEl>
                                          <p:spTgt spid="4249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4963">
                                            <p:txEl>
                                              <p:pRg st="2" end="2"/>
                                            </p:txEl>
                                          </p:spTgt>
                                        </p:tgtEl>
                                        <p:attrNameLst>
                                          <p:attrName>style.visibility</p:attrName>
                                        </p:attrNameLst>
                                      </p:cBhvr>
                                      <p:to>
                                        <p:strVal val="visible"/>
                                      </p:to>
                                    </p:set>
                                    <p:animEffect transition="in" filter="blinds(horizontal)">
                                      <p:cBhvr>
                                        <p:cTn id="12" dur="500"/>
                                        <p:tgtEl>
                                          <p:spTgt spid="42496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4963">
                                            <p:txEl>
                                              <p:pRg st="4" end="4"/>
                                            </p:txEl>
                                          </p:spTgt>
                                        </p:tgtEl>
                                        <p:attrNameLst>
                                          <p:attrName>style.visibility</p:attrName>
                                        </p:attrNameLst>
                                      </p:cBhvr>
                                      <p:to>
                                        <p:strVal val="visible"/>
                                      </p:to>
                                    </p:set>
                                    <p:animEffect transition="in" filter="blinds(horizontal)">
                                      <p:cBhvr>
                                        <p:cTn id="17" dur="500"/>
                                        <p:tgtEl>
                                          <p:spTgt spid="4249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24963">
                                            <p:txEl>
                                              <p:pRg st="5" end="5"/>
                                            </p:txEl>
                                          </p:spTgt>
                                        </p:tgtEl>
                                        <p:attrNameLst>
                                          <p:attrName>style.visibility</p:attrName>
                                        </p:attrNameLst>
                                      </p:cBhvr>
                                      <p:to>
                                        <p:strVal val="visible"/>
                                      </p:to>
                                    </p:set>
                                    <p:animEffect transition="in" filter="blinds(horizontal)">
                                      <p:cBhvr>
                                        <p:cTn id="22" dur="500"/>
                                        <p:tgtEl>
                                          <p:spTgt spid="42496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24963">
                                            <p:txEl>
                                              <p:pRg st="8" end="8"/>
                                            </p:txEl>
                                          </p:spTgt>
                                        </p:tgtEl>
                                        <p:attrNameLst>
                                          <p:attrName>style.visibility</p:attrName>
                                        </p:attrNameLst>
                                      </p:cBhvr>
                                      <p:to>
                                        <p:strVal val="visible"/>
                                      </p:to>
                                    </p:set>
                                    <p:animEffect transition="in" filter="blinds(horizontal)">
                                      <p:cBhvr>
                                        <p:cTn id="27" dur="500"/>
                                        <p:tgtEl>
                                          <p:spTgt spid="424963">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24963">
                                            <p:txEl>
                                              <p:pRg st="9" end="9"/>
                                            </p:txEl>
                                          </p:spTgt>
                                        </p:tgtEl>
                                        <p:attrNameLst>
                                          <p:attrName>style.visibility</p:attrName>
                                        </p:attrNameLst>
                                      </p:cBhvr>
                                      <p:to>
                                        <p:strVal val="visible"/>
                                      </p:to>
                                    </p:set>
                                    <p:animEffect transition="in" filter="blinds(horizontal)">
                                      <p:cBhvr>
                                        <p:cTn id="32" dur="500"/>
                                        <p:tgtEl>
                                          <p:spTgt spid="424963">
                                            <p:txEl>
                                              <p:pRg st="9" end="9"/>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24963">
                                            <p:txEl>
                                              <p:pRg st="11" end="11"/>
                                            </p:txEl>
                                          </p:spTgt>
                                        </p:tgtEl>
                                        <p:attrNameLst>
                                          <p:attrName>style.visibility</p:attrName>
                                        </p:attrNameLst>
                                      </p:cBhvr>
                                      <p:to>
                                        <p:strVal val="visible"/>
                                      </p:to>
                                    </p:set>
                                    <p:animEffect transition="in" filter="blinds(horizontal)">
                                      <p:cBhvr>
                                        <p:cTn id="37" dur="500"/>
                                        <p:tgtEl>
                                          <p:spTgt spid="424963">
                                            <p:txEl>
                                              <p:pRg st="11" end="1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24963">
                                            <p:txEl>
                                              <p:pRg st="12" end="12"/>
                                            </p:txEl>
                                          </p:spTgt>
                                        </p:tgtEl>
                                        <p:attrNameLst>
                                          <p:attrName>style.visibility</p:attrName>
                                        </p:attrNameLst>
                                      </p:cBhvr>
                                      <p:to>
                                        <p:strVal val="visible"/>
                                      </p:to>
                                    </p:set>
                                    <p:animEffect transition="in" filter="blinds(horizontal)">
                                      <p:cBhvr>
                                        <p:cTn id="42" dur="500"/>
                                        <p:tgtEl>
                                          <p:spTgt spid="424963">
                                            <p:txEl>
                                              <p:pRg st="12" end="1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24963">
                                            <p:txEl>
                                              <p:pRg st="14" end="14"/>
                                            </p:txEl>
                                          </p:spTgt>
                                        </p:tgtEl>
                                        <p:attrNameLst>
                                          <p:attrName>style.visibility</p:attrName>
                                        </p:attrNameLst>
                                      </p:cBhvr>
                                      <p:to>
                                        <p:strVal val="visible"/>
                                      </p:to>
                                    </p:set>
                                    <p:animEffect transition="in" filter="blinds(horizontal)">
                                      <p:cBhvr>
                                        <p:cTn id="47" dur="500"/>
                                        <p:tgtEl>
                                          <p:spTgt spid="424963">
                                            <p:txEl>
                                              <p:pRg st="14" end="1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24963">
                                            <p:txEl>
                                              <p:pRg st="15" end="15"/>
                                            </p:txEl>
                                          </p:spTgt>
                                        </p:tgtEl>
                                        <p:attrNameLst>
                                          <p:attrName>style.visibility</p:attrName>
                                        </p:attrNameLst>
                                      </p:cBhvr>
                                      <p:to>
                                        <p:strVal val="visible"/>
                                      </p:to>
                                    </p:set>
                                    <p:animEffect transition="in" filter="blinds(horizontal)">
                                      <p:cBhvr>
                                        <p:cTn id="52" dur="500"/>
                                        <p:tgtEl>
                                          <p:spTgt spid="424963">
                                            <p:txEl>
                                              <p:pRg st="15" end="15"/>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424963">
                                            <p:txEl>
                                              <p:pRg st="16" end="16"/>
                                            </p:txEl>
                                          </p:spTgt>
                                        </p:tgtEl>
                                        <p:attrNameLst>
                                          <p:attrName>style.visibility</p:attrName>
                                        </p:attrNameLst>
                                      </p:cBhvr>
                                      <p:to>
                                        <p:strVal val="visible"/>
                                      </p:to>
                                    </p:set>
                                    <p:animEffect transition="in" filter="blinds(horizontal)">
                                      <p:cBhvr>
                                        <p:cTn id="55" dur="500"/>
                                        <p:tgtEl>
                                          <p:spTgt spid="424963">
                                            <p:txEl>
                                              <p:pRg st="16" end="16"/>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424963">
                                            <p:txEl>
                                              <p:pRg st="17" end="17"/>
                                            </p:txEl>
                                          </p:spTgt>
                                        </p:tgtEl>
                                        <p:attrNameLst>
                                          <p:attrName>style.visibility</p:attrName>
                                        </p:attrNameLst>
                                      </p:cBhvr>
                                      <p:to>
                                        <p:strVal val="visible"/>
                                      </p:to>
                                    </p:set>
                                    <p:animEffect transition="in" filter="blinds(horizontal)">
                                      <p:cBhvr>
                                        <p:cTn id="58" dur="500"/>
                                        <p:tgtEl>
                                          <p:spTgt spid="424963">
                                            <p:txEl>
                                              <p:pRg st="17" end="17"/>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424963">
                                            <p:txEl>
                                              <p:pRg st="18" end="18"/>
                                            </p:txEl>
                                          </p:spTgt>
                                        </p:tgtEl>
                                        <p:attrNameLst>
                                          <p:attrName>style.visibility</p:attrName>
                                        </p:attrNameLst>
                                      </p:cBhvr>
                                      <p:to>
                                        <p:strVal val="visible"/>
                                      </p:to>
                                    </p:set>
                                    <p:animEffect transition="in" filter="blinds(horizontal)">
                                      <p:cBhvr>
                                        <p:cTn id="63" dur="500"/>
                                        <p:tgtEl>
                                          <p:spTgt spid="424963">
                                            <p:txEl>
                                              <p:pRg st="18" end="18"/>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424963">
                                            <p:txEl>
                                              <p:pRg st="19" end="19"/>
                                            </p:txEl>
                                          </p:spTgt>
                                        </p:tgtEl>
                                        <p:attrNameLst>
                                          <p:attrName>style.visibility</p:attrName>
                                        </p:attrNameLst>
                                      </p:cBhvr>
                                      <p:to>
                                        <p:strVal val="visible"/>
                                      </p:to>
                                    </p:set>
                                    <p:animEffect transition="in" filter="blinds(horizontal)">
                                      <p:cBhvr>
                                        <p:cTn id="66" dur="500"/>
                                        <p:tgtEl>
                                          <p:spTgt spid="42496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3748D0D9-5EB8-6FDD-BBE3-0486CC4CCEE6}"/>
              </a:ext>
            </a:extLst>
          </p:cNvPr>
          <p:cNvSpPr>
            <a:spLocks noGrp="1" noChangeArrowheads="1"/>
          </p:cNvSpPr>
          <p:nvPr>
            <p:ph type="title"/>
          </p:nvPr>
        </p:nvSpPr>
        <p:spPr>
          <a:xfrm>
            <a:off x="711200" y="114300"/>
            <a:ext cx="7867650" cy="373063"/>
          </a:xfrm>
        </p:spPr>
        <p:txBody>
          <a:bodyPr/>
          <a:lstStyle/>
          <a:p>
            <a:r>
              <a:rPr lang="zh-CN" altLang="en-US">
                <a:ea typeface="宋体" panose="02010600030101010101" pitchFamily="2" charset="-122"/>
              </a:rPr>
              <a:t>第一讲小结</a:t>
            </a:r>
          </a:p>
        </p:txBody>
      </p:sp>
      <p:sp>
        <p:nvSpPr>
          <p:cNvPr id="135171" name="Rectangle 3">
            <a:extLst>
              <a:ext uri="{FF2B5EF4-FFF2-40B4-BE49-F238E27FC236}">
                <a16:creationId xmlns:a16="http://schemas.microsoft.com/office/drawing/2014/main" id="{5B55147E-E116-3FC1-697F-45B906F0B010}"/>
              </a:ext>
            </a:extLst>
          </p:cNvPr>
          <p:cNvSpPr>
            <a:spLocks noGrp="1" noChangeArrowheads="1"/>
          </p:cNvSpPr>
          <p:nvPr>
            <p:ph idx="1"/>
          </p:nvPr>
        </p:nvSpPr>
        <p:spPr>
          <a:xfrm>
            <a:off x="457200" y="511175"/>
            <a:ext cx="8229600" cy="5830888"/>
          </a:xfrm>
        </p:spPr>
        <p:txBody>
          <a:bodyPr/>
          <a:lstStyle/>
          <a:p>
            <a:pPr>
              <a:lnSpc>
                <a:spcPct val="100000"/>
              </a:lnSpc>
              <a:spcBef>
                <a:spcPct val="20000"/>
              </a:spcBef>
            </a:pPr>
            <a:r>
              <a:rPr lang="zh-CN" altLang="en-US"/>
              <a:t>一个计算机系统中需要定义多条指令</a:t>
            </a:r>
          </a:p>
          <a:p>
            <a:pPr>
              <a:lnSpc>
                <a:spcPct val="100000"/>
              </a:lnSpc>
              <a:spcBef>
                <a:spcPct val="20000"/>
              </a:spcBef>
            </a:pPr>
            <a:r>
              <a:rPr lang="zh-CN" altLang="en-US"/>
              <a:t>指令的功能</a:t>
            </a:r>
            <a:r>
              <a:rPr lang="en-US" altLang="zh-CN"/>
              <a:t>/</a:t>
            </a:r>
            <a:r>
              <a:rPr lang="zh-CN" altLang="en-US"/>
              <a:t>含义由操作码</a:t>
            </a:r>
            <a:r>
              <a:rPr lang="en-US" altLang="zh-CN"/>
              <a:t>(</a:t>
            </a:r>
            <a:r>
              <a:rPr lang="zh-CN" altLang="en-US"/>
              <a:t>或加上某些功能字段</a:t>
            </a:r>
            <a:r>
              <a:rPr lang="en-US" altLang="zh-CN"/>
              <a:t>)</a:t>
            </a:r>
            <a:r>
              <a:rPr lang="zh-CN" altLang="en-US"/>
              <a:t>来决定</a:t>
            </a:r>
          </a:p>
          <a:p>
            <a:pPr>
              <a:lnSpc>
                <a:spcPct val="100000"/>
              </a:lnSpc>
              <a:spcBef>
                <a:spcPct val="20000"/>
              </a:spcBef>
            </a:pPr>
            <a:r>
              <a:rPr lang="zh-CN" altLang="en-US"/>
              <a:t>每条指令中的二进制位具体怎么使用呢？</a:t>
            </a:r>
          </a:p>
          <a:p>
            <a:pPr lvl="1">
              <a:lnSpc>
                <a:spcPct val="100000"/>
              </a:lnSpc>
              <a:spcBef>
                <a:spcPct val="20000"/>
              </a:spcBef>
            </a:pPr>
            <a:r>
              <a:rPr lang="zh-CN" altLang="en-US" sz="2000"/>
              <a:t>操作码</a:t>
            </a:r>
            <a:r>
              <a:rPr lang="en-US" altLang="zh-CN" sz="2000"/>
              <a:t>+</a:t>
            </a:r>
            <a:r>
              <a:rPr lang="zh-CN" altLang="en-US" sz="2000"/>
              <a:t>地址码</a:t>
            </a:r>
            <a:r>
              <a:rPr lang="en-US" altLang="zh-CN" sz="2000"/>
              <a:t>+</a:t>
            </a:r>
            <a:r>
              <a:rPr lang="zh-CN" altLang="en-US" sz="2000"/>
              <a:t>可能需要的其它附加字段</a:t>
            </a:r>
          </a:p>
          <a:p>
            <a:pPr lvl="1">
              <a:lnSpc>
                <a:spcPct val="100000"/>
              </a:lnSpc>
              <a:spcBef>
                <a:spcPct val="20000"/>
              </a:spcBef>
            </a:pPr>
            <a:r>
              <a:rPr lang="zh-CN" altLang="en-US" sz="2000"/>
              <a:t>在一条指令中可以有</a:t>
            </a:r>
            <a:r>
              <a:rPr lang="en-US" altLang="zh-CN" sz="2000"/>
              <a:t>0-N</a:t>
            </a:r>
            <a:r>
              <a:rPr lang="zh-CN" altLang="en-US" sz="2000"/>
              <a:t>个地址码</a:t>
            </a:r>
          </a:p>
          <a:p>
            <a:pPr lvl="1">
              <a:lnSpc>
                <a:spcPct val="100000"/>
              </a:lnSpc>
              <a:spcBef>
                <a:spcPct val="20000"/>
              </a:spcBef>
            </a:pPr>
            <a:r>
              <a:rPr lang="zh-CN" altLang="en-US" sz="2000"/>
              <a:t>指令的设计离不开寄存器的设计（数量、功能等必须预先确定）</a:t>
            </a:r>
          </a:p>
          <a:p>
            <a:pPr lvl="1">
              <a:lnSpc>
                <a:spcPct val="100000"/>
              </a:lnSpc>
              <a:spcBef>
                <a:spcPct val="20000"/>
              </a:spcBef>
            </a:pPr>
            <a:r>
              <a:rPr lang="zh-CN" altLang="en-US" sz="2000"/>
              <a:t>一个机器中所有指令的长度可相同，也可各不相同</a:t>
            </a:r>
          </a:p>
          <a:p>
            <a:pPr>
              <a:lnSpc>
                <a:spcPct val="100000"/>
              </a:lnSpc>
              <a:spcBef>
                <a:spcPct val="20000"/>
              </a:spcBef>
            </a:pPr>
            <a:r>
              <a:rPr lang="zh-CN" altLang="en-US"/>
              <a:t>需要多少种操作码呢？</a:t>
            </a:r>
          </a:p>
          <a:p>
            <a:pPr lvl="1">
              <a:lnSpc>
                <a:spcPct val="100000"/>
              </a:lnSpc>
              <a:spcBef>
                <a:spcPct val="20000"/>
              </a:spcBef>
            </a:pPr>
            <a:r>
              <a:rPr lang="zh-CN" altLang="en-US"/>
              <a:t>由所需的功能（运算，控制等）来决定</a:t>
            </a:r>
          </a:p>
          <a:p>
            <a:pPr>
              <a:lnSpc>
                <a:spcPct val="100000"/>
              </a:lnSpc>
              <a:spcBef>
                <a:spcPct val="20000"/>
              </a:spcBef>
            </a:pPr>
            <a:r>
              <a:rPr lang="zh-CN" altLang="en-US"/>
              <a:t>需要处理哪些数据类型呢？</a:t>
            </a:r>
          </a:p>
          <a:p>
            <a:pPr lvl="1">
              <a:lnSpc>
                <a:spcPct val="100000"/>
              </a:lnSpc>
              <a:spcBef>
                <a:spcPct val="20000"/>
              </a:spcBef>
            </a:pPr>
            <a:r>
              <a:rPr lang="zh-CN" altLang="en-US"/>
              <a:t>也由所需运算类型来决定</a:t>
            </a:r>
          </a:p>
          <a:p>
            <a:pPr>
              <a:lnSpc>
                <a:spcPct val="100000"/>
              </a:lnSpc>
              <a:spcBef>
                <a:spcPct val="20000"/>
              </a:spcBef>
            </a:pPr>
            <a:r>
              <a:rPr lang="zh-CN" altLang="en-US"/>
              <a:t>如何完成指令中对操作数的存取要求呢（核心功能）？</a:t>
            </a:r>
          </a:p>
          <a:p>
            <a:pPr lvl="1">
              <a:lnSpc>
                <a:spcPct val="100000"/>
              </a:lnSpc>
              <a:spcBef>
                <a:spcPct val="20000"/>
              </a:spcBef>
            </a:pPr>
            <a:r>
              <a:rPr lang="zh-CN" altLang="en-US"/>
              <a:t>寻址方式可以有多种，灵活使用</a:t>
            </a:r>
          </a:p>
          <a:p>
            <a:pPr>
              <a:lnSpc>
                <a:spcPct val="100000"/>
              </a:lnSpc>
              <a:spcBef>
                <a:spcPct val="20000"/>
              </a:spcBef>
            </a:pPr>
            <a:r>
              <a:rPr lang="zh-CN" altLang="en-US"/>
              <a:t>如何控制“周而复始的执行指令”呢？</a:t>
            </a:r>
          </a:p>
          <a:p>
            <a:pPr lvl="1">
              <a:lnSpc>
                <a:spcPct val="100000"/>
              </a:lnSpc>
              <a:spcBef>
                <a:spcPct val="20000"/>
              </a:spcBef>
            </a:pPr>
            <a:r>
              <a:rPr lang="zh-CN" altLang="en-US" sz="2000"/>
              <a:t>隐式的自动按顺序取</a:t>
            </a:r>
            <a:endParaRPr lang="en-US" altLang="zh-CN" sz="2000"/>
          </a:p>
          <a:p>
            <a:pPr lvl="1">
              <a:lnSpc>
                <a:spcPct val="100000"/>
              </a:lnSpc>
              <a:spcBef>
                <a:spcPct val="20000"/>
              </a:spcBef>
            </a:pPr>
            <a:r>
              <a:rPr lang="zh-CN" altLang="en-US" sz="2000"/>
              <a:t>显式的在指令中给出“下条指令地址”</a:t>
            </a:r>
          </a:p>
          <a:p>
            <a:pPr lvl="1">
              <a:lnSpc>
                <a:spcPct val="100000"/>
              </a:lnSpc>
              <a:spcBef>
                <a:spcPct val="20000"/>
              </a:spcBef>
            </a:pPr>
            <a:r>
              <a:rPr lang="zh-CN" altLang="en-US" sz="2000"/>
              <a:t>条件测试后计算出“转移目标地址”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blinds(horizontal)">
                                      <p:cBhvr>
                                        <p:cTn id="7" dur="500"/>
                                        <p:tgtEl>
                                          <p:spTgt spid="135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blinds(horizontal)">
                                      <p:cBhvr>
                                        <p:cTn id="12" dur="500"/>
                                        <p:tgtEl>
                                          <p:spTgt spid="135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5171">
                                            <p:txEl>
                                              <p:pRg st="2" end="2"/>
                                            </p:txEl>
                                          </p:spTgt>
                                        </p:tgtEl>
                                        <p:attrNameLst>
                                          <p:attrName>style.visibility</p:attrName>
                                        </p:attrNameLst>
                                      </p:cBhvr>
                                      <p:to>
                                        <p:strVal val="visible"/>
                                      </p:to>
                                    </p:set>
                                    <p:animEffect transition="in" filter="blinds(horizontal)">
                                      <p:cBhvr>
                                        <p:cTn id="17" dur="500"/>
                                        <p:tgtEl>
                                          <p:spTgt spid="135171">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5171">
                                            <p:txEl>
                                              <p:pRg st="3" end="3"/>
                                            </p:txEl>
                                          </p:spTgt>
                                        </p:tgtEl>
                                        <p:attrNameLst>
                                          <p:attrName>style.visibility</p:attrName>
                                        </p:attrNameLst>
                                      </p:cBhvr>
                                      <p:to>
                                        <p:strVal val="visible"/>
                                      </p:to>
                                    </p:set>
                                    <p:animEffect transition="in" filter="blinds(horizontal)">
                                      <p:cBhvr>
                                        <p:cTn id="20" dur="500"/>
                                        <p:tgtEl>
                                          <p:spTgt spid="135171">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5171">
                                            <p:txEl>
                                              <p:pRg st="4" end="4"/>
                                            </p:txEl>
                                          </p:spTgt>
                                        </p:tgtEl>
                                        <p:attrNameLst>
                                          <p:attrName>style.visibility</p:attrName>
                                        </p:attrNameLst>
                                      </p:cBhvr>
                                      <p:to>
                                        <p:strVal val="visible"/>
                                      </p:to>
                                    </p:set>
                                    <p:animEffect transition="in" filter="blinds(horizontal)">
                                      <p:cBhvr>
                                        <p:cTn id="23" dur="500"/>
                                        <p:tgtEl>
                                          <p:spTgt spid="135171">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5171">
                                            <p:txEl>
                                              <p:pRg st="5" end="5"/>
                                            </p:txEl>
                                          </p:spTgt>
                                        </p:tgtEl>
                                        <p:attrNameLst>
                                          <p:attrName>style.visibility</p:attrName>
                                        </p:attrNameLst>
                                      </p:cBhvr>
                                      <p:to>
                                        <p:strVal val="visible"/>
                                      </p:to>
                                    </p:set>
                                    <p:animEffect transition="in" filter="blinds(horizontal)">
                                      <p:cBhvr>
                                        <p:cTn id="26" dur="500"/>
                                        <p:tgtEl>
                                          <p:spTgt spid="135171">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35171">
                                            <p:txEl>
                                              <p:pRg st="6" end="6"/>
                                            </p:txEl>
                                          </p:spTgt>
                                        </p:tgtEl>
                                        <p:attrNameLst>
                                          <p:attrName>style.visibility</p:attrName>
                                        </p:attrNameLst>
                                      </p:cBhvr>
                                      <p:to>
                                        <p:strVal val="visible"/>
                                      </p:to>
                                    </p:set>
                                    <p:animEffect transition="in" filter="blinds(horizontal)">
                                      <p:cBhvr>
                                        <p:cTn id="29" dur="500"/>
                                        <p:tgtEl>
                                          <p:spTgt spid="135171">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35171">
                                            <p:txEl>
                                              <p:pRg st="7" end="7"/>
                                            </p:txEl>
                                          </p:spTgt>
                                        </p:tgtEl>
                                        <p:attrNameLst>
                                          <p:attrName>style.visibility</p:attrName>
                                        </p:attrNameLst>
                                      </p:cBhvr>
                                      <p:to>
                                        <p:strVal val="visible"/>
                                      </p:to>
                                    </p:set>
                                    <p:animEffect transition="in" filter="blinds(horizontal)">
                                      <p:cBhvr>
                                        <p:cTn id="34" dur="500"/>
                                        <p:tgtEl>
                                          <p:spTgt spid="135171">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35171">
                                            <p:txEl>
                                              <p:pRg st="8" end="8"/>
                                            </p:txEl>
                                          </p:spTgt>
                                        </p:tgtEl>
                                        <p:attrNameLst>
                                          <p:attrName>style.visibility</p:attrName>
                                        </p:attrNameLst>
                                      </p:cBhvr>
                                      <p:to>
                                        <p:strVal val="visible"/>
                                      </p:to>
                                    </p:set>
                                    <p:animEffect transition="in" filter="blinds(horizontal)">
                                      <p:cBhvr>
                                        <p:cTn id="37" dur="500"/>
                                        <p:tgtEl>
                                          <p:spTgt spid="135171">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5171">
                                            <p:txEl>
                                              <p:pRg st="9" end="9"/>
                                            </p:txEl>
                                          </p:spTgt>
                                        </p:tgtEl>
                                        <p:attrNameLst>
                                          <p:attrName>style.visibility</p:attrName>
                                        </p:attrNameLst>
                                      </p:cBhvr>
                                      <p:to>
                                        <p:strVal val="visible"/>
                                      </p:to>
                                    </p:set>
                                    <p:animEffect transition="in" filter="blinds(horizontal)">
                                      <p:cBhvr>
                                        <p:cTn id="42" dur="500"/>
                                        <p:tgtEl>
                                          <p:spTgt spid="135171">
                                            <p:txEl>
                                              <p:pRg st="9" end="9"/>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35171">
                                            <p:txEl>
                                              <p:pRg st="10" end="10"/>
                                            </p:txEl>
                                          </p:spTgt>
                                        </p:tgtEl>
                                        <p:attrNameLst>
                                          <p:attrName>style.visibility</p:attrName>
                                        </p:attrNameLst>
                                      </p:cBhvr>
                                      <p:to>
                                        <p:strVal val="visible"/>
                                      </p:to>
                                    </p:set>
                                    <p:animEffect transition="in" filter="blinds(horizontal)">
                                      <p:cBhvr>
                                        <p:cTn id="45" dur="500"/>
                                        <p:tgtEl>
                                          <p:spTgt spid="135171">
                                            <p:txEl>
                                              <p:pRg st="10" end="10"/>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35171">
                                            <p:txEl>
                                              <p:pRg st="11" end="11"/>
                                            </p:txEl>
                                          </p:spTgt>
                                        </p:tgtEl>
                                        <p:attrNameLst>
                                          <p:attrName>style.visibility</p:attrName>
                                        </p:attrNameLst>
                                      </p:cBhvr>
                                      <p:to>
                                        <p:strVal val="visible"/>
                                      </p:to>
                                    </p:set>
                                    <p:animEffect transition="in" filter="blinds(horizontal)">
                                      <p:cBhvr>
                                        <p:cTn id="50" dur="500"/>
                                        <p:tgtEl>
                                          <p:spTgt spid="135171">
                                            <p:txEl>
                                              <p:pRg st="11" end="11"/>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35171">
                                            <p:txEl>
                                              <p:pRg st="12" end="12"/>
                                            </p:txEl>
                                          </p:spTgt>
                                        </p:tgtEl>
                                        <p:attrNameLst>
                                          <p:attrName>style.visibility</p:attrName>
                                        </p:attrNameLst>
                                      </p:cBhvr>
                                      <p:to>
                                        <p:strVal val="visible"/>
                                      </p:to>
                                    </p:set>
                                    <p:animEffect transition="in" filter="blinds(horizontal)">
                                      <p:cBhvr>
                                        <p:cTn id="53" dur="500"/>
                                        <p:tgtEl>
                                          <p:spTgt spid="135171">
                                            <p:txEl>
                                              <p:pRg st="12" end="12"/>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35171">
                                            <p:txEl>
                                              <p:pRg st="13" end="13"/>
                                            </p:txEl>
                                          </p:spTgt>
                                        </p:tgtEl>
                                        <p:attrNameLst>
                                          <p:attrName>style.visibility</p:attrName>
                                        </p:attrNameLst>
                                      </p:cBhvr>
                                      <p:to>
                                        <p:strVal val="visible"/>
                                      </p:to>
                                    </p:set>
                                    <p:animEffect transition="in" filter="blinds(horizontal)">
                                      <p:cBhvr>
                                        <p:cTn id="58" dur="500"/>
                                        <p:tgtEl>
                                          <p:spTgt spid="135171">
                                            <p:txEl>
                                              <p:pRg st="13" end="13"/>
                                            </p:txEl>
                                          </p:spTgt>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135171">
                                            <p:txEl>
                                              <p:pRg st="14" end="14"/>
                                            </p:txEl>
                                          </p:spTgt>
                                        </p:tgtEl>
                                        <p:attrNameLst>
                                          <p:attrName>style.visibility</p:attrName>
                                        </p:attrNameLst>
                                      </p:cBhvr>
                                      <p:to>
                                        <p:strVal val="visible"/>
                                      </p:to>
                                    </p:set>
                                    <p:animEffect transition="in" filter="blinds(horizontal)">
                                      <p:cBhvr>
                                        <p:cTn id="61" dur="500"/>
                                        <p:tgtEl>
                                          <p:spTgt spid="135171">
                                            <p:txEl>
                                              <p:pRg st="14" end="14"/>
                                            </p:txEl>
                                          </p:spTgt>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35171">
                                            <p:txEl>
                                              <p:pRg st="15" end="15"/>
                                            </p:txEl>
                                          </p:spTgt>
                                        </p:tgtEl>
                                        <p:attrNameLst>
                                          <p:attrName>style.visibility</p:attrName>
                                        </p:attrNameLst>
                                      </p:cBhvr>
                                      <p:to>
                                        <p:strVal val="visible"/>
                                      </p:to>
                                    </p:set>
                                    <p:animEffect transition="in" filter="blinds(horizontal)">
                                      <p:cBhvr>
                                        <p:cTn id="64" dur="500"/>
                                        <p:tgtEl>
                                          <p:spTgt spid="135171">
                                            <p:txEl>
                                              <p:pRg st="15" end="15"/>
                                            </p:txEl>
                                          </p:spTgt>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35171">
                                            <p:txEl>
                                              <p:pRg st="16" end="16"/>
                                            </p:txEl>
                                          </p:spTgt>
                                        </p:tgtEl>
                                        <p:attrNameLst>
                                          <p:attrName>style.visibility</p:attrName>
                                        </p:attrNameLst>
                                      </p:cBhvr>
                                      <p:to>
                                        <p:strVal val="visible"/>
                                      </p:to>
                                    </p:set>
                                    <p:animEffect transition="in" filter="blinds(horizontal)">
                                      <p:cBhvr>
                                        <p:cTn id="67" dur="500"/>
                                        <p:tgtEl>
                                          <p:spTgt spid="135171">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FB79A690-AEF6-C3F0-C6A8-154D7AA5AA22}"/>
              </a:ext>
            </a:extLst>
          </p:cNvPr>
          <p:cNvSpPr>
            <a:spLocks noGrp="1" noChangeArrowheads="1"/>
          </p:cNvSpPr>
          <p:nvPr>
            <p:ph type="title"/>
          </p:nvPr>
        </p:nvSpPr>
        <p:spPr>
          <a:xfrm>
            <a:off x="711200" y="114300"/>
            <a:ext cx="2093913" cy="368300"/>
          </a:xfrm>
        </p:spPr>
        <p:txBody>
          <a:bodyPr/>
          <a:lstStyle/>
          <a:p>
            <a:r>
              <a:rPr lang="zh-CN" altLang="en-US">
                <a:ea typeface="宋体" panose="02010600030101010101" pitchFamily="2" charset="-122"/>
              </a:rPr>
              <a:t>第一讲小结</a:t>
            </a:r>
          </a:p>
        </p:txBody>
      </p:sp>
      <p:sp>
        <p:nvSpPr>
          <p:cNvPr id="423939" name="Rectangle 3">
            <a:extLst>
              <a:ext uri="{FF2B5EF4-FFF2-40B4-BE49-F238E27FC236}">
                <a16:creationId xmlns:a16="http://schemas.microsoft.com/office/drawing/2014/main" id="{CEDBBB74-4E41-C1CD-AA0A-35607D19537C}"/>
              </a:ext>
            </a:extLst>
          </p:cNvPr>
          <p:cNvSpPr>
            <a:spLocks noChangeArrowheads="1"/>
          </p:cNvSpPr>
          <p:nvPr/>
        </p:nvSpPr>
        <p:spPr bwMode="auto">
          <a:xfrm>
            <a:off x="423863" y="538163"/>
            <a:ext cx="8229600" cy="631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操作类型</a:t>
            </a:r>
          </a:p>
          <a:p>
            <a:pPr lvl="1" eaLnBrk="0" hangingPunct="0">
              <a:lnSpc>
                <a:spcPct val="105000"/>
              </a:lnSpc>
              <a:spcBef>
                <a:spcPct val="5000"/>
              </a:spcBef>
              <a:buFontTx/>
              <a:buChar char="–"/>
            </a:pPr>
            <a:r>
              <a:rPr lang="zh-CN" altLang="en-US" sz="1800">
                <a:ea typeface="黑体" panose="02010609060101010101" pitchFamily="49" charset="-122"/>
              </a:rPr>
              <a:t>传送 </a:t>
            </a:r>
            <a:r>
              <a:rPr lang="en-US" altLang="zh-CN" sz="1800">
                <a:ea typeface="黑体" panose="02010609060101010101" pitchFamily="49" charset="-122"/>
              </a:rPr>
              <a:t>/ </a:t>
            </a:r>
            <a:r>
              <a:rPr lang="zh-CN" altLang="en-US" sz="1800">
                <a:ea typeface="黑体" panose="02010609060101010101" pitchFamily="49" charset="-122"/>
              </a:rPr>
              <a:t>算术 </a:t>
            </a:r>
            <a:r>
              <a:rPr lang="en-US" altLang="zh-CN" sz="1800">
                <a:ea typeface="黑体" panose="02010609060101010101" pitchFamily="49" charset="-122"/>
              </a:rPr>
              <a:t>/ </a:t>
            </a:r>
            <a:r>
              <a:rPr lang="zh-CN" altLang="en-US" sz="1800">
                <a:ea typeface="黑体" panose="02010609060101010101" pitchFamily="49" charset="-122"/>
              </a:rPr>
              <a:t>逻辑 </a:t>
            </a:r>
            <a:r>
              <a:rPr lang="en-US" altLang="zh-CN" sz="1800">
                <a:ea typeface="黑体" panose="02010609060101010101" pitchFamily="49" charset="-122"/>
              </a:rPr>
              <a:t>/ </a:t>
            </a:r>
            <a:r>
              <a:rPr lang="zh-CN" altLang="en-US" sz="1800">
                <a:ea typeface="黑体" panose="02010609060101010101" pitchFamily="49" charset="-122"/>
              </a:rPr>
              <a:t>移位 </a:t>
            </a:r>
            <a:r>
              <a:rPr lang="en-US" altLang="zh-CN" sz="1800">
                <a:ea typeface="黑体" panose="02010609060101010101" pitchFamily="49" charset="-122"/>
              </a:rPr>
              <a:t>/ </a:t>
            </a:r>
            <a:r>
              <a:rPr lang="zh-CN" altLang="en-US" sz="1800">
                <a:ea typeface="黑体" panose="02010609060101010101" pitchFamily="49" charset="-122"/>
              </a:rPr>
              <a:t>字符串 </a:t>
            </a:r>
            <a:r>
              <a:rPr lang="en-US" altLang="zh-CN" sz="1800">
                <a:ea typeface="黑体" panose="02010609060101010101" pitchFamily="49" charset="-122"/>
              </a:rPr>
              <a:t>/ </a:t>
            </a:r>
            <a:r>
              <a:rPr lang="zh-CN" altLang="en-US" sz="1800">
                <a:ea typeface="黑体" panose="02010609060101010101" pitchFamily="49" charset="-122"/>
              </a:rPr>
              <a:t>转移控制 </a:t>
            </a:r>
            <a:r>
              <a:rPr lang="en-US" altLang="zh-CN" sz="1800">
                <a:ea typeface="黑体" panose="02010609060101010101" pitchFamily="49" charset="-122"/>
              </a:rPr>
              <a:t>/ </a:t>
            </a:r>
            <a:r>
              <a:rPr lang="zh-CN" altLang="en-US" sz="1800">
                <a:ea typeface="黑体" panose="02010609060101010101" pitchFamily="49" charset="-122"/>
              </a:rPr>
              <a:t>调用 </a:t>
            </a:r>
            <a:r>
              <a:rPr lang="en-US" altLang="zh-CN" sz="1800">
                <a:ea typeface="黑体" panose="02010609060101010101" pitchFamily="49" charset="-122"/>
              </a:rPr>
              <a:t>/ </a:t>
            </a:r>
            <a:r>
              <a:rPr lang="zh-CN" altLang="en-US" sz="1800">
                <a:ea typeface="黑体" panose="02010609060101010101" pitchFamily="49" charset="-122"/>
              </a:rPr>
              <a:t>中断 </a:t>
            </a:r>
            <a:r>
              <a:rPr lang="en-US" altLang="zh-CN" sz="1800">
                <a:ea typeface="黑体" panose="02010609060101010101" pitchFamily="49" charset="-122"/>
              </a:rPr>
              <a:t>/ </a:t>
            </a:r>
            <a:r>
              <a:rPr lang="zh-CN" altLang="en-US" sz="1800">
                <a:ea typeface="黑体" panose="02010609060101010101" pitchFamily="49" charset="-122"/>
              </a:rPr>
              <a:t>信号同步</a:t>
            </a:r>
          </a:p>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操作数类型</a:t>
            </a:r>
          </a:p>
          <a:p>
            <a:pPr lvl="1" eaLnBrk="0" hangingPunct="0">
              <a:lnSpc>
                <a:spcPct val="105000"/>
              </a:lnSpc>
              <a:spcBef>
                <a:spcPct val="5000"/>
              </a:spcBef>
              <a:buFontTx/>
              <a:buChar char="–"/>
            </a:pPr>
            <a:r>
              <a:rPr lang="zh-CN" altLang="en-US" sz="1800">
                <a:ea typeface="黑体" panose="02010609060101010101" pitchFamily="49" charset="-122"/>
              </a:rPr>
              <a:t>整数（带符号、无符号、十进制）、浮点数、位、位串</a:t>
            </a:r>
          </a:p>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地址码的编码要考虑：</a:t>
            </a:r>
          </a:p>
          <a:p>
            <a:pPr lvl="1" eaLnBrk="0" hangingPunct="0">
              <a:lnSpc>
                <a:spcPct val="105000"/>
              </a:lnSpc>
              <a:spcBef>
                <a:spcPct val="5000"/>
              </a:spcBef>
              <a:buFontTx/>
              <a:buChar char="–"/>
            </a:pPr>
            <a:r>
              <a:rPr lang="zh-CN" altLang="en-US" sz="1800">
                <a:ea typeface="黑体" panose="02010609060101010101" pitchFamily="49" charset="-122"/>
              </a:rPr>
              <a:t>操作数的个数</a:t>
            </a:r>
          </a:p>
          <a:p>
            <a:pPr lvl="1" eaLnBrk="0" hangingPunct="0">
              <a:lnSpc>
                <a:spcPct val="105000"/>
              </a:lnSpc>
              <a:spcBef>
                <a:spcPct val="5000"/>
              </a:spcBef>
              <a:buFontTx/>
              <a:buChar char="–"/>
            </a:pPr>
            <a:r>
              <a:rPr lang="zh-CN" altLang="en-US" sz="1800">
                <a:ea typeface="黑体" panose="02010609060101010101" pitchFamily="49" charset="-122"/>
              </a:rPr>
              <a:t>寻址方式：立即 </a:t>
            </a:r>
            <a:r>
              <a:rPr lang="en-US" altLang="zh-CN" sz="1800">
                <a:ea typeface="黑体" panose="02010609060101010101" pitchFamily="49" charset="-122"/>
              </a:rPr>
              <a:t>/ </a:t>
            </a:r>
            <a:r>
              <a:rPr lang="zh-CN" altLang="en-US" sz="1800">
                <a:ea typeface="黑体" panose="02010609060101010101" pitchFamily="49" charset="-122"/>
              </a:rPr>
              <a:t>寄存器 </a:t>
            </a:r>
            <a:r>
              <a:rPr lang="en-US" altLang="zh-CN" sz="1800">
                <a:ea typeface="黑体" panose="02010609060101010101" pitchFamily="49" charset="-122"/>
              </a:rPr>
              <a:t>/ </a:t>
            </a:r>
            <a:r>
              <a:rPr lang="zh-CN" altLang="en-US" sz="1800">
                <a:ea typeface="黑体" panose="02010609060101010101" pitchFamily="49" charset="-122"/>
              </a:rPr>
              <a:t>寄间 </a:t>
            </a:r>
            <a:r>
              <a:rPr lang="en-US" altLang="zh-CN" sz="1800">
                <a:ea typeface="黑体" panose="02010609060101010101" pitchFamily="49" charset="-122"/>
              </a:rPr>
              <a:t>/ </a:t>
            </a:r>
            <a:r>
              <a:rPr lang="zh-CN" altLang="en-US" sz="1800">
                <a:ea typeface="黑体" panose="02010609060101010101" pitchFamily="49" charset="-122"/>
              </a:rPr>
              <a:t>直接 </a:t>
            </a:r>
            <a:r>
              <a:rPr lang="en-US" altLang="zh-CN" sz="1800">
                <a:ea typeface="黑体" panose="02010609060101010101" pitchFamily="49" charset="-122"/>
              </a:rPr>
              <a:t>/ </a:t>
            </a:r>
            <a:r>
              <a:rPr lang="zh-CN" altLang="en-US" sz="1800">
                <a:ea typeface="黑体" panose="02010609060101010101" pitchFamily="49" charset="-122"/>
              </a:rPr>
              <a:t>间接 </a:t>
            </a:r>
            <a:r>
              <a:rPr lang="en-US" altLang="zh-CN" sz="1800">
                <a:ea typeface="黑体" panose="02010609060101010101" pitchFamily="49" charset="-122"/>
              </a:rPr>
              <a:t>/ </a:t>
            </a:r>
            <a:r>
              <a:rPr lang="zh-CN" altLang="en-US" sz="1800">
                <a:ea typeface="黑体" panose="02010609060101010101" pitchFamily="49" charset="-122"/>
              </a:rPr>
              <a:t>相对 </a:t>
            </a:r>
            <a:r>
              <a:rPr lang="en-US" altLang="zh-CN" sz="1800">
                <a:ea typeface="黑体" panose="02010609060101010101" pitchFamily="49" charset="-122"/>
              </a:rPr>
              <a:t>/ </a:t>
            </a:r>
            <a:r>
              <a:rPr lang="zh-CN" altLang="en-US" sz="1800">
                <a:ea typeface="黑体" panose="02010609060101010101" pitchFamily="49" charset="-122"/>
              </a:rPr>
              <a:t>基址 </a:t>
            </a:r>
            <a:r>
              <a:rPr lang="en-US" altLang="zh-CN" sz="1800">
                <a:ea typeface="黑体" panose="02010609060101010101" pitchFamily="49" charset="-122"/>
              </a:rPr>
              <a:t>/ </a:t>
            </a:r>
            <a:r>
              <a:rPr lang="zh-CN" altLang="en-US" sz="1800">
                <a:ea typeface="黑体" panose="02010609060101010101" pitchFamily="49" charset="-122"/>
              </a:rPr>
              <a:t>变址 </a:t>
            </a:r>
            <a:r>
              <a:rPr lang="en-US" altLang="zh-CN" sz="1800">
                <a:ea typeface="黑体" panose="02010609060101010101" pitchFamily="49" charset="-122"/>
              </a:rPr>
              <a:t>/ </a:t>
            </a:r>
            <a:r>
              <a:rPr lang="zh-CN" altLang="en-US" sz="1800">
                <a:ea typeface="黑体" panose="02010609060101010101" pitchFamily="49" charset="-122"/>
              </a:rPr>
              <a:t>堆栈</a:t>
            </a:r>
          </a:p>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操作码的编码要考虑：</a:t>
            </a:r>
          </a:p>
          <a:p>
            <a:pPr lvl="1" eaLnBrk="0" hangingPunct="0">
              <a:lnSpc>
                <a:spcPct val="105000"/>
              </a:lnSpc>
              <a:spcBef>
                <a:spcPct val="5000"/>
              </a:spcBef>
              <a:buFontTx/>
              <a:buChar char="–"/>
            </a:pPr>
            <a:r>
              <a:rPr lang="zh-CN" altLang="en-US" sz="1800">
                <a:ea typeface="黑体" panose="02010609060101010101" pitchFamily="49" charset="-122"/>
              </a:rPr>
              <a:t>定长操作码 </a:t>
            </a:r>
            <a:r>
              <a:rPr lang="en-US" altLang="zh-CN" sz="1800">
                <a:ea typeface="黑体" panose="02010609060101010101" pitchFamily="49" charset="-122"/>
              </a:rPr>
              <a:t>/ </a:t>
            </a:r>
            <a:r>
              <a:rPr lang="zh-CN" altLang="en-US" sz="1800">
                <a:ea typeface="黑体" panose="02010609060101010101" pitchFamily="49" charset="-122"/>
              </a:rPr>
              <a:t>扩展操作码</a:t>
            </a:r>
          </a:p>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条件码的生成</a:t>
            </a:r>
          </a:p>
          <a:p>
            <a:pPr lvl="1" eaLnBrk="0" hangingPunct="0">
              <a:lnSpc>
                <a:spcPct val="105000"/>
              </a:lnSpc>
              <a:spcBef>
                <a:spcPct val="5000"/>
              </a:spcBef>
              <a:buFontTx/>
              <a:buChar char="–"/>
            </a:pPr>
            <a:r>
              <a:rPr lang="zh-CN" altLang="en-US" sz="1800">
                <a:ea typeface="黑体" panose="02010609060101010101" pitchFamily="49" charset="-122"/>
              </a:rPr>
              <a:t>四种基本标志：</a:t>
            </a:r>
            <a:r>
              <a:rPr lang="en-US" altLang="zh-CN" sz="1800">
                <a:ea typeface="黑体" panose="02010609060101010101" pitchFamily="49" charset="-122"/>
              </a:rPr>
              <a:t>NF</a:t>
            </a:r>
            <a:r>
              <a:rPr lang="zh-CN" altLang="en-US" sz="1800">
                <a:ea typeface="黑体" panose="02010609060101010101" pitchFamily="49" charset="-122"/>
              </a:rPr>
              <a:t>（</a:t>
            </a:r>
            <a:r>
              <a:rPr lang="en-US" altLang="zh-CN" sz="1800">
                <a:ea typeface="黑体" panose="02010609060101010101" pitchFamily="49" charset="-122"/>
              </a:rPr>
              <a:t>SF</a:t>
            </a:r>
            <a:r>
              <a:rPr lang="zh-CN" altLang="en-US" sz="1800">
                <a:ea typeface="黑体" panose="02010609060101010101" pitchFamily="49" charset="-122"/>
              </a:rPr>
              <a:t>） </a:t>
            </a:r>
            <a:r>
              <a:rPr lang="en-US" altLang="zh-CN" sz="1800">
                <a:ea typeface="黑体" panose="02010609060101010101" pitchFamily="49" charset="-122"/>
              </a:rPr>
              <a:t>/  VF</a:t>
            </a:r>
            <a:r>
              <a:rPr lang="zh-CN" altLang="en-US" sz="1800">
                <a:ea typeface="黑体" panose="02010609060101010101" pitchFamily="49" charset="-122"/>
              </a:rPr>
              <a:t>（</a:t>
            </a:r>
            <a:r>
              <a:rPr lang="en-US" altLang="zh-CN" sz="1800">
                <a:ea typeface="黑体" panose="02010609060101010101" pitchFamily="49" charset="-122"/>
              </a:rPr>
              <a:t>OF</a:t>
            </a:r>
            <a:r>
              <a:rPr lang="zh-CN" altLang="en-US" sz="1800">
                <a:ea typeface="黑体" panose="02010609060101010101" pitchFamily="49" charset="-122"/>
              </a:rPr>
              <a:t>） </a:t>
            </a:r>
            <a:r>
              <a:rPr lang="en-US" altLang="zh-CN" sz="1800">
                <a:ea typeface="黑体" panose="02010609060101010101" pitchFamily="49" charset="-122"/>
              </a:rPr>
              <a:t>/  CF  /  ZF</a:t>
            </a:r>
          </a:p>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指令设计风格：</a:t>
            </a:r>
          </a:p>
          <a:p>
            <a:pPr lvl="1" eaLnBrk="0" hangingPunct="0">
              <a:lnSpc>
                <a:spcPct val="105000"/>
              </a:lnSpc>
              <a:spcBef>
                <a:spcPct val="5000"/>
              </a:spcBef>
              <a:buFontTx/>
              <a:buChar char="–"/>
            </a:pPr>
            <a:r>
              <a:rPr lang="zh-CN" altLang="en-US" sz="1800">
                <a:ea typeface="黑体" panose="02010609060101010101" pitchFamily="49" charset="-122"/>
              </a:rPr>
              <a:t>按操作数地址指定方式来分：</a:t>
            </a:r>
          </a:p>
          <a:p>
            <a:pPr lvl="2" eaLnBrk="0" hangingPunct="0">
              <a:lnSpc>
                <a:spcPct val="105000"/>
              </a:lnSpc>
              <a:spcBef>
                <a:spcPct val="5000"/>
              </a:spcBef>
              <a:buFontTx/>
              <a:buChar char="»"/>
            </a:pPr>
            <a:r>
              <a:rPr lang="zh-CN" altLang="en-US" sz="1800">
                <a:solidFill>
                  <a:srgbClr val="A50021"/>
                </a:solidFill>
                <a:ea typeface="黑体" panose="02010609060101010101" pitchFamily="49" charset="-122"/>
              </a:rPr>
              <a:t>累加器型 、通用寄存器型、</a:t>
            </a:r>
            <a:r>
              <a:rPr lang="en-US" altLang="zh-CN" sz="1800">
                <a:solidFill>
                  <a:srgbClr val="A50021"/>
                </a:solidFill>
                <a:ea typeface="黑体" panose="02010609060101010101" pitchFamily="49" charset="-122"/>
              </a:rPr>
              <a:t>load/store</a:t>
            </a:r>
            <a:r>
              <a:rPr lang="zh-CN" altLang="en-US" sz="1800">
                <a:solidFill>
                  <a:srgbClr val="A50021"/>
                </a:solidFill>
                <a:ea typeface="黑体" panose="02010609060101010101" pitchFamily="49" charset="-122"/>
              </a:rPr>
              <a:t>型、栈型 </a:t>
            </a:r>
          </a:p>
          <a:p>
            <a:pPr lvl="1" eaLnBrk="0" hangingPunct="0">
              <a:lnSpc>
                <a:spcPct val="105000"/>
              </a:lnSpc>
              <a:spcBef>
                <a:spcPct val="5000"/>
              </a:spcBef>
              <a:buFontTx/>
              <a:buChar char="–"/>
            </a:pPr>
            <a:r>
              <a:rPr lang="zh-CN" altLang="en-US" sz="1800">
                <a:ea typeface="黑体" panose="02010609060101010101" pitchFamily="49" charset="-122"/>
              </a:rPr>
              <a:t>按指令格式的复杂度来分</a:t>
            </a:r>
          </a:p>
          <a:p>
            <a:pPr lvl="2" eaLnBrk="0" hangingPunct="0">
              <a:lnSpc>
                <a:spcPct val="105000"/>
              </a:lnSpc>
              <a:spcBef>
                <a:spcPct val="5000"/>
              </a:spcBef>
              <a:buFontTx/>
              <a:buChar char="»"/>
            </a:pPr>
            <a:r>
              <a:rPr lang="zh-CN" altLang="en-US" sz="1800">
                <a:solidFill>
                  <a:srgbClr val="A50021"/>
                </a:solidFill>
                <a:ea typeface="黑体" panose="02010609060101010101" pitchFamily="49" charset="-122"/>
              </a:rPr>
              <a:t>复杂指令集计算机</a:t>
            </a:r>
            <a:r>
              <a:rPr lang="en-US" altLang="zh-CN" sz="1800">
                <a:solidFill>
                  <a:srgbClr val="A50021"/>
                </a:solidFill>
                <a:ea typeface="黑体" panose="02010609060101010101" pitchFamily="49" charset="-122"/>
              </a:rPr>
              <a:t>CISC</a:t>
            </a:r>
            <a:r>
              <a:rPr lang="zh-CN" altLang="en-US" sz="1800">
                <a:solidFill>
                  <a:srgbClr val="A50021"/>
                </a:solidFill>
                <a:ea typeface="黑体" panose="02010609060101010101" pitchFamily="49" charset="-122"/>
              </a:rPr>
              <a:t>、精简指令集计算机</a:t>
            </a:r>
            <a:r>
              <a:rPr lang="en-US" altLang="zh-CN" sz="1800">
                <a:solidFill>
                  <a:srgbClr val="A50021"/>
                </a:solidFill>
                <a:ea typeface="黑体" panose="02010609060101010101" pitchFamily="49" charset="-122"/>
              </a:rPr>
              <a:t>RISC</a:t>
            </a:r>
          </a:p>
          <a:p>
            <a:pPr eaLnBrk="0" hangingPunct="0">
              <a:lnSpc>
                <a:spcPct val="105000"/>
              </a:lnSpc>
              <a:spcBef>
                <a:spcPct val="5000"/>
              </a:spcBef>
              <a:buSzPct val="75000"/>
              <a:buFont typeface="Wingdings" panose="05000000000000000000" pitchFamily="2" charset="2"/>
              <a:buChar char="u"/>
            </a:pPr>
            <a:r>
              <a:rPr lang="zh-CN" altLang="en-US" sz="1800">
                <a:solidFill>
                  <a:schemeClr val="tx1"/>
                </a:solidFill>
                <a:ea typeface="黑体" panose="02010609060101010101" pitchFamily="49" charset="-122"/>
              </a:rPr>
              <a:t>典型指令系统举例</a:t>
            </a:r>
          </a:p>
          <a:p>
            <a:pPr lvl="1" eaLnBrk="0" hangingPunct="0">
              <a:lnSpc>
                <a:spcPct val="105000"/>
              </a:lnSpc>
              <a:spcBef>
                <a:spcPct val="5000"/>
              </a:spcBef>
              <a:buFontTx/>
              <a:buChar char="–"/>
            </a:pPr>
            <a:r>
              <a:rPr lang="en-US" altLang="zh-CN" sz="1800">
                <a:ea typeface="黑体" panose="02010609060101010101" pitchFamily="49" charset="-122"/>
              </a:rPr>
              <a:t>MIPS / IA-32 / MMX</a:t>
            </a:r>
          </a:p>
          <a:p>
            <a:pPr lvl="1" eaLnBrk="0" hangingPunct="0">
              <a:lnSpc>
                <a:spcPct val="105000"/>
              </a:lnSpc>
              <a:spcBef>
                <a:spcPct val="5000"/>
              </a:spcBef>
            </a:pPr>
            <a:r>
              <a:rPr lang="zh-CN" altLang="en-US" sz="1800">
                <a:ea typeface="黑体" panose="02010609060101010101" pitchFamily="49" charset="-122"/>
              </a:rPr>
              <a:t>    </a:t>
            </a:r>
            <a:r>
              <a:rPr lang="zh-CN" altLang="en-US" sz="1800">
                <a:solidFill>
                  <a:srgbClr val="EE3900"/>
                </a:solidFill>
                <a:ea typeface="黑体" panose="02010609060101010101" pitchFamily="49" charset="-122"/>
              </a:rPr>
              <a:t>以下将详细介绍</a:t>
            </a:r>
            <a:r>
              <a:rPr lang="en-US" altLang="zh-CN" sz="1800">
                <a:solidFill>
                  <a:srgbClr val="EE3900"/>
                </a:solidFill>
                <a:ea typeface="黑体" panose="02010609060101010101" pitchFamily="49" charset="-122"/>
              </a:rPr>
              <a:t>RISC-V</a:t>
            </a:r>
            <a:r>
              <a:rPr lang="zh-CN" altLang="en-US" sz="1800">
                <a:solidFill>
                  <a:srgbClr val="EE3900"/>
                </a:solidFill>
                <a:ea typeface="黑体" panose="02010609060101010101" pitchFamily="49" charset="-122"/>
              </a:rPr>
              <a:t>指令系统</a:t>
            </a:r>
            <a:endParaRPr lang="en-US" altLang="zh-CN" sz="1800">
              <a:solidFill>
                <a:srgbClr val="EE3900"/>
              </a:solidFill>
              <a:ea typeface="黑体" panose="02010609060101010101" pitchFamily="49" charset="-122"/>
            </a:endParaRPr>
          </a:p>
        </p:txBody>
      </p:sp>
      <p:sp>
        <p:nvSpPr>
          <p:cNvPr id="65539" name="Text Box 4">
            <a:extLst>
              <a:ext uri="{FF2B5EF4-FFF2-40B4-BE49-F238E27FC236}">
                <a16:creationId xmlns:a16="http://schemas.microsoft.com/office/drawing/2014/main" id="{0AB5119A-CBE8-A3B0-573E-3A475B0249AB}"/>
              </a:ext>
            </a:extLst>
          </p:cNvPr>
          <p:cNvSpPr txBox="1">
            <a:spLocks noChangeArrowheads="1"/>
          </p:cNvSpPr>
          <p:nvPr/>
        </p:nvSpPr>
        <p:spPr bwMode="auto">
          <a:xfrm>
            <a:off x="3705225" y="6267450"/>
            <a:ext cx="339090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blinds(horizontal)">
                                      <p:cBhvr>
                                        <p:cTn id="7" dur="500"/>
                                        <p:tgtEl>
                                          <p:spTgt spid="423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Effect transition="in" filter="blinds(horizontal)">
                                      <p:cBhvr>
                                        <p:cTn id="12" dur="500"/>
                                        <p:tgtEl>
                                          <p:spTgt spid="4239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Effect transition="in" filter="blinds(horizontal)">
                                      <p:cBhvr>
                                        <p:cTn id="17" dur="500"/>
                                        <p:tgtEl>
                                          <p:spTgt spid="4239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23939">
                                            <p:txEl>
                                              <p:pRg st="3" end="3"/>
                                            </p:txEl>
                                          </p:spTgt>
                                        </p:tgtEl>
                                        <p:attrNameLst>
                                          <p:attrName>style.visibility</p:attrName>
                                        </p:attrNameLst>
                                      </p:cBhvr>
                                      <p:to>
                                        <p:strVal val="visible"/>
                                      </p:to>
                                    </p:set>
                                    <p:animEffect transition="in" filter="blinds(horizontal)">
                                      <p:cBhvr>
                                        <p:cTn id="22" dur="500"/>
                                        <p:tgtEl>
                                          <p:spTgt spid="4239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23939">
                                            <p:txEl>
                                              <p:pRg st="4" end="4"/>
                                            </p:txEl>
                                          </p:spTgt>
                                        </p:tgtEl>
                                        <p:attrNameLst>
                                          <p:attrName>style.visibility</p:attrName>
                                        </p:attrNameLst>
                                      </p:cBhvr>
                                      <p:to>
                                        <p:strVal val="visible"/>
                                      </p:to>
                                    </p:set>
                                    <p:animEffect transition="in" filter="blinds(horizontal)">
                                      <p:cBhvr>
                                        <p:cTn id="27" dur="500"/>
                                        <p:tgtEl>
                                          <p:spTgt spid="4239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23939">
                                            <p:txEl>
                                              <p:pRg st="5" end="5"/>
                                            </p:txEl>
                                          </p:spTgt>
                                        </p:tgtEl>
                                        <p:attrNameLst>
                                          <p:attrName>style.visibility</p:attrName>
                                        </p:attrNameLst>
                                      </p:cBhvr>
                                      <p:to>
                                        <p:strVal val="visible"/>
                                      </p:to>
                                    </p:set>
                                    <p:animEffect transition="in" filter="blinds(horizontal)">
                                      <p:cBhvr>
                                        <p:cTn id="32" dur="500"/>
                                        <p:tgtEl>
                                          <p:spTgt spid="4239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23939">
                                            <p:txEl>
                                              <p:pRg st="6" end="6"/>
                                            </p:txEl>
                                          </p:spTgt>
                                        </p:tgtEl>
                                        <p:attrNameLst>
                                          <p:attrName>style.visibility</p:attrName>
                                        </p:attrNameLst>
                                      </p:cBhvr>
                                      <p:to>
                                        <p:strVal val="visible"/>
                                      </p:to>
                                    </p:set>
                                    <p:animEffect transition="in" filter="blinds(horizontal)">
                                      <p:cBhvr>
                                        <p:cTn id="37" dur="500"/>
                                        <p:tgtEl>
                                          <p:spTgt spid="4239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23939">
                                            <p:txEl>
                                              <p:pRg st="7" end="7"/>
                                            </p:txEl>
                                          </p:spTgt>
                                        </p:tgtEl>
                                        <p:attrNameLst>
                                          <p:attrName>style.visibility</p:attrName>
                                        </p:attrNameLst>
                                      </p:cBhvr>
                                      <p:to>
                                        <p:strVal val="visible"/>
                                      </p:to>
                                    </p:set>
                                    <p:animEffect transition="in" filter="blinds(horizontal)">
                                      <p:cBhvr>
                                        <p:cTn id="42" dur="500"/>
                                        <p:tgtEl>
                                          <p:spTgt spid="42393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23939">
                                            <p:txEl>
                                              <p:pRg st="8" end="8"/>
                                            </p:txEl>
                                          </p:spTgt>
                                        </p:tgtEl>
                                        <p:attrNameLst>
                                          <p:attrName>style.visibility</p:attrName>
                                        </p:attrNameLst>
                                      </p:cBhvr>
                                      <p:to>
                                        <p:strVal val="visible"/>
                                      </p:to>
                                    </p:set>
                                    <p:animEffect transition="in" filter="blinds(horizontal)">
                                      <p:cBhvr>
                                        <p:cTn id="47" dur="500"/>
                                        <p:tgtEl>
                                          <p:spTgt spid="42393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23939">
                                            <p:txEl>
                                              <p:pRg st="9" end="9"/>
                                            </p:txEl>
                                          </p:spTgt>
                                        </p:tgtEl>
                                        <p:attrNameLst>
                                          <p:attrName>style.visibility</p:attrName>
                                        </p:attrNameLst>
                                      </p:cBhvr>
                                      <p:to>
                                        <p:strVal val="visible"/>
                                      </p:to>
                                    </p:set>
                                    <p:animEffect transition="in" filter="blinds(horizontal)">
                                      <p:cBhvr>
                                        <p:cTn id="52" dur="500"/>
                                        <p:tgtEl>
                                          <p:spTgt spid="423939">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423939">
                                            <p:txEl>
                                              <p:pRg st="10" end="10"/>
                                            </p:txEl>
                                          </p:spTgt>
                                        </p:tgtEl>
                                        <p:attrNameLst>
                                          <p:attrName>style.visibility</p:attrName>
                                        </p:attrNameLst>
                                      </p:cBhvr>
                                      <p:to>
                                        <p:strVal val="visible"/>
                                      </p:to>
                                    </p:set>
                                    <p:animEffect transition="in" filter="blinds(horizontal)">
                                      <p:cBhvr>
                                        <p:cTn id="57" dur="500"/>
                                        <p:tgtEl>
                                          <p:spTgt spid="423939">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423939">
                                            <p:txEl>
                                              <p:pRg st="11" end="11"/>
                                            </p:txEl>
                                          </p:spTgt>
                                        </p:tgtEl>
                                        <p:attrNameLst>
                                          <p:attrName>style.visibility</p:attrName>
                                        </p:attrNameLst>
                                      </p:cBhvr>
                                      <p:to>
                                        <p:strVal val="visible"/>
                                      </p:to>
                                    </p:set>
                                    <p:animEffect transition="in" filter="blinds(horizontal)">
                                      <p:cBhvr>
                                        <p:cTn id="62" dur="500"/>
                                        <p:tgtEl>
                                          <p:spTgt spid="423939">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423939">
                                            <p:txEl>
                                              <p:pRg st="12" end="12"/>
                                            </p:txEl>
                                          </p:spTgt>
                                        </p:tgtEl>
                                        <p:attrNameLst>
                                          <p:attrName>style.visibility</p:attrName>
                                        </p:attrNameLst>
                                      </p:cBhvr>
                                      <p:to>
                                        <p:strVal val="visible"/>
                                      </p:to>
                                    </p:set>
                                    <p:animEffect transition="in" filter="blinds(horizontal)">
                                      <p:cBhvr>
                                        <p:cTn id="67" dur="500"/>
                                        <p:tgtEl>
                                          <p:spTgt spid="423939">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423939">
                                            <p:txEl>
                                              <p:pRg st="13" end="13"/>
                                            </p:txEl>
                                          </p:spTgt>
                                        </p:tgtEl>
                                        <p:attrNameLst>
                                          <p:attrName>style.visibility</p:attrName>
                                        </p:attrNameLst>
                                      </p:cBhvr>
                                      <p:to>
                                        <p:strVal val="visible"/>
                                      </p:to>
                                    </p:set>
                                    <p:animEffect transition="in" filter="blinds(horizontal)">
                                      <p:cBhvr>
                                        <p:cTn id="72" dur="500"/>
                                        <p:tgtEl>
                                          <p:spTgt spid="423939">
                                            <p:txEl>
                                              <p:pRg st="13" end="1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423939">
                                            <p:txEl>
                                              <p:pRg st="14" end="14"/>
                                            </p:txEl>
                                          </p:spTgt>
                                        </p:tgtEl>
                                        <p:attrNameLst>
                                          <p:attrName>style.visibility</p:attrName>
                                        </p:attrNameLst>
                                      </p:cBhvr>
                                      <p:to>
                                        <p:strVal val="visible"/>
                                      </p:to>
                                    </p:set>
                                    <p:animEffect transition="in" filter="blinds(horizontal)">
                                      <p:cBhvr>
                                        <p:cTn id="77" dur="500"/>
                                        <p:tgtEl>
                                          <p:spTgt spid="423939">
                                            <p:txEl>
                                              <p:pRg st="14" end="1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423939">
                                            <p:txEl>
                                              <p:pRg st="15" end="15"/>
                                            </p:txEl>
                                          </p:spTgt>
                                        </p:tgtEl>
                                        <p:attrNameLst>
                                          <p:attrName>style.visibility</p:attrName>
                                        </p:attrNameLst>
                                      </p:cBhvr>
                                      <p:to>
                                        <p:strVal val="visible"/>
                                      </p:to>
                                    </p:set>
                                    <p:animEffect transition="in" filter="blinds(horizontal)">
                                      <p:cBhvr>
                                        <p:cTn id="82" dur="500"/>
                                        <p:tgtEl>
                                          <p:spTgt spid="423939">
                                            <p:txEl>
                                              <p:pRg st="15" end="15"/>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423939">
                                            <p:txEl>
                                              <p:pRg st="16" end="16"/>
                                            </p:txEl>
                                          </p:spTgt>
                                        </p:tgtEl>
                                        <p:attrNameLst>
                                          <p:attrName>style.visibility</p:attrName>
                                        </p:attrNameLst>
                                      </p:cBhvr>
                                      <p:to>
                                        <p:strVal val="visible"/>
                                      </p:to>
                                    </p:set>
                                    <p:animEffect transition="in" filter="blinds(horizontal)">
                                      <p:cBhvr>
                                        <p:cTn id="87" dur="500"/>
                                        <p:tgtEl>
                                          <p:spTgt spid="423939">
                                            <p:txEl>
                                              <p:pRg st="16" end="16"/>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423939">
                                            <p:txEl>
                                              <p:pRg st="17" end="17"/>
                                            </p:txEl>
                                          </p:spTgt>
                                        </p:tgtEl>
                                        <p:attrNameLst>
                                          <p:attrName>style.visibility</p:attrName>
                                        </p:attrNameLst>
                                      </p:cBhvr>
                                      <p:to>
                                        <p:strVal val="visible"/>
                                      </p:to>
                                    </p:set>
                                    <p:animEffect transition="in" filter="blinds(horizontal)">
                                      <p:cBhvr>
                                        <p:cTn id="92" dur="500"/>
                                        <p:tgtEl>
                                          <p:spTgt spid="423939">
                                            <p:txEl>
                                              <p:pRg st="17" end="17"/>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423939">
                                            <p:txEl>
                                              <p:pRg st="18" end="18"/>
                                            </p:txEl>
                                          </p:spTgt>
                                        </p:tgtEl>
                                        <p:attrNameLst>
                                          <p:attrName>style.visibility</p:attrName>
                                        </p:attrNameLst>
                                      </p:cBhvr>
                                      <p:to>
                                        <p:strVal val="visible"/>
                                      </p:to>
                                    </p:set>
                                    <p:animEffect transition="in" filter="blinds(horizontal)">
                                      <p:cBhvr>
                                        <p:cTn id="97" dur="500"/>
                                        <p:tgtEl>
                                          <p:spTgt spid="42393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8B75F583-9ACA-10A0-B3CF-1AD52BA66866}"/>
              </a:ext>
            </a:extLst>
          </p:cNvPr>
          <p:cNvSpPr>
            <a:spLocks noGrp="1" noChangeArrowheads="1"/>
          </p:cNvSpPr>
          <p:nvPr>
            <p:ph type="title"/>
          </p:nvPr>
        </p:nvSpPr>
        <p:spPr>
          <a:xfrm>
            <a:off x="711200" y="71438"/>
            <a:ext cx="7545388" cy="400050"/>
          </a:xfrm>
        </p:spPr>
        <p:txBody>
          <a:bodyPr/>
          <a:lstStyle/>
          <a:p>
            <a:pPr algn="ctr"/>
            <a:r>
              <a:rPr lang="zh-CN" altLang="en-US" sz="2600">
                <a:latin typeface="黑体" panose="02010609060101010101" pitchFamily="49" charset="-122"/>
                <a:ea typeface="黑体" panose="02010609060101010101" pitchFamily="49" charset="-122"/>
              </a:rPr>
              <a:t> 第二讲指令系统实例：</a:t>
            </a:r>
            <a:r>
              <a:rPr lang="en-US" altLang="zh-CN" sz="2600">
                <a:latin typeface="黑体" panose="02010609060101010101" pitchFamily="49" charset="-122"/>
                <a:ea typeface="黑体" panose="02010609060101010101" pitchFamily="49" charset="-122"/>
              </a:rPr>
              <a:t>RISC-V</a:t>
            </a:r>
            <a:endParaRPr lang="zh-CN" altLang="en-US" sz="2600">
              <a:latin typeface="黑体" panose="02010609060101010101" pitchFamily="49" charset="-122"/>
              <a:ea typeface="黑体" panose="02010609060101010101" pitchFamily="49" charset="-122"/>
            </a:endParaRPr>
          </a:p>
        </p:txBody>
      </p:sp>
      <p:sp>
        <p:nvSpPr>
          <p:cNvPr id="66562" name="Rectangle 3">
            <a:extLst>
              <a:ext uri="{FF2B5EF4-FFF2-40B4-BE49-F238E27FC236}">
                <a16:creationId xmlns:a16="http://schemas.microsoft.com/office/drawing/2014/main" id="{39947508-C523-0C27-DB56-298B3C614343}"/>
              </a:ext>
            </a:extLst>
          </p:cNvPr>
          <p:cNvSpPr>
            <a:spLocks noGrp="1" noChangeArrowheads="1"/>
          </p:cNvSpPr>
          <p:nvPr>
            <p:ph idx="1"/>
          </p:nvPr>
        </p:nvSpPr>
        <p:spPr>
          <a:xfrm>
            <a:off x="2043113" y="633413"/>
            <a:ext cx="5926137" cy="5919787"/>
          </a:xfrm>
        </p:spPr>
        <p:txBody>
          <a:bodyPr/>
          <a:lstStyle/>
          <a:p>
            <a:pPr algn="ctr">
              <a:lnSpc>
                <a:spcPct val="115000"/>
              </a:lnSpc>
              <a:spcBef>
                <a:spcPct val="15000"/>
              </a:spcBef>
              <a:buFont typeface="Wingdings" panose="05000000000000000000" pitchFamily="2" charset="2"/>
              <a:buNone/>
            </a:pPr>
            <a:r>
              <a:rPr lang="zh-CN" altLang="en-US" sz="2400">
                <a:solidFill>
                  <a:srgbClr val="EE3900"/>
                </a:solidFill>
              </a:rPr>
              <a:t>主要内容</a:t>
            </a:r>
            <a:endParaRPr lang="en-US" altLang="zh-CN" sz="2400">
              <a:solidFill>
                <a:srgbClr val="EE3900"/>
              </a:solidFill>
              <a:latin typeface="Arial" panose="020B0604020202020204" pitchFamily="34" charset="0"/>
            </a:endParaRPr>
          </a:p>
          <a:p>
            <a:pPr>
              <a:lnSpc>
                <a:spcPct val="150000"/>
              </a:lnSpc>
              <a:spcBef>
                <a:spcPct val="15000"/>
              </a:spcBef>
            </a:pPr>
            <a:r>
              <a:rPr lang="en-US" altLang="zh-CN" sz="1800">
                <a:latin typeface="Arial" panose="020B0604020202020204" pitchFamily="34" charset="0"/>
                <a:ea typeface="黑体" panose="02010609060101010101" pitchFamily="49" charset="-122"/>
              </a:rPr>
              <a:t>RISC-V</a:t>
            </a:r>
            <a:r>
              <a:rPr lang="zh-CN" altLang="en-US" sz="1800">
                <a:latin typeface="Arial" panose="020B0604020202020204" pitchFamily="34" charset="0"/>
                <a:ea typeface="黑体" panose="02010609060101010101" pitchFamily="49" charset="-122"/>
              </a:rPr>
              <a:t>指令系统概述</a:t>
            </a:r>
            <a:endParaRPr lang="zh-CN" altLang="en-US">
              <a:latin typeface="Arial" panose="020B0604020202020204" pitchFamily="34" charset="0"/>
              <a:ea typeface="黑体" panose="02010609060101010101" pitchFamily="49" charset="-122"/>
            </a:endParaRPr>
          </a:p>
          <a:p>
            <a:pPr>
              <a:lnSpc>
                <a:spcPct val="150000"/>
              </a:lnSpc>
              <a:spcBef>
                <a:spcPct val="15000"/>
              </a:spcBef>
            </a:pPr>
            <a:r>
              <a:rPr lang="en-US" altLang="zh-CN" sz="1800">
                <a:latin typeface="Arial" panose="020B0604020202020204" pitchFamily="34" charset="0"/>
                <a:ea typeface="黑体" panose="02010609060101010101" pitchFamily="49" charset="-122"/>
              </a:rPr>
              <a:t>RISC-V</a:t>
            </a:r>
            <a:r>
              <a:rPr lang="zh-CN" altLang="en-US" sz="1800">
                <a:latin typeface="Arial" panose="020B0604020202020204" pitchFamily="34" charset="0"/>
                <a:ea typeface="黑体" panose="02010609060101010101" pitchFamily="49" charset="-122"/>
              </a:rPr>
              <a:t>指令参考卡和指令格式</a:t>
            </a:r>
          </a:p>
          <a:p>
            <a:pPr>
              <a:lnSpc>
                <a:spcPct val="150000"/>
              </a:lnSpc>
              <a:spcBef>
                <a:spcPct val="15000"/>
              </a:spcBef>
            </a:pPr>
            <a:r>
              <a:rPr lang="en-US" altLang="zh-CN" sz="1800">
                <a:latin typeface="Arial" panose="020B0604020202020204" pitchFamily="34" charset="0"/>
                <a:ea typeface="黑体" panose="02010609060101010101" pitchFamily="49" charset="-122"/>
              </a:rPr>
              <a:t>RISC-V</a:t>
            </a:r>
            <a:r>
              <a:rPr lang="zh-CN" altLang="en-US" sz="1800">
                <a:latin typeface="Arial" panose="020B0604020202020204" pitchFamily="34" charset="0"/>
                <a:ea typeface="黑体" panose="02010609060101010101" pitchFamily="49" charset="-122"/>
              </a:rPr>
              <a:t>基础整数指令集</a:t>
            </a:r>
          </a:p>
          <a:p>
            <a:pPr lvl="1">
              <a:lnSpc>
                <a:spcPct val="150000"/>
              </a:lnSpc>
              <a:spcBef>
                <a:spcPct val="15000"/>
              </a:spcBef>
            </a:pPr>
            <a:r>
              <a:rPr lang="zh-CN" altLang="en-US">
                <a:latin typeface="Arial" panose="020B0604020202020204" pitchFamily="34" charset="0"/>
                <a:ea typeface="黑体" panose="02010609060101010101" pitchFamily="49" charset="-122"/>
              </a:rPr>
              <a:t>整数运算 </a:t>
            </a:r>
            <a:endParaRPr lang="en-US" altLang="zh-CN">
              <a:latin typeface="Arial" panose="020B0604020202020204" pitchFamily="34" charset="0"/>
              <a:ea typeface="黑体" panose="02010609060101010101" pitchFamily="49" charset="-122"/>
            </a:endParaRPr>
          </a:p>
          <a:p>
            <a:pPr lvl="1">
              <a:lnSpc>
                <a:spcPct val="150000"/>
              </a:lnSpc>
              <a:spcBef>
                <a:spcPct val="15000"/>
              </a:spcBef>
            </a:pPr>
            <a:r>
              <a:rPr lang="zh-CN" altLang="en-US">
                <a:latin typeface="Arial" panose="020B0604020202020204" pitchFamily="34" charset="0"/>
                <a:ea typeface="黑体" panose="02010609060101010101" pitchFamily="49" charset="-122"/>
              </a:rPr>
              <a:t>控制转移 </a:t>
            </a:r>
            <a:endParaRPr lang="en-US" altLang="zh-CN">
              <a:latin typeface="Arial" panose="020B0604020202020204" pitchFamily="34" charset="0"/>
              <a:ea typeface="黑体" panose="02010609060101010101" pitchFamily="49" charset="-122"/>
            </a:endParaRPr>
          </a:p>
          <a:p>
            <a:pPr lvl="1">
              <a:lnSpc>
                <a:spcPct val="150000"/>
              </a:lnSpc>
              <a:spcBef>
                <a:spcPct val="15000"/>
              </a:spcBef>
            </a:pPr>
            <a:r>
              <a:rPr lang="zh-CN" altLang="en-US">
                <a:latin typeface="Arial" panose="020B0604020202020204" pitchFamily="34" charset="0"/>
                <a:ea typeface="黑体" panose="02010609060101010101" pitchFamily="49" charset="-122"/>
              </a:rPr>
              <a:t>存储访问 </a:t>
            </a:r>
            <a:endParaRPr lang="en-US" altLang="zh-CN">
              <a:latin typeface="Arial" panose="020B0604020202020204" pitchFamily="34" charset="0"/>
              <a:ea typeface="黑体" panose="02010609060101010101" pitchFamily="49" charset="-122"/>
            </a:endParaRPr>
          </a:p>
          <a:p>
            <a:pPr lvl="1">
              <a:lnSpc>
                <a:spcPct val="150000"/>
              </a:lnSpc>
              <a:spcBef>
                <a:spcPct val="15000"/>
              </a:spcBef>
            </a:pPr>
            <a:r>
              <a:rPr lang="zh-CN" altLang="en-US">
                <a:latin typeface="Arial" panose="020B0604020202020204" pitchFamily="34" charset="0"/>
                <a:ea typeface="黑体" panose="02010609060101010101" pitchFamily="49" charset="-122"/>
              </a:rPr>
              <a:t>系统控制 </a:t>
            </a:r>
          </a:p>
          <a:p>
            <a:pPr>
              <a:lnSpc>
                <a:spcPct val="150000"/>
              </a:lnSpc>
              <a:spcBef>
                <a:spcPct val="15000"/>
              </a:spcBef>
            </a:pPr>
            <a:r>
              <a:rPr lang="en-US" altLang="zh-CN" sz="1800">
                <a:latin typeface="Arial" panose="020B0604020202020204" pitchFamily="34" charset="0"/>
                <a:ea typeface="黑体" panose="02010609060101010101" pitchFamily="49" charset="-122"/>
              </a:rPr>
              <a:t>RISC-V</a:t>
            </a:r>
            <a:r>
              <a:rPr lang="zh-CN" altLang="en-US" sz="1800">
                <a:latin typeface="Arial" panose="020B0604020202020204" pitchFamily="34" charset="0"/>
                <a:ea typeface="黑体" panose="02010609060101010101" pitchFamily="49" charset="-122"/>
              </a:rPr>
              <a:t>可选的扩展指令集</a:t>
            </a:r>
          </a:p>
          <a:p>
            <a:pPr lvl="1">
              <a:lnSpc>
                <a:spcPct val="150000"/>
              </a:lnSpc>
              <a:spcBef>
                <a:spcPct val="15000"/>
              </a:spcBef>
            </a:pPr>
            <a:r>
              <a:rPr lang="zh-CN" altLang="en-US">
                <a:latin typeface="Arial" panose="020B0604020202020204" pitchFamily="34" charset="0"/>
                <a:ea typeface="黑体" panose="02010609060101010101" pitchFamily="49" charset="-122"/>
              </a:rPr>
              <a:t>标准扩展指令集</a:t>
            </a:r>
            <a:r>
              <a:rPr lang="en-US" altLang="zh-CN">
                <a:latin typeface="Arial" panose="020B0604020202020204" pitchFamily="34" charset="0"/>
                <a:ea typeface="黑体" panose="02010609060101010101" pitchFamily="49" charset="-122"/>
              </a:rPr>
              <a:t> </a:t>
            </a:r>
          </a:p>
          <a:p>
            <a:pPr lvl="1">
              <a:lnSpc>
                <a:spcPct val="150000"/>
              </a:lnSpc>
              <a:spcBef>
                <a:spcPct val="15000"/>
              </a:spcBef>
            </a:pPr>
            <a:r>
              <a:rPr lang="zh-CN" altLang="en-US">
                <a:latin typeface="Arial" panose="020B0604020202020204" pitchFamily="34" charset="0"/>
                <a:ea typeface="黑体" panose="02010609060101010101" pitchFamily="49" charset="-122"/>
              </a:rPr>
              <a:t>压缩指令集 </a:t>
            </a:r>
            <a:endParaRPr lang="en-US" altLang="zh-CN">
              <a:latin typeface="Arial" panose="020B0604020202020204" pitchFamily="34" charset="0"/>
              <a:ea typeface="黑体" panose="02010609060101010101" pitchFamily="49" charset="-122"/>
            </a:endParaRPr>
          </a:p>
          <a:p>
            <a:pPr lvl="1">
              <a:lnSpc>
                <a:spcPct val="150000"/>
              </a:lnSpc>
              <a:spcBef>
                <a:spcPct val="15000"/>
              </a:spcBef>
            </a:pPr>
            <a:r>
              <a:rPr lang="zh-CN" altLang="en-US">
                <a:latin typeface="Arial" panose="020B0604020202020204" pitchFamily="34" charset="0"/>
                <a:ea typeface="黑体" panose="02010609060101010101" pitchFamily="49" charset="-122"/>
              </a:rPr>
              <a:t>向量处理指令集</a:t>
            </a:r>
            <a:endParaRPr lang="en-US" altLang="zh-CN">
              <a:latin typeface="Arial" panose="020B0604020202020204" pitchFamily="34" charset="0"/>
              <a:ea typeface="黑体" panose="02010609060101010101" pitchFamily="49" charset="-122"/>
            </a:endParaRPr>
          </a:p>
          <a:p>
            <a:pPr lvl="1">
              <a:lnSpc>
                <a:spcPct val="150000"/>
              </a:lnSpc>
              <a:spcBef>
                <a:spcPct val="15000"/>
              </a:spcBef>
            </a:pPr>
            <a:r>
              <a:rPr lang="zh-CN" altLang="en-US">
                <a:latin typeface="Arial" panose="020B0604020202020204" pitchFamily="34" charset="0"/>
                <a:ea typeface="黑体" panose="02010609060101010101" pitchFamily="49" charset="-122"/>
              </a:rPr>
              <a:t>未来可选扩展指令集</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CF56A515-FC5B-1B67-D758-A337C392D1B0}"/>
              </a:ext>
            </a:extLst>
          </p:cNvPr>
          <p:cNvSpPr>
            <a:spLocks noGrp="1" noChangeArrowheads="1"/>
          </p:cNvSpPr>
          <p:nvPr>
            <p:ph type="title"/>
          </p:nvPr>
        </p:nvSpPr>
        <p:spPr>
          <a:xfrm>
            <a:off x="668338" y="12858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指令系统概述</a:t>
            </a:r>
          </a:p>
        </p:txBody>
      </p:sp>
      <p:sp>
        <p:nvSpPr>
          <p:cNvPr id="68610" name="Rectangle 3">
            <a:extLst>
              <a:ext uri="{FF2B5EF4-FFF2-40B4-BE49-F238E27FC236}">
                <a16:creationId xmlns:a16="http://schemas.microsoft.com/office/drawing/2014/main" id="{3D90E12C-D4A3-BDA0-CEEC-F975BD6D0648}"/>
              </a:ext>
            </a:extLst>
          </p:cNvPr>
          <p:cNvSpPr>
            <a:spLocks noGrp="1" noChangeArrowheads="1"/>
          </p:cNvSpPr>
          <p:nvPr>
            <p:ph idx="1"/>
          </p:nvPr>
        </p:nvSpPr>
        <p:spPr>
          <a:xfrm>
            <a:off x="169863" y="889000"/>
            <a:ext cx="8974137" cy="5073650"/>
          </a:xfrm>
        </p:spPr>
        <p:txBody>
          <a:bodyPr/>
          <a:lstStyle/>
          <a:p>
            <a:pPr>
              <a:lnSpc>
                <a:spcPct val="105000"/>
              </a:lnSpc>
            </a:pPr>
            <a:r>
              <a:rPr lang="zh-CN" altLang="en-US">
                <a:latin typeface="Arial" panose="020B0604020202020204" pitchFamily="34" charset="0"/>
                <a:ea typeface="黑体" panose="02010609060101010101" pitchFamily="49" charset="-122"/>
              </a:rPr>
              <a:t>设计目标</a:t>
            </a:r>
          </a:p>
          <a:p>
            <a:pPr lvl="1">
              <a:lnSpc>
                <a:spcPct val="105000"/>
              </a:lnSpc>
            </a:pPr>
            <a:r>
              <a:rPr lang="zh-CN" altLang="en-US">
                <a:latin typeface="Arial" panose="020B0604020202020204" pitchFamily="34" charset="0"/>
                <a:ea typeface="黑体" panose="02010609060101010101" pitchFamily="49" charset="-122"/>
              </a:rPr>
              <a:t>广泛的适应性：从最袖珍的嵌入式微控制器，到最快的高性能计算机</a:t>
            </a:r>
            <a:endParaRPr lang="en-US" altLang="zh-CN">
              <a:latin typeface="Arial" panose="020B0604020202020204" pitchFamily="34" charset="0"/>
              <a:ea typeface="黑体" panose="02010609060101010101" pitchFamily="49" charset="-122"/>
            </a:endParaRPr>
          </a:p>
          <a:p>
            <a:pPr lvl="1">
              <a:lnSpc>
                <a:spcPct val="105000"/>
              </a:lnSpc>
            </a:pPr>
            <a:r>
              <a:rPr lang="zh-CN" altLang="en-US">
                <a:latin typeface="Arial" panose="020B0604020202020204" pitchFamily="34" charset="0"/>
                <a:ea typeface="黑体" panose="02010609060101010101" pitchFamily="49" charset="-122"/>
              </a:rPr>
              <a:t>支持各种异构处理架构，成为定制加速器的基础</a:t>
            </a:r>
            <a:endParaRPr lang="en-US" altLang="zh-CN">
              <a:latin typeface="Arial" panose="020B0604020202020204" pitchFamily="34" charset="0"/>
              <a:ea typeface="黑体" panose="02010609060101010101" pitchFamily="49" charset="-122"/>
            </a:endParaRPr>
          </a:p>
          <a:p>
            <a:pPr lvl="1">
              <a:lnSpc>
                <a:spcPct val="105000"/>
              </a:lnSpc>
            </a:pPr>
            <a:r>
              <a:rPr lang="zh-CN" altLang="en-US">
                <a:latin typeface="Arial" panose="020B0604020202020204" pitchFamily="34" charset="0"/>
                <a:ea typeface="黑体" panose="02010609060101010101" pitchFamily="49" charset="-122"/>
              </a:rPr>
              <a:t>稳定的基础指令集架构，并能灵活扩展，且扩展时不影响基础部分</a:t>
            </a:r>
            <a:endParaRPr lang="en-US" altLang="zh-CN">
              <a:latin typeface="Arial" panose="020B0604020202020204" pitchFamily="34" charset="0"/>
              <a:ea typeface="黑体" panose="02010609060101010101" pitchFamily="49" charset="-122"/>
            </a:endParaRPr>
          </a:p>
          <a:p>
            <a:pPr lvl="1">
              <a:lnSpc>
                <a:spcPct val="105000"/>
              </a:lnSpc>
            </a:pPr>
            <a:endParaRPr lang="zh-CN" altLang="en-US">
              <a:latin typeface="Arial" panose="020B0604020202020204" pitchFamily="34" charset="0"/>
              <a:ea typeface="黑体" panose="02010609060101010101" pitchFamily="49" charset="-122"/>
            </a:endParaRPr>
          </a:p>
          <a:p>
            <a:pPr>
              <a:lnSpc>
                <a:spcPct val="105000"/>
              </a:lnSpc>
            </a:pPr>
            <a:r>
              <a:rPr lang="zh-CN" altLang="en-US">
                <a:latin typeface="Arial" panose="020B0604020202020204" pitchFamily="34" charset="0"/>
                <a:ea typeface="黑体" panose="02010609060101010101" pitchFamily="49" charset="-122"/>
              </a:rPr>
              <a:t>开源理念和设计原则</a:t>
            </a:r>
            <a:endParaRPr lang="en-US" altLang="zh-CN">
              <a:latin typeface="Arial" panose="020B0604020202020204" pitchFamily="34" charset="0"/>
              <a:ea typeface="黑体" panose="02010609060101010101" pitchFamily="49" charset="-122"/>
            </a:endParaRPr>
          </a:p>
          <a:p>
            <a:pPr lvl="1">
              <a:lnSpc>
                <a:spcPct val="105000"/>
              </a:lnSpc>
            </a:pPr>
            <a:r>
              <a:rPr lang="zh-CN" altLang="en-US">
                <a:latin typeface="Arial" panose="020B0604020202020204" pitchFamily="34" charset="0"/>
                <a:ea typeface="黑体" panose="02010609060101010101" pitchFamily="49" charset="-122"/>
              </a:rPr>
              <a:t>本着“指令集应自由（</a:t>
            </a:r>
            <a:r>
              <a:rPr lang="en-US" altLang="zh-CN">
                <a:latin typeface="Arial" panose="020B0604020202020204" pitchFamily="34" charset="0"/>
                <a:ea typeface="黑体" panose="02010609060101010101" pitchFamily="49" charset="-122"/>
              </a:rPr>
              <a:t>Instruction Set Want to be Free</a:t>
            </a:r>
            <a:r>
              <a:rPr lang="zh-CN" altLang="en-US">
                <a:latin typeface="Arial" panose="020B0604020202020204" pitchFamily="34" charset="0"/>
                <a:ea typeface="黑体" panose="02010609060101010101" pitchFamily="49" charset="-122"/>
              </a:rPr>
              <a:t>）”的理念，指令集完全公开，且无需为指令集付费</a:t>
            </a:r>
            <a:endParaRPr lang="en-US" altLang="zh-CN">
              <a:latin typeface="Arial" panose="020B0604020202020204" pitchFamily="34" charset="0"/>
              <a:ea typeface="黑体" panose="02010609060101010101" pitchFamily="49" charset="-122"/>
            </a:endParaRPr>
          </a:p>
          <a:p>
            <a:pPr lvl="1">
              <a:lnSpc>
                <a:spcPct val="105000"/>
              </a:lnSpc>
            </a:pPr>
            <a:r>
              <a:rPr lang="zh-CN" altLang="en-US">
                <a:latin typeface="Arial" panose="020B0604020202020204" pitchFamily="34" charset="0"/>
                <a:ea typeface="黑体" panose="02010609060101010101" pitchFamily="49" charset="-122"/>
              </a:rPr>
              <a:t>由一个非盈利性质的基金会管理，以保持指令集的稳定性，并加快生态建设</a:t>
            </a:r>
            <a:endParaRPr lang="en-US" altLang="zh-CN">
              <a:latin typeface="Arial" panose="020B0604020202020204" pitchFamily="34" charset="0"/>
              <a:ea typeface="黑体" panose="02010609060101010101" pitchFamily="49" charset="-122"/>
            </a:endParaRPr>
          </a:p>
          <a:p>
            <a:pPr lvl="1">
              <a:lnSpc>
                <a:spcPct val="105000"/>
              </a:lnSpc>
            </a:pPr>
            <a:r>
              <a:rPr lang="zh-CN" altLang="en-US">
                <a:latin typeface="Arial" panose="020B0604020202020204" pitchFamily="34" charset="0"/>
                <a:ea typeface="黑体" panose="02010609060101010101" pitchFamily="49" charset="-122"/>
              </a:rPr>
              <a:t>与以前的增量</a:t>
            </a:r>
            <a:r>
              <a:rPr lang="en-US" altLang="zh-CN">
                <a:latin typeface="Arial" panose="020B0604020202020204" pitchFamily="34" charset="0"/>
                <a:ea typeface="黑体" panose="02010609060101010101" pitchFamily="49" charset="-122"/>
              </a:rPr>
              <a:t>ISA</a:t>
            </a:r>
            <a:r>
              <a:rPr lang="zh-CN" altLang="en-US">
                <a:latin typeface="Arial" panose="020B0604020202020204" pitchFamily="34" charset="0"/>
                <a:ea typeface="黑体" panose="02010609060101010101" pitchFamily="49" charset="-122"/>
              </a:rPr>
              <a:t>不同，遵循“大道至简”的设计哲学，采用模块化设计，既保持基础指令集的稳定，也保证扩展指令集的灵活配置</a:t>
            </a:r>
            <a:endParaRPr lang="en-US" altLang="zh-CN">
              <a:latin typeface="Arial" panose="020B0604020202020204" pitchFamily="34" charset="0"/>
              <a:ea typeface="黑体" panose="02010609060101010101" pitchFamily="49" charset="-122"/>
            </a:endParaRPr>
          </a:p>
          <a:p>
            <a:pPr lvl="1">
              <a:lnSpc>
                <a:spcPct val="105000"/>
              </a:lnSpc>
            </a:pPr>
            <a:r>
              <a:rPr lang="zh-CN" altLang="en-US">
                <a:solidFill>
                  <a:srgbClr val="FF0000"/>
                </a:solidFill>
                <a:latin typeface="Arial" panose="020B0604020202020204" pitchFamily="34" charset="0"/>
                <a:ea typeface="黑体" panose="02010609060101010101" pitchFamily="49" charset="-122"/>
              </a:rPr>
              <a:t>特点：具有模块化结构、稳定性和可扩展性好，在简洁性、实现成本、功耗、性能和程序代码量等各方面具有显著优势</a:t>
            </a:r>
            <a:endParaRPr lang="en-US" altLang="zh-CN">
              <a:solidFill>
                <a:srgbClr val="FF0000"/>
              </a:solidFill>
              <a:latin typeface="Arial" panose="020B0604020202020204" pitchFamily="34" charset="0"/>
              <a:ea typeface="黑体" panose="02010609060101010101" pitchFamily="49" charset="-122"/>
            </a:endParaRPr>
          </a:p>
          <a:p>
            <a:pPr lvl="1">
              <a:lnSpc>
                <a:spcPct val="110000"/>
              </a:lnSpc>
            </a:pPr>
            <a:endParaRPr lang="en-US" altLang="zh-CN">
              <a:latin typeface="Times New Roman" panose="02020603050405020304" pitchFamily="18" charset="0"/>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E6ED36BF-CAED-3CAB-9FC5-BAEE3A962780}"/>
              </a:ext>
            </a:extLst>
          </p:cNvPr>
          <p:cNvSpPr>
            <a:spLocks noGrp="1" noChangeArrowheads="1"/>
          </p:cNvSpPr>
          <p:nvPr>
            <p:ph type="title"/>
          </p:nvPr>
        </p:nvSpPr>
        <p:spPr>
          <a:xfrm>
            <a:off x="668338" y="128588"/>
            <a:ext cx="6556375" cy="693737"/>
          </a:xfrm>
        </p:spPr>
        <p:txBody>
          <a:bodyPr/>
          <a:lstStyle/>
          <a:p>
            <a:r>
              <a:rPr lang="en-US" altLang="zh-CN">
                <a:ea typeface="黑体" panose="02010609060101010101" pitchFamily="49" charset="-122"/>
              </a:rPr>
              <a:t>RISC-V</a:t>
            </a:r>
            <a:r>
              <a:rPr lang="zh-CN" altLang="en-US">
                <a:ea typeface="黑体" panose="02010609060101010101" pitchFamily="49" charset="-122"/>
              </a:rPr>
              <a:t>的模块化结构</a:t>
            </a:r>
            <a:br>
              <a:rPr lang="zh-CN" altLang="en-US">
                <a:ea typeface="黑体" panose="02010609060101010101" pitchFamily="49" charset="-122"/>
              </a:rPr>
            </a:br>
            <a:endParaRPr lang="zh-CN" altLang="en-US">
              <a:ea typeface="宋体" panose="02010600030101010101" pitchFamily="2" charset="-122"/>
            </a:endParaRPr>
          </a:p>
        </p:txBody>
      </p:sp>
      <p:sp>
        <p:nvSpPr>
          <p:cNvPr id="69634" name="Rectangle 3">
            <a:extLst>
              <a:ext uri="{FF2B5EF4-FFF2-40B4-BE49-F238E27FC236}">
                <a16:creationId xmlns:a16="http://schemas.microsoft.com/office/drawing/2014/main" id="{DEE9A3EB-35B4-FAD3-C3A3-86DE642C660A}"/>
              </a:ext>
            </a:extLst>
          </p:cNvPr>
          <p:cNvSpPr>
            <a:spLocks noGrp="1" noChangeArrowheads="1"/>
          </p:cNvSpPr>
          <p:nvPr>
            <p:ph idx="1"/>
          </p:nvPr>
        </p:nvSpPr>
        <p:spPr>
          <a:xfrm>
            <a:off x="169863" y="749300"/>
            <a:ext cx="8974137" cy="3887788"/>
          </a:xfrm>
        </p:spPr>
        <p:txBody>
          <a:bodyPr/>
          <a:lstStyle/>
          <a:p>
            <a:pPr lvl="1">
              <a:lnSpc>
                <a:spcPct val="100000"/>
              </a:lnSpc>
            </a:pPr>
            <a:r>
              <a:rPr lang="zh-CN" altLang="en-US" sz="2400">
                <a:solidFill>
                  <a:srgbClr val="C00000"/>
                </a:solidFill>
                <a:latin typeface="微软雅黑" panose="020B0503020204020204" pitchFamily="34" charset="-122"/>
                <a:ea typeface="微软雅黑" panose="020B0503020204020204" pitchFamily="34" charset="-122"/>
              </a:rPr>
              <a:t>核心：</a:t>
            </a:r>
            <a:r>
              <a:rPr lang="en-US" altLang="zh-CN" sz="2400">
                <a:solidFill>
                  <a:srgbClr val="C00000"/>
                </a:solidFill>
                <a:latin typeface="微软雅黑" panose="020B0503020204020204" pitchFamily="34" charset="-122"/>
                <a:ea typeface="微软雅黑" panose="020B0503020204020204" pitchFamily="34" charset="-122"/>
              </a:rPr>
              <a:t>RV32I </a:t>
            </a:r>
          </a:p>
          <a:p>
            <a:pPr lvl="1">
              <a:lnSpc>
                <a:spcPct val="100000"/>
              </a:lnSpc>
            </a:pPr>
            <a:r>
              <a:rPr lang="zh-CN" altLang="en-US" sz="2400">
                <a:solidFill>
                  <a:srgbClr val="388A36"/>
                </a:solidFill>
                <a:latin typeface="微软雅黑" panose="020B0503020204020204" pitchFamily="34" charset="-122"/>
                <a:ea typeface="微软雅黑" panose="020B0503020204020204" pitchFamily="34" charset="-122"/>
              </a:rPr>
              <a:t>标准扩展集：</a:t>
            </a:r>
            <a:r>
              <a:rPr lang="en-US" altLang="zh-CN" sz="2400">
                <a:solidFill>
                  <a:srgbClr val="388A36"/>
                </a:solidFill>
                <a:latin typeface="微软雅黑" panose="020B0503020204020204" pitchFamily="34" charset="-122"/>
                <a:ea typeface="微软雅黑" panose="020B0503020204020204" pitchFamily="34" charset="-122"/>
              </a:rPr>
              <a:t>RV32M</a:t>
            </a:r>
            <a:r>
              <a:rPr lang="zh-CN" altLang="en-US" sz="2400">
                <a:solidFill>
                  <a:srgbClr val="388A36"/>
                </a:solidFill>
                <a:latin typeface="微软雅黑" panose="020B0503020204020204" pitchFamily="34" charset="-122"/>
                <a:ea typeface="微软雅黑" panose="020B0503020204020204" pitchFamily="34" charset="-122"/>
              </a:rPr>
              <a:t>、</a:t>
            </a:r>
            <a:r>
              <a:rPr lang="en-US" altLang="zh-CN" sz="2400">
                <a:solidFill>
                  <a:srgbClr val="388A36"/>
                </a:solidFill>
                <a:latin typeface="微软雅黑" panose="020B0503020204020204" pitchFamily="34" charset="-122"/>
                <a:ea typeface="微软雅黑" panose="020B0503020204020204" pitchFamily="34" charset="-122"/>
              </a:rPr>
              <a:t>RV32F</a:t>
            </a:r>
            <a:r>
              <a:rPr lang="zh-CN" altLang="en-US" sz="2400">
                <a:solidFill>
                  <a:srgbClr val="388A36"/>
                </a:solidFill>
                <a:latin typeface="微软雅黑" panose="020B0503020204020204" pitchFamily="34" charset="-122"/>
                <a:ea typeface="微软雅黑" panose="020B0503020204020204" pitchFamily="34" charset="-122"/>
              </a:rPr>
              <a:t>、</a:t>
            </a:r>
            <a:r>
              <a:rPr lang="en-US" altLang="zh-CN" sz="2400">
                <a:solidFill>
                  <a:srgbClr val="388A36"/>
                </a:solidFill>
                <a:latin typeface="微软雅黑" panose="020B0503020204020204" pitchFamily="34" charset="-122"/>
                <a:ea typeface="微软雅黑" panose="020B0503020204020204" pitchFamily="34" charset="-122"/>
              </a:rPr>
              <a:t>RV32D</a:t>
            </a:r>
            <a:r>
              <a:rPr lang="zh-CN" altLang="en-US" sz="2400">
                <a:solidFill>
                  <a:srgbClr val="388A36"/>
                </a:solidFill>
                <a:latin typeface="微软雅黑" panose="020B0503020204020204" pitchFamily="34" charset="-122"/>
                <a:ea typeface="微软雅黑" panose="020B0503020204020204" pitchFamily="34" charset="-122"/>
              </a:rPr>
              <a:t>、</a:t>
            </a:r>
            <a:r>
              <a:rPr lang="en-US" altLang="zh-CN" sz="2400">
                <a:solidFill>
                  <a:srgbClr val="388A36"/>
                </a:solidFill>
                <a:latin typeface="微软雅黑" panose="020B0503020204020204" pitchFamily="34" charset="-122"/>
                <a:ea typeface="微软雅黑" panose="020B0503020204020204" pitchFamily="34" charset="-122"/>
              </a:rPr>
              <a:t>RV32A </a:t>
            </a:r>
          </a:p>
          <a:p>
            <a:pPr lvl="1">
              <a:lnSpc>
                <a:spcPct val="100000"/>
              </a:lnSpc>
            </a:pPr>
            <a:endParaRPr lang="zh-CN" altLang="en-US" sz="2400">
              <a:latin typeface="微软雅黑" panose="020B0503020204020204" pitchFamily="34" charset="-122"/>
              <a:ea typeface="微软雅黑" panose="020B0503020204020204" pitchFamily="34" charset="-122"/>
            </a:endParaRPr>
          </a:p>
          <a:p>
            <a:pPr lvl="1">
              <a:lnSpc>
                <a:spcPct val="100000"/>
              </a:lnSpc>
            </a:pPr>
            <a:r>
              <a:rPr lang="en-US" altLang="zh-CN" sz="2400">
                <a:latin typeface="微软雅黑" panose="020B0503020204020204" pitchFamily="34" charset="-122"/>
                <a:ea typeface="微软雅黑" panose="020B0503020204020204" pitchFamily="34" charset="-122"/>
              </a:rPr>
              <a:t>32</a:t>
            </a:r>
            <a:r>
              <a:rPr lang="zh-CN" altLang="en-US" sz="2400">
                <a:latin typeface="微软雅黑" panose="020B0503020204020204" pitchFamily="34" charset="-122"/>
                <a:ea typeface="微软雅黑" panose="020B0503020204020204" pitchFamily="34" charset="-122"/>
              </a:rPr>
              <a:t>位架构</a:t>
            </a:r>
            <a:r>
              <a:rPr lang="en-US" altLang="zh-CN" sz="2400">
                <a:latin typeface="微软雅黑" panose="020B0503020204020204" pitchFamily="34" charset="-122"/>
                <a:ea typeface="微软雅黑" panose="020B0503020204020204" pitchFamily="34" charset="-122"/>
              </a:rPr>
              <a:t>RV32G = RV32IMAFD</a:t>
            </a:r>
          </a:p>
          <a:p>
            <a:pPr lvl="2">
              <a:lnSpc>
                <a:spcPct val="100000"/>
              </a:lnSpc>
            </a:pPr>
            <a:r>
              <a:rPr lang="zh-CN" altLang="en-US" sz="2000">
                <a:latin typeface="微软雅黑" panose="020B0503020204020204" pitchFamily="34" charset="-122"/>
                <a:ea typeface="微软雅黑" panose="020B0503020204020204" pitchFamily="34" charset="-122"/>
              </a:rPr>
              <a:t>其压缩指令集</a:t>
            </a:r>
            <a:r>
              <a:rPr lang="en-US" altLang="zh-CN" sz="2000">
                <a:latin typeface="微软雅黑" panose="020B0503020204020204" pitchFamily="34" charset="-122"/>
                <a:ea typeface="微软雅黑" panose="020B0503020204020204" pitchFamily="34" charset="-122"/>
              </a:rPr>
              <a:t>RV32C</a:t>
            </a:r>
            <a:r>
              <a:rPr lang="zh-CN" altLang="en-US" sz="2000">
                <a:latin typeface="微软雅黑" panose="020B0503020204020204" pitchFamily="34" charset="-122"/>
                <a:ea typeface="微软雅黑" panose="020B0503020204020204" pitchFamily="34" charset="-122"/>
              </a:rPr>
              <a:t>（指令长度</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位）</a:t>
            </a:r>
            <a:endParaRPr lang="en-US" altLang="zh-CN" sz="2000">
              <a:latin typeface="微软雅黑" panose="020B0503020204020204" pitchFamily="34" charset="-122"/>
              <a:ea typeface="微软雅黑" panose="020B0503020204020204" pitchFamily="34" charset="-122"/>
            </a:endParaRPr>
          </a:p>
          <a:p>
            <a:pPr lvl="1">
              <a:lnSpc>
                <a:spcPct val="100000"/>
              </a:lnSpc>
            </a:pPr>
            <a:r>
              <a:rPr lang="en-US" altLang="zh-CN" sz="2400">
                <a:latin typeface="微软雅黑" panose="020B0503020204020204" pitchFamily="34" charset="-122"/>
                <a:ea typeface="微软雅黑" panose="020B0503020204020204" pitchFamily="34" charset="-122"/>
              </a:rPr>
              <a:t>64</a:t>
            </a:r>
            <a:r>
              <a:rPr lang="zh-CN" altLang="en-US" sz="2400">
                <a:latin typeface="微软雅黑" panose="020B0503020204020204" pitchFamily="34" charset="-122"/>
                <a:ea typeface="微软雅黑" panose="020B0503020204020204" pitchFamily="34" charset="-122"/>
              </a:rPr>
              <a:t>位架构</a:t>
            </a:r>
            <a:r>
              <a:rPr lang="en-US" altLang="zh-CN" sz="2400">
                <a:latin typeface="微软雅黑" panose="020B0503020204020204" pitchFamily="34" charset="-122"/>
                <a:ea typeface="微软雅黑" panose="020B0503020204020204" pitchFamily="34" charset="-122"/>
              </a:rPr>
              <a:t>RV64G = RV64IMAFD</a:t>
            </a:r>
          </a:p>
          <a:p>
            <a:pPr lvl="2">
              <a:lnSpc>
                <a:spcPct val="100000"/>
              </a:lnSpc>
            </a:pPr>
            <a:r>
              <a:rPr lang="zh-CN" altLang="en-US" sz="2000">
                <a:latin typeface="微软雅黑" panose="020B0503020204020204" pitchFamily="34" charset="-122"/>
                <a:ea typeface="微软雅黑" panose="020B0503020204020204" pitchFamily="34" charset="-122"/>
              </a:rPr>
              <a:t>其压缩指令集</a:t>
            </a:r>
            <a:r>
              <a:rPr lang="en-US" altLang="zh-CN" sz="2000">
                <a:latin typeface="微软雅黑" panose="020B0503020204020204" pitchFamily="34" charset="-122"/>
                <a:ea typeface="微软雅黑" panose="020B0503020204020204" pitchFamily="34" charset="-122"/>
              </a:rPr>
              <a:t>RV64C</a:t>
            </a:r>
            <a:r>
              <a:rPr lang="zh-CN" altLang="en-US" sz="2000">
                <a:latin typeface="微软雅黑" panose="020B0503020204020204" pitchFamily="34" charset="-122"/>
                <a:ea typeface="微软雅黑" panose="020B0503020204020204" pitchFamily="34" charset="-122"/>
              </a:rPr>
              <a:t>（指令长度</a:t>
            </a:r>
            <a:r>
              <a:rPr lang="en-US" altLang="zh-CN" sz="2000">
                <a:latin typeface="微软雅黑" panose="020B0503020204020204" pitchFamily="34" charset="-122"/>
                <a:ea typeface="微软雅黑" panose="020B0503020204020204" pitchFamily="34" charset="-122"/>
              </a:rPr>
              <a:t>16</a:t>
            </a:r>
            <a:r>
              <a:rPr lang="zh-CN" altLang="en-US" sz="2000">
                <a:latin typeface="微软雅黑" panose="020B0503020204020204" pitchFamily="34" charset="-122"/>
                <a:ea typeface="微软雅黑" panose="020B0503020204020204" pitchFamily="34" charset="-122"/>
              </a:rPr>
              <a:t>位）</a:t>
            </a:r>
            <a:endParaRPr lang="en-US" altLang="zh-CN" sz="2000">
              <a:latin typeface="微软雅黑" panose="020B0503020204020204" pitchFamily="34" charset="-122"/>
              <a:ea typeface="微软雅黑" panose="020B0503020204020204" pitchFamily="34" charset="-122"/>
            </a:endParaRPr>
          </a:p>
          <a:p>
            <a:pPr lvl="2">
              <a:lnSpc>
                <a:spcPct val="100000"/>
              </a:lnSpc>
            </a:pPr>
            <a:endParaRPr lang="en-US" altLang="zh-CN" sz="2000">
              <a:latin typeface="微软雅黑" panose="020B0503020204020204" pitchFamily="34" charset="-122"/>
              <a:ea typeface="微软雅黑" panose="020B0503020204020204" pitchFamily="34" charset="-122"/>
            </a:endParaRPr>
          </a:p>
          <a:p>
            <a:pPr lvl="2">
              <a:lnSpc>
                <a:spcPct val="100000"/>
              </a:lnSpc>
            </a:pPr>
            <a:endParaRPr lang="en-US" altLang="zh-CN" sz="2000">
              <a:latin typeface="微软雅黑" panose="020B0503020204020204" pitchFamily="34" charset="-122"/>
              <a:ea typeface="微软雅黑" panose="020B0503020204020204" pitchFamily="34" charset="-122"/>
            </a:endParaRPr>
          </a:p>
          <a:p>
            <a:pPr lvl="2">
              <a:lnSpc>
                <a:spcPct val="100000"/>
              </a:lnSpc>
            </a:pPr>
            <a:endParaRPr lang="en-US" altLang="zh-CN" sz="2000">
              <a:latin typeface="微软雅黑" panose="020B0503020204020204" pitchFamily="34" charset="-122"/>
              <a:ea typeface="微软雅黑" panose="020B0503020204020204" pitchFamily="34" charset="-122"/>
            </a:endParaRPr>
          </a:p>
          <a:p>
            <a:pPr lvl="1">
              <a:lnSpc>
                <a:spcPct val="100000"/>
              </a:lnSpc>
            </a:pPr>
            <a:r>
              <a:rPr lang="zh-CN" altLang="en-US" sz="2400">
                <a:latin typeface="微软雅黑" panose="020B0503020204020204" pitchFamily="34" charset="-122"/>
                <a:ea typeface="微软雅黑" panose="020B0503020204020204" pitchFamily="34" charset="-122"/>
              </a:rPr>
              <a:t>向量计算</a:t>
            </a:r>
            <a:r>
              <a:rPr lang="en-US" altLang="zh-CN" sz="2400">
                <a:latin typeface="微软雅黑" panose="020B0503020204020204" pitchFamily="34" charset="-122"/>
                <a:ea typeface="微软雅黑" panose="020B0503020204020204" pitchFamily="34" charset="-122"/>
              </a:rPr>
              <a:t>RV32V</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RV64V</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lvl="1">
              <a:lnSpc>
                <a:spcPct val="100000"/>
              </a:lnSpc>
            </a:pPr>
            <a:r>
              <a:rPr lang="zh-CN" altLang="en-US" sz="2400">
                <a:latin typeface="微软雅黑" panose="020B0503020204020204" pitchFamily="34" charset="-122"/>
                <a:ea typeface="微软雅黑" panose="020B0503020204020204" pitchFamily="34" charset="-122"/>
              </a:rPr>
              <a:t>嵌入式</a:t>
            </a:r>
            <a:r>
              <a:rPr lang="en-US" altLang="zh-CN" sz="2400">
                <a:latin typeface="微软雅黑" panose="020B0503020204020204" pitchFamily="34" charset="-122"/>
                <a:ea typeface="微软雅黑" panose="020B0503020204020204" pitchFamily="34" charset="-122"/>
              </a:rPr>
              <a:t>RV32E</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RV32I</a:t>
            </a:r>
            <a:r>
              <a:rPr lang="zh-CN" altLang="en-US" sz="2400">
                <a:latin typeface="微软雅黑" panose="020B0503020204020204" pitchFamily="34" charset="-122"/>
                <a:ea typeface="微软雅黑" panose="020B0503020204020204" pitchFamily="34" charset="-122"/>
              </a:rPr>
              <a:t>的子集，</a:t>
            </a:r>
            <a:r>
              <a:rPr lang="en-US" altLang="zh-CN" sz="2400">
                <a:latin typeface="微软雅黑" panose="020B0503020204020204" pitchFamily="34" charset="-122"/>
                <a:ea typeface="微软雅黑" panose="020B0503020204020204" pitchFamily="34" charset="-122"/>
              </a:rPr>
              <a:t>16</a:t>
            </a:r>
            <a:r>
              <a:rPr lang="zh-CN" altLang="en-US" sz="2400">
                <a:latin typeface="微软雅黑" panose="020B0503020204020204" pitchFamily="34" charset="-122"/>
                <a:ea typeface="微软雅黑" panose="020B0503020204020204" pitchFamily="34" charset="-122"/>
              </a:rPr>
              <a:t>个通用寄存器</a:t>
            </a:r>
            <a:r>
              <a:rPr lang="zh-CN" altLang="en-US" sz="2400">
                <a:latin typeface="Times New Roman" panose="02020603050405020304" pitchFamily="18" charset="0"/>
                <a:ea typeface="微软雅黑" panose="020B0503020204020204" pitchFamily="34" charset="-122"/>
              </a:rPr>
              <a:t>）</a:t>
            </a:r>
            <a:endParaRPr lang="en-US" altLang="zh-CN" sz="2400">
              <a:latin typeface="Times New Roman" panose="02020603050405020304" pitchFamily="18" charset="0"/>
              <a:ea typeface="微软雅黑" panose="020B0503020204020204" pitchFamily="34" charset="-122"/>
            </a:endParaRPr>
          </a:p>
          <a:p>
            <a:pPr lvl="1">
              <a:lnSpc>
                <a:spcPct val="110000"/>
              </a:lnSpc>
            </a:pPr>
            <a:endParaRPr lang="en-US" altLang="zh-CN" sz="2400">
              <a:latin typeface="Times New Roman" panose="02020603050405020304" pitchFamily="18" charset="0"/>
              <a:ea typeface="微软雅黑" panose="020B0503020204020204" pitchFamily="34" charset="-122"/>
            </a:endParaRPr>
          </a:p>
        </p:txBody>
      </p:sp>
      <p:sp>
        <p:nvSpPr>
          <p:cNvPr id="10244" name="TextBox 3">
            <a:extLst>
              <a:ext uri="{FF2B5EF4-FFF2-40B4-BE49-F238E27FC236}">
                <a16:creationId xmlns:a16="http://schemas.microsoft.com/office/drawing/2014/main" id="{3ABD49AA-68AB-0461-F0AB-36ED3599F8A5}"/>
              </a:ext>
            </a:extLst>
          </p:cNvPr>
          <p:cNvSpPr txBox="1">
            <a:spLocks noChangeArrowheads="1"/>
          </p:cNvSpPr>
          <p:nvPr/>
        </p:nvSpPr>
        <p:spPr bwMode="auto">
          <a:xfrm>
            <a:off x="5986463" y="2128838"/>
            <a:ext cx="2655887" cy="1938337"/>
          </a:xfrm>
          <a:prstGeom prst="rect">
            <a:avLst/>
          </a:prstGeom>
          <a:solidFill>
            <a:srgbClr val="92D050"/>
          </a:solidFill>
          <a:ln w="9525">
            <a:solidFill>
              <a:schemeClr val="bg2"/>
            </a:solidFill>
            <a:miter lim="800000"/>
            <a:headEnd/>
            <a:tailEnd/>
          </a:ln>
        </p:spPr>
        <p:txBody>
          <a:bodyPr>
            <a:spAutoFit/>
          </a:bodyPr>
          <a:lstStyle/>
          <a:p>
            <a:r>
              <a:rPr lang="zh-CN" altLang="en-US" sz="2400">
                <a:solidFill>
                  <a:schemeClr val="tx1"/>
                </a:solidFill>
              </a:rPr>
              <a:t>指令长度</a:t>
            </a:r>
            <a:endParaRPr lang="en-US" altLang="zh-CN" sz="2400">
              <a:solidFill>
                <a:schemeClr val="tx1"/>
              </a:solidFill>
            </a:endParaRPr>
          </a:p>
          <a:p>
            <a:r>
              <a:rPr lang="zh-CN" altLang="en-US" sz="2400">
                <a:solidFill>
                  <a:srgbClr val="7030A0"/>
                </a:solidFill>
              </a:rPr>
              <a:t>机器字长</a:t>
            </a:r>
            <a:endParaRPr lang="en-US" altLang="zh-CN" sz="2400">
              <a:solidFill>
                <a:srgbClr val="7030A0"/>
              </a:solidFill>
            </a:endParaRPr>
          </a:p>
          <a:p>
            <a:r>
              <a:rPr lang="zh-CN" altLang="en-US" sz="2400">
                <a:solidFill>
                  <a:srgbClr val="7030A0"/>
                </a:solidFill>
              </a:rPr>
              <a:t>通用寄存器长度</a:t>
            </a:r>
            <a:endParaRPr lang="en-US" altLang="zh-CN" sz="2400">
              <a:solidFill>
                <a:srgbClr val="7030A0"/>
              </a:solidFill>
            </a:endParaRPr>
          </a:p>
          <a:p>
            <a:r>
              <a:rPr lang="zh-CN" altLang="en-US" sz="2400">
                <a:solidFill>
                  <a:srgbClr val="7030A0"/>
                </a:solidFill>
              </a:rPr>
              <a:t>定点运算器、</a:t>
            </a:r>
            <a:r>
              <a:rPr lang="en-US" altLang="zh-CN" sz="2400">
                <a:solidFill>
                  <a:srgbClr val="7030A0"/>
                </a:solidFill>
              </a:rPr>
              <a:t>PC</a:t>
            </a:r>
          </a:p>
          <a:p>
            <a:r>
              <a:rPr lang="zh-CN" altLang="en-US" sz="2400">
                <a:solidFill>
                  <a:schemeClr val="tx1"/>
                </a:solidFill>
              </a:rPr>
              <a:t>处理数据的长度</a:t>
            </a:r>
            <a:endParaRPr lang="en-US" altLang="zh-CN" sz="2400">
              <a:solidFill>
                <a:schemeClr val="tx1"/>
              </a:solidFill>
            </a:endParaRPr>
          </a:p>
        </p:txBody>
      </p:sp>
      <p:sp>
        <p:nvSpPr>
          <p:cNvPr id="10245" name="矩形 4">
            <a:extLst>
              <a:ext uri="{FF2B5EF4-FFF2-40B4-BE49-F238E27FC236}">
                <a16:creationId xmlns:a16="http://schemas.microsoft.com/office/drawing/2014/main" id="{F66E1E12-F6EE-B2C3-C7F3-44FA8A8604F6}"/>
              </a:ext>
            </a:extLst>
          </p:cNvPr>
          <p:cNvSpPr>
            <a:spLocks noChangeArrowheads="1"/>
          </p:cNvSpPr>
          <p:nvPr/>
        </p:nvSpPr>
        <p:spPr bwMode="auto">
          <a:xfrm>
            <a:off x="884238" y="4306888"/>
            <a:ext cx="7756525" cy="400050"/>
          </a:xfrm>
          <a:prstGeom prst="rect">
            <a:avLst/>
          </a:prstGeom>
          <a:solidFill>
            <a:srgbClr val="92D050"/>
          </a:solidFill>
          <a:ln w="9525">
            <a:solidFill>
              <a:schemeClr val="bg2"/>
            </a:solidFill>
            <a:miter lim="800000"/>
            <a:headEnd/>
            <a:tailEnd/>
          </a:ln>
        </p:spPr>
        <p:txBody>
          <a:bodyPr wrap="none">
            <a:spAutoFit/>
          </a:bodyPr>
          <a:lstStyle/>
          <a:p>
            <a:r>
              <a:rPr lang="zh-CN" altLang="en-US" sz="2000">
                <a:solidFill>
                  <a:schemeClr val="tx1"/>
                </a:solidFill>
              </a:rPr>
              <a:t>同一条指令在</a:t>
            </a:r>
            <a:r>
              <a:rPr lang="en-US" altLang="zh-CN" sz="2000">
                <a:solidFill>
                  <a:schemeClr val="tx1"/>
                </a:solidFill>
              </a:rPr>
              <a:t>RV64I</a:t>
            </a:r>
            <a:r>
              <a:rPr lang="zh-CN" altLang="en-US" sz="2000">
                <a:solidFill>
                  <a:schemeClr val="tx1"/>
                </a:solidFill>
              </a:rPr>
              <a:t>和</a:t>
            </a:r>
            <a:r>
              <a:rPr lang="en-US" altLang="zh-CN" sz="2000">
                <a:solidFill>
                  <a:schemeClr val="tx1"/>
                </a:solidFill>
              </a:rPr>
              <a:t>RV32I</a:t>
            </a:r>
            <a:r>
              <a:rPr lang="zh-CN" altLang="en-US" sz="2000">
                <a:solidFill>
                  <a:schemeClr val="tx1"/>
                </a:solidFill>
              </a:rPr>
              <a:t>中都存在时，其具体行为也是不一样的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blinds(horizontal)">
                                      <p:cBhvr>
                                        <p:cTn id="7" dur="500"/>
                                        <p:tgtEl>
                                          <p:spTgt spid="10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5"/>
                                        </p:tgtEl>
                                        <p:attrNameLst>
                                          <p:attrName>style.visibility</p:attrName>
                                        </p:attrNameLst>
                                      </p:cBhvr>
                                      <p:to>
                                        <p:strVal val="visible"/>
                                      </p:to>
                                    </p:set>
                                    <p:animEffect transition="in" filter="blinds(horizontal)">
                                      <p:cBhvr>
                                        <p:cTn id="12"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ldLvl="0" animBg="1"/>
      <p:bldP spid="10245"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BB971B67-9E8E-115D-36B5-094DB2CCA73B}"/>
              </a:ext>
            </a:extLst>
          </p:cNvPr>
          <p:cNvSpPr>
            <a:spLocks noGrp="1" noChangeArrowheads="1"/>
          </p:cNvSpPr>
          <p:nvPr>
            <p:ph type="title"/>
          </p:nvPr>
        </p:nvSpPr>
        <p:spPr>
          <a:xfrm>
            <a:off x="44450" y="109538"/>
            <a:ext cx="6556375" cy="373062"/>
          </a:xfrm>
        </p:spPr>
        <p:txBody>
          <a:bodyPr/>
          <a:lstStyle/>
          <a:p>
            <a:r>
              <a:rPr lang="zh-CN" altLang="en-US">
                <a:ea typeface="宋体" panose="02010600030101010101" pitchFamily="2" charset="-122"/>
              </a:rPr>
              <a:t>指令参考卡</a:t>
            </a:r>
            <a:r>
              <a:rPr lang="zh-CN" altLang="zh-CN">
                <a:ea typeface="宋体" panose="02010600030101010101" pitchFamily="2" charset="-122"/>
              </a:rPr>
              <a:t>①</a:t>
            </a:r>
            <a:endParaRPr lang="zh-CN" altLang="en-US">
              <a:ea typeface="宋体" panose="02010600030101010101" pitchFamily="2" charset="-122"/>
            </a:endParaRPr>
          </a:p>
        </p:txBody>
      </p:sp>
      <p:sp>
        <p:nvSpPr>
          <p:cNvPr id="78851" name="Rectangle 3">
            <a:extLst>
              <a:ext uri="{FF2B5EF4-FFF2-40B4-BE49-F238E27FC236}">
                <a16:creationId xmlns:a16="http://schemas.microsoft.com/office/drawing/2014/main" id="{2D58EA3E-E2B4-371B-D038-551E449F3CF5}"/>
              </a:ext>
            </a:extLst>
          </p:cNvPr>
          <p:cNvSpPr>
            <a:spLocks noGrp="1" noChangeArrowheads="1"/>
          </p:cNvSpPr>
          <p:nvPr>
            <p:ph idx="1"/>
          </p:nvPr>
        </p:nvSpPr>
        <p:spPr>
          <a:xfrm>
            <a:off x="82550" y="604838"/>
            <a:ext cx="1966913" cy="6024562"/>
          </a:xfrm>
        </p:spPr>
        <p:txBody>
          <a:bodyPr/>
          <a:lstStyle/>
          <a:p>
            <a:pPr>
              <a:lnSpc>
                <a:spcPct val="110000"/>
              </a:lnSpc>
            </a:pPr>
            <a:r>
              <a:rPr lang="zh-CN" altLang="en-US">
                <a:solidFill>
                  <a:srgbClr val="0033CC"/>
                </a:solidFill>
                <a:latin typeface="Arial" panose="020B0604020202020204" pitchFamily="34" charset="0"/>
                <a:ea typeface="黑体" panose="02010609060101010101" pitchFamily="49" charset="-122"/>
              </a:rPr>
              <a:t>核心指令集</a:t>
            </a:r>
            <a:r>
              <a:rPr lang="zh-CN" altLang="en-US">
                <a:latin typeface="Arial" panose="020B0604020202020204" pitchFamily="34" charset="0"/>
                <a:ea typeface="黑体" panose="02010609060101010101" pitchFamily="49" charset="-122"/>
              </a:rPr>
              <a:t>：基础整数指令集 </a:t>
            </a:r>
            <a:r>
              <a:rPr lang="en-US" altLang="zh-CN">
                <a:solidFill>
                  <a:srgbClr val="FF0000"/>
                </a:solidFill>
                <a:latin typeface="微软雅黑" panose="020B0503020204020204" pitchFamily="34" charset="-122"/>
                <a:ea typeface="微软雅黑" panose="020B0503020204020204" pitchFamily="34" charset="-122"/>
              </a:rPr>
              <a:t>RV32I </a:t>
            </a:r>
            <a:r>
              <a:rPr lang="zh-CN" altLang="en-US">
                <a:solidFill>
                  <a:srgbClr val="FF0000"/>
                </a:solidFill>
                <a:latin typeface="微软雅黑" panose="020B0503020204020204" pitchFamily="34" charset="-122"/>
                <a:ea typeface="微软雅黑" panose="020B0503020204020204" pitchFamily="34" charset="-122"/>
              </a:rPr>
              <a:t>和 </a:t>
            </a:r>
            <a:r>
              <a:rPr lang="en-US" altLang="zh-CN">
                <a:solidFill>
                  <a:srgbClr val="FF0000"/>
                </a:solidFill>
                <a:latin typeface="微软雅黑" panose="020B0503020204020204" pitchFamily="34" charset="-122"/>
                <a:ea typeface="微软雅黑" panose="020B0503020204020204" pitchFamily="34" charset="-122"/>
              </a:rPr>
              <a:t>RV64I</a:t>
            </a:r>
          </a:p>
          <a:p>
            <a:pPr>
              <a:lnSpc>
                <a:spcPct val="110000"/>
              </a:lnSpc>
            </a:pPr>
            <a:r>
              <a:rPr lang="zh-CN" altLang="en-US">
                <a:solidFill>
                  <a:srgbClr val="0033CC"/>
                </a:solidFill>
                <a:latin typeface="Arial" panose="020B0604020202020204" pitchFamily="34" charset="0"/>
                <a:ea typeface="黑体" panose="02010609060101010101" pitchFamily="49" charset="-122"/>
              </a:rPr>
              <a:t>特权指令</a:t>
            </a:r>
            <a:r>
              <a:rPr lang="zh-CN" altLang="en-US">
                <a:latin typeface="Arial" panose="020B0604020202020204" pitchFamily="34" charset="0"/>
                <a:ea typeface="黑体" panose="02010609060101010101" pitchFamily="49" charset="-122"/>
              </a:rPr>
              <a:t>：陷阱指令对应的返回指令、</a:t>
            </a:r>
            <a:r>
              <a:rPr lang="en-US" altLang="zh-CN">
                <a:latin typeface="Arial" panose="020B0604020202020204" pitchFamily="34" charset="0"/>
                <a:ea typeface="黑体" panose="02010609060101010101" pitchFamily="49" charset="-122"/>
              </a:rPr>
              <a:t>wfi</a:t>
            </a:r>
            <a:r>
              <a:rPr lang="zh-CN" altLang="en-US">
                <a:latin typeface="Arial" panose="020B0604020202020204" pitchFamily="34" charset="0"/>
                <a:ea typeface="黑体" panose="02010609060101010101" pitchFamily="49" charset="-122"/>
              </a:rPr>
              <a:t>等待中断指令、</a:t>
            </a:r>
            <a:r>
              <a:rPr lang="en-US" altLang="zh-CN">
                <a:latin typeface="Arial" panose="020B0604020202020204" pitchFamily="34" charset="0"/>
                <a:ea typeface="黑体" panose="02010609060101010101" pitchFamily="49" charset="-122"/>
              </a:rPr>
              <a:t>sfence.vma</a:t>
            </a:r>
            <a:r>
              <a:rPr lang="zh-CN" altLang="en-US">
                <a:latin typeface="Arial" panose="020B0604020202020204" pitchFamily="34" charset="0"/>
                <a:ea typeface="黑体" panose="02010609060101010101" pitchFamily="49" charset="-122"/>
              </a:rPr>
              <a:t>虚拟存储器的同步操作</a:t>
            </a:r>
            <a:endParaRPr lang="en-US" altLang="zh-CN">
              <a:latin typeface="Arial" panose="020B0604020202020204" pitchFamily="34" charset="0"/>
              <a:ea typeface="黑体" panose="02010609060101010101" pitchFamily="49" charset="-122"/>
            </a:endParaRPr>
          </a:p>
          <a:p>
            <a:pPr>
              <a:lnSpc>
                <a:spcPct val="110000"/>
              </a:lnSpc>
            </a:pPr>
            <a:r>
              <a:rPr lang="zh-CN" altLang="en-US">
                <a:solidFill>
                  <a:srgbClr val="0033CC"/>
                </a:solidFill>
                <a:latin typeface="Arial" panose="020B0604020202020204" pitchFamily="34" charset="0"/>
                <a:ea typeface="黑体" panose="02010609060101010101" pitchFamily="49" charset="-122"/>
              </a:rPr>
              <a:t>伪指令举例</a:t>
            </a:r>
            <a:endParaRPr lang="en-US" altLang="zh-CN">
              <a:solidFill>
                <a:srgbClr val="0033CC"/>
              </a:solidFill>
              <a:latin typeface="Arial" panose="020B0604020202020204" pitchFamily="34" charset="0"/>
              <a:ea typeface="黑体" panose="02010609060101010101" pitchFamily="49" charset="-122"/>
            </a:endParaRPr>
          </a:p>
          <a:p>
            <a:pPr>
              <a:lnSpc>
                <a:spcPct val="110000"/>
              </a:lnSpc>
            </a:pPr>
            <a:r>
              <a:rPr lang="zh-CN" altLang="en-US">
                <a:solidFill>
                  <a:srgbClr val="0033CC"/>
                </a:solidFill>
                <a:latin typeface="Arial" panose="020B0604020202020204" pitchFamily="34" charset="0"/>
                <a:ea typeface="黑体" panose="02010609060101010101" pitchFamily="49" charset="-122"/>
              </a:rPr>
              <a:t>压缩指令集</a:t>
            </a:r>
            <a:r>
              <a:rPr lang="zh-CN" altLang="en-US">
                <a:latin typeface="Arial" panose="020B0604020202020204" pitchFamily="34" charset="0"/>
                <a:ea typeface="黑体" panose="02010609060101010101" pitchFamily="49" charset="-122"/>
              </a:rPr>
              <a:t>：</a:t>
            </a:r>
            <a:r>
              <a:rPr lang="en-US" altLang="zh-CN">
                <a:solidFill>
                  <a:srgbClr val="FF0000"/>
                </a:solidFill>
                <a:latin typeface="Arial" panose="020B0604020202020204" pitchFamily="34" charset="0"/>
                <a:ea typeface="黑体" panose="02010609060101010101" pitchFamily="49" charset="-122"/>
              </a:rPr>
              <a:t>RV32C</a:t>
            </a:r>
            <a:r>
              <a:rPr lang="zh-CN" altLang="en-US">
                <a:solidFill>
                  <a:srgbClr val="FF0000"/>
                </a:solidFill>
                <a:latin typeface="Arial" panose="020B0604020202020204" pitchFamily="34" charset="0"/>
                <a:ea typeface="黑体" panose="02010609060101010101" pitchFamily="49" charset="-122"/>
              </a:rPr>
              <a:t>和</a:t>
            </a:r>
            <a:r>
              <a:rPr lang="en-US" altLang="zh-CN">
                <a:solidFill>
                  <a:srgbClr val="FF0000"/>
                </a:solidFill>
                <a:latin typeface="Arial" panose="020B0604020202020204" pitchFamily="34" charset="0"/>
                <a:ea typeface="黑体" panose="02010609060101010101" pitchFamily="49" charset="-122"/>
              </a:rPr>
              <a:t>RV64C</a:t>
            </a:r>
          </a:p>
          <a:p>
            <a:pPr>
              <a:lnSpc>
                <a:spcPct val="110000"/>
              </a:lnSpc>
            </a:pPr>
            <a:endParaRPr lang="en-US" altLang="zh-CN">
              <a:latin typeface="Times New Roman" panose="02020603050405020304" pitchFamily="18" charset="0"/>
              <a:ea typeface="微软雅黑" panose="020B0503020204020204" pitchFamily="34" charset="-122"/>
            </a:endParaRPr>
          </a:p>
        </p:txBody>
      </p:sp>
      <p:pic>
        <p:nvPicPr>
          <p:cNvPr id="78852" name="Picture 2">
            <a:extLst>
              <a:ext uri="{FF2B5EF4-FFF2-40B4-BE49-F238E27FC236}">
                <a16:creationId xmlns:a16="http://schemas.microsoft.com/office/drawing/2014/main" id="{A9C0E64B-DF72-C618-6ADD-D5AE95EF3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8" y="0"/>
            <a:ext cx="72247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78852"/>
                                        </p:tgtEl>
                                        <p:attrNameLst>
                                          <p:attrName>style.visibility</p:attrName>
                                        </p:attrNameLst>
                                      </p:cBhvr>
                                      <p:to>
                                        <p:strVal val="visible"/>
                                      </p:to>
                                    </p:set>
                                    <p:animEffect transition="in" filter="randombar(horizontal)">
                                      <p:cBhvr>
                                        <p:cTn id="7" dur="500"/>
                                        <p:tgtEl>
                                          <p:spTgt spid="788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8851">
                                            <p:txEl>
                                              <p:pRg st="0" end="0"/>
                                            </p:txEl>
                                          </p:spTgt>
                                        </p:tgtEl>
                                        <p:attrNameLst>
                                          <p:attrName>style.visibility</p:attrName>
                                        </p:attrNameLst>
                                      </p:cBhvr>
                                      <p:to>
                                        <p:strVal val="visible"/>
                                      </p:to>
                                    </p:set>
                                    <p:animEffect transition="in" filter="randombar(horizontal)">
                                      <p:cBhvr>
                                        <p:cTn id="12" dur="500"/>
                                        <p:tgtEl>
                                          <p:spTgt spid="7885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8851">
                                            <p:txEl>
                                              <p:pRg st="1" end="1"/>
                                            </p:txEl>
                                          </p:spTgt>
                                        </p:tgtEl>
                                        <p:attrNameLst>
                                          <p:attrName>style.visibility</p:attrName>
                                        </p:attrNameLst>
                                      </p:cBhvr>
                                      <p:to>
                                        <p:strVal val="visible"/>
                                      </p:to>
                                    </p:set>
                                    <p:animEffect transition="in" filter="randombar(horizontal)">
                                      <p:cBhvr>
                                        <p:cTn id="17" dur="500"/>
                                        <p:tgtEl>
                                          <p:spTgt spid="7885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8851">
                                            <p:txEl>
                                              <p:pRg st="2" end="2"/>
                                            </p:txEl>
                                          </p:spTgt>
                                        </p:tgtEl>
                                        <p:attrNameLst>
                                          <p:attrName>style.visibility</p:attrName>
                                        </p:attrNameLst>
                                      </p:cBhvr>
                                      <p:to>
                                        <p:strVal val="visible"/>
                                      </p:to>
                                    </p:set>
                                    <p:animEffect transition="in" filter="randombar(horizontal)">
                                      <p:cBhvr>
                                        <p:cTn id="22" dur="500"/>
                                        <p:tgtEl>
                                          <p:spTgt spid="7885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78851">
                                            <p:txEl>
                                              <p:pRg st="3" end="3"/>
                                            </p:txEl>
                                          </p:spTgt>
                                        </p:tgtEl>
                                        <p:attrNameLst>
                                          <p:attrName>style.visibility</p:attrName>
                                        </p:attrNameLst>
                                      </p:cBhvr>
                                      <p:to>
                                        <p:strVal val="visible"/>
                                      </p:to>
                                    </p:set>
                                    <p:animEffect transition="in" filter="randombar(horizontal)">
                                      <p:cBhvr>
                                        <p:cTn id="27" dur="500"/>
                                        <p:tgtEl>
                                          <p:spTgt spid="788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9CE7C409-863D-1C31-A685-B19015477908}"/>
              </a:ext>
            </a:extLst>
          </p:cNvPr>
          <p:cNvSpPr>
            <a:spLocks noGrp="1" noChangeArrowheads="1"/>
          </p:cNvSpPr>
          <p:nvPr>
            <p:ph idx="1"/>
          </p:nvPr>
        </p:nvSpPr>
        <p:spPr>
          <a:xfrm>
            <a:off x="3175" y="604838"/>
            <a:ext cx="1951038" cy="6143625"/>
          </a:xfrm>
        </p:spPr>
        <p:txBody>
          <a:bodyPr/>
          <a:lstStyle/>
          <a:p>
            <a:pPr>
              <a:lnSpc>
                <a:spcPct val="110000"/>
              </a:lnSpc>
              <a:defRPr/>
            </a:pPr>
            <a:r>
              <a:rPr lang="zh-CN" altLang="en-US" sz="1800" dirty="0">
                <a:solidFill>
                  <a:srgbClr val="0033CC"/>
                </a:solidFill>
                <a:latin typeface="Arial" panose="020B0604020202020204" pitchFamily="34" charset="0"/>
                <a:ea typeface="黑体" panose="02010609060101010101" pitchFamily="49" charset="-122"/>
              </a:rPr>
              <a:t>扩展指令集</a:t>
            </a:r>
            <a:endParaRPr lang="en-US" altLang="zh-CN" sz="1800" dirty="0">
              <a:solidFill>
                <a:srgbClr val="0033CC"/>
              </a:solidFill>
              <a:latin typeface="Arial" panose="020B0604020202020204" pitchFamily="34" charset="0"/>
              <a:ea typeface="黑体" panose="02010609060101010101" pitchFamily="49" charset="-122"/>
            </a:endParaRPr>
          </a:p>
          <a:p>
            <a:pPr marL="0" indent="0">
              <a:lnSpc>
                <a:spcPct val="110000"/>
              </a:lnSpc>
              <a:buFont typeface="Wingdings" panose="05000000000000000000" pitchFamily="2" charset="2"/>
              <a:buNone/>
              <a:defRPr/>
            </a:pPr>
            <a:r>
              <a:rPr lang="zh-CN" altLang="en-US" sz="1800" dirty="0">
                <a:latin typeface="Arial" panose="020B0604020202020204" pitchFamily="34" charset="0"/>
                <a:ea typeface="黑体" panose="02010609060101010101" pitchFamily="49" charset="-122"/>
              </a:rPr>
              <a:t>乘除运算指令集</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RVM</a:t>
            </a: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a:latin typeface="Arial" panose="020B0604020202020204" pitchFamily="34" charset="0"/>
                <a:ea typeface="黑体" panose="02010609060101010101" pitchFamily="49" charset="-122"/>
              </a:rPr>
              <a:t>原子操作指令集</a:t>
            </a:r>
            <a:r>
              <a:rPr lang="en-US" altLang="zh-CN" sz="1800" dirty="0">
                <a:solidFill>
                  <a:srgbClr val="FF0000"/>
                </a:solidFill>
                <a:latin typeface="微软雅黑" panose="020B0503020204020204" pitchFamily="34" charset="-122"/>
                <a:ea typeface="微软雅黑" panose="020B0503020204020204" pitchFamily="34" charset="-122"/>
              </a:rPr>
              <a:t>RVA</a:t>
            </a:r>
            <a:r>
              <a:rPr lang="zh-CN" altLang="en-US" sz="1800" dirty="0">
                <a:solidFill>
                  <a:srgbClr val="FF0000"/>
                </a:solidFill>
                <a:latin typeface="微软雅黑" panose="020B0503020204020204" pitchFamily="34" charset="-122"/>
                <a:ea typeface="微软雅黑" panose="020B0503020204020204" pitchFamily="34" charset="-122"/>
              </a:rPr>
              <a:t>、</a:t>
            </a:r>
            <a:r>
              <a:rPr lang="zh-CN" altLang="en-US" sz="1800" dirty="0">
                <a:latin typeface="Arial" panose="020B0604020202020204" pitchFamily="34" charset="0"/>
                <a:ea typeface="黑体" panose="02010609060101010101" pitchFamily="49" charset="-122"/>
              </a:rPr>
              <a:t>浮点运算指令集</a:t>
            </a:r>
            <a:r>
              <a:rPr lang="en-US" altLang="zh-CN" sz="1800" dirty="0">
                <a:solidFill>
                  <a:srgbClr val="FF0000"/>
                </a:solidFill>
                <a:latin typeface="微软雅黑" panose="020B0503020204020204" pitchFamily="34" charset="-122"/>
                <a:ea typeface="微软雅黑" panose="020B0503020204020204" pitchFamily="34" charset="-122"/>
              </a:rPr>
              <a:t>RVF</a:t>
            </a:r>
            <a:r>
              <a:rPr lang="zh-CN" altLang="en-US" sz="1800" dirty="0">
                <a:solidFill>
                  <a:srgbClr val="FF0000"/>
                </a:solidFill>
                <a:latin typeface="微软雅黑" panose="020B0503020204020204" pitchFamily="34" charset="-122"/>
                <a:ea typeface="微软雅黑" panose="020B0503020204020204" pitchFamily="34" charset="-122"/>
              </a:rPr>
              <a:t>和</a:t>
            </a:r>
            <a:r>
              <a:rPr lang="en-US" altLang="zh-CN" sz="1800" dirty="0">
                <a:solidFill>
                  <a:srgbClr val="FF0000"/>
                </a:solidFill>
                <a:latin typeface="微软雅黑" panose="020B0503020204020204" pitchFamily="34" charset="-122"/>
                <a:ea typeface="微软雅黑" panose="020B0503020204020204" pitchFamily="34" charset="-122"/>
              </a:rPr>
              <a:t>RVD</a:t>
            </a:r>
            <a:r>
              <a:rPr lang="zh-CN" altLang="en-US" sz="1800" dirty="0">
                <a:solidFill>
                  <a:srgbClr val="FF0000"/>
                </a:solidFill>
                <a:latin typeface="微软雅黑" panose="020B0503020204020204" pitchFamily="34" charset="-122"/>
                <a:ea typeface="微软雅黑" panose="020B0503020204020204" pitchFamily="34" charset="-122"/>
              </a:rPr>
              <a:t>、</a:t>
            </a:r>
            <a:r>
              <a:rPr lang="zh-CN" altLang="en-US" sz="1800" dirty="0">
                <a:latin typeface="Arial" panose="020B0604020202020204" pitchFamily="34" charset="0"/>
                <a:ea typeface="黑体" panose="02010609060101010101" pitchFamily="49" charset="-122"/>
              </a:rPr>
              <a:t>向量操作指令集</a:t>
            </a:r>
            <a:r>
              <a:rPr lang="en-US" altLang="zh-CN" sz="1800" dirty="0">
                <a:solidFill>
                  <a:srgbClr val="FF0000"/>
                </a:solidFill>
                <a:latin typeface="微软雅黑" panose="020B0503020204020204" pitchFamily="34" charset="-122"/>
                <a:ea typeface="微软雅黑" panose="020B0503020204020204" pitchFamily="34" charset="-122"/>
              </a:rPr>
              <a:t>RVV</a:t>
            </a:r>
          </a:p>
          <a:p>
            <a:pPr>
              <a:lnSpc>
                <a:spcPct val="110000"/>
              </a:lnSpc>
              <a:defRPr/>
            </a:pPr>
            <a:r>
              <a:rPr lang="zh-CN" altLang="en-US" sz="1800" dirty="0">
                <a:solidFill>
                  <a:srgbClr val="0033CC"/>
                </a:solidFill>
                <a:latin typeface="Arial" panose="020B0604020202020204" pitchFamily="34" charset="0"/>
                <a:ea typeface="黑体" panose="02010609060101010101" pitchFamily="49" charset="-122"/>
              </a:rPr>
              <a:t>通用寄存器的调用约定</a:t>
            </a:r>
            <a:endParaRPr lang="en-US" altLang="zh-CN" sz="1800" dirty="0">
              <a:solidFill>
                <a:srgbClr val="0033CC"/>
              </a:solidFill>
              <a:latin typeface="Arial" panose="020B0604020202020204" pitchFamily="34" charset="0"/>
              <a:ea typeface="黑体" panose="02010609060101010101" pitchFamily="49" charset="-122"/>
            </a:endParaRPr>
          </a:p>
          <a:p>
            <a:pPr marL="0" indent="0">
              <a:lnSpc>
                <a:spcPct val="110000"/>
              </a:lnSpc>
              <a:buFont typeface="Wingdings" panose="05000000000000000000" pitchFamily="2" charset="2"/>
              <a:buNone/>
              <a:defRPr/>
            </a:pPr>
            <a:r>
              <a:rPr lang="en-US" altLang="zh-CN" sz="1800" dirty="0">
                <a:latin typeface="Arial" panose="020B0604020202020204" pitchFamily="34" charset="0"/>
                <a:ea typeface="黑体" panose="02010609060101010101" pitchFamily="49" charset="-122"/>
              </a:rPr>
              <a:t>32</a:t>
            </a:r>
            <a:r>
              <a:rPr lang="zh-CN" altLang="en-US" sz="1800" dirty="0">
                <a:latin typeface="Arial" panose="020B0604020202020204" pitchFamily="34" charset="0"/>
                <a:ea typeface="黑体" panose="02010609060101010101" pitchFamily="49" charset="-122"/>
              </a:rPr>
              <a:t>个定点通用寄存器</a:t>
            </a:r>
            <a:r>
              <a:rPr lang="en-US" altLang="zh-CN" sz="1800" dirty="0">
                <a:latin typeface="Arial" panose="020B0604020202020204" pitchFamily="34" charset="0"/>
                <a:ea typeface="黑体" panose="02010609060101010101" pitchFamily="49" charset="-122"/>
              </a:rPr>
              <a:t>x0~x31</a:t>
            </a:r>
            <a:r>
              <a:rPr lang="zh-CN" altLang="en-US" sz="1800" dirty="0">
                <a:latin typeface="Arial" panose="020B0604020202020204" pitchFamily="34" charset="0"/>
                <a:ea typeface="黑体" panose="02010609060101010101" pitchFamily="49" charset="-122"/>
              </a:rPr>
              <a:t>；</a:t>
            </a:r>
            <a:r>
              <a:rPr lang="en-US" altLang="zh-CN" sz="1800" dirty="0">
                <a:latin typeface="Arial" panose="020B0604020202020204" pitchFamily="34" charset="0"/>
                <a:ea typeface="黑体" panose="02010609060101010101" pitchFamily="49" charset="-122"/>
              </a:rPr>
              <a:t>32</a:t>
            </a:r>
            <a:r>
              <a:rPr lang="zh-CN" altLang="en-US" sz="1800" dirty="0">
                <a:latin typeface="Arial" panose="020B0604020202020204" pitchFamily="34" charset="0"/>
                <a:ea typeface="黑体" panose="02010609060101010101" pitchFamily="49" charset="-122"/>
              </a:rPr>
              <a:t>个浮点寄存器</a:t>
            </a:r>
            <a:r>
              <a:rPr lang="en-US" altLang="zh-CN" sz="1800" dirty="0">
                <a:latin typeface="Arial" panose="020B0604020202020204" pitchFamily="34" charset="0"/>
                <a:ea typeface="黑体" panose="02010609060101010101" pitchFamily="49" charset="-122"/>
              </a:rPr>
              <a:t>f0~f31</a:t>
            </a:r>
            <a:r>
              <a:rPr lang="zh-CN" altLang="en-US" sz="1800" dirty="0">
                <a:latin typeface="Arial" panose="020B0604020202020204" pitchFamily="34" charset="0"/>
                <a:ea typeface="黑体" panose="02010609060101010101" pitchFamily="49" charset="-122"/>
              </a:rPr>
              <a:t>；通用寄存器</a:t>
            </a:r>
            <a:r>
              <a:rPr lang="en-US" altLang="zh-CN" sz="1800" dirty="0">
                <a:latin typeface="Arial" panose="020B0604020202020204" pitchFamily="34" charset="0"/>
                <a:ea typeface="黑体" panose="02010609060101010101" pitchFamily="49" charset="-122"/>
              </a:rPr>
              <a:t>x0</a:t>
            </a:r>
            <a:r>
              <a:rPr lang="zh-CN" altLang="en-US" sz="1800" dirty="0">
                <a:latin typeface="Arial" panose="020B0604020202020204" pitchFamily="34" charset="0"/>
                <a:ea typeface="黑体" panose="02010609060101010101" pitchFamily="49" charset="-122"/>
              </a:rPr>
              <a:t>中恒</a:t>
            </a:r>
            <a:r>
              <a:rPr lang="en-US" altLang="zh-CN" sz="1800" dirty="0">
                <a:latin typeface="Arial" panose="020B0604020202020204" pitchFamily="34" charset="0"/>
                <a:ea typeface="黑体" panose="02010609060101010101" pitchFamily="49" charset="-122"/>
              </a:rPr>
              <a:t>0</a:t>
            </a:r>
            <a:r>
              <a:rPr lang="zh-CN" altLang="en-US" sz="1800" dirty="0">
                <a:latin typeface="Arial" panose="020B0604020202020204" pitchFamily="34" charset="0"/>
                <a:ea typeface="黑体" panose="02010609060101010101" pitchFamily="49" charset="-122"/>
              </a:rPr>
              <a:t>；</a:t>
            </a:r>
            <a:r>
              <a:rPr lang="en-US" altLang="zh-CN" sz="1800" dirty="0">
                <a:latin typeface="Arial" panose="020B0604020202020204" pitchFamily="34" charset="0"/>
                <a:ea typeface="黑体" panose="02010609060101010101" pitchFamily="49" charset="-122"/>
              </a:rPr>
              <a:t>x1</a:t>
            </a:r>
            <a:r>
              <a:rPr lang="zh-CN" altLang="en-US" sz="1800" dirty="0">
                <a:latin typeface="Arial" panose="020B0604020202020204" pitchFamily="34" charset="0"/>
                <a:ea typeface="黑体" panose="02010609060101010101" pitchFamily="49" charset="-122"/>
              </a:rPr>
              <a:t>中返回地址；</a:t>
            </a:r>
            <a:r>
              <a:rPr lang="en-US" altLang="zh-CN" sz="1800" dirty="0">
                <a:latin typeface="Arial" panose="020B0604020202020204" pitchFamily="34" charset="0"/>
                <a:ea typeface="黑体" panose="02010609060101010101" pitchFamily="49" charset="-122"/>
              </a:rPr>
              <a:t>x2</a:t>
            </a:r>
            <a:r>
              <a:rPr lang="zh-CN" altLang="en-US" sz="1800" dirty="0">
                <a:latin typeface="Arial" panose="020B0604020202020204" pitchFamily="34" charset="0"/>
                <a:ea typeface="黑体" panose="02010609060101010101" pitchFamily="49" charset="-122"/>
              </a:rPr>
              <a:t>、</a:t>
            </a:r>
            <a:r>
              <a:rPr lang="en-US" altLang="zh-CN" sz="1800" dirty="0">
                <a:latin typeface="Arial" panose="020B0604020202020204" pitchFamily="34" charset="0"/>
                <a:ea typeface="黑体" panose="02010609060101010101" pitchFamily="49" charset="-122"/>
              </a:rPr>
              <a:t>x3</a:t>
            </a:r>
            <a:r>
              <a:rPr lang="zh-CN" altLang="en-US" sz="1800" dirty="0">
                <a:latin typeface="Arial" panose="020B0604020202020204" pitchFamily="34" charset="0"/>
                <a:ea typeface="黑体" panose="02010609060101010101" pitchFamily="49" charset="-122"/>
              </a:rPr>
              <a:t>和</a:t>
            </a:r>
            <a:r>
              <a:rPr lang="en-US" altLang="zh-CN" sz="1800" dirty="0">
                <a:latin typeface="Arial" panose="020B0604020202020204" pitchFamily="34" charset="0"/>
                <a:ea typeface="黑体" panose="02010609060101010101" pitchFamily="49" charset="-122"/>
              </a:rPr>
              <a:t>x4</a:t>
            </a:r>
            <a:r>
              <a:rPr lang="zh-CN" altLang="en-US" sz="1800" dirty="0">
                <a:latin typeface="Arial" panose="020B0604020202020204" pitchFamily="34" charset="0"/>
                <a:ea typeface="黑体" panose="02010609060101010101" pitchFamily="49" charset="-122"/>
              </a:rPr>
              <a:t>分别为栈指针、全局指针和线程指针</a:t>
            </a:r>
            <a:endParaRPr lang="en-US" altLang="zh-CN" sz="1800" dirty="0">
              <a:latin typeface="Arial" panose="020B0604020202020204" pitchFamily="34" charset="0"/>
              <a:ea typeface="黑体" panose="02010609060101010101" pitchFamily="49" charset="-122"/>
            </a:endParaRPr>
          </a:p>
        </p:txBody>
      </p:sp>
      <p:pic>
        <p:nvPicPr>
          <p:cNvPr id="71682" name="Picture 2">
            <a:extLst>
              <a:ext uri="{FF2B5EF4-FFF2-40B4-BE49-F238E27FC236}">
                <a16:creationId xmlns:a16="http://schemas.microsoft.com/office/drawing/2014/main" id="{DA51529C-3C73-9DE0-AECD-662E59FAC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0"/>
            <a:ext cx="714216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Rectangle 2">
            <a:extLst>
              <a:ext uri="{FF2B5EF4-FFF2-40B4-BE49-F238E27FC236}">
                <a16:creationId xmlns:a16="http://schemas.microsoft.com/office/drawing/2014/main" id="{F8EA5C14-CA54-1842-A9C9-7D658031C4F1}"/>
              </a:ext>
            </a:extLst>
          </p:cNvPr>
          <p:cNvSpPr>
            <a:spLocks noGrp="1" noChangeArrowheads="1"/>
          </p:cNvSpPr>
          <p:nvPr>
            <p:ph type="title"/>
          </p:nvPr>
        </p:nvSpPr>
        <p:spPr>
          <a:xfrm>
            <a:off x="44450" y="109538"/>
            <a:ext cx="6556375" cy="373062"/>
          </a:xfrm>
        </p:spPr>
        <p:txBody>
          <a:bodyPr/>
          <a:lstStyle/>
          <a:p>
            <a:r>
              <a:rPr lang="zh-CN" altLang="en-US">
                <a:ea typeface="宋体" panose="02010600030101010101" pitchFamily="2" charset="-122"/>
              </a:rPr>
              <a:t>指令参考卡</a:t>
            </a:r>
            <a:r>
              <a:rPr lang="zh-CN" altLang="zh-CN">
                <a:ea typeface="宋体" panose="02010600030101010101" pitchFamily="2" charset="-122"/>
              </a:rPr>
              <a:t>②</a:t>
            </a:r>
            <a:endParaRPr lang="zh-CN" altLang="en-US">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Effect transition="in" filter="randombar(horizontal)">
                                      <p:cBhvr>
                                        <p:cTn id="7" dur="500"/>
                                        <p:tgtEl>
                                          <p:spTgt spid="79874">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79874">
                                            <p:txEl>
                                              <p:pRg st="1" end="1"/>
                                            </p:txEl>
                                          </p:spTgt>
                                        </p:tgtEl>
                                        <p:attrNameLst>
                                          <p:attrName>style.visibility</p:attrName>
                                        </p:attrNameLst>
                                      </p:cBhvr>
                                      <p:to>
                                        <p:strVal val="visible"/>
                                      </p:to>
                                    </p:set>
                                    <p:animEffect transition="in" filter="randombar(horizontal)">
                                      <p:cBhvr>
                                        <p:cTn id="10" dur="500"/>
                                        <p:tgtEl>
                                          <p:spTgt spid="79874">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79874">
                                            <p:txEl>
                                              <p:pRg st="2" end="2"/>
                                            </p:txEl>
                                          </p:spTgt>
                                        </p:tgtEl>
                                        <p:attrNameLst>
                                          <p:attrName>style.visibility</p:attrName>
                                        </p:attrNameLst>
                                      </p:cBhvr>
                                      <p:to>
                                        <p:strVal val="visible"/>
                                      </p:to>
                                    </p:set>
                                    <p:animEffect transition="in" filter="randombar(horizontal)">
                                      <p:cBhvr>
                                        <p:cTn id="15" dur="500"/>
                                        <p:tgtEl>
                                          <p:spTgt spid="79874">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79874">
                                            <p:txEl>
                                              <p:pRg st="3" end="3"/>
                                            </p:txEl>
                                          </p:spTgt>
                                        </p:tgtEl>
                                        <p:attrNameLst>
                                          <p:attrName>style.visibility</p:attrName>
                                        </p:attrNameLst>
                                      </p:cBhvr>
                                      <p:to>
                                        <p:strVal val="visible"/>
                                      </p:to>
                                    </p:set>
                                    <p:animEffect transition="in" filter="randombar(horizontal)">
                                      <p:cBhvr>
                                        <p:cTn id="18" dur="500"/>
                                        <p:tgtEl>
                                          <p:spTgt spid="7987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a:extLst>
              <a:ext uri="{FF2B5EF4-FFF2-40B4-BE49-F238E27FC236}">
                <a16:creationId xmlns:a16="http://schemas.microsoft.com/office/drawing/2014/main" id="{D02CBDD8-037A-FF3A-CF2D-FF6EAEBAC57C}"/>
              </a:ext>
            </a:extLst>
          </p:cNvPr>
          <p:cNvSpPr>
            <a:spLocks noGrp="1" noChangeArrowheads="1"/>
          </p:cNvSpPr>
          <p:nvPr>
            <p:ph idx="1"/>
          </p:nvPr>
        </p:nvSpPr>
        <p:spPr>
          <a:xfrm>
            <a:off x="125413" y="847725"/>
            <a:ext cx="4510087" cy="2760663"/>
          </a:xfrm>
        </p:spPr>
        <p:txBody>
          <a:bodyPr/>
          <a:lstStyle/>
          <a:p>
            <a:pPr>
              <a:lnSpc>
                <a:spcPct val="110000"/>
              </a:lnSpc>
            </a:pPr>
            <a:r>
              <a:rPr lang="zh-CN" altLang="en-US">
                <a:latin typeface="微软雅黑" panose="020B0503020204020204" pitchFamily="34" charset="-122"/>
                <a:ea typeface="微软雅黑" panose="020B0503020204020204" pitchFamily="34" charset="-122"/>
              </a:rPr>
              <a:t>共有</a:t>
            </a:r>
            <a:r>
              <a:rPr lang="en-US" altLang="zh-CN">
                <a:latin typeface="微软雅黑" panose="020B0503020204020204" pitchFamily="34" charset="-122"/>
                <a:ea typeface="微软雅黑" panose="020B0503020204020204" pitchFamily="34" charset="-122"/>
              </a:rPr>
              <a:t>6</a:t>
            </a:r>
            <a:r>
              <a:rPr lang="zh-CN" altLang="en-US">
                <a:latin typeface="微软雅黑" panose="020B0503020204020204" pitchFamily="34" charset="-122"/>
                <a:ea typeface="微软雅黑" panose="020B0503020204020204" pitchFamily="34" charset="-122"/>
              </a:rPr>
              <a:t>种指令格式</a:t>
            </a:r>
            <a:endParaRPr lang="en-US" altLang="zh-CN">
              <a:latin typeface="微软雅黑" panose="020B0503020204020204" pitchFamily="34" charset="-122"/>
              <a:ea typeface="微软雅黑" panose="020B0503020204020204" pitchFamily="34" charset="-122"/>
            </a:endParaRPr>
          </a:p>
          <a:p>
            <a:pPr marL="457200" lvl="1" indent="0">
              <a:lnSpc>
                <a:spcPct val="110000"/>
              </a:lnSpc>
              <a:buFontTx/>
              <a:buNone/>
            </a:pPr>
            <a:r>
              <a:rPr lang="en-US" altLang="zh-CN">
                <a:solidFill>
                  <a:srgbClr val="0033CC"/>
                </a:solidFill>
                <a:latin typeface="微软雅黑" panose="020B0503020204020204" pitchFamily="34" charset="-122"/>
                <a:ea typeface="微软雅黑" panose="020B0503020204020204" pitchFamily="34" charset="-122"/>
              </a:rPr>
              <a:t>R-</a:t>
            </a:r>
            <a:r>
              <a:rPr lang="zh-CN" altLang="en-US">
                <a:solidFill>
                  <a:srgbClr val="0033CC"/>
                </a:solidFill>
                <a:latin typeface="微软雅黑" panose="020B0503020204020204" pitchFamily="34" charset="-122"/>
                <a:ea typeface="微软雅黑" panose="020B0503020204020204" pitchFamily="34" charset="-122"/>
              </a:rPr>
              <a:t>型为寄存器操作数指令</a:t>
            </a:r>
            <a:endParaRPr lang="en-US" altLang="zh-CN">
              <a:solidFill>
                <a:srgbClr val="0033CC"/>
              </a:solidFill>
              <a:latin typeface="微软雅黑" panose="020B0503020204020204" pitchFamily="34" charset="-122"/>
              <a:ea typeface="微软雅黑" panose="020B0503020204020204" pitchFamily="34" charset="-122"/>
            </a:endParaRPr>
          </a:p>
          <a:p>
            <a:pPr marL="457200" lvl="1" indent="0">
              <a:lnSpc>
                <a:spcPct val="110000"/>
              </a:lnSpc>
              <a:buFontTx/>
              <a:buNone/>
            </a:pPr>
            <a:r>
              <a:rPr lang="en-US" altLang="zh-CN">
                <a:solidFill>
                  <a:srgbClr val="0033CC"/>
                </a:solidFill>
                <a:latin typeface="微软雅黑" panose="020B0503020204020204" pitchFamily="34" charset="-122"/>
                <a:ea typeface="微软雅黑" panose="020B0503020204020204" pitchFamily="34" charset="-122"/>
              </a:rPr>
              <a:t>I-</a:t>
            </a:r>
            <a:r>
              <a:rPr lang="zh-CN" altLang="en-US">
                <a:solidFill>
                  <a:srgbClr val="0033CC"/>
                </a:solidFill>
                <a:latin typeface="微软雅黑" panose="020B0503020204020204" pitchFamily="34" charset="-122"/>
                <a:ea typeface="微软雅黑" panose="020B0503020204020204" pitchFamily="34" charset="-122"/>
              </a:rPr>
              <a:t>型为短立即数</a:t>
            </a:r>
            <a:r>
              <a:rPr lang="zh-CN" altLang="en-US">
                <a:solidFill>
                  <a:srgbClr val="C00000"/>
                </a:solidFill>
                <a:latin typeface="微软雅黑" panose="020B0503020204020204" pitchFamily="34" charset="-122"/>
                <a:ea typeface="微软雅黑" panose="020B0503020204020204" pitchFamily="34" charset="-122"/>
              </a:rPr>
              <a:t>或</a:t>
            </a:r>
            <a:r>
              <a:rPr lang="zh-CN" altLang="en-US">
                <a:solidFill>
                  <a:srgbClr val="0033CC"/>
                </a:solidFill>
                <a:latin typeface="微软雅黑" panose="020B0503020204020204" pitchFamily="34" charset="-122"/>
                <a:ea typeface="微软雅黑" panose="020B0503020204020204" pitchFamily="34" charset="-122"/>
              </a:rPr>
              <a:t>装入（</a:t>
            </a:r>
            <a:r>
              <a:rPr lang="en-US" altLang="zh-CN">
                <a:solidFill>
                  <a:srgbClr val="0033CC"/>
                </a:solidFill>
                <a:latin typeface="微软雅黑" panose="020B0503020204020204" pitchFamily="34" charset="-122"/>
                <a:ea typeface="微软雅黑" panose="020B0503020204020204" pitchFamily="34" charset="-122"/>
              </a:rPr>
              <a:t>Load</a:t>
            </a:r>
            <a:r>
              <a:rPr lang="zh-CN" altLang="en-US">
                <a:solidFill>
                  <a:srgbClr val="0033CC"/>
                </a:solidFill>
                <a:latin typeface="微软雅黑" panose="020B0503020204020204" pitchFamily="34" charset="-122"/>
                <a:ea typeface="微软雅黑" panose="020B0503020204020204" pitchFamily="34" charset="-122"/>
              </a:rPr>
              <a:t>）指令</a:t>
            </a:r>
            <a:endParaRPr lang="en-US" altLang="zh-CN">
              <a:solidFill>
                <a:srgbClr val="0033CC"/>
              </a:solidFill>
              <a:latin typeface="微软雅黑" panose="020B0503020204020204" pitchFamily="34" charset="-122"/>
              <a:ea typeface="微软雅黑" panose="020B0503020204020204" pitchFamily="34" charset="-122"/>
            </a:endParaRPr>
          </a:p>
          <a:p>
            <a:pPr marL="457200" lvl="1" indent="0">
              <a:lnSpc>
                <a:spcPct val="110000"/>
              </a:lnSpc>
              <a:buFontTx/>
              <a:buNone/>
            </a:pPr>
            <a:r>
              <a:rPr lang="en-US" altLang="zh-CN">
                <a:solidFill>
                  <a:srgbClr val="0033CC"/>
                </a:solidFill>
                <a:latin typeface="微软雅黑" panose="020B0503020204020204" pitchFamily="34" charset="-122"/>
                <a:ea typeface="微软雅黑" panose="020B0503020204020204" pitchFamily="34" charset="-122"/>
              </a:rPr>
              <a:t>S-</a:t>
            </a:r>
            <a:r>
              <a:rPr lang="zh-CN" altLang="en-US">
                <a:solidFill>
                  <a:srgbClr val="0033CC"/>
                </a:solidFill>
                <a:latin typeface="微软雅黑" panose="020B0503020204020204" pitchFamily="34" charset="-122"/>
                <a:ea typeface="微软雅黑" panose="020B0503020204020204" pitchFamily="34" charset="-122"/>
              </a:rPr>
              <a:t>型为存储（</a:t>
            </a:r>
            <a:r>
              <a:rPr lang="en-US" altLang="zh-CN">
                <a:solidFill>
                  <a:srgbClr val="0033CC"/>
                </a:solidFill>
                <a:latin typeface="微软雅黑" panose="020B0503020204020204" pitchFamily="34" charset="-122"/>
                <a:ea typeface="微软雅黑" panose="020B0503020204020204" pitchFamily="34" charset="-122"/>
              </a:rPr>
              <a:t>Store</a:t>
            </a:r>
            <a:r>
              <a:rPr lang="zh-CN" altLang="en-US">
                <a:solidFill>
                  <a:srgbClr val="0033CC"/>
                </a:solidFill>
                <a:latin typeface="微软雅黑" panose="020B0503020204020204" pitchFamily="34" charset="-122"/>
                <a:ea typeface="微软雅黑" panose="020B0503020204020204" pitchFamily="34" charset="-122"/>
              </a:rPr>
              <a:t>）指令</a:t>
            </a:r>
            <a:endParaRPr lang="en-US" altLang="zh-CN">
              <a:solidFill>
                <a:srgbClr val="0033CC"/>
              </a:solidFill>
              <a:latin typeface="微软雅黑" panose="020B0503020204020204" pitchFamily="34" charset="-122"/>
              <a:ea typeface="微软雅黑" panose="020B0503020204020204" pitchFamily="34" charset="-122"/>
            </a:endParaRPr>
          </a:p>
          <a:p>
            <a:pPr marL="457200" lvl="1" indent="0">
              <a:lnSpc>
                <a:spcPct val="110000"/>
              </a:lnSpc>
              <a:buFontTx/>
              <a:buNone/>
            </a:pPr>
            <a:r>
              <a:rPr lang="en-US" altLang="zh-CN">
                <a:solidFill>
                  <a:srgbClr val="0033CC"/>
                </a:solidFill>
                <a:latin typeface="微软雅黑" panose="020B0503020204020204" pitchFamily="34" charset="-122"/>
                <a:ea typeface="微软雅黑" panose="020B0503020204020204" pitchFamily="34" charset="-122"/>
              </a:rPr>
              <a:t>B-</a:t>
            </a:r>
            <a:r>
              <a:rPr lang="zh-CN" altLang="en-US">
                <a:solidFill>
                  <a:srgbClr val="0033CC"/>
                </a:solidFill>
                <a:latin typeface="微软雅黑" panose="020B0503020204020204" pitchFamily="34" charset="-122"/>
                <a:ea typeface="微软雅黑" panose="020B0503020204020204" pitchFamily="34" charset="-122"/>
              </a:rPr>
              <a:t>型为条件跳转指令</a:t>
            </a:r>
            <a:endParaRPr lang="en-US" altLang="zh-CN">
              <a:solidFill>
                <a:srgbClr val="0033CC"/>
              </a:solidFill>
              <a:latin typeface="微软雅黑" panose="020B0503020204020204" pitchFamily="34" charset="-122"/>
              <a:ea typeface="微软雅黑" panose="020B0503020204020204" pitchFamily="34" charset="-122"/>
            </a:endParaRPr>
          </a:p>
          <a:p>
            <a:pPr marL="457200" lvl="1" indent="0">
              <a:lnSpc>
                <a:spcPct val="110000"/>
              </a:lnSpc>
              <a:buFontTx/>
              <a:buNone/>
            </a:pPr>
            <a:r>
              <a:rPr lang="en-US" altLang="zh-CN">
                <a:solidFill>
                  <a:srgbClr val="0033CC"/>
                </a:solidFill>
                <a:latin typeface="微软雅黑" panose="020B0503020204020204" pitchFamily="34" charset="-122"/>
                <a:ea typeface="微软雅黑" panose="020B0503020204020204" pitchFamily="34" charset="-122"/>
              </a:rPr>
              <a:t>U-</a:t>
            </a:r>
            <a:r>
              <a:rPr lang="zh-CN" altLang="en-US">
                <a:solidFill>
                  <a:srgbClr val="0033CC"/>
                </a:solidFill>
                <a:latin typeface="微软雅黑" panose="020B0503020204020204" pitchFamily="34" charset="-122"/>
                <a:ea typeface="微软雅黑" panose="020B0503020204020204" pitchFamily="34" charset="-122"/>
              </a:rPr>
              <a:t>型为长立即数操作指令</a:t>
            </a:r>
            <a:endParaRPr lang="en-US" altLang="zh-CN">
              <a:solidFill>
                <a:srgbClr val="0033CC"/>
              </a:solidFill>
              <a:latin typeface="微软雅黑" panose="020B0503020204020204" pitchFamily="34" charset="-122"/>
              <a:ea typeface="微软雅黑" panose="020B0503020204020204" pitchFamily="34" charset="-122"/>
            </a:endParaRPr>
          </a:p>
          <a:p>
            <a:pPr marL="457200" lvl="1" indent="0">
              <a:lnSpc>
                <a:spcPct val="110000"/>
              </a:lnSpc>
              <a:buFontTx/>
              <a:buNone/>
            </a:pPr>
            <a:r>
              <a:rPr lang="en-US" altLang="zh-CN">
                <a:solidFill>
                  <a:srgbClr val="0033CC"/>
                </a:solidFill>
                <a:latin typeface="微软雅黑" panose="020B0503020204020204" pitchFamily="34" charset="-122"/>
                <a:ea typeface="微软雅黑" panose="020B0503020204020204" pitchFamily="34" charset="-122"/>
              </a:rPr>
              <a:t>J-</a:t>
            </a:r>
            <a:r>
              <a:rPr lang="zh-CN" altLang="en-US">
                <a:solidFill>
                  <a:srgbClr val="0033CC"/>
                </a:solidFill>
                <a:latin typeface="微软雅黑" panose="020B0503020204020204" pitchFamily="34" charset="-122"/>
                <a:ea typeface="微软雅黑" panose="020B0503020204020204" pitchFamily="34" charset="-122"/>
              </a:rPr>
              <a:t>型为无条件跳转指令</a:t>
            </a:r>
            <a:endParaRPr lang="en-US" altLang="zh-CN">
              <a:latin typeface="微软雅黑" panose="020B0503020204020204" pitchFamily="34" charset="-122"/>
              <a:ea typeface="微软雅黑" panose="020B0503020204020204" pitchFamily="34" charset="-122"/>
            </a:endParaRPr>
          </a:p>
        </p:txBody>
      </p:sp>
      <p:sp>
        <p:nvSpPr>
          <p:cNvPr id="72706" name="Rectangle 2">
            <a:extLst>
              <a:ext uri="{FF2B5EF4-FFF2-40B4-BE49-F238E27FC236}">
                <a16:creationId xmlns:a16="http://schemas.microsoft.com/office/drawing/2014/main" id="{25E9424E-CCFC-CECF-6335-27BA5FBBEE75}"/>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32</a:t>
            </a:r>
            <a:r>
              <a:rPr lang="zh-CN" altLang="en-US">
                <a:ea typeface="宋体" panose="02010600030101010101" pitchFamily="2" charset="-122"/>
              </a:rPr>
              <a:t>位</a:t>
            </a:r>
            <a:r>
              <a:rPr lang="en-US" altLang="zh-CN">
                <a:ea typeface="宋体" panose="02010600030101010101" pitchFamily="2" charset="-122"/>
              </a:rPr>
              <a:t>RISC-V</a:t>
            </a:r>
            <a:r>
              <a:rPr lang="zh-CN" altLang="en-US">
                <a:ea typeface="宋体" panose="02010600030101010101" pitchFamily="2" charset="-122"/>
              </a:rPr>
              <a:t>指令格式</a:t>
            </a:r>
          </a:p>
        </p:txBody>
      </p:sp>
      <p:pic>
        <p:nvPicPr>
          <p:cNvPr id="72707" name="Picture 2">
            <a:extLst>
              <a:ext uri="{FF2B5EF4-FFF2-40B4-BE49-F238E27FC236}">
                <a16:creationId xmlns:a16="http://schemas.microsoft.com/office/drawing/2014/main" id="{A82AE7AF-59B9-03B6-73EC-326390E4E8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3" y="4032250"/>
            <a:ext cx="8974137"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矩形 1">
            <a:extLst>
              <a:ext uri="{FF2B5EF4-FFF2-40B4-BE49-F238E27FC236}">
                <a16:creationId xmlns:a16="http://schemas.microsoft.com/office/drawing/2014/main" id="{E1AF9C0A-6020-28B7-ED80-C643D05D2757}"/>
              </a:ext>
            </a:extLst>
          </p:cNvPr>
          <p:cNvSpPr>
            <a:spLocks noChangeArrowheads="1"/>
          </p:cNvSpPr>
          <p:nvPr/>
        </p:nvSpPr>
        <p:spPr bwMode="auto">
          <a:xfrm>
            <a:off x="7581900" y="4394200"/>
            <a:ext cx="1409700" cy="1987550"/>
          </a:xfrm>
          <a:prstGeom prst="rect">
            <a:avLst/>
          </a:prstGeom>
          <a:solidFill>
            <a:schemeClr val="accent2">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09" name="矩形 7">
            <a:extLst>
              <a:ext uri="{FF2B5EF4-FFF2-40B4-BE49-F238E27FC236}">
                <a16:creationId xmlns:a16="http://schemas.microsoft.com/office/drawing/2014/main" id="{68EE394B-912E-A812-4932-7BEEC71E25A7}"/>
              </a:ext>
            </a:extLst>
          </p:cNvPr>
          <p:cNvSpPr>
            <a:spLocks noChangeArrowheads="1"/>
          </p:cNvSpPr>
          <p:nvPr/>
        </p:nvSpPr>
        <p:spPr bwMode="auto">
          <a:xfrm>
            <a:off x="6172200" y="4394200"/>
            <a:ext cx="1409700" cy="660400"/>
          </a:xfrm>
          <a:prstGeom prst="rect">
            <a:avLst/>
          </a:prstGeom>
          <a:solidFill>
            <a:schemeClr val="accent1">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0" name="矩形 8">
            <a:extLst>
              <a:ext uri="{FF2B5EF4-FFF2-40B4-BE49-F238E27FC236}">
                <a16:creationId xmlns:a16="http://schemas.microsoft.com/office/drawing/2014/main" id="{281900EB-1406-2D2D-48D1-D7C5B5AA4EEC}"/>
              </a:ext>
            </a:extLst>
          </p:cNvPr>
          <p:cNvSpPr>
            <a:spLocks noChangeArrowheads="1"/>
          </p:cNvSpPr>
          <p:nvPr/>
        </p:nvSpPr>
        <p:spPr bwMode="auto">
          <a:xfrm>
            <a:off x="4025900" y="4394200"/>
            <a:ext cx="1212850" cy="1350963"/>
          </a:xfrm>
          <a:prstGeom prst="rect">
            <a:avLst/>
          </a:prstGeom>
          <a:solidFill>
            <a:srgbClr val="388A36">
              <a:alpha val="2000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1" name="矩形 9">
            <a:extLst>
              <a:ext uri="{FF2B5EF4-FFF2-40B4-BE49-F238E27FC236}">
                <a16:creationId xmlns:a16="http://schemas.microsoft.com/office/drawing/2014/main" id="{FCDA98AE-3AFB-C9A9-77EA-D63F582F5082}"/>
              </a:ext>
            </a:extLst>
          </p:cNvPr>
          <p:cNvSpPr>
            <a:spLocks noChangeArrowheads="1"/>
          </p:cNvSpPr>
          <p:nvPr/>
        </p:nvSpPr>
        <p:spPr bwMode="auto">
          <a:xfrm>
            <a:off x="5245100" y="4413250"/>
            <a:ext cx="933450" cy="1308100"/>
          </a:xfrm>
          <a:prstGeom prst="rect">
            <a:avLst/>
          </a:prstGeom>
          <a:solidFill>
            <a:srgbClr val="7030A0">
              <a:alpha val="2000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2" name="矩形 10">
            <a:extLst>
              <a:ext uri="{FF2B5EF4-FFF2-40B4-BE49-F238E27FC236}">
                <a16:creationId xmlns:a16="http://schemas.microsoft.com/office/drawing/2014/main" id="{C0550E67-333C-3EE3-BE36-37C66B9E3C9B}"/>
              </a:ext>
            </a:extLst>
          </p:cNvPr>
          <p:cNvSpPr>
            <a:spLocks noChangeArrowheads="1"/>
          </p:cNvSpPr>
          <p:nvPr/>
        </p:nvSpPr>
        <p:spPr bwMode="auto">
          <a:xfrm>
            <a:off x="6172200" y="5745163"/>
            <a:ext cx="1409700" cy="660400"/>
          </a:xfrm>
          <a:prstGeom prst="rect">
            <a:avLst/>
          </a:prstGeom>
          <a:solidFill>
            <a:schemeClr val="accent1">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3" name="矩形 11">
            <a:extLst>
              <a:ext uri="{FF2B5EF4-FFF2-40B4-BE49-F238E27FC236}">
                <a16:creationId xmlns:a16="http://schemas.microsoft.com/office/drawing/2014/main" id="{778886B5-E238-C3F3-DE13-3AC48002C58E}"/>
              </a:ext>
            </a:extLst>
          </p:cNvPr>
          <p:cNvSpPr>
            <a:spLocks noChangeArrowheads="1"/>
          </p:cNvSpPr>
          <p:nvPr/>
        </p:nvSpPr>
        <p:spPr bwMode="auto">
          <a:xfrm>
            <a:off x="2635250" y="4389438"/>
            <a:ext cx="1390650" cy="334962"/>
          </a:xfrm>
          <a:prstGeom prst="rect">
            <a:avLst/>
          </a:prstGeom>
          <a:solidFill>
            <a:srgbClr val="00B0F0">
              <a:alpha val="2000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4" name="矩形 12">
            <a:extLst>
              <a:ext uri="{FF2B5EF4-FFF2-40B4-BE49-F238E27FC236}">
                <a16:creationId xmlns:a16="http://schemas.microsoft.com/office/drawing/2014/main" id="{2DD51C4E-2147-7CEE-CF21-DE8C5C81A41B}"/>
              </a:ext>
            </a:extLst>
          </p:cNvPr>
          <p:cNvSpPr>
            <a:spLocks noChangeArrowheads="1"/>
          </p:cNvSpPr>
          <p:nvPr/>
        </p:nvSpPr>
        <p:spPr bwMode="auto">
          <a:xfrm>
            <a:off x="2635250" y="5094288"/>
            <a:ext cx="1384300" cy="627062"/>
          </a:xfrm>
          <a:prstGeom prst="rect">
            <a:avLst/>
          </a:prstGeom>
          <a:solidFill>
            <a:srgbClr val="00B0F0">
              <a:alpha val="2000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5" name="矩形 13">
            <a:extLst>
              <a:ext uri="{FF2B5EF4-FFF2-40B4-BE49-F238E27FC236}">
                <a16:creationId xmlns:a16="http://schemas.microsoft.com/office/drawing/2014/main" id="{D24FCD38-684C-E91F-2FEC-CAB32F080014}"/>
              </a:ext>
            </a:extLst>
          </p:cNvPr>
          <p:cNvSpPr>
            <a:spLocks noChangeArrowheads="1"/>
          </p:cNvSpPr>
          <p:nvPr/>
        </p:nvSpPr>
        <p:spPr bwMode="auto">
          <a:xfrm>
            <a:off x="571500" y="4389438"/>
            <a:ext cx="2070100" cy="334962"/>
          </a:xfrm>
          <a:prstGeom prst="rect">
            <a:avLst/>
          </a:prstGeom>
          <a:solidFill>
            <a:srgbClr val="7030A0">
              <a:alpha val="2000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endParaRPr lang="zh-CN" altLang="en-US"/>
          </a:p>
        </p:txBody>
      </p:sp>
      <p:sp>
        <p:nvSpPr>
          <p:cNvPr id="72716" name="矩形 2">
            <a:extLst>
              <a:ext uri="{FF2B5EF4-FFF2-40B4-BE49-F238E27FC236}">
                <a16:creationId xmlns:a16="http://schemas.microsoft.com/office/drawing/2014/main" id="{17A3140E-EE89-A0FA-F5FC-1B8392A93171}"/>
              </a:ext>
            </a:extLst>
          </p:cNvPr>
          <p:cNvSpPr>
            <a:spLocks noChangeArrowheads="1"/>
          </p:cNvSpPr>
          <p:nvPr/>
        </p:nvSpPr>
        <p:spPr bwMode="auto">
          <a:xfrm>
            <a:off x="4864100" y="844550"/>
            <a:ext cx="41275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800" b="1">
                <a:solidFill>
                  <a:schemeClr val="accent2"/>
                </a:solidFill>
                <a:latin typeface="Arial" panose="020B0604020202020204" pitchFamily="34" charset="0"/>
                <a:ea typeface="宋体" panose="02010600030101010101" pitchFamily="2" charset="-122"/>
              </a:defRPr>
            </a:lvl1pPr>
            <a:lvl2pPr>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0000"/>
              </a:lnSpc>
              <a:spcBef>
                <a:spcPct val="30000"/>
              </a:spcBef>
              <a:buSzPct val="75000"/>
              <a:buFont typeface="Wingdings" panose="05000000000000000000" pitchFamily="2" charset="2"/>
              <a:buChar char="u"/>
            </a:pPr>
            <a:r>
              <a:rPr lang="en-US" altLang="zh-CN" sz="2000">
                <a:solidFill>
                  <a:srgbClr val="C00000"/>
                </a:solidFill>
                <a:latin typeface="微软雅黑" panose="020B0503020204020204" pitchFamily="34" charset="-122"/>
                <a:ea typeface="微软雅黑" panose="020B0503020204020204" pitchFamily="34" charset="-122"/>
              </a:rPr>
              <a:t>opcode</a:t>
            </a:r>
            <a:r>
              <a:rPr lang="zh-CN" altLang="en-US" sz="2000">
                <a:solidFill>
                  <a:schemeClr val="tx1"/>
                </a:solidFill>
                <a:latin typeface="微软雅黑" panose="020B0503020204020204" pitchFamily="34" charset="-122"/>
                <a:ea typeface="微软雅黑" panose="020B0503020204020204" pitchFamily="34" charset="-122"/>
              </a:rPr>
              <a:t>：</a:t>
            </a:r>
            <a:r>
              <a:rPr lang="zh-CN" altLang="zh-CN" sz="2000">
                <a:solidFill>
                  <a:schemeClr val="tx1"/>
                </a:solidFill>
                <a:latin typeface="微软雅黑" panose="020B0503020204020204" pitchFamily="34" charset="-122"/>
                <a:ea typeface="微软雅黑" panose="020B0503020204020204" pitchFamily="34" charset="-122"/>
              </a:rPr>
              <a:t>操作码字段</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ct val="110000"/>
              </a:lnSpc>
              <a:spcBef>
                <a:spcPct val="30000"/>
              </a:spcBef>
              <a:buSzPct val="75000"/>
              <a:buFont typeface="Wingdings" panose="05000000000000000000" pitchFamily="2" charset="2"/>
              <a:buChar char="u"/>
            </a:pPr>
            <a:r>
              <a:rPr lang="en-US" altLang="zh-CN" sz="2000">
                <a:solidFill>
                  <a:srgbClr val="C00000"/>
                </a:solidFill>
                <a:latin typeface="微软雅黑" panose="020B0503020204020204" pitchFamily="34" charset="-122"/>
                <a:ea typeface="微软雅黑" panose="020B0503020204020204" pitchFamily="34" charset="-122"/>
              </a:rPr>
              <a:t>rd</a:t>
            </a:r>
            <a:r>
              <a:rPr lang="zh-CN" altLang="zh-CN" sz="2000">
                <a:solidFill>
                  <a:srgbClr val="C00000"/>
                </a:solidFill>
                <a:latin typeface="微软雅黑" panose="020B0503020204020204" pitchFamily="34" charset="-122"/>
                <a:ea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rPr>
              <a:t>rs1</a:t>
            </a:r>
            <a:r>
              <a:rPr lang="zh-CN" altLang="zh-CN" sz="2000">
                <a:solidFill>
                  <a:srgbClr val="C00000"/>
                </a:solidFill>
                <a:latin typeface="微软雅黑" panose="020B0503020204020204" pitchFamily="34" charset="-122"/>
                <a:ea typeface="微软雅黑" panose="020B0503020204020204" pitchFamily="34" charset="-122"/>
              </a:rPr>
              <a:t>和</a:t>
            </a:r>
            <a:r>
              <a:rPr lang="en-US" altLang="zh-CN" sz="2000">
                <a:solidFill>
                  <a:srgbClr val="C00000"/>
                </a:solidFill>
                <a:latin typeface="微软雅黑" panose="020B0503020204020204" pitchFamily="34" charset="-122"/>
                <a:ea typeface="微软雅黑" panose="020B0503020204020204" pitchFamily="34" charset="-122"/>
              </a:rPr>
              <a:t>rs2</a:t>
            </a:r>
            <a:r>
              <a:rPr lang="zh-CN" altLang="en-US" sz="2000">
                <a:solidFill>
                  <a:schemeClr val="tx1"/>
                </a:solidFill>
                <a:latin typeface="微软雅黑" panose="020B0503020204020204" pitchFamily="34" charset="-122"/>
                <a:ea typeface="微软雅黑" panose="020B0503020204020204" pitchFamily="34" charset="-122"/>
              </a:rPr>
              <a:t>：</a:t>
            </a:r>
            <a:r>
              <a:rPr lang="zh-CN" altLang="zh-CN" sz="2000">
                <a:solidFill>
                  <a:schemeClr val="tx1"/>
                </a:solidFill>
                <a:latin typeface="微软雅黑" panose="020B0503020204020204" pitchFamily="34" charset="-122"/>
                <a:ea typeface="微软雅黑" panose="020B0503020204020204" pitchFamily="34" charset="-122"/>
              </a:rPr>
              <a:t>通用寄存器编号</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ct val="110000"/>
              </a:lnSpc>
              <a:spcBef>
                <a:spcPct val="30000"/>
              </a:spcBef>
              <a:buSzPct val="75000"/>
              <a:buFont typeface="Wingdings" panose="05000000000000000000" pitchFamily="2" charset="2"/>
              <a:buChar char="u"/>
            </a:pPr>
            <a:r>
              <a:rPr lang="en-US" altLang="zh-CN" sz="2000">
                <a:solidFill>
                  <a:srgbClr val="C00000"/>
                </a:solidFill>
                <a:latin typeface="微软雅黑" panose="020B0503020204020204" pitchFamily="34" charset="-122"/>
                <a:ea typeface="微软雅黑" panose="020B0503020204020204" pitchFamily="34" charset="-122"/>
              </a:rPr>
              <a:t>imm</a:t>
            </a:r>
            <a:r>
              <a:rPr lang="zh-CN" altLang="en-US" sz="2000">
                <a:solidFill>
                  <a:schemeClr val="tx1"/>
                </a:solidFill>
                <a:latin typeface="微软雅黑" panose="020B0503020204020204" pitchFamily="34" charset="-122"/>
                <a:ea typeface="微软雅黑" panose="020B0503020204020204" pitchFamily="34" charset="-122"/>
              </a:rPr>
              <a:t>：</a:t>
            </a:r>
            <a:r>
              <a:rPr lang="zh-CN" altLang="zh-CN" sz="2000">
                <a:solidFill>
                  <a:schemeClr val="tx1"/>
                </a:solidFill>
                <a:latin typeface="微软雅黑" panose="020B0503020204020204" pitchFamily="34" charset="-122"/>
                <a:ea typeface="微软雅黑" panose="020B0503020204020204" pitchFamily="34" charset="-122"/>
              </a:rPr>
              <a:t>立即数，其位数在括号</a:t>
            </a:r>
            <a:r>
              <a:rPr lang="en-US" altLang="zh-CN" sz="2000">
                <a:solidFill>
                  <a:schemeClr val="tx1"/>
                </a:solidFill>
                <a:latin typeface="微软雅黑" panose="020B0503020204020204" pitchFamily="34" charset="-122"/>
                <a:ea typeface="微软雅黑" panose="020B0503020204020204" pitchFamily="34" charset="-122"/>
              </a:rPr>
              <a:t>[ ]</a:t>
            </a:r>
            <a:r>
              <a:rPr lang="zh-CN" altLang="zh-CN" sz="2000">
                <a:solidFill>
                  <a:schemeClr val="tx1"/>
                </a:solidFill>
                <a:latin typeface="微软雅黑" panose="020B0503020204020204" pitchFamily="34" charset="-122"/>
                <a:ea typeface="微软雅黑" panose="020B0503020204020204" pitchFamily="34" charset="-122"/>
              </a:rPr>
              <a:t>中表示</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ct val="110000"/>
              </a:lnSpc>
              <a:spcBef>
                <a:spcPct val="30000"/>
              </a:spcBef>
              <a:buSzPct val="75000"/>
              <a:buFont typeface="Wingdings" panose="05000000000000000000" pitchFamily="2" charset="2"/>
              <a:buChar char="u"/>
            </a:pPr>
            <a:r>
              <a:rPr lang="en-US" altLang="zh-CN" sz="2000">
                <a:solidFill>
                  <a:srgbClr val="C00000"/>
                </a:solidFill>
                <a:latin typeface="微软雅黑" panose="020B0503020204020204" pitchFamily="34" charset="-122"/>
                <a:ea typeface="微软雅黑" panose="020B0503020204020204" pitchFamily="34" charset="-122"/>
              </a:rPr>
              <a:t>funct3</a:t>
            </a:r>
            <a:r>
              <a:rPr lang="zh-CN" altLang="zh-CN" sz="2000">
                <a:solidFill>
                  <a:srgbClr val="C00000"/>
                </a:solidFill>
                <a:latin typeface="微软雅黑" panose="020B0503020204020204" pitchFamily="34" charset="-122"/>
                <a:ea typeface="微软雅黑" panose="020B0503020204020204" pitchFamily="34" charset="-122"/>
              </a:rPr>
              <a:t>和</a:t>
            </a:r>
            <a:r>
              <a:rPr lang="en-US" altLang="zh-CN" sz="2000">
                <a:solidFill>
                  <a:srgbClr val="C00000"/>
                </a:solidFill>
                <a:latin typeface="微软雅黑" panose="020B0503020204020204" pitchFamily="34" charset="-122"/>
                <a:ea typeface="微软雅黑" panose="020B0503020204020204" pitchFamily="34" charset="-122"/>
              </a:rPr>
              <a:t>funct7</a:t>
            </a:r>
            <a:r>
              <a:rPr lang="zh-CN" altLang="en-US" sz="2000">
                <a:solidFill>
                  <a:schemeClr val="tx1"/>
                </a:solidFill>
                <a:latin typeface="微软雅黑" panose="020B0503020204020204" pitchFamily="34" charset="-122"/>
                <a:ea typeface="微软雅黑" panose="020B0503020204020204" pitchFamily="34" charset="-122"/>
              </a:rPr>
              <a:t>：</a:t>
            </a:r>
            <a:r>
              <a:rPr lang="zh-CN" altLang="zh-CN" sz="2000">
                <a:solidFill>
                  <a:schemeClr val="tx1"/>
                </a:solidFill>
                <a:latin typeface="微软雅黑" panose="020B0503020204020204" pitchFamily="34" charset="-122"/>
                <a:ea typeface="微软雅黑" panose="020B0503020204020204" pitchFamily="34" charset="-122"/>
              </a:rPr>
              <a:t>分别表示</a:t>
            </a:r>
            <a:r>
              <a:rPr lang="en-US" altLang="zh-CN" sz="2000">
                <a:solidFill>
                  <a:schemeClr val="tx1"/>
                </a:solidFill>
                <a:latin typeface="微软雅黑" panose="020B0503020204020204" pitchFamily="34" charset="-122"/>
                <a:ea typeface="微软雅黑" panose="020B0503020204020204" pitchFamily="34" charset="-122"/>
              </a:rPr>
              <a:t>3</a:t>
            </a:r>
            <a:r>
              <a:rPr lang="zh-CN" altLang="zh-CN" sz="2000">
                <a:solidFill>
                  <a:schemeClr val="tx1"/>
                </a:solidFill>
                <a:latin typeface="微软雅黑" panose="020B0503020204020204" pitchFamily="34" charset="-122"/>
                <a:ea typeface="微软雅黑" panose="020B0503020204020204" pitchFamily="34" charset="-122"/>
              </a:rPr>
              <a:t>位功能码和</a:t>
            </a:r>
            <a:r>
              <a:rPr lang="en-US" altLang="zh-CN" sz="2000">
                <a:solidFill>
                  <a:schemeClr val="tx1"/>
                </a:solidFill>
                <a:latin typeface="微软雅黑" panose="020B0503020204020204" pitchFamily="34" charset="-122"/>
                <a:ea typeface="微软雅黑" panose="020B0503020204020204" pitchFamily="34" charset="-122"/>
              </a:rPr>
              <a:t>7</a:t>
            </a:r>
            <a:r>
              <a:rPr lang="zh-CN" altLang="zh-CN" sz="2000">
                <a:solidFill>
                  <a:schemeClr val="tx1"/>
                </a:solidFill>
                <a:latin typeface="微软雅黑" panose="020B0503020204020204" pitchFamily="34" charset="-122"/>
                <a:ea typeface="微软雅黑" panose="020B0503020204020204" pitchFamily="34" charset="-122"/>
              </a:rPr>
              <a:t>位功能码，和</a:t>
            </a:r>
            <a:r>
              <a:rPr lang="en-US" altLang="zh-CN" sz="2000">
                <a:solidFill>
                  <a:schemeClr val="tx1"/>
                </a:solidFill>
                <a:latin typeface="微软雅黑" panose="020B0503020204020204" pitchFamily="34" charset="-122"/>
                <a:ea typeface="微软雅黑" panose="020B0503020204020204" pitchFamily="34" charset="-122"/>
              </a:rPr>
              <a:t>opcode</a:t>
            </a:r>
            <a:r>
              <a:rPr lang="zh-CN" altLang="zh-CN" sz="2000">
                <a:solidFill>
                  <a:schemeClr val="tx1"/>
                </a:solidFill>
                <a:latin typeface="微软雅黑" panose="020B0503020204020204" pitchFamily="34" charset="-122"/>
                <a:ea typeface="微软雅黑" panose="020B0503020204020204" pitchFamily="34" charset="-122"/>
              </a:rPr>
              <a:t>字段一起定义指令的操作功能</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3">
            <a:extLst>
              <a:ext uri="{FF2B5EF4-FFF2-40B4-BE49-F238E27FC236}">
                <a16:creationId xmlns:a16="http://schemas.microsoft.com/office/drawing/2014/main" id="{4AE03A17-B33B-9BFA-C478-FF97E2000DFC}"/>
              </a:ext>
            </a:extLst>
          </p:cNvPr>
          <p:cNvSpPr>
            <a:spLocks noGrp="1" noChangeArrowheads="1"/>
          </p:cNvSpPr>
          <p:nvPr>
            <p:ph idx="1"/>
          </p:nvPr>
        </p:nvSpPr>
        <p:spPr>
          <a:xfrm>
            <a:off x="125413" y="723900"/>
            <a:ext cx="8556625" cy="2600325"/>
          </a:xfrm>
        </p:spPr>
        <p:txBody>
          <a:bodyPr/>
          <a:lstStyle/>
          <a:p>
            <a:pPr>
              <a:lnSpc>
                <a:spcPts val="2700"/>
              </a:lnSpc>
            </a:pPr>
            <a:r>
              <a:rPr lang="zh-CN" altLang="en-US">
                <a:latin typeface="微软雅黑" panose="020B0503020204020204" pitchFamily="34" charset="-122"/>
                <a:ea typeface="微软雅黑" panose="020B0503020204020204" pitchFamily="34" charset="-122"/>
              </a:rPr>
              <a:t>共有</a:t>
            </a:r>
            <a:r>
              <a:rPr lang="en-US" altLang="zh-CN">
                <a:latin typeface="微软雅黑" panose="020B0503020204020204" pitchFamily="34" charset="-122"/>
                <a:ea typeface="微软雅黑" panose="020B0503020204020204" pitchFamily="34" charset="-122"/>
              </a:rPr>
              <a:t>8</a:t>
            </a:r>
            <a:r>
              <a:rPr lang="zh-CN" altLang="en-US">
                <a:latin typeface="微软雅黑" panose="020B0503020204020204" pitchFamily="34" charset="-122"/>
                <a:ea typeface="微软雅黑" panose="020B0503020204020204" pitchFamily="34" charset="-122"/>
              </a:rPr>
              <a:t>种指令格式。与</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位指令相比，</a:t>
            </a:r>
            <a:r>
              <a:rPr lang="en-US" altLang="zh-CN">
                <a:latin typeface="微软雅黑" panose="020B0503020204020204" pitchFamily="34" charset="-122"/>
                <a:ea typeface="微软雅黑" panose="020B0503020204020204" pitchFamily="34" charset="-122"/>
              </a:rPr>
              <a:t>16</a:t>
            </a:r>
            <a:r>
              <a:rPr lang="zh-CN" altLang="en-US">
                <a:latin typeface="微软雅黑" panose="020B0503020204020204" pitchFamily="34" charset="-122"/>
                <a:ea typeface="微软雅黑" panose="020B0503020204020204" pitchFamily="34" charset="-122"/>
              </a:rPr>
              <a:t>位指令中的一部分寄存器编号还是占</a:t>
            </a:r>
            <a:r>
              <a:rPr lang="en-US" altLang="zh-CN">
                <a:latin typeface="微软雅黑" panose="020B0503020204020204" pitchFamily="34" charset="-122"/>
                <a:ea typeface="微软雅黑" panose="020B0503020204020204" pitchFamily="34" charset="-122"/>
              </a:rPr>
              <a:t>5</a:t>
            </a:r>
            <a:r>
              <a:rPr lang="zh-CN" altLang="en-US">
                <a:latin typeface="微软雅黑" panose="020B0503020204020204" pitchFamily="34" charset="-122"/>
                <a:ea typeface="微软雅黑" panose="020B0503020204020204" pitchFamily="34" charset="-122"/>
              </a:rPr>
              <a:t>位。指令变短了，但还是</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位架构，处理的还是</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位数据，还是有</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个通用寄存器。</a:t>
            </a:r>
            <a:endParaRPr lang="en-US" altLang="zh-CN">
              <a:latin typeface="微软雅黑" panose="020B0503020204020204" pitchFamily="34" charset="-122"/>
              <a:ea typeface="微软雅黑" panose="020B0503020204020204" pitchFamily="34" charset="-122"/>
            </a:endParaRPr>
          </a:p>
          <a:p>
            <a:pPr>
              <a:lnSpc>
                <a:spcPts val="2700"/>
              </a:lnSpc>
            </a:pPr>
            <a:r>
              <a:rPr lang="zh-CN" altLang="en-US">
                <a:latin typeface="微软雅黑" panose="020B0503020204020204" pitchFamily="34" charset="-122"/>
                <a:ea typeface="微软雅黑" panose="020B0503020204020204" pitchFamily="34" charset="-122"/>
              </a:rPr>
              <a:t>为了缩短指令长度，操作码</a:t>
            </a:r>
            <a:r>
              <a:rPr lang="en-US" altLang="zh-CN">
                <a:latin typeface="微软雅黑" panose="020B0503020204020204" pitchFamily="34" charset="-122"/>
                <a:ea typeface="微软雅黑" panose="020B0503020204020204" pitchFamily="34" charset="-122"/>
              </a:rPr>
              <a:t>op</a:t>
            </a:r>
            <a:r>
              <a:rPr lang="zh-CN" altLang="en-US">
                <a:latin typeface="微软雅黑" panose="020B0503020204020204" pitchFamily="34" charset="-122"/>
                <a:ea typeface="微软雅黑" panose="020B0503020204020204" pitchFamily="34" charset="-122"/>
              </a:rPr>
              <a:t>、功能码</a:t>
            </a:r>
            <a:r>
              <a:rPr lang="en-US" altLang="zh-CN">
                <a:latin typeface="微软雅黑" panose="020B0503020204020204" pitchFamily="34" charset="-122"/>
                <a:ea typeface="微软雅黑" panose="020B0503020204020204" pitchFamily="34" charset="-122"/>
              </a:rPr>
              <a:t>funct</a:t>
            </a:r>
            <a:r>
              <a:rPr lang="zh-CN" altLang="en-US">
                <a:latin typeface="微软雅黑" panose="020B0503020204020204" pitchFamily="34" charset="-122"/>
                <a:ea typeface="微软雅黑" panose="020B0503020204020204" pitchFamily="34" charset="-122"/>
              </a:rPr>
              <a:t>、立即数</a:t>
            </a:r>
            <a:r>
              <a:rPr lang="en-US" altLang="zh-CN">
                <a:latin typeface="微软雅黑" panose="020B0503020204020204" pitchFamily="34" charset="-122"/>
                <a:ea typeface="微软雅黑" panose="020B0503020204020204" pitchFamily="34" charset="-122"/>
              </a:rPr>
              <a:t>imm</a:t>
            </a:r>
            <a:r>
              <a:rPr lang="zh-CN" altLang="en-US">
                <a:latin typeface="微软雅黑" panose="020B0503020204020204" pitchFamily="34" charset="-122"/>
                <a:ea typeface="微软雅黑" panose="020B0503020204020204" pitchFamily="34" charset="-122"/>
              </a:rPr>
              <a:t>和另一部分寄存器编号的位数都减少了。</a:t>
            </a:r>
            <a:endParaRPr lang="en-US" altLang="zh-CN">
              <a:latin typeface="微软雅黑" panose="020B0503020204020204" pitchFamily="34" charset="-122"/>
              <a:ea typeface="微软雅黑" panose="020B0503020204020204" pitchFamily="34" charset="-122"/>
            </a:endParaRPr>
          </a:p>
          <a:p>
            <a:pPr>
              <a:lnSpc>
                <a:spcPts val="2700"/>
              </a:lnSpc>
            </a:pPr>
            <a:r>
              <a:rPr lang="zh-CN" altLang="en-US">
                <a:latin typeface="微软雅黑" panose="020B0503020204020204" pitchFamily="34" charset="-122"/>
                <a:ea typeface="微软雅黑" panose="020B0503020204020204" pitchFamily="34" charset="-122"/>
              </a:rPr>
              <a:t>每条</a:t>
            </a:r>
            <a:r>
              <a:rPr lang="en-US" altLang="zh-CN">
                <a:latin typeface="微软雅黑" panose="020B0503020204020204" pitchFamily="34" charset="-122"/>
                <a:ea typeface="微软雅黑" panose="020B0503020204020204" pitchFamily="34" charset="-122"/>
              </a:rPr>
              <a:t>16</a:t>
            </a:r>
            <a:r>
              <a:rPr lang="zh-CN" altLang="en-US">
                <a:latin typeface="微软雅黑" panose="020B0503020204020204" pitchFamily="34" charset="-122"/>
                <a:ea typeface="微软雅黑" panose="020B0503020204020204" pitchFamily="34" charset="-122"/>
              </a:rPr>
              <a:t>位指令都有功能完全相同的</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位指令，在执行时由硬件先转换为</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位指令再执行。</a:t>
            </a:r>
            <a:r>
              <a:rPr lang="zh-CN" altLang="en-US">
                <a:solidFill>
                  <a:srgbClr val="C00000"/>
                </a:solidFill>
                <a:latin typeface="微软雅黑" panose="020B0503020204020204" pitchFamily="34" charset="-122"/>
                <a:ea typeface="微软雅黑" panose="020B0503020204020204" pitchFamily="34" charset="-122"/>
              </a:rPr>
              <a:t>目的是：缩短程序代码量，用少量时间换空间！</a:t>
            </a:r>
            <a:endParaRPr lang="en-US" altLang="zh-CN">
              <a:solidFill>
                <a:srgbClr val="C00000"/>
              </a:solidFill>
              <a:latin typeface="微软雅黑" panose="020B0503020204020204" pitchFamily="34" charset="-122"/>
              <a:ea typeface="微软雅黑" panose="020B0503020204020204" pitchFamily="34" charset="-122"/>
            </a:endParaRPr>
          </a:p>
        </p:txBody>
      </p:sp>
      <p:sp>
        <p:nvSpPr>
          <p:cNvPr id="73730" name="Rectangle 2">
            <a:extLst>
              <a:ext uri="{FF2B5EF4-FFF2-40B4-BE49-F238E27FC236}">
                <a16:creationId xmlns:a16="http://schemas.microsoft.com/office/drawing/2014/main" id="{DBB8B67C-5214-3074-FD87-45206FEEB733}"/>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16</a:t>
            </a:r>
            <a:r>
              <a:rPr lang="zh-CN" altLang="en-US">
                <a:ea typeface="宋体" panose="02010600030101010101" pitchFamily="2" charset="-122"/>
              </a:rPr>
              <a:t>位</a:t>
            </a:r>
            <a:r>
              <a:rPr lang="en-US" altLang="zh-CN">
                <a:ea typeface="宋体" panose="02010600030101010101" pitchFamily="2" charset="-122"/>
              </a:rPr>
              <a:t>RISC-V</a:t>
            </a:r>
            <a:r>
              <a:rPr lang="zh-CN" altLang="en-US">
                <a:ea typeface="宋体" panose="02010600030101010101" pitchFamily="2" charset="-122"/>
              </a:rPr>
              <a:t>压缩指令格式</a:t>
            </a:r>
          </a:p>
        </p:txBody>
      </p:sp>
      <p:pic>
        <p:nvPicPr>
          <p:cNvPr id="73731" name="Picture 2">
            <a:extLst>
              <a:ext uri="{FF2B5EF4-FFF2-40B4-BE49-F238E27FC236}">
                <a16:creationId xmlns:a16="http://schemas.microsoft.com/office/drawing/2014/main" id="{2881203B-3460-9077-AA8A-E4CC2CB5B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8" y="3533775"/>
            <a:ext cx="8556625"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a16="http://schemas.microsoft.com/office/drawing/2014/main" id="{E437CCD2-AD0B-0D86-F60D-A2B1EF20CC7E}"/>
              </a:ext>
            </a:extLst>
          </p:cNvPr>
          <p:cNvSpPr>
            <a:spLocks noGrp="1" noChangeArrowheads="1"/>
          </p:cNvSpPr>
          <p:nvPr>
            <p:ph idx="1"/>
          </p:nvPr>
        </p:nvSpPr>
        <p:spPr>
          <a:xfrm>
            <a:off x="125413" y="723900"/>
            <a:ext cx="4572000" cy="6024563"/>
          </a:xfrm>
        </p:spPr>
        <p:txBody>
          <a:bodyPr/>
          <a:lstStyle/>
          <a:p>
            <a:pPr>
              <a:lnSpc>
                <a:spcPts val="2700"/>
              </a:lnSpc>
              <a:defRPr/>
            </a:pPr>
            <a:r>
              <a:rPr lang="zh-CN" altLang="en-US" dirty="0">
                <a:latin typeface="微软雅黑" panose="020B0503020204020204" pitchFamily="34" charset="-122"/>
                <a:ea typeface="微软雅黑" panose="020B0503020204020204" pitchFamily="34" charset="-122"/>
              </a:rPr>
              <a:t>包含：</a:t>
            </a:r>
            <a:endParaRPr lang="en-US" altLang="zh-CN"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移位（</a:t>
            </a:r>
            <a:r>
              <a:rPr lang="en-US" altLang="zh-CN" sz="2000" dirty="0">
                <a:latin typeface="微软雅黑" panose="020B0503020204020204" pitchFamily="34" charset="-122"/>
                <a:ea typeface="微软雅黑" panose="020B0503020204020204" pitchFamily="34" charset="-122"/>
              </a:rPr>
              <a:t>Shifts</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算术运算（</a:t>
            </a:r>
            <a:r>
              <a:rPr lang="en-US" altLang="zh-CN" sz="2000" dirty="0">
                <a:latin typeface="微软雅黑" panose="020B0503020204020204" pitchFamily="34" charset="-122"/>
                <a:ea typeface="微软雅黑" panose="020B0503020204020204" pitchFamily="34" charset="-122"/>
              </a:rPr>
              <a:t>Arithmetic</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逻辑运算（</a:t>
            </a:r>
            <a:r>
              <a:rPr lang="en-US" altLang="zh-CN" sz="2000" dirty="0">
                <a:latin typeface="微软雅黑" panose="020B0503020204020204" pitchFamily="34" charset="-122"/>
                <a:ea typeface="微软雅黑" panose="020B0503020204020204" pitchFamily="34" charset="-122"/>
              </a:rPr>
              <a:t>Logical</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比较（</a:t>
            </a:r>
            <a:r>
              <a:rPr lang="en-US" altLang="zh-CN" sz="2000" dirty="0">
                <a:latin typeface="微软雅黑" panose="020B0503020204020204" pitchFamily="34" charset="-122"/>
                <a:ea typeface="微软雅黑" panose="020B0503020204020204" pitchFamily="34" charset="-122"/>
              </a:rPr>
              <a:t>Compare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分支（</a:t>
            </a:r>
            <a:r>
              <a:rPr lang="en-US" altLang="zh-CN" sz="2000" dirty="0">
                <a:latin typeface="微软雅黑" panose="020B0503020204020204" pitchFamily="34" charset="-122"/>
                <a:ea typeface="微软雅黑" panose="020B0503020204020204" pitchFamily="34" charset="-122"/>
              </a:rPr>
              <a:t>Branch</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跳转链接（</a:t>
            </a:r>
            <a:r>
              <a:rPr lang="en-US" altLang="zh-CN" sz="2000" dirty="0">
                <a:latin typeface="微软雅黑" panose="020B0503020204020204" pitchFamily="34" charset="-122"/>
                <a:ea typeface="微软雅黑" panose="020B0503020204020204" pitchFamily="34" charset="-122"/>
              </a:rPr>
              <a:t>Jump &amp; Link</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同步（</a:t>
            </a:r>
            <a:r>
              <a:rPr lang="en-US" altLang="zh-CN" sz="2000" dirty="0">
                <a:latin typeface="微软雅黑" panose="020B0503020204020204" pitchFamily="34" charset="-122"/>
                <a:ea typeface="微软雅黑" panose="020B0503020204020204" pitchFamily="34" charset="-122"/>
              </a:rPr>
              <a:t>Synch</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环境（</a:t>
            </a:r>
            <a:r>
              <a:rPr lang="en-US" altLang="zh-CN" sz="2000" dirty="0">
                <a:latin typeface="微软雅黑" panose="020B0503020204020204" pitchFamily="34" charset="-122"/>
                <a:ea typeface="微软雅黑" panose="020B0503020204020204" pitchFamily="34" charset="-122"/>
              </a:rPr>
              <a:t>Environment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控制状态寄存器（</a:t>
            </a:r>
            <a:r>
              <a:rPr lang="en-US" altLang="zh-CN" sz="2000" dirty="0">
                <a:latin typeface="微软雅黑" panose="020B0503020204020204" pitchFamily="34" charset="-122"/>
                <a:ea typeface="微软雅黑" panose="020B0503020204020204" pitchFamily="34" charset="-122"/>
              </a:rPr>
              <a:t>Control Status Register</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取数（</a:t>
            </a:r>
            <a:r>
              <a:rPr lang="en-US" altLang="zh-CN" sz="2000" dirty="0">
                <a:latin typeface="微软雅黑" panose="020B0503020204020204" pitchFamily="34" charset="-122"/>
                <a:ea typeface="微软雅黑" panose="020B0503020204020204" pitchFamily="34" charset="-122"/>
              </a:rPr>
              <a:t>Load</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700"/>
              </a:lnSpc>
              <a:buSzTx/>
              <a:defRPr/>
            </a:pPr>
            <a:r>
              <a:rPr lang="zh-CN" altLang="en-US" sz="2000" dirty="0">
                <a:latin typeface="微软雅黑" panose="020B0503020204020204" pitchFamily="34" charset="-122"/>
                <a:ea typeface="微软雅黑" panose="020B0503020204020204" pitchFamily="34" charset="-122"/>
              </a:rPr>
              <a:t>存数（</a:t>
            </a:r>
            <a:r>
              <a:rPr lang="en-US" altLang="zh-CN" sz="2000" dirty="0">
                <a:latin typeface="微软雅黑" panose="020B0503020204020204" pitchFamily="34" charset="-122"/>
                <a:ea typeface="微软雅黑" panose="020B0503020204020204" pitchFamily="34" charset="-122"/>
              </a:rPr>
              <a:t>Store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lvl="1" indent="0">
              <a:lnSpc>
                <a:spcPts val="2700"/>
              </a:lnSpc>
              <a:buSzTx/>
              <a:buFontTx/>
              <a:buNone/>
              <a:defRPr/>
            </a:pP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74754" name="Rectangle 2">
            <a:extLst>
              <a:ext uri="{FF2B5EF4-FFF2-40B4-BE49-F238E27FC236}">
                <a16:creationId xmlns:a16="http://schemas.microsoft.com/office/drawing/2014/main" id="{C63DC8E6-EDC7-0386-0BE4-891AEF3C5953}"/>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74755" name="右大括号 1">
            <a:extLst>
              <a:ext uri="{FF2B5EF4-FFF2-40B4-BE49-F238E27FC236}">
                <a16:creationId xmlns:a16="http://schemas.microsoft.com/office/drawing/2014/main" id="{4F5AB114-5AA0-75B3-BB6D-AD45A9D43A92}"/>
              </a:ext>
            </a:extLst>
          </p:cNvPr>
          <p:cNvSpPr>
            <a:spLocks/>
          </p:cNvSpPr>
          <p:nvPr/>
        </p:nvSpPr>
        <p:spPr bwMode="auto">
          <a:xfrm>
            <a:off x="3600450" y="1317625"/>
            <a:ext cx="282575" cy="1412875"/>
          </a:xfrm>
          <a:prstGeom prst="rightBrace">
            <a:avLst>
              <a:gd name="adj1" fmla="val 27106"/>
              <a:gd name="adj2" fmla="val 50000"/>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p>
            <a:pPr eaLnBrk="0" hangingPunct="0"/>
            <a:endParaRPr lang="zh-CN" altLang="en-US"/>
          </a:p>
        </p:txBody>
      </p:sp>
      <p:sp>
        <p:nvSpPr>
          <p:cNvPr id="74756" name="矩形 2">
            <a:extLst>
              <a:ext uri="{FF2B5EF4-FFF2-40B4-BE49-F238E27FC236}">
                <a16:creationId xmlns:a16="http://schemas.microsoft.com/office/drawing/2014/main" id="{57FC0C78-AA54-01E6-C811-F31256C22DC3}"/>
              </a:ext>
            </a:extLst>
          </p:cNvPr>
          <p:cNvSpPr>
            <a:spLocks noChangeArrowheads="1"/>
          </p:cNvSpPr>
          <p:nvPr/>
        </p:nvSpPr>
        <p:spPr bwMode="auto">
          <a:xfrm>
            <a:off x="3825875" y="1719263"/>
            <a:ext cx="1347788"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700"/>
              </a:lnSpc>
              <a:spcBef>
                <a:spcPct val="30000"/>
              </a:spcBef>
              <a:buSzPct val="75000"/>
            </a:pPr>
            <a:r>
              <a:rPr lang="zh-CN" altLang="en-US" sz="2200">
                <a:solidFill>
                  <a:schemeClr val="tx1"/>
                </a:solidFill>
                <a:latin typeface="微软雅黑" panose="020B0503020204020204" pitchFamily="34" charset="-122"/>
                <a:ea typeface="微软雅黑" panose="020B0503020204020204" pitchFamily="34" charset="-122"/>
              </a:rPr>
              <a:t>整数运算类指令</a:t>
            </a:r>
            <a:endParaRPr lang="en-US" altLang="zh-CN" sz="2200">
              <a:solidFill>
                <a:schemeClr val="tx1"/>
              </a:solidFill>
              <a:latin typeface="微软雅黑" panose="020B0503020204020204" pitchFamily="34" charset="-122"/>
              <a:ea typeface="微软雅黑" panose="020B0503020204020204" pitchFamily="34" charset="-122"/>
            </a:endParaRPr>
          </a:p>
        </p:txBody>
      </p:sp>
      <p:sp>
        <p:nvSpPr>
          <p:cNvPr id="74757" name="矩形 7">
            <a:extLst>
              <a:ext uri="{FF2B5EF4-FFF2-40B4-BE49-F238E27FC236}">
                <a16:creationId xmlns:a16="http://schemas.microsoft.com/office/drawing/2014/main" id="{1B291A03-C677-7B47-A95B-9205CBC9B210}"/>
              </a:ext>
            </a:extLst>
          </p:cNvPr>
          <p:cNvSpPr>
            <a:spLocks noChangeArrowheads="1"/>
          </p:cNvSpPr>
          <p:nvPr/>
        </p:nvSpPr>
        <p:spPr bwMode="auto">
          <a:xfrm>
            <a:off x="4114800" y="2903538"/>
            <a:ext cx="1347788"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700"/>
              </a:lnSpc>
              <a:spcBef>
                <a:spcPct val="30000"/>
              </a:spcBef>
              <a:buSzPct val="75000"/>
            </a:pPr>
            <a:r>
              <a:rPr lang="zh-CN" altLang="en-US" sz="2200">
                <a:solidFill>
                  <a:schemeClr val="tx1"/>
                </a:solidFill>
                <a:latin typeface="微软雅黑" panose="020B0503020204020204" pitchFamily="34" charset="-122"/>
                <a:ea typeface="微软雅黑" panose="020B0503020204020204" pitchFamily="34" charset="-122"/>
              </a:rPr>
              <a:t>控制转移类指令</a:t>
            </a:r>
            <a:endParaRPr lang="en-US" altLang="zh-CN" sz="2200">
              <a:solidFill>
                <a:schemeClr val="tx1"/>
              </a:solidFill>
              <a:latin typeface="微软雅黑" panose="020B0503020204020204" pitchFamily="34" charset="-122"/>
              <a:ea typeface="微软雅黑" panose="020B0503020204020204" pitchFamily="34" charset="-122"/>
            </a:endParaRPr>
          </a:p>
        </p:txBody>
      </p:sp>
      <p:sp>
        <p:nvSpPr>
          <p:cNvPr id="74758" name="右大括号 8">
            <a:extLst>
              <a:ext uri="{FF2B5EF4-FFF2-40B4-BE49-F238E27FC236}">
                <a16:creationId xmlns:a16="http://schemas.microsoft.com/office/drawing/2014/main" id="{6B3735C7-E95D-AE4D-AA14-12A65B7F4B3A}"/>
              </a:ext>
            </a:extLst>
          </p:cNvPr>
          <p:cNvSpPr>
            <a:spLocks/>
          </p:cNvSpPr>
          <p:nvPr/>
        </p:nvSpPr>
        <p:spPr bwMode="auto">
          <a:xfrm>
            <a:off x="3876675" y="2928938"/>
            <a:ext cx="282575" cy="706437"/>
          </a:xfrm>
          <a:prstGeom prst="rightBrace">
            <a:avLst>
              <a:gd name="adj1" fmla="val 27187"/>
              <a:gd name="adj2" fmla="val 50000"/>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63500" tIns="25400" rIns="63500" bIns="25400"/>
          <a:lstStyle/>
          <a:p>
            <a:pPr eaLnBrk="0" hangingPunct="0"/>
            <a:endParaRPr lang="zh-CN" altLang="en-US"/>
          </a:p>
        </p:txBody>
      </p:sp>
      <p:sp>
        <p:nvSpPr>
          <p:cNvPr id="74759" name="矩形 9">
            <a:extLst>
              <a:ext uri="{FF2B5EF4-FFF2-40B4-BE49-F238E27FC236}">
                <a16:creationId xmlns:a16="http://schemas.microsoft.com/office/drawing/2014/main" id="{08D8332C-2CCA-F868-8D56-8D66933BFAC3}"/>
              </a:ext>
            </a:extLst>
          </p:cNvPr>
          <p:cNvSpPr>
            <a:spLocks noChangeArrowheads="1"/>
          </p:cNvSpPr>
          <p:nvPr/>
        </p:nvSpPr>
        <p:spPr bwMode="auto">
          <a:xfrm>
            <a:off x="2903538" y="5645150"/>
            <a:ext cx="25082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700"/>
              </a:lnSpc>
              <a:spcBef>
                <a:spcPct val="30000"/>
              </a:spcBef>
              <a:buSzPct val="75000"/>
            </a:pPr>
            <a:r>
              <a:rPr lang="zh-CN" altLang="en-US" sz="2200">
                <a:solidFill>
                  <a:schemeClr val="tx1"/>
                </a:solidFill>
                <a:latin typeface="微软雅黑" panose="020B0503020204020204" pitchFamily="34" charset="-122"/>
                <a:ea typeface="微软雅黑" panose="020B0503020204020204" pitchFamily="34" charset="-122"/>
              </a:rPr>
              <a:t>存储访问类指令</a:t>
            </a:r>
            <a:endParaRPr lang="en-US" altLang="zh-CN" sz="2200">
              <a:solidFill>
                <a:schemeClr val="tx1"/>
              </a:solidFill>
              <a:latin typeface="微软雅黑" panose="020B0503020204020204" pitchFamily="34" charset="-122"/>
              <a:ea typeface="微软雅黑" panose="020B0503020204020204" pitchFamily="34" charset="-122"/>
            </a:endParaRPr>
          </a:p>
        </p:txBody>
      </p:sp>
      <p:sp>
        <p:nvSpPr>
          <p:cNvPr id="74760" name="右大括号 10">
            <a:extLst>
              <a:ext uri="{FF2B5EF4-FFF2-40B4-BE49-F238E27FC236}">
                <a16:creationId xmlns:a16="http://schemas.microsoft.com/office/drawing/2014/main" id="{987D03C0-30DC-F197-0B36-6CC50397186C}"/>
              </a:ext>
            </a:extLst>
          </p:cNvPr>
          <p:cNvSpPr>
            <a:spLocks/>
          </p:cNvSpPr>
          <p:nvPr/>
        </p:nvSpPr>
        <p:spPr bwMode="auto">
          <a:xfrm>
            <a:off x="2620963" y="5502275"/>
            <a:ext cx="282575" cy="704850"/>
          </a:xfrm>
          <a:prstGeom prst="rightBrace">
            <a:avLst>
              <a:gd name="adj1" fmla="val 27126"/>
              <a:gd name="adj2" fmla="val 50000"/>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63500" tIns="25400" rIns="63500" bIns="25400"/>
          <a:lstStyle/>
          <a:p>
            <a:pPr eaLnBrk="0" hangingPunct="0"/>
            <a:endParaRPr lang="zh-CN" altLang="en-US"/>
          </a:p>
        </p:txBody>
      </p:sp>
      <p:sp>
        <p:nvSpPr>
          <p:cNvPr id="74761" name="矩形 11">
            <a:extLst>
              <a:ext uri="{FF2B5EF4-FFF2-40B4-BE49-F238E27FC236}">
                <a16:creationId xmlns:a16="http://schemas.microsoft.com/office/drawing/2014/main" id="{5CD2B0C0-FDD8-08EE-43DE-883D36BD9358}"/>
              </a:ext>
            </a:extLst>
          </p:cNvPr>
          <p:cNvSpPr>
            <a:spLocks noChangeArrowheads="1"/>
          </p:cNvSpPr>
          <p:nvPr/>
        </p:nvSpPr>
        <p:spPr bwMode="auto">
          <a:xfrm>
            <a:off x="4098925" y="4354513"/>
            <a:ext cx="1446213"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700"/>
              </a:lnSpc>
              <a:spcBef>
                <a:spcPct val="30000"/>
              </a:spcBef>
              <a:buSzPct val="75000"/>
            </a:pPr>
            <a:r>
              <a:rPr lang="zh-CN" altLang="en-US" sz="2200">
                <a:solidFill>
                  <a:schemeClr val="tx1"/>
                </a:solidFill>
                <a:latin typeface="微软雅黑" panose="020B0503020204020204" pitchFamily="34" charset="-122"/>
                <a:ea typeface="微软雅黑" panose="020B0503020204020204" pitchFamily="34" charset="-122"/>
              </a:rPr>
              <a:t>系统控制类指令</a:t>
            </a:r>
            <a:endParaRPr lang="en-US" altLang="zh-CN" sz="2200">
              <a:solidFill>
                <a:schemeClr val="tx1"/>
              </a:solidFill>
              <a:latin typeface="微软雅黑" panose="020B0503020204020204" pitchFamily="34" charset="-122"/>
              <a:ea typeface="微软雅黑" panose="020B0503020204020204" pitchFamily="34" charset="-122"/>
            </a:endParaRPr>
          </a:p>
        </p:txBody>
      </p:sp>
      <p:sp>
        <p:nvSpPr>
          <p:cNvPr id="74762" name="右大括号 12">
            <a:extLst>
              <a:ext uri="{FF2B5EF4-FFF2-40B4-BE49-F238E27FC236}">
                <a16:creationId xmlns:a16="http://schemas.microsoft.com/office/drawing/2014/main" id="{3B6A1CB6-DF53-0276-BDC2-BC458FBB631C}"/>
              </a:ext>
            </a:extLst>
          </p:cNvPr>
          <p:cNvSpPr>
            <a:spLocks/>
          </p:cNvSpPr>
          <p:nvPr/>
        </p:nvSpPr>
        <p:spPr bwMode="auto">
          <a:xfrm>
            <a:off x="3843338" y="4003675"/>
            <a:ext cx="282575" cy="1355725"/>
          </a:xfrm>
          <a:prstGeom prst="rightBrace">
            <a:avLst>
              <a:gd name="adj1" fmla="val 27121"/>
              <a:gd name="adj2" fmla="val 50000"/>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63500" tIns="25400" rIns="63500" bIns="25400"/>
          <a:lstStyle/>
          <a:p>
            <a:pPr eaLnBrk="0" hangingPunct="0"/>
            <a:endParaRPr lang="zh-CN" altLang="en-US"/>
          </a:p>
        </p:txBody>
      </p:sp>
      <p:sp>
        <p:nvSpPr>
          <p:cNvPr id="4" name="矩形 3">
            <a:extLst>
              <a:ext uri="{FF2B5EF4-FFF2-40B4-BE49-F238E27FC236}">
                <a16:creationId xmlns:a16="http://schemas.microsoft.com/office/drawing/2014/main" id="{F68592DE-96D9-B2C0-204C-9EED298AE76F}"/>
              </a:ext>
            </a:extLst>
          </p:cNvPr>
          <p:cNvSpPr>
            <a:spLocks noChangeArrowheads="1"/>
          </p:cNvSpPr>
          <p:nvPr/>
        </p:nvSpPr>
        <p:spPr bwMode="auto">
          <a:xfrm>
            <a:off x="5588000" y="766763"/>
            <a:ext cx="3430588" cy="5805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0" hangingPunct="0">
              <a:lnSpc>
                <a:spcPts val="2700"/>
              </a:lnSpc>
              <a:spcBef>
                <a:spcPts val="600"/>
              </a:spcBef>
            </a:pPr>
            <a:r>
              <a:rPr lang="en-US" altLang="zh-CN" sz="2000">
                <a:solidFill>
                  <a:schemeClr val="accent1"/>
                </a:solidFill>
                <a:latin typeface="微软雅黑" panose="020B0503020204020204" pitchFamily="34" charset="-122"/>
                <a:ea typeface="微软雅黑" panose="020B0503020204020204" pitchFamily="34" charset="-122"/>
              </a:rPr>
              <a:t>RTL</a:t>
            </a:r>
            <a:r>
              <a:rPr lang="zh-CN" altLang="en-US" sz="2000">
                <a:solidFill>
                  <a:schemeClr val="accent1"/>
                </a:solidFill>
                <a:latin typeface="微软雅黑" panose="020B0503020204020204" pitchFamily="34" charset="-122"/>
                <a:ea typeface="微软雅黑" panose="020B0503020204020204" pitchFamily="34" charset="-122"/>
              </a:rPr>
              <a:t>规定：</a:t>
            </a:r>
            <a:endParaRPr lang="en-US" altLang="zh-CN" sz="2000">
              <a:solidFill>
                <a:schemeClr val="accent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en-US" altLang="zh-CN" sz="2000">
                <a:solidFill>
                  <a:srgbClr val="0033CC"/>
                </a:solidFill>
                <a:latin typeface="微软雅黑" panose="020B0503020204020204" pitchFamily="34" charset="-122"/>
                <a:ea typeface="微软雅黑" panose="020B0503020204020204" pitchFamily="34" charset="-122"/>
              </a:rPr>
              <a:t>R[r]</a:t>
            </a:r>
            <a:r>
              <a:rPr lang="zh-CN" altLang="en-US" sz="2000">
                <a:solidFill>
                  <a:srgbClr val="0033CC"/>
                </a:solidFill>
                <a:latin typeface="微软雅黑" panose="020B0503020204020204" pitchFamily="34" charset="-122"/>
                <a:ea typeface="微软雅黑" panose="020B0503020204020204" pitchFamily="34" charset="-122"/>
              </a:rPr>
              <a:t>：</a:t>
            </a:r>
            <a:r>
              <a:rPr lang="zh-CN" altLang="en-US" sz="2000">
                <a:solidFill>
                  <a:schemeClr val="tx1"/>
                </a:solidFill>
                <a:latin typeface="微软雅黑" panose="020B0503020204020204" pitchFamily="34" charset="-122"/>
                <a:ea typeface="微软雅黑" panose="020B0503020204020204" pitchFamily="34" charset="-122"/>
              </a:rPr>
              <a:t>通用寄存器</a:t>
            </a:r>
            <a:r>
              <a:rPr lang="en-US" altLang="zh-CN" sz="2000">
                <a:solidFill>
                  <a:schemeClr val="tx1"/>
                </a:solidFill>
                <a:latin typeface="微软雅黑" panose="020B0503020204020204" pitchFamily="34" charset="-122"/>
                <a:ea typeface="微软雅黑" panose="020B0503020204020204" pitchFamily="34" charset="-122"/>
              </a:rPr>
              <a:t>r</a:t>
            </a:r>
            <a:r>
              <a:rPr lang="zh-CN" altLang="en-US" sz="2000">
                <a:solidFill>
                  <a:schemeClr val="tx1"/>
                </a:solidFill>
                <a:latin typeface="微软雅黑" panose="020B0503020204020204" pitchFamily="34" charset="-122"/>
                <a:ea typeface="微软雅黑" panose="020B0503020204020204" pitchFamily="34" charset="-122"/>
              </a:rPr>
              <a:t>的内容</a:t>
            </a:r>
            <a:r>
              <a:rPr lang="en-US" altLang="zh-CN" sz="2000">
                <a:solidFill>
                  <a:srgbClr val="0033CC"/>
                </a:solidFill>
                <a:latin typeface="微软雅黑" panose="020B0503020204020204" pitchFamily="34" charset="-122"/>
                <a:ea typeface="微软雅黑" panose="020B0503020204020204" pitchFamily="34" charset="-122"/>
              </a:rPr>
              <a:t>M[addr]</a:t>
            </a:r>
            <a:r>
              <a:rPr lang="zh-CN" altLang="en-US" sz="2000">
                <a:solidFill>
                  <a:srgbClr val="0033CC"/>
                </a:solidFill>
                <a:latin typeface="微软雅黑" panose="020B0503020204020204" pitchFamily="34" charset="-122"/>
                <a:ea typeface="微软雅黑" panose="020B0503020204020204" pitchFamily="34" charset="-122"/>
              </a:rPr>
              <a:t>：</a:t>
            </a:r>
            <a:r>
              <a:rPr lang="zh-CN" altLang="en-US" sz="2000">
                <a:solidFill>
                  <a:schemeClr val="tx1"/>
                </a:solidFill>
                <a:latin typeface="微软雅黑" panose="020B0503020204020204" pitchFamily="34" charset="-122"/>
                <a:ea typeface="微软雅黑" panose="020B0503020204020204" pitchFamily="34" charset="-122"/>
              </a:rPr>
              <a:t>存储单元</a:t>
            </a:r>
            <a:r>
              <a:rPr lang="en-US" altLang="zh-CN" sz="2000">
                <a:solidFill>
                  <a:schemeClr val="tx1"/>
                </a:solidFill>
                <a:latin typeface="微软雅黑" panose="020B0503020204020204" pitchFamily="34" charset="-122"/>
                <a:ea typeface="微软雅黑" panose="020B0503020204020204" pitchFamily="34" charset="-122"/>
              </a:rPr>
              <a:t>addr</a:t>
            </a:r>
            <a:r>
              <a:rPr lang="zh-CN" altLang="en-US" sz="2000">
                <a:solidFill>
                  <a:schemeClr val="tx1"/>
                </a:solidFill>
                <a:latin typeface="微软雅黑" panose="020B0503020204020204" pitchFamily="34" charset="-122"/>
                <a:ea typeface="微软雅黑" panose="020B0503020204020204" pitchFamily="34" charset="-122"/>
              </a:rPr>
              <a:t>的内容</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en-US" altLang="zh-CN" sz="2000">
                <a:solidFill>
                  <a:srgbClr val="0033CC"/>
                </a:solidFill>
                <a:latin typeface="微软雅黑" panose="020B0503020204020204" pitchFamily="34" charset="-122"/>
                <a:ea typeface="微软雅黑" panose="020B0503020204020204" pitchFamily="34" charset="-122"/>
              </a:rPr>
              <a:t>M[R[r]]</a:t>
            </a:r>
            <a:r>
              <a:rPr lang="zh-CN" altLang="en-US" sz="2000">
                <a:solidFill>
                  <a:srgbClr val="0033CC"/>
                </a:solidFill>
                <a:latin typeface="微软雅黑" panose="020B0503020204020204" pitchFamily="34" charset="-122"/>
                <a:ea typeface="微软雅黑" panose="020B0503020204020204" pitchFamily="34" charset="-122"/>
              </a:rPr>
              <a:t>：</a:t>
            </a:r>
            <a:r>
              <a:rPr lang="zh-CN" altLang="en-US" sz="2000">
                <a:solidFill>
                  <a:schemeClr val="tx1"/>
                </a:solidFill>
                <a:latin typeface="微软雅黑" panose="020B0503020204020204" pitchFamily="34" charset="-122"/>
                <a:ea typeface="微软雅黑" panose="020B0503020204020204" pitchFamily="34" charset="-122"/>
              </a:rPr>
              <a:t>寄存器</a:t>
            </a:r>
            <a:r>
              <a:rPr lang="en-US" altLang="zh-CN" sz="2000">
                <a:solidFill>
                  <a:schemeClr val="tx1"/>
                </a:solidFill>
                <a:latin typeface="微软雅黑" panose="020B0503020204020204" pitchFamily="34" charset="-122"/>
                <a:ea typeface="微软雅黑" panose="020B0503020204020204" pitchFamily="34" charset="-122"/>
              </a:rPr>
              <a:t>r</a:t>
            </a:r>
            <a:r>
              <a:rPr lang="zh-CN" altLang="en-US" sz="2000">
                <a:solidFill>
                  <a:schemeClr val="tx1"/>
                </a:solidFill>
                <a:latin typeface="微软雅黑" panose="020B0503020204020204" pitchFamily="34" charset="-122"/>
                <a:ea typeface="微软雅黑" panose="020B0503020204020204" pitchFamily="34" charset="-122"/>
              </a:rPr>
              <a:t>的内容所指存储单元的内容</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en-US" altLang="zh-CN" sz="2000">
                <a:solidFill>
                  <a:srgbClr val="0033CC"/>
                </a:solidFill>
                <a:latin typeface="微软雅黑" panose="020B0503020204020204" pitchFamily="34" charset="-122"/>
                <a:ea typeface="微软雅黑" panose="020B0503020204020204" pitchFamily="34" charset="-122"/>
              </a:rPr>
              <a:t>PC</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PC</a:t>
            </a:r>
            <a:r>
              <a:rPr lang="zh-CN" altLang="en-US" sz="2000">
                <a:solidFill>
                  <a:schemeClr val="tx1"/>
                </a:solidFill>
                <a:latin typeface="微软雅黑" panose="020B0503020204020204" pitchFamily="34" charset="-122"/>
                <a:ea typeface="微软雅黑" panose="020B0503020204020204" pitchFamily="34" charset="-122"/>
              </a:rPr>
              <a:t>的内容</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en-US" altLang="zh-CN" sz="2000">
                <a:solidFill>
                  <a:srgbClr val="0033CC"/>
                </a:solidFill>
                <a:latin typeface="微软雅黑" panose="020B0503020204020204" pitchFamily="34" charset="-122"/>
                <a:ea typeface="微软雅黑" panose="020B0503020204020204" pitchFamily="34" charset="-122"/>
              </a:rPr>
              <a:t>M[PC]</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PC</a:t>
            </a:r>
            <a:r>
              <a:rPr lang="zh-CN" altLang="en-US" sz="2000">
                <a:solidFill>
                  <a:schemeClr val="tx1"/>
                </a:solidFill>
                <a:latin typeface="微软雅黑" panose="020B0503020204020204" pitchFamily="34" charset="-122"/>
                <a:ea typeface="微软雅黑" panose="020B0503020204020204" pitchFamily="34" charset="-122"/>
              </a:rPr>
              <a:t>所指存储单元的内容</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en-US" altLang="zh-CN" sz="2000">
                <a:solidFill>
                  <a:srgbClr val="0033CC"/>
                </a:solidFill>
                <a:latin typeface="微软雅黑" panose="020B0503020204020204" pitchFamily="34" charset="-122"/>
                <a:ea typeface="微软雅黑" panose="020B0503020204020204" pitchFamily="34" charset="-122"/>
              </a:rPr>
              <a:t>SEXT[imm]</a:t>
            </a:r>
            <a:r>
              <a:rPr lang="zh-CN" altLang="en-US" sz="2000">
                <a:solidFill>
                  <a:srgbClr val="0033CC"/>
                </a:solidFill>
                <a:latin typeface="微软雅黑" panose="020B0503020204020204" pitchFamily="34" charset="-122"/>
                <a:ea typeface="微软雅黑" panose="020B0503020204020204" pitchFamily="34" charset="-122"/>
              </a:rPr>
              <a:t>：</a:t>
            </a:r>
            <a:r>
              <a:rPr lang="zh-CN" altLang="en-US" sz="2000">
                <a:solidFill>
                  <a:schemeClr val="tx1"/>
                </a:solidFill>
                <a:latin typeface="微软雅黑" panose="020B0503020204020204" pitchFamily="34" charset="-122"/>
                <a:ea typeface="微软雅黑" panose="020B0503020204020204" pitchFamily="34" charset="-122"/>
              </a:rPr>
              <a:t>对</a:t>
            </a:r>
            <a:r>
              <a:rPr lang="en-US" altLang="zh-CN" sz="2000">
                <a:solidFill>
                  <a:schemeClr val="tx1"/>
                </a:solidFill>
                <a:latin typeface="微软雅黑" panose="020B0503020204020204" pitchFamily="34" charset="-122"/>
                <a:ea typeface="微软雅黑" panose="020B0503020204020204" pitchFamily="34" charset="-122"/>
              </a:rPr>
              <a:t>imm</a:t>
            </a:r>
            <a:r>
              <a:rPr lang="zh-CN" altLang="en-US" sz="2000">
                <a:solidFill>
                  <a:schemeClr val="tx1"/>
                </a:solidFill>
                <a:latin typeface="微软雅黑" panose="020B0503020204020204" pitchFamily="34" charset="-122"/>
                <a:ea typeface="微软雅黑" panose="020B0503020204020204" pitchFamily="34" charset="-122"/>
              </a:rPr>
              <a:t>进行符号扩展</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en-US" altLang="zh-CN" sz="2000">
                <a:solidFill>
                  <a:srgbClr val="0033CC"/>
                </a:solidFill>
                <a:latin typeface="微软雅黑" panose="020B0503020204020204" pitchFamily="34" charset="-122"/>
                <a:ea typeface="微软雅黑" panose="020B0503020204020204" pitchFamily="34" charset="-122"/>
              </a:rPr>
              <a:t>ZEXT[imm]</a:t>
            </a:r>
            <a:r>
              <a:rPr lang="zh-CN" altLang="en-US" sz="2000">
                <a:solidFill>
                  <a:schemeClr val="tx1"/>
                </a:solidFill>
                <a:latin typeface="微软雅黑" panose="020B0503020204020204" pitchFamily="34" charset="-122"/>
                <a:ea typeface="微软雅黑" panose="020B0503020204020204" pitchFamily="34" charset="-122"/>
              </a:rPr>
              <a:t>：对</a:t>
            </a:r>
            <a:r>
              <a:rPr lang="en-US" altLang="zh-CN" sz="2000">
                <a:solidFill>
                  <a:schemeClr val="tx1"/>
                </a:solidFill>
                <a:latin typeface="微软雅黑" panose="020B0503020204020204" pitchFamily="34" charset="-122"/>
                <a:ea typeface="微软雅黑" panose="020B0503020204020204" pitchFamily="34" charset="-122"/>
              </a:rPr>
              <a:t>imm</a:t>
            </a:r>
            <a:r>
              <a:rPr lang="zh-CN" altLang="en-US" sz="2000">
                <a:solidFill>
                  <a:schemeClr val="tx1"/>
                </a:solidFill>
                <a:latin typeface="微软雅黑" panose="020B0503020204020204" pitchFamily="34" charset="-122"/>
                <a:ea typeface="微软雅黑" panose="020B0503020204020204" pitchFamily="34" charset="-122"/>
              </a:rPr>
              <a:t>进行零扩展</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700"/>
              </a:lnSpc>
              <a:spcBef>
                <a:spcPts val="600"/>
              </a:spcBef>
            </a:pPr>
            <a:r>
              <a:rPr lang="zh-CN" altLang="en-US" sz="2000">
                <a:solidFill>
                  <a:schemeClr val="tx1"/>
                </a:solidFill>
                <a:latin typeface="微软雅黑" panose="020B0503020204020204" pitchFamily="34" charset="-122"/>
                <a:ea typeface="微软雅黑" panose="020B0503020204020204" pitchFamily="34" charset="-122"/>
              </a:rPr>
              <a:t>传送方向用</a:t>
            </a:r>
            <a:r>
              <a:rPr lang="zh-CN" altLang="en-US" sz="2000">
                <a:solidFill>
                  <a:srgbClr val="0033CC"/>
                </a:solidFill>
                <a:latin typeface="微软雅黑" panose="020B0503020204020204" pitchFamily="34" charset="-122"/>
                <a:ea typeface="微软雅黑" panose="020B0503020204020204" pitchFamily="34" charset="-122"/>
              </a:rPr>
              <a:t>←</a:t>
            </a:r>
            <a:r>
              <a:rPr lang="zh-CN" altLang="en-US" sz="2000">
                <a:solidFill>
                  <a:schemeClr val="tx1"/>
                </a:solidFill>
                <a:latin typeface="微软雅黑" panose="020B0503020204020204" pitchFamily="34" charset="-122"/>
                <a:ea typeface="微软雅黑" panose="020B0503020204020204" pitchFamily="34" charset="-122"/>
              </a:rPr>
              <a:t>表示，即传送源在右，传送目的在左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a:extLst>
              <a:ext uri="{FF2B5EF4-FFF2-40B4-BE49-F238E27FC236}">
                <a16:creationId xmlns:a16="http://schemas.microsoft.com/office/drawing/2014/main" id="{ED597FCD-BA5F-BBE9-FA4C-9E92E6960D81}"/>
              </a:ext>
            </a:extLst>
          </p:cNvPr>
          <p:cNvSpPr>
            <a:spLocks noGrp="1" noChangeArrowheads="1"/>
          </p:cNvSpPr>
          <p:nvPr>
            <p:ph idx="1"/>
          </p:nvPr>
        </p:nvSpPr>
        <p:spPr>
          <a:xfrm>
            <a:off x="63500" y="1162050"/>
            <a:ext cx="461963" cy="4184650"/>
          </a:xfrm>
        </p:spPr>
        <p:txBody>
          <a:bodyPr/>
          <a:lstStyle/>
          <a:p>
            <a:pPr marL="0" indent="0">
              <a:lnSpc>
                <a:spcPts val="2700"/>
              </a:lnSpc>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整数运算类指令</a:t>
            </a:r>
            <a:endParaRPr lang="en-US" altLang="zh-CN">
              <a:latin typeface="微软雅黑" panose="020B0503020204020204" pitchFamily="34" charset="-122"/>
              <a:ea typeface="微软雅黑" panose="020B0503020204020204" pitchFamily="34" charset="-122"/>
            </a:endParaRPr>
          </a:p>
        </p:txBody>
      </p:sp>
      <p:sp>
        <p:nvSpPr>
          <p:cNvPr id="75778" name="Rectangle 2">
            <a:extLst>
              <a:ext uri="{FF2B5EF4-FFF2-40B4-BE49-F238E27FC236}">
                <a16:creationId xmlns:a16="http://schemas.microsoft.com/office/drawing/2014/main" id="{817695E7-DA94-88A2-52E5-1816BE1F39C6}"/>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grpSp>
        <p:nvGrpSpPr>
          <p:cNvPr id="75779" name="组合 3">
            <a:extLst>
              <a:ext uri="{FF2B5EF4-FFF2-40B4-BE49-F238E27FC236}">
                <a16:creationId xmlns:a16="http://schemas.microsoft.com/office/drawing/2014/main" id="{2FD2DD68-6CE7-945D-6518-A70B59E798B2}"/>
              </a:ext>
            </a:extLst>
          </p:cNvPr>
          <p:cNvGrpSpPr>
            <a:grpSpLocks/>
          </p:cNvGrpSpPr>
          <p:nvPr/>
        </p:nvGrpSpPr>
        <p:grpSpPr bwMode="auto">
          <a:xfrm>
            <a:off x="400050" y="581025"/>
            <a:ext cx="8743950" cy="6276975"/>
            <a:chOff x="587141" y="581258"/>
            <a:chExt cx="8556859" cy="6276742"/>
          </a:xfrm>
        </p:grpSpPr>
        <p:pic>
          <p:nvPicPr>
            <p:cNvPr id="75780" name="Picture 2">
              <a:extLst>
                <a:ext uri="{FF2B5EF4-FFF2-40B4-BE49-F238E27FC236}">
                  <a16:creationId xmlns:a16="http://schemas.microsoft.com/office/drawing/2014/main" id="{22EE6DA7-4693-CCE7-C870-A6B45C74A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141" y="581258"/>
              <a:ext cx="8556859" cy="6276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矩形 1">
              <a:extLst>
                <a:ext uri="{FF2B5EF4-FFF2-40B4-BE49-F238E27FC236}">
                  <a16:creationId xmlns:a16="http://schemas.microsoft.com/office/drawing/2014/main" id="{9B38B138-9F71-FD2A-2442-27DBFAB09F92}"/>
                </a:ext>
              </a:extLst>
            </p:cNvPr>
            <p:cNvSpPr>
              <a:spLocks noChangeArrowheads="1"/>
            </p:cNvSpPr>
            <p:nvPr/>
          </p:nvSpPr>
          <p:spPr bwMode="auto">
            <a:xfrm>
              <a:off x="711199" y="828842"/>
              <a:ext cx="7585777" cy="561808"/>
            </a:xfrm>
            <a:prstGeom prst="rect">
              <a:avLst/>
            </a:prstGeom>
            <a:solidFill>
              <a:schemeClr val="accent2">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lstStyle/>
            <a:p>
              <a:pPr eaLnBrk="0" hangingPunct="0"/>
              <a:endParaRPr lang="zh-CN" altLang="en-US"/>
            </a:p>
          </p:txBody>
        </p:sp>
        <p:sp>
          <p:nvSpPr>
            <p:cNvPr id="75782" name="矩形 1">
              <a:extLst>
                <a:ext uri="{FF2B5EF4-FFF2-40B4-BE49-F238E27FC236}">
                  <a16:creationId xmlns:a16="http://schemas.microsoft.com/office/drawing/2014/main" id="{F0604166-3FB8-E1E6-520B-5B65DE395038}"/>
                </a:ext>
              </a:extLst>
            </p:cNvPr>
            <p:cNvSpPr>
              <a:spLocks noChangeArrowheads="1"/>
            </p:cNvSpPr>
            <p:nvPr/>
          </p:nvSpPr>
          <p:spPr bwMode="auto">
            <a:xfrm>
              <a:off x="711198" y="1390650"/>
              <a:ext cx="7585777" cy="1670050"/>
            </a:xfrm>
            <a:prstGeom prst="rect">
              <a:avLst/>
            </a:prstGeom>
            <a:solidFill>
              <a:srgbClr val="C000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75783" name="矩形 1">
              <a:extLst>
                <a:ext uri="{FF2B5EF4-FFF2-40B4-BE49-F238E27FC236}">
                  <a16:creationId xmlns:a16="http://schemas.microsoft.com/office/drawing/2014/main" id="{B8590D2B-5EB0-C197-49C6-9F9B823345F0}"/>
                </a:ext>
              </a:extLst>
            </p:cNvPr>
            <p:cNvSpPr>
              <a:spLocks noChangeArrowheads="1"/>
            </p:cNvSpPr>
            <p:nvPr/>
          </p:nvSpPr>
          <p:spPr bwMode="auto">
            <a:xfrm>
              <a:off x="711197" y="3924300"/>
              <a:ext cx="7585777" cy="2743200"/>
            </a:xfrm>
            <a:prstGeom prst="rect">
              <a:avLst/>
            </a:prstGeom>
            <a:solidFill>
              <a:srgbClr val="3C7845">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75784" name="矩形 1">
              <a:extLst>
                <a:ext uri="{FF2B5EF4-FFF2-40B4-BE49-F238E27FC236}">
                  <a16:creationId xmlns:a16="http://schemas.microsoft.com/office/drawing/2014/main" id="{D281D3EA-8F0E-1DD7-4133-B53C45962053}"/>
                </a:ext>
              </a:extLst>
            </p:cNvPr>
            <p:cNvSpPr>
              <a:spLocks noChangeArrowheads="1"/>
            </p:cNvSpPr>
            <p:nvPr/>
          </p:nvSpPr>
          <p:spPr bwMode="auto">
            <a:xfrm>
              <a:off x="711197" y="3066950"/>
              <a:ext cx="7585777" cy="857349"/>
            </a:xfrm>
            <a:prstGeom prst="rect">
              <a:avLst/>
            </a:prstGeom>
            <a:solidFill>
              <a:srgbClr val="FFFF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566CC33B-096D-8498-9E55-79266CF667F4}"/>
              </a:ext>
            </a:extLst>
          </p:cNvPr>
          <p:cNvSpPr>
            <a:spLocks noGrp="1" noChangeArrowheads="1"/>
          </p:cNvSpPr>
          <p:nvPr>
            <p:ph idx="1"/>
          </p:nvPr>
        </p:nvSpPr>
        <p:spPr>
          <a:xfrm>
            <a:off x="101600" y="665163"/>
            <a:ext cx="4835525" cy="473075"/>
          </a:xfrm>
        </p:spPr>
        <p:txBody>
          <a:bodyPr/>
          <a:lstStyle/>
          <a:p>
            <a:pPr marL="0" indent="0">
              <a:lnSpc>
                <a:spcPts val="2700"/>
              </a:lnSpc>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U</a:t>
            </a:r>
            <a:r>
              <a:rPr lang="zh-CN" altLang="en-US">
                <a:latin typeface="微软雅黑" panose="020B0503020204020204" pitchFamily="34" charset="-122"/>
                <a:ea typeface="微软雅黑" panose="020B0503020204020204" pitchFamily="34" charset="-122"/>
              </a:rPr>
              <a:t>型指令共</a:t>
            </a: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条</a:t>
            </a:r>
            <a:endParaRPr lang="en-US" altLang="zh-CN">
              <a:latin typeface="微软雅黑" panose="020B0503020204020204" pitchFamily="34" charset="-122"/>
              <a:ea typeface="微软雅黑" panose="020B0503020204020204" pitchFamily="34" charset="-122"/>
            </a:endParaRPr>
          </a:p>
          <a:p>
            <a:pPr marL="457200" lvl="1" indent="0">
              <a:lnSpc>
                <a:spcPts val="2700"/>
              </a:lnSpc>
              <a:buFontTx/>
              <a:buNone/>
            </a:pPr>
            <a:endParaRPr lang="en-US" altLang="zh-CN">
              <a:solidFill>
                <a:srgbClr val="C00000"/>
              </a:solidFill>
              <a:latin typeface="微软雅黑" panose="020B0503020204020204" pitchFamily="34" charset="-122"/>
              <a:ea typeface="微软雅黑" panose="020B0503020204020204" pitchFamily="34" charset="-122"/>
            </a:endParaRPr>
          </a:p>
        </p:txBody>
      </p:sp>
      <p:sp>
        <p:nvSpPr>
          <p:cNvPr id="76802" name="Rectangle 2">
            <a:extLst>
              <a:ext uri="{FF2B5EF4-FFF2-40B4-BE49-F238E27FC236}">
                <a16:creationId xmlns:a16="http://schemas.microsoft.com/office/drawing/2014/main" id="{1FF9E758-326D-E29C-CD68-717F91C65B4B}"/>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pic>
        <p:nvPicPr>
          <p:cNvPr id="76803" name="图片 1">
            <a:extLst>
              <a:ext uri="{FF2B5EF4-FFF2-40B4-BE49-F238E27FC236}">
                <a16:creationId xmlns:a16="http://schemas.microsoft.com/office/drawing/2014/main" id="{DE1441D2-367C-2ADD-A0C6-8130E40CB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1028700"/>
            <a:ext cx="90932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484CC512-2F57-708C-885A-81D2C84C6BD5}"/>
              </a:ext>
            </a:extLst>
          </p:cNvPr>
          <p:cNvSpPr>
            <a:spLocks noChangeArrowheads="1"/>
          </p:cNvSpPr>
          <p:nvPr/>
        </p:nvSpPr>
        <p:spPr bwMode="auto">
          <a:xfrm>
            <a:off x="101600" y="2262188"/>
            <a:ext cx="89852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lui rd, imm20</a:t>
            </a:r>
            <a:r>
              <a:rPr lang="zh-CN" altLang="en-US" sz="2000">
                <a:solidFill>
                  <a:schemeClr val="tx1"/>
                </a:solidFill>
                <a:latin typeface="微软雅黑" panose="020B0503020204020204" pitchFamily="34" charset="-122"/>
                <a:ea typeface="微软雅黑" panose="020B0503020204020204" pitchFamily="34" charset="-122"/>
              </a:rPr>
              <a:t>：将立即数</a:t>
            </a:r>
            <a:r>
              <a:rPr lang="en-US" altLang="zh-CN" sz="2000">
                <a:solidFill>
                  <a:schemeClr val="tx1"/>
                </a:solidFill>
                <a:latin typeface="微软雅黑" panose="020B0503020204020204" pitchFamily="34" charset="-122"/>
                <a:ea typeface="微软雅黑" panose="020B0503020204020204" pitchFamily="34" charset="-122"/>
              </a:rPr>
              <a:t>imm20</a:t>
            </a:r>
            <a:r>
              <a:rPr lang="zh-CN" altLang="en-US" sz="2000">
                <a:solidFill>
                  <a:schemeClr val="tx1"/>
                </a:solidFill>
                <a:latin typeface="微软雅黑" panose="020B0503020204020204" pitchFamily="34" charset="-122"/>
                <a:ea typeface="微软雅黑" panose="020B0503020204020204" pitchFamily="34" charset="-122"/>
              </a:rPr>
              <a:t>存到</a:t>
            </a:r>
            <a:r>
              <a:rPr lang="en-US" altLang="zh-CN" sz="2000">
                <a:solidFill>
                  <a:schemeClr val="tx1"/>
                </a:solidFill>
                <a:latin typeface="微软雅黑" panose="020B0503020204020204" pitchFamily="34" charset="-122"/>
                <a:ea typeface="微软雅黑" panose="020B0503020204020204" pitchFamily="34" charset="-122"/>
              </a:rPr>
              <a:t>rd</a:t>
            </a:r>
            <a:r>
              <a:rPr lang="zh-CN" altLang="en-US" sz="2000">
                <a:solidFill>
                  <a:schemeClr val="tx1"/>
                </a:solidFill>
                <a:latin typeface="微软雅黑" panose="020B0503020204020204" pitchFamily="34" charset="-122"/>
                <a:ea typeface="微软雅黑" panose="020B0503020204020204" pitchFamily="34" charset="-122"/>
              </a:rPr>
              <a:t>寄存器高</a:t>
            </a:r>
            <a:r>
              <a:rPr lang="en-US" altLang="zh-CN" sz="2000">
                <a:solidFill>
                  <a:schemeClr val="tx1"/>
                </a:solidFill>
                <a:latin typeface="微软雅黑" panose="020B0503020204020204" pitchFamily="34" charset="-122"/>
                <a:ea typeface="微软雅黑" panose="020B0503020204020204" pitchFamily="34" charset="-122"/>
              </a:rPr>
              <a:t>20</a:t>
            </a:r>
            <a:r>
              <a:rPr lang="zh-CN" altLang="en-US" sz="2000">
                <a:solidFill>
                  <a:schemeClr val="tx1"/>
                </a:solidFill>
                <a:latin typeface="微软雅黑" panose="020B0503020204020204" pitchFamily="34" charset="-122"/>
                <a:ea typeface="微软雅黑" panose="020B0503020204020204" pitchFamily="34" charset="-122"/>
              </a:rPr>
              <a:t>位，低</a:t>
            </a:r>
            <a:r>
              <a:rPr lang="en-US" altLang="zh-CN" sz="2000">
                <a:solidFill>
                  <a:schemeClr val="tx1"/>
                </a:solidFill>
                <a:latin typeface="微软雅黑" panose="020B0503020204020204" pitchFamily="34" charset="-122"/>
                <a:ea typeface="微软雅黑" panose="020B0503020204020204" pitchFamily="34" charset="-122"/>
              </a:rPr>
              <a:t>12</a:t>
            </a:r>
            <a:r>
              <a:rPr lang="zh-CN" altLang="en-US" sz="2000">
                <a:solidFill>
                  <a:schemeClr val="tx1"/>
                </a:solidFill>
                <a:latin typeface="微软雅黑" panose="020B0503020204020204" pitchFamily="34" charset="-122"/>
                <a:ea typeface="微软雅黑" panose="020B0503020204020204" pitchFamily="34" charset="-122"/>
              </a:rPr>
              <a:t>位为</a:t>
            </a:r>
            <a:r>
              <a:rPr lang="en-US" altLang="zh-CN" sz="2000">
                <a:solidFill>
                  <a:schemeClr val="tx1"/>
                </a:solidFill>
                <a:latin typeface="微软雅黑" panose="020B0503020204020204" pitchFamily="34" charset="-122"/>
                <a:ea typeface="微软雅黑" panose="020B0503020204020204" pitchFamily="34" charset="-122"/>
              </a:rPr>
              <a:t>0</a:t>
            </a:r>
            <a:r>
              <a:rPr lang="zh-CN" altLang="en-US" sz="2000">
                <a:solidFill>
                  <a:schemeClr val="tx1"/>
                </a:solidFill>
                <a:latin typeface="微软雅黑" panose="020B0503020204020204" pitchFamily="34" charset="-122"/>
                <a:ea typeface="微软雅黑" panose="020B0503020204020204" pitchFamily="34" charset="-122"/>
              </a:rPr>
              <a:t>。该指令和“</a:t>
            </a:r>
            <a:r>
              <a:rPr lang="en-US" altLang="zh-CN" sz="2000">
                <a:solidFill>
                  <a:schemeClr val="tx1"/>
                </a:solidFill>
                <a:latin typeface="微软雅黑" panose="020B0503020204020204" pitchFamily="34" charset="-122"/>
                <a:ea typeface="微软雅黑" panose="020B0503020204020204" pitchFamily="34" charset="-122"/>
              </a:rPr>
              <a:t>addi rd, rs1, imm12”</a:t>
            </a:r>
            <a:r>
              <a:rPr lang="zh-CN" altLang="en-US" sz="2000">
                <a:solidFill>
                  <a:schemeClr val="tx1"/>
                </a:solidFill>
                <a:latin typeface="微软雅黑" panose="020B0503020204020204" pitchFamily="34" charset="-122"/>
                <a:ea typeface="微软雅黑" panose="020B0503020204020204" pitchFamily="34" charset="-122"/>
              </a:rPr>
              <a:t>结合，可以实现对一个</a:t>
            </a:r>
            <a:r>
              <a:rPr lang="en-US" altLang="zh-CN" sz="2000">
                <a:solidFill>
                  <a:schemeClr val="tx1"/>
                </a:solidFill>
                <a:latin typeface="微软雅黑" panose="020B0503020204020204" pitchFamily="34" charset="-122"/>
                <a:ea typeface="微软雅黑" panose="020B0503020204020204" pitchFamily="34" charset="-122"/>
              </a:rPr>
              <a:t>32</a:t>
            </a:r>
            <a:r>
              <a:rPr lang="zh-CN" altLang="en-US" sz="2000">
                <a:solidFill>
                  <a:schemeClr val="tx1"/>
                </a:solidFill>
                <a:latin typeface="微软雅黑" panose="020B0503020204020204" pitchFamily="34" charset="-122"/>
                <a:ea typeface="微软雅黑" panose="020B0503020204020204" pitchFamily="34" charset="-122"/>
              </a:rPr>
              <a:t>位变量赋初值。</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zh-CN" altLang="en-US" sz="2000">
                <a:solidFill>
                  <a:srgbClr val="FF0000"/>
                </a:solidFill>
                <a:latin typeface="微软雅黑" panose="020B0503020204020204" pitchFamily="34" charset="-122"/>
                <a:ea typeface="微软雅黑" panose="020B0503020204020204" pitchFamily="34" charset="-122"/>
              </a:rPr>
              <a:t>举例：</a:t>
            </a:r>
            <a:r>
              <a:rPr lang="zh-CN" altLang="en-US" sz="2000">
                <a:solidFill>
                  <a:srgbClr val="0033CC"/>
                </a:solidFill>
                <a:latin typeface="微软雅黑" panose="020B0503020204020204" pitchFamily="34" charset="-122"/>
                <a:ea typeface="微软雅黑" panose="020B0503020204020204" pitchFamily="34" charset="-122"/>
              </a:rPr>
              <a:t>请给出</a:t>
            </a:r>
            <a:r>
              <a:rPr lang="en-US" altLang="zh-CN" sz="2000">
                <a:solidFill>
                  <a:srgbClr val="0033CC"/>
                </a:solidFill>
                <a:latin typeface="微软雅黑" panose="020B0503020204020204" pitchFamily="34" charset="-122"/>
                <a:ea typeface="微软雅黑" panose="020B0503020204020204" pitchFamily="34" charset="-122"/>
              </a:rPr>
              <a:t>C</a:t>
            </a:r>
            <a:r>
              <a:rPr lang="zh-CN" altLang="en-US" sz="2000">
                <a:solidFill>
                  <a:srgbClr val="0033CC"/>
                </a:solidFill>
                <a:latin typeface="微软雅黑" panose="020B0503020204020204" pitchFamily="34" charset="-122"/>
                <a:ea typeface="微软雅黑" panose="020B0503020204020204" pitchFamily="34" charset="-122"/>
              </a:rPr>
              <a:t>语句“</a:t>
            </a:r>
            <a:r>
              <a:rPr lang="en-US" altLang="zh-CN" sz="2000">
                <a:solidFill>
                  <a:srgbClr val="0033CC"/>
                </a:solidFill>
                <a:latin typeface="微软雅黑" panose="020B0503020204020204" pitchFamily="34" charset="-122"/>
                <a:ea typeface="微软雅黑" panose="020B0503020204020204" pitchFamily="34" charset="-122"/>
              </a:rPr>
              <a:t>int x=-8191;”</a:t>
            </a:r>
            <a:r>
              <a:rPr lang="zh-CN" altLang="en-US" sz="2000">
                <a:solidFill>
                  <a:srgbClr val="0033CC"/>
                </a:solidFill>
                <a:latin typeface="微软雅黑" panose="020B0503020204020204" pitchFamily="34" charset="-122"/>
                <a:ea typeface="微软雅黑" panose="020B0503020204020204" pitchFamily="34" charset="-122"/>
              </a:rPr>
              <a:t>对应的</a:t>
            </a:r>
            <a:r>
              <a:rPr lang="en-US" altLang="zh-CN" sz="2000">
                <a:solidFill>
                  <a:srgbClr val="0033CC"/>
                </a:solidFill>
                <a:latin typeface="微软雅黑" panose="020B0503020204020204" pitchFamily="34" charset="-122"/>
                <a:ea typeface="微软雅黑" panose="020B0503020204020204" pitchFamily="34" charset="-122"/>
              </a:rPr>
              <a:t>RISC-V</a:t>
            </a:r>
            <a:r>
              <a:rPr lang="zh-CN" altLang="en-US" sz="2000">
                <a:solidFill>
                  <a:srgbClr val="0033CC"/>
                </a:solidFill>
                <a:latin typeface="微软雅黑" panose="020B0503020204020204" pitchFamily="34" charset="-122"/>
                <a:ea typeface="微软雅黑" panose="020B0503020204020204" pitchFamily="34" charset="-122"/>
              </a:rPr>
              <a:t>机器级代码。</a:t>
            </a: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zh-CN" altLang="en-US" sz="2000">
                <a:solidFill>
                  <a:schemeClr val="accent1"/>
                </a:solidFill>
                <a:latin typeface="微软雅黑" panose="020B0503020204020204" pitchFamily="34" charset="-122"/>
                <a:ea typeface="微软雅黑" panose="020B0503020204020204" pitchFamily="34" charset="-122"/>
              </a:rPr>
              <a:t>解：</a:t>
            </a:r>
            <a:r>
              <a:rPr lang="en-US" altLang="zh-CN" sz="2000">
                <a:solidFill>
                  <a:srgbClr val="0033CC"/>
                </a:solidFill>
                <a:latin typeface="微软雅黑" panose="020B0503020204020204" pitchFamily="34" charset="-122"/>
                <a:ea typeface="微软雅黑" panose="020B0503020204020204" pitchFamily="34" charset="-122"/>
              </a:rPr>
              <a:t>C</a:t>
            </a:r>
            <a:r>
              <a:rPr lang="zh-CN" altLang="en-US" sz="2000">
                <a:solidFill>
                  <a:srgbClr val="0033CC"/>
                </a:solidFill>
                <a:latin typeface="微软雅黑" panose="020B0503020204020204" pitchFamily="34" charset="-122"/>
                <a:ea typeface="微软雅黑" panose="020B0503020204020204" pitchFamily="34" charset="-122"/>
              </a:rPr>
              <a:t>语句“</a:t>
            </a:r>
            <a:r>
              <a:rPr lang="en-US" altLang="zh-CN" sz="2000">
                <a:solidFill>
                  <a:srgbClr val="0033CC"/>
                </a:solidFill>
                <a:latin typeface="微软雅黑" panose="020B0503020204020204" pitchFamily="34" charset="-122"/>
                <a:ea typeface="微软雅黑" panose="020B0503020204020204" pitchFamily="34" charset="-122"/>
              </a:rPr>
              <a:t>int x=-8191;”</a:t>
            </a:r>
            <a:r>
              <a:rPr lang="zh-CN" altLang="en-US" sz="2000">
                <a:solidFill>
                  <a:srgbClr val="0033CC"/>
                </a:solidFill>
                <a:latin typeface="微软雅黑" panose="020B0503020204020204" pitchFamily="34" charset="-122"/>
                <a:ea typeface="微软雅黑" panose="020B0503020204020204" pitchFamily="34" charset="-122"/>
              </a:rPr>
              <a:t>对应的</a:t>
            </a:r>
            <a:r>
              <a:rPr lang="en-US" altLang="zh-CN" sz="2000">
                <a:solidFill>
                  <a:srgbClr val="0033CC"/>
                </a:solidFill>
                <a:latin typeface="微软雅黑" panose="020B0503020204020204" pitchFamily="34" charset="-122"/>
                <a:ea typeface="微软雅黑" panose="020B0503020204020204" pitchFamily="34" charset="-122"/>
              </a:rPr>
              <a:t>RISC-V</a:t>
            </a:r>
            <a:r>
              <a:rPr lang="zh-CN" altLang="en-US" sz="2000">
                <a:solidFill>
                  <a:srgbClr val="0033CC"/>
                </a:solidFill>
                <a:latin typeface="微软雅黑" panose="020B0503020204020204" pitchFamily="34" charset="-122"/>
                <a:ea typeface="微软雅黑" panose="020B0503020204020204" pitchFamily="34" charset="-122"/>
              </a:rPr>
              <a:t>机器指令和汇编指令为：</a:t>
            </a:r>
          </a:p>
          <a:p>
            <a:pPr eaLnBrk="0" hangingPunct="0">
              <a:lnSpc>
                <a:spcPts val="2800"/>
              </a:lnSpc>
              <a:spcBef>
                <a:spcPts val="600"/>
              </a:spcBef>
            </a:pPr>
            <a:r>
              <a:rPr lang="en-US" altLang="zh-CN" sz="1600">
                <a:solidFill>
                  <a:schemeClr val="accent1"/>
                </a:solidFill>
                <a:latin typeface="微软雅黑" panose="020B0503020204020204" pitchFamily="34" charset="-122"/>
                <a:ea typeface="微软雅黑" panose="020B0503020204020204" pitchFamily="34" charset="-122"/>
              </a:rPr>
              <a:t>1111 1111 1111 1111 1110 </a:t>
            </a:r>
            <a:r>
              <a:rPr lang="en-US" altLang="zh-CN" sz="1600">
                <a:solidFill>
                  <a:srgbClr val="0033CC"/>
                </a:solidFill>
                <a:latin typeface="微软雅黑" panose="020B0503020204020204" pitchFamily="34" charset="-122"/>
                <a:ea typeface="微软雅黑" panose="020B0503020204020204" pitchFamily="34" charset="-122"/>
              </a:rPr>
              <a:t>00101</a:t>
            </a:r>
            <a:r>
              <a:rPr lang="en-US" altLang="zh-CN" sz="1600">
                <a:solidFill>
                  <a:schemeClr val="tx1"/>
                </a:solidFill>
                <a:latin typeface="微软雅黑" panose="020B0503020204020204" pitchFamily="34" charset="-122"/>
                <a:ea typeface="微软雅黑" panose="020B0503020204020204" pitchFamily="34" charset="-122"/>
              </a:rPr>
              <a:t> 0110111  </a:t>
            </a:r>
            <a:r>
              <a:rPr lang="en-US" altLang="zh-CN" sz="1600">
                <a:solidFill>
                  <a:srgbClr val="FF0000"/>
                </a:solidFill>
                <a:latin typeface="微软雅黑" panose="020B0503020204020204" pitchFamily="34" charset="-122"/>
                <a:ea typeface="微软雅黑" panose="020B0503020204020204" pitchFamily="34" charset="-122"/>
              </a:rPr>
              <a:t>lui x5, 1048574 </a:t>
            </a:r>
            <a:r>
              <a:rPr lang="en-US" altLang="zh-CN" sz="1600">
                <a:solidFill>
                  <a:srgbClr val="0033CC"/>
                </a:solidFill>
                <a:latin typeface="微软雅黑" panose="020B0503020204020204" pitchFamily="34" charset="-122"/>
                <a:ea typeface="微软雅黑" panose="020B0503020204020204" pitchFamily="34" charset="-122"/>
              </a:rPr>
              <a:t>#R[x5]←FFFF E000H</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0000 0000 0001 </a:t>
            </a:r>
            <a:r>
              <a:rPr lang="en-US" altLang="zh-CN" sz="1600">
                <a:solidFill>
                  <a:schemeClr val="tx1"/>
                </a:solidFill>
                <a:latin typeface="微软雅黑" panose="020B0503020204020204" pitchFamily="34" charset="-122"/>
                <a:ea typeface="微软雅黑" panose="020B0503020204020204" pitchFamily="34" charset="-122"/>
              </a:rPr>
              <a:t>00101 000 </a:t>
            </a:r>
            <a:r>
              <a:rPr lang="en-US" altLang="zh-CN" sz="1600">
                <a:solidFill>
                  <a:srgbClr val="0033CC"/>
                </a:solidFill>
                <a:latin typeface="微软雅黑" panose="020B0503020204020204" pitchFamily="34" charset="-122"/>
                <a:ea typeface="微软雅黑" panose="020B0503020204020204" pitchFamily="34" charset="-122"/>
              </a:rPr>
              <a:t>00101</a:t>
            </a:r>
            <a:r>
              <a:rPr lang="en-US" altLang="zh-CN" sz="1600">
                <a:solidFill>
                  <a:schemeClr val="tx1"/>
                </a:solidFill>
                <a:latin typeface="微软雅黑" panose="020B0503020204020204" pitchFamily="34" charset="-122"/>
                <a:ea typeface="微软雅黑" panose="020B0503020204020204" pitchFamily="34" charset="-122"/>
              </a:rPr>
              <a:t> 0010011  </a:t>
            </a:r>
            <a:r>
              <a:rPr lang="en-US" altLang="zh-CN" sz="1600">
                <a:solidFill>
                  <a:srgbClr val="FF0000"/>
                </a:solidFill>
                <a:latin typeface="微软雅黑" panose="020B0503020204020204" pitchFamily="34" charset="-122"/>
                <a:ea typeface="微软雅黑" panose="020B0503020204020204" pitchFamily="34" charset="-122"/>
              </a:rPr>
              <a:t>addi x5, x5, 1 </a:t>
            </a:r>
            <a:r>
              <a:rPr lang="en-US" altLang="zh-CN" sz="1600">
                <a:solidFill>
                  <a:srgbClr val="0033CC"/>
                </a:solidFill>
                <a:latin typeface="微软雅黑" panose="020B0503020204020204" pitchFamily="34" charset="-122"/>
                <a:ea typeface="微软雅黑" panose="020B0503020204020204" pitchFamily="34" charset="-122"/>
              </a:rPr>
              <a:t>#R[x5]←R[x5]+SEXT[001H]</a:t>
            </a:r>
          </a:p>
          <a:p>
            <a:pPr eaLnBrk="0" hangingPunct="0">
              <a:lnSpc>
                <a:spcPts val="2800"/>
              </a:lnSpc>
              <a:spcBef>
                <a:spcPts val="600"/>
              </a:spcBef>
            </a:pPr>
            <a:endParaRPr lang="zh-CN" altLang="en-US" sz="2000">
              <a:solidFill>
                <a:srgbClr val="0033CC"/>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D5D0A53-A99C-E516-0A79-FF9814F84B6A}"/>
              </a:ext>
            </a:extLst>
          </p:cNvPr>
          <p:cNvSpPr>
            <a:spLocks noChangeArrowheads="1"/>
          </p:cNvSpPr>
          <p:nvPr/>
        </p:nvSpPr>
        <p:spPr bwMode="auto">
          <a:xfrm>
            <a:off x="347663" y="5429250"/>
            <a:ext cx="8234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a:solidFill>
                  <a:srgbClr val="0033CC"/>
                </a:solidFill>
                <a:latin typeface="微软雅黑" panose="020B0503020204020204" pitchFamily="34" charset="-122"/>
                <a:ea typeface="微软雅黑" panose="020B0503020204020204" pitchFamily="34" charset="-122"/>
              </a:rPr>
              <a:t>-8191</a:t>
            </a:r>
            <a:r>
              <a:rPr lang="zh-CN" altLang="en-US" sz="2000">
                <a:solidFill>
                  <a:srgbClr val="0033CC"/>
                </a:solidFill>
                <a:latin typeface="微软雅黑" panose="020B0503020204020204" pitchFamily="34" charset="-122"/>
                <a:ea typeface="微软雅黑" panose="020B0503020204020204" pitchFamily="34" charset="-122"/>
              </a:rPr>
              <a:t>的机器数为：</a:t>
            </a:r>
            <a:r>
              <a:rPr lang="en-US" altLang="zh-CN" sz="2000">
                <a:solidFill>
                  <a:schemeClr val="accent1"/>
                </a:solidFill>
                <a:latin typeface="微软雅黑" panose="020B0503020204020204" pitchFamily="34" charset="-122"/>
                <a:ea typeface="微软雅黑" panose="020B0503020204020204" pitchFamily="34" charset="-122"/>
              </a:rPr>
              <a:t>1111 1111 1111 1111 1110 </a:t>
            </a:r>
            <a:r>
              <a:rPr lang="en-US" altLang="zh-CN" sz="2000">
                <a:solidFill>
                  <a:srgbClr val="7030A0"/>
                </a:solidFill>
                <a:latin typeface="微软雅黑" panose="020B0503020204020204" pitchFamily="34" charset="-122"/>
                <a:ea typeface="微软雅黑" panose="020B0503020204020204" pitchFamily="34" charset="-122"/>
              </a:rPr>
              <a:t>0000 0000 0001</a:t>
            </a:r>
            <a:endParaRPr lang="zh-CN" altLang="en-US" sz="2000">
              <a:solidFill>
                <a:srgbClr val="7030A0"/>
              </a:solidFill>
              <a:latin typeface="微软雅黑" panose="020B0503020204020204" pitchFamily="34" charset="-122"/>
              <a:ea typeface="微软雅黑" panose="020B0503020204020204" pitchFamily="34" charset="-122"/>
            </a:endParaRPr>
          </a:p>
        </p:txBody>
      </p:sp>
      <p:cxnSp>
        <p:nvCxnSpPr>
          <p:cNvPr id="7" name="直接箭头连接符 6">
            <a:extLst>
              <a:ext uri="{FF2B5EF4-FFF2-40B4-BE49-F238E27FC236}">
                <a16:creationId xmlns:a16="http://schemas.microsoft.com/office/drawing/2014/main" id="{D56CDB8E-1835-20C7-F3B0-82E0E8DCE103}"/>
              </a:ext>
            </a:extLst>
          </p:cNvPr>
          <p:cNvCxnSpPr/>
          <p:nvPr/>
        </p:nvCxnSpPr>
        <p:spPr bwMode="auto">
          <a:xfrm flipH="1" flipV="1">
            <a:off x="2197100" y="4271963"/>
            <a:ext cx="1554163" cy="1216025"/>
          </a:xfrm>
          <a:prstGeom prst="straightConnector1">
            <a:avLst/>
          </a:prstGeom>
          <a:ln w="28575">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8" name="直接箭头连接符 17">
            <a:extLst>
              <a:ext uri="{FF2B5EF4-FFF2-40B4-BE49-F238E27FC236}">
                <a16:creationId xmlns:a16="http://schemas.microsoft.com/office/drawing/2014/main" id="{BFD9ACD1-6AB1-A13A-5A9D-B98308A874BD}"/>
              </a:ext>
            </a:extLst>
          </p:cNvPr>
          <p:cNvCxnSpPr/>
          <p:nvPr/>
        </p:nvCxnSpPr>
        <p:spPr bwMode="auto">
          <a:xfrm flipH="1" flipV="1">
            <a:off x="1293813" y="4697413"/>
            <a:ext cx="4916487" cy="806450"/>
          </a:xfrm>
          <a:prstGeom prst="straightConnector1">
            <a:avLst/>
          </a:prstGeom>
          <a:ln w="28575">
            <a:headEnd type="none" w="med" len="med"/>
            <a:tailEnd type="triangle"/>
          </a:ln>
        </p:spPr>
        <p:style>
          <a:lnRef idx="1">
            <a:schemeClr val="accent6"/>
          </a:lnRef>
          <a:fillRef idx="0">
            <a:schemeClr val="accent6"/>
          </a:fillRef>
          <a:effectRef idx="0">
            <a:schemeClr val="accent6"/>
          </a:effectRef>
          <a:fontRef idx="minor">
            <a:schemeClr val="tx1"/>
          </a:fontRef>
        </p:style>
      </p:cxnSp>
      <p:sp>
        <p:nvSpPr>
          <p:cNvPr id="26" name="矩形 25">
            <a:extLst>
              <a:ext uri="{FF2B5EF4-FFF2-40B4-BE49-F238E27FC236}">
                <a16:creationId xmlns:a16="http://schemas.microsoft.com/office/drawing/2014/main" id="{24484BE8-74FB-9F2D-DCF7-873CD14DB290}"/>
              </a:ext>
            </a:extLst>
          </p:cNvPr>
          <p:cNvSpPr>
            <a:spLocks noChangeArrowheads="1"/>
          </p:cNvSpPr>
          <p:nvPr/>
        </p:nvSpPr>
        <p:spPr bwMode="auto">
          <a:xfrm>
            <a:off x="6538913" y="4932363"/>
            <a:ext cx="2428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a:solidFill>
                  <a:schemeClr val="accent1"/>
                </a:solidFill>
                <a:latin typeface="微软雅黑" panose="020B0503020204020204" pitchFamily="34" charset="-122"/>
                <a:ea typeface="微软雅黑" panose="020B0503020204020204" pitchFamily="34" charset="-122"/>
              </a:rPr>
              <a:t>SEXT</a:t>
            </a:r>
            <a:r>
              <a:rPr lang="zh-CN" altLang="en-US" sz="2000">
                <a:solidFill>
                  <a:schemeClr val="accent1"/>
                </a:solidFill>
                <a:latin typeface="微软雅黑" panose="020B0503020204020204" pitchFamily="34" charset="-122"/>
                <a:ea typeface="微软雅黑" panose="020B0503020204020204" pitchFamily="34" charset="-122"/>
              </a:rPr>
              <a:t>表示符号扩展</a:t>
            </a:r>
          </a:p>
        </p:txBody>
      </p:sp>
      <p:sp>
        <p:nvSpPr>
          <p:cNvPr id="10" name="矩形 9">
            <a:extLst>
              <a:ext uri="{FF2B5EF4-FFF2-40B4-BE49-F238E27FC236}">
                <a16:creationId xmlns:a16="http://schemas.microsoft.com/office/drawing/2014/main" id="{E1DD68B7-F698-5788-5394-F8A9DD70111C}"/>
              </a:ext>
            </a:extLst>
          </p:cNvPr>
          <p:cNvSpPr>
            <a:spLocks noChangeArrowheads="1"/>
          </p:cNvSpPr>
          <p:nvPr/>
        </p:nvSpPr>
        <p:spPr bwMode="auto">
          <a:xfrm>
            <a:off x="79375" y="5907088"/>
            <a:ext cx="89852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auipc rd, imm20</a:t>
            </a:r>
            <a:r>
              <a:rPr lang="zh-CN" altLang="en-US" sz="2000">
                <a:solidFill>
                  <a:schemeClr val="tx1"/>
                </a:solidFill>
                <a:latin typeface="微软雅黑" panose="020B0503020204020204" pitchFamily="34" charset="-122"/>
                <a:ea typeface="微软雅黑" panose="020B0503020204020204" pitchFamily="34" charset="-122"/>
              </a:rPr>
              <a:t>：将立即数</a:t>
            </a:r>
            <a:r>
              <a:rPr lang="en-US" altLang="zh-CN" sz="2000">
                <a:solidFill>
                  <a:schemeClr val="tx1"/>
                </a:solidFill>
                <a:latin typeface="微软雅黑" panose="020B0503020204020204" pitchFamily="34" charset="-122"/>
                <a:ea typeface="微软雅黑" panose="020B0503020204020204" pitchFamily="34" charset="-122"/>
              </a:rPr>
              <a:t>imm20</a:t>
            </a:r>
            <a:r>
              <a:rPr lang="zh-CN" altLang="en-US" sz="2000">
                <a:solidFill>
                  <a:schemeClr val="tx1"/>
                </a:solidFill>
                <a:latin typeface="微软雅黑" panose="020B0503020204020204" pitchFamily="34" charset="-122"/>
                <a:ea typeface="微软雅黑" panose="020B0503020204020204" pitchFamily="34" charset="-122"/>
              </a:rPr>
              <a:t>加到</a:t>
            </a:r>
            <a:r>
              <a:rPr lang="en-US" altLang="zh-CN" sz="2000">
                <a:solidFill>
                  <a:schemeClr val="tx1"/>
                </a:solidFill>
                <a:latin typeface="微软雅黑" panose="020B0503020204020204" pitchFamily="34" charset="-122"/>
                <a:ea typeface="微软雅黑" panose="020B0503020204020204" pitchFamily="34" charset="-122"/>
              </a:rPr>
              <a:t>PC</a:t>
            </a:r>
            <a:r>
              <a:rPr lang="zh-CN" altLang="en-US" sz="2000">
                <a:solidFill>
                  <a:schemeClr val="tx1"/>
                </a:solidFill>
                <a:latin typeface="微软雅黑" panose="020B0503020204020204" pitchFamily="34" charset="-122"/>
                <a:ea typeface="微软雅黑" panose="020B0503020204020204" pitchFamily="34" charset="-122"/>
              </a:rPr>
              <a:t>的高</a:t>
            </a:r>
            <a:r>
              <a:rPr lang="en-US" altLang="zh-CN" sz="2000">
                <a:solidFill>
                  <a:schemeClr val="tx1"/>
                </a:solidFill>
                <a:latin typeface="微软雅黑" panose="020B0503020204020204" pitchFamily="34" charset="-122"/>
                <a:ea typeface="微软雅黑" panose="020B0503020204020204" pitchFamily="34" charset="-122"/>
              </a:rPr>
              <a:t>20</a:t>
            </a:r>
            <a:r>
              <a:rPr lang="zh-CN" altLang="en-US" sz="2000">
                <a:solidFill>
                  <a:schemeClr val="tx1"/>
                </a:solidFill>
                <a:latin typeface="微软雅黑" panose="020B0503020204020204" pitchFamily="34" charset="-122"/>
                <a:ea typeface="微软雅黑" panose="020B0503020204020204" pitchFamily="34" charset="-122"/>
              </a:rPr>
              <a:t>位上，结果存</a:t>
            </a:r>
            <a:r>
              <a:rPr lang="en-US" altLang="zh-CN" sz="2000">
                <a:solidFill>
                  <a:schemeClr val="tx1"/>
                </a:solidFill>
                <a:latin typeface="微软雅黑" panose="020B0503020204020204" pitchFamily="34" charset="-122"/>
                <a:ea typeface="微软雅黑" panose="020B0503020204020204" pitchFamily="34" charset="-122"/>
              </a:rPr>
              <a:t>rd</a:t>
            </a:r>
            <a:r>
              <a:rPr lang="zh-CN" altLang="en-US" sz="2000">
                <a:solidFill>
                  <a:schemeClr val="tx1"/>
                </a:solidFill>
                <a:latin typeface="微软雅黑" panose="020B0503020204020204" pitchFamily="34" charset="-122"/>
                <a:ea typeface="微软雅黑" panose="020B0503020204020204" pitchFamily="34" charset="-122"/>
              </a:rPr>
              <a:t>。可用指令“</a:t>
            </a:r>
            <a:r>
              <a:rPr lang="en-US" altLang="zh-CN" sz="2000">
                <a:solidFill>
                  <a:schemeClr val="tx1"/>
                </a:solidFill>
                <a:latin typeface="微软雅黑" panose="020B0503020204020204" pitchFamily="34" charset="-122"/>
                <a:ea typeface="微软雅黑" panose="020B0503020204020204" pitchFamily="34" charset="-122"/>
              </a:rPr>
              <a:t>auipc x10, 0”</a:t>
            </a:r>
            <a:r>
              <a:rPr lang="zh-CN" altLang="en-US" sz="2000">
                <a:solidFill>
                  <a:schemeClr val="tx1"/>
                </a:solidFill>
                <a:latin typeface="微软雅黑" panose="020B0503020204020204" pitchFamily="34" charset="-122"/>
                <a:ea typeface="微软雅黑" panose="020B0503020204020204" pitchFamily="34" charset="-122"/>
              </a:rPr>
              <a:t>获取当前</a:t>
            </a:r>
            <a:r>
              <a:rPr lang="en-US" altLang="zh-CN" sz="2000">
                <a:solidFill>
                  <a:schemeClr val="tx1"/>
                </a:solidFill>
                <a:latin typeface="微软雅黑" panose="020B0503020204020204" pitchFamily="34" charset="-122"/>
                <a:ea typeface="微软雅黑" panose="020B0503020204020204" pitchFamily="34" charset="-122"/>
              </a:rPr>
              <a:t>PC</a:t>
            </a:r>
            <a:r>
              <a:rPr lang="zh-CN" altLang="en-US" sz="2000">
                <a:solidFill>
                  <a:schemeClr val="tx1"/>
                </a:solidFill>
                <a:latin typeface="微软雅黑" panose="020B0503020204020204" pitchFamily="34" charset="-122"/>
                <a:ea typeface="微软雅黑" panose="020B0503020204020204" pitchFamily="34" charset="-122"/>
              </a:rPr>
              <a:t>的内容，存入寄存器</a:t>
            </a:r>
            <a:r>
              <a:rPr lang="en-US" altLang="zh-CN" sz="2000">
                <a:solidFill>
                  <a:schemeClr val="tx1"/>
                </a:solidFill>
                <a:latin typeface="微软雅黑" panose="020B0503020204020204" pitchFamily="34" charset="-122"/>
                <a:ea typeface="微软雅黑" panose="020B0503020204020204" pitchFamily="34" charset="-122"/>
              </a:rPr>
              <a:t>x10</a:t>
            </a:r>
            <a:r>
              <a:rPr lang="zh-CN" altLang="en-US" sz="2000">
                <a:solidFill>
                  <a:schemeClr val="tx1"/>
                </a:solidFill>
                <a:latin typeface="微软雅黑" panose="020B0503020204020204" pitchFamily="34" charset="-122"/>
                <a:ea typeface="微软雅黑" panose="020B0503020204020204" pitchFamily="34" charset="-122"/>
              </a:rPr>
              <a:t>中。</a:t>
            </a:r>
            <a:endParaRPr lang="en-US" altLang="zh-CN" sz="20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5" dur="500"/>
                                        <p:tgtEl>
                                          <p:spTgt spid="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randombar(horizontal)">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randombar(horizontal)">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1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randombar(horizontal)">
                                      <p:cBhvr>
                                        <p:cTn id="40" dur="500"/>
                                        <p:tgtEl>
                                          <p:spTgt spid="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randombar(horizontal)">
                                      <p:cBhvr>
                                        <p:cTn id="45" dur="500"/>
                                        <p:tgtEl>
                                          <p:spTgt spid="2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randombar(horizontal)">
                                      <p:cBhvr>
                                        <p:cTn id="5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6" grpId="0"/>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a:extLst>
              <a:ext uri="{FF2B5EF4-FFF2-40B4-BE49-F238E27FC236}">
                <a16:creationId xmlns:a16="http://schemas.microsoft.com/office/drawing/2014/main" id="{0BE88E3D-BAED-6F07-D3E7-A306C8C5237A}"/>
              </a:ext>
            </a:extLst>
          </p:cNvPr>
          <p:cNvSpPr>
            <a:spLocks noGrp="1" noChangeArrowheads="1"/>
          </p:cNvSpPr>
          <p:nvPr>
            <p:ph idx="1"/>
          </p:nvPr>
        </p:nvSpPr>
        <p:spPr>
          <a:xfrm>
            <a:off x="101600" y="608013"/>
            <a:ext cx="8272463" cy="473075"/>
          </a:xfrm>
        </p:spPr>
        <p:txBody>
          <a:bodyPr/>
          <a:lstStyle/>
          <a:p>
            <a:pPr marL="0" indent="0">
              <a:lnSpc>
                <a:spcPts val="2700"/>
              </a:lnSpc>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I </a:t>
            </a:r>
            <a:r>
              <a:rPr lang="zh-CN" altLang="en-US">
                <a:latin typeface="微软雅黑" panose="020B0503020204020204" pitchFamily="34" charset="-122"/>
                <a:ea typeface="微软雅黑" panose="020B0503020204020204" pitchFamily="34" charset="-122"/>
              </a:rPr>
              <a:t>型指令共</a:t>
            </a:r>
            <a:r>
              <a:rPr lang="en-US" altLang="zh-CN">
                <a:latin typeface="微软雅黑" panose="020B0503020204020204" pitchFamily="34" charset="-122"/>
                <a:ea typeface="微软雅黑" panose="020B0503020204020204" pitchFamily="34" charset="-122"/>
              </a:rPr>
              <a:t>9</a:t>
            </a:r>
            <a:r>
              <a:rPr lang="zh-CN" altLang="en-US">
                <a:latin typeface="微软雅黑" panose="020B0503020204020204" pitchFamily="34" charset="-122"/>
                <a:ea typeface="微软雅黑" panose="020B0503020204020204" pitchFamily="34" charset="-122"/>
              </a:rPr>
              <a:t>条，其中三条为用立即数指定所移位数的移位指令</a:t>
            </a:r>
            <a:endParaRPr lang="en-US" altLang="zh-CN">
              <a:latin typeface="微软雅黑" panose="020B0503020204020204" pitchFamily="34" charset="-122"/>
              <a:ea typeface="微软雅黑" panose="020B0503020204020204" pitchFamily="34" charset="-122"/>
            </a:endParaRPr>
          </a:p>
          <a:p>
            <a:pPr marL="457200" lvl="1" indent="0">
              <a:lnSpc>
                <a:spcPts val="2700"/>
              </a:lnSpc>
              <a:buFontTx/>
              <a:buNone/>
            </a:pPr>
            <a:endParaRPr lang="en-US" altLang="zh-CN">
              <a:solidFill>
                <a:srgbClr val="C00000"/>
              </a:solidFill>
              <a:latin typeface="微软雅黑" panose="020B0503020204020204" pitchFamily="34" charset="-122"/>
              <a:ea typeface="微软雅黑" panose="020B0503020204020204" pitchFamily="34" charset="-122"/>
            </a:endParaRPr>
          </a:p>
        </p:txBody>
      </p:sp>
      <p:sp>
        <p:nvSpPr>
          <p:cNvPr id="77826" name="Rectangle 2">
            <a:extLst>
              <a:ext uri="{FF2B5EF4-FFF2-40B4-BE49-F238E27FC236}">
                <a16:creationId xmlns:a16="http://schemas.microsoft.com/office/drawing/2014/main" id="{53F5017A-14BE-3852-1B38-8F65625912F6}"/>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3" name="矩形 2">
            <a:extLst>
              <a:ext uri="{FF2B5EF4-FFF2-40B4-BE49-F238E27FC236}">
                <a16:creationId xmlns:a16="http://schemas.microsoft.com/office/drawing/2014/main" id="{F768F0F9-6BEA-1E39-DB41-FE2117C6D7E8}"/>
              </a:ext>
            </a:extLst>
          </p:cNvPr>
          <p:cNvSpPr>
            <a:spLocks noChangeArrowheads="1"/>
          </p:cNvSpPr>
          <p:nvPr/>
        </p:nvSpPr>
        <p:spPr bwMode="auto">
          <a:xfrm>
            <a:off x="230188" y="4676775"/>
            <a:ext cx="8682037"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ts val="2800"/>
              </a:lnSpc>
              <a:spcBef>
                <a:spcPts val="600"/>
              </a:spcBef>
              <a:defRPr/>
            </a:pPr>
            <a:r>
              <a:rPr lang="zh-CN" altLang="en-US" sz="2000" dirty="0">
                <a:solidFill>
                  <a:srgbClr val="C00000"/>
                </a:solidFill>
                <a:latin typeface="微软雅黑" panose="020B0503020204020204" pitchFamily="34" charset="-122"/>
                <a:ea typeface="微软雅黑" panose="020B0503020204020204" pitchFamily="34" charset="-122"/>
              </a:rPr>
              <a:t>操作码</a:t>
            </a:r>
            <a:r>
              <a:rPr lang="en-US" altLang="zh-CN" sz="2000" dirty="0">
                <a:solidFill>
                  <a:srgbClr val="C00000"/>
                </a:solidFill>
                <a:latin typeface="微软雅黑" panose="020B0503020204020204" pitchFamily="34" charset="-122"/>
                <a:ea typeface="微软雅黑" panose="020B0503020204020204" pitchFamily="34" charset="-122"/>
              </a:rPr>
              <a:t>opcode</a:t>
            </a:r>
            <a:r>
              <a:rPr lang="zh-CN" altLang="en-US" sz="2000" dirty="0">
                <a:solidFill>
                  <a:schemeClr val="tx1"/>
                </a:solidFill>
                <a:latin typeface="微软雅黑" panose="020B0503020204020204" pitchFamily="34" charset="-122"/>
                <a:ea typeface="微软雅黑" panose="020B0503020204020204" pitchFamily="34" charset="-122"/>
              </a:rPr>
              <a:t>：都是</a:t>
            </a:r>
            <a:r>
              <a:rPr lang="en-US" altLang="zh-CN" sz="2000" dirty="0">
                <a:solidFill>
                  <a:schemeClr val="tx1"/>
                </a:solidFill>
                <a:latin typeface="微软雅黑" panose="020B0503020204020204" pitchFamily="34" charset="-122"/>
                <a:ea typeface="微软雅黑" panose="020B0503020204020204" pitchFamily="34" charset="-122"/>
              </a:rPr>
              <a:t>0010011</a:t>
            </a:r>
            <a:r>
              <a:rPr lang="zh-CN" altLang="en-US" sz="2000" dirty="0">
                <a:solidFill>
                  <a:schemeClr val="tx1"/>
                </a:solidFill>
                <a:latin typeface="微软雅黑" panose="020B0503020204020204" pitchFamily="34" charset="-122"/>
                <a:ea typeface="微软雅黑" panose="020B0503020204020204" pitchFamily="34" charset="-122"/>
              </a:rPr>
              <a:t>，其功能由</a:t>
            </a:r>
            <a:r>
              <a:rPr lang="en-US" altLang="zh-CN" sz="2000" dirty="0">
                <a:solidFill>
                  <a:schemeClr val="tx1"/>
                </a:solidFill>
                <a:latin typeface="微软雅黑" panose="020B0503020204020204" pitchFamily="34" charset="-122"/>
                <a:ea typeface="微软雅黑" panose="020B0503020204020204" pitchFamily="34" charset="-122"/>
              </a:rPr>
              <a:t>funct3</a:t>
            </a:r>
            <a:r>
              <a:rPr lang="zh-CN" altLang="en-US" sz="2000" dirty="0">
                <a:solidFill>
                  <a:schemeClr val="tx1"/>
                </a:solidFill>
                <a:latin typeface="微软雅黑" panose="020B0503020204020204" pitchFamily="34" charset="-122"/>
                <a:ea typeface="微软雅黑" panose="020B0503020204020204" pitchFamily="34" charset="-122"/>
              </a:rPr>
              <a:t>指定，而当</a:t>
            </a:r>
            <a:r>
              <a:rPr lang="en-US" altLang="zh-CN" sz="2000" dirty="0">
                <a:solidFill>
                  <a:schemeClr val="tx1"/>
                </a:solidFill>
                <a:latin typeface="微软雅黑" panose="020B0503020204020204" pitchFamily="34" charset="-122"/>
                <a:ea typeface="微软雅黑" panose="020B0503020204020204" pitchFamily="34" charset="-122"/>
              </a:rPr>
              <a:t>funct3=101</a:t>
            </a:r>
            <a:r>
              <a:rPr lang="zh-CN" altLang="en-US" sz="2000" dirty="0">
                <a:solidFill>
                  <a:schemeClr val="tx1"/>
                </a:solidFill>
                <a:latin typeface="微软雅黑" panose="020B0503020204020204" pitchFamily="34" charset="-122"/>
                <a:ea typeface="微软雅黑" panose="020B0503020204020204" pitchFamily="34" charset="-122"/>
              </a:rPr>
              <a:t>时，再有高</a:t>
            </a:r>
            <a:r>
              <a:rPr lang="en-US" altLang="zh-CN" sz="2000" dirty="0">
                <a:solidFill>
                  <a:schemeClr val="tx1"/>
                </a:solidFill>
                <a:latin typeface="微软雅黑" panose="020B0503020204020204" pitchFamily="34" charset="-122"/>
                <a:ea typeface="微软雅黑" panose="020B0503020204020204" pitchFamily="34" charset="-122"/>
              </a:rPr>
              <a:t>7</a:t>
            </a:r>
            <a:r>
              <a:rPr lang="zh-CN" altLang="en-US" sz="2000" dirty="0">
                <a:solidFill>
                  <a:schemeClr val="tx1"/>
                </a:solidFill>
                <a:latin typeface="微软雅黑" panose="020B0503020204020204" pitchFamily="34" charset="-122"/>
                <a:ea typeface="微软雅黑" panose="020B0503020204020204" pitchFamily="34" charset="-122"/>
              </a:rPr>
              <a:t>位区分是算术右移（</a:t>
            </a:r>
            <a:r>
              <a:rPr lang="en-US" altLang="zh-CN" sz="2000" dirty="0" err="1">
                <a:solidFill>
                  <a:schemeClr val="tx1"/>
                </a:solidFill>
                <a:latin typeface="微软雅黑" panose="020B0503020204020204" pitchFamily="34" charset="-122"/>
                <a:ea typeface="微软雅黑" panose="020B0503020204020204" pitchFamily="34" charset="-122"/>
              </a:rPr>
              <a:t>srai</a:t>
            </a:r>
            <a:r>
              <a:rPr lang="zh-CN" altLang="en-US" sz="2000" dirty="0">
                <a:solidFill>
                  <a:schemeClr val="tx1"/>
                </a:solidFill>
                <a:latin typeface="微软雅黑" panose="020B0503020204020204" pitchFamily="34" charset="-122"/>
                <a:ea typeface="微软雅黑" panose="020B0503020204020204" pitchFamily="34" charset="-122"/>
              </a:rPr>
              <a:t>）还是逻辑右移（</a:t>
            </a:r>
            <a:r>
              <a:rPr lang="en-US" altLang="zh-CN" sz="2000" dirty="0" err="1">
                <a:solidFill>
                  <a:schemeClr val="tx1"/>
                </a:solidFill>
                <a:latin typeface="微软雅黑" panose="020B0503020204020204" pitchFamily="34" charset="-122"/>
                <a:ea typeface="微软雅黑" panose="020B0503020204020204" pitchFamily="34" charset="-122"/>
              </a:rPr>
              <a:t>srli</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accent4"/>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CF851372-18B5-6BDA-E839-5CF33C701B35}"/>
              </a:ext>
            </a:extLst>
          </p:cNvPr>
          <p:cNvSpPr>
            <a:spLocks noChangeArrowheads="1"/>
          </p:cNvSpPr>
          <p:nvPr/>
        </p:nvSpPr>
        <p:spPr bwMode="auto">
          <a:xfrm>
            <a:off x="239713" y="5481638"/>
            <a:ext cx="87058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imm[11:0]</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12</a:t>
            </a:r>
            <a:r>
              <a:rPr lang="zh-CN" altLang="en-US" sz="2000">
                <a:solidFill>
                  <a:schemeClr val="tx1"/>
                </a:solidFill>
                <a:latin typeface="微软雅黑" panose="020B0503020204020204" pitchFamily="34" charset="-122"/>
                <a:ea typeface="微软雅黑" panose="020B0503020204020204" pitchFamily="34" charset="-122"/>
              </a:rPr>
              <a:t>位立即数，</a:t>
            </a:r>
            <a:r>
              <a:rPr lang="zh-CN" altLang="en-US" sz="2000">
                <a:solidFill>
                  <a:srgbClr val="FF0000"/>
                </a:solidFill>
                <a:latin typeface="微软雅黑" panose="020B0503020204020204" pitchFamily="34" charset="-122"/>
                <a:ea typeface="微软雅黑" panose="020B0503020204020204" pitchFamily="34" charset="-122"/>
              </a:rPr>
              <a:t>符号扩展为</a:t>
            </a:r>
            <a:r>
              <a:rPr lang="en-US" altLang="zh-CN" sz="2000">
                <a:solidFill>
                  <a:srgbClr val="FF0000"/>
                </a:solidFill>
                <a:latin typeface="微软雅黑" panose="020B0503020204020204" pitchFamily="34" charset="-122"/>
                <a:ea typeface="微软雅黑" panose="020B0503020204020204" pitchFamily="34" charset="-122"/>
              </a:rPr>
              <a:t>32</a:t>
            </a:r>
            <a:r>
              <a:rPr lang="zh-CN" altLang="en-US" sz="2000">
                <a:solidFill>
                  <a:srgbClr val="FF0000"/>
                </a:solidFill>
                <a:latin typeface="微软雅黑" panose="020B0503020204020204" pitchFamily="34" charset="-122"/>
                <a:ea typeface="微软雅黑" panose="020B0503020204020204" pitchFamily="34" charset="-122"/>
              </a:rPr>
              <a:t>位</a:t>
            </a:r>
            <a:r>
              <a:rPr lang="zh-CN" altLang="en-US" sz="2000">
                <a:solidFill>
                  <a:schemeClr val="tx1"/>
                </a:solidFill>
                <a:latin typeface="微软雅黑" panose="020B0503020204020204" pitchFamily="34" charset="-122"/>
                <a:ea typeface="微软雅黑" panose="020B0503020204020204" pitchFamily="34" charset="-122"/>
              </a:rPr>
              <a:t>，作为第</a:t>
            </a:r>
            <a:r>
              <a:rPr lang="en-US" altLang="zh-CN" sz="2000">
                <a:solidFill>
                  <a:schemeClr val="tx1"/>
                </a:solidFill>
                <a:latin typeface="微软雅黑" panose="020B0503020204020204" pitchFamily="34" charset="-122"/>
                <a:ea typeface="微软雅黑" panose="020B0503020204020204" pitchFamily="34" charset="-122"/>
              </a:rPr>
              <a:t>2</a:t>
            </a:r>
            <a:r>
              <a:rPr lang="zh-CN" altLang="en-US" sz="2000">
                <a:solidFill>
                  <a:schemeClr val="tx1"/>
                </a:solidFill>
                <a:latin typeface="微软雅黑" panose="020B0503020204020204" pitchFamily="34" charset="-122"/>
                <a:ea typeface="微软雅黑" panose="020B0503020204020204" pitchFamily="34" charset="-122"/>
              </a:rPr>
              <a:t>个源操作数，和</a:t>
            </a:r>
            <a:r>
              <a:rPr lang="en-US" altLang="zh-CN" sz="2000">
                <a:solidFill>
                  <a:schemeClr val="tx1"/>
                </a:solidFill>
                <a:latin typeface="微软雅黑" panose="020B0503020204020204" pitchFamily="34" charset="-122"/>
                <a:ea typeface="微软雅黑" panose="020B0503020204020204" pitchFamily="34" charset="-122"/>
              </a:rPr>
              <a:t>R[rs1]</a:t>
            </a:r>
            <a:r>
              <a:rPr lang="zh-CN" altLang="en-US" sz="2000">
                <a:solidFill>
                  <a:schemeClr val="tx1"/>
                </a:solidFill>
                <a:latin typeface="微软雅黑" panose="020B0503020204020204" pitchFamily="34" charset="-122"/>
                <a:ea typeface="微软雅黑" panose="020B0503020204020204" pitchFamily="34" charset="-122"/>
              </a:rPr>
              <a:t>（寄存器</a:t>
            </a:r>
            <a:r>
              <a:rPr lang="en-US" altLang="zh-CN" sz="2000">
                <a:solidFill>
                  <a:schemeClr val="tx1"/>
                </a:solidFill>
                <a:latin typeface="微软雅黑" panose="020B0503020204020204" pitchFamily="34" charset="-122"/>
                <a:ea typeface="微软雅黑" panose="020B0503020204020204" pitchFamily="34" charset="-122"/>
              </a:rPr>
              <a:t>rs1</a:t>
            </a:r>
            <a:r>
              <a:rPr lang="zh-CN" altLang="en-US" sz="2000">
                <a:solidFill>
                  <a:schemeClr val="tx1"/>
                </a:solidFill>
                <a:latin typeface="微软雅黑" panose="020B0503020204020204" pitchFamily="34" charset="-122"/>
                <a:ea typeface="微软雅黑" panose="020B0503020204020204" pitchFamily="34" charset="-122"/>
              </a:rPr>
              <a:t>中的内容）进行运算，结果存</a:t>
            </a:r>
            <a:r>
              <a:rPr lang="en-US" altLang="zh-CN" sz="2000">
                <a:solidFill>
                  <a:schemeClr val="tx1"/>
                </a:solidFill>
                <a:latin typeface="微软雅黑" panose="020B0503020204020204" pitchFamily="34" charset="-122"/>
                <a:ea typeface="微软雅黑" panose="020B0503020204020204" pitchFamily="34" charset="-122"/>
              </a:rPr>
              <a:t>rd</a:t>
            </a:r>
            <a:r>
              <a:rPr lang="zh-CN" altLang="en-US" sz="2000">
                <a:solidFill>
                  <a:schemeClr val="tx1"/>
                </a:solidFill>
                <a:latin typeface="微软雅黑" panose="020B0503020204020204" pitchFamily="34" charset="-122"/>
                <a:ea typeface="微软雅黑" panose="020B0503020204020204" pitchFamily="34" charset="-122"/>
              </a:rPr>
              <a:t>。</a:t>
            </a:r>
            <a:endParaRPr lang="en-US" altLang="zh-CN" sz="2000">
              <a:solidFill>
                <a:schemeClr val="tx1"/>
              </a:solidFill>
              <a:latin typeface="微软雅黑" panose="020B0503020204020204" pitchFamily="34" charset="-122"/>
              <a:ea typeface="微软雅黑" panose="020B0503020204020204" pitchFamily="34" charset="-122"/>
            </a:endParaRPr>
          </a:p>
        </p:txBody>
      </p:sp>
      <p:pic>
        <p:nvPicPr>
          <p:cNvPr id="77829" name="图片 1">
            <a:extLst>
              <a:ext uri="{FF2B5EF4-FFF2-40B4-BE49-F238E27FC236}">
                <a16:creationId xmlns:a16="http://schemas.microsoft.com/office/drawing/2014/main" id="{EC24F82D-40A1-E8A3-4A79-8A2C5BE535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1125538"/>
            <a:ext cx="8985250"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A528751F-D997-00EB-C16D-983042F5235A}"/>
              </a:ext>
            </a:extLst>
          </p:cNvPr>
          <p:cNvSpPr>
            <a:spLocks noChangeArrowheads="1"/>
          </p:cNvSpPr>
          <p:nvPr/>
        </p:nvSpPr>
        <p:spPr bwMode="auto">
          <a:xfrm>
            <a:off x="250825" y="6249988"/>
            <a:ext cx="868362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ts val="2800"/>
              </a:lnSpc>
              <a:spcBef>
                <a:spcPts val="600"/>
              </a:spcBef>
              <a:defRPr/>
            </a:pPr>
            <a:r>
              <a:rPr lang="en-US" altLang="zh-CN" sz="2000" dirty="0" err="1">
                <a:solidFill>
                  <a:srgbClr val="C00000"/>
                </a:solidFill>
                <a:latin typeface="微软雅黑" panose="020B0503020204020204" pitchFamily="34" charset="-122"/>
                <a:ea typeface="微软雅黑" panose="020B0503020204020204" pitchFamily="34" charset="-122"/>
              </a:rPr>
              <a:t>shamt</a:t>
            </a:r>
            <a:r>
              <a:rPr lang="zh-CN" altLang="en-US" sz="2000" dirty="0">
                <a:solidFill>
                  <a:schemeClr val="accent4"/>
                </a:solidFill>
                <a:latin typeface="微软雅黑" panose="020B0503020204020204" pitchFamily="34" charset="-122"/>
                <a:ea typeface="微软雅黑" panose="020B0503020204020204" pitchFamily="34" charset="-122"/>
              </a:rPr>
              <a:t>：指出移位位数，因为最多移</a:t>
            </a:r>
            <a:r>
              <a:rPr lang="en-US" altLang="zh-CN" sz="2000" dirty="0">
                <a:solidFill>
                  <a:schemeClr val="accent4"/>
                </a:solidFill>
                <a:latin typeface="微软雅黑" panose="020B0503020204020204" pitchFamily="34" charset="-122"/>
                <a:ea typeface="微软雅黑" panose="020B0503020204020204" pitchFamily="34" charset="-122"/>
              </a:rPr>
              <a:t>31</a:t>
            </a:r>
            <a:r>
              <a:rPr lang="zh-CN" altLang="en-US" sz="2000" dirty="0">
                <a:solidFill>
                  <a:schemeClr val="accent4"/>
                </a:solidFill>
                <a:latin typeface="微软雅黑" panose="020B0503020204020204" pitchFamily="34" charset="-122"/>
                <a:ea typeface="微软雅黑" panose="020B0503020204020204" pitchFamily="34" charset="-122"/>
              </a:rPr>
              <a:t>位，故用</a:t>
            </a:r>
            <a:r>
              <a:rPr lang="en-US" altLang="zh-CN" sz="2000" dirty="0">
                <a:solidFill>
                  <a:schemeClr val="accent4"/>
                </a:solidFill>
                <a:latin typeface="微软雅黑" panose="020B0503020204020204" pitchFamily="34" charset="-122"/>
                <a:ea typeface="微软雅黑" panose="020B0503020204020204" pitchFamily="34" charset="-122"/>
              </a:rPr>
              <a:t>5</a:t>
            </a:r>
            <a:r>
              <a:rPr lang="zh-CN" altLang="en-US" sz="2000" dirty="0">
                <a:solidFill>
                  <a:schemeClr val="accent4"/>
                </a:solidFill>
                <a:latin typeface="微软雅黑" panose="020B0503020204020204" pitchFamily="34" charset="-122"/>
                <a:ea typeface="微软雅黑" panose="020B0503020204020204" pitchFamily="34" charset="-122"/>
              </a:rPr>
              <a:t>位即可。</a:t>
            </a:r>
            <a:endParaRPr lang="en-US" altLang="zh-CN" sz="2000" dirty="0">
              <a:solidFill>
                <a:schemeClr val="accent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1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BEAFB440-9C4D-5F50-3734-24721F968CCD}"/>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9" name="矩形 8">
            <a:extLst>
              <a:ext uri="{FF2B5EF4-FFF2-40B4-BE49-F238E27FC236}">
                <a16:creationId xmlns:a16="http://schemas.microsoft.com/office/drawing/2014/main" id="{4F1C452F-02AE-8E13-6DEE-A03EC705378F}"/>
              </a:ext>
            </a:extLst>
          </p:cNvPr>
          <p:cNvSpPr>
            <a:spLocks noChangeArrowheads="1"/>
          </p:cNvSpPr>
          <p:nvPr/>
        </p:nvSpPr>
        <p:spPr bwMode="auto">
          <a:xfrm>
            <a:off x="158750" y="733425"/>
            <a:ext cx="8826500" cy="347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zh-CN" altLang="en-US" sz="2000">
                <a:solidFill>
                  <a:srgbClr val="FF0000"/>
                </a:solidFill>
                <a:latin typeface="微软雅黑" panose="020B0503020204020204" pitchFamily="34" charset="-122"/>
                <a:ea typeface="微软雅黑" panose="020B0503020204020204" pitchFamily="34" charset="-122"/>
              </a:rPr>
              <a:t>举例：</a:t>
            </a:r>
            <a:r>
              <a:rPr lang="zh-CN" altLang="en-US" sz="2000">
                <a:solidFill>
                  <a:srgbClr val="0033CC"/>
                </a:solidFill>
                <a:latin typeface="微软雅黑" panose="020B0503020204020204" pitchFamily="34" charset="-122"/>
                <a:ea typeface="微软雅黑" panose="020B0503020204020204" pitchFamily="34" charset="-122"/>
              </a:rPr>
              <a:t>请给出</a:t>
            </a:r>
            <a:r>
              <a:rPr lang="en-US" altLang="zh-CN" sz="2000">
                <a:solidFill>
                  <a:srgbClr val="0033CC"/>
                </a:solidFill>
                <a:latin typeface="微软雅黑" panose="020B0503020204020204" pitchFamily="34" charset="-122"/>
                <a:ea typeface="微软雅黑" panose="020B0503020204020204" pitchFamily="34" charset="-122"/>
              </a:rPr>
              <a:t>C</a:t>
            </a:r>
            <a:r>
              <a:rPr lang="zh-CN" altLang="en-US" sz="2000">
                <a:solidFill>
                  <a:srgbClr val="0033CC"/>
                </a:solidFill>
                <a:latin typeface="微软雅黑" panose="020B0503020204020204" pitchFamily="34" charset="-122"/>
                <a:ea typeface="微软雅黑" panose="020B0503020204020204" pitchFamily="34" charset="-122"/>
              </a:rPr>
              <a:t>语句“</a:t>
            </a:r>
            <a:r>
              <a:rPr lang="en-US" altLang="zh-CN" sz="2000">
                <a:solidFill>
                  <a:srgbClr val="0033CC"/>
                </a:solidFill>
                <a:latin typeface="微软雅黑" panose="020B0503020204020204" pitchFamily="34" charset="-122"/>
                <a:ea typeface="微软雅黑" panose="020B0503020204020204" pitchFamily="34" charset="-122"/>
              </a:rPr>
              <a:t>int x=8191;”</a:t>
            </a:r>
            <a:r>
              <a:rPr lang="zh-CN" altLang="en-US" sz="2000">
                <a:solidFill>
                  <a:srgbClr val="0033CC"/>
                </a:solidFill>
                <a:latin typeface="微软雅黑" panose="020B0503020204020204" pitchFamily="34" charset="-122"/>
                <a:ea typeface="微软雅黑" panose="020B0503020204020204" pitchFamily="34" charset="-122"/>
              </a:rPr>
              <a:t>对应的</a:t>
            </a:r>
            <a:r>
              <a:rPr lang="en-US" altLang="zh-CN" sz="2000">
                <a:solidFill>
                  <a:srgbClr val="0033CC"/>
                </a:solidFill>
                <a:latin typeface="微软雅黑" panose="020B0503020204020204" pitchFamily="34" charset="-122"/>
                <a:ea typeface="微软雅黑" panose="020B0503020204020204" pitchFamily="34" charset="-122"/>
              </a:rPr>
              <a:t>RISC-V</a:t>
            </a:r>
            <a:r>
              <a:rPr lang="zh-CN" altLang="en-US" sz="2000">
                <a:solidFill>
                  <a:srgbClr val="0033CC"/>
                </a:solidFill>
                <a:latin typeface="微软雅黑" panose="020B0503020204020204" pitchFamily="34" charset="-122"/>
                <a:ea typeface="微软雅黑" panose="020B0503020204020204" pitchFamily="34" charset="-122"/>
              </a:rPr>
              <a:t>机器级代码。</a:t>
            </a: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int x=8191;”</a:t>
            </a:r>
            <a:r>
              <a:rPr lang="zh-CN" altLang="en-US" sz="2000">
                <a:solidFill>
                  <a:srgbClr val="0033CC"/>
                </a:solidFill>
                <a:latin typeface="微软雅黑" panose="020B0503020204020204" pitchFamily="34" charset="-122"/>
                <a:ea typeface="微软雅黑" panose="020B0503020204020204" pitchFamily="34" charset="-122"/>
              </a:rPr>
              <a:t>对应的</a:t>
            </a:r>
            <a:r>
              <a:rPr lang="en-US" altLang="zh-CN" sz="2000">
                <a:solidFill>
                  <a:srgbClr val="0033CC"/>
                </a:solidFill>
                <a:latin typeface="微软雅黑" panose="020B0503020204020204" pitchFamily="34" charset="-122"/>
                <a:ea typeface="微软雅黑" panose="020B0503020204020204" pitchFamily="34" charset="-122"/>
              </a:rPr>
              <a:t>RISC-V</a:t>
            </a:r>
            <a:r>
              <a:rPr lang="zh-CN" altLang="en-US" sz="2000">
                <a:solidFill>
                  <a:srgbClr val="0033CC"/>
                </a:solidFill>
                <a:latin typeface="微软雅黑" panose="020B0503020204020204" pitchFamily="34" charset="-122"/>
                <a:ea typeface="微软雅黑" panose="020B0503020204020204" pitchFamily="34" charset="-122"/>
              </a:rPr>
              <a:t>机器指令和汇编指令如下，对不对？</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0000 0000 0000 0000 0001 </a:t>
            </a:r>
            <a:r>
              <a:rPr lang="en-US" altLang="zh-CN" sz="1600">
                <a:solidFill>
                  <a:srgbClr val="0033CC"/>
                </a:solidFill>
                <a:latin typeface="微软雅黑" panose="020B0503020204020204" pitchFamily="34" charset="-122"/>
                <a:ea typeface="微软雅黑" panose="020B0503020204020204" pitchFamily="34" charset="-122"/>
              </a:rPr>
              <a:t>00101</a:t>
            </a:r>
            <a:r>
              <a:rPr lang="en-US" altLang="zh-CN" sz="1600">
                <a:solidFill>
                  <a:schemeClr val="tx1"/>
                </a:solidFill>
                <a:latin typeface="微软雅黑" panose="020B0503020204020204" pitchFamily="34" charset="-122"/>
                <a:ea typeface="微软雅黑" panose="020B0503020204020204" pitchFamily="34" charset="-122"/>
              </a:rPr>
              <a:t> 0110111  </a:t>
            </a:r>
            <a:r>
              <a:rPr lang="en-US" altLang="zh-CN" sz="1600">
                <a:solidFill>
                  <a:srgbClr val="FF0000"/>
                </a:solidFill>
                <a:latin typeface="微软雅黑" panose="020B0503020204020204" pitchFamily="34" charset="-122"/>
                <a:ea typeface="微软雅黑" panose="020B0503020204020204" pitchFamily="34" charset="-122"/>
              </a:rPr>
              <a:t>lui x5, 1 </a:t>
            </a:r>
            <a:r>
              <a:rPr lang="en-US" altLang="zh-CN" sz="1600">
                <a:solidFill>
                  <a:srgbClr val="0033CC"/>
                </a:solidFill>
                <a:latin typeface="微软雅黑" panose="020B0503020204020204" pitchFamily="34" charset="-122"/>
                <a:ea typeface="微软雅黑" panose="020B0503020204020204" pitchFamily="34" charset="-122"/>
              </a:rPr>
              <a:t>#R[x5]← 0000 1000H</a:t>
            </a:r>
          </a:p>
          <a:p>
            <a:pPr eaLnBrk="0" hangingPunct="0">
              <a:lnSpc>
                <a:spcPts val="2800"/>
              </a:lnSpc>
              <a:spcBef>
                <a:spcPts val="600"/>
              </a:spcBef>
            </a:pPr>
            <a:r>
              <a:rPr lang="en-US" altLang="zh-CN" sz="1600">
                <a:solidFill>
                  <a:schemeClr val="accent1"/>
                </a:solidFill>
                <a:latin typeface="微软雅黑" panose="020B0503020204020204" pitchFamily="34" charset="-122"/>
                <a:ea typeface="微软雅黑" panose="020B0503020204020204" pitchFamily="34" charset="-122"/>
              </a:rPr>
              <a:t>1111 1111 1111</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chemeClr val="tx1"/>
                </a:solidFill>
                <a:latin typeface="微软雅黑" panose="020B0503020204020204" pitchFamily="34" charset="-122"/>
                <a:ea typeface="微软雅黑" panose="020B0503020204020204" pitchFamily="34" charset="-122"/>
              </a:rPr>
              <a:t>00101 000 </a:t>
            </a:r>
            <a:r>
              <a:rPr lang="en-US" altLang="zh-CN" sz="1600">
                <a:solidFill>
                  <a:srgbClr val="0033CC"/>
                </a:solidFill>
                <a:latin typeface="微软雅黑" panose="020B0503020204020204" pitchFamily="34" charset="-122"/>
                <a:ea typeface="微软雅黑" panose="020B0503020204020204" pitchFamily="34" charset="-122"/>
              </a:rPr>
              <a:t>00101</a:t>
            </a:r>
            <a:r>
              <a:rPr lang="en-US" altLang="zh-CN" sz="1600">
                <a:solidFill>
                  <a:schemeClr val="tx1"/>
                </a:solidFill>
                <a:latin typeface="微软雅黑" panose="020B0503020204020204" pitchFamily="34" charset="-122"/>
                <a:ea typeface="微软雅黑" panose="020B0503020204020204" pitchFamily="34" charset="-122"/>
              </a:rPr>
              <a:t> 0010011  </a:t>
            </a:r>
            <a:r>
              <a:rPr lang="en-US" altLang="zh-CN" sz="1600">
                <a:solidFill>
                  <a:srgbClr val="FF0000"/>
                </a:solidFill>
                <a:latin typeface="微软雅黑" panose="020B0503020204020204" pitchFamily="34" charset="-122"/>
                <a:ea typeface="微软雅黑" panose="020B0503020204020204" pitchFamily="34" charset="-122"/>
              </a:rPr>
              <a:t>addi x5, x5,-1</a:t>
            </a:r>
            <a:r>
              <a:rPr lang="en-US" altLang="zh-CN" sz="1600">
                <a:solidFill>
                  <a:srgbClr val="0033CC"/>
                </a:solidFill>
                <a:latin typeface="微软雅黑" panose="020B0503020204020204" pitchFamily="34" charset="-122"/>
                <a:ea typeface="微软雅黑" panose="020B0503020204020204" pitchFamily="34" charset="-122"/>
              </a:rPr>
              <a:t>#R[x5]←R[x5]+SEXT[FFFH]</a:t>
            </a:r>
          </a:p>
          <a:p>
            <a:pPr eaLnBrk="0" hangingPunct="0">
              <a:lnSpc>
                <a:spcPts val="2800"/>
              </a:lnSpc>
              <a:spcBef>
                <a:spcPts val="600"/>
              </a:spcBef>
            </a:pPr>
            <a:endParaRPr lang="zh-CN" altLang="en-US" sz="2000">
              <a:solidFill>
                <a:srgbClr val="0033CC"/>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D723CBB0-0ECE-BCD5-9E04-C107800509F3}"/>
              </a:ext>
            </a:extLst>
          </p:cNvPr>
          <p:cNvSpPr>
            <a:spLocks noChangeArrowheads="1"/>
          </p:cNvSpPr>
          <p:nvPr/>
        </p:nvSpPr>
        <p:spPr bwMode="auto">
          <a:xfrm>
            <a:off x="158750" y="1227138"/>
            <a:ext cx="865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a:solidFill>
                  <a:schemeClr val="accent1"/>
                </a:solidFill>
                <a:latin typeface="微软雅黑" panose="020B0503020204020204" pitchFamily="34" charset="-122"/>
                <a:ea typeface="微软雅黑" panose="020B0503020204020204" pitchFamily="34" charset="-122"/>
              </a:rPr>
              <a:t>解：</a:t>
            </a:r>
            <a:r>
              <a:rPr lang="en-US" altLang="zh-CN" sz="2000">
                <a:solidFill>
                  <a:srgbClr val="0033CC"/>
                </a:solidFill>
                <a:latin typeface="微软雅黑" panose="020B0503020204020204" pitchFamily="34" charset="-122"/>
                <a:ea typeface="微软雅黑" panose="020B0503020204020204" pitchFamily="34" charset="-122"/>
              </a:rPr>
              <a:t>8191</a:t>
            </a:r>
            <a:r>
              <a:rPr lang="zh-CN" altLang="en-US" sz="2000">
                <a:solidFill>
                  <a:srgbClr val="0033CC"/>
                </a:solidFill>
                <a:latin typeface="微软雅黑" panose="020B0503020204020204" pitchFamily="34" charset="-122"/>
                <a:ea typeface="微软雅黑" panose="020B0503020204020204" pitchFamily="34" charset="-122"/>
              </a:rPr>
              <a:t>的机器数为：</a:t>
            </a:r>
            <a:r>
              <a:rPr lang="en-US" altLang="zh-CN" sz="2000">
                <a:solidFill>
                  <a:srgbClr val="7030A0"/>
                </a:solidFill>
                <a:latin typeface="微软雅黑" panose="020B0503020204020204" pitchFamily="34" charset="-122"/>
                <a:ea typeface="微软雅黑" panose="020B0503020204020204" pitchFamily="34" charset="-122"/>
              </a:rPr>
              <a:t>0000 0000 0000 0000 0001 </a:t>
            </a:r>
            <a:r>
              <a:rPr lang="en-US" altLang="zh-CN" sz="2000">
                <a:solidFill>
                  <a:schemeClr val="accent1"/>
                </a:solidFill>
                <a:latin typeface="微软雅黑" panose="020B0503020204020204" pitchFamily="34" charset="-122"/>
                <a:ea typeface="微软雅黑" panose="020B0503020204020204" pitchFamily="34" charset="-122"/>
              </a:rPr>
              <a:t>1111 1111 1111</a:t>
            </a:r>
            <a:endParaRPr lang="zh-CN" altLang="en-US" sz="2000">
              <a:solidFill>
                <a:srgbClr val="7030A0"/>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191F720E-7948-04E3-34A8-D0F4516EBDA3}"/>
              </a:ext>
            </a:extLst>
          </p:cNvPr>
          <p:cNvSpPr>
            <a:spLocks noChangeArrowheads="1"/>
          </p:cNvSpPr>
          <p:nvPr/>
        </p:nvSpPr>
        <p:spPr bwMode="auto">
          <a:xfrm>
            <a:off x="223838" y="1627188"/>
            <a:ext cx="8855075"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lui rd, imm20</a:t>
            </a:r>
            <a:r>
              <a:rPr lang="zh-CN" altLang="en-US" sz="2000">
                <a:solidFill>
                  <a:schemeClr val="tx1"/>
                </a:solidFill>
                <a:latin typeface="微软雅黑" panose="020B0503020204020204" pitchFamily="34" charset="-122"/>
                <a:ea typeface="微软雅黑" panose="020B0503020204020204" pitchFamily="34" charset="-122"/>
              </a:rPr>
              <a:t>：将立即数</a:t>
            </a:r>
            <a:r>
              <a:rPr lang="en-US" altLang="zh-CN" sz="2000">
                <a:solidFill>
                  <a:schemeClr val="tx1"/>
                </a:solidFill>
                <a:latin typeface="微软雅黑" panose="020B0503020204020204" pitchFamily="34" charset="-122"/>
                <a:ea typeface="微软雅黑" panose="020B0503020204020204" pitchFamily="34" charset="-122"/>
              </a:rPr>
              <a:t>imm20</a:t>
            </a:r>
            <a:r>
              <a:rPr lang="zh-CN" altLang="en-US" sz="2000">
                <a:solidFill>
                  <a:schemeClr val="tx1"/>
                </a:solidFill>
                <a:latin typeface="微软雅黑" panose="020B0503020204020204" pitchFamily="34" charset="-122"/>
                <a:ea typeface="微软雅黑" panose="020B0503020204020204" pitchFamily="34" charset="-122"/>
              </a:rPr>
              <a:t>存到</a:t>
            </a:r>
            <a:r>
              <a:rPr lang="en-US" altLang="zh-CN" sz="2000">
                <a:solidFill>
                  <a:schemeClr val="tx1"/>
                </a:solidFill>
                <a:latin typeface="微软雅黑" panose="020B0503020204020204" pitchFamily="34" charset="-122"/>
                <a:ea typeface="微软雅黑" panose="020B0503020204020204" pitchFamily="34" charset="-122"/>
              </a:rPr>
              <a:t>rd</a:t>
            </a:r>
            <a:r>
              <a:rPr lang="zh-CN" altLang="en-US" sz="2000">
                <a:solidFill>
                  <a:schemeClr val="tx1"/>
                </a:solidFill>
                <a:latin typeface="微软雅黑" panose="020B0503020204020204" pitchFamily="34" charset="-122"/>
                <a:ea typeface="微软雅黑" panose="020B0503020204020204" pitchFamily="34" charset="-122"/>
              </a:rPr>
              <a:t>寄存器高</a:t>
            </a:r>
            <a:r>
              <a:rPr lang="en-US" altLang="zh-CN" sz="2000">
                <a:solidFill>
                  <a:schemeClr val="tx1"/>
                </a:solidFill>
                <a:latin typeface="微软雅黑" panose="020B0503020204020204" pitchFamily="34" charset="-122"/>
                <a:ea typeface="微软雅黑" panose="020B0503020204020204" pitchFamily="34" charset="-122"/>
              </a:rPr>
              <a:t>20</a:t>
            </a:r>
            <a:r>
              <a:rPr lang="zh-CN" altLang="en-US" sz="2000">
                <a:solidFill>
                  <a:schemeClr val="tx1"/>
                </a:solidFill>
                <a:latin typeface="微软雅黑" panose="020B0503020204020204" pitchFamily="34" charset="-122"/>
                <a:ea typeface="微软雅黑" panose="020B0503020204020204" pitchFamily="34" charset="-122"/>
              </a:rPr>
              <a:t>位，低</a:t>
            </a:r>
            <a:r>
              <a:rPr lang="en-US" altLang="zh-CN" sz="2000">
                <a:solidFill>
                  <a:schemeClr val="tx1"/>
                </a:solidFill>
                <a:latin typeface="微软雅黑" panose="020B0503020204020204" pitchFamily="34" charset="-122"/>
                <a:ea typeface="微软雅黑" panose="020B0503020204020204" pitchFamily="34" charset="-122"/>
              </a:rPr>
              <a:t>12</a:t>
            </a:r>
            <a:r>
              <a:rPr lang="zh-CN" altLang="en-US" sz="2000">
                <a:solidFill>
                  <a:schemeClr val="tx1"/>
                </a:solidFill>
                <a:latin typeface="微软雅黑" panose="020B0503020204020204" pitchFamily="34" charset="-122"/>
                <a:ea typeface="微软雅黑" panose="020B0503020204020204" pitchFamily="34" charset="-122"/>
              </a:rPr>
              <a:t>位为</a:t>
            </a:r>
            <a:r>
              <a:rPr lang="en-US" altLang="zh-CN" sz="2000">
                <a:solidFill>
                  <a:schemeClr val="tx1"/>
                </a:solidFill>
                <a:latin typeface="微软雅黑" panose="020B0503020204020204" pitchFamily="34" charset="-122"/>
                <a:ea typeface="微软雅黑" panose="020B0503020204020204" pitchFamily="34" charset="-122"/>
              </a:rPr>
              <a:t>0</a:t>
            </a:r>
            <a:r>
              <a:rPr lang="zh-CN" altLang="en-US" sz="2000">
                <a:solidFill>
                  <a:schemeClr val="tx1"/>
                </a:solidFill>
                <a:latin typeface="微软雅黑" panose="020B0503020204020204" pitchFamily="34" charset="-122"/>
                <a:ea typeface="微软雅黑" panose="020B0503020204020204" pitchFamily="34" charset="-122"/>
              </a:rPr>
              <a:t>。该指令和“</a:t>
            </a:r>
            <a:r>
              <a:rPr lang="en-US" altLang="zh-CN" sz="2000">
                <a:solidFill>
                  <a:schemeClr val="tx1"/>
                </a:solidFill>
                <a:latin typeface="微软雅黑" panose="020B0503020204020204" pitchFamily="34" charset="-122"/>
                <a:ea typeface="微软雅黑" panose="020B0503020204020204" pitchFamily="34" charset="-122"/>
              </a:rPr>
              <a:t>addi rd, rs1, imm12”</a:t>
            </a:r>
            <a:r>
              <a:rPr lang="zh-CN" altLang="en-US" sz="2000">
                <a:solidFill>
                  <a:schemeClr val="tx1"/>
                </a:solidFill>
                <a:latin typeface="微软雅黑" panose="020B0503020204020204" pitchFamily="34" charset="-122"/>
                <a:ea typeface="微软雅黑" panose="020B0503020204020204" pitchFamily="34" charset="-122"/>
              </a:rPr>
              <a:t>结合，可以实现对一个</a:t>
            </a:r>
            <a:r>
              <a:rPr lang="en-US" altLang="zh-CN" sz="2000">
                <a:solidFill>
                  <a:schemeClr val="tx1"/>
                </a:solidFill>
                <a:latin typeface="微软雅黑" panose="020B0503020204020204" pitchFamily="34" charset="-122"/>
                <a:ea typeface="微软雅黑" panose="020B0503020204020204" pitchFamily="34" charset="-122"/>
              </a:rPr>
              <a:t>32</a:t>
            </a:r>
            <a:r>
              <a:rPr lang="zh-CN" altLang="en-US" sz="2000">
                <a:solidFill>
                  <a:schemeClr val="tx1"/>
                </a:solidFill>
                <a:latin typeface="微软雅黑" panose="020B0503020204020204" pitchFamily="34" charset="-122"/>
                <a:ea typeface="微软雅黑" panose="020B0503020204020204" pitchFamily="34" charset="-122"/>
              </a:rPr>
              <a:t>位变量赋初值。</a:t>
            </a:r>
            <a:endParaRPr lang="en-US" altLang="zh-CN" sz="2000">
              <a:solidFill>
                <a:schemeClr val="tx1"/>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23B592FD-6369-4339-B035-3FBA4FB048A1}"/>
              </a:ext>
            </a:extLst>
          </p:cNvPr>
          <p:cNvSpPr>
            <a:spLocks noChangeArrowheads="1"/>
          </p:cNvSpPr>
          <p:nvPr/>
        </p:nvSpPr>
        <p:spPr bwMode="auto">
          <a:xfrm>
            <a:off x="82550" y="3808413"/>
            <a:ext cx="8964613"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3000"/>
              </a:lnSpc>
            </a:pPr>
            <a:r>
              <a:rPr lang="zh-CN" altLang="en-US" sz="1900">
                <a:solidFill>
                  <a:schemeClr val="tx1"/>
                </a:solidFill>
                <a:latin typeface="微软雅黑" panose="020B0503020204020204" pitchFamily="34" charset="-122"/>
                <a:ea typeface="微软雅黑" panose="020B0503020204020204" pitchFamily="34" charset="-122"/>
              </a:rPr>
              <a:t>不对！因为低</a:t>
            </a:r>
            <a:r>
              <a:rPr lang="en-US" altLang="zh-CN" sz="1900">
                <a:solidFill>
                  <a:schemeClr val="tx1"/>
                </a:solidFill>
                <a:latin typeface="微软雅黑" panose="020B0503020204020204" pitchFamily="34" charset="-122"/>
                <a:ea typeface="微软雅黑" panose="020B0503020204020204" pitchFamily="34" charset="-122"/>
              </a:rPr>
              <a:t>12</a:t>
            </a:r>
            <a:r>
              <a:rPr lang="zh-CN" altLang="en-US" sz="1900">
                <a:solidFill>
                  <a:schemeClr val="tx1"/>
                </a:solidFill>
                <a:latin typeface="微软雅黑" panose="020B0503020204020204" pitchFamily="34" charset="-122"/>
                <a:ea typeface="微软雅黑" panose="020B0503020204020204" pitchFamily="34" charset="-122"/>
              </a:rPr>
              <a:t>位中第一位为</a:t>
            </a:r>
            <a:r>
              <a:rPr lang="en-US" altLang="zh-CN" sz="1900">
                <a:solidFill>
                  <a:schemeClr val="tx1"/>
                </a:solidFill>
                <a:latin typeface="微软雅黑" panose="020B0503020204020204" pitchFamily="34" charset="-122"/>
                <a:ea typeface="微软雅黑" panose="020B0503020204020204" pitchFamily="34" charset="-122"/>
              </a:rPr>
              <a:t>1</a:t>
            </a:r>
            <a:r>
              <a:rPr lang="zh-CN" altLang="en-US" sz="1900">
                <a:solidFill>
                  <a:schemeClr val="tx1"/>
                </a:solidFill>
                <a:latin typeface="微软雅黑" panose="020B0503020204020204" pitchFamily="34" charset="-122"/>
                <a:ea typeface="微软雅黑" panose="020B0503020204020204" pitchFamily="34" charset="-122"/>
              </a:rPr>
              <a:t>，</a:t>
            </a:r>
            <a:r>
              <a:rPr lang="en-US" altLang="zh-CN" sz="1900">
                <a:solidFill>
                  <a:schemeClr val="tx1"/>
                </a:solidFill>
                <a:latin typeface="微软雅黑" panose="020B0503020204020204" pitchFamily="34" charset="-122"/>
                <a:ea typeface="微软雅黑" panose="020B0503020204020204" pitchFamily="34" charset="-122"/>
              </a:rPr>
              <a:t>addi</a:t>
            </a:r>
            <a:r>
              <a:rPr lang="zh-CN" altLang="en-US" sz="1900">
                <a:solidFill>
                  <a:schemeClr val="tx1"/>
                </a:solidFill>
                <a:latin typeface="微软雅黑" panose="020B0503020204020204" pitchFamily="34" charset="-122"/>
                <a:ea typeface="微软雅黑" panose="020B0503020204020204" pitchFamily="34" charset="-122"/>
              </a:rPr>
              <a:t>按符号扩展相加！结果为</a:t>
            </a:r>
            <a:r>
              <a:rPr lang="en-US" altLang="zh-CN" sz="1900">
                <a:solidFill>
                  <a:schemeClr val="tx1"/>
                </a:solidFill>
                <a:latin typeface="微软雅黑" panose="020B0503020204020204" pitchFamily="34" charset="-122"/>
                <a:ea typeface="微软雅黑" panose="020B0503020204020204" pitchFamily="34" charset="-122"/>
              </a:rPr>
              <a:t>4095</a:t>
            </a:r>
            <a:r>
              <a:rPr lang="zh-CN" altLang="en-US" sz="1900">
                <a:solidFill>
                  <a:schemeClr val="tx1"/>
                </a:solidFill>
                <a:latin typeface="微软雅黑" panose="020B0503020204020204" pitchFamily="34" charset="-122"/>
                <a:ea typeface="微软雅黑" panose="020B0503020204020204" pitchFamily="34" charset="-122"/>
              </a:rPr>
              <a:t>。</a:t>
            </a:r>
            <a:endParaRPr lang="en-US" altLang="zh-CN" sz="1900">
              <a:solidFill>
                <a:schemeClr val="tx1"/>
              </a:solidFill>
              <a:latin typeface="微软雅黑" panose="020B0503020204020204" pitchFamily="34" charset="-122"/>
              <a:ea typeface="微软雅黑" panose="020B0503020204020204" pitchFamily="34" charset="-122"/>
            </a:endParaRPr>
          </a:p>
          <a:p>
            <a:pPr eaLnBrk="0" hangingPunct="0">
              <a:lnSpc>
                <a:spcPts val="3000"/>
              </a:lnSpc>
            </a:pPr>
            <a:r>
              <a:rPr lang="zh-CN" altLang="en-US" sz="1900">
                <a:solidFill>
                  <a:srgbClr val="FF0000"/>
                </a:solidFill>
                <a:latin typeface="微软雅黑" panose="020B0503020204020204" pitchFamily="34" charset="-122"/>
                <a:ea typeface="微软雅黑" panose="020B0503020204020204" pitchFamily="34" charset="-122"/>
              </a:rPr>
              <a:t>可利用</a:t>
            </a:r>
            <a:r>
              <a:rPr lang="en-US" altLang="zh-CN" sz="1900">
                <a:solidFill>
                  <a:srgbClr val="FF0000"/>
                </a:solidFill>
                <a:latin typeface="微软雅黑" panose="020B0503020204020204" pitchFamily="34" charset="-122"/>
                <a:ea typeface="微软雅黑" panose="020B0503020204020204" pitchFamily="34" charset="-122"/>
              </a:rPr>
              <a:t>addi</a:t>
            </a:r>
            <a:r>
              <a:rPr lang="zh-CN" altLang="en-US" sz="1900">
                <a:solidFill>
                  <a:srgbClr val="FF0000"/>
                </a:solidFill>
                <a:latin typeface="微软雅黑" panose="020B0503020204020204" pitchFamily="34" charset="-122"/>
                <a:ea typeface="微软雅黑" panose="020B0503020204020204" pitchFamily="34" charset="-122"/>
              </a:rPr>
              <a:t>符号扩展特性进行调整！因为 </a:t>
            </a:r>
            <a:r>
              <a:rPr lang="en-US" altLang="zh-CN" sz="1900">
                <a:solidFill>
                  <a:srgbClr val="FF0000"/>
                </a:solidFill>
                <a:latin typeface="微软雅黑" panose="020B0503020204020204" pitchFamily="34" charset="-122"/>
                <a:ea typeface="微软雅黑" panose="020B0503020204020204" pitchFamily="34" charset="-122"/>
              </a:rPr>
              <a:t>imm12</a:t>
            </a:r>
            <a:r>
              <a:rPr lang="zh-CN" altLang="en-US" sz="1900">
                <a:solidFill>
                  <a:srgbClr val="FF0000"/>
                </a:solidFill>
                <a:latin typeface="微软雅黑" panose="020B0503020204020204" pitchFamily="34" charset="-122"/>
                <a:ea typeface="微软雅黑" panose="020B0503020204020204" pitchFamily="34" charset="-122"/>
              </a:rPr>
              <a:t>范围为</a:t>
            </a:r>
            <a:r>
              <a:rPr lang="en-US" altLang="zh-CN" sz="1900">
                <a:solidFill>
                  <a:srgbClr val="FF0000"/>
                </a:solidFill>
                <a:latin typeface="微软雅黑" panose="020B0503020204020204" pitchFamily="34" charset="-122"/>
                <a:ea typeface="微软雅黑" panose="020B0503020204020204" pitchFamily="34" charset="-122"/>
              </a:rPr>
              <a:t>-2048~2048</a:t>
            </a:r>
            <a:r>
              <a:rPr lang="zh-CN" altLang="en-US" sz="1900">
                <a:solidFill>
                  <a:srgbClr val="FF0000"/>
                </a:solidFill>
                <a:latin typeface="微软雅黑" panose="020B0503020204020204" pitchFamily="34" charset="-122"/>
                <a:ea typeface="微软雅黑" panose="020B0503020204020204" pitchFamily="34" charset="-122"/>
              </a:rPr>
              <a:t>，故可用</a:t>
            </a:r>
            <a:r>
              <a:rPr lang="en-US" altLang="zh-CN" sz="1900">
                <a:solidFill>
                  <a:srgbClr val="FF0000"/>
                </a:solidFill>
                <a:latin typeface="微软雅黑" panose="020B0503020204020204" pitchFamily="34" charset="-122"/>
                <a:ea typeface="微软雅黑" panose="020B0503020204020204" pitchFamily="34" charset="-122"/>
              </a:rPr>
              <a:t>lui</a:t>
            </a:r>
            <a:r>
              <a:rPr lang="zh-CN" altLang="en-US" sz="1900">
                <a:solidFill>
                  <a:srgbClr val="FF0000"/>
                </a:solidFill>
                <a:latin typeface="微软雅黑" panose="020B0503020204020204" pitchFamily="34" charset="-122"/>
                <a:ea typeface="微软雅黑" panose="020B0503020204020204" pitchFamily="34" charset="-122"/>
              </a:rPr>
              <a:t>先装入一个距离目标常数小于</a:t>
            </a:r>
            <a:r>
              <a:rPr lang="en-US" altLang="zh-CN" sz="1900">
                <a:solidFill>
                  <a:srgbClr val="FF0000"/>
                </a:solidFill>
                <a:latin typeface="微软雅黑" panose="020B0503020204020204" pitchFamily="34" charset="-122"/>
                <a:ea typeface="微软雅黑" panose="020B0503020204020204" pitchFamily="34" charset="-122"/>
              </a:rPr>
              <a:t>2048</a:t>
            </a:r>
            <a:r>
              <a:rPr lang="zh-CN" altLang="en-US" sz="1900">
                <a:solidFill>
                  <a:srgbClr val="FF0000"/>
                </a:solidFill>
                <a:latin typeface="微软雅黑" panose="020B0503020204020204" pitchFamily="34" charset="-122"/>
                <a:ea typeface="微软雅黑" panose="020B0503020204020204" pitchFamily="34" charset="-122"/>
              </a:rPr>
              <a:t>的数，再通过 </a:t>
            </a:r>
            <a:r>
              <a:rPr lang="en-US" altLang="zh-CN" sz="1900">
                <a:solidFill>
                  <a:srgbClr val="FF0000"/>
                </a:solidFill>
                <a:latin typeface="微软雅黑" panose="020B0503020204020204" pitchFamily="34" charset="-122"/>
                <a:ea typeface="微软雅黑" panose="020B0503020204020204" pitchFamily="34" charset="-122"/>
              </a:rPr>
              <a:t>addi </a:t>
            </a:r>
            <a:r>
              <a:rPr lang="zh-CN" altLang="en-US" sz="1900">
                <a:solidFill>
                  <a:srgbClr val="FF0000"/>
                </a:solidFill>
                <a:latin typeface="微软雅黑" panose="020B0503020204020204" pitchFamily="34" charset="-122"/>
                <a:ea typeface="微软雅黑" panose="020B0503020204020204" pitchFamily="34" charset="-122"/>
              </a:rPr>
              <a:t>进行 加 或 </a:t>
            </a:r>
            <a:r>
              <a:rPr lang="zh-CN" altLang="en-US" sz="1900">
                <a:solidFill>
                  <a:schemeClr val="tx2"/>
                </a:solidFill>
                <a:latin typeface="微软雅黑" panose="020B0503020204020204" pitchFamily="34" charset="-122"/>
                <a:ea typeface="微软雅黑" panose="020B0503020204020204" pitchFamily="34" charset="-122"/>
              </a:rPr>
              <a:t>减（</a:t>
            </a:r>
            <a:r>
              <a:rPr lang="en-US" altLang="zh-CN" sz="1900">
                <a:solidFill>
                  <a:schemeClr val="tx2"/>
                </a:solidFill>
                <a:latin typeface="微软雅黑" panose="020B0503020204020204" pitchFamily="34" charset="-122"/>
                <a:ea typeface="微软雅黑" panose="020B0503020204020204" pitchFamily="34" charset="-122"/>
              </a:rPr>
              <a:t>imm12</a:t>
            </a:r>
            <a:r>
              <a:rPr lang="zh-CN" altLang="en-US" sz="1900">
                <a:solidFill>
                  <a:schemeClr val="tx2"/>
                </a:solidFill>
                <a:latin typeface="微软雅黑" panose="020B0503020204020204" pitchFamily="34" charset="-122"/>
                <a:ea typeface="微软雅黑" panose="020B0503020204020204" pitchFamily="34" charset="-122"/>
              </a:rPr>
              <a:t>为负时）</a:t>
            </a:r>
            <a:r>
              <a:rPr lang="zh-CN" altLang="en-US" sz="1900">
                <a:solidFill>
                  <a:srgbClr val="FF0000"/>
                </a:solidFill>
                <a:latin typeface="微软雅黑" panose="020B0503020204020204" pitchFamily="34" charset="-122"/>
                <a:ea typeface="微软雅黑" panose="020B0503020204020204" pitchFamily="34" charset="-122"/>
              </a:rPr>
              <a:t>来调整！</a:t>
            </a:r>
            <a:endParaRPr lang="en-US" altLang="zh-CN" sz="1900">
              <a:solidFill>
                <a:srgbClr val="FF0000"/>
              </a:solidFill>
              <a:latin typeface="微软雅黑" panose="020B0503020204020204" pitchFamily="34" charset="-122"/>
              <a:ea typeface="微软雅黑" panose="020B0503020204020204" pitchFamily="34" charset="-122"/>
            </a:endParaRPr>
          </a:p>
          <a:p>
            <a:pPr eaLnBrk="0" hangingPunct="0">
              <a:lnSpc>
                <a:spcPts val="3000"/>
              </a:lnSpc>
            </a:pPr>
            <a:r>
              <a:rPr lang="zh-CN" altLang="en-US" sz="1900">
                <a:solidFill>
                  <a:srgbClr val="FF0000"/>
                </a:solidFill>
                <a:latin typeface="微软雅黑" panose="020B0503020204020204" pitchFamily="34" charset="-122"/>
                <a:ea typeface="微软雅黑" panose="020B0503020204020204" pitchFamily="34" charset="-122"/>
              </a:rPr>
              <a:t>这里 </a:t>
            </a:r>
            <a:r>
              <a:rPr lang="en-US" altLang="zh-CN" sz="1900">
                <a:solidFill>
                  <a:srgbClr val="FF0000"/>
                </a:solidFill>
                <a:latin typeface="微软雅黑" panose="020B0503020204020204" pitchFamily="34" charset="-122"/>
                <a:ea typeface="微软雅黑" panose="020B0503020204020204" pitchFamily="34" charset="-122"/>
              </a:rPr>
              <a:t>8191=8192-1</a:t>
            </a:r>
            <a:r>
              <a:rPr lang="zh-CN" altLang="en-US" sz="1900">
                <a:solidFill>
                  <a:srgbClr val="FF0000"/>
                </a:solidFill>
                <a:latin typeface="微软雅黑" panose="020B0503020204020204" pitchFamily="34" charset="-122"/>
                <a:ea typeface="微软雅黑" panose="020B0503020204020204" pitchFamily="34" charset="-122"/>
              </a:rPr>
              <a:t>，故可先装入</a:t>
            </a:r>
            <a:r>
              <a:rPr lang="en-US" altLang="zh-CN" sz="1900">
                <a:solidFill>
                  <a:srgbClr val="FF0000"/>
                </a:solidFill>
                <a:latin typeface="微软雅黑" panose="020B0503020204020204" pitchFamily="34" charset="-122"/>
                <a:ea typeface="微软雅黑" panose="020B0503020204020204" pitchFamily="34" charset="-122"/>
              </a:rPr>
              <a:t>8192</a:t>
            </a:r>
            <a:r>
              <a:rPr lang="zh-CN" altLang="en-US" sz="1900">
                <a:solidFill>
                  <a:srgbClr val="FF0000"/>
                </a:solidFill>
                <a:latin typeface="微软雅黑" panose="020B0503020204020204" pitchFamily="34" charset="-122"/>
                <a:ea typeface="微软雅黑" panose="020B0503020204020204" pitchFamily="34" charset="-122"/>
              </a:rPr>
              <a:t>，再用 </a:t>
            </a:r>
            <a:r>
              <a:rPr lang="en-US" altLang="zh-CN" sz="1900">
                <a:solidFill>
                  <a:srgbClr val="FF0000"/>
                </a:solidFill>
                <a:latin typeface="微软雅黑" panose="020B0503020204020204" pitchFamily="34" charset="-122"/>
                <a:ea typeface="微软雅黑" panose="020B0503020204020204" pitchFamily="34" charset="-122"/>
              </a:rPr>
              <a:t>addi </a:t>
            </a:r>
            <a:r>
              <a:rPr lang="zh-CN" altLang="en-US" sz="1900">
                <a:solidFill>
                  <a:srgbClr val="FF0000"/>
                </a:solidFill>
                <a:latin typeface="微软雅黑" panose="020B0503020204020204" pitchFamily="34" charset="-122"/>
                <a:ea typeface="微软雅黑" panose="020B0503020204020204" pitchFamily="34" charset="-122"/>
              </a:rPr>
              <a:t>减</a:t>
            </a:r>
            <a:r>
              <a:rPr lang="en-US" altLang="zh-CN" sz="1900">
                <a:solidFill>
                  <a:srgbClr val="FF0000"/>
                </a:solidFill>
                <a:latin typeface="微软雅黑" panose="020B0503020204020204" pitchFamily="34" charset="-122"/>
                <a:ea typeface="微软雅黑" panose="020B0503020204020204" pitchFamily="34" charset="-122"/>
              </a:rPr>
              <a:t>1 </a:t>
            </a:r>
            <a:r>
              <a:rPr lang="zh-CN" altLang="en-US" sz="1900">
                <a:solidFill>
                  <a:srgbClr val="FF0000"/>
                </a:solidFill>
                <a:latin typeface="微软雅黑" panose="020B0503020204020204" pitchFamily="34" charset="-122"/>
                <a:ea typeface="微软雅黑" panose="020B0503020204020204" pitchFamily="34" charset="-122"/>
              </a:rPr>
              <a:t>（加全</a:t>
            </a:r>
            <a:r>
              <a:rPr lang="en-US" altLang="zh-CN" sz="1900">
                <a:solidFill>
                  <a:srgbClr val="FF0000"/>
                </a:solidFill>
                <a:latin typeface="微软雅黑" panose="020B0503020204020204" pitchFamily="34" charset="-122"/>
                <a:ea typeface="微软雅黑" panose="020B0503020204020204" pitchFamily="34" charset="-122"/>
              </a:rPr>
              <a:t>1</a:t>
            </a:r>
            <a:r>
              <a:rPr lang="zh-CN" altLang="en-US" sz="1900">
                <a:solidFill>
                  <a:srgbClr val="FF0000"/>
                </a:solidFill>
                <a:latin typeface="微软雅黑" panose="020B0503020204020204" pitchFamily="34" charset="-122"/>
                <a:ea typeface="微软雅黑" panose="020B0503020204020204" pitchFamily="34" charset="-122"/>
              </a:rPr>
              <a:t>）！</a:t>
            </a:r>
          </a:p>
        </p:txBody>
      </p:sp>
      <p:sp>
        <p:nvSpPr>
          <p:cNvPr id="6" name="矩形 5">
            <a:extLst>
              <a:ext uri="{FF2B5EF4-FFF2-40B4-BE49-F238E27FC236}">
                <a16:creationId xmlns:a16="http://schemas.microsoft.com/office/drawing/2014/main" id="{ECC71175-01E1-D309-36D5-9A60EADDF78F}"/>
              </a:ext>
            </a:extLst>
          </p:cNvPr>
          <p:cNvSpPr>
            <a:spLocks noChangeArrowheads="1"/>
          </p:cNvSpPr>
          <p:nvPr/>
        </p:nvSpPr>
        <p:spPr bwMode="auto">
          <a:xfrm>
            <a:off x="60325" y="5853113"/>
            <a:ext cx="90233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0000 0000 0000 0000 0010 </a:t>
            </a:r>
            <a:r>
              <a:rPr lang="en-US" altLang="zh-CN" sz="1600">
                <a:solidFill>
                  <a:srgbClr val="0033CC"/>
                </a:solidFill>
                <a:latin typeface="微软雅黑" panose="020B0503020204020204" pitchFamily="34" charset="-122"/>
                <a:ea typeface="微软雅黑" panose="020B0503020204020204" pitchFamily="34" charset="-122"/>
              </a:rPr>
              <a:t>00101</a:t>
            </a:r>
            <a:r>
              <a:rPr lang="en-US" altLang="zh-CN" sz="1600">
                <a:solidFill>
                  <a:schemeClr val="tx1"/>
                </a:solidFill>
                <a:latin typeface="微软雅黑" panose="020B0503020204020204" pitchFamily="34" charset="-122"/>
                <a:ea typeface="微软雅黑" panose="020B0503020204020204" pitchFamily="34" charset="-122"/>
              </a:rPr>
              <a:t> 0110111  </a:t>
            </a:r>
            <a:r>
              <a:rPr lang="en-US" altLang="zh-CN" sz="1600">
                <a:solidFill>
                  <a:srgbClr val="FF0000"/>
                </a:solidFill>
                <a:latin typeface="微软雅黑" panose="020B0503020204020204" pitchFamily="34" charset="-122"/>
                <a:ea typeface="微软雅黑" panose="020B0503020204020204" pitchFamily="34" charset="-122"/>
              </a:rPr>
              <a:t>lui x5, 2 </a:t>
            </a:r>
            <a:r>
              <a:rPr lang="en-US" altLang="zh-CN" sz="1600">
                <a:solidFill>
                  <a:srgbClr val="0033CC"/>
                </a:solidFill>
                <a:latin typeface="微软雅黑" panose="020B0503020204020204" pitchFamily="34" charset="-122"/>
                <a:ea typeface="微软雅黑" panose="020B0503020204020204" pitchFamily="34" charset="-122"/>
              </a:rPr>
              <a:t>#R[x5]← 0000 2000H</a:t>
            </a:r>
          </a:p>
          <a:p>
            <a:pPr eaLnBrk="0" hangingPunct="0">
              <a:lnSpc>
                <a:spcPts val="2800"/>
              </a:lnSpc>
              <a:spcBef>
                <a:spcPts val="600"/>
              </a:spcBef>
            </a:pPr>
            <a:r>
              <a:rPr lang="en-US" altLang="zh-CN" sz="1600">
                <a:solidFill>
                  <a:schemeClr val="accent1"/>
                </a:solidFill>
                <a:latin typeface="微软雅黑" panose="020B0503020204020204" pitchFamily="34" charset="-122"/>
                <a:ea typeface="微软雅黑" panose="020B0503020204020204" pitchFamily="34" charset="-122"/>
              </a:rPr>
              <a:t>1111 1111 1111</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chemeClr val="tx1"/>
                </a:solidFill>
                <a:latin typeface="微软雅黑" panose="020B0503020204020204" pitchFamily="34" charset="-122"/>
                <a:ea typeface="微软雅黑" panose="020B0503020204020204" pitchFamily="34" charset="-122"/>
              </a:rPr>
              <a:t>00101 000 </a:t>
            </a:r>
            <a:r>
              <a:rPr lang="en-US" altLang="zh-CN" sz="1600">
                <a:solidFill>
                  <a:srgbClr val="0033CC"/>
                </a:solidFill>
                <a:latin typeface="微软雅黑" panose="020B0503020204020204" pitchFamily="34" charset="-122"/>
                <a:ea typeface="微软雅黑" panose="020B0503020204020204" pitchFamily="34" charset="-122"/>
              </a:rPr>
              <a:t>00101</a:t>
            </a:r>
            <a:r>
              <a:rPr lang="en-US" altLang="zh-CN" sz="1600">
                <a:solidFill>
                  <a:schemeClr val="tx1"/>
                </a:solidFill>
                <a:latin typeface="微软雅黑" panose="020B0503020204020204" pitchFamily="34" charset="-122"/>
                <a:ea typeface="微软雅黑" panose="020B0503020204020204" pitchFamily="34" charset="-122"/>
              </a:rPr>
              <a:t> 0010011  </a:t>
            </a:r>
            <a:r>
              <a:rPr lang="en-US" altLang="zh-CN" sz="1600">
                <a:solidFill>
                  <a:srgbClr val="FF0000"/>
                </a:solidFill>
                <a:latin typeface="微软雅黑" panose="020B0503020204020204" pitchFamily="34" charset="-122"/>
                <a:ea typeface="微软雅黑" panose="020B0503020204020204" pitchFamily="34" charset="-122"/>
              </a:rPr>
              <a:t>addi x5, x5,-1</a:t>
            </a:r>
            <a:r>
              <a:rPr lang="en-US" altLang="zh-CN" sz="1600">
                <a:solidFill>
                  <a:srgbClr val="0033CC"/>
                </a:solidFill>
                <a:latin typeface="微软雅黑" panose="020B0503020204020204" pitchFamily="34" charset="-122"/>
                <a:ea typeface="微软雅黑" panose="020B0503020204020204" pitchFamily="34" charset="-122"/>
              </a:rPr>
              <a:t>#R[x5]←R[x5]+SEXT[FFFH]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17" dur="500"/>
                                        <p:tgtEl>
                                          <p:spTgt spid="1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2" dur="500"/>
                                        <p:tgtEl>
                                          <p:spTgt spid="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7" dur="500"/>
                                        <p:tgtEl>
                                          <p:spTgt spid="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randombar(horizontal)">
                                      <p:cBhvr>
                                        <p:cTn id="32" dur="500"/>
                                        <p:tgtEl>
                                          <p:spTgt spid="9">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randombar(horizontal)">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randombar(horizontal)">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2CBBFF51-9E5A-08F6-8A93-BD3CD152CFBB}"/>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3" name="矩形 2">
            <a:extLst>
              <a:ext uri="{FF2B5EF4-FFF2-40B4-BE49-F238E27FC236}">
                <a16:creationId xmlns:a16="http://schemas.microsoft.com/office/drawing/2014/main" id="{94383E02-0EB4-FF68-3F96-2FC477CEA722}"/>
              </a:ext>
            </a:extLst>
          </p:cNvPr>
          <p:cNvSpPr>
            <a:spLocks noChangeArrowheads="1"/>
          </p:cNvSpPr>
          <p:nvPr/>
        </p:nvSpPr>
        <p:spPr bwMode="auto">
          <a:xfrm>
            <a:off x="74613" y="4459288"/>
            <a:ext cx="8980487"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ts val="2800"/>
              </a:lnSpc>
              <a:spcBef>
                <a:spcPts val="600"/>
              </a:spcBef>
              <a:defRPr/>
            </a:pPr>
            <a:r>
              <a:rPr lang="zh-CN" altLang="en-US" sz="2000" dirty="0">
                <a:solidFill>
                  <a:srgbClr val="C00000"/>
                </a:solidFill>
                <a:latin typeface="微软雅黑" panose="020B0503020204020204" pitchFamily="34" charset="-122"/>
                <a:ea typeface="微软雅黑" panose="020B0503020204020204" pitchFamily="34" charset="-122"/>
              </a:rPr>
              <a:t>操作码</a:t>
            </a:r>
            <a:r>
              <a:rPr lang="en-US" altLang="zh-CN" sz="2000" dirty="0">
                <a:solidFill>
                  <a:srgbClr val="C00000"/>
                </a:solidFill>
                <a:latin typeface="微软雅黑" panose="020B0503020204020204" pitchFamily="34" charset="-122"/>
                <a:ea typeface="微软雅黑" panose="020B0503020204020204" pitchFamily="34" charset="-122"/>
              </a:rPr>
              <a:t>opcode</a:t>
            </a:r>
            <a:r>
              <a:rPr lang="zh-CN" altLang="en-US" sz="2000" dirty="0">
                <a:solidFill>
                  <a:schemeClr val="tx1"/>
                </a:solidFill>
                <a:latin typeface="微软雅黑" panose="020B0503020204020204" pitchFamily="34" charset="-122"/>
                <a:ea typeface="微软雅黑" panose="020B0503020204020204" pitchFamily="34" charset="-122"/>
              </a:rPr>
              <a:t>：都是</a:t>
            </a:r>
            <a:r>
              <a:rPr lang="en-US" altLang="zh-CN" sz="2000" dirty="0">
                <a:solidFill>
                  <a:schemeClr val="tx1"/>
                </a:solidFill>
                <a:latin typeface="微软雅黑" panose="020B0503020204020204" pitchFamily="34" charset="-122"/>
                <a:ea typeface="微软雅黑" panose="020B0503020204020204" pitchFamily="34" charset="-122"/>
              </a:rPr>
              <a:t>0110011</a:t>
            </a:r>
            <a:r>
              <a:rPr lang="zh-CN" altLang="en-US" sz="2000" dirty="0">
                <a:solidFill>
                  <a:schemeClr val="tx1"/>
                </a:solidFill>
                <a:latin typeface="微软雅黑" panose="020B0503020204020204" pitchFamily="34" charset="-122"/>
                <a:ea typeface="微软雅黑" panose="020B0503020204020204" pitchFamily="34" charset="-122"/>
              </a:rPr>
              <a:t>，其功能由</a:t>
            </a:r>
            <a:r>
              <a:rPr lang="en-US" altLang="zh-CN" sz="2000" dirty="0">
                <a:solidFill>
                  <a:schemeClr val="tx1"/>
                </a:solidFill>
                <a:latin typeface="微软雅黑" panose="020B0503020204020204" pitchFamily="34" charset="-122"/>
                <a:ea typeface="微软雅黑" panose="020B0503020204020204" pitchFamily="34" charset="-122"/>
              </a:rPr>
              <a:t>funct3</a:t>
            </a:r>
            <a:r>
              <a:rPr lang="zh-CN" altLang="en-US" sz="2000" dirty="0">
                <a:solidFill>
                  <a:schemeClr val="tx1"/>
                </a:solidFill>
                <a:latin typeface="微软雅黑" panose="020B0503020204020204" pitchFamily="34" charset="-122"/>
                <a:ea typeface="微软雅黑" panose="020B0503020204020204" pitchFamily="34" charset="-122"/>
              </a:rPr>
              <a:t>指定，而当</a:t>
            </a:r>
            <a:r>
              <a:rPr lang="en-US" altLang="zh-CN" sz="2000" dirty="0">
                <a:solidFill>
                  <a:schemeClr val="tx1"/>
                </a:solidFill>
                <a:latin typeface="微软雅黑" panose="020B0503020204020204" pitchFamily="34" charset="-122"/>
                <a:ea typeface="微软雅黑" panose="020B0503020204020204" pitchFamily="34" charset="-122"/>
              </a:rPr>
              <a:t>funct3=000</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101</a:t>
            </a:r>
            <a:r>
              <a:rPr lang="zh-CN" altLang="en-US" sz="2000" dirty="0">
                <a:solidFill>
                  <a:schemeClr val="tx1"/>
                </a:solidFill>
                <a:latin typeface="微软雅黑" panose="020B0503020204020204" pitchFamily="34" charset="-122"/>
                <a:ea typeface="微软雅黑" panose="020B0503020204020204" pitchFamily="34" charset="-122"/>
              </a:rPr>
              <a:t>时，再由</a:t>
            </a:r>
            <a:r>
              <a:rPr lang="en-US" altLang="zh-CN" sz="2000" dirty="0">
                <a:solidFill>
                  <a:schemeClr val="tx1"/>
                </a:solidFill>
                <a:latin typeface="微软雅黑" panose="020B0503020204020204" pitchFamily="34" charset="-122"/>
                <a:ea typeface="微软雅黑" panose="020B0503020204020204" pitchFamily="34" charset="-122"/>
              </a:rPr>
              <a:t>funct7</a:t>
            </a:r>
            <a:r>
              <a:rPr lang="zh-CN" altLang="en-US" sz="2000" dirty="0">
                <a:solidFill>
                  <a:schemeClr val="tx1"/>
                </a:solidFill>
                <a:latin typeface="微软雅黑" panose="020B0503020204020204" pitchFamily="34" charset="-122"/>
                <a:ea typeface="微软雅黑" panose="020B0503020204020204" pitchFamily="34" charset="-122"/>
              </a:rPr>
              <a:t>区分是加（</a:t>
            </a:r>
            <a:r>
              <a:rPr lang="en-US" altLang="zh-CN" sz="2000" dirty="0">
                <a:solidFill>
                  <a:schemeClr val="tx1"/>
                </a:solidFill>
                <a:latin typeface="微软雅黑" panose="020B0503020204020204" pitchFamily="34" charset="-122"/>
                <a:ea typeface="微软雅黑" panose="020B0503020204020204" pitchFamily="34" charset="-122"/>
              </a:rPr>
              <a:t>add</a:t>
            </a:r>
            <a:r>
              <a:rPr lang="zh-CN" altLang="en-US" sz="2000" dirty="0">
                <a:solidFill>
                  <a:schemeClr val="tx1"/>
                </a:solidFill>
                <a:latin typeface="微软雅黑" panose="020B0503020204020204" pitchFamily="34" charset="-122"/>
                <a:ea typeface="微软雅黑" panose="020B0503020204020204" pitchFamily="34" charset="-122"/>
              </a:rPr>
              <a:t>）还是减（</a:t>
            </a:r>
            <a:r>
              <a:rPr lang="en-US" altLang="zh-CN" sz="2000" dirty="0">
                <a:solidFill>
                  <a:schemeClr val="tx1"/>
                </a:solidFill>
                <a:latin typeface="微软雅黑" panose="020B0503020204020204" pitchFamily="34" charset="-122"/>
                <a:ea typeface="微软雅黑" panose="020B0503020204020204" pitchFamily="34" charset="-122"/>
              </a:rPr>
              <a:t>sub</a:t>
            </a:r>
            <a:r>
              <a:rPr lang="zh-CN" altLang="en-US" sz="2000" dirty="0">
                <a:solidFill>
                  <a:schemeClr val="tx1"/>
                </a:solidFill>
                <a:latin typeface="微软雅黑" panose="020B0503020204020204" pitchFamily="34" charset="-122"/>
                <a:ea typeface="微软雅黑" panose="020B0503020204020204" pitchFamily="34" charset="-122"/>
              </a:rPr>
              <a:t>）、逻辑右移（</a:t>
            </a:r>
            <a:r>
              <a:rPr lang="en-US" altLang="zh-CN" sz="2000" dirty="0" err="1">
                <a:solidFill>
                  <a:schemeClr val="tx1"/>
                </a:solidFill>
                <a:latin typeface="微软雅黑" panose="020B0503020204020204" pitchFamily="34" charset="-122"/>
                <a:ea typeface="微软雅黑" panose="020B0503020204020204" pitchFamily="34" charset="-122"/>
              </a:rPr>
              <a:t>srl</a:t>
            </a:r>
            <a:r>
              <a:rPr lang="zh-CN" altLang="en-US" sz="2000" dirty="0">
                <a:solidFill>
                  <a:schemeClr val="tx1"/>
                </a:solidFill>
                <a:latin typeface="微软雅黑" panose="020B0503020204020204" pitchFamily="34" charset="-122"/>
                <a:ea typeface="微软雅黑" panose="020B0503020204020204" pitchFamily="34" charset="-122"/>
              </a:rPr>
              <a:t>）还是算术右移（</a:t>
            </a:r>
            <a:r>
              <a:rPr lang="en-US" altLang="zh-CN" sz="2000" dirty="0" err="1">
                <a:solidFill>
                  <a:schemeClr val="tx1"/>
                </a:solidFill>
                <a:latin typeface="微软雅黑" panose="020B0503020204020204" pitchFamily="34" charset="-122"/>
                <a:ea typeface="微软雅黑" panose="020B0503020204020204" pitchFamily="34" charset="-122"/>
              </a:rPr>
              <a:t>sra</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accent4"/>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33FA9428-399E-B400-F1F7-3B4A79CECF1E}"/>
              </a:ext>
            </a:extLst>
          </p:cNvPr>
          <p:cNvSpPr>
            <a:spLocks noChangeArrowheads="1"/>
          </p:cNvSpPr>
          <p:nvPr/>
        </p:nvSpPr>
        <p:spPr bwMode="auto">
          <a:xfrm>
            <a:off x="76200" y="5602288"/>
            <a:ext cx="8980488"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rs1</a:t>
            </a:r>
            <a:r>
              <a:rPr lang="zh-CN" altLang="en-US" sz="2000">
                <a:solidFill>
                  <a:srgbClr val="C00000"/>
                </a:solidFill>
                <a:latin typeface="微软雅黑" panose="020B0503020204020204" pitchFamily="34" charset="-122"/>
                <a:ea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rPr>
              <a:t>rs2</a:t>
            </a:r>
            <a:r>
              <a:rPr lang="zh-CN" altLang="en-US" sz="2000">
                <a:solidFill>
                  <a:srgbClr val="C00000"/>
                </a:solidFill>
                <a:latin typeface="微软雅黑" panose="020B0503020204020204" pitchFamily="34" charset="-122"/>
                <a:ea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rPr>
              <a:t>rd</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5</a:t>
            </a:r>
            <a:r>
              <a:rPr lang="zh-CN" altLang="en-US" sz="2000">
                <a:solidFill>
                  <a:schemeClr val="tx1"/>
                </a:solidFill>
                <a:latin typeface="微软雅黑" panose="020B0503020204020204" pitchFamily="34" charset="-122"/>
                <a:ea typeface="微软雅黑" panose="020B0503020204020204" pitchFamily="34" charset="-122"/>
              </a:rPr>
              <a:t>位通用寄存编号，共</a:t>
            </a:r>
            <a:r>
              <a:rPr lang="en-US" altLang="zh-CN" sz="2000">
                <a:solidFill>
                  <a:schemeClr val="tx1"/>
                </a:solidFill>
                <a:latin typeface="微软雅黑" panose="020B0503020204020204" pitchFamily="34" charset="-122"/>
                <a:ea typeface="微软雅黑" panose="020B0503020204020204" pitchFamily="34" charset="-122"/>
              </a:rPr>
              <a:t>32</a:t>
            </a:r>
            <a:r>
              <a:rPr lang="zh-CN" altLang="en-US" sz="2000">
                <a:solidFill>
                  <a:schemeClr val="tx1"/>
                </a:solidFill>
                <a:latin typeface="微软雅黑" panose="020B0503020204020204" pitchFamily="34" charset="-122"/>
                <a:ea typeface="微软雅黑" panose="020B0503020204020204" pitchFamily="34" charset="-122"/>
              </a:rPr>
              <a:t>个；两个源操作数分别在</a:t>
            </a:r>
            <a:r>
              <a:rPr lang="en-US" altLang="zh-CN" sz="2000">
                <a:solidFill>
                  <a:schemeClr val="tx1"/>
                </a:solidFill>
                <a:latin typeface="微软雅黑" panose="020B0503020204020204" pitchFamily="34" charset="-122"/>
                <a:ea typeface="微软雅黑" panose="020B0503020204020204" pitchFamily="34" charset="-122"/>
              </a:rPr>
              <a:t>rs1</a:t>
            </a:r>
            <a:r>
              <a:rPr lang="zh-CN" altLang="en-US" sz="2000">
                <a:solidFill>
                  <a:schemeClr val="tx1"/>
                </a:solidFill>
                <a:latin typeface="微软雅黑" panose="020B0503020204020204" pitchFamily="34" charset="-122"/>
                <a:ea typeface="微软雅黑" panose="020B0503020204020204" pitchFamily="34" charset="-122"/>
              </a:rPr>
              <a:t>和</a:t>
            </a:r>
            <a:r>
              <a:rPr lang="en-US" altLang="zh-CN" sz="2000">
                <a:solidFill>
                  <a:schemeClr val="tx1"/>
                </a:solidFill>
                <a:latin typeface="微软雅黑" panose="020B0503020204020204" pitchFamily="34" charset="-122"/>
                <a:ea typeface="微软雅黑" panose="020B0503020204020204" pitchFamily="34" charset="-122"/>
              </a:rPr>
              <a:t>rs2</a:t>
            </a:r>
            <a:r>
              <a:rPr lang="zh-CN" altLang="en-US" sz="2000">
                <a:solidFill>
                  <a:schemeClr val="tx1"/>
                </a:solidFill>
                <a:latin typeface="微软雅黑" panose="020B0503020204020204" pitchFamily="34" charset="-122"/>
                <a:ea typeface="微软雅黑" panose="020B0503020204020204" pitchFamily="34" charset="-122"/>
              </a:rPr>
              <a:t>寄存器中，结果存</a:t>
            </a:r>
            <a:r>
              <a:rPr lang="en-US" altLang="zh-CN" sz="2000">
                <a:solidFill>
                  <a:schemeClr val="tx1"/>
                </a:solidFill>
                <a:latin typeface="微软雅黑" panose="020B0503020204020204" pitchFamily="34" charset="-122"/>
                <a:ea typeface="微软雅黑" panose="020B0503020204020204" pitchFamily="34" charset="-122"/>
              </a:rPr>
              <a:t>rd</a:t>
            </a:r>
            <a:r>
              <a:rPr lang="zh-CN" altLang="en-US" sz="2000">
                <a:solidFill>
                  <a:schemeClr val="tx1"/>
                </a:solidFill>
                <a:latin typeface="微软雅黑" panose="020B0503020204020204" pitchFamily="34" charset="-122"/>
                <a:ea typeface="微软雅黑" panose="020B0503020204020204" pitchFamily="34" charset="-122"/>
              </a:rPr>
              <a:t>。</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sll</a:t>
            </a:r>
            <a:r>
              <a:rPr lang="zh-CN" altLang="en-US" sz="2000">
                <a:solidFill>
                  <a:schemeClr val="tx1"/>
                </a:solidFill>
                <a:latin typeface="微软雅黑" panose="020B0503020204020204" pitchFamily="34" charset="-122"/>
                <a:ea typeface="微软雅黑" panose="020B0503020204020204" pitchFamily="34" charset="-122"/>
              </a:rPr>
              <a:t>：逻辑左移指令，无算术左移指令。因逻辑左移和算术左移结果完全相同！</a:t>
            </a:r>
            <a:endParaRPr lang="en-US" altLang="zh-CN" sz="2000">
              <a:solidFill>
                <a:schemeClr val="tx1"/>
              </a:solidFill>
              <a:latin typeface="微软雅黑" panose="020B0503020204020204" pitchFamily="34" charset="-122"/>
              <a:ea typeface="微软雅黑" panose="020B0503020204020204" pitchFamily="34" charset="-122"/>
            </a:endParaRPr>
          </a:p>
        </p:txBody>
      </p:sp>
      <p:pic>
        <p:nvPicPr>
          <p:cNvPr id="79876" name="图片 1">
            <a:extLst>
              <a:ext uri="{FF2B5EF4-FFF2-40B4-BE49-F238E27FC236}">
                <a16:creationId xmlns:a16="http://schemas.microsoft.com/office/drawing/2014/main" id="{0B4E8A62-4782-3BEE-567A-AA514CB26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 y="885825"/>
            <a:ext cx="8782050" cy="354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Rectangle 3">
            <a:extLst>
              <a:ext uri="{FF2B5EF4-FFF2-40B4-BE49-F238E27FC236}">
                <a16:creationId xmlns:a16="http://schemas.microsoft.com/office/drawing/2014/main" id="{FE7760C3-C072-261C-02BF-6C69FDE5856B}"/>
              </a:ext>
            </a:extLst>
          </p:cNvPr>
          <p:cNvSpPr>
            <a:spLocks noGrp="1" noChangeArrowheads="1"/>
          </p:cNvSpPr>
          <p:nvPr>
            <p:ph idx="1"/>
          </p:nvPr>
        </p:nvSpPr>
        <p:spPr>
          <a:xfrm>
            <a:off x="101600" y="569913"/>
            <a:ext cx="8272463" cy="473075"/>
          </a:xfrm>
        </p:spPr>
        <p:txBody>
          <a:bodyPr/>
          <a:lstStyle/>
          <a:p>
            <a:pPr marL="0" indent="0">
              <a:lnSpc>
                <a:spcPts val="2700"/>
              </a:lnSpc>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型指令共</a:t>
            </a:r>
            <a:r>
              <a:rPr lang="en-US" altLang="zh-CN">
                <a:latin typeface="微软雅黑" panose="020B0503020204020204" pitchFamily="34" charset="-122"/>
                <a:ea typeface="微软雅黑" panose="020B0503020204020204" pitchFamily="34" charset="-122"/>
              </a:rPr>
              <a:t>10</a:t>
            </a:r>
            <a:r>
              <a:rPr lang="zh-CN" altLang="en-US">
                <a:latin typeface="微软雅黑" panose="020B0503020204020204" pitchFamily="34" charset="-122"/>
                <a:ea typeface="微软雅黑" panose="020B0503020204020204" pitchFamily="34" charset="-122"/>
              </a:rPr>
              <a:t>条</a:t>
            </a:r>
            <a:endParaRPr lang="en-US" altLang="zh-CN">
              <a:latin typeface="微软雅黑" panose="020B0503020204020204" pitchFamily="34" charset="-122"/>
              <a:ea typeface="微软雅黑" panose="020B0503020204020204" pitchFamily="34" charset="-122"/>
            </a:endParaRPr>
          </a:p>
          <a:p>
            <a:pPr marL="457200" lvl="1" indent="0">
              <a:lnSpc>
                <a:spcPts val="2700"/>
              </a:lnSpc>
              <a:buFontTx/>
              <a:buNone/>
            </a:pPr>
            <a:endParaRPr lang="en-US" altLang="zh-CN">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12" dur="500"/>
                                        <p:tgtEl>
                                          <p:spTgt spid="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17"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99E3E4CC-4B6C-3133-90B7-34B7F4EF64B4}"/>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9" name="矩形 8">
            <a:extLst>
              <a:ext uri="{FF2B5EF4-FFF2-40B4-BE49-F238E27FC236}">
                <a16:creationId xmlns:a16="http://schemas.microsoft.com/office/drawing/2014/main" id="{AC667E39-3D78-078F-F7B0-C4AB38254D87}"/>
              </a:ext>
            </a:extLst>
          </p:cNvPr>
          <p:cNvSpPr>
            <a:spLocks noChangeArrowheads="1"/>
          </p:cNvSpPr>
          <p:nvPr/>
        </p:nvSpPr>
        <p:spPr bwMode="auto">
          <a:xfrm>
            <a:off x="109538" y="2154238"/>
            <a:ext cx="8826500" cy="402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zh-CN" altLang="en-US" sz="2000">
                <a:solidFill>
                  <a:srgbClr val="FF0000"/>
                </a:solidFill>
                <a:latin typeface="微软雅黑" panose="020B0503020204020204" pitchFamily="34" charset="-122"/>
                <a:ea typeface="微软雅黑" panose="020B0503020204020204" pitchFamily="34" charset="-122"/>
              </a:rPr>
              <a:t>举例：</a:t>
            </a:r>
            <a:r>
              <a:rPr lang="zh-CN" altLang="en-US" sz="2000">
                <a:solidFill>
                  <a:srgbClr val="0033CC"/>
                </a:solidFill>
                <a:latin typeface="微软雅黑" panose="020B0503020204020204" pitchFamily="34" charset="-122"/>
                <a:ea typeface="微软雅黑" panose="020B0503020204020204" pitchFamily="34" charset="-122"/>
              </a:rPr>
              <a:t>假定变量</a:t>
            </a:r>
            <a:r>
              <a:rPr lang="en-US" altLang="zh-CN" sz="2000">
                <a:solidFill>
                  <a:srgbClr val="0033CC"/>
                </a:solidFill>
                <a:latin typeface="微软雅黑" panose="020B0503020204020204" pitchFamily="34" charset="-122"/>
                <a:ea typeface="微软雅黑" panose="020B0503020204020204" pitchFamily="34" charset="-122"/>
              </a:rPr>
              <a:t>x</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y</a:t>
            </a:r>
            <a:r>
              <a:rPr lang="zh-CN" altLang="en-US" sz="2000">
                <a:solidFill>
                  <a:srgbClr val="0033CC"/>
                </a:solidFill>
                <a:latin typeface="微软雅黑" panose="020B0503020204020204" pitchFamily="34" charset="-122"/>
                <a:ea typeface="微软雅黑" panose="020B0503020204020204" pitchFamily="34" charset="-122"/>
              </a:rPr>
              <a:t>和</a:t>
            </a:r>
            <a:r>
              <a:rPr lang="en-US" altLang="zh-CN" sz="2000">
                <a:solidFill>
                  <a:srgbClr val="0033CC"/>
                </a:solidFill>
                <a:latin typeface="微软雅黑" panose="020B0503020204020204" pitchFamily="34" charset="-122"/>
                <a:ea typeface="微软雅黑" panose="020B0503020204020204" pitchFamily="34" charset="-122"/>
              </a:rPr>
              <a:t>z</a:t>
            </a:r>
            <a:r>
              <a:rPr lang="zh-CN" altLang="en-US" sz="2000">
                <a:solidFill>
                  <a:srgbClr val="0033CC"/>
                </a:solidFill>
                <a:latin typeface="微软雅黑" panose="020B0503020204020204" pitchFamily="34" charset="-122"/>
                <a:ea typeface="微软雅黑" panose="020B0503020204020204" pitchFamily="34" charset="-122"/>
              </a:rPr>
              <a:t>都是</a:t>
            </a:r>
            <a:r>
              <a:rPr lang="en-US" altLang="zh-CN" sz="2000">
                <a:solidFill>
                  <a:srgbClr val="0033CC"/>
                </a:solidFill>
                <a:latin typeface="微软雅黑" panose="020B0503020204020204" pitchFamily="34" charset="-122"/>
                <a:ea typeface="微软雅黑" panose="020B0503020204020204" pitchFamily="34" charset="-122"/>
              </a:rPr>
              <a:t>long long</a:t>
            </a:r>
            <a:r>
              <a:rPr lang="zh-CN" altLang="en-US" sz="2000">
                <a:solidFill>
                  <a:srgbClr val="0033CC"/>
                </a:solidFill>
                <a:latin typeface="微软雅黑" panose="020B0503020204020204" pitchFamily="34" charset="-122"/>
                <a:ea typeface="微软雅黑" panose="020B0503020204020204" pitchFamily="34" charset="-122"/>
              </a:rPr>
              <a:t>型，占</a:t>
            </a:r>
            <a:r>
              <a:rPr lang="en-US" altLang="zh-CN" sz="2000">
                <a:solidFill>
                  <a:srgbClr val="0033CC"/>
                </a:solidFill>
                <a:latin typeface="微软雅黑" panose="020B0503020204020204" pitchFamily="34" charset="-122"/>
                <a:ea typeface="微软雅黑" panose="020B0503020204020204" pitchFamily="34" charset="-122"/>
              </a:rPr>
              <a:t>64</a:t>
            </a:r>
            <a:r>
              <a:rPr lang="zh-CN" altLang="en-US" sz="2000">
                <a:solidFill>
                  <a:srgbClr val="0033CC"/>
                </a:solidFill>
                <a:latin typeface="微软雅黑" panose="020B0503020204020204" pitchFamily="34" charset="-122"/>
                <a:ea typeface="微软雅黑" panose="020B0503020204020204" pitchFamily="34" charset="-122"/>
              </a:rPr>
              <a:t>位，</a:t>
            </a:r>
            <a:r>
              <a:rPr lang="en-US" altLang="zh-CN" sz="2000">
                <a:solidFill>
                  <a:srgbClr val="0033CC"/>
                </a:solidFill>
                <a:latin typeface="微软雅黑" panose="020B0503020204020204" pitchFamily="34" charset="-122"/>
                <a:ea typeface="微软雅黑" panose="020B0503020204020204" pitchFamily="34" charset="-122"/>
              </a:rPr>
              <a:t>x</a:t>
            </a:r>
            <a:r>
              <a:rPr lang="zh-CN" altLang="en-US" sz="2000">
                <a:solidFill>
                  <a:srgbClr val="0033CC"/>
                </a:solidFill>
                <a:latin typeface="微软雅黑" panose="020B0503020204020204" pitchFamily="34" charset="-122"/>
                <a:ea typeface="微软雅黑" panose="020B0503020204020204" pitchFamily="34" charset="-122"/>
              </a:rPr>
              <a:t>的高、低</a:t>
            </a:r>
            <a:r>
              <a:rPr lang="en-US" altLang="zh-CN" sz="2000">
                <a:solidFill>
                  <a:srgbClr val="0033CC"/>
                </a:solidFill>
                <a:latin typeface="微软雅黑" panose="020B0503020204020204" pitchFamily="34" charset="-122"/>
                <a:ea typeface="微软雅黑" panose="020B0503020204020204" pitchFamily="34" charset="-122"/>
              </a:rPr>
              <a:t>32</a:t>
            </a:r>
            <a:r>
              <a:rPr lang="zh-CN" altLang="en-US" sz="2000">
                <a:solidFill>
                  <a:srgbClr val="0033CC"/>
                </a:solidFill>
                <a:latin typeface="微软雅黑" panose="020B0503020204020204" pitchFamily="34" charset="-122"/>
                <a:ea typeface="微软雅黑" panose="020B0503020204020204" pitchFamily="34" charset="-122"/>
              </a:rPr>
              <a:t>位分别存放在寄存器</a:t>
            </a:r>
            <a:r>
              <a:rPr lang="en-US" altLang="zh-CN" sz="2000">
                <a:solidFill>
                  <a:srgbClr val="0033CC"/>
                </a:solidFill>
                <a:latin typeface="微软雅黑" panose="020B0503020204020204" pitchFamily="34" charset="-122"/>
                <a:ea typeface="微软雅黑" panose="020B0503020204020204" pitchFamily="34" charset="-122"/>
              </a:rPr>
              <a:t>x13</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x12</a:t>
            </a:r>
            <a:r>
              <a:rPr lang="zh-CN" altLang="en-US" sz="2000">
                <a:solidFill>
                  <a:srgbClr val="0033CC"/>
                </a:solidFill>
                <a:latin typeface="微软雅黑" panose="020B0503020204020204" pitchFamily="34" charset="-122"/>
                <a:ea typeface="微软雅黑" panose="020B0503020204020204" pitchFamily="34" charset="-122"/>
              </a:rPr>
              <a:t>中；</a:t>
            </a:r>
            <a:r>
              <a:rPr lang="en-US" altLang="zh-CN" sz="2000">
                <a:solidFill>
                  <a:srgbClr val="0033CC"/>
                </a:solidFill>
                <a:latin typeface="微软雅黑" panose="020B0503020204020204" pitchFamily="34" charset="-122"/>
                <a:ea typeface="微软雅黑" panose="020B0503020204020204" pitchFamily="34" charset="-122"/>
              </a:rPr>
              <a:t>y</a:t>
            </a:r>
            <a:r>
              <a:rPr lang="zh-CN" altLang="en-US" sz="2000">
                <a:solidFill>
                  <a:srgbClr val="0033CC"/>
                </a:solidFill>
                <a:latin typeface="微软雅黑" panose="020B0503020204020204" pitchFamily="34" charset="-122"/>
                <a:ea typeface="微软雅黑" panose="020B0503020204020204" pitchFamily="34" charset="-122"/>
              </a:rPr>
              <a:t>的高、低</a:t>
            </a:r>
            <a:r>
              <a:rPr lang="en-US" altLang="zh-CN" sz="2000">
                <a:solidFill>
                  <a:srgbClr val="0033CC"/>
                </a:solidFill>
                <a:latin typeface="微软雅黑" panose="020B0503020204020204" pitchFamily="34" charset="-122"/>
                <a:ea typeface="微软雅黑" panose="020B0503020204020204" pitchFamily="34" charset="-122"/>
              </a:rPr>
              <a:t>32</a:t>
            </a:r>
            <a:r>
              <a:rPr lang="zh-CN" altLang="en-US" sz="2000">
                <a:solidFill>
                  <a:srgbClr val="0033CC"/>
                </a:solidFill>
                <a:latin typeface="微软雅黑" panose="020B0503020204020204" pitchFamily="34" charset="-122"/>
                <a:ea typeface="微软雅黑" panose="020B0503020204020204" pitchFamily="34" charset="-122"/>
              </a:rPr>
              <a:t>位分别存放在寄存器</a:t>
            </a:r>
            <a:r>
              <a:rPr lang="en-US" altLang="zh-CN" sz="2000">
                <a:solidFill>
                  <a:srgbClr val="0033CC"/>
                </a:solidFill>
                <a:latin typeface="微软雅黑" panose="020B0503020204020204" pitchFamily="34" charset="-122"/>
                <a:ea typeface="微软雅黑" panose="020B0503020204020204" pitchFamily="34" charset="-122"/>
              </a:rPr>
              <a:t>x15</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x14</a:t>
            </a:r>
            <a:r>
              <a:rPr lang="zh-CN" altLang="en-US" sz="2000">
                <a:solidFill>
                  <a:srgbClr val="0033CC"/>
                </a:solidFill>
                <a:latin typeface="微软雅黑" panose="020B0503020204020204" pitchFamily="34" charset="-122"/>
                <a:ea typeface="微软雅黑" panose="020B0503020204020204" pitchFamily="34" charset="-122"/>
              </a:rPr>
              <a:t>中；</a:t>
            </a:r>
            <a:r>
              <a:rPr lang="en-US" altLang="zh-CN" sz="2000">
                <a:solidFill>
                  <a:srgbClr val="0033CC"/>
                </a:solidFill>
                <a:latin typeface="微软雅黑" panose="020B0503020204020204" pitchFamily="34" charset="-122"/>
                <a:ea typeface="微软雅黑" panose="020B0503020204020204" pitchFamily="34" charset="-122"/>
              </a:rPr>
              <a:t>z</a:t>
            </a:r>
            <a:r>
              <a:rPr lang="zh-CN" altLang="en-US" sz="2000">
                <a:solidFill>
                  <a:srgbClr val="0033CC"/>
                </a:solidFill>
                <a:latin typeface="微软雅黑" panose="020B0503020204020204" pitchFamily="34" charset="-122"/>
                <a:ea typeface="微软雅黑" panose="020B0503020204020204" pitchFamily="34" charset="-122"/>
              </a:rPr>
              <a:t>的高、低</a:t>
            </a:r>
            <a:r>
              <a:rPr lang="en-US" altLang="zh-CN" sz="2000">
                <a:solidFill>
                  <a:srgbClr val="0033CC"/>
                </a:solidFill>
                <a:latin typeface="微软雅黑" panose="020B0503020204020204" pitchFamily="34" charset="-122"/>
                <a:ea typeface="微软雅黑" panose="020B0503020204020204" pitchFamily="34" charset="-122"/>
              </a:rPr>
              <a:t>32</a:t>
            </a:r>
            <a:r>
              <a:rPr lang="zh-CN" altLang="en-US" sz="2000">
                <a:solidFill>
                  <a:srgbClr val="0033CC"/>
                </a:solidFill>
                <a:latin typeface="微软雅黑" panose="020B0503020204020204" pitchFamily="34" charset="-122"/>
                <a:ea typeface="微软雅黑" panose="020B0503020204020204" pitchFamily="34" charset="-122"/>
              </a:rPr>
              <a:t>位分别存放在寄存器</a:t>
            </a:r>
            <a:r>
              <a:rPr lang="en-US" altLang="zh-CN" sz="2000">
                <a:solidFill>
                  <a:srgbClr val="0033CC"/>
                </a:solidFill>
                <a:latin typeface="微软雅黑" panose="020B0503020204020204" pitchFamily="34" charset="-122"/>
                <a:ea typeface="微软雅黑" panose="020B0503020204020204" pitchFamily="34" charset="-122"/>
              </a:rPr>
              <a:t>x11</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x10</a:t>
            </a:r>
            <a:r>
              <a:rPr lang="zh-CN" altLang="en-US" sz="2000">
                <a:solidFill>
                  <a:srgbClr val="0033CC"/>
                </a:solidFill>
                <a:latin typeface="微软雅黑" panose="020B0503020204020204" pitchFamily="34" charset="-122"/>
                <a:ea typeface="微软雅黑" panose="020B0503020204020204" pitchFamily="34" charset="-122"/>
              </a:rPr>
              <a:t>中，请写出</a:t>
            </a:r>
            <a:r>
              <a:rPr lang="en-US" altLang="zh-CN" sz="2000">
                <a:solidFill>
                  <a:srgbClr val="0033CC"/>
                </a:solidFill>
                <a:latin typeface="微软雅黑" panose="020B0503020204020204" pitchFamily="34" charset="-122"/>
                <a:ea typeface="微软雅黑" panose="020B0503020204020204" pitchFamily="34" charset="-122"/>
              </a:rPr>
              <a:t>C</a:t>
            </a:r>
            <a:r>
              <a:rPr lang="zh-CN" altLang="en-US" sz="2000">
                <a:solidFill>
                  <a:srgbClr val="0033CC"/>
                </a:solidFill>
                <a:latin typeface="微软雅黑" panose="020B0503020204020204" pitchFamily="34" charset="-122"/>
                <a:ea typeface="微软雅黑" panose="020B0503020204020204" pitchFamily="34" charset="-122"/>
              </a:rPr>
              <a:t>语句“</a:t>
            </a:r>
            <a:r>
              <a:rPr lang="en-US" altLang="zh-CN" sz="2000">
                <a:solidFill>
                  <a:srgbClr val="0033CC"/>
                </a:solidFill>
                <a:latin typeface="微软雅黑" panose="020B0503020204020204" pitchFamily="34" charset="-122"/>
                <a:ea typeface="微软雅黑" panose="020B0503020204020204" pitchFamily="34" charset="-122"/>
              </a:rPr>
              <a:t>z=x+y;”</a:t>
            </a:r>
            <a:r>
              <a:rPr lang="zh-CN" altLang="en-US" sz="2000">
                <a:solidFill>
                  <a:srgbClr val="0033CC"/>
                </a:solidFill>
                <a:latin typeface="微软雅黑" panose="020B0503020204020204" pitchFamily="34" charset="-122"/>
                <a:ea typeface="微软雅黑" panose="020B0503020204020204" pitchFamily="34" charset="-122"/>
              </a:rPr>
              <a:t>对应的</a:t>
            </a:r>
            <a:r>
              <a:rPr lang="en-US" altLang="zh-CN" sz="2000">
                <a:solidFill>
                  <a:srgbClr val="0033CC"/>
                </a:solidFill>
                <a:latin typeface="微软雅黑" panose="020B0503020204020204" pitchFamily="34" charset="-122"/>
                <a:ea typeface="微软雅黑" panose="020B0503020204020204" pitchFamily="34" charset="-122"/>
              </a:rPr>
              <a:t>32</a:t>
            </a:r>
            <a:r>
              <a:rPr lang="zh-CN" altLang="en-US" sz="2000">
                <a:solidFill>
                  <a:srgbClr val="0033CC"/>
                </a:solidFill>
                <a:latin typeface="微软雅黑" panose="020B0503020204020204" pitchFamily="34" charset="-122"/>
                <a:ea typeface="微软雅黑" panose="020B0503020204020204" pitchFamily="34" charset="-122"/>
              </a:rPr>
              <a:t>位字长</a:t>
            </a:r>
            <a:r>
              <a:rPr lang="en-US" altLang="zh-CN" sz="2000">
                <a:solidFill>
                  <a:srgbClr val="0033CC"/>
                </a:solidFill>
                <a:latin typeface="微软雅黑" panose="020B0503020204020204" pitchFamily="34" charset="-122"/>
                <a:ea typeface="微软雅黑" panose="020B0503020204020204" pitchFamily="34" charset="-122"/>
              </a:rPr>
              <a:t>RISC-V</a:t>
            </a:r>
            <a:r>
              <a:rPr lang="zh-CN" altLang="en-US" sz="2000">
                <a:solidFill>
                  <a:srgbClr val="0033CC"/>
                </a:solidFill>
                <a:latin typeface="微软雅黑" panose="020B0503020204020204" pitchFamily="34" charset="-122"/>
                <a:ea typeface="微软雅黑" panose="020B0503020204020204" pitchFamily="34" charset="-122"/>
              </a:rPr>
              <a:t>机器级代码。</a:t>
            </a: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zh-CN" altLang="en-US" sz="2000">
                <a:solidFill>
                  <a:schemeClr val="accent1"/>
                </a:solidFill>
                <a:latin typeface="微软雅黑" panose="020B0503020204020204" pitchFamily="34" charset="-122"/>
                <a:ea typeface="微软雅黑" panose="020B0503020204020204" pitchFamily="34" charset="-122"/>
              </a:rPr>
              <a:t>解：</a:t>
            </a:r>
            <a:r>
              <a:rPr lang="zh-CN" altLang="en-US" sz="2000">
                <a:solidFill>
                  <a:srgbClr val="0033CC"/>
                </a:solidFill>
                <a:latin typeface="微软雅黑" panose="020B0503020204020204" pitchFamily="34" charset="-122"/>
                <a:ea typeface="微软雅黑" panose="020B0503020204020204" pitchFamily="34" charset="-122"/>
              </a:rPr>
              <a:t>可通过</a:t>
            </a:r>
            <a:r>
              <a:rPr lang="en-US" altLang="zh-CN" sz="2000">
                <a:solidFill>
                  <a:srgbClr val="0033CC"/>
                </a:solidFill>
                <a:latin typeface="微软雅黑" panose="020B0503020204020204" pitchFamily="34" charset="-122"/>
                <a:ea typeface="微软雅黑" panose="020B0503020204020204" pitchFamily="34" charset="-122"/>
              </a:rPr>
              <a:t>sltu</a:t>
            </a:r>
            <a:r>
              <a:rPr lang="zh-CN" altLang="en-US" sz="2000">
                <a:solidFill>
                  <a:srgbClr val="0033CC"/>
                </a:solidFill>
                <a:latin typeface="微软雅黑" panose="020B0503020204020204" pitchFamily="34" charset="-122"/>
                <a:ea typeface="微软雅黑" panose="020B0503020204020204" pitchFamily="34" charset="-122"/>
              </a:rPr>
              <a:t>指令将低</a:t>
            </a:r>
            <a:r>
              <a:rPr lang="en-US" altLang="zh-CN" sz="2000">
                <a:solidFill>
                  <a:srgbClr val="0033CC"/>
                </a:solidFill>
                <a:latin typeface="微软雅黑" panose="020B0503020204020204" pitchFamily="34" charset="-122"/>
                <a:ea typeface="微软雅黑" panose="020B0503020204020204" pitchFamily="34" charset="-122"/>
              </a:rPr>
              <a:t>32</a:t>
            </a:r>
            <a:r>
              <a:rPr lang="zh-CN" altLang="en-US" sz="2000">
                <a:solidFill>
                  <a:srgbClr val="0033CC"/>
                </a:solidFill>
                <a:latin typeface="微软雅黑" panose="020B0503020204020204" pitchFamily="34" charset="-122"/>
                <a:ea typeface="微软雅黑" panose="020B0503020204020204" pitchFamily="34" charset="-122"/>
              </a:rPr>
              <a:t>位的进位加入到高</a:t>
            </a:r>
            <a:r>
              <a:rPr lang="en-US" altLang="zh-CN" sz="2000">
                <a:solidFill>
                  <a:srgbClr val="0033CC"/>
                </a:solidFill>
                <a:latin typeface="微软雅黑" panose="020B0503020204020204" pitchFamily="34" charset="-122"/>
                <a:ea typeface="微软雅黑" panose="020B0503020204020204" pitchFamily="34" charset="-122"/>
              </a:rPr>
              <a:t>32</a:t>
            </a:r>
            <a:r>
              <a:rPr lang="zh-CN" altLang="en-US" sz="2000">
                <a:solidFill>
                  <a:srgbClr val="0033CC"/>
                </a:solidFill>
                <a:latin typeface="微软雅黑" panose="020B0503020204020204" pitchFamily="34" charset="-122"/>
                <a:ea typeface="微软雅黑" panose="020B0503020204020204" pitchFamily="34" charset="-122"/>
              </a:rPr>
              <a:t>位中。</a:t>
            </a: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0000000 </a:t>
            </a:r>
            <a:r>
              <a:rPr lang="en-US" altLang="zh-CN" sz="1600">
                <a:solidFill>
                  <a:schemeClr val="accent1"/>
                </a:solidFill>
                <a:latin typeface="微软雅黑" panose="020B0503020204020204" pitchFamily="34" charset="-122"/>
                <a:ea typeface="微软雅黑" panose="020B0503020204020204" pitchFamily="34" charset="-122"/>
              </a:rPr>
              <a:t>01110</a:t>
            </a:r>
            <a:r>
              <a:rPr lang="en-US" altLang="zh-CN" sz="1600">
                <a:solidFill>
                  <a:srgbClr val="C00000"/>
                </a:solidFill>
                <a:latin typeface="微软雅黑" panose="020B0503020204020204" pitchFamily="34" charset="-122"/>
                <a:ea typeface="微软雅黑" panose="020B0503020204020204" pitchFamily="34" charset="-122"/>
              </a:rPr>
              <a:t> 01100 </a:t>
            </a:r>
            <a:r>
              <a:rPr lang="en-US" altLang="zh-CN" sz="1600">
                <a:solidFill>
                  <a:srgbClr val="7030A0"/>
                </a:solidFill>
                <a:latin typeface="微软雅黑" panose="020B0503020204020204" pitchFamily="34" charset="-122"/>
                <a:ea typeface="微软雅黑" panose="020B0503020204020204" pitchFamily="34" charset="-122"/>
              </a:rPr>
              <a:t>000 </a:t>
            </a:r>
            <a:r>
              <a:rPr lang="en-US" altLang="zh-CN" sz="1600">
                <a:solidFill>
                  <a:srgbClr val="2E5C35"/>
                </a:solidFill>
                <a:latin typeface="微软雅黑" panose="020B0503020204020204" pitchFamily="34" charset="-122"/>
                <a:ea typeface="微软雅黑" panose="020B0503020204020204" pitchFamily="34" charset="-122"/>
              </a:rPr>
              <a:t>01010</a:t>
            </a:r>
            <a:r>
              <a:rPr lang="en-US" altLang="zh-CN" sz="1600">
                <a:solidFill>
                  <a:srgbClr val="7030A0"/>
                </a:solidFill>
                <a:latin typeface="微软雅黑" panose="020B0503020204020204" pitchFamily="34" charset="-122"/>
                <a:ea typeface="微软雅黑" panose="020B0503020204020204" pitchFamily="34" charset="-122"/>
              </a:rPr>
              <a:t> 0110011 add </a:t>
            </a:r>
            <a:r>
              <a:rPr lang="en-US" altLang="zh-CN" sz="1600">
                <a:solidFill>
                  <a:srgbClr val="2E5C35"/>
                </a:solidFill>
                <a:latin typeface="微软雅黑" panose="020B0503020204020204" pitchFamily="34" charset="-122"/>
                <a:ea typeface="微软雅黑" panose="020B0503020204020204" pitchFamily="34" charset="-122"/>
              </a:rPr>
              <a:t>x10</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C00000"/>
                </a:solidFill>
                <a:latin typeface="微软雅黑" panose="020B0503020204020204" pitchFamily="34" charset="-122"/>
                <a:ea typeface="微软雅黑" panose="020B0503020204020204" pitchFamily="34" charset="-122"/>
              </a:rPr>
              <a:t>x12,</a:t>
            </a:r>
            <a:r>
              <a:rPr lang="en-US" altLang="zh-CN" sz="1600">
                <a:solidFill>
                  <a:srgbClr val="FF0000"/>
                </a:solidFill>
                <a:latin typeface="微软雅黑" panose="020B0503020204020204" pitchFamily="34" charset="-122"/>
                <a:ea typeface="微软雅黑" panose="020B0503020204020204" pitchFamily="34" charset="-122"/>
              </a:rPr>
              <a:t>x14</a:t>
            </a:r>
            <a:r>
              <a:rPr lang="en-US" altLang="zh-CN" sz="1600">
                <a:solidFill>
                  <a:srgbClr val="7030A0"/>
                </a:solidFill>
                <a:latin typeface="微软雅黑" panose="020B0503020204020204" pitchFamily="34" charset="-122"/>
                <a:ea typeface="微软雅黑" panose="020B0503020204020204" pitchFamily="34" charset="-122"/>
              </a:rPr>
              <a:t> #R[x10]←R[x12]+R[x14]</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0000000 </a:t>
            </a:r>
            <a:r>
              <a:rPr lang="en-US" altLang="zh-CN" sz="1600">
                <a:solidFill>
                  <a:schemeClr val="accent1"/>
                </a:solidFill>
                <a:latin typeface="微软雅黑" panose="020B0503020204020204" pitchFamily="34" charset="-122"/>
                <a:ea typeface="微软雅黑" panose="020B0503020204020204" pitchFamily="34" charset="-122"/>
              </a:rPr>
              <a:t>01100</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rgbClr val="C00000"/>
                </a:solidFill>
                <a:latin typeface="微软雅黑" panose="020B0503020204020204" pitchFamily="34" charset="-122"/>
                <a:ea typeface="微软雅黑" panose="020B0503020204020204" pitchFamily="34" charset="-122"/>
              </a:rPr>
              <a:t>01010</a:t>
            </a:r>
            <a:r>
              <a:rPr lang="en-US" altLang="zh-CN" sz="1600">
                <a:solidFill>
                  <a:srgbClr val="7030A0"/>
                </a:solidFill>
                <a:latin typeface="微软雅黑" panose="020B0503020204020204" pitchFamily="34" charset="-122"/>
                <a:ea typeface="微软雅黑" panose="020B0503020204020204" pitchFamily="34" charset="-122"/>
              </a:rPr>
              <a:t> 011</a:t>
            </a:r>
            <a:r>
              <a:rPr lang="en-US" altLang="zh-CN" sz="1600">
                <a:solidFill>
                  <a:srgbClr val="2E5C35"/>
                </a:solidFill>
                <a:latin typeface="微软雅黑" panose="020B0503020204020204" pitchFamily="34" charset="-122"/>
                <a:ea typeface="微软雅黑" panose="020B0503020204020204" pitchFamily="34" charset="-122"/>
              </a:rPr>
              <a:t> 01011 </a:t>
            </a:r>
            <a:r>
              <a:rPr lang="en-US" altLang="zh-CN" sz="1600">
                <a:solidFill>
                  <a:srgbClr val="7030A0"/>
                </a:solidFill>
                <a:latin typeface="微软雅黑" panose="020B0503020204020204" pitchFamily="34" charset="-122"/>
                <a:ea typeface="微软雅黑" panose="020B0503020204020204" pitchFamily="34" charset="-122"/>
              </a:rPr>
              <a:t>0110011 sltu </a:t>
            </a:r>
            <a:r>
              <a:rPr lang="en-US" altLang="zh-CN" sz="1600">
                <a:solidFill>
                  <a:srgbClr val="2E5C35"/>
                </a:solidFill>
                <a:latin typeface="微软雅黑" panose="020B0503020204020204" pitchFamily="34" charset="-122"/>
                <a:ea typeface="微软雅黑" panose="020B0503020204020204" pitchFamily="34" charset="-122"/>
              </a:rPr>
              <a:t>x11</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C00000"/>
                </a:solidFill>
                <a:latin typeface="微软雅黑" panose="020B0503020204020204" pitchFamily="34" charset="-122"/>
                <a:ea typeface="微软雅黑" panose="020B0503020204020204" pitchFamily="34" charset="-122"/>
              </a:rPr>
              <a:t>x10</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FF0000"/>
                </a:solidFill>
                <a:latin typeface="微软雅黑" panose="020B0503020204020204" pitchFamily="34" charset="-122"/>
                <a:ea typeface="微软雅黑" panose="020B0503020204020204" pitchFamily="34" charset="-122"/>
              </a:rPr>
              <a:t>x12</a:t>
            </a:r>
            <a:r>
              <a:rPr lang="en-US" altLang="zh-CN" sz="1600">
                <a:solidFill>
                  <a:srgbClr val="7030A0"/>
                </a:solidFill>
                <a:latin typeface="微软雅黑" panose="020B0503020204020204" pitchFamily="34" charset="-122"/>
                <a:ea typeface="微软雅黑" panose="020B0503020204020204" pitchFamily="34" charset="-122"/>
              </a:rPr>
              <a:t> #</a:t>
            </a:r>
            <a:r>
              <a:rPr lang="zh-CN" altLang="en-US" sz="1600">
                <a:solidFill>
                  <a:srgbClr val="7030A0"/>
                </a:solidFill>
                <a:latin typeface="微软雅黑" panose="020B0503020204020204" pitchFamily="34" charset="-122"/>
                <a:ea typeface="微软雅黑" panose="020B0503020204020204" pitchFamily="34" charset="-122"/>
              </a:rPr>
              <a:t>若</a:t>
            </a:r>
            <a:r>
              <a:rPr lang="en-US" altLang="zh-CN" sz="1600">
                <a:solidFill>
                  <a:srgbClr val="7030A0"/>
                </a:solidFill>
                <a:latin typeface="微软雅黑" panose="020B0503020204020204" pitchFamily="34" charset="-122"/>
                <a:ea typeface="微软雅黑" panose="020B0503020204020204" pitchFamily="34" charset="-122"/>
              </a:rPr>
              <a:t>R[x10]&lt;R[x12]</a:t>
            </a:r>
            <a:r>
              <a:rPr lang="zh-CN" altLang="en-US" sz="1600">
                <a:solidFill>
                  <a:srgbClr val="7030A0"/>
                </a:solidFill>
                <a:latin typeface="微软雅黑" panose="020B0503020204020204" pitchFamily="34" charset="-122"/>
                <a:ea typeface="微软雅黑" panose="020B0503020204020204" pitchFamily="34" charset="-122"/>
              </a:rPr>
              <a:t>，则 </a:t>
            </a:r>
            <a:endParaRPr lang="en-US" altLang="zh-CN" sz="1600">
              <a:solidFill>
                <a:srgbClr val="7030A0"/>
              </a:solidFill>
              <a:latin typeface="微软雅黑" panose="020B0503020204020204" pitchFamily="34" charset="-122"/>
              <a:ea typeface="微软雅黑" panose="020B0503020204020204" pitchFamily="34" charset="-122"/>
            </a:endParaRPr>
          </a:p>
          <a:p>
            <a:pPr eaLnBrk="0" hangingPunct="0">
              <a:lnSpc>
                <a:spcPts val="22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                                                                        #  R[x11]←1</a:t>
            </a:r>
            <a:r>
              <a:rPr lang="zh-CN" altLang="en-US" sz="1600">
                <a:solidFill>
                  <a:srgbClr val="FF0000"/>
                </a:solidFill>
                <a:latin typeface="微软雅黑" panose="020B0503020204020204" pitchFamily="34" charset="-122"/>
                <a:ea typeface="微软雅黑" panose="020B0503020204020204" pitchFamily="34" charset="-122"/>
              </a:rPr>
              <a:t>（若和比加数小，则一定有进位）</a:t>
            </a:r>
            <a:endParaRPr lang="en-US" altLang="zh-CN" sz="1600">
              <a:solidFill>
                <a:srgbClr val="FF0000"/>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0000000</a:t>
            </a:r>
            <a:r>
              <a:rPr lang="en-US" altLang="zh-CN" sz="1600">
                <a:solidFill>
                  <a:schemeClr val="accent1"/>
                </a:solidFill>
                <a:latin typeface="微软雅黑" panose="020B0503020204020204" pitchFamily="34" charset="-122"/>
                <a:ea typeface="微软雅黑" panose="020B0503020204020204" pitchFamily="34" charset="-122"/>
              </a:rPr>
              <a:t> 01111 </a:t>
            </a:r>
            <a:r>
              <a:rPr lang="en-US" altLang="zh-CN" sz="1600">
                <a:solidFill>
                  <a:srgbClr val="C00000"/>
                </a:solidFill>
                <a:latin typeface="微软雅黑" panose="020B0503020204020204" pitchFamily="34" charset="-122"/>
                <a:ea typeface="微软雅黑" panose="020B0503020204020204" pitchFamily="34" charset="-122"/>
              </a:rPr>
              <a:t>01101</a:t>
            </a:r>
            <a:r>
              <a:rPr lang="en-US" altLang="zh-CN" sz="1600">
                <a:solidFill>
                  <a:srgbClr val="7030A0"/>
                </a:solidFill>
                <a:latin typeface="微软雅黑" panose="020B0503020204020204" pitchFamily="34" charset="-122"/>
                <a:ea typeface="微软雅黑" panose="020B0503020204020204" pitchFamily="34" charset="-122"/>
              </a:rPr>
              <a:t> 000 </a:t>
            </a:r>
            <a:r>
              <a:rPr lang="en-US" altLang="zh-CN" sz="1600">
                <a:solidFill>
                  <a:srgbClr val="2E5C35"/>
                </a:solidFill>
                <a:latin typeface="微软雅黑" panose="020B0503020204020204" pitchFamily="34" charset="-122"/>
                <a:ea typeface="微软雅黑" panose="020B0503020204020204" pitchFamily="34" charset="-122"/>
              </a:rPr>
              <a:t>10000</a:t>
            </a:r>
            <a:r>
              <a:rPr lang="en-US" altLang="zh-CN" sz="1600">
                <a:solidFill>
                  <a:srgbClr val="7030A0"/>
                </a:solidFill>
                <a:latin typeface="微软雅黑" panose="020B0503020204020204" pitchFamily="34" charset="-122"/>
                <a:ea typeface="微软雅黑" panose="020B0503020204020204" pitchFamily="34" charset="-122"/>
              </a:rPr>
              <a:t> 0110011 add</a:t>
            </a:r>
            <a:r>
              <a:rPr lang="en-US" altLang="zh-CN" sz="1600">
                <a:solidFill>
                  <a:srgbClr val="2E5C35"/>
                </a:solidFill>
                <a:latin typeface="微软雅黑" panose="020B0503020204020204" pitchFamily="34" charset="-122"/>
                <a:ea typeface="微软雅黑" panose="020B0503020204020204" pitchFamily="34" charset="-122"/>
              </a:rPr>
              <a:t> x16</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C00000"/>
                </a:solidFill>
                <a:latin typeface="微软雅黑" panose="020B0503020204020204" pitchFamily="34" charset="-122"/>
                <a:ea typeface="微软雅黑" panose="020B0503020204020204" pitchFamily="34" charset="-122"/>
              </a:rPr>
              <a:t>x13</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FF0000"/>
                </a:solidFill>
                <a:latin typeface="微软雅黑" panose="020B0503020204020204" pitchFamily="34" charset="-122"/>
                <a:ea typeface="微软雅黑" panose="020B0503020204020204" pitchFamily="34" charset="-122"/>
              </a:rPr>
              <a:t>x15</a:t>
            </a:r>
            <a:r>
              <a:rPr lang="en-US" altLang="zh-CN" sz="1600">
                <a:solidFill>
                  <a:srgbClr val="7030A0"/>
                </a:solidFill>
                <a:latin typeface="微软雅黑" panose="020B0503020204020204" pitchFamily="34" charset="-122"/>
                <a:ea typeface="微软雅黑" panose="020B0503020204020204" pitchFamily="34" charset="-122"/>
              </a:rPr>
              <a:t> #R[x16]←R[x13]+R[x15]</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0000000 </a:t>
            </a:r>
            <a:r>
              <a:rPr lang="en-US" altLang="zh-CN" sz="1600">
                <a:solidFill>
                  <a:schemeClr val="accent1"/>
                </a:solidFill>
                <a:latin typeface="微软雅黑" panose="020B0503020204020204" pitchFamily="34" charset="-122"/>
                <a:ea typeface="微软雅黑" panose="020B0503020204020204" pitchFamily="34" charset="-122"/>
              </a:rPr>
              <a:t>10000</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rgbClr val="C00000"/>
                </a:solidFill>
                <a:latin typeface="微软雅黑" panose="020B0503020204020204" pitchFamily="34" charset="-122"/>
                <a:ea typeface="微软雅黑" panose="020B0503020204020204" pitchFamily="34" charset="-122"/>
              </a:rPr>
              <a:t>01011</a:t>
            </a:r>
            <a:r>
              <a:rPr lang="en-US" altLang="zh-CN" sz="1600">
                <a:solidFill>
                  <a:srgbClr val="7030A0"/>
                </a:solidFill>
                <a:latin typeface="微软雅黑" panose="020B0503020204020204" pitchFamily="34" charset="-122"/>
                <a:ea typeface="微软雅黑" panose="020B0503020204020204" pitchFamily="34" charset="-122"/>
              </a:rPr>
              <a:t> 000</a:t>
            </a:r>
            <a:r>
              <a:rPr lang="en-US" altLang="zh-CN" sz="1600">
                <a:solidFill>
                  <a:srgbClr val="2E5C35"/>
                </a:solidFill>
                <a:latin typeface="微软雅黑" panose="020B0503020204020204" pitchFamily="34" charset="-122"/>
                <a:ea typeface="微软雅黑" panose="020B0503020204020204" pitchFamily="34" charset="-122"/>
              </a:rPr>
              <a:t> 01011 </a:t>
            </a:r>
            <a:r>
              <a:rPr lang="en-US" altLang="zh-CN" sz="1600">
                <a:solidFill>
                  <a:srgbClr val="7030A0"/>
                </a:solidFill>
                <a:latin typeface="微软雅黑" panose="020B0503020204020204" pitchFamily="34" charset="-122"/>
                <a:ea typeface="微软雅黑" panose="020B0503020204020204" pitchFamily="34" charset="-122"/>
              </a:rPr>
              <a:t>0110011 add </a:t>
            </a:r>
            <a:r>
              <a:rPr lang="en-US" altLang="zh-CN" sz="1600">
                <a:solidFill>
                  <a:srgbClr val="2E5C35"/>
                </a:solidFill>
                <a:latin typeface="微软雅黑" panose="020B0503020204020204" pitchFamily="34" charset="-122"/>
                <a:ea typeface="微软雅黑" panose="020B0503020204020204" pitchFamily="34" charset="-122"/>
              </a:rPr>
              <a:t>x11</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C00000"/>
                </a:solidFill>
                <a:latin typeface="微软雅黑" panose="020B0503020204020204" pitchFamily="34" charset="-122"/>
                <a:ea typeface="微软雅黑" panose="020B0503020204020204" pitchFamily="34" charset="-122"/>
              </a:rPr>
              <a:t>x11</a:t>
            </a:r>
            <a:r>
              <a:rPr lang="en-US" altLang="zh-CN" sz="1600">
                <a:solidFill>
                  <a:srgbClr val="7030A0"/>
                </a:solidFill>
                <a:latin typeface="微软雅黑" panose="020B0503020204020204" pitchFamily="34" charset="-122"/>
                <a:ea typeface="微软雅黑" panose="020B0503020204020204" pitchFamily="34" charset="-122"/>
              </a:rPr>
              <a:t>,</a:t>
            </a:r>
            <a:r>
              <a:rPr lang="en-US" altLang="zh-CN" sz="1600">
                <a:solidFill>
                  <a:srgbClr val="FF0000"/>
                </a:solidFill>
                <a:latin typeface="微软雅黑" panose="020B0503020204020204" pitchFamily="34" charset="-122"/>
                <a:ea typeface="微软雅黑" panose="020B0503020204020204" pitchFamily="34" charset="-122"/>
              </a:rPr>
              <a:t>x16</a:t>
            </a:r>
            <a:r>
              <a:rPr lang="en-US" altLang="zh-CN" sz="1600">
                <a:solidFill>
                  <a:srgbClr val="7030A0"/>
                </a:solidFill>
                <a:latin typeface="微软雅黑" panose="020B0503020204020204" pitchFamily="34" charset="-122"/>
                <a:ea typeface="微软雅黑" panose="020B0503020204020204" pitchFamily="34" charset="-122"/>
              </a:rPr>
              <a:t> #R[x11]←R[x11]+R[x16]</a:t>
            </a:r>
            <a:endParaRPr lang="en-US" altLang="zh-CN" sz="1600">
              <a:solidFill>
                <a:srgbClr val="0033CC"/>
              </a:solidFill>
              <a:latin typeface="微软雅黑" panose="020B0503020204020204" pitchFamily="34" charset="-122"/>
              <a:ea typeface="微软雅黑" panose="020B0503020204020204" pitchFamily="34" charset="-122"/>
            </a:endParaRPr>
          </a:p>
        </p:txBody>
      </p:sp>
      <p:sp>
        <p:nvSpPr>
          <p:cNvPr id="80899" name="矩形 12">
            <a:extLst>
              <a:ext uri="{FF2B5EF4-FFF2-40B4-BE49-F238E27FC236}">
                <a16:creationId xmlns:a16="http://schemas.microsoft.com/office/drawing/2014/main" id="{42620866-0D64-ED54-D13E-DD7812E58BDB}"/>
              </a:ext>
            </a:extLst>
          </p:cNvPr>
          <p:cNvSpPr>
            <a:spLocks noChangeArrowheads="1"/>
          </p:cNvSpPr>
          <p:nvPr/>
        </p:nvSpPr>
        <p:spPr bwMode="auto">
          <a:xfrm>
            <a:off x="60325" y="684213"/>
            <a:ext cx="88534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chemeClr val="tx1"/>
                </a:solidFill>
                <a:latin typeface="微软雅黑" panose="020B0503020204020204" pitchFamily="34" charset="-122"/>
                <a:ea typeface="微软雅黑" panose="020B0503020204020204" pitchFamily="34" charset="-122"/>
              </a:rPr>
              <a:t>4</a:t>
            </a:r>
            <a:r>
              <a:rPr lang="zh-CN" altLang="en-US" sz="2000">
                <a:solidFill>
                  <a:schemeClr val="tx1"/>
                </a:solidFill>
                <a:latin typeface="微软雅黑" panose="020B0503020204020204" pitchFamily="34" charset="-122"/>
                <a:ea typeface="微软雅黑" panose="020B0503020204020204" pitchFamily="34" charset="-122"/>
              </a:rPr>
              <a:t>条比较指令：带符号小于（</a:t>
            </a:r>
            <a:r>
              <a:rPr lang="en-US" altLang="zh-CN" sz="2000">
                <a:solidFill>
                  <a:schemeClr val="tx1"/>
                </a:solidFill>
                <a:latin typeface="微软雅黑" panose="020B0503020204020204" pitchFamily="34" charset="-122"/>
                <a:ea typeface="微软雅黑" panose="020B0503020204020204" pitchFamily="34" charset="-122"/>
              </a:rPr>
              <a:t>slt</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slti</a:t>
            </a:r>
            <a:r>
              <a:rPr lang="zh-CN" altLang="en-US" sz="2000">
                <a:solidFill>
                  <a:schemeClr val="tx1"/>
                </a:solidFill>
                <a:latin typeface="微软雅黑" panose="020B0503020204020204" pitchFamily="34" charset="-122"/>
                <a:ea typeface="微软雅黑" panose="020B0503020204020204" pitchFamily="34" charset="-122"/>
              </a:rPr>
              <a:t>）、无符号小于（</a:t>
            </a:r>
            <a:r>
              <a:rPr lang="en-US" altLang="zh-CN" sz="2000">
                <a:solidFill>
                  <a:schemeClr val="tx1"/>
                </a:solidFill>
                <a:latin typeface="微软雅黑" panose="020B0503020204020204" pitchFamily="34" charset="-122"/>
                <a:ea typeface="微软雅黑" panose="020B0503020204020204" pitchFamily="34" charset="-122"/>
              </a:rPr>
              <a:t>sltu</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sltiu</a:t>
            </a:r>
            <a:r>
              <a:rPr lang="zh-CN" altLang="en-US" sz="2000">
                <a:solidFill>
                  <a:schemeClr val="tx1"/>
                </a:solidFill>
                <a:latin typeface="微软雅黑" panose="020B0503020204020204" pitchFamily="34" charset="-122"/>
                <a:ea typeface="微软雅黑" panose="020B0503020204020204" pitchFamily="34" charset="-122"/>
              </a:rPr>
              <a:t>）</a:t>
            </a:r>
            <a:endParaRPr lang="en-US" altLang="zh-CN" sz="2000">
              <a:solidFill>
                <a:schemeClr val="tx1"/>
              </a:solidFill>
              <a:latin typeface="微软雅黑" panose="020B0503020204020204" pitchFamily="34" charset="-122"/>
              <a:ea typeface="微软雅黑" panose="020B0503020204020204" pitchFamily="34" charset="-122"/>
            </a:endParaRPr>
          </a:p>
        </p:txBody>
      </p:sp>
      <p:sp>
        <p:nvSpPr>
          <p:cNvPr id="80900" name="矩形 1">
            <a:extLst>
              <a:ext uri="{FF2B5EF4-FFF2-40B4-BE49-F238E27FC236}">
                <a16:creationId xmlns:a16="http://schemas.microsoft.com/office/drawing/2014/main" id="{A413534D-596B-EC30-6FA3-57A82061C048}"/>
              </a:ext>
            </a:extLst>
          </p:cNvPr>
          <p:cNvSpPr>
            <a:spLocks noChangeArrowheads="1"/>
          </p:cNvSpPr>
          <p:nvPr/>
        </p:nvSpPr>
        <p:spPr bwMode="auto">
          <a:xfrm>
            <a:off x="60325" y="1182688"/>
            <a:ext cx="89249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3000"/>
              </a:lnSpc>
            </a:pPr>
            <a:r>
              <a:rPr lang="zh-CN" altLang="en-US" sz="2000">
                <a:solidFill>
                  <a:srgbClr val="0033CC"/>
                </a:solidFill>
                <a:latin typeface="微软雅黑" panose="020B0503020204020204" pitchFamily="34" charset="-122"/>
                <a:ea typeface="微软雅黑" panose="020B0503020204020204" pitchFamily="34" charset="-122"/>
              </a:rPr>
              <a:t>例如，“</a:t>
            </a:r>
            <a:r>
              <a:rPr lang="en-US" altLang="zh-CN" sz="2000">
                <a:solidFill>
                  <a:srgbClr val="0033CC"/>
                </a:solidFill>
                <a:latin typeface="微软雅黑" panose="020B0503020204020204" pitchFamily="34" charset="-122"/>
                <a:ea typeface="微软雅黑" panose="020B0503020204020204" pitchFamily="34" charset="-122"/>
              </a:rPr>
              <a:t>sltiu rd, rs1, imm12”</a:t>
            </a:r>
            <a:r>
              <a:rPr lang="zh-CN" altLang="en-US" sz="2000">
                <a:solidFill>
                  <a:srgbClr val="0033CC"/>
                </a:solidFill>
                <a:latin typeface="微软雅黑" panose="020B0503020204020204" pitchFamily="34" charset="-122"/>
                <a:ea typeface="微软雅黑" panose="020B0503020204020204" pitchFamily="34" charset="-122"/>
              </a:rPr>
              <a:t>功能为：将</a:t>
            </a:r>
            <a:r>
              <a:rPr lang="en-US" altLang="zh-CN" sz="2000">
                <a:solidFill>
                  <a:srgbClr val="0033CC"/>
                </a:solidFill>
                <a:latin typeface="微软雅黑" panose="020B0503020204020204" pitchFamily="34" charset="-122"/>
                <a:ea typeface="微软雅黑" panose="020B0503020204020204" pitchFamily="34" charset="-122"/>
              </a:rPr>
              <a:t>rs1</a:t>
            </a:r>
            <a:r>
              <a:rPr lang="zh-CN" altLang="en-US" sz="2000">
                <a:solidFill>
                  <a:srgbClr val="0033CC"/>
                </a:solidFill>
                <a:latin typeface="微软雅黑" panose="020B0503020204020204" pitchFamily="34" charset="-122"/>
                <a:ea typeface="微软雅黑" panose="020B0503020204020204" pitchFamily="34" charset="-122"/>
              </a:rPr>
              <a:t>内容与</a:t>
            </a:r>
            <a:r>
              <a:rPr lang="en-US" altLang="zh-CN" sz="2000">
                <a:solidFill>
                  <a:schemeClr val="accent1"/>
                </a:solidFill>
                <a:latin typeface="微软雅黑" panose="020B0503020204020204" pitchFamily="34" charset="-122"/>
                <a:ea typeface="微软雅黑" panose="020B0503020204020204" pitchFamily="34" charset="-122"/>
              </a:rPr>
              <a:t>imm12</a:t>
            </a:r>
            <a:r>
              <a:rPr lang="zh-CN" altLang="en-US" sz="2000">
                <a:solidFill>
                  <a:schemeClr val="accent1"/>
                </a:solidFill>
                <a:latin typeface="微软雅黑" panose="020B0503020204020204" pitchFamily="34" charset="-122"/>
                <a:ea typeface="微软雅黑" panose="020B0503020204020204" pitchFamily="34" charset="-122"/>
              </a:rPr>
              <a:t>符号扩展</a:t>
            </a:r>
            <a:r>
              <a:rPr lang="zh-CN" altLang="en-US" sz="2000">
                <a:solidFill>
                  <a:srgbClr val="0033CC"/>
                </a:solidFill>
                <a:latin typeface="微软雅黑" panose="020B0503020204020204" pitchFamily="34" charset="-122"/>
                <a:ea typeface="微软雅黑" panose="020B0503020204020204" pitchFamily="34" charset="-122"/>
              </a:rPr>
              <a:t>结果</a:t>
            </a:r>
            <a:r>
              <a:rPr lang="zh-CN" altLang="en-US" sz="2000">
                <a:solidFill>
                  <a:schemeClr val="accent1"/>
                </a:solidFill>
                <a:latin typeface="微软雅黑" panose="020B0503020204020204" pitchFamily="34" charset="-122"/>
                <a:ea typeface="微软雅黑" panose="020B0503020204020204" pitchFamily="34" charset="-122"/>
              </a:rPr>
              <a:t>按无符号整数比较</a:t>
            </a:r>
            <a:r>
              <a:rPr lang="zh-CN" altLang="en-US" sz="2000">
                <a:solidFill>
                  <a:srgbClr val="0033CC"/>
                </a:solidFill>
                <a:latin typeface="微软雅黑" panose="020B0503020204020204" pitchFamily="34" charset="-122"/>
                <a:ea typeface="微软雅黑" panose="020B0503020204020204" pitchFamily="34" charset="-122"/>
              </a:rPr>
              <a:t>，若小于，则</a:t>
            </a:r>
            <a:r>
              <a:rPr lang="en-US" altLang="zh-CN" sz="2000">
                <a:solidFill>
                  <a:srgbClr val="0033CC"/>
                </a:solidFill>
                <a:latin typeface="微软雅黑" panose="020B0503020204020204" pitchFamily="34" charset="-122"/>
                <a:ea typeface="微软雅黑" panose="020B0503020204020204" pitchFamily="34" charset="-122"/>
              </a:rPr>
              <a:t>1</a:t>
            </a:r>
            <a:r>
              <a:rPr lang="zh-CN" altLang="en-US" sz="2000">
                <a:solidFill>
                  <a:srgbClr val="0033CC"/>
                </a:solidFill>
                <a:latin typeface="微软雅黑" panose="020B0503020204020204" pitchFamily="34" charset="-122"/>
                <a:ea typeface="微软雅黑" panose="020B0503020204020204" pitchFamily="34" charset="-122"/>
              </a:rPr>
              <a:t>存入</a:t>
            </a:r>
            <a:r>
              <a:rPr lang="en-US" altLang="zh-CN" sz="2000">
                <a:solidFill>
                  <a:srgbClr val="0033CC"/>
                </a:solidFill>
                <a:latin typeface="微软雅黑" panose="020B0503020204020204" pitchFamily="34" charset="-122"/>
                <a:ea typeface="微软雅黑" panose="020B0503020204020204" pitchFamily="34" charset="-122"/>
              </a:rPr>
              <a:t>rd</a:t>
            </a:r>
            <a:r>
              <a:rPr lang="zh-CN" altLang="en-US" sz="2000">
                <a:solidFill>
                  <a:srgbClr val="0033CC"/>
                </a:solidFill>
                <a:latin typeface="微软雅黑" panose="020B0503020204020204" pitchFamily="34" charset="-122"/>
                <a:ea typeface="微软雅黑" panose="020B0503020204020204" pitchFamily="34" charset="-122"/>
              </a:rPr>
              <a:t>中；否则，</a:t>
            </a:r>
            <a:r>
              <a:rPr lang="en-US" altLang="zh-CN" sz="2000">
                <a:solidFill>
                  <a:srgbClr val="0033CC"/>
                </a:solidFill>
                <a:latin typeface="微软雅黑" panose="020B0503020204020204" pitchFamily="34" charset="-122"/>
                <a:ea typeface="微软雅黑" panose="020B0503020204020204" pitchFamily="34" charset="-122"/>
              </a:rPr>
              <a:t>0</a:t>
            </a:r>
            <a:r>
              <a:rPr lang="zh-CN" altLang="en-US" sz="2000">
                <a:solidFill>
                  <a:srgbClr val="0033CC"/>
                </a:solidFill>
                <a:latin typeface="微软雅黑" panose="020B0503020204020204" pitchFamily="34" charset="-122"/>
                <a:ea typeface="微软雅黑" panose="020B0503020204020204" pitchFamily="34" charset="-122"/>
              </a:rPr>
              <a:t>存入</a:t>
            </a:r>
            <a:r>
              <a:rPr lang="en-US" altLang="zh-CN" sz="2000">
                <a:solidFill>
                  <a:srgbClr val="0033CC"/>
                </a:solidFill>
                <a:latin typeface="微软雅黑" panose="020B0503020204020204" pitchFamily="34" charset="-122"/>
                <a:ea typeface="微软雅黑" panose="020B0503020204020204" pitchFamily="34" charset="-122"/>
              </a:rPr>
              <a:t>rd</a:t>
            </a:r>
            <a:r>
              <a:rPr lang="zh-CN" altLang="en-US" sz="2000">
                <a:solidFill>
                  <a:srgbClr val="0033CC"/>
                </a:solidFill>
                <a:latin typeface="微软雅黑" panose="020B0503020204020204" pitchFamily="34" charset="-122"/>
                <a:ea typeface="微软雅黑" panose="020B0503020204020204" pitchFamily="34" charset="-122"/>
              </a:rPr>
              <a:t>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7" dur="500"/>
                                        <p:tgtEl>
                                          <p:spTgt spid="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2" dur="500"/>
                                        <p:tgtEl>
                                          <p:spTgt spid="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7" dur="500"/>
                                        <p:tgtEl>
                                          <p:spTgt spid="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randombar(horizontal)">
                                      <p:cBhvr>
                                        <p:cTn id="32" dur="500"/>
                                        <p:tgtEl>
                                          <p:spTgt spid="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3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1" name="图片 1">
            <a:extLst>
              <a:ext uri="{FF2B5EF4-FFF2-40B4-BE49-F238E27FC236}">
                <a16:creationId xmlns:a16="http://schemas.microsoft.com/office/drawing/2014/main" id="{1B3463D7-5494-0D27-C17C-33CCFF21C2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463" y="539750"/>
            <a:ext cx="8455025" cy="324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2" name="Rectangle 3">
            <a:extLst>
              <a:ext uri="{FF2B5EF4-FFF2-40B4-BE49-F238E27FC236}">
                <a16:creationId xmlns:a16="http://schemas.microsoft.com/office/drawing/2014/main" id="{6EFC5C93-CF94-A738-DF0C-B0D3E7387175}"/>
              </a:ext>
            </a:extLst>
          </p:cNvPr>
          <p:cNvSpPr>
            <a:spLocks noGrp="1" noChangeArrowheads="1"/>
          </p:cNvSpPr>
          <p:nvPr>
            <p:ph idx="1"/>
          </p:nvPr>
        </p:nvSpPr>
        <p:spPr>
          <a:xfrm>
            <a:off x="63500" y="1162050"/>
            <a:ext cx="461963" cy="4184650"/>
          </a:xfrm>
        </p:spPr>
        <p:txBody>
          <a:bodyPr/>
          <a:lstStyle/>
          <a:p>
            <a:pPr marL="0" indent="0">
              <a:lnSpc>
                <a:spcPts val="2700"/>
              </a:lnSpc>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控制转移类指令</a:t>
            </a:r>
            <a:endParaRPr lang="en-US" altLang="zh-CN">
              <a:latin typeface="微软雅黑" panose="020B0503020204020204" pitchFamily="34" charset="-122"/>
              <a:ea typeface="微软雅黑" panose="020B0503020204020204" pitchFamily="34" charset="-122"/>
            </a:endParaRPr>
          </a:p>
          <a:p>
            <a:pPr marL="457200" lvl="1" indent="0">
              <a:lnSpc>
                <a:spcPts val="2700"/>
              </a:lnSpc>
              <a:buFontTx/>
              <a:buNone/>
            </a:pPr>
            <a:endParaRPr lang="en-US" altLang="zh-CN">
              <a:solidFill>
                <a:srgbClr val="C00000"/>
              </a:solidFill>
              <a:latin typeface="微软雅黑" panose="020B0503020204020204" pitchFamily="34" charset="-122"/>
              <a:ea typeface="微软雅黑" panose="020B0503020204020204" pitchFamily="34" charset="-122"/>
            </a:endParaRPr>
          </a:p>
        </p:txBody>
      </p:sp>
      <p:sp>
        <p:nvSpPr>
          <p:cNvPr id="81923" name="Rectangle 2">
            <a:extLst>
              <a:ext uri="{FF2B5EF4-FFF2-40B4-BE49-F238E27FC236}">
                <a16:creationId xmlns:a16="http://schemas.microsoft.com/office/drawing/2014/main" id="{3333B863-C4E3-65CC-DA2E-0646F00D3F1B}"/>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grpSp>
        <p:nvGrpSpPr>
          <p:cNvPr id="81924" name="组合 3">
            <a:extLst>
              <a:ext uri="{FF2B5EF4-FFF2-40B4-BE49-F238E27FC236}">
                <a16:creationId xmlns:a16="http://schemas.microsoft.com/office/drawing/2014/main" id="{6E7E3807-B3C2-A445-79DF-53F3DB68D0BF}"/>
              </a:ext>
            </a:extLst>
          </p:cNvPr>
          <p:cNvGrpSpPr>
            <a:grpSpLocks/>
          </p:cNvGrpSpPr>
          <p:nvPr/>
        </p:nvGrpSpPr>
        <p:grpSpPr bwMode="auto">
          <a:xfrm>
            <a:off x="622300" y="904875"/>
            <a:ext cx="7656513" cy="2733675"/>
            <a:chOff x="805390" y="-5926310"/>
            <a:chExt cx="7491585" cy="4473263"/>
          </a:xfrm>
        </p:grpSpPr>
        <p:sp>
          <p:nvSpPr>
            <p:cNvPr id="81925" name="矩形 1">
              <a:extLst>
                <a:ext uri="{FF2B5EF4-FFF2-40B4-BE49-F238E27FC236}">
                  <a16:creationId xmlns:a16="http://schemas.microsoft.com/office/drawing/2014/main" id="{100681C9-E866-F5EE-03C1-0A0859C010AB}"/>
                </a:ext>
              </a:extLst>
            </p:cNvPr>
            <p:cNvSpPr>
              <a:spLocks noChangeArrowheads="1"/>
            </p:cNvSpPr>
            <p:nvPr/>
          </p:nvSpPr>
          <p:spPr bwMode="auto">
            <a:xfrm>
              <a:off x="805390" y="-5281513"/>
              <a:ext cx="7491584" cy="615276"/>
            </a:xfrm>
            <a:prstGeom prst="rect">
              <a:avLst/>
            </a:prstGeom>
            <a:solidFill>
              <a:srgbClr val="C000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81926" name="矩形 1">
              <a:extLst>
                <a:ext uri="{FF2B5EF4-FFF2-40B4-BE49-F238E27FC236}">
                  <a16:creationId xmlns:a16="http://schemas.microsoft.com/office/drawing/2014/main" id="{4DA1F159-F368-305B-97FC-466F13312418}"/>
                </a:ext>
              </a:extLst>
            </p:cNvPr>
            <p:cNvSpPr>
              <a:spLocks noChangeArrowheads="1"/>
            </p:cNvSpPr>
            <p:nvPr/>
          </p:nvSpPr>
          <p:spPr bwMode="auto">
            <a:xfrm>
              <a:off x="805390" y="-4744223"/>
              <a:ext cx="7491584" cy="3291176"/>
            </a:xfrm>
            <a:prstGeom prst="rect">
              <a:avLst/>
            </a:prstGeom>
            <a:solidFill>
              <a:srgbClr val="FFFF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81927" name="矩形 1">
              <a:extLst>
                <a:ext uri="{FF2B5EF4-FFF2-40B4-BE49-F238E27FC236}">
                  <a16:creationId xmlns:a16="http://schemas.microsoft.com/office/drawing/2014/main" id="{F0ABF9D6-371D-0928-65B2-C553E2AE76A6}"/>
                </a:ext>
              </a:extLst>
            </p:cNvPr>
            <p:cNvSpPr>
              <a:spLocks noChangeArrowheads="1"/>
            </p:cNvSpPr>
            <p:nvPr/>
          </p:nvSpPr>
          <p:spPr bwMode="auto">
            <a:xfrm>
              <a:off x="805390" y="-5926310"/>
              <a:ext cx="7491585" cy="661540"/>
            </a:xfrm>
            <a:prstGeom prst="rect">
              <a:avLst/>
            </a:prstGeom>
            <a:solidFill>
              <a:schemeClr val="accent2">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lstStyle/>
            <a:p>
              <a:pPr eaLnBrk="0" hangingPunct="0"/>
              <a:endParaRPr lang="zh-CN" altLang="en-US"/>
            </a:p>
          </p:txBody>
        </p:sp>
      </p:grpSp>
      <p:sp>
        <p:nvSpPr>
          <p:cNvPr id="11" name="矩形 10">
            <a:extLst>
              <a:ext uri="{FF2B5EF4-FFF2-40B4-BE49-F238E27FC236}">
                <a16:creationId xmlns:a16="http://schemas.microsoft.com/office/drawing/2014/main" id="{0342809B-42D9-7066-D945-A42BFBBA4467}"/>
              </a:ext>
            </a:extLst>
          </p:cNvPr>
          <p:cNvSpPr>
            <a:spLocks noChangeArrowheads="1"/>
          </p:cNvSpPr>
          <p:nvPr/>
        </p:nvSpPr>
        <p:spPr bwMode="auto">
          <a:xfrm>
            <a:off x="166688" y="3784600"/>
            <a:ext cx="8756650"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ts val="2800"/>
              </a:lnSpc>
              <a:spcBef>
                <a:spcPts val="600"/>
              </a:spcBef>
              <a:defRPr/>
            </a:pPr>
            <a:r>
              <a:rPr lang="en-US" altLang="zh-CN" sz="2000" dirty="0">
                <a:solidFill>
                  <a:srgbClr val="C00000"/>
                </a:solidFill>
                <a:latin typeface="微软雅黑" panose="020B0503020204020204" pitchFamily="34" charset="-122"/>
                <a:ea typeface="微软雅黑" panose="020B0503020204020204" pitchFamily="34" charset="-122"/>
              </a:rPr>
              <a:t>J </a:t>
            </a:r>
            <a:r>
              <a:rPr lang="zh-CN" altLang="en-US" sz="2000" dirty="0">
                <a:solidFill>
                  <a:srgbClr val="C00000"/>
                </a:solidFill>
                <a:latin typeface="微软雅黑" panose="020B0503020204020204" pitchFamily="34" charset="-122"/>
                <a:ea typeface="微软雅黑" panose="020B0503020204020204" pitchFamily="34" charset="-122"/>
              </a:rPr>
              <a:t>型</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err="1">
                <a:solidFill>
                  <a:schemeClr val="tx1"/>
                </a:solidFill>
                <a:latin typeface="微软雅黑" panose="020B0503020204020204" pitchFamily="34" charset="-122"/>
                <a:ea typeface="微软雅黑" panose="020B0503020204020204" pitchFamily="34" charset="-122"/>
              </a:rPr>
              <a:t>jal</a:t>
            </a:r>
            <a:r>
              <a:rPr lang="zh-CN" altLang="en-US" sz="2000" dirty="0">
                <a:solidFill>
                  <a:schemeClr val="tx1"/>
                </a:solidFill>
                <a:latin typeface="微软雅黑" panose="020B0503020204020204" pitchFamily="34" charset="-122"/>
                <a:ea typeface="微软雅黑" panose="020B0503020204020204" pitchFamily="34" charset="-122"/>
              </a:rPr>
              <a:t> 功能为</a:t>
            </a:r>
            <a:r>
              <a:rPr lang="en-US" altLang="zh-CN" sz="2000" dirty="0">
                <a:solidFill>
                  <a:schemeClr val="tx1"/>
                </a:solidFill>
                <a:latin typeface="微软雅黑" panose="020B0503020204020204" pitchFamily="34" charset="-122"/>
                <a:ea typeface="微软雅黑" panose="020B0503020204020204" pitchFamily="34" charset="-122"/>
              </a:rPr>
              <a:t>: PC←PC+SEXT[</a:t>
            </a:r>
            <a:r>
              <a:rPr lang="en-US" altLang="zh-CN" sz="2000" dirty="0" err="1">
                <a:solidFill>
                  <a:schemeClr val="tx1"/>
                </a:solidFill>
                <a:latin typeface="微软雅黑" panose="020B0503020204020204" pitchFamily="34" charset="-122"/>
                <a:ea typeface="微软雅黑" panose="020B0503020204020204" pitchFamily="34" charset="-122"/>
              </a:rPr>
              <a:t>imm</a:t>
            </a:r>
            <a:r>
              <a:rPr lang="en-US" altLang="zh-CN" sz="2000" dirty="0">
                <a:solidFill>
                  <a:schemeClr val="tx1"/>
                </a:solidFill>
                <a:latin typeface="微软雅黑" panose="020B0503020204020204" pitchFamily="34" charset="-122"/>
                <a:ea typeface="微软雅黑" panose="020B0503020204020204" pitchFamily="34" charset="-122"/>
              </a:rPr>
              <a:t>[20:1]</a:t>
            </a:r>
            <a:r>
              <a:rPr lang="en-US" altLang="zh-CN" sz="2000" dirty="0">
                <a:solidFill>
                  <a:srgbClr val="FF0000"/>
                </a:solidFill>
                <a:latin typeface="微软雅黑" panose="020B0503020204020204" pitchFamily="34" charset="-122"/>
                <a:ea typeface="微软雅黑" panose="020B0503020204020204" pitchFamily="34" charset="-122"/>
              </a:rPr>
              <a:t>&lt;&lt;1</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a:t>
            </a:r>
            <a:r>
              <a:rPr lang="en-US" altLang="zh-CN" sz="2000" dirty="0" err="1">
                <a:solidFill>
                  <a:schemeClr val="tx1"/>
                </a:solidFill>
                <a:latin typeface="微软雅黑" panose="020B0503020204020204" pitchFamily="34" charset="-122"/>
                <a:ea typeface="微软雅黑" panose="020B0503020204020204" pitchFamily="34" charset="-122"/>
              </a:rPr>
              <a:t>rd</a:t>
            </a:r>
            <a:r>
              <a:rPr lang="en-US" altLang="zh-CN" sz="2000" dirty="0">
                <a:solidFill>
                  <a:schemeClr val="tx1"/>
                </a:solidFill>
                <a:latin typeface="微软雅黑" panose="020B0503020204020204" pitchFamily="34" charset="-122"/>
                <a:ea typeface="微软雅黑" panose="020B0503020204020204" pitchFamily="34" charset="-122"/>
              </a:rPr>
              <a:t>]←PC+4</a:t>
            </a:r>
          </a:p>
          <a:p>
            <a:pPr eaLnBrk="0" hangingPunct="0">
              <a:lnSpc>
                <a:spcPts val="2800"/>
              </a:lnSpc>
              <a:spcBef>
                <a:spcPts val="600"/>
              </a:spcBef>
              <a:defRPr/>
            </a:pPr>
            <a:r>
              <a:rPr lang="zh-CN" altLang="en-US" sz="2000" dirty="0">
                <a:solidFill>
                  <a:schemeClr val="tx1"/>
                </a:solidFill>
                <a:latin typeface="微软雅黑" panose="020B0503020204020204" pitchFamily="34" charset="-122"/>
                <a:ea typeface="微软雅黑" panose="020B0503020204020204" pitchFamily="34" charset="-122"/>
              </a:rPr>
              <a:t>         </a:t>
            </a:r>
            <a:r>
              <a:rPr lang="en-US" altLang="zh-CN" sz="2000" dirty="0" err="1">
                <a:solidFill>
                  <a:srgbClr val="FF0000"/>
                </a:solidFill>
                <a:latin typeface="微软雅黑" panose="020B0503020204020204" pitchFamily="34" charset="-122"/>
                <a:ea typeface="微软雅黑" panose="020B0503020204020204" pitchFamily="34" charset="-122"/>
              </a:rPr>
              <a:t>rd</a:t>
            </a:r>
            <a:r>
              <a:rPr lang="zh-CN" altLang="en-US" sz="2000" dirty="0">
                <a:solidFill>
                  <a:schemeClr val="tx1"/>
                </a:solidFill>
                <a:latin typeface="微软雅黑" panose="020B0503020204020204" pitchFamily="34" charset="-122"/>
                <a:ea typeface="微软雅黑" panose="020B0503020204020204" pitchFamily="34" charset="-122"/>
              </a:rPr>
              <a:t>指定为</a:t>
            </a:r>
            <a:r>
              <a:rPr lang="en-US" altLang="zh-CN" sz="2000" dirty="0">
                <a:solidFill>
                  <a:srgbClr val="FF0000"/>
                </a:solidFill>
                <a:latin typeface="微软雅黑" panose="020B0503020204020204" pitchFamily="34" charset="-122"/>
                <a:ea typeface="微软雅黑" panose="020B0503020204020204" pitchFamily="34" charset="-122"/>
              </a:rPr>
              <a:t>x1</a:t>
            </a:r>
            <a:r>
              <a:rPr lang="zh-CN" altLang="en-US" sz="2000" dirty="0">
                <a:solidFill>
                  <a:schemeClr val="tx1"/>
                </a:solidFill>
                <a:latin typeface="微软雅黑" panose="020B0503020204020204" pitchFamily="34" charset="-122"/>
                <a:ea typeface="微软雅黑" panose="020B0503020204020204" pitchFamily="34" charset="-122"/>
              </a:rPr>
              <a:t>时可实现</a:t>
            </a:r>
            <a:r>
              <a:rPr lang="zh-CN" altLang="en-US" sz="2000" dirty="0">
                <a:solidFill>
                  <a:srgbClr val="FF0000"/>
                </a:solidFill>
                <a:latin typeface="微软雅黑" panose="020B0503020204020204" pitchFamily="34" charset="-122"/>
                <a:ea typeface="微软雅黑" panose="020B0503020204020204" pitchFamily="34" charset="-122"/>
              </a:rPr>
              <a:t>过程调用</a:t>
            </a:r>
            <a:r>
              <a:rPr lang="zh-CN" altLang="en-US" sz="2000" dirty="0">
                <a:solidFill>
                  <a:schemeClr val="tx1"/>
                </a:solidFill>
                <a:latin typeface="微软雅黑" panose="020B0503020204020204" pitchFamily="34" charset="-122"/>
                <a:ea typeface="微软雅黑" panose="020B0503020204020204" pitchFamily="34" charset="-122"/>
              </a:rPr>
              <a:t>；指定为</a:t>
            </a:r>
            <a:r>
              <a:rPr lang="en-US" altLang="zh-CN" sz="2000" dirty="0">
                <a:solidFill>
                  <a:srgbClr val="FF0000"/>
                </a:solidFill>
                <a:latin typeface="微软雅黑" panose="020B0503020204020204" pitchFamily="34" charset="-122"/>
                <a:ea typeface="微软雅黑" panose="020B0503020204020204" pitchFamily="34" charset="-122"/>
              </a:rPr>
              <a:t>x0</a:t>
            </a:r>
            <a:r>
              <a:rPr lang="zh-CN" altLang="en-US" sz="2000" dirty="0">
                <a:solidFill>
                  <a:schemeClr val="tx1"/>
                </a:solidFill>
                <a:latin typeface="微软雅黑" panose="020B0503020204020204" pitchFamily="34" charset="-122"/>
                <a:ea typeface="微软雅黑" panose="020B0503020204020204" pitchFamily="34" charset="-122"/>
              </a:rPr>
              <a:t>时，可实现</a:t>
            </a:r>
            <a:r>
              <a:rPr lang="zh-CN" altLang="en-US" sz="2000" dirty="0">
                <a:solidFill>
                  <a:srgbClr val="FF0000"/>
                </a:solidFill>
                <a:latin typeface="微软雅黑" panose="020B0503020204020204" pitchFamily="34" charset="-122"/>
                <a:ea typeface="微软雅黑" panose="020B0503020204020204" pitchFamily="34" charset="-122"/>
              </a:rPr>
              <a:t>无条件跳转</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defRPr/>
            </a:pPr>
            <a:r>
              <a:rPr lang="en-US" altLang="zh-CN" sz="2000" dirty="0">
                <a:solidFill>
                  <a:srgbClr val="C00000"/>
                </a:solidFill>
                <a:latin typeface="微软雅黑" panose="020B0503020204020204" pitchFamily="34" charset="-122"/>
                <a:ea typeface="微软雅黑" panose="020B0503020204020204" pitchFamily="34" charset="-122"/>
              </a:rPr>
              <a:t>I </a:t>
            </a:r>
            <a:r>
              <a:rPr lang="zh-CN" altLang="en-US" sz="2000" dirty="0">
                <a:solidFill>
                  <a:srgbClr val="C00000"/>
                </a:solidFill>
                <a:latin typeface="微软雅黑" panose="020B0503020204020204" pitchFamily="34" charset="-122"/>
                <a:ea typeface="微软雅黑" panose="020B0503020204020204" pitchFamily="34" charset="-122"/>
              </a:rPr>
              <a:t>型</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err="1">
                <a:solidFill>
                  <a:schemeClr val="tx1"/>
                </a:solidFill>
                <a:latin typeface="微软雅黑" panose="020B0503020204020204" pitchFamily="34" charset="-122"/>
                <a:ea typeface="微软雅黑" panose="020B0503020204020204" pitchFamily="34" charset="-122"/>
              </a:rPr>
              <a:t>jalr</a:t>
            </a:r>
            <a:r>
              <a:rPr lang="zh-CN" altLang="en-US" sz="2000" dirty="0">
                <a:solidFill>
                  <a:schemeClr val="tx1"/>
                </a:solidFill>
                <a:latin typeface="微软雅黑" panose="020B0503020204020204" pitchFamily="34" charset="-122"/>
                <a:ea typeface="微软雅黑" panose="020B0503020204020204" pitchFamily="34" charset="-122"/>
              </a:rPr>
              <a:t>功能为</a:t>
            </a:r>
            <a:r>
              <a:rPr lang="en-US" altLang="zh-CN" sz="2000" dirty="0">
                <a:solidFill>
                  <a:schemeClr val="tx1"/>
                </a:solidFill>
                <a:latin typeface="微软雅黑" panose="020B0503020204020204" pitchFamily="34" charset="-122"/>
                <a:ea typeface="微软雅黑" panose="020B0503020204020204" pitchFamily="34" charset="-122"/>
              </a:rPr>
              <a:t>: PC←R[rs1]+SEXT[</a:t>
            </a:r>
            <a:r>
              <a:rPr lang="en-US" altLang="zh-CN" sz="2000" dirty="0" err="1">
                <a:solidFill>
                  <a:schemeClr val="tx1"/>
                </a:solidFill>
                <a:latin typeface="微软雅黑" panose="020B0503020204020204" pitchFamily="34" charset="-122"/>
                <a:ea typeface="微软雅黑" panose="020B0503020204020204" pitchFamily="34" charset="-122"/>
              </a:rPr>
              <a:t>imm</a:t>
            </a:r>
            <a:r>
              <a:rPr lang="en-US" altLang="zh-CN" sz="2000" dirty="0">
                <a:solidFill>
                  <a:schemeClr val="tx1"/>
                </a:solidFill>
                <a:latin typeface="微软雅黑" panose="020B0503020204020204" pitchFamily="34" charset="-122"/>
                <a:ea typeface="微软雅黑" panose="020B0503020204020204" pitchFamily="34" charset="-122"/>
              </a:rPr>
              <a:t>[12]</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a:t>
            </a:r>
            <a:r>
              <a:rPr lang="en-US" altLang="zh-CN" sz="2000" dirty="0" err="1">
                <a:solidFill>
                  <a:schemeClr val="tx1"/>
                </a:solidFill>
                <a:latin typeface="微软雅黑" panose="020B0503020204020204" pitchFamily="34" charset="-122"/>
                <a:ea typeface="微软雅黑" panose="020B0503020204020204" pitchFamily="34" charset="-122"/>
              </a:rPr>
              <a:t>rd</a:t>
            </a:r>
            <a:r>
              <a:rPr lang="en-US" altLang="zh-CN" sz="2000" dirty="0">
                <a:solidFill>
                  <a:schemeClr val="tx1"/>
                </a:solidFill>
                <a:latin typeface="微软雅黑" panose="020B0503020204020204" pitchFamily="34" charset="-122"/>
                <a:ea typeface="微软雅黑" panose="020B0503020204020204" pitchFamily="34" charset="-122"/>
              </a:rPr>
              <a:t>]←PC+4</a:t>
            </a:r>
          </a:p>
          <a:p>
            <a:pPr eaLnBrk="0" hangingPunct="0">
              <a:lnSpc>
                <a:spcPts val="2800"/>
              </a:lnSpc>
              <a:spcBef>
                <a:spcPts val="600"/>
              </a:spcBef>
              <a:defRPr/>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指令</a:t>
            </a:r>
            <a:r>
              <a:rPr lang="en-US" altLang="zh-CN" sz="2000" dirty="0">
                <a:solidFill>
                  <a:srgbClr val="FF0000"/>
                </a:solidFill>
                <a:latin typeface="微软雅黑" panose="020B0503020204020204" pitchFamily="34" charset="-122"/>
                <a:ea typeface="微软雅黑" panose="020B0503020204020204" pitchFamily="34" charset="-122"/>
              </a:rPr>
              <a:t>“</a:t>
            </a:r>
            <a:r>
              <a:rPr lang="en-US" altLang="zh-CN" sz="2000" dirty="0" err="1">
                <a:solidFill>
                  <a:srgbClr val="FF0000"/>
                </a:solidFill>
                <a:latin typeface="微软雅黑" panose="020B0503020204020204" pitchFamily="34" charset="-122"/>
                <a:ea typeface="微软雅黑" panose="020B0503020204020204" pitchFamily="34" charset="-122"/>
              </a:rPr>
              <a:t>jalr</a:t>
            </a:r>
            <a:r>
              <a:rPr lang="zh-CN" altLang="en-US" sz="2000" dirty="0">
                <a:solidFill>
                  <a:srgbClr val="FF0000"/>
                </a:solidFill>
                <a:latin typeface="微软雅黑" panose="020B0503020204020204" pitchFamily="34" charset="-122"/>
                <a:ea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rPr>
              <a:t>x0,x1,0”</a:t>
            </a:r>
            <a:r>
              <a:rPr lang="zh-CN" altLang="en-US" sz="2000" dirty="0">
                <a:solidFill>
                  <a:schemeClr val="tx1"/>
                </a:solidFill>
                <a:latin typeface="微软雅黑" panose="020B0503020204020204" pitchFamily="34" charset="-122"/>
                <a:ea typeface="微软雅黑" panose="020B0503020204020204" pitchFamily="34" charset="-122"/>
              </a:rPr>
              <a:t>可实现过程调用的返回。</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defRPr/>
            </a:pPr>
            <a:r>
              <a:rPr lang="en-US" altLang="zh-CN" sz="2000" dirty="0">
                <a:solidFill>
                  <a:srgbClr val="C00000"/>
                </a:solidFill>
                <a:latin typeface="微软雅黑" panose="020B0503020204020204" pitchFamily="34" charset="-122"/>
                <a:ea typeface="微软雅黑" panose="020B0503020204020204" pitchFamily="34" charset="-122"/>
              </a:rPr>
              <a:t>B</a:t>
            </a:r>
            <a:r>
              <a:rPr lang="zh-CN" altLang="en-US" sz="2000" dirty="0">
                <a:solidFill>
                  <a:srgbClr val="C00000"/>
                </a:solidFill>
                <a:latin typeface="微软雅黑" panose="020B0503020204020204" pitchFamily="34" charset="-122"/>
                <a:ea typeface="微软雅黑" panose="020B0503020204020204" pitchFamily="34" charset="-122"/>
              </a:rPr>
              <a:t>型</a:t>
            </a:r>
            <a:r>
              <a:rPr lang="zh-CN" altLang="en-US" sz="2000" dirty="0">
                <a:solidFill>
                  <a:schemeClr val="tx1"/>
                </a:solidFill>
                <a:latin typeface="微软雅黑" panose="020B0503020204020204" pitchFamily="34" charset="-122"/>
                <a:ea typeface="微软雅黑" panose="020B0503020204020204" pitchFamily="34" charset="-122"/>
              </a:rPr>
              <a:t>：皆为分支指令，其中，</a:t>
            </a:r>
            <a:r>
              <a:rPr lang="en-US" altLang="zh-CN" sz="2000" dirty="0" err="1">
                <a:solidFill>
                  <a:schemeClr val="tx1"/>
                </a:solidFill>
                <a:latin typeface="微软雅黑" panose="020B0503020204020204" pitchFamily="34" charset="-122"/>
                <a:ea typeface="微软雅黑" panose="020B0503020204020204" pitchFamily="34" charset="-122"/>
              </a:rPr>
              <a:t>bltu</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err="1">
                <a:solidFill>
                  <a:schemeClr val="tx1"/>
                </a:solidFill>
                <a:latin typeface="微软雅黑" panose="020B0503020204020204" pitchFamily="34" charset="-122"/>
                <a:ea typeface="微软雅黑" panose="020B0503020204020204" pitchFamily="34" charset="-122"/>
              </a:rPr>
              <a:t>bgeu</a:t>
            </a:r>
            <a:r>
              <a:rPr lang="zh-CN" altLang="en-US" sz="2000" dirty="0">
                <a:solidFill>
                  <a:schemeClr val="tx1"/>
                </a:solidFill>
                <a:latin typeface="微软雅黑" panose="020B0503020204020204" pitchFamily="34" charset="-122"/>
                <a:ea typeface="微软雅黑" panose="020B0503020204020204" pitchFamily="34" charset="-122"/>
              </a:rPr>
              <a:t>分别为</a:t>
            </a:r>
            <a:r>
              <a:rPr lang="zh-CN" altLang="en-US" sz="2000" dirty="0">
                <a:solidFill>
                  <a:srgbClr val="C00000"/>
                </a:solidFill>
                <a:latin typeface="微软雅黑" panose="020B0503020204020204" pitchFamily="34" charset="-122"/>
                <a:ea typeface="微软雅黑" panose="020B0503020204020204" pitchFamily="34" charset="-122"/>
              </a:rPr>
              <a:t>无符号数比较小于</a:t>
            </a:r>
            <a:r>
              <a:rPr lang="zh-CN" altLang="en-US"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大于等 </a:t>
            </a:r>
            <a:endParaRPr lang="en-US" altLang="zh-CN" sz="2000" dirty="0">
              <a:solidFill>
                <a:srgbClr val="C00000"/>
              </a:solidFill>
              <a:latin typeface="微软雅黑" panose="020B0503020204020204" pitchFamily="34" charset="-122"/>
              <a:ea typeface="微软雅黑" panose="020B0503020204020204" pitchFamily="34" charset="-122"/>
            </a:endParaRPr>
          </a:p>
          <a:p>
            <a:pPr eaLnBrk="0" hangingPunct="0">
              <a:lnSpc>
                <a:spcPts val="2800"/>
              </a:lnSpc>
              <a:spcBef>
                <a:spcPts val="600"/>
              </a:spcBef>
              <a:defRPr/>
            </a:pPr>
            <a:r>
              <a:rPr lang="en-US" altLang="zh-CN" sz="2000" dirty="0">
                <a:solidFill>
                  <a:srgbClr val="C00000"/>
                </a:solidFill>
                <a:latin typeface="微软雅黑" panose="020B0503020204020204" pitchFamily="34" charset="-122"/>
                <a:ea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rPr>
              <a:t>于</a:t>
            </a:r>
            <a:r>
              <a:rPr lang="zh-CN" altLang="en-US" sz="2000" dirty="0">
                <a:solidFill>
                  <a:schemeClr val="tx1"/>
                </a:solidFill>
                <a:latin typeface="微软雅黑" panose="020B0503020204020204" pitchFamily="34" charset="-122"/>
                <a:ea typeface="微软雅黑" panose="020B0503020204020204" pitchFamily="34" charset="-122"/>
              </a:rPr>
              <a:t>转移。转移目标地址</a:t>
            </a:r>
            <a:r>
              <a:rPr lang="en-US" altLang="zh-CN" sz="2000" dirty="0">
                <a:solidFill>
                  <a:schemeClr val="tx1"/>
                </a:solidFill>
                <a:latin typeface="微软雅黑" panose="020B0503020204020204" pitchFamily="34" charset="-122"/>
                <a:ea typeface="微软雅黑" panose="020B0503020204020204" pitchFamily="34" charset="-122"/>
              </a:rPr>
              <a:t>=PC+SEXT[</a:t>
            </a:r>
            <a:r>
              <a:rPr lang="en-US" altLang="zh-CN" sz="2000" dirty="0" err="1">
                <a:solidFill>
                  <a:schemeClr val="tx1"/>
                </a:solidFill>
                <a:latin typeface="微软雅黑" panose="020B0503020204020204" pitchFamily="34" charset="-122"/>
                <a:ea typeface="微软雅黑" panose="020B0503020204020204" pitchFamily="34" charset="-122"/>
              </a:rPr>
              <a:t>imm</a:t>
            </a:r>
            <a:r>
              <a:rPr lang="en-US" altLang="zh-CN" sz="2000" dirty="0">
                <a:solidFill>
                  <a:schemeClr val="tx1"/>
                </a:solidFill>
                <a:latin typeface="微软雅黑" panose="020B0503020204020204" pitchFamily="34" charset="-122"/>
                <a:ea typeface="微软雅黑" panose="020B0503020204020204" pitchFamily="34" charset="-122"/>
              </a:rPr>
              <a:t>[12:1]</a:t>
            </a:r>
            <a:r>
              <a:rPr lang="en-US" altLang="zh-CN" sz="2000" dirty="0">
                <a:solidFill>
                  <a:srgbClr val="FF0000"/>
                </a:solidFill>
                <a:latin typeface="微软雅黑" panose="020B0503020204020204" pitchFamily="34" charset="-122"/>
                <a:ea typeface="微软雅黑" panose="020B0503020204020204" pitchFamily="34" charset="-122"/>
              </a:rPr>
              <a:t>&lt;&lt;1</a:t>
            </a:r>
            <a:r>
              <a:rPr lang="en-US" altLang="zh-CN" sz="2000" dirty="0">
                <a:solidFill>
                  <a:schemeClr val="tx1"/>
                </a:solidFill>
                <a:latin typeface="微软雅黑" panose="020B0503020204020204" pitchFamily="34" charset="-122"/>
                <a:ea typeface="微软雅黑" panose="020B0503020204020204" pitchFamily="34" charset="-122"/>
              </a:rPr>
              <a:t>]</a:t>
            </a:r>
          </a:p>
          <a:p>
            <a:pPr eaLnBrk="0" hangingPunct="0">
              <a:lnSpc>
                <a:spcPts val="2800"/>
              </a:lnSpc>
              <a:spcBef>
                <a:spcPts val="600"/>
              </a:spcBef>
              <a:defRPr/>
            </a:pPr>
            <a:r>
              <a:rPr lang="en-US" altLang="zh-CN" sz="2000" dirty="0">
                <a:solidFill>
                  <a:srgbClr val="C00000"/>
                </a:solidFill>
                <a:latin typeface="微软雅黑" panose="020B0503020204020204" pitchFamily="34" charset="-122"/>
                <a:ea typeface="微软雅黑" panose="020B0503020204020204" pitchFamily="34" charset="-122"/>
              </a:rPr>
              <a:t>&lt;&lt;1</a:t>
            </a:r>
            <a:r>
              <a:rPr lang="en-US" altLang="zh-CN" sz="2000" dirty="0">
                <a:solidFill>
                  <a:schemeClr val="accent4"/>
                </a:solidFill>
                <a:latin typeface="微软雅黑" panose="020B0503020204020204" pitchFamily="34" charset="-122"/>
                <a:ea typeface="微软雅黑" panose="020B0503020204020204" pitchFamily="34" charset="-122"/>
              </a:rPr>
              <a:t>: </a:t>
            </a:r>
            <a:r>
              <a:rPr lang="zh-CN" altLang="en-US" sz="2000" dirty="0">
                <a:solidFill>
                  <a:schemeClr val="accent4"/>
                </a:solidFill>
                <a:latin typeface="微软雅黑" panose="020B0503020204020204" pitchFamily="34" charset="-122"/>
                <a:ea typeface="微软雅黑" panose="020B0503020204020204" pitchFamily="34" charset="-122"/>
              </a:rPr>
              <a:t>指令地址总是</a:t>
            </a:r>
            <a:r>
              <a:rPr lang="en-US" altLang="zh-CN" sz="2000" dirty="0">
                <a:solidFill>
                  <a:schemeClr val="accent4"/>
                </a:solidFill>
                <a:latin typeface="微软雅黑" panose="020B0503020204020204" pitchFamily="34" charset="-122"/>
                <a:ea typeface="微软雅黑" panose="020B0503020204020204" pitchFamily="34" charset="-122"/>
              </a:rPr>
              <a:t>2</a:t>
            </a:r>
            <a:r>
              <a:rPr lang="zh-CN" altLang="en-US" sz="2000" dirty="0">
                <a:solidFill>
                  <a:schemeClr val="accent4"/>
                </a:solidFill>
                <a:latin typeface="微软雅黑" panose="020B0503020204020204" pitchFamily="34" charset="-122"/>
                <a:ea typeface="微软雅黑" panose="020B0503020204020204" pitchFamily="34" charset="-122"/>
              </a:rPr>
              <a:t>的倍数（</a:t>
            </a:r>
            <a:r>
              <a:rPr lang="en-US" altLang="zh-CN" sz="2000" dirty="0">
                <a:solidFill>
                  <a:schemeClr val="accent4"/>
                </a:solidFill>
                <a:latin typeface="微软雅黑" panose="020B0503020204020204" pitchFamily="34" charset="-122"/>
                <a:ea typeface="微软雅黑" panose="020B0503020204020204" pitchFamily="34" charset="-122"/>
              </a:rPr>
              <a:t>RV32G</a:t>
            </a:r>
            <a:r>
              <a:rPr lang="zh-CN" altLang="en-US" sz="2000" dirty="0">
                <a:solidFill>
                  <a:schemeClr val="accent4"/>
                </a:solidFill>
                <a:latin typeface="微软雅黑" panose="020B0503020204020204" pitchFamily="34" charset="-122"/>
                <a:ea typeface="微软雅黑" panose="020B0503020204020204" pitchFamily="34" charset="-122"/>
              </a:rPr>
              <a:t>、</a:t>
            </a:r>
            <a:r>
              <a:rPr lang="en-US" altLang="zh-CN" sz="2000" dirty="0">
                <a:solidFill>
                  <a:schemeClr val="accent4"/>
                </a:solidFill>
                <a:latin typeface="微软雅黑" panose="020B0503020204020204" pitchFamily="34" charset="-122"/>
                <a:ea typeface="微软雅黑" panose="020B0503020204020204" pitchFamily="34" charset="-122"/>
              </a:rPr>
              <a:t>RV32C</a:t>
            </a:r>
            <a:r>
              <a:rPr lang="zh-CN" altLang="en-US" sz="2000" dirty="0">
                <a:solidFill>
                  <a:schemeClr val="accent4"/>
                </a:solidFill>
                <a:latin typeface="微软雅黑" panose="020B0503020204020204" pitchFamily="34" charset="-122"/>
                <a:ea typeface="微软雅黑" panose="020B0503020204020204" pitchFamily="34" charset="-122"/>
              </a:rPr>
              <a:t>指令分别为</a:t>
            </a:r>
            <a:r>
              <a:rPr lang="en-US" altLang="zh-CN" sz="2000" dirty="0">
                <a:solidFill>
                  <a:schemeClr val="accent4"/>
                </a:solidFill>
                <a:latin typeface="微软雅黑" panose="020B0503020204020204" pitchFamily="34" charset="-122"/>
                <a:ea typeface="微软雅黑" panose="020B0503020204020204" pitchFamily="34" charset="-122"/>
              </a:rPr>
              <a:t>4</a:t>
            </a:r>
            <a:r>
              <a:rPr lang="zh-CN" altLang="en-US" sz="2000" dirty="0">
                <a:solidFill>
                  <a:schemeClr val="accent4"/>
                </a:solidFill>
                <a:latin typeface="微软雅黑" panose="020B0503020204020204" pitchFamily="34" charset="-122"/>
                <a:ea typeface="微软雅黑" panose="020B0503020204020204" pitchFamily="34" charset="-122"/>
              </a:rPr>
              <a:t>、</a:t>
            </a:r>
            <a:r>
              <a:rPr lang="en-US" altLang="zh-CN" sz="2000" dirty="0">
                <a:solidFill>
                  <a:schemeClr val="accent4"/>
                </a:solidFill>
                <a:latin typeface="微软雅黑" panose="020B0503020204020204" pitchFamily="34" charset="-122"/>
                <a:ea typeface="微软雅黑" panose="020B0503020204020204" pitchFamily="34" charset="-122"/>
              </a:rPr>
              <a:t>2</a:t>
            </a:r>
            <a:r>
              <a:rPr lang="zh-CN" altLang="en-US" sz="2000" dirty="0">
                <a:solidFill>
                  <a:schemeClr val="accent4"/>
                </a:solidFill>
                <a:latin typeface="微软雅黑" panose="020B0503020204020204" pitchFamily="34" charset="-122"/>
                <a:ea typeface="微软雅黑" panose="020B0503020204020204" pitchFamily="34" charset="-122"/>
              </a:rPr>
              <a:t>字节长）</a:t>
            </a:r>
            <a:endParaRPr lang="en-US" altLang="zh-CN" sz="2000" dirty="0">
              <a:solidFill>
                <a:schemeClr val="accent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7" dur="500"/>
                                        <p:tgtEl>
                                          <p:spTgt spid="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22" dur="500"/>
                                        <p:tgtEl>
                                          <p:spTgt spid="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27" dur="500"/>
                                        <p:tgtEl>
                                          <p:spTgt spid="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randombar(horizontal)">
                                      <p:cBhvr>
                                        <p:cTn id="32" dur="500"/>
                                        <p:tgtEl>
                                          <p:spTgt spid="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randombar(horizontal)">
                                      <p:cBhvr>
                                        <p:cTn id="3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B3C46558-30E4-B6DF-B101-BF4E1DF5C00C}"/>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12" name="矩形 11">
            <a:extLst>
              <a:ext uri="{FF2B5EF4-FFF2-40B4-BE49-F238E27FC236}">
                <a16:creationId xmlns:a16="http://schemas.microsoft.com/office/drawing/2014/main" id="{42626347-9899-BB36-8AD9-B386B0DB1850}"/>
              </a:ext>
            </a:extLst>
          </p:cNvPr>
          <p:cNvSpPr>
            <a:spLocks noChangeArrowheads="1"/>
          </p:cNvSpPr>
          <p:nvPr/>
        </p:nvSpPr>
        <p:spPr bwMode="auto">
          <a:xfrm>
            <a:off x="85725" y="633413"/>
            <a:ext cx="8826500" cy="42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zh-CN" altLang="en-US" sz="2000">
                <a:solidFill>
                  <a:srgbClr val="FF0000"/>
                </a:solidFill>
                <a:latin typeface="微软雅黑" panose="020B0503020204020204" pitchFamily="34" charset="-122"/>
                <a:ea typeface="微软雅黑" panose="020B0503020204020204" pitchFamily="34" charset="-122"/>
              </a:rPr>
              <a:t>举例：</a:t>
            </a:r>
            <a:r>
              <a:rPr lang="zh-CN" altLang="en-US" sz="2000">
                <a:solidFill>
                  <a:srgbClr val="0033CC"/>
                </a:solidFill>
                <a:latin typeface="微软雅黑" panose="020B0503020204020204" pitchFamily="34" charset="-122"/>
                <a:ea typeface="微软雅黑" panose="020B0503020204020204" pitchFamily="34" charset="-122"/>
              </a:rPr>
              <a:t>若</a:t>
            </a:r>
            <a:r>
              <a:rPr lang="en-US" altLang="zh-CN" sz="2000">
                <a:solidFill>
                  <a:srgbClr val="0033CC"/>
                </a:solidFill>
                <a:latin typeface="微软雅黑" panose="020B0503020204020204" pitchFamily="34" charset="-122"/>
                <a:ea typeface="微软雅黑" panose="020B0503020204020204" pitchFamily="34" charset="-122"/>
              </a:rPr>
              <a:t>int</a:t>
            </a:r>
            <a:r>
              <a:rPr lang="zh-CN" altLang="en-US" sz="2000">
                <a:solidFill>
                  <a:srgbClr val="0033CC"/>
                </a:solidFill>
                <a:latin typeface="微软雅黑" panose="020B0503020204020204" pitchFamily="34" charset="-122"/>
                <a:ea typeface="微软雅黑" panose="020B0503020204020204" pitchFamily="34" charset="-122"/>
              </a:rPr>
              <a:t>型变量</a:t>
            </a:r>
            <a:r>
              <a:rPr lang="en-US" altLang="zh-CN" sz="2000">
                <a:solidFill>
                  <a:srgbClr val="0033CC"/>
                </a:solidFill>
                <a:latin typeface="微软雅黑" panose="020B0503020204020204" pitchFamily="34" charset="-122"/>
                <a:ea typeface="微软雅黑" panose="020B0503020204020204" pitchFamily="34" charset="-122"/>
              </a:rPr>
              <a:t>x</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y</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z</a:t>
            </a:r>
            <a:r>
              <a:rPr lang="zh-CN" altLang="en-US" sz="2000">
                <a:solidFill>
                  <a:srgbClr val="0033CC"/>
                </a:solidFill>
                <a:latin typeface="微软雅黑" panose="020B0503020204020204" pitchFamily="34" charset="-122"/>
                <a:ea typeface="微软雅黑" panose="020B0503020204020204" pitchFamily="34" charset="-122"/>
              </a:rPr>
              <a:t>分别存放在寄存器</a:t>
            </a:r>
            <a:r>
              <a:rPr lang="en-US" altLang="zh-CN" sz="2000">
                <a:solidFill>
                  <a:srgbClr val="0033CC"/>
                </a:solidFill>
                <a:latin typeface="微软雅黑" panose="020B0503020204020204" pitchFamily="34" charset="-122"/>
                <a:ea typeface="微软雅黑" panose="020B0503020204020204" pitchFamily="34" charset="-122"/>
              </a:rPr>
              <a:t>x5</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x6</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x7</a:t>
            </a:r>
            <a:r>
              <a:rPr lang="zh-CN" altLang="en-US" sz="2000">
                <a:solidFill>
                  <a:srgbClr val="0033CC"/>
                </a:solidFill>
                <a:latin typeface="微软雅黑" panose="020B0503020204020204" pitchFamily="34" charset="-122"/>
                <a:ea typeface="微软雅黑" panose="020B0503020204020204" pitchFamily="34" charset="-122"/>
              </a:rPr>
              <a:t>中，写出</a:t>
            </a:r>
            <a:r>
              <a:rPr lang="en-US" altLang="zh-CN" sz="2000">
                <a:solidFill>
                  <a:srgbClr val="0033CC"/>
                </a:solidFill>
                <a:latin typeface="微软雅黑" panose="020B0503020204020204" pitchFamily="34" charset="-122"/>
                <a:ea typeface="微软雅黑" panose="020B0503020204020204" pitchFamily="34" charset="-122"/>
              </a:rPr>
              <a:t>C</a:t>
            </a:r>
            <a:r>
              <a:rPr lang="zh-CN" altLang="en-US" sz="2000">
                <a:solidFill>
                  <a:srgbClr val="0033CC"/>
                </a:solidFill>
                <a:latin typeface="微软雅黑" panose="020B0503020204020204" pitchFamily="34" charset="-122"/>
                <a:ea typeface="微软雅黑" panose="020B0503020204020204" pitchFamily="34" charset="-122"/>
              </a:rPr>
              <a:t>语句“</a:t>
            </a:r>
            <a:r>
              <a:rPr lang="en-US" altLang="zh-CN" sz="2000">
                <a:solidFill>
                  <a:srgbClr val="0033CC"/>
                </a:solidFill>
                <a:latin typeface="微软雅黑" panose="020B0503020204020204" pitchFamily="34" charset="-122"/>
                <a:ea typeface="微软雅黑" panose="020B0503020204020204" pitchFamily="34" charset="-122"/>
              </a:rPr>
              <a:t>z=x+y;”</a:t>
            </a:r>
            <a:r>
              <a:rPr lang="zh-CN" altLang="en-US" sz="2000">
                <a:solidFill>
                  <a:srgbClr val="0033CC"/>
                </a:solidFill>
                <a:latin typeface="微软雅黑" panose="020B0503020204020204" pitchFamily="34" charset="-122"/>
                <a:ea typeface="微软雅黑" panose="020B0503020204020204" pitchFamily="34" charset="-122"/>
              </a:rPr>
              <a:t>对应的</a:t>
            </a:r>
            <a:r>
              <a:rPr lang="en-US" altLang="zh-CN" sz="2000">
                <a:solidFill>
                  <a:srgbClr val="0033CC"/>
                </a:solidFill>
                <a:latin typeface="微软雅黑" panose="020B0503020204020204" pitchFamily="34" charset="-122"/>
                <a:ea typeface="微软雅黑" panose="020B0503020204020204" pitchFamily="34" charset="-122"/>
              </a:rPr>
              <a:t>RISC-V</a:t>
            </a:r>
            <a:r>
              <a:rPr lang="zh-CN" altLang="en-US" sz="2000">
                <a:solidFill>
                  <a:srgbClr val="0033CC"/>
                </a:solidFill>
                <a:latin typeface="微软雅黑" panose="020B0503020204020204" pitchFamily="34" charset="-122"/>
                <a:ea typeface="微软雅黑" panose="020B0503020204020204" pitchFamily="34" charset="-122"/>
              </a:rPr>
              <a:t>机器级代码，要求检测是否溢出。</a:t>
            </a: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3200"/>
              </a:lnSpc>
              <a:spcBef>
                <a:spcPts val="600"/>
              </a:spcBef>
            </a:pPr>
            <a:r>
              <a:rPr lang="zh-CN" altLang="en-US" sz="2000">
                <a:solidFill>
                  <a:schemeClr val="accent1"/>
                </a:solidFill>
                <a:latin typeface="微软雅黑" panose="020B0503020204020204" pitchFamily="34" charset="-122"/>
                <a:ea typeface="微软雅黑" panose="020B0503020204020204" pitchFamily="34" charset="-122"/>
              </a:rPr>
              <a:t>解：</a:t>
            </a:r>
            <a:r>
              <a:rPr lang="zh-CN" altLang="en-US" sz="2000">
                <a:solidFill>
                  <a:srgbClr val="0033CC"/>
                </a:solidFill>
                <a:latin typeface="微软雅黑" panose="020B0503020204020204" pitchFamily="34" charset="-122"/>
                <a:ea typeface="微软雅黑" panose="020B0503020204020204" pitchFamily="34" charset="-122"/>
              </a:rPr>
              <a:t>当</a:t>
            </a:r>
            <a:r>
              <a:rPr lang="en-US" altLang="zh-CN" sz="2000">
                <a:solidFill>
                  <a:srgbClr val="0033CC"/>
                </a:solidFill>
                <a:latin typeface="微软雅黑" panose="020B0503020204020204" pitchFamily="34" charset="-122"/>
                <a:ea typeface="微软雅黑" panose="020B0503020204020204" pitchFamily="34" charset="-122"/>
              </a:rPr>
              <a:t>x</a:t>
            </a:r>
            <a:r>
              <a:rPr lang="zh-CN" altLang="en-US" sz="2000">
                <a:solidFill>
                  <a:srgbClr val="0033CC"/>
                </a:solidFill>
                <a:latin typeface="微软雅黑" panose="020B0503020204020204" pitchFamily="34" charset="-122"/>
                <a:ea typeface="微软雅黑" panose="020B0503020204020204" pitchFamily="34" charset="-122"/>
              </a:rPr>
              <a:t>、</a:t>
            </a:r>
            <a:r>
              <a:rPr lang="en-US" altLang="zh-CN" sz="2000">
                <a:solidFill>
                  <a:srgbClr val="0033CC"/>
                </a:solidFill>
                <a:latin typeface="微软雅黑" panose="020B0503020204020204" pitchFamily="34" charset="-122"/>
                <a:ea typeface="微软雅黑" panose="020B0503020204020204" pitchFamily="34" charset="-122"/>
              </a:rPr>
              <a:t>y</a:t>
            </a:r>
            <a:r>
              <a:rPr lang="zh-CN" altLang="en-US" sz="2000">
                <a:solidFill>
                  <a:srgbClr val="0033CC"/>
                </a:solidFill>
                <a:latin typeface="微软雅黑" panose="020B0503020204020204" pitchFamily="34" charset="-122"/>
                <a:ea typeface="微软雅黑" panose="020B0503020204020204" pitchFamily="34" charset="-122"/>
              </a:rPr>
              <a:t>为</a:t>
            </a:r>
            <a:r>
              <a:rPr lang="en-US" altLang="zh-CN" sz="2000">
                <a:solidFill>
                  <a:srgbClr val="0033CC"/>
                </a:solidFill>
                <a:latin typeface="微软雅黑" panose="020B0503020204020204" pitchFamily="34" charset="-122"/>
                <a:ea typeface="微软雅黑" panose="020B0503020204020204" pitchFamily="34" charset="-122"/>
              </a:rPr>
              <a:t>int</a:t>
            </a:r>
            <a:r>
              <a:rPr lang="zh-CN" altLang="en-US" sz="2000">
                <a:solidFill>
                  <a:srgbClr val="0033CC"/>
                </a:solidFill>
                <a:latin typeface="微软雅黑" panose="020B0503020204020204" pitchFamily="34" charset="-122"/>
                <a:ea typeface="微软雅黑" panose="020B0503020204020204" pitchFamily="34" charset="-122"/>
              </a:rPr>
              <a:t>类型时，若“</a:t>
            </a:r>
            <a:r>
              <a:rPr lang="en-US" altLang="zh-CN" sz="2000">
                <a:solidFill>
                  <a:srgbClr val="0033CC"/>
                </a:solidFill>
                <a:latin typeface="微软雅黑" panose="020B0503020204020204" pitchFamily="34" charset="-122"/>
                <a:ea typeface="微软雅黑" panose="020B0503020204020204" pitchFamily="34" charset="-122"/>
              </a:rPr>
              <a:t>y&lt;0</a:t>
            </a:r>
            <a:r>
              <a:rPr lang="zh-CN" altLang="en-US" sz="2000">
                <a:solidFill>
                  <a:srgbClr val="0033CC"/>
                </a:solidFill>
                <a:latin typeface="微软雅黑" panose="020B0503020204020204" pitchFamily="34" charset="-122"/>
                <a:ea typeface="微软雅黑" panose="020B0503020204020204" pitchFamily="34" charset="-122"/>
              </a:rPr>
              <a:t>且</a:t>
            </a:r>
            <a:r>
              <a:rPr lang="en-US" altLang="zh-CN" sz="2000">
                <a:solidFill>
                  <a:srgbClr val="0033CC"/>
                </a:solidFill>
                <a:latin typeface="微软雅黑" panose="020B0503020204020204" pitchFamily="34" charset="-122"/>
                <a:ea typeface="微软雅黑" panose="020B0503020204020204" pitchFamily="34" charset="-122"/>
              </a:rPr>
              <a:t>x+y≥x”</a:t>
            </a:r>
            <a:r>
              <a:rPr lang="zh-CN" altLang="en-US" sz="2000">
                <a:solidFill>
                  <a:srgbClr val="0033CC"/>
                </a:solidFill>
                <a:latin typeface="微软雅黑" panose="020B0503020204020204" pitchFamily="34" charset="-122"/>
                <a:ea typeface="微软雅黑" panose="020B0503020204020204" pitchFamily="34" charset="-122"/>
              </a:rPr>
              <a:t>或者 “</a:t>
            </a:r>
            <a:r>
              <a:rPr lang="en-US" altLang="zh-CN" sz="2000">
                <a:solidFill>
                  <a:srgbClr val="0033CC"/>
                </a:solidFill>
                <a:latin typeface="微软雅黑" panose="020B0503020204020204" pitchFamily="34" charset="-122"/>
                <a:ea typeface="微软雅黑" panose="020B0503020204020204" pitchFamily="34" charset="-122"/>
              </a:rPr>
              <a:t>y≥0</a:t>
            </a:r>
            <a:r>
              <a:rPr lang="zh-CN" altLang="en-US" sz="2000">
                <a:solidFill>
                  <a:srgbClr val="0033CC"/>
                </a:solidFill>
                <a:latin typeface="微软雅黑" panose="020B0503020204020204" pitchFamily="34" charset="-122"/>
                <a:ea typeface="微软雅黑" panose="020B0503020204020204" pitchFamily="34" charset="-122"/>
              </a:rPr>
              <a:t>且</a:t>
            </a:r>
            <a:r>
              <a:rPr lang="en-US" altLang="zh-CN" sz="2000">
                <a:solidFill>
                  <a:srgbClr val="0033CC"/>
                </a:solidFill>
                <a:latin typeface="微软雅黑" panose="020B0503020204020204" pitchFamily="34" charset="-122"/>
                <a:ea typeface="微软雅黑" panose="020B0503020204020204" pitchFamily="34" charset="-122"/>
              </a:rPr>
              <a:t>x+y&lt;x”</a:t>
            </a:r>
            <a:r>
              <a:rPr lang="zh-CN" altLang="en-US" sz="2000">
                <a:solidFill>
                  <a:srgbClr val="0033CC"/>
                </a:solidFill>
                <a:latin typeface="微软雅黑" panose="020B0503020204020204" pitchFamily="34" charset="-122"/>
                <a:ea typeface="微软雅黑" panose="020B0503020204020204" pitchFamily="34" charset="-122"/>
              </a:rPr>
              <a:t>，则</a:t>
            </a:r>
            <a:r>
              <a:rPr lang="en-US" altLang="zh-CN" sz="2000">
                <a:solidFill>
                  <a:srgbClr val="0033CC"/>
                </a:solidFill>
                <a:latin typeface="微软雅黑" panose="020B0503020204020204" pitchFamily="34" charset="-122"/>
                <a:ea typeface="微软雅黑" panose="020B0503020204020204" pitchFamily="34" charset="-122"/>
              </a:rPr>
              <a:t>x+y</a:t>
            </a:r>
            <a:r>
              <a:rPr lang="zh-CN" altLang="en-US" sz="2000">
                <a:solidFill>
                  <a:srgbClr val="0033CC"/>
                </a:solidFill>
                <a:latin typeface="微软雅黑" panose="020B0503020204020204" pitchFamily="34" charset="-122"/>
                <a:ea typeface="微软雅黑" panose="020B0503020204020204" pitchFamily="34" charset="-122"/>
              </a:rPr>
              <a:t>溢出。可通过</a:t>
            </a:r>
            <a:r>
              <a:rPr lang="en-US" altLang="zh-CN" sz="2000">
                <a:solidFill>
                  <a:srgbClr val="0033CC"/>
                </a:solidFill>
                <a:latin typeface="微软雅黑" panose="020B0503020204020204" pitchFamily="34" charset="-122"/>
                <a:ea typeface="微软雅黑" panose="020B0503020204020204" pitchFamily="34" charset="-122"/>
              </a:rPr>
              <a:t>slti</a:t>
            </a:r>
            <a:r>
              <a:rPr lang="zh-CN" altLang="en-US" sz="2000">
                <a:solidFill>
                  <a:srgbClr val="0033CC"/>
                </a:solidFill>
                <a:latin typeface="微软雅黑" panose="020B0503020204020204" pitchFamily="34" charset="-122"/>
                <a:ea typeface="微软雅黑" panose="020B0503020204020204" pitchFamily="34" charset="-122"/>
              </a:rPr>
              <a:t>指令对</a:t>
            </a:r>
            <a:r>
              <a:rPr lang="en-US" altLang="zh-CN" sz="2000">
                <a:solidFill>
                  <a:srgbClr val="0033CC"/>
                </a:solidFill>
                <a:latin typeface="微软雅黑" panose="020B0503020204020204" pitchFamily="34" charset="-122"/>
                <a:ea typeface="微软雅黑" panose="020B0503020204020204" pitchFamily="34" charset="-122"/>
              </a:rPr>
              <a:t>y</a:t>
            </a:r>
            <a:r>
              <a:rPr lang="zh-CN" altLang="en-US" sz="2000">
                <a:solidFill>
                  <a:srgbClr val="0033CC"/>
                </a:solidFill>
                <a:latin typeface="微软雅黑" panose="020B0503020204020204" pitchFamily="34" charset="-122"/>
                <a:ea typeface="微软雅黑" panose="020B0503020204020204" pitchFamily="34" charset="-122"/>
              </a:rPr>
              <a:t>与</a:t>
            </a:r>
            <a:r>
              <a:rPr lang="en-US" altLang="zh-CN" sz="2000">
                <a:solidFill>
                  <a:srgbClr val="0033CC"/>
                </a:solidFill>
                <a:latin typeface="微软雅黑" panose="020B0503020204020204" pitchFamily="34" charset="-122"/>
                <a:ea typeface="微软雅黑" panose="020B0503020204020204" pitchFamily="34" charset="-122"/>
              </a:rPr>
              <a:t>0</a:t>
            </a:r>
            <a:r>
              <a:rPr lang="zh-CN" altLang="en-US" sz="2000">
                <a:solidFill>
                  <a:srgbClr val="0033CC"/>
                </a:solidFill>
                <a:latin typeface="微软雅黑" panose="020B0503020204020204" pitchFamily="34" charset="-122"/>
                <a:ea typeface="微软雅黑" panose="020B0503020204020204" pitchFamily="34" charset="-122"/>
              </a:rPr>
              <a:t>进行比较。</a:t>
            </a:r>
            <a:endParaRPr lang="en-US" altLang="zh-CN" sz="2000">
              <a:solidFill>
                <a:srgbClr val="0033CC"/>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0000000 </a:t>
            </a:r>
            <a:r>
              <a:rPr lang="en-US" altLang="zh-CN" sz="1600">
                <a:solidFill>
                  <a:srgbClr val="FF0000"/>
                </a:solidFill>
                <a:latin typeface="微软雅黑" panose="020B0503020204020204" pitchFamily="34" charset="-122"/>
                <a:ea typeface="微软雅黑" panose="020B0503020204020204" pitchFamily="34" charset="-122"/>
              </a:rPr>
              <a:t>00110</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rgbClr val="C00000"/>
                </a:solidFill>
                <a:latin typeface="微软雅黑" panose="020B0503020204020204" pitchFamily="34" charset="-122"/>
                <a:ea typeface="微软雅黑" panose="020B0503020204020204" pitchFamily="34" charset="-122"/>
              </a:rPr>
              <a:t>00101</a:t>
            </a:r>
            <a:r>
              <a:rPr lang="en-US" altLang="zh-CN" sz="1600">
                <a:solidFill>
                  <a:srgbClr val="7030A0"/>
                </a:solidFill>
                <a:latin typeface="微软雅黑" panose="020B0503020204020204" pitchFamily="34" charset="-122"/>
                <a:ea typeface="微软雅黑" panose="020B0503020204020204" pitchFamily="34" charset="-122"/>
              </a:rPr>
              <a:t> 000 </a:t>
            </a:r>
            <a:r>
              <a:rPr lang="en-US" altLang="zh-CN" sz="1600">
                <a:solidFill>
                  <a:srgbClr val="3C7845"/>
                </a:solidFill>
                <a:latin typeface="微软雅黑" panose="020B0503020204020204" pitchFamily="34" charset="-122"/>
                <a:ea typeface="微软雅黑" panose="020B0503020204020204" pitchFamily="34" charset="-122"/>
              </a:rPr>
              <a:t>00111</a:t>
            </a:r>
            <a:r>
              <a:rPr lang="en-US" altLang="zh-CN" sz="1600">
                <a:solidFill>
                  <a:srgbClr val="7030A0"/>
                </a:solidFill>
                <a:latin typeface="微软雅黑" panose="020B0503020204020204" pitchFamily="34" charset="-122"/>
                <a:ea typeface="微软雅黑" panose="020B0503020204020204" pitchFamily="34" charset="-122"/>
              </a:rPr>
              <a:t> 0110011 add x7,x5,x6 #R[x7]←R[x5]+R[x6]</a:t>
            </a:r>
          </a:p>
          <a:p>
            <a:pPr eaLnBrk="0" hangingPunct="0">
              <a:lnSpc>
                <a:spcPts val="2800"/>
              </a:lnSpc>
              <a:spcBef>
                <a:spcPts val="600"/>
              </a:spcBef>
            </a:pPr>
            <a:r>
              <a:rPr lang="en-US" altLang="zh-CN" sz="1600">
                <a:solidFill>
                  <a:srgbClr val="FF0000"/>
                </a:solidFill>
                <a:latin typeface="微软雅黑" panose="020B0503020204020204" pitchFamily="34" charset="-122"/>
                <a:ea typeface="微软雅黑" panose="020B0503020204020204" pitchFamily="34" charset="-122"/>
              </a:rPr>
              <a:t>0000 0000 0000 </a:t>
            </a:r>
            <a:r>
              <a:rPr lang="en-US" altLang="zh-CN" sz="1600">
                <a:solidFill>
                  <a:srgbClr val="C00000"/>
                </a:solidFill>
                <a:latin typeface="微软雅黑" panose="020B0503020204020204" pitchFamily="34" charset="-122"/>
                <a:ea typeface="微软雅黑" panose="020B0503020204020204" pitchFamily="34" charset="-122"/>
              </a:rPr>
              <a:t>00110</a:t>
            </a:r>
            <a:r>
              <a:rPr lang="en-US" altLang="zh-CN" sz="1600">
                <a:solidFill>
                  <a:srgbClr val="7030A0"/>
                </a:solidFill>
                <a:latin typeface="微软雅黑" panose="020B0503020204020204" pitchFamily="34" charset="-122"/>
                <a:ea typeface="微软雅黑" panose="020B0503020204020204" pitchFamily="34" charset="-122"/>
              </a:rPr>
              <a:t> 010 </a:t>
            </a:r>
            <a:r>
              <a:rPr lang="en-US" altLang="zh-CN" sz="1600">
                <a:solidFill>
                  <a:srgbClr val="3C7845"/>
                </a:solidFill>
                <a:latin typeface="微软雅黑" panose="020B0503020204020204" pitchFamily="34" charset="-122"/>
                <a:ea typeface="微软雅黑" panose="020B0503020204020204" pitchFamily="34" charset="-122"/>
              </a:rPr>
              <a:t>11100</a:t>
            </a:r>
            <a:r>
              <a:rPr lang="en-US" altLang="zh-CN" sz="1600">
                <a:solidFill>
                  <a:srgbClr val="7030A0"/>
                </a:solidFill>
                <a:latin typeface="微软雅黑" panose="020B0503020204020204" pitchFamily="34" charset="-122"/>
                <a:ea typeface="微软雅黑" panose="020B0503020204020204" pitchFamily="34" charset="-122"/>
              </a:rPr>
              <a:t> 0010011 slti x28,x6,0 #</a:t>
            </a:r>
            <a:r>
              <a:rPr lang="zh-CN" altLang="en-US" sz="1600">
                <a:solidFill>
                  <a:srgbClr val="7030A0"/>
                </a:solidFill>
                <a:latin typeface="微软雅黑" panose="020B0503020204020204" pitchFamily="34" charset="-122"/>
                <a:ea typeface="微软雅黑" panose="020B0503020204020204" pitchFamily="34" charset="-122"/>
              </a:rPr>
              <a:t>若</a:t>
            </a:r>
            <a:r>
              <a:rPr lang="en-US" altLang="zh-CN" sz="1600">
                <a:solidFill>
                  <a:srgbClr val="7030A0"/>
                </a:solidFill>
                <a:latin typeface="微软雅黑" panose="020B0503020204020204" pitchFamily="34" charset="-122"/>
                <a:ea typeface="微软雅黑" panose="020B0503020204020204" pitchFamily="34" charset="-122"/>
              </a:rPr>
              <a:t>R[x6]&lt;0</a:t>
            </a:r>
            <a:r>
              <a:rPr lang="zh-CN" altLang="en-US" sz="1600">
                <a:solidFill>
                  <a:srgbClr val="7030A0"/>
                </a:solidFill>
                <a:latin typeface="微软雅黑" panose="020B0503020204020204" pitchFamily="34" charset="-122"/>
                <a:ea typeface="微软雅黑" panose="020B0503020204020204" pitchFamily="34" charset="-122"/>
              </a:rPr>
              <a:t>，则</a:t>
            </a:r>
            <a:r>
              <a:rPr lang="en-US" altLang="zh-CN" sz="1600">
                <a:solidFill>
                  <a:srgbClr val="7030A0"/>
                </a:solidFill>
                <a:latin typeface="微软雅黑" panose="020B0503020204020204" pitchFamily="34" charset="-122"/>
                <a:ea typeface="微软雅黑" panose="020B0503020204020204" pitchFamily="34" charset="-122"/>
              </a:rPr>
              <a:t>R[x28]←1</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0000000 </a:t>
            </a:r>
            <a:r>
              <a:rPr lang="en-US" altLang="zh-CN" sz="1600">
                <a:solidFill>
                  <a:srgbClr val="FF0000"/>
                </a:solidFill>
                <a:latin typeface="微软雅黑" panose="020B0503020204020204" pitchFamily="34" charset="-122"/>
                <a:ea typeface="微软雅黑" panose="020B0503020204020204" pitchFamily="34" charset="-122"/>
              </a:rPr>
              <a:t>00101</a:t>
            </a:r>
            <a:r>
              <a:rPr lang="en-US" altLang="zh-CN" sz="1600">
                <a:solidFill>
                  <a:srgbClr val="C00000"/>
                </a:solidFill>
                <a:latin typeface="微软雅黑" panose="020B0503020204020204" pitchFamily="34" charset="-122"/>
                <a:ea typeface="微软雅黑" panose="020B0503020204020204" pitchFamily="34" charset="-122"/>
              </a:rPr>
              <a:t> 00111 </a:t>
            </a:r>
            <a:r>
              <a:rPr lang="en-US" altLang="zh-CN" sz="1600">
                <a:solidFill>
                  <a:srgbClr val="7030A0"/>
                </a:solidFill>
                <a:latin typeface="微软雅黑" panose="020B0503020204020204" pitchFamily="34" charset="-122"/>
                <a:ea typeface="微软雅黑" panose="020B0503020204020204" pitchFamily="34" charset="-122"/>
              </a:rPr>
              <a:t>010 </a:t>
            </a:r>
            <a:r>
              <a:rPr lang="en-US" altLang="zh-CN" sz="1600">
                <a:solidFill>
                  <a:srgbClr val="3C7845"/>
                </a:solidFill>
                <a:latin typeface="微软雅黑" panose="020B0503020204020204" pitchFamily="34" charset="-122"/>
                <a:ea typeface="微软雅黑" panose="020B0503020204020204" pitchFamily="34" charset="-122"/>
              </a:rPr>
              <a:t>11101</a:t>
            </a:r>
            <a:r>
              <a:rPr lang="en-US" altLang="zh-CN" sz="1600">
                <a:solidFill>
                  <a:srgbClr val="7030A0"/>
                </a:solidFill>
                <a:latin typeface="微软雅黑" panose="020B0503020204020204" pitchFamily="34" charset="-122"/>
                <a:ea typeface="微软雅黑" panose="020B0503020204020204" pitchFamily="34" charset="-122"/>
              </a:rPr>
              <a:t> 0110011 slt x29,x7,x5 #</a:t>
            </a:r>
            <a:r>
              <a:rPr lang="zh-CN" altLang="en-US" sz="1600">
                <a:solidFill>
                  <a:srgbClr val="7030A0"/>
                </a:solidFill>
                <a:latin typeface="微软雅黑" panose="020B0503020204020204" pitchFamily="34" charset="-122"/>
                <a:ea typeface="微软雅黑" panose="020B0503020204020204" pitchFamily="34" charset="-122"/>
              </a:rPr>
              <a:t>若</a:t>
            </a:r>
            <a:r>
              <a:rPr lang="en-US" altLang="zh-CN" sz="1600">
                <a:solidFill>
                  <a:srgbClr val="7030A0"/>
                </a:solidFill>
                <a:latin typeface="微软雅黑" panose="020B0503020204020204" pitchFamily="34" charset="-122"/>
                <a:ea typeface="微软雅黑" panose="020B0503020204020204" pitchFamily="34" charset="-122"/>
              </a:rPr>
              <a:t>R[x7]&lt;R[x5]</a:t>
            </a:r>
            <a:r>
              <a:rPr lang="zh-CN" altLang="en-US" sz="1600">
                <a:solidFill>
                  <a:srgbClr val="7030A0"/>
                </a:solidFill>
                <a:latin typeface="微软雅黑" panose="020B0503020204020204" pitchFamily="34" charset="-122"/>
                <a:ea typeface="微软雅黑" panose="020B0503020204020204" pitchFamily="34" charset="-122"/>
              </a:rPr>
              <a:t> 则</a:t>
            </a:r>
            <a:r>
              <a:rPr lang="en-US" altLang="zh-CN" sz="1600">
                <a:solidFill>
                  <a:srgbClr val="7030A0"/>
                </a:solidFill>
                <a:latin typeface="微软雅黑" panose="020B0503020204020204" pitchFamily="34" charset="-122"/>
                <a:ea typeface="微软雅黑" panose="020B0503020204020204" pitchFamily="34" charset="-122"/>
              </a:rPr>
              <a:t>R[x29]←1</a:t>
            </a:r>
          </a:p>
          <a:p>
            <a:pPr eaLnBrk="0" hangingPunct="0">
              <a:lnSpc>
                <a:spcPts val="2800"/>
              </a:lnSpc>
              <a:spcBef>
                <a:spcPts val="600"/>
              </a:spcBef>
            </a:pPr>
            <a:r>
              <a:rPr lang="en-US" altLang="zh-CN" sz="1600">
                <a:solidFill>
                  <a:srgbClr val="3C7845"/>
                </a:solidFill>
                <a:latin typeface="微软雅黑" panose="020B0503020204020204" pitchFamily="34" charset="-122"/>
                <a:ea typeface="微软雅黑" panose="020B0503020204020204" pitchFamily="34" charset="-122"/>
              </a:rPr>
              <a:t>0000010</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chemeClr val="accent1"/>
                </a:solidFill>
                <a:latin typeface="微软雅黑" panose="020B0503020204020204" pitchFamily="34" charset="-122"/>
                <a:ea typeface="微软雅黑" panose="020B0503020204020204" pitchFamily="34" charset="-122"/>
              </a:rPr>
              <a:t>11101</a:t>
            </a:r>
            <a:r>
              <a:rPr lang="en-US" altLang="zh-CN" sz="1600">
                <a:solidFill>
                  <a:srgbClr val="7030A0"/>
                </a:solidFill>
                <a:latin typeface="微软雅黑" panose="020B0503020204020204" pitchFamily="34" charset="-122"/>
                <a:ea typeface="微软雅黑" panose="020B0503020204020204" pitchFamily="34" charset="-122"/>
              </a:rPr>
              <a:t> </a:t>
            </a:r>
            <a:r>
              <a:rPr lang="en-US" altLang="zh-CN" sz="1600">
                <a:solidFill>
                  <a:srgbClr val="C00000"/>
                </a:solidFill>
                <a:latin typeface="微软雅黑" panose="020B0503020204020204" pitchFamily="34" charset="-122"/>
                <a:ea typeface="微软雅黑" panose="020B0503020204020204" pitchFamily="34" charset="-122"/>
              </a:rPr>
              <a:t>11100</a:t>
            </a:r>
            <a:r>
              <a:rPr lang="en-US" altLang="zh-CN" sz="1600">
                <a:solidFill>
                  <a:srgbClr val="7030A0"/>
                </a:solidFill>
                <a:latin typeface="微软雅黑" panose="020B0503020204020204" pitchFamily="34" charset="-122"/>
                <a:ea typeface="微软雅黑" panose="020B0503020204020204" pitchFamily="34" charset="-122"/>
              </a:rPr>
              <a:t> 001 </a:t>
            </a:r>
            <a:r>
              <a:rPr lang="en-US" altLang="zh-CN" sz="1600">
                <a:solidFill>
                  <a:srgbClr val="3C7845"/>
                </a:solidFill>
                <a:latin typeface="微软雅黑" panose="020B0503020204020204" pitchFamily="34" charset="-122"/>
                <a:ea typeface="微软雅黑" panose="020B0503020204020204" pitchFamily="34" charset="-122"/>
              </a:rPr>
              <a:t>10000</a:t>
            </a:r>
            <a:r>
              <a:rPr lang="en-US" altLang="zh-CN" sz="1600">
                <a:solidFill>
                  <a:srgbClr val="7030A0"/>
                </a:solidFill>
                <a:latin typeface="微软雅黑" panose="020B0503020204020204" pitchFamily="34" charset="-122"/>
                <a:ea typeface="微软雅黑" panose="020B0503020204020204" pitchFamily="34" charset="-122"/>
              </a:rPr>
              <a:t> 0110011 bne x28,x29,overflew #</a:t>
            </a:r>
            <a:r>
              <a:rPr lang="zh-CN" altLang="en-US" sz="1600">
                <a:solidFill>
                  <a:srgbClr val="7030A0"/>
                </a:solidFill>
                <a:latin typeface="微软雅黑" panose="020B0503020204020204" pitchFamily="34" charset="-122"/>
                <a:ea typeface="微软雅黑" panose="020B0503020204020204" pitchFamily="34" charset="-122"/>
              </a:rPr>
              <a:t>若</a:t>
            </a:r>
            <a:r>
              <a:rPr lang="en-US" altLang="zh-CN" sz="1600">
                <a:solidFill>
                  <a:srgbClr val="7030A0"/>
                </a:solidFill>
                <a:latin typeface="微软雅黑" panose="020B0503020204020204" pitchFamily="34" charset="-122"/>
                <a:ea typeface="微软雅黑" panose="020B0503020204020204" pitchFamily="34" charset="-122"/>
              </a:rPr>
              <a:t>R[x28]≠R[x29] </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  ……                                                                                                      #</a:t>
            </a:r>
            <a:r>
              <a:rPr lang="zh-CN" altLang="en-US" sz="1600">
                <a:solidFill>
                  <a:srgbClr val="7030A0"/>
                </a:solidFill>
                <a:latin typeface="微软雅黑" panose="020B0503020204020204" pitchFamily="34" charset="-122"/>
                <a:ea typeface="微软雅黑" panose="020B0503020204020204" pitchFamily="34" charset="-122"/>
              </a:rPr>
              <a:t>则转溢出处理</a:t>
            </a:r>
          </a:p>
          <a:p>
            <a:pPr eaLnBrk="0" hangingPunct="0">
              <a:lnSpc>
                <a:spcPts val="2800"/>
              </a:lnSpc>
              <a:spcBef>
                <a:spcPts val="600"/>
              </a:spcBef>
            </a:pPr>
            <a:r>
              <a:rPr lang="en-US" altLang="zh-CN" sz="1600">
                <a:solidFill>
                  <a:srgbClr val="7030A0"/>
                </a:solidFill>
                <a:latin typeface="微软雅黑" panose="020B0503020204020204" pitchFamily="34" charset="-122"/>
                <a:ea typeface="微软雅黑" panose="020B0503020204020204" pitchFamily="34" charset="-122"/>
              </a:rPr>
              <a:t>overflew:</a:t>
            </a:r>
          </a:p>
        </p:txBody>
      </p:sp>
      <p:sp>
        <p:nvSpPr>
          <p:cNvPr id="4" name="矩形 3">
            <a:extLst>
              <a:ext uri="{FF2B5EF4-FFF2-40B4-BE49-F238E27FC236}">
                <a16:creationId xmlns:a16="http://schemas.microsoft.com/office/drawing/2014/main" id="{F7582427-27B9-7896-9CCC-A2A859C485AD}"/>
              </a:ext>
            </a:extLst>
          </p:cNvPr>
          <p:cNvSpPr/>
          <p:nvPr/>
        </p:nvSpPr>
        <p:spPr>
          <a:xfrm>
            <a:off x="230188" y="5264150"/>
            <a:ext cx="8826500" cy="1630363"/>
          </a:xfrm>
          <a:prstGeom prst="rect">
            <a:avLst/>
          </a:prstGeom>
        </p:spPr>
        <p:txBody>
          <a:bodyPr>
            <a:spAutoFit/>
          </a:bodyPr>
          <a:lstStyle/>
          <a:p>
            <a:pPr eaLnBrk="0" hangingPunct="0">
              <a:lnSpc>
                <a:spcPts val="3000"/>
              </a:lnSpc>
              <a:defRPr/>
            </a:pPr>
            <a:r>
              <a:rPr lang="zh-CN" altLang="en-US" sz="1900" dirty="0">
                <a:solidFill>
                  <a:schemeClr val="tx1"/>
                </a:solidFill>
                <a:latin typeface="微软雅黑" panose="020B0503020204020204" pitchFamily="34" charset="-122"/>
                <a:ea typeface="微软雅黑" panose="020B0503020204020204" pitchFamily="34" charset="-122"/>
              </a:rPr>
              <a:t>假定标号为</a:t>
            </a:r>
            <a:r>
              <a:rPr lang="en-US" altLang="zh-CN" sz="1900" dirty="0">
                <a:solidFill>
                  <a:schemeClr val="tx1"/>
                </a:solidFill>
                <a:latin typeface="微软雅黑" panose="020B0503020204020204" pitchFamily="34" charset="-122"/>
                <a:ea typeface="微软雅黑" panose="020B0503020204020204" pitchFamily="34" charset="-122"/>
              </a:rPr>
              <a:t>overflew</a:t>
            </a:r>
            <a:r>
              <a:rPr lang="zh-CN" altLang="en-US" sz="1900" dirty="0">
                <a:solidFill>
                  <a:schemeClr val="tx1"/>
                </a:solidFill>
                <a:latin typeface="微软雅黑" panose="020B0503020204020204" pitchFamily="34" charset="-122"/>
                <a:ea typeface="微软雅黑" panose="020B0503020204020204" pitchFamily="34" charset="-122"/>
              </a:rPr>
              <a:t>的指令与“</a:t>
            </a:r>
            <a:r>
              <a:rPr lang="en-US" altLang="zh-CN" sz="1900" dirty="0" err="1">
                <a:solidFill>
                  <a:schemeClr val="tx1"/>
                </a:solidFill>
                <a:latin typeface="微软雅黑" panose="020B0503020204020204" pitchFamily="34" charset="-122"/>
                <a:ea typeface="微软雅黑" panose="020B0503020204020204" pitchFamily="34" charset="-122"/>
              </a:rPr>
              <a:t>bne</a:t>
            </a:r>
            <a:r>
              <a:rPr lang="en-US" altLang="zh-CN" sz="1900" dirty="0">
                <a:solidFill>
                  <a:schemeClr val="tx1"/>
                </a:solidFill>
                <a:latin typeface="微软雅黑" panose="020B0503020204020204" pitchFamily="34" charset="-122"/>
                <a:ea typeface="微软雅黑" panose="020B0503020204020204" pitchFamily="34" charset="-122"/>
              </a:rPr>
              <a:t> x28, x29, overflew”</a:t>
            </a:r>
            <a:r>
              <a:rPr lang="zh-CN" altLang="en-US" sz="1900" dirty="0">
                <a:solidFill>
                  <a:schemeClr val="tx1"/>
                </a:solidFill>
                <a:latin typeface="微软雅黑" panose="020B0503020204020204" pitchFamily="34" charset="-122"/>
                <a:ea typeface="微软雅黑" panose="020B0503020204020204" pitchFamily="34" charset="-122"/>
              </a:rPr>
              <a:t>之间相距</a:t>
            </a:r>
            <a:r>
              <a:rPr lang="en-US" altLang="zh-CN" sz="1900" dirty="0">
                <a:solidFill>
                  <a:schemeClr val="accent1"/>
                </a:solidFill>
                <a:latin typeface="微软雅黑" panose="020B0503020204020204" pitchFamily="34" charset="-122"/>
                <a:ea typeface="微软雅黑" panose="020B0503020204020204" pitchFamily="34" charset="-122"/>
              </a:rPr>
              <a:t>20</a:t>
            </a:r>
            <a:r>
              <a:rPr lang="zh-CN" altLang="en-US" sz="1900" dirty="0">
                <a:solidFill>
                  <a:schemeClr val="accent1"/>
                </a:solidFill>
                <a:latin typeface="微软雅黑" panose="020B0503020204020204" pitchFamily="34" charset="-122"/>
                <a:ea typeface="微软雅黑" panose="020B0503020204020204" pitchFamily="34" charset="-122"/>
              </a:rPr>
              <a:t>条指令</a:t>
            </a:r>
            <a:r>
              <a:rPr lang="zh-CN" altLang="en-US" sz="1900" dirty="0">
                <a:solidFill>
                  <a:schemeClr val="tx1"/>
                </a:solidFill>
                <a:latin typeface="微软雅黑" panose="020B0503020204020204" pitchFamily="34" charset="-122"/>
                <a:ea typeface="微软雅黑" panose="020B0503020204020204" pitchFamily="34" charset="-122"/>
              </a:rPr>
              <a:t>，每条指令</a:t>
            </a:r>
            <a:r>
              <a:rPr lang="en-US" altLang="zh-CN" sz="1900" dirty="0">
                <a:solidFill>
                  <a:schemeClr val="accent1"/>
                </a:solidFill>
                <a:latin typeface="微软雅黑" panose="020B0503020204020204" pitchFamily="34" charset="-122"/>
                <a:ea typeface="微软雅黑" panose="020B0503020204020204" pitchFamily="34" charset="-122"/>
              </a:rPr>
              <a:t>4</a:t>
            </a:r>
            <a:r>
              <a:rPr lang="zh-CN" altLang="en-US" sz="1900" dirty="0">
                <a:solidFill>
                  <a:schemeClr val="accent1"/>
                </a:solidFill>
                <a:latin typeface="微软雅黑" panose="020B0503020204020204" pitchFamily="34" charset="-122"/>
                <a:ea typeface="微软雅黑" panose="020B0503020204020204" pitchFamily="34" charset="-122"/>
              </a:rPr>
              <a:t>字节</a:t>
            </a:r>
            <a:r>
              <a:rPr lang="zh-CN" altLang="en-US" sz="1900" dirty="0">
                <a:solidFill>
                  <a:schemeClr val="tx1"/>
                </a:solidFill>
                <a:latin typeface="微软雅黑" panose="020B0503020204020204" pitchFamily="34" charset="-122"/>
                <a:ea typeface="微软雅黑" panose="020B0503020204020204" pitchFamily="34" charset="-122"/>
              </a:rPr>
              <a:t>，则“</a:t>
            </a:r>
            <a:r>
              <a:rPr lang="en-US" altLang="zh-CN" sz="1900" dirty="0" err="1">
                <a:solidFill>
                  <a:schemeClr val="tx1"/>
                </a:solidFill>
                <a:latin typeface="微软雅黑" panose="020B0503020204020204" pitchFamily="34" charset="-122"/>
                <a:ea typeface="微软雅黑" panose="020B0503020204020204" pitchFamily="34" charset="-122"/>
              </a:rPr>
              <a:t>bne</a:t>
            </a:r>
            <a:r>
              <a:rPr lang="en-US" altLang="zh-CN" sz="1900" dirty="0">
                <a:solidFill>
                  <a:schemeClr val="tx1"/>
                </a:solidFill>
                <a:latin typeface="微软雅黑" panose="020B0503020204020204" pitchFamily="34" charset="-122"/>
                <a:ea typeface="微软雅黑" panose="020B0503020204020204" pitchFamily="34" charset="-122"/>
              </a:rPr>
              <a:t> x28, x29, overflew”</a:t>
            </a:r>
            <a:r>
              <a:rPr lang="zh-CN" altLang="en-US" sz="1900" dirty="0">
                <a:solidFill>
                  <a:schemeClr val="tx1"/>
                </a:solidFill>
                <a:latin typeface="微软雅黑" panose="020B0503020204020204" pitchFamily="34" charset="-122"/>
                <a:ea typeface="微软雅黑" panose="020B0503020204020204" pitchFamily="34" charset="-122"/>
              </a:rPr>
              <a:t>指令中的</a:t>
            </a:r>
            <a:r>
              <a:rPr lang="zh-CN" altLang="en-US" sz="1900" dirty="0">
                <a:solidFill>
                  <a:schemeClr val="accent1"/>
                </a:solidFill>
                <a:latin typeface="微软雅黑" panose="020B0503020204020204" pitchFamily="34" charset="-122"/>
                <a:ea typeface="微软雅黑" panose="020B0503020204020204" pitchFamily="34" charset="-122"/>
              </a:rPr>
              <a:t>偏移量应为</a:t>
            </a:r>
            <a:r>
              <a:rPr lang="en-US" altLang="zh-CN" sz="1900" dirty="0">
                <a:solidFill>
                  <a:schemeClr val="accent1"/>
                </a:solidFill>
                <a:latin typeface="微软雅黑" panose="020B0503020204020204" pitchFamily="34" charset="-122"/>
                <a:ea typeface="微软雅黑" panose="020B0503020204020204" pitchFamily="34" charset="-122"/>
              </a:rPr>
              <a:t>80</a:t>
            </a:r>
            <a:r>
              <a:rPr lang="zh-CN" altLang="en-US" sz="1900" dirty="0">
                <a:solidFill>
                  <a:schemeClr val="tx1"/>
                </a:solidFill>
                <a:latin typeface="微软雅黑" panose="020B0503020204020204" pitchFamily="34" charset="-122"/>
                <a:ea typeface="微软雅黑" panose="020B0503020204020204" pitchFamily="34" charset="-122"/>
              </a:rPr>
              <a:t>，因此，指令中的</a:t>
            </a:r>
            <a:r>
              <a:rPr lang="zh-CN" altLang="en-US" sz="1900" dirty="0">
                <a:solidFill>
                  <a:schemeClr val="accent1"/>
                </a:solidFill>
                <a:latin typeface="微软雅黑" panose="020B0503020204020204" pitchFamily="34" charset="-122"/>
                <a:ea typeface="微软雅黑" panose="020B0503020204020204" pitchFamily="34" charset="-122"/>
              </a:rPr>
              <a:t>立即数为</a:t>
            </a:r>
            <a:r>
              <a:rPr lang="en-US" altLang="zh-CN" sz="1900" dirty="0">
                <a:solidFill>
                  <a:schemeClr val="accent1"/>
                </a:solidFill>
                <a:latin typeface="微软雅黑" panose="020B0503020204020204" pitchFamily="34" charset="-122"/>
                <a:ea typeface="微软雅黑" panose="020B0503020204020204" pitchFamily="34" charset="-122"/>
              </a:rPr>
              <a:t>40=</a:t>
            </a:r>
            <a:r>
              <a:rPr lang="en-US" altLang="zh-CN" sz="1900" dirty="0">
                <a:solidFill>
                  <a:srgbClr val="388A36"/>
                </a:solidFill>
                <a:latin typeface="微软雅黑" panose="020B0503020204020204" pitchFamily="34" charset="-122"/>
                <a:ea typeface="微软雅黑" panose="020B0503020204020204" pitchFamily="34" charset="-122"/>
              </a:rPr>
              <a:t>0</a:t>
            </a:r>
            <a:r>
              <a:rPr lang="en-US" altLang="zh-CN" sz="1900" dirty="0">
                <a:solidFill>
                  <a:schemeClr val="accent1">
                    <a:lumMod val="50000"/>
                  </a:schemeClr>
                </a:solidFill>
                <a:latin typeface="微软雅黑" panose="020B0503020204020204" pitchFamily="34" charset="-122"/>
                <a:ea typeface="微软雅黑" panose="020B0503020204020204" pitchFamily="34" charset="-122"/>
              </a:rPr>
              <a:t>0</a:t>
            </a:r>
            <a:r>
              <a:rPr lang="en-US" altLang="zh-CN" sz="1900" dirty="0">
                <a:solidFill>
                  <a:srgbClr val="0033CC"/>
                </a:solidFill>
                <a:latin typeface="微软雅黑" panose="020B0503020204020204" pitchFamily="34" charset="-122"/>
                <a:ea typeface="微软雅黑" panose="020B0503020204020204" pitchFamily="34" charset="-122"/>
              </a:rPr>
              <a:t>00 0010</a:t>
            </a:r>
            <a:r>
              <a:rPr lang="en-US" altLang="zh-CN" sz="1900" dirty="0">
                <a:solidFill>
                  <a:schemeClr val="accent1"/>
                </a:solidFill>
                <a:latin typeface="微软雅黑" panose="020B0503020204020204" pitchFamily="34" charset="-122"/>
                <a:ea typeface="微软雅黑" panose="020B0503020204020204" pitchFamily="34" charset="-122"/>
              </a:rPr>
              <a:t> 1000B</a:t>
            </a:r>
            <a:r>
              <a:rPr lang="zh-CN" altLang="en-US" sz="1900" dirty="0">
                <a:solidFill>
                  <a:schemeClr val="tx1"/>
                </a:solidFill>
                <a:latin typeface="微软雅黑" panose="020B0503020204020204" pitchFamily="34" charset="-122"/>
                <a:ea typeface="微软雅黑" panose="020B0503020204020204" pitchFamily="34" charset="-122"/>
              </a:rPr>
              <a:t>，按照</a:t>
            </a:r>
            <a:r>
              <a:rPr lang="en-US" altLang="zh-CN" sz="1900" dirty="0">
                <a:solidFill>
                  <a:schemeClr val="tx1"/>
                </a:solidFill>
                <a:latin typeface="微软雅黑" panose="020B0503020204020204" pitchFamily="34" charset="-122"/>
                <a:ea typeface="微软雅黑" panose="020B0503020204020204" pitchFamily="34" charset="-122"/>
              </a:rPr>
              <a:t>B-</a:t>
            </a:r>
            <a:r>
              <a:rPr lang="zh-CN" altLang="en-US" sz="1900" dirty="0">
                <a:solidFill>
                  <a:schemeClr val="tx1"/>
                </a:solidFill>
                <a:latin typeface="微软雅黑" panose="020B0503020204020204" pitchFamily="34" charset="-122"/>
                <a:ea typeface="微软雅黑" panose="020B0503020204020204" pitchFamily="34" charset="-122"/>
              </a:rPr>
              <a:t>型格式，该指令的机器码为“</a:t>
            </a:r>
            <a:r>
              <a:rPr lang="en-US" altLang="zh-CN" sz="1900" dirty="0">
                <a:solidFill>
                  <a:srgbClr val="388A36"/>
                </a:solidFill>
                <a:latin typeface="微软雅黑" panose="020B0503020204020204" pitchFamily="34" charset="-122"/>
                <a:ea typeface="微软雅黑" panose="020B0503020204020204" pitchFamily="34" charset="-122"/>
              </a:rPr>
              <a:t>0</a:t>
            </a:r>
            <a:r>
              <a:rPr lang="en-US" altLang="zh-CN" sz="1900" dirty="0">
                <a:solidFill>
                  <a:srgbClr val="0033CC"/>
                </a:solidFill>
                <a:latin typeface="微软雅黑" panose="020B0503020204020204" pitchFamily="34" charset="-122"/>
                <a:ea typeface="微软雅黑" panose="020B0503020204020204" pitchFamily="34" charset="-122"/>
              </a:rPr>
              <a:t>000010</a:t>
            </a:r>
            <a:r>
              <a:rPr lang="en-US" altLang="zh-CN" sz="1900" dirty="0">
                <a:solidFill>
                  <a:schemeClr val="tx1"/>
                </a:solidFill>
                <a:latin typeface="微软雅黑" panose="020B0503020204020204" pitchFamily="34" charset="-122"/>
                <a:ea typeface="微软雅黑" panose="020B0503020204020204" pitchFamily="34" charset="-122"/>
              </a:rPr>
              <a:t> 11101 11100 001 </a:t>
            </a:r>
            <a:r>
              <a:rPr lang="en-US" altLang="zh-CN" sz="1900" dirty="0">
                <a:solidFill>
                  <a:srgbClr val="FF0000"/>
                </a:solidFill>
                <a:latin typeface="微软雅黑" panose="020B0503020204020204" pitchFamily="34" charset="-122"/>
                <a:ea typeface="微软雅黑" panose="020B0503020204020204" pitchFamily="34" charset="-122"/>
              </a:rPr>
              <a:t>1000</a:t>
            </a:r>
            <a:r>
              <a:rPr lang="en-US" altLang="zh-CN" sz="1900" dirty="0">
                <a:solidFill>
                  <a:schemeClr val="accent1">
                    <a:lumMod val="50000"/>
                  </a:schemeClr>
                </a:solidFill>
                <a:latin typeface="微软雅黑" panose="020B0503020204020204" pitchFamily="34" charset="-122"/>
                <a:ea typeface="微软雅黑" panose="020B0503020204020204" pitchFamily="34" charset="-122"/>
              </a:rPr>
              <a:t>0</a:t>
            </a:r>
            <a:r>
              <a:rPr lang="en-US" altLang="zh-CN" sz="1900" dirty="0">
                <a:solidFill>
                  <a:schemeClr val="tx1"/>
                </a:solidFill>
                <a:latin typeface="微软雅黑" panose="020B0503020204020204" pitchFamily="34" charset="-122"/>
                <a:ea typeface="微软雅黑" panose="020B0503020204020204" pitchFamily="34" charset="-122"/>
              </a:rPr>
              <a:t> 1100011”</a:t>
            </a:r>
            <a:r>
              <a:rPr lang="zh-CN" altLang="en-US" sz="1900" dirty="0">
                <a:solidFill>
                  <a:schemeClr val="tx1"/>
                </a:solidFill>
                <a:latin typeface="微软雅黑" panose="020B0503020204020204" pitchFamily="34" charset="-122"/>
                <a:ea typeface="微软雅黑" panose="020B0503020204020204" pitchFamily="34" charset="-122"/>
              </a:rPr>
              <a:t>。</a:t>
            </a:r>
          </a:p>
        </p:txBody>
      </p:sp>
      <p:pic>
        <p:nvPicPr>
          <p:cNvPr id="82948" name="图片 1">
            <a:extLst>
              <a:ext uri="{FF2B5EF4-FFF2-40B4-BE49-F238E27FC236}">
                <a16:creationId xmlns:a16="http://schemas.microsoft.com/office/drawing/2014/main" id="{B13772E7-4122-2851-8DAF-3B7052AB0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88" y="4791075"/>
            <a:ext cx="78962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randombar(horizontal)">
                                      <p:cBhvr>
                                        <p:cTn id="12" dur="500"/>
                                        <p:tgtEl>
                                          <p:spTgt spid="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17" dur="500"/>
                                        <p:tgtEl>
                                          <p:spTgt spid="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randombar(horizontal)">
                                      <p:cBhvr>
                                        <p:cTn id="22" dur="500"/>
                                        <p:tgtEl>
                                          <p:spTgt spid="1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randombar(horizontal)">
                                      <p:cBhvr>
                                        <p:cTn id="27" dur="500"/>
                                        <p:tgtEl>
                                          <p:spTgt spid="1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randombar(horizontal)">
                                      <p:cBhvr>
                                        <p:cTn id="32" dur="500"/>
                                        <p:tgtEl>
                                          <p:spTgt spid="1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animEffect transition="in" filter="randombar(horizontal)">
                                      <p:cBhvr>
                                        <p:cTn id="37" dur="500"/>
                                        <p:tgtEl>
                                          <p:spTgt spid="1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nodeType="clickEffect">
                                  <p:stCondLst>
                                    <p:cond delay="0"/>
                                  </p:stCondLst>
                                  <p:childTnLst>
                                    <p:set>
                                      <p:cBhvr>
                                        <p:cTn id="41" dur="1" fill="hold">
                                          <p:stCondLst>
                                            <p:cond delay="0"/>
                                          </p:stCondLst>
                                        </p:cTn>
                                        <p:tgtEl>
                                          <p:spTgt spid="12">
                                            <p:txEl>
                                              <p:pRg st="7" end="7"/>
                                            </p:txEl>
                                          </p:spTgt>
                                        </p:tgtEl>
                                        <p:attrNameLst>
                                          <p:attrName>style.visibility</p:attrName>
                                        </p:attrNameLst>
                                      </p:cBhvr>
                                      <p:to>
                                        <p:strVal val="visible"/>
                                      </p:to>
                                    </p:set>
                                    <p:animEffect transition="in" filter="randombar(horizontal)">
                                      <p:cBhvr>
                                        <p:cTn id="42"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3">
            <a:extLst>
              <a:ext uri="{FF2B5EF4-FFF2-40B4-BE49-F238E27FC236}">
                <a16:creationId xmlns:a16="http://schemas.microsoft.com/office/drawing/2014/main" id="{0576FC50-40E6-1EEE-3AD3-F0820E6EDE80}"/>
              </a:ext>
            </a:extLst>
          </p:cNvPr>
          <p:cNvSpPr>
            <a:spLocks noGrp="1" noChangeArrowheads="1"/>
          </p:cNvSpPr>
          <p:nvPr>
            <p:ph idx="1"/>
          </p:nvPr>
        </p:nvSpPr>
        <p:spPr>
          <a:xfrm>
            <a:off x="63500" y="1162050"/>
            <a:ext cx="461963" cy="4184650"/>
          </a:xfrm>
        </p:spPr>
        <p:txBody>
          <a:bodyPr/>
          <a:lstStyle/>
          <a:p>
            <a:pPr marL="0" indent="0">
              <a:lnSpc>
                <a:spcPts val="2700"/>
              </a:lnSpc>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存储访问指令</a:t>
            </a:r>
            <a:endParaRPr lang="en-US" altLang="zh-CN">
              <a:latin typeface="微软雅黑" panose="020B0503020204020204" pitchFamily="34" charset="-122"/>
              <a:ea typeface="微软雅黑" panose="020B0503020204020204" pitchFamily="34" charset="-122"/>
            </a:endParaRPr>
          </a:p>
          <a:p>
            <a:pPr marL="457200" lvl="1" indent="0">
              <a:lnSpc>
                <a:spcPts val="2700"/>
              </a:lnSpc>
              <a:buFontTx/>
              <a:buNone/>
            </a:pPr>
            <a:endParaRPr lang="en-US" altLang="zh-CN">
              <a:solidFill>
                <a:srgbClr val="C00000"/>
              </a:solidFill>
              <a:latin typeface="微软雅黑" panose="020B0503020204020204" pitchFamily="34" charset="-122"/>
              <a:ea typeface="微软雅黑" panose="020B0503020204020204" pitchFamily="34" charset="-122"/>
            </a:endParaRPr>
          </a:p>
        </p:txBody>
      </p:sp>
      <p:sp>
        <p:nvSpPr>
          <p:cNvPr id="83970" name="Rectangle 2">
            <a:extLst>
              <a:ext uri="{FF2B5EF4-FFF2-40B4-BE49-F238E27FC236}">
                <a16:creationId xmlns:a16="http://schemas.microsoft.com/office/drawing/2014/main" id="{51C8B2EE-6952-B01E-3E8D-421B2D9C21BA}"/>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grpSp>
        <p:nvGrpSpPr>
          <p:cNvPr id="83971" name="组合 1">
            <a:extLst>
              <a:ext uri="{FF2B5EF4-FFF2-40B4-BE49-F238E27FC236}">
                <a16:creationId xmlns:a16="http://schemas.microsoft.com/office/drawing/2014/main" id="{DB9BFFA5-28CE-648F-3F41-4686A08D8AEB}"/>
              </a:ext>
            </a:extLst>
          </p:cNvPr>
          <p:cNvGrpSpPr>
            <a:grpSpLocks/>
          </p:cNvGrpSpPr>
          <p:nvPr/>
        </p:nvGrpSpPr>
        <p:grpSpPr bwMode="auto">
          <a:xfrm>
            <a:off x="468313" y="577850"/>
            <a:ext cx="8502650" cy="3619500"/>
            <a:chOff x="468313" y="577850"/>
            <a:chExt cx="8502650" cy="3038475"/>
          </a:xfrm>
        </p:grpSpPr>
        <p:pic>
          <p:nvPicPr>
            <p:cNvPr id="83972" name="图片 2">
              <a:extLst>
                <a:ext uri="{FF2B5EF4-FFF2-40B4-BE49-F238E27FC236}">
                  <a16:creationId xmlns:a16="http://schemas.microsoft.com/office/drawing/2014/main" id="{E5C77C2A-B316-AAD7-4C92-75E87FD9D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577850"/>
              <a:ext cx="8502650"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973" name="组合 3">
              <a:extLst>
                <a:ext uri="{FF2B5EF4-FFF2-40B4-BE49-F238E27FC236}">
                  <a16:creationId xmlns:a16="http://schemas.microsoft.com/office/drawing/2014/main" id="{1CD8F67F-192B-8A3C-1B3C-A830304109AA}"/>
                </a:ext>
              </a:extLst>
            </p:cNvPr>
            <p:cNvGrpSpPr>
              <a:grpSpLocks/>
            </p:cNvGrpSpPr>
            <p:nvPr/>
          </p:nvGrpSpPr>
          <p:grpSpPr bwMode="auto">
            <a:xfrm>
              <a:off x="525463" y="959911"/>
              <a:ext cx="7925517" cy="2656413"/>
              <a:chOff x="645449" y="-10613191"/>
              <a:chExt cx="7754795" cy="4346835"/>
            </a:xfrm>
          </p:grpSpPr>
          <p:sp>
            <p:nvSpPr>
              <p:cNvPr id="83974" name="矩形 1">
                <a:extLst>
                  <a:ext uri="{FF2B5EF4-FFF2-40B4-BE49-F238E27FC236}">
                    <a16:creationId xmlns:a16="http://schemas.microsoft.com/office/drawing/2014/main" id="{214A9261-0213-0943-384D-2BBA47F942B3}"/>
                  </a:ext>
                </a:extLst>
              </p:cNvPr>
              <p:cNvSpPr>
                <a:spLocks noChangeArrowheads="1"/>
              </p:cNvSpPr>
              <p:nvPr/>
            </p:nvSpPr>
            <p:spPr bwMode="auto">
              <a:xfrm>
                <a:off x="645449" y="-7939721"/>
                <a:ext cx="7754795" cy="1673365"/>
              </a:xfrm>
              <a:prstGeom prst="rect">
                <a:avLst/>
              </a:prstGeom>
              <a:solidFill>
                <a:srgbClr val="C000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83975" name="矩形 1">
                <a:extLst>
                  <a:ext uri="{FF2B5EF4-FFF2-40B4-BE49-F238E27FC236}">
                    <a16:creationId xmlns:a16="http://schemas.microsoft.com/office/drawing/2014/main" id="{8B5C66EC-986A-564D-AF67-8F19B50B9845}"/>
                  </a:ext>
                </a:extLst>
              </p:cNvPr>
              <p:cNvSpPr>
                <a:spLocks noChangeArrowheads="1"/>
              </p:cNvSpPr>
              <p:nvPr/>
            </p:nvSpPr>
            <p:spPr bwMode="auto">
              <a:xfrm>
                <a:off x="645449" y="-10613191"/>
                <a:ext cx="7754795" cy="2650339"/>
              </a:xfrm>
              <a:prstGeom prst="rect">
                <a:avLst/>
              </a:prstGeom>
              <a:solidFill>
                <a:schemeClr val="accent2">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lstStyle/>
              <a:p>
                <a:pPr eaLnBrk="0" hangingPunct="0"/>
                <a:endParaRPr lang="zh-CN" altLang="en-US"/>
              </a:p>
            </p:txBody>
          </p:sp>
        </p:grpSp>
      </p:grpSp>
      <p:sp>
        <p:nvSpPr>
          <p:cNvPr id="11" name="矩形 10">
            <a:extLst>
              <a:ext uri="{FF2B5EF4-FFF2-40B4-BE49-F238E27FC236}">
                <a16:creationId xmlns:a16="http://schemas.microsoft.com/office/drawing/2014/main" id="{2DFE3668-11E3-0A78-1C8C-ACDA6CA7C0CA}"/>
              </a:ext>
            </a:extLst>
          </p:cNvPr>
          <p:cNvSpPr>
            <a:spLocks noChangeArrowheads="1"/>
          </p:cNvSpPr>
          <p:nvPr/>
        </p:nvSpPr>
        <p:spPr bwMode="auto">
          <a:xfrm>
            <a:off x="293688" y="4392613"/>
            <a:ext cx="8756650"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I </a:t>
            </a:r>
            <a:r>
              <a:rPr lang="zh-CN" altLang="en-US" sz="2000">
                <a:solidFill>
                  <a:srgbClr val="C00000"/>
                </a:solidFill>
                <a:latin typeface="微软雅黑" panose="020B0503020204020204" pitchFamily="34" charset="-122"/>
                <a:ea typeface="微软雅黑" panose="020B0503020204020204" pitchFamily="34" charset="-122"/>
              </a:rPr>
              <a:t>型</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5</a:t>
            </a:r>
            <a:r>
              <a:rPr lang="zh-CN" altLang="en-US" sz="2000">
                <a:solidFill>
                  <a:schemeClr val="tx1"/>
                </a:solidFill>
                <a:latin typeface="微软雅黑" panose="020B0503020204020204" pitchFamily="34" charset="-122"/>
                <a:ea typeface="微软雅黑" panose="020B0503020204020204" pitchFamily="34" charset="-122"/>
              </a:rPr>
              <a:t>条取数（</a:t>
            </a:r>
            <a:r>
              <a:rPr lang="en-US" altLang="zh-CN" sz="2000">
                <a:solidFill>
                  <a:schemeClr val="tx1"/>
                </a:solidFill>
                <a:latin typeface="微软雅黑" panose="020B0503020204020204" pitchFamily="34" charset="-122"/>
                <a:ea typeface="微软雅黑" panose="020B0503020204020204" pitchFamily="34" charset="-122"/>
              </a:rPr>
              <a:t>Load</a:t>
            </a:r>
            <a:r>
              <a:rPr lang="zh-CN" altLang="en-US" sz="2000">
                <a:solidFill>
                  <a:schemeClr val="tx1"/>
                </a:solidFill>
                <a:latin typeface="微软雅黑" panose="020B0503020204020204" pitchFamily="34" charset="-122"/>
                <a:ea typeface="微软雅黑" panose="020B0503020204020204" pitchFamily="34" charset="-122"/>
              </a:rPr>
              <a:t>）指令。功能</a:t>
            </a:r>
            <a:r>
              <a:rPr lang="en-US" altLang="zh-CN" sz="2000">
                <a:solidFill>
                  <a:schemeClr val="tx1"/>
                </a:solidFill>
                <a:latin typeface="微软雅黑" panose="020B0503020204020204" pitchFamily="34" charset="-122"/>
                <a:ea typeface="微软雅黑" panose="020B0503020204020204" pitchFamily="34" charset="-122"/>
              </a:rPr>
              <a:t>: R[rd]←M[R[rs1]+SEXT[imm[12]]</a:t>
            </a:r>
            <a:r>
              <a:rPr lang="zh-CN" altLang="en-US" sz="2000">
                <a:solidFill>
                  <a:schemeClr val="tx1"/>
                </a:solidFill>
                <a:latin typeface="微软雅黑" panose="020B0503020204020204" pitchFamily="34" charset="-122"/>
                <a:ea typeface="微软雅黑" panose="020B0503020204020204" pitchFamily="34" charset="-122"/>
              </a:rPr>
              <a:t>。</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lbu</a:t>
            </a:r>
            <a:r>
              <a:rPr lang="zh-CN" altLang="en-US" sz="2000">
                <a:solidFill>
                  <a:srgbClr val="C00000"/>
                </a:solidFill>
                <a:latin typeface="微软雅黑" panose="020B0503020204020204" pitchFamily="34" charset="-122"/>
                <a:ea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rPr>
              <a:t>lhu</a:t>
            </a:r>
            <a:r>
              <a:rPr lang="zh-CN" altLang="en-US" sz="2000">
                <a:solidFill>
                  <a:schemeClr val="tx1"/>
                </a:solidFill>
                <a:latin typeface="微软雅黑" panose="020B0503020204020204" pitchFamily="34" charset="-122"/>
                <a:ea typeface="微软雅黑" panose="020B0503020204020204" pitchFamily="34" charset="-122"/>
              </a:rPr>
              <a:t>：分别为无符号字节、半字取，取出数据</a:t>
            </a:r>
            <a:r>
              <a:rPr lang="zh-CN" altLang="en-US" sz="2000">
                <a:solidFill>
                  <a:srgbClr val="FF0000"/>
                </a:solidFill>
                <a:latin typeface="微软雅黑" panose="020B0503020204020204" pitchFamily="34" charset="-122"/>
                <a:ea typeface="微软雅黑" panose="020B0503020204020204" pitchFamily="34" charset="-122"/>
              </a:rPr>
              <a:t>按</a:t>
            </a:r>
            <a:r>
              <a:rPr lang="en-US" altLang="zh-CN" sz="2000">
                <a:solidFill>
                  <a:srgbClr val="FF0000"/>
                </a:solidFill>
                <a:latin typeface="微软雅黑" panose="020B0503020204020204" pitchFamily="34" charset="-122"/>
                <a:ea typeface="微软雅黑" panose="020B0503020204020204" pitchFamily="34" charset="-122"/>
              </a:rPr>
              <a:t>0</a:t>
            </a:r>
            <a:r>
              <a:rPr lang="zh-CN" altLang="en-US" sz="2000">
                <a:solidFill>
                  <a:srgbClr val="FF0000"/>
                </a:solidFill>
                <a:latin typeface="微软雅黑" panose="020B0503020204020204" pitchFamily="34" charset="-122"/>
                <a:ea typeface="微软雅黑" panose="020B0503020204020204" pitchFamily="34" charset="-122"/>
              </a:rPr>
              <a:t>扩展</a:t>
            </a:r>
            <a:r>
              <a:rPr lang="zh-CN" altLang="en-US" sz="2000">
                <a:solidFill>
                  <a:schemeClr val="tx1"/>
                </a:solidFill>
                <a:latin typeface="微软雅黑" panose="020B0503020204020204" pitchFamily="34" charset="-122"/>
                <a:ea typeface="微软雅黑" panose="020B0503020204020204" pitchFamily="34" charset="-122"/>
              </a:rPr>
              <a:t>为</a:t>
            </a:r>
            <a:r>
              <a:rPr lang="en-US" altLang="zh-CN" sz="2000">
                <a:solidFill>
                  <a:schemeClr val="tx1"/>
                </a:solidFill>
                <a:latin typeface="微软雅黑" panose="020B0503020204020204" pitchFamily="34" charset="-122"/>
                <a:ea typeface="微软雅黑" panose="020B0503020204020204" pitchFamily="34" charset="-122"/>
              </a:rPr>
              <a:t>32</a:t>
            </a:r>
            <a:r>
              <a:rPr lang="zh-CN" altLang="en-US" sz="2000">
                <a:solidFill>
                  <a:schemeClr val="tx1"/>
                </a:solidFill>
                <a:latin typeface="微软雅黑" panose="020B0503020204020204" pitchFamily="34" charset="-122"/>
                <a:ea typeface="微软雅黑" panose="020B0503020204020204" pitchFamily="34" charset="-122"/>
              </a:rPr>
              <a:t>位，装入</a:t>
            </a:r>
            <a:r>
              <a:rPr lang="en-US" altLang="zh-CN" sz="2000">
                <a:solidFill>
                  <a:schemeClr val="tx1"/>
                </a:solidFill>
                <a:latin typeface="微软雅黑" panose="020B0503020204020204" pitchFamily="34" charset="-122"/>
                <a:ea typeface="微软雅黑" panose="020B0503020204020204" pitchFamily="34" charset="-122"/>
              </a:rPr>
              <a:t>rd</a:t>
            </a:r>
          </a:p>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S</a:t>
            </a:r>
            <a:r>
              <a:rPr lang="zh-CN" altLang="en-US" sz="2000">
                <a:solidFill>
                  <a:srgbClr val="C00000"/>
                </a:solidFill>
                <a:latin typeface="微软雅黑" panose="020B0503020204020204" pitchFamily="34" charset="-122"/>
                <a:ea typeface="微软雅黑" panose="020B0503020204020204" pitchFamily="34" charset="-122"/>
              </a:rPr>
              <a:t>型</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3</a:t>
            </a:r>
            <a:r>
              <a:rPr lang="zh-CN" altLang="en-US" sz="2000">
                <a:solidFill>
                  <a:schemeClr val="tx1"/>
                </a:solidFill>
                <a:latin typeface="微软雅黑" panose="020B0503020204020204" pitchFamily="34" charset="-122"/>
                <a:ea typeface="微软雅黑" panose="020B0503020204020204" pitchFamily="34" charset="-122"/>
              </a:rPr>
              <a:t>条存数（</a:t>
            </a:r>
            <a:r>
              <a:rPr lang="en-US" altLang="zh-CN" sz="2000">
                <a:solidFill>
                  <a:schemeClr val="tx1"/>
                </a:solidFill>
                <a:latin typeface="微软雅黑" panose="020B0503020204020204" pitchFamily="34" charset="-122"/>
                <a:ea typeface="微软雅黑" panose="020B0503020204020204" pitchFamily="34" charset="-122"/>
              </a:rPr>
              <a:t>Store</a:t>
            </a:r>
            <a:r>
              <a:rPr lang="zh-CN" altLang="en-US" sz="2000">
                <a:solidFill>
                  <a:schemeClr val="tx1"/>
                </a:solidFill>
                <a:latin typeface="微软雅黑" panose="020B0503020204020204" pitchFamily="34" charset="-122"/>
                <a:ea typeface="微软雅黑" panose="020B0503020204020204" pitchFamily="34" charset="-122"/>
              </a:rPr>
              <a:t>）指令。功能</a:t>
            </a:r>
            <a:r>
              <a:rPr lang="en-US" altLang="zh-CN" sz="2000">
                <a:solidFill>
                  <a:schemeClr val="tx1"/>
                </a:solidFill>
                <a:latin typeface="微软雅黑" panose="020B0503020204020204" pitchFamily="34" charset="-122"/>
                <a:ea typeface="微软雅黑" panose="020B0503020204020204" pitchFamily="34" charset="-122"/>
              </a:rPr>
              <a:t>: M[R[rs1]+SEXT[imm[12]]←R[rs2].</a:t>
            </a:r>
          </a:p>
          <a:p>
            <a:pPr eaLnBrk="0" hangingPunct="0">
              <a:lnSpc>
                <a:spcPts val="2800"/>
              </a:lnSpc>
              <a:spcBef>
                <a:spcPts val="600"/>
              </a:spcBef>
            </a:pPr>
            <a:r>
              <a:rPr lang="en-US" altLang="zh-CN" sz="2000">
                <a:solidFill>
                  <a:srgbClr val="A50021"/>
                </a:solidFill>
                <a:latin typeface="微软雅黑" panose="020B0503020204020204" pitchFamily="34" charset="-122"/>
                <a:ea typeface="微软雅黑" panose="020B0503020204020204" pitchFamily="34" charset="-122"/>
              </a:rPr>
              <a:t>sb</a:t>
            </a:r>
            <a:r>
              <a:rPr lang="zh-CN" altLang="en-US" sz="2000">
                <a:solidFill>
                  <a:srgbClr val="A50021"/>
                </a:solidFill>
                <a:latin typeface="微软雅黑" panose="020B0503020204020204" pitchFamily="34" charset="-122"/>
                <a:ea typeface="微软雅黑" panose="020B0503020204020204" pitchFamily="34" charset="-122"/>
              </a:rPr>
              <a:t>、</a:t>
            </a:r>
            <a:r>
              <a:rPr lang="en-US" altLang="zh-CN" sz="2000">
                <a:solidFill>
                  <a:srgbClr val="A50021"/>
                </a:solidFill>
                <a:latin typeface="微软雅黑" panose="020B0503020204020204" pitchFamily="34" charset="-122"/>
                <a:ea typeface="微软雅黑" panose="020B0503020204020204" pitchFamily="34" charset="-122"/>
              </a:rPr>
              <a:t>sh</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分别将</a:t>
            </a:r>
            <a:r>
              <a:rPr lang="en-US" altLang="zh-CN" sz="2000">
                <a:solidFill>
                  <a:srgbClr val="000000"/>
                </a:solidFill>
                <a:latin typeface="微软雅黑" panose="020B0503020204020204" pitchFamily="34" charset="-122"/>
                <a:ea typeface="微软雅黑" panose="020B0503020204020204" pitchFamily="34" charset="-122"/>
              </a:rPr>
              <a:t>rs2</a:t>
            </a:r>
            <a:r>
              <a:rPr lang="zh-CN" altLang="en-US" sz="2000">
                <a:solidFill>
                  <a:srgbClr val="000000"/>
                </a:solidFill>
                <a:latin typeface="微软雅黑" panose="020B0503020204020204" pitchFamily="34" charset="-122"/>
                <a:ea typeface="微软雅黑" panose="020B0503020204020204" pitchFamily="34" charset="-122"/>
              </a:rPr>
              <a:t>寄存器中</a:t>
            </a:r>
            <a:r>
              <a:rPr lang="zh-CN" altLang="en-US" sz="2000">
                <a:solidFill>
                  <a:schemeClr val="accent1"/>
                </a:solidFill>
                <a:latin typeface="微软雅黑" panose="020B0503020204020204" pitchFamily="34" charset="-122"/>
                <a:ea typeface="微软雅黑" panose="020B0503020204020204" pitchFamily="34" charset="-122"/>
              </a:rPr>
              <a:t>低</a:t>
            </a:r>
            <a:r>
              <a:rPr lang="en-US" altLang="zh-CN" sz="2000">
                <a:solidFill>
                  <a:schemeClr val="accent1"/>
                </a:solidFill>
                <a:latin typeface="微软雅黑" panose="020B0503020204020204" pitchFamily="34" charset="-122"/>
                <a:ea typeface="微软雅黑" panose="020B0503020204020204" pitchFamily="34" charset="-122"/>
              </a:rPr>
              <a:t>8</a:t>
            </a:r>
            <a:r>
              <a:rPr lang="zh-CN" altLang="en-US" sz="2000">
                <a:solidFill>
                  <a:schemeClr val="accent1"/>
                </a:solidFill>
                <a:latin typeface="微软雅黑" panose="020B0503020204020204" pitchFamily="34" charset="-122"/>
                <a:ea typeface="微软雅黑" panose="020B0503020204020204" pitchFamily="34" charset="-122"/>
              </a:rPr>
              <a:t>、</a:t>
            </a:r>
            <a:r>
              <a:rPr lang="en-US" altLang="zh-CN" sz="2000">
                <a:solidFill>
                  <a:schemeClr val="accent1"/>
                </a:solidFill>
                <a:latin typeface="微软雅黑" panose="020B0503020204020204" pitchFamily="34" charset="-122"/>
                <a:ea typeface="微软雅黑" panose="020B0503020204020204" pitchFamily="34" charset="-122"/>
              </a:rPr>
              <a:t>16</a:t>
            </a:r>
            <a:r>
              <a:rPr lang="zh-CN" altLang="en-US" sz="2000">
                <a:solidFill>
                  <a:schemeClr val="accent1"/>
                </a:solidFill>
                <a:latin typeface="微软雅黑" panose="020B0503020204020204" pitchFamily="34" charset="-122"/>
                <a:ea typeface="微软雅黑" panose="020B0503020204020204" pitchFamily="34" charset="-122"/>
              </a:rPr>
              <a:t>位</a:t>
            </a:r>
            <a:r>
              <a:rPr lang="zh-CN" altLang="en-US" sz="2000">
                <a:solidFill>
                  <a:srgbClr val="000000"/>
                </a:solidFill>
                <a:latin typeface="微软雅黑" panose="020B0503020204020204" pitchFamily="34" charset="-122"/>
                <a:ea typeface="微软雅黑" panose="020B0503020204020204" pitchFamily="34" charset="-122"/>
              </a:rPr>
              <a:t>写入存储单元中。</a:t>
            </a:r>
            <a:r>
              <a:rPr lang="en-US" altLang="zh-CN" sz="2000">
                <a:solidFill>
                  <a:srgbClr val="000000"/>
                </a:solidFill>
                <a:latin typeface="微软雅黑" panose="020B0503020204020204" pitchFamily="34" charset="-122"/>
                <a:ea typeface="微软雅黑" panose="020B0503020204020204" pitchFamily="34" charset="-122"/>
              </a:rPr>
              <a:t> </a:t>
            </a:r>
          </a:p>
          <a:p>
            <a:pPr eaLnBrk="0" hangingPunct="0">
              <a:lnSpc>
                <a:spcPts val="2800"/>
              </a:lnSpc>
              <a:spcBef>
                <a:spcPts val="600"/>
              </a:spcBef>
            </a:pPr>
            <a:r>
              <a:rPr lang="zh-CN" altLang="en-US" sz="2000">
                <a:solidFill>
                  <a:srgbClr val="A50021"/>
                </a:solidFill>
                <a:latin typeface="微软雅黑" panose="020B0503020204020204" pitchFamily="34" charset="-122"/>
                <a:ea typeface="微软雅黑" panose="020B0503020204020204" pitchFamily="34" charset="-122"/>
              </a:rPr>
              <a:t>汇编形式</a:t>
            </a:r>
            <a:r>
              <a:rPr lang="zh-CN" altLang="en-US" sz="2000">
                <a:solidFill>
                  <a:srgbClr val="000000"/>
                </a:solidFill>
                <a:latin typeface="微软雅黑" panose="020B0503020204020204" pitchFamily="34" charset="-122"/>
                <a:ea typeface="微软雅黑" panose="020B0503020204020204" pitchFamily="34" charset="-122"/>
              </a:rPr>
              <a:t>：存储地址可写成</a:t>
            </a:r>
            <a:r>
              <a:rPr lang="en-US" altLang="zh-CN" sz="2000">
                <a:solidFill>
                  <a:schemeClr val="accent1"/>
                </a:solidFill>
                <a:latin typeface="微软雅黑" panose="020B0503020204020204" pitchFamily="34" charset="-122"/>
                <a:ea typeface="微软雅黑" panose="020B0503020204020204" pitchFamily="34" charset="-122"/>
              </a:rPr>
              <a:t>imm12(rs1)</a:t>
            </a:r>
            <a:r>
              <a:rPr lang="zh-CN" altLang="en-US" sz="2000">
                <a:solidFill>
                  <a:srgbClr val="000000"/>
                </a:solidFill>
                <a:latin typeface="微软雅黑" panose="020B0503020204020204" pitchFamily="34" charset="-122"/>
                <a:ea typeface="微软雅黑" panose="020B0503020204020204" pitchFamily="34" charset="-122"/>
              </a:rPr>
              <a:t>。</a:t>
            </a:r>
            <a:endParaRPr lang="en-US" altLang="zh-CN" sz="200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7" dur="500"/>
                                        <p:tgtEl>
                                          <p:spTgt spid="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22" dur="500"/>
                                        <p:tgtEl>
                                          <p:spTgt spid="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2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图片 1">
            <a:extLst>
              <a:ext uri="{FF2B5EF4-FFF2-40B4-BE49-F238E27FC236}">
                <a16:creationId xmlns:a16="http://schemas.microsoft.com/office/drawing/2014/main" id="{EC03D926-23A6-8F0A-0FDA-6C9995AEF4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38" y="604838"/>
            <a:ext cx="85344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4" name="Rectangle 3">
            <a:extLst>
              <a:ext uri="{FF2B5EF4-FFF2-40B4-BE49-F238E27FC236}">
                <a16:creationId xmlns:a16="http://schemas.microsoft.com/office/drawing/2014/main" id="{FDCC6C0E-7CAF-332B-6107-BF5DE0E0E5AF}"/>
              </a:ext>
            </a:extLst>
          </p:cNvPr>
          <p:cNvSpPr>
            <a:spLocks noGrp="1" noChangeArrowheads="1"/>
          </p:cNvSpPr>
          <p:nvPr>
            <p:ph idx="1"/>
          </p:nvPr>
        </p:nvSpPr>
        <p:spPr>
          <a:xfrm>
            <a:off x="63500" y="1162050"/>
            <a:ext cx="461963" cy="4184650"/>
          </a:xfrm>
        </p:spPr>
        <p:txBody>
          <a:bodyPr/>
          <a:lstStyle/>
          <a:p>
            <a:pPr marL="0" indent="0">
              <a:lnSpc>
                <a:spcPts val="2700"/>
              </a:lnSpc>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系统控制类指令</a:t>
            </a:r>
            <a:endParaRPr lang="en-US" altLang="zh-CN">
              <a:latin typeface="微软雅黑" panose="020B0503020204020204" pitchFamily="34" charset="-122"/>
              <a:ea typeface="微软雅黑" panose="020B0503020204020204" pitchFamily="34" charset="-122"/>
            </a:endParaRPr>
          </a:p>
          <a:p>
            <a:pPr marL="457200" lvl="1" indent="0">
              <a:lnSpc>
                <a:spcPts val="2700"/>
              </a:lnSpc>
              <a:buFontTx/>
              <a:buNone/>
            </a:pPr>
            <a:endParaRPr lang="en-US" altLang="zh-CN">
              <a:solidFill>
                <a:srgbClr val="C00000"/>
              </a:solidFill>
              <a:latin typeface="微软雅黑" panose="020B0503020204020204" pitchFamily="34" charset="-122"/>
              <a:ea typeface="微软雅黑" panose="020B0503020204020204" pitchFamily="34" charset="-122"/>
            </a:endParaRPr>
          </a:p>
        </p:txBody>
      </p:sp>
      <p:sp>
        <p:nvSpPr>
          <p:cNvPr id="84995" name="Rectangle 2">
            <a:extLst>
              <a:ext uri="{FF2B5EF4-FFF2-40B4-BE49-F238E27FC236}">
                <a16:creationId xmlns:a16="http://schemas.microsoft.com/office/drawing/2014/main" id="{934B96AB-52FA-6166-FCCE-B1097A262771}"/>
              </a:ext>
            </a:extLst>
          </p:cNvPr>
          <p:cNvSpPr>
            <a:spLocks noGrp="1" noChangeArrowheads="1"/>
          </p:cNvSpPr>
          <p:nvPr>
            <p:ph type="title"/>
          </p:nvPr>
        </p:nvSpPr>
        <p:spPr>
          <a:xfrm>
            <a:off x="1293813" y="109538"/>
            <a:ext cx="6556375" cy="373062"/>
          </a:xfrm>
        </p:spPr>
        <p:txBody>
          <a:bodyPr/>
          <a:lstStyle/>
          <a:p>
            <a:r>
              <a:rPr lang="en-US" altLang="zh-CN">
                <a:ea typeface="宋体" panose="02010600030101010101" pitchFamily="2" charset="-122"/>
              </a:rPr>
              <a:t>RISC-V</a:t>
            </a:r>
            <a:r>
              <a:rPr lang="zh-CN" altLang="en-US">
                <a:ea typeface="宋体" panose="02010600030101010101" pitchFamily="2" charset="-122"/>
              </a:rPr>
              <a:t>基础整数指令集（</a:t>
            </a:r>
            <a:r>
              <a:rPr lang="en-US" altLang="zh-CN">
                <a:ea typeface="宋体" panose="02010600030101010101" pitchFamily="2" charset="-122"/>
              </a:rPr>
              <a:t>RV32I</a:t>
            </a:r>
            <a:r>
              <a:rPr lang="zh-CN" altLang="en-US">
                <a:ea typeface="宋体" panose="02010600030101010101" pitchFamily="2" charset="-122"/>
              </a:rPr>
              <a:t>）</a:t>
            </a:r>
          </a:p>
        </p:txBody>
      </p:sp>
      <p:sp>
        <p:nvSpPr>
          <p:cNvPr id="11" name="矩形 10">
            <a:extLst>
              <a:ext uri="{FF2B5EF4-FFF2-40B4-BE49-F238E27FC236}">
                <a16:creationId xmlns:a16="http://schemas.microsoft.com/office/drawing/2014/main" id="{D4710A5F-179B-B746-219D-F27E46D7B20A}"/>
              </a:ext>
            </a:extLst>
          </p:cNvPr>
          <p:cNvSpPr>
            <a:spLocks noChangeArrowheads="1"/>
          </p:cNvSpPr>
          <p:nvPr/>
        </p:nvSpPr>
        <p:spPr bwMode="auto">
          <a:xfrm>
            <a:off x="293688" y="4392613"/>
            <a:ext cx="875665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fence</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RISC-V</a:t>
            </a:r>
            <a:r>
              <a:rPr lang="zh-CN" altLang="en-US" sz="2000">
                <a:solidFill>
                  <a:schemeClr val="tx1"/>
                </a:solidFill>
                <a:latin typeface="微软雅黑" panose="020B0503020204020204" pitchFamily="34" charset="-122"/>
                <a:ea typeface="微软雅黑" panose="020B0503020204020204" pitchFamily="34" charset="-122"/>
              </a:rPr>
              <a:t>架构在不同硬件线程之间使用宽松一致性模型，</a:t>
            </a:r>
            <a:r>
              <a:rPr lang="en-US" altLang="zh-CN" sz="2000">
                <a:solidFill>
                  <a:schemeClr val="tx1"/>
                </a:solidFill>
                <a:latin typeface="微软雅黑" panose="020B0503020204020204" pitchFamily="34" charset="-122"/>
                <a:ea typeface="微软雅黑" panose="020B0503020204020204" pitchFamily="34" charset="-122"/>
              </a:rPr>
              <a:t>fence</a:t>
            </a:r>
            <a:r>
              <a:rPr lang="zh-CN" altLang="en-US" sz="2000">
                <a:solidFill>
                  <a:schemeClr val="tx1"/>
                </a:solidFill>
                <a:latin typeface="微软雅黑" panose="020B0503020204020204" pitchFamily="34" charset="-122"/>
                <a:ea typeface="微软雅黑" panose="020B0503020204020204" pitchFamily="34" charset="-122"/>
              </a:rPr>
              <a:t>和</a:t>
            </a:r>
            <a:r>
              <a:rPr lang="en-US" altLang="zh-CN" sz="2000">
                <a:solidFill>
                  <a:schemeClr val="tx1"/>
                </a:solidFill>
                <a:latin typeface="微软雅黑" panose="020B0503020204020204" pitchFamily="34" charset="-122"/>
                <a:ea typeface="微软雅黑" panose="020B0503020204020204" pitchFamily="34" charset="-122"/>
              </a:rPr>
              <a:t>fence.i </a:t>
            </a:r>
            <a:r>
              <a:rPr lang="zh-CN" altLang="en-US" sz="2000">
                <a:solidFill>
                  <a:schemeClr val="tx1"/>
                </a:solidFill>
                <a:latin typeface="微软雅黑" panose="020B0503020204020204" pitchFamily="34" charset="-122"/>
                <a:ea typeface="微软雅黑" panose="020B0503020204020204" pitchFamily="34" charset="-122"/>
              </a:rPr>
              <a:t>两条屏障指令，用于保证一定的存储访问顺序。</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2000">
                <a:solidFill>
                  <a:srgbClr val="C00000"/>
                </a:solidFill>
                <a:latin typeface="微软雅黑" panose="020B0503020204020204" pitchFamily="34" charset="-122"/>
                <a:ea typeface="微软雅黑" panose="020B0503020204020204" pitchFamily="34" charset="-122"/>
              </a:rPr>
              <a:t>ecall</a:t>
            </a:r>
            <a:r>
              <a:rPr lang="zh-CN" altLang="en-US" sz="2000">
                <a:solidFill>
                  <a:srgbClr val="C00000"/>
                </a:solidFill>
                <a:latin typeface="微软雅黑" panose="020B0503020204020204" pitchFamily="34" charset="-122"/>
                <a:ea typeface="微软雅黑" panose="020B0503020204020204" pitchFamily="34" charset="-122"/>
              </a:rPr>
              <a:t>和</a:t>
            </a:r>
            <a:r>
              <a:rPr lang="en-US" altLang="zh-CN" sz="2000">
                <a:solidFill>
                  <a:srgbClr val="C00000"/>
                </a:solidFill>
                <a:latin typeface="微软雅黑" panose="020B0503020204020204" pitchFamily="34" charset="-122"/>
                <a:ea typeface="微软雅黑" panose="020B0503020204020204" pitchFamily="34" charset="-122"/>
              </a:rPr>
              <a:t>ebreak</a:t>
            </a:r>
            <a:r>
              <a:rPr lang="zh-CN" altLang="en-US" sz="2000">
                <a:solidFill>
                  <a:schemeClr val="tx1"/>
                </a:solidFill>
                <a:latin typeface="微软雅黑" panose="020B0503020204020204" pitchFamily="34" charset="-122"/>
                <a:ea typeface="微软雅黑" panose="020B0503020204020204" pitchFamily="34" charset="-122"/>
              </a:rPr>
              <a:t>：陷阱（</a:t>
            </a:r>
            <a:r>
              <a:rPr lang="en-US" altLang="zh-CN" sz="2000">
                <a:solidFill>
                  <a:schemeClr val="tx1"/>
                </a:solidFill>
                <a:latin typeface="微软雅黑" panose="020B0503020204020204" pitchFamily="34" charset="-122"/>
                <a:ea typeface="微软雅黑" panose="020B0503020204020204" pitchFamily="34" charset="-122"/>
              </a:rPr>
              <a:t>trap</a:t>
            </a:r>
            <a:r>
              <a:rPr lang="zh-CN" altLang="en-US" sz="2000">
                <a:solidFill>
                  <a:schemeClr val="tx1"/>
                </a:solidFill>
                <a:latin typeface="微软雅黑" panose="020B0503020204020204" pitchFamily="34" charset="-122"/>
                <a:ea typeface="微软雅黑" panose="020B0503020204020204" pitchFamily="34" charset="-122"/>
              </a:rPr>
              <a:t>）指令，也称自陷指令，主要用于从用户程序陷入到操作系统内核（</a:t>
            </a:r>
            <a:r>
              <a:rPr lang="en-US" altLang="zh-CN" sz="2000">
                <a:solidFill>
                  <a:schemeClr val="tx1"/>
                </a:solidFill>
                <a:latin typeface="微软雅黑" panose="020B0503020204020204" pitchFamily="34" charset="-122"/>
                <a:ea typeface="微软雅黑" panose="020B0503020204020204" pitchFamily="34" charset="-122"/>
              </a:rPr>
              <a:t>ecall</a:t>
            </a:r>
            <a:r>
              <a:rPr lang="zh-CN" altLang="en-US" sz="2000">
                <a:solidFill>
                  <a:schemeClr val="tx1"/>
                </a:solidFill>
                <a:latin typeface="微软雅黑" panose="020B0503020204020204" pitchFamily="34" charset="-122"/>
                <a:ea typeface="微软雅黑" panose="020B0503020204020204" pitchFamily="34" charset="-122"/>
              </a:rPr>
              <a:t>）或调试环境（</a:t>
            </a:r>
            <a:r>
              <a:rPr lang="en-US" altLang="zh-CN" sz="2000">
                <a:solidFill>
                  <a:schemeClr val="tx1"/>
                </a:solidFill>
                <a:latin typeface="微软雅黑" panose="020B0503020204020204" pitchFamily="34" charset="-122"/>
                <a:ea typeface="微软雅黑" panose="020B0503020204020204" pitchFamily="34" charset="-122"/>
              </a:rPr>
              <a:t>ebreak</a:t>
            </a:r>
            <a:r>
              <a:rPr lang="zh-CN" altLang="en-US" sz="2000">
                <a:solidFill>
                  <a:schemeClr val="tx1"/>
                </a:solidFill>
                <a:latin typeface="微软雅黑" panose="020B0503020204020204" pitchFamily="34" charset="-122"/>
                <a:ea typeface="微软雅黑" panose="020B0503020204020204" pitchFamily="34" charset="-122"/>
              </a:rPr>
              <a:t>）执行，因此也称为环境（</a:t>
            </a:r>
            <a:r>
              <a:rPr lang="en-US" altLang="zh-CN" sz="2000">
                <a:solidFill>
                  <a:schemeClr val="tx1"/>
                </a:solidFill>
                <a:latin typeface="微软雅黑" panose="020B0503020204020204" pitchFamily="34" charset="-122"/>
                <a:ea typeface="微软雅黑" panose="020B0503020204020204" pitchFamily="34" charset="-122"/>
              </a:rPr>
              <a:t>Environment</a:t>
            </a:r>
            <a:r>
              <a:rPr lang="zh-CN" altLang="en-US" sz="2000">
                <a:solidFill>
                  <a:schemeClr val="tx1"/>
                </a:solidFill>
                <a:latin typeface="微软雅黑" panose="020B0503020204020204" pitchFamily="34" charset="-122"/>
                <a:ea typeface="微软雅黑" panose="020B0503020204020204" pitchFamily="34" charset="-122"/>
              </a:rPr>
              <a:t>）类指令。</a:t>
            </a:r>
            <a:endParaRPr lang="en-US" altLang="zh-CN" sz="2000">
              <a:solidFill>
                <a:schemeClr val="tx1"/>
              </a:solidFill>
              <a:latin typeface="微软雅黑" panose="020B0503020204020204" pitchFamily="34" charset="-122"/>
              <a:ea typeface="微软雅黑" panose="020B0503020204020204" pitchFamily="34" charset="-122"/>
            </a:endParaRPr>
          </a:p>
          <a:p>
            <a:pPr eaLnBrk="0" hangingPunct="0">
              <a:lnSpc>
                <a:spcPts val="2800"/>
              </a:lnSpc>
              <a:spcBef>
                <a:spcPts val="600"/>
              </a:spcBef>
            </a:pPr>
            <a:r>
              <a:rPr lang="en-US" altLang="zh-CN" sz="2000">
                <a:solidFill>
                  <a:srgbClr val="A50021"/>
                </a:solidFill>
                <a:latin typeface="微软雅黑" panose="020B0503020204020204" pitchFamily="34" charset="-122"/>
                <a:ea typeface="微软雅黑" panose="020B0503020204020204" pitchFamily="34" charset="-122"/>
              </a:rPr>
              <a:t>csrxxx</a:t>
            </a:r>
            <a:r>
              <a:rPr lang="en-US" altLang="zh-CN" sz="2000">
                <a:solidFill>
                  <a:srgbClr val="000000"/>
                </a:solidFill>
                <a:latin typeface="微软雅黑" panose="020B0503020204020204" pitchFamily="34" charset="-122"/>
                <a:ea typeface="微软雅黑" panose="020B0503020204020204" pitchFamily="34" charset="-122"/>
              </a:rPr>
              <a:t>: 6</a:t>
            </a:r>
            <a:r>
              <a:rPr lang="zh-CN" altLang="en-US" sz="2000">
                <a:solidFill>
                  <a:srgbClr val="000000"/>
                </a:solidFill>
                <a:latin typeface="微软雅黑" panose="020B0503020204020204" pitchFamily="34" charset="-122"/>
                <a:ea typeface="微软雅黑" panose="020B0503020204020204" pitchFamily="34" charset="-122"/>
              </a:rPr>
              <a:t>条</a:t>
            </a:r>
            <a:r>
              <a:rPr lang="en-US" altLang="zh-CN" sz="2000">
                <a:solidFill>
                  <a:srgbClr val="000000"/>
                </a:solidFill>
                <a:latin typeface="微软雅黑" panose="020B0503020204020204" pitchFamily="34" charset="-122"/>
                <a:ea typeface="微软雅黑" panose="020B0503020204020204" pitchFamily="34" charset="-122"/>
              </a:rPr>
              <a:t>csr</a:t>
            </a:r>
            <a:r>
              <a:rPr lang="zh-CN" altLang="en-US" sz="2000">
                <a:solidFill>
                  <a:srgbClr val="000000"/>
                </a:solidFill>
                <a:latin typeface="微软雅黑" panose="020B0503020204020204" pitchFamily="34" charset="-122"/>
                <a:ea typeface="微软雅黑" panose="020B0503020204020204" pitchFamily="34" charset="-122"/>
              </a:rPr>
              <a:t>指令用于设置和读取相应的</a:t>
            </a:r>
            <a:r>
              <a:rPr lang="zh-CN" altLang="en-US" sz="2000">
                <a:solidFill>
                  <a:srgbClr val="FF0000"/>
                </a:solidFill>
                <a:latin typeface="微软雅黑" panose="020B0503020204020204" pitchFamily="34" charset="-122"/>
                <a:ea typeface="微软雅黑" panose="020B0503020204020204" pitchFamily="34" charset="-122"/>
              </a:rPr>
              <a:t>控制状态寄存器（</a:t>
            </a:r>
            <a:r>
              <a:rPr lang="en-US" altLang="zh-CN" sz="2000">
                <a:solidFill>
                  <a:srgbClr val="FF0000"/>
                </a:solidFill>
                <a:latin typeface="微软雅黑" panose="020B0503020204020204" pitchFamily="34" charset="-122"/>
                <a:ea typeface="微软雅黑" panose="020B0503020204020204" pitchFamily="34" charset="-122"/>
              </a:rPr>
              <a:t>CSR</a:t>
            </a:r>
            <a:r>
              <a:rPr lang="zh-CN" altLang="en-US" sz="2000">
                <a:solidFill>
                  <a:srgbClr val="FF0000"/>
                </a:solidFill>
                <a:latin typeface="微软雅黑" panose="020B0503020204020204" pitchFamily="34" charset="-122"/>
                <a:ea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rPr>
              <a:t>。</a:t>
            </a:r>
            <a:r>
              <a:rPr lang="en-US" altLang="zh-CN" sz="2000">
                <a:solidFill>
                  <a:srgbClr val="000000"/>
                </a:solidFill>
                <a:latin typeface="微软雅黑" panose="020B0503020204020204" pitchFamily="34" charset="-122"/>
                <a:ea typeface="微软雅黑" panose="020B0503020204020204" pitchFamily="34" charset="-122"/>
              </a:rPr>
              <a:t> </a:t>
            </a:r>
          </a:p>
        </p:txBody>
      </p:sp>
      <p:sp>
        <p:nvSpPr>
          <p:cNvPr id="84997" name="矩形 1">
            <a:extLst>
              <a:ext uri="{FF2B5EF4-FFF2-40B4-BE49-F238E27FC236}">
                <a16:creationId xmlns:a16="http://schemas.microsoft.com/office/drawing/2014/main" id="{9C53299F-D34E-E21E-B68E-1D71E0EC8B4D}"/>
              </a:ext>
            </a:extLst>
          </p:cNvPr>
          <p:cNvSpPr>
            <a:spLocks noChangeArrowheads="1"/>
          </p:cNvSpPr>
          <p:nvPr/>
        </p:nvSpPr>
        <p:spPr bwMode="auto">
          <a:xfrm>
            <a:off x="622300" y="1574800"/>
            <a:ext cx="7656513" cy="647700"/>
          </a:xfrm>
          <a:prstGeom prst="rect">
            <a:avLst/>
          </a:prstGeom>
          <a:solidFill>
            <a:srgbClr val="C000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84998" name="矩形 1">
            <a:extLst>
              <a:ext uri="{FF2B5EF4-FFF2-40B4-BE49-F238E27FC236}">
                <a16:creationId xmlns:a16="http://schemas.microsoft.com/office/drawing/2014/main" id="{65B46E82-7DDC-50AB-B0C0-D87BE14A601A}"/>
              </a:ext>
            </a:extLst>
          </p:cNvPr>
          <p:cNvSpPr>
            <a:spLocks noChangeArrowheads="1"/>
          </p:cNvSpPr>
          <p:nvPr/>
        </p:nvSpPr>
        <p:spPr bwMode="auto">
          <a:xfrm>
            <a:off x="622300" y="2222500"/>
            <a:ext cx="7656513" cy="2022475"/>
          </a:xfrm>
          <a:prstGeom prst="rect">
            <a:avLst/>
          </a:prstGeom>
          <a:solidFill>
            <a:srgbClr val="FFFF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lstStyle/>
          <a:p>
            <a:pPr eaLnBrk="0" hangingPunct="0"/>
            <a:endParaRPr lang="zh-CN" altLang="en-US"/>
          </a:p>
        </p:txBody>
      </p:sp>
      <p:sp>
        <p:nvSpPr>
          <p:cNvPr id="84999" name="矩形 1">
            <a:extLst>
              <a:ext uri="{FF2B5EF4-FFF2-40B4-BE49-F238E27FC236}">
                <a16:creationId xmlns:a16="http://schemas.microsoft.com/office/drawing/2014/main" id="{F23FAAB4-33ED-DEC5-17D3-72440981E230}"/>
              </a:ext>
            </a:extLst>
          </p:cNvPr>
          <p:cNvSpPr>
            <a:spLocks noChangeArrowheads="1"/>
          </p:cNvSpPr>
          <p:nvPr/>
        </p:nvSpPr>
        <p:spPr bwMode="auto">
          <a:xfrm>
            <a:off x="622300" y="904875"/>
            <a:ext cx="7656513" cy="669925"/>
          </a:xfrm>
          <a:prstGeom prst="rect">
            <a:avLst/>
          </a:prstGeom>
          <a:solidFill>
            <a:schemeClr val="accent2">
              <a:alpha val="20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lstStyle/>
          <a:p>
            <a:pPr eaLnBrk="0" hangingPunct="0"/>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4">
            <a:extLst>
              <a:ext uri="{FF2B5EF4-FFF2-40B4-BE49-F238E27FC236}">
                <a16:creationId xmlns:a16="http://schemas.microsoft.com/office/drawing/2014/main" id="{EBE81ABD-9E61-2325-932A-ED981D7845B6}"/>
              </a:ext>
            </a:extLst>
          </p:cNvPr>
          <p:cNvSpPr>
            <a:spLocks noChangeArrowheads="1"/>
          </p:cNvSpPr>
          <p:nvPr/>
        </p:nvSpPr>
        <p:spPr bwMode="auto">
          <a:xfrm>
            <a:off x="87313" y="539750"/>
            <a:ext cx="8950325" cy="610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defRPr sz="800" b="1">
                <a:solidFill>
                  <a:schemeClr val="accent2"/>
                </a:solidFill>
                <a:latin typeface="Arial" panose="020B0604020202020204" pitchFamily="34" charset="0"/>
                <a:ea typeface="宋体" panose="02010600030101010101" pitchFamily="2" charset="-122"/>
              </a:defRPr>
            </a:lvl1pPr>
            <a:lvl2pPr marL="800100" indent="-34290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12000"/>
              </a:lnSpc>
              <a:spcBef>
                <a:spcPct val="15000"/>
              </a:spcBef>
              <a:buSzPct val="75000"/>
              <a:buFont typeface="Wingdings" panose="05000000000000000000" pitchFamily="2" charset="2"/>
              <a:buChar char="u"/>
              <a:defRPr/>
            </a:pPr>
            <a:r>
              <a:rPr lang="zh-CN" altLang="en-US" sz="1800" dirty="0">
                <a:solidFill>
                  <a:schemeClr val="tx1"/>
                </a:solidFill>
                <a:ea typeface="黑体" panose="02010609060101010101" pitchFamily="49" charset="-122"/>
              </a:rPr>
              <a:t>标准扩展指令集</a:t>
            </a:r>
          </a:p>
          <a:p>
            <a:pPr lvl="1" eaLnBrk="0" hangingPunct="0">
              <a:lnSpc>
                <a:spcPct val="112000"/>
              </a:lnSpc>
              <a:spcBef>
                <a:spcPct val="15000"/>
              </a:spcBef>
              <a:buFontTx/>
              <a:buChar char="–"/>
              <a:defRPr/>
            </a:pPr>
            <a:r>
              <a:rPr lang="en-US" altLang="zh-CN" sz="1800" dirty="0">
                <a:ea typeface="黑体" panose="02010609060101010101" pitchFamily="49" charset="-122"/>
              </a:rPr>
              <a:t>RV32I</a:t>
            </a:r>
            <a:r>
              <a:rPr lang="zh-CN" altLang="en-US" sz="1800" dirty="0">
                <a:ea typeface="黑体" panose="02010609060101010101" pitchFamily="49" charset="-122"/>
              </a:rPr>
              <a:t>基础指令集之上，可标准扩展</a:t>
            </a:r>
            <a:r>
              <a:rPr lang="en-US" altLang="zh-CN" sz="1800" dirty="0">
                <a:ea typeface="黑体" panose="02010609060101010101" pitchFamily="49" charset="-122"/>
              </a:rPr>
              <a:t>RV32M</a:t>
            </a:r>
            <a:r>
              <a:rPr lang="zh-CN" altLang="en-US" sz="1800" dirty="0">
                <a:ea typeface="黑体" panose="02010609060101010101" pitchFamily="49" charset="-122"/>
              </a:rPr>
              <a:t>、</a:t>
            </a:r>
            <a:r>
              <a:rPr lang="en-US" altLang="zh-CN" sz="1800" dirty="0">
                <a:ea typeface="黑体" panose="02010609060101010101" pitchFamily="49" charset="-122"/>
              </a:rPr>
              <a:t>RV32F/D</a:t>
            </a:r>
            <a:r>
              <a:rPr lang="zh-CN" altLang="en-US" sz="1800" dirty="0">
                <a:ea typeface="黑体" panose="02010609060101010101" pitchFamily="49" charset="-122"/>
              </a:rPr>
              <a:t>、</a:t>
            </a:r>
            <a:r>
              <a:rPr lang="en-US" altLang="zh-CN" sz="1800" dirty="0">
                <a:ea typeface="黑体" panose="02010609060101010101" pitchFamily="49" charset="-122"/>
              </a:rPr>
              <a:t>RV32A</a:t>
            </a:r>
            <a:r>
              <a:rPr lang="zh-CN" altLang="en-US" sz="1800" dirty="0">
                <a:ea typeface="黑体" panose="02010609060101010101" pitchFamily="49" charset="-122"/>
              </a:rPr>
              <a:t>，以形成</a:t>
            </a:r>
            <a:r>
              <a:rPr lang="en-US" altLang="zh-CN" sz="1800" dirty="0">
                <a:ea typeface="黑体" panose="02010609060101010101" pitchFamily="49" charset="-122"/>
              </a:rPr>
              <a:t>32</a:t>
            </a:r>
            <a:r>
              <a:rPr lang="zh-CN" altLang="en-US" sz="1800" dirty="0">
                <a:ea typeface="黑体" panose="02010609060101010101" pitchFamily="49" charset="-122"/>
              </a:rPr>
              <a:t>位架构合集</a:t>
            </a:r>
            <a:r>
              <a:rPr lang="en-US" altLang="zh-CN" sz="1800" dirty="0">
                <a:solidFill>
                  <a:srgbClr val="FF0000"/>
                </a:solidFill>
                <a:ea typeface="黑体" panose="02010609060101010101" pitchFamily="49" charset="-122"/>
              </a:rPr>
              <a:t>RV32IMAFD</a:t>
            </a:r>
            <a:r>
              <a:rPr lang="zh-CN" altLang="en-US" sz="1800" dirty="0">
                <a:ea typeface="黑体" panose="02010609060101010101" pitchFamily="49" charset="-122"/>
              </a:rPr>
              <a:t>，也称为</a:t>
            </a:r>
            <a:r>
              <a:rPr lang="en-US" altLang="zh-CN" sz="1800" dirty="0">
                <a:solidFill>
                  <a:srgbClr val="FF0000"/>
                </a:solidFill>
                <a:ea typeface="黑体" panose="02010609060101010101" pitchFamily="49" charset="-122"/>
              </a:rPr>
              <a:t>RV32G</a:t>
            </a:r>
          </a:p>
          <a:p>
            <a:pPr lvl="1" eaLnBrk="0" hangingPunct="0">
              <a:lnSpc>
                <a:spcPct val="112000"/>
              </a:lnSpc>
              <a:spcBef>
                <a:spcPct val="15000"/>
              </a:spcBef>
              <a:buFontTx/>
              <a:buChar char="–"/>
              <a:defRPr/>
            </a:pPr>
            <a:r>
              <a:rPr lang="en-US" altLang="zh-CN" sz="1800" dirty="0">
                <a:ea typeface="黑体" panose="02010609060101010101" pitchFamily="49" charset="-122"/>
              </a:rPr>
              <a:t>RV32G</a:t>
            </a:r>
            <a:r>
              <a:rPr lang="zh-CN" altLang="en-US" sz="1800" dirty="0">
                <a:ea typeface="黑体" panose="02010609060101010101" pitchFamily="49" charset="-122"/>
              </a:rPr>
              <a:t>基础上，对每个指令集进行调整和添加，可形成</a:t>
            </a:r>
            <a:r>
              <a:rPr lang="en-US" altLang="zh-CN" sz="1800" dirty="0">
                <a:ea typeface="黑体" panose="02010609060101010101" pitchFamily="49" charset="-122"/>
              </a:rPr>
              <a:t>64</a:t>
            </a:r>
            <a:r>
              <a:rPr lang="zh-CN" altLang="en-US" sz="1800" dirty="0">
                <a:ea typeface="黑体" panose="02010609060101010101" pitchFamily="49" charset="-122"/>
              </a:rPr>
              <a:t>位架构</a:t>
            </a:r>
            <a:r>
              <a:rPr lang="en-US" altLang="zh-CN" sz="1800" dirty="0">
                <a:solidFill>
                  <a:srgbClr val="FF0000"/>
                </a:solidFill>
                <a:ea typeface="黑体" panose="02010609060101010101" pitchFamily="49" charset="-122"/>
              </a:rPr>
              <a:t>RV64G</a:t>
            </a:r>
            <a:r>
              <a:rPr lang="zh-CN" altLang="en-US" sz="1800" dirty="0">
                <a:solidFill>
                  <a:srgbClr val="FF0000"/>
                </a:solidFill>
                <a:ea typeface="黑体" panose="02010609060101010101" pitchFamily="49" charset="-122"/>
              </a:rPr>
              <a:t>，</a:t>
            </a:r>
            <a:r>
              <a:rPr lang="zh-CN" altLang="en-US" sz="1800" dirty="0">
                <a:solidFill>
                  <a:srgbClr val="0033CC"/>
                </a:solidFill>
                <a:ea typeface="黑体" panose="02010609060101010101" pitchFamily="49" charset="-122"/>
              </a:rPr>
              <a:t>原先在</a:t>
            </a:r>
            <a:r>
              <a:rPr lang="en-US" altLang="zh-CN" sz="1800" dirty="0">
                <a:solidFill>
                  <a:srgbClr val="0033CC"/>
                </a:solidFill>
                <a:ea typeface="黑体" panose="02010609060101010101" pitchFamily="49" charset="-122"/>
              </a:rPr>
              <a:t>RV32G</a:t>
            </a:r>
            <a:r>
              <a:rPr lang="zh-CN" altLang="en-US" sz="1800" dirty="0">
                <a:solidFill>
                  <a:srgbClr val="0033CC"/>
                </a:solidFill>
                <a:ea typeface="黑体" panose="02010609060101010101" pitchFamily="49" charset="-122"/>
              </a:rPr>
              <a:t>中处理的数据将调整为</a:t>
            </a:r>
            <a:r>
              <a:rPr lang="en-US" altLang="zh-CN" sz="1800" dirty="0">
                <a:solidFill>
                  <a:srgbClr val="0033CC"/>
                </a:solidFill>
                <a:ea typeface="黑体" panose="02010609060101010101" pitchFamily="49" charset="-122"/>
              </a:rPr>
              <a:t>64</a:t>
            </a:r>
            <a:r>
              <a:rPr lang="zh-CN" altLang="en-US" sz="1800" dirty="0">
                <a:solidFill>
                  <a:srgbClr val="0033CC"/>
                </a:solidFill>
                <a:ea typeface="黑体" panose="02010609060101010101" pitchFamily="49" charset="-122"/>
              </a:rPr>
              <a:t>位。但为了支持</a:t>
            </a:r>
            <a:r>
              <a:rPr lang="en-US" altLang="zh-CN" sz="1800" dirty="0">
                <a:solidFill>
                  <a:srgbClr val="0033CC"/>
                </a:solidFill>
                <a:ea typeface="黑体" panose="02010609060101010101" pitchFamily="49" charset="-122"/>
              </a:rPr>
              <a:t>32</a:t>
            </a:r>
            <a:r>
              <a:rPr lang="zh-CN" altLang="en-US" sz="1800" dirty="0">
                <a:solidFill>
                  <a:srgbClr val="0033CC"/>
                </a:solidFill>
                <a:ea typeface="黑体" panose="02010609060101010101" pitchFamily="49" charset="-122"/>
              </a:rPr>
              <a:t>位数据操作，每个</a:t>
            </a:r>
            <a:r>
              <a:rPr lang="en-US" altLang="zh-CN" sz="1800" dirty="0">
                <a:solidFill>
                  <a:srgbClr val="0033CC"/>
                </a:solidFill>
                <a:ea typeface="黑体" panose="02010609060101010101" pitchFamily="49" charset="-122"/>
              </a:rPr>
              <a:t>64</a:t>
            </a:r>
            <a:r>
              <a:rPr lang="zh-CN" altLang="en-US" sz="1800" dirty="0">
                <a:solidFill>
                  <a:srgbClr val="0033CC"/>
                </a:solidFill>
                <a:ea typeface="黑体" panose="02010609060101010101" pitchFamily="49" charset="-122"/>
              </a:rPr>
              <a:t>位架构指令集中都会添加少量</a:t>
            </a:r>
            <a:r>
              <a:rPr lang="en-US" altLang="zh-CN" sz="1800" dirty="0">
                <a:solidFill>
                  <a:srgbClr val="0033CC"/>
                </a:solidFill>
                <a:ea typeface="黑体" panose="02010609060101010101" pitchFamily="49" charset="-122"/>
              </a:rPr>
              <a:t>32</a:t>
            </a:r>
            <a:r>
              <a:rPr lang="zh-CN" altLang="en-US" sz="1800" dirty="0">
                <a:solidFill>
                  <a:srgbClr val="0033CC"/>
                </a:solidFill>
                <a:ea typeface="黑体" panose="02010609060101010101" pitchFamily="49" charset="-122"/>
              </a:rPr>
              <a:t>位数据处理指令。</a:t>
            </a:r>
            <a:endParaRPr lang="zh-CN" altLang="en-US" sz="1800" dirty="0">
              <a:solidFill>
                <a:srgbClr val="FF0000"/>
              </a:solidFill>
              <a:ea typeface="黑体" panose="02010609060101010101" pitchFamily="49" charset="-122"/>
            </a:endParaRPr>
          </a:p>
          <a:p>
            <a:pPr eaLnBrk="0" hangingPunct="0">
              <a:lnSpc>
                <a:spcPct val="112000"/>
              </a:lnSpc>
              <a:spcBef>
                <a:spcPct val="15000"/>
              </a:spcBef>
              <a:buSzPct val="75000"/>
              <a:buFont typeface="Wingdings" panose="05000000000000000000" pitchFamily="2" charset="2"/>
              <a:buChar char="u"/>
              <a:defRPr/>
            </a:pPr>
            <a:r>
              <a:rPr lang="en-US" altLang="zh-CN" sz="1800" dirty="0">
                <a:solidFill>
                  <a:schemeClr val="tx1"/>
                </a:solidFill>
                <a:ea typeface="黑体" panose="02010609060101010101" pitchFamily="49" charset="-122"/>
              </a:rPr>
              <a:t>RISC-V</a:t>
            </a:r>
            <a:r>
              <a:rPr lang="zh-CN" altLang="en-US" sz="1800" dirty="0">
                <a:solidFill>
                  <a:schemeClr val="tx1"/>
                </a:solidFill>
                <a:ea typeface="黑体" panose="02010609060101010101" pitchFamily="49" charset="-122"/>
              </a:rPr>
              <a:t>扩展集包括</a:t>
            </a:r>
          </a:p>
          <a:p>
            <a:pPr lvl="1" eaLnBrk="0" hangingPunct="0">
              <a:lnSpc>
                <a:spcPct val="112000"/>
              </a:lnSpc>
              <a:spcBef>
                <a:spcPct val="15000"/>
              </a:spcBef>
              <a:buFontTx/>
              <a:buChar char="–"/>
              <a:defRPr/>
            </a:pPr>
            <a:r>
              <a:rPr lang="zh-CN" altLang="en-US" sz="1800" dirty="0">
                <a:ea typeface="黑体" panose="02010609060101010101" pitchFamily="49" charset="-122"/>
              </a:rPr>
              <a:t>针对</a:t>
            </a:r>
            <a:r>
              <a:rPr lang="en-US" altLang="zh-CN" sz="1800" dirty="0">
                <a:solidFill>
                  <a:schemeClr val="accent1"/>
                </a:solidFill>
                <a:ea typeface="黑体" panose="02010609060101010101" pitchFamily="49" charset="-122"/>
              </a:rPr>
              <a:t>64</a:t>
            </a:r>
            <a:r>
              <a:rPr lang="zh-CN" altLang="en-US" sz="1800" dirty="0">
                <a:solidFill>
                  <a:schemeClr val="accent1"/>
                </a:solidFill>
                <a:ea typeface="黑体" panose="02010609060101010101" pitchFamily="49" charset="-122"/>
              </a:rPr>
              <a:t>位架构</a:t>
            </a:r>
            <a:r>
              <a:rPr lang="zh-CN" altLang="en-US" sz="1800" dirty="0">
                <a:ea typeface="黑体" panose="02010609060101010101" pitchFamily="49" charset="-122"/>
              </a:rPr>
              <a:t>需要，在</a:t>
            </a:r>
            <a:r>
              <a:rPr lang="en-US" altLang="zh-CN" sz="1800" dirty="0">
                <a:ea typeface="黑体" panose="02010609060101010101" pitchFamily="49" charset="-122"/>
              </a:rPr>
              <a:t>47</a:t>
            </a:r>
            <a:r>
              <a:rPr lang="zh-CN" altLang="en-US" sz="1800" dirty="0">
                <a:ea typeface="黑体" panose="02010609060101010101" pitchFamily="49" charset="-122"/>
              </a:rPr>
              <a:t>条</a:t>
            </a:r>
            <a:r>
              <a:rPr lang="en-US" altLang="zh-CN" sz="1800" dirty="0">
                <a:ea typeface="黑体" panose="02010609060101010101" pitchFamily="49" charset="-122"/>
              </a:rPr>
              <a:t>RV32I</a:t>
            </a:r>
            <a:r>
              <a:rPr lang="zh-CN" altLang="en-US" sz="1800" dirty="0">
                <a:ea typeface="黑体" panose="02010609060101010101" pitchFamily="49" charset="-122"/>
              </a:rPr>
              <a:t>指令基础上，增加</a:t>
            </a:r>
            <a:r>
              <a:rPr lang="en-US" altLang="zh-CN" sz="1800" dirty="0">
                <a:ea typeface="黑体" panose="02010609060101010101" pitchFamily="49" charset="-122"/>
              </a:rPr>
              <a:t>12</a:t>
            </a:r>
            <a:r>
              <a:rPr lang="zh-CN" altLang="en-US" sz="1800" dirty="0">
                <a:ea typeface="黑体" panose="02010609060101010101" pitchFamily="49" charset="-122"/>
              </a:rPr>
              <a:t>条整数指令（</a:t>
            </a:r>
            <a:r>
              <a:rPr lang="en-US" altLang="zh-CN" sz="1800" dirty="0">
                <a:ea typeface="黑体" panose="02010609060101010101" pitchFamily="49" charset="-122"/>
              </a:rPr>
              <a:t>+RV64I</a:t>
            </a:r>
            <a:r>
              <a:rPr lang="zh-CN" altLang="en-US" sz="1800" dirty="0">
                <a:ea typeface="黑体" panose="02010609060101010101" pitchFamily="49" charset="-122"/>
              </a:rPr>
              <a:t>），包括</a:t>
            </a:r>
            <a:r>
              <a:rPr lang="en-US" altLang="zh-CN" sz="1800" dirty="0">
                <a:ea typeface="黑体" panose="02010609060101010101" pitchFamily="49" charset="-122"/>
              </a:rPr>
              <a:t>6</a:t>
            </a:r>
            <a:r>
              <a:rPr lang="zh-CN" altLang="en-US" sz="1800" dirty="0">
                <a:ea typeface="黑体" panose="02010609060101010101" pitchFamily="49" charset="-122"/>
              </a:rPr>
              <a:t>条</a:t>
            </a:r>
            <a:r>
              <a:rPr lang="en-US" altLang="zh-CN" sz="1800" dirty="0">
                <a:ea typeface="黑体" panose="02010609060101010101" pitchFamily="49" charset="-122"/>
              </a:rPr>
              <a:t>32</a:t>
            </a:r>
            <a:r>
              <a:rPr lang="zh-CN" altLang="en-US" sz="1800" dirty="0">
                <a:ea typeface="黑体" panose="02010609060101010101" pitchFamily="49" charset="-122"/>
              </a:rPr>
              <a:t>位移位指令、</a:t>
            </a:r>
            <a:r>
              <a:rPr lang="en-US" altLang="zh-CN" sz="1800" dirty="0">
                <a:ea typeface="黑体" panose="02010609060101010101" pitchFamily="49" charset="-122"/>
              </a:rPr>
              <a:t>3</a:t>
            </a:r>
            <a:r>
              <a:rPr lang="zh-CN" altLang="en-US" sz="1800" dirty="0">
                <a:ea typeface="黑体" panose="02010609060101010101" pitchFamily="49" charset="-122"/>
              </a:rPr>
              <a:t>条</a:t>
            </a:r>
            <a:r>
              <a:rPr lang="en-US" altLang="zh-CN" sz="1800" dirty="0">
                <a:ea typeface="黑体" panose="02010609060101010101" pitchFamily="49" charset="-122"/>
              </a:rPr>
              <a:t>32</a:t>
            </a:r>
            <a:r>
              <a:rPr lang="zh-CN" altLang="en-US" sz="1800" dirty="0">
                <a:ea typeface="黑体" panose="02010609060101010101" pitchFamily="49" charset="-122"/>
              </a:rPr>
              <a:t>位加减运算指令、两条</a:t>
            </a:r>
            <a:r>
              <a:rPr lang="en-US" altLang="zh-CN" sz="1800" dirty="0">
                <a:ea typeface="黑体" panose="02010609060101010101" pitchFamily="49" charset="-122"/>
              </a:rPr>
              <a:t>64</a:t>
            </a:r>
            <a:r>
              <a:rPr lang="zh-CN" altLang="en-US" sz="1800" dirty="0">
                <a:ea typeface="黑体" panose="02010609060101010101" pitchFamily="49" charset="-122"/>
              </a:rPr>
              <a:t>位装入（</a:t>
            </a:r>
            <a:r>
              <a:rPr lang="en-US" altLang="zh-CN" sz="1800" dirty="0">
                <a:ea typeface="黑体" panose="02010609060101010101" pitchFamily="49" charset="-122"/>
              </a:rPr>
              <a:t>Load</a:t>
            </a:r>
            <a:r>
              <a:rPr lang="zh-CN" altLang="en-US" sz="1800" dirty="0">
                <a:ea typeface="黑体" panose="02010609060101010101" pitchFamily="49" charset="-122"/>
              </a:rPr>
              <a:t>）指令和</a:t>
            </a:r>
            <a:r>
              <a:rPr lang="en-US" altLang="zh-CN" sz="1800" dirty="0">
                <a:ea typeface="黑体" panose="02010609060101010101" pitchFamily="49" charset="-122"/>
              </a:rPr>
              <a:t>1</a:t>
            </a:r>
            <a:r>
              <a:rPr lang="zh-CN" altLang="en-US" sz="1800" dirty="0">
                <a:ea typeface="黑体" panose="02010609060101010101" pitchFamily="49" charset="-122"/>
              </a:rPr>
              <a:t>条</a:t>
            </a:r>
            <a:r>
              <a:rPr lang="en-US" altLang="zh-CN" sz="1800" dirty="0">
                <a:ea typeface="黑体" panose="02010609060101010101" pitchFamily="49" charset="-122"/>
              </a:rPr>
              <a:t>64</a:t>
            </a:r>
            <a:r>
              <a:rPr lang="zh-CN" altLang="en-US" sz="1800" dirty="0">
                <a:ea typeface="黑体" panose="02010609060101010101" pitchFamily="49" charset="-122"/>
              </a:rPr>
              <a:t>位存储（</a:t>
            </a:r>
            <a:r>
              <a:rPr lang="en-US" altLang="zh-CN" sz="1800" dirty="0">
                <a:ea typeface="黑体" panose="02010609060101010101" pitchFamily="49" charset="-122"/>
              </a:rPr>
              <a:t>Store</a:t>
            </a:r>
            <a:r>
              <a:rPr lang="zh-CN" altLang="en-US" sz="1800" dirty="0">
                <a:ea typeface="黑体" panose="02010609060101010101" pitchFamily="49" charset="-122"/>
              </a:rPr>
              <a:t>）指令，故</a:t>
            </a:r>
            <a:r>
              <a:rPr lang="en-US" altLang="zh-CN" sz="1800" dirty="0">
                <a:ea typeface="黑体" panose="02010609060101010101" pitchFamily="49" charset="-122"/>
              </a:rPr>
              <a:t>RV64I</a:t>
            </a:r>
            <a:r>
              <a:rPr lang="zh-CN" altLang="en-US" sz="1800" dirty="0">
                <a:ea typeface="黑体" panose="02010609060101010101" pitchFamily="49" charset="-122"/>
              </a:rPr>
              <a:t>共</a:t>
            </a:r>
            <a:r>
              <a:rPr lang="en-US" altLang="zh-CN" sz="1800" dirty="0">
                <a:ea typeface="黑体" panose="02010609060101010101" pitchFamily="49" charset="-122"/>
              </a:rPr>
              <a:t>59</a:t>
            </a:r>
            <a:r>
              <a:rPr lang="zh-CN" altLang="en-US" sz="1800" dirty="0">
                <a:ea typeface="黑体" panose="02010609060101010101" pitchFamily="49" charset="-122"/>
              </a:rPr>
              <a:t>条指令。</a:t>
            </a:r>
            <a:r>
              <a:rPr lang="zh-CN" altLang="en-US" sz="1800" dirty="0">
                <a:ea typeface="黑体" panose="02010609060101010101" pitchFamily="49" charset="-122"/>
                <a:hlinkClick r:id="rId2" action="ppaction://hlinksldjump"/>
              </a:rPr>
              <a:t>举例</a:t>
            </a:r>
            <a:endParaRPr lang="en-US" altLang="zh-CN" sz="1800" dirty="0">
              <a:ea typeface="黑体" panose="02010609060101010101" pitchFamily="49" charset="-122"/>
            </a:endParaRPr>
          </a:p>
          <a:p>
            <a:pPr lvl="1" eaLnBrk="0" hangingPunct="0">
              <a:lnSpc>
                <a:spcPct val="112000"/>
              </a:lnSpc>
              <a:spcBef>
                <a:spcPct val="15000"/>
              </a:spcBef>
              <a:buFontTx/>
              <a:buChar char="–"/>
              <a:defRPr/>
            </a:pPr>
            <a:r>
              <a:rPr lang="zh-CN" altLang="en-US" sz="1800" dirty="0">
                <a:ea typeface="黑体" panose="02010609060101010101" pitchFamily="49" charset="-122"/>
              </a:rPr>
              <a:t>针对乘除运算需要，提供了</a:t>
            </a:r>
            <a:r>
              <a:rPr lang="en-US" altLang="zh-CN" sz="1800" dirty="0">
                <a:ea typeface="黑体" panose="02010609060101010101" pitchFamily="49" charset="-122"/>
              </a:rPr>
              <a:t>32</a:t>
            </a:r>
            <a:r>
              <a:rPr lang="zh-CN" altLang="en-US" sz="1800" dirty="0">
                <a:ea typeface="黑体" panose="02010609060101010101" pitchFamily="49" charset="-122"/>
              </a:rPr>
              <a:t>位架构乘除运算指令集</a:t>
            </a:r>
            <a:r>
              <a:rPr lang="en-US" altLang="zh-CN" sz="1800" dirty="0">
                <a:ea typeface="黑体" panose="02010609060101010101" pitchFamily="49" charset="-122"/>
              </a:rPr>
              <a:t>RV32M</a:t>
            </a:r>
            <a:r>
              <a:rPr lang="zh-CN" altLang="en-US" sz="1800" dirty="0">
                <a:ea typeface="黑体" panose="02010609060101010101" pitchFamily="49" charset="-122"/>
              </a:rPr>
              <a:t>中的</a:t>
            </a:r>
            <a:r>
              <a:rPr lang="en-US" altLang="zh-CN" sz="1800" dirty="0">
                <a:ea typeface="黑体" panose="02010609060101010101" pitchFamily="49" charset="-122"/>
                <a:hlinkClick r:id="rId3" action="ppaction://hlinksldjump"/>
              </a:rPr>
              <a:t>8</a:t>
            </a:r>
            <a:r>
              <a:rPr lang="zh-CN" altLang="en-US" sz="1800" dirty="0">
                <a:ea typeface="黑体" panose="02010609060101010101" pitchFamily="49" charset="-122"/>
                <a:hlinkClick r:id="rId3" action="ppaction://hlinksldjump"/>
              </a:rPr>
              <a:t>条指令</a:t>
            </a:r>
            <a:r>
              <a:rPr lang="zh-CN" altLang="en-US" sz="1800" dirty="0">
                <a:ea typeface="黑体" panose="02010609060101010101" pitchFamily="49" charset="-122"/>
              </a:rPr>
              <a:t>，并在此基础上增加了</a:t>
            </a:r>
            <a:r>
              <a:rPr lang="en-US" altLang="zh-CN" sz="1800" dirty="0">
                <a:ea typeface="黑体" panose="02010609060101010101" pitchFamily="49" charset="-122"/>
              </a:rPr>
              <a:t>4</a:t>
            </a:r>
            <a:r>
              <a:rPr lang="zh-CN" altLang="en-US" sz="1800" dirty="0">
                <a:ea typeface="黑体" panose="02010609060101010101" pitchFamily="49" charset="-122"/>
              </a:rPr>
              <a:t>条</a:t>
            </a:r>
            <a:r>
              <a:rPr lang="en-US" altLang="zh-CN" sz="1800" dirty="0">
                <a:ea typeface="黑体" panose="02010609060101010101" pitchFamily="49" charset="-122"/>
              </a:rPr>
              <a:t>RV64M</a:t>
            </a:r>
            <a:r>
              <a:rPr lang="zh-CN" altLang="en-US" sz="1800" dirty="0">
                <a:ea typeface="黑体" panose="02010609060101010101" pitchFamily="49" charset="-122"/>
              </a:rPr>
              <a:t>专用指令（</a:t>
            </a:r>
            <a:r>
              <a:rPr lang="en-US" altLang="zh-CN" sz="1800" dirty="0">
                <a:ea typeface="黑体" panose="02010609060101010101" pitchFamily="49" charset="-122"/>
              </a:rPr>
              <a:t>+RV64M</a:t>
            </a:r>
            <a:r>
              <a:rPr lang="zh-CN" altLang="en-US" sz="1800" dirty="0">
                <a:ea typeface="黑体" panose="02010609060101010101" pitchFamily="49" charset="-122"/>
              </a:rPr>
              <a:t>）</a:t>
            </a:r>
            <a:endParaRPr lang="en-US" altLang="zh-CN" sz="1800" dirty="0">
              <a:ea typeface="黑体" panose="02010609060101010101" pitchFamily="49" charset="-122"/>
            </a:endParaRPr>
          </a:p>
          <a:p>
            <a:pPr lvl="1" eaLnBrk="0" hangingPunct="0">
              <a:lnSpc>
                <a:spcPct val="112000"/>
              </a:lnSpc>
              <a:spcBef>
                <a:spcPct val="15000"/>
              </a:spcBef>
              <a:buFontTx/>
              <a:buChar char="–"/>
              <a:defRPr/>
            </a:pPr>
            <a:r>
              <a:rPr lang="zh-CN" altLang="en-US" sz="1800" dirty="0">
                <a:ea typeface="黑体" panose="02010609060101010101" pitchFamily="49" charset="-122"/>
              </a:rPr>
              <a:t>针对浮点数运算的需要，提供了</a:t>
            </a:r>
            <a:r>
              <a:rPr lang="en-US" altLang="zh-CN" sz="1800" dirty="0">
                <a:ea typeface="黑体" panose="02010609060101010101" pitchFamily="49" charset="-122"/>
              </a:rPr>
              <a:t>32</a:t>
            </a:r>
            <a:r>
              <a:rPr lang="zh-CN" altLang="en-US" sz="1800" dirty="0">
                <a:ea typeface="黑体" panose="02010609060101010101" pitchFamily="49" charset="-122"/>
              </a:rPr>
              <a:t>位架构的单精度浮点处理指令集</a:t>
            </a:r>
            <a:r>
              <a:rPr lang="en-US" altLang="zh-CN" sz="1800" dirty="0">
                <a:ea typeface="黑体" panose="02010609060101010101" pitchFamily="49" charset="-122"/>
              </a:rPr>
              <a:t>RV32F</a:t>
            </a:r>
            <a:r>
              <a:rPr lang="zh-CN" altLang="en-US" sz="1800" dirty="0">
                <a:ea typeface="黑体" panose="02010609060101010101" pitchFamily="49" charset="-122"/>
              </a:rPr>
              <a:t>和双精度浮点处理指令集</a:t>
            </a:r>
            <a:r>
              <a:rPr lang="en-US" altLang="zh-CN" sz="1800" dirty="0">
                <a:ea typeface="黑体" panose="02010609060101010101" pitchFamily="49" charset="-122"/>
              </a:rPr>
              <a:t>RV32D</a:t>
            </a:r>
            <a:r>
              <a:rPr lang="zh-CN" altLang="en-US" sz="1800" dirty="0">
                <a:ea typeface="黑体" panose="02010609060101010101" pitchFamily="49" charset="-122"/>
              </a:rPr>
              <a:t>，并在此基础上分别增加了</a:t>
            </a:r>
            <a:r>
              <a:rPr lang="en-US" altLang="zh-CN" sz="1800" dirty="0">
                <a:ea typeface="黑体" panose="02010609060101010101" pitchFamily="49" charset="-122"/>
              </a:rPr>
              <a:t>RV64F</a:t>
            </a:r>
            <a:r>
              <a:rPr lang="zh-CN" altLang="en-US" sz="1800" dirty="0">
                <a:ea typeface="黑体" panose="02010609060101010101" pitchFamily="49" charset="-122"/>
              </a:rPr>
              <a:t>和</a:t>
            </a:r>
            <a:r>
              <a:rPr lang="en-US" altLang="zh-CN" sz="1800" dirty="0">
                <a:ea typeface="黑体" panose="02010609060101010101" pitchFamily="49" charset="-122"/>
              </a:rPr>
              <a:t>RV64D</a:t>
            </a:r>
            <a:r>
              <a:rPr lang="zh-CN" altLang="en-US" sz="1800" dirty="0">
                <a:ea typeface="黑体" panose="02010609060101010101" pitchFamily="49" charset="-122"/>
              </a:rPr>
              <a:t>专用指令集（</a:t>
            </a:r>
            <a:r>
              <a:rPr lang="en-US" altLang="zh-CN" sz="1800" dirty="0">
                <a:ea typeface="黑体" panose="02010609060101010101" pitchFamily="49" charset="-122"/>
              </a:rPr>
              <a:t>+RV64F</a:t>
            </a:r>
            <a:r>
              <a:rPr lang="zh-CN" altLang="en-US" sz="1800" dirty="0">
                <a:ea typeface="黑体" panose="02010609060101010101" pitchFamily="49" charset="-122"/>
              </a:rPr>
              <a:t>）和（</a:t>
            </a:r>
            <a:r>
              <a:rPr lang="en-US" altLang="zh-CN" sz="1800" dirty="0">
                <a:ea typeface="黑体" panose="02010609060101010101" pitchFamily="49" charset="-122"/>
              </a:rPr>
              <a:t>+RV64D</a:t>
            </a:r>
            <a:r>
              <a:rPr lang="zh-CN" altLang="en-US" sz="1800" dirty="0">
                <a:ea typeface="黑体" panose="02010609060101010101" pitchFamily="49" charset="-122"/>
              </a:rPr>
              <a:t>）。</a:t>
            </a:r>
          </a:p>
          <a:p>
            <a:pPr lvl="1" eaLnBrk="0" hangingPunct="0">
              <a:lnSpc>
                <a:spcPct val="112000"/>
              </a:lnSpc>
              <a:spcBef>
                <a:spcPct val="15000"/>
              </a:spcBef>
              <a:buFontTx/>
              <a:buChar char="–"/>
              <a:defRPr/>
            </a:pPr>
            <a:r>
              <a:rPr lang="zh-CN" altLang="en-US" sz="1800" dirty="0">
                <a:ea typeface="黑体" panose="02010609060101010101" pitchFamily="49" charset="-122"/>
              </a:rPr>
              <a:t>针对事务处理和操作原子性的需要，提供了</a:t>
            </a:r>
            <a:r>
              <a:rPr lang="en-US" altLang="zh-CN" sz="1800" dirty="0">
                <a:ea typeface="黑体" panose="02010609060101010101" pitchFamily="49" charset="-122"/>
              </a:rPr>
              <a:t>32</a:t>
            </a:r>
            <a:r>
              <a:rPr lang="zh-CN" altLang="en-US" sz="1800" dirty="0">
                <a:ea typeface="黑体" panose="02010609060101010101" pitchFamily="49" charset="-122"/>
              </a:rPr>
              <a:t>位架构原子操作指令集</a:t>
            </a:r>
            <a:r>
              <a:rPr lang="en-US" altLang="zh-CN" sz="1800" dirty="0">
                <a:ea typeface="黑体" panose="02010609060101010101" pitchFamily="49" charset="-122"/>
              </a:rPr>
              <a:t>RV32A</a:t>
            </a:r>
            <a:r>
              <a:rPr lang="zh-CN" altLang="en-US" sz="1800" dirty="0">
                <a:ea typeface="黑体" panose="02010609060101010101" pitchFamily="49" charset="-122"/>
              </a:rPr>
              <a:t>以及</a:t>
            </a:r>
            <a:r>
              <a:rPr lang="en-US" altLang="zh-CN" sz="1800" dirty="0">
                <a:ea typeface="黑体" panose="02010609060101010101" pitchFamily="49" charset="-122"/>
              </a:rPr>
              <a:t>RV64A</a:t>
            </a:r>
            <a:r>
              <a:rPr lang="zh-CN" altLang="en-US" sz="1800" dirty="0">
                <a:ea typeface="黑体" panose="02010609060101010101" pitchFamily="49" charset="-122"/>
              </a:rPr>
              <a:t>专用指令集（</a:t>
            </a:r>
            <a:r>
              <a:rPr lang="en-US" altLang="zh-CN" sz="1800" dirty="0">
                <a:ea typeface="黑体" panose="02010609060101010101" pitchFamily="49" charset="-122"/>
              </a:rPr>
              <a:t>+RV64A</a:t>
            </a:r>
            <a:r>
              <a:rPr lang="zh-CN" altLang="en-US" sz="1800" dirty="0">
                <a:ea typeface="黑体" panose="02010609060101010101" pitchFamily="49" charset="-122"/>
              </a:rPr>
              <a:t>）。关于事务处理和原子性操作问题的说明可参考第</a:t>
            </a:r>
            <a:r>
              <a:rPr lang="en-US" altLang="zh-CN" sz="1800" dirty="0">
                <a:ea typeface="黑体" panose="02010609060101010101" pitchFamily="49" charset="-122"/>
              </a:rPr>
              <a:t>8</a:t>
            </a:r>
            <a:r>
              <a:rPr lang="zh-CN" altLang="en-US" sz="1800" dirty="0">
                <a:ea typeface="黑体" panose="02010609060101010101" pitchFamily="49" charset="-122"/>
              </a:rPr>
              <a:t>章。</a:t>
            </a:r>
            <a:endParaRPr lang="en-US" altLang="zh-CN" sz="1800" dirty="0">
              <a:ea typeface="黑体" panose="02010609060101010101" pitchFamily="49" charset="-122"/>
            </a:endParaRPr>
          </a:p>
          <a:p>
            <a:pPr marL="381000" lvl="1" indent="-381000" eaLnBrk="0" hangingPunct="0">
              <a:lnSpc>
                <a:spcPct val="112000"/>
              </a:lnSpc>
              <a:spcBef>
                <a:spcPct val="15000"/>
              </a:spcBef>
              <a:buSzPct val="75000"/>
              <a:buFont typeface="Wingdings" panose="05000000000000000000" pitchFamily="2" charset="2"/>
              <a:buChar char="u"/>
              <a:defRPr/>
            </a:pPr>
            <a:r>
              <a:rPr lang="zh-CN" altLang="en-US" sz="1800" dirty="0">
                <a:solidFill>
                  <a:schemeClr val="tx1"/>
                </a:solidFill>
                <a:ea typeface="黑体" panose="02010609060101010101" pitchFamily="49" charset="-122"/>
              </a:rPr>
              <a:t>向量处理指令集</a:t>
            </a:r>
            <a:r>
              <a:rPr lang="en-US" altLang="zh-CN" sz="1800" dirty="0">
                <a:solidFill>
                  <a:schemeClr val="tx1"/>
                </a:solidFill>
                <a:ea typeface="黑体" panose="02010609060101010101" pitchFamily="49" charset="-122"/>
              </a:rPr>
              <a:t>RVV</a:t>
            </a:r>
            <a:r>
              <a:rPr lang="zh-CN" altLang="en-US" sz="1800" dirty="0">
                <a:solidFill>
                  <a:schemeClr val="tx1"/>
                </a:solidFill>
                <a:ea typeface="黑体" panose="02010609060101010101" pitchFamily="49" charset="-122"/>
              </a:rPr>
              <a:t>、未来可选扩展指令集</a:t>
            </a:r>
            <a:r>
              <a:rPr lang="en-US" altLang="zh-CN" sz="1800" dirty="0">
                <a:solidFill>
                  <a:schemeClr val="tx1"/>
                </a:solidFill>
                <a:ea typeface="黑体" panose="02010609060101010101" pitchFamily="49" charset="-122"/>
              </a:rPr>
              <a:t>RVB</a:t>
            </a:r>
            <a:r>
              <a:rPr lang="zh-CN" altLang="en-US" sz="1800" dirty="0">
                <a:solidFill>
                  <a:schemeClr val="tx1"/>
                </a:solidFill>
                <a:ea typeface="黑体" panose="02010609060101010101" pitchFamily="49" charset="-122"/>
              </a:rPr>
              <a:t>、</a:t>
            </a:r>
            <a:r>
              <a:rPr lang="en-US" altLang="zh-CN" sz="1800" dirty="0">
                <a:solidFill>
                  <a:schemeClr val="tx1"/>
                </a:solidFill>
                <a:ea typeface="黑体" panose="02010609060101010101" pitchFamily="49" charset="-122"/>
              </a:rPr>
              <a:t>RVE</a:t>
            </a:r>
            <a:r>
              <a:rPr lang="zh-CN" altLang="en-US" sz="1800" dirty="0">
                <a:solidFill>
                  <a:schemeClr val="tx1"/>
                </a:solidFill>
                <a:ea typeface="黑体" panose="02010609060101010101" pitchFamily="49" charset="-122"/>
              </a:rPr>
              <a:t>、</a:t>
            </a:r>
            <a:r>
              <a:rPr lang="en-US" altLang="zh-CN" sz="1800" dirty="0">
                <a:solidFill>
                  <a:schemeClr val="tx1"/>
                </a:solidFill>
                <a:ea typeface="黑体" panose="02010609060101010101" pitchFamily="49" charset="-122"/>
              </a:rPr>
              <a:t>RVH</a:t>
            </a:r>
            <a:r>
              <a:rPr lang="zh-CN" altLang="en-US" sz="1800" dirty="0">
                <a:solidFill>
                  <a:schemeClr val="tx1"/>
                </a:solidFill>
                <a:ea typeface="黑体" panose="02010609060101010101" pitchFamily="49" charset="-122"/>
              </a:rPr>
              <a:t>、</a:t>
            </a:r>
            <a:r>
              <a:rPr lang="en-US" altLang="zh-CN" sz="1800" dirty="0">
                <a:solidFill>
                  <a:schemeClr val="tx1"/>
                </a:solidFill>
                <a:latin typeface="+mn-ea"/>
                <a:ea typeface="+mn-ea"/>
              </a:rPr>
              <a:t>……</a:t>
            </a:r>
          </a:p>
          <a:p>
            <a:pPr lvl="1" eaLnBrk="0" hangingPunct="0">
              <a:lnSpc>
                <a:spcPct val="105000"/>
              </a:lnSpc>
              <a:spcBef>
                <a:spcPct val="15000"/>
              </a:spcBef>
              <a:buFontTx/>
              <a:buChar char="–"/>
              <a:defRPr/>
            </a:pPr>
            <a:endParaRPr lang="en-US" altLang="zh-CN" sz="1800" dirty="0">
              <a:ea typeface="黑体" panose="02010609060101010101" pitchFamily="49" charset="-122"/>
            </a:endParaRPr>
          </a:p>
        </p:txBody>
      </p:sp>
      <p:sp>
        <p:nvSpPr>
          <p:cNvPr id="86018" name="Rectangle 5">
            <a:extLst>
              <a:ext uri="{FF2B5EF4-FFF2-40B4-BE49-F238E27FC236}">
                <a16:creationId xmlns:a16="http://schemas.microsoft.com/office/drawing/2014/main" id="{849C24D6-F782-316C-E5B7-093833A54CB0}"/>
              </a:ext>
            </a:extLst>
          </p:cNvPr>
          <p:cNvSpPr>
            <a:spLocks noGrp="1" noChangeArrowheads="1"/>
          </p:cNvSpPr>
          <p:nvPr>
            <p:ph type="title"/>
          </p:nvPr>
        </p:nvSpPr>
        <p:spPr>
          <a:xfrm>
            <a:off x="711200" y="114300"/>
            <a:ext cx="4841875" cy="425450"/>
          </a:xfrm>
        </p:spPr>
        <p:txBody>
          <a:bodyPr/>
          <a:lstStyle/>
          <a:p>
            <a:r>
              <a:rPr lang="en-US" altLang="zh-CN">
                <a:ea typeface="宋体" panose="02010600030101010101" pitchFamily="2" charset="-122"/>
              </a:rPr>
              <a:t>RISC-V</a:t>
            </a:r>
            <a:r>
              <a:rPr lang="zh-CN" altLang="en-US">
                <a:ea typeface="宋体" panose="02010600030101010101" pitchFamily="2" charset="-122"/>
              </a:rPr>
              <a:t>可选的扩展指令集</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24930">
                                            <p:txEl>
                                              <p:pRg st="1" end="1"/>
                                            </p:txEl>
                                          </p:spTgt>
                                        </p:tgtEl>
                                        <p:attrNameLst>
                                          <p:attrName>style.visibility</p:attrName>
                                        </p:attrNameLst>
                                      </p:cBhvr>
                                      <p:to>
                                        <p:strVal val="visible"/>
                                      </p:to>
                                    </p:set>
                                    <p:animEffect transition="in" filter="randombar(horizontal)">
                                      <p:cBhvr>
                                        <p:cTn id="7" dur="500"/>
                                        <p:tgtEl>
                                          <p:spTgt spid="12493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24930">
                                            <p:txEl>
                                              <p:pRg st="2" end="2"/>
                                            </p:txEl>
                                          </p:spTgt>
                                        </p:tgtEl>
                                        <p:attrNameLst>
                                          <p:attrName>style.visibility</p:attrName>
                                        </p:attrNameLst>
                                      </p:cBhvr>
                                      <p:to>
                                        <p:strVal val="visible"/>
                                      </p:to>
                                    </p:set>
                                    <p:animEffect transition="in" filter="randombar(horizontal)">
                                      <p:cBhvr>
                                        <p:cTn id="12" dur="500"/>
                                        <p:tgtEl>
                                          <p:spTgt spid="12493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24930">
                                            <p:txEl>
                                              <p:pRg st="4" end="4"/>
                                            </p:txEl>
                                          </p:spTgt>
                                        </p:tgtEl>
                                        <p:attrNameLst>
                                          <p:attrName>style.visibility</p:attrName>
                                        </p:attrNameLst>
                                      </p:cBhvr>
                                      <p:to>
                                        <p:strVal val="visible"/>
                                      </p:to>
                                    </p:set>
                                    <p:animEffect transition="in" filter="randombar(horizontal)">
                                      <p:cBhvr>
                                        <p:cTn id="17" dur="500"/>
                                        <p:tgtEl>
                                          <p:spTgt spid="124930">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24930">
                                            <p:txEl>
                                              <p:pRg st="5" end="5"/>
                                            </p:txEl>
                                          </p:spTgt>
                                        </p:tgtEl>
                                        <p:attrNameLst>
                                          <p:attrName>style.visibility</p:attrName>
                                        </p:attrNameLst>
                                      </p:cBhvr>
                                      <p:to>
                                        <p:strVal val="visible"/>
                                      </p:to>
                                    </p:set>
                                    <p:animEffect transition="in" filter="randombar(horizontal)">
                                      <p:cBhvr>
                                        <p:cTn id="22" dur="500"/>
                                        <p:tgtEl>
                                          <p:spTgt spid="124930">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124930">
                                            <p:txEl>
                                              <p:pRg st="6" end="6"/>
                                            </p:txEl>
                                          </p:spTgt>
                                        </p:tgtEl>
                                        <p:attrNameLst>
                                          <p:attrName>style.visibility</p:attrName>
                                        </p:attrNameLst>
                                      </p:cBhvr>
                                      <p:to>
                                        <p:strVal val="visible"/>
                                      </p:to>
                                    </p:set>
                                    <p:animEffect transition="in" filter="randombar(horizontal)">
                                      <p:cBhvr>
                                        <p:cTn id="27" dur="500"/>
                                        <p:tgtEl>
                                          <p:spTgt spid="124930">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124930">
                                            <p:txEl>
                                              <p:pRg st="7" end="7"/>
                                            </p:txEl>
                                          </p:spTgt>
                                        </p:tgtEl>
                                        <p:attrNameLst>
                                          <p:attrName>style.visibility</p:attrName>
                                        </p:attrNameLst>
                                      </p:cBhvr>
                                      <p:to>
                                        <p:strVal val="visible"/>
                                      </p:to>
                                    </p:set>
                                    <p:animEffect transition="in" filter="randombar(horizontal)">
                                      <p:cBhvr>
                                        <p:cTn id="32" dur="500"/>
                                        <p:tgtEl>
                                          <p:spTgt spid="124930">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124930">
                                            <p:txEl>
                                              <p:pRg st="8" end="8"/>
                                            </p:txEl>
                                          </p:spTgt>
                                        </p:tgtEl>
                                        <p:attrNameLst>
                                          <p:attrName>style.visibility</p:attrName>
                                        </p:attrNameLst>
                                      </p:cBhvr>
                                      <p:to>
                                        <p:strVal val="visible"/>
                                      </p:to>
                                    </p:set>
                                    <p:animEffect transition="in" filter="randombar(horizontal)">
                                      <p:cBhvr>
                                        <p:cTn id="37" dur="500"/>
                                        <p:tgtEl>
                                          <p:spTgt spid="12493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041" name="Rectangle 5">
            <a:extLst>
              <a:ext uri="{FF2B5EF4-FFF2-40B4-BE49-F238E27FC236}">
                <a16:creationId xmlns:a16="http://schemas.microsoft.com/office/drawing/2014/main" id="{8B0D14A4-258F-9821-FC8E-BECBCD88F933}"/>
              </a:ext>
            </a:extLst>
          </p:cNvPr>
          <p:cNvSpPr>
            <a:spLocks noGrp="1" noChangeArrowheads="1"/>
          </p:cNvSpPr>
          <p:nvPr>
            <p:ph type="title"/>
          </p:nvPr>
        </p:nvSpPr>
        <p:spPr>
          <a:xfrm>
            <a:off x="711200" y="114300"/>
            <a:ext cx="4841875" cy="373063"/>
          </a:xfrm>
        </p:spPr>
        <p:txBody>
          <a:bodyPr/>
          <a:lstStyle/>
          <a:p>
            <a:r>
              <a:rPr lang="en-US" altLang="zh-CN">
                <a:ea typeface="宋体" panose="02010600030101010101" pitchFamily="2" charset="-122"/>
              </a:rPr>
              <a:t>64</a:t>
            </a:r>
            <a:r>
              <a:rPr lang="zh-CN" altLang="en-US">
                <a:ea typeface="宋体" panose="02010600030101010101" pitchFamily="2" charset="-122"/>
              </a:rPr>
              <a:t>位架构指令举例</a:t>
            </a:r>
            <a:endParaRPr lang="en-US" altLang="zh-CN">
              <a:ea typeface="宋体" panose="02010600030101010101" pitchFamily="2" charset="-122"/>
            </a:endParaRPr>
          </a:p>
        </p:txBody>
      </p:sp>
      <p:sp>
        <p:nvSpPr>
          <p:cNvPr id="87042" name="矩形 1">
            <a:extLst>
              <a:ext uri="{FF2B5EF4-FFF2-40B4-BE49-F238E27FC236}">
                <a16:creationId xmlns:a16="http://schemas.microsoft.com/office/drawing/2014/main" id="{E27FD63C-FAF1-CA9B-8498-49502787D1CA}"/>
              </a:ext>
            </a:extLst>
          </p:cNvPr>
          <p:cNvSpPr>
            <a:spLocks noChangeArrowheads="1"/>
          </p:cNvSpPr>
          <p:nvPr/>
        </p:nvSpPr>
        <p:spPr bwMode="auto">
          <a:xfrm>
            <a:off x="442913" y="871538"/>
            <a:ext cx="8489950"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sz="2000">
                <a:solidFill>
                  <a:srgbClr val="C00000"/>
                </a:solidFill>
                <a:latin typeface="微软雅黑" panose="020B0503020204020204" pitchFamily="34" charset="-122"/>
                <a:ea typeface="微软雅黑" panose="020B0503020204020204" pitchFamily="34" charset="-122"/>
              </a:rPr>
              <a:t>例：</a:t>
            </a:r>
            <a:r>
              <a:rPr lang="zh-CN" altLang="en-US" sz="2000">
                <a:solidFill>
                  <a:schemeClr val="tx1"/>
                </a:solidFill>
                <a:latin typeface="微软雅黑" panose="020B0503020204020204" pitchFamily="34" charset="-122"/>
                <a:ea typeface="微软雅黑" panose="020B0503020204020204" pitchFamily="34" charset="-122"/>
              </a:rPr>
              <a:t>在</a:t>
            </a:r>
            <a:r>
              <a:rPr lang="en-US" altLang="zh-CN" sz="2000">
                <a:solidFill>
                  <a:schemeClr val="tx1"/>
                </a:solidFill>
                <a:latin typeface="微软雅黑" panose="020B0503020204020204" pitchFamily="34" charset="-122"/>
                <a:ea typeface="微软雅黑" panose="020B0503020204020204" pitchFamily="34" charset="-122"/>
              </a:rPr>
              <a:t>64</a:t>
            </a:r>
            <a:r>
              <a:rPr lang="zh-CN" altLang="en-US" sz="2000">
                <a:solidFill>
                  <a:schemeClr val="tx1"/>
                </a:solidFill>
                <a:latin typeface="微软雅黑" panose="020B0503020204020204" pitchFamily="34" charset="-122"/>
                <a:ea typeface="微软雅黑" panose="020B0503020204020204" pitchFamily="34" charset="-122"/>
              </a:rPr>
              <a:t>位</a:t>
            </a:r>
            <a:r>
              <a:rPr lang="en-US" altLang="zh-CN" sz="2000">
                <a:solidFill>
                  <a:schemeClr val="tx1"/>
                </a:solidFill>
                <a:latin typeface="微软雅黑" panose="020B0503020204020204" pitchFamily="34" charset="-122"/>
                <a:ea typeface="微软雅黑" panose="020B0503020204020204" pitchFamily="34" charset="-122"/>
              </a:rPr>
              <a:t>RISC-V</a:t>
            </a:r>
            <a:r>
              <a:rPr lang="zh-CN" altLang="en-US" sz="2000">
                <a:solidFill>
                  <a:schemeClr val="tx1"/>
                </a:solidFill>
                <a:latin typeface="微软雅黑" panose="020B0503020204020204" pitchFamily="34" charset="-122"/>
                <a:ea typeface="微软雅黑" panose="020B0503020204020204" pitchFamily="34" charset="-122"/>
              </a:rPr>
              <a:t>架构中，如何实现将一个</a:t>
            </a:r>
            <a:r>
              <a:rPr lang="en-US" altLang="zh-CN" sz="2000">
                <a:solidFill>
                  <a:schemeClr val="tx1"/>
                </a:solidFill>
                <a:latin typeface="微软雅黑" panose="020B0503020204020204" pitchFamily="34" charset="-122"/>
                <a:ea typeface="微软雅黑" panose="020B0503020204020204" pitchFamily="34" charset="-122"/>
              </a:rPr>
              <a:t>32</a:t>
            </a:r>
            <a:r>
              <a:rPr lang="zh-CN" altLang="en-US" sz="2000">
                <a:solidFill>
                  <a:schemeClr val="tx1"/>
                </a:solidFill>
                <a:latin typeface="微软雅黑" panose="020B0503020204020204" pitchFamily="34" charset="-122"/>
                <a:ea typeface="微软雅黑" panose="020B0503020204020204" pitchFamily="34" charset="-122"/>
              </a:rPr>
              <a:t>位常数</a:t>
            </a:r>
            <a:r>
              <a:rPr lang="en-US" altLang="zh-CN" sz="2000">
                <a:solidFill>
                  <a:schemeClr val="accent1"/>
                </a:solidFill>
                <a:latin typeface="微软雅黑" panose="020B0503020204020204" pitchFamily="34" charset="-122"/>
                <a:ea typeface="微软雅黑" panose="020B0503020204020204" pitchFamily="34" charset="-122"/>
              </a:rPr>
              <a:t>00000000 00111101 0000</a:t>
            </a:r>
            <a:r>
              <a:rPr lang="en-US" altLang="zh-CN" sz="2000">
                <a:solidFill>
                  <a:srgbClr val="4B9556"/>
                </a:solidFill>
                <a:latin typeface="微软雅黑" panose="020B0503020204020204" pitchFamily="34" charset="-122"/>
                <a:ea typeface="微软雅黑" panose="020B0503020204020204" pitchFamily="34" charset="-122"/>
              </a:rPr>
              <a:t>0101 00000000</a:t>
            </a:r>
            <a:r>
              <a:rPr lang="zh-CN" altLang="en-US" sz="2000">
                <a:solidFill>
                  <a:schemeClr val="tx1"/>
                </a:solidFill>
                <a:latin typeface="微软雅黑" panose="020B0503020204020204" pitchFamily="34" charset="-122"/>
                <a:ea typeface="微软雅黑" panose="020B0503020204020204" pitchFamily="34" charset="-122"/>
              </a:rPr>
              <a:t>装入</a:t>
            </a:r>
            <a:r>
              <a:rPr lang="en-US" altLang="zh-CN" sz="2000">
                <a:solidFill>
                  <a:schemeClr val="tx1"/>
                </a:solidFill>
                <a:latin typeface="微软雅黑" panose="020B0503020204020204" pitchFamily="34" charset="-122"/>
                <a:ea typeface="微软雅黑" panose="020B0503020204020204" pitchFamily="34" charset="-122"/>
              </a:rPr>
              <a:t>64</a:t>
            </a:r>
            <a:r>
              <a:rPr lang="zh-CN" altLang="en-US" sz="2000">
                <a:solidFill>
                  <a:schemeClr val="tx1"/>
                </a:solidFill>
                <a:latin typeface="微软雅黑" panose="020B0503020204020204" pitchFamily="34" charset="-122"/>
                <a:ea typeface="微软雅黑" panose="020B0503020204020204" pitchFamily="34" charset="-122"/>
              </a:rPr>
              <a:t>位寄存器</a:t>
            </a:r>
            <a:r>
              <a:rPr lang="en-US" altLang="zh-CN" sz="2000">
                <a:solidFill>
                  <a:schemeClr val="tx1"/>
                </a:solidFill>
                <a:latin typeface="微软雅黑" panose="020B0503020204020204" pitchFamily="34" charset="-122"/>
                <a:ea typeface="微软雅黑" panose="020B0503020204020204" pitchFamily="34" charset="-122"/>
              </a:rPr>
              <a:t>a0</a:t>
            </a:r>
            <a:r>
              <a:rPr lang="zh-CN" altLang="en-US" sz="2000">
                <a:solidFill>
                  <a:schemeClr val="tx1"/>
                </a:solidFill>
                <a:latin typeface="微软雅黑" panose="020B0503020204020204" pitchFamily="34" charset="-122"/>
                <a:ea typeface="微软雅黑" panose="020B0503020204020204" pitchFamily="34" charset="-122"/>
              </a:rPr>
              <a:t>中？</a:t>
            </a:r>
          </a:p>
          <a:p>
            <a:pPr eaLnBrk="0" hangingPunct="0">
              <a:lnSpc>
                <a:spcPct val="150000"/>
              </a:lnSpc>
            </a:pPr>
            <a:r>
              <a:rPr lang="zh-CN" altLang="en-US" sz="2000">
                <a:solidFill>
                  <a:srgbClr val="C00000"/>
                </a:solidFill>
                <a:latin typeface="微软雅黑" panose="020B0503020204020204" pitchFamily="34" charset="-122"/>
                <a:ea typeface="微软雅黑" panose="020B0503020204020204" pitchFamily="34" charset="-122"/>
              </a:rPr>
              <a:t>解：在</a:t>
            </a:r>
            <a:r>
              <a:rPr lang="en-US" altLang="zh-CN" sz="2000">
                <a:solidFill>
                  <a:srgbClr val="C00000"/>
                </a:solidFill>
                <a:latin typeface="微软雅黑" panose="020B0503020204020204" pitchFamily="34" charset="-122"/>
                <a:ea typeface="微软雅黑" panose="020B0503020204020204" pitchFamily="34" charset="-122"/>
              </a:rPr>
              <a:t>64</a:t>
            </a:r>
            <a:r>
              <a:rPr lang="zh-CN" altLang="en-US" sz="2000">
                <a:solidFill>
                  <a:srgbClr val="C00000"/>
                </a:solidFill>
                <a:latin typeface="微软雅黑" panose="020B0503020204020204" pitchFamily="34" charset="-122"/>
                <a:ea typeface="微软雅黑" panose="020B0503020204020204" pitchFamily="34" charset="-122"/>
              </a:rPr>
              <a:t>位架构中，</a:t>
            </a:r>
            <a:r>
              <a:rPr lang="en-US" altLang="zh-CN" sz="2000">
                <a:solidFill>
                  <a:srgbClr val="C00000"/>
                </a:solidFill>
                <a:latin typeface="微软雅黑" panose="020B0503020204020204" pitchFamily="34" charset="-122"/>
                <a:ea typeface="微软雅黑" panose="020B0503020204020204" pitchFamily="34" charset="-122"/>
              </a:rPr>
              <a:t>lui</a:t>
            </a:r>
            <a:r>
              <a:rPr lang="zh-CN" altLang="en-US" sz="2000">
                <a:solidFill>
                  <a:srgbClr val="C00000"/>
                </a:solidFill>
                <a:latin typeface="微软雅黑" panose="020B0503020204020204" pitchFamily="34" charset="-122"/>
                <a:ea typeface="微软雅黑" panose="020B0503020204020204" pitchFamily="34" charset="-122"/>
              </a:rPr>
              <a:t>指令将一个常数的高位装入到</a:t>
            </a:r>
            <a:r>
              <a:rPr lang="en-US" altLang="zh-CN" sz="2000">
                <a:solidFill>
                  <a:srgbClr val="C00000"/>
                </a:solidFill>
                <a:latin typeface="微软雅黑" panose="020B0503020204020204" pitchFamily="34" charset="-122"/>
                <a:ea typeface="微软雅黑" panose="020B0503020204020204" pitchFamily="34" charset="-122"/>
              </a:rPr>
              <a:t>64</a:t>
            </a:r>
            <a:r>
              <a:rPr lang="zh-CN" altLang="en-US" sz="2000">
                <a:solidFill>
                  <a:srgbClr val="C00000"/>
                </a:solidFill>
                <a:latin typeface="微软雅黑" panose="020B0503020204020204" pitchFamily="34" charset="-122"/>
                <a:ea typeface="微软雅黑" panose="020B0503020204020204" pitchFamily="34" charset="-122"/>
              </a:rPr>
              <a:t>位寄存器中。</a:t>
            </a:r>
            <a:endParaRPr lang="en-US" altLang="zh-CN" sz="2000">
              <a:solidFill>
                <a:srgbClr val="C00000"/>
              </a:solidFill>
              <a:latin typeface="微软雅黑" panose="020B0503020204020204" pitchFamily="34" charset="-122"/>
              <a:ea typeface="微软雅黑" panose="020B0503020204020204" pitchFamily="34" charset="-122"/>
            </a:endParaRPr>
          </a:p>
          <a:p>
            <a:pPr eaLnBrk="0" hangingPunct="0">
              <a:lnSpc>
                <a:spcPct val="150000"/>
              </a:lnSpc>
            </a:pPr>
            <a:r>
              <a:rPr lang="zh-CN" altLang="en-US" sz="2000">
                <a:latin typeface="微软雅黑" panose="020B0503020204020204" pitchFamily="34" charset="-122"/>
                <a:ea typeface="微软雅黑" panose="020B0503020204020204" pitchFamily="34" charset="-122"/>
              </a:rPr>
              <a:t>首先，可以用</a:t>
            </a:r>
            <a:r>
              <a:rPr lang="en-US" altLang="zh-CN" sz="2000">
                <a:latin typeface="微软雅黑" panose="020B0503020204020204" pitchFamily="34" charset="-122"/>
                <a:ea typeface="微软雅黑" panose="020B0503020204020204" pitchFamily="34" charset="-122"/>
              </a:rPr>
              <a:t>lui</a:t>
            </a:r>
            <a:r>
              <a:rPr lang="zh-CN" altLang="en-US" sz="2000">
                <a:latin typeface="微软雅黑" panose="020B0503020204020204" pitchFamily="34" charset="-122"/>
                <a:ea typeface="微软雅黑" panose="020B0503020204020204" pitchFamily="34" charset="-122"/>
              </a:rPr>
              <a:t>指令将常数中的第</a:t>
            </a:r>
            <a:r>
              <a:rPr lang="en-US" altLang="zh-CN" sz="2000">
                <a:latin typeface="微软雅黑" panose="020B0503020204020204" pitchFamily="34" charset="-122"/>
                <a:ea typeface="微软雅黑" panose="020B0503020204020204" pitchFamily="34" charset="-122"/>
              </a:rPr>
              <a:t>31~12</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0000 0000 0011 1101 0000</a:t>
            </a:r>
            <a:r>
              <a:rPr lang="zh-CN" altLang="en-US" sz="2000">
                <a:latin typeface="微软雅黑" panose="020B0503020204020204" pitchFamily="34" charset="-122"/>
                <a:ea typeface="微软雅黑" panose="020B0503020204020204" pitchFamily="34" charset="-122"/>
              </a:rPr>
              <a:t>（对应十进制数</a:t>
            </a:r>
            <a:r>
              <a:rPr lang="en-US" altLang="zh-CN" sz="2000">
                <a:latin typeface="微软雅黑" panose="020B0503020204020204" pitchFamily="34" charset="-122"/>
                <a:ea typeface="微软雅黑" panose="020B0503020204020204" pitchFamily="34" charset="-122"/>
              </a:rPr>
              <a:t>976</a:t>
            </a:r>
            <a:r>
              <a:rPr lang="zh-CN" altLang="en-US" sz="2000">
                <a:latin typeface="微软雅黑" panose="020B0503020204020204" pitchFamily="34" charset="-122"/>
                <a:ea typeface="微软雅黑" panose="020B0503020204020204" pitchFamily="34" charset="-122"/>
              </a:rPr>
              <a:t>）装入到</a:t>
            </a:r>
            <a:r>
              <a:rPr lang="en-US" altLang="zh-CN" sz="2000">
                <a:latin typeface="微软雅黑" panose="020B0503020204020204" pitchFamily="34" charset="-122"/>
                <a:ea typeface="微软雅黑" panose="020B0503020204020204" pitchFamily="34" charset="-122"/>
              </a:rPr>
              <a:t>a0</a:t>
            </a:r>
            <a:r>
              <a:rPr lang="zh-CN" altLang="en-US" sz="2000">
                <a:latin typeface="微软雅黑" panose="020B0503020204020204" pitchFamily="34" charset="-122"/>
                <a:ea typeface="微软雅黑" panose="020B0503020204020204" pitchFamily="34" charset="-122"/>
              </a:rPr>
              <a:t>寄存器的第</a:t>
            </a:r>
            <a:r>
              <a:rPr lang="en-US" altLang="zh-CN" sz="2000">
                <a:latin typeface="微软雅黑" panose="020B0503020204020204" pitchFamily="34" charset="-122"/>
                <a:ea typeface="微软雅黑" panose="020B0503020204020204" pitchFamily="34" charset="-122"/>
              </a:rPr>
              <a:t>31~12</a:t>
            </a:r>
            <a:r>
              <a:rPr lang="zh-CN" altLang="en-US" sz="2000">
                <a:latin typeface="微软雅黑" panose="020B0503020204020204" pitchFamily="34" charset="-122"/>
                <a:ea typeface="微软雅黑" panose="020B0503020204020204" pitchFamily="34" charset="-122"/>
              </a:rPr>
              <a:t>位，同时，</a:t>
            </a:r>
            <a:r>
              <a:rPr lang="en-US" altLang="zh-CN" sz="2000">
                <a:latin typeface="微软雅黑" panose="020B0503020204020204" pitchFamily="34" charset="-122"/>
                <a:ea typeface="微软雅黑" panose="020B0503020204020204" pitchFamily="34" charset="-122"/>
              </a:rPr>
              <a:t>a0</a:t>
            </a:r>
            <a:r>
              <a:rPr lang="zh-CN" altLang="en-US" sz="2000">
                <a:latin typeface="微软雅黑" panose="020B0503020204020204" pitchFamily="34" charset="-122"/>
                <a:ea typeface="微软雅黑" panose="020B0503020204020204" pitchFamily="34" charset="-122"/>
              </a:rPr>
              <a:t>寄存器的第</a:t>
            </a:r>
            <a:r>
              <a:rPr lang="en-US" altLang="zh-CN" sz="2000">
                <a:latin typeface="微软雅黑" panose="020B0503020204020204" pitchFamily="34" charset="-122"/>
                <a:ea typeface="微软雅黑" panose="020B0503020204020204" pitchFamily="34" charset="-122"/>
              </a:rPr>
              <a:t>11~0</a:t>
            </a:r>
            <a:r>
              <a:rPr lang="zh-CN" altLang="en-US" sz="2000">
                <a:latin typeface="微软雅黑" panose="020B0503020204020204" pitchFamily="34" charset="-122"/>
                <a:ea typeface="微软雅黑" panose="020B0503020204020204" pitchFamily="34" charset="-122"/>
              </a:rPr>
              <a:t>位为全</a:t>
            </a:r>
            <a:r>
              <a:rPr lang="en-US" altLang="zh-CN" sz="2000">
                <a:latin typeface="微软雅黑" panose="020B0503020204020204" pitchFamily="34" charset="-122"/>
                <a:ea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rPr>
              <a:t>，高</a:t>
            </a:r>
            <a:r>
              <a:rPr lang="en-US" altLang="zh-CN" sz="2000">
                <a:latin typeface="微软雅黑" panose="020B0503020204020204" pitchFamily="34" charset="-122"/>
                <a:ea typeface="微软雅黑" panose="020B0503020204020204" pitchFamily="34" charset="-122"/>
              </a:rPr>
              <a:t>32</a:t>
            </a:r>
            <a:r>
              <a:rPr lang="zh-CN" altLang="en-US" sz="2000">
                <a:latin typeface="微软雅黑" panose="020B0503020204020204" pitchFamily="34" charset="-122"/>
                <a:ea typeface="微软雅黑" panose="020B0503020204020204" pitchFamily="34" charset="-122"/>
              </a:rPr>
              <a:t>位按符号（第</a:t>
            </a:r>
            <a:r>
              <a:rPr lang="en-US" altLang="zh-CN" sz="2000">
                <a:latin typeface="微软雅黑" panose="020B0503020204020204" pitchFamily="34" charset="-122"/>
                <a:ea typeface="微软雅黑" panose="020B0503020204020204" pitchFamily="34" charset="-122"/>
              </a:rPr>
              <a:t>31</a:t>
            </a:r>
            <a:r>
              <a:rPr lang="zh-CN" altLang="en-US" sz="2000">
                <a:latin typeface="微软雅黑" panose="020B0503020204020204" pitchFamily="34" charset="-122"/>
                <a:ea typeface="微软雅黑" panose="020B0503020204020204" pitchFamily="34" charset="-122"/>
              </a:rPr>
              <a:t>位为符号）扩展为全</a:t>
            </a:r>
            <a:r>
              <a:rPr lang="en-US" altLang="zh-CN" sz="2000">
                <a:latin typeface="微软雅黑" panose="020B0503020204020204" pitchFamily="34" charset="-122"/>
                <a:ea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eaLnBrk="0" hangingPunct="0">
              <a:lnSpc>
                <a:spcPct val="150000"/>
              </a:lnSpc>
            </a:pPr>
            <a:r>
              <a:rPr lang="zh-CN" altLang="en-US" sz="2000">
                <a:latin typeface="微软雅黑" panose="020B0503020204020204" pitchFamily="34" charset="-122"/>
                <a:ea typeface="微软雅黑" panose="020B0503020204020204" pitchFamily="34" charset="-122"/>
              </a:rPr>
              <a:t>然后，再将常数的低</a:t>
            </a:r>
            <a:r>
              <a:rPr lang="en-US" altLang="zh-CN" sz="2000">
                <a:latin typeface="微软雅黑" panose="020B0503020204020204" pitchFamily="34" charset="-122"/>
                <a:ea typeface="微软雅黑" panose="020B0503020204020204" pitchFamily="34" charset="-122"/>
              </a:rPr>
              <a:t>12</a:t>
            </a:r>
            <a:r>
              <a:rPr lang="zh-CN" altLang="en-US" sz="2000">
                <a:latin typeface="微软雅黑" panose="020B0503020204020204" pitchFamily="34" charset="-122"/>
                <a:ea typeface="微软雅黑" panose="020B0503020204020204" pitchFamily="34" charset="-122"/>
              </a:rPr>
              <a:t>位</a:t>
            </a:r>
            <a:r>
              <a:rPr lang="en-US" altLang="zh-CN" sz="2000">
                <a:latin typeface="微软雅黑" panose="020B0503020204020204" pitchFamily="34" charset="-122"/>
                <a:ea typeface="微软雅黑" panose="020B0503020204020204" pitchFamily="34" charset="-122"/>
              </a:rPr>
              <a:t>0101 0000 0000</a:t>
            </a:r>
            <a:r>
              <a:rPr lang="zh-CN" altLang="en-US" sz="2000">
                <a:latin typeface="微软雅黑" panose="020B0503020204020204" pitchFamily="34" charset="-122"/>
                <a:ea typeface="微软雅黑" panose="020B0503020204020204" pitchFamily="34" charset="-122"/>
              </a:rPr>
              <a:t>（对应十进制数</a:t>
            </a:r>
            <a:r>
              <a:rPr lang="en-US" altLang="zh-CN" sz="2000">
                <a:latin typeface="微软雅黑" panose="020B0503020204020204" pitchFamily="34" charset="-122"/>
                <a:ea typeface="微软雅黑" panose="020B0503020204020204" pitchFamily="34" charset="-122"/>
              </a:rPr>
              <a:t>1280</a:t>
            </a:r>
            <a:r>
              <a:rPr lang="zh-CN" altLang="en-US" sz="2000">
                <a:latin typeface="微软雅黑" panose="020B0503020204020204" pitchFamily="34" charset="-122"/>
                <a:ea typeface="微软雅黑" panose="020B0503020204020204" pitchFamily="34" charset="-122"/>
              </a:rPr>
              <a:t>）加到</a:t>
            </a:r>
            <a:r>
              <a:rPr lang="en-US" altLang="zh-CN" sz="2000">
                <a:latin typeface="微软雅黑" panose="020B0503020204020204" pitchFamily="34" charset="-122"/>
                <a:ea typeface="微软雅黑" panose="020B0503020204020204" pitchFamily="34" charset="-122"/>
              </a:rPr>
              <a:t>a0</a:t>
            </a:r>
            <a:r>
              <a:rPr lang="zh-CN" altLang="en-US" sz="2000">
                <a:latin typeface="微软雅黑" panose="020B0503020204020204" pitchFamily="34" charset="-122"/>
                <a:ea typeface="微软雅黑" panose="020B0503020204020204" pitchFamily="34" charset="-122"/>
              </a:rPr>
              <a:t>寄存器。</a:t>
            </a:r>
          </a:p>
          <a:p>
            <a:pPr eaLnBrk="0" hangingPunct="0">
              <a:lnSpc>
                <a:spcPct val="150000"/>
              </a:lnSpc>
            </a:pPr>
            <a:r>
              <a:rPr lang="zh-CN" altLang="en-US" sz="2000">
                <a:latin typeface="微软雅黑" panose="020B0503020204020204" pitchFamily="34" charset="-122"/>
                <a:ea typeface="微软雅黑" panose="020B0503020204020204" pitchFamily="34" charset="-122"/>
              </a:rPr>
              <a:t>因此，实现上述功能对应的汇编指令序列为：</a:t>
            </a:r>
          </a:p>
          <a:p>
            <a:pPr eaLnBrk="0" hangingPunct="0">
              <a:lnSpc>
                <a:spcPct val="150000"/>
              </a:lnSpc>
            </a:pPr>
            <a:r>
              <a:rPr lang="en-US" altLang="zh-CN" sz="2000">
                <a:latin typeface="微软雅黑" panose="020B0503020204020204" pitchFamily="34" charset="-122"/>
                <a:ea typeface="微软雅黑" panose="020B0503020204020204" pitchFamily="34" charset="-122"/>
              </a:rPr>
              <a:t>lui	a0, 976</a:t>
            </a:r>
          </a:p>
          <a:p>
            <a:pPr eaLnBrk="0" hangingPunct="0">
              <a:lnSpc>
                <a:spcPct val="150000"/>
              </a:lnSpc>
            </a:pPr>
            <a:r>
              <a:rPr lang="en-US" altLang="zh-CN" sz="2000">
                <a:latin typeface="微软雅黑" panose="020B0503020204020204" pitchFamily="34" charset="-122"/>
                <a:ea typeface="微软雅黑" panose="020B0503020204020204" pitchFamily="34" charset="-122"/>
              </a:rPr>
              <a:t>addi	a0, a0, 1280</a:t>
            </a:r>
          </a:p>
        </p:txBody>
      </p:sp>
      <p:sp>
        <p:nvSpPr>
          <p:cNvPr id="5" name="Text Box 8">
            <a:extLst>
              <a:ext uri="{FF2B5EF4-FFF2-40B4-BE49-F238E27FC236}">
                <a16:creationId xmlns:a16="http://schemas.microsoft.com/office/drawing/2014/main" id="{A8123692-AB04-498B-2E1B-F1184FE6B138}"/>
              </a:ext>
            </a:extLst>
          </p:cNvPr>
          <p:cNvSpPr txBox="1">
            <a:spLocks noChangeArrowheads="1"/>
          </p:cNvSpPr>
          <p:nvPr/>
        </p:nvSpPr>
        <p:spPr bwMode="auto">
          <a:xfrm>
            <a:off x="6694488" y="5661025"/>
            <a:ext cx="947737"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hlinkClick r:id="rId2" action="ppaction://hlinksldjump"/>
              </a:rPr>
              <a:t>BACK</a:t>
            </a: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874837BD-21C0-03D1-CAAC-EC21F6DC47F3}"/>
              </a:ext>
            </a:extLst>
          </p:cNvPr>
          <p:cNvSpPr>
            <a:spLocks noGrp="1" noChangeArrowheads="1"/>
          </p:cNvSpPr>
          <p:nvPr>
            <p:ph type="title"/>
          </p:nvPr>
        </p:nvSpPr>
        <p:spPr>
          <a:xfrm>
            <a:off x="790575" y="111125"/>
            <a:ext cx="6073775" cy="479425"/>
          </a:xfrm>
        </p:spPr>
        <p:txBody>
          <a:bodyPr/>
          <a:lstStyle/>
          <a:p>
            <a:r>
              <a:rPr lang="en-US" altLang="zh-CN">
                <a:ea typeface="宋体" panose="02010600030101010101" pitchFamily="2" charset="-122"/>
              </a:rPr>
              <a:t>RISC-V</a:t>
            </a:r>
            <a:r>
              <a:rPr lang="zh-CN" altLang="en-US">
                <a:ea typeface="宋体" panose="02010600030101010101" pitchFamily="2" charset="-122"/>
              </a:rPr>
              <a:t>中整数的乘、除运算处理</a:t>
            </a:r>
          </a:p>
        </p:txBody>
      </p:sp>
      <p:sp>
        <p:nvSpPr>
          <p:cNvPr id="459779" name="Rectangle 3">
            <a:extLst>
              <a:ext uri="{FF2B5EF4-FFF2-40B4-BE49-F238E27FC236}">
                <a16:creationId xmlns:a16="http://schemas.microsoft.com/office/drawing/2014/main" id="{1B20B715-AED5-9961-B7CA-C57F40495E1E}"/>
              </a:ext>
            </a:extLst>
          </p:cNvPr>
          <p:cNvSpPr>
            <a:spLocks noGrp="1" noChangeArrowheads="1"/>
          </p:cNvSpPr>
          <p:nvPr>
            <p:ph idx="1"/>
          </p:nvPr>
        </p:nvSpPr>
        <p:spPr>
          <a:xfrm>
            <a:off x="311150" y="790575"/>
            <a:ext cx="8358188" cy="5638800"/>
          </a:xfrm>
        </p:spPr>
        <p:txBody>
          <a:bodyPr/>
          <a:lstStyle/>
          <a:p>
            <a:pPr>
              <a:lnSpc>
                <a:spcPct val="120000"/>
              </a:lnSpc>
              <a:spcBef>
                <a:spcPct val="35000"/>
              </a:spcBef>
            </a:pPr>
            <a:r>
              <a:rPr lang="zh-CN" altLang="en-US">
                <a:latin typeface="微软雅黑" panose="020B0503020204020204" pitchFamily="34" charset="-122"/>
                <a:ea typeface="微软雅黑" panose="020B0503020204020204" pitchFamily="34" charset="-122"/>
              </a:rPr>
              <a:t>乘法指令</a:t>
            </a:r>
            <a:r>
              <a:rPr lang="en-US" altLang="zh-CN">
                <a:latin typeface="微软雅黑" panose="020B0503020204020204" pitchFamily="34" charset="-122"/>
                <a:ea typeface="微软雅黑" panose="020B0503020204020204" pitchFamily="34" charset="-122"/>
              </a:rPr>
              <a:t>: mul</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mulh</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mulhu</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mulhsu</a:t>
            </a:r>
          </a:p>
          <a:p>
            <a:pPr lvl="1">
              <a:lnSpc>
                <a:spcPct val="120000"/>
              </a:lnSpc>
              <a:spcBef>
                <a:spcPct val="35000"/>
              </a:spcBef>
            </a:pPr>
            <a:r>
              <a:rPr lang="en-US" altLang="zh-CN">
                <a:latin typeface="微软雅黑" panose="020B0503020204020204" pitchFamily="34" charset="-122"/>
                <a:ea typeface="微软雅黑" panose="020B0503020204020204" pitchFamily="34" charset="-122"/>
              </a:rPr>
              <a:t>mul rd, rs1, rs2</a:t>
            </a:r>
            <a:r>
              <a:rPr lang="zh-CN" altLang="en-US">
                <a:latin typeface="微软雅黑" panose="020B0503020204020204" pitchFamily="34" charset="-122"/>
                <a:ea typeface="微软雅黑" panose="020B0503020204020204" pitchFamily="34" charset="-122"/>
              </a:rPr>
              <a:t>：将低</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位乘积存入结果寄存器</a:t>
            </a:r>
            <a:r>
              <a:rPr lang="en-US" altLang="zh-CN">
                <a:latin typeface="微软雅黑" panose="020B0503020204020204" pitchFamily="34" charset="-122"/>
                <a:ea typeface="微软雅黑" panose="020B0503020204020204" pitchFamily="34" charset="-122"/>
              </a:rPr>
              <a:t>rd</a:t>
            </a:r>
          </a:p>
          <a:p>
            <a:pPr lvl="1">
              <a:lnSpc>
                <a:spcPct val="120000"/>
              </a:lnSpc>
              <a:spcBef>
                <a:spcPct val="35000"/>
              </a:spcBef>
            </a:pPr>
            <a:r>
              <a:rPr lang="en-US" altLang="zh-CN">
                <a:latin typeface="微软雅黑" panose="020B0503020204020204" pitchFamily="34" charset="-122"/>
                <a:ea typeface="微软雅黑" panose="020B0503020204020204" pitchFamily="34" charset="-122"/>
              </a:rPr>
              <a:t>mulh</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mulhu</a:t>
            </a:r>
            <a:r>
              <a:rPr lang="zh-CN" altLang="en-US">
                <a:latin typeface="微软雅黑" panose="020B0503020204020204" pitchFamily="34" charset="-122"/>
                <a:ea typeface="微软雅黑" panose="020B0503020204020204" pitchFamily="34" charset="-122"/>
              </a:rPr>
              <a:t>：将两个乘数同时按带符号整数（</a:t>
            </a:r>
            <a:r>
              <a:rPr lang="en-US" altLang="zh-CN">
                <a:latin typeface="微软雅黑" panose="020B0503020204020204" pitchFamily="34" charset="-122"/>
                <a:ea typeface="微软雅黑" panose="020B0503020204020204" pitchFamily="34" charset="-122"/>
              </a:rPr>
              <a:t>mulh</a:t>
            </a:r>
            <a:r>
              <a:rPr lang="zh-CN" altLang="en-US">
                <a:latin typeface="微软雅黑" panose="020B0503020204020204" pitchFamily="34" charset="-122"/>
                <a:ea typeface="微软雅黑" panose="020B0503020204020204" pitchFamily="34" charset="-122"/>
              </a:rPr>
              <a:t>）、同时按无符号整数（</a:t>
            </a:r>
            <a:r>
              <a:rPr lang="en-US" altLang="zh-CN">
                <a:latin typeface="微软雅黑" panose="020B0503020204020204" pitchFamily="34" charset="-122"/>
                <a:ea typeface="微软雅黑" panose="020B0503020204020204" pitchFamily="34" charset="-122"/>
              </a:rPr>
              <a:t>mulhu</a:t>
            </a:r>
            <a:r>
              <a:rPr lang="zh-CN" altLang="en-US">
                <a:latin typeface="微软雅黑" panose="020B0503020204020204" pitchFamily="34" charset="-122"/>
                <a:ea typeface="微软雅黑" panose="020B0503020204020204" pitchFamily="34" charset="-122"/>
              </a:rPr>
              <a:t>）相乘，高</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位乘积存入</a:t>
            </a:r>
            <a:r>
              <a:rPr lang="en-US" altLang="zh-CN">
                <a:latin typeface="微软雅黑" panose="020B0503020204020204" pitchFamily="34" charset="-122"/>
                <a:ea typeface="微软雅黑" panose="020B0503020204020204" pitchFamily="34" charset="-122"/>
              </a:rPr>
              <a:t>rd</a:t>
            </a:r>
            <a:r>
              <a:rPr lang="zh-CN" altLang="en-US">
                <a:latin typeface="微软雅黑" panose="020B0503020204020204" pitchFamily="34" charset="-122"/>
                <a:ea typeface="微软雅黑" panose="020B0503020204020204" pitchFamily="34" charset="-122"/>
              </a:rPr>
              <a:t>中</a:t>
            </a:r>
            <a:endParaRPr lang="en-US" altLang="zh-CN">
              <a:latin typeface="微软雅黑" panose="020B0503020204020204" pitchFamily="34" charset="-122"/>
              <a:ea typeface="微软雅黑" panose="020B0503020204020204" pitchFamily="34" charset="-122"/>
            </a:endParaRPr>
          </a:p>
          <a:p>
            <a:pPr lvl="1">
              <a:lnSpc>
                <a:spcPct val="120000"/>
              </a:lnSpc>
              <a:spcBef>
                <a:spcPct val="35000"/>
              </a:spcBef>
            </a:pPr>
            <a:r>
              <a:rPr lang="en-US" altLang="zh-CN">
                <a:latin typeface="微软雅黑" panose="020B0503020204020204" pitchFamily="34" charset="-122"/>
                <a:ea typeface="微软雅黑" panose="020B0503020204020204" pitchFamily="34" charset="-122"/>
              </a:rPr>
              <a:t>mulhsu</a:t>
            </a:r>
            <a:r>
              <a:rPr lang="zh-CN" altLang="en-US">
                <a:latin typeface="微软雅黑" panose="020B0503020204020204" pitchFamily="34" charset="-122"/>
                <a:ea typeface="微软雅黑" panose="020B0503020204020204" pitchFamily="34" charset="-122"/>
              </a:rPr>
              <a:t>：将两个乘数分别作为带符号整数和无符号整数相乘后得到的高</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位乘积存入</a:t>
            </a:r>
            <a:r>
              <a:rPr lang="en-US" altLang="zh-CN">
                <a:latin typeface="微软雅黑" panose="020B0503020204020204" pitchFamily="34" charset="-122"/>
                <a:ea typeface="微软雅黑" panose="020B0503020204020204" pitchFamily="34" charset="-122"/>
              </a:rPr>
              <a:t>rd</a:t>
            </a:r>
            <a:r>
              <a:rPr lang="zh-CN" altLang="en-US">
                <a:latin typeface="微软雅黑" panose="020B0503020204020204" pitchFamily="34" charset="-122"/>
                <a:ea typeface="微软雅黑" panose="020B0503020204020204" pitchFamily="34" charset="-122"/>
              </a:rPr>
              <a:t>中</a:t>
            </a:r>
            <a:endParaRPr lang="en-US" altLang="zh-CN">
              <a:latin typeface="微软雅黑" panose="020B0503020204020204" pitchFamily="34" charset="-122"/>
              <a:ea typeface="微软雅黑" panose="020B0503020204020204" pitchFamily="34" charset="-122"/>
            </a:endParaRPr>
          </a:p>
          <a:p>
            <a:pPr lvl="1">
              <a:lnSpc>
                <a:spcPct val="120000"/>
              </a:lnSpc>
              <a:spcBef>
                <a:spcPct val="35000"/>
              </a:spcBef>
            </a:pPr>
            <a:r>
              <a:rPr lang="zh-CN" altLang="en-US">
                <a:latin typeface="微软雅黑" panose="020B0503020204020204" pitchFamily="34" charset="-122"/>
                <a:ea typeface="微软雅黑" panose="020B0503020204020204" pitchFamily="34" charset="-122"/>
              </a:rPr>
              <a:t>得到</a:t>
            </a:r>
            <a:r>
              <a:rPr lang="en-US" altLang="zh-CN">
                <a:latin typeface="微软雅黑" panose="020B0503020204020204" pitchFamily="34" charset="-122"/>
                <a:ea typeface="微软雅黑" panose="020B0503020204020204" pitchFamily="34" charset="-122"/>
              </a:rPr>
              <a:t>64</a:t>
            </a:r>
            <a:r>
              <a:rPr lang="zh-CN" altLang="en-US">
                <a:latin typeface="微软雅黑" panose="020B0503020204020204" pitchFamily="34" charset="-122"/>
                <a:ea typeface="微软雅黑" panose="020B0503020204020204" pitchFamily="34" charset="-122"/>
              </a:rPr>
              <a:t>位乘积需要两条连续的指令，其中一定有一条是</a:t>
            </a:r>
            <a:r>
              <a:rPr lang="en-US" altLang="zh-CN">
                <a:latin typeface="微软雅黑" panose="020B0503020204020204" pitchFamily="34" charset="-122"/>
                <a:ea typeface="微软雅黑" panose="020B0503020204020204" pitchFamily="34" charset="-122"/>
              </a:rPr>
              <a:t>mul</a:t>
            </a:r>
            <a:r>
              <a:rPr lang="zh-CN" altLang="en-US">
                <a:latin typeface="微软雅黑" panose="020B0503020204020204" pitchFamily="34" charset="-122"/>
                <a:ea typeface="微软雅黑" panose="020B0503020204020204" pitchFamily="34" charset="-122"/>
              </a:rPr>
              <a:t>指令，实际执行时只有一条指令</a:t>
            </a:r>
            <a:endParaRPr lang="en-US" altLang="zh-CN">
              <a:latin typeface="微软雅黑" panose="020B0503020204020204" pitchFamily="34" charset="-122"/>
              <a:ea typeface="微软雅黑" panose="020B0503020204020204" pitchFamily="34" charset="-122"/>
            </a:endParaRPr>
          </a:p>
          <a:p>
            <a:pPr lvl="1">
              <a:lnSpc>
                <a:spcPct val="120000"/>
              </a:lnSpc>
              <a:spcBef>
                <a:spcPct val="35000"/>
              </a:spcBef>
            </a:pPr>
            <a:r>
              <a:rPr lang="zh-CN" altLang="en-US">
                <a:latin typeface="微软雅黑" panose="020B0503020204020204" pitchFamily="34" charset="-122"/>
                <a:ea typeface="微软雅黑" panose="020B0503020204020204" pitchFamily="34" charset="-122"/>
              </a:rPr>
              <a:t>两种乘法指令都不检测溢出</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而是直接把结果写入结果寄存器。由软件根据结果寄存器的值自行判断和处理溢出</a:t>
            </a:r>
          </a:p>
          <a:p>
            <a:pPr>
              <a:lnSpc>
                <a:spcPct val="120000"/>
              </a:lnSpc>
            </a:pPr>
            <a:r>
              <a:rPr lang="zh-CN" altLang="en-US">
                <a:latin typeface="微软雅黑" panose="020B0503020204020204" pitchFamily="34" charset="-122"/>
                <a:ea typeface="微软雅黑" panose="020B0503020204020204" pitchFamily="34" charset="-122"/>
              </a:rPr>
              <a:t>除法指令</a:t>
            </a:r>
            <a:r>
              <a:rPr lang="en-US" altLang="zh-CN">
                <a:latin typeface="微软雅黑" panose="020B0503020204020204" pitchFamily="34" charset="-122"/>
                <a:ea typeface="微软雅黑" panose="020B0503020204020204" pitchFamily="34" charset="-122"/>
              </a:rPr>
              <a:t>: div </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divu</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rem</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remu</a:t>
            </a:r>
          </a:p>
          <a:p>
            <a:pPr lvl="1">
              <a:lnSpc>
                <a:spcPct val="120000"/>
              </a:lnSpc>
              <a:spcBef>
                <a:spcPct val="35000"/>
              </a:spcBef>
            </a:pPr>
            <a:r>
              <a:rPr lang="en-US" altLang="zh-CN">
                <a:latin typeface="微软雅黑" panose="020B0503020204020204" pitchFamily="34" charset="-122"/>
                <a:ea typeface="微软雅黑" panose="020B0503020204020204" pitchFamily="34" charset="-122"/>
              </a:rPr>
              <a:t>div / rem</a:t>
            </a:r>
            <a:r>
              <a:rPr lang="zh-CN" altLang="en-US">
                <a:latin typeface="微软雅黑" panose="020B0503020204020204" pitchFamily="34" charset="-122"/>
                <a:ea typeface="微软雅黑" panose="020B0503020204020204" pitchFamily="34" charset="-122"/>
              </a:rPr>
              <a:t>：按带符号整数做除法，得到商 </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余数</a:t>
            </a:r>
            <a:endParaRPr lang="en-US" altLang="zh-CN">
              <a:latin typeface="微软雅黑" panose="020B0503020204020204" pitchFamily="34" charset="-122"/>
              <a:ea typeface="微软雅黑" panose="020B0503020204020204" pitchFamily="34" charset="-122"/>
            </a:endParaRPr>
          </a:p>
          <a:p>
            <a:pPr lvl="1">
              <a:lnSpc>
                <a:spcPct val="120000"/>
              </a:lnSpc>
              <a:spcBef>
                <a:spcPct val="35000"/>
              </a:spcBef>
            </a:pPr>
            <a:r>
              <a:rPr lang="en-US" altLang="zh-CN">
                <a:latin typeface="微软雅黑" panose="020B0503020204020204" pitchFamily="34" charset="-122"/>
                <a:ea typeface="微软雅黑" panose="020B0503020204020204" pitchFamily="34" charset="-122"/>
              </a:rPr>
              <a:t>divu / remu</a:t>
            </a:r>
            <a:r>
              <a:rPr lang="zh-CN" altLang="en-US">
                <a:latin typeface="微软雅黑" panose="020B0503020204020204" pitchFamily="34" charset="-122"/>
                <a:ea typeface="微软雅黑" panose="020B0503020204020204" pitchFamily="34" charset="-122"/>
              </a:rPr>
              <a:t>：按无符号整数做除法，得到商 </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余数</a:t>
            </a:r>
            <a:endParaRPr lang="en-US" altLang="zh-CN">
              <a:latin typeface="微软雅黑" panose="020B0503020204020204" pitchFamily="34" charset="-122"/>
              <a:ea typeface="微软雅黑" panose="020B0503020204020204" pitchFamily="34" charset="-122"/>
            </a:endParaRPr>
          </a:p>
          <a:p>
            <a:pPr>
              <a:lnSpc>
                <a:spcPct val="120000"/>
              </a:lnSpc>
            </a:pPr>
            <a:r>
              <a:rPr lang="en-US" altLang="zh-CN">
                <a:latin typeface="微软雅黑" panose="020B0503020204020204" pitchFamily="34" charset="-122"/>
                <a:ea typeface="微软雅黑" panose="020B0503020204020204" pitchFamily="34" charset="-122"/>
              </a:rPr>
              <a:t>RISC-V</a:t>
            </a:r>
            <a:r>
              <a:rPr lang="zh-CN" altLang="en-US">
                <a:latin typeface="微软雅黑" panose="020B0503020204020204" pitchFamily="34" charset="-122"/>
                <a:ea typeface="微软雅黑" panose="020B0503020204020204" pitchFamily="34" charset="-122"/>
              </a:rPr>
              <a:t>指令不检测和发出异常，而是由系统软件自行处理</a:t>
            </a:r>
            <a:endParaRPr lang="en-US" altLang="zh-CN">
              <a:latin typeface="微软雅黑" panose="020B0503020204020204" pitchFamily="34" charset="-122"/>
              <a:ea typeface="微软雅黑" panose="020B0503020204020204" pitchFamily="34" charset="-122"/>
            </a:endParaRPr>
          </a:p>
        </p:txBody>
      </p:sp>
      <p:sp>
        <p:nvSpPr>
          <p:cNvPr id="5" name="Text Box 8">
            <a:extLst>
              <a:ext uri="{FF2B5EF4-FFF2-40B4-BE49-F238E27FC236}">
                <a16:creationId xmlns:a16="http://schemas.microsoft.com/office/drawing/2014/main" id="{3CF9A694-FF3D-79D5-06E9-3B80033ADFBD}"/>
              </a:ext>
            </a:extLst>
          </p:cNvPr>
          <p:cNvSpPr txBox="1">
            <a:spLocks noChangeArrowheads="1"/>
          </p:cNvSpPr>
          <p:nvPr/>
        </p:nvSpPr>
        <p:spPr bwMode="auto">
          <a:xfrm>
            <a:off x="7429500" y="5395913"/>
            <a:ext cx="9477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hlinkClick r:id="rId2" action="ppaction://hlinksldjump"/>
              </a:rPr>
              <a:t>BACK</a:t>
            </a: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459779">
                                            <p:txEl>
                                              <p:pRg st="1" end="1"/>
                                            </p:txEl>
                                          </p:spTgt>
                                        </p:tgtEl>
                                        <p:attrNameLst>
                                          <p:attrName>style.visibility</p:attrName>
                                        </p:attrNameLst>
                                      </p:cBhvr>
                                      <p:to>
                                        <p:strVal val="visible"/>
                                      </p:to>
                                    </p:set>
                                    <p:animEffect transition="in" filter="randombar(horizontal)">
                                      <p:cBhvr>
                                        <p:cTn id="7" dur="500"/>
                                        <p:tgtEl>
                                          <p:spTgt spid="4597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459779">
                                            <p:txEl>
                                              <p:pRg st="2" end="2"/>
                                            </p:txEl>
                                          </p:spTgt>
                                        </p:tgtEl>
                                        <p:attrNameLst>
                                          <p:attrName>style.visibility</p:attrName>
                                        </p:attrNameLst>
                                      </p:cBhvr>
                                      <p:to>
                                        <p:strVal val="visible"/>
                                      </p:to>
                                    </p:set>
                                    <p:animEffect transition="in" filter="randombar(horizontal)">
                                      <p:cBhvr>
                                        <p:cTn id="12" dur="500"/>
                                        <p:tgtEl>
                                          <p:spTgt spid="45977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459779">
                                            <p:txEl>
                                              <p:pRg st="3" end="3"/>
                                            </p:txEl>
                                          </p:spTgt>
                                        </p:tgtEl>
                                        <p:attrNameLst>
                                          <p:attrName>style.visibility</p:attrName>
                                        </p:attrNameLst>
                                      </p:cBhvr>
                                      <p:to>
                                        <p:strVal val="visible"/>
                                      </p:to>
                                    </p:set>
                                    <p:animEffect transition="in" filter="randombar(horizontal)">
                                      <p:cBhvr>
                                        <p:cTn id="17" dur="500"/>
                                        <p:tgtEl>
                                          <p:spTgt spid="45977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459779">
                                            <p:txEl>
                                              <p:pRg st="4" end="4"/>
                                            </p:txEl>
                                          </p:spTgt>
                                        </p:tgtEl>
                                        <p:attrNameLst>
                                          <p:attrName>style.visibility</p:attrName>
                                        </p:attrNameLst>
                                      </p:cBhvr>
                                      <p:to>
                                        <p:strVal val="visible"/>
                                      </p:to>
                                    </p:set>
                                    <p:animEffect transition="in" filter="randombar(horizontal)">
                                      <p:cBhvr>
                                        <p:cTn id="22" dur="500"/>
                                        <p:tgtEl>
                                          <p:spTgt spid="45977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59779">
                                            <p:txEl>
                                              <p:pRg st="5" end="5"/>
                                            </p:txEl>
                                          </p:spTgt>
                                        </p:tgtEl>
                                        <p:attrNameLst>
                                          <p:attrName>style.visibility</p:attrName>
                                        </p:attrNameLst>
                                      </p:cBhvr>
                                      <p:to>
                                        <p:strVal val="visible"/>
                                      </p:to>
                                    </p:set>
                                    <p:animEffect transition="in" filter="blinds(horizontal)">
                                      <p:cBhvr>
                                        <p:cTn id="27" dur="500"/>
                                        <p:tgtEl>
                                          <p:spTgt spid="45977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59779">
                                            <p:txEl>
                                              <p:pRg st="7" end="7"/>
                                            </p:txEl>
                                          </p:spTgt>
                                        </p:tgtEl>
                                        <p:attrNameLst>
                                          <p:attrName>style.visibility</p:attrName>
                                        </p:attrNameLst>
                                      </p:cBhvr>
                                      <p:to>
                                        <p:strVal val="visible"/>
                                      </p:to>
                                    </p:set>
                                    <p:animEffect transition="in" filter="blinds(horizontal)">
                                      <p:cBhvr>
                                        <p:cTn id="32" dur="500"/>
                                        <p:tgtEl>
                                          <p:spTgt spid="45977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59779">
                                            <p:txEl>
                                              <p:pRg st="8" end="8"/>
                                            </p:txEl>
                                          </p:spTgt>
                                        </p:tgtEl>
                                        <p:attrNameLst>
                                          <p:attrName>style.visibility</p:attrName>
                                        </p:attrNameLst>
                                      </p:cBhvr>
                                      <p:to>
                                        <p:strVal val="visible"/>
                                      </p:to>
                                    </p:set>
                                    <p:animEffect transition="in" filter="blinds(horizontal)">
                                      <p:cBhvr>
                                        <p:cTn id="37" dur="500"/>
                                        <p:tgtEl>
                                          <p:spTgt spid="45977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2BB426DB-F26E-E98C-EE45-0A21D1EE3868}"/>
              </a:ext>
            </a:extLst>
          </p:cNvPr>
          <p:cNvSpPr>
            <a:spLocks noGrp="1" noChangeArrowheads="1"/>
          </p:cNvSpPr>
          <p:nvPr>
            <p:ph type="title"/>
          </p:nvPr>
        </p:nvSpPr>
        <p:spPr>
          <a:xfrm>
            <a:off x="457200" y="98425"/>
            <a:ext cx="8229600" cy="479425"/>
          </a:xfrm>
        </p:spPr>
        <p:txBody>
          <a:bodyPr/>
          <a:lstStyle/>
          <a:p>
            <a:r>
              <a:rPr lang="zh-CN" altLang="en-US">
                <a:ea typeface="宋体" panose="02010600030101010101" pitchFamily="2" charset="-122"/>
              </a:rPr>
              <a:t>整数的乘运算</a:t>
            </a:r>
          </a:p>
        </p:txBody>
      </p:sp>
      <p:sp>
        <p:nvSpPr>
          <p:cNvPr id="89090" name="Rectangle 3">
            <a:extLst>
              <a:ext uri="{FF2B5EF4-FFF2-40B4-BE49-F238E27FC236}">
                <a16:creationId xmlns:a16="http://schemas.microsoft.com/office/drawing/2014/main" id="{742BE75D-0A8E-17E9-4B7A-25CF6DE49CB6}"/>
              </a:ext>
            </a:extLst>
          </p:cNvPr>
          <p:cNvSpPr>
            <a:spLocks noGrp="1" noChangeArrowheads="1"/>
          </p:cNvSpPr>
          <p:nvPr>
            <p:ph idx="1"/>
          </p:nvPr>
        </p:nvSpPr>
        <p:spPr>
          <a:xfrm>
            <a:off x="296863" y="747713"/>
            <a:ext cx="8401050" cy="5772150"/>
          </a:xfrm>
        </p:spPr>
        <p:txBody>
          <a:bodyPr/>
          <a:lstStyle/>
          <a:p>
            <a:pPr>
              <a:lnSpc>
                <a:spcPts val="2900"/>
              </a:lnSpc>
            </a:pPr>
            <a:r>
              <a:rPr lang="zh-CN" altLang="en-US">
                <a:solidFill>
                  <a:srgbClr val="FF0000"/>
                </a:solidFill>
                <a:latin typeface="微软雅黑" panose="020B0503020204020204" pitchFamily="34" charset="-122"/>
                <a:ea typeface="微软雅黑" panose="020B0503020204020204" pitchFamily="34" charset="-122"/>
              </a:rPr>
              <a:t>硬件</a:t>
            </a:r>
            <a:r>
              <a:rPr lang="zh-CN" altLang="en-US">
                <a:latin typeface="微软雅黑" panose="020B0503020204020204" pitchFamily="34" charset="-122"/>
                <a:ea typeface="微软雅黑" panose="020B0503020204020204" pitchFamily="34" charset="-122"/>
              </a:rPr>
              <a:t>可保留</a:t>
            </a:r>
            <a:r>
              <a:rPr lang="en-US" altLang="zh-CN">
                <a:latin typeface="微软雅黑" panose="020B0503020204020204" pitchFamily="34" charset="-122"/>
                <a:ea typeface="微软雅黑" panose="020B0503020204020204" pitchFamily="34" charset="-122"/>
              </a:rPr>
              <a:t>2n</a:t>
            </a:r>
            <a:r>
              <a:rPr lang="zh-CN" altLang="en-US">
                <a:latin typeface="微软雅黑" panose="020B0503020204020204" pitchFamily="34" charset="-122"/>
                <a:ea typeface="微软雅黑" panose="020B0503020204020204" pitchFamily="34" charset="-122"/>
              </a:rPr>
              <a:t>位乘积，故有些指令的乘积为</a:t>
            </a:r>
            <a:r>
              <a:rPr lang="en-US" altLang="zh-CN">
                <a:latin typeface="微软雅黑" panose="020B0503020204020204" pitchFamily="34" charset="-122"/>
                <a:ea typeface="微软雅黑" panose="020B0503020204020204" pitchFamily="34" charset="-122"/>
              </a:rPr>
              <a:t>2n</a:t>
            </a:r>
            <a:r>
              <a:rPr lang="zh-CN" altLang="en-US">
                <a:latin typeface="微软雅黑" panose="020B0503020204020204" pitchFamily="34" charset="-122"/>
                <a:ea typeface="微软雅黑" panose="020B0503020204020204" pitchFamily="34" charset="-122"/>
              </a:rPr>
              <a:t>位，可供软件使用</a:t>
            </a:r>
          </a:p>
          <a:p>
            <a:pPr>
              <a:lnSpc>
                <a:spcPts val="2900"/>
              </a:lnSpc>
            </a:pPr>
            <a:r>
              <a:rPr lang="zh-CN" altLang="en-US">
                <a:latin typeface="微软雅黑" panose="020B0503020204020204" pitchFamily="34" charset="-122"/>
                <a:ea typeface="微软雅黑" panose="020B0503020204020204" pitchFamily="34" charset="-122"/>
              </a:rPr>
              <a:t>如果程序不采用防止溢出的措施，且编译器也不生成用于溢出处理的代码，就会发生一些由于整数溢出而带来的问题。</a:t>
            </a:r>
          </a:p>
          <a:p>
            <a:pPr>
              <a:lnSpc>
                <a:spcPts val="2900"/>
              </a:lnSpc>
            </a:pPr>
            <a:r>
              <a:rPr lang="zh-CN" altLang="en-US">
                <a:solidFill>
                  <a:srgbClr val="FF0000"/>
                </a:solidFill>
                <a:latin typeface="微软雅黑" panose="020B0503020204020204" pitchFamily="34" charset="-122"/>
                <a:ea typeface="微软雅黑" panose="020B0503020204020204" pitchFamily="34" charset="-122"/>
              </a:rPr>
              <a:t>指令：</a:t>
            </a:r>
            <a:r>
              <a:rPr lang="zh-CN" altLang="en-US">
                <a:latin typeface="微软雅黑" panose="020B0503020204020204" pitchFamily="34" charset="-122"/>
                <a:ea typeface="微软雅黑" panose="020B0503020204020204" pitchFamily="34" charset="-122"/>
              </a:rPr>
              <a:t>分</a:t>
            </a:r>
            <a:r>
              <a:rPr lang="zh-CN" altLang="en-US">
                <a:solidFill>
                  <a:srgbClr val="FF0000"/>
                </a:solidFill>
                <a:latin typeface="微软雅黑" panose="020B0503020204020204" pitchFamily="34" charset="-122"/>
                <a:ea typeface="微软雅黑" panose="020B0503020204020204" pitchFamily="34" charset="-122"/>
              </a:rPr>
              <a:t>无符号</a:t>
            </a:r>
            <a:r>
              <a:rPr lang="zh-CN" altLang="en-US">
                <a:latin typeface="微软雅黑" panose="020B0503020204020204" pitchFamily="34" charset="-122"/>
                <a:ea typeface="微软雅黑" panose="020B0503020204020204" pitchFamily="34" charset="-122"/>
              </a:rPr>
              <a:t>数乘指令、</a:t>
            </a:r>
            <a:r>
              <a:rPr lang="zh-CN" altLang="en-US">
                <a:solidFill>
                  <a:srgbClr val="FF0000"/>
                </a:solidFill>
                <a:latin typeface="微软雅黑" panose="020B0503020204020204" pitchFamily="34" charset="-122"/>
                <a:ea typeface="微软雅黑" panose="020B0503020204020204" pitchFamily="34" charset="-122"/>
              </a:rPr>
              <a:t>带符号</a:t>
            </a:r>
            <a:r>
              <a:rPr lang="zh-CN" altLang="en-US">
                <a:latin typeface="微软雅黑" panose="020B0503020204020204" pitchFamily="34" charset="-122"/>
                <a:ea typeface="微软雅黑" panose="020B0503020204020204" pitchFamily="34" charset="-122"/>
              </a:rPr>
              <a:t>整数乘指令</a:t>
            </a:r>
          </a:p>
          <a:p>
            <a:pPr>
              <a:lnSpc>
                <a:spcPts val="2900"/>
              </a:lnSpc>
            </a:pPr>
            <a:r>
              <a:rPr lang="zh-CN" altLang="en-US">
                <a:latin typeface="微软雅黑" panose="020B0503020204020204" pitchFamily="34" charset="-122"/>
                <a:ea typeface="微软雅黑" panose="020B0503020204020204" pitchFamily="34" charset="-122"/>
              </a:rPr>
              <a:t>乘法指令的操作数长度为</a:t>
            </a:r>
            <a:r>
              <a:rPr lang="en-US" altLang="zh-CN">
                <a:solidFill>
                  <a:srgbClr val="FF0000"/>
                </a:solidFill>
                <a:latin typeface="微软雅黑" panose="020B0503020204020204" pitchFamily="34" charset="-122"/>
                <a:ea typeface="微软雅黑" panose="020B0503020204020204" pitchFamily="34" charset="-122"/>
              </a:rPr>
              <a:t>n</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而乘积长度为</a:t>
            </a:r>
            <a:r>
              <a:rPr lang="en-US" altLang="zh-CN">
                <a:solidFill>
                  <a:srgbClr val="FF0000"/>
                </a:solidFill>
                <a:latin typeface="微软雅黑" panose="020B0503020204020204" pitchFamily="34" charset="-122"/>
                <a:ea typeface="微软雅黑" panose="020B0503020204020204" pitchFamily="34" charset="-122"/>
              </a:rPr>
              <a:t>2n</a:t>
            </a:r>
            <a:r>
              <a:rPr lang="zh-CN" altLang="en-US">
                <a:latin typeface="微软雅黑" panose="020B0503020204020204" pitchFamily="34" charset="-122"/>
                <a:ea typeface="微软雅黑" panose="020B0503020204020204" pitchFamily="34" charset="-122"/>
              </a:rPr>
              <a:t>，例如：</a:t>
            </a:r>
          </a:p>
          <a:p>
            <a:pPr lvl="1">
              <a:lnSpc>
                <a:spcPts val="2900"/>
              </a:lnSpc>
            </a:pPr>
            <a:r>
              <a:rPr lang="en-US" altLang="zh-CN">
                <a:latin typeface="微软雅黑" panose="020B0503020204020204" pitchFamily="34" charset="-122"/>
                <a:ea typeface="微软雅黑" panose="020B0503020204020204" pitchFamily="34" charset="-122"/>
              </a:rPr>
              <a:t>IA-32</a:t>
            </a:r>
            <a:r>
              <a:rPr lang="zh-CN" altLang="en-US">
                <a:latin typeface="微软雅黑" panose="020B0503020204020204" pitchFamily="34" charset="-122"/>
                <a:ea typeface="微软雅黑" panose="020B0503020204020204" pitchFamily="34" charset="-122"/>
              </a:rPr>
              <a:t>中，若指令只给出一个操作数</a:t>
            </a:r>
            <a:r>
              <a:rPr lang="en-US" altLang="zh-CN">
                <a:latin typeface="微软雅黑" panose="020B0503020204020204" pitchFamily="34" charset="-122"/>
                <a:ea typeface="微软雅黑" panose="020B0503020204020204" pitchFamily="34" charset="-122"/>
              </a:rPr>
              <a:t>SRC</a:t>
            </a:r>
            <a:r>
              <a:rPr lang="zh-CN" altLang="en-US">
                <a:latin typeface="微软雅黑" panose="020B0503020204020204" pitchFamily="34" charset="-122"/>
                <a:ea typeface="微软雅黑" panose="020B0503020204020204" pitchFamily="34" charset="-122"/>
              </a:rPr>
              <a:t>，则另一个源操作数隐含在累加器</a:t>
            </a:r>
            <a:r>
              <a:rPr lang="en-US" altLang="zh-CN">
                <a:latin typeface="微软雅黑" panose="020B0503020204020204" pitchFamily="34" charset="-122"/>
                <a:ea typeface="微软雅黑" panose="020B0503020204020204" pitchFamily="34" charset="-122"/>
              </a:rPr>
              <a:t>AL/AX/EAX</a:t>
            </a:r>
            <a:r>
              <a:rPr lang="zh-CN" altLang="en-US">
                <a:latin typeface="微软雅黑" panose="020B0503020204020204" pitchFamily="34" charset="-122"/>
                <a:ea typeface="微软雅黑" panose="020B0503020204020204" pitchFamily="34" charset="-122"/>
              </a:rPr>
              <a:t>中，将</a:t>
            </a:r>
            <a:r>
              <a:rPr lang="en-US" altLang="zh-CN">
                <a:latin typeface="微软雅黑" panose="020B0503020204020204" pitchFamily="34" charset="-122"/>
                <a:ea typeface="微软雅黑" panose="020B0503020204020204" pitchFamily="34" charset="-122"/>
              </a:rPr>
              <a:t>SRC</a:t>
            </a:r>
            <a:r>
              <a:rPr lang="zh-CN" altLang="en-US">
                <a:latin typeface="微软雅黑" panose="020B0503020204020204" pitchFamily="34" charset="-122"/>
                <a:ea typeface="微软雅黑" panose="020B0503020204020204" pitchFamily="34" charset="-122"/>
              </a:rPr>
              <a:t>和累加器内容相乘，结果存放在</a:t>
            </a:r>
            <a:r>
              <a:rPr lang="en-US" altLang="zh-CN">
                <a:latin typeface="微软雅黑" panose="020B0503020204020204" pitchFamily="34" charset="-122"/>
                <a:ea typeface="微软雅黑" panose="020B0503020204020204" pitchFamily="34" charset="-122"/>
              </a:rPr>
              <a:t>AX</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16</a:t>
            </a:r>
            <a:r>
              <a:rPr lang="zh-CN" altLang="en-US">
                <a:latin typeface="微软雅黑" panose="020B0503020204020204" pitchFamily="34" charset="-122"/>
                <a:ea typeface="微软雅黑" panose="020B0503020204020204" pitchFamily="34" charset="-122"/>
              </a:rPr>
              <a:t>位时）或</a:t>
            </a:r>
            <a:r>
              <a:rPr lang="en-US" altLang="zh-CN">
                <a:latin typeface="微软雅黑" panose="020B0503020204020204" pitchFamily="34" charset="-122"/>
                <a:ea typeface="微软雅黑" panose="020B0503020204020204" pitchFamily="34" charset="-122"/>
              </a:rPr>
              <a:t>DX-AX</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位时）或</a:t>
            </a:r>
            <a:r>
              <a:rPr lang="en-US" altLang="zh-CN">
                <a:latin typeface="微软雅黑" panose="020B0503020204020204" pitchFamily="34" charset="-122"/>
                <a:ea typeface="微软雅黑" panose="020B0503020204020204" pitchFamily="34" charset="-122"/>
              </a:rPr>
              <a:t>EDX-EAX</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64</a:t>
            </a:r>
            <a:r>
              <a:rPr lang="zh-CN" altLang="en-US">
                <a:latin typeface="微软雅黑" panose="020B0503020204020204" pitchFamily="34" charset="-122"/>
                <a:ea typeface="微软雅黑" panose="020B0503020204020204" pitchFamily="34" charset="-122"/>
              </a:rPr>
              <a:t>位时）中。 </a:t>
            </a:r>
            <a:endParaRPr lang="en-US" altLang="zh-CN">
              <a:latin typeface="微软雅黑" panose="020B0503020204020204" pitchFamily="34" charset="-122"/>
              <a:ea typeface="微软雅黑" panose="020B0503020204020204" pitchFamily="34" charset="-122"/>
            </a:endParaRPr>
          </a:p>
          <a:p>
            <a:pPr lvl="1">
              <a:lnSpc>
                <a:spcPts val="2900"/>
              </a:lnSpc>
            </a:pPr>
            <a:r>
              <a:rPr lang="en-US" altLang="zh-CN">
                <a:latin typeface="微软雅黑" panose="020B0503020204020204" pitchFamily="34" charset="-122"/>
                <a:ea typeface="微软雅黑" panose="020B0503020204020204" pitchFamily="34" charset="-122"/>
              </a:rPr>
              <a:t>MIPS</a:t>
            </a:r>
            <a:r>
              <a:rPr lang="zh-CN" altLang="en-US">
                <a:latin typeface="微软雅黑" panose="020B0503020204020204" pitchFamily="34" charset="-122"/>
                <a:ea typeface="微软雅黑" panose="020B0503020204020204" pitchFamily="34" charset="-122"/>
              </a:rPr>
              <a:t>中，</a:t>
            </a:r>
            <a:r>
              <a:rPr lang="en-US" altLang="zh-CN">
                <a:latin typeface="微软雅黑" panose="020B0503020204020204" pitchFamily="34" charset="-122"/>
                <a:ea typeface="微软雅黑" panose="020B0503020204020204" pitchFamily="34" charset="-122"/>
              </a:rPr>
              <a:t>mult</a:t>
            </a:r>
            <a:r>
              <a:rPr lang="zh-CN" altLang="en-US">
                <a:latin typeface="微软雅黑" panose="020B0503020204020204" pitchFamily="34" charset="-122"/>
                <a:ea typeface="微软雅黑" panose="020B0503020204020204" pitchFamily="34" charset="-122"/>
              </a:rPr>
              <a:t>会将两个</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位带符号整数相乘，得到的</a:t>
            </a:r>
            <a:r>
              <a:rPr lang="en-US" altLang="zh-CN">
                <a:latin typeface="微软雅黑" panose="020B0503020204020204" pitchFamily="34" charset="-122"/>
                <a:ea typeface="微软雅黑" panose="020B0503020204020204" pitchFamily="34" charset="-122"/>
              </a:rPr>
              <a:t>64</a:t>
            </a:r>
            <a:r>
              <a:rPr lang="zh-CN" altLang="en-US">
                <a:latin typeface="微软雅黑" panose="020B0503020204020204" pitchFamily="34" charset="-122"/>
                <a:ea typeface="微软雅黑" panose="020B0503020204020204" pitchFamily="34" charset="-122"/>
              </a:rPr>
              <a:t>位乘积置于两个</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位内部寄存器</a:t>
            </a:r>
            <a:r>
              <a:rPr lang="en-US" altLang="zh-CN">
                <a:latin typeface="微软雅黑" panose="020B0503020204020204" pitchFamily="34" charset="-122"/>
                <a:ea typeface="微软雅黑" panose="020B0503020204020204" pitchFamily="34" charset="-122"/>
              </a:rPr>
              <a:t>Hi</a:t>
            </a:r>
            <a:r>
              <a:rPr lang="zh-CN" altLang="en-US">
                <a:latin typeface="微软雅黑" panose="020B0503020204020204" pitchFamily="34" charset="-122"/>
                <a:ea typeface="微软雅黑" panose="020B0503020204020204" pitchFamily="34" charset="-122"/>
              </a:rPr>
              <a:t>和</a:t>
            </a:r>
            <a:r>
              <a:rPr lang="en-US" altLang="zh-CN">
                <a:latin typeface="微软雅黑" panose="020B0503020204020204" pitchFamily="34" charset="-122"/>
                <a:ea typeface="微软雅黑" panose="020B0503020204020204" pitchFamily="34" charset="-122"/>
              </a:rPr>
              <a:t>Lo</a:t>
            </a:r>
            <a:r>
              <a:rPr lang="zh-CN" altLang="en-US">
                <a:latin typeface="微软雅黑" panose="020B0503020204020204" pitchFamily="34" charset="-122"/>
                <a:ea typeface="微软雅黑" panose="020B0503020204020204" pitchFamily="34" charset="-122"/>
              </a:rPr>
              <a:t>中，因此，可以</a:t>
            </a:r>
            <a:r>
              <a:rPr lang="zh-CN" altLang="en-US">
                <a:solidFill>
                  <a:srgbClr val="008000"/>
                </a:solidFill>
                <a:latin typeface="微软雅黑" panose="020B0503020204020204" pitchFamily="34" charset="-122"/>
                <a:ea typeface="微软雅黑" panose="020B0503020204020204" pitchFamily="34" charset="-122"/>
              </a:rPr>
              <a:t>根据</a:t>
            </a:r>
            <a:r>
              <a:rPr lang="en-US" altLang="zh-CN">
                <a:solidFill>
                  <a:srgbClr val="008000"/>
                </a:solidFill>
                <a:latin typeface="微软雅黑" panose="020B0503020204020204" pitchFamily="34" charset="-122"/>
                <a:ea typeface="微软雅黑" panose="020B0503020204020204" pitchFamily="34" charset="-122"/>
              </a:rPr>
              <a:t>Hi</a:t>
            </a:r>
            <a:r>
              <a:rPr lang="zh-CN" altLang="en-US">
                <a:solidFill>
                  <a:srgbClr val="008000"/>
                </a:solidFill>
                <a:latin typeface="微软雅黑" panose="020B0503020204020204" pitchFamily="34" charset="-122"/>
                <a:ea typeface="微软雅黑" panose="020B0503020204020204" pitchFamily="34" charset="-122"/>
              </a:rPr>
              <a:t>寄存器中的每一位是否等于</a:t>
            </a:r>
            <a:r>
              <a:rPr lang="en-US" altLang="zh-CN">
                <a:solidFill>
                  <a:srgbClr val="008000"/>
                </a:solidFill>
                <a:latin typeface="微软雅黑" panose="020B0503020204020204" pitchFamily="34" charset="-122"/>
                <a:ea typeface="微软雅黑" panose="020B0503020204020204" pitchFamily="34" charset="-122"/>
              </a:rPr>
              <a:t>Lo</a:t>
            </a:r>
            <a:r>
              <a:rPr lang="zh-CN" altLang="en-US">
                <a:solidFill>
                  <a:srgbClr val="008000"/>
                </a:solidFill>
                <a:latin typeface="微软雅黑" panose="020B0503020204020204" pitchFamily="34" charset="-122"/>
                <a:ea typeface="微软雅黑" panose="020B0503020204020204" pitchFamily="34" charset="-122"/>
              </a:rPr>
              <a:t>寄存器中的第一位来进行溢出判断</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lvl="1">
              <a:lnSpc>
                <a:spcPts val="2900"/>
              </a:lnSpc>
            </a:pPr>
            <a:r>
              <a:rPr lang="en-US" altLang="zh-CN">
                <a:latin typeface="微软雅黑" panose="020B0503020204020204" pitchFamily="34" charset="-122"/>
                <a:ea typeface="微软雅黑" panose="020B0503020204020204" pitchFamily="34" charset="-122"/>
              </a:rPr>
              <a:t>RISC-V</a:t>
            </a:r>
            <a:r>
              <a:rPr lang="zh-CN" altLang="en-US">
                <a:latin typeface="微软雅黑" panose="020B0503020204020204" pitchFamily="34" charset="-122"/>
                <a:ea typeface="微软雅黑" panose="020B0503020204020204" pitchFamily="34" charset="-122"/>
              </a:rPr>
              <a:t>中，用“</a:t>
            </a:r>
            <a:r>
              <a:rPr lang="en-US" altLang="zh-CN">
                <a:latin typeface="微软雅黑" panose="020B0503020204020204" pitchFamily="34" charset="-122"/>
                <a:ea typeface="微软雅黑" panose="020B0503020204020204" pitchFamily="34" charset="-122"/>
              </a:rPr>
              <a:t>mul rd, rs1, rs2”</a:t>
            </a:r>
            <a:r>
              <a:rPr lang="zh-CN" altLang="en-US">
                <a:latin typeface="微软雅黑" panose="020B0503020204020204" pitchFamily="34" charset="-122"/>
                <a:ea typeface="微软雅黑" panose="020B0503020204020204" pitchFamily="34" charset="-122"/>
              </a:rPr>
              <a:t>获得低</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位乘积并存入结果寄存器</a:t>
            </a:r>
            <a:r>
              <a:rPr lang="en-US" altLang="zh-CN">
                <a:latin typeface="微软雅黑" panose="020B0503020204020204" pitchFamily="34" charset="-122"/>
                <a:ea typeface="微软雅黑" panose="020B0503020204020204" pitchFamily="34" charset="-122"/>
              </a:rPr>
              <a:t>rd</a:t>
            </a:r>
            <a:r>
              <a:rPr lang="zh-CN" altLang="en-US">
                <a:latin typeface="微软雅黑" panose="020B0503020204020204" pitchFamily="34" charset="-122"/>
                <a:ea typeface="微软雅黑" panose="020B0503020204020204" pitchFamily="34" charset="-122"/>
              </a:rPr>
              <a:t>中；</a:t>
            </a:r>
            <a:r>
              <a:rPr lang="en-US" altLang="zh-CN">
                <a:latin typeface="微软雅黑" panose="020B0503020204020204" pitchFamily="34" charset="-122"/>
                <a:ea typeface="微软雅黑" panose="020B0503020204020204" pitchFamily="34" charset="-122"/>
              </a:rPr>
              <a:t>mulh</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mulhu</a:t>
            </a:r>
            <a:r>
              <a:rPr lang="zh-CN" altLang="en-US">
                <a:latin typeface="微软雅黑" panose="020B0503020204020204" pitchFamily="34" charset="-122"/>
                <a:ea typeface="微软雅黑" panose="020B0503020204020204" pitchFamily="34" charset="-122"/>
              </a:rPr>
              <a:t>指令分别将两个乘数同时按带符号整数、同时按无符号整数相乘后，得到的高</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位乘积存入</a:t>
            </a:r>
            <a:r>
              <a:rPr lang="en-US" altLang="zh-CN">
                <a:latin typeface="微软雅黑" panose="020B0503020204020204" pitchFamily="34" charset="-122"/>
                <a:ea typeface="微软雅黑" panose="020B0503020204020204" pitchFamily="34" charset="-122"/>
              </a:rPr>
              <a:t>rd</a:t>
            </a:r>
            <a:r>
              <a:rPr lang="zh-CN" altLang="en-US">
                <a:latin typeface="微软雅黑" panose="020B0503020204020204" pitchFamily="34" charset="-122"/>
                <a:ea typeface="微软雅黑" panose="020B0503020204020204" pitchFamily="34" charset="-122"/>
              </a:rPr>
              <a:t>中</a:t>
            </a:r>
          </a:p>
        </p:txBody>
      </p:sp>
      <p:sp>
        <p:nvSpPr>
          <p:cNvPr id="89091" name="Text Box 4">
            <a:extLst>
              <a:ext uri="{FF2B5EF4-FFF2-40B4-BE49-F238E27FC236}">
                <a16:creationId xmlns:a16="http://schemas.microsoft.com/office/drawing/2014/main" id="{E8E26685-4C80-C2C3-7857-C4297C186132}"/>
              </a:ext>
            </a:extLst>
          </p:cNvPr>
          <p:cNvSpPr txBox="1">
            <a:spLocks noChangeArrowheads="1"/>
          </p:cNvSpPr>
          <p:nvPr/>
        </p:nvSpPr>
        <p:spPr bwMode="auto">
          <a:xfrm>
            <a:off x="457200" y="6488113"/>
            <a:ext cx="8596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800">
                <a:solidFill>
                  <a:srgbClr val="FF0000"/>
                </a:solidFill>
                <a:latin typeface="微软雅黑" panose="020B0503020204020204" pitchFamily="34" charset="-122"/>
                <a:ea typeface="微软雅黑" panose="020B0503020204020204" pitchFamily="34" charset="-122"/>
              </a:rPr>
              <a:t>乘法指令可生成溢出标志，编译器也可使用</a:t>
            </a:r>
            <a:r>
              <a:rPr lang="en-US" altLang="zh-CN" sz="1800">
                <a:solidFill>
                  <a:srgbClr val="FF0000"/>
                </a:solidFill>
                <a:latin typeface="微软雅黑" panose="020B0503020204020204" pitchFamily="34" charset="-122"/>
                <a:ea typeface="微软雅黑" panose="020B0503020204020204" pitchFamily="34" charset="-122"/>
              </a:rPr>
              <a:t>2n</a:t>
            </a:r>
            <a:r>
              <a:rPr lang="zh-CN" altLang="en-US" sz="1800">
                <a:solidFill>
                  <a:srgbClr val="FF0000"/>
                </a:solidFill>
                <a:latin typeface="微软雅黑" panose="020B0503020204020204" pitchFamily="34" charset="-122"/>
                <a:ea typeface="微软雅黑" panose="020B0503020204020204" pitchFamily="34" charset="-122"/>
              </a:rPr>
              <a:t>位乘积来判断是否溢出！</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B93D514-BEB8-9A38-22C9-3A252AA969D7}"/>
              </a:ext>
            </a:extLst>
          </p:cNvPr>
          <p:cNvSpPr>
            <a:spLocks noGrp="1" noChangeArrowheads="1"/>
          </p:cNvSpPr>
          <p:nvPr>
            <p:ph type="title"/>
          </p:nvPr>
        </p:nvSpPr>
        <p:spPr>
          <a:xfrm>
            <a:off x="954088" y="123825"/>
            <a:ext cx="1984375" cy="373063"/>
          </a:xfrm>
        </p:spPr>
        <p:txBody>
          <a:bodyPr wrap="none"/>
          <a:lstStyle/>
          <a:p>
            <a:r>
              <a:rPr lang="zh-CN" altLang="en-US">
                <a:ea typeface="宋体" panose="02010600030101010101" pitchFamily="2" charset="-122"/>
              </a:rPr>
              <a:t>回顾：思考题</a:t>
            </a:r>
            <a:endParaRPr lang="en-US" altLang="zh-CN">
              <a:ea typeface="宋体" panose="02010600030101010101" pitchFamily="2" charset="-122"/>
            </a:endParaRPr>
          </a:p>
        </p:txBody>
      </p:sp>
      <p:sp>
        <p:nvSpPr>
          <p:cNvPr id="3" name="矩形 2">
            <a:extLst>
              <a:ext uri="{FF2B5EF4-FFF2-40B4-BE49-F238E27FC236}">
                <a16:creationId xmlns:a16="http://schemas.microsoft.com/office/drawing/2014/main" id="{376870B8-A035-BBBA-9035-007D827D767F}"/>
              </a:ext>
            </a:extLst>
          </p:cNvPr>
          <p:cNvSpPr/>
          <p:nvPr/>
        </p:nvSpPr>
        <p:spPr>
          <a:xfrm>
            <a:off x="268288" y="957263"/>
            <a:ext cx="8736012" cy="5172075"/>
          </a:xfrm>
          <a:prstGeom prst="rect">
            <a:avLst/>
          </a:prstGeom>
        </p:spPr>
        <p:txBody>
          <a:bodyPr>
            <a:spAutoFit/>
          </a:bodyPr>
          <a:lstStyle/>
          <a:p>
            <a:pPr eaLnBrk="0" hangingPunct="0">
              <a:lnSpc>
                <a:spcPct val="150000"/>
              </a:lnSpc>
              <a:spcBef>
                <a:spcPts val="0"/>
              </a:spcBef>
              <a:defRPr/>
            </a:pPr>
            <a:r>
              <a:rPr lang="zh-CN" altLang="en-US" sz="2000" dirty="0">
                <a:latin typeface="微软雅黑" panose="020B0503020204020204" pitchFamily="34" charset="-122"/>
                <a:ea typeface="微软雅黑" panose="020B0503020204020204" pitchFamily="34" charset="-122"/>
              </a:rPr>
              <a:t>在字长为</a:t>
            </a:r>
            <a:r>
              <a:rPr lang="en-US" altLang="zh-CN" sz="2000" dirty="0">
                <a:latin typeface="微软雅黑" panose="020B0503020204020204" pitchFamily="34" charset="-122"/>
                <a:ea typeface="微软雅黑" panose="020B0503020204020204" pitchFamily="34" charset="-122"/>
              </a:rPr>
              <a:t>32</a:t>
            </a:r>
            <a:r>
              <a:rPr lang="zh-CN" altLang="en-US" sz="2000" dirty="0">
                <a:latin typeface="微软雅黑" panose="020B0503020204020204" pitchFamily="34" charset="-122"/>
                <a:ea typeface="微软雅黑" panose="020B0503020204020204" pitchFamily="34" charset="-122"/>
              </a:rPr>
              <a:t>位的计算机上，某</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函数原型声明为：</a:t>
            </a:r>
            <a:endParaRPr lang="en-US" altLang="zh-CN" sz="2000" dirty="0">
              <a:latin typeface="微软雅黑" panose="020B0503020204020204" pitchFamily="34" charset="-122"/>
              <a:ea typeface="微软雅黑" panose="020B0503020204020204" pitchFamily="34" charset="-122"/>
            </a:endParaRPr>
          </a:p>
          <a:p>
            <a:pPr eaLnBrk="0" hangingPunct="0">
              <a:lnSpc>
                <a:spcPct val="150000"/>
              </a:lnSpc>
              <a:spcBef>
                <a:spcPts val="0"/>
              </a:spcBef>
              <a:defRPr/>
            </a:pP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int</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imul_overflow</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int</a:t>
            </a:r>
            <a:r>
              <a:rPr lang="en-US" altLang="zh-CN" sz="2000" dirty="0">
                <a:latin typeface="微软雅黑" panose="020B0503020204020204" pitchFamily="34" charset="-122"/>
                <a:ea typeface="微软雅黑" panose="020B0503020204020204" pitchFamily="34" charset="-122"/>
              </a:rPr>
              <a:t> x, </a:t>
            </a:r>
            <a:r>
              <a:rPr lang="en-US" altLang="zh-CN" sz="2000" dirty="0" err="1">
                <a:latin typeface="微软雅黑" panose="020B0503020204020204" pitchFamily="34" charset="-122"/>
                <a:ea typeface="微软雅黑" panose="020B0503020204020204" pitchFamily="34" charset="-122"/>
              </a:rPr>
              <a:t>int</a:t>
            </a:r>
            <a:r>
              <a:rPr lang="en-US" altLang="zh-CN" sz="2000" dirty="0">
                <a:latin typeface="微软雅黑" panose="020B0503020204020204" pitchFamily="34" charset="-122"/>
                <a:ea typeface="微软雅黑" panose="020B0503020204020204" pitchFamily="34" charset="-122"/>
              </a:rPr>
              <a:t> y);</a:t>
            </a:r>
          </a:p>
          <a:p>
            <a:pPr eaLnBrk="0" hangingPunct="0">
              <a:lnSpc>
                <a:spcPct val="150000"/>
              </a:lnSpc>
              <a:spcBef>
                <a:spcPts val="0"/>
              </a:spcBef>
              <a:defRPr/>
            </a:pPr>
            <a:r>
              <a:rPr lang="zh-CN" altLang="en-US" sz="2000" dirty="0">
                <a:latin typeface="微软雅黑" panose="020B0503020204020204" pitchFamily="34" charset="-122"/>
                <a:ea typeface="微软雅黑" panose="020B0503020204020204" pitchFamily="34" charset="-122"/>
              </a:rPr>
              <a:t>该函数用于对两个</a:t>
            </a:r>
            <a:r>
              <a:rPr lang="en-US" altLang="zh-CN" sz="2000" dirty="0" err="1">
                <a:latin typeface="微软雅黑" panose="020B0503020204020204" pitchFamily="34" charset="-122"/>
                <a:ea typeface="微软雅黑" panose="020B0503020204020204" pitchFamily="34" charset="-122"/>
              </a:rPr>
              <a:t>int</a:t>
            </a:r>
            <a:r>
              <a:rPr lang="zh-CN" altLang="en-US" sz="2000" dirty="0">
                <a:latin typeface="微软雅黑" panose="020B0503020204020204" pitchFamily="34" charset="-122"/>
                <a:ea typeface="微软雅黑" panose="020B0503020204020204" pitchFamily="34" charset="-122"/>
              </a:rPr>
              <a:t>型变量</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y</a:t>
            </a:r>
            <a:r>
              <a:rPr lang="zh-CN" altLang="en-US" sz="2000" dirty="0">
                <a:latin typeface="微软雅黑" panose="020B0503020204020204" pitchFamily="34" charset="-122"/>
                <a:ea typeface="微软雅黑" panose="020B0503020204020204" pitchFamily="34" charset="-122"/>
              </a:rPr>
              <a:t>的乘积（也是</a:t>
            </a:r>
            <a:r>
              <a:rPr lang="en-US" altLang="zh-CN" sz="2000" dirty="0" err="1">
                <a:latin typeface="微软雅黑" panose="020B0503020204020204" pitchFamily="34" charset="-122"/>
                <a:ea typeface="微软雅黑" panose="020B0503020204020204" pitchFamily="34" charset="-122"/>
              </a:rPr>
              <a:t>int</a:t>
            </a:r>
            <a:r>
              <a:rPr lang="zh-CN" altLang="en-US" sz="2000" dirty="0">
                <a:latin typeface="微软雅黑" panose="020B0503020204020204" pitchFamily="34" charset="-122"/>
                <a:ea typeface="微软雅黑" panose="020B0503020204020204" pitchFamily="34" charset="-122"/>
              </a:rPr>
              <a:t>类型）判断是否溢出，若溢出则返回非</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，否则返回</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。请完成下列任务或回答下列问题。</a:t>
            </a:r>
          </a:p>
          <a:p>
            <a:pPr eaLnBrk="0" hangingPunct="0">
              <a:lnSpc>
                <a:spcPct val="150000"/>
              </a:lnSpc>
              <a:spcBef>
                <a:spcPts val="0"/>
              </a:spcBef>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1</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）两个</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n</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位无符号数相乘、两个</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n</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位带符号整数相乘的溢出判断规则各是 </a:t>
            </a:r>
            <a:endParaRPr lang="en-US" altLang="zh-CN" sz="2000" dirty="0">
              <a:solidFill>
                <a:schemeClr val="accent2">
                  <a:lumMod val="75000"/>
                </a:schemeClr>
              </a:solidFill>
              <a:latin typeface="微软雅黑" panose="020B0503020204020204" pitchFamily="34" charset="-122"/>
              <a:ea typeface="微软雅黑" panose="020B0503020204020204" pitchFamily="34" charset="-122"/>
            </a:endParaRPr>
          </a:p>
          <a:p>
            <a:pPr eaLnBrk="0" hangingPunct="0">
              <a:lnSpc>
                <a:spcPct val="150000"/>
              </a:lnSpc>
              <a:spcBef>
                <a:spcPts val="0"/>
              </a:spcBef>
              <a:defRPr/>
            </a:pP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         </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什么？</a:t>
            </a:r>
            <a:r>
              <a:rPr lang="zh-CN" altLang="en-US" sz="2000" dirty="0">
                <a:solidFill>
                  <a:srgbClr val="990000"/>
                </a:solidFill>
                <a:latin typeface="微软雅黑" panose="020B0503020204020204" pitchFamily="34" charset="-122"/>
                <a:ea typeface="微软雅黑" panose="020B0503020204020204" pitchFamily="34" charset="-122"/>
              </a:rPr>
              <a:t>（编译器如何判断溢出？）</a:t>
            </a:r>
          </a:p>
          <a:p>
            <a:pPr eaLnBrk="0" hangingPunct="0">
              <a:lnSpc>
                <a:spcPct val="150000"/>
              </a:lnSpc>
              <a:spcBef>
                <a:spcPts val="0"/>
              </a:spcBef>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2</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）已知入口参数</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x</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y</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分别在寄存器</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a0</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a1</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中，返回值在</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a0</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中，写出实现 </a:t>
            </a:r>
            <a:endParaRPr lang="en-US" altLang="zh-CN" sz="2000" dirty="0">
              <a:solidFill>
                <a:schemeClr val="accent2">
                  <a:lumMod val="75000"/>
                </a:schemeClr>
              </a:solidFill>
              <a:latin typeface="微软雅黑" panose="020B0503020204020204" pitchFamily="34" charset="-122"/>
              <a:ea typeface="微软雅黑" panose="020B0503020204020204" pitchFamily="34" charset="-122"/>
            </a:endParaRPr>
          </a:p>
          <a:p>
            <a:pPr eaLnBrk="0" hangingPunct="0">
              <a:lnSpc>
                <a:spcPct val="150000"/>
              </a:lnSpc>
              <a:spcBef>
                <a:spcPts val="0"/>
              </a:spcBef>
              <a:defRPr/>
            </a:pP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         </a:t>
            </a:r>
            <a:r>
              <a:rPr lang="en-US" altLang="zh-CN" sz="2000" dirty="0" err="1">
                <a:solidFill>
                  <a:schemeClr val="accent2">
                    <a:lumMod val="75000"/>
                  </a:schemeClr>
                </a:solidFill>
                <a:latin typeface="微软雅黑" panose="020B0503020204020204" pitchFamily="34" charset="-122"/>
                <a:ea typeface="微软雅黑" panose="020B0503020204020204" pitchFamily="34" charset="-122"/>
              </a:rPr>
              <a:t>imul_overflow</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函数功能的</a:t>
            </a:r>
            <a:r>
              <a:rPr lang="en-US" altLang="zh-CN" sz="2000" dirty="0">
                <a:solidFill>
                  <a:schemeClr val="accent2">
                    <a:lumMod val="75000"/>
                  </a:schemeClr>
                </a:solidFill>
                <a:latin typeface="微软雅黑" panose="020B0503020204020204" pitchFamily="34" charset="-122"/>
                <a:ea typeface="微软雅黑" panose="020B0503020204020204" pitchFamily="34" charset="-122"/>
              </a:rPr>
              <a:t>RISC-V</a:t>
            </a: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汇编指令序列，并给出注解。</a:t>
            </a:r>
            <a:r>
              <a:rPr lang="zh-CN" altLang="en-US" sz="2000" dirty="0">
                <a:solidFill>
                  <a:srgbClr val="990000"/>
                </a:solidFill>
                <a:latin typeface="微软雅黑" panose="020B0503020204020204" pitchFamily="34" charset="-122"/>
                <a:ea typeface="微软雅黑" panose="020B0503020204020204" pitchFamily="34" charset="-122"/>
              </a:rPr>
              <a:t>（编</a:t>
            </a:r>
            <a:endParaRPr lang="en-US" altLang="zh-CN" sz="2000" dirty="0">
              <a:solidFill>
                <a:srgbClr val="990000"/>
              </a:solidFill>
              <a:latin typeface="微软雅黑" panose="020B0503020204020204" pitchFamily="34" charset="-122"/>
              <a:ea typeface="微软雅黑" panose="020B0503020204020204" pitchFamily="34" charset="-122"/>
            </a:endParaRPr>
          </a:p>
          <a:p>
            <a:pPr eaLnBrk="0" hangingPunct="0">
              <a:lnSpc>
                <a:spcPct val="150000"/>
              </a:lnSpc>
              <a:spcBef>
                <a:spcPts val="0"/>
              </a:spcBef>
              <a:defRPr/>
            </a:pPr>
            <a:r>
              <a:rPr lang="en-US" altLang="zh-CN" sz="2000" dirty="0">
                <a:solidFill>
                  <a:srgbClr val="990000"/>
                </a:solidFill>
                <a:latin typeface="微软雅黑" panose="020B0503020204020204" pitchFamily="34" charset="-122"/>
                <a:ea typeface="微软雅黑" panose="020B0503020204020204" pitchFamily="34" charset="-122"/>
              </a:rPr>
              <a:t>         </a:t>
            </a:r>
            <a:r>
              <a:rPr lang="zh-CN" altLang="en-US" sz="2000" dirty="0">
                <a:solidFill>
                  <a:srgbClr val="990000"/>
                </a:solidFill>
                <a:latin typeface="微软雅黑" panose="020B0503020204020204" pitchFamily="34" charset="-122"/>
                <a:ea typeface="微软雅黑" panose="020B0503020204020204" pitchFamily="34" charset="-122"/>
              </a:rPr>
              <a:t>译器中判断溢出的代码）</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a:p>
            <a:pPr eaLnBrk="0" hangingPunct="0">
              <a:lnSpc>
                <a:spcPct val="150000"/>
              </a:lnSpc>
              <a:spcBef>
                <a:spcPts val="0"/>
              </a:spcBef>
              <a:defRPr/>
            </a:pPr>
            <a:r>
              <a:rPr lang="zh-CN" altLang="en-US" sz="2000" dirty="0">
                <a:solidFill>
                  <a:schemeClr val="bg1">
                    <a:lumMod val="50000"/>
                  </a:schemeClr>
                </a:solidFill>
                <a:latin typeface="微软雅黑" panose="020B0503020204020204" pitchFamily="34" charset="-122"/>
                <a:ea typeface="微软雅黑" panose="020B0503020204020204" pitchFamily="34" charset="-122"/>
              </a:rPr>
              <a:t>（</a:t>
            </a:r>
            <a:r>
              <a:rPr lang="en-US" altLang="zh-CN" sz="2000" dirty="0">
                <a:solidFill>
                  <a:schemeClr val="bg1">
                    <a:lumMod val="50000"/>
                  </a:schemeClr>
                </a:solidFill>
                <a:latin typeface="微软雅黑" panose="020B0503020204020204" pitchFamily="34" charset="-122"/>
                <a:ea typeface="微软雅黑" panose="020B0503020204020204" pitchFamily="34" charset="-122"/>
              </a:rPr>
              <a:t>3</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）使用</a:t>
            </a:r>
            <a:r>
              <a:rPr lang="en-US" altLang="zh-CN" sz="2000" dirty="0">
                <a:solidFill>
                  <a:schemeClr val="bg1">
                    <a:lumMod val="50000"/>
                  </a:schemeClr>
                </a:solidFill>
                <a:latin typeface="微软雅黑" panose="020B0503020204020204" pitchFamily="34" charset="-122"/>
                <a:ea typeface="微软雅黑" panose="020B0503020204020204" pitchFamily="34" charset="-122"/>
              </a:rPr>
              <a:t>64</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位整型（</a:t>
            </a:r>
            <a:r>
              <a:rPr lang="en-US" altLang="zh-CN" sz="2000" dirty="0">
                <a:solidFill>
                  <a:schemeClr val="bg1">
                    <a:lumMod val="50000"/>
                  </a:schemeClr>
                </a:solidFill>
                <a:latin typeface="微软雅黑" panose="020B0503020204020204" pitchFamily="34" charset="-122"/>
                <a:ea typeface="微软雅黑" panose="020B0503020204020204" pitchFamily="34" charset="-122"/>
              </a:rPr>
              <a:t>long </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rPr>
              <a:t>long</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）变量来编写</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rPr>
              <a:t>imul_overflow</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函数的</a:t>
            </a:r>
            <a:r>
              <a:rPr lang="en-US" altLang="zh-CN" sz="2000" dirty="0">
                <a:solidFill>
                  <a:schemeClr val="bg1">
                    <a:lumMod val="50000"/>
                  </a:schemeClr>
                </a:solidFill>
                <a:latin typeface="微软雅黑" panose="020B0503020204020204" pitchFamily="34" charset="-122"/>
                <a:ea typeface="微软雅黑" panose="020B0503020204020204" pitchFamily="34" charset="-122"/>
              </a:rPr>
              <a:t>C</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代码</a:t>
            </a:r>
            <a:endParaRPr lang="en-US" altLang="zh-CN" sz="2000" dirty="0">
              <a:solidFill>
                <a:schemeClr val="bg1">
                  <a:lumMod val="50000"/>
                </a:schemeClr>
              </a:solidFill>
              <a:latin typeface="微软雅黑" panose="020B0503020204020204" pitchFamily="34" charset="-122"/>
              <a:ea typeface="微软雅黑" panose="020B0503020204020204" pitchFamily="34" charset="-122"/>
            </a:endParaRPr>
          </a:p>
          <a:p>
            <a:pPr eaLnBrk="0" hangingPunct="0">
              <a:lnSpc>
                <a:spcPct val="150000"/>
              </a:lnSpc>
              <a:spcBef>
                <a:spcPts val="0"/>
              </a:spcBef>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或描述实现思想。</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a:extLst>
              <a:ext uri="{FF2B5EF4-FFF2-40B4-BE49-F238E27FC236}">
                <a16:creationId xmlns:a16="http://schemas.microsoft.com/office/drawing/2014/main" id="{5AC98993-3B86-A376-7682-1D0628DE33D9}"/>
              </a:ext>
            </a:extLst>
          </p:cNvPr>
          <p:cNvSpPr>
            <a:spLocks noGrp="1" noChangeArrowheads="1"/>
          </p:cNvSpPr>
          <p:nvPr>
            <p:ph type="title"/>
          </p:nvPr>
        </p:nvSpPr>
        <p:spPr>
          <a:xfrm>
            <a:off x="800100" y="190500"/>
            <a:ext cx="6073775" cy="479425"/>
          </a:xfrm>
        </p:spPr>
        <p:txBody>
          <a:bodyPr/>
          <a:lstStyle/>
          <a:p>
            <a:r>
              <a:rPr lang="zh-CN" altLang="en-US">
                <a:ea typeface="宋体" panose="02010600030101010101" pitchFamily="2" charset="-122"/>
              </a:rPr>
              <a:t>思考题的参考答案</a:t>
            </a:r>
          </a:p>
        </p:txBody>
      </p:sp>
      <p:sp>
        <p:nvSpPr>
          <p:cNvPr id="92162" name="内容占位符 2">
            <a:extLst>
              <a:ext uri="{FF2B5EF4-FFF2-40B4-BE49-F238E27FC236}">
                <a16:creationId xmlns:a16="http://schemas.microsoft.com/office/drawing/2014/main" id="{45A575BB-05BF-DF4D-3D91-6B3B19012CF7}"/>
              </a:ext>
            </a:extLst>
          </p:cNvPr>
          <p:cNvSpPr>
            <a:spLocks noGrp="1" noChangeArrowheads="1"/>
          </p:cNvSpPr>
          <p:nvPr>
            <p:ph idx="1"/>
          </p:nvPr>
        </p:nvSpPr>
        <p:spPr>
          <a:xfrm>
            <a:off x="247650" y="809625"/>
            <a:ext cx="8647113" cy="5238750"/>
          </a:xfrm>
        </p:spPr>
        <p:txBody>
          <a:bodyPr/>
          <a:lstStyle/>
          <a:p>
            <a:pPr marL="0" indent="0">
              <a:buFont typeface="Wingdings" panose="05000000000000000000" pitchFamily="2" charset="2"/>
              <a:buNone/>
            </a:pPr>
            <a:r>
              <a:rPr lang="zh-CN" altLang="en-US">
                <a:solidFill>
                  <a:schemeClr val="accent2"/>
                </a:solidFill>
                <a:latin typeface="微软雅黑" panose="020B0503020204020204" pitchFamily="34" charset="-122"/>
                <a:ea typeface="微软雅黑" panose="020B0503020204020204" pitchFamily="34" charset="-122"/>
              </a:rPr>
              <a:t>（</a:t>
            </a:r>
            <a:r>
              <a:rPr lang="en-US" altLang="zh-CN">
                <a:solidFill>
                  <a:schemeClr val="accent2"/>
                </a:solidFill>
                <a:latin typeface="微软雅黑" panose="020B0503020204020204" pitchFamily="34" charset="-122"/>
                <a:ea typeface="微软雅黑" panose="020B0503020204020204" pitchFamily="34" charset="-122"/>
              </a:rPr>
              <a:t>1</a:t>
            </a:r>
            <a:r>
              <a:rPr lang="zh-CN" altLang="en-US">
                <a:solidFill>
                  <a:schemeClr val="accent2"/>
                </a:solidFill>
                <a:latin typeface="微软雅黑" panose="020B0503020204020204" pitchFamily="34" charset="-122"/>
                <a:ea typeface="微软雅黑" panose="020B0503020204020204" pitchFamily="34" charset="-122"/>
              </a:rPr>
              <a:t>）溢出判断规则</a:t>
            </a:r>
            <a:endParaRPr lang="en-US" altLang="zh-CN">
              <a:solidFill>
                <a:schemeClr val="accent2"/>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zh-CN" altLang="zh-CN">
                <a:latin typeface="微软雅黑" panose="020B0503020204020204" pitchFamily="34" charset="-122"/>
                <a:ea typeface="微软雅黑" panose="020B0503020204020204" pitchFamily="34" charset="-122"/>
              </a:rPr>
              <a:t>无符号整数相乘：</a:t>
            </a:r>
            <a:r>
              <a:rPr lang="zh-CN" altLang="zh-CN">
                <a:solidFill>
                  <a:srgbClr val="990000"/>
                </a:solidFill>
                <a:latin typeface="微软雅黑" panose="020B0503020204020204" pitchFamily="34" charset="-122"/>
                <a:ea typeface="微软雅黑" panose="020B0503020204020204" pitchFamily="34" charset="-122"/>
              </a:rPr>
              <a:t>若乘积的高</a:t>
            </a:r>
            <a:r>
              <a:rPr lang="en-US" altLang="zh-CN">
                <a:solidFill>
                  <a:srgbClr val="990000"/>
                </a:solidFill>
                <a:latin typeface="微软雅黑" panose="020B0503020204020204" pitchFamily="34" charset="-122"/>
                <a:ea typeface="微软雅黑" panose="020B0503020204020204" pitchFamily="34" charset="-122"/>
              </a:rPr>
              <a:t>n</a:t>
            </a:r>
            <a:r>
              <a:rPr lang="zh-CN" altLang="zh-CN">
                <a:solidFill>
                  <a:srgbClr val="990000"/>
                </a:solidFill>
                <a:latin typeface="微软雅黑" panose="020B0503020204020204" pitchFamily="34" charset="-122"/>
                <a:ea typeface="微软雅黑" panose="020B0503020204020204" pitchFamily="34" charset="-122"/>
              </a:rPr>
              <a:t>位为非</a:t>
            </a:r>
            <a:r>
              <a:rPr lang="en-US" altLang="zh-CN">
                <a:solidFill>
                  <a:srgbClr val="990000"/>
                </a:solidFill>
                <a:latin typeface="微软雅黑" panose="020B0503020204020204" pitchFamily="34" charset="-122"/>
                <a:ea typeface="微软雅黑" panose="020B0503020204020204" pitchFamily="34" charset="-122"/>
              </a:rPr>
              <a:t>0</a:t>
            </a:r>
            <a:r>
              <a:rPr lang="zh-CN" altLang="zh-CN">
                <a:solidFill>
                  <a:srgbClr val="990000"/>
                </a:solidFill>
                <a:latin typeface="微软雅黑" panose="020B0503020204020204" pitchFamily="34" charset="-122"/>
                <a:ea typeface="微软雅黑" panose="020B0503020204020204" pitchFamily="34" charset="-122"/>
              </a:rPr>
              <a:t>，则溢出。</a:t>
            </a:r>
          </a:p>
          <a:p>
            <a:pPr marL="0" indent="0">
              <a:buFont typeface="Wingdings" panose="05000000000000000000" pitchFamily="2" charset="2"/>
              <a:buNone/>
            </a:pPr>
            <a:r>
              <a:rPr lang="zh-CN" altLang="zh-CN">
                <a:latin typeface="微软雅黑" panose="020B0503020204020204" pitchFamily="34" charset="-122"/>
                <a:ea typeface="微软雅黑" panose="020B0503020204020204" pitchFamily="34" charset="-122"/>
              </a:rPr>
              <a:t>带符号整数相乘：</a:t>
            </a:r>
            <a:r>
              <a:rPr lang="zh-CN" altLang="zh-CN">
                <a:solidFill>
                  <a:srgbClr val="990000"/>
                </a:solidFill>
                <a:latin typeface="微软雅黑" panose="020B0503020204020204" pitchFamily="34" charset="-122"/>
                <a:ea typeface="微软雅黑" panose="020B0503020204020204" pitchFamily="34" charset="-122"/>
              </a:rPr>
              <a:t>若乘积高</a:t>
            </a:r>
            <a:r>
              <a:rPr lang="en-US" altLang="zh-CN">
                <a:solidFill>
                  <a:srgbClr val="990000"/>
                </a:solidFill>
                <a:latin typeface="微软雅黑" panose="020B0503020204020204" pitchFamily="34" charset="-122"/>
                <a:ea typeface="微软雅黑" panose="020B0503020204020204" pitchFamily="34" charset="-122"/>
              </a:rPr>
              <a:t>n</a:t>
            </a:r>
            <a:r>
              <a:rPr lang="zh-CN" altLang="zh-CN">
                <a:solidFill>
                  <a:srgbClr val="990000"/>
                </a:solidFill>
                <a:latin typeface="微软雅黑" panose="020B0503020204020204" pitchFamily="34" charset="-122"/>
                <a:ea typeface="微软雅黑" panose="020B0503020204020204" pitchFamily="34" charset="-122"/>
              </a:rPr>
              <a:t>位</a:t>
            </a:r>
            <a:r>
              <a:rPr lang="zh-CN" altLang="en-US">
                <a:solidFill>
                  <a:srgbClr val="990000"/>
                </a:solidFill>
                <a:latin typeface="微软雅黑" panose="020B0503020204020204" pitchFamily="34" charset="-122"/>
                <a:ea typeface="微软雅黑" panose="020B0503020204020204" pitchFamily="34" charset="-122"/>
              </a:rPr>
              <a:t>的每一位都相同，且都等于</a:t>
            </a:r>
            <a:r>
              <a:rPr lang="zh-CN" altLang="zh-CN">
                <a:solidFill>
                  <a:srgbClr val="990000"/>
                </a:solidFill>
                <a:latin typeface="微软雅黑" panose="020B0503020204020204" pitchFamily="34" charset="-122"/>
                <a:ea typeface="微软雅黑" panose="020B0503020204020204" pitchFamily="34" charset="-122"/>
              </a:rPr>
              <a:t>乘积低</a:t>
            </a:r>
            <a:r>
              <a:rPr lang="en-US" altLang="zh-CN">
                <a:solidFill>
                  <a:srgbClr val="990000"/>
                </a:solidFill>
                <a:latin typeface="微软雅黑" panose="020B0503020204020204" pitchFamily="34" charset="-122"/>
                <a:ea typeface="微软雅黑" panose="020B0503020204020204" pitchFamily="34" charset="-122"/>
              </a:rPr>
              <a:t>n</a:t>
            </a:r>
          </a:p>
          <a:p>
            <a:pPr marL="0" indent="0">
              <a:buFont typeface="Wingdings" panose="05000000000000000000" pitchFamily="2" charset="2"/>
              <a:buNone/>
            </a:pPr>
            <a:r>
              <a:rPr lang="en-US" altLang="zh-CN">
                <a:solidFill>
                  <a:srgbClr val="990000"/>
                </a:solidFill>
                <a:latin typeface="微软雅黑" panose="020B0503020204020204" pitchFamily="34" charset="-122"/>
                <a:ea typeface="微软雅黑" panose="020B0503020204020204" pitchFamily="34" charset="-122"/>
              </a:rPr>
              <a:t>                           </a:t>
            </a:r>
            <a:r>
              <a:rPr lang="zh-CN" altLang="zh-CN">
                <a:solidFill>
                  <a:srgbClr val="990000"/>
                </a:solidFill>
                <a:latin typeface="微软雅黑" panose="020B0503020204020204" pitchFamily="34" charset="-122"/>
                <a:ea typeface="微软雅黑" panose="020B0503020204020204" pitchFamily="34" charset="-122"/>
              </a:rPr>
              <a:t>位的符号，则不溢出，否则溢出。</a:t>
            </a:r>
            <a:endParaRPr lang="en-US" altLang="zh-CN">
              <a:solidFill>
                <a:srgbClr val="990000"/>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zh-CN" altLang="zh-CN">
              <a:solidFill>
                <a:srgbClr val="990000"/>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zh-CN" altLang="en-US">
                <a:solidFill>
                  <a:schemeClr val="accent2"/>
                </a:solidFill>
                <a:latin typeface="微软雅黑" panose="020B0503020204020204" pitchFamily="34" charset="-122"/>
                <a:ea typeface="微软雅黑" panose="020B0503020204020204" pitchFamily="34" charset="-122"/>
              </a:rPr>
              <a:t>（</a:t>
            </a:r>
            <a:r>
              <a:rPr lang="en-US" altLang="zh-CN">
                <a:solidFill>
                  <a:schemeClr val="accent2"/>
                </a:solidFill>
                <a:latin typeface="微软雅黑" panose="020B0503020204020204" pitchFamily="34" charset="-122"/>
                <a:ea typeface="微软雅黑" panose="020B0503020204020204" pitchFamily="34" charset="-122"/>
              </a:rPr>
              <a:t>2</a:t>
            </a:r>
            <a:r>
              <a:rPr lang="zh-CN" altLang="en-US">
                <a:solidFill>
                  <a:schemeClr val="accent2"/>
                </a:solidFill>
                <a:latin typeface="微软雅黑" panose="020B0503020204020204" pitchFamily="34" charset="-122"/>
                <a:ea typeface="微软雅黑" panose="020B0503020204020204" pitchFamily="34" charset="-122"/>
              </a:rPr>
              <a:t>）</a:t>
            </a:r>
            <a:r>
              <a:rPr lang="en-US" altLang="zh-CN">
                <a:solidFill>
                  <a:schemeClr val="accent2"/>
                </a:solidFill>
                <a:latin typeface="微软雅黑" panose="020B0503020204020204" pitchFamily="34" charset="-122"/>
                <a:ea typeface="微软雅黑" panose="020B0503020204020204" pitchFamily="34" charset="-122"/>
              </a:rPr>
              <a:t>RISC-V</a:t>
            </a:r>
            <a:r>
              <a:rPr lang="zh-CN" altLang="en-US">
                <a:solidFill>
                  <a:schemeClr val="accent2"/>
                </a:solidFill>
                <a:latin typeface="微软雅黑" panose="020B0503020204020204" pitchFamily="34" charset="-122"/>
                <a:ea typeface="微软雅黑" panose="020B0503020204020204" pitchFamily="34" charset="-122"/>
              </a:rPr>
              <a:t>汇编指令序列</a:t>
            </a:r>
            <a:endParaRPr lang="en-US" altLang="zh-CN">
              <a:solidFill>
                <a:schemeClr val="accent2"/>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zh-CN" altLang="zh-CN">
                <a:solidFill>
                  <a:srgbClr val="990000"/>
                </a:solidFill>
                <a:latin typeface="微软雅黑" panose="020B0503020204020204" pitchFamily="34" charset="-122"/>
                <a:ea typeface="微软雅黑" panose="020B0503020204020204" pitchFamily="34" charset="-122"/>
              </a:rPr>
              <a:t>实现该功能的汇编指令序列不唯一。</a:t>
            </a:r>
            <a:endParaRPr lang="en-US" altLang="zh-CN">
              <a:solidFill>
                <a:srgbClr val="990000"/>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zh-CN" altLang="zh-CN">
                <a:latin typeface="微软雅黑" panose="020B0503020204020204" pitchFamily="34" charset="-122"/>
                <a:ea typeface="微软雅黑" panose="020B0503020204020204" pitchFamily="34" charset="-122"/>
              </a:rPr>
              <a:t>某实现方案下的汇编指令序列如下：</a:t>
            </a:r>
            <a:r>
              <a:rPr lang="en-US" altLang="zh-CN">
                <a:solidFill>
                  <a:srgbClr val="990000"/>
                </a:solidFill>
                <a:latin typeface="微软雅黑" panose="020B0503020204020204" pitchFamily="34" charset="-122"/>
                <a:ea typeface="微软雅黑" panose="020B0503020204020204" pitchFamily="34" charset="-122"/>
              </a:rPr>
              <a:t> </a:t>
            </a:r>
            <a:endParaRPr lang="en-US" altLang="zh-CN">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en-US" altLang="zh-CN">
                <a:solidFill>
                  <a:srgbClr val="FF0000"/>
                </a:solidFill>
                <a:latin typeface="微软雅黑" panose="020B0503020204020204" pitchFamily="34" charset="-122"/>
                <a:ea typeface="微软雅黑" panose="020B0503020204020204" pitchFamily="34" charset="-122"/>
              </a:rPr>
              <a:t>mul  	t0,</a:t>
            </a:r>
            <a:r>
              <a:rPr lang="zh-CN" altLang="en-US">
                <a:solidFill>
                  <a:srgbClr val="FF0000"/>
                </a:solidFill>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a0,</a:t>
            </a:r>
            <a:r>
              <a:rPr lang="zh-CN" altLang="en-US">
                <a:solidFill>
                  <a:srgbClr val="FF0000"/>
                </a:solidFill>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a1	       # x*y</a:t>
            </a:r>
            <a:r>
              <a:rPr lang="zh-CN" altLang="en-US">
                <a:solidFill>
                  <a:srgbClr val="FF0000"/>
                </a:solidFill>
                <a:latin typeface="微软雅黑" panose="020B0503020204020204" pitchFamily="34" charset="-122"/>
                <a:ea typeface="微软雅黑" panose="020B0503020204020204" pitchFamily="34" charset="-122"/>
              </a:rPr>
              <a:t>的低</a:t>
            </a:r>
            <a:r>
              <a:rPr lang="en-US" altLang="zh-CN">
                <a:solidFill>
                  <a:srgbClr val="FF0000"/>
                </a:solidFill>
                <a:latin typeface="微软雅黑" panose="020B0503020204020204" pitchFamily="34" charset="-122"/>
                <a:ea typeface="微软雅黑" panose="020B0503020204020204" pitchFamily="34" charset="-122"/>
              </a:rPr>
              <a:t>32</a:t>
            </a:r>
            <a:r>
              <a:rPr lang="zh-CN" altLang="en-US">
                <a:solidFill>
                  <a:srgbClr val="FF0000"/>
                </a:solidFill>
                <a:latin typeface="微软雅黑" panose="020B0503020204020204" pitchFamily="34" charset="-122"/>
                <a:ea typeface="微软雅黑" panose="020B0503020204020204" pitchFamily="34" charset="-122"/>
              </a:rPr>
              <a:t>位在</a:t>
            </a:r>
            <a:r>
              <a:rPr lang="en-US" altLang="zh-CN">
                <a:solidFill>
                  <a:srgbClr val="FF0000"/>
                </a:solidFill>
                <a:latin typeface="微软雅黑" panose="020B0503020204020204" pitchFamily="34" charset="-122"/>
                <a:ea typeface="微软雅黑" panose="020B0503020204020204" pitchFamily="34" charset="-122"/>
              </a:rPr>
              <a:t>t0</a:t>
            </a:r>
            <a:r>
              <a:rPr lang="zh-CN" altLang="en-US">
                <a:solidFill>
                  <a:srgbClr val="FF0000"/>
                </a:solidFill>
                <a:latin typeface="微软雅黑" panose="020B0503020204020204" pitchFamily="34" charset="-122"/>
                <a:ea typeface="微软雅黑" panose="020B0503020204020204" pitchFamily="34" charset="-122"/>
              </a:rPr>
              <a:t>中</a:t>
            </a:r>
            <a:endParaRPr lang="zh-CN" altLang="zh-CN">
              <a:solidFill>
                <a:srgbClr val="FF0000"/>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en-US" altLang="zh-CN">
                <a:solidFill>
                  <a:srgbClr val="FF0000"/>
                </a:solidFill>
                <a:latin typeface="微软雅黑" panose="020B0503020204020204" pitchFamily="34" charset="-122"/>
                <a:ea typeface="微软雅黑" panose="020B0503020204020204" pitchFamily="34" charset="-122"/>
              </a:rPr>
              <a:t>mulh  	a0,</a:t>
            </a:r>
            <a:r>
              <a:rPr lang="zh-CN" altLang="en-US">
                <a:solidFill>
                  <a:srgbClr val="FF0000"/>
                </a:solidFill>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a0,</a:t>
            </a:r>
            <a:r>
              <a:rPr lang="zh-CN" altLang="en-US">
                <a:solidFill>
                  <a:srgbClr val="FF0000"/>
                </a:solidFill>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a1	       # x*y</a:t>
            </a:r>
            <a:r>
              <a:rPr lang="zh-CN" altLang="en-US">
                <a:solidFill>
                  <a:srgbClr val="FF0000"/>
                </a:solidFill>
                <a:latin typeface="微软雅黑" panose="020B0503020204020204" pitchFamily="34" charset="-122"/>
                <a:ea typeface="微软雅黑" panose="020B0503020204020204" pitchFamily="34" charset="-122"/>
              </a:rPr>
              <a:t>的高</a:t>
            </a:r>
            <a:r>
              <a:rPr lang="en-US" altLang="zh-CN">
                <a:solidFill>
                  <a:srgbClr val="FF0000"/>
                </a:solidFill>
                <a:latin typeface="微软雅黑" panose="020B0503020204020204" pitchFamily="34" charset="-122"/>
                <a:ea typeface="微软雅黑" panose="020B0503020204020204" pitchFamily="34" charset="-122"/>
              </a:rPr>
              <a:t>32</a:t>
            </a:r>
            <a:r>
              <a:rPr lang="zh-CN" altLang="en-US">
                <a:solidFill>
                  <a:srgbClr val="FF0000"/>
                </a:solidFill>
                <a:latin typeface="微软雅黑" panose="020B0503020204020204" pitchFamily="34" charset="-122"/>
                <a:ea typeface="微软雅黑" panose="020B0503020204020204" pitchFamily="34" charset="-122"/>
              </a:rPr>
              <a:t>位在</a:t>
            </a:r>
            <a:r>
              <a:rPr lang="en-US" altLang="zh-CN">
                <a:solidFill>
                  <a:srgbClr val="FF0000"/>
                </a:solidFill>
                <a:latin typeface="微软雅黑" panose="020B0503020204020204" pitchFamily="34" charset="-122"/>
                <a:ea typeface="微软雅黑" panose="020B0503020204020204" pitchFamily="34" charset="-122"/>
              </a:rPr>
              <a:t>a0</a:t>
            </a:r>
            <a:r>
              <a:rPr lang="zh-CN" altLang="en-US">
                <a:solidFill>
                  <a:srgbClr val="FF0000"/>
                </a:solidFill>
                <a:latin typeface="微软雅黑" panose="020B0503020204020204" pitchFamily="34" charset="-122"/>
                <a:ea typeface="微软雅黑" panose="020B0503020204020204" pitchFamily="34" charset="-122"/>
              </a:rPr>
              <a:t>中</a:t>
            </a:r>
            <a:endParaRPr lang="zh-CN" altLang="zh-CN">
              <a:solidFill>
                <a:srgbClr val="FF0000"/>
              </a:solidFill>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srai   	t0, t0, 31	       # </a:t>
            </a:r>
            <a:r>
              <a:rPr lang="zh-CN" altLang="en-US">
                <a:latin typeface="微软雅黑" panose="020B0503020204020204" pitchFamily="34" charset="-122"/>
                <a:ea typeface="微软雅黑" panose="020B0503020204020204" pitchFamily="34" charset="-122"/>
              </a:rPr>
              <a:t>乘积的低</a:t>
            </a:r>
            <a:r>
              <a:rPr lang="en-US" altLang="zh-CN">
                <a:latin typeface="微软雅黑" panose="020B0503020204020204" pitchFamily="34" charset="-122"/>
                <a:ea typeface="微软雅黑" panose="020B0503020204020204" pitchFamily="34" charset="-122"/>
              </a:rPr>
              <a:t>32</a:t>
            </a:r>
            <a:r>
              <a:rPr lang="zh-CN" altLang="en-US">
                <a:latin typeface="微软雅黑" panose="020B0503020204020204" pitchFamily="34" charset="-122"/>
                <a:ea typeface="微软雅黑" panose="020B0503020204020204" pitchFamily="34" charset="-122"/>
              </a:rPr>
              <a:t>位算术右移</a:t>
            </a:r>
            <a:r>
              <a:rPr lang="en-US" altLang="zh-CN">
                <a:latin typeface="微软雅黑" panose="020B0503020204020204" pitchFamily="34" charset="-122"/>
                <a:ea typeface="微软雅黑" panose="020B0503020204020204" pitchFamily="34" charset="-122"/>
              </a:rPr>
              <a:t>31</a:t>
            </a:r>
            <a:r>
              <a:rPr lang="zh-CN" altLang="zh-CN">
                <a:latin typeface="微软雅黑" panose="020B0503020204020204" pitchFamily="34" charset="-122"/>
                <a:ea typeface="微软雅黑" panose="020B0503020204020204" pitchFamily="34" charset="-122"/>
              </a:rPr>
              <a:t>位</a:t>
            </a:r>
          </a:p>
          <a:p>
            <a:pPr marL="0" indent="0">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xor  	a0, a0, t0	       # </a:t>
            </a:r>
            <a:r>
              <a:rPr lang="zh-CN" altLang="zh-CN">
                <a:latin typeface="微软雅黑" panose="020B0503020204020204" pitchFamily="34" charset="-122"/>
                <a:ea typeface="微软雅黑" panose="020B0503020204020204" pitchFamily="34" charset="-122"/>
              </a:rPr>
              <a:t>按位异或，若结果为</a:t>
            </a:r>
            <a:r>
              <a:rPr lang="en-US" altLang="zh-CN">
                <a:latin typeface="微软雅黑" panose="020B0503020204020204" pitchFamily="34" charset="-122"/>
                <a:ea typeface="微软雅黑" panose="020B0503020204020204" pitchFamily="34" charset="-122"/>
              </a:rPr>
              <a:t>0</a:t>
            </a:r>
            <a:r>
              <a:rPr lang="zh-CN" altLang="zh-CN">
                <a:latin typeface="微软雅黑" panose="020B0503020204020204" pitchFamily="34" charset="-122"/>
                <a:ea typeface="微软雅黑" panose="020B0503020204020204" pitchFamily="34" charset="-122"/>
              </a:rPr>
              <a:t>，表示不溢出</a:t>
            </a:r>
          </a:p>
        </p:txBody>
      </p:sp>
      <p:sp>
        <p:nvSpPr>
          <p:cNvPr id="4" name="Text Box 8">
            <a:extLst>
              <a:ext uri="{FF2B5EF4-FFF2-40B4-BE49-F238E27FC236}">
                <a16:creationId xmlns:a16="http://schemas.microsoft.com/office/drawing/2014/main" id="{A4752B9E-8416-C9FA-9E2C-F2992F77EA53}"/>
              </a:ext>
            </a:extLst>
          </p:cNvPr>
          <p:cNvSpPr txBox="1">
            <a:spLocks noChangeArrowheads="1"/>
          </p:cNvSpPr>
          <p:nvPr/>
        </p:nvSpPr>
        <p:spPr bwMode="auto">
          <a:xfrm>
            <a:off x="6472238" y="5722938"/>
            <a:ext cx="9493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spcBef>
                <a:spcPct val="50000"/>
              </a:spcBef>
            </a:pPr>
            <a:r>
              <a:rPr lang="en-US" altLang="zh-CN" sz="1800">
                <a:hlinkClick r:id="rId3" action="ppaction://hlinksldjump"/>
              </a:rPr>
              <a:t>BACK</a:t>
            </a: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4">
            <a:extLst>
              <a:ext uri="{FF2B5EF4-FFF2-40B4-BE49-F238E27FC236}">
                <a16:creationId xmlns:a16="http://schemas.microsoft.com/office/drawing/2014/main" id="{90F47E9C-759E-B6BA-DC87-9FBD403B17E1}"/>
              </a:ext>
            </a:extLst>
          </p:cNvPr>
          <p:cNvSpPr>
            <a:spLocks noChangeArrowheads="1"/>
          </p:cNvSpPr>
          <p:nvPr/>
        </p:nvSpPr>
        <p:spPr bwMode="auto">
          <a:xfrm>
            <a:off x="614363" y="654050"/>
            <a:ext cx="8229600"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defRPr sz="800" b="1">
                <a:solidFill>
                  <a:schemeClr val="accent2"/>
                </a:solidFill>
                <a:latin typeface="Arial" panose="020B0604020202020204" pitchFamily="34" charset="0"/>
                <a:ea typeface="宋体" panose="02010600030101010101" pitchFamily="2" charset="-122"/>
              </a:defRPr>
            </a:lvl1pPr>
            <a:lvl2pPr marL="800100" indent="-342900">
              <a:defRPr sz="800" b="1">
                <a:solidFill>
                  <a:schemeClr val="accent2"/>
                </a:solidFill>
                <a:latin typeface="Arial" panose="020B0604020202020204" pitchFamily="34" charset="0"/>
                <a:ea typeface="宋体" panose="02010600030101010101" pitchFamily="2" charset="-122"/>
              </a:defRPr>
            </a:lvl2pPr>
            <a:lvl3pPr>
              <a:defRPr sz="800" b="1">
                <a:solidFill>
                  <a:schemeClr val="accent2"/>
                </a:solidFill>
                <a:latin typeface="Arial" panose="020B0604020202020204" pitchFamily="34" charset="0"/>
                <a:ea typeface="宋体" panose="02010600030101010101" pitchFamily="2" charset="-122"/>
              </a:defRPr>
            </a:lvl3pPr>
            <a:lvl4pPr>
              <a:defRPr sz="800" b="1">
                <a:solidFill>
                  <a:schemeClr val="accent2"/>
                </a:solidFill>
                <a:latin typeface="Arial" panose="020B0604020202020204" pitchFamily="34" charset="0"/>
                <a:ea typeface="宋体" panose="02010600030101010101" pitchFamily="2" charset="-122"/>
              </a:defRPr>
            </a:lvl4pPr>
            <a:lvl5pPr>
              <a:defRPr sz="800" b="1">
                <a:solidFill>
                  <a:schemeClr val="accent2"/>
                </a:solidFill>
                <a:latin typeface="Arial" panose="020B0604020202020204" pitchFamily="34" charset="0"/>
                <a:ea typeface="宋体" panose="02010600030101010101" pitchFamily="2" charset="-122"/>
              </a:defRPr>
            </a:lvl5pPr>
            <a:lvl6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fontAlgn="base">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eaLnBrk="0" hangingPunct="0">
              <a:lnSpc>
                <a:spcPct val="105000"/>
              </a:lnSpc>
              <a:spcBef>
                <a:spcPct val="1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指令格式</a:t>
            </a:r>
          </a:p>
          <a:p>
            <a:pPr lvl="1" eaLnBrk="0" hangingPunct="0">
              <a:lnSpc>
                <a:spcPct val="105000"/>
              </a:lnSpc>
              <a:spcBef>
                <a:spcPct val="15000"/>
              </a:spcBef>
              <a:buFontTx/>
              <a:buChar char="–"/>
            </a:pPr>
            <a:r>
              <a:rPr lang="zh-CN" altLang="en-US" sz="1800">
                <a:ea typeface="黑体" panose="02010609060101010101" pitchFamily="49" charset="-122"/>
              </a:rPr>
              <a:t>定长指令字：所有指令长度一致</a:t>
            </a:r>
          </a:p>
          <a:p>
            <a:pPr lvl="1" eaLnBrk="0" hangingPunct="0">
              <a:lnSpc>
                <a:spcPct val="105000"/>
              </a:lnSpc>
              <a:spcBef>
                <a:spcPct val="15000"/>
              </a:spcBef>
              <a:buFontTx/>
              <a:buChar char="–"/>
            </a:pPr>
            <a:r>
              <a:rPr lang="zh-CN" altLang="en-US" sz="1800">
                <a:ea typeface="黑体" panose="02010609060101010101" pitchFamily="49" charset="-122"/>
              </a:rPr>
              <a:t>变长指令字：指令长度有长有短</a:t>
            </a:r>
          </a:p>
          <a:p>
            <a:pPr eaLnBrk="0" hangingPunct="0">
              <a:lnSpc>
                <a:spcPct val="105000"/>
              </a:lnSpc>
              <a:spcBef>
                <a:spcPct val="1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操作类型</a:t>
            </a:r>
          </a:p>
          <a:p>
            <a:pPr lvl="1" eaLnBrk="0" hangingPunct="0">
              <a:lnSpc>
                <a:spcPct val="105000"/>
              </a:lnSpc>
              <a:spcBef>
                <a:spcPct val="15000"/>
              </a:spcBef>
              <a:buFontTx/>
              <a:buChar char="–"/>
            </a:pPr>
            <a:r>
              <a:rPr lang="zh-CN" altLang="en-US" sz="1800">
                <a:ea typeface="黑体" panose="02010609060101010101" pitchFamily="49" charset="-122"/>
              </a:rPr>
              <a:t>数据传送：数据在寄存器、主存单元、栈顶等处进行传送</a:t>
            </a:r>
          </a:p>
          <a:p>
            <a:pPr lvl="1" eaLnBrk="0" hangingPunct="0">
              <a:lnSpc>
                <a:spcPct val="105000"/>
              </a:lnSpc>
              <a:spcBef>
                <a:spcPct val="15000"/>
              </a:spcBef>
              <a:buFontTx/>
              <a:buChar char="–"/>
            </a:pPr>
            <a:r>
              <a:rPr lang="zh-CN" altLang="en-US" sz="1800">
                <a:ea typeface="黑体" panose="02010609060101010101" pitchFamily="49" charset="-122"/>
              </a:rPr>
              <a:t>操作运算：各种算术运算、逻辑运算</a:t>
            </a:r>
          </a:p>
          <a:p>
            <a:pPr lvl="1" eaLnBrk="0" hangingPunct="0">
              <a:lnSpc>
                <a:spcPct val="105000"/>
              </a:lnSpc>
              <a:spcBef>
                <a:spcPct val="15000"/>
              </a:spcBef>
              <a:buFontTx/>
              <a:buChar char="–"/>
            </a:pPr>
            <a:r>
              <a:rPr lang="zh-CN" altLang="en-US" sz="1800">
                <a:ea typeface="黑体" panose="02010609060101010101" pitchFamily="49" charset="-122"/>
              </a:rPr>
              <a:t>字符串处理：字符串查找、扫描、转换等</a:t>
            </a:r>
          </a:p>
          <a:p>
            <a:pPr lvl="1" eaLnBrk="0" hangingPunct="0">
              <a:lnSpc>
                <a:spcPct val="105000"/>
              </a:lnSpc>
              <a:spcBef>
                <a:spcPct val="15000"/>
              </a:spcBef>
              <a:buFontTx/>
              <a:buChar char="–"/>
            </a:pPr>
            <a:r>
              <a:rPr lang="en-US" altLang="zh-CN" sz="1800">
                <a:ea typeface="黑体" panose="02010609060101010101" pitchFamily="49" charset="-122"/>
              </a:rPr>
              <a:t>I/O</a:t>
            </a:r>
            <a:r>
              <a:rPr lang="zh-CN" altLang="en-US" sz="1800">
                <a:ea typeface="黑体" panose="02010609060101010101" pitchFamily="49" charset="-122"/>
              </a:rPr>
              <a:t>操作： 与外设接口进行数据</a:t>
            </a:r>
            <a:r>
              <a:rPr lang="en-US" altLang="zh-CN" sz="1800">
                <a:ea typeface="黑体" panose="02010609060101010101" pitchFamily="49" charset="-122"/>
              </a:rPr>
              <a:t>/</a:t>
            </a:r>
            <a:r>
              <a:rPr lang="zh-CN" altLang="en-US" sz="1800">
                <a:ea typeface="黑体" panose="02010609060101010101" pitchFamily="49" charset="-122"/>
              </a:rPr>
              <a:t>状态</a:t>
            </a:r>
            <a:r>
              <a:rPr lang="en-US" altLang="zh-CN" sz="1800">
                <a:ea typeface="黑体" panose="02010609060101010101" pitchFamily="49" charset="-122"/>
              </a:rPr>
              <a:t>/</a:t>
            </a:r>
            <a:r>
              <a:rPr lang="zh-CN" altLang="en-US" sz="1800">
                <a:ea typeface="黑体" panose="02010609060101010101" pitchFamily="49" charset="-122"/>
              </a:rPr>
              <a:t>命令信息的交换</a:t>
            </a:r>
          </a:p>
          <a:p>
            <a:pPr lvl="1" eaLnBrk="0" hangingPunct="0">
              <a:lnSpc>
                <a:spcPct val="105000"/>
              </a:lnSpc>
              <a:spcBef>
                <a:spcPct val="15000"/>
              </a:spcBef>
              <a:buFontTx/>
              <a:buChar char="–"/>
            </a:pPr>
            <a:r>
              <a:rPr lang="zh-CN" altLang="en-US" sz="1800">
                <a:ea typeface="黑体" panose="02010609060101010101" pitchFamily="49" charset="-122"/>
              </a:rPr>
              <a:t>程序流控制：条件转移、无条件转移、转子、返回等</a:t>
            </a:r>
          </a:p>
          <a:p>
            <a:pPr lvl="1" eaLnBrk="0" hangingPunct="0">
              <a:lnSpc>
                <a:spcPct val="105000"/>
              </a:lnSpc>
              <a:spcBef>
                <a:spcPct val="15000"/>
              </a:spcBef>
              <a:buFontTx/>
              <a:buChar char="–"/>
            </a:pPr>
            <a:r>
              <a:rPr lang="zh-CN" altLang="en-US" sz="1800">
                <a:ea typeface="黑体" panose="02010609060101010101" pitchFamily="49" charset="-122"/>
              </a:rPr>
              <a:t>系统控制：启动、停止、陷阱指令（自愿访管）、空操作等</a:t>
            </a:r>
          </a:p>
          <a:p>
            <a:pPr eaLnBrk="0" hangingPunct="0">
              <a:lnSpc>
                <a:spcPct val="105000"/>
              </a:lnSpc>
              <a:spcBef>
                <a:spcPct val="1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操作数类型（以</a:t>
            </a:r>
            <a:r>
              <a:rPr lang="en-US" altLang="zh-CN" sz="1800">
                <a:solidFill>
                  <a:schemeClr val="tx1"/>
                </a:solidFill>
                <a:ea typeface="黑体" panose="02010609060101010101" pitchFamily="49" charset="-122"/>
              </a:rPr>
              <a:t>Pentium</a:t>
            </a:r>
            <a:r>
              <a:rPr lang="zh-CN" altLang="en-US" sz="1800">
                <a:solidFill>
                  <a:schemeClr val="tx1"/>
                </a:solidFill>
                <a:ea typeface="黑体" panose="02010609060101010101" pitchFamily="49" charset="-122"/>
              </a:rPr>
              <a:t>处理器数据类型为例）</a:t>
            </a:r>
          </a:p>
          <a:p>
            <a:pPr lvl="1" eaLnBrk="0" hangingPunct="0">
              <a:lnSpc>
                <a:spcPct val="105000"/>
              </a:lnSpc>
              <a:spcBef>
                <a:spcPct val="15000"/>
              </a:spcBef>
              <a:buFontTx/>
              <a:buChar char="–"/>
            </a:pPr>
            <a:r>
              <a:rPr lang="zh-CN" altLang="en-US" sz="1800">
                <a:ea typeface="黑体" panose="02010609060101010101" pitchFamily="49" charset="-122"/>
              </a:rPr>
              <a:t>序数或指针：</a:t>
            </a:r>
            <a:r>
              <a:rPr lang="en-US" altLang="zh-CN" sz="1800">
                <a:ea typeface="黑体" panose="02010609060101010101" pitchFamily="49" charset="-122"/>
              </a:rPr>
              <a:t>8</a:t>
            </a:r>
            <a:r>
              <a:rPr lang="zh-CN" altLang="en-US" sz="1800">
                <a:ea typeface="黑体" panose="02010609060101010101" pitchFamily="49" charset="-122"/>
              </a:rPr>
              <a:t>位、</a:t>
            </a:r>
            <a:r>
              <a:rPr lang="en-US" altLang="zh-CN" sz="1800">
                <a:ea typeface="黑体" panose="02010609060101010101" pitchFamily="49" charset="-122"/>
              </a:rPr>
              <a:t>16</a:t>
            </a:r>
            <a:r>
              <a:rPr lang="zh-CN" altLang="en-US" sz="1800">
                <a:ea typeface="黑体" panose="02010609060101010101" pitchFamily="49" charset="-122"/>
              </a:rPr>
              <a:t>位、</a:t>
            </a:r>
            <a:r>
              <a:rPr lang="en-US" altLang="zh-CN" sz="1800">
                <a:ea typeface="黑体" panose="02010609060101010101" pitchFamily="49" charset="-122"/>
              </a:rPr>
              <a:t>32</a:t>
            </a:r>
            <a:r>
              <a:rPr lang="zh-CN" altLang="en-US" sz="1800">
                <a:ea typeface="黑体" panose="02010609060101010101" pitchFamily="49" charset="-122"/>
              </a:rPr>
              <a:t>位无符号整数表示</a:t>
            </a:r>
          </a:p>
          <a:p>
            <a:pPr lvl="1" eaLnBrk="0" hangingPunct="0">
              <a:lnSpc>
                <a:spcPct val="105000"/>
              </a:lnSpc>
              <a:spcBef>
                <a:spcPct val="15000"/>
              </a:spcBef>
              <a:buFontTx/>
              <a:buChar char="–"/>
            </a:pPr>
            <a:r>
              <a:rPr lang="zh-CN" altLang="en-US" sz="1800">
                <a:ea typeface="黑体" panose="02010609060101010101" pitchFamily="49" charset="-122"/>
              </a:rPr>
              <a:t>整数：</a:t>
            </a:r>
            <a:r>
              <a:rPr lang="en-US" altLang="zh-CN" sz="1800">
                <a:ea typeface="黑体" panose="02010609060101010101" pitchFamily="49" charset="-122"/>
              </a:rPr>
              <a:t>16</a:t>
            </a:r>
            <a:r>
              <a:rPr lang="zh-CN" altLang="en-US" sz="1800">
                <a:ea typeface="黑体" panose="02010609060101010101" pitchFamily="49" charset="-122"/>
              </a:rPr>
              <a:t>位、</a:t>
            </a:r>
            <a:r>
              <a:rPr lang="en-US" altLang="zh-CN" sz="1800">
                <a:ea typeface="黑体" panose="02010609060101010101" pitchFamily="49" charset="-122"/>
              </a:rPr>
              <a:t>32</a:t>
            </a:r>
            <a:r>
              <a:rPr lang="zh-CN" altLang="en-US" sz="1800">
                <a:ea typeface="黑体" panose="02010609060101010101" pitchFamily="49" charset="-122"/>
              </a:rPr>
              <a:t>位、</a:t>
            </a:r>
            <a:r>
              <a:rPr lang="en-US" altLang="zh-CN" sz="1800">
                <a:ea typeface="黑体" panose="02010609060101010101" pitchFamily="49" charset="-122"/>
              </a:rPr>
              <a:t>64</a:t>
            </a:r>
            <a:r>
              <a:rPr lang="zh-CN" altLang="en-US" sz="1800">
                <a:ea typeface="黑体" panose="02010609060101010101" pitchFamily="49" charset="-122"/>
              </a:rPr>
              <a:t>位三种补码表示的整数</a:t>
            </a:r>
          </a:p>
          <a:p>
            <a:pPr lvl="1" eaLnBrk="0" hangingPunct="0">
              <a:lnSpc>
                <a:spcPct val="105000"/>
              </a:lnSpc>
              <a:spcBef>
                <a:spcPct val="15000"/>
              </a:spcBef>
              <a:buFontTx/>
              <a:buChar char="–"/>
            </a:pPr>
            <a:r>
              <a:rPr lang="zh-CN" altLang="en-US" sz="1800">
                <a:ea typeface="黑体" panose="02010609060101010101" pitchFamily="49" charset="-122"/>
              </a:rPr>
              <a:t>实数：</a:t>
            </a:r>
            <a:r>
              <a:rPr lang="en-US" altLang="zh-CN" sz="1800">
                <a:ea typeface="黑体" panose="02010609060101010101" pitchFamily="49" charset="-122"/>
              </a:rPr>
              <a:t>IEEE754</a:t>
            </a:r>
            <a:r>
              <a:rPr lang="zh-CN" altLang="en-US" sz="1800">
                <a:ea typeface="黑体" panose="02010609060101010101" pitchFamily="49" charset="-122"/>
              </a:rPr>
              <a:t>浮点数格式</a:t>
            </a:r>
          </a:p>
          <a:p>
            <a:pPr lvl="1" eaLnBrk="0" hangingPunct="0">
              <a:lnSpc>
                <a:spcPct val="105000"/>
              </a:lnSpc>
              <a:spcBef>
                <a:spcPct val="15000"/>
              </a:spcBef>
              <a:buFontTx/>
              <a:buChar char="–"/>
            </a:pPr>
            <a:r>
              <a:rPr lang="zh-CN" altLang="en-US" sz="1800">
                <a:ea typeface="黑体" panose="02010609060101010101" pitchFamily="49" charset="-122"/>
              </a:rPr>
              <a:t>十进制数：</a:t>
            </a:r>
            <a:r>
              <a:rPr lang="en-US" altLang="zh-CN" sz="1800">
                <a:ea typeface="黑体" panose="02010609060101010101" pitchFamily="49" charset="-122"/>
              </a:rPr>
              <a:t>18</a:t>
            </a:r>
            <a:r>
              <a:rPr lang="zh-CN" altLang="en-US" sz="1800">
                <a:ea typeface="黑体" panose="02010609060101010101" pitchFamily="49" charset="-122"/>
              </a:rPr>
              <a:t>位十进制数，用</a:t>
            </a:r>
            <a:r>
              <a:rPr lang="en-US" altLang="zh-CN" sz="1800">
                <a:ea typeface="黑体" panose="02010609060101010101" pitchFamily="49" charset="-122"/>
              </a:rPr>
              <a:t>80</a:t>
            </a:r>
            <a:r>
              <a:rPr lang="zh-CN" altLang="en-US" sz="1800">
                <a:ea typeface="黑体" panose="02010609060101010101" pitchFamily="49" charset="-122"/>
              </a:rPr>
              <a:t>个二进位表示</a:t>
            </a:r>
          </a:p>
          <a:p>
            <a:pPr lvl="1" eaLnBrk="0" hangingPunct="0">
              <a:lnSpc>
                <a:spcPct val="105000"/>
              </a:lnSpc>
              <a:spcBef>
                <a:spcPct val="15000"/>
              </a:spcBef>
              <a:buFontTx/>
              <a:buChar char="–"/>
            </a:pPr>
            <a:r>
              <a:rPr lang="zh-CN" altLang="en-US" sz="1800">
                <a:ea typeface="黑体" panose="02010609060101010101" pitchFamily="49" charset="-122"/>
              </a:rPr>
              <a:t>字符串：字节为单位的字符序列，一般用</a:t>
            </a:r>
            <a:r>
              <a:rPr lang="en-US" altLang="zh-CN" sz="1800">
                <a:ea typeface="黑体" panose="02010609060101010101" pitchFamily="49" charset="-122"/>
              </a:rPr>
              <a:t>ASCII</a:t>
            </a:r>
            <a:r>
              <a:rPr lang="zh-CN" altLang="en-US" sz="1800">
                <a:ea typeface="黑体" panose="02010609060101010101" pitchFamily="49" charset="-122"/>
              </a:rPr>
              <a:t>码表示</a:t>
            </a:r>
          </a:p>
          <a:p>
            <a:pPr eaLnBrk="0" hangingPunct="0">
              <a:lnSpc>
                <a:spcPct val="105000"/>
              </a:lnSpc>
              <a:spcBef>
                <a:spcPct val="15000"/>
              </a:spcBef>
              <a:buSzPct val="75000"/>
              <a:buFont typeface="Wingdings" panose="05000000000000000000" pitchFamily="2" charset="2"/>
              <a:buChar char="u"/>
            </a:pPr>
            <a:r>
              <a:rPr lang="zh-CN" altLang="en-US" sz="1800">
                <a:solidFill>
                  <a:schemeClr val="tx1"/>
                </a:solidFill>
                <a:ea typeface="黑体" panose="02010609060101010101" pitchFamily="49" charset="-122"/>
              </a:rPr>
              <a:t>操作数宽度：有多种，如：字节、</a:t>
            </a:r>
            <a:r>
              <a:rPr lang="en-US" altLang="zh-CN" sz="1800">
                <a:solidFill>
                  <a:schemeClr val="tx1"/>
                </a:solidFill>
                <a:ea typeface="黑体" panose="02010609060101010101" pitchFamily="49" charset="-122"/>
              </a:rPr>
              <a:t>16</a:t>
            </a:r>
            <a:r>
              <a:rPr lang="zh-CN" altLang="en-US" sz="1800">
                <a:solidFill>
                  <a:schemeClr val="tx1"/>
                </a:solidFill>
                <a:ea typeface="黑体" panose="02010609060101010101" pitchFamily="49" charset="-122"/>
              </a:rPr>
              <a:t>位、</a:t>
            </a:r>
            <a:r>
              <a:rPr lang="en-US" altLang="zh-CN" sz="1800">
                <a:solidFill>
                  <a:schemeClr val="tx1"/>
                </a:solidFill>
                <a:ea typeface="黑体" panose="02010609060101010101" pitchFamily="49" charset="-122"/>
              </a:rPr>
              <a:t>32</a:t>
            </a:r>
            <a:r>
              <a:rPr lang="zh-CN" altLang="en-US" sz="1800">
                <a:solidFill>
                  <a:schemeClr val="tx1"/>
                </a:solidFill>
                <a:ea typeface="黑体" panose="02010609060101010101" pitchFamily="49" charset="-122"/>
              </a:rPr>
              <a:t>位、</a:t>
            </a:r>
            <a:r>
              <a:rPr lang="en-US" altLang="zh-CN" sz="1800">
                <a:solidFill>
                  <a:schemeClr val="tx1"/>
                </a:solidFill>
                <a:ea typeface="黑体" panose="02010609060101010101" pitchFamily="49" charset="-122"/>
              </a:rPr>
              <a:t>64</a:t>
            </a:r>
            <a:r>
              <a:rPr lang="zh-CN" altLang="en-US" sz="1800">
                <a:solidFill>
                  <a:schemeClr val="tx1"/>
                </a:solidFill>
                <a:ea typeface="黑体" panose="02010609060101010101" pitchFamily="49" charset="-122"/>
              </a:rPr>
              <a:t>位等</a:t>
            </a:r>
          </a:p>
        </p:txBody>
      </p:sp>
      <p:sp>
        <p:nvSpPr>
          <p:cNvPr id="94210" name="Rectangle 5">
            <a:extLst>
              <a:ext uri="{FF2B5EF4-FFF2-40B4-BE49-F238E27FC236}">
                <a16:creationId xmlns:a16="http://schemas.microsoft.com/office/drawing/2014/main" id="{F3C8FF50-7A1E-74B4-D853-432AAE65A1BA}"/>
              </a:ext>
            </a:extLst>
          </p:cNvPr>
          <p:cNvSpPr>
            <a:spLocks noGrp="1" noChangeArrowheads="1"/>
          </p:cNvSpPr>
          <p:nvPr>
            <p:ph type="title"/>
          </p:nvPr>
        </p:nvSpPr>
        <p:spPr>
          <a:xfrm>
            <a:off x="711200" y="114300"/>
            <a:ext cx="2073275" cy="368300"/>
          </a:xfrm>
        </p:spPr>
        <p:txBody>
          <a:bodyPr/>
          <a:lstStyle/>
          <a:p>
            <a:r>
              <a:rPr lang="zh-CN" altLang="en-US">
                <a:ea typeface="宋体" panose="02010600030101010101" pitchFamily="2" charset="-122"/>
              </a:rPr>
              <a:t>本章总结</a:t>
            </a:r>
            <a:r>
              <a:rPr lang="en-US" altLang="zh-CN">
                <a:ea typeface="宋体" panose="02010600030101010101" pitchFamily="2" charset="-122"/>
              </a:rPr>
              <a:t>1</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3">
            <a:extLst>
              <a:ext uri="{FF2B5EF4-FFF2-40B4-BE49-F238E27FC236}">
                <a16:creationId xmlns:a16="http://schemas.microsoft.com/office/drawing/2014/main" id="{7488B1A7-0265-37EE-9144-339AB768C807}"/>
              </a:ext>
            </a:extLst>
          </p:cNvPr>
          <p:cNvSpPr>
            <a:spLocks noGrp="1" noChangeArrowheads="1"/>
          </p:cNvSpPr>
          <p:nvPr>
            <p:ph idx="1"/>
          </p:nvPr>
        </p:nvSpPr>
        <p:spPr>
          <a:xfrm>
            <a:off x="200025" y="569913"/>
            <a:ext cx="8686800" cy="5686425"/>
          </a:xfrm>
        </p:spPr>
        <p:txBody>
          <a:bodyPr/>
          <a:lstStyle/>
          <a:p>
            <a:pPr>
              <a:lnSpc>
                <a:spcPct val="120000"/>
              </a:lnSpc>
              <a:spcBef>
                <a:spcPct val="10000"/>
              </a:spcBef>
            </a:pPr>
            <a:r>
              <a:rPr lang="zh-CN" altLang="en-US" sz="1800">
                <a:latin typeface="Arial" panose="020B0604020202020204" pitchFamily="34" charset="0"/>
                <a:ea typeface="黑体" panose="02010609060101010101" pitchFamily="49" charset="-122"/>
              </a:rPr>
              <a:t>寻址方式</a:t>
            </a:r>
          </a:p>
          <a:p>
            <a:pPr lvl="1">
              <a:lnSpc>
                <a:spcPct val="120000"/>
              </a:lnSpc>
              <a:spcBef>
                <a:spcPct val="10000"/>
              </a:spcBef>
            </a:pPr>
            <a:r>
              <a:rPr lang="zh-CN" altLang="en-US">
                <a:latin typeface="Arial" panose="020B0604020202020204" pitchFamily="34" charset="0"/>
                <a:ea typeface="黑体" panose="02010609060101010101" pitchFamily="49" charset="-122"/>
              </a:rPr>
              <a:t>立即：地址码直接给出操作数本身</a:t>
            </a:r>
          </a:p>
          <a:p>
            <a:pPr lvl="1">
              <a:lnSpc>
                <a:spcPct val="120000"/>
              </a:lnSpc>
              <a:spcBef>
                <a:spcPct val="10000"/>
              </a:spcBef>
            </a:pPr>
            <a:r>
              <a:rPr lang="zh-CN" altLang="en-US">
                <a:latin typeface="Arial" panose="020B0604020202020204" pitchFamily="34" charset="0"/>
                <a:ea typeface="黑体" panose="02010609060101010101" pitchFamily="49" charset="-122"/>
              </a:rPr>
              <a:t>直接：地址码给出操作数所在的内存单元地址</a:t>
            </a:r>
          </a:p>
          <a:p>
            <a:pPr lvl="1">
              <a:lnSpc>
                <a:spcPct val="120000"/>
              </a:lnSpc>
              <a:spcBef>
                <a:spcPct val="10000"/>
              </a:spcBef>
            </a:pPr>
            <a:r>
              <a:rPr lang="zh-CN" altLang="en-US">
                <a:latin typeface="Arial" panose="020B0604020202020204" pitchFamily="34" charset="0"/>
                <a:ea typeface="黑体" panose="02010609060101010101" pitchFamily="49" charset="-122"/>
              </a:rPr>
              <a:t>间接：地址码给出操作数所在的内存单元地址所在的内存单元地址</a:t>
            </a:r>
          </a:p>
          <a:p>
            <a:pPr lvl="1">
              <a:lnSpc>
                <a:spcPct val="120000"/>
              </a:lnSpc>
              <a:spcBef>
                <a:spcPct val="10000"/>
              </a:spcBef>
            </a:pPr>
            <a:r>
              <a:rPr lang="zh-CN" altLang="en-US">
                <a:latin typeface="Arial" panose="020B0604020202020204" pitchFamily="34" charset="0"/>
                <a:ea typeface="黑体" panose="02010609060101010101" pitchFamily="49" charset="-122"/>
              </a:rPr>
              <a:t>寄存器：地址码给出操作数所在的寄存器编号</a:t>
            </a:r>
          </a:p>
          <a:p>
            <a:pPr lvl="1">
              <a:lnSpc>
                <a:spcPct val="120000"/>
              </a:lnSpc>
              <a:spcBef>
                <a:spcPct val="10000"/>
              </a:spcBef>
            </a:pPr>
            <a:r>
              <a:rPr lang="zh-CN" altLang="en-US">
                <a:latin typeface="Arial" panose="020B0604020202020204" pitchFamily="34" charset="0"/>
                <a:ea typeface="黑体" panose="02010609060101010101" pitchFamily="49" charset="-122"/>
              </a:rPr>
              <a:t>寄存器间接：地址码给出操作数所在单元的地址所在的寄存器编号</a:t>
            </a:r>
          </a:p>
          <a:p>
            <a:pPr lvl="1">
              <a:lnSpc>
                <a:spcPct val="120000"/>
              </a:lnSpc>
              <a:spcBef>
                <a:spcPct val="10000"/>
              </a:spcBef>
            </a:pPr>
            <a:r>
              <a:rPr lang="zh-CN" altLang="en-US">
                <a:latin typeface="Arial" panose="020B0604020202020204" pitchFamily="34" charset="0"/>
                <a:ea typeface="黑体" panose="02010609060101010101" pitchFamily="49" charset="-122"/>
              </a:rPr>
              <a:t>栈：操作数约定在栈中，总是从栈顶取数或存数</a:t>
            </a:r>
          </a:p>
          <a:p>
            <a:pPr lvl="1">
              <a:lnSpc>
                <a:spcPct val="120000"/>
              </a:lnSpc>
              <a:spcBef>
                <a:spcPct val="10000"/>
              </a:spcBef>
            </a:pPr>
            <a:r>
              <a:rPr lang="zh-CN" altLang="en-US">
                <a:latin typeface="Arial" panose="020B0604020202020204" pitchFamily="34" charset="0"/>
                <a:ea typeface="黑体" panose="02010609060101010101" pitchFamily="49" charset="-122"/>
              </a:rPr>
              <a:t>偏移寻址：用基地址</a:t>
            </a:r>
            <a:r>
              <a:rPr lang="en-US" altLang="zh-CN">
                <a:latin typeface="Arial" panose="020B0604020202020204" pitchFamily="34" charset="0"/>
                <a:ea typeface="黑体" panose="02010609060101010101" pitchFamily="49" charset="-122"/>
              </a:rPr>
              <a:t>+</a:t>
            </a:r>
            <a:r>
              <a:rPr lang="zh-CN" altLang="en-US">
                <a:latin typeface="Arial" panose="020B0604020202020204" pitchFamily="34" charset="0"/>
                <a:ea typeface="黑体" panose="02010609060101010101" pitchFamily="49" charset="-122"/>
              </a:rPr>
              <a:t>形式地址得到操作数所在的内存单元地址，包括三种：</a:t>
            </a:r>
          </a:p>
          <a:p>
            <a:pPr lvl="2">
              <a:lnSpc>
                <a:spcPct val="120000"/>
              </a:lnSpc>
              <a:spcBef>
                <a:spcPct val="10000"/>
              </a:spcBef>
            </a:pPr>
            <a:r>
              <a:rPr lang="zh-CN" altLang="en-US">
                <a:latin typeface="Arial" panose="020B0604020202020204" pitchFamily="34" charset="0"/>
                <a:ea typeface="黑体" panose="02010609060101010101" pitchFamily="49" charset="-122"/>
              </a:rPr>
              <a:t>变址寻址：</a:t>
            </a:r>
            <a:r>
              <a:rPr lang="zh-CN" altLang="en-US">
                <a:solidFill>
                  <a:srgbClr val="006600"/>
                </a:solidFill>
                <a:latin typeface="Arial" panose="020B0604020202020204" pitchFamily="34" charset="0"/>
                <a:ea typeface="黑体" panose="02010609060101010101" pitchFamily="49" charset="-122"/>
              </a:rPr>
              <a:t>地址码给出一个形式地址，并且隐含或明显地指定一个寄存 器作为变址寄存器，变址寄存器的内容（变址值）和形式地址相加，得到操作数的有效地址，</a:t>
            </a:r>
          </a:p>
          <a:p>
            <a:pPr lvl="2">
              <a:lnSpc>
                <a:spcPct val="120000"/>
              </a:lnSpc>
              <a:spcBef>
                <a:spcPct val="10000"/>
              </a:spcBef>
            </a:pPr>
            <a:r>
              <a:rPr lang="zh-CN" altLang="en-US">
                <a:latin typeface="Arial" panose="020B0604020202020204" pitchFamily="34" charset="0"/>
                <a:ea typeface="黑体" panose="02010609060101010101" pitchFamily="49" charset="-122"/>
              </a:rPr>
              <a:t>相对寻址：</a:t>
            </a:r>
            <a:r>
              <a:rPr lang="zh-CN" altLang="en-US">
                <a:solidFill>
                  <a:srgbClr val="006600"/>
                </a:solidFill>
                <a:latin typeface="Arial" panose="020B0604020202020204" pitchFamily="34" charset="0"/>
                <a:ea typeface="黑体" panose="02010609060101010101" pitchFamily="49" charset="-122"/>
              </a:rPr>
              <a:t>指令中的形式地址给出一个位移量</a:t>
            </a:r>
            <a:r>
              <a:rPr lang="en-US" altLang="zh-CN">
                <a:solidFill>
                  <a:srgbClr val="006600"/>
                </a:solidFill>
                <a:latin typeface="Arial" panose="020B0604020202020204" pitchFamily="34" charset="0"/>
                <a:ea typeface="黑体" panose="02010609060101010101" pitchFamily="49" charset="-122"/>
              </a:rPr>
              <a:t>D</a:t>
            </a:r>
            <a:r>
              <a:rPr lang="zh-CN" altLang="en-US">
                <a:solidFill>
                  <a:srgbClr val="006600"/>
                </a:solidFill>
                <a:latin typeface="Arial" panose="020B0604020202020204" pitchFamily="34" charset="0"/>
                <a:ea typeface="黑体" panose="02010609060101010101" pitchFamily="49" charset="-122"/>
              </a:rPr>
              <a:t>，而基准地址由程序计  数器</a:t>
            </a:r>
            <a:r>
              <a:rPr lang="en-US" altLang="zh-CN">
                <a:solidFill>
                  <a:srgbClr val="006600"/>
                </a:solidFill>
                <a:latin typeface="Arial" panose="020B0604020202020204" pitchFamily="34" charset="0"/>
                <a:ea typeface="黑体" panose="02010609060101010101" pitchFamily="49" charset="-122"/>
              </a:rPr>
              <a:t>PC</a:t>
            </a:r>
            <a:r>
              <a:rPr lang="zh-CN" altLang="en-US">
                <a:solidFill>
                  <a:srgbClr val="006600"/>
                </a:solidFill>
                <a:latin typeface="Arial" panose="020B0604020202020204" pitchFamily="34" charset="0"/>
                <a:ea typeface="黑体" panose="02010609060101010101" pitchFamily="49" charset="-122"/>
              </a:rPr>
              <a:t>提供。即：有效地址</a:t>
            </a:r>
            <a:r>
              <a:rPr lang="en-US" altLang="zh-CN">
                <a:solidFill>
                  <a:srgbClr val="006600"/>
                </a:solidFill>
                <a:latin typeface="Arial" panose="020B0604020202020204" pitchFamily="34" charset="0"/>
                <a:ea typeface="黑体" panose="02010609060101010101" pitchFamily="49" charset="-122"/>
              </a:rPr>
              <a:t>EA=</a:t>
            </a:r>
            <a:r>
              <a:rPr lang="zh-CN" altLang="en-US">
                <a:solidFill>
                  <a:srgbClr val="006600"/>
                </a:solidFill>
                <a:latin typeface="Arial" panose="020B0604020202020204" pitchFamily="34" charset="0"/>
                <a:ea typeface="黑体" panose="02010609060101010101" pitchFamily="49" charset="-122"/>
              </a:rPr>
              <a:t>（</a:t>
            </a:r>
            <a:r>
              <a:rPr lang="en-US" altLang="zh-CN">
                <a:solidFill>
                  <a:srgbClr val="006600"/>
                </a:solidFill>
                <a:latin typeface="Arial" panose="020B0604020202020204" pitchFamily="34" charset="0"/>
                <a:ea typeface="黑体" panose="02010609060101010101" pitchFamily="49" charset="-122"/>
              </a:rPr>
              <a:t>PC</a:t>
            </a:r>
            <a:r>
              <a:rPr lang="zh-CN" altLang="en-US">
                <a:solidFill>
                  <a:srgbClr val="006600"/>
                </a:solidFill>
                <a:latin typeface="Arial" panose="020B0604020202020204" pitchFamily="34" charset="0"/>
                <a:ea typeface="黑体" panose="02010609060101010101" pitchFamily="49" charset="-122"/>
              </a:rPr>
              <a:t>）</a:t>
            </a:r>
            <a:r>
              <a:rPr lang="en-US" altLang="zh-CN">
                <a:solidFill>
                  <a:srgbClr val="006600"/>
                </a:solidFill>
                <a:latin typeface="Arial" panose="020B0604020202020204" pitchFamily="34" charset="0"/>
                <a:ea typeface="黑体" panose="02010609060101010101" pitchFamily="49" charset="-122"/>
              </a:rPr>
              <a:t>+ D</a:t>
            </a:r>
          </a:p>
          <a:p>
            <a:pPr lvl="2">
              <a:lnSpc>
                <a:spcPct val="120000"/>
              </a:lnSpc>
              <a:spcBef>
                <a:spcPct val="10000"/>
              </a:spcBef>
            </a:pPr>
            <a:r>
              <a:rPr lang="zh-CN" altLang="en-US">
                <a:latin typeface="Arial" panose="020B0604020202020204" pitchFamily="34" charset="0"/>
                <a:ea typeface="黑体" panose="02010609060101010101" pitchFamily="49" charset="-122"/>
              </a:rPr>
              <a:t>基址寻址：</a:t>
            </a:r>
            <a:r>
              <a:rPr lang="zh-CN" altLang="en-US">
                <a:solidFill>
                  <a:srgbClr val="006600"/>
                </a:solidFill>
                <a:latin typeface="Arial" panose="020B0604020202020204" pitchFamily="34" charset="0"/>
                <a:ea typeface="黑体" panose="02010609060101010101" pitchFamily="49" charset="-122"/>
              </a:rPr>
              <a:t>地址码给出一个形式地址，作为位移量，并且隐含或明显地指定一个寄存器作为基址寄存器，基址寄存器的内容和形式地址相加，得到操作数的有效地址</a:t>
            </a:r>
          </a:p>
          <a:p>
            <a:pPr>
              <a:lnSpc>
                <a:spcPct val="80000"/>
              </a:lnSpc>
            </a:pPr>
            <a:endParaRPr lang="zh-CN" altLang="en-US" sz="1800">
              <a:solidFill>
                <a:srgbClr val="006600"/>
              </a:solidFill>
              <a:latin typeface="Arial" panose="020B0604020202020204" pitchFamily="34" charset="0"/>
              <a:ea typeface="黑体" panose="02010609060101010101" pitchFamily="49" charset="-122"/>
            </a:endParaRPr>
          </a:p>
        </p:txBody>
      </p:sp>
      <p:sp>
        <p:nvSpPr>
          <p:cNvPr id="95234" name="Rectangle 4">
            <a:extLst>
              <a:ext uri="{FF2B5EF4-FFF2-40B4-BE49-F238E27FC236}">
                <a16:creationId xmlns:a16="http://schemas.microsoft.com/office/drawing/2014/main" id="{3B8F12D0-62B2-A837-0998-B9FF54175332}"/>
              </a:ext>
            </a:extLst>
          </p:cNvPr>
          <p:cNvSpPr>
            <a:spLocks noGrp="1" noChangeArrowheads="1"/>
          </p:cNvSpPr>
          <p:nvPr>
            <p:ph type="title"/>
          </p:nvPr>
        </p:nvSpPr>
        <p:spPr>
          <a:xfrm>
            <a:off x="711200" y="57150"/>
            <a:ext cx="2132013" cy="368300"/>
          </a:xfrm>
        </p:spPr>
        <p:txBody>
          <a:bodyPr/>
          <a:lstStyle/>
          <a:p>
            <a:r>
              <a:rPr lang="zh-CN" altLang="en-US">
                <a:ea typeface="宋体" panose="02010600030101010101" pitchFamily="2" charset="-122"/>
              </a:rPr>
              <a:t>本章总结</a:t>
            </a:r>
            <a:r>
              <a:rPr lang="en-US" altLang="zh-CN">
                <a:ea typeface="宋体" panose="02010600030101010101" pitchFamily="2" charset="-122"/>
              </a:rPr>
              <a:t>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3">
            <a:extLst>
              <a:ext uri="{FF2B5EF4-FFF2-40B4-BE49-F238E27FC236}">
                <a16:creationId xmlns:a16="http://schemas.microsoft.com/office/drawing/2014/main" id="{91724FC5-817F-DE5B-5F2C-E1605D533F6E}"/>
              </a:ext>
            </a:extLst>
          </p:cNvPr>
          <p:cNvSpPr>
            <a:spLocks noGrp="1" noChangeArrowheads="1"/>
          </p:cNvSpPr>
          <p:nvPr>
            <p:ph idx="1"/>
          </p:nvPr>
        </p:nvSpPr>
        <p:spPr>
          <a:xfrm>
            <a:off x="471488" y="612775"/>
            <a:ext cx="8229600" cy="5280025"/>
          </a:xfrm>
        </p:spPr>
        <p:txBody>
          <a:bodyPr/>
          <a:lstStyle/>
          <a:p>
            <a:pPr>
              <a:lnSpc>
                <a:spcPct val="120000"/>
              </a:lnSpc>
            </a:pPr>
            <a:r>
              <a:rPr lang="zh-CN" altLang="en-US">
                <a:latin typeface="Arial" panose="020B0604020202020204" pitchFamily="34" charset="0"/>
                <a:ea typeface="黑体" panose="02010609060101010101" pitchFamily="49" charset="-122"/>
              </a:rPr>
              <a:t>指令系统风格：决定了处理器的设计</a:t>
            </a:r>
          </a:p>
          <a:p>
            <a:pPr lvl="1">
              <a:lnSpc>
                <a:spcPct val="120000"/>
              </a:lnSpc>
            </a:pPr>
            <a:r>
              <a:rPr lang="zh-CN" altLang="en-US" sz="2000">
                <a:latin typeface="Arial" panose="020B0604020202020204" pitchFamily="34" charset="0"/>
                <a:ea typeface="黑体" panose="02010609060101010101" pitchFamily="49" charset="-122"/>
              </a:rPr>
              <a:t>按地址码指定风格来分</a:t>
            </a:r>
          </a:p>
          <a:p>
            <a:pPr lvl="2">
              <a:lnSpc>
                <a:spcPct val="120000"/>
              </a:lnSpc>
              <a:buFont typeface="Wingdings" panose="05000000000000000000" pitchFamily="2" charset="2"/>
              <a:buNone/>
            </a:pPr>
            <a:r>
              <a:rPr lang="zh-CN" altLang="en-US" sz="2000">
                <a:latin typeface="Arial" panose="020B0604020202020204" pitchFamily="34" charset="0"/>
                <a:ea typeface="黑体" panose="02010609060101010101" pitchFamily="49" charset="-122"/>
              </a:rPr>
              <a:t> 累加器型：</a:t>
            </a:r>
            <a:r>
              <a:rPr lang="zh-CN" altLang="en-US" sz="2000">
                <a:solidFill>
                  <a:srgbClr val="006600"/>
                </a:solidFill>
                <a:latin typeface="Arial" panose="020B0604020202020204" pitchFamily="34" charset="0"/>
                <a:ea typeface="黑体" panose="02010609060101010101" pitchFamily="49" charset="-122"/>
              </a:rPr>
              <a:t>一个操作数和结果都隐含在累加器中</a:t>
            </a:r>
          </a:p>
          <a:p>
            <a:pPr lvl="2">
              <a:lnSpc>
                <a:spcPct val="120000"/>
              </a:lnSpc>
              <a:buFont typeface="Wingdings" panose="05000000000000000000" pitchFamily="2" charset="2"/>
              <a:buNone/>
            </a:pPr>
            <a:r>
              <a:rPr lang="zh-CN" altLang="en-US" sz="2000">
                <a:solidFill>
                  <a:srgbClr val="006600"/>
                </a:solidFill>
                <a:latin typeface="Arial" panose="020B0604020202020204" pitchFamily="34" charset="0"/>
                <a:ea typeface="黑体" panose="02010609060101010101" pitchFamily="49" charset="-122"/>
              </a:rPr>
              <a:t> </a:t>
            </a:r>
            <a:r>
              <a:rPr lang="zh-CN" altLang="en-US" sz="2000">
                <a:latin typeface="Arial" panose="020B0604020202020204" pitchFamily="34" charset="0"/>
                <a:ea typeface="黑体" panose="02010609060101010101" pitchFamily="49" charset="-122"/>
              </a:rPr>
              <a:t>堆栈型：</a:t>
            </a:r>
            <a:r>
              <a:rPr lang="zh-CN" altLang="en-US" sz="2000">
                <a:solidFill>
                  <a:srgbClr val="006600"/>
                </a:solidFill>
                <a:latin typeface="Arial" panose="020B0604020202020204" pitchFamily="34" charset="0"/>
                <a:ea typeface="黑体" panose="02010609060101010101" pitchFamily="49" charset="-122"/>
              </a:rPr>
              <a:t>操作数和结果都隐含在堆栈中</a:t>
            </a:r>
          </a:p>
          <a:p>
            <a:pPr lvl="2">
              <a:lnSpc>
                <a:spcPct val="120000"/>
              </a:lnSpc>
              <a:buFont typeface="Wingdings" panose="05000000000000000000" pitchFamily="2" charset="2"/>
              <a:buNone/>
            </a:pPr>
            <a:r>
              <a:rPr lang="zh-CN" altLang="en-US" sz="2000">
                <a:solidFill>
                  <a:srgbClr val="006600"/>
                </a:solidFill>
                <a:latin typeface="Arial" panose="020B0604020202020204" pitchFamily="34" charset="0"/>
                <a:ea typeface="黑体" panose="02010609060101010101" pitchFamily="49" charset="-122"/>
              </a:rPr>
              <a:t> </a:t>
            </a:r>
            <a:r>
              <a:rPr lang="zh-CN" altLang="en-US" sz="2000">
                <a:latin typeface="Arial" panose="020B0604020202020204" pitchFamily="34" charset="0"/>
                <a:ea typeface="黑体" panose="02010609060101010101" pitchFamily="49" charset="-122"/>
              </a:rPr>
              <a:t>通用寄存器型：</a:t>
            </a:r>
            <a:r>
              <a:rPr lang="zh-CN" altLang="en-US" sz="2000">
                <a:solidFill>
                  <a:srgbClr val="006600"/>
                </a:solidFill>
                <a:latin typeface="Arial" panose="020B0604020202020204" pitchFamily="34" charset="0"/>
                <a:ea typeface="黑体" panose="02010609060101010101" pitchFamily="49" charset="-122"/>
              </a:rPr>
              <a:t>操作数明显地指定在哪个通用寄存器中</a:t>
            </a:r>
          </a:p>
          <a:p>
            <a:pPr lvl="2">
              <a:lnSpc>
                <a:spcPct val="120000"/>
              </a:lnSpc>
              <a:buFont typeface="Wingdings" panose="05000000000000000000" pitchFamily="2" charset="2"/>
              <a:buNone/>
            </a:pPr>
            <a:r>
              <a:rPr lang="zh-CN" altLang="en-US" sz="2000">
                <a:solidFill>
                  <a:srgbClr val="006600"/>
                </a:solidFill>
                <a:latin typeface="Arial" panose="020B0604020202020204" pitchFamily="34" charset="0"/>
                <a:ea typeface="黑体" panose="02010609060101010101" pitchFamily="49" charset="-122"/>
              </a:rPr>
              <a:t> </a:t>
            </a:r>
            <a:r>
              <a:rPr lang="zh-CN" altLang="en-US" sz="2000">
                <a:latin typeface="Arial" panose="020B0604020202020204" pitchFamily="34" charset="0"/>
                <a:ea typeface="黑体" panose="02010609060101010101" pitchFamily="49" charset="-122"/>
              </a:rPr>
              <a:t>装入</a:t>
            </a:r>
            <a:r>
              <a:rPr lang="en-US" altLang="zh-CN" sz="2000">
                <a:latin typeface="Arial" panose="020B0604020202020204" pitchFamily="34" charset="0"/>
                <a:ea typeface="黑体" panose="02010609060101010101" pitchFamily="49" charset="-122"/>
              </a:rPr>
              <a:t>/</a:t>
            </a:r>
            <a:r>
              <a:rPr lang="zh-CN" altLang="en-US" sz="2000">
                <a:latin typeface="Arial" panose="020B0604020202020204" pitchFamily="34" charset="0"/>
                <a:ea typeface="黑体" panose="02010609060101010101" pitchFamily="49" charset="-122"/>
              </a:rPr>
              <a:t>存储型：</a:t>
            </a:r>
            <a:r>
              <a:rPr lang="zh-CN" altLang="en-US" sz="2000">
                <a:solidFill>
                  <a:srgbClr val="006600"/>
                </a:solidFill>
                <a:latin typeface="Arial" panose="020B0604020202020204" pitchFamily="34" charset="0"/>
                <a:ea typeface="黑体" panose="02010609060101010101" pitchFamily="49" charset="-122"/>
              </a:rPr>
              <a:t>运算类指令的操作数只能在寄存器中，只有装入</a:t>
            </a:r>
            <a:r>
              <a:rPr lang="en-US" altLang="zh-CN" sz="2000">
                <a:solidFill>
                  <a:srgbClr val="006600"/>
                </a:solidFill>
                <a:latin typeface="Arial" panose="020B0604020202020204" pitchFamily="34" charset="0"/>
                <a:ea typeface="黑体" panose="02010609060101010101" pitchFamily="49" charset="-122"/>
              </a:rPr>
              <a:t>(Load)</a:t>
            </a:r>
            <a:r>
              <a:rPr lang="zh-CN" altLang="en-US" sz="2000">
                <a:solidFill>
                  <a:srgbClr val="006600"/>
                </a:solidFill>
                <a:latin typeface="Arial" panose="020B0604020202020204" pitchFamily="34" charset="0"/>
                <a:ea typeface="黑体" panose="02010609060101010101" pitchFamily="49" charset="-122"/>
              </a:rPr>
              <a:t>指令和存储</a:t>
            </a:r>
            <a:r>
              <a:rPr lang="en-US" altLang="zh-CN" sz="2000">
                <a:solidFill>
                  <a:srgbClr val="006600"/>
                </a:solidFill>
                <a:latin typeface="Arial" panose="020B0604020202020204" pitchFamily="34" charset="0"/>
                <a:ea typeface="黑体" panose="02010609060101010101" pitchFamily="49" charset="-122"/>
              </a:rPr>
              <a:t>(Store)</a:t>
            </a:r>
            <a:r>
              <a:rPr lang="zh-CN" altLang="en-US" sz="2000">
                <a:solidFill>
                  <a:srgbClr val="006600"/>
                </a:solidFill>
                <a:latin typeface="Arial" panose="020B0604020202020204" pitchFamily="34" charset="0"/>
                <a:ea typeface="黑体" panose="02010609060101010101" pitchFamily="49" charset="-122"/>
              </a:rPr>
              <a:t>指令才能访问内存</a:t>
            </a:r>
          </a:p>
          <a:p>
            <a:pPr lvl="1">
              <a:lnSpc>
                <a:spcPct val="120000"/>
              </a:lnSpc>
            </a:pPr>
            <a:r>
              <a:rPr lang="zh-CN" altLang="en-US" sz="2000">
                <a:latin typeface="Arial" panose="020B0604020202020204" pitchFamily="34" charset="0"/>
                <a:ea typeface="黑体" panose="02010609060101010101" pitchFamily="49" charset="-122"/>
              </a:rPr>
              <a:t>按指令系统的复杂度来分</a:t>
            </a:r>
          </a:p>
          <a:p>
            <a:pPr lvl="2">
              <a:lnSpc>
                <a:spcPct val="120000"/>
              </a:lnSpc>
              <a:buFont typeface="Wingdings" panose="05000000000000000000" pitchFamily="2" charset="2"/>
              <a:buNone/>
            </a:pPr>
            <a:r>
              <a:rPr lang="zh-CN" altLang="en-US" sz="2000">
                <a:latin typeface="Arial" panose="020B0604020202020204" pitchFamily="34" charset="0"/>
                <a:ea typeface="黑体" panose="02010609060101010101" pitchFamily="49" charset="-122"/>
              </a:rPr>
              <a:t> </a:t>
            </a:r>
            <a:r>
              <a:rPr lang="en-US" altLang="zh-CN" sz="2000">
                <a:latin typeface="Arial" panose="020B0604020202020204" pitchFamily="34" charset="0"/>
                <a:ea typeface="黑体" panose="02010609060101010101" pitchFamily="49" charset="-122"/>
              </a:rPr>
              <a:t>CISC</a:t>
            </a:r>
            <a:r>
              <a:rPr lang="zh-CN" altLang="en-US" sz="2000">
                <a:latin typeface="Arial" panose="020B0604020202020204" pitchFamily="34" charset="0"/>
                <a:ea typeface="黑体" panose="02010609060101010101" pitchFamily="49" charset="-122"/>
              </a:rPr>
              <a:t>：复杂指令系统计算机</a:t>
            </a:r>
          </a:p>
          <a:p>
            <a:pPr lvl="2">
              <a:lnSpc>
                <a:spcPct val="120000"/>
              </a:lnSpc>
              <a:buFont typeface="Wingdings" panose="05000000000000000000" pitchFamily="2" charset="2"/>
              <a:buNone/>
            </a:pPr>
            <a:r>
              <a:rPr lang="zh-CN" altLang="en-US" sz="2000">
                <a:latin typeface="Arial" panose="020B0604020202020204" pitchFamily="34" charset="0"/>
                <a:ea typeface="黑体" panose="02010609060101010101" pitchFamily="49" charset="-122"/>
              </a:rPr>
              <a:t> </a:t>
            </a:r>
            <a:r>
              <a:rPr lang="en-US" altLang="zh-CN" sz="2000">
                <a:latin typeface="Arial" panose="020B0604020202020204" pitchFamily="34" charset="0"/>
                <a:ea typeface="黑体" panose="02010609060101010101" pitchFamily="49" charset="-122"/>
              </a:rPr>
              <a:t>RISC</a:t>
            </a:r>
            <a:r>
              <a:rPr lang="zh-CN" altLang="en-US" sz="2000">
                <a:latin typeface="Arial" panose="020B0604020202020204" pitchFamily="34" charset="0"/>
                <a:ea typeface="黑体" panose="02010609060101010101" pitchFamily="49" charset="-122"/>
              </a:rPr>
              <a:t>：精简指令系统计算机</a:t>
            </a:r>
          </a:p>
          <a:p>
            <a:pPr>
              <a:lnSpc>
                <a:spcPct val="120000"/>
              </a:lnSpc>
              <a:buFont typeface="Wingdings" panose="05000000000000000000" pitchFamily="2" charset="2"/>
              <a:buNone/>
            </a:pPr>
            <a:endParaRPr lang="zh-CN" altLang="en-US">
              <a:latin typeface="Arial" panose="020B0604020202020204" pitchFamily="34" charset="0"/>
              <a:ea typeface="黑体" panose="02010609060101010101" pitchFamily="49" charset="-122"/>
            </a:endParaRPr>
          </a:p>
        </p:txBody>
      </p:sp>
      <p:sp>
        <p:nvSpPr>
          <p:cNvPr id="96258" name="Rectangle 4">
            <a:extLst>
              <a:ext uri="{FF2B5EF4-FFF2-40B4-BE49-F238E27FC236}">
                <a16:creationId xmlns:a16="http://schemas.microsoft.com/office/drawing/2014/main" id="{B77568FC-CFC1-E4D5-1CAB-3AE1766A4E18}"/>
              </a:ext>
            </a:extLst>
          </p:cNvPr>
          <p:cNvSpPr>
            <a:spLocks noGrp="1" noChangeArrowheads="1"/>
          </p:cNvSpPr>
          <p:nvPr>
            <p:ph type="title"/>
          </p:nvPr>
        </p:nvSpPr>
        <p:spPr>
          <a:xfrm>
            <a:off x="711200" y="114300"/>
            <a:ext cx="1971675" cy="368300"/>
          </a:xfrm>
        </p:spPr>
        <p:txBody>
          <a:bodyPr/>
          <a:lstStyle/>
          <a:p>
            <a:r>
              <a:rPr lang="zh-CN" altLang="en-US">
                <a:ea typeface="宋体" panose="02010600030101010101" pitchFamily="2" charset="-122"/>
              </a:rPr>
              <a:t>本章总结</a:t>
            </a:r>
            <a:r>
              <a:rPr lang="en-US" altLang="zh-CN">
                <a:ea typeface="宋体" panose="02010600030101010101" pitchFamily="2" charset="-122"/>
              </a:rPr>
              <a:t>3</a:t>
            </a:r>
          </a:p>
        </p:txBody>
      </p:sp>
    </p:spTree>
  </p:cSld>
  <p:clrMapOvr>
    <a:masterClrMapping/>
  </p:clrMapOvr>
</p:sld>
</file>

<file path=ppt/theme/theme1.xml><?xml version="1.0" encoding="utf-8"?>
<a:theme xmlns:a="http://schemas.openxmlformats.org/drawingml/2006/main" name="Web">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Web">
      <a:majorFont>
        <a:latin typeface="Arial"/>
        <a:ea typeface=""/>
        <a:cs typeface=""/>
      </a:majorFont>
      <a:minorFont>
        <a:latin typeface="宋体"/>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63500" tIns="25400" rIns="63500" bIns="254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sz="800" b="1" i="0" u="none" strike="noStrike" cap="none" normalizeH="0" baseline="0" smtClean="0">
            <a:ln>
              <a:noFill/>
            </a:ln>
            <a:solidFill>
              <a:schemeClr val="accent2"/>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63500" tIns="25400" rIns="63500" bIns="254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sz="800" b="1" i="0" u="none" strike="noStrike" cap="none" normalizeH="0" baseline="0" smtClean="0">
            <a:ln>
              <a:noFill/>
            </a:ln>
            <a:solidFill>
              <a:schemeClr val="accent2"/>
            </a:solidFill>
            <a:effectLst/>
            <a:latin typeface="Arial" panose="020B0604020202020204" pitchFamily="34" charset="0"/>
            <a:ea typeface="宋体" panose="02010600030101010101" pitchFamily="2" charset="-122"/>
          </a:defRPr>
        </a:defPPr>
      </a:lstStyle>
    </a:lnDef>
  </a:objectDefaults>
  <a:extraClrSchemeLst>
    <a:extraClrScheme>
      <a:clrScheme name="We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We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Web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Web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Web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Web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Web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Pages>39</Pages>
  <Words>12758</Words>
  <Application>Microsoft Office PowerPoint</Application>
  <PresentationFormat>信纸(8.5x11 英寸)</PresentationFormat>
  <Paragraphs>1240</Paragraphs>
  <Slides>78</Slides>
  <Notes>13</Notes>
  <HiddenSlides>2</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78</vt:i4>
      </vt:variant>
    </vt:vector>
  </HeadingPairs>
  <TitlesOfParts>
    <vt:vector size="92" baseType="lpstr">
      <vt:lpstr>Arial</vt:lpstr>
      <vt:lpstr>宋体</vt:lpstr>
      <vt:lpstr>Wingdings</vt:lpstr>
      <vt:lpstr>黑体</vt:lpstr>
      <vt:lpstr>Monotype Sorts</vt:lpstr>
      <vt:lpstr>Wingdings</vt:lpstr>
      <vt:lpstr>微软雅黑</vt:lpstr>
      <vt:lpstr>Times New Roman</vt:lpstr>
      <vt:lpstr>Symbol</vt:lpstr>
      <vt:lpstr>Calibri</vt:lpstr>
      <vt:lpstr>Arial Unicode MS</vt:lpstr>
      <vt:lpstr>Monotype Sorts</vt:lpstr>
      <vt:lpstr>Web</vt:lpstr>
      <vt:lpstr>Visio.Drawing.5</vt:lpstr>
      <vt:lpstr>第7章 指令系统</vt:lpstr>
      <vt:lpstr>第一讲 概述与指令系统设计</vt:lpstr>
      <vt:lpstr>指令系统概述</vt:lpstr>
      <vt:lpstr>一条指令须包含的信息</vt:lpstr>
      <vt:lpstr>一条指令中应该有几个地址码字段？</vt:lpstr>
      <vt:lpstr>从指令执行周期看指令设计涉及的问题</vt:lpstr>
      <vt:lpstr>指令格式的设计</vt:lpstr>
      <vt:lpstr>操作数类型和存储方式</vt:lpstr>
      <vt:lpstr>IA-32 &amp; RISC-V Data Type</vt:lpstr>
      <vt:lpstr>Addressing Modes（寻址方式）</vt:lpstr>
      <vt:lpstr>Addressing Modes</vt:lpstr>
      <vt:lpstr>基本寻址方式的算法和优缺点</vt:lpstr>
      <vt:lpstr>偏移寻址方式</vt:lpstr>
      <vt:lpstr>偏移寻址方式 </vt:lpstr>
      <vt:lpstr>变址寻址实现线性表元素的存取</vt:lpstr>
      <vt:lpstr>Instruction Format(指令格式)</vt:lpstr>
      <vt:lpstr>定长操作码编码 Fixed Length Opcodes </vt:lpstr>
      <vt:lpstr>IBM370指令格式</vt:lpstr>
      <vt:lpstr>扩展（变长）操作码编码 Expanding Opcodes</vt:lpstr>
      <vt:lpstr>条件测试方式</vt:lpstr>
      <vt:lpstr>标志信息是干什么的？</vt:lpstr>
      <vt:lpstr>IA-32中的条件转移指令</vt:lpstr>
      <vt:lpstr>指令设计风格 -- 按操作数位置指定风格来分</vt:lpstr>
      <vt:lpstr>指令风格比较</vt:lpstr>
      <vt:lpstr>指令设计风格 – 按指令格式的复杂度来分</vt:lpstr>
      <vt:lpstr>复杂指令集计算机CISC</vt:lpstr>
      <vt:lpstr>Top 10 80x86 Instructions</vt:lpstr>
      <vt:lpstr>RISC设计风格的主要特点</vt:lpstr>
      <vt:lpstr>Examples of Register Usage</vt:lpstr>
      <vt:lpstr>异常和中断</vt:lpstr>
      <vt:lpstr>异常和中断的处理</vt:lpstr>
      <vt:lpstr>异常的分类</vt:lpstr>
      <vt:lpstr>故障（fault）异常</vt:lpstr>
      <vt:lpstr>异常的分类</vt:lpstr>
      <vt:lpstr>陷阱（Trap）异常</vt:lpstr>
      <vt:lpstr>异常的分类</vt:lpstr>
      <vt:lpstr>终止（Abort）异常</vt:lpstr>
      <vt:lpstr>中断的概念</vt:lpstr>
      <vt:lpstr>中断的分类</vt:lpstr>
      <vt:lpstr>异常/中断响应过程</vt:lpstr>
      <vt:lpstr>异常/中断响应过程</vt:lpstr>
      <vt:lpstr>指令系统举例: Address &amp; Registers</vt:lpstr>
      <vt:lpstr>MIPS32的指令格式</vt:lpstr>
      <vt:lpstr>MIPS32指令字段含义</vt:lpstr>
      <vt:lpstr>PowerPoint 演示文稿</vt:lpstr>
      <vt:lpstr>IA-32的寻址方式</vt:lpstr>
      <vt:lpstr>IA-32保护模式下的寻址方式</vt:lpstr>
      <vt:lpstr>IA-32的存储器寻址</vt:lpstr>
      <vt:lpstr>  MMX(Microprocessor Media Extension)指令技术</vt:lpstr>
      <vt:lpstr>第一讲小结</vt:lpstr>
      <vt:lpstr>第一讲小结</vt:lpstr>
      <vt:lpstr> 第二讲指令系统实例：RISC-V</vt:lpstr>
      <vt:lpstr>RISC-V指令系统概述</vt:lpstr>
      <vt:lpstr>RISC-V的模块化结构 </vt:lpstr>
      <vt:lpstr>指令参考卡①</vt:lpstr>
      <vt:lpstr>指令参考卡②</vt:lpstr>
      <vt:lpstr>32位RISC-V指令格式</vt:lpstr>
      <vt:lpstr>16位RISC-V压缩指令格式</vt:lpstr>
      <vt:lpstr>RISC-V基础整数指令集（RV32I）</vt:lpstr>
      <vt:lpstr>RISC-V基础整数指令集（RV32I）</vt:lpstr>
      <vt:lpstr>RISC-V基础整数指令集（RV32I）</vt:lpstr>
      <vt:lpstr>RISC-V基础整数指令集（RV32I）</vt:lpstr>
      <vt:lpstr>RISC-V基础整数指令集（RV32I）</vt:lpstr>
      <vt:lpstr>RISC-V基础整数指令集（RV32I）</vt:lpstr>
      <vt:lpstr>RISC-V基础整数指令集（RV32I）</vt:lpstr>
      <vt:lpstr>RISC-V基础整数指令集（RV32I）</vt:lpstr>
      <vt:lpstr>RISC-V基础整数指令集（RV32I）</vt:lpstr>
      <vt:lpstr>RISC-V基础整数指令集（RV32I）</vt:lpstr>
      <vt:lpstr>RISC-V基础整数指令集（RV32I）</vt:lpstr>
      <vt:lpstr>RISC-V可选的扩展指令集</vt:lpstr>
      <vt:lpstr>64位架构指令举例</vt:lpstr>
      <vt:lpstr>RISC-V中整数的乘、除运算处理</vt:lpstr>
      <vt:lpstr>整数的乘运算</vt:lpstr>
      <vt:lpstr>回顾：思考题</vt:lpstr>
      <vt:lpstr>思考题的参考答案</vt:lpstr>
      <vt:lpstr>本章总结1</vt:lpstr>
      <vt:lpstr>本章总结2</vt:lpstr>
      <vt:lpstr>本章总结3</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Set Design Principles</dc:title>
  <dc:creator>CFYUAN</dc:creator>
  <cp:keywords/>
  <dc:description/>
  <cp:lastModifiedBy>思涵 沈</cp:lastModifiedBy>
  <cp:revision>1208</cp:revision>
  <cp:lastPrinted>1998-05-09T14:21:22Z</cp:lastPrinted>
  <dcterms:created xsi:type="dcterms:W3CDTF">1996-09-09T12:16:58Z</dcterms:created>
  <dcterms:modified xsi:type="dcterms:W3CDTF">2025-04-21T11:56:39Z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2</vt:r8>
  </property>
  <property fmtid="{D5CDD505-2E9C-101B-9397-08002B2CF9AE}" pid="3" name="GraphicType">
    <vt:r8>2</vt:r8>
  </property>
  <property fmtid="{D5CDD505-2E9C-101B-9397-08002B2CF9AE}" pid="4" name="Compression">
    <vt:r8>100</vt:r8>
  </property>
  <property fmtid="{D5CDD505-2E9C-101B-9397-08002B2CF9AE}" pid="5" name="ScreenSize">
    <vt:r8>2</vt:r8>
  </property>
  <property fmtid="{D5CDD505-2E9C-101B-9397-08002B2CF9AE}" pid="6" name="ScreenUsage">
    <vt:r8>2</vt:r8>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Chaudhary_x000d_
Dept. of Electrical &amp; Computer Engineering_x000d_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3</vt:r8>
  </property>
  <property fmtid="{D5CDD505-2E9C-101B-9397-08002B2CF9AE}" pid="19" name="ShowNotes">
    <vt:bool>true</vt:bool>
  </property>
  <property fmtid="{D5CDD505-2E9C-101B-9397-08002B2CF9AE}" pid="20" name="NavBtnPos">
    <vt:r8>1</vt:r8>
  </property>
  <property fmtid="{D5CDD505-2E9C-101B-9397-08002B2CF9AE}" pid="21" name="OutputDir">
    <vt:lpwstr>C:\WINDOWS\Desktop\VIPIN\WSU\ACADEMIC\COURSES\ECE468\SLIDES\web</vt:lpwstr>
  </property>
  <property fmtid="{D5CDD505-2E9C-101B-9397-08002B2CF9AE}" pid="22" name="ICV">
    <vt:lpwstr>CBA29A9D97CE443A9B0D1CC87B32ACD7</vt:lpwstr>
  </property>
  <property fmtid="{D5CDD505-2E9C-101B-9397-08002B2CF9AE}" pid="23" name="KSOProductBuildVer">
    <vt:lpwstr>2052-11.1.0.11365</vt:lpwstr>
  </property>
</Properties>
</file>